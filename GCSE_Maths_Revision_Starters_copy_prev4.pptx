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Lattice Multiplication — worked demo</a:t>
            </a:r>
          </a:p>
          <a:p/>
          <a:p>
            <a:r>
              <a:t>Guided: 43 × 6 = 258. Core: 34 × 12 = 408. Depth: 4,312 × 156 = 672,672.</a:t>
            </a:r>
          </a:p>
          <a:p/>
          <a:p>
            <a:r>
              <a:t>The completed lattice diagrams are editable grouped PowerPoint shapes. Diagonals run from bottom left to top right. Place tens above each diagonal and units below it. Put answer digits at the ends of their diagonal tracks, down the left edge and along the bottom. Place carries at the bottom end of the NEXT diagonal in smaller text. Depth diagonal totals from right to left, including carries: 2, 7, 16, 12, 7, 6, 0. The last 1 in the fourth and fifth sums is a carry. Read the result in reverse order and omit the leading zero: 672672.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Lattice Multiplication — step-by-step practice 1</a:t>
            </a:r>
          </a:p>
          <a:p/>
          <a:p>
            <a:r>
              <a:t>Thread 1: Guided: 53 × 7 = **371**</a:t>
            </a:r>
          </a:p>
          <a:p/>
          <a:p>
            <a:r>
              <a:t>Thread 2: Core: 24 × 15 = **360**</a:t>
            </a:r>
          </a:p>
          <a:p/>
          <a:p>
            <a:r>
              <a:t>Thread 3: Depth: 1,245 × 326 = **405,870**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Lattice Multiplication — step-by-step practice 2</a:t>
            </a:r>
          </a:p>
          <a:p/>
          <a:p>
            <a:r>
              <a:t>Thread 1: Guided: 84 × 5 = **420**</a:t>
            </a:r>
          </a:p>
          <a:p/>
          <a:p>
            <a:r>
              <a:t>Thread 2: Core: 63 × 28 = **1,764**</a:t>
            </a:r>
          </a:p>
          <a:p/>
          <a:p>
            <a:r>
              <a:t>Thread 3: Depth: 3,142 × 2045 = **6,425,390**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Lattice Multiplication — independent practice 1</a:t>
            </a:r>
          </a:p>
          <a:p/>
          <a:p>
            <a:r>
              <a:t>### Thread 1: Guided</a:t>
            </a:r>
          </a:p>
          <a:p/>
          <a:p>
            <a:r>
              <a:t>1. 32 × 4 = **128**</a:t>
            </a:r>
          </a:p>
          <a:p/>
          <a:p>
            <a:r>
              <a:t>2. 61 × 8 = **488**</a:t>
            </a:r>
          </a:p>
          <a:p/>
          <a:p>
            <a:r>
              <a:t>3. 45 × 3 = **135**</a:t>
            </a:r>
          </a:p>
          <a:p/>
          <a:p>
            <a:r>
              <a:t>4. 72 × 6 = **432**</a:t>
            </a:r>
          </a:p>
          <a:p/>
          <a:p>
            <a:r>
              <a:t>5. 83 × 7 = **581**</a:t>
            </a:r>
          </a:p>
          <a:p/>
          <a:p>
            <a:r>
              <a:t>6. 95 × 9 = **855**</a:t>
            </a:r>
          </a:p>
          <a:p/>
          <a:p>
            <a:r>
              <a:t>### Thread 2: Core</a:t>
            </a:r>
          </a:p>
          <a:p/>
          <a:p>
            <a:r>
              <a:t>1. 42 × 13 = **546**</a:t>
            </a:r>
          </a:p>
          <a:p/>
          <a:p>
            <a:r>
              <a:t>2. 26 × 34 = **884**</a:t>
            </a:r>
          </a:p>
          <a:p/>
          <a:p>
            <a:r>
              <a:t>3. 51 × 22 = **1,122**</a:t>
            </a:r>
          </a:p>
          <a:p/>
          <a:p>
            <a:r>
              <a:t>4. 63 × 41 = **2,583**</a:t>
            </a:r>
          </a:p>
          <a:p/>
          <a:p>
            <a:r>
              <a:t>5. 75 × 16 = **1,200**</a:t>
            </a:r>
          </a:p>
          <a:p/>
          <a:p>
            <a:r>
              <a:t>6. 82 × 57 = **4,674**</a:t>
            </a:r>
          </a:p>
          <a:p/>
          <a:p>
            <a:r>
              <a:t>### Thread 3: Depth</a:t>
            </a:r>
          </a:p>
          <a:p/>
          <a:p>
            <a:r>
              <a:t>1. 342 × 15 = **5,130**</a:t>
            </a:r>
          </a:p>
          <a:p/>
          <a:p>
            <a:r>
              <a:t>2. 612 × 24 = **14,688**</a:t>
            </a:r>
          </a:p>
          <a:p/>
          <a:p>
            <a:r>
              <a:t>3. 1,234 × 125 = **154,250**</a:t>
            </a:r>
          </a:p>
          <a:p/>
          <a:p>
            <a:r>
              <a:t>4. 2,105 × 304 = **639,920**</a:t>
            </a:r>
          </a:p>
          <a:p/>
          <a:p>
            <a:r>
              <a:t>5. 4,316 × 1,024 = **4,419,584**</a:t>
            </a:r>
          </a:p>
          <a:p/>
          <a:p>
            <a:r>
              <a:t>6. 7,029 × 2,316 = **16,279,164**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Lattice Multiplication — independent practice 2</a:t>
            </a:r>
          </a:p>
          <a:p/>
          <a:p>
            <a:r>
              <a:t>### Thread 1: Guided</a:t>
            </a:r>
          </a:p>
          <a:p/>
          <a:p>
            <a:r>
              <a:t>1. 24 × 6 = **144**</a:t>
            </a:r>
          </a:p>
          <a:p/>
          <a:p>
            <a:r>
              <a:t>2. 57 × 4 = **228**</a:t>
            </a:r>
          </a:p>
          <a:p/>
          <a:p>
            <a:r>
              <a:t>3. 68 × 3 = **204**</a:t>
            </a:r>
          </a:p>
          <a:p/>
          <a:p>
            <a:r>
              <a:t>4. 39 × 7 = **273**</a:t>
            </a:r>
          </a:p>
          <a:p/>
          <a:p>
            <a:r>
              <a:t>5. 86 × 5 = **430**</a:t>
            </a:r>
          </a:p>
          <a:p/>
          <a:p>
            <a:r>
              <a:t>6. 74 × 8 = **592**</a:t>
            </a:r>
          </a:p>
          <a:p/>
          <a:p>
            <a:r>
              <a:t>### Thread 2: Core</a:t>
            </a:r>
          </a:p>
          <a:p/>
          <a:p>
            <a:r>
              <a:t>1. 23 × 14 = **322**</a:t>
            </a:r>
          </a:p>
          <a:p/>
          <a:p>
            <a:r>
              <a:t>2. 46 × 25 = **1,150**</a:t>
            </a:r>
          </a:p>
          <a:p/>
          <a:p>
            <a:r>
              <a:t>3. 37 × 42 = **1,554**</a:t>
            </a:r>
          </a:p>
          <a:p/>
          <a:p>
            <a:r>
              <a:t>4. 58 × 36 = **2,088**</a:t>
            </a:r>
          </a:p>
          <a:p/>
          <a:p>
            <a:r>
              <a:t>5. 64 × 27 = **1,728**</a:t>
            </a:r>
          </a:p>
          <a:p/>
          <a:p>
            <a:r>
              <a:t>6. 79 × 53 = **4,187**</a:t>
            </a:r>
          </a:p>
          <a:p/>
          <a:p>
            <a:r>
              <a:t>### Thread 3: Depth</a:t>
            </a:r>
          </a:p>
          <a:p/>
          <a:p>
            <a:r>
              <a:t>1. 425 × 23 = **9,775**</a:t>
            </a:r>
          </a:p>
          <a:p/>
          <a:p>
            <a:r>
              <a:t>2. 708 × 46 = **32,568**</a:t>
            </a:r>
          </a:p>
          <a:p/>
          <a:p>
            <a:r>
              <a:t>3. 1,326 × 243 = **322,218**</a:t>
            </a:r>
          </a:p>
          <a:p/>
          <a:p>
            <a:r>
              <a:t>4. 3,048 × 512 = **1,560,576**</a:t>
            </a:r>
          </a:p>
          <a:p/>
          <a:p>
            <a:r>
              <a:t>5. 5,607 × 1,204 = **6,750,828**</a:t>
            </a:r>
          </a:p>
          <a:p/>
          <a:p>
            <a:r>
              <a:t>6. 8,214 × 3,067 = **25,192,338**</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Lattice Multiplication — independent practice 3</a:t>
            </a:r>
          </a:p>
          <a:p/>
          <a:p>
            <a:r>
              <a:t>### Thread 1: Guided</a:t>
            </a:r>
          </a:p>
          <a:p/>
          <a:p>
            <a:r>
              <a:t>1. 46 × 7 = **322**</a:t>
            </a:r>
          </a:p>
          <a:p/>
          <a:p>
            <a:r>
              <a:t>2. 29 × 8 = **232**</a:t>
            </a:r>
          </a:p>
          <a:p/>
          <a:p>
            <a:r>
              <a:t>3. 65 × 4 = **260**</a:t>
            </a:r>
          </a:p>
          <a:p/>
          <a:p>
            <a:r>
              <a:t>4. 78 × 6 = **468**</a:t>
            </a:r>
          </a:p>
          <a:p/>
          <a:p>
            <a:r>
              <a:t>5. 93 × 5 = **465**</a:t>
            </a:r>
          </a:p>
          <a:p/>
          <a:p>
            <a:r>
              <a:t>6. 87 × 9 = **783**</a:t>
            </a:r>
          </a:p>
          <a:p/>
          <a:p>
            <a:r>
              <a:t>### Thread 2: Core</a:t>
            </a:r>
          </a:p>
          <a:p/>
          <a:p>
            <a:r>
              <a:t>1. 35 × 24 = **840**</a:t>
            </a:r>
          </a:p>
          <a:p/>
          <a:p>
            <a:r>
              <a:t>2. 62 × 17 = **1,054**</a:t>
            </a:r>
          </a:p>
          <a:p/>
          <a:p>
            <a:r>
              <a:t>3. 48 × 39 = **1,872**</a:t>
            </a:r>
          </a:p>
          <a:p/>
          <a:p>
            <a:r>
              <a:t>4. 76 × 28 = **2,128**</a:t>
            </a:r>
          </a:p>
          <a:p/>
          <a:p>
            <a:r>
              <a:t>5. 54 × 46 = **2,484**</a:t>
            </a:r>
          </a:p>
          <a:p/>
          <a:p>
            <a:r>
              <a:t>6. 89 × 65 = **5,785**</a:t>
            </a:r>
          </a:p>
          <a:p/>
          <a:p>
            <a:r>
              <a:t>### Thread 3: Depth</a:t>
            </a:r>
          </a:p>
          <a:p/>
          <a:p>
            <a:r>
              <a:t>1. 536 × 34 = **18,224**</a:t>
            </a:r>
          </a:p>
          <a:p/>
          <a:p>
            <a:r>
              <a:t>2. 809 × 27 = **21,843**</a:t>
            </a:r>
          </a:p>
          <a:p/>
          <a:p>
            <a:r>
              <a:t>3. 2,047 × 368 = **753,296**</a:t>
            </a:r>
          </a:p>
          <a:p/>
          <a:p>
            <a:r>
              <a:t>4. 4,158 × 427 = **1,775,466**</a:t>
            </a:r>
          </a:p>
          <a:p/>
          <a:p>
            <a:r>
              <a:t>5. 6,309 × 2,058 = **12,983,922**</a:t>
            </a:r>
          </a:p>
          <a:p/>
          <a:p>
            <a:r>
              <a:t>6. 9,274 × 4,163 = **38,607,662**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Lattice Multiplication — independent practice 4</a:t>
            </a:r>
          </a:p>
          <a:p/>
          <a:p>
            <a:r>
              <a:t>### Thread 1: Guided</a:t>
            </a:r>
          </a:p>
          <a:p/>
          <a:p>
            <a:r>
              <a:t>1. 38 × 5 = **190**</a:t>
            </a:r>
          </a:p>
          <a:p/>
          <a:p>
            <a:r>
              <a:t>2. 56 × 9 = **504**</a:t>
            </a:r>
          </a:p>
          <a:p/>
          <a:p>
            <a:r>
              <a:t>3. 67 × 8 = **536**</a:t>
            </a:r>
          </a:p>
          <a:p/>
          <a:p>
            <a:r>
              <a:t>4. 49 × 6 = **294**</a:t>
            </a:r>
          </a:p>
          <a:p/>
          <a:p>
            <a:r>
              <a:t>5. 82 × 4 = **328**</a:t>
            </a:r>
          </a:p>
          <a:p/>
          <a:p>
            <a:r>
              <a:t>6. 97 × 7 = **679**</a:t>
            </a:r>
          </a:p>
          <a:p/>
          <a:p>
            <a:r>
              <a:t>### Thread 2: Core</a:t>
            </a:r>
          </a:p>
          <a:p/>
          <a:p>
            <a:r>
              <a:t>1. 27 × 35 = **945**</a:t>
            </a:r>
          </a:p>
          <a:p/>
          <a:p>
            <a:r>
              <a:t>2. 43 × 26 = **1,118**</a:t>
            </a:r>
          </a:p>
          <a:p/>
          <a:p>
            <a:r>
              <a:t>3. 69 × 48 = **3,312**</a:t>
            </a:r>
          </a:p>
          <a:p/>
          <a:p>
            <a:r>
              <a:t>4. 85 × 37 = **3,145**</a:t>
            </a:r>
          </a:p>
          <a:p/>
          <a:p>
            <a:r>
              <a:t>5. 74 × 59 = **4,366**</a:t>
            </a:r>
          </a:p>
          <a:p/>
          <a:p>
            <a:r>
              <a:t>6. 96 × 68 = **6,528**</a:t>
            </a:r>
          </a:p>
          <a:p/>
          <a:p>
            <a:r>
              <a:t>### Thread 3: Depth</a:t>
            </a:r>
          </a:p>
          <a:p/>
          <a:p>
            <a:r>
              <a:t>1. 647 × 45 = **29,115**</a:t>
            </a:r>
          </a:p>
          <a:p/>
          <a:p>
            <a:r>
              <a:t>2. 902 × 38 = **34,276**</a:t>
            </a:r>
          </a:p>
          <a:p/>
          <a:p>
            <a:r>
              <a:t>3. 3,156 × 489 = **1,543,284**</a:t>
            </a:r>
          </a:p>
          <a:p/>
          <a:p>
            <a:r>
              <a:t>4. 5,027 × 596 = **2,996,092**</a:t>
            </a:r>
          </a:p>
          <a:p/>
          <a:p>
            <a:r>
              <a:t>5. 7,418 × 3,264 = **24,212,352**</a:t>
            </a:r>
          </a:p>
          <a:p/>
          <a:p>
            <a:r>
              <a:t>6. 8,639 × 5,076 = **43,851,564**</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 Stop Division — worked demo</a:t>
            </a:r>
          </a:p>
          <a:p/>
          <a:p>
            <a:r>
              <a:t>Guided: 21. Core: 24 r 1. Depth: 302.125.</a:t>
            </a:r>
          </a:p>
          <a:p/>
          <a:p>
            <a:r>
              <a:t>The editable bus stop diagrams show each quotient digit above its matching dividend digit. Show carried remainders as small prefixes. Preserve internal zeros, but omit an unnecessary leading zero in the final answer. For Depth, keep the zero in the tens position of 302.125. Align decimal points and show each carried remainder. Use multiples of 16 to check each quotient digit: 16, 32, 48, 64, 80. Checks: 21 × 3 = 63; 24 × 6 + 1 = 145; 302.125 × 16 = 4,834.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 Stop Division — step-by-step practice 1</a:t>
            </a:r>
          </a:p>
          <a:p/>
          <a:p>
            <a:r>
              <a:t>Thread 1: Guided: 88 ÷ 4 = **22**</a:t>
            </a:r>
          </a:p>
          <a:p/>
          <a:p>
            <a:r>
              <a:t>Thread 2: Core: 130 ÷ 4 = **32 r 2**</a:t>
            </a:r>
          </a:p>
          <a:p/>
          <a:p>
            <a:r>
              <a:t>Thread 3: Depth: 5,122 ÷ 16 = **320.125**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 Stop Division — step-by-step practice 2</a:t>
            </a:r>
          </a:p>
          <a:p/>
          <a:p>
            <a:r>
              <a:t>Thread 1: Guided: 66 ÷ 3 = **22**</a:t>
            </a:r>
          </a:p>
          <a:p/>
          <a:p>
            <a:r>
              <a:t>Thread 2: Core: 227 ÷ 6 = **37 r 5**</a:t>
            </a:r>
          </a:p>
          <a:p/>
          <a:p>
            <a:r>
              <a:t>Thread 3: Depth: 3,827 ÷ 25 = **153.08**</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 Stop Division — independent practice 1</a:t>
            </a:r>
          </a:p>
          <a:p/>
          <a:p>
            <a:r>
              <a:t>### Thread 1: Guided</a:t>
            </a:r>
          </a:p>
          <a:p/>
          <a:p>
            <a:r>
              <a:t>1. 48 ÷ 4 = **12**</a:t>
            </a:r>
          </a:p>
          <a:p/>
          <a:p>
            <a:r>
              <a:t>2. 69 ÷ 3 = **23**</a:t>
            </a:r>
          </a:p>
          <a:p/>
          <a:p>
            <a:r>
              <a:t>3. 84 ÷ 2 = **42**</a:t>
            </a:r>
          </a:p>
          <a:p/>
          <a:p>
            <a:r>
              <a:t>4. 96 ÷ 3 = **32**</a:t>
            </a:r>
          </a:p>
          <a:p/>
          <a:p>
            <a:r>
              <a:t>5. 55 ÷ 5 = **11**</a:t>
            </a:r>
          </a:p>
          <a:p/>
          <a:p>
            <a:r>
              <a:t>6. 88 ÷ 8 = **11**</a:t>
            </a:r>
          </a:p>
          <a:p/>
          <a:p>
            <a:r>
              <a:t>### Thread 2: Core</a:t>
            </a:r>
          </a:p>
          <a:p/>
          <a:p>
            <a:r>
              <a:t>1. 72 ÷ 3 = **24**</a:t>
            </a:r>
          </a:p>
          <a:p/>
          <a:p>
            <a:r>
              <a:t>2. 135 ÷ 5 = **27**</a:t>
            </a:r>
          </a:p>
          <a:p/>
          <a:p>
            <a:r>
              <a:t>3. 172 ÷ 4 = **43**</a:t>
            </a:r>
          </a:p>
          <a:p/>
          <a:p>
            <a:r>
              <a:t>4. 218 ÷ 6 = **36 r 2**</a:t>
            </a:r>
          </a:p>
          <a:p/>
          <a:p>
            <a:r>
              <a:t>5. 341 ÷ 7 = **48 r 5**</a:t>
            </a:r>
          </a:p>
          <a:p/>
          <a:p>
            <a:r>
              <a:t>6. 502 ÷ 8 = **62 r 6**</a:t>
            </a:r>
          </a:p>
          <a:p/>
          <a:p>
            <a:r>
              <a:t>### Thread 3: Depth</a:t>
            </a:r>
          </a:p>
          <a:p/>
          <a:p>
            <a:r>
              <a:t>1. 514 ÷ 4 = **128.5**</a:t>
            </a:r>
          </a:p>
          <a:p/>
          <a:p>
            <a:r>
              <a:t>2. 785 ÷ 2 = **392.5**</a:t>
            </a:r>
          </a:p>
          <a:p/>
          <a:p>
            <a:r>
              <a:t>3. 1,428 ÷ 12 = **119**</a:t>
            </a:r>
          </a:p>
          <a:p/>
          <a:p>
            <a:r>
              <a:t>4. 3,816 ÷ 24 = **159**</a:t>
            </a:r>
          </a:p>
          <a:p/>
          <a:p>
            <a:r>
              <a:t>5. 4,516 ÷ 16 = **282.25**</a:t>
            </a:r>
          </a:p>
          <a:p/>
          <a:p>
            <a:r>
              <a:t>6. 8,143 ÷ 25 = **325.72**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 Stop Division — independent practice 2</a:t>
            </a:r>
          </a:p>
          <a:p/>
          <a:p>
            <a:r>
              <a:t>### Thread 1: Guided</a:t>
            </a:r>
          </a:p>
          <a:p/>
          <a:p>
            <a:r>
              <a:t>1. 46 ÷ 2 = **23**</a:t>
            </a:r>
          </a:p>
          <a:p/>
          <a:p>
            <a:r>
              <a:t>2. 93 ÷ 3 = **31**</a:t>
            </a:r>
          </a:p>
          <a:p/>
          <a:p>
            <a:r>
              <a:t>3. 66 ÷ 6 = **11**</a:t>
            </a:r>
          </a:p>
          <a:p/>
          <a:p>
            <a:r>
              <a:t>4. 884 ÷ 4 = **221**</a:t>
            </a:r>
          </a:p>
          <a:p/>
          <a:p>
            <a:r>
              <a:t>5. 555 ÷ 5 = **111**</a:t>
            </a:r>
          </a:p>
          <a:p/>
          <a:p>
            <a:r>
              <a:t>6. 639 ÷ 3 = **213**</a:t>
            </a:r>
          </a:p>
          <a:p/>
          <a:p>
            <a:r>
              <a:t>### Thread 2: Core</a:t>
            </a:r>
          </a:p>
          <a:p/>
          <a:p>
            <a:r>
              <a:t>1. 84 ÷ 3 = **28**</a:t>
            </a:r>
          </a:p>
          <a:p/>
          <a:p>
            <a:r>
              <a:t>2. 156 ÷ 4 = **39**</a:t>
            </a:r>
          </a:p>
          <a:p/>
          <a:p>
            <a:r>
              <a:t>3. 235 ÷ 6 = **39 r 1**</a:t>
            </a:r>
          </a:p>
          <a:p/>
          <a:p>
            <a:r>
              <a:t>4. 326 ÷ 7 = **46 r 4**</a:t>
            </a:r>
          </a:p>
          <a:p/>
          <a:p>
            <a:r>
              <a:t>5. 458 ÷ 8 = **57 r 2**</a:t>
            </a:r>
          </a:p>
          <a:p/>
          <a:p>
            <a:r>
              <a:t>6. 617 ÷ 9 = **68 r 5**</a:t>
            </a:r>
          </a:p>
          <a:p/>
          <a:p>
            <a:r>
              <a:t>### Thread 3: Depth</a:t>
            </a:r>
          </a:p>
          <a:p/>
          <a:p>
            <a:r>
              <a:t>1. 627 ÷ 4 = **156.75**</a:t>
            </a:r>
          </a:p>
          <a:p/>
          <a:p>
            <a:r>
              <a:t>2. 943 ÷ 2 = **471.5**</a:t>
            </a:r>
          </a:p>
          <a:p/>
          <a:p>
            <a:r>
              <a:t>3. 2,136 ÷ 12 = **178**</a:t>
            </a:r>
          </a:p>
          <a:p/>
          <a:p>
            <a:r>
              <a:t>4. 4,608 ÷ 32 = **144**</a:t>
            </a:r>
          </a:p>
          <a:p/>
          <a:p>
            <a:r>
              <a:t>5. 5,729 ÷ 16 = **358.0625**</a:t>
            </a:r>
          </a:p>
          <a:p/>
          <a:p>
            <a:r>
              <a:t>6. 9,031 ÷ 40 = **225.775**</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 Stop Division — independent practice 3</a:t>
            </a:r>
          </a:p>
          <a:p/>
          <a:p>
            <a:r>
              <a:t>### Thread 1: Guided</a:t>
            </a:r>
          </a:p>
          <a:p/>
          <a:p>
            <a:r>
              <a:t>1. 82 ÷ 2 = **41**</a:t>
            </a:r>
          </a:p>
          <a:p/>
          <a:p>
            <a:r>
              <a:t>2. 963 ÷ 3 = **321**</a:t>
            </a:r>
          </a:p>
          <a:p/>
          <a:p>
            <a:r>
              <a:t>3. 848 ÷ 4 = **212**</a:t>
            </a:r>
          </a:p>
          <a:p/>
          <a:p>
            <a:r>
              <a:t>4. 777 ÷ 7 = **111**</a:t>
            </a:r>
          </a:p>
          <a:p/>
          <a:p>
            <a:r>
              <a:t>5. 888 ÷ 8 = **111**</a:t>
            </a:r>
          </a:p>
          <a:p/>
          <a:p>
            <a:r>
              <a:t>6. 606 ÷ 3 = **202**</a:t>
            </a:r>
          </a:p>
          <a:p/>
          <a:p>
            <a:r>
              <a:t>### Thread 2: Core</a:t>
            </a:r>
          </a:p>
          <a:p/>
          <a:p>
            <a:r>
              <a:t>1. 95 ÷ 4 = **23 r 3**</a:t>
            </a:r>
          </a:p>
          <a:p/>
          <a:p>
            <a:r>
              <a:t>2. 184 ÷ 5 = **36 r 4**</a:t>
            </a:r>
          </a:p>
          <a:p/>
          <a:p>
            <a:r>
              <a:t>3. 267 ÷ 8 = **33 r 3**</a:t>
            </a:r>
          </a:p>
          <a:p/>
          <a:p>
            <a:r>
              <a:t>4. 397 ÷ 6 = **66 r 1**</a:t>
            </a:r>
          </a:p>
          <a:p/>
          <a:p>
            <a:r>
              <a:t>5. 523 ÷ 7 = **74 r 5**</a:t>
            </a:r>
          </a:p>
          <a:p/>
          <a:p>
            <a:r>
              <a:t>6. 748 ÷ 9 = **83 r 1**</a:t>
            </a:r>
          </a:p>
          <a:p/>
          <a:p>
            <a:r>
              <a:t>### Thread 3: Depth</a:t>
            </a:r>
          </a:p>
          <a:p/>
          <a:p>
            <a:r>
              <a:t>1. 738 ÷ 4 = **184.5**</a:t>
            </a:r>
          </a:p>
          <a:p/>
          <a:p>
            <a:r>
              <a:t>2. 859 ÷ 2 = **429.5**</a:t>
            </a:r>
          </a:p>
          <a:p/>
          <a:p>
            <a:r>
              <a:t>3. 3,264 ÷ 24 = **136**</a:t>
            </a:r>
          </a:p>
          <a:p/>
          <a:p>
            <a:r>
              <a:t>4. 5,175 ÷ 15 = **345**</a:t>
            </a:r>
          </a:p>
          <a:p/>
          <a:p>
            <a:r>
              <a:t>5. 6,843 ÷ 25 = **273.72**</a:t>
            </a:r>
          </a:p>
          <a:p/>
          <a:p>
            <a:r>
              <a:t>6. 7,249 ÷ 20 = **362.45**</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 Stop Division — independent practice 4</a:t>
            </a:r>
          </a:p>
          <a:p/>
          <a:p>
            <a:r>
              <a:t>### Thread 1: Guided</a:t>
            </a:r>
          </a:p>
          <a:p/>
          <a:p>
            <a:r>
              <a:t>1. 62 ÷ 2 = **31**</a:t>
            </a:r>
          </a:p>
          <a:p/>
          <a:p>
            <a:r>
              <a:t>2. 936 ÷ 3 = **312**</a:t>
            </a:r>
          </a:p>
          <a:p/>
          <a:p>
            <a:r>
              <a:t>3. 448 ÷ 4 = **112**</a:t>
            </a:r>
          </a:p>
          <a:p/>
          <a:p>
            <a:r>
              <a:t>4. 505 ÷ 5 = **101**</a:t>
            </a:r>
          </a:p>
          <a:p/>
          <a:p>
            <a:r>
              <a:t>5. 666 ÷ 6 = **111**</a:t>
            </a:r>
          </a:p>
          <a:p/>
          <a:p>
            <a:r>
              <a:t>6. 999 ÷ 9 = **111**</a:t>
            </a:r>
          </a:p>
          <a:p/>
          <a:p>
            <a:r>
              <a:t>### Thread 2: Core</a:t>
            </a:r>
          </a:p>
          <a:p/>
          <a:p>
            <a:r>
              <a:t>1. 108 ÷ 4 = **27**</a:t>
            </a:r>
          </a:p>
          <a:p/>
          <a:p>
            <a:r>
              <a:t>2. 245 ÷ 6 = **40 r 5**</a:t>
            </a:r>
          </a:p>
          <a:p/>
          <a:p>
            <a:r>
              <a:t>3. 314 ÷ 7 = **44 r 6**</a:t>
            </a:r>
          </a:p>
          <a:p/>
          <a:p>
            <a:r>
              <a:t>4. 467 ÷ 8 = **58 r 3**</a:t>
            </a:r>
          </a:p>
          <a:p/>
          <a:p>
            <a:r>
              <a:t>5. 586 ÷ 9 = **65 r 1**</a:t>
            </a:r>
          </a:p>
          <a:p/>
          <a:p>
            <a:r>
              <a:t>6. 703 ÷ 5 = **140 r 3**</a:t>
            </a:r>
          </a:p>
          <a:p/>
          <a:p>
            <a:r>
              <a:t>### Thread 3: Depth</a:t>
            </a:r>
          </a:p>
          <a:p/>
          <a:p>
            <a:r>
              <a:t>1. 849 ÷ 4 = **212.25**</a:t>
            </a:r>
          </a:p>
          <a:p/>
          <a:p>
            <a:r>
              <a:t>2. 967 ÷ 2 = **483.5**</a:t>
            </a:r>
          </a:p>
          <a:p/>
          <a:p>
            <a:r>
              <a:t>3. 4,374 ÷ 18 = **243**</a:t>
            </a:r>
          </a:p>
          <a:p/>
          <a:p>
            <a:r>
              <a:t>4. 6,288 ÷ 48 = **131**</a:t>
            </a:r>
          </a:p>
          <a:p/>
          <a:p>
            <a:r>
              <a:t>5. 7,957 ÷ 16 = **497.3125**</a:t>
            </a:r>
          </a:p>
          <a:p/>
          <a:p>
            <a:r>
              <a:t>6. 8,623 ÷ 50 = **172.46**</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Application to Exam Problems — worked demo</a:t>
            </a:r>
          </a:p>
          <a:p/>
          <a:p>
            <a:r>
              <a:t>Guided: 84 ÷ 4 = 21 tins per box. Core: 130 ÷ 6 = 21 r 4, so 21 full packs. Depth: 145 ÷ 9 = 16 r 1, so 17 minibuses; 17 × 40 = £680.</a:t>
            </a:r>
          </a:p>
          <a:p/>
          <a:p>
            <a:r>
              <a:t>For Depth, 16 buses would seat only 144 students. The first answer must be interpreted before the next calculation. In the lattice for 17 × 40, top row cells are 04, 28; bottom row cells 00, 00. Diagonal totals from right: 0, 8, 6, 0 → 680. Both worked diagrams are provided as editable groups. Ballpark calculations check scale; they are not exact-answer proofs.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Application to Exam Problems — step-by-step practice 1</a:t>
            </a:r>
          </a:p>
          <a:p/>
          <a:p>
            <a:r>
              <a:t>Thread 1: Guided: 42 × 15 = 630 pens. Estimate: 40 × 15 = 600.</a:t>
            </a:r>
          </a:p>
          <a:p/>
          <a:p>
            <a:r>
              <a:t>Thread 2: Core: 215 ÷ 6 = 35 r 5 → 35 full bags. Estimate: 210 ÷ 6 = 35.</a:t>
            </a:r>
          </a:p>
          <a:p/>
          <a:p>
            <a:r>
              <a:t>Thread 3: Depth: 18 × 32 = 576; 576 + 120 = £696. Estimate: 20 × 30 + 120 = 720.</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Application to Exam Problems — step-by-step practice 2</a:t>
            </a:r>
          </a:p>
          <a:p/>
          <a:p>
            <a:r>
              <a:t>Thread 1: Guided: 168 ÷ 7 = 24 students. Estimate: 140 ÷ 7 = 20.</a:t>
            </a:r>
          </a:p>
          <a:p/>
          <a:p>
            <a:r>
              <a:t>Thread 2: Core: 16 × 27 = £432. Estimate: 16 × 30 = 480.</a:t>
            </a:r>
          </a:p>
          <a:p/>
          <a:p>
            <a:r>
              <a:t>Thread 3: Depth: 157 ÷ 8 = 19 r 5 → 20 vans; 20 × 45 = £900. Estimate: 160 ÷ 8 × 45 = 900.</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Application to Exam Problems — independent practice 1</a:t>
            </a:r>
          </a:p>
          <a:p/>
          <a:p>
            <a:r>
              <a:t>### Thread 1: Guided</a:t>
            </a:r>
          </a:p>
          <a:p/>
          <a:p>
            <a:r>
              <a:t>1. 14 × 32 = 448 books</a:t>
            </a:r>
          </a:p>
          <a:p/>
          <a:p>
            <a:r>
              <a:t>2. 105 ÷ 7 = 15 students</a:t>
            </a:r>
          </a:p>
          <a:p/>
          <a:p>
            <a:r>
              <a:t>3. 26 × 41 = 1,066 bottles</a:t>
            </a:r>
          </a:p>
          <a:p/>
          <a:p>
            <a:r>
              <a:t>4. 148 ÷ 4 = 37 m</a:t>
            </a:r>
          </a:p>
          <a:p/>
          <a:p>
            <a:r>
              <a:t>5. 13 × 85 = 1,105 seats</a:t>
            </a:r>
          </a:p>
          <a:p/>
          <a:p>
            <a:r>
              <a:t>6. 175 ÷ 5 = £35</a:t>
            </a:r>
          </a:p>
          <a:p/>
          <a:p>
            <a:r>
              <a:t>### Thread 2: Core</a:t>
            </a:r>
          </a:p>
          <a:p/>
          <a:p>
            <a:r>
              <a:t>1. 130 ÷ 6 = 21 r 4 → 21 full cartons</a:t>
            </a:r>
          </a:p>
          <a:p/>
          <a:p>
            <a:r>
              <a:t>2. 32 ÷ 5 = 6 r 2 → 7 cars</a:t>
            </a:r>
          </a:p>
          <a:p/>
          <a:p>
            <a:r>
              <a:t>3. 250 ÷ 12 = 20 r 10 → 10 chocolates</a:t>
            </a:r>
          </a:p>
          <a:p/>
          <a:p>
            <a:r>
              <a:t>4. 17 × 28 = £476</a:t>
            </a:r>
          </a:p>
          <a:p/>
          <a:p>
            <a:r>
              <a:t>5. 142 ÷ 6 = 23 r 4 → 23 full bags</a:t>
            </a:r>
          </a:p>
          <a:p/>
          <a:p>
            <a:r>
              <a:t>6. 132 ÷ 8 = £16.50</a:t>
            </a:r>
          </a:p>
          <a:p/>
          <a:p>
            <a:r>
              <a:t>### Thread 3: Depth</a:t>
            </a:r>
          </a:p>
          <a:p/>
          <a:p>
            <a:r>
              <a:t>1. 45 × 16 = 720; 720 − 50 = £670</a:t>
            </a:r>
          </a:p>
          <a:p/>
          <a:p>
            <a:r>
              <a:t>2. 115 ÷ 8 = 14 r 3 → 15 vans; 15 × 65 = £975</a:t>
            </a:r>
          </a:p>
          <a:p/>
          <a:p>
            <a:r>
              <a:t>3. 22 × 14 = 308; 308 + 30 = £338</a:t>
            </a:r>
          </a:p>
          <a:p/>
          <a:p>
            <a:r>
              <a:t>4. 430 ÷ 12 = 35 r 10; 35 × 9 = £315</a:t>
            </a:r>
          </a:p>
          <a:p/>
          <a:p>
            <a:r>
              <a:t>5. 24 × 15 = 360; 360 + 45 = £405</a:t>
            </a:r>
          </a:p>
          <a:p/>
          <a:p>
            <a:r>
              <a:t>6. 15 × 12 = 180; 180 × 8 = £1,440</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Application to Exam Problems — independent practice 2</a:t>
            </a:r>
          </a:p>
          <a:p/>
          <a:p>
            <a:r>
              <a:t>### Thread 1: Guided</a:t>
            </a:r>
          </a:p>
          <a:p/>
          <a:p>
            <a:r>
              <a:t>1. 18 × 24 = 432 plants</a:t>
            </a:r>
          </a:p>
          <a:p/>
          <a:p>
            <a:r>
              <a:t>2. 156 ÷ 6 = 26 pens</a:t>
            </a:r>
          </a:p>
          <a:p/>
          <a:p>
            <a:r>
              <a:t>3. 23 × 16 = 368 badges</a:t>
            </a:r>
          </a:p>
          <a:p/>
          <a:p>
            <a:r>
              <a:t>4. 248 ÷ 8 = £31</a:t>
            </a:r>
          </a:p>
          <a:p/>
          <a:p>
            <a:r>
              <a:t>5. 12 × 27 = 324 km</a:t>
            </a:r>
          </a:p>
          <a:p/>
          <a:p>
            <a:r>
              <a:t>6. 189 ÷ 7 = 27 cm</a:t>
            </a:r>
          </a:p>
          <a:p/>
          <a:p>
            <a:r>
              <a:t>### Thread 2: Core</a:t>
            </a:r>
          </a:p>
          <a:p/>
          <a:p>
            <a:r>
              <a:t>1. 197 ÷ 8 = 24 r 5 → 24 bundles</a:t>
            </a:r>
          </a:p>
          <a:p/>
          <a:p>
            <a:r>
              <a:t>2. 83 ÷ 6 = 13 r 5 → 14 tents</a:t>
            </a:r>
          </a:p>
          <a:p/>
          <a:p>
            <a:r>
              <a:t>3. 275 ÷ 12 = 22 r 11 → 11 cm</a:t>
            </a:r>
          </a:p>
          <a:p/>
          <a:p>
            <a:r>
              <a:t>4. 36 × 14 = 504 pages</a:t>
            </a:r>
          </a:p>
          <a:p/>
          <a:p>
            <a:r>
              <a:t>5. 154 ÷ 4 = £38.50</a:t>
            </a:r>
          </a:p>
          <a:p/>
          <a:p>
            <a:r>
              <a:t>6. 253 ÷ 24 = 10 r 13 → 11 albums</a:t>
            </a:r>
          </a:p>
          <a:p/>
          <a:p>
            <a:r>
              <a:t>### Thread 3: Depth</a:t>
            </a:r>
          </a:p>
          <a:p/>
          <a:p>
            <a:r>
              <a:t>1. 28 × 14 = 392; 392 + 18 = £410</a:t>
            </a:r>
          </a:p>
          <a:p/>
          <a:p>
            <a:r>
              <a:t>2. 94 ÷ 6 = 15 r 4 → 16 tables; 16 × 12 = £192</a:t>
            </a:r>
          </a:p>
          <a:p/>
          <a:p>
            <a:r>
              <a:t>3. 24 × 15 = 360; 360 − 87 = 273 drinks</a:t>
            </a:r>
          </a:p>
          <a:p/>
          <a:p>
            <a:r>
              <a:t>4. 286 ÷ 8 = 35 r 6; 35 × 3 = £105</a:t>
            </a:r>
          </a:p>
          <a:p/>
          <a:p>
            <a:r>
              <a:t>5. 18 × 12 = 216; 216 ÷ 4 = £54</a:t>
            </a:r>
          </a:p>
          <a:p/>
          <a:p>
            <a:r>
              <a:t>6. 17 × 24 = 408; 408 × 2 = £816</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Application to Exam Problems — independent practice 3</a:t>
            </a:r>
          </a:p>
          <a:p/>
          <a:p>
            <a:r>
              <a:t>### Thread 1: Guided</a:t>
            </a:r>
          </a:p>
          <a:p/>
          <a:p>
            <a:r>
              <a:t>1. 16 × 35 = 560 cables</a:t>
            </a:r>
          </a:p>
          <a:p/>
          <a:p>
            <a:r>
              <a:t>2. 252 ÷ 7 = 36 stickers</a:t>
            </a:r>
          </a:p>
          <a:p/>
          <a:p>
            <a:r>
              <a:t>3. 28 × 24 = 672 seats</a:t>
            </a:r>
          </a:p>
          <a:p/>
          <a:p>
            <a:r>
              <a:t>4. 336 ÷ 8 = 42 m</a:t>
            </a:r>
          </a:p>
          <a:p/>
          <a:p>
            <a:r>
              <a:t>5. 19 × 32 = 608 cards</a:t>
            </a:r>
          </a:p>
          <a:p/>
          <a:p>
            <a:r>
              <a:t>6. 315 ÷ 9 = £35</a:t>
            </a:r>
          </a:p>
          <a:p/>
          <a:p>
            <a:r>
              <a:t>### Thread 2: Core</a:t>
            </a:r>
          </a:p>
          <a:p/>
          <a:p>
            <a:r>
              <a:t>1. 245 ÷ 8 = 30 r 5 → 30 bags</a:t>
            </a:r>
          </a:p>
          <a:p/>
          <a:p>
            <a:r>
              <a:t>2. 137 ÷ 9 = 15 r 2 → 16 trips</a:t>
            </a:r>
          </a:p>
          <a:p/>
          <a:p>
            <a:r>
              <a:t>3. 359 ÷ 12 = 29 r 11 → 11 beads</a:t>
            </a:r>
          </a:p>
          <a:p/>
          <a:p>
            <a:r>
              <a:t>4. 23 × 16 = £368</a:t>
            </a:r>
          </a:p>
          <a:p/>
          <a:p>
            <a:r>
              <a:t>5. 186 ÷ 8 = £23.25</a:t>
            </a:r>
          </a:p>
          <a:p/>
          <a:p>
            <a:r>
              <a:t>6. 25 × 48 = 1,200 cm²</a:t>
            </a:r>
          </a:p>
          <a:p/>
          <a:p>
            <a:r>
              <a:t>### Thread 3: Depth</a:t>
            </a:r>
          </a:p>
          <a:p/>
          <a:p>
            <a:r>
              <a:t>1. 21 × 18 = 378; 378 + 64 = £442</a:t>
            </a:r>
          </a:p>
          <a:p/>
          <a:p>
            <a:r>
              <a:t>2. 167 ÷ 24 = 6 r 23 → 7 coaches; 7 × 85 = £595</a:t>
            </a:r>
          </a:p>
          <a:p/>
          <a:p>
            <a:r>
              <a:t>3. 32 × 18 = 576; 576 − 145 = 431 cards</a:t>
            </a:r>
          </a:p>
          <a:p/>
          <a:p>
            <a:r>
              <a:t>4. 397 ÷ 6 = 66 r 1; 66 × 4 = £264</a:t>
            </a:r>
          </a:p>
          <a:p/>
          <a:p>
            <a:r>
              <a:t>5. 15 × 14 = 210; 210 ÷ 6 = £35</a:t>
            </a:r>
          </a:p>
          <a:p/>
          <a:p>
            <a:r>
              <a:t>6. 23 × 16 = 368; 368 × 5 = £1,840</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Application to Exam Problems — independent practice 4</a:t>
            </a:r>
          </a:p>
          <a:p/>
          <a:p>
            <a:r>
              <a:t>### Thread 1: Guided</a:t>
            </a:r>
          </a:p>
          <a:p/>
          <a:p>
            <a:r>
              <a:t>1. 27 × 18 = 486 labels</a:t>
            </a:r>
          </a:p>
          <a:p/>
          <a:p>
            <a:r>
              <a:t>2. 384 ÷ 8 = 48 books</a:t>
            </a:r>
          </a:p>
          <a:p/>
          <a:p>
            <a:r>
              <a:t>3. 34 × 16 = 544 seedlings</a:t>
            </a:r>
          </a:p>
          <a:p/>
          <a:p>
            <a:r>
              <a:t>4. 425 ÷ 5 = £85</a:t>
            </a:r>
          </a:p>
          <a:p/>
          <a:p>
            <a:r>
              <a:t>5. 26 × 35 = 910 seats</a:t>
            </a:r>
          </a:p>
          <a:p/>
          <a:p>
            <a:r>
              <a:t>6. 294 ÷ 6 = 49 cm</a:t>
            </a:r>
          </a:p>
          <a:p/>
          <a:p>
            <a:r>
              <a:t>### Thread 2: Core</a:t>
            </a:r>
          </a:p>
          <a:p/>
          <a:p>
            <a:r>
              <a:t>1. 367 ÷ 12 = 30 r 7 → 30 boxes</a:t>
            </a:r>
          </a:p>
          <a:p/>
          <a:p>
            <a:r>
              <a:t>2. 158 ÷ 6 = 26 r 2 → 27 rooms</a:t>
            </a:r>
          </a:p>
          <a:p/>
          <a:p>
            <a:r>
              <a:t>3. 413 ÷ 15 = 27 r 8 → 8 cm</a:t>
            </a:r>
          </a:p>
          <a:p/>
          <a:p>
            <a:r>
              <a:t>4. 28 × 19 = 532 bottles</a:t>
            </a:r>
          </a:p>
          <a:p/>
          <a:p>
            <a:r>
              <a:t>5. 238 ÷ 8 = £29.75</a:t>
            </a:r>
          </a:p>
          <a:p/>
          <a:p>
            <a:r>
              <a:t>6. 319 ÷ 24 = 13 r 7 → 14 folders</a:t>
            </a:r>
          </a:p>
          <a:p/>
          <a:p>
            <a:r>
              <a:t>### Thread 3: Depth</a:t>
            </a:r>
          </a:p>
          <a:p/>
          <a:p>
            <a:r>
              <a:t>1. 36 × 17 = 612; 612 − 75 = £537</a:t>
            </a:r>
          </a:p>
          <a:p/>
          <a:p>
            <a:r>
              <a:t>2. 203 ÷ 8 = 25 r 3 → 26 tables; 26 × 15 = £390</a:t>
            </a:r>
          </a:p>
          <a:p/>
          <a:p>
            <a:r>
              <a:t>3. 29 × 24 = 696; 696 − 187 = 509 notebooks</a:t>
            </a:r>
          </a:p>
          <a:p/>
          <a:p>
            <a:r>
              <a:t>4. 518 ÷ 12 = 43 r 2; 43 × 5 = £215</a:t>
            </a:r>
          </a:p>
          <a:p/>
          <a:p>
            <a:r>
              <a:t>5. 21 × 16 = 336; 336 ÷ 7 = £48</a:t>
            </a:r>
          </a:p>
          <a:p/>
          <a:p>
            <a:r>
              <a:t>6. 28 × 15 = 420; 420 × 3 = £1,260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Follow each step down your column. Small orange numbers show carries.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1  •  1/7  •  Slide 1</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43 × 6</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34 × 12</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4,312 × 156</a:t>
            </a:r>
          </a:p>
        </p:txBody>
      </p:sp>
      <p:sp>
        <p:nvSpPr>
          <p:cNvPr id="21" name="Rectangle 20"/>
          <p:cNvSpPr/>
          <p:nvPr/>
        </p:nvSpPr>
        <p:spPr>
          <a:xfrm>
            <a:off x="384048" y="2176272"/>
            <a:ext cx="2103120" cy="7315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448056" y="2267712"/>
            <a:ext cx="1975103" cy="5486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2551175"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2 columns × 1 row.</a:t>
            </a:r>
          </a:p>
          <a:p>
            <a:pPr>
              <a:lnSpc>
                <a:spcPts val="1836"/>
              </a:lnSpc>
              <a:spcBef>
                <a:spcPts val="0"/>
              </a:spcBef>
              <a:spcAft>
                <a:spcPts val="0"/>
              </a:spcAft>
              <a:defRPr sz="1700" b="0">
                <a:solidFill>
                  <a:srgbClr val="182B3A"/>
                </a:solidFill>
                <a:latin typeface="Arial"/>
              </a:defRPr>
            </a:pPr>
            <a:r>
              <a:t>Top: 4, 3. Right: 6.</a:t>
            </a:r>
          </a:p>
        </p:txBody>
      </p:sp>
      <p:sp>
        <p:nvSpPr>
          <p:cNvPr id="25" name="Rectangle 24"/>
          <p:cNvSpPr/>
          <p:nvPr/>
        </p:nvSpPr>
        <p:spPr>
          <a:xfrm>
            <a:off x="6406895"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6470904"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2 columns × 2 rows.</a:t>
            </a:r>
          </a:p>
          <a:p>
            <a:pPr>
              <a:lnSpc>
                <a:spcPts val="1836"/>
              </a:lnSpc>
              <a:spcBef>
                <a:spcPts val="0"/>
              </a:spcBef>
              <a:spcAft>
                <a:spcPts val="0"/>
              </a:spcAft>
              <a:defRPr sz="1700" b="0">
                <a:solidFill>
                  <a:srgbClr val="182B3A"/>
                </a:solidFill>
                <a:latin typeface="Arial"/>
              </a:defRPr>
            </a:pPr>
            <a:r>
              <a:t>Top: 3, 4. Right: 1, 2.</a:t>
            </a:r>
          </a:p>
        </p:txBody>
      </p:sp>
      <p:sp>
        <p:nvSpPr>
          <p:cNvPr id="27" name="Rectangle 26"/>
          <p:cNvSpPr/>
          <p:nvPr/>
        </p:nvSpPr>
        <p:spPr>
          <a:xfrm>
            <a:off x="10326624"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10390632"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4 columns × 3 rows.</a:t>
            </a:r>
          </a:p>
          <a:p>
            <a:pPr>
              <a:lnSpc>
                <a:spcPts val="1836"/>
              </a:lnSpc>
              <a:spcBef>
                <a:spcPts val="0"/>
              </a:spcBef>
              <a:spcAft>
                <a:spcPts val="0"/>
              </a:spcAft>
              <a:defRPr sz="1700" b="0">
                <a:solidFill>
                  <a:srgbClr val="182B3A"/>
                </a:solidFill>
                <a:latin typeface="Arial"/>
              </a:defRPr>
            </a:pPr>
            <a:r>
              <a:t>Top: 4, 3, 1, 2. Right: 1, 5, 6.</a:t>
            </a:r>
          </a:p>
        </p:txBody>
      </p:sp>
      <p:sp>
        <p:nvSpPr>
          <p:cNvPr id="29" name="Rectangle 28"/>
          <p:cNvSpPr/>
          <p:nvPr/>
        </p:nvSpPr>
        <p:spPr>
          <a:xfrm>
            <a:off x="384048" y="2907791"/>
            <a:ext cx="2103120" cy="2423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48056" y="2999232"/>
            <a:ext cx="1975103" cy="224027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2551175" y="2971799"/>
            <a:ext cx="3791712" cy="7498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Cells: 24, 18.</a:t>
            </a:r>
          </a:p>
          <a:p>
            <a:pPr>
              <a:lnSpc>
                <a:spcPts val="1836"/>
              </a:lnSpc>
              <a:spcBef>
                <a:spcPts val="0"/>
              </a:spcBef>
              <a:spcAft>
                <a:spcPts val="0"/>
              </a:spcAft>
              <a:defRPr sz="1700" b="0">
                <a:solidFill>
                  <a:srgbClr val="182B3A"/>
                </a:solidFill>
                <a:latin typeface="Arial"/>
              </a:defRPr>
            </a:pPr>
            <a:r>
              <a:t>Tens above; units below.</a:t>
            </a:r>
          </a:p>
        </p:txBody>
      </p:sp>
      <p:grpSp>
        <p:nvGrpSpPr>
          <p:cNvPr id="33" name="Editable lattice 43 × 6"/>
          <p:cNvGrpSpPr/>
          <p:nvPr/>
        </p:nvGrpSpPr>
        <p:grpSpPr>
          <a:xfrm>
            <a:off x="3496055" y="3803903"/>
            <a:ext cx="1737360" cy="1143000"/>
            <a:chOff x="3496055" y="3803903"/>
            <a:chExt cx="1737360" cy="1143000"/>
          </a:xfrm>
        </p:grpSpPr>
        <p:sp>
          <p:nvSpPr>
            <p:cNvPr id="34" name="TextBox 33"/>
            <p:cNvSpPr txBox="1"/>
            <p:nvPr/>
          </p:nvSpPr>
          <p:spPr>
            <a:xfrm>
              <a:off x="3806951" y="3803903"/>
              <a:ext cx="566928" cy="228600"/>
            </a:xfrm>
            <a:prstGeom prst="rect">
              <a:avLst/>
            </a:prstGeom>
            <a:noFill/>
          </p:spPr>
          <p:txBody>
            <a:bodyPr wrap="none" lIns="0" rIns="0" tIns="0" bIns="0" anchor="ctr">
              <a:spAutoFit/>
            </a:bodyPr>
            <a:lstStyle/>
            <a:p>
              <a:pPr algn="ctr">
                <a:defRPr sz="1800" b="1">
                  <a:solidFill>
                    <a:srgbClr val="176B73"/>
                  </a:solidFill>
                  <a:latin typeface="Arial"/>
                </a:defRPr>
              </a:pPr>
              <a:r>
                <a:t>4</a:t>
              </a:r>
            </a:p>
          </p:txBody>
        </p:sp>
        <p:sp>
          <p:nvSpPr>
            <p:cNvPr id="35" name="TextBox 34"/>
            <p:cNvSpPr txBox="1"/>
            <p:nvPr/>
          </p:nvSpPr>
          <p:spPr>
            <a:xfrm>
              <a:off x="4373879" y="3803903"/>
              <a:ext cx="566928" cy="228600"/>
            </a:xfrm>
            <a:prstGeom prst="rect">
              <a:avLst/>
            </a:prstGeom>
            <a:noFill/>
          </p:spPr>
          <p:txBody>
            <a:bodyPr wrap="none" lIns="0" rIns="0" tIns="0" bIns="0" anchor="ctr">
              <a:spAutoFit/>
            </a:bodyPr>
            <a:lstStyle/>
            <a:p>
              <a:pPr algn="ctr">
                <a:defRPr sz="1800" b="1">
                  <a:solidFill>
                    <a:srgbClr val="176B73"/>
                  </a:solidFill>
                  <a:latin typeface="Arial"/>
                </a:defRPr>
              </a:pPr>
              <a:r>
                <a:t>3</a:t>
              </a:r>
            </a:p>
          </p:txBody>
        </p:sp>
        <p:sp>
          <p:nvSpPr>
            <p:cNvPr id="36" name="TextBox 35"/>
            <p:cNvSpPr txBox="1"/>
            <p:nvPr/>
          </p:nvSpPr>
          <p:spPr>
            <a:xfrm>
              <a:off x="4968239" y="4059935"/>
              <a:ext cx="265176" cy="566928"/>
            </a:xfrm>
            <a:prstGeom prst="rect">
              <a:avLst/>
            </a:prstGeom>
            <a:noFill/>
          </p:spPr>
          <p:txBody>
            <a:bodyPr wrap="none" lIns="0" rIns="0" tIns="0" bIns="0" anchor="ctr">
              <a:spAutoFit/>
            </a:bodyPr>
            <a:lstStyle/>
            <a:p>
              <a:pPr algn="ctr">
                <a:defRPr sz="1800" b="1">
                  <a:solidFill>
                    <a:srgbClr val="176B73"/>
                  </a:solidFill>
                  <a:latin typeface="Arial"/>
                </a:defRPr>
              </a:pPr>
              <a:r>
                <a:t>6</a:t>
              </a:r>
            </a:p>
          </p:txBody>
        </p:sp>
        <p:sp>
          <p:nvSpPr>
            <p:cNvPr id="37" name="Rectangle 36"/>
            <p:cNvSpPr/>
            <p:nvPr/>
          </p:nvSpPr>
          <p:spPr>
            <a:xfrm>
              <a:off x="3806951" y="4059935"/>
              <a:ext cx="566928" cy="566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8" name="Connector 37"/>
            <p:cNvCxnSpPr/>
            <p:nvPr/>
          </p:nvCxnSpPr>
          <p:spPr>
            <a:xfrm flipV="1">
              <a:off x="3806951" y="4059935"/>
              <a:ext cx="566928" cy="566929"/>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829629" y="4071274"/>
              <a:ext cx="272125" cy="266456"/>
            </a:xfrm>
            <a:prstGeom prst="rect">
              <a:avLst/>
            </a:prstGeom>
            <a:noFill/>
          </p:spPr>
          <p:txBody>
            <a:bodyPr wrap="none" lIns="0" rIns="0" tIns="0" bIns="0" anchor="ctr">
              <a:spAutoFit/>
            </a:bodyPr>
            <a:lstStyle/>
            <a:p>
              <a:pPr algn="ctr">
                <a:defRPr sz="1800" b="0">
                  <a:solidFill>
                    <a:srgbClr val="182B3A"/>
                  </a:solidFill>
                  <a:latin typeface="Arial"/>
                </a:defRPr>
              </a:pPr>
              <a:r>
                <a:t>2</a:t>
              </a:r>
            </a:p>
          </p:txBody>
        </p:sp>
        <p:sp>
          <p:nvSpPr>
            <p:cNvPr id="40" name="TextBox 39"/>
            <p:cNvSpPr txBox="1"/>
            <p:nvPr/>
          </p:nvSpPr>
          <p:spPr>
            <a:xfrm>
              <a:off x="4079077" y="4337730"/>
              <a:ext cx="272125" cy="266456"/>
            </a:xfrm>
            <a:prstGeom prst="rect">
              <a:avLst/>
            </a:prstGeom>
            <a:noFill/>
          </p:spPr>
          <p:txBody>
            <a:bodyPr wrap="none" lIns="0" rIns="0" tIns="0" bIns="0" anchor="ctr">
              <a:spAutoFit/>
            </a:bodyPr>
            <a:lstStyle/>
            <a:p>
              <a:pPr algn="ctr">
                <a:defRPr sz="1800" b="0">
                  <a:solidFill>
                    <a:srgbClr val="182B3A"/>
                  </a:solidFill>
                  <a:latin typeface="Arial"/>
                </a:defRPr>
              </a:pPr>
              <a:r>
                <a:t>4</a:t>
              </a:r>
            </a:p>
          </p:txBody>
        </p:sp>
        <p:sp>
          <p:nvSpPr>
            <p:cNvPr id="41" name="Rectangle 40"/>
            <p:cNvSpPr/>
            <p:nvPr/>
          </p:nvSpPr>
          <p:spPr>
            <a:xfrm>
              <a:off x="4373879" y="4059935"/>
              <a:ext cx="566928" cy="566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2" name="Connector 41"/>
            <p:cNvCxnSpPr/>
            <p:nvPr/>
          </p:nvCxnSpPr>
          <p:spPr>
            <a:xfrm flipV="1">
              <a:off x="4373879" y="4059935"/>
              <a:ext cx="566928" cy="566929"/>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4396557" y="4071274"/>
              <a:ext cx="272125" cy="266456"/>
            </a:xfrm>
            <a:prstGeom prst="rect">
              <a:avLst/>
            </a:prstGeom>
            <a:noFill/>
          </p:spPr>
          <p:txBody>
            <a:bodyPr wrap="none" lIns="0" rIns="0" tIns="0" bIns="0" anchor="ctr">
              <a:spAutoFit/>
            </a:bodyPr>
            <a:lstStyle/>
            <a:p>
              <a:pPr algn="ctr">
                <a:defRPr sz="1800" b="0">
                  <a:solidFill>
                    <a:srgbClr val="182B3A"/>
                  </a:solidFill>
                  <a:latin typeface="Arial"/>
                </a:defRPr>
              </a:pPr>
              <a:r>
                <a:t>1</a:t>
              </a:r>
            </a:p>
          </p:txBody>
        </p:sp>
        <p:sp>
          <p:nvSpPr>
            <p:cNvPr id="44" name="TextBox 43"/>
            <p:cNvSpPr txBox="1"/>
            <p:nvPr/>
          </p:nvSpPr>
          <p:spPr>
            <a:xfrm>
              <a:off x="4646005" y="4337730"/>
              <a:ext cx="272125" cy="266456"/>
            </a:xfrm>
            <a:prstGeom prst="rect">
              <a:avLst/>
            </a:prstGeom>
            <a:noFill/>
          </p:spPr>
          <p:txBody>
            <a:bodyPr wrap="none" lIns="0" rIns="0" tIns="0" bIns="0" anchor="ctr">
              <a:spAutoFit/>
            </a:bodyPr>
            <a:lstStyle/>
            <a:p>
              <a:pPr algn="ctr">
                <a:defRPr sz="1800" b="0">
                  <a:solidFill>
                    <a:srgbClr val="182B3A"/>
                  </a:solidFill>
                  <a:latin typeface="Arial"/>
                </a:defRPr>
              </a:pPr>
              <a:r>
                <a:t>8</a:t>
              </a:r>
            </a:p>
          </p:txBody>
        </p:sp>
        <p:cxnSp>
          <p:nvCxnSpPr>
            <p:cNvPr id="45" name="Connector 44"/>
            <p:cNvCxnSpPr/>
            <p:nvPr/>
          </p:nvCxnSpPr>
          <p:spPr>
            <a:xfrm>
              <a:off x="3806951"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373879"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940807"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3806951" y="4059935"/>
              <a:ext cx="1133856"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3806951" y="4626864"/>
              <a:ext cx="1133856"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4373879" y="4709159"/>
              <a:ext cx="566928" cy="237744"/>
            </a:xfrm>
            <a:prstGeom prst="rect">
              <a:avLst/>
            </a:prstGeom>
            <a:noFill/>
          </p:spPr>
          <p:txBody>
            <a:bodyPr wrap="none" lIns="0" rIns="0" tIns="0" bIns="0" anchor="ctr">
              <a:spAutoFit/>
            </a:bodyPr>
            <a:lstStyle/>
            <a:p>
              <a:pPr algn="ctr">
                <a:defRPr sz="1900" b="1">
                  <a:solidFill>
                    <a:srgbClr val="176B73"/>
                  </a:solidFill>
                  <a:latin typeface="Arial"/>
                </a:defRPr>
              </a:pPr>
              <a:r>
                <a:t>8</a:t>
              </a:r>
            </a:p>
          </p:txBody>
        </p:sp>
        <p:sp>
          <p:nvSpPr>
            <p:cNvPr id="51" name="TextBox 50"/>
            <p:cNvSpPr txBox="1"/>
            <p:nvPr/>
          </p:nvSpPr>
          <p:spPr>
            <a:xfrm>
              <a:off x="3806951" y="4709159"/>
              <a:ext cx="566928" cy="237744"/>
            </a:xfrm>
            <a:prstGeom prst="rect">
              <a:avLst/>
            </a:prstGeom>
            <a:noFill/>
          </p:spPr>
          <p:txBody>
            <a:bodyPr wrap="none" lIns="0" rIns="0" tIns="0" bIns="0" anchor="ctr">
              <a:spAutoFit/>
            </a:bodyPr>
            <a:lstStyle/>
            <a:p>
              <a:pPr algn="ctr">
                <a:defRPr sz="1900" b="1">
                  <a:solidFill>
                    <a:srgbClr val="176B73"/>
                  </a:solidFill>
                  <a:latin typeface="Arial"/>
                </a:defRPr>
              </a:pPr>
              <a:r>
                <a:t>5</a:t>
              </a:r>
            </a:p>
          </p:txBody>
        </p:sp>
        <p:sp>
          <p:nvSpPr>
            <p:cNvPr id="52" name="TextBox 51"/>
            <p:cNvSpPr txBox="1"/>
            <p:nvPr/>
          </p:nvSpPr>
          <p:spPr>
            <a:xfrm>
              <a:off x="3496055" y="4059935"/>
              <a:ext cx="265176" cy="566928"/>
            </a:xfrm>
            <a:prstGeom prst="rect">
              <a:avLst/>
            </a:prstGeom>
            <a:noFill/>
          </p:spPr>
          <p:txBody>
            <a:bodyPr wrap="none" lIns="0" rIns="0" tIns="0" bIns="0" anchor="ctr">
              <a:spAutoFit/>
            </a:bodyPr>
            <a:lstStyle/>
            <a:p>
              <a:pPr algn="ctr">
                <a:defRPr sz="1900" b="1">
                  <a:solidFill>
                    <a:srgbClr val="176B73"/>
                  </a:solidFill>
                  <a:latin typeface="Arial"/>
                </a:defRPr>
              </a:pPr>
              <a:r>
                <a:t>2</a:t>
              </a:r>
            </a:p>
          </p:txBody>
        </p:sp>
      </p:grpSp>
      <p:sp>
        <p:nvSpPr>
          <p:cNvPr id="53" name="Rectangle 52"/>
          <p:cNvSpPr/>
          <p:nvPr/>
        </p:nvSpPr>
        <p:spPr>
          <a:xfrm>
            <a:off x="6406895"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6470904" y="2971799"/>
            <a:ext cx="3791712" cy="7498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Top: 03, 04. Bottom: 06, 08.</a:t>
            </a:r>
          </a:p>
          <a:p>
            <a:pPr>
              <a:lnSpc>
                <a:spcPts val="1836"/>
              </a:lnSpc>
              <a:spcBef>
                <a:spcPts val="0"/>
              </a:spcBef>
              <a:spcAft>
                <a:spcPts val="0"/>
              </a:spcAft>
              <a:defRPr sz="1700" b="0">
                <a:solidFill>
                  <a:srgbClr val="182B3A"/>
                </a:solidFill>
                <a:latin typeface="Arial"/>
              </a:defRPr>
            </a:pPr>
            <a:r>
              <a:t>Keep the tens zeros.</a:t>
            </a:r>
          </a:p>
        </p:txBody>
      </p:sp>
      <p:grpSp>
        <p:nvGrpSpPr>
          <p:cNvPr id="55" name="Editable lattice 34 × 12"/>
          <p:cNvGrpSpPr/>
          <p:nvPr/>
        </p:nvGrpSpPr>
        <p:grpSpPr>
          <a:xfrm>
            <a:off x="7493508" y="3803903"/>
            <a:ext cx="1563623" cy="1517904"/>
            <a:chOff x="7493508" y="3803903"/>
            <a:chExt cx="1563623" cy="1517904"/>
          </a:xfrm>
        </p:grpSpPr>
        <p:sp>
          <p:nvSpPr>
            <p:cNvPr id="56" name="TextBox 55"/>
            <p:cNvSpPr txBox="1"/>
            <p:nvPr/>
          </p:nvSpPr>
          <p:spPr>
            <a:xfrm>
              <a:off x="7822692" y="3803903"/>
              <a:ext cx="470915" cy="228600"/>
            </a:xfrm>
            <a:prstGeom prst="rect">
              <a:avLst/>
            </a:prstGeom>
            <a:noFill/>
          </p:spPr>
          <p:txBody>
            <a:bodyPr wrap="none" lIns="0" rIns="0" tIns="0" bIns="0" anchor="ctr">
              <a:spAutoFit/>
            </a:bodyPr>
            <a:lstStyle/>
            <a:p>
              <a:pPr algn="ctr">
                <a:defRPr sz="1800" b="1">
                  <a:solidFill>
                    <a:srgbClr val="3559A2"/>
                  </a:solidFill>
                  <a:latin typeface="Arial"/>
                </a:defRPr>
              </a:pPr>
              <a:r>
                <a:t>3</a:t>
              </a:r>
            </a:p>
          </p:txBody>
        </p:sp>
        <p:sp>
          <p:nvSpPr>
            <p:cNvPr id="57" name="TextBox 56"/>
            <p:cNvSpPr txBox="1"/>
            <p:nvPr/>
          </p:nvSpPr>
          <p:spPr>
            <a:xfrm>
              <a:off x="8293608" y="3803903"/>
              <a:ext cx="470915" cy="228600"/>
            </a:xfrm>
            <a:prstGeom prst="rect">
              <a:avLst/>
            </a:prstGeom>
            <a:noFill/>
          </p:spPr>
          <p:txBody>
            <a:bodyPr wrap="none" lIns="0" rIns="0" tIns="0" bIns="0" anchor="ctr">
              <a:spAutoFit/>
            </a:bodyPr>
            <a:lstStyle/>
            <a:p>
              <a:pPr algn="ctr">
                <a:defRPr sz="1800" b="1">
                  <a:solidFill>
                    <a:srgbClr val="3559A2"/>
                  </a:solidFill>
                  <a:latin typeface="Arial"/>
                </a:defRPr>
              </a:pPr>
              <a:r>
                <a:t>4</a:t>
              </a:r>
            </a:p>
          </p:txBody>
        </p:sp>
        <p:sp>
          <p:nvSpPr>
            <p:cNvPr id="58" name="TextBox 57"/>
            <p:cNvSpPr txBox="1"/>
            <p:nvPr/>
          </p:nvSpPr>
          <p:spPr>
            <a:xfrm>
              <a:off x="8791955" y="4059935"/>
              <a:ext cx="265176" cy="470915"/>
            </a:xfrm>
            <a:prstGeom prst="rect">
              <a:avLst/>
            </a:prstGeom>
            <a:noFill/>
          </p:spPr>
          <p:txBody>
            <a:bodyPr wrap="none" lIns="0" rIns="0" tIns="0" bIns="0" anchor="ctr">
              <a:spAutoFit/>
            </a:bodyPr>
            <a:lstStyle/>
            <a:p>
              <a:pPr algn="ctr">
                <a:defRPr sz="1800" b="1">
                  <a:solidFill>
                    <a:srgbClr val="3559A2"/>
                  </a:solidFill>
                  <a:latin typeface="Arial"/>
                </a:defRPr>
              </a:pPr>
              <a:r>
                <a:t>1</a:t>
              </a:r>
            </a:p>
          </p:txBody>
        </p:sp>
        <p:sp>
          <p:nvSpPr>
            <p:cNvPr id="59" name="TextBox 58"/>
            <p:cNvSpPr txBox="1"/>
            <p:nvPr/>
          </p:nvSpPr>
          <p:spPr>
            <a:xfrm>
              <a:off x="8791955" y="4530851"/>
              <a:ext cx="265176" cy="470915"/>
            </a:xfrm>
            <a:prstGeom prst="rect">
              <a:avLst/>
            </a:prstGeom>
            <a:noFill/>
          </p:spPr>
          <p:txBody>
            <a:bodyPr wrap="none" lIns="0" rIns="0" tIns="0" bIns="0" anchor="ctr">
              <a:spAutoFit/>
            </a:bodyPr>
            <a:lstStyle/>
            <a:p>
              <a:pPr algn="ctr">
                <a:defRPr sz="1800" b="1">
                  <a:solidFill>
                    <a:srgbClr val="3559A2"/>
                  </a:solidFill>
                  <a:latin typeface="Arial"/>
                </a:defRPr>
              </a:pPr>
              <a:r>
                <a:t>2</a:t>
              </a:r>
            </a:p>
          </p:txBody>
        </p:sp>
        <p:sp>
          <p:nvSpPr>
            <p:cNvPr id="60" name="Rectangle 59"/>
            <p:cNvSpPr/>
            <p:nvPr/>
          </p:nvSpPr>
          <p:spPr>
            <a:xfrm>
              <a:off x="7822692" y="4059935"/>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61" name="Connector 60"/>
            <p:cNvCxnSpPr/>
            <p:nvPr/>
          </p:nvCxnSpPr>
          <p:spPr>
            <a:xfrm flipV="1">
              <a:off x="7822692" y="4059935"/>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841528" y="4069354"/>
              <a:ext cx="226039" cy="221330"/>
            </a:xfrm>
            <a:prstGeom prst="rect">
              <a:avLst/>
            </a:prstGeom>
            <a:noFill/>
          </p:spPr>
          <p:txBody>
            <a:bodyPr wrap="none" lIns="0" rIns="0" tIns="0" bIns="0" anchor="ctr">
              <a:spAutoFit/>
            </a:bodyPr>
            <a:lstStyle/>
            <a:p>
              <a:pPr algn="ctr">
                <a:defRPr sz="1800" b="0">
                  <a:solidFill>
                    <a:srgbClr val="182B3A"/>
                  </a:solidFill>
                  <a:latin typeface="Arial"/>
                </a:defRPr>
              </a:pPr>
              <a:r>
                <a:t>0</a:t>
              </a:r>
            </a:p>
          </p:txBody>
        </p:sp>
        <p:sp>
          <p:nvSpPr>
            <p:cNvPr id="63" name="TextBox 62"/>
            <p:cNvSpPr txBox="1"/>
            <p:nvPr/>
          </p:nvSpPr>
          <p:spPr>
            <a:xfrm>
              <a:off x="8048731" y="4290684"/>
              <a:ext cx="226039" cy="221330"/>
            </a:xfrm>
            <a:prstGeom prst="rect">
              <a:avLst/>
            </a:prstGeom>
            <a:noFill/>
          </p:spPr>
          <p:txBody>
            <a:bodyPr wrap="none" lIns="0" rIns="0" tIns="0" bIns="0" anchor="ctr">
              <a:spAutoFit/>
            </a:bodyPr>
            <a:lstStyle/>
            <a:p>
              <a:pPr algn="ctr">
                <a:defRPr sz="1800" b="0">
                  <a:solidFill>
                    <a:srgbClr val="182B3A"/>
                  </a:solidFill>
                  <a:latin typeface="Arial"/>
                </a:defRPr>
              </a:pPr>
              <a:r>
                <a:t>3</a:t>
              </a:r>
            </a:p>
          </p:txBody>
        </p:sp>
        <p:sp>
          <p:nvSpPr>
            <p:cNvPr id="64" name="Rectangle 63"/>
            <p:cNvSpPr/>
            <p:nvPr/>
          </p:nvSpPr>
          <p:spPr>
            <a:xfrm>
              <a:off x="8293608" y="4059935"/>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65" name="Connector 64"/>
            <p:cNvCxnSpPr/>
            <p:nvPr/>
          </p:nvCxnSpPr>
          <p:spPr>
            <a:xfrm flipV="1">
              <a:off x="8293608" y="4059935"/>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8312444" y="4069354"/>
              <a:ext cx="226039" cy="221330"/>
            </a:xfrm>
            <a:prstGeom prst="rect">
              <a:avLst/>
            </a:prstGeom>
            <a:noFill/>
          </p:spPr>
          <p:txBody>
            <a:bodyPr wrap="none" lIns="0" rIns="0" tIns="0" bIns="0" anchor="ctr">
              <a:spAutoFit/>
            </a:bodyPr>
            <a:lstStyle/>
            <a:p>
              <a:pPr algn="ctr">
                <a:defRPr sz="1800" b="0">
                  <a:solidFill>
                    <a:srgbClr val="182B3A"/>
                  </a:solidFill>
                  <a:latin typeface="Arial"/>
                </a:defRPr>
              </a:pPr>
              <a:r>
                <a:t>0</a:t>
              </a:r>
            </a:p>
          </p:txBody>
        </p:sp>
        <p:sp>
          <p:nvSpPr>
            <p:cNvPr id="67" name="TextBox 66"/>
            <p:cNvSpPr txBox="1"/>
            <p:nvPr/>
          </p:nvSpPr>
          <p:spPr>
            <a:xfrm>
              <a:off x="8519647" y="4290684"/>
              <a:ext cx="226039" cy="221330"/>
            </a:xfrm>
            <a:prstGeom prst="rect">
              <a:avLst/>
            </a:prstGeom>
            <a:noFill/>
          </p:spPr>
          <p:txBody>
            <a:bodyPr wrap="none" lIns="0" rIns="0" tIns="0" bIns="0" anchor="ctr">
              <a:spAutoFit/>
            </a:bodyPr>
            <a:lstStyle/>
            <a:p>
              <a:pPr algn="ctr">
                <a:defRPr sz="1800" b="0">
                  <a:solidFill>
                    <a:srgbClr val="182B3A"/>
                  </a:solidFill>
                  <a:latin typeface="Arial"/>
                </a:defRPr>
              </a:pPr>
              <a:r>
                <a:t>4</a:t>
              </a:r>
            </a:p>
          </p:txBody>
        </p:sp>
        <p:sp>
          <p:nvSpPr>
            <p:cNvPr id="68" name="Rectangle 67"/>
            <p:cNvSpPr/>
            <p:nvPr/>
          </p:nvSpPr>
          <p:spPr>
            <a:xfrm>
              <a:off x="7822692" y="4530851"/>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69" name="Connector 68"/>
            <p:cNvCxnSpPr/>
            <p:nvPr/>
          </p:nvCxnSpPr>
          <p:spPr>
            <a:xfrm flipV="1">
              <a:off x="7822692" y="4530851"/>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7841528" y="4540270"/>
              <a:ext cx="226039" cy="221330"/>
            </a:xfrm>
            <a:prstGeom prst="rect">
              <a:avLst/>
            </a:prstGeom>
            <a:noFill/>
          </p:spPr>
          <p:txBody>
            <a:bodyPr wrap="none" lIns="0" rIns="0" tIns="0" bIns="0" anchor="ctr">
              <a:spAutoFit/>
            </a:bodyPr>
            <a:lstStyle/>
            <a:p>
              <a:pPr algn="ctr">
                <a:defRPr sz="1800" b="0">
                  <a:solidFill>
                    <a:srgbClr val="182B3A"/>
                  </a:solidFill>
                  <a:latin typeface="Arial"/>
                </a:defRPr>
              </a:pPr>
              <a:r>
                <a:t>0</a:t>
              </a:r>
            </a:p>
          </p:txBody>
        </p:sp>
        <p:sp>
          <p:nvSpPr>
            <p:cNvPr id="71" name="TextBox 70"/>
            <p:cNvSpPr txBox="1"/>
            <p:nvPr/>
          </p:nvSpPr>
          <p:spPr>
            <a:xfrm>
              <a:off x="8048731" y="4761600"/>
              <a:ext cx="226039" cy="221330"/>
            </a:xfrm>
            <a:prstGeom prst="rect">
              <a:avLst/>
            </a:prstGeom>
            <a:noFill/>
          </p:spPr>
          <p:txBody>
            <a:bodyPr wrap="none" lIns="0" rIns="0" tIns="0" bIns="0" anchor="ctr">
              <a:spAutoFit/>
            </a:bodyPr>
            <a:lstStyle/>
            <a:p>
              <a:pPr algn="ctr">
                <a:defRPr sz="1800" b="0">
                  <a:solidFill>
                    <a:srgbClr val="182B3A"/>
                  </a:solidFill>
                  <a:latin typeface="Arial"/>
                </a:defRPr>
              </a:pPr>
              <a:r>
                <a:t>6</a:t>
              </a:r>
            </a:p>
          </p:txBody>
        </p:sp>
        <p:sp>
          <p:nvSpPr>
            <p:cNvPr id="72" name="Rectangle 71"/>
            <p:cNvSpPr/>
            <p:nvPr/>
          </p:nvSpPr>
          <p:spPr>
            <a:xfrm>
              <a:off x="8293608" y="4530851"/>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73" name="Connector 72"/>
            <p:cNvCxnSpPr/>
            <p:nvPr/>
          </p:nvCxnSpPr>
          <p:spPr>
            <a:xfrm flipV="1">
              <a:off x="8293608" y="4530851"/>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8312444" y="4540270"/>
              <a:ext cx="226039" cy="221330"/>
            </a:xfrm>
            <a:prstGeom prst="rect">
              <a:avLst/>
            </a:prstGeom>
            <a:noFill/>
          </p:spPr>
          <p:txBody>
            <a:bodyPr wrap="none" lIns="0" rIns="0" tIns="0" bIns="0" anchor="ctr">
              <a:spAutoFit/>
            </a:bodyPr>
            <a:lstStyle/>
            <a:p>
              <a:pPr algn="ctr">
                <a:defRPr sz="1800" b="0">
                  <a:solidFill>
                    <a:srgbClr val="182B3A"/>
                  </a:solidFill>
                  <a:latin typeface="Arial"/>
                </a:defRPr>
              </a:pPr>
              <a:r>
                <a:t>0</a:t>
              </a:r>
            </a:p>
          </p:txBody>
        </p:sp>
        <p:sp>
          <p:nvSpPr>
            <p:cNvPr id="75" name="TextBox 74"/>
            <p:cNvSpPr txBox="1"/>
            <p:nvPr/>
          </p:nvSpPr>
          <p:spPr>
            <a:xfrm>
              <a:off x="8519647" y="4761600"/>
              <a:ext cx="226039" cy="221330"/>
            </a:xfrm>
            <a:prstGeom prst="rect">
              <a:avLst/>
            </a:prstGeom>
            <a:noFill/>
          </p:spPr>
          <p:txBody>
            <a:bodyPr wrap="none" lIns="0" rIns="0" tIns="0" bIns="0" anchor="ctr">
              <a:spAutoFit/>
            </a:bodyPr>
            <a:lstStyle/>
            <a:p>
              <a:pPr algn="ctr">
                <a:defRPr sz="1800" b="0">
                  <a:solidFill>
                    <a:srgbClr val="182B3A"/>
                  </a:solidFill>
                  <a:latin typeface="Arial"/>
                </a:defRPr>
              </a:pPr>
              <a:r>
                <a:t>8</a:t>
              </a:r>
            </a:p>
          </p:txBody>
        </p:sp>
        <p:cxnSp>
          <p:nvCxnSpPr>
            <p:cNvPr id="76" name="Connector 75"/>
            <p:cNvCxnSpPr/>
            <p:nvPr/>
          </p:nvCxnSpPr>
          <p:spPr>
            <a:xfrm>
              <a:off x="7822692"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8293608"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8764524"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7822692" y="4059935"/>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7822692" y="4530851"/>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7822692" y="5001767"/>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8293608" y="5084063"/>
              <a:ext cx="470915" cy="237744"/>
            </a:xfrm>
            <a:prstGeom prst="rect">
              <a:avLst/>
            </a:prstGeom>
            <a:noFill/>
          </p:spPr>
          <p:txBody>
            <a:bodyPr wrap="none" lIns="0" rIns="0" tIns="0" bIns="0" anchor="ctr">
              <a:spAutoFit/>
            </a:bodyPr>
            <a:lstStyle/>
            <a:p>
              <a:pPr algn="ctr">
                <a:defRPr sz="1900" b="1">
                  <a:solidFill>
                    <a:srgbClr val="3559A2"/>
                  </a:solidFill>
                  <a:latin typeface="Arial"/>
                </a:defRPr>
              </a:pPr>
              <a:r>
                <a:t>8</a:t>
              </a:r>
            </a:p>
          </p:txBody>
        </p:sp>
        <p:sp>
          <p:nvSpPr>
            <p:cNvPr id="83" name="TextBox 82"/>
            <p:cNvSpPr txBox="1"/>
            <p:nvPr/>
          </p:nvSpPr>
          <p:spPr>
            <a:xfrm>
              <a:off x="7822692" y="5084063"/>
              <a:ext cx="470915" cy="237744"/>
            </a:xfrm>
            <a:prstGeom prst="rect">
              <a:avLst/>
            </a:prstGeom>
            <a:noFill/>
          </p:spPr>
          <p:txBody>
            <a:bodyPr wrap="none" lIns="0" rIns="0" tIns="0" bIns="0" anchor="ctr">
              <a:spAutoFit/>
            </a:bodyPr>
            <a:lstStyle/>
            <a:p>
              <a:pPr algn="ctr">
                <a:defRPr sz="1900" b="1">
                  <a:solidFill>
                    <a:srgbClr val="3559A2"/>
                  </a:solidFill>
                  <a:latin typeface="Arial"/>
                </a:defRPr>
              </a:pPr>
              <a:r>
                <a:t>0</a:t>
              </a:r>
            </a:p>
          </p:txBody>
        </p:sp>
        <p:sp>
          <p:nvSpPr>
            <p:cNvPr id="84" name="TextBox 83"/>
            <p:cNvSpPr txBox="1"/>
            <p:nvPr/>
          </p:nvSpPr>
          <p:spPr>
            <a:xfrm>
              <a:off x="7511796" y="4530851"/>
              <a:ext cx="265176" cy="470915"/>
            </a:xfrm>
            <a:prstGeom prst="rect">
              <a:avLst/>
            </a:prstGeom>
            <a:noFill/>
          </p:spPr>
          <p:txBody>
            <a:bodyPr wrap="none" lIns="0" rIns="0" tIns="0" bIns="0" anchor="ctr">
              <a:spAutoFit/>
            </a:bodyPr>
            <a:lstStyle/>
            <a:p>
              <a:pPr algn="ctr">
                <a:defRPr sz="1900" b="1">
                  <a:solidFill>
                    <a:srgbClr val="3559A2"/>
                  </a:solidFill>
                  <a:latin typeface="Arial"/>
                </a:defRPr>
              </a:pPr>
              <a:r>
                <a:t>4</a:t>
              </a:r>
            </a:p>
          </p:txBody>
        </p:sp>
        <p:sp>
          <p:nvSpPr>
            <p:cNvPr id="85" name="TextBox 84"/>
            <p:cNvSpPr txBox="1"/>
            <p:nvPr/>
          </p:nvSpPr>
          <p:spPr>
            <a:xfrm>
              <a:off x="7493508" y="4539995"/>
              <a:ext cx="320040" cy="155448"/>
            </a:xfrm>
            <a:prstGeom prst="rect">
              <a:avLst/>
            </a:prstGeom>
            <a:noFill/>
          </p:spPr>
          <p:txBody>
            <a:bodyPr wrap="none" lIns="0" rIns="0" tIns="0" bIns="0" anchor="ctr">
              <a:spAutoFit/>
            </a:bodyPr>
            <a:lstStyle/>
            <a:p>
              <a:pPr algn="ctr">
                <a:defRPr sz="1000" b="1">
                  <a:solidFill>
                    <a:srgbClr val="B14F00"/>
                  </a:solidFill>
                  <a:latin typeface="Arial"/>
                </a:defRPr>
              </a:pPr>
              <a:r>
                <a:t>+1</a:t>
              </a:r>
            </a:p>
          </p:txBody>
        </p:sp>
        <p:sp>
          <p:nvSpPr>
            <p:cNvPr id="86" name="TextBox 85"/>
            <p:cNvSpPr txBox="1"/>
            <p:nvPr/>
          </p:nvSpPr>
          <p:spPr>
            <a:xfrm>
              <a:off x="7511796" y="4059935"/>
              <a:ext cx="265176" cy="470915"/>
            </a:xfrm>
            <a:prstGeom prst="rect">
              <a:avLst/>
            </a:prstGeom>
            <a:noFill/>
          </p:spPr>
          <p:txBody>
            <a:bodyPr wrap="none" lIns="0" rIns="0" tIns="0" bIns="0" anchor="ctr">
              <a:spAutoFit/>
            </a:bodyPr>
            <a:lstStyle/>
            <a:p>
              <a:pPr algn="ctr">
                <a:defRPr sz="1900" b="1">
                  <a:solidFill>
                    <a:srgbClr val="8193A0"/>
                  </a:solidFill>
                  <a:latin typeface="Arial"/>
                </a:defRPr>
              </a:pPr>
              <a:r>
                <a:t>0</a:t>
              </a:r>
            </a:p>
          </p:txBody>
        </p:sp>
      </p:grpSp>
      <p:sp>
        <p:nvSpPr>
          <p:cNvPr id="87" name="Rectangle 86"/>
          <p:cNvSpPr/>
          <p:nvPr/>
        </p:nvSpPr>
        <p:spPr>
          <a:xfrm>
            <a:off x="10326624"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TextBox 87"/>
          <p:cNvSpPr txBox="1"/>
          <p:nvPr/>
        </p:nvSpPr>
        <p:spPr>
          <a:xfrm>
            <a:off x="10390632" y="2971799"/>
            <a:ext cx="3791712" cy="2926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Tens above; units below.</a:t>
            </a:r>
          </a:p>
        </p:txBody>
      </p:sp>
      <p:grpSp>
        <p:nvGrpSpPr>
          <p:cNvPr id="89" name="Editable lattice 4312 × 156"/>
          <p:cNvGrpSpPr/>
          <p:nvPr/>
        </p:nvGrpSpPr>
        <p:grpSpPr>
          <a:xfrm>
            <a:off x="10951464" y="3346704"/>
            <a:ext cx="2487167" cy="1975104"/>
            <a:chOff x="10951464" y="3346704"/>
            <a:chExt cx="2487167" cy="1975104"/>
          </a:xfrm>
        </p:grpSpPr>
        <p:sp>
          <p:nvSpPr>
            <p:cNvPr id="90" name="TextBox 89"/>
            <p:cNvSpPr txBox="1"/>
            <p:nvPr/>
          </p:nvSpPr>
          <p:spPr>
            <a:xfrm>
              <a:off x="11280648" y="3346704"/>
              <a:ext cx="466343" cy="228600"/>
            </a:xfrm>
            <a:prstGeom prst="rect">
              <a:avLst/>
            </a:prstGeom>
            <a:noFill/>
          </p:spPr>
          <p:txBody>
            <a:bodyPr wrap="none" lIns="0" rIns="0" tIns="0" bIns="0" anchor="ctr">
              <a:spAutoFit/>
            </a:bodyPr>
            <a:lstStyle/>
            <a:p>
              <a:pPr algn="ctr">
                <a:defRPr sz="1800" b="1">
                  <a:solidFill>
                    <a:srgbClr val="754B87"/>
                  </a:solidFill>
                  <a:latin typeface="Arial"/>
                </a:defRPr>
              </a:pPr>
              <a:r>
                <a:t>4</a:t>
              </a:r>
            </a:p>
          </p:txBody>
        </p:sp>
        <p:sp>
          <p:nvSpPr>
            <p:cNvPr id="91" name="TextBox 90"/>
            <p:cNvSpPr txBox="1"/>
            <p:nvPr/>
          </p:nvSpPr>
          <p:spPr>
            <a:xfrm>
              <a:off x="11746992" y="3346704"/>
              <a:ext cx="466343" cy="228600"/>
            </a:xfrm>
            <a:prstGeom prst="rect">
              <a:avLst/>
            </a:prstGeom>
            <a:noFill/>
          </p:spPr>
          <p:txBody>
            <a:bodyPr wrap="none" lIns="0" rIns="0" tIns="0" bIns="0" anchor="ctr">
              <a:spAutoFit/>
            </a:bodyPr>
            <a:lstStyle/>
            <a:p>
              <a:pPr algn="ctr">
                <a:defRPr sz="1800" b="1">
                  <a:solidFill>
                    <a:srgbClr val="754B87"/>
                  </a:solidFill>
                  <a:latin typeface="Arial"/>
                </a:defRPr>
              </a:pPr>
              <a:r>
                <a:t>3</a:t>
              </a:r>
            </a:p>
          </p:txBody>
        </p:sp>
        <p:sp>
          <p:nvSpPr>
            <p:cNvPr id="92" name="TextBox 91"/>
            <p:cNvSpPr txBox="1"/>
            <p:nvPr/>
          </p:nvSpPr>
          <p:spPr>
            <a:xfrm>
              <a:off x="12213335" y="3346704"/>
              <a:ext cx="466343" cy="228600"/>
            </a:xfrm>
            <a:prstGeom prst="rect">
              <a:avLst/>
            </a:prstGeom>
            <a:noFill/>
          </p:spPr>
          <p:txBody>
            <a:bodyPr wrap="none" lIns="0" rIns="0" tIns="0" bIns="0" anchor="ctr">
              <a:spAutoFit/>
            </a:bodyPr>
            <a:lstStyle/>
            <a:p>
              <a:pPr algn="ctr">
                <a:defRPr sz="1800" b="1">
                  <a:solidFill>
                    <a:srgbClr val="754B87"/>
                  </a:solidFill>
                  <a:latin typeface="Arial"/>
                </a:defRPr>
              </a:pPr>
              <a:r>
                <a:t>1</a:t>
              </a:r>
            </a:p>
          </p:txBody>
        </p:sp>
        <p:sp>
          <p:nvSpPr>
            <p:cNvPr id="93" name="TextBox 92"/>
            <p:cNvSpPr txBox="1"/>
            <p:nvPr/>
          </p:nvSpPr>
          <p:spPr>
            <a:xfrm>
              <a:off x="12679679" y="3346704"/>
              <a:ext cx="466343" cy="228600"/>
            </a:xfrm>
            <a:prstGeom prst="rect">
              <a:avLst/>
            </a:prstGeom>
            <a:noFill/>
          </p:spPr>
          <p:txBody>
            <a:bodyPr wrap="none" lIns="0" rIns="0" tIns="0" bIns="0" anchor="ctr">
              <a:spAutoFit/>
            </a:bodyPr>
            <a:lstStyle/>
            <a:p>
              <a:pPr algn="ctr">
                <a:defRPr sz="1800" b="1">
                  <a:solidFill>
                    <a:srgbClr val="754B87"/>
                  </a:solidFill>
                  <a:latin typeface="Arial"/>
                </a:defRPr>
              </a:pPr>
              <a:r>
                <a:t>2</a:t>
              </a:r>
            </a:p>
          </p:txBody>
        </p:sp>
        <p:sp>
          <p:nvSpPr>
            <p:cNvPr id="94" name="TextBox 93"/>
            <p:cNvSpPr txBox="1"/>
            <p:nvPr/>
          </p:nvSpPr>
          <p:spPr>
            <a:xfrm>
              <a:off x="13173455" y="3602736"/>
              <a:ext cx="265176" cy="466343"/>
            </a:xfrm>
            <a:prstGeom prst="rect">
              <a:avLst/>
            </a:prstGeom>
            <a:noFill/>
          </p:spPr>
          <p:txBody>
            <a:bodyPr wrap="none" lIns="0" rIns="0" tIns="0" bIns="0" anchor="ctr">
              <a:spAutoFit/>
            </a:bodyPr>
            <a:lstStyle/>
            <a:p>
              <a:pPr algn="ctr">
                <a:defRPr sz="1800" b="1">
                  <a:solidFill>
                    <a:srgbClr val="754B87"/>
                  </a:solidFill>
                  <a:latin typeface="Arial"/>
                </a:defRPr>
              </a:pPr>
              <a:r>
                <a:t>1</a:t>
              </a:r>
            </a:p>
          </p:txBody>
        </p:sp>
        <p:sp>
          <p:nvSpPr>
            <p:cNvPr id="95" name="TextBox 94"/>
            <p:cNvSpPr txBox="1"/>
            <p:nvPr/>
          </p:nvSpPr>
          <p:spPr>
            <a:xfrm>
              <a:off x="13173455" y="4069080"/>
              <a:ext cx="265176" cy="466343"/>
            </a:xfrm>
            <a:prstGeom prst="rect">
              <a:avLst/>
            </a:prstGeom>
            <a:noFill/>
          </p:spPr>
          <p:txBody>
            <a:bodyPr wrap="none" lIns="0" rIns="0" tIns="0" bIns="0" anchor="ctr">
              <a:spAutoFit/>
            </a:bodyPr>
            <a:lstStyle/>
            <a:p>
              <a:pPr algn="ctr">
                <a:defRPr sz="1800" b="1">
                  <a:solidFill>
                    <a:srgbClr val="754B87"/>
                  </a:solidFill>
                  <a:latin typeface="Arial"/>
                </a:defRPr>
              </a:pPr>
              <a:r>
                <a:t>5</a:t>
              </a:r>
            </a:p>
          </p:txBody>
        </p:sp>
        <p:sp>
          <p:nvSpPr>
            <p:cNvPr id="96" name="TextBox 95"/>
            <p:cNvSpPr txBox="1"/>
            <p:nvPr/>
          </p:nvSpPr>
          <p:spPr>
            <a:xfrm>
              <a:off x="13173455" y="4535424"/>
              <a:ext cx="265176" cy="466343"/>
            </a:xfrm>
            <a:prstGeom prst="rect">
              <a:avLst/>
            </a:prstGeom>
            <a:noFill/>
          </p:spPr>
          <p:txBody>
            <a:bodyPr wrap="none" lIns="0" rIns="0" tIns="0" bIns="0" anchor="ctr">
              <a:spAutoFit/>
            </a:bodyPr>
            <a:lstStyle/>
            <a:p>
              <a:pPr algn="ctr">
                <a:defRPr sz="1800" b="1">
                  <a:solidFill>
                    <a:srgbClr val="754B87"/>
                  </a:solidFill>
                  <a:latin typeface="Arial"/>
                </a:defRPr>
              </a:pPr>
              <a:r>
                <a:t>6</a:t>
              </a:r>
            </a:p>
          </p:txBody>
        </p:sp>
        <p:sp>
          <p:nvSpPr>
            <p:cNvPr id="97" name="Rectangle 96"/>
            <p:cNvSpPr/>
            <p:nvPr/>
          </p:nvSpPr>
          <p:spPr>
            <a:xfrm>
              <a:off x="11280648"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8" name="Connector 97"/>
            <p:cNvCxnSpPr/>
            <p:nvPr/>
          </p:nvCxnSpPr>
          <p:spPr>
            <a:xfrm flipV="1">
              <a:off x="11280648"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11299301" y="3612062"/>
              <a:ext cx="223845" cy="219181"/>
            </a:xfrm>
            <a:prstGeom prst="rect">
              <a:avLst/>
            </a:prstGeom>
            <a:noFill/>
          </p:spPr>
          <p:txBody>
            <a:bodyPr wrap="none" lIns="0" rIns="0" tIns="0" bIns="0" anchor="ctr">
              <a:spAutoFit/>
            </a:bodyPr>
            <a:lstStyle/>
            <a:p>
              <a:pPr algn="ctr">
                <a:defRPr sz="1800" b="0">
                  <a:solidFill>
                    <a:srgbClr val="182B3A"/>
                  </a:solidFill>
                  <a:latin typeface="Arial"/>
                </a:defRPr>
              </a:pPr>
              <a:r>
                <a:t>0</a:t>
              </a:r>
            </a:p>
          </p:txBody>
        </p:sp>
        <p:sp>
          <p:nvSpPr>
            <p:cNvPr id="100" name="TextBox 99"/>
            <p:cNvSpPr txBox="1"/>
            <p:nvPr/>
          </p:nvSpPr>
          <p:spPr>
            <a:xfrm>
              <a:off x="11504493" y="3831244"/>
              <a:ext cx="223845" cy="219181"/>
            </a:xfrm>
            <a:prstGeom prst="rect">
              <a:avLst/>
            </a:prstGeom>
            <a:noFill/>
          </p:spPr>
          <p:txBody>
            <a:bodyPr wrap="none" lIns="0" rIns="0" tIns="0" bIns="0" anchor="ctr">
              <a:spAutoFit/>
            </a:bodyPr>
            <a:lstStyle/>
            <a:p>
              <a:pPr algn="ctr">
                <a:defRPr sz="1800" b="0">
                  <a:solidFill>
                    <a:srgbClr val="182B3A"/>
                  </a:solidFill>
                  <a:latin typeface="Arial"/>
                </a:defRPr>
              </a:pPr>
              <a:r>
                <a:t>4</a:t>
              </a:r>
            </a:p>
          </p:txBody>
        </p:sp>
        <p:sp>
          <p:nvSpPr>
            <p:cNvPr id="101" name="Rectangle 100"/>
            <p:cNvSpPr/>
            <p:nvPr/>
          </p:nvSpPr>
          <p:spPr>
            <a:xfrm>
              <a:off x="11746992"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02" name="Connector 101"/>
            <p:cNvCxnSpPr/>
            <p:nvPr/>
          </p:nvCxnSpPr>
          <p:spPr>
            <a:xfrm flipV="1">
              <a:off x="11746992" y="3602736"/>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11765645" y="3612062"/>
              <a:ext cx="223845" cy="219181"/>
            </a:xfrm>
            <a:prstGeom prst="rect">
              <a:avLst/>
            </a:prstGeom>
            <a:noFill/>
          </p:spPr>
          <p:txBody>
            <a:bodyPr wrap="none" lIns="0" rIns="0" tIns="0" bIns="0" anchor="ctr">
              <a:spAutoFit/>
            </a:bodyPr>
            <a:lstStyle/>
            <a:p>
              <a:pPr algn="ctr">
                <a:defRPr sz="1800" b="0">
                  <a:solidFill>
                    <a:srgbClr val="182B3A"/>
                  </a:solidFill>
                  <a:latin typeface="Arial"/>
                </a:defRPr>
              </a:pPr>
              <a:r>
                <a:t>0</a:t>
              </a:r>
            </a:p>
          </p:txBody>
        </p:sp>
        <p:sp>
          <p:nvSpPr>
            <p:cNvPr id="104" name="TextBox 103"/>
            <p:cNvSpPr txBox="1"/>
            <p:nvPr/>
          </p:nvSpPr>
          <p:spPr>
            <a:xfrm>
              <a:off x="11970837" y="3831244"/>
              <a:ext cx="223845" cy="219181"/>
            </a:xfrm>
            <a:prstGeom prst="rect">
              <a:avLst/>
            </a:prstGeom>
            <a:noFill/>
          </p:spPr>
          <p:txBody>
            <a:bodyPr wrap="none" lIns="0" rIns="0" tIns="0" bIns="0" anchor="ctr">
              <a:spAutoFit/>
            </a:bodyPr>
            <a:lstStyle/>
            <a:p>
              <a:pPr algn="ctr">
                <a:defRPr sz="1800" b="0">
                  <a:solidFill>
                    <a:srgbClr val="182B3A"/>
                  </a:solidFill>
                  <a:latin typeface="Arial"/>
                </a:defRPr>
              </a:pPr>
              <a:r>
                <a:t>3</a:t>
              </a:r>
            </a:p>
          </p:txBody>
        </p:sp>
        <p:sp>
          <p:nvSpPr>
            <p:cNvPr id="105" name="Rectangle 104"/>
            <p:cNvSpPr/>
            <p:nvPr/>
          </p:nvSpPr>
          <p:spPr>
            <a:xfrm>
              <a:off x="12213335"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06" name="Connector 105"/>
            <p:cNvCxnSpPr/>
            <p:nvPr/>
          </p:nvCxnSpPr>
          <p:spPr>
            <a:xfrm flipV="1">
              <a:off x="12213335"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12231989" y="3612062"/>
              <a:ext cx="223845" cy="219181"/>
            </a:xfrm>
            <a:prstGeom prst="rect">
              <a:avLst/>
            </a:prstGeom>
            <a:noFill/>
          </p:spPr>
          <p:txBody>
            <a:bodyPr wrap="none" lIns="0" rIns="0" tIns="0" bIns="0" anchor="ctr">
              <a:spAutoFit/>
            </a:bodyPr>
            <a:lstStyle/>
            <a:p>
              <a:pPr algn="ctr">
                <a:defRPr sz="1800" b="0">
                  <a:solidFill>
                    <a:srgbClr val="182B3A"/>
                  </a:solidFill>
                  <a:latin typeface="Arial"/>
                </a:defRPr>
              </a:pPr>
              <a:r>
                <a:t>0</a:t>
              </a:r>
            </a:p>
          </p:txBody>
        </p:sp>
        <p:sp>
          <p:nvSpPr>
            <p:cNvPr id="108" name="TextBox 107"/>
            <p:cNvSpPr txBox="1"/>
            <p:nvPr/>
          </p:nvSpPr>
          <p:spPr>
            <a:xfrm>
              <a:off x="12437181" y="3831244"/>
              <a:ext cx="223845" cy="219181"/>
            </a:xfrm>
            <a:prstGeom prst="rect">
              <a:avLst/>
            </a:prstGeom>
            <a:noFill/>
          </p:spPr>
          <p:txBody>
            <a:bodyPr wrap="none" lIns="0" rIns="0" tIns="0" bIns="0" anchor="ctr">
              <a:spAutoFit/>
            </a:bodyPr>
            <a:lstStyle/>
            <a:p>
              <a:pPr algn="ctr">
                <a:defRPr sz="1800" b="0">
                  <a:solidFill>
                    <a:srgbClr val="182B3A"/>
                  </a:solidFill>
                  <a:latin typeface="Arial"/>
                </a:defRPr>
              </a:pPr>
              <a:r>
                <a:t>1</a:t>
              </a:r>
            </a:p>
          </p:txBody>
        </p:sp>
        <p:sp>
          <p:nvSpPr>
            <p:cNvPr id="109" name="Rectangle 108"/>
            <p:cNvSpPr/>
            <p:nvPr/>
          </p:nvSpPr>
          <p:spPr>
            <a:xfrm>
              <a:off x="12679679"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0" name="Connector 109"/>
            <p:cNvCxnSpPr/>
            <p:nvPr/>
          </p:nvCxnSpPr>
          <p:spPr>
            <a:xfrm flipV="1">
              <a:off x="12679679"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12698333" y="3612062"/>
              <a:ext cx="223845" cy="219181"/>
            </a:xfrm>
            <a:prstGeom prst="rect">
              <a:avLst/>
            </a:prstGeom>
            <a:noFill/>
          </p:spPr>
          <p:txBody>
            <a:bodyPr wrap="none" lIns="0" rIns="0" tIns="0" bIns="0" anchor="ctr">
              <a:spAutoFit/>
            </a:bodyPr>
            <a:lstStyle/>
            <a:p>
              <a:pPr algn="ctr">
                <a:defRPr sz="1800" b="0">
                  <a:solidFill>
                    <a:srgbClr val="182B3A"/>
                  </a:solidFill>
                  <a:latin typeface="Arial"/>
                </a:defRPr>
              </a:pPr>
              <a:r>
                <a:t>0</a:t>
              </a:r>
            </a:p>
          </p:txBody>
        </p:sp>
        <p:sp>
          <p:nvSpPr>
            <p:cNvPr id="112" name="TextBox 111"/>
            <p:cNvSpPr txBox="1"/>
            <p:nvPr/>
          </p:nvSpPr>
          <p:spPr>
            <a:xfrm>
              <a:off x="12903525" y="3831244"/>
              <a:ext cx="223845" cy="219181"/>
            </a:xfrm>
            <a:prstGeom prst="rect">
              <a:avLst/>
            </a:prstGeom>
            <a:noFill/>
          </p:spPr>
          <p:txBody>
            <a:bodyPr wrap="none" lIns="0" rIns="0" tIns="0" bIns="0" anchor="ctr">
              <a:spAutoFit/>
            </a:bodyPr>
            <a:lstStyle/>
            <a:p>
              <a:pPr algn="ctr">
                <a:defRPr sz="1800" b="0">
                  <a:solidFill>
                    <a:srgbClr val="182B3A"/>
                  </a:solidFill>
                  <a:latin typeface="Arial"/>
                </a:defRPr>
              </a:pPr>
              <a:r>
                <a:t>2</a:t>
              </a:r>
            </a:p>
          </p:txBody>
        </p:sp>
        <p:sp>
          <p:nvSpPr>
            <p:cNvPr id="113" name="Rectangle 112"/>
            <p:cNvSpPr/>
            <p:nvPr/>
          </p:nvSpPr>
          <p:spPr>
            <a:xfrm>
              <a:off x="11280648"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4" name="Connector 113"/>
            <p:cNvCxnSpPr/>
            <p:nvPr/>
          </p:nvCxnSpPr>
          <p:spPr>
            <a:xfrm flipV="1">
              <a:off x="11280648"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11299301" y="4078406"/>
              <a:ext cx="223845" cy="219181"/>
            </a:xfrm>
            <a:prstGeom prst="rect">
              <a:avLst/>
            </a:prstGeom>
            <a:noFill/>
          </p:spPr>
          <p:txBody>
            <a:bodyPr wrap="none" lIns="0" rIns="0" tIns="0" bIns="0" anchor="ctr">
              <a:spAutoFit/>
            </a:bodyPr>
            <a:lstStyle/>
            <a:p>
              <a:pPr algn="ctr">
                <a:defRPr sz="1800" b="0">
                  <a:solidFill>
                    <a:srgbClr val="182B3A"/>
                  </a:solidFill>
                  <a:latin typeface="Arial"/>
                </a:defRPr>
              </a:pPr>
              <a:r>
                <a:t>2</a:t>
              </a:r>
            </a:p>
          </p:txBody>
        </p:sp>
        <p:sp>
          <p:nvSpPr>
            <p:cNvPr id="116" name="TextBox 115"/>
            <p:cNvSpPr txBox="1"/>
            <p:nvPr/>
          </p:nvSpPr>
          <p:spPr>
            <a:xfrm>
              <a:off x="11504493" y="4297588"/>
              <a:ext cx="223845" cy="219181"/>
            </a:xfrm>
            <a:prstGeom prst="rect">
              <a:avLst/>
            </a:prstGeom>
            <a:noFill/>
          </p:spPr>
          <p:txBody>
            <a:bodyPr wrap="none" lIns="0" rIns="0" tIns="0" bIns="0" anchor="ctr">
              <a:spAutoFit/>
            </a:bodyPr>
            <a:lstStyle/>
            <a:p>
              <a:pPr algn="ctr">
                <a:defRPr sz="1800" b="0">
                  <a:solidFill>
                    <a:srgbClr val="182B3A"/>
                  </a:solidFill>
                  <a:latin typeface="Arial"/>
                </a:defRPr>
              </a:pPr>
              <a:r>
                <a:t>0</a:t>
              </a:r>
            </a:p>
          </p:txBody>
        </p:sp>
        <p:sp>
          <p:nvSpPr>
            <p:cNvPr id="117" name="Rectangle 116"/>
            <p:cNvSpPr/>
            <p:nvPr/>
          </p:nvSpPr>
          <p:spPr>
            <a:xfrm>
              <a:off x="11746992"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8" name="Connector 117"/>
            <p:cNvCxnSpPr/>
            <p:nvPr/>
          </p:nvCxnSpPr>
          <p:spPr>
            <a:xfrm flipV="1">
              <a:off x="11746992" y="4069080"/>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9" name="TextBox 118"/>
            <p:cNvSpPr txBox="1"/>
            <p:nvPr/>
          </p:nvSpPr>
          <p:spPr>
            <a:xfrm>
              <a:off x="11765645" y="4078406"/>
              <a:ext cx="223845" cy="219181"/>
            </a:xfrm>
            <a:prstGeom prst="rect">
              <a:avLst/>
            </a:prstGeom>
            <a:noFill/>
          </p:spPr>
          <p:txBody>
            <a:bodyPr wrap="none" lIns="0" rIns="0" tIns="0" bIns="0" anchor="ctr">
              <a:spAutoFit/>
            </a:bodyPr>
            <a:lstStyle/>
            <a:p>
              <a:pPr algn="ctr">
                <a:defRPr sz="1800" b="0">
                  <a:solidFill>
                    <a:srgbClr val="182B3A"/>
                  </a:solidFill>
                  <a:latin typeface="Arial"/>
                </a:defRPr>
              </a:pPr>
              <a:r>
                <a:t>1</a:t>
              </a:r>
            </a:p>
          </p:txBody>
        </p:sp>
        <p:sp>
          <p:nvSpPr>
            <p:cNvPr id="120" name="TextBox 119"/>
            <p:cNvSpPr txBox="1"/>
            <p:nvPr/>
          </p:nvSpPr>
          <p:spPr>
            <a:xfrm>
              <a:off x="11970837" y="4297588"/>
              <a:ext cx="223845" cy="219181"/>
            </a:xfrm>
            <a:prstGeom prst="rect">
              <a:avLst/>
            </a:prstGeom>
            <a:noFill/>
          </p:spPr>
          <p:txBody>
            <a:bodyPr wrap="none" lIns="0" rIns="0" tIns="0" bIns="0" anchor="ctr">
              <a:spAutoFit/>
            </a:bodyPr>
            <a:lstStyle/>
            <a:p>
              <a:pPr algn="ctr">
                <a:defRPr sz="1800" b="0">
                  <a:solidFill>
                    <a:srgbClr val="182B3A"/>
                  </a:solidFill>
                  <a:latin typeface="Arial"/>
                </a:defRPr>
              </a:pPr>
              <a:r>
                <a:t>5</a:t>
              </a:r>
            </a:p>
          </p:txBody>
        </p:sp>
        <p:sp>
          <p:nvSpPr>
            <p:cNvPr id="121" name="Rectangle 120"/>
            <p:cNvSpPr/>
            <p:nvPr/>
          </p:nvSpPr>
          <p:spPr>
            <a:xfrm>
              <a:off x="12213335"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2" name="Connector 121"/>
            <p:cNvCxnSpPr/>
            <p:nvPr/>
          </p:nvCxnSpPr>
          <p:spPr>
            <a:xfrm flipV="1">
              <a:off x="12213335"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12231989" y="4078406"/>
              <a:ext cx="223845" cy="219181"/>
            </a:xfrm>
            <a:prstGeom prst="rect">
              <a:avLst/>
            </a:prstGeom>
            <a:noFill/>
          </p:spPr>
          <p:txBody>
            <a:bodyPr wrap="none" lIns="0" rIns="0" tIns="0" bIns="0" anchor="ctr">
              <a:spAutoFit/>
            </a:bodyPr>
            <a:lstStyle/>
            <a:p>
              <a:pPr algn="ctr">
                <a:defRPr sz="1800" b="0">
                  <a:solidFill>
                    <a:srgbClr val="182B3A"/>
                  </a:solidFill>
                  <a:latin typeface="Arial"/>
                </a:defRPr>
              </a:pPr>
              <a:r>
                <a:t>0</a:t>
              </a:r>
            </a:p>
          </p:txBody>
        </p:sp>
        <p:sp>
          <p:nvSpPr>
            <p:cNvPr id="124" name="TextBox 123"/>
            <p:cNvSpPr txBox="1"/>
            <p:nvPr/>
          </p:nvSpPr>
          <p:spPr>
            <a:xfrm>
              <a:off x="12437181" y="4297588"/>
              <a:ext cx="223845" cy="219181"/>
            </a:xfrm>
            <a:prstGeom prst="rect">
              <a:avLst/>
            </a:prstGeom>
            <a:noFill/>
          </p:spPr>
          <p:txBody>
            <a:bodyPr wrap="none" lIns="0" rIns="0" tIns="0" bIns="0" anchor="ctr">
              <a:spAutoFit/>
            </a:bodyPr>
            <a:lstStyle/>
            <a:p>
              <a:pPr algn="ctr">
                <a:defRPr sz="1800" b="0">
                  <a:solidFill>
                    <a:srgbClr val="182B3A"/>
                  </a:solidFill>
                  <a:latin typeface="Arial"/>
                </a:defRPr>
              </a:pPr>
              <a:r>
                <a:t>5</a:t>
              </a:r>
            </a:p>
          </p:txBody>
        </p:sp>
        <p:sp>
          <p:nvSpPr>
            <p:cNvPr id="125" name="Rectangle 124"/>
            <p:cNvSpPr/>
            <p:nvPr/>
          </p:nvSpPr>
          <p:spPr>
            <a:xfrm>
              <a:off x="12679679"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6" name="Connector 125"/>
            <p:cNvCxnSpPr/>
            <p:nvPr/>
          </p:nvCxnSpPr>
          <p:spPr>
            <a:xfrm flipV="1">
              <a:off x="12679679"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12698333" y="4078406"/>
              <a:ext cx="223845" cy="219181"/>
            </a:xfrm>
            <a:prstGeom prst="rect">
              <a:avLst/>
            </a:prstGeom>
            <a:noFill/>
          </p:spPr>
          <p:txBody>
            <a:bodyPr wrap="none" lIns="0" rIns="0" tIns="0" bIns="0" anchor="ctr">
              <a:spAutoFit/>
            </a:bodyPr>
            <a:lstStyle/>
            <a:p>
              <a:pPr algn="ctr">
                <a:defRPr sz="1800" b="0">
                  <a:solidFill>
                    <a:srgbClr val="182B3A"/>
                  </a:solidFill>
                  <a:latin typeface="Arial"/>
                </a:defRPr>
              </a:pPr>
              <a:r>
                <a:t>1</a:t>
              </a:r>
            </a:p>
          </p:txBody>
        </p:sp>
        <p:sp>
          <p:nvSpPr>
            <p:cNvPr id="128" name="TextBox 127"/>
            <p:cNvSpPr txBox="1"/>
            <p:nvPr/>
          </p:nvSpPr>
          <p:spPr>
            <a:xfrm>
              <a:off x="12903525" y="4297588"/>
              <a:ext cx="223845" cy="219181"/>
            </a:xfrm>
            <a:prstGeom prst="rect">
              <a:avLst/>
            </a:prstGeom>
            <a:noFill/>
          </p:spPr>
          <p:txBody>
            <a:bodyPr wrap="none" lIns="0" rIns="0" tIns="0" bIns="0" anchor="ctr">
              <a:spAutoFit/>
            </a:bodyPr>
            <a:lstStyle/>
            <a:p>
              <a:pPr algn="ctr">
                <a:defRPr sz="1800" b="0">
                  <a:solidFill>
                    <a:srgbClr val="182B3A"/>
                  </a:solidFill>
                  <a:latin typeface="Arial"/>
                </a:defRPr>
              </a:pPr>
              <a:r>
                <a:t>0</a:t>
              </a:r>
            </a:p>
          </p:txBody>
        </p:sp>
        <p:sp>
          <p:nvSpPr>
            <p:cNvPr id="129" name="Rectangle 128"/>
            <p:cNvSpPr/>
            <p:nvPr/>
          </p:nvSpPr>
          <p:spPr>
            <a:xfrm>
              <a:off x="11280648"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30" name="Connector 129"/>
            <p:cNvCxnSpPr/>
            <p:nvPr/>
          </p:nvCxnSpPr>
          <p:spPr>
            <a:xfrm flipV="1">
              <a:off x="11280648"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1" name="TextBox 130"/>
            <p:cNvSpPr txBox="1"/>
            <p:nvPr/>
          </p:nvSpPr>
          <p:spPr>
            <a:xfrm>
              <a:off x="11299301" y="4544750"/>
              <a:ext cx="223845" cy="219181"/>
            </a:xfrm>
            <a:prstGeom prst="rect">
              <a:avLst/>
            </a:prstGeom>
            <a:noFill/>
          </p:spPr>
          <p:txBody>
            <a:bodyPr wrap="none" lIns="0" rIns="0" tIns="0" bIns="0" anchor="ctr">
              <a:spAutoFit/>
            </a:bodyPr>
            <a:lstStyle/>
            <a:p>
              <a:pPr algn="ctr">
                <a:defRPr sz="1800" b="0">
                  <a:solidFill>
                    <a:srgbClr val="182B3A"/>
                  </a:solidFill>
                  <a:latin typeface="Arial"/>
                </a:defRPr>
              </a:pPr>
              <a:r>
                <a:t>2</a:t>
              </a:r>
            </a:p>
          </p:txBody>
        </p:sp>
        <p:sp>
          <p:nvSpPr>
            <p:cNvPr id="132" name="TextBox 131"/>
            <p:cNvSpPr txBox="1"/>
            <p:nvPr/>
          </p:nvSpPr>
          <p:spPr>
            <a:xfrm>
              <a:off x="11504493" y="4763932"/>
              <a:ext cx="223845" cy="219181"/>
            </a:xfrm>
            <a:prstGeom prst="rect">
              <a:avLst/>
            </a:prstGeom>
            <a:noFill/>
          </p:spPr>
          <p:txBody>
            <a:bodyPr wrap="none" lIns="0" rIns="0" tIns="0" bIns="0" anchor="ctr">
              <a:spAutoFit/>
            </a:bodyPr>
            <a:lstStyle/>
            <a:p>
              <a:pPr algn="ctr">
                <a:defRPr sz="1800" b="0">
                  <a:solidFill>
                    <a:srgbClr val="182B3A"/>
                  </a:solidFill>
                  <a:latin typeface="Arial"/>
                </a:defRPr>
              </a:pPr>
              <a:r>
                <a:t>4</a:t>
              </a:r>
            </a:p>
          </p:txBody>
        </p:sp>
        <p:sp>
          <p:nvSpPr>
            <p:cNvPr id="133" name="Rectangle 132"/>
            <p:cNvSpPr/>
            <p:nvPr/>
          </p:nvSpPr>
          <p:spPr>
            <a:xfrm>
              <a:off x="11746992"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34" name="Connector 133"/>
            <p:cNvCxnSpPr/>
            <p:nvPr/>
          </p:nvCxnSpPr>
          <p:spPr>
            <a:xfrm flipV="1">
              <a:off x="11746992" y="4535424"/>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5" name="TextBox 134"/>
            <p:cNvSpPr txBox="1"/>
            <p:nvPr/>
          </p:nvSpPr>
          <p:spPr>
            <a:xfrm>
              <a:off x="11765645" y="4544750"/>
              <a:ext cx="223845" cy="219181"/>
            </a:xfrm>
            <a:prstGeom prst="rect">
              <a:avLst/>
            </a:prstGeom>
            <a:noFill/>
          </p:spPr>
          <p:txBody>
            <a:bodyPr wrap="none" lIns="0" rIns="0" tIns="0" bIns="0" anchor="ctr">
              <a:spAutoFit/>
            </a:bodyPr>
            <a:lstStyle/>
            <a:p>
              <a:pPr algn="ctr">
                <a:defRPr sz="1800" b="0">
                  <a:solidFill>
                    <a:srgbClr val="182B3A"/>
                  </a:solidFill>
                  <a:latin typeface="Arial"/>
                </a:defRPr>
              </a:pPr>
              <a:r>
                <a:t>1</a:t>
              </a:r>
            </a:p>
          </p:txBody>
        </p:sp>
        <p:sp>
          <p:nvSpPr>
            <p:cNvPr id="136" name="TextBox 135"/>
            <p:cNvSpPr txBox="1"/>
            <p:nvPr/>
          </p:nvSpPr>
          <p:spPr>
            <a:xfrm>
              <a:off x="11970837" y="4763932"/>
              <a:ext cx="223845" cy="219181"/>
            </a:xfrm>
            <a:prstGeom prst="rect">
              <a:avLst/>
            </a:prstGeom>
            <a:noFill/>
          </p:spPr>
          <p:txBody>
            <a:bodyPr wrap="none" lIns="0" rIns="0" tIns="0" bIns="0" anchor="ctr">
              <a:spAutoFit/>
            </a:bodyPr>
            <a:lstStyle/>
            <a:p>
              <a:pPr algn="ctr">
                <a:defRPr sz="1800" b="0">
                  <a:solidFill>
                    <a:srgbClr val="182B3A"/>
                  </a:solidFill>
                  <a:latin typeface="Arial"/>
                </a:defRPr>
              </a:pPr>
              <a:r>
                <a:t>8</a:t>
              </a:r>
            </a:p>
          </p:txBody>
        </p:sp>
        <p:sp>
          <p:nvSpPr>
            <p:cNvPr id="137" name="Rectangle 136"/>
            <p:cNvSpPr/>
            <p:nvPr/>
          </p:nvSpPr>
          <p:spPr>
            <a:xfrm>
              <a:off x="12213335"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38" name="Connector 137"/>
            <p:cNvCxnSpPr/>
            <p:nvPr/>
          </p:nvCxnSpPr>
          <p:spPr>
            <a:xfrm flipV="1">
              <a:off x="12213335"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12231989" y="4544750"/>
              <a:ext cx="223845" cy="219181"/>
            </a:xfrm>
            <a:prstGeom prst="rect">
              <a:avLst/>
            </a:prstGeom>
            <a:noFill/>
          </p:spPr>
          <p:txBody>
            <a:bodyPr wrap="none" lIns="0" rIns="0" tIns="0" bIns="0" anchor="ctr">
              <a:spAutoFit/>
            </a:bodyPr>
            <a:lstStyle/>
            <a:p>
              <a:pPr algn="ctr">
                <a:defRPr sz="1800" b="0">
                  <a:solidFill>
                    <a:srgbClr val="182B3A"/>
                  </a:solidFill>
                  <a:latin typeface="Arial"/>
                </a:defRPr>
              </a:pPr>
              <a:r>
                <a:t>0</a:t>
              </a:r>
            </a:p>
          </p:txBody>
        </p:sp>
        <p:sp>
          <p:nvSpPr>
            <p:cNvPr id="140" name="TextBox 139"/>
            <p:cNvSpPr txBox="1"/>
            <p:nvPr/>
          </p:nvSpPr>
          <p:spPr>
            <a:xfrm>
              <a:off x="12437181" y="4763932"/>
              <a:ext cx="223845" cy="219181"/>
            </a:xfrm>
            <a:prstGeom prst="rect">
              <a:avLst/>
            </a:prstGeom>
            <a:noFill/>
          </p:spPr>
          <p:txBody>
            <a:bodyPr wrap="none" lIns="0" rIns="0" tIns="0" bIns="0" anchor="ctr">
              <a:spAutoFit/>
            </a:bodyPr>
            <a:lstStyle/>
            <a:p>
              <a:pPr algn="ctr">
                <a:defRPr sz="1800" b="0">
                  <a:solidFill>
                    <a:srgbClr val="182B3A"/>
                  </a:solidFill>
                  <a:latin typeface="Arial"/>
                </a:defRPr>
              </a:pPr>
              <a:r>
                <a:t>6</a:t>
              </a:r>
            </a:p>
          </p:txBody>
        </p:sp>
        <p:sp>
          <p:nvSpPr>
            <p:cNvPr id="141" name="Rectangle 140"/>
            <p:cNvSpPr/>
            <p:nvPr/>
          </p:nvSpPr>
          <p:spPr>
            <a:xfrm>
              <a:off x="12679679"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42" name="Connector 141"/>
            <p:cNvCxnSpPr/>
            <p:nvPr/>
          </p:nvCxnSpPr>
          <p:spPr>
            <a:xfrm flipV="1">
              <a:off x="12679679"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43" name="TextBox 142"/>
            <p:cNvSpPr txBox="1"/>
            <p:nvPr/>
          </p:nvSpPr>
          <p:spPr>
            <a:xfrm>
              <a:off x="12698333" y="4544750"/>
              <a:ext cx="223845" cy="219181"/>
            </a:xfrm>
            <a:prstGeom prst="rect">
              <a:avLst/>
            </a:prstGeom>
            <a:noFill/>
          </p:spPr>
          <p:txBody>
            <a:bodyPr wrap="none" lIns="0" rIns="0" tIns="0" bIns="0" anchor="ctr">
              <a:spAutoFit/>
            </a:bodyPr>
            <a:lstStyle/>
            <a:p>
              <a:pPr algn="ctr">
                <a:defRPr sz="1800" b="0">
                  <a:solidFill>
                    <a:srgbClr val="182B3A"/>
                  </a:solidFill>
                  <a:latin typeface="Arial"/>
                </a:defRPr>
              </a:pPr>
              <a:r>
                <a:t>1</a:t>
              </a:r>
            </a:p>
          </p:txBody>
        </p:sp>
        <p:sp>
          <p:nvSpPr>
            <p:cNvPr id="144" name="TextBox 143"/>
            <p:cNvSpPr txBox="1"/>
            <p:nvPr/>
          </p:nvSpPr>
          <p:spPr>
            <a:xfrm>
              <a:off x="12903525" y="4763932"/>
              <a:ext cx="223845" cy="219181"/>
            </a:xfrm>
            <a:prstGeom prst="rect">
              <a:avLst/>
            </a:prstGeom>
            <a:noFill/>
          </p:spPr>
          <p:txBody>
            <a:bodyPr wrap="none" lIns="0" rIns="0" tIns="0" bIns="0" anchor="ctr">
              <a:spAutoFit/>
            </a:bodyPr>
            <a:lstStyle/>
            <a:p>
              <a:pPr algn="ctr">
                <a:defRPr sz="1800" b="0">
                  <a:solidFill>
                    <a:srgbClr val="182B3A"/>
                  </a:solidFill>
                  <a:latin typeface="Arial"/>
                </a:defRPr>
              </a:pPr>
              <a:r>
                <a:t>2</a:t>
              </a:r>
            </a:p>
          </p:txBody>
        </p:sp>
        <p:cxnSp>
          <p:nvCxnSpPr>
            <p:cNvPr id="145" name="Connector 144"/>
            <p:cNvCxnSpPr/>
            <p:nvPr/>
          </p:nvCxnSpPr>
          <p:spPr>
            <a:xfrm>
              <a:off x="11280648"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11746992"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12213335"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12679679"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13146023"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a:off x="11280648" y="3602736"/>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11280648" y="4069080"/>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11280648" y="4535424"/>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11280648" y="5001768"/>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154" name="TextBox 153"/>
            <p:cNvSpPr txBox="1"/>
            <p:nvPr/>
          </p:nvSpPr>
          <p:spPr>
            <a:xfrm>
              <a:off x="12679679" y="5084064"/>
              <a:ext cx="466343" cy="237744"/>
            </a:xfrm>
            <a:prstGeom prst="rect">
              <a:avLst/>
            </a:prstGeom>
            <a:noFill/>
          </p:spPr>
          <p:txBody>
            <a:bodyPr wrap="none" lIns="0" rIns="0" tIns="0" bIns="0" anchor="ctr">
              <a:spAutoFit/>
            </a:bodyPr>
            <a:lstStyle/>
            <a:p>
              <a:pPr algn="ctr">
                <a:defRPr sz="1900" b="1">
                  <a:solidFill>
                    <a:srgbClr val="754B87"/>
                  </a:solidFill>
                  <a:latin typeface="Arial"/>
                </a:defRPr>
              </a:pPr>
              <a:r>
                <a:t>2</a:t>
              </a:r>
            </a:p>
          </p:txBody>
        </p:sp>
        <p:sp>
          <p:nvSpPr>
            <p:cNvPr id="155" name="TextBox 154"/>
            <p:cNvSpPr txBox="1"/>
            <p:nvPr/>
          </p:nvSpPr>
          <p:spPr>
            <a:xfrm>
              <a:off x="12213335" y="5084064"/>
              <a:ext cx="466343" cy="237744"/>
            </a:xfrm>
            <a:prstGeom prst="rect">
              <a:avLst/>
            </a:prstGeom>
            <a:noFill/>
          </p:spPr>
          <p:txBody>
            <a:bodyPr wrap="none" lIns="0" rIns="0" tIns="0" bIns="0" anchor="ctr">
              <a:spAutoFit/>
            </a:bodyPr>
            <a:lstStyle/>
            <a:p>
              <a:pPr algn="ctr">
                <a:defRPr sz="1900" b="1">
                  <a:solidFill>
                    <a:srgbClr val="754B87"/>
                  </a:solidFill>
                  <a:latin typeface="Arial"/>
                </a:defRPr>
              </a:pPr>
              <a:r>
                <a:t>7</a:t>
              </a:r>
            </a:p>
          </p:txBody>
        </p:sp>
        <p:sp>
          <p:nvSpPr>
            <p:cNvPr id="156" name="TextBox 155"/>
            <p:cNvSpPr txBox="1"/>
            <p:nvPr/>
          </p:nvSpPr>
          <p:spPr>
            <a:xfrm>
              <a:off x="11746992" y="5084064"/>
              <a:ext cx="466343" cy="237744"/>
            </a:xfrm>
            <a:prstGeom prst="rect">
              <a:avLst/>
            </a:prstGeom>
            <a:noFill/>
          </p:spPr>
          <p:txBody>
            <a:bodyPr wrap="none" lIns="0" rIns="0" tIns="0" bIns="0" anchor="ctr">
              <a:spAutoFit/>
            </a:bodyPr>
            <a:lstStyle/>
            <a:p>
              <a:pPr algn="ctr">
                <a:defRPr sz="1900" b="1">
                  <a:solidFill>
                    <a:srgbClr val="754B87"/>
                  </a:solidFill>
                  <a:latin typeface="Arial"/>
                </a:defRPr>
              </a:pPr>
              <a:r>
                <a:t>6</a:t>
              </a:r>
            </a:p>
          </p:txBody>
        </p:sp>
        <p:sp>
          <p:nvSpPr>
            <p:cNvPr id="157" name="TextBox 156"/>
            <p:cNvSpPr txBox="1"/>
            <p:nvPr/>
          </p:nvSpPr>
          <p:spPr>
            <a:xfrm>
              <a:off x="11280648" y="5084064"/>
              <a:ext cx="466343" cy="237744"/>
            </a:xfrm>
            <a:prstGeom prst="rect">
              <a:avLst/>
            </a:prstGeom>
            <a:noFill/>
          </p:spPr>
          <p:txBody>
            <a:bodyPr wrap="none" lIns="0" rIns="0" tIns="0" bIns="0" anchor="ctr">
              <a:spAutoFit/>
            </a:bodyPr>
            <a:lstStyle/>
            <a:p>
              <a:pPr algn="ctr">
                <a:defRPr sz="1900" b="1">
                  <a:solidFill>
                    <a:srgbClr val="754B87"/>
                  </a:solidFill>
                  <a:latin typeface="Arial"/>
                </a:defRPr>
              </a:pPr>
              <a:r>
                <a:t>2</a:t>
              </a:r>
            </a:p>
          </p:txBody>
        </p:sp>
        <p:sp>
          <p:nvSpPr>
            <p:cNvPr id="158" name="TextBox 157"/>
            <p:cNvSpPr txBox="1"/>
            <p:nvPr/>
          </p:nvSpPr>
          <p:spPr>
            <a:xfrm>
              <a:off x="11298935" y="4956048"/>
              <a:ext cx="233171" cy="155448"/>
            </a:xfrm>
            <a:prstGeom prst="rect">
              <a:avLst/>
            </a:prstGeom>
            <a:noFill/>
          </p:spPr>
          <p:txBody>
            <a:bodyPr wrap="none" lIns="0" rIns="0" tIns="0" bIns="0" anchor="ctr">
              <a:spAutoFit/>
            </a:bodyPr>
            <a:lstStyle/>
            <a:p>
              <a:pPr algn="ctr">
                <a:defRPr sz="1000" b="1">
                  <a:solidFill>
                    <a:srgbClr val="B14F00"/>
                  </a:solidFill>
                  <a:latin typeface="Arial"/>
                </a:defRPr>
              </a:pPr>
              <a:r>
                <a:t>+1</a:t>
              </a:r>
            </a:p>
          </p:txBody>
        </p:sp>
        <p:sp>
          <p:nvSpPr>
            <p:cNvPr id="159" name="TextBox 158"/>
            <p:cNvSpPr txBox="1"/>
            <p:nvPr/>
          </p:nvSpPr>
          <p:spPr>
            <a:xfrm>
              <a:off x="10969752" y="4535424"/>
              <a:ext cx="265176" cy="466343"/>
            </a:xfrm>
            <a:prstGeom prst="rect">
              <a:avLst/>
            </a:prstGeom>
            <a:noFill/>
          </p:spPr>
          <p:txBody>
            <a:bodyPr wrap="none" lIns="0" rIns="0" tIns="0" bIns="0" anchor="ctr">
              <a:spAutoFit/>
            </a:bodyPr>
            <a:lstStyle/>
            <a:p>
              <a:pPr algn="ctr">
                <a:defRPr sz="1900" b="1">
                  <a:solidFill>
                    <a:srgbClr val="754B87"/>
                  </a:solidFill>
                  <a:latin typeface="Arial"/>
                </a:defRPr>
              </a:pPr>
              <a:r>
                <a:t>7</a:t>
              </a:r>
            </a:p>
          </p:txBody>
        </p:sp>
        <p:sp>
          <p:nvSpPr>
            <p:cNvPr id="160" name="TextBox 159"/>
            <p:cNvSpPr txBox="1"/>
            <p:nvPr/>
          </p:nvSpPr>
          <p:spPr>
            <a:xfrm>
              <a:off x="10951464" y="4544568"/>
              <a:ext cx="320040" cy="155448"/>
            </a:xfrm>
            <a:prstGeom prst="rect">
              <a:avLst/>
            </a:prstGeom>
            <a:noFill/>
          </p:spPr>
          <p:txBody>
            <a:bodyPr wrap="none" lIns="0" rIns="0" tIns="0" bIns="0" anchor="ctr">
              <a:spAutoFit/>
            </a:bodyPr>
            <a:lstStyle/>
            <a:p>
              <a:pPr algn="ctr">
                <a:defRPr sz="1000" b="1">
                  <a:solidFill>
                    <a:srgbClr val="B14F00"/>
                  </a:solidFill>
                  <a:latin typeface="Arial"/>
                </a:defRPr>
              </a:pPr>
              <a:r>
                <a:t>+1</a:t>
              </a:r>
            </a:p>
          </p:txBody>
        </p:sp>
        <p:sp>
          <p:nvSpPr>
            <p:cNvPr id="161" name="TextBox 160"/>
            <p:cNvSpPr txBox="1"/>
            <p:nvPr/>
          </p:nvSpPr>
          <p:spPr>
            <a:xfrm>
              <a:off x="10969752" y="4069080"/>
              <a:ext cx="265176" cy="466343"/>
            </a:xfrm>
            <a:prstGeom prst="rect">
              <a:avLst/>
            </a:prstGeom>
            <a:noFill/>
          </p:spPr>
          <p:txBody>
            <a:bodyPr wrap="none" lIns="0" rIns="0" tIns="0" bIns="0" anchor="ctr">
              <a:spAutoFit/>
            </a:bodyPr>
            <a:lstStyle/>
            <a:p>
              <a:pPr algn="ctr">
                <a:defRPr sz="1900" b="1">
                  <a:solidFill>
                    <a:srgbClr val="754B87"/>
                  </a:solidFill>
                  <a:latin typeface="Arial"/>
                </a:defRPr>
              </a:pPr>
              <a:r>
                <a:t>6</a:t>
              </a:r>
            </a:p>
          </p:txBody>
        </p:sp>
        <p:sp>
          <p:nvSpPr>
            <p:cNvPr id="162" name="TextBox 161"/>
            <p:cNvSpPr txBox="1"/>
            <p:nvPr/>
          </p:nvSpPr>
          <p:spPr>
            <a:xfrm>
              <a:off x="10969752" y="3602736"/>
              <a:ext cx="265176" cy="466343"/>
            </a:xfrm>
            <a:prstGeom prst="rect">
              <a:avLst/>
            </a:prstGeom>
            <a:noFill/>
          </p:spPr>
          <p:txBody>
            <a:bodyPr wrap="none" lIns="0" rIns="0" tIns="0" bIns="0" anchor="ctr">
              <a:spAutoFit/>
            </a:bodyPr>
            <a:lstStyle/>
            <a:p>
              <a:pPr algn="ctr">
                <a:defRPr sz="1900" b="1">
                  <a:solidFill>
                    <a:srgbClr val="8193A0"/>
                  </a:solidFill>
                  <a:latin typeface="Arial"/>
                </a:defRPr>
              </a:pPr>
              <a:r>
                <a:t>0</a:t>
              </a:r>
            </a:p>
          </p:txBody>
        </p:sp>
      </p:grpSp>
      <p:sp>
        <p:nvSpPr>
          <p:cNvPr id="163" name="Rectangle 162"/>
          <p:cNvSpPr/>
          <p:nvPr/>
        </p:nvSpPr>
        <p:spPr>
          <a:xfrm>
            <a:off x="384048" y="5330952"/>
            <a:ext cx="2103120" cy="169164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4" name="TextBox 163"/>
          <p:cNvSpPr txBox="1"/>
          <p:nvPr/>
        </p:nvSpPr>
        <p:spPr>
          <a:xfrm>
            <a:off x="448056" y="5422392"/>
            <a:ext cx="1975103" cy="150876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165" name="Rectangle 164"/>
          <p:cNvSpPr/>
          <p:nvPr/>
        </p:nvSpPr>
        <p:spPr>
          <a:xfrm>
            <a:off x="2487168"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6" name="TextBox 165"/>
          <p:cNvSpPr txBox="1"/>
          <p:nvPr/>
        </p:nvSpPr>
        <p:spPr>
          <a:xfrm>
            <a:off x="2551175"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Start at the bottom right:</a:t>
            </a:r>
          </a:p>
          <a:p>
            <a:pPr>
              <a:lnSpc>
                <a:spcPts val="1620"/>
              </a:lnSpc>
              <a:spcBef>
                <a:spcPts val="0"/>
              </a:spcBef>
              <a:spcAft>
                <a:spcPts val="0"/>
              </a:spcAft>
              <a:defRPr sz="1500" b="0">
                <a:solidFill>
                  <a:srgbClr val="182B3A"/>
                </a:solidFill>
                <a:latin typeface="Arial"/>
              </a:defRPr>
            </a:pPr>
            <a:r>
              <a:t>8 → write 8</a:t>
            </a:r>
          </a:p>
          <a:p>
            <a:pPr>
              <a:lnSpc>
                <a:spcPts val="1620"/>
              </a:lnSpc>
              <a:spcBef>
                <a:spcPts val="0"/>
              </a:spcBef>
              <a:spcAft>
                <a:spcPts val="0"/>
              </a:spcAft>
              <a:defRPr sz="1500" b="0">
                <a:solidFill>
                  <a:srgbClr val="182B3A"/>
                </a:solidFill>
                <a:latin typeface="Arial"/>
              </a:defRPr>
            </a:pPr>
            <a:r>
              <a:t>1 + 4 = 5 → write 5</a:t>
            </a:r>
          </a:p>
          <a:p>
            <a:pPr>
              <a:lnSpc>
                <a:spcPts val="1620"/>
              </a:lnSpc>
              <a:spcBef>
                <a:spcPts val="0"/>
              </a:spcBef>
              <a:spcAft>
                <a:spcPts val="0"/>
              </a:spcAft>
              <a:defRPr sz="1500" b="0">
                <a:solidFill>
                  <a:srgbClr val="182B3A"/>
                </a:solidFill>
                <a:latin typeface="Arial"/>
              </a:defRPr>
            </a:pPr>
            <a:r>
              <a:t>2 → write 2</a:t>
            </a:r>
          </a:p>
        </p:txBody>
      </p:sp>
      <p:sp>
        <p:nvSpPr>
          <p:cNvPr id="167" name="Rectangle 166"/>
          <p:cNvSpPr/>
          <p:nvPr/>
        </p:nvSpPr>
        <p:spPr>
          <a:xfrm>
            <a:off x="6406895"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8" name="TextBox 167"/>
          <p:cNvSpPr txBox="1"/>
          <p:nvPr/>
        </p:nvSpPr>
        <p:spPr>
          <a:xfrm>
            <a:off x="6470904"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Start at the bottom right:</a:t>
            </a:r>
          </a:p>
          <a:p>
            <a:pPr>
              <a:lnSpc>
                <a:spcPts val="1620"/>
              </a:lnSpc>
              <a:spcBef>
                <a:spcPts val="0"/>
              </a:spcBef>
              <a:spcAft>
                <a:spcPts val="0"/>
              </a:spcAft>
              <a:defRPr sz="1500" b="0">
                <a:solidFill>
                  <a:srgbClr val="182B3A"/>
                </a:solidFill>
                <a:latin typeface="Arial"/>
              </a:defRPr>
            </a:pPr>
            <a:r>
              <a:t>8 → write 8</a:t>
            </a:r>
          </a:p>
          <a:p>
            <a:pPr>
              <a:lnSpc>
                <a:spcPts val="1620"/>
              </a:lnSpc>
              <a:spcBef>
                <a:spcPts val="0"/>
              </a:spcBef>
              <a:spcAft>
                <a:spcPts val="0"/>
              </a:spcAft>
              <a:defRPr sz="1500" b="0">
                <a:solidFill>
                  <a:srgbClr val="182B3A"/>
                </a:solidFill>
                <a:latin typeface="Arial"/>
              </a:defRPr>
            </a:pPr>
            <a:r>
              <a:t>4 + 0 + 6 = 10 → write 0, carry 1</a:t>
            </a:r>
          </a:p>
          <a:p>
            <a:pPr>
              <a:lnSpc>
                <a:spcPts val="1620"/>
              </a:lnSpc>
              <a:spcBef>
                <a:spcPts val="0"/>
              </a:spcBef>
              <a:spcAft>
                <a:spcPts val="0"/>
              </a:spcAft>
              <a:defRPr sz="1500" b="0">
                <a:solidFill>
                  <a:srgbClr val="182B3A"/>
                </a:solidFill>
                <a:latin typeface="Arial"/>
              </a:defRPr>
            </a:pPr>
            <a:r>
              <a:t>0 + 3 + 0 + 1 = 4 → write 4</a:t>
            </a:r>
          </a:p>
          <a:p>
            <a:pPr>
              <a:lnSpc>
                <a:spcPts val="1620"/>
              </a:lnSpc>
              <a:spcBef>
                <a:spcPts val="0"/>
              </a:spcBef>
              <a:spcAft>
                <a:spcPts val="0"/>
              </a:spcAft>
              <a:defRPr sz="1500" b="0">
                <a:solidFill>
                  <a:srgbClr val="182B3A"/>
                </a:solidFill>
                <a:latin typeface="Arial"/>
              </a:defRPr>
            </a:pPr>
            <a:r>
              <a:t>0 → leading zero</a:t>
            </a:r>
          </a:p>
        </p:txBody>
      </p:sp>
      <p:sp>
        <p:nvSpPr>
          <p:cNvPr id="169" name="Rectangle 168"/>
          <p:cNvSpPr/>
          <p:nvPr/>
        </p:nvSpPr>
        <p:spPr>
          <a:xfrm>
            <a:off x="10326624"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0" name="TextBox 169"/>
          <p:cNvSpPr txBox="1"/>
          <p:nvPr/>
        </p:nvSpPr>
        <p:spPr>
          <a:xfrm>
            <a:off x="10390632"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2 → write 2</a:t>
            </a:r>
          </a:p>
          <a:p>
            <a:pPr>
              <a:lnSpc>
                <a:spcPts val="1620"/>
              </a:lnSpc>
              <a:spcBef>
                <a:spcPts val="0"/>
              </a:spcBef>
              <a:spcAft>
                <a:spcPts val="0"/>
              </a:spcAft>
              <a:defRPr sz="1500" b="0">
                <a:solidFill>
                  <a:srgbClr val="182B3A"/>
                </a:solidFill>
                <a:latin typeface="Arial"/>
              </a:defRPr>
            </a:pPr>
            <a:r>
              <a:t>1+0+6 = 7 → write 7</a:t>
            </a:r>
          </a:p>
          <a:p>
            <a:pPr>
              <a:lnSpc>
                <a:spcPts val="1620"/>
              </a:lnSpc>
              <a:spcBef>
                <a:spcPts val="0"/>
              </a:spcBef>
              <a:spcAft>
                <a:spcPts val="0"/>
              </a:spcAft>
              <a:defRPr sz="1500" b="0">
                <a:solidFill>
                  <a:srgbClr val="182B3A"/>
                </a:solidFill>
                <a:latin typeface="Arial"/>
              </a:defRPr>
            </a:pPr>
            <a:r>
              <a:t>1+2+0+5+8 = 16 → 6, carry 1</a:t>
            </a:r>
          </a:p>
          <a:p>
            <a:pPr>
              <a:lnSpc>
                <a:spcPts val="1620"/>
              </a:lnSpc>
              <a:spcBef>
                <a:spcPts val="0"/>
              </a:spcBef>
              <a:spcAft>
                <a:spcPts val="0"/>
              </a:spcAft>
              <a:defRPr sz="1500" b="0">
                <a:solidFill>
                  <a:srgbClr val="182B3A"/>
                </a:solidFill>
                <a:latin typeface="Arial"/>
              </a:defRPr>
            </a:pPr>
            <a:r>
              <a:t>0+0+1+1+5+4+1 = 12 → 2, carry 1</a:t>
            </a:r>
          </a:p>
          <a:p>
            <a:pPr>
              <a:lnSpc>
                <a:spcPts val="1620"/>
              </a:lnSpc>
              <a:spcBef>
                <a:spcPts val="0"/>
              </a:spcBef>
              <a:spcAft>
                <a:spcPts val="0"/>
              </a:spcAft>
              <a:defRPr sz="1500" b="0">
                <a:solidFill>
                  <a:srgbClr val="182B3A"/>
                </a:solidFill>
                <a:latin typeface="Arial"/>
              </a:defRPr>
            </a:pPr>
            <a:r>
              <a:t>0+1+3+2+0+1 = 7 → write 7</a:t>
            </a:r>
          </a:p>
          <a:p>
            <a:pPr>
              <a:lnSpc>
                <a:spcPts val="1620"/>
              </a:lnSpc>
              <a:spcBef>
                <a:spcPts val="0"/>
              </a:spcBef>
              <a:spcAft>
                <a:spcPts val="0"/>
              </a:spcAft>
              <a:defRPr sz="1500" b="0">
                <a:solidFill>
                  <a:srgbClr val="182B3A"/>
                </a:solidFill>
                <a:latin typeface="Arial"/>
              </a:defRPr>
            </a:pPr>
            <a:r>
              <a:t>0+2+4 = 6 → write 6</a:t>
            </a:r>
          </a:p>
          <a:p>
            <a:pPr>
              <a:lnSpc>
                <a:spcPts val="1620"/>
              </a:lnSpc>
              <a:spcBef>
                <a:spcPts val="0"/>
              </a:spcBef>
              <a:spcAft>
                <a:spcPts val="0"/>
              </a:spcAft>
              <a:defRPr sz="1500" b="0">
                <a:solidFill>
                  <a:srgbClr val="182B3A"/>
                </a:solidFill>
                <a:latin typeface="Arial"/>
              </a:defRPr>
            </a:pPr>
            <a:r>
              <a:t>0 → leading zero</a:t>
            </a:r>
          </a:p>
        </p:txBody>
      </p:sp>
      <p:sp>
        <p:nvSpPr>
          <p:cNvPr id="171" name="Rectangle 170"/>
          <p:cNvSpPr/>
          <p:nvPr/>
        </p:nvSpPr>
        <p:spPr>
          <a:xfrm>
            <a:off x="384048" y="7022592"/>
            <a:ext cx="2103120" cy="7315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2" name="TextBox 171"/>
          <p:cNvSpPr txBox="1"/>
          <p:nvPr/>
        </p:nvSpPr>
        <p:spPr>
          <a:xfrm>
            <a:off x="448056" y="7114031"/>
            <a:ext cx="1975103" cy="5486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173" name="Rectangle 172"/>
          <p:cNvSpPr/>
          <p:nvPr/>
        </p:nvSpPr>
        <p:spPr>
          <a:xfrm>
            <a:off x="2487168"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4" name="TextBox 173"/>
          <p:cNvSpPr txBox="1"/>
          <p:nvPr/>
        </p:nvSpPr>
        <p:spPr>
          <a:xfrm>
            <a:off x="2551175"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43 × 6 = 258</a:t>
            </a:r>
          </a:p>
        </p:txBody>
      </p:sp>
      <p:sp>
        <p:nvSpPr>
          <p:cNvPr id="175" name="Rectangle 174"/>
          <p:cNvSpPr/>
          <p:nvPr/>
        </p:nvSpPr>
        <p:spPr>
          <a:xfrm>
            <a:off x="6406895"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6" name="TextBox 175"/>
          <p:cNvSpPr txBox="1"/>
          <p:nvPr/>
        </p:nvSpPr>
        <p:spPr>
          <a:xfrm>
            <a:off x="6470904"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34 × 12 = 408</a:t>
            </a:r>
          </a:p>
        </p:txBody>
      </p:sp>
      <p:sp>
        <p:nvSpPr>
          <p:cNvPr id="177" name="Rectangle 176"/>
          <p:cNvSpPr/>
          <p:nvPr/>
        </p:nvSpPr>
        <p:spPr>
          <a:xfrm>
            <a:off x="10326624"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8" name="TextBox 177"/>
          <p:cNvSpPr txBox="1"/>
          <p:nvPr/>
        </p:nvSpPr>
        <p:spPr>
          <a:xfrm>
            <a:off x="10390632"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4,312 × 156 = 672,672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Complete each step in your booklet or webapp.</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1  •  2/7  •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53 × 7</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24 × 15</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1,245 × 326</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9" name="Rectangle 28"/>
          <p:cNvSpPr/>
          <p:nvPr/>
        </p:nvSpPr>
        <p:spPr>
          <a:xfrm>
            <a:off x="384048" y="3456432"/>
            <a:ext cx="2103120" cy="13716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48056" y="3547872"/>
            <a:ext cx="1975103" cy="11887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2551175"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3" name="Rectangle 32"/>
          <p:cNvSpPr/>
          <p:nvPr/>
        </p:nvSpPr>
        <p:spPr>
          <a:xfrm>
            <a:off x="6406895"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6470904"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5" name="Rectangle 34"/>
          <p:cNvSpPr/>
          <p:nvPr/>
        </p:nvSpPr>
        <p:spPr>
          <a:xfrm>
            <a:off x="10326624"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10390632"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7" name="Rectangle 36"/>
          <p:cNvSpPr/>
          <p:nvPr/>
        </p:nvSpPr>
        <p:spPr>
          <a:xfrm>
            <a:off x="384048" y="4828031"/>
            <a:ext cx="2103120" cy="18288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448056" y="4919471"/>
            <a:ext cx="1975103" cy="16459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39" name="Rectangle 38"/>
          <p:cNvSpPr/>
          <p:nvPr/>
        </p:nvSpPr>
        <p:spPr>
          <a:xfrm>
            <a:off x="2487168"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2551175"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1" name="Rectangle 40"/>
          <p:cNvSpPr/>
          <p:nvPr/>
        </p:nvSpPr>
        <p:spPr>
          <a:xfrm>
            <a:off x="6406895"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6470904"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3" name="Rectangle 42"/>
          <p:cNvSpPr/>
          <p:nvPr/>
        </p:nvSpPr>
        <p:spPr>
          <a:xfrm>
            <a:off x="10326624"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10390632"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5" name="Rectangle 44"/>
          <p:cNvSpPr/>
          <p:nvPr/>
        </p:nvSpPr>
        <p:spPr>
          <a:xfrm>
            <a:off x="384048" y="6656831"/>
            <a:ext cx="2103120" cy="10515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TextBox 45"/>
          <p:cNvSpPr txBox="1"/>
          <p:nvPr/>
        </p:nvSpPr>
        <p:spPr>
          <a:xfrm>
            <a:off x="448056" y="6748271"/>
            <a:ext cx="1975103" cy="8686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47" name="Rectangle 46"/>
          <p:cNvSpPr/>
          <p:nvPr/>
        </p:nvSpPr>
        <p:spPr>
          <a:xfrm>
            <a:off x="2487168"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2551175"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49" name="Rectangle 48"/>
          <p:cNvSpPr/>
          <p:nvPr/>
        </p:nvSpPr>
        <p:spPr>
          <a:xfrm>
            <a:off x="6406895"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6470904"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51" name="Rectangle 50"/>
          <p:cNvSpPr/>
          <p:nvPr/>
        </p:nvSpPr>
        <p:spPr>
          <a:xfrm>
            <a:off x="10326624"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10390632"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Complete each step in your booklet or webapp.</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1  •  3/7  •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84 × 5</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63 × 28</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3,142 × 2045</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9" name="Rectangle 28"/>
          <p:cNvSpPr/>
          <p:nvPr/>
        </p:nvSpPr>
        <p:spPr>
          <a:xfrm>
            <a:off x="384048" y="3456432"/>
            <a:ext cx="2103120" cy="13716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48056" y="3547872"/>
            <a:ext cx="1975103" cy="11887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2551175"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3" name="Rectangle 32"/>
          <p:cNvSpPr/>
          <p:nvPr/>
        </p:nvSpPr>
        <p:spPr>
          <a:xfrm>
            <a:off x="6406895"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6470904"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5" name="Rectangle 34"/>
          <p:cNvSpPr/>
          <p:nvPr/>
        </p:nvSpPr>
        <p:spPr>
          <a:xfrm>
            <a:off x="10326624"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10390632"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7" name="Rectangle 36"/>
          <p:cNvSpPr/>
          <p:nvPr/>
        </p:nvSpPr>
        <p:spPr>
          <a:xfrm>
            <a:off x="384048" y="4828031"/>
            <a:ext cx="2103120" cy="18288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448056" y="4919471"/>
            <a:ext cx="1975103" cy="16459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39" name="Rectangle 38"/>
          <p:cNvSpPr/>
          <p:nvPr/>
        </p:nvSpPr>
        <p:spPr>
          <a:xfrm>
            <a:off x="2487168"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2551175"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1" name="Rectangle 40"/>
          <p:cNvSpPr/>
          <p:nvPr/>
        </p:nvSpPr>
        <p:spPr>
          <a:xfrm>
            <a:off x="6406895"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6470904"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3" name="Rectangle 42"/>
          <p:cNvSpPr/>
          <p:nvPr/>
        </p:nvSpPr>
        <p:spPr>
          <a:xfrm>
            <a:off x="10326624"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10390632"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5" name="Rectangle 44"/>
          <p:cNvSpPr/>
          <p:nvPr/>
        </p:nvSpPr>
        <p:spPr>
          <a:xfrm>
            <a:off x="384048" y="6656831"/>
            <a:ext cx="2103120" cy="10515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TextBox 45"/>
          <p:cNvSpPr txBox="1"/>
          <p:nvPr/>
        </p:nvSpPr>
        <p:spPr>
          <a:xfrm>
            <a:off x="448056" y="6748271"/>
            <a:ext cx="1975103" cy="8686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47" name="Rectangle 46"/>
          <p:cNvSpPr/>
          <p:nvPr/>
        </p:nvSpPr>
        <p:spPr>
          <a:xfrm>
            <a:off x="2487168"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2551175"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49" name="Rectangle 48"/>
          <p:cNvSpPr/>
          <p:nvPr/>
        </p:nvSpPr>
        <p:spPr>
          <a:xfrm>
            <a:off x="6406895"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6470904"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51" name="Rectangle 50"/>
          <p:cNvSpPr/>
          <p:nvPr/>
        </p:nvSpPr>
        <p:spPr>
          <a:xfrm>
            <a:off x="10326624"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10390632"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1  •  4/7  •  Slide 4</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 × 4</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 × 8</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 × 3</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83 × 7</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95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42 × 13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26 × 34</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 × 22</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 × 41</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75 × 16</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57</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342 × 15</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612 × 24</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1,234 × 125</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2,105 × 304</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4,316 × 1,024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7,029 × 2,316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1  •  5/7  •  Slide 5</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24 × 6</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57 × 4</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68 × 3</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39 × 7</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 × 8</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23 × 14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25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37 × 42</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58 × 36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64 × 27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79 × 53</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425 × 23</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708 × 46</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1,326 × 243</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3,048 × 512</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5,607 × 1,204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8,214 × 3,067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1  •  6/7  •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7</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29 × 8</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65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78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87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35 × 24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 × 17</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48 × 39</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76 × 28</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54 × 46</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89 × 65</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536 × 34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809 × 27</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2,047 × 368</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4,158 × 427</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6,309 × 2,058</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9,274 × 4,163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1  •  7/7  •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38 × 5</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56 × 9</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67 × 8</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49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4</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97 × 7</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27 × 35</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 × 26</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69 × 48</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85 × 37</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 × 59</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 × 68</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647 × 45</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902 × 38</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3,156 × 489</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5,027 × 596</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7,418 × 3,264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8,639 × 5,076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Guided: exact answer. Core: remainder. Depth: decimal answer.</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2  •  1/7  •  Slide 8</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63 ÷ 3</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145 ÷ 6</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4,834 ÷ 16</a:t>
            </a:r>
          </a:p>
        </p:txBody>
      </p:sp>
      <p:sp>
        <p:nvSpPr>
          <p:cNvPr id="21" name="Rectangle 20"/>
          <p:cNvSpPr/>
          <p:nvPr/>
        </p:nvSpPr>
        <p:spPr>
          <a:xfrm>
            <a:off x="384048" y="2176272"/>
            <a:ext cx="2103120" cy="1737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448056" y="2267712"/>
            <a:ext cx="1975103" cy="15544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2551175"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63.</a:t>
            </a:r>
          </a:p>
          <a:p>
            <a:pPr>
              <a:lnSpc>
                <a:spcPts val="2160"/>
              </a:lnSpc>
              <a:spcBef>
                <a:spcPts val="0"/>
              </a:spcBef>
              <a:spcAft>
                <a:spcPts val="0"/>
              </a:spcAft>
              <a:defRPr sz="2000" b="0">
                <a:solidFill>
                  <a:srgbClr val="182B3A"/>
                </a:solidFill>
                <a:latin typeface="Arial"/>
              </a:defRPr>
            </a:pPr>
            <a:r>
              <a:t>Outside on the left: 3.</a:t>
            </a:r>
          </a:p>
        </p:txBody>
      </p:sp>
      <p:grpSp>
        <p:nvGrpSpPr>
          <p:cNvPr id="25" name="Editable bus stop 63 ÷ 3"/>
          <p:cNvGrpSpPr/>
          <p:nvPr/>
        </p:nvGrpSpPr>
        <p:grpSpPr>
          <a:xfrm>
            <a:off x="3633216" y="3008375"/>
            <a:ext cx="1426463" cy="758952"/>
            <a:chOff x="3633216" y="3008375"/>
            <a:chExt cx="1426463" cy="758952"/>
          </a:xfrm>
        </p:grpSpPr>
        <p:cxnSp>
          <p:nvCxnSpPr>
            <p:cNvPr id="26" name="Connector 25"/>
            <p:cNvCxnSpPr/>
            <p:nvPr/>
          </p:nvCxnSpPr>
          <p:spPr>
            <a:xfrm>
              <a:off x="4035552" y="3383279"/>
              <a:ext cx="1024127"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035552"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633216" y="3401567"/>
              <a:ext cx="347472" cy="347472"/>
            </a:xfrm>
            <a:prstGeom prst="rect">
              <a:avLst/>
            </a:prstGeom>
            <a:noFill/>
          </p:spPr>
          <p:txBody>
            <a:bodyPr wrap="none" lIns="0" rIns="0" tIns="0" bIns="0" anchor="ctr">
              <a:spAutoFit/>
            </a:bodyPr>
            <a:lstStyle/>
            <a:p>
              <a:pPr algn="ctr">
                <a:defRPr sz="2400" b="1">
                  <a:solidFill>
                    <a:srgbClr val="176B73"/>
                  </a:solidFill>
                  <a:latin typeface="Arial"/>
                </a:defRPr>
              </a:pPr>
              <a:r>
                <a:t>3</a:t>
              </a:r>
            </a:p>
          </p:txBody>
        </p:sp>
        <p:sp>
          <p:nvSpPr>
            <p:cNvPr id="29" name="TextBox 28"/>
            <p:cNvSpPr txBox="1"/>
            <p:nvPr/>
          </p:nvSpPr>
          <p:spPr>
            <a:xfrm>
              <a:off x="4108704" y="3401567"/>
              <a:ext cx="448056" cy="347472"/>
            </a:xfrm>
            <a:prstGeom prst="rect">
              <a:avLst/>
            </a:prstGeom>
            <a:noFill/>
          </p:spPr>
          <p:txBody>
            <a:bodyPr wrap="none" lIns="0" rIns="0" tIns="0" bIns="0" anchor="ctr">
              <a:spAutoFit/>
            </a:bodyPr>
            <a:lstStyle/>
            <a:p>
              <a:pPr algn="ctr">
                <a:defRPr sz="2400" b="0">
                  <a:solidFill>
                    <a:srgbClr val="182B3A"/>
                  </a:solidFill>
                  <a:latin typeface="Arial"/>
                </a:defRPr>
              </a:pPr>
              <a:r>
                <a:t>6</a:t>
              </a:r>
            </a:p>
          </p:txBody>
        </p:sp>
        <p:sp>
          <p:nvSpPr>
            <p:cNvPr id="30" name="TextBox 29"/>
            <p:cNvSpPr txBox="1"/>
            <p:nvPr/>
          </p:nvSpPr>
          <p:spPr>
            <a:xfrm>
              <a:off x="4108704" y="3008375"/>
              <a:ext cx="448056" cy="320040"/>
            </a:xfrm>
            <a:prstGeom prst="rect">
              <a:avLst/>
            </a:prstGeom>
            <a:noFill/>
          </p:spPr>
          <p:txBody>
            <a:bodyPr wrap="none" lIns="0" rIns="0" tIns="0" bIns="0" anchor="ctr">
              <a:spAutoFit/>
            </a:bodyPr>
            <a:lstStyle/>
            <a:p>
              <a:pPr algn="ctr">
                <a:defRPr sz="2400" b="1">
                  <a:solidFill>
                    <a:srgbClr val="176B73"/>
                  </a:solidFill>
                  <a:latin typeface="Arial"/>
                </a:defRPr>
              </a:pPr>
              <a:r>
                <a:t>2</a:t>
              </a:r>
            </a:p>
          </p:txBody>
        </p:sp>
        <p:sp>
          <p:nvSpPr>
            <p:cNvPr id="31" name="TextBox 30"/>
            <p:cNvSpPr txBox="1"/>
            <p:nvPr/>
          </p:nvSpPr>
          <p:spPr>
            <a:xfrm>
              <a:off x="4556760" y="3401567"/>
              <a:ext cx="448056" cy="347472"/>
            </a:xfrm>
            <a:prstGeom prst="rect">
              <a:avLst/>
            </a:prstGeom>
            <a:noFill/>
          </p:spPr>
          <p:txBody>
            <a:bodyPr wrap="none" lIns="0" rIns="0" tIns="0" bIns="0" anchor="ctr">
              <a:spAutoFit/>
            </a:bodyPr>
            <a:lstStyle/>
            <a:p>
              <a:pPr algn="ctr">
                <a:defRPr sz="2400" b="0">
                  <a:solidFill>
                    <a:srgbClr val="182B3A"/>
                  </a:solidFill>
                  <a:latin typeface="Arial"/>
                </a:defRPr>
              </a:pPr>
              <a:r>
                <a:t>3</a:t>
              </a:r>
            </a:p>
          </p:txBody>
        </p:sp>
        <p:sp>
          <p:nvSpPr>
            <p:cNvPr id="32" name="TextBox 31"/>
            <p:cNvSpPr txBox="1"/>
            <p:nvPr/>
          </p:nvSpPr>
          <p:spPr>
            <a:xfrm>
              <a:off x="4556760" y="3008375"/>
              <a:ext cx="448056" cy="320040"/>
            </a:xfrm>
            <a:prstGeom prst="rect">
              <a:avLst/>
            </a:prstGeom>
            <a:noFill/>
          </p:spPr>
          <p:txBody>
            <a:bodyPr wrap="none" lIns="0" rIns="0" tIns="0" bIns="0" anchor="ctr">
              <a:spAutoFit/>
            </a:bodyPr>
            <a:lstStyle/>
            <a:p>
              <a:pPr algn="ctr">
                <a:defRPr sz="2400" b="1">
                  <a:solidFill>
                    <a:srgbClr val="176B73"/>
                  </a:solidFill>
                  <a:latin typeface="Arial"/>
                </a:defRPr>
              </a:pPr>
              <a:r>
                <a:t>1</a:t>
              </a:r>
            </a:p>
          </p:txBody>
        </p:sp>
      </p:grpSp>
      <p:sp>
        <p:nvSpPr>
          <p:cNvPr id="33" name="Rectangle 32"/>
          <p:cNvSpPr/>
          <p:nvPr/>
        </p:nvSpPr>
        <p:spPr>
          <a:xfrm>
            <a:off x="6406895"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6470904"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145.</a:t>
            </a:r>
          </a:p>
          <a:p>
            <a:pPr>
              <a:lnSpc>
                <a:spcPts val="2160"/>
              </a:lnSpc>
              <a:spcBef>
                <a:spcPts val="0"/>
              </a:spcBef>
              <a:spcAft>
                <a:spcPts val="0"/>
              </a:spcAft>
              <a:defRPr sz="2000" b="0">
                <a:solidFill>
                  <a:srgbClr val="182B3A"/>
                </a:solidFill>
                <a:latin typeface="Arial"/>
              </a:defRPr>
            </a:pPr>
            <a:r>
              <a:t>Outside on the left: 6.</a:t>
            </a:r>
          </a:p>
        </p:txBody>
      </p:sp>
      <p:grpSp>
        <p:nvGrpSpPr>
          <p:cNvPr id="35" name="Editable bus stop 145 ÷ 6"/>
          <p:cNvGrpSpPr/>
          <p:nvPr/>
        </p:nvGrpSpPr>
        <p:grpSpPr>
          <a:xfrm>
            <a:off x="7328915" y="3008375"/>
            <a:ext cx="1874521" cy="905256"/>
            <a:chOff x="7328915" y="3008375"/>
            <a:chExt cx="1874521" cy="905256"/>
          </a:xfrm>
        </p:grpSpPr>
        <p:cxnSp>
          <p:nvCxnSpPr>
            <p:cNvPr id="36" name="Connector 35"/>
            <p:cNvCxnSpPr/>
            <p:nvPr/>
          </p:nvCxnSpPr>
          <p:spPr>
            <a:xfrm>
              <a:off x="7731251" y="3383279"/>
              <a:ext cx="147218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731251"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7328915" y="3401567"/>
              <a:ext cx="347472" cy="347472"/>
            </a:xfrm>
            <a:prstGeom prst="rect">
              <a:avLst/>
            </a:prstGeom>
            <a:noFill/>
          </p:spPr>
          <p:txBody>
            <a:bodyPr wrap="none" lIns="0" rIns="0" tIns="0" bIns="0" anchor="ctr">
              <a:spAutoFit/>
            </a:bodyPr>
            <a:lstStyle/>
            <a:p>
              <a:pPr algn="ctr">
                <a:defRPr sz="2400" b="1">
                  <a:solidFill>
                    <a:srgbClr val="3559A2"/>
                  </a:solidFill>
                  <a:latin typeface="Arial"/>
                </a:defRPr>
              </a:pPr>
              <a:r>
                <a:t>6</a:t>
              </a:r>
            </a:p>
          </p:txBody>
        </p:sp>
        <p:sp>
          <p:nvSpPr>
            <p:cNvPr id="39" name="TextBox 38"/>
            <p:cNvSpPr txBox="1"/>
            <p:nvPr/>
          </p:nvSpPr>
          <p:spPr>
            <a:xfrm>
              <a:off x="7804403" y="3401567"/>
              <a:ext cx="448056" cy="347472"/>
            </a:xfrm>
            <a:prstGeom prst="rect">
              <a:avLst/>
            </a:prstGeom>
            <a:noFill/>
          </p:spPr>
          <p:txBody>
            <a:bodyPr wrap="none" lIns="0" rIns="0" tIns="0" bIns="0" anchor="ctr">
              <a:spAutoFit/>
            </a:bodyPr>
            <a:lstStyle/>
            <a:p>
              <a:pPr algn="ctr">
                <a:defRPr sz="2400" b="0">
                  <a:solidFill>
                    <a:srgbClr val="182B3A"/>
                  </a:solidFill>
                  <a:latin typeface="Arial"/>
                </a:defRPr>
              </a:pPr>
              <a:r>
                <a:t>1</a:t>
              </a:r>
            </a:p>
          </p:txBody>
        </p:sp>
        <p:sp>
          <p:nvSpPr>
            <p:cNvPr id="40" name="TextBox 39"/>
            <p:cNvSpPr txBox="1"/>
            <p:nvPr/>
          </p:nvSpPr>
          <p:spPr>
            <a:xfrm>
              <a:off x="7804403" y="3008375"/>
              <a:ext cx="448056" cy="320040"/>
            </a:xfrm>
            <a:prstGeom prst="rect">
              <a:avLst/>
            </a:prstGeom>
            <a:noFill/>
          </p:spPr>
          <p:txBody>
            <a:bodyPr wrap="none" lIns="0" rIns="0" tIns="0" bIns="0" anchor="ctr">
              <a:spAutoFit/>
            </a:bodyPr>
            <a:lstStyle/>
            <a:p>
              <a:pPr algn="ctr">
                <a:defRPr sz="2400" b="1">
                  <a:solidFill>
                    <a:srgbClr val="3559A2"/>
                  </a:solidFill>
                  <a:latin typeface="Arial"/>
                </a:defRPr>
              </a:pPr>
            </a:p>
          </p:txBody>
        </p:sp>
        <p:sp>
          <p:nvSpPr>
            <p:cNvPr id="41" name="TextBox 40"/>
            <p:cNvSpPr txBox="1"/>
            <p:nvPr/>
          </p:nvSpPr>
          <p:spPr>
            <a:xfrm>
              <a:off x="8252459" y="3401567"/>
              <a:ext cx="448056" cy="347472"/>
            </a:xfrm>
            <a:prstGeom prst="rect">
              <a:avLst/>
            </a:prstGeom>
            <a:noFill/>
          </p:spPr>
          <p:txBody>
            <a:bodyPr wrap="none" lIns="0" rIns="0" tIns="0" bIns="0" anchor="ctr">
              <a:spAutoFit/>
            </a:bodyPr>
            <a:lstStyle/>
            <a:p>
              <a:pPr algn="ctr">
                <a:defRPr sz="2400" b="0">
                  <a:solidFill>
                    <a:srgbClr val="182B3A"/>
                  </a:solidFill>
                  <a:latin typeface="Arial"/>
                </a:defRPr>
              </a:pPr>
              <a:r>
                <a:t>4</a:t>
              </a:r>
            </a:p>
          </p:txBody>
        </p:sp>
        <p:sp>
          <p:nvSpPr>
            <p:cNvPr id="42" name="TextBox 41"/>
            <p:cNvSpPr txBox="1"/>
            <p:nvPr/>
          </p:nvSpPr>
          <p:spPr>
            <a:xfrm>
              <a:off x="8252459" y="3008375"/>
              <a:ext cx="448056" cy="320040"/>
            </a:xfrm>
            <a:prstGeom prst="rect">
              <a:avLst/>
            </a:prstGeom>
            <a:noFill/>
          </p:spPr>
          <p:txBody>
            <a:bodyPr wrap="none" lIns="0" rIns="0" tIns="0" bIns="0" anchor="ctr">
              <a:spAutoFit/>
            </a:bodyPr>
            <a:lstStyle/>
            <a:p>
              <a:pPr algn="ctr">
                <a:defRPr sz="2400" b="1">
                  <a:solidFill>
                    <a:srgbClr val="3559A2"/>
                  </a:solidFill>
                  <a:latin typeface="Arial"/>
                </a:defRPr>
              </a:pPr>
              <a:r>
                <a:t>2</a:t>
              </a:r>
            </a:p>
          </p:txBody>
        </p:sp>
        <p:sp>
          <p:nvSpPr>
            <p:cNvPr id="43" name="TextBox 42"/>
            <p:cNvSpPr txBox="1"/>
            <p:nvPr/>
          </p:nvSpPr>
          <p:spPr>
            <a:xfrm>
              <a:off x="8161934" y="3374135"/>
              <a:ext cx="164592" cy="164592"/>
            </a:xfrm>
            <a:prstGeom prst="rect">
              <a:avLst/>
            </a:prstGeom>
            <a:noFill/>
          </p:spPr>
          <p:txBody>
            <a:bodyPr wrap="none" lIns="0" rIns="0" tIns="0" bIns="0" anchor="ctr">
              <a:spAutoFit/>
            </a:bodyPr>
            <a:lstStyle/>
            <a:p>
              <a:pPr algn="ctr">
                <a:defRPr sz="1100" b="1">
                  <a:solidFill>
                    <a:srgbClr val="B14F00"/>
                  </a:solidFill>
                  <a:latin typeface="Arial"/>
                </a:defRPr>
              </a:pPr>
              <a:r>
                <a:t>1</a:t>
              </a:r>
            </a:p>
          </p:txBody>
        </p:sp>
        <p:sp>
          <p:nvSpPr>
            <p:cNvPr id="44" name="TextBox 43"/>
            <p:cNvSpPr txBox="1"/>
            <p:nvPr/>
          </p:nvSpPr>
          <p:spPr>
            <a:xfrm>
              <a:off x="8700515" y="3401567"/>
              <a:ext cx="448056" cy="347472"/>
            </a:xfrm>
            <a:prstGeom prst="rect">
              <a:avLst/>
            </a:prstGeom>
            <a:noFill/>
          </p:spPr>
          <p:txBody>
            <a:bodyPr wrap="none" lIns="0" rIns="0" tIns="0" bIns="0" anchor="ctr">
              <a:spAutoFit/>
            </a:bodyPr>
            <a:lstStyle/>
            <a:p>
              <a:pPr algn="ctr">
                <a:defRPr sz="2400" b="0">
                  <a:solidFill>
                    <a:srgbClr val="182B3A"/>
                  </a:solidFill>
                  <a:latin typeface="Arial"/>
                </a:defRPr>
              </a:pPr>
              <a:r>
                <a:t>5</a:t>
              </a:r>
            </a:p>
          </p:txBody>
        </p:sp>
        <p:sp>
          <p:nvSpPr>
            <p:cNvPr id="45" name="TextBox 44"/>
            <p:cNvSpPr txBox="1"/>
            <p:nvPr/>
          </p:nvSpPr>
          <p:spPr>
            <a:xfrm>
              <a:off x="8700515" y="3008375"/>
              <a:ext cx="448056" cy="320040"/>
            </a:xfrm>
            <a:prstGeom prst="rect">
              <a:avLst/>
            </a:prstGeom>
            <a:noFill/>
          </p:spPr>
          <p:txBody>
            <a:bodyPr wrap="none" lIns="0" rIns="0" tIns="0" bIns="0" anchor="ctr">
              <a:spAutoFit/>
            </a:bodyPr>
            <a:lstStyle/>
            <a:p>
              <a:pPr algn="ctr">
                <a:defRPr sz="2400" b="1">
                  <a:solidFill>
                    <a:srgbClr val="3559A2"/>
                  </a:solidFill>
                  <a:latin typeface="Arial"/>
                </a:defRPr>
              </a:pPr>
              <a:r>
                <a:t>4</a:t>
              </a:r>
            </a:p>
          </p:txBody>
        </p:sp>
        <p:sp>
          <p:nvSpPr>
            <p:cNvPr id="46" name="TextBox 45"/>
            <p:cNvSpPr txBox="1"/>
            <p:nvPr/>
          </p:nvSpPr>
          <p:spPr>
            <a:xfrm>
              <a:off x="8609990" y="3374135"/>
              <a:ext cx="164592" cy="164592"/>
            </a:xfrm>
            <a:prstGeom prst="rect">
              <a:avLst/>
            </a:prstGeom>
            <a:noFill/>
          </p:spPr>
          <p:txBody>
            <a:bodyPr wrap="none" lIns="0" rIns="0" tIns="0" bIns="0" anchor="ctr">
              <a:spAutoFit/>
            </a:bodyPr>
            <a:lstStyle/>
            <a:p>
              <a:pPr algn="ctr">
                <a:defRPr sz="1100" b="1">
                  <a:solidFill>
                    <a:srgbClr val="B14F00"/>
                  </a:solidFill>
                  <a:latin typeface="Arial"/>
                </a:defRPr>
              </a:pPr>
              <a:r>
                <a:t>2</a:t>
              </a:r>
            </a:p>
          </p:txBody>
        </p:sp>
        <p:sp>
          <p:nvSpPr>
            <p:cNvPr id="47" name="TextBox 46"/>
            <p:cNvSpPr txBox="1"/>
            <p:nvPr/>
          </p:nvSpPr>
          <p:spPr>
            <a:xfrm>
              <a:off x="7804403" y="3749039"/>
              <a:ext cx="1344168" cy="164592"/>
            </a:xfrm>
            <a:prstGeom prst="rect">
              <a:avLst/>
            </a:prstGeom>
            <a:noFill/>
          </p:spPr>
          <p:txBody>
            <a:bodyPr wrap="none" lIns="0" rIns="0" tIns="0" bIns="0" anchor="ctr">
              <a:spAutoFit/>
            </a:bodyPr>
            <a:lstStyle/>
            <a:p>
              <a:pPr algn="ctr">
                <a:defRPr sz="1200" b="0">
                  <a:solidFill>
                    <a:srgbClr val="3559A2"/>
                  </a:solidFill>
                  <a:latin typeface="Arial"/>
                </a:defRPr>
              </a:pPr>
              <a:r>
                <a:t>remainder 1</a:t>
              </a:r>
            </a:p>
          </p:txBody>
        </p:sp>
      </p:grpSp>
      <p:sp>
        <p:nvSpPr>
          <p:cNvPr id="48" name="Rectangle 47"/>
          <p:cNvSpPr/>
          <p:nvPr/>
        </p:nvSpPr>
        <p:spPr>
          <a:xfrm>
            <a:off x="10326624"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10390632"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4,834.</a:t>
            </a:r>
          </a:p>
          <a:p>
            <a:pPr>
              <a:lnSpc>
                <a:spcPts val="2160"/>
              </a:lnSpc>
              <a:spcBef>
                <a:spcPts val="0"/>
              </a:spcBef>
              <a:spcAft>
                <a:spcPts val="0"/>
              </a:spcAft>
              <a:defRPr sz="2000" b="0">
                <a:solidFill>
                  <a:srgbClr val="182B3A"/>
                </a:solidFill>
                <a:latin typeface="Arial"/>
              </a:defRPr>
            </a:pPr>
            <a:r>
              <a:t>Outside on the left: 16.</a:t>
            </a:r>
          </a:p>
        </p:txBody>
      </p:sp>
      <p:grpSp>
        <p:nvGrpSpPr>
          <p:cNvPr id="50" name="Editable bus stop 4834 ÷ 16"/>
          <p:cNvGrpSpPr/>
          <p:nvPr/>
        </p:nvGrpSpPr>
        <p:grpSpPr>
          <a:xfrm>
            <a:off x="10326624" y="3008375"/>
            <a:ext cx="3718560" cy="758952"/>
            <a:chOff x="10326624" y="3008375"/>
            <a:chExt cx="3718560" cy="758952"/>
          </a:xfrm>
        </p:grpSpPr>
        <p:cxnSp>
          <p:nvCxnSpPr>
            <p:cNvPr id="51" name="Connector 50"/>
            <p:cNvCxnSpPr/>
            <p:nvPr/>
          </p:nvCxnSpPr>
          <p:spPr>
            <a:xfrm>
              <a:off x="10728960" y="3383279"/>
              <a:ext cx="3316224"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0728960"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10326624" y="3401567"/>
              <a:ext cx="347472" cy="347472"/>
            </a:xfrm>
            <a:prstGeom prst="rect">
              <a:avLst/>
            </a:prstGeom>
            <a:noFill/>
          </p:spPr>
          <p:txBody>
            <a:bodyPr wrap="none" lIns="0" rIns="0" tIns="0" bIns="0" anchor="ctr">
              <a:spAutoFit/>
            </a:bodyPr>
            <a:lstStyle/>
            <a:p>
              <a:pPr algn="ctr">
                <a:defRPr sz="2400" b="1">
                  <a:solidFill>
                    <a:srgbClr val="754B87"/>
                  </a:solidFill>
                  <a:latin typeface="Arial"/>
                </a:defRPr>
              </a:pPr>
              <a:r>
                <a:t>16</a:t>
              </a:r>
            </a:p>
          </p:txBody>
        </p:sp>
        <p:sp>
          <p:nvSpPr>
            <p:cNvPr id="54" name="TextBox 53"/>
            <p:cNvSpPr txBox="1"/>
            <p:nvPr/>
          </p:nvSpPr>
          <p:spPr>
            <a:xfrm>
              <a:off x="10802112" y="3401567"/>
              <a:ext cx="398525" cy="347472"/>
            </a:xfrm>
            <a:prstGeom prst="rect">
              <a:avLst/>
            </a:prstGeom>
            <a:noFill/>
          </p:spPr>
          <p:txBody>
            <a:bodyPr wrap="none" lIns="0" rIns="0" tIns="0" bIns="0" anchor="ctr">
              <a:spAutoFit/>
            </a:bodyPr>
            <a:lstStyle/>
            <a:p>
              <a:pPr algn="ctr">
                <a:defRPr sz="2400" b="0">
                  <a:solidFill>
                    <a:srgbClr val="182B3A"/>
                  </a:solidFill>
                  <a:latin typeface="Arial"/>
                </a:defRPr>
              </a:pPr>
              <a:r>
                <a:t>4</a:t>
              </a:r>
            </a:p>
          </p:txBody>
        </p:sp>
        <p:sp>
          <p:nvSpPr>
            <p:cNvPr id="55" name="TextBox 54"/>
            <p:cNvSpPr txBox="1"/>
            <p:nvPr/>
          </p:nvSpPr>
          <p:spPr>
            <a:xfrm>
              <a:off x="10802112" y="3008375"/>
              <a:ext cx="398525" cy="320040"/>
            </a:xfrm>
            <a:prstGeom prst="rect">
              <a:avLst/>
            </a:prstGeom>
            <a:noFill/>
          </p:spPr>
          <p:txBody>
            <a:bodyPr wrap="none" lIns="0" rIns="0" tIns="0" bIns="0" anchor="ctr">
              <a:spAutoFit/>
            </a:bodyPr>
            <a:lstStyle/>
            <a:p>
              <a:pPr algn="ctr">
                <a:defRPr sz="2400" b="1">
                  <a:solidFill>
                    <a:srgbClr val="754B87"/>
                  </a:solidFill>
                  <a:latin typeface="Arial"/>
                </a:defRPr>
              </a:pPr>
            </a:p>
          </p:txBody>
        </p:sp>
        <p:sp>
          <p:nvSpPr>
            <p:cNvPr id="56" name="TextBox 55"/>
            <p:cNvSpPr txBox="1"/>
            <p:nvPr/>
          </p:nvSpPr>
          <p:spPr>
            <a:xfrm>
              <a:off x="11200638" y="3401567"/>
              <a:ext cx="398525" cy="347472"/>
            </a:xfrm>
            <a:prstGeom prst="rect">
              <a:avLst/>
            </a:prstGeom>
            <a:noFill/>
          </p:spPr>
          <p:txBody>
            <a:bodyPr wrap="none" lIns="0" rIns="0" tIns="0" bIns="0" anchor="ctr">
              <a:spAutoFit/>
            </a:bodyPr>
            <a:lstStyle/>
            <a:p>
              <a:pPr algn="ctr">
                <a:defRPr sz="2400" b="0">
                  <a:solidFill>
                    <a:srgbClr val="182B3A"/>
                  </a:solidFill>
                  <a:latin typeface="Arial"/>
                </a:defRPr>
              </a:pPr>
              <a:r>
                <a:t>8</a:t>
              </a:r>
            </a:p>
          </p:txBody>
        </p:sp>
        <p:sp>
          <p:nvSpPr>
            <p:cNvPr id="57" name="TextBox 56"/>
            <p:cNvSpPr txBox="1"/>
            <p:nvPr/>
          </p:nvSpPr>
          <p:spPr>
            <a:xfrm>
              <a:off x="11200638" y="3008375"/>
              <a:ext cx="398525" cy="320040"/>
            </a:xfrm>
            <a:prstGeom prst="rect">
              <a:avLst/>
            </a:prstGeom>
            <a:noFill/>
          </p:spPr>
          <p:txBody>
            <a:bodyPr wrap="none" lIns="0" rIns="0" tIns="0" bIns="0" anchor="ctr">
              <a:spAutoFit/>
            </a:bodyPr>
            <a:lstStyle/>
            <a:p>
              <a:pPr algn="ctr">
                <a:defRPr sz="2400" b="1">
                  <a:solidFill>
                    <a:srgbClr val="754B87"/>
                  </a:solidFill>
                  <a:latin typeface="Arial"/>
                </a:defRPr>
              </a:pPr>
              <a:r>
                <a:t>3</a:t>
              </a:r>
            </a:p>
          </p:txBody>
        </p:sp>
        <p:sp>
          <p:nvSpPr>
            <p:cNvPr id="58" name="TextBox 57"/>
            <p:cNvSpPr txBox="1"/>
            <p:nvPr/>
          </p:nvSpPr>
          <p:spPr>
            <a:xfrm>
              <a:off x="11110112" y="3374135"/>
              <a:ext cx="164592" cy="164592"/>
            </a:xfrm>
            <a:prstGeom prst="rect">
              <a:avLst/>
            </a:prstGeom>
            <a:noFill/>
          </p:spPr>
          <p:txBody>
            <a:bodyPr wrap="none" lIns="0" rIns="0" tIns="0" bIns="0" anchor="ctr">
              <a:spAutoFit/>
            </a:bodyPr>
            <a:lstStyle/>
            <a:p>
              <a:pPr algn="ctr">
                <a:defRPr sz="1100" b="1">
                  <a:solidFill>
                    <a:srgbClr val="B14F00"/>
                  </a:solidFill>
                  <a:latin typeface="Arial"/>
                </a:defRPr>
              </a:pPr>
              <a:r>
                <a:t>4</a:t>
              </a:r>
            </a:p>
          </p:txBody>
        </p:sp>
        <p:sp>
          <p:nvSpPr>
            <p:cNvPr id="59" name="TextBox 58"/>
            <p:cNvSpPr txBox="1"/>
            <p:nvPr/>
          </p:nvSpPr>
          <p:spPr>
            <a:xfrm>
              <a:off x="11599163" y="3401567"/>
              <a:ext cx="398525" cy="347472"/>
            </a:xfrm>
            <a:prstGeom prst="rect">
              <a:avLst/>
            </a:prstGeom>
            <a:noFill/>
          </p:spPr>
          <p:txBody>
            <a:bodyPr wrap="none" lIns="0" rIns="0" tIns="0" bIns="0" anchor="ctr">
              <a:spAutoFit/>
            </a:bodyPr>
            <a:lstStyle/>
            <a:p>
              <a:pPr algn="ctr">
                <a:defRPr sz="2400" b="0">
                  <a:solidFill>
                    <a:srgbClr val="182B3A"/>
                  </a:solidFill>
                  <a:latin typeface="Arial"/>
                </a:defRPr>
              </a:pPr>
              <a:r>
                <a:t>3</a:t>
              </a:r>
            </a:p>
          </p:txBody>
        </p:sp>
        <p:sp>
          <p:nvSpPr>
            <p:cNvPr id="60" name="TextBox 59"/>
            <p:cNvSpPr txBox="1"/>
            <p:nvPr/>
          </p:nvSpPr>
          <p:spPr>
            <a:xfrm>
              <a:off x="11599163" y="3008375"/>
              <a:ext cx="398525" cy="320040"/>
            </a:xfrm>
            <a:prstGeom prst="rect">
              <a:avLst/>
            </a:prstGeom>
            <a:noFill/>
          </p:spPr>
          <p:txBody>
            <a:bodyPr wrap="none" lIns="0" rIns="0" tIns="0" bIns="0" anchor="ctr">
              <a:spAutoFit/>
            </a:bodyPr>
            <a:lstStyle/>
            <a:p>
              <a:pPr algn="ctr">
                <a:defRPr sz="2400" b="1">
                  <a:solidFill>
                    <a:srgbClr val="754B87"/>
                  </a:solidFill>
                  <a:latin typeface="Arial"/>
                </a:defRPr>
              </a:pPr>
              <a:r>
                <a:t>0</a:t>
              </a:r>
            </a:p>
          </p:txBody>
        </p:sp>
        <p:sp>
          <p:nvSpPr>
            <p:cNvPr id="61" name="TextBox 60"/>
            <p:cNvSpPr txBox="1"/>
            <p:nvPr/>
          </p:nvSpPr>
          <p:spPr>
            <a:xfrm>
              <a:off x="11997689" y="3401567"/>
              <a:ext cx="398525" cy="347472"/>
            </a:xfrm>
            <a:prstGeom prst="rect">
              <a:avLst/>
            </a:prstGeom>
            <a:noFill/>
          </p:spPr>
          <p:txBody>
            <a:bodyPr wrap="none" lIns="0" rIns="0" tIns="0" bIns="0" anchor="ctr">
              <a:spAutoFit/>
            </a:bodyPr>
            <a:lstStyle/>
            <a:p>
              <a:pPr algn="ctr">
                <a:defRPr sz="2400" b="0">
                  <a:solidFill>
                    <a:srgbClr val="182B3A"/>
                  </a:solidFill>
                  <a:latin typeface="Arial"/>
                </a:defRPr>
              </a:pPr>
              <a:r>
                <a:t>4</a:t>
              </a:r>
            </a:p>
          </p:txBody>
        </p:sp>
        <p:sp>
          <p:nvSpPr>
            <p:cNvPr id="62" name="TextBox 61"/>
            <p:cNvSpPr txBox="1"/>
            <p:nvPr/>
          </p:nvSpPr>
          <p:spPr>
            <a:xfrm>
              <a:off x="11997689" y="3008375"/>
              <a:ext cx="398525" cy="320040"/>
            </a:xfrm>
            <a:prstGeom prst="rect">
              <a:avLst/>
            </a:prstGeom>
            <a:noFill/>
          </p:spPr>
          <p:txBody>
            <a:bodyPr wrap="none" lIns="0" rIns="0" tIns="0" bIns="0" anchor="ctr">
              <a:spAutoFit/>
            </a:bodyPr>
            <a:lstStyle/>
            <a:p>
              <a:pPr algn="ctr">
                <a:defRPr sz="2400" b="1">
                  <a:solidFill>
                    <a:srgbClr val="754B87"/>
                  </a:solidFill>
                  <a:latin typeface="Arial"/>
                </a:defRPr>
              </a:pPr>
              <a:r>
                <a:t>2</a:t>
              </a:r>
            </a:p>
          </p:txBody>
        </p:sp>
        <p:sp>
          <p:nvSpPr>
            <p:cNvPr id="63" name="TextBox 62"/>
            <p:cNvSpPr txBox="1"/>
            <p:nvPr/>
          </p:nvSpPr>
          <p:spPr>
            <a:xfrm>
              <a:off x="11907164" y="3374135"/>
              <a:ext cx="164592" cy="164592"/>
            </a:xfrm>
            <a:prstGeom prst="rect">
              <a:avLst/>
            </a:prstGeom>
            <a:noFill/>
          </p:spPr>
          <p:txBody>
            <a:bodyPr wrap="none" lIns="0" rIns="0" tIns="0" bIns="0" anchor="ctr">
              <a:spAutoFit/>
            </a:bodyPr>
            <a:lstStyle/>
            <a:p>
              <a:pPr algn="ctr">
                <a:defRPr sz="1100" b="1">
                  <a:solidFill>
                    <a:srgbClr val="B14F00"/>
                  </a:solidFill>
                  <a:latin typeface="Arial"/>
                </a:defRPr>
              </a:pPr>
              <a:r>
                <a:t>3</a:t>
              </a:r>
            </a:p>
          </p:txBody>
        </p:sp>
        <p:sp>
          <p:nvSpPr>
            <p:cNvPr id="64" name="TextBox 63"/>
            <p:cNvSpPr txBox="1"/>
            <p:nvPr/>
          </p:nvSpPr>
          <p:spPr>
            <a:xfrm>
              <a:off x="12396215" y="3401567"/>
              <a:ext cx="398525" cy="347472"/>
            </a:xfrm>
            <a:prstGeom prst="rect">
              <a:avLst/>
            </a:prstGeom>
            <a:noFill/>
          </p:spPr>
          <p:txBody>
            <a:bodyPr wrap="none" lIns="0" rIns="0" tIns="0" bIns="0" anchor="ctr">
              <a:spAutoFit/>
            </a:bodyPr>
            <a:lstStyle/>
            <a:p>
              <a:pPr algn="ctr">
                <a:defRPr sz="2400" b="0">
                  <a:solidFill>
                    <a:srgbClr val="182B3A"/>
                  </a:solidFill>
                  <a:latin typeface="Arial"/>
                </a:defRPr>
              </a:pPr>
              <a:r>
                <a:t>.</a:t>
              </a:r>
            </a:p>
          </p:txBody>
        </p:sp>
        <p:sp>
          <p:nvSpPr>
            <p:cNvPr id="65" name="TextBox 64"/>
            <p:cNvSpPr txBox="1"/>
            <p:nvPr/>
          </p:nvSpPr>
          <p:spPr>
            <a:xfrm>
              <a:off x="12396215" y="3008375"/>
              <a:ext cx="398525" cy="320040"/>
            </a:xfrm>
            <a:prstGeom prst="rect">
              <a:avLst/>
            </a:prstGeom>
            <a:noFill/>
          </p:spPr>
          <p:txBody>
            <a:bodyPr wrap="none" lIns="0" rIns="0" tIns="0" bIns="0" anchor="ctr">
              <a:spAutoFit/>
            </a:bodyPr>
            <a:lstStyle/>
            <a:p>
              <a:pPr algn="ctr">
                <a:defRPr sz="2400" b="1">
                  <a:solidFill>
                    <a:srgbClr val="754B87"/>
                  </a:solidFill>
                  <a:latin typeface="Arial"/>
                </a:defRPr>
              </a:pPr>
              <a:r>
                <a:t>.</a:t>
              </a:r>
            </a:p>
          </p:txBody>
        </p:sp>
        <p:sp>
          <p:nvSpPr>
            <p:cNvPr id="66" name="TextBox 65"/>
            <p:cNvSpPr txBox="1"/>
            <p:nvPr/>
          </p:nvSpPr>
          <p:spPr>
            <a:xfrm>
              <a:off x="12794742" y="3401567"/>
              <a:ext cx="398525" cy="347472"/>
            </a:xfrm>
            <a:prstGeom prst="rect">
              <a:avLst/>
            </a:prstGeom>
            <a:noFill/>
          </p:spPr>
          <p:txBody>
            <a:bodyPr wrap="none" lIns="0" rIns="0" tIns="0" bIns="0" anchor="ctr">
              <a:spAutoFit/>
            </a:bodyPr>
            <a:lstStyle/>
            <a:p>
              <a:pPr algn="ctr">
                <a:defRPr sz="2400" b="0">
                  <a:solidFill>
                    <a:srgbClr val="182B3A"/>
                  </a:solidFill>
                  <a:latin typeface="Arial"/>
                </a:defRPr>
              </a:pPr>
              <a:r>
                <a:t>0</a:t>
              </a:r>
            </a:p>
          </p:txBody>
        </p:sp>
        <p:sp>
          <p:nvSpPr>
            <p:cNvPr id="67" name="TextBox 66"/>
            <p:cNvSpPr txBox="1"/>
            <p:nvPr/>
          </p:nvSpPr>
          <p:spPr>
            <a:xfrm>
              <a:off x="12794742" y="3008375"/>
              <a:ext cx="398525" cy="320040"/>
            </a:xfrm>
            <a:prstGeom prst="rect">
              <a:avLst/>
            </a:prstGeom>
            <a:noFill/>
          </p:spPr>
          <p:txBody>
            <a:bodyPr wrap="none" lIns="0" rIns="0" tIns="0" bIns="0" anchor="ctr">
              <a:spAutoFit/>
            </a:bodyPr>
            <a:lstStyle/>
            <a:p>
              <a:pPr algn="ctr">
                <a:defRPr sz="2400" b="1">
                  <a:solidFill>
                    <a:srgbClr val="754B87"/>
                  </a:solidFill>
                  <a:latin typeface="Arial"/>
                </a:defRPr>
              </a:pPr>
              <a:r>
                <a:t>1</a:t>
              </a:r>
            </a:p>
          </p:txBody>
        </p:sp>
        <p:sp>
          <p:nvSpPr>
            <p:cNvPr id="68" name="TextBox 67"/>
            <p:cNvSpPr txBox="1"/>
            <p:nvPr/>
          </p:nvSpPr>
          <p:spPr>
            <a:xfrm>
              <a:off x="12704216" y="3374135"/>
              <a:ext cx="164592" cy="164592"/>
            </a:xfrm>
            <a:prstGeom prst="rect">
              <a:avLst/>
            </a:prstGeom>
            <a:noFill/>
          </p:spPr>
          <p:txBody>
            <a:bodyPr wrap="none" lIns="0" rIns="0" tIns="0" bIns="0" anchor="ctr">
              <a:spAutoFit/>
            </a:bodyPr>
            <a:lstStyle/>
            <a:p>
              <a:pPr algn="ctr">
                <a:defRPr sz="1100" b="1">
                  <a:solidFill>
                    <a:srgbClr val="B14F00"/>
                  </a:solidFill>
                  <a:latin typeface="Arial"/>
                </a:defRPr>
              </a:pPr>
              <a:r>
                <a:t>2</a:t>
              </a:r>
            </a:p>
          </p:txBody>
        </p:sp>
        <p:sp>
          <p:nvSpPr>
            <p:cNvPr id="69" name="TextBox 68"/>
            <p:cNvSpPr txBox="1"/>
            <p:nvPr/>
          </p:nvSpPr>
          <p:spPr>
            <a:xfrm>
              <a:off x="13193267" y="3401567"/>
              <a:ext cx="398525" cy="347472"/>
            </a:xfrm>
            <a:prstGeom prst="rect">
              <a:avLst/>
            </a:prstGeom>
            <a:noFill/>
          </p:spPr>
          <p:txBody>
            <a:bodyPr wrap="none" lIns="0" rIns="0" tIns="0" bIns="0" anchor="ctr">
              <a:spAutoFit/>
            </a:bodyPr>
            <a:lstStyle/>
            <a:p>
              <a:pPr algn="ctr">
                <a:defRPr sz="2400" b="0">
                  <a:solidFill>
                    <a:srgbClr val="182B3A"/>
                  </a:solidFill>
                  <a:latin typeface="Arial"/>
                </a:defRPr>
              </a:pPr>
              <a:r>
                <a:t>0</a:t>
              </a:r>
            </a:p>
          </p:txBody>
        </p:sp>
        <p:sp>
          <p:nvSpPr>
            <p:cNvPr id="70" name="TextBox 69"/>
            <p:cNvSpPr txBox="1"/>
            <p:nvPr/>
          </p:nvSpPr>
          <p:spPr>
            <a:xfrm>
              <a:off x="13193267" y="3008375"/>
              <a:ext cx="398525" cy="320040"/>
            </a:xfrm>
            <a:prstGeom prst="rect">
              <a:avLst/>
            </a:prstGeom>
            <a:noFill/>
          </p:spPr>
          <p:txBody>
            <a:bodyPr wrap="none" lIns="0" rIns="0" tIns="0" bIns="0" anchor="ctr">
              <a:spAutoFit/>
            </a:bodyPr>
            <a:lstStyle/>
            <a:p>
              <a:pPr algn="ctr">
                <a:defRPr sz="2400" b="1">
                  <a:solidFill>
                    <a:srgbClr val="754B87"/>
                  </a:solidFill>
                  <a:latin typeface="Arial"/>
                </a:defRPr>
              </a:pPr>
              <a:r>
                <a:t>2</a:t>
              </a:r>
            </a:p>
          </p:txBody>
        </p:sp>
        <p:sp>
          <p:nvSpPr>
            <p:cNvPr id="71" name="TextBox 70"/>
            <p:cNvSpPr txBox="1"/>
            <p:nvPr/>
          </p:nvSpPr>
          <p:spPr>
            <a:xfrm>
              <a:off x="13102742" y="3374135"/>
              <a:ext cx="164592" cy="164592"/>
            </a:xfrm>
            <a:prstGeom prst="rect">
              <a:avLst/>
            </a:prstGeom>
            <a:noFill/>
          </p:spPr>
          <p:txBody>
            <a:bodyPr wrap="none" lIns="0" rIns="0" tIns="0" bIns="0" anchor="ctr">
              <a:spAutoFit/>
            </a:bodyPr>
            <a:lstStyle/>
            <a:p>
              <a:pPr algn="ctr">
                <a:defRPr sz="1100" b="1">
                  <a:solidFill>
                    <a:srgbClr val="B14F00"/>
                  </a:solidFill>
                  <a:latin typeface="Arial"/>
                </a:defRPr>
              </a:pPr>
              <a:r>
                <a:t>4</a:t>
              </a:r>
            </a:p>
          </p:txBody>
        </p:sp>
        <p:sp>
          <p:nvSpPr>
            <p:cNvPr id="72" name="TextBox 71"/>
            <p:cNvSpPr txBox="1"/>
            <p:nvPr/>
          </p:nvSpPr>
          <p:spPr>
            <a:xfrm>
              <a:off x="13591794" y="3401567"/>
              <a:ext cx="398525" cy="347472"/>
            </a:xfrm>
            <a:prstGeom prst="rect">
              <a:avLst/>
            </a:prstGeom>
            <a:noFill/>
          </p:spPr>
          <p:txBody>
            <a:bodyPr wrap="none" lIns="0" rIns="0" tIns="0" bIns="0" anchor="ctr">
              <a:spAutoFit/>
            </a:bodyPr>
            <a:lstStyle/>
            <a:p>
              <a:pPr algn="ctr">
                <a:defRPr sz="2400" b="0">
                  <a:solidFill>
                    <a:srgbClr val="182B3A"/>
                  </a:solidFill>
                  <a:latin typeface="Arial"/>
                </a:defRPr>
              </a:pPr>
              <a:r>
                <a:t>0</a:t>
              </a:r>
            </a:p>
          </p:txBody>
        </p:sp>
        <p:sp>
          <p:nvSpPr>
            <p:cNvPr id="73" name="TextBox 72"/>
            <p:cNvSpPr txBox="1"/>
            <p:nvPr/>
          </p:nvSpPr>
          <p:spPr>
            <a:xfrm>
              <a:off x="13591794" y="3008375"/>
              <a:ext cx="398525" cy="320040"/>
            </a:xfrm>
            <a:prstGeom prst="rect">
              <a:avLst/>
            </a:prstGeom>
            <a:noFill/>
          </p:spPr>
          <p:txBody>
            <a:bodyPr wrap="none" lIns="0" rIns="0" tIns="0" bIns="0" anchor="ctr">
              <a:spAutoFit/>
            </a:bodyPr>
            <a:lstStyle/>
            <a:p>
              <a:pPr algn="ctr">
                <a:defRPr sz="2400" b="1">
                  <a:solidFill>
                    <a:srgbClr val="754B87"/>
                  </a:solidFill>
                  <a:latin typeface="Arial"/>
                </a:defRPr>
              </a:pPr>
              <a:r>
                <a:t>5</a:t>
              </a:r>
            </a:p>
          </p:txBody>
        </p:sp>
        <p:sp>
          <p:nvSpPr>
            <p:cNvPr id="74" name="TextBox 73"/>
            <p:cNvSpPr txBox="1"/>
            <p:nvPr/>
          </p:nvSpPr>
          <p:spPr>
            <a:xfrm>
              <a:off x="13501268" y="3374135"/>
              <a:ext cx="164592" cy="164592"/>
            </a:xfrm>
            <a:prstGeom prst="rect">
              <a:avLst/>
            </a:prstGeom>
            <a:noFill/>
          </p:spPr>
          <p:txBody>
            <a:bodyPr wrap="none" lIns="0" rIns="0" tIns="0" bIns="0" anchor="ctr">
              <a:spAutoFit/>
            </a:bodyPr>
            <a:lstStyle/>
            <a:p>
              <a:pPr algn="ctr">
                <a:defRPr sz="1100" b="1">
                  <a:solidFill>
                    <a:srgbClr val="B14F00"/>
                  </a:solidFill>
                  <a:latin typeface="Arial"/>
                </a:defRPr>
              </a:pPr>
              <a:r>
                <a:t>8</a:t>
              </a:r>
            </a:p>
          </p:txBody>
        </p:sp>
      </p:grpSp>
      <p:sp>
        <p:nvSpPr>
          <p:cNvPr id="75" name="Rectangle 74"/>
          <p:cNvSpPr/>
          <p:nvPr/>
        </p:nvSpPr>
        <p:spPr>
          <a:xfrm>
            <a:off x="384048" y="3913631"/>
            <a:ext cx="2103120" cy="14173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TextBox 75"/>
          <p:cNvSpPr txBox="1"/>
          <p:nvPr/>
        </p:nvSpPr>
        <p:spPr>
          <a:xfrm>
            <a:off x="448056" y="4005071"/>
            <a:ext cx="1975103" cy="12344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77" name="Rectangle 76"/>
          <p:cNvSpPr/>
          <p:nvPr/>
        </p:nvSpPr>
        <p:spPr>
          <a:xfrm>
            <a:off x="2487168"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TextBox 77"/>
          <p:cNvSpPr txBox="1"/>
          <p:nvPr/>
        </p:nvSpPr>
        <p:spPr>
          <a:xfrm>
            <a:off x="2551175"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6 ÷ 3 = 2. Write 2 above 6.</a:t>
            </a:r>
          </a:p>
          <a:p>
            <a:pPr>
              <a:lnSpc>
                <a:spcPts val="1944"/>
              </a:lnSpc>
              <a:spcBef>
                <a:spcPts val="0"/>
              </a:spcBef>
              <a:spcAft>
                <a:spcPts val="0"/>
              </a:spcAft>
              <a:defRPr sz="1800" b="0">
                <a:solidFill>
                  <a:srgbClr val="182B3A"/>
                </a:solidFill>
                <a:latin typeface="Arial"/>
              </a:defRPr>
            </a:pPr>
            <a:r>
              <a:t>3 ÷ 3 = 1. Write 1 above 3.</a:t>
            </a:r>
          </a:p>
        </p:txBody>
      </p:sp>
      <p:sp>
        <p:nvSpPr>
          <p:cNvPr id="79" name="Rectangle 78"/>
          <p:cNvSpPr/>
          <p:nvPr/>
        </p:nvSpPr>
        <p:spPr>
          <a:xfrm>
            <a:off x="6406895"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TextBox 79"/>
          <p:cNvSpPr txBox="1"/>
          <p:nvPr/>
        </p:nvSpPr>
        <p:spPr>
          <a:xfrm>
            <a:off x="6470904"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 ÷ 6 = 0 r 1 → carry 1 to make 14.</a:t>
            </a:r>
          </a:p>
          <a:p>
            <a:pPr>
              <a:lnSpc>
                <a:spcPts val="1944"/>
              </a:lnSpc>
              <a:spcBef>
                <a:spcPts val="0"/>
              </a:spcBef>
              <a:spcAft>
                <a:spcPts val="0"/>
              </a:spcAft>
              <a:defRPr sz="1800" b="0">
                <a:solidFill>
                  <a:srgbClr val="182B3A"/>
                </a:solidFill>
                <a:latin typeface="Arial"/>
              </a:defRPr>
            </a:pPr>
            <a:r>
              <a:t>14 ÷ 6 = 2 r 2 → carry 2 to make 25.</a:t>
            </a:r>
          </a:p>
          <a:p>
            <a:pPr>
              <a:lnSpc>
                <a:spcPts val="1944"/>
              </a:lnSpc>
              <a:spcBef>
                <a:spcPts val="0"/>
              </a:spcBef>
              <a:spcAft>
                <a:spcPts val="0"/>
              </a:spcAft>
              <a:defRPr sz="1800" b="0">
                <a:solidFill>
                  <a:srgbClr val="182B3A"/>
                </a:solidFill>
                <a:latin typeface="Arial"/>
              </a:defRPr>
            </a:pPr>
            <a:r>
              <a:t>25 ÷ 6 = 4 r 1.</a:t>
            </a:r>
          </a:p>
        </p:txBody>
      </p:sp>
      <p:sp>
        <p:nvSpPr>
          <p:cNvPr id="81" name="Rectangle 80"/>
          <p:cNvSpPr/>
          <p:nvPr/>
        </p:nvSpPr>
        <p:spPr>
          <a:xfrm>
            <a:off x="10326624"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TextBox 81"/>
          <p:cNvSpPr txBox="1"/>
          <p:nvPr/>
        </p:nvSpPr>
        <p:spPr>
          <a:xfrm>
            <a:off x="10390632"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 ÷ 16 = 0 r 4 → make 48.</a:t>
            </a:r>
          </a:p>
          <a:p>
            <a:pPr>
              <a:lnSpc>
                <a:spcPts val="1944"/>
              </a:lnSpc>
              <a:spcBef>
                <a:spcPts val="0"/>
              </a:spcBef>
              <a:spcAft>
                <a:spcPts val="0"/>
              </a:spcAft>
              <a:defRPr sz="1800" b="0">
                <a:solidFill>
                  <a:srgbClr val="182B3A"/>
                </a:solidFill>
                <a:latin typeface="Arial"/>
              </a:defRPr>
            </a:pPr>
            <a:r>
              <a:t>48 ÷ 16 = 3; next digit is 3.</a:t>
            </a:r>
          </a:p>
          <a:p>
            <a:pPr>
              <a:lnSpc>
                <a:spcPts val="1944"/>
              </a:lnSpc>
              <a:spcBef>
                <a:spcPts val="0"/>
              </a:spcBef>
              <a:spcAft>
                <a:spcPts val="0"/>
              </a:spcAft>
              <a:defRPr sz="1800" b="0">
                <a:solidFill>
                  <a:srgbClr val="182B3A"/>
                </a:solidFill>
                <a:latin typeface="Arial"/>
              </a:defRPr>
            </a:pPr>
            <a:r>
              <a:t>3 ÷ 16 = 0 r 3 → make 34.</a:t>
            </a:r>
          </a:p>
          <a:p>
            <a:pPr>
              <a:lnSpc>
                <a:spcPts val="1944"/>
              </a:lnSpc>
              <a:spcBef>
                <a:spcPts val="0"/>
              </a:spcBef>
              <a:spcAft>
                <a:spcPts val="0"/>
              </a:spcAft>
              <a:defRPr sz="1800" b="0">
                <a:solidFill>
                  <a:srgbClr val="182B3A"/>
                </a:solidFill>
                <a:latin typeface="Arial"/>
              </a:defRPr>
            </a:pPr>
            <a:r>
              <a:t>34 ÷ 16 = 2 r 2.</a:t>
            </a:r>
          </a:p>
        </p:txBody>
      </p:sp>
      <p:sp>
        <p:nvSpPr>
          <p:cNvPr id="83" name="Rectangle 82"/>
          <p:cNvSpPr/>
          <p:nvPr/>
        </p:nvSpPr>
        <p:spPr>
          <a:xfrm>
            <a:off x="384048" y="533095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TextBox 83"/>
          <p:cNvSpPr txBox="1"/>
          <p:nvPr/>
        </p:nvSpPr>
        <p:spPr>
          <a:xfrm>
            <a:off x="448056" y="542239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85" name="Rectangle 84"/>
          <p:cNvSpPr/>
          <p:nvPr/>
        </p:nvSpPr>
        <p:spPr>
          <a:xfrm>
            <a:off x="2487168"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TextBox 85"/>
          <p:cNvSpPr txBox="1"/>
          <p:nvPr/>
        </p:nvSpPr>
        <p:spPr>
          <a:xfrm>
            <a:off x="2551175"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There is no final remainder.</a:t>
            </a:r>
          </a:p>
          <a:p>
            <a:pPr>
              <a:lnSpc>
                <a:spcPts val="2052"/>
              </a:lnSpc>
              <a:spcBef>
                <a:spcPts val="0"/>
              </a:spcBef>
              <a:spcAft>
                <a:spcPts val="0"/>
              </a:spcAft>
              <a:defRPr sz="1900" b="0">
                <a:solidFill>
                  <a:srgbClr val="182B3A"/>
                </a:solidFill>
                <a:latin typeface="Arial"/>
              </a:defRPr>
            </a:pPr>
            <a:r>
              <a:t>The answer is a whole number.</a:t>
            </a:r>
          </a:p>
        </p:txBody>
      </p:sp>
      <p:sp>
        <p:nvSpPr>
          <p:cNvPr id="87" name="Rectangle 86"/>
          <p:cNvSpPr/>
          <p:nvPr/>
        </p:nvSpPr>
        <p:spPr>
          <a:xfrm>
            <a:off x="6406895"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TextBox 87"/>
          <p:cNvSpPr txBox="1"/>
          <p:nvPr/>
        </p:nvSpPr>
        <p:spPr>
          <a:xfrm>
            <a:off x="6470904"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The final remainder is 1.</a:t>
            </a:r>
          </a:p>
          <a:p>
            <a:pPr>
              <a:lnSpc>
                <a:spcPts val="2052"/>
              </a:lnSpc>
              <a:spcBef>
                <a:spcPts val="0"/>
              </a:spcBef>
              <a:spcAft>
                <a:spcPts val="0"/>
              </a:spcAft>
              <a:defRPr sz="1900" b="0">
                <a:solidFill>
                  <a:srgbClr val="182B3A"/>
                </a:solidFill>
                <a:latin typeface="Arial"/>
              </a:defRPr>
            </a:pPr>
            <a:r>
              <a:t>Write r 1 after the quotient.</a:t>
            </a:r>
          </a:p>
        </p:txBody>
      </p:sp>
      <p:sp>
        <p:nvSpPr>
          <p:cNvPr id="89" name="Rectangle 88"/>
          <p:cNvSpPr/>
          <p:nvPr/>
        </p:nvSpPr>
        <p:spPr>
          <a:xfrm>
            <a:off x="10326624"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0" name="TextBox 89"/>
          <p:cNvSpPr txBox="1"/>
          <p:nvPr/>
        </p:nvSpPr>
        <p:spPr>
          <a:xfrm>
            <a:off x="10390632"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Add a decimal point and zeros.</a:t>
            </a:r>
          </a:p>
          <a:p>
            <a:pPr>
              <a:lnSpc>
                <a:spcPts val="2052"/>
              </a:lnSpc>
              <a:spcBef>
                <a:spcPts val="0"/>
              </a:spcBef>
              <a:spcAft>
                <a:spcPts val="0"/>
              </a:spcAft>
              <a:defRPr sz="1900" b="0">
                <a:solidFill>
                  <a:srgbClr val="182B3A"/>
                </a:solidFill>
                <a:latin typeface="Arial"/>
              </a:defRPr>
            </a:pPr>
            <a:r>
              <a:t>20 ÷ 16 = 1 r 4 → make 40.</a:t>
            </a:r>
          </a:p>
          <a:p>
            <a:pPr>
              <a:lnSpc>
                <a:spcPts val="2052"/>
              </a:lnSpc>
              <a:spcBef>
                <a:spcPts val="0"/>
              </a:spcBef>
              <a:spcAft>
                <a:spcPts val="0"/>
              </a:spcAft>
              <a:defRPr sz="1900" b="0">
                <a:solidFill>
                  <a:srgbClr val="182B3A"/>
                </a:solidFill>
                <a:latin typeface="Arial"/>
              </a:defRPr>
            </a:pPr>
            <a:r>
              <a:t>40 ÷ 16 = 2 r 8 → make 80.</a:t>
            </a:r>
          </a:p>
          <a:p>
            <a:pPr>
              <a:lnSpc>
                <a:spcPts val="2052"/>
              </a:lnSpc>
              <a:spcBef>
                <a:spcPts val="0"/>
              </a:spcBef>
              <a:spcAft>
                <a:spcPts val="0"/>
              </a:spcAft>
              <a:defRPr sz="1900" b="0">
                <a:solidFill>
                  <a:srgbClr val="182B3A"/>
                </a:solidFill>
                <a:latin typeface="Arial"/>
              </a:defRPr>
            </a:pPr>
            <a:r>
              <a:t>80 ÷ 16 = 5. No remainder.</a:t>
            </a:r>
          </a:p>
        </p:txBody>
      </p:sp>
      <p:sp>
        <p:nvSpPr>
          <p:cNvPr id="91" name="Rectangle 90"/>
          <p:cNvSpPr/>
          <p:nvPr/>
        </p:nvSpPr>
        <p:spPr>
          <a:xfrm>
            <a:off x="384048" y="6885431"/>
            <a:ext cx="2103120" cy="77724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2" name="TextBox 91"/>
          <p:cNvSpPr txBox="1"/>
          <p:nvPr/>
        </p:nvSpPr>
        <p:spPr>
          <a:xfrm>
            <a:off x="448056" y="6976871"/>
            <a:ext cx="1975103" cy="59435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93" name="Rectangle 92"/>
          <p:cNvSpPr/>
          <p:nvPr/>
        </p:nvSpPr>
        <p:spPr>
          <a:xfrm>
            <a:off x="2487168"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4" name="TextBox 93"/>
          <p:cNvSpPr txBox="1"/>
          <p:nvPr/>
        </p:nvSpPr>
        <p:spPr>
          <a:xfrm>
            <a:off x="2551175"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63 ÷ 3 = 21</a:t>
            </a:r>
          </a:p>
        </p:txBody>
      </p:sp>
      <p:sp>
        <p:nvSpPr>
          <p:cNvPr id="95" name="Rectangle 94"/>
          <p:cNvSpPr/>
          <p:nvPr/>
        </p:nvSpPr>
        <p:spPr>
          <a:xfrm>
            <a:off x="6406895"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6" name="TextBox 95"/>
          <p:cNvSpPr txBox="1"/>
          <p:nvPr/>
        </p:nvSpPr>
        <p:spPr>
          <a:xfrm>
            <a:off x="6470904"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145 ÷ 6 = 24 r 1</a:t>
            </a:r>
          </a:p>
        </p:txBody>
      </p:sp>
      <p:sp>
        <p:nvSpPr>
          <p:cNvPr id="97" name="Rectangle 96"/>
          <p:cNvSpPr/>
          <p:nvPr/>
        </p:nvSpPr>
        <p:spPr>
          <a:xfrm>
            <a:off x="10326624"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8" name="TextBox 97"/>
          <p:cNvSpPr txBox="1"/>
          <p:nvPr/>
        </p:nvSpPr>
        <p:spPr>
          <a:xfrm>
            <a:off x="10390632"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4,834 ÷ 16 = 302.125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Core: give remainders. Depth: give decimal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2  •  2/7  •  Slide 9</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88 ÷ 4</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130 ÷ 4</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5,122 ÷ 16</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9" name="Rectangle 28"/>
          <p:cNvSpPr/>
          <p:nvPr/>
        </p:nvSpPr>
        <p:spPr>
          <a:xfrm>
            <a:off x="384048" y="3456432"/>
            <a:ext cx="2103120" cy="16002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48056" y="3547872"/>
            <a:ext cx="1975103" cy="14173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31" name="Rectangle 30"/>
          <p:cNvSpPr/>
          <p:nvPr/>
        </p:nvSpPr>
        <p:spPr>
          <a:xfrm>
            <a:off x="2487168"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2551175"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3" name="Rectangle 32"/>
          <p:cNvSpPr/>
          <p:nvPr/>
        </p:nvSpPr>
        <p:spPr>
          <a:xfrm>
            <a:off x="6406895"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6470904"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5" name="Rectangle 34"/>
          <p:cNvSpPr/>
          <p:nvPr/>
        </p:nvSpPr>
        <p:spPr>
          <a:xfrm>
            <a:off x="10326624"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10390632"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7" name="Rectangle 36"/>
          <p:cNvSpPr/>
          <p:nvPr/>
        </p:nvSpPr>
        <p:spPr>
          <a:xfrm>
            <a:off x="384048" y="505663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448056" y="514807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39" name="Rectangle 38"/>
          <p:cNvSpPr/>
          <p:nvPr/>
        </p:nvSpPr>
        <p:spPr>
          <a:xfrm>
            <a:off x="2487168"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2551175"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1" name="Rectangle 40"/>
          <p:cNvSpPr/>
          <p:nvPr/>
        </p:nvSpPr>
        <p:spPr>
          <a:xfrm>
            <a:off x="6406895"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6470904"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3" name="Rectangle 42"/>
          <p:cNvSpPr/>
          <p:nvPr/>
        </p:nvSpPr>
        <p:spPr>
          <a:xfrm>
            <a:off x="10326624"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10390632"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5" name="Rectangle 44"/>
          <p:cNvSpPr/>
          <p:nvPr/>
        </p:nvSpPr>
        <p:spPr>
          <a:xfrm>
            <a:off x="384048" y="6611112"/>
            <a:ext cx="2103120" cy="1097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TextBox 45"/>
          <p:cNvSpPr txBox="1"/>
          <p:nvPr/>
        </p:nvSpPr>
        <p:spPr>
          <a:xfrm>
            <a:off x="448056" y="6702551"/>
            <a:ext cx="1975103" cy="914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47" name="Rectangle 46"/>
          <p:cNvSpPr/>
          <p:nvPr/>
        </p:nvSpPr>
        <p:spPr>
          <a:xfrm>
            <a:off x="2487168"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2551175"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49" name="Rectangle 48"/>
          <p:cNvSpPr/>
          <p:nvPr/>
        </p:nvSpPr>
        <p:spPr>
          <a:xfrm>
            <a:off x="6406895"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6470904"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51" name="Rectangle 50"/>
          <p:cNvSpPr/>
          <p:nvPr/>
        </p:nvSpPr>
        <p:spPr>
          <a:xfrm>
            <a:off x="10326624"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10390632"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Core: give remainders. Depth: give decimal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2  •  3/7  •  Slide 10</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66 ÷ 3</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227 ÷ 6</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3,827 ÷ 25</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9" name="Rectangle 28"/>
          <p:cNvSpPr/>
          <p:nvPr/>
        </p:nvSpPr>
        <p:spPr>
          <a:xfrm>
            <a:off x="384048" y="3456432"/>
            <a:ext cx="2103120" cy="16002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48056" y="3547872"/>
            <a:ext cx="1975103" cy="14173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31" name="Rectangle 30"/>
          <p:cNvSpPr/>
          <p:nvPr/>
        </p:nvSpPr>
        <p:spPr>
          <a:xfrm>
            <a:off x="2487168"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2551175"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3" name="Rectangle 32"/>
          <p:cNvSpPr/>
          <p:nvPr/>
        </p:nvSpPr>
        <p:spPr>
          <a:xfrm>
            <a:off x="6406895"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6470904"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5" name="Rectangle 34"/>
          <p:cNvSpPr/>
          <p:nvPr/>
        </p:nvSpPr>
        <p:spPr>
          <a:xfrm>
            <a:off x="10326624"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10390632"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7" name="Rectangle 36"/>
          <p:cNvSpPr/>
          <p:nvPr/>
        </p:nvSpPr>
        <p:spPr>
          <a:xfrm>
            <a:off x="384048" y="505663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448056" y="514807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39" name="Rectangle 38"/>
          <p:cNvSpPr/>
          <p:nvPr/>
        </p:nvSpPr>
        <p:spPr>
          <a:xfrm>
            <a:off x="2487168"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2551175"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1" name="Rectangle 40"/>
          <p:cNvSpPr/>
          <p:nvPr/>
        </p:nvSpPr>
        <p:spPr>
          <a:xfrm>
            <a:off x="6406895"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6470904"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3" name="Rectangle 42"/>
          <p:cNvSpPr/>
          <p:nvPr/>
        </p:nvSpPr>
        <p:spPr>
          <a:xfrm>
            <a:off x="10326624"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10390632"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5" name="Rectangle 44"/>
          <p:cNvSpPr/>
          <p:nvPr/>
        </p:nvSpPr>
        <p:spPr>
          <a:xfrm>
            <a:off x="384048" y="6611112"/>
            <a:ext cx="2103120" cy="1097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TextBox 45"/>
          <p:cNvSpPr txBox="1"/>
          <p:nvPr/>
        </p:nvSpPr>
        <p:spPr>
          <a:xfrm>
            <a:off x="448056" y="6702551"/>
            <a:ext cx="1975103" cy="914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47" name="Rectangle 46"/>
          <p:cNvSpPr/>
          <p:nvPr/>
        </p:nvSpPr>
        <p:spPr>
          <a:xfrm>
            <a:off x="2487168"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2551175"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49" name="Rectangle 48"/>
          <p:cNvSpPr/>
          <p:nvPr/>
        </p:nvSpPr>
        <p:spPr>
          <a:xfrm>
            <a:off x="6406895"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6470904"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51" name="Rectangle 50"/>
          <p:cNvSpPr/>
          <p:nvPr/>
        </p:nvSpPr>
        <p:spPr>
          <a:xfrm>
            <a:off x="10326624"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10390632"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2  •  4/7  •  Slide 11</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48 ÷ 4</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69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 ÷ 2</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 ÷ 3</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55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 ÷ 8</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 ÷ 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135 ÷ 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172 ÷ 4</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218 ÷ 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341 ÷ 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502 ÷ 8</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514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785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1,428 ÷ 12</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3,816 ÷ 24</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4,516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8,143 ÷ 25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2  •  5/7  •  Slide 12</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66 ÷ 6</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884 ÷ 4</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555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639 ÷ 3</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 ÷ 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156 ÷ 4</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235 ÷ 6</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326 ÷ 7</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458 ÷ 8</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617 ÷ 9</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627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943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2,136 ÷ 12</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4,608 ÷ 32</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5,729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9,031 ÷ 40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2  •  6/7  •  Slide 13</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963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848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777 ÷ 7</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888 ÷ 8</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606 ÷ 3</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95 ÷ 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184 ÷ 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267 ÷ 8</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397 ÷ 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523 ÷ 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748 ÷ 9</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738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859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3,264 ÷ 24</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5,175 ÷ 15</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6,843 ÷ 25</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7,249 ÷ 20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2  •  7/7  •  Slide 14</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936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448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505 ÷ 5</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666 ÷ 6</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999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108 ÷ 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245 ÷ 6</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314 ÷ 7</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467 ÷ 8</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586 ÷ 9</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703 ÷ 5</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849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967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4,374 ÷ 18</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6,288 ÷ 48</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7,957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8,623 ÷ 50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Choose the calculation, use a written method, then check.</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3  •  1/7  •  Slide 15</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84 tins are shared equally among 4 boxes. How many tins go in each box?</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130 biscuits are packed in packs of 6. How many completely full packs can be made?</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145 students need minibuses with 9 passenger seats each. Hire costs £40 per minibus. Find the total cost.</a:t>
            </a:r>
          </a:p>
        </p:txBody>
      </p:sp>
      <p:sp>
        <p:nvSpPr>
          <p:cNvPr id="21" name="Rectangle 20"/>
          <p:cNvSpPr/>
          <p:nvPr/>
        </p:nvSpPr>
        <p:spPr>
          <a:xfrm>
            <a:off x="384048" y="2862072"/>
            <a:ext cx="2103120" cy="9601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448056" y="2953512"/>
            <a:ext cx="1975103" cy="7772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2551175"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“shared equally” among 4 boxes</a:t>
            </a:r>
          </a:p>
          <a:p>
            <a:pPr>
              <a:lnSpc>
                <a:spcPts val="1836"/>
              </a:lnSpc>
              <a:spcBef>
                <a:spcPts val="0"/>
              </a:spcBef>
              <a:spcAft>
                <a:spcPts val="0"/>
              </a:spcAft>
              <a:defRPr sz="1700" b="0">
                <a:solidFill>
                  <a:srgbClr val="182B3A"/>
                </a:solidFill>
                <a:latin typeface="Arial"/>
              </a:defRPr>
            </a:pPr>
            <a:r>
              <a:t>84 ÷ 4</a:t>
            </a:r>
          </a:p>
        </p:txBody>
      </p:sp>
      <p:sp>
        <p:nvSpPr>
          <p:cNvPr id="25" name="Rectangle 24"/>
          <p:cNvSpPr/>
          <p:nvPr/>
        </p:nvSpPr>
        <p:spPr>
          <a:xfrm>
            <a:off x="6406895"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6470904"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“packs of 6”; “completely full”</a:t>
            </a:r>
          </a:p>
          <a:p>
            <a:pPr>
              <a:lnSpc>
                <a:spcPts val="1836"/>
              </a:lnSpc>
              <a:spcBef>
                <a:spcPts val="0"/>
              </a:spcBef>
              <a:spcAft>
                <a:spcPts val="0"/>
              </a:spcAft>
              <a:defRPr sz="1700" b="0">
                <a:solidFill>
                  <a:srgbClr val="182B3A"/>
                </a:solidFill>
                <a:latin typeface="Arial"/>
              </a:defRPr>
            </a:pPr>
            <a:r>
              <a:t>130 ÷ 6</a:t>
            </a:r>
          </a:p>
        </p:txBody>
      </p:sp>
      <p:sp>
        <p:nvSpPr>
          <p:cNvPr id="27" name="Rectangle 26"/>
          <p:cNvSpPr/>
          <p:nvPr/>
        </p:nvSpPr>
        <p:spPr>
          <a:xfrm>
            <a:off x="10326624"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10390632"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“9 passenger seats”; “£40 per minibus”</a:t>
            </a:r>
          </a:p>
          <a:p>
            <a:pPr>
              <a:lnSpc>
                <a:spcPts val="1836"/>
              </a:lnSpc>
              <a:spcBef>
                <a:spcPts val="0"/>
              </a:spcBef>
              <a:spcAft>
                <a:spcPts val="0"/>
              </a:spcAft>
              <a:defRPr sz="1700" b="0">
                <a:solidFill>
                  <a:srgbClr val="182B3A"/>
                </a:solidFill>
                <a:latin typeface="Arial"/>
              </a:defRPr>
            </a:pPr>
            <a:r>
              <a:t>145 ÷ 9, then buses × 40</a:t>
            </a:r>
          </a:p>
        </p:txBody>
      </p:sp>
      <p:sp>
        <p:nvSpPr>
          <p:cNvPr id="29" name="Rectangle 28"/>
          <p:cNvSpPr/>
          <p:nvPr/>
        </p:nvSpPr>
        <p:spPr>
          <a:xfrm>
            <a:off x="384048" y="3822191"/>
            <a:ext cx="2103120" cy="2240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48056" y="3913631"/>
            <a:ext cx="1975103" cy="2057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2551175" y="3886200"/>
            <a:ext cx="3791712" cy="10241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8 ÷ 4 = 2; 4 ÷ 4 = 1.</a:t>
            </a:r>
          </a:p>
          <a:p>
            <a:pPr>
              <a:lnSpc>
                <a:spcPts val="1836"/>
              </a:lnSpc>
              <a:spcBef>
                <a:spcPts val="0"/>
              </a:spcBef>
              <a:spcAft>
                <a:spcPts val="0"/>
              </a:spcAft>
              <a:defRPr sz="1700" b="0">
                <a:solidFill>
                  <a:srgbClr val="182B3A"/>
                </a:solidFill>
                <a:latin typeface="Arial"/>
              </a:defRPr>
            </a:pPr>
            <a:r>
              <a:t>84 ÷ 4 = 21.</a:t>
            </a:r>
          </a:p>
        </p:txBody>
      </p:sp>
      <p:grpSp>
        <p:nvGrpSpPr>
          <p:cNvPr id="33" name="Editable bus stop 84 ÷ 4"/>
          <p:cNvGrpSpPr/>
          <p:nvPr/>
        </p:nvGrpSpPr>
        <p:grpSpPr>
          <a:xfrm>
            <a:off x="3633216" y="5102352"/>
            <a:ext cx="1426463" cy="758952"/>
            <a:chOff x="3633216" y="5102352"/>
            <a:chExt cx="1426463" cy="758952"/>
          </a:xfrm>
        </p:grpSpPr>
        <p:cxnSp>
          <p:nvCxnSpPr>
            <p:cNvPr id="34" name="Connector 33"/>
            <p:cNvCxnSpPr/>
            <p:nvPr/>
          </p:nvCxnSpPr>
          <p:spPr>
            <a:xfrm>
              <a:off x="4035552" y="5477256"/>
              <a:ext cx="1024127"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035552" y="547725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3633216" y="5495544"/>
              <a:ext cx="347472" cy="347472"/>
            </a:xfrm>
            <a:prstGeom prst="rect">
              <a:avLst/>
            </a:prstGeom>
            <a:noFill/>
          </p:spPr>
          <p:txBody>
            <a:bodyPr wrap="none" lIns="0" rIns="0" tIns="0" bIns="0" anchor="ctr">
              <a:spAutoFit/>
            </a:bodyPr>
            <a:lstStyle/>
            <a:p>
              <a:pPr algn="ctr">
                <a:defRPr sz="2400" b="1">
                  <a:solidFill>
                    <a:srgbClr val="176B73"/>
                  </a:solidFill>
                  <a:latin typeface="Arial"/>
                </a:defRPr>
              </a:pPr>
              <a:r>
                <a:t>4</a:t>
              </a:r>
            </a:p>
          </p:txBody>
        </p:sp>
        <p:sp>
          <p:nvSpPr>
            <p:cNvPr id="37" name="TextBox 36"/>
            <p:cNvSpPr txBox="1"/>
            <p:nvPr/>
          </p:nvSpPr>
          <p:spPr>
            <a:xfrm>
              <a:off x="4108704" y="5495544"/>
              <a:ext cx="448056" cy="347472"/>
            </a:xfrm>
            <a:prstGeom prst="rect">
              <a:avLst/>
            </a:prstGeom>
            <a:noFill/>
          </p:spPr>
          <p:txBody>
            <a:bodyPr wrap="none" lIns="0" rIns="0" tIns="0" bIns="0" anchor="ctr">
              <a:spAutoFit/>
            </a:bodyPr>
            <a:lstStyle/>
            <a:p>
              <a:pPr algn="ctr">
                <a:defRPr sz="2400" b="0">
                  <a:solidFill>
                    <a:srgbClr val="182B3A"/>
                  </a:solidFill>
                  <a:latin typeface="Arial"/>
                </a:defRPr>
              </a:pPr>
              <a:r>
                <a:t>8</a:t>
              </a:r>
            </a:p>
          </p:txBody>
        </p:sp>
        <p:sp>
          <p:nvSpPr>
            <p:cNvPr id="38" name="TextBox 37"/>
            <p:cNvSpPr txBox="1"/>
            <p:nvPr/>
          </p:nvSpPr>
          <p:spPr>
            <a:xfrm>
              <a:off x="4108704" y="5102352"/>
              <a:ext cx="448056" cy="320040"/>
            </a:xfrm>
            <a:prstGeom prst="rect">
              <a:avLst/>
            </a:prstGeom>
            <a:noFill/>
          </p:spPr>
          <p:txBody>
            <a:bodyPr wrap="none" lIns="0" rIns="0" tIns="0" bIns="0" anchor="ctr">
              <a:spAutoFit/>
            </a:bodyPr>
            <a:lstStyle/>
            <a:p>
              <a:pPr algn="ctr">
                <a:defRPr sz="2400" b="1">
                  <a:solidFill>
                    <a:srgbClr val="176B73"/>
                  </a:solidFill>
                  <a:latin typeface="Arial"/>
                </a:defRPr>
              </a:pPr>
              <a:r>
                <a:t>2</a:t>
              </a:r>
            </a:p>
          </p:txBody>
        </p:sp>
        <p:sp>
          <p:nvSpPr>
            <p:cNvPr id="39" name="TextBox 38"/>
            <p:cNvSpPr txBox="1"/>
            <p:nvPr/>
          </p:nvSpPr>
          <p:spPr>
            <a:xfrm>
              <a:off x="4556760" y="5495544"/>
              <a:ext cx="448056" cy="347472"/>
            </a:xfrm>
            <a:prstGeom prst="rect">
              <a:avLst/>
            </a:prstGeom>
            <a:noFill/>
          </p:spPr>
          <p:txBody>
            <a:bodyPr wrap="none" lIns="0" rIns="0" tIns="0" bIns="0" anchor="ctr">
              <a:spAutoFit/>
            </a:bodyPr>
            <a:lstStyle/>
            <a:p>
              <a:pPr algn="ctr">
                <a:defRPr sz="2400" b="0">
                  <a:solidFill>
                    <a:srgbClr val="182B3A"/>
                  </a:solidFill>
                  <a:latin typeface="Arial"/>
                </a:defRPr>
              </a:pPr>
              <a:r>
                <a:t>4</a:t>
              </a:r>
            </a:p>
          </p:txBody>
        </p:sp>
        <p:sp>
          <p:nvSpPr>
            <p:cNvPr id="40" name="TextBox 39"/>
            <p:cNvSpPr txBox="1"/>
            <p:nvPr/>
          </p:nvSpPr>
          <p:spPr>
            <a:xfrm>
              <a:off x="4556760" y="5102352"/>
              <a:ext cx="448056" cy="320040"/>
            </a:xfrm>
            <a:prstGeom prst="rect">
              <a:avLst/>
            </a:prstGeom>
            <a:noFill/>
          </p:spPr>
          <p:txBody>
            <a:bodyPr wrap="none" lIns="0" rIns="0" tIns="0" bIns="0" anchor="ctr">
              <a:spAutoFit/>
            </a:bodyPr>
            <a:lstStyle/>
            <a:p>
              <a:pPr algn="ctr">
                <a:defRPr sz="2400" b="1">
                  <a:solidFill>
                    <a:srgbClr val="176B73"/>
                  </a:solidFill>
                  <a:latin typeface="Arial"/>
                </a:defRPr>
              </a:pPr>
              <a:r>
                <a:t>1</a:t>
              </a:r>
            </a:p>
          </p:txBody>
        </p:sp>
      </p:grpSp>
      <p:sp>
        <p:nvSpPr>
          <p:cNvPr id="41" name="Rectangle 40"/>
          <p:cNvSpPr/>
          <p:nvPr/>
        </p:nvSpPr>
        <p:spPr>
          <a:xfrm>
            <a:off x="6406895"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6470904" y="3886200"/>
            <a:ext cx="3791712" cy="10241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13 ÷ 6 = 2 r 1;</a:t>
            </a:r>
          </a:p>
          <a:p>
            <a:pPr>
              <a:lnSpc>
                <a:spcPts val="1836"/>
              </a:lnSpc>
              <a:spcBef>
                <a:spcPts val="0"/>
              </a:spcBef>
              <a:spcAft>
                <a:spcPts val="0"/>
              </a:spcAft>
              <a:defRPr sz="1700" b="0">
                <a:solidFill>
                  <a:srgbClr val="182B3A"/>
                </a:solidFill>
                <a:latin typeface="Arial"/>
              </a:defRPr>
            </a:pPr>
            <a:r>
              <a:t>10 ÷ 6 = 1 r 4. So 130 ÷ 6 = 21 r 4.</a:t>
            </a:r>
          </a:p>
        </p:txBody>
      </p:sp>
      <p:grpSp>
        <p:nvGrpSpPr>
          <p:cNvPr id="43" name="Editable bus stop 130 ÷ 6"/>
          <p:cNvGrpSpPr/>
          <p:nvPr/>
        </p:nvGrpSpPr>
        <p:grpSpPr>
          <a:xfrm>
            <a:off x="7328915" y="5102352"/>
            <a:ext cx="1874521" cy="905256"/>
            <a:chOff x="7328915" y="5102352"/>
            <a:chExt cx="1874521" cy="905256"/>
          </a:xfrm>
        </p:grpSpPr>
        <p:cxnSp>
          <p:nvCxnSpPr>
            <p:cNvPr id="44" name="Connector 43"/>
            <p:cNvCxnSpPr/>
            <p:nvPr/>
          </p:nvCxnSpPr>
          <p:spPr>
            <a:xfrm>
              <a:off x="7731251" y="5477256"/>
              <a:ext cx="147218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7731251" y="547725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7328915" y="5495544"/>
              <a:ext cx="347472" cy="347472"/>
            </a:xfrm>
            <a:prstGeom prst="rect">
              <a:avLst/>
            </a:prstGeom>
            <a:noFill/>
          </p:spPr>
          <p:txBody>
            <a:bodyPr wrap="none" lIns="0" rIns="0" tIns="0" bIns="0" anchor="ctr">
              <a:spAutoFit/>
            </a:bodyPr>
            <a:lstStyle/>
            <a:p>
              <a:pPr algn="ctr">
                <a:defRPr sz="2400" b="1">
                  <a:solidFill>
                    <a:srgbClr val="3559A2"/>
                  </a:solidFill>
                  <a:latin typeface="Arial"/>
                </a:defRPr>
              </a:pPr>
              <a:r>
                <a:t>6</a:t>
              </a:r>
            </a:p>
          </p:txBody>
        </p:sp>
        <p:sp>
          <p:nvSpPr>
            <p:cNvPr id="47" name="TextBox 46"/>
            <p:cNvSpPr txBox="1"/>
            <p:nvPr/>
          </p:nvSpPr>
          <p:spPr>
            <a:xfrm>
              <a:off x="7804403" y="5495544"/>
              <a:ext cx="448056" cy="347472"/>
            </a:xfrm>
            <a:prstGeom prst="rect">
              <a:avLst/>
            </a:prstGeom>
            <a:noFill/>
          </p:spPr>
          <p:txBody>
            <a:bodyPr wrap="none" lIns="0" rIns="0" tIns="0" bIns="0" anchor="ctr">
              <a:spAutoFit/>
            </a:bodyPr>
            <a:lstStyle/>
            <a:p>
              <a:pPr algn="ctr">
                <a:defRPr sz="2400" b="0">
                  <a:solidFill>
                    <a:srgbClr val="182B3A"/>
                  </a:solidFill>
                  <a:latin typeface="Arial"/>
                </a:defRPr>
              </a:pPr>
              <a:r>
                <a:t>1</a:t>
              </a:r>
            </a:p>
          </p:txBody>
        </p:sp>
        <p:sp>
          <p:nvSpPr>
            <p:cNvPr id="48" name="TextBox 47"/>
            <p:cNvSpPr txBox="1"/>
            <p:nvPr/>
          </p:nvSpPr>
          <p:spPr>
            <a:xfrm>
              <a:off x="7804403" y="5102352"/>
              <a:ext cx="448056" cy="320040"/>
            </a:xfrm>
            <a:prstGeom prst="rect">
              <a:avLst/>
            </a:prstGeom>
            <a:noFill/>
          </p:spPr>
          <p:txBody>
            <a:bodyPr wrap="none" lIns="0" rIns="0" tIns="0" bIns="0" anchor="ctr">
              <a:spAutoFit/>
            </a:bodyPr>
            <a:lstStyle/>
            <a:p>
              <a:pPr algn="ctr">
                <a:defRPr sz="2400" b="1">
                  <a:solidFill>
                    <a:srgbClr val="3559A2"/>
                  </a:solidFill>
                  <a:latin typeface="Arial"/>
                </a:defRPr>
              </a:pPr>
            </a:p>
          </p:txBody>
        </p:sp>
        <p:sp>
          <p:nvSpPr>
            <p:cNvPr id="49" name="TextBox 48"/>
            <p:cNvSpPr txBox="1"/>
            <p:nvPr/>
          </p:nvSpPr>
          <p:spPr>
            <a:xfrm>
              <a:off x="8252459" y="5495544"/>
              <a:ext cx="448056" cy="347472"/>
            </a:xfrm>
            <a:prstGeom prst="rect">
              <a:avLst/>
            </a:prstGeom>
            <a:noFill/>
          </p:spPr>
          <p:txBody>
            <a:bodyPr wrap="none" lIns="0" rIns="0" tIns="0" bIns="0" anchor="ctr">
              <a:spAutoFit/>
            </a:bodyPr>
            <a:lstStyle/>
            <a:p>
              <a:pPr algn="ctr">
                <a:defRPr sz="2400" b="0">
                  <a:solidFill>
                    <a:srgbClr val="182B3A"/>
                  </a:solidFill>
                  <a:latin typeface="Arial"/>
                </a:defRPr>
              </a:pPr>
              <a:r>
                <a:t>3</a:t>
              </a:r>
            </a:p>
          </p:txBody>
        </p:sp>
        <p:sp>
          <p:nvSpPr>
            <p:cNvPr id="50" name="TextBox 49"/>
            <p:cNvSpPr txBox="1"/>
            <p:nvPr/>
          </p:nvSpPr>
          <p:spPr>
            <a:xfrm>
              <a:off x="8252459" y="5102352"/>
              <a:ext cx="448056" cy="320040"/>
            </a:xfrm>
            <a:prstGeom prst="rect">
              <a:avLst/>
            </a:prstGeom>
            <a:noFill/>
          </p:spPr>
          <p:txBody>
            <a:bodyPr wrap="none" lIns="0" rIns="0" tIns="0" bIns="0" anchor="ctr">
              <a:spAutoFit/>
            </a:bodyPr>
            <a:lstStyle/>
            <a:p>
              <a:pPr algn="ctr">
                <a:defRPr sz="2400" b="1">
                  <a:solidFill>
                    <a:srgbClr val="3559A2"/>
                  </a:solidFill>
                  <a:latin typeface="Arial"/>
                </a:defRPr>
              </a:pPr>
              <a:r>
                <a:t>2</a:t>
              </a:r>
            </a:p>
          </p:txBody>
        </p:sp>
        <p:sp>
          <p:nvSpPr>
            <p:cNvPr id="51" name="TextBox 50"/>
            <p:cNvSpPr txBox="1"/>
            <p:nvPr/>
          </p:nvSpPr>
          <p:spPr>
            <a:xfrm>
              <a:off x="8161934" y="5468112"/>
              <a:ext cx="164592" cy="164592"/>
            </a:xfrm>
            <a:prstGeom prst="rect">
              <a:avLst/>
            </a:prstGeom>
            <a:noFill/>
          </p:spPr>
          <p:txBody>
            <a:bodyPr wrap="none" lIns="0" rIns="0" tIns="0" bIns="0" anchor="ctr">
              <a:spAutoFit/>
            </a:bodyPr>
            <a:lstStyle/>
            <a:p>
              <a:pPr algn="ctr">
                <a:defRPr sz="1100" b="1">
                  <a:solidFill>
                    <a:srgbClr val="B14F00"/>
                  </a:solidFill>
                  <a:latin typeface="Arial"/>
                </a:defRPr>
              </a:pPr>
              <a:r>
                <a:t>1</a:t>
              </a:r>
            </a:p>
          </p:txBody>
        </p:sp>
        <p:sp>
          <p:nvSpPr>
            <p:cNvPr id="52" name="TextBox 51"/>
            <p:cNvSpPr txBox="1"/>
            <p:nvPr/>
          </p:nvSpPr>
          <p:spPr>
            <a:xfrm>
              <a:off x="8700515" y="5495544"/>
              <a:ext cx="448056" cy="347472"/>
            </a:xfrm>
            <a:prstGeom prst="rect">
              <a:avLst/>
            </a:prstGeom>
            <a:noFill/>
          </p:spPr>
          <p:txBody>
            <a:bodyPr wrap="none" lIns="0" rIns="0" tIns="0" bIns="0" anchor="ctr">
              <a:spAutoFit/>
            </a:bodyPr>
            <a:lstStyle/>
            <a:p>
              <a:pPr algn="ctr">
                <a:defRPr sz="2400" b="0">
                  <a:solidFill>
                    <a:srgbClr val="182B3A"/>
                  </a:solidFill>
                  <a:latin typeface="Arial"/>
                </a:defRPr>
              </a:pPr>
              <a:r>
                <a:t>0</a:t>
              </a:r>
            </a:p>
          </p:txBody>
        </p:sp>
        <p:sp>
          <p:nvSpPr>
            <p:cNvPr id="53" name="TextBox 52"/>
            <p:cNvSpPr txBox="1"/>
            <p:nvPr/>
          </p:nvSpPr>
          <p:spPr>
            <a:xfrm>
              <a:off x="8700515" y="5102352"/>
              <a:ext cx="448056" cy="320040"/>
            </a:xfrm>
            <a:prstGeom prst="rect">
              <a:avLst/>
            </a:prstGeom>
            <a:noFill/>
          </p:spPr>
          <p:txBody>
            <a:bodyPr wrap="none" lIns="0" rIns="0" tIns="0" bIns="0" anchor="ctr">
              <a:spAutoFit/>
            </a:bodyPr>
            <a:lstStyle/>
            <a:p>
              <a:pPr algn="ctr">
                <a:defRPr sz="2400" b="1">
                  <a:solidFill>
                    <a:srgbClr val="3559A2"/>
                  </a:solidFill>
                  <a:latin typeface="Arial"/>
                </a:defRPr>
              </a:pPr>
              <a:r>
                <a:t>1</a:t>
              </a:r>
            </a:p>
          </p:txBody>
        </p:sp>
        <p:sp>
          <p:nvSpPr>
            <p:cNvPr id="54" name="TextBox 53"/>
            <p:cNvSpPr txBox="1"/>
            <p:nvPr/>
          </p:nvSpPr>
          <p:spPr>
            <a:xfrm>
              <a:off x="8609990" y="5468112"/>
              <a:ext cx="164592" cy="164592"/>
            </a:xfrm>
            <a:prstGeom prst="rect">
              <a:avLst/>
            </a:prstGeom>
            <a:noFill/>
          </p:spPr>
          <p:txBody>
            <a:bodyPr wrap="none" lIns="0" rIns="0" tIns="0" bIns="0" anchor="ctr">
              <a:spAutoFit/>
            </a:bodyPr>
            <a:lstStyle/>
            <a:p>
              <a:pPr algn="ctr">
                <a:defRPr sz="1100" b="1">
                  <a:solidFill>
                    <a:srgbClr val="B14F00"/>
                  </a:solidFill>
                  <a:latin typeface="Arial"/>
                </a:defRPr>
              </a:pPr>
              <a:r>
                <a:t>1</a:t>
              </a:r>
            </a:p>
          </p:txBody>
        </p:sp>
        <p:sp>
          <p:nvSpPr>
            <p:cNvPr id="55" name="TextBox 54"/>
            <p:cNvSpPr txBox="1"/>
            <p:nvPr/>
          </p:nvSpPr>
          <p:spPr>
            <a:xfrm>
              <a:off x="7804403" y="5843016"/>
              <a:ext cx="1344168" cy="164592"/>
            </a:xfrm>
            <a:prstGeom prst="rect">
              <a:avLst/>
            </a:prstGeom>
            <a:noFill/>
          </p:spPr>
          <p:txBody>
            <a:bodyPr wrap="none" lIns="0" rIns="0" tIns="0" bIns="0" anchor="ctr">
              <a:spAutoFit/>
            </a:bodyPr>
            <a:lstStyle/>
            <a:p>
              <a:pPr algn="ctr">
                <a:defRPr sz="1200" b="0">
                  <a:solidFill>
                    <a:srgbClr val="3559A2"/>
                  </a:solidFill>
                  <a:latin typeface="Arial"/>
                </a:defRPr>
              </a:pPr>
              <a:r>
                <a:t>remainder 4</a:t>
              </a:r>
            </a:p>
          </p:txBody>
        </p:sp>
      </p:grpSp>
      <p:sp>
        <p:nvSpPr>
          <p:cNvPr id="56" name="Rectangle 55"/>
          <p:cNvSpPr/>
          <p:nvPr/>
        </p:nvSpPr>
        <p:spPr>
          <a:xfrm>
            <a:off x="10326624"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TextBox 56"/>
          <p:cNvSpPr txBox="1"/>
          <p:nvPr/>
        </p:nvSpPr>
        <p:spPr>
          <a:xfrm>
            <a:off x="10390632" y="3886200"/>
            <a:ext cx="3791712" cy="84124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14 ÷ 9 = 1 r 5;</a:t>
            </a:r>
          </a:p>
          <a:p>
            <a:pPr>
              <a:lnSpc>
                <a:spcPts val="1836"/>
              </a:lnSpc>
              <a:spcBef>
                <a:spcPts val="0"/>
              </a:spcBef>
              <a:spcAft>
                <a:spcPts val="0"/>
              </a:spcAft>
              <a:defRPr sz="1700" b="0">
                <a:solidFill>
                  <a:srgbClr val="182B3A"/>
                </a:solidFill>
                <a:latin typeface="Arial"/>
              </a:defRPr>
            </a:pPr>
            <a:r>
              <a:t>55 ÷ 9 = 6 r 1. So 16 r 1 → 17 buses.</a:t>
            </a:r>
          </a:p>
          <a:p>
            <a:pPr>
              <a:lnSpc>
                <a:spcPts val="1836"/>
              </a:lnSpc>
              <a:spcBef>
                <a:spcPts val="0"/>
              </a:spcBef>
              <a:spcAft>
                <a:spcPts val="0"/>
              </a:spcAft>
              <a:defRPr sz="1700" b="0">
                <a:solidFill>
                  <a:srgbClr val="182B3A"/>
                </a:solidFill>
                <a:latin typeface="Arial"/>
              </a:defRPr>
            </a:pPr>
            <a:r>
              <a:t>Lattice: 17 × 40 = 680.</a:t>
            </a:r>
          </a:p>
        </p:txBody>
      </p:sp>
      <p:grpSp>
        <p:nvGrpSpPr>
          <p:cNvPr id="58" name="Editable bus stop 145 ÷ 9"/>
          <p:cNvGrpSpPr/>
          <p:nvPr/>
        </p:nvGrpSpPr>
        <p:grpSpPr>
          <a:xfrm>
            <a:off x="10308336" y="5010912"/>
            <a:ext cx="1863181" cy="905256"/>
            <a:chOff x="10308336" y="5010912"/>
            <a:chExt cx="1863181" cy="905256"/>
          </a:xfrm>
        </p:grpSpPr>
        <p:cxnSp>
          <p:nvCxnSpPr>
            <p:cNvPr id="59" name="Connector 58"/>
            <p:cNvCxnSpPr/>
            <p:nvPr/>
          </p:nvCxnSpPr>
          <p:spPr>
            <a:xfrm>
              <a:off x="10710672" y="5385816"/>
              <a:ext cx="146084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10710672" y="538581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10308336" y="5404103"/>
              <a:ext cx="347472" cy="347472"/>
            </a:xfrm>
            <a:prstGeom prst="rect">
              <a:avLst/>
            </a:prstGeom>
            <a:noFill/>
          </p:spPr>
          <p:txBody>
            <a:bodyPr wrap="none" lIns="0" rIns="0" tIns="0" bIns="0" anchor="ctr">
              <a:spAutoFit/>
            </a:bodyPr>
            <a:lstStyle/>
            <a:p>
              <a:pPr algn="ctr">
                <a:defRPr sz="2400" b="1">
                  <a:solidFill>
                    <a:srgbClr val="754B87"/>
                  </a:solidFill>
                  <a:latin typeface="Arial"/>
                </a:defRPr>
              </a:pPr>
              <a:r>
                <a:t>9</a:t>
              </a:r>
            </a:p>
          </p:txBody>
        </p:sp>
        <p:sp>
          <p:nvSpPr>
            <p:cNvPr id="62" name="TextBox 61"/>
            <p:cNvSpPr txBox="1"/>
            <p:nvPr/>
          </p:nvSpPr>
          <p:spPr>
            <a:xfrm>
              <a:off x="10783824" y="5404103"/>
              <a:ext cx="444276" cy="347472"/>
            </a:xfrm>
            <a:prstGeom prst="rect">
              <a:avLst/>
            </a:prstGeom>
            <a:noFill/>
          </p:spPr>
          <p:txBody>
            <a:bodyPr wrap="none" lIns="0" rIns="0" tIns="0" bIns="0" anchor="ctr">
              <a:spAutoFit/>
            </a:bodyPr>
            <a:lstStyle/>
            <a:p>
              <a:pPr algn="ctr">
                <a:defRPr sz="2400" b="0">
                  <a:solidFill>
                    <a:srgbClr val="182B3A"/>
                  </a:solidFill>
                  <a:latin typeface="Arial"/>
                </a:defRPr>
              </a:pPr>
              <a:r>
                <a:t>1</a:t>
              </a:r>
            </a:p>
          </p:txBody>
        </p:sp>
        <p:sp>
          <p:nvSpPr>
            <p:cNvPr id="63" name="TextBox 62"/>
            <p:cNvSpPr txBox="1"/>
            <p:nvPr/>
          </p:nvSpPr>
          <p:spPr>
            <a:xfrm>
              <a:off x="10783824" y="5010912"/>
              <a:ext cx="444276" cy="320040"/>
            </a:xfrm>
            <a:prstGeom prst="rect">
              <a:avLst/>
            </a:prstGeom>
            <a:noFill/>
          </p:spPr>
          <p:txBody>
            <a:bodyPr wrap="none" lIns="0" rIns="0" tIns="0" bIns="0" anchor="ctr">
              <a:spAutoFit/>
            </a:bodyPr>
            <a:lstStyle/>
            <a:p>
              <a:pPr algn="ctr">
                <a:defRPr sz="2400" b="1">
                  <a:solidFill>
                    <a:srgbClr val="754B87"/>
                  </a:solidFill>
                  <a:latin typeface="Arial"/>
                </a:defRPr>
              </a:pPr>
            </a:p>
          </p:txBody>
        </p:sp>
        <p:sp>
          <p:nvSpPr>
            <p:cNvPr id="64" name="TextBox 63"/>
            <p:cNvSpPr txBox="1"/>
            <p:nvPr/>
          </p:nvSpPr>
          <p:spPr>
            <a:xfrm>
              <a:off x="11228100" y="5404103"/>
              <a:ext cx="444276" cy="347472"/>
            </a:xfrm>
            <a:prstGeom prst="rect">
              <a:avLst/>
            </a:prstGeom>
            <a:noFill/>
          </p:spPr>
          <p:txBody>
            <a:bodyPr wrap="none" lIns="0" rIns="0" tIns="0" bIns="0" anchor="ctr">
              <a:spAutoFit/>
            </a:bodyPr>
            <a:lstStyle/>
            <a:p>
              <a:pPr algn="ctr">
                <a:defRPr sz="2400" b="0">
                  <a:solidFill>
                    <a:srgbClr val="182B3A"/>
                  </a:solidFill>
                  <a:latin typeface="Arial"/>
                </a:defRPr>
              </a:pPr>
              <a:r>
                <a:t>4</a:t>
              </a:r>
            </a:p>
          </p:txBody>
        </p:sp>
        <p:sp>
          <p:nvSpPr>
            <p:cNvPr id="65" name="TextBox 64"/>
            <p:cNvSpPr txBox="1"/>
            <p:nvPr/>
          </p:nvSpPr>
          <p:spPr>
            <a:xfrm>
              <a:off x="11228100" y="5010912"/>
              <a:ext cx="444276" cy="320040"/>
            </a:xfrm>
            <a:prstGeom prst="rect">
              <a:avLst/>
            </a:prstGeom>
            <a:noFill/>
          </p:spPr>
          <p:txBody>
            <a:bodyPr wrap="none" lIns="0" rIns="0" tIns="0" bIns="0" anchor="ctr">
              <a:spAutoFit/>
            </a:bodyPr>
            <a:lstStyle/>
            <a:p>
              <a:pPr algn="ctr">
                <a:defRPr sz="2400" b="1">
                  <a:solidFill>
                    <a:srgbClr val="754B87"/>
                  </a:solidFill>
                  <a:latin typeface="Arial"/>
                </a:defRPr>
              </a:pPr>
              <a:r>
                <a:t>1</a:t>
              </a:r>
            </a:p>
          </p:txBody>
        </p:sp>
        <p:sp>
          <p:nvSpPr>
            <p:cNvPr id="66" name="TextBox 65"/>
            <p:cNvSpPr txBox="1"/>
            <p:nvPr/>
          </p:nvSpPr>
          <p:spPr>
            <a:xfrm>
              <a:off x="11137574" y="5376672"/>
              <a:ext cx="164592" cy="164592"/>
            </a:xfrm>
            <a:prstGeom prst="rect">
              <a:avLst/>
            </a:prstGeom>
            <a:noFill/>
          </p:spPr>
          <p:txBody>
            <a:bodyPr wrap="none" lIns="0" rIns="0" tIns="0" bIns="0" anchor="ctr">
              <a:spAutoFit/>
            </a:bodyPr>
            <a:lstStyle/>
            <a:p>
              <a:pPr algn="ctr">
                <a:defRPr sz="1100" b="1">
                  <a:solidFill>
                    <a:srgbClr val="B14F00"/>
                  </a:solidFill>
                  <a:latin typeface="Arial"/>
                </a:defRPr>
              </a:pPr>
              <a:r>
                <a:t>1</a:t>
              </a:r>
            </a:p>
          </p:txBody>
        </p:sp>
        <p:sp>
          <p:nvSpPr>
            <p:cNvPr id="67" name="TextBox 66"/>
            <p:cNvSpPr txBox="1"/>
            <p:nvPr/>
          </p:nvSpPr>
          <p:spPr>
            <a:xfrm>
              <a:off x="11672376" y="5404103"/>
              <a:ext cx="444276" cy="347472"/>
            </a:xfrm>
            <a:prstGeom prst="rect">
              <a:avLst/>
            </a:prstGeom>
            <a:noFill/>
          </p:spPr>
          <p:txBody>
            <a:bodyPr wrap="none" lIns="0" rIns="0" tIns="0" bIns="0" anchor="ctr">
              <a:spAutoFit/>
            </a:bodyPr>
            <a:lstStyle/>
            <a:p>
              <a:pPr algn="ctr">
                <a:defRPr sz="2400" b="0">
                  <a:solidFill>
                    <a:srgbClr val="182B3A"/>
                  </a:solidFill>
                  <a:latin typeface="Arial"/>
                </a:defRPr>
              </a:pPr>
              <a:r>
                <a:t>5</a:t>
              </a:r>
            </a:p>
          </p:txBody>
        </p:sp>
        <p:sp>
          <p:nvSpPr>
            <p:cNvPr id="68" name="TextBox 67"/>
            <p:cNvSpPr txBox="1"/>
            <p:nvPr/>
          </p:nvSpPr>
          <p:spPr>
            <a:xfrm>
              <a:off x="11672376" y="5010912"/>
              <a:ext cx="444276" cy="320040"/>
            </a:xfrm>
            <a:prstGeom prst="rect">
              <a:avLst/>
            </a:prstGeom>
            <a:noFill/>
          </p:spPr>
          <p:txBody>
            <a:bodyPr wrap="none" lIns="0" rIns="0" tIns="0" bIns="0" anchor="ctr">
              <a:spAutoFit/>
            </a:bodyPr>
            <a:lstStyle/>
            <a:p>
              <a:pPr algn="ctr">
                <a:defRPr sz="2400" b="1">
                  <a:solidFill>
                    <a:srgbClr val="754B87"/>
                  </a:solidFill>
                  <a:latin typeface="Arial"/>
                </a:defRPr>
              </a:pPr>
              <a:r>
                <a:t>6</a:t>
              </a:r>
            </a:p>
          </p:txBody>
        </p:sp>
        <p:sp>
          <p:nvSpPr>
            <p:cNvPr id="69" name="TextBox 68"/>
            <p:cNvSpPr txBox="1"/>
            <p:nvPr/>
          </p:nvSpPr>
          <p:spPr>
            <a:xfrm>
              <a:off x="11581851" y="5376672"/>
              <a:ext cx="164592" cy="164592"/>
            </a:xfrm>
            <a:prstGeom prst="rect">
              <a:avLst/>
            </a:prstGeom>
            <a:noFill/>
          </p:spPr>
          <p:txBody>
            <a:bodyPr wrap="none" lIns="0" rIns="0" tIns="0" bIns="0" anchor="ctr">
              <a:spAutoFit/>
            </a:bodyPr>
            <a:lstStyle/>
            <a:p>
              <a:pPr algn="ctr">
                <a:defRPr sz="1100" b="1">
                  <a:solidFill>
                    <a:srgbClr val="B14F00"/>
                  </a:solidFill>
                  <a:latin typeface="Arial"/>
                </a:defRPr>
              </a:pPr>
              <a:r>
                <a:t>5</a:t>
              </a:r>
            </a:p>
          </p:txBody>
        </p:sp>
        <p:sp>
          <p:nvSpPr>
            <p:cNvPr id="70" name="TextBox 69"/>
            <p:cNvSpPr txBox="1"/>
            <p:nvPr/>
          </p:nvSpPr>
          <p:spPr>
            <a:xfrm>
              <a:off x="10783824" y="5751576"/>
              <a:ext cx="1332829" cy="164592"/>
            </a:xfrm>
            <a:prstGeom prst="rect">
              <a:avLst/>
            </a:prstGeom>
            <a:noFill/>
          </p:spPr>
          <p:txBody>
            <a:bodyPr wrap="none" lIns="0" rIns="0" tIns="0" bIns="0" anchor="ctr">
              <a:spAutoFit/>
            </a:bodyPr>
            <a:lstStyle/>
            <a:p>
              <a:pPr algn="ctr">
                <a:defRPr sz="1200" b="0">
                  <a:solidFill>
                    <a:srgbClr val="754B87"/>
                  </a:solidFill>
                  <a:latin typeface="Arial"/>
                </a:defRPr>
              </a:pPr>
              <a:r>
                <a:t>remainder 1</a:t>
              </a:r>
            </a:p>
          </p:txBody>
        </p:sp>
      </p:grpSp>
      <p:grpSp>
        <p:nvGrpSpPr>
          <p:cNvPr id="71" name="Editable lattice 17 × 40"/>
          <p:cNvGrpSpPr/>
          <p:nvPr/>
        </p:nvGrpSpPr>
        <p:grpSpPr>
          <a:xfrm>
            <a:off x="12489820" y="4809743"/>
            <a:ext cx="1271016" cy="1243584"/>
            <a:chOff x="12489820" y="4809743"/>
            <a:chExt cx="1271016" cy="1243584"/>
          </a:xfrm>
        </p:grpSpPr>
        <p:sp>
          <p:nvSpPr>
            <p:cNvPr id="72" name="TextBox 71"/>
            <p:cNvSpPr txBox="1"/>
            <p:nvPr/>
          </p:nvSpPr>
          <p:spPr>
            <a:xfrm>
              <a:off x="12800716" y="4809743"/>
              <a:ext cx="333756" cy="228600"/>
            </a:xfrm>
            <a:prstGeom prst="rect">
              <a:avLst/>
            </a:prstGeom>
            <a:noFill/>
          </p:spPr>
          <p:txBody>
            <a:bodyPr wrap="none" lIns="0" rIns="0" tIns="0" bIns="0" anchor="ctr">
              <a:spAutoFit/>
            </a:bodyPr>
            <a:lstStyle/>
            <a:p>
              <a:pPr algn="ctr">
                <a:defRPr sz="1500" b="1">
                  <a:solidFill>
                    <a:srgbClr val="754B87"/>
                  </a:solidFill>
                  <a:latin typeface="Arial"/>
                </a:defRPr>
              </a:pPr>
              <a:r>
                <a:t>1</a:t>
              </a:r>
            </a:p>
          </p:txBody>
        </p:sp>
        <p:sp>
          <p:nvSpPr>
            <p:cNvPr id="73" name="TextBox 72"/>
            <p:cNvSpPr txBox="1"/>
            <p:nvPr/>
          </p:nvSpPr>
          <p:spPr>
            <a:xfrm>
              <a:off x="13134472" y="4809743"/>
              <a:ext cx="333756" cy="228600"/>
            </a:xfrm>
            <a:prstGeom prst="rect">
              <a:avLst/>
            </a:prstGeom>
            <a:noFill/>
          </p:spPr>
          <p:txBody>
            <a:bodyPr wrap="none" lIns="0" rIns="0" tIns="0" bIns="0" anchor="ctr">
              <a:spAutoFit/>
            </a:bodyPr>
            <a:lstStyle/>
            <a:p>
              <a:pPr algn="ctr">
                <a:defRPr sz="1500" b="1">
                  <a:solidFill>
                    <a:srgbClr val="754B87"/>
                  </a:solidFill>
                  <a:latin typeface="Arial"/>
                </a:defRPr>
              </a:pPr>
              <a:r>
                <a:t>7</a:t>
              </a:r>
            </a:p>
          </p:txBody>
        </p:sp>
        <p:sp>
          <p:nvSpPr>
            <p:cNvPr id="74" name="TextBox 73"/>
            <p:cNvSpPr txBox="1"/>
            <p:nvPr/>
          </p:nvSpPr>
          <p:spPr>
            <a:xfrm>
              <a:off x="13495660" y="5065775"/>
              <a:ext cx="265176" cy="333756"/>
            </a:xfrm>
            <a:prstGeom prst="rect">
              <a:avLst/>
            </a:prstGeom>
            <a:noFill/>
          </p:spPr>
          <p:txBody>
            <a:bodyPr wrap="none" lIns="0" rIns="0" tIns="0" bIns="0" anchor="ctr">
              <a:spAutoFit/>
            </a:bodyPr>
            <a:lstStyle/>
            <a:p>
              <a:pPr algn="ctr">
                <a:defRPr sz="1500" b="1">
                  <a:solidFill>
                    <a:srgbClr val="754B87"/>
                  </a:solidFill>
                  <a:latin typeface="Arial"/>
                </a:defRPr>
              </a:pPr>
              <a:r>
                <a:t>4</a:t>
              </a:r>
            </a:p>
          </p:txBody>
        </p:sp>
        <p:sp>
          <p:nvSpPr>
            <p:cNvPr id="75" name="TextBox 74"/>
            <p:cNvSpPr txBox="1"/>
            <p:nvPr/>
          </p:nvSpPr>
          <p:spPr>
            <a:xfrm>
              <a:off x="13495660" y="5399531"/>
              <a:ext cx="265176" cy="333756"/>
            </a:xfrm>
            <a:prstGeom prst="rect">
              <a:avLst/>
            </a:prstGeom>
            <a:noFill/>
          </p:spPr>
          <p:txBody>
            <a:bodyPr wrap="none" lIns="0" rIns="0" tIns="0" bIns="0" anchor="ctr">
              <a:spAutoFit/>
            </a:bodyPr>
            <a:lstStyle/>
            <a:p>
              <a:pPr algn="ctr">
                <a:defRPr sz="1500" b="1">
                  <a:solidFill>
                    <a:srgbClr val="754B87"/>
                  </a:solidFill>
                  <a:latin typeface="Arial"/>
                </a:defRPr>
              </a:pPr>
              <a:r>
                <a:t>0</a:t>
              </a:r>
            </a:p>
          </p:txBody>
        </p:sp>
        <p:sp>
          <p:nvSpPr>
            <p:cNvPr id="76" name="Rectangle 75"/>
            <p:cNvSpPr/>
            <p:nvPr/>
          </p:nvSpPr>
          <p:spPr>
            <a:xfrm>
              <a:off x="12800716" y="5065775"/>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77" name="Connector 76"/>
            <p:cNvCxnSpPr/>
            <p:nvPr/>
          </p:nvCxnSpPr>
          <p:spPr>
            <a:xfrm flipV="1">
              <a:off x="12800716" y="5065775"/>
              <a:ext cx="333756" cy="33375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12814066" y="5072451"/>
              <a:ext cx="160202" cy="156865"/>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sp>
          <p:nvSpPr>
            <p:cNvPr id="79" name="TextBox 78"/>
            <p:cNvSpPr txBox="1"/>
            <p:nvPr/>
          </p:nvSpPr>
          <p:spPr>
            <a:xfrm>
              <a:off x="12960918" y="5229316"/>
              <a:ext cx="160202" cy="156865"/>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80" name="Rectangle 79"/>
            <p:cNvSpPr/>
            <p:nvPr/>
          </p:nvSpPr>
          <p:spPr>
            <a:xfrm>
              <a:off x="13134472" y="5065775"/>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81" name="Connector 80"/>
            <p:cNvCxnSpPr/>
            <p:nvPr/>
          </p:nvCxnSpPr>
          <p:spPr>
            <a:xfrm flipV="1">
              <a:off x="13134472" y="5065775"/>
              <a:ext cx="333756" cy="33375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13147822" y="5072451"/>
              <a:ext cx="160202" cy="156865"/>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83" name="TextBox 82"/>
            <p:cNvSpPr txBox="1"/>
            <p:nvPr/>
          </p:nvSpPr>
          <p:spPr>
            <a:xfrm>
              <a:off x="13294674" y="5229316"/>
              <a:ext cx="160202" cy="156865"/>
            </a:xfrm>
            <a:prstGeom prst="rect">
              <a:avLst/>
            </a:prstGeom>
            <a:noFill/>
          </p:spPr>
          <p:txBody>
            <a:bodyPr wrap="none" lIns="0" rIns="0" tIns="0" bIns="0" anchor="ctr">
              <a:spAutoFit/>
            </a:bodyPr>
            <a:lstStyle/>
            <a:p>
              <a:pPr algn="ctr">
                <a:defRPr sz="1500" b="0">
                  <a:solidFill>
                    <a:srgbClr val="182B3A"/>
                  </a:solidFill>
                  <a:latin typeface="Arial"/>
                </a:defRPr>
              </a:pPr>
              <a:r>
                <a:t>8</a:t>
              </a:r>
            </a:p>
          </p:txBody>
        </p:sp>
        <p:sp>
          <p:nvSpPr>
            <p:cNvPr id="84" name="Rectangle 83"/>
            <p:cNvSpPr/>
            <p:nvPr/>
          </p:nvSpPr>
          <p:spPr>
            <a:xfrm>
              <a:off x="12800716" y="5399531"/>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85" name="Connector 84"/>
            <p:cNvCxnSpPr/>
            <p:nvPr/>
          </p:nvCxnSpPr>
          <p:spPr>
            <a:xfrm flipV="1">
              <a:off x="12800716" y="5399531"/>
              <a:ext cx="333756" cy="333757"/>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12814066" y="5406207"/>
              <a:ext cx="160202" cy="156865"/>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sp>
          <p:nvSpPr>
            <p:cNvPr id="87" name="TextBox 86"/>
            <p:cNvSpPr txBox="1"/>
            <p:nvPr/>
          </p:nvSpPr>
          <p:spPr>
            <a:xfrm>
              <a:off x="12960918" y="5563072"/>
              <a:ext cx="160202" cy="156865"/>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sp>
          <p:nvSpPr>
            <p:cNvPr id="88" name="Rectangle 87"/>
            <p:cNvSpPr/>
            <p:nvPr/>
          </p:nvSpPr>
          <p:spPr>
            <a:xfrm>
              <a:off x="13134472" y="5399531"/>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89" name="Connector 88"/>
            <p:cNvCxnSpPr/>
            <p:nvPr/>
          </p:nvCxnSpPr>
          <p:spPr>
            <a:xfrm flipV="1">
              <a:off x="13134472" y="5399531"/>
              <a:ext cx="333756" cy="333757"/>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13147822" y="5406207"/>
              <a:ext cx="160202" cy="156865"/>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sp>
          <p:nvSpPr>
            <p:cNvPr id="91" name="TextBox 90"/>
            <p:cNvSpPr txBox="1"/>
            <p:nvPr/>
          </p:nvSpPr>
          <p:spPr>
            <a:xfrm>
              <a:off x="13294674" y="5563072"/>
              <a:ext cx="160202" cy="156865"/>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cxnSp>
          <p:nvCxnSpPr>
            <p:cNvPr id="92" name="Connector 91"/>
            <p:cNvCxnSpPr/>
            <p:nvPr/>
          </p:nvCxnSpPr>
          <p:spPr>
            <a:xfrm>
              <a:off x="12800716"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13134472"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13468228"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12800716" y="5065775"/>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12800716" y="5399531"/>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12800716" y="5733288"/>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13134472" y="5815583"/>
              <a:ext cx="333756" cy="237744"/>
            </a:xfrm>
            <a:prstGeom prst="rect">
              <a:avLst/>
            </a:prstGeom>
            <a:noFill/>
          </p:spPr>
          <p:txBody>
            <a:bodyPr wrap="none" lIns="0" rIns="0" tIns="0" bIns="0" anchor="ctr">
              <a:spAutoFit/>
            </a:bodyPr>
            <a:lstStyle/>
            <a:p>
              <a:pPr algn="ctr">
                <a:defRPr sz="1600" b="1">
                  <a:solidFill>
                    <a:srgbClr val="754B87"/>
                  </a:solidFill>
                  <a:latin typeface="Arial"/>
                </a:defRPr>
              </a:pPr>
              <a:r>
                <a:t>0</a:t>
              </a:r>
            </a:p>
          </p:txBody>
        </p:sp>
        <p:sp>
          <p:nvSpPr>
            <p:cNvPr id="99" name="TextBox 98"/>
            <p:cNvSpPr txBox="1"/>
            <p:nvPr/>
          </p:nvSpPr>
          <p:spPr>
            <a:xfrm>
              <a:off x="12800716" y="5815583"/>
              <a:ext cx="333756" cy="237744"/>
            </a:xfrm>
            <a:prstGeom prst="rect">
              <a:avLst/>
            </a:prstGeom>
            <a:noFill/>
          </p:spPr>
          <p:txBody>
            <a:bodyPr wrap="none" lIns="0" rIns="0" tIns="0" bIns="0" anchor="ctr">
              <a:spAutoFit/>
            </a:bodyPr>
            <a:lstStyle/>
            <a:p>
              <a:pPr algn="ctr">
                <a:defRPr sz="1600" b="1">
                  <a:solidFill>
                    <a:srgbClr val="754B87"/>
                  </a:solidFill>
                  <a:latin typeface="Arial"/>
                </a:defRPr>
              </a:pPr>
              <a:r>
                <a:t>8</a:t>
              </a:r>
            </a:p>
          </p:txBody>
        </p:sp>
        <p:sp>
          <p:nvSpPr>
            <p:cNvPr id="100" name="TextBox 99"/>
            <p:cNvSpPr txBox="1"/>
            <p:nvPr/>
          </p:nvSpPr>
          <p:spPr>
            <a:xfrm>
              <a:off x="12489820" y="5399531"/>
              <a:ext cx="265176" cy="333756"/>
            </a:xfrm>
            <a:prstGeom prst="rect">
              <a:avLst/>
            </a:prstGeom>
            <a:noFill/>
          </p:spPr>
          <p:txBody>
            <a:bodyPr wrap="none" lIns="0" rIns="0" tIns="0" bIns="0" anchor="ctr">
              <a:spAutoFit/>
            </a:bodyPr>
            <a:lstStyle/>
            <a:p>
              <a:pPr algn="ctr">
                <a:defRPr sz="1600" b="1">
                  <a:solidFill>
                    <a:srgbClr val="754B87"/>
                  </a:solidFill>
                  <a:latin typeface="Arial"/>
                </a:defRPr>
              </a:pPr>
              <a:r>
                <a:t>6</a:t>
              </a:r>
            </a:p>
          </p:txBody>
        </p:sp>
        <p:sp>
          <p:nvSpPr>
            <p:cNvPr id="101" name="TextBox 100"/>
            <p:cNvSpPr txBox="1"/>
            <p:nvPr/>
          </p:nvSpPr>
          <p:spPr>
            <a:xfrm>
              <a:off x="12489820" y="5065775"/>
              <a:ext cx="265176" cy="333756"/>
            </a:xfrm>
            <a:prstGeom prst="rect">
              <a:avLst/>
            </a:prstGeom>
            <a:noFill/>
          </p:spPr>
          <p:txBody>
            <a:bodyPr wrap="none" lIns="0" rIns="0" tIns="0" bIns="0" anchor="ctr">
              <a:spAutoFit/>
            </a:bodyPr>
            <a:lstStyle/>
            <a:p>
              <a:pPr algn="ctr">
                <a:defRPr sz="1600" b="1">
                  <a:solidFill>
                    <a:srgbClr val="8193A0"/>
                  </a:solidFill>
                  <a:latin typeface="Arial"/>
                </a:defRPr>
              </a:pPr>
              <a:r>
                <a:t>0</a:t>
              </a:r>
            </a:p>
          </p:txBody>
        </p:sp>
      </p:grpSp>
      <p:sp>
        <p:nvSpPr>
          <p:cNvPr id="102" name="Rectangle 101"/>
          <p:cNvSpPr/>
          <p:nvPr/>
        </p:nvSpPr>
        <p:spPr>
          <a:xfrm>
            <a:off x="384048" y="6062472"/>
            <a:ext cx="2103120" cy="9601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3" name="TextBox 102"/>
          <p:cNvSpPr txBox="1"/>
          <p:nvPr/>
        </p:nvSpPr>
        <p:spPr>
          <a:xfrm>
            <a:off x="448056" y="6153912"/>
            <a:ext cx="1975103" cy="7772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104" name="Rectangle 103"/>
          <p:cNvSpPr/>
          <p:nvPr/>
        </p:nvSpPr>
        <p:spPr>
          <a:xfrm>
            <a:off x="2487168"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5" name="TextBox 104"/>
          <p:cNvSpPr txBox="1"/>
          <p:nvPr/>
        </p:nvSpPr>
        <p:spPr>
          <a:xfrm>
            <a:off x="2551175"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80 ÷ 4 = 20.</a:t>
            </a:r>
          </a:p>
          <a:p>
            <a:pPr>
              <a:lnSpc>
                <a:spcPts val="1836"/>
              </a:lnSpc>
              <a:spcBef>
                <a:spcPts val="0"/>
              </a:spcBef>
              <a:spcAft>
                <a:spcPts val="0"/>
              </a:spcAft>
              <a:defRPr sz="1700" b="0">
                <a:solidFill>
                  <a:srgbClr val="182B3A"/>
                </a:solidFill>
                <a:latin typeface="Arial"/>
              </a:defRPr>
            </a:pPr>
            <a:r>
              <a:t>21 is close to 20.</a:t>
            </a:r>
          </a:p>
        </p:txBody>
      </p:sp>
      <p:sp>
        <p:nvSpPr>
          <p:cNvPr id="106" name="Rectangle 105"/>
          <p:cNvSpPr/>
          <p:nvPr/>
        </p:nvSpPr>
        <p:spPr>
          <a:xfrm>
            <a:off x="6406895"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TextBox 106"/>
          <p:cNvSpPr txBox="1"/>
          <p:nvPr/>
        </p:nvSpPr>
        <p:spPr>
          <a:xfrm>
            <a:off x="6470904"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120 ÷ 6 = 20.</a:t>
            </a:r>
          </a:p>
          <a:p>
            <a:pPr>
              <a:lnSpc>
                <a:spcPts val="1836"/>
              </a:lnSpc>
              <a:spcBef>
                <a:spcPts val="0"/>
              </a:spcBef>
              <a:spcAft>
                <a:spcPts val="0"/>
              </a:spcAft>
              <a:defRPr sz="1700" b="0">
                <a:solidFill>
                  <a:srgbClr val="182B3A"/>
                </a:solidFill>
                <a:latin typeface="Arial"/>
              </a:defRPr>
            </a:pPr>
            <a:r>
              <a:t>21 full packs is reasonable.</a:t>
            </a:r>
          </a:p>
        </p:txBody>
      </p:sp>
      <p:sp>
        <p:nvSpPr>
          <p:cNvPr id="108" name="Rectangle 107"/>
          <p:cNvSpPr/>
          <p:nvPr/>
        </p:nvSpPr>
        <p:spPr>
          <a:xfrm>
            <a:off x="10326624"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9" name="TextBox 108"/>
          <p:cNvSpPr txBox="1"/>
          <p:nvPr/>
        </p:nvSpPr>
        <p:spPr>
          <a:xfrm>
            <a:off x="10390632"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150 ÷ 10 ≈ 15; 15 × 40 = 600.</a:t>
            </a:r>
          </a:p>
          <a:p>
            <a:pPr>
              <a:lnSpc>
                <a:spcPts val="1836"/>
              </a:lnSpc>
              <a:spcBef>
                <a:spcPts val="0"/>
              </a:spcBef>
              <a:spcAft>
                <a:spcPts val="0"/>
              </a:spcAft>
              <a:defRPr sz="1700" b="0">
                <a:solidFill>
                  <a:srgbClr val="182B3A"/>
                </a:solidFill>
                <a:latin typeface="Arial"/>
              </a:defRPr>
            </a:pPr>
            <a:r>
              <a:t>£680 is reasonable: more buses are needed.</a:t>
            </a:r>
          </a:p>
        </p:txBody>
      </p:sp>
      <p:sp>
        <p:nvSpPr>
          <p:cNvPr id="110" name="Rectangle 109"/>
          <p:cNvSpPr/>
          <p:nvPr/>
        </p:nvSpPr>
        <p:spPr>
          <a:xfrm>
            <a:off x="384048" y="7022592"/>
            <a:ext cx="2103120" cy="6400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1" name="TextBox 110"/>
          <p:cNvSpPr txBox="1"/>
          <p:nvPr/>
        </p:nvSpPr>
        <p:spPr>
          <a:xfrm>
            <a:off x="448056" y="7114031"/>
            <a:ext cx="1975103" cy="45719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112" name="Rectangle 111"/>
          <p:cNvSpPr/>
          <p:nvPr/>
        </p:nvSpPr>
        <p:spPr>
          <a:xfrm>
            <a:off x="2487168"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3" name="TextBox 112"/>
          <p:cNvSpPr txBox="1"/>
          <p:nvPr/>
        </p:nvSpPr>
        <p:spPr>
          <a:xfrm>
            <a:off x="2551175"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21 tins per box</a:t>
            </a:r>
          </a:p>
        </p:txBody>
      </p:sp>
      <p:sp>
        <p:nvSpPr>
          <p:cNvPr id="114" name="Rectangle 113"/>
          <p:cNvSpPr/>
          <p:nvPr/>
        </p:nvSpPr>
        <p:spPr>
          <a:xfrm>
            <a:off x="6406895"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5" name="TextBox 114"/>
          <p:cNvSpPr txBox="1"/>
          <p:nvPr/>
        </p:nvSpPr>
        <p:spPr>
          <a:xfrm>
            <a:off x="6470904"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21 full packs; 4 biscuits left</a:t>
            </a:r>
          </a:p>
        </p:txBody>
      </p:sp>
      <p:sp>
        <p:nvSpPr>
          <p:cNvPr id="116" name="Rectangle 115"/>
          <p:cNvSpPr/>
          <p:nvPr/>
        </p:nvSpPr>
        <p:spPr>
          <a:xfrm>
            <a:off x="10326624"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7" name="TextBox 116"/>
          <p:cNvSpPr txBox="1"/>
          <p:nvPr/>
        </p:nvSpPr>
        <p:spPr>
          <a:xfrm>
            <a:off x="10390632"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£680 to hire 17 minibuses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Decide which calculation(s) each question needs.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3  •  2/7  •  Slide 16</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42 packs each contain 15 pens. How many pens are there?</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215 apples go into bags of 6. How many completely full bags can be made?</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A painter charges £18 per hour for 32 hours, plus £120 for paint. Find the total bill.</a:t>
            </a:r>
          </a:p>
        </p:txBody>
      </p:sp>
      <p:sp>
        <p:nvSpPr>
          <p:cNvPr id="21" name="Rectangle 20"/>
          <p:cNvSpPr/>
          <p:nvPr/>
        </p:nvSpPr>
        <p:spPr>
          <a:xfrm>
            <a:off x="384048" y="286207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448056" y="2953512"/>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2551175"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5" name="Rectangle 24"/>
          <p:cNvSpPr/>
          <p:nvPr/>
        </p:nvSpPr>
        <p:spPr>
          <a:xfrm>
            <a:off x="6406895"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6470904"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7" name="Rectangle 26"/>
          <p:cNvSpPr/>
          <p:nvPr/>
        </p:nvSpPr>
        <p:spPr>
          <a:xfrm>
            <a:off x="10326624"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10390632"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9" name="Rectangle 28"/>
          <p:cNvSpPr/>
          <p:nvPr/>
        </p:nvSpPr>
        <p:spPr>
          <a:xfrm>
            <a:off x="384048" y="405079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48056" y="414223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2551175"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3" name="Rectangle 32"/>
          <p:cNvSpPr/>
          <p:nvPr/>
        </p:nvSpPr>
        <p:spPr>
          <a:xfrm>
            <a:off x="6406895"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6470904"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5" name="Rectangle 34"/>
          <p:cNvSpPr/>
          <p:nvPr/>
        </p:nvSpPr>
        <p:spPr>
          <a:xfrm>
            <a:off x="10326624"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10390632"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7" name="Rectangle 36"/>
          <p:cNvSpPr/>
          <p:nvPr/>
        </p:nvSpPr>
        <p:spPr>
          <a:xfrm>
            <a:off x="384048" y="523951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448056" y="533095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39" name="Rectangle 38"/>
          <p:cNvSpPr/>
          <p:nvPr/>
        </p:nvSpPr>
        <p:spPr>
          <a:xfrm>
            <a:off x="2487168"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2551175"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1" name="Rectangle 40"/>
          <p:cNvSpPr/>
          <p:nvPr/>
        </p:nvSpPr>
        <p:spPr>
          <a:xfrm>
            <a:off x="6406895"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6470904"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3" name="Rectangle 42"/>
          <p:cNvSpPr/>
          <p:nvPr/>
        </p:nvSpPr>
        <p:spPr>
          <a:xfrm>
            <a:off x="10326624"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10390632"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5" name="Rectangle 44"/>
          <p:cNvSpPr/>
          <p:nvPr/>
        </p:nvSpPr>
        <p:spPr>
          <a:xfrm>
            <a:off x="384048" y="642823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TextBox 45"/>
          <p:cNvSpPr txBox="1"/>
          <p:nvPr/>
        </p:nvSpPr>
        <p:spPr>
          <a:xfrm>
            <a:off x="448056" y="651967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47" name="Rectangle 46"/>
          <p:cNvSpPr/>
          <p:nvPr/>
        </p:nvSpPr>
        <p:spPr>
          <a:xfrm>
            <a:off x="2487168"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2551175"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49" name="Rectangle 48"/>
          <p:cNvSpPr/>
          <p:nvPr/>
        </p:nvSpPr>
        <p:spPr>
          <a:xfrm>
            <a:off x="6406895"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6470904"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51" name="Rectangle 50"/>
          <p:cNvSpPr/>
          <p:nvPr/>
        </p:nvSpPr>
        <p:spPr>
          <a:xfrm>
            <a:off x="10326624"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10390632"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Decide which calculation(s) each question needs.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3  •  3/7  •  Slide 17</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168 students form 7 equal groups. How many students are in each group?</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A worker earns £16 per hour for 27 hours. What are their total wages?</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157 passengers need vans with 8 passenger seats each. Hire costs £45 per van. Find the total hire cost.</a:t>
            </a:r>
          </a:p>
        </p:txBody>
      </p:sp>
      <p:sp>
        <p:nvSpPr>
          <p:cNvPr id="21" name="Rectangle 20"/>
          <p:cNvSpPr/>
          <p:nvPr/>
        </p:nvSpPr>
        <p:spPr>
          <a:xfrm>
            <a:off x="384048" y="286207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448056" y="2953512"/>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2551175"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5" name="Rectangle 24"/>
          <p:cNvSpPr/>
          <p:nvPr/>
        </p:nvSpPr>
        <p:spPr>
          <a:xfrm>
            <a:off x="6406895"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6470904"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7" name="Rectangle 26"/>
          <p:cNvSpPr/>
          <p:nvPr/>
        </p:nvSpPr>
        <p:spPr>
          <a:xfrm>
            <a:off x="10326624"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10390632"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9" name="Rectangle 28"/>
          <p:cNvSpPr/>
          <p:nvPr/>
        </p:nvSpPr>
        <p:spPr>
          <a:xfrm>
            <a:off x="384048" y="405079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48056" y="414223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2551175"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3" name="Rectangle 32"/>
          <p:cNvSpPr/>
          <p:nvPr/>
        </p:nvSpPr>
        <p:spPr>
          <a:xfrm>
            <a:off x="6406895"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6470904"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5" name="Rectangle 34"/>
          <p:cNvSpPr/>
          <p:nvPr/>
        </p:nvSpPr>
        <p:spPr>
          <a:xfrm>
            <a:off x="10326624"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10390632"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7" name="Rectangle 36"/>
          <p:cNvSpPr/>
          <p:nvPr/>
        </p:nvSpPr>
        <p:spPr>
          <a:xfrm>
            <a:off x="384048" y="523951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448056" y="533095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39" name="Rectangle 38"/>
          <p:cNvSpPr/>
          <p:nvPr/>
        </p:nvSpPr>
        <p:spPr>
          <a:xfrm>
            <a:off x="2487168"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2551175"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1" name="Rectangle 40"/>
          <p:cNvSpPr/>
          <p:nvPr/>
        </p:nvSpPr>
        <p:spPr>
          <a:xfrm>
            <a:off x="6406895"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6470904"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3" name="Rectangle 42"/>
          <p:cNvSpPr/>
          <p:nvPr/>
        </p:nvSpPr>
        <p:spPr>
          <a:xfrm>
            <a:off x="10326624"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10390632"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5" name="Rectangle 44"/>
          <p:cNvSpPr/>
          <p:nvPr/>
        </p:nvSpPr>
        <p:spPr>
          <a:xfrm>
            <a:off x="384048" y="642823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TextBox 45"/>
          <p:cNvSpPr txBox="1"/>
          <p:nvPr/>
        </p:nvSpPr>
        <p:spPr>
          <a:xfrm>
            <a:off x="448056" y="651967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47" name="Rectangle 46"/>
          <p:cNvSpPr/>
          <p:nvPr/>
        </p:nvSpPr>
        <p:spPr>
          <a:xfrm>
            <a:off x="2487168"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2551175"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49" name="Rectangle 48"/>
          <p:cNvSpPr/>
          <p:nvPr/>
        </p:nvSpPr>
        <p:spPr>
          <a:xfrm>
            <a:off x="6406895"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6470904"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51" name="Rectangle 50"/>
          <p:cNvSpPr/>
          <p:nvPr/>
        </p:nvSpPr>
        <p:spPr>
          <a:xfrm>
            <a:off x="10326624"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10390632"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3  •  4/7  •  Slide 18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library has 14 shelves with 32 books on each. How many books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105 students form 7 equal groups. How many students are in each group?</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has 26 crates with 41 bottles in each. How many bottles are there?</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148 m rope is cut into 4 equal pieces. How long is each piece?</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hall has 13 rows of 85 seats. How many seats are there?</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£175 is shared equally among 5 people. How much does each person receive?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130 eggs are packed in cartons of 6. How many full cartons can be packed?</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32 passengers need cars with 5 passenger seats each. How many cars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250 chocolates are packed in boxes of 12. How many chocolates are left over?</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worker earns £17 per hour for 28 hours. What are their total wages?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142 rolls are sold in bags of 6. How many full bags can be made?</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£132 bill is shared equally by 8 friends. How much does each pay?</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45 tickets cost £16 each. A group gets £50 off the total. How much does it pay?</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115 passengers need vans with 8 passenger seats each. Hire costs £65 per van. Find the total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gym costs £22 per month plus a £30 joining fee. Find the cost for 14 months.</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430 cases fill boxes of 12. Each full box sells for £9. Find the income from full boxes.</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contractor charges £24 per hour for 15 hours, plus £45 for materials. Find the total bill.</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15 boxes of 12 headphones at £8 per headphone. Find the total sales income.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3  •  5/7  •  Slide 19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18 trays each hold 24 plants. How many plants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156 pens are shared equally among 6 classes. How many pens does each class get?</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orders 23 packs of 16 badges. How many badges does it order?</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£248 is shared equally among 8 people. How much does each person get?</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runner covers 12 km each week for 27 weeks. How far do they run?</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189 cm ribbon is cut into 7 equal pieces. Find the length of each piece.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197 leaflets are bundled in groups of 8. How many complete bundles can be made?</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camp has 83 people. Each tent sleeps 6. How many tents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275 cm strip is cut into 12 cm pieces. How many centimetres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printer produces 36 pages per minute. How many pages does it produce in 14 minutes?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£154 is split equally among 4 workers. How much does each receive?</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253 photos go in albums holding 24 photos. How many albums are needed for all the photos?</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28 shirts cost £14 each. Delivery costs £18. Find the total cost.</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94 people need tables seating 6 each. Tables cost £12 each to hire. Find the total hire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buys 24 packs of 15 drinks. It uses 87 drinks.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baker has 286 biscuits. Full bags hold 8 and sell for £3 each.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Four friends share the cost of 18 tickets at £12 each equally. How much does each friend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17 cartons of 24 pens at £2 per pen. Find the total sales income.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3  •  6/7  •  Slide 20</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16 boxes each hold 35 cables. How many cables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252 stickers are shared equally among 7 students. How many does each student get?</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cinema has 28 rows of 24 seats. Find the total number of seats.</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336 m cable is cut into 8 equal lengths. How long is each length?</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charity buys 19 packs of 32 cards. How many cards does it buy?</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£315 is shared equally among 9 people. How much does each receive?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245 apples are packed in bags of 8. How many full bags can be made?</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hotel has 137 guests. Each shuttle carries 9 guests. How many shuttle trips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359 beads are used in bracelets of 12 beads. How many beads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technician earns £23 per hour for 16 hours. Find their total wages.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£186 bill is shared equally by 8 people. How much does each person pay?</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Each floor tile covers 25 cm². What area do 48 tiles cover?</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gardener charges £21 per hour for 18 hours, plus £64 for plants. Find the total bill.</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167 passengers need coaches with 24 passenger seats each. Hire costs £85 per coach. Find the total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buys 32 packs of 18 cards. It gives away 145 cards.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397 oranges fill bags of 6. Each full bag sells for £4.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Six people equally share the cost of 15 meals at £14 each. How much does each person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23 boxes of 16 mugs at £5 per mug. Find the total sales income.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3  •  7/7  •  Slide 21</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27 packets each contain 18 labels. How many labels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384 books are shared equally among 8 shelves. How many books go on each shelf?</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nursery has 34 trays of 16 seedlings. How many seedlings are there?</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£425 is shared equally among 5 people. How much does each receive?</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hall has 26 rows of 35 seats. How many seats are there?</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294 cm strip is cut into 6 equal lengths. Find the length of each piece.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367 bottles are packed in boxes of 12. How many complete boxes can be packed?</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hostel has 158 guests. Each room holds 6 guests. How many rooms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413 cm ribbon is cut into 15 cm lengths. How many centimetres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machine labels 28 bottles per minute. How many does it label in 19 minutes?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£238 bill is shared equally by 8 friends. How much does each friend pay?</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319 files fit in folders holding 24 files. How many folders are needed for all the files?</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36 tickets cost £17 each. A group gets £75 off the total. How much does it pay?</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203 people need tables seating 8 each. Hire costs £15 per table. Find the total hire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buys 29 boxes of 24 notebooks. It sells 187 notebooks.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baker has 518 rolls. Full bags hold 12 and sell for £5 each.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Seven people equally share the cost of 21 meals at £16 each. How much does each person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28 boxes of 15 keyrings at £3 per keyring. Find the total sales income.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GCSE Maths Revision Starters</dc:title>
  <dc:subject>Lattice multiplication, bus stop division and application to exam problems</dc:subject>
  <dc:creator>Maths teaching resources</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