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grpSp>
        <p:nvGrpSpPr>
          <p:cNvPr id="10" name="Student lattice with deliberate error"/>
          <p:cNvGrpSpPr/>
          <p:nvPr/>
        </p:nvGrpSpPr>
        <p:grpSpPr>
          <a:xfrm>
            <a:off x="548640" y="2130552"/>
            <a:ext cx="1033272" cy="649224"/>
            <a:chOff x="548640" y="2130552"/>
            <a:chExt cx="1033272" cy="649224"/>
          </a:xfrm>
        </p:grpSpPr>
        <p:sp>
          <p:nvSpPr>
            <p:cNvPr id="11" name="TextBox 10"/>
            <p:cNvSpPr txBox="1"/>
            <p:nvPr/>
          </p:nvSpPr>
          <p:spPr>
            <a:xfrm>
              <a:off x="54864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2" name="TextBox 11"/>
            <p:cNvSpPr txBox="1"/>
            <p:nvPr/>
          </p:nvSpPr>
          <p:spPr>
            <a:xfrm>
              <a:off x="941832"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13" name="TextBox 12"/>
            <p:cNvSpPr txBox="1"/>
            <p:nvPr/>
          </p:nvSpPr>
          <p:spPr>
            <a:xfrm>
              <a:off x="1353312"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4" name="Rectangle 13"/>
            <p:cNvSpPr/>
            <p:nvPr/>
          </p:nvSpPr>
          <p:spPr>
            <a:xfrm>
              <a:off x="54864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548640"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7" name="TextBox 16"/>
            <p:cNvSpPr txBox="1"/>
            <p:nvPr/>
          </p:nvSpPr>
          <p:spPr>
            <a:xfrm>
              <a:off x="73152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8" name="Rectangle 17"/>
            <p:cNvSpPr/>
            <p:nvPr/>
          </p:nvSpPr>
          <p:spPr>
            <a:xfrm>
              <a:off x="941832"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flipV="1">
              <a:off x="941832"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41832"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21" name="TextBox 20"/>
            <p:cNvSpPr txBox="1"/>
            <p:nvPr/>
          </p:nvSpPr>
          <p:spPr>
            <a:xfrm>
              <a:off x="1124712"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grpSp>
      <p:sp>
        <p:nvSpPr>
          <p:cNvPr id="22" name="TextBox 21"/>
          <p:cNvSpPr txBox="1"/>
          <p:nvPr/>
        </p:nvSpPr>
        <p:spPr>
          <a:xfrm>
            <a:off x="2221991"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8=8; 5=5; 1=1</a:t>
            </a:r>
          </a:p>
          <a:p>
            <a:pPr>
              <a:lnSpc>
                <a:spcPts val="1836"/>
              </a:lnSpc>
              <a:spcBef>
                <a:spcPts val="0"/>
              </a:spcBef>
              <a:spcAft>
                <a:spcPts val="0"/>
              </a:spcAft>
              <a:defRPr sz="1700" b="0">
                <a:solidFill>
                  <a:srgbClr val="182B3A"/>
                </a:solidFill>
                <a:latin typeface="Arial"/>
              </a:defRPr>
            </a:pPr>
            <a:r>
              <a:t>Answer: 158</a:t>
            </a:r>
          </a:p>
        </p:txBody>
      </p:sp>
      <p:sp>
        <p:nvSpPr>
          <p:cNvPr id="23" name="Rectangle 2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68 × 4</a:t>
            </a:r>
          </a:p>
        </p:txBody>
      </p:sp>
      <p:grpSp>
        <p:nvGrpSpPr>
          <p:cNvPr id="25" name="Student lattice with deliberate error"/>
          <p:cNvGrpSpPr/>
          <p:nvPr/>
        </p:nvGrpSpPr>
        <p:grpSpPr>
          <a:xfrm>
            <a:off x="548640" y="4133088"/>
            <a:ext cx="1033272" cy="649224"/>
            <a:chOff x="548640" y="4133088"/>
            <a:chExt cx="1033272" cy="649224"/>
          </a:xfrm>
        </p:grpSpPr>
        <p:sp>
          <p:nvSpPr>
            <p:cNvPr id="26" name="TextBox 25"/>
            <p:cNvSpPr txBox="1"/>
            <p:nvPr/>
          </p:nvSpPr>
          <p:spPr>
            <a:xfrm>
              <a:off x="54864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27" name="TextBox 26"/>
            <p:cNvSpPr txBox="1"/>
            <p:nvPr/>
          </p:nvSpPr>
          <p:spPr>
            <a:xfrm>
              <a:off x="941832"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28" name="TextBox 27"/>
            <p:cNvSpPr txBox="1"/>
            <p:nvPr/>
          </p:nvSpPr>
          <p:spPr>
            <a:xfrm>
              <a:off x="1353312"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29" name="Rectangle 28"/>
            <p:cNvSpPr/>
            <p:nvPr/>
          </p:nvSpPr>
          <p:spPr>
            <a:xfrm>
              <a:off x="54864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0" name="Connector 29"/>
            <p:cNvCxnSpPr/>
            <p:nvPr/>
          </p:nvCxnSpPr>
          <p:spPr>
            <a:xfrm flipV="1">
              <a:off x="548640"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32" name="TextBox 31"/>
            <p:cNvSpPr txBox="1"/>
            <p:nvPr/>
          </p:nvSpPr>
          <p:spPr>
            <a:xfrm>
              <a:off x="73152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33" name="Rectangle 32"/>
            <p:cNvSpPr/>
            <p:nvPr/>
          </p:nvSpPr>
          <p:spPr>
            <a:xfrm>
              <a:off x="941832"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4" name="Connector 33"/>
            <p:cNvCxnSpPr/>
            <p:nvPr/>
          </p:nvCxnSpPr>
          <p:spPr>
            <a:xfrm flipV="1">
              <a:off x="941832"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41832"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36" name="TextBox 35"/>
            <p:cNvSpPr txBox="1"/>
            <p:nvPr/>
          </p:nvSpPr>
          <p:spPr>
            <a:xfrm>
              <a:off x="1124712"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37" name="TextBox 36"/>
          <p:cNvSpPr txBox="1"/>
          <p:nvPr/>
        </p:nvSpPr>
        <p:spPr>
          <a:xfrm>
            <a:off x="2221991"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7=7; 2=2</a:t>
            </a:r>
          </a:p>
          <a:p>
            <a:pPr>
              <a:lnSpc>
                <a:spcPts val="1836"/>
              </a:lnSpc>
              <a:spcBef>
                <a:spcPts val="0"/>
              </a:spcBef>
              <a:spcAft>
                <a:spcPts val="0"/>
              </a:spcAft>
              <a:defRPr sz="1700" b="0">
                <a:solidFill>
                  <a:srgbClr val="182B3A"/>
                </a:solidFill>
                <a:latin typeface="Arial"/>
              </a:defRPr>
            </a:pPr>
            <a:r>
              <a:t>Answer: 272</a:t>
            </a:r>
          </a:p>
        </p:txBody>
      </p:sp>
      <p:sp>
        <p:nvSpPr>
          <p:cNvPr id="38" name="Rectangle 37"/>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475488"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grpSp>
        <p:nvGrpSpPr>
          <p:cNvPr id="40" name="Student lattice with deliberate error"/>
          <p:cNvGrpSpPr/>
          <p:nvPr/>
        </p:nvGrpSpPr>
        <p:grpSpPr>
          <a:xfrm>
            <a:off x="548640" y="6135624"/>
            <a:ext cx="1033272" cy="941832"/>
            <a:chOff x="548640" y="6135624"/>
            <a:chExt cx="1033272" cy="941832"/>
          </a:xfrm>
        </p:grpSpPr>
        <p:sp>
          <p:nvSpPr>
            <p:cNvPr id="41" name="TextBox 40"/>
            <p:cNvSpPr txBox="1"/>
            <p:nvPr/>
          </p:nvSpPr>
          <p:spPr>
            <a:xfrm>
              <a:off x="54864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42" name="TextBox 41"/>
            <p:cNvSpPr txBox="1"/>
            <p:nvPr/>
          </p:nvSpPr>
          <p:spPr>
            <a:xfrm>
              <a:off x="941832"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43" name="TextBox 42"/>
            <p:cNvSpPr txBox="1"/>
            <p:nvPr/>
          </p:nvSpPr>
          <p:spPr>
            <a:xfrm>
              <a:off x="1353312"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44" name="Rectangle 43"/>
            <p:cNvSpPr/>
            <p:nvPr/>
          </p:nvSpPr>
          <p:spPr>
            <a:xfrm>
              <a:off x="54864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flipV="1">
              <a:off x="548640"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4864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47" name="TextBox 46"/>
            <p:cNvSpPr txBox="1"/>
            <p:nvPr/>
          </p:nvSpPr>
          <p:spPr>
            <a:xfrm>
              <a:off x="73152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9</a:t>
              </a:r>
            </a:p>
          </p:txBody>
        </p:sp>
        <p:sp>
          <p:nvSpPr>
            <p:cNvPr id="48" name="Rectangle 47"/>
            <p:cNvSpPr/>
            <p:nvPr/>
          </p:nvSpPr>
          <p:spPr>
            <a:xfrm>
              <a:off x="941832"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Connector 48"/>
            <p:cNvCxnSpPr/>
            <p:nvPr/>
          </p:nvCxnSpPr>
          <p:spPr>
            <a:xfrm flipV="1">
              <a:off x="941832"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41832"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51" name="TextBox 50"/>
            <p:cNvSpPr txBox="1"/>
            <p:nvPr/>
          </p:nvSpPr>
          <p:spPr>
            <a:xfrm>
              <a:off x="1124712"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52" name="TextBox 51"/>
            <p:cNvSpPr txBox="1"/>
            <p:nvPr/>
          </p:nvSpPr>
          <p:spPr>
            <a:xfrm>
              <a:off x="548640" y="6821424"/>
              <a:ext cx="274320" cy="256032"/>
            </a:xfrm>
            <a:prstGeom prst="rect">
              <a:avLst/>
            </a:prstGeom>
            <a:noFill/>
          </p:spPr>
          <p:txBody>
            <a:bodyPr wrap="none" lIns="0" rIns="0" tIns="0" bIns="0" anchor="ctr">
              <a:spAutoFit/>
            </a:bodyPr>
            <a:lstStyle/>
            <a:p>
              <a:pPr algn="ctr">
                <a:defRPr sz="1900" b="1">
                  <a:solidFill>
                    <a:srgbClr val="182B3A"/>
                  </a:solidFill>
                  <a:latin typeface="Arial"/>
                </a:defRPr>
              </a:pPr>
              <a:r>
                <a:t>1</a:t>
              </a:r>
            </a:p>
          </p:txBody>
        </p:sp>
      </p:grpSp>
      <p:sp>
        <p:nvSpPr>
          <p:cNvPr id="53" name="TextBox 52"/>
          <p:cNvSpPr txBox="1"/>
          <p:nvPr/>
        </p:nvSpPr>
        <p:spPr>
          <a:xfrm>
            <a:off x="2221991"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4+1=5</a:t>
            </a:r>
          </a:p>
          <a:p>
            <a:pPr>
              <a:lnSpc>
                <a:spcPts val="1836"/>
              </a:lnSpc>
              <a:spcBef>
                <a:spcPts val="0"/>
              </a:spcBef>
              <a:spcAft>
                <a:spcPts val="0"/>
              </a:spcAft>
              <a:defRPr sz="1700" b="0">
                <a:solidFill>
                  <a:srgbClr val="182B3A"/>
                </a:solidFill>
                <a:latin typeface="Arial"/>
              </a:defRPr>
            </a:pPr>
            <a:r>
              <a:t>Answer: 5132</a:t>
            </a:r>
          </a:p>
        </p:txBody>
      </p:sp>
      <p:sp>
        <p:nvSpPr>
          <p:cNvPr id="54" name="Rectangle 53"/>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56" name="Rectangle 55"/>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5096256"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12</a:t>
            </a:r>
          </a:p>
        </p:txBody>
      </p:sp>
      <p:grpSp>
        <p:nvGrpSpPr>
          <p:cNvPr id="58" name="Student lattice with deliberate error"/>
          <p:cNvGrpSpPr/>
          <p:nvPr/>
        </p:nvGrpSpPr>
        <p:grpSpPr>
          <a:xfrm>
            <a:off x="5169408" y="2130552"/>
            <a:ext cx="1033272" cy="1042416"/>
            <a:chOff x="5169408" y="2130552"/>
            <a:chExt cx="1033272" cy="1042416"/>
          </a:xfrm>
        </p:grpSpPr>
        <p:sp>
          <p:nvSpPr>
            <p:cNvPr id="59" name="TextBox 58"/>
            <p:cNvSpPr txBox="1"/>
            <p:nvPr/>
          </p:nvSpPr>
          <p:spPr>
            <a:xfrm>
              <a:off x="5169408"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60" name="TextBox 59"/>
            <p:cNvSpPr txBox="1"/>
            <p:nvPr/>
          </p:nvSpPr>
          <p:spPr>
            <a:xfrm>
              <a:off x="556260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61" name="TextBox 60"/>
            <p:cNvSpPr txBox="1"/>
            <p:nvPr/>
          </p:nvSpPr>
          <p:spPr>
            <a:xfrm>
              <a:off x="5974080"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1</a:t>
              </a:r>
            </a:p>
          </p:txBody>
        </p:sp>
        <p:sp>
          <p:nvSpPr>
            <p:cNvPr id="62" name="TextBox 61"/>
            <p:cNvSpPr txBox="1"/>
            <p:nvPr/>
          </p:nvSpPr>
          <p:spPr>
            <a:xfrm>
              <a:off x="5974080" y="277977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63" name="Rectangle 62"/>
            <p:cNvSpPr/>
            <p:nvPr/>
          </p:nvSpPr>
          <p:spPr>
            <a:xfrm>
              <a:off x="5169408"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4" name="Connector 63"/>
            <p:cNvCxnSpPr/>
            <p:nvPr/>
          </p:nvCxnSpPr>
          <p:spPr>
            <a:xfrm flipV="1">
              <a:off x="5169408"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169408"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66" name="TextBox 65"/>
            <p:cNvSpPr txBox="1"/>
            <p:nvPr/>
          </p:nvSpPr>
          <p:spPr>
            <a:xfrm>
              <a:off x="5352288"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67" name="Rectangle 66"/>
            <p:cNvSpPr/>
            <p:nvPr/>
          </p:nvSpPr>
          <p:spPr>
            <a:xfrm>
              <a:off x="556260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8" name="Connector 67"/>
            <p:cNvCxnSpPr/>
            <p:nvPr/>
          </p:nvCxnSpPr>
          <p:spPr>
            <a:xfrm flipV="1">
              <a:off x="5562600" y="2386584"/>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56260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0" name="TextBox 69"/>
            <p:cNvSpPr txBox="1"/>
            <p:nvPr/>
          </p:nvSpPr>
          <p:spPr>
            <a:xfrm>
              <a:off x="574548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71" name="Rectangle 70"/>
            <p:cNvSpPr/>
            <p:nvPr/>
          </p:nvSpPr>
          <p:spPr>
            <a:xfrm>
              <a:off x="5169408"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2" name="Connector 71"/>
            <p:cNvCxnSpPr/>
            <p:nvPr/>
          </p:nvCxnSpPr>
          <p:spPr>
            <a:xfrm flipV="1">
              <a:off x="5169408"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169408"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4" name="TextBox 73"/>
            <p:cNvSpPr txBox="1"/>
            <p:nvPr/>
          </p:nvSpPr>
          <p:spPr>
            <a:xfrm>
              <a:off x="5352288"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75" name="Rectangle 74"/>
            <p:cNvSpPr/>
            <p:nvPr/>
          </p:nvSpPr>
          <p:spPr>
            <a:xfrm>
              <a:off x="5562600"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6" name="Connector 75"/>
            <p:cNvCxnSpPr/>
            <p:nvPr/>
          </p:nvCxnSpPr>
          <p:spPr>
            <a:xfrm flipV="1">
              <a:off x="5562600" y="2779776"/>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562600"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8" name="TextBox 77"/>
            <p:cNvSpPr txBox="1"/>
            <p:nvPr/>
          </p:nvSpPr>
          <p:spPr>
            <a:xfrm>
              <a:off x="5745480"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grpSp>
      <p:sp>
        <p:nvSpPr>
          <p:cNvPr id="79" name="TextBox 78"/>
          <p:cNvSpPr txBox="1"/>
          <p:nvPr/>
        </p:nvSpPr>
        <p:spPr>
          <a:xfrm>
            <a:off x="6842760"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8=8; 10=10 → 0, c1; 3+1=4; 0=0</a:t>
            </a:r>
          </a:p>
          <a:p>
            <a:pPr>
              <a:lnSpc>
                <a:spcPts val="1836"/>
              </a:lnSpc>
              <a:spcBef>
                <a:spcPts val="0"/>
              </a:spcBef>
              <a:spcAft>
                <a:spcPts val="0"/>
              </a:spcAft>
              <a:defRPr sz="1700" b="0">
                <a:solidFill>
                  <a:srgbClr val="182B3A"/>
                </a:solidFill>
                <a:latin typeface="Arial"/>
              </a:defRPr>
            </a:pPr>
            <a:r>
              <a:t>Answer: 408</a:t>
            </a:r>
          </a:p>
        </p:txBody>
      </p:sp>
      <p:sp>
        <p:nvSpPr>
          <p:cNvPr id="80" name="Rectangle 7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5096256"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grpSp>
        <p:nvGrpSpPr>
          <p:cNvPr id="82" name="Student lattice with deliberate error"/>
          <p:cNvGrpSpPr/>
          <p:nvPr/>
        </p:nvGrpSpPr>
        <p:grpSpPr>
          <a:xfrm>
            <a:off x="5169408" y="4133088"/>
            <a:ext cx="1033272" cy="1042416"/>
            <a:chOff x="5169408" y="4133088"/>
            <a:chExt cx="1033272" cy="1042416"/>
          </a:xfrm>
        </p:grpSpPr>
        <p:sp>
          <p:nvSpPr>
            <p:cNvPr id="83" name="TextBox 82"/>
            <p:cNvSpPr txBox="1"/>
            <p:nvPr/>
          </p:nvSpPr>
          <p:spPr>
            <a:xfrm>
              <a:off x="5169408"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84" name="TextBox 83"/>
            <p:cNvSpPr txBox="1"/>
            <p:nvPr/>
          </p:nvSpPr>
          <p:spPr>
            <a:xfrm>
              <a:off x="556260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85" name="TextBox 84"/>
            <p:cNvSpPr txBox="1"/>
            <p:nvPr/>
          </p:nvSpPr>
          <p:spPr>
            <a:xfrm>
              <a:off x="5974080"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86" name="TextBox 85"/>
            <p:cNvSpPr txBox="1"/>
            <p:nvPr/>
          </p:nvSpPr>
          <p:spPr>
            <a:xfrm>
              <a:off x="5974080" y="4782312"/>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87" name="Rectangle 86"/>
            <p:cNvSpPr/>
            <p:nvPr/>
          </p:nvSpPr>
          <p:spPr>
            <a:xfrm>
              <a:off x="5169408"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8" name="Connector 87"/>
            <p:cNvCxnSpPr/>
            <p:nvPr/>
          </p:nvCxnSpPr>
          <p:spPr>
            <a:xfrm flipV="1">
              <a:off x="5169408"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169408"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90" name="TextBox 89"/>
            <p:cNvSpPr txBox="1"/>
            <p:nvPr/>
          </p:nvSpPr>
          <p:spPr>
            <a:xfrm>
              <a:off x="5352288"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91" name="Rectangle 90"/>
            <p:cNvSpPr/>
            <p:nvPr/>
          </p:nvSpPr>
          <p:spPr>
            <a:xfrm>
              <a:off x="556260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2" name="Connector 91"/>
            <p:cNvCxnSpPr/>
            <p:nvPr/>
          </p:nvCxnSpPr>
          <p:spPr>
            <a:xfrm flipV="1">
              <a:off x="5562600" y="4389120"/>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56260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94" name="TextBox 93"/>
            <p:cNvSpPr txBox="1"/>
            <p:nvPr/>
          </p:nvSpPr>
          <p:spPr>
            <a:xfrm>
              <a:off x="574548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95" name="Rectangle 94"/>
            <p:cNvSpPr/>
            <p:nvPr/>
          </p:nvSpPr>
          <p:spPr>
            <a:xfrm>
              <a:off x="5169408"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6" name="Connector 95"/>
            <p:cNvCxnSpPr/>
            <p:nvPr/>
          </p:nvCxnSpPr>
          <p:spPr>
            <a:xfrm flipV="1">
              <a:off x="5169408"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5169408"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98" name="TextBox 97"/>
            <p:cNvSpPr txBox="1"/>
            <p:nvPr/>
          </p:nvSpPr>
          <p:spPr>
            <a:xfrm>
              <a:off x="5352288"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99" name="Rectangle 98"/>
            <p:cNvSpPr/>
            <p:nvPr/>
          </p:nvSpPr>
          <p:spPr>
            <a:xfrm>
              <a:off x="5562600"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0" name="Connector 99"/>
            <p:cNvCxnSpPr/>
            <p:nvPr/>
          </p:nvCxnSpPr>
          <p:spPr>
            <a:xfrm flipV="1">
              <a:off x="5562600" y="4782312"/>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562600"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02" name="TextBox 101"/>
            <p:cNvSpPr txBox="1"/>
            <p:nvPr/>
          </p:nvSpPr>
          <p:spPr>
            <a:xfrm>
              <a:off x="5745480"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103" name="TextBox 102"/>
          <p:cNvSpPr txBox="1"/>
          <p:nvPr/>
        </p:nvSpPr>
        <p:spPr>
          <a:xfrm>
            <a:off x="6842760"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12=12 → 2, c1; 11=11 → 1, c1; 0+1=1</a:t>
            </a:r>
          </a:p>
          <a:p>
            <a:pPr>
              <a:lnSpc>
                <a:spcPts val="1836"/>
              </a:lnSpc>
              <a:spcBef>
                <a:spcPts val="0"/>
              </a:spcBef>
              <a:spcAft>
                <a:spcPts val="0"/>
              </a:spcAft>
              <a:defRPr sz="1700" b="0">
                <a:solidFill>
                  <a:srgbClr val="182B3A"/>
                </a:solidFill>
                <a:latin typeface="Arial"/>
              </a:defRPr>
            </a:pPr>
            <a:r>
              <a:t>Answer: 1122</a:t>
            </a:r>
          </a:p>
        </p:txBody>
      </p:sp>
      <p:sp>
        <p:nvSpPr>
          <p:cNvPr id="104" name="Rectangle 103"/>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grpSp>
        <p:nvGrpSpPr>
          <p:cNvPr id="106" name="Student lattice with deliberate error"/>
          <p:cNvGrpSpPr/>
          <p:nvPr/>
        </p:nvGrpSpPr>
        <p:grpSpPr>
          <a:xfrm>
            <a:off x="5169408" y="6135624"/>
            <a:ext cx="1033272" cy="1335024"/>
            <a:chOff x="5169408" y="6135624"/>
            <a:chExt cx="1033272" cy="1335024"/>
          </a:xfrm>
        </p:grpSpPr>
        <p:sp>
          <p:nvSpPr>
            <p:cNvPr id="107" name="TextBox 106"/>
            <p:cNvSpPr txBox="1"/>
            <p:nvPr/>
          </p:nvSpPr>
          <p:spPr>
            <a:xfrm>
              <a:off x="5169408"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08" name="TextBox 107"/>
            <p:cNvSpPr txBox="1"/>
            <p:nvPr/>
          </p:nvSpPr>
          <p:spPr>
            <a:xfrm>
              <a:off x="556260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109" name="TextBox 108"/>
            <p:cNvSpPr txBox="1"/>
            <p:nvPr/>
          </p:nvSpPr>
          <p:spPr>
            <a:xfrm>
              <a:off x="5974080"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10" name="TextBox 109"/>
            <p:cNvSpPr txBox="1"/>
            <p:nvPr/>
          </p:nvSpPr>
          <p:spPr>
            <a:xfrm>
              <a:off x="5974080" y="6784848"/>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11" name="Rectangle 110"/>
            <p:cNvSpPr/>
            <p:nvPr/>
          </p:nvSpPr>
          <p:spPr>
            <a:xfrm>
              <a:off x="5169408"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2" name="Connector 111"/>
            <p:cNvCxnSpPr/>
            <p:nvPr/>
          </p:nvCxnSpPr>
          <p:spPr>
            <a:xfrm flipV="1">
              <a:off x="5169408"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5169408"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14" name="TextBox 113"/>
            <p:cNvSpPr txBox="1"/>
            <p:nvPr/>
          </p:nvSpPr>
          <p:spPr>
            <a:xfrm>
              <a:off x="5352288"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15" name="Rectangle 114"/>
            <p:cNvSpPr/>
            <p:nvPr/>
          </p:nvSpPr>
          <p:spPr>
            <a:xfrm>
              <a:off x="556260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6" name="Connector 115"/>
            <p:cNvCxnSpPr/>
            <p:nvPr/>
          </p:nvCxnSpPr>
          <p:spPr>
            <a:xfrm flipV="1">
              <a:off x="5562600" y="6391656"/>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56260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18" name="TextBox 117"/>
            <p:cNvSpPr txBox="1"/>
            <p:nvPr/>
          </p:nvSpPr>
          <p:spPr>
            <a:xfrm>
              <a:off x="574548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119" name="Rectangle 118"/>
            <p:cNvSpPr/>
            <p:nvPr/>
          </p:nvSpPr>
          <p:spPr>
            <a:xfrm>
              <a:off x="5169408"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0" name="Connector 119"/>
            <p:cNvCxnSpPr/>
            <p:nvPr/>
          </p:nvCxnSpPr>
          <p:spPr>
            <a:xfrm flipV="1">
              <a:off x="5169408"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5169408"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22" name="TextBox 121"/>
            <p:cNvSpPr txBox="1"/>
            <p:nvPr/>
          </p:nvSpPr>
          <p:spPr>
            <a:xfrm>
              <a:off x="5352288"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23" name="Rectangle 122"/>
            <p:cNvSpPr/>
            <p:nvPr/>
          </p:nvSpPr>
          <p:spPr>
            <a:xfrm>
              <a:off x="5562600"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4" name="Connector 123"/>
            <p:cNvCxnSpPr/>
            <p:nvPr/>
          </p:nvCxnSpPr>
          <p:spPr>
            <a:xfrm flipV="1">
              <a:off x="5562600" y="6784848"/>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5562600"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126" name="TextBox 125"/>
            <p:cNvSpPr txBox="1"/>
            <p:nvPr/>
          </p:nvSpPr>
          <p:spPr>
            <a:xfrm>
              <a:off x="5745480"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27" name="TextBox 126"/>
            <p:cNvSpPr txBox="1"/>
            <p:nvPr/>
          </p:nvSpPr>
          <p:spPr>
            <a:xfrm>
              <a:off x="5169408" y="7214616"/>
              <a:ext cx="274320" cy="256032"/>
            </a:xfrm>
            <a:prstGeom prst="rect">
              <a:avLst/>
            </a:prstGeom>
            <a:noFill/>
          </p:spPr>
          <p:txBody>
            <a:bodyPr wrap="none" lIns="0" rIns="0" tIns="0" bIns="0" anchor="ctr">
              <a:spAutoFit/>
            </a:bodyPr>
            <a:lstStyle/>
            <a:p>
              <a:pPr algn="ctr">
                <a:defRPr sz="1900" b="1">
                  <a:solidFill>
                    <a:srgbClr val="182B3A"/>
                  </a:solidFill>
                  <a:latin typeface="Arial"/>
                </a:defRPr>
              </a:pPr>
              <a:r>
                <a:t>1</a:t>
              </a:r>
            </a:p>
          </p:txBody>
        </p:sp>
      </p:grpSp>
      <p:sp>
        <p:nvSpPr>
          <p:cNvPr id="128" name="TextBox 127"/>
          <p:cNvSpPr txBox="1"/>
          <p:nvPr/>
        </p:nvSpPr>
        <p:spPr>
          <a:xfrm>
            <a:off x="6842760"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5+1=6; 1=1</a:t>
            </a:r>
          </a:p>
          <a:p>
            <a:pPr>
              <a:lnSpc>
                <a:spcPts val="1836"/>
              </a:lnSpc>
              <a:spcBef>
                <a:spcPts val="0"/>
              </a:spcBef>
              <a:spcAft>
                <a:spcPts val="0"/>
              </a:spcAft>
              <a:defRPr sz="1700" b="0">
                <a:solidFill>
                  <a:srgbClr val="182B3A"/>
                </a:solidFill>
                <a:latin typeface="Arial"/>
              </a:defRPr>
            </a:pPr>
            <a:r>
              <a:t>Answer: 16132</a:t>
            </a:r>
          </a:p>
        </p:txBody>
      </p:sp>
      <p:sp>
        <p:nvSpPr>
          <p:cNvPr id="129" name="Rectangle 12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TextBox 12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1" name="Rectangle 130"/>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extBox 131"/>
          <p:cNvSpPr txBox="1"/>
          <p:nvPr/>
        </p:nvSpPr>
        <p:spPr>
          <a:xfrm>
            <a:off x="9717024"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grpSp>
        <p:nvGrpSpPr>
          <p:cNvPr id="133" name="Student lattice with deliberate error"/>
          <p:cNvGrpSpPr/>
          <p:nvPr/>
        </p:nvGrpSpPr>
        <p:grpSpPr>
          <a:xfrm>
            <a:off x="9790176" y="2130552"/>
            <a:ext cx="1426464" cy="1042416"/>
            <a:chOff x="9790176" y="2130552"/>
            <a:chExt cx="1426464" cy="1042416"/>
          </a:xfrm>
        </p:grpSpPr>
        <p:sp>
          <p:nvSpPr>
            <p:cNvPr id="134" name="TextBox 133"/>
            <p:cNvSpPr txBox="1"/>
            <p:nvPr/>
          </p:nvSpPr>
          <p:spPr>
            <a:xfrm>
              <a:off x="9790176"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35" name="TextBox 134"/>
            <p:cNvSpPr txBox="1"/>
            <p:nvPr/>
          </p:nvSpPr>
          <p:spPr>
            <a:xfrm>
              <a:off x="10183368"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136" name="TextBox 135"/>
            <p:cNvSpPr txBox="1"/>
            <p:nvPr/>
          </p:nvSpPr>
          <p:spPr>
            <a:xfrm>
              <a:off x="1057656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37" name="TextBox 136"/>
            <p:cNvSpPr txBox="1"/>
            <p:nvPr/>
          </p:nvSpPr>
          <p:spPr>
            <a:xfrm>
              <a:off x="10988040"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5</a:t>
              </a:r>
            </a:p>
          </p:txBody>
        </p:sp>
        <p:sp>
          <p:nvSpPr>
            <p:cNvPr id="138" name="TextBox 137"/>
            <p:cNvSpPr txBox="1"/>
            <p:nvPr/>
          </p:nvSpPr>
          <p:spPr>
            <a:xfrm>
              <a:off x="10988040" y="277977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39" name="Rectangle 138"/>
            <p:cNvSpPr/>
            <p:nvPr/>
          </p:nvSpPr>
          <p:spPr>
            <a:xfrm>
              <a:off x="9790176"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0" name="Connector 139"/>
            <p:cNvCxnSpPr/>
            <p:nvPr/>
          </p:nvCxnSpPr>
          <p:spPr>
            <a:xfrm flipV="1">
              <a:off x="9790176"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9790176"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42" name="TextBox 141"/>
            <p:cNvSpPr txBox="1"/>
            <p:nvPr/>
          </p:nvSpPr>
          <p:spPr>
            <a:xfrm>
              <a:off x="9973056"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43" name="Rectangle 142"/>
            <p:cNvSpPr/>
            <p:nvPr/>
          </p:nvSpPr>
          <p:spPr>
            <a:xfrm>
              <a:off x="10183368"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4" name="Connector 143"/>
            <p:cNvCxnSpPr/>
            <p:nvPr/>
          </p:nvCxnSpPr>
          <p:spPr>
            <a:xfrm flipV="1">
              <a:off x="10183368"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10183368"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46" name="TextBox 145"/>
            <p:cNvSpPr txBox="1"/>
            <p:nvPr/>
          </p:nvSpPr>
          <p:spPr>
            <a:xfrm>
              <a:off x="10366248"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147" name="Rectangle 146"/>
            <p:cNvSpPr/>
            <p:nvPr/>
          </p:nvSpPr>
          <p:spPr>
            <a:xfrm>
              <a:off x="1057656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8" name="Connector 147"/>
            <p:cNvCxnSpPr/>
            <p:nvPr/>
          </p:nvCxnSpPr>
          <p:spPr>
            <a:xfrm flipV="1">
              <a:off x="10576560"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1057656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50" name="TextBox 149"/>
            <p:cNvSpPr txBox="1"/>
            <p:nvPr/>
          </p:nvSpPr>
          <p:spPr>
            <a:xfrm>
              <a:off x="1075944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51" name="Rectangle 150"/>
            <p:cNvSpPr/>
            <p:nvPr/>
          </p:nvSpPr>
          <p:spPr>
            <a:xfrm>
              <a:off x="9790176"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2" name="Connector 151"/>
            <p:cNvCxnSpPr/>
            <p:nvPr/>
          </p:nvCxnSpPr>
          <p:spPr>
            <a:xfrm flipV="1">
              <a:off x="9790176"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9790176"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54" name="TextBox 153"/>
            <p:cNvSpPr txBox="1"/>
            <p:nvPr/>
          </p:nvSpPr>
          <p:spPr>
            <a:xfrm>
              <a:off x="9973056"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55" name="Rectangle 154"/>
            <p:cNvSpPr/>
            <p:nvPr/>
          </p:nvSpPr>
          <p:spPr>
            <a:xfrm>
              <a:off x="10183368"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6" name="Connector 155"/>
            <p:cNvCxnSpPr/>
            <p:nvPr/>
          </p:nvCxnSpPr>
          <p:spPr>
            <a:xfrm flipV="1">
              <a:off x="10183368"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10183368"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58" name="TextBox 157"/>
            <p:cNvSpPr txBox="1"/>
            <p:nvPr/>
          </p:nvSpPr>
          <p:spPr>
            <a:xfrm>
              <a:off x="10366248"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59" name="Rectangle 158"/>
            <p:cNvSpPr/>
            <p:nvPr/>
          </p:nvSpPr>
          <p:spPr>
            <a:xfrm>
              <a:off x="10576560"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0" name="Connector 159"/>
            <p:cNvCxnSpPr/>
            <p:nvPr/>
          </p:nvCxnSpPr>
          <p:spPr>
            <a:xfrm flipV="1">
              <a:off x="10576560"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10576560"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62" name="TextBox 161"/>
            <p:cNvSpPr txBox="1"/>
            <p:nvPr/>
          </p:nvSpPr>
          <p:spPr>
            <a:xfrm>
              <a:off x="10759440"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grpSp>
      <p:sp>
        <p:nvSpPr>
          <p:cNvPr id="163" name="TextBox 162"/>
          <p:cNvSpPr txBox="1"/>
          <p:nvPr/>
        </p:nvSpPr>
        <p:spPr>
          <a:xfrm>
            <a:off x="11463528"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6=6; 8=8; 10=10 → 0, c1; 2+1=3; 1=1</a:t>
            </a:r>
          </a:p>
          <a:p>
            <a:pPr>
              <a:lnSpc>
                <a:spcPts val="1836"/>
              </a:lnSpc>
              <a:spcBef>
                <a:spcPts val="0"/>
              </a:spcBef>
              <a:spcAft>
                <a:spcPts val="0"/>
              </a:spcAft>
              <a:defRPr sz="1700" b="0">
                <a:solidFill>
                  <a:srgbClr val="182B3A"/>
                </a:solidFill>
                <a:latin typeface="Arial"/>
              </a:defRPr>
            </a:pPr>
            <a:r>
              <a:t>Answer: 13086</a:t>
            </a:r>
          </a:p>
        </p:txBody>
      </p:sp>
      <p:sp>
        <p:nvSpPr>
          <p:cNvPr id="164" name="Rectangle 163"/>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5" name="TextBox 164"/>
          <p:cNvSpPr txBox="1"/>
          <p:nvPr/>
        </p:nvSpPr>
        <p:spPr>
          <a:xfrm>
            <a:off x="9717024"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grpSp>
        <p:nvGrpSpPr>
          <p:cNvPr id="166" name="Student lattice with deliberate error"/>
          <p:cNvGrpSpPr/>
          <p:nvPr/>
        </p:nvGrpSpPr>
        <p:grpSpPr>
          <a:xfrm>
            <a:off x="9790176" y="4133088"/>
            <a:ext cx="1426464" cy="1042416"/>
            <a:chOff x="9790176" y="4133088"/>
            <a:chExt cx="1426464" cy="1042416"/>
          </a:xfrm>
        </p:grpSpPr>
        <p:sp>
          <p:nvSpPr>
            <p:cNvPr id="167" name="TextBox 166"/>
            <p:cNvSpPr txBox="1"/>
            <p:nvPr/>
          </p:nvSpPr>
          <p:spPr>
            <a:xfrm>
              <a:off x="9790176"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68" name="TextBox 167"/>
            <p:cNvSpPr txBox="1"/>
            <p:nvPr/>
          </p:nvSpPr>
          <p:spPr>
            <a:xfrm>
              <a:off x="10183368"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169" name="TextBox 168"/>
            <p:cNvSpPr txBox="1"/>
            <p:nvPr/>
          </p:nvSpPr>
          <p:spPr>
            <a:xfrm>
              <a:off x="1057656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70" name="TextBox 169"/>
            <p:cNvSpPr txBox="1"/>
            <p:nvPr/>
          </p:nvSpPr>
          <p:spPr>
            <a:xfrm>
              <a:off x="10988040"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171" name="TextBox 170"/>
            <p:cNvSpPr txBox="1"/>
            <p:nvPr/>
          </p:nvSpPr>
          <p:spPr>
            <a:xfrm>
              <a:off x="10988040" y="4782312"/>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72" name="Rectangle 171"/>
            <p:cNvSpPr/>
            <p:nvPr/>
          </p:nvSpPr>
          <p:spPr>
            <a:xfrm>
              <a:off x="9790176"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3" name="Connector 172"/>
            <p:cNvCxnSpPr/>
            <p:nvPr/>
          </p:nvCxnSpPr>
          <p:spPr>
            <a:xfrm flipV="1">
              <a:off x="9790176"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9790176"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175" name="TextBox 174"/>
            <p:cNvSpPr txBox="1"/>
            <p:nvPr/>
          </p:nvSpPr>
          <p:spPr>
            <a:xfrm>
              <a:off x="9973056"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76" name="Rectangle 175"/>
            <p:cNvSpPr/>
            <p:nvPr/>
          </p:nvSpPr>
          <p:spPr>
            <a:xfrm>
              <a:off x="10183368"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7" name="Connector 176"/>
            <p:cNvCxnSpPr/>
            <p:nvPr/>
          </p:nvCxnSpPr>
          <p:spPr>
            <a:xfrm flipV="1">
              <a:off x="10183368"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0183368"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179" name="TextBox 178"/>
            <p:cNvSpPr txBox="1"/>
            <p:nvPr/>
          </p:nvSpPr>
          <p:spPr>
            <a:xfrm>
              <a:off x="10366248"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180" name="Rectangle 179"/>
            <p:cNvSpPr/>
            <p:nvPr/>
          </p:nvSpPr>
          <p:spPr>
            <a:xfrm>
              <a:off x="1057656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1" name="Connector 180"/>
            <p:cNvCxnSpPr/>
            <p:nvPr/>
          </p:nvCxnSpPr>
          <p:spPr>
            <a:xfrm flipV="1">
              <a:off x="10576560"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57656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83" name="TextBox 182"/>
            <p:cNvSpPr txBox="1"/>
            <p:nvPr/>
          </p:nvSpPr>
          <p:spPr>
            <a:xfrm>
              <a:off x="1075944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84" name="Rectangle 183"/>
            <p:cNvSpPr/>
            <p:nvPr/>
          </p:nvSpPr>
          <p:spPr>
            <a:xfrm>
              <a:off x="9790176"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5" name="Connector 184"/>
            <p:cNvCxnSpPr/>
            <p:nvPr/>
          </p:nvCxnSpPr>
          <p:spPr>
            <a:xfrm flipV="1">
              <a:off x="9790176"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9790176"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87" name="TextBox 186"/>
            <p:cNvSpPr txBox="1"/>
            <p:nvPr/>
          </p:nvSpPr>
          <p:spPr>
            <a:xfrm>
              <a:off x="9973056"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88" name="Rectangle 187"/>
            <p:cNvSpPr/>
            <p:nvPr/>
          </p:nvSpPr>
          <p:spPr>
            <a:xfrm>
              <a:off x="10183368"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9" name="Connector 188"/>
            <p:cNvCxnSpPr/>
            <p:nvPr/>
          </p:nvCxnSpPr>
          <p:spPr>
            <a:xfrm flipV="1">
              <a:off x="10183368"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0" name="TextBox 189"/>
            <p:cNvSpPr txBox="1"/>
            <p:nvPr/>
          </p:nvSpPr>
          <p:spPr>
            <a:xfrm>
              <a:off x="10183368"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91" name="TextBox 190"/>
            <p:cNvSpPr txBox="1"/>
            <p:nvPr/>
          </p:nvSpPr>
          <p:spPr>
            <a:xfrm>
              <a:off x="10366248"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92" name="Rectangle 191"/>
            <p:cNvSpPr/>
            <p:nvPr/>
          </p:nvSpPr>
          <p:spPr>
            <a:xfrm>
              <a:off x="10576560"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3" name="Connector 192"/>
            <p:cNvCxnSpPr/>
            <p:nvPr/>
          </p:nvCxnSpPr>
          <p:spPr>
            <a:xfrm flipV="1">
              <a:off x="10576560"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4" name="TextBox 193"/>
            <p:cNvSpPr txBox="1"/>
            <p:nvPr/>
          </p:nvSpPr>
          <p:spPr>
            <a:xfrm>
              <a:off x="10576560"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95" name="TextBox 194"/>
            <p:cNvSpPr txBox="1"/>
            <p:nvPr/>
          </p:nvSpPr>
          <p:spPr>
            <a:xfrm>
              <a:off x="10759440"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196" name="TextBox 195"/>
          <p:cNvSpPr txBox="1"/>
          <p:nvPr/>
        </p:nvSpPr>
        <p:spPr>
          <a:xfrm>
            <a:off x="11463528"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19=19 → 9, c1; 7+1=8; 3=3</a:t>
            </a:r>
          </a:p>
          <a:p>
            <a:pPr>
              <a:lnSpc>
                <a:spcPts val="1836"/>
              </a:lnSpc>
              <a:spcBef>
                <a:spcPts val="0"/>
              </a:spcBef>
              <a:spcAft>
                <a:spcPts val="0"/>
              </a:spcAft>
              <a:defRPr sz="1700" b="0">
                <a:solidFill>
                  <a:srgbClr val="182B3A"/>
                </a:solidFill>
                <a:latin typeface="Arial"/>
              </a:defRPr>
            </a:pPr>
            <a:r>
              <a:t>Answer: 38932</a:t>
            </a:r>
          </a:p>
        </p:txBody>
      </p:sp>
      <p:sp>
        <p:nvSpPr>
          <p:cNvPr id="197" name="Rectangle 196"/>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TextBox 197"/>
          <p:cNvSpPr txBox="1"/>
          <p:nvPr/>
        </p:nvSpPr>
        <p:spPr>
          <a:xfrm>
            <a:off x="9717024"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grpSp>
        <p:nvGrpSpPr>
          <p:cNvPr id="199" name="Student lattice with deliberate error"/>
          <p:cNvGrpSpPr/>
          <p:nvPr/>
        </p:nvGrpSpPr>
        <p:grpSpPr>
          <a:xfrm>
            <a:off x="9790176" y="6135624"/>
            <a:ext cx="1426464" cy="1042416"/>
            <a:chOff x="9790176" y="6135624"/>
            <a:chExt cx="1426464" cy="1042416"/>
          </a:xfrm>
        </p:grpSpPr>
        <p:sp>
          <p:nvSpPr>
            <p:cNvPr id="200" name="TextBox 199"/>
            <p:cNvSpPr txBox="1"/>
            <p:nvPr/>
          </p:nvSpPr>
          <p:spPr>
            <a:xfrm>
              <a:off x="9790176"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201" name="TextBox 200"/>
            <p:cNvSpPr txBox="1"/>
            <p:nvPr/>
          </p:nvSpPr>
          <p:spPr>
            <a:xfrm>
              <a:off x="10183368"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202" name="TextBox 201"/>
            <p:cNvSpPr txBox="1"/>
            <p:nvPr/>
          </p:nvSpPr>
          <p:spPr>
            <a:xfrm>
              <a:off x="1057656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203" name="TextBox 202"/>
            <p:cNvSpPr txBox="1"/>
            <p:nvPr/>
          </p:nvSpPr>
          <p:spPr>
            <a:xfrm>
              <a:off x="10988040"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5</a:t>
              </a:r>
            </a:p>
          </p:txBody>
        </p:sp>
        <p:sp>
          <p:nvSpPr>
            <p:cNvPr id="204" name="TextBox 203"/>
            <p:cNvSpPr txBox="1"/>
            <p:nvPr/>
          </p:nvSpPr>
          <p:spPr>
            <a:xfrm>
              <a:off x="10988040" y="6784848"/>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9</a:t>
              </a:r>
            </a:p>
          </p:txBody>
        </p:sp>
        <p:sp>
          <p:nvSpPr>
            <p:cNvPr id="205" name="Rectangle 204"/>
            <p:cNvSpPr/>
            <p:nvPr/>
          </p:nvSpPr>
          <p:spPr>
            <a:xfrm>
              <a:off x="9790176"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6" name="Connector 205"/>
            <p:cNvCxnSpPr/>
            <p:nvPr/>
          </p:nvCxnSpPr>
          <p:spPr>
            <a:xfrm flipV="1">
              <a:off x="9790176"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9790176"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208" name="TextBox 207"/>
            <p:cNvSpPr txBox="1"/>
            <p:nvPr/>
          </p:nvSpPr>
          <p:spPr>
            <a:xfrm>
              <a:off x="9973056"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209" name="Rectangle 208"/>
            <p:cNvSpPr/>
            <p:nvPr/>
          </p:nvSpPr>
          <p:spPr>
            <a:xfrm>
              <a:off x="10183368"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0" name="Connector 209"/>
            <p:cNvCxnSpPr/>
            <p:nvPr/>
          </p:nvCxnSpPr>
          <p:spPr>
            <a:xfrm flipV="1">
              <a:off x="10183368"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1" name="TextBox 210"/>
            <p:cNvSpPr txBox="1"/>
            <p:nvPr/>
          </p:nvSpPr>
          <p:spPr>
            <a:xfrm>
              <a:off x="10183368"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212" name="TextBox 211"/>
            <p:cNvSpPr txBox="1"/>
            <p:nvPr/>
          </p:nvSpPr>
          <p:spPr>
            <a:xfrm>
              <a:off x="10366248"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213" name="Rectangle 212"/>
            <p:cNvSpPr/>
            <p:nvPr/>
          </p:nvSpPr>
          <p:spPr>
            <a:xfrm>
              <a:off x="1057656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4" name="Connector 213"/>
            <p:cNvCxnSpPr/>
            <p:nvPr/>
          </p:nvCxnSpPr>
          <p:spPr>
            <a:xfrm flipV="1">
              <a:off x="10576560"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1057656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216" name="TextBox 215"/>
            <p:cNvSpPr txBox="1"/>
            <p:nvPr/>
          </p:nvSpPr>
          <p:spPr>
            <a:xfrm>
              <a:off x="1075944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217" name="Rectangle 216"/>
            <p:cNvSpPr/>
            <p:nvPr/>
          </p:nvSpPr>
          <p:spPr>
            <a:xfrm>
              <a:off x="9790176"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8" name="Connector 217"/>
            <p:cNvCxnSpPr/>
            <p:nvPr/>
          </p:nvCxnSpPr>
          <p:spPr>
            <a:xfrm flipV="1">
              <a:off x="9790176"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9790176"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220" name="TextBox 219"/>
            <p:cNvSpPr txBox="1"/>
            <p:nvPr/>
          </p:nvSpPr>
          <p:spPr>
            <a:xfrm>
              <a:off x="9973056"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221" name="Rectangle 220"/>
            <p:cNvSpPr/>
            <p:nvPr/>
          </p:nvSpPr>
          <p:spPr>
            <a:xfrm>
              <a:off x="10183368"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2" name="Connector 221"/>
            <p:cNvCxnSpPr/>
            <p:nvPr/>
          </p:nvCxnSpPr>
          <p:spPr>
            <a:xfrm flipV="1">
              <a:off x="10183368"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3" name="TextBox 222"/>
            <p:cNvSpPr txBox="1"/>
            <p:nvPr/>
          </p:nvSpPr>
          <p:spPr>
            <a:xfrm>
              <a:off x="10183368"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224" name="TextBox 223"/>
            <p:cNvSpPr txBox="1"/>
            <p:nvPr/>
          </p:nvSpPr>
          <p:spPr>
            <a:xfrm>
              <a:off x="10366248"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7</a:t>
              </a:r>
            </a:p>
          </p:txBody>
        </p:sp>
        <p:sp>
          <p:nvSpPr>
            <p:cNvPr id="225" name="Rectangle 224"/>
            <p:cNvSpPr/>
            <p:nvPr/>
          </p:nvSpPr>
          <p:spPr>
            <a:xfrm>
              <a:off x="10576560"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6" name="Connector 225"/>
            <p:cNvCxnSpPr/>
            <p:nvPr/>
          </p:nvCxnSpPr>
          <p:spPr>
            <a:xfrm flipV="1">
              <a:off x="10576560"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7" name="TextBox 226"/>
            <p:cNvSpPr txBox="1"/>
            <p:nvPr/>
          </p:nvSpPr>
          <p:spPr>
            <a:xfrm>
              <a:off x="10576560"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7</a:t>
              </a:r>
            </a:p>
          </p:txBody>
        </p:sp>
        <p:sp>
          <p:nvSpPr>
            <p:cNvPr id="228" name="TextBox 227"/>
            <p:cNvSpPr txBox="1"/>
            <p:nvPr/>
          </p:nvSpPr>
          <p:spPr>
            <a:xfrm>
              <a:off x="10759440"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229" name="TextBox 228"/>
          <p:cNvSpPr txBox="1"/>
          <p:nvPr/>
        </p:nvSpPr>
        <p:spPr>
          <a:xfrm>
            <a:off x="11463528"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14=14 → 4, c1; 15+1=16 → 6, c1; 6+1=7; 2=2</a:t>
            </a:r>
          </a:p>
          <a:p>
            <a:pPr>
              <a:lnSpc>
                <a:spcPts val="1836"/>
              </a:lnSpc>
              <a:spcBef>
                <a:spcPts val="0"/>
              </a:spcBef>
              <a:spcAft>
                <a:spcPts val="0"/>
              </a:spcAft>
              <a:defRPr sz="1700" b="0">
                <a:solidFill>
                  <a:srgbClr val="182B3A"/>
                </a:solidFill>
                <a:latin typeface="Arial"/>
              </a:defRPr>
            </a:pPr>
            <a:r>
              <a:t>Answer: 27642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84 ÷ 4</a:t>
            </a:r>
          </a:p>
        </p:txBody>
      </p:sp>
      <p:sp>
        <p:nvSpPr>
          <p:cNvPr id="10" name="TextBox 9"/>
          <p:cNvSpPr txBox="1"/>
          <p:nvPr/>
        </p:nvSpPr>
        <p:spPr>
          <a:xfrm>
            <a:off x="475488"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8 ÷ 4 = 2</a:t>
            </a:r>
          </a:p>
          <a:p>
            <a:pPr>
              <a:lnSpc>
                <a:spcPts val="1944"/>
              </a:lnSpc>
              <a:spcBef>
                <a:spcPts val="0"/>
              </a:spcBef>
              <a:spcAft>
                <a:spcPts val="0"/>
              </a:spcAft>
              <a:defRPr sz="1800" b="0">
                <a:solidFill>
                  <a:srgbClr val="182B3A"/>
                </a:solidFill>
                <a:latin typeface="Arial"/>
              </a:defRPr>
            </a:pPr>
            <a:r>
              <a:t>4 ÷ 4 = 0</a:t>
            </a:r>
          </a:p>
          <a:p>
            <a:pPr>
              <a:lnSpc>
                <a:spcPts val="1944"/>
              </a:lnSpc>
              <a:spcBef>
                <a:spcPts val="0"/>
              </a:spcBef>
              <a:spcAft>
                <a:spcPts val="0"/>
              </a:spcAft>
              <a:defRPr sz="1800" b="0">
                <a:solidFill>
                  <a:srgbClr val="182B3A"/>
                </a:solidFill>
                <a:latin typeface="Arial"/>
              </a:defRPr>
            </a:pPr>
            <a:r>
              <a:t>Answer: 20</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505 ÷ 5</a:t>
            </a:r>
          </a:p>
        </p:txBody>
      </p:sp>
      <p:sp>
        <p:nvSpPr>
          <p:cNvPr id="13" name="TextBox 12"/>
          <p:cNvSpPr txBox="1"/>
          <p:nvPr/>
        </p:nvSpPr>
        <p:spPr>
          <a:xfrm>
            <a:off x="475488"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5 ÷ 5 = 1; 0 ÷ 5 = 0</a:t>
            </a:r>
          </a:p>
          <a:p>
            <a:pPr>
              <a:lnSpc>
                <a:spcPts val="1944"/>
              </a:lnSpc>
              <a:spcBef>
                <a:spcPts val="0"/>
              </a:spcBef>
              <a:spcAft>
                <a:spcPts val="0"/>
              </a:spcAft>
              <a:defRPr sz="1800" b="0">
                <a:solidFill>
                  <a:srgbClr val="182B3A"/>
                </a:solidFill>
                <a:latin typeface="Arial"/>
              </a:defRPr>
            </a:pPr>
            <a:r>
              <a:t>5 ÷ 5 = 1</a:t>
            </a:r>
          </a:p>
          <a:p>
            <a:pPr>
              <a:lnSpc>
                <a:spcPts val="1944"/>
              </a:lnSpc>
              <a:spcBef>
                <a:spcPts val="0"/>
              </a:spcBef>
              <a:spcAft>
                <a:spcPts val="0"/>
              </a:spcAft>
              <a:defRPr sz="1800" b="0">
                <a:solidFill>
                  <a:srgbClr val="182B3A"/>
                </a:solidFill>
                <a:latin typeface="Arial"/>
              </a:defRPr>
            </a:pPr>
            <a:r>
              <a:t>Leave out the zero: 11</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96 ÷ 3</a:t>
            </a:r>
          </a:p>
        </p:txBody>
      </p:sp>
      <p:sp>
        <p:nvSpPr>
          <p:cNvPr id="16" name="TextBox 15"/>
          <p:cNvSpPr txBox="1"/>
          <p:nvPr/>
        </p:nvSpPr>
        <p:spPr>
          <a:xfrm>
            <a:off x="475488"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 ÷ 3 = 3</a:t>
            </a:r>
          </a:p>
          <a:p>
            <a:pPr>
              <a:lnSpc>
                <a:spcPts val="1944"/>
              </a:lnSpc>
              <a:spcBef>
                <a:spcPts val="0"/>
              </a:spcBef>
              <a:spcAft>
                <a:spcPts val="0"/>
              </a:spcAft>
              <a:defRPr sz="1800" b="0">
                <a:solidFill>
                  <a:srgbClr val="182B3A"/>
                </a:solidFill>
                <a:latin typeface="Arial"/>
              </a:defRPr>
            </a:pPr>
            <a:r>
              <a:t>6 ÷ 3 = 3</a:t>
            </a:r>
          </a:p>
          <a:p>
            <a:pPr>
              <a:lnSpc>
                <a:spcPts val="1944"/>
              </a:lnSpc>
              <a:spcBef>
                <a:spcPts val="0"/>
              </a:spcBef>
              <a:spcAft>
                <a:spcPts val="0"/>
              </a:spcAft>
              <a:defRPr sz="1800" b="0">
                <a:solidFill>
                  <a:srgbClr val="182B3A"/>
                </a:solidFill>
                <a:latin typeface="Arial"/>
              </a:defRPr>
            </a:pPr>
            <a:r>
              <a:t>Answer: 33</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145 ÷ 6</a:t>
            </a:r>
          </a:p>
        </p:txBody>
      </p:sp>
      <p:sp>
        <p:nvSpPr>
          <p:cNvPr id="21" name="TextBox 20"/>
          <p:cNvSpPr txBox="1"/>
          <p:nvPr/>
        </p:nvSpPr>
        <p:spPr>
          <a:xfrm>
            <a:off x="5096256"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 ÷ 6 = 2 r 2</a:t>
            </a:r>
          </a:p>
          <a:p>
            <a:pPr>
              <a:lnSpc>
                <a:spcPts val="1944"/>
              </a:lnSpc>
              <a:spcBef>
                <a:spcPts val="0"/>
              </a:spcBef>
              <a:spcAft>
                <a:spcPts val="0"/>
              </a:spcAft>
              <a:defRPr sz="1800" b="0">
                <a:solidFill>
                  <a:srgbClr val="182B3A"/>
                </a:solidFill>
                <a:latin typeface="Arial"/>
              </a:defRPr>
            </a:pPr>
            <a:r>
              <a:t>5 ÷ 6 = 0 r 5</a:t>
            </a:r>
          </a:p>
          <a:p>
            <a:pPr>
              <a:lnSpc>
                <a:spcPts val="1944"/>
              </a:lnSpc>
              <a:spcBef>
                <a:spcPts val="0"/>
              </a:spcBef>
              <a:spcAft>
                <a:spcPts val="0"/>
              </a:spcAft>
              <a:defRPr sz="1800" b="0">
                <a:solidFill>
                  <a:srgbClr val="182B3A"/>
                </a:solidFill>
                <a:latin typeface="Arial"/>
              </a:defRPr>
            </a:pPr>
            <a:r>
              <a:t>Answer: 20 r 5</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132 ÷ 8 (decimal answer)</a:t>
            </a:r>
          </a:p>
        </p:txBody>
      </p:sp>
      <p:sp>
        <p:nvSpPr>
          <p:cNvPr id="24" name="TextBox 23"/>
          <p:cNvSpPr txBox="1"/>
          <p:nvPr/>
        </p:nvSpPr>
        <p:spPr>
          <a:xfrm>
            <a:off x="5096256"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 ÷ 8 = 1 r 5</a:t>
            </a:r>
          </a:p>
          <a:p>
            <a:pPr>
              <a:lnSpc>
                <a:spcPts val="1944"/>
              </a:lnSpc>
              <a:spcBef>
                <a:spcPts val="0"/>
              </a:spcBef>
              <a:spcAft>
                <a:spcPts val="0"/>
              </a:spcAft>
              <a:defRPr sz="1800" b="0">
                <a:solidFill>
                  <a:srgbClr val="182B3A"/>
                </a:solidFill>
                <a:latin typeface="Arial"/>
              </a:defRPr>
            </a:pPr>
            <a:r>
              <a:t>52 ÷ 8 = 6 r 4</a:t>
            </a:r>
          </a:p>
          <a:p>
            <a:pPr>
              <a:lnSpc>
                <a:spcPts val="1944"/>
              </a:lnSpc>
              <a:spcBef>
                <a:spcPts val="0"/>
              </a:spcBef>
              <a:spcAft>
                <a:spcPts val="0"/>
              </a:spcAft>
              <a:defRPr sz="1800" b="0">
                <a:solidFill>
                  <a:srgbClr val="182B3A"/>
                </a:solidFill>
                <a:latin typeface="Arial"/>
              </a:defRPr>
            </a:pPr>
            <a:r>
              <a:t>Answer: 16.4</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245 ÷ 6</a:t>
            </a:r>
          </a:p>
        </p:txBody>
      </p:sp>
      <p:sp>
        <p:nvSpPr>
          <p:cNvPr id="27" name="TextBox 26"/>
          <p:cNvSpPr txBox="1"/>
          <p:nvPr/>
        </p:nvSpPr>
        <p:spPr>
          <a:xfrm>
            <a:off x="5096256"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 ÷ 6 = 3 r 6</a:t>
            </a:r>
          </a:p>
          <a:p>
            <a:pPr>
              <a:lnSpc>
                <a:spcPts val="1944"/>
              </a:lnSpc>
              <a:spcBef>
                <a:spcPts val="0"/>
              </a:spcBef>
              <a:spcAft>
                <a:spcPts val="0"/>
              </a:spcAft>
              <a:defRPr sz="1800" b="0">
                <a:solidFill>
                  <a:srgbClr val="182B3A"/>
                </a:solidFill>
                <a:latin typeface="Arial"/>
              </a:defRPr>
            </a:pPr>
            <a:r>
              <a:t>65 ÷ 6 = 10 r 5</a:t>
            </a:r>
          </a:p>
          <a:p>
            <a:pPr>
              <a:lnSpc>
                <a:spcPts val="1944"/>
              </a:lnSpc>
              <a:spcBef>
                <a:spcPts val="0"/>
              </a:spcBef>
              <a:spcAft>
                <a:spcPts val="0"/>
              </a:spcAft>
              <a:defRPr sz="1800" b="0">
                <a:solidFill>
                  <a:srgbClr val="182B3A"/>
                </a:solidFill>
                <a:latin typeface="Arial"/>
              </a:defRPr>
            </a:pPr>
            <a:r>
              <a:t>Answer: 310 r 5</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1,248 ÷ 12</a:t>
            </a:r>
          </a:p>
        </p:txBody>
      </p:sp>
      <p:sp>
        <p:nvSpPr>
          <p:cNvPr id="32" name="TextBox 31"/>
          <p:cNvSpPr txBox="1"/>
          <p:nvPr/>
        </p:nvSpPr>
        <p:spPr>
          <a:xfrm>
            <a:off x="9717024"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12 ÷ 12 = 1</a:t>
            </a:r>
          </a:p>
          <a:p>
            <a:pPr>
              <a:lnSpc>
                <a:spcPts val="1944"/>
              </a:lnSpc>
              <a:spcBef>
                <a:spcPts val="0"/>
              </a:spcBef>
              <a:spcAft>
                <a:spcPts val="0"/>
              </a:spcAft>
              <a:defRPr sz="1800" b="0">
                <a:solidFill>
                  <a:srgbClr val="182B3A"/>
                </a:solidFill>
                <a:latin typeface="Arial"/>
              </a:defRPr>
            </a:pPr>
            <a:r>
              <a:t>4 ÷ 12 = 0 r 4</a:t>
            </a:r>
          </a:p>
          <a:p>
            <a:pPr>
              <a:lnSpc>
                <a:spcPts val="1944"/>
              </a:lnSpc>
              <a:spcBef>
                <a:spcPts val="0"/>
              </a:spcBef>
              <a:spcAft>
                <a:spcPts val="0"/>
              </a:spcAft>
              <a:defRPr sz="1800" b="0">
                <a:solidFill>
                  <a:srgbClr val="182B3A"/>
                </a:solidFill>
                <a:latin typeface="Arial"/>
              </a:defRPr>
            </a:pPr>
            <a:r>
              <a:t>48 ÷ 12 = 4</a:t>
            </a:r>
          </a:p>
          <a:p>
            <a:pPr>
              <a:lnSpc>
                <a:spcPts val="1944"/>
              </a:lnSpc>
              <a:spcBef>
                <a:spcPts val="0"/>
              </a:spcBef>
              <a:spcAft>
                <a:spcPts val="0"/>
              </a:spcAft>
              <a:defRPr sz="1800" b="0">
                <a:solidFill>
                  <a:srgbClr val="182B3A"/>
                </a:solidFill>
                <a:latin typeface="Arial"/>
              </a:defRPr>
            </a:pPr>
            <a:r>
              <a:t>Answer: 14</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615 ÷ 12 (decimal answer)</a:t>
            </a:r>
          </a:p>
        </p:txBody>
      </p:sp>
      <p:sp>
        <p:nvSpPr>
          <p:cNvPr id="35" name="TextBox 34"/>
          <p:cNvSpPr txBox="1"/>
          <p:nvPr/>
        </p:nvSpPr>
        <p:spPr>
          <a:xfrm>
            <a:off x="9717024"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61 ÷ 12 = 5 r 1</a:t>
            </a:r>
          </a:p>
          <a:p>
            <a:pPr>
              <a:lnSpc>
                <a:spcPts val="1944"/>
              </a:lnSpc>
              <a:spcBef>
                <a:spcPts val="0"/>
              </a:spcBef>
              <a:spcAft>
                <a:spcPts val="0"/>
              </a:spcAft>
              <a:defRPr sz="1800" b="0">
                <a:solidFill>
                  <a:srgbClr val="182B3A"/>
                </a:solidFill>
                <a:latin typeface="Arial"/>
              </a:defRPr>
            </a:pPr>
            <a:r>
              <a:t>15 ÷ 12 = 1 r 3</a:t>
            </a:r>
          </a:p>
          <a:p>
            <a:pPr>
              <a:lnSpc>
                <a:spcPts val="1944"/>
              </a:lnSpc>
              <a:spcBef>
                <a:spcPts val="0"/>
              </a:spcBef>
              <a:spcAft>
                <a:spcPts val="0"/>
              </a:spcAft>
              <a:defRPr sz="1800" b="0">
                <a:solidFill>
                  <a:srgbClr val="182B3A"/>
                </a:solidFill>
                <a:latin typeface="Arial"/>
              </a:defRPr>
            </a:pPr>
            <a:r>
              <a:t>30 ÷ 12 = 2 r 6</a:t>
            </a:r>
          </a:p>
          <a:p>
            <a:pPr>
              <a:lnSpc>
                <a:spcPts val="1944"/>
              </a:lnSpc>
              <a:spcBef>
                <a:spcPts val="0"/>
              </a:spcBef>
              <a:spcAft>
                <a:spcPts val="0"/>
              </a:spcAft>
              <a:defRPr sz="1800" b="0">
                <a:solidFill>
                  <a:srgbClr val="182B3A"/>
                </a:solidFill>
                <a:latin typeface="Arial"/>
              </a:defRPr>
            </a:pPr>
            <a:r>
              <a:t>60 ÷ 12 = 5</a:t>
            </a:r>
          </a:p>
          <a:p>
            <a:pPr>
              <a:lnSpc>
                <a:spcPts val="1944"/>
              </a:lnSpc>
              <a:spcBef>
                <a:spcPts val="0"/>
              </a:spcBef>
              <a:spcAft>
                <a:spcPts val="0"/>
              </a:spcAft>
              <a:defRPr sz="1800" b="0">
                <a:solidFill>
                  <a:srgbClr val="182B3A"/>
                </a:solidFill>
                <a:latin typeface="Arial"/>
              </a:defRPr>
            </a:pPr>
            <a:r>
              <a:t>Answer: 5.125</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4,834 ÷ 16 (decimal answer)</a:t>
            </a:r>
          </a:p>
        </p:txBody>
      </p:sp>
      <p:sp>
        <p:nvSpPr>
          <p:cNvPr id="38" name="TextBox 37"/>
          <p:cNvSpPr txBox="1"/>
          <p:nvPr/>
        </p:nvSpPr>
        <p:spPr>
          <a:xfrm>
            <a:off x="9717024"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48 ÷ 16 = 3</a:t>
            </a:r>
          </a:p>
          <a:p>
            <a:pPr>
              <a:lnSpc>
                <a:spcPts val="1944"/>
              </a:lnSpc>
              <a:spcBef>
                <a:spcPts val="0"/>
              </a:spcBef>
              <a:spcAft>
                <a:spcPts val="0"/>
              </a:spcAft>
              <a:defRPr sz="1800" b="0">
                <a:solidFill>
                  <a:srgbClr val="182B3A"/>
                </a:solidFill>
                <a:latin typeface="Arial"/>
              </a:defRPr>
            </a:pPr>
            <a:r>
              <a:t>3 ÷ 16 = 0 r 3; 34 ÷ 16 = 2 r 2</a:t>
            </a:r>
          </a:p>
          <a:p>
            <a:pPr>
              <a:lnSpc>
                <a:spcPts val="1944"/>
              </a:lnSpc>
              <a:spcBef>
                <a:spcPts val="0"/>
              </a:spcBef>
              <a:spcAft>
                <a:spcPts val="0"/>
              </a:spcAft>
              <a:defRPr sz="1800" b="0">
                <a:solidFill>
                  <a:srgbClr val="182B3A"/>
                </a:solidFill>
                <a:latin typeface="Arial"/>
              </a:defRPr>
            </a:pPr>
            <a:r>
              <a:t>20 ÷ 16 = 1 r 4</a:t>
            </a:r>
          </a:p>
          <a:p>
            <a:pPr>
              <a:lnSpc>
                <a:spcPts val="1944"/>
              </a:lnSpc>
              <a:spcBef>
                <a:spcPts val="0"/>
              </a:spcBef>
              <a:spcAft>
                <a:spcPts val="0"/>
              </a:spcAft>
              <a:defRPr sz="1800" b="0">
                <a:solidFill>
                  <a:srgbClr val="182B3A"/>
                </a:solidFill>
                <a:latin typeface="Arial"/>
              </a:defRPr>
            </a:pPr>
            <a:r>
              <a:t>40 ÷ 16 = 2 r 8; 80 ÷ 16 = 5</a:t>
            </a:r>
          </a:p>
          <a:p>
            <a:pPr>
              <a:lnSpc>
                <a:spcPts val="1944"/>
              </a:lnSpc>
              <a:spcBef>
                <a:spcPts val="0"/>
              </a:spcBef>
              <a:spcAft>
                <a:spcPts val="0"/>
              </a:spcAft>
              <a:defRPr sz="1800" b="0">
                <a:solidFill>
                  <a:srgbClr val="182B3A"/>
                </a:solidFill>
                <a:latin typeface="Arial"/>
              </a:defRPr>
            </a:pPr>
            <a:r>
              <a:t>Answer: 32.125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−3 + 5</a:t>
            </a:r>
          </a:p>
        </p:txBody>
      </p:sp>
      <p:sp>
        <p:nvSpPr>
          <p:cNvPr id="10" name="TextBox 9"/>
          <p:cNvSpPr txBox="1"/>
          <p:nvPr/>
        </p:nvSpPr>
        <p:spPr>
          <a:xfrm>
            <a:off x="475488"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Start at −3; move 5 left</a:t>
            </a:r>
          </a:p>
          <a:p>
            <a:pPr>
              <a:lnSpc>
                <a:spcPts val="1944"/>
              </a:lnSpc>
              <a:spcBef>
                <a:spcPts val="0"/>
              </a:spcBef>
              <a:spcAft>
                <a:spcPts val="0"/>
              </a:spcAft>
              <a:defRPr sz="1800" b="0">
                <a:solidFill>
                  <a:srgbClr val="182B3A"/>
                </a:solidFill>
                <a:latin typeface="Arial"/>
              </a:defRPr>
            </a:pPr>
            <a:r>
              <a:t>−3 − 5 = −8</a:t>
            </a:r>
          </a:p>
          <a:p>
            <a:pPr>
              <a:lnSpc>
                <a:spcPts val="1944"/>
              </a:lnSpc>
              <a:spcBef>
                <a:spcPts val="0"/>
              </a:spcBef>
              <a:spcAft>
                <a:spcPts val="0"/>
              </a:spcAft>
              <a:defRPr sz="1800" b="0">
                <a:solidFill>
                  <a:srgbClr val="182B3A"/>
                </a:solidFill>
                <a:latin typeface="Arial"/>
              </a:defRPr>
            </a:pPr>
            <a:r>
              <a:t>Answer: −8</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4 − 7</a:t>
            </a:r>
          </a:p>
        </p:txBody>
      </p:sp>
      <p:sp>
        <p:nvSpPr>
          <p:cNvPr id="13" name="TextBox 12"/>
          <p:cNvSpPr txBox="1"/>
          <p:nvPr/>
        </p:nvSpPr>
        <p:spPr>
          <a:xfrm>
            <a:off x="475488"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Larger minus smaller: 7 − 4 = 3</a:t>
            </a:r>
          </a:p>
          <a:p>
            <a:pPr>
              <a:lnSpc>
                <a:spcPts val="1944"/>
              </a:lnSpc>
              <a:spcBef>
                <a:spcPts val="0"/>
              </a:spcBef>
              <a:spcAft>
                <a:spcPts val="0"/>
              </a:spcAft>
              <a:defRPr sz="1800" b="0">
                <a:solidFill>
                  <a:srgbClr val="182B3A"/>
                </a:solidFill>
                <a:latin typeface="Arial"/>
              </a:defRPr>
            </a:pPr>
            <a:r>
              <a:t>Answer: 3</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−2 − 4</a:t>
            </a:r>
          </a:p>
        </p:txBody>
      </p:sp>
      <p:sp>
        <p:nvSpPr>
          <p:cNvPr id="16" name="TextBox 15"/>
          <p:cNvSpPr txBox="1"/>
          <p:nvPr/>
        </p:nvSpPr>
        <p:spPr>
          <a:xfrm>
            <a:off x="475488"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Two minus signs make plus</a:t>
            </a:r>
          </a:p>
          <a:p>
            <a:pPr>
              <a:lnSpc>
                <a:spcPts val="1944"/>
              </a:lnSpc>
              <a:spcBef>
                <a:spcPts val="0"/>
              </a:spcBef>
              <a:spcAft>
                <a:spcPts val="0"/>
              </a:spcAft>
              <a:defRPr sz="1800" b="0">
                <a:solidFill>
                  <a:srgbClr val="182B3A"/>
                </a:solidFill>
                <a:latin typeface="Arial"/>
              </a:defRPr>
            </a:pPr>
            <a:r>
              <a:t>2 + 4 = 6</a:t>
            </a:r>
          </a:p>
          <a:p>
            <a:pPr>
              <a:lnSpc>
                <a:spcPts val="1944"/>
              </a:lnSpc>
              <a:spcBef>
                <a:spcPts val="0"/>
              </a:spcBef>
              <a:spcAft>
                <a:spcPts val="0"/>
              </a:spcAft>
              <a:defRPr sz="1800" b="0">
                <a:solidFill>
                  <a:srgbClr val="182B3A"/>
                </a:solidFill>
                <a:latin typeface="Arial"/>
              </a:defRPr>
            </a:pPr>
            <a:r>
              <a:t>Answer: 6</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6 + (−9)</a:t>
            </a:r>
          </a:p>
        </p:txBody>
      </p:sp>
      <p:sp>
        <p:nvSpPr>
          <p:cNvPr id="21" name="TextBox 20"/>
          <p:cNvSpPr txBox="1"/>
          <p:nvPr/>
        </p:nvSpPr>
        <p:spPr>
          <a:xfrm>
            <a:off x="5096256"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Adding means move right</a:t>
            </a:r>
          </a:p>
          <a:p>
            <a:pPr>
              <a:lnSpc>
                <a:spcPts val="1944"/>
              </a:lnSpc>
              <a:spcBef>
                <a:spcPts val="0"/>
              </a:spcBef>
              <a:spcAft>
                <a:spcPts val="0"/>
              </a:spcAft>
              <a:defRPr sz="1800" b="0">
                <a:solidFill>
                  <a:srgbClr val="182B3A"/>
                </a:solidFill>
                <a:latin typeface="Arial"/>
              </a:defRPr>
            </a:pPr>
            <a:r>
              <a:t>6 + 9 = 15</a:t>
            </a:r>
          </a:p>
          <a:p>
            <a:pPr>
              <a:lnSpc>
                <a:spcPts val="1944"/>
              </a:lnSpc>
              <a:spcBef>
                <a:spcPts val="0"/>
              </a:spcBef>
              <a:spcAft>
                <a:spcPts val="0"/>
              </a:spcAft>
              <a:defRPr sz="1800" b="0">
                <a:solidFill>
                  <a:srgbClr val="182B3A"/>
                </a:solidFill>
                <a:latin typeface="Arial"/>
              </a:defRPr>
            </a:pPr>
            <a:r>
              <a:t>Answer: 15</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−5 − (−3)</a:t>
            </a:r>
          </a:p>
        </p:txBody>
      </p:sp>
      <p:sp>
        <p:nvSpPr>
          <p:cNvPr id="24" name="TextBox 23"/>
          <p:cNvSpPr txBox="1"/>
          <p:nvPr/>
        </p:nvSpPr>
        <p:spPr>
          <a:xfrm>
            <a:off x="5096256"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Remove the brackets</a:t>
            </a:r>
          </a:p>
          <a:p>
            <a:pPr>
              <a:lnSpc>
                <a:spcPts val="1944"/>
              </a:lnSpc>
              <a:spcBef>
                <a:spcPts val="0"/>
              </a:spcBef>
              <a:spcAft>
                <a:spcPts val="0"/>
              </a:spcAft>
              <a:defRPr sz="1800" b="0">
                <a:solidFill>
                  <a:srgbClr val="182B3A"/>
                </a:solidFill>
                <a:latin typeface="Arial"/>
              </a:defRPr>
            </a:pPr>
            <a:r>
              <a:t>−5 − 3 = −8</a:t>
            </a:r>
          </a:p>
          <a:p>
            <a:pPr>
              <a:lnSpc>
                <a:spcPts val="1944"/>
              </a:lnSpc>
              <a:spcBef>
                <a:spcPts val="0"/>
              </a:spcBef>
              <a:spcAft>
                <a:spcPts val="0"/>
              </a:spcAft>
              <a:defRPr sz="1800" b="0">
                <a:solidFill>
                  <a:srgbClr val="182B3A"/>
                </a:solidFill>
                <a:latin typeface="Arial"/>
              </a:defRPr>
            </a:pPr>
            <a:r>
              <a:t>Answer: −8</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−7 + (−4)</a:t>
            </a:r>
          </a:p>
        </p:txBody>
      </p:sp>
      <p:sp>
        <p:nvSpPr>
          <p:cNvPr id="27" name="TextBox 26"/>
          <p:cNvSpPr txBox="1"/>
          <p:nvPr/>
        </p:nvSpPr>
        <p:spPr>
          <a:xfrm>
            <a:off x="5096256"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Two negatives make positive</a:t>
            </a:r>
          </a:p>
          <a:p>
            <a:pPr>
              <a:lnSpc>
                <a:spcPts val="1944"/>
              </a:lnSpc>
              <a:spcBef>
                <a:spcPts val="0"/>
              </a:spcBef>
              <a:spcAft>
                <a:spcPts val="0"/>
              </a:spcAft>
              <a:defRPr sz="1800" b="0">
                <a:solidFill>
                  <a:srgbClr val="182B3A"/>
                </a:solidFill>
                <a:latin typeface="Arial"/>
              </a:defRPr>
            </a:pPr>
            <a:r>
              <a:t>7 + 4 = 11</a:t>
            </a:r>
          </a:p>
          <a:p>
            <a:pPr>
              <a:lnSpc>
                <a:spcPts val="1944"/>
              </a:lnSpc>
              <a:spcBef>
                <a:spcPts val="0"/>
              </a:spcBef>
              <a:spcAft>
                <a:spcPts val="0"/>
              </a:spcAft>
              <a:defRPr sz="1800" b="0">
                <a:solidFill>
                  <a:srgbClr val="182B3A"/>
                </a:solidFill>
                <a:latin typeface="Arial"/>
              </a:defRPr>
            </a:pPr>
            <a:r>
              <a:t>Answer: 11</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−4 − (−7) + (−6)</a:t>
            </a:r>
          </a:p>
        </p:txBody>
      </p:sp>
      <p:sp>
        <p:nvSpPr>
          <p:cNvPr id="32" name="TextBox 31"/>
          <p:cNvSpPr txBox="1"/>
          <p:nvPr/>
        </p:nvSpPr>
        <p:spPr>
          <a:xfrm>
            <a:off x="9717024" y="2304288"/>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+ 7 + 6</a:t>
            </a:r>
          </a:p>
          <a:p>
            <a:pPr>
              <a:lnSpc>
                <a:spcPts val="1944"/>
              </a:lnSpc>
              <a:spcBef>
                <a:spcPts val="0"/>
              </a:spcBef>
              <a:spcAft>
                <a:spcPts val="0"/>
              </a:spcAft>
              <a:defRPr sz="1800" b="0">
                <a:solidFill>
                  <a:srgbClr val="182B3A"/>
                </a:solidFill>
                <a:latin typeface="Arial"/>
              </a:defRPr>
            </a:pPr>
            <a:r>
              <a:t>3 + 6 = 9</a:t>
            </a:r>
          </a:p>
          <a:p>
            <a:pPr>
              <a:lnSpc>
                <a:spcPts val="1944"/>
              </a:lnSpc>
              <a:spcBef>
                <a:spcPts val="0"/>
              </a:spcBef>
              <a:spcAft>
                <a:spcPts val="0"/>
              </a:spcAft>
              <a:defRPr sz="1800" b="0">
                <a:solidFill>
                  <a:srgbClr val="182B3A"/>
                </a:solidFill>
                <a:latin typeface="Arial"/>
              </a:defRPr>
            </a:pPr>
            <a:r>
              <a:t>Answer: 9</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8 + (−12) − (−5)</a:t>
            </a:r>
          </a:p>
        </p:txBody>
      </p:sp>
      <p:sp>
        <p:nvSpPr>
          <p:cNvPr id="35" name="TextBox 34"/>
          <p:cNvSpPr txBox="1"/>
          <p:nvPr/>
        </p:nvSpPr>
        <p:spPr>
          <a:xfrm>
            <a:off x="9717024" y="4306824"/>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8 − 12 − 5</a:t>
            </a:r>
          </a:p>
          <a:p>
            <a:pPr>
              <a:lnSpc>
                <a:spcPts val="1944"/>
              </a:lnSpc>
              <a:spcBef>
                <a:spcPts val="0"/>
              </a:spcBef>
              <a:spcAft>
                <a:spcPts val="0"/>
              </a:spcAft>
              <a:defRPr sz="1800" b="0">
                <a:solidFill>
                  <a:srgbClr val="182B3A"/>
                </a:solidFill>
                <a:latin typeface="Arial"/>
              </a:defRPr>
            </a:pPr>
            <a:r>
              <a:t>−4 − 5 = −9</a:t>
            </a:r>
          </a:p>
          <a:p>
            <a:pPr>
              <a:lnSpc>
                <a:spcPts val="1944"/>
              </a:lnSpc>
              <a:spcBef>
                <a:spcPts val="0"/>
              </a:spcBef>
              <a:spcAft>
                <a:spcPts val="0"/>
              </a:spcAft>
              <a:defRPr sz="1800" b="0">
                <a:solidFill>
                  <a:srgbClr val="182B3A"/>
                </a:solidFill>
                <a:latin typeface="Arial"/>
              </a:defRPr>
            </a:pPr>
            <a:r>
              <a:t>Answer: −9</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−9 − 4 + 10</a:t>
            </a:r>
          </a:p>
        </p:txBody>
      </p:sp>
      <p:sp>
        <p:nvSpPr>
          <p:cNvPr id="38" name="TextBox 37"/>
          <p:cNvSpPr txBox="1"/>
          <p:nvPr/>
        </p:nvSpPr>
        <p:spPr>
          <a:xfrm>
            <a:off x="9717024" y="6309359"/>
            <a:ext cx="4383024" cy="1316736"/>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−9 − 4 = −5</a:t>
            </a:r>
          </a:p>
          <a:p>
            <a:pPr>
              <a:lnSpc>
                <a:spcPts val="1944"/>
              </a:lnSpc>
              <a:spcBef>
                <a:spcPts val="0"/>
              </a:spcBef>
              <a:spcAft>
                <a:spcPts val="0"/>
              </a:spcAft>
              <a:defRPr sz="1800" b="0">
                <a:solidFill>
                  <a:srgbClr val="182B3A"/>
                </a:solidFill>
                <a:latin typeface="Arial"/>
              </a:defRPr>
            </a:pPr>
            <a:r>
              <a:t>−5 + 10 = 5</a:t>
            </a:r>
          </a:p>
          <a:p>
            <a:pPr>
              <a:lnSpc>
                <a:spcPts val="1944"/>
              </a:lnSpc>
              <a:spcBef>
                <a:spcPts val="0"/>
              </a:spcBef>
              <a:spcAft>
                <a:spcPts val="0"/>
              </a:spcAft>
              <a:defRPr sz="1800" b="0">
                <a:solidFill>
                  <a:srgbClr val="182B3A"/>
                </a:solidFill>
                <a:latin typeface="Arial"/>
              </a:defRPr>
            </a:pPr>
            <a:r>
              <a:t>Answer: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12 boxes hold 8 pens each. How many pens?</a:t>
            </a:r>
          </a:p>
        </p:txBody>
      </p:sp>
      <p:sp>
        <p:nvSpPr>
          <p:cNvPr id="10" name="TextBox 9"/>
          <p:cNvSpPr txBox="1"/>
          <p:nvPr/>
        </p:nvSpPr>
        <p:spPr>
          <a:xfrm>
            <a:off x="475488"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12 + 8 = 20</a:t>
            </a:r>
          </a:p>
          <a:p>
            <a:pPr>
              <a:lnSpc>
                <a:spcPts val="1944"/>
              </a:lnSpc>
              <a:spcBef>
                <a:spcPts val="0"/>
              </a:spcBef>
              <a:spcAft>
                <a:spcPts val="0"/>
              </a:spcAft>
              <a:defRPr sz="1800" b="0">
                <a:solidFill>
                  <a:srgbClr val="182B3A"/>
                </a:solidFill>
                <a:latin typeface="Arial"/>
              </a:defRPr>
            </a:pPr>
            <a:r>
              <a:t>Answer: 20 pens</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Share 96 stickers equally among 4 pupils. How many each?</a:t>
            </a:r>
          </a:p>
        </p:txBody>
      </p:sp>
      <p:sp>
        <p:nvSpPr>
          <p:cNvPr id="13" name="TextBox 12"/>
          <p:cNvSpPr txBox="1"/>
          <p:nvPr/>
        </p:nvSpPr>
        <p:spPr>
          <a:xfrm>
            <a:off x="475488"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 ÷ 4 = 2 r 1</a:t>
            </a:r>
          </a:p>
          <a:p>
            <a:pPr>
              <a:lnSpc>
                <a:spcPts val="1944"/>
              </a:lnSpc>
              <a:spcBef>
                <a:spcPts val="0"/>
              </a:spcBef>
              <a:spcAft>
                <a:spcPts val="0"/>
              </a:spcAft>
              <a:defRPr sz="1800" b="0">
                <a:solidFill>
                  <a:srgbClr val="182B3A"/>
                </a:solidFill>
                <a:latin typeface="Arial"/>
              </a:defRPr>
            </a:pPr>
            <a:r>
              <a:t>6 ÷ 4 = 1 r 2</a:t>
            </a:r>
          </a:p>
          <a:p>
            <a:pPr>
              <a:lnSpc>
                <a:spcPts val="1944"/>
              </a:lnSpc>
              <a:spcBef>
                <a:spcPts val="0"/>
              </a:spcBef>
              <a:spcAft>
                <a:spcPts val="0"/>
              </a:spcAft>
              <a:defRPr sz="1800" b="0">
                <a:solidFill>
                  <a:srgbClr val="182B3A"/>
                </a:solidFill>
                <a:latin typeface="Arial"/>
              </a:defRPr>
            </a:pPr>
            <a:r>
              <a:t>Answer: 21 stickers each</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A 3 m ribbon is cut into 6 equal pieces. Find each length in cm.</a:t>
            </a:r>
          </a:p>
        </p:txBody>
      </p:sp>
      <p:sp>
        <p:nvSpPr>
          <p:cNvPr id="16" name="TextBox 15"/>
          <p:cNvSpPr txBox="1"/>
          <p:nvPr/>
        </p:nvSpPr>
        <p:spPr>
          <a:xfrm>
            <a:off x="475488"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 m = 30 cm</a:t>
            </a:r>
          </a:p>
          <a:p>
            <a:pPr>
              <a:lnSpc>
                <a:spcPts val="1944"/>
              </a:lnSpc>
              <a:spcBef>
                <a:spcPts val="0"/>
              </a:spcBef>
              <a:spcAft>
                <a:spcPts val="0"/>
              </a:spcAft>
              <a:defRPr sz="1800" b="0">
                <a:solidFill>
                  <a:srgbClr val="182B3A"/>
                </a:solidFill>
                <a:latin typeface="Arial"/>
              </a:defRPr>
            </a:pPr>
            <a:r>
              <a:t>30 ÷ 6 = 5</a:t>
            </a:r>
          </a:p>
          <a:p>
            <a:pPr>
              <a:lnSpc>
                <a:spcPts val="1944"/>
              </a:lnSpc>
              <a:spcBef>
                <a:spcPts val="0"/>
              </a:spcBef>
              <a:spcAft>
                <a:spcPts val="0"/>
              </a:spcAft>
              <a:defRPr sz="1800" b="0">
                <a:solidFill>
                  <a:srgbClr val="182B3A"/>
                </a:solidFill>
                <a:latin typeface="Arial"/>
              </a:defRPr>
            </a:pPr>
            <a:r>
              <a:t>Answer: 5 cm</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Pack 130 eggs in boxes of 6. How many full boxes?</a:t>
            </a:r>
          </a:p>
        </p:txBody>
      </p:sp>
      <p:sp>
        <p:nvSpPr>
          <p:cNvPr id="21" name="TextBox 20"/>
          <p:cNvSpPr txBox="1"/>
          <p:nvPr/>
        </p:nvSpPr>
        <p:spPr>
          <a:xfrm>
            <a:off x="5096256"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 ÷ 6 = 2 r 1; 10 ÷ 6 = 1 r 4</a:t>
            </a:r>
          </a:p>
          <a:p>
            <a:pPr>
              <a:lnSpc>
                <a:spcPts val="1944"/>
              </a:lnSpc>
              <a:spcBef>
                <a:spcPts val="0"/>
              </a:spcBef>
              <a:spcAft>
                <a:spcPts val="0"/>
              </a:spcAft>
              <a:defRPr sz="1800" b="0">
                <a:solidFill>
                  <a:srgbClr val="182B3A"/>
                </a:solidFill>
                <a:latin typeface="Arial"/>
              </a:defRPr>
            </a:pPr>
            <a:r>
              <a:t>21 r 4 → round up</a:t>
            </a:r>
          </a:p>
          <a:p>
            <a:pPr>
              <a:lnSpc>
                <a:spcPts val="1944"/>
              </a:lnSpc>
              <a:spcBef>
                <a:spcPts val="0"/>
              </a:spcBef>
              <a:spcAft>
                <a:spcPts val="0"/>
              </a:spcAft>
              <a:defRPr sz="1800" b="0">
                <a:solidFill>
                  <a:srgbClr val="182B3A"/>
                </a:solidFill>
                <a:latin typeface="Arial"/>
              </a:defRPr>
            </a:pPr>
            <a:r>
              <a:t>Answer: 22 full boxes</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32 people need cars with 5 seats each. How many cars?</a:t>
            </a:r>
          </a:p>
        </p:txBody>
      </p:sp>
      <p:sp>
        <p:nvSpPr>
          <p:cNvPr id="24" name="TextBox 23"/>
          <p:cNvSpPr txBox="1"/>
          <p:nvPr/>
        </p:nvSpPr>
        <p:spPr>
          <a:xfrm>
            <a:off x="5096256"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 5 = 6 r 2</a:t>
            </a:r>
          </a:p>
          <a:p>
            <a:pPr>
              <a:lnSpc>
                <a:spcPts val="1944"/>
              </a:lnSpc>
              <a:spcBef>
                <a:spcPts val="0"/>
              </a:spcBef>
              <a:spcAft>
                <a:spcPts val="0"/>
              </a:spcAft>
              <a:defRPr sz="1800" b="0">
                <a:solidFill>
                  <a:srgbClr val="182B3A"/>
                </a:solidFill>
                <a:latin typeface="Arial"/>
              </a:defRPr>
            </a:pPr>
            <a:r>
              <a:t>Ignore the remainder</a:t>
            </a:r>
          </a:p>
          <a:p>
            <a:pPr>
              <a:lnSpc>
                <a:spcPts val="1944"/>
              </a:lnSpc>
              <a:spcBef>
                <a:spcPts val="0"/>
              </a:spcBef>
              <a:spcAft>
                <a:spcPts val="0"/>
              </a:spcAft>
              <a:defRPr sz="1800" b="0">
                <a:solidFill>
                  <a:srgbClr val="182B3A"/>
                </a:solidFill>
                <a:latin typeface="Arial"/>
              </a:defRPr>
            </a:pPr>
            <a:r>
              <a:t>Answer: 6 cars</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Share a £132 bill equally among 8 friends. How much each?</a:t>
            </a:r>
          </a:p>
        </p:txBody>
      </p:sp>
      <p:sp>
        <p:nvSpPr>
          <p:cNvPr id="27" name="TextBox 26"/>
          <p:cNvSpPr txBox="1"/>
          <p:nvPr/>
        </p:nvSpPr>
        <p:spPr>
          <a:xfrm>
            <a:off x="5096256"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 ÷ 8 = 1 r 5; 52 ÷ 8 = 6 r 4</a:t>
            </a:r>
          </a:p>
          <a:p>
            <a:pPr>
              <a:lnSpc>
                <a:spcPts val="1944"/>
              </a:lnSpc>
              <a:spcBef>
                <a:spcPts val="0"/>
              </a:spcBef>
              <a:spcAft>
                <a:spcPts val="0"/>
              </a:spcAft>
              <a:defRPr sz="1800" b="0">
                <a:solidFill>
                  <a:srgbClr val="182B3A"/>
                </a:solidFill>
                <a:latin typeface="Arial"/>
              </a:defRPr>
            </a:pPr>
            <a:r>
              <a:t>Answer: £16.04 each</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94 people need tables seating 6. Hire is £12 per table. Total cost?</a:t>
            </a:r>
          </a:p>
        </p:txBody>
      </p:sp>
      <p:sp>
        <p:nvSpPr>
          <p:cNvPr id="32" name="TextBox 31"/>
          <p:cNvSpPr txBox="1"/>
          <p:nvPr/>
        </p:nvSpPr>
        <p:spPr>
          <a:xfrm>
            <a:off x="9717024"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 6 = 15 r 4 → 15 tables</a:t>
            </a:r>
          </a:p>
          <a:p>
            <a:pPr>
              <a:lnSpc>
                <a:spcPts val="1944"/>
              </a:lnSpc>
              <a:spcBef>
                <a:spcPts val="0"/>
              </a:spcBef>
              <a:spcAft>
                <a:spcPts val="0"/>
              </a:spcAft>
              <a:defRPr sz="1800" b="0">
                <a:solidFill>
                  <a:srgbClr val="182B3A"/>
                </a:solidFill>
                <a:latin typeface="Arial"/>
              </a:defRPr>
            </a:pPr>
            <a:r>
              <a:t>15 × 12 = 150 + 30 = 180</a:t>
            </a:r>
          </a:p>
          <a:p>
            <a:pPr>
              <a:lnSpc>
                <a:spcPts val="1944"/>
              </a:lnSpc>
              <a:spcBef>
                <a:spcPts val="0"/>
              </a:spcBef>
              <a:spcAft>
                <a:spcPts val="0"/>
              </a:spcAft>
              <a:defRPr sz="1800" b="0">
                <a:solidFill>
                  <a:srgbClr val="182B3A"/>
                </a:solidFill>
                <a:latin typeface="Arial"/>
              </a:defRPr>
            </a:pPr>
            <a:r>
              <a:t>Answer: £180</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Buy 24 packs of 15 drinks. Use 87 drinks. How many remain?</a:t>
            </a:r>
          </a:p>
        </p:txBody>
      </p:sp>
      <p:sp>
        <p:nvSpPr>
          <p:cNvPr id="35" name="TextBox 34"/>
          <p:cNvSpPr txBox="1"/>
          <p:nvPr/>
        </p:nvSpPr>
        <p:spPr>
          <a:xfrm>
            <a:off x="9717024"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 × 15 = 240 + 120 = 360</a:t>
            </a:r>
          </a:p>
          <a:p>
            <a:pPr>
              <a:lnSpc>
                <a:spcPts val="1944"/>
              </a:lnSpc>
              <a:spcBef>
                <a:spcPts val="0"/>
              </a:spcBef>
              <a:spcAft>
                <a:spcPts val="0"/>
              </a:spcAft>
              <a:defRPr sz="1800" b="0">
                <a:solidFill>
                  <a:srgbClr val="182B3A"/>
                </a:solidFill>
                <a:latin typeface="Arial"/>
              </a:defRPr>
            </a:pPr>
            <a:r>
              <a:t>360 + 87 = 447</a:t>
            </a:r>
          </a:p>
          <a:p>
            <a:pPr>
              <a:lnSpc>
                <a:spcPts val="1944"/>
              </a:lnSpc>
              <a:spcBef>
                <a:spcPts val="0"/>
              </a:spcBef>
              <a:spcAft>
                <a:spcPts val="0"/>
              </a:spcAft>
              <a:defRPr sz="1800" b="0">
                <a:solidFill>
                  <a:srgbClr val="182B3A"/>
                </a:solidFill>
                <a:latin typeface="Arial"/>
              </a:defRPr>
            </a:pPr>
            <a:r>
              <a:t>Answer: 447 drinks</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18 tickets cost £12 each. Four friends share the total. How much each?</a:t>
            </a:r>
          </a:p>
        </p:txBody>
      </p:sp>
      <p:sp>
        <p:nvSpPr>
          <p:cNvPr id="38" name="TextBox 37"/>
          <p:cNvSpPr txBox="1"/>
          <p:nvPr/>
        </p:nvSpPr>
        <p:spPr>
          <a:xfrm>
            <a:off x="9717024"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 4 = 4 r 2 → 4</a:t>
            </a:r>
          </a:p>
          <a:p>
            <a:pPr>
              <a:lnSpc>
                <a:spcPts val="1944"/>
              </a:lnSpc>
              <a:spcBef>
                <a:spcPts val="0"/>
              </a:spcBef>
              <a:spcAft>
                <a:spcPts val="0"/>
              </a:spcAft>
              <a:defRPr sz="1800" b="0">
                <a:solidFill>
                  <a:srgbClr val="182B3A"/>
                </a:solidFill>
                <a:latin typeface="Arial"/>
              </a:defRPr>
            </a:pPr>
            <a:r>
              <a:t>4 × 12 = 48</a:t>
            </a:r>
          </a:p>
          <a:p>
            <a:pPr>
              <a:lnSpc>
                <a:spcPts val="1944"/>
              </a:lnSpc>
              <a:spcBef>
                <a:spcPts val="0"/>
              </a:spcBef>
              <a:spcAft>
                <a:spcPts val="0"/>
              </a:spcAft>
              <a:defRPr sz="1800" b="0">
                <a:solidFill>
                  <a:srgbClr val="182B3A"/>
                </a:solidFill>
                <a:latin typeface="Arial"/>
              </a:defRPr>
            </a:pPr>
            <a:r>
              <a:t>Answer: £48 each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Share £35 in ratio A:B = 2:5. Find A’s share.</a:t>
            </a:r>
          </a:p>
        </p:txBody>
      </p:sp>
      <p:sp>
        <p:nvSpPr>
          <p:cNvPr id="10" name="TextBox 9"/>
          <p:cNvSpPr txBox="1"/>
          <p:nvPr/>
        </p:nvSpPr>
        <p:spPr>
          <a:xfrm>
            <a:off x="475488"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 + 5 = 7 parts</a:t>
            </a:r>
          </a:p>
          <a:p>
            <a:pPr>
              <a:lnSpc>
                <a:spcPts val="1944"/>
              </a:lnSpc>
              <a:spcBef>
                <a:spcPts val="0"/>
              </a:spcBef>
              <a:spcAft>
                <a:spcPts val="0"/>
              </a:spcAft>
              <a:defRPr sz="1800" b="0">
                <a:solidFill>
                  <a:srgbClr val="182B3A"/>
                </a:solidFill>
                <a:latin typeface="Arial"/>
              </a:defRPr>
            </a:pPr>
            <a:r>
              <a:t>35 ÷ 7 = 5</a:t>
            </a:r>
          </a:p>
          <a:p>
            <a:pPr>
              <a:lnSpc>
                <a:spcPts val="1944"/>
              </a:lnSpc>
              <a:spcBef>
                <a:spcPts val="0"/>
              </a:spcBef>
              <a:spcAft>
                <a:spcPts val="0"/>
              </a:spcAft>
              <a:defRPr sz="1800" b="0">
                <a:solidFill>
                  <a:srgbClr val="182B3A"/>
                </a:solidFill>
                <a:latin typeface="Arial"/>
              </a:defRPr>
            </a:pPr>
            <a:r>
              <a:t>A = 5 × 5 = £25</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Red:blue = 3:4. There are 12 red counters. How many blue?</a:t>
            </a:r>
          </a:p>
        </p:txBody>
      </p:sp>
      <p:sp>
        <p:nvSpPr>
          <p:cNvPr id="13" name="TextBox 12"/>
          <p:cNvSpPr txBox="1"/>
          <p:nvPr/>
        </p:nvSpPr>
        <p:spPr>
          <a:xfrm>
            <a:off x="475488"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 + 4 = 7 parts</a:t>
            </a:r>
          </a:p>
          <a:p>
            <a:pPr>
              <a:lnSpc>
                <a:spcPts val="1944"/>
              </a:lnSpc>
              <a:spcBef>
                <a:spcPts val="0"/>
              </a:spcBef>
              <a:spcAft>
                <a:spcPts val="0"/>
              </a:spcAft>
              <a:defRPr sz="1800" b="0">
                <a:solidFill>
                  <a:srgbClr val="182B3A"/>
                </a:solidFill>
                <a:latin typeface="Arial"/>
              </a:defRPr>
            </a:pPr>
            <a:r>
              <a:t>12 ÷ 7 = 12/7</a:t>
            </a:r>
          </a:p>
          <a:p>
            <a:pPr>
              <a:lnSpc>
                <a:spcPts val="1944"/>
              </a:lnSpc>
              <a:spcBef>
                <a:spcPts val="0"/>
              </a:spcBef>
              <a:spcAft>
                <a:spcPts val="0"/>
              </a:spcAft>
              <a:defRPr sz="1800" b="0">
                <a:solidFill>
                  <a:srgbClr val="182B3A"/>
                </a:solidFill>
                <a:latin typeface="Arial"/>
              </a:defRPr>
            </a:pPr>
            <a:r>
              <a:t>Blue = 4 × 12/7 = 48/7</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Share 24 sweets in ratio A:B = 1:3. Find B’s share.</a:t>
            </a:r>
          </a:p>
        </p:txBody>
      </p:sp>
      <p:sp>
        <p:nvSpPr>
          <p:cNvPr id="16" name="TextBox 15"/>
          <p:cNvSpPr txBox="1"/>
          <p:nvPr/>
        </p:nvSpPr>
        <p:spPr>
          <a:xfrm>
            <a:off x="475488"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+ 3 = 4 parts</a:t>
            </a:r>
          </a:p>
          <a:p>
            <a:pPr>
              <a:lnSpc>
                <a:spcPts val="1944"/>
              </a:lnSpc>
              <a:spcBef>
                <a:spcPts val="0"/>
              </a:spcBef>
              <a:spcAft>
                <a:spcPts val="0"/>
              </a:spcAft>
              <a:defRPr sz="1800" b="0">
                <a:solidFill>
                  <a:srgbClr val="182B3A"/>
                </a:solidFill>
                <a:latin typeface="Arial"/>
              </a:defRPr>
            </a:pPr>
            <a:r>
              <a:t>24 ÷ 4 = 6</a:t>
            </a:r>
          </a:p>
          <a:p>
            <a:pPr>
              <a:lnSpc>
                <a:spcPts val="1944"/>
              </a:lnSpc>
              <a:spcBef>
                <a:spcPts val="0"/>
              </a:spcBef>
              <a:spcAft>
                <a:spcPts val="0"/>
              </a:spcAft>
              <a:defRPr sz="1800" b="0">
                <a:solidFill>
                  <a:srgbClr val="182B3A"/>
                </a:solidFill>
                <a:latin typeface="Arial"/>
              </a:defRPr>
            </a:pPr>
            <a:r>
              <a:t>B = 6 + 3 = 9 sweets</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A:B = 2:7. B has 25 more than A. Find A.</a:t>
            </a:r>
          </a:p>
        </p:txBody>
      </p:sp>
      <p:sp>
        <p:nvSpPr>
          <p:cNvPr id="21" name="TextBox 20"/>
          <p:cNvSpPr txBox="1"/>
          <p:nvPr/>
        </p:nvSpPr>
        <p:spPr>
          <a:xfrm>
            <a:off x="5096256"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 + 7 = 9 parts</a:t>
            </a:r>
          </a:p>
          <a:p>
            <a:pPr>
              <a:lnSpc>
                <a:spcPts val="1944"/>
              </a:lnSpc>
              <a:spcBef>
                <a:spcPts val="0"/>
              </a:spcBef>
              <a:spcAft>
                <a:spcPts val="0"/>
              </a:spcAft>
              <a:defRPr sz="1800" b="0">
                <a:solidFill>
                  <a:srgbClr val="182B3A"/>
                </a:solidFill>
                <a:latin typeface="Arial"/>
              </a:defRPr>
            </a:pPr>
            <a:r>
              <a:t>25 ÷ 9 = 25/9</a:t>
            </a:r>
          </a:p>
          <a:p>
            <a:pPr>
              <a:lnSpc>
                <a:spcPts val="1944"/>
              </a:lnSpc>
              <a:spcBef>
                <a:spcPts val="0"/>
              </a:spcBef>
              <a:spcAft>
                <a:spcPts val="0"/>
              </a:spcAft>
              <a:defRPr sz="1800" b="0">
                <a:solidFill>
                  <a:srgbClr val="182B3A"/>
                </a:solidFill>
                <a:latin typeface="Arial"/>
              </a:defRPr>
            </a:pPr>
            <a:r>
              <a:t>A = 2 × 25/9 = 50/9</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Red:blue = 4:3. There are 15 blue counters. Find red.</a:t>
            </a:r>
          </a:p>
        </p:txBody>
      </p:sp>
      <p:sp>
        <p:nvSpPr>
          <p:cNvPr id="24" name="TextBox 23"/>
          <p:cNvSpPr txBox="1"/>
          <p:nvPr/>
        </p:nvSpPr>
        <p:spPr>
          <a:xfrm>
            <a:off x="5096256"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 ÷ 4 = 3.75 per part</a:t>
            </a:r>
          </a:p>
          <a:p>
            <a:pPr>
              <a:lnSpc>
                <a:spcPts val="1944"/>
              </a:lnSpc>
              <a:spcBef>
                <a:spcPts val="0"/>
              </a:spcBef>
              <a:spcAft>
                <a:spcPts val="0"/>
              </a:spcAft>
              <a:defRPr sz="1800" b="0">
                <a:solidFill>
                  <a:srgbClr val="182B3A"/>
                </a:solidFill>
                <a:latin typeface="Arial"/>
              </a:defRPr>
            </a:pPr>
            <a:r>
              <a:t>Red = 3 × 3.75 = 11.25</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A:B = 3:5, total 40. How many more does B have?</a:t>
            </a:r>
          </a:p>
        </p:txBody>
      </p:sp>
      <p:sp>
        <p:nvSpPr>
          <p:cNvPr id="27" name="TextBox 26"/>
          <p:cNvSpPr txBox="1"/>
          <p:nvPr/>
        </p:nvSpPr>
        <p:spPr>
          <a:xfrm>
            <a:off x="5096256"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 + 5 = 8; 40 ÷ 8 = 5</a:t>
            </a:r>
          </a:p>
          <a:p>
            <a:pPr>
              <a:lnSpc>
                <a:spcPts val="1944"/>
              </a:lnSpc>
              <a:spcBef>
                <a:spcPts val="0"/>
              </a:spcBef>
              <a:spcAft>
                <a:spcPts val="0"/>
              </a:spcAft>
              <a:defRPr sz="1800" b="0">
                <a:solidFill>
                  <a:srgbClr val="182B3A"/>
                </a:solidFill>
                <a:latin typeface="Arial"/>
              </a:defRPr>
            </a:pPr>
            <a:r>
              <a:t>A = 15; B = 25</a:t>
            </a:r>
          </a:p>
          <a:p>
            <a:pPr>
              <a:lnSpc>
                <a:spcPts val="1944"/>
              </a:lnSpc>
              <a:spcBef>
                <a:spcPts val="0"/>
              </a:spcBef>
              <a:spcAft>
                <a:spcPts val="0"/>
              </a:spcAft>
              <a:defRPr sz="1800" b="0">
                <a:solidFill>
                  <a:srgbClr val="182B3A"/>
                </a:solidFill>
                <a:latin typeface="Arial"/>
              </a:defRPr>
            </a:pPr>
            <a:r>
              <a:t>Difference = 15 + 25 = 40</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Adults:children = 5:8, total 39. How many more children?</a:t>
            </a:r>
          </a:p>
        </p:txBody>
      </p:sp>
      <p:sp>
        <p:nvSpPr>
          <p:cNvPr id="32" name="TextBox 31"/>
          <p:cNvSpPr txBox="1"/>
          <p:nvPr/>
        </p:nvSpPr>
        <p:spPr>
          <a:xfrm>
            <a:off x="9717024"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5 + 8 = 13; 39 ÷ 13 = 3</a:t>
            </a:r>
          </a:p>
          <a:p>
            <a:pPr>
              <a:lnSpc>
                <a:spcPts val="1944"/>
              </a:lnSpc>
              <a:spcBef>
                <a:spcPts val="0"/>
              </a:spcBef>
              <a:spcAft>
                <a:spcPts val="0"/>
              </a:spcAft>
              <a:defRPr sz="1800" b="0">
                <a:solidFill>
                  <a:srgbClr val="182B3A"/>
                </a:solidFill>
                <a:latin typeface="Arial"/>
              </a:defRPr>
            </a:pPr>
            <a:r>
              <a:t>Adults = 15; children = 24</a:t>
            </a:r>
          </a:p>
          <a:p>
            <a:pPr>
              <a:lnSpc>
                <a:spcPts val="1944"/>
              </a:lnSpc>
              <a:spcBef>
                <a:spcPts val="0"/>
              </a:spcBef>
              <a:spcAft>
                <a:spcPts val="0"/>
              </a:spcAft>
              <a:defRPr sz="1800" b="0">
                <a:solidFill>
                  <a:srgbClr val="182B3A"/>
                </a:solidFill>
                <a:latin typeface="Arial"/>
              </a:defRPr>
            </a:pPr>
            <a:r>
              <a:t>Difference = 8 − 5 = 3</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Short:long ribbon = 3:8. Long is 35 cm longer. Total length?</a:t>
            </a:r>
          </a:p>
        </p:txBody>
      </p:sp>
      <p:sp>
        <p:nvSpPr>
          <p:cNvPr id="35" name="TextBox 34"/>
          <p:cNvSpPr txBox="1"/>
          <p:nvPr/>
        </p:nvSpPr>
        <p:spPr>
          <a:xfrm>
            <a:off x="9717024"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8 − 3 = 5; 35 ÷ 5 = 7</a:t>
            </a:r>
          </a:p>
          <a:p>
            <a:pPr>
              <a:lnSpc>
                <a:spcPts val="1944"/>
              </a:lnSpc>
              <a:spcBef>
                <a:spcPts val="0"/>
              </a:spcBef>
              <a:spcAft>
                <a:spcPts val="0"/>
              </a:spcAft>
              <a:defRPr sz="1800" b="0">
                <a:solidFill>
                  <a:srgbClr val="182B3A"/>
                </a:solidFill>
                <a:latin typeface="Arial"/>
              </a:defRPr>
            </a:pPr>
            <a:r>
              <a:t>Short = 21 cm; long = 56 cm</a:t>
            </a:r>
          </a:p>
          <a:p>
            <a:pPr>
              <a:lnSpc>
                <a:spcPts val="1944"/>
              </a:lnSpc>
              <a:spcBef>
                <a:spcPts val="0"/>
              </a:spcBef>
              <a:spcAft>
                <a:spcPts val="0"/>
              </a:spcAft>
              <a:defRPr sz="1800" b="0">
                <a:solidFill>
                  <a:srgbClr val="182B3A"/>
                </a:solidFill>
                <a:latin typeface="Arial"/>
              </a:defRPr>
            </a:pPr>
            <a:r>
              <a:t>Total = 56 − 21 = 35 cm</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A:B = 7:4. A has 42 tokens. How many tokens altogether?</a:t>
            </a:r>
          </a:p>
        </p:txBody>
      </p:sp>
      <p:sp>
        <p:nvSpPr>
          <p:cNvPr id="38" name="TextBox 37"/>
          <p:cNvSpPr txBox="1"/>
          <p:nvPr/>
        </p:nvSpPr>
        <p:spPr>
          <a:xfrm>
            <a:off x="9717024"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 ÷ 7 = 6 per part</a:t>
            </a:r>
          </a:p>
          <a:p>
            <a:pPr>
              <a:lnSpc>
                <a:spcPts val="1944"/>
              </a:lnSpc>
              <a:spcBef>
                <a:spcPts val="0"/>
              </a:spcBef>
              <a:spcAft>
                <a:spcPts val="0"/>
              </a:spcAft>
              <a:defRPr sz="1800" b="0">
                <a:solidFill>
                  <a:srgbClr val="182B3A"/>
                </a:solidFill>
                <a:latin typeface="Arial"/>
              </a:defRPr>
            </a:pPr>
            <a:r>
              <a:t>B = 4 × 6 = 24</a:t>
            </a:r>
          </a:p>
          <a:p>
            <a:pPr>
              <a:lnSpc>
                <a:spcPts val="1944"/>
              </a:lnSpc>
              <a:spcBef>
                <a:spcPts val="0"/>
              </a:spcBef>
              <a:spcAft>
                <a:spcPts val="0"/>
              </a:spcAft>
              <a:defRPr sz="1800" b="0">
                <a:solidFill>
                  <a:srgbClr val="182B3A"/>
                </a:solidFill>
                <a:latin typeface="Arial"/>
              </a:defRPr>
            </a:pPr>
            <a:r>
              <a:t>Total = 42 + 4 = 46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