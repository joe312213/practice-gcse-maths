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empty grids to copy</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Size means columns × rows. Put the first number across the top and the second down the right.</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M01-TEMPLATES  •  Record your working in your booklet or webapp.</a:t>
            </a:r>
          </a:p>
        </p:txBody>
      </p:sp>
      <p:sp>
        <p:nvSpPr>
          <p:cNvPr id="6" name="TextBox 5"/>
          <p:cNvSpPr txBox="1"/>
          <p:nvPr/>
        </p:nvSpPr>
        <p:spPr>
          <a:xfrm>
            <a:off x="114300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2 × 2 grid</a:t>
            </a:r>
          </a:p>
        </p:txBody>
      </p:sp>
      <p:grpSp>
        <p:nvGrpSpPr>
          <p:cNvPr id="7" name="Empty 2 by 2 lattice template"/>
          <p:cNvGrpSpPr/>
          <p:nvPr/>
        </p:nvGrpSpPr>
        <p:grpSpPr>
          <a:xfrm>
            <a:off x="1371600" y="2011680"/>
            <a:ext cx="1060704" cy="1060704"/>
            <a:chOff x="1371600" y="2011680"/>
            <a:chExt cx="1060704" cy="1060704"/>
          </a:xfrm>
        </p:grpSpPr>
        <p:cxnSp>
          <p:nvCxnSpPr>
            <p:cNvPr id="8" name="Connector 7"/>
            <p:cNvCxnSpPr/>
            <p:nvPr/>
          </p:nvCxnSpPr>
          <p:spPr>
            <a:xfrm>
              <a:off x="137160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195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230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2011680"/>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542032"/>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072384"/>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0195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7160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195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566928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2 grid</a:t>
            </a:r>
          </a:p>
        </p:txBody>
      </p:sp>
      <p:grpSp>
        <p:nvGrpSpPr>
          <p:cNvPr id="19" name="Empty 3 by 2 lattice template"/>
          <p:cNvGrpSpPr/>
          <p:nvPr/>
        </p:nvGrpSpPr>
        <p:grpSpPr>
          <a:xfrm>
            <a:off x="5897880" y="2011680"/>
            <a:ext cx="1591056" cy="1060704"/>
            <a:chOff x="5897880" y="2011680"/>
            <a:chExt cx="1591056" cy="1060704"/>
          </a:xfrm>
        </p:grpSpPr>
        <p:cxnSp>
          <p:nvCxnSpPr>
            <p:cNvPr id="20" name="Connector 19"/>
            <p:cNvCxnSpPr/>
            <p:nvPr/>
          </p:nvCxnSpPr>
          <p:spPr>
            <a:xfrm>
              <a:off x="589788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2823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5858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88936"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8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8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9788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9788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2823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95858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42823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5858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33" name="TextBox 32"/>
          <p:cNvSpPr txBox="1"/>
          <p:nvPr/>
        </p:nvSpPr>
        <p:spPr>
          <a:xfrm>
            <a:off x="1033272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3 grid</a:t>
            </a:r>
          </a:p>
        </p:txBody>
      </p:sp>
      <p:grpSp>
        <p:nvGrpSpPr>
          <p:cNvPr id="34" name="Empty 3 by 3 lattice template"/>
          <p:cNvGrpSpPr/>
          <p:nvPr/>
        </p:nvGrpSpPr>
        <p:grpSpPr>
          <a:xfrm>
            <a:off x="10561320" y="2011680"/>
            <a:ext cx="1591056" cy="1591056"/>
            <a:chOff x="10561320" y="2011680"/>
            <a:chExt cx="1591056" cy="1591056"/>
          </a:xfrm>
        </p:grpSpPr>
        <p:cxnSp>
          <p:nvCxnSpPr>
            <p:cNvPr id="35" name="Connector 34"/>
            <p:cNvCxnSpPr/>
            <p:nvPr/>
          </p:nvCxnSpPr>
          <p:spPr>
            <a:xfrm>
              <a:off x="10561320"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1672"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22024"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152376"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6132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6132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6132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1320" y="3602736"/>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6132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109167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62202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56132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9167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62202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561320"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091672"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622024"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315468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3 grid</a:t>
            </a:r>
          </a:p>
        </p:txBody>
      </p:sp>
      <p:grpSp>
        <p:nvGrpSpPr>
          <p:cNvPr id="53" name="Empty 4 by 3 lattice template"/>
          <p:cNvGrpSpPr/>
          <p:nvPr/>
        </p:nvGrpSpPr>
        <p:grpSpPr>
          <a:xfrm>
            <a:off x="3383280" y="4892040"/>
            <a:ext cx="2121408" cy="1591056"/>
            <a:chOff x="3383280" y="4892040"/>
            <a:chExt cx="2121408" cy="1591056"/>
          </a:xfrm>
        </p:grpSpPr>
        <p:cxnSp>
          <p:nvCxnSpPr>
            <p:cNvPr id="54" name="Connector 53"/>
            <p:cNvCxnSpPr/>
            <p:nvPr/>
          </p:nvCxnSpPr>
          <p:spPr>
            <a:xfrm>
              <a:off x="3383280"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13632"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43984"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4336"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04688"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8328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8328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8328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38328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1363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44398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433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38328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63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4398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7433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38328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91363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44398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97433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75" name="TextBox 74"/>
          <p:cNvSpPr txBox="1"/>
          <p:nvPr/>
        </p:nvSpPr>
        <p:spPr>
          <a:xfrm>
            <a:off x="877824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4 grid</a:t>
            </a:r>
          </a:p>
        </p:txBody>
      </p:sp>
      <p:grpSp>
        <p:nvGrpSpPr>
          <p:cNvPr id="76" name="Empty 4 by 4 lattice template"/>
          <p:cNvGrpSpPr/>
          <p:nvPr/>
        </p:nvGrpSpPr>
        <p:grpSpPr>
          <a:xfrm>
            <a:off x="9006840" y="4892040"/>
            <a:ext cx="2121408" cy="2121408"/>
            <a:chOff x="9006840" y="4892040"/>
            <a:chExt cx="2121408" cy="2121408"/>
          </a:xfrm>
        </p:grpSpPr>
        <p:cxnSp>
          <p:nvCxnSpPr>
            <p:cNvPr id="77" name="Connector 76"/>
            <p:cNvCxnSpPr/>
            <p:nvPr/>
          </p:nvCxnSpPr>
          <p:spPr>
            <a:xfrm>
              <a:off x="9006840"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37192"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67544"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97896"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128248"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00684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0684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0684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00684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006840" y="7013448"/>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0684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53719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06754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9789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0684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53719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06754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59789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00684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3719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6754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59789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006840"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537192"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067544"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597896"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Start: exact answer. Build: remainder. Confidence: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4 − 9</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4 − 9</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−4 − 6</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−4 − 6</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+ 6</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10</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(−10)</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(−10)</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+ 10</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16</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−6 − (−18)</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(−18)</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−6 − 18</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−24</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−9 − 6 + 18</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−9 − 6 + 18</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+ 18</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Solve all four.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M10-IA</a:t>
            </a:r>
          </a:p>
        </p:txBody>
      </p:sp>
      <p:sp>
        <p:nvSpPr>
          <p:cNvPr id="7" name="Rectangle 6"/>
          <p:cNvSpPr/>
          <p:nvPr/>
        </p:nvSpPr>
        <p:spPr>
          <a:xfrm>
            <a:off x="384048"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1.  x + 6 = 23</a:t>
            </a:r>
          </a:p>
        </p:txBody>
      </p:sp>
      <p:sp>
        <p:nvSpPr>
          <p:cNvPr id="9" name="Rectangle 8"/>
          <p:cNvSpPr/>
          <p:nvPr/>
        </p:nvSpPr>
        <p:spPr>
          <a:xfrm>
            <a:off x="7370064"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52944"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2.  5x = 35</a:t>
            </a:r>
          </a:p>
        </p:txBody>
      </p:sp>
      <p:sp>
        <p:nvSpPr>
          <p:cNvPr id="11" name="Rectangle 10"/>
          <p:cNvSpPr/>
          <p:nvPr/>
        </p:nvSpPr>
        <p:spPr>
          <a:xfrm>
            <a:off x="384048"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3.  3x − 4 = 23</a:t>
            </a:r>
          </a:p>
        </p:txBody>
      </p:sp>
      <p:sp>
        <p:nvSpPr>
          <p:cNvPr id="13" name="Rectangle 12"/>
          <p:cNvSpPr/>
          <p:nvPr/>
        </p:nvSpPr>
        <p:spPr>
          <a:xfrm>
            <a:off x="7370064"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52944"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4.  2(x + 3) = x + 14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Technique recap • Simplify first, then keep both sides equal.</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M10-RECAP</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Keep the balance</a:t>
            </a:r>
          </a:p>
        </p:txBody>
      </p:sp>
      <p:cxnSp>
        <p:nvCxnSpPr>
          <p:cNvPr id="15" name="Connector 14"/>
          <p:cNvCxnSpPr/>
          <p:nvPr/>
        </p:nvCxnSpPr>
        <p:spPr>
          <a:xfrm>
            <a:off x="2633472" y="23774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377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+ 7</a:t>
            </a:r>
          </a:p>
        </p:txBody>
      </p:sp>
      <p:sp>
        <p:nvSpPr>
          <p:cNvPr id="17" name="TextBox 16"/>
          <p:cNvSpPr txBox="1"/>
          <p:nvPr/>
        </p:nvSpPr>
        <p:spPr>
          <a:xfrm>
            <a:off x="280720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19</a:t>
            </a:r>
          </a:p>
        </p:txBody>
      </p:sp>
      <p:sp>
        <p:nvSpPr>
          <p:cNvPr id="18" name="Rectangle 17"/>
          <p:cNvSpPr/>
          <p:nvPr/>
        </p:nvSpPr>
        <p:spPr>
          <a:xfrm>
            <a:off x="252374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2374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0" name="TextBox 19"/>
          <p:cNvSpPr txBox="1"/>
          <p:nvPr/>
        </p:nvSpPr>
        <p:spPr>
          <a:xfrm>
            <a:off x="49377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− 7</a:t>
            </a:r>
          </a:p>
        </p:txBody>
      </p:sp>
      <p:sp>
        <p:nvSpPr>
          <p:cNvPr id="21" name="TextBox 20"/>
          <p:cNvSpPr txBox="1"/>
          <p:nvPr/>
        </p:nvSpPr>
        <p:spPr>
          <a:xfrm>
            <a:off x="280720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− 7</a:t>
            </a:r>
          </a:p>
        </p:txBody>
      </p:sp>
      <p:sp>
        <p:nvSpPr>
          <p:cNvPr id="22" name="TextBox 21"/>
          <p:cNvSpPr txBox="1"/>
          <p:nvPr/>
        </p:nvSpPr>
        <p:spPr>
          <a:xfrm>
            <a:off x="49377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23" name="TextBox 22"/>
          <p:cNvSpPr txBox="1"/>
          <p:nvPr/>
        </p:nvSpPr>
        <p:spPr>
          <a:xfrm>
            <a:off x="280720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12</a:t>
            </a:r>
          </a:p>
        </p:txBody>
      </p:sp>
      <p:sp>
        <p:nvSpPr>
          <p:cNvPr id="24" name="Rectangle 23"/>
          <p:cNvSpPr/>
          <p:nvPr/>
        </p:nvSpPr>
        <p:spPr>
          <a:xfrm>
            <a:off x="252374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2374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6" name="TextBox 25"/>
          <p:cNvSpPr txBox="1"/>
          <p:nvPr/>
        </p:nvSpPr>
        <p:spPr>
          <a:xfrm>
            <a:off x="45720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Do the same operation to both whole sides.</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Undo addition/subtraction before a remaining multiplication or division.</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negative divided by a positive is negative: −12 ÷ 3 = −4.</a:t>
            </a:r>
          </a:p>
        </p:txBody>
      </p:sp>
      <p:sp>
        <p:nvSpPr>
          <p:cNvPr id="27" name="Rectangle 26"/>
          <p:cNvSpPr/>
          <p:nvPr/>
        </p:nvSpPr>
        <p:spPr>
          <a:xfrm>
            <a:off x="498348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Simplify or factorise</a:t>
            </a:r>
          </a:p>
        </p:txBody>
      </p:sp>
      <p:cxnSp>
        <p:nvCxnSpPr>
          <p:cNvPr id="29" name="Connector 28"/>
          <p:cNvCxnSpPr/>
          <p:nvPr/>
        </p:nvCxnSpPr>
        <p:spPr>
          <a:xfrm>
            <a:off x="7296912" y="2377440"/>
            <a:ext cx="0" cy="22128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5721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+ 12</a:t>
            </a:r>
          </a:p>
        </p:txBody>
      </p:sp>
      <p:sp>
        <p:nvSpPr>
          <p:cNvPr id="31" name="TextBox 30"/>
          <p:cNvSpPr txBox="1"/>
          <p:nvPr/>
        </p:nvSpPr>
        <p:spPr>
          <a:xfrm>
            <a:off x="747064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2" name="Rectangle 31"/>
          <p:cNvSpPr/>
          <p:nvPr/>
        </p:nvSpPr>
        <p:spPr>
          <a:xfrm>
            <a:off x="718718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8718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4" name="TextBox 33"/>
          <p:cNvSpPr txBox="1"/>
          <p:nvPr/>
        </p:nvSpPr>
        <p:spPr>
          <a:xfrm>
            <a:off x="5157216" y="272491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+ 2)</a:t>
            </a:r>
          </a:p>
        </p:txBody>
      </p:sp>
      <p:sp>
        <p:nvSpPr>
          <p:cNvPr id="35" name="TextBox 34"/>
          <p:cNvSpPr txBox="1"/>
          <p:nvPr/>
        </p:nvSpPr>
        <p:spPr>
          <a:xfrm>
            <a:off x="7470648" y="272491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6" name="Rectangle 35"/>
          <p:cNvSpPr/>
          <p:nvPr/>
        </p:nvSpPr>
        <p:spPr>
          <a:xfrm>
            <a:off x="7187184" y="27249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87184" y="272491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8" name="TextBox 37"/>
          <p:cNvSpPr txBox="1"/>
          <p:nvPr/>
        </p:nvSpPr>
        <p:spPr>
          <a:xfrm>
            <a:off x="5157216" y="309067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6</a:t>
            </a:r>
          </a:p>
        </p:txBody>
      </p:sp>
      <p:sp>
        <p:nvSpPr>
          <p:cNvPr id="39" name="TextBox 38"/>
          <p:cNvSpPr txBox="1"/>
          <p:nvPr/>
        </p:nvSpPr>
        <p:spPr>
          <a:xfrm>
            <a:off x="7470648" y="309067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6</a:t>
            </a:r>
          </a:p>
        </p:txBody>
      </p:sp>
      <p:sp>
        <p:nvSpPr>
          <p:cNvPr id="40" name="TextBox 39"/>
          <p:cNvSpPr txBox="1"/>
          <p:nvPr/>
        </p:nvSpPr>
        <p:spPr>
          <a:xfrm>
            <a:off x="5157216" y="345643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+ 2</a:t>
            </a:r>
          </a:p>
        </p:txBody>
      </p:sp>
      <p:sp>
        <p:nvSpPr>
          <p:cNvPr id="41" name="TextBox 40"/>
          <p:cNvSpPr txBox="1"/>
          <p:nvPr/>
        </p:nvSpPr>
        <p:spPr>
          <a:xfrm>
            <a:off x="7470648" y="345643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42" name="Rectangle 41"/>
          <p:cNvSpPr/>
          <p:nvPr/>
        </p:nvSpPr>
        <p:spPr>
          <a:xfrm>
            <a:off x="7187184" y="34564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87184" y="345643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44" name="TextBox 43"/>
          <p:cNvSpPr txBox="1"/>
          <p:nvPr/>
        </p:nvSpPr>
        <p:spPr>
          <a:xfrm>
            <a:off x="5157216" y="3822191"/>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− 2</a:t>
            </a:r>
          </a:p>
        </p:txBody>
      </p:sp>
      <p:sp>
        <p:nvSpPr>
          <p:cNvPr id="45" name="TextBox 44"/>
          <p:cNvSpPr txBox="1"/>
          <p:nvPr/>
        </p:nvSpPr>
        <p:spPr>
          <a:xfrm>
            <a:off x="7470648" y="3822191"/>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− 2</a:t>
            </a:r>
          </a:p>
        </p:txBody>
      </p:sp>
      <p:sp>
        <p:nvSpPr>
          <p:cNvPr id="46" name="TextBox 45"/>
          <p:cNvSpPr txBox="1"/>
          <p:nvPr/>
        </p:nvSpPr>
        <p:spPr>
          <a:xfrm>
            <a:off x="5157216" y="41879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47" name="TextBox 46"/>
          <p:cNvSpPr txBox="1"/>
          <p:nvPr/>
        </p:nvSpPr>
        <p:spPr>
          <a:xfrm>
            <a:off x="7470648" y="41879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a:t>
            </a:r>
          </a:p>
        </p:txBody>
      </p:sp>
      <p:sp>
        <p:nvSpPr>
          <p:cNvPr id="48" name="Rectangle 47"/>
          <p:cNvSpPr/>
          <p:nvPr/>
        </p:nvSpPr>
        <p:spPr>
          <a:xfrm>
            <a:off x="7187184" y="41879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87184" y="41879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0" name="TextBox 49"/>
          <p:cNvSpPr txBox="1"/>
          <p:nvPr/>
        </p:nvSpPr>
        <p:spPr>
          <a:xfrm>
            <a:off x="512064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Collect like terms: 2x + 3x = 5x.</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common factor belongs to every term: 6x + 12 = 6(x + 2).</a:t>
            </a:r>
          </a:p>
        </p:txBody>
      </p:sp>
      <p:sp>
        <p:nvSpPr>
          <p:cNvPr id="51" name="Rectangle 50"/>
          <p:cNvSpPr/>
          <p:nvPr/>
        </p:nvSpPr>
        <p:spPr>
          <a:xfrm>
            <a:off x="964692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5664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Choose a short first step</a:t>
            </a:r>
          </a:p>
        </p:txBody>
      </p:sp>
      <p:cxnSp>
        <p:nvCxnSpPr>
          <p:cNvPr id="53" name="Connector 52"/>
          <p:cNvCxnSpPr/>
          <p:nvPr/>
        </p:nvCxnSpPr>
        <p:spPr>
          <a:xfrm>
            <a:off x="11960352" y="2377440"/>
            <a:ext cx="0" cy="18470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82065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3(x + 4)</a:t>
            </a:r>
          </a:p>
        </p:txBody>
      </p:sp>
      <p:sp>
        <p:nvSpPr>
          <p:cNvPr id="55" name="TextBox 54"/>
          <p:cNvSpPr txBox="1"/>
          <p:nvPr/>
        </p:nvSpPr>
        <p:spPr>
          <a:xfrm>
            <a:off x="1213408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27</a:t>
            </a:r>
          </a:p>
        </p:txBody>
      </p:sp>
      <p:sp>
        <p:nvSpPr>
          <p:cNvPr id="56" name="Rectangle 55"/>
          <p:cNvSpPr/>
          <p:nvPr/>
        </p:nvSpPr>
        <p:spPr>
          <a:xfrm>
            <a:off x="1185062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5062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8" name="TextBox 57"/>
          <p:cNvSpPr txBox="1"/>
          <p:nvPr/>
        </p:nvSpPr>
        <p:spPr>
          <a:xfrm>
            <a:off x="982065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3</a:t>
            </a:r>
          </a:p>
        </p:txBody>
      </p:sp>
      <p:sp>
        <p:nvSpPr>
          <p:cNvPr id="59" name="TextBox 58"/>
          <p:cNvSpPr txBox="1"/>
          <p:nvPr/>
        </p:nvSpPr>
        <p:spPr>
          <a:xfrm>
            <a:off x="1213408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3</a:t>
            </a:r>
          </a:p>
        </p:txBody>
      </p:sp>
      <p:sp>
        <p:nvSpPr>
          <p:cNvPr id="60" name="TextBox 59"/>
          <p:cNvSpPr txBox="1"/>
          <p:nvPr/>
        </p:nvSpPr>
        <p:spPr>
          <a:xfrm>
            <a:off x="982065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+ 4</a:t>
            </a:r>
          </a:p>
        </p:txBody>
      </p:sp>
      <p:sp>
        <p:nvSpPr>
          <p:cNvPr id="61" name="TextBox 60"/>
          <p:cNvSpPr txBox="1"/>
          <p:nvPr/>
        </p:nvSpPr>
        <p:spPr>
          <a:xfrm>
            <a:off x="1213408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9</a:t>
            </a:r>
          </a:p>
        </p:txBody>
      </p:sp>
      <p:sp>
        <p:nvSpPr>
          <p:cNvPr id="62" name="Rectangle 61"/>
          <p:cNvSpPr/>
          <p:nvPr/>
        </p:nvSpPr>
        <p:spPr>
          <a:xfrm>
            <a:off x="1185062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5062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64" name="TextBox 63"/>
          <p:cNvSpPr txBox="1"/>
          <p:nvPr/>
        </p:nvSpPr>
        <p:spPr>
          <a:xfrm>
            <a:off x="9820656" y="345643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− 4</a:t>
            </a:r>
          </a:p>
        </p:txBody>
      </p:sp>
      <p:sp>
        <p:nvSpPr>
          <p:cNvPr id="65" name="TextBox 64"/>
          <p:cNvSpPr txBox="1"/>
          <p:nvPr/>
        </p:nvSpPr>
        <p:spPr>
          <a:xfrm>
            <a:off x="12134088" y="345643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− 4</a:t>
            </a:r>
          </a:p>
        </p:txBody>
      </p:sp>
      <p:sp>
        <p:nvSpPr>
          <p:cNvPr id="66" name="TextBox 65"/>
          <p:cNvSpPr txBox="1"/>
          <p:nvPr/>
        </p:nvSpPr>
        <p:spPr>
          <a:xfrm>
            <a:off x="9820656" y="3822191"/>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67" name="TextBox 66"/>
          <p:cNvSpPr txBox="1"/>
          <p:nvPr/>
        </p:nvSpPr>
        <p:spPr>
          <a:xfrm>
            <a:off x="12134088" y="3822191"/>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68" name="Rectangle 67"/>
          <p:cNvSpPr/>
          <p:nvPr/>
        </p:nvSpPr>
        <p:spPr>
          <a:xfrm>
            <a:off x="11850624" y="3822191"/>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50624" y="3822191"/>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70" name="TextBox 69"/>
          <p:cNvSpPr txBox="1"/>
          <p:nvPr/>
        </p:nvSpPr>
        <p:spPr>
          <a:xfrm>
            <a:off x="978408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Here, divide by 3 before expanding.</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With x on both sides, subtract the smaller x-term first when convenient.</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If expanding is needed, multiply every bracket term. Check in the original equation.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the working down each side of the line.</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M10-S01</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x − 7 = 5</a:t>
            </a:r>
          </a:p>
        </p:txBody>
      </p:sp>
      <p:cxnSp>
        <p:nvCxnSpPr>
          <p:cNvPr id="15" name="Connector 14"/>
          <p:cNvCxnSpPr/>
          <p:nvPr/>
        </p:nvCxnSpPr>
        <p:spPr>
          <a:xfrm>
            <a:off x="2624328" y="2487168"/>
            <a:ext cx="0" cy="122529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634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 − 7</a:t>
            </a:r>
          </a:p>
        </p:txBody>
      </p:sp>
      <p:sp>
        <p:nvSpPr>
          <p:cNvPr id="17" name="TextBox 16"/>
          <p:cNvSpPr txBox="1"/>
          <p:nvPr/>
        </p:nvSpPr>
        <p:spPr>
          <a:xfrm>
            <a:off x="279806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5</a:t>
            </a:r>
          </a:p>
        </p:txBody>
      </p:sp>
      <p:sp>
        <p:nvSpPr>
          <p:cNvPr id="18" name="Rectangle 17"/>
          <p:cNvSpPr/>
          <p:nvPr/>
        </p:nvSpPr>
        <p:spPr>
          <a:xfrm>
            <a:off x="251460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0" name="TextBox 19"/>
          <p:cNvSpPr txBox="1"/>
          <p:nvPr/>
        </p:nvSpPr>
        <p:spPr>
          <a:xfrm>
            <a:off x="46634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+ 7</a:t>
            </a:r>
          </a:p>
        </p:txBody>
      </p:sp>
      <p:sp>
        <p:nvSpPr>
          <p:cNvPr id="21" name="TextBox 20"/>
          <p:cNvSpPr txBox="1"/>
          <p:nvPr/>
        </p:nvSpPr>
        <p:spPr>
          <a:xfrm>
            <a:off x="279806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+ 7</a:t>
            </a:r>
          </a:p>
        </p:txBody>
      </p:sp>
      <p:sp>
        <p:nvSpPr>
          <p:cNvPr id="22" name="TextBox 21"/>
          <p:cNvSpPr txBox="1"/>
          <p:nvPr/>
        </p:nvSpPr>
        <p:spPr>
          <a:xfrm>
            <a:off x="46634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23" name="TextBox 22"/>
          <p:cNvSpPr txBox="1"/>
          <p:nvPr/>
        </p:nvSpPr>
        <p:spPr>
          <a:xfrm>
            <a:off x="279806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12</a:t>
            </a:r>
          </a:p>
        </p:txBody>
      </p:sp>
      <p:sp>
        <p:nvSpPr>
          <p:cNvPr id="24" name="Rectangle 23"/>
          <p:cNvSpPr/>
          <p:nvPr/>
        </p:nvSpPr>
        <p:spPr>
          <a:xfrm>
            <a:off x="251460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460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6" name="TextBox 25"/>
          <p:cNvSpPr txBox="1"/>
          <p:nvPr/>
        </p:nvSpPr>
        <p:spPr>
          <a:xfrm>
            <a:off x="42976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12, left side = 5 and right side = 5.</a:t>
            </a:r>
          </a:p>
        </p:txBody>
      </p:sp>
      <p:sp>
        <p:nvSpPr>
          <p:cNvPr id="27" name="Rectangle 26"/>
          <p:cNvSpPr/>
          <p:nvPr/>
        </p:nvSpPr>
        <p:spPr>
          <a:xfrm>
            <a:off x="498348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4x + 3 = 31</a:t>
            </a:r>
          </a:p>
        </p:txBody>
      </p:sp>
      <p:cxnSp>
        <p:nvCxnSpPr>
          <p:cNvPr id="29" name="Connector 28"/>
          <p:cNvCxnSpPr/>
          <p:nvPr/>
        </p:nvCxnSpPr>
        <p:spPr>
          <a:xfrm>
            <a:off x="7287768" y="2487168"/>
            <a:ext cx="0" cy="20299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2978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 + 3</a:t>
            </a:r>
          </a:p>
        </p:txBody>
      </p:sp>
      <p:sp>
        <p:nvSpPr>
          <p:cNvPr id="31" name="TextBox 30"/>
          <p:cNvSpPr txBox="1"/>
          <p:nvPr/>
        </p:nvSpPr>
        <p:spPr>
          <a:xfrm>
            <a:off x="746150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31</a:t>
            </a:r>
          </a:p>
        </p:txBody>
      </p:sp>
      <p:sp>
        <p:nvSpPr>
          <p:cNvPr id="32" name="Rectangle 31"/>
          <p:cNvSpPr/>
          <p:nvPr/>
        </p:nvSpPr>
        <p:spPr>
          <a:xfrm>
            <a:off x="717804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7804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34" name="TextBox 33"/>
          <p:cNvSpPr txBox="1"/>
          <p:nvPr/>
        </p:nvSpPr>
        <p:spPr>
          <a:xfrm>
            <a:off x="512978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− 3</a:t>
            </a:r>
          </a:p>
        </p:txBody>
      </p:sp>
      <p:sp>
        <p:nvSpPr>
          <p:cNvPr id="35" name="TextBox 34"/>
          <p:cNvSpPr txBox="1"/>
          <p:nvPr/>
        </p:nvSpPr>
        <p:spPr>
          <a:xfrm>
            <a:off x="746150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− 3</a:t>
            </a:r>
          </a:p>
        </p:txBody>
      </p:sp>
      <p:sp>
        <p:nvSpPr>
          <p:cNvPr id="36" name="TextBox 35"/>
          <p:cNvSpPr txBox="1"/>
          <p:nvPr/>
        </p:nvSpPr>
        <p:spPr>
          <a:xfrm>
            <a:off x="512978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a:t>
            </a:r>
          </a:p>
        </p:txBody>
      </p:sp>
      <p:sp>
        <p:nvSpPr>
          <p:cNvPr id="37" name="TextBox 36"/>
          <p:cNvSpPr txBox="1"/>
          <p:nvPr/>
        </p:nvSpPr>
        <p:spPr>
          <a:xfrm>
            <a:off x="746150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28</a:t>
            </a:r>
          </a:p>
        </p:txBody>
      </p:sp>
      <p:sp>
        <p:nvSpPr>
          <p:cNvPr id="38" name="Rectangle 37"/>
          <p:cNvSpPr/>
          <p:nvPr/>
        </p:nvSpPr>
        <p:spPr>
          <a:xfrm>
            <a:off x="717804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7804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0" name="TextBox 39"/>
          <p:cNvSpPr txBox="1"/>
          <p:nvPr/>
        </p:nvSpPr>
        <p:spPr>
          <a:xfrm>
            <a:off x="5129784" y="3675888"/>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4</a:t>
            </a:r>
          </a:p>
        </p:txBody>
      </p:sp>
      <p:sp>
        <p:nvSpPr>
          <p:cNvPr id="41" name="TextBox 40"/>
          <p:cNvSpPr txBox="1"/>
          <p:nvPr/>
        </p:nvSpPr>
        <p:spPr>
          <a:xfrm>
            <a:off x="7461504" y="3675888"/>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4</a:t>
            </a:r>
          </a:p>
        </p:txBody>
      </p:sp>
      <p:sp>
        <p:nvSpPr>
          <p:cNvPr id="42" name="TextBox 41"/>
          <p:cNvSpPr txBox="1"/>
          <p:nvPr/>
        </p:nvSpPr>
        <p:spPr>
          <a:xfrm>
            <a:off x="5129784" y="4078224"/>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43" name="TextBox 42"/>
          <p:cNvSpPr txBox="1"/>
          <p:nvPr/>
        </p:nvSpPr>
        <p:spPr>
          <a:xfrm>
            <a:off x="7461504" y="4078224"/>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7</a:t>
            </a:r>
          </a:p>
        </p:txBody>
      </p:sp>
      <p:sp>
        <p:nvSpPr>
          <p:cNvPr id="44" name="Rectangle 43"/>
          <p:cNvSpPr/>
          <p:nvPr/>
        </p:nvSpPr>
        <p:spPr>
          <a:xfrm>
            <a:off x="7178040" y="4078224"/>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78040" y="4078224"/>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6" name="TextBox 45"/>
          <p:cNvSpPr txBox="1"/>
          <p:nvPr/>
        </p:nvSpPr>
        <p:spPr>
          <a:xfrm>
            <a:off x="509320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7, left side = 31 and right side = 31.</a:t>
            </a:r>
          </a:p>
        </p:txBody>
      </p:sp>
      <p:sp>
        <p:nvSpPr>
          <p:cNvPr id="47" name="Rectangle 46"/>
          <p:cNvSpPr/>
          <p:nvPr/>
        </p:nvSpPr>
        <p:spPr>
          <a:xfrm>
            <a:off x="964692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5664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3(x + 2) = x + 24</a:t>
            </a:r>
          </a:p>
        </p:txBody>
      </p:sp>
      <p:cxnSp>
        <p:nvCxnSpPr>
          <p:cNvPr id="49" name="Connector 48"/>
          <p:cNvCxnSpPr/>
          <p:nvPr/>
        </p:nvCxnSpPr>
        <p:spPr>
          <a:xfrm>
            <a:off x="11951208" y="2487168"/>
            <a:ext cx="0" cy="323697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79322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+ 2)</a:t>
            </a:r>
          </a:p>
        </p:txBody>
      </p:sp>
      <p:sp>
        <p:nvSpPr>
          <p:cNvPr id="51" name="TextBox 50"/>
          <p:cNvSpPr txBox="1"/>
          <p:nvPr/>
        </p:nvSpPr>
        <p:spPr>
          <a:xfrm>
            <a:off x="1212494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2" name="Rectangle 51"/>
          <p:cNvSpPr/>
          <p:nvPr/>
        </p:nvSpPr>
        <p:spPr>
          <a:xfrm>
            <a:off x="1184148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84148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4" name="TextBox 53"/>
          <p:cNvSpPr txBox="1"/>
          <p:nvPr/>
        </p:nvSpPr>
        <p:spPr>
          <a:xfrm>
            <a:off x="9793224" y="2871216"/>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+ 6</a:t>
            </a:r>
          </a:p>
        </p:txBody>
      </p:sp>
      <p:sp>
        <p:nvSpPr>
          <p:cNvPr id="55" name="TextBox 54"/>
          <p:cNvSpPr txBox="1"/>
          <p:nvPr/>
        </p:nvSpPr>
        <p:spPr>
          <a:xfrm>
            <a:off x="12124944" y="2871216"/>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6" name="Rectangle 55"/>
          <p:cNvSpPr/>
          <p:nvPr/>
        </p:nvSpPr>
        <p:spPr>
          <a:xfrm>
            <a:off x="11841480" y="28712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41480" y="2871216"/>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8" name="TextBox 57"/>
          <p:cNvSpPr txBox="1"/>
          <p:nvPr/>
        </p:nvSpPr>
        <p:spPr>
          <a:xfrm>
            <a:off x="9793224" y="3273552"/>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x</a:t>
            </a:r>
          </a:p>
        </p:txBody>
      </p:sp>
      <p:sp>
        <p:nvSpPr>
          <p:cNvPr id="59" name="TextBox 58"/>
          <p:cNvSpPr txBox="1"/>
          <p:nvPr/>
        </p:nvSpPr>
        <p:spPr>
          <a:xfrm>
            <a:off x="12124944" y="3273552"/>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x</a:t>
            </a:r>
          </a:p>
        </p:txBody>
      </p:sp>
      <p:sp>
        <p:nvSpPr>
          <p:cNvPr id="60" name="TextBox 59"/>
          <p:cNvSpPr txBox="1"/>
          <p:nvPr/>
        </p:nvSpPr>
        <p:spPr>
          <a:xfrm>
            <a:off x="9793224" y="3675888"/>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 + 6</a:t>
            </a:r>
          </a:p>
        </p:txBody>
      </p:sp>
      <p:sp>
        <p:nvSpPr>
          <p:cNvPr id="61" name="TextBox 60"/>
          <p:cNvSpPr txBox="1"/>
          <p:nvPr/>
        </p:nvSpPr>
        <p:spPr>
          <a:xfrm>
            <a:off x="12124944" y="3675888"/>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24</a:t>
            </a:r>
          </a:p>
        </p:txBody>
      </p:sp>
      <p:sp>
        <p:nvSpPr>
          <p:cNvPr id="62" name="Rectangle 61"/>
          <p:cNvSpPr/>
          <p:nvPr/>
        </p:nvSpPr>
        <p:spPr>
          <a:xfrm>
            <a:off x="11841480" y="3675888"/>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41480" y="3675888"/>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64" name="TextBox 63"/>
          <p:cNvSpPr txBox="1"/>
          <p:nvPr/>
        </p:nvSpPr>
        <p:spPr>
          <a:xfrm>
            <a:off x="9793224" y="4078224"/>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− 6</a:t>
            </a:r>
          </a:p>
        </p:txBody>
      </p:sp>
      <p:sp>
        <p:nvSpPr>
          <p:cNvPr id="65" name="TextBox 64"/>
          <p:cNvSpPr txBox="1"/>
          <p:nvPr/>
        </p:nvSpPr>
        <p:spPr>
          <a:xfrm>
            <a:off x="12124944" y="4078224"/>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− 6</a:t>
            </a:r>
          </a:p>
        </p:txBody>
      </p:sp>
      <p:sp>
        <p:nvSpPr>
          <p:cNvPr id="66" name="TextBox 65"/>
          <p:cNvSpPr txBox="1"/>
          <p:nvPr/>
        </p:nvSpPr>
        <p:spPr>
          <a:xfrm>
            <a:off x="9793224" y="448056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a:t>
            </a:r>
          </a:p>
        </p:txBody>
      </p:sp>
      <p:sp>
        <p:nvSpPr>
          <p:cNvPr id="67" name="TextBox 66"/>
          <p:cNvSpPr txBox="1"/>
          <p:nvPr/>
        </p:nvSpPr>
        <p:spPr>
          <a:xfrm>
            <a:off x="12124944" y="448056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18</a:t>
            </a:r>
          </a:p>
        </p:txBody>
      </p:sp>
      <p:sp>
        <p:nvSpPr>
          <p:cNvPr id="68" name="Rectangle 67"/>
          <p:cNvSpPr/>
          <p:nvPr/>
        </p:nvSpPr>
        <p:spPr>
          <a:xfrm>
            <a:off x="11841480" y="448056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41480" y="448056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0" name="TextBox 69"/>
          <p:cNvSpPr txBox="1"/>
          <p:nvPr/>
        </p:nvSpPr>
        <p:spPr>
          <a:xfrm>
            <a:off x="9793224" y="488289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2</a:t>
            </a:r>
          </a:p>
        </p:txBody>
      </p:sp>
      <p:sp>
        <p:nvSpPr>
          <p:cNvPr id="71" name="TextBox 70"/>
          <p:cNvSpPr txBox="1"/>
          <p:nvPr/>
        </p:nvSpPr>
        <p:spPr>
          <a:xfrm>
            <a:off x="12124944" y="488289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2</a:t>
            </a:r>
          </a:p>
        </p:txBody>
      </p:sp>
      <p:sp>
        <p:nvSpPr>
          <p:cNvPr id="72" name="TextBox 71"/>
          <p:cNvSpPr txBox="1"/>
          <p:nvPr/>
        </p:nvSpPr>
        <p:spPr>
          <a:xfrm>
            <a:off x="9793224" y="528523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73" name="TextBox 72"/>
          <p:cNvSpPr txBox="1"/>
          <p:nvPr/>
        </p:nvSpPr>
        <p:spPr>
          <a:xfrm>
            <a:off x="12124944" y="528523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9</a:t>
            </a:r>
          </a:p>
        </p:txBody>
      </p:sp>
      <p:sp>
        <p:nvSpPr>
          <p:cNvPr id="74" name="Rectangle 73"/>
          <p:cNvSpPr/>
          <p:nvPr/>
        </p:nvSpPr>
        <p:spPr>
          <a:xfrm>
            <a:off x="11841480" y="52852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841480" y="528523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6" name="TextBox 75"/>
          <p:cNvSpPr txBox="1"/>
          <p:nvPr/>
        </p:nvSpPr>
        <p:spPr>
          <a:xfrm>
            <a:off x="975664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9, left side = 33 and right side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x − 8 = 15</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+ 7 = 37</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3(x + 4) = x + 20</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6x = -18</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4x − 9 = 23</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− 2) = 2x + 23</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Spot the errors • Find the first wrong step, correct it and finish.</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M10-SE</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x + 8 = 19</a:t>
            </a:r>
          </a:p>
        </p:txBody>
      </p:sp>
      <p:cxnSp>
        <p:nvCxnSpPr>
          <p:cNvPr id="15" name="Connector 14"/>
          <p:cNvCxnSpPr/>
          <p:nvPr/>
        </p:nvCxnSpPr>
        <p:spPr>
          <a:xfrm>
            <a:off x="2624328" y="2148840"/>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6344" y="213055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+ 8</a:t>
            </a:r>
          </a:p>
        </p:txBody>
      </p:sp>
      <p:sp>
        <p:nvSpPr>
          <p:cNvPr id="17" name="TextBox 16"/>
          <p:cNvSpPr txBox="1"/>
          <p:nvPr/>
        </p:nvSpPr>
        <p:spPr>
          <a:xfrm>
            <a:off x="2798064" y="213055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19</a:t>
            </a:r>
          </a:p>
        </p:txBody>
      </p:sp>
      <p:sp>
        <p:nvSpPr>
          <p:cNvPr id="18" name="Rectangle 17"/>
          <p:cNvSpPr/>
          <p:nvPr/>
        </p:nvSpPr>
        <p:spPr>
          <a:xfrm>
            <a:off x="251460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0" name="TextBox 19"/>
          <p:cNvSpPr txBox="1"/>
          <p:nvPr/>
        </p:nvSpPr>
        <p:spPr>
          <a:xfrm>
            <a:off x="466344" y="240487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21" name="TextBox 20"/>
          <p:cNvSpPr txBox="1"/>
          <p:nvPr/>
        </p:nvSpPr>
        <p:spPr>
          <a:xfrm>
            <a:off x="2798064" y="240487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27</a:t>
            </a:r>
          </a:p>
        </p:txBody>
      </p:sp>
      <p:sp>
        <p:nvSpPr>
          <p:cNvPr id="22" name="Rectangle 21"/>
          <p:cNvSpPr/>
          <p:nvPr/>
        </p:nvSpPr>
        <p:spPr>
          <a:xfrm>
            <a:off x="251460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460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4" name="Rectangle 23"/>
          <p:cNvSpPr/>
          <p:nvPr/>
        </p:nvSpPr>
        <p:spPr>
          <a:xfrm>
            <a:off x="32004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79"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x − 5 = 8</a:t>
            </a:r>
          </a:p>
        </p:txBody>
      </p:sp>
      <p:cxnSp>
        <p:nvCxnSpPr>
          <p:cNvPr id="26" name="Connector 25"/>
          <p:cNvCxnSpPr/>
          <p:nvPr/>
        </p:nvCxnSpPr>
        <p:spPr>
          <a:xfrm>
            <a:off x="2624328" y="4187951"/>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66344" y="416966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− 5</a:t>
            </a:r>
          </a:p>
        </p:txBody>
      </p:sp>
      <p:sp>
        <p:nvSpPr>
          <p:cNvPr id="28" name="TextBox 27"/>
          <p:cNvSpPr txBox="1"/>
          <p:nvPr/>
        </p:nvSpPr>
        <p:spPr>
          <a:xfrm>
            <a:off x="2798064" y="416966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29" name="Rectangle 28"/>
          <p:cNvSpPr/>
          <p:nvPr/>
        </p:nvSpPr>
        <p:spPr>
          <a:xfrm>
            <a:off x="251460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460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1" name="TextBox 30"/>
          <p:cNvSpPr txBox="1"/>
          <p:nvPr/>
        </p:nvSpPr>
        <p:spPr>
          <a:xfrm>
            <a:off x="466344" y="444398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32" name="TextBox 31"/>
          <p:cNvSpPr txBox="1"/>
          <p:nvPr/>
        </p:nvSpPr>
        <p:spPr>
          <a:xfrm>
            <a:off x="2798064" y="444398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a:t>
            </a:r>
          </a:p>
        </p:txBody>
      </p:sp>
      <p:sp>
        <p:nvSpPr>
          <p:cNvPr id="33" name="Rectangle 32"/>
          <p:cNvSpPr/>
          <p:nvPr/>
        </p:nvSpPr>
        <p:spPr>
          <a:xfrm>
            <a:off x="251460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1460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5" name="Rectangle 34"/>
          <p:cNvSpPr/>
          <p:nvPr/>
        </p:nvSpPr>
        <p:spPr>
          <a:xfrm>
            <a:off x="32004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79"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6x = 24</a:t>
            </a:r>
          </a:p>
        </p:txBody>
      </p:sp>
      <p:cxnSp>
        <p:nvCxnSpPr>
          <p:cNvPr id="37" name="Connector 36"/>
          <p:cNvCxnSpPr/>
          <p:nvPr/>
        </p:nvCxnSpPr>
        <p:spPr>
          <a:xfrm>
            <a:off x="2624328" y="6227064"/>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66344" y="620877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39" name="TextBox 38"/>
          <p:cNvSpPr txBox="1"/>
          <p:nvPr/>
        </p:nvSpPr>
        <p:spPr>
          <a:xfrm>
            <a:off x="2798064" y="620877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24</a:t>
            </a:r>
          </a:p>
        </p:txBody>
      </p:sp>
      <p:sp>
        <p:nvSpPr>
          <p:cNvPr id="40" name="Rectangle 39"/>
          <p:cNvSpPr/>
          <p:nvPr/>
        </p:nvSpPr>
        <p:spPr>
          <a:xfrm>
            <a:off x="251460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1460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42" name="TextBox 41"/>
          <p:cNvSpPr txBox="1"/>
          <p:nvPr/>
        </p:nvSpPr>
        <p:spPr>
          <a:xfrm>
            <a:off x="466344" y="648309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43" name="TextBox 42"/>
          <p:cNvSpPr txBox="1"/>
          <p:nvPr/>
        </p:nvSpPr>
        <p:spPr>
          <a:xfrm>
            <a:off x="2798064" y="648309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18</a:t>
            </a:r>
          </a:p>
        </p:txBody>
      </p:sp>
      <p:sp>
        <p:nvSpPr>
          <p:cNvPr id="44" name="Rectangle 43"/>
          <p:cNvSpPr/>
          <p:nvPr/>
        </p:nvSpPr>
        <p:spPr>
          <a:xfrm>
            <a:off x="251460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1460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46" name="Rectangle 45"/>
          <p:cNvSpPr/>
          <p:nvPr/>
        </p:nvSpPr>
        <p:spPr>
          <a:xfrm>
            <a:off x="498348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3x + 6 = 30</a:t>
            </a:r>
          </a:p>
        </p:txBody>
      </p:sp>
      <p:cxnSp>
        <p:nvCxnSpPr>
          <p:cNvPr id="48" name="Connector 47"/>
          <p:cNvCxnSpPr/>
          <p:nvPr/>
        </p:nvCxnSpPr>
        <p:spPr>
          <a:xfrm>
            <a:off x="7287768" y="2148840"/>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129784" y="213055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+ 6</a:t>
            </a:r>
          </a:p>
        </p:txBody>
      </p:sp>
      <p:sp>
        <p:nvSpPr>
          <p:cNvPr id="50" name="TextBox 49"/>
          <p:cNvSpPr txBox="1"/>
          <p:nvPr/>
        </p:nvSpPr>
        <p:spPr>
          <a:xfrm>
            <a:off x="7461504" y="213055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51" name="Rectangle 50"/>
          <p:cNvSpPr/>
          <p:nvPr/>
        </p:nvSpPr>
        <p:spPr>
          <a:xfrm>
            <a:off x="717804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17804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3" name="TextBox 52"/>
          <p:cNvSpPr txBox="1"/>
          <p:nvPr/>
        </p:nvSpPr>
        <p:spPr>
          <a:xfrm>
            <a:off x="5129784" y="240487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a:t>
            </a:r>
          </a:p>
        </p:txBody>
      </p:sp>
      <p:sp>
        <p:nvSpPr>
          <p:cNvPr id="54" name="TextBox 53"/>
          <p:cNvSpPr txBox="1"/>
          <p:nvPr/>
        </p:nvSpPr>
        <p:spPr>
          <a:xfrm>
            <a:off x="7461504" y="240487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36</a:t>
            </a:r>
          </a:p>
        </p:txBody>
      </p:sp>
      <p:sp>
        <p:nvSpPr>
          <p:cNvPr id="55" name="Rectangle 54"/>
          <p:cNvSpPr/>
          <p:nvPr/>
        </p:nvSpPr>
        <p:spPr>
          <a:xfrm>
            <a:off x="717804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17804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7" name="TextBox 56"/>
          <p:cNvSpPr txBox="1"/>
          <p:nvPr/>
        </p:nvSpPr>
        <p:spPr>
          <a:xfrm>
            <a:off x="5129784" y="267919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58" name="TextBox 57"/>
          <p:cNvSpPr txBox="1"/>
          <p:nvPr/>
        </p:nvSpPr>
        <p:spPr>
          <a:xfrm>
            <a:off x="7461504" y="267919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59" name="Rectangle 58"/>
          <p:cNvSpPr/>
          <p:nvPr/>
        </p:nvSpPr>
        <p:spPr>
          <a:xfrm>
            <a:off x="717804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17804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61" name="Rectangle 60"/>
          <p:cNvSpPr/>
          <p:nvPr/>
        </p:nvSpPr>
        <p:spPr>
          <a:xfrm>
            <a:off x="498348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7492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− 8 = 16</a:t>
            </a:r>
          </a:p>
        </p:txBody>
      </p:sp>
      <p:cxnSp>
        <p:nvCxnSpPr>
          <p:cNvPr id="63" name="Connector 62"/>
          <p:cNvCxnSpPr/>
          <p:nvPr/>
        </p:nvCxnSpPr>
        <p:spPr>
          <a:xfrm>
            <a:off x="7287768" y="4187951"/>
            <a:ext cx="0" cy="84124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129784" y="416966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− 8</a:t>
            </a:r>
          </a:p>
        </p:txBody>
      </p:sp>
      <p:sp>
        <p:nvSpPr>
          <p:cNvPr id="65" name="TextBox 64"/>
          <p:cNvSpPr txBox="1"/>
          <p:nvPr/>
        </p:nvSpPr>
        <p:spPr>
          <a:xfrm>
            <a:off x="7461504" y="416966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66" name="Rectangle 65"/>
          <p:cNvSpPr/>
          <p:nvPr/>
        </p:nvSpPr>
        <p:spPr>
          <a:xfrm>
            <a:off x="717804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17804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68" name="TextBox 67"/>
          <p:cNvSpPr txBox="1"/>
          <p:nvPr/>
        </p:nvSpPr>
        <p:spPr>
          <a:xfrm>
            <a:off x="5129784" y="444398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a:t>
            </a:r>
          </a:p>
        </p:txBody>
      </p:sp>
      <p:sp>
        <p:nvSpPr>
          <p:cNvPr id="69" name="TextBox 68"/>
          <p:cNvSpPr txBox="1"/>
          <p:nvPr/>
        </p:nvSpPr>
        <p:spPr>
          <a:xfrm>
            <a:off x="7461504" y="444398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70" name="Rectangle 69"/>
          <p:cNvSpPr/>
          <p:nvPr/>
        </p:nvSpPr>
        <p:spPr>
          <a:xfrm>
            <a:off x="717804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17804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2" name="TextBox 71"/>
          <p:cNvSpPr txBox="1"/>
          <p:nvPr/>
        </p:nvSpPr>
        <p:spPr>
          <a:xfrm>
            <a:off x="5129784" y="471830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73" name="TextBox 72"/>
          <p:cNvSpPr txBox="1"/>
          <p:nvPr/>
        </p:nvSpPr>
        <p:spPr>
          <a:xfrm>
            <a:off x="7461504" y="471830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a:t>
            </a:r>
          </a:p>
        </p:txBody>
      </p:sp>
      <p:sp>
        <p:nvSpPr>
          <p:cNvPr id="74" name="Rectangle 73"/>
          <p:cNvSpPr/>
          <p:nvPr/>
        </p:nvSpPr>
        <p:spPr>
          <a:xfrm>
            <a:off x="717804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17804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6" name="Rectangle 75"/>
          <p:cNvSpPr/>
          <p:nvPr/>
        </p:nvSpPr>
        <p:spPr>
          <a:xfrm>
            <a:off x="498348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5x + 10 = 45</a:t>
            </a:r>
          </a:p>
        </p:txBody>
      </p:sp>
      <p:cxnSp>
        <p:nvCxnSpPr>
          <p:cNvPr id="78" name="Connector 77"/>
          <p:cNvCxnSpPr/>
          <p:nvPr/>
        </p:nvCxnSpPr>
        <p:spPr>
          <a:xfrm>
            <a:off x="7287768" y="6227064"/>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5129784" y="620877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5x + 10</a:t>
            </a:r>
          </a:p>
        </p:txBody>
      </p:sp>
      <p:sp>
        <p:nvSpPr>
          <p:cNvPr id="80" name="TextBox 79"/>
          <p:cNvSpPr txBox="1"/>
          <p:nvPr/>
        </p:nvSpPr>
        <p:spPr>
          <a:xfrm>
            <a:off x="7461504" y="620877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45</a:t>
            </a:r>
          </a:p>
        </p:txBody>
      </p:sp>
      <p:sp>
        <p:nvSpPr>
          <p:cNvPr id="81" name="Rectangle 80"/>
          <p:cNvSpPr/>
          <p:nvPr/>
        </p:nvSpPr>
        <p:spPr>
          <a:xfrm>
            <a:off x="717804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17804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83" name="TextBox 82"/>
          <p:cNvSpPr txBox="1"/>
          <p:nvPr/>
        </p:nvSpPr>
        <p:spPr>
          <a:xfrm>
            <a:off x="5129784" y="648309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+ 10</a:t>
            </a:r>
          </a:p>
        </p:txBody>
      </p:sp>
      <p:sp>
        <p:nvSpPr>
          <p:cNvPr id="84" name="TextBox 83"/>
          <p:cNvSpPr txBox="1"/>
          <p:nvPr/>
        </p:nvSpPr>
        <p:spPr>
          <a:xfrm>
            <a:off x="7461504" y="648309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9</a:t>
            </a:r>
          </a:p>
        </p:txBody>
      </p:sp>
      <p:sp>
        <p:nvSpPr>
          <p:cNvPr id="85" name="Rectangle 84"/>
          <p:cNvSpPr/>
          <p:nvPr/>
        </p:nvSpPr>
        <p:spPr>
          <a:xfrm>
            <a:off x="717804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17804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87" name="TextBox 86"/>
          <p:cNvSpPr txBox="1"/>
          <p:nvPr/>
        </p:nvSpPr>
        <p:spPr>
          <a:xfrm>
            <a:off x="5129784" y="675741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88" name="TextBox 87"/>
          <p:cNvSpPr txBox="1"/>
          <p:nvPr/>
        </p:nvSpPr>
        <p:spPr>
          <a:xfrm>
            <a:off x="7461504" y="675741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a:t>
            </a:r>
          </a:p>
        </p:txBody>
      </p:sp>
      <p:sp>
        <p:nvSpPr>
          <p:cNvPr id="89" name="Rectangle 88"/>
          <p:cNvSpPr/>
          <p:nvPr/>
        </p:nvSpPr>
        <p:spPr>
          <a:xfrm>
            <a:off x="717804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17804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1" name="Rectangle 90"/>
          <p:cNvSpPr/>
          <p:nvPr/>
        </p:nvSpPr>
        <p:spPr>
          <a:xfrm>
            <a:off x="964692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73836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2(x + 5) = 30</a:t>
            </a:r>
          </a:p>
        </p:txBody>
      </p:sp>
      <p:cxnSp>
        <p:nvCxnSpPr>
          <p:cNvPr id="93" name="Connector 92"/>
          <p:cNvCxnSpPr/>
          <p:nvPr/>
        </p:nvCxnSpPr>
        <p:spPr>
          <a:xfrm>
            <a:off x="11951208" y="21488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9793224" y="213055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95" name="TextBox 94"/>
          <p:cNvSpPr txBox="1"/>
          <p:nvPr/>
        </p:nvSpPr>
        <p:spPr>
          <a:xfrm>
            <a:off x="12124944" y="213055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96" name="Rectangle 95"/>
          <p:cNvSpPr/>
          <p:nvPr/>
        </p:nvSpPr>
        <p:spPr>
          <a:xfrm>
            <a:off x="1184148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84148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8" name="TextBox 97"/>
          <p:cNvSpPr txBox="1"/>
          <p:nvPr/>
        </p:nvSpPr>
        <p:spPr>
          <a:xfrm>
            <a:off x="9793224" y="240487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99" name="TextBox 98"/>
          <p:cNvSpPr txBox="1"/>
          <p:nvPr/>
        </p:nvSpPr>
        <p:spPr>
          <a:xfrm>
            <a:off x="12124944" y="240487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00" name="Rectangle 99"/>
          <p:cNvSpPr/>
          <p:nvPr/>
        </p:nvSpPr>
        <p:spPr>
          <a:xfrm>
            <a:off x="1184148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84148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2" name="TextBox 101"/>
          <p:cNvSpPr txBox="1"/>
          <p:nvPr/>
        </p:nvSpPr>
        <p:spPr>
          <a:xfrm>
            <a:off x="9793224" y="267919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03" name="TextBox 102"/>
          <p:cNvSpPr txBox="1"/>
          <p:nvPr/>
        </p:nvSpPr>
        <p:spPr>
          <a:xfrm>
            <a:off x="12124944" y="267919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25</a:t>
            </a:r>
          </a:p>
        </p:txBody>
      </p:sp>
      <p:sp>
        <p:nvSpPr>
          <p:cNvPr id="104" name="Rectangle 103"/>
          <p:cNvSpPr/>
          <p:nvPr/>
        </p:nvSpPr>
        <p:spPr>
          <a:xfrm>
            <a:off x="1184148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84148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6" name="TextBox 105"/>
          <p:cNvSpPr txBox="1"/>
          <p:nvPr/>
        </p:nvSpPr>
        <p:spPr>
          <a:xfrm>
            <a:off x="9793224" y="295351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07" name="TextBox 106"/>
          <p:cNvSpPr txBox="1"/>
          <p:nvPr/>
        </p:nvSpPr>
        <p:spPr>
          <a:xfrm>
            <a:off x="12124944" y="295351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12.5</a:t>
            </a:r>
          </a:p>
        </p:txBody>
      </p:sp>
      <p:sp>
        <p:nvSpPr>
          <p:cNvPr id="108" name="Rectangle 107"/>
          <p:cNvSpPr/>
          <p:nvPr/>
        </p:nvSpPr>
        <p:spPr>
          <a:xfrm>
            <a:off x="11841480" y="29535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841480" y="295351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10" name="Rectangle 109"/>
          <p:cNvSpPr/>
          <p:nvPr/>
        </p:nvSpPr>
        <p:spPr>
          <a:xfrm>
            <a:off x="964692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836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+ 3 = 2x + 33</a:t>
            </a:r>
          </a:p>
        </p:txBody>
      </p:sp>
      <p:cxnSp>
        <p:nvCxnSpPr>
          <p:cNvPr id="112" name="Connector 111"/>
          <p:cNvCxnSpPr/>
          <p:nvPr/>
        </p:nvCxnSpPr>
        <p:spPr>
          <a:xfrm>
            <a:off x="11951208" y="4187951"/>
            <a:ext cx="0" cy="111556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93224" y="416966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+ 3</a:t>
            </a:r>
          </a:p>
        </p:txBody>
      </p:sp>
      <p:sp>
        <p:nvSpPr>
          <p:cNvPr id="114" name="TextBox 113"/>
          <p:cNvSpPr txBox="1"/>
          <p:nvPr/>
        </p:nvSpPr>
        <p:spPr>
          <a:xfrm>
            <a:off x="12124944" y="416966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2x + 33</a:t>
            </a:r>
          </a:p>
        </p:txBody>
      </p:sp>
      <p:sp>
        <p:nvSpPr>
          <p:cNvPr id="115" name="Rectangle 114"/>
          <p:cNvSpPr/>
          <p:nvPr/>
        </p:nvSpPr>
        <p:spPr>
          <a:xfrm>
            <a:off x="1184148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184148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17" name="TextBox 116"/>
          <p:cNvSpPr txBox="1"/>
          <p:nvPr/>
        </p:nvSpPr>
        <p:spPr>
          <a:xfrm>
            <a:off x="9793224" y="444398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 + 3</a:t>
            </a:r>
          </a:p>
        </p:txBody>
      </p:sp>
      <p:sp>
        <p:nvSpPr>
          <p:cNvPr id="118" name="TextBox 117"/>
          <p:cNvSpPr txBox="1"/>
          <p:nvPr/>
        </p:nvSpPr>
        <p:spPr>
          <a:xfrm>
            <a:off x="12124944" y="444398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33</a:t>
            </a:r>
          </a:p>
        </p:txBody>
      </p:sp>
      <p:sp>
        <p:nvSpPr>
          <p:cNvPr id="119" name="Rectangle 118"/>
          <p:cNvSpPr/>
          <p:nvPr/>
        </p:nvSpPr>
        <p:spPr>
          <a:xfrm>
            <a:off x="1184148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184148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1" name="TextBox 120"/>
          <p:cNvSpPr txBox="1"/>
          <p:nvPr/>
        </p:nvSpPr>
        <p:spPr>
          <a:xfrm>
            <a:off x="9793224" y="471830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122" name="TextBox 121"/>
          <p:cNvSpPr txBox="1"/>
          <p:nvPr/>
        </p:nvSpPr>
        <p:spPr>
          <a:xfrm>
            <a:off x="12124944" y="471830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23" name="Rectangle 122"/>
          <p:cNvSpPr/>
          <p:nvPr/>
        </p:nvSpPr>
        <p:spPr>
          <a:xfrm>
            <a:off x="1184148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184148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5" name="TextBox 124"/>
          <p:cNvSpPr txBox="1"/>
          <p:nvPr/>
        </p:nvSpPr>
        <p:spPr>
          <a:xfrm>
            <a:off x="9793224" y="499262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26" name="TextBox 125"/>
          <p:cNvSpPr txBox="1"/>
          <p:nvPr/>
        </p:nvSpPr>
        <p:spPr>
          <a:xfrm>
            <a:off x="12124944" y="499262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5</a:t>
            </a:r>
          </a:p>
        </p:txBody>
      </p:sp>
      <p:sp>
        <p:nvSpPr>
          <p:cNvPr id="127" name="Rectangle 126"/>
          <p:cNvSpPr/>
          <p:nvPr/>
        </p:nvSpPr>
        <p:spPr>
          <a:xfrm>
            <a:off x="11841480" y="499262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1841480" y="499262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9" name="Rectangle 128"/>
          <p:cNvSpPr/>
          <p:nvPr/>
        </p:nvSpPr>
        <p:spPr>
          <a:xfrm>
            <a:off x="964692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73836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3(x − 4) = x − 16</a:t>
            </a:r>
          </a:p>
        </p:txBody>
      </p:sp>
      <p:cxnSp>
        <p:nvCxnSpPr>
          <p:cNvPr id="131" name="Connector 130"/>
          <p:cNvCxnSpPr/>
          <p:nvPr/>
        </p:nvCxnSpPr>
        <p:spPr>
          <a:xfrm>
            <a:off x="11951208" y="6227064"/>
            <a:ext cx="0" cy="13898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9793224" y="620877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33" name="TextBox 132"/>
          <p:cNvSpPr txBox="1"/>
          <p:nvPr/>
        </p:nvSpPr>
        <p:spPr>
          <a:xfrm>
            <a:off x="12124944" y="620877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34" name="Rectangle 133"/>
          <p:cNvSpPr/>
          <p:nvPr/>
        </p:nvSpPr>
        <p:spPr>
          <a:xfrm>
            <a:off x="1184148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1184148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36" name="TextBox 135"/>
          <p:cNvSpPr txBox="1"/>
          <p:nvPr/>
        </p:nvSpPr>
        <p:spPr>
          <a:xfrm>
            <a:off x="9793224" y="648309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37" name="TextBox 136"/>
          <p:cNvSpPr txBox="1"/>
          <p:nvPr/>
        </p:nvSpPr>
        <p:spPr>
          <a:xfrm>
            <a:off x="12124944" y="648309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38" name="Rectangle 137"/>
          <p:cNvSpPr/>
          <p:nvPr/>
        </p:nvSpPr>
        <p:spPr>
          <a:xfrm>
            <a:off x="1184148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184148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40" name="TextBox 139"/>
          <p:cNvSpPr txBox="1"/>
          <p:nvPr/>
        </p:nvSpPr>
        <p:spPr>
          <a:xfrm>
            <a:off x="9793224" y="675741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− 4</a:t>
            </a:r>
          </a:p>
        </p:txBody>
      </p:sp>
      <p:sp>
        <p:nvSpPr>
          <p:cNvPr id="141" name="TextBox 140"/>
          <p:cNvSpPr txBox="1"/>
          <p:nvPr/>
        </p:nvSpPr>
        <p:spPr>
          <a:xfrm>
            <a:off x="12124944" y="675741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142" name="Rectangle 141"/>
          <p:cNvSpPr/>
          <p:nvPr/>
        </p:nvSpPr>
        <p:spPr>
          <a:xfrm>
            <a:off x="1184148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184148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44" name="TextBox 143"/>
          <p:cNvSpPr txBox="1"/>
          <p:nvPr/>
        </p:nvSpPr>
        <p:spPr>
          <a:xfrm>
            <a:off x="9793224" y="703173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45" name="TextBox 144"/>
          <p:cNvSpPr txBox="1"/>
          <p:nvPr/>
        </p:nvSpPr>
        <p:spPr>
          <a:xfrm>
            <a:off x="12124944" y="703173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146" name="Rectangle 145"/>
          <p:cNvSpPr/>
          <p:nvPr/>
        </p:nvSpPr>
        <p:spPr>
          <a:xfrm>
            <a:off x="11841480" y="703173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1841480" y="703173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48" name="TextBox 147"/>
          <p:cNvSpPr txBox="1"/>
          <p:nvPr/>
        </p:nvSpPr>
        <p:spPr>
          <a:xfrm>
            <a:off x="9793224" y="730605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49" name="TextBox 148"/>
          <p:cNvSpPr txBox="1"/>
          <p:nvPr/>
        </p:nvSpPr>
        <p:spPr>
          <a:xfrm>
            <a:off x="12124944" y="730605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−6</a:t>
            </a:r>
          </a:p>
        </p:txBody>
      </p:sp>
      <p:sp>
        <p:nvSpPr>
          <p:cNvPr id="150" name="Rectangle 149"/>
          <p:cNvSpPr/>
          <p:nvPr/>
        </p:nvSpPr>
        <p:spPr>
          <a:xfrm>
            <a:off x="11841480" y="730605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1841480" y="730605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+ 6 = -2</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18</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− 9 = -4</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189 = 7x</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4</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57</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+ 7x = 71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-29</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-9 + 6x = 39</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+ 8 = 8</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 + 2x = -11</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2x − 11</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+ 10 = 20</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+ 12 = 9</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x + 14</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− 3) = x + 69</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+ 12 = 126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28</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-14 = x − 8</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65</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11</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27 = x + 9</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90</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− 9 = -44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x + 6 = 121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+ 8 = -7</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+ 3x = 80</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 + 3x = 73</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 + 2x = 18</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− 5) = 2x + 50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+ 2) = x + 92</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− 5) = 3x − 12</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− 9 = 2x − 3</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− 7) = 4x − 23</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+ 15 = 108</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3 = -1</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0</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28 = x + 2</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16</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− 9 = 33</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x − 9 = 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+ 4 = 88</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+ 6x = -22</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23 = 7x + 2</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+ 8 = 85</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+ 4 = 3x + 79</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 = 165</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 = 3x + 60</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− 6 = 12</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90</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+ 8 = 4x + 56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140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11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5 = 22</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5</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54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− 5 = 100</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26</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− 3 = -11</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 + 2x = -10</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− 9 = 69</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+ 6) = 80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− 14 = -6</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− 3) = -24</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+ 8 = x + 40</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+ 4) = -15</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91</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14 boxes hold 8 pens each. How many pens altogether?</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14 + 8 = 22</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22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per pupil?</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166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7</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4</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28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campers need tents. Each tent sleeps 5. How many tents are needed?</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tents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£156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5</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7</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£19.04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Tables seat 6 and cost £12 to hire. Find the cost to seat 94 guests.</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3008864" y="2350008"/>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1</a:t>
            </a:r>
          </a:p>
        </p:txBody>
      </p:sp>
      <p:sp>
        <p:nvSpPr>
          <p:cNvPr id="83" name="TextBox 82"/>
          <p:cNvSpPr txBox="1"/>
          <p:nvPr/>
        </p:nvSpPr>
        <p:spPr>
          <a:xfrm>
            <a:off x="12460224" y="24688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4" name="TextBox 83"/>
          <p:cNvSpPr txBox="1"/>
          <p:nvPr/>
        </p:nvSpPr>
        <p:spPr>
          <a:xfrm>
            <a:off x="12460224" y="26974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5" name="Connector 84"/>
          <p:cNvCxnSpPr/>
          <p:nvPr/>
        </p:nvCxnSpPr>
        <p:spPr>
          <a:xfrm>
            <a:off x="12460224" y="29215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460224" y="29260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7" name="TextBox 86"/>
          <p:cNvSpPr txBox="1"/>
          <p:nvPr/>
        </p:nvSpPr>
        <p:spPr>
          <a:xfrm>
            <a:off x="12460224" y="31546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cxnSp>
        <p:nvCxnSpPr>
          <p:cNvPr id="88" name="Connector 87"/>
          <p:cNvCxnSpPr/>
          <p:nvPr/>
        </p:nvCxnSpPr>
        <p:spPr>
          <a:xfrm>
            <a:off x="12460224" y="33787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2460224" y="33832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90" name="Connector 89"/>
          <p:cNvCxnSpPr/>
          <p:nvPr/>
        </p:nvCxnSpPr>
        <p:spPr>
          <a:xfrm>
            <a:off x="12460224" y="36073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2" name="Rectangle 9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served. How many are left?</a:t>
            </a:r>
          </a:p>
        </p:txBody>
      </p:sp>
      <p:sp>
        <p:nvSpPr>
          <p:cNvPr id="94" name="TextBox 93"/>
          <p:cNvSpPr txBox="1"/>
          <p:nvPr/>
        </p:nvSpPr>
        <p:spPr>
          <a:xfrm>
            <a:off x="10631424" y="4352544"/>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2</a:t>
            </a:r>
          </a:p>
        </p:txBody>
      </p:sp>
      <p:sp>
        <p:nvSpPr>
          <p:cNvPr id="95" name="TextBox 94"/>
          <p:cNvSpPr txBox="1"/>
          <p:nvPr/>
        </p:nvSpPr>
        <p:spPr>
          <a:xfrm>
            <a:off x="10082784" y="44714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6" name="TextBox 95"/>
          <p:cNvSpPr txBox="1"/>
          <p:nvPr/>
        </p:nvSpPr>
        <p:spPr>
          <a:xfrm>
            <a:off x="10082784" y="47000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7" name="Connector 96"/>
          <p:cNvCxnSpPr/>
          <p:nvPr/>
        </p:nvCxnSpPr>
        <p:spPr>
          <a:xfrm>
            <a:off x="10082784" y="49240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0082784" y="49286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9" name="TextBox 98"/>
          <p:cNvSpPr txBox="1"/>
          <p:nvPr/>
        </p:nvSpPr>
        <p:spPr>
          <a:xfrm>
            <a:off x="10082784" y="51572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cxnSp>
        <p:nvCxnSpPr>
          <p:cNvPr id="100" name="Connector 99"/>
          <p:cNvCxnSpPr/>
          <p:nvPr/>
        </p:nvCxnSpPr>
        <p:spPr>
          <a:xfrm>
            <a:off x="10082784" y="53812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082784" y="53858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102" name="Connector 101"/>
          <p:cNvCxnSpPr/>
          <p:nvPr/>
        </p:nvCxnSpPr>
        <p:spPr>
          <a:xfrm>
            <a:off x="10082784" y="56098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4" name="TextBox 103"/>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5" name="Connector 104"/>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7" name="Connector 106"/>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9" name="Rectangle 10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organisers split the cost of 18 prizes equally. Each prize costs £12. How much does each pay?</a:t>
            </a:r>
          </a:p>
        </p:txBody>
      </p:sp>
      <p:cxnSp>
        <p:nvCxnSpPr>
          <p:cNvPr id="111" name="Connector 110"/>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4" name="TextBox 113"/>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5" name="TextBox 114"/>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6" name="TextBox 115"/>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7" name="TextBox 116"/>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8" name="TextBox 117"/>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9" name="TextBox 118"/>
          <p:cNvSpPr txBox="1"/>
          <p:nvPr/>
        </p:nvSpPr>
        <p:spPr>
          <a:xfrm>
            <a:off x="12460224" y="67299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a:t>
            </a:r>
          </a:p>
        </p:txBody>
      </p:sp>
      <p:sp>
        <p:nvSpPr>
          <p:cNvPr id="120" name="TextBox 119"/>
          <p:cNvSpPr txBox="1"/>
          <p:nvPr/>
        </p:nvSpPr>
        <p:spPr>
          <a:xfrm>
            <a:off x="12460224" y="69585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4</a:t>
            </a:r>
          </a:p>
        </p:txBody>
      </p:sp>
      <p:cxnSp>
        <p:nvCxnSpPr>
          <p:cNvPr id="121" name="Connector 120"/>
          <p:cNvCxnSpPr/>
          <p:nvPr/>
        </p:nvCxnSpPr>
        <p:spPr>
          <a:xfrm>
            <a:off x="12460224" y="71826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460224" y="71871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3" name="Connector 122"/>
          <p:cNvCxnSpPr/>
          <p:nvPr/>
        </p:nvCxnSpPr>
        <p:spPr>
          <a:xfrm>
            <a:off x="12460224" y="74112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between A and B in ratio 2:5. How much does A get?</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12 sweets between A and B in ratio 1:3. How many does B get?</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4 = 3</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3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6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and B share counters in ratio 2:7. B has 30 more than A. How many does A have?</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30 ÷ 5 = 6</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+ 6</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8</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8 counters</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How many red counters?</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share 56 counters in ratio 3:5. How many more does B get than A?</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8 = 7</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7 = 21</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7 = 35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+ 35 = 56</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gets 56 more counters</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group has 65 people. Adults:children = 5:8. How many more children than adults?</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65 ÷ 13 = 5</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5 = 25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40</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Two ribbon lengths are in ratio 3:8 and differ by 35 cm. Find their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have tokens in ratio 7:4. A has 42. How many tokens in total?</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