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8"/>
    <p:sldId id="272" r:id="rId7"/>
    <p:sldId id="273" r:id="rId6"/>
    <p:sldId id="274" r:id="rId5"/>
    <p:sldId id="275" r:id="rId4"/>
    <p:sldId id="276" r:id="rId3"/>
    <p:sldId id="277" r:id="rId2"/>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assessment; no hints or answers on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 dedicated guide slide precedes the worked demo so that the rules and examples remain readable. Existing question content and stable S01–S07 references are unchanged. This gives nine physical question-deck slides.</a:t>
            </a:r>
          </a:p>
          <a:p/>
          <a:p>
            <a:r>
              <a:t>Title: **Signed numbers: addition and subtraction**</a:t>
            </a:r>
          </a:p>
          <a:p>
            <a:r>
              <a:t>Subtitle: **Rules recap • Start at the first number.**</a:t>
            </a:r>
          </a:p>
          <a:p/>
          <a:p>
            <a:r>
              <a:t>| Rule | What to do | Example |</a:t>
            </a:r>
          </a:p>
          <a:p>
            <a:r>
              <a:t>| --- | --- | --- |</a:t>
            </a:r>
          </a:p>
          <a:p>
            <a:r>
              <a:t>| Add a positive number | Move right: the value increases. | −4 + 7 = 3 |</a:t>
            </a:r>
          </a:p>
          <a:p>
            <a:r>
              <a:t>| Add a negative number | Move left: the value decreases. | 4 + (−7) = 4 − 7 = −3 |</a:t>
            </a:r>
          </a:p>
          <a:p>
            <a:r>
              <a:t>| Subtract a positive number | Move left: the value decreases. | 3 − 8 = −5 |</a:t>
            </a:r>
          </a:p>
          <a:p>
            <a:r>
              <a:t>| Subtract a negative number | Move right: subtracting a negative is adding a positive. | 6 − (−3) = 6 + 3 = 9 |</a:t>
            </a:r>
          </a:p>
          <a:p/>
          <a:p>
            <a:r>
              <a:t>Visible explanation: **In 6 − (−3), the first − means subtract; the − inside brackets belongs to the number −3.**</a:t>
            </a:r>
          </a:p>
          <a:p/>
          <a:p>
            <a:r>
              <a:t>Visible general rule: **To subtract a number, add its opposite. Keep the first number unchanged.**</a:t>
            </a:r>
          </a:p>
          <a:p/>
          <a:p>
            <a:r>
              <a:t>Visible caution with contrast: **Two negative numbers do not automatically give a positive answer: −4 + (−3) = −7.**</a:t>
            </a:r>
          </a:p>
          <a:p/>
          <a:p>
            <a:r>
              <a:t>These are addition/subtraction rules. Do not import the multiplication/division “same signs/different signs” shortcut into this set. The next slide retains the complete worked grid and editable number lines.</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**Follow each calculation. Explain what each sign means.**</a:t>
            </a:r>
          </a:p>
          <a:p/>
          <a:p>
            <a:r>
              <a:t>| Step | Thread 1: Guided | Thread 2: Core | Thread 3: Depth |</a:t>
            </a:r>
          </a:p>
          <a:p>
            <a:r>
              <a:t>| --- | --- | --- | --- |</a:t>
            </a:r>
          </a:p>
          <a:p>
            <a:r>
              <a:t>| Question | −4 + 7 | 6 − (−3) | −5 + 8 − (−2) |</a:t>
            </a:r>
          </a:p>
          <a:p>
            <a:r>
              <a:t>| Read the Signs | Start at −4; add positive 7. | Start at 6; subtract negative 3. | Add positive 8, then subtract negative 2. |</a:t>
            </a:r>
          </a:p>
          <a:p>
            <a:r>
              <a:t>| Rewrite the Calculation | −4 + 7 is already an addition. | 6 − (−3) = 6 + 3. | −5 + 8 + 2. |</a:t>
            </a:r>
          </a:p>
          <a:p>
            <a:r>
              <a:t>| Calculate | Move 4 right to 0, then 3 right: 3. | 6 + 3 = 9. | −5 + 8 = 3; 3 + 2 = 5. |</a:t>
            </a:r>
          </a:p>
          <a:p>
            <a:r>
              <a:t>| Check the Answer | 3 − 7 = −4. Answer: 3. | 9 + (−3) = 6. Answer: 9. | 5 + (−2) = 3; 3 − 8 = −5. Answer: 5. |</a:t>
            </a:r>
          </a:p>
          <a:p/>
          <a:p>
            <a:r>
              <a:t>Diagram specification: Three editable number lines, one per demo column, with integer ticks and a labelled zero. Guided: range −5 to 4, start −4, rightward jumps +4 to 0 and +3 to 3; bracket the jumps as +7. Core: range 0 to 10, start 6 and a rightward jump to 9 labelled “subtract −3 = add 3”. Depth: range −6 to 6, start −5, rightward jump +8 to 3, then +2 to 5. Mark each start and endpoint. Use equal tick spacing, visible arrowheads and labels clear of ticks. These accompany the worked calculation; students need not draw a line for every question.</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−6 + 9 | 4 + (−7) | −8 + 5 − (−4)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3 − 8 | −5 − (−9) | 7 − (−2) + (−12)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incorrect student work. Corrections: see M13-SE in the HTML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worked demo</a:t>
            </a:r>
          </a:p>
          <a:p>
            <a:endParaRPr/>
          </a:p>
          <a:p>
            <a:r>
              <a:t>Guided: 84 ÷ 4 = 21 tins per box. Core: 130 ÷ 6 = 21 r 4, so 21 full packs. Depth: 145 ÷ 9 = 16 r 1, so 17 minibuses; 17 × 40 = £680.</a:t>
            </a:r>
          </a:p>
          <a:p>
            <a:endParaRPr/>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1</a:t>
            </a:r>
          </a:p>
          <a:p>
            <a:endParaRPr/>
          </a:p>
          <a:p>
            <a:r>
              <a:t>Thread 1: Guided: 42 × 15 = 630 pens. Estimate: 40 × 15 = 600.</a:t>
            </a:r>
          </a:p>
          <a:p>
            <a:endParaRPr/>
          </a:p>
          <a:p>
            <a:r>
              <a:t>Thread 2: Core: 215 ÷ 6 = 35 r 5 → 35 full bags. Estimate: 210 ÷ 6 = 35.</a:t>
            </a:r>
          </a:p>
          <a:p>
            <a:endParaRPr/>
          </a:p>
          <a:p>
            <a:r>
              <a:t>Thread 3: Depth: 18 × 32 = 576; 576 + 120 = £696. Estimate: 20 × 30 + 120 = 720.</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2</a:t>
            </a:r>
          </a:p>
          <a:p>
            <a:endParaRPr/>
          </a:p>
          <a:p>
            <a:r>
              <a:t>Thread 1: Guided: 168 ÷ 7 = 24 students. Estimate: 140 ÷ 7 = 20.</a:t>
            </a:r>
          </a:p>
          <a:p>
            <a:endParaRPr/>
          </a:p>
          <a:p>
            <a:r>
              <a:t>Thread 2: Core: 16 × 27 = £432. Estimate: 16 × 30 = 480.</a:t>
            </a:r>
          </a:p>
          <a:p>
            <a:endParaRPr/>
          </a:p>
          <a:p>
            <a:r>
              <a:t>Thread 3: Depth: 157 ÷ 8 = 19 r 5 → 20 vans; 20 × 45 = £900. Estimate: 160 ÷ 8 × 45 = 900.</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1</a:t>
            </a:r>
          </a:p>
          <a:p>
            <a:endParaRPr/>
          </a:p>
          <a:p>
            <a:r>
              <a:t>### Thread 1: Guided</a:t>
            </a:r>
          </a:p>
          <a:p>
            <a:endParaRPr/>
          </a:p>
          <a:p>
            <a:r>
              <a:t>1. 14 × 32 = 448 books</a:t>
            </a:r>
          </a:p>
          <a:p>
            <a:endParaRPr/>
          </a:p>
          <a:p>
            <a:r>
              <a:t>2. 105 ÷ 7 = 15 students</a:t>
            </a:r>
          </a:p>
          <a:p>
            <a:endParaRPr/>
          </a:p>
          <a:p>
            <a:r>
              <a:t>3. 26 × 41 = 1,066 bottles</a:t>
            </a:r>
          </a:p>
          <a:p>
            <a:endParaRPr/>
          </a:p>
          <a:p>
            <a:r>
              <a:t>4. 148 ÷ 4 = 37 m</a:t>
            </a:r>
          </a:p>
          <a:p>
            <a:endParaRPr/>
          </a:p>
          <a:p>
            <a:r>
              <a:t>5. 13 × 85 = 1,105 seats</a:t>
            </a:r>
          </a:p>
          <a:p>
            <a:endParaRPr/>
          </a:p>
          <a:p>
            <a:r>
              <a:t>6. 175 ÷ 5 = £35</a:t>
            </a:r>
          </a:p>
          <a:p>
            <a:endParaRPr/>
          </a:p>
          <a:p>
            <a:r>
              <a:t>### Thread 2: Core</a:t>
            </a:r>
          </a:p>
          <a:p>
            <a:endParaRPr/>
          </a:p>
          <a:p>
            <a:r>
              <a:t>1. 130 ÷ 6 = 21 r 4 → 21 full cartons</a:t>
            </a:r>
          </a:p>
          <a:p>
            <a:endParaRPr/>
          </a:p>
          <a:p>
            <a:r>
              <a:t>2. 32 ÷ 5 = 6 r 2 → 7 cars</a:t>
            </a:r>
          </a:p>
          <a:p>
            <a:endParaRPr/>
          </a:p>
          <a:p>
            <a:r>
              <a:t>3. 250 ÷ 12 = 20 r 10 → 10 chocolates</a:t>
            </a:r>
          </a:p>
          <a:p>
            <a:endParaRPr/>
          </a:p>
          <a:p>
            <a:r>
              <a:t>4. 17 × 28 = £476</a:t>
            </a:r>
          </a:p>
          <a:p>
            <a:endParaRPr/>
          </a:p>
          <a:p>
            <a:r>
              <a:t>5. 142 ÷ 6 = 23 r 4 → 23 full bags</a:t>
            </a:r>
          </a:p>
          <a:p>
            <a:endParaRPr/>
          </a:p>
          <a:p>
            <a:r>
              <a:t>6. 132 ÷ 8 = £16.50</a:t>
            </a:r>
          </a:p>
          <a:p>
            <a:endParaRPr/>
          </a:p>
          <a:p>
            <a:r>
              <a:t>### Thread 3: Depth</a:t>
            </a:r>
          </a:p>
          <a:p>
            <a:endParaRPr/>
          </a:p>
          <a:p>
            <a:r>
              <a:t>1. 45 × 16 = 720; 720 − 50 = £670</a:t>
            </a:r>
          </a:p>
          <a:p>
            <a:endParaRPr/>
          </a:p>
          <a:p>
            <a:r>
              <a:t>2. 115 ÷ 8 = 14 r 3 → 15 vans; 15 × 65 = £975</a:t>
            </a:r>
          </a:p>
          <a:p>
            <a:endParaRPr/>
          </a:p>
          <a:p>
            <a:r>
              <a:t>3. 22 × 14 = 308; 308 + 30 = £338</a:t>
            </a:r>
          </a:p>
          <a:p>
            <a:endParaRPr/>
          </a:p>
          <a:p>
            <a:r>
              <a:t>4. 430 ÷ 12 = 35 r 10; 35 × 9 = £315</a:t>
            </a:r>
          </a:p>
          <a:p>
            <a:endParaRPr/>
          </a:p>
          <a:p>
            <a:r>
              <a:t>5. 24 × 15 = 360; 360 + 45 = £405</a:t>
            </a:r>
          </a:p>
          <a:p>
            <a:endParaRPr/>
          </a:p>
          <a:p>
            <a:r>
              <a:t>6. 15 × 12 = 180; 180 × 8 = £1,440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2</a:t>
            </a:r>
          </a:p>
          <a:p>
            <a:endParaRPr/>
          </a:p>
          <a:p>
            <a:r>
              <a:t>### Thread 1: Guided</a:t>
            </a:r>
          </a:p>
          <a:p>
            <a:endParaRPr/>
          </a:p>
          <a:p>
            <a:r>
              <a:t>1. 18 × 24 = 432 plants</a:t>
            </a:r>
          </a:p>
          <a:p>
            <a:endParaRPr/>
          </a:p>
          <a:p>
            <a:r>
              <a:t>2. 156 ÷ 6 = 26 pens</a:t>
            </a:r>
          </a:p>
          <a:p>
            <a:endParaRPr/>
          </a:p>
          <a:p>
            <a:r>
              <a:t>3. 23 × 16 = 368 badges</a:t>
            </a:r>
          </a:p>
          <a:p>
            <a:endParaRPr/>
          </a:p>
          <a:p>
            <a:r>
              <a:t>4. 248 ÷ 8 = £31</a:t>
            </a:r>
          </a:p>
          <a:p>
            <a:endParaRPr/>
          </a:p>
          <a:p>
            <a:r>
              <a:t>5. 12 × 27 = 324 km</a:t>
            </a:r>
          </a:p>
          <a:p>
            <a:endParaRPr/>
          </a:p>
          <a:p>
            <a:r>
              <a:t>6. 189 ÷ 7 = 27 cm</a:t>
            </a:r>
          </a:p>
          <a:p>
            <a:endParaRPr/>
          </a:p>
          <a:p>
            <a:r>
              <a:t>### Thread 2: Core</a:t>
            </a:r>
          </a:p>
          <a:p>
            <a:endParaRPr/>
          </a:p>
          <a:p>
            <a:r>
              <a:t>1. 197 ÷ 8 = 24 r 5 → 24 bundles</a:t>
            </a:r>
          </a:p>
          <a:p>
            <a:endParaRPr/>
          </a:p>
          <a:p>
            <a:r>
              <a:t>2. 83 ÷ 6 = 13 r 5 → 14 tents</a:t>
            </a:r>
          </a:p>
          <a:p>
            <a:endParaRPr/>
          </a:p>
          <a:p>
            <a:r>
              <a:t>3. 275 ÷ 12 = 22 r 11 → 11 cm</a:t>
            </a:r>
          </a:p>
          <a:p>
            <a:endParaRPr/>
          </a:p>
          <a:p>
            <a:r>
              <a:t>4. 36 × 14 = 504 pages</a:t>
            </a:r>
          </a:p>
          <a:p>
            <a:endParaRPr/>
          </a:p>
          <a:p>
            <a:r>
              <a:t>5. 154 ÷ 4 = £38.50</a:t>
            </a:r>
          </a:p>
          <a:p>
            <a:endParaRPr/>
          </a:p>
          <a:p>
            <a:r>
              <a:t>6. 253 ÷ 24 = 10 r 13 → 11 albums</a:t>
            </a:r>
          </a:p>
          <a:p>
            <a:endParaRPr/>
          </a:p>
          <a:p>
            <a:r>
              <a:t>### Thread 3: Depth</a:t>
            </a:r>
          </a:p>
          <a:p>
            <a:endParaRPr/>
          </a:p>
          <a:p>
            <a:r>
              <a:t>1. 28 × 14 = 392; 392 + 18 = £410</a:t>
            </a:r>
          </a:p>
          <a:p>
            <a:endParaRPr/>
          </a:p>
          <a:p>
            <a:r>
              <a:t>2. 94 ÷ 6 = 15 r 4 → 16 tables; 16 × 12 = £192</a:t>
            </a:r>
          </a:p>
          <a:p>
            <a:endParaRPr/>
          </a:p>
          <a:p>
            <a:r>
              <a:t>3. 24 × 15 = 360; 360 − 87 = 273 drinks</a:t>
            </a:r>
          </a:p>
          <a:p>
            <a:endParaRPr/>
          </a:p>
          <a:p>
            <a:r>
              <a:t>4. 286 ÷ 8 = 35 r 6; 35 × 3 = £105</a:t>
            </a:r>
          </a:p>
          <a:p>
            <a:endParaRPr/>
          </a:p>
          <a:p>
            <a:r>
              <a:t>5. 18 × 12 = 216; 216 ÷ 4 = £54</a:t>
            </a:r>
          </a:p>
          <a:p>
            <a:endParaRPr/>
          </a:p>
          <a:p>
            <a:r>
              <a:t>6. 17 × 24 = 408; 408 × 2 = £816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3</a:t>
            </a:r>
          </a:p>
          <a:p>
            <a:endParaRPr/>
          </a:p>
          <a:p>
            <a:r>
              <a:t>### Thread 1: Guided</a:t>
            </a:r>
          </a:p>
          <a:p>
            <a:endParaRPr/>
          </a:p>
          <a:p>
            <a:r>
              <a:t>1. 16 × 35 = 560 cables</a:t>
            </a:r>
          </a:p>
          <a:p>
            <a:endParaRPr/>
          </a:p>
          <a:p>
            <a:r>
              <a:t>2. 252 ÷ 7 = 36 stickers</a:t>
            </a:r>
          </a:p>
          <a:p>
            <a:endParaRPr/>
          </a:p>
          <a:p>
            <a:r>
              <a:t>3. 28 × 24 = 672 seats</a:t>
            </a:r>
          </a:p>
          <a:p>
            <a:endParaRPr/>
          </a:p>
          <a:p>
            <a:r>
              <a:t>4. 336 ÷ 8 = 42 m</a:t>
            </a:r>
          </a:p>
          <a:p>
            <a:endParaRPr/>
          </a:p>
          <a:p>
            <a:r>
              <a:t>5. 19 × 32 = 608 cards</a:t>
            </a:r>
          </a:p>
          <a:p>
            <a:endParaRPr/>
          </a:p>
          <a:p>
            <a:r>
              <a:t>6. 315 ÷ 9 = £35</a:t>
            </a:r>
          </a:p>
          <a:p>
            <a:endParaRPr/>
          </a:p>
          <a:p>
            <a:r>
              <a:t>### Thread 2: Core</a:t>
            </a:r>
          </a:p>
          <a:p>
            <a:endParaRPr/>
          </a:p>
          <a:p>
            <a:r>
              <a:t>1. 245 ÷ 8 = 30 r 5 → 30 bags</a:t>
            </a:r>
          </a:p>
          <a:p>
            <a:endParaRPr/>
          </a:p>
          <a:p>
            <a:r>
              <a:t>2. 137 ÷ 9 = 15 r 2 → 16 trips</a:t>
            </a:r>
          </a:p>
          <a:p>
            <a:endParaRPr/>
          </a:p>
          <a:p>
            <a:r>
              <a:t>3. 359 ÷ 12 = 29 r 11 → 11 beads</a:t>
            </a:r>
          </a:p>
          <a:p>
            <a:endParaRPr/>
          </a:p>
          <a:p>
            <a:r>
              <a:t>4. 23 × 16 = £368</a:t>
            </a:r>
          </a:p>
          <a:p>
            <a:endParaRPr/>
          </a:p>
          <a:p>
            <a:r>
              <a:t>5. 186 ÷ 8 = £23.25</a:t>
            </a:r>
          </a:p>
          <a:p>
            <a:endParaRPr/>
          </a:p>
          <a:p>
            <a:r>
              <a:t>6. 25 × 48 = 1,200 cm²</a:t>
            </a:r>
          </a:p>
          <a:p>
            <a:endParaRPr/>
          </a:p>
          <a:p>
            <a:r>
              <a:t>### Thread 3: Depth</a:t>
            </a:r>
          </a:p>
          <a:p>
            <a:endParaRPr/>
          </a:p>
          <a:p>
            <a:r>
              <a:t>1. 21 × 18 = 378; 378 + 64 = £442</a:t>
            </a:r>
          </a:p>
          <a:p>
            <a:endParaRPr/>
          </a:p>
          <a:p>
            <a:r>
              <a:t>2. 167 ÷ 24 = 6 r 23 → 7 coaches; 7 × 85 = £595</a:t>
            </a:r>
          </a:p>
          <a:p>
            <a:endParaRPr/>
          </a:p>
          <a:p>
            <a:r>
              <a:t>3. 32 × 18 = 576; 576 − 145 = 431 cards</a:t>
            </a:r>
          </a:p>
          <a:p>
            <a:endParaRPr/>
          </a:p>
          <a:p>
            <a:r>
              <a:t>4. 397 ÷ 6 = 66 r 1; 66 × 4 = £264</a:t>
            </a:r>
          </a:p>
          <a:p>
            <a:endParaRPr/>
          </a:p>
          <a:p>
            <a:r>
              <a:t>5. 15 × 14 = 210; 210 ÷ 6 = £35</a:t>
            </a:r>
          </a:p>
          <a:p>
            <a:endParaRPr/>
          </a:p>
          <a:p>
            <a:r>
              <a:t>6. 23 × 16 = 368; 368 × 5 = £1,840</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4</a:t>
            </a:r>
          </a:p>
          <a:p>
            <a:endParaRPr/>
          </a:p>
          <a:p>
            <a:r>
              <a:t>### Thread 1: Guided</a:t>
            </a:r>
          </a:p>
          <a:p>
            <a:endParaRPr/>
          </a:p>
          <a:p>
            <a:r>
              <a:t>1. 27 × 18 = 486 labels</a:t>
            </a:r>
          </a:p>
          <a:p>
            <a:endParaRPr/>
          </a:p>
          <a:p>
            <a:r>
              <a:t>2. 384 ÷ 8 = 48 books</a:t>
            </a:r>
          </a:p>
          <a:p>
            <a:endParaRPr/>
          </a:p>
          <a:p>
            <a:r>
              <a:t>3. 34 × 16 = 544 seedlings</a:t>
            </a:r>
          </a:p>
          <a:p>
            <a:endParaRPr/>
          </a:p>
          <a:p>
            <a:r>
              <a:t>4. 425 ÷ 5 = £85</a:t>
            </a:r>
          </a:p>
          <a:p>
            <a:endParaRPr/>
          </a:p>
          <a:p>
            <a:r>
              <a:t>5. 26 × 35 = 910 seats</a:t>
            </a:r>
          </a:p>
          <a:p>
            <a:endParaRPr/>
          </a:p>
          <a:p>
            <a:r>
              <a:t>6. 294 ÷ 6 = 49 cm</a:t>
            </a:r>
          </a:p>
          <a:p>
            <a:endParaRPr/>
          </a:p>
          <a:p>
            <a:r>
              <a:t>### Thread 2: Core</a:t>
            </a:r>
          </a:p>
          <a:p>
            <a:endParaRPr/>
          </a:p>
          <a:p>
            <a:r>
              <a:t>1. 367 ÷ 12 = 30 r 7 → 30 boxes</a:t>
            </a:r>
          </a:p>
          <a:p>
            <a:endParaRPr/>
          </a:p>
          <a:p>
            <a:r>
              <a:t>2. 158 ÷ 6 = 26 r 2 → 27 rooms</a:t>
            </a:r>
          </a:p>
          <a:p>
            <a:endParaRPr/>
          </a:p>
          <a:p>
            <a:r>
              <a:t>3. 413 ÷ 15 = 27 r 8 → 8 cm</a:t>
            </a:r>
          </a:p>
          <a:p>
            <a:endParaRPr/>
          </a:p>
          <a:p>
            <a:r>
              <a:t>4. 28 × 19 = 532 bottles</a:t>
            </a:r>
          </a:p>
          <a:p>
            <a:endParaRPr/>
          </a:p>
          <a:p>
            <a:r>
              <a:t>5. 238 ÷ 8 = £29.75</a:t>
            </a:r>
          </a:p>
          <a:p>
            <a:endParaRPr/>
          </a:p>
          <a:p>
            <a:r>
              <a:t>6. 319 ÷ 24 = 13 r 7 → 14 folders</a:t>
            </a:r>
          </a:p>
          <a:p>
            <a:endParaRPr/>
          </a:p>
          <a:p>
            <a:r>
              <a:t>### Thread 3: Depth</a:t>
            </a:r>
          </a:p>
          <a:p>
            <a:endParaRPr/>
          </a:p>
          <a:p>
            <a:r>
              <a:t>1. 36 × 17 = 612; 612 − 75 = £537</a:t>
            </a:r>
          </a:p>
          <a:p>
            <a:endParaRPr/>
          </a:p>
          <a:p>
            <a:r>
              <a:t>2. 203 ÷ 8 = 25 r 3 → 26 tables; 26 × 15 = £390</a:t>
            </a:r>
          </a:p>
          <a:p>
            <a:endParaRPr/>
          </a:p>
          <a:p>
            <a:r>
              <a:t>3. 29 × 24 = 696; 696 − 187 = 509 notebooks</a:t>
            </a:r>
          </a:p>
          <a:p>
            <a:endParaRPr/>
          </a:p>
          <a:p>
            <a:r>
              <a:t>4. 518 ÷ 12 = 43 r 2; 43 × 5 = £215</a:t>
            </a:r>
          </a:p>
          <a:p>
            <a:endParaRPr/>
          </a:p>
          <a:p>
            <a:r>
              <a:t>5. 21 × 16 = 336; 336 ÷ 7 = £48</a:t>
            </a:r>
          </a:p>
          <a:p>
            <a:endParaRPr/>
          </a:p>
          <a:p>
            <a:r>
              <a:t>6. 28 × 15 = 420; 420 × 3 = £1,260</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1 — Worked demo</a:t>
            </a:r>
          </a:p>
          <a:p>
            <a:endParaRPr/>
          </a:p>
          <a:p>
            <a:r>
              <a:t>Title: **Ratio: sharing and missing amounts**</a:t>
            </a:r>
          </a:p>
          <a:p>
            <a:endParaRPr/>
          </a:p>
          <a:p>
            <a:r>
              <a:t>Instruction: **Follow each step down your column.**</a:t>
            </a:r>
          </a:p>
          <a:p>
            <a:endParaRPr/>
          </a:p>
          <a:p>
            <a:r>
              <a:t>| Row | Thread 1: Guided | Thread 2: Core | Thread 3: Depth |</a:t>
            </a:r>
          </a:p>
          <a:p>
            <a:r>
              <a:t>| --- | --- | --- | --- |</a:t>
            </a:r>
          </a:p>
          <a:p>
            <a:r>
              <a:t>| The Full Question | A and B share £120 in the ratio 2:3. How much does B receive? | Red and blue paint are mixed in the ratio 3:5. There are 18 litres of red paint. How many litres of blue paint are needed? | Red and blue counters are in the ratio 3:7. There are 28 more blue counters than red counters. How many counters are there altogether? |</a:t>
            </a:r>
          </a:p>
          <a:p>
            <a:r>
              <a:t>| Keywords &amp; Calculation | “share £120”: the total is known. 2 + 3 = 5 parts. £120 ÷ 5, then × 3. | “18 litres of red”: 3 parts are known. 18 ÷ 3, then × 5. | “28 more blue”: the difference is known. 7 − 3 = 4 parts. 28 ÷ 4, then × (3 + 7). |</a:t>
            </a:r>
          </a:p>
          <a:p>
            <a:r>
              <a:t>| Written Method | £120 ÷ 5 = £24 per part. £24 × 3 = £72. | 18 ÷ 3 = 6 litres per part. 6 × 5 = 30 litres. | 28 ÷ 4 = 7 counters per part. 3 + 7 = 10 parts. 7 × 10 = 70 counters. |</a:t>
            </a:r>
          </a:p>
          <a:p>
            <a:r>
              <a:t>| Ballpark Check &amp; Math | B gets more than half of £120, so more than £60. £72 fits. Check both shares: £48 + £72 = £120. | Blue is between one and two times the red amount, so between 18 and 36 litres. 30 litres fits. | The total represents 10 parts and the difference 4. The total should be between 2 and 3 times 28: between 56 and 84. 70 fits. |</a:t>
            </a:r>
          </a:p>
          <a:p>
            <a:r>
              <a:t>| Final Answer | B receives £72. | 30 litres of blue paint. | 70 counters altogether. |</a:t>
            </a:r>
          </a:p>
          <a:p>
            <a:endParaRPr/>
          </a:p>
          <a:p>
            <a:r>
              <a:t>### Diagram specification</a:t>
            </a:r>
          </a:p>
          <a:p>
            <a:endParaRPr/>
          </a:p>
          <a:p>
            <a:r>
              <a:t>Use editable, equal-sized boxes. Align the two bars at the left; each box represents one part, not one pound, litre or counter. Label both bars by name; colour is optional, not the only way to identify them.</a:t>
            </a:r>
          </a:p>
          <a:p>
            <a:endParaRPr/>
          </a:p>
          <a:p>
            <a:r>
              <a:t>- Guided: A has 2 boxes; B has 3. A bracket covering both bars is labelled “£120 altogether”. Show “1 part = £24”.</a:t>
            </a:r>
          </a:p>
          <a:p>
            <a:r>
              <a:t>- Core: red has 3 boxes labelled “18 litres”; blue has 5. Show “1 part = 6 litres”.</a:t>
            </a:r>
          </a:p>
          <a:p>
            <a:r>
              <a:t>- Depth: red has 3 boxes; blue has 7. Bracket the **four extra blue boxes** and label them “28 more”. Show “1 part = 7 counters”. Do not label the overlap as the difference.</a:t>
            </a:r>
          </a:p>
          <a:p>
            <a:endParaRPr/>
          </a:p>
          <a:p>
            <a:r>
              <a:t>Keep the complete question and all four steps on this slide. Fit the diagrams beside the concise working within the Written Method row. Do not introduce a separate step-per-slide sequence.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2 — Step-by-step practice 1</a:t>
            </a:r>
          </a:p>
          <a:p>
            <a:endParaRPr/>
          </a:p>
          <a:p>
            <a:r>
              <a:t>Instruction: **Complete each step in your booklet or webapp.** Use the four practice prompts above.</a:t>
            </a:r>
          </a:p>
          <a:p>
            <a:endParaRPr/>
          </a:p>
          <a:p>
            <a:r>
              <a:t>| Thread 1: Guided | Thread 2: Core | Thread 3: Depth |</a:t>
            </a:r>
          </a:p>
          <a:p>
            <a:r>
              <a:t>| --- | --- | --- |</a:t>
            </a:r>
          </a:p>
          <a:p>
            <a:r>
              <a:t>| An 84 ml paint mix contains red and white paint in the ratio 3:4. How much red paint is in the mix? | Notebooks and folders are in the ratio 4:7. There are 35 folders. How many notebooks are there? | Adults and children are in the ratio 2:5. There are 24 more children than adults. How many people are there altogether? |</a:t>
            </a:r>
          </a:p>
          <a:p>
            <a:endParaRPr/>
          </a:p>
          <a:p>
            <a:r>
              <a:t>Teacher working:</a:t>
            </a:r>
          </a:p>
          <a:p>
            <a:endParaRPr/>
          </a:p>
          <a:p>
            <a:r>
              <a:t>- T1: 3 + 4 = 7; 84 ÷ 7 = 12 ml; 12 × 3 = **36 ml red paint**. Less than half of 84 ml; white paint 48 ml.</a:t>
            </a:r>
          </a:p>
          <a:p>
            <a:r>
              <a:t>- T2: 35 ÷ 7 = 5; 5 × 4 = **20 notebooks**. Fewer notebooks than folders.</a:t>
            </a:r>
          </a:p>
          <a:p>
            <a:r>
              <a:t>- T3: 5 − 2 = 3; 24 ÷ 3 = 8; (2 + 5) × 8 = **56 people**. 16 adults and 40 children; difference 24.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3 — Step-by-step practice 2</a:t>
            </a:r>
          </a:p>
          <a:p>
            <a:endParaRPr/>
          </a:p>
          <a:p>
            <a:r>
              <a:t>Instruction and row prompts match Slide 2 exactly.</a:t>
            </a:r>
          </a:p>
          <a:p>
            <a:endParaRPr/>
          </a:p>
          <a:p>
            <a:r>
              <a:t>| Thread 1: Guided | Thread 2: Core | Thread 3: Depth |</a:t>
            </a:r>
          </a:p>
          <a:p>
            <a:r>
              <a:t>| --- | --- | --- |</a:t>
            </a:r>
          </a:p>
          <a:p>
            <a:r>
              <a:t>| A 96 cm ribbon is cut into pieces A and B in the ratio 5:7. Find the length of B. | Juice and water are mixed in the ratio 2:7. There are 18 litres of juice. How many litres of water are needed? | Two lengths of ribbon, A and B, are in the ratio 5:8. B is 21 cm longer than A. What is their total length? |</a:t>
            </a:r>
          </a:p>
          <a:p>
            <a:endParaRPr/>
          </a:p>
          <a:p>
            <a:r>
              <a:t>Teacher working:</a:t>
            </a:r>
          </a:p>
          <a:p>
            <a:endParaRPr/>
          </a:p>
          <a:p>
            <a:r>
              <a:t>- T1: 5 + 7 = 12; 96 ÷ 12 = 8 cm; 8 × 7 = **56 cm**. More than half of 96 cm; A is 40 cm.</a:t>
            </a:r>
          </a:p>
          <a:p>
            <a:r>
              <a:t>- T2: 18 ÷ 2 = 9; 9 × 7 = **63 litres of water**. Between 3 and 4 times the juice amount (54–72 litres).</a:t>
            </a:r>
          </a:p>
          <a:p>
            <a:r>
              <a:t>- T3: 8 − 5 = 3; 21 ÷ 3 = 7; (5 + 8) × 7 = **91 cm**. The two lengths are 35 cm and 56 cm; difference 21 cm.</a:t>
            </a:r>
          </a:p>
          <a:p>
            <a:endParaRPr/>
          </a:p>
          <a:p>
            <a:endParaRPr/>
          </a:p>
          <a:p>
            <a:endParaRPr/>
          </a:p>
          <a:p>
            <a:r>
              <a:t>## Slides 4–7 — Independent practice</a:t>
            </a:r>
          </a:p>
          <a:p>
            <a:endParaRPr/>
          </a:p>
          <a:p>
            <a:r>
              <a:t>Instruction on each slide: **Choose a column. Show your working and check your answers.**</a:t>
            </a:r>
          </a:p>
          <a:p>
            <a:endParaRPr/>
          </a:p>
          <a:p>
            <a:r>
              <a:t>Each column mixes contexts, unit types and requested quantities. “Find each” requires two labelled answers. Guided uses direct totals, known amounts and friendly given-difference questions. Core mixes totals, known amounts and simple differences. Depth mixes all three, including finding a difference from a total or a known amount. A column does not identify the required calculation.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M04-S04: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M04-S05: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M04-S06: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M04-S07: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empty grids to copy</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Size means columns × rows. Put the first number across the top and the second down the right.</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M01-TEMPLATES  •  Record your working in your booklet or webapp.</a:t>
            </a:r>
          </a:p>
        </p:txBody>
      </p:sp>
      <p:sp>
        <p:nvSpPr>
          <p:cNvPr id="6" name="TextBox 5"/>
          <p:cNvSpPr txBox="1"/>
          <p:nvPr/>
        </p:nvSpPr>
        <p:spPr>
          <a:xfrm>
            <a:off x="114300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2 × 2 grid</a:t>
            </a:r>
          </a:p>
        </p:txBody>
      </p:sp>
      <p:grpSp>
        <p:nvGrpSpPr>
          <p:cNvPr id="7" name="Empty 2 by 2 lattice template"/>
          <p:cNvGrpSpPr/>
          <p:nvPr/>
        </p:nvGrpSpPr>
        <p:grpSpPr>
          <a:xfrm>
            <a:off x="1371600" y="2011680"/>
            <a:ext cx="1060704" cy="1060704"/>
            <a:chOff x="1371600" y="2011680"/>
            <a:chExt cx="1060704" cy="1060704"/>
          </a:xfrm>
        </p:grpSpPr>
        <p:cxnSp>
          <p:nvCxnSpPr>
            <p:cNvPr id="8" name="Connector 7"/>
            <p:cNvCxnSpPr/>
            <p:nvPr/>
          </p:nvCxnSpPr>
          <p:spPr>
            <a:xfrm>
              <a:off x="137160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90195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3230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71600" y="2011680"/>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71600" y="2542032"/>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 y="3072384"/>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37160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90195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37160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0195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18" name="TextBox 17"/>
          <p:cNvSpPr txBox="1"/>
          <p:nvPr/>
        </p:nvSpPr>
        <p:spPr>
          <a:xfrm>
            <a:off x="566928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2 grid</a:t>
            </a:r>
          </a:p>
        </p:txBody>
      </p:sp>
      <p:grpSp>
        <p:nvGrpSpPr>
          <p:cNvPr id="19" name="Empty 3 by 2 lattice template"/>
          <p:cNvGrpSpPr/>
          <p:nvPr/>
        </p:nvGrpSpPr>
        <p:grpSpPr>
          <a:xfrm>
            <a:off x="5897880" y="2011680"/>
            <a:ext cx="1591056" cy="1060704"/>
            <a:chOff x="5897880" y="2011680"/>
            <a:chExt cx="1591056" cy="1060704"/>
          </a:xfrm>
        </p:grpSpPr>
        <p:cxnSp>
          <p:nvCxnSpPr>
            <p:cNvPr id="20" name="Connector 19"/>
            <p:cNvCxnSpPr/>
            <p:nvPr/>
          </p:nvCxnSpPr>
          <p:spPr>
            <a:xfrm>
              <a:off x="589788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2823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5858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88936"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9788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8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89788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89788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42823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95858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89788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42823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95858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33" name="TextBox 32"/>
          <p:cNvSpPr txBox="1"/>
          <p:nvPr/>
        </p:nvSpPr>
        <p:spPr>
          <a:xfrm>
            <a:off x="1033272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3 grid</a:t>
            </a:r>
          </a:p>
        </p:txBody>
      </p:sp>
      <p:grpSp>
        <p:nvGrpSpPr>
          <p:cNvPr id="34" name="Empty 3 by 3 lattice template"/>
          <p:cNvGrpSpPr/>
          <p:nvPr/>
        </p:nvGrpSpPr>
        <p:grpSpPr>
          <a:xfrm>
            <a:off x="10561320" y="2011680"/>
            <a:ext cx="1591056" cy="1591056"/>
            <a:chOff x="10561320" y="2011680"/>
            <a:chExt cx="1591056" cy="1591056"/>
          </a:xfrm>
        </p:grpSpPr>
        <p:cxnSp>
          <p:nvCxnSpPr>
            <p:cNvPr id="35" name="Connector 34"/>
            <p:cNvCxnSpPr/>
            <p:nvPr/>
          </p:nvCxnSpPr>
          <p:spPr>
            <a:xfrm>
              <a:off x="10561320"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091672"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1622024"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152376"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56132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6132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6132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561320" y="3602736"/>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56132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109167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162202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56132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09167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62202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561320"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1091672"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1622024"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52" name="TextBox 51"/>
          <p:cNvSpPr txBox="1"/>
          <p:nvPr/>
        </p:nvSpPr>
        <p:spPr>
          <a:xfrm>
            <a:off x="315468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3 grid</a:t>
            </a:r>
          </a:p>
        </p:txBody>
      </p:sp>
      <p:grpSp>
        <p:nvGrpSpPr>
          <p:cNvPr id="53" name="Empty 4 by 3 lattice template"/>
          <p:cNvGrpSpPr/>
          <p:nvPr/>
        </p:nvGrpSpPr>
        <p:grpSpPr>
          <a:xfrm>
            <a:off x="3383280" y="4892040"/>
            <a:ext cx="2121408" cy="1591056"/>
            <a:chOff x="3383280" y="4892040"/>
            <a:chExt cx="2121408" cy="1591056"/>
          </a:xfrm>
        </p:grpSpPr>
        <p:cxnSp>
          <p:nvCxnSpPr>
            <p:cNvPr id="54" name="Connector 53"/>
            <p:cNvCxnSpPr/>
            <p:nvPr/>
          </p:nvCxnSpPr>
          <p:spPr>
            <a:xfrm>
              <a:off x="3383280"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13632"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443984"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974336"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04688"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38328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38328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38328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38328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38328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91363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44398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97433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38328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91363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44398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97433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338328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391363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44398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97433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75" name="TextBox 74"/>
          <p:cNvSpPr txBox="1"/>
          <p:nvPr/>
        </p:nvSpPr>
        <p:spPr>
          <a:xfrm>
            <a:off x="877824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4 grid</a:t>
            </a:r>
          </a:p>
        </p:txBody>
      </p:sp>
      <p:grpSp>
        <p:nvGrpSpPr>
          <p:cNvPr id="76" name="Empty 4 by 4 lattice template"/>
          <p:cNvGrpSpPr/>
          <p:nvPr/>
        </p:nvGrpSpPr>
        <p:grpSpPr>
          <a:xfrm>
            <a:off x="9006840" y="4892040"/>
            <a:ext cx="2121408" cy="2121408"/>
            <a:chOff x="9006840" y="4892040"/>
            <a:chExt cx="2121408" cy="2121408"/>
          </a:xfrm>
        </p:grpSpPr>
        <p:cxnSp>
          <p:nvCxnSpPr>
            <p:cNvPr id="77" name="Connector 76"/>
            <p:cNvCxnSpPr/>
            <p:nvPr/>
          </p:nvCxnSpPr>
          <p:spPr>
            <a:xfrm>
              <a:off x="9006840"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37192"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067544"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597896"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1128248"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00684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00684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900684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00684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006840" y="7013448"/>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900684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953719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06754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59789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00684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53719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006754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059789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00684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53719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006754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059789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9006840"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537192"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0067544"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0597896"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52288"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52288" y="444398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73056"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73056" y="4873752"/>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037064" y="721461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73056" y="687628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Start: exact answer. Build: remainder. Confidence: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Build: give remainders. Confidence: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Build: give remainders. Confidence: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086916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Work out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M13-IA</a:t>
            </a:r>
          </a:p>
        </p:txBody>
      </p:sp>
      <p:sp>
        <p:nvSpPr>
          <p:cNvPr id="7" name="Rectangle 6"/>
          <p:cNvSpPr/>
          <p:nvPr/>
        </p:nvSpPr>
        <p:spPr>
          <a:xfrm>
            <a:off x="45720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1.  −2 + 9</a:t>
            </a:r>
          </a:p>
        </p:txBody>
      </p:sp>
      <p:sp>
        <p:nvSpPr>
          <p:cNvPr id="9" name="Rectangle 8"/>
          <p:cNvSpPr/>
          <p:nvPr/>
        </p:nvSpPr>
        <p:spPr>
          <a:xfrm>
            <a:off x="745236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695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2.  6 − 11</a:t>
            </a:r>
          </a:p>
        </p:txBody>
      </p:sp>
      <p:sp>
        <p:nvSpPr>
          <p:cNvPr id="11" name="Rectangle 10"/>
          <p:cNvSpPr/>
          <p:nvPr/>
        </p:nvSpPr>
        <p:spPr>
          <a:xfrm>
            <a:off x="45720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3.  −7 − (−10)</a:t>
            </a:r>
          </a:p>
        </p:txBody>
      </p:sp>
      <p:sp>
        <p:nvSpPr>
          <p:cNvPr id="13" name="Rectangle 12"/>
          <p:cNvSpPr/>
          <p:nvPr/>
        </p:nvSpPr>
        <p:spPr>
          <a:xfrm>
            <a:off x="745236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4.  5 + (−9) − (−6)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Rules recap • Start at the first number.</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M13-RULES</a:t>
            </a:r>
          </a:p>
        </p:txBody>
      </p:sp>
      <p:sp>
        <p:nvSpPr>
          <p:cNvPr id="7" name="Rectangle 6"/>
          <p:cNvSpPr/>
          <p:nvPr/>
        </p:nvSpPr>
        <p:spPr>
          <a:xfrm>
            <a:off x="365760" y="128016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Add a positive number</a:t>
            </a:r>
          </a:p>
        </p:txBody>
      </p:sp>
      <p:sp>
        <p:nvSpPr>
          <p:cNvPr id="9" name="TextBox 8"/>
          <p:cNvSpPr txBox="1"/>
          <p:nvPr/>
        </p:nvSpPr>
        <p:spPr>
          <a:xfrm>
            <a:off x="5029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the value increases.</a:t>
            </a:r>
          </a:p>
        </p:txBody>
      </p:sp>
      <p:sp>
        <p:nvSpPr>
          <p:cNvPr id="10" name="TextBox 9"/>
          <p:cNvSpPr txBox="1"/>
          <p:nvPr/>
        </p:nvSpPr>
        <p:spPr>
          <a:xfrm>
            <a:off x="5029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3</a:t>
            </a:r>
          </a:p>
        </p:txBody>
      </p:sp>
      <p:sp>
        <p:nvSpPr>
          <p:cNvPr id="11" name="Rectangle 10"/>
          <p:cNvSpPr/>
          <p:nvPr/>
        </p:nvSpPr>
        <p:spPr>
          <a:xfrm>
            <a:off x="7452360" y="128016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Add a negative number</a:t>
            </a:r>
          </a:p>
        </p:txBody>
      </p:sp>
      <p:sp>
        <p:nvSpPr>
          <p:cNvPr id="13" name="TextBox 12"/>
          <p:cNvSpPr txBox="1"/>
          <p:nvPr/>
        </p:nvSpPr>
        <p:spPr>
          <a:xfrm>
            <a:off x="75895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4" name="TextBox 13"/>
          <p:cNvSpPr txBox="1"/>
          <p:nvPr/>
        </p:nvSpPr>
        <p:spPr>
          <a:xfrm>
            <a:off x="75895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4 − 7 = −3</a:t>
            </a:r>
          </a:p>
        </p:txBody>
      </p:sp>
      <p:sp>
        <p:nvSpPr>
          <p:cNvPr id="15" name="Rectangle 14"/>
          <p:cNvSpPr/>
          <p:nvPr/>
        </p:nvSpPr>
        <p:spPr>
          <a:xfrm>
            <a:off x="365760" y="320040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Subtract a positive number</a:t>
            </a:r>
          </a:p>
        </p:txBody>
      </p:sp>
      <p:sp>
        <p:nvSpPr>
          <p:cNvPr id="17" name="TextBox 16"/>
          <p:cNvSpPr txBox="1"/>
          <p:nvPr/>
        </p:nvSpPr>
        <p:spPr>
          <a:xfrm>
            <a:off x="5029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8" name="TextBox 17"/>
          <p:cNvSpPr txBox="1"/>
          <p:nvPr/>
        </p:nvSpPr>
        <p:spPr>
          <a:xfrm>
            <a:off x="5029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3 − 8 = −5</a:t>
            </a:r>
          </a:p>
        </p:txBody>
      </p:sp>
      <p:sp>
        <p:nvSpPr>
          <p:cNvPr id="19" name="Rectangle 18"/>
          <p:cNvSpPr/>
          <p:nvPr/>
        </p:nvSpPr>
        <p:spPr>
          <a:xfrm>
            <a:off x="7452360" y="320040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Subtract a negative number</a:t>
            </a:r>
          </a:p>
        </p:txBody>
      </p:sp>
      <p:sp>
        <p:nvSpPr>
          <p:cNvPr id="21" name="TextBox 20"/>
          <p:cNvSpPr txBox="1"/>
          <p:nvPr/>
        </p:nvSpPr>
        <p:spPr>
          <a:xfrm>
            <a:off x="75895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subtracting a negative is adding a positive.</a:t>
            </a:r>
          </a:p>
        </p:txBody>
      </p:sp>
      <p:sp>
        <p:nvSpPr>
          <p:cNvPr id="22" name="TextBox 21"/>
          <p:cNvSpPr txBox="1"/>
          <p:nvPr/>
        </p:nvSpPr>
        <p:spPr>
          <a:xfrm>
            <a:off x="75895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6 − (−3) = 6 + 3 = 9</a:t>
            </a:r>
          </a:p>
        </p:txBody>
      </p:sp>
      <p:sp>
        <p:nvSpPr>
          <p:cNvPr id="23" name="TextBox 22"/>
          <p:cNvSpPr txBox="1"/>
          <p:nvPr/>
        </p:nvSpPr>
        <p:spPr>
          <a:xfrm>
            <a:off x="457200" y="5276088"/>
            <a:ext cx="13716000" cy="640080"/>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In 6 − (−3), the first − means subtract;</a:t>
            </a:r>
          </a:p>
          <a:p>
            <a:pPr>
              <a:lnSpc>
                <a:spcPts val="2310"/>
              </a:lnSpc>
              <a:spcBef>
                <a:spcPts val="0"/>
              </a:spcBef>
              <a:spcAft>
                <a:spcPts val="0"/>
              </a:spcAft>
              <a:defRPr sz="2200" b="0">
                <a:solidFill>
                  <a:srgbClr val="182B3A"/>
                </a:solidFill>
                <a:latin typeface="Arial"/>
              </a:defRPr>
            </a:pPr>
            <a:r>
              <a:t>the − inside brackets belongs to the number −3.</a:t>
            </a:r>
          </a:p>
        </p:txBody>
      </p:sp>
      <p:sp>
        <p:nvSpPr>
          <p:cNvPr id="24" name="Rectangle 23"/>
          <p:cNvSpPr/>
          <p:nvPr/>
        </p:nvSpPr>
        <p:spPr>
          <a:xfrm>
            <a:off x="365760" y="6080760"/>
            <a:ext cx="13898880" cy="7040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199632"/>
            <a:ext cx="13624560" cy="448056"/>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To subtract a number, add its opposite. Keep the first number unchanged.</a:t>
            </a:r>
          </a:p>
        </p:txBody>
      </p:sp>
      <p:sp>
        <p:nvSpPr>
          <p:cNvPr id="26" name="TextBox 25"/>
          <p:cNvSpPr txBox="1"/>
          <p:nvPr/>
        </p:nvSpPr>
        <p:spPr>
          <a:xfrm>
            <a:off x="457200" y="7022592"/>
            <a:ext cx="13716000" cy="694944"/>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Two negative numbers do not automatically give a positive answer:</a:t>
            </a:r>
          </a:p>
          <a:p>
            <a:pPr>
              <a:lnSpc>
                <a:spcPts val="2310"/>
              </a:lnSpc>
              <a:spcBef>
                <a:spcPts val="0"/>
              </a:spcBef>
              <a:spcAft>
                <a:spcPts val="0"/>
              </a:spcAft>
              <a:defRPr sz="2200" b="0">
                <a:solidFill>
                  <a:srgbClr val="182B3A"/>
                </a:solidFill>
                <a:latin typeface="Arial"/>
              </a:defRPr>
            </a:pPr>
            <a:r>
              <a:t>−4 + (−3) = −7.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M13-S01</a:t>
            </a:r>
          </a:p>
        </p:txBody>
      </p:sp>
      <p:sp>
        <p:nvSpPr>
          <p:cNvPr id="7" name="TextBox 6"/>
          <p:cNvSpPr txBox="1"/>
          <p:nvPr/>
        </p:nvSpPr>
        <p:spPr>
          <a:xfrm>
            <a:off x="365760" y="1069848"/>
            <a:ext cx="13807440" cy="548640"/>
          </a:xfrm>
          <a:prstGeom prst="rect">
            <a:avLst/>
          </a:prstGeom>
          <a:noFill/>
        </p:spPr>
        <p:txBody>
          <a:bodyPr wrap="square" lIns="54864" rIns="54864" tIns="22860" bIns="22860">
            <a:spAutoFit/>
          </a:bodyPr>
          <a:lstStyle/>
          <a:p>
            <a:pPr>
              <a:lnSpc>
                <a:spcPts val="1680"/>
              </a:lnSpc>
              <a:spcBef>
                <a:spcPts val="0"/>
              </a:spcBef>
              <a:spcAft>
                <a:spcPts val="0"/>
              </a:spcAft>
              <a:defRPr sz="1600" b="1">
                <a:solidFill>
                  <a:srgbClr val="182B3A"/>
                </a:solidFill>
                <a:latin typeface="Arial"/>
              </a:defRPr>
            </a:pPr>
            <a:r>
              <a:t>Adding a negative moves left: 4 + (−7) = 4 − 7 = −3.</a:t>
            </a:r>
          </a:p>
          <a:p>
            <a:pPr>
              <a:lnSpc>
                <a:spcPts val="1680"/>
              </a:lnSpc>
              <a:spcBef>
                <a:spcPts val="0"/>
              </a:spcBef>
              <a:spcAft>
                <a:spcPts val="0"/>
              </a:spcAft>
              <a:defRPr sz="1600" b="1">
                <a:solidFill>
                  <a:srgbClr val="182B3A"/>
                </a:solidFill>
                <a:latin typeface="Arial"/>
              </a:defRPr>
            </a:pPr>
            <a:r>
              <a:t>Subtracting a negative moves right: 6 − (−3) = 6 + 3 = 9.</a:t>
            </a:r>
          </a:p>
        </p:txBody>
      </p:sp>
      <p:sp>
        <p:nvSpPr>
          <p:cNvPr id="8" name="Rectangle 7"/>
          <p:cNvSpPr/>
          <p:nvPr/>
        </p:nvSpPr>
        <p:spPr>
          <a:xfrm>
            <a:off x="2121408" y="170992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39"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10" name="Rectangle 9"/>
          <p:cNvSpPr/>
          <p:nvPr/>
        </p:nvSpPr>
        <p:spPr>
          <a:xfrm>
            <a:off x="6184392" y="170992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1824"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2" name="Rectangle 11"/>
          <p:cNvSpPr/>
          <p:nvPr/>
        </p:nvSpPr>
        <p:spPr>
          <a:xfrm>
            <a:off x="10247376" y="170992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74808"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4" name="Rectangle 13"/>
          <p:cNvSpPr/>
          <p:nvPr/>
        </p:nvSpPr>
        <p:spPr>
          <a:xfrm>
            <a:off x="320040" y="2157984"/>
            <a:ext cx="1801367" cy="6858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2249424"/>
            <a:ext cx="1691639" cy="53035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6" name="Rectangle 15"/>
          <p:cNvSpPr/>
          <p:nvPr/>
        </p:nvSpPr>
        <p:spPr>
          <a:xfrm>
            <a:off x="2121408" y="2157984"/>
            <a:ext cx="4062984" cy="68580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8" name="Rectangle 17"/>
          <p:cNvSpPr/>
          <p:nvPr/>
        </p:nvSpPr>
        <p:spPr>
          <a:xfrm>
            <a:off x="6184392" y="2157984"/>
            <a:ext cx="4062984" cy="68580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7544"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(−3)</a:t>
            </a:r>
          </a:p>
        </p:txBody>
      </p:sp>
      <p:sp>
        <p:nvSpPr>
          <p:cNvPr id="20" name="Rectangle 19"/>
          <p:cNvSpPr/>
          <p:nvPr/>
        </p:nvSpPr>
        <p:spPr>
          <a:xfrm>
            <a:off x="10247376" y="2157984"/>
            <a:ext cx="4062984" cy="68580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20528"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+ 8 − (−2)</a:t>
            </a:r>
          </a:p>
        </p:txBody>
      </p:sp>
      <p:sp>
        <p:nvSpPr>
          <p:cNvPr id="22" name="Rectangle 21"/>
          <p:cNvSpPr/>
          <p:nvPr/>
        </p:nvSpPr>
        <p:spPr>
          <a:xfrm>
            <a:off x="320040" y="284378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 y="2935224"/>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4" name="Rectangle 23"/>
          <p:cNvSpPr/>
          <p:nvPr/>
        </p:nvSpPr>
        <p:spPr>
          <a:xfrm>
            <a:off x="2121408"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−4; add positive 7.</a:t>
            </a:r>
          </a:p>
        </p:txBody>
      </p:sp>
      <p:sp>
        <p:nvSpPr>
          <p:cNvPr id="26" name="Rectangle 25"/>
          <p:cNvSpPr/>
          <p:nvPr/>
        </p:nvSpPr>
        <p:spPr>
          <a:xfrm>
            <a:off x="6184392"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7544"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6; subtract negative 3.</a:t>
            </a:r>
          </a:p>
        </p:txBody>
      </p:sp>
      <p:sp>
        <p:nvSpPr>
          <p:cNvPr id="28" name="Rectangle 27"/>
          <p:cNvSpPr/>
          <p:nvPr/>
        </p:nvSpPr>
        <p:spPr>
          <a:xfrm>
            <a:off x="10247376"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20528"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Add positive 8, then subtract negative 2.</a:t>
            </a:r>
          </a:p>
        </p:txBody>
      </p:sp>
      <p:sp>
        <p:nvSpPr>
          <p:cNvPr id="30" name="Rectangle 29"/>
          <p:cNvSpPr/>
          <p:nvPr/>
        </p:nvSpPr>
        <p:spPr>
          <a:xfrm>
            <a:off x="320040" y="362102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 y="3712463"/>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2" name="Rectangle 31"/>
          <p:cNvSpPr/>
          <p:nvPr/>
        </p:nvSpPr>
        <p:spPr>
          <a:xfrm>
            <a:off x="2121408"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0"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−4 + 7 is already an addition.</a:t>
            </a:r>
          </a:p>
        </p:txBody>
      </p:sp>
      <p:sp>
        <p:nvSpPr>
          <p:cNvPr id="34" name="Rectangle 33"/>
          <p:cNvSpPr/>
          <p:nvPr/>
        </p:nvSpPr>
        <p:spPr>
          <a:xfrm>
            <a:off x="6184392"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7544"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6 + 3.</a:t>
            </a:r>
          </a:p>
        </p:txBody>
      </p:sp>
      <p:sp>
        <p:nvSpPr>
          <p:cNvPr id="36" name="Rectangle 35"/>
          <p:cNvSpPr/>
          <p:nvPr/>
        </p:nvSpPr>
        <p:spPr>
          <a:xfrm>
            <a:off x="10247376"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20528"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+ 2.</a:t>
            </a:r>
          </a:p>
        </p:txBody>
      </p:sp>
      <p:sp>
        <p:nvSpPr>
          <p:cNvPr id="38" name="Rectangle 37"/>
          <p:cNvSpPr/>
          <p:nvPr/>
        </p:nvSpPr>
        <p:spPr>
          <a:xfrm>
            <a:off x="320040" y="4398264"/>
            <a:ext cx="1801367" cy="1920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4489703"/>
            <a:ext cx="1691639" cy="1764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40" name="Rectangle 39"/>
          <p:cNvSpPr/>
          <p:nvPr/>
        </p:nvSpPr>
        <p:spPr>
          <a:xfrm>
            <a:off x="2121408"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Move 4 right to 0, then 3 right: 3.</a:t>
            </a:r>
          </a:p>
        </p:txBody>
      </p:sp>
      <p:cxnSp>
        <p:nvCxnSpPr>
          <p:cNvPr id="42" name="Connector 41"/>
          <p:cNvCxnSpPr/>
          <p:nvPr/>
        </p:nvCxnSpPr>
        <p:spPr>
          <a:xfrm>
            <a:off x="2395728"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39572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20319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45" name="Connector 44"/>
          <p:cNvCxnSpPr/>
          <p:nvPr/>
        </p:nvCxnSpPr>
        <p:spPr>
          <a:xfrm>
            <a:off x="278621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9367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47" name="Connector 46"/>
          <p:cNvCxnSpPr/>
          <p:nvPr/>
        </p:nvCxnSpPr>
        <p:spPr>
          <a:xfrm>
            <a:off x="317669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98416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49" name="Connector 48"/>
          <p:cNvCxnSpPr/>
          <p:nvPr/>
        </p:nvCxnSpPr>
        <p:spPr>
          <a:xfrm>
            <a:off x="356717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746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1" name="Connector 50"/>
          <p:cNvCxnSpPr/>
          <p:nvPr/>
        </p:nvCxnSpPr>
        <p:spPr>
          <a:xfrm>
            <a:off x="395765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6512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3" name="Connector 52"/>
          <p:cNvCxnSpPr/>
          <p:nvPr/>
        </p:nvCxnSpPr>
        <p:spPr>
          <a:xfrm>
            <a:off x="434814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19269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55" name="Connector 54"/>
          <p:cNvCxnSpPr/>
          <p:nvPr/>
        </p:nvCxnSpPr>
        <p:spPr>
          <a:xfrm>
            <a:off x="473862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8317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7" name="Connector 56"/>
          <p:cNvCxnSpPr/>
          <p:nvPr/>
        </p:nvCxnSpPr>
        <p:spPr>
          <a:xfrm>
            <a:off x="51291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365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9" name="Connector 58"/>
          <p:cNvCxnSpPr/>
          <p:nvPr/>
        </p:nvCxnSpPr>
        <p:spPr>
          <a:xfrm>
            <a:off x="551958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36414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61" name="Connector 60"/>
          <p:cNvCxnSpPr/>
          <p:nvPr/>
        </p:nvCxnSpPr>
        <p:spPr>
          <a:xfrm>
            <a:off x="591007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75462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63" name="Connector 62"/>
          <p:cNvCxnSpPr/>
          <p:nvPr/>
        </p:nvCxnSpPr>
        <p:spPr>
          <a:xfrm flipV="1">
            <a:off x="2786210"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786210" y="5605272"/>
            <a:ext cx="1561931"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348141"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231136"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+4 then +3: total +7</a:t>
            </a:r>
          </a:p>
        </p:txBody>
      </p:sp>
      <p:cxnSp>
        <p:nvCxnSpPr>
          <p:cNvPr id="67" name="Connector 66"/>
          <p:cNvCxnSpPr/>
          <p:nvPr/>
        </p:nvCxnSpPr>
        <p:spPr>
          <a:xfrm flipV="1">
            <a:off x="4348141"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348141" y="5312664"/>
            <a:ext cx="1171448"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519589"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231136"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p>
        </p:txBody>
      </p:sp>
      <p:sp>
        <p:nvSpPr>
          <p:cNvPr id="71" name="Rectangle 70"/>
          <p:cNvSpPr/>
          <p:nvPr/>
        </p:nvSpPr>
        <p:spPr>
          <a:xfrm>
            <a:off x="6184392"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57544"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9.</a:t>
            </a:r>
          </a:p>
        </p:txBody>
      </p:sp>
      <p:cxnSp>
        <p:nvCxnSpPr>
          <p:cNvPr id="73" name="Connector 72"/>
          <p:cNvCxnSpPr/>
          <p:nvPr/>
        </p:nvCxnSpPr>
        <p:spPr>
          <a:xfrm>
            <a:off x="6458712"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45871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032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76" name="Connector 75"/>
          <p:cNvCxnSpPr/>
          <p:nvPr/>
        </p:nvCxnSpPr>
        <p:spPr>
          <a:xfrm>
            <a:off x="681014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5469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78" name="Connector 77"/>
          <p:cNvCxnSpPr/>
          <p:nvPr/>
        </p:nvCxnSpPr>
        <p:spPr>
          <a:xfrm>
            <a:off x="716158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00613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80" name="Connector 79"/>
          <p:cNvCxnSpPr/>
          <p:nvPr/>
        </p:nvCxnSpPr>
        <p:spPr>
          <a:xfrm>
            <a:off x="7513015"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7567"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82" name="Connector 81"/>
          <p:cNvCxnSpPr/>
          <p:nvPr/>
        </p:nvCxnSpPr>
        <p:spPr>
          <a:xfrm>
            <a:off x="786444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70900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84" name="Connector 83"/>
          <p:cNvCxnSpPr/>
          <p:nvPr/>
        </p:nvCxnSpPr>
        <p:spPr>
          <a:xfrm>
            <a:off x="821588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06043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86" name="Connector 85"/>
          <p:cNvCxnSpPr/>
          <p:nvPr/>
        </p:nvCxnSpPr>
        <p:spPr>
          <a:xfrm>
            <a:off x="856731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841187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88" name="Connector 87"/>
          <p:cNvCxnSpPr/>
          <p:nvPr/>
        </p:nvCxnSpPr>
        <p:spPr>
          <a:xfrm>
            <a:off x="891875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76330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7</a:t>
            </a:r>
          </a:p>
        </p:txBody>
      </p:sp>
      <p:cxnSp>
        <p:nvCxnSpPr>
          <p:cNvPr id="90" name="Connector 89"/>
          <p:cNvCxnSpPr/>
          <p:nvPr/>
        </p:nvCxnSpPr>
        <p:spPr>
          <a:xfrm>
            <a:off x="927018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1473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8</a:t>
            </a:r>
          </a:p>
        </p:txBody>
      </p:sp>
      <p:cxnSp>
        <p:nvCxnSpPr>
          <p:cNvPr id="92" name="Connector 91"/>
          <p:cNvCxnSpPr/>
          <p:nvPr/>
        </p:nvCxnSpPr>
        <p:spPr>
          <a:xfrm>
            <a:off x="962162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46617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9</a:t>
            </a:r>
          </a:p>
        </p:txBody>
      </p:sp>
      <p:cxnSp>
        <p:nvCxnSpPr>
          <p:cNvPr id="94" name="Connector 93"/>
          <p:cNvCxnSpPr/>
          <p:nvPr/>
        </p:nvCxnSpPr>
        <p:spPr>
          <a:xfrm>
            <a:off x="997305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81760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10</a:t>
            </a:r>
          </a:p>
        </p:txBody>
      </p:sp>
      <p:cxnSp>
        <p:nvCxnSpPr>
          <p:cNvPr id="96" name="Connector 95"/>
          <p:cNvCxnSpPr/>
          <p:nvPr/>
        </p:nvCxnSpPr>
        <p:spPr>
          <a:xfrm flipV="1">
            <a:off x="8567318"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67318" y="5605272"/>
            <a:ext cx="1054303" cy="0"/>
          </a:xfrm>
          <a:prstGeom prst="line">
            <a:avLst/>
          </a:prstGeom>
          <a:ln w="25400">
            <a:solidFill>
              <a:srgbClr val="3559A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21621"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294120"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subtract −3 = add 3</a:t>
            </a:r>
          </a:p>
        </p:txBody>
      </p:sp>
      <p:sp>
        <p:nvSpPr>
          <p:cNvPr id="100" name="Rectangle 99"/>
          <p:cNvSpPr/>
          <p:nvPr/>
        </p:nvSpPr>
        <p:spPr>
          <a:xfrm>
            <a:off x="10247376"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320528"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3; 3 + 2 = 5.</a:t>
            </a:r>
          </a:p>
        </p:txBody>
      </p:sp>
      <p:cxnSp>
        <p:nvCxnSpPr>
          <p:cNvPr id="102" name="Connector 101"/>
          <p:cNvCxnSpPr/>
          <p:nvPr/>
        </p:nvCxnSpPr>
        <p:spPr>
          <a:xfrm>
            <a:off x="10521696"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52169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03291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05" name="Connector 104"/>
          <p:cNvCxnSpPr/>
          <p:nvPr/>
        </p:nvCxnSpPr>
        <p:spPr>
          <a:xfrm>
            <a:off x="1081455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0622025"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07" name="Connector 106"/>
          <p:cNvCxnSpPr/>
          <p:nvPr/>
        </p:nvCxnSpPr>
        <p:spPr>
          <a:xfrm>
            <a:off x="1110742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091488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09" name="Connector 108"/>
          <p:cNvCxnSpPr/>
          <p:nvPr/>
        </p:nvCxnSpPr>
        <p:spPr>
          <a:xfrm>
            <a:off x="1140028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120775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11" name="Connector 110"/>
          <p:cNvCxnSpPr/>
          <p:nvPr/>
        </p:nvCxnSpPr>
        <p:spPr>
          <a:xfrm>
            <a:off x="1169314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50061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13" name="Connector 112"/>
          <p:cNvCxnSpPr/>
          <p:nvPr/>
        </p:nvCxnSpPr>
        <p:spPr>
          <a:xfrm>
            <a:off x="119860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79347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5" name="Connector 114"/>
          <p:cNvCxnSpPr/>
          <p:nvPr/>
        </p:nvCxnSpPr>
        <p:spPr>
          <a:xfrm>
            <a:off x="1227886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212342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117" name="Connector 116"/>
          <p:cNvCxnSpPr/>
          <p:nvPr/>
        </p:nvCxnSpPr>
        <p:spPr>
          <a:xfrm>
            <a:off x="1257172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41628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9" name="Connector 118"/>
          <p:cNvCxnSpPr/>
          <p:nvPr/>
        </p:nvCxnSpPr>
        <p:spPr>
          <a:xfrm>
            <a:off x="1286459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27091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21" name="Connector 120"/>
          <p:cNvCxnSpPr/>
          <p:nvPr/>
        </p:nvCxnSpPr>
        <p:spPr>
          <a:xfrm>
            <a:off x="1315745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300200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23" name="Connector 122"/>
          <p:cNvCxnSpPr/>
          <p:nvPr/>
        </p:nvCxnSpPr>
        <p:spPr>
          <a:xfrm>
            <a:off x="1345031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329486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25" name="Connector 124"/>
          <p:cNvCxnSpPr/>
          <p:nvPr/>
        </p:nvCxnSpPr>
        <p:spPr>
          <a:xfrm>
            <a:off x="1374317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358772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27" name="Connector 126"/>
          <p:cNvCxnSpPr/>
          <p:nvPr/>
        </p:nvCxnSpPr>
        <p:spPr>
          <a:xfrm>
            <a:off x="1403604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388059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29" name="Connector 128"/>
          <p:cNvCxnSpPr/>
          <p:nvPr/>
        </p:nvCxnSpPr>
        <p:spPr>
          <a:xfrm flipV="1">
            <a:off x="10814557"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814557" y="5605272"/>
            <a:ext cx="2342897"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3157454"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0357104"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+8, then +2</a:t>
            </a:r>
          </a:p>
        </p:txBody>
      </p:sp>
      <p:cxnSp>
        <p:nvCxnSpPr>
          <p:cNvPr id="133" name="Connector 132"/>
          <p:cNvCxnSpPr/>
          <p:nvPr/>
        </p:nvCxnSpPr>
        <p:spPr>
          <a:xfrm flipV="1">
            <a:off x="13157454"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3157454" y="5312664"/>
            <a:ext cx="585723"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3743177"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357104"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p>
        </p:txBody>
      </p:sp>
      <p:sp>
        <p:nvSpPr>
          <p:cNvPr id="137" name="Rectangle 136"/>
          <p:cNvSpPr/>
          <p:nvPr/>
        </p:nvSpPr>
        <p:spPr>
          <a:xfrm>
            <a:off x="320040" y="6318504"/>
            <a:ext cx="1801367" cy="11887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74904" y="6409944"/>
            <a:ext cx="1691639" cy="103327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139" name="Rectangle 138"/>
          <p:cNvSpPr/>
          <p:nvPr/>
        </p:nvSpPr>
        <p:spPr>
          <a:xfrm>
            <a:off x="2121408"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194560"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3 − 7 = −4. Answer: 3.</a:t>
            </a:r>
          </a:p>
        </p:txBody>
      </p:sp>
      <p:sp>
        <p:nvSpPr>
          <p:cNvPr id="141" name="Rectangle 140"/>
          <p:cNvSpPr/>
          <p:nvPr/>
        </p:nvSpPr>
        <p:spPr>
          <a:xfrm>
            <a:off x="6184392"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57544"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9 + (−3) = 6. Answer: 9.</a:t>
            </a:r>
          </a:p>
        </p:txBody>
      </p:sp>
      <p:sp>
        <p:nvSpPr>
          <p:cNvPr id="143" name="Rectangle 142"/>
          <p:cNvSpPr/>
          <p:nvPr/>
        </p:nvSpPr>
        <p:spPr>
          <a:xfrm>
            <a:off x="10247376"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320528"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(−2) = 3; 3 − 8 = −5. Answer: 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+ 9</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−8 + 5 − (−4)</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3 − 8</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(−9)</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7 − (−2) + (−12)</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Signed numbers: addition and subtraction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M13-SE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 + 5</a:t>
            </a:r>
          </a:p>
        </p:txBody>
      </p:sp>
      <p:sp>
        <p:nvSpPr>
          <p:cNvPr id="10" name="TextBox 9"/>
          <p:cNvSpPr txBox="1"/>
          <p:nvPr/>
        </p:nvSpPr>
        <p:spPr>
          <a:xfrm>
            <a:off x="704088"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−3 + 5</a:t>
            </a:r>
          </a:p>
        </p:txBody>
      </p:sp>
      <p:sp>
        <p:nvSpPr>
          <p:cNvPr id="11" name="TextBox 10"/>
          <p:cNvSpPr txBox="1"/>
          <p:nvPr/>
        </p:nvSpPr>
        <p:spPr>
          <a:xfrm>
            <a:off x="704088"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−3 − 5</a:t>
            </a:r>
          </a:p>
        </p:txBody>
      </p:sp>
      <p:sp>
        <p:nvSpPr>
          <p:cNvPr id="12" name="TextBox 11"/>
          <p:cNvSpPr txBox="1"/>
          <p:nvPr/>
        </p:nvSpPr>
        <p:spPr>
          <a:xfrm>
            <a:off x="704088"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a:t>
            </a:r>
          </a:p>
        </p:txBody>
      </p:sp>
      <p:sp>
        <p:nvSpPr>
          <p:cNvPr id="13" name="Rectangle 1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4 − 9</a:t>
            </a:r>
          </a:p>
        </p:txBody>
      </p:sp>
      <p:sp>
        <p:nvSpPr>
          <p:cNvPr id="15" name="TextBox 14"/>
          <p:cNvSpPr txBox="1"/>
          <p:nvPr/>
        </p:nvSpPr>
        <p:spPr>
          <a:xfrm>
            <a:off x="704088"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4 − 9</a:t>
            </a:r>
          </a:p>
        </p:txBody>
      </p:sp>
      <p:sp>
        <p:nvSpPr>
          <p:cNvPr id="16" name="TextBox 15"/>
          <p:cNvSpPr txBox="1"/>
          <p:nvPr/>
        </p:nvSpPr>
        <p:spPr>
          <a:xfrm>
            <a:off x="704088"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9 − 4</a:t>
            </a:r>
          </a:p>
        </p:txBody>
      </p:sp>
      <p:sp>
        <p:nvSpPr>
          <p:cNvPr id="17" name="TextBox 16"/>
          <p:cNvSpPr txBox="1"/>
          <p:nvPr/>
        </p:nvSpPr>
        <p:spPr>
          <a:xfrm>
            <a:off x="704088"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a:t>
            </a:r>
          </a:p>
        </p:txBody>
      </p:sp>
      <p:sp>
        <p:nvSpPr>
          <p:cNvPr id="18" name="Rectangle 17"/>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−4 − 6</a:t>
            </a:r>
          </a:p>
        </p:txBody>
      </p:sp>
      <p:sp>
        <p:nvSpPr>
          <p:cNvPr id="20" name="TextBox 19"/>
          <p:cNvSpPr txBox="1"/>
          <p:nvPr/>
        </p:nvSpPr>
        <p:spPr>
          <a:xfrm>
            <a:off x="704088"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−4 − 6</a:t>
            </a:r>
          </a:p>
        </p:txBody>
      </p:sp>
      <p:sp>
        <p:nvSpPr>
          <p:cNvPr id="21" name="TextBox 20"/>
          <p:cNvSpPr txBox="1"/>
          <p:nvPr/>
        </p:nvSpPr>
        <p:spPr>
          <a:xfrm>
            <a:off x="704088"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+ 6</a:t>
            </a:r>
          </a:p>
        </p:txBody>
      </p:sp>
      <p:sp>
        <p:nvSpPr>
          <p:cNvPr id="22" name="TextBox 21"/>
          <p:cNvSpPr txBox="1"/>
          <p:nvPr/>
        </p:nvSpPr>
        <p:spPr>
          <a:xfrm>
            <a:off x="704088"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10</a:t>
            </a:r>
          </a:p>
        </p:txBody>
      </p:sp>
      <p:sp>
        <p:nvSpPr>
          <p:cNvPr id="23" name="Rectangle 22"/>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25" name="Rectangle 24"/>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6 + (−10)</a:t>
            </a:r>
          </a:p>
        </p:txBody>
      </p:sp>
      <p:sp>
        <p:nvSpPr>
          <p:cNvPr id="27" name="TextBox 26"/>
          <p:cNvSpPr txBox="1"/>
          <p:nvPr/>
        </p:nvSpPr>
        <p:spPr>
          <a:xfrm>
            <a:off x="5324856"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(−10)</a:t>
            </a:r>
          </a:p>
        </p:txBody>
      </p:sp>
      <p:sp>
        <p:nvSpPr>
          <p:cNvPr id="28" name="TextBox 27"/>
          <p:cNvSpPr txBox="1"/>
          <p:nvPr/>
        </p:nvSpPr>
        <p:spPr>
          <a:xfrm>
            <a:off x="5324856"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+ 10</a:t>
            </a:r>
          </a:p>
        </p:txBody>
      </p:sp>
      <p:sp>
        <p:nvSpPr>
          <p:cNvPr id="29" name="TextBox 28"/>
          <p:cNvSpPr txBox="1"/>
          <p:nvPr/>
        </p:nvSpPr>
        <p:spPr>
          <a:xfrm>
            <a:off x="5324856"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16</a:t>
            </a:r>
          </a:p>
        </p:txBody>
      </p:sp>
      <p:sp>
        <p:nvSpPr>
          <p:cNvPr id="30" name="Rectangle 2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−6 − (−18)</a:t>
            </a:r>
          </a:p>
        </p:txBody>
      </p:sp>
      <p:sp>
        <p:nvSpPr>
          <p:cNvPr id="32" name="TextBox 31"/>
          <p:cNvSpPr txBox="1"/>
          <p:nvPr/>
        </p:nvSpPr>
        <p:spPr>
          <a:xfrm>
            <a:off x="5324856"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(−18)</a:t>
            </a:r>
          </a:p>
        </p:txBody>
      </p:sp>
      <p:sp>
        <p:nvSpPr>
          <p:cNvPr id="33" name="TextBox 32"/>
          <p:cNvSpPr txBox="1"/>
          <p:nvPr/>
        </p:nvSpPr>
        <p:spPr>
          <a:xfrm>
            <a:off x="5324856"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−6 − 18</a:t>
            </a:r>
          </a:p>
        </p:txBody>
      </p:sp>
      <p:sp>
        <p:nvSpPr>
          <p:cNvPr id="34" name="TextBox 33"/>
          <p:cNvSpPr txBox="1"/>
          <p:nvPr/>
        </p:nvSpPr>
        <p:spPr>
          <a:xfrm>
            <a:off x="5324856"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−24</a:t>
            </a:r>
          </a:p>
        </p:txBody>
      </p:sp>
      <p:sp>
        <p:nvSpPr>
          <p:cNvPr id="35" name="Rectangle 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 + (−4)</a:t>
            </a:r>
          </a:p>
        </p:txBody>
      </p:sp>
      <p:sp>
        <p:nvSpPr>
          <p:cNvPr id="37" name="TextBox 36"/>
          <p:cNvSpPr txBox="1"/>
          <p:nvPr/>
        </p:nvSpPr>
        <p:spPr>
          <a:xfrm>
            <a:off x="5324856"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−7 + (−4)</a:t>
            </a:r>
          </a:p>
        </p:txBody>
      </p:sp>
      <p:sp>
        <p:nvSpPr>
          <p:cNvPr id="38" name="TextBox 37"/>
          <p:cNvSpPr txBox="1"/>
          <p:nvPr/>
        </p:nvSpPr>
        <p:spPr>
          <a:xfrm>
            <a:off x="5324856"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7 + 4</a:t>
            </a:r>
          </a:p>
        </p:txBody>
      </p:sp>
      <p:sp>
        <p:nvSpPr>
          <p:cNvPr id="39" name="TextBox 38"/>
          <p:cNvSpPr txBox="1"/>
          <p:nvPr/>
        </p:nvSpPr>
        <p:spPr>
          <a:xfrm>
            <a:off x="5324856"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11</a:t>
            </a:r>
          </a:p>
        </p:txBody>
      </p:sp>
      <p:sp>
        <p:nvSpPr>
          <p:cNvPr id="40" name="Rectangle 39"/>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42" name="Rectangle 41"/>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−4 − (−7) + (−6)</a:t>
            </a:r>
          </a:p>
        </p:txBody>
      </p:sp>
      <p:sp>
        <p:nvSpPr>
          <p:cNvPr id="44" name="TextBox 43"/>
          <p:cNvSpPr txBox="1"/>
          <p:nvPr/>
        </p:nvSpPr>
        <p:spPr>
          <a:xfrm>
            <a:off x="9945624"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(−7) + (−6)</a:t>
            </a:r>
          </a:p>
        </p:txBody>
      </p:sp>
      <p:sp>
        <p:nvSpPr>
          <p:cNvPr id="45" name="TextBox 44"/>
          <p:cNvSpPr txBox="1"/>
          <p:nvPr/>
        </p:nvSpPr>
        <p:spPr>
          <a:xfrm>
            <a:off x="9945624"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+ 7 + 6</a:t>
            </a:r>
          </a:p>
        </p:txBody>
      </p:sp>
      <p:sp>
        <p:nvSpPr>
          <p:cNvPr id="46" name="TextBox 45"/>
          <p:cNvSpPr txBox="1"/>
          <p:nvPr/>
        </p:nvSpPr>
        <p:spPr>
          <a:xfrm>
            <a:off x="9945624"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+ 6</a:t>
            </a:r>
          </a:p>
        </p:txBody>
      </p:sp>
      <p:sp>
        <p:nvSpPr>
          <p:cNvPr id="47" name="TextBox 46"/>
          <p:cNvSpPr txBox="1"/>
          <p:nvPr/>
        </p:nvSpPr>
        <p:spPr>
          <a:xfrm>
            <a:off x="9945624" y="32735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48" name="Rectangle 4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 + (−12) − (−5)</a:t>
            </a:r>
          </a:p>
        </p:txBody>
      </p:sp>
      <p:sp>
        <p:nvSpPr>
          <p:cNvPr id="50" name="TextBox 49"/>
          <p:cNvSpPr txBox="1"/>
          <p:nvPr/>
        </p:nvSpPr>
        <p:spPr>
          <a:xfrm>
            <a:off x="9945624"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8 + (−12) − (−5)</a:t>
            </a:r>
          </a:p>
        </p:txBody>
      </p:sp>
      <p:sp>
        <p:nvSpPr>
          <p:cNvPr id="51" name="TextBox 50"/>
          <p:cNvSpPr txBox="1"/>
          <p:nvPr/>
        </p:nvSpPr>
        <p:spPr>
          <a:xfrm>
            <a:off x="9945624"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8 − 12 − 5</a:t>
            </a:r>
          </a:p>
        </p:txBody>
      </p:sp>
      <p:sp>
        <p:nvSpPr>
          <p:cNvPr id="52" name="TextBox 51"/>
          <p:cNvSpPr txBox="1"/>
          <p:nvPr/>
        </p:nvSpPr>
        <p:spPr>
          <a:xfrm>
            <a:off x="9945624"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−4 − 5</a:t>
            </a:r>
          </a:p>
        </p:txBody>
      </p:sp>
      <p:sp>
        <p:nvSpPr>
          <p:cNvPr id="53" name="TextBox 52"/>
          <p:cNvSpPr txBox="1"/>
          <p:nvPr/>
        </p:nvSpPr>
        <p:spPr>
          <a:xfrm>
            <a:off x="9945624" y="527608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54" name="Rectangle 53"/>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−9 − 6 + 18</a:t>
            </a:r>
          </a:p>
        </p:txBody>
      </p:sp>
      <p:sp>
        <p:nvSpPr>
          <p:cNvPr id="56" name="TextBox 55"/>
          <p:cNvSpPr txBox="1"/>
          <p:nvPr/>
        </p:nvSpPr>
        <p:spPr>
          <a:xfrm>
            <a:off x="9945624"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−9 − 6 + 18</a:t>
            </a:r>
          </a:p>
        </p:txBody>
      </p:sp>
      <p:sp>
        <p:nvSpPr>
          <p:cNvPr id="57" name="TextBox 56"/>
          <p:cNvSpPr txBox="1"/>
          <p:nvPr/>
        </p:nvSpPr>
        <p:spPr>
          <a:xfrm>
            <a:off x="9945624"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+ 18</a:t>
            </a:r>
          </a:p>
        </p:txBody>
      </p:sp>
      <p:sp>
        <p:nvSpPr>
          <p:cNvPr id="58" name="TextBox 57"/>
          <p:cNvSpPr txBox="1"/>
          <p:nvPr/>
        </p:nvSpPr>
        <p:spPr>
          <a:xfrm>
            <a:off x="9945624"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−3 + 8</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5 −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+ 7 − (−3)</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2 − 7</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7 + (−9)</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+ 4</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−4 + (−6)</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(−3) + 10</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−2 − 5</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(−3)</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− 13</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+ 9</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−5 − (−5)</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(−4) + 1</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4 − 10</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0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3 + (−8) − (−5)</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−4 − 6</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(−4)</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−6 + 9 + (−4)</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+ 11</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(−7)</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(−6) + (−10)</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6 − 15</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0 − (−9)</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7 − 10 −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+ 10</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(−8)</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+ 3</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−3 − (−8)</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+ 5 −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 + 3</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−8 + 12</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10 − 14 + (−2)</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−5 − 4</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8 − (−5)</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(−3)</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−10 + 6</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(−4)</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−2 − (−8)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6 + (−11)</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(−6) − (−4)</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7 − 16</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−4 − (−10)</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(−3)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−11 + 8 − 2</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0 − (−6)</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 + 8</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11 − 18</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(−8)</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(−5) + (−12)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−6 − 8</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(−13)</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(−9) + (−3)</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(−12)</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5 − 13 − (−2)</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−15 + 15</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12 − (−3)</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(−11) − 4</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8 − 13</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(−9)</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+ 6 − (−7)</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Solve all four.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M10-IA</a:t>
            </a:r>
          </a:p>
        </p:txBody>
      </p:sp>
      <p:sp>
        <p:nvSpPr>
          <p:cNvPr id="7" name="Rectangle 6"/>
          <p:cNvSpPr/>
          <p:nvPr/>
        </p:nvSpPr>
        <p:spPr>
          <a:xfrm>
            <a:off x="384048" y="149961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73936"/>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1.  x + 6 = 23</a:t>
            </a:r>
          </a:p>
        </p:txBody>
      </p:sp>
      <p:sp>
        <p:nvSpPr>
          <p:cNvPr id="9" name="Rectangle 8"/>
          <p:cNvSpPr/>
          <p:nvPr/>
        </p:nvSpPr>
        <p:spPr>
          <a:xfrm>
            <a:off x="7370064" y="149961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52944" y="1773936"/>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2.  5x = 35</a:t>
            </a:r>
          </a:p>
        </p:txBody>
      </p:sp>
      <p:sp>
        <p:nvSpPr>
          <p:cNvPr id="11" name="Rectangle 10"/>
          <p:cNvSpPr/>
          <p:nvPr/>
        </p:nvSpPr>
        <p:spPr>
          <a:xfrm>
            <a:off x="384048" y="451713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4791455"/>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3.  3x − 4 = 23</a:t>
            </a:r>
          </a:p>
        </p:txBody>
      </p:sp>
      <p:sp>
        <p:nvSpPr>
          <p:cNvPr id="13" name="Rectangle 12"/>
          <p:cNvSpPr/>
          <p:nvPr/>
        </p:nvSpPr>
        <p:spPr>
          <a:xfrm>
            <a:off x="7370064" y="451713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52944" y="4791455"/>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4.  2(x + 3) = x + 14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Technique recap • Simplify first, then keep both sides equal.</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M10-RECAP</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Keep the balance</a:t>
            </a:r>
          </a:p>
        </p:txBody>
      </p:sp>
      <p:cxnSp>
        <p:nvCxnSpPr>
          <p:cNvPr id="15" name="Connector 14"/>
          <p:cNvCxnSpPr/>
          <p:nvPr/>
        </p:nvCxnSpPr>
        <p:spPr>
          <a:xfrm>
            <a:off x="2633472" y="2377440"/>
            <a:ext cx="0" cy="11155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377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+ 7</a:t>
            </a:r>
          </a:p>
        </p:txBody>
      </p:sp>
      <p:sp>
        <p:nvSpPr>
          <p:cNvPr id="17" name="TextBox 16"/>
          <p:cNvSpPr txBox="1"/>
          <p:nvPr/>
        </p:nvSpPr>
        <p:spPr>
          <a:xfrm>
            <a:off x="280720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19</a:t>
            </a:r>
          </a:p>
        </p:txBody>
      </p:sp>
      <p:sp>
        <p:nvSpPr>
          <p:cNvPr id="18" name="Rectangle 17"/>
          <p:cNvSpPr/>
          <p:nvPr/>
        </p:nvSpPr>
        <p:spPr>
          <a:xfrm>
            <a:off x="252374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2374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20" name="TextBox 19"/>
          <p:cNvSpPr txBox="1"/>
          <p:nvPr/>
        </p:nvSpPr>
        <p:spPr>
          <a:xfrm>
            <a:off x="493776" y="272491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− 7</a:t>
            </a:r>
          </a:p>
        </p:txBody>
      </p:sp>
      <p:sp>
        <p:nvSpPr>
          <p:cNvPr id="21" name="TextBox 20"/>
          <p:cNvSpPr txBox="1"/>
          <p:nvPr/>
        </p:nvSpPr>
        <p:spPr>
          <a:xfrm>
            <a:off x="2807208" y="272491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− 7</a:t>
            </a:r>
          </a:p>
        </p:txBody>
      </p:sp>
      <p:sp>
        <p:nvSpPr>
          <p:cNvPr id="22" name="TextBox 21"/>
          <p:cNvSpPr txBox="1"/>
          <p:nvPr/>
        </p:nvSpPr>
        <p:spPr>
          <a:xfrm>
            <a:off x="493776" y="309067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23" name="TextBox 22"/>
          <p:cNvSpPr txBox="1"/>
          <p:nvPr/>
        </p:nvSpPr>
        <p:spPr>
          <a:xfrm>
            <a:off x="2807208" y="309067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12</a:t>
            </a:r>
          </a:p>
        </p:txBody>
      </p:sp>
      <p:sp>
        <p:nvSpPr>
          <p:cNvPr id="24" name="Rectangle 23"/>
          <p:cNvSpPr/>
          <p:nvPr/>
        </p:nvSpPr>
        <p:spPr>
          <a:xfrm>
            <a:off x="2523744" y="30906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23744" y="309067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26" name="TextBox 25"/>
          <p:cNvSpPr txBox="1"/>
          <p:nvPr/>
        </p:nvSpPr>
        <p:spPr>
          <a:xfrm>
            <a:off x="45720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Do the same operation to both whole sides.</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Undo addition/subtraction before a remaining multiplication or division.</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A negative divided by a positive is negative: −12 ÷ 3 = −4.</a:t>
            </a:r>
          </a:p>
        </p:txBody>
      </p:sp>
      <p:sp>
        <p:nvSpPr>
          <p:cNvPr id="27" name="Rectangle 26"/>
          <p:cNvSpPr/>
          <p:nvPr/>
        </p:nvSpPr>
        <p:spPr>
          <a:xfrm>
            <a:off x="498348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9320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Simplify or factorise</a:t>
            </a:r>
          </a:p>
        </p:txBody>
      </p:sp>
      <p:cxnSp>
        <p:nvCxnSpPr>
          <p:cNvPr id="29" name="Connector 28"/>
          <p:cNvCxnSpPr/>
          <p:nvPr/>
        </p:nvCxnSpPr>
        <p:spPr>
          <a:xfrm>
            <a:off x="7296912" y="2377440"/>
            <a:ext cx="0" cy="22128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15721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6x + 12</a:t>
            </a:r>
          </a:p>
        </p:txBody>
      </p:sp>
      <p:sp>
        <p:nvSpPr>
          <p:cNvPr id="31" name="TextBox 30"/>
          <p:cNvSpPr txBox="1"/>
          <p:nvPr/>
        </p:nvSpPr>
        <p:spPr>
          <a:xfrm>
            <a:off x="747064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30</a:t>
            </a:r>
          </a:p>
        </p:txBody>
      </p:sp>
      <p:sp>
        <p:nvSpPr>
          <p:cNvPr id="32" name="Rectangle 31"/>
          <p:cNvSpPr/>
          <p:nvPr/>
        </p:nvSpPr>
        <p:spPr>
          <a:xfrm>
            <a:off x="718718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8718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34" name="TextBox 33"/>
          <p:cNvSpPr txBox="1"/>
          <p:nvPr/>
        </p:nvSpPr>
        <p:spPr>
          <a:xfrm>
            <a:off x="5157216" y="272491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6(x + 2)</a:t>
            </a:r>
          </a:p>
        </p:txBody>
      </p:sp>
      <p:sp>
        <p:nvSpPr>
          <p:cNvPr id="35" name="TextBox 34"/>
          <p:cNvSpPr txBox="1"/>
          <p:nvPr/>
        </p:nvSpPr>
        <p:spPr>
          <a:xfrm>
            <a:off x="7470648" y="272491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30</a:t>
            </a:r>
          </a:p>
        </p:txBody>
      </p:sp>
      <p:sp>
        <p:nvSpPr>
          <p:cNvPr id="36" name="Rectangle 35"/>
          <p:cNvSpPr/>
          <p:nvPr/>
        </p:nvSpPr>
        <p:spPr>
          <a:xfrm>
            <a:off x="7187184" y="272491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87184" y="272491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38" name="TextBox 37"/>
          <p:cNvSpPr txBox="1"/>
          <p:nvPr/>
        </p:nvSpPr>
        <p:spPr>
          <a:xfrm>
            <a:off x="5157216" y="309067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6</a:t>
            </a:r>
          </a:p>
        </p:txBody>
      </p:sp>
      <p:sp>
        <p:nvSpPr>
          <p:cNvPr id="39" name="TextBox 38"/>
          <p:cNvSpPr txBox="1"/>
          <p:nvPr/>
        </p:nvSpPr>
        <p:spPr>
          <a:xfrm>
            <a:off x="7470648" y="309067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6</a:t>
            </a:r>
          </a:p>
        </p:txBody>
      </p:sp>
      <p:sp>
        <p:nvSpPr>
          <p:cNvPr id="40" name="TextBox 39"/>
          <p:cNvSpPr txBox="1"/>
          <p:nvPr/>
        </p:nvSpPr>
        <p:spPr>
          <a:xfrm>
            <a:off x="5157216" y="345643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+ 2</a:t>
            </a:r>
          </a:p>
        </p:txBody>
      </p:sp>
      <p:sp>
        <p:nvSpPr>
          <p:cNvPr id="41" name="TextBox 40"/>
          <p:cNvSpPr txBox="1"/>
          <p:nvPr/>
        </p:nvSpPr>
        <p:spPr>
          <a:xfrm>
            <a:off x="7470648" y="345643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5</a:t>
            </a:r>
          </a:p>
        </p:txBody>
      </p:sp>
      <p:sp>
        <p:nvSpPr>
          <p:cNvPr id="42" name="Rectangle 41"/>
          <p:cNvSpPr/>
          <p:nvPr/>
        </p:nvSpPr>
        <p:spPr>
          <a:xfrm>
            <a:off x="7187184" y="345643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87184" y="345643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44" name="TextBox 43"/>
          <p:cNvSpPr txBox="1"/>
          <p:nvPr/>
        </p:nvSpPr>
        <p:spPr>
          <a:xfrm>
            <a:off x="5157216" y="3822191"/>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− 2</a:t>
            </a:r>
          </a:p>
        </p:txBody>
      </p:sp>
      <p:sp>
        <p:nvSpPr>
          <p:cNvPr id="45" name="TextBox 44"/>
          <p:cNvSpPr txBox="1"/>
          <p:nvPr/>
        </p:nvSpPr>
        <p:spPr>
          <a:xfrm>
            <a:off x="7470648" y="3822191"/>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− 2</a:t>
            </a:r>
          </a:p>
        </p:txBody>
      </p:sp>
      <p:sp>
        <p:nvSpPr>
          <p:cNvPr id="46" name="TextBox 45"/>
          <p:cNvSpPr txBox="1"/>
          <p:nvPr/>
        </p:nvSpPr>
        <p:spPr>
          <a:xfrm>
            <a:off x="5157216" y="41879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47" name="TextBox 46"/>
          <p:cNvSpPr txBox="1"/>
          <p:nvPr/>
        </p:nvSpPr>
        <p:spPr>
          <a:xfrm>
            <a:off x="7470648" y="41879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a:t>
            </a:r>
          </a:p>
        </p:txBody>
      </p:sp>
      <p:sp>
        <p:nvSpPr>
          <p:cNvPr id="48" name="Rectangle 47"/>
          <p:cNvSpPr/>
          <p:nvPr/>
        </p:nvSpPr>
        <p:spPr>
          <a:xfrm>
            <a:off x="7187184" y="41879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87184" y="41879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50" name="TextBox 49"/>
          <p:cNvSpPr txBox="1"/>
          <p:nvPr/>
        </p:nvSpPr>
        <p:spPr>
          <a:xfrm>
            <a:off x="512064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Collect like terms: 2x + 3x = 5x.</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A common factor belongs to every term: 6x + 12 = 6(x + 2).</a:t>
            </a:r>
          </a:p>
        </p:txBody>
      </p:sp>
      <p:sp>
        <p:nvSpPr>
          <p:cNvPr id="51" name="Rectangle 50"/>
          <p:cNvSpPr/>
          <p:nvPr/>
        </p:nvSpPr>
        <p:spPr>
          <a:xfrm>
            <a:off x="964692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5664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Choose a short first step</a:t>
            </a:r>
          </a:p>
        </p:txBody>
      </p:sp>
      <p:cxnSp>
        <p:nvCxnSpPr>
          <p:cNvPr id="53" name="Connector 52"/>
          <p:cNvCxnSpPr/>
          <p:nvPr/>
        </p:nvCxnSpPr>
        <p:spPr>
          <a:xfrm>
            <a:off x="11960352" y="2377440"/>
            <a:ext cx="0" cy="184708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82065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3(x + 4)</a:t>
            </a:r>
          </a:p>
        </p:txBody>
      </p:sp>
      <p:sp>
        <p:nvSpPr>
          <p:cNvPr id="55" name="TextBox 54"/>
          <p:cNvSpPr txBox="1"/>
          <p:nvPr/>
        </p:nvSpPr>
        <p:spPr>
          <a:xfrm>
            <a:off x="1213408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27</a:t>
            </a:r>
          </a:p>
        </p:txBody>
      </p:sp>
      <p:sp>
        <p:nvSpPr>
          <p:cNvPr id="56" name="Rectangle 55"/>
          <p:cNvSpPr/>
          <p:nvPr/>
        </p:nvSpPr>
        <p:spPr>
          <a:xfrm>
            <a:off x="1185062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85062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58" name="TextBox 57"/>
          <p:cNvSpPr txBox="1"/>
          <p:nvPr/>
        </p:nvSpPr>
        <p:spPr>
          <a:xfrm>
            <a:off x="9820656" y="272491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3</a:t>
            </a:r>
          </a:p>
        </p:txBody>
      </p:sp>
      <p:sp>
        <p:nvSpPr>
          <p:cNvPr id="59" name="TextBox 58"/>
          <p:cNvSpPr txBox="1"/>
          <p:nvPr/>
        </p:nvSpPr>
        <p:spPr>
          <a:xfrm>
            <a:off x="12134088" y="272491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3</a:t>
            </a:r>
          </a:p>
        </p:txBody>
      </p:sp>
      <p:sp>
        <p:nvSpPr>
          <p:cNvPr id="60" name="TextBox 59"/>
          <p:cNvSpPr txBox="1"/>
          <p:nvPr/>
        </p:nvSpPr>
        <p:spPr>
          <a:xfrm>
            <a:off x="9820656" y="309067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+ 4</a:t>
            </a:r>
          </a:p>
        </p:txBody>
      </p:sp>
      <p:sp>
        <p:nvSpPr>
          <p:cNvPr id="61" name="TextBox 60"/>
          <p:cNvSpPr txBox="1"/>
          <p:nvPr/>
        </p:nvSpPr>
        <p:spPr>
          <a:xfrm>
            <a:off x="12134088" y="309067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9</a:t>
            </a:r>
          </a:p>
        </p:txBody>
      </p:sp>
      <p:sp>
        <p:nvSpPr>
          <p:cNvPr id="62" name="Rectangle 61"/>
          <p:cNvSpPr/>
          <p:nvPr/>
        </p:nvSpPr>
        <p:spPr>
          <a:xfrm>
            <a:off x="11850624" y="30906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850624" y="309067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64" name="TextBox 63"/>
          <p:cNvSpPr txBox="1"/>
          <p:nvPr/>
        </p:nvSpPr>
        <p:spPr>
          <a:xfrm>
            <a:off x="9820656" y="345643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− 4</a:t>
            </a:r>
          </a:p>
        </p:txBody>
      </p:sp>
      <p:sp>
        <p:nvSpPr>
          <p:cNvPr id="65" name="TextBox 64"/>
          <p:cNvSpPr txBox="1"/>
          <p:nvPr/>
        </p:nvSpPr>
        <p:spPr>
          <a:xfrm>
            <a:off x="12134088" y="345643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− 4</a:t>
            </a:r>
          </a:p>
        </p:txBody>
      </p:sp>
      <p:sp>
        <p:nvSpPr>
          <p:cNvPr id="66" name="TextBox 65"/>
          <p:cNvSpPr txBox="1"/>
          <p:nvPr/>
        </p:nvSpPr>
        <p:spPr>
          <a:xfrm>
            <a:off x="9820656" y="3822191"/>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67" name="TextBox 66"/>
          <p:cNvSpPr txBox="1"/>
          <p:nvPr/>
        </p:nvSpPr>
        <p:spPr>
          <a:xfrm>
            <a:off x="12134088" y="3822191"/>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5</a:t>
            </a:r>
          </a:p>
        </p:txBody>
      </p:sp>
      <p:sp>
        <p:nvSpPr>
          <p:cNvPr id="68" name="Rectangle 67"/>
          <p:cNvSpPr/>
          <p:nvPr/>
        </p:nvSpPr>
        <p:spPr>
          <a:xfrm>
            <a:off x="11850624" y="3822191"/>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850624" y="3822191"/>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70" name="TextBox 69"/>
          <p:cNvSpPr txBox="1"/>
          <p:nvPr/>
        </p:nvSpPr>
        <p:spPr>
          <a:xfrm>
            <a:off x="978408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Here, divide by 3 before expanding.</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With x on both sides, subtract the smaller x-term first when convenient.</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If expanding is needed, multiply every bracket term. Check in the original equation.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the working down each side of the line.</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M10-S01</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x − 7 = 5</a:t>
            </a:r>
          </a:p>
        </p:txBody>
      </p:sp>
      <p:cxnSp>
        <p:nvCxnSpPr>
          <p:cNvPr id="15" name="Connector 14"/>
          <p:cNvCxnSpPr/>
          <p:nvPr/>
        </p:nvCxnSpPr>
        <p:spPr>
          <a:xfrm>
            <a:off x="2624328" y="2487168"/>
            <a:ext cx="0" cy="1225296"/>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6634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 − 7</a:t>
            </a:r>
          </a:p>
        </p:txBody>
      </p:sp>
      <p:sp>
        <p:nvSpPr>
          <p:cNvPr id="17" name="TextBox 16"/>
          <p:cNvSpPr txBox="1"/>
          <p:nvPr/>
        </p:nvSpPr>
        <p:spPr>
          <a:xfrm>
            <a:off x="279806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5</a:t>
            </a:r>
          </a:p>
        </p:txBody>
      </p:sp>
      <p:sp>
        <p:nvSpPr>
          <p:cNvPr id="18" name="Rectangle 17"/>
          <p:cNvSpPr/>
          <p:nvPr/>
        </p:nvSpPr>
        <p:spPr>
          <a:xfrm>
            <a:off x="251460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20" name="TextBox 19"/>
          <p:cNvSpPr txBox="1"/>
          <p:nvPr/>
        </p:nvSpPr>
        <p:spPr>
          <a:xfrm>
            <a:off x="466344" y="287121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+ 7</a:t>
            </a:r>
          </a:p>
        </p:txBody>
      </p:sp>
      <p:sp>
        <p:nvSpPr>
          <p:cNvPr id="21" name="TextBox 20"/>
          <p:cNvSpPr txBox="1"/>
          <p:nvPr/>
        </p:nvSpPr>
        <p:spPr>
          <a:xfrm>
            <a:off x="2798064" y="287121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+ 7</a:t>
            </a:r>
          </a:p>
        </p:txBody>
      </p:sp>
      <p:sp>
        <p:nvSpPr>
          <p:cNvPr id="22" name="TextBox 21"/>
          <p:cNvSpPr txBox="1"/>
          <p:nvPr/>
        </p:nvSpPr>
        <p:spPr>
          <a:xfrm>
            <a:off x="466344" y="327355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23" name="TextBox 22"/>
          <p:cNvSpPr txBox="1"/>
          <p:nvPr/>
        </p:nvSpPr>
        <p:spPr>
          <a:xfrm>
            <a:off x="2798064" y="327355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12</a:t>
            </a:r>
          </a:p>
        </p:txBody>
      </p:sp>
      <p:sp>
        <p:nvSpPr>
          <p:cNvPr id="24" name="Rectangle 23"/>
          <p:cNvSpPr/>
          <p:nvPr/>
        </p:nvSpPr>
        <p:spPr>
          <a:xfrm>
            <a:off x="2514600" y="3273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14600" y="327355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26" name="TextBox 25"/>
          <p:cNvSpPr txBox="1"/>
          <p:nvPr/>
        </p:nvSpPr>
        <p:spPr>
          <a:xfrm>
            <a:off x="42976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12, left side = 5 and right side = 5.</a:t>
            </a:r>
          </a:p>
        </p:txBody>
      </p:sp>
      <p:sp>
        <p:nvSpPr>
          <p:cNvPr id="27" name="Rectangle 26"/>
          <p:cNvSpPr/>
          <p:nvPr/>
        </p:nvSpPr>
        <p:spPr>
          <a:xfrm>
            <a:off x="498348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9320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4x + 3 = 31</a:t>
            </a:r>
          </a:p>
        </p:txBody>
      </p:sp>
      <p:cxnSp>
        <p:nvCxnSpPr>
          <p:cNvPr id="29" name="Connector 28"/>
          <p:cNvCxnSpPr/>
          <p:nvPr/>
        </p:nvCxnSpPr>
        <p:spPr>
          <a:xfrm>
            <a:off x="7287768" y="2487168"/>
            <a:ext cx="0" cy="20299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12978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4x + 3</a:t>
            </a:r>
          </a:p>
        </p:txBody>
      </p:sp>
      <p:sp>
        <p:nvSpPr>
          <p:cNvPr id="31" name="TextBox 30"/>
          <p:cNvSpPr txBox="1"/>
          <p:nvPr/>
        </p:nvSpPr>
        <p:spPr>
          <a:xfrm>
            <a:off x="746150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31</a:t>
            </a:r>
          </a:p>
        </p:txBody>
      </p:sp>
      <p:sp>
        <p:nvSpPr>
          <p:cNvPr id="32" name="Rectangle 31"/>
          <p:cNvSpPr/>
          <p:nvPr/>
        </p:nvSpPr>
        <p:spPr>
          <a:xfrm>
            <a:off x="717804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7804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34" name="TextBox 33"/>
          <p:cNvSpPr txBox="1"/>
          <p:nvPr/>
        </p:nvSpPr>
        <p:spPr>
          <a:xfrm>
            <a:off x="5129784" y="287121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− 3</a:t>
            </a:r>
          </a:p>
        </p:txBody>
      </p:sp>
      <p:sp>
        <p:nvSpPr>
          <p:cNvPr id="35" name="TextBox 34"/>
          <p:cNvSpPr txBox="1"/>
          <p:nvPr/>
        </p:nvSpPr>
        <p:spPr>
          <a:xfrm>
            <a:off x="7461504" y="287121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− 3</a:t>
            </a:r>
          </a:p>
        </p:txBody>
      </p:sp>
      <p:sp>
        <p:nvSpPr>
          <p:cNvPr id="36" name="TextBox 35"/>
          <p:cNvSpPr txBox="1"/>
          <p:nvPr/>
        </p:nvSpPr>
        <p:spPr>
          <a:xfrm>
            <a:off x="5129784" y="327355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4x</a:t>
            </a:r>
          </a:p>
        </p:txBody>
      </p:sp>
      <p:sp>
        <p:nvSpPr>
          <p:cNvPr id="37" name="TextBox 36"/>
          <p:cNvSpPr txBox="1"/>
          <p:nvPr/>
        </p:nvSpPr>
        <p:spPr>
          <a:xfrm>
            <a:off x="7461504" y="327355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28</a:t>
            </a:r>
          </a:p>
        </p:txBody>
      </p:sp>
      <p:sp>
        <p:nvSpPr>
          <p:cNvPr id="38" name="Rectangle 37"/>
          <p:cNvSpPr/>
          <p:nvPr/>
        </p:nvSpPr>
        <p:spPr>
          <a:xfrm>
            <a:off x="7178040" y="3273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78040" y="327355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40" name="TextBox 39"/>
          <p:cNvSpPr txBox="1"/>
          <p:nvPr/>
        </p:nvSpPr>
        <p:spPr>
          <a:xfrm>
            <a:off x="5129784" y="3675888"/>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4</a:t>
            </a:r>
          </a:p>
        </p:txBody>
      </p:sp>
      <p:sp>
        <p:nvSpPr>
          <p:cNvPr id="41" name="TextBox 40"/>
          <p:cNvSpPr txBox="1"/>
          <p:nvPr/>
        </p:nvSpPr>
        <p:spPr>
          <a:xfrm>
            <a:off x="7461504" y="3675888"/>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4</a:t>
            </a:r>
          </a:p>
        </p:txBody>
      </p:sp>
      <p:sp>
        <p:nvSpPr>
          <p:cNvPr id="42" name="TextBox 41"/>
          <p:cNvSpPr txBox="1"/>
          <p:nvPr/>
        </p:nvSpPr>
        <p:spPr>
          <a:xfrm>
            <a:off x="5129784" y="4078224"/>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43" name="TextBox 42"/>
          <p:cNvSpPr txBox="1"/>
          <p:nvPr/>
        </p:nvSpPr>
        <p:spPr>
          <a:xfrm>
            <a:off x="7461504" y="4078224"/>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7</a:t>
            </a:r>
          </a:p>
        </p:txBody>
      </p:sp>
      <p:sp>
        <p:nvSpPr>
          <p:cNvPr id="44" name="Rectangle 43"/>
          <p:cNvSpPr/>
          <p:nvPr/>
        </p:nvSpPr>
        <p:spPr>
          <a:xfrm>
            <a:off x="7178040" y="4078224"/>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78040" y="4078224"/>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46" name="TextBox 45"/>
          <p:cNvSpPr txBox="1"/>
          <p:nvPr/>
        </p:nvSpPr>
        <p:spPr>
          <a:xfrm>
            <a:off x="509320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7, left side = 31 and right side = 31.</a:t>
            </a:r>
          </a:p>
        </p:txBody>
      </p:sp>
      <p:sp>
        <p:nvSpPr>
          <p:cNvPr id="47" name="Rectangle 46"/>
          <p:cNvSpPr/>
          <p:nvPr/>
        </p:nvSpPr>
        <p:spPr>
          <a:xfrm>
            <a:off x="964692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5664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3(x + 2) = x + 24</a:t>
            </a:r>
          </a:p>
        </p:txBody>
      </p:sp>
      <p:cxnSp>
        <p:nvCxnSpPr>
          <p:cNvPr id="49" name="Connector 48"/>
          <p:cNvCxnSpPr/>
          <p:nvPr/>
        </p:nvCxnSpPr>
        <p:spPr>
          <a:xfrm>
            <a:off x="11951208" y="2487168"/>
            <a:ext cx="0" cy="3236976"/>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79322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3(x + 2)</a:t>
            </a:r>
          </a:p>
        </p:txBody>
      </p:sp>
      <p:sp>
        <p:nvSpPr>
          <p:cNvPr id="51" name="TextBox 50"/>
          <p:cNvSpPr txBox="1"/>
          <p:nvPr/>
        </p:nvSpPr>
        <p:spPr>
          <a:xfrm>
            <a:off x="1212494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x + 24</a:t>
            </a:r>
          </a:p>
        </p:txBody>
      </p:sp>
      <p:sp>
        <p:nvSpPr>
          <p:cNvPr id="52" name="Rectangle 51"/>
          <p:cNvSpPr/>
          <p:nvPr/>
        </p:nvSpPr>
        <p:spPr>
          <a:xfrm>
            <a:off x="1184148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84148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54" name="TextBox 53"/>
          <p:cNvSpPr txBox="1"/>
          <p:nvPr/>
        </p:nvSpPr>
        <p:spPr>
          <a:xfrm>
            <a:off x="9793224" y="2871216"/>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3x + 6</a:t>
            </a:r>
          </a:p>
        </p:txBody>
      </p:sp>
      <p:sp>
        <p:nvSpPr>
          <p:cNvPr id="55" name="TextBox 54"/>
          <p:cNvSpPr txBox="1"/>
          <p:nvPr/>
        </p:nvSpPr>
        <p:spPr>
          <a:xfrm>
            <a:off x="12124944" y="2871216"/>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x + 24</a:t>
            </a:r>
          </a:p>
        </p:txBody>
      </p:sp>
      <p:sp>
        <p:nvSpPr>
          <p:cNvPr id="56" name="Rectangle 55"/>
          <p:cNvSpPr/>
          <p:nvPr/>
        </p:nvSpPr>
        <p:spPr>
          <a:xfrm>
            <a:off x="11841480" y="28712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841480" y="2871216"/>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58" name="TextBox 57"/>
          <p:cNvSpPr txBox="1"/>
          <p:nvPr/>
        </p:nvSpPr>
        <p:spPr>
          <a:xfrm>
            <a:off x="9793224" y="3273552"/>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x</a:t>
            </a:r>
          </a:p>
        </p:txBody>
      </p:sp>
      <p:sp>
        <p:nvSpPr>
          <p:cNvPr id="59" name="TextBox 58"/>
          <p:cNvSpPr txBox="1"/>
          <p:nvPr/>
        </p:nvSpPr>
        <p:spPr>
          <a:xfrm>
            <a:off x="12124944" y="3273552"/>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x</a:t>
            </a:r>
          </a:p>
        </p:txBody>
      </p:sp>
      <p:sp>
        <p:nvSpPr>
          <p:cNvPr id="60" name="TextBox 59"/>
          <p:cNvSpPr txBox="1"/>
          <p:nvPr/>
        </p:nvSpPr>
        <p:spPr>
          <a:xfrm>
            <a:off x="9793224" y="3675888"/>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2x + 6</a:t>
            </a:r>
          </a:p>
        </p:txBody>
      </p:sp>
      <p:sp>
        <p:nvSpPr>
          <p:cNvPr id="61" name="TextBox 60"/>
          <p:cNvSpPr txBox="1"/>
          <p:nvPr/>
        </p:nvSpPr>
        <p:spPr>
          <a:xfrm>
            <a:off x="12124944" y="3675888"/>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24</a:t>
            </a:r>
          </a:p>
        </p:txBody>
      </p:sp>
      <p:sp>
        <p:nvSpPr>
          <p:cNvPr id="62" name="Rectangle 61"/>
          <p:cNvSpPr/>
          <p:nvPr/>
        </p:nvSpPr>
        <p:spPr>
          <a:xfrm>
            <a:off x="11841480" y="3675888"/>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841480" y="3675888"/>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64" name="TextBox 63"/>
          <p:cNvSpPr txBox="1"/>
          <p:nvPr/>
        </p:nvSpPr>
        <p:spPr>
          <a:xfrm>
            <a:off x="9793224" y="4078224"/>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− 6</a:t>
            </a:r>
          </a:p>
        </p:txBody>
      </p:sp>
      <p:sp>
        <p:nvSpPr>
          <p:cNvPr id="65" name="TextBox 64"/>
          <p:cNvSpPr txBox="1"/>
          <p:nvPr/>
        </p:nvSpPr>
        <p:spPr>
          <a:xfrm>
            <a:off x="12124944" y="4078224"/>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− 6</a:t>
            </a:r>
          </a:p>
        </p:txBody>
      </p:sp>
      <p:sp>
        <p:nvSpPr>
          <p:cNvPr id="66" name="TextBox 65"/>
          <p:cNvSpPr txBox="1"/>
          <p:nvPr/>
        </p:nvSpPr>
        <p:spPr>
          <a:xfrm>
            <a:off x="9793224" y="448056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2x</a:t>
            </a:r>
          </a:p>
        </p:txBody>
      </p:sp>
      <p:sp>
        <p:nvSpPr>
          <p:cNvPr id="67" name="TextBox 66"/>
          <p:cNvSpPr txBox="1"/>
          <p:nvPr/>
        </p:nvSpPr>
        <p:spPr>
          <a:xfrm>
            <a:off x="12124944" y="448056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18</a:t>
            </a:r>
          </a:p>
        </p:txBody>
      </p:sp>
      <p:sp>
        <p:nvSpPr>
          <p:cNvPr id="68" name="Rectangle 67"/>
          <p:cNvSpPr/>
          <p:nvPr/>
        </p:nvSpPr>
        <p:spPr>
          <a:xfrm>
            <a:off x="11841480" y="448056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841480" y="448056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70" name="TextBox 69"/>
          <p:cNvSpPr txBox="1"/>
          <p:nvPr/>
        </p:nvSpPr>
        <p:spPr>
          <a:xfrm>
            <a:off x="9793224" y="488289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2</a:t>
            </a:r>
          </a:p>
        </p:txBody>
      </p:sp>
      <p:sp>
        <p:nvSpPr>
          <p:cNvPr id="71" name="TextBox 70"/>
          <p:cNvSpPr txBox="1"/>
          <p:nvPr/>
        </p:nvSpPr>
        <p:spPr>
          <a:xfrm>
            <a:off x="12124944" y="488289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2</a:t>
            </a:r>
          </a:p>
        </p:txBody>
      </p:sp>
      <p:sp>
        <p:nvSpPr>
          <p:cNvPr id="72" name="TextBox 71"/>
          <p:cNvSpPr txBox="1"/>
          <p:nvPr/>
        </p:nvSpPr>
        <p:spPr>
          <a:xfrm>
            <a:off x="9793224" y="528523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73" name="TextBox 72"/>
          <p:cNvSpPr txBox="1"/>
          <p:nvPr/>
        </p:nvSpPr>
        <p:spPr>
          <a:xfrm>
            <a:off x="12124944" y="528523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9</a:t>
            </a:r>
          </a:p>
        </p:txBody>
      </p:sp>
      <p:sp>
        <p:nvSpPr>
          <p:cNvPr id="74" name="Rectangle 73"/>
          <p:cNvSpPr/>
          <p:nvPr/>
        </p:nvSpPr>
        <p:spPr>
          <a:xfrm>
            <a:off x="11841480" y="528523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1841480" y="528523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76" name="TextBox 75"/>
          <p:cNvSpPr txBox="1"/>
          <p:nvPr/>
        </p:nvSpPr>
        <p:spPr>
          <a:xfrm>
            <a:off x="975664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9, left side = 33 and right side = 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Copy the centre line and show each operation.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5943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81912" cy="4114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Equation</a:t>
            </a:r>
          </a:p>
        </p:txBody>
      </p:sp>
      <p:sp>
        <p:nvSpPr>
          <p:cNvPr id="15" name="Rectangle 14"/>
          <p:cNvSpPr/>
          <p:nvPr/>
        </p:nvSpPr>
        <p:spPr>
          <a:xfrm>
            <a:off x="2121408"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12848"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x − 8 = 15</a:t>
            </a:r>
          </a:p>
        </p:txBody>
      </p:sp>
      <p:sp>
        <p:nvSpPr>
          <p:cNvPr id="17" name="Rectangle 16"/>
          <p:cNvSpPr/>
          <p:nvPr/>
        </p:nvSpPr>
        <p:spPr>
          <a:xfrm>
            <a:off x="6184392"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5832"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5x + 7 = 37</a:t>
            </a:r>
          </a:p>
        </p:txBody>
      </p:sp>
      <p:sp>
        <p:nvSpPr>
          <p:cNvPr id="19" name="Rectangle 18"/>
          <p:cNvSpPr/>
          <p:nvPr/>
        </p:nvSpPr>
        <p:spPr>
          <a:xfrm>
            <a:off x="10247376"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8816"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3(x + 4) = x + 20</a:t>
            </a:r>
          </a:p>
        </p:txBody>
      </p:sp>
      <p:sp>
        <p:nvSpPr>
          <p:cNvPr id="21" name="Rectangle 20"/>
          <p:cNvSpPr/>
          <p:nvPr/>
        </p:nvSpPr>
        <p:spPr>
          <a:xfrm>
            <a:off x="320040" y="2176272"/>
            <a:ext cx="1773936"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 y="2286000"/>
            <a:ext cx="1581912" cy="77724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Equation</a:t>
            </a:r>
          </a:p>
        </p:txBody>
      </p:sp>
      <p:sp>
        <p:nvSpPr>
          <p:cNvPr id="23" name="Rectangle 22"/>
          <p:cNvSpPr/>
          <p:nvPr/>
        </p:nvSpPr>
        <p:spPr>
          <a:xfrm>
            <a:off x="2121408"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12848"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5" name="Rectangle 24"/>
          <p:cNvSpPr/>
          <p:nvPr/>
        </p:nvSpPr>
        <p:spPr>
          <a:xfrm>
            <a:off x="6184392"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5832"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7" name="Rectangle 26"/>
          <p:cNvSpPr/>
          <p:nvPr/>
        </p:nvSpPr>
        <p:spPr>
          <a:xfrm>
            <a:off x="10247376"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8816"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9" name="Rectangle 28"/>
          <p:cNvSpPr/>
          <p:nvPr/>
        </p:nvSpPr>
        <p:spPr>
          <a:xfrm>
            <a:off x="320040" y="3136391"/>
            <a:ext cx="1773936" cy="1874519"/>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2336" y="3246120"/>
            <a:ext cx="1581912" cy="1691639"/>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Inverse Operations</a:t>
            </a:r>
          </a:p>
        </p:txBody>
      </p:sp>
      <p:sp>
        <p:nvSpPr>
          <p:cNvPr id="31" name="Rectangle 30"/>
          <p:cNvSpPr/>
          <p:nvPr/>
        </p:nvSpPr>
        <p:spPr>
          <a:xfrm>
            <a:off x="2121408"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12848"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3" name="Connector 32"/>
          <p:cNvCxnSpPr/>
          <p:nvPr/>
        </p:nvCxnSpPr>
        <p:spPr>
          <a:xfrm>
            <a:off x="4152899"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184392"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75832"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6" name="Connector 35"/>
          <p:cNvCxnSpPr/>
          <p:nvPr/>
        </p:nvCxnSpPr>
        <p:spPr>
          <a:xfrm>
            <a:off x="8215883"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247376"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8816"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9" name="Connector 38"/>
          <p:cNvCxnSpPr/>
          <p:nvPr/>
        </p:nvCxnSpPr>
        <p:spPr>
          <a:xfrm>
            <a:off x="12278868"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320040" y="5010912"/>
            <a:ext cx="1773936" cy="10515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5120640"/>
            <a:ext cx="1581912" cy="8686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Find the Unknown</a:t>
            </a:r>
          </a:p>
        </p:txBody>
      </p:sp>
      <p:sp>
        <p:nvSpPr>
          <p:cNvPr id="42" name="Rectangle 41"/>
          <p:cNvSpPr/>
          <p:nvPr/>
        </p:nvSpPr>
        <p:spPr>
          <a:xfrm>
            <a:off x="2121408"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12848"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4" name="Rectangle 43"/>
          <p:cNvSpPr/>
          <p:nvPr/>
        </p:nvSpPr>
        <p:spPr>
          <a:xfrm>
            <a:off x="6184392"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5832"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6" name="Rectangle 45"/>
          <p:cNvSpPr/>
          <p:nvPr/>
        </p:nvSpPr>
        <p:spPr>
          <a:xfrm>
            <a:off x="10247376"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38816"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8" name="Rectangle 47"/>
          <p:cNvSpPr/>
          <p:nvPr/>
        </p:nvSpPr>
        <p:spPr>
          <a:xfrm>
            <a:off x="320040" y="6062471"/>
            <a:ext cx="1773936" cy="15361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6172199"/>
            <a:ext cx="1581912" cy="135331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Check by Substitution</a:t>
            </a:r>
          </a:p>
        </p:txBody>
      </p:sp>
      <p:sp>
        <p:nvSpPr>
          <p:cNvPr id="50" name="Rectangle 49"/>
          <p:cNvSpPr/>
          <p:nvPr/>
        </p:nvSpPr>
        <p:spPr>
          <a:xfrm>
            <a:off x="2121408"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12848"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2" name="Rectangle 51"/>
          <p:cNvSpPr/>
          <p:nvPr/>
        </p:nvSpPr>
        <p:spPr>
          <a:xfrm>
            <a:off x="6184392"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75832"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4" name="Rectangle 53"/>
          <p:cNvSpPr/>
          <p:nvPr/>
        </p:nvSpPr>
        <p:spPr>
          <a:xfrm>
            <a:off x="10247376"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8816"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6"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Copy the centre line and show each operation.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5943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81912" cy="4114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Equation</a:t>
            </a:r>
          </a:p>
        </p:txBody>
      </p:sp>
      <p:sp>
        <p:nvSpPr>
          <p:cNvPr id="15" name="Rectangle 14"/>
          <p:cNvSpPr/>
          <p:nvPr/>
        </p:nvSpPr>
        <p:spPr>
          <a:xfrm>
            <a:off x="2121408"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12848"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6x = -18</a:t>
            </a:r>
          </a:p>
        </p:txBody>
      </p:sp>
      <p:sp>
        <p:nvSpPr>
          <p:cNvPr id="17" name="Rectangle 16"/>
          <p:cNvSpPr/>
          <p:nvPr/>
        </p:nvSpPr>
        <p:spPr>
          <a:xfrm>
            <a:off x="6184392"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5832"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4x − 9 = 23</a:t>
            </a:r>
          </a:p>
        </p:txBody>
      </p:sp>
      <p:sp>
        <p:nvSpPr>
          <p:cNvPr id="19" name="Rectangle 18"/>
          <p:cNvSpPr/>
          <p:nvPr/>
        </p:nvSpPr>
        <p:spPr>
          <a:xfrm>
            <a:off x="10247376"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8816"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5(x − 2) = 2x + 23</a:t>
            </a:r>
          </a:p>
        </p:txBody>
      </p:sp>
      <p:sp>
        <p:nvSpPr>
          <p:cNvPr id="21" name="Rectangle 20"/>
          <p:cNvSpPr/>
          <p:nvPr/>
        </p:nvSpPr>
        <p:spPr>
          <a:xfrm>
            <a:off x="320040" y="2176272"/>
            <a:ext cx="1773936"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 y="2286000"/>
            <a:ext cx="1581912" cy="77724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Equation</a:t>
            </a:r>
          </a:p>
        </p:txBody>
      </p:sp>
      <p:sp>
        <p:nvSpPr>
          <p:cNvPr id="23" name="Rectangle 22"/>
          <p:cNvSpPr/>
          <p:nvPr/>
        </p:nvSpPr>
        <p:spPr>
          <a:xfrm>
            <a:off x="2121408"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12848"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5" name="Rectangle 24"/>
          <p:cNvSpPr/>
          <p:nvPr/>
        </p:nvSpPr>
        <p:spPr>
          <a:xfrm>
            <a:off x="6184392"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5832"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7" name="Rectangle 26"/>
          <p:cNvSpPr/>
          <p:nvPr/>
        </p:nvSpPr>
        <p:spPr>
          <a:xfrm>
            <a:off x="10247376"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8816"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9" name="Rectangle 28"/>
          <p:cNvSpPr/>
          <p:nvPr/>
        </p:nvSpPr>
        <p:spPr>
          <a:xfrm>
            <a:off x="320040" y="3136391"/>
            <a:ext cx="1773936" cy="1874519"/>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2336" y="3246120"/>
            <a:ext cx="1581912" cy="1691639"/>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Inverse Operations</a:t>
            </a:r>
          </a:p>
        </p:txBody>
      </p:sp>
      <p:sp>
        <p:nvSpPr>
          <p:cNvPr id="31" name="Rectangle 30"/>
          <p:cNvSpPr/>
          <p:nvPr/>
        </p:nvSpPr>
        <p:spPr>
          <a:xfrm>
            <a:off x="2121408"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12848"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3" name="Connector 32"/>
          <p:cNvCxnSpPr/>
          <p:nvPr/>
        </p:nvCxnSpPr>
        <p:spPr>
          <a:xfrm>
            <a:off x="4152899"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184392"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75832"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6" name="Connector 35"/>
          <p:cNvCxnSpPr/>
          <p:nvPr/>
        </p:nvCxnSpPr>
        <p:spPr>
          <a:xfrm>
            <a:off x="8215883"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247376"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8816"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9" name="Connector 38"/>
          <p:cNvCxnSpPr/>
          <p:nvPr/>
        </p:nvCxnSpPr>
        <p:spPr>
          <a:xfrm>
            <a:off x="12278868"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320040" y="5010912"/>
            <a:ext cx="1773936" cy="10515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5120640"/>
            <a:ext cx="1581912" cy="8686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Find the Unknown</a:t>
            </a:r>
          </a:p>
        </p:txBody>
      </p:sp>
      <p:sp>
        <p:nvSpPr>
          <p:cNvPr id="42" name="Rectangle 41"/>
          <p:cNvSpPr/>
          <p:nvPr/>
        </p:nvSpPr>
        <p:spPr>
          <a:xfrm>
            <a:off x="2121408"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12848"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4" name="Rectangle 43"/>
          <p:cNvSpPr/>
          <p:nvPr/>
        </p:nvSpPr>
        <p:spPr>
          <a:xfrm>
            <a:off x="6184392"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5832"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6" name="Rectangle 45"/>
          <p:cNvSpPr/>
          <p:nvPr/>
        </p:nvSpPr>
        <p:spPr>
          <a:xfrm>
            <a:off x="10247376"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38816"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8" name="Rectangle 47"/>
          <p:cNvSpPr/>
          <p:nvPr/>
        </p:nvSpPr>
        <p:spPr>
          <a:xfrm>
            <a:off x="320040" y="6062471"/>
            <a:ext cx="1773936" cy="15361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6172199"/>
            <a:ext cx="1581912" cy="135331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Check by Substitution</a:t>
            </a:r>
          </a:p>
        </p:txBody>
      </p:sp>
      <p:sp>
        <p:nvSpPr>
          <p:cNvPr id="50" name="Rectangle 49"/>
          <p:cNvSpPr/>
          <p:nvPr/>
        </p:nvSpPr>
        <p:spPr>
          <a:xfrm>
            <a:off x="2121408"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12848"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2" name="Rectangle 51"/>
          <p:cNvSpPr/>
          <p:nvPr/>
        </p:nvSpPr>
        <p:spPr>
          <a:xfrm>
            <a:off x="6184392"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75832"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4" name="Rectangle 53"/>
          <p:cNvSpPr/>
          <p:nvPr/>
        </p:nvSpPr>
        <p:spPr>
          <a:xfrm>
            <a:off x="10247376"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8816"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6"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Spot the errors • Find the first wrong step, correct it and finish.</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M10-SE</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x + 8 = 19</a:t>
            </a:r>
          </a:p>
        </p:txBody>
      </p:sp>
      <p:cxnSp>
        <p:nvCxnSpPr>
          <p:cNvPr id="15" name="Connector 14"/>
          <p:cNvCxnSpPr/>
          <p:nvPr/>
        </p:nvCxnSpPr>
        <p:spPr>
          <a:xfrm>
            <a:off x="2624328" y="2148840"/>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51560" y="213055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+ 8</a:t>
            </a:r>
          </a:p>
        </p:txBody>
      </p:sp>
      <p:sp>
        <p:nvSpPr>
          <p:cNvPr id="17" name="TextBox 16"/>
          <p:cNvSpPr txBox="1"/>
          <p:nvPr/>
        </p:nvSpPr>
        <p:spPr>
          <a:xfrm>
            <a:off x="2798064" y="213055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19</a:t>
            </a:r>
          </a:p>
        </p:txBody>
      </p:sp>
      <p:sp>
        <p:nvSpPr>
          <p:cNvPr id="18" name="Rectangle 17"/>
          <p:cNvSpPr/>
          <p:nvPr/>
        </p:nvSpPr>
        <p:spPr>
          <a:xfrm>
            <a:off x="251460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20" name="TextBox 19"/>
          <p:cNvSpPr txBox="1"/>
          <p:nvPr/>
        </p:nvSpPr>
        <p:spPr>
          <a:xfrm>
            <a:off x="438912" y="2281428"/>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+ 8</a:t>
            </a:r>
          </a:p>
        </p:txBody>
      </p:sp>
      <p:sp>
        <p:nvSpPr>
          <p:cNvPr id="21" name="TextBox 20"/>
          <p:cNvSpPr txBox="1"/>
          <p:nvPr/>
        </p:nvSpPr>
        <p:spPr>
          <a:xfrm>
            <a:off x="4215384" y="2281428"/>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+ 8</a:t>
            </a:r>
          </a:p>
        </p:txBody>
      </p:sp>
      <p:sp>
        <p:nvSpPr>
          <p:cNvPr id="22" name="TextBox 21"/>
          <p:cNvSpPr txBox="1"/>
          <p:nvPr/>
        </p:nvSpPr>
        <p:spPr>
          <a:xfrm>
            <a:off x="1051560" y="240487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23" name="TextBox 22"/>
          <p:cNvSpPr txBox="1"/>
          <p:nvPr/>
        </p:nvSpPr>
        <p:spPr>
          <a:xfrm>
            <a:off x="2798064" y="240487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27</a:t>
            </a:r>
          </a:p>
        </p:txBody>
      </p:sp>
      <p:sp>
        <p:nvSpPr>
          <p:cNvPr id="24" name="Rectangle 23"/>
          <p:cNvSpPr/>
          <p:nvPr/>
        </p:nvSpPr>
        <p:spPr>
          <a:xfrm>
            <a:off x="251460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1460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26" name="Rectangle 25"/>
          <p:cNvSpPr/>
          <p:nvPr/>
        </p:nvSpPr>
        <p:spPr>
          <a:xfrm>
            <a:off x="32004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79"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x − 5 = 8</a:t>
            </a:r>
          </a:p>
        </p:txBody>
      </p:sp>
      <p:cxnSp>
        <p:nvCxnSpPr>
          <p:cNvPr id="28" name="Connector 27"/>
          <p:cNvCxnSpPr/>
          <p:nvPr/>
        </p:nvCxnSpPr>
        <p:spPr>
          <a:xfrm>
            <a:off x="2624328" y="4187951"/>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051560" y="416966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− 5</a:t>
            </a:r>
          </a:p>
        </p:txBody>
      </p:sp>
      <p:sp>
        <p:nvSpPr>
          <p:cNvPr id="30" name="TextBox 29"/>
          <p:cNvSpPr txBox="1"/>
          <p:nvPr/>
        </p:nvSpPr>
        <p:spPr>
          <a:xfrm>
            <a:off x="2798064" y="416966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8</a:t>
            </a:r>
          </a:p>
        </p:txBody>
      </p:sp>
      <p:sp>
        <p:nvSpPr>
          <p:cNvPr id="31" name="Rectangle 30"/>
          <p:cNvSpPr/>
          <p:nvPr/>
        </p:nvSpPr>
        <p:spPr>
          <a:xfrm>
            <a:off x="251460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1460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33" name="TextBox 32"/>
          <p:cNvSpPr txBox="1"/>
          <p:nvPr/>
        </p:nvSpPr>
        <p:spPr>
          <a:xfrm>
            <a:off x="438912" y="4320540"/>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− 5</a:t>
            </a:r>
          </a:p>
        </p:txBody>
      </p:sp>
      <p:sp>
        <p:nvSpPr>
          <p:cNvPr id="34" name="TextBox 33"/>
          <p:cNvSpPr txBox="1"/>
          <p:nvPr/>
        </p:nvSpPr>
        <p:spPr>
          <a:xfrm>
            <a:off x="4215384" y="4320540"/>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− 5</a:t>
            </a:r>
          </a:p>
        </p:txBody>
      </p:sp>
      <p:sp>
        <p:nvSpPr>
          <p:cNvPr id="35" name="TextBox 34"/>
          <p:cNvSpPr txBox="1"/>
          <p:nvPr/>
        </p:nvSpPr>
        <p:spPr>
          <a:xfrm>
            <a:off x="1051560" y="444398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36" name="TextBox 35"/>
          <p:cNvSpPr txBox="1"/>
          <p:nvPr/>
        </p:nvSpPr>
        <p:spPr>
          <a:xfrm>
            <a:off x="2798064" y="444398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a:t>
            </a:r>
          </a:p>
        </p:txBody>
      </p:sp>
      <p:sp>
        <p:nvSpPr>
          <p:cNvPr id="37" name="Rectangle 36"/>
          <p:cNvSpPr/>
          <p:nvPr/>
        </p:nvSpPr>
        <p:spPr>
          <a:xfrm>
            <a:off x="251460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1460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39" name="Rectangle 38"/>
          <p:cNvSpPr/>
          <p:nvPr/>
        </p:nvSpPr>
        <p:spPr>
          <a:xfrm>
            <a:off x="32004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79"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6x = 24</a:t>
            </a:r>
          </a:p>
        </p:txBody>
      </p:sp>
      <p:cxnSp>
        <p:nvCxnSpPr>
          <p:cNvPr id="41" name="Connector 40"/>
          <p:cNvCxnSpPr/>
          <p:nvPr/>
        </p:nvCxnSpPr>
        <p:spPr>
          <a:xfrm>
            <a:off x="2624328" y="6227064"/>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051560" y="620877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a:t>
            </a:r>
          </a:p>
        </p:txBody>
      </p:sp>
      <p:sp>
        <p:nvSpPr>
          <p:cNvPr id="43" name="TextBox 42"/>
          <p:cNvSpPr txBox="1"/>
          <p:nvPr/>
        </p:nvSpPr>
        <p:spPr>
          <a:xfrm>
            <a:off x="2798064" y="620877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24</a:t>
            </a:r>
          </a:p>
        </p:txBody>
      </p:sp>
      <p:sp>
        <p:nvSpPr>
          <p:cNvPr id="44" name="Rectangle 43"/>
          <p:cNvSpPr/>
          <p:nvPr/>
        </p:nvSpPr>
        <p:spPr>
          <a:xfrm>
            <a:off x="251460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1460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46" name="TextBox 45"/>
          <p:cNvSpPr txBox="1"/>
          <p:nvPr/>
        </p:nvSpPr>
        <p:spPr>
          <a:xfrm>
            <a:off x="438912" y="6359652"/>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− 6</a:t>
            </a:r>
          </a:p>
        </p:txBody>
      </p:sp>
      <p:sp>
        <p:nvSpPr>
          <p:cNvPr id="47" name="TextBox 46"/>
          <p:cNvSpPr txBox="1"/>
          <p:nvPr/>
        </p:nvSpPr>
        <p:spPr>
          <a:xfrm>
            <a:off x="4215384" y="6359652"/>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− 6</a:t>
            </a:r>
          </a:p>
        </p:txBody>
      </p:sp>
      <p:sp>
        <p:nvSpPr>
          <p:cNvPr id="48" name="TextBox 47"/>
          <p:cNvSpPr txBox="1"/>
          <p:nvPr/>
        </p:nvSpPr>
        <p:spPr>
          <a:xfrm>
            <a:off x="1051560" y="648309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49" name="TextBox 48"/>
          <p:cNvSpPr txBox="1"/>
          <p:nvPr/>
        </p:nvSpPr>
        <p:spPr>
          <a:xfrm>
            <a:off x="2798064" y="648309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18</a:t>
            </a:r>
          </a:p>
        </p:txBody>
      </p:sp>
      <p:sp>
        <p:nvSpPr>
          <p:cNvPr id="50" name="Rectangle 49"/>
          <p:cNvSpPr/>
          <p:nvPr/>
        </p:nvSpPr>
        <p:spPr>
          <a:xfrm>
            <a:off x="251460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1460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52" name="Rectangle 51"/>
          <p:cNvSpPr/>
          <p:nvPr/>
        </p:nvSpPr>
        <p:spPr>
          <a:xfrm>
            <a:off x="498348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74920"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3x + 6 = 30</a:t>
            </a:r>
          </a:p>
        </p:txBody>
      </p:sp>
      <p:cxnSp>
        <p:nvCxnSpPr>
          <p:cNvPr id="54" name="Connector 53"/>
          <p:cNvCxnSpPr/>
          <p:nvPr/>
        </p:nvCxnSpPr>
        <p:spPr>
          <a:xfrm>
            <a:off x="7287768" y="2148840"/>
            <a:ext cx="0" cy="8412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715000" y="213055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+ 6</a:t>
            </a:r>
          </a:p>
        </p:txBody>
      </p:sp>
      <p:sp>
        <p:nvSpPr>
          <p:cNvPr id="56" name="TextBox 55"/>
          <p:cNvSpPr txBox="1"/>
          <p:nvPr/>
        </p:nvSpPr>
        <p:spPr>
          <a:xfrm>
            <a:off x="7461504" y="213055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57" name="Rectangle 56"/>
          <p:cNvSpPr/>
          <p:nvPr/>
        </p:nvSpPr>
        <p:spPr>
          <a:xfrm>
            <a:off x="717804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17804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59" name="TextBox 58"/>
          <p:cNvSpPr txBox="1"/>
          <p:nvPr/>
        </p:nvSpPr>
        <p:spPr>
          <a:xfrm>
            <a:off x="5102352" y="2281428"/>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− 6</a:t>
            </a:r>
          </a:p>
        </p:txBody>
      </p:sp>
      <p:sp>
        <p:nvSpPr>
          <p:cNvPr id="60" name="TextBox 59"/>
          <p:cNvSpPr txBox="1"/>
          <p:nvPr/>
        </p:nvSpPr>
        <p:spPr>
          <a:xfrm>
            <a:off x="8878824" y="2281428"/>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+ 6</a:t>
            </a:r>
          </a:p>
        </p:txBody>
      </p:sp>
      <p:sp>
        <p:nvSpPr>
          <p:cNvPr id="61" name="TextBox 60"/>
          <p:cNvSpPr txBox="1"/>
          <p:nvPr/>
        </p:nvSpPr>
        <p:spPr>
          <a:xfrm>
            <a:off x="5715000" y="240487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a:t>
            </a:r>
          </a:p>
        </p:txBody>
      </p:sp>
      <p:sp>
        <p:nvSpPr>
          <p:cNvPr id="62" name="TextBox 61"/>
          <p:cNvSpPr txBox="1"/>
          <p:nvPr/>
        </p:nvSpPr>
        <p:spPr>
          <a:xfrm>
            <a:off x="7461504" y="240487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36</a:t>
            </a:r>
          </a:p>
        </p:txBody>
      </p:sp>
      <p:sp>
        <p:nvSpPr>
          <p:cNvPr id="63" name="Rectangle 62"/>
          <p:cNvSpPr/>
          <p:nvPr/>
        </p:nvSpPr>
        <p:spPr>
          <a:xfrm>
            <a:off x="717804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17804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65" name="TextBox 64"/>
          <p:cNvSpPr txBox="1"/>
          <p:nvPr/>
        </p:nvSpPr>
        <p:spPr>
          <a:xfrm>
            <a:off x="5102352" y="2555748"/>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3</a:t>
            </a:r>
          </a:p>
        </p:txBody>
      </p:sp>
      <p:sp>
        <p:nvSpPr>
          <p:cNvPr id="66" name="TextBox 65"/>
          <p:cNvSpPr txBox="1"/>
          <p:nvPr/>
        </p:nvSpPr>
        <p:spPr>
          <a:xfrm>
            <a:off x="8878824" y="2555748"/>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3</a:t>
            </a:r>
          </a:p>
        </p:txBody>
      </p:sp>
      <p:sp>
        <p:nvSpPr>
          <p:cNvPr id="67" name="TextBox 66"/>
          <p:cNvSpPr txBox="1"/>
          <p:nvPr/>
        </p:nvSpPr>
        <p:spPr>
          <a:xfrm>
            <a:off x="5715000" y="267919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68" name="TextBox 67"/>
          <p:cNvSpPr txBox="1"/>
          <p:nvPr/>
        </p:nvSpPr>
        <p:spPr>
          <a:xfrm>
            <a:off x="7461504" y="267919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a:t>
            </a:r>
          </a:p>
        </p:txBody>
      </p:sp>
      <p:sp>
        <p:nvSpPr>
          <p:cNvPr id="69" name="Rectangle 68"/>
          <p:cNvSpPr/>
          <p:nvPr/>
        </p:nvSpPr>
        <p:spPr>
          <a:xfrm>
            <a:off x="7178040" y="267919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178040" y="267919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71" name="Rectangle 70"/>
          <p:cNvSpPr/>
          <p:nvPr/>
        </p:nvSpPr>
        <p:spPr>
          <a:xfrm>
            <a:off x="498348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074920"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4x − 8 = 16</a:t>
            </a:r>
          </a:p>
        </p:txBody>
      </p:sp>
      <p:cxnSp>
        <p:nvCxnSpPr>
          <p:cNvPr id="73" name="Connector 72"/>
          <p:cNvCxnSpPr/>
          <p:nvPr/>
        </p:nvCxnSpPr>
        <p:spPr>
          <a:xfrm>
            <a:off x="7287768" y="4187951"/>
            <a:ext cx="0" cy="841249"/>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715000" y="416966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 − 8</a:t>
            </a:r>
          </a:p>
        </p:txBody>
      </p:sp>
      <p:sp>
        <p:nvSpPr>
          <p:cNvPr id="75" name="TextBox 74"/>
          <p:cNvSpPr txBox="1"/>
          <p:nvPr/>
        </p:nvSpPr>
        <p:spPr>
          <a:xfrm>
            <a:off x="7461504" y="416966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16</a:t>
            </a:r>
          </a:p>
        </p:txBody>
      </p:sp>
      <p:sp>
        <p:nvSpPr>
          <p:cNvPr id="76" name="Rectangle 75"/>
          <p:cNvSpPr/>
          <p:nvPr/>
        </p:nvSpPr>
        <p:spPr>
          <a:xfrm>
            <a:off x="717804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17804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78" name="TextBox 77"/>
          <p:cNvSpPr txBox="1"/>
          <p:nvPr/>
        </p:nvSpPr>
        <p:spPr>
          <a:xfrm>
            <a:off x="5102352" y="4320540"/>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+ 8</a:t>
            </a:r>
          </a:p>
        </p:txBody>
      </p:sp>
      <p:sp>
        <p:nvSpPr>
          <p:cNvPr id="79" name="TextBox 78"/>
          <p:cNvSpPr txBox="1"/>
          <p:nvPr/>
        </p:nvSpPr>
        <p:spPr>
          <a:xfrm>
            <a:off x="8878824" y="4320540"/>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− 8</a:t>
            </a:r>
          </a:p>
        </p:txBody>
      </p:sp>
      <p:sp>
        <p:nvSpPr>
          <p:cNvPr id="80" name="TextBox 79"/>
          <p:cNvSpPr txBox="1"/>
          <p:nvPr/>
        </p:nvSpPr>
        <p:spPr>
          <a:xfrm>
            <a:off x="5715000" y="444398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a:t>
            </a:r>
          </a:p>
        </p:txBody>
      </p:sp>
      <p:sp>
        <p:nvSpPr>
          <p:cNvPr id="81" name="TextBox 80"/>
          <p:cNvSpPr txBox="1"/>
          <p:nvPr/>
        </p:nvSpPr>
        <p:spPr>
          <a:xfrm>
            <a:off x="7461504" y="444398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8</a:t>
            </a:r>
          </a:p>
        </p:txBody>
      </p:sp>
      <p:sp>
        <p:nvSpPr>
          <p:cNvPr id="82" name="Rectangle 81"/>
          <p:cNvSpPr/>
          <p:nvPr/>
        </p:nvSpPr>
        <p:spPr>
          <a:xfrm>
            <a:off x="717804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17804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84" name="TextBox 83"/>
          <p:cNvSpPr txBox="1"/>
          <p:nvPr/>
        </p:nvSpPr>
        <p:spPr>
          <a:xfrm>
            <a:off x="5102352" y="4594859"/>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4</a:t>
            </a:r>
          </a:p>
        </p:txBody>
      </p:sp>
      <p:sp>
        <p:nvSpPr>
          <p:cNvPr id="85" name="TextBox 84"/>
          <p:cNvSpPr txBox="1"/>
          <p:nvPr/>
        </p:nvSpPr>
        <p:spPr>
          <a:xfrm>
            <a:off x="8878824" y="4594859"/>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4</a:t>
            </a:r>
          </a:p>
        </p:txBody>
      </p:sp>
      <p:sp>
        <p:nvSpPr>
          <p:cNvPr id="86" name="TextBox 85"/>
          <p:cNvSpPr txBox="1"/>
          <p:nvPr/>
        </p:nvSpPr>
        <p:spPr>
          <a:xfrm>
            <a:off x="5715000" y="471830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87" name="TextBox 86"/>
          <p:cNvSpPr txBox="1"/>
          <p:nvPr/>
        </p:nvSpPr>
        <p:spPr>
          <a:xfrm>
            <a:off x="7461504" y="471830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a:t>
            </a:r>
          </a:p>
        </p:txBody>
      </p:sp>
      <p:sp>
        <p:nvSpPr>
          <p:cNvPr id="88" name="Rectangle 87"/>
          <p:cNvSpPr/>
          <p:nvPr/>
        </p:nvSpPr>
        <p:spPr>
          <a:xfrm>
            <a:off x="7178040" y="471830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178040" y="471830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90" name="Rectangle 89"/>
          <p:cNvSpPr/>
          <p:nvPr/>
        </p:nvSpPr>
        <p:spPr>
          <a:xfrm>
            <a:off x="498348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074920"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5x + 10 = 45</a:t>
            </a:r>
          </a:p>
        </p:txBody>
      </p:sp>
      <p:cxnSp>
        <p:nvCxnSpPr>
          <p:cNvPr id="92" name="Connector 91"/>
          <p:cNvCxnSpPr/>
          <p:nvPr/>
        </p:nvCxnSpPr>
        <p:spPr>
          <a:xfrm>
            <a:off x="7287768" y="6227064"/>
            <a:ext cx="0" cy="8412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715000" y="620877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5x + 10</a:t>
            </a:r>
          </a:p>
        </p:txBody>
      </p:sp>
      <p:sp>
        <p:nvSpPr>
          <p:cNvPr id="94" name="TextBox 93"/>
          <p:cNvSpPr txBox="1"/>
          <p:nvPr/>
        </p:nvSpPr>
        <p:spPr>
          <a:xfrm>
            <a:off x="7461504" y="620877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45</a:t>
            </a:r>
          </a:p>
        </p:txBody>
      </p:sp>
      <p:sp>
        <p:nvSpPr>
          <p:cNvPr id="95" name="Rectangle 94"/>
          <p:cNvSpPr/>
          <p:nvPr/>
        </p:nvSpPr>
        <p:spPr>
          <a:xfrm>
            <a:off x="717804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17804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97" name="TextBox 96"/>
          <p:cNvSpPr txBox="1"/>
          <p:nvPr/>
        </p:nvSpPr>
        <p:spPr>
          <a:xfrm>
            <a:off x="5102352" y="6359652"/>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5</a:t>
            </a:r>
          </a:p>
        </p:txBody>
      </p:sp>
      <p:sp>
        <p:nvSpPr>
          <p:cNvPr id="98" name="TextBox 97"/>
          <p:cNvSpPr txBox="1"/>
          <p:nvPr/>
        </p:nvSpPr>
        <p:spPr>
          <a:xfrm>
            <a:off x="8878824" y="6359652"/>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5</a:t>
            </a:r>
          </a:p>
        </p:txBody>
      </p:sp>
      <p:sp>
        <p:nvSpPr>
          <p:cNvPr id="99" name="TextBox 98"/>
          <p:cNvSpPr txBox="1"/>
          <p:nvPr/>
        </p:nvSpPr>
        <p:spPr>
          <a:xfrm>
            <a:off x="5715000" y="648309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+ 10</a:t>
            </a:r>
          </a:p>
        </p:txBody>
      </p:sp>
      <p:sp>
        <p:nvSpPr>
          <p:cNvPr id="100" name="TextBox 99"/>
          <p:cNvSpPr txBox="1"/>
          <p:nvPr/>
        </p:nvSpPr>
        <p:spPr>
          <a:xfrm>
            <a:off x="7461504" y="648309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9</a:t>
            </a:r>
          </a:p>
        </p:txBody>
      </p:sp>
      <p:sp>
        <p:nvSpPr>
          <p:cNvPr id="101" name="Rectangle 100"/>
          <p:cNvSpPr/>
          <p:nvPr/>
        </p:nvSpPr>
        <p:spPr>
          <a:xfrm>
            <a:off x="717804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17804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03" name="TextBox 102"/>
          <p:cNvSpPr txBox="1"/>
          <p:nvPr/>
        </p:nvSpPr>
        <p:spPr>
          <a:xfrm>
            <a:off x="5102352" y="6633972"/>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− 10</a:t>
            </a:r>
          </a:p>
        </p:txBody>
      </p:sp>
      <p:sp>
        <p:nvSpPr>
          <p:cNvPr id="104" name="TextBox 103"/>
          <p:cNvSpPr txBox="1"/>
          <p:nvPr/>
        </p:nvSpPr>
        <p:spPr>
          <a:xfrm>
            <a:off x="8878824" y="6633972"/>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− 10</a:t>
            </a:r>
          </a:p>
        </p:txBody>
      </p:sp>
      <p:sp>
        <p:nvSpPr>
          <p:cNvPr id="105" name="TextBox 104"/>
          <p:cNvSpPr txBox="1"/>
          <p:nvPr/>
        </p:nvSpPr>
        <p:spPr>
          <a:xfrm>
            <a:off x="5715000" y="675741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06" name="TextBox 105"/>
          <p:cNvSpPr txBox="1"/>
          <p:nvPr/>
        </p:nvSpPr>
        <p:spPr>
          <a:xfrm>
            <a:off x="7461504" y="675741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a:t>
            </a:r>
          </a:p>
        </p:txBody>
      </p:sp>
      <p:sp>
        <p:nvSpPr>
          <p:cNvPr id="107" name="Rectangle 106"/>
          <p:cNvSpPr/>
          <p:nvPr/>
        </p:nvSpPr>
        <p:spPr>
          <a:xfrm>
            <a:off x="7178040" y="67574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7178040" y="675741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09" name="Rectangle 108"/>
          <p:cNvSpPr/>
          <p:nvPr/>
        </p:nvSpPr>
        <p:spPr>
          <a:xfrm>
            <a:off x="964692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9738360"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2(x + 5) = 30</a:t>
            </a:r>
          </a:p>
        </p:txBody>
      </p:sp>
      <p:cxnSp>
        <p:nvCxnSpPr>
          <p:cNvPr id="111" name="Connector 110"/>
          <p:cNvCxnSpPr/>
          <p:nvPr/>
        </p:nvCxnSpPr>
        <p:spPr>
          <a:xfrm>
            <a:off x="11951208" y="2148840"/>
            <a:ext cx="0" cy="11155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0378440" y="213055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+ 5)</a:t>
            </a:r>
          </a:p>
        </p:txBody>
      </p:sp>
      <p:sp>
        <p:nvSpPr>
          <p:cNvPr id="113" name="TextBox 112"/>
          <p:cNvSpPr txBox="1"/>
          <p:nvPr/>
        </p:nvSpPr>
        <p:spPr>
          <a:xfrm>
            <a:off x="12124944" y="213055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114" name="Rectangle 113"/>
          <p:cNvSpPr/>
          <p:nvPr/>
        </p:nvSpPr>
        <p:spPr>
          <a:xfrm>
            <a:off x="1184148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184148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16" name="TextBox 115"/>
          <p:cNvSpPr txBox="1"/>
          <p:nvPr/>
        </p:nvSpPr>
        <p:spPr>
          <a:xfrm>
            <a:off x="10378440" y="240487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+ 5</a:t>
            </a:r>
          </a:p>
        </p:txBody>
      </p:sp>
      <p:sp>
        <p:nvSpPr>
          <p:cNvPr id="117" name="TextBox 116"/>
          <p:cNvSpPr txBox="1"/>
          <p:nvPr/>
        </p:nvSpPr>
        <p:spPr>
          <a:xfrm>
            <a:off x="12124944" y="240487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118" name="Rectangle 117"/>
          <p:cNvSpPr/>
          <p:nvPr/>
        </p:nvSpPr>
        <p:spPr>
          <a:xfrm>
            <a:off x="1184148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184148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20" name="TextBox 119"/>
          <p:cNvSpPr txBox="1"/>
          <p:nvPr/>
        </p:nvSpPr>
        <p:spPr>
          <a:xfrm>
            <a:off x="9765792" y="2555748"/>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− 5</a:t>
            </a:r>
          </a:p>
        </p:txBody>
      </p:sp>
      <p:sp>
        <p:nvSpPr>
          <p:cNvPr id="121" name="TextBox 120"/>
          <p:cNvSpPr txBox="1"/>
          <p:nvPr/>
        </p:nvSpPr>
        <p:spPr>
          <a:xfrm>
            <a:off x="13542264" y="2555748"/>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− 5</a:t>
            </a:r>
          </a:p>
        </p:txBody>
      </p:sp>
      <p:sp>
        <p:nvSpPr>
          <p:cNvPr id="122" name="TextBox 121"/>
          <p:cNvSpPr txBox="1"/>
          <p:nvPr/>
        </p:nvSpPr>
        <p:spPr>
          <a:xfrm>
            <a:off x="10378440" y="267919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a:t>
            </a:r>
          </a:p>
        </p:txBody>
      </p:sp>
      <p:sp>
        <p:nvSpPr>
          <p:cNvPr id="123" name="TextBox 122"/>
          <p:cNvSpPr txBox="1"/>
          <p:nvPr/>
        </p:nvSpPr>
        <p:spPr>
          <a:xfrm>
            <a:off x="12124944" y="267919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25</a:t>
            </a:r>
          </a:p>
        </p:txBody>
      </p:sp>
      <p:sp>
        <p:nvSpPr>
          <p:cNvPr id="124" name="Rectangle 123"/>
          <p:cNvSpPr/>
          <p:nvPr/>
        </p:nvSpPr>
        <p:spPr>
          <a:xfrm>
            <a:off x="11841480" y="267919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1841480" y="267919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26" name="TextBox 125"/>
          <p:cNvSpPr txBox="1"/>
          <p:nvPr/>
        </p:nvSpPr>
        <p:spPr>
          <a:xfrm>
            <a:off x="9765792" y="2830068"/>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2</a:t>
            </a:r>
          </a:p>
        </p:txBody>
      </p:sp>
      <p:sp>
        <p:nvSpPr>
          <p:cNvPr id="127" name="TextBox 126"/>
          <p:cNvSpPr txBox="1"/>
          <p:nvPr/>
        </p:nvSpPr>
        <p:spPr>
          <a:xfrm>
            <a:off x="13542264" y="2830068"/>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2</a:t>
            </a:r>
          </a:p>
        </p:txBody>
      </p:sp>
      <p:sp>
        <p:nvSpPr>
          <p:cNvPr id="128" name="TextBox 127"/>
          <p:cNvSpPr txBox="1"/>
          <p:nvPr/>
        </p:nvSpPr>
        <p:spPr>
          <a:xfrm>
            <a:off x="10378440" y="295351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29" name="TextBox 128"/>
          <p:cNvSpPr txBox="1"/>
          <p:nvPr/>
        </p:nvSpPr>
        <p:spPr>
          <a:xfrm>
            <a:off x="12124944" y="295351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12.5</a:t>
            </a:r>
          </a:p>
        </p:txBody>
      </p:sp>
      <p:sp>
        <p:nvSpPr>
          <p:cNvPr id="130" name="Rectangle 129"/>
          <p:cNvSpPr/>
          <p:nvPr/>
        </p:nvSpPr>
        <p:spPr>
          <a:xfrm>
            <a:off x="11841480" y="295351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1841480" y="295351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32" name="Rectangle 131"/>
          <p:cNvSpPr/>
          <p:nvPr/>
        </p:nvSpPr>
        <p:spPr>
          <a:xfrm>
            <a:off x="964692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738360"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4x + 3 = 2x + 33</a:t>
            </a:r>
          </a:p>
        </p:txBody>
      </p:sp>
      <p:cxnSp>
        <p:nvCxnSpPr>
          <p:cNvPr id="134" name="Connector 133"/>
          <p:cNvCxnSpPr/>
          <p:nvPr/>
        </p:nvCxnSpPr>
        <p:spPr>
          <a:xfrm>
            <a:off x="11951208" y="4187951"/>
            <a:ext cx="0" cy="1115569"/>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0378440" y="416966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 + 3</a:t>
            </a:r>
          </a:p>
        </p:txBody>
      </p:sp>
      <p:sp>
        <p:nvSpPr>
          <p:cNvPr id="136" name="TextBox 135"/>
          <p:cNvSpPr txBox="1"/>
          <p:nvPr/>
        </p:nvSpPr>
        <p:spPr>
          <a:xfrm>
            <a:off x="12124944" y="416966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2x + 33</a:t>
            </a:r>
          </a:p>
        </p:txBody>
      </p:sp>
      <p:sp>
        <p:nvSpPr>
          <p:cNvPr id="137" name="Rectangle 136"/>
          <p:cNvSpPr/>
          <p:nvPr/>
        </p:nvSpPr>
        <p:spPr>
          <a:xfrm>
            <a:off x="1184148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84148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39" name="TextBox 138"/>
          <p:cNvSpPr txBox="1"/>
          <p:nvPr/>
        </p:nvSpPr>
        <p:spPr>
          <a:xfrm>
            <a:off x="9765792" y="4320540"/>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+ 2x</a:t>
            </a:r>
          </a:p>
        </p:txBody>
      </p:sp>
      <p:sp>
        <p:nvSpPr>
          <p:cNvPr id="140" name="TextBox 139"/>
          <p:cNvSpPr txBox="1"/>
          <p:nvPr/>
        </p:nvSpPr>
        <p:spPr>
          <a:xfrm>
            <a:off x="13542264" y="4320540"/>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− 2x</a:t>
            </a:r>
          </a:p>
        </p:txBody>
      </p:sp>
      <p:sp>
        <p:nvSpPr>
          <p:cNvPr id="141" name="TextBox 140"/>
          <p:cNvSpPr txBox="1"/>
          <p:nvPr/>
        </p:nvSpPr>
        <p:spPr>
          <a:xfrm>
            <a:off x="10378440" y="444398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 + 3</a:t>
            </a:r>
          </a:p>
        </p:txBody>
      </p:sp>
      <p:sp>
        <p:nvSpPr>
          <p:cNvPr id="142" name="TextBox 141"/>
          <p:cNvSpPr txBox="1"/>
          <p:nvPr/>
        </p:nvSpPr>
        <p:spPr>
          <a:xfrm>
            <a:off x="12124944" y="444398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33</a:t>
            </a:r>
          </a:p>
        </p:txBody>
      </p:sp>
      <p:sp>
        <p:nvSpPr>
          <p:cNvPr id="143" name="Rectangle 142"/>
          <p:cNvSpPr/>
          <p:nvPr/>
        </p:nvSpPr>
        <p:spPr>
          <a:xfrm>
            <a:off x="1184148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184148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45" name="TextBox 144"/>
          <p:cNvSpPr txBox="1"/>
          <p:nvPr/>
        </p:nvSpPr>
        <p:spPr>
          <a:xfrm>
            <a:off x="9765792" y="4594859"/>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− 3</a:t>
            </a:r>
          </a:p>
        </p:txBody>
      </p:sp>
      <p:sp>
        <p:nvSpPr>
          <p:cNvPr id="146" name="TextBox 145"/>
          <p:cNvSpPr txBox="1"/>
          <p:nvPr/>
        </p:nvSpPr>
        <p:spPr>
          <a:xfrm>
            <a:off x="13542264" y="4594859"/>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− 3</a:t>
            </a:r>
          </a:p>
        </p:txBody>
      </p:sp>
      <p:sp>
        <p:nvSpPr>
          <p:cNvPr id="147" name="TextBox 146"/>
          <p:cNvSpPr txBox="1"/>
          <p:nvPr/>
        </p:nvSpPr>
        <p:spPr>
          <a:xfrm>
            <a:off x="10378440" y="471830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a:t>
            </a:r>
          </a:p>
        </p:txBody>
      </p:sp>
      <p:sp>
        <p:nvSpPr>
          <p:cNvPr id="148" name="TextBox 147"/>
          <p:cNvSpPr txBox="1"/>
          <p:nvPr/>
        </p:nvSpPr>
        <p:spPr>
          <a:xfrm>
            <a:off x="12124944" y="471830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149" name="Rectangle 148"/>
          <p:cNvSpPr/>
          <p:nvPr/>
        </p:nvSpPr>
        <p:spPr>
          <a:xfrm>
            <a:off x="11841480" y="471830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1841480" y="471830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51" name="TextBox 150"/>
          <p:cNvSpPr txBox="1"/>
          <p:nvPr/>
        </p:nvSpPr>
        <p:spPr>
          <a:xfrm>
            <a:off x="9765792" y="4869179"/>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6</a:t>
            </a:r>
          </a:p>
        </p:txBody>
      </p:sp>
      <p:sp>
        <p:nvSpPr>
          <p:cNvPr id="152" name="TextBox 151"/>
          <p:cNvSpPr txBox="1"/>
          <p:nvPr/>
        </p:nvSpPr>
        <p:spPr>
          <a:xfrm>
            <a:off x="13542264" y="4869179"/>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6</a:t>
            </a:r>
          </a:p>
        </p:txBody>
      </p:sp>
      <p:sp>
        <p:nvSpPr>
          <p:cNvPr id="153" name="TextBox 152"/>
          <p:cNvSpPr txBox="1"/>
          <p:nvPr/>
        </p:nvSpPr>
        <p:spPr>
          <a:xfrm>
            <a:off x="10378440" y="499262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54" name="TextBox 153"/>
          <p:cNvSpPr txBox="1"/>
          <p:nvPr/>
        </p:nvSpPr>
        <p:spPr>
          <a:xfrm>
            <a:off x="12124944" y="499262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5</a:t>
            </a:r>
          </a:p>
        </p:txBody>
      </p:sp>
      <p:sp>
        <p:nvSpPr>
          <p:cNvPr id="155" name="Rectangle 154"/>
          <p:cNvSpPr/>
          <p:nvPr/>
        </p:nvSpPr>
        <p:spPr>
          <a:xfrm>
            <a:off x="11841480" y="499262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11841480" y="499262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57" name="Rectangle 156"/>
          <p:cNvSpPr/>
          <p:nvPr/>
        </p:nvSpPr>
        <p:spPr>
          <a:xfrm>
            <a:off x="964692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738360"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3(x − 4) = x − 16</a:t>
            </a:r>
          </a:p>
        </p:txBody>
      </p:sp>
      <p:cxnSp>
        <p:nvCxnSpPr>
          <p:cNvPr id="159" name="Connector 158"/>
          <p:cNvCxnSpPr/>
          <p:nvPr/>
        </p:nvCxnSpPr>
        <p:spPr>
          <a:xfrm>
            <a:off x="11951208" y="6227064"/>
            <a:ext cx="0" cy="138988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10378440" y="620877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− 4)</a:t>
            </a:r>
          </a:p>
        </p:txBody>
      </p:sp>
      <p:sp>
        <p:nvSpPr>
          <p:cNvPr id="161" name="TextBox 160"/>
          <p:cNvSpPr txBox="1"/>
          <p:nvPr/>
        </p:nvSpPr>
        <p:spPr>
          <a:xfrm>
            <a:off x="12124944" y="620877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x − 16</a:t>
            </a:r>
          </a:p>
        </p:txBody>
      </p:sp>
      <p:sp>
        <p:nvSpPr>
          <p:cNvPr id="162" name="Rectangle 161"/>
          <p:cNvSpPr/>
          <p:nvPr/>
        </p:nvSpPr>
        <p:spPr>
          <a:xfrm>
            <a:off x="1184148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184148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64" name="TextBox 163"/>
          <p:cNvSpPr txBox="1"/>
          <p:nvPr/>
        </p:nvSpPr>
        <p:spPr>
          <a:xfrm>
            <a:off x="10378440" y="648309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− 4</a:t>
            </a:r>
          </a:p>
        </p:txBody>
      </p:sp>
      <p:sp>
        <p:nvSpPr>
          <p:cNvPr id="165" name="TextBox 164"/>
          <p:cNvSpPr txBox="1"/>
          <p:nvPr/>
        </p:nvSpPr>
        <p:spPr>
          <a:xfrm>
            <a:off x="12124944" y="648309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x − 16</a:t>
            </a:r>
          </a:p>
        </p:txBody>
      </p:sp>
      <p:sp>
        <p:nvSpPr>
          <p:cNvPr id="166" name="Rectangle 165"/>
          <p:cNvSpPr/>
          <p:nvPr/>
        </p:nvSpPr>
        <p:spPr>
          <a:xfrm>
            <a:off x="1184148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184148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68" name="TextBox 167"/>
          <p:cNvSpPr txBox="1"/>
          <p:nvPr/>
        </p:nvSpPr>
        <p:spPr>
          <a:xfrm>
            <a:off x="9765792" y="6633972"/>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x</a:t>
            </a:r>
          </a:p>
        </p:txBody>
      </p:sp>
      <p:sp>
        <p:nvSpPr>
          <p:cNvPr id="169" name="TextBox 168"/>
          <p:cNvSpPr txBox="1"/>
          <p:nvPr/>
        </p:nvSpPr>
        <p:spPr>
          <a:xfrm>
            <a:off x="13542264" y="6633972"/>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x</a:t>
            </a:r>
          </a:p>
        </p:txBody>
      </p:sp>
      <p:sp>
        <p:nvSpPr>
          <p:cNvPr id="170" name="TextBox 169"/>
          <p:cNvSpPr txBox="1"/>
          <p:nvPr/>
        </p:nvSpPr>
        <p:spPr>
          <a:xfrm>
            <a:off x="10378440" y="675741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− 4</a:t>
            </a:r>
          </a:p>
        </p:txBody>
      </p:sp>
      <p:sp>
        <p:nvSpPr>
          <p:cNvPr id="171" name="TextBox 170"/>
          <p:cNvSpPr txBox="1"/>
          <p:nvPr/>
        </p:nvSpPr>
        <p:spPr>
          <a:xfrm>
            <a:off x="12124944" y="675741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−16</a:t>
            </a:r>
          </a:p>
        </p:txBody>
      </p:sp>
      <p:sp>
        <p:nvSpPr>
          <p:cNvPr id="172" name="Rectangle 171"/>
          <p:cNvSpPr/>
          <p:nvPr/>
        </p:nvSpPr>
        <p:spPr>
          <a:xfrm>
            <a:off x="11841480" y="67574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1841480" y="675741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74" name="TextBox 173"/>
          <p:cNvSpPr txBox="1"/>
          <p:nvPr/>
        </p:nvSpPr>
        <p:spPr>
          <a:xfrm>
            <a:off x="9765792" y="6908292"/>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+ 4</a:t>
            </a:r>
          </a:p>
        </p:txBody>
      </p:sp>
      <p:sp>
        <p:nvSpPr>
          <p:cNvPr id="175" name="TextBox 174"/>
          <p:cNvSpPr txBox="1"/>
          <p:nvPr/>
        </p:nvSpPr>
        <p:spPr>
          <a:xfrm>
            <a:off x="13542264" y="6908292"/>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+ 4</a:t>
            </a:r>
          </a:p>
        </p:txBody>
      </p:sp>
      <p:sp>
        <p:nvSpPr>
          <p:cNvPr id="176" name="TextBox 175"/>
          <p:cNvSpPr txBox="1"/>
          <p:nvPr/>
        </p:nvSpPr>
        <p:spPr>
          <a:xfrm>
            <a:off x="10378440" y="703173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a:t>
            </a:r>
          </a:p>
        </p:txBody>
      </p:sp>
      <p:sp>
        <p:nvSpPr>
          <p:cNvPr id="177" name="TextBox 176"/>
          <p:cNvSpPr txBox="1"/>
          <p:nvPr/>
        </p:nvSpPr>
        <p:spPr>
          <a:xfrm>
            <a:off x="12124944" y="703173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a:t>
            </a:r>
          </a:p>
        </p:txBody>
      </p:sp>
      <p:sp>
        <p:nvSpPr>
          <p:cNvPr id="178" name="Rectangle 177"/>
          <p:cNvSpPr/>
          <p:nvPr/>
        </p:nvSpPr>
        <p:spPr>
          <a:xfrm>
            <a:off x="11841480" y="703173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11841480" y="703173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80" name="TextBox 179"/>
          <p:cNvSpPr txBox="1"/>
          <p:nvPr/>
        </p:nvSpPr>
        <p:spPr>
          <a:xfrm>
            <a:off x="9765792" y="7182612"/>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2</a:t>
            </a:r>
          </a:p>
        </p:txBody>
      </p:sp>
      <p:sp>
        <p:nvSpPr>
          <p:cNvPr id="181" name="TextBox 180"/>
          <p:cNvSpPr txBox="1"/>
          <p:nvPr/>
        </p:nvSpPr>
        <p:spPr>
          <a:xfrm>
            <a:off x="13542264" y="7182612"/>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2</a:t>
            </a:r>
          </a:p>
        </p:txBody>
      </p:sp>
      <p:sp>
        <p:nvSpPr>
          <p:cNvPr id="182" name="TextBox 181"/>
          <p:cNvSpPr txBox="1"/>
          <p:nvPr/>
        </p:nvSpPr>
        <p:spPr>
          <a:xfrm>
            <a:off x="10378440" y="730605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83" name="TextBox 182"/>
          <p:cNvSpPr txBox="1"/>
          <p:nvPr/>
        </p:nvSpPr>
        <p:spPr>
          <a:xfrm>
            <a:off x="12124944" y="730605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−6</a:t>
            </a:r>
          </a:p>
        </p:txBody>
      </p:sp>
      <p:sp>
        <p:nvSpPr>
          <p:cNvPr id="184" name="Rectangle 183"/>
          <p:cNvSpPr/>
          <p:nvPr/>
        </p:nvSpPr>
        <p:spPr>
          <a:xfrm>
            <a:off x="11841480" y="730605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11841480" y="730605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+ 6 = -2</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x − 6</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− 7 = 18</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− 9 = -4</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189 = 7x</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4</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− 3 = 57</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+ 7x = 71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+ 6 = -29</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-9 + 6x = 39</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x + 8 = 8</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 + 2x = -11</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− 3) = 2x − 11</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+ 10 = 20</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+ 12 = 9</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+ 2 = x + 14</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− 3) = x + 69</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+ 12 = 126</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28</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-14 = x − 8</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65</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11</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27 = x + 9</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90</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− 9 = -44</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x + 6 = 121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+ 8 = -7</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+ 3x = 80</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 + 3x = 73</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 + 2x = 18</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− 5) = 2x + 50</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+ 2) = x + 92</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− 5) = 3x − 12</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− 9 = 2x − 3</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− 7) = 4x − 23</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+ 15 = 108</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-10</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3 = -1</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0</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2</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28 = x + 2</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16</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x − 9 = 33</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x − 9 = 21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x + 4 = 88</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+ 6x = -22</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23 = 7x + 2</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+ 8 = 85</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+ 4 = 3x + 79</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+ 6) = 165</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− 9 = 3x + 60</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− 6 = 12</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− 3) = 90</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+ 8 = 4x + 56</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140</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11 = x − 6</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5 = 22</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2</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5</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+ 7 = 1</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− 3 = 54</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x − 5 = 100</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+ 2 = 26</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x − 3 = -11</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 + 2x = -10</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x − 9 = 69</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+ 6) = 80</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− 14 = -6</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− 3) = -24</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+ 8 = x + 40</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+ 4) = -15</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+ 6) = 91</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1.  A ribbon is 144 cm long and cut into 6 equal pieces. Find the length of each piece.</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2.  A hall has 14 rows with 25 seats in each row. How many seats are there altogether?</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3.  145 eggs are packed into boxes of 6. How many full boxes can be made?</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4.  A coach hire company charges £75 per coach. 130 passengers need coaches with 24 seats each. Find the total hire cost.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9" name="TextBox 48"/>
            <p:cNvSpPr txBox="1"/>
            <p:nvPr/>
          </p:nvSpPr>
          <p:spPr>
            <a:xfrm>
              <a:off x="8252459"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64" name="TextBox 63"/>
            <p:cNvSpPr txBox="1"/>
            <p:nvPr/>
          </p:nvSpPr>
          <p:spPr>
            <a:xfrm>
              <a:off x="11228100"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tIns="0" r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tIns="0" r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tIns="0" r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14 boxes hold 8 pens each. How many pens altogether?</a:t>
            </a:r>
          </a:p>
        </p:txBody>
      </p:sp>
      <p:sp>
        <p:nvSpPr>
          <p:cNvPr id="10" name="TextBox 9"/>
          <p:cNvSpPr txBox="1"/>
          <p:nvPr/>
        </p:nvSpPr>
        <p:spPr>
          <a:xfrm>
            <a:off x="612647" y="2551176"/>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14 + 8 = 22</a:t>
            </a:r>
          </a:p>
        </p:txBody>
      </p:sp>
      <p:sp>
        <p:nvSpPr>
          <p:cNvPr id="11" name="TextBox 10"/>
          <p:cNvSpPr txBox="1"/>
          <p:nvPr/>
        </p:nvSpPr>
        <p:spPr>
          <a:xfrm>
            <a:off x="612647" y="285292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22 pens</a:t>
            </a:r>
          </a:p>
        </p:txBody>
      </p:sp>
      <p:sp>
        <p:nvSpPr>
          <p:cNvPr id="12" name="Rectangle 11"/>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96 stickers are shared equally among 4 pupils. How many per pupil?</a:t>
            </a:r>
          </a:p>
        </p:txBody>
      </p:sp>
      <p:cxnSp>
        <p:nvCxnSpPr>
          <p:cNvPr id="14" name="Connector 13"/>
          <p:cNvCxnSpPr/>
          <p:nvPr/>
        </p:nvCxnSpPr>
        <p:spPr>
          <a:xfrm>
            <a:off x="904341"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04341"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4</a:t>
            </a:r>
          </a:p>
        </p:txBody>
      </p:sp>
      <p:sp>
        <p:nvSpPr>
          <p:cNvPr id="17" name="TextBox 16"/>
          <p:cNvSpPr txBox="1"/>
          <p:nvPr/>
        </p:nvSpPr>
        <p:spPr>
          <a:xfrm>
            <a:off x="953719"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18" name="TextBox 17"/>
          <p:cNvSpPr txBox="1"/>
          <p:nvPr/>
        </p:nvSpPr>
        <p:spPr>
          <a:xfrm>
            <a:off x="953719"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19" name="TextBox 18"/>
          <p:cNvSpPr txBox="1"/>
          <p:nvPr/>
        </p:nvSpPr>
        <p:spPr>
          <a:xfrm>
            <a:off x="1332280"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20" name="TextBox 19"/>
          <p:cNvSpPr txBox="1"/>
          <p:nvPr/>
        </p:nvSpPr>
        <p:spPr>
          <a:xfrm>
            <a:off x="1332280"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21" name="TextBox 20"/>
          <p:cNvSpPr txBox="1"/>
          <p:nvPr/>
        </p:nvSpPr>
        <p:spPr>
          <a:xfrm>
            <a:off x="1793138"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22" name="TextBox 21"/>
          <p:cNvSpPr txBox="1"/>
          <p:nvPr/>
        </p:nvSpPr>
        <p:spPr>
          <a:xfrm>
            <a:off x="594360"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stickers each</a:t>
            </a:r>
          </a:p>
        </p:txBody>
      </p:sp>
      <p:sp>
        <p:nvSpPr>
          <p:cNvPr id="23" name="Rectangle 22"/>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Cut 3 m of ribbon into 6 equal pieces. Find each length in cm.</a:t>
            </a:r>
          </a:p>
        </p:txBody>
      </p:sp>
      <p:sp>
        <p:nvSpPr>
          <p:cNvPr id="25" name="TextBox 24"/>
          <p:cNvSpPr txBox="1"/>
          <p:nvPr/>
        </p:nvSpPr>
        <p:spPr>
          <a:xfrm>
            <a:off x="612647" y="655624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 m = 30 cm</a:t>
            </a:r>
          </a:p>
        </p:txBody>
      </p:sp>
      <p:sp>
        <p:nvSpPr>
          <p:cNvPr id="26" name="TextBox 25"/>
          <p:cNvSpPr txBox="1"/>
          <p:nvPr/>
        </p:nvSpPr>
        <p:spPr>
          <a:xfrm>
            <a:off x="612647" y="6858000"/>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30 ÷ 6 = 5</a:t>
            </a:r>
          </a:p>
        </p:txBody>
      </p:sp>
      <p:sp>
        <p:nvSpPr>
          <p:cNvPr id="27" name="TextBox 26"/>
          <p:cNvSpPr txBox="1"/>
          <p:nvPr/>
        </p:nvSpPr>
        <p:spPr>
          <a:xfrm>
            <a:off x="612647" y="7159752"/>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5 cm</a:t>
            </a:r>
          </a:p>
        </p:txBody>
      </p:sp>
      <p:sp>
        <p:nvSpPr>
          <p:cNvPr id="28" name="Rectangle 27"/>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30" name="Rectangle 29"/>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Pack 166 eggs in boxes of 6. How many full boxes?</a:t>
            </a:r>
          </a:p>
        </p:txBody>
      </p:sp>
      <p:cxnSp>
        <p:nvCxnSpPr>
          <p:cNvPr id="32" name="Connector 31"/>
          <p:cNvCxnSpPr/>
          <p:nvPr/>
        </p:nvCxnSpPr>
        <p:spPr>
          <a:xfrm>
            <a:off x="5525109" y="2874873"/>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25109" y="2874873"/>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187696" y="2895447"/>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6</a:t>
            </a:r>
          </a:p>
        </p:txBody>
      </p:sp>
      <p:sp>
        <p:nvSpPr>
          <p:cNvPr id="35" name="TextBox 34"/>
          <p:cNvSpPr txBox="1"/>
          <p:nvPr/>
        </p:nvSpPr>
        <p:spPr>
          <a:xfrm>
            <a:off x="5574487"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36" name="TextBox 35"/>
          <p:cNvSpPr txBox="1"/>
          <p:nvPr/>
        </p:nvSpPr>
        <p:spPr>
          <a:xfrm>
            <a:off x="5953048"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37" name="TextBox 36"/>
          <p:cNvSpPr txBox="1"/>
          <p:nvPr/>
        </p:nvSpPr>
        <p:spPr>
          <a:xfrm>
            <a:off x="5953048"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38" name="TextBox 37"/>
          <p:cNvSpPr txBox="1"/>
          <p:nvPr/>
        </p:nvSpPr>
        <p:spPr>
          <a:xfrm>
            <a:off x="5903671"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39" name="TextBox 38"/>
          <p:cNvSpPr txBox="1"/>
          <p:nvPr/>
        </p:nvSpPr>
        <p:spPr>
          <a:xfrm>
            <a:off x="6331610"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40" name="TextBox 39"/>
          <p:cNvSpPr txBox="1"/>
          <p:nvPr/>
        </p:nvSpPr>
        <p:spPr>
          <a:xfrm>
            <a:off x="6331610"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7</a:t>
            </a:r>
          </a:p>
        </p:txBody>
      </p:sp>
      <p:sp>
        <p:nvSpPr>
          <p:cNvPr id="41" name="TextBox 40"/>
          <p:cNvSpPr txBox="1"/>
          <p:nvPr/>
        </p:nvSpPr>
        <p:spPr>
          <a:xfrm>
            <a:off x="6282232"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4</a:t>
            </a:r>
          </a:p>
        </p:txBody>
      </p:sp>
      <p:sp>
        <p:nvSpPr>
          <p:cNvPr id="42" name="TextBox 41"/>
          <p:cNvSpPr txBox="1"/>
          <p:nvPr/>
        </p:nvSpPr>
        <p:spPr>
          <a:xfrm>
            <a:off x="6792468" y="2603296"/>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43" name="TextBox 42"/>
          <p:cNvSpPr txBox="1"/>
          <p:nvPr/>
        </p:nvSpPr>
        <p:spPr>
          <a:xfrm>
            <a:off x="5215128" y="3337560"/>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28 full boxes</a:t>
            </a:r>
          </a:p>
        </p:txBody>
      </p:sp>
      <p:sp>
        <p:nvSpPr>
          <p:cNvPr id="44" name="Rectangle 4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32 campers need tents. Each tent sleeps 5. How many tents are needed?</a:t>
            </a:r>
          </a:p>
        </p:txBody>
      </p:sp>
      <p:cxnSp>
        <p:nvCxnSpPr>
          <p:cNvPr id="46" name="Connector 45"/>
          <p:cNvCxnSpPr/>
          <p:nvPr/>
        </p:nvCxnSpPr>
        <p:spPr>
          <a:xfrm>
            <a:off x="5525109"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525109"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187696"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5</a:t>
            </a:r>
          </a:p>
        </p:txBody>
      </p:sp>
      <p:sp>
        <p:nvSpPr>
          <p:cNvPr id="49" name="TextBox 48"/>
          <p:cNvSpPr txBox="1"/>
          <p:nvPr/>
        </p:nvSpPr>
        <p:spPr>
          <a:xfrm>
            <a:off x="5574487"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50" name="TextBox 49"/>
          <p:cNvSpPr txBox="1"/>
          <p:nvPr/>
        </p:nvSpPr>
        <p:spPr>
          <a:xfrm>
            <a:off x="5953048"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51" name="TextBox 50"/>
          <p:cNvSpPr txBox="1"/>
          <p:nvPr/>
        </p:nvSpPr>
        <p:spPr>
          <a:xfrm>
            <a:off x="5953048"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52" name="TextBox 51"/>
          <p:cNvSpPr txBox="1"/>
          <p:nvPr/>
        </p:nvSpPr>
        <p:spPr>
          <a:xfrm>
            <a:off x="5903671" y="4881524"/>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3</a:t>
            </a:r>
          </a:p>
        </p:txBody>
      </p:sp>
      <p:sp>
        <p:nvSpPr>
          <p:cNvPr id="53" name="TextBox 52"/>
          <p:cNvSpPr txBox="1"/>
          <p:nvPr/>
        </p:nvSpPr>
        <p:spPr>
          <a:xfrm>
            <a:off x="6413906"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54" name="TextBox 53"/>
          <p:cNvSpPr txBox="1"/>
          <p:nvPr/>
        </p:nvSpPr>
        <p:spPr>
          <a:xfrm>
            <a:off x="5215128"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 tents</a:t>
            </a:r>
          </a:p>
        </p:txBody>
      </p:sp>
      <p:sp>
        <p:nvSpPr>
          <p:cNvPr id="55" name="Rectangle 5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a £156 bill equally among 8 friends. How much each?</a:t>
            </a:r>
          </a:p>
        </p:txBody>
      </p:sp>
      <p:cxnSp>
        <p:nvCxnSpPr>
          <p:cNvPr id="57" name="Connector 56"/>
          <p:cNvCxnSpPr/>
          <p:nvPr/>
        </p:nvCxnSpPr>
        <p:spPr>
          <a:xfrm>
            <a:off x="5525109" y="6879945"/>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25109" y="6879945"/>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187696" y="6900519"/>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8</a:t>
            </a:r>
          </a:p>
        </p:txBody>
      </p:sp>
      <p:sp>
        <p:nvSpPr>
          <p:cNvPr id="60" name="TextBox 59"/>
          <p:cNvSpPr txBox="1"/>
          <p:nvPr/>
        </p:nvSpPr>
        <p:spPr>
          <a:xfrm>
            <a:off x="5574487"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1" name="TextBox 60"/>
          <p:cNvSpPr txBox="1"/>
          <p:nvPr/>
        </p:nvSpPr>
        <p:spPr>
          <a:xfrm>
            <a:off x="5953048"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5</a:t>
            </a:r>
          </a:p>
        </p:txBody>
      </p:sp>
      <p:sp>
        <p:nvSpPr>
          <p:cNvPr id="62" name="TextBox 61"/>
          <p:cNvSpPr txBox="1"/>
          <p:nvPr/>
        </p:nvSpPr>
        <p:spPr>
          <a:xfrm>
            <a:off x="5953048"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3" name="TextBox 62"/>
          <p:cNvSpPr txBox="1"/>
          <p:nvPr/>
        </p:nvSpPr>
        <p:spPr>
          <a:xfrm>
            <a:off x="5903671"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64" name="TextBox 63"/>
          <p:cNvSpPr txBox="1"/>
          <p:nvPr/>
        </p:nvSpPr>
        <p:spPr>
          <a:xfrm>
            <a:off x="6331610"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65" name="TextBox 64"/>
          <p:cNvSpPr txBox="1"/>
          <p:nvPr/>
        </p:nvSpPr>
        <p:spPr>
          <a:xfrm>
            <a:off x="6331610"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66" name="TextBox 65"/>
          <p:cNvSpPr txBox="1"/>
          <p:nvPr/>
        </p:nvSpPr>
        <p:spPr>
          <a:xfrm>
            <a:off x="6282232"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7</a:t>
            </a:r>
          </a:p>
        </p:txBody>
      </p:sp>
      <p:sp>
        <p:nvSpPr>
          <p:cNvPr id="67" name="TextBox 66"/>
          <p:cNvSpPr txBox="1"/>
          <p:nvPr/>
        </p:nvSpPr>
        <p:spPr>
          <a:xfrm>
            <a:off x="6792468" y="6608368"/>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68" name="TextBox 67"/>
          <p:cNvSpPr txBox="1"/>
          <p:nvPr/>
        </p:nvSpPr>
        <p:spPr>
          <a:xfrm>
            <a:off x="5215128" y="7342631"/>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£19.04 each</a:t>
            </a:r>
          </a:p>
        </p:txBody>
      </p:sp>
      <p:sp>
        <p:nvSpPr>
          <p:cNvPr id="69" name="Rectangle 6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71" name="Rectangle 70"/>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Tables seat 6 and cost £12 to hire. Find the cost to seat 94 guests.</a:t>
            </a:r>
          </a:p>
        </p:txBody>
      </p:sp>
      <p:cxnSp>
        <p:nvCxnSpPr>
          <p:cNvPr id="73" name="Connector 72"/>
          <p:cNvCxnSpPr/>
          <p:nvPr/>
        </p:nvCxnSpPr>
        <p:spPr>
          <a:xfrm>
            <a:off x="10055626" y="2860974"/>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0055626" y="2860974"/>
            <a:ext cx="0" cy="295991"/>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744456" y="2879948"/>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6</a:t>
            </a:r>
          </a:p>
        </p:txBody>
      </p:sp>
      <p:sp>
        <p:nvSpPr>
          <p:cNvPr id="76" name="TextBox 75"/>
          <p:cNvSpPr txBox="1"/>
          <p:nvPr/>
        </p:nvSpPr>
        <p:spPr>
          <a:xfrm>
            <a:off x="10101163"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9</a:t>
            </a:r>
          </a:p>
        </p:txBody>
      </p:sp>
      <p:sp>
        <p:nvSpPr>
          <p:cNvPr id="77" name="TextBox 76"/>
          <p:cNvSpPr txBox="1"/>
          <p:nvPr/>
        </p:nvSpPr>
        <p:spPr>
          <a:xfrm>
            <a:off x="10101163"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78" name="TextBox 77"/>
          <p:cNvSpPr txBox="1"/>
          <p:nvPr/>
        </p:nvSpPr>
        <p:spPr>
          <a:xfrm>
            <a:off x="10450281"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79" name="TextBox 78"/>
          <p:cNvSpPr txBox="1"/>
          <p:nvPr/>
        </p:nvSpPr>
        <p:spPr>
          <a:xfrm>
            <a:off x="10450281"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5</a:t>
            </a:r>
          </a:p>
        </p:txBody>
      </p:sp>
      <p:sp>
        <p:nvSpPr>
          <p:cNvPr id="80" name="TextBox 79"/>
          <p:cNvSpPr txBox="1"/>
          <p:nvPr/>
        </p:nvSpPr>
        <p:spPr>
          <a:xfrm>
            <a:off x="10404744" y="2864769"/>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3</a:t>
            </a:r>
          </a:p>
        </p:txBody>
      </p:sp>
      <p:sp>
        <p:nvSpPr>
          <p:cNvPr id="81" name="TextBox 80"/>
          <p:cNvSpPr txBox="1"/>
          <p:nvPr/>
        </p:nvSpPr>
        <p:spPr>
          <a:xfrm>
            <a:off x="10875294" y="2610520"/>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4</a:t>
            </a:r>
          </a:p>
        </p:txBody>
      </p:sp>
      <p:sp>
        <p:nvSpPr>
          <p:cNvPr id="82" name="TextBox 81"/>
          <p:cNvSpPr txBox="1"/>
          <p:nvPr/>
        </p:nvSpPr>
        <p:spPr>
          <a:xfrm>
            <a:off x="13008864" y="2350008"/>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1</a:t>
            </a:r>
          </a:p>
        </p:txBody>
      </p:sp>
      <p:sp>
        <p:nvSpPr>
          <p:cNvPr id="83" name="TextBox 82"/>
          <p:cNvSpPr txBox="1"/>
          <p:nvPr/>
        </p:nvSpPr>
        <p:spPr>
          <a:xfrm>
            <a:off x="12460224" y="24688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a:t>
            </a:r>
          </a:p>
        </p:txBody>
      </p:sp>
      <p:sp>
        <p:nvSpPr>
          <p:cNvPr id="84" name="TextBox 83"/>
          <p:cNvSpPr txBox="1"/>
          <p:nvPr/>
        </p:nvSpPr>
        <p:spPr>
          <a:xfrm>
            <a:off x="12460224" y="26974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12</a:t>
            </a:r>
          </a:p>
        </p:txBody>
      </p:sp>
      <p:cxnSp>
        <p:nvCxnSpPr>
          <p:cNvPr id="85" name="Connector 84"/>
          <p:cNvCxnSpPr/>
          <p:nvPr/>
        </p:nvCxnSpPr>
        <p:spPr>
          <a:xfrm>
            <a:off x="12460224" y="29215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460224" y="29260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30</a:t>
            </a:r>
          </a:p>
        </p:txBody>
      </p:sp>
      <p:sp>
        <p:nvSpPr>
          <p:cNvPr id="87" name="TextBox 86"/>
          <p:cNvSpPr txBox="1"/>
          <p:nvPr/>
        </p:nvSpPr>
        <p:spPr>
          <a:xfrm>
            <a:off x="12460224" y="31546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150</a:t>
            </a:r>
          </a:p>
        </p:txBody>
      </p:sp>
      <p:cxnSp>
        <p:nvCxnSpPr>
          <p:cNvPr id="88" name="Connector 87"/>
          <p:cNvCxnSpPr/>
          <p:nvPr/>
        </p:nvCxnSpPr>
        <p:spPr>
          <a:xfrm>
            <a:off x="12460224" y="33787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2460224" y="33832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180</a:t>
            </a:r>
          </a:p>
        </p:txBody>
      </p:sp>
      <p:cxnSp>
        <p:nvCxnSpPr>
          <p:cNvPr id="90" name="Connector 89"/>
          <p:cNvCxnSpPr/>
          <p:nvPr/>
        </p:nvCxnSpPr>
        <p:spPr>
          <a:xfrm>
            <a:off x="12460224" y="36073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835896" y="3346704"/>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15 tables cost £180</a:t>
            </a:r>
          </a:p>
        </p:txBody>
      </p:sp>
      <p:sp>
        <p:nvSpPr>
          <p:cNvPr id="92" name="Rectangle 9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24 packs hold 15 drinks each. 87 are served. How many are left?</a:t>
            </a:r>
          </a:p>
        </p:txBody>
      </p:sp>
      <p:sp>
        <p:nvSpPr>
          <p:cNvPr id="94" name="TextBox 93"/>
          <p:cNvSpPr txBox="1"/>
          <p:nvPr/>
        </p:nvSpPr>
        <p:spPr>
          <a:xfrm>
            <a:off x="10631424" y="4352544"/>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2</a:t>
            </a:r>
          </a:p>
        </p:txBody>
      </p:sp>
      <p:sp>
        <p:nvSpPr>
          <p:cNvPr id="95" name="TextBox 94"/>
          <p:cNvSpPr txBox="1"/>
          <p:nvPr/>
        </p:nvSpPr>
        <p:spPr>
          <a:xfrm>
            <a:off x="10082784" y="44714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a:t>
            </a:r>
          </a:p>
        </p:txBody>
      </p:sp>
      <p:sp>
        <p:nvSpPr>
          <p:cNvPr id="96" name="TextBox 95"/>
          <p:cNvSpPr txBox="1"/>
          <p:nvPr/>
        </p:nvSpPr>
        <p:spPr>
          <a:xfrm>
            <a:off x="10082784" y="47000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15</a:t>
            </a:r>
          </a:p>
        </p:txBody>
      </p:sp>
      <p:cxnSp>
        <p:nvCxnSpPr>
          <p:cNvPr id="97" name="Connector 96"/>
          <p:cNvCxnSpPr/>
          <p:nvPr/>
        </p:nvCxnSpPr>
        <p:spPr>
          <a:xfrm>
            <a:off x="10082784" y="49240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0082784" y="49286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120</a:t>
            </a:r>
          </a:p>
        </p:txBody>
      </p:sp>
      <p:sp>
        <p:nvSpPr>
          <p:cNvPr id="99" name="TextBox 98"/>
          <p:cNvSpPr txBox="1"/>
          <p:nvPr/>
        </p:nvSpPr>
        <p:spPr>
          <a:xfrm>
            <a:off x="10082784" y="51572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240</a:t>
            </a:r>
          </a:p>
        </p:txBody>
      </p:sp>
      <p:cxnSp>
        <p:nvCxnSpPr>
          <p:cNvPr id="100" name="Connector 99"/>
          <p:cNvCxnSpPr/>
          <p:nvPr/>
        </p:nvCxnSpPr>
        <p:spPr>
          <a:xfrm>
            <a:off x="10082784" y="53812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082784" y="53858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cxnSp>
        <p:nvCxnSpPr>
          <p:cNvPr id="102" name="Connector 101"/>
          <p:cNvCxnSpPr/>
          <p:nvPr/>
        </p:nvCxnSpPr>
        <p:spPr>
          <a:xfrm>
            <a:off x="10082784" y="56098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911584" y="45537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sp>
        <p:nvSpPr>
          <p:cNvPr id="104" name="TextBox 103"/>
          <p:cNvSpPr txBox="1"/>
          <p:nvPr/>
        </p:nvSpPr>
        <p:spPr>
          <a:xfrm>
            <a:off x="11911584" y="47823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+ 87</a:t>
            </a:r>
          </a:p>
        </p:txBody>
      </p:sp>
      <p:cxnSp>
        <p:nvCxnSpPr>
          <p:cNvPr id="105" name="Connector 104"/>
          <p:cNvCxnSpPr/>
          <p:nvPr/>
        </p:nvCxnSpPr>
        <p:spPr>
          <a:xfrm>
            <a:off x="11911584" y="50063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1911584" y="50109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447</a:t>
            </a:r>
          </a:p>
        </p:txBody>
      </p:sp>
      <p:cxnSp>
        <p:nvCxnSpPr>
          <p:cNvPr id="107" name="Connector 106"/>
          <p:cNvCxnSpPr/>
          <p:nvPr/>
        </p:nvCxnSpPr>
        <p:spPr>
          <a:xfrm>
            <a:off x="11911584" y="52349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1637264" y="5349240"/>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447 drinks left</a:t>
            </a:r>
          </a:p>
        </p:txBody>
      </p:sp>
      <p:sp>
        <p:nvSpPr>
          <p:cNvPr id="109" name="Rectangle 10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Four organisers split the cost of 18 prizes equally. Each prize costs £12. How much does each pay?</a:t>
            </a:r>
          </a:p>
        </p:txBody>
      </p:sp>
      <p:cxnSp>
        <p:nvCxnSpPr>
          <p:cNvPr id="111" name="Connector 110"/>
          <p:cNvCxnSpPr/>
          <p:nvPr/>
        </p:nvCxnSpPr>
        <p:spPr>
          <a:xfrm>
            <a:off x="10055626" y="6866046"/>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0055626" y="6866046"/>
            <a:ext cx="0" cy="295992"/>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744456" y="6885020"/>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4</a:t>
            </a:r>
          </a:p>
        </p:txBody>
      </p:sp>
      <p:sp>
        <p:nvSpPr>
          <p:cNvPr id="114" name="TextBox 113"/>
          <p:cNvSpPr txBox="1"/>
          <p:nvPr/>
        </p:nvSpPr>
        <p:spPr>
          <a:xfrm>
            <a:off x="10101163"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115" name="TextBox 114"/>
          <p:cNvSpPr txBox="1"/>
          <p:nvPr/>
        </p:nvSpPr>
        <p:spPr>
          <a:xfrm>
            <a:off x="10450281"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8</a:t>
            </a:r>
          </a:p>
        </p:txBody>
      </p:sp>
      <p:sp>
        <p:nvSpPr>
          <p:cNvPr id="116" name="TextBox 115"/>
          <p:cNvSpPr txBox="1"/>
          <p:nvPr/>
        </p:nvSpPr>
        <p:spPr>
          <a:xfrm>
            <a:off x="10450281" y="6592824"/>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117" name="TextBox 116"/>
          <p:cNvSpPr txBox="1"/>
          <p:nvPr/>
        </p:nvSpPr>
        <p:spPr>
          <a:xfrm>
            <a:off x="10404744" y="6869841"/>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1</a:t>
            </a:r>
          </a:p>
        </p:txBody>
      </p:sp>
      <p:sp>
        <p:nvSpPr>
          <p:cNvPr id="118" name="TextBox 117"/>
          <p:cNvSpPr txBox="1"/>
          <p:nvPr/>
        </p:nvSpPr>
        <p:spPr>
          <a:xfrm>
            <a:off x="10875294" y="6615592"/>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2</a:t>
            </a:r>
          </a:p>
        </p:txBody>
      </p:sp>
      <p:sp>
        <p:nvSpPr>
          <p:cNvPr id="119" name="TextBox 118"/>
          <p:cNvSpPr txBox="1"/>
          <p:nvPr/>
        </p:nvSpPr>
        <p:spPr>
          <a:xfrm>
            <a:off x="12460224" y="67299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a:t>
            </a:r>
          </a:p>
        </p:txBody>
      </p:sp>
      <p:sp>
        <p:nvSpPr>
          <p:cNvPr id="120" name="TextBox 119"/>
          <p:cNvSpPr txBox="1"/>
          <p:nvPr/>
        </p:nvSpPr>
        <p:spPr>
          <a:xfrm>
            <a:off x="12460224" y="69585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4</a:t>
            </a:r>
          </a:p>
        </p:txBody>
      </p:sp>
      <p:cxnSp>
        <p:nvCxnSpPr>
          <p:cNvPr id="121" name="Connector 120"/>
          <p:cNvCxnSpPr/>
          <p:nvPr/>
        </p:nvCxnSpPr>
        <p:spPr>
          <a:xfrm>
            <a:off x="12460224" y="71826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2460224" y="71871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48</a:t>
            </a:r>
          </a:p>
        </p:txBody>
      </p:sp>
      <p:cxnSp>
        <p:nvCxnSpPr>
          <p:cNvPr id="123" name="Connector 122"/>
          <p:cNvCxnSpPr/>
          <p:nvPr/>
        </p:nvCxnSpPr>
        <p:spPr>
          <a:xfrm>
            <a:off x="12460224" y="74112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9835896" y="7351775"/>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£48 each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lIns="91440" tIns="36576" rIns="91440"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a:t>
            </a:r>
            <a:r>
              <a:rPr lang="en-GB"/>
              <a:t>centimetres</a:t>
            </a:r>
            <a:r>
              <a:t>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initial assessment</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Answer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M04-IA</a:t>
            </a:r>
          </a:p>
        </p:txBody>
      </p:sp>
      <p:sp>
        <p:nvSpPr>
          <p:cNvPr id="7" name="Rectangle 6"/>
          <p:cNvSpPr/>
          <p:nvPr/>
        </p:nvSpPr>
        <p:spPr>
          <a:xfrm>
            <a:off x="45720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Share £35 between A and B in the ratio 2:5. How much does A receive?</a:t>
            </a:r>
          </a:p>
        </p:txBody>
      </p:sp>
      <p:sp>
        <p:nvSpPr>
          <p:cNvPr id="9" name="Rectangle 8"/>
          <p:cNvSpPr/>
          <p:nvPr/>
        </p:nvSpPr>
        <p:spPr>
          <a:xfrm>
            <a:off x="745236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Red and blue counters are in the ratio 3:4. There are 12 red counters. How many blue counters are there?</a:t>
            </a:r>
          </a:p>
        </p:txBody>
      </p:sp>
      <p:sp>
        <p:nvSpPr>
          <p:cNvPr id="11" name="Rectangle 10"/>
          <p:cNvSpPr/>
          <p:nvPr/>
        </p:nvSpPr>
        <p:spPr>
          <a:xfrm>
            <a:off x="45720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Two ribbons have lengths in the ratio 2:7. The longer is 25 cm longer than the shorter. Find the shorter length.</a:t>
            </a:r>
          </a:p>
        </p:txBody>
      </p:sp>
      <p:sp>
        <p:nvSpPr>
          <p:cNvPr id="13" name="Rectangle 12"/>
          <p:cNvSpPr/>
          <p:nvPr/>
        </p:nvSpPr>
        <p:spPr>
          <a:xfrm>
            <a:off x="745236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  Adults and children are in the ratio 5:8. There are 39 people altogether. How many more children than adults are there?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813816"/>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3986784"/>
            <a:ext cx="1691639" cy="192023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30112"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257544"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293096"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320528"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74904" y="6053328"/>
            <a:ext cx="1691639" cy="116128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167127"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30112"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293096"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74904" y="7360919"/>
            <a:ext cx="1691639" cy="41147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167127"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230112"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293096"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Progression curved arrow: Thread 1 to Thread 2">
            <a:extLst>
              <a:ext uri="{FF2B5EF4-FFF2-40B4-BE49-F238E27FC236}">
                <a16:creationId xmlns:a16="http://schemas.microsoft.com/office/drawing/2014/main" id="{5C4B25E0-6F8B-5EB5-B1AB-18C9B16A520D}"/>
              </a:ext>
            </a:extLst>
          </p:cNvPr>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Progression curved arrow: Thread 2 to Thread 3"/>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Ratio: sharing and missing amounts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M04-SE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Share £35 between A and B in ratio 2:5. How much does A get?</a:t>
            </a:r>
          </a:p>
        </p:txBody>
      </p:sp>
      <p:sp>
        <p:nvSpPr>
          <p:cNvPr id="10" name="TextBox 9"/>
          <p:cNvSpPr txBox="1"/>
          <p:nvPr/>
        </p:nvSpPr>
        <p:spPr>
          <a:xfrm>
            <a:off x="594360"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 + 5 = 7 parts</a:t>
            </a:r>
          </a:p>
        </p:txBody>
      </p:sp>
      <p:sp>
        <p:nvSpPr>
          <p:cNvPr id="11" name="TextBox 10"/>
          <p:cNvSpPr txBox="1"/>
          <p:nvPr/>
        </p:nvSpPr>
        <p:spPr>
          <a:xfrm>
            <a:off x="594360"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7 = 5</a:t>
            </a:r>
          </a:p>
        </p:txBody>
      </p:sp>
      <p:sp>
        <p:nvSpPr>
          <p:cNvPr id="12" name="TextBox 11"/>
          <p:cNvSpPr txBox="1"/>
          <p:nvPr/>
        </p:nvSpPr>
        <p:spPr>
          <a:xfrm>
            <a:off x="273405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5 × 5</a:t>
            </a:r>
          </a:p>
        </p:txBody>
      </p:sp>
      <p:sp>
        <p:nvSpPr>
          <p:cNvPr id="13" name="TextBox 12"/>
          <p:cNvSpPr txBox="1"/>
          <p:nvPr/>
        </p:nvSpPr>
        <p:spPr>
          <a:xfrm>
            <a:off x="273405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£25</a:t>
            </a:r>
          </a:p>
        </p:txBody>
      </p:sp>
      <p:sp>
        <p:nvSpPr>
          <p:cNvPr id="14" name="TextBox 13"/>
          <p:cNvSpPr txBox="1"/>
          <p:nvPr/>
        </p:nvSpPr>
        <p:spPr>
          <a:xfrm>
            <a:off x="594360"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receives £25</a:t>
            </a:r>
          </a:p>
        </p:txBody>
      </p:sp>
      <p:sp>
        <p:nvSpPr>
          <p:cNvPr id="15" name="Rectangle 14"/>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3:4. There are 12 red counters. How many blue?</a:t>
            </a:r>
          </a:p>
        </p:txBody>
      </p:sp>
      <p:sp>
        <p:nvSpPr>
          <p:cNvPr id="17" name="TextBox 16"/>
          <p:cNvSpPr txBox="1"/>
          <p:nvPr/>
        </p:nvSpPr>
        <p:spPr>
          <a:xfrm>
            <a:off x="594360"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+ 4 = 7 parts</a:t>
            </a:r>
          </a:p>
        </p:txBody>
      </p:sp>
      <p:sp>
        <p:nvSpPr>
          <p:cNvPr id="18" name="TextBox 17"/>
          <p:cNvSpPr txBox="1"/>
          <p:nvPr/>
        </p:nvSpPr>
        <p:spPr>
          <a:xfrm>
            <a:off x="594360"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7 = 1 r 5</a:t>
            </a:r>
          </a:p>
        </p:txBody>
      </p:sp>
      <p:sp>
        <p:nvSpPr>
          <p:cNvPr id="19" name="TextBox 18"/>
          <p:cNvSpPr txBox="1"/>
          <p:nvPr/>
        </p:nvSpPr>
        <p:spPr>
          <a:xfrm>
            <a:off x="273405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 × 1</a:t>
            </a:r>
          </a:p>
        </p:txBody>
      </p:sp>
      <p:sp>
        <p:nvSpPr>
          <p:cNvPr id="20" name="TextBox 19"/>
          <p:cNvSpPr txBox="1"/>
          <p:nvPr/>
        </p:nvSpPr>
        <p:spPr>
          <a:xfrm>
            <a:off x="273405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a:t>
            </a:r>
          </a:p>
        </p:txBody>
      </p:sp>
      <p:sp>
        <p:nvSpPr>
          <p:cNvPr id="21" name="TextBox 20"/>
          <p:cNvSpPr txBox="1"/>
          <p:nvPr/>
        </p:nvSpPr>
        <p:spPr>
          <a:xfrm>
            <a:off x="594360"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 blue counters</a:t>
            </a:r>
          </a:p>
        </p:txBody>
      </p:sp>
      <p:sp>
        <p:nvSpPr>
          <p:cNvPr id="22" name="Rectangle 21"/>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12 sweets between A and B in ratio 1:3. How many does B get?</a:t>
            </a:r>
          </a:p>
        </p:txBody>
      </p:sp>
      <p:sp>
        <p:nvSpPr>
          <p:cNvPr id="24" name="TextBox 23"/>
          <p:cNvSpPr txBox="1"/>
          <p:nvPr/>
        </p:nvSpPr>
        <p:spPr>
          <a:xfrm>
            <a:off x="594360"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 + 3 = 4 parts</a:t>
            </a:r>
          </a:p>
        </p:txBody>
      </p:sp>
      <p:sp>
        <p:nvSpPr>
          <p:cNvPr id="25" name="TextBox 24"/>
          <p:cNvSpPr txBox="1"/>
          <p:nvPr/>
        </p:nvSpPr>
        <p:spPr>
          <a:xfrm>
            <a:off x="594360"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4 = 3</a:t>
            </a:r>
          </a:p>
        </p:txBody>
      </p:sp>
      <p:sp>
        <p:nvSpPr>
          <p:cNvPr id="26" name="TextBox 25"/>
          <p:cNvSpPr txBox="1"/>
          <p:nvPr/>
        </p:nvSpPr>
        <p:spPr>
          <a:xfrm>
            <a:off x="273405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3 + 3</a:t>
            </a:r>
          </a:p>
        </p:txBody>
      </p:sp>
      <p:sp>
        <p:nvSpPr>
          <p:cNvPr id="27" name="TextBox 26"/>
          <p:cNvSpPr txBox="1"/>
          <p:nvPr/>
        </p:nvSpPr>
        <p:spPr>
          <a:xfrm>
            <a:off x="273405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6</a:t>
            </a:r>
          </a:p>
        </p:txBody>
      </p:sp>
      <p:sp>
        <p:nvSpPr>
          <p:cNvPr id="28" name="TextBox 27"/>
          <p:cNvSpPr txBox="1"/>
          <p:nvPr/>
        </p:nvSpPr>
        <p:spPr>
          <a:xfrm>
            <a:off x="594360"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receives 6 sweets</a:t>
            </a:r>
          </a:p>
        </p:txBody>
      </p:sp>
      <p:sp>
        <p:nvSpPr>
          <p:cNvPr id="29" name="Rectangle 2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31" name="Rectangle 3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and B share counters in ratio 2:7. B has 30 more than A. How many does A have?</a:t>
            </a:r>
          </a:p>
        </p:txBody>
      </p:sp>
      <p:sp>
        <p:nvSpPr>
          <p:cNvPr id="33" name="TextBox 32"/>
          <p:cNvSpPr txBox="1"/>
          <p:nvPr/>
        </p:nvSpPr>
        <p:spPr>
          <a:xfrm>
            <a:off x="5215128"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7 − 2 = 5 parts</a:t>
            </a:r>
          </a:p>
        </p:txBody>
      </p:sp>
      <p:sp>
        <p:nvSpPr>
          <p:cNvPr id="34" name="TextBox 33"/>
          <p:cNvSpPr txBox="1"/>
          <p:nvPr/>
        </p:nvSpPr>
        <p:spPr>
          <a:xfrm>
            <a:off x="5215128"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30 ÷ 5 = 6</a:t>
            </a:r>
          </a:p>
        </p:txBody>
      </p:sp>
      <p:sp>
        <p:nvSpPr>
          <p:cNvPr id="35" name="TextBox 34"/>
          <p:cNvSpPr txBox="1"/>
          <p:nvPr/>
        </p:nvSpPr>
        <p:spPr>
          <a:xfrm>
            <a:off x="7354824"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 + 6</a:t>
            </a:r>
          </a:p>
        </p:txBody>
      </p:sp>
      <p:sp>
        <p:nvSpPr>
          <p:cNvPr id="36" name="TextBox 35"/>
          <p:cNvSpPr txBox="1"/>
          <p:nvPr/>
        </p:nvSpPr>
        <p:spPr>
          <a:xfrm>
            <a:off x="7354824"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8</a:t>
            </a:r>
          </a:p>
        </p:txBody>
      </p:sp>
      <p:sp>
        <p:nvSpPr>
          <p:cNvPr id="37" name="TextBox 36"/>
          <p:cNvSpPr txBox="1"/>
          <p:nvPr/>
        </p:nvSpPr>
        <p:spPr>
          <a:xfrm>
            <a:off x="5215128"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has 8 counters</a:t>
            </a:r>
          </a:p>
        </p:txBody>
      </p:sp>
      <p:sp>
        <p:nvSpPr>
          <p:cNvPr id="38" name="Rectangle 37"/>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4:3. There are 15 blue counters. How many red counters?</a:t>
            </a:r>
          </a:p>
        </p:txBody>
      </p:sp>
      <p:sp>
        <p:nvSpPr>
          <p:cNvPr id="40" name="TextBox 39"/>
          <p:cNvSpPr txBox="1"/>
          <p:nvPr/>
        </p:nvSpPr>
        <p:spPr>
          <a:xfrm>
            <a:off x="5215128"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15 ÷ 4 = 3.75</a:t>
            </a:r>
          </a:p>
        </p:txBody>
      </p:sp>
      <p:sp>
        <p:nvSpPr>
          <p:cNvPr id="41" name="TextBox 40"/>
          <p:cNvSpPr txBox="1"/>
          <p:nvPr/>
        </p:nvSpPr>
        <p:spPr>
          <a:xfrm>
            <a:off x="7354824"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3 × 3.75</a:t>
            </a:r>
          </a:p>
        </p:txBody>
      </p:sp>
      <p:sp>
        <p:nvSpPr>
          <p:cNvPr id="42" name="TextBox 41"/>
          <p:cNvSpPr txBox="1"/>
          <p:nvPr/>
        </p:nvSpPr>
        <p:spPr>
          <a:xfrm>
            <a:off x="7354824"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11.25</a:t>
            </a:r>
          </a:p>
        </p:txBody>
      </p:sp>
      <p:sp>
        <p:nvSpPr>
          <p:cNvPr id="43" name="TextBox 42"/>
          <p:cNvSpPr txBox="1"/>
          <p:nvPr/>
        </p:nvSpPr>
        <p:spPr>
          <a:xfrm>
            <a:off x="5215128"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11.25 red counters</a:t>
            </a:r>
          </a:p>
        </p:txBody>
      </p:sp>
      <p:sp>
        <p:nvSpPr>
          <p:cNvPr id="44" name="Rectangle 43"/>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share 56 counters in ratio 3:5. How many more does B get than A?</a:t>
            </a:r>
          </a:p>
        </p:txBody>
      </p:sp>
      <p:sp>
        <p:nvSpPr>
          <p:cNvPr id="46" name="TextBox 45"/>
          <p:cNvSpPr txBox="1"/>
          <p:nvPr/>
        </p:nvSpPr>
        <p:spPr>
          <a:xfrm>
            <a:off x="5215128"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+ 5 = 8 parts</a:t>
            </a:r>
          </a:p>
        </p:txBody>
      </p:sp>
      <p:sp>
        <p:nvSpPr>
          <p:cNvPr id="47" name="TextBox 46"/>
          <p:cNvSpPr txBox="1"/>
          <p:nvPr/>
        </p:nvSpPr>
        <p:spPr>
          <a:xfrm>
            <a:off x="5215128"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8 = 7</a:t>
            </a:r>
          </a:p>
        </p:txBody>
      </p:sp>
      <p:sp>
        <p:nvSpPr>
          <p:cNvPr id="48" name="TextBox 47"/>
          <p:cNvSpPr txBox="1"/>
          <p:nvPr/>
        </p:nvSpPr>
        <p:spPr>
          <a:xfrm>
            <a:off x="5215128" y="7150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3 × 7 = 21</a:t>
            </a:r>
          </a:p>
        </p:txBody>
      </p:sp>
      <p:sp>
        <p:nvSpPr>
          <p:cNvPr id="49" name="TextBox 48"/>
          <p:cNvSpPr txBox="1"/>
          <p:nvPr/>
        </p:nvSpPr>
        <p:spPr>
          <a:xfrm>
            <a:off x="7354824"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5 × 7 = 35</a:t>
            </a:r>
          </a:p>
        </p:txBody>
      </p:sp>
      <p:sp>
        <p:nvSpPr>
          <p:cNvPr id="50" name="TextBox 49"/>
          <p:cNvSpPr txBox="1"/>
          <p:nvPr/>
        </p:nvSpPr>
        <p:spPr>
          <a:xfrm>
            <a:off x="7354824"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+ 35 = 56</a:t>
            </a:r>
          </a:p>
        </p:txBody>
      </p:sp>
      <p:sp>
        <p:nvSpPr>
          <p:cNvPr id="51" name="TextBox 50"/>
          <p:cNvSpPr txBox="1"/>
          <p:nvPr/>
        </p:nvSpPr>
        <p:spPr>
          <a:xfrm>
            <a:off x="5215128"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gets 56 more counters</a:t>
            </a:r>
          </a:p>
        </p:txBody>
      </p:sp>
      <p:sp>
        <p:nvSpPr>
          <p:cNvPr id="52" name="Rectangle 5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54" name="Rectangle 5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group has 65 people. Adults:children = 5:8. How many more children than adults?</a:t>
            </a:r>
          </a:p>
        </p:txBody>
      </p:sp>
      <p:sp>
        <p:nvSpPr>
          <p:cNvPr id="56" name="TextBox 55"/>
          <p:cNvSpPr txBox="1"/>
          <p:nvPr/>
        </p:nvSpPr>
        <p:spPr>
          <a:xfrm>
            <a:off x="983589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 + 8 = 13 parts</a:t>
            </a:r>
          </a:p>
        </p:txBody>
      </p:sp>
      <p:sp>
        <p:nvSpPr>
          <p:cNvPr id="57" name="TextBox 56"/>
          <p:cNvSpPr txBox="1"/>
          <p:nvPr/>
        </p:nvSpPr>
        <p:spPr>
          <a:xfrm>
            <a:off x="983589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65 ÷ 13 = 5</a:t>
            </a:r>
          </a:p>
        </p:txBody>
      </p:sp>
      <p:sp>
        <p:nvSpPr>
          <p:cNvPr id="58" name="TextBox 57"/>
          <p:cNvSpPr txBox="1"/>
          <p:nvPr/>
        </p:nvSpPr>
        <p:spPr>
          <a:xfrm>
            <a:off x="9835896" y="3145536"/>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Adults = 5 × 5 = 25</a:t>
            </a:r>
          </a:p>
        </p:txBody>
      </p:sp>
      <p:sp>
        <p:nvSpPr>
          <p:cNvPr id="59" name="TextBox 58"/>
          <p:cNvSpPr txBox="1"/>
          <p:nvPr/>
        </p:nvSpPr>
        <p:spPr>
          <a:xfrm>
            <a:off x="11975592"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40</a:t>
            </a:r>
          </a:p>
        </p:txBody>
      </p:sp>
      <p:sp>
        <p:nvSpPr>
          <p:cNvPr id="60" name="TextBox 59"/>
          <p:cNvSpPr txBox="1"/>
          <p:nvPr/>
        </p:nvSpPr>
        <p:spPr>
          <a:xfrm>
            <a:off x="11975592"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3</a:t>
            </a:r>
          </a:p>
        </p:txBody>
      </p:sp>
      <p:sp>
        <p:nvSpPr>
          <p:cNvPr id="61" name="TextBox 60"/>
          <p:cNvSpPr txBox="1"/>
          <p:nvPr/>
        </p:nvSpPr>
        <p:spPr>
          <a:xfrm>
            <a:off x="9835896"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3 more children</a:t>
            </a:r>
          </a:p>
        </p:txBody>
      </p:sp>
      <p:sp>
        <p:nvSpPr>
          <p:cNvPr id="62" name="Rectangle 6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Two ribbon lengths are in ratio 3:8 and differ by 35 cm. Find their total length.</a:t>
            </a:r>
          </a:p>
        </p:txBody>
      </p:sp>
      <p:sp>
        <p:nvSpPr>
          <p:cNvPr id="64" name="TextBox 63"/>
          <p:cNvSpPr txBox="1"/>
          <p:nvPr/>
        </p:nvSpPr>
        <p:spPr>
          <a:xfrm>
            <a:off x="983589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8 − 3 = 5 parts</a:t>
            </a:r>
          </a:p>
        </p:txBody>
      </p:sp>
      <p:sp>
        <p:nvSpPr>
          <p:cNvPr id="65" name="TextBox 64"/>
          <p:cNvSpPr txBox="1"/>
          <p:nvPr/>
        </p:nvSpPr>
        <p:spPr>
          <a:xfrm>
            <a:off x="983589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5 = 7</a:t>
            </a:r>
          </a:p>
        </p:txBody>
      </p:sp>
      <p:sp>
        <p:nvSpPr>
          <p:cNvPr id="66" name="TextBox 65"/>
          <p:cNvSpPr txBox="1"/>
          <p:nvPr/>
        </p:nvSpPr>
        <p:spPr>
          <a:xfrm>
            <a:off x="9835896" y="5148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Short = 3 × 7 = 21</a:t>
            </a:r>
          </a:p>
        </p:txBody>
      </p:sp>
      <p:sp>
        <p:nvSpPr>
          <p:cNvPr id="67" name="TextBox 66"/>
          <p:cNvSpPr txBox="1"/>
          <p:nvPr/>
        </p:nvSpPr>
        <p:spPr>
          <a:xfrm>
            <a:off x="11975592"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Long = 8 × 7 = 56</a:t>
            </a:r>
          </a:p>
        </p:txBody>
      </p:sp>
      <p:sp>
        <p:nvSpPr>
          <p:cNvPr id="68" name="TextBox 67"/>
          <p:cNvSpPr txBox="1"/>
          <p:nvPr/>
        </p:nvSpPr>
        <p:spPr>
          <a:xfrm>
            <a:off x="11975592"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56 − 21 = 35</a:t>
            </a:r>
          </a:p>
        </p:txBody>
      </p:sp>
      <p:sp>
        <p:nvSpPr>
          <p:cNvPr id="69" name="TextBox 68"/>
          <p:cNvSpPr txBox="1"/>
          <p:nvPr/>
        </p:nvSpPr>
        <p:spPr>
          <a:xfrm>
            <a:off x="9835896"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length = 35 cm</a:t>
            </a:r>
          </a:p>
        </p:txBody>
      </p:sp>
      <p:sp>
        <p:nvSpPr>
          <p:cNvPr id="70" name="Rectangle 69"/>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have tokens in ratio 7:4. A has 42. How many tokens in total?</a:t>
            </a:r>
          </a:p>
        </p:txBody>
      </p:sp>
      <p:sp>
        <p:nvSpPr>
          <p:cNvPr id="72" name="TextBox 71"/>
          <p:cNvSpPr txBox="1"/>
          <p:nvPr/>
        </p:nvSpPr>
        <p:spPr>
          <a:xfrm>
            <a:off x="983589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7 = 6</a:t>
            </a:r>
          </a:p>
        </p:txBody>
      </p:sp>
      <p:sp>
        <p:nvSpPr>
          <p:cNvPr id="73" name="TextBox 72"/>
          <p:cNvSpPr txBox="1"/>
          <p:nvPr/>
        </p:nvSpPr>
        <p:spPr>
          <a:xfrm>
            <a:off x="983589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4 × 6 = 24</a:t>
            </a:r>
          </a:p>
        </p:txBody>
      </p:sp>
      <p:sp>
        <p:nvSpPr>
          <p:cNvPr id="74" name="TextBox 73"/>
          <p:cNvSpPr txBox="1"/>
          <p:nvPr/>
        </p:nvSpPr>
        <p:spPr>
          <a:xfrm>
            <a:off x="11975592"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+ 4 = 46</a:t>
            </a:r>
          </a:p>
        </p:txBody>
      </p:sp>
      <p:sp>
        <p:nvSpPr>
          <p:cNvPr id="75" name="TextBox 74"/>
          <p:cNvSpPr txBox="1"/>
          <p:nvPr/>
        </p:nvSpPr>
        <p:spPr>
          <a:xfrm>
            <a:off x="9835896"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 46 tokens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ropes have lengths in the ratio 1:3. The longer rope is 12 m longer than the shorter. Find their total length.</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5:3. There are 16 more adult tickets. How many child tickets are sold?</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counters are in the ratio 1:5. There are 24 fewer red than blue. Find the number of each colour.</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have lengths in the ratio 4:7. Rope B is 15 m longer than rope A. How long is rope A?</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beads are in the ratio 3:5. There are 12 more blue beads than red beads. How many blue beads are there?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have masses in the ratio 5:4. There is 300 g of sugar. Find the total mass.</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5:2. There is 150 g more flour than sugar. How much flour is there?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6:1. Find the volume of each ingredient.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2:1. Practice lasts 36 minutes. How long is the rest?</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6:5. Practice lasts 54 minutes. Find the total session time.</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1:7. Find the mass of raisins.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1:8. The uphill section is 3 km. Find the total distance.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butter have masses in the ratio 9:2. There is 280 g less butter than flour. Find the total mass.</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Fences A and B have lengths in the ratio 7:6. Fence A is 9 m longer than fence B. How long is fence B?</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45-minute lesson has instruction and practice in the ratio 1:2. How long is spent practising?</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Eve and Max share money in the ratio 8:5. Eve gets £21 more than Max. How much does Max get?</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Reading and writing take 78 minutes in total, in the ratio 4:9. Find both times.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5:1. Studying takes 48 minutes longer than breaks. How long are the breaks?</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white flowers are in the ratio 4:5. There are 7 more white than red. How many are white?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300 g mix contains raisins and oats in the ratio 7:8. Find the mass of raisins.</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Nia and Tom share £208 in the ratio 7:9. How much more does Tom get than Nia?</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mixed in the ratio 1:3. There is 180 ml of white paint. Find the total volume.</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sheep and goats in the ratio 9:1. There are 72 sheep. How many animals are there altogether?</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9:8. There are 81 adult tickets. Find the total number of tickets.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8:1. Study takes 64 minutes. Find the total time.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sessions have durations in the ratio 1:10. The second lasts 72 minutes longer. Find the first session’s duration.</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coffee are mixed in the ratio 4:1. There is 100 ml of coffee. Find the volume of milk.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Rods A and B have lengths in the ratio 5:8. Rod B is 21 mm longer than rod A. How long is rod B?</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Dan and Pat share money in the ratio 1:6. Pat gets £70 more than Dan. How much does Dan get?</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143 sheep and goats in the ratio 10:3. How many more sheep are there than goats?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Action and dialogue times are in the ratio 5:6. Dialogue lasts 15 minutes longer. How long is the dialogue?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Green and yellow beads are in the ratio 7:8. There are 3 more yellow than green. How many are yellow?</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water have volumes in the ratio 10:7. There is 500 ml of milk. How much less water is there than milk?</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800 g fruit mix contains apples and pears in the ratio 7:1. Find the mass of pears.</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£90 in the ratio 9:1. How much does Jo receive?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7:6. A is 84 cm long. Find the length of B.</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Concentrate and water are mixed in the ratio 2:9. There is 675 ml of water. Find the total volume.</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950 g mix contains oats and raisins in the ratio 10:9. Find the mass of each ingredient.</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30-minute trip has walking and cycling times in the ratio 1:2. Find the cycling time.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charities receive money in the ratio 7:9. The second gets £108. How much is donated altogether?</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tanks hold water in the ratio 1:11. The second holds 90 litres more. How much water is in the first?</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buckets contain 20 litres of water in total, in the ratio 1:3. Find the amount in each bucket.</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tray has 102 red and yellow plants in the ratio 8:9. How many plants are yellow?</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Ribbons A and B have lengths in the ratio 2:3. B is 12 cm longer than A. How long is ribbon B?</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Mixing and baking times are in the ratio 1:5. Baking takes 25 minutes. How long does mixing take?</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weighs 16 kg more. How much does the lighter weigh?</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11:2. There are 143 adult tickets. How many more adult tickets are sold?</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Dark and milk chocolates are in the ratio 1:4. There are 36 more milk than dark. How many are milk?</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in the ratio 2:5. There are 9 litres more white than blue. How much is blue?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Leah and Omar receive money in the ratio 3:11. Leah gets £64 less than Omar. How much does Omar get?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bread mix has white and brown flour in the ratio 4:3. Find the mass of brown flour.</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total 56 m, with lengths in the ratio 5:3. Find the length of B.</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