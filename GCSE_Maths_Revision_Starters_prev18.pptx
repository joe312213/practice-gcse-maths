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changesInfos/changesInfo1.xml" ContentType="application/vnd.ms-powerpoint.changesinfo+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revisionInfo.xml" ContentType="application/vnd.ms-powerpoint.revisioninfo+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4"/>
  </p:notesMasterIdLst>
  <p:sldIdLst>
    <p:sldId id="256" r:id="rId9"/>
    <p:sldId id="257" r:id="rId10"/>
    <p:sldId id="258" r:id="rId11"/>
    <p:sldId id="259" r:id="rId12"/>
    <p:sldId id="260" r:id="rId13"/>
    <p:sldId id="261" r:id="rId14"/>
    <p:sldId id="262" r:id="rId15"/>
    <p:sldId id="263" r:id="rId16"/>
    <p:sldId id="264" r:id="rId17"/>
    <p:sldId id="265" r:id="rId18"/>
    <p:sldId id="266" r:id="rId19"/>
    <p:sldId id="267" r:id="rId20"/>
    <p:sldId id="268" r:id="rId21"/>
    <p:sldId id="269" r:id="rId22"/>
    <p:sldId id="270" r:id="rId23"/>
    <p:sldId id="271" r:id="rId8"/>
    <p:sldId id="272" r:id="rId7"/>
    <p:sldId id="273" r:id="rId6"/>
    <p:sldId id="274" r:id="rId5"/>
    <p:sldId id="275" r:id="rId4"/>
    <p:sldId id="276" r:id="rId3"/>
    <p:sldId id="277" r:id="rId2"/>
    <p:sldId id="278" r:id="rId31"/>
    <p:sldId id="279" r:id="rId32"/>
    <p:sldId id="280" r:id="rId33"/>
    <p:sldId id="281" r:id="rId34"/>
    <p:sldId id="282" r:id="rId35"/>
    <p:sldId id="283" r:id="rId36"/>
    <p:sldId id="284" r:id="rId37"/>
    <p:sldId id="285" r:id="rId38"/>
    <p:sldId id="286" r:id="rId39"/>
    <p:sldId id="287" r:id="rId40"/>
    <p:sldId id="288" r:id="rId41"/>
    <p:sldId id="289" r:id="rId42"/>
    <p:sldId id="290" r:id="rId43"/>
    <p:sldId id="291" r:id="rId44"/>
    <p:sldId id="292" r:id="rId45"/>
    <p:sldId id="293" r:id="rId46"/>
    <p:sldId id="294" r:id="rId47"/>
    <p:sldId id="295" r:id="rId48"/>
    <p:sldId id="296" r:id="rId49"/>
    <p:sldId id="297" r:id="rId50"/>
    <p:sldId id="298" r:id="rId51"/>
    <p:sldId id="299" r:id="rId52"/>
    <p:sldId id="300" r:id="rId53"/>
    <p:sldId id="301" r:id="rId54"/>
    <p:sldId id="302" r:id="rId55"/>
    <p:sldId id="303" r:id="rId56"/>
    <p:sldId id="304" r:id="rId57"/>
    <p:sldId id="305" r:id="rId58"/>
    <p:sldId id="306" r:id="rId59"/>
    <p:sldId id="307" r:id="rId60"/>
    <p:sldId id="308" r:id="rId61"/>
    <p:sldId id="309" r:id="rId62"/>
    <p:sldId id="310" r:id="rId63"/>
    <p:sldId id="311" r:id="rId64"/>
    <p:sldId id="312" r:id="rId65"/>
    <p:sldId id="313" r:id="rId66"/>
    <p:sldId id="314" r:id="rId67"/>
    <p:sldId id="315" r:id="rId68"/>
    <p:sldId id="316" r:id="rId69"/>
    <p:sldId id="317" r:id="rId70"/>
    <p:sldId id="318" r:id="rId71"/>
    <p:sldId id="319" r:id="rId72"/>
    <p:sldId id="320" r:id="rId73"/>
    <p:sldId id="321" r:id="rId74"/>
    <p:sldId id="322" r:id="rId75"/>
  </p:sldIdLst>
  <p:sldSz cx="14630400" cy="82296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2CDF5D94-B901-6206-A612-082DFF76D998}" v="4" dt="2026-09-24T15:48:54.034"/>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slideViewPr>
    <p:cSldViewPr snapToGrid="0">
      <p:cViewPr>
        <p:scale>
          <a:sx n="1" d="2"/>
          <a:sy n="1" d="2"/>
        </p:scale>
        <p:origin x="0" y="0"/>
      </p:cViewPr>
      <p:guideLst>
        <p:guide orient="horz" pos="2160"/>
        <p:guide pos="2880"/>
      </p:guideLst>
    </p:cSldViewPr>
  </p:slide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22.xml"/><Relationship Id="rId3" Type="http://schemas.openxmlformats.org/officeDocument/2006/relationships/slide" Target="slides/slide21.xml"/><Relationship Id="rId4" Type="http://schemas.openxmlformats.org/officeDocument/2006/relationships/slide" Target="slides/slide20.xml"/><Relationship Id="rId5" Type="http://schemas.openxmlformats.org/officeDocument/2006/relationships/slide" Target="slides/slide19.xml"/><Relationship Id="rId6" Type="http://schemas.openxmlformats.org/officeDocument/2006/relationships/slide" Target="slides/slide18.xml"/><Relationship Id="rId7" Type="http://schemas.openxmlformats.org/officeDocument/2006/relationships/slide" Target="slides/slide17.xml"/><Relationship Id="rId8" Type="http://schemas.openxmlformats.org/officeDocument/2006/relationships/slide" Target="slides/slide16.xml"/><Relationship Id="rId9" Type="http://schemas.openxmlformats.org/officeDocument/2006/relationships/slide" Target="slides/slide1.xml"/><Relationship Id="rId10" Type="http://schemas.openxmlformats.org/officeDocument/2006/relationships/slide" Target="slides/slide2.xml"/><Relationship Id="rId11" Type="http://schemas.openxmlformats.org/officeDocument/2006/relationships/slide" Target="slides/slide3.xml"/><Relationship Id="rId12" Type="http://schemas.openxmlformats.org/officeDocument/2006/relationships/slide" Target="slides/slide4.xml"/><Relationship Id="rId13" Type="http://schemas.openxmlformats.org/officeDocument/2006/relationships/slide" Target="slides/slide5.xml"/><Relationship Id="rId14" Type="http://schemas.openxmlformats.org/officeDocument/2006/relationships/slide" Target="slides/slide6.xml"/><Relationship Id="rId15" Type="http://schemas.openxmlformats.org/officeDocument/2006/relationships/slide" Target="slides/slide7.xml"/><Relationship Id="rId16" Type="http://schemas.openxmlformats.org/officeDocument/2006/relationships/slide" Target="slides/slide8.xml"/><Relationship Id="rId17" Type="http://schemas.openxmlformats.org/officeDocument/2006/relationships/slide" Target="slides/slide9.xml"/><Relationship Id="rId18" Type="http://schemas.openxmlformats.org/officeDocument/2006/relationships/slide" Target="slides/slide10.xml"/><Relationship Id="rId19" Type="http://schemas.openxmlformats.org/officeDocument/2006/relationships/slide" Target="slides/slide11.xml"/><Relationship Id="rId20" Type="http://schemas.openxmlformats.org/officeDocument/2006/relationships/slide" Target="slides/slide12.xml"/><Relationship Id="rId21" Type="http://schemas.openxmlformats.org/officeDocument/2006/relationships/slide" Target="slides/slide13.xml"/><Relationship Id="rId22" Type="http://schemas.openxmlformats.org/officeDocument/2006/relationships/slide" Target="slides/slide14.xml"/><Relationship Id="rId23" Type="http://schemas.openxmlformats.org/officeDocument/2006/relationships/slide" Target="slides/slide15.xml"/><Relationship Id="rId24" Type="http://schemas.openxmlformats.org/officeDocument/2006/relationships/notesMaster" Target="notesMasters/notesMaster1.xml"/><Relationship Id="rId25" Type="http://schemas.openxmlformats.org/officeDocument/2006/relationships/presProps" Target="presProps.xml"/><Relationship Id="rId26" Type="http://schemas.openxmlformats.org/officeDocument/2006/relationships/viewProps" Target="viewProps.xml"/><Relationship Id="rId27" Type="http://schemas.openxmlformats.org/officeDocument/2006/relationships/theme" Target="theme/theme1.xml"/><Relationship Id="rId28" Type="http://schemas.openxmlformats.org/officeDocument/2006/relationships/tableStyles" Target="tableStyles.xml"/><Relationship Id="rId29" Type="http://schemas.microsoft.com/office/2016/11/relationships/changesInfo" Target="changesInfos/changesInfo1.xml"/><Relationship Id="rId30" Type="http://schemas.microsoft.com/office/2015/10/relationships/revisionInfo" Target="revisionInfo.xml"/><Relationship Id="rId31" Type="http://schemas.openxmlformats.org/officeDocument/2006/relationships/slide" Target="slides/slide23.xml"/><Relationship Id="rId32" Type="http://schemas.openxmlformats.org/officeDocument/2006/relationships/slide" Target="slides/slide24.xml"/><Relationship Id="rId33" Type="http://schemas.openxmlformats.org/officeDocument/2006/relationships/slide" Target="slides/slide25.xml"/><Relationship Id="rId34" Type="http://schemas.openxmlformats.org/officeDocument/2006/relationships/slide" Target="slides/slide26.xml"/><Relationship Id="rId35" Type="http://schemas.openxmlformats.org/officeDocument/2006/relationships/slide" Target="slides/slide27.xml"/><Relationship Id="rId36" Type="http://schemas.openxmlformats.org/officeDocument/2006/relationships/slide" Target="slides/slide28.xml"/><Relationship Id="rId37" Type="http://schemas.openxmlformats.org/officeDocument/2006/relationships/slide" Target="slides/slide29.xml"/><Relationship Id="rId38" Type="http://schemas.openxmlformats.org/officeDocument/2006/relationships/slide" Target="slides/slide30.xml"/><Relationship Id="rId39" Type="http://schemas.openxmlformats.org/officeDocument/2006/relationships/slide" Target="slides/slide31.xml"/><Relationship Id="rId40" Type="http://schemas.openxmlformats.org/officeDocument/2006/relationships/slide" Target="slides/slide32.xml"/><Relationship Id="rId41" Type="http://schemas.openxmlformats.org/officeDocument/2006/relationships/slide" Target="slides/slide33.xml"/><Relationship Id="rId42" Type="http://schemas.openxmlformats.org/officeDocument/2006/relationships/slide" Target="slides/slide34.xml"/><Relationship Id="rId43" Type="http://schemas.openxmlformats.org/officeDocument/2006/relationships/slide" Target="slides/slide35.xml"/><Relationship Id="rId44" Type="http://schemas.openxmlformats.org/officeDocument/2006/relationships/slide" Target="slides/slide36.xml"/><Relationship Id="rId45" Type="http://schemas.openxmlformats.org/officeDocument/2006/relationships/slide" Target="slides/slide37.xml"/><Relationship Id="rId46" Type="http://schemas.openxmlformats.org/officeDocument/2006/relationships/slide" Target="slides/slide38.xml"/><Relationship Id="rId47" Type="http://schemas.openxmlformats.org/officeDocument/2006/relationships/slide" Target="slides/slide39.xml"/><Relationship Id="rId48" Type="http://schemas.openxmlformats.org/officeDocument/2006/relationships/slide" Target="slides/slide40.xml"/><Relationship Id="rId49" Type="http://schemas.openxmlformats.org/officeDocument/2006/relationships/slide" Target="slides/slide41.xml"/><Relationship Id="rId50" Type="http://schemas.openxmlformats.org/officeDocument/2006/relationships/slide" Target="slides/slide42.xml"/><Relationship Id="rId51" Type="http://schemas.openxmlformats.org/officeDocument/2006/relationships/slide" Target="slides/slide43.xml"/><Relationship Id="rId52" Type="http://schemas.openxmlformats.org/officeDocument/2006/relationships/slide" Target="slides/slide44.xml"/><Relationship Id="rId53" Type="http://schemas.openxmlformats.org/officeDocument/2006/relationships/slide" Target="slides/slide45.xml"/><Relationship Id="rId54" Type="http://schemas.openxmlformats.org/officeDocument/2006/relationships/slide" Target="slides/slide46.xml"/><Relationship Id="rId55" Type="http://schemas.openxmlformats.org/officeDocument/2006/relationships/slide" Target="slides/slide47.xml"/><Relationship Id="rId56" Type="http://schemas.openxmlformats.org/officeDocument/2006/relationships/slide" Target="slides/slide48.xml"/><Relationship Id="rId57" Type="http://schemas.openxmlformats.org/officeDocument/2006/relationships/slide" Target="slides/slide49.xml"/><Relationship Id="rId58" Type="http://schemas.openxmlformats.org/officeDocument/2006/relationships/slide" Target="slides/slide50.xml"/><Relationship Id="rId59" Type="http://schemas.openxmlformats.org/officeDocument/2006/relationships/slide" Target="slides/slide51.xml"/><Relationship Id="rId60" Type="http://schemas.openxmlformats.org/officeDocument/2006/relationships/slide" Target="slides/slide52.xml"/><Relationship Id="rId61" Type="http://schemas.openxmlformats.org/officeDocument/2006/relationships/slide" Target="slides/slide53.xml"/><Relationship Id="rId62" Type="http://schemas.openxmlformats.org/officeDocument/2006/relationships/slide" Target="slides/slide54.xml"/><Relationship Id="rId63" Type="http://schemas.openxmlformats.org/officeDocument/2006/relationships/slide" Target="slides/slide55.xml"/><Relationship Id="rId64" Type="http://schemas.openxmlformats.org/officeDocument/2006/relationships/slide" Target="slides/slide56.xml"/><Relationship Id="rId65" Type="http://schemas.openxmlformats.org/officeDocument/2006/relationships/slide" Target="slides/slide57.xml"/><Relationship Id="rId66" Type="http://schemas.openxmlformats.org/officeDocument/2006/relationships/slide" Target="slides/slide58.xml"/><Relationship Id="rId67" Type="http://schemas.openxmlformats.org/officeDocument/2006/relationships/slide" Target="slides/slide59.xml"/><Relationship Id="rId68" Type="http://schemas.openxmlformats.org/officeDocument/2006/relationships/slide" Target="slides/slide60.xml"/><Relationship Id="rId69" Type="http://schemas.openxmlformats.org/officeDocument/2006/relationships/slide" Target="slides/slide61.xml"/><Relationship Id="rId70" Type="http://schemas.openxmlformats.org/officeDocument/2006/relationships/slide" Target="slides/slide62.xml"/><Relationship Id="rId71" Type="http://schemas.openxmlformats.org/officeDocument/2006/relationships/slide" Target="slides/slide63.xml"/><Relationship Id="rId72" Type="http://schemas.openxmlformats.org/officeDocument/2006/relationships/slide" Target="slides/slide64.xml"/><Relationship Id="rId73" Type="http://schemas.openxmlformats.org/officeDocument/2006/relationships/slide" Target="slides/slide65.xml"/><Relationship Id="rId74" Type="http://schemas.openxmlformats.org/officeDocument/2006/relationships/slide" Target="slides/slide66.xml"/><Relationship Id="rId75" Type="http://schemas.openxmlformats.org/officeDocument/2006/relationships/slide" Target="slides/slide67.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Joe Hudson" userId="41092641-dab8-42af-8751-810f10f62201" providerId="ADAL" clId="{2D5970AC-48F5-4BA0-8370-EBD52AA4EFA8}"/>
    <pc:docChg chg="modSld">
      <pc:chgData name="Joe Hudson" userId="41092641-dab8-42af-8751-810f10f62201" providerId="ADAL" clId="{2D5970AC-48F5-4BA0-8370-EBD52AA4EFA8}" dt="2026-09-24T12:16:27.943" v="25" actId="20577"/>
      <pc:docMkLst>
        <pc:docMk/>
      </pc:docMkLst>
      <pc:sldChg chg="modSp mod">
        <pc:chgData name="Joe Hudson" userId="41092641-dab8-42af-8751-810f10f62201" providerId="ADAL" clId="{2D5970AC-48F5-4BA0-8370-EBD52AA4EFA8}" dt="2026-09-24T12:16:27.943" v="25" actId="20577"/>
        <pc:sldMkLst>
          <pc:docMk/>
          <pc:sldMk cId="0" sldId="257"/>
        </pc:sldMkLst>
        <pc:spChg chg="mod">
          <ac:chgData name="Joe Hudson" userId="41092641-dab8-42af-8751-810f10f62201" providerId="ADAL" clId="{2D5970AC-48F5-4BA0-8370-EBD52AA4EFA8}" dt="2026-09-24T12:16:27.943" v="25" actId="20577"/>
          <ac:spMkLst>
            <pc:docMk/>
            <pc:sldMk cId="0" sldId="257"/>
            <ac:spMk id="36" creationId="{00000000-0000-0000-0000-000000000000}"/>
          </ac:spMkLst>
        </pc:spChg>
      </pc:sldChg>
      <pc:sldChg chg="modSp mod">
        <pc:chgData name="Joe Hudson" userId="41092641-dab8-42af-8751-810f10f62201" providerId="ADAL" clId="{2D5970AC-48F5-4BA0-8370-EBD52AA4EFA8}" dt="2026-09-24T12:16:16.865" v="12" actId="20577"/>
        <pc:sldMkLst>
          <pc:docMk/>
          <pc:sldMk cId="0" sldId="258"/>
        </pc:sldMkLst>
        <pc:spChg chg="mod">
          <ac:chgData name="Joe Hudson" userId="41092641-dab8-42af-8751-810f10f62201" providerId="ADAL" clId="{2D5970AC-48F5-4BA0-8370-EBD52AA4EFA8}" dt="2026-09-24T12:16:16.865" v="12" actId="20577"/>
          <ac:spMkLst>
            <pc:docMk/>
            <pc:sldMk cId="0" sldId="258"/>
            <ac:spMk id="36" creationId="{00000000-0000-0000-0000-000000000000}"/>
          </ac:spMkLst>
        </pc:spChg>
      </pc:sldChg>
    </pc:docChg>
  </pc:docChgLst>
  <pc:docChgLst>
    <pc:chgData name="Joe Hudson" userId="S::joe.hudson@shcg.ac.uk::41092641-dab8-42af-8751-810f10f62201" providerId="AD" clId="Web-{2CDF5D94-B901-6206-A612-082DFF76D998}"/>
    <pc:docChg chg="modSld">
      <pc:chgData name="Joe Hudson" userId="S::joe.hudson@shcg.ac.uk::41092641-dab8-42af-8751-810f10f62201" providerId="AD" clId="Web-{2CDF5D94-B901-6206-A612-082DFF76D998}" dt="2026-09-24T15:48:54.034" v="1" actId="20577"/>
      <pc:docMkLst>
        <pc:docMk/>
      </pc:docMkLst>
      <pc:sldChg chg="modSp">
        <pc:chgData name="Joe Hudson" userId="S::joe.hudson@shcg.ac.uk::41092641-dab8-42af-8751-810f10f62201" providerId="AD" clId="Web-{2CDF5D94-B901-6206-A612-082DFF76D998}" dt="2026-09-24T15:48:54.034" v="1" actId="20577"/>
        <pc:sldMkLst>
          <pc:docMk/>
          <pc:sldMk cId="0" sldId="276"/>
        </pc:sldMkLst>
        <pc:spChg chg="mod">
          <ac:chgData name="Joe Hudson" userId="S::joe.hudson@shcg.ac.uk::41092641-dab8-42af-8751-810f10f62201" providerId="AD" clId="Web-{2CDF5D94-B901-6206-A612-082DFF76D998}" dt="2026-09-24T15:48:54.034" v="1" actId="20577"/>
          <ac:spMkLst>
            <pc:docMk/>
            <pc:sldMk cId="0" sldId="276"/>
            <ac:spMk id="39" creationId="{00000000-0000-0000-0000-000000000000}"/>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08836646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0.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2.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3.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4.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5.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6.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7.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8.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0.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1.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2.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3.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4.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5.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6.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7.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Lattice Multiplication — worked demo</a:t>
            </a:r>
          </a:p>
          <a:p>
            <a:endParaRPr/>
          </a:p>
          <a:p>
            <a:r>
              <a:t>Guided: 43 × 6 = 258. Core: 34 × 12 = 408. Depth: 4,312 × 156 = 672,672.</a:t>
            </a:r>
          </a:p>
          <a:p>
            <a:endParaRPr/>
          </a:p>
          <a:p>
            <a:r>
              <a:t>The completed lattice diagrams are editable grouped PowerPoint shapes. Diagonals run from bottom left to top right. Place tens above each diagonal and units below it. Put answer digits at the ends of their diagonal tracks, down the left edge and along the bottom. Place carries at the bottom end of the NEXT diagonal in smaller text. Depth diagonal totals from right to left, including carries: 2, 7, 16, 12, 7, 6, 0. The last 1 in the fourth and fifth sums is a carry. Read the result in reverse order and omit the leading zero: 672672.</a:t>
            </a:r>
          </a:p>
        </p:txBody>
      </p:sp>
      <p:sp>
        <p:nvSpPr>
          <p:cNvPr id="4" name="Slide Number Placeholder 3"/>
          <p:cNvSpPr>
            <a:spLocks noGrp="1"/>
          </p:cNvSpPr>
          <p:nvPr>
            <p:ph type="sldNum" sz="quarter" idx="5"/>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Lattice Multiplication — step-by-step practice 1</a:t>
            </a:r>
          </a:p>
          <a:p>
            <a:endParaRPr/>
          </a:p>
          <a:p>
            <a:r>
              <a:t>Thread 1: Guided: 53 × 7 = **371**</a:t>
            </a:r>
          </a:p>
          <a:p>
            <a:endParaRPr/>
          </a:p>
          <a:p>
            <a:r>
              <a:t>Thread 2: Core: 24 × 15 = **360**</a:t>
            </a:r>
          </a:p>
          <a:p>
            <a:endParaRPr/>
          </a:p>
          <a:p>
            <a:r>
              <a:t>Thread 3: Depth: 1,245 × 326 = **405,870**</a:t>
            </a:r>
          </a:p>
        </p:txBody>
      </p:sp>
      <p:sp>
        <p:nvSpPr>
          <p:cNvPr id="4" name="Slide Number Placeholder 3"/>
          <p:cNvSpPr>
            <a:spLocks noGrp="1"/>
          </p:cNvSpPr>
          <p:nvPr>
            <p:ph type="sldNum" sz="quarter" idx="5"/>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Lattice Multiplication — step-by-step practice 2</a:t>
            </a:r>
          </a:p>
          <a:p>
            <a:endParaRPr/>
          </a:p>
          <a:p>
            <a:r>
              <a:t>Thread 1: Guided: 84 × 5 = **420**</a:t>
            </a:r>
          </a:p>
          <a:p>
            <a:endParaRPr/>
          </a:p>
          <a:p>
            <a:r>
              <a:t>Thread 2: Core: 63 × 28 = **1,764**</a:t>
            </a:r>
          </a:p>
          <a:p>
            <a:endParaRPr/>
          </a:p>
          <a:p>
            <a:r>
              <a:t>Thread 3: Depth: 3,142 × 2045 = **6,425,390**</a:t>
            </a:r>
          </a:p>
        </p:txBody>
      </p:sp>
      <p:sp>
        <p:nvSpPr>
          <p:cNvPr id="4" name="Slide Number Placeholder 3"/>
          <p:cNvSpPr>
            <a:spLocks noGrp="1"/>
          </p:cNvSpPr>
          <p:nvPr>
            <p:ph type="sldNum" sz="quarter" idx="5"/>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Lattice Multiplication — independent practice 1</a:t>
            </a:r>
          </a:p>
          <a:p>
            <a:endParaRPr/>
          </a:p>
          <a:p>
            <a:r>
              <a:t>### Thread 1: Guided</a:t>
            </a:r>
          </a:p>
          <a:p>
            <a:endParaRPr/>
          </a:p>
          <a:p>
            <a:r>
              <a:t>1. 32 × 4 = **128**</a:t>
            </a:r>
          </a:p>
          <a:p>
            <a:endParaRPr/>
          </a:p>
          <a:p>
            <a:r>
              <a:t>2. 61 × 8 = **488**</a:t>
            </a:r>
          </a:p>
          <a:p>
            <a:endParaRPr/>
          </a:p>
          <a:p>
            <a:r>
              <a:t>3. 45 × 3 = **135**</a:t>
            </a:r>
          </a:p>
          <a:p>
            <a:endParaRPr/>
          </a:p>
          <a:p>
            <a:r>
              <a:t>4. 72 × 6 = **432**</a:t>
            </a:r>
          </a:p>
          <a:p>
            <a:endParaRPr/>
          </a:p>
          <a:p>
            <a:r>
              <a:t>5. 83 × 7 = **581**</a:t>
            </a:r>
          </a:p>
          <a:p>
            <a:endParaRPr/>
          </a:p>
          <a:p>
            <a:r>
              <a:t>6. 95 × 9 = **855**</a:t>
            </a:r>
          </a:p>
          <a:p>
            <a:endParaRPr/>
          </a:p>
          <a:p>
            <a:r>
              <a:t>### Thread 2: Core</a:t>
            </a:r>
          </a:p>
          <a:p>
            <a:endParaRPr/>
          </a:p>
          <a:p>
            <a:r>
              <a:t>1. 42 × 13 = **546**</a:t>
            </a:r>
          </a:p>
          <a:p>
            <a:endParaRPr/>
          </a:p>
          <a:p>
            <a:r>
              <a:t>2. 26 × 34 = **884**</a:t>
            </a:r>
          </a:p>
          <a:p>
            <a:endParaRPr/>
          </a:p>
          <a:p>
            <a:r>
              <a:t>3. 51 × 22 = **1,122**</a:t>
            </a:r>
          </a:p>
          <a:p>
            <a:endParaRPr/>
          </a:p>
          <a:p>
            <a:r>
              <a:t>4. 63 × 41 = **2,583**</a:t>
            </a:r>
          </a:p>
          <a:p>
            <a:endParaRPr/>
          </a:p>
          <a:p>
            <a:r>
              <a:t>5. 75 × 16 = **1,200**</a:t>
            </a:r>
          </a:p>
          <a:p>
            <a:endParaRPr/>
          </a:p>
          <a:p>
            <a:r>
              <a:t>6. 82 × 57 = **4,674**</a:t>
            </a:r>
          </a:p>
          <a:p>
            <a:endParaRPr/>
          </a:p>
          <a:p>
            <a:r>
              <a:t>### Thread 3: Depth</a:t>
            </a:r>
          </a:p>
          <a:p>
            <a:endParaRPr/>
          </a:p>
          <a:p>
            <a:r>
              <a:t>1. 342 × 15 = **5,130**</a:t>
            </a:r>
          </a:p>
          <a:p>
            <a:endParaRPr/>
          </a:p>
          <a:p>
            <a:r>
              <a:t>2. 612 × 24 = **14,688**</a:t>
            </a:r>
          </a:p>
          <a:p>
            <a:endParaRPr/>
          </a:p>
          <a:p>
            <a:r>
              <a:t>3. 1,234 × 125 = **154,250**</a:t>
            </a:r>
          </a:p>
          <a:p>
            <a:endParaRPr/>
          </a:p>
          <a:p>
            <a:r>
              <a:t>4. 2,105 × 304 = **639,920**</a:t>
            </a:r>
          </a:p>
          <a:p>
            <a:endParaRPr/>
          </a:p>
          <a:p>
            <a:r>
              <a:t>5. 4,316 × 1,024 = **4,419,584**</a:t>
            </a:r>
          </a:p>
          <a:p>
            <a:endParaRPr/>
          </a:p>
          <a:p>
            <a:r>
              <a:t>6. 7,029 × 2,316 = **16,279,164**</a:t>
            </a:r>
          </a:p>
        </p:txBody>
      </p:sp>
      <p:sp>
        <p:nvSpPr>
          <p:cNvPr id="4" name="Slide Number Placeholder 3"/>
          <p:cNvSpPr>
            <a:spLocks noGrp="1"/>
          </p:cNvSpPr>
          <p:nvPr>
            <p:ph type="sldNum" sz="quarter" idx="5"/>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Lattice Multiplication — independent practice 2</a:t>
            </a:r>
          </a:p>
          <a:p>
            <a:endParaRPr/>
          </a:p>
          <a:p>
            <a:r>
              <a:t>### Thread 1: Guided</a:t>
            </a:r>
          </a:p>
          <a:p>
            <a:endParaRPr/>
          </a:p>
          <a:p>
            <a:r>
              <a:t>1. 24 × 6 = **144**</a:t>
            </a:r>
          </a:p>
          <a:p>
            <a:endParaRPr/>
          </a:p>
          <a:p>
            <a:r>
              <a:t>2. 57 × 4 = **228**</a:t>
            </a:r>
          </a:p>
          <a:p>
            <a:endParaRPr/>
          </a:p>
          <a:p>
            <a:r>
              <a:t>3. 68 × 3 = **204**</a:t>
            </a:r>
          </a:p>
          <a:p>
            <a:endParaRPr/>
          </a:p>
          <a:p>
            <a:r>
              <a:t>4. 39 × 7 = **273**</a:t>
            </a:r>
          </a:p>
          <a:p>
            <a:endParaRPr/>
          </a:p>
          <a:p>
            <a:r>
              <a:t>5. 86 × 5 = **430**</a:t>
            </a:r>
          </a:p>
          <a:p>
            <a:endParaRPr/>
          </a:p>
          <a:p>
            <a:r>
              <a:t>6. 74 × 8 = **592**</a:t>
            </a:r>
          </a:p>
          <a:p>
            <a:endParaRPr/>
          </a:p>
          <a:p>
            <a:r>
              <a:t>### Thread 2: Core</a:t>
            </a:r>
          </a:p>
          <a:p>
            <a:endParaRPr/>
          </a:p>
          <a:p>
            <a:r>
              <a:t>1. 23 × 14 = **322**</a:t>
            </a:r>
          </a:p>
          <a:p>
            <a:endParaRPr/>
          </a:p>
          <a:p>
            <a:r>
              <a:t>2. 46 × 25 = **1,150**</a:t>
            </a:r>
          </a:p>
          <a:p>
            <a:endParaRPr/>
          </a:p>
          <a:p>
            <a:r>
              <a:t>3. 37 × 42 = **1,554**</a:t>
            </a:r>
          </a:p>
          <a:p>
            <a:endParaRPr/>
          </a:p>
          <a:p>
            <a:r>
              <a:t>4. 58 × 36 = **2,088**</a:t>
            </a:r>
          </a:p>
          <a:p>
            <a:endParaRPr/>
          </a:p>
          <a:p>
            <a:r>
              <a:t>5. 64 × 27 = **1,728**</a:t>
            </a:r>
          </a:p>
          <a:p>
            <a:endParaRPr/>
          </a:p>
          <a:p>
            <a:r>
              <a:t>6. 79 × 53 = **4,187**</a:t>
            </a:r>
          </a:p>
          <a:p>
            <a:endParaRPr/>
          </a:p>
          <a:p>
            <a:r>
              <a:t>### Thread 3: Depth</a:t>
            </a:r>
          </a:p>
          <a:p>
            <a:endParaRPr/>
          </a:p>
          <a:p>
            <a:r>
              <a:t>1. 425 × 23 = **9,775**</a:t>
            </a:r>
          </a:p>
          <a:p>
            <a:endParaRPr/>
          </a:p>
          <a:p>
            <a:r>
              <a:t>2. 708 × 46 = **32,568**</a:t>
            </a:r>
          </a:p>
          <a:p>
            <a:endParaRPr/>
          </a:p>
          <a:p>
            <a:r>
              <a:t>3. 1,326 × 243 = **322,218**</a:t>
            </a:r>
          </a:p>
          <a:p>
            <a:endParaRPr/>
          </a:p>
          <a:p>
            <a:r>
              <a:t>4. 3,048 × 512 = **1,560,576**</a:t>
            </a:r>
          </a:p>
          <a:p>
            <a:endParaRPr/>
          </a:p>
          <a:p>
            <a:r>
              <a:t>5. 5,607 × 1,204 = **6,750,828**</a:t>
            </a:r>
          </a:p>
          <a:p>
            <a:endParaRPr/>
          </a:p>
          <a:p>
            <a:r>
              <a:t>6. 8,214 × 3,067 = **25,192,338**</a:t>
            </a:r>
          </a:p>
        </p:txBody>
      </p:sp>
      <p:sp>
        <p:nvSpPr>
          <p:cNvPr id="4" name="Slide Number Placeholder 3"/>
          <p:cNvSpPr>
            <a:spLocks noGrp="1"/>
          </p:cNvSpPr>
          <p:nvPr>
            <p:ph type="sldNum" sz="quarter" idx="5"/>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Lattice Multiplication — independent practice 3</a:t>
            </a:r>
          </a:p>
          <a:p>
            <a:endParaRPr/>
          </a:p>
          <a:p>
            <a:r>
              <a:t>### Thread 1: Guided</a:t>
            </a:r>
          </a:p>
          <a:p>
            <a:endParaRPr/>
          </a:p>
          <a:p>
            <a:r>
              <a:t>1. 46 × 7 = **322**</a:t>
            </a:r>
          </a:p>
          <a:p>
            <a:endParaRPr/>
          </a:p>
          <a:p>
            <a:r>
              <a:t>2. 29 × 8 = **232**</a:t>
            </a:r>
          </a:p>
          <a:p>
            <a:endParaRPr/>
          </a:p>
          <a:p>
            <a:r>
              <a:t>3. 65 × 4 = **260**</a:t>
            </a:r>
          </a:p>
          <a:p>
            <a:endParaRPr/>
          </a:p>
          <a:p>
            <a:r>
              <a:t>4. 78 × 6 = **468**</a:t>
            </a:r>
          </a:p>
          <a:p>
            <a:endParaRPr/>
          </a:p>
          <a:p>
            <a:r>
              <a:t>5. 93 × 5 = **465**</a:t>
            </a:r>
          </a:p>
          <a:p>
            <a:endParaRPr/>
          </a:p>
          <a:p>
            <a:r>
              <a:t>6. 87 × 9 = **783**</a:t>
            </a:r>
          </a:p>
          <a:p>
            <a:endParaRPr/>
          </a:p>
          <a:p>
            <a:r>
              <a:t>### Thread 2: Core</a:t>
            </a:r>
          </a:p>
          <a:p>
            <a:endParaRPr/>
          </a:p>
          <a:p>
            <a:r>
              <a:t>1. 35 × 24 = **840**</a:t>
            </a:r>
          </a:p>
          <a:p>
            <a:endParaRPr/>
          </a:p>
          <a:p>
            <a:r>
              <a:t>2. 62 × 17 = **1,054**</a:t>
            </a:r>
          </a:p>
          <a:p>
            <a:endParaRPr/>
          </a:p>
          <a:p>
            <a:r>
              <a:t>3. 48 × 39 = **1,872**</a:t>
            </a:r>
          </a:p>
          <a:p>
            <a:endParaRPr/>
          </a:p>
          <a:p>
            <a:r>
              <a:t>4. 76 × 28 = **2,128**</a:t>
            </a:r>
          </a:p>
          <a:p>
            <a:endParaRPr/>
          </a:p>
          <a:p>
            <a:r>
              <a:t>5. 54 × 46 = **2,484**</a:t>
            </a:r>
          </a:p>
          <a:p>
            <a:endParaRPr/>
          </a:p>
          <a:p>
            <a:r>
              <a:t>6. 89 × 65 = **5,785**</a:t>
            </a:r>
          </a:p>
          <a:p>
            <a:endParaRPr/>
          </a:p>
          <a:p>
            <a:r>
              <a:t>### Thread 3: Depth</a:t>
            </a:r>
          </a:p>
          <a:p>
            <a:endParaRPr/>
          </a:p>
          <a:p>
            <a:r>
              <a:t>1. 536 × 34 = **18,224**</a:t>
            </a:r>
          </a:p>
          <a:p>
            <a:endParaRPr/>
          </a:p>
          <a:p>
            <a:r>
              <a:t>2. 809 × 27 = **21,843**</a:t>
            </a:r>
          </a:p>
          <a:p>
            <a:endParaRPr/>
          </a:p>
          <a:p>
            <a:r>
              <a:t>3. 2,047 × 368 = **753,296**</a:t>
            </a:r>
          </a:p>
          <a:p>
            <a:endParaRPr/>
          </a:p>
          <a:p>
            <a:r>
              <a:t>4. 4,158 × 427 = **1,775,466**</a:t>
            </a:r>
          </a:p>
          <a:p>
            <a:endParaRPr/>
          </a:p>
          <a:p>
            <a:r>
              <a:t>5. 6,309 × 2,058 = **12,983,922**</a:t>
            </a:r>
          </a:p>
          <a:p>
            <a:endParaRPr/>
          </a:p>
          <a:p>
            <a:r>
              <a:t>6. 9,274 × 4,163 = **38,607,662**</a:t>
            </a:r>
          </a:p>
        </p:txBody>
      </p:sp>
      <p:sp>
        <p:nvSpPr>
          <p:cNvPr id="4" name="Slide Number Placeholder 3"/>
          <p:cNvSpPr>
            <a:spLocks noGrp="1"/>
          </p:cNvSpPr>
          <p:nvPr>
            <p:ph type="sldNum" sz="quarter" idx="5"/>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Lattice Multiplication — independent practice 4</a:t>
            </a:r>
          </a:p>
          <a:p>
            <a:endParaRPr/>
          </a:p>
          <a:p>
            <a:r>
              <a:t>### Thread 1: Guided</a:t>
            </a:r>
          </a:p>
          <a:p>
            <a:endParaRPr/>
          </a:p>
          <a:p>
            <a:r>
              <a:t>1. 38 × 5 = **190**</a:t>
            </a:r>
          </a:p>
          <a:p>
            <a:endParaRPr/>
          </a:p>
          <a:p>
            <a:r>
              <a:t>2. 56 × 9 = **504**</a:t>
            </a:r>
          </a:p>
          <a:p>
            <a:endParaRPr/>
          </a:p>
          <a:p>
            <a:r>
              <a:t>3. 67 × 8 = **536**</a:t>
            </a:r>
          </a:p>
          <a:p>
            <a:endParaRPr/>
          </a:p>
          <a:p>
            <a:r>
              <a:t>4. 49 × 6 = **294**</a:t>
            </a:r>
          </a:p>
          <a:p>
            <a:endParaRPr/>
          </a:p>
          <a:p>
            <a:r>
              <a:t>5. 82 × 4 = **328**</a:t>
            </a:r>
          </a:p>
          <a:p>
            <a:endParaRPr/>
          </a:p>
          <a:p>
            <a:r>
              <a:t>6. 97 × 7 = **679**</a:t>
            </a:r>
          </a:p>
          <a:p>
            <a:endParaRPr/>
          </a:p>
          <a:p>
            <a:r>
              <a:t>### Thread 2: Core</a:t>
            </a:r>
          </a:p>
          <a:p>
            <a:endParaRPr/>
          </a:p>
          <a:p>
            <a:r>
              <a:t>1. 27 × 35 = **945**</a:t>
            </a:r>
          </a:p>
          <a:p>
            <a:endParaRPr/>
          </a:p>
          <a:p>
            <a:r>
              <a:t>2. 43 × 26 = **1,118**</a:t>
            </a:r>
          </a:p>
          <a:p>
            <a:endParaRPr/>
          </a:p>
          <a:p>
            <a:r>
              <a:t>3. 69 × 48 = **3,312**</a:t>
            </a:r>
          </a:p>
          <a:p>
            <a:endParaRPr/>
          </a:p>
          <a:p>
            <a:r>
              <a:t>4. 85 × 37 = **3,145**</a:t>
            </a:r>
          </a:p>
          <a:p>
            <a:endParaRPr/>
          </a:p>
          <a:p>
            <a:r>
              <a:t>5. 74 × 59 = **4,366**</a:t>
            </a:r>
          </a:p>
          <a:p>
            <a:endParaRPr/>
          </a:p>
          <a:p>
            <a:r>
              <a:t>6. 96 × 68 = **6,528**</a:t>
            </a:r>
          </a:p>
          <a:p>
            <a:endParaRPr/>
          </a:p>
          <a:p>
            <a:r>
              <a:t>### Thread 3: Depth</a:t>
            </a:r>
          </a:p>
          <a:p>
            <a:endParaRPr/>
          </a:p>
          <a:p>
            <a:r>
              <a:t>1. 647 × 45 = **29,115**</a:t>
            </a:r>
          </a:p>
          <a:p>
            <a:endParaRPr/>
          </a:p>
          <a:p>
            <a:r>
              <a:t>2. 902 × 38 = **34,276**</a:t>
            </a:r>
          </a:p>
          <a:p>
            <a:endParaRPr/>
          </a:p>
          <a:p>
            <a:r>
              <a:t>3. 3,156 × 489 = **1,543,284**</a:t>
            </a:r>
          </a:p>
          <a:p>
            <a:endParaRPr/>
          </a:p>
          <a:p>
            <a:r>
              <a:t>4. 5,027 × 596 = **2,996,092**</a:t>
            </a:r>
          </a:p>
          <a:p>
            <a:endParaRPr/>
          </a:p>
          <a:p>
            <a:r>
              <a:t>5. 7,418 × 3,264 = **24,212,352**</a:t>
            </a:r>
          </a:p>
          <a:p>
            <a:endParaRPr/>
          </a:p>
          <a:p>
            <a:r>
              <a:t>6. 8,639 × 5,076 = **43,851,564**</a:t>
            </a:r>
          </a:p>
        </p:txBody>
      </p:sp>
      <p:sp>
        <p:nvSpPr>
          <p:cNvPr id="4" name="Slide Number Placeholder 3"/>
          <p:cNvSpPr>
            <a:spLocks noGrp="1"/>
          </p:cNvSpPr>
          <p:nvPr>
            <p:ph type="sldNum" sz="quarter" idx="5"/>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Bus Stop Division — worked demo</a:t>
            </a:r>
          </a:p>
          <a:p>
            <a:endParaRPr/>
          </a:p>
          <a:p>
            <a:r>
              <a:t>Guided: 21. Core: 24 r 1. Depth: 302.125.</a:t>
            </a:r>
          </a:p>
          <a:p>
            <a:endParaRPr/>
          </a:p>
          <a:p>
            <a:r>
              <a:t>The editable bus stop diagrams show each quotient digit above its matching dividend digit. Show carried remainders as small prefixes. Preserve internal zeros, but omit an unnecessary leading zero in the final answer. For Depth, keep the zero in the tens position of 302.125. Align decimal points and show each carried remainder. Use multiples of 16 to check each quotient digit: 16, 32, 48, 64, 80. Checks: 21 × 3 = 63; 24 × 6 + 1 = 145; 302.125 × 16 = 4,834.</a:t>
            </a:r>
          </a:p>
        </p:txBody>
      </p:sp>
      <p:sp>
        <p:nvSpPr>
          <p:cNvPr id="4" name="Slide Number Placeholder 3"/>
          <p:cNvSpPr>
            <a:spLocks noGrp="1"/>
          </p:cNvSpPr>
          <p:nvPr>
            <p:ph type="sldNum" sz="quarter" idx="5"/>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Bus Stop Division — step-by-step practice 1</a:t>
            </a:r>
          </a:p>
          <a:p>
            <a:endParaRPr/>
          </a:p>
          <a:p>
            <a:r>
              <a:t>Thread 1: Guided: 88 ÷ 4 = **22**</a:t>
            </a:r>
          </a:p>
          <a:p>
            <a:endParaRPr/>
          </a:p>
          <a:p>
            <a:r>
              <a:t>Thread 2: Core: 130 ÷ 4 = **32 r 2**</a:t>
            </a:r>
          </a:p>
          <a:p>
            <a:endParaRPr/>
          </a:p>
          <a:p>
            <a:r>
              <a:t>Thread 3: Depth: 5,122 ÷ 16 = **320.125**</a:t>
            </a:r>
          </a:p>
        </p:txBody>
      </p:sp>
      <p:sp>
        <p:nvSpPr>
          <p:cNvPr id="4" name="Slide Number Placeholder 3"/>
          <p:cNvSpPr>
            <a:spLocks noGrp="1"/>
          </p:cNvSpPr>
          <p:nvPr>
            <p:ph type="sldNum" sz="quarter" idx="5"/>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Bus Stop Division — step-by-step practice 2</a:t>
            </a:r>
          </a:p>
          <a:p>
            <a:endParaRPr/>
          </a:p>
          <a:p>
            <a:r>
              <a:t>Thread 1: Guided: 66 ÷ 3 = **22**</a:t>
            </a:r>
          </a:p>
          <a:p>
            <a:endParaRPr/>
          </a:p>
          <a:p>
            <a:r>
              <a:t>Thread 2: Core: 227 ÷ 6 = **37 r 5**</a:t>
            </a:r>
          </a:p>
          <a:p>
            <a:endParaRPr/>
          </a:p>
          <a:p>
            <a:r>
              <a:t>Thread 3: Depth: 3,827 ÷ 25 = **153.08**</a:t>
            </a:r>
          </a:p>
        </p:txBody>
      </p:sp>
      <p:sp>
        <p:nvSpPr>
          <p:cNvPr id="4" name="Slide Number Placeholder 3"/>
          <p:cNvSpPr>
            <a:spLocks noGrp="1"/>
          </p:cNvSpPr>
          <p:nvPr>
            <p:ph type="sldNum" sz="quarter" idx="5"/>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Bus Stop Division — independent practice 1</a:t>
            </a:r>
          </a:p>
          <a:p>
            <a:endParaRPr/>
          </a:p>
          <a:p>
            <a:r>
              <a:t>### Thread 1: Guided</a:t>
            </a:r>
          </a:p>
          <a:p>
            <a:endParaRPr/>
          </a:p>
          <a:p>
            <a:r>
              <a:t>1. 48 ÷ 4 = **12**</a:t>
            </a:r>
          </a:p>
          <a:p>
            <a:endParaRPr/>
          </a:p>
          <a:p>
            <a:r>
              <a:t>2. 69 ÷ 3 = **23**</a:t>
            </a:r>
          </a:p>
          <a:p>
            <a:endParaRPr/>
          </a:p>
          <a:p>
            <a:r>
              <a:t>3. 84 ÷ 2 = **42**</a:t>
            </a:r>
          </a:p>
          <a:p>
            <a:endParaRPr/>
          </a:p>
          <a:p>
            <a:r>
              <a:t>4. 96 ÷ 3 = **32**</a:t>
            </a:r>
          </a:p>
          <a:p>
            <a:endParaRPr/>
          </a:p>
          <a:p>
            <a:r>
              <a:t>5. 55 ÷ 5 = **11**</a:t>
            </a:r>
          </a:p>
          <a:p>
            <a:endParaRPr/>
          </a:p>
          <a:p>
            <a:r>
              <a:t>6. 88 ÷ 8 = **11**</a:t>
            </a:r>
          </a:p>
          <a:p>
            <a:endParaRPr/>
          </a:p>
          <a:p>
            <a:r>
              <a:t>### Thread 2: Core</a:t>
            </a:r>
          </a:p>
          <a:p>
            <a:endParaRPr/>
          </a:p>
          <a:p>
            <a:r>
              <a:t>1. 72 ÷ 3 = **24**</a:t>
            </a:r>
          </a:p>
          <a:p>
            <a:endParaRPr/>
          </a:p>
          <a:p>
            <a:r>
              <a:t>2. 135 ÷ 5 = **27**</a:t>
            </a:r>
          </a:p>
          <a:p>
            <a:endParaRPr/>
          </a:p>
          <a:p>
            <a:r>
              <a:t>3. 172 ÷ 4 = **43**</a:t>
            </a:r>
          </a:p>
          <a:p>
            <a:endParaRPr/>
          </a:p>
          <a:p>
            <a:r>
              <a:t>4. 218 ÷ 6 = **36 r 2**</a:t>
            </a:r>
          </a:p>
          <a:p>
            <a:endParaRPr/>
          </a:p>
          <a:p>
            <a:r>
              <a:t>5. 341 ÷ 7 = **48 r 5**</a:t>
            </a:r>
          </a:p>
          <a:p>
            <a:endParaRPr/>
          </a:p>
          <a:p>
            <a:r>
              <a:t>6. 502 ÷ 8 = **62 r 6**</a:t>
            </a:r>
          </a:p>
          <a:p>
            <a:endParaRPr/>
          </a:p>
          <a:p>
            <a:r>
              <a:t>### Thread 3: Depth</a:t>
            </a:r>
          </a:p>
          <a:p>
            <a:endParaRPr/>
          </a:p>
          <a:p>
            <a:r>
              <a:t>1. 514 ÷ 4 = **128.5**</a:t>
            </a:r>
          </a:p>
          <a:p>
            <a:endParaRPr/>
          </a:p>
          <a:p>
            <a:r>
              <a:t>2. 785 ÷ 2 = **392.5**</a:t>
            </a:r>
          </a:p>
          <a:p>
            <a:endParaRPr/>
          </a:p>
          <a:p>
            <a:r>
              <a:t>3. 1,428 ÷ 12 = **119**</a:t>
            </a:r>
          </a:p>
          <a:p>
            <a:endParaRPr/>
          </a:p>
          <a:p>
            <a:r>
              <a:t>4. 3,816 ÷ 24 = **159**</a:t>
            </a:r>
          </a:p>
          <a:p>
            <a:endParaRPr/>
          </a:p>
          <a:p>
            <a:r>
              <a:t>5. 4,516 ÷ 16 = **282.25**</a:t>
            </a:r>
          </a:p>
          <a:p>
            <a:endParaRPr/>
          </a:p>
          <a:p>
            <a:r>
              <a:t>6. 8,143 ÷ 25 = **325.72**</a:t>
            </a:r>
          </a:p>
        </p:txBody>
      </p:sp>
      <p:sp>
        <p:nvSpPr>
          <p:cNvPr id="4" name="Slide Number Placeholder 3"/>
          <p:cNvSpPr>
            <a:spLocks noGrp="1"/>
          </p:cNvSpPr>
          <p:nvPr>
            <p:ph type="sldNum" sz="quarter" idx="5"/>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Bus Stop Division — independent practice 2</a:t>
            </a:r>
          </a:p>
          <a:p>
            <a:endParaRPr/>
          </a:p>
          <a:p>
            <a:r>
              <a:t>### Thread 1: Guided</a:t>
            </a:r>
          </a:p>
          <a:p>
            <a:endParaRPr/>
          </a:p>
          <a:p>
            <a:r>
              <a:t>1. 46 ÷ 2 = **23**</a:t>
            </a:r>
          </a:p>
          <a:p>
            <a:endParaRPr/>
          </a:p>
          <a:p>
            <a:r>
              <a:t>2. 93 ÷ 3 = **31**</a:t>
            </a:r>
          </a:p>
          <a:p>
            <a:endParaRPr/>
          </a:p>
          <a:p>
            <a:r>
              <a:t>3. 66 ÷ 6 = **11**</a:t>
            </a:r>
          </a:p>
          <a:p>
            <a:endParaRPr/>
          </a:p>
          <a:p>
            <a:r>
              <a:t>4. 884 ÷ 4 = **221**</a:t>
            </a:r>
          </a:p>
          <a:p>
            <a:endParaRPr/>
          </a:p>
          <a:p>
            <a:r>
              <a:t>5. 555 ÷ 5 = **111**</a:t>
            </a:r>
          </a:p>
          <a:p>
            <a:endParaRPr/>
          </a:p>
          <a:p>
            <a:r>
              <a:t>6. 639 ÷ 3 = **213**</a:t>
            </a:r>
          </a:p>
          <a:p>
            <a:endParaRPr/>
          </a:p>
          <a:p>
            <a:r>
              <a:t>### Thread 2: Core</a:t>
            </a:r>
          </a:p>
          <a:p>
            <a:endParaRPr/>
          </a:p>
          <a:p>
            <a:r>
              <a:t>1. 84 ÷ 3 = **28**</a:t>
            </a:r>
          </a:p>
          <a:p>
            <a:endParaRPr/>
          </a:p>
          <a:p>
            <a:r>
              <a:t>2. 156 ÷ 4 = **39**</a:t>
            </a:r>
          </a:p>
          <a:p>
            <a:endParaRPr/>
          </a:p>
          <a:p>
            <a:r>
              <a:t>3. 235 ÷ 6 = **39 r 1**</a:t>
            </a:r>
          </a:p>
          <a:p>
            <a:endParaRPr/>
          </a:p>
          <a:p>
            <a:r>
              <a:t>4. 326 ÷ 7 = **46 r 4**</a:t>
            </a:r>
          </a:p>
          <a:p>
            <a:endParaRPr/>
          </a:p>
          <a:p>
            <a:r>
              <a:t>5. 458 ÷ 8 = **57 r 2**</a:t>
            </a:r>
          </a:p>
          <a:p>
            <a:endParaRPr/>
          </a:p>
          <a:p>
            <a:r>
              <a:t>6. 617 ÷ 9 = **68 r 5**</a:t>
            </a:r>
          </a:p>
          <a:p>
            <a:endParaRPr/>
          </a:p>
          <a:p>
            <a:r>
              <a:t>### Thread 3: Depth</a:t>
            </a:r>
          </a:p>
          <a:p>
            <a:endParaRPr/>
          </a:p>
          <a:p>
            <a:r>
              <a:t>1. 627 ÷ 4 = **156.75**</a:t>
            </a:r>
          </a:p>
          <a:p>
            <a:endParaRPr/>
          </a:p>
          <a:p>
            <a:r>
              <a:t>2. 943 ÷ 2 = **471.5**</a:t>
            </a:r>
          </a:p>
          <a:p>
            <a:endParaRPr/>
          </a:p>
          <a:p>
            <a:r>
              <a:t>3. 2,136 ÷ 12 = **178**</a:t>
            </a:r>
          </a:p>
          <a:p>
            <a:endParaRPr/>
          </a:p>
          <a:p>
            <a:r>
              <a:t>4. 4,608 ÷ 32 = **144**</a:t>
            </a:r>
          </a:p>
          <a:p>
            <a:endParaRPr/>
          </a:p>
          <a:p>
            <a:r>
              <a:t>5. 5,729 ÷ 16 = **358.0625**</a:t>
            </a:r>
          </a:p>
          <a:p>
            <a:endParaRPr/>
          </a:p>
          <a:p>
            <a:r>
              <a:t>6. 9,031 ÷ 40 = **225.775**</a:t>
            </a:r>
          </a:p>
        </p:txBody>
      </p:sp>
      <p:sp>
        <p:nvSpPr>
          <p:cNvPr id="4" name="Slide Number Placeholder 3"/>
          <p:cNvSpPr>
            <a:spLocks noGrp="1"/>
          </p:cNvSpPr>
          <p:nvPr>
            <p:ph type="sldNum" sz="quarter" idx="5"/>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Bus Stop Division — independent practice 3</a:t>
            </a:r>
          </a:p>
          <a:p>
            <a:endParaRPr/>
          </a:p>
          <a:p>
            <a:r>
              <a:t>### Thread 1: Guided</a:t>
            </a:r>
          </a:p>
          <a:p>
            <a:endParaRPr/>
          </a:p>
          <a:p>
            <a:r>
              <a:t>1. 82 ÷ 2 = **41**</a:t>
            </a:r>
          </a:p>
          <a:p>
            <a:endParaRPr/>
          </a:p>
          <a:p>
            <a:r>
              <a:t>2. 963 ÷ 3 = **321**</a:t>
            </a:r>
          </a:p>
          <a:p>
            <a:endParaRPr/>
          </a:p>
          <a:p>
            <a:r>
              <a:t>3. 848 ÷ 4 = **212**</a:t>
            </a:r>
          </a:p>
          <a:p>
            <a:endParaRPr/>
          </a:p>
          <a:p>
            <a:r>
              <a:t>4. 777 ÷ 7 = **111**</a:t>
            </a:r>
          </a:p>
          <a:p>
            <a:endParaRPr/>
          </a:p>
          <a:p>
            <a:r>
              <a:t>5. 888 ÷ 8 = **111**</a:t>
            </a:r>
          </a:p>
          <a:p>
            <a:endParaRPr/>
          </a:p>
          <a:p>
            <a:r>
              <a:t>6. 606 ÷ 3 = **202**</a:t>
            </a:r>
          </a:p>
          <a:p>
            <a:endParaRPr/>
          </a:p>
          <a:p>
            <a:r>
              <a:t>### Thread 2: Core</a:t>
            </a:r>
          </a:p>
          <a:p>
            <a:endParaRPr/>
          </a:p>
          <a:p>
            <a:r>
              <a:t>1. 95 ÷ 4 = **23 r 3**</a:t>
            </a:r>
          </a:p>
          <a:p>
            <a:endParaRPr/>
          </a:p>
          <a:p>
            <a:r>
              <a:t>2. 184 ÷ 5 = **36 r 4**</a:t>
            </a:r>
          </a:p>
          <a:p>
            <a:endParaRPr/>
          </a:p>
          <a:p>
            <a:r>
              <a:t>3. 267 ÷ 8 = **33 r 3**</a:t>
            </a:r>
          </a:p>
          <a:p>
            <a:endParaRPr/>
          </a:p>
          <a:p>
            <a:r>
              <a:t>4. 397 ÷ 6 = **66 r 1**</a:t>
            </a:r>
          </a:p>
          <a:p>
            <a:endParaRPr/>
          </a:p>
          <a:p>
            <a:r>
              <a:t>5. 523 ÷ 7 = **74 r 5**</a:t>
            </a:r>
          </a:p>
          <a:p>
            <a:endParaRPr/>
          </a:p>
          <a:p>
            <a:r>
              <a:t>6. 748 ÷ 9 = **83 r 1**</a:t>
            </a:r>
          </a:p>
          <a:p>
            <a:endParaRPr/>
          </a:p>
          <a:p>
            <a:r>
              <a:t>### Thread 3: Depth</a:t>
            </a:r>
          </a:p>
          <a:p>
            <a:endParaRPr/>
          </a:p>
          <a:p>
            <a:r>
              <a:t>1. 738 ÷ 4 = **184.5**</a:t>
            </a:r>
          </a:p>
          <a:p>
            <a:endParaRPr/>
          </a:p>
          <a:p>
            <a:r>
              <a:t>2. 859 ÷ 2 = **429.5**</a:t>
            </a:r>
          </a:p>
          <a:p>
            <a:endParaRPr/>
          </a:p>
          <a:p>
            <a:r>
              <a:t>3. 3,264 ÷ 24 = **136**</a:t>
            </a:r>
          </a:p>
          <a:p>
            <a:endParaRPr/>
          </a:p>
          <a:p>
            <a:r>
              <a:t>4. 5,175 ÷ 15 = **345**</a:t>
            </a:r>
          </a:p>
          <a:p>
            <a:endParaRPr/>
          </a:p>
          <a:p>
            <a:r>
              <a:t>5. 6,843 ÷ 25 = **273.72**</a:t>
            </a:r>
          </a:p>
          <a:p>
            <a:endParaRPr/>
          </a:p>
          <a:p>
            <a:r>
              <a:t>6. 7,249 ÷ 20 = **362.45**</a:t>
            </a:r>
          </a:p>
        </p:txBody>
      </p:sp>
      <p:sp>
        <p:nvSpPr>
          <p:cNvPr id="4" name="Slide Number Placeholder 3"/>
          <p:cNvSpPr>
            <a:spLocks noGrp="1"/>
          </p:cNvSpPr>
          <p:nvPr>
            <p:ph type="sldNum" sz="quarter" idx="5"/>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Bus Stop Division — independent practice 4</a:t>
            </a:r>
          </a:p>
          <a:p>
            <a:endParaRPr/>
          </a:p>
          <a:p>
            <a:r>
              <a:t>### Thread 1: Guided</a:t>
            </a:r>
          </a:p>
          <a:p>
            <a:endParaRPr/>
          </a:p>
          <a:p>
            <a:r>
              <a:t>1. 62 ÷ 2 = **31**</a:t>
            </a:r>
          </a:p>
          <a:p>
            <a:endParaRPr/>
          </a:p>
          <a:p>
            <a:r>
              <a:t>2. 936 ÷ 3 = **312**</a:t>
            </a:r>
          </a:p>
          <a:p>
            <a:endParaRPr/>
          </a:p>
          <a:p>
            <a:r>
              <a:t>3. 448 ÷ 4 = **112**</a:t>
            </a:r>
          </a:p>
          <a:p>
            <a:endParaRPr/>
          </a:p>
          <a:p>
            <a:r>
              <a:t>4. 505 ÷ 5 = **101**</a:t>
            </a:r>
          </a:p>
          <a:p>
            <a:endParaRPr/>
          </a:p>
          <a:p>
            <a:r>
              <a:t>5. 666 ÷ 6 = **111**</a:t>
            </a:r>
          </a:p>
          <a:p>
            <a:endParaRPr/>
          </a:p>
          <a:p>
            <a:r>
              <a:t>6. 999 ÷ 9 = **111**</a:t>
            </a:r>
          </a:p>
          <a:p>
            <a:endParaRPr/>
          </a:p>
          <a:p>
            <a:r>
              <a:t>### Thread 2: Core</a:t>
            </a:r>
          </a:p>
          <a:p>
            <a:endParaRPr/>
          </a:p>
          <a:p>
            <a:r>
              <a:t>1. 108 ÷ 4 = **27**</a:t>
            </a:r>
          </a:p>
          <a:p>
            <a:endParaRPr/>
          </a:p>
          <a:p>
            <a:r>
              <a:t>2. 245 ÷ 6 = **40 r 5**</a:t>
            </a:r>
          </a:p>
          <a:p>
            <a:endParaRPr/>
          </a:p>
          <a:p>
            <a:r>
              <a:t>3. 314 ÷ 7 = **44 r 6**</a:t>
            </a:r>
          </a:p>
          <a:p>
            <a:endParaRPr/>
          </a:p>
          <a:p>
            <a:r>
              <a:t>4. 467 ÷ 8 = **58 r 3**</a:t>
            </a:r>
          </a:p>
          <a:p>
            <a:endParaRPr/>
          </a:p>
          <a:p>
            <a:r>
              <a:t>5. 586 ÷ 9 = **65 r 1**</a:t>
            </a:r>
          </a:p>
          <a:p>
            <a:endParaRPr/>
          </a:p>
          <a:p>
            <a:r>
              <a:t>6. 703 ÷ 5 = **140 r 3**</a:t>
            </a:r>
          </a:p>
          <a:p>
            <a:endParaRPr/>
          </a:p>
          <a:p>
            <a:r>
              <a:t>### Thread 3: Depth</a:t>
            </a:r>
          </a:p>
          <a:p>
            <a:endParaRPr/>
          </a:p>
          <a:p>
            <a:r>
              <a:t>1. 849 ÷ 4 = **212.25**</a:t>
            </a:r>
          </a:p>
          <a:p>
            <a:endParaRPr/>
          </a:p>
          <a:p>
            <a:r>
              <a:t>2. 967 ÷ 2 = **483.5**</a:t>
            </a:r>
          </a:p>
          <a:p>
            <a:endParaRPr/>
          </a:p>
          <a:p>
            <a:r>
              <a:t>3. 4,374 ÷ 18 = **243**</a:t>
            </a:r>
          </a:p>
          <a:p>
            <a:endParaRPr/>
          </a:p>
          <a:p>
            <a:r>
              <a:t>4. 6,288 ÷ 48 = **131**</a:t>
            </a:r>
          </a:p>
          <a:p>
            <a:endParaRPr/>
          </a:p>
          <a:p>
            <a:r>
              <a:t>5. 7,957 ÷ 16 = **497.3125**</a:t>
            </a:r>
          </a:p>
          <a:p>
            <a:endParaRPr/>
          </a:p>
          <a:p>
            <a:r>
              <a:t>6. 8,623 ÷ 50 = **172.46**</a:t>
            </a:r>
          </a:p>
        </p:txBody>
      </p:sp>
      <p:sp>
        <p:nvSpPr>
          <p:cNvPr id="4" name="Slide Number Placeholder 3"/>
          <p:cNvSpPr>
            <a:spLocks noGrp="1"/>
          </p:cNvSpPr>
          <p:nvPr>
            <p:ph type="sldNum" sz="quarter" idx="5"/>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Initial assessment; no hints or answers on question slide.</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
            <a:r>
              <a:t>A dedicated guide slide precedes the worked demo so that the rules and examples remain readable. Existing question content and stable S01–S07 references are unchanged. This gives nine physical question-deck slides.</a:t>
            </a:r>
          </a:p>
          <a:p/>
          <a:p>
            <a:r>
              <a:t>Title: **Signed numbers: addition and subtraction**</a:t>
            </a:r>
          </a:p>
          <a:p>
            <a:r>
              <a:t>Subtitle: **Rules recap • Start at the first number.**</a:t>
            </a:r>
          </a:p>
          <a:p/>
          <a:p>
            <a:r>
              <a:t>| Rule | What to do | Example |</a:t>
            </a:r>
          </a:p>
          <a:p>
            <a:r>
              <a:t>| --- | --- | --- |</a:t>
            </a:r>
          </a:p>
          <a:p>
            <a:r>
              <a:t>| Add a positive number | Move right: the value increases. | −4 + 7 = 3 |</a:t>
            </a:r>
          </a:p>
          <a:p>
            <a:r>
              <a:t>| Add a negative number | Move left: the value decreases. | 4 + (−7) = 4 − 7 = −3 |</a:t>
            </a:r>
          </a:p>
          <a:p>
            <a:r>
              <a:t>| Subtract a positive number | Move left: the value decreases. | 3 − 8 = −5 |</a:t>
            </a:r>
          </a:p>
          <a:p>
            <a:r>
              <a:t>| Subtract a negative number | Move right: subtracting a negative is adding a positive. | 6 − (−3) = 6 + 3 = 9 |</a:t>
            </a:r>
          </a:p>
          <a:p/>
          <a:p>
            <a:r>
              <a:t>Visible explanation: **In 6 − (−3), the first − means subtract; the − inside brackets belongs to the number −3.**</a:t>
            </a:r>
          </a:p>
          <a:p/>
          <a:p>
            <a:r>
              <a:t>Visible general rule: **To subtract a number, add its opposite. Keep the first number unchanged.**</a:t>
            </a:r>
          </a:p>
          <a:p/>
          <a:p>
            <a:r>
              <a:t>Visible caution with contrast: **Two negative numbers do not automatically give a positive answer: −4 + (−3) = −7.**</a:t>
            </a:r>
          </a:p>
          <a:p/>
          <a:p>
            <a:r>
              <a:t>These are addition/subtraction rules. Do not import the multiplication/division “same signs/different signs” shortcut into this set. The next slide retains the complete worked grid and editable number lines.</a:t>
            </a:r>
          </a:p>
          <a:p/>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
            <a:r>
              <a:t>Student instruction: **Follow each calculation. Explain what each sign means.**</a:t>
            </a:r>
          </a:p>
          <a:p/>
          <a:p>
            <a:r>
              <a:t>| Step | Thread 1: Guided | Thread 2: Core | Thread 3: Depth |</a:t>
            </a:r>
          </a:p>
          <a:p>
            <a:r>
              <a:t>| --- | --- | --- | --- |</a:t>
            </a:r>
          </a:p>
          <a:p>
            <a:r>
              <a:t>| Question | −4 + 7 | 6 − (−3) | −5 + 8 − (−2) |</a:t>
            </a:r>
          </a:p>
          <a:p>
            <a:r>
              <a:t>| Read the Signs | Start at −4; add positive 7. | Start at 6; subtract negative 3. | Add positive 8, then subtract negative 2. |</a:t>
            </a:r>
          </a:p>
          <a:p>
            <a:r>
              <a:t>| Rewrite the Calculation | −4 + 7 is already an addition. | 6 − (−3) = 6 + 3. | −5 + 8 + 2. |</a:t>
            </a:r>
          </a:p>
          <a:p>
            <a:r>
              <a:t>| Calculate | Move 4 right to 0, then 3 right: 3. | 6 + 3 = 9. | −5 + 8 = 3; 3 + 2 = 5. |</a:t>
            </a:r>
          </a:p>
          <a:p>
            <a:r>
              <a:t>| Check the Answer | 3 − 7 = −4. Answer: 3. | 9 + (−3) = 6. Answer: 9. | 5 + (−2) = 3; 3 − 8 = −5. Answer: 5. |</a:t>
            </a:r>
          </a:p>
          <a:p/>
          <a:p>
            <a:r>
              <a:t>Diagram specification: Three editable number lines, one per demo column, with integer ticks and a labelled zero. Guided: range −5 to 4, start −4, rightward jumps +4 to 0 and +3 to 3; bracket the jumps as +7. Core: range 0 to 10, start 6 and a rightward jump to 9 labelled “subtract −3 = add 3”. Depth: range −6 to 6, start −5, rightward jump +8 to 3, then +2 to 5. Mark each start and endpoint. Use equal tick spacing, visible arrowheads and labels clear of ticks. These accompany the worked calculation; students need not draw a line for every question.</a:t>
            </a:r>
          </a:p>
          <a:p/>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
            <a:r>
              <a:t>Student instruction: **Work out each calculation. Show your working.**</a:t>
            </a:r>
          </a:p>
          <a:p/>
          <a:p>
            <a:r>
              <a:t>| Step | Thread 1: Guided | Thread 2: Core | Thread 3: Depth |</a:t>
            </a:r>
          </a:p>
          <a:p>
            <a:r>
              <a:t>| --- | --- | --- | --- |</a:t>
            </a:r>
          </a:p>
          <a:p>
            <a:r>
              <a:t>| Question | −6 + 9 | 4 + (−7) | −8 + 5 − (−4) |</a:t>
            </a:r>
          </a:p>
          <a:p>
            <a:r>
              <a:t>| Read the Signs | Identify the operation signs and the signs belonging to the numbers. | Identify the operation signs and the signs belonging to the numbers. | Identify the operation signs and the signs belonging to the numbers. |</a:t>
            </a:r>
          </a:p>
          <a:p>
            <a:r>
              <a:t>| Rewrite the Calculation | Replace subtraction by addition of the opposite where useful. | Replace subtraction by addition of the opposite where useful. | Replace subtraction by addition of the opposite where useful. |</a:t>
            </a:r>
          </a:p>
          <a:p>
            <a:r>
              <a:t>| Calculate | Work from left to right. Show each result. | Work from left to right. Show each result. | Work from left to right. Show each result. |</a:t>
            </a:r>
          </a:p>
          <a:p>
            <a:r>
              <a:t>| Check the Answer | Undo the last operation to check. Write the final answer. | Undo the last operation to check. Write the final answer. | Undo the last operation to check. Write the final answer. |</a:t>
            </a:r>
          </a:p>
          <a:p/>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
            <a:r>
              <a:t>Student instruction: **Work out each calculation. Show your working.**</a:t>
            </a:r>
          </a:p>
          <a:p/>
          <a:p>
            <a:r>
              <a:t>| Step | Thread 1: Guided | Thread 2: Core | Thread 3: Depth |</a:t>
            </a:r>
          </a:p>
          <a:p>
            <a:r>
              <a:t>| --- | --- | --- | --- |</a:t>
            </a:r>
          </a:p>
          <a:p>
            <a:r>
              <a:t>| Question | 3 − 8 | −5 − (−9) | 7 − (−2) + (−12) |</a:t>
            </a:r>
          </a:p>
          <a:p>
            <a:r>
              <a:t>| Read the Signs | Identify the operation signs and the signs belonging to the numbers. | Identify the operation signs and the signs belonging to the numbers. | Identify the operation signs and the signs belonging to the numbers. |</a:t>
            </a:r>
          </a:p>
          <a:p>
            <a:r>
              <a:t>| Rewrite the Calculation | Replace subtraction by addition of the opposite where useful. | Replace subtraction by addition of the opposite where useful. | Replace subtraction by addition of the opposite where useful. |</a:t>
            </a:r>
          </a:p>
          <a:p>
            <a:r>
              <a:t>| Calculate | Work from left to right. Show each result. | Work from left to right. Show each result. | Work from left to right. Show each result. |</a:t>
            </a:r>
          </a:p>
          <a:p>
            <a:r>
              <a:t>| Check the Answer | Undo the last operation to check. Write the final answer. | Undo the last operation to check. Write the final answer. | Undo the last operation to check. Write the final answer. |</a:t>
            </a:r>
          </a:p>
          <a:p/>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Deliberately incorrect student work. Corrections: see M13-SE in the HTML answers.</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Application to Exam Problems — worked demo</a:t>
            </a:r>
          </a:p>
          <a:p>
            <a:endParaRPr/>
          </a:p>
          <a:p>
            <a:r>
              <a:t>Guided: 84 ÷ 4 = 21 tins per box. Core: 130 ÷ 6 = 21 r 4, so 21 full packs. Depth: 145 ÷ 9 = 16 r 1, so 17 minibuses; 17 × 40 = £680.</a:t>
            </a:r>
          </a:p>
          <a:p>
            <a:endParaRPr/>
          </a:p>
          <a:p>
            <a:r>
              <a:t>For Depth, 16 buses would seat only 144 students. The first answer must be interpreted before the next calculation. In the lattice for 17 × 40, top row cells are 04, 28; bottom row cells 00, 00. Diagonal totals from right: 0, 8, 6, 0 → 680. Both worked diagrams are provided as editable groups. Ballpark calculations check scale; they are not exact-answer proofs.</a:t>
            </a:r>
          </a:p>
        </p:txBody>
      </p:sp>
      <p:sp>
        <p:nvSpPr>
          <p:cNvPr id="4" name="Slide Number Placeholder 3"/>
          <p:cNvSpPr>
            <a:spLocks noGrp="1"/>
          </p:cNvSpPr>
          <p:nvPr>
            <p:ph type="sldNum" sz="quarter" idx="5"/>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Application to Exam Problems — step-by-step practice 1</a:t>
            </a:r>
          </a:p>
          <a:p>
            <a:endParaRPr/>
          </a:p>
          <a:p>
            <a:r>
              <a:t>Thread 1: Guided: 42 × 15 = 630 pens. Estimate: 40 × 15 = 600.</a:t>
            </a:r>
          </a:p>
          <a:p>
            <a:endParaRPr/>
          </a:p>
          <a:p>
            <a:r>
              <a:t>Thread 2: Core: 215 ÷ 6 = 35 r 5 → 35 full bags. Estimate: 210 ÷ 6 = 35.</a:t>
            </a:r>
          </a:p>
          <a:p>
            <a:endParaRPr/>
          </a:p>
          <a:p>
            <a:r>
              <a:t>Thread 3: Depth: 18 × 32 = 576; 576 + 120 = £696. Estimate: 20 × 30 + 120 = 720.</a:t>
            </a:r>
          </a:p>
        </p:txBody>
      </p:sp>
      <p:sp>
        <p:nvSpPr>
          <p:cNvPr id="4" name="Slide Number Placeholder 3"/>
          <p:cNvSpPr>
            <a:spLocks noGrp="1"/>
          </p:cNvSpPr>
          <p:nvPr>
            <p:ph type="sldNum" sz="quarter" idx="5"/>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Application to Exam Problems — step-by-step practice 2</a:t>
            </a:r>
          </a:p>
          <a:p>
            <a:endParaRPr/>
          </a:p>
          <a:p>
            <a:r>
              <a:t>Thread 1: Guided: 168 ÷ 7 = 24 students. Estimate: 140 ÷ 7 = 20.</a:t>
            </a:r>
          </a:p>
          <a:p>
            <a:endParaRPr/>
          </a:p>
          <a:p>
            <a:r>
              <a:t>Thread 2: Core: 16 × 27 = £432. Estimate: 16 × 30 = 480.</a:t>
            </a:r>
          </a:p>
          <a:p>
            <a:endParaRPr/>
          </a:p>
          <a:p>
            <a:r>
              <a:t>Thread 3: Depth: 157 ÷ 8 = 19 r 5 → 20 vans; 20 × 45 = £900. Estimate: 160 ÷ 8 × 45 = 900.</a:t>
            </a:r>
          </a:p>
        </p:txBody>
      </p:sp>
      <p:sp>
        <p:nvSpPr>
          <p:cNvPr id="4" name="Slide Number Placeholder 3"/>
          <p:cNvSpPr>
            <a:spLocks noGrp="1"/>
          </p:cNvSpPr>
          <p:nvPr>
            <p:ph type="sldNum" sz="quarter" idx="5"/>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Application to Exam Problems — independent practice 1</a:t>
            </a:r>
          </a:p>
          <a:p>
            <a:endParaRPr/>
          </a:p>
          <a:p>
            <a:r>
              <a:t>### Thread 1: Guided</a:t>
            </a:r>
          </a:p>
          <a:p>
            <a:endParaRPr/>
          </a:p>
          <a:p>
            <a:r>
              <a:t>1. 14 × 32 = 448 books</a:t>
            </a:r>
          </a:p>
          <a:p>
            <a:endParaRPr/>
          </a:p>
          <a:p>
            <a:r>
              <a:t>2. 105 ÷ 7 = 15 students</a:t>
            </a:r>
          </a:p>
          <a:p>
            <a:endParaRPr/>
          </a:p>
          <a:p>
            <a:r>
              <a:t>3. 26 × 41 = 1,066 bottles</a:t>
            </a:r>
          </a:p>
          <a:p>
            <a:endParaRPr/>
          </a:p>
          <a:p>
            <a:r>
              <a:t>4. 148 ÷ 4 = 37 m</a:t>
            </a:r>
          </a:p>
          <a:p>
            <a:endParaRPr/>
          </a:p>
          <a:p>
            <a:r>
              <a:t>5. 13 × 85 = 1,105 seats</a:t>
            </a:r>
          </a:p>
          <a:p>
            <a:endParaRPr/>
          </a:p>
          <a:p>
            <a:r>
              <a:t>6. 175 ÷ 5 = £35</a:t>
            </a:r>
          </a:p>
          <a:p>
            <a:endParaRPr/>
          </a:p>
          <a:p>
            <a:r>
              <a:t>### Thread 2: Core</a:t>
            </a:r>
          </a:p>
          <a:p>
            <a:endParaRPr/>
          </a:p>
          <a:p>
            <a:r>
              <a:t>1. 130 ÷ 6 = 21 r 4 → 21 full cartons</a:t>
            </a:r>
          </a:p>
          <a:p>
            <a:endParaRPr/>
          </a:p>
          <a:p>
            <a:r>
              <a:t>2. 32 ÷ 5 = 6 r 2 → 7 cars</a:t>
            </a:r>
          </a:p>
          <a:p>
            <a:endParaRPr/>
          </a:p>
          <a:p>
            <a:r>
              <a:t>3. 250 ÷ 12 = 20 r 10 → 10 chocolates</a:t>
            </a:r>
          </a:p>
          <a:p>
            <a:endParaRPr/>
          </a:p>
          <a:p>
            <a:r>
              <a:t>4. 17 × 28 = £476</a:t>
            </a:r>
          </a:p>
          <a:p>
            <a:endParaRPr/>
          </a:p>
          <a:p>
            <a:r>
              <a:t>5. 142 ÷ 6 = 23 r 4 → 23 full bags</a:t>
            </a:r>
          </a:p>
          <a:p>
            <a:endParaRPr/>
          </a:p>
          <a:p>
            <a:r>
              <a:t>6. 132 ÷ 8 = £16.50</a:t>
            </a:r>
          </a:p>
          <a:p>
            <a:endParaRPr/>
          </a:p>
          <a:p>
            <a:r>
              <a:t>### Thread 3: Depth</a:t>
            </a:r>
          </a:p>
          <a:p>
            <a:endParaRPr/>
          </a:p>
          <a:p>
            <a:r>
              <a:t>1. 45 × 16 = 720; 720 − 50 = £670</a:t>
            </a:r>
          </a:p>
          <a:p>
            <a:endParaRPr/>
          </a:p>
          <a:p>
            <a:r>
              <a:t>2. 115 ÷ 8 = 14 r 3 → 15 vans; 15 × 65 = £975</a:t>
            </a:r>
          </a:p>
          <a:p>
            <a:endParaRPr/>
          </a:p>
          <a:p>
            <a:r>
              <a:t>3. 22 × 14 = 308; 308 + 30 = £338</a:t>
            </a:r>
          </a:p>
          <a:p>
            <a:endParaRPr/>
          </a:p>
          <a:p>
            <a:r>
              <a:t>4. 430 ÷ 12 = 35 r 10; 35 × 9 = £315</a:t>
            </a:r>
          </a:p>
          <a:p>
            <a:endParaRPr/>
          </a:p>
          <a:p>
            <a:r>
              <a:t>5. 24 × 15 = 360; 360 + 45 = £405</a:t>
            </a:r>
          </a:p>
          <a:p>
            <a:endParaRPr/>
          </a:p>
          <a:p>
            <a:r>
              <a:t>6. 15 × 12 = 180; 180 × 8 = £1,440</a:t>
            </a:r>
          </a:p>
        </p:txBody>
      </p:sp>
      <p:sp>
        <p:nvSpPr>
          <p:cNvPr id="4" name="Slide Number Placeholder 3"/>
          <p:cNvSpPr>
            <a:spLocks noGrp="1"/>
          </p:cNvSpPr>
          <p:nvPr>
            <p:ph type="sldNum" sz="quarter" idx="5"/>
          </p:nvPr>
        </p:nvSpPr>
        <p:spPr/>
      </p:sp>
    </p:spTree>
  </p:cSld>
  <p:clrMapOvr>
    <a:masterClrMapping/>
  </p:clrMapOvr>
</p:notes>
</file>

<file path=ppt/notesSlides/notesSlide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Application to Exam Problems — independent practice 2</a:t>
            </a:r>
          </a:p>
          <a:p>
            <a:endParaRPr/>
          </a:p>
          <a:p>
            <a:r>
              <a:t>### Thread 1: Guided</a:t>
            </a:r>
          </a:p>
          <a:p>
            <a:endParaRPr/>
          </a:p>
          <a:p>
            <a:r>
              <a:t>1. 18 × 24 = 432 plants</a:t>
            </a:r>
          </a:p>
          <a:p>
            <a:endParaRPr/>
          </a:p>
          <a:p>
            <a:r>
              <a:t>2. 156 ÷ 6 = 26 pens</a:t>
            </a:r>
          </a:p>
          <a:p>
            <a:endParaRPr/>
          </a:p>
          <a:p>
            <a:r>
              <a:t>3. 23 × 16 = 368 badges</a:t>
            </a:r>
          </a:p>
          <a:p>
            <a:endParaRPr/>
          </a:p>
          <a:p>
            <a:r>
              <a:t>4. 248 ÷ 8 = £31</a:t>
            </a:r>
          </a:p>
          <a:p>
            <a:endParaRPr/>
          </a:p>
          <a:p>
            <a:r>
              <a:t>5. 12 × 27 = 324 km</a:t>
            </a:r>
          </a:p>
          <a:p>
            <a:endParaRPr/>
          </a:p>
          <a:p>
            <a:r>
              <a:t>6. 189 ÷ 7 = 27 cm</a:t>
            </a:r>
          </a:p>
          <a:p>
            <a:endParaRPr/>
          </a:p>
          <a:p>
            <a:r>
              <a:t>### Thread 2: Core</a:t>
            </a:r>
          </a:p>
          <a:p>
            <a:endParaRPr/>
          </a:p>
          <a:p>
            <a:r>
              <a:t>1. 197 ÷ 8 = 24 r 5 → 24 bundles</a:t>
            </a:r>
          </a:p>
          <a:p>
            <a:endParaRPr/>
          </a:p>
          <a:p>
            <a:r>
              <a:t>2. 83 ÷ 6 = 13 r 5 → 14 tents</a:t>
            </a:r>
          </a:p>
          <a:p>
            <a:endParaRPr/>
          </a:p>
          <a:p>
            <a:r>
              <a:t>3. 275 ÷ 12 = 22 r 11 → 11 cm</a:t>
            </a:r>
          </a:p>
          <a:p>
            <a:endParaRPr/>
          </a:p>
          <a:p>
            <a:r>
              <a:t>4. 36 × 14 = 504 pages</a:t>
            </a:r>
          </a:p>
          <a:p>
            <a:endParaRPr/>
          </a:p>
          <a:p>
            <a:r>
              <a:t>5. 154 ÷ 4 = £38.50</a:t>
            </a:r>
          </a:p>
          <a:p>
            <a:endParaRPr/>
          </a:p>
          <a:p>
            <a:r>
              <a:t>6. 253 ÷ 24 = 10 r 13 → 11 albums</a:t>
            </a:r>
          </a:p>
          <a:p>
            <a:endParaRPr/>
          </a:p>
          <a:p>
            <a:r>
              <a:t>### Thread 3: Depth</a:t>
            </a:r>
          </a:p>
          <a:p>
            <a:endParaRPr/>
          </a:p>
          <a:p>
            <a:r>
              <a:t>1. 28 × 14 = 392; 392 + 18 = £410</a:t>
            </a:r>
          </a:p>
          <a:p>
            <a:endParaRPr/>
          </a:p>
          <a:p>
            <a:r>
              <a:t>2. 94 ÷ 6 = 15 r 4 → 16 tables; 16 × 12 = £192</a:t>
            </a:r>
          </a:p>
          <a:p>
            <a:endParaRPr/>
          </a:p>
          <a:p>
            <a:r>
              <a:t>3. 24 × 15 = 360; 360 − 87 = 273 drinks</a:t>
            </a:r>
          </a:p>
          <a:p>
            <a:endParaRPr/>
          </a:p>
          <a:p>
            <a:r>
              <a:t>4. 286 ÷ 8 = 35 r 6; 35 × 3 = £105</a:t>
            </a:r>
          </a:p>
          <a:p>
            <a:endParaRPr/>
          </a:p>
          <a:p>
            <a:r>
              <a:t>5. 18 × 12 = 216; 216 ÷ 4 = £54</a:t>
            </a:r>
          </a:p>
          <a:p>
            <a:endParaRPr/>
          </a:p>
          <a:p>
            <a:r>
              <a:t>6. 17 × 24 = 408; 408 × 2 = £816</a:t>
            </a:r>
          </a:p>
        </p:txBody>
      </p:sp>
      <p:sp>
        <p:nvSpPr>
          <p:cNvPr id="4" name="Slide Number Placeholder 3"/>
          <p:cNvSpPr>
            <a:spLocks noGrp="1"/>
          </p:cNvSpPr>
          <p:nvPr>
            <p:ph type="sldNum" sz="quarter" idx="5"/>
          </p:nvPr>
        </p:nvSpPr>
        <p:spPr/>
      </p:sp>
    </p:spTree>
  </p:cSld>
  <p:clrMapOvr>
    <a:masterClrMapping/>
  </p:clrMapOvr>
</p:notes>
</file>

<file path=ppt/notesSlides/notesSlide3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Application to Exam Problems — independent practice 3</a:t>
            </a:r>
          </a:p>
          <a:p>
            <a:endParaRPr/>
          </a:p>
          <a:p>
            <a:r>
              <a:t>### Thread 1: Guided</a:t>
            </a:r>
          </a:p>
          <a:p>
            <a:endParaRPr/>
          </a:p>
          <a:p>
            <a:r>
              <a:t>1. 16 × 35 = 560 cables</a:t>
            </a:r>
          </a:p>
          <a:p>
            <a:endParaRPr/>
          </a:p>
          <a:p>
            <a:r>
              <a:t>2. 252 ÷ 7 = 36 stickers</a:t>
            </a:r>
          </a:p>
          <a:p>
            <a:endParaRPr/>
          </a:p>
          <a:p>
            <a:r>
              <a:t>3. 28 × 24 = 672 seats</a:t>
            </a:r>
          </a:p>
          <a:p>
            <a:endParaRPr/>
          </a:p>
          <a:p>
            <a:r>
              <a:t>4. 336 ÷ 8 = 42 m</a:t>
            </a:r>
          </a:p>
          <a:p>
            <a:endParaRPr/>
          </a:p>
          <a:p>
            <a:r>
              <a:t>5. 19 × 32 = 608 cards</a:t>
            </a:r>
          </a:p>
          <a:p>
            <a:endParaRPr/>
          </a:p>
          <a:p>
            <a:r>
              <a:t>6. 315 ÷ 9 = £35</a:t>
            </a:r>
          </a:p>
          <a:p>
            <a:endParaRPr/>
          </a:p>
          <a:p>
            <a:r>
              <a:t>### Thread 2: Core</a:t>
            </a:r>
          </a:p>
          <a:p>
            <a:endParaRPr/>
          </a:p>
          <a:p>
            <a:r>
              <a:t>1. 245 ÷ 8 = 30 r 5 → 30 bags</a:t>
            </a:r>
          </a:p>
          <a:p>
            <a:endParaRPr/>
          </a:p>
          <a:p>
            <a:r>
              <a:t>2. 137 ÷ 9 = 15 r 2 → 16 trips</a:t>
            </a:r>
          </a:p>
          <a:p>
            <a:endParaRPr/>
          </a:p>
          <a:p>
            <a:r>
              <a:t>3. 359 ÷ 12 = 29 r 11 → 11 beads</a:t>
            </a:r>
          </a:p>
          <a:p>
            <a:endParaRPr/>
          </a:p>
          <a:p>
            <a:r>
              <a:t>4. 23 × 16 = £368</a:t>
            </a:r>
          </a:p>
          <a:p>
            <a:endParaRPr/>
          </a:p>
          <a:p>
            <a:r>
              <a:t>5. 186 ÷ 8 = £23.25</a:t>
            </a:r>
          </a:p>
          <a:p>
            <a:endParaRPr/>
          </a:p>
          <a:p>
            <a:r>
              <a:t>6. 25 × 48 = 1,200 cm²</a:t>
            </a:r>
          </a:p>
          <a:p>
            <a:endParaRPr/>
          </a:p>
          <a:p>
            <a:r>
              <a:t>### Thread 3: Depth</a:t>
            </a:r>
          </a:p>
          <a:p>
            <a:endParaRPr/>
          </a:p>
          <a:p>
            <a:r>
              <a:t>1. 21 × 18 = 378; 378 + 64 = £442</a:t>
            </a:r>
          </a:p>
          <a:p>
            <a:endParaRPr/>
          </a:p>
          <a:p>
            <a:r>
              <a:t>2. 167 ÷ 24 = 6 r 23 → 7 coaches; 7 × 85 = £595</a:t>
            </a:r>
          </a:p>
          <a:p>
            <a:endParaRPr/>
          </a:p>
          <a:p>
            <a:r>
              <a:t>3. 32 × 18 = 576; 576 − 145 = 431 cards</a:t>
            </a:r>
          </a:p>
          <a:p>
            <a:endParaRPr/>
          </a:p>
          <a:p>
            <a:r>
              <a:t>4. 397 ÷ 6 = 66 r 1; 66 × 4 = £264</a:t>
            </a:r>
          </a:p>
          <a:p>
            <a:endParaRPr/>
          </a:p>
          <a:p>
            <a:r>
              <a:t>5. 15 × 14 = 210; 210 ÷ 6 = £35</a:t>
            </a:r>
          </a:p>
          <a:p>
            <a:endParaRPr/>
          </a:p>
          <a:p>
            <a:r>
              <a:t>6. 23 × 16 = 368; 368 × 5 = £1,840</a:t>
            </a:r>
          </a:p>
        </p:txBody>
      </p:sp>
      <p:sp>
        <p:nvSpPr>
          <p:cNvPr id="4" name="Slide Number Placeholder 3"/>
          <p:cNvSpPr>
            <a:spLocks noGrp="1"/>
          </p:cNvSpPr>
          <p:nvPr>
            <p:ph type="sldNum" sz="quarter" idx="5"/>
          </p:nvPr>
        </p:nvSpPr>
        <p:spPr/>
      </p:sp>
    </p:spTree>
  </p:cSld>
  <p:clrMapOvr>
    <a:masterClrMapping/>
  </p:clrMapOvr>
</p:notes>
</file>

<file path=ppt/notesSlides/notesSlide3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Application to Exam Problems — independent practice 4</a:t>
            </a:r>
          </a:p>
          <a:p>
            <a:endParaRPr/>
          </a:p>
          <a:p>
            <a:r>
              <a:t>### Thread 1: Guided</a:t>
            </a:r>
          </a:p>
          <a:p>
            <a:endParaRPr/>
          </a:p>
          <a:p>
            <a:r>
              <a:t>1. 27 × 18 = 486 labels</a:t>
            </a:r>
          </a:p>
          <a:p>
            <a:endParaRPr/>
          </a:p>
          <a:p>
            <a:r>
              <a:t>2. 384 ÷ 8 = 48 books</a:t>
            </a:r>
          </a:p>
          <a:p>
            <a:endParaRPr/>
          </a:p>
          <a:p>
            <a:r>
              <a:t>3. 34 × 16 = 544 seedlings</a:t>
            </a:r>
          </a:p>
          <a:p>
            <a:endParaRPr/>
          </a:p>
          <a:p>
            <a:r>
              <a:t>4. 425 ÷ 5 = £85</a:t>
            </a:r>
          </a:p>
          <a:p>
            <a:endParaRPr/>
          </a:p>
          <a:p>
            <a:r>
              <a:t>5. 26 × 35 = 910 seats</a:t>
            </a:r>
          </a:p>
          <a:p>
            <a:endParaRPr/>
          </a:p>
          <a:p>
            <a:r>
              <a:t>6. 294 ÷ 6 = 49 cm</a:t>
            </a:r>
          </a:p>
          <a:p>
            <a:endParaRPr/>
          </a:p>
          <a:p>
            <a:r>
              <a:t>### Thread 2: Core</a:t>
            </a:r>
          </a:p>
          <a:p>
            <a:endParaRPr/>
          </a:p>
          <a:p>
            <a:r>
              <a:t>1. 367 ÷ 12 = 30 r 7 → 30 boxes</a:t>
            </a:r>
          </a:p>
          <a:p>
            <a:endParaRPr/>
          </a:p>
          <a:p>
            <a:r>
              <a:t>2. 158 ÷ 6 = 26 r 2 → 27 rooms</a:t>
            </a:r>
          </a:p>
          <a:p>
            <a:endParaRPr/>
          </a:p>
          <a:p>
            <a:r>
              <a:t>3. 413 ÷ 15 = 27 r 8 → 8 cm</a:t>
            </a:r>
          </a:p>
          <a:p>
            <a:endParaRPr/>
          </a:p>
          <a:p>
            <a:r>
              <a:t>4. 28 × 19 = 532 bottles</a:t>
            </a:r>
          </a:p>
          <a:p>
            <a:endParaRPr/>
          </a:p>
          <a:p>
            <a:r>
              <a:t>5. 238 ÷ 8 = £29.75</a:t>
            </a:r>
          </a:p>
          <a:p>
            <a:endParaRPr/>
          </a:p>
          <a:p>
            <a:r>
              <a:t>6. 319 ÷ 24 = 13 r 7 → 14 folders</a:t>
            </a:r>
          </a:p>
          <a:p>
            <a:endParaRPr/>
          </a:p>
          <a:p>
            <a:r>
              <a:t>### Thread 3: Depth</a:t>
            </a:r>
          </a:p>
          <a:p>
            <a:endParaRPr/>
          </a:p>
          <a:p>
            <a:r>
              <a:t>1. 36 × 17 = 612; 612 − 75 = £537</a:t>
            </a:r>
          </a:p>
          <a:p>
            <a:endParaRPr/>
          </a:p>
          <a:p>
            <a:r>
              <a:t>2. 203 ÷ 8 = 25 r 3 → 26 tables; 26 × 15 = £390</a:t>
            </a:r>
          </a:p>
          <a:p>
            <a:endParaRPr/>
          </a:p>
          <a:p>
            <a:r>
              <a:t>3. 29 × 24 = 696; 696 − 187 = 509 notebooks</a:t>
            </a:r>
          </a:p>
          <a:p>
            <a:endParaRPr/>
          </a:p>
          <a:p>
            <a:r>
              <a:t>4. 518 ÷ 12 = 43 r 2; 43 × 5 = £215</a:t>
            </a:r>
          </a:p>
          <a:p>
            <a:endParaRPr/>
          </a:p>
          <a:p>
            <a:r>
              <a:t>5. 21 × 16 = 336; 336 ÷ 7 = £48</a:t>
            </a:r>
          </a:p>
          <a:p>
            <a:endParaRPr/>
          </a:p>
          <a:p>
            <a:r>
              <a:t>6. 28 × 15 = 420; 420 × 3 = £1,260</a:t>
            </a:r>
          </a:p>
        </p:txBody>
      </p:sp>
      <p:sp>
        <p:nvSpPr>
          <p:cNvPr id="4" name="Slide Number Placeholder 3"/>
          <p:cNvSpPr>
            <a:spLocks noGrp="1"/>
          </p:cNvSpPr>
          <p:nvPr>
            <p:ph type="sldNum" sz="quarter" idx="5"/>
          </p:nvPr>
        </p:nvSpPr>
        <p:spPr/>
      </p:sp>
    </p:spTree>
  </p:cSld>
  <p:clrMapOvr>
    <a:masterClrMapping/>
  </p:clrMapOvr>
</p:notes>
</file>

<file path=ppt/notesSlides/notesSlide3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 Slide 1 — Worked demo</a:t>
            </a:r>
          </a:p>
          <a:p>
            <a:endParaRPr/>
          </a:p>
          <a:p>
            <a:r>
              <a:t>Title: **Ratio: sharing and missing amounts**</a:t>
            </a:r>
          </a:p>
          <a:p>
            <a:endParaRPr/>
          </a:p>
          <a:p>
            <a:r>
              <a:t>Instruction: **Follow each step down your column.**</a:t>
            </a:r>
          </a:p>
          <a:p>
            <a:endParaRPr/>
          </a:p>
          <a:p>
            <a:r>
              <a:t>| Row | Thread 1: Guided | Thread 2: Core | Thread 3: Depth |</a:t>
            </a:r>
          </a:p>
          <a:p>
            <a:r>
              <a:t>| --- | --- | --- | --- |</a:t>
            </a:r>
          </a:p>
          <a:p>
            <a:r>
              <a:t>| The Full Question | A and B share £120 in the ratio 2:3. How much does B receive? | Red and blue paint are mixed in the ratio 3:5. There are 18 litres of red paint. How many litres of blue paint are needed? | Red and blue counters are in the ratio 3:7. There are 28 more blue counters than red counters. How many counters are there altogether? |</a:t>
            </a:r>
          </a:p>
          <a:p>
            <a:r>
              <a:t>| Keywords &amp; Calculation | “share £120”: the total is known. 2 + 3 = 5 parts. £120 ÷ 5, then × 3. | “18 litres of red”: 3 parts are known. 18 ÷ 3, then × 5. | “28 more blue”: the difference is known. 7 − 3 = 4 parts. 28 ÷ 4, then × (3 + 7). |</a:t>
            </a:r>
          </a:p>
          <a:p>
            <a:r>
              <a:t>| Written Method | £120 ÷ 5 = £24 per part. £24 × 3 = £72. | 18 ÷ 3 = 6 litres per part. 6 × 5 = 30 litres. | 28 ÷ 4 = 7 counters per part. 3 + 7 = 10 parts. 7 × 10 = 70 counters. |</a:t>
            </a:r>
          </a:p>
          <a:p>
            <a:r>
              <a:t>| Ballpark Check &amp; Math | B gets more than half of £120, so more than £60. £72 fits. Check both shares: £48 + £72 = £120. | Blue is between one and two times the red amount, so between 18 and 36 litres. 30 litres fits. | The total represents 10 parts and the difference 4. The total should be between 2 and 3 times 28: between 56 and 84. 70 fits. |</a:t>
            </a:r>
          </a:p>
          <a:p>
            <a:r>
              <a:t>| Final Answer | B receives £72. | 30 litres of blue paint. | 70 counters altogether. |</a:t>
            </a:r>
          </a:p>
          <a:p>
            <a:endParaRPr/>
          </a:p>
          <a:p>
            <a:r>
              <a:t>### Diagram specification</a:t>
            </a:r>
          </a:p>
          <a:p>
            <a:endParaRPr/>
          </a:p>
          <a:p>
            <a:r>
              <a:t>Use editable, equal-sized boxes. Align the two bars at the left; each box represents one part, not one pound, litre or counter. Label both bars by name; colour is optional, not the only way to identify them.</a:t>
            </a:r>
          </a:p>
          <a:p>
            <a:endParaRPr/>
          </a:p>
          <a:p>
            <a:r>
              <a:t>- Guided: A has 2 boxes; B has 3. A bracket covering both bars is labelled “£120 altogether”. Show “1 part = £24”.</a:t>
            </a:r>
          </a:p>
          <a:p>
            <a:r>
              <a:t>- Core: red has 3 boxes labelled “18 litres”; blue has 5. Show “1 part = 6 litres”.</a:t>
            </a:r>
          </a:p>
          <a:p>
            <a:r>
              <a:t>- Depth: red has 3 boxes; blue has 7. Bracket the **four extra blue boxes** and label them “28 more”. Show “1 part = 7 counters”. Do not label the overlap as the difference.</a:t>
            </a:r>
          </a:p>
          <a:p>
            <a:endParaRPr/>
          </a:p>
          <a:p>
            <a:r>
              <a:t>Keep the complete question and all four steps on this slide. Fit the diagrams beside the concise working within the Written Method row. Do not introduce a separate step-per-slide sequence.</a:t>
            </a:r>
          </a:p>
          <a:p>
            <a:endParaRPr/>
          </a:p>
        </p:txBody>
      </p:sp>
      <p:sp>
        <p:nvSpPr>
          <p:cNvPr id="4" name="Slide Number Placeholder 3"/>
          <p:cNvSpPr>
            <a:spLocks noGrp="1"/>
          </p:cNvSpPr>
          <p:nvPr>
            <p:ph type="sldNum" sz="quarter" idx="5"/>
          </p:nvPr>
        </p:nvSpPr>
        <p:spPr/>
      </p:sp>
    </p:spTree>
  </p:cSld>
  <p:clrMapOvr>
    <a:masterClrMapping/>
  </p:clrMapOvr>
</p:notes>
</file>

<file path=ppt/notesSlides/notesSlide3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 Slide 2 — Step-by-step practice 1</a:t>
            </a:r>
          </a:p>
          <a:p>
            <a:endParaRPr/>
          </a:p>
          <a:p>
            <a:r>
              <a:t>Instruction: **Complete each step in your booklet or webapp.** Use the four practice prompts above.</a:t>
            </a:r>
          </a:p>
          <a:p>
            <a:endParaRPr/>
          </a:p>
          <a:p>
            <a:r>
              <a:t>| Thread 1: Guided | Thread 2: Core | Thread 3: Depth |</a:t>
            </a:r>
          </a:p>
          <a:p>
            <a:r>
              <a:t>| --- | --- | --- |</a:t>
            </a:r>
          </a:p>
          <a:p>
            <a:r>
              <a:t>| An 84 ml paint mix contains red and white paint in the ratio 3:4. How much red paint is in the mix? | Notebooks and folders are in the ratio 4:7. There are 35 folders. How many notebooks are there? | Adults and children are in the ratio 2:5. There are 24 more children than adults. How many people are there altogether? |</a:t>
            </a:r>
          </a:p>
          <a:p>
            <a:endParaRPr/>
          </a:p>
          <a:p>
            <a:r>
              <a:t>Teacher working:</a:t>
            </a:r>
          </a:p>
          <a:p>
            <a:endParaRPr/>
          </a:p>
          <a:p>
            <a:r>
              <a:t>- T1: 3 + 4 = 7; 84 ÷ 7 = 12 ml; 12 × 3 = **36 ml red paint**. Less than half of 84 ml; white paint 48 ml.</a:t>
            </a:r>
          </a:p>
          <a:p>
            <a:r>
              <a:t>- T2: 35 ÷ 7 = 5; 5 × 4 = **20 notebooks**. Fewer notebooks than folders.</a:t>
            </a:r>
          </a:p>
          <a:p>
            <a:r>
              <a:t>- T3: 5 − 2 = 3; 24 ÷ 3 = 8; (2 + 5) × 8 = **56 people**. 16 adults and 40 children; difference 24.</a:t>
            </a:r>
          </a:p>
          <a:p>
            <a:endParaRPr/>
          </a:p>
        </p:txBody>
      </p:sp>
      <p:sp>
        <p:nvSpPr>
          <p:cNvPr id="4" name="Slide Number Placeholder 3"/>
          <p:cNvSpPr>
            <a:spLocks noGrp="1"/>
          </p:cNvSpPr>
          <p:nvPr>
            <p:ph type="sldNum" sz="quarter" idx="5"/>
          </p:nvPr>
        </p:nvSpPr>
        <p:spPr/>
      </p:sp>
    </p:spTree>
  </p:cSld>
  <p:clrMapOvr>
    <a:masterClrMapping/>
  </p:clrMapOvr>
</p:notes>
</file>

<file path=ppt/notesSlides/notesSlide3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 Slide 3 — Step-by-step practice 2</a:t>
            </a:r>
          </a:p>
          <a:p>
            <a:endParaRPr/>
          </a:p>
          <a:p>
            <a:r>
              <a:t>Instruction and row prompts match Slide 2 exactly.</a:t>
            </a:r>
          </a:p>
          <a:p>
            <a:endParaRPr/>
          </a:p>
          <a:p>
            <a:r>
              <a:t>| Thread 1: Guided | Thread 2: Core | Thread 3: Depth |</a:t>
            </a:r>
          </a:p>
          <a:p>
            <a:r>
              <a:t>| --- | --- | --- |</a:t>
            </a:r>
          </a:p>
          <a:p>
            <a:r>
              <a:t>| A 96 cm ribbon is cut into pieces A and B in the ratio 5:7. Find the length of B. | Juice and water are mixed in the ratio 2:7. There are 18 litres of juice. How many litres of water are needed? | Two lengths of ribbon, A and B, are in the ratio 5:8. B is 21 cm longer than A. What is their total length? |</a:t>
            </a:r>
          </a:p>
          <a:p>
            <a:endParaRPr/>
          </a:p>
          <a:p>
            <a:r>
              <a:t>Teacher working:</a:t>
            </a:r>
          </a:p>
          <a:p>
            <a:endParaRPr/>
          </a:p>
          <a:p>
            <a:r>
              <a:t>- T1: 5 + 7 = 12; 96 ÷ 12 = 8 cm; 8 × 7 = **56 cm**. More than half of 96 cm; A is 40 cm.</a:t>
            </a:r>
          </a:p>
          <a:p>
            <a:r>
              <a:t>- T2: 18 ÷ 2 = 9; 9 × 7 = **63 litres of water**. Between 3 and 4 times the juice amount (54–72 litres).</a:t>
            </a:r>
          </a:p>
          <a:p>
            <a:r>
              <a:t>- T3: 8 − 5 = 3; 21 ÷ 3 = 7; (5 + 8) × 7 = **91 cm**. The two lengths are 35 cm and 56 cm; difference 21 cm.</a:t>
            </a:r>
          </a:p>
          <a:p>
            <a:endParaRPr/>
          </a:p>
          <a:p>
            <a:endParaRPr/>
          </a:p>
          <a:p>
            <a:endParaRPr/>
          </a:p>
          <a:p>
            <a:r>
              <a:t>## Slides 4–7 — Independent practice</a:t>
            </a:r>
          </a:p>
          <a:p>
            <a:endParaRPr/>
          </a:p>
          <a:p>
            <a:r>
              <a:t>Instruction on each slide: **Choose a column. Show your working and check your answers.**</a:t>
            </a:r>
          </a:p>
          <a:p>
            <a:endParaRPr/>
          </a:p>
          <a:p>
            <a:r>
              <a:t>Each column mixes contexts, unit types and requested quantities. “Find each” requires two labelled answers. Guided uses direct totals, known amounts and friendly given-difference questions. Core mixes totals, known amounts and simple differences. Depth mixes all three, including finding a difference from a total or a known amount. A column does not identify the required calculation.</a:t>
            </a:r>
          </a:p>
          <a:p>
            <a:endParaRPr/>
          </a:p>
        </p:txBody>
      </p:sp>
      <p:sp>
        <p:nvSpPr>
          <p:cNvPr id="4" name="Slide Number Placeholder 3"/>
          <p:cNvSpPr>
            <a:spLocks noGrp="1"/>
          </p:cNvSpPr>
          <p:nvPr>
            <p:ph type="sldNum" sz="quarter" idx="5"/>
          </p:nvPr>
        </p:nvSpPr>
        <p:spPr/>
      </p:sp>
    </p:spTree>
  </p:cSld>
  <p:clrMapOvr>
    <a:masterClrMapping/>
  </p:clrMapOvr>
</p:notes>
</file>

<file path=ppt/notesSlides/notesSlide3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Tree>
  </p:cSld>
  <p:clrMapOvr>
    <a:masterClrMapping/>
  </p:clrMapOvr>
</p:notes>
</file>

<file path=ppt/notesSlides/notesSlide3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M04-S04: answers are in the separate ratio answer deck.</a:t>
            </a:r>
          </a:p>
        </p:txBody>
      </p:sp>
      <p:sp>
        <p:nvSpPr>
          <p:cNvPr id="4" name="Slide Number Placeholder 3"/>
          <p:cNvSpPr>
            <a:spLocks noGrp="1"/>
          </p:cNvSpPr>
          <p:nvPr>
            <p:ph type="sldNum" sz="quarter" idx="5"/>
          </p:nvPr>
        </p:nvSpPr>
        <p:spPr/>
      </p:sp>
    </p:spTree>
  </p:cSld>
  <p:clrMapOvr>
    <a:masterClrMapping/>
  </p:clrMapOvr>
</p:notes>
</file>

<file path=ppt/notesSlides/notesSlide3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M04-S05: answers are in the separate ratio answer deck.</a:t>
            </a:r>
          </a:p>
        </p:txBody>
      </p:sp>
      <p:sp>
        <p:nvSpPr>
          <p:cNvPr id="4" name="Slide Number Placeholder 3"/>
          <p:cNvSpPr>
            <a:spLocks noGrp="1"/>
          </p:cNvSpPr>
          <p:nvPr>
            <p:ph type="sldNum" sz="quarter" idx="5"/>
          </p:nvPr>
        </p:nvSpPr>
        <p:spPr/>
      </p:sp>
    </p:spTree>
  </p:cSld>
  <p:clrMapOvr>
    <a:masterClrMapping/>
  </p:clrMapOvr>
</p:notes>
</file>

<file path=ppt/notesSlides/notesSlide4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M04-S06: answers are in the separate ratio answer deck.</a:t>
            </a:r>
          </a:p>
        </p:txBody>
      </p:sp>
      <p:sp>
        <p:nvSpPr>
          <p:cNvPr id="4" name="Slide Number Placeholder 3"/>
          <p:cNvSpPr>
            <a:spLocks noGrp="1"/>
          </p:cNvSpPr>
          <p:nvPr>
            <p:ph type="sldNum" sz="quarter" idx="5"/>
          </p:nvPr>
        </p:nvSpPr>
        <p:spPr/>
      </p:sp>
    </p:spTree>
  </p:cSld>
  <p:clrMapOvr>
    <a:masterClrMapping/>
  </p:clrMapOvr>
</p:notes>
</file>

<file path=ppt/notesSlides/notesSlide4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M04-S07: answers are in the separate ratio answer deck.</a:t>
            </a:r>
          </a:p>
        </p:txBody>
      </p:sp>
      <p:sp>
        <p:nvSpPr>
          <p:cNvPr id="4" name="Slide Number Placeholder 3"/>
          <p:cNvSpPr>
            <a:spLocks noGrp="1"/>
          </p:cNvSpPr>
          <p:nvPr>
            <p:ph type="sldNum" sz="quarter" idx="5"/>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9/24/2026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9/24/2026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9/24/2026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9/24/2026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9/24/2026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9/24/2026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9/24/2026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9/24/2026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9/24/2026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9/24/2026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9/24/2026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9/24/2026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3.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4.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5.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6.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7.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8.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9.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0.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1.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2.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3.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4.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5.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6.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7.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8.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9.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0.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1.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7F8FA"/>
        </a:solidFill>
        <a:effectLst/>
      </p:bgPr>
    </p:bg>
    <p:spTree>
      <p:nvGrpSpPr>
        <p:cNvPr id="1" name=""/>
        <p:cNvGrpSpPr/>
        <p:nvPr/>
      </p:nvGrpSpPr>
      <p:grpSpPr/>
      <p:sp>
        <p:nvSpPr>
          <p:cNvPr id="2" name="Rectangle 1"/>
          <p:cNvSpPr/>
          <p:nvPr/>
        </p:nvSpPr>
        <p:spPr>
          <a:xfrm>
            <a:off x="0" y="0"/>
            <a:ext cx="14630400" cy="91440"/>
          </a:xfrm>
          <a:prstGeom prst="rect">
            <a:avLst/>
          </a:prstGeom>
          <a:solidFill>
            <a:srgbClr val="176B73"/>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 name="TextBox 2"/>
          <p:cNvSpPr txBox="1"/>
          <p:nvPr/>
        </p:nvSpPr>
        <p:spPr>
          <a:xfrm>
            <a:off x="384048" y="219456"/>
            <a:ext cx="13807440" cy="457200"/>
          </a:xfrm>
          <a:prstGeom prst="rect">
            <a:avLst/>
          </a:prstGeom>
          <a:noFill/>
        </p:spPr>
        <p:txBody>
          <a:bodyPr wrap="square" tIns="36576" bIns="36576" anchor="t">
            <a:spAutoFit/>
          </a:bodyPr>
          <a:lstStyle/>
          <a:p>
            <a:pPr>
              <a:lnSpc>
                <a:spcPts val="3132"/>
              </a:lnSpc>
              <a:spcBef>
                <a:spcPts val="0"/>
              </a:spcBef>
              <a:spcAft>
                <a:spcPts val="0"/>
              </a:spcAft>
              <a:defRPr sz="2900" b="1">
                <a:solidFill>
                  <a:srgbClr val="182B3A"/>
                </a:solidFill>
                <a:latin typeface="Arial"/>
              </a:defRPr>
            </a:pPr>
            <a:r>
              <a:t>Lattice Multiplication — initial assessment</a:t>
            </a:r>
          </a:p>
        </p:txBody>
      </p:sp>
      <p:sp>
        <p:nvSpPr>
          <p:cNvPr id="4" name="TextBox 3"/>
          <p:cNvSpPr txBox="1"/>
          <p:nvPr/>
        </p:nvSpPr>
        <p:spPr>
          <a:xfrm>
            <a:off x="384048" y="740664"/>
            <a:ext cx="13807440" cy="411480"/>
          </a:xfrm>
          <a:prstGeom prst="rect">
            <a:avLst/>
          </a:prstGeom>
          <a:noFill/>
        </p:spPr>
        <p:txBody>
          <a:bodyPr wrap="square" tIns="36576" bIns="36576" anchor="t">
            <a:spAutoFit/>
          </a:bodyPr>
          <a:lstStyle/>
          <a:p>
            <a:pPr>
              <a:lnSpc>
                <a:spcPts val="1836"/>
              </a:lnSpc>
              <a:spcBef>
                <a:spcPts val="0"/>
              </a:spcBef>
              <a:spcAft>
                <a:spcPts val="0"/>
              </a:spcAft>
              <a:defRPr sz="1700" b="0">
                <a:solidFill>
                  <a:srgbClr val="526472"/>
                </a:solidFill>
                <a:latin typeface="Arial"/>
              </a:defRPr>
            </a:pPr>
            <a:r>
              <a:t>Show your full written method. No calculators.</a:t>
            </a:r>
          </a:p>
        </p:txBody>
      </p:sp>
      <p:sp>
        <p:nvSpPr>
          <p:cNvPr id="5" name="TextBox 4"/>
          <p:cNvSpPr txBox="1"/>
          <p:nvPr/>
        </p:nvSpPr>
        <p:spPr>
          <a:xfrm>
            <a:off x="384048" y="7863840"/>
            <a:ext cx="13716000" cy="256032"/>
          </a:xfrm>
          <a:prstGeom prst="rect">
            <a:avLst/>
          </a:prstGeom>
          <a:noFill/>
        </p:spPr>
        <p:txBody>
          <a:bodyPr wrap="square" tIns="36576" bIns="36576" anchor="t">
            <a:spAutoFit/>
          </a:bodyPr>
          <a:lstStyle/>
          <a:p>
            <a:pPr>
              <a:lnSpc>
                <a:spcPts val="1188"/>
              </a:lnSpc>
              <a:spcBef>
                <a:spcPts val="0"/>
              </a:spcBef>
              <a:spcAft>
                <a:spcPts val="0"/>
              </a:spcAft>
              <a:defRPr sz="1100" b="0">
                <a:solidFill>
                  <a:srgbClr val="526472"/>
                </a:solidFill>
                <a:latin typeface="Arial"/>
              </a:defRPr>
            </a:pPr>
            <a:r>
              <a:t>M01-IA  •  Record your working in your booklet or webapp.</a:t>
            </a:r>
          </a:p>
        </p:txBody>
      </p:sp>
      <p:sp>
        <p:nvSpPr>
          <p:cNvPr id="6" name="Rectangle 5"/>
          <p:cNvSpPr/>
          <p:nvPr/>
        </p:nvSpPr>
        <p:spPr>
          <a:xfrm>
            <a:off x="384048" y="1463040"/>
            <a:ext cx="6858000" cy="2852928"/>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7" name="TextBox 6"/>
          <p:cNvSpPr txBox="1"/>
          <p:nvPr/>
        </p:nvSpPr>
        <p:spPr>
          <a:xfrm>
            <a:off x="566928" y="1664208"/>
            <a:ext cx="6492240" cy="2468880"/>
          </a:xfrm>
          <a:prstGeom prst="rect">
            <a:avLst/>
          </a:prstGeom>
          <a:noFill/>
        </p:spPr>
        <p:txBody>
          <a:bodyPr wrap="square" tIns="36576" bIns="36576" anchor="t">
            <a:spAutoFit/>
          </a:bodyPr>
          <a:lstStyle/>
          <a:p>
            <a:pPr>
              <a:lnSpc>
                <a:spcPts val="3672"/>
              </a:lnSpc>
              <a:spcBef>
                <a:spcPts val="0"/>
              </a:spcBef>
              <a:spcAft>
                <a:spcPts val="0"/>
              </a:spcAft>
              <a:defRPr sz="3400" b="1">
                <a:solidFill>
                  <a:srgbClr val="182B3A"/>
                </a:solidFill>
                <a:latin typeface="Arial"/>
              </a:defRPr>
            </a:pPr>
            <a:r>
              <a:t>1.  43 × 6</a:t>
            </a:r>
          </a:p>
        </p:txBody>
      </p:sp>
      <p:sp>
        <p:nvSpPr>
          <p:cNvPr id="8" name="Rectangle 7"/>
          <p:cNvSpPr/>
          <p:nvPr/>
        </p:nvSpPr>
        <p:spPr>
          <a:xfrm>
            <a:off x="7379208" y="1463040"/>
            <a:ext cx="6858000" cy="2852928"/>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9" name="TextBox 8"/>
          <p:cNvSpPr txBox="1"/>
          <p:nvPr/>
        </p:nvSpPr>
        <p:spPr>
          <a:xfrm>
            <a:off x="7562088" y="1664208"/>
            <a:ext cx="6492240" cy="2468880"/>
          </a:xfrm>
          <a:prstGeom prst="rect">
            <a:avLst/>
          </a:prstGeom>
          <a:noFill/>
        </p:spPr>
        <p:txBody>
          <a:bodyPr wrap="square" tIns="36576" bIns="36576" anchor="t">
            <a:spAutoFit/>
          </a:bodyPr>
          <a:lstStyle/>
          <a:p>
            <a:pPr>
              <a:lnSpc>
                <a:spcPts val="3672"/>
              </a:lnSpc>
              <a:spcBef>
                <a:spcPts val="0"/>
              </a:spcBef>
              <a:spcAft>
                <a:spcPts val="0"/>
              </a:spcAft>
              <a:defRPr sz="3400" b="1">
                <a:solidFill>
                  <a:srgbClr val="182B3A"/>
                </a:solidFill>
                <a:latin typeface="Arial"/>
              </a:defRPr>
            </a:pPr>
            <a:r>
              <a:t>2.  68 × 4</a:t>
            </a:r>
          </a:p>
        </p:txBody>
      </p:sp>
      <p:sp>
        <p:nvSpPr>
          <p:cNvPr id="10" name="Rectangle 9"/>
          <p:cNvSpPr/>
          <p:nvPr/>
        </p:nvSpPr>
        <p:spPr>
          <a:xfrm>
            <a:off x="384048" y="4526280"/>
            <a:ext cx="6858000" cy="2852928"/>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1" name="TextBox 10"/>
          <p:cNvSpPr txBox="1"/>
          <p:nvPr/>
        </p:nvSpPr>
        <p:spPr>
          <a:xfrm>
            <a:off x="566928" y="4727448"/>
            <a:ext cx="6492240" cy="2468880"/>
          </a:xfrm>
          <a:prstGeom prst="rect">
            <a:avLst/>
          </a:prstGeom>
          <a:noFill/>
        </p:spPr>
        <p:txBody>
          <a:bodyPr wrap="square" tIns="36576" bIns="36576" anchor="t">
            <a:spAutoFit/>
          </a:bodyPr>
          <a:lstStyle/>
          <a:p>
            <a:pPr>
              <a:lnSpc>
                <a:spcPts val="3672"/>
              </a:lnSpc>
              <a:spcBef>
                <a:spcPts val="0"/>
              </a:spcBef>
              <a:spcAft>
                <a:spcPts val="0"/>
              </a:spcAft>
              <a:defRPr sz="3400" b="1">
                <a:solidFill>
                  <a:srgbClr val="182B3A"/>
                </a:solidFill>
                <a:latin typeface="Arial"/>
              </a:defRPr>
            </a:pPr>
            <a:r>
              <a:t>3.  476 × 82</a:t>
            </a:r>
          </a:p>
        </p:txBody>
      </p:sp>
      <p:sp>
        <p:nvSpPr>
          <p:cNvPr id="12" name="Rectangle 11"/>
          <p:cNvSpPr/>
          <p:nvPr/>
        </p:nvSpPr>
        <p:spPr>
          <a:xfrm>
            <a:off x="7379208" y="4526280"/>
            <a:ext cx="6858000" cy="2852928"/>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3" name="TextBox 12"/>
          <p:cNvSpPr txBox="1"/>
          <p:nvPr/>
        </p:nvSpPr>
        <p:spPr>
          <a:xfrm>
            <a:off x="7562088" y="4727448"/>
            <a:ext cx="6492240" cy="2468880"/>
          </a:xfrm>
          <a:prstGeom prst="rect">
            <a:avLst/>
          </a:prstGeom>
          <a:noFill/>
        </p:spPr>
        <p:txBody>
          <a:bodyPr wrap="square" tIns="36576" bIns="36576" anchor="t">
            <a:spAutoFit/>
          </a:bodyPr>
          <a:lstStyle/>
          <a:p>
            <a:pPr>
              <a:lnSpc>
                <a:spcPts val="3672"/>
              </a:lnSpc>
              <a:spcBef>
                <a:spcPts val="0"/>
              </a:spcBef>
              <a:spcAft>
                <a:spcPts val="0"/>
              </a:spcAft>
              <a:defRPr sz="3400" b="1">
                <a:solidFill>
                  <a:srgbClr val="182B3A"/>
                </a:solidFill>
                <a:latin typeface="Arial"/>
              </a:defRPr>
            </a:pPr>
            <a:r>
              <a:t>4.  6,038 × 591</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7F8FA"/>
        </a:solidFill>
        <a:effectLst/>
      </p:bgPr>
    </p:bg>
    <p:spTree>
      <p:nvGrpSpPr>
        <p:cNvPr id="1" name=""/>
        <p:cNvGrpSpPr/>
        <p:nvPr/>
      </p:nvGrpSpPr>
      <p:grpSpPr/>
      <p:sp>
        <p:nvSpPr>
          <p:cNvPr id="2" name="Rectangle 1"/>
          <p:cNvSpPr/>
          <p:nvPr/>
        </p:nvSpPr>
        <p:spPr>
          <a:xfrm>
            <a:off x="0" y="0"/>
            <a:ext cx="14630400" cy="91440"/>
          </a:xfrm>
          <a:prstGeom prst="rect">
            <a:avLst/>
          </a:prstGeom>
          <a:solidFill>
            <a:srgbClr val="176B73"/>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3" name="TextBox 2"/>
          <p:cNvSpPr txBox="1"/>
          <p:nvPr/>
        </p:nvSpPr>
        <p:spPr>
          <a:xfrm>
            <a:off x="384048" y="219456"/>
            <a:ext cx="12435840" cy="448056"/>
          </a:xfrm>
          <a:prstGeom prst="rect">
            <a:avLst/>
          </a:prstGeom>
          <a:noFill/>
        </p:spPr>
        <p:txBody>
          <a:bodyPr wrap="square" tIns="36576" bIns="36576" anchor="t">
            <a:spAutoFit/>
          </a:bodyPr>
          <a:lstStyle/>
          <a:p>
            <a:pPr>
              <a:lnSpc>
                <a:spcPts val="3132"/>
              </a:lnSpc>
              <a:spcBef>
                <a:spcPts val="0"/>
              </a:spcBef>
              <a:spcAft>
                <a:spcPts val="0"/>
              </a:spcAft>
              <a:defRPr sz="2900" b="1">
                <a:solidFill>
                  <a:srgbClr val="182B3A"/>
                </a:solidFill>
                <a:latin typeface="Arial"/>
              </a:defRPr>
            </a:pPr>
            <a:r>
              <a:t>Lattice Multiplication</a:t>
            </a:r>
          </a:p>
        </p:txBody>
      </p:sp>
      <p:sp>
        <p:nvSpPr>
          <p:cNvPr id="4" name="TextBox 3"/>
          <p:cNvSpPr txBox="1"/>
          <p:nvPr/>
        </p:nvSpPr>
        <p:spPr>
          <a:xfrm>
            <a:off x="384048" y="713232"/>
            <a:ext cx="13533120" cy="274320"/>
          </a:xfrm>
          <a:prstGeom prst="rect">
            <a:avLst/>
          </a:prstGeom>
          <a:noFill/>
        </p:spPr>
        <p:txBody>
          <a:bodyPr wrap="square" tIns="36576" bIns="36576" anchor="t">
            <a:spAutoFit/>
          </a:bodyPr>
          <a:lstStyle/>
          <a:p>
            <a:pPr>
              <a:lnSpc>
                <a:spcPts val="1512"/>
              </a:lnSpc>
              <a:spcBef>
                <a:spcPts val="0"/>
              </a:spcBef>
              <a:spcAft>
                <a:spcPts val="0"/>
              </a:spcAft>
              <a:defRPr sz="1400" b="0">
                <a:solidFill>
                  <a:srgbClr val="526472"/>
                </a:solidFill>
                <a:latin typeface="Arial"/>
              </a:defRPr>
            </a:pPr>
            <a:r>
              <a:t>Worked demo  •  Follow each step down your column. Small orange numbers show carries.</a:t>
            </a:r>
          </a:p>
        </p:txBody>
      </p:sp>
      <p:sp>
        <p:nvSpPr>
          <p:cNvPr id="5" name="TextBox 4"/>
          <p:cNvSpPr txBox="1"/>
          <p:nvPr/>
        </p:nvSpPr>
        <p:spPr>
          <a:xfrm>
            <a:off x="384048" y="7882127"/>
            <a:ext cx="10058400" cy="210312"/>
          </a:xfrm>
          <a:prstGeom prst="rect">
            <a:avLst/>
          </a:prstGeom>
          <a:noFill/>
        </p:spPr>
        <p:txBody>
          <a:bodyPr wrap="square" tIns="36576" bIns="36576" anchor="t">
            <a:spAutoFit/>
          </a:bodyPr>
          <a:lstStyle/>
          <a:p>
            <a:pPr>
              <a:lnSpc>
                <a:spcPts val="1188"/>
              </a:lnSpc>
              <a:spcBef>
                <a:spcPts val="0"/>
              </a:spcBef>
              <a:spcAft>
                <a:spcPts val="0"/>
              </a:spcAft>
              <a:defRPr sz="1100" b="0">
                <a:solidFill>
                  <a:srgbClr val="526472"/>
                </a:solidFill>
                <a:latin typeface="Arial"/>
              </a:defRPr>
            </a:pPr>
            <a:r>
              <a:t>GCSE Maths revision  •  Record your working in your booklet or webapp.</a:t>
            </a:r>
          </a:p>
        </p:txBody>
      </p:sp>
      <p:sp>
        <p:nvSpPr>
          <p:cNvPr id="6" name="TextBox 5"/>
          <p:cNvSpPr txBox="1"/>
          <p:nvPr/>
        </p:nvSpPr>
        <p:spPr>
          <a:xfrm>
            <a:off x="11430000" y="7863840"/>
            <a:ext cx="2788920" cy="228600"/>
          </a:xfrm>
          <a:prstGeom prst="rect">
            <a:avLst/>
          </a:prstGeom>
          <a:noFill/>
        </p:spPr>
        <p:txBody>
          <a:bodyPr wrap="square" tIns="36576" bIns="36576" anchor="t">
            <a:spAutoFit/>
          </a:bodyPr>
          <a:lstStyle/>
          <a:p>
            <a:pPr>
              <a:lnSpc>
                <a:spcPts val="1188"/>
              </a:lnSpc>
              <a:spcBef>
                <a:spcPts val="0"/>
              </a:spcBef>
              <a:spcAft>
                <a:spcPts val="0"/>
              </a:spcAft>
              <a:defRPr sz="1100" b="0">
                <a:solidFill>
                  <a:srgbClr val="526472"/>
                </a:solidFill>
                <a:latin typeface="Arial"/>
              </a:defRPr>
            </a:pPr>
            <a:r>
              <a:t>M01-S01  •  Topic slide 2</a:t>
            </a:r>
          </a:p>
        </p:txBody>
      </p:sp>
      <p:sp>
        <p:nvSpPr>
          <p:cNvPr id="7" name="Rectangle 6"/>
          <p:cNvSpPr/>
          <p:nvPr/>
        </p:nvSpPr>
        <p:spPr>
          <a:xfrm>
            <a:off x="2487168" y="1124712"/>
            <a:ext cx="3919727" cy="438912"/>
          </a:xfrm>
          <a:prstGeom prst="rect">
            <a:avLst/>
          </a:prstGeom>
          <a:solidFill>
            <a:srgbClr val="176B73"/>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8" name="TextBox 7"/>
          <p:cNvSpPr txBox="1"/>
          <p:nvPr/>
        </p:nvSpPr>
        <p:spPr>
          <a:xfrm>
            <a:off x="2542032" y="1152144"/>
            <a:ext cx="3809999" cy="338328"/>
          </a:xfrm>
          <a:prstGeom prst="rect">
            <a:avLst/>
          </a:prstGeom>
          <a:noFill/>
        </p:spPr>
        <p:txBody>
          <a:bodyPr wrap="square" tIns="36576" bIns="36576" anchor="t">
            <a:spAutoFit/>
          </a:bodyPr>
          <a:lstStyle/>
          <a:p>
            <a:pPr>
              <a:lnSpc>
                <a:spcPts val="2160"/>
              </a:lnSpc>
              <a:spcBef>
                <a:spcPts val="0"/>
              </a:spcBef>
              <a:spcAft>
                <a:spcPts val="0"/>
              </a:spcAft>
              <a:defRPr sz="2000" b="1">
                <a:solidFill>
                  <a:srgbClr val="FFFFFF"/>
                </a:solidFill>
                <a:latin typeface="Arial"/>
              </a:defRPr>
            </a:pPr>
            <a:r>
              <a:t>Start</a:t>
            </a:r>
          </a:p>
        </p:txBody>
      </p:sp>
      <p:sp>
        <p:nvSpPr>
          <p:cNvPr id="9" name="Rectangle 8"/>
          <p:cNvSpPr/>
          <p:nvPr/>
        </p:nvSpPr>
        <p:spPr>
          <a:xfrm>
            <a:off x="6406895" y="1124712"/>
            <a:ext cx="3919727" cy="438912"/>
          </a:xfrm>
          <a:prstGeom prst="rect">
            <a:avLst/>
          </a:prstGeom>
          <a:solidFill>
            <a:srgbClr val="3559A2"/>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0" name="TextBox 9"/>
          <p:cNvSpPr txBox="1"/>
          <p:nvPr/>
        </p:nvSpPr>
        <p:spPr>
          <a:xfrm>
            <a:off x="6461759" y="1152144"/>
            <a:ext cx="3809999" cy="338328"/>
          </a:xfrm>
          <a:prstGeom prst="rect">
            <a:avLst/>
          </a:prstGeom>
          <a:noFill/>
        </p:spPr>
        <p:txBody>
          <a:bodyPr wrap="square" tIns="36576" bIns="36576" anchor="t">
            <a:spAutoFit/>
          </a:bodyPr>
          <a:lstStyle/>
          <a:p>
            <a:pPr>
              <a:lnSpc>
                <a:spcPts val="2160"/>
              </a:lnSpc>
              <a:spcBef>
                <a:spcPts val="0"/>
              </a:spcBef>
              <a:spcAft>
                <a:spcPts val="0"/>
              </a:spcAft>
              <a:defRPr sz="2000" b="1">
                <a:solidFill>
                  <a:srgbClr val="FFFFFF"/>
                </a:solidFill>
                <a:latin typeface="Arial"/>
              </a:defRPr>
            </a:pPr>
            <a:r>
              <a:t>Build</a:t>
            </a:r>
          </a:p>
        </p:txBody>
      </p:sp>
      <p:sp>
        <p:nvSpPr>
          <p:cNvPr id="11" name="Rectangle 10"/>
          <p:cNvSpPr/>
          <p:nvPr/>
        </p:nvSpPr>
        <p:spPr>
          <a:xfrm>
            <a:off x="10326624" y="1124712"/>
            <a:ext cx="3919727" cy="438912"/>
          </a:xfrm>
          <a:prstGeom prst="rect">
            <a:avLst/>
          </a:prstGeom>
          <a:solidFill>
            <a:srgbClr val="754B87"/>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2" name="TextBox 11"/>
          <p:cNvSpPr txBox="1"/>
          <p:nvPr/>
        </p:nvSpPr>
        <p:spPr>
          <a:xfrm>
            <a:off x="10381488" y="1152144"/>
            <a:ext cx="3809999" cy="338328"/>
          </a:xfrm>
          <a:prstGeom prst="rect">
            <a:avLst/>
          </a:prstGeom>
          <a:noFill/>
        </p:spPr>
        <p:txBody>
          <a:bodyPr wrap="square" tIns="36576" bIns="36576" anchor="t">
            <a:spAutoFit/>
          </a:bodyPr>
          <a:lstStyle/>
          <a:p>
            <a:pPr>
              <a:lnSpc>
                <a:spcPts val="2160"/>
              </a:lnSpc>
              <a:spcBef>
                <a:spcPts val="0"/>
              </a:spcBef>
              <a:spcAft>
                <a:spcPts val="0"/>
              </a:spcAft>
              <a:defRPr sz="2000" b="1">
                <a:solidFill>
                  <a:srgbClr val="FFFFFF"/>
                </a:solidFill>
                <a:latin typeface="Arial"/>
              </a:defRPr>
            </a:pPr>
            <a:r>
              <a:t>Confidence</a:t>
            </a:r>
          </a:p>
        </p:txBody>
      </p:sp>
      <p:sp>
        <p:nvSpPr>
          <p:cNvPr id="13" name="Rectangle 12"/>
          <p:cNvSpPr/>
          <p:nvPr/>
        </p:nvSpPr>
        <p:spPr>
          <a:xfrm>
            <a:off x="384048" y="1581912"/>
            <a:ext cx="2103120" cy="594360"/>
          </a:xfrm>
          <a:prstGeom prst="rect">
            <a:avLst/>
          </a:prstGeom>
          <a:solidFill>
            <a:srgbClr val="E8EDF1"/>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4" name="TextBox 13"/>
          <p:cNvSpPr txBox="1"/>
          <p:nvPr/>
        </p:nvSpPr>
        <p:spPr>
          <a:xfrm>
            <a:off x="411479" y="1618488"/>
            <a:ext cx="2048255" cy="521208"/>
          </a:xfrm>
          <a:prstGeom prst="rect">
            <a:avLst/>
          </a:prstGeom>
          <a:noFill/>
        </p:spPr>
        <p:txBody>
          <a:bodyPr wrap="square" tIns="36576" bIns="36576" anchor="ctr">
            <a:spAutoFit/>
          </a:bodyPr>
          <a:lstStyle/>
          <a:p>
            <a:pPr>
              <a:lnSpc>
                <a:spcPts val="1728"/>
              </a:lnSpc>
              <a:spcBef>
                <a:spcPts val="0"/>
              </a:spcBef>
              <a:spcAft>
                <a:spcPts val="0"/>
              </a:spcAft>
              <a:defRPr sz="1600" b="1">
                <a:solidFill>
                  <a:srgbClr val="182B3A"/>
                </a:solidFill>
                <a:latin typeface="Arial"/>
              </a:defRPr>
            </a:pPr>
            <a:r>
              <a:t>The Full Question</a:t>
            </a:r>
          </a:p>
        </p:txBody>
      </p:sp>
      <p:sp>
        <p:nvSpPr>
          <p:cNvPr id="15" name="Rectangle 14"/>
          <p:cNvSpPr/>
          <p:nvPr/>
        </p:nvSpPr>
        <p:spPr>
          <a:xfrm>
            <a:off x="2487168" y="1581912"/>
            <a:ext cx="3919727" cy="594360"/>
          </a:xfrm>
          <a:prstGeom prst="rect">
            <a:avLst/>
          </a:prstGeom>
          <a:solidFill>
            <a:srgbClr val="EDF6F5"/>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6" name="TextBox 15"/>
          <p:cNvSpPr txBox="1"/>
          <p:nvPr/>
        </p:nvSpPr>
        <p:spPr>
          <a:xfrm>
            <a:off x="2542032" y="1636776"/>
            <a:ext cx="3809999" cy="484632"/>
          </a:xfrm>
          <a:prstGeom prst="rect">
            <a:avLst/>
          </a:prstGeom>
          <a:noFill/>
        </p:spPr>
        <p:txBody>
          <a:bodyPr wrap="square" tIns="36576" bIns="36576" anchor="ctr">
            <a:spAutoFit/>
          </a:bodyPr>
          <a:lstStyle/>
          <a:p>
            <a:pPr>
              <a:lnSpc>
                <a:spcPts val="2808"/>
              </a:lnSpc>
              <a:spcBef>
                <a:spcPts val="0"/>
              </a:spcBef>
              <a:spcAft>
                <a:spcPts val="0"/>
              </a:spcAft>
              <a:defRPr sz="2600" b="1">
                <a:solidFill>
                  <a:srgbClr val="182B3A"/>
                </a:solidFill>
                <a:latin typeface="Arial"/>
              </a:defRPr>
            </a:pPr>
            <a:r>
              <a:t>43 × 6</a:t>
            </a:r>
          </a:p>
        </p:txBody>
      </p:sp>
      <p:sp>
        <p:nvSpPr>
          <p:cNvPr id="17" name="Rectangle 16"/>
          <p:cNvSpPr/>
          <p:nvPr/>
        </p:nvSpPr>
        <p:spPr>
          <a:xfrm>
            <a:off x="6406895" y="1581912"/>
            <a:ext cx="3919727" cy="594360"/>
          </a:xfrm>
          <a:prstGeom prst="rect">
            <a:avLst/>
          </a:prstGeom>
          <a:solidFill>
            <a:srgbClr val="EFF3FA"/>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8" name="TextBox 17"/>
          <p:cNvSpPr txBox="1"/>
          <p:nvPr/>
        </p:nvSpPr>
        <p:spPr>
          <a:xfrm>
            <a:off x="6461759" y="1636776"/>
            <a:ext cx="3809999" cy="484632"/>
          </a:xfrm>
          <a:prstGeom prst="rect">
            <a:avLst/>
          </a:prstGeom>
          <a:noFill/>
        </p:spPr>
        <p:txBody>
          <a:bodyPr wrap="square" tIns="36576" bIns="36576" anchor="ctr">
            <a:spAutoFit/>
          </a:bodyPr>
          <a:lstStyle/>
          <a:p>
            <a:pPr>
              <a:lnSpc>
                <a:spcPts val="2808"/>
              </a:lnSpc>
              <a:spcBef>
                <a:spcPts val="0"/>
              </a:spcBef>
              <a:spcAft>
                <a:spcPts val="0"/>
              </a:spcAft>
              <a:defRPr sz="2600" b="1">
                <a:solidFill>
                  <a:srgbClr val="182B3A"/>
                </a:solidFill>
                <a:latin typeface="Arial"/>
              </a:defRPr>
            </a:pPr>
            <a:r>
              <a:t>34 × 12</a:t>
            </a:r>
          </a:p>
        </p:txBody>
      </p:sp>
      <p:sp>
        <p:nvSpPr>
          <p:cNvPr id="19" name="Rectangle 18"/>
          <p:cNvSpPr/>
          <p:nvPr/>
        </p:nvSpPr>
        <p:spPr>
          <a:xfrm>
            <a:off x="10326624" y="1581912"/>
            <a:ext cx="3919727" cy="594360"/>
          </a:xfrm>
          <a:prstGeom prst="rect">
            <a:avLst/>
          </a:prstGeom>
          <a:solidFill>
            <a:srgbClr val="F5F0F7"/>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20" name="TextBox 19"/>
          <p:cNvSpPr txBox="1"/>
          <p:nvPr/>
        </p:nvSpPr>
        <p:spPr>
          <a:xfrm>
            <a:off x="10381488" y="1636776"/>
            <a:ext cx="3809999" cy="484632"/>
          </a:xfrm>
          <a:prstGeom prst="rect">
            <a:avLst/>
          </a:prstGeom>
          <a:noFill/>
        </p:spPr>
        <p:txBody>
          <a:bodyPr wrap="square" tIns="36576" bIns="36576" anchor="ctr">
            <a:spAutoFit/>
          </a:bodyPr>
          <a:lstStyle/>
          <a:p>
            <a:pPr>
              <a:lnSpc>
                <a:spcPts val="2808"/>
              </a:lnSpc>
              <a:spcBef>
                <a:spcPts val="0"/>
              </a:spcBef>
              <a:spcAft>
                <a:spcPts val="0"/>
              </a:spcAft>
              <a:defRPr sz="2600" b="1">
                <a:solidFill>
                  <a:srgbClr val="182B3A"/>
                </a:solidFill>
                <a:latin typeface="Arial"/>
              </a:defRPr>
            </a:pPr>
            <a:r>
              <a:t>4,312 × 156</a:t>
            </a:r>
          </a:p>
        </p:txBody>
      </p:sp>
      <p:sp>
        <p:nvSpPr>
          <p:cNvPr id="21" name="Rectangle 20"/>
          <p:cNvSpPr/>
          <p:nvPr/>
        </p:nvSpPr>
        <p:spPr>
          <a:xfrm>
            <a:off x="384048" y="2176272"/>
            <a:ext cx="2103120" cy="731520"/>
          </a:xfrm>
          <a:prstGeom prst="rect">
            <a:avLst/>
          </a:prstGeom>
          <a:solidFill>
            <a:srgbClr val="E8EDF1"/>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22" name="TextBox 21"/>
          <p:cNvSpPr txBox="1"/>
          <p:nvPr/>
        </p:nvSpPr>
        <p:spPr>
          <a:xfrm>
            <a:off x="448056" y="2267712"/>
            <a:ext cx="1975103" cy="548640"/>
          </a:xfrm>
          <a:prstGeom prst="rect">
            <a:avLst/>
          </a:prstGeom>
          <a:noFill/>
        </p:spPr>
        <p:txBody>
          <a:bodyPr wrap="square" tIns="36576" bIns="36576" anchor="t">
            <a:spAutoFit/>
          </a:bodyPr>
          <a:lstStyle/>
          <a:p>
            <a:pPr>
              <a:lnSpc>
                <a:spcPts val="1944"/>
              </a:lnSpc>
              <a:spcBef>
                <a:spcPts val="0"/>
              </a:spcBef>
              <a:spcAft>
                <a:spcPts val="0"/>
              </a:spcAft>
              <a:defRPr sz="1800" b="1">
                <a:solidFill>
                  <a:srgbClr val="182B3A"/>
                </a:solidFill>
                <a:latin typeface="Arial"/>
              </a:defRPr>
            </a:pPr>
            <a:r>
              <a:t>1. Draw Grid &amp; Arrange Digits</a:t>
            </a:r>
          </a:p>
        </p:txBody>
      </p:sp>
      <p:sp>
        <p:nvSpPr>
          <p:cNvPr id="23" name="Rectangle 22"/>
          <p:cNvSpPr/>
          <p:nvPr/>
        </p:nvSpPr>
        <p:spPr>
          <a:xfrm>
            <a:off x="2487168" y="2176272"/>
            <a:ext cx="3919727" cy="73152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24" name="TextBox 23"/>
          <p:cNvSpPr txBox="1"/>
          <p:nvPr/>
        </p:nvSpPr>
        <p:spPr>
          <a:xfrm>
            <a:off x="2551175" y="2240279"/>
            <a:ext cx="3791712" cy="566928"/>
          </a:xfrm>
          <a:prstGeom prst="rect">
            <a:avLst/>
          </a:prstGeom>
          <a:noFill/>
        </p:spPr>
        <p:txBody>
          <a:bodyPr wrap="square" tIns="36576" bIns="36576" anchor="t">
            <a:spAutoFit/>
          </a:bodyPr>
          <a:lstStyle/>
          <a:p>
            <a:pPr>
              <a:lnSpc>
                <a:spcPts val="1836"/>
              </a:lnSpc>
              <a:spcBef>
                <a:spcPts val="0"/>
              </a:spcBef>
              <a:spcAft>
                <a:spcPts val="0"/>
              </a:spcAft>
              <a:defRPr sz="1700" b="0">
                <a:solidFill>
                  <a:srgbClr val="182B3A"/>
                </a:solidFill>
                <a:latin typeface="Arial"/>
              </a:defRPr>
            </a:pPr>
            <a:r>
              <a:t>2 columns × 1 row.</a:t>
            </a:r>
          </a:p>
          <a:p>
            <a:pPr>
              <a:lnSpc>
                <a:spcPts val="1836"/>
              </a:lnSpc>
              <a:spcBef>
                <a:spcPts val="0"/>
              </a:spcBef>
              <a:spcAft>
                <a:spcPts val="0"/>
              </a:spcAft>
              <a:defRPr sz="1700" b="0">
                <a:solidFill>
                  <a:srgbClr val="182B3A"/>
                </a:solidFill>
                <a:latin typeface="Arial"/>
              </a:defRPr>
            </a:pPr>
            <a:r>
              <a:t>Top: 4, 3. Right: 6.</a:t>
            </a:r>
          </a:p>
        </p:txBody>
      </p:sp>
      <p:sp>
        <p:nvSpPr>
          <p:cNvPr id="25" name="Rectangle 24"/>
          <p:cNvSpPr/>
          <p:nvPr/>
        </p:nvSpPr>
        <p:spPr>
          <a:xfrm>
            <a:off x="6406895" y="2176272"/>
            <a:ext cx="3919727" cy="73152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26" name="TextBox 25"/>
          <p:cNvSpPr txBox="1"/>
          <p:nvPr/>
        </p:nvSpPr>
        <p:spPr>
          <a:xfrm>
            <a:off x="6470904" y="2240279"/>
            <a:ext cx="3791712" cy="566928"/>
          </a:xfrm>
          <a:prstGeom prst="rect">
            <a:avLst/>
          </a:prstGeom>
          <a:noFill/>
        </p:spPr>
        <p:txBody>
          <a:bodyPr wrap="square" tIns="36576" bIns="36576" anchor="t">
            <a:spAutoFit/>
          </a:bodyPr>
          <a:lstStyle/>
          <a:p>
            <a:pPr>
              <a:lnSpc>
                <a:spcPts val="1836"/>
              </a:lnSpc>
              <a:spcBef>
                <a:spcPts val="0"/>
              </a:spcBef>
              <a:spcAft>
                <a:spcPts val="0"/>
              </a:spcAft>
              <a:defRPr sz="1700" b="0">
                <a:solidFill>
                  <a:srgbClr val="182B3A"/>
                </a:solidFill>
                <a:latin typeface="Arial"/>
              </a:defRPr>
            </a:pPr>
            <a:r>
              <a:t>2 columns × 2 rows.</a:t>
            </a:r>
          </a:p>
          <a:p>
            <a:pPr>
              <a:lnSpc>
                <a:spcPts val="1836"/>
              </a:lnSpc>
              <a:spcBef>
                <a:spcPts val="0"/>
              </a:spcBef>
              <a:spcAft>
                <a:spcPts val="0"/>
              </a:spcAft>
              <a:defRPr sz="1700" b="0">
                <a:solidFill>
                  <a:srgbClr val="182B3A"/>
                </a:solidFill>
                <a:latin typeface="Arial"/>
              </a:defRPr>
            </a:pPr>
            <a:r>
              <a:t>Top: 3, 4. Right: 1, 2.</a:t>
            </a:r>
          </a:p>
        </p:txBody>
      </p:sp>
      <p:sp>
        <p:nvSpPr>
          <p:cNvPr id="27" name="Rectangle 26"/>
          <p:cNvSpPr/>
          <p:nvPr/>
        </p:nvSpPr>
        <p:spPr>
          <a:xfrm>
            <a:off x="10326624" y="2176272"/>
            <a:ext cx="3919727" cy="73152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28" name="TextBox 27"/>
          <p:cNvSpPr txBox="1"/>
          <p:nvPr/>
        </p:nvSpPr>
        <p:spPr>
          <a:xfrm>
            <a:off x="10390632" y="2240279"/>
            <a:ext cx="3791712" cy="566928"/>
          </a:xfrm>
          <a:prstGeom prst="rect">
            <a:avLst/>
          </a:prstGeom>
          <a:noFill/>
        </p:spPr>
        <p:txBody>
          <a:bodyPr wrap="square" tIns="36576" bIns="36576" anchor="t">
            <a:spAutoFit/>
          </a:bodyPr>
          <a:lstStyle/>
          <a:p>
            <a:pPr>
              <a:lnSpc>
                <a:spcPts val="1836"/>
              </a:lnSpc>
              <a:spcBef>
                <a:spcPts val="0"/>
              </a:spcBef>
              <a:spcAft>
                <a:spcPts val="0"/>
              </a:spcAft>
              <a:defRPr sz="1700" b="0">
                <a:solidFill>
                  <a:srgbClr val="182B3A"/>
                </a:solidFill>
                <a:latin typeface="Arial"/>
              </a:defRPr>
            </a:pPr>
            <a:r>
              <a:t>4 columns × 3 rows.</a:t>
            </a:r>
          </a:p>
          <a:p>
            <a:pPr>
              <a:lnSpc>
                <a:spcPts val="1836"/>
              </a:lnSpc>
              <a:spcBef>
                <a:spcPts val="0"/>
              </a:spcBef>
              <a:spcAft>
                <a:spcPts val="0"/>
              </a:spcAft>
              <a:defRPr sz="1700" b="0">
                <a:solidFill>
                  <a:srgbClr val="182B3A"/>
                </a:solidFill>
                <a:latin typeface="Arial"/>
              </a:defRPr>
            </a:pPr>
            <a:r>
              <a:t>Top: 4, 3, 1, 2. Right: 1, 5, 6.</a:t>
            </a:r>
          </a:p>
        </p:txBody>
      </p:sp>
      <p:sp>
        <p:nvSpPr>
          <p:cNvPr id="29" name="Rectangle 28"/>
          <p:cNvSpPr/>
          <p:nvPr/>
        </p:nvSpPr>
        <p:spPr>
          <a:xfrm>
            <a:off x="384048" y="2907791"/>
            <a:ext cx="2103120" cy="2423160"/>
          </a:xfrm>
          <a:prstGeom prst="rect">
            <a:avLst/>
          </a:prstGeom>
          <a:solidFill>
            <a:srgbClr val="E8EDF1"/>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30" name="TextBox 29"/>
          <p:cNvSpPr txBox="1"/>
          <p:nvPr/>
        </p:nvSpPr>
        <p:spPr>
          <a:xfrm>
            <a:off x="448056" y="2999232"/>
            <a:ext cx="1975103" cy="2240279"/>
          </a:xfrm>
          <a:prstGeom prst="rect">
            <a:avLst/>
          </a:prstGeom>
          <a:noFill/>
        </p:spPr>
        <p:txBody>
          <a:bodyPr wrap="square" tIns="36576" bIns="36576" anchor="t">
            <a:spAutoFit/>
          </a:bodyPr>
          <a:lstStyle/>
          <a:p>
            <a:pPr>
              <a:lnSpc>
                <a:spcPts val="1944"/>
              </a:lnSpc>
              <a:spcBef>
                <a:spcPts val="0"/>
              </a:spcBef>
              <a:spcAft>
                <a:spcPts val="0"/>
              </a:spcAft>
              <a:defRPr sz="1800" b="1">
                <a:solidFill>
                  <a:srgbClr val="182B3A"/>
                </a:solidFill>
                <a:latin typeface="Arial"/>
              </a:defRPr>
            </a:pPr>
            <a:r>
              <a:t>2. Find &amp; Fill Cell Products</a:t>
            </a:r>
          </a:p>
        </p:txBody>
      </p:sp>
      <p:sp>
        <p:nvSpPr>
          <p:cNvPr id="31" name="Rectangle 30"/>
          <p:cNvSpPr/>
          <p:nvPr/>
        </p:nvSpPr>
        <p:spPr>
          <a:xfrm>
            <a:off x="2487168" y="2907791"/>
            <a:ext cx="3919727" cy="242316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32" name="TextBox 31"/>
          <p:cNvSpPr txBox="1"/>
          <p:nvPr/>
        </p:nvSpPr>
        <p:spPr>
          <a:xfrm>
            <a:off x="2551175" y="2971799"/>
            <a:ext cx="3791712" cy="749807"/>
          </a:xfrm>
          <a:prstGeom prst="rect">
            <a:avLst/>
          </a:prstGeom>
          <a:noFill/>
        </p:spPr>
        <p:txBody>
          <a:bodyPr wrap="square" tIns="36576" bIns="36576" anchor="t">
            <a:spAutoFit/>
          </a:bodyPr>
          <a:lstStyle/>
          <a:p>
            <a:pPr>
              <a:lnSpc>
                <a:spcPts val="1836"/>
              </a:lnSpc>
              <a:spcBef>
                <a:spcPts val="0"/>
              </a:spcBef>
              <a:spcAft>
                <a:spcPts val="0"/>
              </a:spcAft>
              <a:defRPr sz="1700" b="0">
                <a:solidFill>
                  <a:srgbClr val="182B3A"/>
                </a:solidFill>
                <a:latin typeface="Arial"/>
              </a:defRPr>
            </a:pPr>
            <a:r>
              <a:t>Cells: 24, 18.</a:t>
            </a:r>
          </a:p>
          <a:p>
            <a:pPr>
              <a:lnSpc>
                <a:spcPts val="1836"/>
              </a:lnSpc>
              <a:spcBef>
                <a:spcPts val="0"/>
              </a:spcBef>
              <a:spcAft>
                <a:spcPts val="0"/>
              </a:spcAft>
              <a:defRPr sz="1700" b="0">
                <a:solidFill>
                  <a:srgbClr val="182B3A"/>
                </a:solidFill>
                <a:latin typeface="Arial"/>
              </a:defRPr>
            </a:pPr>
            <a:r>
              <a:t>Tens above; units below.</a:t>
            </a:r>
          </a:p>
        </p:txBody>
      </p:sp>
      <p:grpSp>
        <p:nvGrpSpPr>
          <p:cNvPr id="33" name="Editable lattice 43 × 6"/>
          <p:cNvGrpSpPr/>
          <p:nvPr/>
        </p:nvGrpSpPr>
        <p:grpSpPr>
          <a:xfrm>
            <a:off x="3496055" y="3803903"/>
            <a:ext cx="1737360" cy="1143000"/>
            <a:chOff x="3496055" y="3803903"/>
            <a:chExt cx="1737360" cy="1143000"/>
          </a:xfrm>
        </p:grpSpPr>
        <p:sp>
          <p:nvSpPr>
            <p:cNvPr id="34" name="TextBox 33"/>
            <p:cNvSpPr txBox="1"/>
            <p:nvPr/>
          </p:nvSpPr>
          <p:spPr>
            <a:xfrm>
              <a:off x="3806951" y="3803903"/>
              <a:ext cx="566928" cy="228600"/>
            </a:xfrm>
            <a:prstGeom prst="rect">
              <a:avLst/>
            </a:prstGeom>
            <a:noFill/>
          </p:spPr>
          <p:txBody>
            <a:bodyPr wrap="none" lIns="0" tIns="0" rIns="0" bIns="0" anchor="ctr">
              <a:spAutoFit/>
            </a:bodyPr>
            <a:lstStyle/>
            <a:p>
              <a:pPr algn="ctr">
                <a:defRPr sz="1800" b="1">
                  <a:solidFill>
                    <a:srgbClr val="176B73"/>
                  </a:solidFill>
                  <a:latin typeface="Arial"/>
                </a:defRPr>
              </a:pPr>
              <a:r>
                <a:t>4</a:t>
              </a:r>
            </a:p>
          </p:txBody>
        </p:sp>
        <p:sp>
          <p:nvSpPr>
            <p:cNvPr id="35" name="TextBox 34"/>
            <p:cNvSpPr txBox="1"/>
            <p:nvPr/>
          </p:nvSpPr>
          <p:spPr>
            <a:xfrm>
              <a:off x="4373879" y="3803903"/>
              <a:ext cx="566928" cy="228600"/>
            </a:xfrm>
            <a:prstGeom prst="rect">
              <a:avLst/>
            </a:prstGeom>
            <a:noFill/>
          </p:spPr>
          <p:txBody>
            <a:bodyPr wrap="none" lIns="0" tIns="0" rIns="0" bIns="0" anchor="ctr">
              <a:spAutoFit/>
            </a:bodyPr>
            <a:lstStyle/>
            <a:p>
              <a:pPr algn="ctr">
                <a:defRPr sz="1800" b="1">
                  <a:solidFill>
                    <a:srgbClr val="176B73"/>
                  </a:solidFill>
                  <a:latin typeface="Arial"/>
                </a:defRPr>
              </a:pPr>
              <a:r>
                <a:t>3</a:t>
              </a:r>
            </a:p>
          </p:txBody>
        </p:sp>
        <p:sp>
          <p:nvSpPr>
            <p:cNvPr id="36" name="TextBox 35"/>
            <p:cNvSpPr txBox="1"/>
            <p:nvPr/>
          </p:nvSpPr>
          <p:spPr>
            <a:xfrm>
              <a:off x="4968239" y="4059935"/>
              <a:ext cx="265176" cy="566928"/>
            </a:xfrm>
            <a:prstGeom prst="rect">
              <a:avLst/>
            </a:prstGeom>
            <a:noFill/>
          </p:spPr>
          <p:txBody>
            <a:bodyPr wrap="none" lIns="0" tIns="0" rIns="0" bIns="0" anchor="ctr">
              <a:spAutoFit/>
            </a:bodyPr>
            <a:lstStyle/>
            <a:p>
              <a:pPr algn="ctr">
                <a:defRPr sz="1800" b="1">
                  <a:solidFill>
                    <a:srgbClr val="176B73"/>
                  </a:solidFill>
                  <a:latin typeface="Arial"/>
                </a:defRPr>
              </a:pPr>
              <a:r>
                <a:t>6</a:t>
              </a:r>
            </a:p>
          </p:txBody>
        </p:sp>
        <p:sp>
          <p:nvSpPr>
            <p:cNvPr id="37" name="Rectangle 36"/>
            <p:cNvSpPr/>
            <p:nvPr/>
          </p:nvSpPr>
          <p:spPr>
            <a:xfrm>
              <a:off x="3806951" y="4059935"/>
              <a:ext cx="566928" cy="566928"/>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cxnSp>
          <p:nvCxnSpPr>
            <p:cNvPr id="38" name="Connector 37"/>
            <p:cNvCxnSpPr/>
            <p:nvPr/>
          </p:nvCxnSpPr>
          <p:spPr>
            <a:xfrm flipV="1">
              <a:off x="3806951" y="4059935"/>
              <a:ext cx="566928" cy="566929"/>
            </a:xfrm>
            <a:prstGeom prst="line">
              <a:avLst/>
            </a:prstGeom>
            <a:ln w="10160">
              <a:solidFill>
                <a:srgbClr val="8193A0"/>
              </a:solidFill>
            </a:ln>
          </p:spPr>
          <p:style>
            <a:lnRef idx="2">
              <a:schemeClr val="accent1"/>
            </a:lnRef>
            <a:fillRef idx="0">
              <a:schemeClr val="accent1"/>
            </a:fillRef>
            <a:effectRef idx="1">
              <a:schemeClr val="accent1"/>
            </a:effectRef>
            <a:fontRef idx="minor">
              <a:schemeClr val="tx1"/>
            </a:fontRef>
          </p:style>
        </p:cxnSp>
        <p:sp>
          <p:nvSpPr>
            <p:cNvPr id="39" name="TextBox 38"/>
            <p:cNvSpPr txBox="1"/>
            <p:nvPr/>
          </p:nvSpPr>
          <p:spPr>
            <a:xfrm>
              <a:off x="3829629" y="4071274"/>
              <a:ext cx="272125" cy="266456"/>
            </a:xfrm>
            <a:prstGeom prst="rect">
              <a:avLst/>
            </a:prstGeom>
            <a:noFill/>
          </p:spPr>
          <p:txBody>
            <a:bodyPr wrap="none" lIns="0" tIns="0" rIns="0" bIns="0" anchor="ctr">
              <a:spAutoFit/>
            </a:bodyPr>
            <a:lstStyle/>
            <a:p>
              <a:pPr algn="ctr">
                <a:defRPr sz="1800" b="0">
                  <a:solidFill>
                    <a:srgbClr val="182B3A"/>
                  </a:solidFill>
                  <a:latin typeface="Arial"/>
                </a:defRPr>
              </a:pPr>
              <a:r>
                <a:t>2</a:t>
              </a:r>
            </a:p>
          </p:txBody>
        </p:sp>
        <p:sp>
          <p:nvSpPr>
            <p:cNvPr id="40" name="TextBox 39"/>
            <p:cNvSpPr txBox="1"/>
            <p:nvPr/>
          </p:nvSpPr>
          <p:spPr>
            <a:xfrm>
              <a:off x="4079077" y="4337730"/>
              <a:ext cx="272125" cy="266456"/>
            </a:xfrm>
            <a:prstGeom prst="rect">
              <a:avLst/>
            </a:prstGeom>
            <a:noFill/>
          </p:spPr>
          <p:txBody>
            <a:bodyPr wrap="none" lIns="0" tIns="0" rIns="0" bIns="0" anchor="ctr">
              <a:spAutoFit/>
            </a:bodyPr>
            <a:lstStyle/>
            <a:p>
              <a:pPr algn="ctr">
                <a:defRPr sz="1800" b="0">
                  <a:solidFill>
                    <a:srgbClr val="182B3A"/>
                  </a:solidFill>
                  <a:latin typeface="Arial"/>
                </a:defRPr>
              </a:pPr>
              <a:r>
                <a:t>4</a:t>
              </a:r>
            </a:p>
          </p:txBody>
        </p:sp>
        <p:sp>
          <p:nvSpPr>
            <p:cNvPr id="41" name="Rectangle 40"/>
            <p:cNvSpPr/>
            <p:nvPr/>
          </p:nvSpPr>
          <p:spPr>
            <a:xfrm>
              <a:off x="4373879" y="4059935"/>
              <a:ext cx="566928" cy="566928"/>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cxnSp>
          <p:nvCxnSpPr>
            <p:cNvPr id="42" name="Connector 41"/>
            <p:cNvCxnSpPr/>
            <p:nvPr/>
          </p:nvCxnSpPr>
          <p:spPr>
            <a:xfrm flipV="1">
              <a:off x="4373879" y="4059935"/>
              <a:ext cx="566928" cy="566929"/>
            </a:xfrm>
            <a:prstGeom prst="line">
              <a:avLst/>
            </a:prstGeom>
            <a:ln w="10160">
              <a:solidFill>
                <a:srgbClr val="8193A0"/>
              </a:solidFill>
            </a:ln>
          </p:spPr>
          <p:style>
            <a:lnRef idx="2">
              <a:schemeClr val="accent1"/>
            </a:lnRef>
            <a:fillRef idx="0">
              <a:schemeClr val="accent1"/>
            </a:fillRef>
            <a:effectRef idx="1">
              <a:schemeClr val="accent1"/>
            </a:effectRef>
            <a:fontRef idx="minor">
              <a:schemeClr val="tx1"/>
            </a:fontRef>
          </p:style>
        </p:cxnSp>
        <p:sp>
          <p:nvSpPr>
            <p:cNvPr id="43" name="TextBox 42"/>
            <p:cNvSpPr txBox="1"/>
            <p:nvPr/>
          </p:nvSpPr>
          <p:spPr>
            <a:xfrm>
              <a:off x="4396557" y="4071274"/>
              <a:ext cx="272125" cy="266456"/>
            </a:xfrm>
            <a:prstGeom prst="rect">
              <a:avLst/>
            </a:prstGeom>
            <a:noFill/>
          </p:spPr>
          <p:txBody>
            <a:bodyPr wrap="none" lIns="0" tIns="0" rIns="0" bIns="0" anchor="ctr">
              <a:spAutoFit/>
            </a:bodyPr>
            <a:lstStyle/>
            <a:p>
              <a:pPr algn="ctr">
                <a:defRPr sz="1800" b="0">
                  <a:solidFill>
                    <a:srgbClr val="182B3A"/>
                  </a:solidFill>
                  <a:latin typeface="Arial"/>
                </a:defRPr>
              </a:pPr>
              <a:r>
                <a:t>1</a:t>
              </a:r>
            </a:p>
          </p:txBody>
        </p:sp>
        <p:sp>
          <p:nvSpPr>
            <p:cNvPr id="44" name="TextBox 43"/>
            <p:cNvSpPr txBox="1"/>
            <p:nvPr/>
          </p:nvSpPr>
          <p:spPr>
            <a:xfrm>
              <a:off x="4646005" y="4337730"/>
              <a:ext cx="272125" cy="266456"/>
            </a:xfrm>
            <a:prstGeom prst="rect">
              <a:avLst/>
            </a:prstGeom>
            <a:noFill/>
          </p:spPr>
          <p:txBody>
            <a:bodyPr wrap="none" lIns="0" tIns="0" rIns="0" bIns="0" anchor="ctr">
              <a:spAutoFit/>
            </a:bodyPr>
            <a:lstStyle/>
            <a:p>
              <a:pPr algn="ctr">
                <a:defRPr sz="1800" b="0">
                  <a:solidFill>
                    <a:srgbClr val="182B3A"/>
                  </a:solidFill>
                  <a:latin typeface="Arial"/>
                </a:defRPr>
              </a:pPr>
              <a:r>
                <a:t>8</a:t>
              </a:r>
            </a:p>
          </p:txBody>
        </p:sp>
        <p:cxnSp>
          <p:nvCxnSpPr>
            <p:cNvPr id="45" name="Connector 44"/>
            <p:cNvCxnSpPr/>
            <p:nvPr/>
          </p:nvCxnSpPr>
          <p:spPr>
            <a:xfrm>
              <a:off x="3806951" y="4059935"/>
              <a:ext cx="0" cy="566929"/>
            </a:xfrm>
            <a:prstGeom prst="line">
              <a:avLst/>
            </a:prstGeom>
            <a:ln w="11430">
              <a:solidFill>
                <a:srgbClr val="182B3A"/>
              </a:solidFill>
            </a:ln>
          </p:spPr>
          <p:style>
            <a:lnRef idx="2">
              <a:schemeClr val="accent1"/>
            </a:lnRef>
            <a:fillRef idx="0">
              <a:schemeClr val="accent1"/>
            </a:fillRef>
            <a:effectRef idx="1">
              <a:schemeClr val="accent1"/>
            </a:effectRef>
            <a:fontRef idx="minor">
              <a:schemeClr val="tx1"/>
            </a:fontRef>
          </p:style>
        </p:cxnSp>
        <p:cxnSp>
          <p:nvCxnSpPr>
            <p:cNvPr id="46" name="Connector 45"/>
            <p:cNvCxnSpPr/>
            <p:nvPr/>
          </p:nvCxnSpPr>
          <p:spPr>
            <a:xfrm>
              <a:off x="4373879" y="4059935"/>
              <a:ext cx="0" cy="566929"/>
            </a:xfrm>
            <a:prstGeom prst="line">
              <a:avLst/>
            </a:prstGeom>
            <a:ln w="11430">
              <a:solidFill>
                <a:srgbClr val="182B3A"/>
              </a:solidFill>
            </a:ln>
          </p:spPr>
          <p:style>
            <a:lnRef idx="2">
              <a:schemeClr val="accent1"/>
            </a:lnRef>
            <a:fillRef idx="0">
              <a:schemeClr val="accent1"/>
            </a:fillRef>
            <a:effectRef idx="1">
              <a:schemeClr val="accent1"/>
            </a:effectRef>
            <a:fontRef idx="minor">
              <a:schemeClr val="tx1"/>
            </a:fontRef>
          </p:style>
        </p:cxnSp>
        <p:cxnSp>
          <p:nvCxnSpPr>
            <p:cNvPr id="47" name="Connector 46"/>
            <p:cNvCxnSpPr/>
            <p:nvPr/>
          </p:nvCxnSpPr>
          <p:spPr>
            <a:xfrm>
              <a:off x="4940807" y="4059935"/>
              <a:ext cx="0" cy="566929"/>
            </a:xfrm>
            <a:prstGeom prst="line">
              <a:avLst/>
            </a:prstGeom>
            <a:ln w="11430">
              <a:solidFill>
                <a:srgbClr val="182B3A"/>
              </a:solidFill>
            </a:ln>
          </p:spPr>
          <p:style>
            <a:lnRef idx="2">
              <a:schemeClr val="accent1"/>
            </a:lnRef>
            <a:fillRef idx="0">
              <a:schemeClr val="accent1"/>
            </a:fillRef>
            <a:effectRef idx="1">
              <a:schemeClr val="accent1"/>
            </a:effectRef>
            <a:fontRef idx="minor">
              <a:schemeClr val="tx1"/>
            </a:fontRef>
          </p:style>
        </p:cxnSp>
        <p:cxnSp>
          <p:nvCxnSpPr>
            <p:cNvPr id="48" name="Connector 47"/>
            <p:cNvCxnSpPr/>
            <p:nvPr/>
          </p:nvCxnSpPr>
          <p:spPr>
            <a:xfrm>
              <a:off x="3806951" y="4059935"/>
              <a:ext cx="1133856" cy="0"/>
            </a:xfrm>
            <a:prstGeom prst="line">
              <a:avLst/>
            </a:prstGeom>
            <a:ln w="11430">
              <a:solidFill>
                <a:srgbClr val="182B3A"/>
              </a:solidFill>
            </a:ln>
          </p:spPr>
          <p:style>
            <a:lnRef idx="2">
              <a:schemeClr val="accent1"/>
            </a:lnRef>
            <a:fillRef idx="0">
              <a:schemeClr val="accent1"/>
            </a:fillRef>
            <a:effectRef idx="1">
              <a:schemeClr val="accent1"/>
            </a:effectRef>
            <a:fontRef idx="minor">
              <a:schemeClr val="tx1"/>
            </a:fontRef>
          </p:style>
        </p:cxnSp>
        <p:cxnSp>
          <p:nvCxnSpPr>
            <p:cNvPr id="49" name="Connector 48"/>
            <p:cNvCxnSpPr/>
            <p:nvPr/>
          </p:nvCxnSpPr>
          <p:spPr>
            <a:xfrm>
              <a:off x="3806951" y="4626864"/>
              <a:ext cx="1133856" cy="0"/>
            </a:xfrm>
            <a:prstGeom prst="line">
              <a:avLst/>
            </a:prstGeom>
            <a:ln w="11430">
              <a:solidFill>
                <a:srgbClr val="182B3A"/>
              </a:solidFill>
            </a:ln>
          </p:spPr>
          <p:style>
            <a:lnRef idx="2">
              <a:schemeClr val="accent1"/>
            </a:lnRef>
            <a:fillRef idx="0">
              <a:schemeClr val="accent1"/>
            </a:fillRef>
            <a:effectRef idx="1">
              <a:schemeClr val="accent1"/>
            </a:effectRef>
            <a:fontRef idx="minor">
              <a:schemeClr val="tx1"/>
            </a:fontRef>
          </p:style>
        </p:cxnSp>
        <p:sp>
          <p:nvSpPr>
            <p:cNvPr id="50" name="TextBox 49"/>
            <p:cNvSpPr txBox="1"/>
            <p:nvPr/>
          </p:nvSpPr>
          <p:spPr>
            <a:xfrm>
              <a:off x="4373879" y="4709159"/>
              <a:ext cx="566928" cy="237744"/>
            </a:xfrm>
            <a:prstGeom prst="rect">
              <a:avLst/>
            </a:prstGeom>
            <a:noFill/>
          </p:spPr>
          <p:txBody>
            <a:bodyPr wrap="none" lIns="0" tIns="0" rIns="0" bIns="0" anchor="ctr">
              <a:spAutoFit/>
            </a:bodyPr>
            <a:lstStyle/>
            <a:p>
              <a:pPr algn="ctr">
                <a:defRPr sz="1900" b="1">
                  <a:solidFill>
                    <a:srgbClr val="176B73"/>
                  </a:solidFill>
                  <a:latin typeface="Arial"/>
                </a:defRPr>
              </a:pPr>
              <a:r>
                <a:t>8</a:t>
              </a:r>
            </a:p>
          </p:txBody>
        </p:sp>
        <p:sp>
          <p:nvSpPr>
            <p:cNvPr id="51" name="TextBox 50"/>
            <p:cNvSpPr txBox="1"/>
            <p:nvPr/>
          </p:nvSpPr>
          <p:spPr>
            <a:xfrm>
              <a:off x="3806951" y="4709159"/>
              <a:ext cx="566928" cy="237744"/>
            </a:xfrm>
            <a:prstGeom prst="rect">
              <a:avLst/>
            </a:prstGeom>
            <a:noFill/>
          </p:spPr>
          <p:txBody>
            <a:bodyPr wrap="none" lIns="0" tIns="0" rIns="0" bIns="0" anchor="ctr">
              <a:spAutoFit/>
            </a:bodyPr>
            <a:lstStyle/>
            <a:p>
              <a:pPr algn="ctr">
                <a:defRPr sz="1900" b="1">
                  <a:solidFill>
                    <a:srgbClr val="176B73"/>
                  </a:solidFill>
                  <a:latin typeface="Arial"/>
                </a:defRPr>
              </a:pPr>
              <a:r>
                <a:t>5</a:t>
              </a:r>
            </a:p>
          </p:txBody>
        </p:sp>
        <p:sp>
          <p:nvSpPr>
            <p:cNvPr id="52" name="TextBox 51"/>
            <p:cNvSpPr txBox="1"/>
            <p:nvPr/>
          </p:nvSpPr>
          <p:spPr>
            <a:xfrm>
              <a:off x="3496055" y="4059935"/>
              <a:ext cx="265176" cy="566928"/>
            </a:xfrm>
            <a:prstGeom prst="rect">
              <a:avLst/>
            </a:prstGeom>
            <a:noFill/>
          </p:spPr>
          <p:txBody>
            <a:bodyPr wrap="none" lIns="0" tIns="0" rIns="0" bIns="0" anchor="ctr">
              <a:spAutoFit/>
            </a:bodyPr>
            <a:lstStyle/>
            <a:p>
              <a:pPr algn="ctr">
                <a:defRPr sz="1900" b="1">
                  <a:solidFill>
                    <a:srgbClr val="176B73"/>
                  </a:solidFill>
                  <a:latin typeface="Arial"/>
                </a:defRPr>
              </a:pPr>
              <a:r>
                <a:t>2</a:t>
              </a:r>
            </a:p>
          </p:txBody>
        </p:sp>
      </p:grpSp>
      <p:sp>
        <p:nvSpPr>
          <p:cNvPr id="53" name="Rectangle 52"/>
          <p:cNvSpPr/>
          <p:nvPr/>
        </p:nvSpPr>
        <p:spPr>
          <a:xfrm>
            <a:off x="6406895" y="2907791"/>
            <a:ext cx="3919727" cy="242316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54" name="TextBox 53"/>
          <p:cNvSpPr txBox="1"/>
          <p:nvPr/>
        </p:nvSpPr>
        <p:spPr>
          <a:xfrm>
            <a:off x="6470904" y="2971799"/>
            <a:ext cx="3791712" cy="749807"/>
          </a:xfrm>
          <a:prstGeom prst="rect">
            <a:avLst/>
          </a:prstGeom>
          <a:noFill/>
        </p:spPr>
        <p:txBody>
          <a:bodyPr wrap="square" tIns="36576" bIns="36576" anchor="t">
            <a:spAutoFit/>
          </a:bodyPr>
          <a:lstStyle/>
          <a:p>
            <a:pPr>
              <a:lnSpc>
                <a:spcPts val="1836"/>
              </a:lnSpc>
              <a:spcBef>
                <a:spcPts val="0"/>
              </a:spcBef>
              <a:spcAft>
                <a:spcPts val="0"/>
              </a:spcAft>
              <a:defRPr sz="1700" b="0">
                <a:solidFill>
                  <a:srgbClr val="182B3A"/>
                </a:solidFill>
                <a:latin typeface="Arial"/>
              </a:defRPr>
            </a:pPr>
            <a:r>
              <a:t>Top: 03, 04. Bottom: 06, 08.</a:t>
            </a:r>
          </a:p>
          <a:p>
            <a:pPr>
              <a:lnSpc>
                <a:spcPts val="1836"/>
              </a:lnSpc>
              <a:spcBef>
                <a:spcPts val="0"/>
              </a:spcBef>
              <a:spcAft>
                <a:spcPts val="0"/>
              </a:spcAft>
              <a:defRPr sz="1700" b="0">
                <a:solidFill>
                  <a:srgbClr val="182B3A"/>
                </a:solidFill>
                <a:latin typeface="Arial"/>
              </a:defRPr>
            </a:pPr>
            <a:r>
              <a:t>Keep the tens zeros.</a:t>
            </a:r>
          </a:p>
        </p:txBody>
      </p:sp>
      <p:grpSp>
        <p:nvGrpSpPr>
          <p:cNvPr id="55" name="Editable lattice 34 × 12"/>
          <p:cNvGrpSpPr/>
          <p:nvPr/>
        </p:nvGrpSpPr>
        <p:grpSpPr>
          <a:xfrm>
            <a:off x="7493508" y="3803903"/>
            <a:ext cx="1563623" cy="1517904"/>
            <a:chOff x="7493508" y="3803903"/>
            <a:chExt cx="1563623" cy="1517904"/>
          </a:xfrm>
        </p:grpSpPr>
        <p:sp>
          <p:nvSpPr>
            <p:cNvPr id="56" name="TextBox 55"/>
            <p:cNvSpPr txBox="1"/>
            <p:nvPr/>
          </p:nvSpPr>
          <p:spPr>
            <a:xfrm>
              <a:off x="7822692" y="3803903"/>
              <a:ext cx="470915" cy="228600"/>
            </a:xfrm>
            <a:prstGeom prst="rect">
              <a:avLst/>
            </a:prstGeom>
            <a:noFill/>
          </p:spPr>
          <p:txBody>
            <a:bodyPr wrap="none" lIns="0" tIns="0" rIns="0" bIns="0" anchor="ctr">
              <a:spAutoFit/>
            </a:bodyPr>
            <a:lstStyle/>
            <a:p>
              <a:pPr algn="ctr">
                <a:defRPr sz="1800" b="1">
                  <a:solidFill>
                    <a:srgbClr val="3559A2"/>
                  </a:solidFill>
                  <a:latin typeface="Arial"/>
                </a:defRPr>
              </a:pPr>
              <a:r>
                <a:t>3</a:t>
              </a:r>
            </a:p>
          </p:txBody>
        </p:sp>
        <p:sp>
          <p:nvSpPr>
            <p:cNvPr id="57" name="TextBox 56"/>
            <p:cNvSpPr txBox="1"/>
            <p:nvPr/>
          </p:nvSpPr>
          <p:spPr>
            <a:xfrm>
              <a:off x="8293608" y="3803903"/>
              <a:ext cx="470915" cy="228600"/>
            </a:xfrm>
            <a:prstGeom prst="rect">
              <a:avLst/>
            </a:prstGeom>
            <a:noFill/>
          </p:spPr>
          <p:txBody>
            <a:bodyPr wrap="none" lIns="0" tIns="0" rIns="0" bIns="0" anchor="ctr">
              <a:spAutoFit/>
            </a:bodyPr>
            <a:lstStyle/>
            <a:p>
              <a:pPr algn="ctr">
                <a:defRPr sz="1800" b="1">
                  <a:solidFill>
                    <a:srgbClr val="3559A2"/>
                  </a:solidFill>
                  <a:latin typeface="Arial"/>
                </a:defRPr>
              </a:pPr>
              <a:r>
                <a:t>4</a:t>
              </a:r>
            </a:p>
          </p:txBody>
        </p:sp>
        <p:sp>
          <p:nvSpPr>
            <p:cNvPr id="58" name="TextBox 57"/>
            <p:cNvSpPr txBox="1"/>
            <p:nvPr/>
          </p:nvSpPr>
          <p:spPr>
            <a:xfrm>
              <a:off x="8791955" y="4059935"/>
              <a:ext cx="265176" cy="470915"/>
            </a:xfrm>
            <a:prstGeom prst="rect">
              <a:avLst/>
            </a:prstGeom>
            <a:noFill/>
          </p:spPr>
          <p:txBody>
            <a:bodyPr wrap="none" lIns="0" tIns="0" rIns="0" bIns="0" anchor="ctr">
              <a:spAutoFit/>
            </a:bodyPr>
            <a:lstStyle/>
            <a:p>
              <a:pPr algn="ctr">
                <a:defRPr sz="1800" b="1">
                  <a:solidFill>
                    <a:srgbClr val="3559A2"/>
                  </a:solidFill>
                  <a:latin typeface="Arial"/>
                </a:defRPr>
              </a:pPr>
              <a:r>
                <a:t>1</a:t>
              </a:r>
            </a:p>
          </p:txBody>
        </p:sp>
        <p:sp>
          <p:nvSpPr>
            <p:cNvPr id="59" name="TextBox 58"/>
            <p:cNvSpPr txBox="1"/>
            <p:nvPr/>
          </p:nvSpPr>
          <p:spPr>
            <a:xfrm>
              <a:off x="8791955" y="4530851"/>
              <a:ext cx="265176" cy="470915"/>
            </a:xfrm>
            <a:prstGeom prst="rect">
              <a:avLst/>
            </a:prstGeom>
            <a:noFill/>
          </p:spPr>
          <p:txBody>
            <a:bodyPr wrap="none" lIns="0" tIns="0" rIns="0" bIns="0" anchor="ctr">
              <a:spAutoFit/>
            </a:bodyPr>
            <a:lstStyle/>
            <a:p>
              <a:pPr algn="ctr">
                <a:defRPr sz="1800" b="1">
                  <a:solidFill>
                    <a:srgbClr val="3559A2"/>
                  </a:solidFill>
                  <a:latin typeface="Arial"/>
                </a:defRPr>
              </a:pPr>
              <a:r>
                <a:t>2</a:t>
              </a:r>
            </a:p>
          </p:txBody>
        </p:sp>
        <p:sp>
          <p:nvSpPr>
            <p:cNvPr id="60" name="Rectangle 59"/>
            <p:cNvSpPr/>
            <p:nvPr/>
          </p:nvSpPr>
          <p:spPr>
            <a:xfrm>
              <a:off x="7822692" y="4059935"/>
              <a:ext cx="470915" cy="470915"/>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cxnSp>
          <p:nvCxnSpPr>
            <p:cNvPr id="61" name="Connector 60"/>
            <p:cNvCxnSpPr/>
            <p:nvPr/>
          </p:nvCxnSpPr>
          <p:spPr>
            <a:xfrm flipV="1">
              <a:off x="7822692" y="4059935"/>
              <a:ext cx="470916" cy="470916"/>
            </a:xfrm>
            <a:prstGeom prst="line">
              <a:avLst/>
            </a:prstGeom>
            <a:ln w="10160">
              <a:solidFill>
                <a:srgbClr val="8193A0"/>
              </a:solidFill>
            </a:ln>
          </p:spPr>
          <p:style>
            <a:lnRef idx="2">
              <a:schemeClr val="accent1"/>
            </a:lnRef>
            <a:fillRef idx="0">
              <a:schemeClr val="accent1"/>
            </a:fillRef>
            <a:effectRef idx="1">
              <a:schemeClr val="accent1"/>
            </a:effectRef>
            <a:fontRef idx="minor">
              <a:schemeClr val="tx1"/>
            </a:fontRef>
          </p:style>
        </p:cxnSp>
        <p:sp>
          <p:nvSpPr>
            <p:cNvPr id="62" name="TextBox 61"/>
            <p:cNvSpPr txBox="1"/>
            <p:nvPr/>
          </p:nvSpPr>
          <p:spPr>
            <a:xfrm>
              <a:off x="7841528" y="4069354"/>
              <a:ext cx="226039" cy="221330"/>
            </a:xfrm>
            <a:prstGeom prst="rect">
              <a:avLst/>
            </a:prstGeom>
            <a:noFill/>
          </p:spPr>
          <p:txBody>
            <a:bodyPr wrap="none" lIns="0" tIns="0" rIns="0" bIns="0" anchor="ctr">
              <a:spAutoFit/>
            </a:bodyPr>
            <a:lstStyle/>
            <a:p>
              <a:pPr algn="ctr">
                <a:defRPr sz="1800" b="0">
                  <a:solidFill>
                    <a:srgbClr val="182B3A"/>
                  </a:solidFill>
                  <a:latin typeface="Arial"/>
                </a:defRPr>
              </a:pPr>
              <a:r>
                <a:t>0</a:t>
              </a:r>
            </a:p>
          </p:txBody>
        </p:sp>
        <p:sp>
          <p:nvSpPr>
            <p:cNvPr id="63" name="TextBox 62"/>
            <p:cNvSpPr txBox="1"/>
            <p:nvPr/>
          </p:nvSpPr>
          <p:spPr>
            <a:xfrm>
              <a:off x="8048731" y="4290684"/>
              <a:ext cx="226039" cy="221330"/>
            </a:xfrm>
            <a:prstGeom prst="rect">
              <a:avLst/>
            </a:prstGeom>
            <a:noFill/>
          </p:spPr>
          <p:txBody>
            <a:bodyPr wrap="none" lIns="0" tIns="0" rIns="0" bIns="0" anchor="ctr">
              <a:spAutoFit/>
            </a:bodyPr>
            <a:lstStyle/>
            <a:p>
              <a:pPr algn="ctr">
                <a:defRPr sz="1800" b="0">
                  <a:solidFill>
                    <a:srgbClr val="182B3A"/>
                  </a:solidFill>
                  <a:latin typeface="Arial"/>
                </a:defRPr>
              </a:pPr>
              <a:r>
                <a:t>3</a:t>
              </a:r>
            </a:p>
          </p:txBody>
        </p:sp>
        <p:sp>
          <p:nvSpPr>
            <p:cNvPr id="64" name="Rectangle 63"/>
            <p:cNvSpPr/>
            <p:nvPr/>
          </p:nvSpPr>
          <p:spPr>
            <a:xfrm>
              <a:off x="8293608" y="4059935"/>
              <a:ext cx="470915" cy="470915"/>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cxnSp>
          <p:nvCxnSpPr>
            <p:cNvPr id="65" name="Connector 64"/>
            <p:cNvCxnSpPr/>
            <p:nvPr/>
          </p:nvCxnSpPr>
          <p:spPr>
            <a:xfrm flipV="1">
              <a:off x="8293608" y="4059935"/>
              <a:ext cx="470916" cy="470916"/>
            </a:xfrm>
            <a:prstGeom prst="line">
              <a:avLst/>
            </a:prstGeom>
            <a:ln w="10160">
              <a:solidFill>
                <a:srgbClr val="8193A0"/>
              </a:solidFill>
            </a:ln>
          </p:spPr>
          <p:style>
            <a:lnRef idx="2">
              <a:schemeClr val="accent1"/>
            </a:lnRef>
            <a:fillRef idx="0">
              <a:schemeClr val="accent1"/>
            </a:fillRef>
            <a:effectRef idx="1">
              <a:schemeClr val="accent1"/>
            </a:effectRef>
            <a:fontRef idx="minor">
              <a:schemeClr val="tx1"/>
            </a:fontRef>
          </p:style>
        </p:cxnSp>
        <p:sp>
          <p:nvSpPr>
            <p:cNvPr id="66" name="TextBox 65"/>
            <p:cNvSpPr txBox="1"/>
            <p:nvPr/>
          </p:nvSpPr>
          <p:spPr>
            <a:xfrm>
              <a:off x="8312444" y="4069354"/>
              <a:ext cx="226039" cy="221330"/>
            </a:xfrm>
            <a:prstGeom prst="rect">
              <a:avLst/>
            </a:prstGeom>
            <a:noFill/>
          </p:spPr>
          <p:txBody>
            <a:bodyPr wrap="none" lIns="0" tIns="0" rIns="0" bIns="0" anchor="ctr">
              <a:spAutoFit/>
            </a:bodyPr>
            <a:lstStyle/>
            <a:p>
              <a:pPr algn="ctr">
                <a:defRPr sz="1800" b="0">
                  <a:solidFill>
                    <a:srgbClr val="182B3A"/>
                  </a:solidFill>
                  <a:latin typeface="Arial"/>
                </a:defRPr>
              </a:pPr>
              <a:r>
                <a:t>0</a:t>
              </a:r>
            </a:p>
          </p:txBody>
        </p:sp>
        <p:sp>
          <p:nvSpPr>
            <p:cNvPr id="67" name="TextBox 66"/>
            <p:cNvSpPr txBox="1"/>
            <p:nvPr/>
          </p:nvSpPr>
          <p:spPr>
            <a:xfrm>
              <a:off x="8519647" y="4290684"/>
              <a:ext cx="226039" cy="221330"/>
            </a:xfrm>
            <a:prstGeom prst="rect">
              <a:avLst/>
            </a:prstGeom>
            <a:noFill/>
          </p:spPr>
          <p:txBody>
            <a:bodyPr wrap="none" lIns="0" tIns="0" rIns="0" bIns="0" anchor="ctr">
              <a:spAutoFit/>
            </a:bodyPr>
            <a:lstStyle/>
            <a:p>
              <a:pPr algn="ctr">
                <a:defRPr sz="1800" b="0">
                  <a:solidFill>
                    <a:srgbClr val="182B3A"/>
                  </a:solidFill>
                  <a:latin typeface="Arial"/>
                </a:defRPr>
              </a:pPr>
              <a:r>
                <a:t>4</a:t>
              </a:r>
            </a:p>
          </p:txBody>
        </p:sp>
        <p:sp>
          <p:nvSpPr>
            <p:cNvPr id="68" name="Rectangle 67"/>
            <p:cNvSpPr/>
            <p:nvPr/>
          </p:nvSpPr>
          <p:spPr>
            <a:xfrm>
              <a:off x="7822692" y="4530851"/>
              <a:ext cx="470915" cy="470915"/>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cxnSp>
          <p:nvCxnSpPr>
            <p:cNvPr id="69" name="Connector 68"/>
            <p:cNvCxnSpPr/>
            <p:nvPr/>
          </p:nvCxnSpPr>
          <p:spPr>
            <a:xfrm flipV="1">
              <a:off x="7822692" y="4530851"/>
              <a:ext cx="470916" cy="470916"/>
            </a:xfrm>
            <a:prstGeom prst="line">
              <a:avLst/>
            </a:prstGeom>
            <a:ln w="10160">
              <a:solidFill>
                <a:srgbClr val="8193A0"/>
              </a:solidFill>
            </a:ln>
          </p:spPr>
          <p:style>
            <a:lnRef idx="2">
              <a:schemeClr val="accent1"/>
            </a:lnRef>
            <a:fillRef idx="0">
              <a:schemeClr val="accent1"/>
            </a:fillRef>
            <a:effectRef idx="1">
              <a:schemeClr val="accent1"/>
            </a:effectRef>
            <a:fontRef idx="minor">
              <a:schemeClr val="tx1"/>
            </a:fontRef>
          </p:style>
        </p:cxnSp>
        <p:sp>
          <p:nvSpPr>
            <p:cNvPr id="70" name="TextBox 69"/>
            <p:cNvSpPr txBox="1"/>
            <p:nvPr/>
          </p:nvSpPr>
          <p:spPr>
            <a:xfrm>
              <a:off x="7841528" y="4540270"/>
              <a:ext cx="226039" cy="221330"/>
            </a:xfrm>
            <a:prstGeom prst="rect">
              <a:avLst/>
            </a:prstGeom>
            <a:noFill/>
          </p:spPr>
          <p:txBody>
            <a:bodyPr wrap="none" lIns="0" tIns="0" rIns="0" bIns="0" anchor="ctr">
              <a:spAutoFit/>
            </a:bodyPr>
            <a:lstStyle/>
            <a:p>
              <a:pPr algn="ctr">
                <a:defRPr sz="1800" b="0">
                  <a:solidFill>
                    <a:srgbClr val="182B3A"/>
                  </a:solidFill>
                  <a:latin typeface="Arial"/>
                </a:defRPr>
              </a:pPr>
              <a:r>
                <a:t>0</a:t>
              </a:r>
            </a:p>
          </p:txBody>
        </p:sp>
        <p:sp>
          <p:nvSpPr>
            <p:cNvPr id="71" name="TextBox 70"/>
            <p:cNvSpPr txBox="1"/>
            <p:nvPr/>
          </p:nvSpPr>
          <p:spPr>
            <a:xfrm>
              <a:off x="8048731" y="4761600"/>
              <a:ext cx="226039" cy="221330"/>
            </a:xfrm>
            <a:prstGeom prst="rect">
              <a:avLst/>
            </a:prstGeom>
            <a:noFill/>
          </p:spPr>
          <p:txBody>
            <a:bodyPr wrap="none" lIns="0" tIns="0" rIns="0" bIns="0" anchor="ctr">
              <a:spAutoFit/>
            </a:bodyPr>
            <a:lstStyle/>
            <a:p>
              <a:pPr algn="ctr">
                <a:defRPr sz="1800" b="0">
                  <a:solidFill>
                    <a:srgbClr val="182B3A"/>
                  </a:solidFill>
                  <a:latin typeface="Arial"/>
                </a:defRPr>
              </a:pPr>
              <a:r>
                <a:t>6</a:t>
              </a:r>
            </a:p>
          </p:txBody>
        </p:sp>
        <p:sp>
          <p:nvSpPr>
            <p:cNvPr id="72" name="Rectangle 71"/>
            <p:cNvSpPr/>
            <p:nvPr/>
          </p:nvSpPr>
          <p:spPr>
            <a:xfrm>
              <a:off x="8293608" y="4530851"/>
              <a:ext cx="470915" cy="470915"/>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cxnSp>
          <p:nvCxnSpPr>
            <p:cNvPr id="73" name="Connector 72"/>
            <p:cNvCxnSpPr/>
            <p:nvPr/>
          </p:nvCxnSpPr>
          <p:spPr>
            <a:xfrm flipV="1">
              <a:off x="8293608" y="4530851"/>
              <a:ext cx="470916" cy="470916"/>
            </a:xfrm>
            <a:prstGeom prst="line">
              <a:avLst/>
            </a:prstGeom>
            <a:ln w="10160">
              <a:solidFill>
                <a:srgbClr val="8193A0"/>
              </a:solidFill>
            </a:ln>
          </p:spPr>
          <p:style>
            <a:lnRef idx="2">
              <a:schemeClr val="accent1"/>
            </a:lnRef>
            <a:fillRef idx="0">
              <a:schemeClr val="accent1"/>
            </a:fillRef>
            <a:effectRef idx="1">
              <a:schemeClr val="accent1"/>
            </a:effectRef>
            <a:fontRef idx="minor">
              <a:schemeClr val="tx1"/>
            </a:fontRef>
          </p:style>
        </p:cxnSp>
        <p:sp>
          <p:nvSpPr>
            <p:cNvPr id="74" name="TextBox 73"/>
            <p:cNvSpPr txBox="1"/>
            <p:nvPr/>
          </p:nvSpPr>
          <p:spPr>
            <a:xfrm>
              <a:off x="8312444" y="4540270"/>
              <a:ext cx="226039" cy="221330"/>
            </a:xfrm>
            <a:prstGeom prst="rect">
              <a:avLst/>
            </a:prstGeom>
            <a:noFill/>
          </p:spPr>
          <p:txBody>
            <a:bodyPr wrap="none" lIns="0" tIns="0" rIns="0" bIns="0" anchor="ctr">
              <a:spAutoFit/>
            </a:bodyPr>
            <a:lstStyle/>
            <a:p>
              <a:pPr algn="ctr">
                <a:defRPr sz="1800" b="0">
                  <a:solidFill>
                    <a:srgbClr val="182B3A"/>
                  </a:solidFill>
                  <a:latin typeface="Arial"/>
                </a:defRPr>
              </a:pPr>
              <a:r>
                <a:t>0</a:t>
              </a:r>
            </a:p>
          </p:txBody>
        </p:sp>
        <p:sp>
          <p:nvSpPr>
            <p:cNvPr id="75" name="TextBox 74"/>
            <p:cNvSpPr txBox="1"/>
            <p:nvPr/>
          </p:nvSpPr>
          <p:spPr>
            <a:xfrm>
              <a:off x="8519647" y="4761600"/>
              <a:ext cx="226039" cy="221330"/>
            </a:xfrm>
            <a:prstGeom prst="rect">
              <a:avLst/>
            </a:prstGeom>
            <a:noFill/>
          </p:spPr>
          <p:txBody>
            <a:bodyPr wrap="none" lIns="0" tIns="0" rIns="0" bIns="0" anchor="ctr">
              <a:spAutoFit/>
            </a:bodyPr>
            <a:lstStyle/>
            <a:p>
              <a:pPr algn="ctr">
                <a:defRPr sz="1800" b="0">
                  <a:solidFill>
                    <a:srgbClr val="182B3A"/>
                  </a:solidFill>
                  <a:latin typeface="Arial"/>
                </a:defRPr>
              </a:pPr>
              <a:r>
                <a:t>8</a:t>
              </a:r>
            </a:p>
          </p:txBody>
        </p:sp>
        <p:cxnSp>
          <p:nvCxnSpPr>
            <p:cNvPr id="76" name="Connector 75"/>
            <p:cNvCxnSpPr/>
            <p:nvPr/>
          </p:nvCxnSpPr>
          <p:spPr>
            <a:xfrm>
              <a:off x="7822692" y="4059935"/>
              <a:ext cx="0" cy="941832"/>
            </a:xfrm>
            <a:prstGeom prst="line">
              <a:avLst/>
            </a:prstGeom>
            <a:ln w="11430">
              <a:solidFill>
                <a:srgbClr val="182B3A"/>
              </a:solidFill>
            </a:ln>
          </p:spPr>
          <p:style>
            <a:lnRef idx="2">
              <a:schemeClr val="accent1"/>
            </a:lnRef>
            <a:fillRef idx="0">
              <a:schemeClr val="accent1"/>
            </a:fillRef>
            <a:effectRef idx="1">
              <a:schemeClr val="accent1"/>
            </a:effectRef>
            <a:fontRef idx="minor">
              <a:schemeClr val="tx1"/>
            </a:fontRef>
          </p:style>
        </p:cxnSp>
        <p:cxnSp>
          <p:nvCxnSpPr>
            <p:cNvPr id="77" name="Connector 76"/>
            <p:cNvCxnSpPr/>
            <p:nvPr/>
          </p:nvCxnSpPr>
          <p:spPr>
            <a:xfrm>
              <a:off x="8293608" y="4059935"/>
              <a:ext cx="0" cy="941832"/>
            </a:xfrm>
            <a:prstGeom prst="line">
              <a:avLst/>
            </a:prstGeom>
            <a:ln w="11430">
              <a:solidFill>
                <a:srgbClr val="182B3A"/>
              </a:solidFill>
            </a:ln>
          </p:spPr>
          <p:style>
            <a:lnRef idx="2">
              <a:schemeClr val="accent1"/>
            </a:lnRef>
            <a:fillRef idx="0">
              <a:schemeClr val="accent1"/>
            </a:fillRef>
            <a:effectRef idx="1">
              <a:schemeClr val="accent1"/>
            </a:effectRef>
            <a:fontRef idx="minor">
              <a:schemeClr val="tx1"/>
            </a:fontRef>
          </p:style>
        </p:cxnSp>
        <p:cxnSp>
          <p:nvCxnSpPr>
            <p:cNvPr id="78" name="Connector 77"/>
            <p:cNvCxnSpPr/>
            <p:nvPr/>
          </p:nvCxnSpPr>
          <p:spPr>
            <a:xfrm>
              <a:off x="8764524" y="4059935"/>
              <a:ext cx="0" cy="941832"/>
            </a:xfrm>
            <a:prstGeom prst="line">
              <a:avLst/>
            </a:prstGeom>
            <a:ln w="11430">
              <a:solidFill>
                <a:srgbClr val="182B3A"/>
              </a:solidFill>
            </a:ln>
          </p:spPr>
          <p:style>
            <a:lnRef idx="2">
              <a:schemeClr val="accent1"/>
            </a:lnRef>
            <a:fillRef idx="0">
              <a:schemeClr val="accent1"/>
            </a:fillRef>
            <a:effectRef idx="1">
              <a:schemeClr val="accent1"/>
            </a:effectRef>
            <a:fontRef idx="minor">
              <a:schemeClr val="tx1"/>
            </a:fontRef>
          </p:style>
        </p:cxnSp>
        <p:cxnSp>
          <p:nvCxnSpPr>
            <p:cNvPr id="79" name="Connector 78"/>
            <p:cNvCxnSpPr/>
            <p:nvPr/>
          </p:nvCxnSpPr>
          <p:spPr>
            <a:xfrm>
              <a:off x="7822692" y="4059935"/>
              <a:ext cx="941832" cy="0"/>
            </a:xfrm>
            <a:prstGeom prst="line">
              <a:avLst/>
            </a:prstGeom>
            <a:ln w="11430">
              <a:solidFill>
                <a:srgbClr val="182B3A"/>
              </a:solidFill>
            </a:ln>
          </p:spPr>
          <p:style>
            <a:lnRef idx="2">
              <a:schemeClr val="accent1"/>
            </a:lnRef>
            <a:fillRef idx="0">
              <a:schemeClr val="accent1"/>
            </a:fillRef>
            <a:effectRef idx="1">
              <a:schemeClr val="accent1"/>
            </a:effectRef>
            <a:fontRef idx="minor">
              <a:schemeClr val="tx1"/>
            </a:fontRef>
          </p:style>
        </p:cxnSp>
        <p:cxnSp>
          <p:nvCxnSpPr>
            <p:cNvPr id="80" name="Connector 79"/>
            <p:cNvCxnSpPr/>
            <p:nvPr/>
          </p:nvCxnSpPr>
          <p:spPr>
            <a:xfrm>
              <a:off x="7822692" y="4530851"/>
              <a:ext cx="941832" cy="0"/>
            </a:xfrm>
            <a:prstGeom prst="line">
              <a:avLst/>
            </a:prstGeom>
            <a:ln w="11430">
              <a:solidFill>
                <a:srgbClr val="182B3A"/>
              </a:solidFill>
            </a:ln>
          </p:spPr>
          <p:style>
            <a:lnRef idx="2">
              <a:schemeClr val="accent1"/>
            </a:lnRef>
            <a:fillRef idx="0">
              <a:schemeClr val="accent1"/>
            </a:fillRef>
            <a:effectRef idx="1">
              <a:schemeClr val="accent1"/>
            </a:effectRef>
            <a:fontRef idx="minor">
              <a:schemeClr val="tx1"/>
            </a:fontRef>
          </p:style>
        </p:cxnSp>
        <p:cxnSp>
          <p:nvCxnSpPr>
            <p:cNvPr id="81" name="Connector 80"/>
            <p:cNvCxnSpPr/>
            <p:nvPr/>
          </p:nvCxnSpPr>
          <p:spPr>
            <a:xfrm>
              <a:off x="7822692" y="5001767"/>
              <a:ext cx="941832" cy="0"/>
            </a:xfrm>
            <a:prstGeom prst="line">
              <a:avLst/>
            </a:prstGeom>
            <a:ln w="11430">
              <a:solidFill>
                <a:srgbClr val="182B3A"/>
              </a:solidFill>
            </a:ln>
          </p:spPr>
          <p:style>
            <a:lnRef idx="2">
              <a:schemeClr val="accent1"/>
            </a:lnRef>
            <a:fillRef idx="0">
              <a:schemeClr val="accent1"/>
            </a:fillRef>
            <a:effectRef idx="1">
              <a:schemeClr val="accent1"/>
            </a:effectRef>
            <a:fontRef idx="minor">
              <a:schemeClr val="tx1"/>
            </a:fontRef>
          </p:style>
        </p:cxnSp>
        <p:sp>
          <p:nvSpPr>
            <p:cNvPr id="82" name="TextBox 81"/>
            <p:cNvSpPr txBox="1"/>
            <p:nvPr/>
          </p:nvSpPr>
          <p:spPr>
            <a:xfrm>
              <a:off x="8293608" y="5084063"/>
              <a:ext cx="470915" cy="237744"/>
            </a:xfrm>
            <a:prstGeom prst="rect">
              <a:avLst/>
            </a:prstGeom>
            <a:noFill/>
          </p:spPr>
          <p:txBody>
            <a:bodyPr wrap="none" lIns="0" tIns="0" rIns="0" bIns="0" anchor="ctr">
              <a:spAutoFit/>
            </a:bodyPr>
            <a:lstStyle/>
            <a:p>
              <a:pPr algn="ctr">
                <a:defRPr sz="1900" b="1">
                  <a:solidFill>
                    <a:srgbClr val="3559A2"/>
                  </a:solidFill>
                  <a:latin typeface="Arial"/>
                </a:defRPr>
              </a:pPr>
              <a:r>
                <a:t>8</a:t>
              </a:r>
            </a:p>
          </p:txBody>
        </p:sp>
        <p:sp>
          <p:nvSpPr>
            <p:cNvPr id="83" name="TextBox 82"/>
            <p:cNvSpPr txBox="1"/>
            <p:nvPr/>
          </p:nvSpPr>
          <p:spPr>
            <a:xfrm>
              <a:off x="7822692" y="5084063"/>
              <a:ext cx="470915" cy="237744"/>
            </a:xfrm>
            <a:prstGeom prst="rect">
              <a:avLst/>
            </a:prstGeom>
            <a:noFill/>
          </p:spPr>
          <p:txBody>
            <a:bodyPr wrap="none" lIns="0" tIns="0" rIns="0" bIns="0" anchor="ctr">
              <a:spAutoFit/>
            </a:bodyPr>
            <a:lstStyle/>
            <a:p>
              <a:pPr algn="ctr">
                <a:defRPr sz="1900" b="1">
                  <a:solidFill>
                    <a:srgbClr val="3559A2"/>
                  </a:solidFill>
                  <a:latin typeface="Arial"/>
                </a:defRPr>
              </a:pPr>
              <a:r>
                <a:t>0</a:t>
              </a:r>
            </a:p>
          </p:txBody>
        </p:sp>
        <p:sp>
          <p:nvSpPr>
            <p:cNvPr id="84" name="TextBox 83"/>
            <p:cNvSpPr txBox="1"/>
            <p:nvPr/>
          </p:nvSpPr>
          <p:spPr>
            <a:xfrm>
              <a:off x="7511796" y="4530851"/>
              <a:ext cx="265176" cy="470915"/>
            </a:xfrm>
            <a:prstGeom prst="rect">
              <a:avLst/>
            </a:prstGeom>
            <a:noFill/>
          </p:spPr>
          <p:txBody>
            <a:bodyPr wrap="none" lIns="0" tIns="0" rIns="0" bIns="0" anchor="ctr">
              <a:spAutoFit/>
            </a:bodyPr>
            <a:lstStyle/>
            <a:p>
              <a:pPr algn="ctr">
                <a:defRPr sz="1900" b="1">
                  <a:solidFill>
                    <a:srgbClr val="3559A2"/>
                  </a:solidFill>
                  <a:latin typeface="Arial"/>
                </a:defRPr>
              </a:pPr>
              <a:r>
                <a:t>4</a:t>
              </a:r>
            </a:p>
          </p:txBody>
        </p:sp>
        <p:sp>
          <p:nvSpPr>
            <p:cNvPr id="85" name="TextBox 84"/>
            <p:cNvSpPr txBox="1"/>
            <p:nvPr/>
          </p:nvSpPr>
          <p:spPr>
            <a:xfrm>
              <a:off x="7493508" y="4539995"/>
              <a:ext cx="320040" cy="155448"/>
            </a:xfrm>
            <a:prstGeom prst="rect">
              <a:avLst/>
            </a:prstGeom>
            <a:noFill/>
          </p:spPr>
          <p:txBody>
            <a:bodyPr wrap="none" lIns="0" tIns="0" rIns="0" bIns="0" anchor="ctr">
              <a:spAutoFit/>
            </a:bodyPr>
            <a:lstStyle/>
            <a:p>
              <a:pPr algn="ctr">
                <a:defRPr sz="1000" b="1">
                  <a:solidFill>
                    <a:srgbClr val="B14F00"/>
                  </a:solidFill>
                  <a:latin typeface="Arial"/>
                </a:defRPr>
              </a:pPr>
              <a:r>
                <a:t>+1</a:t>
              </a:r>
            </a:p>
          </p:txBody>
        </p:sp>
        <p:sp>
          <p:nvSpPr>
            <p:cNvPr id="86" name="TextBox 85"/>
            <p:cNvSpPr txBox="1"/>
            <p:nvPr/>
          </p:nvSpPr>
          <p:spPr>
            <a:xfrm>
              <a:off x="7511796" y="4059935"/>
              <a:ext cx="265176" cy="470915"/>
            </a:xfrm>
            <a:prstGeom prst="rect">
              <a:avLst/>
            </a:prstGeom>
            <a:noFill/>
          </p:spPr>
          <p:txBody>
            <a:bodyPr wrap="none" lIns="0" tIns="0" rIns="0" bIns="0" anchor="ctr">
              <a:spAutoFit/>
            </a:bodyPr>
            <a:lstStyle/>
            <a:p>
              <a:pPr algn="ctr">
                <a:defRPr sz="1900" b="1">
                  <a:solidFill>
                    <a:srgbClr val="8193A0"/>
                  </a:solidFill>
                  <a:latin typeface="Arial"/>
                </a:defRPr>
              </a:pPr>
              <a:r>
                <a:t>0</a:t>
              </a:r>
            </a:p>
          </p:txBody>
        </p:sp>
      </p:grpSp>
      <p:sp>
        <p:nvSpPr>
          <p:cNvPr id="87" name="Rectangle 86"/>
          <p:cNvSpPr/>
          <p:nvPr/>
        </p:nvSpPr>
        <p:spPr>
          <a:xfrm>
            <a:off x="10326624" y="2907791"/>
            <a:ext cx="3919727" cy="242316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88" name="TextBox 87"/>
          <p:cNvSpPr txBox="1"/>
          <p:nvPr/>
        </p:nvSpPr>
        <p:spPr>
          <a:xfrm>
            <a:off x="10390632" y="2971799"/>
            <a:ext cx="3791712" cy="292607"/>
          </a:xfrm>
          <a:prstGeom prst="rect">
            <a:avLst/>
          </a:prstGeom>
          <a:noFill/>
        </p:spPr>
        <p:txBody>
          <a:bodyPr wrap="square" tIns="36576" bIns="36576" anchor="t">
            <a:spAutoFit/>
          </a:bodyPr>
          <a:lstStyle/>
          <a:p>
            <a:pPr>
              <a:lnSpc>
                <a:spcPts val="1836"/>
              </a:lnSpc>
              <a:spcBef>
                <a:spcPts val="0"/>
              </a:spcBef>
              <a:spcAft>
                <a:spcPts val="0"/>
              </a:spcAft>
              <a:defRPr sz="1700" b="0">
                <a:solidFill>
                  <a:srgbClr val="182B3A"/>
                </a:solidFill>
                <a:latin typeface="Arial"/>
              </a:defRPr>
            </a:pPr>
            <a:r>
              <a:t>Tens above; units below.</a:t>
            </a:r>
          </a:p>
        </p:txBody>
      </p:sp>
      <p:grpSp>
        <p:nvGrpSpPr>
          <p:cNvPr id="89" name="Editable lattice 4312 × 156"/>
          <p:cNvGrpSpPr/>
          <p:nvPr/>
        </p:nvGrpSpPr>
        <p:grpSpPr>
          <a:xfrm>
            <a:off x="10951464" y="3346704"/>
            <a:ext cx="2487167" cy="1975104"/>
            <a:chOff x="10951464" y="3346704"/>
            <a:chExt cx="2487167" cy="1975104"/>
          </a:xfrm>
        </p:grpSpPr>
        <p:sp>
          <p:nvSpPr>
            <p:cNvPr id="90" name="TextBox 89"/>
            <p:cNvSpPr txBox="1"/>
            <p:nvPr/>
          </p:nvSpPr>
          <p:spPr>
            <a:xfrm>
              <a:off x="11280648" y="3346704"/>
              <a:ext cx="466343" cy="228600"/>
            </a:xfrm>
            <a:prstGeom prst="rect">
              <a:avLst/>
            </a:prstGeom>
            <a:noFill/>
          </p:spPr>
          <p:txBody>
            <a:bodyPr wrap="none" lIns="0" tIns="0" rIns="0" bIns="0" anchor="ctr">
              <a:spAutoFit/>
            </a:bodyPr>
            <a:lstStyle/>
            <a:p>
              <a:pPr algn="ctr">
                <a:defRPr sz="1800" b="1">
                  <a:solidFill>
                    <a:srgbClr val="754B87"/>
                  </a:solidFill>
                  <a:latin typeface="Arial"/>
                </a:defRPr>
              </a:pPr>
              <a:r>
                <a:t>4</a:t>
              </a:r>
            </a:p>
          </p:txBody>
        </p:sp>
        <p:sp>
          <p:nvSpPr>
            <p:cNvPr id="91" name="TextBox 90"/>
            <p:cNvSpPr txBox="1"/>
            <p:nvPr/>
          </p:nvSpPr>
          <p:spPr>
            <a:xfrm>
              <a:off x="11746992" y="3346704"/>
              <a:ext cx="466343" cy="228600"/>
            </a:xfrm>
            <a:prstGeom prst="rect">
              <a:avLst/>
            </a:prstGeom>
            <a:noFill/>
          </p:spPr>
          <p:txBody>
            <a:bodyPr wrap="none" lIns="0" tIns="0" rIns="0" bIns="0" anchor="ctr">
              <a:spAutoFit/>
            </a:bodyPr>
            <a:lstStyle/>
            <a:p>
              <a:pPr algn="ctr">
                <a:defRPr sz="1800" b="1">
                  <a:solidFill>
                    <a:srgbClr val="754B87"/>
                  </a:solidFill>
                  <a:latin typeface="Arial"/>
                </a:defRPr>
              </a:pPr>
              <a:r>
                <a:t>3</a:t>
              </a:r>
            </a:p>
          </p:txBody>
        </p:sp>
        <p:sp>
          <p:nvSpPr>
            <p:cNvPr id="92" name="TextBox 91"/>
            <p:cNvSpPr txBox="1"/>
            <p:nvPr/>
          </p:nvSpPr>
          <p:spPr>
            <a:xfrm>
              <a:off x="12213335" y="3346704"/>
              <a:ext cx="466343" cy="228600"/>
            </a:xfrm>
            <a:prstGeom prst="rect">
              <a:avLst/>
            </a:prstGeom>
            <a:noFill/>
          </p:spPr>
          <p:txBody>
            <a:bodyPr wrap="none" lIns="0" tIns="0" rIns="0" bIns="0" anchor="ctr">
              <a:spAutoFit/>
            </a:bodyPr>
            <a:lstStyle/>
            <a:p>
              <a:pPr algn="ctr">
                <a:defRPr sz="1800" b="1">
                  <a:solidFill>
                    <a:srgbClr val="754B87"/>
                  </a:solidFill>
                  <a:latin typeface="Arial"/>
                </a:defRPr>
              </a:pPr>
              <a:r>
                <a:t>1</a:t>
              </a:r>
            </a:p>
          </p:txBody>
        </p:sp>
        <p:sp>
          <p:nvSpPr>
            <p:cNvPr id="93" name="TextBox 92"/>
            <p:cNvSpPr txBox="1"/>
            <p:nvPr/>
          </p:nvSpPr>
          <p:spPr>
            <a:xfrm>
              <a:off x="12679679" y="3346704"/>
              <a:ext cx="466343" cy="228600"/>
            </a:xfrm>
            <a:prstGeom prst="rect">
              <a:avLst/>
            </a:prstGeom>
            <a:noFill/>
          </p:spPr>
          <p:txBody>
            <a:bodyPr wrap="none" lIns="0" tIns="0" rIns="0" bIns="0" anchor="ctr">
              <a:spAutoFit/>
            </a:bodyPr>
            <a:lstStyle/>
            <a:p>
              <a:pPr algn="ctr">
                <a:defRPr sz="1800" b="1">
                  <a:solidFill>
                    <a:srgbClr val="754B87"/>
                  </a:solidFill>
                  <a:latin typeface="Arial"/>
                </a:defRPr>
              </a:pPr>
              <a:r>
                <a:t>2</a:t>
              </a:r>
            </a:p>
          </p:txBody>
        </p:sp>
        <p:sp>
          <p:nvSpPr>
            <p:cNvPr id="94" name="TextBox 93"/>
            <p:cNvSpPr txBox="1"/>
            <p:nvPr/>
          </p:nvSpPr>
          <p:spPr>
            <a:xfrm>
              <a:off x="13173455" y="3602736"/>
              <a:ext cx="265176" cy="466343"/>
            </a:xfrm>
            <a:prstGeom prst="rect">
              <a:avLst/>
            </a:prstGeom>
            <a:noFill/>
          </p:spPr>
          <p:txBody>
            <a:bodyPr wrap="none" lIns="0" tIns="0" rIns="0" bIns="0" anchor="ctr">
              <a:spAutoFit/>
            </a:bodyPr>
            <a:lstStyle/>
            <a:p>
              <a:pPr algn="ctr">
                <a:defRPr sz="1800" b="1">
                  <a:solidFill>
                    <a:srgbClr val="754B87"/>
                  </a:solidFill>
                  <a:latin typeface="Arial"/>
                </a:defRPr>
              </a:pPr>
              <a:r>
                <a:t>1</a:t>
              </a:r>
            </a:p>
          </p:txBody>
        </p:sp>
        <p:sp>
          <p:nvSpPr>
            <p:cNvPr id="95" name="TextBox 94"/>
            <p:cNvSpPr txBox="1"/>
            <p:nvPr/>
          </p:nvSpPr>
          <p:spPr>
            <a:xfrm>
              <a:off x="13173455" y="4069080"/>
              <a:ext cx="265176" cy="466343"/>
            </a:xfrm>
            <a:prstGeom prst="rect">
              <a:avLst/>
            </a:prstGeom>
            <a:noFill/>
          </p:spPr>
          <p:txBody>
            <a:bodyPr wrap="none" lIns="0" tIns="0" rIns="0" bIns="0" anchor="ctr">
              <a:spAutoFit/>
            </a:bodyPr>
            <a:lstStyle/>
            <a:p>
              <a:pPr algn="ctr">
                <a:defRPr sz="1800" b="1">
                  <a:solidFill>
                    <a:srgbClr val="754B87"/>
                  </a:solidFill>
                  <a:latin typeface="Arial"/>
                </a:defRPr>
              </a:pPr>
              <a:r>
                <a:t>5</a:t>
              </a:r>
            </a:p>
          </p:txBody>
        </p:sp>
        <p:sp>
          <p:nvSpPr>
            <p:cNvPr id="96" name="TextBox 95"/>
            <p:cNvSpPr txBox="1"/>
            <p:nvPr/>
          </p:nvSpPr>
          <p:spPr>
            <a:xfrm>
              <a:off x="13173455" y="4535424"/>
              <a:ext cx="265176" cy="466343"/>
            </a:xfrm>
            <a:prstGeom prst="rect">
              <a:avLst/>
            </a:prstGeom>
            <a:noFill/>
          </p:spPr>
          <p:txBody>
            <a:bodyPr wrap="none" lIns="0" tIns="0" rIns="0" bIns="0" anchor="ctr">
              <a:spAutoFit/>
            </a:bodyPr>
            <a:lstStyle/>
            <a:p>
              <a:pPr algn="ctr">
                <a:defRPr sz="1800" b="1">
                  <a:solidFill>
                    <a:srgbClr val="754B87"/>
                  </a:solidFill>
                  <a:latin typeface="Arial"/>
                </a:defRPr>
              </a:pPr>
              <a:r>
                <a:t>6</a:t>
              </a:r>
            </a:p>
          </p:txBody>
        </p:sp>
        <p:sp>
          <p:nvSpPr>
            <p:cNvPr id="97" name="Rectangle 96"/>
            <p:cNvSpPr/>
            <p:nvPr/>
          </p:nvSpPr>
          <p:spPr>
            <a:xfrm>
              <a:off x="11280648" y="3602736"/>
              <a:ext cx="466343" cy="466343"/>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cxnSp>
          <p:nvCxnSpPr>
            <p:cNvPr id="98" name="Connector 97"/>
            <p:cNvCxnSpPr/>
            <p:nvPr/>
          </p:nvCxnSpPr>
          <p:spPr>
            <a:xfrm flipV="1">
              <a:off x="11280648" y="3602736"/>
              <a:ext cx="466344" cy="466344"/>
            </a:xfrm>
            <a:prstGeom prst="line">
              <a:avLst/>
            </a:prstGeom>
            <a:ln w="10160">
              <a:solidFill>
                <a:srgbClr val="8193A0"/>
              </a:solidFill>
            </a:ln>
          </p:spPr>
          <p:style>
            <a:lnRef idx="2">
              <a:schemeClr val="accent1"/>
            </a:lnRef>
            <a:fillRef idx="0">
              <a:schemeClr val="accent1"/>
            </a:fillRef>
            <a:effectRef idx="1">
              <a:schemeClr val="accent1"/>
            </a:effectRef>
            <a:fontRef idx="minor">
              <a:schemeClr val="tx1"/>
            </a:fontRef>
          </p:style>
        </p:cxnSp>
        <p:sp>
          <p:nvSpPr>
            <p:cNvPr id="99" name="TextBox 98"/>
            <p:cNvSpPr txBox="1"/>
            <p:nvPr/>
          </p:nvSpPr>
          <p:spPr>
            <a:xfrm>
              <a:off x="11299301" y="3612062"/>
              <a:ext cx="223845" cy="219181"/>
            </a:xfrm>
            <a:prstGeom prst="rect">
              <a:avLst/>
            </a:prstGeom>
            <a:noFill/>
          </p:spPr>
          <p:txBody>
            <a:bodyPr wrap="none" lIns="0" tIns="0" rIns="0" bIns="0" anchor="ctr">
              <a:spAutoFit/>
            </a:bodyPr>
            <a:lstStyle/>
            <a:p>
              <a:pPr algn="ctr">
                <a:defRPr sz="1800" b="0">
                  <a:solidFill>
                    <a:srgbClr val="182B3A"/>
                  </a:solidFill>
                  <a:latin typeface="Arial"/>
                </a:defRPr>
              </a:pPr>
              <a:r>
                <a:t>0</a:t>
              </a:r>
            </a:p>
          </p:txBody>
        </p:sp>
        <p:sp>
          <p:nvSpPr>
            <p:cNvPr id="100" name="TextBox 99"/>
            <p:cNvSpPr txBox="1"/>
            <p:nvPr/>
          </p:nvSpPr>
          <p:spPr>
            <a:xfrm>
              <a:off x="11504493" y="3831244"/>
              <a:ext cx="223845" cy="219181"/>
            </a:xfrm>
            <a:prstGeom prst="rect">
              <a:avLst/>
            </a:prstGeom>
            <a:noFill/>
          </p:spPr>
          <p:txBody>
            <a:bodyPr wrap="none" lIns="0" tIns="0" rIns="0" bIns="0" anchor="ctr">
              <a:spAutoFit/>
            </a:bodyPr>
            <a:lstStyle/>
            <a:p>
              <a:pPr algn="ctr">
                <a:defRPr sz="1800" b="0">
                  <a:solidFill>
                    <a:srgbClr val="182B3A"/>
                  </a:solidFill>
                  <a:latin typeface="Arial"/>
                </a:defRPr>
              </a:pPr>
              <a:r>
                <a:t>4</a:t>
              </a:r>
            </a:p>
          </p:txBody>
        </p:sp>
        <p:sp>
          <p:nvSpPr>
            <p:cNvPr id="101" name="Rectangle 100"/>
            <p:cNvSpPr/>
            <p:nvPr/>
          </p:nvSpPr>
          <p:spPr>
            <a:xfrm>
              <a:off x="11746992" y="3602736"/>
              <a:ext cx="466343" cy="466343"/>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cxnSp>
          <p:nvCxnSpPr>
            <p:cNvPr id="102" name="Connector 101"/>
            <p:cNvCxnSpPr/>
            <p:nvPr/>
          </p:nvCxnSpPr>
          <p:spPr>
            <a:xfrm flipV="1">
              <a:off x="11746992" y="3602736"/>
              <a:ext cx="466343" cy="466344"/>
            </a:xfrm>
            <a:prstGeom prst="line">
              <a:avLst/>
            </a:prstGeom>
            <a:ln w="10160">
              <a:solidFill>
                <a:srgbClr val="8193A0"/>
              </a:solidFill>
            </a:ln>
          </p:spPr>
          <p:style>
            <a:lnRef idx="2">
              <a:schemeClr val="accent1"/>
            </a:lnRef>
            <a:fillRef idx="0">
              <a:schemeClr val="accent1"/>
            </a:fillRef>
            <a:effectRef idx="1">
              <a:schemeClr val="accent1"/>
            </a:effectRef>
            <a:fontRef idx="minor">
              <a:schemeClr val="tx1"/>
            </a:fontRef>
          </p:style>
        </p:cxnSp>
        <p:sp>
          <p:nvSpPr>
            <p:cNvPr id="103" name="TextBox 102"/>
            <p:cNvSpPr txBox="1"/>
            <p:nvPr/>
          </p:nvSpPr>
          <p:spPr>
            <a:xfrm>
              <a:off x="11765645" y="3612062"/>
              <a:ext cx="223845" cy="219181"/>
            </a:xfrm>
            <a:prstGeom prst="rect">
              <a:avLst/>
            </a:prstGeom>
            <a:noFill/>
          </p:spPr>
          <p:txBody>
            <a:bodyPr wrap="none" lIns="0" tIns="0" rIns="0" bIns="0" anchor="ctr">
              <a:spAutoFit/>
            </a:bodyPr>
            <a:lstStyle/>
            <a:p>
              <a:pPr algn="ctr">
                <a:defRPr sz="1800" b="0">
                  <a:solidFill>
                    <a:srgbClr val="182B3A"/>
                  </a:solidFill>
                  <a:latin typeface="Arial"/>
                </a:defRPr>
              </a:pPr>
              <a:r>
                <a:t>0</a:t>
              </a:r>
            </a:p>
          </p:txBody>
        </p:sp>
        <p:sp>
          <p:nvSpPr>
            <p:cNvPr id="104" name="TextBox 103"/>
            <p:cNvSpPr txBox="1"/>
            <p:nvPr/>
          </p:nvSpPr>
          <p:spPr>
            <a:xfrm>
              <a:off x="11970837" y="3831244"/>
              <a:ext cx="223845" cy="219181"/>
            </a:xfrm>
            <a:prstGeom prst="rect">
              <a:avLst/>
            </a:prstGeom>
            <a:noFill/>
          </p:spPr>
          <p:txBody>
            <a:bodyPr wrap="none" lIns="0" tIns="0" rIns="0" bIns="0" anchor="ctr">
              <a:spAutoFit/>
            </a:bodyPr>
            <a:lstStyle/>
            <a:p>
              <a:pPr algn="ctr">
                <a:defRPr sz="1800" b="0">
                  <a:solidFill>
                    <a:srgbClr val="182B3A"/>
                  </a:solidFill>
                  <a:latin typeface="Arial"/>
                </a:defRPr>
              </a:pPr>
              <a:r>
                <a:t>3</a:t>
              </a:r>
            </a:p>
          </p:txBody>
        </p:sp>
        <p:sp>
          <p:nvSpPr>
            <p:cNvPr id="105" name="Rectangle 104"/>
            <p:cNvSpPr/>
            <p:nvPr/>
          </p:nvSpPr>
          <p:spPr>
            <a:xfrm>
              <a:off x="12213335" y="3602736"/>
              <a:ext cx="466343" cy="466343"/>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cxnSp>
          <p:nvCxnSpPr>
            <p:cNvPr id="106" name="Connector 105"/>
            <p:cNvCxnSpPr/>
            <p:nvPr/>
          </p:nvCxnSpPr>
          <p:spPr>
            <a:xfrm flipV="1">
              <a:off x="12213335" y="3602736"/>
              <a:ext cx="466344" cy="466344"/>
            </a:xfrm>
            <a:prstGeom prst="line">
              <a:avLst/>
            </a:prstGeom>
            <a:ln w="10160">
              <a:solidFill>
                <a:srgbClr val="8193A0"/>
              </a:solidFill>
            </a:ln>
          </p:spPr>
          <p:style>
            <a:lnRef idx="2">
              <a:schemeClr val="accent1"/>
            </a:lnRef>
            <a:fillRef idx="0">
              <a:schemeClr val="accent1"/>
            </a:fillRef>
            <a:effectRef idx="1">
              <a:schemeClr val="accent1"/>
            </a:effectRef>
            <a:fontRef idx="minor">
              <a:schemeClr val="tx1"/>
            </a:fontRef>
          </p:style>
        </p:cxnSp>
        <p:sp>
          <p:nvSpPr>
            <p:cNvPr id="107" name="TextBox 106"/>
            <p:cNvSpPr txBox="1"/>
            <p:nvPr/>
          </p:nvSpPr>
          <p:spPr>
            <a:xfrm>
              <a:off x="12231989" y="3612062"/>
              <a:ext cx="223845" cy="219181"/>
            </a:xfrm>
            <a:prstGeom prst="rect">
              <a:avLst/>
            </a:prstGeom>
            <a:noFill/>
          </p:spPr>
          <p:txBody>
            <a:bodyPr wrap="none" lIns="0" tIns="0" rIns="0" bIns="0" anchor="ctr">
              <a:spAutoFit/>
            </a:bodyPr>
            <a:lstStyle/>
            <a:p>
              <a:pPr algn="ctr">
                <a:defRPr sz="1800" b="0">
                  <a:solidFill>
                    <a:srgbClr val="182B3A"/>
                  </a:solidFill>
                  <a:latin typeface="Arial"/>
                </a:defRPr>
              </a:pPr>
              <a:r>
                <a:t>0</a:t>
              </a:r>
            </a:p>
          </p:txBody>
        </p:sp>
        <p:sp>
          <p:nvSpPr>
            <p:cNvPr id="108" name="TextBox 107"/>
            <p:cNvSpPr txBox="1"/>
            <p:nvPr/>
          </p:nvSpPr>
          <p:spPr>
            <a:xfrm>
              <a:off x="12437181" y="3831244"/>
              <a:ext cx="223845" cy="219181"/>
            </a:xfrm>
            <a:prstGeom prst="rect">
              <a:avLst/>
            </a:prstGeom>
            <a:noFill/>
          </p:spPr>
          <p:txBody>
            <a:bodyPr wrap="none" lIns="0" tIns="0" rIns="0" bIns="0" anchor="ctr">
              <a:spAutoFit/>
            </a:bodyPr>
            <a:lstStyle/>
            <a:p>
              <a:pPr algn="ctr">
                <a:defRPr sz="1800" b="0">
                  <a:solidFill>
                    <a:srgbClr val="182B3A"/>
                  </a:solidFill>
                  <a:latin typeface="Arial"/>
                </a:defRPr>
              </a:pPr>
              <a:r>
                <a:t>1</a:t>
              </a:r>
            </a:p>
          </p:txBody>
        </p:sp>
        <p:sp>
          <p:nvSpPr>
            <p:cNvPr id="109" name="Rectangle 108"/>
            <p:cNvSpPr/>
            <p:nvPr/>
          </p:nvSpPr>
          <p:spPr>
            <a:xfrm>
              <a:off x="12679679" y="3602736"/>
              <a:ext cx="466343" cy="466343"/>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cxnSp>
          <p:nvCxnSpPr>
            <p:cNvPr id="110" name="Connector 109"/>
            <p:cNvCxnSpPr/>
            <p:nvPr/>
          </p:nvCxnSpPr>
          <p:spPr>
            <a:xfrm flipV="1">
              <a:off x="12679679" y="3602736"/>
              <a:ext cx="466344" cy="466344"/>
            </a:xfrm>
            <a:prstGeom prst="line">
              <a:avLst/>
            </a:prstGeom>
            <a:ln w="10160">
              <a:solidFill>
                <a:srgbClr val="8193A0"/>
              </a:solidFill>
            </a:ln>
          </p:spPr>
          <p:style>
            <a:lnRef idx="2">
              <a:schemeClr val="accent1"/>
            </a:lnRef>
            <a:fillRef idx="0">
              <a:schemeClr val="accent1"/>
            </a:fillRef>
            <a:effectRef idx="1">
              <a:schemeClr val="accent1"/>
            </a:effectRef>
            <a:fontRef idx="minor">
              <a:schemeClr val="tx1"/>
            </a:fontRef>
          </p:style>
        </p:cxnSp>
        <p:sp>
          <p:nvSpPr>
            <p:cNvPr id="111" name="TextBox 110"/>
            <p:cNvSpPr txBox="1"/>
            <p:nvPr/>
          </p:nvSpPr>
          <p:spPr>
            <a:xfrm>
              <a:off x="12698333" y="3612062"/>
              <a:ext cx="223845" cy="219181"/>
            </a:xfrm>
            <a:prstGeom prst="rect">
              <a:avLst/>
            </a:prstGeom>
            <a:noFill/>
          </p:spPr>
          <p:txBody>
            <a:bodyPr wrap="none" lIns="0" tIns="0" rIns="0" bIns="0" anchor="ctr">
              <a:spAutoFit/>
            </a:bodyPr>
            <a:lstStyle/>
            <a:p>
              <a:pPr algn="ctr">
                <a:defRPr sz="1800" b="0">
                  <a:solidFill>
                    <a:srgbClr val="182B3A"/>
                  </a:solidFill>
                  <a:latin typeface="Arial"/>
                </a:defRPr>
              </a:pPr>
              <a:r>
                <a:t>0</a:t>
              </a:r>
            </a:p>
          </p:txBody>
        </p:sp>
        <p:sp>
          <p:nvSpPr>
            <p:cNvPr id="112" name="TextBox 111"/>
            <p:cNvSpPr txBox="1"/>
            <p:nvPr/>
          </p:nvSpPr>
          <p:spPr>
            <a:xfrm>
              <a:off x="12903525" y="3831244"/>
              <a:ext cx="223845" cy="219181"/>
            </a:xfrm>
            <a:prstGeom prst="rect">
              <a:avLst/>
            </a:prstGeom>
            <a:noFill/>
          </p:spPr>
          <p:txBody>
            <a:bodyPr wrap="none" lIns="0" tIns="0" rIns="0" bIns="0" anchor="ctr">
              <a:spAutoFit/>
            </a:bodyPr>
            <a:lstStyle/>
            <a:p>
              <a:pPr algn="ctr">
                <a:defRPr sz="1800" b="0">
                  <a:solidFill>
                    <a:srgbClr val="182B3A"/>
                  </a:solidFill>
                  <a:latin typeface="Arial"/>
                </a:defRPr>
              </a:pPr>
              <a:r>
                <a:t>2</a:t>
              </a:r>
            </a:p>
          </p:txBody>
        </p:sp>
        <p:sp>
          <p:nvSpPr>
            <p:cNvPr id="113" name="Rectangle 112"/>
            <p:cNvSpPr/>
            <p:nvPr/>
          </p:nvSpPr>
          <p:spPr>
            <a:xfrm>
              <a:off x="11280648" y="4069080"/>
              <a:ext cx="466343" cy="466343"/>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cxnSp>
          <p:nvCxnSpPr>
            <p:cNvPr id="114" name="Connector 113"/>
            <p:cNvCxnSpPr/>
            <p:nvPr/>
          </p:nvCxnSpPr>
          <p:spPr>
            <a:xfrm flipV="1">
              <a:off x="11280648" y="4069080"/>
              <a:ext cx="466344" cy="466344"/>
            </a:xfrm>
            <a:prstGeom prst="line">
              <a:avLst/>
            </a:prstGeom>
            <a:ln w="10160">
              <a:solidFill>
                <a:srgbClr val="8193A0"/>
              </a:solidFill>
            </a:ln>
          </p:spPr>
          <p:style>
            <a:lnRef idx="2">
              <a:schemeClr val="accent1"/>
            </a:lnRef>
            <a:fillRef idx="0">
              <a:schemeClr val="accent1"/>
            </a:fillRef>
            <a:effectRef idx="1">
              <a:schemeClr val="accent1"/>
            </a:effectRef>
            <a:fontRef idx="minor">
              <a:schemeClr val="tx1"/>
            </a:fontRef>
          </p:style>
        </p:cxnSp>
        <p:sp>
          <p:nvSpPr>
            <p:cNvPr id="115" name="TextBox 114"/>
            <p:cNvSpPr txBox="1"/>
            <p:nvPr/>
          </p:nvSpPr>
          <p:spPr>
            <a:xfrm>
              <a:off x="11299301" y="4078406"/>
              <a:ext cx="223845" cy="219181"/>
            </a:xfrm>
            <a:prstGeom prst="rect">
              <a:avLst/>
            </a:prstGeom>
            <a:noFill/>
          </p:spPr>
          <p:txBody>
            <a:bodyPr wrap="none" lIns="0" tIns="0" rIns="0" bIns="0" anchor="ctr">
              <a:spAutoFit/>
            </a:bodyPr>
            <a:lstStyle/>
            <a:p>
              <a:pPr algn="ctr">
                <a:defRPr sz="1800" b="0">
                  <a:solidFill>
                    <a:srgbClr val="182B3A"/>
                  </a:solidFill>
                  <a:latin typeface="Arial"/>
                </a:defRPr>
              </a:pPr>
              <a:r>
                <a:t>2</a:t>
              </a:r>
            </a:p>
          </p:txBody>
        </p:sp>
        <p:sp>
          <p:nvSpPr>
            <p:cNvPr id="116" name="TextBox 115"/>
            <p:cNvSpPr txBox="1"/>
            <p:nvPr/>
          </p:nvSpPr>
          <p:spPr>
            <a:xfrm>
              <a:off x="11504493" y="4297588"/>
              <a:ext cx="223845" cy="219181"/>
            </a:xfrm>
            <a:prstGeom prst="rect">
              <a:avLst/>
            </a:prstGeom>
            <a:noFill/>
          </p:spPr>
          <p:txBody>
            <a:bodyPr wrap="none" lIns="0" tIns="0" rIns="0" bIns="0" anchor="ctr">
              <a:spAutoFit/>
            </a:bodyPr>
            <a:lstStyle/>
            <a:p>
              <a:pPr algn="ctr">
                <a:defRPr sz="1800" b="0">
                  <a:solidFill>
                    <a:srgbClr val="182B3A"/>
                  </a:solidFill>
                  <a:latin typeface="Arial"/>
                </a:defRPr>
              </a:pPr>
              <a:r>
                <a:t>0</a:t>
              </a:r>
            </a:p>
          </p:txBody>
        </p:sp>
        <p:sp>
          <p:nvSpPr>
            <p:cNvPr id="117" name="Rectangle 116"/>
            <p:cNvSpPr/>
            <p:nvPr/>
          </p:nvSpPr>
          <p:spPr>
            <a:xfrm>
              <a:off x="11746992" y="4069080"/>
              <a:ext cx="466343" cy="466343"/>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cxnSp>
          <p:nvCxnSpPr>
            <p:cNvPr id="118" name="Connector 117"/>
            <p:cNvCxnSpPr/>
            <p:nvPr/>
          </p:nvCxnSpPr>
          <p:spPr>
            <a:xfrm flipV="1">
              <a:off x="11746992" y="4069080"/>
              <a:ext cx="466343" cy="466344"/>
            </a:xfrm>
            <a:prstGeom prst="line">
              <a:avLst/>
            </a:prstGeom>
            <a:ln w="10160">
              <a:solidFill>
                <a:srgbClr val="8193A0"/>
              </a:solidFill>
            </a:ln>
          </p:spPr>
          <p:style>
            <a:lnRef idx="2">
              <a:schemeClr val="accent1"/>
            </a:lnRef>
            <a:fillRef idx="0">
              <a:schemeClr val="accent1"/>
            </a:fillRef>
            <a:effectRef idx="1">
              <a:schemeClr val="accent1"/>
            </a:effectRef>
            <a:fontRef idx="minor">
              <a:schemeClr val="tx1"/>
            </a:fontRef>
          </p:style>
        </p:cxnSp>
        <p:sp>
          <p:nvSpPr>
            <p:cNvPr id="119" name="TextBox 118"/>
            <p:cNvSpPr txBox="1"/>
            <p:nvPr/>
          </p:nvSpPr>
          <p:spPr>
            <a:xfrm>
              <a:off x="11765645" y="4078406"/>
              <a:ext cx="223845" cy="219181"/>
            </a:xfrm>
            <a:prstGeom prst="rect">
              <a:avLst/>
            </a:prstGeom>
            <a:noFill/>
          </p:spPr>
          <p:txBody>
            <a:bodyPr wrap="none" lIns="0" tIns="0" rIns="0" bIns="0" anchor="ctr">
              <a:spAutoFit/>
            </a:bodyPr>
            <a:lstStyle/>
            <a:p>
              <a:pPr algn="ctr">
                <a:defRPr sz="1800" b="0">
                  <a:solidFill>
                    <a:srgbClr val="182B3A"/>
                  </a:solidFill>
                  <a:latin typeface="Arial"/>
                </a:defRPr>
              </a:pPr>
              <a:r>
                <a:t>1</a:t>
              </a:r>
            </a:p>
          </p:txBody>
        </p:sp>
        <p:sp>
          <p:nvSpPr>
            <p:cNvPr id="120" name="TextBox 119"/>
            <p:cNvSpPr txBox="1"/>
            <p:nvPr/>
          </p:nvSpPr>
          <p:spPr>
            <a:xfrm>
              <a:off x="11970837" y="4297588"/>
              <a:ext cx="223845" cy="219181"/>
            </a:xfrm>
            <a:prstGeom prst="rect">
              <a:avLst/>
            </a:prstGeom>
            <a:noFill/>
          </p:spPr>
          <p:txBody>
            <a:bodyPr wrap="none" lIns="0" tIns="0" rIns="0" bIns="0" anchor="ctr">
              <a:spAutoFit/>
            </a:bodyPr>
            <a:lstStyle/>
            <a:p>
              <a:pPr algn="ctr">
                <a:defRPr sz="1800" b="0">
                  <a:solidFill>
                    <a:srgbClr val="182B3A"/>
                  </a:solidFill>
                  <a:latin typeface="Arial"/>
                </a:defRPr>
              </a:pPr>
              <a:r>
                <a:t>5</a:t>
              </a:r>
            </a:p>
          </p:txBody>
        </p:sp>
        <p:sp>
          <p:nvSpPr>
            <p:cNvPr id="121" name="Rectangle 120"/>
            <p:cNvSpPr/>
            <p:nvPr/>
          </p:nvSpPr>
          <p:spPr>
            <a:xfrm>
              <a:off x="12213335" y="4069080"/>
              <a:ext cx="466343" cy="466343"/>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cxnSp>
          <p:nvCxnSpPr>
            <p:cNvPr id="122" name="Connector 121"/>
            <p:cNvCxnSpPr/>
            <p:nvPr/>
          </p:nvCxnSpPr>
          <p:spPr>
            <a:xfrm flipV="1">
              <a:off x="12213335" y="4069080"/>
              <a:ext cx="466344" cy="466344"/>
            </a:xfrm>
            <a:prstGeom prst="line">
              <a:avLst/>
            </a:prstGeom>
            <a:ln w="10160">
              <a:solidFill>
                <a:srgbClr val="8193A0"/>
              </a:solidFill>
            </a:ln>
          </p:spPr>
          <p:style>
            <a:lnRef idx="2">
              <a:schemeClr val="accent1"/>
            </a:lnRef>
            <a:fillRef idx="0">
              <a:schemeClr val="accent1"/>
            </a:fillRef>
            <a:effectRef idx="1">
              <a:schemeClr val="accent1"/>
            </a:effectRef>
            <a:fontRef idx="minor">
              <a:schemeClr val="tx1"/>
            </a:fontRef>
          </p:style>
        </p:cxnSp>
        <p:sp>
          <p:nvSpPr>
            <p:cNvPr id="123" name="TextBox 122"/>
            <p:cNvSpPr txBox="1"/>
            <p:nvPr/>
          </p:nvSpPr>
          <p:spPr>
            <a:xfrm>
              <a:off x="12231989" y="4078406"/>
              <a:ext cx="223845" cy="219181"/>
            </a:xfrm>
            <a:prstGeom prst="rect">
              <a:avLst/>
            </a:prstGeom>
            <a:noFill/>
          </p:spPr>
          <p:txBody>
            <a:bodyPr wrap="none" lIns="0" tIns="0" rIns="0" bIns="0" anchor="ctr">
              <a:spAutoFit/>
            </a:bodyPr>
            <a:lstStyle/>
            <a:p>
              <a:pPr algn="ctr">
                <a:defRPr sz="1800" b="0">
                  <a:solidFill>
                    <a:srgbClr val="182B3A"/>
                  </a:solidFill>
                  <a:latin typeface="Arial"/>
                </a:defRPr>
              </a:pPr>
              <a:r>
                <a:t>0</a:t>
              </a:r>
            </a:p>
          </p:txBody>
        </p:sp>
        <p:sp>
          <p:nvSpPr>
            <p:cNvPr id="124" name="TextBox 123"/>
            <p:cNvSpPr txBox="1"/>
            <p:nvPr/>
          </p:nvSpPr>
          <p:spPr>
            <a:xfrm>
              <a:off x="12437181" y="4297588"/>
              <a:ext cx="223845" cy="219181"/>
            </a:xfrm>
            <a:prstGeom prst="rect">
              <a:avLst/>
            </a:prstGeom>
            <a:noFill/>
          </p:spPr>
          <p:txBody>
            <a:bodyPr wrap="none" lIns="0" tIns="0" rIns="0" bIns="0" anchor="ctr">
              <a:spAutoFit/>
            </a:bodyPr>
            <a:lstStyle/>
            <a:p>
              <a:pPr algn="ctr">
                <a:defRPr sz="1800" b="0">
                  <a:solidFill>
                    <a:srgbClr val="182B3A"/>
                  </a:solidFill>
                  <a:latin typeface="Arial"/>
                </a:defRPr>
              </a:pPr>
              <a:r>
                <a:t>5</a:t>
              </a:r>
            </a:p>
          </p:txBody>
        </p:sp>
        <p:sp>
          <p:nvSpPr>
            <p:cNvPr id="125" name="Rectangle 124"/>
            <p:cNvSpPr/>
            <p:nvPr/>
          </p:nvSpPr>
          <p:spPr>
            <a:xfrm>
              <a:off x="12679679" y="4069080"/>
              <a:ext cx="466343" cy="466343"/>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cxnSp>
          <p:nvCxnSpPr>
            <p:cNvPr id="126" name="Connector 125"/>
            <p:cNvCxnSpPr/>
            <p:nvPr/>
          </p:nvCxnSpPr>
          <p:spPr>
            <a:xfrm flipV="1">
              <a:off x="12679679" y="4069080"/>
              <a:ext cx="466344" cy="466344"/>
            </a:xfrm>
            <a:prstGeom prst="line">
              <a:avLst/>
            </a:prstGeom>
            <a:ln w="10160">
              <a:solidFill>
                <a:srgbClr val="8193A0"/>
              </a:solidFill>
            </a:ln>
          </p:spPr>
          <p:style>
            <a:lnRef idx="2">
              <a:schemeClr val="accent1"/>
            </a:lnRef>
            <a:fillRef idx="0">
              <a:schemeClr val="accent1"/>
            </a:fillRef>
            <a:effectRef idx="1">
              <a:schemeClr val="accent1"/>
            </a:effectRef>
            <a:fontRef idx="minor">
              <a:schemeClr val="tx1"/>
            </a:fontRef>
          </p:style>
        </p:cxnSp>
        <p:sp>
          <p:nvSpPr>
            <p:cNvPr id="127" name="TextBox 126"/>
            <p:cNvSpPr txBox="1"/>
            <p:nvPr/>
          </p:nvSpPr>
          <p:spPr>
            <a:xfrm>
              <a:off x="12698333" y="4078406"/>
              <a:ext cx="223845" cy="219181"/>
            </a:xfrm>
            <a:prstGeom prst="rect">
              <a:avLst/>
            </a:prstGeom>
            <a:noFill/>
          </p:spPr>
          <p:txBody>
            <a:bodyPr wrap="none" lIns="0" tIns="0" rIns="0" bIns="0" anchor="ctr">
              <a:spAutoFit/>
            </a:bodyPr>
            <a:lstStyle/>
            <a:p>
              <a:pPr algn="ctr">
                <a:defRPr sz="1800" b="0">
                  <a:solidFill>
                    <a:srgbClr val="182B3A"/>
                  </a:solidFill>
                  <a:latin typeface="Arial"/>
                </a:defRPr>
              </a:pPr>
              <a:r>
                <a:t>1</a:t>
              </a:r>
            </a:p>
          </p:txBody>
        </p:sp>
        <p:sp>
          <p:nvSpPr>
            <p:cNvPr id="128" name="TextBox 127"/>
            <p:cNvSpPr txBox="1"/>
            <p:nvPr/>
          </p:nvSpPr>
          <p:spPr>
            <a:xfrm>
              <a:off x="12903525" y="4297588"/>
              <a:ext cx="223845" cy="219181"/>
            </a:xfrm>
            <a:prstGeom prst="rect">
              <a:avLst/>
            </a:prstGeom>
            <a:noFill/>
          </p:spPr>
          <p:txBody>
            <a:bodyPr wrap="none" lIns="0" tIns="0" rIns="0" bIns="0" anchor="ctr">
              <a:spAutoFit/>
            </a:bodyPr>
            <a:lstStyle/>
            <a:p>
              <a:pPr algn="ctr">
                <a:defRPr sz="1800" b="0">
                  <a:solidFill>
                    <a:srgbClr val="182B3A"/>
                  </a:solidFill>
                  <a:latin typeface="Arial"/>
                </a:defRPr>
              </a:pPr>
              <a:r>
                <a:t>0</a:t>
              </a:r>
            </a:p>
          </p:txBody>
        </p:sp>
        <p:sp>
          <p:nvSpPr>
            <p:cNvPr id="129" name="Rectangle 128"/>
            <p:cNvSpPr/>
            <p:nvPr/>
          </p:nvSpPr>
          <p:spPr>
            <a:xfrm>
              <a:off x="11280648" y="4535424"/>
              <a:ext cx="466343" cy="466343"/>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cxnSp>
          <p:nvCxnSpPr>
            <p:cNvPr id="130" name="Connector 129"/>
            <p:cNvCxnSpPr/>
            <p:nvPr/>
          </p:nvCxnSpPr>
          <p:spPr>
            <a:xfrm flipV="1">
              <a:off x="11280648" y="4535424"/>
              <a:ext cx="466344" cy="466344"/>
            </a:xfrm>
            <a:prstGeom prst="line">
              <a:avLst/>
            </a:prstGeom>
            <a:ln w="10160">
              <a:solidFill>
                <a:srgbClr val="8193A0"/>
              </a:solidFill>
            </a:ln>
          </p:spPr>
          <p:style>
            <a:lnRef idx="2">
              <a:schemeClr val="accent1"/>
            </a:lnRef>
            <a:fillRef idx="0">
              <a:schemeClr val="accent1"/>
            </a:fillRef>
            <a:effectRef idx="1">
              <a:schemeClr val="accent1"/>
            </a:effectRef>
            <a:fontRef idx="minor">
              <a:schemeClr val="tx1"/>
            </a:fontRef>
          </p:style>
        </p:cxnSp>
        <p:sp>
          <p:nvSpPr>
            <p:cNvPr id="131" name="TextBox 130"/>
            <p:cNvSpPr txBox="1"/>
            <p:nvPr/>
          </p:nvSpPr>
          <p:spPr>
            <a:xfrm>
              <a:off x="11299301" y="4544750"/>
              <a:ext cx="223845" cy="219181"/>
            </a:xfrm>
            <a:prstGeom prst="rect">
              <a:avLst/>
            </a:prstGeom>
            <a:noFill/>
          </p:spPr>
          <p:txBody>
            <a:bodyPr wrap="none" lIns="0" tIns="0" rIns="0" bIns="0" anchor="ctr">
              <a:spAutoFit/>
            </a:bodyPr>
            <a:lstStyle/>
            <a:p>
              <a:pPr algn="ctr">
                <a:defRPr sz="1800" b="0">
                  <a:solidFill>
                    <a:srgbClr val="182B3A"/>
                  </a:solidFill>
                  <a:latin typeface="Arial"/>
                </a:defRPr>
              </a:pPr>
              <a:r>
                <a:t>2</a:t>
              </a:r>
            </a:p>
          </p:txBody>
        </p:sp>
        <p:sp>
          <p:nvSpPr>
            <p:cNvPr id="132" name="TextBox 131"/>
            <p:cNvSpPr txBox="1"/>
            <p:nvPr/>
          </p:nvSpPr>
          <p:spPr>
            <a:xfrm>
              <a:off x="11504493" y="4763932"/>
              <a:ext cx="223845" cy="219181"/>
            </a:xfrm>
            <a:prstGeom prst="rect">
              <a:avLst/>
            </a:prstGeom>
            <a:noFill/>
          </p:spPr>
          <p:txBody>
            <a:bodyPr wrap="none" lIns="0" tIns="0" rIns="0" bIns="0" anchor="ctr">
              <a:spAutoFit/>
            </a:bodyPr>
            <a:lstStyle/>
            <a:p>
              <a:pPr algn="ctr">
                <a:defRPr sz="1800" b="0">
                  <a:solidFill>
                    <a:srgbClr val="182B3A"/>
                  </a:solidFill>
                  <a:latin typeface="Arial"/>
                </a:defRPr>
              </a:pPr>
              <a:r>
                <a:t>4</a:t>
              </a:r>
            </a:p>
          </p:txBody>
        </p:sp>
        <p:sp>
          <p:nvSpPr>
            <p:cNvPr id="133" name="Rectangle 132"/>
            <p:cNvSpPr/>
            <p:nvPr/>
          </p:nvSpPr>
          <p:spPr>
            <a:xfrm>
              <a:off x="11746992" y="4535424"/>
              <a:ext cx="466343" cy="466343"/>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cxnSp>
          <p:nvCxnSpPr>
            <p:cNvPr id="134" name="Connector 133"/>
            <p:cNvCxnSpPr/>
            <p:nvPr/>
          </p:nvCxnSpPr>
          <p:spPr>
            <a:xfrm flipV="1">
              <a:off x="11746992" y="4535424"/>
              <a:ext cx="466343" cy="466344"/>
            </a:xfrm>
            <a:prstGeom prst="line">
              <a:avLst/>
            </a:prstGeom>
            <a:ln w="10160">
              <a:solidFill>
                <a:srgbClr val="8193A0"/>
              </a:solidFill>
            </a:ln>
          </p:spPr>
          <p:style>
            <a:lnRef idx="2">
              <a:schemeClr val="accent1"/>
            </a:lnRef>
            <a:fillRef idx="0">
              <a:schemeClr val="accent1"/>
            </a:fillRef>
            <a:effectRef idx="1">
              <a:schemeClr val="accent1"/>
            </a:effectRef>
            <a:fontRef idx="minor">
              <a:schemeClr val="tx1"/>
            </a:fontRef>
          </p:style>
        </p:cxnSp>
        <p:sp>
          <p:nvSpPr>
            <p:cNvPr id="135" name="TextBox 134"/>
            <p:cNvSpPr txBox="1"/>
            <p:nvPr/>
          </p:nvSpPr>
          <p:spPr>
            <a:xfrm>
              <a:off x="11765645" y="4544750"/>
              <a:ext cx="223845" cy="219181"/>
            </a:xfrm>
            <a:prstGeom prst="rect">
              <a:avLst/>
            </a:prstGeom>
            <a:noFill/>
          </p:spPr>
          <p:txBody>
            <a:bodyPr wrap="none" lIns="0" tIns="0" rIns="0" bIns="0" anchor="ctr">
              <a:spAutoFit/>
            </a:bodyPr>
            <a:lstStyle/>
            <a:p>
              <a:pPr algn="ctr">
                <a:defRPr sz="1800" b="0">
                  <a:solidFill>
                    <a:srgbClr val="182B3A"/>
                  </a:solidFill>
                  <a:latin typeface="Arial"/>
                </a:defRPr>
              </a:pPr>
              <a:r>
                <a:t>1</a:t>
              </a:r>
            </a:p>
          </p:txBody>
        </p:sp>
        <p:sp>
          <p:nvSpPr>
            <p:cNvPr id="136" name="TextBox 135"/>
            <p:cNvSpPr txBox="1"/>
            <p:nvPr/>
          </p:nvSpPr>
          <p:spPr>
            <a:xfrm>
              <a:off x="11970837" y="4763932"/>
              <a:ext cx="223845" cy="219181"/>
            </a:xfrm>
            <a:prstGeom prst="rect">
              <a:avLst/>
            </a:prstGeom>
            <a:noFill/>
          </p:spPr>
          <p:txBody>
            <a:bodyPr wrap="none" lIns="0" tIns="0" rIns="0" bIns="0" anchor="ctr">
              <a:spAutoFit/>
            </a:bodyPr>
            <a:lstStyle/>
            <a:p>
              <a:pPr algn="ctr">
                <a:defRPr sz="1800" b="0">
                  <a:solidFill>
                    <a:srgbClr val="182B3A"/>
                  </a:solidFill>
                  <a:latin typeface="Arial"/>
                </a:defRPr>
              </a:pPr>
              <a:r>
                <a:t>8</a:t>
              </a:r>
            </a:p>
          </p:txBody>
        </p:sp>
        <p:sp>
          <p:nvSpPr>
            <p:cNvPr id="137" name="Rectangle 136"/>
            <p:cNvSpPr/>
            <p:nvPr/>
          </p:nvSpPr>
          <p:spPr>
            <a:xfrm>
              <a:off x="12213335" y="4535424"/>
              <a:ext cx="466343" cy="466343"/>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cxnSp>
          <p:nvCxnSpPr>
            <p:cNvPr id="138" name="Connector 137"/>
            <p:cNvCxnSpPr/>
            <p:nvPr/>
          </p:nvCxnSpPr>
          <p:spPr>
            <a:xfrm flipV="1">
              <a:off x="12213335" y="4535424"/>
              <a:ext cx="466344" cy="466344"/>
            </a:xfrm>
            <a:prstGeom prst="line">
              <a:avLst/>
            </a:prstGeom>
            <a:ln w="10160">
              <a:solidFill>
                <a:srgbClr val="8193A0"/>
              </a:solidFill>
            </a:ln>
          </p:spPr>
          <p:style>
            <a:lnRef idx="2">
              <a:schemeClr val="accent1"/>
            </a:lnRef>
            <a:fillRef idx="0">
              <a:schemeClr val="accent1"/>
            </a:fillRef>
            <a:effectRef idx="1">
              <a:schemeClr val="accent1"/>
            </a:effectRef>
            <a:fontRef idx="minor">
              <a:schemeClr val="tx1"/>
            </a:fontRef>
          </p:style>
        </p:cxnSp>
        <p:sp>
          <p:nvSpPr>
            <p:cNvPr id="139" name="TextBox 138"/>
            <p:cNvSpPr txBox="1"/>
            <p:nvPr/>
          </p:nvSpPr>
          <p:spPr>
            <a:xfrm>
              <a:off x="12231989" y="4544750"/>
              <a:ext cx="223845" cy="219181"/>
            </a:xfrm>
            <a:prstGeom prst="rect">
              <a:avLst/>
            </a:prstGeom>
            <a:noFill/>
          </p:spPr>
          <p:txBody>
            <a:bodyPr wrap="none" lIns="0" tIns="0" rIns="0" bIns="0" anchor="ctr">
              <a:spAutoFit/>
            </a:bodyPr>
            <a:lstStyle/>
            <a:p>
              <a:pPr algn="ctr">
                <a:defRPr sz="1800" b="0">
                  <a:solidFill>
                    <a:srgbClr val="182B3A"/>
                  </a:solidFill>
                  <a:latin typeface="Arial"/>
                </a:defRPr>
              </a:pPr>
              <a:r>
                <a:t>0</a:t>
              </a:r>
            </a:p>
          </p:txBody>
        </p:sp>
        <p:sp>
          <p:nvSpPr>
            <p:cNvPr id="140" name="TextBox 139"/>
            <p:cNvSpPr txBox="1"/>
            <p:nvPr/>
          </p:nvSpPr>
          <p:spPr>
            <a:xfrm>
              <a:off x="12437181" y="4763932"/>
              <a:ext cx="223845" cy="219181"/>
            </a:xfrm>
            <a:prstGeom prst="rect">
              <a:avLst/>
            </a:prstGeom>
            <a:noFill/>
          </p:spPr>
          <p:txBody>
            <a:bodyPr wrap="none" lIns="0" tIns="0" rIns="0" bIns="0" anchor="ctr">
              <a:spAutoFit/>
            </a:bodyPr>
            <a:lstStyle/>
            <a:p>
              <a:pPr algn="ctr">
                <a:defRPr sz="1800" b="0">
                  <a:solidFill>
                    <a:srgbClr val="182B3A"/>
                  </a:solidFill>
                  <a:latin typeface="Arial"/>
                </a:defRPr>
              </a:pPr>
              <a:r>
                <a:t>6</a:t>
              </a:r>
            </a:p>
          </p:txBody>
        </p:sp>
        <p:sp>
          <p:nvSpPr>
            <p:cNvPr id="141" name="Rectangle 140"/>
            <p:cNvSpPr/>
            <p:nvPr/>
          </p:nvSpPr>
          <p:spPr>
            <a:xfrm>
              <a:off x="12679679" y="4535424"/>
              <a:ext cx="466343" cy="466343"/>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cxnSp>
          <p:nvCxnSpPr>
            <p:cNvPr id="142" name="Connector 141"/>
            <p:cNvCxnSpPr/>
            <p:nvPr/>
          </p:nvCxnSpPr>
          <p:spPr>
            <a:xfrm flipV="1">
              <a:off x="12679679" y="4535424"/>
              <a:ext cx="466344" cy="466344"/>
            </a:xfrm>
            <a:prstGeom prst="line">
              <a:avLst/>
            </a:prstGeom>
            <a:ln w="10160">
              <a:solidFill>
                <a:srgbClr val="8193A0"/>
              </a:solidFill>
            </a:ln>
          </p:spPr>
          <p:style>
            <a:lnRef idx="2">
              <a:schemeClr val="accent1"/>
            </a:lnRef>
            <a:fillRef idx="0">
              <a:schemeClr val="accent1"/>
            </a:fillRef>
            <a:effectRef idx="1">
              <a:schemeClr val="accent1"/>
            </a:effectRef>
            <a:fontRef idx="minor">
              <a:schemeClr val="tx1"/>
            </a:fontRef>
          </p:style>
        </p:cxnSp>
        <p:sp>
          <p:nvSpPr>
            <p:cNvPr id="143" name="TextBox 142"/>
            <p:cNvSpPr txBox="1"/>
            <p:nvPr/>
          </p:nvSpPr>
          <p:spPr>
            <a:xfrm>
              <a:off x="12698333" y="4544750"/>
              <a:ext cx="223845" cy="219181"/>
            </a:xfrm>
            <a:prstGeom prst="rect">
              <a:avLst/>
            </a:prstGeom>
            <a:noFill/>
          </p:spPr>
          <p:txBody>
            <a:bodyPr wrap="none" lIns="0" tIns="0" rIns="0" bIns="0" anchor="ctr">
              <a:spAutoFit/>
            </a:bodyPr>
            <a:lstStyle/>
            <a:p>
              <a:pPr algn="ctr">
                <a:defRPr sz="1800" b="0">
                  <a:solidFill>
                    <a:srgbClr val="182B3A"/>
                  </a:solidFill>
                  <a:latin typeface="Arial"/>
                </a:defRPr>
              </a:pPr>
              <a:r>
                <a:t>1</a:t>
              </a:r>
            </a:p>
          </p:txBody>
        </p:sp>
        <p:sp>
          <p:nvSpPr>
            <p:cNvPr id="144" name="TextBox 143"/>
            <p:cNvSpPr txBox="1"/>
            <p:nvPr/>
          </p:nvSpPr>
          <p:spPr>
            <a:xfrm>
              <a:off x="12903525" y="4763932"/>
              <a:ext cx="223845" cy="219181"/>
            </a:xfrm>
            <a:prstGeom prst="rect">
              <a:avLst/>
            </a:prstGeom>
            <a:noFill/>
          </p:spPr>
          <p:txBody>
            <a:bodyPr wrap="none" lIns="0" tIns="0" rIns="0" bIns="0" anchor="ctr">
              <a:spAutoFit/>
            </a:bodyPr>
            <a:lstStyle/>
            <a:p>
              <a:pPr algn="ctr">
                <a:defRPr sz="1800" b="0">
                  <a:solidFill>
                    <a:srgbClr val="182B3A"/>
                  </a:solidFill>
                  <a:latin typeface="Arial"/>
                </a:defRPr>
              </a:pPr>
              <a:r>
                <a:t>2</a:t>
              </a:r>
            </a:p>
          </p:txBody>
        </p:sp>
        <p:cxnSp>
          <p:nvCxnSpPr>
            <p:cNvPr id="145" name="Connector 144"/>
            <p:cNvCxnSpPr/>
            <p:nvPr/>
          </p:nvCxnSpPr>
          <p:spPr>
            <a:xfrm>
              <a:off x="11280648" y="3602736"/>
              <a:ext cx="0" cy="1399032"/>
            </a:xfrm>
            <a:prstGeom prst="line">
              <a:avLst/>
            </a:prstGeom>
            <a:ln w="11430">
              <a:solidFill>
                <a:srgbClr val="182B3A"/>
              </a:solidFill>
            </a:ln>
          </p:spPr>
          <p:style>
            <a:lnRef idx="2">
              <a:schemeClr val="accent1"/>
            </a:lnRef>
            <a:fillRef idx="0">
              <a:schemeClr val="accent1"/>
            </a:fillRef>
            <a:effectRef idx="1">
              <a:schemeClr val="accent1"/>
            </a:effectRef>
            <a:fontRef idx="minor">
              <a:schemeClr val="tx1"/>
            </a:fontRef>
          </p:style>
        </p:cxnSp>
        <p:cxnSp>
          <p:nvCxnSpPr>
            <p:cNvPr id="146" name="Connector 145"/>
            <p:cNvCxnSpPr/>
            <p:nvPr/>
          </p:nvCxnSpPr>
          <p:spPr>
            <a:xfrm>
              <a:off x="11746992" y="3602736"/>
              <a:ext cx="0" cy="1399032"/>
            </a:xfrm>
            <a:prstGeom prst="line">
              <a:avLst/>
            </a:prstGeom>
            <a:ln w="11430">
              <a:solidFill>
                <a:srgbClr val="182B3A"/>
              </a:solidFill>
            </a:ln>
          </p:spPr>
          <p:style>
            <a:lnRef idx="2">
              <a:schemeClr val="accent1"/>
            </a:lnRef>
            <a:fillRef idx="0">
              <a:schemeClr val="accent1"/>
            </a:fillRef>
            <a:effectRef idx="1">
              <a:schemeClr val="accent1"/>
            </a:effectRef>
            <a:fontRef idx="minor">
              <a:schemeClr val="tx1"/>
            </a:fontRef>
          </p:style>
        </p:cxnSp>
        <p:cxnSp>
          <p:nvCxnSpPr>
            <p:cNvPr id="147" name="Connector 146"/>
            <p:cNvCxnSpPr/>
            <p:nvPr/>
          </p:nvCxnSpPr>
          <p:spPr>
            <a:xfrm>
              <a:off x="12213335" y="3602736"/>
              <a:ext cx="0" cy="1399032"/>
            </a:xfrm>
            <a:prstGeom prst="line">
              <a:avLst/>
            </a:prstGeom>
            <a:ln w="11430">
              <a:solidFill>
                <a:srgbClr val="182B3A"/>
              </a:solidFill>
            </a:ln>
          </p:spPr>
          <p:style>
            <a:lnRef idx="2">
              <a:schemeClr val="accent1"/>
            </a:lnRef>
            <a:fillRef idx="0">
              <a:schemeClr val="accent1"/>
            </a:fillRef>
            <a:effectRef idx="1">
              <a:schemeClr val="accent1"/>
            </a:effectRef>
            <a:fontRef idx="minor">
              <a:schemeClr val="tx1"/>
            </a:fontRef>
          </p:style>
        </p:cxnSp>
        <p:cxnSp>
          <p:nvCxnSpPr>
            <p:cNvPr id="148" name="Connector 147"/>
            <p:cNvCxnSpPr/>
            <p:nvPr/>
          </p:nvCxnSpPr>
          <p:spPr>
            <a:xfrm>
              <a:off x="12679679" y="3602736"/>
              <a:ext cx="0" cy="1399032"/>
            </a:xfrm>
            <a:prstGeom prst="line">
              <a:avLst/>
            </a:prstGeom>
            <a:ln w="11430">
              <a:solidFill>
                <a:srgbClr val="182B3A"/>
              </a:solidFill>
            </a:ln>
          </p:spPr>
          <p:style>
            <a:lnRef idx="2">
              <a:schemeClr val="accent1"/>
            </a:lnRef>
            <a:fillRef idx="0">
              <a:schemeClr val="accent1"/>
            </a:fillRef>
            <a:effectRef idx="1">
              <a:schemeClr val="accent1"/>
            </a:effectRef>
            <a:fontRef idx="minor">
              <a:schemeClr val="tx1"/>
            </a:fontRef>
          </p:style>
        </p:cxnSp>
        <p:cxnSp>
          <p:nvCxnSpPr>
            <p:cNvPr id="149" name="Connector 148"/>
            <p:cNvCxnSpPr/>
            <p:nvPr/>
          </p:nvCxnSpPr>
          <p:spPr>
            <a:xfrm>
              <a:off x="13146023" y="3602736"/>
              <a:ext cx="0" cy="1399032"/>
            </a:xfrm>
            <a:prstGeom prst="line">
              <a:avLst/>
            </a:prstGeom>
            <a:ln w="11430">
              <a:solidFill>
                <a:srgbClr val="182B3A"/>
              </a:solidFill>
            </a:ln>
          </p:spPr>
          <p:style>
            <a:lnRef idx="2">
              <a:schemeClr val="accent1"/>
            </a:lnRef>
            <a:fillRef idx="0">
              <a:schemeClr val="accent1"/>
            </a:fillRef>
            <a:effectRef idx="1">
              <a:schemeClr val="accent1"/>
            </a:effectRef>
            <a:fontRef idx="minor">
              <a:schemeClr val="tx1"/>
            </a:fontRef>
          </p:style>
        </p:cxnSp>
        <p:cxnSp>
          <p:nvCxnSpPr>
            <p:cNvPr id="150" name="Connector 149"/>
            <p:cNvCxnSpPr/>
            <p:nvPr/>
          </p:nvCxnSpPr>
          <p:spPr>
            <a:xfrm>
              <a:off x="11280648" y="3602736"/>
              <a:ext cx="1865375" cy="0"/>
            </a:xfrm>
            <a:prstGeom prst="line">
              <a:avLst/>
            </a:prstGeom>
            <a:ln w="11430">
              <a:solidFill>
                <a:srgbClr val="182B3A"/>
              </a:solidFill>
            </a:ln>
          </p:spPr>
          <p:style>
            <a:lnRef idx="2">
              <a:schemeClr val="accent1"/>
            </a:lnRef>
            <a:fillRef idx="0">
              <a:schemeClr val="accent1"/>
            </a:fillRef>
            <a:effectRef idx="1">
              <a:schemeClr val="accent1"/>
            </a:effectRef>
            <a:fontRef idx="minor">
              <a:schemeClr val="tx1"/>
            </a:fontRef>
          </p:style>
        </p:cxnSp>
        <p:cxnSp>
          <p:nvCxnSpPr>
            <p:cNvPr id="151" name="Connector 150"/>
            <p:cNvCxnSpPr/>
            <p:nvPr/>
          </p:nvCxnSpPr>
          <p:spPr>
            <a:xfrm>
              <a:off x="11280648" y="4069080"/>
              <a:ext cx="1865375" cy="0"/>
            </a:xfrm>
            <a:prstGeom prst="line">
              <a:avLst/>
            </a:prstGeom>
            <a:ln w="11430">
              <a:solidFill>
                <a:srgbClr val="182B3A"/>
              </a:solidFill>
            </a:ln>
          </p:spPr>
          <p:style>
            <a:lnRef idx="2">
              <a:schemeClr val="accent1"/>
            </a:lnRef>
            <a:fillRef idx="0">
              <a:schemeClr val="accent1"/>
            </a:fillRef>
            <a:effectRef idx="1">
              <a:schemeClr val="accent1"/>
            </a:effectRef>
            <a:fontRef idx="minor">
              <a:schemeClr val="tx1"/>
            </a:fontRef>
          </p:style>
        </p:cxnSp>
        <p:cxnSp>
          <p:nvCxnSpPr>
            <p:cNvPr id="152" name="Connector 151"/>
            <p:cNvCxnSpPr/>
            <p:nvPr/>
          </p:nvCxnSpPr>
          <p:spPr>
            <a:xfrm>
              <a:off x="11280648" y="4535424"/>
              <a:ext cx="1865375" cy="0"/>
            </a:xfrm>
            <a:prstGeom prst="line">
              <a:avLst/>
            </a:prstGeom>
            <a:ln w="11430">
              <a:solidFill>
                <a:srgbClr val="182B3A"/>
              </a:solidFill>
            </a:ln>
          </p:spPr>
          <p:style>
            <a:lnRef idx="2">
              <a:schemeClr val="accent1"/>
            </a:lnRef>
            <a:fillRef idx="0">
              <a:schemeClr val="accent1"/>
            </a:fillRef>
            <a:effectRef idx="1">
              <a:schemeClr val="accent1"/>
            </a:effectRef>
            <a:fontRef idx="minor">
              <a:schemeClr val="tx1"/>
            </a:fontRef>
          </p:style>
        </p:cxnSp>
        <p:cxnSp>
          <p:nvCxnSpPr>
            <p:cNvPr id="153" name="Connector 152"/>
            <p:cNvCxnSpPr/>
            <p:nvPr/>
          </p:nvCxnSpPr>
          <p:spPr>
            <a:xfrm>
              <a:off x="11280648" y="5001768"/>
              <a:ext cx="1865375" cy="0"/>
            </a:xfrm>
            <a:prstGeom prst="line">
              <a:avLst/>
            </a:prstGeom>
            <a:ln w="11430">
              <a:solidFill>
                <a:srgbClr val="182B3A"/>
              </a:solidFill>
            </a:ln>
          </p:spPr>
          <p:style>
            <a:lnRef idx="2">
              <a:schemeClr val="accent1"/>
            </a:lnRef>
            <a:fillRef idx="0">
              <a:schemeClr val="accent1"/>
            </a:fillRef>
            <a:effectRef idx="1">
              <a:schemeClr val="accent1"/>
            </a:effectRef>
            <a:fontRef idx="minor">
              <a:schemeClr val="tx1"/>
            </a:fontRef>
          </p:style>
        </p:cxnSp>
        <p:sp>
          <p:nvSpPr>
            <p:cNvPr id="154" name="TextBox 153"/>
            <p:cNvSpPr txBox="1"/>
            <p:nvPr/>
          </p:nvSpPr>
          <p:spPr>
            <a:xfrm>
              <a:off x="12679679" y="5084064"/>
              <a:ext cx="466343" cy="237744"/>
            </a:xfrm>
            <a:prstGeom prst="rect">
              <a:avLst/>
            </a:prstGeom>
            <a:noFill/>
          </p:spPr>
          <p:txBody>
            <a:bodyPr wrap="none" lIns="0" tIns="0" rIns="0" bIns="0" anchor="ctr">
              <a:spAutoFit/>
            </a:bodyPr>
            <a:lstStyle/>
            <a:p>
              <a:pPr algn="ctr">
                <a:defRPr sz="1900" b="1">
                  <a:solidFill>
                    <a:srgbClr val="754B87"/>
                  </a:solidFill>
                  <a:latin typeface="Arial"/>
                </a:defRPr>
              </a:pPr>
              <a:r>
                <a:t>2</a:t>
              </a:r>
            </a:p>
          </p:txBody>
        </p:sp>
        <p:sp>
          <p:nvSpPr>
            <p:cNvPr id="155" name="TextBox 154"/>
            <p:cNvSpPr txBox="1"/>
            <p:nvPr/>
          </p:nvSpPr>
          <p:spPr>
            <a:xfrm>
              <a:off x="12213335" y="5084064"/>
              <a:ext cx="466343" cy="237744"/>
            </a:xfrm>
            <a:prstGeom prst="rect">
              <a:avLst/>
            </a:prstGeom>
            <a:noFill/>
          </p:spPr>
          <p:txBody>
            <a:bodyPr wrap="none" lIns="0" tIns="0" rIns="0" bIns="0" anchor="ctr">
              <a:spAutoFit/>
            </a:bodyPr>
            <a:lstStyle/>
            <a:p>
              <a:pPr algn="ctr">
                <a:defRPr sz="1900" b="1">
                  <a:solidFill>
                    <a:srgbClr val="754B87"/>
                  </a:solidFill>
                  <a:latin typeface="Arial"/>
                </a:defRPr>
              </a:pPr>
              <a:r>
                <a:t>7</a:t>
              </a:r>
            </a:p>
          </p:txBody>
        </p:sp>
        <p:sp>
          <p:nvSpPr>
            <p:cNvPr id="156" name="TextBox 155"/>
            <p:cNvSpPr txBox="1"/>
            <p:nvPr/>
          </p:nvSpPr>
          <p:spPr>
            <a:xfrm>
              <a:off x="11746992" y="5084064"/>
              <a:ext cx="466343" cy="237744"/>
            </a:xfrm>
            <a:prstGeom prst="rect">
              <a:avLst/>
            </a:prstGeom>
            <a:noFill/>
          </p:spPr>
          <p:txBody>
            <a:bodyPr wrap="none" lIns="0" tIns="0" rIns="0" bIns="0" anchor="ctr">
              <a:spAutoFit/>
            </a:bodyPr>
            <a:lstStyle/>
            <a:p>
              <a:pPr algn="ctr">
                <a:defRPr sz="1900" b="1">
                  <a:solidFill>
                    <a:srgbClr val="754B87"/>
                  </a:solidFill>
                  <a:latin typeface="Arial"/>
                </a:defRPr>
              </a:pPr>
              <a:r>
                <a:t>6</a:t>
              </a:r>
            </a:p>
          </p:txBody>
        </p:sp>
        <p:sp>
          <p:nvSpPr>
            <p:cNvPr id="157" name="TextBox 156"/>
            <p:cNvSpPr txBox="1"/>
            <p:nvPr/>
          </p:nvSpPr>
          <p:spPr>
            <a:xfrm>
              <a:off x="11280648" y="5084064"/>
              <a:ext cx="466343" cy="237744"/>
            </a:xfrm>
            <a:prstGeom prst="rect">
              <a:avLst/>
            </a:prstGeom>
            <a:noFill/>
          </p:spPr>
          <p:txBody>
            <a:bodyPr wrap="none" lIns="0" tIns="0" rIns="0" bIns="0" anchor="ctr">
              <a:spAutoFit/>
            </a:bodyPr>
            <a:lstStyle/>
            <a:p>
              <a:pPr algn="ctr">
                <a:defRPr sz="1900" b="1">
                  <a:solidFill>
                    <a:srgbClr val="754B87"/>
                  </a:solidFill>
                  <a:latin typeface="Arial"/>
                </a:defRPr>
              </a:pPr>
              <a:r>
                <a:t>2</a:t>
              </a:r>
            </a:p>
          </p:txBody>
        </p:sp>
        <p:sp>
          <p:nvSpPr>
            <p:cNvPr id="158" name="TextBox 157"/>
            <p:cNvSpPr txBox="1"/>
            <p:nvPr/>
          </p:nvSpPr>
          <p:spPr>
            <a:xfrm>
              <a:off x="11298935" y="4956048"/>
              <a:ext cx="233171" cy="155448"/>
            </a:xfrm>
            <a:prstGeom prst="rect">
              <a:avLst/>
            </a:prstGeom>
            <a:noFill/>
          </p:spPr>
          <p:txBody>
            <a:bodyPr wrap="none" lIns="0" tIns="0" rIns="0" bIns="0" anchor="ctr">
              <a:spAutoFit/>
            </a:bodyPr>
            <a:lstStyle/>
            <a:p>
              <a:pPr algn="ctr">
                <a:defRPr sz="1000" b="1">
                  <a:solidFill>
                    <a:srgbClr val="B14F00"/>
                  </a:solidFill>
                  <a:latin typeface="Arial"/>
                </a:defRPr>
              </a:pPr>
              <a:r>
                <a:t>+1</a:t>
              </a:r>
            </a:p>
          </p:txBody>
        </p:sp>
        <p:sp>
          <p:nvSpPr>
            <p:cNvPr id="159" name="TextBox 158"/>
            <p:cNvSpPr txBox="1"/>
            <p:nvPr/>
          </p:nvSpPr>
          <p:spPr>
            <a:xfrm>
              <a:off x="10969752" y="4535424"/>
              <a:ext cx="265176" cy="466343"/>
            </a:xfrm>
            <a:prstGeom prst="rect">
              <a:avLst/>
            </a:prstGeom>
            <a:noFill/>
          </p:spPr>
          <p:txBody>
            <a:bodyPr wrap="none" lIns="0" tIns="0" rIns="0" bIns="0" anchor="ctr">
              <a:spAutoFit/>
            </a:bodyPr>
            <a:lstStyle/>
            <a:p>
              <a:pPr algn="ctr">
                <a:defRPr sz="1900" b="1">
                  <a:solidFill>
                    <a:srgbClr val="754B87"/>
                  </a:solidFill>
                  <a:latin typeface="Arial"/>
                </a:defRPr>
              </a:pPr>
              <a:r>
                <a:t>7</a:t>
              </a:r>
            </a:p>
          </p:txBody>
        </p:sp>
        <p:sp>
          <p:nvSpPr>
            <p:cNvPr id="160" name="TextBox 159"/>
            <p:cNvSpPr txBox="1"/>
            <p:nvPr/>
          </p:nvSpPr>
          <p:spPr>
            <a:xfrm>
              <a:off x="10951464" y="4544568"/>
              <a:ext cx="320040" cy="155448"/>
            </a:xfrm>
            <a:prstGeom prst="rect">
              <a:avLst/>
            </a:prstGeom>
            <a:noFill/>
          </p:spPr>
          <p:txBody>
            <a:bodyPr wrap="none" lIns="0" tIns="0" rIns="0" bIns="0" anchor="ctr">
              <a:spAutoFit/>
            </a:bodyPr>
            <a:lstStyle/>
            <a:p>
              <a:pPr algn="ctr">
                <a:defRPr sz="1000" b="1">
                  <a:solidFill>
                    <a:srgbClr val="B14F00"/>
                  </a:solidFill>
                  <a:latin typeface="Arial"/>
                </a:defRPr>
              </a:pPr>
              <a:r>
                <a:t>+1</a:t>
              </a:r>
            </a:p>
          </p:txBody>
        </p:sp>
        <p:sp>
          <p:nvSpPr>
            <p:cNvPr id="161" name="TextBox 160"/>
            <p:cNvSpPr txBox="1"/>
            <p:nvPr/>
          </p:nvSpPr>
          <p:spPr>
            <a:xfrm>
              <a:off x="10969752" y="4069080"/>
              <a:ext cx="265176" cy="466343"/>
            </a:xfrm>
            <a:prstGeom prst="rect">
              <a:avLst/>
            </a:prstGeom>
            <a:noFill/>
          </p:spPr>
          <p:txBody>
            <a:bodyPr wrap="none" lIns="0" tIns="0" rIns="0" bIns="0" anchor="ctr">
              <a:spAutoFit/>
            </a:bodyPr>
            <a:lstStyle/>
            <a:p>
              <a:pPr algn="ctr">
                <a:defRPr sz="1900" b="1">
                  <a:solidFill>
                    <a:srgbClr val="754B87"/>
                  </a:solidFill>
                  <a:latin typeface="Arial"/>
                </a:defRPr>
              </a:pPr>
              <a:r>
                <a:t>6</a:t>
              </a:r>
            </a:p>
          </p:txBody>
        </p:sp>
        <p:sp>
          <p:nvSpPr>
            <p:cNvPr id="162" name="TextBox 161"/>
            <p:cNvSpPr txBox="1"/>
            <p:nvPr/>
          </p:nvSpPr>
          <p:spPr>
            <a:xfrm>
              <a:off x="10969752" y="3602736"/>
              <a:ext cx="265176" cy="466343"/>
            </a:xfrm>
            <a:prstGeom prst="rect">
              <a:avLst/>
            </a:prstGeom>
            <a:noFill/>
          </p:spPr>
          <p:txBody>
            <a:bodyPr wrap="none" lIns="0" tIns="0" rIns="0" bIns="0" anchor="ctr">
              <a:spAutoFit/>
            </a:bodyPr>
            <a:lstStyle/>
            <a:p>
              <a:pPr algn="ctr">
                <a:defRPr sz="1900" b="1">
                  <a:solidFill>
                    <a:srgbClr val="8193A0"/>
                  </a:solidFill>
                  <a:latin typeface="Arial"/>
                </a:defRPr>
              </a:pPr>
              <a:r>
                <a:t>0</a:t>
              </a:r>
            </a:p>
          </p:txBody>
        </p:sp>
      </p:grpSp>
      <p:sp>
        <p:nvSpPr>
          <p:cNvPr id="163" name="Rectangle 162"/>
          <p:cNvSpPr/>
          <p:nvPr/>
        </p:nvSpPr>
        <p:spPr>
          <a:xfrm>
            <a:off x="384048" y="5330952"/>
            <a:ext cx="2103120" cy="1691640"/>
          </a:xfrm>
          <a:prstGeom prst="rect">
            <a:avLst/>
          </a:prstGeom>
          <a:solidFill>
            <a:srgbClr val="E8EDF1"/>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64" name="TextBox 163"/>
          <p:cNvSpPr txBox="1"/>
          <p:nvPr/>
        </p:nvSpPr>
        <p:spPr>
          <a:xfrm>
            <a:off x="448056" y="5422392"/>
            <a:ext cx="1975103" cy="1508760"/>
          </a:xfrm>
          <a:prstGeom prst="rect">
            <a:avLst/>
          </a:prstGeom>
          <a:noFill/>
        </p:spPr>
        <p:txBody>
          <a:bodyPr wrap="square" tIns="36576" bIns="36576" anchor="t">
            <a:spAutoFit/>
          </a:bodyPr>
          <a:lstStyle/>
          <a:p>
            <a:pPr>
              <a:lnSpc>
                <a:spcPts val="1944"/>
              </a:lnSpc>
              <a:spcBef>
                <a:spcPts val="0"/>
              </a:spcBef>
              <a:spcAft>
                <a:spcPts val="0"/>
              </a:spcAft>
              <a:defRPr sz="1800" b="1">
                <a:solidFill>
                  <a:srgbClr val="182B3A"/>
                </a:solidFill>
                <a:latin typeface="Arial"/>
              </a:defRPr>
            </a:pPr>
            <a:r>
              <a:t>3. Sum Diagonals &amp; Track Carries</a:t>
            </a:r>
          </a:p>
        </p:txBody>
      </p:sp>
      <p:sp>
        <p:nvSpPr>
          <p:cNvPr id="165" name="Rectangle 164"/>
          <p:cNvSpPr/>
          <p:nvPr/>
        </p:nvSpPr>
        <p:spPr>
          <a:xfrm>
            <a:off x="2487168" y="5330952"/>
            <a:ext cx="3919727" cy="169164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66" name="TextBox 165"/>
          <p:cNvSpPr txBox="1"/>
          <p:nvPr/>
        </p:nvSpPr>
        <p:spPr>
          <a:xfrm>
            <a:off x="2551175" y="5394960"/>
            <a:ext cx="3791712" cy="1527048"/>
          </a:xfrm>
          <a:prstGeom prst="rect">
            <a:avLst/>
          </a:prstGeom>
          <a:noFill/>
        </p:spPr>
        <p:txBody>
          <a:bodyPr wrap="square" tIns="36576" bIns="36576" anchor="t">
            <a:spAutoFit/>
          </a:bodyPr>
          <a:lstStyle/>
          <a:p>
            <a:pPr>
              <a:lnSpc>
                <a:spcPts val="1620"/>
              </a:lnSpc>
              <a:spcBef>
                <a:spcPts val="0"/>
              </a:spcBef>
              <a:spcAft>
                <a:spcPts val="0"/>
              </a:spcAft>
              <a:defRPr sz="1500" b="0">
                <a:solidFill>
                  <a:srgbClr val="182B3A"/>
                </a:solidFill>
                <a:latin typeface="Arial"/>
              </a:defRPr>
            </a:pPr>
            <a:r>
              <a:t>Start at the bottom right:</a:t>
            </a:r>
          </a:p>
          <a:p>
            <a:pPr>
              <a:lnSpc>
                <a:spcPts val="1620"/>
              </a:lnSpc>
              <a:spcBef>
                <a:spcPts val="0"/>
              </a:spcBef>
              <a:spcAft>
                <a:spcPts val="0"/>
              </a:spcAft>
              <a:defRPr sz="1500" b="0">
                <a:solidFill>
                  <a:srgbClr val="182B3A"/>
                </a:solidFill>
                <a:latin typeface="Arial"/>
              </a:defRPr>
            </a:pPr>
            <a:r>
              <a:t>8 → write 8</a:t>
            </a:r>
          </a:p>
          <a:p>
            <a:pPr>
              <a:lnSpc>
                <a:spcPts val="1620"/>
              </a:lnSpc>
              <a:spcBef>
                <a:spcPts val="0"/>
              </a:spcBef>
              <a:spcAft>
                <a:spcPts val="0"/>
              </a:spcAft>
              <a:defRPr sz="1500" b="0">
                <a:solidFill>
                  <a:srgbClr val="182B3A"/>
                </a:solidFill>
                <a:latin typeface="Arial"/>
              </a:defRPr>
            </a:pPr>
            <a:r>
              <a:t>1 + 4 = 5 → write 5</a:t>
            </a:r>
          </a:p>
          <a:p>
            <a:pPr>
              <a:lnSpc>
                <a:spcPts val="1620"/>
              </a:lnSpc>
              <a:spcBef>
                <a:spcPts val="0"/>
              </a:spcBef>
              <a:spcAft>
                <a:spcPts val="0"/>
              </a:spcAft>
              <a:defRPr sz="1500" b="0">
                <a:solidFill>
                  <a:srgbClr val="182B3A"/>
                </a:solidFill>
                <a:latin typeface="Arial"/>
              </a:defRPr>
            </a:pPr>
            <a:r>
              <a:t>2 → write 2</a:t>
            </a:r>
          </a:p>
        </p:txBody>
      </p:sp>
      <p:sp>
        <p:nvSpPr>
          <p:cNvPr id="167" name="Rectangle 166"/>
          <p:cNvSpPr/>
          <p:nvPr/>
        </p:nvSpPr>
        <p:spPr>
          <a:xfrm>
            <a:off x="6406895" y="5330952"/>
            <a:ext cx="3919727" cy="169164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68" name="TextBox 167"/>
          <p:cNvSpPr txBox="1"/>
          <p:nvPr/>
        </p:nvSpPr>
        <p:spPr>
          <a:xfrm>
            <a:off x="6470904" y="5394960"/>
            <a:ext cx="3791712" cy="1527048"/>
          </a:xfrm>
          <a:prstGeom prst="rect">
            <a:avLst/>
          </a:prstGeom>
          <a:noFill/>
        </p:spPr>
        <p:txBody>
          <a:bodyPr wrap="square" tIns="36576" bIns="36576" anchor="t">
            <a:spAutoFit/>
          </a:bodyPr>
          <a:lstStyle/>
          <a:p>
            <a:pPr>
              <a:lnSpc>
                <a:spcPts val="1620"/>
              </a:lnSpc>
              <a:spcBef>
                <a:spcPts val="0"/>
              </a:spcBef>
              <a:spcAft>
                <a:spcPts val="0"/>
              </a:spcAft>
              <a:defRPr sz="1500" b="0">
                <a:solidFill>
                  <a:srgbClr val="182B3A"/>
                </a:solidFill>
                <a:latin typeface="Arial"/>
              </a:defRPr>
            </a:pPr>
            <a:r>
              <a:t>Start at the bottom right:</a:t>
            </a:r>
          </a:p>
          <a:p>
            <a:pPr>
              <a:lnSpc>
                <a:spcPts val="1620"/>
              </a:lnSpc>
              <a:spcBef>
                <a:spcPts val="0"/>
              </a:spcBef>
              <a:spcAft>
                <a:spcPts val="0"/>
              </a:spcAft>
              <a:defRPr sz="1500" b="0">
                <a:solidFill>
                  <a:srgbClr val="182B3A"/>
                </a:solidFill>
                <a:latin typeface="Arial"/>
              </a:defRPr>
            </a:pPr>
            <a:r>
              <a:t>8 → write 8</a:t>
            </a:r>
          </a:p>
          <a:p>
            <a:pPr>
              <a:lnSpc>
                <a:spcPts val="1620"/>
              </a:lnSpc>
              <a:spcBef>
                <a:spcPts val="0"/>
              </a:spcBef>
              <a:spcAft>
                <a:spcPts val="0"/>
              </a:spcAft>
              <a:defRPr sz="1500" b="0">
                <a:solidFill>
                  <a:srgbClr val="182B3A"/>
                </a:solidFill>
                <a:latin typeface="Arial"/>
              </a:defRPr>
            </a:pPr>
            <a:r>
              <a:t>4 + 0 + 6 = 10 → write 0, carry 1</a:t>
            </a:r>
          </a:p>
          <a:p>
            <a:pPr>
              <a:lnSpc>
                <a:spcPts val="1620"/>
              </a:lnSpc>
              <a:spcBef>
                <a:spcPts val="0"/>
              </a:spcBef>
              <a:spcAft>
                <a:spcPts val="0"/>
              </a:spcAft>
              <a:defRPr sz="1500" b="0">
                <a:solidFill>
                  <a:srgbClr val="182B3A"/>
                </a:solidFill>
                <a:latin typeface="Arial"/>
              </a:defRPr>
            </a:pPr>
            <a:r>
              <a:t>0 + 3 + 0 + 1 = 4 → write 4</a:t>
            </a:r>
          </a:p>
          <a:p>
            <a:pPr>
              <a:lnSpc>
                <a:spcPts val="1620"/>
              </a:lnSpc>
              <a:spcBef>
                <a:spcPts val="0"/>
              </a:spcBef>
              <a:spcAft>
                <a:spcPts val="0"/>
              </a:spcAft>
              <a:defRPr sz="1500" b="0">
                <a:solidFill>
                  <a:srgbClr val="182B3A"/>
                </a:solidFill>
                <a:latin typeface="Arial"/>
              </a:defRPr>
            </a:pPr>
            <a:r>
              <a:t>0 → leading zero</a:t>
            </a:r>
          </a:p>
        </p:txBody>
      </p:sp>
      <p:sp>
        <p:nvSpPr>
          <p:cNvPr id="169" name="Rectangle 168"/>
          <p:cNvSpPr/>
          <p:nvPr/>
        </p:nvSpPr>
        <p:spPr>
          <a:xfrm>
            <a:off x="10326624" y="5330952"/>
            <a:ext cx="3919727" cy="169164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70" name="TextBox 169"/>
          <p:cNvSpPr txBox="1"/>
          <p:nvPr/>
        </p:nvSpPr>
        <p:spPr>
          <a:xfrm>
            <a:off x="10390632" y="5394960"/>
            <a:ext cx="3791712" cy="1527048"/>
          </a:xfrm>
          <a:prstGeom prst="rect">
            <a:avLst/>
          </a:prstGeom>
          <a:noFill/>
        </p:spPr>
        <p:txBody>
          <a:bodyPr wrap="square" tIns="36576" bIns="36576" anchor="t">
            <a:spAutoFit/>
          </a:bodyPr>
          <a:lstStyle/>
          <a:p>
            <a:pPr>
              <a:lnSpc>
                <a:spcPts val="1620"/>
              </a:lnSpc>
              <a:spcBef>
                <a:spcPts val="0"/>
              </a:spcBef>
              <a:spcAft>
                <a:spcPts val="0"/>
              </a:spcAft>
              <a:defRPr sz="1500" b="0">
                <a:solidFill>
                  <a:srgbClr val="182B3A"/>
                </a:solidFill>
                <a:latin typeface="Arial"/>
              </a:defRPr>
            </a:pPr>
            <a:r>
              <a:t>2 → write 2</a:t>
            </a:r>
          </a:p>
          <a:p>
            <a:pPr>
              <a:lnSpc>
                <a:spcPts val="1620"/>
              </a:lnSpc>
              <a:spcBef>
                <a:spcPts val="0"/>
              </a:spcBef>
              <a:spcAft>
                <a:spcPts val="0"/>
              </a:spcAft>
              <a:defRPr sz="1500" b="0">
                <a:solidFill>
                  <a:srgbClr val="182B3A"/>
                </a:solidFill>
                <a:latin typeface="Arial"/>
              </a:defRPr>
            </a:pPr>
            <a:r>
              <a:t>1+0+6 = 7 → write 7</a:t>
            </a:r>
          </a:p>
          <a:p>
            <a:pPr>
              <a:lnSpc>
                <a:spcPts val="1620"/>
              </a:lnSpc>
              <a:spcBef>
                <a:spcPts val="0"/>
              </a:spcBef>
              <a:spcAft>
                <a:spcPts val="0"/>
              </a:spcAft>
              <a:defRPr sz="1500" b="0">
                <a:solidFill>
                  <a:srgbClr val="182B3A"/>
                </a:solidFill>
                <a:latin typeface="Arial"/>
              </a:defRPr>
            </a:pPr>
            <a:r>
              <a:t>1+2+0+5+8 = 16 → 6, carry 1</a:t>
            </a:r>
          </a:p>
          <a:p>
            <a:pPr>
              <a:lnSpc>
                <a:spcPts val="1620"/>
              </a:lnSpc>
              <a:spcBef>
                <a:spcPts val="0"/>
              </a:spcBef>
              <a:spcAft>
                <a:spcPts val="0"/>
              </a:spcAft>
              <a:defRPr sz="1500" b="0">
                <a:solidFill>
                  <a:srgbClr val="182B3A"/>
                </a:solidFill>
                <a:latin typeface="Arial"/>
              </a:defRPr>
            </a:pPr>
            <a:r>
              <a:t>0+0+1+1+5+4+1 = 12 → 2, carry 1</a:t>
            </a:r>
          </a:p>
          <a:p>
            <a:pPr>
              <a:lnSpc>
                <a:spcPts val="1620"/>
              </a:lnSpc>
              <a:spcBef>
                <a:spcPts val="0"/>
              </a:spcBef>
              <a:spcAft>
                <a:spcPts val="0"/>
              </a:spcAft>
              <a:defRPr sz="1500" b="0">
                <a:solidFill>
                  <a:srgbClr val="182B3A"/>
                </a:solidFill>
                <a:latin typeface="Arial"/>
              </a:defRPr>
            </a:pPr>
            <a:r>
              <a:t>0+1+3+2+0+1 = 7 → write 7</a:t>
            </a:r>
          </a:p>
          <a:p>
            <a:pPr>
              <a:lnSpc>
                <a:spcPts val="1620"/>
              </a:lnSpc>
              <a:spcBef>
                <a:spcPts val="0"/>
              </a:spcBef>
              <a:spcAft>
                <a:spcPts val="0"/>
              </a:spcAft>
              <a:defRPr sz="1500" b="0">
                <a:solidFill>
                  <a:srgbClr val="182B3A"/>
                </a:solidFill>
                <a:latin typeface="Arial"/>
              </a:defRPr>
            </a:pPr>
            <a:r>
              <a:t>0+2+4 = 6 → write 6</a:t>
            </a:r>
          </a:p>
          <a:p>
            <a:pPr>
              <a:lnSpc>
                <a:spcPts val="1620"/>
              </a:lnSpc>
              <a:spcBef>
                <a:spcPts val="0"/>
              </a:spcBef>
              <a:spcAft>
                <a:spcPts val="0"/>
              </a:spcAft>
              <a:defRPr sz="1500" b="0">
                <a:solidFill>
                  <a:srgbClr val="182B3A"/>
                </a:solidFill>
                <a:latin typeface="Arial"/>
              </a:defRPr>
            </a:pPr>
            <a:r>
              <a:t>0 → leading zero</a:t>
            </a:r>
          </a:p>
        </p:txBody>
      </p:sp>
      <p:sp>
        <p:nvSpPr>
          <p:cNvPr id="171" name="Rectangle 170"/>
          <p:cNvSpPr/>
          <p:nvPr/>
        </p:nvSpPr>
        <p:spPr>
          <a:xfrm>
            <a:off x="384048" y="7022592"/>
            <a:ext cx="2103120" cy="731520"/>
          </a:xfrm>
          <a:prstGeom prst="rect">
            <a:avLst/>
          </a:prstGeom>
          <a:solidFill>
            <a:srgbClr val="E8EDF1"/>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72" name="TextBox 171"/>
          <p:cNvSpPr txBox="1"/>
          <p:nvPr/>
        </p:nvSpPr>
        <p:spPr>
          <a:xfrm>
            <a:off x="448056" y="7114031"/>
            <a:ext cx="1975103" cy="548640"/>
          </a:xfrm>
          <a:prstGeom prst="rect">
            <a:avLst/>
          </a:prstGeom>
          <a:noFill/>
        </p:spPr>
        <p:txBody>
          <a:bodyPr wrap="square" tIns="36576" bIns="36576" anchor="t">
            <a:spAutoFit/>
          </a:bodyPr>
          <a:lstStyle/>
          <a:p>
            <a:pPr>
              <a:lnSpc>
                <a:spcPts val="1944"/>
              </a:lnSpc>
              <a:spcBef>
                <a:spcPts val="0"/>
              </a:spcBef>
              <a:spcAft>
                <a:spcPts val="0"/>
              </a:spcAft>
              <a:defRPr sz="1800" b="1">
                <a:solidFill>
                  <a:srgbClr val="182B3A"/>
                </a:solidFill>
                <a:latin typeface="Arial"/>
              </a:defRPr>
            </a:pPr>
            <a:r>
              <a:t>4. Write Final Answer</a:t>
            </a:r>
          </a:p>
        </p:txBody>
      </p:sp>
      <p:sp>
        <p:nvSpPr>
          <p:cNvPr id="173" name="Rectangle 172"/>
          <p:cNvSpPr/>
          <p:nvPr/>
        </p:nvSpPr>
        <p:spPr>
          <a:xfrm>
            <a:off x="2487168" y="7022592"/>
            <a:ext cx="3919727" cy="73152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74" name="TextBox 173"/>
          <p:cNvSpPr txBox="1"/>
          <p:nvPr/>
        </p:nvSpPr>
        <p:spPr>
          <a:xfrm>
            <a:off x="2551175" y="7086600"/>
            <a:ext cx="3791712" cy="566928"/>
          </a:xfrm>
          <a:prstGeom prst="rect">
            <a:avLst/>
          </a:prstGeom>
          <a:noFill/>
        </p:spPr>
        <p:txBody>
          <a:bodyPr wrap="square" tIns="36576" bIns="36576" anchor="t">
            <a:spAutoFit/>
          </a:bodyPr>
          <a:lstStyle/>
          <a:p>
            <a:pPr>
              <a:lnSpc>
                <a:spcPts val="2268"/>
              </a:lnSpc>
              <a:spcBef>
                <a:spcPts val="0"/>
              </a:spcBef>
              <a:spcAft>
                <a:spcPts val="0"/>
              </a:spcAft>
              <a:defRPr sz="2100" b="0">
                <a:solidFill>
                  <a:srgbClr val="182B3A"/>
                </a:solidFill>
                <a:latin typeface="Arial"/>
              </a:defRPr>
            </a:pPr>
            <a:r>
              <a:t>43 × 6 = 258</a:t>
            </a:r>
          </a:p>
        </p:txBody>
      </p:sp>
      <p:sp>
        <p:nvSpPr>
          <p:cNvPr id="175" name="Rectangle 174"/>
          <p:cNvSpPr/>
          <p:nvPr/>
        </p:nvSpPr>
        <p:spPr>
          <a:xfrm>
            <a:off x="6406895" y="7022592"/>
            <a:ext cx="3919727" cy="73152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76" name="TextBox 175"/>
          <p:cNvSpPr txBox="1"/>
          <p:nvPr/>
        </p:nvSpPr>
        <p:spPr>
          <a:xfrm>
            <a:off x="6470904" y="7086600"/>
            <a:ext cx="3791712" cy="566928"/>
          </a:xfrm>
          <a:prstGeom prst="rect">
            <a:avLst/>
          </a:prstGeom>
          <a:noFill/>
        </p:spPr>
        <p:txBody>
          <a:bodyPr wrap="square" tIns="36576" bIns="36576" anchor="t">
            <a:spAutoFit/>
          </a:bodyPr>
          <a:lstStyle/>
          <a:p>
            <a:pPr>
              <a:lnSpc>
                <a:spcPts val="2268"/>
              </a:lnSpc>
              <a:spcBef>
                <a:spcPts val="0"/>
              </a:spcBef>
              <a:spcAft>
                <a:spcPts val="0"/>
              </a:spcAft>
              <a:defRPr sz="2100" b="0">
                <a:solidFill>
                  <a:srgbClr val="182B3A"/>
                </a:solidFill>
                <a:latin typeface="Arial"/>
              </a:defRPr>
            </a:pPr>
            <a:r>
              <a:t>34 × 12 = 408</a:t>
            </a:r>
          </a:p>
        </p:txBody>
      </p:sp>
      <p:sp>
        <p:nvSpPr>
          <p:cNvPr id="177" name="Rectangle 176"/>
          <p:cNvSpPr/>
          <p:nvPr/>
        </p:nvSpPr>
        <p:spPr>
          <a:xfrm>
            <a:off x="10326624" y="7022592"/>
            <a:ext cx="3919727" cy="73152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78" name="TextBox 177"/>
          <p:cNvSpPr txBox="1"/>
          <p:nvPr/>
        </p:nvSpPr>
        <p:spPr>
          <a:xfrm>
            <a:off x="10390632" y="7086600"/>
            <a:ext cx="3791712" cy="566928"/>
          </a:xfrm>
          <a:prstGeom prst="rect">
            <a:avLst/>
          </a:prstGeom>
          <a:noFill/>
        </p:spPr>
        <p:txBody>
          <a:bodyPr wrap="square" tIns="36576" bIns="36576" anchor="t">
            <a:spAutoFit/>
          </a:bodyPr>
          <a:lstStyle/>
          <a:p>
            <a:pPr>
              <a:lnSpc>
                <a:spcPts val="2268"/>
              </a:lnSpc>
              <a:spcBef>
                <a:spcPts val="0"/>
              </a:spcBef>
              <a:spcAft>
                <a:spcPts val="0"/>
              </a:spcAft>
              <a:defRPr sz="2100" b="0">
                <a:solidFill>
                  <a:srgbClr val="182B3A"/>
                </a:solidFill>
                <a:latin typeface="Arial"/>
              </a:defRPr>
            </a:pPr>
            <a:r>
              <a:t>4,312 × 156 = 672,672</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7F8FA"/>
        </a:solidFill>
        <a:effectLst/>
      </p:bgPr>
    </p:bg>
    <p:spTree>
      <p:nvGrpSpPr>
        <p:cNvPr id="1" name=""/>
        <p:cNvGrpSpPr/>
        <p:nvPr/>
      </p:nvGrpSpPr>
      <p:grpSpPr/>
      <p:sp>
        <p:nvSpPr>
          <p:cNvPr id="2" name="Rectangle 1"/>
          <p:cNvSpPr/>
          <p:nvPr/>
        </p:nvSpPr>
        <p:spPr>
          <a:xfrm>
            <a:off x="0" y="0"/>
            <a:ext cx="14630400" cy="91440"/>
          </a:xfrm>
          <a:prstGeom prst="rect">
            <a:avLst/>
          </a:prstGeom>
          <a:solidFill>
            <a:srgbClr val="176B73"/>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 name="TextBox 2"/>
          <p:cNvSpPr txBox="1"/>
          <p:nvPr/>
        </p:nvSpPr>
        <p:spPr>
          <a:xfrm>
            <a:off x="384048" y="219456"/>
            <a:ext cx="13807440" cy="457200"/>
          </a:xfrm>
          <a:prstGeom prst="rect">
            <a:avLst/>
          </a:prstGeom>
          <a:noFill/>
        </p:spPr>
        <p:txBody>
          <a:bodyPr wrap="square" tIns="36576" bIns="36576" anchor="t">
            <a:spAutoFit/>
          </a:bodyPr>
          <a:lstStyle/>
          <a:p>
            <a:pPr>
              <a:lnSpc>
                <a:spcPts val="3132"/>
              </a:lnSpc>
              <a:spcBef>
                <a:spcPts val="0"/>
              </a:spcBef>
              <a:spcAft>
                <a:spcPts val="0"/>
              </a:spcAft>
              <a:defRPr sz="2900" b="1">
                <a:solidFill>
                  <a:srgbClr val="182B3A"/>
                </a:solidFill>
                <a:latin typeface="Arial"/>
              </a:defRPr>
            </a:pPr>
            <a:r>
              <a:t>Lattice multiplication — empty grids to copy</a:t>
            </a:r>
          </a:p>
        </p:txBody>
      </p:sp>
      <p:sp>
        <p:nvSpPr>
          <p:cNvPr id="4" name="TextBox 3"/>
          <p:cNvSpPr txBox="1"/>
          <p:nvPr/>
        </p:nvSpPr>
        <p:spPr>
          <a:xfrm>
            <a:off x="384048" y="740664"/>
            <a:ext cx="13807440" cy="411480"/>
          </a:xfrm>
          <a:prstGeom prst="rect">
            <a:avLst/>
          </a:prstGeom>
          <a:noFill/>
        </p:spPr>
        <p:txBody>
          <a:bodyPr wrap="square" tIns="36576" bIns="36576" anchor="t">
            <a:spAutoFit/>
          </a:bodyPr>
          <a:lstStyle/>
          <a:p>
            <a:pPr>
              <a:lnSpc>
                <a:spcPts val="1836"/>
              </a:lnSpc>
              <a:spcBef>
                <a:spcPts val="0"/>
              </a:spcBef>
              <a:spcAft>
                <a:spcPts val="0"/>
              </a:spcAft>
              <a:defRPr sz="1700" b="0">
                <a:solidFill>
                  <a:srgbClr val="526472"/>
                </a:solidFill>
                <a:latin typeface="Arial"/>
              </a:defRPr>
            </a:pPr>
            <a:r>
              <a:t>Size means columns × rows. Put the first number across the top and the second down the right.</a:t>
            </a:r>
          </a:p>
        </p:txBody>
      </p:sp>
      <p:sp>
        <p:nvSpPr>
          <p:cNvPr id="5" name="TextBox 4"/>
          <p:cNvSpPr txBox="1"/>
          <p:nvPr/>
        </p:nvSpPr>
        <p:spPr>
          <a:xfrm>
            <a:off x="384048" y="7863840"/>
            <a:ext cx="13716000" cy="256032"/>
          </a:xfrm>
          <a:prstGeom prst="rect">
            <a:avLst/>
          </a:prstGeom>
          <a:noFill/>
        </p:spPr>
        <p:txBody>
          <a:bodyPr wrap="square" tIns="36576" bIns="36576" anchor="t">
            <a:spAutoFit/>
          </a:bodyPr>
          <a:lstStyle/>
          <a:p>
            <a:pPr>
              <a:lnSpc>
                <a:spcPts val="1188"/>
              </a:lnSpc>
              <a:spcBef>
                <a:spcPts val="0"/>
              </a:spcBef>
              <a:spcAft>
                <a:spcPts val="0"/>
              </a:spcAft>
              <a:defRPr sz="1100" b="0">
                <a:solidFill>
                  <a:srgbClr val="526472"/>
                </a:solidFill>
                <a:latin typeface="Arial"/>
              </a:defRPr>
            </a:pPr>
            <a:r>
              <a:t>M01-TEMPLATES  •  Record your working in your booklet or webapp.</a:t>
            </a:r>
          </a:p>
        </p:txBody>
      </p:sp>
      <p:sp>
        <p:nvSpPr>
          <p:cNvPr id="6" name="TextBox 5"/>
          <p:cNvSpPr txBox="1"/>
          <p:nvPr/>
        </p:nvSpPr>
        <p:spPr>
          <a:xfrm>
            <a:off x="1143000" y="1463040"/>
            <a:ext cx="2743200" cy="365760"/>
          </a:xfrm>
          <a:prstGeom prst="rect">
            <a:avLst/>
          </a:prstGeom>
          <a:noFill/>
        </p:spPr>
        <p:txBody>
          <a:bodyPr wrap="square" tIns="36576" bIns="36576" anchor="t">
            <a:spAutoFit/>
          </a:bodyPr>
          <a:lstStyle/>
          <a:p>
            <a:pPr>
              <a:lnSpc>
                <a:spcPts val="2484"/>
              </a:lnSpc>
              <a:spcBef>
                <a:spcPts val="0"/>
              </a:spcBef>
              <a:spcAft>
                <a:spcPts val="0"/>
              </a:spcAft>
              <a:defRPr sz="2300" b="1">
                <a:solidFill>
                  <a:srgbClr val="182B3A"/>
                </a:solidFill>
                <a:latin typeface="Arial"/>
              </a:defRPr>
            </a:pPr>
            <a:r>
              <a:t>2 × 2 grid</a:t>
            </a:r>
          </a:p>
        </p:txBody>
      </p:sp>
      <p:grpSp>
        <p:nvGrpSpPr>
          <p:cNvPr id="7" name="Empty 2 by 2 lattice template"/>
          <p:cNvGrpSpPr/>
          <p:nvPr/>
        </p:nvGrpSpPr>
        <p:grpSpPr>
          <a:xfrm>
            <a:off x="1371600" y="2011680"/>
            <a:ext cx="1060704" cy="1060704"/>
            <a:chOff x="1371600" y="2011680"/>
            <a:chExt cx="1060704" cy="1060704"/>
          </a:xfrm>
        </p:grpSpPr>
        <p:cxnSp>
          <p:nvCxnSpPr>
            <p:cNvPr id="8" name="Connector 7"/>
            <p:cNvCxnSpPr/>
            <p:nvPr/>
          </p:nvCxnSpPr>
          <p:spPr>
            <a:xfrm>
              <a:off x="1371600" y="2011680"/>
              <a:ext cx="0" cy="1060704"/>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cxnSp>
          <p:nvCxnSpPr>
            <p:cNvPr id="9" name="Connector 8"/>
            <p:cNvCxnSpPr/>
            <p:nvPr/>
          </p:nvCxnSpPr>
          <p:spPr>
            <a:xfrm>
              <a:off x="1901952" y="2011680"/>
              <a:ext cx="0" cy="1060704"/>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cxnSp>
          <p:nvCxnSpPr>
            <p:cNvPr id="10" name="Connector 9"/>
            <p:cNvCxnSpPr/>
            <p:nvPr/>
          </p:nvCxnSpPr>
          <p:spPr>
            <a:xfrm>
              <a:off x="2432304" y="2011680"/>
              <a:ext cx="0" cy="1060704"/>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cxnSp>
          <p:nvCxnSpPr>
            <p:cNvPr id="11" name="Connector 10"/>
            <p:cNvCxnSpPr/>
            <p:nvPr/>
          </p:nvCxnSpPr>
          <p:spPr>
            <a:xfrm>
              <a:off x="1371600" y="2011680"/>
              <a:ext cx="1060704" cy="0"/>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cxnSp>
          <p:nvCxnSpPr>
            <p:cNvPr id="12" name="Connector 11"/>
            <p:cNvCxnSpPr/>
            <p:nvPr/>
          </p:nvCxnSpPr>
          <p:spPr>
            <a:xfrm>
              <a:off x="1371600" y="2542032"/>
              <a:ext cx="1060704" cy="0"/>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cxnSp>
          <p:nvCxnSpPr>
            <p:cNvPr id="13" name="Connector 12"/>
            <p:cNvCxnSpPr/>
            <p:nvPr/>
          </p:nvCxnSpPr>
          <p:spPr>
            <a:xfrm>
              <a:off x="1371600" y="3072384"/>
              <a:ext cx="1060704" cy="0"/>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cxnSp>
          <p:nvCxnSpPr>
            <p:cNvPr id="14" name="Connector 13"/>
            <p:cNvCxnSpPr/>
            <p:nvPr/>
          </p:nvCxnSpPr>
          <p:spPr>
            <a:xfrm flipV="1">
              <a:off x="1371600" y="2011680"/>
              <a:ext cx="530352" cy="530352"/>
            </a:xfrm>
            <a:prstGeom prst="line">
              <a:avLst/>
            </a:prstGeom>
            <a:ln w="11430">
              <a:solidFill>
                <a:srgbClr val="8193A0"/>
              </a:solidFill>
            </a:ln>
          </p:spPr>
          <p:style>
            <a:lnRef idx="2">
              <a:schemeClr val="accent1"/>
            </a:lnRef>
            <a:fillRef idx="0">
              <a:schemeClr val="accent1"/>
            </a:fillRef>
            <a:effectRef idx="1">
              <a:schemeClr val="accent1"/>
            </a:effectRef>
            <a:fontRef idx="minor">
              <a:schemeClr val="tx1"/>
            </a:fontRef>
          </p:style>
        </p:cxnSp>
        <p:cxnSp>
          <p:nvCxnSpPr>
            <p:cNvPr id="15" name="Connector 14"/>
            <p:cNvCxnSpPr/>
            <p:nvPr/>
          </p:nvCxnSpPr>
          <p:spPr>
            <a:xfrm flipV="1">
              <a:off x="1901952" y="2011680"/>
              <a:ext cx="530352" cy="530352"/>
            </a:xfrm>
            <a:prstGeom prst="line">
              <a:avLst/>
            </a:prstGeom>
            <a:ln w="11430">
              <a:solidFill>
                <a:srgbClr val="8193A0"/>
              </a:solidFill>
            </a:ln>
          </p:spPr>
          <p:style>
            <a:lnRef idx="2">
              <a:schemeClr val="accent1"/>
            </a:lnRef>
            <a:fillRef idx="0">
              <a:schemeClr val="accent1"/>
            </a:fillRef>
            <a:effectRef idx="1">
              <a:schemeClr val="accent1"/>
            </a:effectRef>
            <a:fontRef idx="minor">
              <a:schemeClr val="tx1"/>
            </a:fontRef>
          </p:style>
        </p:cxnSp>
        <p:cxnSp>
          <p:nvCxnSpPr>
            <p:cNvPr id="16" name="Connector 15"/>
            <p:cNvCxnSpPr/>
            <p:nvPr/>
          </p:nvCxnSpPr>
          <p:spPr>
            <a:xfrm flipV="1">
              <a:off x="1371600" y="2542032"/>
              <a:ext cx="530352" cy="530352"/>
            </a:xfrm>
            <a:prstGeom prst="line">
              <a:avLst/>
            </a:prstGeom>
            <a:ln w="11430">
              <a:solidFill>
                <a:srgbClr val="8193A0"/>
              </a:solidFill>
            </a:ln>
          </p:spPr>
          <p:style>
            <a:lnRef idx="2">
              <a:schemeClr val="accent1"/>
            </a:lnRef>
            <a:fillRef idx="0">
              <a:schemeClr val="accent1"/>
            </a:fillRef>
            <a:effectRef idx="1">
              <a:schemeClr val="accent1"/>
            </a:effectRef>
            <a:fontRef idx="minor">
              <a:schemeClr val="tx1"/>
            </a:fontRef>
          </p:style>
        </p:cxnSp>
        <p:cxnSp>
          <p:nvCxnSpPr>
            <p:cNvPr id="17" name="Connector 16"/>
            <p:cNvCxnSpPr/>
            <p:nvPr/>
          </p:nvCxnSpPr>
          <p:spPr>
            <a:xfrm flipV="1">
              <a:off x="1901952" y="2542032"/>
              <a:ext cx="530352" cy="530352"/>
            </a:xfrm>
            <a:prstGeom prst="line">
              <a:avLst/>
            </a:prstGeom>
            <a:ln w="11430">
              <a:solidFill>
                <a:srgbClr val="8193A0"/>
              </a:solidFill>
            </a:ln>
          </p:spPr>
          <p:style>
            <a:lnRef idx="2">
              <a:schemeClr val="accent1"/>
            </a:lnRef>
            <a:fillRef idx="0">
              <a:schemeClr val="accent1"/>
            </a:fillRef>
            <a:effectRef idx="1">
              <a:schemeClr val="accent1"/>
            </a:effectRef>
            <a:fontRef idx="minor">
              <a:schemeClr val="tx1"/>
            </a:fontRef>
          </p:style>
        </p:cxnSp>
      </p:grpSp>
      <p:sp>
        <p:nvSpPr>
          <p:cNvPr id="18" name="TextBox 17"/>
          <p:cNvSpPr txBox="1"/>
          <p:nvPr/>
        </p:nvSpPr>
        <p:spPr>
          <a:xfrm>
            <a:off x="5669280" y="1463040"/>
            <a:ext cx="2743200" cy="365760"/>
          </a:xfrm>
          <a:prstGeom prst="rect">
            <a:avLst/>
          </a:prstGeom>
          <a:noFill/>
        </p:spPr>
        <p:txBody>
          <a:bodyPr wrap="square" tIns="36576" bIns="36576" anchor="t">
            <a:spAutoFit/>
          </a:bodyPr>
          <a:lstStyle/>
          <a:p>
            <a:pPr>
              <a:lnSpc>
                <a:spcPts val="2484"/>
              </a:lnSpc>
              <a:spcBef>
                <a:spcPts val="0"/>
              </a:spcBef>
              <a:spcAft>
                <a:spcPts val="0"/>
              </a:spcAft>
              <a:defRPr sz="2300" b="1">
                <a:solidFill>
                  <a:srgbClr val="182B3A"/>
                </a:solidFill>
                <a:latin typeface="Arial"/>
              </a:defRPr>
            </a:pPr>
            <a:r>
              <a:t>3 × 2 grid</a:t>
            </a:r>
          </a:p>
        </p:txBody>
      </p:sp>
      <p:grpSp>
        <p:nvGrpSpPr>
          <p:cNvPr id="19" name="Empty 3 by 2 lattice template"/>
          <p:cNvGrpSpPr/>
          <p:nvPr/>
        </p:nvGrpSpPr>
        <p:grpSpPr>
          <a:xfrm>
            <a:off x="5897880" y="2011680"/>
            <a:ext cx="1591056" cy="1060704"/>
            <a:chOff x="5897880" y="2011680"/>
            <a:chExt cx="1591056" cy="1060704"/>
          </a:xfrm>
        </p:grpSpPr>
        <p:cxnSp>
          <p:nvCxnSpPr>
            <p:cNvPr id="20" name="Connector 19"/>
            <p:cNvCxnSpPr/>
            <p:nvPr/>
          </p:nvCxnSpPr>
          <p:spPr>
            <a:xfrm>
              <a:off x="5897880" y="2011680"/>
              <a:ext cx="0" cy="1060704"/>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cxnSp>
          <p:nvCxnSpPr>
            <p:cNvPr id="21" name="Connector 20"/>
            <p:cNvCxnSpPr/>
            <p:nvPr/>
          </p:nvCxnSpPr>
          <p:spPr>
            <a:xfrm>
              <a:off x="6428232" y="2011680"/>
              <a:ext cx="0" cy="1060704"/>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cxnSp>
          <p:nvCxnSpPr>
            <p:cNvPr id="22" name="Connector 21"/>
            <p:cNvCxnSpPr/>
            <p:nvPr/>
          </p:nvCxnSpPr>
          <p:spPr>
            <a:xfrm>
              <a:off x="6958584" y="2011680"/>
              <a:ext cx="0" cy="1060704"/>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cxnSp>
          <p:nvCxnSpPr>
            <p:cNvPr id="23" name="Connector 22"/>
            <p:cNvCxnSpPr/>
            <p:nvPr/>
          </p:nvCxnSpPr>
          <p:spPr>
            <a:xfrm>
              <a:off x="7488936" y="2011680"/>
              <a:ext cx="0" cy="1060704"/>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cxnSp>
          <p:nvCxnSpPr>
            <p:cNvPr id="24" name="Connector 23"/>
            <p:cNvCxnSpPr/>
            <p:nvPr/>
          </p:nvCxnSpPr>
          <p:spPr>
            <a:xfrm>
              <a:off x="5897880" y="2011680"/>
              <a:ext cx="1591056" cy="0"/>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cxnSp>
          <p:nvCxnSpPr>
            <p:cNvPr id="25" name="Connector 24"/>
            <p:cNvCxnSpPr/>
            <p:nvPr/>
          </p:nvCxnSpPr>
          <p:spPr>
            <a:xfrm>
              <a:off x="5897880" y="2542032"/>
              <a:ext cx="1591056" cy="0"/>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cxnSp>
          <p:nvCxnSpPr>
            <p:cNvPr id="26" name="Connector 25"/>
            <p:cNvCxnSpPr/>
            <p:nvPr/>
          </p:nvCxnSpPr>
          <p:spPr>
            <a:xfrm>
              <a:off x="5897880" y="3072384"/>
              <a:ext cx="1591056" cy="0"/>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cxnSp>
          <p:nvCxnSpPr>
            <p:cNvPr id="27" name="Connector 26"/>
            <p:cNvCxnSpPr/>
            <p:nvPr/>
          </p:nvCxnSpPr>
          <p:spPr>
            <a:xfrm flipV="1">
              <a:off x="5897880" y="2011680"/>
              <a:ext cx="530352" cy="530352"/>
            </a:xfrm>
            <a:prstGeom prst="line">
              <a:avLst/>
            </a:prstGeom>
            <a:ln w="11430">
              <a:solidFill>
                <a:srgbClr val="8193A0"/>
              </a:solidFill>
            </a:ln>
          </p:spPr>
          <p:style>
            <a:lnRef idx="2">
              <a:schemeClr val="accent1"/>
            </a:lnRef>
            <a:fillRef idx="0">
              <a:schemeClr val="accent1"/>
            </a:fillRef>
            <a:effectRef idx="1">
              <a:schemeClr val="accent1"/>
            </a:effectRef>
            <a:fontRef idx="minor">
              <a:schemeClr val="tx1"/>
            </a:fontRef>
          </p:style>
        </p:cxnSp>
        <p:cxnSp>
          <p:nvCxnSpPr>
            <p:cNvPr id="28" name="Connector 27"/>
            <p:cNvCxnSpPr/>
            <p:nvPr/>
          </p:nvCxnSpPr>
          <p:spPr>
            <a:xfrm flipV="1">
              <a:off x="6428232" y="2011680"/>
              <a:ext cx="530352" cy="530352"/>
            </a:xfrm>
            <a:prstGeom prst="line">
              <a:avLst/>
            </a:prstGeom>
            <a:ln w="11430">
              <a:solidFill>
                <a:srgbClr val="8193A0"/>
              </a:solidFill>
            </a:ln>
          </p:spPr>
          <p:style>
            <a:lnRef idx="2">
              <a:schemeClr val="accent1"/>
            </a:lnRef>
            <a:fillRef idx="0">
              <a:schemeClr val="accent1"/>
            </a:fillRef>
            <a:effectRef idx="1">
              <a:schemeClr val="accent1"/>
            </a:effectRef>
            <a:fontRef idx="minor">
              <a:schemeClr val="tx1"/>
            </a:fontRef>
          </p:style>
        </p:cxnSp>
        <p:cxnSp>
          <p:nvCxnSpPr>
            <p:cNvPr id="29" name="Connector 28"/>
            <p:cNvCxnSpPr/>
            <p:nvPr/>
          </p:nvCxnSpPr>
          <p:spPr>
            <a:xfrm flipV="1">
              <a:off x="6958584" y="2011680"/>
              <a:ext cx="530352" cy="530352"/>
            </a:xfrm>
            <a:prstGeom prst="line">
              <a:avLst/>
            </a:prstGeom>
            <a:ln w="11430">
              <a:solidFill>
                <a:srgbClr val="8193A0"/>
              </a:solidFill>
            </a:ln>
          </p:spPr>
          <p:style>
            <a:lnRef idx="2">
              <a:schemeClr val="accent1"/>
            </a:lnRef>
            <a:fillRef idx="0">
              <a:schemeClr val="accent1"/>
            </a:fillRef>
            <a:effectRef idx="1">
              <a:schemeClr val="accent1"/>
            </a:effectRef>
            <a:fontRef idx="minor">
              <a:schemeClr val="tx1"/>
            </a:fontRef>
          </p:style>
        </p:cxnSp>
        <p:cxnSp>
          <p:nvCxnSpPr>
            <p:cNvPr id="30" name="Connector 29"/>
            <p:cNvCxnSpPr/>
            <p:nvPr/>
          </p:nvCxnSpPr>
          <p:spPr>
            <a:xfrm flipV="1">
              <a:off x="5897880" y="2542032"/>
              <a:ext cx="530352" cy="530352"/>
            </a:xfrm>
            <a:prstGeom prst="line">
              <a:avLst/>
            </a:prstGeom>
            <a:ln w="11430">
              <a:solidFill>
                <a:srgbClr val="8193A0"/>
              </a:solidFill>
            </a:ln>
          </p:spPr>
          <p:style>
            <a:lnRef idx="2">
              <a:schemeClr val="accent1"/>
            </a:lnRef>
            <a:fillRef idx="0">
              <a:schemeClr val="accent1"/>
            </a:fillRef>
            <a:effectRef idx="1">
              <a:schemeClr val="accent1"/>
            </a:effectRef>
            <a:fontRef idx="minor">
              <a:schemeClr val="tx1"/>
            </a:fontRef>
          </p:style>
        </p:cxnSp>
        <p:cxnSp>
          <p:nvCxnSpPr>
            <p:cNvPr id="31" name="Connector 30"/>
            <p:cNvCxnSpPr/>
            <p:nvPr/>
          </p:nvCxnSpPr>
          <p:spPr>
            <a:xfrm flipV="1">
              <a:off x="6428232" y="2542032"/>
              <a:ext cx="530352" cy="530352"/>
            </a:xfrm>
            <a:prstGeom prst="line">
              <a:avLst/>
            </a:prstGeom>
            <a:ln w="11430">
              <a:solidFill>
                <a:srgbClr val="8193A0"/>
              </a:solidFill>
            </a:ln>
          </p:spPr>
          <p:style>
            <a:lnRef idx="2">
              <a:schemeClr val="accent1"/>
            </a:lnRef>
            <a:fillRef idx="0">
              <a:schemeClr val="accent1"/>
            </a:fillRef>
            <a:effectRef idx="1">
              <a:schemeClr val="accent1"/>
            </a:effectRef>
            <a:fontRef idx="minor">
              <a:schemeClr val="tx1"/>
            </a:fontRef>
          </p:style>
        </p:cxnSp>
        <p:cxnSp>
          <p:nvCxnSpPr>
            <p:cNvPr id="32" name="Connector 31"/>
            <p:cNvCxnSpPr/>
            <p:nvPr/>
          </p:nvCxnSpPr>
          <p:spPr>
            <a:xfrm flipV="1">
              <a:off x="6958584" y="2542032"/>
              <a:ext cx="530352" cy="530352"/>
            </a:xfrm>
            <a:prstGeom prst="line">
              <a:avLst/>
            </a:prstGeom>
            <a:ln w="11430">
              <a:solidFill>
                <a:srgbClr val="8193A0"/>
              </a:solidFill>
            </a:ln>
          </p:spPr>
          <p:style>
            <a:lnRef idx="2">
              <a:schemeClr val="accent1"/>
            </a:lnRef>
            <a:fillRef idx="0">
              <a:schemeClr val="accent1"/>
            </a:fillRef>
            <a:effectRef idx="1">
              <a:schemeClr val="accent1"/>
            </a:effectRef>
            <a:fontRef idx="minor">
              <a:schemeClr val="tx1"/>
            </a:fontRef>
          </p:style>
        </p:cxnSp>
      </p:grpSp>
      <p:sp>
        <p:nvSpPr>
          <p:cNvPr id="33" name="TextBox 32"/>
          <p:cNvSpPr txBox="1"/>
          <p:nvPr/>
        </p:nvSpPr>
        <p:spPr>
          <a:xfrm>
            <a:off x="10332720" y="1463040"/>
            <a:ext cx="2743200" cy="365760"/>
          </a:xfrm>
          <a:prstGeom prst="rect">
            <a:avLst/>
          </a:prstGeom>
          <a:noFill/>
        </p:spPr>
        <p:txBody>
          <a:bodyPr wrap="square" tIns="36576" bIns="36576" anchor="t">
            <a:spAutoFit/>
          </a:bodyPr>
          <a:lstStyle/>
          <a:p>
            <a:pPr>
              <a:lnSpc>
                <a:spcPts val="2484"/>
              </a:lnSpc>
              <a:spcBef>
                <a:spcPts val="0"/>
              </a:spcBef>
              <a:spcAft>
                <a:spcPts val="0"/>
              </a:spcAft>
              <a:defRPr sz="2300" b="1">
                <a:solidFill>
                  <a:srgbClr val="182B3A"/>
                </a:solidFill>
                <a:latin typeface="Arial"/>
              </a:defRPr>
            </a:pPr>
            <a:r>
              <a:t>3 × 3 grid</a:t>
            </a:r>
          </a:p>
        </p:txBody>
      </p:sp>
      <p:grpSp>
        <p:nvGrpSpPr>
          <p:cNvPr id="34" name="Empty 3 by 3 lattice template"/>
          <p:cNvGrpSpPr/>
          <p:nvPr/>
        </p:nvGrpSpPr>
        <p:grpSpPr>
          <a:xfrm>
            <a:off x="10561320" y="2011680"/>
            <a:ext cx="1591056" cy="1591056"/>
            <a:chOff x="10561320" y="2011680"/>
            <a:chExt cx="1591056" cy="1591056"/>
          </a:xfrm>
        </p:grpSpPr>
        <p:cxnSp>
          <p:nvCxnSpPr>
            <p:cNvPr id="35" name="Connector 34"/>
            <p:cNvCxnSpPr/>
            <p:nvPr/>
          </p:nvCxnSpPr>
          <p:spPr>
            <a:xfrm>
              <a:off x="10561320" y="2011680"/>
              <a:ext cx="0" cy="1591056"/>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cxnSp>
          <p:nvCxnSpPr>
            <p:cNvPr id="36" name="Connector 35"/>
            <p:cNvCxnSpPr/>
            <p:nvPr/>
          </p:nvCxnSpPr>
          <p:spPr>
            <a:xfrm>
              <a:off x="11091672" y="2011680"/>
              <a:ext cx="0" cy="1591056"/>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cxnSp>
          <p:nvCxnSpPr>
            <p:cNvPr id="37" name="Connector 36"/>
            <p:cNvCxnSpPr/>
            <p:nvPr/>
          </p:nvCxnSpPr>
          <p:spPr>
            <a:xfrm>
              <a:off x="11622024" y="2011680"/>
              <a:ext cx="0" cy="1591056"/>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cxnSp>
          <p:nvCxnSpPr>
            <p:cNvPr id="38" name="Connector 37"/>
            <p:cNvCxnSpPr/>
            <p:nvPr/>
          </p:nvCxnSpPr>
          <p:spPr>
            <a:xfrm>
              <a:off x="12152376" y="2011680"/>
              <a:ext cx="0" cy="1591056"/>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cxnSp>
          <p:nvCxnSpPr>
            <p:cNvPr id="39" name="Connector 38"/>
            <p:cNvCxnSpPr/>
            <p:nvPr/>
          </p:nvCxnSpPr>
          <p:spPr>
            <a:xfrm>
              <a:off x="10561320" y="2011680"/>
              <a:ext cx="1591056" cy="0"/>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cxnSp>
          <p:nvCxnSpPr>
            <p:cNvPr id="40" name="Connector 39"/>
            <p:cNvCxnSpPr/>
            <p:nvPr/>
          </p:nvCxnSpPr>
          <p:spPr>
            <a:xfrm>
              <a:off x="10561320" y="2542032"/>
              <a:ext cx="1591056" cy="0"/>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cxnSp>
          <p:nvCxnSpPr>
            <p:cNvPr id="41" name="Connector 40"/>
            <p:cNvCxnSpPr/>
            <p:nvPr/>
          </p:nvCxnSpPr>
          <p:spPr>
            <a:xfrm>
              <a:off x="10561320" y="3072384"/>
              <a:ext cx="1591056" cy="0"/>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cxnSp>
          <p:nvCxnSpPr>
            <p:cNvPr id="42" name="Connector 41"/>
            <p:cNvCxnSpPr/>
            <p:nvPr/>
          </p:nvCxnSpPr>
          <p:spPr>
            <a:xfrm>
              <a:off x="10561320" y="3602736"/>
              <a:ext cx="1591056" cy="0"/>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cxnSp>
          <p:nvCxnSpPr>
            <p:cNvPr id="43" name="Connector 42"/>
            <p:cNvCxnSpPr/>
            <p:nvPr/>
          </p:nvCxnSpPr>
          <p:spPr>
            <a:xfrm flipV="1">
              <a:off x="10561320" y="2011680"/>
              <a:ext cx="530352" cy="530352"/>
            </a:xfrm>
            <a:prstGeom prst="line">
              <a:avLst/>
            </a:prstGeom>
            <a:ln w="11430">
              <a:solidFill>
                <a:srgbClr val="8193A0"/>
              </a:solidFill>
            </a:ln>
          </p:spPr>
          <p:style>
            <a:lnRef idx="2">
              <a:schemeClr val="accent1"/>
            </a:lnRef>
            <a:fillRef idx="0">
              <a:schemeClr val="accent1"/>
            </a:fillRef>
            <a:effectRef idx="1">
              <a:schemeClr val="accent1"/>
            </a:effectRef>
            <a:fontRef idx="minor">
              <a:schemeClr val="tx1"/>
            </a:fontRef>
          </p:style>
        </p:cxnSp>
        <p:cxnSp>
          <p:nvCxnSpPr>
            <p:cNvPr id="44" name="Connector 43"/>
            <p:cNvCxnSpPr/>
            <p:nvPr/>
          </p:nvCxnSpPr>
          <p:spPr>
            <a:xfrm flipV="1">
              <a:off x="11091672" y="2011680"/>
              <a:ext cx="530352" cy="530352"/>
            </a:xfrm>
            <a:prstGeom prst="line">
              <a:avLst/>
            </a:prstGeom>
            <a:ln w="11430">
              <a:solidFill>
                <a:srgbClr val="8193A0"/>
              </a:solidFill>
            </a:ln>
          </p:spPr>
          <p:style>
            <a:lnRef idx="2">
              <a:schemeClr val="accent1"/>
            </a:lnRef>
            <a:fillRef idx="0">
              <a:schemeClr val="accent1"/>
            </a:fillRef>
            <a:effectRef idx="1">
              <a:schemeClr val="accent1"/>
            </a:effectRef>
            <a:fontRef idx="minor">
              <a:schemeClr val="tx1"/>
            </a:fontRef>
          </p:style>
        </p:cxnSp>
        <p:cxnSp>
          <p:nvCxnSpPr>
            <p:cNvPr id="45" name="Connector 44"/>
            <p:cNvCxnSpPr/>
            <p:nvPr/>
          </p:nvCxnSpPr>
          <p:spPr>
            <a:xfrm flipV="1">
              <a:off x="11622024" y="2011680"/>
              <a:ext cx="530352" cy="530352"/>
            </a:xfrm>
            <a:prstGeom prst="line">
              <a:avLst/>
            </a:prstGeom>
            <a:ln w="11430">
              <a:solidFill>
                <a:srgbClr val="8193A0"/>
              </a:solidFill>
            </a:ln>
          </p:spPr>
          <p:style>
            <a:lnRef idx="2">
              <a:schemeClr val="accent1"/>
            </a:lnRef>
            <a:fillRef idx="0">
              <a:schemeClr val="accent1"/>
            </a:fillRef>
            <a:effectRef idx="1">
              <a:schemeClr val="accent1"/>
            </a:effectRef>
            <a:fontRef idx="minor">
              <a:schemeClr val="tx1"/>
            </a:fontRef>
          </p:style>
        </p:cxnSp>
        <p:cxnSp>
          <p:nvCxnSpPr>
            <p:cNvPr id="46" name="Connector 45"/>
            <p:cNvCxnSpPr/>
            <p:nvPr/>
          </p:nvCxnSpPr>
          <p:spPr>
            <a:xfrm flipV="1">
              <a:off x="10561320" y="2542032"/>
              <a:ext cx="530352" cy="530352"/>
            </a:xfrm>
            <a:prstGeom prst="line">
              <a:avLst/>
            </a:prstGeom>
            <a:ln w="11430">
              <a:solidFill>
                <a:srgbClr val="8193A0"/>
              </a:solidFill>
            </a:ln>
          </p:spPr>
          <p:style>
            <a:lnRef idx="2">
              <a:schemeClr val="accent1"/>
            </a:lnRef>
            <a:fillRef idx="0">
              <a:schemeClr val="accent1"/>
            </a:fillRef>
            <a:effectRef idx="1">
              <a:schemeClr val="accent1"/>
            </a:effectRef>
            <a:fontRef idx="minor">
              <a:schemeClr val="tx1"/>
            </a:fontRef>
          </p:style>
        </p:cxnSp>
        <p:cxnSp>
          <p:nvCxnSpPr>
            <p:cNvPr id="47" name="Connector 46"/>
            <p:cNvCxnSpPr/>
            <p:nvPr/>
          </p:nvCxnSpPr>
          <p:spPr>
            <a:xfrm flipV="1">
              <a:off x="11091672" y="2542032"/>
              <a:ext cx="530352" cy="530352"/>
            </a:xfrm>
            <a:prstGeom prst="line">
              <a:avLst/>
            </a:prstGeom>
            <a:ln w="11430">
              <a:solidFill>
                <a:srgbClr val="8193A0"/>
              </a:solidFill>
            </a:ln>
          </p:spPr>
          <p:style>
            <a:lnRef idx="2">
              <a:schemeClr val="accent1"/>
            </a:lnRef>
            <a:fillRef idx="0">
              <a:schemeClr val="accent1"/>
            </a:fillRef>
            <a:effectRef idx="1">
              <a:schemeClr val="accent1"/>
            </a:effectRef>
            <a:fontRef idx="minor">
              <a:schemeClr val="tx1"/>
            </a:fontRef>
          </p:style>
        </p:cxnSp>
        <p:cxnSp>
          <p:nvCxnSpPr>
            <p:cNvPr id="48" name="Connector 47"/>
            <p:cNvCxnSpPr/>
            <p:nvPr/>
          </p:nvCxnSpPr>
          <p:spPr>
            <a:xfrm flipV="1">
              <a:off x="11622024" y="2542032"/>
              <a:ext cx="530352" cy="530352"/>
            </a:xfrm>
            <a:prstGeom prst="line">
              <a:avLst/>
            </a:prstGeom>
            <a:ln w="11430">
              <a:solidFill>
                <a:srgbClr val="8193A0"/>
              </a:solidFill>
            </a:ln>
          </p:spPr>
          <p:style>
            <a:lnRef idx="2">
              <a:schemeClr val="accent1"/>
            </a:lnRef>
            <a:fillRef idx="0">
              <a:schemeClr val="accent1"/>
            </a:fillRef>
            <a:effectRef idx="1">
              <a:schemeClr val="accent1"/>
            </a:effectRef>
            <a:fontRef idx="minor">
              <a:schemeClr val="tx1"/>
            </a:fontRef>
          </p:style>
        </p:cxnSp>
        <p:cxnSp>
          <p:nvCxnSpPr>
            <p:cNvPr id="49" name="Connector 48"/>
            <p:cNvCxnSpPr/>
            <p:nvPr/>
          </p:nvCxnSpPr>
          <p:spPr>
            <a:xfrm flipV="1">
              <a:off x="10561320" y="3072384"/>
              <a:ext cx="530352" cy="530352"/>
            </a:xfrm>
            <a:prstGeom prst="line">
              <a:avLst/>
            </a:prstGeom>
            <a:ln w="11430">
              <a:solidFill>
                <a:srgbClr val="8193A0"/>
              </a:solidFill>
            </a:ln>
          </p:spPr>
          <p:style>
            <a:lnRef idx="2">
              <a:schemeClr val="accent1"/>
            </a:lnRef>
            <a:fillRef idx="0">
              <a:schemeClr val="accent1"/>
            </a:fillRef>
            <a:effectRef idx="1">
              <a:schemeClr val="accent1"/>
            </a:effectRef>
            <a:fontRef idx="minor">
              <a:schemeClr val="tx1"/>
            </a:fontRef>
          </p:style>
        </p:cxnSp>
        <p:cxnSp>
          <p:nvCxnSpPr>
            <p:cNvPr id="50" name="Connector 49"/>
            <p:cNvCxnSpPr/>
            <p:nvPr/>
          </p:nvCxnSpPr>
          <p:spPr>
            <a:xfrm flipV="1">
              <a:off x="11091672" y="3072384"/>
              <a:ext cx="530352" cy="530352"/>
            </a:xfrm>
            <a:prstGeom prst="line">
              <a:avLst/>
            </a:prstGeom>
            <a:ln w="11430">
              <a:solidFill>
                <a:srgbClr val="8193A0"/>
              </a:solidFill>
            </a:ln>
          </p:spPr>
          <p:style>
            <a:lnRef idx="2">
              <a:schemeClr val="accent1"/>
            </a:lnRef>
            <a:fillRef idx="0">
              <a:schemeClr val="accent1"/>
            </a:fillRef>
            <a:effectRef idx="1">
              <a:schemeClr val="accent1"/>
            </a:effectRef>
            <a:fontRef idx="minor">
              <a:schemeClr val="tx1"/>
            </a:fontRef>
          </p:style>
        </p:cxnSp>
        <p:cxnSp>
          <p:nvCxnSpPr>
            <p:cNvPr id="51" name="Connector 50"/>
            <p:cNvCxnSpPr/>
            <p:nvPr/>
          </p:nvCxnSpPr>
          <p:spPr>
            <a:xfrm flipV="1">
              <a:off x="11622024" y="3072384"/>
              <a:ext cx="530352" cy="530352"/>
            </a:xfrm>
            <a:prstGeom prst="line">
              <a:avLst/>
            </a:prstGeom>
            <a:ln w="11430">
              <a:solidFill>
                <a:srgbClr val="8193A0"/>
              </a:solidFill>
            </a:ln>
          </p:spPr>
          <p:style>
            <a:lnRef idx="2">
              <a:schemeClr val="accent1"/>
            </a:lnRef>
            <a:fillRef idx="0">
              <a:schemeClr val="accent1"/>
            </a:fillRef>
            <a:effectRef idx="1">
              <a:schemeClr val="accent1"/>
            </a:effectRef>
            <a:fontRef idx="minor">
              <a:schemeClr val="tx1"/>
            </a:fontRef>
          </p:style>
        </p:cxnSp>
      </p:grpSp>
      <p:sp>
        <p:nvSpPr>
          <p:cNvPr id="52" name="TextBox 51"/>
          <p:cNvSpPr txBox="1"/>
          <p:nvPr/>
        </p:nvSpPr>
        <p:spPr>
          <a:xfrm>
            <a:off x="3154680" y="4343400"/>
            <a:ext cx="2743200" cy="365760"/>
          </a:xfrm>
          <a:prstGeom prst="rect">
            <a:avLst/>
          </a:prstGeom>
          <a:noFill/>
        </p:spPr>
        <p:txBody>
          <a:bodyPr wrap="square" tIns="36576" bIns="36576" anchor="t">
            <a:spAutoFit/>
          </a:bodyPr>
          <a:lstStyle/>
          <a:p>
            <a:pPr>
              <a:lnSpc>
                <a:spcPts val="2484"/>
              </a:lnSpc>
              <a:spcBef>
                <a:spcPts val="0"/>
              </a:spcBef>
              <a:spcAft>
                <a:spcPts val="0"/>
              </a:spcAft>
              <a:defRPr sz="2300" b="1">
                <a:solidFill>
                  <a:srgbClr val="182B3A"/>
                </a:solidFill>
                <a:latin typeface="Arial"/>
              </a:defRPr>
            </a:pPr>
            <a:r>
              <a:t>4 × 3 grid</a:t>
            </a:r>
          </a:p>
        </p:txBody>
      </p:sp>
      <p:grpSp>
        <p:nvGrpSpPr>
          <p:cNvPr id="53" name="Empty 4 by 3 lattice template"/>
          <p:cNvGrpSpPr/>
          <p:nvPr/>
        </p:nvGrpSpPr>
        <p:grpSpPr>
          <a:xfrm>
            <a:off x="3383280" y="4892040"/>
            <a:ext cx="2121408" cy="1591056"/>
            <a:chOff x="3383280" y="4892040"/>
            <a:chExt cx="2121408" cy="1591056"/>
          </a:xfrm>
        </p:grpSpPr>
        <p:cxnSp>
          <p:nvCxnSpPr>
            <p:cNvPr id="54" name="Connector 53"/>
            <p:cNvCxnSpPr/>
            <p:nvPr/>
          </p:nvCxnSpPr>
          <p:spPr>
            <a:xfrm>
              <a:off x="3383280" y="4892040"/>
              <a:ext cx="0" cy="1591056"/>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cxnSp>
          <p:nvCxnSpPr>
            <p:cNvPr id="55" name="Connector 54"/>
            <p:cNvCxnSpPr/>
            <p:nvPr/>
          </p:nvCxnSpPr>
          <p:spPr>
            <a:xfrm>
              <a:off x="3913632" y="4892040"/>
              <a:ext cx="0" cy="1591056"/>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cxnSp>
          <p:nvCxnSpPr>
            <p:cNvPr id="56" name="Connector 55"/>
            <p:cNvCxnSpPr/>
            <p:nvPr/>
          </p:nvCxnSpPr>
          <p:spPr>
            <a:xfrm>
              <a:off x="4443984" y="4892040"/>
              <a:ext cx="0" cy="1591056"/>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cxnSp>
          <p:nvCxnSpPr>
            <p:cNvPr id="57" name="Connector 56"/>
            <p:cNvCxnSpPr/>
            <p:nvPr/>
          </p:nvCxnSpPr>
          <p:spPr>
            <a:xfrm>
              <a:off x="4974336" y="4892040"/>
              <a:ext cx="0" cy="1591056"/>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cxnSp>
          <p:nvCxnSpPr>
            <p:cNvPr id="58" name="Connector 57"/>
            <p:cNvCxnSpPr/>
            <p:nvPr/>
          </p:nvCxnSpPr>
          <p:spPr>
            <a:xfrm>
              <a:off x="5504688" y="4892040"/>
              <a:ext cx="0" cy="1591056"/>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cxnSp>
          <p:nvCxnSpPr>
            <p:cNvPr id="59" name="Connector 58"/>
            <p:cNvCxnSpPr/>
            <p:nvPr/>
          </p:nvCxnSpPr>
          <p:spPr>
            <a:xfrm>
              <a:off x="3383280" y="4892040"/>
              <a:ext cx="2121408" cy="0"/>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cxnSp>
          <p:nvCxnSpPr>
            <p:cNvPr id="60" name="Connector 59"/>
            <p:cNvCxnSpPr/>
            <p:nvPr/>
          </p:nvCxnSpPr>
          <p:spPr>
            <a:xfrm>
              <a:off x="3383280" y="5422392"/>
              <a:ext cx="2121408" cy="0"/>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cxnSp>
          <p:nvCxnSpPr>
            <p:cNvPr id="61" name="Connector 60"/>
            <p:cNvCxnSpPr/>
            <p:nvPr/>
          </p:nvCxnSpPr>
          <p:spPr>
            <a:xfrm>
              <a:off x="3383280" y="5952744"/>
              <a:ext cx="2121408" cy="0"/>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cxnSp>
          <p:nvCxnSpPr>
            <p:cNvPr id="62" name="Connector 61"/>
            <p:cNvCxnSpPr/>
            <p:nvPr/>
          </p:nvCxnSpPr>
          <p:spPr>
            <a:xfrm>
              <a:off x="3383280" y="6483096"/>
              <a:ext cx="2121408" cy="0"/>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cxnSp>
          <p:nvCxnSpPr>
            <p:cNvPr id="63" name="Connector 62"/>
            <p:cNvCxnSpPr/>
            <p:nvPr/>
          </p:nvCxnSpPr>
          <p:spPr>
            <a:xfrm flipV="1">
              <a:off x="3383280" y="4892040"/>
              <a:ext cx="530352" cy="530352"/>
            </a:xfrm>
            <a:prstGeom prst="line">
              <a:avLst/>
            </a:prstGeom>
            <a:ln w="11430">
              <a:solidFill>
                <a:srgbClr val="8193A0"/>
              </a:solidFill>
            </a:ln>
          </p:spPr>
          <p:style>
            <a:lnRef idx="2">
              <a:schemeClr val="accent1"/>
            </a:lnRef>
            <a:fillRef idx="0">
              <a:schemeClr val="accent1"/>
            </a:fillRef>
            <a:effectRef idx="1">
              <a:schemeClr val="accent1"/>
            </a:effectRef>
            <a:fontRef idx="minor">
              <a:schemeClr val="tx1"/>
            </a:fontRef>
          </p:style>
        </p:cxnSp>
        <p:cxnSp>
          <p:nvCxnSpPr>
            <p:cNvPr id="64" name="Connector 63"/>
            <p:cNvCxnSpPr/>
            <p:nvPr/>
          </p:nvCxnSpPr>
          <p:spPr>
            <a:xfrm flipV="1">
              <a:off x="3913632" y="4892040"/>
              <a:ext cx="530352" cy="530352"/>
            </a:xfrm>
            <a:prstGeom prst="line">
              <a:avLst/>
            </a:prstGeom>
            <a:ln w="11430">
              <a:solidFill>
                <a:srgbClr val="8193A0"/>
              </a:solidFill>
            </a:ln>
          </p:spPr>
          <p:style>
            <a:lnRef idx="2">
              <a:schemeClr val="accent1"/>
            </a:lnRef>
            <a:fillRef idx="0">
              <a:schemeClr val="accent1"/>
            </a:fillRef>
            <a:effectRef idx="1">
              <a:schemeClr val="accent1"/>
            </a:effectRef>
            <a:fontRef idx="minor">
              <a:schemeClr val="tx1"/>
            </a:fontRef>
          </p:style>
        </p:cxnSp>
        <p:cxnSp>
          <p:nvCxnSpPr>
            <p:cNvPr id="65" name="Connector 64"/>
            <p:cNvCxnSpPr/>
            <p:nvPr/>
          </p:nvCxnSpPr>
          <p:spPr>
            <a:xfrm flipV="1">
              <a:off x="4443984" y="4892040"/>
              <a:ext cx="530352" cy="530352"/>
            </a:xfrm>
            <a:prstGeom prst="line">
              <a:avLst/>
            </a:prstGeom>
            <a:ln w="11430">
              <a:solidFill>
                <a:srgbClr val="8193A0"/>
              </a:solidFill>
            </a:ln>
          </p:spPr>
          <p:style>
            <a:lnRef idx="2">
              <a:schemeClr val="accent1"/>
            </a:lnRef>
            <a:fillRef idx="0">
              <a:schemeClr val="accent1"/>
            </a:fillRef>
            <a:effectRef idx="1">
              <a:schemeClr val="accent1"/>
            </a:effectRef>
            <a:fontRef idx="minor">
              <a:schemeClr val="tx1"/>
            </a:fontRef>
          </p:style>
        </p:cxnSp>
        <p:cxnSp>
          <p:nvCxnSpPr>
            <p:cNvPr id="66" name="Connector 65"/>
            <p:cNvCxnSpPr/>
            <p:nvPr/>
          </p:nvCxnSpPr>
          <p:spPr>
            <a:xfrm flipV="1">
              <a:off x="4974336" y="4892040"/>
              <a:ext cx="530352" cy="530352"/>
            </a:xfrm>
            <a:prstGeom prst="line">
              <a:avLst/>
            </a:prstGeom>
            <a:ln w="11430">
              <a:solidFill>
                <a:srgbClr val="8193A0"/>
              </a:solidFill>
            </a:ln>
          </p:spPr>
          <p:style>
            <a:lnRef idx="2">
              <a:schemeClr val="accent1"/>
            </a:lnRef>
            <a:fillRef idx="0">
              <a:schemeClr val="accent1"/>
            </a:fillRef>
            <a:effectRef idx="1">
              <a:schemeClr val="accent1"/>
            </a:effectRef>
            <a:fontRef idx="minor">
              <a:schemeClr val="tx1"/>
            </a:fontRef>
          </p:style>
        </p:cxnSp>
        <p:cxnSp>
          <p:nvCxnSpPr>
            <p:cNvPr id="67" name="Connector 66"/>
            <p:cNvCxnSpPr/>
            <p:nvPr/>
          </p:nvCxnSpPr>
          <p:spPr>
            <a:xfrm flipV="1">
              <a:off x="3383280" y="5422392"/>
              <a:ext cx="530352" cy="530352"/>
            </a:xfrm>
            <a:prstGeom prst="line">
              <a:avLst/>
            </a:prstGeom>
            <a:ln w="11430">
              <a:solidFill>
                <a:srgbClr val="8193A0"/>
              </a:solidFill>
            </a:ln>
          </p:spPr>
          <p:style>
            <a:lnRef idx="2">
              <a:schemeClr val="accent1"/>
            </a:lnRef>
            <a:fillRef idx="0">
              <a:schemeClr val="accent1"/>
            </a:fillRef>
            <a:effectRef idx="1">
              <a:schemeClr val="accent1"/>
            </a:effectRef>
            <a:fontRef idx="minor">
              <a:schemeClr val="tx1"/>
            </a:fontRef>
          </p:style>
        </p:cxnSp>
        <p:cxnSp>
          <p:nvCxnSpPr>
            <p:cNvPr id="68" name="Connector 67"/>
            <p:cNvCxnSpPr/>
            <p:nvPr/>
          </p:nvCxnSpPr>
          <p:spPr>
            <a:xfrm flipV="1">
              <a:off x="3913632" y="5422392"/>
              <a:ext cx="530352" cy="530352"/>
            </a:xfrm>
            <a:prstGeom prst="line">
              <a:avLst/>
            </a:prstGeom>
            <a:ln w="11430">
              <a:solidFill>
                <a:srgbClr val="8193A0"/>
              </a:solidFill>
            </a:ln>
          </p:spPr>
          <p:style>
            <a:lnRef idx="2">
              <a:schemeClr val="accent1"/>
            </a:lnRef>
            <a:fillRef idx="0">
              <a:schemeClr val="accent1"/>
            </a:fillRef>
            <a:effectRef idx="1">
              <a:schemeClr val="accent1"/>
            </a:effectRef>
            <a:fontRef idx="minor">
              <a:schemeClr val="tx1"/>
            </a:fontRef>
          </p:style>
        </p:cxnSp>
        <p:cxnSp>
          <p:nvCxnSpPr>
            <p:cNvPr id="69" name="Connector 68"/>
            <p:cNvCxnSpPr/>
            <p:nvPr/>
          </p:nvCxnSpPr>
          <p:spPr>
            <a:xfrm flipV="1">
              <a:off x="4443984" y="5422392"/>
              <a:ext cx="530352" cy="530352"/>
            </a:xfrm>
            <a:prstGeom prst="line">
              <a:avLst/>
            </a:prstGeom>
            <a:ln w="11430">
              <a:solidFill>
                <a:srgbClr val="8193A0"/>
              </a:solidFill>
            </a:ln>
          </p:spPr>
          <p:style>
            <a:lnRef idx="2">
              <a:schemeClr val="accent1"/>
            </a:lnRef>
            <a:fillRef idx="0">
              <a:schemeClr val="accent1"/>
            </a:fillRef>
            <a:effectRef idx="1">
              <a:schemeClr val="accent1"/>
            </a:effectRef>
            <a:fontRef idx="minor">
              <a:schemeClr val="tx1"/>
            </a:fontRef>
          </p:style>
        </p:cxnSp>
        <p:cxnSp>
          <p:nvCxnSpPr>
            <p:cNvPr id="70" name="Connector 69"/>
            <p:cNvCxnSpPr/>
            <p:nvPr/>
          </p:nvCxnSpPr>
          <p:spPr>
            <a:xfrm flipV="1">
              <a:off x="4974336" y="5422392"/>
              <a:ext cx="530352" cy="530352"/>
            </a:xfrm>
            <a:prstGeom prst="line">
              <a:avLst/>
            </a:prstGeom>
            <a:ln w="11430">
              <a:solidFill>
                <a:srgbClr val="8193A0"/>
              </a:solidFill>
            </a:ln>
          </p:spPr>
          <p:style>
            <a:lnRef idx="2">
              <a:schemeClr val="accent1"/>
            </a:lnRef>
            <a:fillRef idx="0">
              <a:schemeClr val="accent1"/>
            </a:fillRef>
            <a:effectRef idx="1">
              <a:schemeClr val="accent1"/>
            </a:effectRef>
            <a:fontRef idx="minor">
              <a:schemeClr val="tx1"/>
            </a:fontRef>
          </p:style>
        </p:cxnSp>
        <p:cxnSp>
          <p:nvCxnSpPr>
            <p:cNvPr id="71" name="Connector 70"/>
            <p:cNvCxnSpPr/>
            <p:nvPr/>
          </p:nvCxnSpPr>
          <p:spPr>
            <a:xfrm flipV="1">
              <a:off x="3383280" y="5952744"/>
              <a:ext cx="530352" cy="530352"/>
            </a:xfrm>
            <a:prstGeom prst="line">
              <a:avLst/>
            </a:prstGeom>
            <a:ln w="11430">
              <a:solidFill>
                <a:srgbClr val="8193A0"/>
              </a:solidFill>
            </a:ln>
          </p:spPr>
          <p:style>
            <a:lnRef idx="2">
              <a:schemeClr val="accent1"/>
            </a:lnRef>
            <a:fillRef idx="0">
              <a:schemeClr val="accent1"/>
            </a:fillRef>
            <a:effectRef idx="1">
              <a:schemeClr val="accent1"/>
            </a:effectRef>
            <a:fontRef idx="minor">
              <a:schemeClr val="tx1"/>
            </a:fontRef>
          </p:style>
        </p:cxnSp>
        <p:cxnSp>
          <p:nvCxnSpPr>
            <p:cNvPr id="72" name="Connector 71"/>
            <p:cNvCxnSpPr/>
            <p:nvPr/>
          </p:nvCxnSpPr>
          <p:spPr>
            <a:xfrm flipV="1">
              <a:off x="3913632" y="5952744"/>
              <a:ext cx="530352" cy="530352"/>
            </a:xfrm>
            <a:prstGeom prst="line">
              <a:avLst/>
            </a:prstGeom>
            <a:ln w="11430">
              <a:solidFill>
                <a:srgbClr val="8193A0"/>
              </a:solidFill>
            </a:ln>
          </p:spPr>
          <p:style>
            <a:lnRef idx="2">
              <a:schemeClr val="accent1"/>
            </a:lnRef>
            <a:fillRef idx="0">
              <a:schemeClr val="accent1"/>
            </a:fillRef>
            <a:effectRef idx="1">
              <a:schemeClr val="accent1"/>
            </a:effectRef>
            <a:fontRef idx="minor">
              <a:schemeClr val="tx1"/>
            </a:fontRef>
          </p:style>
        </p:cxnSp>
        <p:cxnSp>
          <p:nvCxnSpPr>
            <p:cNvPr id="73" name="Connector 72"/>
            <p:cNvCxnSpPr/>
            <p:nvPr/>
          </p:nvCxnSpPr>
          <p:spPr>
            <a:xfrm flipV="1">
              <a:off x="4443984" y="5952744"/>
              <a:ext cx="530352" cy="530352"/>
            </a:xfrm>
            <a:prstGeom prst="line">
              <a:avLst/>
            </a:prstGeom>
            <a:ln w="11430">
              <a:solidFill>
                <a:srgbClr val="8193A0"/>
              </a:solidFill>
            </a:ln>
          </p:spPr>
          <p:style>
            <a:lnRef idx="2">
              <a:schemeClr val="accent1"/>
            </a:lnRef>
            <a:fillRef idx="0">
              <a:schemeClr val="accent1"/>
            </a:fillRef>
            <a:effectRef idx="1">
              <a:schemeClr val="accent1"/>
            </a:effectRef>
            <a:fontRef idx="minor">
              <a:schemeClr val="tx1"/>
            </a:fontRef>
          </p:style>
        </p:cxnSp>
        <p:cxnSp>
          <p:nvCxnSpPr>
            <p:cNvPr id="74" name="Connector 73"/>
            <p:cNvCxnSpPr/>
            <p:nvPr/>
          </p:nvCxnSpPr>
          <p:spPr>
            <a:xfrm flipV="1">
              <a:off x="4974336" y="5952744"/>
              <a:ext cx="530352" cy="530352"/>
            </a:xfrm>
            <a:prstGeom prst="line">
              <a:avLst/>
            </a:prstGeom>
            <a:ln w="11430">
              <a:solidFill>
                <a:srgbClr val="8193A0"/>
              </a:solidFill>
            </a:ln>
          </p:spPr>
          <p:style>
            <a:lnRef idx="2">
              <a:schemeClr val="accent1"/>
            </a:lnRef>
            <a:fillRef idx="0">
              <a:schemeClr val="accent1"/>
            </a:fillRef>
            <a:effectRef idx="1">
              <a:schemeClr val="accent1"/>
            </a:effectRef>
            <a:fontRef idx="minor">
              <a:schemeClr val="tx1"/>
            </a:fontRef>
          </p:style>
        </p:cxnSp>
      </p:grpSp>
      <p:sp>
        <p:nvSpPr>
          <p:cNvPr id="75" name="TextBox 74"/>
          <p:cNvSpPr txBox="1"/>
          <p:nvPr/>
        </p:nvSpPr>
        <p:spPr>
          <a:xfrm>
            <a:off x="8778240" y="4343400"/>
            <a:ext cx="2743200" cy="365760"/>
          </a:xfrm>
          <a:prstGeom prst="rect">
            <a:avLst/>
          </a:prstGeom>
          <a:noFill/>
        </p:spPr>
        <p:txBody>
          <a:bodyPr wrap="square" tIns="36576" bIns="36576" anchor="t">
            <a:spAutoFit/>
          </a:bodyPr>
          <a:lstStyle/>
          <a:p>
            <a:pPr>
              <a:lnSpc>
                <a:spcPts val="2484"/>
              </a:lnSpc>
              <a:spcBef>
                <a:spcPts val="0"/>
              </a:spcBef>
              <a:spcAft>
                <a:spcPts val="0"/>
              </a:spcAft>
              <a:defRPr sz="2300" b="1">
                <a:solidFill>
                  <a:srgbClr val="182B3A"/>
                </a:solidFill>
                <a:latin typeface="Arial"/>
              </a:defRPr>
            </a:pPr>
            <a:r>
              <a:t>4 × 4 grid</a:t>
            </a:r>
          </a:p>
        </p:txBody>
      </p:sp>
      <p:grpSp>
        <p:nvGrpSpPr>
          <p:cNvPr id="76" name="Empty 4 by 4 lattice template"/>
          <p:cNvGrpSpPr/>
          <p:nvPr/>
        </p:nvGrpSpPr>
        <p:grpSpPr>
          <a:xfrm>
            <a:off x="9006840" y="4892040"/>
            <a:ext cx="2121408" cy="2121408"/>
            <a:chOff x="9006840" y="4892040"/>
            <a:chExt cx="2121408" cy="2121408"/>
          </a:xfrm>
        </p:grpSpPr>
        <p:cxnSp>
          <p:nvCxnSpPr>
            <p:cNvPr id="77" name="Connector 76"/>
            <p:cNvCxnSpPr/>
            <p:nvPr/>
          </p:nvCxnSpPr>
          <p:spPr>
            <a:xfrm>
              <a:off x="9006840" y="4892040"/>
              <a:ext cx="0" cy="2121408"/>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cxnSp>
          <p:nvCxnSpPr>
            <p:cNvPr id="78" name="Connector 77"/>
            <p:cNvCxnSpPr/>
            <p:nvPr/>
          </p:nvCxnSpPr>
          <p:spPr>
            <a:xfrm>
              <a:off x="9537192" y="4892040"/>
              <a:ext cx="0" cy="2121408"/>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cxnSp>
          <p:nvCxnSpPr>
            <p:cNvPr id="79" name="Connector 78"/>
            <p:cNvCxnSpPr/>
            <p:nvPr/>
          </p:nvCxnSpPr>
          <p:spPr>
            <a:xfrm>
              <a:off x="10067544" y="4892040"/>
              <a:ext cx="0" cy="2121408"/>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cxnSp>
          <p:nvCxnSpPr>
            <p:cNvPr id="80" name="Connector 79"/>
            <p:cNvCxnSpPr/>
            <p:nvPr/>
          </p:nvCxnSpPr>
          <p:spPr>
            <a:xfrm>
              <a:off x="10597896" y="4892040"/>
              <a:ext cx="0" cy="2121408"/>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cxnSp>
          <p:nvCxnSpPr>
            <p:cNvPr id="81" name="Connector 80"/>
            <p:cNvCxnSpPr/>
            <p:nvPr/>
          </p:nvCxnSpPr>
          <p:spPr>
            <a:xfrm>
              <a:off x="11128248" y="4892040"/>
              <a:ext cx="0" cy="2121408"/>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cxnSp>
          <p:nvCxnSpPr>
            <p:cNvPr id="82" name="Connector 81"/>
            <p:cNvCxnSpPr/>
            <p:nvPr/>
          </p:nvCxnSpPr>
          <p:spPr>
            <a:xfrm>
              <a:off x="9006840" y="4892040"/>
              <a:ext cx="2121408" cy="0"/>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cxnSp>
          <p:nvCxnSpPr>
            <p:cNvPr id="83" name="Connector 82"/>
            <p:cNvCxnSpPr/>
            <p:nvPr/>
          </p:nvCxnSpPr>
          <p:spPr>
            <a:xfrm>
              <a:off x="9006840" y="5422392"/>
              <a:ext cx="2121408" cy="0"/>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cxnSp>
          <p:nvCxnSpPr>
            <p:cNvPr id="84" name="Connector 83"/>
            <p:cNvCxnSpPr/>
            <p:nvPr/>
          </p:nvCxnSpPr>
          <p:spPr>
            <a:xfrm>
              <a:off x="9006840" y="5952744"/>
              <a:ext cx="2121408" cy="0"/>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cxnSp>
          <p:nvCxnSpPr>
            <p:cNvPr id="85" name="Connector 84"/>
            <p:cNvCxnSpPr/>
            <p:nvPr/>
          </p:nvCxnSpPr>
          <p:spPr>
            <a:xfrm>
              <a:off x="9006840" y="6483096"/>
              <a:ext cx="2121408" cy="0"/>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cxnSp>
          <p:nvCxnSpPr>
            <p:cNvPr id="86" name="Connector 85"/>
            <p:cNvCxnSpPr/>
            <p:nvPr/>
          </p:nvCxnSpPr>
          <p:spPr>
            <a:xfrm>
              <a:off x="9006840" y="7013448"/>
              <a:ext cx="2121408" cy="0"/>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cxnSp>
          <p:nvCxnSpPr>
            <p:cNvPr id="87" name="Connector 86"/>
            <p:cNvCxnSpPr/>
            <p:nvPr/>
          </p:nvCxnSpPr>
          <p:spPr>
            <a:xfrm flipV="1">
              <a:off x="9006840" y="4892040"/>
              <a:ext cx="530352" cy="530352"/>
            </a:xfrm>
            <a:prstGeom prst="line">
              <a:avLst/>
            </a:prstGeom>
            <a:ln w="11430">
              <a:solidFill>
                <a:srgbClr val="8193A0"/>
              </a:solidFill>
            </a:ln>
          </p:spPr>
          <p:style>
            <a:lnRef idx="2">
              <a:schemeClr val="accent1"/>
            </a:lnRef>
            <a:fillRef idx="0">
              <a:schemeClr val="accent1"/>
            </a:fillRef>
            <a:effectRef idx="1">
              <a:schemeClr val="accent1"/>
            </a:effectRef>
            <a:fontRef idx="minor">
              <a:schemeClr val="tx1"/>
            </a:fontRef>
          </p:style>
        </p:cxnSp>
        <p:cxnSp>
          <p:nvCxnSpPr>
            <p:cNvPr id="88" name="Connector 87"/>
            <p:cNvCxnSpPr/>
            <p:nvPr/>
          </p:nvCxnSpPr>
          <p:spPr>
            <a:xfrm flipV="1">
              <a:off x="9537192" y="4892040"/>
              <a:ext cx="530352" cy="530352"/>
            </a:xfrm>
            <a:prstGeom prst="line">
              <a:avLst/>
            </a:prstGeom>
            <a:ln w="11430">
              <a:solidFill>
                <a:srgbClr val="8193A0"/>
              </a:solidFill>
            </a:ln>
          </p:spPr>
          <p:style>
            <a:lnRef idx="2">
              <a:schemeClr val="accent1"/>
            </a:lnRef>
            <a:fillRef idx="0">
              <a:schemeClr val="accent1"/>
            </a:fillRef>
            <a:effectRef idx="1">
              <a:schemeClr val="accent1"/>
            </a:effectRef>
            <a:fontRef idx="minor">
              <a:schemeClr val="tx1"/>
            </a:fontRef>
          </p:style>
        </p:cxnSp>
        <p:cxnSp>
          <p:nvCxnSpPr>
            <p:cNvPr id="89" name="Connector 88"/>
            <p:cNvCxnSpPr/>
            <p:nvPr/>
          </p:nvCxnSpPr>
          <p:spPr>
            <a:xfrm flipV="1">
              <a:off x="10067544" y="4892040"/>
              <a:ext cx="530352" cy="530352"/>
            </a:xfrm>
            <a:prstGeom prst="line">
              <a:avLst/>
            </a:prstGeom>
            <a:ln w="11430">
              <a:solidFill>
                <a:srgbClr val="8193A0"/>
              </a:solidFill>
            </a:ln>
          </p:spPr>
          <p:style>
            <a:lnRef idx="2">
              <a:schemeClr val="accent1"/>
            </a:lnRef>
            <a:fillRef idx="0">
              <a:schemeClr val="accent1"/>
            </a:fillRef>
            <a:effectRef idx="1">
              <a:schemeClr val="accent1"/>
            </a:effectRef>
            <a:fontRef idx="minor">
              <a:schemeClr val="tx1"/>
            </a:fontRef>
          </p:style>
        </p:cxnSp>
        <p:cxnSp>
          <p:nvCxnSpPr>
            <p:cNvPr id="90" name="Connector 89"/>
            <p:cNvCxnSpPr/>
            <p:nvPr/>
          </p:nvCxnSpPr>
          <p:spPr>
            <a:xfrm flipV="1">
              <a:off x="10597896" y="4892040"/>
              <a:ext cx="530352" cy="530352"/>
            </a:xfrm>
            <a:prstGeom prst="line">
              <a:avLst/>
            </a:prstGeom>
            <a:ln w="11430">
              <a:solidFill>
                <a:srgbClr val="8193A0"/>
              </a:solidFill>
            </a:ln>
          </p:spPr>
          <p:style>
            <a:lnRef idx="2">
              <a:schemeClr val="accent1"/>
            </a:lnRef>
            <a:fillRef idx="0">
              <a:schemeClr val="accent1"/>
            </a:fillRef>
            <a:effectRef idx="1">
              <a:schemeClr val="accent1"/>
            </a:effectRef>
            <a:fontRef idx="minor">
              <a:schemeClr val="tx1"/>
            </a:fontRef>
          </p:style>
        </p:cxnSp>
        <p:cxnSp>
          <p:nvCxnSpPr>
            <p:cNvPr id="91" name="Connector 90"/>
            <p:cNvCxnSpPr/>
            <p:nvPr/>
          </p:nvCxnSpPr>
          <p:spPr>
            <a:xfrm flipV="1">
              <a:off x="9006840" y="5422392"/>
              <a:ext cx="530352" cy="530352"/>
            </a:xfrm>
            <a:prstGeom prst="line">
              <a:avLst/>
            </a:prstGeom>
            <a:ln w="11430">
              <a:solidFill>
                <a:srgbClr val="8193A0"/>
              </a:solidFill>
            </a:ln>
          </p:spPr>
          <p:style>
            <a:lnRef idx="2">
              <a:schemeClr val="accent1"/>
            </a:lnRef>
            <a:fillRef idx="0">
              <a:schemeClr val="accent1"/>
            </a:fillRef>
            <a:effectRef idx="1">
              <a:schemeClr val="accent1"/>
            </a:effectRef>
            <a:fontRef idx="minor">
              <a:schemeClr val="tx1"/>
            </a:fontRef>
          </p:style>
        </p:cxnSp>
        <p:cxnSp>
          <p:nvCxnSpPr>
            <p:cNvPr id="92" name="Connector 91"/>
            <p:cNvCxnSpPr/>
            <p:nvPr/>
          </p:nvCxnSpPr>
          <p:spPr>
            <a:xfrm flipV="1">
              <a:off x="9537192" y="5422392"/>
              <a:ext cx="530352" cy="530352"/>
            </a:xfrm>
            <a:prstGeom prst="line">
              <a:avLst/>
            </a:prstGeom>
            <a:ln w="11430">
              <a:solidFill>
                <a:srgbClr val="8193A0"/>
              </a:solidFill>
            </a:ln>
          </p:spPr>
          <p:style>
            <a:lnRef idx="2">
              <a:schemeClr val="accent1"/>
            </a:lnRef>
            <a:fillRef idx="0">
              <a:schemeClr val="accent1"/>
            </a:fillRef>
            <a:effectRef idx="1">
              <a:schemeClr val="accent1"/>
            </a:effectRef>
            <a:fontRef idx="minor">
              <a:schemeClr val="tx1"/>
            </a:fontRef>
          </p:style>
        </p:cxnSp>
        <p:cxnSp>
          <p:nvCxnSpPr>
            <p:cNvPr id="93" name="Connector 92"/>
            <p:cNvCxnSpPr/>
            <p:nvPr/>
          </p:nvCxnSpPr>
          <p:spPr>
            <a:xfrm flipV="1">
              <a:off x="10067544" y="5422392"/>
              <a:ext cx="530352" cy="530352"/>
            </a:xfrm>
            <a:prstGeom prst="line">
              <a:avLst/>
            </a:prstGeom>
            <a:ln w="11430">
              <a:solidFill>
                <a:srgbClr val="8193A0"/>
              </a:solidFill>
            </a:ln>
          </p:spPr>
          <p:style>
            <a:lnRef idx="2">
              <a:schemeClr val="accent1"/>
            </a:lnRef>
            <a:fillRef idx="0">
              <a:schemeClr val="accent1"/>
            </a:fillRef>
            <a:effectRef idx="1">
              <a:schemeClr val="accent1"/>
            </a:effectRef>
            <a:fontRef idx="minor">
              <a:schemeClr val="tx1"/>
            </a:fontRef>
          </p:style>
        </p:cxnSp>
        <p:cxnSp>
          <p:nvCxnSpPr>
            <p:cNvPr id="94" name="Connector 93"/>
            <p:cNvCxnSpPr/>
            <p:nvPr/>
          </p:nvCxnSpPr>
          <p:spPr>
            <a:xfrm flipV="1">
              <a:off x="10597896" y="5422392"/>
              <a:ext cx="530352" cy="530352"/>
            </a:xfrm>
            <a:prstGeom prst="line">
              <a:avLst/>
            </a:prstGeom>
            <a:ln w="11430">
              <a:solidFill>
                <a:srgbClr val="8193A0"/>
              </a:solidFill>
            </a:ln>
          </p:spPr>
          <p:style>
            <a:lnRef idx="2">
              <a:schemeClr val="accent1"/>
            </a:lnRef>
            <a:fillRef idx="0">
              <a:schemeClr val="accent1"/>
            </a:fillRef>
            <a:effectRef idx="1">
              <a:schemeClr val="accent1"/>
            </a:effectRef>
            <a:fontRef idx="minor">
              <a:schemeClr val="tx1"/>
            </a:fontRef>
          </p:style>
        </p:cxnSp>
        <p:cxnSp>
          <p:nvCxnSpPr>
            <p:cNvPr id="95" name="Connector 94"/>
            <p:cNvCxnSpPr/>
            <p:nvPr/>
          </p:nvCxnSpPr>
          <p:spPr>
            <a:xfrm flipV="1">
              <a:off x="9006840" y="5952744"/>
              <a:ext cx="530352" cy="530352"/>
            </a:xfrm>
            <a:prstGeom prst="line">
              <a:avLst/>
            </a:prstGeom>
            <a:ln w="11430">
              <a:solidFill>
                <a:srgbClr val="8193A0"/>
              </a:solidFill>
            </a:ln>
          </p:spPr>
          <p:style>
            <a:lnRef idx="2">
              <a:schemeClr val="accent1"/>
            </a:lnRef>
            <a:fillRef idx="0">
              <a:schemeClr val="accent1"/>
            </a:fillRef>
            <a:effectRef idx="1">
              <a:schemeClr val="accent1"/>
            </a:effectRef>
            <a:fontRef idx="minor">
              <a:schemeClr val="tx1"/>
            </a:fontRef>
          </p:style>
        </p:cxnSp>
        <p:cxnSp>
          <p:nvCxnSpPr>
            <p:cNvPr id="96" name="Connector 95"/>
            <p:cNvCxnSpPr/>
            <p:nvPr/>
          </p:nvCxnSpPr>
          <p:spPr>
            <a:xfrm flipV="1">
              <a:off x="9537192" y="5952744"/>
              <a:ext cx="530352" cy="530352"/>
            </a:xfrm>
            <a:prstGeom prst="line">
              <a:avLst/>
            </a:prstGeom>
            <a:ln w="11430">
              <a:solidFill>
                <a:srgbClr val="8193A0"/>
              </a:solidFill>
            </a:ln>
          </p:spPr>
          <p:style>
            <a:lnRef idx="2">
              <a:schemeClr val="accent1"/>
            </a:lnRef>
            <a:fillRef idx="0">
              <a:schemeClr val="accent1"/>
            </a:fillRef>
            <a:effectRef idx="1">
              <a:schemeClr val="accent1"/>
            </a:effectRef>
            <a:fontRef idx="minor">
              <a:schemeClr val="tx1"/>
            </a:fontRef>
          </p:style>
        </p:cxnSp>
        <p:cxnSp>
          <p:nvCxnSpPr>
            <p:cNvPr id="97" name="Connector 96"/>
            <p:cNvCxnSpPr/>
            <p:nvPr/>
          </p:nvCxnSpPr>
          <p:spPr>
            <a:xfrm flipV="1">
              <a:off x="10067544" y="5952744"/>
              <a:ext cx="530352" cy="530352"/>
            </a:xfrm>
            <a:prstGeom prst="line">
              <a:avLst/>
            </a:prstGeom>
            <a:ln w="11430">
              <a:solidFill>
                <a:srgbClr val="8193A0"/>
              </a:solidFill>
            </a:ln>
          </p:spPr>
          <p:style>
            <a:lnRef idx="2">
              <a:schemeClr val="accent1"/>
            </a:lnRef>
            <a:fillRef idx="0">
              <a:schemeClr val="accent1"/>
            </a:fillRef>
            <a:effectRef idx="1">
              <a:schemeClr val="accent1"/>
            </a:effectRef>
            <a:fontRef idx="minor">
              <a:schemeClr val="tx1"/>
            </a:fontRef>
          </p:style>
        </p:cxnSp>
        <p:cxnSp>
          <p:nvCxnSpPr>
            <p:cNvPr id="98" name="Connector 97"/>
            <p:cNvCxnSpPr/>
            <p:nvPr/>
          </p:nvCxnSpPr>
          <p:spPr>
            <a:xfrm flipV="1">
              <a:off x="10597896" y="5952744"/>
              <a:ext cx="530352" cy="530352"/>
            </a:xfrm>
            <a:prstGeom prst="line">
              <a:avLst/>
            </a:prstGeom>
            <a:ln w="11430">
              <a:solidFill>
                <a:srgbClr val="8193A0"/>
              </a:solidFill>
            </a:ln>
          </p:spPr>
          <p:style>
            <a:lnRef idx="2">
              <a:schemeClr val="accent1"/>
            </a:lnRef>
            <a:fillRef idx="0">
              <a:schemeClr val="accent1"/>
            </a:fillRef>
            <a:effectRef idx="1">
              <a:schemeClr val="accent1"/>
            </a:effectRef>
            <a:fontRef idx="minor">
              <a:schemeClr val="tx1"/>
            </a:fontRef>
          </p:style>
        </p:cxnSp>
        <p:cxnSp>
          <p:nvCxnSpPr>
            <p:cNvPr id="99" name="Connector 98"/>
            <p:cNvCxnSpPr/>
            <p:nvPr/>
          </p:nvCxnSpPr>
          <p:spPr>
            <a:xfrm flipV="1">
              <a:off x="9006840" y="6483096"/>
              <a:ext cx="530352" cy="530352"/>
            </a:xfrm>
            <a:prstGeom prst="line">
              <a:avLst/>
            </a:prstGeom>
            <a:ln w="11430">
              <a:solidFill>
                <a:srgbClr val="8193A0"/>
              </a:solidFill>
            </a:ln>
          </p:spPr>
          <p:style>
            <a:lnRef idx="2">
              <a:schemeClr val="accent1"/>
            </a:lnRef>
            <a:fillRef idx="0">
              <a:schemeClr val="accent1"/>
            </a:fillRef>
            <a:effectRef idx="1">
              <a:schemeClr val="accent1"/>
            </a:effectRef>
            <a:fontRef idx="minor">
              <a:schemeClr val="tx1"/>
            </a:fontRef>
          </p:style>
        </p:cxnSp>
        <p:cxnSp>
          <p:nvCxnSpPr>
            <p:cNvPr id="100" name="Connector 99"/>
            <p:cNvCxnSpPr/>
            <p:nvPr/>
          </p:nvCxnSpPr>
          <p:spPr>
            <a:xfrm flipV="1">
              <a:off x="9537192" y="6483096"/>
              <a:ext cx="530352" cy="530352"/>
            </a:xfrm>
            <a:prstGeom prst="line">
              <a:avLst/>
            </a:prstGeom>
            <a:ln w="11430">
              <a:solidFill>
                <a:srgbClr val="8193A0"/>
              </a:solidFill>
            </a:ln>
          </p:spPr>
          <p:style>
            <a:lnRef idx="2">
              <a:schemeClr val="accent1"/>
            </a:lnRef>
            <a:fillRef idx="0">
              <a:schemeClr val="accent1"/>
            </a:fillRef>
            <a:effectRef idx="1">
              <a:schemeClr val="accent1"/>
            </a:effectRef>
            <a:fontRef idx="minor">
              <a:schemeClr val="tx1"/>
            </a:fontRef>
          </p:style>
        </p:cxnSp>
        <p:cxnSp>
          <p:nvCxnSpPr>
            <p:cNvPr id="101" name="Connector 100"/>
            <p:cNvCxnSpPr/>
            <p:nvPr/>
          </p:nvCxnSpPr>
          <p:spPr>
            <a:xfrm flipV="1">
              <a:off x="10067544" y="6483096"/>
              <a:ext cx="530352" cy="530352"/>
            </a:xfrm>
            <a:prstGeom prst="line">
              <a:avLst/>
            </a:prstGeom>
            <a:ln w="11430">
              <a:solidFill>
                <a:srgbClr val="8193A0"/>
              </a:solidFill>
            </a:ln>
          </p:spPr>
          <p:style>
            <a:lnRef idx="2">
              <a:schemeClr val="accent1"/>
            </a:lnRef>
            <a:fillRef idx="0">
              <a:schemeClr val="accent1"/>
            </a:fillRef>
            <a:effectRef idx="1">
              <a:schemeClr val="accent1"/>
            </a:effectRef>
            <a:fontRef idx="minor">
              <a:schemeClr val="tx1"/>
            </a:fontRef>
          </p:style>
        </p:cxnSp>
        <p:cxnSp>
          <p:nvCxnSpPr>
            <p:cNvPr id="102" name="Connector 101"/>
            <p:cNvCxnSpPr/>
            <p:nvPr/>
          </p:nvCxnSpPr>
          <p:spPr>
            <a:xfrm flipV="1">
              <a:off x="10597896" y="6483096"/>
              <a:ext cx="530352" cy="530352"/>
            </a:xfrm>
            <a:prstGeom prst="line">
              <a:avLst/>
            </a:prstGeom>
            <a:ln w="11430">
              <a:solidFill>
                <a:srgbClr val="8193A0"/>
              </a:solidFill>
            </a:ln>
          </p:spPr>
          <p:style>
            <a:lnRef idx="2">
              <a:schemeClr val="accent1"/>
            </a:lnRef>
            <a:fillRef idx="0">
              <a:schemeClr val="accent1"/>
            </a:fillRef>
            <a:effectRef idx="1">
              <a:schemeClr val="accent1"/>
            </a:effectRef>
            <a:fontRef idx="minor">
              <a:schemeClr val="tx1"/>
            </a:fontRef>
          </p:style>
        </p:cxnSp>
      </p:gr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7F8FA"/>
        </a:solidFill>
        <a:effectLst/>
      </p:bgPr>
    </p:bg>
    <p:spTree>
      <p:nvGrpSpPr>
        <p:cNvPr id="1" name=""/>
        <p:cNvGrpSpPr/>
        <p:nvPr/>
      </p:nvGrpSpPr>
      <p:grpSpPr/>
      <p:sp>
        <p:nvSpPr>
          <p:cNvPr id="2" name="Rectangle 1"/>
          <p:cNvSpPr/>
          <p:nvPr/>
        </p:nvSpPr>
        <p:spPr>
          <a:xfrm>
            <a:off x="0" y="0"/>
            <a:ext cx="14630400" cy="91440"/>
          </a:xfrm>
          <a:prstGeom prst="rect">
            <a:avLst/>
          </a:prstGeom>
          <a:solidFill>
            <a:srgbClr val="176B73"/>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3" name="TextBox 2"/>
          <p:cNvSpPr txBox="1"/>
          <p:nvPr/>
        </p:nvSpPr>
        <p:spPr>
          <a:xfrm>
            <a:off x="384048" y="219456"/>
            <a:ext cx="12435840" cy="448056"/>
          </a:xfrm>
          <a:prstGeom prst="rect">
            <a:avLst/>
          </a:prstGeom>
          <a:noFill/>
        </p:spPr>
        <p:txBody>
          <a:bodyPr wrap="square" tIns="36576" bIns="36576" anchor="t">
            <a:spAutoFit/>
          </a:bodyPr>
          <a:lstStyle/>
          <a:p>
            <a:pPr>
              <a:lnSpc>
                <a:spcPts val="3132"/>
              </a:lnSpc>
              <a:spcBef>
                <a:spcPts val="0"/>
              </a:spcBef>
              <a:spcAft>
                <a:spcPts val="0"/>
              </a:spcAft>
              <a:defRPr sz="2900" b="1">
                <a:solidFill>
                  <a:srgbClr val="182B3A"/>
                </a:solidFill>
                <a:latin typeface="Arial"/>
              </a:defRPr>
            </a:pPr>
            <a:r>
              <a:t>Lattice Multiplication</a:t>
            </a:r>
          </a:p>
        </p:txBody>
      </p:sp>
      <p:sp>
        <p:nvSpPr>
          <p:cNvPr id="4" name="TextBox 3"/>
          <p:cNvSpPr txBox="1"/>
          <p:nvPr/>
        </p:nvSpPr>
        <p:spPr>
          <a:xfrm>
            <a:off x="384048" y="713232"/>
            <a:ext cx="13533120" cy="274320"/>
          </a:xfrm>
          <a:prstGeom prst="rect">
            <a:avLst/>
          </a:prstGeom>
          <a:noFill/>
        </p:spPr>
        <p:txBody>
          <a:bodyPr wrap="square" tIns="36576" bIns="36576" anchor="t">
            <a:spAutoFit/>
          </a:bodyPr>
          <a:lstStyle/>
          <a:p>
            <a:pPr>
              <a:lnSpc>
                <a:spcPts val="1512"/>
              </a:lnSpc>
              <a:spcBef>
                <a:spcPts val="0"/>
              </a:spcBef>
              <a:spcAft>
                <a:spcPts val="0"/>
              </a:spcAft>
              <a:defRPr sz="1400" b="0">
                <a:solidFill>
                  <a:srgbClr val="526472"/>
                </a:solidFill>
                <a:latin typeface="Arial"/>
              </a:defRPr>
            </a:pPr>
            <a:r>
              <a:t>Step-by-step practice 1  •  Complete each step in your booklet or webapp.</a:t>
            </a:r>
          </a:p>
        </p:txBody>
      </p:sp>
      <p:sp>
        <p:nvSpPr>
          <p:cNvPr id="5" name="TextBox 4"/>
          <p:cNvSpPr txBox="1"/>
          <p:nvPr/>
        </p:nvSpPr>
        <p:spPr>
          <a:xfrm>
            <a:off x="384048" y="7882127"/>
            <a:ext cx="10058400" cy="210312"/>
          </a:xfrm>
          <a:prstGeom prst="rect">
            <a:avLst/>
          </a:prstGeom>
          <a:noFill/>
        </p:spPr>
        <p:txBody>
          <a:bodyPr wrap="square" tIns="36576" bIns="36576" anchor="t">
            <a:spAutoFit/>
          </a:bodyPr>
          <a:lstStyle/>
          <a:p>
            <a:pPr>
              <a:lnSpc>
                <a:spcPts val="1188"/>
              </a:lnSpc>
              <a:spcBef>
                <a:spcPts val="0"/>
              </a:spcBef>
              <a:spcAft>
                <a:spcPts val="0"/>
              </a:spcAft>
              <a:defRPr sz="1100" b="0">
                <a:solidFill>
                  <a:srgbClr val="526472"/>
                </a:solidFill>
                <a:latin typeface="Arial"/>
              </a:defRPr>
            </a:pPr>
            <a:r>
              <a:t>GCSE Maths revision  •  Record your working in your booklet or webapp.</a:t>
            </a:r>
          </a:p>
        </p:txBody>
      </p:sp>
      <p:sp>
        <p:nvSpPr>
          <p:cNvPr id="6" name="TextBox 5"/>
          <p:cNvSpPr txBox="1"/>
          <p:nvPr/>
        </p:nvSpPr>
        <p:spPr>
          <a:xfrm>
            <a:off x="11430000" y="7863840"/>
            <a:ext cx="2788920" cy="228600"/>
          </a:xfrm>
          <a:prstGeom prst="rect">
            <a:avLst/>
          </a:prstGeom>
          <a:noFill/>
        </p:spPr>
        <p:txBody>
          <a:bodyPr wrap="square" tIns="36576" bIns="36576" anchor="t">
            <a:spAutoFit/>
          </a:bodyPr>
          <a:lstStyle/>
          <a:p>
            <a:pPr>
              <a:lnSpc>
                <a:spcPts val="1188"/>
              </a:lnSpc>
              <a:spcBef>
                <a:spcPts val="0"/>
              </a:spcBef>
              <a:spcAft>
                <a:spcPts val="0"/>
              </a:spcAft>
              <a:defRPr sz="1100" b="0">
                <a:solidFill>
                  <a:srgbClr val="526472"/>
                </a:solidFill>
                <a:latin typeface="Arial"/>
              </a:defRPr>
            </a:pPr>
            <a:r>
              <a:t>M01-S02  •  Topic slide 3</a:t>
            </a:r>
          </a:p>
        </p:txBody>
      </p:sp>
      <p:sp>
        <p:nvSpPr>
          <p:cNvPr id="7" name="Rectangle 6"/>
          <p:cNvSpPr/>
          <p:nvPr/>
        </p:nvSpPr>
        <p:spPr>
          <a:xfrm>
            <a:off x="2487168" y="1124712"/>
            <a:ext cx="3919727" cy="438912"/>
          </a:xfrm>
          <a:prstGeom prst="rect">
            <a:avLst/>
          </a:prstGeom>
          <a:solidFill>
            <a:srgbClr val="176B73"/>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8" name="TextBox 7"/>
          <p:cNvSpPr txBox="1"/>
          <p:nvPr/>
        </p:nvSpPr>
        <p:spPr>
          <a:xfrm>
            <a:off x="2542032" y="1152144"/>
            <a:ext cx="3809999" cy="338328"/>
          </a:xfrm>
          <a:prstGeom prst="rect">
            <a:avLst/>
          </a:prstGeom>
          <a:noFill/>
        </p:spPr>
        <p:txBody>
          <a:bodyPr wrap="square" tIns="36576" bIns="36576" anchor="t">
            <a:spAutoFit/>
          </a:bodyPr>
          <a:lstStyle/>
          <a:p>
            <a:pPr>
              <a:lnSpc>
                <a:spcPts val="2160"/>
              </a:lnSpc>
              <a:spcBef>
                <a:spcPts val="0"/>
              </a:spcBef>
              <a:spcAft>
                <a:spcPts val="0"/>
              </a:spcAft>
              <a:defRPr sz="2000" b="1">
                <a:solidFill>
                  <a:srgbClr val="FFFFFF"/>
                </a:solidFill>
                <a:latin typeface="Arial"/>
              </a:defRPr>
            </a:pPr>
            <a:r>
              <a:t>Start</a:t>
            </a:r>
          </a:p>
        </p:txBody>
      </p:sp>
      <p:sp>
        <p:nvSpPr>
          <p:cNvPr id="9" name="Rectangle 8"/>
          <p:cNvSpPr/>
          <p:nvPr/>
        </p:nvSpPr>
        <p:spPr>
          <a:xfrm>
            <a:off x="6406895" y="1124712"/>
            <a:ext cx="3919727" cy="438912"/>
          </a:xfrm>
          <a:prstGeom prst="rect">
            <a:avLst/>
          </a:prstGeom>
          <a:solidFill>
            <a:srgbClr val="3559A2"/>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0" name="TextBox 9"/>
          <p:cNvSpPr txBox="1"/>
          <p:nvPr/>
        </p:nvSpPr>
        <p:spPr>
          <a:xfrm>
            <a:off x="6461759" y="1152144"/>
            <a:ext cx="3809999" cy="338328"/>
          </a:xfrm>
          <a:prstGeom prst="rect">
            <a:avLst/>
          </a:prstGeom>
          <a:noFill/>
        </p:spPr>
        <p:txBody>
          <a:bodyPr wrap="square" tIns="36576" bIns="36576" anchor="t">
            <a:spAutoFit/>
          </a:bodyPr>
          <a:lstStyle/>
          <a:p>
            <a:pPr>
              <a:lnSpc>
                <a:spcPts val="2160"/>
              </a:lnSpc>
              <a:spcBef>
                <a:spcPts val="0"/>
              </a:spcBef>
              <a:spcAft>
                <a:spcPts val="0"/>
              </a:spcAft>
              <a:defRPr sz="2000" b="1">
                <a:solidFill>
                  <a:srgbClr val="FFFFFF"/>
                </a:solidFill>
                <a:latin typeface="Arial"/>
              </a:defRPr>
            </a:pPr>
            <a:r>
              <a:t>Build</a:t>
            </a:r>
          </a:p>
        </p:txBody>
      </p:sp>
      <p:sp>
        <p:nvSpPr>
          <p:cNvPr id="11" name="Rectangle 10"/>
          <p:cNvSpPr/>
          <p:nvPr/>
        </p:nvSpPr>
        <p:spPr>
          <a:xfrm>
            <a:off x="10326624" y="1124712"/>
            <a:ext cx="3919727" cy="438912"/>
          </a:xfrm>
          <a:prstGeom prst="rect">
            <a:avLst/>
          </a:prstGeom>
          <a:solidFill>
            <a:srgbClr val="754B87"/>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2" name="TextBox 11"/>
          <p:cNvSpPr txBox="1"/>
          <p:nvPr/>
        </p:nvSpPr>
        <p:spPr>
          <a:xfrm>
            <a:off x="10381488" y="1152144"/>
            <a:ext cx="3809999" cy="338328"/>
          </a:xfrm>
          <a:prstGeom prst="rect">
            <a:avLst/>
          </a:prstGeom>
          <a:noFill/>
        </p:spPr>
        <p:txBody>
          <a:bodyPr wrap="square" tIns="36576" bIns="36576" anchor="t">
            <a:spAutoFit/>
          </a:bodyPr>
          <a:lstStyle/>
          <a:p>
            <a:pPr>
              <a:lnSpc>
                <a:spcPts val="2160"/>
              </a:lnSpc>
              <a:spcBef>
                <a:spcPts val="0"/>
              </a:spcBef>
              <a:spcAft>
                <a:spcPts val="0"/>
              </a:spcAft>
              <a:defRPr sz="2000" b="1">
                <a:solidFill>
                  <a:srgbClr val="FFFFFF"/>
                </a:solidFill>
                <a:latin typeface="Arial"/>
              </a:defRPr>
            </a:pPr>
            <a:r>
              <a:t>Confidence</a:t>
            </a:r>
          </a:p>
        </p:txBody>
      </p:sp>
      <p:sp>
        <p:nvSpPr>
          <p:cNvPr id="13" name="Rectangle 12"/>
          <p:cNvSpPr/>
          <p:nvPr/>
        </p:nvSpPr>
        <p:spPr>
          <a:xfrm>
            <a:off x="384048" y="1581912"/>
            <a:ext cx="2103120" cy="594360"/>
          </a:xfrm>
          <a:prstGeom prst="rect">
            <a:avLst/>
          </a:prstGeom>
          <a:solidFill>
            <a:srgbClr val="E8EDF1"/>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4" name="TextBox 13"/>
          <p:cNvSpPr txBox="1"/>
          <p:nvPr/>
        </p:nvSpPr>
        <p:spPr>
          <a:xfrm>
            <a:off x="411479" y="1618488"/>
            <a:ext cx="2048255" cy="521208"/>
          </a:xfrm>
          <a:prstGeom prst="rect">
            <a:avLst/>
          </a:prstGeom>
          <a:noFill/>
        </p:spPr>
        <p:txBody>
          <a:bodyPr wrap="square" tIns="36576" bIns="36576" anchor="ctr">
            <a:spAutoFit/>
          </a:bodyPr>
          <a:lstStyle/>
          <a:p>
            <a:pPr>
              <a:lnSpc>
                <a:spcPts val="1728"/>
              </a:lnSpc>
              <a:spcBef>
                <a:spcPts val="0"/>
              </a:spcBef>
              <a:spcAft>
                <a:spcPts val="0"/>
              </a:spcAft>
              <a:defRPr sz="1600" b="1">
                <a:solidFill>
                  <a:srgbClr val="182B3A"/>
                </a:solidFill>
                <a:latin typeface="Arial"/>
              </a:defRPr>
            </a:pPr>
            <a:r>
              <a:t>The Full Question</a:t>
            </a:r>
          </a:p>
        </p:txBody>
      </p:sp>
      <p:sp>
        <p:nvSpPr>
          <p:cNvPr id="15" name="Rectangle 14"/>
          <p:cNvSpPr/>
          <p:nvPr/>
        </p:nvSpPr>
        <p:spPr>
          <a:xfrm>
            <a:off x="2487168" y="1581912"/>
            <a:ext cx="3919727" cy="594360"/>
          </a:xfrm>
          <a:prstGeom prst="rect">
            <a:avLst/>
          </a:prstGeom>
          <a:solidFill>
            <a:srgbClr val="EDF6F5"/>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6" name="TextBox 15"/>
          <p:cNvSpPr txBox="1"/>
          <p:nvPr/>
        </p:nvSpPr>
        <p:spPr>
          <a:xfrm>
            <a:off x="2542032" y="1636776"/>
            <a:ext cx="3809999" cy="484632"/>
          </a:xfrm>
          <a:prstGeom prst="rect">
            <a:avLst/>
          </a:prstGeom>
          <a:noFill/>
        </p:spPr>
        <p:txBody>
          <a:bodyPr wrap="square" tIns="36576" bIns="36576" anchor="ctr">
            <a:spAutoFit/>
          </a:bodyPr>
          <a:lstStyle/>
          <a:p>
            <a:pPr>
              <a:lnSpc>
                <a:spcPts val="2808"/>
              </a:lnSpc>
              <a:spcBef>
                <a:spcPts val="0"/>
              </a:spcBef>
              <a:spcAft>
                <a:spcPts val="0"/>
              </a:spcAft>
              <a:defRPr sz="2600" b="1">
                <a:solidFill>
                  <a:srgbClr val="182B3A"/>
                </a:solidFill>
                <a:latin typeface="Arial"/>
              </a:defRPr>
            </a:pPr>
            <a:r>
              <a:t>53 × 7</a:t>
            </a:r>
          </a:p>
        </p:txBody>
      </p:sp>
      <p:sp>
        <p:nvSpPr>
          <p:cNvPr id="17" name="Rectangle 16"/>
          <p:cNvSpPr/>
          <p:nvPr/>
        </p:nvSpPr>
        <p:spPr>
          <a:xfrm>
            <a:off x="6406895" y="1581912"/>
            <a:ext cx="3919727" cy="594360"/>
          </a:xfrm>
          <a:prstGeom prst="rect">
            <a:avLst/>
          </a:prstGeom>
          <a:solidFill>
            <a:srgbClr val="EFF3FA"/>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8" name="TextBox 17"/>
          <p:cNvSpPr txBox="1"/>
          <p:nvPr/>
        </p:nvSpPr>
        <p:spPr>
          <a:xfrm>
            <a:off x="6461759" y="1636776"/>
            <a:ext cx="3809999" cy="484632"/>
          </a:xfrm>
          <a:prstGeom prst="rect">
            <a:avLst/>
          </a:prstGeom>
          <a:noFill/>
        </p:spPr>
        <p:txBody>
          <a:bodyPr wrap="square" tIns="36576" bIns="36576" anchor="ctr">
            <a:spAutoFit/>
          </a:bodyPr>
          <a:lstStyle/>
          <a:p>
            <a:pPr>
              <a:lnSpc>
                <a:spcPts val="2808"/>
              </a:lnSpc>
              <a:spcBef>
                <a:spcPts val="0"/>
              </a:spcBef>
              <a:spcAft>
                <a:spcPts val="0"/>
              </a:spcAft>
              <a:defRPr sz="2600" b="1">
                <a:solidFill>
                  <a:srgbClr val="182B3A"/>
                </a:solidFill>
                <a:latin typeface="Arial"/>
              </a:defRPr>
            </a:pPr>
            <a:r>
              <a:t>24 × 15</a:t>
            </a:r>
          </a:p>
        </p:txBody>
      </p:sp>
      <p:sp>
        <p:nvSpPr>
          <p:cNvPr id="19" name="Rectangle 18"/>
          <p:cNvSpPr/>
          <p:nvPr/>
        </p:nvSpPr>
        <p:spPr>
          <a:xfrm>
            <a:off x="10326624" y="1581912"/>
            <a:ext cx="3919727" cy="594360"/>
          </a:xfrm>
          <a:prstGeom prst="rect">
            <a:avLst/>
          </a:prstGeom>
          <a:solidFill>
            <a:srgbClr val="F5F0F7"/>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20" name="TextBox 19"/>
          <p:cNvSpPr txBox="1"/>
          <p:nvPr/>
        </p:nvSpPr>
        <p:spPr>
          <a:xfrm>
            <a:off x="10381488" y="1636776"/>
            <a:ext cx="3809999" cy="484632"/>
          </a:xfrm>
          <a:prstGeom prst="rect">
            <a:avLst/>
          </a:prstGeom>
          <a:noFill/>
        </p:spPr>
        <p:txBody>
          <a:bodyPr wrap="square" tIns="36576" bIns="36576" anchor="ctr">
            <a:spAutoFit/>
          </a:bodyPr>
          <a:lstStyle/>
          <a:p>
            <a:pPr>
              <a:lnSpc>
                <a:spcPts val="2808"/>
              </a:lnSpc>
              <a:spcBef>
                <a:spcPts val="0"/>
              </a:spcBef>
              <a:spcAft>
                <a:spcPts val="0"/>
              </a:spcAft>
              <a:defRPr sz="2600" b="1">
                <a:solidFill>
                  <a:srgbClr val="182B3A"/>
                </a:solidFill>
                <a:latin typeface="Arial"/>
              </a:defRPr>
            </a:pPr>
            <a:r>
              <a:t>1,245 × 326</a:t>
            </a:r>
          </a:p>
        </p:txBody>
      </p:sp>
      <p:sp>
        <p:nvSpPr>
          <p:cNvPr id="21" name="Rectangle 20"/>
          <p:cNvSpPr/>
          <p:nvPr/>
        </p:nvSpPr>
        <p:spPr>
          <a:xfrm>
            <a:off x="384048" y="2176272"/>
            <a:ext cx="2103120" cy="1280160"/>
          </a:xfrm>
          <a:prstGeom prst="rect">
            <a:avLst/>
          </a:prstGeom>
          <a:solidFill>
            <a:srgbClr val="E8EDF1"/>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22" name="TextBox 21"/>
          <p:cNvSpPr txBox="1"/>
          <p:nvPr/>
        </p:nvSpPr>
        <p:spPr>
          <a:xfrm>
            <a:off x="448056" y="2267712"/>
            <a:ext cx="1975103" cy="1097280"/>
          </a:xfrm>
          <a:prstGeom prst="rect">
            <a:avLst/>
          </a:prstGeom>
          <a:noFill/>
        </p:spPr>
        <p:txBody>
          <a:bodyPr wrap="square" tIns="36576" bIns="36576" anchor="t">
            <a:spAutoFit/>
          </a:bodyPr>
          <a:lstStyle/>
          <a:p>
            <a:pPr>
              <a:lnSpc>
                <a:spcPts val="1944"/>
              </a:lnSpc>
              <a:spcBef>
                <a:spcPts val="0"/>
              </a:spcBef>
              <a:spcAft>
                <a:spcPts val="0"/>
              </a:spcAft>
              <a:defRPr sz="1800" b="1">
                <a:solidFill>
                  <a:srgbClr val="182B3A"/>
                </a:solidFill>
                <a:latin typeface="Arial"/>
              </a:defRPr>
            </a:pPr>
            <a:r>
              <a:t>1. Draw Grid &amp; Arrange Digits</a:t>
            </a:r>
          </a:p>
        </p:txBody>
      </p:sp>
      <p:sp>
        <p:nvSpPr>
          <p:cNvPr id="23" name="Rectangle 22"/>
          <p:cNvSpPr/>
          <p:nvPr/>
        </p:nvSpPr>
        <p:spPr>
          <a:xfrm>
            <a:off x="2487168" y="2176272"/>
            <a:ext cx="3919727" cy="128016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24" name="TextBox 23"/>
          <p:cNvSpPr txBox="1"/>
          <p:nvPr/>
        </p:nvSpPr>
        <p:spPr>
          <a:xfrm>
            <a:off x="2551175" y="2240279"/>
            <a:ext cx="3791712" cy="1115568"/>
          </a:xfrm>
          <a:prstGeom prst="rect">
            <a:avLst/>
          </a:prstGeom>
          <a:noFill/>
        </p:spPr>
        <p:txBody>
          <a:bodyPr wrap="square" tIns="36576" bIns="36576" anchor="t">
            <a:spAutoFit/>
          </a:bodyPr>
          <a:lstStyle/>
          <a:p>
            <a:pPr>
              <a:lnSpc>
                <a:spcPts val="2052"/>
              </a:lnSpc>
              <a:spcBef>
                <a:spcPts val="0"/>
              </a:spcBef>
              <a:spcAft>
                <a:spcPts val="0"/>
              </a:spcAft>
              <a:defRPr sz="1900" b="0">
                <a:solidFill>
                  <a:srgbClr val="182B3A"/>
                </a:solidFill>
                <a:latin typeface="Arial"/>
              </a:defRPr>
            </a:pPr>
            <a:r>
              <a:t>Draw the grid and diagonals. First number across the top; second number down the right edge.</a:t>
            </a:r>
          </a:p>
        </p:txBody>
      </p:sp>
      <p:sp>
        <p:nvSpPr>
          <p:cNvPr id="25" name="Rectangle 24"/>
          <p:cNvSpPr/>
          <p:nvPr/>
        </p:nvSpPr>
        <p:spPr>
          <a:xfrm>
            <a:off x="6406895" y="2176272"/>
            <a:ext cx="3919727" cy="128016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26" name="TextBox 25"/>
          <p:cNvSpPr txBox="1"/>
          <p:nvPr/>
        </p:nvSpPr>
        <p:spPr>
          <a:xfrm>
            <a:off x="6470904" y="2240279"/>
            <a:ext cx="3791712" cy="1115568"/>
          </a:xfrm>
          <a:prstGeom prst="rect">
            <a:avLst/>
          </a:prstGeom>
          <a:noFill/>
        </p:spPr>
        <p:txBody>
          <a:bodyPr wrap="square" tIns="36576" bIns="36576" anchor="t">
            <a:spAutoFit/>
          </a:bodyPr>
          <a:lstStyle/>
          <a:p>
            <a:pPr>
              <a:lnSpc>
                <a:spcPts val="2052"/>
              </a:lnSpc>
              <a:spcBef>
                <a:spcPts val="0"/>
              </a:spcBef>
              <a:spcAft>
                <a:spcPts val="0"/>
              </a:spcAft>
              <a:defRPr sz="1900" b="0">
                <a:solidFill>
                  <a:srgbClr val="182B3A"/>
                </a:solidFill>
                <a:latin typeface="Arial"/>
              </a:defRPr>
            </a:pPr>
            <a:r>
              <a:t>Draw the grid and diagonals. First number across the top; second number down the right edge.</a:t>
            </a:r>
          </a:p>
        </p:txBody>
      </p:sp>
      <p:sp>
        <p:nvSpPr>
          <p:cNvPr id="27" name="Rectangle 26"/>
          <p:cNvSpPr/>
          <p:nvPr/>
        </p:nvSpPr>
        <p:spPr>
          <a:xfrm>
            <a:off x="10326624" y="2176272"/>
            <a:ext cx="3919727" cy="128016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28" name="TextBox 27"/>
          <p:cNvSpPr txBox="1"/>
          <p:nvPr/>
        </p:nvSpPr>
        <p:spPr>
          <a:xfrm>
            <a:off x="10390632" y="2240279"/>
            <a:ext cx="3791712" cy="1115568"/>
          </a:xfrm>
          <a:prstGeom prst="rect">
            <a:avLst/>
          </a:prstGeom>
          <a:noFill/>
        </p:spPr>
        <p:txBody>
          <a:bodyPr wrap="square" tIns="36576" bIns="36576" anchor="t">
            <a:spAutoFit/>
          </a:bodyPr>
          <a:lstStyle/>
          <a:p>
            <a:pPr>
              <a:lnSpc>
                <a:spcPts val="2052"/>
              </a:lnSpc>
              <a:spcBef>
                <a:spcPts val="0"/>
              </a:spcBef>
              <a:spcAft>
                <a:spcPts val="0"/>
              </a:spcAft>
              <a:defRPr sz="1900" b="0">
                <a:solidFill>
                  <a:srgbClr val="182B3A"/>
                </a:solidFill>
                <a:latin typeface="Arial"/>
              </a:defRPr>
            </a:pPr>
            <a:r>
              <a:t>Draw the grid and diagonals. First number across the top; second number down the right edge.</a:t>
            </a:r>
          </a:p>
        </p:txBody>
      </p:sp>
      <p:sp>
        <p:nvSpPr>
          <p:cNvPr id="29" name="Rectangle 28"/>
          <p:cNvSpPr/>
          <p:nvPr/>
        </p:nvSpPr>
        <p:spPr>
          <a:xfrm>
            <a:off x="384048" y="3456432"/>
            <a:ext cx="2103120" cy="1371600"/>
          </a:xfrm>
          <a:prstGeom prst="rect">
            <a:avLst/>
          </a:prstGeom>
          <a:solidFill>
            <a:srgbClr val="E8EDF1"/>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30" name="TextBox 29"/>
          <p:cNvSpPr txBox="1"/>
          <p:nvPr/>
        </p:nvSpPr>
        <p:spPr>
          <a:xfrm>
            <a:off x="448056" y="3547872"/>
            <a:ext cx="1975103" cy="1188720"/>
          </a:xfrm>
          <a:prstGeom prst="rect">
            <a:avLst/>
          </a:prstGeom>
          <a:noFill/>
        </p:spPr>
        <p:txBody>
          <a:bodyPr wrap="square" tIns="36576" bIns="36576" anchor="t">
            <a:spAutoFit/>
          </a:bodyPr>
          <a:lstStyle/>
          <a:p>
            <a:pPr>
              <a:lnSpc>
                <a:spcPts val="1944"/>
              </a:lnSpc>
              <a:spcBef>
                <a:spcPts val="0"/>
              </a:spcBef>
              <a:spcAft>
                <a:spcPts val="0"/>
              </a:spcAft>
              <a:defRPr sz="1800" b="1">
                <a:solidFill>
                  <a:srgbClr val="182B3A"/>
                </a:solidFill>
                <a:latin typeface="Arial"/>
              </a:defRPr>
            </a:pPr>
            <a:r>
              <a:t>2. Find &amp; Fill Cell Products</a:t>
            </a:r>
          </a:p>
        </p:txBody>
      </p:sp>
      <p:sp>
        <p:nvSpPr>
          <p:cNvPr id="31" name="Rectangle 30"/>
          <p:cNvSpPr/>
          <p:nvPr/>
        </p:nvSpPr>
        <p:spPr>
          <a:xfrm>
            <a:off x="2487168" y="3456432"/>
            <a:ext cx="3919727" cy="137160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32" name="TextBox 31"/>
          <p:cNvSpPr txBox="1"/>
          <p:nvPr/>
        </p:nvSpPr>
        <p:spPr>
          <a:xfrm>
            <a:off x="2551175" y="3520439"/>
            <a:ext cx="3791712" cy="1207008"/>
          </a:xfrm>
          <a:prstGeom prst="rect">
            <a:avLst/>
          </a:prstGeom>
          <a:noFill/>
        </p:spPr>
        <p:txBody>
          <a:bodyPr wrap="square" tIns="36576" bIns="36576" anchor="t">
            <a:spAutoFit/>
          </a:bodyPr>
          <a:lstStyle/>
          <a:p>
            <a:pPr>
              <a:lnSpc>
                <a:spcPts val="2160"/>
              </a:lnSpc>
              <a:spcBef>
                <a:spcPts val="0"/>
              </a:spcBef>
              <a:spcAft>
                <a:spcPts val="0"/>
              </a:spcAft>
              <a:defRPr sz="2000" b="0">
                <a:solidFill>
                  <a:srgbClr val="182B3A"/>
                </a:solidFill>
                <a:latin typeface="Arial"/>
              </a:defRPr>
            </a:pPr>
            <a:r>
              <a:t>Multiply each row and column digit. Tens above; units below. Write a tens zero if the product is below 10.</a:t>
            </a:r>
          </a:p>
        </p:txBody>
      </p:sp>
      <p:sp>
        <p:nvSpPr>
          <p:cNvPr id="33" name="Rectangle 32"/>
          <p:cNvSpPr/>
          <p:nvPr/>
        </p:nvSpPr>
        <p:spPr>
          <a:xfrm>
            <a:off x="6406895" y="3456432"/>
            <a:ext cx="3919727" cy="137160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34" name="TextBox 33"/>
          <p:cNvSpPr txBox="1"/>
          <p:nvPr/>
        </p:nvSpPr>
        <p:spPr>
          <a:xfrm>
            <a:off x="6470904" y="3520439"/>
            <a:ext cx="3791712" cy="1207008"/>
          </a:xfrm>
          <a:prstGeom prst="rect">
            <a:avLst/>
          </a:prstGeom>
          <a:noFill/>
        </p:spPr>
        <p:txBody>
          <a:bodyPr wrap="square" tIns="36576" bIns="36576" anchor="t">
            <a:spAutoFit/>
          </a:bodyPr>
          <a:lstStyle/>
          <a:p>
            <a:pPr>
              <a:lnSpc>
                <a:spcPts val="2160"/>
              </a:lnSpc>
              <a:spcBef>
                <a:spcPts val="0"/>
              </a:spcBef>
              <a:spcAft>
                <a:spcPts val="0"/>
              </a:spcAft>
              <a:defRPr sz="2000" b="0">
                <a:solidFill>
                  <a:srgbClr val="182B3A"/>
                </a:solidFill>
                <a:latin typeface="Arial"/>
              </a:defRPr>
            </a:pPr>
            <a:r>
              <a:t>Multiply each row and column digit. Tens above; units below. Write a tens zero if the product is below 10.</a:t>
            </a:r>
          </a:p>
        </p:txBody>
      </p:sp>
      <p:sp>
        <p:nvSpPr>
          <p:cNvPr id="35" name="Rectangle 34"/>
          <p:cNvSpPr/>
          <p:nvPr/>
        </p:nvSpPr>
        <p:spPr>
          <a:xfrm>
            <a:off x="10326624" y="3456432"/>
            <a:ext cx="3919727" cy="137160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36" name="TextBox 35"/>
          <p:cNvSpPr txBox="1"/>
          <p:nvPr/>
        </p:nvSpPr>
        <p:spPr>
          <a:xfrm>
            <a:off x="10390632" y="3520439"/>
            <a:ext cx="3791712" cy="1207008"/>
          </a:xfrm>
          <a:prstGeom prst="rect">
            <a:avLst/>
          </a:prstGeom>
          <a:noFill/>
        </p:spPr>
        <p:txBody>
          <a:bodyPr wrap="square" tIns="36576" bIns="36576" anchor="t">
            <a:spAutoFit/>
          </a:bodyPr>
          <a:lstStyle/>
          <a:p>
            <a:pPr>
              <a:lnSpc>
                <a:spcPts val="2160"/>
              </a:lnSpc>
              <a:spcBef>
                <a:spcPts val="0"/>
              </a:spcBef>
              <a:spcAft>
                <a:spcPts val="0"/>
              </a:spcAft>
              <a:defRPr sz="2000" b="0">
                <a:solidFill>
                  <a:srgbClr val="182B3A"/>
                </a:solidFill>
                <a:latin typeface="Arial"/>
              </a:defRPr>
            </a:pPr>
            <a:r>
              <a:t>Multiply each row and column digit. Tens above; units below. Write a zero </a:t>
            </a:r>
            <a:r>
              <a:rPr lang="en-GB"/>
              <a:t>in tens </a:t>
            </a:r>
            <a:r>
              <a:t>if the product is below 10.</a:t>
            </a:r>
          </a:p>
        </p:txBody>
      </p:sp>
      <p:sp>
        <p:nvSpPr>
          <p:cNvPr id="37" name="Rectangle 36"/>
          <p:cNvSpPr/>
          <p:nvPr/>
        </p:nvSpPr>
        <p:spPr>
          <a:xfrm>
            <a:off x="384048" y="4828031"/>
            <a:ext cx="2103120" cy="1828800"/>
          </a:xfrm>
          <a:prstGeom prst="rect">
            <a:avLst/>
          </a:prstGeom>
          <a:solidFill>
            <a:srgbClr val="E8EDF1"/>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38" name="TextBox 37"/>
          <p:cNvSpPr txBox="1"/>
          <p:nvPr/>
        </p:nvSpPr>
        <p:spPr>
          <a:xfrm>
            <a:off x="448056" y="4919471"/>
            <a:ext cx="1975103" cy="1645920"/>
          </a:xfrm>
          <a:prstGeom prst="rect">
            <a:avLst/>
          </a:prstGeom>
          <a:noFill/>
        </p:spPr>
        <p:txBody>
          <a:bodyPr wrap="square" tIns="36576" bIns="36576" anchor="t">
            <a:spAutoFit/>
          </a:bodyPr>
          <a:lstStyle/>
          <a:p>
            <a:pPr>
              <a:lnSpc>
                <a:spcPts val="1944"/>
              </a:lnSpc>
              <a:spcBef>
                <a:spcPts val="0"/>
              </a:spcBef>
              <a:spcAft>
                <a:spcPts val="0"/>
              </a:spcAft>
              <a:defRPr sz="1800" b="1">
                <a:solidFill>
                  <a:srgbClr val="182B3A"/>
                </a:solidFill>
                <a:latin typeface="Arial"/>
              </a:defRPr>
            </a:pPr>
            <a:r>
              <a:t>3. Sum Diagonals &amp; Track Carries</a:t>
            </a:r>
          </a:p>
        </p:txBody>
      </p:sp>
      <p:sp>
        <p:nvSpPr>
          <p:cNvPr id="39" name="Rectangle 38"/>
          <p:cNvSpPr/>
          <p:nvPr/>
        </p:nvSpPr>
        <p:spPr>
          <a:xfrm>
            <a:off x="2487168" y="4828031"/>
            <a:ext cx="3919727" cy="182880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40" name="TextBox 39"/>
          <p:cNvSpPr txBox="1"/>
          <p:nvPr/>
        </p:nvSpPr>
        <p:spPr>
          <a:xfrm>
            <a:off x="2551175" y="4892040"/>
            <a:ext cx="3791712" cy="1664208"/>
          </a:xfrm>
          <a:prstGeom prst="rect">
            <a:avLst/>
          </a:prstGeom>
          <a:noFill/>
        </p:spPr>
        <p:txBody>
          <a:bodyPr wrap="square" tIns="36576" bIns="36576" anchor="t">
            <a:spAutoFit/>
          </a:bodyPr>
          <a:lstStyle/>
          <a:p>
            <a:pPr>
              <a:lnSpc>
                <a:spcPts val="2052"/>
              </a:lnSpc>
              <a:spcBef>
                <a:spcPts val="0"/>
              </a:spcBef>
              <a:spcAft>
                <a:spcPts val="0"/>
              </a:spcAft>
              <a:defRPr sz="1900" b="0">
                <a:solidFill>
                  <a:srgbClr val="182B3A"/>
                </a:solidFill>
                <a:latin typeface="Arial"/>
              </a:defRPr>
            </a:pPr>
            <a:r>
              <a:t>Start at the bottom right. Add each diagonal and any carry. Write its result digit at the bottom end. Put the next carry at the bottom end of the next diagonal in smaller text.</a:t>
            </a:r>
          </a:p>
        </p:txBody>
      </p:sp>
      <p:sp>
        <p:nvSpPr>
          <p:cNvPr id="41" name="Rectangle 40"/>
          <p:cNvSpPr/>
          <p:nvPr/>
        </p:nvSpPr>
        <p:spPr>
          <a:xfrm>
            <a:off x="6406895" y="4828031"/>
            <a:ext cx="3919727" cy="182880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42" name="TextBox 41"/>
          <p:cNvSpPr txBox="1"/>
          <p:nvPr/>
        </p:nvSpPr>
        <p:spPr>
          <a:xfrm>
            <a:off x="6470904" y="4892040"/>
            <a:ext cx="3791712" cy="1664208"/>
          </a:xfrm>
          <a:prstGeom prst="rect">
            <a:avLst/>
          </a:prstGeom>
          <a:noFill/>
        </p:spPr>
        <p:txBody>
          <a:bodyPr wrap="square" tIns="36576" bIns="36576" anchor="t">
            <a:spAutoFit/>
          </a:bodyPr>
          <a:lstStyle/>
          <a:p>
            <a:pPr>
              <a:lnSpc>
                <a:spcPts val="2052"/>
              </a:lnSpc>
              <a:spcBef>
                <a:spcPts val="0"/>
              </a:spcBef>
              <a:spcAft>
                <a:spcPts val="0"/>
              </a:spcAft>
              <a:defRPr sz="1900" b="0">
                <a:solidFill>
                  <a:srgbClr val="182B3A"/>
                </a:solidFill>
                <a:latin typeface="Arial"/>
              </a:defRPr>
            </a:pPr>
            <a:r>
              <a:t>Start at the bottom right. Add each diagonal and any carry. Write its result digit at the bottom end. Put the next carry at the bottom end of the next diagonal in smaller text.</a:t>
            </a:r>
          </a:p>
        </p:txBody>
      </p:sp>
      <p:sp>
        <p:nvSpPr>
          <p:cNvPr id="43" name="Rectangle 42"/>
          <p:cNvSpPr/>
          <p:nvPr/>
        </p:nvSpPr>
        <p:spPr>
          <a:xfrm>
            <a:off x="10326624" y="4828031"/>
            <a:ext cx="3919727" cy="182880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44" name="TextBox 43"/>
          <p:cNvSpPr txBox="1"/>
          <p:nvPr/>
        </p:nvSpPr>
        <p:spPr>
          <a:xfrm>
            <a:off x="10390632" y="4892040"/>
            <a:ext cx="3791712" cy="1664208"/>
          </a:xfrm>
          <a:prstGeom prst="rect">
            <a:avLst/>
          </a:prstGeom>
          <a:noFill/>
        </p:spPr>
        <p:txBody>
          <a:bodyPr wrap="square" tIns="36576" bIns="36576" anchor="t">
            <a:spAutoFit/>
          </a:bodyPr>
          <a:lstStyle/>
          <a:p>
            <a:pPr>
              <a:lnSpc>
                <a:spcPts val="2052"/>
              </a:lnSpc>
              <a:spcBef>
                <a:spcPts val="0"/>
              </a:spcBef>
              <a:spcAft>
                <a:spcPts val="0"/>
              </a:spcAft>
              <a:defRPr sz="1900" b="0">
                <a:solidFill>
                  <a:srgbClr val="182B3A"/>
                </a:solidFill>
                <a:latin typeface="Arial"/>
              </a:defRPr>
            </a:pPr>
            <a:r>
              <a:t>Start at the bottom right. Add each diagonal and any carry. Write its result digit at the bottom end. Put the next carry at the bottom end of the next diagonal in smaller text.</a:t>
            </a:r>
          </a:p>
        </p:txBody>
      </p:sp>
      <p:sp>
        <p:nvSpPr>
          <p:cNvPr id="45" name="Rectangle 44"/>
          <p:cNvSpPr/>
          <p:nvPr/>
        </p:nvSpPr>
        <p:spPr>
          <a:xfrm>
            <a:off x="384048" y="6656831"/>
            <a:ext cx="2103120" cy="1051560"/>
          </a:xfrm>
          <a:prstGeom prst="rect">
            <a:avLst/>
          </a:prstGeom>
          <a:solidFill>
            <a:srgbClr val="E8EDF1"/>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46" name="TextBox 45"/>
          <p:cNvSpPr txBox="1"/>
          <p:nvPr/>
        </p:nvSpPr>
        <p:spPr>
          <a:xfrm>
            <a:off x="448056" y="6748271"/>
            <a:ext cx="1975103" cy="868680"/>
          </a:xfrm>
          <a:prstGeom prst="rect">
            <a:avLst/>
          </a:prstGeom>
          <a:noFill/>
        </p:spPr>
        <p:txBody>
          <a:bodyPr wrap="square" tIns="36576" bIns="36576" anchor="t">
            <a:spAutoFit/>
          </a:bodyPr>
          <a:lstStyle/>
          <a:p>
            <a:pPr>
              <a:lnSpc>
                <a:spcPts val="1944"/>
              </a:lnSpc>
              <a:spcBef>
                <a:spcPts val="0"/>
              </a:spcBef>
              <a:spcAft>
                <a:spcPts val="0"/>
              </a:spcAft>
              <a:defRPr sz="1800" b="1">
                <a:solidFill>
                  <a:srgbClr val="182B3A"/>
                </a:solidFill>
                <a:latin typeface="Arial"/>
              </a:defRPr>
            </a:pPr>
            <a:r>
              <a:t>4. Write Final Answer</a:t>
            </a:r>
          </a:p>
        </p:txBody>
      </p:sp>
      <p:sp>
        <p:nvSpPr>
          <p:cNvPr id="47" name="Rectangle 46"/>
          <p:cNvSpPr/>
          <p:nvPr/>
        </p:nvSpPr>
        <p:spPr>
          <a:xfrm>
            <a:off x="2487168" y="6656831"/>
            <a:ext cx="3919727" cy="105156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48" name="TextBox 47"/>
          <p:cNvSpPr txBox="1"/>
          <p:nvPr/>
        </p:nvSpPr>
        <p:spPr>
          <a:xfrm>
            <a:off x="2551175" y="6720840"/>
            <a:ext cx="3791712" cy="886968"/>
          </a:xfrm>
          <a:prstGeom prst="rect">
            <a:avLst/>
          </a:prstGeom>
          <a:noFill/>
        </p:spPr>
        <p:txBody>
          <a:bodyPr wrap="square" tIns="36576" bIns="36576" anchor="t">
            <a:spAutoFit/>
          </a:bodyPr>
          <a:lstStyle/>
          <a:p>
            <a:pPr>
              <a:lnSpc>
                <a:spcPts val="2160"/>
              </a:lnSpc>
              <a:spcBef>
                <a:spcPts val="0"/>
              </a:spcBef>
              <a:spcAft>
                <a:spcPts val="0"/>
              </a:spcAft>
              <a:defRPr sz="2000" b="0">
                <a:solidFill>
                  <a:srgbClr val="182B3A"/>
                </a:solidFill>
                <a:latin typeface="Arial"/>
              </a:defRPr>
            </a:pPr>
            <a:r>
              <a:t>Read down the left edge, then along the bottom. Omit leading zeros.</a:t>
            </a:r>
          </a:p>
        </p:txBody>
      </p:sp>
      <p:sp>
        <p:nvSpPr>
          <p:cNvPr id="49" name="Rectangle 48"/>
          <p:cNvSpPr/>
          <p:nvPr/>
        </p:nvSpPr>
        <p:spPr>
          <a:xfrm>
            <a:off x="6406895" y="6656831"/>
            <a:ext cx="3919727" cy="105156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50" name="TextBox 49"/>
          <p:cNvSpPr txBox="1"/>
          <p:nvPr/>
        </p:nvSpPr>
        <p:spPr>
          <a:xfrm>
            <a:off x="6470904" y="6720840"/>
            <a:ext cx="3791712" cy="886968"/>
          </a:xfrm>
          <a:prstGeom prst="rect">
            <a:avLst/>
          </a:prstGeom>
          <a:noFill/>
        </p:spPr>
        <p:txBody>
          <a:bodyPr wrap="square" tIns="36576" bIns="36576" anchor="t">
            <a:spAutoFit/>
          </a:bodyPr>
          <a:lstStyle/>
          <a:p>
            <a:pPr>
              <a:lnSpc>
                <a:spcPts val="2160"/>
              </a:lnSpc>
              <a:spcBef>
                <a:spcPts val="0"/>
              </a:spcBef>
              <a:spcAft>
                <a:spcPts val="0"/>
              </a:spcAft>
              <a:defRPr sz="2000" b="0">
                <a:solidFill>
                  <a:srgbClr val="182B3A"/>
                </a:solidFill>
                <a:latin typeface="Arial"/>
              </a:defRPr>
            </a:pPr>
            <a:r>
              <a:t>Read down the left edge, then along the bottom. Omit leading zeros.</a:t>
            </a:r>
          </a:p>
        </p:txBody>
      </p:sp>
      <p:sp>
        <p:nvSpPr>
          <p:cNvPr id="51" name="Rectangle 50"/>
          <p:cNvSpPr/>
          <p:nvPr/>
        </p:nvSpPr>
        <p:spPr>
          <a:xfrm>
            <a:off x="10326624" y="6656831"/>
            <a:ext cx="3919727" cy="105156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52" name="TextBox 51"/>
          <p:cNvSpPr txBox="1"/>
          <p:nvPr/>
        </p:nvSpPr>
        <p:spPr>
          <a:xfrm>
            <a:off x="10390632" y="6720840"/>
            <a:ext cx="3791712" cy="886968"/>
          </a:xfrm>
          <a:prstGeom prst="rect">
            <a:avLst/>
          </a:prstGeom>
          <a:noFill/>
        </p:spPr>
        <p:txBody>
          <a:bodyPr wrap="square" tIns="36576" bIns="36576" anchor="t">
            <a:spAutoFit/>
          </a:bodyPr>
          <a:lstStyle/>
          <a:p>
            <a:pPr>
              <a:lnSpc>
                <a:spcPts val="2160"/>
              </a:lnSpc>
              <a:spcBef>
                <a:spcPts val="0"/>
              </a:spcBef>
              <a:spcAft>
                <a:spcPts val="0"/>
              </a:spcAft>
              <a:defRPr sz="2000" b="0">
                <a:solidFill>
                  <a:srgbClr val="182B3A"/>
                </a:solidFill>
                <a:latin typeface="Arial"/>
              </a:defRPr>
            </a:pPr>
            <a:r>
              <a:t>Read down the left edge, then along the bottom. Omit leading zeros.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7F8FA"/>
        </a:solidFill>
        <a:effectLst/>
      </p:bgPr>
    </p:bg>
    <p:spTree>
      <p:nvGrpSpPr>
        <p:cNvPr id="1" name=""/>
        <p:cNvGrpSpPr/>
        <p:nvPr/>
      </p:nvGrpSpPr>
      <p:grpSpPr/>
      <p:sp>
        <p:nvSpPr>
          <p:cNvPr id="2" name="Rectangle 1"/>
          <p:cNvSpPr/>
          <p:nvPr/>
        </p:nvSpPr>
        <p:spPr>
          <a:xfrm>
            <a:off x="0" y="0"/>
            <a:ext cx="14630400" cy="91440"/>
          </a:xfrm>
          <a:prstGeom prst="rect">
            <a:avLst/>
          </a:prstGeom>
          <a:solidFill>
            <a:srgbClr val="176B73"/>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3" name="TextBox 2"/>
          <p:cNvSpPr txBox="1"/>
          <p:nvPr/>
        </p:nvSpPr>
        <p:spPr>
          <a:xfrm>
            <a:off x="384048" y="219456"/>
            <a:ext cx="12435840" cy="448056"/>
          </a:xfrm>
          <a:prstGeom prst="rect">
            <a:avLst/>
          </a:prstGeom>
          <a:noFill/>
        </p:spPr>
        <p:txBody>
          <a:bodyPr wrap="square" tIns="36576" bIns="36576" anchor="t">
            <a:spAutoFit/>
          </a:bodyPr>
          <a:lstStyle/>
          <a:p>
            <a:pPr>
              <a:lnSpc>
                <a:spcPts val="3132"/>
              </a:lnSpc>
              <a:spcBef>
                <a:spcPts val="0"/>
              </a:spcBef>
              <a:spcAft>
                <a:spcPts val="0"/>
              </a:spcAft>
              <a:defRPr sz="2900" b="1">
                <a:solidFill>
                  <a:srgbClr val="182B3A"/>
                </a:solidFill>
                <a:latin typeface="Arial"/>
              </a:defRPr>
            </a:pPr>
            <a:r>
              <a:t>Lattice Multiplication</a:t>
            </a:r>
          </a:p>
        </p:txBody>
      </p:sp>
      <p:sp>
        <p:nvSpPr>
          <p:cNvPr id="4" name="TextBox 3"/>
          <p:cNvSpPr txBox="1"/>
          <p:nvPr/>
        </p:nvSpPr>
        <p:spPr>
          <a:xfrm>
            <a:off x="384048" y="713232"/>
            <a:ext cx="13533120" cy="274320"/>
          </a:xfrm>
          <a:prstGeom prst="rect">
            <a:avLst/>
          </a:prstGeom>
          <a:noFill/>
        </p:spPr>
        <p:txBody>
          <a:bodyPr wrap="square" tIns="36576" bIns="36576" anchor="t">
            <a:spAutoFit/>
          </a:bodyPr>
          <a:lstStyle/>
          <a:p>
            <a:pPr>
              <a:lnSpc>
                <a:spcPts val="1512"/>
              </a:lnSpc>
              <a:spcBef>
                <a:spcPts val="0"/>
              </a:spcBef>
              <a:spcAft>
                <a:spcPts val="0"/>
              </a:spcAft>
              <a:defRPr sz="1400" b="0">
                <a:solidFill>
                  <a:srgbClr val="526472"/>
                </a:solidFill>
                <a:latin typeface="Arial"/>
              </a:defRPr>
            </a:pPr>
            <a:r>
              <a:t>Step-by-step practice 2  •  Complete each step in your booklet or webapp.</a:t>
            </a:r>
          </a:p>
        </p:txBody>
      </p:sp>
      <p:sp>
        <p:nvSpPr>
          <p:cNvPr id="5" name="TextBox 4"/>
          <p:cNvSpPr txBox="1"/>
          <p:nvPr/>
        </p:nvSpPr>
        <p:spPr>
          <a:xfrm>
            <a:off x="384048" y="7882127"/>
            <a:ext cx="10058400" cy="210312"/>
          </a:xfrm>
          <a:prstGeom prst="rect">
            <a:avLst/>
          </a:prstGeom>
          <a:noFill/>
        </p:spPr>
        <p:txBody>
          <a:bodyPr wrap="square" tIns="36576" bIns="36576" anchor="t">
            <a:spAutoFit/>
          </a:bodyPr>
          <a:lstStyle/>
          <a:p>
            <a:pPr>
              <a:lnSpc>
                <a:spcPts val="1188"/>
              </a:lnSpc>
              <a:spcBef>
                <a:spcPts val="0"/>
              </a:spcBef>
              <a:spcAft>
                <a:spcPts val="0"/>
              </a:spcAft>
              <a:defRPr sz="1100" b="0">
                <a:solidFill>
                  <a:srgbClr val="526472"/>
                </a:solidFill>
                <a:latin typeface="Arial"/>
              </a:defRPr>
            </a:pPr>
            <a:r>
              <a:t>GCSE Maths revision  •  Record your working in your booklet or webapp.</a:t>
            </a:r>
          </a:p>
        </p:txBody>
      </p:sp>
      <p:sp>
        <p:nvSpPr>
          <p:cNvPr id="6" name="TextBox 5"/>
          <p:cNvSpPr txBox="1"/>
          <p:nvPr/>
        </p:nvSpPr>
        <p:spPr>
          <a:xfrm>
            <a:off x="11430000" y="7863840"/>
            <a:ext cx="2788920" cy="228600"/>
          </a:xfrm>
          <a:prstGeom prst="rect">
            <a:avLst/>
          </a:prstGeom>
          <a:noFill/>
        </p:spPr>
        <p:txBody>
          <a:bodyPr wrap="square" tIns="36576" bIns="36576" anchor="t">
            <a:spAutoFit/>
          </a:bodyPr>
          <a:lstStyle/>
          <a:p>
            <a:pPr>
              <a:lnSpc>
                <a:spcPts val="1188"/>
              </a:lnSpc>
              <a:spcBef>
                <a:spcPts val="0"/>
              </a:spcBef>
              <a:spcAft>
                <a:spcPts val="0"/>
              </a:spcAft>
              <a:defRPr sz="1100" b="0">
                <a:solidFill>
                  <a:srgbClr val="526472"/>
                </a:solidFill>
                <a:latin typeface="Arial"/>
              </a:defRPr>
            </a:pPr>
            <a:r>
              <a:t>M01-S03  •  Topic slide 4</a:t>
            </a:r>
          </a:p>
        </p:txBody>
      </p:sp>
      <p:sp>
        <p:nvSpPr>
          <p:cNvPr id="7" name="Rectangle 6"/>
          <p:cNvSpPr/>
          <p:nvPr/>
        </p:nvSpPr>
        <p:spPr>
          <a:xfrm>
            <a:off x="2487168" y="1124712"/>
            <a:ext cx="3919727" cy="438912"/>
          </a:xfrm>
          <a:prstGeom prst="rect">
            <a:avLst/>
          </a:prstGeom>
          <a:solidFill>
            <a:srgbClr val="176B73"/>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8" name="TextBox 7"/>
          <p:cNvSpPr txBox="1"/>
          <p:nvPr/>
        </p:nvSpPr>
        <p:spPr>
          <a:xfrm>
            <a:off x="2542032" y="1152144"/>
            <a:ext cx="3809999" cy="338328"/>
          </a:xfrm>
          <a:prstGeom prst="rect">
            <a:avLst/>
          </a:prstGeom>
          <a:noFill/>
        </p:spPr>
        <p:txBody>
          <a:bodyPr wrap="square" tIns="36576" bIns="36576" anchor="t">
            <a:spAutoFit/>
          </a:bodyPr>
          <a:lstStyle/>
          <a:p>
            <a:pPr>
              <a:lnSpc>
                <a:spcPts val="2160"/>
              </a:lnSpc>
              <a:spcBef>
                <a:spcPts val="0"/>
              </a:spcBef>
              <a:spcAft>
                <a:spcPts val="0"/>
              </a:spcAft>
              <a:defRPr sz="2000" b="1">
                <a:solidFill>
                  <a:srgbClr val="FFFFFF"/>
                </a:solidFill>
                <a:latin typeface="Arial"/>
              </a:defRPr>
            </a:pPr>
            <a:r>
              <a:t>Start</a:t>
            </a:r>
          </a:p>
        </p:txBody>
      </p:sp>
      <p:sp>
        <p:nvSpPr>
          <p:cNvPr id="9" name="Rectangle 8"/>
          <p:cNvSpPr/>
          <p:nvPr/>
        </p:nvSpPr>
        <p:spPr>
          <a:xfrm>
            <a:off x="6406895" y="1124712"/>
            <a:ext cx="3919727" cy="438912"/>
          </a:xfrm>
          <a:prstGeom prst="rect">
            <a:avLst/>
          </a:prstGeom>
          <a:solidFill>
            <a:srgbClr val="3559A2"/>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0" name="TextBox 9"/>
          <p:cNvSpPr txBox="1"/>
          <p:nvPr/>
        </p:nvSpPr>
        <p:spPr>
          <a:xfrm>
            <a:off x="6461759" y="1152144"/>
            <a:ext cx="3809999" cy="338328"/>
          </a:xfrm>
          <a:prstGeom prst="rect">
            <a:avLst/>
          </a:prstGeom>
          <a:noFill/>
        </p:spPr>
        <p:txBody>
          <a:bodyPr wrap="square" tIns="36576" bIns="36576" anchor="t">
            <a:spAutoFit/>
          </a:bodyPr>
          <a:lstStyle/>
          <a:p>
            <a:pPr>
              <a:lnSpc>
                <a:spcPts val="2160"/>
              </a:lnSpc>
              <a:spcBef>
                <a:spcPts val="0"/>
              </a:spcBef>
              <a:spcAft>
                <a:spcPts val="0"/>
              </a:spcAft>
              <a:defRPr sz="2000" b="1">
                <a:solidFill>
                  <a:srgbClr val="FFFFFF"/>
                </a:solidFill>
                <a:latin typeface="Arial"/>
              </a:defRPr>
            </a:pPr>
            <a:r>
              <a:t>Build</a:t>
            </a:r>
          </a:p>
        </p:txBody>
      </p:sp>
      <p:sp>
        <p:nvSpPr>
          <p:cNvPr id="11" name="Rectangle 10"/>
          <p:cNvSpPr/>
          <p:nvPr/>
        </p:nvSpPr>
        <p:spPr>
          <a:xfrm>
            <a:off x="10326624" y="1124712"/>
            <a:ext cx="3919727" cy="438912"/>
          </a:xfrm>
          <a:prstGeom prst="rect">
            <a:avLst/>
          </a:prstGeom>
          <a:solidFill>
            <a:srgbClr val="754B87"/>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2" name="TextBox 11"/>
          <p:cNvSpPr txBox="1"/>
          <p:nvPr/>
        </p:nvSpPr>
        <p:spPr>
          <a:xfrm>
            <a:off x="10381488" y="1152144"/>
            <a:ext cx="3809999" cy="338328"/>
          </a:xfrm>
          <a:prstGeom prst="rect">
            <a:avLst/>
          </a:prstGeom>
          <a:noFill/>
        </p:spPr>
        <p:txBody>
          <a:bodyPr wrap="square" tIns="36576" bIns="36576" anchor="t">
            <a:spAutoFit/>
          </a:bodyPr>
          <a:lstStyle/>
          <a:p>
            <a:pPr>
              <a:lnSpc>
                <a:spcPts val="2160"/>
              </a:lnSpc>
              <a:spcBef>
                <a:spcPts val="0"/>
              </a:spcBef>
              <a:spcAft>
                <a:spcPts val="0"/>
              </a:spcAft>
              <a:defRPr sz="2000" b="1">
                <a:solidFill>
                  <a:srgbClr val="FFFFFF"/>
                </a:solidFill>
                <a:latin typeface="Arial"/>
              </a:defRPr>
            </a:pPr>
            <a:r>
              <a:t>Confidence</a:t>
            </a:r>
          </a:p>
        </p:txBody>
      </p:sp>
      <p:sp>
        <p:nvSpPr>
          <p:cNvPr id="13" name="Rectangle 12"/>
          <p:cNvSpPr/>
          <p:nvPr/>
        </p:nvSpPr>
        <p:spPr>
          <a:xfrm>
            <a:off x="384048" y="1581912"/>
            <a:ext cx="2103120" cy="594360"/>
          </a:xfrm>
          <a:prstGeom prst="rect">
            <a:avLst/>
          </a:prstGeom>
          <a:solidFill>
            <a:srgbClr val="E8EDF1"/>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4" name="TextBox 13"/>
          <p:cNvSpPr txBox="1"/>
          <p:nvPr/>
        </p:nvSpPr>
        <p:spPr>
          <a:xfrm>
            <a:off x="411479" y="1618488"/>
            <a:ext cx="2048255" cy="521208"/>
          </a:xfrm>
          <a:prstGeom prst="rect">
            <a:avLst/>
          </a:prstGeom>
          <a:noFill/>
        </p:spPr>
        <p:txBody>
          <a:bodyPr wrap="square" tIns="36576" bIns="36576" anchor="ctr">
            <a:spAutoFit/>
          </a:bodyPr>
          <a:lstStyle/>
          <a:p>
            <a:pPr>
              <a:lnSpc>
                <a:spcPts val="1728"/>
              </a:lnSpc>
              <a:spcBef>
                <a:spcPts val="0"/>
              </a:spcBef>
              <a:spcAft>
                <a:spcPts val="0"/>
              </a:spcAft>
              <a:defRPr sz="1600" b="1">
                <a:solidFill>
                  <a:srgbClr val="182B3A"/>
                </a:solidFill>
                <a:latin typeface="Arial"/>
              </a:defRPr>
            </a:pPr>
            <a:r>
              <a:t>The Full Question</a:t>
            </a:r>
          </a:p>
        </p:txBody>
      </p:sp>
      <p:sp>
        <p:nvSpPr>
          <p:cNvPr id="15" name="Rectangle 14"/>
          <p:cNvSpPr/>
          <p:nvPr/>
        </p:nvSpPr>
        <p:spPr>
          <a:xfrm>
            <a:off x="2487168" y="1581912"/>
            <a:ext cx="3919727" cy="594360"/>
          </a:xfrm>
          <a:prstGeom prst="rect">
            <a:avLst/>
          </a:prstGeom>
          <a:solidFill>
            <a:srgbClr val="EDF6F5"/>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6" name="TextBox 15"/>
          <p:cNvSpPr txBox="1"/>
          <p:nvPr/>
        </p:nvSpPr>
        <p:spPr>
          <a:xfrm>
            <a:off x="2542032" y="1636776"/>
            <a:ext cx="3809999" cy="484632"/>
          </a:xfrm>
          <a:prstGeom prst="rect">
            <a:avLst/>
          </a:prstGeom>
          <a:noFill/>
        </p:spPr>
        <p:txBody>
          <a:bodyPr wrap="square" tIns="36576" bIns="36576" anchor="ctr">
            <a:spAutoFit/>
          </a:bodyPr>
          <a:lstStyle/>
          <a:p>
            <a:pPr>
              <a:lnSpc>
                <a:spcPts val="2808"/>
              </a:lnSpc>
              <a:spcBef>
                <a:spcPts val="0"/>
              </a:spcBef>
              <a:spcAft>
                <a:spcPts val="0"/>
              </a:spcAft>
              <a:defRPr sz="2600" b="1">
                <a:solidFill>
                  <a:srgbClr val="182B3A"/>
                </a:solidFill>
                <a:latin typeface="Arial"/>
              </a:defRPr>
            </a:pPr>
            <a:r>
              <a:t>84 × 5</a:t>
            </a:r>
          </a:p>
        </p:txBody>
      </p:sp>
      <p:sp>
        <p:nvSpPr>
          <p:cNvPr id="17" name="Rectangle 16"/>
          <p:cNvSpPr/>
          <p:nvPr/>
        </p:nvSpPr>
        <p:spPr>
          <a:xfrm>
            <a:off x="6406895" y="1581912"/>
            <a:ext cx="3919727" cy="594360"/>
          </a:xfrm>
          <a:prstGeom prst="rect">
            <a:avLst/>
          </a:prstGeom>
          <a:solidFill>
            <a:srgbClr val="EFF3FA"/>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8" name="TextBox 17"/>
          <p:cNvSpPr txBox="1"/>
          <p:nvPr/>
        </p:nvSpPr>
        <p:spPr>
          <a:xfrm>
            <a:off x="6461759" y="1636776"/>
            <a:ext cx="3809999" cy="484632"/>
          </a:xfrm>
          <a:prstGeom prst="rect">
            <a:avLst/>
          </a:prstGeom>
          <a:noFill/>
        </p:spPr>
        <p:txBody>
          <a:bodyPr wrap="square" tIns="36576" bIns="36576" anchor="ctr">
            <a:spAutoFit/>
          </a:bodyPr>
          <a:lstStyle/>
          <a:p>
            <a:pPr>
              <a:lnSpc>
                <a:spcPts val="2808"/>
              </a:lnSpc>
              <a:spcBef>
                <a:spcPts val="0"/>
              </a:spcBef>
              <a:spcAft>
                <a:spcPts val="0"/>
              </a:spcAft>
              <a:defRPr sz="2600" b="1">
                <a:solidFill>
                  <a:srgbClr val="182B3A"/>
                </a:solidFill>
                <a:latin typeface="Arial"/>
              </a:defRPr>
            </a:pPr>
            <a:r>
              <a:t>63 × 28</a:t>
            </a:r>
          </a:p>
        </p:txBody>
      </p:sp>
      <p:sp>
        <p:nvSpPr>
          <p:cNvPr id="19" name="Rectangle 18"/>
          <p:cNvSpPr/>
          <p:nvPr/>
        </p:nvSpPr>
        <p:spPr>
          <a:xfrm>
            <a:off x="10326624" y="1581912"/>
            <a:ext cx="3919727" cy="594360"/>
          </a:xfrm>
          <a:prstGeom prst="rect">
            <a:avLst/>
          </a:prstGeom>
          <a:solidFill>
            <a:srgbClr val="F5F0F7"/>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20" name="TextBox 19"/>
          <p:cNvSpPr txBox="1"/>
          <p:nvPr/>
        </p:nvSpPr>
        <p:spPr>
          <a:xfrm>
            <a:off x="10381488" y="1636776"/>
            <a:ext cx="3809999" cy="484632"/>
          </a:xfrm>
          <a:prstGeom prst="rect">
            <a:avLst/>
          </a:prstGeom>
          <a:noFill/>
        </p:spPr>
        <p:txBody>
          <a:bodyPr wrap="square" tIns="36576" bIns="36576" anchor="ctr">
            <a:spAutoFit/>
          </a:bodyPr>
          <a:lstStyle/>
          <a:p>
            <a:pPr>
              <a:lnSpc>
                <a:spcPts val="2808"/>
              </a:lnSpc>
              <a:spcBef>
                <a:spcPts val="0"/>
              </a:spcBef>
              <a:spcAft>
                <a:spcPts val="0"/>
              </a:spcAft>
              <a:defRPr sz="2600" b="1">
                <a:solidFill>
                  <a:srgbClr val="182B3A"/>
                </a:solidFill>
                <a:latin typeface="Arial"/>
              </a:defRPr>
            </a:pPr>
            <a:r>
              <a:t>3,142 × 2045</a:t>
            </a:r>
          </a:p>
        </p:txBody>
      </p:sp>
      <p:sp>
        <p:nvSpPr>
          <p:cNvPr id="21" name="Rectangle 20"/>
          <p:cNvSpPr/>
          <p:nvPr/>
        </p:nvSpPr>
        <p:spPr>
          <a:xfrm>
            <a:off x="384048" y="2176272"/>
            <a:ext cx="2103120" cy="1280160"/>
          </a:xfrm>
          <a:prstGeom prst="rect">
            <a:avLst/>
          </a:prstGeom>
          <a:solidFill>
            <a:srgbClr val="E8EDF1"/>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22" name="TextBox 21"/>
          <p:cNvSpPr txBox="1"/>
          <p:nvPr/>
        </p:nvSpPr>
        <p:spPr>
          <a:xfrm>
            <a:off x="448056" y="2267712"/>
            <a:ext cx="1975103" cy="1097280"/>
          </a:xfrm>
          <a:prstGeom prst="rect">
            <a:avLst/>
          </a:prstGeom>
          <a:noFill/>
        </p:spPr>
        <p:txBody>
          <a:bodyPr wrap="square" tIns="36576" bIns="36576" anchor="t">
            <a:spAutoFit/>
          </a:bodyPr>
          <a:lstStyle/>
          <a:p>
            <a:pPr>
              <a:lnSpc>
                <a:spcPts val="1944"/>
              </a:lnSpc>
              <a:spcBef>
                <a:spcPts val="0"/>
              </a:spcBef>
              <a:spcAft>
                <a:spcPts val="0"/>
              </a:spcAft>
              <a:defRPr sz="1800" b="1">
                <a:solidFill>
                  <a:srgbClr val="182B3A"/>
                </a:solidFill>
                <a:latin typeface="Arial"/>
              </a:defRPr>
            </a:pPr>
            <a:r>
              <a:t>1. Draw Grid &amp; Arrange Digits</a:t>
            </a:r>
          </a:p>
        </p:txBody>
      </p:sp>
      <p:sp>
        <p:nvSpPr>
          <p:cNvPr id="23" name="Rectangle 22"/>
          <p:cNvSpPr/>
          <p:nvPr/>
        </p:nvSpPr>
        <p:spPr>
          <a:xfrm>
            <a:off x="2487168" y="2176272"/>
            <a:ext cx="3919727" cy="128016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24" name="TextBox 23"/>
          <p:cNvSpPr txBox="1"/>
          <p:nvPr/>
        </p:nvSpPr>
        <p:spPr>
          <a:xfrm>
            <a:off x="2551175" y="2240279"/>
            <a:ext cx="3791712" cy="1115568"/>
          </a:xfrm>
          <a:prstGeom prst="rect">
            <a:avLst/>
          </a:prstGeom>
          <a:noFill/>
        </p:spPr>
        <p:txBody>
          <a:bodyPr wrap="square" tIns="36576" bIns="36576" anchor="t">
            <a:spAutoFit/>
          </a:bodyPr>
          <a:lstStyle/>
          <a:p>
            <a:pPr>
              <a:lnSpc>
                <a:spcPts val="2052"/>
              </a:lnSpc>
              <a:spcBef>
                <a:spcPts val="0"/>
              </a:spcBef>
              <a:spcAft>
                <a:spcPts val="0"/>
              </a:spcAft>
              <a:defRPr sz="1900" b="0">
                <a:solidFill>
                  <a:srgbClr val="182B3A"/>
                </a:solidFill>
                <a:latin typeface="Arial"/>
              </a:defRPr>
            </a:pPr>
            <a:r>
              <a:t>Draw the grid and diagonals. First number across the top; second number down the right edge.</a:t>
            </a:r>
          </a:p>
        </p:txBody>
      </p:sp>
      <p:sp>
        <p:nvSpPr>
          <p:cNvPr id="25" name="Rectangle 24"/>
          <p:cNvSpPr/>
          <p:nvPr/>
        </p:nvSpPr>
        <p:spPr>
          <a:xfrm>
            <a:off x="6406895" y="2176272"/>
            <a:ext cx="3919727" cy="128016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26" name="TextBox 25"/>
          <p:cNvSpPr txBox="1"/>
          <p:nvPr/>
        </p:nvSpPr>
        <p:spPr>
          <a:xfrm>
            <a:off x="6470904" y="2240279"/>
            <a:ext cx="3791712" cy="1115568"/>
          </a:xfrm>
          <a:prstGeom prst="rect">
            <a:avLst/>
          </a:prstGeom>
          <a:noFill/>
        </p:spPr>
        <p:txBody>
          <a:bodyPr wrap="square" tIns="36576" bIns="36576" anchor="t">
            <a:spAutoFit/>
          </a:bodyPr>
          <a:lstStyle/>
          <a:p>
            <a:pPr>
              <a:lnSpc>
                <a:spcPts val="2052"/>
              </a:lnSpc>
              <a:spcBef>
                <a:spcPts val="0"/>
              </a:spcBef>
              <a:spcAft>
                <a:spcPts val="0"/>
              </a:spcAft>
              <a:defRPr sz="1900" b="0">
                <a:solidFill>
                  <a:srgbClr val="182B3A"/>
                </a:solidFill>
                <a:latin typeface="Arial"/>
              </a:defRPr>
            </a:pPr>
            <a:r>
              <a:t>Draw the grid and diagonals. First number across the top; second number down the right edge.</a:t>
            </a:r>
          </a:p>
        </p:txBody>
      </p:sp>
      <p:sp>
        <p:nvSpPr>
          <p:cNvPr id="27" name="Rectangle 26"/>
          <p:cNvSpPr/>
          <p:nvPr/>
        </p:nvSpPr>
        <p:spPr>
          <a:xfrm>
            <a:off x="10326624" y="2176272"/>
            <a:ext cx="3919727" cy="128016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28" name="TextBox 27"/>
          <p:cNvSpPr txBox="1"/>
          <p:nvPr/>
        </p:nvSpPr>
        <p:spPr>
          <a:xfrm>
            <a:off x="10390632" y="2240279"/>
            <a:ext cx="3791712" cy="1115568"/>
          </a:xfrm>
          <a:prstGeom prst="rect">
            <a:avLst/>
          </a:prstGeom>
          <a:noFill/>
        </p:spPr>
        <p:txBody>
          <a:bodyPr wrap="square" tIns="36576" bIns="36576" anchor="t">
            <a:spAutoFit/>
          </a:bodyPr>
          <a:lstStyle/>
          <a:p>
            <a:pPr>
              <a:lnSpc>
                <a:spcPts val="2052"/>
              </a:lnSpc>
              <a:spcBef>
                <a:spcPts val="0"/>
              </a:spcBef>
              <a:spcAft>
                <a:spcPts val="0"/>
              </a:spcAft>
              <a:defRPr sz="1900" b="0">
                <a:solidFill>
                  <a:srgbClr val="182B3A"/>
                </a:solidFill>
                <a:latin typeface="Arial"/>
              </a:defRPr>
            </a:pPr>
            <a:r>
              <a:t>Draw the grid and diagonals. First number across the top; second number down the right edge.</a:t>
            </a:r>
          </a:p>
        </p:txBody>
      </p:sp>
      <p:sp>
        <p:nvSpPr>
          <p:cNvPr id="29" name="Rectangle 28"/>
          <p:cNvSpPr/>
          <p:nvPr/>
        </p:nvSpPr>
        <p:spPr>
          <a:xfrm>
            <a:off x="384048" y="3456432"/>
            <a:ext cx="2103120" cy="1371600"/>
          </a:xfrm>
          <a:prstGeom prst="rect">
            <a:avLst/>
          </a:prstGeom>
          <a:solidFill>
            <a:srgbClr val="E8EDF1"/>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30" name="TextBox 29"/>
          <p:cNvSpPr txBox="1"/>
          <p:nvPr/>
        </p:nvSpPr>
        <p:spPr>
          <a:xfrm>
            <a:off x="448056" y="3547872"/>
            <a:ext cx="1975103" cy="1188720"/>
          </a:xfrm>
          <a:prstGeom prst="rect">
            <a:avLst/>
          </a:prstGeom>
          <a:noFill/>
        </p:spPr>
        <p:txBody>
          <a:bodyPr wrap="square" tIns="36576" bIns="36576" anchor="t">
            <a:spAutoFit/>
          </a:bodyPr>
          <a:lstStyle/>
          <a:p>
            <a:pPr>
              <a:lnSpc>
                <a:spcPts val="1944"/>
              </a:lnSpc>
              <a:spcBef>
                <a:spcPts val="0"/>
              </a:spcBef>
              <a:spcAft>
                <a:spcPts val="0"/>
              </a:spcAft>
              <a:defRPr sz="1800" b="1">
                <a:solidFill>
                  <a:srgbClr val="182B3A"/>
                </a:solidFill>
                <a:latin typeface="Arial"/>
              </a:defRPr>
            </a:pPr>
            <a:r>
              <a:t>2. Find &amp; Fill Cell Products</a:t>
            </a:r>
          </a:p>
        </p:txBody>
      </p:sp>
      <p:sp>
        <p:nvSpPr>
          <p:cNvPr id="31" name="Rectangle 30"/>
          <p:cNvSpPr/>
          <p:nvPr/>
        </p:nvSpPr>
        <p:spPr>
          <a:xfrm>
            <a:off x="2487168" y="3456432"/>
            <a:ext cx="3919727" cy="137160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32" name="TextBox 31"/>
          <p:cNvSpPr txBox="1"/>
          <p:nvPr/>
        </p:nvSpPr>
        <p:spPr>
          <a:xfrm>
            <a:off x="2551175" y="3520439"/>
            <a:ext cx="3791712" cy="1207008"/>
          </a:xfrm>
          <a:prstGeom prst="rect">
            <a:avLst/>
          </a:prstGeom>
          <a:noFill/>
        </p:spPr>
        <p:txBody>
          <a:bodyPr wrap="square" tIns="36576" bIns="36576" anchor="t">
            <a:spAutoFit/>
          </a:bodyPr>
          <a:lstStyle/>
          <a:p>
            <a:pPr>
              <a:lnSpc>
                <a:spcPts val="2160"/>
              </a:lnSpc>
              <a:spcBef>
                <a:spcPts val="0"/>
              </a:spcBef>
              <a:spcAft>
                <a:spcPts val="0"/>
              </a:spcAft>
              <a:defRPr sz="2000" b="0">
                <a:solidFill>
                  <a:srgbClr val="182B3A"/>
                </a:solidFill>
                <a:latin typeface="Arial"/>
              </a:defRPr>
            </a:pPr>
            <a:r>
              <a:t>Multiply each row and column digit. Tens above; units below. Write a tens zero if the product is below 10.</a:t>
            </a:r>
          </a:p>
        </p:txBody>
      </p:sp>
      <p:sp>
        <p:nvSpPr>
          <p:cNvPr id="33" name="Rectangle 32"/>
          <p:cNvSpPr/>
          <p:nvPr/>
        </p:nvSpPr>
        <p:spPr>
          <a:xfrm>
            <a:off x="6406895" y="3456432"/>
            <a:ext cx="3919727" cy="137160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34" name="TextBox 33"/>
          <p:cNvSpPr txBox="1"/>
          <p:nvPr/>
        </p:nvSpPr>
        <p:spPr>
          <a:xfrm>
            <a:off x="6470904" y="3520439"/>
            <a:ext cx="3791712" cy="1207008"/>
          </a:xfrm>
          <a:prstGeom prst="rect">
            <a:avLst/>
          </a:prstGeom>
          <a:noFill/>
        </p:spPr>
        <p:txBody>
          <a:bodyPr wrap="square" tIns="36576" bIns="36576" anchor="t">
            <a:spAutoFit/>
          </a:bodyPr>
          <a:lstStyle/>
          <a:p>
            <a:pPr>
              <a:lnSpc>
                <a:spcPts val="2160"/>
              </a:lnSpc>
              <a:spcBef>
                <a:spcPts val="0"/>
              </a:spcBef>
              <a:spcAft>
                <a:spcPts val="0"/>
              </a:spcAft>
              <a:defRPr sz="2000" b="0">
                <a:solidFill>
                  <a:srgbClr val="182B3A"/>
                </a:solidFill>
                <a:latin typeface="Arial"/>
              </a:defRPr>
            </a:pPr>
            <a:r>
              <a:t>Multiply each row and column digit. Tens above; units below. Write a tens zero if the product is below 10.</a:t>
            </a:r>
          </a:p>
        </p:txBody>
      </p:sp>
      <p:sp>
        <p:nvSpPr>
          <p:cNvPr id="35" name="Rectangle 34"/>
          <p:cNvSpPr/>
          <p:nvPr/>
        </p:nvSpPr>
        <p:spPr>
          <a:xfrm>
            <a:off x="10326624" y="3456432"/>
            <a:ext cx="3919727" cy="137160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36" name="TextBox 35"/>
          <p:cNvSpPr txBox="1"/>
          <p:nvPr/>
        </p:nvSpPr>
        <p:spPr>
          <a:xfrm>
            <a:off x="10390632" y="3520439"/>
            <a:ext cx="3791712" cy="1207008"/>
          </a:xfrm>
          <a:prstGeom prst="rect">
            <a:avLst/>
          </a:prstGeom>
          <a:noFill/>
        </p:spPr>
        <p:txBody>
          <a:bodyPr wrap="square" tIns="36576" bIns="36576" anchor="t">
            <a:spAutoFit/>
          </a:bodyPr>
          <a:lstStyle/>
          <a:p>
            <a:pPr>
              <a:lnSpc>
                <a:spcPts val="2160"/>
              </a:lnSpc>
              <a:spcBef>
                <a:spcPts val="0"/>
              </a:spcBef>
              <a:spcAft>
                <a:spcPts val="0"/>
              </a:spcAft>
              <a:defRPr sz="2000" b="0">
                <a:solidFill>
                  <a:srgbClr val="182B3A"/>
                </a:solidFill>
                <a:latin typeface="Arial"/>
              </a:defRPr>
            </a:pPr>
            <a:r>
              <a:t>Multiply each row and column digit. Tens above; units below. Write a zero </a:t>
            </a:r>
            <a:r>
              <a:rPr lang="en-GB"/>
              <a:t>in tens </a:t>
            </a:r>
            <a:r>
              <a:t>if the product is below 10.</a:t>
            </a:r>
          </a:p>
        </p:txBody>
      </p:sp>
      <p:sp>
        <p:nvSpPr>
          <p:cNvPr id="37" name="Rectangle 36"/>
          <p:cNvSpPr/>
          <p:nvPr/>
        </p:nvSpPr>
        <p:spPr>
          <a:xfrm>
            <a:off x="384048" y="4828031"/>
            <a:ext cx="2103120" cy="1828800"/>
          </a:xfrm>
          <a:prstGeom prst="rect">
            <a:avLst/>
          </a:prstGeom>
          <a:solidFill>
            <a:srgbClr val="E8EDF1"/>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38" name="TextBox 37"/>
          <p:cNvSpPr txBox="1"/>
          <p:nvPr/>
        </p:nvSpPr>
        <p:spPr>
          <a:xfrm>
            <a:off x="448056" y="4919471"/>
            <a:ext cx="1975103" cy="1645920"/>
          </a:xfrm>
          <a:prstGeom prst="rect">
            <a:avLst/>
          </a:prstGeom>
          <a:noFill/>
        </p:spPr>
        <p:txBody>
          <a:bodyPr wrap="square" tIns="36576" bIns="36576" anchor="t">
            <a:spAutoFit/>
          </a:bodyPr>
          <a:lstStyle/>
          <a:p>
            <a:pPr>
              <a:lnSpc>
                <a:spcPts val="1944"/>
              </a:lnSpc>
              <a:spcBef>
                <a:spcPts val="0"/>
              </a:spcBef>
              <a:spcAft>
                <a:spcPts val="0"/>
              </a:spcAft>
              <a:defRPr sz="1800" b="1">
                <a:solidFill>
                  <a:srgbClr val="182B3A"/>
                </a:solidFill>
                <a:latin typeface="Arial"/>
              </a:defRPr>
            </a:pPr>
            <a:r>
              <a:t>3. Sum Diagonals &amp; Track Carries</a:t>
            </a:r>
          </a:p>
        </p:txBody>
      </p:sp>
      <p:sp>
        <p:nvSpPr>
          <p:cNvPr id="39" name="Rectangle 38"/>
          <p:cNvSpPr/>
          <p:nvPr/>
        </p:nvSpPr>
        <p:spPr>
          <a:xfrm>
            <a:off x="2487168" y="4828031"/>
            <a:ext cx="3919727" cy="182880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40" name="TextBox 39"/>
          <p:cNvSpPr txBox="1"/>
          <p:nvPr/>
        </p:nvSpPr>
        <p:spPr>
          <a:xfrm>
            <a:off x="2551175" y="4892040"/>
            <a:ext cx="3791712" cy="1664208"/>
          </a:xfrm>
          <a:prstGeom prst="rect">
            <a:avLst/>
          </a:prstGeom>
          <a:noFill/>
        </p:spPr>
        <p:txBody>
          <a:bodyPr wrap="square" tIns="36576" bIns="36576" anchor="t">
            <a:spAutoFit/>
          </a:bodyPr>
          <a:lstStyle/>
          <a:p>
            <a:pPr>
              <a:lnSpc>
                <a:spcPts val="2052"/>
              </a:lnSpc>
              <a:spcBef>
                <a:spcPts val="0"/>
              </a:spcBef>
              <a:spcAft>
                <a:spcPts val="0"/>
              </a:spcAft>
              <a:defRPr sz="1900" b="0">
                <a:solidFill>
                  <a:srgbClr val="182B3A"/>
                </a:solidFill>
                <a:latin typeface="Arial"/>
              </a:defRPr>
            </a:pPr>
            <a:r>
              <a:t>Start at the bottom right. Add each diagonal and any carry. Write its result digit at the bottom end. Put the next carry at the bottom end of the next diagonal in smaller text.</a:t>
            </a:r>
          </a:p>
        </p:txBody>
      </p:sp>
      <p:sp>
        <p:nvSpPr>
          <p:cNvPr id="41" name="Rectangle 40"/>
          <p:cNvSpPr/>
          <p:nvPr/>
        </p:nvSpPr>
        <p:spPr>
          <a:xfrm>
            <a:off x="6406895" y="4828031"/>
            <a:ext cx="3919727" cy="182880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42" name="TextBox 41"/>
          <p:cNvSpPr txBox="1"/>
          <p:nvPr/>
        </p:nvSpPr>
        <p:spPr>
          <a:xfrm>
            <a:off x="6470904" y="4892040"/>
            <a:ext cx="3791712" cy="1664208"/>
          </a:xfrm>
          <a:prstGeom prst="rect">
            <a:avLst/>
          </a:prstGeom>
          <a:noFill/>
        </p:spPr>
        <p:txBody>
          <a:bodyPr wrap="square" tIns="36576" bIns="36576" anchor="t">
            <a:spAutoFit/>
          </a:bodyPr>
          <a:lstStyle/>
          <a:p>
            <a:pPr>
              <a:lnSpc>
                <a:spcPts val="2052"/>
              </a:lnSpc>
              <a:spcBef>
                <a:spcPts val="0"/>
              </a:spcBef>
              <a:spcAft>
                <a:spcPts val="0"/>
              </a:spcAft>
              <a:defRPr sz="1900" b="0">
                <a:solidFill>
                  <a:srgbClr val="182B3A"/>
                </a:solidFill>
                <a:latin typeface="Arial"/>
              </a:defRPr>
            </a:pPr>
            <a:r>
              <a:t>Start at the bottom right. Add each diagonal and any carry. Write its result digit at the bottom end. Put the next carry at the bottom end of the next diagonal in smaller text.</a:t>
            </a:r>
          </a:p>
        </p:txBody>
      </p:sp>
      <p:sp>
        <p:nvSpPr>
          <p:cNvPr id="43" name="Rectangle 42"/>
          <p:cNvSpPr/>
          <p:nvPr/>
        </p:nvSpPr>
        <p:spPr>
          <a:xfrm>
            <a:off x="10326624" y="4828031"/>
            <a:ext cx="3919727" cy="182880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44" name="TextBox 43"/>
          <p:cNvSpPr txBox="1"/>
          <p:nvPr/>
        </p:nvSpPr>
        <p:spPr>
          <a:xfrm>
            <a:off x="10390632" y="4892040"/>
            <a:ext cx="3791712" cy="1664208"/>
          </a:xfrm>
          <a:prstGeom prst="rect">
            <a:avLst/>
          </a:prstGeom>
          <a:noFill/>
        </p:spPr>
        <p:txBody>
          <a:bodyPr wrap="square" tIns="36576" bIns="36576" anchor="t">
            <a:spAutoFit/>
          </a:bodyPr>
          <a:lstStyle/>
          <a:p>
            <a:pPr>
              <a:lnSpc>
                <a:spcPts val="2052"/>
              </a:lnSpc>
              <a:spcBef>
                <a:spcPts val="0"/>
              </a:spcBef>
              <a:spcAft>
                <a:spcPts val="0"/>
              </a:spcAft>
              <a:defRPr sz="1900" b="0">
                <a:solidFill>
                  <a:srgbClr val="182B3A"/>
                </a:solidFill>
                <a:latin typeface="Arial"/>
              </a:defRPr>
            </a:pPr>
            <a:r>
              <a:t>Start at the bottom right. Add each diagonal and any carry. Write its result digit at the bottom end. Put the next carry at the bottom end of the next diagonal in smaller text.</a:t>
            </a:r>
          </a:p>
        </p:txBody>
      </p:sp>
      <p:sp>
        <p:nvSpPr>
          <p:cNvPr id="45" name="Rectangle 44"/>
          <p:cNvSpPr/>
          <p:nvPr/>
        </p:nvSpPr>
        <p:spPr>
          <a:xfrm>
            <a:off x="384048" y="6656831"/>
            <a:ext cx="2103120" cy="1051560"/>
          </a:xfrm>
          <a:prstGeom prst="rect">
            <a:avLst/>
          </a:prstGeom>
          <a:solidFill>
            <a:srgbClr val="E8EDF1"/>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46" name="TextBox 45"/>
          <p:cNvSpPr txBox="1"/>
          <p:nvPr/>
        </p:nvSpPr>
        <p:spPr>
          <a:xfrm>
            <a:off x="448056" y="6748271"/>
            <a:ext cx="1975103" cy="868680"/>
          </a:xfrm>
          <a:prstGeom prst="rect">
            <a:avLst/>
          </a:prstGeom>
          <a:noFill/>
        </p:spPr>
        <p:txBody>
          <a:bodyPr wrap="square" tIns="36576" bIns="36576" anchor="t">
            <a:spAutoFit/>
          </a:bodyPr>
          <a:lstStyle/>
          <a:p>
            <a:pPr>
              <a:lnSpc>
                <a:spcPts val="1944"/>
              </a:lnSpc>
              <a:spcBef>
                <a:spcPts val="0"/>
              </a:spcBef>
              <a:spcAft>
                <a:spcPts val="0"/>
              </a:spcAft>
              <a:defRPr sz="1800" b="1">
                <a:solidFill>
                  <a:srgbClr val="182B3A"/>
                </a:solidFill>
                <a:latin typeface="Arial"/>
              </a:defRPr>
            </a:pPr>
            <a:r>
              <a:t>4. Write Final Answer</a:t>
            </a:r>
          </a:p>
        </p:txBody>
      </p:sp>
      <p:sp>
        <p:nvSpPr>
          <p:cNvPr id="47" name="Rectangle 46"/>
          <p:cNvSpPr/>
          <p:nvPr/>
        </p:nvSpPr>
        <p:spPr>
          <a:xfrm>
            <a:off x="2487168" y="6656831"/>
            <a:ext cx="3919727" cy="105156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48" name="TextBox 47"/>
          <p:cNvSpPr txBox="1"/>
          <p:nvPr/>
        </p:nvSpPr>
        <p:spPr>
          <a:xfrm>
            <a:off x="2551175" y="6720840"/>
            <a:ext cx="3791712" cy="886968"/>
          </a:xfrm>
          <a:prstGeom prst="rect">
            <a:avLst/>
          </a:prstGeom>
          <a:noFill/>
        </p:spPr>
        <p:txBody>
          <a:bodyPr wrap="square" tIns="36576" bIns="36576" anchor="t">
            <a:spAutoFit/>
          </a:bodyPr>
          <a:lstStyle/>
          <a:p>
            <a:pPr>
              <a:lnSpc>
                <a:spcPts val="2160"/>
              </a:lnSpc>
              <a:spcBef>
                <a:spcPts val="0"/>
              </a:spcBef>
              <a:spcAft>
                <a:spcPts val="0"/>
              </a:spcAft>
              <a:defRPr sz="2000" b="0">
                <a:solidFill>
                  <a:srgbClr val="182B3A"/>
                </a:solidFill>
                <a:latin typeface="Arial"/>
              </a:defRPr>
            </a:pPr>
            <a:r>
              <a:t>Read down the left edge, then along the bottom. Omit leading zeros.</a:t>
            </a:r>
          </a:p>
        </p:txBody>
      </p:sp>
      <p:sp>
        <p:nvSpPr>
          <p:cNvPr id="49" name="Rectangle 48"/>
          <p:cNvSpPr/>
          <p:nvPr/>
        </p:nvSpPr>
        <p:spPr>
          <a:xfrm>
            <a:off x="6406895" y="6656831"/>
            <a:ext cx="3919727" cy="105156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50" name="TextBox 49"/>
          <p:cNvSpPr txBox="1"/>
          <p:nvPr/>
        </p:nvSpPr>
        <p:spPr>
          <a:xfrm>
            <a:off x="6470904" y="6720840"/>
            <a:ext cx="3791712" cy="886968"/>
          </a:xfrm>
          <a:prstGeom prst="rect">
            <a:avLst/>
          </a:prstGeom>
          <a:noFill/>
        </p:spPr>
        <p:txBody>
          <a:bodyPr wrap="square" tIns="36576" bIns="36576" anchor="t">
            <a:spAutoFit/>
          </a:bodyPr>
          <a:lstStyle/>
          <a:p>
            <a:pPr>
              <a:lnSpc>
                <a:spcPts val="2160"/>
              </a:lnSpc>
              <a:spcBef>
                <a:spcPts val="0"/>
              </a:spcBef>
              <a:spcAft>
                <a:spcPts val="0"/>
              </a:spcAft>
              <a:defRPr sz="2000" b="0">
                <a:solidFill>
                  <a:srgbClr val="182B3A"/>
                </a:solidFill>
                <a:latin typeface="Arial"/>
              </a:defRPr>
            </a:pPr>
            <a:r>
              <a:t>Read down the left edge, then along the bottom. Omit leading zeros.</a:t>
            </a:r>
          </a:p>
        </p:txBody>
      </p:sp>
      <p:sp>
        <p:nvSpPr>
          <p:cNvPr id="51" name="Rectangle 50"/>
          <p:cNvSpPr/>
          <p:nvPr/>
        </p:nvSpPr>
        <p:spPr>
          <a:xfrm>
            <a:off x="10326624" y="6656831"/>
            <a:ext cx="3919727" cy="105156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52" name="TextBox 51"/>
          <p:cNvSpPr txBox="1"/>
          <p:nvPr/>
        </p:nvSpPr>
        <p:spPr>
          <a:xfrm>
            <a:off x="10390632" y="6720840"/>
            <a:ext cx="3791712" cy="886968"/>
          </a:xfrm>
          <a:prstGeom prst="rect">
            <a:avLst/>
          </a:prstGeom>
          <a:noFill/>
        </p:spPr>
        <p:txBody>
          <a:bodyPr wrap="square" tIns="36576" bIns="36576" anchor="t">
            <a:spAutoFit/>
          </a:bodyPr>
          <a:lstStyle/>
          <a:p>
            <a:pPr>
              <a:lnSpc>
                <a:spcPts val="2160"/>
              </a:lnSpc>
              <a:spcBef>
                <a:spcPts val="0"/>
              </a:spcBef>
              <a:spcAft>
                <a:spcPts val="0"/>
              </a:spcAft>
              <a:defRPr sz="2000" b="0">
                <a:solidFill>
                  <a:srgbClr val="182B3A"/>
                </a:solidFill>
                <a:latin typeface="Arial"/>
              </a:defRPr>
            </a:pPr>
            <a:r>
              <a:t>Read down the left edge, then along the bottom. Omit leading zeros.</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7F8FA"/>
        </a:solidFill>
        <a:effectLst/>
      </p:bgPr>
    </p:bg>
    <p:spTree>
      <p:nvGrpSpPr>
        <p:cNvPr id="1" name=""/>
        <p:cNvGrpSpPr/>
        <p:nvPr/>
      </p:nvGrpSpPr>
      <p:grpSpPr/>
      <p:sp>
        <p:nvSpPr>
          <p:cNvPr id="2" name="Rectangle 1"/>
          <p:cNvSpPr/>
          <p:nvPr/>
        </p:nvSpPr>
        <p:spPr>
          <a:xfrm>
            <a:off x="0" y="0"/>
            <a:ext cx="14630400" cy="91440"/>
          </a:xfrm>
          <a:prstGeom prst="rect">
            <a:avLst/>
          </a:prstGeom>
          <a:solidFill>
            <a:srgbClr val="176B73"/>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 name="TextBox 2"/>
          <p:cNvSpPr txBox="1"/>
          <p:nvPr/>
        </p:nvSpPr>
        <p:spPr>
          <a:xfrm>
            <a:off x="384048" y="219456"/>
            <a:ext cx="13807440" cy="457200"/>
          </a:xfrm>
          <a:prstGeom prst="rect">
            <a:avLst/>
          </a:prstGeom>
          <a:noFill/>
        </p:spPr>
        <p:txBody>
          <a:bodyPr wrap="square" tIns="36576" bIns="36576" anchor="t">
            <a:spAutoFit/>
          </a:bodyPr>
          <a:lstStyle/>
          <a:p>
            <a:pPr>
              <a:lnSpc>
                <a:spcPts val="3132"/>
              </a:lnSpc>
              <a:spcBef>
                <a:spcPts val="0"/>
              </a:spcBef>
              <a:spcAft>
                <a:spcPts val="0"/>
              </a:spcAft>
              <a:defRPr sz="2900" b="1">
                <a:solidFill>
                  <a:srgbClr val="182B3A"/>
                </a:solidFill>
                <a:latin typeface="Arial"/>
              </a:defRPr>
            </a:pPr>
            <a:r>
              <a:t>Lattice Multiplication — spot the errors</a:t>
            </a:r>
          </a:p>
        </p:txBody>
      </p:sp>
      <p:sp>
        <p:nvSpPr>
          <p:cNvPr id="4" name="TextBox 3"/>
          <p:cNvSpPr txBox="1"/>
          <p:nvPr/>
        </p:nvSpPr>
        <p:spPr>
          <a:xfrm>
            <a:off x="384048" y="740664"/>
            <a:ext cx="13807440" cy="411480"/>
          </a:xfrm>
          <a:prstGeom prst="rect">
            <a:avLst/>
          </a:prstGeom>
          <a:noFill/>
        </p:spPr>
        <p:txBody>
          <a:bodyPr wrap="square" tIns="36576" bIns="36576" anchor="t">
            <a:spAutoFit/>
          </a:bodyPr>
          <a:lstStyle/>
          <a:p>
            <a:pPr>
              <a:lnSpc>
                <a:spcPts val="1836"/>
              </a:lnSpc>
              <a:spcBef>
                <a:spcPts val="0"/>
              </a:spcBef>
              <a:spcAft>
                <a:spcPts val="0"/>
              </a:spcAft>
              <a:defRPr sz="1700" b="0">
                <a:solidFill>
                  <a:srgbClr val="526472"/>
                </a:solidFill>
                <a:latin typeface="Arial"/>
              </a:defRPr>
            </a:pPr>
            <a:r>
              <a:t>Each student’s working contains a mistake. Find it, correct the working and give the right answer.</a:t>
            </a:r>
          </a:p>
        </p:txBody>
      </p:sp>
      <p:sp>
        <p:nvSpPr>
          <p:cNvPr id="5" name="TextBox 4"/>
          <p:cNvSpPr txBox="1"/>
          <p:nvPr/>
        </p:nvSpPr>
        <p:spPr>
          <a:xfrm>
            <a:off x="384048" y="7863840"/>
            <a:ext cx="13716000" cy="256032"/>
          </a:xfrm>
          <a:prstGeom prst="rect">
            <a:avLst/>
          </a:prstGeom>
          <a:noFill/>
        </p:spPr>
        <p:txBody>
          <a:bodyPr wrap="square" tIns="36576" bIns="36576" anchor="t">
            <a:spAutoFit/>
          </a:bodyPr>
          <a:lstStyle/>
          <a:p>
            <a:pPr>
              <a:lnSpc>
                <a:spcPts val="1188"/>
              </a:lnSpc>
              <a:spcBef>
                <a:spcPts val="0"/>
              </a:spcBef>
              <a:spcAft>
                <a:spcPts val="0"/>
              </a:spcAft>
              <a:defRPr sz="1100" b="0">
                <a:solidFill>
                  <a:srgbClr val="526472"/>
                </a:solidFill>
                <a:latin typeface="Arial"/>
              </a:defRPr>
            </a:pPr>
            <a:r>
              <a:t>M01-SE  •  Record your working in your booklet or webapp.</a:t>
            </a:r>
          </a:p>
        </p:txBody>
      </p:sp>
      <p:sp>
        <p:nvSpPr>
          <p:cNvPr id="6" name="Rectangle 5"/>
          <p:cNvSpPr/>
          <p:nvPr/>
        </p:nvSpPr>
        <p:spPr>
          <a:xfrm>
            <a:off x="384048" y="1234440"/>
            <a:ext cx="4588764" cy="420624"/>
          </a:xfrm>
          <a:prstGeom prst="rect">
            <a:avLst/>
          </a:prstGeom>
          <a:solidFill>
            <a:srgbClr val="176B73"/>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7" name="TextBox 6"/>
          <p:cNvSpPr txBox="1"/>
          <p:nvPr/>
        </p:nvSpPr>
        <p:spPr>
          <a:xfrm>
            <a:off x="448056" y="1261872"/>
            <a:ext cx="4474464" cy="347472"/>
          </a:xfrm>
          <a:prstGeom prst="rect">
            <a:avLst/>
          </a:prstGeom>
          <a:noFill/>
        </p:spPr>
        <p:txBody>
          <a:bodyPr wrap="square" tIns="36576" bIns="36576" anchor="t">
            <a:spAutoFit/>
          </a:bodyPr>
          <a:lstStyle/>
          <a:p>
            <a:pPr>
              <a:lnSpc>
                <a:spcPts val="2160"/>
              </a:lnSpc>
              <a:spcBef>
                <a:spcPts val="0"/>
              </a:spcBef>
              <a:spcAft>
                <a:spcPts val="0"/>
              </a:spcAft>
              <a:defRPr sz="2000" b="1">
                <a:solidFill>
                  <a:srgbClr val="FFFFFF"/>
                </a:solidFill>
                <a:latin typeface="Arial"/>
              </a:defRPr>
            </a:pPr>
            <a:r>
              <a:t>Start</a:t>
            </a:r>
          </a:p>
        </p:txBody>
      </p:sp>
      <p:sp>
        <p:nvSpPr>
          <p:cNvPr id="8" name="Rectangle 7"/>
          <p:cNvSpPr/>
          <p:nvPr/>
        </p:nvSpPr>
        <p:spPr>
          <a:xfrm>
            <a:off x="384048" y="1719072"/>
            <a:ext cx="4588764" cy="1929384"/>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9" name="TextBox 8"/>
          <p:cNvSpPr txBox="1"/>
          <p:nvPr/>
        </p:nvSpPr>
        <p:spPr>
          <a:xfrm>
            <a:off x="475488" y="1755648"/>
            <a:ext cx="4392168" cy="402336"/>
          </a:xfrm>
          <a:prstGeom prst="rect">
            <a:avLst/>
          </a:prstGeom>
          <a:noFill/>
        </p:spPr>
        <p:txBody>
          <a:bodyPr wrap="square" tIns="36576" bIns="36576" anchor="t">
            <a:spAutoFit/>
          </a:bodyPr>
          <a:lstStyle/>
          <a:p>
            <a:pPr>
              <a:lnSpc>
                <a:spcPts val="2268"/>
              </a:lnSpc>
              <a:spcBef>
                <a:spcPts val="0"/>
              </a:spcBef>
              <a:spcAft>
                <a:spcPts val="0"/>
              </a:spcAft>
              <a:defRPr sz="2100" b="1">
                <a:solidFill>
                  <a:srgbClr val="182B3A"/>
                </a:solidFill>
                <a:latin typeface="Arial"/>
              </a:defRPr>
            </a:pPr>
            <a:r>
              <a:t>1.  43 × 6</a:t>
            </a:r>
          </a:p>
        </p:txBody>
      </p:sp>
      <p:sp>
        <p:nvSpPr>
          <p:cNvPr id="10" name="TextBox 9"/>
          <p:cNvSpPr txBox="1"/>
          <p:nvPr/>
        </p:nvSpPr>
        <p:spPr>
          <a:xfrm>
            <a:off x="850392" y="2121408"/>
            <a:ext cx="429768" cy="265176"/>
          </a:xfrm>
          <a:prstGeom prst="rect">
            <a:avLst/>
          </a:prstGeom>
          <a:noFill/>
        </p:spPr>
        <p:txBody>
          <a:bodyPr wrap="none" lIns="0" rIns="0" tIns="0" bIns="0">
            <a:spAutoFit/>
          </a:bodyPr>
          <a:lstStyle/>
          <a:p>
            <a:pPr algn="ctr">
              <a:lnSpc>
                <a:spcPts val="2240"/>
              </a:lnSpc>
              <a:spcBef>
                <a:spcPts val="0"/>
              </a:spcBef>
              <a:spcAft>
                <a:spcPts val="0"/>
              </a:spcAft>
              <a:defRPr sz="2000" b="0">
                <a:solidFill>
                  <a:srgbClr val="182B3A"/>
                </a:solidFill>
                <a:latin typeface="Arial"/>
              </a:defRPr>
            </a:pPr>
            <a:r>
              <a:t>4</a:t>
            </a:r>
          </a:p>
        </p:txBody>
      </p:sp>
      <p:sp>
        <p:nvSpPr>
          <p:cNvPr id="11" name="TextBox 10"/>
          <p:cNvSpPr txBox="1"/>
          <p:nvPr/>
        </p:nvSpPr>
        <p:spPr>
          <a:xfrm>
            <a:off x="1280160" y="2121408"/>
            <a:ext cx="429768" cy="265176"/>
          </a:xfrm>
          <a:prstGeom prst="rect">
            <a:avLst/>
          </a:prstGeom>
          <a:noFill/>
        </p:spPr>
        <p:txBody>
          <a:bodyPr wrap="none" lIns="0" rIns="0" tIns="0" bIns="0">
            <a:spAutoFit/>
          </a:bodyPr>
          <a:lstStyle/>
          <a:p>
            <a:pPr algn="ctr">
              <a:lnSpc>
                <a:spcPts val="2240"/>
              </a:lnSpc>
              <a:spcBef>
                <a:spcPts val="0"/>
              </a:spcBef>
              <a:spcAft>
                <a:spcPts val="0"/>
              </a:spcAft>
              <a:defRPr sz="2000" b="0">
                <a:solidFill>
                  <a:srgbClr val="182B3A"/>
                </a:solidFill>
                <a:latin typeface="Arial"/>
              </a:defRPr>
            </a:pPr>
            <a:r>
              <a:t>3</a:t>
            </a:r>
          </a:p>
        </p:txBody>
      </p:sp>
      <p:sp>
        <p:nvSpPr>
          <p:cNvPr id="12" name="TextBox 11"/>
          <p:cNvSpPr txBox="1"/>
          <p:nvPr/>
        </p:nvSpPr>
        <p:spPr>
          <a:xfrm>
            <a:off x="1773936" y="2496312"/>
            <a:ext cx="274320" cy="265176"/>
          </a:xfrm>
          <a:prstGeom prst="rect">
            <a:avLst/>
          </a:prstGeom>
          <a:noFill/>
        </p:spPr>
        <p:txBody>
          <a:bodyPr wrap="none" lIns="0" rIns="0" tIns="0" bIns="0">
            <a:spAutoFit/>
          </a:bodyPr>
          <a:lstStyle/>
          <a:p>
            <a:pPr algn="ctr">
              <a:lnSpc>
                <a:spcPts val="2240"/>
              </a:lnSpc>
              <a:spcBef>
                <a:spcPts val="0"/>
              </a:spcBef>
              <a:spcAft>
                <a:spcPts val="0"/>
              </a:spcAft>
              <a:defRPr sz="2000" b="0">
                <a:solidFill>
                  <a:srgbClr val="182B3A"/>
                </a:solidFill>
                <a:latin typeface="Arial"/>
              </a:defRPr>
            </a:pPr>
            <a:r>
              <a:t>6</a:t>
            </a:r>
          </a:p>
        </p:txBody>
      </p:sp>
      <p:cxnSp>
        <p:nvCxnSpPr>
          <p:cNvPr id="13" name="Connector 12"/>
          <p:cNvCxnSpPr/>
          <p:nvPr/>
        </p:nvCxnSpPr>
        <p:spPr>
          <a:xfrm flipV="1">
            <a:off x="850392" y="2386584"/>
            <a:ext cx="429768" cy="429768"/>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sp>
        <p:nvSpPr>
          <p:cNvPr id="14" name="TextBox 13"/>
          <p:cNvSpPr txBox="1"/>
          <p:nvPr/>
        </p:nvSpPr>
        <p:spPr>
          <a:xfrm>
            <a:off x="864108" y="2400300"/>
            <a:ext cx="201168" cy="201168"/>
          </a:xfrm>
          <a:prstGeom prst="rect">
            <a:avLst/>
          </a:prstGeom>
          <a:noFill/>
        </p:spPr>
        <p:txBody>
          <a:bodyPr wrap="none" lIns="0" rIns="0" tIns="0" bIns="0">
            <a:spAutoFit/>
          </a:bodyPr>
          <a:lstStyle/>
          <a:p>
            <a:pPr algn="ctr">
              <a:lnSpc>
                <a:spcPts val="1792"/>
              </a:lnSpc>
              <a:spcBef>
                <a:spcPts val="0"/>
              </a:spcBef>
              <a:spcAft>
                <a:spcPts val="0"/>
              </a:spcAft>
              <a:defRPr sz="1600" b="0">
                <a:solidFill>
                  <a:srgbClr val="182B3A"/>
                </a:solidFill>
                <a:latin typeface="Arial"/>
              </a:defRPr>
            </a:pPr>
            <a:r>
              <a:t>1</a:t>
            </a:r>
          </a:p>
        </p:txBody>
      </p:sp>
      <p:sp>
        <p:nvSpPr>
          <p:cNvPr id="15" name="TextBox 14"/>
          <p:cNvSpPr txBox="1"/>
          <p:nvPr/>
        </p:nvSpPr>
        <p:spPr>
          <a:xfrm>
            <a:off x="1074420" y="2610612"/>
            <a:ext cx="201168" cy="201168"/>
          </a:xfrm>
          <a:prstGeom prst="rect">
            <a:avLst/>
          </a:prstGeom>
          <a:noFill/>
        </p:spPr>
        <p:txBody>
          <a:bodyPr wrap="none" lIns="0" rIns="0" tIns="0" bIns="0">
            <a:spAutoFit/>
          </a:bodyPr>
          <a:lstStyle/>
          <a:p>
            <a:pPr algn="ctr">
              <a:lnSpc>
                <a:spcPts val="1792"/>
              </a:lnSpc>
              <a:spcBef>
                <a:spcPts val="0"/>
              </a:spcBef>
              <a:spcAft>
                <a:spcPts val="0"/>
              </a:spcAft>
              <a:defRPr sz="1600" b="0">
                <a:solidFill>
                  <a:srgbClr val="182B3A"/>
                </a:solidFill>
                <a:latin typeface="Arial"/>
              </a:defRPr>
            </a:pPr>
            <a:r>
              <a:t>4</a:t>
            </a:r>
          </a:p>
        </p:txBody>
      </p:sp>
      <p:cxnSp>
        <p:nvCxnSpPr>
          <p:cNvPr id="16" name="Connector 15"/>
          <p:cNvCxnSpPr/>
          <p:nvPr/>
        </p:nvCxnSpPr>
        <p:spPr>
          <a:xfrm flipV="1">
            <a:off x="1280160" y="2386584"/>
            <a:ext cx="429768" cy="429768"/>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sp>
        <p:nvSpPr>
          <p:cNvPr id="17" name="TextBox 16"/>
          <p:cNvSpPr txBox="1"/>
          <p:nvPr/>
        </p:nvSpPr>
        <p:spPr>
          <a:xfrm>
            <a:off x="1293876" y="2400300"/>
            <a:ext cx="201168" cy="201168"/>
          </a:xfrm>
          <a:prstGeom prst="rect">
            <a:avLst/>
          </a:prstGeom>
          <a:noFill/>
        </p:spPr>
        <p:txBody>
          <a:bodyPr wrap="none" lIns="0" rIns="0" tIns="0" bIns="0">
            <a:spAutoFit/>
          </a:bodyPr>
          <a:lstStyle/>
          <a:p>
            <a:pPr algn="ctr">
              <a:lnSpc>
                <a:spcPts val="1792"/>
              </a:lnSpc>
              <a:spcBef>
                <a:spcPts val="0"/>
              </a:spcBef>
              <a:spcAft>
                <a:spcPts val="0"/>
              </a:spcAft>
              <a:defRPr sz="1600" b="0">
                <a:solidFill>
                  <a:srgbClr val="182B3A"/>
                </a:solidFill>
                <a:latin typeface="Arial"/>
              </a:defRPr>
            </a:pPr>
            <a:r>
              <a:t>1</a:t>
            </a:r>
          </a:p>
        </p:txBody>
      </p:sp>
      <p:sp>
        <p:nvSpPr>
          <p:cNvPr id="18" name="TextBox 17"/>
          <p:cNvSpPr txBox="1"/>
          <p:nvPr/>
        </p:nvSpPr>
        <p:spPr>
          <a:xfrm>
            <a:off x="1504188" y="2610612"/>
            <a:ext cx="201168" cy="201168"/>
          </a:xfrm>
          <a:prstGeom prst="rect">
            <a:avLst/>
          </a:prstGeom>
          <a:noFill/>
        </p:spPr>
        <p:txBody>
          <a:bodyPr wrap="none" lIns="0" rIns="0" tIns="0" bIns="0">
            <a:spAutoFit/>
          </a:bodyPr>
          <a:lstStyle/>
          <a:p>
            <a:pPr algn="ctr">
              <a:lnSpc>
                <a:spcPts val="1792"/>
              </a:lnSpc>
              <a:spcBef>
                <a:spcPts val="0"/>
              </a:spcBef>
              <a:spcAft>
                <a:spcPts val="0"/>
              </a:spcAft>
              <a:defRPr sz="1600" b="0">
                <a:solidFill>
                  <a:srgbClr val="182B3A"/>
                </a:solidFill>
                <a:latin typeface="Arial"/>
              </a:defRPr>
            </a:pPr>
            <a:r>
              <a:t>8</a:t>
            </a:r>
          </a:p>
        </p:txBody>
      </p:sp>
      <p:cxnSp>
        <p:nvCxnSpPr>
          <p:cNvPr id="19" name="Connector 18"/>
          <p:cNvCxnSpPr/>
          <p:nvPr/>
        </p:nvCxnSpPr>
        <p:spPr>
          <a:xfrm>
            <a:off x="850392" y="2386584"/>
            <a:ext cx="0" cy="429768"/>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cxnSp>
        <p:nvCxnSpPr>
          <p:cNvPr id="20" name="Connector 19"/>
          <p:cNvCxnSpPr/>
          <p:nvPr/>
        </p:nvCxnSpPr>
        <p:spPr>
          <a:xfrm>
            <a:off x="1280160" y="2386584"/>
            <a:ext cx="0" cy="429768"/>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cxnSp>
        <p:nvCxnSpPr>
          <p:cNvPr id="21" name="Connector 20"/>
          <p:cNvCxnSpPr/>
          <p:nvPr/>
        </p:nvCxnSpPr>
        <p:spPr>
          <a:xfrm>
            <a:off x="1709928" y="2386584"/>
            <a:ext cx="0" cy="429768"/>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cxnSp>
        <p:nvCxnSpPr>
          <p:cNvPr id="22" name="Connector 21"/>
          <p:cNvCxnSpPr/>
          <p:nvPr/>
        </p:nvCxnSpPr>
        <p:spPr>
          <a:xfrm>
            <a:off x="850392" y="2386584"/>
            <a:ext cx="859536" cy="0"/>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cxnSp>
        <p:nvCxnSpPr>
          <p:cNvPr id="23" name="Connector 22"/>
          <p:cNvCxnSpPr/>
          <p:nvPr/>
        </p:nvCxnSpPr>
        <p:spPr>
          <a:xfrm>
            <a:off x="850392" y="2816352"/>
            <a:ext cx="859536" cy="0"/>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sp>
        <p:nvSpPr>
          <p:cNvPr id="24" name="TextBox 23"/>
          <p:cNvSpPr txBox="1"/>
          <p:nvPr/>
        </p:nvSpPr>
        <p:spPr>
          <a:xfrm>
            <a:off x="1280160" y="2898648"/>
            <a:ext cx="274320" cy="274320"/>
          </a:xfrm>
          <a:prstGeom prst="rect">
            <a:avLst/>
          </a:prstGeom>
          <a:noFill/>
        </p:spPr>
        <p:txBody>
          <a:bodyPr wrap="none" lIns="0" rIns="0" tIns="0" bIns="0">
            <a:spAutoFit/>
          </a:bodyPr>
          <a:lstStyle/>
          <a:p>
            <a:pPr algn="ctr">
              <a:lnSpc>
                <a:spcPts val="2352"/>
              </a:lnSpc>
              <a:spcBef>
                <a:spcPts val="0"/>
              </a:spcBef>
              <a:spcAft>
                <a:spcPts val="0"/>
              </a:spcAft>
              <a:defRPr sz="2100" b="0">
                <a:solidFill>
                  <a:srgbClr val="182B3A"/>
                </a:solidFill>
                <a:latin typeface="Arial"/>
              </a:defRPr>
            </a:pPr>
            <a:r>
              <a:t>8</a:t>
            </a:r>
          </a:p>
        </p:txBody>
      </p:sp>
      <p:sp>
        <p:nvSpPr>
          <p:cNvPr id="25" name="TextBox 24"/>
          <p:cNvSpPr txBox="1"/>
          <p:nvPr/>
        </p:nvSpPr>
        <p:spPr>
          <a:xfrm>
            <a:off x="850392" y="2898648"/>
            <a:ext cx="274320" cy="274320"/>
          </a:xfrm>
          <a:prstGeom prst="rect">
            <a:avLst/>
          </a:prstGeom>
          <a:noFill/>
        </p:spPr>
        <p:txBody>
          <a:bodyPr wrap="none" lIns="0" rIns="0" tIns="0" bIns="0">
            <a:spAutoFit/>
          </a:bodyPr>
          <a:lstStyle/>
          <a:p>
            <a:pPr algn="ctr">
              <a:lnSpc>
                <a:spcPts val="2352"/>
              </a:lnSpc>
              <a:spcBef>
                <a:spcPts val="0"/>
              </a:spcBef>
              <a:spcAft>
                <a:spcPts val="0"/>
              </a:spcAft>
              <a:defRPr sz="2100" b="0">
                <a:solidFill>
                  <a:srgbClr val="182B3A"/>
                </a:solidFill>
                <a:latin typeface="Arial"/>
              </a:defRPr>
            </a:pPr>
            <a:r>
              <a:t>5</a:t>
            </a:r>
          </a:p>
        </p:txBody>
      </p:sp>
      <p:sp>
        <p:nvSpPr>
          <p:cNvPr id="26" name="TextBox 25"/>
          <p:cNvSpPr txBox="1"/>
          <p:nvPr/>
        </p:nvSpPr>
        <p:spPr>
          <a:xfrm>
            <a:off x="502920" y="2496312"/>
            <a:ext cx="274320" cy="274320"/>
          </a:xfrm>
          <a:prstGeom prst="rect">
            <a:avLst/>
          </a:prstGeom>
          <a:noFill/>
        </p:spPr>
        <p:txBody>
          <a:bodyPr wrap="none" lIns="0" rIns="0" tIns="0" bIns="0">
            <a:spAutoFit/>
          </a:bodyPr>
          <a:lstStyle/>
          <a:p>
            <a:pPr algn="ctr">
              <a:lnSpc>
                <a:spcPts val="2352"/>
              </a:lnSpc>
              <a:spcBef>
                <a:spcPts val="0"/>
              </a:spcBef>
              <a:spcAft>
                <a:spcPts val="0"/>
              </a:spcAft>
              <a:defRPr sz="2100" b="0">
                <a:solidFill>
                  <a:srgbClr val="182B3A"/>
                </a:solidFill>
                <a:latin typeface="Arial"/>
              </a:defRPr>
            </a:pPr>
            <a:r>
              <a:t>1</a:t>
            </a:r>
          </a:p>
        </p:txBody>
      </p:sp>
      <p:sp>
        <p:nvSpPr>
          <p:cNvPr id="27" name="TextBox 26"/>
          <p:cNvSpPr txBox="1"/>
          <p:nvPr/>
        </p:nvSpPr>
        <p:spPr>
          <a:xfrm>
            <a:off x="2670048" y="2487168"/>
            <a:ext cx="2057400" cy="365760"/>
          </a:xfrm>
          <a:prstGeom prst="rect">
            <a:avLst/>
          </a:prstGeom>
          <a:noFill/>
        </p:spPr>
        <p:txBody>
          <a:bodyPr wrap="none" lIns="0" rIns="0" tIns="0" bIns="0">
            <a:spAutoFit/>
          </a:bodyPr>
          <a:lstStyle/>
          <a:p>
            <a:pPr algn="l">
              <a:lnSpc>
                <a:spcPts val="2128"/>
              </a:lnSpc>
              <a:spcBef>
                <a:spcPts val="0"/>
              </a:spcBef>
              <a:spcAft>
                <a:spcPts val="0"/>
              </a:spcAft>
              <a:defRPr sz="1900" b="0">
                <a:solidFill>
                  <a:srgbClr val="182B3A"/>
                </a:solidFill>
                <a:latin typeface="Arial"/>
              </a:defRPr>
            </a:pPr>
            <a:r>
              <a:t>Answer</a:t>
            </a:r>
          </a:p>
        </p:txBody>
      </p:sp>
      <p:sp>
        <p:nvSpPr>
          <p:cNvPr id="28" name="TextBox 27"/>
          <p:cNvSpPr txBox="1"/>
          <p:nvPr/>
        </p:nvSpPr>
        <p:spPr>
          <a:xfrm>
            <a:off x="2670048" y="2852928"/>
            <a:ext cx="2057400" cy="384048"/>
          </a:xfrm>
          <a:prstGeom prst="rect">
            <a:avLst/>
          </a:prstGeom>
          <a:noFill/>
        </p:spPr>
        <p:txBody>
          <a:bodyPr wrap="none" lIns="0" rIns="0" tIns="0" bIns="0">
            <a:spAutoFit/>
          </a:bodyPr>
          <a:lstStyle/>
          <a:p>
            <a:pPr algn="l">
              <a:lnSpc>
                <a:spcPts val="2800"/>
              </a:lnSpc>
              <a:spcBef>
                <a:spcPts val="0"/>
              </a:spcBef>
              <a:spcAft>
                <a:spcPts val="0"/>
              </a:spcAft>
              <a:defRPr sz="2500" b="0">
                <a:solidFill>
                  <a:srgbClr val="182B3A"/>
                </a:solidFill>
                <a:latin typeface="Arial"/>
              </a:defRPr>
            </a:pPr>
            <a:r>
              <a:t>158</a:t>
            </a:r>
          </a:p>
        </p:txBody>
      </p:sp>
      <p:sp>
        <p:nvSpPr>
          <p:cNvPr id="29" name="Rectangle 28"/>
          <p:cNvSpPr/>
          <p:nvPr/>
        </p:nvSpPr>
        <p:spPr>
          <a:xfrm>
            <a:off x="384048" y="3721608"/>
            <a:ext cx="4588764" cy="1929384"/>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0" name="TextBox 29"/>
          <p:cNvSpPr txBox="1"/>
          <p:nvPr/>
        </p:nvSpPr>
        <p:spPr>
          <a:xfrm>
            <a:off x="475488" y="3758184"/>
            <a:ext cx="4392168" cy="402336"/>
          </a:xfrm>
          <a:prstGeom prst="rect">
            <a:avLst/>
          </a:prstGeom>
          <a:noFill/>
        </p:spPr>
        <p:txBody>
          <a:bodyPr wrap="square" tIns="36576" bIns="36576" anchor="t">
            <a:spAutoFit/>
          </a:bodyPr>
          <a:lstStyle/>
          <a:p>
            <a:pPr>
              <a:lnSpc>
                <a:spcPts val="2268"/>
              </a:lnSpc>
              <a:spcBef>
                <a:spcPts val="0"/>
              </a:spcBef>
              <a:spcAft>
                <a:spcPts val="0"/>
              </a:spcAft>
              <a:defRPr sz="2100" b="1">
                <a:solidFill>
                  <a:srgbClr val="182B3A"/>
                </a:solidFill>
                <a:latin typeface="Arial"/>
              </a:defRPr>
            </a:pPr>
            <a:r>
              <a:t>2.  89 × 7</a:t>
            </a:r>
          </a:p>
        </p:txBody>
      </p:sp>
      <p:sp>
        <p:nvSpPr>
          <p:cNvPr id="31" name="TextBox 30"/>
          <p:cNvSpPr txBox="1"/>
          <p:nvPr/>
        </p:nvSpPr>
        <p:spPr>
          <a:xfrm>
            <a:off x="850392" y="4123944"/>
            <a:ext cx="429768" cy="265176"/>
          </a:xfrm>
          <a:prstGeom prst="rect">
            <a:avLst/>
          </a:prstGeom>
          <a:noFill/>
        </p:spPr>
        <p:txBody>
          <a:bodyPr wrap="none" lIns="0" rIns="0" tIns="0" bIns="0">
            <a:spAutoFit/>
          </a:bodyPr>
          <a:lstStyle/>
          <a:p>
            <a:pPr algn="ctr">
              <a:lnSpc>
                <a:spcPts val="2240"/>
              </a:lnSpc>
              <a:spcBef>
                <a:spcPts val="0"/>
              </a:spcBef>
              <a:spcAft>
                <a:spcPts val="0"/>
              </a:spcAft>
              <a:defRPr sz="2000" b="0">
                <a:solidFill>
                  <a:srgbClr val="182B3A"/>
                </a:solidFill>
                <a:latin typeface="Arial"/>
              </a:defRPr>
            </a:pPr>
            <a:r>
              <a:t>8</a:t>
            </a:r>
          </a:p>
        </p:txBody>
      </p:sp>
      <p:sp>
        <p:nvSpPr>
          <p:cNvPr id="32" name="TextBox 31"/>
          <p:cNvSpPr txBox="1"/>
          <p:nvPr/>
        </p:nvSpPr>
        <p:spPr>
          <a:xfrm>
            <a:off x="1280160" y="4123944"/>
            <a:ext cx="429768" cy="265176"/>
          </a:xfrm>
          <a:prstGeom prst="rect">
            <a:avLst/>
          </a:prstGeom>
          <a:noFill/>
        </p:spPr>
        <p:txBody>
          <a:bodyPr wrap="none" lIns="0" rIns="0" tIns="0" bIns="0">
            <a:spAutoFit/>
          </a:bodyPr>
          <a:lstStyle/>
          <a:p>
            <a:pPr algn="ctr">
              <a:lnSpc>
                <a:spcPts val="2240"/>
              </a:lnSpc>
              <a:spcBef>
                <a:spcPts val="0"/>
              </a:spcBef>
              <a:spcAft>
                <a:spcPts val="0"/>
              </a:spcAft>
              <a:defRPr sz="2000" b="0">
                <a:solidFill>
                  <a:srgbClr val="182B3A"/>
                </a:solidFill>
                <a:latin typeface="Arial"/>
              </a:defRPr>
            </a:pPr>
            <a:r>
              <a:t>9</a:t>
            </a:r>
          </a:p>
        </p:txBody>
      </p:sp>
      <p:sp>
        <p:nvSpPr>
          <p:cNvPr id="33" name="TextBox 32"/>
          <p:cNvSpPr txBox="1"/>
          <p:nvPr/>
        </p:nvSpPr>
        <p:spPr>
          <a:xfrm>
            <a:off x="1773936" y="4498848"/>
            <a:ext cx="274320" cy="265176"/>
          </a:xfrm>
          <a:prstGeom prst="rect">
            <a:avLst/>
          </a:prstGeom>
          <a:noFill/>
        </p:spPr>
        <p:txBody>
          <a:bodyPr wrap="none" lIns="0" rIns="0" tIns="0" bIns="0">
            <a:spAutoFit/>
          </a:bodyPr>
          <a:lstStyle/>
          <a:p>
            <a:pPr algn="ctr">
              <a:lnSpc>
                <a:spcPts val="2240"/>
              </a:lnSpc>
              <a:spcBef>
                <a:spcPts val="0"/>
              </a:spcBef>
              <a:spcAft>
                <a:spcPts val="0"/>
              </a:spcAft>
              <a:defRPr sz="2000" b="0">
                <a:solidFill>
                  <a:srgbClr val="182B3A"/>
                </a:solidFill>
                <a:latin typeface="Arial"/>
              </a:defRPr>
            </a:pPr>
            <a:r>
              <a:t>7</a:t>
            </a:r>
          </a:p>
        </p:txBody>
      </p:sp>
      <p:cxnSp>
        <p:nvCxnSpPr>
          <p:cNvPr id="34" name="Connector 33"/>
          <p:cNvCxnSpPr/>
          <p:nvPr/>
        </p:nvCxnSpPr>
        <p:spPr>
          <a:xfrm flipV="1">
            <a:off x="850392" y="4389120"/>
            <a:ext cx="429768" cy="429768"/>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sp>
        <p:nvSpPr>
          <p:cNvPr id="35" name="TextBox 34"/>
          <p:cNvSpPr txBox="1"/>
          <p:nvPr/>
        </p:nvSpPr>
        <p:spPr>
          <a:xfrm>
            <a:off x="864108" y="4402836"/>
            <a:ext cx="201168" cy="201168"/>
          </a:xfrm>
          <a:prstGeom prst="rect">
            <a:avLst/>
          </a:prstGeom>
          <a:noFill/>
        </p:spPr>
        <p:txBody>
          <a:bodyPr wrap="none" lIns="0" rIns="0" tIns="0" bIns="0">
            <a:spAutoFit/>
          </a:bodyPr>
          <a:lstStyle/>
          <a:p>
            <a:pPr algn="ctr">
              <a:lnSpc>
                <a:spcPts val="1792"/>
              </a:lnSpc>
              <a:spcBef>
                <a:spcPts val="0"/>
              </a:spcBef>
              <a:spcAft>
                <a:spcPts val="0"/>
              </a:spcAft>
              <a:defRPr sz="1600" b="0">
                <a:solidFill>
                  <a:srgbClr val="182B3A"/>
                </a:solidFill>
                <a:latin typeface="Arial"/>
              </a:defRPr>
            </a:pPr>
            <a:r>
              <a:t>5</a:t>
            </a:r>
          </a:p>
        </p:txBody>
      </p:sp>
      <p:sp>
        <p:nvSpPr>
          <p:cNvPr id="36" name="TextBox 35"/>
          <p:cNvSpPr txBox="1"/>
          <p:nvPr/>
        </p:nvSpPr>
        <p:spPr>
          <a:xfrm>
            <a:off x="1074420" y="4613148"/>
            <a:ext cx="201168" cy="201168"/>
          </a:xfrm>
          <a:prstGeom prst="rect">
            <a:avLst/>
          </a:prstGeom>
          <a:noFill/>
        </p:spPr>
        <p:txBody>
          <a:bodyPr wrap="none" lIns="0" rIns="0" tIns="0" bIns="0">
            <a:spAutoFit/>
          </a:bodyPr>
          <a:lstStyle/>
          <a:p>
            <a:pPr algn="ctr">
              <a:lnSpc>
                <a:spcPts val="1792"/>
              </a:lnSpc>
              <a:spcBef>
                <a:spcPts val="0"/>
              </a:spcBef>
              <a:spcAft>
                <a:spcPts val="0"/>
              </a:spcAft>
              <a:defRPr sz="1600" b="0">
                <a:solidFill>
                  <a:srgbClr val="182B3A"/>
                </a:solidFill>
                <a:latin typeface="Arial"/>
              </a:defRPr>
            </a:pPr>
            <a:r>
              <a:t>6</a:t>
            </a:r>
          </a:p>
        </p:txBody>
      </p:sp>
      <p:cxnSp>
        <p:nvCxnSpPr>
          <p:cNvPr id="37" name="Connector 36"/>
          <p:cNvCxnSpPr/>
          <p:nvPr/>
        </p:nvCxnSpPr>
        <p:spPr>
          <a:xfrm flipV="1">
            <a:off x="1280160" y="4389120"/>
            <a:ext cx="429768" cy="429768"/>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sp>
        <p:nvSpPr>
          <p:cNvPr id="38" name="TextBox 37"/>
          <p:cNvSpPr txBox="1"/>
          <p:nvPr/>
        </p:nvSpPr>
        <p:spPr>
          <a:xfrm>
            <a:off x="1293876" y="4402836"/>
            <a:ext cx="201168" cy="201168"/>
          </a:xfrm>
          <a:prstGeom prst="rect">
            <a:avLst/>
          </a:prstGeom>
          <a:noFill/>
        </p:spPr>
        <p:txBody>
          <a:bodyPr wrap="none" lIns="0" rIns="0" tIns="0" bIns="0">
            <a:spAutoFit/>
          </a:bodyPr>
          <a:lstStyle/>
          <a:p>
            <a:pPr algn="ctr">
              <a:lnSpc>
                <a:spcPts val="1792"/>
              </a:lnSpc>
              <a:spcBef>
                <a:spcPts val="0"/>
              </a:spcBef>
              <a:spcAft>
                <a:spcPts val="0"/>
              </a:spcAft>
              <a:defRPr sz="1600" b="0">
                <a:solidFill>
                  <a:srgbClr val="182B3A"/>
                </a:solidFill>
                <a:latin typeface="Arial"/>
              </a:defRPr>
            </a:pPr>
            <a:r>
              <a:t>6</a:t>
            </a:r>
          </a:p>
        </p:txBody>
      </p:sp>
      <p:sp>
        <p:nvSpPr>
          <p:cNvPr id="39" name="TextBox 38"/>
          <p:cNvSpPr txBox="1"/>
          <p:nvPr/>
        </p:nvSpPr>
        <p:spPr>
          <a:xfrm>
            <a:off x="1504188" y="4613148"/>
            <a:ext cx="201168" cy="201168"/>
          </a:xfrm>
          <a:prstGeom prst="rect">
            <a:avLst/>
          </a:prstGeom>
          <a:noFill/>
        </p:spPr>
        <p:txBody>
          <a:bodyPr wrap="none" lIns="0" rIns="0" tIns="0" bIns="0">
            <a:spAutoFit/>
          </a:bodyPr>
          <a:lstStyle/>
          <a:p>
            <a:pPr algn="ctr">
              <a:lnSpc>
                <a:spcPts val="1792"/>
              </a:lnSpc>
              <a:spcBef>
                <a:spcPts val="0"/>
              </a:spcBef>
              <a:spcAft>
                <a:spcPts val="0"/>
              </a:spcAft>
              <a:defRPr sz="1600" b="0">
                <a:solidFill>
                  <a:srgbClr val="182B3A"/>
                </a:solidFill>
                <a:latin typeface="Arial"/>
              </a:defRPr>
            </a:pPr>
            <a:r>
              <a:t>3</a:t>
            </a:r>
          </a:p>
        </p:txBody>
      </p:sp>
      <p:cxnSp>
        <p:nvCxnSpPr>
          <p:cNvPr id="40" name="Connector 39"/>
          <p:cNvCxnSpPr/>
          <p:nvPr/>
        </p:nvCxnSpPr>
        <p:spPr>
          <a:xfrm>
            <a:off x="850392" y="4389120"/>
            <a:ext cx="0" cy="429768"/>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cxnSp>
        <p:nvCxnSpPr>
          <p:cNvPr id="41" name="Connector 40"/>
          <p:cNvCxnSpPr/>
          <p:nvPr/>
        </p:nvCxnSpPr>
        <p:spPr>
          <a:xfrm>
            <a:off x="1280160" y="4389120"/>
            <a:ext cx="0" cy="429768"/>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cxnSp>
        <p:nvCxnSpPr>
          <p:cNvPr id="42" name="Connector 41"/>
          <p:cNvCxnSpPr/>
          <p:nvPr/>
        </p:nvCxnSpPr>
        <p:spPr>
          <a:xfrm>
            <a:off x="1709928" y="4389120"/>
            <a:ext cx="0" cy="429768"/>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cxnSp>
        <p:nvCxnSpPr>
          <p:cNvPr id="43" name="Connector 42"/>
          <p:cNvCxnSpPr/>
          <p:nvPr/>
        </p:nvCxnSpPr>
        <p:spPr>
          <a:xfrm>
            <a:off x="850392" y="4389120"/>
            <a:ext cx="859536" cy="0"/>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cxnSp>
        <p:nvCxnSpPr>
          <p:cNvPr id="44" name="Connector 43"/>
          <p:cNvCxnSpPr/>
          <p:nvPr/>
        </p:nvCxnSpPr>
        <p:spPr>
          <a:xfrm>
            <a:off x="850392" y="4818888"/>
            <a:ext cx="859536" cy="0"/>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sp>
        <p:nvSpPr>
          <p:cNvPr id="45" name="TextBox 44"/>
          <p:cNvSpPr txBox="1"/>
          <p:nvPr/>
        </p:nvSpPr>
        <p:spPr>
          <a:xfrm>
            <a:off x="1280160" y="4901184"/>
            <a:ext cx="274320" cy="274320"/>
          </a:xfrm>
          <a:prstGeom prst="rect">
            <a:avLst/>
          </a:prstGeom>
          <a:noFill/>
        </p:spPr>
        <p:txBody>
          <a:bodyPr wrap="none" lIns="0" rIns="0" tIns="0" bIns="0">
            <a:spAutoFit/>
          </a:bodyPr>
          <a:lstStyle/>
          <a:p>
            <a:pPr algn="ctr">
              <a:lnSpc>
                <a:spcPts val="2352"/>
              </a:lnSpc>
              <a:spcBef>
                <a:spcPts val="0"/>
              </a:spcBef>
              <a:spcAft>
                <a:spcPts val="0"/>
              </a:spcAft>
              <a:defRPr sz="2100" b="0">
                <a:solidFill>
                  <a:srgbClr val="182B3A"/>
                </a:solidFill>
                <a:latin typeface="Arial"/>
              </a:defRPr>
            </a:pPr>
            <a:r>
              <a:t>3</a:t>
            </a:r>
          </a:p>
        </p:txBody>
      </p:sp>
      <p:sp>
        <p:nvSpPr>
          <p:cNvPr id="46" name="TextBox 45"/>
          <p:cNvSpPr txBox="1"/>
          <p:nvPr/>
        </p:nvSpPr>
        <p:spPr>
          <a:xfrm>
            <a:off x="850392" y="4901184"/>
            <a:ext cx="274320" cy="274320"/>
          </a:xfrm>
          <a:prstGeom prst="rect">
            <a:avLst/>
          </a:prstGeom>
          <a:noFill/>
        </p:spPr>
        <p:txBody>
          <a:bodyPr wrap="none" lIns="0" rIns="0" tIns="0" bIns="0">
            <a:spAutoFit/>
          </a:bodyPr>
          <a:lstStyle/>
          <a:p>
            <a:pPr algn="ctr">
              <a:lnSpc>
                <a:spcPts val="2352"/>
              </a:lnSpc>
              <a:spcBef>
                <a:spcPts val="0"/>
              </a:spcBef>
              <a:spcAft>
                <a:spcPts val="0"/>
              </a:spcAft>
              <a:defRPr sz="2100" b="0">
                <a:solidFill>
                  <a:srgbClr val="182B3A"/>
                </a:solidFill>
                <a:latin typeface="Arial"/>
              </a:defRPr>
            </a:pPr>
            <a:r>
              <a:t>2</a:t>
            </a:r>
          </a:p>
        </p:txBody>
      </p:sp>
      <p:sp>
        <p:nvSpPr>
          <p:cNvPr id="47" name="TextBox 46"/>
          <p:cNvSpPr txBox="1"/>
          <p:nvPr/>
        </p:nvSpPr>
        <p:spPr>
          <a:xfrm>
            <a:off x="502920" y="4498848"/>
            <a:ext cx="274320" cy="274320"/>
          </a:xfrm>
          <a:prstGeom prst="rect">
            <a:avLst/>
          </a:prstGeom>
          <a:noFill/>
        </p:spPr>
        <p:txBody>
          <a:bodyPr wrap="none" lIns="0" rIns="0" tIns="0" bIns="0">
            <a:spAutoFit/>
          </a:bodyPr>
          <a:lstStyle/>
          <a:p>
            <a:pPr algn="ctr">
              <a:lnSpc>
                <a:spcPts val="2352"/>
              </a:lnSpc>
              <a:spcBef>
                <a:spcPts val="0"/>
              </a:spcBef>
              <a:spcAft>
                <a:spcPts val="0"/>
              </a:spcAft>
              <a:defRPr sz="2100" b="0">
                <a:solidFill>
                  <a:srgbClr val="182B3A"/>
                </a:solidFill>
                <a:latin typeface="Arial"/>
              </a:defRPr>
            </a:pPr>
            <a:r>
              <a:t>5</a:t>
            </a:r>
          </a:p>
        </p:txBody>
      </p:sp>
      <p:sp>
        <p:nvSpPr>
          <p:cNvPr id="48" name="TextBox 47"/>
          <p:cNvSpPr txBox="1"/>
          <p:nvPr/>
        </p:nvSpPr>
        <p:spPr>
          <a:xfrm>
            <a:off x="2670048" y="4489704"/>
            <a:ext cx="2057400" cy="365760"/>
          </a:xfrm>
          <a:prstGeom prst="rect">
            <a:avLst/>
          </a:prstGeom>
          <a:noFill/>
        </p:spPr>
        <p:txBody>
          <a:bodyPr wrap="none" lIns="0" rIns="0" tIns="0" bIns="0">
            <a:spAutoFit/>
          </a:bodyPr>
          <a:lstStyle/>
          <a:p>
            <a:pPr algn="l">
              <a:lnSpc>
                <a:spcPts val="2128"/>
              </a:lnSpc>
              <a:spcBef>
                <a:spcPts val="0"/>
              </a:spcBef>
              <a:spcAft>
                <a:spcPts val="0"/>
              </a:spcAft>
              <a:defRPr sz="1900" b="0">
                <a:solidFill>
                  <a:srgbClr val="182B3A"/>
                </a:solidFill>
                <a:latin typeface="Arial"/>
              </a:defRPr>
            </a:pPr>
            <a:r>
              <a:t>Answer</a:t>
            </a:r>
          </a:p>
        </p:txBody>
      </p:sp>
      <p:sp>
        <p:nvSpPr>
          <p:cNvPr id="49" name="TextBox 48"/>
          <p:cNvSpPr txBox="1"/>
          <p:nvPr/>
        </p:nvSpPr>
        <p:spPr>
          <a:xfrm>
            <a:off x="2670048" y="4855464"/>
            <a:ext cx="2057400" cy="384048"/>
          </a:xfrm>
          <a:prstGeom prst="rect">
            <a:avLst/>
          </a:prstGeom>
          <a:noFill/>
        </p:spPr>
        <p:txBody>
          <a:bodyPr wrap="none" lIns="0" rIns="0" tIns="0" bIns="0">
            <a:spAutoFit/>
          </a:bodyPr>
          <a:lstStyle/>
          <a:p>
            <a:pPr algn="l">
              <a:lnSpc>
                <a:spcPts val="2800"/>
              </a:lnSpc>
              <a:spcBef>
                <a:spcPts val="0"/>
              </a:spcBef>
              <a:spcAft>
                <a:spcPts val="0"/>
              </a:spcAft>
              <a:defRPr sz="2500" b="0">
                <a:solidFill>
                  <a:srgbClr val="182B3A"/>
                </a:solidFill>
                <a:latin typeface="Arial"/>
              </a:defRPr>
            </a:pPr>
            <a:r>
              <a:t>523</a:t>
            </a:r>
          </a:p>
        </p:txBody>
      </p:sp>
      <p:sp>
        <p:nvSpPr>
          <p:cNvPr id="50" name="Rectangle 49"/>
          <p:cNvSpPr/>
          <p:nvPr/>
        </p:nvSpPr>
        <p:spPr>
          <a:xfrm>
            <a:off x="384048" y="5724144"/>
            <a:ext cx="4588764" cy="1929384"/>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1" name="TextBox 50"/>
          <p:cNvSpPr txBox="1"/>
          <p:nvPr/>
        </p:nvSpPr>
        <p:spPr>
          <a:xfrm>
            <a:off x="475488" y="5760720"/>
            <a:ext cx="4392168" cy="402336"/>
          </a:xfrm>
          <a:prstGeom prst="rect">
            <a:avLst/>
          </a:prstGeom>
          <a:noFill/>
        </p:spPr>
        <p:txBody>
          <a:bodyPr wrap="square" tIns="36576" bIns="36576" anchor="t">
            <a:spAutoFit/>
          </a:bodyPr>
          <a:lstStyle/>
          <a:p>
            <a:pPr>
              <a:lnSpc>
                <a:spcPts val="2268"/>
              </a:lnSpc>
              <a:spcBef>
                <a:spcPts val="0"/>
              </a:spcBef>
              <a:spcAft>
                <a:spcPts val="0"/>
              </a:spcAft>
              <a:defRPr sz="2100" b="1">
                <a:solidFill>
                  <a:srgbClr val="182B3A"/>
                </a:solidFill>
                <a:latin typeface="Arial"/>
              </a:defRPr>
            </a:pPr>
            <a:r>
              <a:t>3.  76 × 7</a:t>
            </a:r>
          </a:p>
        </p:txBody>
      </p:sp>
      <p:sp>
        <p:nvSpPr>
          <p:cNvPr id="52" name="TextBox 51"/>
          <p:cNvSpPr txBox="1"/>
          <p:nvPr/>
        </p:nvSpPr>
        <p:spPr>
          <a:xfrm>
            <a:off x="850392" y="6126480"/>
            <a:ext cx="429768" cy="265176"/>
          </a:xfrm>
          <a:prstGeom prst="rect">
            <a:avLst/>
          </a:prstGeom>
          <a:noFill/>
        </p:spPr>
        <p:txBody>
          <a:bodyPr wrap="none" lIns="0" rIns="0" tIns="0" bIns="0">
            <a:spAutoFit/>
          </a:bodyPr>
          <a:lstStyle/>
          <a:p>
            <a:pPr algn="ctr">
              <a:lnSpc>
                <a:spcPts val="2240"/>
              </a:lnSpc>
              <a:spcBef>
                <a:spcPts val="0"/>
              </a:spcBef>
              <a:spcAft>
                <a:spcPts val="0"/>
              </a:spcAft>
              <a:defRPr sz="2000" b="0">
                <a:solidFill>
                  <a:srgbClr val="182B3A"/>
                </a:solidFill>
                <a:latin typeface="Arial"/>
              </a:defRPr>
            </a:pPr>
            <a:r>
              <a:t>7</a:t>
            </a:r>
          </a:p>
        </p:txBody>
      </p:sp>
      <p:sp>
        <p:nvSpPr>
          <p:cNvPr id="53" name="TextBox 52"/>
          <p:cNvSpPr txBox="1"/>
          <p:nvPr/>
        </p:nvSpPr>
        <p:spPr>
          <a:xfrm>
            <a:off x="1280160" y="6126480"/>
            <a:ext cx="429768" cy="265176"/>
          </a:xfrm>
          <a:prstGeom prst="rect">
            <a:avLst/>
          </a:prstGeom>
          <a:noFill/>
        </p:spPr>
        <p:txBody>
          <a:bodyPr wrap="none" lIns="0" rIns="0" tIns="0" bIns="0">
            <a:spAutoFit/>
          </a:bodyPr>
          <a:lstStyle/>
          <a:p>
            <a:pPr algn="ctr">
              <a:lnSpc>
                <a:spcPts val="2240"/>
              </a:lnSpc>
              <a:spcBef>
                <a:spcPts val="0"/>
              </a:spcBef>
              <a:spcAft>
                <a:spcPts val="0"/>
              </a:spcAft>
              <a:defRPr sz="2000" b="0">
                <a:solidFill>
                  <a:srgbClr val="182B3A"/>
                </a:solidFill>
                <a:latin typeface="Arial"/>
              </a:defRPr>
            </a:pPr>
            <a:r>
              <a:t>6</a:t>
            </a:r>
          </a:p>
        </p:txBody>
      </p:sp>
      <p:sp>
        <p:nvSpPr>
          <p:cNvPr id="54" name="TextBox 53"/>
          <p:cNvSpPr txBox="1"/>
          <p:nvPr/>
        </p:nvSpPr>
        <p:spPr>
          <a:xfrm>
            <a:off x="1773936" y="6501383"/>
            <a:ext cx="274320" cy="265176"/>
          </a:xfrm>
          <a:prstGeom prst="rect">
            <a:avLst/>
          </a:prstGeom>
          <a:noFill/>
        </p:spPr>
        <p:txBody>
          <a:bodyPr wrap="none" lIns="0" rIns="0" tIns="0" bIns="0">
            <a:spAutoFit/>
          </a:bodyPr>
          <a:lstStyle/>
          <a:p>
            <a:pPr algn="ctr">
              <a:lnSpc>
                <a:spcPts val="2240"/>
              </a:lnSpc>
              <a:spcBef>
                <a:spcPts val="0"/>
              </a:spcBef>
              <a:spcAft>
                <a:spcPts val="0"/>
              </a:spcAft>
              <a:defRPr sz="2000" b="0">
                <a:solidFill>
                  <a:srgbClr val="182B3A"/>
                </a:solidFill>
                <a:latin typeface="Arial"/>
              </a:defRPr>
            </a:pPr>
            <a:r>
              <a:t>7</a:t>
            </a:r>
          </a:p>
        </p:txBody>
      </p:sp>
      <p:cxnSp>
        <p:nvCxnSpPr>
          <p:cNvPr id="55" name="Connector 54"/>
          <p:cNvCxnSpPr/>
          <p:nvPr/>
        </p:nvCxnSpPr>
        <p:spPr>
          <a:xfrm flipV="1">
            <a:off x="850392" y="6391656"/>
            <a:ext cx="429768" cy="429768"/>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sp>
        <p:nvSpPr>
          <p:cNvPr id="56" name="TextBox 55"/>
          <p:cNvSpPr txBox="1"/>
          <p:nvPr/>
        </p:nvSpPr>
        <p:spPr>
          <a:xfrm>
            <a:off x="864108" y="6405372"/>
            <a:ext cx="201168" cy="201168"/>
          </a:xfrm>
          <a:prstGeom prst="rect">
            <a:avLst/>
          </a:prstGeom>
          <a:noFill/>
        </p:spPr>
        <p:txBody>
          <a:bodyPr wrap="none" lIns="0" rIns="0" tIns="0" bIns="0">
            <a:spAutoFit/>
          </a:bodyPr>
          <a:lstStyle/>
          <a:p>
            <a:pPr algn="ctr">
              <a:lnSpc>
                <a:spcPts val="1792"/>
              </a:lnSpc>
              <a:spcBef>
                <a:spcPts val="0"/>
              </a:spcBef>
              <a:spcAft>
                <a:spcPts val="0"/>
              </a:spcAft>
              <a:defRPr sz="1600" b="0">
                <a:solidFill>
                  <a:srgbClr val="182B3A"/>
                </a:solidFill>
                <a:latin typeface="Arial"/>
              </a:defRPr>
            </a:pPr>
            <a:r>
              <a:t>4</a:t>
            </a:r>
          </a:p>
        </p:txBody>
      </p:sp>
      <p:sp>
        <p:nvSpPr>
          <p:cNvPr id="57" name="TextBox 56"/>
          <p:cNvSpPr txBox="1"/>
          <p:nvPr/>
        </p:nvSpPr>
        <p:spPr>
          <a:xfrm>
            <a:off x="1074420" y="6615683"/>
            <a:ext cx="201168" cy="201168"/>
          </a:xfrm>
          <a:prstGeom prst="rect">
            <a:avLst/>
          </a:prstGeom>
          <a:noFill/>
        </p:spPr>
        <p:txBody>
          <a:bodyPr wrap="none" lIns="0" rIns="0" tIns="0" bIns="0">
            <a:spAutoFit/>
          </a:bodyPr>
          <a:lstStyle/>
          <a:p>
            <a:pPr algn="ctr">
              <a:lnSpc>
                <a:spcPts val="1792"/>
              </a:lnSpc>
              <a:spcBef>
                <a:spcPts val="0"/>
              </a:spcBef>
              <a:spcAft>
                <a:spcPts val="0"/>
              </a:spcAft>
              <a:defRPr sz="1600" b="0">
                <a:solidFill>
                  <a:srgbClr val="182B3A"/>
                </a:solidFill>
                <a:latin typeface="Arial"/>
              </a:defRPr>
            </a:pPr>
            <a:r>
              <a:t>9</a:t>
            </a:r>
          </a:p>
        </p:txBody>
      </p:sp>
      <p:cxnSp>
        <p:nvCxnSpPr>
          <p:cNvPr id="58" name="Connector 57"/>
          <p:cNvCxnSpPr/>
          <p:nvPr/>
        </p:nvCxnSpPr>
        <p:spPr>
          <a:xfrm flipV="1">
            <a:off x="1280160" y="6391656"/>
            <a:ext cx="429768" cy="429768"/>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sp>
        <p:nvSpPr>
          <p:cNvPr id="59" name="TextBox 58"/>
          <p:cNvSpPr txBox="1"/>
          <p:nvPr/>
        </p:nvSpPr>
        <p:spPr>
          <a:xfrm>
            <a:off x="1293876" y="6405372"/>
            <a:ext cx="201168" cy="201168"/>
          </a:xfrm>
          <a:prstGeom prst="rect">
            <a:avLst/>
          </a:prstGeom>
          <a:noFill/>
        </p:spPr>
        <p:txBody>
          <a:bodyPr wrap="none" lIns="0" rIns="0" tIns="0" bIns="0">
            <a:spAutoFit/>
          </a:bodyPr>
          <a:lstStyle/>
          <a:p>
            <a:pPr algn="ctr">
              <a:lnSpc>
                <a:spcPts val="1792"/>
              </a:lnSpc>
              <a:spcBef>
                <a:spcPts val="0"/>
              </a:spcBef>
              <a:spcAft>
                <a:spcPts val="0"/>
              </a:spcAft>
              <a:defRPr sz="1600" b="0">
                <a:solidFill>
                  <a:srgbClr val="182B3A"/>
                </a:solidFill>
                <a:latin typeface="Arial"/>
              </a:defRPr>
            </a:pPr>
            <a:r>
              <a:t>4</a:t>
            </a:r>
          </a:p>
        </p:txBody>
      </p:sp>
      <p:sp>
        <p:nvSpPr>
          <p:cNvPr id="60" name="TextBox 59"/>
          <p:cNvSpPr txBox="1"/>
          <p:nvPr/>
        </p:nvSpPr>
        <p:spPr>
          <a:xfrm>
            <a:off x="1504188" y="6615683"/>
            <a:ext cx="201168" cy="201168"/>
          </a:xfrm>
          <a:prstGeom prst="rect">
            <a:avLst/>
          </a:prstGeom>
          <a:noFill/>
        </p:spPr>
        <p:txBody>
          <a:bodyPr wrap="none" lIns="0" rIns="0" tIns="0" bIns="0">
            <a:spAutoFit/>
          </a:bodyPr>
          <a:lstStyle/>
          <a:p>
            <a:pPr algn="ctr">
              <a:lnSpc>
                <a:spcPts val="1792"/>
              </a:lnSpc>
              <a:spcBef>
                <a:spcPts val="0"/>
              </a:spcBef>
              <a:spcAft>
                <a:spcPts val="0"/>
              </a:spcAft>
              <a:defRPr sz="1600" b="0">
                <a:solidFill>
                  <a:srgbClr val="182B3A"/>
                </a:solidFill>
                <a:latin typeface="Arial"/>
              </a:defRPr>
            </a:pPr>
            <a:r>
              <a:t>2</a:t>
            </a:r>
          </a:p>
        </p:txBody>
      </p:sp>
      <p:cxnSp>
        <p:nvCxnSpPr>
          <p:cNvPr id="61" name="Connector 60"/>
          <p:cNvCxnSpPr/>
          <p:nvPr/>
        </p:nvCxnSpPr>
        <p:spPr>
          <a:xfrm>
            <a:off x="850392" y="6391656"/>
            <a:ext cx="0" cy="429768"/>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cxnSp>
        <p:nvCxnSpPr>
          <p:cNvPr id="62" name="Connector 61"/>
          <p:cNvCxnSpPr/>
          <p:nvPr/>
        </p:nvCxnSpPr>
        <p:spPr>
          <a:xfrm>
            <a:off x="1280160" y="6391656"/>
            <a:ext cx="0" cy="429768"/>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cxnSp>
        <p:nvCxnSpPr>
          <p:cNvPr id="63" name="Connector 62"/>
          <p:cNvCxnSpPr/>
          <p:nvPr/>
        </p:nvCxnSpPr>
        <p:spPr>
          <a:xfrm>
            <a:off x="1709928" y="6391656"/>
            <a:ext cx="0" cy="429768"/>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cxnSp>
        <p:nvCxnSpPr>
          <p:cNvPr id="64" name="Connector 63"/>
          <p:cNvCxnSpPr/>
          <p:nvPr/>
        </p:nvCxnSpPr>
        <p:spPr>
          <a:xfrm>
            <a:off x="850392" y="6391656"/>
            <a:ext cx="859536" cy="0"/>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cxnSp>
        <p:nvCxnSpPr>
          <p:cNvPr id="65" name="Connector 64"/>
          <p:cNvCxnSpPr/>
          <p:nvPr/>
        </p:nvCxnSpPr>
        <p:spPr>
          <a:xfrm>
            <a:off x="850392" y="6821424"/>
            <a:ext cx="859536" cy="0"/>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sp>
        <p:nvSpPr>
          <p:cNvPr id="66" name="TextBox 65"/>
          <p:cNvSpPr txBox="1"/>
          <p:nvPr/>
        </p:nvSpPr>
        <p:spPr>
          <a:xfrm>
            <a:off x="1280160" y="6903720"/>
            <a:ext cx="274320" cy="274320"/>
          </a:xfrm>
          <a:prstGeom prst="rect">
            <a:avLst/>
          </a:prstGeom>
          <a:noFill/>
        </p:spPr>
        <p:txBody>
          <a:bodyPr wrap="none" lIns="0" rIns="0" tIns="0" bIns="0">
            <a:spAutoFit/>
          </a:bodyPr>
          <a:lstStyle/>
          <a:p>
            <a:pPr algn="ctr">
              <a:lnSpc>
                <a:spcPts val="2352"/>
              </a:lnSpc>
              <a:spcBef>
                <a:spcPts val="0"/>
              </a:spcBef>
              <a:spcAft>
                <a:spcPts val="0"/>
              </a:spcAft>
              <a:defRPr sz="2100" b="0">
                <a:solidFill>
                  <a:srgbClr val="182B3A"/>
                </a:solidFill>
                <a:latin typeface="Arial"/>
              </a:defRPr>
            </a:pPr>
            <a:r>
              <a:t>2</a:t>
            </a:r>
          </a:p>
        </p:txBody>
      </p:sp>
      <p:sp>
        <p:nvSpPr>
          <p:cNvPr id="67" name="TextBox 66"/>
          <p:cNvSpPr txBox="1"/>
          <p:nvPr/>
        </p:nvSpPr>
        <p:spPr>
          <a:xfrm>
            <a:off x="850392" y="6903720"/>
            <a:ext cx="274320" cy="274320"/>
          </a:xfrm>
          <a:prstGeom prst="rect">
            <a:avLst/>
          </a:prstGeom>
          <a:noFill/>
        </p:spPr>
        <p:txBody>
          <a:bodyPr wrap="none" lIns="0" rIns="0" tIns="0" bIns="0">
            <a:spAutoFit/>
          </a:bodyPr>
          <a:lstStyle/>
          <a:p>
            <a:pPr algn="ctr">
              <a:lnSpc>
                <a:spcPts val="2352"/>
              </a:lnSpc>
              <a:spcBef>
                <a:spcPts val="0"/>
              </a:spcBef>
              <a:spcAft>
                <a:spcPts val="0"/>
              </a:spcAft>
              <a:defRPr sz="2100" b="0">
                <a:solidFill>
                  <a:srgbClr val="182B3A"/>
                </a:solidFill>
                <a:latin typeface="Arial"/>
              </a:defRPr>
            </a:pPr>
            <a:r>
              <a:t>3</a:t>
            </a:r>
          </a:p>
        </p:txBody>
      </p:sp>
      <p:sp>
        <p:nvSpPr>
          <p:cNvPr id="68" name="TextBox 67"/>
          <p:cNvSpPr txBox="1"/>
          <p:nvPr/>
        </p:nvSpPr>
        <p:spPr>
          <a:xfrm>
            <a:off x="502920" y="6501383"/>
            <a:ext cx="274320" cy="274320"/>
          </a:xfrm>
          <a:prstGeom prst="rect">
            <a:avLst/>
          </a:prstGeom>
          <a:noFill/>
        </p:spPr>
        <p:txBody>
          <a:bodyPr wrap="none" lIns="0" rIns="0" tIns="0" bIns="0">
            <a:spAutoFit/>
          </a:bodyPr>
          <a:lstStyle/>
          <a:p>
            <a:pPr algn="ctr">
              <a:lnSpc>
                <a:spcPts val="2352"/>
              </a:lnSpc>
              <a:spcBef>
                <a:spcPts val="0"/>
              </a:spcBef>
              <a:spcAft>
                <a:spcPts val="0"/>
              </a:spcAft>
              <a:defRPr sz="2100" b="0">
                <a:solidFill>
                  <a:srgbClr val="182B3A"/>
                </a:solidFill>
                <a:latin typeface="Arial"/>
              </a:defRPr>
            </a:pPr>
            <a:r>
              <a:t>5</a:t>
            </a:r>
          </a:p>
        </p:txBody>
      </p:sp>
      <p:sp>
        <p:nvSpPr>
          <p:cNvPr id="69" name="TextBox 68"/>
          <p:cNvSpPr txBox="1"/>
          <p:nvPr/>
        </p:nvSpPr>
        <p:spPr>
          <a:xfrm>
            <a:off x="713232" y="6501383"/>
            <a:ext cx="173736" cy="246888"/>
          </a:xfrm>
          <a:prstGeom prst="rect">
            <a:avLst/>
          </a:prstGeom>
          <a:noFill/>
        </p:spPr>
        <p:txBody>
          <a:bodyPr wrap="none" lIns="0" rIns="0" tIns="0" bIns="0">
            <a:spAutoFit/>
          </a:bodyPr>
          <a:lstStyle/>
          <a:p>
            <a:pPr algn="ctr">
              <a:lnSpc>
                <a:spcPts val="2352"/>
              </a:lnSpc>
              <a:spcBef>
                <a:spcPts val="0"/>
              </a:spcBef>
              <a:spcAft>
                <a:spcPts val="0"/>
              </a:spcAft>
              <a:defRPr sz="2100" b="0">
                <a:solidFill>
                  <a:srgbClr val="182B3A"/>
                </a:solidFill>
                <a:latin typeface="Arial"/>
              </a:defRPr>
            </a:pPr>
            <a:r>
              <a:t>1</a:t>
            </a:r>
          </a:p>
        </p:txBody>
      </p:sp>
      <p:sp>
        <p:nvSpPr>
          <p:cNvPr id="70" name="TextBox 69"/>
          <p:cNvSpPr txBox="1"/>
          <p:nvPr/>
        </p:nvSpPr>
        <p:spPr>
          <a:xfrm>
            <a:off x="2670048" y="6492240"/>
            <a:ext cx="2057400" cy="365760"/>
          </a:xfrm>
          <a:prstGeom prst="rect">
            <a:avLst/>
          </a:prstGeom>
          <a:noFill/>
        </p:spPr>
        <p:txBody>
          <a:bodyPr wrap="none" lIns="0" rIns="0" tIns="0" bIns="0">
            <a:spAutoFit/>
          </a:bodyPr>
          <a:lstStyle/>
          <a:p>
            <a:pPr algn="l">
              <a:lnSpc>
                <a:spcPts val="2128"/>
              </a:lnSpc>
              <a:spcBef>
                <a:spcPts val="0"/>
              </a:spcBef>
              <a:spcAft>
                <a:spcPts val="0"/>
              </a:spcAft>
              <a:defRPr sz="1900" b="0">
                <a:solidFill>
                  <a:srgbClr val="182B3A"/>
                </a:solidFill>
                <a:latin typeface="Arial"/>
              </a:defRPr>
            </a:pPr>
            <a:r>
              <a:t>Answer</a:t>
            </a:r>
          </a:p>
        </p:txBody>
      </p:sp>
      <p:sp>
        <p:nvSpPr>
          <p:cNvPr id="71" name="TextBox 70"/>
          <p:cNvSpPr txBox="1"/>
          <p:nvPr/>
        </p:nvSpPr>
        <p:spPr>
          <a:xfrm>
            <a:off x="2670048" y="6858000"/>
            <a:ext cx="2057400" cy="384048"/>
          </a:xfrm>
          <a:prstGeom prst="rect">
            <a:avLst/>
          </a:prstGeom>
          <a:noFill/>
        </p:spPr>
        <p:txBody>
          <a:bodyPr wrap="none" lIns="0" rIns="0" tIns="0" bIns="0">
            <a:spAutoFit/>
          </a:bodyPr>
          <a:lstStyle/>
          <a:p>
            <a:pPr algn="l">
              <a:lnSpc>
                <a:spcPts val="2800"/>
              </a:lnSpc>
              <a:spcBef>
                <a:spcPts val="0"/>
              </a:spcBef>
              <a:spcAft>
                <a:spcPts val="0"/>
              </a:spcAft>
              <a:defRPr sz="2500" b="0">
                <a:solidFill>
                  <a:srgbClr val="182B3A"/>
                </a:solidFill>
                <a:latin typeface="Arial"/>
              </a:defRPr>
            </a:pPr>
            <a:r>
              <a:t>5,132</a:t>
            </a:r>
          </a:p>
        </p:txBody>
      </p:sp>
      <p:sp>
        <p:nvSpPr>
          <p:cNvPr id="72" name="Rectangle 71"/>
          <p:cNvSpPr/>
          <p:nvPr/>
        </p:nvSpPr>
        <p:spPr>
          <a:xfrm>
            <a:off x="5004816" y="1234440"/>
            <a:ext cx="4588764" cy="420624"/>
          </a:xfrm>
          <a:prstGeom prst="rect">
            <a:avLst/>
          </a:prstGeom>
          <a:solidFill>
            <a:srgbClr val="3559A2"/>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73" name="TextBox 72"/>
          <p:cNvSpPr txBox="1"/>
          <p:nvPr/>
        </p:nvSpPr>
        <p:spPr>
          <a:xfrm>
            <a:off x="5068824" y="1261872"/>
            <a:ext cx="4474464" cy="347472"/>
          </a:xfrm>
          <a:prstGeom prst="rect">
            <a:avLst/>
          </a:prstGeom>
          <a:noFill/>
        </p:spPr>
        <p:txBody>
          <a:bodyPr wrap="square" tIns="36576" bIns="36576" anchor="t">
            <a:spAutoFit/>
          </a:bodyPr>
          <a:lstStyle/>
          <a:p>
            <a:pPr>
              <a:lnSpc>
                <a:spcPts val="2160"/>
              </a:lnSpc>
              <a:spcBef>
                <a:spcPts val="0"/>
              </a:spcBef>
              <a:spcAft>
                <a:spcPts val="0"/>
              </a:spcAft>
              <a:defRPr sz="2000" b="1">
                <a:solidFill>
                  <a:srgbClr val="FFFFFF"/>
                </a:solidFill>
                <a:latin typeface="Arial"/>
              </a:defRPr>
            </a:pPr>
            <a:r>
              <a:t>Build</a:t>
            </a:r>
          </a:p>
        </p:txBody>
      </p:sp>
      <p:sp>
        <p:nvSpPr>
          <p:cNvPr id="74" name="Rectangle 73"/>
          <p:cNvSpPr/>
          <p:nvPr/>
        </p:nvSpPr>
        <p:spPr>
          <a:xfrm>
            <a:off x="5004816" y="1719072"/>
            <a:ext cx="4588764" cy="1929384"/>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75" name="TextBox 74"/>
          <p:cNvSpPr txBox="1"/>
          <p:nvPr/>
        </p:nvSpPr>
        <p:spPr>
          <a:xfrm>
            <a:off x="5096256" y="1755648"/>
            <a:ext cx="4392168" cy="402336"/>
          </a:xfrm>
          <a:prstGeom prst="rect">
            <a:avLst/>
          </a:prstGeom>
          <a:noFill/>
        </p:spPr>
        <p:txBody>
          <a:bodyPr wrap="square" tIns="36576" bIns="36576" anchor="t">
            <a:spAutoFit/>
          </a:bodyPr>
          <a:lstStyle/>
          <a:p>
            <a:pPr>
              <a:lnSpc>
                <a:spcPts val="2268"/>
              </a:lnSpc>
              <a:spcBef>
                <a:spcPts val="0"/>
              </a:spcBef>
              <a:spcAft>
                <a:spcPts val="0"/>
              </a:spcAft>
              <a:defRPr sz="2100" b="1">
                <a:solidFill>
                  <a:srgbClr val="182B3A"/>
                </a:solidFill>
                <a:latin typeface="Arial"/>
              </a:defRPr>
            </a:pPr>
            <a:r>
              <a:t>1.  34 × 16</a:t>
            </a:r>
          </a:p>
        </p:txBody>
      </p:sp>
      <p:sp>
        <p:nvSpPr>
          <p:cNvPr id="76" name="TextBox 75"/>
          <p:cNvSpPr txBox="1"/>
          <p:nvPr/>
        </p:nvSpPr>
        <p:spPr>
          <a:xfrm>
            <a:off x="5471160" y="2121408"/>
            <a:ext cx="429768" cy="265176"/>
          </a:xfrm>
          <a:prstGeom prst="rect">
            <a:avLst/>
          </a:prstGeom>
          <a:noFill/>
        </p:spPr>
        <p:txBody>
          <a:bodyPr wrap="none" lIns="0" rIns="0" tIns="0" bIns="0">
            <a:spAutoFit/>
          </a:bodyPr>
          <a:lstStyle/>
          <a:p>
            <a:pPr algn="ctr">
              <a:lnSpc>
                <a:spcPts val="2240"/>
              </a:lnSpc>
              <a:spcBef>
                <a:spcPts val="0"/>
              </a:spcBef>
              <a:spcAft>
                <a:spcPts val="0"/>
              </a:spcAft>
              <a:defRPr sz="2000" b="0">
                <a:solidFill>
                  <a:srgbClr val="182B3A"/>
                </a:solidFill>
                <a:latin typeface="Arial"/>
              </a:defRPr>
            </a:pPr>
            <a:r>
              <a:t>3</a:t>
            </a:r>
          </a:p>
        </p:txBody>
      </p:sp>
      <p:sp>
        <p:nvSpPr>
          <p:cNvPr id="77" name="TextBox 76"/>
          <p:cNvSpPr txBox="1"/>
          <p:nvPr/>
        </p:nvSpPr>
        <p:spPr>
          <a:xfrm>
            <a:off x="5900928" y="2121408"/>
            <a:ext cx="429768" cy="265176"/>
          </a:xfrm>
          <a:prstGeom prst="rect">
            <a:avLst/>
          </a:prstGeom>
          <a:noFill/>
        </p:spPr>
        <p:txBody>
          <a:bodyPr wrap="none" lIns="0" rIns="0" tIns="0" bIns="0">
            <a:spAutoFit/>
          </a:bodyPr>
          <a:lstStyle/>
          <a:p>
            <a:pPr algn="ctr">
              <a:lnSpc>
                <a:spcPts val="2240"/>
              </a:lnSpc>
              <a:spcBef>
                <a:spcPts val="0"/>
              </a:spcBef>
              <a:spcAft>
                <a:spcPts val="0"/>
              </a:spcAft>
              <a:defRPr sz="2000" b="0">
                <a:solidFill>
                  <a:srgbClr val="182B3A"/>
                </a:solidFill>
                <a:latin typeface="Arial"/>
              </a:defRPr>
            </a:pPr>
            <a:r>
              <a:t>4</a:t>
            </a:r>
          </a:p>
        </p:txBody>
      </p:sp>
      <p:sp>
        <p:nvSpPr>
          <p:cNvPr id="78" name="TextBox 77"/>
          <p:cNvSpPr txBox="1"/>
          <p:nvPr/>
        </p:nvSpPr>
        <p:spPr>
          <a:xfrm>
            <a:off x="6394704" y="2496312"/>
            <a:ext cx="274320" cy="265176"/>
          </a:xfrm>
          <a:prstGeom prst="rect">
            <a:avLst/>
          </a:prstGeom>
          <a:noFill/>
        </p:spPr>
        <p:txBody>
          <a:bodyPr wrap="none" lIns="0" rIns="0" tIns="0" bIns="0">
            <a:spAutoFit/>
          </a:bodyPr>
          <a:lstStyle/>
          <a:p>
            <a:pPr algn="ctr">
              <a:lnSpc>
                <a:spcPts val="2240"/>
              </a:lnSpc>
              <a:spcBef>
                <a:spcPts val="0"/>
              </a:spcBef>
              <a:spcAft>
                <a:spcPts val="0"/>
              </a:spcAft>
              <a:defRPr sz="2000" b="0">
                <a:solidFill>
                  <a:srgbClr val="182B3A"/>
                </a:solidFill>
                <a:latin typeface="Arial"/>
              </a:defRPr>
            </a:pPr>
            <a:r>
              <a:t>1</a:t>
            </a:r>
          </a:p>
        </p:txBody>
      </p:sp>
      <p:sp>
        <p:nvSpPr>
          <p:cNvPr id="79" name="TextBox 78"/>
          <p:cNvSpPr txBox="1"/>
          <p:nvPr/>
        </p:nvSpPr>
        <p:spPr>
          <a:xfrm>
            <a:off x="6394704" y="2926079"/>
            <a:ext cx="274320" cy="265176"/>
          </a:xfrm>
          <a:prstGeom prst="rect">
            <a:avLst/>
          </a:prstGeom>
          <a:noFill/>
        </p:spPr>
        <p:txBody>
          <a:bodyPr wrap="none" lIns="0" rIns="0" tIns="0" bIns="0">
            <a:spAutoFit/>
          </a:bodyPr>
          <a:lstStyle/>
          <a:p>
            <a:pPr algn="ctr">
              <a:lnSpc>
                <a:spcPts val="2240"/>
              </a:lnSpc>
              <a:spcBef>
                <a:spcPts val="0"/>
              </a:spcBef>
              <a:spcAft>
                <a:spcPts val="0"/>
              </a:spcAft>
              <a:defRPr sz="2000" b="0">
                <a:solidFill>
                  <a:srgbClr val="182B3A"/>
                </a:solidFill>
                <a:latin typeface="Arial"/>
              </a:defRPr>
            </a:pPr>
            <a:r>
              <a:t>6</a:t>
            </a:r>
          </a:p>
        </p:txBody>
      </p:sp>
      <p:cxnSp>
        <p:nvCxnSpPr>
          <p:cNvPr id="80" name="Connector 79"/>
          <p:cNvCxnSpPr/>
          <p:nvPr/>
        </p:nvCxnSpPr>
        <p:spPr>
          <a:xfrm flipV="1">
            <a:off x="5471160" y="2386584"/>
            <a:ext cx="429768" cy="429768"/>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sp>
        <p:nvSpPr>
          <p:cNvPr id="81" name="TextBox 80"/>
          <p:cNvSpPr txBox="1"/>
          <p:nvPr/>
        </p:nvSpPr>
        <p:spPr>
          <a:xfrm>
            <a:off x="5484876" y="2400300"/>
            <a:ext cx="201168" cy="201168"/>
          </a:xfrm>
          <a:prstGeom prst="rect">
            <a:avLst/>
          </a:prstGeom>
          <a:noFill/>
        </p:spPr>
        <p:txBody>
          <a:bodyPr wrap="none" lIns="0" rIns="0" tIns="0" bIns="0">
            <a:spAutoFit/>
          </a:bodyPr>
          <a:lstStyle/>
          <a:p>
            <a:pPr algn="ctr">
              <a:lnSpc>
                <a:spcPts val="1792"/>
              </a:lnSpc>
              <a:spcBef>
                <a:spcPts val="0"/>
              </a:spcBef>
              <a:spcAft>
                <a:spcPts val="0"/>
              </a:spcAft>
              <a:defRPr sz="1600" b="0">
                <a:solidFill>
                  <a:srgbClr val="182B3A"/>
                </a:solidFill>
                <a:latin typeface="Arial"/>
              </a:defRPr>
            </a:pPr>
            <a:r>
              <a:t>0</a:t>
            </a:r>
          </a:p>
        </p:txBody>
      </p:sp>
      <p:sp>
        <p:nvSpPr>
          <p:cNvPr id="82" name="TextBox 81"/>
          <p:cNvSpPr txBox="1"/>
          <p:nvPr/>
        </p:nvSpPr>
        <p:spPr>
          <a:xfrm>
            <a:off x="5695188" y="2610612"/>
            <a:ext cx="201168" cy="201168"/>
          </a:xfrm>
          <a:prstGeom prst="rect">
            <a:avLst/>
          </a:prstGeom>
          <a:noFill/>
        </p:spPr>
        <p:txBody>
          <a:bodyPr wrap="none" lIns="0" rIns="0" tIns="0" bIns="0">
            <a:spAutoFit/>
          </a:bodyPr>
          <a:lstStyle/>
          <a:p>
            <a:pPr algn="ctr">
              <a:lnSpc>
                <a:spcPts val="1792"/>
              </a:lnSpc>
              <a:spcBef>
                <a:spcPts val="0"/>
              </a:spcBef>
              <a:spcAft>
                <a:spcPts val="0"/>
              </a:spcAft>
              <a:defRPr sz="1600" b="0">
                <a:solidFill>
                  <a:srgbClr val="182B3A"/>
                </a:solidFill>
                <a:latin typeface="Arial"/>
              </a:defRPr>
            </a:pPr>
            <a:r>
              <a:t>3</a:t>
            </a:r>
          </a:p>
        </p:txBody>
      </p:sp>
      <p:cxnSp>
        <p:nvCxnSpPr>
          <p:cNvPr id="83" name="Connector 82"/>
          <p:cNvCxnSpPr/>
          <p:nvPr/>
        </p:nvCxnSpPr>
        <p:spPr>
          <a:xfrm flipV="1">
            <a:off x="5900928" y="2386584"/>
            <a:ext cx="429768" cy="429768"/>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sp>
        <p:nvSpPr>
          <p:cNvPr id="84" name="TextBox 83"/>
          <p:cNvSpPr txBox="1"/>
          <p:nvPr/>
        </p:nvSpPr>
        <p:spPr>
          <a:xfrm>
            <a:off x="5914644" y="2400300"/>
            <a:ext cx="201168" cy="201168"/>
          </a:xfrm>
          <a:prstGeom prst="rect">
            <a:avLst/>
          </a:prstGeom>
          <a:noFill/>
        </p:spPr>
        <p:txBody>
          <a:bodyPr wrap="none" lIns="0" rIns="0" tIns="0" bIns="0">
            <a:spAutoFit/>
          </a:bodyPr>
          <a:lstStyle/>
          <a:p>
            <a:pPr algn="ctr">
              <a:lnSpc>
                <a:spcPts val="1792"/>
              </a:lnSpc>
              <a:spcBef>
                <a:spcPts val="0"/>
              </a:spcBef>
              <a:spcAft>
                <a:spcPts val="0"/>
              </a:spcAft>
              <a:defRPr sz="1600" b="0">
                <a:solidFill>
                  <a:srgbClr val="182B3A"/>
                </a:solidFill>
                <a:latin typeface="Arial"/>
              </a:defRPr>
            </a:pPr>
            <a:r>
              <a:t>0</a:t>
            </a:r>
          </a:p>
        </p:txBody>
      </p:sp>
      <p:sp>
        <p:nvSpPr>
          <p:cNvPr id="85" name="TextBox 84"/>
          <p:cNvSpPr txBox="1"/>
          <p:nvPr/>
        </p:nvSpPr>
        <p:spPr>
          <a:xfrm>
            <a:off x="6124956" y="2610612"/>
            <a:ext cx="201168" cy="201168"/>
          </a:xfrm>
          <a:prstGeom prst="rect">
            <a:avLst/>
          </a:prstGeom>
          <a:noFill/>
        </p:spPr>
        <p:txBody>
          <a:bodyPr wrap="none" lIns="0" rIns="0" tIns="0" bIns="0">
            <a:spAutoFit/>
          </a:bodyPr>
          <a:lstStyle/>
          <a:p>
            <a:pPr algn="ctr">
              <a:lnSpc>
                <a:spcPts val="1792"/>
              </a:lnSpc>
              <a:spcBef>
                <a:spcPts val="0"/>
              </a:spcBef>
              <a:spcAft>
                <a:spcPts val="0"/>
              </a:spcAft>
              <a:defRPr sz="1600" b="0">
                <a:solidFill>
                  <a:srgbClr val="182B3A"/>
                </a:solidFill>
                <a:latin typeface="Arial"/>
              </a:defRPr>
            </a:pPr>
            <a:r>
              <a:t>4</a:t>
            </a:r>
          </a:p>
        </p:txBody>
      </p:sp>
      <p:cxnSp>
        <p:nvCxnSpPr>
          <p:cNvPr id="86" name="Connector 85"/>
          <p:cNvCxnSpPr/>
          <p:nvPr/>
        </p:nvCxnSpPr>
        <p:spPr>
          <a:xfrm flipV="1">
            <a:off x="5471160" y="2816352"/>
            <a:ext cx="429768" cy="429768"/>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sp>
        <p:nvSpPr>
          <p:cNvPr id="87" name="TextBox 86"/>
          <p:cNvSpPr txBox="1"/>
          <p:nvPr/>
        </p:nvSpPr>
        <p:spPr>
          <a:xfrm>
            <a:off x="5484876" y="2830068"/>
            <a:ext cx="201168" cy="201168"/>
          </a:xfrm>
          <a:prstGeom prst="rect">
            <a:avLst/>
          </a:prstGeom>
          <a:noFill/>
        </p:spPr>
        <p:txBody>
          <a:bodyPr wrap="none" lIns="0" rIns="0" tIns="0" bIns="0">
            <a:spAutoFit/>
          </a:bodyPr>
          <a:lstStyle/>
          <a:p>
            <a:pPr algn="ctr">
              <a:lnSpc>
                <a:spcPts val="1792"/>
              </a:lnSpc>
              <a:spcBef>
                <a:spcPts val="0"/>
              </a:spcBef>
              <a:spcAft>
                <a:spcPts val="0"/>
              </a:spcAft>
              <a:defRPr sz="1600" b="0">
                <a:solidFill>
                  <a:srgbClr val="182B3A"/>
                </a:solidFill>
                <a:latin typeface="Arial"/>
              </a:defRPr>
            </a:pPr>
            <a:r>
              <a:t>1</a:t>
            </a:r>
          </a:p>
        </p:txBody>
      </p:sp>
      <p:sp>
        <p:nvSpPr>
          <p:cNvPr id="88" name="TextBox 87"/>
          <p:cNvSpPr txBox="1"/>
          <p:nvPr/>
        </p:nvSpPr>
        <p:spPr>
          <a:xfrm>
            <a:off x="5695188" y="3040379"/>
            <a:ext cx="201168" cy="201168"/>
          </a:xfrm>
          <a:prstGeom prst="rect">
            <a:avLst/>
          </a:prstGeom>
          <a:noFill/>
        </p:spPr>
        <p:txBody>
          <a:bodyPr wrap="none" lIns="0" rIns="0" tIns="0" bIns="0">
            <a:spAutoFit/>
          </a:bodyPr>
          <a:lstStyle/>
          <a:p>
            <a:pPr algn="ctr">
              <a:lnSpc>
                <a:spcPts val="1792"/>
              </a:lnSpc>
              <a:spcBef>
                <a:spcPts val="0"/>
              </a:spcBef>
              <a:spcAft>
                <a:spcPts val="0"/>
              </a:spcAft>
              <a:defRPr sz="1600" b="0">
                <a:solidFill>
                  <a:srgbClr val="182B3A"/>
                </a:solidFill>
                <a:latin typeface="Arial"/>
              </a:defRPr>
            </a:pPr>
            <a:r>
              <a:t>8</a:t>
            </a:r>
          </a:p>
        </p:txBody>
      </p:sp>
      <p:cxnSp>
        <p:nvCxnSpPr>
          <p:cNvPr id="89" name="Connector 88"/>
          <p:cNvCxnSpPr/>
          <p:nvPr/>
        </p:nvCxnSpPr>
        <p:spPr>
          <a:xfrm flipV="1">
            <a:off x="5900928" y="2816352"/>
            <a:ext cx="429768" cy="429768"/>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sp>
        <p:nvSpPr>
          <p:cNvPr id="90" name="TextBox 89"/>
          <p:cNvSpPr txBox="1"/>
          <p:nvPr/>
        </p:nvSpPr>
        <p:spPr>
          <a:xfrm>
            <a:off x="5914644" y="2830068"/>
            <a:ext cx="201168" cy="201168"/>
          </a:xfrm>
          <a:prstGeom prst="rect">
            <a:avLst/>
          </a:prstGeom>
          <a:noFill/>
        </p:spPr>
        <p:txBody>
          <a:bodyPr wrap="none" lIns="0" rIns="0" tIns="0" bIns="0">
            <a:spAutoFit/>
          </a:bodyPr>
          <a:lstStyle/>
          <a:p>
            <a:pPr algn="ctr">
              <a:lnSpc>
                <a:spcPts val="1792"/>
              </a:lnSpc>
              <a:spcBef>
                <a:spcPts val="0"/>
              </a:spcBef>
              <a:spcAft>
                <a:spcPts val="0"/>
              </a:spcAft>
              <a:defRPr sz="1600" b="0">
                <a:solidFill>
                  <a:srgbClr val="182B3A"/>
                </a:solidFill>
                <a:latin typeface="Arial"/>
              </a:defRPr>
            </a:pPr>
            <a:r>
              <a:t>2</a:t>
            </a:r>
          </a:p>
        </p:txBody>
      </p:sp>
      <p:sp>
        <p:nvSpPr>
          <p:cNvPr id="91" name="TextBox 90"/>
          <p:cNvSpPr txBox="1"/>
          <p:nvPr/>
        </p:nvSpPr>
        <p:spPr>
          <a:xfrm>
            <a:off x="6124956" y="3040379"/>
            <a:ext cx="201168" cy="201168"/>
          </a:xfrm>
          <a:prstGeom prst="rect">
            <a:avLst/>
          </a:prstGeom>
          <a:noFill/>
        </p:spPr>
        <p:txBody>
          <a:bodyPr wrap="none" lIns="0" rIns="0" tIns="0" bIns="0">
            <a:spAutoFit/>
          </a:bodyPr>
          <a:lstStyle/>
          <a:p>
            <a:pPr algn="ctr">
              <a:lnSpc>
                <a:spcPts val="1792"/>
              </a:lnSpc>
              <a:spcBef>
                <a:spcPts val="0"/>
              </a:spcBef>
              <a:spcAft>
                <a:spcPts val="0"/>
              </a:spcAft>
              <a:defRPr sz="1600" b="0">
                <a:solidFill>
                  <a:srgbClr val="182B3A"/>
                </a:solidFill>
                <a:latin typeface="Arial"/>
              </a:defRPr>
            </a:pPr>
            <a:r>
              <a:t>4</a:t>
            </a:r>
          </a:p>
        </p:txBody>
      </p:sp>
      <p:cxnSp>
        <p:nvCxnSpPr>
          <p:cNvPr id="92" name="Connector 91"/>
          <p:cNvCxnSpPr/>
          <p:nvPr/>
        </p:nvCxnSpPr>
        <p:spPr>
          <a:xfrm>
            <a:off x="5471160" y="2386584"/>
            <a:ext cx="0" cy="859536"/>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cxnSp>
        <p:nvCxnSpPr>
          <p:cNvPr id="93" name="Connector 92"/>
          <p:cNvCxnSpPr/>
          <p:nvPr/>
        </p:nvCxnSpPr>
        <p:spPr>
          <a:xfrm>
            <a:off x="5900928" y="2386584"/>
            <a:ext cx="0" cy="859536"/>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cxnSp>
        <p:nvCxnSpPr>
          <p:cNvPr id="94" name="Connector 93"/>
          <p:cNvCxnSpPr/>
          <p:nvPr/>
        </p:nvCxnSpPr>
        <p:spPr>
          <a:xfrm>
            <a:off x="6330696" y="2386584"/>
            <a:ext cx="0" cy="859536"/>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cxnSp>
        <p:nvCxnSpPr>
          <p:cNvPr id="95" name="Connector 94"/>
          <p:cNvCxnSpPr/>
          <p:nvPr/>
        </p:nvCxnSpPr>
        <p:spPr>
          <a:xfrm>
            <a:off x="5471160" y="2386584"/>
            <a:ext cx="859536" cy="0"/>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cxnSp>
        <p:nvCxnSpPr>
          <p:cNvPr id="96" name="Connector 95"/>
          <p:cNvCxnSpPr/>
          <p:nvPr/>
        </p:nvCxnSpPr>
        <p:spPr>
          <a:xfrm>
            <a:off x="5471160" y="2816352"/>
            <a:ext cx="859536" cy="0"/>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cxnSp>
        <p:nvCxnSpPr>
          <p:cNvPr id="97" name="Connector 96"/>
          <p:cNvCxnSpPr/>
          <p:nvPr/>
        </p:nvCxnSpPr>
        <p:spPr>
          <a:xfrm>
            <a:off x="5471160" y="3246120"/>
            <a:ext cx="859536" cy="0"/>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sp>
        <p:nvSpPr>
          <p:cNvPr id="98" name="TextBox 97"/>
          <p:cNvSpPr txBox="1"/>
          <p:nvPr/>
        </p:nvSpPr>
        <p:spPr>
          <a:xfrm>
            <a:off x="5900928" y="3328415"/>
            <a:ext cx="274320" cy="274320"/>
          </a:xfrm>
          <a:prstGeom prst="rect">
            <a:avLst/>
          </a:prstGeom>
          <a:noFill/>
        </p:spPr>
        <p:txBody>
          <a:bodyPr wrap="none" lIns="0" rIns="0" tIns="0" bIns="0">
            <a:spAutoFit/>
          </a:bodyPr>
          <a:lstStyle/>
          <a:p>
            <a:pPr algn="ctr">
              <a:lnSpc>
                <a:spcPts val="2352"/>
              </a:lnSpc>
              <a:spcBef>
                <a:spcPts val="0"/>
              </a:spcBef>
              <a:spcAft>
                <a:spcPts val="0"/>
              </a:spcAft>
              <a:defRPr sz="2100" b="0">
                <a:solidFill>
                  <a:srgbClr val="182B3A"/>
                </a:solidFill>
                <a:latin typeface="Arial"/>
              </a:defRPr>
            </a:pPr>
            <a:r>
              <a:t>6</a:t>
            </a:r>
          </a:p>
        </p:txBody>
      </p:sp>
      <p:sp>
        <p:nvSpPr>
          <p:cNvPr id="99" name="TextBox 98"/>
          <p:cNvSpPr txBox="1"/>
          <p:nvPr/>
        </p:nvSpPr>
        <p:spPr>
          <a:xfrm>
            <a:off x="5471160" y="3328415"/>
            <a:ext cx="274320" cy="274320"/>
          </a:xfrm>
          <a:prstGeom prst="rect">
            <a:avLst/>
          </a:prstGeom>
          <a:noFill/>
        </p:spPr>
        <p:txBody>
          <a:bodyPr wrap="none" lIns="0" rIns="0" tIns="0" bIns="0">
            <a:spAutoFit/>
          </a:bodyPr>
          <a:lstStyle/>
          <a:p>
            <a:pPr algn="ctr">
              <a:lnSpc>
                <a:spcPts val="2352"/>
              </a:lnSpc>
              <a:spcBef>
                <a:spcPts val="0"/>
              </a:spcBef>
              <a:spcAft>
                <a:spcPts val="0"/>
              </a:spcAft>
              <a:defRPr sz="2100" b="0">
                <a:solidFill>
                  <a:srgbClr val="182B3A"/>
                </a:solidFill>
                <a:latin typeface="Arial"/>
              </a:defRPr>
            </a:pPr>
            <a:r>
              <a:t>2</a:t>
            </a:r>
          </a:p>
        </p:txBody>
      </p:sp>
      <p:sp>
        <p:nvSpPr>
          <p:cNvPr id="100" name="TextBox 99"/>
          <p:cNvSpPr txBox="1"/>
          <p:nvPr/>
        </p:nvSpPr>
        <p:spPr>
          <a:xfrm>
            <a:off x="5123688" y="2926079"/>
            <a:ext cx="274320" cy="274320"/>
          </a:xfrm>
          <a:prstGeom prst="rect">
            <a:avLst/>
          </a:prstGeom>
          <a:noFill/>
        </p:spPr>
        <p:txBody>
          <a:bodyPr wrap="none" lIns="0" rIns="0" tIns="0" bIns="0">
            <a:spAutoFit/>
          </a:bodyPr>
          <a:lstStyle/>
          <a:p>
            <a:pPr algn="ctr">
              <a:lnSpc>
                <a:spcPts val="2352"/>
              </a:lnSpc>
              <a:spcBef>
                <a:spcPts val="0"/>
              </a:spcBef>
              <a:spcAft>
                <a:spcPts val="0"/>
              </a:spcAft>
              <a:defRPr sz="2100" b="0">
                <a:solidFill>
                  <a:srgbClr val="182B3A"/>
                </a:solidFill>
                <a:latin typeface="Arial"/>
              </a:defRPr>
            </a:pPr>
            <a:r>
              <a:t>5</a:t>
            </a:r>
          </a:p>
        </p:txBody>
      </p:sp>
      <p:sp>
        <p:nvSpPr>
          <p:cNvPr id="101" name="TextBox 100"/>
          <p:cNvSpPr txBox="1"/>
          <p:nvPr/>
        </p:nvSpPr>
        <p:spPr>
          <a:xfrm>
            <a:off x="5352288" y="2871215"/>
            <a:ext cx="173736" cy="246888"/>
          </a:xfrm>
          <a:prstGeom prst="rect">
            <a:avLst/>
          </a:prstGeom>
          <a:noFill/>
        </p:spPr>
        <p:txBody>
          <a:bodyPr wrap="none" lIns="0" rIns="0" tIns="0" bIns="0">
            <a:spAutoFit/>
          </a:bodyPr>
          <a:lstStyle/>
          <a:p>
            <a:pPr algn="ctr">
              <a:lnSpc>
                <a:spcPts val="1232"/>
              </a:lnSpc>
              <a:spcBef>
                <a:spcPts val="0"/>
              </a:spcBef>
              <a:spcAft>
                <a:spcPts val="0"/>
              </a:spcAft>
              <a:defRPr sz="1100" b="0">
                <a:solidFill>
                  <a:srgbClr val="182B3A"/>
                </a:solidFill>
                <a:latin typeface="Arial"/>
              </a:defRPr>
            </a:pPr>
            <a:r>
              <a:t>1</a:t>
            </a:r>
          </a:p>
        </p:txBody>
      </p:sp>
      <p:sp>
        <p:nvSpPr>
          <p:cNvPr id="102" name="TextBox 101"/>
          <p:cNvSpPr txBox="1"/>
          <p:nvPr/>
        </p:nvSpPr>
        <p:spPr>
          <a:xfrm>
            <a:off x="7290816" y="2487168"/>
            <a:ext cx="2057400" cy="365760"/>
          </a:xfrm>
          <a:prstGeom prst="rect">
            <a:avLst/>
          </a:prstGeom>
          <a:noFill/>
        </p:spPr>
        <p:txBody>
          <a:bodyPr wrap="none" lIns="0" rIns="0" tIns="0" bIns="0">
            <a:spAutoFit/>
          </a:bodyPr>
          <a:lstStyle/>
          <a:p>
            <a:pPr algn="l">
              <a:lnSpc>
                <a:spcPts val="2128"/>
              </a:lnSpc>
              <a:spcBef>
                <a:spcPts val="0"/>
              </a:spcBef>
              <a:spcAft>
                <a:spcPts val="0"/>
              </a:spcAft>
              <a:defRPr sz="1900" b="0">
                <a:solidFill>
                  <a:srgbClr val="182B3A"/>
                </a:solidFill>
                <a:latin typeface="Arial"/>
              </a:defRPr>
            </a:pPr>
            <a:r>
              <a:t>Answer</a:t>
            </a:r>
          </a:p>
        </p:txBody>
      </p:sp>
      <p:sp>
        <p:nvSpPr>
          <p:cNvPr id="103" name="TextBox 102"/>
          <p:cNvSpPr txBox="1"/>
          <p:nvPr/>
        </p:nvSpPr>
        <p:spPr>
          <a:xfrm>
            <a:off x="7290816" y="2852928"/>
            <a:ext cx="2057400" cy="384048"/>
          </a:xfrm>
          <a:prstGeom prst="rect">
            <a:avLst/>
          </a:prstGeom>
          <a:noFill/>
        </p:spPr>
        <p:txBody>
          <a:bodyPr wrap="none" lIns="0" rIns="0" tIns="0" bIns="0">
            <a:spAutoFit/>
          </a:bodyPr>
          <a:lstStyle/>
          <a:p>
            <a:pPr algn="l">
              <a:lnSpc>
                <a:spcPts val="2800"/>
              </a:lnSpc>
              <a:spcBef>
                <a:spcPts val="0"/>
              </a:spcBef>
              <a:spcAft>
                <a:spcPts val="0"/>
              </a:spcAft>
              <a:defRPr sz="2500" b="0">
                <a:solidFill>
                  <a:srgbClr val="182B3A"/>
                </a:solidFill>
                <a:latin typeface="Arial"/>
              </a:defRPr>
            </a:pPr>
            <a:r>
              <a:t>526</a:t>
            </a:r>
          </a:p>
        </p:txBody>
      </p:sp>
      <p:sp>
        <p:nvSpPr>
          <p:cNvPr id="104" name="Rectangle 103"/>
          <p:cNvSpPr/>
          <p:nvPr/>
        </p:nvSpPr>
        <p:spPr>
          <a:xfrm>
            <a:off x="5004816" y="3721608"/>
            <a:ext cx="4588764" cy="1929384"/>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05" name="TextBox 104"/>
          <p:cNvSpPr txBox="1"/>
          <p:nvPr/>
        </p:nvSpPr>
        <p:spPr>
          <a:xfrm>
            <a:off x="5096256" y="3758184"/>
            <a:ext cx="4392168" cy="402336"/>
          </a:xfrm>
          <a:prstGeom prst="rect">
            <a:avLst/>
          </a:prstGeom>
          <a:noFill/>
        </p:spPr>
        <p:txBody>
          <a:bodyPr wrap="square" tIns="36576" bIns="36576" anchor="t">
            <a:spAutoFit/>
          </a:bodyPr>
          <a:lstStyle/>
          <a:p>
            <a:pPr>
              <a:lnSpc>
                <a:spcPts val="2268"/>
              </a:lnSpc>
              <a:spcBef>
                <a:spcPts val="0"/>
              </a:spcBef>
              <a:spcAft>
                <a:spcPts val="0"/>
              </a:spcAft>
              <a:defRPr sz="2100" b="1">
                <a:solidFill>
                  <a:srgbClr val="182B3A"/>
                </a:solidFill>
                <a:latin typeface="Arial"/>
              </a:defRPr>
            </a:pPr>
            <a:r>
              <a:t>2.  47 × 26</a:t>
            </a:r>
          </a:p>
        </p:txBody>
      </p:sp>
      <p:sp>
        <p:nvSpPr>
          <p:cNvPr id="106" name="TextBox 105"/>
          <p:cNvSpPr txBox="1"/>
          <p:nvPr/>
        </p:nvSpPr>
        <p:spPr>
          <a:xfrm>
            <a:off x="5471160" y="4123944"/>
            <a:ext cx="429768" cy="265176"/>
          </a:xfrm>
          <a:prstGeom prst="rect">
            <a:avLst/>
          </a:prstGeom>
          <a:noFill/>
        </p:spPr>
        <p:txBody>
          <a:bodyPr wrap="none" lIns="0" rIns="0" tIns="0" bIns="0">
            <a:spAutoFit/>
          </a:bodyPr>
          <a:lstStyle/>
          <a:p>
            <a:pPr algn="ctr">
              <a:lnSpc>
                <a:spcPts val="2240"/>
              </a:lnSpc>
              <a:spcBef>
                <a:spcPts val="0"/>
              </a:spcBef>
              <a:spcAft>
                <a:spcPts val="0"/>
              </a:spcAft>
              <a:defRPr sz="2000" b="0">
                <a:solidFill>
                  <a:srgbClr val="182B3A"/>
                </a:solidFill>
                <a:latin typeface="Arial"/>
              </a:defRPr>
            </a:pPr>
            <a:r>
              <a:t>4</a:t>
            </a:r>
          </a:p>
        </p:txBody>
      </p:sp>
      <p:sp>
        <p:nvSpPr>
          <p:cNvPr id="107" name="TextBox 106"/>
          <p:cNvSpPr txBox="1"/>
          <p:nvPr/>
        </p:nvSpPr>
        <p:spPr>
          <a:xfrm>
            <a:off x="5900928" y="4123944"/>
            <a:ext cx="429768" cy="265176"/>
          </a:xfrm>
          <a:prstGeom prst="rect">
            <a:avLst/>
          </a:prstGeom>
          <a:noFill/>
        </p:spPr>
        <p:txBody>
          <a:bodyPr wrap="none" lIns="0" rIns="0" tIns="0" bIns="0">
            <a:spAutoFit/>
          </a:bodyPr>
          <a:lstStyle/>
          <a:p>
            <a:pPr algn="ctr">
              <a:lnSpc>
                <a:spcPts val="2240"/>
              </a:lnSpc>
              <a:spcBef>
                <a:spcPts val="0"/>
              </a:spcBef>
              <a:spcAft>
                <a:spcPts val="0"/>
              </a:spcAft>
              <a:defRPr sz="2000" b="0">
                <a:solidFill>
                  <a:srgbClr val="182B3A"/>
                </a:solidFill>
                <a:latin typeface="Arial"/>
              </a:defRPr>
            </a:pPr>
            <a:r>
              <a:t>7</a:t>
            </a:r>
          </a:p>
        </p:txBody>
      </p:sp>
      <p:sp>
        <p:nvSpPr>
          <p:cNvPr id="108" name="TextBox 107"/>
          <p:cNvSpPr txBox="1"/>
          <p:nvPr/>
        </p:nvSpPr>
        <p:spPr>
          <a:xfrm>
            <a:off x="6394704" y="4498848"/>
            <a:ext cx="274320" cy="265176"/>
          </a:xfrm>
          <a:prstGeom prst="rect">
            <a:avLst/>
          </a:prstGeom>
          <a:noFill/>
        </p:spPr>
        <p:txBody>
          <a:bodyPr wrap="none" lIns="0" rIns="0" tIns="0" bIns="0">
            <a:spAutoFit/>
          </a:bodyPr>
          <a:lstStyle/>
          <a:p>
            <a:pPr algn="ctr">
              <a:lnSpc>
                <a:spcPts val="2240"/>
              </a:lnSpc>
              <a:spcBef>
                <a:spcPts val="0"/>
              </a:spcBef>
              <a:spcAft>
                <a:spcPts val="0"/>
              </a:spcAft>
              <a:defRPr sz="2000" b="0">
                <a:solidFill>
                  <a:srgbClr val="182B3A"/>
                </a:solidFill>
                <a:latin typeface="Arial"/>
              </a:defRPr>
            </a:pPr>
            <a:r>
              <a:t>2</a:t>
            </a:r>
          </a:p>
        </p:txBody>
      </p:sp>
      <p:sp>
        <p:nvSpPr>
          <p:cNvPr id="109" name="TextBox 108"/>
          <p:cNvSpPr txBox="1"/>
          <p:nvPr/>
        </p:nvSpPr>
        <p:spPr>
          <a:xfrm>
            <a:off x="6394704" y="4928616"/>
            <a:ext cx="274320" cy="265176"/>
          </a:xfrm>
          <a:prstGeom prst="rect">
            <a:avLst/>
          </a:prstGeom>
          <a:noFill/>
        </p:spPr>
        <p:txBody>
          <a:bodyPr wrap="none" lIns="0" rIns="0" tIns="0" bIns="0">
            <a:spAutoFit/>
          </a:bodyPr>
          <a:lstStyle/>
          <a:p>
            <a:pPr algn="ctr">
              <a:lnSpc>
                <a:spcPts val="2240"/>
              </a:lnSpc>
              <a:spcBef>
                <a:spcPts val="0"/>
              </a:spcBef>
              <a:spcAft>
                <a:spcPts val="0"/>
              </a:spcAft>
              <a:defRPr sz="2000" b="0">
                <a:solidFill>
                  <a:srgbClr val="182B3A"/>
                </a:solidFill>
                <a:latin typeface="Arial"/>
              </a:defRPr>
            </a:pPr>
            <a:r>
              <a:t>6</a:t>
            </a:r>
          </a:p>
        </p:txBody>
      </p:sp>
      <p:cxnSp>
        <p:nvCxnSpPr>
          <p:cNvPr id="110" name="Connector 109"/>
          <p:cNvCxnSpPr/>
          <p:nvPr/>
        </p:nvCxnSpPr>
        <p:spPr>
          <a:xfrm flipV="1">
            <a:off x="5471160" y="4389120"/>
            <a:ext cx="429768" cy="429768"/>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sp>
        <p:nvSpPr>
          <p:cNvPr id="111" name="TextBox 110"/>
          <p:cNvSpPr txBox="1"/>
          <p:nvPr/>
        </p:nvSpPr>
        <p:spPr>
          <a:xfrm>
            <a:off x="5484876" y="4402836"/>
            <a:ext cx="201168" cy="201168"/>
          </a:xfrm>
          <a:prstGeom prst="rect">
            <a:avLst/>
          </a:prstGeom>
          <a:noFill/>
        </p:spPr>
        <p:txBody>
          <a:bodyPr wrap="none" lIns="0" rIns="0" tIns="0" bIns="0">
            <a:spAutoFit/>
          </a:bodyPr>
          <a:lstStyle/>
          <a:p>
            <a:pPr algn="ctr">
              <a:lnSpc>
                <a:spcPts val="1792"/>
              </a:lnSpc>
              <a:spcBef>
                <a:spcPts val="0"/>
              </a:spcBef>
              <a:spcAft>
                <a:spcPts val="0"/>
              </a:spcAft>
              <a:defRPr sz="1600" b="0">
                <a:solidFill>
                  <a:srgbClr val="182B3A"/>
                </a:solidFill>
                <a:latin typeface="Arial"/>
              </a:defRPr>
            </a:pPr>
            <a:r>
              <a:t>0</a:t>
            </a:r>
          </a:p>
        </p:txBody>
      </p:sp>
      <p:sp>
        <p:nvSpPr>
          <p:cNvPr id="112" name="TextBox 111"/>
          <p:cNvSpPr txBox="1"/>
          <p:nvPr/>
        </p:nvSpPr>
        <p:spPr>
          <a:xfrm>
            <a:off x="5695188" y="4613148"/>
            <a:ext cx="201168" cy="201168"/>
          </a:xfrm>
          <a:prstGeom prst="rect">
            <a:avLst/>
          </a:prstGeom>
          <a:noFill/>
        </p:spPr>
        <p:txBody>
          <a:bodyPr wrap="none" lIns="0" rIns="0" tIns="0" bIns="0">
            <a:spAutoFit/>
          </a:bodyPr>
          <a:lstStyle/>
          <a:p>
            <a:pPr algn="ctr">
              <a:lnSpc>
                <a:spcPts val="1792"/>
              </a:lnSpc>
              <a:spcBef>
                <a:spcPts val="0"/>
              </a:spcBef>
              <a:spcAft>
                <a:spcPts val="0"/>
              </a:spcAft>
              <a:defRPr sz="1600" b="0">
                <a:solidFill>
                  <a:srgbClr val="182B3A"/>
                </a:solidFill>
                <a:latin typeface="Arial"/>
              </a:defRPr>
            </a:pPr>
            <a:r>
              <a:t>8</a:t>
            </a:r>
          </a:p>
        </p:txBody>
      </p:sp>
      <p:cxnSp>
        <p:nvCxnSpPr>
          <p:cNvPr id="113" name="Connector 112"/>
          <p:cNvCxnSpPr/>
          <p:nvPr/>
        </p:nvCxnSpPr>
        <p:spPr>
          <a:xfrm flipV="1">
            <a:off x="5900928" y="4389120"/>
            <a:ext cx="429768" cy="429768"/>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sp>
        <p:nvSpPr>
          <p:cNvPr id="114" name="TextBox 113"/>
          <p:cNvSpPr txBox="1"/>
          <p:nvPr/>
        </p:nvSpPr>
        <p:spPr>
          <a:xfrm>
            <a:off x="5914644" y="4402836"/>
            <a:ext cx="201168" cy="201168"/>
          </a:xfrm>
          <a:prstGeom prst="rect">
            <a:avLst/>
          </a:prstGeom>
          <a:noFill/>
        </p:spPr>
        <p:txBody>
          <a:bodyPr wrap="none" lIns="0" rIns="0" tIns="0" bIns="0">
            <a:spAutoFit/>
          </a:bodyPr>
          <a:lstStyle/>
          <a:p>
            <a:pPr algn="ctr">
              <a:lnSpc>
                <a:spcPts val="1792"/>
              </a:lnSpc>
              <a:spcBef>
                <a:spcPts val="0"/>
              </a:spcBef>
              <a:spcAft>
                <a:spcPts val="0"/>
              </a:spcAft>
              <a:defRPr sz="1600" b="0">
                <a:solidFill>
                  <a:srgbClr val="182B3A"/>
                </a:solidFill>
                <a:latin typeface="Arial"/>
              </a:defRPr>
            </a:pPr>
            <a:r>
              <a:t>1</a:t>
            </a:r>
          </a:p>
        </p:txBody>
      </p:sp>
      <p:sp>
        <p:nvSpPr>
          <p:cNvPr id="115" name="TextBox 114"/>
          <p:cNvSpPr txBox="1"/>
          <p:nvPr/>
        </p:nvSpPr>
        <p:spPr>
          <a:xfrm>
            <a:off x="6124956" y="4613148"/>
            <a:ext cx="201168" cy="201168"/>
          </a:xfrm>
          <a:prstGeom prst="rect">
            <a:avLst/>
          </a:prstGeom>
          <a:noFill/>
        </p:spPr>
        <p:txBody>
          <a:bodyPr wrap="none" lIns="0" rIns="0" tIns="0" bIns="0">
            <a:spAutoFit/>
          </a:bodyPr>
          <a:lstStyle/>
          <a:p>
            <a:pPr algn="ctr">
              <a:lnSpc>
                <a:spcPts val="1792"/>
              </a:lnSpc>
              <a:spcBef>
                <a:spcPts val="0"/>
              </a:spcBef>
              <a:spcAft>
                <a:spcPts val="0"/>
              </a:spcAft>
              <a:defRPr sz="1600" b="0">
                <a:solidFill>
                  <a:srgbClr val="182B3A"/>
                </a:solidFill>
                <a:latin typeface="Arial"/>
              </a:defRPr>
            </a:pPr>
            <a:r>
              <a:t>4</a:t>
            </a:r>
          </a:p>
        </p:txBody>
      </p:sp>
      <p:cxnSp>
        <p:nvCxnSpPr>
          <p:cNvPr id="116" name="Connector 115"/>
          <p:cNvCxnSpPr/>
          <p:nvPr/>
        </p:nvCxnSpPr>
        <p:spPr>
          <a:xfrm flipV="1">
            <a:off x="5471160" y="4818888"/>
            <a:ext cx="429768" cy="429768"/>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sp>
        <p:nvSpPr>
          <p:cNvPr id="117" name="TextBox 116"/>
          <p:cNvSpPr txBox="1"/>
          <p:nvPr/>
        </p:nvSpPr>
        <p:spPr>
          <a:xfrm>
            <a:off x="5484876" y="4832604"/>
            <a:ext cx="201168" cy="201168"/>
          </a:xfrm>
          <a:prstGeom prst="rect">
            <a:avLst/>
          </a:prstGeom>
          <a:noFill/>
        </p:spPr>
        <p:txBody>
          <a:bodyPr wrap="none" lIns="0" rIns="0" tIns="0" bIns="0">
            <a:spAutoFit/>
          </a:bodyPr>
          <a:lstStyle/>
          <a:p>
            <a:pPr algn="ctr">
              <a:lnSpc>
                <a:spcPts val="1792"/>
              </a:lnSpc>
              <a:spcBef>
                <a:spcPts val="0"/>
              </a:spcBef>
              <a:spcAft>
                <a:spcPts val="0"/>
              </a:spcAft>
              <a:defRPr sz="1600" b="0">
                <a:solidFill>
                  <a:srgbClr val="182B3A"/>
                </a:solidFill>
                <a:latin typeface="Arial"/>
              </a:defRPr>
            </a:pPr>
            <a:r>
              <a:t>2</a:t>
            </a:r>
          </a:p>
        </p:txBody>
      </p:sp>
      <p:sp>
        <p:nvSpPr>
          <p:cNvPr id="118" name="TextBox 117"/>
          <p:cNvSpPr txBox="1"/>
          <p:nvPr/>
        </p:nvSpPr>
        <p:spPr>
          <a:xfrm>
            <a:off x="5695188" y="5042916"/>
            <a:ext cx="201168" cy="201168"/>
          </a:xfrm>
          <a:prstGeom prst="rect">
            <a:avLst/>
          </a:prstGeom>
          <a:noFill/>
        </p:spPr>
        <p:txBody>
          <a:bodyPr wrap="none" lIns="0" rIns="0" tIns="0" bIns="0">
            <a:spAutoFit/>
          </a:bodyPr>
          <a:lstStyle/>
          <a:p>
            <a:pPr algn="ctr">
              <a:lnSpc>
                <a:spcPts val="1792"/>
              </a:lnSpc>
              <a:spcBef>
                <a:spcPts val="0"/>
              </a:spcBef>
              <a:spcAft>
                <a:spcPts val="0"/>
              </a:spcAft>
              <a:defRPr sz="1600" b="0">
                <a:solidFill>
                  <a:srgbClr val="182B3A"/>
                </a:solidFill>
                <a:latin typeface="Arial"/>
              </a:defRPr>
            </a:pPr>
            <a:r>
              <a:t>4</a:t>
            </a:r>
          </a:p>
        </p:txBody>
      </p:sp>
      <p:cxnSp>
        <p:nvCxnSpPr>
          <p:cNvPr id="119" name="Connector 118"/>
          <p:cNvCxnSpPr/>
          <p:nvPr/>
        </p:nvCxnSpPr>
        <p:spPr>
          <a:xfrm flipV="1">
            <a:off x="5900928" y="4818888"/>
            <a:ext cx="429768" cy="429768"/>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sp>
        <p:nvSpPr>
          <p:cNvPr id="120" name="TextBox 119"/>
          <p:cNvSpPr txBox="1"/>
          <p:nvPr/>
        </p:nvSpPr>
        <p:spPr>
          <a:xfrm>
            <a:off x="5914644" y="4832604"/>
            <a:ext cx="201168" cy="201168"/>
          </a:xfrm>
          <a:prstGeom prst="rect">
            <a:avLst/>
          </a:prstGeom>
          <a:noFill/>
        </p:spPr>
        <p:txBody>
          <a:bodyPr wrap="none" lIns="0" rIns="0" tIns="0" bIns="0">
            <a:spAutoFit/>
          </a:bodyPr>
          <a:lstStyle/>
          <a:p>
            <a:pPr algn="ctr">
              <a:lnSpc>
                <a:spcPts val="1792"/>
              </a:lnSpc>
              <a:spcBef>
                <a:spcPts val="0"/>
              </a:spcBef>
              <a:spcAft>
                <a:spcPts val="0"/>
              </a:spcAft>
              <a:defRPr sz="1600" b="0">
                <a:solidFill>
                  <a:srgbClr val="182B3A"/>
                </a:solidFill>
                <a:latin typeface="Arial"/>
              </a:defRPr>
            </a:pPr>
            <a:r>
              <a:t>4</a:t>
            </a:r>
          </a:p>
        </p:txBody>
      </p:sp>
      <p:sp>
        <p:nvSpPr>
          <p:cNvPr id="121" name="TextBox 120"/>
          <p:cNvSpPr txBox="1"/>
          <p:nvPr/>
        </p:nvSpPr>
        <p:spPr>
          <a:xfrm>
            <a:off x="6124956" y="5042916"/>
            <a:ext cx="201168" cy="201168"/>
          </a:xfrm>
          <a:prstGeom prst="rect">
            <a:avLst/>
          </a:prstGeom>
          <a:noFill/>
        </p:spPr>
        <p:txBody>
          <a:bodyPr wrap="none" lIns="0" rIns="0" tIns="0" bIns="0">
            <a:spAutoFit/>
          </a:bodyPr>
          <a:lstStyle/>
          <a:p>
            <a:pPr algn="ctr">
              <a:lnSpc>
                <a:spcPts val="1792"/>
              </a:lnSpc>
              <a:spcBef>
                <a:spcPts val="0"/>
              </a:spcBef>
              <a:spcAft>
                <a:spcPts val="0"/>
              </a:spcAft>
              <a:defRPr sz="1600" b="0">
                <a:solidFill>
                  <a:srgbClr val="182B3A"/>
                </a:solidFill>
                <a:latin typeface="Arial"/>
              </a:defRPr>
            </a:pPr>
            <a:r>
              <a:t>2</a:t>
            </a:r>
          </a:p>
        </p:txBody>
      </p:sp>
      <p:cxnSp>
        <p:nvCxnSpPr>
          <p:cNvPr id="122" name="Connector 121"/>
          <p:cNvCxnSpPr/>
          <p:nvPr/>
        </p:nvCxnSpPr>
        <p:spPr>
          <a:xfrm>
            <a:off x="5471160" y="4389120"/>
            <a:ext cx="0" cy="859536"/>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cxnSp>
        <p:nvCxnSpPr>
          <p:cNvPr id="123" name="Connector 122"/>
          <p:cNvCxnSpPr/>
          <p:nvPr/>
        </p:nvCxnSpPr>
        <p:spPr>
          <a:xfrm>
            <a:off x="5900928" y="4389120"/>
            <a:ext cx="0" cy="859536"/>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cxnSp>
        <p:nvCxnSpPr>
          <p:cNvPr id="124" name="Connector 123"/>
          <p:cNvCxnSpPr/>
          <p:nvPr/>
        </p:nvCxnSpPr>
        <p:spPr>
          <a:xfrm>
            <a:off x="6330696" y="4389120"/>
            <a:ext cx="0" cy="859536"/>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cxnSp>
        <p:nvCxnSpPr>
          <p:cNvPr id="125" name="Connector 124"/>
          <p:cNvCxnSpPr/>
          <p:nvPr/>
        </p:nvCxnSpPr>
        <p:spPr>
          <a:xfrm>
            <a:off x="5471160" y="4389120"/>
            <a:ext cx="859536" cy="0"/>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cxnSp>
        <p:nvCxnSpPr>
          <p:cNvPr id="126" name="Connector 125"/>
          <p:cNvCxnSpPr/>
          <p:nvPr/>
        </p:nvCxnSpPr>
        <p:spPr>
          <a:xfrm>
            <a:off x="5471160" y="4818888"/>
            <a:ext cx="859536" cy="0"/>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cxnSp>
        <p:nvCxnSpPr>
          <p:cNvPr id="127" name="Connector 126"/>
          <p:cNvCxnSpPr/>
          <p:nvPr/>
        </p:nvCxnSpPr>
        <p:spPr>
          <a:xfrm>
            <a:off x="5471160" y="5248656"/>
            <a:ext cx="859536" cy="0"/>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sp>
        <p:nvSpPr>
          <p:cNvPr id="128" name="TextBox 127"/>
          <p:cNvSpPr txBox="1"/>
          <p:nvPr/>
        </p:nvSpPr>
        <p:spPr>
          <a:xfrm>
            <a:off x="5900928" y="5330952"/>
            <a:ext cx="274320" cy="274320"/>
          </a:xfrm>
          <a:prstGeom prst="rect">
            <a:avLst/>
          </a:prstGeom>
          <a:noFill/>
        </p:spPr>
        <p:txBody>
          <a:bodyPr wrap="none" lIns="0" rIns="0" tIns="0" bIns="0">
            <a:spAutoFit/>
          </a:bodyPr>
          <a:lstStyle/>
          <a:p>
            <a:pPr algn="ctr">
              <a:lnSpc>
                <a:spcPts val="2352"/>
              </a:lnSpc>
              <a:spcBef>
                <a:spcPts val="0"/>
              </a:spcBef>
              <a:spcAft>
                <a:spcPts val="0"/>
              </a:spcAft>
              <a:defRPr sz="2100" b="0">
                <a:solidFill>
                  <a:srgbClr val="182B3A"/>
                </a:solidFill>
                <a:latin typeface="Arial"/>
              </a:defRPr>
            </a:pPr>
            <a:r>
              <a:t>2</a:t>
            </a:r>
          </a:p>
        </p:txBody>
      </p:sp>
      <p:sp>
        <p:nvSpPr>
          <p:cNvPr id="129" name="TextBox 128"/>
          <p:cNvSpPr txBox="1"/>
          <p:nvPr/>
        </p:nvSpPr>
        <p:spPr>
          <a:xfrm>
            <a:off x="5471160" y="5330952"/>
            <a:ext cx="274320" cy="274320"/>
          </a:xfrm>
          <a:prstGeom prst="rect">
            <a:avLst/>
          </a:prstGeom>
          <a:noFill/>
        </p:spPr>
        <p:txBody>
          <a:bodyPr wrap="none" lIns="0" rIns="0" tIns="0" bIns="0">
            <a:spAutoFit/>
          </a:bodyPr>
          <a:lstStyle/>
          <a:p>
            <a:pPr algn="ctr">
              <a:lnSpc>
                <a:spcPts val="2352"/>
              </a:lnSpc>
              <a:spcBef>
                <a:spcPts val="0"/>
              </a:spcBef>
              <a:spcAft>
                <a:spcPts val="0"/>
              </a:spcAft>
              <a:defRPr sz="2100" b="0">
                <a:solidFill>
                  <a:srgbClr val="182B3A"/>
                </a:solidFill>
                <a:latin typeface="Arial"/>
              </a:defRPr>
            </a:pPr>
            <a:r>
              <a:t>2</a:t>
            </a:r>
          </a:p>
        </p:txBody>
      </p:sp>
      <p:sp>
        <p:nvSpPr>
          <p:cNvPr id="130" name="TextBox 129"/>
          <p:cNvSpPr txBox="1"/>
          <p:nvPr/>
        </p:nvSpPr>
        <p:spPr>
          <a:xfrm>
            <a:off x="5123688" y="4928616"/>
            <a:ext cx="274320" cy="274320"/>
          </a:xfrm>
          <a:prstGeom prst="rect">
            <a:avLst/>
          </a:prstGeom>
          <a:noFill/>
        </p:spPr>
        <p:txBody>
          <a:bodyPr wrap="none" lIns="0" rIns="0" tIns="0" bIns="0">
            <a:spAutoFit/>
          </a:bodyPr>
          <a:lstStyle/>
          <a:p>
            <a:pPr algn="ctr">
              <a:lnSpc>
                <a:spcPts val="2352"/>
              </a:lnSpc>
              <a:spcBef>
                <a:spcPts val="0"/>
              </a:spcBef>
              <a:spcAft>
                <a:spcPts val="0"/>
              </a:spcAft>
              <a:defRPr sz="2100" b="0">
                <a:solidFill>
                  <a:srgbClr val="182B3A"/>
                </a:solidFill>
                <a:latin typeface="Arial"/>
              </a:defRPr>
            </a:pPr>
            <a:r>
              <a:t>1</a:t>
            </a:r>
          </a:p>
        </p:txBody>
      </p:sp>
      <p:sp>
        <p:nvSpPr>
          <p:cNvPr id="131" name="TextBox 130"/>
          <p:cNvSpPr txBox="1"/>
          <p:nvPr/>
        </p:nvSpPr>
        <p:spPr>
          <a:xfrm>
            <a:off x="5123688" y="4498848"/>
            <a:ext cx="274320" cy="274320"/>
          </a:xfrm>
          <a:prstGeom prst="rect">
            <a:avLst/>
          </a:prstGeom>
          <a:noFill/>
        </p:spPr>
        <p:txBody>
          <a:bodyPr wrap="none" lIns="0" rIns="0" tIns="0" bIns="0">
            <a:spAutoFit/>
          </a:bodyPr>
          <a:lstStyle/>
          <a:p>
            <a:pPr algn="ctr">
              <a:lnSpc>
                <a:spcPts val="2352"/>
              </a:lnSpc>
              <a:spcBef>
                <a:spcPts val="0"/>
              </a:spcBef>
              <a:spcAft>
                <a:spcPts val="0"/>
              </a:spcAft>
              <a:defRPr sz="2100" b="0">
                <a:solidFill>
                  <a:srgbClr val="182B3A"/>
                </a:solidFill>
                <a:latin typeface="Arial"/>
              </a:defRPr>
            </a:pPr>
            <a:r>
              <a:t>1</a:t>
            </a:r>
          </a:p>
        </p:txBody>
      </p:sp>
      <p:sp>
        <p:nvSpPr>
          <p:cNvPr id="132" name="TextBox 131"/>
          <p:cNvSpPr txBox="1"/>
          <p:nvPr/>
        </p:nvSpPr>
        <p:spPr>
          <a:xfrm>
            <a:off x="5352288" y="4443984"/>
            <a:ext cx="173736" cy="246888"/>
          </a:xfrm>
          <a:prstGeom prst="rect">
            <a:avLst/>
          </a:prstGeom>
          <a:noFill/>
        </p:spPr>
        <p:txBody>
          <a:bodyPr wrap="none" lIns="0" rIns="0" tIns="0" bIns="0">
            <a:spAutoFit/>
          </a:bodyPr>
          <a:lstStyle/>
          <a:p>
            <a:pPr algn="ctr">
              <a:lnSpc>
                <a:spcPts val="1232"/>
              </a:lnSpc>
              <a:spcBef>
                <a:spcPts val="0"/>
              </a:spcBef>
              <a:spcAft>
                <a:spcPts val="0"/>
              </a:spcAft>
              <a:defRPr sz="1100" b="0">
                <a:solidFill>
                  <a:srgbClr val="182B3A"/>
                </a:solidFill>
                <a:latin typeface="Arial"/>
              </a:defRPr>
            </a:pPr>
            <a:r>
              <a:t>1</a:t>
            </a:r>
          </a:p>
        </p:txBody>
      </p:sp>
      <p:sp>
        <p:nvSpPr>
          <p:cNvPr id="133" name="TextBox 132"/>
          <p:cNvSpPr txBox="1"/>
          <p:nvPr/>
        </p:nvSpPr>
        <p:spPr>
          <a:xfrm>
            <a:off x="7290816" y="4489704"/>
            <a:ext cx="2057400" cy="365760"/>
          </a:xfrm>
          <a:prstGeom prst="rect">
            <a:avLst/>
          </a:prstGeom>
          <a:noFill/>
        </p:spPr>
        <p:txBody>
          <a:bodyPr wrap="none" lIns="0" rIns="0" tIns="0" bIns="0">
            <a:spAutoFit/>
          </a:bodyPr>
          <a:lstStyle/>
          <a:p>
            <a:pPr algn="l">
              <a:lnSpc>
                <a:spcPts val="2128"/>
              </a:lnSpc>
              <a:spcBef>
                <a:spcPts val="0"/>
              </a:spcBef>
              <a:spcAft>
                <a:spcPts val="0"/>
              </a:spcAft>
              <a:defRPr sz="1900" b="0">
                <a:solidFill>
                  <a:srgbClr val="182B3A"/>
                </a:solidFill>
                <a:latin typeface="Arial"/>
              </a:defRPr>
            </a:pPr>
            <a:r>
              <a:t>Answer</a:t>
            </a:r>
          </a:p>
        </p:txBody>
      </p:sp>
      <p:sp>
        <p:nvSpPr>
          <p:cNvPr id="134" name="TextBox 133"/>
          <p:cNvSpPr txBox="1"/>
          <p:nvPr/>
        </p:nvSpPr>
        <p:spPr>
          <a:xfrm>
            <a:off x="7290816" y="4855464"/>
            <a:ext cx="2057400" cy="384048"/>
          </a:xfrm>
          <a:prstGeom prst="rect">
            <a:avLst/>
          </a:prstGeom>
          <a:noFill/>
        </p:spPr>
        <p:txBody>
          <a:bodyPr wrap="none" lIns="0" rIns="0" tIns="0" bIns="0">
            <a:spAutoFit/>
          </a:bodyPr>
          <a:lstStyle/>
          <a:p>
            <a:pPr algn="l">
              <a:lnSpc>
                <a:spcPts val="2800"/>
              </a:lnSpc>
              <a:spcBef>
                <a:spcPts val="0"/>
              </a:spcBef>
              <a:spcAft>
                <a:spcPts val="0"/>
              </a:spcAft>
              <a:defRPr sz="2500" b="0">
                <a:solidFill>
                  <a:srgbClr val="182B3A"/>
                </a:solidFill>
                <a:latin typeface="Arial"/>
              </a:defRPr>
            </a:pPr>
            <a:r>
              <a:t>1,122</a:t>
            </a:r>
          </a:p>
        </p:txBody>
      </p:sp>
      <p:sp>
        <p:nvSpPr>
          <p:cNvPr id="135" name="Rectangle 134"/>
          <p:cNvSpPr/>
          <p:nvPr/>
        </p:nvSpPr>
        <p:spPr>
          <a:xfrm>
            <a:off x="5004816" y="5724144"/>
            <a:ext cx="4588764" cy="1929384"/>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36" name="TextBox 135"/>
          <p:cNvSpPr txBox="1"/>
          <p:nvPr/>
        </p:nvSpPr>
        <p:spPr>
          <a:xfrm>
            <a:off x="5096256" y="5760720"/>
            <a:ext cx="4392168" cy="402336"/>
          </a:xfrm>
          <a:prstGeom prst="rect">
            <a:avLst/>
          </a:prstGeom>
          <a:noFill/>
        </p:spPr>
        <p:txBody>
          <a:bodyPr wrap="square" tIns="36576" bIns="36576" anchor="t">
            <a:spAutoFit/>
          </a:bodyPr>
          <a:lstStyle/>
          <a:p>
            <a:pPr>
              <a:lnSpc>
                <a:spcPts val="2268"/>
              </a:lnSpc>
              <a:spcBef>
                <a:spcPts val="0"/>
              </a:spcBef>
              <a:spcAft>
                <a:spcPts val="0"/>
              </a:spcAft>
              <a:defRPr sz="2100" b="1">
                <a:solidFill>
                  <a:srgbClr val="182B3A"/>
                </a:solidFill>
                <a:latin typeface="Arial"/>
              </a:defRPr>
            </a:pPr>
            <a:r>
              <a:t>3.  68 × 24</a:t>
            </a:r>
          </a:p>
        </p:txBody>
      </p:sp>
      <p:sp>
        <p:nvSpPr>
          <p:cNvPr id="137" name="TextBox 136"/>
          <p:cNvSpPr txBox="1"/>
          <p:nvPr/>
        </p:nvSpPr>
        <p:spPr>
          <a:xfrm>
            <a:off x="5471160" y="6126480"/>
            <a:ext cx="429768" cy="265176"/>
          </a:xfrm>
          <a:prstGeom prst="rect">
            <a:avLst/>
          </a:prstGeom>
          <a:noFill/>
        </p:spPr>
        <p:txBody>
          <a:bodyPr wrap="none" lIns="0" rIns="0" tIns="0" bIns="0">
            <a:spAutoFit/>
          </a:bodyPr>
          <a:lstStyle/>
          <a:p>
            <a:pPr algn="ctr">
              <a:lnSpc>
                <a:spcPts val="2240"/>
              </a:lnSpc>
              <a:spcBef>
                <a:spcPts val="0"/>
              </a:spcBef>
              <a:spcAft>
                <a:spcPts val="0"/>
              </a:spcAft>
              <a:defRPr sz="2000" b="0">
                <a:solidFill>
                  <a:srgbClr val="182B3A"/>
                </a:solidFill>
                <a:latin typeface="Arial"/>
              </a:defRPr>
            </a:pPr>
            <a:r>
              <a:t>6</a:t>
            </a:r>
          </a:p>
        </p:txBody>
      </p:sp>
      <p:sp>
        <p:nvSpPr>
          <p:cNvPr id="138" name="TextBox 137"/>
          <p:cNvSpPr txBox="1"/>
          <p:nvPr/>
        </p:nvSpPr>
        <p:spPr>
          <a:xfrm>
            <a:off x="5900928" y="6126480"/>
            <a:ext cx="429768" cy="265176"/>
          </a:xfrm>
          <a:prstGeom prst="rect">
            <a:avLst/>
          </a:prstGeom>
          <a:noFill/>
        </p:spPr>
        <p:txBody>
          <a:bodyPr wrap="none" lIns="0" rIns="0" tIns="0" bIns="0">
            <a:spAutoFit/>
          </a:bodyPr>
          <a:lstStyle/>
          <a:p>
            <a:pPr algn="ctr">
              <a:lnSpc>
                <a:spcPts val="2240"/>
              </a:lnSpc>
              <a:spcBef>
                <a:spcPts val="0"/>
              </a:spcBef>
              <a:spcAft>
                <a:spcPts val="0"/>
              </a:spcAft>
              <a:defRPr sz="2000" b="0">
                <a:solidFill>
                  <a:srgbClr val="182B3A"/>
                </a:solidFill>
                <a:latin typeface="Arial"/>
              </a:defRPr>
            </a:pPr>
            <a:r>
              <a:t>8</a:t>
            </a:r>
          </a:p>
        </p:txBody>
      </p:sp>
      <p:sp>
        <p:nvSpPr>
          <p:cNvPr id="139" name="TextBox 138"/>
          <p:cNvSpPr txBox="1"/>
          <p:nvPr/>
        </p:nvSpPr>
        <p:spPr>
          <a:xfrm>
            <a:off x="6394704" y="6501383"/>
            <a:ext cx="274320" cy="265176"/>
          </a:xfrm>
          <a:prstGeom prst="rect">
            <a:avLst/>
          </a:prstGeom>
          <a:noFill/>
        </p:spPr>
        <p:txBody>
          <a:bodyPr wrap="none" lIns="0" rIns="0" tIns="0" bIns="0">
            <a:spAutoFit/>
          </a:bodyPr>
          <a:lstStyle/>
          <a:p>
            <a:pPr algn="ctr">
              <a:lnSpc>
                <a:spcPts val="2240"/>
              </a:lnSpc>
              <a:spcBef>
                <a:spcPts val="0"/>
              </a:spcBef>
              <a:spcAft>
                <a:spcPts val="0"/>
              </a:spcAft>
              <a:defRPr sz="2000" b="0">
                <a:solidFill>
                  <a:srgbClr val="182B3A"/>
                </a:solidFill>
                <a:latin typeface="Arial"/>
              </a:defRPr>
            </a:pPr>
            <a:r>
              <a:t>2</a:t>
            </a:r>
          </a:p>
        </p:txBody>
      </p:sp>
      <p:sp>
        <p:nvSpPr>
          <p:cNvPr id="140" name="TextBox 139"/>
          <p:cNvSpPr txBox="1"/>
          <p:nvPr/>
        </p:nvSpPr>
        <p:spPr>
          <a:xfrm>
            <a:off x="6394704" y="6931152"/>
            <a:ext cx="274320" cy="265176"/>
          </a:xfrm>
          <a:prstGeom prst="rect">
            <a:avLst/>
          </a:prstGeom>
          <a:noFill/>
        </p:spPr>
        <p:txBody>
          <a:bodyPr wrap="none" lIns="0" rIns="0" tIns="0" bIns="0">
            <a:spAutoFit/>
          </a:bodyPr>
          <a:lstStyle/>
          <a:p>
            <a:pPr algn="ctr">
              <a:lnSpc>
                <a:spcPts val="2240"/>
              </a:lnSpc>
              <a:spcBef>
                <a:spcPts val="0"/>
              </a:spcBef>
              <a:spcAft>
                <a:spcPts val="0"/>
              </a:spcAft>
              <a:defRPr sz="2000" b="0">
                <a:solidFill>
                  <a:srgbClr val="182B3A"/>
                </a:solidFill>
                <a:latin typeface="Arial"/>
              </a:defRPr>
            </a:pPr>
            <a:r>
              <a:t>4</a:t>
            </a:r>
          </a:p>
        </p:txBody>
      </p:sp>
      <p:cxnSp>
        <p:nvCxnSpPr>
          <p:cNvPr id="141" name="Connector 140"/>
          <p:cNvCxnSpPr/>
          <p:nvPr/>
        </p:nvCxnSpPr>
        <p:spPr>
          <a:xfrm flipV="1">
            <a:off x="5471160" y="6391656"/>
            <a:ext cx="429768" cy="429768"/>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sp>
        <p:nvSpPr>
          <p:cNvPr id="142" name="TextBox 141"/>
          <p:cNvSpPr txBox="1"/>
          <p:nvPr/>
        </p:nvSpPr>
        <p:spPr>
          <a:xfrm>
            <a:off x="5484876" y="6405372"/>
            <a:ext cx="201168" cy="201168"/>
          </a:xfrm>
          <a:prstGeom prst="rect">
            <a:avLst/>
          </a:prstGeom>
          <a:noFill/>
        </p:spPr>
        <p:txBody>
          <a:bodyPr wrap="none" lIns="0" rIns="0" tIns="0" bIns="0">
            <a:spAutoFit/>
          </a:bodyPr>
          <a:lstStyle/>
          <a:p>
            <a:pPr algn="ctr">
              <a:lnSpc>
                <a:spcPts val="1792"/>
              </a:lnSpc>
              <a:spcBef>
                <a:spcPts val="0"/>
              </a:spcBef>
              <a:spcAft>
                <a:spcPts val="0"/>
              </a:spcAft>
              <a:defRPr sz="1600" b="0">
                <a:solidFill>
                  <a:srgbClr val="182B3A"/>
                </a:solidFill>
                <a:latin typeface="Arial"/>
              </a:defRPr>
            </a:pPr>
            <a:r>
              <a:t>1</a:t>
            </a:r>
          </a:p>
        </p:txBody>
      </p:sp>
      <p:sp>
        <p:nvSpPr>
          <p:cNvPr id="143" name="TextBox 142"/>
          <p:cNvSpPr txBox="1"/>
          <p:nvPr/>
        </p:nvSpPr>
        <p:spPr>
          <a:xfrm>
            <a:off x="5695188" y="6615683"/>
            <a:ext cx="201168" cy="201168"/>
          </a:xfrm>
          <a:prstGeom prst="rect">
            <a:avLst/>
          </a:prstGeom>
          <a:noFill/>
        </p:spPr>
        <p:txBody>
          <a:bodyPr wrap="none" lIns="0" rIns="0" tIns="0" bIns="0">
            <a:spAutoFit/>
          </a:bodyPr>
          <a:lstStyle/>
          <a:p>
            <a:pPr algn="ctr">
              <a:lnSpc>
                <a:spcPts val="1792"/>
              </a:lnSpc>
              <a:spcBef>
                <a:spcPts val="0"/>
              </a:spcBef>
              <a:spcAft>
                <a:spcPts val="0"/>
              </a:spcAft>
              <a:defRPr sz="1600" b="0">
                <a:solidFill>
                  <a:srgbClr val="182B3A"/>
                </a:solidFill>
                <a:latin typeface="Arial"/>
              </a:defRPr>
            </a:pPr>
            <a:r>
              <a:t>2</a:t>
            </a:r>
          </a:p>
        </p:txBody>
      </p:sp>
      <p:cxnSp>
        <p:nvCxnSpPr>
          <p:cNvPr id="144" name="Connector 143"/>
          <p:cNvCxnSpPr/>
          <p:nvPr/>
        </p:nvCxnSpPr>
        <p:spPr>
          <a:xfrm flipV="1">
            <a:off x="5900928" y="6391656"/>
            <a:ext cx="429768" cy="429768"/>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sp>
        <p:nvSpPr>
          <p:cNvPr id="145" name="TextBox 144"/>
          <p:cNvSpPr txBox="1"/>
          <p:nvPr/>
        </p:nvSpPr>
        <p:spPr>
          <a:xfrm>
            <a:off x="5914644" y="6405372"/>
            <a:ext cx="201168" cy="201168"/>
          </a:xfrm>
          <a:prstGeom prst="rect">
            <a:avLst/>
          </a:prstGeom>
          <a:noFill/>
        </p:spPr>
        <p:txBody>
          <a:bodyPr wrap="none" lIns="0" rIns="0" tIns="0" bIns="0">
            <a:spAutoFit/>
          </a:bodyPr>
          <a:lstStyle/>
          <a:p>
            <a:pPr algn="ctr">
              <a:lnSpc>
                <a:spcPts val="1792"/>
              </a:lnSpc>
              <a:spcBef>
                <a:spcPts val="0"/>
              </a:spcBef>
              <a:spcAft>
                <a:spcPts val="0"/>
              </a:spcAft>
              <a:defRPr sz="1600" b="0">
                <a:solidFill>
                  <a:srgbClr val="182B3A"/>
                </a:solidFill>
                <a:latin typeface="Arial"/>
              </a:defRPr>
            </a:pPr>
            <a:r>
              <a:t>1</a:t>
            </a:r>
          </a:p>
        </p:txBody>
      </p:sp>
      <p:sp>
        <p:nvSpPr>
          <p:cNvPr id="146" name="TextBox 145"/>
          <p:cNvSpPr txBox="1"/>
          <p:nvPr/>
        </p:nvSpPr>
        <p:spPr>
          <a:xfrm>
            <a:off x="6124956" y="6615683"/>
            <a:ext cx="201168" cy="201168"/>
          </a:xfrm>
          <a:prstGeom prst="rect">
            <a:avLst/>
          </a:prstGeom>
          <a:noFill/>
        </p:spPr>
        <p:txBody>
          <a:bodyPr wrap="none" lIns="0" rIns="0" tIns="0" bIns="0">
            <a:spAutoFit/>
          </a:bodyPr>
          <a:lstStyle/>
          <a:p>
            <a:pPr algn="ctr">
              <a:lnSpc>
                <a:spcPts val="1792"/>
              </a:lnSpc>
              <a:spcBef>
                <a:spcPts val="0"/>
              </a:spcBef>
              <a:spcAft>
                <a:spcPts val="0"/>
              </a:spcAft>
              <a:defRPr sz="1600" b="0">
                <a:solidFill>
                  <a:srgbClr val="182B3A"/>
                </a:solidFill>
                <a:latin typeface="Arial"/>
              </a:defRPr>
            </a:pPr>
            <a:r>
              <a:t>6</a:t>
            </a:r>
          </a:p>
        </p:txBody>
      </p:sp>
      <p:cxnSp>
        <p:nvCxnSpPr>
          <p:cNvPr id="147" name="Connector 146"/>
          <p:cNvCxnSpPr/>
          <p:nvPr/>
        </p:nvCxnSpPr>
        <p:spPr>
          <a:xfrm flipV="1">
            <a:off x="5471160" y="6821424"/>
            <a:ext cx="429768" cy="429768"/>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sp>
        <p:nvSpPr>
          <p:cNvPr id="148" name="TextBox 147"/>
          <p:cNvSpPr txBox="1"/>
          <p:nvPr/>
        </p:nvSpPr>
        <p:spPr>
          <a:xfrm>
            <a:off x="5484876" y="6835140"/>
            <a:ext cx="201168" cy="201168"/>
          </a:xfrm>
          <a:prstGeom prst="rect">
            <a:avLst/>
          </a:prstGeom>
          <a:noFill/>
        </p:spPr>
        <p:txBody>
          <a:bodyPr wrap="none" lIns="0" rIns="0" tIns="0" bIns="0">
            <a:spAutoFit/>
          </a:bodyPr>
          <a:lstStyle/>
          <a:p>
            <a:pPr algn="ctr">
              <a:lnSpc>
                <a:spcPts val="1792"/>
              </a:lnSpc>
              <a:spcBef>
                <a:spcPts val="0"/>
              </a:spcBef>
              <a:spcAft>
                <a:spcPts val="0"/>
              </a:spcAft>
              <a:defRPr sz="1600" b="0">
                <a:solidFill>
                  <a:srgbClr val="182B3A"/>
                </a:solidFill>
                <a:latin typeface="Arial"/>
              </a:defRPr>
            </a:pPr>
            <a:r>
              <a:t>2</a:t>
            </a:r>
          </a:p>
        </p:txBody>
      </p:sp>
      <p:sp>
        <p:nvSpPr>
          <p:cNvPr id="149" name="TextBox 148"/>
          <p:cNvSpPr txBox="1"/>
          <p:nvPr/>
        </p:nvSpPr>
        <p:spPr>
          <a:xfrm>
            <a:off x="5695188" y="7045452"/>
            <a:ext cx="201168" cy="201168"/>
          </a:xfrm>
          <a:prstGeom prst="rect">
            <a:avLst/>
          </a:prstGeom>
          <a:noFill/>
        </p:spPr>
        <p:txBody>
          <a:bodyPr wrap="none" lIns="0" rIns="0" tIns="0" bIns="0">
            <a:spAutoFit/>
          </a:bodyPr>
          <a:lstStyle/>
          <a:p>
            <a:pPr algn="ctr">
              <a:lnSpc>
                <a:spcPts val="1792"/>
              </a:lnSpc>
              <a:spcBef>
                <a:spcPts val="0"/>
              </a:spcBef>
              <a:spcAft>
                <a:spcPts val="0"/>
              </a:spcAft>
              <a:defRPr sz="1600" b="0">
                <a:solidFill>
                  <a:srgbClr val="182B3A"/>
                </a:solidFill>
                <a:latin typeface="Arial"/>
              </a:defRPr>
            </a:pPr>
            <a:r>
              <a:t>4</a:t>
            </a:r>
          </a:p>
        </p:txBody>
      </p:sp>
      <p:cxnSp>
        <p:nvCxnSpPr>
          <p:cNvPr id="150" name="Connector 149"/>
          <p:cNvCxnSpPr/>
          <p:nvPr/>
        </p:nvCxnSpPr>
        <p:spPr>
          <a:xfrm flipV="1">
            <a:off x="5900928" y="6821424"/>
            <a:ext cx="429768" cy="429768"/>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sp>
        <p:nvSpPr>
          <p:cNvPr id="151" name="TextBox 150"/>
          <p:cNvSpPr txBox="1"/>
          <p:nvPr/>
        </p:nvSpPr>
        <p:spPr>
          <a:xfrm>
            <a:off x="5914644" y="6835140"/>
            <a:ext cx="201168" cy="201168"/>
          </a:xfrm>
          <a:prstGeom prst="rect">
            <a:avLst/>
          </a:prstGeom>
          <a:noFill/>
        </p:spPr>
        <p:txBody>
          <a:bodyPr wrap="none" lIns="0" rIns="0" tIns="0" bIns="0">
            <a:spAutoFit/>
          </a:bodyPr>
          <a:lstStyle/>
          <a:p>
            <a:pPr algn="ctr">
              <a:lnSpc>
                <a:spcPts val="1792"/>
              </a:lnSpc>
              <a:spcBef>
                <a:spcPts val="0"/>
              </a:spcBef>
              <a:spcAft>
                <a:spcPts val="0"/>
              </a:spcAft>
              <a:defRPr sz="1600" b="0">
                <a:solidFill>
                  <a:srgbClr val="182B3A"/>
                </a:solidFill>
                <a:latin typeface="Arial"/>
              </a:defRPr>
            </a:pPr>
            <a:r>
              <a:t>3</a:t>
            </a:r>
          </a:p>
        </p:txBody>
      </p:sp>
      <p:sp>
        <p:nvSpPr>
          <p:cNvPr id="152" name="TextBox 151"/>
          <p:cNvSpPr txBox="1"/>
          <p:nvPr/>
        </p:nvSpPr>
        <p:spPr>
          <a:xfrm>
            <a:off x="6124956" y="7045452"/>
            <a:ext cx="201168" cy="201168"/>
          </a:xfrm>
          <a:prstGeom prst="rect">
            <a:avLst/>
          </a:prstGeom>
          <a:noFill/>
        </p:spPr>
        <p:txBody>
          <a:bodyPr wrap="none" lIns="0" rIns="0" tIns="0" bIns="0">
            <a:spAutoFit/>
          </a:bodyPr>
          <a:lstStyle/>
          <a:p>
            <a:pPr algn="ctr">
              <a:lnSpc>
                <a:spcPts val="1792"/>
              </a:lnSpc>
              <a:spcBef>
                <a:spcPts val="0"/>
              </a:spcBef>
              <a:spcAft>
                <a:spcPts val="0"/>
              </a:spcAft>
              <a:defRPr sz="1600" b="0">
                <a:solidFill>
                  <a:srgbClr val="182B3A"/>
                </a:solidFill>
                <a:latin typeface="Arial"/>
              </a:defRPr>
            </a:pPr>
            <a:r>
              <a:t>2</a:t>
            </a:r>
          </a:p>
        </p:txBody>
      </p:sp>
      <p:cxnSp>
        <p:nvCxnSpPr>
          <p:cNvPr id="153" name="Connector 152"/>
          <p:cNvCxnSpPr/>
          <p:nvPr/>
        </p:nvCxnSpPr>
        <p:spPr>
          <a:xfrm>
            <a:off x="5471160" y="6391656"/>
            <a:ext cx="0" cy="859536"/>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cxnSp>
        <p:nvCxnSpPr>
          <p:cNvPr id="154" name="Connector 153"/>
          <p:cNvCxnSpPr/>
          <p:nvPr/>
        </p:nvCxnSpPr>
        <p:spPr>
          <a:xfrm>
            <a:off x="5900928" y="6391656"/>
            <a:ext cx="0" cy="859536"/>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cxnSp>
        <p:nvCxnSpPr>
          <p:cNvPr id="155" name="Connector 154"/>
          <p:cNvCxnSpPr/>
          <p:nvPr/>
        </p:nvCxnSpPr>
        <p:spPr>
          <a:xfrm>
            <a:off x="6330696" y="6391656"/>
            <a:ext cx="0" cy="859536"/>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cxnSp>
        <p:nvCxnSpPr>
          <p:cNvPr id="156" name="Connector 155"/>
          <p:cNvCxnSpPr/>
          <p:nvPr/>
        </p:nvCxnSpPr>
        <p:spPr>
          <a:xfrm>
            <a:off x="5471160" y="6391656"/>
            <a:ext cx="859536" cy="0"/>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cxnSp>
        <p:nvCxnSpPr>
          <p:cNvPr id="157" name="Connector 156"/>
          <p:cNvCxnSpPr/>
          <p:nvPr/>
        </p:nvCxnSpPr>
        <p:spPr>
          <a:xfrm>
            <a:off x="5471160" y="6821424"/>
            <a:ext cx="859536" cy="0"/>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cxnSp>
        <p:nvCxnSpPr>
          <p:cNvPr id="158" name="Connector 157"/>
          <p:cNvCxnSpPr/>
          <p:nvPr/>
        </p:nvCxnSpPr>
        <p:spPr>
          <a:xfrm>
            <a:off x="5471160" y="7251192"/>
            <a:ext cx="859536" cy="0"/>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sp>
        <p:nvSpPr>
          <p:cNvPr id="159" name="TextBox 158"/>
          <p:cNvSpPr txBox="1"/>
          <p:nvPr/>
        </p:nvSpPr>
        <p:spPr>
          <a:xfrm>
            <a:off x="5900928" y="7333488"/>
            <a:ext cx="274320" cy="274320"/>
          </a:xfrm>
          <a:prstGeom prst="rect">
            <a:avLst/>
          </a:prstGeom>
          <a:noFill/>
        </p:spPr>
        <p:txBody>
          <a:bodyPr wrap="none" lIns="0" rIns="0" tIns="0" bIns="0">
            <a:spAutoFit/>
          </a:bodyPr>
          <a:lstStyle/>
          <a:p>
            <a:pPr algn="ctr">
              <a:lnSpc>
                <a:spcPts val="2352"/>
              </a:lnSpc>
              <a:spcBef>
                <a:spcPts val="0"/>
              </a:spcBef>
              <a:spcAft>
                <a:spcPts val="0"/>
              </a:spcAft>
              <a:defRPr sz="2100" b="0">
                <a:solidFill>
                  <a:srgbClr val="182B3A"/>
                </a:solidFill>
                <a:latin typeface="Arial"/>
              </a:defRPr>
            </a:pPr>
            <a:r>
              <a:t>2</a:t>
            </a:r>
          </a:p>
        </p:txBody>
      </p:sp>
      <p:sp>
        <p:nvSpPr>
          <p:cNvPr id="160" name="TextBox 159"/>
          <p:cNvSpPr txBox="1"/>
          <p:nvPr/>
        </p:nvSpPr>
        <p:spPr>
          <a:xfrm>
            <a:off x="5471160" y="7333488"/>
            <a:ext cx="274320" cy="274320"/>
          </a:xfrm>
          <a:prstGeom prst="rect">
            <a:avLst/>
          </a:prstGeom>
          <a:noFill/>
        </p:spPr>
        <p:txBody>
          <a:bodyPr wrap="none" lIns="0" rIns="0" tIns="0" bIns="0">
            <a:spAutoFit/>
          </a:bodyPr>
          <a:lstStyle/>
          <a:p>
            <a:pPr algn="ctr">
              <a:lnSpc>
                <a:spcPts val="2352"/>
              </a:lnSpc>
              <a:spcBef>
                <a:spcPts val="0"/>
              </a:spcBef>
              <a:spcAft>
                <a:spcPts val="0"/>
              </a:spcAft>
              <a:defRPr sz="2100" b="0">
                <a:solidFill>
                  <a:srgbClr val="182B3A"/>
                </a:solidFill>
                <a:latin typeface="Arial"/>
              </a:defRPr>
            </a:pPr>
            <a:r>
              <a:t>3</a:t>
            </a:r>
          </a:p>
        </p:txBody>
      </p:sp>
      <p:sp>
        <p:nvSpPr>
          <p:cNvPr id="161" name="TextBox 160"/>
          <p:cNvSpPr txBox="1"/>
          <p:nvPr/>
        </p:nvSpPr>
        <p:spPr>
          <a:xfrm>
            <a:off x="5123688" y="6931152"/>
            <a:ext cx="274320" cy="274320"/>
          </a:xfrm>
          <a:prstGeom prst="rect">
            <a:avLst/>
          </a:prstGeom>
          <a:noFill/>
        </p:spPr>
        <p:txBody>
          <a:bodyPr wrap="none" lIns="0" rIns="0" tIns="0" bIns="0">
            <a:spAutoFit/>
          </a:bodyPr>
          <a:lstStyle/>
          <a:p>
            <a:pPr algn="ctr">
              <a:lnSpc>
                <a:spcPts val="2352"/>
              </a:lnSpc>
              <a:spcBef>
                <a:spcPts val="0"/>
              </a:spcBef>
              <a:spcAft>
                <a:spcPts val="0"/>
              </a:spcAft>
              <a:defRPr sz="2100" b="0">
                <a:solidFill>
                  <a:srgbClr val="182B3A"/>
                </a:solidFill>
                <a:latin typeface="Arial"/>
              </a:defRPr>
            </a:pPr>
            <a:r>
              <a:t>6</a:t>
            </a:r>
          </a:p>
        </p:txBody>
      </p:sp>
      <p:sp>
        <p:nvSpPr>
          <p:cNvPr id="162" name="TextBox 161"/>
          <p:cNvSpPr txBox="1"/>
          <p:nvPr/>
        </p:nvSpPr>
        <p:spPr>
          <a:xfrm>
            <a:off x="5334000" y="6931152"/>
            <a:ext cx="173736" cy="246888"/>
          </a:xfrm>
          <a:prstGeom prst="rect">
            <a:avLst/>
          </a:prstGeom>
          <a:noFill/>
        </p:spPr>
        <p:txBody>
          <a:bodyPr wrap="none" lIns="0" rIns="0" tIns="0" bIns="0">
            <a:spAutoFit/>
          </a:bodyPr>
          <a:lstStyle/>
          <a:p>
            <a:pPr algn="ctr">
              <a:lnSpc>
                <a:spcPts val="2352"/>
              </a:lnSpc>
              <a:spcBef>
                <a:spcPts val="0"/>
              </a:spcBef>
              <a:spcAft>
                <a:spcPts val="0"/>
              </a:spcAft>
              <a:defRPr sz="2100" b="0">
                <a:solidFill>
                  <a:srgbClr val="182B3A"/>
                </a:solidFill>
                <a:latin typeface="Arial"/>
              </a:defRPr>
            </a:pPr>
            <a:r>
              <a:t>1</a:t>
            </a:r>
          </a:p>
        </p:txBody>
      </p:sp>
      <p:sp>
        <p:nvSpPr>
          <p:cNvPr id="163" name="TextBox 162"/>
          <p:cNvSpPr txBox="1"/>
          <p:nvPr/>
        </p:nvSpPr>
        <p:spPr>
          <a:xfrm>
            <a:off x="5123688" y="6501383"/>
            <a:ext cx="274320" cy="274320"/>
          </a:xfrm>
          <a:prstGeom prst="rect">
            <a:avLst/>
          </a:prstGeom>
          <a:noFill/>
        </p:spPr>
        <p:txBody>
          <a:bodyPr wrap="none" lIns="0" rIns="0" tIns="0" bIns="0">
            <a:spAutoFit/>
          </a:bodyPr>
          <a:lstStyle/>
          <a:p>
            <a:pPr algn="ctr">
              <a:lnSpc>
                <a:spcPts val="2352"/>
              </a:lnSpc>
              <a:spcBef>
                <a:spcPts val="0"/>
              </a:spcBef>
              <a:spcAft>
                <a:spcPts val="0"/>
              </a:spcAft>
              <a:defRPr sz="2100" b="0">
                <a:solidFill>
                  <a:srgbClr val="182B3A"/>
                </a:solidFill>
                <a:latin typeface="Arial"/>
              </a:defRPr>
            </a:pPr>
            <a:r>
              <a:t>1</a:t>
            </a:r>
          </a:p>
        </p:txBody>
      </p:sp>
      <p:sp>
        <p:nvSpPr>
          <p:cNvPr id="164" name="TextBox 163"/>
          <p:cNvSpPr txBox="1"/>
          <p:nvPr/>
        </p:nvSpPr>
        <p:spPr>
          <a:xfrm>
            <a:off x="7290816" y="6492240"/>
            <a:ext cx="2057400" cy="365760"/>
          </a:xfrm>
          <a:prstGeom prst="rect">
            <a:avLst/>
          </a:prstGeom>
          <a:noFill/>
        </p:spPr>
        <p:txBody>
          <a:bodyPr wrap="none" lIns="0" rIns="0" tIns="0" bIns="0">
            <a:spAutoFit/>
          </a:bodyPr>
          <a:lstStyle/>
          <a:p>
            <a:pPr algn="l">
              <a:lnSpc>
                <a:spcPts val="2128"/>
              </a:lnSpc>
              <a:spcBef>
                <a:spcPts val="0"/>
              </a:spcBef>
              <a:spcAft>
                <a:spcPts val="0"/>
              </a:spcAft>
              <a:defRPr sz="1900" b="0">
                <a:solidFill>
                  <a:srgbClr val="182B3A"/>
                </a:solidFill>
                <a:latin typeface="Arial"/>
              </a:defRPr>
            </a:pPr>
            <a:r>
              <a:t>Answer</a:t>
            </a:r>
          </a:p>
        </p:txBody>
      </p:sp>
      <p:sp>
        <p:nvSpPr>
          <p:cNvPr id="165" name="TextBox 164"/>
          <p:cNvSpPr txBox="1"/>
          <p:nvPr/>
        </p:nvSpPr>
        <p:spPr>
          <a:xfrm>
            <a:off x="7290816" y="6858000"/>
            <a:ext cx="2057400" cy="384048"/>
          </a:xfrm>
          <a:prstGeom prst="rect">
            <a:avLst/>
          </a:prstGeom>
          <a:noFill/>
        </p:spPr>
        <p:txBody>
          <a:bodyPr wrap="none" lIns="0" rIns="0" tIns="0" bIns="0">
            <a:spAutoFit/>
          </a:bodyPr>
          <a:lstStyle/>
          <a:p>
            <a:pPr algn="l">
              <a:lnSpc>
                <a:spcPts val="2800"/>
              </a:lnSpc>
              <a:spcBef>
                <a:spcPts val="0"/>
              </a:spcBef>
              <a:spcAft>
                <a:spcPts val="0"/>
              </a:spcAft>
              <a:defRPr sz="2500" b="0">
                <a:solidFill>
                  <a:srgbClr val="182B3A"/>
                </a:solidFill>
                <a:latin typeface="Arial"/>
              </a:defRPr>
            </a:pPr>
            <a:r>
              <a:t>16,132</a:t>
            </a:r>
          </a:p>
        </p:txBody>
      </p:sp>
      <p:sp>
        <p:nvSpPr>
          <p:cNvPr id="166" name="Rectangle 165"/>
          <p:cNvSpPr/>
          <p:nvPr/>
        </p:nvSpPr>
        <p:spPr>
          <a:xfrm>
            <a:off x="9625584" y="1234440"/>
            <a:ext cx="4588764" cy="420624"/>
          </a:xfrm>
          <a:prstGeom prst="rect">
            <a:avLst/>
          </a:prstGeom>
          <a:solidFill>
            <a:srgbClr val="754B87"/>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67" name="TextBox 166"/>
          <p:cNvSpPr txBox="1"/>
          <p:nvPr/>
        </p:nvSpPr>
        <p:spPr>
          <a:xfrm>
            <a:off x="9689592" y="1261872"/>
            <a:ext cx="4474464" cy="347472"/>
          </a:xfrm>
          <a:prstGeom prst="rect">
            <a:avLst/>
          </a:prstGeom>
          <a:noFill/>
        </p:spPr>
        <p:txBody>
          <a:bodyPr wrap="square" tIns="36576" bIns="36576" anchor="t">
            <a:spAutoFit/>
          </a:bodyPr>
          <a:lstStyle/>
          <a:p>
            <a:pPr>
              <a:lnSpc>
                <a:spcPts val="2160"/>
              </a:lnSpc>
              <a:spcBef>
                <a:spcPts val="0"/>
              </a:spcBef>
              <a:spcAft>
                <a:spcPts val="0"/>
              </a:spcAft>
              <a:defRPr sz="2000" b="1">
                <a:solidFill>
                  <a:srgbClr val="FFFFFF"/>
                </a:solidFill>
                <a:latin typeface="Arial"/>
              </a:defRPr>
            </a:pPr>
            <a:r>
              <a:t>Confidence</a:t>
            </a:r>
          </a:p>
        </p:txBody>
      </p:sp>
      <p:sp>
        <p:nvSpPr>
          <p:cNvPr id="168" name="Rectangle 167"/>
          <p:cNvSpPr/>
          <p:nvPr/>
        </p:nvSpPr>
        <p:spPr>
          <a:xfrm>
            <a:off x="9625584" y="1719072"/>
            <a:ext cx="4588764" cy="1929384"/>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69" name="TextBox 168"/>
          <p:cNvSpPr txBox="1"/>
          <p:nvPr/>
        </p:nvSpPr>
        <p:spPr>
          <a:xfrm>
            <a:off x="9717024" y="1755648"/>
            <a:ext cx="4392168" cy="402336"/>
          </a:xfrm>
          <a:prstGeom prst="rect">
            <a:avLst/>
          </a:prstGeom>
          <a:noFill/>
        </p:spPr>
        <p:txBody>
          <a:bodyPr wrap="square" tIns="36576" bIns="36576" anchor="t">
            <a:spAutoFit/>
          </a:bodyPr>
          <a:lstStyle/>
          <a:p>
            <a:pPr>
              <a:lnSpc>
                <a:spcPts val="2268"/>
              </a:lnSpc>
              <a:spcBef>
                <a:spcPts val="0"/>
              </a:spcBef>
              <a:spcAft>
                <a:spcPts val="0"/>
              </a:spcAft>
              <a:defRPr sz="2100" b="1">
                <a:solidFill>
                  <a:srgbClr val="182B3A"/>
                </a:solidFill>
                <a:latin typeface="Arial"/>
              </a:defRPr>
            </a:pPr>
            <a:r>
              <a:t>1.  234 × 56</a:t>
            </a:r>
          </a:p>
        </p:txBody>
      </p:sp>
      <p:sp>
        <p:nvSpPr>
          <p:cNvPr id="170" name="TextBox 169"/>
          <p:cNvSpPr txBox="1"/>
          <p:nvPr/>
        </p:nvSpPr>
        <p:spPr>
          <a:xfrm>
            <a:off x="10091928" y="2121408"/>
            <a:ext cx="429768" cy="265176"/>
          </a:xfrm>
          <a:prstGeom prst="rect">
            <a:avLst/>
          </a:prstGeom>
          <a:noFill/>
        </p:spPr>
        <p:txBody>
          <a:bodyPr wrap="none" lIns="0" rIns="0" tIns="0" bIns="0">
            <a:spAutoFit/>
          </a:bodyPr>
          <a:lstStyle/>
          <a:p>
            <a:pPr algn="ctr">
              <a:lnSpc>
                <a:spcPts val="2240"/>
              </a:lnSpc>
              <a:spcBef>
                <a:spcPts val="0"/>
              </a:spcBef>
              <a:spcAft>
                <a:spcPts val="0"/>
              </a:spcAft>
              <a:defRPr sz="2000" b="0">
                <a:solidFill>
                  <a:srgbClr val="182B3A"/>
                </a:solidFill>
                <a:latin typeface="Arial"/>
              </a:defRPr>
            </a:pPr>
            <a:r>
              <a:t>2</a:t>
            </a:r>
          </a:p>
        </p:txBody>
      </p:sp>
      <p:sp>
        <p:nvSpPr>
          <p:cNvPr id="171" name="TextBox 170"/>
          <p:cNvSpPr txBox="1"/>
          <p:nvPr/>
        </p:nvSpPr>
        <p:spPr>
          <a:xfrm>
            <a:off x="10521696" y="2121408"/>
            <a:ext cx="429768" cy="265176"/>
          </a:xfrm>
          <a:prstGeom prst="rect">
            <a:avLst/>
          </a:prstGeom>
          <a:noFill/>
        </p:spPr>
        <p:txBody>
          <a:bodyPr wrap="none" lIns="0" rIns="0" tIns="0" bIns="0">
            <a:spAutoFit/>
          </a:bodyPr>
          <a:lstStyle/>
          <a:p>
            <a:pPr algn="ctr">
              <a:lnSpc>
                <a:spcPts val="2240"/>
              </a:lnSpc>
              <a:spcBef>
                <a:spcPts val="0"/>
              </a:spcBef>
              <a:spcAft>
                <a:spcPts val="0"/>
              </a:spcAft>
              <a:defRPr sz="2000" b="0">
                <a:solidFill>
                  <a:srgbClr val="182B3A"/>
                </a:solidFill>
                <a:latin typeface="Arial"/>
              </a:defRPr>
            </a:pPr>
            <a:r>
              <a:t>3</a:t>
            </a:r>
          </a:p>
        </p:txBody>
      </p:sp>
      <p:sp>
        <p:nvSpPr>
          <p:cNvPr id="172" name="TextBox 171"/>
          <p:cNvSpPr txBox="1"/>
          <p:nvPr/>
        </p:nvSpPr>
        <p:spPr>
          <a:xfrm>
            <a:off x="10951464" y="2121408"/>
            <a:ext cx="429768" cy="265176"/>
          </a:xfrm>
          <a:prstGeom prst="rect">
            <a:avLst/>
          </a:prstGeom>
          <a:noFill/>
        </p:spPr>
        <p:txBody>
          <a:bodyPr wrap="none" lIns="0" rIns="0" tIns="0" bIns="0">
            <a:spAutoFit/>
          </a:bodyPr>
          <a:lstStyle/>
          <a:p>
            <a:pPr algn="ctr">
              <a:lnSpc>
                <a:spcPts val="2240"/>
              </a:lnSpc>
              <a:spcBef>
                <a:spcPts val="0"/>
              </a:spcBef>
              <a:spcAft>
                <a:spcPts val="0"/>
              </a:spcAft>
              <a:defRPr sz="2000" b="0">
                <a:solidFill>
                  <a:srgbClr val="182B3A"/>
                </a:solidFill>
                <a:latin typeface="Arial"/>
              </a:defRPr>
            </a:pPr>
            <a:r>
              <a:t>4</a:t>
            </a:r>
          </a:p>
        </p:txBody>
      </p:sp>
      <p:sp>
        <p:nvSpPr>
          <p:cNvPr id="173" name="TextBox 172"/>
          <p:cNvSpPr txBox="1"/>
          <p:nvPr/>
        </p:nvSpPr>
        <p:spPr>
          <a:xfrm>
            <a:off x="11445240" y="2496312"/>
            <a:ext cx="274320" cy="265176"/>
          </a:xfrm>
          <a:prstGeom prst="rect">
            <a:avLst/>
          </a:prstGeom>
          <a:noFill/>
        </p:spPr>
        <p:txBody>
          <a:bodyPr wrap="none" lIns="0" rIns="0" tIns="0" bIns="0">
            <a:spAutoFit/>
          </a:bodyPr>
          <a:lstStyle/>
          <a:p>
            <a:pPr algn="ctr">
              <a:lnSpc>
                <a:spcPts val="2240"/>
              </a:lnSpc>
              <a:spcBef>
                <a:spcPts val="0"/>
              </a:spcBef>
              <a:spcAft>
                <a:spcPts val="0"/>
              </a:spcAft>
              <a:defRPr sz="2000" b="0">
                <a:solidFill>
                  <a:srgbClr val="182B3A"/>
                </a:solidFill>
                <a:latin typeface="Arial"/>
              </a:defRPr>
            </a:pPr>
            <a:r>
              <a:t>5</a:t>
            </a:r>
          </a:p>
        </p:txBody>
      </p:sp>
      <p:sp>
        <p:nvSpPr>
          <p:cNvPr id="174" name="TextBox 173"/>
          <p:cNvSpPr txBox="1"/>
          <p:nvPr/>
        </p:nvSpPr>
        <p:spPr>
          <a:xfrm>
            <a:off x="11445240" y="2926079"/>
            <a:ext cx="274320" cy="265176"/>
          </a:xfrm>
          <a:prstGeom prst="rect">
            <a:avLst/>
          </a:prstGeom>
          <a:noFill/>
        </p:spPr>
        <p:txBody>
          <a:bodyPr wrap="none" lIns="0" rIns="0" tIns="0" bIns="0">
            <a:spAutoFit/>
          </a:bodyPr>
          <a:lstStyle/>
          <a:p>
            <a:pPr algn="ctr">
              <a:lnSpc>
                <a:spcPts val="2240"/>
              </a:lnSpc>
              <a:spcBef>
                <a:spcPts val="0"/>
              </a:spcBef>
              <a:spcAft>
                <a:spcPts val="0"/>
              </a:spcAft>
              <a:defRPr sz="2000" b="0">
                <a:solidFill>
                  <a:srgbClr val="182B3A"/>
                </a:solidFill>
                <a:latin typeface="Arial"/>
              </a:defRPr>
            </a:pPr>
            <a:r>
              <a:t>6</a:t>
            </a:r>
          </a:p>
        </p:txBody>
      </p:sp>
      <p:cxnSp>
        <p:nvCxnSpPr>
          <p:cNvPr id="175" name="Connector 174"/>
          <p:cNvCxnSpPr/>
          <p:nvPr/>
        </p:nvCxnSpPr>
        <p:spPr>
          <a:xfrm flipV="1">
            <a:off x="10091928" y="2386584"/>
            <a:ext cx="429768" cy="429768"/>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sp>
        <p:nvSpPr>
          <p:cNvPr id="176" name="TextBox 175"/>
          <p:cNvSpPr txBox="1"/>
          <p:nvPr/>
        </p:nvSpPr>
        <p:spPr>
          <a:xfrm>
            <a:off x="10105644" y="2400300"/>
            <a:ext cx="201168" cy="201168"/>
          </a:xfrm>
          <a:prstGeom prst="rect">
            <a:avLst/>
          </a:prstGeom>
          <a:noFill/>
        </p:spPr>
        <p:txBody>
          <a:bodyPr wrap="none" lIns="0" rIns="0" tIns="0" bIns="0">
            <a:spAutoFit/>
          </a:bodyPr>
          <a:lstStyle/>
          <a:p>
            <a:pPr algn="ctr">
              <a:lnSpc>
                <a:spcPts val="1792"/>
              </a:lnSpc>
              <a:spcBef>
                <a:spcPts val="0"/>
              </a:spcBef>
              <a:spcAft>
                <a:spcPts val="0"/>
              </a:spcAft>
              <a:defRPr sz="1600" b="0">
                <a:solidFill>
                  <a:srgbClr val="182B3A"/>
                </a:solidFill>
                <a:latin typeface="Arial"/>
              </a:defRPr>
            </a:pPr>
            <a:r>
              <a:t>1</a:t>
            </a:r>
          </a:p>
        </p:txBody>
      </p:sp>
      <p:sp>
        <p:nvSpPr>
          <p:cNvPr id="177" name="TextBox 176"/>
          <p:cNvSpPr txBox="1"/>
          <p:nvPr/>
        </p:nvSpPr>
        <p:spPr>
          <a:xfrm>
            <a:off x="10315956" y="2610612"/>
            <a:ext cx="201168" cy="201168"/>
          </a:xfrm>
          <a:prstGeom prst="rect">
            <a:avLst/>
          </a:prstGeom>
          <a:noFill/>
        </p:spPr>
        <p:txBody>
          <a:bodyPr wrap="none" lIns="0" rIns="0" tIns="0" bIns="0">
            <a:spAutoFit/>
          </a:bodyPr>
          <a:lstStyle/>
          <a:p>
            <a:pPr algn="ctr">
              <a:lnSpc>
                <a:spcPts val="1792"/>
              </a:lnSpc>
              <a:spcBef>
                <a:spcPts val="0"/>
              </a:spcBef>
              <a:spcAft>
                <a:spcPts val="0"/>
              </a:spcAft>
              <a:defRPr sz="1600" b="0">
                <a:solidFill>
                  <a:srgbClr val="182B3A"/>
                </a:solidFill>
                <a:latin typeface="Arial"/>
              </a:defRPr>
            </a:pPr>
            <a:r>
              <a:t>0</a:t>
            </a:r>
          </a:p>
        </p:txBody>
      </p:sp>
      <p:cxnSp>
        <p:nvCxnSpPr>
          <p:cNvPr id="178" name="Connector 177"/>
          <p:cNvCxnSpPr/>
          <p:nvPr/>
        </p:nvCxnSpPr>
        <p:spPr>
          <a:xfrm flipV="1">
            <a:off x="10521696" y="2386584"/>
            <a:ext cx="429768" cy="429768"/>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sp>
        <p:nvSpPr>
          <p:cNvPr id="179" name="TextBox 178"/>
          <p:cNvSpPr txBox="1"/>
          <p:nvPr/>
        </p:nvSpPr>
        <p:spPr>
          <a:xfrm>
            <a:off x="10535412" y="2400300"/>
            <a:ext cx="201168" cy="201168"/>
          </a:xfrm>
          <a:prstGeom prst="rect">
            <a:avLst/>
          </a:prstGeom>
          <a:noFill/>
        </p:spPr>
        <p:txBody>
          <a:bodyPr wrap="none" lIns="0" rIns="0" tIns="0" bIns="0">
            <a:spAutoFit/>
          </a:bodyPr>
          <a:lstStyle/>
          <a:p>
            <a:pPr algn="ctr">
              <a:lnSpc>
                <a:spcPts val="1792"/>
              </a:lnSpc>
              <a:spcBef>
                <a:spcPts val="0"/>
              </a:spcBef>
              <a:spcAft>
                <a:spcPts val="0"/>
              </a:spcAft>
              <a:defRPr sz="1600" b="0">
                <a:solidFill>
                  <a:srgbClr val="182B3A"/>
                </a:solidFill>
                <a:latin typeface="Arial"/>
              </a:defRPr>
            </a:pPr>
            <a:r>
              <a:t>1</a:t>
            </a:r>
          </a:p>
        </p:txBody>
      </p:sp>
      <p:sp>
        <p:nvSpPr>
          <p:cNvPr id="180" name="TextBox 179"/>
          <p:cNvSpPr txBox="1"/>
          <p:nvPr/>
        </p:nvSpPr>
        <p:spPr>
          <a:xfrm>
            <a:off x="10745724" y="2610612"/>
            <a:ext cx="201168" cy="201168"/>
          </a:xfrm>
          <a:prstGeom prst="rect">
            <a:avLst/>
          </a:prstGeom>
          <a:noFill/>
        </p:spPr>
        <p:txBody>
          <a:bodyPr wrap="none" lIns="0" rIns="0" tIns="0" bIns="0">
            <a:spAutoFit/>
          </a:bodyPr>
          <a:lstStyle/>
          <a:p>
            <a:pPr algn="ctr">
              <a:lnSpc>
                <a:spcPts val="1792"/>
              </a:lnSpc>
              <a:spcBef>
                <a:spcPts val="0"/>
              </a:spcBef>
              <a:spcAft>
                <a:spcPts val="0"/>
              </a:spcAft>
              <a:defRPr sz="1600" b="0">
                <a:solidFill>
                  <a:srgbClr val="182B3A"/>
                </a:solidFill>
                <a:latin typeface="Arial"/>
              </a:defRPr>
            </a:pPr>
            <a:r>
              <a:t>5</a:t>
            </a:r>
          </a:p>
        </p:txBody>
      </p:sp>
      <p:cxnSp>
        <p:nvCxnSpPr>
          <p:cNvPr id="181" name="Connector 180"/>
          <p:cNvCxnSpPr/>
          <p:nvPr/>
        </p:nvCxnSpPr>
        <p:spPr>
          <a:xfrm flipV="1">
            <a:off x="10951464" y="2386584"/>
            <a:ext cx="429768" cy="429768"/>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sp>
        <p:nvSpPr>
          <p:cNvPr id="182" name="TextBox 181"/>
          <p:cNvSpPr txBox="1"/>
          <p:nvPr/>
        </p:nvSpPr>
        <p:spPr>
          <a:xfrm>
            <a:off x="10965180" y="2400300"/>
            <a:ext cx="201168" cy="201168"/>
          </a:xfrm>
          <a:prstGeom prst="rect">
            <a:avLst/>
          </a:prstGeom>
          <a:noFill/>
        </p:spPr>
        <p:txBody>
          <a:bodyPr wrap="none" lIns="0" rIns="0" tIns="0" bIns="0">
            <a:spAutoFit/>
          </a:bodyPr>
          <a:lstStyle/>
          <a:p>
            <a:pPr algn="ctr">
              <a:lnSpc>
                <a:spcPts val="1792"/>
              </a:lnSpc>
              <a:spcBef>
                <a:spcPts val="0"/>
              </a:spcBef>
              <a:spcAft>
                <a:spcPts val="0"/>
              </a:spcAft>
              <a:defRPr sz="1600" b="0">
                <a:solidFill>
                  <a:srgbClr val="182B3A"/>
                </a:solidFill>
                <a:latin typeface="Arial"/>
              </a:defRPr>
            </a:pPr>
            <a:r>
              <a:t>2</a:t>
            </a:r>
          </a:p>
        </p:txBody>
      </p:sp>
      <p:sp>
        <p:nvSpPr>
          <p:cNvPr id="183" name="TextBox 182"/>
          <p:cNvSpPr txBox="1"/>
          <p:nvPr/>
        </p:nvSpPr>
        <p:spPr>
          <a:xfrm>
            <a:off x="11175492" y="2610612"/>
            <a:ext cx="201168" cy="201168"/>
          </a:xfrm>
          <a:prstGeom prst="rect">
            <a:avLst/>
          </a:prstGeom>
          <a:noFill/>
        </p:spPr>
        <p:txBody>
          <a:bodyPr wrap="none" lIns="0" rIns="0" tIns="0" bIns="0">
            <a:spAutoFit/>
          </a:bodyPr>
          <a:lstStyle/>
          <a:p>
            <a:pPr algn="ctr">
              <a:lnSpc>
                <a:spcPts val="1792"/>
              </a:lnSpc>
              <a:spcBef>
                <a:spcPts val="0"/>
              </a:spcBef>
              <a:spcAft>
                <a:spcPts val="0"/>
              </a:spcAft>
              <a:defRPr sz="1600" b="0">
                <a:solidFill>
                  <a:srgbClr val="182B3A"/>
                </a:solidFill>
                <a:latin typeface="Arial"/>
              </a:defRPr>
            </a:pPr>
            <a:r>
              <a:t>0</a:t>
            </a:r>
          </a:p>
        </p:txBody>
      </p:sp>
      <p:cxnSp>
        <p:nvCxnSpPr>
          <p:cNvPr id="184" name="Connector 183"/>
          <p:cNvCxnSpPr/>
          <p:nvPr/>
        </p:nvCxnSpPr>
        <p:spPr>
          <a:xfrm flipV="1">
            <a:off x="10091928" y="2816352"/>
            <a:ext cx="429768" cy="429768"/>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sp>
        <p:nvSpPr>
          <p:cNvPr id="185" name="TextBox 184"/>
          <p:cNvSpPr txBox="1"/>
          <p:nvPr/>
        </p:nvSpPr>
        <p:spPr>
          <a:xfrm>
            <a:off x="10105644" y="2830068"/>
            <a:ext cx="201168" cy="201168"/>
          </a:xfrm>
          <a:prstGeom prst="rect">
            <a:avLst/>
          </a:prstGeom>
          <a:noFill/>
        </p:spPr>
        <p:txBody>
          <a:bodyPr wrap="none" lIns="0" rIns="0" tIns="0" bIns="0">
            <a:spAutoFit/>
          </a:bodyPr>
          <a:lstStyle/>
          <a:p>
            <a:pPr algn="ctr">
              <a:lnSpc>
                <a:spcPts val="1792"/>
              </a:lnSpc>
              <a:spcBef>
                <a:spcPts val="0"/>
              </a:spcBef>
              <a:spcAft>
                <a:spcPts val="0"/>
              </a:spcAft>
              <a:defRPr sz="1600" b="0">
                <a:solidFill>
                  <a:srgbClr val="182B3A"/>
                </a:solidFill>
                <a:latin typeface="Arial"/>
              </a:defRPr>
            </a:pPr>
            <a:r>
              <a:t>1</a:t>
            </a:r>
          </a:p>
        </p:txBody>
      </p:sp>
      <p:sp>
        <p:nvSpPr>
          <p:cNvPr id="186" name="TextBox 185"/>
          <p:cNvSpPr txBox="1"/>
          <p:nvPr/>
        </p:nvSpPr>
        <p:spPr>
          <a:xfrm>
            <a:off x="10315956" y="3040379"/>
            <a:ext cx="201168" cy="201168"/>
          </a:xfrm>
          <a:prstGeom prst="rect">
            <a:avLst/>
          </a:prstGeom>
          <a:noFill/>
        </p:spPr>
        <p:txBody>
          <a:bodyPr wrap="none" lIns="0" rIns="0" tIns="0" bIns="0">
            <a:spAutoFit/>
          </a:bodyPr>
          <a:lstStyle/>
          <a:p>
            <a:pPr algn="ctr">
              <a:lnSpc>
                <a:spcPts val="1792"/>
              </a:lnSpc>
              <a:spcBef>
                <a:spcPts val="0"/>
              </a:spcBef>
              <a:spcAft>
                <a:spcPts val="0"/>
              </a:spcAft>
              <a:defRPr sz="1600" b="0">
                <a:solidFill>
                  <a:srgbClr val="182B3A"/>
                </a:solidFill>
                <a:latin typeface="Arial"/>
              </a:defRPr>
            </a:pPr>
            <a:r>
              <a:t>2</a:t>
            </a:r>
          </a:p>
        </p:txBody>
      </p:sp>
      <p:cxnSp>
        <p:nvCxnSpPr>
          <p:cNvPr id="187" name="Connector 186"/>
          <p:cNvCxnSpPr/>
          <p:nvPr/>
        </p:nvCxnSpPr>
        <p:spPr>
          <a:xfrm flipV="1">
            <a:off x="10521696" y="2816352"/>
            <a:ext cx="429768" cy="429768"/>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sp>
        <p:nvSpPr>
          <p:cNvPr id="188" name="TextBox 187"/>
          <p:cNvSpPr txBox="1"/>
          <p:nvPr/>
        </p:nvSpPr>
        <p:spPr>
          <a:xfrm>
            <a:off x="10535412" y="2830068"/>
            <a:ext cx="201168" cy="201168"/>
          </a:xfrm>
          <a:prstGeom prst="rect">
            <a:avLst/>
          </a:prstGeom>
          <a:noFill/>
        </p:spPr>
        <p:txBody>
          <a:bodyPr wrap="none" lIns="0" rIns="0" tIns="0" bIns="0">
            <a:spAutoFit/>
          </a:bodyPr>
          <a:lstStyle/>
          <a:p>
            <a:pPr algn="ctr">
              <a:lnSpc>
                <a:spcPts val="1792"/>
              </a:lnSpc>
              <a:spcBef>
                <a:spcPts val="0"/>
              </a:spcBef>
              <a:spcAft>
                <a:spcPts val="0"/>
              </a:spcAft>
              <a:defRPr sz="1600" b="0">
                <a:solidFill>
                  <a:srgbClr val="182B3A"/>
                </a:solidFill>
                <a:latin typeface="Arial"/>
              </a:defRPr>
            </a:pPr>
            <a:r>
              <a:t>1</a:t>
            </a:r>
          </a:p>
        </p:txBody>
      </p:sp>
      <p:sp>
        <p:nvSpPr>
          <p:cNvPr id="189" name="TextBox 188"/>
          <p:cNvSpPr txBox="1"/>
          <p:nvPr/>
        </p:nvSpPr>
        <p:spPr>
          <a:xfrm>
            <a:off x="10745724" y="3040379"/>
            <a:ext cx="201168" cy="201168"/>
          </a:xfrm>
          <a:prstGeom prst="rect">
            <a:avLst/>
          </a:prstGeom>
          <a:noFill/>
        </p:spPr>
        <p:txBody>
          <a:bodyPr wrap="none" lIns="0" rIns="0" tIns="0" bIns="0">
            <a:spAutoFit/>
          </a:bodyPr>
          <a:lstStyle/>
          <a:p>
            <a:pPr algn="ctr">
              <a:lnSpc>
                <a:spcPts val="1792"/>
              </a:lnSpc>
              <a:spcBef>
                <a:spcPts val="0"/>
              </a:spcBef>
              <a:spcAft>
                <a:spcPts val="0"/>
              </a:spcAft>
              <a:defRPr sz="1600" b="0">
                <a:solidFill>
                  <a:srgbClr val="182B3A"/>
                </a:solidFill>
                <a:latin typeface="Arial"/>
              </a:defRPr>
            </a:pPr>
            <a:r>
              <a:t>8</a:t>
            </a:r>
          </a:p>
        </p:txBody>
      </p:sp>
      <p:cxnSp>
        <p:nvCxnSpPr>
          <p:cNvPr id="190" name="Connector 189"/>
          <p:cNvCxnSpPr/>
          <p:nvPr/>
        </p:nvCxnSpPr>
        <p:spPr>
          <a:xfrm flipV="1">
            <a:off x="10951464" y="2816352"/>
            <a:ext cx="429768" cy="429768"/>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sp>
        <p:nvSpPr>
          <p:cNvPr id="191" name="TextBox 190"/>
          <p:cNvSpPr txBox="1"/>
          <p:nvPr/>
        </p:nvSpPr>
        <p:spPr>
          <a:xfrm>
            <a:off x="10965180" y="2830068"/>
            <a:ext cx="201168" cy="201168"/>
          </a:xfrm>
          <a:prstGeom prst="rect">
            <a:avLst/>
          </a:prstGeom>
          <a:noFill/>
        </p:spPr>
        <p:txBody>
          <a:bodyPr wrap="none" lIns="0" rIns="0" tIns="0" bIns="0">
            <a:spAutoFit/>
          </a:bodyPr>
          <a:lstStyle/>
          <a:p>
            <a:pPr algn="ctr">
              <a:lnSpc>
                <a:spcPts val="1792"/>
              </a:lnSpc>
              <a:spcBef>
                <a:spcPts val="0"/>
              </a:spcBef>
              <a:spcAft>
                <a:spcPts val="0"/>
              </a:spcAft>
              <a:defRPr sz="1600" b="0">
                <a:solidFill>
                  <a:srgbClr val="182B3A"/>
                </a:solidFill>
                <a:latin typeface="Arial"/>
              </a:defRPr>
            </a:pPr>
            <a:r>
              <a:t>2</a:t>
            </a:r>
          </a:p>
        </p:txBody>
      </p:sp>
      <p:sp>
        <p:nvSpPr>
          <p:cNvPr id="192" name="TextBox 191"/>
          <p:cNvSpPr txBox="1"/>
          <p:nvPr/>
        </p:nvSpPr>
        <p:spPr>
          <a:xfrm>
            <a:off x="11175492" y="3040379"/>
            <a:ext cx="201168" cy="201168"/>
          </a:xfrm>
          <a:prstGeom prst="rect">
            <a:avLst/>
          </a:prstGeom>
          <a:noFill/>
        </p:spPr>
        <p:txBody>
          <a:bodyPr wrap="none" lIns="0" rIns="0" tIns="0" bIns="0">
            <a:spAutoFit/>
          </a:bodyPr>
          <a:lstStyle/>
          <a:p>
            <a:pPr algn="ctr">
              <a:lnSpc>
                <a:spcPts val="1792"/>
              </a:lnSpc>
              <a:spcBef>
                <a:spcPts val="0"/>
              </a:spcBef>
              <a:spcAft>
                <a:spcPts val="0"/>
              </a:spcAft>
              <a:defRPr sz="1600" b="0">
                <a:solidFill>
                  <a:srgbClr val="182B3A"/>
                </a:solidFill>
                <a:latin typeface="Arial"/>
              </a:defRPr>
            </a:pPr>
            <a:r>
              <a:t>4</a:t>
            </a:r>
          </a:p>
        </p:txBody>
      </p:sp>
      <p:cxnSp>
        <p:nvCxnSpPr>
          <p:cNvPr id="193" name="Connector 192"/>
          <p:cNvCxnSpPr/>
          <p:nvPr/>
        </p:nvCxnSpPr>
        <p:spPr>
          <a:xfrm>
            <a:off x="10091928" y="2386584"/>
            <a:ext cx="0" cy="859536"/>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cxnSp>
        <p:nvCxnSpPr>
          <p:cNvPr id="194" name="Connector 193"/>
          <p:cNvCxnSpPr/>
          <p:nvPr/>
        </p:nvCxnSpPr>
        <p:spPr>
          <a:xfrm>
            <a:off x="10521696" y="2386584"/>
            <a:ext cx="0" cy="859536"/>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cxnSp>
        <p:nvCxnSpPr>
          <p:cNvPr id="195" name="Connector 194"/>
          <p:cNvCxnSpPr/>
          <p:nvPr/>
        </p:nvCxnSpPr>
        <p:spPr>
          <a:xfrm>
            <a:off x="10951464" y="2386584"/>
            <a:ext cx="0" cy="859536"/>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cxnSp>
        <p:nvCxnSpPr>
          <p:cNvPr id="196" name="Connector 195"/>
          <p:cNvCxnSpPr/>
          <p:nvPr/>
        </p:nvCxnSpPr>
        <p:spPr>
          <a:xfrm>
            <a:off x="11381232" y="2386584"/>
            <a:ext cx="0" cy="859536"/>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cxnSp>
        <p:nvCxnSpPr>
          <p:cNvPr id="197" name="Connector 196"/>
          <p:cNvCxnSpPr/>
          <p:nvPr/>
        </p:nvCxnSpPr>
        <p:spPr>
          <a:xfrm>
            <a:off x="10091928" y="2386584"/>
            <a:ext cx="1289304" cy="0"/>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cxnSp>
        <p:nvCxnSpPr>
          <p:cNvPr id="198" name="Connector 197"/>
          <p:cNvCxnSpPr/>
          <p:nvPr/>
        </p:nvCxnSpPr>
        <p:spPr>
          <a:xfrm>
            <a:off x="10091928" y="2816352"/>
            <a:ext cx="1289304" cy="0"/>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cxnSp>
        <p:nvCxnSpPr>
          <p:cNvPr id="199" name="Connector 198"/>
          <p:cNvCxnSpPr/>
          <p:nvPr/>
        </p:nvCxnSpPr>
        <p:spPr>
          <a:xfrm>
            <a:off x="10091928" y="3246120"/>
            <a:ext cx="1289304" cy="0"/>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sp>
        <p:nvSpPr>
          <p:cNvPr id="200" name="TextBox 199"/>
          <p:cNvSpPr txBox="1"/>
          <p:nvPr/>
        </p:nvSpPr>
        <p:spPr>
          <a:xfrm>
            <a:off x="10951464" y="3328415"/>
            <a:ext cx="274320" cy="274320"/>
          </a:xfrm>
          <a:prstGeom prst="rect">
            <a:avLst/>
          </a:prstGeom>
          <a:noFill/>
        </p:spPr>
        <p:txBody>
          <a:bodyPr wrap="none" lIns="0" rIns="0" tIns="0" bIns="0">
            <a:spAutoFit/>
          </a:bodyPr>
          <a:lstStyle/>
          <a:p>
            <a:pPr algn="ctr">
              <a:lnSpc>
                <a:spcPts val="2352"/>
              </a:lnSpc>
              <a:spcBef>
                <a:spcPts val="0"/>
              </a:spcBef>
              <a:spcAft>
                <a:spcPts val="0"/>
              </a:spcAft>
              <a:defRPr sz="2100" b="0">
                <a:solidFill>
                  <a:srgbClr val="182B3A"/>
                </a:solidFill>
                <a:latin typeface="Arial"/>
              </a:defRPr>
            </a:pPr>
            <a:r>
              <a:t>6</a:t>
            </a:r>
          </a:p>
        </p:txBody>
      </p:sp>
      <p:sp>
        <p:nvSpPr>
          <p:cNvPr id="201" name="TextBox 200"/>
          <p:cNvSpPr txBox="1"/>
          <p:nvPr/>
        </p:nvSpPr>
        <p:spPr>
          <a:xfrm>
            <a:off x="10521696" y="3328415"/>
            <a:ext cx="274320" cy="274320"/>
          </a:xfrm>
          <a:prstGeom prst="rect">
            <a:avLst/>
          </a:prstGeom>
          <a:noFill/>
        </p:spPr>
        <p:txBody>
          <a:bodyPr wrap="none" lIns="0" rIns="0" tIns="0" bIns="0">
            <a:spAutoFit/>
          </a:bodyPr>
          <a:lstStyle/>
          <a:p>
            <a:pPr algn="ctr">
              <a:lnSpc>
                <a:spcPts val="2352"/>
              </a:lnSpc>
              <a:spcBef>
                <a:spcPts val="0"/>
              </a:spcBef>
              <a:spcAft>
                <a:spcPts val="0"/>
              </a:spcAft>
              <a:defRPr sz="2100" b="0">
                <a:solidFill>
                  <a:srgbClr val="182B3A"/>
                </a:solidFill>
                <a:latin typeface="Arial"/>
              </a:defRPr>
            </a:pPr>
            <a:r>
              <a:t>8</a:t>
            </a:r>
          </a:p>
        </p:txBody>
      </p:sp>
      <p:sp>
        <p:nvSpPr>
          <p:cNvPr id="202" name="TextBox 201"/>
          <p:cNvSpPr txBox="1"/>
          <p:nvPr/>
        </p:nvSpPr>
        <p:spPr>
          <a:xfrm>
            <a:off x="10091928" y="3328415"/>
            <a:ext cx="274320" cy="274320"/>
          </a:xfrm>
          <a:prstGeom prst="rect">
            <a:avLst/>
          </a:prstGeom>
          <a:noFill/>
        </p:spPr>
        <p:txBody>
          <a:bodyPr wrap="none" lIns="0" rIns="0" tIns="0" bIns="0">
            <a:spAutoFit/>
          </a:bodyPr>
          <a:lstStyle/>
          <a:p>
            <a:pPr algn="ctr">
              <a:lnSpc>
                <a:spcPts val="2352"/>
              </a:lnSpc>
              <a:spcBef>
                <a:spcPts val="0"/>
              </a:spcBef>
              <a:spcAft>
                <a:spcPts val="0"/>
              </a:spcAft>
              <a:defRPr sz="2100" b="0">
                <a:solidFill>
                  <a:srgbClr val="182B3A"/>
                </a:solidFill>
                <a:latin typeface="Arial"/>
              </a:defRPr>
            </a:pPr>
            <a:r>
              <a:t>0</a:t>
            </a:r>
          </a:p>
        </p:txBody>
      </p:sp>
      <p:sp>
        <p:nvSpPr>
          <p:cNvPr id="203" name="TextBox 202"/>
          <p:cNvSpPr txBox="1"/>
          <p:nvPr/>
        </p:nvSpPr>
        <p:spPr>
          <a:xfrm>
            <a:off x="9744456" y="2926079"/>
            <a:ext cx="274320" cy="274320"/>
          </a:xfrm>
          <a:prstGeom prst="rect">
            <a:avLst/>
          </a:prstGeom>
          <a:noFill/>
        </p:spPr>
        <p:txBody>
          <a:bodyPr wrap="none" lIns="0" rIns="0" tIns="0" bIns="0">
            <a:spAutoFit/>
          </a:bodyPr>
          <a:lstStyle/>
          <a:p>
            <a:pPr algn="ctr">
              <a:lnSpc>
                <a:spcPts val="2352"/>
              </a:lnSpc>
              <a:spcBef>
                <a:spcPts val="0"/>
              </a:spcBef>
              <a:spcAft>
                <a:spcPts val="0"/>
              </a:spcAft>
              <a:defRPr sz="2100" b="0">
                <a:solidFill>
                  <a:srgbClr val="182B3A"/>
                </a:solidFill>
                <a:latin typeface="Arial"/>
              </a:defRPr>
            </a:pPr>
            <a:r>
              <a:t>3</a:t>
            </a:r>
          </a:p>
        </p:txBody>
      </p:sp>
      <p:sp>
        <p:nvSpPr>
          <p:cNvPr id="204" name="TextBox 203"/>
          <p:cNvSpPr txBox="1"/>
          <p:nvPr/>
        </p:nvSpPr>
        <p:spPr>
          <a:xfrm>
            <a:off x="9973056" y="2871215"/>
            <a:ext cx="173736" cy="246888"/>
          </a:xfrm>
          <a:prstGeom prst="rect">
            <a:avLst/>
          </a:prstGeom>
          <a:noFill/>
        </p:spPr>
        <p:txBody>
          <a:bodyPr wrap="none" lIns="0" rIns="0" tIns="0" bIns="0">
            <a:spAutoFit/>
          </a:bodyPr>
          <a:lstStyle/>
          <a:p>
            <a:pPr algn="ctr">
              <a:lnSpc>
                <a:spcPts val="1232"/>
              </a:lnSpc>
              <a:spcBef>
                <a:spcPts val="0"/>
              </a:spcBef>
              <a:spcAft>
                <a:spcPts val="0"/>
              </a:spcAft>
              <a:defRPr sz="1100" b="0">
                <a:solidFill>
                  <a:srgbClr val="182B3A"/>
                </a:solidFill>
                <a:latin typeface="Arial"/>
              </a:defRPr>
            </a:pPr>
            <a:r>
              <a:t>1</a:t>
            </a:r>
          </a:p>
        </p:txBody>
      </p:sp>
      <p:sp>
        <p:nvSpPr>
          <p:cNvPr id="205" name="TextBox 204"/>
          <p:cNvSpPr txBox="1"/>
          <p:nvPr/>
        </p:nvSpPr>
        <p:spPr>
          <a:xfrm>
            <a:off x="9744456" y="2496312"/>
            <a:ext cx="274320" cy="274320"/>
          </a:xfrm>
          <a:prstGeom prst="rect">
            <a:avLst/>
          </a:prstGeom>
          <a:noFill/>
        </p:spPr>
        <p:txBody>
          <a:bodyPr wrap="none" lIns="0" rIns="0" tIns="0" bIns="0">
            <a:spAutoFit/>
          </a:bodyPr>
          <a:lstStyle/>
          <a:p>
            <a:pPr algn="ctr">
              <a:lnSpc>
                <a:spcPts val="2352"/>
              </a:lnSpc>
              <a:spcBef>
                <a:spcPts val="0"/>
              </a:spcBef>
              <a:spcAft>
                <a:spcPts val="0"/>
              </a:spcAft>
              <a:defRPr sz="2100" b="0">
                <a:solidFill>
                  <a:srgbClr val="182B3A"/>
                </a:solidFill>
                <a:latin typeface="Arial"/>
              </a:defRPr>
            </a:pPr>
            <a:r>
              <a:t>1</a:t>
            </a:r>
          </a:p>
        </p:txBody>
      </p:sp>
      <p:sp>
        <p:nvSpPr>
          <p:cNvPr id="206" name="TextBox 205"/>
          <p:cNvSpPr txBox="1"/>
          <p:nvPr/>
        </p:nvSpPr>
        <p:spPr>
          <a:xfrm>
            <a:off x="11911584" y="2487168"/>
            <a:ext cx="2057400" cy="365760"/>
          </a:xfrm>
          <a:prstGeom prst="rect">
            <a:avLst/>
          </a:prstGeom>
          <a:noFill/>
        </p:spPr>
        <p:txBody>
          <a:bodyPr wrap="none" lIns="0" rIns="0" tIns="0" bIns="0">
            <a:spAutoFit/>
          </a:bodyPr>
          <a:lstStyle/>
          <a:p>
            <a:pPr algn="l">
              <a:lnSpc>
                <a:spcPts val="2128"/>
              </a:lnSpc>
              <a:spcBef>
                <a:spcPts val="0"/>
              </a:spcBef>
              <a:spcAft>
                <a:spcPts val="0"/>
              </a:spcAft>
              <a:defRPr sz="1900" b="0">
                <a:solidFill>
                  <a:srgbClr val="182B3A"/>
                </a:solidFill>
                <a:latin typeface="Arial"/>
              </a:defRPr>
            </a:pPr>
            <a:r>
              <a:t>Answer</a:t>
            </a:r>
          </a:p>
        </p:txBody>
      </p:sp>
      <p:sp>
        <p:nvSpPr>
          <p:cNvPr id="207" name="TextBox 206"/>
          <p:cNvSpPr txBox="1"/>
          <p:nvPr/>
        </p:nvSpPr>
        <p:spPr>
          <a:xfrm>
            <a:off x="11911584" y="2852928"/>
            <a:ext cx="2057400" cy="384048"/>
          </a:xfrm>
          <a:prstGeom prst="rect">
            <a:avLst/>
          </a:prstGeom>
          <a:noFill/>
        </p:spPr>
        <p:txBody>
          <a:bodyPr wrap="none" lIns="0" rIns="0" tIns="0" bIns="0">
            <a:spAutoFit/>
          </a:bodyPr>
          <a:lstStyle/>
          <a:p>
            <a:pPr algn="l">
              <a:lnSpc>
                <a:spcPts val="2800"/>
              </a:lnSpc>
              <a:spcBef>
                <a:spcPts val="0"/>
              </a:spcBef>
              <a:spcAft>
                <a:spcPts val="0"/>
              </a:spcAft>
              <a:defRPr sz="2500" b="0">
                <a:solidFill>
                  <a:srgbClr val="182B3A"/>
                </a:solidFill>
                <a:latin typeface="Arial"/>
              </a:defRPr>
            </a:pPr>
            <a:r>
              <a:t>13,086</a:t>
            </a:r>
          </a:p>
        </p:txBody>
      </p:sp>
      <p:sp>
        <p:nvSpPr>
          <p:cNvPr id="208" name="Rectangle 207"/>
          <p:cNvSpPr/>
          <p:nvPr/>
        </p:nvSpPr>
        <p:spPr>
          <a:xfrm>
            <a:off x="9625584" y="3721608"/>
            <a:ext cx="4588764" cy="1929384"/>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09" name="TextBox 208"/>
          <p:cNvSpPr txBox="1"/>
          <p:nvPr/>
        </p:nvSpPr>
        <p:spPr>
          <a:xfrm>
            <a:off x="9717024" y="3758184"/>
            <a:ext cx="4392168" cy="402336"/>
          </a:xfrm>
          <a:prstGeom prst="rect">
            <a:avLst/>
          </a:prstGeom>
          <a:noFill/>
        </p:spPr>
        <p:txBody>
          <a:bodyPr wrap="square" tIns="36576" bIns="36576" anchor="t">
            <a:spAutoFit/>
          </a:bodyPr>
          <a:lstStyle/>
          <a:p>
            <a:pPr>
              <a:lnSpc>
                <a:spcPts val="2268"/>
              </a:lnSpc>
              <a:spcBef>
                <a:spcPts val="0"/>
              </a:spcBef>
              <a:spcAft>
                <a:spcPts val="0"/>
              </a:spcAft>
              <a:defRPr sz="2100" b="1">
                <a:solidFill>
                  <a:srgbClr val="182B3A"/>
                </a:solidFill>
                <a:latin typeface="Arial"/>
              </a:defRPr>
            </a:pPr>
            <a:r>
              <a:t>2.  476 × 82</a:t>
            </a:r>
          </a:p>
        </p:txBody>
      </p:sp>
      <p:sp>
        <p:nvSpPr>
          <p:cNvPr id="210" name="TextBox 209"/>
          <p:cNvSpPr txBox="1"/>
          <p:nvPr/>
        </p:nvSpPr>
        <p:spPr>
          <a:xfrm>
            <a:off x="10091928" y="4123944"/>
            <a:ext cx="429768" cy="265176"/>
          </a:xfrm>
          <a:prstGeom prst="rect">
            <a:avLst/>
          </a:prstGeom>
          <a:noFill/>
        </p:spPr>
        <p:txBody>
          <a:bodyPr wrap="none" lIns="0" rIns="0" tIns="0" bIns="0">
            <a:spAutoFit/>
          </a:bodyPr>
          <a:lstStyle/>
          <a:p>
            <a:pPr algn="ctr">
              <a:lnSpc>
                <a:spcPts val="2240"/>
              </a:lnSpc>
              <a:spcBef>
                <a:spcPts val="0"/>
              </a:spcBef>
              <a:spcAft>
                <a:spcPts val="0"/>
              </a:spcAft>
              <a:defRPr sz="2000" b="0">
                <a:solidFill>
                  <a:srgbClr val="182B3A"/>
                </a:solidFill>
                <a:latin typeface="Arial"/>
              </a:defRPr>
            </a:pPr>
            <a:r>
              <a:t>4</a:t>
            </a:r>
          </a:p>
        </p:txBody>
      </p:sp>
      <p:sp>
        <p:nvSpPr>
          <p:cNvPr id="211" name="TextBox 210"/>
          <p:cNvSpPr txBox="1"/>
          <p:nvPr/>
        </p:nvSpPr>
        <p:spPr>
          <a:xfrm>
            <a:off x="10521696" y="4123944"/>
            <a:ext cx="429768" cy="265176"/>
          </a:xfrm>
          <a:prstGeom prst="rect">
            <a:avLst/>
          </a:prstGeom>
          <a:noFill/>
        </p:spPr>
        <p:txBody>
          <a:bodyPr wrap="none" lIns="0" rIns="0" tIns="0" bIns="0">
            <a:spAutoFit/>
          </a:bodyPr>
          <a:lstStyle/>
          <a:p>
            <a:pPr algn="ctr">
              <a:lnSpc>
                <a:spcPts val="2240"/>
              </a:lnSpc>
              <a:spcBef>
                <a:spcPts val="0"/>
              </a:spcBef>
              <a:spcAft>
                <a:spcPts val="0"/>
              </a:spcAft>
              <a:defRPr sz="2000" b="0">
                <a:solidFill>
                  <a:srgbClr val="182B3A"/>
                </a:solidFill>
                <a:latin typeface="Arial"/>
              </a:defRPr>
            </a:pPr>
            <a:r>
              <a:t>7</a:t>
            </a:r>
          </a:p>
        </p:txBody>
      </p:sp>
      <p:sp>
        <p:nvSpPr>
          <p:cNvPr id="212" name="TextBox 211"/>
          <p:cNvSpPr txBox="1"/>
          <p:nvPr/>
        </p:nvSpPr>
        <p:spPr>
          <a:xfrm>
            <a:off x="10951464" y="4123944"/>
            <a:ext cx="429768" cy="265176"/>
          </a:xfrm>
          <a:prstGeom prst="rect">
            <a:avLst/>
          </a:prstGeom>
          <a:noFill/>
        </p:spPr>
        <p:txBody>
          <a:bodyPr wrap="none" lIns="0" rIns="0" tIns="0" bIns="0">
            <a:spAutoFit/>
          </a:bodyPr>
          <a:lstStyle/>
          <a:p>
            <a:pPr algn="ctr">
              <a:lnSpc>
                <a:spcPts val="2240"/>
              </a:lnSpc>
              <a:spcBef>
                <a:spcPts val="0"/>
              </a:spcBef>
              <a:spcAft>
                <a:spcPts val="0"/>
              </a:spcAft>
              <a:defRPr sz="2000" b="0">
                <a:solidFill>
                  <a:srgbClr val="182B3A"/>
                </a:solidFill>
                <a:latin typeface="Arial"/>
              </a:defRPr>
            </a:pPr>
            <a:r>
              <a:t>6</a:t>
            </a:r>
          </a:p>
        </p:txBody>
      </p:sp>
      <p:sp>
        <p:nvSpPr>
          <p:cNvPr id="213" name="TextBox 212"/>
          <p:cNvSpPr txBox="1"/>
          <p:nvPr/>
        </p:nvSpPr>
        <p:spPr>
          <a:xfrm>
            <a:off x="11445240" y="4498848"/>
            <a:ext cx="274320" cy="265176"/>
          </a:xfrm>
          <a:prstGeom prst="rect">
            <a:avLst/>
          </a:prstGeom>
          <a:noFill/>
        </p:spPr>
        <p:txBody>
          <a:bodyPr wrap="none" lIns="0" rIns="0" tIns="0" bIns="0">
            <a:spAutoFit/>
          </a:bodyPr>
          <a:lstStyle/>
          <a:p>
            <a:pPr algn="ctr">
              <a:lnSpc>
                <a:spcPts val="2240"/>
              </a:lnSpc>
              <a:spcBef>
                <a:spcPts val="0"/>
              </a:spcBef>
              <a:spcAft>
                <a:spcPts val="0"/>
              </a:spcAft>
              <a:defRPr sz="2000" b="0">
                <a:solidFill>
                  <a:srgbClr val="182B3A"/>
                </a:solidFill>
                <a:latin typeface="Arial"/>
              </a:defRPr>
            </a:pPr>
            <a:r>
              <a:t>8</a:t>
            </a:r>
          </a:p>
        </p:txBody>
      </p:sp>
      <p:sp>
        <p:nvSpPr>
          <p:cNvPr id="214" name="TextBox 213"/>
          <p:cNvSpPr txBox="1"/>
          <p:nvPr/>
        </p:nvSpPr>
        <p:spPr>
          <a:xfrm>
            <a:off x="11445240" y="4928616"/>
            <a:ext cx="274320" cy="265176"/>
          </a:xfrm>
          <a:prstGeom prst="rect">
            <a:avLst/>
          </a:prstGeom>
          <a:noFill/>
        </p:spPr>
        <p:txBody>
          <a:bodyPr wrap="none" lIns="0" rIns="0" tIns="0" bIns="0">
            <a:spAutoFit/>
          </a:bodyPr>
          <a:lstStyle/>
          <a:p>
            <a:pPr algn="ctr">
              <a:lnSpc>
                <a:spcPts val="2240"/>
              </a:lnSpc>
              <a:spcBef>
                <a:spcPts val="0"/>
              </a:spcBef>
              <a:spcAft>
                <a:spcPts val="0"/>
              </a:spcAft>
              <a:defRPr sz="2000" b="0">
                <a:solidFill>
                  <a:srgbClr val="182B3A"/>
                </a:solidFill>
                <a:latin typeface="Arial"/>
              </a:defRPr>
            </a:pPr>
            <a:r>
              <a:t>2</a:t>
            </a:r>
          </a:p>
        </p:txBody>
      </p:sp>
      <p:cxnSp>
        <p:nvCxnSpPr>
          <p:cNvPr id="215" name="Connector 214"/>
          <p:cNvCxnSpPr/>
          <p:nvPr/>
        </p:nvCxnSpPr>
        <p:spPr>
          <a:xfrm flipV="1">
            <a:off x="10091928" y="4389120"/>
            <a:ext cx="429768" cy="429768"/>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sp>
        <p:nvSpPr>
          <p:cNvPr id="216" name="TextBox 215"/>
          <p:cNvSpPr txBox="1"/>
          <p:nvPr/>
        </p:nvSpPr>
        <p:spPr>
          <a:xfrm>
            <a:off x="10105644" y="4402836"/>
            <a:ext cx="201168" cy="201168"/>
          </a:xfrm>
          <a:prstGeom prst="rect">
            <a:avLst/>
          </a:prstGeom>
          <a:noFill/>
        </p:spPr>
        <p:txBody>
          <a:bodyPr wrap="none" lIns="0" rIns="0" tIns="0" bIns="0">
            <a:spAutoFit/>
          </a:bodyPr>
          <a:lstStyle/>
          <a:p>
            <a:pPr algn="ctr">
              <a:lnSpc>
                <a:spcPts val="1792"/>
              </a:lnSpc>
              <a:spcBef>
                <a:spcPts val="0"/>
              </a:spcBef>
              <a:spcAft>
                <a:spcPts val="0"/>
              </a:spcAft>
              <a:defRPr sz="1600" b="0">
                <a:solidFill>
                  <a:srgbClr val="182B3A"/>
                </a:solidFill>
                <a:latin typeface="Arial"/>
              </a:defRPr>
            </a:pPr>
            <a:r>
              <a:t>3</a:t>
            </a:r>
          </a:p>
        </p:txBody>
      </p:sp>
      <p:sp>
        <p:nvSpPr>
          <p:cNvPr id="217" name="TextBox 216"/>
          <p:cNvSpPr txBox="1"/>
          <p:nvPr/>
        </p:nvSpPr>
        <p:spPr>
          <a:xfrm>
            <a:off x="10315956" y="4613148"/>
            <a:ext cx="201168" cy="201168"/>
          </a:xfrm>
          <a:prstGeom prst="rect">
            <a:avLst/>
          </a:prstGeom>
          <a:noFill/>
        </p:spPr>
        <p:txBody>
          <a:bodyPr wrap="none" lIns="0" rIns="0" tIns="0" bIns="0">
            <a:spAutoFit/>
          </a:bodyPr>
          <a:lstStyle/>
          <a:p>
            <a:pPr algn="ctr">
              <a:lnSpc>
                <a:spcPts val="1792"/>
              </a:lnSpc>
              <a:spcBef>
                <a:spcPts val="0"/>
              </a:spcBef>
              <a:spcAft>
                <a:spcPts val="0"/>
              </a:spcAft>
              <a:defRPr sz="1600" b="0">
                <a:solidFill>
                  <a:srgbClr val="182B3A"/>
                </a:solidFill>
                <a:latin typeface="Arial"/>
              </a:defRPr>
            </a:pPr>
            <a:r>
              <a:t>2</a:t>
            </a:r>
          </a:p>
        </p:txBody>
      </p:sp>
      <p:cxnSp>
        <p:nvCxnSpPr>
          <p:cNvPr id="218" name="Connector 217"/>
          <p:cNvCxnSpPr/>
          <p:nvPr/>
        </p:nvCxnSpPr>
        <p:spPr>
          <a:xfrm flipV="1">
            <a:off x="10521696" y="4389120"/>
            <a:ext cx="429768" cy="429768"/>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sp>
        <p:nvSpPr>
          <p:cNvPr id="219" name="TextBox 218"/>
          <p:cNvSpPr txBox="1"/>
          <p:nvPr/>
        </p:nvSpPr>
        <p:spPr>
          <a:xfrm>
            <a:off x="10535412" y="4402836"/>
            <a:ext cx="201168" cy="201168"/>
          </a:xfrm>
          <a:prstGeom prst="rect">
            <a:avLst/>
          </a:prstGeom>
          <a:noFill/>
        </p:spPr>
        <p:txBody>
          <a:bodyPr wrap="none" lIns="0" rIns="0" tIns="0" bIns="0">
            <a:spAutoFit/>
          </a:bodyPr>
          <a:lstStyle/>
          <a:p>
            <a:pPr algn="ctr">
              <a:lnSpc>
                <a:spcPts val="1792"/>
              </a:lnSpc>
              <a:spcBef>
                <a:spcPts val="0"/>
              </a:spcBef>
              <a:spcAft>
                <a:spcPts val="0"/>
              </a:spcAft>
              <a:defRPr sz="1600" b="0">
                <a:solidFill>
                  <a:srgbClr val="182B3A"/>
                </a:solidFill>
                <a:latin typeface="Arial"/>
              </a:defRPr>
            </a:pPr>
            <a:r>
              <a:t>5</a:t>
            </a:r>
          </a:p>
        </p:txBody>
      </p:sp>
      <p:sp>
        <p:nvSpPr>
          <p:cNvPr id="220" name="TextBox 219"/>
          <p:cNvSpPr txBox="1"/>
          <p:nvPr/>
        </p:nvSpPr>
        <p:spPr>
          <a:xfrm>
            <a:off x="10745724" y="4613148"/>
            <a:ext cx="201168" cy="201168"/>
          </a:xfrm>
          <a:prstGeom prst="rect">
            <a:avLst/>
          </a:prstGeom>
          <a:noFill/>
        </p:spPr>
        <p:txBody>
          <a:bodyPr wrap="none" lIns="0" rIns="0" tIns="0" bIns="0">
            <a:spAutoFit/>
          </a:bodyPr>
          <a:lstStyle/>
          <a:p>
            <a:pPr algn="ctr">
              <a:lnSpc>
                <a:spcPts val="1792"/>
              </a:lnSpc>
              <a:spcBef>
                <a:spcPts val="0"/>
              </a:spcBef>
              <a:spcAft>
                <a:spcPts val="0"/>
              </a:spcAft>
              <a:defRPr sz="1600" b="0">
                <a:solidFill>
                  <a:srgbClr val="182B3A"/>
                </a:solidFill>
                <a:latin typeface="Arial"/>
              </a:defRPr>
            </a:pPr>
            <a:r>
              <a:t>6</a:t>
            </a:r>
          </a:p>
        </p:txBody>
      </p:sp>
      <p:cxnSp>
        <p:nvCxnSpPr>
          <p:cNvPr id="221" name="Connector 220"/>
          <p:cNvCxnSpPr/>
          <p:nvPr/>
        </p:nvCxnSpPr>
        <p:spPr>
          <a:xfrm flipV="1">
            <a:off x="10951464" y="4389120"/>
            <a:ext cx="429768" cy="429768"/>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sp>
        <p:nvSpPr>
          <p:cNvPr id="222" name="TextBox 221"/>
          <p:cNvSpPr txBox="1"/>
          <p:nvPr/>
        </p:nvSpPr>
        <p:spPr>
          <a:xfrm>
            <a:off x="10965180" y="4402836"/>
            <a:ext cx="201168" cy="201168"/>
          </a:xfrm>
          <a:prstGeom prst="rect">
            <a:avLst/>
          </a:prstGeom>
          <a:noFill/>
        </p:spPr>
        <p:txBody>
          <a:bodyPr wrap="none" lIns="0" rIns="0" tIns="0" bIns="0">
            <a:spAutoFit/>
          </a:bodyPr>
          <a:lstStyle/>
          <a:p>
            <a:pPr algn="ctr">
              <a:lnSpc>
                <a:spcPts val="1792"/>
              </a:lnSpc>
              <a:spcBef>
                <a:spcPts val="0"/>
              </a:spcBef>
              <a:spcAft>
                <a:spcPts val="0"/>
              </a:spcAft>
              <a:defRPr sz="1600" b="0">
                <a:solidFill>
                  <a:srgbClr val="182B3A"/>
                </a:solidFill>
                <a:latin typeface="Arial"/>
              </a:defRPr>
            </a:pPr>
            <a:r>
              <a:t>4</a:t>
            </a:r>
          </a:p>
        </p:txBody>
      </p:sp>
      <p:sp>
        <p:nvSpPr>
          <p:cNvPr id="223" name="TextBox 222"/>
          <p:cNvSpPr txBox="1"/>
          <p:nvPr/>
        </p:nvSpPr>
        <p:spPr>
          <a:xfrm>
            <a:off x="11175492" y="4613148"/>
            <a:ext cx="201168" cy="201168"/>
          </a:xfrm>
          <a:prstGeom prst="rect">
            <a:avLst/>
          </a:prstGeom>
          <a:noFill/>
        </p:spPr>
        <p:txBody>
          <a:bodyPr wrap="none" lIns="0" rIns="0" tIns="0" bIns="0">
            <a:spAutoFit/>
          </a:bodyPr>
          <a:lstStyle/>
          <a:p>
            <a:pPr algn="ctr">
              <a:lnSpc>
                <a:spcPts val="1792"/>
              </a:lnSpc>
              <a:spcBef>
                <a:spcPts val="0"/>
              </a:spcBef>
              <a:spcAft>
                <a:spcPts val="0"/>
              </a:spcAft>
              <a:defRPr sz="1600" b="0">
                <a:solidFill>
                  <a:srgbClr val="182B3A"/>
                </a:solidFill>
                <a:latin typeface="Arial"/>
              </a:defRPr>
            </a:pPr>
            <a:r>
              <a:t>8</a:t>
            </a:r>
          </a:p>
        </p:txBody>
      </p:sp>
      <p:cxnSp>
        <p:nvCxnSpPr>
          <p:cNvPr id="224" name="Connector 223"/>
          <p:cNvCxnSpPr/>
          <p:nvPr/>
        </p:nvCxnSpPr>
        <p:spPr>
          <a:xfrm flipV="1">
            <a:off x="10091928" y="4818888"/>
            <a:ext cx="429768" cy="429768"/>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sp>
        <p:nvSpPr>
          <p:cNvPr id="225" name="TextBox 224"/>
          <p:cNvSpPr txBox="1"/>
          <p:nvPr/>
        </p:nvSpPr>
        <p:spPr>
          <a:xfrm>
            <a:off x="10105644" y="4832604"/>
            <a:ext cx="201168" cy="201168"/>
          </a:xfrm>
          <a:prstGeom prst="rect">
            <a:avLst/>
          </a:prstGeom>
          <a:noFill/>
        </p:spPr>
        <p:txBody>
          <a:bodyPr wrap="none" lIns="0" rIns="0" tIns="0" bIns="0">
            <a:spAutoFit/>
          </a:bodyPr>
          <a:lstStyle/>
          <a:p>
            <a:pPr algn="ctr">
              <a:lnSpc>
                <a:spcPts val="1792"/>
              </a:lnSpc>
              <a:spcBef>
                <a:spcPts val="0"/>
              </a:spcBef>
              <a:spcAft>
                <a:spcPts val="0"/>
              </a:spcAft>
              <a:defRPr sz="1600" b="0">
                <a:solidFill>
                  <a:srgbClr val="182B3A"/>
                </a:solidFill>
                <a:latin typeface="Arial"/>
              </a:defRPr>
            </a:pPr>
            <a:r>
              <a:t>0</a:t>
            </a:r>
          </a:p>
        </p:txBody>
      </p:sp>
      <p:sp>
        <p:nvSpPr>
          <p:cNvPr id="226" name="TextBox 225"/>
          <p:cNvSpPr txBox="1"/>
          <p:nvPr/>
        </p:nvSpPr>
        <p:spPr>
          <a:xfrm>
            <a:off x="10315956" y="5042916"/>
            <a:ext cx="201168" cy="201168"/>
          </a:xfrm>
          <a:prstGeom prst="rect">
            <a:avLst/>
          </a:prstGeom>
          <a:noFill/>
        </p:spPr>
        <p:txBody>
          <a:bodyPr wrap="none" lIns="0" rIns="0" tIns="0" bIns="0">
            <a:spAutoFit/>
          </a:bodyPr>
          <a:lstStyle/>
          <a:p>
            <a:pPr algn="ctr">
              <a:lnSpc>
                <a:spcPts val="1792"/>
              </a:lnSpc>
              <a:spcBef>
                <a:spcPts val="0"/>
              </a:spcBef>
              <a:spcAft>
                <a:spcPts val="0"/>
              </a:spcAft>
              <a:defRPr sz="1600" b="0">
                <a:solidFill>
                  <a:srgbClr val="182B3A"/>
                </a:solidFill>
                <a:latin typeface="Arial"/>
              </a:defRPr>
            </a:pPr>
            <a:r>
              <a:t>8</a:t>
            </a:r>
          </a:p>
        </p:txBody>
      </p:sp>
      <p:cxnSp>
        <p:nvCxnSpPr>
          <p:cNvPr id="227" name="Connector 226"/>
          <p:cNvCxnSpPr/>
          <p:nvPr/>
        </p:nvCxnSpPr>
        <p:spPr>
          <a:xfrm flipV="1">
            <a:off x="10521696" y="4818888"/>
            <a:ext cx="429768" cy="429768"/>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sp>
        <p:nvSpPr>
          <p:cNvPr id="228" name="TextBox 227"/>
          <p:cNvSpPr txBox="1"/>
          <p:nvPr/>
        </p:nvSpPr>
        <p:spPr>
          <a:xfrm>
            <a:off x="10535412" y="4832604"/>
            <a:ext cx="201168" cy="201168"/>
          </a:xfrm>
          <a:prstGeom prst="rect">
            <a:avLst/>
          </a:prstGeom>
          <a:noFill/>
        </p:spPr>
        <p:txBody>
          <a:bodyPr wrap="none" lIns="0" rIns="0" tIns="0" bIns="0">
            <a:spAutoFit/>
          </a:bodyPr>
          <a:lstStyle/>
          <a:p>
            <a:pPr algn="ctr">
              <a:lnSpc>
                <a:spcPts val="1792"/>
              </a:lnSpc>
              <a:spcBef>
                <a:spcPts val="0"/>
              </a:spcBef>
              <a:spcAft>
                <a:spcPts val="0"/>
              </a:spcAft>
              <a:defRPr sz="1600" b="0">
                <a:solidFill>
                  <a:srgbClr val="182B3A"/>
                </a:solidFill>
                <a:latin typeface="Arial"/>
              </a:defRPr>
            </a:pPr>
            <a:r>
              <a:t>1</a:t>
            </a:r>
          </a:p>
        </p:txBody>
      </p:sp>
      <p:sp>
        <p:nvSpPr>
          <p:cNvPr id="229" name="TextBox 228"/>
          <p:cNvSpPr txBox="1"/>
          <p:nvPr/>
        </p:nvSpPr>
        <p:spPr>
          <a:xfrm>
            <a:off x="10745724" y="5042916"/>
            <a:ext cx="201168" cy="201168"/>
          </a:xfrm>
          <a:prstGeom prst="rect">
            <a:avLst/>
          </a:prstGeom>
          <a:noFill/>
        </p:spPr>
        <p:txBody>
          <a:bodyPr wrap="none" lIns="0" rIns="0" tIns="0" bIns="0">
            <a:spAutoFit/>
          </a:bodyPr>
          <a:lstStyle/>
          <a:p>
            <a:pPr algn="ctr">
              <a:lnSpc>
                <a:spcPts val="1792"/>
              </a:lnSpc>
              <a:spcBef>
                <a:spcPts val="0"/>
              </a:spcBef>
              <a:spcAft>
                <a:spcPts val="0"/>
              </a:spcAft>
              <a:defRPr sz="1600" b="0">
                <a:solidFill>
                  <a:srgbClr val="182B3A"/>
                </a:solidFill>
                <a:latin typeface="Arial"/>
              </a:defRPr>
            </a:pPr>
            <a:r>
              <a:t>4</a:t>
            </a:r>
          </a:p>
        </p:txBody>
      </p:sp>
      <p:cxnSp>
        <p:nvCxnSpPr>
          <p:cNvPr id="230" name="Connector 229"/>
          <p:cNvCxnSpPr/>
          <p:nvPr/>
        </p:nvCxnSpPr>
        <p:spPr>
          <a:xfrm flipV="1">
            <a:off x="10951464" y="4818888"/>
            <a:ext cx="429768" cy="429768"/>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sp>
        <p:nvSpPr>
          <p:cNvPr id="231" name="TextBox 230"/>
          <p:cNvSpPr txBox="1"/>
          <p:nvPr/>
        </p:nvSpPr>
        <p:spPr>
          <a:xfrm>
            <a:off x="10965180" y="4832604"/>
            <a:ext cx="201168" cy="201168"/>
          </a:xfrm>
          <a:prstGeom prst="rect">
            <a:avLst/>
          </a:prstGeom>
          <a:noFill/>
        </p:spPr>
        <p:txBody>
          <a:bodyPr wrap="none" lIns="0" rIns="0" tIns="0" bIns="0">
            <a:spAutoFit/>
          </a:bodyPr>
          <a:lstStyle/>
          <a:p>
            <a:pPr algn="ctr">
              <a:lnSpc>
                <a:spcPts val="1792"/>
              </a:lnSpc>
              <a:spcBef>
                <a:spcPts val="0"/>
              </a:spcBef>
              <a:spcAft>
                <a:spcPts val="0"/>
              </a:spcAft>
              <a:defRPr sz="1600" b="0">
                <a:solidFill>
                  <a:srgbClr val="182B3A"/>
                </a:solidFill>
                <a:latin typeface="Arial"/>
              </a:defRPr>
            </a:pPr>
            <a:r>
              <a:t>1</a:t>
            </a:r>
          </a:p>
        </p:txBody>
      </p:sp>
      <p:sp>
        <p:nvSpPr>
          <p:cNvPr id="232" name="TextBox 231"/>
          <p:cNvSpPr txBox="1"/>
          <p:nvPr/>
        </p:nvSpPr>
        <p:spPr>
          <a:xfrm>
            <a:off x="11175492" y="5042916"/>
            <a:ext cx="201168" cy="201168"/>
          </a:xfrm>
          <a:prstGeom prst="rect">
            <a:avLst/>
          </a:prstGeom>
          <a:noFill/>
        </p:spPr>
        <p:txBody>
          <a:bodyPr wrap="none" lIns="0" rIns="0" tIns="0" bIns="0">
            <a:spAutoFit/>
          </a:bodyPr>
          <a:lstStyle/>
          <a:p>
            <a:pPr algn="ctr">
              <a:lnSpc>
                <a:spcPts val="1792"/>
              </a:lnSpc>
              <a:spcBef>
                <a:spcPts val="0"/>
              </a:spcBef>
              <a:spcAft>
                <a:spcPts val="0"/>
              </a:spcAft>
              <a:defRPr sz="1600" b="0">
                <a:solidFill>
                  <a:srgbClr val="182B3A"/>
                </a:solidFill>
                <a:latin typeface="Arial"/>
              </a:defRPr>
            </a:pPr>
            <a:r>
              <a:t>2</a:t>
            </a:r>
          </a:p>
        </p:txBody>
      </p:sp>
      <p:cxnSp>
        <p:nvCxnSpPr>
          <p:cNvPr id="233" name="Connector 232"/>
          <p:cNvCxnSpPr/>
          <p:nvPr/>
        </p:nvCxnSpPr>
        <p:spPr>
          <a:xfrm>
            <a:off x="10091928" y="4389120"/>
            <a:ext cx="0" cy="859536"/>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cxnSp>
        <p:nvCxnSpPr>
          <p:cNvPr id="234" name="Connector 233"/>
          <p:cNvCxnSpPr/>
          <p:nvPr/>
        </p:nvCxnSpPr>
        <p:spPr>
          <a:xfrm>
            <a:off x="10521696" y="4389120"/>
            <a:ext cx="0" cy="859536"/>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cxnSp>
        <p:nvCxnSpPr>
          <p:cNvPr id="235" name="Connector 234"/>
          <p:cNvCxnSpPr/>
          <p:nvPr/>
        </p:nvCxnSpPr>
        <p:spPr>
          <a:xfrm>
            <a:off x="10951464" y="4389120"/>
            <a:ext cx="0" cy="859536"/>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cxnSp>
        <p:nvCxnSpPr>
          <p:cNvPr id="236" name="Connector 235"/>
          <p:cNvCxnSpPr/>
          <p:nvPr/>
        </p:nvCxnSpPr>
        <p:spPr>
          <a:xfrm>
            <a:off x="11381232" y="4389120"/>
            <a:ext cx="0" cy="859536"/>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cxnSp>
        <p:nvCxnSpPr>
          <p:cNvPr id="237" name="Connector 236"/>
          <p:cNvCxnSpPr/>
          <p:nvPr/>
        </p:nvCxnSpPr>
        <p:spPr>
          <a:xfrm>
            <a:off x="10091928" y="4389120"/>
            <a:ext cx="1289304" cy="0"/>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cxnSp>
        <p:nvCxnSpPr>
          <p:cNvPr id="238" name="Connector 237"/>
          <p:cNvCxnSpPr/>
          <p:nvPr/>
        </p:nvCxnSpPr>
        <p:spPr>
          <a:xfrm>
            <a:off x="10091928" y="4818888"/>
            <a:ext cx="1289304" cy="0"/>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cxnSp>
        <p:nvCxnSpPr>
          <p:cNvPr id="239" name="Connector 238"/>
          <p:cNvCxnSpPr/>
          <p:nvPr/>
        </p:nvCxnSpPr>
        <p:spPr>
          <a:xfrm>
            <a:off x="10091928" y="5248656"/>
            <a:ext cx="1289304" cy="0"/>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sp>
        <p:nvSpPr>
          <p:cNvPr id="240" name="TextBox 239"/>
          <p:cNvSpPr txBox="1"/>
          <p:nvPr/>
        </p:nvSpPr>
        <p:spPr>
          <a:xfrm>
            <a:off x="10951464" y="5330952"/>
            <a:ext cx="274320" cy="274320"/>
          </a:xfrm>
          <a:prstGeom prst="rect">
            <a:avLst/>
          </a:prstGeom>
          <a:noFill/>
        </p:spPr>
        <p:txBody>
          <a:bodyPr wrap="none" lIns="0" rIns="0" tIns="0" bIns="0">
            <a:spAutoFit/>
          </a:bodyPr>
          <a:lstStyle/>
          <a:p>
            <a:pPr algn="ctr">
              <a:lnSpc>
                <a:spcPts val="2352"/>
              </a:lnSpc>
              <a:spcBef>
                <a:spcPts val="0"/>
              </a:spcBef>
              <a:spcAft>
                <a:spcPts val="0"/>
              </a:spcAft>
              <a:defRPr sz="2100" b="0">
                <a:solidFill>
                  <a:srgbClr val="182B3A"/>
                </a:solidFill>
                <a:latin typeface="Arial"/>
              </a:defRPr>
            </a:pPr>
            <a:r>
              <a:t>2</a:t>
            </a:r>
          </a:p>
        </p:txBody>
      </p:sp>
      <p:sp>
        <p:nvSpPr>
          <p:cNvPr id="241" name="TextBox 240"/>
          <p:cNvSpPr txBox="1"/>
          <p:nvPr/>
        </p:nvSpPr>
        <p:spPr>
          <a:xfrm>
            <a:off x="10521696" y="5330952"/>
            <a:ext cx="274320" cy="274320"/>
          </a:xfrm>
          <a:prstGeom prst="rect">
            <a:avLst/>
          </a:prstGeom>
          <a:noFill/>
        </p:spPr>
        <p:txBody>
          <a:bodyPr wrap="none" lIns="0" rIns="0" tIns="0" bIns="0">
            <a:spAutoFit/>
          </a:bodyPr>
          <a:lstStyle/>
          <a:p>
            <a:pPr algn="ctr">
              <a:lnSpc>
                <a:spcPts val="2352"/>
              </a:lnSpc>
              <a:spcBef>
                <a:spcPts val="0"/>
              </a:spcBef>
              <a:spcAft>
                <a:spcPts val="0"/>
              </a:spcAft>
              <a:defRPr sz="2100" b="0">
                <a:solidFill>
                  <a:srgbClr val="182B3A"/>
                </a:solidFill>
                <a:latin typeface="Arial"/>
              </a:defRPr>
            </a:pPr>
            <a:r>
              <a:t>3</a:t>
            </a:r>
          </a:p>
        </p:txBody>
      </p:sp>
      <p:sp>
        <p:nvSpPr>
          <p:cNvPr id="242" name="TextBox 241"/>
          <p:cNvSpPr txBox="1"/>
          <p:nvPr/>
        </p:nvSpPr>
        <p:spPr>
          <a:xfrm>
            <a:off x="10091928" y="5330952"/>
            <a:ext cx="274320" cy="274320"/>
          </a:xfrm>
          <a:prstGeom prst="rect">
            <a:avLst/>
          </a:prstGeom>
          <a:noFill/>
        </p:spPr>
        <p:txBody>
          <a:bodyPr wrap="none" lIns="0" rIns="0" tIns="0" bIns="0">
            <a:spAutoFit/>
          </a:bodyPr>
          <a:lstStyle/>
          <a:p>
            <a:pPr algn="ctr">
              <a:lnSpc>
                <a:spcPts val="2352"/>
              </a:lnSpc>
              <a:spcBef>
                <a:spcPts val="0"/>
              </a:spcBef>
              <a:spcAft>
                <a:spcPts val="0"/>
              </a:spcAft>
              <a:defRPr sz="2100" b="0">
                <a:solidFill>
                  <a:srgbClr val="182B3A"/>
                </a:solidFill>
                <a:latin typeface="Arial"/>
              </a:defRPr>
            </a:pPr>
            <a:r>
              <a:t>9</a:t>
            </a:r>
          </a:p>
        </p:txBody>
      </p:sp>
      <p:sp>
        <p:nvSpPr>
          <p:cNvPr id="243" name="TextBox 242"/>
          <p:cNvSpPr txBox="1"/>
          <p:nvPr/>
        </p:nvSpPr>
        <p:spPr>
          <a:xfrm>
            <a:off x="9744456" y="4928616"/>
            <a:ext cx="274320" cy="274320"/>
          </a:xfrm>
          <a:prstGeom prst="rect">
            <a:avLst/>
          </a:prstGeom>
          <a:noFill/>
        </p:spPr>
        <p:txBody>
          <a:bodyPr wrap="none" lIns="0" rIns="0" tIns="0" bIns="0">
            <a:spAutoFit/>
          </a:bodyPr>
          <a:lstStyle/>
          <a:p>
            <a:pPr algn="ctr">
              <a:lnSpc>
                <a:spcPts val="2352"/>
              </a:lnSpc>
              <a:spcBef>
                <a:spcPts val="0"/>
              </a:spcBef>
              <a:spcAft>
                <a:spcPts val="0"/>
              </a:spcAft>
              <a:defRPr sz="2100" b="0">
                <a:solidFill>
                  <a:srgbClr val="182B3A"/>
                </a:solidFill>
                <a:latin typeface="Arial"/>
              </a:defRPr>
            </a:pPr>
            <a:r>
              <a:t>8</a:t>
            </a:r>
          </a:p>
        </p:txBody>
      </p:sp>
      <p:sp>
        <p:nvSpPr>
          <p:cNvPr id="244" name="TextBox 243"/>
          <p:cNvSpPr txBox="1"/>
          <p:nvPr/>
        </p:nvSpPr>
        <p:spPr>
          <a:xfrm>
            <a:off x="9973056" y="4873752"/>
            <a:ext cx="173736" cy="246888"/>
          </a:xfrm>
          <a:prstGeom prst="rect">
            <a:avLst/>
          </a:prstGeom>
          <a:noFill/>
        </p:spPr>
        <p:txBody>
          <a:bodyPr wrap="none" lIns="0" rIns="0" tIns="0" bIns="0">
            <a:spAutoFit/>
          </a:bodyPr>
          <a:lstStyle/>
          <a:p>
            <a:pPr algn="ctr">
              <a:lnSpc>
                <a:spcPts val="1232"/>
              </a:lnSpc>
              <a:spcBef>
                <a:spcPts val="0"/>
              </a:spcBef>
              <a:spcAft>
                <a:spcPts val="0"/>
              </a:spcAft>
              <a:defRPr sz="1100" b="0">
                <a:solidFill>
                  <a:srgbClr val="182B3A"/>
                </a:solidFill>
                <a:latin typeface="Arial"/>
              </a:defRPr>
            </a:pPr>
            <a:r>
              <a:t>1</a:t>
            </a:r>
          </a:p>
        </p:txBody>
      </p:sp>
      <p:sp>
        <p:nvSpPr>
          <p:cNvPr id="245" name="TextBox 244"/>
          <p:cNvSpPr txBox="1"/>
          <p:nvPr/>
        </p:nvSpPr>
        <p:spPr>
          <a:xfrm>
            <a:off x="9744456" y="4498848"/>
            <a:ext cx="274320" cy="274320"/>
          </a:xfrm>
          <a:prstGeom prst="rect">
            <a:avLst/>
          </a:prstGeom>
          <a:noFill/>
        </p:spPr>
        <p:txBody>
          <a:bodyPr wrap="none" lIns="0" rIns="0" tIns="0" bIns="0">
            <a:spAutoFit/>
          </a:bodyPr>
          <a:lstStyle/>
          <a:p>
            <a:pPr algn="ctr">
              <a:lnSpc>
                <a:spcPts val="2352"/>
              </a:lnSpc>
              <a:spcBef>
                <a:spcPts val="0"/>
              </a:spcBef>
              <a:spcAft>
                <a:spcPts val="0"/>
              </a:spcAft>
              <a:defRPr sz="2100" b="0">
                <a:solidFill>
                  <a:srgbClr val="182B3A"/>
                </a:solidFill>
                <a:latin typeface="Arial"/>
              </a:defRPr>
            </a:pPr>
            <a:r>
              <a:t>3</a:t>
            </a:r>
          </a:p>
        </p:txBody>
      </p:sp>
      <p:sp>
        <p:nvSpPr>
          <p:cNvPr id="246" name="TextBox 245"/>
          <p:cNvSpPr txBox="1"/>
          <p:nvPr/>
        </p:nvSpPr>
        <p:spPr>
          <a:xfrm>
            <a:off x="11911584" y="4489704"/>
            <a:ext cx="2057400" cy="365760"/>
          </a:xfrm>
          <a:prstGeom prst="rect">
            <a:avLst/>
          </a:prstGeom>
          <a:noFill/>
        </p:spPr>
        <p:txBody>
          <a:bodyPr wrap="none" lIns="0" rIns="0" tIns="0" bIns="0">
            <a:spAutoFit/>
          </a:bodyPr>
          <a:lstStyle/>
          <a:p>
            <a:pPr algn="l">
              <a:lnSpc>
                <a:spcPts val="2128"/>
              </a:lnSpc>
              <a:spcBef>
                <a:spcPts val="0"/>
              </a:spcBef>
              <a:spcAft>
                <a:spcPts val="0"/>
              </a:spcAft>
              <a:defRPr sz="1900" b="0">
                <a:solidFill>
                  <a:srgbClr val="182B3A"/>
                </a:solidFill>
                <a:latin typeface="Arial"/>
              </a:defRPr>
            </a:pPr>
            <a:r>
              <a:t>Answer</a:t>
            </a:r>
          </a:p>
        </p:txBody>
      </p:sp>
      <p:sp>
        <p:nvSpPr>
          <p:cNvPr id="247" name="TextBox 246"/>
          <p:cNvSpPr txBox="1"/>
          <p:nvPr/>
        </p:nvSpPr>
        <p:spPr>
          <a:xfrm>
            <a:off x="11911584" y="4855464"/>
            <a:ext cx="2057400" cy="384048"/>
          </a:xfrm>
          <a:prstGeom prst="rect">
            <a:avLst/>
          </a:prstGeom>
          <a:noFill/>
        </p:spPr>
        <p:txBody>
          <a:bodyPr wrap="none" lIns="0" rIns="0" tIns="0" bIns="0">
            <a:spAutoFit/>
          </a:bodyPr>
          <a:lstStyle/>
          <a:p>
            <a:pPr algn="l">
              <a:lnSpc>
                <a:spcPts val="2800"/>
              </a:lnSpc>
              <a:spcBef>
                <a:spcPts val="0"/>
              </a:spcBef>
              <a:spcAft>
                <a:spcPts val="0"/>
              </a:spcAft>
              <a:defRPr sz="2500" b="0">
                <a:solidFill>
                  <a:srgbClr val="182B3A"/>
                </a:solidFill>
                <a:latin typeface="Arial"/>
              </a:defRPr>
            </a:pPr>
            <a:r>
              <a:t>38,932</a:t>
            </a:r>
          </a:p>
        </p:txBody>
      </p:sp>
      <p:sp>
        <p:nvSpPr>
          <p:cNvPr id="248" name="Rectangle 247"/>
          <p:cNvSpPr/>
          <p:nvPr/>
        </p:nvSpPr>
        <p:spPr>
          <a:xfrm>
            <a:off x="9625584" y="5724144"/>
            <a:ext cx="4588764" cy="1929384"/>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49" name="TextBox 248"/>
          <p:cNvSpPr txBox="1"/>
          <p:nvPr/>
        </p:nvSpPr>
        <p:spPr>
          <a:xfrm>
            <a:off x="9717024" y="5760720"/>
            <a:ext cx="4392168" cy="402336"/>
          </a:xfrm>
          <a:prstGeom prst="rect">
            <a:avLst/>
          </a:prstGeom>
          <a:noFill/>
        </p:spPr>
        <p:txBody>
          <a:bodyPr wrap="square" tIns="36576" bIns="36576" anchor="t">
            <a:spAutoFit/>
          </a:bodyPr>
          <a:lstStyle/>
          <a:p>
            <a:pPr>
              <a:lnSpc>
                <a:spcPts val="2268"/>
              </a:lnSpc>
              <a:spcBef>
                <a:spcPts val="0"/>
              </a:spcBef>
              <a:spcAft>
                <a:spcPts val="0"/>
              </a:spcAft>
              <a:defRPr sz="2100" b="1">
                <a:solidFill>
                  <a:srgbClr val="182B3A"/>
                </a:solidFill>
                <a:latin typeface="Arial"/>
              </a:defRPr>
            </a:pPr>
            <a:r>
              <a:t>3.  638 × 59</a:t>
            </a:r>
          </a:p>
        </p:txBody>
      </p:sp>
      <p:sp>
        <p:nvSpPr>
          <p:cNvPr id="250" name="TextBox 249"/>
          <p:cNvSpPr txBox="1"/>
          <p:nvPr/>
        </p:nvSpPr>
        <p:spPr>
          <a:xfrm>
            <a:off x="10091928" y="6126480"/>
            <a:ext cx="429768" cy="265176"/>
          </a:xfrm>
          <a:prstGeom prst="rect">
            <a:avLst/>
          </a:prstGeom>
          <a:noFill/>
        </p:spPr>
        <p:txBody>
          <a:bodyPr wrap="none" lIns="0" rIns="0" tIns="0" bIns="0">
            <a:spAutoFit/>
          </a:bodyPr>
          <a:lstStyle/>
          <a:p>
            <a:pPr algn="ctr">
              <a:lnSpc>
                <a:spcPts val="2240"/>
              </a:lnSpc>
              <a:spcBef>
                <a:spcPts val="0"/>
              </a:spcBef>
              <a:spcAft>
                <a:spcPts val="0"/>
              </a:spcAft>
              <a:defRPr sz="2000" b="0">
                <a:solidFill>
                  <a:srgbClr val="182B3A"/>
                </a:solidFill>
                <a:latin typeface="Arial"/>
              </a:defRPr>
            </a:pPr>
            <a:r>
              <a:t>6</a:t>
            </a:r>
          </a:p>
        </p:txBody>
      </p:sp>
      <p:sp>
        <p:nvSpPr>
          <p:cNvPr id="251" name="TextBox 250"/>
          <p:cNvSpPr txBox="1"/>
          <p:nvPr/>
        </p:nvSpPr>
        <p:spPr>
          <a:xfrm>
            <a:off x="10521696" y="6126480"/>
            <a:ext cx="429768" cy="265176"/>
          </a:xfrm>
          <a:prstGeom prst="rect">
            <a:avLst/>
          </a:prstGeom>
          <a:noFill/>
        </p:spPr>
        <p:txBody>
          <a:bodyPr wrap="none" lIns="0" rIns="0" tIns="0" bIns="0">
            <a:spAutoFit/>
          </a:bodyPr>
          <a:lstStyle/>
          <a:p>
            <a:pPr algn="ctr">
              <a:lnSpc>
                <a:spcPts val="2240"/>
              </a:lnSpc>
              <a:spcBef>
                <a:spcPts val="0"/>
              </a:spcBef>
              <a:spcAft>
                <a:spcPts val="0"/>
              </a:spcAft>
              <a:defRPr sz="2000" b="0">
                <a:solidFill>
                  <a:srgbClr val="182B3A"/>
                </a:solidFill>
                <a:latin typeface="Arial"/>
              </a:defRPr>
            </a:pPr>
            <a:r>
              <a:t>3</a:t>
            </a:r>
          </a:p>
        </p:txBody>
      </p:sp>
      <p:sp>
        <p:nvSpPr>
          <p:cNvPr id="252" name="TextBox 251"/>
          <p:cNvSpPr txBox="1"/>
          <p:nvPr/>
        </p:nvSpPr>
        <p:spPr>
          <a:xfrm>
            <a:off x="10951464" y="6126480"/>
            <a:ext cx="429768" cy="265176"/>
          </a:xfrm>
          <a:prstGeom prst="rect">
            <a:avLst/>
          </a:prstGeom>
          <a:noFill/>
        </p:spPr>
        <p:txBody>
          <a:bodyPr wrap="none" lIns="0" rIns="0" tIns="0" bIns="0">
            <a:spAutoFit/>
          </a:bodyPr>
          <a:lstStyle/>
          <a:p>
            <a:pPr algn="ctr">
              <a:lnSpc>
                <a:spcPts val="2240"/>
              </a:lnSpc>
              <a:spcBef>
                <a:spcPts val="0"/>
              </a:spcBef>
              <a:spcAft>
                <a:spcPts val="0"/>
              </a:spcAft>
              <a:defRPr sz="2000" b="0">
                <a:solidFill>
                  <a:srgbClr val="182B3A"/>
                </a:solidFill>
                <a:latin typeface="Arial"/>
              </a:defRPr>
            </a:pPr>
            <a:r>
              <a:t>8</a:t>
            </a:r>
          </a:p>
        </p:txBody>
      </p:sp>
      <p:sp>
        <p:nvSpPr>
          <p:cNvPr id="253" name="TextBox 252"/>
          <p:cNvSpPr txBox="1"/>
          <p:nvPr/>
        </p:nvSpPr>
        <p:spPr>
          <a:xfrm>
            <a:off x="11445240" y="6501383"/>
            <a:ext cx="274320" cy="265176"/>
          </a:xfrm>
          <a:prstGeom prst="rect">
            <a:avLst/>
          </a:prstGeom>
          <a:noFill/>
        </p:spPr>
        <p:txBody>
          <a:bodyPr wrap="none" lIns="0" rIns="0" tIns="0" bIns="0">
            <a:spAutoFit/>
          </a:bodyPr>
          <a:lstStyle/>
          <a:p>
            <a:pPr algn="ctr">
              <a:lnSpc>
                <a:spcPts val="2240"/>
              </a:lnSpc>
              <a:spcBef>
                <a:spcPts val="0"/>
              </a:spcBef>
              <a:spcAft>
                <a:spcPts val="0"/>
              </a:spcAft>
              <a:defRPr sz="2000" b="0">
                <a:solidFill>
                  <a:srgbClr val="182B3A"/>
                </a:solidFill>
                <a:latin typeface="Arial"/>
              </a:defRPr>
            </a:pPr>
            <a:r>
              <a:t>5</a:t>
            </a:r>
          </a:p>
        </p:txBody>
      </p:sp>
      <p:sp>
        <p:nvSpPr>
          <p:cNvPr id="254" name="TextBox 253"/>
          <p:cNvSpPr txBox="1"/>
          <p:nvPr/>
        </p:nvSpPr>
        <p:spPr>
          <a:xfrm>
            <a:off x="11445240" y="6931152"/>
            <a:ext cx="274320" cy="265176"/>
          </a:xfrm>
          <a:prstGeom prst="rect">
            <a:avLst/>
          </a:prstGeom>
          <a:noFill/>
        </p:spPr>
        <p:txBody>
          <a:bodyPr wrap="none" lIns="0" rIns="0" tIns="0" bIns="0">
            <a:spAutoFit/>
          </a:bodyPr>
          <a:lstStyle/>
          <a:p>
            <a:pPr algn="ctr">
              <a:lnSpc>
                <a:spcPts val="2240"/>
              </a:lnSpc>
              <a:spcBef>
                <a:spcPts val="0"/>
              </a:spcBef>
              <a:spcAft>
                <a:spcPts val="0"/>
              </a:spcAft>
              <a:defRPr sz="2000" b="0">
                <a:solidFill>
                  <a:srgbClr val="182B3A"/>
                </a:solidFill>
                <a:latin typeface="Arial"/>
              </a:defRPr>
            </a:pPr>
            <a:r>
              <a:t>9</a:t>
            </a:r>
          </a:p>
        </p:txBody>
      </p:sp>
      <p:cxnSp>
        <p:nvCxnSpPr>
          <p:cNvPr id="255" name="Connector 254"/>
          <p:cNvCxnSpPr/>
          <p:nvPr/>
        </p:nvCxnSpPr>
        <p:spPr>
          <a:xfrm flipV="1">
            <a:off x="10091928" y="6391656"/>
            <a:ext cx="429768" cy="429768"/>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sp>
        <p:nvSpPr>
          <p:cNvPr id="256" name="TextBox 255"/>
          <p:cNvSpPr txBox="1"/>
          <p:nvPr/>
        </p:nvSpPr>
        <p:spPr>
          <a:xfrm>
            <a:off x="10105644" y="6405372"/>
            <a:ext cx="201168" cy="201168"/>
          </a:xfrm>
          <a:prstGeom prst="rect">
            <a:avLst/>
          </a:prstGeom>
          <a:noFill/>
        </p:spPr>
        <p:txBody>
          <a:bodyPr wrap="none" lIns="0" rIns="0" tIns="0" bIns="0">
            <a:spAutoFit/>
          </a:bodyPr>
          <a:lstStyle/>
          <a:p>
            <a:pPr algn="ctr">
              <a:lnSpc>
                <a:spcPts val="1792"/>
              </a:lnSpc>
              <a:spcBef>
                <a:spcPts val="0"/>
              </a:spcBef>
              <a:spcAft>
                <a:spcPts val="0"/>
              </a:spcAft>
              <a:defRPr sz="1600" b="0">
                <a:solidFill>
                  <a:srgbClr val="182B3A"/>
                </a:solidFill>
                <a:latin typeface="Arial"/>
              </a:defRPr>
            </a:pPr>
            <a:r>
              <a:t>2</a:t>
            </a:r>
          </a:p>
        </p:txBody>
      </p:sp>
      <p:sp>
        <p:nvSpPr>
          <p:cNvPr id="257" name="TextBox 256"/>
          <p:cNvSpPr txBox="1"/>
          <p:nvPr/>
        </p:nvSpPr>
        <p:spPr>
          <a:xfrm>
            <a:off x="10315956" y="6615683"/>
            <a:ext cx="201168" cy="201168"/>
          </a:xfrm>
          <a:prstGeom prst="rect">
            <a:avLst/>
          </a:prstGeom>
          <a:noFill/>
        </p:spPr>
        <p:txBody>
          <a:bodyPr wrap="none" lIns="0" rIns="0" tIns="0" bIns="0">
            <a:spAutoFit/>
          </a:bodyPr>
          <a:lstStyle/>
          <a:p>
            <a:pPr algn="ctr">
              <a:lnSpc>
                <a:spcPts val="1792"/>
              </a:lnSpc>
              <a:spcBef>
                <a:spcPts val="0"/>
              </a:spcBef>
              <a:spcAft>
                <a:spcPts val="0"/>
              </a:spcAft>
              <a:defRPr sz="1600" b="0">
                <a:solidFill>
                  <a:srgbClr val="182B3A"/>
                </a:solidFill>
                <a:latin typeface="Arial"/>
              </a:defRPr>
            </a:pPr>
            <a:r>
              <a:t>0</a:t>
            </a:r>
          </a:p>
        </p:txBody>
      </p:sp>
      <p:cxnSp>
        <p:nvCxnSpPr>
          <p:cNvPr id="258" name="Connector 257"/>
          <p:cNvCxnSpPr/>
          <p:nvPr/>
        </p:nvCxnSpPr>
        <p:spPr>
          <a:xfrm flipV="1">
            <a:off x="10521696" y="6391656"/>
            <a:ext cx="429768" cy="429768"/>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sp>
        <p:nvSpPr>
          <p:cNvPr id="259" name="TextBox 258"/>
          <p:cNvSpPr txBox="1"/>
          <p:nvPr/>
        </p:nvSpPr>
        <p:spPr>
          <a:xfrm>
            <a:off x="10535412" y="6405372"/>
            <a:ext cx="201168" cy="201168"/>
          </a:xfrm>
          <a:prstGeom prst="rect">
            <a:avLst/>
          </a:prstGeom>
          <a:noFill/>
        </p:spPr>
        <p:txBody>
          <a:bodyPr wrap="none" lIns="0" rIns="0" tIns="0" bIns="0">
            <a:spAutoFit/>
          </a:bodyPr>
          <a:lstStyle/>
          <a:p>
            <a:pPr algn="ctr">
              <a:lnSpc>
                <a:spcPts val="1792"/>
              </a:lnSpc>
              <a:spcBef>
                <a:spcPts val="0"/>
              </a:spcBef>
              <a:spcAft>
                <a:spcPts val="0"/>
              </a:spcAft>
              <a:defRPr sz="1600" b="0">
                <a:solidFill>
                  <a:srgbClr val="182B3A"/>
                </a:solidFill>
                <a:latin typeface="Arial"/>
              </a:defRPr>
            </a:pPr>
            <a:r>
              <a:t>1</a:t>
            </a:r>
          </a:p>
        </p:txBody>
      </p:sp>
      <p:sp>
        <p:nvSpPr>
          <p:cNvPr id="260" name="TextBox 259"/>
          <p:cNvSpPr txBox="1"/>
          <p:nvPr/>
        </p:nvSpPr>
        <p:spPr>
          <a:xfrm>
            <a:off x="10745724" y="6615683"/>
            <a:ext cx="201168" cy="201168"/>
          </a:xfrm>
          <a:prstGeom prst="rect">
            <a:avLst/>
          </a:prstGeom>
          <a:noFill/>
        </p:spPr>
        <p:txBody>
          <a:bodyPr wrap="none" lIns="0" rIns="0" tIns="0" bIns="0">
            <a:spAutoFit/>
          </a:bodyPr>
          <a:lstStyle/>
          <a:p>
            <a:pPr algn="ctr">
              <a:lnSpc>
                <a:spcPts val="1792"/>
              </a:lnSpc>
              <a:spcBef>
                <a:spcPts val="0"/>
              </a:spcBef>
              <a:spcAft>
                <a:spcPts val="0"/>
              </a:spcAft>
              <a:defRPr sz="1600" b="0">
                <a:solidFill>
                  <a:srgbClr val="182B3A"/>
                </a:solidFill>
                <a:latin typeface="Arial"/>
              </a:defRPr>
            </a:pPr>
            <a:r>
              <a:t>5</a:t>
            </a:r>
          </a:p>
        </p:txBody>
      </p:sp>
      <p:cxnSp>
        <p:nvCxnSpPr>
          <p:cNvPr id="261" name="Connector 260"/>
          <p:cNvCxnSpPr/>
          <p:nvPr/>
        </p:nvCxnSpPr>
        <p:spPr>
          <a:xfrm flipV="1">
            <a:off x="10951464" y="6391656"/>
            <a:ext cx="429768" cy="429768"/>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sp>
        <p:nvSpPr>
          <p:cNvPr id="262" name="TextBox 261"/>
          <p:cNvSpPr txBox="1"/>
          <p:nvPr/>
        </p:nvSpPr>
        <p:spPr>
          <a:xfrm>
            <a:off x="10965180" y="6405372"/>
            <a:ext cx="201168" cy="201168"/>
          </a:xfrm>
          <a:prstGeom prst="rect">
            <a:avLst/>
          </a:prstGeom>
          <a:noFill/>
        </p:spPr>
        <p:txBody>
          <a:bodyPr wrap="none" lIns="0" rIns="0" tIns="0" bIns="0">
            <a:spAutoFit/>
          </a:bodyPr>
          <a:lstStyle/>
          <a:p>
            <a:pPr algn="ctr">
              <a:lnSpc>
                <a:spcPts val="1792"/>
              </a:lnSpc>
              <a:spcBef>
                <a:spcPts val="0"/>
              </a:spcBef>
              <a:spcAft>
                <a:spcPts val="0"/>
              </a:spcAft>
              <a:defRPr sz="1600" b="0">
                <a:solidFill>
                  <a:srgbClr val="182B3A"/>
                </a:solidFill>
                <a:latin typeface="Arial"/>
              </a:defRPr>
            </a:pPr>
            <a:r>
              <a:t>4</a:t>
            </a:r>
          </a:p>
        </p:txBody>
      </p:sp>
      <p:sp>
        <p:nvSpPr>
          <p:cNvPr id="263" name="TextBox 262"/>
          <p:cNvSpPr txBox="1"/>
          <p:nvPr/>
        </p:nvSpPr>
        <p:spPr>
          <a:xfrm>
            <a:off x="11175492" y="6615683"/>
            <a:ext cx="201168" cy="201168"/>
          </a:xfrm>
          <a:prstGeom prst="rect">
            <a:avLst/>
          </a:prstGeom>
          <a:noFill/>
        </p:spPr>
        <p:txBody>
          <a:bodyPr wrap="none" lIns="0" rIns="0" tIns="0" bIns="0">
            <a:spAutoFit/>
          </a:bodyPr>
          <a:lstStyle/>
          <a:p>
            <a:pPr algn="ctr">
              <a:lnSpc>
                <a:spcPts val="1792"/>
              </a:lnSpc>
              <a:spcBef>
                <a:spcPts val="0"/>
              </a:spcBef>
              <a:spcAft>
                <a:spcPts val="0"/>
              </a:spcAft>
              <a:defRPr sz="1600" b="0">
                <a:solidFill>
                  <a:srgbClr val="182B3A"/>
                </a:solidFill>
                <a:latin typeface="Arial"/>
              </a:defRPr>
            </a:pPr>
            <a:r>
              <a:t>0</a:t>
            </a:r>
          </a:p>
        </p:txBody>
      </p:sp>
      <p:cxnSp>
        <p:nvCxnSpPr>
          <p:cNvPr id="264" name="Connector 263"/>
          <p:cNvCxnSpPr/>
          <p:nvPr/>
        </p:nvCxnSpPr>
        <p:spPr>
          <a:xfrm flipV="1">
            <a:off x="10091928" y="6821424"/>
            <a:ext cx="429768" cy="429768"/>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sp>
        <p:nvSpPr>
          <p:cNvPr id="265" name="TextBox 264"/>
          <p:cNvSpPr txBox="1"/>
          <p:nvPr/>
        </p:nvSpPr>
        <p:spPr>
          <a:xfrm>
            <a:off x="10105644" y="6835140"/>
            <a:ext cx="201168" cy="201168"/>
          </a:xfrm>
          <a:prstGeom prst="rect">
            <a:avLst/>
          </a:prstGeom>
          <a:noFill/>
        </p:spPr>
        <p:txBody>
          <a:bodyPr wrap="none" lIns="0" rIns="0" tIns="0" bIns="0">
            <a:spAutoFit/>
          </a:bodyPr>
          <a:lstStyle/>
          <a:p>
            <a:pPr algn="ctr">
              <a:lnSpc>
                <a:spcPts val="1792"/>
              </a:lnSpc>
              <a:spcBef>
                <a:spcPts val="0"/>
              </a:spcBef>
              <a:spcAft>
                <a:spcPts val="0"/>
              </a:spcAft>
              <a:defRPr sz="1600" b="0">
                <a:solidFill>
                  <a:srgbClr val="182B3A"/>
                </a:solidFill>
                <a:latin typeface="Arial"/>
              </a:defRPr>
            </a:pPr>
            <a:r>
              <a:t>5</a:t>
            </a:r>
          </a:p>
        </p:txBody>
      </p:sp>
      <p:sp>
        <p:nvSpPr>
          <p:cNvPr id="266" name="TextBox 265"/>
          <p:cNvSpPr txBox="1"/>
          <p:nvPr/>
        </p:nvSpPr>
        <p:spPr>
          <a:xfrm>
            <a:off x="10315956" y="7045452"/>
            <a:ext cx="201168" cy="201168"/>
          </a:xfrm>
          <a:prstGeom prst="rect">
            <a:avLst/>
          </a:prstGeom>
          <a:noFill/>
        </p:spPr>
        <p:txBody>
          <a:bodyPr wrap="none" lIns="0" rIns="0" tIns="0" bIns="0">
            <a:spAutoFit/>
          </a:bodyPr>
          <a:lstStyle/>
          <a:p>
            <a:pPr algn="ctr">
              <a:lnSpc>
                <a:spcPts val="1792"/>
              </a:lnSpc>
              <a:spcBef>
                <a:spcPts val="0"/>
              </a:spcBef>
              <a:spcAft>
                <a:spcPts val="0"/>
              </a:spcAft>
              <a:defRPr sz="1600" b="0">
                <a:solidFill>
                  <a:srgbClr val="182B3A"/>
                </a:solidFill>
                <a:latin typeface="Arial"/>
              </a:defRPr>
            </a:pPr>
            <a:r>
              <a:t>4</a:t>
            </a:r>
          </a:p>
        </p:txBody>
      </p:sp>
      <p:cxnSp>
        <p:nvCxnSpPr>
          <p:cNvPr id="267" name="Connector 266"/>
          <p:cNvCxnSpPr/>
          <p:nvPr/>
        </p:nvCxnSpPr>
        <p:spPr>
          <a:xfrm flipV="1">
            <a:off x="10521696" y="6821424"/>
            <a:ext cx="429768" cy="429768"/>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sp>
        <p:nvSpPr>
          <p:cNvPr id="268" name="TextBox 267"/>
          <p:cNvSpPr txBox="1"/>
          <p:nvPr/>
        </p:nvSpPr>
        <p:spPr>
          <a:xfrm>
            <a:off x="10535412" y="6835140"/>
            <a:ext cx="201168" cy="201168"/>
          </a:xfrm>
          <a:prstGeom prst="rect">
            <a:avLst/>
          </a:prstGeom>
          <a:noFill/>
        </p:spPr>
        <p:txBody>
          <a:bodyPr wrap="none" lIns="0" rIns="0" tIns="0" bIns="0">
            <a:spAutoFit/>
          </a:bodyPr>
          <a:lstStyle/>
          <a:p>
            <a:pPr algn="ctr">
              <a:lnSpc>
                <a:spcPts val="1792"/>
              </a:lnSpc>
              <a:spcBef>
                <a:spcPts val="0"/>
              </a:spcBef>
              <a:spcAft>
                <a:spcPts val="0"/>
              </a:spcAft>
              <a:defRPr sz="1600" b="0">
                <a:solidFill>
                  <a:srgbClr val="182B3A"/>
                </a:solidFill>
                <a:latin typeface="Arial"/>
              </a:defRPr>
            </a:pPr>
            <a:r>
              <a:t>2</a:t>
            </a:r>
          </a:p>
        </p:txBody>
      </p:sp>
      <p:sp>
        <p:nvSpPr>
          <p:cNvPr id="269" name="TextBox 268"/>
          <p:cNvSpPr txBox="1"/>
          <p:nvPr/>
        </p:nvSpPr>
        <p:spPr>
          <a:xfrm>
            <a:off x="10745724" y="7045452"/>
            <a:ext cx="201168" cy="201168"/>
          </a:xfrm>
          <a:prstGeom prst="rect">
            <a:avLst/>
          </a:prstGeom>
          <a:noFill/>
        </p:spPr>
        <p:txBody>
          <a:bodyPr wrap="none" lIns="0" rIns="0" tIns="0" bIns="0">
            <a:spAutoFit/>
          </a:bodyPr>
          <a:lstStyle/>
          <a:p>
            <a:pPr algn="ctr">
              <a:lnSpc>
                <a:spcPts val="1792"/>
              </a:lnSpc>
              <a:spcBef>
                <a:spcPts val="0"/>
              </a:spcBef>
              <a:spcAft>
                <a:spcPts val="0"/>
              </a:spcAft>
              <a:defRPr sz="1600" b="0">
                <a:solidFill>
                  <a:srgbClr val="182B3A"/>
                </a:solidFill>
                <a:latin typeface="Arial"/>
              </a:defRPr>
            </a:pPr>
            <a:r>
              <a:t>7</a:t>
            </a:r>
          </a:p>
        </p:txBody>
      </p:sp>
      <p:cxnSp>
        <p:nvCxnSpPr>
          <p:cNvPr id="270" name="Connector 269"/>
          <p:cNvCxnSpPr/>
          <p:nvPr/>
        </p:nvCxnSpPr>
        <p:spPr>
          <a:xfrm flipV="1">
            <a:off x="10951464" y="6821424"/>
            <a:ext cx="429768" cy="429768"/>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sp>
        <p:nvSpPr>
          <p:cNvPr id="271" name="TextBox 270"/>
          <p:cNvSpPr txBox="1"/>
          <p:nvPr/>
        </p:nvSpPr>
        <p:spPr>
          <a:xfrm>
            <a:off x="10965180" y="6835140"/>
            <a:ext cx="201168" cy="201168"/>
          </a:xfrm>
          <a:prstGeom prst="rect">
            <a:avLst/>
          </a:prstGeom>
          <a:noFill/>
        </p:spPr>
        <p:txBody>
          <a:bodyPr wrap="none" lIns="0" rIns="0" tIns="0" bIns="0">
            <a:spAutoFit/>
          </a:bodyPr>
          <a:lstStyle/>
          <a:p>
            <a:pPr algn="ctr">
              <a:lnSpc>
                <a:spcPts val="1792"/>
              </a:lnSpc>
              <a:spcBef>
                <a:spcPts val="0"/>
              </a:spcBef>
              <a:spcAft>
                <a:spcPts val="0"/>
              </a:spcAft>
              <a:defRPr sz="1600" b="0">
                <a:solidFill>
                  <a:srgbClr val="182B3A"/>
                </a:solidFill>
                <a:latin typeface="Arial"/>
              </a:defRPr>
            </a:pPr>
            <a:r>
              <a:t>7</a:t>
            </a:r>
          </a:p>
        </p:txBody>
      </p:sp>
      <p:sp>
        <p:nvSpPr>
          <p:cNvPr id="272" name="TextBox 271"/>
          <p:cNvSpPr txBox="1"/>
          <p:nvPr/>
        </p:nvSpPr>
        <p:spPr>
          <a:xfrm>
            <a:off x="11175492" y="7045452"/>
            <a:ext cx="201168" cy="201168"/>
          </a:xfrm>
          <a:prstGeom prst="rect">
            <a:avLst/>
          </a:prstGeom>
          <a:noFill/>
        </p:spPr>
        <p:txBody>
          <a:bodyPr wrap="none" lIns="0" rIns="0" tIns="0" bIns="0">
            <a:spAutoFit/>
          </a:bodyPr>
          <a:lstStyle/>
          <a:p>
            <a:pPr algn="ctr">
              <a:lnSpc>
                <a:spcPts val="1792"/>
              </a:lnSpc>
              <a:spcBef>
                <a:spcPts val="0"/>
              </a:spcBef>
              <a:spcAft>
                <a:spcPts val="0"/>
              </a:spcAft>
              <a:defRPr sz="1600" b="0">
                <a:solidFill>
                  <a:srgbClr val="182B3A"/>
                </a:solidFill>
                <a:latin typeface="Arial"/>
              </a:defRPr>
            </a:pPr>
            <a:r>
              <a:t>2</a:t>
            </a:r>
          </a:p>
        </p:txBody>
      </p:sp>
      <p:cxnSp>
        <p:nvCxnSpPr>
          <p:cNvPr id="273" name="Connector 272"/>
          <p:cNvCxnSpPr/>
          <p:nvPr/>
        </p:nvCxnSpPr>
        <p:spPr>
          <a:xfrm>
            <a:off x="10091928" y="6391656"/>
            <a:ext cx="0" cy="859536"/>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cxnSp>
        <p:nvCxnSpPr>
          <p:cNvPr id="274" name="Connector 273"/>
          <p:cNvCxnSpPr/>
          <p:nvPr/>
        </p:nvCxnSpPr>
        <p:spPr>
          <a:xfrm>
            <a:off x="10521696" y="6391656"/>
            <a:ext cx="0" cy="859536"/>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cxnSp>
        <p:nvCxnSpPr>
          <p:cNvPr id="275" name="Connector 274"/>
          <p:cNvCxnSpPr/>
          <p:nvPr/>
        </p:nvCxnSpPr>
        <p:spPr>
          <a:xfrm>
            <a:off x="10951464" y="6391656"/>
            <a:ext cx="0" cy="859536"/>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cxnSp>
        <p:nvCxnSpPr>
          <p:cNvPr id="276" name="Connector 275"/>
          <p:cNvCxnSpPr/>
          <p:nvPr/>
        </p:nvCxnSpPr>
        <p:spPr>
          <a:xfrm>
            <a:off x="11381232" y="6391656"/>
            <a:ext cx="0" cy="859536"/>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cxnSp>
        <p:nvCxnSpPr>
          <p:cNvPr id="277" name="Connector 276"/>
          <p:cNvCxnSpPr/>
          <p:nvPr/>
        </p:nvCxnSpPr>
        <p:spPr>
          <a:xfrm>
            <a:off x="10091928" y="6391656"/>
            <a:ext cx="1289304" cy="0"/>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cxnSp>
        <p:nvCxnSpPr>
          <p:cNvPr id="278" name="Connector 277"/>
          <p:cNvCxnSpPr/>
          <p:nvPr/>
        </p:nvCxnSpPr>
        <p:spPr>
          <a:xfrm>
            <a:off x="10091928" y="6821424"/>
            <a:ext cx="1289304" cy="0"/>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cxnSp>
        <p:nvCxnSpPr>
          <p:cNvPr id="279" name="Connector 278"/>
          <p:cNvCxnSpPr/>
          <p:nvPr/>
        </p:nvCxnSpPr>
        <p:spPr>
          <a:xfrm>
            <a:off x="10091928" y="7251192"/>
            <a:ext cx="1289304" cy="0"/>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sp>
        <p:nvSpPr>
          <p:cNvPr id="280" name="TextBox 279"/>
          <p:cNvSpPr txBox="1"/>
          <p:nvPr/>
        </p:nvSpPr>
        <p:spPr>
          <a:xfrm>
            <a:off x="10951464" y="7333488"/>
            <a:ext cx="274320" cy="274320"/>
          </a:xfrm>
          <a:prstGeom prst="rect">
            <a:avLst/>
          </a:prstGeom>
          <a:noFill/>
        </p:spPr>
        <p:txBody>
          <a:bodyPr wrap="none" lIns="0" rIns="0" tIns="0" bIns="0">
            <a:spAutoFit/>
          </a:bodyPr>
          <a:lstStyle/>
          <a:p>
            <a:pPr algn="ctr">
              <a:lnSpc>
                <a:spcPts val="2352"/>
              </a:lnSpc>
              <a:spcBef>
                <a:spcPts val="0"/>
              </a:spcBef>
              <a:spcAft>
                <a:spcPts val="0"/>
              </a:spcAft>
              <a:defRPr sz="2100" b="0">
                <a:solidFill>
                  <a:srgbClr val="182B3A"/>
                </a:solidFill>
                <a:latin typeface="Arial"/>
              </a:defRPr>
            </a:pPr>
            <a:r>
              <a:t>2</a:t>
            </a:r>
          </a:p>
        </p:txBody>
      </p:sp>
      <p:sp>
        <p:nvSpPr>
          <p:cNvPr id="281" name="TextBox 280"/>
          <p:cNvSpPr txBox="1"/>
          <p:nvPr/>
        </p:nvSpPr>
        <p:spPr>
          <a:xfrm>
            <a:off x="10521696" y="7333488"/>
            <a:ext cx="274320" cy="274320"/>
          </a:xfrm>
          <a:prstGeom prst="rect">
            <a:avLst/>
          </a:prstGeom>
          <a:noFill/>
        </p:spPr>
        <p:txBody>
          <a:bodyPr wrap="none" lIns="0" rIns="0" tIns="0" bIns="0">
            <a:spAutoFit/>
          </a:bodyPr>
          <a:lstStyle/>
          <a:p>
            <a:pPr algn="ctr">
              <a:lnSpc>
                <a:spcPts val="2352"/>
              </a:lnSpc>
              <a:spcBef>
                <a:spcPts val="0"/>
              </a:spcBef>
              <a:spcAft>
                <a:spcPts val="0"/>
              </a:spcAft>
              <a:defRPr sz="2100" b="0">
                <a:solidFill>
                  <a:srgbClr val="182B3A"/>
                </a:solidFill>
                <a:latin typeface="Arial"/>
              </a:defRPr>
            </a:pPr>
            <a:r>
              <a:t>4</a:t>
            </a:r>
          </a:p>
        </p:txBody>
      </p:sp>
      <p:sp>
        <p:nvSpPr>
          <p:cNvPr id="282" name="TextBox 281"/>
          <p:cNvSpPr txBox="1"/>
          <p:nvPr/>
        </p:nvSpPr>
        <p:spPr>
          <a:xfrm>
            <a:off x="10091928" y="7333488"/>
            <a:ext cx="274320" cy="274320"/>
          </a:xfrm>
          <a:prstGeom prst="rect">
            <a:avLst/>
          </a:prstGeom>
          <a:noFill/>
        </p:spPr>
        <p:txBody>
          <a:bodyPr wrap="none" lIns="0" rIns="0" tIns="0" bIns="0">
            <a:spAutoFit/>
          </a:bodyPr>
          <a:lstStyle/>
          <a:p>
            <a:pPr algn="ctr">
              <a:lnSpc>
                <a:spcPts val="2352"/>
              </a:lnSpc>
              <a:spcBef>
                <a:spcPts val="0"/>
              </a:spcBef>
              <a:spcAft>
                <a:spcPts val="0"/>
              </a:spcAft>
              <a:defRPr sz="2100" b="0">
                <a:solidFill>
                  <a:srgbClr val="182B3A"/>
                </a:solidFill>
                <a:latin typeface="Arial"/>
              </a:defRPr>
            </a:pPr>
            <a:r>
              <a:t>6</a:t>
            </a:r>
          </a:p>
        </p:txBody>
      </p:sp>
      <p:sp>
        <p:nvSpPr>
          <p:cNvPr id="283" name="TextBox 282"/>
          <p:cNvSpPr txBox="1"/>
          <p:nvPr/>
        </p:nvSpPr>
        <p:spPr>
          <a:xfrm>
            <a:off x="10037064" y="7214616"/>
            <a:ext cx="173736" cy="246888"/>
          </a:xfrm>
          <a:prstGeom prst="rect">
            <a:avLst/>
          </a:prstGeom>
          <a:noFill/>
        </p:spPr>
        <p:txBody>
          <a:bodyPr wrap="none" lIns="0" rIns="0" tIns="0" bIns="0">
            <a:spAutoFit/>
          </a:bodyPr>
          <a:lstStyle/>
          <a:p>
            <a:pPr algn="ctr">
              <a:lnSpc>
                <a:spcPts val="1232"/>
              </a:lnSpc>
              <a:spcBef>
                <a:spcPts val="0"/>
              </a:spcBef>
              <a:spcAft>
                <a:spcPts val="0"/>
              </a:spcAft>
              <a:defRPr sz="1100" b="0">
                <a:solidFill>
                  <a:srgbClr val="182B3A"/>
                </a:solidFill>
                <a:latin typeface="Arial"/>
              </a:defRPr>
            </a:pPr>
            <a:r>
              <a:t>1</a:t>
            </a:r>
          </a:p>
        </p:txBody>
      </p:sp>
      <p:sp>
        <p:nvSpPr>
          <p:cNvPr id="284" name="TextBox 283"/>
          <p:cNvSpPr txBox="1"/>
          <p:nvPr/>
        </p:nvSpPr>
        <p:spPr>
          <a:xfrm>
            <a:off x="9744456" y="6931152"/>
            <a:ext cx="274320" cy="274320"/>
          </a:xfrm>
          <a:prstGeom prst="rect">
            <a:avLst/>
          </a:prstGeom>
          <a:noFill/>
        </p:spPr>
        <p:txBody>
          <a:bodyPr wrap="none" lIns="0" rIns="0" tIns="0" bIns="0">
            <a:spAutoFit/>
          </a:bodyPr>
          <a:lstStyle/>
          <a:p>
            <a:pPr algn="ctr">
              <a:lnSpc>
                <a:spcPts val="2352"/>
              </a:lnSpc>
              <a:spcBef>
                <a:spcPts val="0"/>
              </a:spcBef>
              <a:spcAft>
                <a:spcPts val="0"/>
              </a:spcAft>
              <a:defRPr sz="2100" b="0">
                <a:solidFill>
                  <a:srgbClr val="182B3A"/>
                </a:solidFill>
                <a:latin typeface="Arial"/>
              </a:defRPr>
            </a:pPr>
            <a:r>
              <a:t>7</a:t>
            </a:r>
          </a:p>
        </p:txBody>
      </p:sp>
      <p:sp>
        <p:nvSpPr>
          <p:cNvPr id="285" name="TextBox 284"/>
          <p:cNvSpPr txBox="1"/>
          <p:nvPr/>
        </p:nvSpPr>
        <p:spPr>
          <a:xfrm>
            <a:off x="9973056" y="6876288"/>
            <a:ext cx="173736" cy="246888"/>
          </a:xfrm>
          <a:prstGeom prst="rect">
            <a:avLst/>
          </a:prstGeom>
          <a:noFill/>
        </p:spPr>
        <p:txBody>
          <a:bodyPr wrap="none" lIns="0" rIns="0" tIns="0" bIns="0">
            <a:spAutoFit/>
          </a:bodyPr>
          <a:lstStyle/>
          <a:p>
            <a:pPr algn="ctr">
              <a:lnSpc>
                <a:spcPts val="1232"/>
              </a:lnSpc>
              <a:spcBef>
                <a:spcPts val="0"/>
              </a:spcBef>
              <a:spcAft>
                <a:spcPts val="0"/>
              </a:spcAft>
              <a:defRPr sz="1100" b="0">
                <a:solidFill>
                  <a:srgbClr val="182B3A"/>
                </a:solidFill>
                <a:latin typeface="Arial"/>
              </a:defRPr>
            </a:pPr>
            <a:r>
              <a:t>1</a:t>
            </a:r>
          </a:p>
        </p:txBody>
      </p:sp>
      <p:sp>
        <p:nvSpPr>
          <p:cNvPr id="286" name="TextBox 285"/>
          <p:cNvSpPr txBox="1"/>
          <p:nvPr/>
        </p:nvSpPr>
        <p:spPr>
          <a:xfrm>
            <a:off x="9744456" y="6501383"/>
            <a:ext cx="274320" cy="274320"/>
          </a:xfrm>
          <a:prstGeom prst="rect">
            <a:avLst/>
          </a:prstGeom>
          <a:noFill/>
        </p:spPr>
        <p:txBody>
          <a:bodyPr wrap="none" lIns="0" rIns="0" tIns="0" bIns="0">
            <a:spAutoFit/>
          </a:bodyPr>
          <a:lstStyle/>
          <a:p>
            <a:pPr algn="ctr">
              <a:lnSpc>
                <a:spcPts val="2352"/>
              </a:lnSpc>
              <a:spcBef>
                <a:spcPts val="0"/>
              </a:spcBef>
              <a:spcAft>
                <a:spcPts val="0"/>
              </a:spcAft>
              <a:defRPr sz="2100" b="0">
                <a:solidFill>
                  <a:srgbClr val="182B3A"/>
                </a:solidFill>
                <a:latin typeface="Arial"/>
              </a:defRPr>
            </a:pPr>
            <a:r>
              <a:t>2</a:t>
            </a:r>
          </a:p>
        </p:txBody>
      </p:sp>
      <p:sp>
        <p:nvSpPr>
          <p:cNvPr id="287" name="TextBox 286"/>
          <p:cNvSpPr txBox="1"/>
          <p:nvPr/>
        </p:nvSpPr>
        <p:spPr>
          <a:xfrm>
            <a:off x="11911584" y="6492240"/>
            <a:ext cx="2057400" cy="365760"/>
          </a:xfrm>
          <a:prstGeom prst="rect">
            <a:avLst/>
          </a:prstGeom>
          <a:noFill/>
        </p:spPr>
        <p:txBody>
          <a:bodyPr wrap="none" lIns="0" rIns="0" tIns="0" bIns="0">
            <a:spAutoFit/>
          </a:bodyPr>
          <a:lstStyle/>
          <a:p>
            <a:pPr algn="l">
              <a:lnSpc>
                <a:spcPts val="2128"/>
              </a:lnSpc>
              <a:spcBef>
                <a:spcPts val="0"/>
              </a:spcBef>
              <a:spcAft>
                <a:spcPts val="0"/>
              </a:spcAft>
              <a:defRPr sz="1900" b="0">
                <a:solidFill>
                  <a:srgbClr val="182B3A"/>
                </a:solidFill>
                <a:latin typeface="Arial"/>
              </a:defRPr>
            </a:pPr>
            <a:r>
              <a:t>Answer</a:t>
            </a:r>
          </a:p>
        </p:txBody>
      </p:sp>
      <p:sp>
        <p:nvSpPr>
          <p:cNvPr id="288" name="TextBox 287"/>
          <p:cNvSpPr txBox="1"/>
          <p:nvPr/>
        </p:nvSpPr>
        <p:spPr>
          <a:xfrm>
            <a:off x="11911584" y="6858000"/>
            <a:ext cx="2057400" cy="384048"/>
          </a:xfrm>
          <a:prstGeom prst="rect">
            <a:avLst/>
          </a:prstGeom>
          <a:noFill/>
        </p:spPr>
        <p:txBody>
          <a:bodyPr wrap="none" lIns="0" rIns="0" tIns="0" bIns="0">
            <a:spAutoFit/>
          </a:bodyPr>
          <a:lstStyle/>
          <a:p>
            <a:pPr algn="l">
              <a:lnSpc>
                <a:spcPts val="2800"/>
              </a:lnSpc>
              <a:spcBef>
                <a:spcPts val="0"/>
              </a:spcBef>
              <a:spcAft>
                <a:spcPts val="0"/>
              </a:spcAft>
              <a:defRPr sz="2500" b="0">
                <a:solidFill>
                  <a:srgbClr val="182B3A"/>
                </a:solidFill>
                <a:latin typeface="Arial"/>
              </a:defRPr>
            </a:pPr>
            <a:r>
              <a:t>27,642</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7F8FA"/>
        </a:solidFill>
        <a:effectLst/>
      </p:bgPr>
    </p:bg>
    <p:spTree>
      <p:nvGrpSpPr>
        <p:cNvPr id="1" name=""/>
        <p:cNvGrpSpPr/>
        <p:nvPr/>
      </p:nvGrpSpPr>
      <p:grpSpPr/>
      <p:sp>
        <p:nvSpPr>
          <p:cNvPr id="2" name="Rectangle 1"/>
          <p:cNvSpPr/>
          <p:nvPr/>
        </p:nvSpPr>
        <p:spPr>
          <a:xfrm>
            <a:off x="0" y="0"/>
            <a:ext cx="14630400" cy="91440"/>
          </a:xfrm>
          <a:prstGeom prst="rect">
            <a:avLst/>
          </a:prstGeom>
          <a:solidFill>
            <a:srgbClr val="176B73"/>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3" name="TextBox 2"/>
          <p:cNvSpPr txBox="1"/>
          <p:nvPr/>
        </p:nvSpPr>
        <p:spPr>
          <a:xfrm>
            <a:off x="384048" y="219456"/>
            <a:ext cx="12435840" cy="448056"/>
          </a:xfrm>
          <a:prstGeom prst="rect">
            <a:avLst/>
          </a:prstGeom>
          <a:noFill/>
        </p:spPr>
        <p:txBody>
          <a:bodyPr wrap="square" tIns="36576" bIns="36576" anchor="t">
            <a:spAutoFit/>
          </a:bodyPr>
          <a:lstStyle/>
          <a:p>
            <a:pPr>
              <a:lnSpc>
                <a:spcPts val="3132"/>
              </a:lnSpc>
              <a:spcBef>
                <a:spcPts val="0"/>
              </a:spcBef>
              <a:spcAft>
                <a:spcPts val="0"/>
              </a:spcAft>
              <a:defRPr sz="2900" b="1">
                <a:solidFill>
                  <a:srgbClr val="182B3A"/>
                </a:solidFill>
                <a:latin typeface="Arial"/>
              </a:defRPr>
            </a:pPr>
            <a:r>
              <a:t>Lattice Multiplication</a:t>
            </a:r>
          </a:p>
        </p:txBody>
      </p:sp>
      <p:sp>
        <p:nvSpPr>
          <p:cNvPr id="4" name="TextBox 3"/>
          <p:cNvSpPr txBox="1"/>
          <p:nvPr/>
        </p:nvSpPr>
        <p:spPr>
          <a:xfrm>
            <a:off x="384048" y="713232"/>
            <a:ext cx="13533120" cy="274320"/>
          </a:xfrm>
          <a:prstGeom prst="rect">
            <a:avLst/>
          </a:prstGeom>
          <a:noFill/>
        </p:spPr>
        <p:txBody>
          <a:bodyPr wrap="square" tIns="36576" bIns="36576" anchor="t">
            <a:spAutoFit/>
          </a:bodyPr>
          <a:lstStyle/>
          <a:p>
            <a:pPr>
              <a:lnSpc>
                <a:spcPts val="1512"/>
              </a:lnSpc>
              <a:spcBef>
                <a:spcPts val="0"/>
              </a:spcBef>
              <a:spcAft>
                <a:spcPts val="0"/>
              </a:spcAft>
              <a:defRPr sz="1400" b="0">
                <a:solidFill>
                  <a:srgbClr val="526472"/>
                </a:solidFill>
                <a:latin typeface="Arial"/>
              </a:defRPr>
            </a:pPr>
            <a:r>
              <a:t>Independent practice 1  •  Choose a column. Show the full written method.</a:t>
            </a:r>
          </a:p>
        </p:txBody>
      </p:sp>
      <p:sp>
        <p:nvSpPr>
          <p:cNvPr id="5" name="TextBox 4"/>
          <p:cNvSpPr txBox="1"/>
          <p:nvPr/>
        </p:nvSpPr>
        <p:spPr>
          <a:xfrm>
            <a:off x="384048" y="7882127"/>
            <a:ext cx="10058400" cy="210312"/>
          </a:xfrm>
          <a:prstGeom prst="rect">
            <a:avLst/>
          </a:prstGeom>
          <a:noFill/>
        </p:spPr>
        <p:txBody>
          <a:bodyPr wrap="square" tIns="36576" bIns="36576" anchor="t">
            <a:spAutoFit/>
          </a:bodyPr>
          <a:lstStyle/>
          <a:p>
            <a:pPr>
              <a:lnSpc>
                <a:spcPts val="1188"/>
              </a:lnSpc>
              <a:spcBef>
                <a:spcPts val="0"/>
              </a:spcBef>
              <a:spcAft>
                <a:spcPts val="0"/>
              </a:spcAft>
              <a:defRPr sz="1100" b="0">
                <a:solidFill>
                  <a:srgbClr val="526472"/>
                </a:solidFill>
                <a:latin typeface="Arial"/>
              </a:defRPr>
            </a:pPr>
            <a:r>
              <a:t>GCSE Maths revision  •  Record your working in your booklet or webapp.</a:t>
            </a:r>
          </a:p>
        </p:txBody>
      </p:sp>
      <p:sp>
        <p:nvSpPr>
          <p:cNvPr id="6" name="TextBox 5"/>
          <p:cNvSpPr txBox="1"/>
          <p:nvPr/>
        </p:nvSpPr>
        <p:spPr>
          <a:xfrm>
            <a:off x="11430000" y="7863840"/>
            <a:ext cx="2788920" cy="228600"/>
          </a:xfrm>
          <a:prstGeom prst="rect">
            <a:avLst/>
          </a:prstGeom>
          <a:noFill/>
        </p:spPr>
        <p:txBody>
          <a:bodyPr wrap="square" tIns="36576" bIns="36576" anchor="t">
            <a:spAutoFit/>
          </a:bodyPr>
          <a:lstStyle/>
          <a:p>
            <a:pPr>
              <a:lnSpc>
                <a:spcPts val="1188"/>
              </a:lnSpc>
              <a:spcBef>
                <a:spcPts val="0"/>
              </a:spcBef>
              <a:spcAft>
                <a:spcPts val="0"/>
              </a:spcAft>
              <a:defRPr sz="1100" b="0">
                <a:solidFill>
                  <a:srgbClr val="526472"/>
                </a:solidFill>
                <a:latin typeface="Arial"/>
              </a:defRPr>
            </a:pPr>
            <a:r>
              <a:t>M01-S04  •  Topic slide 6</a:t>
            </a:r>
          </a:p>
        </p:txBody>
      </p:sp>
      <p:sp>
        <p:nvSpPr>
          <p:cNvPr id="7" name="Rectangle 6"/>
          <p:cNvSpPr/>
          <p:nvPr/>
        </p:nvSpPr>
        <p:spPr>
          <a:xfrm>
            <a:off x="384048" y="1124712"/>
            <a:ext cx="4620768" cy="438912"/>
          </a:xfrm>
          <a:prstGeom prst="rect">
            <a:avLst/>
          </a:prstGeom>
          <a:solidFill>
            <a:srgbClr val="176B73"/>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8" name="TextBox 7"/>
          <p:cNvSpPr txBox="1"/>
          <p:nvPr/>
        </p:nvSpPr>
        <p:spPr>
          <a:xfrm>
            <a:off x="438912" y="1152144"/>
            <a:ext cx="4511040" cy="338328"/>
          </a:xfrm>
          <a:prstGeom prst="rect">
            <a:avLst/>
          </a:prstGeom>
          <a:noFill/>
        </p:spPr>
        <p:txBody>
          <a:bodyPr wrap="square" tIns="36576" bIns="36576" anchor="t">
            <a:spAutoFit/>
          </a:bodyPr>
          <a:lstStyle/>
          <a:p>
            <a:pPr>
              <a:lnSpc>
                <a:spcPts val="2160"/>
              </a:lnSpc>
              <a:spcBef>
                <a:spcPts val="0"/>
              </a:spcBef>
              <a:spcAft>
                <a:spcPts val="0"/>
              </a:spcAft>
              <a:defRPr sz="2000" b="1">
                <a:solidFill>
                  <a:srgbClr val="FFFFFF"/>
                </a:solidFill>
                <a:latin typeface="Arial"/>
              </a:defRPr>
            </a:pPr>
            <a:r>
              <a:t>Start</a:t>
            </a:r>
          </a:p>
        </p:txBody>
      </p:sp>
      <p:sp>
        <p:nvSpPr>
          <p:cNvPr id="9" name="TextBox 8"/>
          <p:cNvSpPr txBox="1"/>
          <p:nvPr/>
        </p:nvSpPr>
        <p:spPr>
          <a:xfrm>
            <a:off x="420623" y="1618488"/>
            <a:ext cx="4547616" cy="329184"/>
          </a:xfrm>
          <a:prstGeom prst="rect">
            <a:avLst/>
          </a:prstGeom>
          <a:noFill/>
        </p:spPr>
        <p:txBody>
          <a:bodyPr wrap="square" tIns="36576" bIns="36576" anchor="t">
            <a:spAutoFit/>
          </a:bodyPr>
          <a:lstStyle/>
          <a:p>
            <a:pPr>
              <a:lnSpc>
                <a:spcPts val="1512"/>
              </a:lnSpc>
              <a:spcBef>
                <a:spcPts val="0"/>
              </a:spcBef>
              <a:spcAft>
                <a:spcPts val="0"/>
              </a:spcAft>
              <a:defRPr sz="1400" b="1">
                <a:solidFill>
                  <a:srgbClr val="176B73"/>
                </a:solidFill>
                <a:latin typeface="Arial"/>
              </a:defRPr>
            </a:pPr>
            <a:r>
              <a:t>2 digits × 1 digit</a:t>
            </a:r>
          </a:p>
        </p:txBody>
      </p:sp>
      <p:sp>
        <p:nvSpPr>
          <p:cNvPr id="10" name="Rectangle 9"/>
          <p:cNvSpPr/>
          <p:nvPr/>
        </p:nvSpPr>
        <p:spPr>
          <a:xfrm>
            <a:off x="5004816" y="1124712"/>
            <a:ext cx="4620768" cy="438912"/>
          </a:xfrm>
          <a:prstGeom prst="rect">
            <a:avLst/>
          </a:prstGeom>
          <a:solidFill>
            <a:srgbClr val="3559A2"/>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1" name="TextBox 10"/>
          <p:cNvSpPr txBox="1"/>
          <p:nvPr/>
        </p:nvSpPr>
        <p:spPr>
          <a:xfrm>
            <a:off x="5059680" y="1152144"/>
            <a:ext cx="4511040" cy="338328"/>
          </a:xfrm>
          <a:prstGeom prst="rect">
            <a:avLst/>
          </a:prstGeom>
          <a:noFill/>
        </p:spPr>
        <p:txBody>
          <a:bodyPr wrap="square" tIns="36576" bIns="36576" anchor="t">
            <a:spAutoFit/>
          </a:bodyPr>
          <a:lstStyle/>
          <a:p>
            <a:pPr>
              <a:lnSpc>
                <a:spcPts val="2160"/>
              </a:lnSpc>
              <a:spcBef>
                <a:spcPts val="0"/>
              </a:spcBef>
              <a:spcAft>
                <a:spcPts val="0"/>
              </a:spcAft>
              <a:defRPr sz="2000" b="1">
                <a:solidFill>
                  <a:srgbClr val="FFFFFF"/>
                </a:solidFill>
                <a:latin typeface="Arial"/>
              </a:defRPr>
            </a:pPr>
            <a:r>
              <a:t>Build</a:t>
            </a:r>
          </a:p>
        </p:txBody>
      </p:sp>
      <p:sp>
        <p:nvSpPr>
          <p:cNvPr id="12" name="TextBox 11"/>
          <p:cNvSpPr txBox="1"/>
          <p:nvPr/>
        </p:nvSpPr>
        <p:spPr>
          <a:xfrm>
            <a:off x="5041392" y="1618488"/>
            <a:ext cx="4547616" cy="329184"/>
          </a:xfrm>
          <a:prstGeom prst="rect">
            <a:avLst/>
          </a:prstGeom>
          <a:noFill/>
        </p:spPr>
        <p:txBody>
          <a:bodyPr wrap="square" tIns="36576" bIns="36576" anchor="t">
            <a:spAutoFit/>
          </a:bodyPr>
          <a:lstStyle/>
          <a:p>
            <a:pPr>
              <a:lnSpc>
                <a:spcPts val="1512"/>
              </a:lnSpc>
              <a:spcBef>
                <a:spcPts val="0"/>
              </a:spcBef>
              <a:spcAft>
                <a:spcPts val="0"/>
              </a:spcAft>
              <a:defRPr sz="1400" b="1">
                <a:solidFill>
                  <a:srgbClr val="3559A2"/>
                </a:solidFill>
                <a:latin typeface="Arial"/>
              </a:defRPr>
            </a:pPr>
            <a:r>
              <a:t>2 digits × 2 digits</a:t>
            </a:r>
          </a:p>
        </p:txBody>
      </p:sp>
      <p:sp>
        <p:nvSpPr>
          <p:cNvPr id="13" name="Rectangle 12"/>
          <p:cNvSpPr/>
          <p:nvPr/>
        </p:nvSpPr>
        <p:spPr>
          <a:xfrm>
            <a:off x="9625584" y="1124712"/>
            <a:ext cx="4620768" cy="438912"/>
          </a:xfrm>
          <a:prstGeom prst="rect">
            <a:avLst/>
          </a:prstGeom>
          <a:solidFill>
            <a:srgbClr val="754B87"/>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4" name="TextBox 13"/>
          <p:cNvSpPr txBox="1"/>
          <p:nvPr/>
        </p:nvSpPr>
        <p:spPr>
          <a:xfrm>
            <a:off x="9680448" y="1152144"/>
            <a:ext cx="4511040" cy="338328"/>
          </a:xfrm>
          <a:prstGeom prst="rect">
            <a:avLst/>
          </a:prstGeom>
          <a:noFill/>
        </p:spPr>
        <p:txBody>
          <a:bodyPr wrap="square" tIns="36576" bIns="36576" anchor="t">
            <a:spAutoFit/>
          </a:bodyPr>
          <a:lstStyle/>
          <a:p>
            <a:pPr>
              <a:lnSpc>
                <a:spcPts val="2160"/>
              </a:lnSpc>
              <a:spcBef>
                <a:spcPts val="0"/>
              </a:spcBef>
              <a:spcAft>
                <a:spcPts val="0"/>
              </a:spcAft>
              <a:defRPr sz="2000" b="1">
                <a:solidFill>
                  <a:srgbClr val="FFFFFF"/>
                </a:solidFill>
                <a:latin typeface="Arial"/>
              </a:defRPr>
            </a:pPr>
            <a:r>
              <a:t>Confidence</a:t>
            </a:r>
          </a:p>
        </p:txBody>
      </p:sp>
      <p:sp>
        <p:nvSpPr>
          <p:cNvPr id="15" name="TextBox 14"/>
          <p:cNvSpPr txBox="1"/>
          <p:nvPr/>
        </p:nvSpPr>
        <p:spPr>
          <a:xfrm>
            <a:off x="9662160" y="1618488"/>
            <a:ext cx="4547616" cy="329184"/>
          </a:xfrm>
          <a:prstGeom prst="rect">
            <a:avLst/>
          </a:prstGeom>
          <a:noFill/>
        </p:spPr>
        <p:txBody>
          <a:bodyPr wrap="square" tIns="36576" bIns="36576" anchor="t">
            <a:spAutoFit/>
          </a:bodyPr>
          <a:lstStyle/>
          <a:p>
            <a:pPr>
              <a:lnSpc>
                <a:spcPts val="1512"/>
              </a:lnSpc>
              <a:spcBef>
                <a:spcPts val="0"/>
              </a:spcBef>
              <a:spcAft>
                <a:spcPts val="0"/>
              </a:spcAft>
              <a:defRPr sz="1400" b="1">
                <a:solidFill>
                  <a:srgbClr val="754B87"/>
                </a:solidFill>
                <a:latin typeface="Arial"/>
              </a:defRPr>
            </a:pPr>
            <a:r>
              <a:t>Up to 4 digits × 4 digits</a:t>
            </a:r>
          </a:p>
        </p:txBody>
      </p:sp>
      <p:sp>
        <p:nvSpPr>
          <p:cNvPr id="16" name="Rectangle 15"/>
          <p:cNvSpPr/>
          <p:nvPr/>
        </p:nvSpPr>
        <p:spPr>
          <a:xfrm>
            <a:off x="384048" y="2020824"/>
            <a:ext cx="4620768" cy="909828"/>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7" name="TextBox 16"/>
          <p:cNvSpPr txBox="1"/>
          <p:nvPr/>
        </p:nvSpPr>
        <p:spPr>
          <a:xfrm>
            <a:off x="493776" y="2231136"/>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176B73"/>
                </a:solidFill>
                <a:latin typeface="Arial"/>
              </a:defRPr>
            </a:pPr>
            <a:r>
              <a:t>1.</a:t>
            </a:r>
          </a:p>
        </p:txBody>
      </p:sp>
      <p:sp>
        <p:nvSpPr>
          <p:cNvPr id="18" name="TextBox 17"/>
          <p:cNvSpPr txBox="1"/>
          <p:nvPr/>
        </p:nvSpPr>
        <p:spPr>
          <a:xfrm>
            <a:off x="987552" y="2203704"/>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32 × 4</a:t>
            </a:r>
          </a:p>
        </p:txBody>
      </p:sp>
      <p:sp>
        <p:nvSpPr>
          <p:cNvPr id="19" name="Rectangle 18"/>
          <p:cNvSpPr/>
          <p:nvPr/>
        </p:nvSpPr>
        <p:spPr>
          <a:xfrm>
            <a:off x="384048" y="2948939"/>
            <a:ext cx="4620768" cy="909828"/>
          </a:xfrm>
          <a:prstGeom prst="rect">
            <a:avLst/>
          </a:prstGeom>
          <a:solidFill>
            <a:srgbClr val="EDF6F5"/>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20" name="TextBox 19"/>
          <p:cNvSpPr txBox="1"/>
          <p:nvPr/>
        </p:nvSpPr>
        <p:spPr>
          <a:xfrm>
            <a:off x="493776" y="3159251"/>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176B73"/>
                </a:solidFill>
                <a:latin typeface="Arial"/>
              </a:defRPr>
            </a:pPr>
            <a:r>
              <a:t>2.</a:t>
            </a:r>
          </a:p>
        </p:txBody>
      </p:sp>
      <p:sp>
        <p:nvSpPr>
          <p:cNvPr id="21" name="TextBox 20"/>
          <p:cNvSpPr txBox="1"/>
          <p:nvPr/>
        </p:nvSpPr>
        <p:spPr>
          <a:xfrm>
            <a:off x="987552" y="3131820"/>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61 × 8</a:t>
            </a:r>
          </a:p>
        </p:txBody>
      </p:sp>
      <p:sp>
        <p:nvSpPr>
          <p:cNvPr id="22" name="Rectangle 21"/>
          <p:cNvSpPr/>
          <p:nvPr/>
        </p:nvSpPr>
        <p:spPr>
          <a:xfrm>
            <a:off x="384048" y="3877056"/>
            <a:ext cx="4620768" cy="909828"/>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23" name="TextBox 22"/>
          <p:cNvSpPr txBox="1"/>
          <p:nvPr/>
        </p:nvSpPr>
        <p:spPr>
          <a:xfrm>
            <a:off x="493776" y="4087368"/>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176B73"/>
                </a:solidFill>
                <a:latin typeface="Arial"/>
              </a:defRPr>
            </a:pPr>
            <a:r>
              <a:t>3.</a:t>
            </a:r>
          </a:p>
        </p:txBody>
      </p:sp>
      <p:sp>
        <p:nvSpPr>
          <p:cNvPr id="24" name="TextBox 23"/>
          <p:cNvSpPr txBox="1"/>
          <p:nvPr/>
        </p:nvSpPr>
        <p:spPr>
          <a:xfrm>
            <a:off x="987552" y="4059936"/>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45 × 3</a:t>
            </a:r>
          </a:p>
        </p:txBody>
      </p:sp>
      <p:sp>
        <p:nvSpPr>
          <p:cNvPr id="25" name="Rectangle 24"/>
          <p:cNvSpPr/>
          <p:nvPr/>
        </p:nvSpPr>
        <p:spPr>
          <a:xfrm>
            <a:off x="384048" y="4805172"/>
            <a:ext cx="4620768" cy="909828"/>
          </a:xfrm>
          <a:prstGeom prst="rect">
            <a:avLst/>
          </a:prstGeom>
          <a:solidFill>
            <a:srgbClr val="EDF6F5"/>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26" name="TextBox 25"/>
          <p:cNvSpPr txBox="1"/>
          <p:nvPr/>
        </p:nvSpPr>
        <p:spPr>
          <a:xfrm>
            <a:off x="493776" y="5015484"/>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176B73"/>
                </a:solidFill>
                <a:latin typeface="Arial"/>
              </a:defRPr>
            </a:pPr>
            <a:r>
              <a:t>4.</a:t>
            </a:r>
          </a:p>
        </p:txBody>
      </p:sp>
      <p:sp>
        <p:nvSpPr>
          <p:cNvPr id="27" name="TextBox 26"/>
          <p:cNvSpPr txBox="1"/>
          <p:nvPr/>
        </p:nvSpPr>
        <p:spPr>
          <a:xfrm>
            <a:off x="987552" y="4988052"/>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72 × 6</a:t>
            </a:r>
          </a:p>
        </p:txBody>
      </p:sp>
      <p:sp>
        <p:nvSpPr>
          <p:cNvPr id="28" name="Rectangle 27"/>
          <p:cNvSpPr/>
          <p:nvPr/>
        </p:nvSpPr>
        <p:spPr>
          <a:xfrm>
            <a:off x="384048" y="5733288"/>
            <a:ext cx="4620768" cy="909828"/>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29" name="TextBox 28"/>
          <p:cNvSpPr txBox="1"/>
          <p:nvPr/>
        </p:nvSpPr>
        <p:spPr>
          <a:xfrm>
            <a:off x="493776" y="5943600"/>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176B73"/>
                </a:solidFill>
                <a:latin typeface="Arial"/>
              </a:defRPr>
            </a:pPr>
            <a:r>
              <a:t>5.</a:t>
            </a:r>
          </a:p>
        </p:txBody>
      </p:sp>
      <p:sp>
        <p:nvSpPr>
          <p:cNvPr id="30" name="TextBox 29"/>
          <p:cNvSpPr txBox="1"/>
          <p:nvPr/>
        </p:nvSpPr>
        <p:spPr>
          <a:xfrm>
            <a:off x="987552" y="5916168"/>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83 × 7</a:t>
            </a:r>
          </a:p>
        </p:txBody>
      </p:sp>
      <p:sp>
        <p:nvSpPr>
          <p:cNvPr id="31" name="Rectangle 30"/>
          <p:cNvSpPr/>
          <p:nvPr/>
        </p:nvSpPr>
        <p:spPr>
          <a:xfrm>
            <a:off x="384048" y="6661403"/>
            <a:ext cx="4620768" cy="909828"/>
          </a:xfrm>
          <a:prstGeom prst="rect">
            <a:avLst/>
          </a:prstGeom>
          <a:solidFill>
            <a:srgbClr val="EDF6F5"/>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32" name="TextBox 31"/>
          <p:cNvSpPr txBox="1"/>
          <p:nvPr/>
        </p:nvSpPr>
        <p:spPr>
          <a:xfrm>
            <a:off x="493776" y="6871716"/>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176B73"/>
                </a:solidFill>
                <a:latin typeface="Arial"/>
              </a:defRPr>
            </a:pPr>
            <a:r>
              <a:t>6.</a:t>
            </a:r>
          </a:p>
        </p:txBody>
      </p:sp>
      <p:sp>
        <p:nvSpPr>
          <p:cNvPr id="33" name="TextBox 32"/>
          <p:cNvSpPr txBox="1"/>
          <p:nvPr/>
        </p:nvSpPr>
        <p:spPr>
          <a:xfrm>
            <a:off x="987552" y="6844283"/>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95 × 9</a:t>
            </a:r>
          </a:p>
        </p:txBody>
      </p:sp>
      <p:sp>
        <p:nvSpPr>
          <p:cNvPr id="34" name="Rectangle 33"/>
          <p:cNvSpPr/>
          <p:nvPr/>
        </p:nvSpPr>
        <p:spPr>
          <a:xfrm>
            <a:off x="5004816" y="2020824"/>
            <a:ext cx="4620768" cy="909828"/>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35" name="TextBox 34"/>
          <p:cNvSpPr txBox="1"/>
          <p:nvPr/>
        </p:nvSpPr>
        <p:spPr>
          <a:xfrm>
            <a:off x="5114544" y="2231136"/>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3559A2"/>
                </a:solidFill>
                <a:latin typeface="Arial"/>
              </a:defRPr>
            </a:pPr>
            <a:r>
              <a:t>1.</a:t>
            </a:r>
          </a:p>
        </p:txBody>
      </p:sp>
      <p:sp>
        <p:nvSpPr>
          <p:cNvPr id="36" name="TextBox 35"/>
          <p:cNvSpPr txBox="1"/>
          <p:nvPr/>
        </p:nvSpPr>
        <p:spPr>
          <a:xfrm>
            <a:off x="5608320" y="2203704"/>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42 × 13</a:t>
            </a:r>
          </a:p>
        </p:txBody>
      </p:sp>
      <p:sp>
        <p:nvSpPr>
          <p:cNvPr id="37" name="Rectangle 36"/>
          <p:cNvSpPr/>
          <p:nvPr/>
        </p:nvSpPr>
        <p:spPr>
          <a:xfrm>
            <a:off x="5004816" y="2948939"/>
            <a:ext cx="4620768" cy="909828"/>
          </a:xfrm>
          <a:prstGeom prst="rect">
            <a:avLst/>
          </a:prstGeom>
          <a:solidFill>
            <a:srgbClr val="EFF3FA"/>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38" name="TextBox 37"/>
          <p:cNvSpPr txBox="1"/>
          <p:nvPr/>
        </p:nvSpPr>
        <p:spPr>
          <a:xfrm>
            <a:off x="5114544" y="3159251"/>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3559A2"/>
                </a:solidFill>
                <a:latin typeface="Arial"/>
              </a:defRPr>
            </a:pPr>
            <a:r>
              <a:t>2.</a:t>
            </a:r>
          </a:p>
        </p:txBody>
      </p:sp>
      <p:sp>
        <p:nvSpPr>
          <p:cNvPr id="39" name="TextBox 38"/>
          <p:cNvSpPr txBox="1"/>
          <p:nvPr/>
        </p:nvSpPr>
        <p:spPr>
          <a:xfrm>
            <a:off x="5608320" y="3131820"/>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26 × 34</a:t>
            </a:r>
          </a:p>
        </p:txBody>
      </p:sp>
      <p:sp>
        <p:nvSpPr>
          <p:cNvPr id="40" name="Rectangle 39"/>
          <p:cNvSpPr/>
          <p:nvPr/>
        </p:nvSpPr>
        <p:spPr>
          <a:xfrm>
            <a:off x="5004816" y="3877056"/>
            <a:ext cx="4620768" cy="909828"/>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41" name="TextBox 40"/>
          <p:cNvSpPr txBox="1"/>
          <p:nvPr/>
        </p:nvSpPr>
        <p:spPr>
          <a:xfrm>
            <a:off x="5114544" y="4087368"/>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3559A2"/>
                </a:solidFill>
                <a:latin typeface="Arial"/>
              </a:defRPr>
            </a:pPr>
            <a:r>
              <a:t>3.</a:t>
            </a:r>
          </a:p>
        </p:txBody>
      </p:sp>
      <p:sp>
        <p:nvSpPr>
          <p:cNvPr id="42" name="TextBox 41"/>
          <p:cNvSpPr txBox="1"/>
          <p:nvPr/>
        </p:nvSpPr>
        <p:spPr>
          <a:xfrm>
            <a:off x="5608320" y="4059936"/>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51 × 22</a:t>
            </a:r>
          </a:p>
        </p:txBody>
      </p:sp>
      <p:sp>
        <p:nvSpPr>
          <p:cNvPr id="43" name="Rectangle 42"/>
          <p:cNvSpPr/>
          <p:nvPr/>
        </p:nvSpPr>
        <p:spPr>
          <a:xfrm>
            <a:off x="5004816" y="4805172"/>
            <a:ext cx="4620768" cy="909828"/>
          </a:xfrm>
          <a:prstGeom prst="rect">
            <a:avLst/>
          </a:prstGeom>
          <a:solidFill>
            <a:srgbClr val="EFF3FA"/>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44" name="TextBox 43"/>
          <p:cNvSpPr txBox="1"/>
          <p:nvPr/>
        </p:nvSpPr>
        <p:spPr>
          <a:xfrm>
            <a:off x="5114544" y="5015484"/>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3559A2"/>
                </a:solidFill>
                <a:latin typeface="Arial"/>
              </a:defRPr>
            </a:pPr>
            <a:r>
              <a:t>4.</a:t>
            </a:r>
          </a:p>
        </p:txBody>
      </p:sp>
      <p:sp>
        <p:nvSpPr>
          <p:cNvPr id="45" name="TextBox 44"/>
          <p:cNvSpPr txBox="1"/>
          <p:nvPr/>
        </p:nvSpPr>
        <p:spPr>
          <a:xfrm>
            <a:off x="5608320" y="4988052"/>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63 × 41</a:t>
            </a:r>
          </a:p>
        </p:txBody>
      </p:sp>
      <p:sp>
        <p:nvSpPr>
          <p:cNvPr id="46" name="Rectangle 45"/>
          <p:cNvSpPr/>
          <p:nvPr/>
        </p:nvSpPr>
        <p:spPr>
          <a:xfrm>
            <a:off x="5004816" y="5733288"/>
            <a:ext cx="4620768" cy="909828"/>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47" name="TextBox 46"/>
          <p:cNvSpPr txBox="1"/>
          <p:nvPr/>
        </p:nvSpPr>
        <p:spPr>
          <a:xfrm>
            <a:off x="5114544" y="5943600"/>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3559A2"/>
                </a:solidFill>
                <a:latin typeface="Arial"/>
              </a:defRPr>
            </a:pPr>
            <a:r>
              <a:t>5.</a:t>
            </a:r>
          </a:p>
        </p:txBody>
      </p:sp>
      <p:sp>
        <p:nvSpPr>
          <p:cNvPr id="48" name="TextBox 47"/>
          <p:cNvSpPr txBox="1"/>
          <p:nvPr/>
        </p:nvSpPr>
        <p:spPr>
          <a:xfrm>
            <a:off x="5608320" y="5916168"/>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75 × 16</a:t>
            </a:r>
          </a:p>
        </p:txBody>
      </p:sp>
      <p:sp>
        <p:nvSpPr>
          <p:cNvPr id="49" name="Rectangle 48"/>
          <p:cNvSpPr/>
          <p:nvPr/>
        </p:nvSpPr>
        <p:spPr>
          <a:xfrm>
            <a:off x="5004816" y="6661403"/>
            <a:ext cx="4620768" cy="909828"/>
          </a:xfrm>
          <a:prstGeom prst="rect">
            <a:avLst/>
          </a:prstGeom>
          <a:solidFill>
            <a:srgbClr val="EFF3FA"/>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50" name="TextBox 49"/>
          <p:cNvSpPr txBox="1"/>
          <p:nvPr/>
        </p:nvSpPr>
        <p:spPr>
          <a:xfrm>
            <a:off x="5114544" y="6871716"/>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3559A2"/>
                </a:solidFill>
                <a:latin typeface="Arial"/>
              </a:defRPr>
            </a:pPr>
            <a:r>
              <a:t>6.</a:t>
            </a:r>
          </a:p>
        </p:txBody>
      </p:sp>
      <p:sp>
        <p:nvSpPr>
          <p:cNvPr id="51" name="TextBox 50"/>
          <p:cNvSpPr txBox="1"/>
          <p:nvPr/>
        </p:nvSpPr>
        <p:spPr>
          <a:xfrm>
            <a:off x="5608320" y="6844283"/>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82 × 57</a:t>
            </a:r>
          </a:p>
        </p:txBody>
      </p:sp>
      <p:sp>
        <p:nvSpPr>
          <p:cNvPr id="52" name="Rectangle 51"/>
          <p:cNvSpPr/>
          <p:nvPr/>
        </p:nvSpPr>
        <p:spPr>
          <a:xfrm>
            <a:off x="9625584" y="2020824"/>
            <a:ext cx="4620768" cy="909828"/>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53" name="TextBox 52"/>
          <p:cNvSpPr txBox="1"/>
          <p:nvPr/>
        </p:nvSpPr>
        <p:spPr>
          <a:xfrm>
            <a:off x="9735312" y="2231136"/>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754B87"/>
                </a:solidFill>
                <a:latin typeface="Arial"/>
              </a:defRPr>
            </a:pPr>
            <a:r>
              <a:t>1.</a:t>
            </a:r>
          </a:p>
        </p:txBody>
      </p:sp>
      <p:sp>
        <p:nvSpPr>
          <p:cNvPr id="54" name="TextBox 53"/>
          <p:cNvSpPr txBox="1"/>
          <p:nvPr/>
        </p:nvSpPr>
        <p:spPr>
          <a:xfrm>
            <a:off x="10229088" y="2203704"/>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342 × 15</a:t>
            </a:r>
          </a:p>
        </p:txBody>
      </p:sp>
      <p:sp>
        <p:nvSpPr>
          <p:cNvPr id="55" name="Rectangle 54"/>
          <p:cNvSpPr/>
          <p:nvPr/>
        </p:nvSpPr>
        <p:spPr>
          <a:xfrm>
            <a:off x="9625584" y="2948939"/>
            <a:ext cx="4620768" cy="909828"/>
          </a:xfrm>
          <a:prstGeom prst="rect">
            <a:avLst/>
          </a:prstGeom>
          <a:solidFill>
            <a:srgbClr val="F5F0F7"/>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56" name="TextBox 55"/>
          <p:cNvSpPr txBox="1"/>
          <p:nvPr/>
        </p:nvSpPr>
        <p:spPr>
          <a:xfrm>
            <a:off x="9735312" y="3159251"/>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754B87"/>
                </a:solidFill>
                <a:latin typeface="Arial"/>
              </a:defRPr>
            </a:pPr>
            <a:r>
              <a:t>2.</a:t>
            </a:r>
          </a:p>
        </p:txBody>
      </p:sp>
      <p:sp>
        <p:nvSpPr>
          <p:cNvPr id="57" name="TextBox 56"/>
          <p:cNvSpPr txBox="1"/>
          <p:nvPr/>
        </p:nvSpPr>
        <p:spPr>
          <a:xfrm>
            <a:off x="10229088" y="3131820"/>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612 × 24</a:t>
            </a:r>
          </a:p>
        </p:txBody>
      </p:sp>
      <p:sp>
        <p:nvSpPr>
          <p:cNvPr id="58" name="Rectangle 57"/>
          <p:cNvSpPr/>
          <p:nvPr/>
        </p:nvSpPr>
        <p:spPr>
          <a:xfrm>
            <a:off x="9625584" y="3877056"/>
            <a:ext cx="4620768" cy="909828"/>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59" name="TextBox 58"/>
          <p:cNvSpPr txBox="1"/>
          <p:nvPr/>
        </p:nvSpPr>
        <p:spPr>
          <a:xfrm>
            <a:off x="9735312" y="4087368"/>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754B87"/>
                </a:solidFill>
                <a:latin typeface="Arial"/>
              </a:defRPr>
            </a:pPr>
            <a:r>
              <a:t>3.</a:t>
            </a:r>
          </a:p>
        </p:txBody>
      </p:sp>
      <p:sp>
        <p:nvSpPr>
          <p:cNvPr id="60" name="TextBox 59"/>
          <p:cNvSpPr txBox="1"/>
          <p:nvPr/>
        </p:nvSpPr>
        <p:spPr>
          <a:xfrm>
            <a:off x="10229088" y="4059936"/>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1,234 × 125</a:t>
            </a:r>
          </a:p>
        </p:txBody>
      </p:sp>
      <p:sp>
        <p:nvSpPr>
          <p:cNvPr id="61" name="Rectangle 60"/>
          <p:cNvSpPr/>
          <p:nvPr/>
        </p:nvSpPr>
        <p:spPr>
          <a:xfrm>
            <a:off x="9625584" y="4805172"/>
            <a:ext cx="4620768" cy="909828"/>
          </a:xfrm>
          <a:prstGeom prst="rect">
            <a:avLst/>
          </a:prstGeom>
          <a:solidFill>
            <a:srgbClr val="F5F0F7"/>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62" name="TextBox 61"/>
          <p:cNvSpPr txBox="1"/>
          <p:nvPr/>
        </p:nvSpPr>
        <p:spPr>
          <a:xfrm>
            <a:off x="9735312" y="5015484"/>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754B87"/>
                </a:solidFill>
                <a:latin typeface="Arial"/>
              </a:defRPr>
            </a:pPr>
            <a:r>
              <a:t>4.</a:t>
            </a:r>
          </a:p>
        </p:txBody>
      </p:sp>
      <p:sp>
        <p:nvSpPr>
          <p:cNvPr id="63" name="TextBox 62"/>
          <p:cNvSpPr txBox="1"/>
          <p:nvPr/>
        </p:nvSpPr>
        <p:spPr>
          <a:xfrm>
            <a:off x="10229088" y="4988052"/>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2,105 × 304</a:t>
            </a:r>
          </a:p>
        </p:txBody>
      </p:sp>
      <p:sp>
        <p:nvSpPr>
          <p:cNvPr id="64" name="Rectangle 63"/>
          <p:cNvSpPr/>
          <p:nvPr/>
        </p:nvSpPr>
        <p:spPr>
          <a:xfrm>
            <a:off x="9625584" y="5733288"/>
            <a:ext cx="4620768" cy="909828"/>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65" name="TextBox 64"/>
          <p:cNvSpPr txBox="1"/>
          <p:nvPr/>
        </p:nvSpPr>
        <p:spPr>
          <a:xfrm>
            <a:off x="9735312" y="5943600"/>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754B87"/>
                </a:solidFill>
                <a:latin typeface="Arial"/>
              </a:defRPr>
            </a:pPr>
            <a:r>
              <a:t>5.</a:t>
            </a:r>
          </a:p>
        </p:txBody>
      </p:sp>
      <p:sp>
        <p:nvSpPr>
          <p:cNvPr id="66" name="TextBox 65"/>
          <p:cNvSpPr txBox="1"/>
          <p:nvPr/>
        </p:nvSpPr>
        <p:spPr>
          <a:xfrm>
            <a:off x="10229088" y="5916168"/>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4,316 × 1,024</a:t>
            </a:r>
          </a:p>
        </p:txBody>
      </p:sp>
      <p:sp>
        <p:nvSpPr>
          <p:cNvPr id="67" name="Rectangle 66"/>
          <p:cNvSpPr/>
          <p:nvPr/>
        </p:nvSpPr>
        <p:spPr>
          <a:xfrm>
            <a:off x="9625584" y="6661403"/>
            <a:ext cx="4620768" cy="909828"/>
          </a:xfrm>
          <a:prstGeom prst="rect">
            <a:avLst/>
          </a:prstGeom>
          <a:solidFill>
            <a:srgbClr val="F5F0F7"/>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68" name="TextBox 67"/>
          <p:cNvSpPr txBox="1"/>
          <p:nvPr/>
        </p:nvSpPr>
        <p:spPr>
          <a:xfrm>
            <a:off x="9735312" y="6871716"/>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754B87"/>
                </a:solidFill>
                <a:latin typeface="Arial"/>
              </a:defRPr>
            </a:pPr>
            <a:r>
              <a:t>6.</a:t>
            </a:r>
          </a:p>
        </p:txBody>
      </p:sp>
      <p:sp>
        <p:nvSpPr>
          <p:cNvPr id="69" name="TextBox 68"/>
          <p:cNvSpPr txBox="1"/>
          <p:nvPr/>
        </p:nvSpPr>
        <p:spPr>
          <a:xfrm>
            <a:off x="10229088" y="6844283"/>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7,029 × 2,316</a:t>
            </a:r>
          </a:p>
        </p:txBody>
      </p:sp>
      <p:sp>
        <p:nvSpPr>
          <p:cNvPr id="70" name="Progression curved arrow: Thread 1 to Thread 2"/>
          <p:cNvSpPr/>
          <p:nvPr/>
        </p:nvSpPr>
        <p:spPr>
          <a:xfrm>
            <a:off x="4671059" y="7506573"/>
            <a:ext cx="621792" cy="314053"/>
          </a:xfrm>
          <a:custGeom>
            <a:avLst/>
            <a:gdLst/>
            <a:ahLst/>
            <a:cxnLst/>
            <a:rect l="0" t="0" r="100000" b="100000"/>
            <a:pathLst>
              <a:path w="100000" h="100000" fill="none">
                <a:moveTo>
                  <a:pt x="6970" y="48439"/>
                </a:moveTo>
                <a:cubicBezTo>
                  <a:pt x="40678" y="114499"/>
                  <a:pt x="73026" y="88145"/>
                  <a:pt x="93030" y="13799"/>
                </a:cubicBezTo>
              </a:path>
              <a:path w="100000" h="100000" fill="none">
                <a:moveTo>
                  <a:pt x="69018" y="40431"/>
                </a:moveTo>
                <a:lnTo>
                  <a:pt x="93030" y="13799"/>
                </a:lnTo>
                <a:lnTo>
                  <a:pt x="92217" y="66207"/>
                </a:lnTo>
              </a:path>
            </a:pathLst>
          </a:custGeom>
          <a:noFill/>
          <a:ln w="64449" cap="rnd">
            <a:solidFill>
              <a:schemeClr val="accent6">
                <a:lumMod val="60000"/>
                <a:lumOff val="40000"/>
              </a:schemeClr>
            </a:solidFill>
            <a:round/>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71" name="Progression curved arrow: Thread 2 to Thread 3"/>
          <p:cNvSpPr/>
          <p:nvPr/>
        </p:nvSpPr>
        <p:spPr>
          <a:xfrm>
            <a:off x="9243991" y="7498079"/>
            <a:ext cx="621792" cy="314053"/>
          </a:xfrm>
          <a:custGeom>
            <a:avLst/>
            <a:gdLst/>
            <a:ahLst/>
            <a:cxnLst/>
            <a:rect l="0" t="0" r="100000" b="100000"/>
            <a:pathLst>
              <a:path w="100000" h="100000" fill="none">
                <a:moveTo>
                  <a:pt x="6970" y="48439"/>
                </a:moveTo>
                <a:cubicBezTo>
                  <a:pt x="40678" y="114499"/>
                  <a:pt x="73026" y="88145"/>
                  <a:pt x="93030" y="13799"/>
                </a:cubicBezTo>
              </a:path>
              <a:path w="100000" h="100000" fill="none">
                <a:moveTo>
                  <a:pt x="69018" y="40431"/>
                </a:moveTo>
                <a:lnTo>
                  <a:pt x="93030" y="13799"/>
                </a:lnTo>
                <a:lnTo>
                  <a:pt x="92217" y="66207"/>
                </a:lnTo>
              </a:path>
            </a:pathLst>
          </a:custGeom>
          <a:noFill/>
          <a:ln w="64449" cap="rnd">
            <a:solidFill>
              <a:schemeClr val="accent6">
                <a:lumMod val="60000"/>
                <a:lumOff val="40000"/>
              </a:schemeClr>
            </a:solidFill>
            <a:round/>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7F8FA"/>
        </a:solidFill>
        <a:effectLst/>
      </p:bgPr>
    </p:bg>
    <p:spTree>
      <p:nvGrpSpPr>
        <p:cNvPr id="1" name=""/>
        <p:cNvGrpSpPr/>
        <p:nvPr/>
      </p:nvGrpSpPr>
      <p:grpSpPr/>
      <p:sp>
        <p:nvSpPr>
          <p:cNvPr id="2" name="Rectangle 1"/>
          <p:cNvSpPr/>
          <p:nvPr/>
        </p:nvSpPr>
        <p:spPr>
          <a:xfrm>
            <a:off x="0" y="0"/>
            <a:ext cx="14630400" cy="91440"/>
          </a:xfrm>
          <a:prstGeom prst="rect">
            <a:avLst/>
          </a:prstGeom>
          <a:solidFill>
            <a:srgbClr val="176B73"/>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3" name="TextBox 2"/>
          <p:cNvSpPr txBox="1"/>
          <p:nvPr/>
        </p:nvSpPr>
        <p:spPr>
          <a:xfrm>
            <a:off x="384048" y="219456"/>
            <a:ext cx="12435840" cy="448056"/>
          </a:xfrm>
          <a:prstGeom prst="rect">
            <a:avLst/>
          </a:prstGeom>
          <a:noFill/>
        </p:spPr>
        <p:txBody>
          <a:bodyPr wrap="square" tIns="36576" bIns="36576" anchor="t">
            <a:spAutoFit/>
          </a:bodyPr>
          <a:lstStyle/>
          <a:p>
            <a:pPr>
              <a:lnSpc>
                <a:spcPts val="3132"/>
              </a:lnSpc>
              <a:spcBef>
                <a:spcPts val="0"/>
              </a:spcBef>
              <a:spcAft>
                <a:spcPts val="0"/>
              </a:spcAft>
              <a:defRPr sz="2900" b="1">
                <a:solidFill>
                  <a:srgbClr val="182B3A"/>
                </a:solidFill>
                <a:latin typeface="Arial"/>
              </a:defRPr>
            </a:pPr>
            <a:r>
              <a:t>Lattice Multiplication</a:t>
            </a:r>
          </a:p>
        </p:txBody>
      </p:sp>
      <p:sp>
        <p:nvSpPr>
          <p:cNvPr id="4" name="TextBox 3"/>
          <p:cNvSpPr txBox="1"/>
          <p:nvPr/>
        </p:nvSpPr>
        <p:spPr>
          <a:xfrm>
            <a:off x="384048" y="713232"/>
            <a:ext cx="13533120" cy="274320"/>
          </a:xfrm>
          <a:prstGeom prst="rect">
            <a:avLst/>
          </a:prstGeom>
          <a:noFill/>
        </p:spPr>
        <p:txBody>
          <a:bodyPr wrap="square" tIns="36576" bIns="36576" anchor="t">
            <a:spAutoFit/>
          </a:bodyPr>
          <a:lstStyle/>
          <a:p>
            <a:pPr>
              <a:lnSpc>
                <a:spcPts val="1512"/>
              </a:lnSpc>
              <a:spcBef>
                <a:spcPts val="0"/>
              </a:spcBef>
              <a:spcAft>
                <a:spcPts val="0"/>
              </a:spcAft>
              <a:defRPr sz="1400" b="0">
                <a:solidFill>
                  <a:srgbClr val="526472"/>
                </a:solidFill>
                <a:latin typeface="Arial"/>
              </a:defRPr>
            </a:pPr>
            <a:r>
              <a:t>Independent practice 2  •  Choose a column. Show the full written method.</a:t>
            </a:r>
          </a:p>
        </p:txBody>
      </p:sp>
      <p:sp>
        <p:nvSpPr>
          <p:cNvPr id="5" name="TextBox 4"/>
          <p:cNvSpPr txBox="1"/>
          <p:nvPr/>
        </p:nvSpPr>
        <p:spPr>
          <a:xfrm>
            <a:off x="384048" y="7882127"/>
            <a:ext cx="10058400" cy="210312"/>
          </a:xfrm>
          <a:prstGeom prst="rect">
            <a:avLst/>
          </a:prstGeom>
          <a:noFill/>
        </p:spPr>
        <p:txBody>
          <a:bodyPr wrap="square" tIns="36576" bIns="36576" anchor="t">
            <a:spAutoFit/>
          </a:bodyPr>
          <a:lstStyle/>
          <a:p>
            <a:pPr>
              <a:lnSpc>
                <a:spcPts val="1188"/>
              </a:lnSpc>
              <a:spcBef>
                <a:spcPts val="0"/>
              </a:spcBef>
              <a:spcAft>
                <a:spcPts val="0"/>
              </a:spcAft>
              <a:defRPr sz="1100" b="0">
                <a:solidFill>
                  <a:srgbClr val="526472"/>
                </a:solidFill>
                <a:latin typeface="Arial"/>
              </a:defRPr>
            </a:pPr>
            <a:r>
              <a:t>GCSE Maths revision  •  Record your working in your booklet or webapp.</a:t>
            </a:r>
          </a:p>
        </p:txBody>
      </p:sp>
      <p:sp>
        <p:nvSpPr>
          <p:cNvPr id="6" name="TextBox 5"/>
          <p:cNvSpPr txBox="1"/>
          <p:nvPr/>
        </p:nvSpPr>
        <p:spPr>
          <a:xfrm>
            <a:off x="11430000" y="7863840"/>
            <a:ext cx="2788920" cy="228600"/>
          </a:xfrm>
          <a:prstGeom prst="rect">
            <a:avLst/>
          </a:prstGeom>
          <a:noFill/>
        </p:spPr>
        <p:txBody>
          <a:bodyPr wrap="square" tIns="36576" bIns="36576" anchor="t">
            <a:spAutoFit/>
          </a:bodyPr>
          <a:lstStyle/>
          <a:p>
            <a:pPr>
              <a:lnSpc>
                <a:spcPts val="1188"/>
              </a:lnSpc>
              <a:spcBef>
                <a:spcPts val="0"/>
              </a:spcBef>
              <a:spcAft>
                <a:spcPts val="0"/>
              </a:spcAft>
              <a:defRPr sz="1100" b="0">
                <a:solidFill>
                  <a:srgbClr val="526472"/>
                </a:solidFill>
                <a:latin typeface="Arial"/>
              </a:defRPr>
            </a:pPr>
            <a:r>
              <a:t>M01-S05  •  Topic slide 7</a:t>
            </a:r>
          </a:p>
        </p:txBody>
      </p:sp>
      <p:sp>
        <p:nvSpPr>
          <p:cNvPr id="7" name="Rectangle 6"/>
          <p:cNvSpPr/>
          <p:nvPr/>
        </p:nvSpPr>
        <p:spPr>
          <a:xfrm>
            <a:off x="384048" y="1124712"/>
            <a:ext cx="4620768" cy="438912"/>
          </a:xfrm>
          <a:prstGeom prst="rect">
            <a:avLst/>
          </a:prstGeom>
          <a:solidFill>
            <a:srgbClr val="176B73"/>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8" name="TextBox 7"/>
          <p:cNvSpPr txBox="1"/>
          <p:nvPr/>
        </p:nvSpPr>
        <p:spPr>
          <a:xfrm>
            <a:off x="438912" y="1152144"/>
            <a:ext cx="4511040" cy="338328"/>
          </a:xfrm>
          <a:prstGeom prst="rect">
            <a:avLst/>
          </a:prstGeom>
          <a:noFill/>
        </p:spPr>
        <p:txBody>
          <a:bodyPr wrap="square" tIns="36576" bIns="36576" anchor="t">
            <a:spAutoFit/>
          </a:bodyPr>
          <a:lstStyle/>
          <a:p>
            <a:pPr>
              <a:lnSpc>
                <a:spcPts val="2160"/>
              </a:lnSpc>
              <a:spcBef>
                <a:spcPts val="0"/>
              </a:spcBef>
              <a:spcAft>
                <a:spcPts val="0"/>
              </a:spcAft>
              <a:defRPr sz="2000" b="1">
                <a:solidFill>
                  <a:srgbClr val="FFFFFF"/>
                </a:solidFill>
                <a:latin typeface="Arial"/>
              </a:defRPr>
            </a:pPr>
            <a:r>
              <a:t>Start</a:t>
            </a:r>
          </a:p>
        </p:txBody>
      </p:sp>
      <p:sp>
        <p:nvSpPr>
          <p:cNvPr id="9" name="TextBox 8"/>
          <p:cNvSpPr txBox="1"/>
          <p:nvPr/>
        </p:nvSpPr>
        <p:spPr>
          <a:xfrm>
            <a:off x="420623" y="1618488"/>
            <a:ext cx="4547616" cy="329184"/>
          </a:xfrm>
          <a:prstGeom prst="rect">
            <a:avLst/>
          </a:prstGeom>
          <a:noFill/>
        </p:spPr>
        <p:txBody>
          <a:bodyPr wrap="square" tIns="36576" bIns="36576" anchor="t">
            <a:spAutoFit/>
          </a:bodyPr>
          <a:lstStyle/>
          <a:p>
            <a:pPr>
              <a:lnSpc>
                <a:spcPts val="1512"/>
              </a:lnSpc>
              <a:spcBef>
                <a:spcPts val="0"/>
              </a:spcBef>
              <a:spcAft>
                <a:spcPts val="0"/>
              </a:spcAft>
              <a:defRPr sz="1400" b="1">
                <a:solidFill>
                  <a:srgbClr val="176B73"/>
                </a:solidFill>
                <a:latin typeface="Arial"/>
              </a:defRPr>
            </a:pPr>
            <a:r>
              <a:t>2 digits × 1 digit</a:t>
            </a:r>
          </a:p>
        </p:txBody>
      </p:sp>
      <p:sp>
        <p:nvSpPr>
          <p:cNvPr id="10" name="Rectangle 9"/>
          <p:cNvSpPr/>
          <p:nvPr/>
        </p:nvSpPr>
        <p:spPr>
          <a:xfrm>
            <a:off x="5004816" y="1124712"/>
            <a:ext cx="4620768" cy="438912"/>
          </a:xfrm>
          <a:prstGeom prst="rect">
            <a:avLst/>
          </a:prstGeom>
          <a:solidFill>
            <a:srgbClr val="3559A2"/>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1" name="TextBox 10"/>
          <p:cNvSpPr txBox="1"/>
          <p:nvPr/>
        </p:nvSpPr>
        <p:spPr>
          <a:xfrm>
            <a:off x="5059680" y="1152144"/>
            <a:ext cx="4511040" cy="338328"/>
          </a:xfrm>
          <a:prstGeom prst="rect">
            <a:avLst/>
          </a:prstGeom>
          <a:noFill/>
        </p:spPr>
        <p:txBody>
          <a:bodyPr wrap="square" tIns="36576" bIns="36576" anchor="t">
            <a:spAutoFit/>
          </a:bodyPr>
          <a:lstStyle/>
          <a:p>
            <a:pPr>
              <a:lnSpc>
                <a:spcPts val="2160"/>
              </a:lnSpc>
              <a:spcBef>
                <a:spcPts val="0"/>
              </a:spcBef>
              <a:spcAft>
                <a:spcPts val="0"/>
              </a:spcAft>
              <a:defRPr sz="2000" b="1">
                <a:solidFill>
                  <a:srgbClr val="FFFFFF"/>
                </a:solidFill>
                <a:latin typeface="Arial"/>
              </a:defRPr>
            </a:pPr>
            <a:r>
              <a:t>Build</a:t>
            </a:r>
          </a:p>
        </p:txBody>
      </p:sp>
      <p:sp>
        <p:nvSpPr>
          <p:cNvPr id="12" name="TextBox 11"/>
          <p:cNvSpPr txBox="1"/>
          <p:nvPr/>
        </p:nvSpPr>
        <p:spPr>
          <a:xfrm>
            <a:off x="5041392" y="1618488"/>
            <a:ext cx="4547616" cy="329184"/>
          </a:xfrm>
          <a:prstGeom prst="rect">
            <a:avLst/>
          </a:prstGeom>
          <a:noFill/>
        </p:spPr>
        <p:txBody>
          <a:bodyPr wrap="square" tIns="36576" bIns="36576" anchor="t">
            <a:spAutoFit/>
          </a:bodyPr>
          <a:lstStyle/>
          <a:p>
            <a:pPr>
              <a:lnSpc>
                <a:spcPts val="1512"/>
              </a:lnSpc>
              <a:spcBef>
                <a:spcPts val="0"/>
              </a:spcBef>
              <a:spcAft>
                <a:spcPts val="0"/>
              </a:spcAft>
              <a:defRPr sz="1400" b="1">
                <a:solidFill>
                  <a:srgbClr val="3559A2"/>
                </a:solidFill>
                <a:latin typeface="Arial"/>
              </a:defRPr>
            </a:pPr>
            <a:r>
              <a:t>2 digits × 2 digits</a:t>
            </a:r>
          </a:p>
        </p:txBody>
      </p:sp>
      <p:sp>
        <p:nvSpPr>
          <p:cNvPr id="13" name="Rectangle 12"/>
          <p:cNvSpPr/>
          <p:nvPr/>
        </p:nvSpPr>
        <p:spPr>
          <a:xfrm>
            <a:off x="9625584" y="1124712"/>
            <a:ext cx="4620768" cy="438912"/>
          </a:xfrm>
          <a:prstGeom prst="rect">
            <a:avLst/>
          </a:prstGeom>
          <a:solidFill>
            <a:srgbClr val="754B87"/>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4" name="TextBox 13"/>
          <p:cNvSpPr txBox="1"/>
          <p:nvPr/>
        </p:nvSpPr>
        <p:spPr>
          <a:xfrm>
            <a:off x="9680448" y="1152144"/>
            <a:ext cx="4511040" cy="338328"/>
          </a:xfrm>
          <a:prstGeom prst="rect">
            <a:avLst/>
          </a:prstGeom>
          <a:noFill/>
        </p:spPr>
        <p:txBody>
          <a:bodyPr wrap="square" tIns="36576" bIns="36576" anchor="t">
            <a:spAutoFit/>
          </a:bodyPr>
          <a:lstStyle/>
          <a:p>
            <a:pPr>
              <a:lnSpc>
                <a:spcPts val="2160"/>
              </a:lnSpc>
              <a:spcBef>
                <a:spcPts val="0"/>
              </a:spcBef>
              <a:spcAft>
                <a:spcPts val="0"/>
              </a:spcAft>
              <a:defRPr sz="2000" b="1">
                <a:solidFill>
                  <a:srgbClr val="FFFFFF"/>
                </a:solidFill>
                <a:latin typeface="Arial"/>
              </a:defRPr>
            </a:pPr>
            <a:r>
              <a:t>Confidence</a:t>
            </a:r>
          </a:p>
        </p:txBody>
      </p:sp>
      <p:sp>
        <p:nvSpPr>
          <p:cNvPr id="15" name="TextBox 14"/>
          <p:cNvSpPr txBox="1"/>
          <p:nvPr/>
        </p:nvSpPr>
        <p:spPr>
          <a:xfrm>
            <a:off x="9662160" y="1618488"/>
            <a:ext cx="4547616" cy="329184"/>
          </a:xfrm>
          <a:prstGeom prst="rect">
            <a:avLst/>
          </a:prstGeom>
          <a:noFill/>
        </p:spPr>
        <p:txBody>
          <a:bodyPr wrap="square" tIns="36576" bIns="36576" anchor="t">
            <a:spAutoFit/>
          </a:bodyPr>
          <a:lstStyle/>
          <a:p>
            <a:pPr>
              <a:lnSpc>
                <a:spcPts val="1512"/>
              </a:lnSpc>
              <a:spcBef>
                <a:spcPts val="0"/>
              </a:spcBef>
              <a:spcAft>
                <a:spcPts val="0"/>
              </a:spcAft>
              <a:defRPr sz="1400" b="1">
                <a:solidFill>
                  <a:srgbClr val="754B87"/>
                </a:solidFill>
                <a:latin typeface="Arial"/>
              </a:defRPr>
            </a:pPr>
            <a:r>
              <a:t>Up to 4 digits × 4 digits</a:t>
            </a:r>
          </a:p>
        </p:txBody>
      </p:sp>
      <p:sp>
        <p:nvSpPr>
          <p:cNvPr id="16" name="Rectangle 15"/>
          <p:cNvSpPr/>
          <p:nvPr/>
        </p:nvSpPr>
        <p:spPr>
          <a:xfrm>
            <a:off x="384048" y="2020824"/>
            <a:ext cx="4620768" cy="909828"/>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7" name="TextBox 16"/>
          <p:cNvSpPr txBox="1"/>
          <p:nvPr/>
        </p:nvSpPr>
        <p:spPr>
          <a:xfrm>
            <a:off x="493776" y="2231136"/>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176B73"/>
                </a:solidFill>
                <a:latin typeface="Arial"/>
              </a:defRPr>
            </a:pPr>
            <a:r>
              <a:t>1.</a:t>
            </a:r>
          </a:p>
        </p:txBody>
      </p:sp>
      <p:sp>
        <p:nvSpPr>
          <p:cNvPr id="18" name="TextBox 17"/>
          <p:cNvSpPr txBox="1"/>
          <p:nvPr/>
        </p:nvSpPr>
        <p:spPr>
          <a:xfrm>
            <a:off x="987552" y="2203704"/>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24 × 6</a:t>
            </a:r>
          </a:p>
        </p:txBody>
      </p:sp>
      <p:sp>
        <p:nvSpPr>
          <p:cNvPr id="19" name="Rectangle 18"/>
          <p:cNvSpPr/>
          <p:nvPr/>
        </p:nvSpPr>
        <p:spPr>
          <a:xfrm>
            <a:off x="384048" y="2948939"/>
            <a:ext cx="4620768" cy="909828"/>
          </a:xfrm>
          <a:prstGeom prst="rect">
            <a:avLst/>
          </a:prstGeom>
          <a:solidFill>
            <a:srgbClr val="EDF6F5"/>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20" name="TextBox 19"/>
          <p:cNvSpPr txBox="1"/>
          <p:nvPr/>
        </p:nvSpPr>
        <p:spPr>
          <a:xfrm>
            <a:off x="493776" y="3159251"/>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176B73"/>
                </a:solidFill>
                <a:latin typeface="Arial"/>
              </a:defRPr>
            </a:pPr>
            <a:r>
              <a:t>2.</a:t>
            </a:r>
          </a:p>
        </p:txBody>
      </p:sp>
      <p:sp>
        <p:nvSpPr>
          <p:cNvPr id="21" name="TextBox 20"/>
          <p:cNvSpPr txBox="1"/>
          <p:nvPr/>
        </p:nvSpPr>
        <p:spPr>
          <a:xfrm>
            <a:off x="987552" y="3131820"/>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57 × 4</a:t>
            </a:r>
          </a:p>
        </p:txBody>
      </p:sp>
      <p:sp>
        <p:nvSpPr>
          <p:cNvPr id="22" name="Rectangle 21"/>
          <p:cNvSpPr/>
          <p:nvPr/>
        </p:nvSpPr>
        <p:spPr>
          <a:xfrm>
            <a:off x="384048" y="3877056"/>
            <a:ext cx="4620768" cy="909828"/>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23" name="TextBox 22"/>
          <p:cNvSpPr txBox="1"/>
          <p:nvPr/>
        </p:nvSpPr>
        <p:spPr>
          <a:xfrm>
            <a:off x="493776" y="4087368"/>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176B73"/>
                </a:solidFill>
                <a:latin typeface="Arial"/>
              </a:defRPr>
            </a:pPr>
            <a:r>
              <a:t>3.</a:t>
            </a:r>
          </a:p>
        </p:txBody>
      </p:sp>
      <p:sp>
        <p:nvSpPr>
          <p:cNvPr id="24" name="TextBox 23"/>
          <p:cNvSpPr txBox="1"/>
          <p:nvPr/>
        </p:nvSpPr>
        <p:spPr>
          <a:xfrm>
            <a:off x="987552" y="4059936"/>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68 × 3</a:t>
            </a:r>
          </a:p>
        </p:txBody>
      </p:sp>
      <p:sp>
        <p:nvSpPr>
          <p:cNvPr id="25" name="Rectangle 24"/>
          <p:cNvSpPr/>
          <p:nvPr/>
        </p:nvSpPr>
        <p:spPr>
          <a:xfrm>
            <a:off x="384048" y="4805172"/>
            <a:ext cx="4620768" cy="909828"/>
          </a:xfrm>
          <a:prstGeom prst="rect">
            <a:avLst/>
          </a:prstGeom>
          <a:solidFill>
            <a:srgbClr val="EDF6F5"/>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26" name="TextBox 25"/>
          <p:cNvSpPr txBox="1"/>
          <p:nvPr/>
        </p:nvSpPr>
        <p:spPr>
          <a:xfrm>
            <a:off x="493776" y="5015484"/>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176B73"/>
                </a:solidFill>
                <a:latin typeface="Arial"/>
              </a:defRPr>
            </a:pPr>
            <a:r>
              <a:t>4.</a:t>
            </a:r>
          </a:p>
        </p:txBody>
      </p:sp>
      <p:sp>
        <p:nvSpPr>
          <p:cNvPr id="27" name="TextBox 26"/>
          <p:cNvSpPr txBox="1"/>
          <p:nvPr/>
        </p:nvSpPr>
        <p:spPr>
          <a:xfrm>
            <a:off x="987552" y="4988052"/>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39 × 7</a:t>
            </a:r>
          </a:p>
        </p:txBody>
      </p:sp>
      <p:sp>
        <p:nvSpPr>
          <p:cNvPr id="28" name="Rectangle 27"/>
          <p:cNvSpPr/>
          <p:nvPr/>
        </p:nvSpPr>
        <p:spPr>
          <a:xfrm>
            <a:off x="384048" y="5733288"/>
            <a:ext cx="4620768" cy="909828"/>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29" name="TextBox 28"/>
          <p:cNvSpPr txBox="1"/>
          <p:nvPr/>
        </p:nvSpPr>
        <p:spPr>
          <a:xfrm>
            <a:off x="493776" y="5943600"/>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176B73"/>
                </a:solidFill>
                <a:latin typeface="Arial"/>
              </a:defRPr>
            </a:pPr>
            <a:r>
              <a:t>5.</a:t>
            </a:r>
          </a:p>
        </p:txBody>
      </p:sp>
      <p:sp>
        <p:nvSpPr>
          <p:cNvPr id="30" name="TextBox 29"/>
          <p:cNvSpPr txBox="1"/>
          <p:nvPr/>
        </p:nvSpPr>
        <p:spPr>
          <a:xfrm>
            <a:off x="987552" y="5916168"/>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86 × 5</a:t>
            </a:r>
          </a:p>
        </p:txBody>
      </p:sp>
      <p:sp>
        <p:nvSpPr>
          <p:cNvPr id="31" name="Rectangle 30"/>
          <p:cNvSpPr/>
          <p:nvPr/>
        </p:nvSpPr>
        <p:spPr>
          <a:xfrm>
            <a:off x="384048" y="6661403"/>
            <a:ext cx="4620768" cy="909828"/>
          </a:xfrm>
          <a:prstGeom prst="rect">
            <a:avLst/>
          </a:prstGeom>
          <a:solidFill>
            <a:srgbClr val="EDF6F5"/>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32" name="TextBox 31"/>
          <p:cNvSpPr txBox="1"/>
          <p:nvPr/>
        </p:nvSpPr>
        <p:spPr>
          <a:xfrm>
            <a:off x="493776" y="6871716"/>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176B73"/>
                </a:solidFill>
                <a:latin typeface="Arial"/>
              </a:defRPr>
            </a:pPr>
            <a:r>
              <a:t>6.</a:t>
            </a:r>
          </a:p>
        </p:txBody>
      </p:sp>
      <p:sp>
        <p:nvSpPr>
          <p:cNvPr id="33" name="TextBox 32"/>
          <p:cNvSpPr txBox="1"/>
          <p:nvPr/>
        </p:nvSpPr>
        <p:spPr>
          <a:xfrm>
            <a:off x="987552" y="6844283"/>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74 × 8</a:t>
            </a:r>
          </a:p>
        </p:txBody>
      </p:sp>
      <p:sp>
        <p:nvSpPr>
          <p:cNvPr id="34" name="Rectangle 33"/>
          <p:cNvSpPr/>
          <p:nvPr/>
        </p:nvSpPr>
        <p:spPr>
          <a:xfrm>
            <a:off x="5004816" y="2020824"/>
            <a:ext cx="4620768" cy="909828"/>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35" name="TextBox 34"/>
          <p:cNvSpPr txBox="1"/>
          <p:nvPr/>
        </p:nvSpPr>
        <p:spPr>
          <a:xfrm>
            <a:off x="5114544" y="2231136"/>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3559A2"/>
                </a:solidFill>
                <a:latin typeface="Arial"/>
              </a:defRPr>
            </a:pPr>
            <a:r>
              <a:t>1.</a:t>
            </a:r>
          </a:p>
        </p:txBody>
      </p:sp>
      <p:sp>
        <p:nvSpPr>
          <p:cNvPr id="36" name="TextBox 35"/>
          <p:cNvSpPr txBox="1"/>
          <p:nvPr/>
        </p:nvSpPr>
        <p:spPr>
          <a:xfrm>
            <a:off x="5608320" y="2203704"/>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23 × 14</a:t>
            </a:r>
          </a:p>
        </p:txBody>
      </p:sp>
      <p:sp>
        <p:nvSpPr>
          <p:cNvPr id="37" name="Rectangle 36"/>
          <p:cNvSpPr/>
          <p:nvPr/>
        </p:nvSpPr>
        <p:spPr>
          <a:xfrm>
            <a:off x="5004816" y="2948939"/>
            <a:ext cx="4620768" cy="909828"/>
          </a:xfrm>
          <a:prstGeom prst="rect">
            <a:avLst/>
          </a:prstGeom>
          <a:solidFill>
            <a:srgbClr val="EFF3FA"/>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38" name="TextBox 37"/>
          <p:cNvSpPr txBox="1"/>
          <p:nvPr/>
        </p:nvSpPr>
        <p:spPr>
          <a:xfrm>
            <a:off x="5114544" y="3159251"/>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3559A2"/>
                </a:solidFill>
                <a:latin typeface="Arial"/>
              </a:defRPr>
            </a:pPr>
            <a:r>
              <a:t>2.</a:t>
            </a:r>
          </a:p>
        </p:txBody>
      </p:sp>
      <p:sp>
        <p:nvSpPr>
          <p:cNvPr id="39" name="TextBox 38"/>
          <p:cNvSpPr txBox="1"/>
          <p:nvPr/>
        </p:nvSpPr>
        <p:spPr>
          <a:xfrm>
            <a:off x="5608320" y="3131820"/>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46 × 25</a:t>
            </a:r>
          </a:p>
        </p:txBody>
      </p:sp>
      <p:sp>
        <p:nvSpPr>
          <p:cNvPr id="40" name="Rectangle 39"/>
          <p:cNvSpPr/>
          <p:nvPr/>
        </p:nvSpPr>
        <p:spPr>
          <a:xfrm>
            <a:off x="5004816" y="3877056"/>
            <a:ext cx="4620768" cy="909828"/>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41" name="TextBox 40"/>
          <p:cNvSpPr txBox="1"/>
          <p:nvPr/>
        </p:nvSpPr>
        <p:spPr>
          <a:xfrm>
            <a:off x="5114544" y="4087368"/>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3559A2"/>
                </a:solidFill>
                <a:latin typeface="Arial"/>
              </a:defRPr>
            </a:pPr>
            <a:r>
              <a:t>3.</a:t>
            </a:r>
          </a:p>
        </p:txBody>
      </p:sp>
      <p:sp>
        <p:nvSpPr>
          <p:cNvPr id="42" name="TextBox 41"/>
          <p:cNvSpPr txBox="1"/>
          <p:nvPr/>
        </p:nvSpPr>
        <p:spPr>
          <a:xfrm>
            <a:off x="5608320" y="4059936"/>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37 × 42</a:t>
            </a:r>
          </a:p>
        </p:txBody>
      </p:sp>
      <p:sp>
        <p:nvSpPr>
          <p:cNvPr id="43" name="Rectangle 42"/>
          <p:cNvSpPr/>
          <p:nvPr/>
        </p:nvSpPr>
        <p:spPr>
          <a:xfrm>
            <a:off x="5004816" y="4805172"/>
            <a:ext cx="4620768" cy="909828"/>
          </a:xfrm>
          <a:prstGeom prst="rect">
            <a:avLst/>
          </a:prstGeom>
          <a:solidFill>
            <a:srgbClr val="EFF3FA"/>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44" name="TextBox 43"/>
          <p:cNvSpPr txBox="1"/>
          <p:nvPr/>
        </p:nvSpPr>
        <p:spPr>
          <a:xfrm>
            <a:off x="5114544" y="5015484"/>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3559A2"/>
                </a:solidFill>
                <a:latin typeface="Arial"/>
              </a:defRPr>
            </a:pPr>
            <a:r>
              <a:t>4.</a:t>
            </a:r>
          </a:p>
        </p:txBody>
      </p:sp>
      <p:sp>
        <p:nvSpPr>
          <p:cNvPr id="45" name="TextBox 44"/>
          <p:cNvSpPr txBox="1"/>
          <p:nvPr/>
        </p:nvSpPr>
        <p:spPr>
          <a:xfrm>
            <a:off x="5608320" y="4988052"/>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58 × 36</a:t>
            </a:r>
          </a:p>
        </p:txBody>
      </p:sp>
      <p:sp>
        <p:nvSpPr>
          <p:cNvPr id="46" name="Rectangle 45"/>
          <p:cNvSpPr/>
          <p:nvPr/>
        </p:nvSpPr>
        <p:spPr>
          <a:xfrm>
            <a:off x="5004816" y="5733288"/>
            <a:ext cx="4620768" cy="909828"/>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47" name="TextBox 46"/>
          <p:cNvSpPr txBox="1"/>
          <p:nvPr/>
        </p:nvSpPr>
        <p:spPr>
          <a:xfrm>
            <a:off x="5114544" y="5943600"/>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3559A2"/>
                </a:solidFill>
                <a:latin typeface="Arial"/>
              </a:defRPr>
            </a:pPr>
            <a:r>
              <a:t>5.</a:t>
            </a:r>
          </a:p>
        </p:txBody>
      </p:sp>
      <p:sp>
        <p:nvSpPr>
          <p:cNvPr id="48" name="TextBox 47"/>
          <p:cNvSpPr txBox="1"/>
          <p:nvPr/>
        </p:nvSpPr>
        <p:spPr>
          <a:xfrm>
            <a:off x="5608320" y="5916168"/>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64 × 27</a:t>
            </a:r>
          </a:p>
        </p:txBody>
      </p:sp>
      <p:sp>
        <p:nvSpPr>
          <p:cNvPr id="49" name="Rectangle 48"/>
          <p:cNvSpPr/>
          <p:nvPr/>
        </p:nvSpPr>
        <p:spPr>
          <a:xfrm>
            <a:off x="5004816" y="6661403"/>
            <a:ext cx="4620768" cy="909828"/>
          </a:xfrm>
          <a:prstGeom prst="rect">
            <a:avLst/>
          </a:prstGeom>
          <a:solidFill>
            <a:srgbClr val="EFF3FA"/>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50" name="TextBox 49"/>
          <p:cNvSpPr txBox="1"/>
          <p:nvPr/>
        </p:nvSpPr>
        <p:spPr>
          <a:xfrm>
            <a:off x="5114544" y="6871716"/>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3559A2"/>
                </a:solidFill>
                <a:latin typeface="Arial"/>
              </a:defRPr>
            </a:pPr>
            <a:r>
              <a:t>6.</a:t>
            </a:r>
          </a:p>
        </p:txBody>
      </p:sp>
      <p:sp>
        <p:nvSpPr>
          <p:cNvPr id="51" name="TextBox 50"/>
          <p:cNvSpPr txBox="1"/>
          <p:nvPr/>
        </p:nvSpPr>
        <p:spPr>
          <a:xfrm>
            <a:off x="5608320" y="6844283"/>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79 × 53</a:t>
            </a:r>
          </a:p>
        </p:txBody>
      </p:sp>
      <p:sp>
        <p:nvSpPr>
          <p:cNvPr id="52" name="Rectangle 51"/>
          <p:cNvSpPr/>
          <p:nvPr/>
        </p:nvSpPr>
        <p:spPr>
          <a:xfrm>
            <a:off x="9625584" y="2020824"/>
            <a:ext cx="4620768" cy="909828"/>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53" name="TextBox 52"/>
          <p:cNvSpPr txBox="1"/>
          <p:nvPr/>
        </p:nvSpPr>
        <p:spPr>
          <a:xfrm>
            <a:off x="9735312" y="2231136"/>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754B87"/>
                </a:solidFill>
                <a:latin typeface="Arial"/>
              </a:defRPr>
            </a:pPr>
            <a:r>
              <a:t>1.</a:t>
            </a:r>
          </a:p>
        </p:txBody>
      </p:sp>
      <p:sp>
        <p:nvSpPr>
          <p:cNvPr id="54" name="TextBox 53"/>
          <p:cNvSpPr txBox="1"/>
          <p:nvPr/>
        </p:nvSpPr>
        <p:spPr>
          <a:xfrm>
            <a:off x="10229088" y="2203704"/>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425 × 23</a:t>
            </a:r>
          </a:p>
        </p:txBody>
      </p:sp>
      <p:sp>
        <p:nvSpPr>
          <p:cNvPr id="55" name="Rectangle 54"/>
          <p:cNvSpPr/>
          <p:nvPr/>
        </p:nvSpPr>
        <p:spPr>
          <a:xfrm>
            <a:off x="9625584" y="2948939"/>
            <a:ext cx="4620768" cy="909828"/>
          </a:xfrm>
          <a:prstGeom prst="rect">
            <a:avLst/>
          </a:prstGeom>
          <a:solidFill>
            <a:srgbClr val="F5F0F7"/>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56" name="TextBox 55"/>
          <p:cNvSpPr txBox="1"/>
          <p:nvPr/>
        </p:nvSpPr>
        <p:spPr>
          <a:xfrm>
            <a:off x="9735312" y="3159251"/>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754B87"/>
                </a:solidFill>
                <a:latin typeface="Arial"/>
              </a:defRPr>
            </a:pPr>
            <a:r>
              <a:t>2.</a:t>
            </a:r>
          </a:p>
        </p:txBody>
      </p:sp>
      <p:sp>
        <p:nvSpPr>
          <p:cNvPr id="57" name="TextBox 56"/>
          <p:cNvSpPr txBox="1"/>
          <p:nvPr/>
        </p:nvSpPr>
        <p:spPr>
          <a:xfrm>
            <a:off x="10229088" y="3131820"/>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708 × 46</a:t>
            </a:r>
          </a:p>
        </p:txBody>
      </p:sp>
      <p:sp>
        <p:nvSpPr>
          <p:cNvPr id="58" name="Rectangle 57"/>
          <p:cNvSpPr/>
          <p:nvPr/>
        </p:nvSpPr>
        <p:spPr>
          <a:xfrm>
            <a:off x="9625584" y="3877056"/>
            <a:ext cx="4620768" cy="909828"/>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59" name="TextBox 58"/>
          <p:cNvSpPr txBox="1"/>
          <p:nvPr/>
        </p:nvSpPr>
        <p:spPr>
          <a:xfrm>
            <a:off x="9735312" y="4087368"/>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754B87"/>
                </a:solidFill>
                <a:latin typeface="Arial"/>
              </a:defRPr>
            </a:pPr>
            <a:r>
              <a:t>3.</a:t>
            </a:r>
          </a:p>
        </p:txBody>
      </p:sp>
      <p:sp>
        <p:nvSpPr>
          <p:cNvPr id="60" name="TextBox 59"/>
          <p:cNvSpPr txBox="1"/>
          <p:nvPr/>
        </p:nvSpPr>
        <p:spPr>
          <a:xfrm>
            <a:off x="10229088" y="4059936"/>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1,326 × 243</a:t>
            </a:r>
          </a:p>
        </p:txBody>
      </p:sp>
      <p:sp>
        <p:nvSpPr>
          <p:cNvPr id="61" name="Rectangle 60"/>
          <p:cNvSpPr/>
          <p:nvPr/>
        </p:nvSpPr>
        <p:spPr>
          <a:xfrm>
            <a:off x="9625584" y="4805172"/>
            <a:ext cx="4620768" cy="909828"/>
          </a:xfrm>
          <a:prstGeom prst="rect">
            <a:avLst/>
          </a:prstGeom>
          <a:solidFill>
            <a:srgbClr val="F5F0F7"/>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62" name="TextBox 61"/>
          <p:cNvSpPr txBox="1"/>
          <p:nvPr/>
        </p:nvSpPr>
        <p:spPr>
          <a:xfrm>
            <a:off x="9735312" y="5015484"/>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754B87"/>
                </a:solidFill>
                <a:latin typeface="Arial"/>
              </a:defRPr>
            </a:pPr>
            <a:r>
              <a:t>4.</a:t>
            </a:r>
          </a:p>
        </p:txBody>
      </p:sp>
      <p:sp>
        <p:nvSpPr>
          <p:cNvPr id="63" name="TextBox 62"/>
          <p:cNvSpPr txBox="1"/>
          <p:nvPr/>
        </p:nvSpPr>
        <p:spPr>
          <a:xfrm>
            <a:off x="10229088" y="4988052"/>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3,048 × 512</a:t>
            </a:r>
          </a:p>
        </p:txBody>
      </p:sp>
      <p:sp>
        <p:nvSpPr>
          <p:cNvPr id="64" name="Rectangle 63"/>
          <p:cNvSpPr/>
          <p:nvPr/>
        </p:nvSpPr>
        <p:spPr>
          <a:xfrm>
            <a:off x="9625584" y="5733288"/>
            <a:ext cx="4620768" cy="909828"/>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65" name="TextBox 64"/>
          <p:cNvSpPr txBox="1"/>
          <p:nvPr/>
        </p:nvSpPr>
        <p:spPr>
          <a:xfrm>
            <a:off x="9735312" y="5943600"/>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754B87"/>
                </a:solidFill>
                <a:latin typeface="Arial"/>
              </a:defRPr>
            </a:pPr>
            <a:r>
              <a:t>5.</a:t>
            </a:r>
          </a:p>
        </p:txBody>
      </p:sp>
      <p:sp>
        <p:nvSpPr>
          <p:cNvPr id="66" name="TextBox 65"/>
          <p:cNvSpPr txBox="1"/>
          <p:nvPr/>
        </p:nvSpPr>
        <p:spPr>
          <a:xfrm>
            <a:off x="10229088" y="5916168"/>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5,607 × 1,204</a:t>
            </a:r>
          </a:p>
        </p:txBody>
      </p:sp>
      <p:sp>
        <p:nvSpPr>
          <p:cNvPr id="67" name="Rectangle 66"/>
          <p:cNvSpPr/>
          <p:nvPr/>
        </p:nvSpPr>
        <p:spPr>
          <a:xfrm>
            <a:off x="9625584" y="6661403"/>
            <a:ext cx="4620768" cy="909828"/>
          </a:xfrm>
          <a:prstGeom prst="rect">
            <a:avLst/>
          </a:prstGeom>
          <a:solidFill>
            <a:srgbClr val="F5F0F7"/>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68" name="TextBox 67"/>
          <p:cNvSpPr txBox="1"/>
          <p:nvPr/>
        </p:nvSpPr>
        <p:spPr>
          <a:xfrm>
            <a:off x="9735312" y="6871716"/>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754B87"/>
                </a:solidFill>
                <a:latin typeface="Arial"/>
              </a:defRPr>
            </a:pPr>
            <a:r>
              <a:t>6.</a:t>
            </a:r>
          </a:p>
        </p:txBody>
      </p:sp>
      <p:sp>
        <p:nvSpPr>
          <p:cNvPr id="69" name="TextBox 68"/>
          <p:cNvSpPr txBox="1"/>
          <p:nvPr/>
        </p:nvSpPr>
        <p:spPr>
          <a:xfrm>
            <a:off x="10229088" y="6844283"/>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8,214 × 3,067</a:t>
            </a:r>
          </a:p>
        </p:txBody>
      </p:sp>
      <p:sp>
        <p:nvSpPr>
          <p:cNvPr id="70" name="Progression curved arrow: Thread 1 to Thread 2"/>
          <p:cNvSpPr/>
          <p:nvPr/>
        </p:nvSpPr>
        <p:spPr>
          <a:xfrm>
            <a:off x="4671059" y="7506573"/>
            <a:ext cx="621792" cy="314053"/>
          </a:xfrm>
          <a:custGeom>
            <a:avLst/>
            <a:gdLst/>
            <a:ahLst/>
            <a:cxnLst/>
            <a:rect l="0" t="0" r="100000" b="100000"/>
            <a:pathLst>
              <a:path w="100000" h="100000" fill="none">
                <a:moveTo>
                  <a:pt x="6970" y="48439"/>
                </a:moveTo>
                <a:cubicBezTo>
                  <a:pt x="40678" y="114499"/>
                  <a:pt x="73026" y="88145"/>
                  <a:pt x="93030" y="13799"/>
                </a:cubicBezTo>
              </a:path>
              <a:path w="100000" h="100000" fill="none">
                <a:moveTo>
                  <a:pt x="69018" y="40431"/>
                </a:moveTo>
                <a:lnTo>
                  <a:pt x="93030" y="13799"/>
                </a:lnTo>
                <a:lnTo>
                  <a:pt x="92217" y="66207"/>
                </a:lnTo>
              </a:path>
            </a:pathLst>
          </a:custGeom>
          <a:noFill/>
          <a:ln w="64449" cap="rnd">
            <a:solidFill>
              <a:schemeClr val="accent6">
                <a:lumMod val="60000"/>
                <a:lumOff val="40000"/>
              </a:schemeClr>
            </a:solidFill>
            <a:round/>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71" name="Progression curved arrow: Thread 2 to Thread 3"/>
          <p:cNvSpPr/>
          <p:nvPr/>
        </p:nvSpPr>
        <p:spPr>
          <a:xfrm>
            <a:off x="9243991" y="7498079"/>
            <a:ext cx="621792" cy="314053"/>
          </a:xfrm>
          <a:custGeom>
            <a:avLst/>
            <a:gdLst/>
            <a:ahLst/>
            <a:cxnLst/>
            <a:rect l="0" t="0" r="100000" b="100000"/>
            <a:pathLst>
              <a:path w="100000" h="100000" fill="none">
                <a:moveTo>
                  <a:pt x="6970" y="48439"/>
                </a:moveTo>
                <a:cubicBezTo>
                  <a:pt x="40678" y="114499"/>
                  <a:pt x="73026" y="88145"/>
                  <a:pt x="93030" y="13799"/>
                </a:cubicBezTo>
              </a:path>
              <a:path w="100000" h="100000" fill="none">
                <a:moveTo>
                  <a:pt x="69018" y="40431"/>
                </a:moveTo>
                <a:lnTo>
                  <a:pt x="93030" y="13799"/>
                </a:lnTo>
                <a:lnTo>
                  <a:pt x="92217" y="66207"/>
                </a:lnTo>
              </a:path>
            </a:pathLst>
          </a:custGeom>
          <a:noFill/>
          <a:ln w="64449" cap="rnd">
            <a:solidFill>
              <a:schemeClr val="accent6">
                <a:lumMod val="60000"/>
                <a:lumOff val="40000"/>
              </a:schemeClr>
            </a:solidFill>
            <a:round/>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7F8FA"/>
        </a:solidFill>
        <a:effectLst/>
      </p:bgPr>
    </p:bg>
    <p:spTree>
      <p:nvGrpSpPr>
        <p:cNvPr id="1" name=""/>
        <p:cNvGrpSpPr/>
        <p:nvPr/>
      </p:nvGrpSpPr>
      <p:grpSpPr/>
      <p:sp>
        <p:nvSpPr>
          <p:cNvPr id="2" name="Rectangle 1"/>
          <p:cNvSpPr/>
          <p:nvPr/>
        </p:nvSpPr>
        <p:spPr>
          <a:xfrm>
            <a:off x="0" y="0"/>
            <a:ext cx="14630400" cy="91440"/>
          </a:xfrm>
          <a:prstGeom prst="rect">
            <a:avLst/>
          </a:prstGeom>
          <a:solidFill>
            <a:srgbClr val="176B73"/>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3" name="TextBox 2"/>
          <p:cNvSpPr txBox="1"/>
          <p:nvPr/>
        </p:nvSpPr>
        <p:spPr>
          <a:xfrm>
            <a:off x="384048" y="219456"/>
            <a:ext cx="12435840" cy="448056"/>
          </a:xfrm>
          <a:prstGeom prst="rect">
            <a:avLst/>
          </a:prstGeom>
          <a:noFill/>
        </p:spPr>
        <p:txBody>
          <a:bodyPr wrap="square" tIns="36576" bIns="36576" anchor="t">
            <a:spAutoFit/>
          </a:bodyPr>
          <a:lstStyle/>
          <a:p>
            <a:pPr>
              <a:lnSpc>
                <a:spcPts val="3132"/>
              </a:lnSpc>
              <a:spcBef>
                <a:spcPts val="0"/>
              </a:spcBef>
              <a:spcAft>
                <a:spcPts val="0"/>
              </a:spcAft>
              <a:defRPr sz="2900" b="1">
                <a:solidFill>
                  <a:srgbClr val="182B3A"/>
                </a:solidFill>
                <a:latin typeface="Arial"/>
              </a:defRPr>
            </a:pPr>
            <a:r>
              <a:t>Lattice Multiplication</a:t>
            </a:r>
          </a:p>
        </p:txBody>
      </p:sp>
      <p:sp>
        <p:nvSpPr>
          <p:cNvPr id="4" name="TextBox 3"/>
          <p:cNvSpPr txBox="1"/>
          <p:nvPr/>
        </p:nvSpPr>
        <p:spPr>
          <a:xfrm>
            <a:off x="384048" y="713232"/>
            <a:ext cx="13533120" cy="274320"/>
          </a:xfrm>
          <a:prstGeom prst="rect">
            <a:avLst/>
          </a:prstGeom>
          <a:noFill/>
        </p:spPr>
        <p:txBody>
          <a:bodyPr wrap="square" tIns="36576" bIns="36576" anchor="t">
            <a:spAutoFit/>
          </a:bodyPr>
          <a:lstStyle/>
          <a:p>
            <a:pPr>
              <a:lnSpc>
                <a:spcPts val="1512"/>
              </a:lnSpc>
              <a:spcBef>
                <a:spcPts val="0"/>
              </a:spcBef>
              <a:spcAft>
                <a:spcPts val="0"/>
              </a:spcAft>
              <a:defRPr sz="1400" b="0">
                <a:solidFill>
                  <a:srgbClr val="526472"/>
                </a:solidFill>
                <a:latin typeface="Arial"/>
              </a:defRPr>
            </a:pPr>
            <a:r>
              <a:t>Independent practice 3  •  Choose a column. Show the full written method.</a:t>
            </a:r>
          </a:p>
        </p:txBody>
      </p:sp>
      <p:sp>
        <p:nvSpPr>
          <p:cNvPr id="5" name="TextBox 4"/>
          <p:cNvSpPr txBox="1"/>
          <p:nvPr/>
        </p:nvSpPr>
        <p:spPr>
          <a:xfrm>
            <a:off x="384048" y="7882127"/>
            <a:ext cx="10058400" cy="210312"/>
          </a:xfrm>
          <a:prstGeom prst="rect">
            <a:avLst/>
          </a:prstGeom>
          <a:noFill/>
        </p:spPr>
        <p:txBody>
          <a:bodyPr wrap="square" tIns="36576" bIns="36576" anchor="t">
            <a:spAutoFit/>
          </a:bodyPr>
          <a:lstStyle/>
          <a:p>
            <a:pPr>
              <a:lnSpc>
                <a:spcPts val="1188"/>
              </a:lnSpc>
              <a:spcBef>
                <a:spcPts val="0"/>
              </a:spcBef>
              <a:spcAft>
                <a:spcPts val="0"/>
              </a:spcAft>
              <a:defRPr sz="1100" b="0">
                <a:solidFill>
                  <a:srgbClr val="526472"/>
                </a:solidFill>
                <a:latin typeface="Arial"/>
              </a:defRPr>
            </a:pPr>
            <a:r>
              <a:t>GCSE Maths revision  •  Record your working in your booklet or webapp.</a:t>
            </a:r>
          </a:p>
        </p:txBody>
      </p:sp>
      <p:sp>
        <p:nvSpPr>
          <p:cNvPr id="6" name="TextBox 5"/>
          <p:cNvSpPr txBox="1"/>
          <p:nvPr/>
        </p:nvSpPr>
        <p:spPr>
          <a:xfrm>
            <a:off x="11430000" y="7863840"/>
            <a:ext cx="2788920" cy="228600"/>
          </a:xfrm>
          <a:prstGeom prst="rect">
            <a:avLst/>
          </a:prstGeom>
          <a:noFill/>
        </p:spPr>
        <p:txBody>
          <a:bodyPr wrap="square" tIns="36576" bIns="36576" anchor="t">
            <a:spAutoFit/>
          </a:bodyPr>
          <a:lstStyle/>
          <a:p>
            <a:pPr>
              <a:lnSpc>
                <a:spcPts val="1188"/>
              </a:lnSpc>
              <a:spcBef>
                <a:spcPts val="0"/>
              </a:spcBef>
              <a:spcAft>
                <a:spcPts val="0"/>
              </a:spcAft>
              <a:defRPr sz="1100" b="0">
                <a:solidFill>
                  <a:srgbClr val="526472"/>
                </a:solidFill>
                <a:latin typeface="Arial"/>
              </a:defRPr>
            </a:pPr>
            <a:r>
              <a:t>M01-S06  •  Topic slide 8</a:t>
            </a:r>
          </a:p>
        </p:txBody>
      </p:sp>
      <p:sp>
        <p:nvSpPr>
          <p:cNvPr id="7" name="Rectangle 6"/>
          <p:cNvSpPr/>
          <p:nvPr/>
        </p:nvSpPr>
        <p:spPr>
          <a:xfrm>
            <a:off x="384048" y="1124712"/>
            <a:ext cx="4620768" cy="438912"/>
          </a:xfrm>
          <a:prstGeom prst="rect">
            <a:avLst/>
          </a:prstGeom>
          <a:solidFill>
            <a:srgbClr val="176B73"/>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8" name="TextBox 7"/>
          <p:cNvSpPr txBox="1"/>
          <p:nvPr/>
        </p:nvSpPr>
        <p:spPr>
          <a:xfrm>
            <a:off x="438912" y="1152144"/>
            <a:ext cx="4511040" cy="338328"/>
          </a:xfrm>
          <a:prstGeom prst="rect">
            <a:avLst/>
          </a:prstGeom>
          <a:noFill/>
        </p:spPr>
        <p:txBody>
          <a:bodyPr wrap="square" tIns="36576" bIns="36576" anchor="t">
            <a:spAutoFit/>
          </a:bodyPr>
          <a:lstStyle/>
          <a:p>
            <a:pPr>
              <a:lnSpc>
                <a:spcPts val="2160"/>
              </a:lnSpc>
              <a:spcBef>
                <a:spcPts val="0"/>
              </a:spcBef>
              <a:spcAft>
                <a:spcPts val="0"/>
              </a:spcAft>
              <a:defRPr sz="2000" b="1">
                <a:solidFill>
                  <a:srgbClr val="FFFFFF"/>
                </a:solidFill>
                <a:latin typeface="Arial"/>
              </a:defRPr>
            </a:pPr>
            <a:r>
              <a:t>Start</a:t>
            </a:r>
          </a:p>
        </p:txBody>
      </p:sp>
      <p:sp>
        <p:nvSpPr>
          <p:cNvPr id="9" name="TextBox 8"/>
          <p:cNvSpPr txBox="1"/>
          <p:nvPr/>
        </p:nvSpPr>
        <p:spPr>
          <a:xfrm>
            <a:off x="420623" y="1618488"/>
            <a:ext cx="4547616" cy="329184"/>
          </a:xfrm>
          <a:prstGeom prst="rect">
            <a:avLst/>
          </a:prstGeom>
          <a:noFill/>
        </p:spPr>
        <p:txBody>
          <a:bodyPr wrap="square" tIns="36576" bIns="36576" anchor="t">
            <a:spAutoFit/>
          </a:bodyPr>
          <a:lstStyle/>
          <a:p>
            <a:pPr>
              <a:lnSpc>
                <a:spcPts val="1512"/>
              </a:lnSpc>
              <a:spcBef>
                <a:spcPts val="0"/>
              </a:spcBef>
              <a:spcAft>
                <a:spcPts val="0"/>
              </a:spcAft>
              <a:defRPr sz="1400" b="1">
                <a:solidFill>
                  <a:srgbClr val="176B73"/>
                </a:solidFill>
                <a:latin typeface="Arial"/>
              </a:defRPr>
            </a:pPr>
            <a:r>
              <a:t>2 digits × 1 digit</a:t>
            </a:r>
          </a:p>
        </p:txBody>
      </p:sp>
      <p:sp>
        <p:nvSpPr>
          <p:cNvPr id="10" name="Rectangle 9"/>
          <p:cNvSpPr/>
          <p:nvPr/>
        </p:nvSpPr>
        <p:spPr>
          <a:xfrm>
            <a:off x="5004816" y="1124712"/>
            <a:ext cx="4620768" cy="438912"/>
          </a:xfrm>
          <a:prstGeom prst="rect">
            <a:avLst/>
          </a:prstGeom>
          <a:solidFill>
            <a:srgbClr val="3559A2"/>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1" name="TextBox 10"/>
          <p:cNvSpPr txBox="1"/>
          <p:nvPr/>
        </p:nvSpPr>
        <p:spPr>
          <a:xfrm>
            <a:off x="5059680" y="1152144"/>
            <a:ext cx="4511040" cy="338328"/>
          </a:xfrm>
          <a:prstGeom prst="rect">
            <a:avLst/>
          </a:prstGeom>
          <a:noFill/>
        </p:spPr>
        <p:txBody>
          <a:bodyPr wrap="square" tIns="36576" bIns="36576" anchor="t">
            <a:spAutoFit/>
          </a:bodyPr>
          <a:lstStyle/>
          <a:p>
            <a:pPr>
              <a:lnSpc>
                <a:spcPts val="2160"/>
              </a:lnSpc>
              <a:spcBef>
                <a:spcPts val="0"/>
              </a:spcBef>
              <a:spcAft>
                <a:spcPts val="0"/>
              </a:spcAft>
              <a:defRPr sz="2000" b="1">
                <a:solidFill>
                  <a:srgbClr val="FFFFFF"/>
                </a:solidFill>
                <a:latin typeface="Arial"/>
              </a:defRPr>
            </a:pPr>
            <a:r>
              <a:t>Build</a:t>
            </a:r>
          </a:p>
        </p:txBody>
      </p:sp>
      <p:sp>
        <p:nvSpPr>
          <p:cNvPr id="12" name="TextBox 11"/>
          <p:cNvSpPr txBox="1"/>
          <p:nvPr/>
        </p:nvSpPr>
        <p:spPr>
          <a:xfrm>
            <a:off x="5041392" y="1618488"/>
            <a:ext cx="4547616" cy="329184"/>
          </a:xfrm>
          <a:prstGeom prst="rect">
            <a:avLst/>
          </a:prstGeom>
          <a:noFill/>
        </p:spPr>
        <p:txBody>
          <a:bodyPr wrap="square" tIns="36576" bIns="36576" anchor="t">
            <a:spAutoFit/>
          </a:bodyPr>
          <a:lstStyle/>
          <a:p>
            <a:pPr>
              <a:lnSpc>
                <a:spcPts val="1512"/>
              </a:lnSpc>
              <a:spcBef>
                <a:spcPts val="0"/>
              </a:spcBef>
              <a:spcAft>
                <a:spcPts val="0"/>
              </a:spcAft>
              <a:defRPr sz="1400" b="1">
                <a:solidFill>
                  <a:srgbClr val="3559A2"/>
                </a:solidFill>
                <a:latin typeface="Arial"/>
              </a:defRPr>
            </a:pPr>
            <a:r>
              <a:t>2 digits × 2 digits</a:t>
            </a:r>
          </a:p>
        </p:txBody>
      </p:sp>
      <p:sp>
        <p:nvSpPr>
          <p:cNvPr id="13" name="Rectangle 12"/>
          <p:cNvSpPr/>
          <p:nvPr/>
        </p:nvSpPr>
        <p:spPr>
          <a:xfrm>
            <a:off x="9625584" y="1124712"/>
            <a:ext cx="4620768" cy="438912"/>
          </a:xfrm>
          <a:prstGeom prst="rect">
            <a:avLst/>
          </a:prstGeom>
          <a:solidFill>
            <a:srgbClr val="754B87"/>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4" name="TextBox 13"/>
          <p:cNvSpPr txBox="1"/>
          <p:nvPr/>
        </p:nvSpPr>
        <p:spPr>
          <a:xfrm>
            <a:off x="9680448" y="1152144"/>
            <a:ext cx="4511040" cy="338328"/>
          </a:xfrm>
          <a:prstGeom prst="rect">
            <a:avLst/>
          </a:prstGeom>
          <a:noFill/>
        </p:spPr>
        <p:txBody>
          <a:bodyPr wrap="square" tIns="36576" bIns="36576" anchor="t">
            <a:spAutoFit/>
          </a:bodyPr>
          <a:lstStyle/>
          <a:p>
            <a:pPr>
              <a:lnSpc>
                <a:spcPts val="2160"/>
              </a:lnSpc>
              <a:spcBef>
                <a:spcPts val="0"/>
              </a:spcBef>
              <a:spcAft>
                <a:spcPts val="0"/>
              </a:spcAft>
              <a:defRPr sz="2000" b="1">
                <a:solidFill>
                  <a:srgbClr val="FFFFFF"/>
                </a:solidFill>
                <a:latin typeface="Arial"/>
              </a:defRPr>
            </a:pPr>
            <a:r>
              <a:t>Confidence</a:t>
            </a:r>
          </a:p>
        </p:txBody>
      </p:sp>
      <p:sp>
        <p:nvSpPr>
          <p:cNvPr id="15" name="TextBox 14"/>
          <p:cNvSpPr txBox="1"/>
          <p:nvPr/>
        </p:nvSpPr>
        <p:spPr>
          <a:xfrm>
            <a:off x="9662160" y="1618488"/>
            <a:ext cx="4547616" cy="329184"/>
          </a:xfrm>
          <a:prstGeom prst="rect">
            <a:avLst/>
          </a:prstGeom>
          <a:noFill/>
        </p:spPr>
        <p:txBody>
          <a:bodyPr wrap="square" tIns="36576" bIns="36576" anchor="t">
            <a:spAutoFit/>
          </a:bodyPr>
          <a:lstStyle/>
          <a:p>
            <a:pPr>
              <a:lnSpc>
                <a:spcPts val="1512"/>
              </a:lnSpc>
              <a:spcBef>
                <a:spcPts val="0"/>
              </a:spcBef>
              <a:spcAft>
                <a:spcPts val="0"/>
              </a:spcAft>
              <a:defRPr sz="1400" b="1">
                <a:solidFill>
                  <a:srgbClr val="754B87"/>
                </a:solidFill>
                <a:latin typeface="Arial"/>
              </a:defRPr>
            </a:pPr>
            <a:r>
              <a:t>Up to 4 digits × 4 digits</a:t>
            </a:r>
          </a:p>
        </p:txBody>
      </p:sp>
      <p:sp>
        <p:nvSpPr>
          <p:cNvPr id="16" name="Rectangle 15"/>
          <p:cNvSpPr/>
          <p:nvPr/>
        </p:nvSpPr>
        <p:spPr>
          <a:xfrm>
            <a:off x="384048" y="2020824"/>
            <a:ext cx="4620768" cy="909828"/>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7" name="TextBox 16"/>
          <p:cNvSpPr txBox="1"/>
          <p:nvPr/>
        </p:nvSpPr>
        <p:spPr>
          <a:xfrm>
            <a:off x="493776" y="2231136"/>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176B73"/>
                </a:solidFill>
                <a:latin typeface="Arial"/>
              </a:defRPr>
            </a:pPr>
            <a:r>
              <a:t>1.</a:t>
            </a:r>
          </a:p>
        </p:txBody>
      </p:sp>
      <p:sp>
        <p:nvSpPr>
          <p:cNvPr id="18" name="TextBox 17"/>
          <p:cNvSpPr txBox="1"/>
          <p:nvPr/>
        </p:nvSpPr>
        <p:spPr>
          <a:xfrm>
            <a:off x="987552" y="2203704"/>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46 × 7</a:t>
            </a:r>
          </a:p>
        </p:txBody>
      </p:sp>
      <p:sp>
        <p:nvSpPr>
          <p:cNvPr id="19" name="Rectangle 18"/>
          <p:cNvSpPr/>
          <p:nvPr/>
        </p:nvSpPr>
        <p:spPr>
          <a:xfrm>
            <a:off x="384048" y="2948939"/>
            <a:ext cx="4620768" cy="909828"/>
          </a:xfrm>
          <a:prstGeom prst="rect">
            <a:avLst/>
          </a:prstGeom>
          <a:solidFill>
            <a:srgbClr val="EDF6F5"/>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20" name="TextBox 19"/>
          <p:cNvSpPr txBox="1"/>
          <p:nvPr/>
        </p:nvSpPr>
        <p:spPr>
          <a:xfrm>
            <a:off x="493776" y="3159251"/>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176B73"/>
                </a:solidFill>
                <a:latin typeface="Arial"/>
              </a:defRPr>
            </a:pPr>
            <a:r>
              <a:t>2.</a:t>
            </a:r>
          </a:p>
        </p:txBody>
      </p:sp>
      <p:sp>
        <p:nvSpPr>
          <p:cNvPr id="21" name="TextBox 20"/>
          <p:cNvSpPr txBox="1"/>
          <p:nvPr/>
        </p:nvSpPr>
        <p:spPr>
          <a:xfrm>
            <a:off x="987552" y="3131820"/>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29 × 8</a:t>
            </a:r>
          </a:p>
        </p:txBody>
      </p:sp>
      <p:sp>
        <p:nvSpPr>
          <p:cNvPr id="22" name="Rectangle 21"/>
          <p:cNvSpPr/>
          <p:nvPr/>
        </p:nvSpPr>
        <p:spPr>
          <a:xfrm>
            <a:off x="384048" y="3877056"/>
            <a:ext cx="4620768" cy="909828"/>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23" name="TextBox 22"/>
          <p:cNvSpPr txBox="1"/>
          <p:nvPr/>
        </p:nvSpPr>
        <p:spPr>
          <a:xfrm>
            <a:off x="493776" y="4087368"/>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176B73"/>
                </a:solidFill>
                <a:latin typeface="Arial"/>
              </a:defRPr>
            </a:pPr>
            <a:r>
              <a:t>3.</a:t>
            </a:r>
          </a:p>
        </p:txBody>
      </p:sp>
      <p:sp>
        <p:nvSpPr>
          <p:cNvPr id="24" name="TextBox 23"/>
          <p:cNvSpPr txBox="1"/>
          <p:nvPr/>
        </p:nvSpPr>
        <p:spPr>
          <a:xfrm>
            <a:off x="987552" y="4059936"/>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65 × 4</a:t>
            </a:r>
          </a:p>
        </p:txBody>
      </p:sp>
      <p:sp>
        <p:nvSpPr>
          <p:cNvPr id="25" name="Rectangle 24"/>
          <p:cNvSpPr/>
          <p:nvPr/>
        </p:nvSpPr>
        <p:spPr>
          <a:xfrm>
            <a:off x="384048" y="4805172"/>
            <a:ext cx="4620768" cy="909828"/>
          </a:xfrm>
          <a:prstGeom prst="rect">
            <a:avLst/>
          </a:prstGeom>
          <a:solidFill>
            <a:srgbClr val="EDF6F5"/>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26" name="TextBox 25"/>
          <p:cNvSpPr txBox="1"/>
          <p:nvPr/>
        </p:nvSpPr>
        <p:spPr>
          <a:xfrm>
            <a:off x="493776" y="5015484"/>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176B73"/>
                </a:solidFill>
                <a:latin typeface="Arial"/>
              </a:defRPr>
            </a:pPr>
            <a:r>
              <a:t>4.</a:t>
            </a:r>
          </a:p>
        </p:txBody>
      </p:sp>
      <p:sp>
        <p:nvSpPr>
          <p:cNvPr id="27" name="TextBox 26"/>
          <p:cNvSpPr txBox="1"/>
          <p:nvPr/>
        </p:nvSpPr>
        <p:spPr>
          <a:xfrm>
            <a:off x="987552" y="4988052"/>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78 × 6</a:t>
            </a:r>
          </a:p>
        </p:txBody>
      </p:sp>
      <p:sp>
        <p:nvSpPr>
          <p:cNvPr id="28" name="Rectangle 27"/>
          <p:cNvSpPr/>
          <p:nvPr/>
        </p:nvSpPr>
        <p:spPr>
          <a:xfrm>
            <a:off x="384048" y="5733288"/>
            <a:ext cx="4620768" cy="909828"/>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29" name="TextBox 28"/>
          <p:cNvSpPr txBox="1"/>
          <p:nvPr/>
        </p:nvSpPr>
        <p:spPr>
          <a:xfrm>
            <a:off x="493776" y="5943600"/>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176B73"/>
                </a:solidFill>
                <a:latin typeface="Arial"/>
              </a:defRPr>
            </a:pPr>
            <a:r>
              <a:t>5.</a:t>
            </a:r>
          </a:p>
        </p:txBody>
      </p:sp>
      <p:sp>
        <p:nvSpPr>
          <p:cNvPr id="30" name="TextBox 29"/>
          <p:cNvSpPr txBox="1"/>
          <p:nvPr/>
        </p:nvSpPr>
        <p:spPr>
          <a:xfrm>
            <a:off x="987552" y="5916168"/>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93 × 5</a:t>
            </a:r>
          </a:p>
        </p:txBody>
      </p:sp>
      <p:sp>
        <p:nvSpPr>
          <p:cNvPr id="31" name="Rectangle 30"/>
          <p:cNvSpPr/>
          <p:nvPr/>
        </p:nvSpPr>
        <p:spPr>
          <a:xfrm>
            <a:off x="384048" y="6661403"/>
            <a:ext cx="4620768" cy="909828"/>
          </a:xfrm>
          <a:prstGeom prst="rect">
            <a:avLst/>
          </a:prstGeom>
          <a:solidFill>
            <a:srgbClr val="EDF6F5"/>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32" name="TextBox 31"/>
          <p:cNvSpPr txBox="1"/>
          <p:nvPr/>
        </p:nvSpPr>
        <p:spPr>
          <a:xfrm>
            <a:off x="493776" y="6871716"/>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176B73"/>
                </a:solidFill>
                <a:latin typeface="Arial"/>
              </a:defRPr>
            </a:pPr>
            <a:r>
              <a:t>6.</a:t>
            </a:r>
          </a:p>
        </p:txBody>
      </p:sp>
      <p:sp>
        <p:nvSpPr>
          <p:cNvPr id="33" name="TextBox 32"/>
          <p:cNvSpPr txBox="1"/>
          <p:nvPr/>
        </p:nvSpPr>
        <p:spPr>
          <a:xfrm>
            <a:off x="987552" y="6844283"/>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87 × 9</a:t>
            </a:r>
          </a:p>
        </p:txBody>
      </p:sp>
      <p:sp>
        <p:nvSpPr>
          <p:cNvPr id="34" name="Rectangle 33"/>
          <p:cNvSpPr/>
          <p:nvPr/>
        </p:nvSpPr>
        <p:spPr>
          <a:xfrm>
            <a:off x="5004816" y="2020824"/>
            <a:ext cx="4620768" cy="909828"/>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35" name="TextBox 34"/>
          <p:cNvSpPr txBox="1"/>
          <p:nvPr/>
        </p:nvSpPr>
        <p:spPr>
          <a:xfrm>
            <a:off x="5114544" y="2231136"/>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3559A2"/>
                </a:solidFill>
                <a:latin typeface="Arial"/>
              </a:defRPr>
            </a:pPr>
            <a:r>
              <a:t>1.</a:t>
            </a:r>
          </a:p>
        </p:txBody>
      </p:sp>
      <p:sp>
        <p:nvSpPr>
          <p:cNvPr id="36" name="TextBox 35"/>
          <p:cNvSpPr txBox="1"/>
          <p:nvPr/>
        </p:nvSpPr>
        <p:spPr>
          <a:xfrm>
            <a:off x="5608320" y="2203704"/>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35 × 24</a:t>
            </a:r>
          </a:p>
        </p:txBody>
      </p:sp>
      <p:sp>
        <p:nvSpPr>
          <p:cNvPr id="37" name="Rectangle 36"/>
          <p:cNvSpPr/>
          <p:nvPr/>
        </p:nvSpPr>
        <p:spPr>
          <a:xfrm>
            <a:off x="5004816" y="2948939"/>
            <a:ext cx="4620768" cy="909828"/>
          </a:xfrm>
          <a:prstGeom prst="rect">
            <a:avLst/>
          </a:prstGeom>
          <a:solidFill>
            <a:srgbClr val="EFF3FA"/>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38" name="TextBox 37"/>
          <p:cNvSpPr txBox="1"/>
          <p:nvPr/>
        </p:nvSpPr>
        <p:spPr>
          <a:xfrm>
            <a:off x="5114544" y="3159251"/>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3559A2"/>
                </a:solidFill>
                <a:latin typeface="Arial"/>
              </a:defRPr>
            </a:pPr>
            <a:r>
              <a:t>2.</a:t>
            </a:r>
          </a:p>
        </p:txBody>
      </p:sp>
      <p:sp>
        <p:nvSpPr>
          <p:cNvPr id="39" name="TextBox 38"/>
          <p:cNvSpPr txBox="1"/>
          <p:nvPr/>
        </p:nvSpPr>
        <p:spPr>
          <a:xfrm>
            <a:off x="5608320" y="3131820"/>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62 × 17</a:t>
            </a:r>
          </a:p>
        </p:txBody>
      </p:sp>
      <p:sp>
        <p:nvSpPr>
          <p:cNvPr id="40" name="Rectangle 39"/>
          <p:cNvSpPr/>
          <p:nvPr/>
        </p:nvSpPr>
        <p:spPr>
          <a:xfrm>
            <a:off x="5004816" y="3877056"/>
            <a:ext cx="4620768" cy="909828"/>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41" name="TextBox 40"/>
          <p:cNvSpPr txBox="1"/>
          <p:nvPr/>
        </p:nvSpPr>
        <p:spPr>
          <a:xfrm>
            <a:off x="5114544" y="4087368"/>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3559A2"/>
                </a:solidFill>
                <a:latin typeface="Arial"/>
              </a:defRPr>
            </a:pPr>
            <a:r>
              <a:t>3.</a:t>
            </a:r>
          </a:p>
        </p:txBody>
      </p:sp>
      <p:sp>
        <p:nvSpPr>
          <p:cNvPr id="42" name="TextBox 41"/>
          <p:cNvSpPr txBox="1"/>
          <p:nvPr/>
        </p:nvSpPr>
        <p:spPr>
          <a:xfrm>
            <a:off x="5608320" y="4059936"/>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48 × 39</a:t>
            </a:r>
          </a:p>
        </p:txBody>
      </p:sp>
      <p:sp>
        <p:nvSpPr>
          <p:cNvPr id="43" name="Rectangle 42"/>
          <p:cNvSpPr/>
          <p:nvPr/>
        </p:nvSpPr>
        <p:spPr>
          <a:xfrm>
            <a:off x="5004816" y="4805172"/>
            <a:ext cx="4620768" cy="909828"/>
          </a:xfrm>
          <a:prstGeom prst="rect">
            <a:avLst/>
          </a:prstGeom>
          <a:solidFill>
            <a:srgbClr val="EFF3FA"/>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44" name="TextBox 43"/>
          <p:cNvSpPr txBox="1"/>
          <p:nvPr/>
        </p:nvSpPr>
        <p:spPr>
          <a:xfrm>
            <a:off x="5114544" y="5015484"/>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3559A2"/>
                </a:solidFill>
                <a:latin typeface="Arial"/>
              </a:defRPr>
            </a:pPr>
            <a:r>
              <a:t>4.</a:t>
            </a:r>
          </a:p>
        </p:txBody>
      </p:sp>
      <p:sp>
        <p:nvSpPr>
          <p:cNvPr id="45" name="TextBox 44"/>
          <p:cNvSpPr txBox="1"/>
          <p:nvPr/>
        </p:nvSpPr>
        <p:spPr>
          <a:xfrm>
            <a:off x="5608320" y="4988052"/>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76 × 28</a:t>
            </a:r>
          </a:p>
        </p:txBody>
      </p:sp>
      <p:sp>
        <p:nvSpPr>
          <p:cNvPr id="46" name="Rectangle 45"/>
          <p:cNvSpPr/>
          <p:nvPr/>
        </p:nvSpPr>
        <p:spPr>
          <a:xfrm>
            <a:off x="5004816" y="5733288"/>
            <a:ext cx="4620768" cy="909828"/>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47" name="TextBox 46"/>
          <p:cNvSpPr txBox="1"/>
          <p:nvPr/>
        </p:nvSpPr>
        <p:spPr>
          <a:xfrm>
            <a:off x="5114544" y="5943600"/>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3559A2"/>
                </a:solidFill>
                <a:latin typeface="Arial"/>
              </a:defRPr>
            </a:pPr>
            <a:r>
              <a:t>5.</a:t>
            </a:r>
          </a:p>
        </p:txBody>
      </p:sp>
      <p:sp>
        <p:nvSpPr>
          <p:cNvPr id="48" name="TextBox 47"/>
          <p:cNvSpPr txBox="1"/>
          <p:nvPr/>
        </p:nvSpPr>
        <p:spPr>
          <a:xfrm>
            <a:off x="5608320" y="5916168"/>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54 × 46</a:t>
            </a:r>
          </a:p>
        </p:txBody>
      </p:sp>
      <p:sp>
        <p:nvSpPr>
          <p:cNvPr id="49" name="Rectangle 48"/>
          <p:cNvSpPr/>
          <p:nvPr/>
        </p:nvSpPr>
        <p:spPr>
          <a:xfrm>
            <a:off x="5004816" y="6661403"/>
            <a:ext cx="4620768" cy="909828"/>
          </a:xfrm>
          <a:prstGeom prst="rect">
            <a:avLst/>
          </a:prstGeom>
          <a:solidFill>
            <a:srgbClr val="EFF3FA"/>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50" name="TextBox 49"/>
          <p:cNvSpPr txBox="1"/>
          <p:nvPr/>
        </p:nvSpPr>
        <p:spPr>
          <a:xfrm>
            <a:off x="5114544" y="6871716"/>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3559A2"/>
                </a:solidFill>
                <a:latin typeface="Arial"/>
              </a:defRPr>
            </a:pPr>
            <a:r>
              <a:t>6.</a:t>
            </a:r>
          </a:p>
        </p:txBody>
      </p:sp>
      <p:sp>
        <p:nvSpPr>
          <p:cNvPr id="51" name="TextBox 50"/>
          <p:cNvSpPr txBox="1"/>
          <p:nvPr/>
        </p:nvSpPr>
        <p:spPr>
          <a:xfrm>
            <a:off x="5608320" y="6844283"/>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89 × 65</a:t>
            </a:r>
          </a:p>
        </p:txBody>
      </p:sp>
      <p:sp>
        <p:nvSpPr>
          <p:cNvPr id="52" name="Rectangle 51"/>
          <p:cNvSpPr/>
          <p:nvPr/>
        </p:nvSpPr>
        <p:spPr>
          <a:xfrm>
            <a:off x="9625584" y="2020824"/>
            <a:ext cx="4620768" cy="909828"/>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53" name="TextBox 52"/>
          <p:cNvSpPr txBox="1"/>
          <p:nvPr/>
        </p:nvSpPr>
        <p:spPr>
          <a:xfrm>
            <a:off x="9735312" y="2231136"/>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754B87"/>
                </a:solidFill>
                <a:latin typeface="Arial"/>
              </a:defRPr>
            </a:pPr>
            <a:r>
              <a:t>1.</a:t>
            </a:r>
          </a:p>
        </p:txBody>
      </p:sp>
      <p:sp>
        <p:nvSpPr>
          <p:cNvPr id="54" name="TextBox 53"/>
          <p:cNvSpPr txBox="1"/>
          <p:nvPr/>
        </p:nvSpPr>
        <p:spPr>
          <a:xfrm>
            <a:off x="10229088" y="2203704"/>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536 × 34</a:t>
            </a:r>
          </a:p>
        </p:txBody>
      </p:sp>
      <p:sp>
        <p:nvSpPr>
          <p:cNvPr id="55" name="Rectangle 54"/>
          <p:cNvSpPr/>
          <p:nvPr/>
        </p:nvSpPr>
        <p:spPr>
          <a:xfrm>
            <a:off x="9625584" y="2948939"/>
            <a:ext cx="4620768" cy="909828"/>
          </a:xfrm>
          <a:prstGeom prst="rect">
            <a:avLst/>
          </a:prstGeom>
          <a:solidFill>
            <a:srgbClr val="F5F0F7"/>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56" name="TextBox 55"/>
          <p:cNvSpPr txBox="1"/>
          <p:nvPr/>
        </p:nvSpPr>
        <p:spPr>
          <a:xfrm>
            <a:off x="9735312" y="3159251"/>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754B87"/>
                </a:solidFill>
                <a:latin typeface="Arial"/>
              </a:defRPr>
            </a:pPr>
            <a:r>
              <a:t>2.</a:t>
            </a:r>
          </a:p>
        </p:txBody>
      </p:sp>
      <p:sp>
        <p:nvSpPr>
          <p:cNvPr id="57" name="TextBox 56"/>
          <p:cNvSpPr txBox="1"/>
          <p:nvPr/>
        </p:nvSpPr>
        <p:spPr>
          <a:xfrm>
            <a:off x="10229088" y="3131820"/>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809 × 27</a:t>
            </a:r>
          </a:p>
        </p:txBody>
      </p:sp>
      <p:sp>
        <p:nvSpPr>
          <p:cNvPr id="58" name="Rectangle 57"/>
          <p:cNvSpPr/>
          <p:nvPr/>
        </p:nvSpPr>
        <p:spPr>
          <a:xfrm>
            <a:off x="9625584" y="3877056"/>
            <a:ext cx="4620768" cy="909828"/>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59" name="TextBox 58"/>
          <p:cNvSpPr txBox="1"/>
          <p:nvPr/>
        </p:nvSpPr>
        <p:spPr>
          <a:xfrm>
            <a:off x="9735312" y="4087368"/>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754B87"/>
                </a:solidFill>
                <a:latin typeface="Arial"/>
              </a:defRPr>
            </a:pPr>
            <a:r>
              <a:t>3.</a:t>
            </a:r>
          </a:p>
        </p:txBody>
      </p:sp>
      <p:sp>
        <p:nvSpPr>
          <p:cNvPr id="60" name="TextBox 59"/>
          <p:cNvSpPr txBox="1"/>
          <p:nvPr/>
        </p:nvSpPr>
        <p:spPr>
          <a:xfrm>
            <a:off x="10229088" y="4059936"/>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2,047 × 368</a:t>
            </a:r>
          </a:p>
        </p:txBody>
      </p:sp>
      <p:sp>
        <p:nvSpPr>
          <p:cNvPr id="61" name="Rectangle 60"/>
          <p:cNvSpPr/>
          <p:nvPr/>
        </p:nvSpPr>
        <p:spPr>
          <a:xfrm>
            <a:off x="9625584" y="4805172"/>
            <a:ext cx="4620768" cy="909828"/>
          </a:xfrm>
          <a:prstGeom prst="rect">
            <a:avLst/>
          </a:prstGeom>
          <a:solidFill>
            <a:srgbClr val="F5F0F7"/>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62" name="TextBox 61"/>
          <p:cNvSpPr txBox="1"/>
          <p:nvPr/>
        </p:nvSpPr>
        <p:spPr>
          <a:xfrm>
            <a:off x="9735312" y="5015484"/>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754B87"/>
                </a:solidFill>
                <a:latin typeface="Arial"/>
              </a:defRPr>
            </a:pPr>
            <a:r>
              <a:t>4.</a:t>
            </a:r>
          </a:p>
        </p:txBody>
      </p:sp>
      <p:sp>
        <p:nvSpPr>
          <p:cNvPr id="63" name="TextBox 62"/>
          <p:cNvSpPr txBox="1"/>
          <p:nvPr/>
        </p:nvSpPr>
        <p:spPr>
          <a:xfrm>
            <a:off x="10229088" y="4988052"/>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4,158 × 427</a:t>
            </a:r>
          </a:p>
        </p:txBody>
      </p:sp>
      <p:sp>
        <p:nvSpPr>
          <p:cNvPr id="64" name="Rectangle 63"/>
          <p:cNvSpPr/>
          <p:nvPr/>
        </p:nvSpPr>
        <p:spPr>
          <a:xfrm>
            <a:off x="9625584" y="5733288"/>
            <a:ext cx="4620768" cy="909828"/>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65" name="TextBox 64"/>
          <p:cNvSpPr txBox="1"/>
          <p:nvPr/>
        </p:nvSpPr>
        <p:spPr>
          <a:xfrm>
            <a:off x="9735312" y="5943600"/>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754B87"/>
                </a:solidFill>
                <a:latin typeface="Arial"/>
              </a:defRPr>
            </a:pPr>
            <a:r>
              <a:t>5.</a:t>
            </a:r>
          </a:p>
        </p:txBody>
      </p:sp>
      <p:sp>
        <p:nvSpPr>
          <p:cNvPr id="66" name="TextBox 65"/>
          <p:cNvSpPr txBox="1"/>
          <p:nvPr/>
        </p:nvSpPr>
        <p:spPr>
          <a:xfrm>
            <a:off x="10229088" y="5916168"/>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6,309 × 2,058</a:t>
            </a:r>
          </a:p>
        </p:txBody>
      </p:sp>
      <p:sp>
        <p:nvSpPr>
          <p:cNvPr id="67" name="Rectangle 66"/>
          <p:cNvSpPr/>
          <p:nvPr/>
        </p:nvSpPr>
        <p:spPr>
          <a:xfrm>
            <a:off x="9625584" y="6661403"/>
            <a:ext cx="4620768" cy="909828"/>
          </a:xfrm>
          <a:prstGeom prst="rect">
            <a:avLst/>
          </a:prstGeom>
          <a:solidFill>
            <a:srgbClr val="F5F0F7"/>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68" name="TextBox 67"/>
          <p:cNvSpPr txBox="1"/>
          <p:nvPr/>
        </p:nvSpPr>
        <p:spPr>
          <a:xfrm>
            <a:off x="9735312" y="6871716"/>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754B87"/>
                </a:solidFill>
                <a:latin typeface="Arial"/>
              </a:defRPr>
            </a:pPr>
            <a:r>
              <a:t>6.</a:t>
            </a:r>
          </a:p>
        </p:txBody>
      </p:sp>
      <p:sp>
        <p:nvSpPr>
          <p:cNvPr id="69" name="TextBox 68"/>
          <p:cNvSpPr txBox="1"/>
          <p:nvPr/>
        </p:nvSpPr>
        <p:spPr>
          <a:xfrm>
            <a:off x="10229088" y="6844283"/>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9,274 × 4,163</a:t>
            </a:r>
          </a:p>
        </p:txBody>
      </p:sp>
      <p:sp>
        <p:nvSpPr>
          <p:cNvPr id="70" name="Progression curved arrow: Thread 1 to Thread 2"/>
          <p:cNvSpPr/>
          <p:nvPr/>
        </p:nvSpPr>
        <p:spPr>
          <a:xfrm>
            <a:off x="4671059" y="7506573"/>
            <a:ext cx="621792" cy="314053"/>
          </a:xfrm>
          <a:custGeom>
            <a:avLst/>
            <a:gdLst/>
            <a:ahLst/>
            <a:cxnLst/>
            <a:rect l="0" t="0" r="100000" b="100000"/>
            <a:pathLst>
              <a:path w="100000" h="100000" fill="none">
                <a:moveTo>
                  <a:pt x="6970" y="48439"/>
                </a:moveTo>
                <a:cubicBezTo>
                  <a:pt x="40678" y="114499"/>
                  <a:pt x="73026" y="88145"/>
                  <a:pt x="93030" y="13799"/>
                </a:cubicBezTo>
              </a:path>
              <a:path w="100000" h="100000" fill="none">
                <a:moveTo>
                  <a:pt x="69018" y="40431"/>
                </a:moveTo>
                <a:lnTo>
                  <a:pt x="93030" y="13799"/>
                </a:lnTo>
                <a:lnTo>
                  <a:pt x="92217" y="66207"/>
                </a:lnTo>
              </a:path>
            </a:pathLst>
          </a:custGeom>
          <a:noFill/>
          <a:ln w="64449" cap="rnd">
            <a:solidFill>
              <a:schemeClr val="accent6">
                <a:lumMod val="60000"/>
                <a:lumOff val="40000"/>
              </a:schemeClr>
            </a:solidFill>
            <a:round/>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71" name="Progression curved arrow: Thread 2 to Thread 3"/>
          <p:cNvSpPr/>
          <p:nvPr/>
        </p:nvSpPr>
        <p:spPr>
          <a:xfrm>
            <a:off x="9243991" y="7498079"/>
            <a:ext cx="621792" cy="314053"/>
          </a:xfrm>
          <a:custGeom>
            <a:avLst/>
            <a:gdLst/>
            <a:ahLst/>
            <a:cxnLst/>
            <a:rect l="0" t="0" r="100000" b="100000"/>
            <a:pathLst>
              <a:path w="100000" h="100000" fill="none">
                <a:moveTo>
                  <a:pt x="6970" y="48439"/>
                </a:moveTo>
                <a:cubicBezTo>
                  <a:pt x="40678" y="114499"/>
                  <a:pt x="73026" y="88145"/>
                  <a:pt x="93030" y="13799"/>
                </a:cubicBezTo>
              </a:path>
              <a:path w="100000" h="100000" fill="none">
                <a:moveTo>
                  <a:pt x="69018" y="40431"/>
                </a:moveTo>
                <a:lnTo>
                  <a:pt x="93030" y="13799"/>
                </a:lnTo>
                <a:lnTo>
                  <a:pt x="92217" y="66207"/>
                </a:lnTo>
              </a:path>
            </a:pathLst>
          </a:custGeom>
          <a:noFill/>
          <a:ln w="64449" cap="rnd">
            <a:solidFill>
              <a:schemeClr val="accent6">
                <a:lumMod val="60000"/>
                <a:lumOff val="40000"/>
              </a:schemeClr>
            </a:solidFill>
            <a:round/>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7F8FA"/>
        </a:solidFill>
        <a:effectLst/>
      </p:bgPr>
    </p:bg>
    <p:spTree>
      <p:nvGrpSpPr>
        <p:cNvPr id="1" name=""/>
        <p:cNvGrpSpPr/>
        <p:nvPr/>
      </p:nvGrpSpPr>
      <p:grpSpPr/>
      <p:sp>
        <p:nvSpPr>
          <p:cNvPr id="2" name="Rectangle 1"/>
          <p:cNvSpPr/>
          <p:nvPr/>
        </p:nvSpPr>
        <p:spPr>
          <a:xfrm>
            <a:off x="0" y="0"/>
            <a:ext cx="14630400" cy="91440"/>
          </a:xfrm>
          <a:prstGeom prst="rect">
            <a:avLst/>
          </a:prstGeom>
          <a:solidFill>
            <a:srgbClr val="176B73"/>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3" name="TextBox 2"/>
          <p:cNvSpPr txBox="1"/>
          <p:nvPr/>
        </p:nvSpPr>
        <p:spPr>
          <a:xfrm>
            <a:off x="384048" y="219456"/>
            <a:ext cx="12435840" cy="448056"/>
          </a:xfrm>
          <a:prstGeom prst="rect">
            <a:avLst/>
          </a:prstGeom>
          <a:noFill/>
        </p:spPr>
        <p:txBody>
          <a:bodyPr wrap="square" tIns="36576" bIns="36576" anchor="t">
            <a:spAutoFit/>
          </a:bodyPr>
          <a:lstStyle/>
          <a:p>
            <a:pPr>
              <a:lnSpc>
                <a:spcPts val="3132"/>
              </a:lnSpc>
              <a:spcBef>
                <a:spcPts val="0"/>
              </a:spcBef>
              <a:spcAft>
                <a:spcPts val="0"/>
              </a:spcAft>
              <a:defRPr sz="2900" b="1">
                <a:solidFill>
                  <a:srgbClr val="182B3A"/>
                </a:solidFill>
                <a:latin typeface="Arial"/>
              </a:defRPr>
            </a:pPr>
            <a:r>
              <a:t>Lattice Multiplication</a:t>
            </a:r>
          </a:p>
        </p:txBody>
      </p:sp>
      <p:sp>
        <p:nvSpPr>
          <p:cNvPr id="4" name="TextBox 3"/>
          <p:cNvSpPr txBox="1"/>
          <p:nvPr/>
        </p:nvSpPr>
        <p:spPr>
          <a:xfrm>
            <a:off x="384048" y="713232"/>
            <a:ext cx="13533120" cy="274320"/>
          </a:xfrm>
          <a:prstGeom prst="rect">
            <a:avLst/>
          </a:prstGeom>
          <a:noFill/>
        </p:spPr>
        <p:txBody>
          <a:bodyPr wrap="square" tIns="36576" bIns="36576" anchor="t">
            <a:spAutoFit/>
          </a:bodyPr>
          <a:lstStyle/>
          <a:p>
            <a:pPr>
              <a:lnSpc>
                <a:spcPts val="1512"/>
              </a:lnSpc>
              <a:spcBef>
                <a:spcPts val="0"/>
              </a:spcBef>
              <a:spcAft>
                <a:spcPts val="0"/>
              </a:spcAft>
              <a:defRPr sz="1400" b="0">
                <a:solidFill>
                  <a:srgbClr val="526472"/>
                </a:solidFill>
                <a:latin typeface="Arial"/>
              </a:defRPr>
            </a:pPr>
            <a:r>
              <a:t>Independent practice 4  •  Choose a column. Show the full written method.</a:t>
            </a:r>
          </a:p>
        </p:txBody>
      </p:sp>
      <p:sp>
        <p:nvSpPr>
          <p:cNvPr id="5" name="TextBox 4"/>
          <p:cNvSpPr txBox="1"/>
          <p:nvPr/>
        </p:nvSpPr>
        <p:spPr>
          <a:xfrm>
            <a:off x="384048" y="7882127"/>
            <a:ext cx="10058400" cy="210312"/>
          </a:xfrm>
          <a:prstGeom prst="rect">
            <a:avLst/>
          </a:prstGeom>
          <a:noFill/>
        </p:spPr>
        <p:txBody>
          <a:bodyPr wrap="square" tIns="36576" bIns="36576" anchor="t">
            <a:spAutoFit/>
          </a:bodyPr>
          <a:lstStyle/>
          <a:p>
            <a:pPr>
              <a:lnSpc>
                <a:spcPts val="1188"/>
              </a:lnSpc>
              <a:spcBef>
                <a:spcPts val="0"/>
              </a:spcBef>
              <a:spcAft>
                <a:spcPts val="0"/>
              </a:spcAft>
              <a:defRPr sz="1100" b="0">
                <a:solidFill>
                  <a:srgbClr val="526472"/>
                </a:solidFill>
                <a:latin typeface="Arial"/>
              </a:defRPr>
            </a:pPr>
            <a:r>
              <a:t>GCSE Maths revision  •  Record your working in your booklet or webapp.</a:t>
            </a:r>
          </a:p>
        </p:txBody>
      </p:sp>
      <p:sp>
        <p:nvSpPr>
          <p:cNvPr id="6" name="TextBox 5"/>
          <p:cNvSpPr txBox="1"/>
          <p:nvPr/>
        </p:nvSpPr>
        <p:spPr>
          <a:xfrm>
            <a:off x="11430000" y="7863840"/>
            <a:ext cx="2788920" cy="228600"/>
          </a:xfrm>
          <a:prstGeom prst="rect">
            <a:avLst/>
          </a:prstGeom>
          <a:noFill/>
        </p:spPr>
        <p:txBody>
          <a:bodyPr wrap="square" tIns="36576" bIns="36576" anchor="t">
            <a:spAutoFit/>
          </a:bodyPr>
          <a:lstStyle/>
          <a:p>
            <a:pPr>
              <a:lnSpc>
                <a:spcPts val="1188"/>
              </a:lnSpc>
              <a:spcBef>
                <a:spcPts val="0"/>
              </a:spcBef>
              <a:spcAft>
                <a:spcPts val="0"/>
              </a:spcAft>
              <a:defRPr sz="1100" b="0">
                <a:solidFill>
                  <a:srgbClr val="526472"/>
                </a:solidFill>
                <a:latin typeface="Arial"/>
              </a:defRPr>
            </a:pPr>
            <a:r>
              <a:t>M01-S07  •  Topic slide 9</a:t>
            </a:r>
          </a:p>
        </p:txBody>
      </p:sp>
      <p:sp>
        <p:nvSpPr>
          <p:cNvPr id="7" name="Rectangle 6"/>
          <p:cNvSpPr/>
          <p:nvPr/>
        </p:nvSpPr>
        <p:spPr>
          <a:xfrm>
            <a:off x="384048" y="1124712"/>
            <a:ext cx="4620768" cy="438912"/>
          </a:xfrm>
          <a:prstGeom prst="rect">
            <a:avLst/>
          </a:prstGeom>
          <a:solidFill>
            <a:srgbClr val="176B73"/>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8" name="TextBox 7"/>
          <p:cNvSpPr txBox="1"/>
          <p:nvPr/>
        </p:nvSpPr>
        <p:spPr>
          <a:xfrm>
            <a:off x="438912" y="1152144"/>
            <a:ext cx="4511040" cy="338328"/>
          </a:xfrm>
          <a:prstGeom prst="rect">
            <a:avLst/>
          </a:prstGeom>
          <a:noFill/>
        </p:spPr>
        <p:txBody>
          <a:bodyPr wrap="square" tIns="36576" bIns="36576" anchor="t">
            <a:spAutoFit/>
          </a:bodyPr>
          <a:lstStyle/>
          <a:p>
            <a:pPr>
              <a:lnSpc>
                <a:spcPts val="2160"/>
              </a:lnSpc>
              <a:spcBef>
                <a:spcPts val="0"/>
              </a:spcBef>
              <a:spcAft>
                <a:spcPts val="0"/>
              </a:spcAft>
              <a:defRPr sz="2000" b="1">
                <a:solidFill>
                  <a:srgbClr val="FFFFFF"/>
                </a:solidFill>
                <a:latin typeface="Arial"/>
              </a:defRPr>
            </a:pPr>
            <a:r>
              <a:t>Start</a:t>
            </a:r>
          </a:p>
        </p:txBody>
      </p:sp>
      <p:sp>
        <p:nvSpPr>
          <p:cNvPr id="9" name="TextBox 8"/>
          <p:cNvSpPr txBox="1"/>
          <p:nvPr/>
        </p:nvSpPr>
        <p:spPr>
          <a:xfrm>
            <a:off x="420623" y="1618488"/>
            <a:ext cx="4547616" cy="329184"/>
          </a:xfrm>
          <a:prstGeom prst="rect">
            <a:avLst/>
          </a:prstGeom>
          <a:noFill/>
        </p:spPr>
        <p:txBody>
          <a:bodyPr wrap="square" tIns="36576" bIns="36576" anchor="t">
            <a:spAutoFit/>
          </a:bodyPr>
          <a:lstStyle/>
          <a:p>
            <a:pPr>
              <a:lnSpc>
                <a:spcPts val="1512"/>
              </a:lnSpc>
              <a:spcBef>
                <a:spcPts val="0"/>
              </a:spcBef>
              <a:spcAft>
                <a:spcPts val="0"/>
              </a:spcAft>
              <a:defRPr sz="1400" b="1">
                <a:solidFill>
                  <a:srgbClr val="176B73"/>
                </a:solidFill>
                <a:latin typeface="Arial"/>
              </a:defRPr>
            </a:pPr>
            <a:r>
              <a:t>2 digits × 1 digit</a:t>
            </a:r>
          </a:p>
        </p:txBody>
      </p:sp>
      <p:sp>
        <p:nvSpPr>
          <p:cNvPr id="10" name="Rectangle 9"/>
          <p:cNvSpPr/>
          <p:nvPr/>
        </p:nvSpPr>
        <p:spPr>
          <a:xfrm>
            <a:off x="5004816" y="1124712"/>
            <a:ext cx="4620768" cy="438912"/>
          </a:xfrm>
          <a:prstGeom prst="rect">
            <a:avLst/>
          </a:prstGeom>
          <a:solidFill>
            <a:srgbClr val="3559A2"/>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1" name="TextBox 10"/>
          <p:cNvSpPr txBox="1"/>
          <p:nvPr/>
        </p:nvSpPr>
        <p:spPr>
          <a:xfrm>
            <a:off x="5059680" y="1152144"/>
            <a:ext cx="4511040" cy="338328"/>
          </a:xfrm>
          <a:prstGeom prst="rect">
            <a:avLst/>
          </a:prstGeom>
          <a:noFill/>
        </p:spPr>
        <p:txBody>
          <a:bodyPr wrap="square" tIns="36576" bIns="36576" anchor="t">
            <a:spAutoFit/>
          </a:bodyPr>
          <a:lstStyle/>
          <a:p>
            <a:pPr>
              <a:lnSpc>
                <a:spcPts val="2160"/>
              </a:lnSpc>
              <a:spcBef>
                <a:spcPts val="0"/>
              </a:spcBef>
              <a:spcAft>
                <a:spcPts val="0"/>
              </a:spcAft>
              <a:defRPr sz="2000" b="1">
                <a:solidFill>
                  <a:srgbClr val="FFFFFF"/>
                </a:solidFill>
                <a:latin typeface="Arial"/>
              </a:defRPr>
            </a:pPr>
            <a:r>
              <a:t>Build</a:t>
            </a:r>
          </a:p>
        </p:txBody>
      </p:sp>
      <p:sp>
        <p:nvSpPr>
          <p:cNvPr id="12" name="TextBox 11"/>
          <p:cNvSpPr txBox="1"/>
          <p:nvPr/>
        </p:nvSpPr>
        <p:spPr>
          <a:xfrm>
            <a:off x="5041392" y="1618488"/>
            <a:ext cx="4547616" cy="329184"/>
          </a:xfrm>
          <a:prstGeom prst="rect">
            <a:avLst/>
          </a:prstGeom>
          <a:noFill/>
        </p:spPr>
        <p:txBody>
          <a:bodyPr wrap="square" tIns="36576" bIns="36576" anchor="t">
            <a:spAutoFit/>
          </a:bodyPr>
          <a:lstStyle/>
          <a:p>
            <a:pPr>
              <a:lnSpc>
                <a:spcPts val="1512"/>
              </a:lnSpc>
              <a:spcBef>
                <a:spcPts val="0"/>
              </a:spcBef>
              <a:spcAft>
                <a:spcPts val="0"/>
              </a:spcAft>
              <a:defRPr sz="1400" b="1">
                <a:solidFill>
                  <a:srgbClr val="3559A2"/>
                </a:solidFill>
                <a:latin typeface="Arial"/>
              </a:defRPr>
            </a:pPr>
            <a:r>
              <a:t>2 digits × 2 digits</a:t>
            </a:r>
          </a:p>
        </p:txBody>
      </p:sp>
      <p:sp>
        <p:nvSpPr>
          <p:cNvPr id="13" name="Rectangle 12"/>
          <p:cNvSpPr/>
          <p:nvPr/>
        </p:nvSpPr>
        <p:spPr>
          <a:xfrm>
            <a:off x="9625584" y="1124712"/>
            <a:ext cx="4620768" cy="438912"/>
          </a:xfrm>
          <a:prstGeom prst="rect">
            <a:avLst/>
          </a:prstGeom>
          <a:solidFill>
            <a:srgbClr val="754B87"/>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4" name="TextBox 13"/>
          <p:cNvSpPr txBox="1"/>
          <p:nvPr/>
        </p:nvSpPr>
        <p:spPr>
          <a:xfrm>
            <a:off x="9680448" y="1152144"/>
            <a:ext cx="4511040" cy="338328"/>
          </a:xfrm>
          <a:prstGeom prst="rect">
            <a:avLst/>
          </a:prstGeom>
          <a:noFill/>
        </p:spPr>
        <p:txBody>
          <a:bodyPr wrap="square" tIns="36576" bIns="36576" anchor="t">
            <a:spAutoFit/>
          </a:bodyPr>
          <a:lstStyle/>
          <a:p>
            <a:pPr>
              <a:lnSpc>
                <a:spcPts val="2160"/>
              </a:lnSpc>
              <a:spcBef>
                <a:spcPts val="0"/>
              </a:spcBef>
              <a:spcAft>
                <a:spcPts val="0"/>
              </a:spcAft>
              <a:defRPr sz="2000" b="1">
                <a:solidFill>
                  <a:srgbClr val="FFFFFF"/>
                </a:solidFill>
                <a:latin typeface="Arial"/>
              </a:defRPr>
            </a:pPr>
            <a:r>
              <a:t>Confidence</a:t>
            </a:r>
          </a:p>
        </p:txBody>
      </p:sp>
      <p:sp>
        <p:nvSpPr>
          <p:cNvPr id="15" name="TextBox 14"/>
          <p:cNvSpPr txBox="1"/>
          <p:nvPr/>
        </p:nvSpPr>
        <p:spPr>
          <a:xfrm>
            <a:off x="9662160" y="1618488"/>
            <a:ext cx="4547616" cy="329184"/>
          </a:xfrm>
          <a:prstGeom prst="rect">
            <a:avLst/>
          </a:prstGeom>
          <a:noFill/>
        </p:spPr>
        <p:txBody>
          <a:bodyPr wrap="square" tIns="36576" bIns="36576" anchor="t">
            <a:spAutoFit/>
          </a:bodyPr>
          <a:lstStyle/>
          <a:p>
            <a:pPr>
              <a:lnSpc>
                <a:spcPts val="1512"/>
              </a:lnSpc>
              <a:spcBef>
                <a:spcPts val="0"/>
              </a:spcBef>
              <a:spcAft>
                <a:spcPts val="0"/>
              </a:spcAft>
              <a:defRPr sz="1400" b="1">
                <a:solidFill>
                  <a:srgbClr val="754B87"/>
                </a:solidFill>
                <a:latin typeface="Arial"/>
              </a:defRPr>
            </a:pPr>
            <a:r>
              <a:t>Up to 4 digits × 4 digits</a:t>
            </a:r>
          </a:p>
        </p:txBody>
      </p:sp>
      <p:sp>
        <p:nvSpPr>
          <p:cNvPr id="16" name="Rectangle 15"/>
          <p:cNvSpPr/>
          <p:nvPr/>
        </p:nvSpPr>
        <p:spPr>
          <a:xfrm>
            <a:off x="384048" y="2020824"/>
            <a:ext cx="4620768" cy="909828"/>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7" name="TextBox 16"/>
          <p:cNvSpPr txBox="1"/>
          <p:nvPr/>
        </p:nvSpPr>
        <p:spPr>
          <a:xfrm>
            <a:off x="493776" y="2231136"/>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176B73"/>
                </a:solidFill>
                <a:latin typeface="Arial"/>
              </a:defRPr>
            </a:pPr>
            <a:r>
              <a:t>1.</a:t>
            </a:r>
          </a:p>
        </p:txBody>
      </p:sp>
      <p:sp>
        <p:nvSpPr>
          <p:cNvPr id="18" name="TextBox 17"/>
          <p:cNvSpPr txBox="1"/>
          <p:nvPr/>
        </p:nvSpPr>
        <p:spPr>
          <a:xfrm>
            <a:off x="987552" y="2203704"/>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38 × 5</a:t>
            </a:r>
          </a:p>
        </p:txBody>
      </p:sp>
      <p:sp>
        <p:nvSpPr>
          <p:cNvPr id="19" name="Rectangle 18"/>
          <p:cNvSpPr/>
          <p:nvPr/>
        </p:nvSpPr>
        <p:spPr>
          <a:xfrm>
            <a:off x="384048" y="2948939"/>
            <a:ext cx="4620768" cy="909828"/>
          </a:xfrm>
          <a:prstGeom prst="rect">
            <a:avLst/>
          </a:prstGeom>
          <a:solidFill>
            <a:srgbClr val="EDF6F5"/>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20" name="TextBox 19"/>
          <p:cNvSpPr txBox="1"/>
          <p:nvPr/>
        </p:nvSpPr>
        <p:spPr>
          <a:xfrm>
            <a:off x="493776" y="3159251"/>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176B73"/>
                </a:solidFill>
                <a:latin typeface="Arial"/>
              </a:defRPr>
            </a:pPr>
            <a:r>
              <a:t>2.</a:t>
            </a:r>
          </a:p>
        </p:txBody>
      </p:sp>
      <p:sp>
        <p:nvSpPr>
          <p:cNvPr id="21" name="TextBox 20"/>
          <p:cNvSpPr txBox="1"/>
          <p:nvPr/>
        </p:nvSpPr>
        <p:spPr>
          <a:xfrm>
            <a:off x="987552" y="3131820"/>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56 × 9</a:t>
            </a:r>
          </a:p>
        </p:txBody>
      </p:sp>
      <p:sp>
        <p:nvSpPr>
          <p:cNvPr id="22" name="Rectangle 21"/>
          <p:cNvSpPr/>
          <p:nvPr/>
        </p:nvSpPr>
        <p:spPr>
          <a:xfrm>
            <a:off x="384048" y="3877056"/>
            <a:ext cx="4620768" cy="909828"/>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23" name="TextBox 22"/>
          <p:cNvSpPr txBox="1"/>
          <p:nvPr/>
        </p:nvSpPr>
        <p:spPr>
          <a:xfrm>
            <a:off x="493776" y="4087368"/>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176B73"/>
                </a:solidFill>
                <a:latin typeface="Arial"/>
              </a:defRPr>
            </a:pPr>
            <a:r>
              <a:t>3.</a:t>
            </a:r>
          </a:p>
        </p:txBody>
      </p:sp>
      <p:sp>
        <p:nvSpPr>
          <p:cNvPr id="24" name="TextBox 23"/>
          <p:cNvSpPr txBox="1"/>
          <p:nvPr/>
        </p:nvSpPr>
        <p:spPr>
          <a:xfrm>
            <a:off x="987552" y="4059936"/>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67 × 8</a:t>
            </a:r>
          </a:p>
        </p:txBody>
      </p:sp>
      <p:sp>
        <p:nvSpPr>
          <p:cNvPr id="25" name="Rectangle 24"/>
          <p:cNvSpPr/>
          <p:nvPr/>
        </p:nvSpPr>
        <p:spPr>
          <a:xfrm>
            <a:off x="384048" y="4805172"/>
            <a:ext cx="4620768" cy="909828"/>
          </a:xfrm>
          <a:prstGeom prst="rect">
            <a:avLst/>
          </a:prstGeom>
          <a:solidFill>
            <a:srgbClr val="EDF6F5"/>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26" name="TextBox 25"/>
          <p:cNvSpPr txBox="1"/>
          <p:nvPr/>
        </p:nvSpPr>
        <p:spPr>
          <a:xfrm>
            <a:off x="493776" y="5015484"/>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176B73"/>
                </a:solidFill>
                <a:latin typeface="Arial"/>
              </a:defRPr>
            </a:pPr>
            <a:r>
              <a:t>4.</a:t>
            </a:r>
          </a:p>
        </p:txBody>
      </p:sp>
      <p:sp>
        <p:nvSpPr>
          <p:cNvPr id="27" name="TextBox 26"/>
          <p:cNvSpPr txBox="1"/>
          <p:nvPr/>
        </p:nvSpPr>
        <p:spPr>
          <a:xfrm>
            <a:off x="987552" y="4988052"/>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49 × 6</a:t>
            </a:r>
          </a:p>
        </p:txBody>
      </p:sp>
      <p:sp>
        <p:nvSpPr>
          <p:cNvPr id="28" name="Rectangle 27"/>
          <p:cNvSpPr/>
          <p:nvPr/>
        </p:nvSpPr>
        <p:spPr>
          <a:xfrm>
            <a:off x="384048" y="5733288"/>
            <a:ext cx="4620768" cy="909828"/>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29" name="TextBox 28"/>
          <p:cNvSpPr txBox="1"/>
          <p:nvPr/>
        </p:nvSpPr>
        <p:spPr>
          <a:xfrm>
            <a:off x="493776" y="5943600"/>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176B73"/>
                </a:solidFill>
                <a:latin typeface="Arial"/>
              </a:defRPr>
            </a:pPr>
            <a:r>
              <a:t>5.</a:t>
            </a:r>
          </a:p>
        </p:txBody>
      </p:sp>
      <p:sp>
        <p:nvSpPr>
          <p:cNvPr id="30" name="TextBox 29"/>
          <p:cNvSpPr txBox="1"/>
          <p:nvPr/>
        </p:nvSpPr>
        <p:spPr>
          <a:xfrm>
            <a:off x="987552" y="5916168"/>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82 × 4</a:t>
            </a:r>
          </a:p>
        </p:txBody>
      </p:sp>
      <p:sp>
        <p:nvSpPr>
          <p:cNvPr id="31" name="Rectangle 30"/>
          <p:cNvSpPr/>
          <p:nvPr/>
        </p:nvSpPr>
        <p:spPr>
          <a:xfrm>
            <a:off x="384048" y="6661403"/>
            <a:ext cx="4620768" cy="909828"/>
          </a:xfrm>
          <a:prstGeom prst="rect">
            <a:avLst/>
          </a:prstGeom>
          <a:solidFill>
            <a:srgbClr val="EDF6F5"/>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32" name="TextBox 31"/>
          <p:cNvSpPr txBox="1"/>
          <p:nvPr/>
        </p:nvSpPr>
        <p:spPr>
          <a:xfrm>
            <a:off x="493776" y="6871716"/>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176B73"/>
                </a:solidFill>
                <a:latin typeface="Arial"/>
              </a:defRPr>
            </a:pPr>
            <a:r>
              <a:t>6.</a:t>
            </a:r>
          </a:p>
        </p:txBody>
      </p:sp>
      <p:sp>
        <p:nvSpPr>
          <p:cNvPr id="33" name="TextBox 32"/>
          <p:cNvSpPr txBox="1"/>
          <p:nvPr/>
        </p:nvSpPr>
        <p:spPr>
          <a:xfrm>
            <a:off x="987552" y="6844283"/>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97 × 7</a:t>
            </a:r>
          </a:p>
        </p:txBody>
      </p:sp>
      <p:sp>
        <p:nvSpPr>
          <p:cNvPr id="34" name="Rectangle 33"/>
          <p:cNvSpPr/>
          <p:nvPr/>
        </p:nvSpPr>
        <p:spPr>
          <a:xfrm>
            <a:off x="5004816" y="2020824"/>
            <a:ext cx="4620768" cy="909828"/>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35" name="TextBox 34"/>
          <p:cNvSpPr txBox="1"/>
          <p:nvPr/>
        </p:nvSpPr>
        <p:spPr>
          <a:xfrm>
            <a:off x="5114544" y="2231136"/>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3559A2"/>
                </a:solidFill>
                <a:latin typeface="Arial"/>
              </a:defRPr>
            </a:pPr>
            <a:r>
              <a:t>1.</a:t>
            </a:r>
          </a:p>
        </p:txBody>
      </p:sp>
      <p:sp>
        <p:nvSpPr>
          <p:cNvPr id="36" name="TextBox 35"/>
          <p:cNvSpPr txBox="1"/>
          <p:nvPr/>
        </p:nvSpPr>
        <p:spPr>
          <a:xfrm>
            <a:off x="5608320" y="2203704"/>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27 × 35</a:t>
            </a:r>
          </a:p>
        </p:txBody>
      </p:sp>
      <p:sp>
        <p:nvSpPr>
          <p:cNvPr id="37" name="Rectangle 36"/>
          <p:cNvSpPr/>
          <p:nvPr/>
        </p:nvSpPr>
        <p:spPr>
          <a:xfrm>
            <a:off x="5004816" y="2948939"/>
            <a:ext cx="4620768" cy="909828"/>
          </a:xfrm>
          <a:prstGeom prst="rect">
            <a:avLst/>
          </a:prstGeom>
          <a:solidFill>
            <a:srgbClr val="EFF3FA"/>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38" name="TextBox 37"/>
          <p:cNvSpPr txBox="1"/>
          <p:nvPr/>
        </p:nvSpPr>
        <p:spPr>
          <a:xfrm>
            <a:off x="5114544" y="3159251"/>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3559A2"/>
                </a:solidFill>
                <a:latin typeface="Arial"/>
              </a:defRPr>
            </a:pPr>
            <a:r>
              <a:t>2.</a:t>
            </a:r>
          </a:p>
        </p:txBody>
      </p:sp>
      <p:sp>
        <p:nvSpPr>
          <p:cNvPr id="39" name="TextBox 38"/>
          <p:cNvSpPr txBox="1"/>
          <p:nvPr/>
        </p:nvSpPr>
        <p:spPr>
          <a:xfrm>
            <a:off x="5608320" y="3131820"/>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43 × 26</a:t>
            </a:r>
          </a:p>
        </p:txBody>
      </p:sp>
      <p:sp>
        <p:nvSpPr>
          <p:cNvPr id="40" name="Rectangle 39"/>
          <p:cNvSpPr/>
          <p:nvPr/>
        </p:nvSpPr>
        <p:spPr>
          <a:xfrm>
            <a:off x="5004816" y="3877056"/>
            <a:ext cx="4620768" cy="909828"/>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41" name="TextBox 40"/>
          <p:cNvSpPr txBox="1"/>
          <p:nvPr/>
        </p:nvSpPr>
        <p:spPr>
          <a:xfrm>
            <a:off x="5114544" y="4087368"/>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3559A2"/>
                </a:solidFill>
                <a:latin typeface="Arial"/>
              </a:defRPr>
            </a:pPr>
            <a:r>
              <a:t>3.</a:t>
            </a:r>
          </a:p>
        </p:txBody>
      </p:sp>
      <p:sp>
        <p:nvSpPr>
          <p:cNvPr id="42" name="TextBox 41"/>
          <p:cNvSpPr txBox="1"/>
          <p:nvPr/>
        </p:nvSpPr>
        <p:spPr>
          <a:xfrm>
            <a:off x="5608320" y="4059936"/>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69 × 48</a:t>
            </a:r>
          </a:p>
        </p:txBody>
      </p:sp>
      <p:sp>
        <p:nvSpPr>
          <p:cNvPr id="43" name="Rectangle 42"/>
          <p:cNvSpPr/>
          <p:nvPr/>
        </p:nvSpPr>
        <p:spPr>
          <a:xfrm>
            <a:off x="5004816" y="4805172"/>
            <a:ext cx="4620768" cy="909828"/>
          </a:xfrm>
          <a:prstGeom prst="rect">
            <a:avLst/>
          </a:prstGeom>
          <a:solidFill>
            <a:srgbClr val="EFF3FA"/>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44" name="TextBox 43"/>
          <p:cNvSpPr txBox="1"/>
          <p:nvPr/>
        </p:nvSpPr>
        <p:spPr>
          <a:xfrm>
            <a:off x="5114544" y="5015484"/>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3559A2"/>
                </a:solidFill>
                <a:latin typeface="Arial"/>
              </a:defRPr>
            </a:pPr>
            <a:r>
              <a:t>4.</a:t>
            </a:r>
          </a:p>
        </p:txBody>
      </p:sp>
      <p:sp>
        <p:nvSpPr>
          <p:cNvPr id="45" name="TextBox 44"/>
          <p:cNvSpPr txBox="1"/>
          <p:nvPr/>
        </p:nvSpPr>
        <p:spPr>
          <a:xfrm>
            <a:off x="5608320" y="4988052"/>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85 × 37</a:t>
            </a:r>
          </a:p>
        </p:txBody>
      </p:sp>
      <p:sp>
        <p:nvSpPr>
          <p:cNvPr id="46" name="Rectangle 45"/>
          <p:cNvSpPr/>
          <p:nvPr/>
        </p:nvSpPr>
        <p:spPr>
          <a:xfrm>
            <a:off x="5004816" y="5733288"/>
            <a:ext cx="4620768" cy="909828"/>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47" name="TextBox 46"/>
          <p:cNvSpPr txBox="1"/>
          <p:nvPr/>
        </p:nvSpPr>
        <p:spPr>
          <a:xfrm>
            <a:off x="5114544" y="5943600"/>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3559A2"/>
                </a:solidFill>
                <a:latin typeface="Arial"/>
              </a:defRPr>
            </a:pPr>
            <a:r>
              <a:t>5.</a:t>
            </a:r>
          </a:p>
        </p:txBody>
      </p:sp>
      <p:sp>
        <p:nvSpPr>
          <p:cNvPr id="48" name="TextBox 47"/>
          <p:cNvSpPr txBox="1"/>
          <p:nvPr/>
        </p:nvSpPr>
        <p:spPr>
          <a:xfrm>
            <a:off x="5608320" y="5916168"/>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74 × 59</a:t>
            </a:r>
          </a:p>
        </p:txBody>
      </p:sp>
      <p:sp>
        <p:nvSpPr>
          <p:cNvPr id="49" name="Rectangle 48"/>
          <p:cNvSpPr/>
          <p:nvPr/>
        </p:nvSpPr>
        <p:spPr>
          <a:xfrm>
            <a:off x="5004816" y="6661403"/>
            <a:ext cx="4620768" cy="909828"/>
          </a:xfrm>
          <a:prstGeom prst="rect">
            <a:avLst/>
          </a:prstGeom>
          <a:solidFill>
            <a:srgbClr val="EFF3FA"/>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50" name="TextBox 49"/>
          <p:cNvSpPr txBox="1"/>
          <p:nvPr/>
        </p:nvSpPr>
        <p:spPr>
          <a:xfrm>
            <a:off x="5114544" y="6871716"/>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3559A2"/>
                </a:solidFill>
                <a:latin typeface="Arial"/>
              </a:defRPr>
            </a:pPr>
            <a:r>
              <a:t>6.</a:t>
            </a:r>
          </a:p>
        </p:txBody>
      </p:sp>
      <p:sp>
        <p:nvSpPr>
          <p:cNvPr id="51" name="TextBox 50"/>
          <p:cNvSpPr txBox="1"/>
          <p:nvPr/>
        </p:nvSpPr>
        <p:spPr>
          <a:xfrm>
            <a:off x="5608320" y="6844283"/>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96 × 68</a:t>
            </a:r>
          </a:p>
        </p:txBody>
      </p:sp>
      <p:sp>
        <p:nvSpPr>
          <p:cNvPr id="52" name="Rectangle 51"/>
          <p:cNvSpPr/>
          <p:nvPr/>
        </p:nvSpPr>
        <p:spPr>
          <a:xfrm>
            <a:off x="9625584" y="2020824"/>
            <a:ext cx="4620768" cy="909828"/>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53" name="TextBox 52"/>
          <p:cNvSpPr txBox="1"/>
          <p:nvPr/>
        </p:nvSpPr>
        <p:spPr>
          <a:xfrm>
            <a:off x="9735312" y="2231136"/>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754B87"/>
                </a:solidFill>
                <a:latin typeface="Arial"/>
              </a:defRPr>
            </a:pPr>
            <a:r>
              <a:t>1.</a:t>
            </a:r>
          </a:p>
        </p:txBody>
      </p:sp>
      <p:sp>
        <p:nvSpPr>
          <p:cNvPr id="54" name="TextBox 53"/>
          <p:cNvSpPr txBox="1"/>
          <p:nvPr/>
        </p:nvSpPr>
        <p:spPr>
          <a:xfrm>
            <a:off x="10229088" y="2203704"/>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647 × 45</a:t>
            </a:r>
          </a:p>
        </p:txBody>
      </p:sp>
      <p:sp>
        <p:nvSpPr>
          <p:cNvPr id="55" name="Rectangle 54"/>
          <p:cNvSpPr/>
          <p:nvPr/>
        </p:nvSpPr>
        <p:spPr>
          <a:xfrm>
            <a:off x="9625584" y="2948939"/>
            <a:ext cx="4620768" cy="909828"/>
          </a:xfrm>
          <a:prstGeom prst="rect">
            <a:avLst/>
          </a:prstGeom>
          <a:solidFill>
            <a:srgbClr val="F5F0F7"/>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56" name="TextBox 55"/>
          <p:cNvSpPr txBox="1"/>
          <p:nvPr/>
        </p:nvSpPr>
        <p:spPr>
          <a:xfrm>
            <a:off x="9735312" y="3159251"/>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754B87"/>
                </a:solidFill>
                <a:latin typeface="Arial"/>
              </a:defRPr>
            </a:pPr>
            <a:r>
              <a:t>2.</a:t>
            </a:r>
          </a:p>
        </p:txBody>
      </p:sp>
      <p:sp>
        <p:nvSpPr>
          <p:cNvPr id="57" name="TextBox 56"/>
          <p:cNvSpPr txBox="1"/>
          <p:nvPr/>
        </p:nvSpPr>
        <p:spPr>
          <a:xfrm>
            <a:off x="10229088" y="3131820"/>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902 × 38</a:t>
            </a:r>
          </a:p>
        </p:txBody>
      </p:sp>
      <p:sp>
        <p:nvSpPr>
          <p:cNvPr id="58" name="Rectangle 57"/>
          <p:cNvSpPr/>
          <p:nvPr/>
        </p:nvSpPr>
        <p:spPr>
          <a:xfrm>
            <a:off x="9625584" y="3877056"/>
            <a:ext cx="4620768" cy="909828"/>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59" name="TextBox 58"/>
          <p:cNvSpPr txBox="1"/>
          <p:nvPr/>
        </p:nvSpPr>
        <p:spPr>
          <a:xfrm>
            <a:off x="9735312" y="4087368"/>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754B87"/>
                </a:solidFill>
                <a:latin typeface="Arial"/>
              </a:defRPr>
            </a:pPr>
            <a:r>
              <a:t>3.</a:t>
            </a:r>
          </a:p>
        </p:txBody>
      </p:sp>
      <p:sp>
        <p:nvSpPr>
          <p:cNvPr id="60" name="TextBox 59"/>
          <p:cNvSpPr txBox="1"/>
          <p:nvPr/>
        </p:nvSpPr>
        <p:spPr>
          <a:xfrm>
            <a:off x="10229088" y="4059936"/>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3,156 × 489</a:t>
            </a:r>
          </a:p>
        </p:txBody>
      </p:sp>
      <p:sp>
        <p:nvSpPr>
          <p:cNvPr id="61" name="Rectangle 60"/>
          <p:cNvSpPr/>
          <p:nvPr/>
        </p:nvSpPr>
        <p:spPr>
          <a:xfrm>
            <a:off x="9625584" y="4805172"/>
            <a:ext cx="4620768" cy="909828"/>
          </a:xfrm>
          <a:prstGeom prst="rect">
            <a:avLst/>
          </a:prstGeom>
          <a:solidFill>
            <a:srgbClr val="F5F0F7"/>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62" name="TextBox 61"/>
          <p:cNvSpPr txBox="1"/>
          <p:nvPr/>
        </p:nvSpPr>
        <p:spPr>
          <a:xfrm>
            <a:off x="9735312" y="5015484"/>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754B87"/>
                </a:solidFill>
                <a:latin typeface="Arial"/>
              </a:defRPr>
            </a:pPr>
            <a:r>
              <a:t>4.</a:t>
            </a:r>
          </a:p>
        </p:txBody>
      </p:sp>
      <p:sp>
        <p:nvSpPr>
          <p:cNvPr id="63" name="TextBox 62"/>
          <p:cNvSpPr txBox="1"/>
          <p:nvPr/>
        </p:nvSpPr>
        <p:spPr>
          <a:xfrm>
            <a:off x="10229088" y="4988052"/>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5,027 × 596</a:t>
            </a:r>
          </a:p>
        </p:txBody>
      </p:sp>
      <p:sp>
        <p:nvSpPr>
          <p:cNvPr id="64" name="Rectangle 63"/>
          <p:cNvSpPr/>
          <p:nvPr/>
        </p:nvSpPr>
        <p:spPr>
          <a:xfrm>
            <a:off x="9625584" y="5733288"/>
            <a:ext cx="4620768" cy="909828"/>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65" name="TextBox 64"/>
          <p:cNvSpPr txBox="1"/>
          <p:nvPr/>
        </p:nvSpPr>
        <p:spPr>
          <a:xfrm>
            <a:off x="9735312" y="5943600"/>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754B87"/>
                </a:solidFill>
                <a:latin typeface="Arial"/>
              </a:defRPr>
            </a:pPr>
            <a:r>
              <a:t>5.</a:t>
            </a:r>
          </a:p>
        </p:txBody>
      </p:sp>
      <p:sp>
        <p:nvSpPr>
          <p:cNvPr id="66" name="TextBox 65"/>
          <p:cNvSpPr txBox="1"/>
          <p:nvPr/>
        </p:nvSpPr>
        <p:spPr>
          <a:xfrm>
            <a:off x="10229088" y="5916168"/>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7,418 × 3,264</a:t>
            </a:r>
          </a:p>
        </p:txBody>
      </p:sp>
      <p:sp>
        <p:nvSpPr>
          <p:cNvPr id="67" name="Rectangle 66"/>
          <p:cNvSpPr/>
          <p:nvPr/>
        </p:nvSpPr>
        <p:spPr>
          <a:xfrm>
            <a:off x="9625584" y="6661403"/>
            <a:ext cx="4620768" cy="909828"/>
          </a:xfrm>
          <a:prstGeom prst="rect">
            <a:avLst/>
          </a:prstGeom>
          <a:solidFill>
            <a:srgbClr val="F5F0F7"/>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68" name="TextBox 67"/>
          <p:cNvSpPr txBox="1"/>
          <p:nvPr/>
        </p:nvSpPr>
        <p:spPr>
          <a:xfrm>
            <a:off x="9735312" y="6871716"/>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754B87"/>
                </a:solidFill>
                <a:latin typeface="Arial"/>
              </a:defRPr>
            </a:pPr>
            <a:r>
              <a:t>6.</a:t>
            </a:r>
          </a:p>
        </p:txBody>
      </p:sp>
      <p:sp>
        <p:nvSpPr>
          <p:cNvPr id="69" name="TextBox 68"/>
          <p:cNvSpPr txBox="1"/>
          <p:nvPr/>
        </p:nvSpPr>
        <p:spPr>
          <a:xfrm>
            <a:off x="10229088" y="6844283"/>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8,639 × 5,076</a:t>
            </a:r>
          </a:p>
        </p:txBody>
      </p:sp>
      <p:sp>
        <p:nvSpPr>
          <p:cNvPr id="70" name="Progression curved arrow: Thread 1 to Thread 2"/>
          <p:cNvSpPr/>
          <p:nvPr/>
        </p:nvSpPr>
        <p:spPr>
          <a:xfrm>
            <a:off x="4671059" y="7506573"/>
            <a:ext cx="621792" cy="314053"/>
          </a:xfrm>
          <a:custGeom>
            <a:avLst/>
            <a:gdLst/>
            <a:ahLst/>
            <a:cxnLst/>
            <a:rect l="0" t="0" r="100000" b="100000"/>
            <a:pathLst>
              <a:path w="100000" h="100000" fill="none">
                <a:moveTo>
                  <a:pt x="6970" y="48439"/>
                </a:moveTo>
                <a:cubicBezTo>
                  <a:pt x="40678" y="114499"/>
                  <a:pt x="73026" y="88145"/>
                  <a:pt x="93030" y="13799"/>
                </a:cubicBezTo>
              </a:path>
              <a:path w="100000" h="100000" fill="none">
                <a:moveTo>
                  <a:pt x="69018" y="40431"/>
                </a:moveTo>
                <a:lnTo>
                  <a:pt x="93030" y="13799"/>
                </a:lnTo>
                <a:lnTo>
                  <a:pt x="92217" y="66207"/>
                </a:lnTo>
              </a:path>
            </a:pathLst>
          </a:custGeom>
          <a:noFill/>
          <a:ln w="64449" cap="rnd">
            <a:solidFill>
              <a:schemeClr val="accent6">
                <a:lumMod val="60000"/>
                <a:lumOff val="40000"/>
              </a:schemeClr>
            </a:solidFill>
            <a:round/>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71" name="Progression curved arrow: Thread 2 to Thread 3"/>
          <p:cNvSpPr/>
          <p:nvPr/>
        </p:nvSpPr>
        <p:spPr>
          <a:xfrm>
            <a:off x="9243991" y="7498079"/>
            <a:ext cx="621792" cy="314053"/>
          </a:xfrm>
          <a:custGeom>
            <a:avLst/>
            <a:gdLst/>
            <a:ahLst/>
            <a:cxnLst/>
            <a:rect l="0" t="0" r="100000" b="100000"/>
            <a:pathLst>
              <a:path w="100000" h="100000" fill="none">
                <a:moveTo>
                  <a:pt x="6970" y="48439"/>
                </a:moveTo>
                <a:cubicBezTo>
                  <a:pt x="40678" y="114499"/>
                  <a:pt x="73026" y="88145"/>
                  <a:pt x="93030" y="13799"/>
                </a:cubicBezTo>
              </a:path>
              <a:path w="100000" h="100000" fill="none">
                <a:moveTo>
                  <a:pt x="69018" y="40431"/>
                </a:moveTo>
                <a:lnTo>
                  <a:pt x="93030" y="13799"/>
                </a:lnTo>
                <a:lnTo>
                  <a:pt x="92217" y="66207"/>
                </a:lnTo>
              </a:path>
            </a:pathLst>
          </a:custGeom>
          <a:noFill/>
          <a:ln w="64449" cap="rnd">
            <a:solidFill>
              <a:schemeClr val="accent6">
                <a:lumMod val="60000"/>
                <a:lumOff val="40000"/>
              </a:schemeClr>
            </a:solidFill>
            <a:round/>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7F8FA"/>
        </a:solidFill>
        <a:effectLst/>
      </p:bgPr>
    </p:bg>
    <p:spTree>
      <p:nvGrpSpPr>
        <p:cNvPr id="1" name=""/>
        <p:cNvGrpSpPr/>
        <p:nvPr/>
      </p:nvGrpSpPr>
      <p:grpSpPr/>
      <p:sp>
        <p:nvSpPr>
          <p:cNvPr id="2" name="Rectangle 1"/>
          <p:cNvSpPr/>
          <p:nvPr/>
        </p:nvSpPr>
        <p:spPr>
          <a:xfrm>
            <a:off x="0" y="0"/>
            <a:ext cx="14630400" cy="91440"/>
          </a:xfrm>
          <a:prstGeom prst="rect">
            <a:avLst/>
          </a:prstGeom>
          <a:solidFill>
            <a:srgbClr val="176B73"/>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 name="TextBox 2"/>
          <p:cNvSpPr txBox="1"/>
          <p:nvPr/>
        </p:nvSpPr>
        <p:spPr>
          <a:xfrm>
            <a:off x="384048" y="219456"/>
            <a:ext cx="13807440" cy="457200"/>
          </a:xfrm>
          <a:prstGeom prst="rect">
            <a:avLst/>
          </a:prstGeom>
          <a:noFill/>
        </p:spPr>
        <p:txBody>
          <a:bodyPr wrap="square" tIns="36576" bIns="36576" anchor="t">
            <a:spAutoFit/>
          </a:bodyPr>
          <a:lstStyle/>
          <a:p>
            <a:pPr>
              <a:lnSpc>
                <a:spcPts val="3132"/>
              </a:lnSpc>
              <a:spcBef>
                <a:spcPts val="0"/>
              </a:spcBef>
              <a:spcAft>
                <a:spcPts val="0"/>
              </a:spcAft>
              <a:defRPr sz="2900" b="1">
                <a:solidFill>
                  <a:srgbClr val="182B3A"/>
                </a:solidFill>
                <a:latin typeface="Arial"/>
              </a:defRPr>
            </a:pPr>
            <a:r>
              <a:t>Bus Stop Division — initial assessment</a:t>
            </a:r>
          </a:p>
        </p:txBody>
      </p:sp>
      <p:sp>
        <p:nvSpPr>
          <p:cNvPr id="4" name="TextBox 3"/>
          <p:cNvSpPr txBox="1"/>
          <p:nvPr/>
        </p:nvSpPr>
        <p:spPr>
          <a:xfrm>
            <a:off x="384048" y="740664"/>
            <a:ext cx="13807440" cy="411480"/>
          </a:xfrm>
          <a:prstGeom prst="rect">
            <a:avLst/>
          </a:prstGeom>
          <a:noFill/>
        </p:spPr>
        <p:txBody>
          <a:bodyPr wrap="square" tIns="36576" bIns="36576" anchor="t">
            <a:spAutoFit/>
          </a:bodyPr>
          <a:lstStyle/>
          <a:p>
            <a:pPr>
              <a:lnSpc>
                <a:spcPts val="1836"/>
              </a:lnSpc>
              <a:spcBef>
                <a:spcPts val="0"/>
              </a:spcBef>
              <a:spcAft>
                <a:spcPts val="0"/>
              </a:spcAft>
              <a:defRPr sz="1700" b="0">
                <a:solidFill>
                  <a:srgbClr val="526472"/>
                </a:solidFill>
                <a:latin typeface="Arial"/>
              </a:defRPr>
            </a:pPr>
            <a:r>
              <a:t>Show your full written method. No calculators.</a:t>
            </a:r>
          </a:p>
        </p:txBody>
      </p:sp>
      <p:sp>
        <p:nvSpPr>
          <p:cNvPr id="5" name="TextBox 4"/>
          <p:cNvSpPr txBox="1"/>
          <p:nvPr/>
        </p:nvSpPr>
        <p:spPr>
          <a:xfrm>
            <a:off x="384048" y="7863840"/>
            <a:ext cx="13716000" cy="256032"/>
          </a:xfrm>
          <a:prstGeom prst="rect">
            <a:avLst/>
          </a:prstGeom>
          <a:noFill/>
        </p:spPr>
        <p:txBody>
          <a:bodyPr wrap="square" tIns="36576" bIns="36576" anchor="t">
            <a:spAutoFit/>
          </a:bodyPr>
          <a:lstStyle/>
          <a:p>
            <a:pPr>
              <a:lnSpc>
                <a:spcPts val="1188"/>
              </a:lnSpc>
              <a:spcBef>
                <a:spcPts val="0"/>
              </a:spcBef>
              <a:spcAft>
                <a:spcPts val="0"/>
              </a:spcAft>
              <a:defRPr sz="1100" b="0">
                <a:solidFill>
                  <a:srgbClr val="526472"/>
                </a:solidFill>
                <a:latin typeface="Arial"/>
              </a:defRPr>
            </a:pPr>
            <a:r>
              <a:t>M02-IA  •  Record your working in your booklet or webapp.</a:t>
            </a:r>
          </a:p>
        </p:txBody>
      </p:sp>
      <p:sp>
        <p:nvSpPr>
          <p:cNvPr id="6" name="Rectangle 5"/>
          <p:cNvSpPr/>
          <p:nvPr/>
        </p:nvSpPr>
        <p:spPr>
          <a:xfrm>
            <a:off x="384048" y="1463040"/>
            <a:ext cx="6858000" cy="2852928"/>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7" name="TextBox 6"/>
          <p:cNvSpPr txBox="1"/>
          <p:nvPr/>
        </p:nvSpPr>
        <p:spPr>
          <a:xfrm>
            <a:off x="566928" y="1664208"/>
            <a:ext cx="6492240" cy="2468880"/>
          </a:xfrm>
          <a:prstGeom prst="rect">
            <a:avLst/>
          </a:prstGeom>
          <a:noFill/>
        </p:spPr>
        <p:txBody>
          <a:bodyPr wrap="square" tIns="36576" bIns="36576" anchor="t">
            <a:spAutoFit/>
          </a:bodyPr>
          <a:lstStyle/>
          <a:p>
            <a:pPr>
              <a:lnSpc>
                <a:spcPts val="3672"/>
              </a:lnSpc>
              <a:spcBef>
                <a:spcPts val="0"/>
              </a:spcBef>
              <a:spcAft>
                <a:spcPts val="0"/>
              </a:spcAft>
              <a:defRPr sz="3400" b="1">
                <a:solidFill>
                  <a:srgbClr val="182B3A"/>
                </a:solidFill>
                <a:latin typeface="Arial"/>
              </a:defRPr>
            </a:pPr>
            <a:r>
              <a:t>1.  864 ÷ 4</a:t>
            </a:r>
          </a:p>
        </p:txBody>
      </p:sp>
      <p:sp>
        <p:nvSpPr>
          <p:cNvPr id="8" name="Rectangle 7"/>
          <p:cNvSpPr/>
          <p:nvPr/>
        </p:nvSpPr>
        <p:spPr>
          <a:xfrm>
            <a:off x="7379208" y="1463040"/>
            <a:ext cx="6858000" cy="2852928"/>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9" name="TextBox 8"/>
          <p:cNvSpPr txBox="1"/>
          <p:nvPr/>
        </p:nvSpPr>
        <p:spPr>
          <a:xfrm>
            <a:off x="7562088" y="1664208"/>
            <a:ext cx="6492240" cy="2468880"/>
          </a:xfrm>
          <a:prstGeom prst="rect">
            <a:avLst/>
          </a:prstGeom>
          <a:noFill/>
        </p:spPr>
        <p:txBody>
          <a:bodyPr wrap="square" tIns="36576" bIns="36576" anchor="t">
            <a:spAutoFit/>
          </a:bodyPr>
          <a:lstStyle/>
          <a:p>
            <a:pPr>
              <a:lnSpc>
                <a:spcPts val="3672"/>
              </a:lnSpc>
              <a:spcBef>
                <a:spcPts val="0"/>
              </a:spcBef>
              <a:spcAft>
                <a:spcPts val="0"/>
              </a:spcAft>
              <a:defRPr sz="3400" b="1">
                <a:solidFill>
                  <a:srgbClr val="182B3A"/>
                </a:solidFill>
                <a:latin typeface="Arial"/>
              </a:defRPr>
            </a:pPr>
            <a:r>
              <a:t>2.  132 ÷ 8</a:t>
            </a:r>
          </a:p>
        </p:txBody>
      </p:sp>
      <p:sp>
        <p:nvSpPr>
          <p:cNvPr id="10" name="Rectangle 9"/>
          <p:cNvSpPr/>
          <p:nvPr/>
        </p:nvSpPr>
        <p:spPr>
          <a:xfrm>
            <a:off x="384048" y="4526280"/>
            <a:ext cx="6858000" cy="2852928"/>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1" name="TextBox 10"/>
          <p:cNvSpPr txBox="1"/>
          <p:nvPr/>
        </p:nvSpPr>
        <p:spPr>
          <a:xfrm>
            <a:off x="566928" y="4727448"/>
            <a:ext cx="6492240" cy="2468880"/>
          </a:xfrm>
          <a:prstGeom prst="rect">
            <a:avLst/>
          </a:prstGeom>
          <a:noFill/>
        </p:spPr>
        <p:txBody>
          <a:bodyPr wrap="square" tIns="36576" bIns="36576" anchor="t">
            <a:spAutoFit/>
          </a:bodyPr>
          <a:lstStyle/>
          <a:p>
            <a:pPr>
              <a:lnSpc>
                <a:spcPts val="3672"/>
              </a:lnSpc>
              <a:spcBef>
                <a:spcPts val="0"/>
              </a:spcBef>
              <a:spcAft>
                <a:spcPts val="0"/>
              </a:spcAft>
              <a:defRPr sz="3400" b="1">
                <a:solidFill>
                  <a:srgbClr val="182B3A"/>
                </a:solidFill>
                <a:latin typeface="Arial"/>
              </a:defRPr>
            </a:pPr>
            <a:r>
              <a:t>3.  165 ÷ 6</a:t>
            </a:r>
          </a:p>
        </p:txBody>
      </p:sp>
      <p:sp>
        <p:nvSpPr>
          <p:cNvPr id="12" name="Rectangle 11"/>
          <p:cNvSpPr/>
          <p:nvPr/>
        </p:nvSpPr>
        <p:spPr>
          <a:xfrm>
            <a:off x="7379208" y="4526280"/>
            <a:ext cx="6858000" cy="2852928"/>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3" name="TextBox 12"/>
          <p:cNvSpPr txBox="1"/>
          <p:nvPr/>
        </p:nvSpPr>
        <p:spPr>
          <a:xfrm>
            <a:off x="7562088" y="4727448"/>
            <a:ext cx="6492240" cy="2468880"/>
          </a:xfrm>
          <a:prstGeom prst="rect">
            <a:avLst/>
          </a:prstGeom>
          <a:noFill/>
        </p:spPr>
        <p:txBody>
          <a:bodyPr wrap="square" tIns="36576" bIns="36576" anchor="t">
            <a:spAutoFit/>
          </a:bodyPr>
          <a:lstStyle/>
          <a:p>
            <a:pPr>
              <a:lnSpc>
                <a:spcPts val="3672"/>
              </a:lnSpc>
              <a:spcBef>
                <a:spcPts val="0"/>
              </a:spcBef>
              <a:spcAft>
                <a:spcPts val="0"/>
              </a:spcAft>
              <a:defRPr sz="3400" b="1">
                <a:solidFill>
                  <a:srgbClr val="182B3A"/>
                </a:solidFill>
                <a:latin typeface="Arial"/>
              </a:defRPr>
            </a:pPr>
            <a:r>
              <a:t>4.  615 ÷ 12</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7F8FA"/>
        </a:solidFill>
        <a:effectLst/>
      </p:bgPr>
    </p:bg>
    <p:spTree>
      <p:nvGrpSpPr>
        <p:cNvPr id="1" name=""/>
        <p:cNvGrpSpPr/>
        <p:nvPr/>
      </p:nvGrpSpPr>
      <p:grpSpPr/>
      <p:sp>
        <p:nvSpPr>
          <p:cNvPr id="2" name="Rectangle 1"/>
          <p:cNvSpPr/>
          <p:nvPr/>
        </p:nvSpPr>
        <p:spPr>
          <a:xfrm>
            <a:off x="0" y="0"/>
            <a:ext cx="14630400" cy="91440"/>
          </a:xfrm>
          <a:prstGeom prst="rect">
            <a:avLst/>
          </a:prstGeom>
          <a:solidFill>
            <a:srgbClr val="3559A2"/>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3" name="TextBox 2"/>
          <p:cNvSpPr txBox="1"/>
          <p:nvPr/>
        </p:nvSpPr>
        <p:spPr>
          <a:xfrm>
            <a:off x="384048" y="219456"/>
            <a:ext cx="12435840" cy="448056"/>
          </a:xfrm>
          <a:prstGeom prst="rect">
            <a:avLst/>
          </a:prstGeom>
          <a:noFill/>
        </p:spPr>
        <p:txBody>
          <a:bodyPr wrap="square" tIns="36576" bIns="36576" anchor="t">
            <a:spAutoFit/>
          </a:bodyPr>
          <a:lstStyle/>
          <a:p>
            <a:pPr>
              <a:lnSpc>
                <a:spcPts val="3132"/>
              </a:lnSpc>
              <a:spcBef>
                <a:spcPts val="0"/>
              </a:spcBef>
              <a:spcAft>
                <a:spcPts val="0"/>
              </a:spcAft>
              <a:defRPr sz="2900" b="1">
                <a:solidFill>
                  <a:srgbClr val="182B3A"/>
                </a:solidFill>
                <a:latin typeface="Arial"/>
              </a:defRPr>
            </a:pPr>
            <a:r>
              <a:t>Bus Stop Division</a:t>
            </a:r>
          </a:p>
        </p:txBody>
      </p:sp>
      <p:sp>
        <p:nvSpPr>
          <p:cNvPr id="4" name="TextBox 3"/>
          <p:cNvSpPr txBox="1"/>
          <p:nvPr/>
        </p:nvSpPr>
        <p:spPr>
          <a:xfrm>
            <a:off x="384048" y="713232"/>
            <a:ext cx="13533120" cy="274320"/>
          </a:xfrm>
          <a:prstGeom prst="rect">
            <a:avLst/>
          </a:prstGeom>
          <a:noFill/>
        </p:spPr>
        <p:txBody>
          <a:bodyPr wrap="square" tIns="36576" bIns="36576" anchor="t">
            <a:spAutoFit/>
          </a:bodyPr>
          <a:lstStyle/>
          <a:p>
            <a:pPr>
              <a:lnSpc>
                <a:spcPts val="1512"/>
              </a:lnSpc>
              <a:spcBef>
                <a:spcPts val="0"/>
              </a:spcBef>
              <a:spcAft>
                <a:spcPts val="0"/>
              </a:spcAft>
              <a:defRPr sz="1400" b="0">
                <a:solidFill>
                  <a:srgbClr val="526472"/>
                </a:solidFill>
                <a:latin typeface="Arial"/>
              </a:defRPr>
            </a:pPr>
            <a:r>
              <a:t>Worked demo  •  Start: exact answer. Build: remainder. Confidence: decimal answer.</a:t>
            </a:r>
          </a:p>
        </p:txBody>
      </p:sp>
      <p:sp>
        <p:nvSpPr>
          <p:cNvPr id="5" name="TextBox 4"/>
          <p:cNvSpPr txBox="1"/>
          <p:nvPr/>
        </p:nvSpPr>
        <p:spPr>
          <a:xfrm>
            <a:off x="384048" y="7882127"/>
            <a:ext cx="10058400" cy="210312"/>
          </a:xfrm>
          <a:prstGeom prst="rect">
            <a:avLst/>
          </a:prstGeom>
          <a:noFill/>
        </p:spPr>
        <p:txBody>
          <a:bodyPr wrap="square" tIns="36576" bIns="36576" anchor="t">
            <a:spAutoFit/>
          </a:bodyPr>
          <a:lstStyle/>
          <a:p>
            <a:pPr>
              <a:lnSpc>
                <a:spcPts val="1188"/>
              </a:lnSpc>
              <a:spcBef>
                <a:spcPts val="0"/>
              </a:spcBef>
              <a:spcAft>
                <a:spcPts val="0"/>
              </a:spcAft>
              <a:defRPr sz="1100" b="0">
                <a:solidFill>
                  <a:srgbClr val="526472"/>
                </a:solidFill>
                <a:latin typeface="Arial"/>
              </a:defRPr>
            </a:pPr>
            <a:r>
              <a:t>GCSE Maths revision  •  Record your working in your booklet or webapp.</a:t>
            </a:r>
          </a:p>
        </p:txBody>
      </p:sp>
      <p:sp>
        <p:nvSpPr>
          <p:cNvPr id="6" name="TextBox 5"/>
          <p:cNvSpPr txBox="1"/>
          <p:nvPr/>
        </p:nvSpPr>
        <p:spPr>
          <a:xfrm>
            <a:off x="11430000" y="7863840"/>
            <a:ext cx="2788920" cy="228600"/>
          </a:xfrm>
          <a:prstGeom prst="rect">
            <a:avLst/>
          </a:prstGeom>
          <a:noFill/>
        </p:spPr>
        <p:txBody>
          <a:bodyPr wrap="square" tIns="36576" bIns="36576" anchor="t">
            <a:spAutoFit/>
          </a:bodyPr>
          <a:lstStyle/>
          <a:p>
            <a:pPr>
              <a:lnSpc>
                <a:spcPts val="1188"/>
              </a:lnSpc>
              <a:spcBef>
                <a:spcPts val="0"/>
              </a:spcBef>
              <a:spcAft>
                <a:spcPts val="0"/>
              </a:spcAft>
              <a:defRPr sz="1100" b="0">
                <a:solidFill>
                  <a:srgbClr val="526472"/>
                </a:solidFill>
                <a:latin typeface="Arial"/>
              </a:defRPr>
            </a:pPr>
            <a:r>
              <a:t>M02-S01  •  Topic slide 2</a:t>
            </a:r>
          </a:p>
        </p:txBody>
      </p:sp>
      <p:sp>
        <p:nvSpPr>
          <p:cNvPr id="7" name="Rectangle 6"/>
          <p:cNvSpPr/>
          <p:nvPr/>
        </p:nvSpPr>
        <p:spPr>
          <a:xfrm>
            <a:off x="2487168" y="1124712"/>
            <a:ext cx="3919727" cy="438912"/>
          </a:xfrm>
          <a:prstGeom prst="rect">
            <a:avLst/>
          </a:prstGeom>
          <a:solidFill>
            <a:srgbClr val="176B73"/>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8" name="TextBox 7"/>
          <p:cNvSpPr txBox="1"/>
          <p:nvPr/>
        </p:nvSpPr>
        <p:spPr>
          <a:xfrm>
            <a:off x="2542032" y="1152144"/>
            <a:ext cx="3809999" cy="338328"/>
          </a:xfrm>
          <a:prstGeom prst="rect">
            <a:avLst/>
          </a:prstGeom>
          <a:noFill/>
        </p:spPr>
        <p:txBody>
          <a:bodyPr wrap="square" tIns="36576" bIns="36576" anchor="t">
            <a:spAutoFit/>
          </a:bodyPr>
          <a:lstStyle/>
          <a:p>
            <a:pPr>
              <a:lnSpc>
                <a:spcPts val="2160"/>
              </a:lnSpc>
              <a:spcBef>
                <a:spcPts val="0"/>
              </a:spcBef>
              <a:spcAft>
                <a:spcPts val="0"/>
              </a:spcAft>
              <a:defRPr sz="2000" b="1">
                <a:solidFill>
                  <a:srgbClr val="FFFFFF"/>
                </a:solidFill>
                <a:latin typeface="Arial"/>
              </a:defRPr>
            </a:pPr>
            <a:r>
              <a:t>Start</a:t>
            </a:r>
          </a:p>
        </p:txBody>
      </p:sp>
      <p:sp>
        <p:nvSpPr>
          <p:cNvPr id="9" name="Rectangle 8"/>
          <p:cNvSpPr/>
          <p:nvPr/>
        </p:nvSpPr>
        <p:spPr>
          <a:xfrm>
            <a:off x="6406895" y="1124712"/>
            <a:ext cx="3919727" cy="438912"/>
          </a:xfrm>
          <a:prstGeom prst="rect">
            <a:avLst/>
          </a:prstGeom>
          <a:solidFill>
            <a:srgbClr val="3559A2"/>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0" name="TextBox 9"/>
          <p:cNvSpPr txBox="1"/>
          <p:nvPr/>
        </p:nvSpPr>
        <p:spPr>
          <a:xfrm>
            <a:off x="6461759" y="1152144"/>
            <a:ext cx="3809999" cy="338328"/>
          </a:xfrm>
          <a:prstGeom prst="rect">
            <a:avLst/>
          </a:prstGeom>
          <a:noFill/>
        </p:spPr>
        <p:txBody>
          <a:bodyPr wrap="square" tIns="36576" bIns="36576" anchor="t">
            <a:spAutoFit/>
          </a:bodyPr>
          <a:lstStyle/>
          <a:p>
            <a:pPr>
              <a:lnSpc>
                <a:spcPts val="2160"/>
              </a:lnSpc>
              <a:spcBef>
                <a:spcPts val="0"/>
              </a:spcBef>
              <a:spcAft>
                <a:spcPts val="0"/>
              </a:spcAft>
              <a:defRPr sz="2000" b="1">
                <a:solidFill>
                  <a:srgbClr val="FFFFFF"/>
                </a:solidFill>
                <a:latin typeface="Arial"/>
              </a:defRPr>
            </a:pPr>
            <a:r>
              <a:t>Build</a:t>
            </a:r>
          </a:p>
        </p:txBody>
      </p:sp>
      <p:sp>
        <p:nvSpPr>
          <p:cNvPr id="11" name="Rectangle 10"/>
          <p:cNvSpPr/>
          <p:nvPr/>
        </p:nvSpPr>
        <p:spPr>
          <a:xfrm>
            <a:off x="10326624" y="1124712"/>
            <a:ext cx="3919727" cy="438912"/>
          </a:xfrm>
          <a:prstGeom prst="rect">
            <a:avLst/>
          </a:prstGeom>
          <a:solidFill>
            <a:srgbClr val="754B87"/>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2" name="TextBox 11"/>
          <p:cNvSpPr txBox="1"/>
          <p:nvPr/>
        </p:nvSpPr>
        <p:spPr>
          <a:xfrm>
            <a:off x="10381488" y="1152144"/>
            <a:ext cx="3809999" cy="338328"/>
          </a:xfrm>
          <a:prstGeom prst="rect">
            <a:avLst/>
          </a:prstGeom>
          <a:noFill/>
        </p:spPr>
        <p:txBody>
          <a:bodyPr wrap="square" tIns="36576" bIns="36576" anchor="t">
            <a:spAutoFit/>
          </a:bodyPr>
          <a:lstStyle/>
          <a:p>
            <a:pPr>
              <a:lnSpc>
                <a:spcPts val="2160"/>
              </a:lnSpc>
              <a:spcBef>
                <a:spcPts val="0"/>
              </a:spcBef>
              <a:spcAft>
                <a:spcPts val="0"/>
              </a:spcAft>
              <a:defRPr sz="2000" b="1">
                <a:solidFill>
                  <a:srgbClr val="FFFFFF"/>
                </a:solidFill>
                <a:latin typeface="Arial"/>
              </a:defRPr>
            </a:pPr>
            <a:r>
              <a:t>Confidence</a:t>
            </a:r>
          </a:p>
        </p:txBody>
      </p:sp>
      <p:sp>
        <p:nvSpPr>
          <p:cNvPr id="13" name="Rectangle 12"/>
          <p:cNvSpPr/>
          <p:nvPr/>
        </p:nvSpPr>
        <p:spPr>
          <a:xfrm>
            <a:off x="384048" y="1581912"/>
            <a:ext cx="2103120" cy="594360"/>
          </a:xfrm>
          <a:prstGeom prst="rect">
            <a:avLst/>
          </a:prstGeom>
          <a:solidFill>
            <a:srgbClr val="E8EDF1"/>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4" name="TextBox 13"/>
          <p:cNvSpPr txBox="1"/>
          <p:nvPr/>
        </p:nvSpPr>
        <p:spPr>
          <a:xfrm>
            <a:off x="411479" y="1618488"/>
            <a:ext cx="2048255" cy="521208"/>
          </a:xfrm>
          <a:prstGeom prst="rect">
            <a:avLst/>
          </a:prstGeom>
          <a:noFill/>
        </p:spPr>
        <p:txBody>
          <a:bodyPr wrap="square" tIns="36576" bIns="36576" anchor="ctr">
            <a:spAutoFit/>
          </a:bodyPr>
          <a:lstStyle/>
          <a:p>
            <a:pPr>
              <a:lnSpc>
                <a:spcPts val="1728"/>
              </a:lnSpc>
              <a:spcBef>
                <a:spcPts val="0"/>
              </a:spcBef>
              <a:spcAft>
                <a:spcPts val="0"/>
              </a:spcAft>
              <a:defRPr sz="1600" b="1">
                <a:solidFill>
                  <a:srgbClr val="182B3A"/>
                </a:solidFill>
                <a:latin typeface="Arial"/>
              </a:defRPr>
            </a:pPr>
            <a:r>
              <a:t>The Full Question</a:t>
            </a:r>
          </a:p>
        </p:txBody>
      </p:sp>
      <p:sp>
        <p:nvSpPr>
          <p:cNvPr id="15" name="Rectangle 14"/>
          <p:cNvSpPr/>
          <p:nvPr/>
        </p:nvSpPr>
        <p:spPr>
          <a:xfrm>
            <a:off x="2487168" y="1581912"/>
            <a:ext cx="3919727" cy="594360"/>
          </a:xfrm>
          <a:prstGeom prst="rect">
            <a:avLst/>
          </a:prstGeom>
          <a:solidFill>
            <a:srgbClr val="EDF6F5"/>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6" name="TextBox 15"/>
          <p:cNvSpPr txBox="1"/>
          <p:nvPr/>
        </p:nvSpPr>
        <p:spPr>
          <a:xfrm>
            <a:off x="2542032" y="1636776"/>
            <a:ext cx="3809999" cy="484632"/>
          </a:xfrm>
          <a:prstGeom prst="rect">
            <a:avLst/>
          </a:prstGeom>
          <a:noFill/>
        </p:spPr>
        <p:txBody>
          <a:bodyPr wrap="square" tIns="36576" bIns="36576" anchor="ctr">
            <a:spAutoFit/>
          </a:bodyPr>
          <a:lstStyle/>
          <a:p>
            <a:pPr>
              <a:lnSpc>
                <a:spcPts val="2808"/>
              </a:lnSpc>
              <a:spcBef>
                <a:spcPts val="0"/>
              </a:spcBef>
              <a:spcAft>
                <a:spcPts val="0"/>
              </a:spcAft>
              <a:defRPr sz="2600" b="1">
                <a:solidFill>
                  <a:srgbClr val="182B3A"/>
                </a:solidFill>
                <a:latin typeface="Arial"/>
              </a:defRPr>
            </a:pPr>
            <a:r>
              <a:t>63 ÷ 3</a:t>
            </a:r>
          </a:p>
        </p:txBody>
      </p:sp>
      <p:sp>
        <p:nvSpPr>
          <p:cNvPr id="17" name="Rectangle 16"/>
          <p:cNvSpPr/>
          <p:nvPr/>
        </p:nvSpPr>
        <p:spPr>
          <a:xfrm>
            <a:off x="6406895" y="1581912"/>
            <a:ext cx="3919727" cy="594360"/>
          </a:xfrm>
          <a:prstGeom prst="rect">
            <a:avLst/>
          </a:prstGeom>
          <a:solidFill>
            <a:srgbClr val="EFF3FA"/>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8" name="TextBox 17"/>
          <p:cNvSpPr txBox="1"/>
          <p:nvPr/>
        </p:nvSpPr>
        <p:spPr>
          <a:xfrm>
            <a:off x="6461759" y="1636776"/>
            <a:ext cx="3809999" cy="484632"/>
          </a:xfrm>
          <a:prstGeom prst="rect">
            <a:avLst/>
          </a:prstGeom>
          <a:noFill/>
        </p:spPr>
        <p:txBody>
          <a:bodyPr wrap="square" tIns="36576" bIns="36576" anchor="ctr">
            <a:spAutoFit/>
          </a:bodyPr>
          <a:lstStyle/>
          <a:p>
            <a:pPr>
              <a:lnSpc>
                <a:spcPts val="2808"/>
              </a:lnSpc>
              <a:spcBef>
                <a:spcPts val="0"/>
              </a:spcBef>
              <a:spcAft>
                <a:spcPts val="0"/>
              </a:spcAft>
              <a:defRPr sz="2600" b="1">
                <a:solidFill>
                  <a:srgbClr val="182B3A"/>
                </a:solidFill>
                <a:latin typeface="Arial"/>
              </a:defRPr>
            </a:pPr>
            <a:r>
              <a:t>145 ÷ 6</a:t>
            </a:r>
          </a:p>
        </p:txBody>
      </p:sp>
      <p:sp>
        <p:nvSpPr>
          <p:cNvPr id="19" name="Rectangle 18"/>
          <p:cNvSpPr/>
          <p:nvPr/>
        </p:nvSpPr>
        <p:spPr>
          <a:xfrm>
            <a:off x="10326624" y="1581912"/>
            <a:ext cx="3919727" cy="594360"/>
          </a:xfrm>
          <a:prstGeom prst="rect">
            <a:avLst/>
          </a:prstGeom>
          <a:solidFill>
            <a:srgbClr val="F5F0F7"/>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20" name="TextBox 19"/>
          <p:cNvSpPr txBox="1"/>
          <p:nvPr/>
        </p:nvSpPr>
        <p:spPr>
          <a:xfrm>
            <a:off x="10381488" y="1636776"/>
            <a:ext cx="3809999" cy="484632"/>
          </a:xfrm>
          <a:prstGeom prst="rect">
            <a:avLst/>
          </a:prstGeom>
          <a:noFill/>
        </p:spPr>
        <p:txBody>
          <a:bodyPr wrap="square" tIns="36576" bIns="36576" anchor="ctr">
            <a:spAutoFit/>
          </a:bodyPr>
          <a:lstStyle/>
          <a:p>
            <a:pPr>
              <a:lnSpc>
                <a:spcPts val="2808"/>
              </a:lnSpc>
              <a:spcBef>
                <a:spcPts val="0"/>
              </a:spcBef>
              <a:spcAft>
                <a:spcPts val="0"/>
              </a:spcAft>
              <a:defRPr sz="2600" b="1">
                <a:solidFill>
                  <a:srgbClr val="182B3A"/>
                </a:solidFill>
                <a:latin typeface="Arial"/>
              </a:defRPr>
            </a:pPr>
            <a:r>
              <a:t>4,834 ÷ 16</a:t>
            </a:r>
          </a:p>
        </p:txBody>
      </p:sp>
      <p:sp>
        <p:nvSpPr>
          <p:cNvPr id="21" name="Rectangle 20"/>
          <p:cNvSpPr/>
          <p:nvPr/>
        </p:nvSpPr>
        <p:spPr>
          <a:xfrm>
            <a:off x="384048" y="2176272"/>
            <a:ext cx="2103120" cy="1737360"/>
          </a:xfrm>
          <a:prstGeom prst="rect">
            <a:avLst/>
          </a:prstGeom>
          <a:solidFill>
            <a:srgbClr val="E8EDF1"/>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22" name="TextBox 21"/>
          <p:cNvSpPr txBox="1"/>
          <p:nvPr/>
        </p:nvSpPr>
        <p:spPr>
          <a:xfrm>
            <a:off x="448056" y="2267712"/>
            <a:ext cx="1975103" cy="1554480"/>
          </a:xfrm>
          <a:prstGeom prst="rect">
            <a:avLst/>
          </a:prstGeom>
          <a:noFill/>
        </p:spPr>
        <p:txBody>
          <a:bodyPr wrap="square" tIns="36576" bIns="36576" anchor="t">
            <a:spAutoFit/>
          </a:bodyPr>
          <a:lstStyle/>
          <a:p>
            <a:pPr>
              <a:lnSpc>
                <a:spcPts val="1944"/>
              </a:lnSpc>
              <a:spcBef>
                <a:spcPts val="0"/>
              </a:spcBef>
              <a:spcAft>
                <a:spcPts val="0"/>
              </a:spcAft>
              <a:defRPr sz="1800" b="1">
                <a:solidFill>
                  <a:srgbClr val="182B3A"/>
                </a:solidFill>
                <a:latin typeface="Arial"/>
              </a:defRPr>
            </a:pPr>
            <a:r>
              <a:t>1. Draw Frame &amp; Position Digits</a:t>
            </a:r>
          </a:p>
        </p:txBody>
      </p:sp>
      <p:sp>
        <p:nvSpPr>
          <p:cNvPr id="23" name="Rectangle 22"/>
          <p:cNvSpPr/>
          <p:nvPr/>
        </p:nvSpPr>
        <p:spPr>
          <a:xfrm>
            <a:off x="2487168" y="2176272"/>
            <a:ext cx="3919727" cy="173736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24" name="TextBox 23"/>
          <p:cNvSpPr txBox="1"/>
          <p:nvPr/>
        </p:nvSpPr>
        <p:spPr>
          <a:xfrm>
            <a:off x="2551175" y="2240279"/>
            <a:ext cx="3791712" cy="630936"/>
          </a:xfrm>
          <a:prstGeom prst="rect">
            <a:avLst/>
          </a:prstGeom>
          <a:noFill/>
        </p:spPr>
        <p:txBody>
          <a:bodyPr wrap="square" tIns="36576" bIns="36576" anchor="t">
            <a:spAutoFit/>
          </a:bodyPr>
          <a:lstStyle/>
          <a:p>
            <a:pPr>
              <a:lnSpc>
                <a:spcPts val="2160"/>
              </a:lnSpc>
              <a:spcBef>
                <a:spcPts val="0"/>
              </a:spcBef>
              <a:spcAft>
                <a:spcPts val="0"/>
              </a:spcAft>
              <a:defRPr sz="2000" b="0">
                <a:solidFill>
                  <a:srgbClr val="182B3A"/>
                </a:solidFill>
                <a:latin typeface="Arial"/>
              </a:defRPr>
            </a:pPr>
            <a:r>
              <a:t>Inside: 63.</a:t>
            </a:r>
          </a:p>
          <a:p>
            <a:pPr>
              <a:lnSpc>
                <a:spcPts val="2160"/>
              </a:lnSpc>
              <a:spcBef>
                <a:spcPts val="0"/>
              </a:spcBef>
              <a:spcAft>
                <a:spcPts val="0"/>
              </a:spcAft>
              <a:defRPr sz="2000" b="0">
                <a:solidFill>
                  <a:srgbClr val="182B3A"/>
                </a:solidFill>
                <a:latin typeface="Arial"/>
              </a:defRPr>
            </a:pPr>
            <a:r>
              <a:t>Outside on the left: 3.</a:t>
            </a:r>
          </a:p>
        </p:txBody>
      </p:sp>
      <p:grpSp>
        <p:nvGrpSpPr>
          <p:cNvPr id="25" name="Editable bus stop 63 ÷ 3"/>
          <p:cNvGrpSpPr/>
          <p:nvPr/>
        </p:nvGrpSpPr>
        <p:grpSpPr>
          <a:xfrm>
            <a:off x="3633216" y="3008375"/>
            <a:ext cx="1426463" cy="758952"/>
            <a:chOff x="3633216" y="3008375"/>
            <a:chExt cx="1426463" cy="758952"/>
          </a:xfrm>
        </p:grpSpPr>
        <p:cxnSp>
          <p:nvCxnSpPr>
            <p:cNvPr id="26" name="Connector 25"/>
            <p:cNvCxnSpPr/>
            <p:nvPr/>
          </p:nvCxnSpPr>
          <p:spPr>
            <a:xfrm>
              <a:off x="4035552" y="3383279"/>
              <a:ext cx="1024127" cy="0"/>
            </a:xfrm>
            <a:prstGeom prst="line">
              <a:avLst/>
            </a:prstGeom>
            <a:ln w="17780">
              <a:solidFill>
                <a:srgbClr val="182B3A"/>
              </a:solidFill>
            </a:ln>
          </p:spPr>
          <p:style>
            <a:lnRef idx="2">
              <a:schemeClr val="accent1"/>
            </a:lnRef>
            <a:fillRef idx="0">
              <a:schemeClr val="accent1"/>
            </a:fillRef>
            <a:effectRef idx="1">
              <a:schemeClr val="accent1"/>
            </a:effectRef>
            <a:fontRef idx="minor">
              <a:schemeClr val="tx1"/>
            </a:fontRef>
          </p:style>
        </p:cxnSp>
        <p:cxnSp>
          <p:nvCxnSpPr>
            <p:cNvPr id="27" name="Connector 26"/>
            <p:cNvCxnSpPr/>
            <p:nvPr/>
          </p:nvCxnSpPr>
          <p:spPr>
            <a:xfrm>
              <a:off x="4035552" y="3383279"/>
              <a:ext cx="0" cy="384048"/>
            </a:xfrm>
            <a:prstGeom prst="line">
              <a:avLst/>
            </a:prstGeom>
            <a:ln w="17780">
              <a:solidFill>
                <a:srgbClr val="182B3A"/>
              </a:solidFill>
            </a:ln>
          </p:spPr>
          <p:style>
            <a:lnRef idx="2">
              <a:schemeClr val="accent1"/>
            </a:lnRef>
            <a:fillRef idx="0">
              <a:schemeClr val="accent1"/>
            </a:fillRef>
            <a:effectRef idx="1">
              <a:schemeClr val="accent1"/>
            </a:effectRef>
            <a:fontRef idx="minor">
              <a:schemeClr val="tx1"/>
            </a:fontRef>
          </p:style>
        </p:cxnSp>
        <p:sp>
          <p:nvSpPr>
            <p:cNvPr id="28" name="TextBox 27"/>
            <p:cNvSpPr txBox="1"/>
            <p:nvPr/>
          </p:nvSpPr>
          <p:spPr>
            <a:xfrm>
              <a:off x="3633216" y="3401567"/>
              <a:ext cx="347472" cy="347472"/>
            </a:xfrm>
            <a:prstGeom prst="rect">
              <a:avLst/>
            </a:prstGeom>
            <a:noFill/>
          </p:spPr>
          <p:txBody>
            <a:bodyPr wrap="none" lIns="0" tIns="0" rIns="0" bIns="0" anchor="ctr">
              <a:spAutoFit/>
            </a:bodyPr>
            <a:lstStyle/>
            <a:p>
              <a:pPr algn="ctr">
                <a:defRPr sz="2400" b="1">
                  <a:solidFill>
                    <a:srgbClr val="176B73"/>
                  </a:solidFill>
                  <a:latin typeface="Arial"/>
                </a:defRPr>
              </a:pPr>
              <a:r>
                <a:t>3</a:t>
              </a:r>
            </a:p>
          </p:txBody>
        </p:sp>
        <p:sp>
          <p:nvSpPr>
            <p:cNvPr id="29" name="TextBox 28"/>
            <p:cNvSpPr txBox="1"/>
            <p:nvPr/>
          </p:nvSpPr>
          <p:spPr>
            <a:xfrm>
              <a:off x="4108704" y="3401567"/>
              <a:ext cx="448056" cy="347472"/>
            </a:xfrm>
            <a:prstGeom prst="rect">
              <a:avLst/>
            </a:prstGeom>
            <a:noFill/>
          </p:spPr>
          <p:txBody>
            <a:bodyPr wrap="none" lIns="0" tIns="0" rIns="0" bIns="0" anchor="ctr">
              <a:spAutoFit/>
            </a:bodyPr>
            <a:lstStyle/>
            <a:p>
              <a:pPr algn="ctr">
                <a:defRPr sz="2400" b="0">
                  <a:solidFill>
                    <a:srgbClr val="182B3A"/>
                  </a:solidFill>
                  <a:latin typeface="Arial"/>
                </a:defRPr>
              </a:pPr>
              <a:r>
                <a:t>6</a:t>
              </a:r>
            </a:p>
          </p:txBody>
        </p:sp>
        <p:sp>
          <p:nvSpPr>
            <p:cNvPr id="30" name="TextBox 29"/>
            <p:cNvSpPr txBox="1"/>
            <p:nvPr/>
          </p:nvSpPr>
          <p:spPr>
            <a:xfrm>
              <a:off x="4108704" y="3008375"/>
              <a:ext cx="448056" cy="320040"/>
            </a:xfrm>
            <a:prstGeom prst="rect">
              <a:avLst/>
            </a:prstGeom>
            <a:noFill/>
          </p:spPr>
          <p:txBody>
            <a:bodyPr wrap="none" lIns="0" tIns="0" rIns="0" bIns="0" anchor="ctr">
              <a:spAutoFit/>
            </a:bodyPr>
            <a:lstStyle/>
            <a:p>
              <a:pPr algn="ctr">
                <a:defRPr sz="2400" b="1">
                  <a:solidFill>
                    <a:srgbClr val="176B73"/>
                  </a:solidFill>
                  <a:latin typeface="Arial"/>
                </a:defRPr>
              </a:pPr>
              <a:r>
                <a:t>2</a:t>
              </a:r>
            </a:p>
          </p:txBody>
        </p:sp>
        <p:sp>
          <p:nvSpPr>
            <p:cNvPr id="31" name="TextBox 30"/>
            <p:cNvSpPr txBox="1"/>
            <p:nvPr/>
          </p:nvSpPr>
          <p:spPr>
            <a:xfrm>
              <a:off x="4556760" y="3401567"/>
              <a:ext cx="448056" cy="347472"/>
            </a:xfrm>
            <a:prstGeom prst="rect">
              <a:avLst/>
            </a:prstGeom>
            <a:noFill/>
          </p:spPr>
          <p:txBody>
            <a:bodyPr wrap="none" lIns="0" tIns="0" rIns="0" bIns="0" anchor="ctr">
              <a:spAutoFit/>
            </a:bodyPr>
            <a:lstStyle/>
            <a:p>
              <a:pPr algn="ctr">
                <a:defRPr sz="2400" b="0">
                  <a:solidFill>
                    <a:srgbClr val="182B3A"/>
                  </a:solidFill>
                  <a:latin typeface="Arial"/>
                </a:defRPr>
              </a:pPr>
              <a:r>
                <a:t>3</a:t>
              </a:r>
            </a:p>
          </p:txBody>
        </p:sp>
        <p:sp>
          <p:nvSpPr>
            <p:cNvPr id="32" name="TextBox 31"/>
            <p:cNvSpPr txBox="1"/>
            <p:nvPr/>
          </p:nvSpPr>
          <p:spPr>
            <a:xfrm>
              <a:off x="4556760" y="3008375"/>
              <a:ext cx="448056" cy="320040"/>
            </a:xfrm>
            <a:prstGeom prst="rect">
              <a:avLst/>
            </a:prstGeom>
            <a:noFill/>
          </p:spPr>
          <p:txBody>
            <a:bodyPr wrap="none" lIns="0" tIns="0" rIns="0" bIns="0" anchor="ctr">
              <a:spAutoFit/>
            </a:bodyPr>
            <a:lstStyle/>
            <a:p>
              <a:pPr algn="ctr">
                <a:defRPr sz="2400" b="1">
                  <a:solidFill>
                    <a:srgbClr val="176B73"/>
                  </a:solidFill>
                  <a:latin typeface="Arial"/>
                </a:defRPr>
              </a:pPr>
              <a:r>
                <a:t>1</a:t>
              </a:r>
            </a:p>
          </p:txBody>
        </p:sp>
      </p:grpSp>
      <p:sp>
        <p:nvSpPr>
          <p:cNvPr id="33" name="Rectangle 32"/>
          <p:cNvSpPr/>
          <p:nvPr/>
        </p:nvSpPr>
        <p:spPr>
          <a:xfrm>
            <a:off x="6406895" y="2176272"/>
            <a:ext cx="3919727" cy="173736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34" name="TextBox 33"/>
          <p:cNvSpPr txBox="1"/>
          <p:nvPr/>
        </p:nvSpPr>
        <p:spPr>
          <a:xfrm>
            <a:off x="6470904" y="2240279"/>
            <a:ext cx="3791712" cy="630936"/>
          </a:xfrm>
          <a:prstGeom prst="rect">
            <a:avLst/>
          </a:prstGeom>
          <a:noFill/>
        </p:spPr>
        <p:txBody>
          <a:bodyPr wrap="square" tIns="36576" bIns="36576" anchor="t">
            <a:spAutoFit/>
          </a:bodyPr>
          <a:lstStyle/>
          <a:p>
            <a:pPr>
              <a:lnSpc>
                <a:spcPts val="2160"/>
              </a:lnSpc>
              <a:spcBef>
                <a:spcPts val="0"/>
              </a:spcBef>
              <a:spcAft>
                <a:spcPts val="0"/>
              </a:spcAft>
              <a:defRPr sz="2000" b="0">
                <a:solidFill>
                  <a:srgbClr val="182B3A"/>
                </a:solidFill>
                <a:latin typeface="Arial"/>
              </a:defRPr>
            </a:pPr>
            <a:r>
              <a:t>Inside: 145.</a:t>
            </a:r>
          </a:p>
          <a:p>
            <a:pPr>
              <a:lnSpc>
                <a:spcPts val="2160"/>
              </a:lnSpc>
              <a:spcBef>
                <a:spcPts val="0"/>
              </a:spcBef>
              <a:spcAft>
                <a:spcPts val="0"/>
              </a:spcAft>
              <a:defRPr sz="2000" b="0">
                <a:solidFill>
                  <a:srgbClr val="182B3A"/>
                </a:solidFill>
                <a:latin typeface="Arial"/>
              </a:defRPr>
            </a:pPr>
            <a:r>
              <a:t>Outside on the left: 6.</a:t>
            </a:r>
          </a:p>
        </p:txBody>
      </p:sp>
      <p:grpSp>
        <p:nvGrpSpPr>
          <p:cNvPr id="35" name="Editable bus stop 145 ÷ 6"/>
          <p:cNvGrpSpPr/>
          <p:nvPr/>
        </p:nvGrpSpPr>
        <p:grpSpPr>
          <a:xfrm>
            <a:off x="7328915" y="3008375"/>
            <a:ext cx="1874521" cy="905256"/>
            <a:chOff x="7328915" y="3008375"/>
            <a:chExt cx="1874521" cy="905256"/>
          </a:xfrm>
        </p:grpSpPr>
        <p:cxnSp>
          <p:nvCxnSpPr>
            <p:cNvPr id="36" name="Connector 35"/>
            <p:cNvCxnSpPr/>
            <p:nvPr/>
          </p:nvCxnSpPr>
          <p:spPr>
            <a:xfrm>
              <a:off x="7731251" y="3383279"/>
              <a:ext cx="1472185" cy="0"/>
            </a:xfrm>
            <a:prstGeom prst="line">
              <a:avLst/>
            </a:prstGeom>
            <a:ln w="17780">
              <a:solidFill>
                <a:srgbClr val="182B3A"/>
              </a:solidFill>
            </a:ln>
          </p:spPr>
          <p:style>
            <a:lnRef idx="2">
              <a:schemeClr val="accent1"/>
            </a:lnRef>
            <a:fillRef idx="0">
              <a:schemeClr val="accent1"/>
            </a:fillRef>
            <a:effectRef idx="1">
              <a:schemeClr val="accent1"/>
            </a:effectRef>
            <a:fontRef idx="minor">
              <a:schemeClr val="tx1"/>
            </a:fontRef>
          </p:style>
        </p:cxnSp>
        <p:cxnSp>
          <p:nvCxnSpPr>
            <p:cNvPr id="37" name="Connector 36"/>
            <p:cNvCxnSpPr/>
            <p:nvPr/>
          </p:nvCxnSpPr>
          <p:spPr>
            <a:xfrm>
              <a:off x="7731251" y="3383279"/>
              <a:ext cx="0" cy="384048"/>
            </a:xfrm>
            <a:prstGeom prst="line">
              <a:avLst/>
            </a:prstGeom>
            <a:ln w="17780">
              <a:solidFill>
                <a:srgbClr val="182B3A"/>
              </a:solidFill>
            </a:ln>
          </p:spPr>
          <p:style>
            <a:lnRef idx="2">
              <a:schemeClr val="accent1"/>
            </a:lnRef>
            <a:fillRef idx="0">
              <a:schemeClr val="accent1"/>
            </a:fillRef>
            <a:effectRef idx="1">
              <a:schemeClr val="accent1"/>
            </a:effectRef>
            <a:fontRef idx="minor">
              <a:schemeClr val="tx1"/>
            </a:fontRef>
          </p:style>
        </p:cxnSp>
        <p:sp>
          <p:nvSpPr>
            <p:cNvPr id="38" name="TextBox 37"/>
            <p:cNvSpPr txBox="1"/>
            <p:nvPr/>
          </p:nvSpPr>
          <p:spPr>
            <a:xfrm>
              <a:off x="7328915" y="3401567"/>
              <a:ext cx="347472" cy="347472"/>
            </a:xfrm>
            <a:prstGeom prst="rect">
              <a:avLst/>
            </a:prstGeom>
            <a:noFill/>
          </p:spPr>
          <p:txBody>
            <a:bodyPr wrap="none" lIns="0" tIns="0" rIns="0" bIns="0" anchor="ctr">
              <a:spAutoFit/>
            </a:bodyPr>
            <a:lstStyle/>
            <a:p>
              <a:pPr algn="ctr">
                <a:defRPr sz="2400" b="1">
                  <a:solidFill>
                    <a:srgbClr val="3559A2"/>
                  </a:solidFill>
                  <a:latin typeface="Arial"/>
                </a:defRPr>
              </a:pPr>
              <a:r>
                <a:t>6</a:t>
              </a:r>
            </a:p>
          </p:txBody>
        </p:sp>
        <p:sp>
          <p:nvSpPr>
            <p:cNvPr id="39" name="TextBox 38"/>
            <p:cNvSpPr txBox="1"/>
            <p:nvPr/>
          </p:nvSpPr>
          <p:spPr>
            <a:xfrm>
              <a:off x="7804403" y="3401567"/>
              <a:ext cx="448056" cy="347472"/>
            </a:xfrm>
            <a:prstGeom prst="rect">
              <a:avLst/>
            </a:prstGeom>
            <a:noFill/>
          </p:spPr>
          <p:txBody>
            <a:bodyPr wrap="none" lIns="0" tIns="0" rIns="0" bIns="0" anchor="ctr">
              <a:spAutoFit/>
            </a:bodyPr>
            <a:lstStyle/>
            <a:p>
              <a:pPr algn="ctr">
                <a:defRPr sz="2400" b="0">
                  <a:solidFill>
                    <a:srgbClr val="182B3A"/>
                  </a:solidFill>
                  <a:latin typeface="Arial"/>
                </a:defRPr>
              </a:pPr>
              <a:r>
                <a:t>1</a:t>
              </a:r>
            </a:p>
          </p:txBody>
        </p:sp>
        <p:sp>
          <p:nvSpPr>
            <p:cNvPr id="40" name="TextBox 39"/>
            <p:cNvSpPr txBox="1"/>
            <p:nvPr/>
          </p:nvSpPr>
          <p:spPr>
            <a:xfrm>
              <a:off x="7804403" y="3008375"/>
              <a:ext cx="448056" cy="320040"/>
            </a:xfrm>
            <a:prstGeom prst="rect">
              <a:avLst/>
            </a:prstGeom>
            <a:noFill/>
          </p:spPr>
          <p:txBody>
            <a:bodyPr wrap="none" lIns="0" tIns="0" rIns="0" bIns="0" anchor="ctr">
              <a:spAutoFit/>
            </a:bodyPr>
            <a:lstStyle/>
            <a:p>
              <a:pPr algn="ctr">
                <a:defRPr sz="2400" b="1">
                  <a:solidFill>
                    <a:srgbClr val="3559A2"/>
                  </a:solidFill>
                  <a:latin typeface="Arial"/>
                </a:defRPr>
              </a:pPr>
              <a:endParaRPr/>
            </a:p>
          </p:txBody>
        </p:sp>
        <p:sp>
          <p:nvSpPr>
            <p:cNvPr id="41" name="TextBox 40"/>
            <p:cNvSpPr txBox="1"/>
            <p:nvPr/>
          </p:nvSpPr>
          <p:spPr>
            <a:xfrm>
              <a:off x="8252459" y="3401567"/>
              <a:ext cx="448056" cy="347472"/>
            </a:xfrm>
            <a:prstGeom prst="rect">
              <a:avLst/>
            </a:prstGeom>
            <a:noFill/>
          </p:spPr>
          <p:txBody>
            <a:bodyPr wrap="none" lIns="0" tIns="0" rIns="0" bIns="0" anchor="ctr">
              <a:spAutoFit/>
            </a:bodyPr>
            <a:lstStyle/>
            <a:p>
              <a:pPr algn="ctr">
                <a:defRPr sz="2400" b="0">
                  <a:solidFill>
                    <a:srgbClr val="182B3A"/>
                  </a:solidFill>
                  <a:latin typeface="Arial"/>
                </a:defRPr>
              </a:pPr>
              <a:r>
                <a:t>4</a:t>
              </a:r>
            </a:p>
          </p:txBody>
        </p:sp>
        <p:sp>
          <p:nvSpPr>
            <p:cNvPr id="42" name="TextBox 41"/>
            <p:cNvSpPr txBox="1"/>
            <p:nvPr/>
          </p:nvSpPr>
          <p:spPr>
            <a:xfrm>
              <a:off x="8252459" y="3008375"/>
              <a:ext cx="448056" cy="320040"/>
            </a:xfrm>
            <a:prstGeom prst="rect">
              <a:avLst/>
            </a:prstGeom>
            <a:noFill/>
          </p:spPr>
          <p:txBody>
            <a:bodyPr wrap="none" lIns="0" tIns="0" rIns="0" bIns="0" anchor="ctr">
              <a:spAutoFit/>
            </a:bodyPr>
            <a:lstStyle/>
            <a:p>
              <a:pPr algn="ctr">
                <a:defRPr sz="2400" b="1">
                  <a:solidFill>
                    <a:srgbClr val="3559A2"/>
                  </a:solidFill>
                  <a:latin typeface="Arial"/>
                </a:defRPr>
              </a:pPr>
              <a:r>
                <a:t>2</a:t>
              </a:r>
            </a:p>
          </p:txBody>
        </p:sp>
        <p:sp>
          <p:nvSpPr>
            <p:cNvPr id="43" name="TextBox 42"/>
            <p:cNvSpPr txBox="1"/>
            <p:nvPr/>
          </p:nvSpPr>
          <p:spPr>
            <a:xfrm>
              <a:off x="8161934" y="3374135"/>
              <a:ext cx="164592" cy="164592"/>
            </a:xfrm>
            <a:prstGeom prst="rect">
              <a:avLst/>
            </a:prstGeom>
            <a:noFill/>
          </p:spPr>
          <p:txBody>
            <a:bodyPr wrap="none" lIns="0" tIns="0" rIns="0" bIns="0" anchor="ctr">
              <a:spAutoFit/>
            </a:bodyPr>
            <a:lstStyle/>
            <a:p>
              <a:pPr algn="ctr">
                <a:defRPr sz="1100" b="1">
                  <a:solidFill>
                    <a:srgbClr val="B14F00"/>
                  </a:solidFill>
                  <a:latin typeface="Arial"/>
                </a:defRPr>
              </a:pPr>
              <a:r>
                <a:t>1</a:t>
              </a:r>
            </a:p>
          </p:txBody>
        </p:sp>
        <p:sp>
          <p:nvSpPr>
            <p:cNvPr id="44" name="TextBox 43"/>
            <p:cNvSpPr txBox="1"/>
            <p:nvPr/>
          </p:nvSpPr>
          <p:spPr>
            <a:xfrm>
              <a:off x="8700515" y="3401567"/>
              <a:ext cx="448056" cy="347472"/>
            </a:xfrm>
            <a:prstGeom prst="rect">
              <a:avLst/>
            </a:prstGeom>
            <a:noFill/>
          </p:spPr>
          <p:txBody>
            <a:bodyPr wrap="none" lIns="0" tIns="0" rIns="0" bIns="0" anchor="ctr">
              <a:spAutoFit/>
            </a:bodyPr>
            <a:lstStyle/>
            <a:p>
              <a:pPr algn="ctr">
                <a:defRPr sz="2400" b="0">
                  <a:solidFill>
                    <a:srgbClr val="182B3A"/>
                  </a:solidFill>
                  <a:latin typeface="Arial"/>
                </a:defRPr>
              </a:pPr>
              <a:r>
                <a:t>5</a:t>
              </a:r>
            </a:p>
          </p:txBody>
        </p:sp>
        <p:sp>
          <p:nvSpPr>
            <p:cNvPr id="45" name="TextBox 44"/>
            <p:cNvSpPr txBox="1"/>
            <p:nvPr/>
          </p:nvSpPr>
          <p:spPr>
            <a:xfrm>
              <a:off x="8700515" y="3008375"/>
              <a:ext cx="448056" cy="320040"/>
            </a:xfrm>
            <a:prstGeom prst="rect">
              <a:avLst/>
            </a:prstGeom>
            <a:noFill/>
          </p:spPr>
          <p:txBody>
            <a:bodyPr wrap="none" lIns="0" tIns="0" rIns="0" bIns="0" anchor="ctr">
              <a:spAutoFit/>
            </a:bodyPr>
            <a:lstStyle/>
            <a:p>
              <a:pPr algn="ctr">
                <a:defRPr sz="2400" b="1">
                  <a:solidFill>
                    <a:srgbClr val="3559A2"/>
                  </a:solidFill>
                  <a:latin typeface="Arial"/>
                </a:defRPr>
              </a:pPr>
              <a:r>
                <a:t>4</a:t>
              </a:r>
            </a:p>
          </p:txBody>
        </p:sp>
        <p:sp>
          <p:nvSpPr>
            <p:cNvPr id="46" name="TextBox 45"/>
            <p:cNvSpPr txBox="1"/>
            <p:nvPr/>
          </p:nvSpPr>
          <p:spPr>
            <a:xfrm>
              <a:off x="8609990" y="3374135"/>
              <a:ext cx="164592" cy="164592"/>
            </a:xfrm>
            <a:prstGeom prst="rect">
              <a:avLst/>
            </a:prstGeom>
            <a:noFill/>
          </p:spPr>
          <p:txBody>
            <a:bodyPr wrap="none" lIns="0" tIns="0" rIns="0" bIns="0" anchor="ctr">
              <a:spAutoFit/>
            </a:bodyPr>
            <a:lstStyle/>
            <a:p>
              <a:pPr algn="ctr">
                <a:defRPr sz="1100" b="1">
                  <a:solidFill>
                    <a:srgbClr val="B14F00"/>
                  </a:solidFill>
                  <a:latin typeface="Arial"/>
                </a:defRPr>
              </a:pPr>
              <a:r>
                <a:t>2</a:t>
              </a:r>
            </a:p>
          </p:txBody>
        </p:sp>
        <p:sp>
          <p:nvSpPr>
            <p:cNvPr id="47" name="TextBox 46"/>
            <p:cNvSpPr txBox="1"/>
            <p:nvPr/>
          </p:nvSpPr>
          <p:spPr>
            <a:xfrm>
              <a:off x="7804403" y="3749039"/>
              <a:ext cx="1344168" cy="164592"/>
            </a:xfrm>
            <a:prstGeom prst="rect">
              <a:avLst/>
            </a:prstGeom>
            <a:noFill/>
          </p:spPr>
          <p:txBody>
            <a:bodyPr wrap="none" lIns="0" tIns="0" rIns="0" bIns="0" anchor="ctr">
              <a:spAutoFit/>
            </a:bodyPr>
            <a:lstStyle/>
            <a:p>
              <a:pPr algn="ctr">
                <a:defRPr sz="1200" b="0">
                  <a:solidFill>
                    <a:srgbClr val="3559A2"/>
                  </a:solidFill>
                  <a:latin typeface="Arial"/>
                </a:defRPr>
              </a:pPr>
              <a:r>
                <a:t>remainder 1</a:t>
              </a:r>
            </a:p>
          </p:txBody>
        </p:sp>
      </p:grpSp>
      <p:sp>
        <p:nvSpPr>
          <p:cNvPr id="48" name="Rectangle 47"/>
          <p:cNvSpPr/>
          <p:nvPr/>
        </p:nvSpPr>
        <p:spPr>
          <a:xfrm>
            <a:off x="10326624" y="2176272"/>
            <a:ext cx="3919727" cy="173736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49" name="TextBox 48"/>
          <p:cNvSpPr txBox="1"/>
          <p:nvPr/>
        </p:nvSpPr>
        <p:spPr>
          <a:xfrm>
            <a:off x="10390632" y="2240279"/>
            <a:ext cx="3791712" cy="630936"/>
          </a:xfrm>
          <a:prstGeom prst="rect">
            <a:avLst/>
          </a:prstGeom>
          <a:noFill/>
        </p:spPr>
        <p:txBody>
          <a:bodyPr wrap="square" tIns="36576" bIns="36576" anchor="t">
            <a:spAutoFit/>
          </a:bodyPr>
          <a:lstStyle/>
          <a:p>
            <a:pPr>
              <a:lnSpc>
                <a:spcPts val="2160"/>
              </a:lnSpc>
              <a:spcBef>
                <a:spcPts val="0"/>
              </a:spcBef>
              <a:spcAft>
                <a:spcPts val="0"/>
              </a:spcAft>
              <a:defRPr sz="2000" b="0">
                <a:solidFill>
                  <a:srgbClr val="182B3A"/>
                </a:solidFill>
                <a:latin typeface="Arial"/>
              </a:defRPr>
            </a:pPr>
            <a:r>
              <a:t>Inside: 4,834.</a:t>
            </a:r>
          </a:p>
          <a:p>
            <a:pPr>
              <a:lnSpc>
                <a:spcPts val="2160"/>
              </a:lnSpc>
              <a:spcBef>
                <a:spcPts val="0"/>
              </a:spcBef>
              <a:spcAft>
                <a:spcPts val="0"/>
              </a:spcAft>
              <a:defRPr sz="2000" b="0">
                <a:solidFill>
                  <a:srgbClr val="182B3A"/>
                </a:solidFill>
                <a:latin typeface="Arial"/>
              </a:defRPr>
            </a:pPr>
            <a:r>
              <a:t>Outside on the left: 16.</a:t>
            </a:r>
          </a:p>
        </p:txBody>
      </p:sp>
      <p:grpSp>
        <p:nvGrpSpPr>
          <p:cNvPr id="50" name="Editable bus stop 4834 ÷ 16"/>
          <p:cNvGrpSpPr/>
          <p:nvPr/>
        </p:nvGrpSpPr>
        <p:grpSpPr>
          <a:xfrm>
            <a:off x="10326624" y="3008375"/>
            <a:ext cx="3718560" cy="758952"/>
            <a:chOff x="10326624" y="3008375"/>
            <a:chExt cx="3718560" cy="758952"/>
          </a:xfrm>
        </p:grpSpPr>
        <p:cxnSp>
          <p:nvCxnSpPr>
            <p:cNvPr id="51" name="Connector 50"/>
            <p:cNvCxnSpPr/>
            <p:nvPr/>
          </p:nvCxnSpPr>
          <p:spPr>
            <a:xfrm>
              <a:off x="10728960" y="3383279"/>
              <a:ext cx="3316224" cy="0"/>
            </a:xfrm>
            <a:prstGeom prst="line">
              <a:avLst/>
            </a:prstGeom>
            <a:ln w="17780">
              <a:solidFill>
                <a:srgbClr val="182B3A"/>
              </a:solidFill>
            </a:ln>
          </p:spPr>
          <p:style>
            <a:lnRef idx="2">
              <a:schemeClr val="accent1"/>
            </a:lnRef>
            <a:fillRef idx="0">
              <a:schemeClr val="accent1"/>
            </a:fillRef>
            <a:effectRef idx="1">
              <a:schemeClr val="accent1"/>
            </a:effectRef>
            <a:fontRef idx="minor">
              <a:schemeClr val="tx1"/>
            </a:fontRef>
          </p:style>
        </p:cxnSp>
        <p:cxnSp>
          <p:nvCxnSpPr>
            <p:cNvPr id="52" name="Connector 51"/>
            <p:cNvCxnSpPr/>
            <p:nvPr/>
          </p:nvCxnSpPr>
          <p:spPr>
            <a:xfrm>
              <a:off x="10728960" y="3383279"/>
              <a:ext cx="0" cy="384048"/>
            </a:xfrm>
            <a:prstGeom prst="line">
              <a:avLst/>
            </a:prstGeom>
            <a:ln w="17780">
              <a:solidFill>
                <a:srgbClr val="182B3A"/>
              </a:solidFill>
            </a:ln>
          </p:spPr>
          <p:style>
            <a:lnRef idx="2">
              <a:schemeClr val="accent1"/>
            </a:lnRef>
            <a:fillRef idx="0">
              <a:schemeClr val="accent1"/>
            </a:fillRef>
            <a:effectRef idx="1">
              <a:schemeClr val="accent1"/>
            </a:effectRef>
            <a:fontRef idx="minor">
              <a:schemeClr val="tx1"/>
            </a:fontRef>
          </p:style>
        </p:cxnSp>
        <p:sp>
          <p:nvSpPr>
            <p:cNvPr id="53" name="TextBox 52"/>
            <p:cNvSpPr txBox="1"/>
            <p:nvPr/>
          </p:nvSpPr>
          <p:spPr>
            <a:xfrm>
              <a:off x="10326624" y="3401567"/>
              <a:ext cx="347472" cy="347472"/>
            </a:xfrm>
            <a:prstGeom prst="rect">
              <a:avLst/>
            </a:prstGeom>
            <a:noFill/>
          </p:spPr>
          <p:txBody>
            <a:bodyPr wrap="none" lIns="0" tIns="0" rIns="0" bIns="0" anchor="ctr">
              <a:spAutoFit/>
            </a:bodyPr>
            <a:lstStyle/>
            <a:p>
              <a:pPr algn="ctr">
                <a:defRPr sz="2400" b="1">
                  <a:solidFill>
                    <a:srgbClr val="754B87"/>
                  </a:solidFill>
                  <a:latin typeface="Arial"/>
                </a:defRPr>
              </a:pPr>
              <a:r>
                <a:t>16</a:t>
              </a:r>
            </a:p>
          </p:txBody>
        </p:sp>
        <p:sp>
          <p:nvSpPr>
            <p:cNvPr id="54" name="TextBox 53"/>
            <p:cNvSpPr txBox="1"/>
            <p:nvPr/>
          </p:nvSpPr>
          <p:spPr>
            <a:xfrm>
              <a:off x="10802112" y="3401567"/>
              <a:ext cx="398525" cy="347472"/>
            </a:xfrm>
            <a:prstGeom prst="rect">
              <a:avLst/>
            </a:prstGeom>
            <a:noFill/>
          </p:spPr>
          <p:txBody>
            <a:bodyPr wrap="none" lIns="0" tIns="0" rIns="0" bIns="0" anchor="ctr">
              <a:spAutoFit/>
            </a:bodyPr>
            <a:lstStyle/>
            <a:p>
              <a:pPr algn="ctr">
                <a:defRPr sz="2400" b="0">
                  <a:solidFill>
                    <a:srgbClr val="182B3A"/>
                  </a:solidFill>
                  <a:latin typeface="Arial"/>
                </a:defRPr>
              </a:pPr>
              <a:r>
                <a:t>4</a:t>
              </a:r>
            </a:p>
          </p:txBody>
        </p:sp>
        <p:sp>
          <p:nvSpPr>
            <p:cNvPr id="55" name="TextBox 54"/>
            <p:cNvSpPr txBox="1"/>
            <p:nvPr/>
          </p:nvSpPr>
          <p:spPr>
            <a:xfrm>
              <a:off x="10802112" y="3008375"/>
              <a:ext cx="398525" cy="320040"/>
            </a:xfrm>
            <a:prstGeom prst="rect">
              <a:avLst/>
            </a:prstGeom>
            <a:noFill/>
          </p:spPr>
          <p:txBody>
            <a:bodyPr wrap="none" lIns="0" tIns="0" rIns="0" bIns="0" anchor="ctr">
              <a:spAutoFit/>
            </a:bodyPr>
            <a:lstStyle/>
            <a:p>
              <a:pPr algn="ctr">
                <a:defRPr sz="2400" b="1">
                  <a:solidFill>
                    <a:srgbClr val="754B87"/>
                  </a:solidFill>
                  <a:latin typeface="Arial"/>
                </a:defRPr>
              </a:pPr>
              <a:endParaRPr/>
            </a:p>
          </p:txBody>
        </p:sp>
        <p:sp>
          <p:nvSpPr>
            <p:cNvPr id="56" name="TextBox 55"/>
            <p:cNvSpPr txBox="1"/>
            <p:nvPr/>
          </p:nvSpPr>
          <p:spPr>
            <a:xfrm>
              <a:off x="11200638" y="3401567"/>
              <a:ext cx="398525" cy="347472"/>
            </a:xfrm>
            <a:prstGeom prst="rect">
              <a:avLst/>
            </a:prstGeom>
            <a:noFill/>
          </p:spPr>
          <p:txBody>
            <a:bodyPr wrap="none" lIns="0" tIns="0" rIns="0" bIns="0" anchor="ctr">
              <a:spAutoFit/>
            </a:bodyPr>
            <a:lstStyle/>
            <a:p>
              <a:pPr algn="ctr">
                <a:defRPr sz="2400" b="0">
                  <a:solidFill>
                    <a:srgbClr val="182B3A"/>
                  </a:solidFill>
                  <a:latin typeface="Arial"/>
                </a:defRPr>
              </a:pPr>
              <a:r>
                <a:t>8</a:t>
              </a:r>
            </a:p>
          </p:txBody>
        </p:sp>
        <p:sp>
          <p:nvSpPr>
            <p:cNvPr id="57" name="TextBox 56"/>
            <p:cNvSpPr txBox="1"/>
            <p:nvPr/>
          </p:nvSpPr>
          <p:spPr>
            <a:xfrm>
              <a:off x="11200638" y="3008375"/>
              <a:ext cx="398525" cy="320040"/>
            </a:xfrm>
            <a:prstGeom prst="rect">
              <a:avLst/>
            </a:prstGeom>
            <a:noFill/>
          </p:spPr>
          <p:txBody>
            <a:bodyPr wrap="none" lIns="0" tIns="0" rIns="0" bIns="0" anchor="ctr">
              <a:spAutoFit/>
            </a:bodyPr>
            <a:lstStyle/>
            <a:p>
              <a:pPr algn="ctr">
                <a:defRPr sz="2400" b="1">
                  <a:solidFill>
                    <a:srgbClr val="754B87"/>
                  </a:solidFill>
                  <a:latin typeface="Arial"/>
                </a:defRPr>
              </a:pPr>
              <a:r>
                <a:t>3</a:t>
              </a:r>
            </a:p>
          </p:txBody>
        </p:sp>
        <p:sp>
          <p:nvSpPr>
            <p:cNvPr id="58" name="TextBox 57"/>
            <p:cNvSpPr txBox="1"/>
            <p:nvPr/>
          </p:nvSpPr>
          <p:spPr>
            <a:xfrm>
              <a:off x="11110112" y="3374135"/>
              <a:ext cx="164592" cy="164592"/>
            </a:xfrm>
            <a:prstGeom prst="rect">
              <a:avLst/>
            </a:prstGeom>
            <a:noFill/>
          </p:spPr>
          <p:txBody>
            <a:bodyPr wrap="none" lIns="0" tIns="0" rIns="0" bIns="0" anchor="ctr">
              <a:spAutoFit/>
            </a:bodyPr>
            <a:lstStyle/>
            <a:p>
              <a:pPr algn="ctr">
                <a:defRPr sz="1100" b="1">
                  <a:solidFill>
                    <a:srgbClr val="B14F00"/>
                  </a:solidFill>
                  <a:latin typeface="Arial"/>
                </a:defRPr>
              </a:pPr>
              <a:r>
                <a:t>4</a:t>
              </a:r>
            </a:p>
          </p:txBody>
        </p:sp>
        <p:sp>
          <p:nvSpPr>
            <p:cNvPr id="59" name="TextBox 58"/>
            <p:cNvSpPr txBox="1"/>
            <p:nvPr/>
          </p:nvSpPr>
          <p:spPr>
            <a:xfrm>
              <a:off x="11599163" y="3401567"/>
              <a:ext cx="398525" cy="347472"/>
            </a:xfrm>
            <a:prstGeom prst="rect">
              <a:avLst/>
            </a:prstGeom>
            <a:noFill/>
          </p:spPr>
          <p:txBody>
            <a:bodyPr wrap="none" lIns="0" tIns="0" rIns="0" bIns="0" anchor="ctr">
              <a:spAutoFit/>
            </a:bodyPr>
            <a:lstStyle/>
            <a:p>
              <a:pPr algn="ctr">
                <a:defRPr sz="2400" b="0">
                  <a:solidFill>
                    <a:srgbClr val="182B3A"/>
                  </a:solidFill>
                  <a:latin typeface="Arial"/>
                </a:defRPr>
              </a:pPr>
              <a:r>
                <a:t>3</a:t>
              </a:r>
            </a:p>
          </p:txBody>
        </p:sp>
        <p:sp>
          <p:nvSpPr>
            <p:cNvPr id="60" name="TextBox 59"/>
            <p:cNvSpPr txBox="1"/>
            <p:nvPr/>
          </p:nvSpPr>
          <p:spPr>
            <a:xfrm>
              <a:off x="11599163" y="3008375"/>
              <a:ext cx="398525" cy="320040"/>
            </a:xfrm>
            <a:prstGeom prst="rect">
              <a:avLst/>
            </a:prstGeom>
            <a:noFill/>
          </p:spPr>
          <p:txBody>
            <a:bodyPr wrap="none" lIns="0" tIns="0" rIns="0" bIns="0" anchor="ctr">
              <a:spAutoFit/>
            </a:bodyPr>
            <a:lstStyle/>
            <a:p>
              <a:pPr algn="ctr">
                <a:defRPr sz="2400" b="1">
                  <a:solidFill>
                    <a:srgbClr val="754B87"/>
                  </a:solidFill>
                  <a:latin typeface="Arial"/>
                </a:defRPr>
              </a:pPr>
              <a:r>
                <a:t>0</a:t>
              </a:r>
            </a:p>
          </p:txBody>
        </p:sp>
        <p:sp>
          <p:nvSpPr>
            <p:cNvPr id="61" name="TextBox 60"/>
            <p:cNvSpPr txBox="1"/>
            <p:nvPr/>
          </p:nvSpPr>
          <p:spPr>
            <a:xfrm>
              <a:off x="11997689" y="3401567"/>
              <a:ext cx="398525" cy="347472"/>
            </a:xfrm>
            <a:prstGeom prst="rect">
              <a:avLst/>
            </a:prstGeom>
            <a:noFill/>
          </p:spPr>
          <p:txBody>
            <a:bodyPr wrap="none" lIns="0" tIns="0" rIns="0" bIns="0" anchor="ctr">
              <a:spAutoFit/>
            </a:bodyPr>
            <a:lstStyle/>
            <a:p>
              <a:pPr algn="ctr">
                <a:defRPr sz="2400" b="0">
                  <a:solidFill>
                    <a:srgbClr val="182B3A"/>
                  </a:solidFill>
                  <a:latin typeface="Arial"/>
                </a:defRPr>
              </a:pPr>
              <a:r>
                <a:t>4</a:t>
              </a:r>
            </a:p>
          </p:txBody>
        </p:sp>
        <p:sp>
          <p:nvSpPr>
            <p:cNvPr id="62" name="TextBox 61"/>
            <p:cNvSpPr txBox="1"/>
            <p:nvPr/>
          </p:nvSpPr>
          <p:spPr>
            <a:xfrm>
              <a:off x="11997689" y="3008375"/>
              <a:ext cx="398525" cy="320040"/>
            </a:xfrm>
            <a:prstGeom prst="rect">
              <a:avLst/>
            </a:prstGeom>
            <a:noFill/>
          </p:spPr>
          <p:txBody>
            <a:bodyPr wrap="none" lIns="0" tIns="0" rIns="0" bIns="0" anchor="ctr">
              <a:spAutoFit/>
            </a:bodyPr>
            <a:lstStyle/>
            <a:p>
              <a:pPr algn="ctr">
                <a:defRPr sz="2400" b="1">
                  <a:solidFill>
                    <a:srgbClr val="754B87"/>
                  </a:solidFill>
                  <a:latin typeface="Arial"/>
                </a:defRPr>
              </a:pPr>
              <a:r>
                <a:t>2</a:t>
              </a:r>
            </a:p>
          </p:txBody>
        </p:sp>
        <p:sp>
          <p:nvSpPr>
            <p:cNvPr id="63" name="TextBox 62"/>
            <p:cNvSpPr txBox="1"/>
            <p:nvPr/>
          </p:nvSpPr>
          <p:spPr>
            <a:xfrm>
              <a:off x="11907164" y="3374135"/>
              <a:ext cx="164592" cy="164592"/>
            </a:xfrm>
            <a:prstGeom prst="rect">
              <a:avLst/>
            </a:prstGeom>
            <a:noFill/>
          </p:spPr>
          <p:txBody>
            <a:bodyPr wrap="none" lIns="0" tIns="0" rIns="0" bIns="0" anchor="ctr">
              <a:spAutoFit/>
            </a:bodyPr>
            <a:lstStyle/>
            <a:p>
              <a:pPr algn="ctr">
                <a:defRPr sz="1100" b="1">
                  <a:solidFill>
                    <a:srgbClr val="B14F00"/>
                  </a:solidFill>
                  <a:latin typeface="Arial"/>
                </a:defRPr>
              </a:pPr>
              <a:r>
                <a:t>3</a:t>
              </a:r>
            </a:p>
          </p:txBody>
        </p:sp>
        <p:sp>
          <p:nvSpPr>
            <p:cNvPr id="64" name="TextBox 63"/>
            <p:cNvSpPr txBox="1"/>
            <p:nvPr/>
          </p:nvSpPr>
          <p:spPr>
            <a:xfrm>
              <a:off x="12396215" y="3401567"/>
              <a:ext cx="398525" cy="347472"/>
            </a:xfrm>
            <a:prstGeom prst="rect">
              <a:avLst/>
            </a:prstGeom>
            <a:noFill/>
          </p:spPr>
          <p:txBody>
            <a:bodyPr wrap="none" lIns="0" tIns="0" rIns="0" bIns="0" anchor="ctr">
              <a:spAutoFit/>
            </a:bodyPr>
            <a:lstStyle/>
            <a:p>
              <a:pPr algn="ctr">
                <a:defRPr sz="2400" b="0">
                  <a:solidFill>
                    <a:srgbClr val="182B3A"/>
                  </a:solidFill>
                  <a:latin typeface="Arial"/>
                </a:defRPr>
              </a:pPr>
              <a:r>
                <a:t>.</a:t>
              </a:r>
            </a:p>
          </p:txBody>
        </p:sp>
        <p:sp>
          <p:nvSpPr>
            <p:cNvPr id="65" name="TextBox 64"/>
            <p:cNvSpPr txBox="1"/>
            <p:nvPr/>
          </p:nvSpPr>
          <p:spPr>
            <a:xfrm>
              <a:off x="12396215" y="3008375"/>
              <a:ext cx="398525" cy="320040"/>
            </a:xfrm>
            <a:prstGeom prst="rect">
              <a:avLst/>
            </a:prstGeom>
            <a:noFill/>
          </p:spPr>
          <p:txBody>
            <a:bodyPr wrap="none" lIns="0" tIns="0" rIns="0" bIns="0" anchor="ctr">
              <a:spAutoFit/>
            </a:bodyPr>
            <a:lstStyle/>
            <a:p>
              <a:pPr algn="ctr">
                <a:defRPr sz="2400" b="1">
                  <a:solidFill>
                    <a:srgbClr val="754B87"/>
                  </a:solidFill>
                  <a:latin typeface="Arial"/>
                </a:defRPr>
              </a:pPr>
              <a:r>
                <a:t>.</a:t>
              </a:r>
            </a:p>
          </p:txBody>
        </p:sp>
        <p:sp>
          <p:nvSpPr>
            <p:cNvPr id="66" name="TextBox 65"/>
            <p:cNvSpPr txBox="1"/>
            <p:nvPr/>
          </p:nvSpPr>
          <p:spPr>
            <a:xfrm>
              <a:off x="12794742" y="3401567"/>
              <a:ext cx="398525" cy="347472"/>
            </a:xfrm>
            <a:prstGeom prst="rect">
              <a:avLst/>
            </a:prstGeom>
            <a:noFill/>
          </p:spPr>
          <p:txBody>
            <a:bodyPr wrap="none" lIns="0" tIns="0" rIns="0" bIns="0" anchor="ctr">
              <a:spAutoFit/>
            </a:bodyPr>
            <a:lstStyle/>
            <a:p>
              <a:pPr algn="ctr">
                <a:defRPr sz="2400" b="0">
                  <a:solidFill>
                    <a:srgbClr val="182B3A"/>
                  </a:solidFill>
                  <a:latin typeface="Arial"/>
                </a:defRPr>
              </a:pPr>
              <a:r>
                <a:t>0</a:t>
              </a:r>
            </a:p>
          </p:txBody>
        </p:sp>
        <p:sp>
          <p:nvSpPr>
            <p:cNvPr id="67" name="TextBox 66"/>
            <p:cNvSpPr txBox="1"/>
            <p:nvPr/>
          </p:nvSpPr>
          <p:spPr>
            <a:xfrm>
              <a:off x="12794742" y="3008375"/>
              <a:ext cx="398525" cy="320040"/>
            </a:xfrm>
            <a:prstGeom prst="rect">
              <a:avLst/>
            </a:prstGeom>
            <a:noFill/>
          </p:spPr>
          <p:txBody>
            <a:bodyPr wrap="none" lIns="0" tIns="0" rIns="0" bIns="0" anchor="ctr">
              <a:spAutoFit/>
            </a:bodyPr>
            <a:lstStyle/>
            <a:p>
              <a:pPr algn="ctr">
                <a:defRPr sz="2400" b="1">
                  <a:solidFill>
                    <a:srgbClr val="754B87"/>
                  </a:solidFill>
                  <a:latin typeface="Arial"/>
                </a:defRPr>
              </a:pPr>
              <a:r>
                <a:t>1</a:t>
              </a:r>
            </a:p>
          </p:txBody>
        </p:sp>
        <p:sp>
          <p:nvSpPr>
            <p:cNvPr id="68" name="TextBox 67"/>
            <p:cNvSpPr txBox="1"/>
            <p:nvPr/>
          </p:nvSpPr>
          <p:spPr>
            <a:xfrm>
              <a:off x="12704216" y="3374135"/>
              <a:ext cx="164592" cy="164592"/>
            </a:xfrm>
            <a:prstGeom prst="rect">
              <a:avLst/>
            </a:prstGeom>
            <a:noFill/>
          </p:spPr>
          <p:txBody>
            <a:bodyPr wrap="none" lIns="0" tIns="0" rIns="0" bIns="0" anchor="ctr">
              <a:spAutoFit/>
            </a:bodyPr>
            <a:lstStyle/>
            <a:p>
              <a:pPr algn="ctr">
                <a:defRPr sz="1100" b="1">
                  <a:solidFill>
                    <a:srgbClr val="B14F00"/>
                  </a:solidFill>
                  <a:latin typeface="Arial"/>
                </a:defRPr>
              </a:pPr>
              <a:r>
                <a:t>2</a:t>
              </a:r>
            </a:p>
          </p:txBody>
        </p:sp>
        <p:sp>
          <p:nvSpPr>
            <p:cNvPr id="69" name="TextBox 68"/>
            <p:cNvSpPr txBox="1"/>
            <p:nvPr/>
          </p:nvSpPr>
          <p:spPr>
            <a:xfrm>
              <a:off x="13193267" y="3401567"/>
              <a:ext cx="398525" cy="347472"/>
            </a:xfrm>
            <a:prstGeom prst="rect">
              <a:avLst/>
            </a:prstGeom>
            <a:noFill/>
          </p:spPr>
          <p:txBody>
            <a:bodyPr wrap="none" lIns="0" tIns="0" rIns="0" bIns="0" anchor="ctr">
              <a:spAutoFit/>
            </a:bodyPr>
            <a:lstStyle/>
            <a:p>
              <a:pPr algn="ctr">
                <a:defRPr sz="2400" b="0">
                  <a:solidFill>
                    <a:srgbClr val="182B3A"/>
                  </a:solidFill>
                  <a:latin typeface="Arial"/>
                </a:defRPr>
              </a:pPr>
              <a:r>
                <a:t>0</a:t>
              </a:r>
            </a:p>
          </p:txBody>
        </p:sp>
        <p:sp>
          <p:nvSpPr>
            <p:cNvPr id="70" name="TextBox 69"/>
            <p:cNvSpPr txBox="1"/>
            <p:nvPr/>
          </p:nvSpPr>
          <p:spPr>
            <a:xfrm>
              <a:off x="13193267" y="3008375"/>
              <a:ext cx="398525" cy="320040"/>
            </a:xfrm>
            <a:prstGeom prst="rect">
              <a:avLst/>
            </a:prstGeom>
            <a:noFill/>
          </p:spPr>
          <p:txBody>
            <a:bodyPr wrap="none" lIns="0" tIns="0" rIns="0" bIns="0" anchor="ctr">
              <a:spAutoFit/>
            </a:bodyPr>
            <a:lstStyle/>
            <a:p>
              <a:pPr algn="ctr">
                <a:defRPr sz="2400" b="1">
                  <a:solidFill>
                    <a:srgbClr val="754B87"/>
                  </a:solidFill>
                  <a:latin typeface="Arial"/>
                </a:defRPr>
              </a:pPr>
              <a:r>
                <a:t>2</a:t>
              </a:r>
            </a:p>
          </p:txBody>
        </p:sp>
        <p:sp>
          <p:nvSpPr>
            <p:cNvPr id="71" name="TextBox 70"/>
            <p:cNvSpPr txBox="1"/>
            <p:nvPr/>
          </p:nvSpPr>
          <p:spPr>
            <a:xfrm>
              <a:off x="13102742" y="3374135"/>
              <a:ext cx="164592" cy="164592"/>
            </a:xfrm>
            <a:prstGeom prst="rect">
              <a:avLst/>
            </a:prstGeom>
            <a:noFill/>
          </p:spPr>
          <p:txBody>
            <a:bodyPr wrap="none" lIns="0" tIns="0" rIns="0" bIns="0" anchor="ctr">
              <a:spAutoFit/>
            </a:bodyPr>
            <a:lstStyle/>
            <a:p>
              <a:pPr algn="ctr">
                <a:defRPr sz="1100" b="1">
                  <a:solidFill>
                    <a:srgbClr val="B14F00"/>
                  </a:solidFill>
                  <a:latin typeface="Arial"/>
                </a:defRPr>
              </a:pPr>
              <a:r>
                <a:t>4</a:t>
              </a:r>
            </a:p>
          </p:txBody>
        </p:sp>
        <p:sp>
          <p:nvSpPr>
            <p:cNvPr id="72" name="TextBox 71"/>
            <p:cNvSpPr txBox="1"/>
            <p:nvPr/>
          </p:nvSpPr>
          <p:spPr>
            <a:xfrm>
              <a:off x="13591794" y="3401567"/>
              <a:ext cx="398525" cy="347472"/>
            </a:xfrm>
            <a:prstGeom prst="rect">
              <a:avLst/>
            </a:prstGeom>
            <a:noFill/>
          </p:spPr>
          <p:txBody>
            <a:bodyPr wrap="none" lIns="0" tIns="0" rIns="0" bIns="0" anchor="ctr">
              <a:spAutoFit/>
            </a:bodyPr>
            <a:lstStyle/>
            <a:p>
              <a:pPr algn="ctr">
                <a:defRPr sz="2400" b="0">
                  <a:solidFill>
                    <a:srgbClr val="182B3A"/>
                  </a:solidFill>
                  <a:latin typeface="Arial"/>
                </a:defRPr>
              </a:pPr>
              <a:r>
                <a:t>0</a:t>
              </a:r>
            </a:p>
          </p:txBody>
        </p:sp>
        <p:sp>
          <p:nvSpPr>
            <p:cNvPr id="73" name="TextBox 72"/>
            <p:cNvSpPr txBox="1"/>
            <p:nvPr/>
          </p:nvSpPr>
          <p:spPr>
            <a:xfrm>
              <a:off x="13591794" y="3008375"/>
              <a:ext cx="398525" cy="320040"/>
            </a:xfrm>
            <a:prstGeom prst="rect">
              <a:avLst/>
            </a:prstGeom>
            <a:noFill/>
          </p:spPr>
          <p:txBody>
            <a:bodyPr wrap="none" lIns="0" tIns="0" rIns="0" bIns="0" anchor="ctr">
              <a:spAutoFit/>
            </a:bodyPr>
            <a:lstStyle/>
            <a:p>
              <a:pPr algn="ctr">
                <a:defRPr sz="2400" b="1">
                  <a:solidFill>
                    <a:srgbClr val="754B87"/>
                  </a:solidFill>
                  <a:latin typeface="Arial"/>
                </a:defRPr>
              </a:pPr>
              <a:r>
                <a:t>5</a:t>
              </a:r>
            </a:p>
          </p:txBody>
        </p:sp>
        <p:sp>
          <p:nvSpPr>
            <p:cNvPr id="74" name="TextBox 73"/>
            <p:cNvSpPr txBox="1"/>
            <p:nvPr/>
          </p:nvSpPr>
          <p:spPr>
            <a:xfrm>
              <a:off x="13501268" y="3374135"/>
              <a:ext cx="164592" cy="164592"/>
            </a:xfrm>
            <a:prstGeom prst="rect">
              <a:avLst/>
            </a:prstGeom>
            <a:noFill/>
          </p:spPr>
          <p:txBody>
            <a:bodyPr wrap="none" lIns="0" tIns="0" rIns="0" bIns="0" anchor="ctr">
              <a:spAutoFit/>
            </a:bodyPr>
            <a:lstStyle/>
            <a:p>
              <a:pPr algn="ctr">
                <a:defRPr sz="1100" b="1">
                  <a:solidFill>
                    <a:srgbClr val="B14F00"/>
                  </a:solidFill>
                  <a:latin typeface="Arial"/>
                </a:defRPr>
              </a:pPr>
              <a:r>
                <a:t>8</a:t>
              </a:r>
            </a:p>
          </p:txBody>
        </p:sp>
      </p:grpSp>
      <p:sp>
        <p:nvSpPr>
          <p:cNvPr id="75" name="Rectangle 74"/>
          <p:cNvSpPr/>
          <p:nvPr/>
        </p:nvSpPr>
        <p:spPr>
          <a:xfrm>
            <a:off x="384048" y="3913631"/>
            <a:ext cx="2103120" cy="1417320"/>
          </a:xfrm>
          <a:prstGeom prst="rect">
            <a:avLst/>
          </a:prstGeom>
          <a:solidFill>
            <a:srgbClr val="E8EDF1"/>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76" name="TextBox 75"/>
          <p:cNvSpPr txBox="1"/>
          <p:nvPr/>
        </p:nvSpPr>
        <p:spPr>
          <a:xfrm>
            <a:off x="448056" y="4005071"/>
            <a:ext cx="1975103" cy="1234440"/>
          </a:xfrm>
          <a:prstGeom prst="rect">
            <a:avLst/>
          </a:prstGeom>
          <a:noFill/>
        </p:spPr>
        <p:txBody>
          <a:bodyPr wrap="square" tIns="36576" bIns="36576" anchor="t">
            <a:spAutoFit/>
          </a:bodyPr>
          <a:lstStyle/>
          <a:p>
            <a:pPr>
              <a:lnSpc>
                <a:spcPts val="1944"/>
              </a:lnSpc>
              <a:spcBef>
                <a:spcPts val="0"/>
              </a:spcBef>
              <a:spcAft>
                <a:spcPts val="0"/>
              </a:spcAft>
              <a:defRPr sz="1800" b="1">
                <a:solidFill>
                  <a:srgbClr val="182B3A"/>
                </a:solidFill>
                <a:latin typeface="Arial"/>
              </a:defRPr>
            </a:pPr>
            <a:r>
              <a:t>2. Divide Left-to-Right &amp; Carry</a:t>
            </a:r>
          </a:p>
        </p:txBody>
      </p:sp>
      <p:sp>
        <p:nvSpPr>
          <p:cNvPr id="77" name="Rectangle 76"/>
          <p:cNvSpPr/>
          <p:nvPr/>
        </p:nvSpPr>
        <p:spPr>
          <a:xfrm>
            <a:off x="2487168" y="3913631"/>
            <a:ext cx="3919727" cy="141732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78" name="TextBox 77"/>
          <p:cNvSpPr txBox="1"/>
          <p:nvPr/>
        </p:nvSpPr>
        <p:spPr>
          <a:xfrm>
            <a:off x="2551175" y="3977639"/>
            <a:ext cx="3791712" cy="1252728"/>
          </a:xfrm>
          <a:prstGeom prst="rect">
            <a:avLst/>
          </a:prstGeom>
          <a:noFill/>
        </p:spPr>
        <p:txBody>
          <a:bodyPr wrap="square" tIns="36576" bIns="36576" anchor="t">
            <a:spAutoFit/>
          </a:bodyPr>
          <a:lstStyle/>
          <a:p>
            <a:pPr>
              <a:lnSpc>
                <a:spcPts val="1944"/>
              </a:lnSpc>
              <a:spcBef>
                <a:spcPts val="0"/>
              </a:spcBef>
              <a:spcAft>
                <a:spcPts val="0"/>
              </a:spcAft>
              <a:defRPr sz="1800" b="0">
                <a:solidFill>
                  <a:srgbClr val="182B3A"/>
                </a:solidFill>
                <a:latin typeface="Arial"/>
              </a:defRPr>
            </a:pPr>
            <a:r>
              <a:t>6 ÷ 3 = 2. Write 2 above 6.</a:t>
            </a:r>
          </a:p>
          <a:p>
            <a:pPr>
              <a:lnSpc>
                <a:spcPts val="1944"/>
              </a:lnSpc>
              <a:spcBef>
                <a:spcPts val="0"/>
              </a:spcBef>
              <a:spcAft>
                <a:spcPts val="0"/>
              </a:spcAft>
              <a:defRPr sz="1800" b="0">
                <a:solidFill>
                  <a:srgbClr val="182B3A"/>
                </a:solidFill>
                <a:latin typeface="Arial"/>
              </a:defRPr>
            </a:pPr>
            <a:r>
              <a:t>3 ÷ 3 = 1. Write 1 above 3.</a:t>
            </a:r>
          </a:p>
        </p:txBody>
      </p:sp>
      <p:sp>
        <p:nvSpPr>
          <p:cNvPr id="79" name="Rectangle 78"/>
          <p:cNvSpPr/>
          <p:nvPr/>
        </p:nvSpPr>
        <p:spPr>
          <a:xfrm>
            <a:off x="6406895" y="3913631"/>
            <a:ext cx="3919727" cy="141732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80" name="TextBox 79"/>
          <p:cNvSpPr txBox="1"/>
          <p:nvPr/>
        </p:nvSpPr>
        <p:spPr>
          <a:xfrm>
            <a:off x="6470904" y="3977639"/>
            <a:ext cx="3791712" cy="1252728"/>
          </a:xfrm>
          <a:prstGeom prst="rect">
            <a:avLst/>
          </a:prstGeom>
          <a:noFill/>
        </p:spPr>
        <p:txBody>
          <a:bodyPr wrap="square" tIns="36576" bIns="36576" anchor="t">
            <a:spAutoFit/>
          </a:bodyPr>
          <a:lstStyle/>
          <a:p>
            <a:pPr>
              <a:lnSpc>
                <a:spcPts val="1944"/>
              </a:lnSpc>
              <a:spcBef>
                <a:spcPts val="0"/>
              </a:spcBef>
              <a:spcAft>
                <a:spcPts val="0"/>
              </a:spcAft>
              <a:defRPr sz="1800" b="0">
                <a:solidFill>
                  <a:srgbClr val="182B3A"/>
                </a:solidFill>
                <a:latin typeface="Arial"/>
              </a:defRPr>
            </a:pPr>
            <a:r>
              <a:t>1 ÷ 6 = 0 r 1 → carry 1 to make 14.</a:t>
            </a:r>
          </a:p>
          <a:p>
            <a:pPr>
              <a:lnSpc>
                <a:spcPts val="1944"/>
              </a:lnSpc>
              <a:spcBef>
                <a:spcPts val="0"/>
              </a:spcBef>
              <a:spcAft>
                <a:spcPts val="0"/>
              </a:spcAft>
              <a:defRPr sz="1800" b="0">
                <a:solidFill>
                  <a:srgbClr val="182B3A"/>
                </a:solidFill>
                <a:latin typeface="Arial"/>
              </a:defRPr>
            </a:pPr>
            <a:r>
              <a:t>14 ÷ 6 = 2 r 2 → carry 2 to make 25.</a:t>
            </a:r>
          </a:p>
          <a:p>
            <a:pPr>
              <a:lnSpc>
                <a:spcPts val="1944"/>
              </a:lnSpc>
              <a:spcBef>
                <a:spcPts val="0"/>
              </a:spcBef>
              <a:spcAft>
                <a:spcPts val="0"/>
              </a:spcAft>
              <a:defRPr sz="1800" b="0">
                <a:solidFill>
                  <a:srgbClr val="182B3A"/>
                </a:solidFill>
                <a:latin typeface="Arial"/>
              </a:defRPr>
            </a:pPr>
            <a:r>
              <a:t>25 ÷ 6 = 4 r 1.</a:t>
            </a:r>
          </a:p>
        </p:txBody>
      </p:sp>
      <p:sp>
        <p:nvSpPr>
          <p:cNvPr id="81" name="Rectangle 80"/>
          <p:cNvSpPr/>
          <p:nvPr/>
        </p:nvSpPr>
        <p:spPr>
          <a:xfrm>
            <a:off x="10326624" y="3913631"/>
            <a:ext cx="3919727" cy="141732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82" name="TextBox 81"/>
          <p:cNvSpPr txBox="1"/>
          <p:nvPr/>
        </p:nvSpPr>
        <p:spPr>
          <a:xfrm>
            <a:off x="10390632" y="3977639"/>
            <a:ext cx="3791712" cy="1252728"/>
          </a:xfrm>
          <a:prstGeom prst="rect">
            <a:avLst/>
          </a:prstGeom>
          <a:noFill/>
        </p:spPr>
        <p:txBody>
          <a:bodyPr wrap="square" tIns="36576" bIns="36576" anchor="t">
            <a:spAutoFit/>
          </a:bodyPr>
          <a:lstStyle/>
          <a:p>
            <a:pPr>
              <a:lnSpc>
                <a:spcPts val="1944"/>
              </a:lnSpc>
              <a:spcBef>
                <a:spcPts val="0"/>
              </a:spcBef>
              <a:spcAft>
                <a:spcPts val="0"/>
              </a:spcAft>
              <a:defRPr sz="1800" b="0">
                <a:solidFill>
                  <a:srgbClr val="182B3A"/>
                </a:solidFill>
                <a:latin typeface="Arial"/>
              </a:defRPr>
            </a:pPr>
            <a:r>
              <a:t>4 ÷ 16 = 0 r 4 → make 48.</a:t>
            </a:r>
          </a:p>
          <a:p>
            <a:pPr>
              <a:lnSpc>
                <a:spcPts val="1944"/>
              </a:lnSpc>
              <a:spcBef>
                <a:spcPts val="0"/>
              </a:spcBef>
              <a:spcAft>
                <a:spcPts val="0"/>
              </a:spcAft>
              <a:defRPr sz="1800" b="0">
                <a:solidFill>
                  <a:srgbClr val="182B3A"/>
                </a:solidFill>
                <a:latin typeface="Arial"/>
              </a:defRPr>
            </a:pPr>
            <a:r>
              <a:t>48 ÷ 16 = 3; next digit is 3.</a:t>
            </a:r>
          </a:p>
          <a:p>
            <a:pPr>
              <a:lnSpc>
                <a:spcPts val="1944"/>
              </a:lnSpc>
              <a:spcBef>
                <a:spcPts val="0"/>
              </a:spcBef>
              <a:spcAft>
                <a:spcPts val="0"/>
              </a:spcAft>
              <a:defRPr sz="1800" b="0">
                <a:solidFill>
                  <a:srgbClr val="182B3A"/>
                </a:solidFill>
                <a:latin typeface="Arial"/>
              </a:defRPr>
            </a:pPr>
            <a:r>
              <a:t>3 ÷ 16 = 0 r 3 → make 34.</a:t>
            </a:r>
          </a:p>
          <a:p>
            <a:pPr>
              <a:lnSpc>
                <a:spcPts val="1944"/>
              </a:lnSpc>
              <a:spcBef>
                <a:spcPts val="0"/>
              </a:spcBef>
              <a:spcAft>
                <a:spcPts val="0"/>
              </a:spcAft>
              <a:defRPr sz="1800" b="0">
                <a:solidFill>
                  <a:srgbClr val="182B3A"/>
                </a:solidFill>
                <a:latin typeface="Arial"/>
              </a:defRPr>
            </a:pPr>
            <a:r>
              <a:t>34 ÷ 16 = 2 r 2.</a:t>
            </a:r>
          </a:p>
        </p:txBody>
      </p:sp>
      <p:sp>
        <p:nvSpPr>
          <p:cNvPr id="83" name="Rectangle 82"/>
          <p:cNvSpPr/>
          <p:nvPr/>
        </p:nvSpPr>
        <p:spPr>
          <a:xfrm>
            <a:off x="384048" y="5330951"/>
            <a:ext cx="2103120" cy="1554480"/>
          </a:xfrm>
          <a:prstGeom prst="rect">
            <a:avLst/>
          </a:prstGeom>
          <a:solidFill>
            <a:srgbClr val="E8EDF1"/>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84" name="TextBox 83"/>
          <p:cNvSpPr txBox="1"/>
          <p:nvPr/>
        </p:nvSpPr>
        <p:spPr>
          <a:xfrm>
            <a:off x="448056" y="5422391"/>
            <a:ext cx="1975103" cy="1371600"/>
          </a:xfrm>
          <a:prstGeom prst="rect">
            <a:avLst/>
          </a:prstGeom>
          <a:noFill/>
        </p:spPr>
        <p:txBody>
          <a:bodyPr wrap="square" tIns="36576" bIns="36576" anchor="t">
            <a:spAutoFit/>
          </a:bodyPr>
          <a:lstStyle/>
          <a:p>
            <a:pPr>
              <a:lnSpc>
                <a:spcPts val="1944"/>
              </a:lnSpc>
              <a:spcBef>
                <a:spcPts val="0"/>
              </a:spcBef>
              <a:spcAft>
                <a:spcPts val="0"/>
              </a:spcAft>
              <a:defRPr sz="1800" b="1">
                <a:solidFill>
                  <a:srgbClr val="182B3A"/>
                </a:solidFill>
                <a:latin typeface="Arial"/>
              </a:defRPr>
            </a:pPr>
            <a:r>
              <a:t>3. Track Remainders or Decimals</a:t>
            </a:r>
          </a:p>
        </p:txBody>
      </p:sp>
      <p:sp>
        <p:nvSpPr>
          <p:cNvPr id="85" name="Rectangle 84"/>
          <p:cNvSpPr/>
          <p:nvPr/>
        </p:nvSpPr>
        <p:spPr>
          <a:xfrm>
            <a:off x="2487168" y="5330951"/>
            <a:ext cx="3919727" cy="155448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86" name="TextBox 85"/>
          <p:cNvSpPr txBox="1"/>
          <p:nvPr/>
        </p:nvSpPr>
        <p:spPr>
          <a:xfrm>
            <a:off x="2551175" y="5394959"/>
            <a:ext cx="3791712" cy="1389888"/>
          </a:xfrm>
          <a:prstGeom prst="rect">
            <a:avLst/>
          </a:prstGeom>
          <a:noFill/>
        </p:spPr>
        <p:txBody>
          <a:bodyPr wrap="square" tIns="36576" bIns="36576" anchor="t">
            <a:spAutoFit/>
          </a:bodyPr>
          <a:lstStyle/>
          <a:p>
            <a:pPr>
              <a:lnSpc>
                <a:spcPts val="2052"/>
              </a:lnSpc>
              <a:spcBef>
                <a:spcPts val="0"/>
              </a:spcBef>
              <a:spcAft>
                <a:spcPts val="0"/>
              </a:spcAft>
              <a:defRPr sz="1900" b="0">
                <a:solidFill>
                  <a:srgbClr val="182B3A"/>
                </a:solidFill>
                <a:latin typeface="Arial"/>
              </a:defRPr>
            </a:pPr>
            <a:r>
              <a:t>There is no final remainder.</a:t>
            </a:r>
          </a:p>
          <a:p>
            <a:pPr>
              <a:lnSpc>
                <a:spcPts val="2052"/>
              </a:lnSpc>
              <a:spcBef>
                <a:spcPts val="0"/>
              </a:spcBef>
              <a:spcAft>
                <a:spcPts val="0"/>
              </a:spcAft>
              <a:defRPr sz="1900" b="0">
                <a:solidFill>
                  <a:srgbClr val="182B3A"/>
                </a:solidFill>
                <a:latin typeface="Arial"/>
              </a:defRPr>
            </a:pPr>
            <a:r>
              <a:t>The answer is a whole number.</a:t>
            </a:r>
          </a:p>
        </p:txBody>
      </p:sp>
      <p:sp>
        <p:nvSpPr>
          <p:cNvPr id="87" name="Rectangle 86"/>
          <p:cNvSpPr/>
          <p:nvPr/>
        </p:nvSpPr>
        <p:spPr>
          <a:xfrm>
            <a:off x="6406895" y="5330951"/>
            <a:ext cx="3919727" cy="155448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88" name="TextBox 87"/>
          <p:cNvSpPr txBox="1"/>
          <p:nvPr/>
        </p:nvSpPr>
        <p:spPr>
          <a:xfrm>
            <a:off x="6470904" y="5394959"/>
            <a:ext cx="3791712" cy="1389888"/>
          </a:xfrm>
          <a:prstGeom prst="rect">
            <a:avLst/>
          </a:prstGeom>
          <a:noFill/>
        </p:spPr>
        <p:txBody>
          <a:bodyPr wrap="square" tIns="36576" bIns="36576" anchor="t">
            <a:spAutoFit/>
          </a:bodyPr>
          <a:lstStyle/>
          <a:p>
            <a:pPr>
              <a:lnSpc>
                <a:spcPts val="2052"/>
              </a:lnSpc>
              <a:spcBef>
                <a:spcPts val="0"/>
              </a:spcBef>
              <a:spcAft>
                <a:spcPts val="0"/>
              </a:spcAft>
              <a:defRPr sz="1900" b="0">
                <a:solidFill>
                  <a:srgbClr val="182B3A"/>
                </a:solidFill>
                <a:latin typeface="Arial"/>
              </a:defRPr>
            </a:pPr>
            <a:r>
              <a:t>The final remainder is 1.</a:t>
            </a:r>
          </a:p>
          <a:p>
            <a:pPr>
              <a:lnSpc>
                <a:spcPts val="2052"/>
              </a:lnSpc>
              <a:spcBef>
                <a:spcPts val="0"/>
              </a:spcBef>
              <a:spcAft>
                <a:spcPts val="0"/>
              </a:spcAft>
              <a:defRPr sz="1900" b="0">
                <a:solidFill>
                  <a:srgbClr val="182B3A"/>
                </a:solidFill>
                <a:latin typeface="Arial"/>
              </a:defRPr>
            </a:pPr>
            <a:r>
              <a:t>Write r 1 after the quotient.</a:t>
            </a:r>
          </a:p>
        </p:txBody>
      </p:sp>
      <p:sp>
        <p:nvSpPr>
          <p:cNvPr id="89" name="Rectangle 88"/>
          <p:cNvSpPr/>
          <p:nvPr/>
        </p:nvSpPr>
        <p:spPr>
          <a:xfrm>
            <a:off x="10326624" y="5330951"/>
            <a:ext cx="3919727" cy="155448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90" name="TextBox 89"/>
          <p:cNvSpPr txBox="1"/>
          <p:nvPr/>
        </p:nvSpPr>
        <p:spPr>
          <a:xfrm>
            <a:off x="10390632" y="5394959"/>
            <a:ext cx="3791712" cy="1389888"/>
          </a:xfrm>
          <a:prstGeom prst="rect">
            <a:avLst/>
          </a:prstGeom>
          <a:noFill/>
        </p:spPr>
        <p:txBody>
          <a:bodyPr wrap="square" tIns="36576" bIns="36576" anchor="t">
            <a:spAutoFit/>
          </a:bodyPr>
          <a:lstStyle/>
          <a:p>
            <a:pPr>
              <a:lnSpc>
                <a:spcPts val="2052"/>
              </a:lnSpc>
              <a:spcBef>
                <a:spcPts val="0"/>
              </a:spcBef>
              <a:spcAft>
                <a:spcPts val="0"/>
              </a:spcAft>
              <a:defRPr sz="1900" b="0">
                <a:solidFill>
                  <a:srgbClr val="182B3A"/>
                </a:solidFill>
                <a:latin typeface="Arial"/>
              </a:defRPr>
            </a:pPr>
            <a:r>
              <a:t>Add a decimal point and zeros.</a:t>
            </a:r>
          </a:p>
          <a:p>
            <a:pPr>
              <a:lnSpc>
                <a:spcPts val="2052"/>
              </a:lnSpc>
              <a:spcBef>
                <a:spcPts val="0"/>
              </a:spcBef>
              <a:spcAft>
                <a:spcPts val="0"/>
              </a:spcAft>
              <a:defRPr sz="1900" b="0">
                <a:solidFill>
                  <a:srgbClr val="182B3A"/>
                </a:solidFill>
                <a:latin typeface="Arial"/>
              </a:defRPr>
            </a:pPr>
            <a:r>
              <a:t>20 ÷ 16 = 1 r 4 → make 40.</a:t>
            </a:r>
          </a:p>
          <a:p>
            <a:pPr>
              <a:lnSpc>
                <a:spcPts val="2052"/>
              </a:lnSpc>
              <a:spcBef>
                <a:spcPts val="0"/>
              </a:spcBef>
              <a:spcAft>
                <a:spcPts val="0"/>
              </a:spcAft>
              <a:defRPr sz="1900" b="0">
                <a:solidFill>
                  <a:srgbClr val="182B3A"/>
                </a:solidFill>
                <a:latin typeface="Arial"/>
              </a:defRPr>
            </a:pPr>
            <a:r>
              <a:t>40 ÷ 16 = 2 r 8 → make 80.</a:t>
            </a:r>
          </a:p>
          <a:p>
            <a:pPr>
              <a:lnSpc>
                <a:spcPts val="2052"/>
              </a:lnSpc>
              <a:spcBef>
                <a:spcPts val="0"/>
              </a:spcBef>
              <a:spcAft>
                <a:spcPts val="0"/>
              </a:spcAft>
              <a:defRPr sz="1900" b="0">
                <a:solidFill>
                  <a:srgbClr val="182B3A"/>
                </a:solidFill>
                <a:latin typeface="Arial"/>
              </a:defRPr>
            </a:pPr>
            <a:r>
              <a:t>80 ÷ 16 = 5. No remainder.</a:t>
            </a:r>
          </a:p>
        </p:txBody>
      </p:sp>
      <p:sp>
        <p:nvSpPr>
          <p:cNvPr id="91" name="Rectangle 90"/>
          <p:cNvSpPr/>
          <p:nvPr/>
        </p:nvSpPr>
        <p:spPr>
          <a:xfrm>
            <a:off x="384048" y="6885431"/>
            <a:ext cx="2103120" cy="777240"/>
          </a:xfrm>
          <a:prstGeom prst="rect">
            <a:avLst/>
          </a:prstGeom>
          <a:solidFill>
            <a:srgbClr val="E8EDF1"/>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92" name="TextBox 91"/>
          <p:cNvSpPr txBox="1"/>
          <p:nvPr/>
        </p:nvSpPr>
        <p:spPr>
          <a:xfrm>
            <a:off x="448056" y="6976871"/>
            <a:ext cx="1975103" cy="594359"/>
          </a:xfrm>
          <a:prstGeom prst="rect">
            <a:avLst/>
          </a:prstGeom>
          <a:noFill/>
        </p:spPr>
        <p:txBody>
          <a:bodyPr wrap="square" tIns="36576" bIns="36576" anchor="t">
            <a:spAutoFit/>
          </a:bodyPr>
          <a:lstStyle/>
          <a:p>
            <a:pPr>
              <a:lnSpc>
                <a:spcPts val="1944"/>
              </a:lnSpc>
              <a:spcBef>
                <a:spcPts val="0"/>
              </a:spcBef>
              <a:spcAft>
                <a:spcPts val="0"/>
              </a:spcAft>
              <a:defRPr sz="1800" b="1">
                <a:solidFill>
                  <a:srgbClr val="182B3A"/>
                </a:solidFill>
                <a:latin typeface="Arial"/>
              </a:defRPr>
            </a:pPr>
            <a:r>
              <a:t>4. Write Final Quotient</a:t>
            </a:r>
          </a:p>
        </p:txBody>
      </p:sp>
      <p:sp>
        <p:nvSpPr>
          <p:cNvPr id="93" name="Rectangle 92"/>
          <p:cNvSpPr/>
          <p:nvPr/>
        </p:nvSpPr>
        <p:spPr>
          <a:xfrm>
            <a:off x="2487168" y="6885431"/>
            <a:ext cx="3919727" cy="77724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94" name="TextBox 93"/>
          <p:cNvSpPr txBox="1"/>
          <p:nvPr/>
        </p:nvSpPr>
        <p:spPr>
          <a:xfrm>
            <a:off x="2551175" y="6949440"/>
            <a:ext cx="3791712" cy="612647"/>
          </a:xfrm>
          <a:prstGeom prst="rect">
            <a:avLst/>
          </a:prstGeom>
          <a:noFill/>
        </p:spPr>
        <p:txBody>
          <a:bodyPr wrap="square" tIns="36576" bIns="36576" anchor="t">
            <a:spAutoFit/>
          </a:bodyPr>
          <a:lstStyle/>
          <a:p>
            <a:pPr>
              <a:lnSpc>
                <a:spcPts val="2484"/>
              </a:lnSpc>
              <a:spcBef>
                <a:spcPts val="0"/>
              </a:spcBef>
              <a:spcAft>
                <a:spcPts val="0"/>
              </a:spcAft>
              <a:defRPr sz="2300" b="0">
                <a:solidFill>
                  <a:srgbClr val="182B3A"/>
                </a:solidFill>
                <a:latin typeface="Arial"/>
              </a:defRPr>
            </a:pPr>
            <a:r>
              <a:t>63 ÷ 3 = 21</a:t>
            </a:r>
          </a:p>
        </p:txBody>
      </p:sp>
      <p:sp>
        <p:nvSpPr>
          <p:cNvPr id="95" name="Rectangle 94"/>
          <p:cNvSpPr/>
          <p:nvPr/>
        </p:nvSpPr>
        <p:spPr>
          <a:xfrm>
            <a:off x="6406895" y="6885431"/>
            <a:ext cx="3919727" cy="77724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96" name="TextBox 95"/>
          <p:cNvSpPr txBox="1"/>
          <p:nvPr/>
        </p:nvSpPr>
        <p:spPr>
          <a:xfrm>
            <a:off x="6470904" y="6949440"/>
            <a:ext cx="3791712" cy="612647"/>
          </a:xfrm>
          <a:prstGeom prst="rect">
            <a:avLst/>
          </a:prstGeom>
          <a:noFill/>
        </p:spPr>
        <p:txBody>
          <a:bodyPr wrap="square" tIns="36576" bIns="36576" anchor="t">
            <a:spAutoFit/>
          </a:bodyPr>
          <a:lstStyle/>
          <a:p>
            <a:pPr>
              <a:lnSpc>
                <a:spcPts val="2484"/>
              </a:lnSpc>
              <a:spcBef>
                <a:spcPts val="0"/>
              </a:spcBef>
              <a:spcAft>
                <a:spcPts val="0"/>
              </a:spcAft>
              <a:defRPr sz="2300" b="0">
                <a:solidFill>
                  <a:srgbClr val="182B3A"/>
                </a:solidFill>
                <a:latin typeface="Arial"/>
              </a:defRPr>
            </a:pPr>
            <a:r>
              <a:t>145 ÷ 6 = 24 r 1</a:t>
            </a:r>
          </a:p>
        </p:txBody>
      </p:sp>
      <p:sp>
        <p:nvSpPr>
          <p:cNvPr id="97" name="Rectangle 96"/>
          <p:cNvSpPr/>
          <p:nvPr/>
        </p:nvSpPr>
        <p:spPr>
          <a:xfrm>
            <a:off x="10326624" y="6885431"/>
            <a:ext cx="3919727" cy="77724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98" name="TextBox 97"/>
          <p:cNvSpPr txBox="1"/>
          <p:nvPr/>
        </p:nvSpPr>
        <p:spPr>
          <a:xfrm>
            <a:off x="10390632" y="6949440"/>
            <a:ext cx="3791712" cy="612647"/>
          </a:xfrm>
          <a:prstGeom prst="rect">
            <a:avLst/>
          </a:prstGeom>
          <a:noFill/>
        </p:spPr>
        <p:txBody>
          <a:bodyPr wrap="square" tIns="36576" bIns="36576" anchor="t">
            <a:spAutoFit/>
          </a:bodyPr>
          <a:lstStyle/>
          <a:p>
            <a:pPr>
              <a:lnSpc>
                <a:spcPts val="2484"/>
              </a:lnSpc>
              <a:spcBef>
                <a:spcPts val="0"/>
              </a:spcBef>
              <a:spcAft>
                <a:spcPts val="0"/>
              </a:spcAft>
              <a:defRPr sz="2300" b="0">
                <a:solidFill>
                  <a:srgbClr val="182B3A"/>
                </a:solidFill>
                <a:latin typeface="Arial"/>
              </a:defRPr>
            </a:pPr>
            <a:r>
              <a:t>4,834 ÷ 16 = 302.125</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7F8FA"/>
        </a:solidFill>
        <a:effectLst/>
      </p:bgPr>
    </p:bg>
    <p:spTree>
      <p:nvGrpSpPr>
        <p:cNvPr id="1" name=""/>
        <p:cNvGrpSpPr/>
        <p:nvPr/>
      </p:nvGrpSpPr>
      <p:grpSpPr/>
      <p:sp>
        <p:nvSpPr>
          <p:cNvPr id="2" name="Rectangle 1"/>
          <p:cNvSpPr/>
          <p:nvPr/>
        </p:nvSpPr>
        <p:spPr>
          <a:xfrm>
            <a:off x="0" y="0"/>
            <a:ext cx="14630400" cy="91440"/>
          </a:xfrm>
          <a:prstGeom prst="rect">
            <a:avLst/>
          </a:prstGeom>
          <a:solidFill>
            <a:srgbClr val="3559A2"/>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3" name="TextBox 2"/>
          <p:cNvSpPr txBox="1"/>
          <p:nvPr/>
        </p:nvSpPr>
        <p:spPr>
          <a:xfrm>
            <a:off x="384048" y="219456"/>
            <a:ext cx="12435840" cy="448056"/>
          </a:xfrm>
          <a:prstGeom prst="rect">
            <a:avLst/>
          </a:prstGeom>
          <a:noFill/>
        </p:spPr>
        <p:txBody>
          <a:bodyPr wrap="square" tIns="36576" bIns="36576" anchor="t">
            <a:spAutoFit/>
          </a:bodyPr>
          <a:lstStyle/>
          <a:p>
            <a:pPr>
              <a:lnSpc>
                <a:spcPts val="3132"/>
              </a:lnSpc>
              <a:spcBef>
                <a:spcPts val="0"/>
              </a:spcBef>
              <a:spcAft>
                <a:spcPts val="0"/>
              </a:spcAft>
              <a:defRPr sz="2900" b="1">
                <a:solidFill>
                  <a:srgbClr val="182B3A"/>
                </a:solidFill>
                <a:latin typeface="Arial"/>
              </a:defRPr>
            </a:pPr>
            <a:r>
              <a:t>Bus Stop Division</a:t>
            </a:r>
          </a:p>
        </p:txBody>
      </p:sp>
      <p:sp>
        <p:nvSpPr>
          <p:cNvPr id="4" name="TextBox 3"/>
          <p:cNvSpPr txBox="1"/>
          <p:nvPr/>
        </p:nvSpPr>
        <p:spPr>
          <a:xfrm>
            <a:off x="384048" y="713232"/>
            <a:ext cx="13533120" cy="274320"/>
          </a:xfrm>
          <a:prstGeom prst="rect">
            <a:avLst/>
          </a:prstGeom>
          <a:noFill/>
        </p:spPr>
        <p:txBody>
          <a:bodyPr wrap="square" tIns="36576" bIns="36576" anchor="t">
            <a:spAutoFit/>
          </a:bodyPr>
          <a:lstStyle/>
          <a:p>
            <a:pPr>
              <a:lnSpc>
                <a:spcPts val="1512"/>
              </a:lnSpc>
              <a:spcBef>
                <a:spcPts val="0"/>
              </a:spcBef>
              <a:spcAft>
                <a:spcPts val="0"/>
              </a:spcAft>
              <a:defRPr sz="1400" b="0">
                <a:solidFill>
                  <a:srgbClr val="526472"/>
                </a:solidFill>
                <a:latin typeface="Arial"/>
              </a:defRPr>
            </a:pPr>
            <a:r>
              <a:t>Step-by-step practice 1  •  Build: give remainders. Confidence: give decimal answers.</a:t>
            </a:r>
          </a:p>
        </p:txBody>
      </p:sp>
      <p:sp>
        <p:nvSpPr>
          <p:cNvPr id="5" name="TextBox 4"/>
          <p:cNvSpPr txBox="1"/>
          <p:nvPr/>
        </p:nvSpPr>
        <p:spPr>
          <a:xfrm>
            <a:off x="384048" y="7882127"/>
            <a:ext cx="10058400" cy="210312"/>
          </a:xfrm>
          <a:prstGeom prst="rect">
            <a:avLst/>
          </a:prstGeom>
          <a:noFill/>
        </p:spPr>
        <p:txBody>
          <a:bodyPr wrap="square" tIns="36576" bIns="36576" anchor="t">
            <a:spAutoFit/>
          </a:bodyPr>
          <a:lstStyle/>
          <a:p>
            <a:pPr>
              <a:lnSpc>
                <a:spcPts val="1188"/>
              </a:lnSpc>
              <a:spcBef>
                <a:spcPts val="0"/>
              </a:spcBef>
              <a:spcAft>
                <a:spcPts val="0"/>
              </a:spcAft>
              <a:defRPr sz="1100" b="0">
                <a:solidFill>
                  <a:srgbClr val="526472"/>
                </a:solidFill>
                <a:latin typeface="Arial"/>
              </a:defRPr>
            </a:pPr>
            <a:r>
              <a:t>GCSE Maths revision  •  Record your working in your booklet or webapp.</a:t>
            </a:r>
          </a:p>
        </p:txBody>
      </p:sp>
      <p:sp>
        <p:nvSpPr>
          <p:cNvPr id="6" name="TextBox 5"/>
          <p:cNvSpPr txBox="1"/>
          <p:nvPr/>
        </p:nvSpPr>
        <p:spPr>
          <a:xfrm>
            <a:off x="11430000" y="7863840"/>
            <a:ext cx="2788920" cy="228600"/>
          </a:xfrm>
          <a:prstGeom prst="rect">
            <a:avLst/>
          </a:prstGeom>
          <a:noFill/>
        </p:spPr>
        <p:txBody>
          <a:bodyPr wrap="square" tIns="36576" bIns="36576" anchor="t">
            <a:spAutoFit/>
          </a:bodyPr>
          <a:lstStyle/>
          <a:p>
            <a:pPr>
              <a:lnSpc>
                <a:spcPts val="1188"/>
              </a:lnSpc>
              <a:spcBef>
                <a:spcPts val="0"/>
              </a:spcBef>
              <a:spcAft>
                <a:spcPts val="0"/>
              </a:spcAft>
              <a:defRPr sz="1100" b="0">
                <a:solidFill>
                  <a:srgbClr val="526472"/>
                </a:solidFill>
                <a:latin typeface="Arial"/>
              </a:defRPr>
            </a:pPr>
            <a:r>
              <a:t>M02-S02  •  Topic slide 3</a:t>
            </a:r>
          </a:p>
        </p:txBody>
      </p:sp>
      <p:sp>
        <p:nvSpPr>
          <p:cNvPr id="7" name="Rectangle 6"/>
          <p:cNvSpPr/>
          <p:nvPr/>
        </p:nvSpPr>
        <p:spPr>
          <a:xfrm>
            <a:off x="2487168" y="1124712"/>
            <a:ext cx="3919727" cy="438912"/>
          </a:xfrm>
          <a:prstGeom prst="rect">
            <a:avLst/>
          </a:prstGeom>
          <a:solidFill>
            <a:srgbClr val="176B73"/>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8" name="TextBox 7"/>
          <p:cNvSpPr txBox="1"/>
          <p:nvPr/>
        </p:nvSpPr>
        <p:spPr>
          <a:xfrm>
            <a:off x="2542032" y="1152144"/>
            <a:ext cx="3809999" cy="338328"/>
          </a:xfrm>
          <a:prstGeom prst="rect">
            <a:avLst/>
          </a:prstGeom>
          <a:noFill/>
        </p:spPr>
        <p:txBody>
          <a:bodyPr wrap="square" tIns="36576" bIns="36576" anchor="t">
            <a:spAutoFit/>
          </a:bodyPr>
          <a:lstStyle/>
          <a:p>
            <a:pPr>
              <a:lnSpc>
                <a:spcPts val="2160"/>
              </a:lnSpc>
              <a:spcBef>
                <a:spcPts val="0"/>
              </a:spcBef>
              <a:spcAft>
                <a:spcPts val="0"/>
              </a:spcAft>
              <a:defRPr sz="2000" b="1">
                <a:solidFill>
                  <a:srgbClr val="FFFFFF"/>
                </a:solidFill>
                <a:latin typeface="Arial"/>
              </a:defRPr>
            </a:pPr>
            <a:r>
              <a:t>Start</a:t>
            </a:r>
          </a:p>
        </p:txBody>
      </p:sp>
      <p:sp>
        <p:nvSpPr>
          <p:cNvPr id="9" name="Rectangle 8"/>
          <p:cNvSpPr/>
          <p:nvPr/>
        </p:nvSpPr>
        <p:spPr>
          <a:xfrm>
            <a:off x="6406895" y="1124712"/>
            <a:ext cx="3919727" cy="438912"/>
          </a:xfrm>
          <a:prstGeom prst="rect">
            <a:avLst/>
          </a:prstGeom>
          <a:solidFill>
            <a:srgbClr val="3559A2"/>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0" name="TextBox 9"/>
          <p:cNvSpPr txBox="1"/>
          <p:nvPr/>
        </p:nvSpPr>
        <p:spPr>
          <a:xfrm>
            <a:off x="6461759" y="1152144"/>
            <a:ext cx="3809999" cy="338328"/>
          </a:xfrm>
          <a:prstGeom prst="rect">
            <a:avLst/>
          </a:prstGeom>
          <a:noFill/>
        </p:spPr>
        <p:txBody>
          <a:bodyPr wrap="square" tIns="36576" bIns="36576" anchor="t">
            <a:spAutoFit/>
          </a:bodyPr>
          <a:lstStyle/>
          <a:p>
            <a:pPr>
              <a:lnSpc>
                <a:spcPts val="2160"/>
              </a:lnSpc>
              <a:spcBef>
                <a:spcPts val="0"/>
              </a:spcBef>
              <a:spcAft>
                <a:spcPts val="0"/>
              </a:spcAft>
              <a:defRPr sz="2000" b="1">
                <a:solidFill>
                  <a:srgbClr val="FFFFFF"/>
                </a:solidFill>
                <a:latin typeface="Arial"/>
              </a:defRPr>
            </a:pPr>
            <a:r>
              <a:t>Build</a:t>
            </a:r>
          </a:p>
        </p:txBody>
      </p:sp>
      <p:sp>
        <p:nvSpPr>
          <p:cNvPr id="11" name="Rectangle 10"/>
          <p:cNvSpPr/>
          <p:nvPr/>
        </p:nvSpPr>
        <p:spPr>
          <a:xfrm>
            <a:off x="10326624" y="1124712"/>
            <a:ext cx="3919727" cy="438912"/>
          </a:xfrm>
          <a:prstGeom prst="rect">
            <a:avLst/>
          </a:prstGeom>
          <a:solidFill>
            <a:srgbClr val="754B87"/>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2" name="TextBox 11"/>
          <p:cNvSpPr txBox="1"/>
          <p:nvPr/>
        </p:nvSpPr>
        <p:spPr>
          <a:xfrm>
            <a:off x="10381488" y="1152144"/>
            <a:ext cx="3809999" cy="338328"/>
          </a:xfrm>
          <a:prstGeom prst="rect">
            <a:avLst/>
          </a:prstGeom>
          <a:noFill/>
        </p:spPr>
        <p:txBody>
          <a:bodyPr wrap="square" tIns="36576" bIns="36576" anchor="t">
            <a:spAutoFit/>
          </a:bodyPr>
          <a:lstStyle/>
          <a:p>
            <a:pPr>
              <a:lnSpc>
                <a:spcPts val="2160"/>
              </a:lnSpc>
              <a:spcBef>
                <a:spcPts val="0"/>
              </a:spcBef>
              <a:spcAft>
                <a:spcPts val="0"/>
              </a:spcAft>
              <a:defRPr sz="2000" b="1">
                <a:solidFill>
                  <a:srgbClr val="FFFFFF"/>
                </a:solidFill>
                <a:latin typeface="Arial"/>
              </a:defRPr>
            </a:pPr>
            <a:r>
              <a:t>Confidence</a:t>
            </a:r>
          </a:p>
        </p:txBody>
      </p:sp>
      <p:sp>
        <p:nvSpPr>
          <p:cNvPr id="13" name="Rectangle 12"/>
          <p:cNvSpPr/>
          <p:nvPr/>
        </p:nvSpPr>
        <p:spPr>
          <a:xfrm>
            <a:off x="384048" y="1581912"/>
            <a:ext cx="2103120" cy="594360"/>
          </a:xfrm>
          <a:prstGeom prst="rect">
            <a:avLst/>
          </a:prstGeom>
          <a:solidFill>
            <a:srgbClr val="E8EDF1"/>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4" name="TextBox 13"/>
          <p:cNvSpPr txBox="1"/>
          <p:nvPr/>
        </p:nvSpPr>
        <p:spPr>
          <a:xfrm>
            <a:off x="411479" y="1618488"/>
            <a:ext cx="2048255" cy="521208"/>
          </a:xfrm>
          <a:prstGeom prst="rect">
            <a:avLst/>
          </a:prstGeom>
          <a:noFill/>
        </p:spPr>
        <p:txBody>
          <a:bodyPr wrap="square" tIns="36576" bIns="36576" anchor="ctr">
            <a:spAutoFit/>
          </a:bodyPr>
          <a:lstStyle/>
          <a:p>
            <a:pPr>
              <a:lnSpc>
                <a:spcPts val="1728"/>
              </a:lnSpc>
              <a:spcBef>
                <a:spcPts val="0"/>
              </a:spcBef>
              <a:spcAft>
                <a:spcPts val="0"/>
              </a:spcAft>
              <a:defRPr sz="1600" b="1">
                <a:solidFill>
                  <a:srgbClr val="182B3A"/>
                </a:solidFill>
                <a:latin typeface="Arial"/>
              </a:defRPr>
            </a:pPr>
            <a:r>
              <a:t>The Full Question</a:t>
            </a:r>
          </a:p>
        </p:txBody>
      </p:sp>
      <p:sp>
        <p:nvSpPr>
          <p:cNvPr id="15" name="Rectangle 14"/>
          <p:cNvSpPr/>
          <p:nvPr/>
        </p:nvSpPr>
        <p:spPr>
          <a:xfrm>
            <a:off x="2487168" y="1581912"/>
            <a:ext cx="3919727" cy="594360"/>
          </a:xfrm>
          <a:prstGeom prst="rect">
            <a:avLst/>
          </a:prstGeom>
          <a:solidFill>
            <a:srgbClr val="EDF6F5"/>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6" name="TextBox 15"/>
          <p:cNvSpPr txBox="1"/>
          <p:nvPr/>
        </p:nvSpPr>
        <p:spPr>
          <a:xfrm>
            <a:off x="2542032" y="1636776"/>
            <a:ext cx="3809999" cy="484632"/>
          </a:xfrm>
          <a:prstGeom prst="rect">
            <a:avLst/>
          </a:prstGeom>
          <a:noFill/>
        </p:spPr>
        <p:txBody>
          <a:bodyPr wrap="square" tIns="36576" bIns="36576" anchor="ctr">
            <a:spAutoFit/>
          </a:bodyPr>
          <a:lstStyle/>
          <a:p>
            <a:pPr>
              <a:lnSpc>
                <a:spcPts val="2808"/>
              </a:lnSpc>
              <a:spcBef>
                <a:spcPts val="0"/>
              </a:spcBef>
              <a:spcAft>
                <a:spcPts val="0"/>
              </a:spcAft>
              <a:defRPr sz="2600" b="1">
                <a:solidFill>
                  <a:srgbClr val="182B3A"/>
                </a:solidFill>
                <a:latin typeface="Arial"/>
              </a:defRPr>
            </a:pPr>
            <a:r>
              <a:t>88 ÷ 4</a:t>
            </a:r>
          </a:p>
        </p:txBody>
      </p:sp>
      <p:sp>
        <p:nvSpPr>
          <p:cNvPr id="17" name="Rectangle 16"/>
          <p:cNvSpPr/>
          <p:nvPr/>
        </p:nvSpPr>
        <p:spPr>
          <a:xfrm>
            <a:off x="6406895" y="1581912"/>
            <a:ext cx="3919727" cy="594360"/>
          </a:xfrm>
          <a:prstGeom prst="rect">
            <a:avLst/>
          </a:prstGeom>
          <a:solidFill>
            <a:srgbClr val="EFF3FA"/>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8" name="TextBox 17"/>
          <p:cNvSpPr txBox="1"/>
          <p:nvPr/>
        </p:nvSpPr>
        <p:spPr>
          <a:xfrm>
            <a:off x="6461759" y="1636776"/>
            <a:ext cx="3809999" cy="484632"/>
          </a:xfrm>
          <a:prstGeom prst="rect">
            <a:avLst/>
          </a:prstGeom>
          <a:noFill/>
        </p:spPr>
        <p:txBody>
          <a:bodyPr wrap="square" tIns="36576" bIns="36576" anchor="ctr">
            <a:spAutoFit/>
          </a:bodyPr>
          <a:lstStyle/>
          <a:p>
            <a:pPr>
              <a:lnSpc>
                <a:spcPts val="2808"/>
              </a:lnSpc>
              <a:spcBef>
                <a:spcPts val="0"/>
              </a:spcBef>
              <a:spcAft>
                <a:spcPts val="0"/>
              </a:spcAft>
              <a:defRPr sz="2600" b="1">
                <a:solidFill>
                  <a:srgbClr val="182B3A"/>
                </a:solidFill>
                <a:latin typeface="Arial"/>
              </a:defRPr>
            </a:pPr>
            <a:r>
              <a:t>130 ÷ 4</a:t>
            </a:r>
          </a:p>
        </p:txBody>
      </p:sp>
      <p:sp>
        <p:nvSpPr>
          <p:cNvPr id="19" name="Rectangle 18"/>
          <p:cNvSpPr/>
          <p:nvPr/>
        </p:nvSpPr>
        <p:spPr>
          <a:xfrm>
            <a:off x="10326624" y="1581912"/>
            <a:ext cx="3919727" cy="594360"/>
          </a:xfrm>
          <a:prstGeom prst="rect">
            <a:avLst/>
          </a:prstGeom>
          <a:solidFill>
            <a:srgbClr val="F5F0F7"/>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20" name="TextBox 19"/>
          <p:cNvSpPr txBox="1"/>
          <p:nvPr/>
        </p:nvSpPr>
        <p:spPr>
          <a:xfrm>
            <a:off x="10381488" y="1636776"/>
            <a:ext cx="3809999" cy="484632"/>
          </a:xfrm>
          <a:prstGeom prst="rect">
            <a:avLst/>
          </a:prstGeom>
          <a:noFill/>
        </p:spPr>
        <p:txBody>
          <a:bodyPr wrap="square" tIns="36576" bIns="36576" anchor="ctr">
            <a:spAutoFit/>
          </a:bodyPr>
          <a:lstStyle/>
          <a:p>
            <a:pPr>
              <a:lnSpc>
                <a:spcPts val="2808"/>
              </a:lnSpc>
              <a:spcBef>
                <a:spcPts val="0"/>
              </a:spcBef>
              <a:spcAft>
                <a:spcPts val="0"/>
              </a:spcAft>
              <a:defRPr sz="2600" b="1">
                <a:solidFill>
                  <a:srgbClr val="182B3A"/>
                </a:solidFill>
                <a:latin typeface="Arial"/>
              </a:defRPr>
            </a:pPr>
            <a:r>
              <a:t>5,122 ÷ 16</a:t>
            </a:r>
          </a:p>
        </p:txBody>
      </p:sp>
      <p:sp>
        <p:nvSpPr>
          <p:cNvPr id="21" name="Rectangle 20"/>
          <p:cNvSpPr/>
          <p:nvPr/>
        </p:nvSpPr>
        <p:spPr>
          <a:xfrm>
            <a:off x="384048" y="2176272"/>
            <a:ext cx="2103120" cy="1280160"/>
          </a:xfrm>
          <a:prstGeom prst="rect">
            <a:avLst/>
          </a:prstGeom>
          <a:solidFill>
            <a:srgbClr val="E8EDF1"/>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22" name="TextBox 21"/>
          <p:cNvSpPr txBox="1"/>
          <p:nvPr/>
        </p:nvSpPr>
        <p:spPr>
          <a:xfrm>
            <a:off x="448056" y="2267712"/>
            <a:ext cx="1975103" cy="1097280"/>
          </a:xfrm>
          <a:prstGeom prst="rect">
            <a:avLst/>
          </a:prstGeom>
          <a:noFill/>
        </p:spPr>
        <p:txBody>
          <a:bodyPr wrap="square" tIns="36576" bIns="36576" anchor="t">
            <a:spAutoFit/>
          </a:bodyPr>
          <a:lstStyle/>
          <a:p>
            <a:pPr>
              <a:lnSpc>
                <a:spcPts val="1944"/>
              </a:lnSpc>
              <a:spcBef>
                <a:spcPts val="0"/>
              </a:spcBef>
              <a:spcAft>
                <a:spcPts val="0"/>
              </a:spcAft>
              <a:defRPr sz="1800" b="1">
                <a:solidFill>
                  <a:srgbClr val="182B3A"/>
                </a:solidFill>
                <a:latin typeface="Arial"/>
              </a:defRPr>
            </a:pPr>
            <a:r>
              <a:t>1. Draw Frame &amp; Position Digits</a:t>
            </a:r>
          </a:p>
        </p:txBody>
      </p:sp>
      <p:sp>
        <p:nvSpPr>
          <p:cNvPr id="23" name="Rectangle 22"/>
          <p:cNvSpPr/>
          <p:nvPr/>
        </p:nvSpPr>
        <p:spPr>
          <a:xfrm>
            <a:off x="2487168" y="2176272"/>
            <a:ext cx="3919727" cy="128016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24" name="TextBox 23"/>
          <p:cNvSpPr txBox="1"/>
          <p:nvPr/>
        </p:nvSpPr>
        <p:spPr>
          <a:xfrm>
            <a:off x="2551175" y="2240279"/>
            <a:ext cx="3791712" cy="1115568"/>
          </a:xfrm>
          <a:prstGeom prst="rect">
            <a:avLst/>
          </a:prstGeom>
          <a:noFill/>
        </p:spPr>
        <p:txBody>
          <a:bodyPr wrap="square" tIns="36576" bIns="36576" anchor="t">
            <a:spAutoFit/>
          </a:bodyPr>
          <a:lstStyle/>
          <a:p>
            <a:pPr>
              <a:lnSpc>
                <a:spcPts val="2052"/>
              </a:lnSpc>
              <a:spcBef>
                <a:spcPts val="0"/>
              </a:spcBef>
              <a:spcAft>
                <a:spcPts val="0"/>
              </a:spcAft>
              <a:defRPr sz="1900" b="0">
                <a:solidFill>
                  <a:srgbClr val="182B3A"/>
                </a:solidFill>
                <a:latin typeface="Arial"/>
              </a:defRPr>
            </a:pPr>
            <a:r>
              <a:t>Draw the frame. Dividend inside; divisor outside on the left. Space the digits clearly.</a:t>
            </a:r>
          </a:p>
        </p:txBody>
      </p:sp>
      <p:sp>
        <p:nvSpPr>
          <p:cNvPr id="25" name="Rectangle 24"/>
          <p:cNvSpPr/>
          <p:nvPr/>
        </p:nvSpPr>
        <p:spPr>
          <a:xfrm>
            <a:off x="6406895" y="2176272"/>
            <a:ext cx="3919727" cy="128016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26" name="TextBox 25"/>
          <p:cNvSpPr txBox="1"/>
          <p:nvPr/>
        </p:nvSpPr>
        <p:spPr>
          <a:xfrm>
            <a:off x="6470904" y="2240279"/>
            <a:ext cx="3791712" cy="1115568"/>
          </a:xfrm>
          <a:prstGeom prst="rect">
            <a:avLst/>
          </a:prstGeom>
          <a:noFill/>
        </p:spPr>
        <p:txBody>
          <a:bodyPr wrap="square" tIns="36576" bIns="36576" anchor="t">
            <a:spAutoFit/>
          </a:bodyPr>
          <a:lstStyle/>
          <a:p>
            <a:pPr>
              <a:lnSpc>
                <a:spcPts val="2052"/>
              </a:lnSpc>
              <a:spcBef>
                <a:spcPts val="0"/>
              </a:spcBef>
              <a:spcAft>
                <a:spcPts val="0"/>
              </a:spcAft>
              <a:defRPr sz="1900" b="0">
                <a:solidFill>
                  <a:srgbClr val="182B3A"/>
                </a:solidFill>
                <a:latin typeface="Arial"/>
              </a:defRPr>
            </a:pPr>
            <a:r>
              <a:t>Draw the frame. Dividend inside; divisor outside on the left. Space the digits clearly.</a:t>
            </a:r>
          </a:p>
        </p:txBody>
      </p:sp>
      <p:sp>
        <p:nvSpPr>
          <p:cNvPr id="27" name="Rectangle 26"/>
          <p:cNvSpPr/>
          <p:nvPr/>
        </p:nvSpPr>
        <p:spPr>
          <a:xfrm>
            <a:off x="10326624" y="2176272"/>
            <a:ext cx="3919727" cy="128016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28" name="TextBox 27"/>
          <p:cNvSpPr txBox="1"/>
          <p:nvPr/>
        </p:nvSpPr>
        <p:spPr>
          <a:xfrm>
            <a:off x="10390632" y="2240279"/>
            <a:ext cx="3791712" cy="1115568"/>
          </a:xfrm>
          <a:prstGeom prst="rect">
            <a:avLst/>
          </a:prstGeom>
          <a:noFill/>
        </p:spPr>
        <p:txBody>
          <a:bodyPr wrap="square" tIns="36576" bIns="36576" anchor="t">
            <a:spAutoFit/>
          </a:bodyPr>
          <a:lstStyle/>
          <a:p>
            <a:pPr>
              <a:lnSpc>
                <a:spcPts val="2052"/>
              </a:lnSpc>
              <a:spcBef>
                <a:spcPts val="0"/>
              </a:spcBef>
              <a:spcAft>
                <a:spcPts val="0"/>
              </a:spcAft>
              <a:defRPr sz="1900" b="0">
                <a:solidFill>
                  <a:srgbClr val="182B3A"/>
                </a:solidFill>
                <a:latin typeface="Arial"/>
              </a:defRPr>
            </a:pPr>
            <a:r>
              <a:t>Draw the frame. Dividend inside; divisor outside on the left. Space the digits clearly.</a:t>
            </a:r>
          </a:p>
        </p:txBody>
      </p:sp>
      <p:sp>
        <p:nvSpPr>
          <p:cNvPr id="29" name="Rectangle 28"/>
          <p:cNvSpPr/>
          <p:nvPr/>
        </p:nvSpPr>
        <p:spPr>
          <a:xfrm>
            <a:off x="384048" y="3456432"/>
            <a:ext cx="2103120" cy="1600200"/>
          </a:xfrm>
          <a:prstGeom prst="rect">
            <a:avLst/>
          </a:prstGeom>
          <a:solidFill>
            <a:srgbClr val="E8EDF1"/>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30" name="TextBox 29"/>
          <p:cNvSpPr txBox="1"/>
          <p:nvPr/>
        </p:nvSpPr>
        <p:spPr>
          <a:xfrm>
            <a:off x="448056" y="3547872"/>
            <a:ext cx="1975103" cy="1417320"/>
          </a:xfrm>
          <a:prstGeom prst="rect">
            <a:avLst/>
          </a:prstGeom>
          <a:noFill/>
        </p:spPr>
        <p:txBody>
          <a:bodyPr wrap="square" tIns="36576" bIns="36576" anchor="t">
            <a:spAutoFit/>
          </a:bodyPr>
          <a:lstStyle/>
          <a:p>
            <a:pPr>
              <a:lnSpc>
                <a:spcPts val="1944"/>
              </a:lnSpc>
              <a:spcBef>
                <a:spcPts val="0"/>
              </a:spcBef>
              <a:spcAft>
                <a:spcPts val="0"/>
              </a:spcAft>
              <a:defRPr sz="1800" b="1">
                <a:solidFill>
                  <a:srgbClr val="182B3A"/>
                </a:solidFill>
                <a:latin typeface="Arial"/>
              </a:defRPr>
            </a:pPr>
            <a:r>
              <a:t>2. Divide Left-to-Right &amp; Carry</a:t>
            </a:r>
          </a:p>
        </p:txBody>
      </p:sp>
      <p:sp>
        <p:nvSpPr>
          <p:cNvPr id="31" name="Rectangle 30"/>
          <p:cNvSpPr/>
          <p:nvPr/>
        </p:nvSpPr>
        <p:spPr>
          <a:xfrm>
            <a:off x="2487168" y="3456432"/>
            <a:ext cx="3919727" cy="160020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32" name="TextBox 31"/>
          <p:cNvSpPr txBox="1"/>
          <p:nvPr/>
        </p:nvSpPr>
        <p:spPr>
          <a:xfrm>
            <a:off x="2551175" y="3520439"/>
            <a:ext cx="3791712" cy="1435608"/>
          </a:xfrm>
          <a:prstGeom prst="rect">
            <a:avLst/>
          </a:prstGeom>
          <a:noFill/>
        </p:spPr>
        <p:txBody>
          <a:bodyPr wrap="square" tIns="36576" bIns="36576" anchor="t">
            <a:spAutoFit/>
          </a:bodyPr>
          <a:lstStyle/>
          <a:p>
            <a:pPr>
              <a:lnSpc>
                <a:spcPts val="2160"/>
              </a:lnSpc>
              <a:spcBef>
                <a:spcPts val="0"/>
              </a:spcBef>
              <a:spcAft>
                <a:spcPts val="0"/>
              </a:spcAft>
              <a:defRPr sz="2000" b="0">
                <a:solidFill>
                  <a:srgbClr val="182B3A"/>
                </a:solidFill>
                <a:latin typeface="Arial"/>
              </a:defRPr>
            </a:pPr>
            <a:r>
              <a:t>Work left to right. Write how many whole times the divisor fits above the matching digit. Carry the remainder as a small prefix to the next digit.</a:t>
            </a:r>
          </a:p>
        </p:txBody>
      </p:sp>
      <p:sp>
        <p:nvSpPr>
          <p:cNvPr id="33" name="Rectangle 32"/>
          <p:cNvSpPr/>
          <p:nvPr/>
        </p:nvSpPr>
        <p:spPr>
          <a:xfrm>
            <a:off x="6406895" y="3456432"/>
            <a:ext cx="3919727" cy="160020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34" name="TextBox 33"/>
          <p:cNvSpPr txBox="1"/>
          <p:nvPr/>
        </p:nvSpPr>
        <p:spPr>
          <a:xfrm>
            <a:off x="6470904" y="3520439"/>
            <a:ext cx="3791712" cy="1435608"/>
          </a:xfrm>
          <a:prstGeom prst="rect">
            <a:avLst/>
          </a:prstGeom>
          <a:noFill/>
        </p:spPr>
        <p:txBody>
          <a:bodyPr wrap="square" tIns="36576" bIns="36576" anchor="t">
            <a:spAutoFit/>
          </a:bodyPr>
          <a:lstStyle/>
          <a:p>
            <a:pPr>
              <a:lnSpc>
                <a:spcPts val="2160"/>
              </a:lnSpc>
              <a:spcBef>
                <a:spcPts val="0"/>
              </a:spcBef>
              <a:spcAft>
                <a:spcPts val="0"/>
              </a:spcAft>
              <a:defRPr sz="2000" b="0">
                <a:solidFill>
                  <a:srgbClr val="182B3A"/>
                </a:solidFill>
                <a:latin typeface="Arial"/>
              </a:defRPr>
            </a:pPr>
            <a:r>
              <a:t>Work left to right. Write how many whole times the divisor fits above the matching digit. Carry the remainder as a small prefix to the next digit.</a:t>
            </a:r>
          </a:p>
        </p:txBody>
      </p:sp>
      <p:sp>
        <p:nvSpPr>
          <p:cNvPr id="35" name="Rectangle 34"/>
          <p:cNvSpPr/>
          <p:nvPr/>
        </p:nvSpPr>
        <p:spPr>
          <a:xfrm>
            <a:off x="10326624" y="3456432"/>
            <a:ext cx="3919727" cy="160020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36" name="TextBox 35"/>
          <p:cNvSpPr txBox="1"/>
          <p:nvPr/>
        </p:nvSpPr>
        <p:spPr>
          <a:xfrm>
            <a:off x="10390632" y="3520439"/>
            <a:ext cx="3791712" cy="1435608"/>
          </a:xfrm>
          <a:prstGeom prst="rect">
            <a:avLst/>
          </a:prstGeom>
          <a:noFill/>
        </p:spPr>
        <p:txBody>
          <a:bodyPr wrap="square" tIns="36576" bIns="36576" anchor="t">
            <a:spAutoFit/>
          </a:bodyPr>
          <a:lstStyle/>
          <a:p>
            <a:pPr>
              <a:lnSpc>
                <a:spcPts val="2160"/>
              </a:lnSpc>
              <a:spcBef>
                <a:spcPts val="0"/>
              </a:spcBef>
              <a:spcAft>
                <a:spcPts val="0"/>
              </a:spcAft>
              <a:defRPr sz="2000" b="0">
                <a:solidFill>
                  <a:srgbClr val="182B3A"/>
                </a:solidFill>
                <a:latin typeface="Arial"/>
              </a:defRPr>
            </a:pPr>
            <a:r>
              <a:t>Work left to right. Write how many whole times the divisor fits above the matching digit. Carry the remainder as a small prefix to the next digit.</a:t>
            </a:r>
          </a:p>
        </p:txBody>
      </p:sp>
      <p:sp>
        <p:nvSpPr>
          <p:cNvPr id="37" name="Rectangle 36"/>
          <p:cNvSpPr/>
          <p:nvPr/>
        </p:nvSpPr>
        <p:spPr>
          <a:xfrm>
            <a:off x="384048" y="5056631"/>
            <a:ext cx="2103120" cy="1554480"/>
          </a:xfrm>
          <a:prstGeom prst="rect">
            <a:avLst/>
          </a:prstGeom>
          <a:solidFill>
            <a:srgbClr val="E8EDF1"/>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38" name="TextBox 37"/>
          <p:cNvSpPr txBox="1"/>
          <p:nvPr/>
        </p:nvSpPr>
        <p:spPr>
          <a:xfrm>
            <a:off x="448056" y="5148071"/>
            <a:ext cx="1975103" cy="1371600"/>
          </a:xfrm>
          <a:prstGeom prst="rect">
            <a:avLst/>
          </a:prstGeom>
          <a:noFill/>
        </p:spPr>
        <p:txBody>
          <a:bodyPr wrap="square" tIns="36576" bIns="36576" anchor="t">
            <a:spAutoFit/>
          </a:bodyPr>
          <a:lstStyle/>
          <a:p>
            <a:pPr>
              <a:lnSpc>
                <a:spcPts val="1944"/>
              </a:lnSpc>
              <a:spcBef>
                <a:spcPts val="0"/>
              </a:spcBef>
              <a:spcAft>
                <a:spcPts val="0"/>
              </a:spcAft>
              <a:defRPr sz="1800" b="1">
                <a:solidFill>
                  <a:srgbClr val="182B3A"/>
                </a:solidFill>
                <a:latin typeface="Arial"/>
              </a:defRPr>
            </a:pPr>
            <a:r>
              <a:t>3. Track Remainders or Decimals</a:t>
            </a:r>
          </a:p>
        </p:txBody>
      </p:sp>
      <p:sp>
        <p:nvSpPr>
          <p:cNvPr id="39" name="Rectangle 38"/>
          <p:cNvSpPr/>
          <p:nvPr/>
        </p:nvSpPr>
        <p:spPr>
          <a:xfrm>
            <a:off x="2487168" y="5056631"/>
            <a:ext cx="3919727" cy="155448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40" name="TextBox 39"/>
          <p:cNvSpPr txBox="1"/>
          <p:nvPr/>
        </p:nvSpPr>
        <p:spPr>
          <a:xfrm>
            <a:off x="2551175" y="5120640"/>
            <a:ext cx="3791712" cy="1389888"/>
          </a:xfrm>
          <a:prstGeom prst="rect">
            <a:avLst/>
          </a:prstGeom>
          <a:noFill/>
        </p:spPr>
        <p:txBody>
          <a:bodyPr wrap="square" tIns="36576" bIns="36576" anchor="t">
            <a:spAutoFit/>
          </a:bodyPr>
          <a:lstStyle/>
          <a:p>
            <a:pPr>
              <a:lnSpc>
                <a:spcPts val="2052"/>
              </a:lnSpc>
              <a:spcBef>
                <a:spcPts val="0"/>
              </a:spcBef>
              <a:spcAft>
                <a:spcPts val="0"/>
              </a:spcAft>
              <a:defRPr sz="1900" b="0">
                <a:solidFill>
                  <a:srgbClr val="182B3A"/>
                </a:solidFill>
                <a:latin typeface="Arial"/>
              </a:defRPr>
            </a:pPr>
            <a:r>
              <a:t>Check the final remainder. Build: write any remainder as r. Confidence: add a decimal point and zeros. Continue until the remainder is 0.</a:t>
            </a:r>
          </a:p>
        </p:txBody>
      </p:sp>
      <p:sp>
        <p:nvSpPr>
          <p:cNvPr id="41" name="Rectangle 40"/>
          <p:cNvSpPr/>
          <p:nvPr/>
        </p:nvSpPr>
        <p:spPr>
          <a:xfrm>
            <a:off x="6406895" y="5056631"/>
            <a:ext cx="3919727" cy="155448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42" name="TextBox 41"/>
          <p:cNvSpPr txBox="1"/>
          <p:nvPr/>
        </p:nvSpPr>
        <p:spPr>
          <a:xfrm>
            <a:off x="6470904" y="5120640"/>
            <a:ext cx="3791712" cy="1389888"/>
          </a:xfrm>
          <a:prstGeom prst="rect">
            <a:avLst/>
          </a:prstGeom>
          <a:noFill/>
        </p:spPr>
        <p:txBody>
          <a:bodyPr wrap="square" tIns="36576" bIns="36576" anchor="t">
            <a:spAutoFit/>
          </a:bodyPr>
          <a:lstStyle/>
          <a:p>
            <a:pPr>
              <a:lnSpc>
                <a:spcPts val="2052"/>
              </a:lnSpc>
              <a:spcBef>
                <a:spcPts val="0"/>
              </a:spcBef>
              <a:spcAft>
                <a:spcPts val="0"/>
              </a:spcAft>
              <a:defRPr sz="1900" b="0">
                <a:solidFill>
                  <a:srgbClr val="182B3A"/>
                </a:solidFill>
                <a:latin typeface="Arial"/>
              </a:defRPr>
            </a:pPr>
            <a:r>
              <a:t>Check the final remainder. Build: write any remainder as r. Confidence: add a decimal point and zeros. Continue until the remainder is 0.</a:t>
            </a:r>
          </a:p>
        </p:txBody>
      </p:sp>
      <p:sp>
        <p:nvSpPr>
          <p:cNvPr id="43" name="Rectangle 42"/>
          <p:cNvSpPr/>
          <p:nvPr/>
        </p:nvSpPr>
        <p:spPr>
          <a:xfrm>
            <a:off x="10326624" y="5056631"/>
            <a:ext cx="3919727" cy="155448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44" name="TextBox 43"/>
          <p:cNvSpPr txBox="1"/>
          <p:nvPr/>
        </p:nvSpPr>
        <p:spPr>
          <a:xfrm>
            <a:off x="10390632" y="5120640"/>
            <a:ext cx="3791712" cy="1389888"/>
          </a:xfrm>
          <a:prstGeom prst="rect">
            <a:avLst/>
          </a:prstGeom>
          <a:noFill/>
        </p:spPr>
        <p:txBody>
          <a:bodyPr wrap="square" tIns="36576" bIns="36576" anchor="t">
            <a:spAutoFit/>
          </a:bodyPr>
          <a:lstStyle/>
          <a:p>
            <a:pPr>
              <a:lnSpc>
                <a:spcPts val="2052"/>
              </a:lnSpc>
              <a:spcBef>
                <a:spcPts val="0"/>
              </a:spcBef>
              <a:spcAft>
                <a:spcPts val="0"/>
              </a:spcAft>
              <a:defRPr sz="1900" b="0">
                <a:solidFill>
                  <a:srgbClr val="182B3A"/>
                </a:solidFill>
                <a:latin typeface="Arial"/>
              </a:defRPr>
            </a:pPr>
            <a:r>
              <a:t>Check the final remainder. Build: write any remainder as r. Confidence: add a decimal point and zeros. Continue until the remainder is 0.</a:t>
            </a:r>
          </a:p>
        </p:txBody>
      </p:sp>
      <p:sp>
        <p:nvSpPr>
          <p:cNvPr id="45" name="Rectangle 44"/>
          <p:cNvSpPr/>
          <p:nvPr/>
        </p:nvSpPr>
        <p:spPr>
          <a:xfrm>
            <a:off x="384048" y="6611112"/>
            <a:ext cx="2103120" cy="1097280"/>
          </a:xfrm>
          <a:prstGeom prst="rect">
            <a:avLst/>
          </a:prstGeom>
          <a:solidFill>
            <a:srgbClr val="E8EDF1"/>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46" name="TextBox 45"/>
          <p:cNvSpPr txBox="1"/>
          <p:nvPr/>
        </p:nvSpPr>
        <p:spPr>
          <a:xfrm>
            <a:off x="448056" y="6702551"/>
            <a:ext cx="1975103" cy="914400"/>
          </a:xfrm>
          <a:prstGeom prst="rect">
            <a:avLst/>
          </a:prstGeom>
          <a:noFill/>
        </p:spPr>
        <p:txBody>
          <a:bodyPr wrap="square" tIns="36576" bIns="36576" anchor="t">
            <a:spAutoFit/>
          </a:bodyPr>
          <a:lstStyle/>
          <a:p>
            <a:pPr>
              <a:lnSpc>
                <a:spcPts val="1944"/>
              </a:lnSpc>
              <a:spcBef>
                <a:spcPts val="0"/>
              </a:spcBef>
              <a:spcAft>
                <a:spcPts val="0"/>
              </a:spcAft>
              <a:defRPr sz="1800" b="1">
                <a:solidFill>
                  <a:srgbClr val="182B3A"/>
                </a:solidFill>
                <a:latin typeface="Arial"/>
              </a:defRPr>
            </a:pPr>
            <a:r>
              <a:t>4. Write Final Quotient</a:t>
            </a:r>
          </a:p>
        </p:txBody>
      </p:sp>
      <p:sp>
        <p:nvSpPr>
          <p:cNvPr id="47" name="Rectangle 46"/>
          <p:cNvSpPr/>
          <p:nvPr/>
        </p:nvSpPr>
        <p:spPr>
          <a:xfrm>
            <a:off x="2487168" y="6611112"/>
            <a:ext cx="3919727" cy="109728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48" name="TextBox 47"/>
          <p:cNvSpPr txBox="1"/>
          <p:nvPr/>
        </p:nvSpPr>
        <p:spPr>
          <a:xfrm>
            <a:off x="2551175" y="6675120"/>
            <a:ext cx="3791712" cy="932688"/>
          </a:xfrm>
          <a:prstGeom prst="rect">
            <a:avLst/>
          </a:prstGeom>
          <a:noFill/>
        </p:spPr>
        <p:txBody>
          <a:bodyPr wrap="square" tIns="36576" bIns="36576" anchor="t">
            <a:spAutoFit/>
          </a:bodyPr>
          <a:lstStyle/>
          <a:p>
            <a:pPr>
              <a:lnSpc>
                <a:spcPts val="2160"/>
              </a:lnSpc>
              <a:spcBef>
                <a:spcPts val="0"/>
              </a:spcBef>
              <a:spcAft>
                <a:spcPts val="0"/>
              </a:spcAft>
              <a:defRPr sz="2000" b="0">
                <a:solidFill>
                  <a:srgbClr val="182B3A"/>
                </a:solidFill>
                <a:latin typeface="Arial"/>
              </a:defRPr>
            </a:pPr>
            <a:r>
              <a:t>Write the complete answer. Keep place-value zeros. Align decimal points.</a:t>
            </a:r>
          </a:p>
        </p:txBody>
      </p:sp>
      <p:sp>
        <p:nvSpPr>
          <p:cNvPr id="49" name="Rectangle 48"/>
          <p:cNvSpPr/>
          <p:nvPr/>
        </p:nvSpPr>
        <p:spPr>
          <a:xfrm>
            <a:off x="6406895" y="6611112"/>
            <a:ext cx="3919727" cy="109728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50" name="TextBox 49"/>
          <p:cNvSpPr txBox="1"/>
          <p:nvPr/>
        </p:nvSpPr>
        <p:spPr>
          <a:xfrm>
            <a:off x="6470904" y="6675120"/>
            <a:ext cx="3791712" cy="932688"/>
          </a:xfrm>
          <a:prstGeom prst="rect">
            <a:avLst/>
          </a:prstGeom>
          <a:noFill/>
        </p:spPr>
        <p:txBody>
          <a:bodyPr wrap="square" tIns="36576" bIns="36576" anchor="t">
            <a:spAutoFit/>
          </a:bodyPr>
          <a:lstStyle/>
          <a:p>
            <a:pPr>
              <a:lnSpc>
                <a:spcPts val="2160"/>
              </a:lnSpc>
              <a:spcBef>
                <a:spcPts val="0"/>
              </a:spcBef>
              <a:spcAft>
                <a:spcPts val="0"/>
              </a:spcAft>
              <a:defRPr sz="2000" b="0">
                <a:solidFill>
                  <a:srgbClr val="182B3A"/>
                </a:solidFill>
                <a:latin typeface="Arial"/>
              </a:defRPr>
            </a:pPr>
            <a:r>
              <a:t>Write the complete answer. Keep place-value zeros. Align decimal points.</a:t>
            </a:r>
          </a:p>
        </p:txBody>
      </p:sp>
      <p:sp>
        <p:nvSpPr>
          <p:cNvPr id="51" name="Rectangle 50"/>
          <p:cNvSpPr/>
          <p:nvPr/>
        </p:nvSpPr>
        <p:spPr>
          <a:xfrm>
            <a:off x="10326624" y="6611112"/>
            <a:ext cx="3919727" cy="109728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52" name="TextBox 51"/>
          <p:cNvSpPr txBox="1"/>
          <p:nvPr/>
        </p:nvSpPr>
        <p:spPr>
          <a:xfrm>
            <a:off x="10390632" y="6675120"/>
            <a:ext cx="3791712" cy="932688"/>
          </a:xfrm>
          <a:prstGeom prst="rect">
            <a:avLst/>
          </a:prstGeom>
          <a:noFill/>
        </p:spPr>
        <p:txBody>
          <a:bodyPr wrap="square" tIns="36576" bIns="36576" anchor="t">
            <a:spAutoFit/>
          </a:bodyPr>
          <a:lstStyle/>
          <a:p>
            <a:pPr>
              <a:lnSpc>
                <a:spcPts val="2160"/>
              </a:lnSpc>
              <a:spcBef>
                <a:spcPts val="0"/>
              </a:spcBef>
              <a:spcAft>
                <a:spcPts val="0"/>
              </a:spcAft>
              <a:defRPr sz="2000" b="0">
                <a:solidFill>
                  <a:srgbClr val="182B3A"/>
                </a:solidFill>
                <a:latin typeface="Arial"/>
              </a:defRPr>
            </a:pPr>
            <a:r>
              <a:t>Write the complete answer. Keep place-value zeros. Align decimal points.</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7F8FA"/>
        </a:solidFill>
        <a:effectLst/>
      </p:bgPr>
    </p:bg>
    <p:spTree>
      <p:nvGrpSpPr>
        <p:cNvPr id="1" name=""/>
        <p:cNvGrpSpPr/>
        <p:nvPr/>
      </p:nvGrpSpPr>
      <p:grpSpPr/>
      <p:sp>
        <p:nvSpPr>
          <p:cNvPr id="2" name="Rectangle 1"/>
          <p:cNvSpPr/>
          <p:nvPr/>
        </p:nvSpPr>
        <p:spPr>
          <a:xfrm>
            <a:off x="0" y="0"/>
            <a:ext cx="14630400" cy="91440"/>
          </a:xfrm>
          <a:prstGeom prst="rect">
            <a:avLst/>
          </a:prstGeom>
          <a:solidFill>
            <a:srgbClr val="3559A2"/>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3" name="TextBox 2"/>
          <p:cNvSpPr txBox="1"/>
          <p:nvPr/>
        </p:nvSpPr>
        <p:spPr>
          <a:xfrm>
            <a:off x="384048" y="219456"/>
            <a:ext cx="12435840" cy="448056"/>
          </a:xfrm>
          <a:prstGeom prst="rect">
            <a:avLst/>
          </a:prstGeom>
          <a:noFill/>
        </p:spPr>
        <p:txBody>
          <a:bodyPr wrap="square" tIns="36576" bIns="36576" anchor="t">
            <a:spAutoFit/>
          </a:bodyPr>
          <a:lstStyle/>
          <a:p>
            <a:pPr>
              <a:lnSpc>
                <a:spcPts val="3132"/>
              </a:lnSpc>
              <a:spcBef>
                <a:spcPts val="0"/>
              </a:spcBef>
              <a:spcAft>
                <a:spcPts val="0"/>
              </a:spcAft>
              <a:defRPr sz="2900" b="1">
                <a:solidFill>
                  <a:srgbClr val="182B3A"/>
                </a:solidFill>
                <a:latin typeface="Arial"/>
              </a:defRPr>
            </a:pPr>
            <a:r>
              <a:t>Bus Stop Division</a:t>
            </a:r>
          </a:p>
        </p:txBody>
      </p:sp>
      <p:sp>
        <p:nvSpPr>
          <p:cNvPr id="4" name="TextBox 3"/>
          <p:cNvSpPr txBox="1"/>
          <p:nvPr/>
        </p:nvSpPr>
        <p:spPr>
          <a:xfrm>
            <a:off x="384048" y="713232"/>
            <a:ext cx="13533120" cy="274320"/>
          </a:xfrm>
          <a:prstGeom prst="rect">
            <a:avLst/>
          </a:prstGeom>
          <a:noFill/>
        </p:spPr>
        <p:txBody>
          <a:bodyPr wrap="square" tIns="36576" bIns="36576" anchor="t">
            <a:spAutoFit/>
          </a:bodyPr>
          <a:lstStyle/>
          <a:p>
            <a:pPr>
              <a:lnSpc>
                <a:spcPts val="1512"/>
              </a:lnSpc>
              <a:spcBef>
                <a:spcPts val="0"/>
              </a:spcBef>
              <a:spcAft>
                <a:spcPts val="0"/>
              </a:spcAft>
              <a:defRPr sz="1400" b="0">
                <a:solidFill>
                  <a:srgbClr val="526472"/>
                </a:solidFill>
                <a:latin typeface="Arial"/>
              </a:defRPr>
            </a:pPr>
            <a:r>
              <a:t>Step-by-step practice 2  •  Build: give remainders. Confidence: give decimal answers.</a:t>
            </a:r>
          </a:p>
        </p:txBody>
      </p:sp>
      <p:sp>
        <p:nvSpPr>
          <p:cNvPr id="5" name="TextBox 4"/>
          <p:cNvSpPr txBox="1"/>
          <p:nvPr/>
        </p:nvSpPr>
        <p:spPr>
          <a:xfrm>
            <a:off x="384048" y="7882127"/>
            <a:ext cx="10058400" cy="210312"/>
          </a:xfrm>
          <a:prstGeom prst="rect">
            <a:avLst/>
          </a:prstGeom>
          <a:noFill/>
        </p:spPr>
        <p:txBody>
          <a:bodyPr wrap="square" tIns="36576" bIns="36576" anchor="t">
            <a:spAutoFit/>
          </a:bodyPr>
          <a:lstStyle/>
          <a:p>
            <a:pPr>
              <a:lnSpc>
                <a:spcPts val="1188"/>
              </a:lnSpc>
              <a:spcBef>
                <a:spcPts val="0"/>
              </a:spcBef>
              <a:spcAft>
                <a:spcPts val="0"/>
              </a:spcAft>
              <a:defRPr sz="1100" b="0">
                <a:solidFill>
                  <a:srgbClr val="526472"/>
                </a:solidFill>
                <a:latin typeface="Arial"/>
              </a:defRPr>
            </a:pPr>
            <a:r>
              <a:t>GCSE Maths revision  •  Record your working in your booklet or webapp.</a:t>
            </a:r>
          </a:p>
        </p:txBody>
      </p:sp>
      <p:sp>
        <p:nvSpPr>
          <p:cNvPr id="6" name="TextBox 5"/>
          <p:cNvSpPr txBox="1"/>
          <p:nvPr/>
        </p:nvSpPr>
        <p:spPr>
          <a:xfrm>
            <a:off x="11430000" y="7863840"/>
            <a:ext cx="2788920" cy="228600"/>
          </a:xfrm>
          <a:prstGeom prst="rect">
            <a:avLst/>
          </a:prstGeom>
          <a:noFill/>
        </p:spPr>
        <p:txBody>
          <a:bodyPr wrap="square" tIns="36576" bIns="36576" anchor="t">
            <a:spAutoFit/>
          </a:bodyPr>
          <a:lstStyle/>
          <a:p>
            <a:pPr>
              <a:lnSpc>
                <a:spcPts val="1188"/>
              </a:lnSpc>
              <a:spcBef>
                <a:spcPts val="0"/>
              </a:spcBef>
              <a:spcAft>
                <a:spcPts val="0"/>
              </a:spcAft>
              <a:defRPr sz="1100" b="0">
                <a:solidFill>
                  <a:srgbClr val="526472"/>
                </a:solidFill>
                <a:latin typeface="Arial"/>
              </a:defRPr>
            </a:pPr>
            <a:r>
              <a:t>M02-S03  •  Topic slide 4</a:t>
            </a:r>
          </a:p>
        </p:txBody>
      </p:sp>
      <p:sp>
        <p:nvSpPr>
          <p:cNvPr id="7" name="Rectangle 6"/>
          <p:cNvSpPr/>
          <p:nvPr/>
        </p:nvSpPr>
        <p:spPr>
          <a:xfrm>
            <a:off x="2487168" y="1124712"/>
            <a:ext cx="3919727" cy="438912"/>
          </a:xfrm>
          <a:prstGeom prst="rect">
            <a:avLst/>
          </a:prstGeom>
          <a:solidFill>
            <a:srgbClr val="176B73"/>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8" name="TextBox 7"/>
          <p:cNvSpPr txBox="1"/>
          <p:nvPr/>
        </p:nvSpPr>
        <p:spPr>
          <a:xfrm>
            <a:off x="2542032" y="1152144"/>
            <a:ext cx="3809999" cy="338328"/>
          </a:xfrm>
          <a:prstGeom prst="rect">
            <a:avLst/>
          </a:prstGeom>
          <a:noFill/>
        </p:spPr>
        <p:txBody>
          <a:bodyPr wrap="square" tIns="36576" bIns="36576" anchor="t">
            <a:spAutoFit/>
          </a:bodyPr>
          <a:lstStyle/>
          <a:p>
            <a:pPr>
              <a:lnSpc>
                <a:spcPts val="2160"/>
              </a:lnSpc>
              <a:spcBef>
                <a:spcPts val="0"/>
              </a:spcBef>
              <a:spcAft>
                <a:spcPts val="0"/>
              </a:spcAft>
              <a:defRPr sz="2000" b="1">
                <a:solidFill>
                  <a:srgbClr val="FFFFFF"/>
                </a:solidFill>
                <a:latin typeface="Arial"/>
              </a:defRPr>
            </a:pPr>
            <a:r>
              <a:t>Start</a:t>
            </a:r>
          </a:p>
        </p:txBody>
      </p:sp>
      <p:sp>
        <p:nvSpPr>
          <p:cNvPr id="9" name="Rectangle 8"/>
          <p:cNvSpPr/>
          <p:nvPr/>
        </p:nvSpPr>
        <p:spPr>
          <a:xfrm>
            <a:off x="6406895" y="1124712"/>
            <a:ext cx="3919727" cy="438912"/>
          </a:xfrm>
          <a:prstGeom prst="rect">
            <a:avLst/>
          </a:prstGeom>
          <a:solidFill>
            <a:srgbClr val="3559A2"/>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0" name="TextBox 9"/>
          <p:cNvSpPr txBox="1"/>
          <p:nvPr/>
        </p:nvSpPr>
        <p:spPr>
          <a:xfrm>
            <a:off x="6461759" y="1152144"/>
            <a:ext cx="3809999" cy="338328"/>
          </a:xfrm>
          <a:prstGeom prst="rect">
            <a:avLst/>
          </a:prstGeom>
          <a:noFill/>
        </p:spPr>
        <p:txBody>
          <a:bodyPr wrap="square" tIns="36576" bIns="36576" anchor="t">
            <a:spAutoFit/>
          </a:bodyPr>
          <a:lstStyle/>
          <a:p>
            <a:pPr>
              <a:lnSpc>
                <a:spcPts val="2160"/>
              </a:lnSpc>
              <a:spcBef>
                <a:spcPts val="0"/>
              </a:spcBef>
              <a:spcAft>
                <a:spcPts val="0"/>
              </a:spcAft>
              <a:defRPr sz="2000" b="1">
                <a:solidFill>
                  <a:srgbClr val="FFFFFF"/>
                </a:solidFill>
                <a:latin typeface="Arial"/>
              </a:defRPr>
            </a:pPr>
            <a:r>
              <a:t>Build</a:t>
            </a:r>
          </a:p>
        </p:txBody>
      </p:sp>
      <p:sp>
        <p:nvSpPr>
          <p:cNvPr id="11" name="Rectangle 10"/>
          <p:cNvSpPr/>
          <p:nvPr/>
        </p:nvSpPr>
        <p:spPr>
          <a:xfrm>
            <a:off x="10326624" y="1124712"/>
            <a:ext cx="3919727" cy="438912"/>
          </a:xfrm>
          <a:prstGeom prst="rect">
            <a:avLst/>
          </a:prstGeom>
          <a:solidFill>
            <a:srgbClr val="754B87"/>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2" name="TextBox 11"/>
          <p:cNvSpPr txBox="1"/>
          <p:nvPr/>
        </p:nvSpPr>
        <p:spPr>
          <a:xfrm>
            <a:off x="10381488" y="1152144"/>
            <a:ext cx="3809999" cy="338328"/>
          </a:xfrm>
          <a:prstGeom prst="rect">
            <a:avLst/>
          </a:prstGeom>
          <a:noFill/>
        </p:spPr>
        <p:txBody>
          <a:bodyPr wrap="square" tIns="36576" bIns="36576" anchor="t">
            <a:spAutoFit/>
          </a:bodyPr>
          <a:lstStyle/>
          <a:p>
            <a:pPr>
              <a:lnSpc>
                <a:spcPts val="2160"/>
              </a:lnSpc>
              <a:spcBef>
                <a:spcPts val="0"/>
              </a:spcBef>
              <a:spcAft>
                <a:spcPts val="0"/>
              </a:spcAft>
              <a:defRPr sz="2000" b="1">
                <a:solidFill>
                  <a:srgbClr val="FFFFFF"/>
                </a:solidFill>
                <a:latin typeface="Arial"/>
              </a:defRPr>
            </a:pPr>
            <a:r>
              <a:t>Confidence</a:t>
            </a:r>
          </a:p>
        </p:txBody>
      </p:sp>
      <p:sp>
        <p:nvSpPr>
          <p:cNvPr id="13" name="Rectangle 12"/>
          <p:cNvSpPr/>
          <p:nvPr/>
        </p:nvSpPr>
        <p:spPr>
          <a:xfrm>
            <a:off x="384048" y="1581912"/>
            <a:ext cx="2103120" cy="594360"/>
          </a:xfrm>
          <a:prstGeom prst="rect">
            <a:avLst/>
          </a:prstGeom>
          <a:solidFill>
            <a:srgbClr val="E8EDF1"/>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4" name="TextBox 13"/>
          <p:cNvSpPr txBox="1"/>
          <p:nvPr/>
        </p:nvSpPr>
        <p:spPr>
          <a:xfrm>
            <a:off x="411479" y="1618488"/>
            <a:ext cx="2048255" cy="521208"/>
          </a:xfrm>
          <a:prstGeom prst="rect">
            <a:avLst/>
          </a:prstGeom>
          <a:noFill/>
        </p:spPr>
        <p:txBody>
          <a:bodyPr wrap="square" tIns="36576" bIns="36576" anchor="ctr">
            <a:spAutoFit/>
          </a:bodyPr>
          <a:lstStyle/>
          <a:p>
            <a:pPr>
              <a:lnSpc>
                <a:spcPts val="1728"/>
              </a:lnSpc>
              <a:spcBef>
                <a:spcPts val="0"/>
              </a:spcBef>
              <a:spcAft>
                <a:spcPts val="0"/>
              </a:spcAft>
              <a:defRPr sz="1600" b="1">
                <a:solidFill>
                  <a:srgbClr val="182B3A"/>
                </a:solidFill>
                <a:latin typeface="Arial"/>
              </a:defRPr>
            </a:pPr>
            <a:r>
              <a:t>The Full Question</a:t>
            </a:r>
          </a:p>
        </p:txBody>
      </p:sp>
      <p:sp>
        <p:nvSpPr>
          <p:cNvPr id="15" name="Rectangle 14"/>
          <p:cNvSpPr/>
          <p:nvPr/>
        </p:nvSpPr>
        <p:spPr>
          <a:xfrm>
            <a:off x="2487168" y="1581912"/>
            <a:ext cx="3919727" cy="594360"/>
          </a:xfrm>
          <a:prstGeom prst="rect">
            <a:avLst/>
          </a:prstGeom>
          <a:solidFill>
            <a:srgbClr val="EDF6F5"/>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6" name="TextBox 15"/>
          <p:cNvSpPr txBox="1"/>
          <p:nvPr/>
        </p:nvSpPr>
        <p:spPr>
          <a:xfrm>
            <a:off x="2542032" y="1636776"/>
            <a:ext cx="3809999" cy="484632"/>
          </a:xfrm>
          <a:prstGeom prst="rect">
            <a:avLst/>
          </a:prstGeom>
          <a:noFill/>
        </p:spPr>
        <p:txBody>
          <a:bodyPr wrap="square" tIns="36576" bIns="36576" anchor="ctr">
            <a:spAutoFit/>
          </a:bodyPr>
          <a:lstStyle/>
          <a:p>
            <a:pPr>
              <a:lnSpc>
                <a:spcPts val="2808"/>
              </a:lnSpc>
              <a:spcBef>
                <a:spcPts val="0"/>
              </a:spcBef>
              <a:spcAft>
                <a:spcPts val="0"/>
              </a:spcAft>
              <a:defRPr sz="2600" b="1">
                <a:solidFill>
                  <a:srgbClr val="182B3A"/>
                </a:solidFill>
                <a:latin typeface="Arial"/>
              </a:defRPr>
            </a:pPr>
            <a:r>
              <a:t>66 ÷ 3</a:t>
            </a:r>
          </a:p>
        </p:txBody>
      </p:sp>
      <p:sp>
        <p:nvSpPr>
          <p:cNvPr id="17" name="Rectangle 16"/>
          <p:cNvSpPr/>
          <p:nvPr/>
        </p:nvSpPr>
        <p:spPr>
          <a:xfrm>
            <a:off x="6406895" y="1581912"/>
            <a:ext cx="3919727" cy="594360"/>
          </a:xfrm>
          <a:prstGeom prst="rect">
            <a:avLst/>
          </a:prstGeom>
          <a:solidFill>
            <a:srgbClr val="EFF3FA"/>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8" name="TextBox 17"/>
          <p:cNvSpPr txBox="1"/>
          <p:nvPr/>
        </p:nvSpPr>
        <p:spPr>
          <a:xfrm>
            <a:off x="6461759" y="1636776"/>
            <a:ext cx="3809999" cy="484632"/>
          </a:xfrm>
          <a:prstGeom prst="rect">
            <a:avLst/>
          </a:prstGeom>
          <a:noFill/>
        </p:spPr>
        <p:txBody>
          <a:bodyPr wrap="square" tIns="36576" bIns="36576" anchor="ctr">
            <a:spAutoFit/>
          </a:bodyPr>
          <a:lstStyle/>
          <a:p>
            <a:pPr>
              <a:lnSpc>
                <a:spcPts val="2808"/>
              </a:lnSpc>
              <a:spcBef>
                <a:spcPts val="0"/>
              </a:spcBef>
              <a:spcAft>
                <a:spcPts val="0"/>
              </a:spcAft>
              <a:defRPr sz="2600" b="1">
                <a:solidFill>
                  <a:srgbClr val="182B3A"/>
                </a:solidFill>
                <a:latin typeface="Arial"/>
              </a:defRPr>
            </a:pPr>
            <a:r>
              <a:t>227 ÷ 6</a:t>
            </a:r>
          </a:p>
        </p:txBody>
      </p:sp>
      <p:sp>
        <p:nvSpPr>
          <p:cNvPr id="19" name="Rectangle 18"/>
          <p:cNvSpPr/>
          <p:nvPr/>
        </p:nvSpPr>
        <p:spPr>
          <a:xfrm>
            <a:off x="10326624" y="1581912"/>
            <a:ext cx="3919727" cy="594360"/>
          </a:xfrm>
          <a:prstGeom prst="rect">
            <a:avLst/>
          </a:prstGeom>
          <a:solidFill>
            <a:srgbClr val="F5F0F7"/>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20" name="TextBox 19"/>
          <p:cNvSpPr txBox="1"/>
          <p:nvPr/>
        </p:nvSpPr>
        <p:spPr>
          <a:xfrm>
            <a:off x="10381488" y="1636776"/>
            <a:ext cx="3809999" cy="484632"/>
          </a:xfrm>
          <a:prstGeom prst="rect">
            <a:avLst/>
          </a:prstGeom>
          <a:noFill/>
        </p:spPr>
        <p:txBody>
          <a:bodyPr wrap="square" tIns="36576" bIns="36576" anchor="ctr">
            <a:spAutoFit/>
          </a:bodyPr>
          <a:lstStyle/>
          <a:p>
            <a:pPr>
              <a:lnSpc>
                <a:spcPts val="2808"/>
              </a:lnSpc>
              <a:spcBef>
                <a:spcPts val="0"/>
              </a:spcBef>
              <a:spcAft>
                <a:spcPts val="0"/>
              </a:spcAft>
              <a:defRPr sz="2600" b="1">
                <a:solidFill>
                  <a:srgbClr val="182B3A"/>
                </a:solidFill>
                <a:latin typeface="Arial"/>
              </a:defRPr>
            </a:pPr>
            <a:r>
              <a:t>3,827 ÷ 25</a:t>
            </a:r>
          </a:p>
        </p:txBody>
      </p:sp>
      <p:sp>
        <p:nvSpPr>
          <p:cNvPr id="21" name="Rectangle 20"/>
          <p:cNvSpPr/>
          <p:nvPr/>
        </p:nvSpPr>
        <p:spPr>
          <a:xfrm>
            <a:off x="384048" y="2176272"/>
            <a:ext cx="2103120" cy="1280160"/>
          </a:xfrm>
          <a:prstGeom prst="rect">
            <a:avLst/>
          </a:prstGeom>
          <a:solidFill>
            <a:srgbClr val="E8EDF1"/>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22" name="TextBox 21"/>
          <p:cNvSpPr txBox="1"/>
          <p:nvPr/>
        </p:nvSpPr>
        <p:spPr>
          <a:xfrm>
            <a:off x="448056" y="2267712"/>
            <a:ext cx="1975103" cy="1097280"/>
          </a:xfrm>
          <a:prstGeom prst="rect">
            <a:avLst/>
          </a:prstGeom>
          <a:noFill/>
        </p:spPr>
        <p:txBody>
          <a:bodyPr wrap="square" tIns="36576" bIns="36576" anchor="t">
            <a:spAutoFit/>
          </a:bodyPr>
          <a:lstStyle/>
          <a:p>
            <a:pPr>
              <a:lnSpc>
                <a:spcPts val="1944"/>
              </a:lnSpc>
              <a:spcBef>
                <a:spcPts val="0"/>
              </a:spcBef>
              <a:spcAft>
                <a:spcPts val="0"/>
              </a:spcAft>
              <a:defRPr sz="1800" b="1">
                <a:solidFill>
                  <a:srgbClr val="182B3A"/>
                </a:solidFill>
                <a:latin typeface="Arial"/>
              </a:defRPr>
            </a:pPr>
            <a:r>
              <a:t>1. Draw Frame &amp; Position Digits</a:t>
            </a:r>
          </a:p>
        </p:txBody>
      </p:sp>
      <p:sp>
        <p:nvSpPr>
          <p:cNvPr id="23" name="Rectangle 22"/>
          <p:cNvSpPr/>
          <p:nvPr/>
        </p:nvSpPr>
        <p:spPr>
          <a:xfrm>
            <a:off x="2487168" y="2176272"/>
            <a:ext cx="3919727" cy="128016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24" name="TextBox 23"/>
          <p:cNvSpPr txBox="1"/>
          <p:nvPr/>
        </p:nvSpPr>
        <p:spPr>
          <a:xfrm>
            <a:off x="2551175" y="2240279"/>
            <a:ext cx="3791712" cy="1115568"/>
          </a:xfrm>
          <a:prstGeom prst="rect">
            <a:avLst/>
          </a:prstGeom>
          <a:noFill/>
        </p:spPr>
        <p:txBody>
          <a:bodyPr wrap="square" tIns="36576" bIns="36576" anchor="t">
            <a:spAutoFit/>
          </a:bodyPr>
          <a:lstStyle/>
          <a:p>
            <a:pPr>
              <a:lnSpc>
                <a:spcPts val="2052"/>
              </a:lnSpc>
              <a:spcBef>
                <a:spcPts val="0"/>
              </a:spcBef>
              <a:spcAft>
                <a:spcPts val="0"/>
              </a:spcAft>
              <a:defRPr sz="1900" b="0">
                <a:solidFill>
                  <a:srgbClr val="182B3A"/>
                </a:solidFill>
                <a:latin typeface="Arial"/>
              </a:defRPr>
            </a:pPr>
            <a:r>
              <a:t>Draw the frame. Dividend inside; divisor outside on the left. Space the digits clearly.</a:t>
            </a:r>
          </a:p>
        </p:txBody>
      </p:sp>
      <p:sp>
        <p:nvSpPr>
          <p:cNvPr id="25" name="Rectangle 24"/>
          <p:cNvSpPr/>
          <p:nvPr/>
        </p:nvSpPr>
        <p:spPr>
          <a:xfrm>
            <a:off x="6406895" y="2176272"/>
            <a:ext cx="3919727" cy="128016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26" name="TextBox 25"/>
          <p:cNvSpPr txBox="1"/>
          <p:nvPr/>
        </p:nvSpPr>
        <p:spPr>
          <a:xfrm>
            <a:off x="6470904" y="2240279"/>
            <a:ext cx="3791712" cy="1115568"/>
          </a:xfrm>
          <a:prstGeom prst="rect">
            <a:avLst/>
          </a:prstGeom>
          <a:noFill/>
        </p:spPr>
        <p:txBody>
          <a:bodyPr wrap="square" tIns="36576" bIns="36576" anchor="t">
            <a:spAutoFit/>
          </a:bodyPr>
          <a:lstStyle/>
          <a:p>
            <a:pPr>
              <a:lnSpc>
                <a:spcPts val="2052"/>
              </a:lnSpc>
              <a:spcBef>
                <a:spcPts val="0"/>
              </a:spcBef>
              <a:spcAft>
                <a:spcPts val="0"/>
              </a:spcAft>
              <a:defRPr sz="1900" b="0">
                <a:solidFill>
                  <a:srgbClr val="182B3A"/>
                </a:solidFill>
                <a:latin typeface="Arial"/>
              </a:defRPr>
            </a:pPr>
            <a:r>
              <a:t>Draw the frame. Dividend inside; divisor outside on the left. Space the digits clearly.</a:t>
            </a:r>
          </a:p>
        </p:txBody>
      </p:sp>
      <p:sp>
        <p:nvSpPr>
          <p:cNvPr id="27" name="Rectangle 26"/>
          <p:cNvSpPr/>
          <p:nvPr/>
        </p:nvSpPr>
        <p:spPr>
          <a:xfrm>
            <a:off x="10326624" y="2176272"/>
            <a:ext cx="3919727" cy="128016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28" name="TextBox 27"/>
          <p:cNvSpPr txBox="1"/>
          <p:nvPr/>
        </p:nvSpPr>
        <p:spPr>
          <a:xfrm>
            <a:off x="10390632" y="2240279"/>
            <a:ext cx="3791712" cy="1115568"/>
          </a:xfrm>
          <a:prstGeom prst="rect">
            <a:avLst/>
          </a:prstGeom>
          <a:noFill/>
        </p:spPr>
        <p:txBody>
          <a:bodyPr wrap="square" tIns="36576" bIns="36576" anchor="t">
            <a:spAutoFit/>
          </a:bodyPr>
          <a:lstStyle/>
          <a:p>
            <a:pPr>
              <a:lnSpc>
                <a:spcPts val="2052"/>
              </a:lnSpc>
              <a:spcBef>
                <a:spcPts val="0"/>
              </a:spcBef>
              <a:spcAft>
                <a:spcPts val="0"/>
              </a:spcAft>
              <a:defRPr sz="1900" b="0">
                <a:solidFill>
                  <a:srgbClr val="182B3A"/>
                </a:solidFill>
                <a:latin typeface="Arial"/>
              </a:defRPr>
            </a:pPr>
            <a:r>
              <a:t>Draw the frame. Dividend inside; divisor outside on the left. Space the digits clearly.</a:t>
            </a:r>
          </a:p>
        </p:txBody>
      </p:sp>
      <p:sp>
        <p:nvSpPr>
          <p:cNvPr id="29" name="Rectangle 28"/>
          <p:cNvSpPr/>
          <p:nvPr/>
        </p:nvSpPr>
        <p:spPr>
          <a:xfrm>
            <a:off x="384048" y="3456432"/>
            <a:ext cx="2103120" cy="1600200"/>
          </a:xfrm>
          <a:prstGeom prst="rect">
            <a:avLst/>
          </a:prstGeom>
          <a:solidFill>
            <a:srgbClr val="E8EDF1"/>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30" name="TextBox 29"/>
          <p:cNvSpPr txBox="1"/>
          <p:nvPr/>
        </p:nvSpPr>
        <p:spPr>
          <a:xfrm>
            <a:off x="448056" y="3547872"/>
            <a:ext cx="1975103" cy="1417320"/>
          </a:xfrm>
          <a:prstGeom prst="rect">
            <a:avLst/>
          </a:prstGeom>
          <a:noFill/>
        </p:spPr>
        <p:txBody>
          <a:bodyPr wrap="square" tIns="36576" bIns="36576" anchor="t">
            <a:spAutoFit/>
          </a:bodyPr>
          <a:lstStyle/>
          <a:p>
            <a:pPr>
              <a:lnSpc>
                <a:spcPts val="1944"/>
              </a:lnSpc>
              <a:spcBef>
                <a:spcPts val="0"/>
              </a:spcBef>
              <a:spcAft>
                <a:spcPts val="0"/>
              </a:spcAft>
              <a:defRPr sz="1800" b="1">
                <a:solidFill>
                  <a:srgbClr val="182B3A"/>
                </a:solidFill>
                <a:latin typeface="Arial"/>
              </a:defRPr>
            </a:pPr>
            <a:r>
              <a:t>2. Divide Left-to-Right &amp; Carry</a:t>
            </a:r>
          </a:p>
        </p:txBody>
      </p:sp>
      <p:sp>
        <p:nvSpPr>
          <p:cNvPr id="31" name="Rectangle 30"/>
          <p:cNvSpPr/>
          <p:nvPr/>
        </p:nvSpPr>
        <p:spPr>
          <a:xfrm>
            <a:off x="2487168" y="3456432"/>
            <a:ext cx="3919727" cy="160020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32" name="TextBox 31"/>
          <p:cNvSpPr txBox="1"/>
          <p:nvPr/>
        </p:nvSpPr>
        <p:spPr>
          <a:xfrm>
            <a:off x="2551175" y="3520439"/>
            <a:ext cx="3791712" cy="1435608"/>
          </a:xfrm>
          <a:prstGeom prst="rect">
            <a:avLst/>
          </a:prstGeom>
          <a:noFill/>
        </p:spPr>
        <p:txBody>
          <a:bodyPr wrap="square" tIns="36576" bIns="36576" anchor="t">
            <a:spAutoFit/>
          </a:bodyPr>
          <a:lstStyle/>
          <a:p>
            <a:pPr>
              <a:lnSpc>
                <a:spcPts val="2160"/>
              </a:lnSpc>
              <a:spcBef>
                <a:spcPts val="0"/>
              </a:spcBef>
              <a:spcAft>
                <a:spcPts val="0"/>
              </a:spcAft>
              <a:defRPr sz="2000" b="0">
                <a:solidFill>
                  <a:srgbClr val="182B3A"/>
                </a:solidFill>
                <a:latin typeface="Arial"/>
              </a:defRPr>
            </a:pPr>
            <a:r>
              <a:t>Work left to right. Write how many whole times the divisor fits above the matching digit. Carry the remainder as a small prefix to the next digit.</a:t>
            </a:r>
          </a:p>
        </p:txBody>
      </p:sp>
      <p:sp>
        <p:nvSpPr>
          <p:cNvPr id="33" name="Rectangle 32"/>
          <p:cNvSpPr/>
          <p:nvPr/>
        </p:nvSpPr>
        <p:spPr>
          <a:xfrm>
            <a:off x="6406895" y="3456432"/>
            <a:ext cx="3919727" cy="160020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34" name="TextBox 33"/>
          <p:cNvSpPr txBox="1"/>
          <p:nvPr/>
        </p:nvSpPr>
        <p:spPr>
          <a:xfrm>
            <a:off x="6470904" y="3520439"/>
            <a:ext cx="3791712" cy="1435608"/>
          </a:xfrm>
          <a:prstGeom prst="rect">
            <a:avLst/>
          </a:prstGeom>
          <a:noFill/>
        </p:spPr>
        <p:txBody>
          <a:bodyPr wrap="square" tIns="36576" bIns="36576" anchor="t">
            <a:spAutoFit/>
          </a:bodyPr>
          <a:lstStyle/>
          <a:p>
            <a:pPr>
              <a:lnSpc>
                <a:spcPts val="2160"/>
              </a:lnSpc>
              <a:spcBef>
                <a:spcPts val="0"/>
              </a:spcBef>
              <a:spcAft>
                <a:spcPts val="0"/>
              </a:spcAft>
              <a:defRPr sz="2000" b="0">
                <a:solidFill>
                  <a:srgbClr val="182B3A"/>
                </a:solidFill>
                <a:latin typeface="Arial"/>
              </a:defRPr>
            </a:pPr>
            <a:r>
              <a:t>Work left to right. Write how many whole times the divisor fits above the matching digit. Carry the remainder as a small prefix to the next digit.</a:t>
            </a:r>
          </a:p>
        </p:txBody>
      </p:sp>
      <p:sp>
        <p:nvSpPr>
          <p:cNvPr id="35" name="Rectangle 34"/>
          <p:cNvSpPr/>
          <p:nvPr/>
        </p:nvSpPr>
        <p:spPr>
          <a:xfrm>
            <a:off x="10326624" y="3456432"/>
            <a:ext cx="3919727" cy="160020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36" name="TextBox 35"/>
          <p:cNvSpPr txBox="1"/>
          <p:nvPr/>
        </p:nvSpPr>
        <p:spPr>
          <a:xfrm>
            <a:off x="10390632" y="3520439"/>
            <a:ext cx="3791712" cy="1435608"/>
          </a:xfrm>
          <a:prstGeom prst="rect">
            <a:avLst/>
          </a:prstGeom>
          <a:noFill/>
        </p:spPr>
        <p:txBody>
          <a:bodyPr wrap="square" tIns="36576" bIns="36576" anchor="t">
            <a:spAutoFit/>
          </a:bodyPr>
          <a:lstStyle/>
          <a:p>
            <a:pPr>
              <a:lnSpc>
                <a:spcPts val="2160"/>
              </a:lnSpc>
              <a:spcBef>
                <a:spcPts val="0"/>
              </a:spcBef>
              <a:spcAft>
                <a:spcPts val="0"/>
              </a:spcAft>
              <a:defRPr sz="2000" b="0">
                <a:solidFill>
                  <a:srgbClr val="182B3A"/>
                </a:solidFill>
                <a:latin typeface="Arial"/>
              </a:defRPr>
            </a:pPr>
            <a:r>
              <a:t>Work left to right. Write how many whole times the divisor fits above the matching digit. Carry the remainder as a small prefix to the next digit.</a:t>
            </a:r>
          </a:p>
        </p:txBody>
      </p:sp>
      <p:sp>
        <p:nvSpPr>
          <p:cNvPr id="37" name="Rectangle 36"/>
          <p:cNvSpPr/>
          <p:nvPr/>
        </p:nvSpPr>
        <p:spPr>
          <a:xfrm>
            <a:off x="384048" y="5056631"/>
            <a:ext cx="2103120" cy="1554480"/>
          </a:xfrm>
          <a:prstGeom prst="rect">
            <a:avLst/>
          </a:prstGeom>
          <a:solidFill>
            <a:srgbClr val="E8EDF1"/>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38" name="TextBox 37"/>
          <p:cNvSpPr txBox="1"/>
          <p:nvPr/>
        </p:nvSpPr>
        <p:spPr>
          <a:xfrm>
            <a:off x="448056" y="5148071"/>
            <a:ext cx="1975103" cy="1371600"/>
          </a:xfrm>
          <a:prstGeom prst="rect">
            <a:avLst/>
          </a:prstGeom>
          <a:noFill/>
        </p:spPr>
        <p:txBody>
          <a:bodyPr wrap="square" tIns="36576" bIns="36576" anchor="t">
            <a:spAutoFit/>
          </a:bodyPr>
          <a:lstStyle/>
          <a:p>
            <a:pPr>
              <a:lnSpc>
                <a:spcPts val="1944"/>
              </a:lnSpc>
              <a:spcBef>
                <a:spcPts val="0"/>
              </a:spcBef>
              <a:spcAft>
                <a:spcPts val="0"/>
              </a:spcAft>
              <a:defRPr sz="1800" b="1">
                <a:solidFill>
                  <a:srgbClr val="182B3A"/>
                </a:solidFill>
                <a:latin typeface="Arial"/>
              </a:defRPr>
            </a:pPr>
            <a:r>
              <a:t>3. Track Remainders or Decimals</a:t>
            </a:r>
          </a:p>
        </p:txBody>
      </p:sp>
      <p:sp>
        <p:nvSpPr>
          <p:cNvPr id="39" name="Rectangle 38"/>
          <p:cNvSpPr/>
          <p:nvPr/>
        </p:nvSpPr>
        <p:spPr>
          <a:xfrm>
            <a:off x="2487168" y="5056631"/>
            <a:ext cx="3919727" cy="155448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40" name="TextBox 39"/>
          <p:cNvSpPr txBox="1"/>
          <p:nvPr/>
        </p:nvSpPr>
        <p:spPr>
          <a:xfrm>
            <a:off x="2551175" y="5120640"/>
            <a:ext cx="3791712" cy="1389888"/>
          </a:xfrm>
          <a:prstGeom prst="rect">
            <a:avLst/>
          </a:prstGeom>
          <a:noFill/>
        </p:spPr>
        <p:txBody>
          <a:bodyPr wrap="square" tIns="36576" bIns="36576" anchor="t">
            <a:spAutoFit/>
          </a:bodyPr>
          <a:lstStyle/>
          <a:p>
            <a:pPr>
              <a:lnSpc>
                <a:spcPts val="2052"/>
              </a:lnSpc>
              <a:spcBef>
                <a:spcPts val="0"/>
              </a:spcBef>
              <a:spcAft>
                <a:spcPts val="0"/>
              </a:spcAft>
              <a:defRPr sz="1900" b="0">
                <a:solidFill>
                  <a:srgbClr val="182B3A"/>
                </a:solidFill>
                <a:latin typeface="Arial"/>
              </a:defRPr>
            </a:pPr>
            <a:r>
              <a:t>Check the final remainder. Build: write any remainder as r. Confidence: add a decimal point and zeros. Continue until the remainder is 0.</a:t>
            </a:r>
          </a:p>
        </p:txBody>
      </p:sp>
      <p:sp>
        <p:nvSpPr>
          <p:cNvPr id="41" name="Rectangle 40"/>
          <p:cNvSpPr/>
          <p:nvPr/>
        </p:nvSpPr>
        <p:spPr>
          <a:xfrm>
            <a:off x="6406895" y="5056631"/>
            <a:ext cx="3919727" cy="155448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42" name="TextBox 41"/>
          <p:cNvSpPr txBox="1"/>
          <p:nvPr/>
        </p:nvSpPr>
        <p:spPr>
          <a:xfrm>
            <a:off x="6470904" y="5120640"/>
            <a:ext cx="3791712" cy="1389888"/>
          </a:xfrm>
          <a:prstGeom prst="rect">
            <a:avLst/>
          </a:prstGeom>
          <a:noFill/>
        </p:spPr>
        <p:txBody>
          <a:bodyPr wrap="square" tIns="36576" bIns="36576" anchor="t">
            <a:spAutoFit/>
          </a:bodyPr>
          <a:lstStyle/>
          <a:p>
            <a:pPr>
              <a:lnSpc>
                <a:spcPts val="2052"/>
              </a:lnSpc>
              <a:spcBef>
                <a:spcPts val="0"/>
              </a:spcBef>
              <a:spcAft>
                <a:spcPts val="0"/>
              </a:spcAft>
              <a:defRPr sz="1900" b="0">
                <a:solidFill>
                  <a:srgbClr val="182B3A"/>
                </a:solidFill>
                <a:latin typeface="Arial"/>
              </a:defRPr>
            </a:pPr>
            <a:r>
              <a:t>Check the final remainder. Build: write any remainder as r. Confidence: add a decimal point and zeros. Continue until the remainder is 0.</a:t>
            </a:r>
          </a:p>
        </p:txBody>
      </p:sp>
      <p:sp>
        <p:nvSpPr>
          <p:cNvPr id="43" name="Rectangle 42"/>
          <p:cNvSpPr/>
          <p:nvPr/>
        </p:nvSpPr>
        <p:spPr>
          <a:xfrm>
            <a:off x="10326624" y="5056631"/>
            <a:ext cx="3919727" cy="155448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44" name="TextBox 43"/>
          <p:cNvSpPr txBox="1"/>
          <p:nvPr/>
        </p:nvSpPr>
        <p:spPr>
          <a:xfrm>
            <a:off x="10390632" y="5120640"/>
            <a:ext cx="3791712" cy="1389888"/>
          </a:xfrm>
          <a:prstGeom prst="rect">
            <a:avLst/>
          </a:prstGeom>
          <a:noFill/>
        </p:spPr>
        <p:txBody>
          <a:bodyPr wrap="square" tIns="36576" bIns="36576" anchor="t">
            <a:spAutoFit/>
          </a:bodyPr>
          <a:lstStyle/>
          <a:p>
            <a:pPr>
              <a:lnSpc>
                <a:spcPts val="2052"/>
              </a:lnSpc>
              <a:spcBef>
                <a:spcPts val="0"/>
              </a:spcBef>
              <a:spcAft>
                <a:spcPts val="0"/>
              </a:spcAft>
              <a:defRPr sz="1900" b="0">
                <a:solidFill>
                  <a:srgbClr val="182B3A"/>
                </a:solidFill>
                <a:latin typeface="Arial"/>
              </a:defRPr>
            </a:pPr>
            <a:r>
              <a:t>Check the final remainder. Build: write any remainder as r. Confidence: add a decimal point and zeros. Continue until the remainder is 0.</a:t>
            </a:r>
          </a:p>
        </p:txBody>
      </p:sp>
      <p:sp>
        <p:nvSpPr>
          <p:cNvPr id="45" name="Rectangle 44"/>
          <p:cNvSpPr/>
          <p:nvPr/>
        </p:nvSpPr>
        <p:spPr>
          <a:xfrm>
            <a:off x="384048" y="6611112"/>
            <a:ext cx="2103120" cy="1097280"/>
          </a:xfrm>
          <a:prstGeom prst="rect">
            <a:avLst/>
          </a:prstGeom>
          <a:solidFill>
            <a:srgbClr val="E8EDF1"/>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46" name="TextBox 45"/>
          <p:cNvSpPr txBox="1"/>
          <p:nvPr/>
        </p:nvSpPr>
        <p:spPr>
          <a:xfrm>
            <a:off x="448056" y="6702551"/>
            <a:ext cx="1975103" cy="914400"/>
          </a:xfrm>
          <a:prstGeom prst="rect">
            <a:avLst/>
          </a:prstGeom>
          <a:noFill/>
        </p:spPr>
        <p:txBody>
          <a:bodyPr wrap="square" tIns="36576" bIns="36576" anchor="t">
            <a:spAutoFit/>
          </a:bodyPr>
          <a:lstStyle/>
          <a:p>
            <a:pPr>
              <a:lnSpc>
                <a:spcPts val="1944"/>
              </a:lnSpc>
              <a:spcBef>
                <a:spcPts val="0"/>
              </a:spcBef>
              <a:spcAft>
                <a:spcPts val="0"/>
              </a:spcAft>
              <a:defRPr sz="1800" b="1">
                <a:solidFill>
                  <a:srgbClr val="182B3A"/>
                </a:solidFill>
                <a:latin typeface="Arial"/>
              </a:defRPr>
            </a:pPr>
            <a:r>
              <a:t>4. Write Final Quotient</a:t>
            </a:r>
          </a:p>
        </p:txBody>
      </p:sp>
      <p:sp>
        <p:nvSpPr>
          <p:cNvPr id="47" name="Rectangle 46"/>
          <p:cNvSpPr/>
          <p:nvPr/>
        </p:nvSpPr>
        <p:spPr>
          <a:xfrm>
            <a:off x="2487168" y="6611112"/>
            <a:ext cx="3919727" cy="109728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48" name="TextBox 47"/>
          <p:cNvSpPr txBox="1"/>
          <p:nvPr/>
        </p:nvSpPr>
        <p:spPr>
          <a:xfrm>
            <a:off x="2551175" y="6675120"/>
            <a:ext cx="3791712" cy="932688"/>
          </a:xfrm>
          <a:prstGeom prst="rect">
            <a:avLst/>
          </a:prstGeom>
          <a:noFill/>
        </p:spPr>
        <p:txBody>
          <a:bodyPr wrap="square" tIns="36576" bIns="36576" anchor="t">
            <a:spAutoFit/>
          </a:bodyPr>
          <a:lstStyle/>
          <a:p>
            <a:pPr>
              <a:lnSpc>
                <a:spcPts val="2160"/>
              </a:lnSpc>
              <a:spcBef>
                <a:spcPts val="0"/>
              </a:spcBef>
              <a:spcAft>
                <a:spcPts val="0"/>
              </a:spcAft>
              <a:defRPr sz="2000" b="0">
                <a:solidFill>
                  <a:srgbClr val="182B3A"/>
                </a:solidFill>
                <a:latin typeface="Arial"/>
              </a:defRPr>
            </a:pPr>
            <a:r>
              <a:t>Write the complete answer. Keep place-value zeros. Align decimal points.</a:t>
            </a:r>
          </a:p>
        </p:txBody>
      </p:sp>
      <p:sp>
        <p:nvSpPr>
          <p:cNvPr id="49" name="Rectangle 48"/>
          <p:cNvSpPr/>
          <p:nvPr/>
        </p:nvSpPr>
        <p:spPr>
          <a:xfrm>
            <a:off x="6406895" y="6611112"/>
            <a:ext cx="3919727" cy="109728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50" name="TextBox 49"/>
          <p:cNvSpPr txBox="1"/>
          <p:nvPr/>
        </p:nvSpPr>
        <p:spPr>
          <a:xfrm>
            <a:off x="6470904" y="6675120"/>
            <a:ext cx="3791712" cy="932688"/>
          </a:xfrm>
          <a:prstGeom prst="rect">
            <a:avLst/>
          </a:prstGeom>
          <a:noFill/>
        </p:spPr>
        <p:txBody>
          <a:bodyPr wrap="square" tIns="36576" bIns="36576" anchor="t">
            <a:spAutoFit/>
          </a:bodyPr>
          <a:lstStyle/>
          <a:p>
            <a:pPr>
              <a:lnSpc>
                <a:spcPts val="2160"/>
              </a:lnSpc>
              <a:spcBef>
                <a:spcPts val="0"/>
              </a:spcBef>
              <a:spcAft>
                <a:spcPts val="0"/>
              </a:spcAft>
              <a:defRPr sz="2000" b="0">
                <a:solidFill>
                  <a:srgbClr val="182B3A"/>
                </a:solidFill>
                <a:latin typeface="Arial"/>
              </a:defRPr>
            </a:pPr>
            <a:r>
              <a:t>Write the complete answer. Keep place-value zeros. Align decimal points.</a:t>
            </a:r>
          </a:p>
        </p:txBody>
      </p:sp>
      <p:sp>
        <p:nvSpPr>
          <p:cNvPr id="51" name="Rectangle 50"/>
          <p:cNvSpPr/>
          <p:nvPr/>
        </p:nvSpPr>
        <p:spPr>
          <a:xfrm>
            <a:off x="10326624" y="6611112"/>
            <a:ext cx="3919727" cy="109728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52" name="TextBox 51"/>
          <p:cNvSpPr txBox="1"/>
          <p:nvPr/>
        </p:nvSpPr>
        <p:spPr>
          <a:xfrm>
            <a:off x="10390632" y="6675120"/>
            <a:ext cx="3791712" cy="932688"/>
          </a:xfrm>
          <a:prstGeom prst="rect">
            <a:avLst/>
          </a:prstGeom>
          <a:noFill/>
        </p:spPr>
        <p:txBody>
          <a:bodyPr wrap="square" tIns="36576" bIns="36576" anchor="t">
            <a:spAutoFit/>
          </a:bodyPr>
          <a:lstStyle/>
          <a:p>
            <a:pPr>
              <a:lnSpc>
                <a:spcPts val="2160"/>
              </a:lnSpc>
              <a:spcBef>
                <a:spcPts val="0"/>
              </a:spcBef>
              <a:spcAft>
                <a:spcPts val="0"/>
              </a:spcAft>
              <a:defRPr sz="2000" b="0">
                <a:solidFill>
                  <a:srgbClr val="182B3A"/>
                </a:solidFill>
                <a:latin typeface="Arial"/>
              </a:defRPr>
            </a:pPr>
            <a:r>
              <a:t>Write the complete answer. Keep place-value zeros. Align decimal points.</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7F8FA"/>
        </a:solidFill>
        <a:effectLst/>
      </p:bgPr>
    </p:bg>
    <p:spTree>
      <p:nvGrpSpPr>
        <p:cNvPr id="1" name=""/>
        <p:cNvGrpSpPr/>
        <p:nvPr/>
      </p:nvGrpSpPr>
      <p:grpSpPr/>
      <p:sp>
        <p:nvSpPr>
          <p:cNvPr id="2" name="Rectangle 1"/>
          <p:cNvSpPr/>
          <p:nvPr/>
        </p:nvSpPr>
        <p:spPr>
          <a:xfrm>
            <a:off x="0" y="0"/>
            <a:ext cx="14630400" cy="91440"/>
          </a:xfrm>
          <a:prstGeom prst="rect">
            <a:avLst/>
          </a:prstGeom>
          <a:solidFill>
            <a:srgbClr val="176B73"/>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 name="TextBox 2"/>
          <p:cNvSpPr txBox="1"/>
          <p:nvPr/>
        </p:nvSpPr>
        <p:spPr>
          <a:xfrm>
            <a:off x="384048" y="219456"/>
            <a:ext cx="13807440" cy="457200"/>
          </a:xfrm>
          <a:prstGeom prst="rect">
            <a:avLst/>
          </a:prstGeom>
          <a:noFill/>
        </p:spPr>
        <p:txBody>
          <a:bodyPr wrap="square" tIns="36576" bIns="36576" anchor="t">
            <a:spAutoFit/>
          </a:bodyPr>
          <a:lstStyle/>
          <a:p>
            <a:pPr>
              <a:lnSpc>
                <a:spcPts val="3132"/>
              </a:lnSpc>
              <a:spcBef>
                <a:spcPts val="0"/>
              </a:spcBef>
              <a:spcAft>
                <a:spcPts val="0"/>
              </a:spcAft>
              <a:defRPr sz="2900" b="1">
                <a:solidFill>
                  <a:srgbClr val="182B3A"/>
                </a:solidFill>
                <a:latin typeface="Arial"/>
              </a:defRPr>
            </a:pPr>
            <a:r>
              <a:t>Bus Stop Division — spot the errors</a:t>
            </a:r>
          </a:p>
        </p:txBody>
      </p:sp>
      <p:sp>
        <p:nvSpPr>
          <p:cNvPr id="4" name="TextBox 3"/>
          <p:cNvSpPr txBox="1"/>
          <p:nvPr/>
        </p:nvSpPr>
        <p:spPr>
          <a:xfrm>
            <a:off x="384048" y="740664"/>
            <a:ext cx="13807440" cy="411480"/>
          </a:xfrm>
          <a:prstGeom prst="rect">
            <a:avLst/>
          </a:prstGeom>
          <a:noFill/>
        </p:spPr>
        <p:txBody>
          <a:bodyPr wrap="square" tIns="36576" bIns="36576" anchor="t">
            <a:spAutoFit/>
          </a:bodyPr>
          <a:lstStyle/>
          <a:p>
            <a:pPr>
              <a:lnSpc>
                <a:spcPts val="1836"/>
              </a:lnSpc>
              <a:spcBef>
                <a:spcPts val="0"/>
              </a:spcBef>
              <a:spcAft>
                <a:spcPts val="0"/>
              </a:spcAft>
              <a:defRPr sz="1700" b="0">
                <a:solidFill>
                  <a:srgbClr val="526472"/>
                </a:solidFill>
                <a:latin typeface="Arial"/>
              </a:defRPr>
            </a:pPr>
            <a:r>
              <a:t>Each student’s working contains a mistake. Find it, correct the working and give the right answer.</a:t>
            </a:r>
          </a:p>
        </p:txBody>
      </p:sp>
      <p:sp>
        <p:nvSpPr>
          <p:cNvPr id="5" name="TextBox 4"/>
          <p:cNvSpPr txBox="1"/>
          <p:nvPr/>
        </p:nvSpPr>
        <p:spPr>
          <a:xfrm>
            <a:off x="384048" y="7863840"/>
            <a:ext cx="13716000" cy="256032"/>
          </a:xfrm>
          <a:prstGeom prst="rect">
            <a:avLst/>
          </a:prstGeom>
          <a:noFill/>
        </p:spPr>
        <p:txBody>
          <a:bodyPr wrap="square" tIns="36576" bIns="36576" anchor="t">
            <a:spAutoFit/>
          </a:bodyPr>
          <a:lstStyle/>
          <a:p>
            <a:pPr>
              <a:lnSpc>
                <a:spcPts val="1188"/>
              </a:lnSpc>
              <a:spcBef>
                <a:spcPts val="0"/>
              </a:spcBef>
              <a:spcAft>
                <a:spcPts val="0"/>
              </a:spcAft>
              <a:defRPr sz="1100" b="0">
                <a:solidFill>
                  <a:srgbClr val="526472"/>
                </a:solidFill>
                <a:latin typeface="Arial"/>
              </a:defRPr>
            </a:pPr>
            <a:r>
              <a:t>M02-SE  •  Record your working in your booklet or webapp.</a:t>
            </a:r>
          </a:p>
        </p:txBody>
      </p:sp>
      <p:sp>
        <p:nvSpPr>
          <p:cNvPr id="6" name="Rectangle 5"/>
          <p:cNvSpPr/>
          <p:nvPr/>
        </p:nvSpPr>
        <p:spPr>
          <a:xfrm>
            <a:off x="384048" y="1234440"/>
            <a:ext cx="4588764" cy="420624"/>
          </a:xfrm>
          <a:prstGeom prst="rect">
            <a:avLst/>
          </a:prstGeom>
          <a:solidFill>
            <a:srgbClr val="176B73"/>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7" name="TextBox 6"/>
          <p:cNvSpPr txBox="1"/>
          <p:nvPr/>
        </p:nvSpPr>
        <p:spPr>
          <a:xfrm>
            <a:off x="448056" y="1261872"/>
            <a:ext cx="4474464" cy="347472"/>
          </a:xfrm>
          <a:prstGeom prst="rect">
            <a:avLst/>
          </a:prstGeom>
          <a:noFill/>
        </p:spPr>
        <p:txBody>
          <a:bodyPr wrap="square" tIns="36576" bIns="36576" anchor="t">
            <a:spAutoFit/>
          </a:bodyPr>
          <a:lstStyle/>
          <a:p>
            <a:pPr>
              <a:lnSpc>
                <a:spcPts val="2160"/>
              </a:lnSpc>
              <a:spcBef>
                <a:spcPts val="0"/>
              </a:spcBef>
              <a:spcAft>
                <a:spcPts val="0"/>
              </a:spcAft>
              <a:defRPr sz="2000" b="1">
                <a:solidFill>
                  <a:srgbClr val="FFFFFF"/>
                </a:solidFill>
                <a:latin typeface="Arial"/>
              </a:defRPr>
            </a:pPr>
            <a:r>
              <a:t>Start</a:t>
            </a:r>
          </a:p>
        </p:txBody>
      </p:sp>
      <p:sp>
        <p:nvSpPr>
          <p:cNvPr id="8" name="Rectangle 7"/>
          <p:cNvSpPr/>
          <p:nvPr/>
        </p:nvSpPr>
        <p:spPr>
          <a:xfrm>
            <a:off x="384048" y="1719072"/>
            <a:ext cx="4588764" cy="1929384"/>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9" name="TextBox 8"/>
          <p:cNvSpPr txBox="1"/>
          <p:nvPr/>
        </p:nvSpPr>
        <p:spPr>
          <a:xfrm>
            <a:off x="475488" y="1755648"/>
            <a:ext cx="4392168" cy="402336"/>
          </a:xfrm>
          <a:prstGeom prst="rect">
            <a:avLst/>
          </a:prstGeom>
          <a:noFill/>
        </p:spPr>
        <p:txBody>
          <a:bodyPr wrap="square" tIns="36576" bIns="36576" anchor="t">
            <a:spAutoFit/>
          </a:bodyPr>
          <a:lstStyle/>
          <a:p>
            <a:pPr>
              <a:lnSpc>
                <a:spcPts val="2268"/>
              </a:lnSpc>
              <a:spcBef>
                <a:spcPts val="0"/>
              </a:spcBef>
              <a:spcAft>
                <a:spcPts val="0"/>
              </a:spcAft>
              <a:defRPr sz="2100" b="1">
                <a:solidFill>
                  <a:srgbClr val="182B3A"/>
                </a:solidFill>
                <a:latin typeface="Arial"/>
              </a:defRPr>
            </a:pPr>
            <a:r>
              <a:t>1.  84 ÷ 4</a:t>
            </a:r>
          </a:p>
        </p:txBody>
      </p:sp>
      <p:cxnSp>
        <p:nvCxnSpPr>
          <p:cNvPr id="10" name="Connector 9"/>
          <p:cNvCxnSpPr/>
          <p:nvPr/>
        </p:nvCxnSpPr>
        <p:spPr>
          <a:xfrm>
            <a:off x="941831" y="2679191"/>
            <a:ext cx="923545" cy="0"/>
          </a:xfrm>
          <a:prstGeom prst="line">
            <a:avLst/>
          </a:prstGeom>
          <a:ln w="16510">
            <a:solidFill>
              <a:srgbClr val="182B3A"/>
            </a:solidFill>
          </a:ln>
        </p:spPr>
        <p:style>
          <a:lnRef idx="2">
            <a:schemeClr val="accent1"/>
          </a:lnRef>
          <a:fillRef idx="0">
            <a:schemeClr val="accent1"/>
          </a:fillRef>
          <a:effectRef idx="1">
            <a:schemeClr val="accent1"/>
          </a:effectRef>
          <a:fontRef idx="minor">
            <a:schemeClr val="tx1"/>
          </a:fontRef>
        </p:style>
      </p:cxnSp>
      <p:cxnSp>
        <p:nvCxnSpPr>
          <p:cNvPr id="11" name="Connector 10"/>
          <p:cNvCxnSpPr/>
          <p:nvPr/>
        </p:nvCxnSpPr>
        <p:spPr>
          <a:xfrm>
            <a:off x="941831" y="2679191"/>
            <a:ext cx="0" cy="356617"/>
          </a:xfrm>
          <a:prstGeom prst="line">
            <a:avLst/>
          </a:prstGeom>
          <a:ln w="16510">
            <a:solidFill>
              <a:srgbClr val="182B3A"/>
            </a:solidFill>
          </a:ln>
        </p:spPr>
        <p:style>
          <a:lnRef idx="2">
            <a:schemeClr val="accent1"/>
          </a:lnRef>
          <a:fillRef idx="0">
            <a:schemeClr val="accent1"/>
          </a:fillRef>
          <a:effectRef idx="1">
            <a:schemeClr val="accent1"/>
          </a:effectRef>
          <a:fontRef idx="minor">
            <a:schemeClr val="tx1"/>
          </a:fontRef>
        </p:style>
      </p:cxnSp>
      <p:sp>
        <p:nvSpPr>
          <p:cNvPr id="12" name="TextBox 11"/>
          <p:cNvSpPr txBox="1"/>
          <p:nvPr/>
        </p:nvSpPr>
        <p:spPr>
          <a:xfrm>
            <a:off x="566928" y="2702051"/>
            <a:ext cx="329184" cy="320040"/>
          </a:xfrm>
          <a:prstGeom prst="rect">
            <a:avLst/>
          </a:prstGeom>
          <a:noFill/>
        </p:spPr>
        <p:txBody>
          <a:bodyPr wrap="none" lIns="0" rIns="0" tIns="0" bIns="0">
            <a:spAutoFit/>
          </a:bodyPr>
          <a:lstStyle/>
          <a:p>
            <a:pPr algn="r">
              <a:lnSpc>
                <a:spcPts val="2464"/>
              </a:lnSpc>
              <a:spcBef>
                <a:spcPts val="0"/>
              </a:spcBef>
              <a:spcAft>
                <a:spcPts val="0"/>
              </a:spcAft>
              <a:defRPr sz="2200" b="0">
                <a:solidFill>
                  <a:srgbClr val="182B3A"/>
                </a:solidFill>
                <a:latin typeface="Arial"/>
              </a:defRPr>
            </a:pPr>
            <a:r>
              <a:t>4</a:t>
            </a:r>
          </a:p>
        </p:txBody>
      </p:sp>
      <p:sp>
        <p:nvSpPr>
          <p:cNvPr id="13" name="TextBox 12"/>
          <p:cNvSpPr txBox="1"/>
          <p:nvPr/>
        </p:nvSpPr>
        <p:spPr>
          <a:xfrm>
            <a:off x="996695" y="2711196"/>
            <a:ext cx="420624" cy="329184"/>
          </a:xfrm>
          <a:prstGeom prst="rect">
            <a:avLst/>
          </a:prstGeom>
          <a:noFill/>
        </p:spPr>
        <p:txBody>
          <a:bodyPr wrap="none" lIns="0" rIns="0" tIns="0" bIns="0">
            <a:spAutoFit/>
          </a:bodyPr>
          <a:lstStyle/>
          <a:p>
            <a:pPr algn="ctr">
              <a:lnSpc>
                <a:spcPts val="2688"/>
              </a:lnSpc>
              <a:spcBef>
                <a:spcPts val="0"/>
              </a:spcBef>
              <a:spcAft>
                <a:spcPts val="0"/>
              </a:spcAft>
              <a:defRPr sz="2400" b="0">
                <a:solidFill>
                  <a:srgbClr val="182B3A"/>
                </a:solidFill>
                <a:latin typeface="Arial"/>
              </a:defRPr>
            </a:pPr>
            <a:r>
              <a:t>8</a:t>
            </a:r>
          </a:p>
        </p:txBody>
      </p:sp>
      <p:sp>
        <p:nvSpPr>
          <p:cNvPr id="14" name="TextBox 13"/>
          <p:cNvSpPr txBox="1"/>
          <p:nvPr/>
        </p:nvSpPr>
        <p:spPr>
          <a:xfrm>
            <a:off x="996695" y="2350008"/>
            <a:ext cx="420624" cy="310896"/>
          </a:xfrm>
          <a:prstGeom prst="rect">
            <a:avLst/>
          </a:prstGeom>
          <a:noFill/>
        </p:spPr>
        <p:txBody>
          <a:bodyPr wrap="none" lIns="0" rIns="0" tIns="0" bIns="0">
            <a:spAutoFit/>
          </a:bodyPr>
          <a:lstStyle/>
          <a:p>
            <a:pPr algn="ctr">
              <a:lnSpc>
                <a:spcPts val="2688"/>
              </a:lnSpc>
              <a:spcBef>
                <a:spcPts val="0"/>
              </a:spcBef>
              <a:spcAft>
                <a:spcPts val="0"/>
              </a:spcAft>
              <a:defRPr sz="2400" b="0">
                <a:solidFill>
                  <a:srgbClr val="182B3A"/>
                </a:solidFill>
                <a:latin typeface="Arial"/>
              </a:defRPr>
            </a:pPr>
            <a:r>
              <a:t>2</a:t>
            </a:r>
          </a:p>
        </p:txBody>
      </p:sp>
      <p:sp>
        <p:nvSpPr>
          <p:cNvPr id="15" name="TextBox 14"/>
          <p:cNvSpPr txBox="1"/>
          <p:nvPr/>
        </p:nvSpPr>
        <p:spPr>
          <a:xfrm>
            <a:off x="1417319" y="2711196"/>
            <a:ext cx="420624" cy="329184"/>
          </a:xfrm>
          <a:prstGeom prst="rect">
            <a:avLst/>
          </a:prstGeom>
          <a:noFill/>
        </p:spPr>
        <p:txBody>
          <a:bodyPr wrap="none" lIns="0" rIns="0" tIns="0" bIns="0">
            <a:spAutoFit/>
          </a:bodyPr>
          <a:lstStyle/>
          <a:p>
            <a:pPr algn="ctr">
              <a:lnSpc>
                <a:spcPts val="2688"/>
              </a:lnSpc>
              <a:spcBef>
                <a:spcPts val="0"/>
              </a:spcBef>
              <a:spcAft>
                <a:spcPts val="0"/>
              </a:spcAft>
              <a:defRPr sz="2400" b="0">
                <a:solidFill>
                  <a:srgbClr val="182B3A"/>
                </a:solidFill>
                <a:latin typeface="Arial"/>
              </a:defRPr>
            </a:pPr>
            <a:r>
              <a:t>4</a:t>
            </a:r>
          </a:p>
        </p:txBody>
      </p:sp>
      <p:sp>
        <p:nvSpPr>
          <p:cNvPr id="16" name="TextBox 15"/>
          <p:cNvSpPr txBox="1"/>
          <p:nvPr/>
        </p:nvSpPr>
        <p:spPr>
          <a:xfrm>
            <a:off x="1417319" y="2350008"/>
            <a:ext cx="420624" cy="310896"/>
          </a:xfrm>
          <a:prstGeom prst="rect">
            <a:avLst/>
          </a:prstGeom>
          <a:noFill/>
        </p:spPr>
        <p:txBody>
          <a:bodyPr wrap="none" lIns="0" rIns="0" tIns="0" bIns="0">
            <a:spAutoFit/>
          </a:bodyPr>
          <a:lstStyle/>
          <a:p>
            <a:pPr algn="ctr">
              <a:lnSpc>
                <a:spcPts val="2688"/>
              </a:lnSpc>
              <a:spcBef>
                <a:spcPts val="0"/>
              </a:spcBef>
              <a:spcAft>
                <a:spcPts val="0"/>
              </a:spcAft>
              <a:defRPr sz="2400" b="0">
                <a:solidFill>
                  <a:srgbClr val="182B3A"/>
                </a:solidFill>
                <a:latin typeface="Arial"/>
              </a:defRPr>
            </a:pPr>
            <a:r>
              <a:t>0</a:t>
            </a:r>
          </a:p>
        </p:txBody>
      </p:sp>
      <p:sp>
        <p:nvSpPr>
          <p:cNvPr id="17" name="TextBox 16"/>
          <p:cNvSpPr txBox="1"/>
          <p:nvPr/>
        </p:nvSpPr>
        <p:spPr>
          <a:xfrm>
            <a:off x="603503" y="3255263"/>
            <a:ext cx="4206240" cy="320040"/>
          </a:xfrm>
          <a:prstGeom prst="rect">
            <a:avLst/>
          </a:prstGeom>
          <a:noFill/>
        </p:spPr>
        <p:txBody>
          <a:bodyPr wrap="none" lIns="0" rIns="0" tIns="0" bIns="0">
            <a:spAutoFit/>
          </a:bodyPr>
          <a:lstStyle/>
          <a:p>
            <a:pPr algn="l">
              <a:lnSpc>
                <a:spcPts val="2464"/>
              </a:lnSpc>
              <a:spcBef>
                <a:spcPts val="0"/>
              </a:spcBef>
              <a:spcAft>
                <a:spcPts val="0"/>
              </a:spcAft>
              <a:defRPr sz="2200" b="0">
                <a:solidFill>
                  <a:srgbClr val="182B3A"/>
                </a:solidFill>
                <a:latin typeface="Arial"/>
              </a:defRPr>
            </a:pPr>
            <a:r>
              <a:t>Answer: 20</a:t>
            </a:r>
          </a:p>
        </p:txBody>
      </p:sp>
      <p:sp>
        <p:nvSpPr>
          <p:cNvPr id="18" name="Rectangle 17"/>
          <p:cNvSpPr/>
          <p:nvPr/>
        </p:nvSpPr>
        <p:spPr>
          <a:xfrm>
            <a:off x="384048" y="3721608"/>
            <a:ext cx="4588764" cy="1929384"/>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9" name="TextBox 18"/>
          <p:cNvSpPr txBox="1"/>
          <p:nvPr/>
        </p:nvSpPr>
        <p:spPr>
          <a:xfrm>
            <a:off x="475488" y="3758184"/>
            <a:ext cx="4392168" cy="402336"/>
          </a:xfrm>
          <a:prstGeom prst="rect">
            <a:avLst/>
          </a:prstGeom>
          <a:noFill/>
        </p:spPr>
        <p:txBody>
          <a:bodyPr wrap="square" tIns="36576" bIns="36576" anchor="t">
            <a:spAutoFit/>
          </a:bodyPr>
          <a:lstStyle/>
          <a:p>
            <a:pPr>
              <a:lnSpc>
                <a:spcPts val="2268"/>
              </a:lnSpc>
              <a:spcBef>
                <a:spcPts val="0"/>
              </a:spcBef>
              <a:spcAft>
                <a:spcPts val="0"/>
              </a:spcAft>
              <a:defRPr sz="2100" b="1">
                <a:solidFill>
                  <a:srgbClr val="182B3A"/>
                </a:solidFill>
                <a:latin typeface="Arial"/>
              </a:defRPr>
            </a:pPr>
            <a:r>
              <a:t>2.  505 ÷ 5</a:t>
            </a:r>
          </a:p>
        </p:txBody>
      </p:sp>
      <p:cxnSp>
        <p:nvCxnSpPr>
          <p:cNvPr id="20" name="Connector 19"/>
          <p:cNvCxnSpPr/>
          <p:nvPr/>
        </p:nvCxnSpPr>
        <p:spPr>
          <a:xfrm>
            <a:off x="941831" y="4681728"/>
            <a:ext cx="1344168" cy="0"/>
          </a:xfrm>
          <a:prstGeom prst="line">
            <a:avLst/>
          </a:prstGeom>
          <a:ln w="16510">
            <a:solidFill>
              <a:srgbClr val="182B3A"/>
            </a:solidFill>
          </a:ln>
        </p:spPr>
        <p:style>
          <a:lnRef idx="2">
            <a:schemeClr val="accent1"/>
          </a:lnRef>
          <a:fillRef idx="0">
            <a:schemeClr val="accent1"/>
          </a:fillRef>
          <a:effectRef idx="1">
            <a:schemeClr val="accent1"/>
          </a:effectRef>
          <a:fontRef idx="minor">
            <a:schemeClr val="tx1"/>
          </a:fontRef>
        </p:style>
      </p:cxnSp>
      <p:cxnSp>
        <p:nvCxnSpPr>
          <p:cNvPr id="21" name="Connector 20"/>
          <p:cNvCxnSpPr/>
          <p:nvPr/>
        </p:nvCxnSpPr>
        <p:spPr>
          <a:xfrm>
            <a:off x="941831" y="4681728"/>
            <a:ext cx="0" cy="356616"/>
          </a:xfrm>
          <a:prstGeom prst="line">
            <a:avLst/>
          </a:prstGeom>
          <a:ln w="16510">
            <a:solidFill>
              <a:srgbClr val="182B3A"/>
            </a:solidFill>
          </a:ln>
        </p:spPr>
        <p:style>
          <a:lnRef idx="2">
            <a:schemeClr val="accent1"/>
          </a:lnRef>
          <a:fillRef idx="0">
            <a:schemeClr val="accent1"/>
          </a:fillRef>
          <a:effectRef idx="1">
            <a:schemeClr val="accent1"/>
          </a:effectRef>
          <a:fontRef idx="minor">
            <a:schemeClr val="tx1"/>
          </a:fontRef>
        </p:style>
      </p:cxnSp>
      <p:sp>
        <p:nvSpPr>
          <p:cNvPr id="22" name="TextBox 21"/>
          <p:cNvSpPr txBox="1"/>
          <p:nvPr/>
        </p:nvSpPr>
        <p:spPr>
          <a:xfrm>
            <a:off x="566928" y="4704588"/>
            <a:ext cx="329184" cy="320040"/>
          </a:xfrm>
          <a:prstGeom prst="rect">
            <a:avLst/>
          </a:prstGeom>
          <a:noFill/>
        </p:spPr>
        <p:txBody>
          <a:bodyPr wrap="none" lIns="0" rIns="0" tIns="0" bIns="0">
            <a:spAutoFit/>
          </a:bodyPr>
          <a:lstStyle/>
          <a:p>
            <a:pPr algn="r">
              <a:lnSpc>
                <a:spcPts val="2464"/>
              </a:lnSpc>
              <a:spcBef>
                <a:spcPts val="0"/>
              </a:spcBef>
              <a:spcAft>
                <a:spcPts val="0"/>
              </a:spcAft>
              <a:defRPr sz="2200" b="0">
                <a:solidFill>
                  <a:srgbClr val="182B3A"/>
                </a:solidFill>
                <a:latin typeface="Arial"/>
              </a:defRPr>
            </a:pPr>
            <a:r>
              <a:t>5</a:t>
            </a:r>
          </a:p>
        </p:txBody>
      </p:sp>
      <p:sp>
        <p:nvSpPr>
          <p:cNvPr id="23" name="TextBox 22"/>
          <p:cNvSpPr txBox="1"/>
          <p:nvPr/>
        </p:nvSpPr>
        <p:spPr>
          <a:xfrm>
            <a:off x="996695" y="4713732"/>
            <a:ext cx="420624" cy="329184"/>
          </a:xfrm>
          <a:prstGeom prst="rect">
            <a:avLst/>
          </a:prstGeom>
          <a:noFill/>
        </p:spPr>
        <p:txBody>
          <a:bodyPr wrap="none" lIns="0" rIns="0" tIns="0" bIns="0">
            <a:spAutoFit/>
          </a:bodyPr>
          <a:lstStyle/>
          <a:p>
            <a:pPr algn="ctr">
              <a:lnSpc>
                <a:spcPts val="2688"/>
              </a:lnSpc>
              <a:spcBef>
                <a:spcPts val="0"/>
              </a:spcBef>
              <a:spcAft>
                <a:spcPts val="0"/>
              </a:spcAft>
              <a:defRPr sz="2400" b="0">
                <a:solidFill>
                  <a:srgbClr val="182B3A"/>
                </a:solidFill>
                <a:latin typeface="Arial"/>
              </a:defRPr>
            </a:pPr>
            <a:r>
              <a:t>5</a:t>
            </a:r>
          </a:p>
        </p:txBody>
      </p:sp>
      <p:sp>
        <p:nvSpPr>
          <p:cNvPr id="24" name="TextBox 23"/>
          <p:cNvSpPr txBox="1"/>
          <p:nvPr/>
        </p:nvSpPr>
        <p:spPr>
          <a:xfrm>
            <a:off x="996695" y="4352544"/>
            <a:ext cx="420624" cy="310896"/>
          </a:xfrm>
          <a:prstGeom prst="rect">
            <a:avLst/>
          </a:prstGeom>
          <a:noFill/>
        </p:spPr>
        <p:txBody>
          <a:bodyPr wrap="none" lIns="0" rIns="0" tIns="0" bIns="0">
            <a:spAutoFit/>
          </a:bodyPr>
          <a:lstStyle/>
          <a:p>
            <a:pPr algn="ctr">
              <a:lnSpc>
                <a:spcPts val="2688"/>
              </a:lnSpc>
              <a:spcBef>
                <a:spcPts val="0"/>
              </a:spcBef>
              <a:spcAft>
                <a:spcPts val="0"/>
              </a:spcAft>
              <a:defRPr sz="2400" b="0">
                <a:solidFill>
                  <a:srgbClr val="182B3A"/>
                </a:solidFill>
                <a:latin typeface="Arial"/>
              </a:defRPr>
            </a:pPr>
            <a:r>
              <a:t>1</a:t>
            </a:r>
          </a:p>
        </p:txBody>
      </p:sp>
      <p:sp>
        <p:nvSpPr>
          <p:cNvPr id="25" name="TextBox 24"/>
          <p:cNvSpPr txBox="1"/>
          <p:nvPr/>
        </p:nvSpPr>
        <p:spPr>
          <a:xfrm>
            <a:off x="1417319" y="4713732"/>
            <a:ext cx="420624" cy="329184"/>
          </a:xfrm>
          <a:prstGeom prst="rect">
            <a:avLst/>
          </a:prstGeom>
          <a:noFill/>
        </p:spPr>
        <p:txBody>
          <a:bodyPr wrap="none" lIns="0" rIns="0" tIns="0" bIns="0">
            <a:spAutoFit/>
          </a:bodyPr>
          <a:lstStyle/>
          <a:p>
            <a:pPr algn="ctr">
              <a:lnSpc>
                <a:spcPts val="2688"/>
              </a:lnSpc>
              <a:spcBef>
                <a:spcPts val="0"/>
              </a:spcBef>
              <a:spcAft>
                <a:spcPts val="0"/>
              </a:spcAft>
              <a:defRPr sz="2400" b="0">
                <a:solidFill>
                  <a:srgbClr val="182B3A"/>
                </a:solidFill>
                <a:latin typeface="Arial"/>
              </a:defRPr>
            </a:pPr>
            <a:r>
              <a:t>0</a:t>
            </a:r>
          </a:p>
        </p:txBody>
      </p:sp>
      <p:sp>
        <p:nvSpPr>
          <p:cNvPr id="26" name="TextBox 25"/>
          <p:cNvSpPr txBox="1"/>
          <p:nvPr/>
        </p:nvSpPr>
        <p:spPr>
          <a:xfrm>
            <a:off x="1837943" y="4713732"/>
            <a:ext cx="420624" cy="329184"/>
          </a:xfrm>
          <a:prstGeom prst="rect">
            <a:avLst/>
          </a:prstGeom>
          <a:noFill/>
        </p:spPr>
        <p:txBody>
          <a:bodyPr wrap="none" lIns="0" rIns="0" tIns="0" bIns="0">
            <a:spAutoFit/>
          </a:bodyPr>
          <a:lstStyle/>
          <a:p>
            <a:pPr algn="ctr">
              <a:lnSpc>
                <a:spcPts val="2688"/>
              </a:lnSpc>
              <a:spcBef>
                <a:spcPts val="0"/>
              </a:spcBef>
              <a:spcAft>
                <a:spcPts val="0"/>
              </a:spcAft>
              <a:defRPr sz="2400" b="0">
                <a:solidFill>
                  <a:srgbClr val="182B3A"/>
                </a:solidFill>
                <a:latin typeface="Arial"/>
              </a:defRPr>
            </a:pPr>
            <a:r>
              <a:t>5</a:t>
            </a:r>
          </a:p>
        </p:txBody>
      </p:sp>
      <p:sp>
        <p:nvSpPr>
          <p:cNvPr id="27" name="TextBox 26"/>
          <p:cNvSpPr txBox="1"/>
          <p:nvPr/>
        </p:nvSpPr>
        <p:spPr>
          <a:xfrm>
            <a:off x="1837943" y="4352544"/>
            <a:ext cx="420624" cy="310896"/>
          </a:xfrm>
          <a:prstGeom prst="rect">
            <a:avLst/>
          </a:prstGeom>
          <a:noFill/>
        </p:spPr>
        <p:txBody>
          <a:bodyPr wrap="none" lIns="0" rIns="0" tIns="0" bIns="0">
            <a:spAutoFit/>
          </a:bodyPr>
          <a:lstStyle/>
          <a:p>
            <a:pPr algn="ctr">
              <a:lnSpc>
                <a:spcPts val="2688"/>
              </a:lnSpc>
              <a:spcBef>
                <a:spcPts val="0"/>
              </a:spcBef>
              <a:spcAft>
                <a:spcPts val="0"/>
              </a:spcAft>
              <a:defRPr sz="2400" b="0">
                <a:solidFill>
                  <a:srgbClr val="182B3A"/>
                </a:solidFill>
                <a:latin typeface="Arial"/>
              </a:defRPr>
            </a:pPr>
            <a:r>
              <a:t>1</a:t>
            </a:r>
          </a:p>
        </p:txBody>
      </p:sp>
      <p:sp>
        <p:nvSpPr>
          <p:cNvPr id="28" name="TextBox 27"/>
          <p:cNvSpPr txBox="1"/>
          <p:nvPr/>
        </p:nvSpPr>
        <p:spPr>
          <a:xfrm>
            <a:off x="603503" y="5257800"/>
            <a:ext cx="4206240" cy="320040"/>
          </a:xfrm>
          <a:prstGeom prst="rect">
            <a:avLst/>
          </a:prstGeom>
          <a:noFill/>
        </p:spPr>
        <p:txBody>
          <a:bodyPr wrap="none" lIns="0" rIns="0" tIns="0" bIns="0">
            <a:spAutoFit/>
          </a:bodyPr>
          <a:lstStyle/>
          <a:p>
            <a:pPr algn="l">
              <a:lnSpc>
                <a:spcPts val="2464"/>
              </a:lnSpc>
              <a:spcBef>
                <a:spcPts val="0"/>
              </a:spcBef>
              <a:spcAft>
                <a:spcPts val="0"/>
              </a:spcAft>
              <a:defRPr sz="2200" b="0">
                <a:solidFill>
                  <a:srgbClr val="182B3A"/>
                </a:solidFill>
                <a:latin typeface="Arial"/>
              </a:defRPr>
            </a:pPr>
            <a:r>
              <a:t>Answer: 11</a:t>
            </a:r>
          </a:p>
        </p:txBody>
      </p:sp>
      <p:sp>
        <p:nvSpPr>
          <p:cNvPr id="29" name="Rectangle 28"/>
          <p:cNvSpPr/>
          <p:nvPr/>
        </p:nvSpPr>
        <p:spPr>
          <a:xfrm>
            <a:off x="384048" y="5724144"/>
            <a:ext cx="4588764" cy="1929384"/>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0" name="TextBox 29"/>
          <p:cNvSpPr txBox="1"/>
          <p:nvPr/>
        </p:nvSpPr>
        <p:spPr>
          <a:xfrm>
            <a:off x="475488" y="5760720"/>
            <a:ext cx="4392168" cy="402336"/>
          </a:xfrm>
          <a:prstGeom prst="rect">
            <a:avLst/>
          </a:prstGeom>
          <a:noFill/>
        </p:spPr>
        <p:txBody>
          <a:bodyPr wrap="square" tIns="36576" bIns="36576" anchor="t">
            <a:spAutoFit/>
          </a:bodyPr>
          <a:lstStyle/>
          <a:p>
            <a:pPr>
              <a:lnSpc>
                <a:spcPts val="2268"/>
              </a:lnSpc>
              <a:spcBef>
                <a:spcPts val="0"/>
              </a:spcBef>
              <a:spcAft>
                <a:spcPts val="0"/>
              </a:spcAft>
              <a:defRPr sz="2100" b="1">
                <a:solidFill>
                  <a:srgbClr val="182B3A"/>
                </a:solidFill>
                <a:latin typeface="Arial"/>
              </a:defRPr>
            </a:pPr>
            <a:r>
              <a:t>3.  96 ÷ 3</a:t>
            </a:r>
          </a:p>
        </p:txBody>
      </p:sp>
      <p:cxnSp>
        <p:nvCxnSpPr>
          <p:cNvPr id="31" name="Connector 30"/>
          <p:cNvCxnSpPr/>
          <p:nvPr/>
        </p:nvCxnSpPr>
        <p:spPr>
          <a:xfrm>
            <a:off x="941831" y="6684264"/>
            <a:ext cx="923545" cy="0"/>
          </a:xfrm>
          <a:prstGeom prst="line">
            <a:avLst/>
          </a:prstGeom>
          <a:ln w="16510">
            <a:solidFill>
              <a:srgbClr val="182B3A"/>
            </a:solidFill>
          </a:ln>
        </p:spPr>
        <p:style>
          <a:lnRef idx="2">
            <a:schemeClr val="accent1"/>
          </a:lnRef>
          <a:fillRef idx="0">
            <a:schemeClr val="accent1"/>
          </a:fillRef>
          <a:effectRef idx="1">
            <a:schemeClr val="accent1"/>
          </a:effectRef>
          <a:fontRef idx="minor">
            <a:schemeClr val="tx1"/>
          </a:fontRef>
        </p:style>
      </p:cxnSp>
      <p:cxnSp>
        <p:nvCxnSpPr>
          <p:cNvPr id="32" name="Connector 31"/>
          <p:cNvCxnSpPr/>
          <p:nvPr/>
        </p:nvCxnSpPr>
        <p:spPr>
          <a:xfrm>
            <a:off x="941831" y="6684264"/>
            <a:ext cx="0" cy="356615"/>
          </a:xfrm>
          <a:prstGeom prst="line">
            <a:avLst/>
          </a:prstGeom>
          <a:ln w="16510">
            <a:solidFill>
              <a:srgbClr val="182B3A"/>
            </a:solidFill>
          </a:ln>
        </p:spPr>
        <p:style>
          <a:lnRef idx="2">
            <a:schemeClr val="accent1"/>
          </a:lnRef>
          <a:fillRef idx="0">
            <a:schemeClr val="accent1"/>
          </a:fillRef>
          <a:effectRef idx="1">
            <a:schemeClr val="accent1"/>
          </a:effectRef>
          <a:fontRef idx="minor">
            <a:schemeClr val="tx1"/>
          </a:fontRef>
        </p:style>
      </p:cxnSp>
      <p:sp>
        <p:nvSpPr>
          <p:cNvPr id="33" name="TextBox 32"/>
          <p:cNvSpPr txBox="1"/>
          <p:nvPr/>
        </p:nvSpPr>
        <p:spPr>
          <a:xfrm>
            <a:off x="566928" y="6707123"/>
            <a:ext cx="329184" cy="320040"/>
          </a:xfrm>
          <a:prstGeom prst="rect">
            <a:avLst/>
          </a:prstGeom>
          <a:noFill/>
        </p:spPr>
        <p:txBody>
          <a:bodyPr wrap="none" lIns="0" rIns="0" tIns="0" bIns="0">
            <a:spAutoFit/>
          </a:bodyPr>
          <a:lstStyle/>
          <a:p>
            <a:pPr algn="r">
              <a:lnSpc>
                <a:spcPts val="2464"/>
              </a:lnSpc>
              <a:spcBef>
                <a:spcPts val="0"/>
              </a:spcBef>
              <a:spcAft>
                <a:spcPts val="0"/>
              </a:spcAft>
              <a:defRPr sz="2200" b="0">
                <a:solidFill>
                  <a:srgbClr val="182B3A"/>
                </a:solidFill>
                <a:latin typeface="Arial"/>
              </a:defRPr>
            </a:pPr>
            <a:r>
              <a:t>3</a:t>
            </a:r>
          </a:p>
        </p:txBody>
      </p:sp>
      <p:sp>
        <p:nvSpPr>
          <p:cNvPr id="34" name="TextBox 33"/>
          <p:cNvSpPr txBox="1"/>
          <p:nvPr/>
        </p:nvSpPr>
        <p:spPr>
          <a:xfrm>
            <a:off x="996695" y="6716268"/>
            <a:ext cx="420624" cy="329184"/>
          </a:xfrm>
          <a:prstGeom prst="rect">
            <a:avLst/>
          </a:prstGeom>
          <a:noFill/>
        </p:spPr>
        <p:txBody>
          <a:bodyPr wrap="none" lIns="0" rIns="0" tIns="0" bIns="0">
            <a:spAutoFit/>
          </a:bodyPr>
          <a:lstStyle/>
          <a:p>
            <a:pPr algn="ctr">
              <a:lnSpc>
                <a:spcPts val="2688"/>
              </a:lnSpc>
              <a:spcBef>
                <a:spcPts val="0"/>
              </a:spcBef>
              <a:spcAft>
                <a:spcPts val="0"/>
              </a:spcAft>
              <a:defRPr sz="2400" b="0">
                <a:solidFill>
                  <a:srgbClr val="182B3A"/>
                </a:solidFill>
                <a:latin typeface="Arial"/>
              </a:defRPr>
            </a:pPr>
            <a:r>
              <a:t>9</a:t>
            </a:r>
          </a:p>
        </p:txBody>
      </p:sp>
      <p:sp>
        <p:nvSpPr>
          <p:cNvPr id="35" name="TextBox 34"/>
          <p:cNvSpPr txBox="1"/>
          <p:nvPr/>
        </p:nvSpPr>
        <p:spPr>
          <a:xfrm>
            <a:off x="996695" y="6355079"/>
            <a:ext cx="420624" cy="310896"/>
          </a:xfrm>
          <a:prstGeom prst="rect">
            <a:avLst/>
          </a:prstGeom>
          <a:noFill/>
        </p:spPr>
        <p:txBody>
          <a:bodyPr wrap="none" lIns="0" rIns="0" tIns="0" bIns="0">
            <a:spAutoFit/>
          </a:bodyPr>
          <a:lstStyle/>
          <a:p>
            <a:pPr algn="ctr">
              <a:lnSpc>
                <a:spcPts val="2688"/>
              </a:lnSpc>
              <a:spcBef>
                <a:spcPts val="0"/>
              </a:spcBef>
              <a:spcAft>
                <a:spcPts val="0"/>
              </a:spcAft>
              <a:defRPr sz="2400" b="0">
                <a:solidFill>
                  <a:srgbClr val="182B3A"/>
                </a:solidFill>
                <a:latin typeface="Arial"/>
              </a:defRPr>
            </a:pPr>
            <a:r>
              <a:t>3</a:t>
            </a:r>
          </a:p>
        </p:txBody>
      </p:sp>
      <p:sp>
        <p:nvSpPr>
          <p:cNvPr id="36" name="TextBox 35"/>
          <p:cNvSpPr txBox="1"/>
          <p:nvPr/>
        </p:nvSpPr>
        <p:spPr>
          <a:xfrm>
            <a:off x="1417319" y="6716268"/>
            <a:ext cx="420624" cy="329184"/>
          </a:xfrm>
          <a:prstGeom prst="rect">
            <a:avLst/>
          </a:prstGeom>
          <a:noFill/>
        </p:spPr>
        <p:txBody>
          <a:bodyPr wrap="none" lIns="0" rIns="0" tIns="0" bIns="0">
            <a:spAutoFit/>
          </a:bodyPr>
          <a:lstStyle/>
          <a:p>
            <a:pPr algn="ctr">
              <a:lnSpc>
                <a:spcPts val="2688"/>
              </a:lnSpc>
              <a:spcBef>
                <a:spcPts val="0"/>
              </a:spcBef>
              <a:spcAft>
                <a:spcPts val="0"/>
              </a:spcAft>
              <a:defRPr sz="2400" b="0">
                <a:solidFill>
                  <a:srgbClr val="182B3A"/>
                </a:solidFill>
                <a:latin typeface="Arial"/>
              </a:defRPr>
            </a:pPr>
            <a:r>
              <a:t>6</a:t>
            </a:r>
          </a:p>
        </p:txBody>
      </p:sp>
      <p:sp>
        <p:nvSpPr>
          <p:cNvPr id="37" name="TextBox 36"/>
          <p:cNvSpPr txBox="1"/>
          <p:nvPr/>
        </p:nvSpPr>
        <p:spPr>
          <a:xfrm>
            <a:off x="1417319" y="6355079"/>
            <a:ext cx="420624" cy="310896"/>
          </a:xfrm>
          <a:prstGeom prst="rect">
            <a:avLst/>
          </a:prstGeom>
          <a:noFill/>
        </p:spPr>
        <p:txBody>
          <a:bodyPr wrap="none" lIns="0" rIns="0" tIns="0" bIns="0">
            <a:spAutoFit/>
          </a:bodyPr>
          <a:lstStyle/>
          <a:p>
            <a:pPr algn="ctr">
              <a:lnSpc>
                <a:spcPts val="2688"/>
              </a:lnSpc>
              <a:spcBef>
                <a:spcPts val="0"/>
              </a:spcBef>
              <a:spcAft>
                <a:spcPts val="0"/>
              </a:spcAft>
              <a:defRPr sz="2400" b="0">
                <a:solidFill>
                  <a:srgbClr val="182B3A"/>
                </a:solidFill>
                <a:latin typeface="Arial"/>
              </a:defRPr>
            </a:pPr>
            <a:r>
              <a:t>3</a:t>
            </a:r>
          </a:p>
        </p:txBody>
      </p:sp>
      <p:sp>
        <p:nvSpPr>
          <p:cNvPr id="38" name="TextBox 37"/>
          <p:cNvSpPr txBox="1"/>
          <p:nvPr/>
        </p:nvSpPr>
        <p:spPr>
          <a:xfrm>
            <a:off x="603503" y="7260336"/>
            <a:ext cx="4206240" cy="320040"/>
          </a:xfrm>
          <a:prstGeom prst="rect">
            <a:avLst/>
          </a:prstGeom>
          <a:noFill/>
        </p:spPr>
        <p:txBody>
          <a:bodyPr wrap="none" lIns="0" rIns="0" tIns="0" bIns="0">
            <a:spAutoFit/>
          </a:bodyPr>
          <a:lstStyle/>
          <a:p>
            <a:pPr algn="l">
              <a:lnSpc>
                <a:spcPts val="2464"/>
              </a:lnSpc>
              <a:spcBef>
                <a:spcPts val="0"/>
              </a:spcBef>
              <a:spcAft>
                <a:spcPts val="0"/>
              </a:spcAft>
              <a:defRPr sz="2200" b="0">
                <a:solidFill>
                  <a:srgbClr val="182B3A"/>
                </a:solidFill>
                <a:latin typeface="Arial"/>
              </a:defRPr>
            </a:pPr>
            <a:r>
              <a:t>Answer: 33</a:t>
            </a:r>
          </a:p>
        </p:txBody>
      </p:sp>
      <p:sp>
        <p:nvSpPr>
          <p:cNvPr id="39" name="Rectangle 38"/>
          <p:cNvSpPr/>
          <p:nvPr/>
        </p:nvSpPr>
        <p:spPr>
          <a:xfrm>
            <a:off x="5004816" y="1234440"/>
            <a:ext cx="4588764" cy="420624"/>
          </a:xfrm>
          <a:prstGeom prst="rect">
            <a:avLst/>
          </a:prstGeom>
          <a:solidFill>
            <a:srgbClr val="3559A2"/>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0" name="TextBox 39"/>
          <p:cNvSpPr txBox="1"/>
          <p:nvPr/>
        </p:nvSpPr>
        <p:spPr>
          <a:xfrm>
            <a:off x="5068824" y="1261872"/>
            <a:ext cx="4474464" cy="347472"/>
          </a:xfrm>
          <a:prstGeom prst="rect">
            <a:avLst/>
          </a:prstGeom>
          <a:noFill/>
        </p:spPr>
        <p:txBody>
          <a:bodyPr wrap="square" tIns="36576" bIns="36576" anchor="t">
            <a:spAutoFit/>
          </a:bodyPr>
          <a:lstStyle/>
          <a:p>
            <a:pPr>
              <a:lnSpc>
                <a:spcPts val="2160"/>
              </a:lnSpc>
              <a:spcBef>
                <a:spcPts val="0"/>
              </a:spcBef>
              <a:spcAft>
                <a:spcPts val="0"/>
              </a:spcAft>
              <a:defRPr sz="2000" b="1">
                <a:solidFill>
                  <a:srgbClr val="FFFFFF"/>
                </a:solidFill>
                <a:latin typeface="Arial"/>
              </a:defRPr>
            </a:pPr>
            <a:r>
              <a:t>Build</a:t>
            </a:r>
          </a:p>
        </p:txBody>
      </p:sp>
      <p:sp>
        <p:nvSpPr>
          <p:cNvPr id="41" name="Rectangle 40"/>
          <p:cNvSpPr/>
          <p:nvPr/>
        </p:nvSpPr>
        <p:spPr>
          <a:xfrm>
            <a:off x="5004816" y="1719072"/>
            <a:ext cx="4588764" cy="1929384"/>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2" name="TextBox 41"/>
          <p:cNvSpPr txBox="1"/>
          <p:nvPr/>
        </p:nvSpPr>
        <p:spPr>
          <a:xfrm>
            <a:off x="5096256" y="1755648"/>
            <a:ext cx="4392168" cy="402336"/>
          </a:xfrm>
          <a:prstGeom prst="rect">
            <a:avLst/>
          </a:prstGeom>
          <a:noFill/>
        </p:spPr>
        <p:txBody>
          <a:bodyPr wrap="square" tIns="36576" bIns="36576" anchor="t">
            <a:spAutoFit/>
          </a:bodyPr>
          <a:lstStyle/>
          <a:p>
            <a:pPr>
              <a:lnSpc>
                <a:spcPts val="2268"/>
              </a:lnSpc>
              <a:spcBef>
                <a:spcPts val="0"/>
              </a:spcBef>
              <a:spcAft>
                <a:spcPts val="0"/>
              </a:spcAft>
              <a:defRPr sz="2100" b="1">
                <a:solidFill>
                  <a:srgbClr val="182B3A"/>
                </a:solidFill>
                <a:latin typeface="Arial"/>
              </a:defRPr>
            </a:pPr>
            <a:r>
              <a:t>1.  145 ÷ 6</a:t>
            </a:r>
          </a:p>
        </p:txBody>
      </p:sp>
      <p:cxnSp>
        <p:nvCxnSpPr>
          <p:cNvPr id="43" name="Connector 42"/>
          <p:cNvCxnSpPr/>
          <p:nvPr/>
        </p:nvCxnSpPr>
        <p:spPr>
          <a:xfrm>
            <a:off x="5562600" y="2679191"/>
            <a:ext cx="1344167" cy="0"/>
          </a:xfrm>
          <a:prstGeom prst="line">
            <a:avLst/>
          </a:prstGeom>
          <a:ln w="16510">
            <a:solidFill>
              <a:srgbClr val="182B3A"/>
            </a:solidFill>
          </a:ln>
        </p:spPr>
        <p:style>
          <a:lnRef idx="2">
            <a:schemeClr val="accent1"/>
          </a:lnRef>
          <a:fillRef idx="0">
            <a:schemeClr val="accent1"/>
          </a:fillRef>
          <a:effectRef idx="1">
            <a:schemeClr val="accent1"/>
          </a:effectRef>
          <a:fontRef idx="minor">
            <a:schemeClr val="tx1"/>
          </a:fontRef>
        </p:style>
      </p:cxnSp>
      <p:cxnSp>
        <p:nvCxnSpPr>
          <p:cNvPr id="44" name="Connector 43"/>
          <p:cNvCxnSpPr/>
          <p:nvPr/>
        </p:nvCxnSpPr>
        <p:spPr>
          <a:xfrm>
            <a:off x="5562600" y="2679191"/>
            <a:ext cx="0" cy="356617"/>
          </a:xfrm>
          <a:prstGeom prst="line">
            <a:avLst/>
          </a:prstGeom>
          <a:ln w="16510">
            <a:solidFill>
              <a:srgbClr val="182B3A"/>
            </a:solidFill>
          </a:ln>
        </p:spPr>
        <p:style>
          <a:lnRef idx="2">
            <a:schemeClr val="accent1"/>
          </a:lnRef>
          <a:fillRef idx="0">
            <a:schemeClr val="accent1"/>
          </a:fillRef>
          <a:effectRef idx="1">
            <a:schemeClr val="accent1"/>
          </a:effectRef>
          <a:fontRef idx="minor">
            <a:schemeClr val="tx1"/>
          </a:fontRef>
        </p:style>
      </p:cxnSp>
      <p:sp>
        <p:nvSpPr>
          <p:cNvPr id="45" name="TextBox 44"/>
          <p:cNvSpPr txBox="1"/>
          <p:nvPr/>
        </p:nvSpPr>
        <p:spPr>
          <a:xfrm>
            <a:off x="5187696" y="2702051"/>
            <a:ext cx="329184" cy="320040"/>
          </a:xfrm>
          <a:prstGeom prst="rect">
            <a:avLst/>
          </a:prstGeom>
          <a:noFill/>
        </p:spPr>
        <p:txBody>
          <a:bodyPr wrap="none" lIns="0" rIns="0" tIns="0" bIns="0">
            <a:spAutoFit/>
          </a:bodyPr>
          <a:lstStyle/>
          <a:p>
            <a:pPr algn="r">
              <a:lnSpc>
                <a:spcPts val="2464"/>
              </a:lnSpc>
              <a:spcBef>
                <a:spcPts val="0"/>
              </a:spcBef>
              <a:spcAft>
                <a:spcPts val="0"/>
              </a:spcAft>
              <a:defRPr sz="2200" b="0">
                <a:solidFill>
                  <a:srgbClr val="182B3A"/>
                </a:solidFill>
                <a:latin typeface="Arial"/>
              </a:defRPr>
            </a:pPr>
            <a:r>
              <a:t>6</a:t>
            </a:r>
          </a:p>
        </p:txBody>
      </p:sp>
      <p:sp>
        <p:nvSpPr>
          <p:cNvPr id="46" name="TextBox 45"/>
          <p:cNvSpPr txBox="1"/>
          <p:nvPr/>
        </p:nvSpPr>
        <p:spPr>
          <a:xfrm>
            <a:off x="5617464" y="2711196"/>
            <a:ext cx="420624" cy="329184"/>
          </a:xfrm>
          <a:prstGeom prst="rect">
            <a:avLst/>
          </a:prstGeom>
          <a:noFill/>
        </p:spPr>
        <p:txBody>
          <a:bodyPr wrap="none" lIns="0" rIns="0" tIns="0" bIns="0">
            <a:spAutoFit/>
          </a:bodyPr>
          <a:lstStyle/>
          <a:p>
            <a:pPr algn="ctr">
              <a:lnSpc>
                <a:spcPts val="2688"/>
              </a:lnSpc>
              <a:spcBef>
                <a:spcPts val="0"/>
              </a:spcBef>
              <a:spcAft>
                <a:spcPts val="0"/>
              </a:spcAft>
              <a:defRPr sz="2400" b="0">
                <a:solidFill>
                  <a:srgbClr val="182B3A"/>
                </a:solidFill>
                <a:latin typeface="Arial"/>
              </a:defRPr>
            </a:pPr>
            <a:r>
              <a:t>1</a:t>
            </a:r>
          </a:p>
        </p:txBody>
      </p:sp>
      <p:sp>
        <p:nvSpPr>
          <p:cNvPr id="47" name="TextBox 46"/>
          <p:cNvSpPr txBox="1"/>
          <p:nvPr/>
        </p:nvSpPr>
        <p:spPr>
          <a:xfrm>
            <a:off x="6038088" y="2711196"/>
            <a:ext cx="420624" cy="329184"/>
          </a:xfrm>
          <a:prstGeom prst="rect">
            <a:avLst/>
          </a:prstGeom>
          <a:noFill/>
        </p:spPr>
        <p:txBody>
          <a:bodyPr wrap="none" lIns="0" rIns="0" tIns="0" bIns="0">
            <a:spAutoFit/>
          </a:bodyPr>
          <a:lstStyle/>
          <a:p>
            <a:pPr algn="ctr">
              <a:lnSpc>
                <a:spcPts val="2688"/>
              </a:lnSpc>
              <a:spcBef>
                <a:spcPts val="0"/>
              </a:spcBef>
              <a:spcAft>
                <a:spcPts val="0"/>
              </a:spcAft>
              <a:defRPr sz="2400" b="0">
                <a:solidFill>
                  <a:srgbClr val="182B3A"/>
                </a:solidFill>
                <a:latin typeface="Arial"/>
              </a:defRPr>
            </a:pPr>
            <a:r>
              <a:t>4</a:t>
            </a:r>
          </a:p>
        </p:txBody>
      </p:sp>
      <p:sp>
        <p:nvSpPr>
          <p:cNvPr id="48" name="TextBox 47"/>
          <p:cNvSpPr txBox="1"/>
          <p:nvPr/>
        </p:nvSpPr>
        <p:spPr>
          <a:xfrm>
            <a:off x="6038088" y="2350008"/>
            <a:ext cx="420624" cy="310896"/>
          </a:xfrm>
          <a:prstGeom prst="rect">
            <a:avLst/>
          </a:prstGeom>
          <a:noFill/>
        </p:spPr>
        <p:txBody>
          <a:bodyPr wrap="none" lIns="0" rIns="0" tIns="0" bIns="0">
            <a:spAutoFit/>
          </a:bodyPr>
          <a:lstStyle/>
          <a:p>
            <a:pPr algn="ctr">
              <a:lnSpc>
                <a:spcPts val="2688"/>
              </a:lnSpc>
              <a:spcBef>
                <a:spcPts val="0"/>
              </a:spcBef>
              <a:spcAft>
                <a:spcPts val="0"/>
              </a:spcAft>
              <a:defRPr sz="2400" b="0">
                <a:solidFill>
                  <a:srgbClr val="182B3A"/>
                </a:solidFill>
                <a:latin typeface="Arial"/>
              </a:defRPr>
            </a:pPr>
            <a:r>
              <a:t>2</a:t>
            </a:r>
          </a:p>
        </p:txBody>
      </p:sp>
      <p:sp>
        <p:nvSpPr>
          <p:cNvPr id="49" name="TextBox 48"/>
          <p:cNvSpPr txBox="1"/>
          <p:nvPr/>
        </p:nvSpPr>
        <p:spPr>
          <a:xfrm>
            <a:off x="5983224" y="2683763"/>
            <a:ext cx="164592" cy="182880"/>
          </a:xfrm>
          <a:prstGeom prst="rect">
            <a:avLst/>
          </a:prstGeom>
          <a:noFill/>
        </p:spPr>
        <p:txBody>
          <a:bodyPr wrap="none" lIns="0" rIns="0" tIns="0" bIns="0">
            <a:spAutoFit/>
          </a:bodyPr>
          <a:lstStyle/>
          <a:p>
            <a:pPr algn="ctr">
              <a:lnSpc>
                <a:spcPts val="1344"/>
              </a:lnSpc>
              <a:spcBef>
                <a:spcPts val="0"/>
              </a:spcBef>
              <a:spcAft>
                <a:spcPts val="0"/>
              </a:spcAft>
              <a:defRPr sz="1200" b="0">
                <a:solidFill>
                  <a:srgbClr val="182B3A"/>
                </a:solidFill>
                <a:latin typeface="Arial"/>
              </a:defRPr>
            </a:pPr>
            <a:r>
              <a:t>1</a:t>
            </a:r>
          </a:p>
        </p:txBody>
      </p:sp>
      <p:sp>
        <p:nvSpPr>
          <p:cNvPr id="50" name="TextBox 49"/>
          <p:cNvSpPr txBox="1"/>
          <p:nvPr/>
        </p:nvSpPr>
        <p:spPr>
          <a:xfrm>
            <a:off x="6458712" y="2711196"/>
            <a:ext cx="420624" cy="329184"/>
          </a:xfrm>
          <a:prstGeom prst="rect">
            <a:avLst/>
          </a:prstGeom>
          <a:noFill/>
        </p:spPr>
        <p:txBody>
          <a:bodyPr wrap="none" lIns="0" rIns="0" tIns="0" bIns="0">
            <a:spAutoFit/>
          </a:bodyPr>
          <a:lstStyle/>
          <a:p>
            <a:pPr algn="ctr">
              <a:lnSpc>
                <a:spcPts val="2688"/>
              </a:lnSpc>
              <a:spcBef>
                <a:spcPts val="0"/>
              </a:spcBef>
              <a:spcAft>
                <a:spcPts val="0"/>
              </a:spcAft>
              <a:defRPr sz="2400" b="0">
                <a:solidFill>
                  <a:srgbClr val="182B3A"/>
                </a:solidFill>
                <a:latin typeface="Arial"/>
              </a:defRPr>
            </a:pPr>
            <a:r>
              <a:t>5</a:t>
            </a:r>
          </a:p>
        </p:txBody>
      </p:sp>
      <p:sp>
        <p:nvSpPr>
          <p:cNvPr id="51" name="TextBox 50"/>
          <p:cNvSpPr txBox="1"/>
          <p:nvPr/>
        </p:nvSpPr>
        <p:spPr>
          <a:xfrm>
            <a:off x="6458712" y="2350008"/>
            <a:ext cx="420624" cy="310896"/>
          </a:xfrm>
          <a:prstGeom prst="rect">
            <a:avLst/>
          </a:prstGeom>
          <a:noFill/>
        </p:spPr>
        <p:txBody>
          <a:bodyPr wrap="none" lIns="0" rIns="0" tIns="0" bIns="0">
            <a:spAutoFit/>
          </a:bodyPr>
          <a:lstStyle/>
          <a:p>
            <a:pPr algn="ctr">
              <a:lnSpc>
                <a:spcPts val="2688"/>
              </a:lnSpc>
              <a:spcBef>
                <a:spcPts val="0"/>
              </a:spcBef>
              <a:spcAft>
                <a:spcPts val="0"/>
              </a:spcAft>
              <a:defRPr sz="2400" b="0">
                <a:solidFill>
                  <a:srgbClr val="182B3A"/>
                </a:solidFill>
                <a:latin typeface="Arial"/>
              </a:defRPr>
            </a:pPr>
            <a:r>
              <a:t>0</a:t>
            </a:r>
          </a:p>
        </p:txBody>
      </p:sp>
      <p:sp>
        <p:nvSpPr>
          <p:cNvPr id="52" name="TextBox 51"/>
          <p:cNvSpPr txBox="1"/>
          <p:nvPr/>
        </p:nvSpPr>
        <p:spPr>
          <a:xfrm>
            <a:off x="6970776" y="2377439"/>
            <a:ext cx="731520" cy="274320"/>
          </a:xfrm>
          <a:prstGeom prst="rect">
            <a:avLst/>
          </a:prstGeom>
          <a:noFill/>
        </p:spPr>
        <p:txBody>
          <a:bodyPr wrap="none" lIns="0" rIns="0" tIns="0" bIns="0">
            <a:spAutoFit/>
          </a:bodyPr>
          <a:lstStyle/>
          <a:p>
            <a:pPr algn="l">
              <a:lnSpc>
                <a:spcPts val="2016"/>
              </a:lnSpc>
              <a:spcBef>
                <a:spcPts val="0"/>
              </a:spcBef>
              <a:spcAft>
                <a:spcPts val="0"/>
              </a:spcAft>
              <a:defRPr sz="1800" b="0">
                <a:solidFill>
                  <a:srgbClr val="182B3A"/>
                </a:solidFill>
                <a:latin typeface="Arial"/>
              </a:defRPr>
            </a:pPr>
            <a:r>
              <a:t>r 5</a:t>
            </a:r>
          </a:p>
        </p:txBody>
      </p:sp>
      <p:sp>
        <p:nvSpPr>
          <p:cNvPr id="53" name="TextBox 52"/>
          <p:cNvSpPr txBox="1"/>
          <p:nvPr/>
        </p:nvSpPr>
        <p:spPr>
          <a:xfrm>
            <a:off x="5224272" y="3255263"/>
            <a:ext cx="4206240" cy="320040"/>
          </a:xfrm>
          <a:prstGeom prst="rect">
            <a:avLst/>
          </a:prstGeom>
          <a:noFill/>
        </p:spPr>
        <p:txBody>
          <a:bodyPr wrap="none" lIns="0" rIns="0" tIns="0" bIns="0">
            <a:spAutoFit/>
          </a:bodyPr>
          <a:lstStyle/>
          <a:p>
            <a:pPr algn="l">
              <a:lnSpc>
                <a:spcPts val="2464"/>
              </a:lnSpc>
              <a:spcBef>
                <a:spcPts val="0"/>
              </a:spcBef>
              <a:spcAft>
                <a:spcPts val="0"/>
              </a:spcAft>
              <a:defRPr sz="2200" b="0">
                <a:solidFill>
                  <a:srgbClr val="182B3A"/>
                </a:solidFill>
                <a:latin typeface="Arial"/>
              </a:defRPr>
            </a:pPr>
            <a:r>
              <a:t>Answer: 20 r 5</a:t>
            </a:r>
          </a:p>
        </p:txBody>
      </p:sp>
      <p:sp>
        <p:nvSpPr>
          <p:cNvPr id="54" name="Rectangle 53"/>
          <p:cNvSpPr/>
          <p:nvPr/>
        </p:nvSpPr>
        <p:spPr>
          <a:xfrm>
            <a:off x="5004816" y="3721608"/>
            <a:ext cx="4588764" cy="1929384"/>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5" name="TextBox 54"/>
          <p:cNvSpPr txBox="1"/>
          <p:nvPr/>
        </p:nvSpPr>
        <p:spPr>
          <a:xfrm>
            <a:off x="5096256" y="3758184"/>
            <a:ext cx="4392168" cy="402336"/>
          </a:xfrm>
          <a:prstGeom prst="rect">
            <a:avLst/>
          </a:prstGeom>
          <a:noFill/>
        </p:spPr>
        <p:txBody>
          <a:bodyPr wrap="square" tIns="36576" bIns="36576" anchor="t">
            <a:spAutoFit/>
          </a:bodyPr>
          <a:lstStyle/>
          <a:p>
            <a:pPr>
              <a:lnSpc>
                <a:spcPts val="2268"/>
              </a:lnSpc>
              <a:spcBef>
                <a:spcPts val="0"/>
              </a:spcBef>
              <a:spcAft>
                <a:spcPts val="0"/>
              </a:spcAft>
              <a:defRPr sz="2100" b="1">
                <a:solidFill>
                  <a:srgbClr val="182B3A"/>
                </a:solidFill>
                <a:latin typeface="Arial"/>
              </a:defRPr>
            </a:pPr>
            <a:r>
              <a:t>2.  132 ÷ 8 (decimal answer)</a:t>
            </a:r>
          </a:p>
        </p:txBody>
      </p:sp>
      <p:cxnSp>
        <p:nvCxnSpPr>
          <p:cNvPr id="56" name="Connector 55"/>
          <p:cNvCxnSpPr/>
          <p:nvPr/>
        </p:nvCxnSpPr>
        <p:spPr>
          <a:xfrm>
            <a:off x="5562600" y="4681728"/>
            <a:ext cx="1344167" cy="0"/>
          </a:xfrm>
          <a:prstGeom prst="line">
            <a:avLst/>
          </a:prstGeom>
          <a:ln w="16510">
            <a:solidFill>
              <a:srgbClr val="182B3A"/>
            </a:solidFill>
          </a:ln>
        </p:spPr>
        <p:style>
          <a:lnRef idx="2">
            <a:schemeClr val="accent1"/>
          </a:lnRef>
          <a:fillRef idx="0">
            <a:schemeClr val="accent1"/>
          </a:fillRef>
          <a:effectRef idx="1">
            <a:schemeClr val="accent1"/>
          </a:effectRef>
          <a:fontRef idx="minor">
            <a:schemeClr val="tx1"/>
          </a:fontRef>
        </p:style>
      </p:cxnSp>
      <p:cxnSp>
        <p:nvCxnSpPr>
          <p:cNvPr id="57" name="Connector 56"/>
          <p:cNvCxnSpPr/>
          <p:nvPr/>
        </p:nvCxnSpPr>
        <p:spPr>
          <a:xfrm>
            <a:off x="5562600" y="4681728"/>
            <a:ext cx="0" cy="356616"/>
          </a:xfrm>
          <a:prstGeom prst="line">
            <a:avLst/>
          </a:prstGeom>
          <a:ln w="16510">
            <a:solidFill>
              <a:srgbClr val="182B3A"/>
            </a:solidFill>
          </a:ln>
        </p:spPr>
        <p:style>
          <a:lnRef idx="2">
            <a:schemeClr val="accent1"/>
          </a:lnRef>
          <a:fillRef idx="0">
            <a:schemeClr val="accent1"/>
          </a:fillRef>
          <a:effectRef idx="1">
            <a:schemeClr val="accent1"/>
          </a:effectRef>
          <a:fontRef idx="minor">
            <a:schemeClr val="tx1"/>
          </a:fontRef>
        </p:style>
      </p:cxnSp>
      <p:sp>
        <p:nvSpPr>
          <p:cNvPr id="58" name="TextBox 57"/>
          <p:cNvSpPr txBox="1"/>
          <p:nvPr/>
        </p:nvSpPr>
        <p:spPr>
          <a:xfrm>
            <a:off x="5187696" y="4704588"/>
            <a:ext cx="329184" cy="320040"/>
          </a:xfrm>
          <a:prstGeom prst="rect">
            <a:avLst/>
          </a:prstGeom>
          <a:noFill/>
        </p:spPr>
        <p:txBody>
          <a:bodyPr wrap="none" lIns="0" rIns="0" tIns="0" bIns="0">
            <a:spAutoFit/>
          </a:bodyPr>
          <a:lstStyle/>
          <a:p>
            <a:pPr algn="r">
              <a:lnSpc>
                <a:spcPts val="2464"/>
              </a:lnSpc>
              <a:spcBef>
                <a:spcPts val="0"/>
              </a:spcBef>
              <a:spcAft>
                <a:spcPts val="0"/>
              </a:spcAft>
              <a:defRPr sz="2200" b="0">
                <a:solidFill>
                  <a:srgbClr val="182B3A"/>
                </a:solidFill>
                <a:latin typeface="Arial"/>
              </a:defRPr>
            </a:pPr>
            <a:r>
              <a:t>8</a:t>
            </a:r>
          </a:p>
        </p:txBody>
      </p:sp>
      <p:sp>
        <p:nvSpPr>
          <p:cNvPr id="59" name="TextBox 58"/>
          <p:cNvSpPr txBox="1"/>
          <p:nvPr/>
        </p:nvSpPr>
        <p:spPr>
          <a:xfrm>
            <a:off x="5617464" y="4713732"/>
            <a:ext cx="420624" cy="329184"/>
          </a:xfrm>
          <a:prstGeom prst="rect">
            <a:avLst/>
          </a:prstGeom>
          <a:noFill/>
        </p:spPr>
        <p:txBody>
          <a:bodyPr wrap="none" lIns="0" rIns="0" tIns="0" bIns="0">
            <a:spAutoFit/>
          </a:bodyPr>
          <a:lstStyle/>
          <a:p>
            <a:pPr algn="ctr">
              <a:lnSpc>
                <a:spcPts val="2688"/>
              </a:lnSpc>
              <a:spcBef>
                <a:spcPts val="0"/>
              </a:spcBef>
              <a:spcAft>
                <a:spcPts val="0"/>
              </a:spcAft>
              <a:defRPr sz="2400" b="0">
                <a:solidFill>
                  <a:srgbClr val="182B3A"/>
                </a:solidFill>
                <a:latin typeface="Arial"/>
              </a:defRPr>
            </a:pPr>
            <a:r>
              <a:t>1</a:t>
            </a:r>
          </a:p>
        </p:txBody>
      </p:sp>
      <p:sp>
        <p:nvSpPr>
          <p:cNvPr id="60" name="TextBox 59"/>
          <p:cNvSpPr txBox="1"/>
          <p:nvPr/>
        </p:nvSpPr>
        <p:spPr>
          <a:xfrm>
            <a:off x="6038088" y="4713732"/>
            <a:ext cx="420624" cy="329184"/>
          </a:xfrm>
          <a:prstGeom prst="rect">
            <a:avLst/>
          </a:prstGeom>
          <a:noFill/>
        </p:spPr>
        <p:txBody>
          <a:bodyPr wrap="none" lIns="0" rIns="0" tIns="0" bIns="0">
            <a:spAutoFit/>
          </a:bodyPr>
          <a:lstStyle/>
          <a:p>
            <a:pPr algn="ctr">
              <a:lnSpc>
                <a:spcPts val="2688"/>
              </a:lnSpc>
              <a:spcBef>
                <a:spcPts val="0"/>
              </a:spcBef>
              <a:spcAft>
                <a:spcPts val="0"/>
              </a:spcAft>
              <a:defRPr sz="2400" b="0">
                <a:solidFill>
                  <a:srgbClr val="182B3A"/>
                </a:solidFill>
                <a:latin typeface="Arial"/>
              </a:defRPr>
            </a:pPr>
            <a:r>
              <a:t>3</a:t>
            </a:r>
          </a:p>
        </p:txBody>
      </p:sp>
      <p:sp>
        <p:nvSpPr>
          <p:cNvPr id="61" name="TextBox 60"/>
          <p:cNvSpPr txBox="1"/>
          <p:nvPr/>
        </p:nvSpPr>
        <p:spPr>
          <a:xfrm>
            <a:off x="6038088" y="4352544"/>
            <a:ext cx="420624" cy="310896"/>
          </a:xfrm>
          <a:prstGeom prst="rect">
            <a:avLst/>
          </a:prstGeom>
          <a:noFill/>
        </p:spPr>
        <p:txBody>
          <a:bodyPr wrap="none" lIns="0" rIns="0" tIns="0" bIns="0">
            <a:spAutoFit/>
          </a:bodyPr>
          <a:lstStyle/>
          <a:p>
            <a:pPr algn="ctr">
              <a:lnSpc>
                <a:spcPts val="2688"/>
              </a:lnSpc>
              <a:spcBef>
                <a:spcPts val="0"/>
              </a:spcBef>
              <a:spcAft>
                <a:spcPts val="0"/>
              </a:spcAft>
              <a:defRPr sz="2400" b="0">
                <a:solidFill>
                  <a:srgbClr val="182B3A"/>
                </a:solidFill>
                <a:latin typeface="Arial"/>
              </a:defRPr>
            </a:pPr>
            <a:r>
              <a:t>1</a:t>
            </a:r>
          </a:p>
        </p:txBody>
      </p:sp>
      <p:sp>
        <p:nvSpPr>
          <p:cNvPr id="62" name="TextBox 61"/>
          <p:cNvSpPr txBox="1"/>
          <p:nvPr/>
        </p:nvSpPr>
        <p:spPr>
          <a:xfrm>
            <a:off x="5983224" y="4686300"/>
            <a:ext cx="164592" cy="182880"/>
          </a:xfrm>
          <a:prstGeom prst="rect">
            <a:avLst/>
          </a:prstGeom>
          <a:noFill/>
        </p:spPr>
        <p:txBody>
          <a:bodyPr wrap="none" lIns="0" rIns="0" tIns="0" bIns="0">
            <a:spAutoFit/>
          </a:bodyPr>
          <a:lstStyle/>
          <a:p>
            <a:pPr algn="ctr">
              <a:lnSpc>
                <a:spcPts val="1344"/>
              </a:lnSpc>
              <a:spcBef>
                <a:spcPts val="0"/>
              </a:spcBef>
              <a:spcAft>
                <a:spcPts val="0"/>
              </a:spcAft>
              <a:defRPr sz="1200" b="0">
                <a:solidFill>
                  <a:srgbClr val="182B3A"/>
                </a:solidFill>
                <a:latin typeface="Arial"/>
              </a:defRPr>
            </a:pPr>
            <a:r>
              <a:t>1</a:t>
            </a:r>
          </a:p>
        </p:txBody>
      </p:sp>
      <p:sp>
        <p:nvSpPr>
          <p:cNvPr id="63" name="TextBox 62"/>
          <p:cNvSpPr txBox="1"/>
          <p:nvPr/>
        </p:nvSpPr>
        <p:spPr>
          <a:xfrm>
            <a:off x="6458712" y="4713732"/>
            <a:ext cx="420624" cy="329184"/>
          </a:xfrm>
          <a:prstGeom prst="rect">
            <a:avLst/>
          </a:prstGeom>
          <a:noFill/>
        </p:spPr>
        <p:txBody>
          <a:bodyPr wrap="none" lIns="0" rIns="0" tIns="0" bIns="0">
            <a:spAutoFit/>
          </a:bodyPr>
          <a:lstStyle/>
          <a:p>
            <a:pPr algn="ctr">
              <a:lnSpc>
                <a:spcPts val="2688"/>
              </a:lnSpc>
              <a:spcBef>
                <a:spcPts val="0"/>
              </a:spcBef>
              <a:spcAft>
                <a:spcPts val="0"/>
              </a:spcAft>
              <a:defRPr sz="2400" b="0">
                <a:solidFill>
                  <a:srgbClr val="182B3A"/>
                </a:solidFill>
                <a:latin typeface="Arial"/>
              </a:defRPr>
            </a:pPr>
            <a:r>
              <a:t>2</a:t>
            </a:r>
          </a:p>
        </p:txBody>
      </p:sp>
      <p:sp>
        <p:nvSpPr>
          <p:cNvPr id="64" name="TextBox 63"/>
          <p:cNvSpPr txBox="1"/>
          <p:nvPr/>
        </p:nvSpPr>
        <p:spPr>
          <a:xfrm>
            <a:off x="6458712" y="4352544"/>
            <a:ext cx="420624" cy="310896"/>
          </a:xfrm>
          <a:prstGeom prst="rect">
            <a:avLst/>
          </a:prstGeom>
          <a:noFill/>
        </p:spPr>
        <p:txBody>
          <a:bodyPr wrap="none" lIns="0" rIns="0" tIns="0" bIns="0">
            <a:spAutoFit/>
          </a:bodyPr>
          <a:lstStyle/>
          <a:p>
            <a:pPr algn="ctr">
              <a:lnSpc>
                <a:spcPts val="2688"/>
              </a:lnSpc>
              <a:spcBef>
                <a:spcPts val="0"/>
              </a:spcBef>
              <a:spcAft>
                <a:spcPts val="0"/>
              </a:spcAft>
              <a:defRPr sz="2400" b="0">
                <a:solidFill>
                  <a:srgbClr val="182B3A"/>
                </a:solidFill>
                <a:latin typeface="Arial"/>
              </a:defRPr>
            </a:pPr>
            <a:r>
              <a:t>6</a:t>
            </a:r>
          </a:p>
        </p:txBody>
      </p:sp>
      <p:sp>
        <p:nvSpPr>
          <p:cNvPr id="65" name="TextBox 64"/>
          <p:cNvSpPr txBox="1"/>
          <p:nvPr/>
        </p:nvSpPr>
        <p:spPr>
          <a:xfrm>
            <a:off x="6403848" y="4686300"/>
            <a:ext cx="164592" cy="182880"/>
          </a:xfrm>
          <a:prstGeom prst="rect">
            <a:avLst/>
          </a:prstGeom>
          <a:noFill/>
        </p:spPr>
        <p:txBody>
          <a:bodyPr wrap="none" lIns="0" rIns="0" tIns="0" bIns="0">
            <a:spAutoFit/>
          </a:bodyPr>
          <a:lstStyle/>
          <a:p>
            <a:pPr algn="ctr">
              <a:lnSpc>
                <a:spcPts val="1344"/>
              </a:lnSpc>
              <a:spcBef>
                <a:spcPts val="0"/>
              </a:spcBef>
              <a:spcAft>
                <a:spcPts val="0"/>
              </a:spcAft>
              <a:defRPr sz="1200" b="0">
                <a:solidFill>
                  <a:srgbClr val="182B3A"/>
                </a:solidFill>
                <a:latin typeface="Arial"/>
              </a:defRPr>
            </a:pPr>
            <a:r>
              <a:t>5</a:t>
            </a:r>
          </a:p>
        </p:txBody>
      </p:sp>
      <p:sp>
        <p:nvSpPr>
          <p:cNvPr id="66" name="TextBox 65"/>
          <p:cNvSpPr txBox="1"/>
          <p:nvPr/>
        </p:nvSpPr>
        <p:spPr>
          <a:xfrm>
            <a:off x="6970776" y="4379976"/>
            <a:ext cx="731520" cy="274320"/>
          </a:xfrm>
          <a:prstGeom prst="rect">
            <a:avLst/>
          </a:prstGeom>
          <a:noFill/>
        </p:spPr>
        <p:txBody>
          <a:bodyPr wrap="none" lIns="0" rIns="0" tIns="0" bIns="0">
            <a:spAutoFit/>
          </a:bodyPr>
          <a:lstStyle/>
          <a:p>
            <a:pPr algn="l">
              <a:lnSpc>
                <a:spcPts val="2016"/>
              </a:lnSpc>
              <a:spcBef>
                <a:spcPts val="0"/>
              </a:spcBef>
              <a:spcAft>
                <a:spcPts val="0"/>
              </a:spcAft>
              <a:defRPr sz="1800" b="0">
                <a:solidFill>
                  <a:srgbClr val="182B3A"/>
                </a:solidFill>
                <a:latin typeface="Arial"/>
              </a:defRPr>
            </a:pPr>
            <a:r>
              <a:t>r 4</a:t>
            </a:r>
          </a:p>
        </p:txBody>
      </p:sp>
      <p:sp>
        <p:nvSpPr>
          <p:cNvPr id="67" name="TextBox 66"/>
          <p:cNvSpPr txBox="1"/>
          <p:nvPr/>
        </p:nvSpPr>
        <p:spPr>
          <a:xfrm>
            <a:off x="5224272" y="5257800"/>
            <a:ext cx="4206240" cy="320040"/>
          </a:xfrm>
          <a:prstGeom prst="rect">
            <a:avLst/>
          </a:prstGeom>
          <a:noFill/>
        </p:spPr>
        <p:txBody>
          <a:bodyPr wrap="none" lIns="0" rIns="0" tIns="0" bIns="0">
            <a:spAutoFit/>
          </a:bodyPr>
          <a:lstStyle/>
          <a:p>
            <a:pPr algn="l">
              <a:lnSpc>
                <a:spcPts val="2464"/>
              </a:lnSpc>
              <a:spcBef>
                <a:spcPts val="0"/>
              </a:spcBef>
              <a:spcAft>
                <a:spcPts val="0"/>
              </a:spcAft>
              <a:defRPr sz="2200" b="0">
                <a:solidFill>
                  <a:srgbClr val="182B3A"/>
                </a:solidFill>
                <a:latin typeface="Arial"/>
              </a:defRPr>
            </a:pPr>
            <a:r>
              <a:t>Answer: 16.4</a:t>
            </a:r>
          </a:p>
        </p:txBody>
      </p:sp>
      <p:sp>
        <p:nvSpPr>
          <p:cNvPr id="68" name="Rectangle 67"/>
          <p:cNvSpPr/>
          <p:nvPr/>
        </p:nvSpPr>
        <p:spPr>
          <a:xfrm>
            <a:off x="5004816" y="5724144"/>
            <a:ext cx="4588764" cy="1929384"/>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69" name="TextBox 68"/>
          <p:cNvSpPr txBox="1"/>
          <p:nvPr/>
        </p:nvSpPr>
        <p:spPr>
          <a:xfrm>
            <a:off x="5096256" y="5760720"/>
            <a:ext cx="4392168" cy="402336"/>
          </a:xfrm>
          <a:prstGeom prst="rect">
            <a:avLst/>
          </a:prstGeom>
          <a:noFill/>
        </p:spPr>
        <p:txBody>
          <a:bodyPr wrap="square" tIns="36576" bIns="36576" anchor="t">
            <a:spAutoFit/>
          </a:bodyPr>
          <a:lstStyle/>
          <a:p>
            <a:pPr>
              <a:lnSpc>
                <a:spcPts val="2268"/>
              </a:lnSpc>
              <a:spcBef>
                <a:spcPts val="0"/>
              </a:spcBef>
              <a:spcAft>
                <a:spcPts val="0"/>
              </a:spcAft>
              <a:defRPr sz="2100" b="1">
                <a:solidFill>
                  <a:srgbClr val="182B3A"/>
                </a:solidFill>
                <a:latin typeface="Arial"/>
              </a:defRPr>
            </a:pPr>
            <a:r>
              <a:t>3.  245 ÷ 6</a:t>
            </a:r>
          </a:p>
        </p:txBody>
      </p:sp>
      <p:cxnSp>
        <p:nvCxnSpPr>
          <p:cNvPr id="70" name="Connector 69"/>
          <p:cNvCxnSpPr/>
          <p:nvPr/>
        </p:nvCxnSpPr>
        <p:spPr>
          <a:xfrm>
            <a:off x="5562600" y="6684264"/>
            <a:ext cx="1344167" cy="0"/>
          </a:xfrm>
          <a:prstGeom prst="line">
            <a:avLst/>
          </a:prstGeom>
          <a:ln w="16510">
            <a:solidFill>
              <a:srgbClr val="182B3A"/>
            </a:solidFill>
          </a:ln>
        </p:spPr>
        <p:style>
          <a:lnRef idx="2">
            <a:schemeClr val="accent1"/>
          </a:lnRef>
          <a:fillRef idx="0">
            <a:schemeClr val="accent1"/>
          </a:fillRef>
          <a:effectRef idx="1">
            <a:schemeClr val="accent1"/>
          </a:effectRef>
          <a:fontRef idx="minor">
            <a:schemeClr val="tx1"/>
          </a:fontRef>
        </p:style>
      </p:cxnSp>
      <p:cxnSp>
        <p:nvCxnSpPr>
          <p:cNvPr id="71" name="Connector 70"/>
          <p:cNvCxnSpPr/>
          <p:nvPr/>
        </p:nvCxnSpPr>
        <p:spPr>
          <a:xfrm>
            <a:off x="5562600" y="6684264"/>
            <a:ext cx="0" cy="356615"/>
          </a:xfrm>
          <a:prstGeom prst="line">
            <a:avLst/>
          </a:prstGeom>
          <a:ln w="16510">
            <a:solidFill>
              <a:srgbClr val="182B3A"/>
            </a:solidFill>
          </a:ln>
        </p:spPr>
        <p:style>
          <a:lnRef idx="2">
            <a:schemeClr val="accent1"/>
          </a:lnRef>
          <a:fillRef idx="0">
            <a:schemeClr val="accent1"/>
          </a:fillRef>
          <a:effectRef idx="1">
            <a:schemeClr val="accent1"/>
          </a:effectRef>
          <a:fontRef idx="minor">
            <a:schemeClr val="tx1"/>
          </a:fontRef>
        </p:style>
      </p:cxnSp>
      <p:sp>
        <p:nvSpPr>
          <p:cNvPr id="72" name="TextBox 71"/>
          <p:cNvSpPr txBox="1"/>
          <p:nvPr/>
        </p:nvSpPr>
        <p:spPr>
          <a:xfrm>
            <a:off x="5187696" y="6707123"/>
            <a:ext cx="329184" cy="320040"/>
          </a:xfrm>
          <a:prstGeom prst="rect">
            <a:avLst/>
          </a:prstGeom>
          <a:noFill/>
        </p:spPr>
        <p:txBody>
          <a:bodyPr wrap="none" lIns="0" rIns="0" tIns="0" bIns="0">
            <a:spAutoFit/>
          </a:bodyPr>
          <a:lstStyle/>
          <a:p>
            <a:pPr algn="r">
              <a:lnSpc>
                <a:spcPts val="2464"/>
              </a:lnSpc>
              <a:spcBef>
                <a:spcPts val="0"/>
              </a:spcBef>
              <a:spcAft>
                <a:spcPts val="0"/>
              </a:spcAft>
              <a:defRPr sz="2200" b="0">
                <a:solidFill>
                  <a:srgbClr val="182B3A"/>
                </a:solidFill>
                <a:latin typeface="Arial"/>
              </a:defRPr>
            </a:pPr>
            <a:r>
              <a:t>6</a:t>
            </a:r>
          </a:p>
        </p:txBody>
      </p:sp>
      <p:sp>
        <p:nvSpPr>
          <p:cNvPr id="73" name="TextBox 72"/>
          <p:cNvSpPr txBox="1"/>
          <p:nvPr/>
        </p:nvSpPr>
        <p:spPr>
          <a:xfrm>
            <a:off x="5617464" y="6716268"/>
            <a:ext cx="420624" cy="329184"/>
          </a:xfrm>
          <a:prstGeom prst="rect">
            <a:avLst/>
          </a:prstGeom>
          <a:noFill/>
        </p:spPr>
        <p:txBody>
          <a:bodyPr wrap="none" lIns="0" rIns="0" tIns="0" bIns="0">
            <a:spAutoFit/>
          </a:bodyPr>
          <a:lstStyle/>
          <a:p>
            <a:pPr algn="ctr">
              <a:lnSpc>
                <a:spcPts val="2688"/>
              </a:lnSpc>
              <a:spcBef>
                <a:spcPts val="0"/>
              </a:spcBef>
              <a:spcAft>
                <a:spcPts val="0"/>
              </a:spcAft>
              <a:defRPr sz="2400" b="0">
                <a:solidFill>
                  <a:srgbClr val="182B3A"/>
                </a:solidFill>
                <a:latin typeface="Arial"/>
              </a:defRPr>
            </a:pPr>
            <a:r>
              <a:t>2</a:t>
            </a:r>
          </a:p>
        </p:txBody>
      </p:sp>
      <p:sp>
        <p:nvSpPr>
          <p:cNvPr id="74" name="TextBox 73"/>
          <p:cNvSpPr txBox="1"/>
          <p:nvPr/>
        </p:nvSpPr>
        <p:spPr>
          <a:xfrm>
            <a:off x="6038088" y="6716268"/>
            <a:ext cx="420624" cy="329184"/>
          </a:xfrm>
          <a:prstGeom prst="rect">
            <a:avLst/>
          </a:prstGeom>
          <a:noFill/>
        </p:spPr>
        <p:txBody>
          <a:bodyPr wrap="none" lIns="0" rIns="0" tIns="0" bIns="0">
            <a:spAutoFit/>
          </a:bodyPr>
          <a:lstStyle/>
          <a:p>
            <a:pPr algn="ctr">
              <a:lnSpc>
                <a:spcPts val="2688"/>
              </a:lnSpc>
              <a:spcBef>
                <a:spcPts val="0"/>
              </a:spcBef>
              <a:spcAft>
                <a:spcPts val="0"/>
              </a:spcAft>
              <a:defRPr sz="2400" b="0">
                <a:solidFill>
                  <a:srgbClr val="182B3A"/>
                </a:solidFill>
                <a:latin typeface="Arial"/>
              </a:defRPr>
            </a:pPr>
            <a:r>
              <a:t>4</a:t>
            </a:r>
          </a:p>
        </p:txBody>
      </p:sp>
      <p:sp>
        <p:nvSpPr>
          <p:cNvPr id="75" name="TextBox 74"/>
          <p:cNvSpPr txBox="1"/>
          <p:nvPr/>
        </p:nvSpPr>
        <p:spPr>
          <a:xfrm>
            <a:off x="6038088" y="6355079"/>
            <a:ext cx="420624" cy="310896"/>
          </a:xfrm>
          <a:prstGeom prst="rect">
            <a:avLst/>
          </a:prstGeom>
          <a:noFill/>
        </p:spPr>
        <p:txBody>
          <a:bodyPr wrap="none" lIns="0" rIns="0" tIns="0" bIns="0">
            <a:spAutoFit/>
          </a:bodyPr>
          <a:lstStyle/>
          <a:p>
            <a:pPr algn="ctr">
              <a:lnSpc>
                <a:spcPts val="2688"/>
              </a:lnSpc>
              <a:spcBef>
                <a:spcPts val="0"/>
              </a:spcBef>
              <a:spcAft>
                <a:spcPts val="0"/>
              </a:spcAft>
              <a:defRPr sz="2400" b="0">
                <a:solidFill>
                  <a:srgbClr val="182B3A"/>
                </a:solidFill>
                <a:latin typeface="Arial"/>
              </a:defRPr>
            </a:pPr>
            <a:r>
              <a:t>3</a:t>
            </a:r>
          </a:p>
        </p:txBody>
      </p:sp>
      <p:sp>
        <p:nvSpPr>
          <p:cNvPr id="76" name="TextBox 75"/>
          <p:cNvSpPr txBox="1"/>
          <p:nvPr/>
        </p:nvSpPr>
        <p:spPr>
          <a:xfrm>
            <a:off x="5983224" y="6688836"/>
            <a:ext cx="164592" cy="182880"/>
          </a:xfrm>
          <a:prstGeom prst="rect">
            <a:avLst/>
          </a:prstGeom>
          <a:noFill/>
        </p:spPr>
        <p:txBody>
          <a:bodyPr wrap="none" lIns="0" rIns="0" tIns="0" bIns="0">
            <a:spAutoFit/>
          </a:bodyPr>
          <a:lstStyle/>
          <a:p>
            <a:pPr algn="ctr">
              <a:lnSpc>
                <a:spcPts val="1344"/>
              </a:lnSpc>
              <a:spcBef>
                <a:spcPts val="0"/>
              </a:spcBef>
              <a:spcAft>
                <a:spcPts val="0"/>
              </a:spcAft>
              <a:defRPr sz="1200" b="0">
                <a:solidFill>
                  <a:srgbClr val="182B3A"/>
                </a:solidFill>
                <a:latin typeface="Arial"/>
              </a:defRPr>
            </a:pPr>
            <a:r>
              <a:t>2</a:t>
            </a:r>
          </a:p>
        </p:txBody>
      </p:sp>
      <p:sp>
        <p:nvSpPr>
          <p:cNvPr id="77" name="TextBox 76"/>
          <p:cNvSpPr txBox="1"/>
          <p:nvPr/>
        </p:nvSpPr>
        <p:spPr>
          <a:xfrm>
            <a:off x="6458712" y="6716268"/>
            <a:ext cx="420624" cy="329184"/>
          </a:xfrm>
          <a:prstGeom prst="rect">
            <a:avLst/>
          </a:prstGeom>
          <a:noFill/>
        </p:spPr>
        <p:txBody>
          <a:bodyPr wrap="none" lIns="0" rIns="0" tIns="0" bIns="0">
            <a:spAutoFit/>
          </a:bodyPr>
          <a:lstStyle/>
          <a:p>
            <a:pPr algn="ctr">
              <a:lnSpc>
                <a:spcPts val="2688"/>
              </a:lnSpc>
              <a:spcBef>
                <a:spcPts val="0"/>
              </a:spcBef>
              <a:spcAft>
                <a:spcPts val="0"/>
              </a:spcAft>
              <a:defRPr sz="2400" b="0">
                <a:solidFill>
                  <a:srgbClr val="182B3A"/>
                </a:solidFill>
                <a:latin typeface="Arial"/>
              </a:defRPr>
            </a:pPr>
            <a:r>
              <a:t>5</a:t>
            </a:r>
          </a:p>
        </p:txBody>
      </p:sp>
      <p:sp>
        <p:nvSpPr>
          <p:cNvPr id="78" name="TextBox 77"/>
          <p:cNvSpPr txBox="1"/>
          <p:nvPr/>
        </p:nvSpPr>
        <p:spPr>
          <a:xfrm>
            <a:off x="6458712" y="6355079"/>
            <a:ext cx="420624" cy="310896"/>
          </a:xfrm>
          <a:prstGeom prst="rect">
            <a:avLst/>
          </a:prstGeom>
          <a:noFill/>
        </p:spPr>
        <p:txBody>
          <a:bodyPr wrap="none" lIns="0" rIns="0" tIns="0" bIns="0">
            <a:spAutoFit/>
          </a:bodyPr>
          <a:lstStyle/>
          <a:p>
            <a:pPr algn="ctr">
              <a:lnSpc>
                <a:spcPts val="2688"/>
              </a:lnSpc>
              <a:spcBef>
                <a:spcPts val="0"/>
              </a:spcBef>
              <a:spcAft>
                <a:spcPts val="0"/>
              </a:spcAft>
              <a:defRPr sz="2400" b="0">
                <a:solidFill>
                  <a:srgbClr val="182B3A"/>
                </a:solidFill>
                <a:latin typeface="Arial"/>
              </a:defRPr>
            </a:pPr>
            <a:r>
              <a:t>10</a:t>
            </a:r>
          </a:p>
        </p:txBody>
      </p:sp>
      <p:sp>
        <p:nvSpPr>
          <p:cNvPr id="79" name="TextBox 78"/>
          <p:cNvSpPr txBox="1"/>
          <p:nvPr/>
        </p:nvSpPr>
        <p:spPr>
          <a:xfrm>
            <a:off x="6403848" y="6688836"/>
            <a:ext cx="164592" cy="182880"/>
          </a:xfrm>
          <a:prstGeom prst="rect">
            <a:avLst/>
          </a:prstGeom>
          <a:noFill/>
        </p:spPr>
        <p:txBody>
          <a:bodyPr wrap="none" lIns="0" rIns="0" tIns="0" bIns="0">
            <a:spAutoFit/>
          </a:bodyPr>
          <a:lstStyle/>
          <a:p>
            <a:pPr algn="ctr">
              <a:lnSpc>
                <a:spcPts val="1344"/>
              </a:lnSpc>
              <a:spcBef>
                <a:spcPts val="0"/>
              </a:spcBef>
              <a:spcAft>
                <a:spcPts val="0"/>
              </a:spcAft>
              <a:defRPr sz="1200" b="0">
                <a:solidFill>
                  <a:srgbClr val="182B3A"/>
                </a:solidFill>
                <a:latin typeface="Arial"/>
              </a:defRPr>
            </a:pPr>
            <a:r>
              <a:t>6</a:t>
            </a:r>
          </a:p>
        </p:txBody>
      </p:sp>
      <p:sp>
        <p:nvSpPr>
          <p:cNvPr id="80" name="TextBox 79"/>
          <p:cNvSpPr txBox="1"/>
          <p:nvPr/>
        </p:nvSpPr>
        <p:spPr>
          <a:xfrm>
            <a:off x="6970776" y="6382512"/>
            <a:ext cx="731520" cy="274320"/>
          </a:xfrm>
          <a:prstGeom prst="rect">
            <a:avLst/>
          </a:prstGeom>
          <a:noFill/>
        </p:spPr>
        <p:txBody>
          <a:bodyPr wrap="none" lIns="0" rIns="0" tIns="0" bIns="0">
            <a:spAutoFit/>
          </a:bodyPr>
          <a:lstStyle/>
          <a:p>
            <a:pPr algn="l">
              <a:lnSpc>
                <a:spcPts val="2016"/>
              </a:lnSpc>
              <a:spcBef>
                <a:spcPts val="0"/>
              </a:spcBef>
              <a:spcAft>
                <a:spcPts val="0"/>
              </a:spcAft>
              <a:defRPr sz="1800" b="0">
                <a:solidFill>
                  <a:srgbClr val="182B3A"/>
                </a:solidFill>
                <a:latin typeface="Arial"/>
              </a:defRPr>
            </a:pPr>
            <a:r>
              <a:t>r 5</a:t>
            </a:r>
          </a:p>
        </p:txBody>
      </p:sp>
      <p:sp>
        <p:nvSpPr>
          <p:cNvPr id="81" name="TextBox 80"/>
          <p:cNvSpPr txBox="1"/>
          <p:nvPr/>
        </p:nvSpPr>
        <p:spPr>
          <a:xfrm>
            <a:off x="5224272" y="7260336"/>
            <a:ext cx="4206240" cy="320040"/>
          </a:xfrm>
          <a:prstGeom prst="rect">
            <a:avLst/>
          </a:prstGeom>
          <a:noFill/>
        </p:spPr>
        <p:txBody>
          <a:bodyPr wrap="none" lIns="0" rIns="0" tIns="0" bIns="0">
            <a:spAutoFit/>
          </a:bodyPr>
          <a:lstStyle/>
          <a:p>
            <a:pPr algn="l">
              <a:lnSpc>
                <a:spcPts val="2464"/>
              </a:lnSpc>
              <a:spcBef>
                <a:spcPts val="0"/>
              </a:spcBef>
              <a:spcAft>
                <a:spcPts val="0"/>
              </a:spcAft>
              <a:defRPr sz="2200" b="0">
                <a:solidFill>
                  <a:srgbClr val="182B3A"/>
                </a:solidFill>
                <a:latin typeface="Arial"/>
              </a:defRPr>
            </a:pPr>
            <a:r>
              <a:t>Answer: 310 r 5</a:t>
            </a:r>
          </a:p>
        </p:txBody>
      </p:sp>
      <p:sp>
        <p:nvSpPr>
          <p:cNvPr id="82" name="Rectangle 81"/>
          <p:cNvSpPr/>
          <p:nvPr/>
        </p:nvSpPr>
        <p:spPr>
          <a:xfrm>
            <a:off x="9625584" y="1234440"/>
            <a:ext cx="4588764" cy="420624"/>
          </a:xfrm>
          <a:prstGeom prst="rect">
            <a:avLst/>
          </a:prstGeom>
          <a:solidFill>
            <a:srgbClr val="754B87"/>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83" name="TextBox 82"/>
          <p:cNvSpPr txBox="1"/>
          <p:nvPr/>
        </p:nvSpPr>
        <p:spPr>
          <a:xfrm>
            <a:off x="9689592" y="1261872"/>
            <a:ext cx="4474464" cy="347472"/>
          </a:xfrm>
          <a:prstGeom prst="rect">
            <a:avLst/>
          </a:prstGeom>
          <a:noFill/>
        </p:spPr>
        <p:txBody>
          <a:bodyPr wrap="square" tIns="36576" bIns="36576" anchor="t">
            <a:spAutoFit/>
          </a:bodyPr>
          <a:lstStyle/>
          <a:p>
            <a:pPr>
              <a:lnSpc>
                <a:spcPts val="2160"/>
              </a:lnSpc>
              <a:spcBef>
                <a:spcPts val="0"/>
              </a:spcBef>
              <a:spcAft>
                <a:spcPts val="0"/>
              </a:spcAft>
              <a:defRPr sz="2000" b="1">
                <a:solidFill>
                  <a:srgbClr val="FFFFFF"/>
                </a:solidFill>
                <a:latin typeface="Arial"/>
              </a:defRPr>
            </a:pPr>
            <a:r>
              <a:t>Confidence</a:t>
            </a:r>
          </a:p>
        </p:txBody>
      </p:sp>
      <p:sp>
        <p:nvSpPr>
          <p:cNvPr id="84" name="Rectangle 83"/>
          <p:cNvSpPr/>
          <p:nvPr/>
        </p:nvSpPr>
        <p:spPr>
          <a:xfrm>
            <a:off x="9625584" y="1719072"/>
            <a:ext cx="4588764" cy="1929384"/>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85" name="TextBox 84"/>
          <p:cNvSpPr txBox="1"/>
          <p:nvPr/>
        </p:nvSpPr>
        <p:spPr>
          <a:xfrm>
            <a:off x="9717024" y="1755648"/>
            <a:ext cx="4392168" cy="402336"/>
          </a:xfrm>
          <a:prstGeom prst="rect">
            <a:avLst/>
          </a:prstGeom>
          <a:noFill/>
        </p:spPr>
        <p:txBody>
          <a:bodyPr wrap="square" tIns="36576" bIns="36576" anchor="t">
            <a:spAutoFit/>
          </a:bodyPr>
          <a:lstStyle/>
          <a:p>
            <a:pPr>
              <a:lnSpc>
                <a:spcPts val="2268"/>
              </a:lnSpc>
              <a:spcBef>
                <a:spcPts val="0"/>
              </a:spcBef>
              <a:spcAft>
                <a:spcPts val="0"/>
              </a:spcAft>
              <a:defRPr sz="2100" b="1">
                <a:solidFill>
                  <a:srgbClr val="182B3A"/>
                </a:solidFill>
                <a:latin typeface="Arial"/>
              </a:defRPr>
            </a:pPr>
            <a:r>
              <a:t>1.  1,248 ÷ 12</a:t>
            </a:r>
          </a:p>
        </p:txBody>
      </p:sp>
      <p:cxnSp>
        <p:nvCxnSpPr>
          <p:cNvPr id="86" name="Connector 85"/>
          <p:cNvCxnSpPr/>
          <p:nvPr/>
        </p:nvCxnSpPr>
        <p:spPr>
          <a:xfrm>
            <a:off x="10183368" y="2679191"/>
            <a:ext cx="1764792" cy="0"/>
          </a:xfrm>
          <a:prstGeom prst="line">
            <a:avLst/>
          </a:prstGeom>
          <a:ln w="16510">
            <a:solidFill>
              <a:srgbClr val="182B3A"/>
            </a:solidFill>
          </a:ln>
        </p:spPr>
        <p:style>
          <a:lnRef idx="2">
            <a:schemeClr val="accent1"/>
          </a:lnRef>
          <a:fillRef idx="0">
            <a:schemeClr val="accent1"/>
          </a:fillRef>
          <a:effectRef idx="1">
            <a:schemeClr val="accent1"/>
          </a:effectRef>
          <a:fontRef idx="minor">
            <a:schemeClr val="tx1"/>
          </a:fontRef>
        </p:style>
      </p:cxnSp>
      <p:cxnSp>
        <p:nvCxnSpPr>
          <p:cNvPr id="87" name="Connector 86"/>
          <p:cNvCxnSpPr/>
          <p:nvPr/>
        </p:nvCxnSpPr>
        <p:spPr>
          <a:xfrm>
            <a:off x="10183368" y="2679191"/>
            <a:ext cx="0" cy="356617"/>
          </a:xfrm>
          <a:prstGeom prst="line">
            <a:avLst/>
          </a:prstGeom>
          <a:ln w="16510">
            <a:solidFill>
              <a:srgbClr val="182B3A"/>
            </a:solidFill>
          </a:ln>
        </p:spPr>
        <p:style>
          <a:lnRef idx="2">
            <a:schemeClr val="accent1"/>
          </a:lnRef>
          <a:fillRef idx="0">
            <a:schemeClr val="accent1"/>
          </a:fillRef>
          <a:effectRef idx="1">
            <a:schemeClr val="accent1"/>
          </a:effectRef>
          <a:fontRef idx="minor">
            <a:schemeClr val="tx1"/>
          </a:fontRef>
        </p:style>
      </p:cxnSp>
      <p:sp>
        <p:nvSpPr>
          <p:cNvPr id="88" name="TextBox 87"/>
          <p:cNvSpPr txBox="1"/>
          <p:nvPr/>
        </p:nvSpPr>
        <p:spPr>
          <a:xfrm>
            <a:off x="9808464" y="2702051"/>
            <a:ext cx="329184" cy="320040"/>
          </a:xfrm>
          <a:prstGeom prst="rect">
            <a:avLst/>
          </a:prstGeom>
          <a:noFill/>
        </p:spPr>
        <p:txBody>
          <a:bodyPr wrap="none" lIns="0" rIns="0" tIns="0" bIns="0">
            <a:spAutoFit/>
          </a:bodyPr>
          <a:lstStyle/>
          <a:p>
            <a:pPr algn="r">
              <a:lnSpc>
                <a:spcPts val="2464"/>
              </a:lnSpc>
              <a:spcBef>
                <a:spcPts val="0"/>
              </a:spcBef>
              <a:spcAft>
                <a:spcPts val="0"/>
              </a:spcAft>
              <a:defRPr sz="2200" b="0">
                <a:solidFill>
                  <a:srgbClr val="182B3A"/>
                </a:solidFill>
                <a:latin typeface="Arial"/>
              </a:defRPr>
            </a:pPr>
            <a:r>
              <a:t>12</a:t>
            </a:r>
          </a:p>
        </p:txBody>
      </p:sp>
      <p:sp>
        <p:nvSpPr>
          <p:cNvPr id="89" name="TextBox 88"/>
          <p:cNvSpPr txBox="1"/>
          <p:nvPr/>
        </p:nvSpPr>
        <p:spPr>
          <a:xfrm>
            <a:off x="10238232" y="2711196"/>
            <a:ext cx="420624" cy="329184"/>
          </a:xfrm>
          <a:prstGeom prst="rect">
            <a:avLst/>
          </a:prstGeom>
          <a:noFill/>
        </p:spPr>
        <p:txBody>
          <a:bodyPr wrap="none" lIns="0" rIns="0" tIns="0" bIns="0">
            <a:spAutoFit/>
          </a:bodyPr>
          <a:lstStyle/>
          <a:p>
            <a:pPr algn="ctr">
              <a:lnSpc>
                <a:spcPts val="2688"/>
              </a:lnSpc>
              <a:spcBef>
                <a:spcPts val="0"/>
              </a:spcBef>
              <a:spcAft>
                <a:spcPts val="0"/>
              </a:spcAft>
              <a:defRPr sz="2400" b="0">
                <a:solidFill>
                  <a:srgbClr val="182B3A"/>
                </a:solidFill>
                <a:latin typeface="Arial"/>
              </a:defRPr>
            </a:pPr>
            <a:r>
              <a:t>1</a:t>
            </a:r>
          </a:p>
        </p:txBody>
      </p:sp>
      <p:sp>
        <p:nvSpPr>
          <p:cNvPr id="90" name="TextBox 89"/>
          <p:cNvSpPr txBox="1"/>
          <p:nvPr/>
        </p:nvSpPr>
        <p:spPr>
          <a:xfrm>
            <a:off x="10658856" y="2711196"/>
            <a:ext cx="420624" cy="329184"/>
          </a:xfrm>
          <a:prstGeom prst="rect">
            <a:avLst/>
          </a:prstGeom>
          <a:noFill/>
        </p:spPr>
        <p:txBody>
          <a:bodyPr wrap="none" lIns="0" rIns="0" tIns="0" bIns="0">
            <a:spAutoFit/>
          </a:bodyPr>
          <a:lstStyle/>
          <a:p>
            <a:pPr algn="ctr">
              <a:lnSpc>
                <a:spcPts val="2688"/>
              </a:lnSpc>
              <a:spcBef>
                <a:spcPts val="0"/>
              </a:spcBef>
              <a:spcAft>
                <a:spcPts val="0"/>
              </a:spcAft>
              <a:defRPr sz="2400" b="0">
                <a:solidFill>
                  <a:srgbClr val="182B3A"/>
                </a:solidFill>
                <a:latin typeface="Arial"/>
              </a:defRPr>
            </a:pPr>
            <a:r>
              <a:t>2</a:t>
            </a:r>
          </a:p>
        </p:txBody>
      </p:sp>
      <p:sp>
        <p:nvSpPr>
          <p:cNvPr id="91" name="TextBox 90"/>
          <p:cNvSpPr txBox="1"/>
          <p:nvPr/>
        </p:nvSpPr>
        <p:spPr>
          <a:xfrm>
            <a:off x="10658856" y="2350008"/>
            <a:ext cx="420624" cy="310896"/>
          </a:xfrm>
          <a:prstGeom prst="rect">
            <a:avLst/>
          </a:prstGeom>
          <a:noFill/>
        </p:spPr>
        <p:txBody>
          <a:bodyPr wrap="none" lIns="0" rIns="0" tIns="0" bIns="0">
            <a:spAutoFit/>
          </a:bodyPr>
          <a:lstStyle/>
          <a:p>
            <a:pPr algn="ctr">
              <a:lnSpc>
                <a:spcPts val="2688"/>
              </a:lnSpc>
              <a:spcBef>
                <a:spcPts val="0"/>
              </a:spcBef>
              <a:spcAft>
                <a:spcPts val="0"/>
              </a:spcAft>
              <a:defRPr sz="2400" b="0">
                <a:solidFill>
                  <a:srgbClr val="182B3A"/>
                </a:solidFill>
                <a:latin typeface="Arial"/>
              </a:defRPr>
            </a:pPr>
            <a:r>
              <a:t>1</a:t>
            </a:r>
          </a:p>
        </p:txBody>
      </p:sp>
      <p:sp>
        <p:nvSpPr>
          <p:cNvPr id="92" name="TextBox 91"/>
          <p:cNvSpPr txBox="1"/>
          <p:nvPr/>
        </p:nvSpPr>
        <p:spPr>
          <a:xfrm>
            <a:off x="10603992" y="2683763"/>
            <a:ext cx="164592" cy="182880"/>
          </a:xfrm>
          <a:prstGeom prst="rect">
            <a:avLst/>
          </a:prstGeom>
          <a:noFill/>
        </p:spPr>
        <p:txBody>
          <a:bodyPr wrap="none" lIns="0" rIns="0" tIns="0" bIns="0">
            <a:spAutoFit/>
          </a:bodyPr>
          <a:lstStyle/>
          <a:p>
            <a:pPr algn="ctr">
              <a:lnSpc>
                <a:spcPts val="1344"/>
              </a:lnSpc>
              <a:spcBef>
                <a:spcPts val="0"/>
              </a:spcBef>
              <a:spcAft>
                <a:spcPts val="0"/>
              </a:spcAft>
              <a:defRPr sz="1200" b="0">
                <a:solidFill>
                  <a:srgbClr val="182B3A"/>
                </a:solidFill>
                <a:latin typeface="Arial"/>
              </a:defRPr>
            </a:pPr>
            <a:r>
              <a:t>1</a:t>
            </a:r>
          </a:p>
        </p:txBody>
      </p:sp>
      <p:sp>
        <p:nvSpPr>
          <p:cNvPr id="93" name="TextBox 92"/>
          <p:cNvSpPr txBox="1"/>
          <p:nvPr/>
        </p:nvSpPr>
        <p:spPr>
          <a:xfrm>
            <a:off x="11079480" y="2711196"/>
            <a:ext cx="420624" cy="329184"/>
          </a:xfrm>
          <a:prstGeom prst="rect">
            <a:avLst/>
          </a:prstGeom>
          <a:noFill/>
        </p:spPr>
        <p:txBody>
          <a:bodyPr wrap="none" lIns="0" rIns="0" tIns="0" bIns="0">
            <a:spAutoFit/>
          </a:bodyPr>
          <a:lstStyle/>
          <a:p>
            <a:pPr algn="ctr">
              <a:lnSpc>
                <a:spcPts val="2688"/>
              </a:lnSpc>
              <a:spcBef>
                <a:spcPts val="0"/>
              </a:spcBef>
              <a:spcAft>
                <a:spcPts val="0"/>
              </a:spcAft>
              <a:defRPr sz="2400" b="0">
                <a:solidFill>
                  <a:srgbClr val="182B3A"/>
                </a:solidFill>
                <a:latin typeface="Arial"/>
              </a:defRPr>
            </a:pPr>
            <a:r>
              <a:t>4</a:t>
            </a:r>
          </a:p>
        </p:txBody>
      </p:sp>
      <p:sp>
        <p:nvSpPr>
          <p:cNvPr id="94" name="TextBox 93"/>
          <p:cNvSpPr txBox="1"/>
          <p:nvPr/>
        </p:nvSpPr>
        <p:spPr>
          <a:xfrm>
            <a:off x="11500104" y="2711196"/>
            <a:ext cx="420624" cy="329184"/>
          </a:xfrm>
          <a:prstGeom prst="rect">
            <a:avLst/>
          </a:prstGeom>
          <a:noFill/>
        </p:spPr>
        <p:txBody>
          <a:bodyPr wrap="none" lIns="0" rIns="0" tIns="0" bIns="0">
            <a:spAutoFit/>
          </a:bodyPr>
          <a:lstStyle/>
          <a:p>
            <a:pPr algn="ctr">
              <a:lnSpc>
                <a:spcPts val="2688"/>
              </a:lnSpc>
              <a:spcBef>
                <a:spcPts val="0"/>
              </a:spcBef>
              <a:spcAft>
                <a:spcPts val="0"/>
              </a:spcAft>
              <a:defRPr sz="2400" b="0">
                <a:solidFill>
                  <a:srgbClr val="182B3A"/>
                </a:solidFill>
                <a:latin typeface="Arial"/>
              </a:defRPr>
            </a:pPr>
            <a:r>
              <a:t>8</a:t>
            </a:r>
          </a:p>
        </p:txBody>
      </p:sp>
      <p:sp>
        <p:nvSpPr>
          <p:cNvPr id="95" name="TextBox 94"/>
          <p:cNvSpPr txBox="1"/>
          <p:nvPr/>
        </p:nvSpPr>
        <p:spPr>
          <a:xfrm>
            <a:off x="11500104" y="2350008"/>
            <a:ext cx="420624" cy="310896"/>
          </a:xfrm>
          <a:prstGeom prst="rect">
            <a:avLst/>
          </a:prstGeom>
          <a:noFill/>
        </p:spPr>
        <p:txBody>
          <a:bodyPr wrap="none" lIns="0" rIns="0" tIns="0" bIns="0">
            <a:spAutoFit/>
          </a:bodyPr>
          <a:lstStyle/>
          <a:p>
            <a:pPr algn="ctr">
              <a:lnSpc>
                <a:spcPts val="2688"/>
              </a:lnSpc>
              <a:spcBef>
                <a:spcPts val="0"/>
              </a:spcBef>
              <a:spcAft>
                <a:spcPts val="0"/>
              </a:spcAft>
              <a:defRPr sz="2400" b="0">
                <a:solidFill>
                  <a:srgbClr val="182B3A"/>
                </a:solidFill>
                <a:latin typeface="Arial"/>
              </a:defRPr>
            </a:pPr>
            <a:r>
              <a:t>4</a:t>
            </a:r>
          </a:p>
        </p:txBody>
      </p:sp>
      <p:sp>
        <p:nvSpPr>
          <p:cNvPr id="96" name="TextBox 95"/>
          <p:cNvSpPr txBox="1"/>
          <p:nvPr/>
        </p:nvSpPr>
        <p:spPr>
          <a:xfrm>
            <a:off x="11445240" y="2683763"/>
            <a:ext cx="164592" cy="182880"/>
          </a:xfrm>
          <a:prstGeom prst="rect">
            <a:avLst/>
          </a:prstGeom>
          <a:noFill/>
        </p:spPr>
        <p:txBody>
          <a:bodyPr wrap="none" lIns="0" rIns="0" tIns="0" bIns="0">
            <a:spAutoFit/>
          </a:bodyPr>
          <a:lstStyle/>
          <a:p>
            <a:pPr algn="ctr">
              <a:lnSpc>
                <a:spcPts val="1344"/>
              </a:lnSpc>
              <a:spcBef>
                <a:spcPts val="0"/>
              </a:spcBef>
              <a:spcAft>
                <a:spcPts val="0"/>
              </a:spcAft>
              <a:defRPr sz="1200" b="0">
                <a:solidFill>
                  <a:srgbClr val="182B3A"/>
                </a:solidFill>
                <a:latin typeface="Arial"/>
              </a:defRPr>
            </a:pPr>
            <a:r>
              <a:t>4</a:t>
            </a:r>
          </a:p>
        </p:txBody>
      </p:sp>
      <p:sp>
        <p:nvSpPr>
          <p:cNvPr id="97" name="TextBox 96"/>
          <p:cNvSpPr txBox="1"/>
          <p:nvPr/>
        </p:nvSpPr>
        <p:spPr>
          <a:xfrm>
            <a:off x="9845040" y="3255263"/>
            <a:ext cx="4206240" cy="320040"/>
          </a:xfrm>
          <a:prstGeom prst="rect">
            <a:avLst/>
          </a:prstGeom>
          <a:noFill/>
        </p:spPr>
        <p:txBody>
          <a:bodyPr wrap="none" lIns="0" rIns="0" tIns="0" bIns="0">
            <a:spAutoFit/>
          </a:bodyPr>
          <a:lstStyle/>
          <a:p>
            <a:pPr algn="l">
              <a:lnSpc>
                <a:spcPts val="2464"/>
              </a:lnSpc>
              <a:spcBef>
                <a:spcPts val="0"/>
              </a:spcBef>
              <a:spcAft>
                <a:spcPts val="0"/>
              </a:spcAft>
              <a:defRPr sz="2200" b="0">
                <a:solidFill>
                  <a:srgbClr val="182B3A"/>
                </a:solidFill>
                <a:latin typeface="Arial"/>
              </a:defRPr>
            </a:pPr>
            <a:r>
              <a:t>Answer: 14</a:t>
            </a:r>
          </a:p>
        </p:txBody>
      </p:sp>
      <p:sp>
        <p:nvSpPr>
          <p:cNvPr id="98" name="Rectangle 97"/>
          <p:cNvSpPr/>
          <p:nvPr/>
        </p:nvSpPr>
        <p:spPr>
          <a:xfrm>
            <a:off x="9625584" y="3721608"/>
            <a:ext cx="4588764" cy="1929384"/>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99" name="TextBox 98"/>
          <p:cNvSpPr txBox="1"/>
          <p:nvPr/>
        </p:nvSpPr>
        <p:spPr>
          <a:xfrm>
            <a:off x="9717024" y="3758184"/>
            <a:ext cx="4392168" cy="402336"/>
          </a:xfrm>
          <a:prstGeom prst="rect">
            <a:avLst/>
          </a:prstGeom>
          <a:noFill/>
        </p:spPr>
        <p:txBody>
          <a:bodyPr wrap="square" tIns="36576" bIns="36576" anchor="t">
            <a:spAutoFit/>
          </a:bodyPr>
          <a:lstStyle/>
          <a:p>
            <a:pPr>
              <a:lnSpc>
                <a:spcPts val="2268"/>
              </a:lnSpc>
              <a:spcBef>
                <a:spcPts val="0"/>
              </a:spcBef>
              <a:spcAft>
                <a:spcPts val="0"/>
              </a:spcAft>
              <a:defRPr sz="2100" b="1">
                <a:solidFill>
                  <a:srgbClr val="182B3A"/>
                </a:solidFill>
                <a:latin typeface="Arial"/>
              </a:defRPr>
            </a:pPr>
            <a:r>
              <a:t>2.  615 ÷ 12 (decimal answer)</a:t>
            </a:r>
          </a:p>
        </p:txBody>
      </p:sp>
      <p:cxnSp>
        <p:nvCxnSpPr>
          <p:cNvPr id="100" name="Connector 99"/>
          <p:cNvCxnSpPr/>
          <p:nvPr/>
        </p:nvCxnSpPr>
        <p:spPr>
          <a:xfrm>
            <a:off x="10183368" y="4681728"/>
            <a:ext cx="2606040" cy="0"/>
          </a:xfrm>
          <a:prstGeom prst="line">
            <a:avLst/>
          </a:prstGeom>
          <a:ln w="16510">
            <a:solidFill>
              <a:srgbClr val="182B3A"/>
            </a:solidFill>
          </a:ln>
        </p:spPr>
        <p:style>
          <a:lnRef idx="2">
            <a:schemeClr val="accent1"/>
          </a:lnRef>
          <a:fillRef idx="0">
            <a:schemeClr val="accent1"/>
          </a:fillRef>
          <a:effectRef idx="1">
            <a:schemeClr val="accent1"/>
          </a:effectRef>
          <a:fontRef idx="minor">
            <a:schemeClr val="tx1"/>
          </a:fontRef>
        </p:style>
      </p:cxnSp>
      <p:cxnSp>
        <p:nvCxnSpPr>
          <p:cNvPr id="101" name="Connector 100"/>
          <p:cNvCxnSpPr/>
          <p:nvPr/>
        </p:nvCxnSpPr>
        <p:spPr>
          <a:xfrm>
            <a:off x="10183368" y="4681728"/>
            <a:ext cx="0" cy="356616"/>
          </a:xfrm>
          <a:prstGeom prst="line">
            <a:avLst/>
          </a:prstGeom>
          <a:ln w="16510">
            <a:solidFill>
              <a:srgbClr val="182B3A"/>
            </a:solidFill>
          </a:ln>
        </p:spPr>
        <p:style>
          <a:lnRef idx="2">
            <a:schemeClr val="accent1"/>
          </a:lnRef>
          <a:fillRef idx="0">
            <a:schemeClr val="accent1"/>
          </a:fillRef>
          <a:effectRef idx="1">
            <a:schemeClr val="accent1"/>
          </a:effectRef>
          <a:fontRef idx="minor">
            <a:schemeClr val="tx1"/>
          </a:fontRef>
        </p:style>
      </p:cxnSp>
      <p:sp>
        <p:nvSpPr>
          <p:cNvPr id="102" name="TextBox 101"/>
          <p:cNvSpPr txBox="1"/>
          <p:nvPr/>
        </p:nvSpPr>
        <p:spPr>
          <a:xfrm>
            <a:off x="9808464" y="4704588"/>
            <a:ext cx="329184" cy="320040"/>
          </a:xfrm>
          <a:prstGeom prst="rect">
            <a:avLst/>
          </a:prstGeom>
          <a:noFill/>
        </p:spPr>
        <p:txBody>
          <a:bodyPr wrap="none" lIns="0" rIns="0" tIns="0" bIns="0">
            <a:spAutoFit/>
          </a:bodyPr>
          <a:lstStyle/>
          <a:p>
            <a:pPr algn="r">
              <a:lnSpc>
                <a:spcPts val="2464"/>
              </a:lnSpc>
              <a:spcBef>
                <a:spcPts val="0"/>
              </a:spcBef>
              <a:spcAft>
                <a:spcPts val="0"/>
              </a:spcAft>
              <a:defRPr sz="2200" b="0">
                <a:solidFill>
                  <a:srgbClr val="182B3A"/>
                </a:solidFill>
                <a:latin typeface="Arial"/>
              </a:defRPr>
            </a:pPr>
            <a:r>
              <a:t>12</a:t>
            </a:r>
          </a:p>
        </p:txBody>
      </p:sp>
      <p:sp>
        <p:nvSpPr>
          <p:cNvPr id="103" name="TextBox 102"/>
          <p:cNvSpPr txBox="1"/>
          <p:nvPr/>
        </p:nvSpPr>
        <p:spPr>
          <a:xfrm>
            <a:off x="10238232" y="4713732"/>
            <a:ext cx="420624" cy="329184"/>
          </a:xfrm>
          <a:prstGeom prst="rect">
            <a:avLst/>
          </a:prstGeom>
          <a:noFill/>
        </p:spPr>
        <p:txBody>
          <a:bodyPr wrap="none" lIns="0" rIns="0" tIns="0" bIns="0">
            <a:spAutoFit/>
          </a:bodyPr>
          <a:lstStyle/>
          <a:p>
            <a:pPr algn="ctr">
              <a:lnSpc>
                <a:spcPts val="2688"/>
              </a:lnSpc>
              <a:spcBef>
                <a:spcPts val="0"/>
              </a:spcBef>
              <a:spcAft>
                <a:spcPts val="0"/>
              </a:spcAft>
              <a:defRPr sz="2400" b="0">
                <a:solidFill>
                  <a:srgbClr val="182B3A"/>
                </a:solidFill>
                <a:latin typeface="Arial"/>
              </a:defRPr>
            </a:pPr>
            <a:r>
              <a:t>6</a:t>
            </a:r>
          </a:p>
        </p:txBody>
      </p:sp>
      <p:sp>
        <p:nvSpPr>
          <p:cNvPr id="104" name="TextBox 103"/>
          <p:cNvSpPr txBox="1"/>
          <p:nvPr/>
        </p:nvSpPr>
        <p:spPr>
          <a:xfrm>
            <a:off x="10658856" y="4713732"/>
            <a:ext cx="420624" cy="329184"/>
          </a:xfrm>
          <a:prstGeom prst="rect">
            <a:avLst/>
          </a:prstGeom>
          <a:noFill/>
        </p:spPr>
        <p:txBody>
          <a:bodyPr wrap="none" lIns="0" rIns="0" tIns="0" bIns="0">
            <a:spAutoFit/>
          </a:bodyPr>
          <a:lstStyle/>
          <a:p>
            <a:pPr algn="ctr">
              <a:lnSpc>
                <a:spcPts val="2688"/>
              </a:lnSpc>
              <a:spcBef>
                <a:spcPts val="0"/>
              </a:spcBef>
              <a:spcAft>
                <a:spcPts val="0"/>
              </a:spcAft>
              <a:defRPr sz="2400" b="0">
                <a:solidFill>
                  <a:srgbClr val="182B3A"/>
                </a:solidFill>
                <a:latin typeface="Arial"/>
              </a:defRPr>
            </a:pPr>
            <a:r>
              <a:t>1</a:t>
            </a:r>
          </a:p>
        </p:txBody>
      </p:sp>
      <p:sp>
        <p:nvSpPr>
          <p:cNvPr id="105" name="TextBox 104"/>
          <p:cNvSpPr txBox="1"/>
          <p:nvPr/>
        </p:nvSpPr>
        <p:spPr>
          <a:xfrm>
            <a:off x="10658856" y="4352544"/>
            <a:ext cx="420624" cy="310896"/>
          </a:xfrm>
          <a:prstGeom prst="rect">
            <a:avLst/>
          </a:prstGeom>
          <a:noFill/>
        </p:spPr>
        <p:txBody>
          <a:bodyPr wrap="none" lIns="0" rIns="0" tIns="0" bIns="0">
            <a:spAutoFit/>
          </a:bodyPr>
          <a:lstStyle/>
          <a:p>
            <a:pPr algn="ctr">
              <a:lnSpc>
                <a:spcPts val="2688"/>
              </a:lnSpc>
              <a:spcBef>
                <a:spcPts val="0"/>
              </a:spcBef>
              <a:spcAft>
                <a:spcPts val="0"/>
              </a:spcAft>
              <a:defRPr sz="2400" b="0">
                <a:solidFill>
                  <a:srgbClr val="182B3A"/>
                </a:solidFill>
                <a:latin typeface="Arial"/>
              </a:defRPr>
            </a:pPr>
            <a:r>
              <a:t>5</a:t>
            </a:r>
          </a:p>
        </p:txBody>
      </p:sp>
      <p:sp>
        <p:nvSpPr>
          <p:cNvPr id="106" name="TextBox 105"/>
          <p:cNvSpPr txBox="1"/>
          <p:nvPr/>
        </p:nvSpPr>
        <p:spPr>
          <a:xfrm>
            <a:off x="10603992" y="4686300"/>
            <a:ext cx="164592" cy="182880"/>
          </a:xfrm>
          <a:prstGeom prst="rect">
            <a:avLst/>
          </a:prstGeom>
          <a:noFill/>
        </p:spPr>
        <p:txBody>
          <a:bodyPr wrap="none" lIns="0" rIns="0" tIns="0" bIns="0">
            <a:spAutoFit/>
          </a:bodyPr>
          <a:lstStyle/>
          <a:p>
            <a:pPr algn="ctr">
              <a:lnSpc>
                <a:spcPts val="1344"/>
              </a:lnSpc>
              <a:spcBef>
                <a:spcPts val="0"/>
              </a:spcBef>
              <a:spcAft>
                <a:spcPts val="0"/>
              </a:spcAft>
              <a:defRPr sz="1200" b="0">
                <a:solidFill>
                  <a:srgbClr val="182B3A"/>
                </a:solidFill>
                <a:latin typeface="Arial"/>
              </a:defRPr>
            </a:pPr>
            <a:r>
              <a:t>6</a:t>
            </a:r>
          </a:p>
        </p:txBody>
      </p:sp>
      <p:sp>
        <p:nvSpPr>
          <p:cNvPr id="107" name="TextBox 106"/>
          <p:cNvSpPr txBox="1"/>
          <p:nvPr/>
        </p:nvSpPr>
        <p:spPr>
          <a:xfrm>
            <a:off x="11079480" y="4713732"/>
            <a:ext cx="420624" cy="329184"/>
          </a:xfrm>
          <a:prstGeom prst="rect">
            <a:avLst/>
          </a:prstGeom>
          <a:noFill/>
        </p:spPr>
        <p:txBody>
          <a:bodyPr wrap="none" lIns="0" rIns="0" tIns="0" bIns="0">
            <a:spAutoFit/>
          </a:bodyPr>
          <a:lstStyle/>
          <a:p>
            <a:pPr algn="ctr">
              <a:lnSpc>
                <a:spcPts val="2688"/>
              </a:lnSpc>
              <a:spcBef>
                <a:spcPts val="0"/>
              </a:spcBef>
              <a:spcAft>
                <a:spcPts val="0"/>
              </a:spcAft>
              <a:defRPr sz="2400" b="0">
                <a:solidFill>
                  <a:srgbClr val="182B3A"/>
                </a:solidFill>
                <a:latin typeface="Arial"/>
              </a:defRPr>
            </a:pPr>
            <a:r>
              <a:t>5</a:t>
            </a:r>
          </a:p>
        </p:txBody>
      </p:sp>
      <p:sp>
        <p:nvSpPr>
          <p:cNvPr id="108" name="TextBox 107"/>
          <p:cNvSpPr txBox="1"/>
          <p:nvPr/>
        </p:nvSpPr>
        <p:spPr>
          <a:xfrm>
            <a:off x="11079480" y="4352544"/>
            <a:ext cx="420624" cy="310896"/>
          </a:xfrm>
          <a:prstGeom prst="rect">
            <a:avLst/>
          </a:prstGeom>
          <a:noFill/>
        </p:spPr>
        <p:txBody>
          <a:bodyPr wrap="none" lIns="0" rIns="0" tIns="0" bIns="0">
            <a:spAutoFit/>
          </a:bodyPr>
          <a:lstStyle/>
          <a:p>
            <a:pPr algn="ctr">
              <a:lnSpc>
                <a:spcPts val="2688"/>
              </a:lnSpc>
              <a:spcBef>
                <a:spcPts val="0"/>
              </a:spcBef>
              <a:spcAft>
                <a:spcPts val="0"/>
              </a:spcAft>
              <a:defRPr sz="2400" b="0">
                <a:solidFill>
                  <a:srgbClr val="182B3A"/>
                </a:solidFill>
                <a:latin typeface="Arial"/>
              </a:defRPr>
            </a:pPr>
            <a:r>
              <a:t>1</a:t>
            </a:r>
          </a:p>
        </p:txBody>
      </p:sp>
      <p:sp>
        <p:nvSpPr>
          <p:cNvPr id="109" name="TextBox 108"/>
          <p:cNvSpPr txBox="1"/>
          <p:nvPr/>
        </p:nvSpPr>
        <p:spPr>
          <a:xfrm>
            <a:off x="11024616" y="4686300"/>
            <a:ext cx="164592" cy="182880"/>
          </a:xfrm>
          <a:prstGeom prst="rect">
            <a:avLst/>
          </a:prstGeom>
          <a:noFill/>
        </p:spPr>
        <p:txBody>
          <a:bodyPr wrap="none" lIns="0" rIns="0" tIns="0" bIns="0">
            <a:spAutoFit/>
          </a:bodyPr>
          <a:lstStyle/>
          <a:p>
            <a:pPr algn="ctr">
              <a:lnSpc>
                <a:spcPts val="1344"/>
              </a:lnSpc>
              <a:spcBef>
                <a:spcPts val="0"/>
              </a:spcBef>
              <a:spcAft>
                <a:spcPts val="0"/>
              </a:spcAft>
              <a:defRPr sz="1200" b="0">
                <a:solidFill>
                  <a:srgbClr val="182B3A"/>
                </a:solidFill>
                <a:latin typeface="Arial"/>
              </a:defRPr>
            </a:pPr>
            <a:r>
              <a:t>1</a:t>
            </a:r>
          </a:p>
        </p:txBody>
      </p:sp>
      <p:sp>
        <p:nvSpPr>
          <p:cNvPr id="110" name="TextBox 109"/>
          <p:cNvSpPr txBox="1"/>
          <p:nvPr/>
        </p:nvSpPr>
        <p:spPr>
          <a:xfrm>
            <a:off x="11500104" y="4713732"/>
            <a:ext cx="420624" cy="329184"/>
          </a:xfrm>
          <a:prstGeom prst="rect">
            <a:avLst/>
          </a:prstGeom>
          <a:noFill/>
        </p:spPr>
        <p:txBody>
          <a:bodyPr wrap="none" lIns="0" rIns="0" tIns="0" bIns="0">
            <a:spAutoFit/>
          </a:bodyPr>
          <a:lstStyle/>
          <a:p>
            <a:pPr algn="ctr">
              <a:lnSpc>
                <a:spcPts val="2688"/>
              </a:lnSpc>
              <a:spcBef>
                <a:spcPts val="0"/>
              </a:spcBef>
              <a:spcAft>
                <a:spcPts val="0"/>
              </a:spcAft>
              <a:defRPr sz="2400" b="0">
                <a:solidFill>
                  <a:srgbClr val="182B3A"/>
                </a:solidFill>
                <a:latin typeface="Arial"/>
              </a:defRPr>
            </a:pPr>
            <a:r>
              <a:t>.</a:t>
            </a:r>
          </a:p>
        </p:txBody>
      </p:sp>
      <p:sp>
        <p:nvSpPr>
          <p:cNvPr id="111" name="TextBox 110"/>
          <p:cNvSpPr txBox="1"/>
          <p:nvPr/>
        </p:nvSpPr>
        <p:spPr>
          <a:xfrm>
            <a:off x="10869168" y="4352544"/>
            <a:ext cx="420624" cy="310896"/>
          </a:xfrm>
          <a:prstGeom prst="rect">
            <a:avLst/>
          </a:prstGeom>
          <a:noFill/>
        </p:spPr>
        <p:txBody>
          <a:bodyPr wrap="none" lIns="0" rIns="0" tIns="0" bIns="0">
            <a:spAutoFit/>
          </a:bodyPr>
          <a:lstStyle/>
          <a:p>
            <a:pPr algn="ctr">
              <a:lnSpc>
                <a:spcPts val="2688"/>
              </a:lnSpc>
              <a:spcBef>
                <a:spcPts val="0"/>
              </a:spcBef>
              <a:spcAft>
                <a:spcPts val="0"/>
              </a:spcAft>
              <a:defRPr sz="2400" b="0">
                <a:solidFill>
                  <a:srgbClr val="182B3A"/>
                </a:solidFill>
                <a:latin typeface="Arial"/>
              </a:defRPr>
            </a:pPr>
            <a:r>
              <a:t>.</a:t>
            </a:r>
          </a:p>
        </p:txBody>
      </p:sp>
      <p:sp>
        <p:nvSpPr>
          <p:cNvPr id="112" name="TextBox 111"/>
          <p:cNvSpPr txBox="1"/>
          <p:nvPr/>
        </p:nvSpPr>
        <p:spPr>
          <a:xfrm>
            <a:off x="11920728" y="4713732"/>
            <a:ext cx="420624" cy="329184"/>
          </a:xfrm>
          <a:prstGeom prst="rect">
            <a:avLst/>
          </a:prstGeom>
          <a:noFill/>
        </p:spPr>
        <p:txBody>
          <a:bodyPr wrap="none" lIns="0" rIns="0" tIns="0" bIns="0">
            <a:spAutoFit/>
          </a:bodyPr>
          <a:lstStyle/>
          <a:p>
            <a:pPr algn="ctr">
              <a:lnSpc>
                <a:spcPts val="2688"/>
              </a:lnSpc>
              <a:spcBef>
                <a:spcPts val="0"/>
              </a:spcBef>
              <a:spcAft>
                <a:spcPts val="0"/>
              </a:spcAft>
              <a:defRPr sz="2400" b="0">
                <a:solidFill>
                  <a:srgbClr val="182B3A"/>
                </a:solidFill>
                <a:latin typeface="Arial"/>
              </a:defRPr>
            </a:pPr>
            <a:r>
              <a:t>0</a:t>
            </a:r>
          </a:p>
        </p:txBody>
      </p:sp>
      <p:sp>
        <p:nvSpPr>
          <p:cNvPr id="113" name="TextBox 112"/>
          <p:cNvSpPr txBox="1"/>
          <p:nvPr/>
        </p:nvSpPr>
        <p:spPr>
          <a:xfrm>
            <a:off x="11920728" y="4352544"/>
            <a:ext cx="420624" cy="310896"/>
          </a:xfrm>
          <a:prstGeom prst="rect">
            <a:avLst/>
          </a:prstGeom>
          <a:noFill/>
        </p:spPr>
        <p:txBody>
          <a:bodyPr wrap="none" lIns="0" rIns="0" tIns="0" bIns="0">
            <a:spAutoFit/>
          </a:bodyPr>
          <a:lstStyle/>
          <a:p>
            <a:pPr algn="ctr">
              <a:lnSpc>
                <a:spcPts val="2688"/>
              </a:lnSpc>
              <a:spcBef>
                <a:spcPts val="0"/>
              </a:spcBef>
              <a:spcAft>
                <a:spcPts val="0"/>
              </a:spcAft>
              <a:defRPr sz="2400" b="0">
                <a:solidFill>
                  <a:srgbClr val="182B3A"/>
                </a:solidFill>
                <a:latin typeface="Arial"/>
              </a:defRPr>
            </a:pPr>
            <a:r>
              <a:t>2</a:t>
            </a:r>
          </a:p>
        </p:txBody>
      </p:sp>
      <p:sp>
        <p:nvSpPr>
          <p:cNvPr id="114" name="TextBox 113"/>
          <p:cNvSpPr txBox="1"/>
          <p:nvPr/>
        </p:nvSpPr>
        <p:spPr>
          <a:xfrm>
            <a:off x="11865864" y="4686300"/>
            <a:ext cx="164592" cy="182880"/>
          </a:xfrm>
          <a:prstGeom prst="rect">
            <a:avLst/>
          </a:prstGeom>
          <a:noFill/>
        </p:spPr>
        <p:txBody>
          <a:bodyPr wrap="none" lIns="0" rIns="0" tIns="0" bIns="0">
            <a:spAutoFit/>
          </a:bodyPr>
          <a:lstStyle/>
          <a:p>
            <a:pPr algn="ctr">
              <a:lnSpc>
                <a:spcPts val="1344"/>
              </a:lnSpc>
              <a:spcBef>
                <a:spcPts val="0"/>
              </a:spcBef>
              <a:spcAft>
                <a:spcPts val="0"/>
              </a:spcAft>
              <a:defRPr sz="1200" b="0">
                <a:solidFill>
                  <a:srgbClr val="182B3A"/>
                </a:solidFill>
                <a:latin typeface="Arial"/>
              </a:defRPr>
            </a:pPr>
            <a:r>
              <a:t>3</a:t>
            </a:r>
          </a:p>
        </p:txBody>
      </p:sp>
      <p:sp>
        <p:nvSpPr>
          <p:cNvPr id="115" name="TextBox 114"/>
          <p:cNvSpPr txBox="1"/>
          <p:nvPr/>
        </p:nvSpPr>
        <p:spPr>
          <a:xfrm>
            <a:off x="12341352" y="4713732"/>
            <a:ext cx="420624" cy="329184"/>
          </a:xfrm>
          <a:prstGeom prst="rect">
            <a:avLst/>
          </a:prstGeom>
          <a:noFill/>
        </p:spPr>
        <p:txBody>
          <a:bodyPr wrap="none" lIns="0" rIns="0" tIns="0" bIns="0">
            <a:spAutoFit/>
          </a:bodyPr>
          <a:lstStyle/>
          <a:p>
            <a:pPr algn="ctr">
              <a:lnSpc>
                <a:spcPts val="2688"/>
              </a:lnSpc>
              <a:spcBef>
                <a:spcPts val="0"/>
              </a:spcBef>
              <a:spcAft>
                <a:spcPts val="0"/>
              </a:spcAft>
              <a:defRPr sz="2400" b="0">
                <a:solidFill>
                  <a:srgbClr val="182B3A"/>
                </a:solidFill>
                <a:latin typeface="Arial"/>
              </a:defRPr>
            </a:pPr>
            <a:r>
              <a:t>0</a:t>
            </a:r>
          </a:p>
        </p:txBody>
      </p:sp>
      <p:sp>
        <p:nvSpPr>
          <p:cNvPr id="116" name="TextBox 115"/>
          <p:cNvSpPr txBox="1"/>
          <p:nvPr/>
        </p:nvSpPr>
        <p:spPr>
          <a:xfrm>
            <a:off x="12341352" y="4352544"/>
            <a:ext cx="420624" cy="310896"/>
          </a:xfrm>
          <a:prstGeom prst="rect">
            <a:avLst/>
          </a:prstGeom>
          <a:noFill/>
        </p:spPr>
        <p:txBody>
          <a:bodyPr wrap="none" lIns="0" rIns="0" tIns="0" bIns="0">
            <a:spAutoFit/>
          </a:bodyPr>
          <a:lstStyle/>
          <a:p>
            <a:pPr algn="ctr">
              <a:lnSpc>
                <a:spcPts val="2688"/>
              </a:lnSpc>
              <a:spcBef>
                <a:spcPts val="0"/>
              </a:spcBef>
              <a:spcAft>
                <a:spcPts val="0"/>
              </a:spcAft>
              <a:defRPr sz="2400" b="0">
                <a:solidFill>
                  <a:srgbClr val="182B3A"/>
                </a:solidFill>
                <a:latin typeface="Arial"/>
              </a:defRPr>
            </a:pPr>
            <a:r>
              <a:t>5</a:t>
            </a:r>
          </a:p>
        </p:txBody>
      </p:sp>
      <p:sp>
        <p:nvSpPr>
          <p:cNvPr id="117" name="TextBox 116"/>
          <p:cNvSpPr txBox="1"/>
          <p:nvPr/>
        </p:nvSpPr>
        <p:spPr>
          <a:xfrm>
            <a:off x="12286488" y="4686300"/>
            <a:ext cx="164592" cy="182880"/>
          </a:xfrm>
          <a:prstGeom prst="rect">
            <a:avLst/>
          </a:prstGeom>
          <a:noFill/>
        </p:spPr>
        <p:txBody>
          <a:bodyPr wrap="none" lIns="0" rIns="0" tIns="0" bIns="0">
            <a:spAutoFit/>
          </a:bodyPr>
          <a:lstStyle/>
          <a:p>
            <a:pPr algn="ctr">
              <a:lnSpc>
                <a:spcPts val="1344"/>
              </a:lnSpc>
              <a:spcBef>
                <a:spcPts val="0"/>
              </a:spcBef>
              <a:spcAft>
                <a:spcPts val="0"/>
              </a:spcAft>
              <a:defRPr sz="1200" b="0">
                <a:solidFill>
                  <a:srgbClr val="182B3A"/>
                </a:solidFill>
                <a:latin typeface="Arial"/>
              </a:defRPr>
            </a:pPr>
            <a:r>
              <a:t>6</a:t>
            </a:r>
          </a:p>
        </p:txBody>
      </p:sp>
      <p:sp>
        <p:nvSpPr>
          <p:cNvPr id="118" name="TextBox 117"/>
          <p:cNvSpPr txBox="1"/>
          <p:nvPr/>
        </p:nvSpPr>
        <p:spPr>
          <a:xfrm>
            <a:off x="9845040" y="5257800"/>
            <a:ext cx="4206240" cy="320040"/>
          </a:xfrm>
          <a:prstGeom prst="rect">
            <a:avLst/>
          </a:prstGeom>
          <a:noFill/>
        </p:spPr>
        <p:txBody>
          <a:bodyPr wrap="none" lIns="0" rIns="0" tIns="0" bIns="0">
            <a:spAutoFit/>
          </a:bodyPr>
          <a:lstStyle/>
          <a:p>
            <a:pPr algn="l">
              <a:lnSpc>
                <a:spcPts val="2464"/>
              </a:lnSpc>
              <a:spcBef>
                <a:spcPts val="0"/>
              </a:spcBef>
              <a:spcAft>
                <a:spcPts val="0"/>
              </a:spcAft>
              <a:defRPr sz="2200" b="0">
                <a:solidFill>
                  <a:srgbClr val="182B3A"/>
                </a:solidFill>
                <a:latin typeface="Arial"/>
              </a:defRPr>
            </a:pPr>
            <a:r>
              <a:t>Answer: 5.125</a:t>
            </a:r>
          </a:p>
        </p:txBody>
      </p:sp>
      <p:sp>
        <p:nvSpPr>
          <p:cNvPr id="119" name="Rectangle 118"/>
          <p:cNvSpPr/>
          <p:nvPr/>
        </p:nvSpPr>
        <p:spPr>
          <a:xfrm>
            <a:off x="9625584" y="5724144"/>
            <a:ext cx="4588764" cy="1929384"/>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20" name="TextBox 119"/>
          <p:cNvSpPr txBox="1"/>
          <p:nvPr/>
        </p:nvSpPr>
        <p:spPr>
          <a:xfrm>
            <a:off x="9717024" y="5760720"/>
            <a:ext cx="4392168" cy="402336"/>
          </a:xfrm>
          <a:prstGeom prst="rect">
            <a:avLst/>
          </a:prstGeom>
          <a:noFill/>
        </p:spPr>
        <p:txBody>
          <a:bodyPr wrap="square" tIns="36576" bIns="36576" anchor="t">
            <a:spAutoFit/>
          </a:bodyPr>
          <a:lstStyle/>
          <a:p>
            <a:pPr>
              <a:lnSpc>
                <a:spcPts val="2268"/>
              </a:lnSpc>
              <a:spcBef>
                <a:spcPts val="0"/>
              </a:spcBef>
              <a:spcAft>
                <a:spcPts val="0"/>
              </a:spcAft>
              <a:defRPr sz="2100" b="1">
                <a:solidFill>
                  <a:srgbClr val="182B3A"/>
                </a:solidFill>
                <a:latin typeface="Arial"/>
              </a:defRPr>
            </a:pPr>
            <a:r>
              <a:t>3.  4,834 ÷ 16 (decimal answer)</a:t>
            </a:r>
          </a:p>
        </p:txBody>
      </p:sp>
      <p:cxnSp>
        <p:nvCxnSpPr>
          <p:cNvPr id="121" name="Connector 120"/>
          <p:cNvCxnSpPr/>
          <p:nvPr/>
        </p:nvCxnSpPr>
        <p:spPr>
          <a:xfrm>
            <a:off x="10183368" y="6684264"/>
            <a:ext cx="3447288" cy="0"/>
          </a:xfrm>
          <a:prstGeom prst="line">
            <a:avLst/>
          </a:prstGeom>
          <a:ln w="16510">
            <a:solidFill>
              <a:srgbClr val="182B3A"/>
            </a:solidFill>
          </a:ln>
        </p:spPr>
        <p:style>
          <a:lnRef idx="2">
            <a:schemeClr val="accent1"/>
          </a:lnRef>
          <a:fillRef idx="0">
            <a:schemeClr val="accent1"/>
          </a:fillRef>
          <a:effectRef idx="1">
            <a:schemeClr val="accent1"/>
          </a:effectRef>
          <a:fontRef idx="minor">
            <a:schemeClr val="tx1"/>
          </a:fontRef>
        </p:style>
      </p:cxnSp>
      <p:cxnSp>
        <p:nvCxnSpPr>
          <p:cNvPr id="122" name="Connector 121"/>
          <p:cNvCxnSpPr/>
          <p:nvPr/>
        </p:nvCxnSpPr>
        <p:spPr>
          <a:xfrm>
            <a:off x="10183368" y="6684264"/>
            <a:ext cx="0" cy="356615"/>
          </a:xfrm>
          <a:prstGeom prst="line">
            <a:avLst/>
          </a:prstGeom>
          <a:ln w="16510">
            <a:solidFill>
              <a:srgbClr val="182B3A"/>
            </a:solidFill>
          </a:ln>
        </p:spPr>
        <p:style>
          <a:lnRef idx="2">
            <a:schemeClr val="accent1"/>
          </a:lnRef>
          <a:fillRef idx="0">
            <a:schemeClr val="accent1"/>
          </a:fillRef>
          <a:effectRef idx="1">
            <a:schemeClr val="accent1"/>
          </a:effectRef>
          <a:fontRef idx="minor">
            <a:schemeClr val="tx1"/>
          </a:fontRef>
        </p:style>
      </p:cxnSp>
      <p:sp>
        <p:nvSpPr>
          <p:cNvPr id="123" name="TextBox 122"/>
          <p:cNvSpPr txBox="1"/>
          <p:nvPr/>
        </p:nvSpPr>
        <p:spPr>
          <a:xfrm>
            <a:off x="9808464" y="6707123"/>
            <a:ext cx="329184" cy="320040"/>
          </a:xfrm>
          <a:prstGeom prst="rect">
            <a:avLst/>
          </a:prstGeom>
          <a:noFill/>
        </p:spPr>
        <p:txBody>
          <a:bodyPr wrap="none" lIns="0" rIns="0" tIns="0" bIns="0">
            <a:spAutoFit/>
          </a:bodyPr>
          <a:lstStyle/>
          <a:p>
            <a:pPr algn="r">
              <a:lnSpc>
                <a:spcPts val="2464"/>
              </a:lnSpc>
              <a:spcBef>
                <a:spcPts val="0"/>
              </a:spcBef>
              <a:spcAft>
                <a:spcPts val="0"/>
              </a:spcAft>
              <a:defRPr sz="2200" b="0">
                <a:solidFill>
                  <a:srgbClr val="182B3A"/>
                </a:solidFill>
                <a:latin typeface="Arial"/>
              </a:defRPr>
            </a:pPr>
            <a:r>
              <a:t>16</a:t>
            </a:r>
          </a:p>
        </p:txBody>
      </p:sp>
      <p:sp>
        <p:nvSpPr>
          <p:cNvPr id="124" name="TextBox 123"/>
          <p:cNvSpPr txBox="1"/>
          <p:nvPr/>
        </p:nvSpPr>
        <p:spPr>
          <a:xfrm>
            <a:off x="10238232" y="6716268"/>
            <a:ext cx="420624" cy="329184"/>
          </a:xfrm>
          <a:prstGeom prst="rect">
            <a:avLst/>
          </a:prstGeom>
          <a:noFill/>
        </p:spPr>
        <p:txBody>
          <a:bodyPr wrap="none" lIns="0" rIns="0" tIns="0" bIns="0">
            <a:spAutoFit/>
          </a:bodyPr>
          <a:lstStyle/>
          <a:p>
            <a:pPr algn="ctr">
              <a:lnSpc>
                <a:spcPts val="2688"/>
              </a:lnSpc>
              <a:spcBef>
                <a:spcPts val="0"/>
              </a:spcBef>
              <a:spcAft>
                <a:spcPts val="0"/>
              </a:spcAft>
              <a:defRPr sz="2400" b="0">
                <a:solidFill>
                  <a:srgbClr val="182B3A"/>
                </a:solidFill>
                <a:latin typeface="Arial"/>
              </a:defRPr>
            </a:pPr>
            <a:r>
              <a:t>4</a:t>
            </a:r>
          </a:p>
        </p:txBody>
      </p:sp>
      <p:sp>
        <p:nvSpPr>
          <p:cNvPr id="125" name="TextBox 124"/>
          <p:cNvSpPr txBox="1"/>
          <p:nvPr/>
        </p:nvSpPr>
        <p:spPr>
          <a:xfrm>
            <a:off x="10658856" y="6716268"/>
            <a:ext cx="420624" cy="329184"/>
          </a:xfrm>
          <a:prstGeom prst="rect">
            <a:avLst/>
          </a:prstGeom>
          <a:noFill/>
        </p:spPr>
        <p:txBody>
          <a:bodyPr wrap="none" lIns="0" rIns="0" tIns="0" bIns="0">
            <a:spAutoFit/>
          </a:bodyPr>
          <a:lstStyle/>
          <a:p>
            <a:pPr algn="ctr">
              <a:lnSpc>
                <a:spcPts val="2688"/>
              </a:lnSpc>
              <a:spcBef>
                <a:spcPts val="0"/>
              </a:spcBef>
              <a:spcAft>
                <a:spcPts val="0"/>
              </a:spcAft>
              <a:defRPr sz="2400" b="0">
                <a:solidFill>
                  <a:srgbClr val="182B3A"/>
                </a:solidFill>
                <a:latin typeface="Arial"/>
              </a:defRPr>
            </a:pPr>
            <a:r>
              <a:t>8</a:t>
            </a:r>
          </a:p>
        </p:txBody>
      </p:sp>
      <p:sp>
        <p:nvSpPr>
          <p:cNvPr id="126" name="TextBox 125"/>
          <p:cNvSpPr txBox="1"/>
          <p:nvPr/>
        </p:nvSpPr>
        <p:spPr>
          <a:xfrm>
            <a:off x="10658856" y="6355079"/>
            <a:ext cx="420624" cy="310896"/>
          </a:xfrm>
          <a:prstGeom prst="rect">
            <a:avLst/>
          </a:prstGeom>
          <a:noFill/>
        </p:spPr>
        <p:txBody>
          <a:bodyPr wrap="none" lIns="0" rIns="0" tIns="0" bIns="0">
            <a:spAutoFit/>
          </a:bodyPr>
          <a:lstStyle/>
          <a:p>
            <a:pPr algn="ctr">
              <a:lnSpc>
                <a:spcPts val="2688"/>
              </a:lnSpc>
              <a:spcBef>
                <a:spcPts val="0"/>
              </a:spcBef>
              <a:spcAft>
                <a:spcPts val="0"/>
              </a:spcAft>
              <a:defRPr sz="2400" b="0">
                <a:solidFill>
                  <a:srgbClr val="182B3A"/>
                </a:solidFill>
                <a:latin typeface="Arial"/>
              </a:defRPr>
            </a:pPr>
            <a:r>
              <a:t>3</a:t>
            </a:r>
          </a:p>
        </p:txBody>
      </p:sp>
      <p:sp>
        <p:nvSpPr>
          <p:cNvPr id="127" name="TextBox 126"/>
          <p:cNvSpPr txBox="1"/>
          <p:nvPr/>
        </p:nvSpPr>
        <p:spPr>
          <a:xfrm>
            <a:off x="10603992" y="6688836"/>
            <a:ext cx="164592" cy="182880"/>
          </a:xfrm>
          <a:prstGeom prst="rect">
            <a:avLst/>
          </a:prstGeom>
          <a:noFill/>
        </p:spPr>
        <p:txBody>
          <a:bodyPr wrap="none" lIns="0" rIns="0" tIns="0" bIns="0">
            <a:spAutoFit/>
          </a:bodyPr>
          <a:lstStyle/>
          <a:p>
            <a:pPr algn="ctr">
              <a:lnSpc>
                <a:spcPts val="1344"/>
              </a:lnSpc>
              <a:spcBef>
                <a:spcPts val="0"/>
              </a:spcBef>
              <a:spcAft>
                <a:spcPts val="0"/>
              </a:spcAft>
              <a:defRPr sz="1200" b="0">
                <a:solidFill>
                  <a:srgbClr val="182B3A"/>
                </a:solidFill>
                <a:latin typeface="Arial"/>
              </a:defRPr>
            </a:pPr>
            <a:r>
              <a:t>4</a:t>
            </a:r>
          </a:p>
        </p:txBody>
      </p:sp>
      <p:sp>
        <p:nvSpPr>
          <p:cNvPr id="128" name="TextBox 127"/>
          <p:cNvSpPr txBox="1"/>
          <p:nvPr/>
        </p:nvSpPr>
        <p:spPr>
          <a:xfrm>
            <a:off x="11079480" y="6716268"/>
            <a:ext cx="420624" cy="329184"/>
          </a:xfrm>
          <a:prstGeom prst="rect">
            <a:avLst/>
          </a:prstGeom>
          <a:noFill/>
        </p:spPr>
        <p:txBody>
          <a:bodyPr wrap="none" lIns="0" rIns="0" tIns="0" bIns="0">
            <a:spAutoFit/>
          </a:bodyPr>
          <a:lstStyle/>
          <a:p>
            <a:pPr algn="ctr">
              <a:lnSpc>
                <a:spcPts val="2688"/>
              </a:lnSpc>
              <a:spcBef>
                <a:spcPts val="0"/>
              </a:spcBef>
              <a:spcAft>
                <a:spcPts val="0"/>
              </a:spcAft>
              <a:defRPr sz="2400" b="0">
                <a:solidFill>
                  <a:srgbClr val="182B3A"/>
                </a:solidFill>
                <a:latin typeface="Arial"/>
              </a:defRPr>
            </a:pPr>
            <a:r>
              <a:t>3</a:t>
            </a:r>
          </a:p>
        </p:txBody>
      </p:sp>
      <p:sp>
        <p:nvSpPr>
          <p:cNvPr id="129" name="TextBox 128"/>
          <p:cNvSpPr txBox="1"/>
          <p:nvPr/>
        </p:nvSpPr>
        <p:spPr>
          <a:xfrm>
            <a:off x="11500104" y="6716268"/>
            <a:ext cx="420624" cy="329184"/>
          </a:xfrm>
          <a:prstGeom prst="rect">
            <a:avLst/>
          </a:prstGeom>
          <a:noFill/>
        </p:spPr>
        <p:txBody>
          <a:bodyPr wrap="none" lIns="0" rIns="0" tIns="0" bIns="0">
            <a:spAutoFit/>
          </a:bodyPr>
          <a:lstStyle/>
          <a:p>
            <a:pPr algn="ctr">
              <a:lnSpc>
                <a:spcPts val="2688"/>
              </a:lnSpc>
              <a:spcBef>
                <a:spcPts val="0"/>
              </a:spcBef>
              <a:spcAft>
                <a:spcPts val="0"/>
              </a:spcAft>
              <a:defRPr sz="2400" b="0">
                <a:solidFill>
                  <a:srgbClr val="182B3A"/>
                </a:solidFill>
                <a:latin typeface="Arial"/>
              </a:defRPr>
            </a:pPr>
            <a:r>
              <a:t>4</a:t>
            </a:r>
          </a:p>
        </p:txBody>
      </p:sp>
      <p:sp>
        <p:nvSpPr>
          <p:cNvPr id="130" name="TextBox 129"/>
          <p:cNvSpPr txBox="1"/>
          <p:nvPr/>
        </p:nvSpPr>
        <p:spPr>
          <a:xfrm>
            <a:off x="11500104" y="6355079"/>
            <a:ext cx="420624" cy="310896"/>
          </a:xfrm>
          <a:prstGeom prst="rect">
            <a:avLst/>
          </a:prstGeom>
          <a:noFill/>
        </p:spPr>
        <p:txBody>
          <a:bodyPr wrap="none" lIns="0" rIns="0" tIns="0" bIns="0">
            <a:spAutoFit/>
          </a:bodyPr>
          <a:lstStyle/>
          <a:p>
            <a:pPr algn="ctr">
              <a:lnSpc>
                <a:spcPts val="2688"/>
              </a:lnSpc>
              <a:spcBef>
                <a:spcPts val="0"/>
              </a:spcBef>
              <a:spcAft>
                <a:spcPts val="0"/>
              </a:spcAft>
              <a:defRPr sz="2400" b="0">
                <a:solidFill>
                  <a:srgbClr val="182B3A"/>
                </a:solidFill>
                <a:latin typeface="Arial"/>
              </a:defRPr>
            </a:pPr>
            <a:r>
              <a:t>2</a:t>
            </a:r>
          </a:p>
        </p:txBody>
      </p:sp>
      <p:sp>
        <p:nvSpPr>
          <p:cNvPr id="131" name="TextBox 130"/>
          <p:cNvSpPr txBox="1"/>
          <p:nvPr/>
        </p:nvSpPr>
        <p:spPr>
          <a:xfrm>
            <a:off x="11445240" y="6688836"/>
            <a:ext cx="164592" cy="182880"/>
          </a:xfrm>
          <a:prstGeom prst="rect">
            <a:avLst/>
          </a:prstGeom>
          <a:noFill/>
        </p:spPr>
        <p:txBody>
          <a:bodyPr wrap="none" lIns="0" rIns="0" tIns="0" bIns="0">
            <a:spAutoFit/>
          </a:bodyPr>
          <a:lstStyle/>
          <a:p>
            <a:pPr algn="ctr">
              <a:lnSpc>
                <a:spcPts val="1344"/>
              </a:lnSpc>
              <a:spcBef>
                <a:spcPts val="0"/>
              </a:spcBef>
              <a:spcAft>
                <a:spcPts val="0"/>
              </a:spcAft>
              <a:defRPr sz="1200" b="0">
                <a:solidFill>
                  <a:srgbClr val="182B3A"/>
                </a:solidFill>
                <a:latin typeface="Arial"/>
              </a:defRPr>
            </a:pPr>
            <a:r>
              <a:t>3</a:t>
            </a:r>
          </a:p>
        </p:txBody>
      </p:sp>
      <p:sp>
        <p:nvSpPr>
          <p:cNvPr id="132" name="TextBox 131"/>
          <p:cNvSpPr txBox="1"/>
          <p:nvPr/>
        </p:nvSpPr>
        <p:spPr>
          <a:xfrm>
            <a:off x="11920728" y="6716268"/>
            <a:ext cx="420624" cy="329184"/>
          </a:xfrm>
          <a:prstGeom prst="rect">
            <a:avLst/>
          </a:prstGeom>
          <a:noFill/>
        </p:spPr>
        <p:txBody>
          <a:bodyPr wrap="none" lIns="0" rIns="0" tIns="0" bIns="0">
            <a:spAutoFit/>
          </a:bodyPr>
          <a:lstStyle/>
          <a:p>
            <a:pPr algn="ctr">
              <a:lnSpc>
                <a:spcPts val="2688"/>
              </a:lnSpc>
              <a:spcBef>
                <a:spcPts val="0"/>
              </a:spcBef>
              <a:spcAft>
                <a:spcPts val="0"/>
              </a:spcAft>
              <a:defRPr sz="2400" b="0">
                <a:solidFill>
                  <a:srgbClr val="182B3A"/>
                </a:solidFill>
                <a:latin typeface="Arial"/>
              </a:defRPr>
            </a:pPr>
            <a:r>
              <a:t>.</a:t>
            </a:r>
          </a:p>
        </p:txBody>
      </p:sp>
      <p:sp>
        <p:nvSpPr>
          <p:cNvPr id="133" name="TextBox 132"/>
          <p:cNvSpPr txBox="1"/>
          <p:nvPr/>
        </p:nvSpPr>
        <p:spPr>
          <a:xfrm>
            <a:off x="11920728" y="6355079"/>
            <a:ext cx="420624" cy="310896"/>
          </a:xfrm>
          <a:prstGeom prst="rect">
            <a:avLst/>
          </a:prstGeom>
          <a:noFill/>
        </p:spPr>
        <p:txBody>
          <a:bodyPr wrap="none" lIns="0" rIns="0" tIns="0" bIns="0">
            <a:spAutoFit/>
          </a:bodyPr>
          <a:lstStyle/>
          <a:p>
            <a:pPr algn="ctr">
              <a:lnSpc>
                <a:spcPts val="2688"/>
              </a:lnSpc>
              <a:spcBef>
                <a:spcPts val="0"/>
              </a:spcBef>
              <a:spcAft>
                <a:spcPts val="0"/>
              </a:spcAft>
              <a:defRPr sz="2400" b="0">
                <a:solidFill>
                  <a:srgbClr val="182B3A"/>
                </a:solidFill>
                <a:latin typeface="Arial"/>
              </a:defRPr>
            </a:pPr>
            <a:r>
              <a:t>.</a:t>
            </a:r>
          </a:p>
        </p:txBody>
      </p:sp>
      <p:sp>
        <p:nvSpPr>
          <p:cNvPr id="134" name="TextBox 133"/>
          <p:cNvSpPr txBox="1"/>
          <p:nvPr/>
        </p:nvSpPr>
        <p:spPr>
          <a:xfrm>
            <a:off x="12341352" y="6716268"/>
            <a:ext cx="420624" cy="329184"/>
          </a:xfrm>
          <a:prstGeom prst="rect">
            <a:avLst/>
          </a:prstGeom>
          <a:noFill/>
        </p:spPr>
        <p:txBody>
          <a:bodyPr wrap="none" lIns="0" rIns="0" tIns="0" bIns="0">
            <a:spAutoFit/>
          </a:bodyPr>
          <a:lstStyle/>
          <a:p>
            <a:pPr algn="ctr">
              <a:lnSpc>
                <a:spcPts val="2688"/>
              </a:lnSpc>
              <a:spcBef>
                <a:spcPts val="0"/>
              </a:spcBef>
              <a:spcAft>
                <a:spcPts val="0"/>
              </a:spcAft>
              <a:defRPr sz="2400" b="0">
                <a:solidFill>
                  <a:srgbClr val="182B3A"/>
                </a:solidFill>
                <a:latin typeface="Arial"/>
              </a:defRPr>
            </a:pPr>
            <a:r>
              <a:t>0</a:t>
            </a:r>
          </a:p>
        </p:txBody>
      </p:sp>
      <p:sp>
        <p:nvSpPr>
          <p:cNvPr id="135" name="TextBox 134"/>
          <p:cNvSpPr txBox="1"/>
          <p:nvPr/>
        </p:nvSpPr>
        <p:spPr>
          <a:xfrm>
            <a:off x="12341352" y="6355079"/>
            <a:ext cx="420624" cy="310896"/>
          </a:xfrm>
          <a:prstGeom prst="rect">
            <a:avLst/>
          </a:prstGeom>
          <a:noFill/>
        </p:spPr>
        <p:txBody>
          <a:bodyPr wrap="none" lIns="0" rIns="0" tIns="0" bIns="0">
            <a:spAutoFit/>
          </a:bodyPr>
          <a:lstStyle/>
          <a:p>
            <a:pPr algn="ctr">
              <a:lnSpc>
                <a:spcPts val="2688"/>
              </a:lnSpc>
              <a:spcBef>
                <a:spcPts val="0"/>
              </a:spcBef>
              <a:spcAft>
                <a:spcPts val="0"/>
              </a:spcAft>
              <a:defRPr sz="2400" b="0">
                <a:solidFill>
                  <a:srgbClr val="182B3A"/>
                </a:solidFill>
                <a:latin typeface="Arial"/>
              </a:defRPr>
            </a:pPr>
            <a:r>
              <a:t>1</a:t>
            </a:r>
          </a:p>
        </p:txBody>
      </p:sp>
      <p:sp>
        <p:nvSpPr>
          <p:cNvPr id="136" name="TextBox 135"/>
          <p:cNvSpPr txBox="1"/>
          <p:nvPr/>
        </p:nvSpPr>
        <p:spPr>
          <a:xfrm>
            <a:off x="12286488" y="6688836"/>
            <a:ext cx="164592" cy="182880"/>
          </a:xfrm>
          <a:prstGeom prst="rect">
            <a:avLst/>
          </a:prstGeom>
          <a:noFill/>
        </p:spPr>
        <p:txBody>
          <a:bodyPr wrap="none" lIns="0" rIns="0" tIns="0" bIns="0">
            <a:spAutoFit/>
          </a:bodyPr>
          <a:lstStyle/>
          <a:p>
            <a:pPr algn="ctr">
              <a:lnSpc>
                <a:spcPts val="1344"/>
              </a:lnSpc>
              <a:spcBef>
                <a:spcPts val="0"/>
              </a:spcBef>
              <a:spcAft>
                <a:spcPts val="0"/>
              </a:spcAft>
              <a:defRPr sz="1200" b="0">
                <a:solidFill>
                  <a:srgbClr val="182B3A"/>
                </a:solidFill>
                <a:latin typeface="Arial"/>
              </a:defRPr>
            </a:pPr>
            <a:r>
              <a:t>2</a:t>
            </a:r>
          </a:p>
        </p:txBody>
      </p:sp>
      <p:sp>
        <p:nvSpPr>
          <p:cNvPr id="137" name="TextBox 136"/>
          <p:cNvSpPr txBox="1"/>
          <p:nvPr/>
        </p:nvSpPr>
        <p:spPr>
          <a:xfrm>
            <a:off x="12761976" y="6716268"/>
            <a:ext cx="420624" cy="329184"/>
          </a:xfrm>
          <a:prstGeom prst="rect">
            <a:avLst/>
          </a:prstGeom>
          <a:noFill/>
        </p:spPr>
        <p:txBody>
          <a:bodyPr wrap="none" lIns="0" rIns="0" tIns="0" bIns="0">
            <a:spAutoFit/>
          </a:bodyPr>
          <a:lstStyle/>
          <a:p>
            <a:pPr algn="ctr">
              <a:lnSpc>
                <a:spcPts val="2688"/>
              </a:lnSpc>
              <a:spcBef>
                <a:spcPts val="0"/>
              </a:spcBef>
              <a:spcAft>
                <a:spcPts val="0"/>
              </a:spcAft>
              <a:defRPr sz="2400" b="0">
                <a:solidFill>
                  <a:srgbClr val="182B3A"/>
                </a:solidFill>
                <a:latin typeface="Arial"/>
              </a:defRPr>
            </a:pPr>
            <a:r>
              <a:t>0</a:t>
            </a:r>
          </a:p>
        </p:txBody>
      </p:sp>
      <p:sp>
        <p:nvSpPr>
          <p:cNvPr id="138" name="TextBox 137"/>
          <p:cNvSpPr txBox="1"/>
          <p:nvPr/>
        </p:nvSpPr>
        <p:spPr>
          <a:xfrm>
            <a:off x="12761976" y="6355079"/>
            <a:ext cx="420624" cy="310896"/>
          </a:xfrm>
          <a:prstGeom prst="rect">
            <a:avLst/>
          </a:prstGeom>
          <a:noFill/>
        </p:spPr>
        <p:txBody>
          <a:bodyPr wrap="none" lIns="0" rIns="0" tIns="0" bIns="0">
            <a:spAutoFit/>
          </a:bodyPr>
          <a:lstStyle/>
          <a:p>
            <a:pPr algn="ctr">
              <a:lnSpc>
                <a:spcPts val="2688"/>
              </a:lnSpc>
              <a:spcBef>
                <a:spcPts val="0"/>
              </a:spcBef>
              <a:spcAft>
                <a:spcPts val="0"/>
              </a:spcAft>
              <a:defRPr sz="2400" b="0">
                <a:solidFill>
                  <a:srgbClr val="182B3A"/>
                </a:solidFill>
                <a:latin typeface="Arial"/>
              </a:defRPr>
            </a:pPr>
            <a:r>
              <a:t>2</a:t>
            </a:r>
          </a:p>
        </p:txBody>
      </p:sp>
      <p:sp>
        <p:nvSpPr>
          <p:cNvPr id="139" name="TextBox 138"/>
          <p:cNvSpPr txBox="1"/>
          <p:nvPr/>
        </p:nvSpPr>
        <p:spPr>
          <a:xfrm>
            <a:off x="12707112" y="6688836"/>
            <a:ext cx="164592" cy="182880"/>
          </a:xfrm>
          <a:prstGeom prst="rect">
            <a:avLst/>
          </a:prstGeom>
          <a:noFill/>
        </p:spPr>
        <p:txBody>
          <a:bodyPr wrap="none" lIns="0" rIns="0" tIns="0" bIns="0">
            <a:spAutoFit/>
          </a:bodyPr>
          <a:lstStyle/>
          <a:p>
            <a:pPr algn="ctr">
              <a:lnSpc>
                <a:spcPts val="1344"/>
              </a:lnSpc>
              <a:spcBef>
                <a:spcPts val="0"/>
              </a:spcBef>
              <a:spcAft>
                <a:spcPts val="0"/>
              </a:spcAft>
              <a:defRPr sz="1200" b="0">
                <a:solidFill>
                  <a:srgbClr val="182B3A"/>
                </a:solidFill>
                <a:latin typeface="Arial"/>
              </a:defRPr>
            </a:pPr>
            <a:r>
              <a:t>4</a:t>
            </a:r>
          </a:p>
        </p:txBody>
      </p:sp>
      <p:sp>
        <p:nvSpPr>
          <p:cNvPr id="140" name="TextBox 139"/>
          <p:cNvSpPr txBox="1"/>
          <p:nvPr/>
        </p:nvSpPr>
        <p:spPr>
          <a:xfrm>
            <a:off x="13182600" y="6716268"/>
            <a:ext cx="420624" cy="329184"/>
          </a:xfrm>
          <a:prstGeom prst="rect">
            <a:avLst/>
          </a:prstGeom>
          <a:noFill/>
        </p:spPr>
        <p:txBody>
          <a:bodyPr wrap="none" lIns="0" rIns="0" tIns="0" bIns="0">
            <a:spAutoFit/>
          </a:bodyPr>
          <a:lstStyle/>
          <a:p>
            <a:pPr algn="ctr">
              <a:lnSpc>
                <a:spcPts val="2688"/>
              </a:lnSpc>
              <a:spcBef>
                <a:spcPts val="0"/>
              </a:spcBef>
              <a:spcAft>
                <a:spcPts val="0"/>
              </a:spcAft>
              <a:defRPr sz="2400" b="0">
                <a:solidFill>
                  <a:srgbClr val="182B3A"/>
                </a:solidFill>
                <a:latin typeface="Arial"/>
              </a:defRPr>
            </a:pPr>
            <a:r>
              <a:t>0</a:t>
            </a:r>
          </a:p>
        </p:txBody>
      </p:sp>
      <p:sp>
        <p:nvSpPr>
          <p:cNvPr id="141" name="TextBox 140"/>
          <p:cNvSpPr txBox="1"/>
          <p:nvPr/>
        </p:nvSpPr>
        <p:spPr>
          <a:xfrm>
            <a:off x="13182600" y="6355079"/>
            <a:ext cx="420624" cy="310896"/>
          </a:xfrm>
          <a:prstGeom prst="rect">
            <a:avLst/>
          </a:prstGeom>
          <a:noFill/>
        </p:spPr>
        <p:txBody>
          <a:bodyPr wrap="none" lIns="0" rIns="0" tIns="0" bIns="0">
            <a:spAutoFit/>
          </a:bodyPr>
          <a:lstStyle/>
          <a:p>
            <a:pPr algn="ctr">
              <a:lnSpc>
                <a:spcPts val="2688"/>
              </a:lnSpc>
              <a:spcBef>
                <a:spcPts val="0"/>
              </a:spcBef>
              <a:spcAft>
                <a:spcPts val="0"/>
              </a:spcAft>
              <a:defRPr sz="2400" b="0">
                <a:solidFill>
                  <a:srgbClr val="182B3A"/>
                </a:solidFill>
                <a:latin typeface="Arial"/>
              </a:defRPr>
            </a:pPr>
            <a:r>
              <a:t>5</a:t>
            </a:r>
          </a:p>
        </p:txBody>
      </p:sp>
      <p:sp>
        <p:nvSpPr>
          <p:cNvPr id="142" name="TextBox 141"/>
          <p:cNvSpPr txBox="1"/>
          <p:nvPr/>
        </p:nvSpPr>
        <p:spPr>
          <a:xfrm>
            <a:off x="13127736" y="6688836"/>
            <a:ext cx="164592" cy="182880"/>
          </a:xfrm>
          <a:prstGeom prst="rect">
            <a:avLst/>
          </a:prstGeom>
          <a:noFill/>
        </p:spPr>
        <p:txBody>
          <a:bodyPr wrap="none" lIns="0" rIns="0" tIns="0" bIns="0">
            <a:spAutoFit/>
          </a:bodyPr>
          <a:lstStyle/>
          <a:p>
            <a:pPr algn="ctr">
              <a:lnSpc>
                <a:spcPts val="1344"/>
              </a:lnSpc>
              <a:spcBef>
                <a:spcPts val="0"/>
              </a:spcBef>
              <a:spcAft>
                <a:spcPts val="0"/>
              </a:spcAft>
              <a:defRPr sz="1200" b="0">
                <a:solidFill>
                  <a:srgbClr val="182B3A"/>
                </a:solidFill>
                <a:latin typeface="Arial"/>
              </a:defRPr>
            </a:pPr>
            <a:r>
              <a:t>8</a:t>
            </a:r>
          </a:p>
        </p:txBody>
      </p:sp>
      <p:sp>
        <p:nvSpPr>
          <p:cNvPr id="143" name="TextBox 142"/>
          <p:cNvSpPr txBox="1"/>
          <p:nvPr/>
        </p:nvSpPr>
        <p:spPr>
          <a:xfrm>
            <a:off x="9845040" y="7260336"/>
            <a:ext cx="4206240" cy="320040"/>
          </a:xfrm>
          <a:prstGeom prst="rect">
            <a:avLst/>
          </a:prstGeom>
          <a:noFill/>
        </p:spPr>
        <p:txBody>
          <a:bodyPr wrap="none" lIns="0" rIns="0" tIns="0" bIns="0">
            <a:spAutoFit/>
          </a:bodyPr>
          <a:lstStyle/>
          <a:p>
            <a:pPr algn="l">
              <a:lnSpc>
                <a:spcPts val="2464"/>
              </a:lnSpc>
              <a:spcBef>
                <a:spcPts val="0"/>
              </a:spcBef>
              <a:spcAft>
                <a:spcPts val="0"/>
              </a:spcAft>
              <a:defRPr sz="2200" b="0">
                <a:solidFill>
                  <a:srgbClr val="182B3A"/>
                </a:solidFill>
                <a:latin typeface="Arial"/>
              </a:defRPr>
            </a:pPr>
            <a:r>
              <a:t>Answer: 32.125</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7F8FA"/>
        </a:solidFill>
        <a:effectLst/>
      </p:bgPr>
    </p:bg>
    <p:spTree>
      <p:nvGrpSpPr>
        <p:cNvPr id="1" name=""/>
        <p:cNvGrpSpPr/>
        <p:nvPr/>
      </p:nvGrpSpPr>
      <p:grpSpPr/>
      <p:sp>
        <p:nvSpPr>
          <p:cNvPr id="2" name="Rectangle 1"/>
          <p:cNvSpPr/>
          <p:nvPr/>
        </p:nvSpPr>
        <p:spPr>
          <a:xfrm>
            <a:off x="0" y="0"/>
            <a:ext cx="14630400" cy="91440"/>
          </a:xfrm>
          <a:prstGeom prst="rect">
            <a:avLst/>
          </a:prstGeom>
          <a:solidFill>
            <a:srgbClr val="3559A2"/>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3" name="TextBox 2"/>
          <p:cNvSpPr txBox="1"/>
          <p:nvPr/>
        </p:nvSpPr>
        <p:spPr>
          <a:xfrm>
            <a:off x="384048" y="219456"/>
            <a:ext cx="12435840" cy="448056"/>
          </a:xfrm>
          <a:prstGeom prst="rect">
            <a:avLst/>
          </a:prstGeom>
          <a:noFill/>
        </p:spPr>
        <p:txBody>
          <a:bodyPr wrap="square" tIns="36576" bIns="36576" anchor="t">
            <a:spAutoFit/>
          </a:bodyPr>
          <a:lstStyle/>
          <a:p>
            <a:pPr>
              <a:lnSpc>
                <a:spcPts val="3132"/>
              </a:lnSpc>
              <a:spcBef>
                <a:spcPts val="0"/>
              </a:spcBef>
              <a:spcAft>
                <a:spcPts val="0"/>
              </a:spcAft>
              <a:defRPr sz="2900" b="1">
                <a:solidFill>
                  <a:srgbClr val="182B3A"/>
                </a:solidFill>
                <a:latin typeface="Arial"/>
              </a:defRPr>
            </a:pPr>
            <a:r>
              <a:t>Bus Stop Division</a:t>
            </a:r>
          </a:p>
        </p:txBody>
      </p:sp>
      <p:sp>
        <p:nvSpPr>
          <p:cNvPr id="4" name="TextBox 3"/>
          <p:cNvSpPr txBox="1"/>
          <p:nvPr/>
        </p:nvSpPr>
        <p:spPr>
          <a:xfrm>
            <a:off x="384048" y="713232"/>
            <a:ext cx="13533120" cy="274320"/>
          </a:xfrm>
          <a:prstGeom prst="rect">
            <a:avLst/>
          </a:prstGeom>
          <a:noFill/>
        </p:spPr>
        <p:txBody>
          <a:bodyPr wrap="square" tIns="36576" bIns="36576" anchor="t">
            <a:spAutoFit/>
          </a:bodyPr>
          <a:lstStyle/>
          <a:p>
            <a:pPr>
              <a:lnSpc>
                <a:spcPts val="1512"/>
              </a:lnSpc>
              <a:spcBef>
                <a:spcPts val="0"/>
              </a:spcBef>
              <a:spcAft>
                <a:spcPts val="0"/>
              </a:spcAft>
              <a:defRPr sz="1400" b="0">
                <a:solidFill>
                  <a:srgbClr val="526472"/>
                </a:solidFill>
                <a:latin typeface="Arial"/>
              </a:defRPr>
            </a:pPr>
            <a:r>
              <a:t>Independent practice 1  •  Choose a column. Show the full written method.</a:t>
            </a:r>
          </a:p>
        </p:txBody>
      </p:sp>
      <p:sp>
        <p:nvSpPr>
          <p:cNvPr id="5" name="TextBox 4"/>
          <p:cNvSpPr txBox="1"/>
          <p:nvPr/>
        </p:nvSpPr>
        <p:spPr>
          <a:xfrm>
            <a:off x="384048" y="7882127"/>
            <a:ext cx="10058400" cy="210312"/>
          </a:xfrm>
          <a:prstGeom prst="rect">
            <a:avLst/>
          </a:prstGeom>
          <a:noFill/>
        </p:spPr>
        <p:txBody>
          <a:bodyPr wrap="square" tIns="36576" bIns="36576" anchor="t">
            <a:spAutoFit/>
          </a:bodyPr>
          <a:lstStyle/>
          <a:p>
            <a:pPr>
              <a:lnSpc>
                <a:spcPts val="1188"/>
              </a:lnSpc>
              <a:spcBef>
                <a:spcPts val="0"/>
              </a:spcBef>
              <a:spcAft>
                <a:spcPts val="0"/>
              </a:spcAft>
              <a:defRPr sz="1100" b="0">
                <a:solidFill>
                  <a:srgbClr val="526472"/>
                </a:solidFill>
                <a:latin typeface="Arial"/>
              </a:defRPr>
            </a:pPr>
            <a:r>
              <a:t>GCSE Maths revision  •  Record your working in your booklet or webapp.</a:t>
            </a:r>
          </a:p>
        </p:txBody>
      </p:sp>
      <p:sp>
        <p:nvSpPr>
          <p:cNvPr id="6" name="TextBox 5"/>
          <p:cNvSpPr txBox="1"/>
          <p:nvPr/>
        </p:nvSpPr>
        <p:spPr>
          <a:xfrm>
            <a:off x="11430000" y="7863840"/>
            <a:ext cx="2788920" cy="228600"/>
          </a:xfrm>
          <a:prstGeom prst="rect">
            <a:avLst/>
          </a:prstGeom>
          <a:noFill/>
        </p:spPr>
        <p:txBody>
          <a:bodyPr wrap="square" tIns="36576" bIns="36576" anchor="t">
            <a:spAutoFit/>
          </a:bodyPr>
          <a:lstStyle/>
          <a:p>
            <a:pPr>
              <a:lnSpc>
                <a:spcPts val="1188"/>
              </a:lnSpc>
              <a:spcBef>
                <a:spcPts val="0"/>
              </a:spcBef>
              <a:spcAft>
                <a:spcPts val="0"/>
              </a:spcAft>
              <a:defRPr sz="1100" b="0">
                <a:solidFill>
                  <a:srgbClr val="526472"/>
                </a:solidFill>
                <a:latin typeface="Arial"/>
              </a:defRPr>
            </a:pPr>
            <a:r>
              <a:t>M02-S04  •  Topic slide 6</a:t>
            </a:r>
          </a:p>
        </p:txBody>
      </p:sp>
      <p:sp>
        <p:nvSpPr>
          <p:cNvPr id="7" name="Rectangle 6"/>
          <p:cNvSpPr/>
          <p:nvPr/>
        </p:nvSpPr>
        <p:spPr>
          <a:xfrm>
            <a:off x="384048" y="1124712"/>
            <a:ext cx="4620768" cy="438912"/>
          </a:xfrm>
          <a:prstGeom prst="rect">
            <a:avLst/>
          </a:prstGeom>
          <a:solidFill>
            <a:srgbClr val="176B73"/>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8" name="TextBox 7"/>
          <p:cNvSpPr txBox="1"/>
          <p:nvPr/>
        </p:nvSpPr>
        <p:spPr>
          <a:xfrm>
            <a:off x="438912" y="1152144"/>
            <a:ext cx="4511040" cy="338328"/>
          </a:xfrm>
          <a:prstGeom prst="rect">
            <a:avLst/>
          </a:prstGeom>
          <a:noFill/>
        </p:spPr>
        <p:txBody>
          <a:bodyPr wrap="square" tIns="36576" bIns="36576" anchor="t">
            <a:spAutoFit/>
          </a:bodyPr>
          <a:lstStyle/>
          <a:p>
            <a:pPr>
              <a:lnSpc>
                <a:spcPts val="2160"/>
              </a:lnSpc>
              <a:spcBef>
                <a:spcPts val="0"/>
              </a:spcBef>
              <a:spcAft>
                <a:spcPts val="0"/>
              </a:spcAft>
              <a:defRPr sz="2000" b="1">
                <a:solidFill>
                  <a:srgbClr val="FFFFFF"/>
                </a:solidFill>
                <a:latin typeface="Arial"/>
              </a:defRPr>
            </a:pPr>
            <a:r>
              <a:t>Start</a:t>
            </a:r>
          </a:p>
        </p:txBody>
      </p:sp>
      <p:sp>
        <p:nvSpPr>
          <p:cNvPr id="9" name="TextBox 8"/>
          <p:cNvSpPr txBox="1"/>
          <p:nvPr/>
        </p:nvSpPr>
        <p:spPr>
          <a:xfrm>
            <a:off x="420623" y="1618488"/>
            <a:ext cx="4547616" cy="329184"/>
          </a:xfrm>
          <a:prstGeom prst="rect">
            <a:avLst/>
          </a:prstGeom>
          <a:noFill/>
        </p:spPr>
        <p:txBody>
          <a:bodyPr wrap="square" tIns="36576" bIns="36576" anchor="t">
            <a:spAutoFit/>
          </a:bodyPr>
          <a:lstStyle/>
          <a:p>
            <a:pPr>
              <a:lnSpc>
                <a:spcPts val="1512"/>
              </a:lnSpc>
              <a:spcBef>
                <a:spcPts val="0"/>
              </a:spcBef>
              <a:spcAft>
                <a:spcPts val="0"/>
              </a:spcAft>
              <a:defRPr sz="1400" b="1">
                <a:solidFill>
                  <a:srgbClr val="176B73"/>
                </a:solidFill>
                <a:latin typeface="Arial"/>
              </a:defRPr>
            </a:pPr>
            <a:r>
              <a:t>No carrying</a:t>
            </a:r>
          </a:p>
        </p:txBody>
      </p:sp>
      <p:sp>
        <p:nvSpPr>
          <p:cNvPr id="10" name="Rectangle 9"/>
          <p:cNvSpPr/>
          <p:nvPr/>
        </p:nvSpPr>
        <p:spPr>
          <a:xfrm>
            <a:off x="5004816" y="1124712"/>
            <a:ext cx="4620768" cy="438912"/>
          </a:xfrm>
          <a:prstGeom prst="rect">
            <a:avLst/>
          </a:prstGeom>
          <a:solidFill>
            <a:srgbClr val="3559A2"/>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1" name="TextBox 10"/>
          <p:cNvSpPr txBox="1"/>
          <p:nvPr/>
        </p:nvSpPr>
        <p:spPr>
          <a:xfrm>
            <a:off x="5059680" y="1152144"/>
            <a:ext cx="4511040" cy="338328"/>
          </a:xfrm>
          <a:prstGeom prst="rect">
            <a:avLst/>
          </a:prstGeom>
          <a:noFill/>
        </p:spPr>
        <p:txBody>
          <a:bodyPr wrap="square" tIns="36576" bIns="36576" anchor="t">
            <a:spAutoFit/>
          </a:bodyPr>
          <a:lstStyle/>
          <a:p>
            <a:pPr>
              <a:lnSpc>
                <a:spcPts val="2160"/>
              </a:lnSpc>
              <a:spcBef>
                <a:spcPts val="0"/>
              </a:spcBef>
              <a:spcAft>
                <a:spcPts val="0"/>
              </a:spcAft>
              <a:defRPr sz="2000" b="1">
                <a:solidFill>
                  <a:srgbClr val="FFFFFF"/>
                </a:solidFill>
                <a:latin typeface="Arial"/>
              </a:defRPr>
            </a:pPr>
            <a:r>
              <a:t>Build</a:t>
            </a:r>
          </a:p>
        </p:txBody>
      </p:sp>
      <p:sp>
        <p:nvSpPr>
          <p:cNvPr id="12" name="TextBox 11"/>
          <p:cNvSpPr txBox="1"/>
          <p:nvPr/>
        </p:nvSpPr>
        <p:spPr>
          <a:xfrm>
            <a:off x="5041392" y="1618488"/>
            <a:ext cx="4547616" cy="329184"/>
          </a:xfrm>
          <a:prstGeom prst="rect">
            <a:avLst/>
          </a:prstGeom>
          <a:noFill/>
        </p:spPr>
        <p:txBody>
          <a:bodyPr wrap="square" tIns="36576" bIns="36576" anchor="t">
            <a:spAutoFit/>
          </a:bodyPr>
          <a:lstStyle/>
          <a:p>
            <a:pPr>
              <a:lnSpc>
                <a:spcPts val="1512"/>
              </a:lnSpc>
              <a:spcBef>
                <a:spcPts val="0"/>
              </a:spcBef>
              <a:spcAft>
                <a:spcPts val="0"/>
              </a:spcAft>
              <a:defRPr sz="1400" b="1">
                <a:solidFill>
                  <a:srgbClr val="3559A2"/>
                </a:solidFill>
                <a:latin typeface="Arial"/>
              </a:defRPr>
            </a:pPr>
            <a:r>
              <a:t>Carrying; give remainders</a:t>
            </a:r>
          </a:p>
        </p:txBody>
      </p:sp>
      <p:sp>
        <p:nvSpPr>
          <p:cNvPr id="13" name="Rectangle 12"/>
          <p:cNvSpPr/>
          <p:nvPr/>
        </p:nvSpPr>
        <p:spPr>
          <a:xfrm>
            <a:off x="9625584" y="1124712"/>
            <a:ext cx="4620768" cy="438912"/>
          </a:xfrm>
          <a:prstGeom prst="rect">
            <a:avLst/>
          </a:prstGeom>
          <a:solidFill>
            <a:srgbClr val="754B87"/>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4" name="TextBox 13"/>
          <p:cNvSpPr txBox="1"/>
          <p:nvPr/>
        </p:nvSpPr>
        <p:spPr>
          <a:xfrm>
            <a:off x="9680448" y="1152144"/>
            <a:ext cx="4511040" cy="338328"/>
          </a:xfrm>
          <a:prstGeom prst="rect">
            <a:avLst/>
          </a:prstGeom>
          <a:noFill/>
        </p:spPr>
        <p:txBody>
          <a:bodyPr wrap="square" tIns="36576" bIns="36576" anchor="t">
            <a:spAutoFit/>
          </a:bodyPr>
          <a:lstStyle/>
          <a:p>
            <a:pPr>
              <a:lnSpc>
                <a:spcPts val="2160"/>
              </a:lnSpc>
              <a:spcBef>
                <a:spcPts val="0"/>
              </a:spcBef>
              <a:spcAft>
                <a:spcPts val="0"/>
              </a:spcAft>
              <a:defRPr sz="2000" b="1">
                <a:solidFill>
                  <a:srgbClr val="FFFFFF"/>
                </a:solidFill>
                <a:latin typeface="Arial"/>
              </a:defRPr>
            </a:pPr>
            <a:r>
              <a:t>Confidence</a:t>
            </a:r>
          </a:p>
        </p:txBody>
      </p:sp>
      <p:sp>
        <p:nvSpPr>
          <p:cNvPr id="15" name="TextBox 14"/>
          <p:cNvSpPr txBox="1"/>
          <p:nvPr/>
        </p:nvSpPr>
        <p:spPr>
          <a:xfrm>
            <a:off x="9662160" y="1618488"/>
            <a:ext cx="4547616" cy="329184"/>
          </a:xfrm>
          <a:prstGeom prst="rect">
            <a:avLst/>
          </a:prstGeom>
          <a:noFill/>
        </p:spPr>
        <p:txBody>
          <a:bodyPr wrap="square" tIns="36576" bIns="36576" anchor="t">
            <a:spAutoFit/>
          </a:bodyPr>
          <a:lstStyle/>
          <a:p>
            <a:pPr>
              <a:lnSpc>
                <a:spcPts val="1512"/>
              </a:lnSpc>
              <a:spcBef>
                <a:spcPts val="0"/>
              </a:spcBef>
              <a:spcAft>
                <a:spcPts val="0"/>
              </a:spcAft>
              <a:defRPr sz="1400" b="1">
                <a:solidFill>
                  <a:srgbClr val="754B87"/>
                </a:solidFill>
                <a:latin typeface="Arial"/>
              </a:defRPr>
            </a:pPr>
            <a:r>
              <a:t>Includes 2-digit divisors; give decimals</a:t>
            </a:r>
          </a:p>
        </p:txBody>
      </p:sp>
      <p:sp>
        <p:nvSpPr>
          <p:cNvPr id="16" name="Rectangle 15"/>
          <p:cNvSpPr/>
          <p:nvPr/>
        </p:nvSpPr>
        <p:spPr>
          <a:xfrm>
            <a:off x="384048" y="2020824"/>
            <a:ext cx="4620768" cy="909828"/>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7" name="TextBox 16"/>
          <p:cNvSpPr txBox="1"/>
          <p:nvPr/>
        </p:nvSpPr>
        <p:spPr>
          <a:xfrm>
            <a:off x="493776" y="2231136"/>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176B73"/>
                </a:solidFill>
                <a:latin typeface="Arial"/>
              </a:defRPr>
            </a:pPr>
            <a:r>
              <a:t>1.</a:t>
            </a:r>
          </a:p>
        </p:txBody>
      </p:sp>
      <p:sp>
        <p:nvSpPr>
          <p:cNvPr id="18" name="TextBox 17"/>
          <p:cNvSpPr txBox="1"/>
          <p:nvPr/>
        </p:nvSpPr>
        <p:spPr>
          <a:xfrm>
            <a:off x="987552" y="2203704"/>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48 ÷ 4</a:t>
            </a:r>
          </a:p>
        </p:txBody>
      </p:sp>
      <p:sp>
        <p:nvSpPr>
          <p:cNvPr id="19" name="Rectangle 18"/>
          <p:cNvSpPr/>
          <p:nvPr/>
        </p:nvSpPr>
        <p:spPr>
          <a:xfrm>
            <a:off x="384048" y="2948939"/>
            <a:ext cx="4620768" cy="909828"/>
          </a:xfrm>
          <a:prstGeom prst="rect">
            <a:avLst/>
          </a:prstGeom>
          <a:solidFill>
            <a:srgbClr val="EDF6F5"/>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20" name="TextBox 19"/>
          <p:cNvSpPr txBox="1"/>
          <p:nvPr/>
        </p:nvSpPr>
        <p:spPr>
          <a:xfrm>
            <a:off x="493776" y="3159251"/>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176B73"/>
                </a:solidFill>
                <a:latin typeface="Arial"/>
              </a:defRPr>
            </a:pPr>
            <a:r>
              <a:t>2.</a:t>
            </a:r>
          </a:p>
        </p:txBody>
      </p:sp>
      <p:sp>
        <p:nvSpPr>
          <p:cNvPr id="21" name="TextBox 20"/>
          <p:cNvSpPr txBox="1"/>
          <p:nvPr/>
        </p:nvSpPr>
        <p:spPr>
          <a:xfrm>
            <a:off x="987552" y="3131820"/>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69 ÷ 3</a:t>
            </a:r>
          </a:p>
        </p:txBody>
      </p:sp>
      <p:sp>
        <p:nvSpPr>
          <p:cNvPr id="22" name="Rectangle 21"/>
          <p:cNvSpPr/>
          <p:nvPr/>
        </p:nvSpPr>
        <p:spPr>
          <a:xfrm>
            <a:off x="384048" y="3877056"/>
            <a:ext cx="4620768" cy="909828"/>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23" name="TextBox 22"/>
          <p:cNvSpPr txBox="1"/>
          <p:nvPr/>
        </p:nvSpPr>
        <p:spPr>
          <a:xfrm>
            <a:off x="493776" y="4087368"/>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176B73"/>
                </a:solidFill>
                <a:latin typeface="Arial"/>
              </a:defRPr>
            </a:pPr>
            <a:r>
              <a:t>3.</a:t>
            </a:r>
          </a:p>
        </p:txBody>
      </p:sp>
      <p:sp>
        <p:nvSpPr>
          <p:cNvPr id="24" name="TextBox 23"/>
          <p:cNvSpPr txBox="1"/>
          <p:nvPr/>
        </p:nvSpPr>
        <p:spPr>
          <a:xfrm>
            <a:off x="987552" y="4059936"/>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84 ÷ 2</a:t>
            </a:r>
          </a:p>
        </p:txBody>
      </p:sp>
      <p:sp>
        <p:nvSpPr>
          <p:cNvPr id="25" name="Rectangle 24"/>
          <p:cNvSpPr/>
          <p:nvPr/>
        </p:nvSpPr>
        <p:spPr>
          <a:xfrm>
            <a:off x="384048" y="4805172"/>
            <a:ext cx="4620768" cy="909828"/>
          </a:xfrm>
          <a:prstGeom prst="rect">
            <a:avLst/>
          </a:prstGeom>
          <a:solidFill>
            <a:srgbClr val="EDF6F5"/>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26" name="TextBox 25"/>
          <p:cNvSpPr txBox="1"/>
          <p:nvPr/>
        </p:nvSpPr>
        <p:spPr>
          <a:xfrm>
            <a:off x="493776" y="5015484"/>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176B73"/>
                </a:solidFill>
                <a:latin typeface="Arial"/>
              </a:defRPr>
            </a:pPr>
            <a:r>
              <a:t>4.</a:t>
            </a:r>
          </a:p>
        </p:txBody>
      </p:sp>
      <p:sp>
        <p:nvSpPr>
          <p:cNvPr id="27" name="TextBox 26"/>
          <p:cNvSpPr txBox="1"/>
          <p:nvPr/>
        </p:nvSpPr>
        <p:spPr>
          <a:xfrm>
            <a:off x="987552" y="4988052"/>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96 ÷ 3</a:t>
            </a:r>
          </a:p>
        </p:txBody>
      </p:sp>
      <p:sp>
        <p:nvSpPr>
          <p:cNvPr id="28" name="Rectangle 27"/>
          <p:cNvSpPr/>
          <p:nvPr/>
        </p:nvSpPr>
        <p:spPr>
          <a:xfrm>
            <a:off x="384048" y="5733288"/>
            <a:ext cx="4620768" cy="909828"/>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29" name="TextBox 28"/>
          <p:cNvSpPr txBox="1"/>
          <p:nvPr/>
        </p:nvSpPr>
        <p:spPr>
          <a:xfrm>
            <a:off x="493776" y="5943600"/>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176B73"/>
                </a:solidFill>
                <a:latin typeface="Arial"/>
              </a:defRPr>
            </a:pPr>
            <a:r>
              <a:t>5.</a:t>
            </a:r>
          </a:p>
        </p:txBody>
      </p:sp>
      <p:sp>
        <p:nvSpPr>
          <p:cNvPr id="30" name="TextBox 29"/>
          <p:cNvSpPr txBox="1"/>
          <p:nvPr/>
        </p:nvSpPr>
        <p:spPr>
          <a:xfrm>
            <a:off x="987552" y="5916168"/>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55 ÷ 5</a:t>
            </a:r>
          </a:p>
        </p:txBody>
      </p:sp>
      <p:sp>
        <p:nvSpPr>
          <p:cNvPr id="31" name="Rectangle 30"/>
          <p:cNvSpPr/>
          <p:nvPr/>
        </p:nvSpPr>
        <p:spPr>
          <a:xfrm>
            <a:off x="384048" y="6661403"/>
            <a:ext cx="4620768" cy="909828"/>
          </a:xfrm>
          <a:prstGeom prst="rect">
            <a:avLst/>
          </a:prstGeom>
          <a:solidFill>
            <a:srgbClr val="EDF6F5"/>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32" name="TextBox 31"/>
          <p:cNvSpPr txBox="1"/>
          <p:nvPr/>
        </p:nvSpPr>
        <p:spPr>
          <a:xfrm>
            <a:off x="493776" y="6871716"/>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176B73"/>
                </a:solidFill>
                <a:latin typeface="Arial"/>
              </a:defRPr>
            </a:pPr>
            <a:r>
              <a:t>6.</a:t>
            </a:r>
          </a:p>
        </p:txBody>
      </p:sp>
      <p:sp>
        <p:nvSpPr>
          <p:cNvPr id="33" name="TextBox 32"/>
          <p:cNvSpPr txBox="1"/>
          <p:nvPr/>
        </p:nvSpPr>
        <p:spPr>
          <a:xfrm>
            <a:off x="987552" y="6844283"/>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88 ÷ 8</a:t>
            </a:r>
          </a:p>
        </p:txBody>
      </p:sp>
      <p:sp>
        <p:nvSpPr>
          <p:cNvPr id="34" name="Rectangle 33"/>
          <p:cNvSpPr/>
          <p:nvPr/>
        </p:nvSpPr>
        <p:spPr>
          <a:xfrm>
            <a:off x="5004816" y="2020824"/>
            <a:ext cx="4620768" cy="909828"/>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35" name="TextBox 34"/>
          <p:cNvSpPr txBox="1"/>
          <p:nvPr/>
        </p:nvSpPr>
        <p:spPr>
          <a:xfrm>
            <a:off x="5114544" y="2231136"/>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3559A2"/>
                </a:solidFill>
                <a:latin typeface="Arial"/>
              </a:defRPr>
            </a:pPr>
            <a:r>
              <a:t>1.</a:t>
            </a:r>
          </a:p>
        </p:txBody>
      </p:sp>
      <p:sp>
        <p:nvSpPr>
          <p:cNvPr id="36" name="TextBox 35"/>
          <p:cNvSpPr txBox="1"/>
          <p:nvPr/>
        </p:nvSpPr>
        <p:spPr>
          <a:xfrm>
            <a:off x="5608320" y="2203704"/>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72 ÷ 3</a:t>
            </a:r>
          </a:p>
        </p:txBody>
      </p:sp>
      <p:sp>
        <p:nvSpPr>
          <p:cNvPr id="37" name="Rectangle 36"/>
          <p:cNvSpPr/>
          <p:nvPr/>
        </p:nvSpPr>
        <p:spPr>
          <a:xfrm>
            <a:off x="5004816" y="2948939"/>
            <a:ext cx="4620768" cy="909828"/>
          </a:xfrm>
          <a:prstGeom prst="rect">
            <a:avLst/>
          </a:prstGeom>
          <a:solidFill>
            <a:srgbClr val="EFF3FA"/>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38" name="TextBox 37"/>
          <p:cNvSpPr txBox="1"/>
          <p:nvPr/>
        </p:nvSpPr>
        <p:spPr>
          <a:xfrm>
            <a:off x="5114544" y="3159251"/>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3559A2"/>
                </a:solidFill>
                <a:latin typeface="Arial"/>
              </a:defRPr>
            </a:pPr>
            <a:r>
              <a:t>2.</a:t>
            </a:r>
          </a:p>
        </p:txBody>
      </p:sp>
      <p:sp>
        <p:nvSpPr>
          <p:cNvPr id="39" name="TextBox 38"/>
          <p:cNvSpPr txBox="1"/>
          <p:nvPr/>
        </p:nvSpPr>
        <p:spPr>
          <a:xfrm>
            <a:off x="5608320" y="3131820"/>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135 ÷ 5</a:t>
            </a:r>
          </a:p>
        </p:txBody>
      </p:sp>
      <p:sp>
        <p:nvSpPr>
          <p:cNvPr id="40" name="Rectangle 39"/>
          <p:cNvSpPr/>
          <p:nvPr/>
        </p:nvSpPr>
        <p:spPr>
          <a:xfrm>
            <a:off x="5004816" y="3877056"/>
            <a:ext cx="4620768" cy="909828"/>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41" name="TextBox 40"/>
          <p:cNvSpPr txBox="1"/>
          <p:nvPr/>
        </p:nvSpPr>
        <p:spPr>
          <a:xfrm>
            <a:off x="5114544" y="4087368"/>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3559A2"/>
                </a:solidFill>
                <a:latin typeface="Arial"/>
              </a:defRPr>
            </a:pPr>
            <a:r>
              <a:t>3.</a:t>
            </a:r>
          </a:p>
        </p:txBody>
      </p:sp>
      <p:sp>
        <p:nvSpPr>
          <p:cNvPr id="42" name="TextBox 41"/>
          <p:cNvSpPr txBox="1"/>
          <p:nvPr/>
        </p:nvSpPr>
        <p:spPr>
          <a:xfrm>
            <a:off x="5608320" y="4059936"/>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172 ÷ 4</a:t>
            </a:r>
          </a:p>
        </p:txBody>
      </p:sp>
      <p:sp>
        <p:nvSpPr>
          <p:cNvPr id="43" name="Rectangle 42"/>
          <p:cNvSpPr/>
          <p:nvPr/>
        </p:nvSpPr>
        <p:spPr>
          <a:xfrm>
            <a:off x="5004816" y="4805172"/>
            <a:ext cx="4620768" cy="909828"/>
          </a:xfrm>
          <a:prstGeom prst="rect">
            <a:avLst/>
          </a:prstGeom>
          <a:solidFill>
            <a:srgbClr val="EFF3FA"/>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44" name="TextBox 43"/>
          <p:cNvSpPr txBox="1"/>
          <p:nvPr/>
        </p:nvSpPr>
        <p:spPr>
          <a:xfrm>
            <a:off x="5114544" y="5015484"/>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3559A2"/>
                </a:solidFill>
                <a:latin typeface="Arial"/>
              </a:defRPr>
            </a:pPr>
            <a:r>
              <a:t>4.</a:t>
            </a:r>
          </a:p>
        </p:txBody>
      </p:sp>
      <p:sp>
        <p:nvSpPr>
          <p:cNvPr id="45" name="TextBox 44"/>
          <p:cNvSpPr txBox="1"/>
          <p:nvPr/>
        </p:nvSpPr>
        <p:spPr>
          <a:xfrm>
            <a:off x="5608320" y="4988052"/>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218 ÷ 6</a:t>
            </a:r>
          </a:p>
        </p:txBody>
      </p:sp>
      <p:sp>
        <p:nvSpPr>
          <p:cNvPr id="46" name="Rectangle 45"/>
          <p:cNvSpPr/>
          <p:nvPr/>
        </p:nvSpPr>
        <p:spPr>
          <a:xfrm>
            <a:off x="5004816" y="5733288"/>
            <a:ext cx="4620768" cy="909828"/>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47" name="TextBox 46"/>
          <p:cNvSpPr txBox="1"/>
          <p:nvPr/>
        </p:nvSpPr>
        <p:spPr>
          <a:xfrm>
            <a:off x="5114544" y="5943600"/>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3559A2"/>
                </a:solidFill>
                <a:latin typeface="Arial"/>
              </a:defRPr>
            </a:pPr>
            <a:r>
              <a:t>5.</a:t>
            </a:r>
          </a:p>
        </p:txBody>
      </p:sp>
      <p:sp>
        <p:nvSpPr>
          <p:cNvPr id="48" name="TextBox 47"/>
          <p:cNvSpPr txBox="1"/>
          <p:nvPr/>
        </p:nvSpPr>
        <p:spPr>
          <a:xfrm>
            <a:off x="5608320" y="5916168"/>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341 ÷ 7</a:t>
            </a:r>
          </a:p>
        </p:txBody>
      </p:sp>
      <p:sp>
        <p:nvSpPr>
          <p:cNvPr id="49" name="Rectangle 48"/>
          <p:cNvSpPr/>
          <p:nvPr/>
        </p:nvSpPr>
        <p:spPr>
          <a:xfrm>
            <a:off x="5004816" y="6661403"/>
            <a:ext cx="4620768" cy="909828"/>
          </a:xfrm>
          <a:prstGeom prst="rect">
            <a:avLst/>
          </a:prstGeom>
          <a:solidFill>
            <a:srgbClr val="EFF3FA"/>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50" name="TextBox 49"/>
          <p:cNvSpPr txBox="1"/>
          <p:nvPr/>
        </p:nvSpPr>
        <p:spPr>
          <a:xfrm>
            <a:off x="5114544" y="6871716"/>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3559A2"/>
                </a:solidFill>
                <a:latin typeface="Arial"/>
              </a:defRPr>
            </a:pPr>
            <a:r>
              <a:t>6.</a:t>
            </a:r>
          </a:p>
        </p:txBody>
      </p:sp>
      <p:sp>
        <p:nvSpPr>
          <p:cNvPr id="51" name="TextBox 50"/>
          <p:cNvSpPr txBox="1"/>
          <p:nvPr/>
        </p:nvSpPr>
        <p:spPr>
          <a:xfrm>
            <a:off x="5608320" y="6844283"/>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502 ÷ 8</a:t>
            </a:r>
          </a:p>
        </p:txBody>
      </p:sp>
      <p:sp>
        <p:nvSpPr>
          <p:cNvPr id="52" name="Rectangle 51"/>
          <p:cNvSpPr/>
          <p:nvPr/>
        </p:nvSpPr>
        <p:spPr>
          <a:xfrm>
            <a:off x="9625584" y="2020824"/>
            <a:ext cx="4620768" cy="909828"/>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53" name="TextBox 52"/>
          <p:cNvSpPr txBox="1"/>
          <p:nvPr/>
        </p:nvSpPr>
        <p:spPr>
          <a:xfrm>
            <a:off x="9735312" y="2231136"/>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754B87"/>
                </a:solidFill>
                <a:latin typeface="Arial"/>
              </a:defRPr>
            </a:pPr>
            <a:r>
              <a:t>1.</a:t>
            </a:r>
          </a:p>
        </p:txBody>
      </p:sp>
      <p:sp>
        <p:nvSpPr>
          <p:cNvPr id="54" name="TextBox 53"/>
          <p:cNvSpPr txBox="1"/>
          <p:nvPr/>
        </p:nvSpPr>
        <p:spPr>
          <a:xfrm>
            <a:off x="10229088" y="2203704"/>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514 ÷ 4</a:t>
            </a:r>
          </a:p>
        </p:txBody>
      </p:sp>
      <p:sp>
        <p:nvSpPr>
          <p:cNvPr id="55" name="Rectangle 54"/>
          <p:cNvSpPr/>
          <p:nvPr/>
        </p:nvSpPr>
        <p:spPr>
          <a:xfrm>
            <a:off x="9625584" y="2948939"/>
            <a:ext cx="4620768" cy="909828"/>
          </a:xfrm>
          <a:prstGeom prst="rect">
            <a:avLst/>
          </a:prstGeom>
          <a:solidFill>
            <a:srgbClr val="F5F0F7"/>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56" name="TextBox 55"/>
          <p:cNvSpPr txBox="1"/>
          <p:nvPr/>
        </p:nvSpPr>
        <p:spPr>
          <a:xfrm>
            <a:off x="9735312" y="3159251"/>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754B87"/>
                </a:solidFill>
                <a:latin typeface="Arial"/>
              </a:defRPr>
            </a:pPr>
            <a:r>
              <a:t>2.</a:t>
            </a:r>
          </a:p>
        </p:txBody>
      </p:sp>
      <p:sp>
        <p:nvSpPr>
          <p:cNvPr id="57" name="TextBox 56"/>
          <p:cNvSpPr txBox="1"/>
          <p:nvPr/>
        </p:nvSpPr>
        <p:spPr>
          <a:xfrm>
            <a:off x="10229088" y="3131820"/>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785 ÷ 2</a:t>
            </a:r>
          </a:p>
        </p:txBody>
      </p:sp>
      <p:sp>
        <p:nvSpPr>
          <p:cNvPr id="58" name="Rectangle 57"/>
          <p:cNvSpPr/>
          <p:nvPr/>
        </p:nvSpPr>
        <p:spPr>
          <a:xfrm>
            <a:off x="9625584" y="3877056"/>
            <a:ext cx="4620768" cy="909828"/>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59" name="TextBox 58"/>
          <p:cNvSpPr txBox="1"/>
          <p:nvPr/>
        </p:nvSpPr>
        <p:spPr>
          <a:xfrm>
            <a:off x="9735312" y="4087368"/>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754B87"/>
                </a:solidFill>
                <a:latin typeface="Arial"/>
              </a:defRPr>
            </a:pPr>
            <a:r>
              <a:t>3.</a:t>
            </a:r>
          </a:p>
        </p:txBody>
      </p:sp>
      <p:sp>
        <p:nvSpPr>
          <p:cNvPr id="60" name="TextBox 59"/>
          <p:cNvSpPr txBox="1"/>
          <p:nvPr/>
        </p:nvSpPr>
        <p:spPr>
          <a:xfrm>
            <a:off x="10229088" y="4059936"/>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1,428 ÷ 12</a:t>
            </a:r>
          </a:p>
        </p:txBody>
      </p:sp>
      <p:sp>
        <p:nvSpPr>
          <p:cNvPr id="61" name="Rectangle 60"/>
          <p:cNvSpPr/>
          <p:nvPr/>
        </p:nvSpPr>
        <p:spPr>
          <a:xfrm>
            <a:off x="9625584" y="4805172"/>
            <a:ext cx="4620768" cy="909828"/>
          </a:xfrm>
          <a:prstGeom prst="rect">
            <a:avLst/>
          </a:prstGeom>
          <a:solidFill>
            <a:srgbClr val="F5F0F7"/>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62" name="TextBox 61"/>
          <p:cNvSpPr txBox="1"/>
          <p:nvPr/>
        </p:nvSpPr>
        <p:spPr>
          <a:xfrm>
            <a:off x="9735312" y="5015484"/>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754B87"/>
                </a:solidFill>
                <a:latin typeface="Arial"/>
              </a:defRPr>
            </a:pPr>
            <a:r>
              <a:t>4.</a:t>
            </a:r>
          </a:p>
        </p:txBody>
      </p:sp>
      <p:sp>
        <p:nvSpPr>
          <p:cNvPr id="63" name="TextBox 62"/>
          <p:cNvSpPr txBox="1"/>
          <p:nvPr/>
        </p:nvSpPr>
        <p:spPr>
          <a:xfrm>
            <a:off x="10229088" y="4988052"/>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3,816 ÷ 24</a:t>
            </a:r>
          </a:p>
        </p:txBody>
      </p:sp>
      <p:sp>
        <p:nvSpPr>
          <p:cNvPr id="64" name="Rectangle 63"/>
          <p:cNvSpPr/>
          <p:nvPr/>
        </p:nvSpPr>
        <p:spPr>
          <a:xfrm>
            <a:off x="9625584" y="5733288"/>
            <a:ext cx="4620768" cy="909828"/>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65" name="TextBox 64"/>
          <p:cNvSpPr txBox="1"/>
          <p:nvPr/>
        </p:nvSpPr>
        <p:spPr>
          <a:xfrm>
            <a:off x="9735312" y="5943600"/>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754B87"/>
                </a:solidFill>
                <a:latin typeface="Arial"/>
              </a:defRPr>
            </a:pPr>
            <a:r>
              <a:t>5.</a:t>
            </a:r>
          </a:p>
        </p:txBody>
      </p:sp>
      <p:sp>
        <p:nvSpPr>
          <p:cNvPr id="66" name="TextBox 65"/>
          <p:cNvSpPr txBox="1"/>
          <p:nvPr/>
        </p:nvSpPr>
        <p:spPr>
          <a:xfrm>
            <a:off x="10229088" y="5916168"/>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4,516 ÷ 16</a:t>
            </a:r>
          </a:p>
        </p:txBody>
      </p:sp>
      <p:sp>
        <p:nvSpPr>
          <p:cNvPr id="67" name="Rectangle 66"/>
          <p:cNvSpPr/>
          <p:nvPr/>
        </p:nvSpPr>
        <p:spPr>
          <a:xfrm>
            <a:off x="9625584" y="6661403"/>
            <a:ext cx="4620768" cy="909828"/>
          </a:xfrm>
          <a:prstGeom prst="rect">
            <a:avLst/>
          </a:prstGeom>
          <a:solidFill>
            <a:srgbClr val="F5F0F7"/>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68" name="TextBox 67"/>
          <p:cNvSpPr txBox="1"/>
          <p:nvPr/>
        </p:nvSpPr>
        <p:spPr>
          <a:xfrm>
            <a:off x="9735312" y="6871716"/>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754B87"/>
                </a:solidFill>
                <a:latin typeface="Arial"/>
              </a:defRPr>
            </a:pPr>
            <a:r>
              <a:t>6.</a:t>
            </a:r>
          </a:p>
        </p:txBody>
      </p:sp>
      <p:sp>
        <p:nvSpPr>
          <p:cNvPr id="69" name="TextBox 68"/>
          <p:cNvSpPr txBox="1"/>
          <p:nvPr/>
        </p:nvSpPr>
        <p:spPr>
          <a:xfrm>
            <a:off x="10229088" y="6844283"/>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8,143 ÷ 25</a:t>
            </a:r>
          </a:p>
        </p:txBody>
      </p:sp>
      <p:sp>
        <p:nvSpPr>
          <p:cNvPr id="70" name="Progression curved arrow: Thread 1 to Thread 2"/>
          <p:cNvSpPr/>
          <p:nvPr/>
        </p:nvSpPr>
        <p:spPr>
          <a:xfrm>
            <a:off x="4671059" y="7506573"/>
            <a:ext cx="621792" cy="314053"/>
          </a:xfrm>
          <a:custGeom>
            <a:avLst/>
            <a:gdLst/>
            <a:ahLst/>
            <a:cxnLst/>
            <a:rect l="0" t="0" r="100000" b="100000"/>
            <a:pathLst>
              <a:path w="100000" h="100000" fill="none">
                <a:moveTo>
                  <a:pt x="6970" y="48439"/>
                </a:moveTo>
                <a:cubicBezTo>
                  <a:pt x="40678" y="114499"/>
                  <a:pt x="73026" y="88145"/>
                  <a:pt x="93030" y="13799"/>
                </a:cubicBezTo>
              </a:path>
              <a:path w="100000" h="100000" fill="none">
                <a:moveTo>
                  <a:pt x="69018" y="40431"/>
                </a:moveTo>
                <a:lnTo>
                  <a:pt x="93030" y="13799"/>
                </a:lnTo>
                <a:lnTo>
                  <a:pt x="92217" y="66207"/>
                </a:lnTo>
              </a:path>
            </a:pathLst>
          </a:custGeom>
          <a:noFill/>
          <a:ln w="64449" cap="rnd">
            <a:solidFill>
              <a:schemeClr val="accent6">
                <a:lumMod val="60000"/>
                <a:lumOff val="40000"/>
              </a:schemeClr>
            </a:solidFill>
            <a:round/>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71" name="Progression curved arrow: Thread 2 to Thread 3"/>
          <p:cNvSpPr/>
          <p:nvPr/>
        </p:nvSpPr>
        <p:spPr>
          <a:xfrm>
            <a:off x="9243991" y="7498079"/>
            <a:ext cx="621792" cy="314053"/>
          </a:xfrm>
          <a:custGeom>
            <a:avLst/>
            <a:gdLst/>
            <a:ahLst/>
            <a:cxnLst/>
            <a:rect l="0" t="0" r="100000" b="100000"/>
            <a:pathLst>
              <a:path w="100000" h="100000" fill="none">
                <a:moveTo>
                  <a:pt x="6970" y="48439"/>
                </a:moveTo>
                <a:cubicBezTo>
                  <a:pt x="40678" y="114499"/>
                  <a:pt x="73026" y="88145"/>
                  <a:pt x="93030" y="13799"/>
                </a:cubicBezTo>
              </a:path>
              <a:path w="100000" h="100000" fill="none">
                <a:moveTo>
                  <a:pt x="69018" y="40431"/>
                </a:moveTo>
                <a:lnTo>
                  <a:pt x="93030" y="13799"/>
                </a:lnTo>
                <a:lnTo>
                  <a:pt x="92217" y="66207"/>
                </a:lnTo>
              </a:path>
            </a:pathLst>
          </a:custGeom>
          <a:noFill/>
          <a:ln w="64449" cap="rnd">
            <a:solidFill>
              <a:schemeClr val="accent6">
                <a:lumMod val="60000"/>
                <a:lumOff val="40000"/>
              </a:schemeClr>
            </a:solidFill>
            <a:round/>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F7F8FA"/>
        </a:solidFill>
        <a:effectLst/>
      </p:bgPr>
    </p:bg>
    <p:spTree>
      <p:nvGrpSpPr>
        <p:cNvPr id="1" name=""/>
        <p:cNvGrpSpPr/>
        <p:nvPr/>
      </p:nvGrpSpPr>
      <p:grpSpPr/>
      <p:sp>
        <p:nvSpPr>
          <p:cNvPr id="2" name="Rectangle 1"/>
          <p:cNvSpPr/>
          <p:nvPr/>
        </p:nvSpPr>
        <p:spPr>
          <a:xfrm>
            <a:off x="0" y="0"/>
            <a:ext cx="14630400" cy="91440"/>
          </a:xfrm>
          <a:prstGeom prst="rect">
            <a:avLst/>
          </a:prstGeom>
          <a:solidFill>
            <a:srgbClr val="3559A2"/>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3" name="TextBox 2"/>
          <p:cNvSpPr txBox="1"/>
          <p:nvPr/>
        </p:nvSpPr>
        <p:spPr>
          <a:xfrm>
            <a:off x="384048" y="219456"/>
            <a:ext cx="12435840" cy="448056"/>
          </a:xfrm>
          <a:prstGeom prst="rect">
            <a:avLst/>
          </a:prstGeom>
          <a:noFill/>
        </p:spPr>
        <p:txBody>
          <a:bodyPr wrap="square" tIns="36576" bIns="36576" anchor="t">
            <a:spAutoFit/>
          </a:bodyPr>
          <a:lstStyle/>
          <a:p>
            <a:pPr>
              <a:lnSpc>
                <a:spcPts val="3132"/>
              </a:lnSpc>
              <a:spcBef>
                <a:spcPts val="0"/>
              </a:spcBef>
              <a:spcAft>
                <a:spcPts val="0"/>
              </a:spcAft>
              <a:defRPr sz="2900" b="1">
                <a:solidFill>
                  <a:srgbClr val="182B3A"/>
                </a:solidFill>
                <a:latin typeface="Arial"/>
              </a:defRPr>
            </a:pPr>
            <a:r>
              <a:t>Bus Stop Division</a:t>
            </a:r>
          </a:p>
        </p:txBody>
      </p:sp>
      <p:sp>
        <p:nvSpPr>
          <p:cNvPr id="4" name="TextBox 3"/>
          <p:cNvSpPr txBox="1"/>
          <p:nvPr/>
        </p:nvSpPr>
        <p:spPr>
          <a:xfrm>
            <a:off x="384048" y="713232"/>
            <a:ext cx="13533120" cy="274320"/>
          </a:xfrm>
          <a:prstGeom prst="rect">
            <a:avLst/>
          </a:prstGeom>
          <a:noFill/>
        </p:spPr>
        <p:txBody>
          <a:bodyPr wrap="square" tIns="36576" bIns="36576" anchor="t">
            <a:spAutoFit/>
          </a:bodyPr>
          <a:lstStyle/>
          <a:p>
            <a:pPr>
              <a:lnSpc>
                <a:spcPts val="1512"/>
              </a:lnSpc>
              <a:spcBef>
                <a:spcPts val="0"/>
              </a:spcBef>
              <a:spcAft>
                <a:spcPts val="0"/>
              </a:spcAft>
              <a:defRPr sz="1400" b="0">
                <a:solidFill>
                  <a:srgbClr val="526472"/>
                </a:solidFill>
                <a:latin typeface="Arial"/>
              </a:defRPr>
            </a:pPr>
            <a:r>
              <a:t>Independent practice 2  •  Choose a column. Show the full written method.</a:t>
            </a:r>
          </a:p>
        </p:txBody>
      </p:sp>
      <p:sp>
        <p:nvSpPr>
          <p:cNvPr id="5" name="TextBox 4"/>
          <p:cNvSpPr txBox="1"/>
          <p:nvPr/>
        </p:nvSpPr>
        <p:spPr>
          <a:xfrm>
            <a:off x="384048" y="7882127"/>
            <a:ext cx="10058400" cy="210312"/>
          </a:xfrm>
          <a:prstGeom prst="rect">
            <a:avLst/>
          </a:prstGeom>
          <a:noFill/>
        </p:spPr>
        <p:txBody>
          <a:bodyPr wrap="square" tIns="36576" bIns="36576" anchor="t">
            <a:spAutoFit/>
          </a:bodyPr>
          <a:lstStyle/>
          <a:p>
            <a:pPr>
              <a:lnSpc>
                <a:spcPts val="1188"/>
              </a:lnSpc>
              <a:spcBef>
                <a:spcPts val="0"/>
              </a:spcBef>
              <a:spcAft>
                <a:spcPts val="0"/>
              </a:spcAft>
              <a:defRPr sz="1100" b="0">
                <a:solidFill>
                  <a:srgbClr val="526472"/>
                </a:solidFill>
                <a:latin typeface="Arial"/>
              </a:defRPr>
            </a:pPr>
            <a:r>
              <a:t>GCSE Maths revision  •  Record your working in your booklet or webapp.</a:t>
            </a:r>
          </a:p>
        </p:txBody>
      </p:sp>
      <p:sp>
        <p:nvSpPr>
          <p:cNvPr id="6" name="TextBox 5"/>
          <p:cNvSpPr txBox="1"/>
          <p:nvPr/>
        </p:nvSpPr>
        <p:spPr>
          <a:xfrm>
            <a:off x="11430000" y="7863840"/>
            <a:ext cx="2788920" cy="228600"/>
          </a:xfrm>
          <a:prstGeom prst="rect">
            <a:avLst/>
          </a:prstGeom>
          <a:noFill/>
        </p:spPr>
        <p:txBody>
          <a:bodyPr wrap="square" tIns="36576" bIns="36576" anchor="t">
            <a:spAutoFit/>
          </a:bodyPr>
          <a:lstStyle/>
          <a:p>
            <a:pPr>
              <a:lnSpc>
                <a:spcPts val="1188"/>
              </a:lnSpc>
              <a:spcBef>
                <a:spcPts val="0"/>
              </a:spcBef>
              <a:spcAft>
                <a:spcPts val="0"/>
              </a:spcAft>
              <a:defRPr sz="1100" b="0">
                <a:solidFill>
                  <a:srgbClr val="526472"/>
                </a:solidFill>
                <a:latin typeface="Arial"/>
              </a:defRPr>
            </a:pPr>
            <a:r>
              <a:t>M02-S05  •  Topic slide 7</a:t>
            </a:r>
          </a:p>
        </p:txBody>
      </p:sp>
      <p:sp>
        <p:nvSpPr>
          <p:cNvPr id="7" name="Rectangle 6"/>
          <p:cNvSpPr/>
          <p:nvPr/>
        </p:nvSpPr>
        <p:spPr>
          <a:xfrm>
            <a:off x="384048" y="1124712"/>
            <a:ext cx="4620768" cy="438912"/>
          </a:xfrm>
          <a:prstGeom prst="rect">
            <a:avLst/>
          </a:prstGeom>
          <a:solidFill>
            <a:srgbClr val="176B73"/>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8" name="TextBox 7"/>
          <p:cNvSpPr txBox="1"/>
          <p:nvPr/>
        </p:nvSpPr>
        <p:spPr>
          <a:xfrm>
            <a:off x="438912" y="1152144"/>
            <a:ext cx="4511040" cy="338328"/>
          </a:xfrm>
          <a:prstGeom prst="rect">
            <a:avLst/>
          </a:prstGeom>
          <a:noFill/>
        </p:spPr>
        <p:txBody>
          <a:bodyPr wrap="square" tIns="36576" bIns="36576" anchor="t">
            <a:spAutoFit/>
          </a:bodyPr>
          <a:lstStyle/>
          <a:p>
            <a:pPr>
              <a:lnSpc>
                <a:spcPts val="2160"/>
              </a:lnSpc>
              <a:spcBef>
                <a:spcPts val="0"/>
              </a:spcBef>
              <a:spcAft>
                <a:spcPts val="0"/>
              </a:spcAft>
              <a:defRPr sz="2000" b="1">
                <a:solidFill>
                  <a:srgbClr val="FFFFFF"/>
                </a:solidFill>
                <a:latin typeface="Arial"/>
              </a:defRPr>
            </a:pPr>
            <a:r>
              <a:t>Start</a:t>
            </a:r>
          </a:p>
        </p:txBody>
      </p:sp>
      <p:sp>
        <p:nvSpPr>
          <p:cNvPr id="9" name="TextBox 8"/>
          <p:cNvSpPr txBox="1"/>
          <p:nvPr/>
        </p:nvSpPr>
        <p:spPr>
          <a:xfrm>
            <a:off x="420623" y="1618488"/>
            <a:ext cx="4547616" cy="329184"/>
          </a:xfrm>
          <a:prstGeom prst="rect">
            <a:avLst/>
          </a:prstGeom>
          <a:noFill/>
        </p:spPr>
        <p:txBody>
          <a:bodyPr wrap="square" tIns="36576" bIns="36576" anchor="t">
            <a:spAutoFit/>
          </a:bodyPr>
          <a:lstStyle/>
          <a:p>
            <a:pPr>
              <a:lnSpc>
                <a:spcPts val="1512"/>
              </a:lnSpc>
              <a:spcBef>
                <a:spcPts val="0"/>
              </a:spcBef>
              <a:spcAft>
                <a:spcPts val="0"/>
              </a:spcAft>
              <a:defRPr sz="1400" b="1">
                <a:solidFill>
                  <a:srgbClr val="176B73"/>
                </a:solidFill>
                <a:latin typeface="Arial"/>
              </a:defRPr>
            </a:pPr>
            <a:r>
              <a:t>No carrying</a:t>
            </a:r>
          </a:p>
        </p:txBody>
      </p:sp>
      <p:sp>
        <p:nvSpPr>
          <p:cNvPr id="10" name="Rectangle 9"/>
          <p:cNvSpPr/>
          <p:nvPr/>
        </p:nvSpPr>
        <p:spPr>
          <a:xfrm>
            <a:off x="5004816" y="1124712"/>
            <a:ext cx="4620768" cy="438912"/>
          </a:xfrm>
          <a:prstGeom prst="rect">
            <a:avLst/>
          </a:prstGeom>
          <a:solidFill>
            <a:srgbClr val="3559A2"/>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1" name="TextBox 10"/>
          <p:cNvSpPr txBox="1"/>
          <p:nvPr/>
        </p:nvSpPr>
        <p:spPr>
          <a:xfrm>
            <a:off x="5059680" y="1152144"/>
            <a:ext cx="4511040" cy="338328"/>
          </a:xfrm>
          <a:prstGeom prst="rect">
            <a:avLst/>
          </a:prstGeom>
          <a:noFill/>
        </p:spPr>
        <p:txBody>
          <a:bodyPr wrap="square" tIns="36576" bIns="36576" anchor="t">
            <a:spAutoFit/>
          </a:bodyPr>
          <a:lstStyle/>
          <a:p>
            <a:pPr>
              <a:lnSpc>
                <a:spcPts val="2160"/>
              </a:lnSpc>
              <a:spcBef>
                <a:spcPts val="0"/>
              </a:spcBef>
              <a:spcAft>
                <a:spcPts val="0"/>
              </a:spcAft>
              <a:defRPr sz="2000" b="1">
                <a:solidFill>
                  <a:srgbClr val="FFFFFF"/>
                </a:solidFill>
                <a:latin typeface="Arial"/>
              </a:defRPr>
            </a:pPr>
            <a:r>
              <a:t>Build</a:t>
            </a:r>
          </a:p>
        </p:txBody>
      </p:sp>
      <p:sp>
        <p:nvSpPr>
          <p:cNvPr id="12" name="TextBox 11"/>
          <p:cNvSpPr txBox="1"/>
          <p:nvPr/>
        </p:nvSpPr>
        <p:spPr>
          <a:xfrm>
            <a:off x="5041392" y="1618488"/>
            <a:ext cx="4547616" cy="329184"/>
          </a:xfrm>
          <a:prstGeom prst="rect">
            <a:avLst/>
          </a:prstGeom>
          <a:noFill/>
        </p:spPr>
        <p:txBody>
          <a:bodyPr wrap="square" tIns="36576" bIns="36576" anchor="t">
            <a:spAutoFit/>
          </a:bodyPr>
          <a:lstStyle/>
          <a:p>
            <a:pPr>
              <a:lnSpc>
                <a:spcPts val="1512"/>
              </a:lnSpc>
              <a:spcBef>
                <a:spcPts val="0"/>
              </a:spcBef>
              <a:spcAft>
                <a:spcPts val="0"/>
              </a:spcAft>
              <a:defRPr sz="1400" b="1">
                <a:solidFill>
                  <a:srgbClr val="3559A2"/>
                </a:solidFill>
                <a:latin typeface="Arial"/>
              </a:defRPr>
            </a:pPr>
            <a:r>
              <a:t>Carrying; give remainders</a:t>
            </a:r>
          </a:p>
        </p:txBody>
      </p:sp>
      <p:sp>
        <p:nvSpPr>
          <p:cNvPr id="13" name="Rectangle 12"/>
          <p:cNvSpPr/>
          <p:nvPr/>
        </p:nvSpPr>
        <p:spPr>
          <a:xfrm>
            <a:off x="9625584" y="1124712"/>
            <a:ext cx="4620768" cy="438912"/>
          </a:xfrm>
          <a:prstGeom prst="rect">
            <a:avLst/>
          </a:prstGeom>
          <a:solidFill>
            <a:srgbClr val="754B87"/>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4" name="TextBox 13"/>
          <p:cNvSpPr txBox="1"/>
          <p:nvPr/>
        </p:nvSpPr>
        <p:spPr>
          <a:xfrm>
            <a:off x="9680448" y="1152144"/>
            <a:ext cx="4511040" cy="338328"/>
          </a:xfrm>
          <a:prstGeom prst="rect">
            <a:avLst/>
          </a:prstGeom>
          <a:noFill/>
        </p:spPr>
        <p:txBody>
          <a:bodyPr wrap="square" tIns="36576" bIns="36576" anchor="t">
            <a:spAutoFit/>
          </a:bodyPr>
          <a:lstStyle/>
          <a:p>
            <a:pPr>
              <a:lnSpc>
                <a:spcPts val="2160"/>
              </a:lnSpc>
              <a:spcBef>
                <a:spcPts val="0"/>
              </a:spcBef>
              <a:spcAft>
                <a:spcPts val="0"/>
              </a:spcAft>
              <a:defRPr sz="2000" b="1">
                <a:solidFill>
                  <a:srgbClr val="FFFFFF"/>
                </a:solidFill>
                <a:latin typeface="Arial"/>
              </a:defRPr>
            </a:pPr>
            <a:r>
              <a:t>Confidence</a:t>
            </a:r>
          </a:p>
        </p:txBody>
      </p:sp>
      <p:sp>
        <p:nvSpPr>
          <p:cNvPr id="15" name="TextBox 14"/>
          <p:cNvSpPr txBox="1"/>
          <p:nvPr/>
        </p:nvSpPr>
        <p:spPr>
          <a:xfrm>
            <a:off x="9662160" y="1618488"/>
            <a:ext cx="4547616" cy="329184"/>
          </a:xfrm>
          <a:prstGeom prst="rect">
            <a:avLst/>
          </a:prstGeom>
          <a:noFill/>
        </p:spPr>
        <p:txBody>
          <a:bodyPr wrap="square" tIns="36576" bIns="36576" anchor="t">
            <a:spAutoFit/>
          </a:bodyPr>
          <a:lstStyle/>
          <a:p>
            <a:pPr>
              <a:lnSpc>
                <a:spcPts val="1512"/>
              </a:lnSpc>
              <a:spcBef>
                <a:spcPts val="0"/>
              </a:spcBef>
              <a:spcAft>
                <a:spcPts val="0"/>
              </a:spcAft>
              <a:defRPr sz="1400" b="1">
                <a:solidFill>
                  <a:srgbClr val="754B87"/>
                </a:solidFill>
                <a:latin typeface="Arial"/>
              </a:defRPr>
            </a:pPr>
            <a:r>
              <a:t>Includes 2-digit divisors; give decimals</a:t>
            </a:r>
          </a:p>
        </p:txBody>
      </p:sp>
      <p:sp>
        <p:nvSpPr>
          <p:cNvPr id="16" name="Rectangle 15"/>
          <p:cNvSpPr/>
          <p:nvPr/>
        </p:nvSpPr>
        <p:spPr>
          <a:xfrm>
            <a:off x="384048" y="2020824"/>
            <a:ext cx="4620768" cy="909828"/>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7" name="TextBox 16"/>
          <p:cNvSpPr txBox="1"/>
          <p:nvPr/>
        </p:nvSpPr>
        <p:spPr>
          <a:xfrm>
            <a:off x="493776" y="2231136"/>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176B73"/>
                </a:solidFill>
                <a:latin typeface="Arial"/>
              </a:defRPr>
            </a:pPr>
            <a:r>
              <a:t>1.</a:t>
            </a:r>
          </a:p>
        </p:txBody>
      </p:sp>
      <p:sp>
        <p:nvSpPr>
          <p:cNvPr id="18" name="TextBox 17"/>
          <p:cNvSpPr txBox="1"/>
          <p:nvPr/>
        </p:nvSpPr>
        <p:spPr>
          <a:xfrm>
            <a:off x="987552" y="2203704"/>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46 ÷ 2</a:t>
            </a:r>
          </a:p>
        </p:txBody>
      </p:sp>
      <p:sp>
        <p:nvSpPr>
          <p:cNvPr id="19" name="Rectangle 18"/>
          <p:cNvSpPr/>
          <p:nvPr/>
        </p:nvSpPr>
        <p:spPr>
          <a:xfrm>
            <a:off x="384048" y="2948939"/>
            <a:ext cx="4620768" cy="909828"/>
          </a:xfrm>
          <a:prstGeom prst="rect">
            <a:avLst/>
          </a:prstGeom>
          <a:solidFill>
            <a:srgbClr val="EDF6F5"/>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20" name="TextBox 19"/>
          <p:cNvSpPr txBox="1"/>
          <p:nvPr/>
        </p:nvSpPr>
        <p:spPr>
          <a:xfrm>
            <a:off x="493776" y="3159251"/>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176B73"/>
                </a:solidFill>
                <a:latin typeface="Arial"/>
              </a:defRPr>
            </a:pPr>
            <a:r>
              <a:t>2.</a:t>
            </a:r>
          </a:p>
        </p:txBody>
      </p:sp>
      <p:sp>
        <p:nvSpPr>
          <p:cNvPr id="21" name="TextBox 20"/>
          <p:cNvSpPr txBox="1"/>
          <p:nvPr/>
        </p:nvSpPr>
        <p:spPr>
          <a:xfrm>
            <a:off x="987552" y="3131820"/>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93 ÷ 3</a:t>
            </a:r>
          </a:p>
        </p:txBody>
      </p:sp>
      <p:sp>
        <p:nvSpPr>
          <p:cNvPr id="22" name="Rectangle 21"/>
          <p:cNvSpPr/>
          <p:nvPr/>
        </p:nvSpPr>
        <p:spPr>
          <a:xfrm>
            <a:off x="384048" y="3877056"/>
            <a:ext cx="4620768" cy="909828"/>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23" name="TextBox 22"/>
          <p:cNvSpPr txBox="1"/>
          <p:nvPr/>
        </p:nvSpPr>
        <p:spPr>
          <a:xfrm>
            <a:off x="493776" y="4087368"/>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176B73"/>
                </a:solidFill>
                <a:latin typeface="Arial"/>
              </a:defRPr>
            </a:pPr>
            <a:r>
              <a:t>3.</a:t>
            </a:r>
          </a:p>
        </p:txBody>
      </p:sp>
      <p:sp>
        <p:nvSpPr>
          <p:cNvPr id="24" name="TextBox 23"/>
          <p:cNvSpPr txBox="1"/>
          <p:nvPr/>
        </p:nvSpPr>
        <p:spPr>
          <a:xfrm>
            <a:off x="987552" y="4059936"/>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66 ÷ 6</a:t>
            </a:r>
          </a:p>
        </p:txBody>
      </p:sp>
      <p:sp>
        <p:nvSpPr>
          <p:cNvPr id="25" name="Rectangle 24"/>
          <p:cNvSpPr/>
          <p:nvPr/>
        </p:nvSpPr>
        <p:spPr>
          <a:xfrm>
            <a:off x="384048" y="4805172"/>
            <a:ext cx="4620768" cy="909828"/>
          </a:xfrm>
          <a:prstGeom prst="rect">
            <a:avLst/>
          </a:prstGeom>
          <a:solidFill>
            <a:srgbClr val="EDF6F5"/>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26" name="TextBox 25"/>
          <p:cNvSpPr txBox="1"/>
          <p:nvPr/>
        </p:nvSpPr>
        <p:spPr>
          <a:xfrm>
            <a:off x="493776" y="5015484"/>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176B73"/>
                </a:solidFill>
                <a:latin typeface="Arial"/>
              </a:defRPr>
            </a:pPr>
            <a:r>
              <a:t>4.</a:t>
            </a:r>
          </a:p>
        </p:txBody>
      </p:sp>
      <p:sp>
        <p:nvSpPr>
          <p:cNvPr id="27" name="TextBox 26"/>
          <p:cNvSpPr txBox="1"/>
          <p:nvPr/>
        </p:nvSpPr>
        <p:spPr>
          <a:xfrm>
            <a:off x="987552" y="4988052"/>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884 ÷ 4</a:t>
            </a:r>
          </a:p>
        </p:txBody>
      </p:sp>
      <p:sp>
        <p:nvSpPr>
          <p:cNvPr id="28" name="Rectangle 27"/>
          <p:cNvSpPr/>
          <p:nvPr/>
        </p:nvSpPr>
        <p:spPr>
          <a:xfrm>
            <a:off x="384048" y="5733288"/>
            <a:ext cx="4620768" cy="909828"/>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29" name="TextBox 28"/>
          <p:cNvSpPr txBox="1"/>
          <p:nvPr/>
        </p:nvSpPr>
        <p:spPr>
          <a:xfrm>
            <a:off x="493776" y="5943600"/>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176B73"/>
                </a:solidFill>
                <a:latin typeface="Arial"/>
              </a:defRPr>
            </a:pPr>
            <a:r>
              <a:t>5.</a:t>
            </a:r>
          </a:p>
        </p:txBody>
      </p:sp>
      <p:sp>
        <p:nvSpPr>
          <p:cNvPr id="30" name="TextBox 29"/>
          <p:cNvSpPr txBox="1"/>
          <p:nvPr/>
        </p:nvSpPr>
        <p:spPr>
          <a:xfrm>
            <a:off x="987552" y="5916168"/>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555 ÷ 5</a:t>
            </a:r>
          </a:p>
        </p:txBody>
      </p:sp>
      <p:sp>
        <p:nvSpPr>
          <p:cNvPr id="31" name="Rectangle 30"/>
          <p:cNvSpPr/>
          <p:nvPr/>
        </p:nvSpPr>
        <p:spPr>
          <a:xfrm>
            <a:off x="384048" y="6661403"/>
            <a:ext cx="4620768" cy="909828"/>
          </a:xfrm>
          <a:prstGeom prst="rect">
            <a:avLst/>
          </a:prstGeom>
          <a:solidFill>
            <a:srgbClr val="EDF6F5"/>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32" name="TextBox 31"/>
          <p:cNvSpPr txBox="1"/>
          <p:nvPr/>
        </p:nvSpPr>
        <p:spPr>
          <a:xfrm>
            <a:off x="493776" y="6871716"/>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176B73"/>
                </a:solidFill>
                <a:latin typeface="Arial"/>
              </a:defRPr>
            </a:pPr>
            <a:r>
              <a:t>6.</a:t>
            </a:r>
          </a:p>
        </p:txBody>
      </p:sp>
      <p:sp>
        <p:nvSpPr>
          <p:cNvPr id="33" name="TextBox 32"/>
          <p:cNvSpPr txBox="1"/>
          <p:nvPr/>
        </p:nvSpPr>
        <p:spPr>
          <a:xfrm>
            <a:off x="987552" y="6844283"/>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639 ÷ 3</a:t>
            </a:r>
          </a:p>
        </p:txBody>
      </p:sp>
      <p:sp>
        <p:nvSpPr>
          <p:cNvPr id="34" name="Rectangle 33"/>
          <p:cNvSpPr/>
          <p:nvPr/>
        </p:nvSpPr>
        <p:spPr>
          <a:xfrm>
            <a:off x="5004816" y="2020824"/>
            <a:ext cx="4620768" cy="909828"/>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35" name="TextBox 34"/>
          <p:cNvSpPr txBox="1"/>
          <p:nvPr/>
        </p:nvSpPr>
        <p:spPr>
          <a:xfrm>
            <a:off x="5114544" y="2231136"/>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3559A2"/>
                </a:solidFill>
                <a:latin typeface="Arial"/>
              </a:defRPr>
            </a:pPr>
            <a:r>
              <a:t>1.</a:t>
            </a:r>
          </a:p>
        </p:txBody>
      </p:sp>
      <p:sp>
        <p:nvSpPr>
          <p:cNvPr id="36" name="TextBox 35"/>
          <p:cNvSpPr txBox="1"/>
          <p:nvPr/>
        </p:nvSpPr>
        <p:spPr>
          <a:xfrm>
            <a:off x="5608320" y="2203704"/>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84 ÷ 3</a:t>
            </a:r>
          </a:p>
        </p:txBody>
      </p:sp>
      <p:sp>
        <p:nvSpPr>
          <p:cNvPr id="37" name="Rectangle 36"/>
          <p:cNvSpPr/>
          <p:nvPr/>
        </p:nvSpPr>
        <p:spPr>
          <a:xfrm>
            <a:off x="5004816" y="2948939"/>
            <a:ext cx="4620768" cy="909828"/>
          </a:xfrm>
          <a:prstGeom prst="rect">
            <a:avLst/>
          </a:prstGeom>
          <a:solidFill>
            <a:srgbClr val="EFF3FA"/>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38" name="TextBox 37"/>
          <p:cNvSpPr txBox="1"/>
          <p:nvPr/>
        </p:nvSpPr>
        <p:spPr>
          <a:xfrm>
            <a:off x="5114544" y="3159251"/>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3559A2"/>
                </a:solidFill>
                <a:latin typeface="Arial"/>
              </a:defRPr>
            </a:pPr>
            <a:r>
              <a:t>2.</a:t>
            </a:r>
          </a:p>
        </p:txBody>
      </p:sp>
      <p:sp>
        <p:nvSpPr>
          <p:cNvPr id="39" name="TextBox 38"/>
          <p:cNvSpPr txBox="1"/>
          <p:nvPr/>
        </p:nvSpPr>
        <p:spPr>
          <a:xfrm>
            <a:off x="5608320" y="3131820"/>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156 ÷ 4</a:t>
            </a:r>
          </a:p>
        </p:txBody>
      </p:sp>
      <p:sp>
        <p:nvSpPr>
          <p:cNvPr id="40" name="Rectangle 39"/>
          <p:cNvSpPr/>
          <p:nvPr/>
        </p:nvSpPr>
        <p:spPr>
          <a:xfrm>
            <a:off x="5004816" y="3877056"/>
            <a:ext cx="4620768" cy="909828"/>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41" name="TextBox 40"/>
          <p:cNvSpPr txBox="1"/>
          <p:nvPr/>
        </p:nvSpPr>
        <p:spPr>
          <a:xfrm>
            <a:off x="5114544" y="4087368"/>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3559A2"/>
                </a:solidFill>
                <a:latin typeface="Arial"/>
              </a:defRPr>
            </a:pPr>
            <a:r>
              <a:t>3.</a:t>
            </a:r>
          </a:p>
        </p:txBody>
      </p:sp>
      <p:sp>
        <p:nvSpPr>
          <p:cNvPr id="42" name="TextBox 41"/>
          <p:cNvSpPr txBox="1"/>
          <p:nvPr/>
        </p:nvSpPr>
        <p:spPr>
          <a:xfrm>
            <a:off x="5608320" y="4059936"/>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235 ÷ 6</a:t>
            </a:r>
          </a:p>
        </p:txBody>
      </p:sp>
      <p:sp>
        <p:nvSpPr>
          <p:cNvPr id="43" name="Rectangle 42"/>
          <p:cNvSpPr/>
          <p:nvPr/>
        </p:nvSpPr>
        <p:spPr>
          <a:xfrm>
            <a:off x="5004816" y="4805172"/>
            <a:ext cx="4620768" cy="909828"/>
          </a:xfrm>
          <a:prstGeom prst="rect">
            <a:avLst/>
          </a:prstGeom>
          <a:solidFill>
            <a:srgbClr val="EFF3FA"/>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44" name="TextBox 43"/>
          <p:cNvSpPr txBox="1"/>
          <p:nvPr/>
        </p:nvSpPr>
        <p:spPr>
          <a:xfrm>
            <a:off x="5114544" y="5015484"/>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3559A2"/>
                </a:solidFill>
                <a:latin typeface="Arial"/>
              </a:defRPr>
            </a:pPr>
            <a:r>
              <a:t>4.</a:t>
            </a:r>
          </a:p>
        </p:txBody>
      </p:sp>
      <p:sp>
        <p:nvSpPr>
          <p:cNvPr id="45" name="TextBox 44"/>
          <p:cNvSpPr txBox="1"/>
          <p:nvPr/>
        </p:nvSpPr>
        <p:spPr>
          <a:xfrm>
            <a:off x="5608320" y="4988052"/>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326 ÷ 7</a:t>
            </a:r>
          </a:p>
        </p:txBody>
      </p:sp>
      <p:sp>
        <p:nvSpPr>
          <p:cNvPr id="46" name="Rectangle 45"/>
          <p:cNvSpPr/>
          <p:nvPr/>
        </p:nvSpPr>
        <p:spPr>
          <a:xfrm>
            <a:off x="5004816" y="5733288"/>
            <a:ext cx="4620768" cy="909828"/>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47" name="TextBox 46"/>
          <p:cNvSpPr txBox="1"/>
          <p:nvPr/>
        </p:nvSpPr>
        <p:spPr>
          <a:xfrm>
            <a:off x="5114544" y="5943600"/>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3559A2"/>
                </a:solidFill>
                <a:latin typeface="Arial"/>
              </a:defRPr>
            </a:pPr>
            <a:r>
              <a:t>5.</a:t>
            </a:r>
          </a:p>
        </p:txBody>
      </p:sp>
      <p:sp>
        <p:nvSpPr>
          <p:cNvPr id="48" name="TextBox 47"/>
          <p:cNvSpPr txBox="1"/>
          <p:nvPr/>
        </p:nvSpPr>
        <p:spPr>
          <a:xfrm>
            <a:off x="5608320" y="5916168"/>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458 ÷ 8</a:t>
            </a:r>
          </a:p>
        </p:txBody>
      </p:sp>
      <p:sp>
        <p:nvSpPr>
          <p:cNvPr id="49" name="Rectangle 48"/>
          <p:cNvSpPr/>
          <p:nvPr/>
        </p:nvSpPr>
        <p:spPr>
          <a:xfrm>
            <a:off x="5004816" y="6661403"/>
            <a:ext cx="4620768" cy="909828"/>
          </a:xfrm>
          <a:prstGeom prst="rect">
            <a:avLst/>
          </a:prstGeom>
          <a:solidFill>
            <a:srgbClr val="EFF3FA"/>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50" name="TextBox 49"/>
          <p:cNvSpPr txBox="1"/>
          <p:nvPr/>
        </p:nvSpPr>
        <p:spPr>
          <a:xfrm>
            <a:off x="5114544" y="6871716"/>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3559A2"/>
                </a:solidFill>
                <a:latin typeface="Arial"/>
              </a:defRPr>
            </a:pPr>
            <a:r>
              <a:t>6.</a:t>
            </a:r>
          </a:p>
        </p:txBody>
      </p:sp>
      <p:sp>
        <p:nvSpPr>
          <p:cNvPr id="51" name="TextBox 50"/>
          <p:cNvSpPr txBox="1"/>
          <p:nvPr/>
        </p:nvSpPr>
        <p:spPr>
          <a:xfrm>
            <a:off x="5608320" y="6844283"/>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617 ÷ 9</a:t>
            </a:r>
          </a:p>
        </p:txBody>
      </p:sp>
      <p:sp>
        <p:nvSpPr>
          <p:cNvPr id="52" name="Rectangle 51"/>
          <p:cNvSpPr/>
          <p:nvPr/>
        </p:nvSpPr>
        <p:spPr>
          <a:xfrm>
            <a:off x="9625584" y="2020824"/>
            <a:ext cx="4620768" cy="909828"/>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53" name="TextBox 52"/>
          <p:cNvSpPr txBox="1"/>
          <p:nvPr/>
        </p:nvSpPr>
        <p:spPr>
          <a:xfrm>
            <a:off x="9735312" y="2231136"/>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754B87"/>
                </a:solidFill>
                <a:latin typeface="Arial"/>
              </a:defRPr>
            </a:pPr>
            <a:r>
              <a:t>1.</a:t>
            </a:r>
          </a:p>
        </p:txBody>
      </p:sp>
      <p:sp>
        <p:nvSpPr>
          <p:cNvPr id="54" name="TextBox 53"/>
          <p:cNvSpPr txBox="1"/>
          <p:nvPr/>
        </p:nvSpPr>
        <p:spPr>
          <a:xfrm>
            <a:off x="10229088" y="2203704"/>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627 ÷ 4</a:t>
            </a:r>
          </a:p>
        </p:txBody>
      </p:sp>
      <p:sp>
        <p:nvSpPr>
          <p:cNvPr id="55" name="Rectangle 54"/>
          <p:cNvSpPr/>
          <p:nvPr/>
        </p:nvSpPr>
        <p:spPr>
          <a:xfrm>
            <a:off x="9625584" y="2948939"/>
            <a:ext cx="4620768" cy="909828"/>
          </a:xfrm>
          <a:prstGeom prst="rect">
            <a:avLst/>
          </a:prstGeom>
          <a:solidFill>
            <a:srgbClr val="F5F0F7"/>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56" name="TextBox 55"/>
          <p:cNvSpPr txBox="1"/>
          <p:nvPr/>
        </p:nvSpPr>
        <p:spPr>
          <a:xfrm>
            <a:off x="9735312" y="3159251"/>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754B87"/>
                </a:solidFill>
                <a:latin typeface="Arial"/>
              </a:defRPr>
            </a:pPr>
            <a:r>
              <a:t>2.</a:t>
            </a:r>
          </a:p>
        </p:txBody>
      </p:sp>
      <p:sp>
        <p:nvSpPr>
          <p:cNvPr id="57" name="TextBox 56"/>
          <p:cNvSpPr txBox="1"/>
          <p:nvPr/>
        </p:nvSpPr>
        <p:spPr>
          <a:xfrm>
            <a:off x="10229088" y="3131820"/>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943 ÷ 2</a:t>
            </a:r>
          </a:p>
        </p:txBody>
      </p:sp>
      <p:sp>
        <p:nvSpPr>
          <p:cNvPr id="58" name="Rectangle 57"/>
          <p:cNvSpPr/>
          <p:nvPr/>
        </p:nvSpPr>
        <p:spPr>
          <a:xfrm>
            <a:off x="9625584" y="3877056"/>
            <a:ext cx="4620768" cy="909828"/>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59" name="TextBox 58"/>
          <p:cNvSpPr txBox="1"/>
          <p:nvPr/>
        </p:nvSpPr>
        <p:spPr>
          <a:xfrm>
            <a:off x="9735312" y="4087368"/>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754B87"/>
                </a:solidFill>
                <a:latin typeface="Arial"/>
              </a:defRPr>
            </a:pPr>
            <a:r>
              <a:t>3.</a:t>
            </a:r>
          </a:p>
        </p:txBody>
      </p:sp>
      <p:sp>
        <p:nvSpPr>
          <p:cNvPr id="60" name="TextBox 59"/>
          <p:cNvSpPr txBox="1"/>
          <p:nvPr/>
        </p:nvSpPr>
        <p:spPr>
          <a:xfrm>
            <a:off x="10229088" y="4059936"/>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2,136 ÷ 12</a:t>
            </a:r>
          </a:p>
        </p:txBody>
      </p:sp>
      <p:sp>
        <p:nvSpPr>
          <p:cNvPr id="61" name="Rectangle 60"/>
          <p:cNvSpPr/>
          <p:nvPr/>
        </p:nvSpPr>
        <p:spPr>
          <a:xfrm>
            <a:off x="9625584" y="4805172"/>
            <a:ext cx="4620768" cy="909828"/>
          </a:xfrm>
          <a:prstGeom prst="rect">
            <a:avLst/>
          </a:prstGeom>
          <a:solidFill>
            <a:srgbClr val="F5F0F7"/>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62" name="TextBox 61"/>
          <p:cNvSpPr txBox="1"/>
          <p:nvPr/>
        </p:nvSpPr>
        <p:spPr>
          <a:xfrm>
            <a:off x="9735312" y="5015484"/>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754B87"/>
                </a:solidFill>
                <a:latin typeface="Arial"/>
              </a:defRPr>
            </a:pPr>
            <a:r>
              <a:t>4.</a:t>
            </a:r>
          </a:p>
        </p:txBody>
      </p:sp>
      <p:sp>
        <p:nvSpPr>
          <p:cNvPr id="63" name="TextBox 62"/>
          <p:cNvSpPr txBox="1"/>
          <p:nvPr/>
        </p:nvSpPr>
        <p:spPr>
          <a:xfrm>
            <a:off x="10229088" y="4988052"/>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4,608 ÷ 32</a:t>
            </a:r>
          </a:p>
        </p:txBody>
      </p:sp>
      <p:sp>
        <p:nvSpPr>
          <p:cNvPr id="64" name="Rectangle 63"/>
          <p:cNvSpPr/>
          <p:nvPr/>
        </p:nvSpPr>
        <p:spPr>
          <a:xfrm>
            <a:off x="9625584" y="5733288"/>
            <a:ext cx="4620768" cy="909828"/>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65" name="TextBox 64"/>
          <p:cNvSpPr txBox="1"/>
          <p:nvPr/>
        </p:nvSpPr>
        <p:spPr>
          <a:xfrm>
            <a:off x="9735312" y="5943600"/>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754B87"/>
                </a:solidFill>
                <a:latin typeface="Arial"/>
              </a:defRPr>
            </a:pPr>
            <a:r>
              <a:t>5.</a:t>
            </a:r>
          </a:p>
        </p:txBody>
      </p:sp>
      <p:sp>
        <p:nvSpPr>
          <p:cNvPr id="66" name="TextBox 65"/>
          <p:cNvSpPr txBox="1"/>
          <p:nvPr/>
        </p:nvSpPr>
        <p:spPr>
          <a:xfrm>
            <a:off x="10229088" y="5916168"/>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5,729 ÷ 16</a:t>
            </a:r>
          </a:p>
        </p:txBody>
      </p:sp>
      <p:sp>
        <p:nvSpPr>
          <p:cNvPr id="67" name="Rectangle 66"/>
          <p:cNvSpPr/>
          <p:nvPr/>
        </p:nvSpPr>
        <p:spPr>
          <a:xfrm>
            <a:off x="9625584" y="6661403"/>
            <a:ext cx="4620768" cy="909828"/>
          </a:xfrm>
          <a:prstGeom prst="rect">
            <a:avLst/>
          </a:prstGeom>
          <a:solidFill>
            <a:srgbClr val="F5F0F7"/>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68" name="TextBox 67"/>
          <p:cNvSpPr txBox="1"/>
          <p:nvPr/>
        </p:nvSpPr>
        <p:spPr>
          <a:xfrm>
            <a:off x="9735312" y="6871716"/>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754B87"/>
                </a:solidFill>
                <a:latin typeface="Arial"/>
              </a:defRPr>
            </a:pPr>
            <a:r>
              <a:t>6.</a:t>
            </a:r>
          </a:p>
        </p:txBody>
      </p:sp>
      <p:sp>
        <p:nvSpPr>
          <p:cNvPr id="69" name="TextBox 68"/>
          <p:cNvSpPr txBox="1"/>
          <p:nvPr/>
        </p:nvSpPr>
        <p:spPr>
          <a:xfrm>
            <a:off x="10229088" y="6844283"/>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9,031 ÷ 40</a:t>
            </a:r>
          </a:p>
        </p:txBody>
      </p:sp>
      <p:sp>
        <p:nvSpPr>
          <p:cNvPr id="70" name="Progression curved arrow: Thread 1 to Thread 2"/>
          <p:cNvSpPr/>
          <p:nvPr/>
        </p:nvSpPr>
        <p:spPr>
          <a:xfrm>
            <a:off x="4671059" y="7506573"/>
            <a:ext cx="621792" cy="314053"/>
          </a:xfrm>
          <a:custGeom>
            <a:avLst/>
            <a:gdLst/>
            <a:ahLst/>
            <a:cxnLst/>
            <a:rect l="0" t="0" r="100000" b="100000"/>
            <a:pathLst>
              <a:path w="100000" h="100000" fill="none">
                <a:moveTo>
                  <a:pt x="6970" y="48439"/>
                </a:moveTo>
                <a:cubicBezTo>
                  <a:pt x="40678" y="114499"/>
                  <a:pt x="73026" y="88145"/>
                  <a:pt x="93030" y="13799"/>
                </a:cubicBezTo>
              </a:path>
              <a:path w="100000" h="100000" fill="none">
                <a:moveTo>
                  <a:pt x="69018" y="40431"/>
                </a:moveTo>
                <a:lnTo>
                  <a:pt x="93030" y="13799"/>
                </a:lnTo>
                <a:lnTo>
                  <a:pt x="92217" y="66207"/>
                </a:lnTo>
              </a:path>
            </a:pathLst>
          </a:custGeom>
          <a:noFill/>
          <a:ln w="64449" cap="rnd">
            <a:solidFill>
              <a:schemeClr val="accent6">
                <a:lumMod val="60000"/>
                <a:lumOff val="40000"/>
              </a:schemeClr>
            </a:solidFill>
            <a:round/>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71" name="Progression curved arrow: Thread 2 to Thread 3"/>
          <p:cNvSpPr/>
          <p:nvPr/>
        </p:nvSpPr>
        <p:spPr>
          <a:xfrm>
            <a:off x="9243991" y="7498079"/>
            <a:ext cx="621792" cy="314053"/>
          </a:xfrm>
          <a:custGeom>
            <a:avLst/>
            <a:gdLst/>
            <a:ahLst/>
            <a:cxnLst/>
            <a:rect l="0" t="0" r="100000" b="100000"/>
            <a:pathLst>
              <a:path w="100000" h="100000" fill="none">
                <a:moveTo>
                  <a:pt x="6970" y="48439"/>
                </a:moveTo>
                <a:cubicBezTo>
                  <a:pt x="40678" y="114499"/>
                  <a:pt x="73026" y="88145"/>
                  <a:pt x="93030" y="13799"/>
                </a:cubicBezTo>
              </a:path>
              <a:path w="100000" h="100000" fill="none">
                <a:moveTo>
                  <a:pt x="69018" y="40431"/>
                </a:moveTo>
                <a:lnTo>
                  <a:pt x="93030" y="13799"/>
                </a:lnTo>
                <a:lnTo>
                  <a:pt x="92217" y="66207"/>
                </a:lnTo>
              </a:path>
            </a:pathLst>
          </a:custGeom>
          <a:noFill/>
          <a:ln w="64449" cap="rnd">
            <a:solidFill>
              <a:schemeClr val="accent6">
                <a:lumMod val="60000"/>
                <a:lumOff val="40000"/>
              </a:schemeClr>
            </a:solidFill>
            <a:round/>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F7F8FA"/>
        </a:solidFill>
        <a:effectLst/>
      </p:bgPr>
    </p:bg>
    <p:spTree>
      <p:nvGrpSpPr>
        <p:cNvPr id="1" name=""/>
        <p:cNvGrpSpPr/>
        <p:nvPr/>
      </p:nvGrpSpPr>
      <p:grpSpPr/>
      <p:sp>
        <p:nvSpPr>
          <p:cNvPr id="2" name="Rectangle 1"/>
          <p:cNvSpPr/>
          <p:nvPr/>
        </p:nvSpPr>
        <p:spPr>
          <a:xfrm>
            <a:off x="0" y="0"/>
            <a:ext cx="14630400" cy="91440"/>
          </a:xfrm>
          <a:prstGeom prst="rect">
            <a:avLst/>
          </a:prstGeom>
          <a:solidFill>
            <a:srgbClr val="3559A2"/>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3" name="TextBox 2"/>
          <p:cNvSpPr txBox="1"/>
          <p:nvPr/>
        </p:nvSpPr>
        <p:spPr>
          <a:xfrm>
            <a:off x="384048" y="219456"/>
            <a:ext cx="12435840" cy="448056"/>
          </a:xfrm>
          <a:prstGeom prst="rect">
            <a:avLst/>
          </a:prstGeom>
          <a:noFill/>
        </p:spPr>
        <p:txBody>
          <a:bodyPr wrap="square" tIns="36576" bIns="36576" anchor="t">
            <a:spAutoFit/>
          </a:bodyPr>
          <a:lstStyle/>
          <a:p>
            <a:pPr>
              <a:lnSpc>
                <a:spcPts val="3132"/>
              </a:lnSpc>
              <a:spcBef>
                <a:spcPts val="0"/>
              </a:spcBef>
              <a:spcAft>
                <a:spcPts val="0"/>
              </a:spcAft>
              <a:defRPr sz="2900" b="1">
                <a:solidFill>
                  <a:srgbClr val="182B3A"/>
                </a:solidFill>
                <a:latin typeface="Arial"/>
              </a:defRPr>
            </a:pPr>
            <a:r>
              <a:t>Bus Stop Division</a:t>
            </a:r>
          </a:p>
        </p:txBody>
      </p:sp>
      <p:sp>
        <p:nvSpPr>
          <p:cNvPr id="4" name="TextBox 3"/>
          <p:cNvSpPr txBox="1"/>
          <p:nvPr/>
        </p:nvSpPr>
        <p:spPr>
          <a:xfrm>
            <a:off x="384048" y="713232"/>
            <a:ext cx="13533120" cy="274320"/>
          </a:xfrm>
          <a:prstGeom prst="rect">
            <a:avLst/>
          </a:prstGeom>
          <a:noFill/>
        </p:spPr>
        <p:txBody>
          <a:bodyPr wrap="square" tIns="36576" bIns="36576" anchor="t">
            <a:spAutoFit/>
          </a:bodyPr>
          <a:lstStyle/>
          <a:p>
            <a:pPr>
              <a:lnSpc>
                <a:spcPts val="1512"/>
              </a:lnSpc>
              <a:spcBef>
                <a:spcPts val="0"/>
              </a:spcBef>
              <a:spcAft>
                <a:spcPts val="0"/>
              </a:spcAft>
              <a:defRPr sz="1400" b="0">
                <a:solidFill>
                  <a:srgbClr val="526472"/>
                </a:solidFill>
                <a:latin typeface="Arial"/>
              </a:defRPr>
            </a:pPr>
            <a:r>
              <a:t>Independent practice 3  •  Choose a column. Show the full written method.</a:t>
            </a:r>
          </a:p>
        </p:txBody>
      </p:sp>
      <p:sp>
        <p:nvSpPr>
          <p:cNvPr id="5" name="TextBox 4"/>
          <p:cNvSpPr txBox="1"/>
          <p:nvPr/>
        </p:nvSpPr>
        <p:spPr>
          <a:xfrm>
            <a:off x="384048" y="7882127"/>
            <a:ext cx="10058400" cy="210312"/>
          </a:xfrm>
          <a:prstGeom prst="rect">
            <a:avLst/>
          </a:prstGeom>
          <a:noFill/>
        </p:spPr>
        <p:txBody>
          <a:bodyPr wrap="square" tIns="36576" bIns="36576" anchor="t">
            <a:spAutoFit/>
          </a:bodyPr>
          <a:lstStyle/>
          <a:p>
            <a:pPr>
              <a:lnSpc>
                <a:spcPts val="1188"/>
              </a:lnSpc>
              <a:spcBef>
                <a:spcPts val="0"/>
              </a:spcBef>
              <a:spcAft>
                <a:spcPts val="0"/>
              </a:spcAft>
              <a:defRPr sz="1100" b="0">
                <a:solidFill>
                  <a:srgbClr val="526472"/>
                </a:solidFill>
                <a:latin typeface="Arial"/>
              </a:defRPr>
            </a:pPr>
            <a:r>
              <a:t>GCSE Maths revision  •  Record your working in your booklet or webapp.</a:t>
            </a:r>
          </a:p>
        </p:txBody>
      </p:sp>
      <p:sp>
        <p:nvSpPr>
          <p:cNvPr id="6" name="TextBox 5"/>
          <p:cNvSpPr txBox="1"/>
          <p:nvPr/>
        </p:nvSpPr>
        <p:spPr>
          <a:xfrm>
            <a:off x="11430000" y="7863840"/>
            <a:ext cx="2788920" cy="228600"/>
          </a:xfrm>
          <a:prstGeom prst="rect">
            <a:avLst/>
          </a:prstGeom>
          <a:noFill/>
        </p:spPr>
        <p:txBody>
          <a:bodyPr wrap="square" tIns="36576" bIns="36576" anchor="t">
            <a:spAutoFit/>
          </a:bodyPr>
          <a:lstStyle/>
          <a:p>
            <a:pPr>
              <a:lnSpc>
                <a:spcPts val="1188"/>
              </a:lnSpc>
              <a:spcBef>
                <a:spcPts val="0"/>
              </a:spcBef>
              <a:spcAft>
                <a:spcPts val="0"/>
              </a:spcAft>
              <a:defRPr sz="1100" b="0">
                <a:solidFill>
                  <a:srgbClr val="526472"/>
                </a:solidFill>
                <a:latin typeface="Arial"/>
              </a:defRPr>
            </a:pPr>
            <a:r>
              <a:t>M02-S06  •  Topic slide 8</a:t>
            </a:r>
          </a:p>
        </p:txBody>
      </p:sp>
      <p:sp>
        <p:nvSpPr>
          <p:cNvPr id="7" name="Rectangle 6"/>
          <p:cNvSpPr/>
          <p:nvPr/>
        </p:nvSpPr>
        <p:spPr>
          <a:xfrm>
            <a:off x="384048" y="1124712"/>
            <a:ext cx="4620768" cy="438912"/>
          </a:xfrm>
          <a:prstGeom prst="rect">
            <a:avLst/>
          </a:prstGeom>
          <a:solidFill>
            <a:srgbClr val="176B73"/>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8" name="TextBox 7"/>
          <p:cNvSpPr txBox="1"/>
          <p:nvPr/>
        </p:nvSpPr>
        <p:spPr>
          <a:xfrm>
            <a:off x="438912" y="1152144"/>
            <a:ext cx="4511040" cy="338328"/>
          </a:xfrm>
          <a:prstGeom prst="rect">
            <a:avLst/>
          </a:prstGeom>
          <a:noFill/>
        </p:spPr>
        <p:txBody>
          <a:bodyPr wrap="square" tIns="36576" bIns="36576" anchor="t">
            <a:spAutoFit/>
          </a:bodyPr>
          <a:lstStyle/>
          <a:p>
            <a:pPr>
              <a:lnSpc>
                <a:spcPts val="2160"/>
              </a:lnSpc>
              <a:spcBef>
                <a:spcPts val="0"/>
              </a:spcBef>
              <a:spcAft>
                <a:spcPts val="0"/>
              </a:spcAft>
              <a:defRPr sz="2000" b="1">
                <a:solidFill>
                  <a:srgbClr val="FFFFFF"/>
                </a:solidFill>
                <a:latin typeface="Arial"/>
              </a:defRPr>
            </a:pPr>
            <a:r>
              <a:t>Start</a:t>
            </a:r>
          </a:p>
        </p:txBody>
      </p:sp>
      <p:sp>
        <p:nvSpPr>
          <p:cNvPr id="9" name="TextBox 8"/>
          <p:cNvSpPr txBox="1"/>
          <p:nvPr/>
        </p:nvSpPr>
        <p:spPr>
          <a:xfrm>
            <a:off x="420623" y="1618488"/>
            <a:ext cx="4547616" cy="329184"/>
          </a:xfrm>
          <a:prstGeom prst="rect">
            <a:avLst/>
          </a:prstGeom>
          <a:noFill/>
        </p:spPr>
        <p:txBody>
          <a:bodyPr wrap="square" tIns="36576" bIns="36576" anchor="t">
            <a:spAutoFit/>
          </a:bodyPr>
          <a:lstStyle/>
          <a:p>
            <a:pPr>
              <a:lnSpc>
                <a:spcPts val="1512"/>
              </a:lnSpc>
              <a:spcBef>
                <a:spcPts val="0"/>
              </a:spcBef>
              <a:spcAft>
                <a:spcPts val="0"/>
              </a:spcAft>
              <a:defRPr sz="1400" b="1">
                <a:solidFill>
                  <a:srgbClr val="176B73"/>
                </a:solidFill>
                <a:latin typeface="Arial"/>
              </a:defRPr>
            </a:pPr>
            <a:r>
              <a:t>No carrying</a:t>
            </a:r>
          </a:p>
        </p:txBody>
      </p:sp>
      <p:sp>
        <p:nvSpPr>
          <p:cNvPr id="10" name="Rectangle 9"/>
          <p:cNvSpPr/>
          <p:nvPr/>
        </p:nvSpPr>
        <p:spPr>
          <a:xfrm>
            <a:off x="5004816" y="1124712"/>
            <a:ext cx="4620768" cy="438912"/>
          </a:xfrm>
          <a:prstGeom prst="rect">
            <a:avLst/>
          </a:prstGeom>
          <a:solidFill>
            <a:srgbClr val="3559A2"/>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1" name="TextBox 10"/>
          <p:cNvSpPr txBox="1"/>
          <p:nvPr/>
        </p:nvSpPr>
        <p:spPr>
          <a:xfrm>
            <a:off x="5059680" y="1152144"/>
            <a:ext cx="4511040" cy="338328"/>
          </a:xfrm>
          <a:prstGeom prst="rect">
            <a:avLst/>
          </a:prstGeom>
          <a:noFill/>
        </p:spPr>
        <p:txBody>
          <a:bodyPr wrap="square" tIns="36576" bIns="36576" anchor="t">
            <a:spAutoFit/>
          </a:bodyPr>
          <a:lstStyle/>
          <a:p>
            <a:pPr>
              <a:lnSpc>
                <a:spcPts val="2160"/>
              </a:lnSpc>
              <a:spcBef>
                <a:spcPts val="0"/>
              </a:spcBef>
              <a:spcAft>
                <a:spcPts val="0"/>
              </a:spcAft>
              <a:defRPr sz="2000" b="1">
                <a:solidFill>
                  <a:srgbClr val="FFFFFF"/>
                </a:solidFill>
                <a:latin typeface="Arial"/>
              </a:defRPr>
            </a:pPr>
            <a:r>
              <a:t>Build</a:t>
            </a:r>
          </a:p>
        </p:txBody>
      </p:sp>
      <p:sp>
        <p:nvSpPr>
          <p:cNvPr id="12" name="TextBox 11"/>
          <p:cNvSpPr txBox="1"/>
          <p:nvPr/>
        </p:nvSpPr>
        <p:spPr>
          <a:xfrm>
            <a:off x="5041392" y="1618488"/>
            <a:ext cx="4547616" cy="329184"/>
          </a:xfrm>
          <a:prstGeom prst="rect">
            <a:avLst/>
          </a:prstGeom>
          <a:noFill/>
        </p:spPr>
        <p:txBody>
          <a:bodyPr wrap="square" tIns="36576" bIns="36576" anchor="t">
            <a:spAutoFit/>
          </a:bodyPr>
          <a:lstStyle/>
          <a:p>
            <a:pPr>
              <a:lnSpc>
                <a:spcPts val="1512"/>
              </a:lnSpc>
              <a:spcBef>
                <a:spcPts val="0"/>
              </a:spcBef>
              <a:spcAft>
                <a:spcPts val="0"/>
              </a:spcAft>
              <a:defRPr sz="1400" b="1">
                <a:solidFill>
                  <a:srgbClr val="3559A2"/>
                </a:solidFill>
                <a:latin typeface="Arial"/>
              </a:defRPr>
            </a:pPr>
            <a:r>
              <a:t>Carrying; give remainders</a:t>
            </a:r>
          </a:p>
        </p:txBody>
      </p:sp>
      <p:sp>
        <p:nvSpPr>
          <p:cNvPr id="13" name="Rectangle 12"/>
          <p:cNvSpPr/>
          <p:nvPr/>
        </p:nvSpPr>
        <p:spPr>
          <a:xfrm>
            <a:off x="9625584" y="1124712"/>
            <a:ext cx="4620768" cy="438912"/>
          </a:xfrm>
          <a:prstGeom prst="rect">
            <a:avLst/>
          </a:prstGeom>
          <a:solidFill>
            <a:srgbClr val="754B87"/>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4" name="TextBox 13"/>
          <p:cNvSpPr txBox="1"/>
          <p:nvPr/>
        </p:nvSpPr>
        <p:spPr>
          <a:xfrm>
            <a:off x="9680448" y="1152144"/>
            <a:ext cx="4511040" cy="338328"/>
          </a:xfrm>
          <a:prstGeom prst="rect">
            <a:avLst/>
          </a:prstGeom>
          <a:noFill/>
        </p:spPr>
        <p:txBody>
          <a:bodyPr wrap="square" tIns="36576" bIns="36576" anchor="t">
            <a:spAutoFit/>
          </a:bodyPr>
          <a:lstStyle/>
          <a:p>
            <a:pPr>
              <a:lnSpc>
                <a:spcPts val="2160"/>
              </a:lnSpc>
              <a:spcBef>
                <a:spcPts val="0"/>
              </a:spcBef>
              <a:spcAft>
                <a:spcPts val="0"/>
              </a:spcAft>
              <a:defRPr sz="2000" b="1">
                <a:solidFill>
                  <a:srgbClr val="FFFFFF"/>
                </a:solidFill>
                <a:latin typeface="Arial"/>
              </a:defRPr>
            </a:pPr>
            <a:r>
              <a:t>Confidence</a:t>
            </a:r>
          </a:p>
        </p:txBody>
      </p:sp>
      <p:sp>
        <p:nvSpPr>
          <p:cNvPr id="15" name="TextBox 14"/>
          <p:cNvSpPr txBox="1"/>
          <p:nvPr/>
        </p:nvSpPr>
        <p:spPr>
          <a:xfrm>
            <a:off x="9662160" y="1618488"/>
            <a:ext cx="4547616" cy="329184"/>
          </a:xfrm>
          <a:prstGeom prst="rect">
            <a:avLst/>
          </a:prstGeom>
          <a:noFill/>
        </p:spPr>
        <p:txBody>
          <a:bodyPr wrap="square" tIns="36576" bIns="36576" anchor="t">
            <a:spAutoFit/>
          </a:bodyPr>
          <a:lstStyle/>
          <a:p>
            <a:pPr>
              <a:lnSpc>
                <a:spcPts val="1512"/>
              </a:lnSpc>
              <a:spcBef>
                <a:spcPts val="0"/>
              </a:spcBef>
              <a:spcAft>
                <a:spcPts val="0"/>
              </a:spcAft>
              <a:defRPr sz="1400" b="1">
                <a:solidFill>
                  <a:srgbClr val="754B87"/>
                </a:solidFill>
                <a:latin typeface="Arial"/>
              </a:defRPr>
            </a:pPr>
            <a:r>
              <a:t>Includes 2-digit divisors; give decimals</a:t>
            </a:r>
          </a:p>
        </p:txBody>
      </p:sp>
      <p:sp>
        <p:nvSpPr>
          <p:cNvPr id="16" name="Rectangle 15"/>
          <p:cNvSpPr/>
          <p:nvPr/>
        </p:nvSpPr>
        <p:spPr>
          <a:xfrm>
            <a:off x="384048" y="2020824"/>
            <a:ext cx="4620768" cy="909828"/>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7" name="TextBox 16"/>
          <p:cNvSpPr txBox="1"/>
          <p:nvPr/>
        </p:nvSpPr>
        <p:spPr>
          <a:xfrm>
            <a:off x="493776" y="2231136"/>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176B73"/>
                </a:solidFill>
                <a:latin typeface="Arial"/>
              </a:defRPr>
            </a:pPr>
            <a:r>
              <a:t>1.</a:t>
            </a:r>
          </a:p>
        </p:txBody>
      </p:sp>
      <p:sp>
        <p:nvSpPr>
          <p:cNvPr id="18" name="TextBox 17"/>
          <p:cNvSpPr txBox="1"/>
          <p:nvPr/>
        </p:nvSpPr>
        <p:spPr>
          <a:xfrm>
            <a:off x="987552" y="2203704"/>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82 ÷ 2</a:t>
            </a:r>
          </a:p>
        </p:txBody>
      </p:sp>
      <p:sp>
        <p:nvSpPr>
          <p:cNvPr id="19" name="Rectangle 18"/>
          <p:cNvSpPr/>
          <p:nvPr/>
        </p:nvSpPr>
        <p:spPr>
          <a:xfrm>
            <a:off x="384048" y="2948939"/>
            <a:ext cx="4620768" cy="909828"/>
          </a:xfrm>
          <a:prstGeom prst="rect">
            <a:avLst/>
          </a:prstGeom>
          <a:solidFill>
            <a:srgbClr val="EDF6F5"/>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20" name="TextBox 19"/>
          <p:cNvSpPr txBox="1"/>
          <p:nvPr/>
        </p:nvSpPr>
        <p:spPr>
          <a:xfrm>
            <a:off x="493776" y="3159251"/>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176B73"/>
                </a:solidFill>
                <a:latin typeface="Arial"/>
              </a:defRPr>
            </a:pPr>
            <a:r>
              <a:t>2.</a:t>
            </a:r>
          </a:p>
        </p:txBody>
      </p:sp>
      <p:sp>
        <p:nvSpPr>
          <p:cNvPr id="21" name="TextBox 20"/>
          <p:cNvSpPr txBox="1"/>
          <p:nvPr/>
        </p:nvSpPr>
        <p:spPr>
          <a:xfrm>
            <a:off x="987552" y="3131820"/>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963 ÷ 3</a:t>
            </a:r>
          </a:p>
        </p:txBody>
      </p:sp>
      <p:sp>
        <p:nvSpPr>
          <p:cNvPr id="22" name="Rectangle 21"/>
          <p:cNvSpPr/>
          <p:nvPr/>
        </p:nvSpPr>
        <p:spPr>
          <a:xfrm>
            <a:off x="384048" y="3877056"/>
            <a:ext cx="4620768" cy="909828"/>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23" name="TextBox 22"/>
          <p:cNvSpPr txBox="1"/>
          <p:nvPr/>
        </p:nvSpPr>
        <p:spPr>
          <a:xfrm>
            <a:off x="493776" y="4087368"/>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176B73"/>
                </a:solidFill>
                <a:latin typeface="Arial"/>
              </a:defRPr>
            </a:pPr>
            <a:r>
              <a:t>3.</a:t>
            </a:r>
          </a:p>
        </p:txBody>
      </p:sp>
      <p:sp>
        <p:nvSpPr>
          <p:cNvPr id="24" name="TextBox 23"/>
          <p:cNvSpPr txBox="1"/>
          <p:nvPr/>
        </p:nvSpPr>
        <p:spPr>
          <a:xfrm>
            <a:off x="987552" y="4059936"/>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848 ÷ 4</a:t>
            </a:r>
          </a:p>
        </p:txBody>
      </p:sp>
      <p:sp>
        <p:nvSpPr>
          <p:cNvPr id="25" name="Rectangle 24"/>
          <p:cNvSpPr/>
          <p:nvPr/>
        </p:nvSpPr>
        <p:spPr>
          <a:xfrm>
            <a:off x="384048" y="4805172"/>
            <a:ext cx="4620768" cy="909828"/>
          </a:xfrm>
          <a:prstGeom prst="rect">
            <a:avLst/>
          </a:prstGeom>
          <a:solidFill>
            <a:srgbClr val="EDF6F5"/>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26" name="TextBox 25"/>
          <p:cNvSpPr txBox="1"/>
          <p:nvPr/>
        </p:nvSpPr>
        <p:spPr>
          <a:xfrm>
            <a:off x="493776" y="5015484"/>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176B73"/>
                </a:solidFill>
                <a:latin typeface="Arial"/>
              </a:defRPr>
            </a:pPr>
            <a:r>
              <a:t>4.</a:t>
            </a:r>
          </a:p>
        </p:txBody>
      </p:sp>
      <p:sp>
        <p:nvSpPr>
          <p:cNvPr id="27" name="TextBox 26"/>
          <p:cNvSpPr txBox="1"/>
          <p:nvPr/>
        </p:nvSpPr>
        <p:spPr>
          <a:xfrm>
            <a:off x="987552" y="4988052"/>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777 ÷ 7</a:t>
            </a:r>
          </a:p>
        </p:txBody>
      </p:sp>
      <p:sp>
        <p:nvSpPr>
          <p:cNvPr id="28" name="Rectangle 27"/>
          <p:cNvSpPr/>
          <p:nvPr/>
        </p:nvSpPr>
        <p:spPr>
          <a:xfrm>
            <a:off x="384048" y="5733288"/>
            <a:ext cx="4620768" cy="909828"/>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29" name="TextBox 28"/>
          <p:cNvSpPr txBox="1"/>
          <p:nvPr/>
        </p:nvSpPr>
        <p:spPr>
          <a:xfrm>
            <a:off x="493776" y="5943600"/>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176B73"/>
                </a:solidFill>
                <a:latin typeface="Arial"/>
              </a:defRPr>
            </a:pPr>
            <a:r>
              <a:t>5.</a:t>
            </a:r>
          </a:p>
        </p:txBody>
      </p:sp>
      <p:sp>
        <p:nvSpPr>
          <p:cNvPr id="30" name="TextBox 29"/>
          <p:cNvSpPr txBox="1"/>
          <p:nvPr/>
        </p:nvSpPr>
        <p:spPr>
          <a:xfrm>
            <a:off x="987552" y="5916168"/>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888 ÷ 8</a:t>
            </a:r>
          </a:p>
        </p:txBody>
      </p:sp>
      <p:sp>
        <p:nvSpPr>
          <p:cNvPr id="31" name="Rectangle 30"/>
          <p:cNvSpPr/>
          <p:nvPr/>
        </p:nvSpPr>
        <p:spPr>
          <a:xfrm>
            <a:off x="384048" y="6661403"/>
            <a:ext cx="4620768" cy="909828"/>
          </a:xfrm>
          <a:prstGeom prst="rect">
            <a:avLst/>
          </a:prstGeom>
          <a:solidFill>
            <a:srgbClr val="EDF6F5"/>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32" name="TextBox 31"/>
          <p:cNvSpPr txBox="1"/>
          <p:nvPr/>
        </p:nvSpPr>
        <p:spPr>
          <a:xfrm>
            <a:off x="493776" y="6871716"/>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176B73"/>
                </a:solidFill>
                <a:latin typeface="Arial"/>
              </a:defRPr>
            </a:pPr>
            <a:r>
              <a:t>6.</a:t>
            </a:r>
          </a:p>
        </p:txBody>
      </p:sp>
      <p:sp>
        <p:nvSpPr>
          <p:cNvPr id="33" name="TextBox 32"/>
          <p:cNvSpPr txBox="1"/>
          <p:nvPr/>
        </p:nvSpPr>
        <p:spPr>
          <a:xfrm>
            <a:off x="987552" y="6844283"/>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606 ÷ 3</a:t>
            </a:r>
          </a:p>
        </p:txBody>
      </p:sp>
      <p:sp>
        <p:nvSpPr>
          <p:cNvPr id="34" name="Rectangle 33"/>
          <p:cNvSpPr/>
          <p:nvPr/>
        </p:nvSpPr>
        <p:spPr>
          <a:xfrm>
            <a:off x="5004816" y="2020824"/>
            <a:ext cx="4620768" cy="909828"/>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35" name="TextBox 34"/>
          <p:cNvSpPr txBox="1"/>
          <p:nvPr/>
        </p:nvSpPr>
        <p:spPr>
          <a:xfrm>
            <a:off x="5114544" y="2231136"/>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3559A2"/>
                </a:solidFill>
                <a:latin typeface="Arial"/>
              </a:defRPr>
            </a:pPr>
            <a:r>
              <a:t>1.</a:t>
            </a:r>
          </a:p>
        </p:txBody>
      </p:sp>
      <p:sp>
        <p:nvSpPr>
          <p:cNvPr id="36" name="TextBox 35"/>
          <p:cNvSpPr txBox="1"/>
          <p:nvPr/>
        </p:nvSpPr>
        <p:spPr>
          <a:xfrm>
            <a:off x="5608320" y="2203704"/>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95 ÷ 4</a:t>
            </a:r>
          </a:p>
        </p:txBody>
      </p:sp>
      <p:sp>
        <p:nvSpPr>
          <p:cNvPr id="37" name="Rectangle 36"/>
          <p:cNvSpPr/>
          <p:nvPr/>
        </p:nvSpPr>
        <p:spPr>
          <a:xfrm>
            <a:off x="5004816" y="2948939"/>
            <a:ext cx="4620768" cy="909828"/>
          </a:xfrm>
          <a:prstGeom prst="rect">
            <a:avLst/>
          </a:prstGeom>
          <a:solidFill>
            <a:srgbClr val="EFF3FA"/>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38" name="TextBox 37"/>
          <p:cNvSpPr txBox="1"/>
          <p:nvPr/>
        </p:nvSpPr>
        <p:spPr>
          <a:xfrm>
            <a:off x="5114544" y="3159251"/>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3559A2"/>
                </a:solidFill>
                <a:latin typeface="Arial"/>
              </a:defRPr>
            </a:pPr>
            <a:r>
              <a:t>2.</a:t>
            </a:r>
          </a:p>
        </p:txBody>
      </p:sp>
      <p:sp>
        <p:nvSpPr>
          <p:cNvPr id="39" name="TextBox 38"/>
          <p:cNvSpPr txBox="1"/>
          <p:nvPr/>
        </p:nvSpPr>
        <p:spPr>
          <a:xfrm>
            <a:off x="5608320" y="3131820"/>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184 ÷ 5</a:t>
            </a:r>
          </a:p>
        </p:txBody>
      </p:sp>
      <p:sp>
        <p:nvSpPr>
          <p:cNvPr id="40" name="Rectangle 39"/>
          <p:cNvSpPr/>
          <p:nvPr/>
        </p:nvSpPr>
        <p:spPr>
          <a:xfrm>
            <a:off x="5004816" y="3877056"/>
            <a:ext cx="4620768" cy="909828"/>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41" name="TextBox 40"/>
          <p:cNvSpPr txBox="1"/>
          <p:nvPr/>
        </p:nvSpPr>
        <p:spPr>
          <a:xfrm>
            <a:off x="5114544" y="4087368"/>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3559A2"/>
                </a:solidFill>
                <a:latin typeface="Arial"/>
              </a:defRPr>
            </a:pPr>
            <a:r>
              <a:t>3.</a:t>
            </a:r>
          </a:p>
        </p:txBody>
      </p:sp>
      <p:sp>
        <p:nvSpPr>
          <p:cNvPr id="42" name="TextBox 41"/>
          <p:cNvSpPr txBox="1"/>
          <p:nvPr/>
        </p:nvSpPr>
        <p:spPr>
          <a:xfrm>
            <a:off x="5608320" y="4059936"/>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267 ÷ 8</a:t>
            </a:r>
          </a:p>
        </p:txBody>
      </p:sp>
      <p:sp>
        <p:nvSpPr>
          <p:cNvPr id="43" name="Rectangle 42"/>
          <p:cNvSpPr/>
          <p:nvPr/>
        </p:nvSpPr>
        <p:spPr>
          <a:xfrm>
            <a:off x="5004816" y="4805172"/>
            <a:ext cx="4620768" cy="909828"/>
          </a:xfrm>
          <a:prstGeom prst="rect">
            <a:avLst/>
          </a:prstGeom>
          <a:solidFill>
            <a:srgbClr val="EFF3FA"/>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44" name="TextBox 43"/>
          <p:cNvSpPr txBox="1"/>
          <p:nvPr/>
        </p:nvSpPr>
        <p:spPr>
          <a:xfrm>
            <a:off x="5114544" y="5015484"/>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3559A2"/>
                </a:solidFill>
                <a:latin typeface="Arial"/>
              </a:defRPr>
            </a:pPr>
            <a:r>
              <a:t>4.</a:t>
            </a:r>
          </a:p>
        </p:txBody>
      </p:sp>
      <p:sp>
        <p:nvSpPr>
          <p:cNvPr id="45" name="TextBox 44"/>
          <p:cNvSpPr txBox="1"/>
          <p:nvPr/>
        </p:nvSpPr>
        <p:spPr>
          <a:xfrm>
            <a:off x="5608320" y="4988052"/>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397 ÷ 6</a:t>
            </a:r>
          </a:p>
        </p:txBody>
      </p:sp>
      <p:sp>
        <p:nvSpPr>
          <p:cNvPr id="46" name="Rectangle 45"/>
          <p:cNvSpPr/>
          <p:nvPr/>
        </p:nvSpPr>
        <p:spPr>
          <a:xfrm>
            <a:off x="5004816" y="5733288"/>
            <a:ext cx="4620768" cy="909828"/>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47" name="TextBox 46"/>
          <p:cNvSpPr txBox="1"/>
          <p:nvPr/>
        </p:nvSpPr>
        <p:spPr>
          <a:xfrm>
            <a:off x="5114544" y="5943600"/>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3559A2"/>
                </a:solidFill>
                <a:latin typeface="Arial"/>
              </a:defRPr>
            </a:pPr>
            <a:r>
              <a:t>5.</a:t>
            </a:r>
          </a:p>
        </p:txBody>
      </p:sp>
      <p:sp>
        <p:nvSpPr>
          <p:cNvPr id="48" name="TextBox 47"/>
          <p:cNvSpPr txBox="1"/>
          <p:nvPr/>
        </p:nvSpPr>
        <p:spPr>
          <a:xfrm>
            <a:off x="5608320" y="5916168"/>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523 ÷ 7</a:t>
            </a:r>
          </a:p>
        </p:txBody>
      </p:sp>
      <p:sp>
        <p:nvSpPr>
          <p:cNvPr id="49" name="Rectangle 48"/>
          <p:cNvSpPr/>
          <p:nvPr/>
        </p:nvSpPr>
        <p:spPr>
          <a:xfrm>
            <a:off x="5004816" y="6661403"/>
            <a:ext cx="4620768" cy="909828"/>
          </a:xfrm>
          <a:prstGeom prst="rect">
            <a:avLst/>
          </a:prstGeom>
          <a:solidFill>
            <a:srgbClr val="EFF3FA"/>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50" name="TextBox 49"/>
          <p:cNvSpPr txBox="1"/>
          <p:nvPr/>
        </p:nvSpPr>
        <p:spPr>
          <a:xfrm>
            <a:off x="5114544" y="6871716"/>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3559A2"/>
                </a:solidFill>
                <a:latin typeface="Arial"/>
              </a:defRPr>
            </a:pPr>
            <a:r>
              <a:t>6.</a:t>
            </a:r>
          </a:p>
        </p:txBody>
      </p:sp>
      <p:sp>
        <p:nvSpPr>
          <p:cNvPr id="51" name="TextBox 50"/>
          <p:cNvSpPr txBox="1"/>
          <p:nvPr/>
        </p:nvSpPr>
        <p:spPr>
          <a:xfrm>
            <a:off x="5608320" y="6844283"/>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748 ÷ 9</a:t>
            </a:r>
          </a:p>
        </p:txBody>
      </p:sp>
      <p:sp>
        <p:nvSpPr>
          <p:cNvPr id="52" name="Rectangle 51"/>
          <p:cNvSpPr/>
          <p:nvPr/>
        </p:nvSpPr>
        <p:spPr>
          <a:xfrm>
            <a:off x="9625584" y="2020824"/>
            <a:ext cx="4620768" cy="909828"/>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53" name="TextBox 52"/>
          <p:cNvSpPr txBox="1"/>
          <p:nvPr/>
        </p:nvSpPr>
        <p:spPr>
          <a:xfrm>
            <a:off x="9735312" y="2231136"/>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754B87"/>
                </a:solidFill>
                <a:latin typeface="Arial"/>
              </a:defRPr>
            </a:pPr>
            <a:r>
              <a:t>1.</a:t>
            </a:r>
          </a:p>
        </p:txBody>
      </p:sp>
      <p:sp>
        <p:nvSpPr>
          <p:cNvPr id="54" name="TextBox 53"/>
          <p:cNvSpPr txBox="1"/>
          <p:nvPr/>
        </p:nvSpPr>
        <p:spPr>
          <a:xfrm>
            <a:off x="10229088" y="2203704"/>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738 ÷ 4</a:t>
            </a:r>
          </a:p>
        </p:txBody>
      </p:sp>
      <p:sp>
        <p:nvSpPr>
          <p:cNvPr id="55" name="Rectangle 54"/>
          <p:cNvSpPr/>
          <p:nvPr/>
        </p:nvSpPr>
        <p:spPr>
          <a:xfrm>
            <a:off x="9625584" y="2948939"/>
            <a:ext cx="4620768" cy="909828"/>
          </a:xfrm>
          <a:prstGeom prst="rect">
            <a:avLst/>
          </a:prstGeom>
          <a:solidFill>
            <a:srgbClr val="F5F0F7"/>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56" name="TextBox 55"/>
          <p:cNvSpPr txBox="1"/>
          <p:nvPr/>
        </p:nvSpPr>
        <p:spPr>
          <a:xfrm>
            <a:off x="9735312" y="3159251"/>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754B87"/>
                </a:solidFill>
                <a:latin typeface="Arial"/>
              </a:defRPr>
            </a:pPr>
            <a:r>
              <a:t>2.</a:t>
            </a:r>
          </a:p>
        </p:txBody>
      </p:sp>
      <p:sp>
        <p:nvSpPr>
          <p:cNvPr id="57" name="TextBox 56"/>
          <p:cNvSpPr txBox="1"/>
          <p:nvPr/>
        </p:nvSpPr>
        <p:spPr>
          <a:xfrm>
            <a:off x="10229088" y="3131820"/>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859 ÷ 2</a:t>
            </a:r>
          </a:p>
        </p:txBody>
      </p:sp>
      <p:sp>
        <p:nvSpPr>
          <p:cNvPr id="58" name="Rectangle 57"/>
          <p:cNvSpPr/>
          <p:nvPr/>
        </p:nvSpPr>
        <p:spPr>
          <a:xfrm>
            <a:off x="9625584" y="3877056"/>
            <a:ext cx="4620768" cy="909828"/>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59" name="TextBox 58"/>
          <p:cNvSpPr txBox="1"/>
          <p:nvPr/>
        </p:nvSpPr>
        <p:spPr>
          <a:xfrm>
            <a:off x="9735312" y="4087368"/>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754B87"/>
                </a:solidFill>
                <a:latin typeface="Arial"/>
              </a:defRPr>
            </a:pPr>
            <a:r>
              <a:t>3.</a:t>
            </a:r>
          </a:p>
        </p:txBody>
      </p:sp>
      <p:sp>
        <p:nvSpPr>
          <p:cNvPr id="60" name="TextBox 59"/>
          <p:cNvSpPr txBox="1"/>
          <p:nvPr/>
        </p:nvSpPr>
        <p:spPr>
          <a:xfrm>
            <a:off x="10229088" y="4059936"/>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3,264 ÷ 24</a:t>
            </a:r>
          </a:p>
        </p:txBody>
      </p:sp>
      <p:sp>
        <p:nvSpPr>
          <p:cNvPr id="61" name="Rectangle 60"/>
          <p:cNvSpPr/>
          <p:nvPr/>
        </p:nvSpPr>
        <p:spPr>
          <a:xfrm>
            <a:off x="9625584" y="4805172"/>
            <a:ext cx="4620768" cy="909828"/>
          </a:xfrm>
          <a:prstGeom prst="rect">
            <a:avLst/>
          </a:prstGeom>
          <a:solidFill>
            <a:srgbClr val="F5F0F7"/>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62" name="TextBox 61"/>
          <p:cNvSpPr txBox="1"/>
          <p:nvPr/>
        </p:nvSpPr>
        <p:spPr>
          <a:xfrm>
            <a:off x="9735312" y="5015484"/>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754B87"/>
                </a:solidFill>
                <a:latin typeface="Arial"/>
              </a:defRPr>
            </a:pPr>
            <a:r>
              <a:t>4.</a:t>
            </a:r>
          </a:p>
        </p:txBody>
      </p:sp>
      <p:sp>
        <p:nvSpPr>
          <p:cNvPr id="63" name="TextBox 62"/>
          <p:cNvSpPr txBox="1"/>
          <p:nvPr/>
        </p:nvSpPr>
        <p:spPr>
          <a:xfrm>
            <a:off x="10229088" y="4988052"/>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5,175 ÷ 15</a:t>
            </a:r>
          </a:p>
        </p:txBody>
      </p:sp>
      <p:sp>
        <p:nvSpPr>
          <p:cNvPr id="64" name="Rectangle 63"/>
          <p:cNvSpPr/>
          <p:nvPr/>
        </p:nvSpPr>
        <p:spPr>
          <a:xfrm>
            <a:off x="9625584" y="5733288"/>
            <a:ext cx="4620768" cy="909828"/>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65" name="TextBox 64"/>
          <p:cNvSpPr txBox="1"/>
          <p:nvPr/>
        </p:nvSpPr>
        <p:spPr>
          <a:xfrm>
            <a:off x="9735312" y="5943600"/>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754B87"/>
                </a:solidFill>
                <a:latin typeface="Arial"/>
              </a:defRPr>
            </a:pPr>
            <a:r>
              <a:t>5.</a:t>
            </a:r>
          </a:p>
        </p:txBody>
      </p:sp>
      <p:sp>
        <p:nvSpPr>
          <p:cNvPr id="66" name="TextBox 65"/>
          <p:cNvSpPr txBox="1"/>
          <p:nvPr/>
        </p:nvSpPr>
        <p:spPr>
          <a:xfrm>
            <a:off x="10229088" y="5916168"/>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6,843 ÷ 25</a:t>
            </a:r>
          </a:p>
        </p:txBody>
      </p:sp>
      <p:sp>
        <p:nvSpPr>
          <p:cNvPr id="67" name="Rectangle 66"/>
          <p:cNvSpPr/>
          <p:nvPr/>
        </p:nvSpPr>
        <p:spPr>
          <a:xfrm>
            <a:off x="9625584" y="6661403"/>
            <a:ext cx="4620768" cy="909828"/>
          </a:xfrm>
          <a:prstGeom prst="rect">
            <a:avLst/>
          </a:prstGeom>
          <a:solidFill>
            <a:srgbClr val="F5F0F7"/>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68" name="TextBox 67"/>
          <p:cNvSpPr txBox="1"/>
          <p:nvPr/>
        </p:nvSpPr>
        <p:spPr>
          <a:xfrm>
            <a:off x="9735312" y="6871716"/>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754B87"/>
                </a:solidFill>
                <a:latin typeface="Arial"/>
              </a:defRPr>
            </a:pPr>
            <a:r>
              <a:t>6.</a:t>
            </a:r>
          </a:p>
        </p:txBody>
      </p:sp>
      <p:sp>
        <p:nvSpPr>
          <p:cNvPr id="69" name="TextBox 68"/>
          <p:cNvSpPr txBox="1"/>
          <p:nvPr/>
        </p:nvSpPr>
        <p:spPr>
          <a:xfrm>
            <a:off x="10229088" y="6844283"/>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7,249 ÷ 20</a:t>
            </a:r>
          </a:p>
        </p:txBody>
      </p:sp>
      <p:sp>
        <p:nvSpPr>
          <p:cNvPr id="70" name="Progression curved arrow: Thread 1 to Thread 2"/>
          <p:cNvSpPr/>
          <p:nvPr/>
        </p:nvSpPr>
        <p:spPr>
          <a:xfrm>
            <a:off x="4671059" y="7506573"/>
            <a:ext cx="621792" cy="314053"/>
          </a:xfrm>
          <a:custGeom>
            <a:avLst/>
            <a:gdLst/>
            <a:ahLst/>
            <a:cxnLst/>
            <a:rect l="0" t="0" r="100000" b="100000"/>
            <a:pathLst>
              <a:path w="100000" h="100000" fill="none">
                <a:moveTo>
                  <a:pt x="6970" y="48439"/>
                </a:moveTo>
                <a:cubicBezTo>
                  <a:pt x="40678" y="114499"/>
                  <a:pt x="73026" y="88145"/>
                  <a:pt x="93030" y="13799"/>
                </a:cubicBezTo>
              </a:path>
              <a:path w="100000" h="100000" fill="none">
                <a:moveTo>
                  <a:pt x="69018" y="40431"/>
                </a:moveTo>
                <a:lnTo>
                  <a:pt x="93030" y="13799"/>
                </a:lnTo>
                <a:lnTo>
                  <a:pt x="92217" y="66207"/>
                </a:lnTo>
              </a:path>
            </a:pathLst>
          </a:custGeom>
          <a:noFill/>
          <a:ln w="64449" cap="rnd">
            <a:solidFill>
              <a:schemeClr val="accent6">
                <a:lumMod val="60000"/>
                <a:lumOff val="40000"/>
              </a:schemeClr>
            </a:solidFill>
            <a:round/>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71" name="Progression curved arrow: Thread 2 to Thread 3"/>
          <p:cNvSpPr/>
          <p:nvPr/>
        </p:nvSpPr>
        <p:spPr>
          <a:xfrm>
            <a:off x="9243991" y="7498079"/>
            <a:ext cx="621792" cy="314053"/>
          </a:xfrm>
          <a:custGeom>
            <a:avLst/>
            <a:gdLst/>
            <a:ahLst/>
            <a:cxnLst/>
            <a:rect l="0" t="0" r="100000" b="100000"/>
            <a:pathLst>
              <a:path w="100000" h="100000" fill="none">
                <a:moveTo>
                  <a:pt x="6970" y="48439"/>
                </a:moveTo>
                <a:cubicBezTo>
                  <a:pt x="40678" y="114499"/>
                  <a:pt x="73026" y="88145"/>
                  <a:pt x="93030" y="13799"/>
                </a:cubicBezTo>
              </a:path>
              <a:path w="100000" h="100000" fill="none">
                <a:moveTo>
                  <a:pt x="69018" y="40431"/>
                </a:moveTo>
                <a:lnTo>
                  <a:pt x="93030" y="13799"/>
                </a:lnTo>
                <a:lnTo>
                  <a:pt x="92217" y="66207"/>
                </a:lnTo>
              </a:path>
            </a:pathLst>
          </a:custGeom>
          <a:noFill/>
          <a:ln w="64449" cap="rnd">
            <a:solidFill>
              <a:schemeClr val="accent6">
                <a:lumMod val="60000"/>
                <a:lumOff val="40000"/>
              </a:schemeClr>
            </a:solidFill>
            <a:round/>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F7F8FA"/>
        </a:solidFill>
        <a:effectLst/>
      </p:bgPr>
    </p:bg>
    <p:spTree>
      <p:nvGrpSpPr>
        <p:cNvPr id="1" name=""/>
        <p:cNvGrpSpPr/>
        <p:nvPr/>
      </p:nvGrpSpPr>
      <p:grpSpPr/>
      <p:sp>
        <p:nvSpPr>
          <p:cNvPr id="2" name="Rectangle 1"/>
          <p:cNvSpPr/>
          <p:nvPr/>
        </p:nvSpPr>
        <p:spPr>
          <a:xfrm>
            <a:off x="0" y="0"/>
            <a:ext cx="14630400" cy="91440"/>
          </a:xfrm>
          <a:prstGeom prst="rect">
            <a:avLst/>
          </a:prstGeom>
          <a:solidFill>
            <a:srgbClr val="3559A2"/>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3" name="TextBox 2"/>
          <p:cNvSpPr txBox="1"/>
          <p:nvPr/>
        </p:nvSpPr>
        <p:spPr>
          <a:xfrm>
            <a:off x="384048" y="219456"/>
            <a:ext cx="12435840" cy="448056"/>
          </a:xfrm>
          <a:prstGeom prst="rect">
            <a:avLst/>
          </a:prstGeom>
          <a:noFill/>
        </p:spPr>
        <p:txBody>
          <a:bodyPr wrap="square" tIns="36576" bIns="36576" anchor="t">
            <a:spAutoFit/>
          </a:bodyPr>
          <a:lstStyle/>
          <a:p>
            <a:pPr>
              <a:lnSpc>
                <a:spcPts val="3132"/>
              </a:lnSpc>
              <a:spcBef>
                <a:spcPts val="0"/>
              </a:spcBef>
              <a:spcAft>
                <a:spcPts val="0"/>
              </a:spcAft>
              <a:defRPr sz="2900" b="1">
                <a:solidFill>
                  <a:srgbClr val="182B3A"/>
                </a:solidFill>
                <a:latin typeface="Arial"/>
              </a:defRPr>
            </a:pPr>
            <a:r>
              <a:t>Bus Stop Division</a:t>
            </a:r>
          </a:p>
        </p:txBody>
      </p:sp>
      <p:sp>
        <p:nvSpPr>
          <p:cNvPr id="4" name="TextBox 3"/>
          <p:cNvSpPr txBox="1"/>
          <p:nvPr/>
        </p:nvSpPr>
        <p:spPr>
          <a:xfrm>
            <a:off x="384048" y="713232"/>
            <a:ext cx="13533120" cy="274320"/>
          </a:xfrm>
          <a:prstGeom prst="rect">
            <a:avLst/>
          </a:prstGeom>
          <a:noFill/>
        </p:spPr>
        <p:txBody>
          <a:bodyPr wrap="square" tIns="36576" bIns="36576" anchor="t">
            <a:spAutoFit/>
          </a:bodyPr>
          <a:lstStyle/>
          <a:p>
            <a:pPr>
              <a:lnSpc>
                <a:spcPts val="1512"/>
              </a:lnSpc>
              <a:spcBef>
                <a:spcPts val="0"/>
              </a:spcBef>
              <a:spcAft>
                <a:spcPts val="0"/>
              </a:spcAft>
              <a:defRPr sz="1400" b="0">
                <a:solidFill>
                  <a:srgbClr val="526472"/>
                </a:solidFill>
                <a:latin typeface="Arial"/>
              </a:defRPr>
            </a:pPr>
            <a:r>
              <a:t>Independent practice 4  •  Choose a column. Show the full written method.</a:t>
            </a:r>
          </a:p>
        </p:txBody>
      </p:sp>
      <p:sp>
        <p:nvSpPr>
          <p:cNvPr id="5" name="TextBox 4"/>
          <p:cNvSpPr txBox="1"/>
          <p:nvPr/>
        </p:nvSpPr>
        <p:spPr>
          <a:xfrm>
            <a:off x="384048" y="7882127"/>
            <a:ext cx="10058400" cy="210312"/>
          </a:xfrm>
          <a:prstGeom prst="rect">
            <a:avLst/>
          </a:prstGeom>
          <a:noFill/>
        </p:spPr>
        <p:txBody>
          <a:bodyPr wrap="square" tIns="36576" bIns="36576" anchor="t">
            <a:spAutoFit/>
          </a:bodyPr>
          <a:lstStyle/>
          <a:p>
            <a:pPr>
              <a:lnSpc>
                <a:spcPts val="1188"/>
              </a:lnSpc>
              <a:spcBef>
                <a:spcPts val="0"/>
              </a:spcBef>
              <a:spcAft>
                <a:spcPts val="0"/>
              </a:spcAft>
              <a:defRPr sz="1100" b="0">
                <a:solidFill>
                  <a:srgbClr val="526472"/>
                </a:solidFill>
                <a:latin typeface="Arial"/>
              </a:defRPr>
            </a:pPr>
            <a:r>
              <a:t>GCSE Maths revision  •  Record your working in your booklet or webapp.</a:t>
            </a:r>
          </a:p>
        </p:txBody>
      </p:sp>
      <p:sp>
        <p:nvSpPr>
          <p:cNvPr id="6" name="TextBox 5"/>
          <p:cNvSpPr txBox="1"/>
          <p:nvPr/>
        </p:nvSpPr>
        <p:spPr>
          <a:xfrm>
            <a:off x="11430000" y="7863840"/>
            <a:ext cx="2788920" cy="228600"/>
          </a:xfrm>
          <a:prstGeom prst="rect">
            <a:avLst/>
          </a:prstGeom>
          <a:noFill/>
        </p:spPr>
        <p:txBody>
          <a:bodyPr wrap="square" tIns="36576" bIns="36576" anchor="t">
            <a:spAutoFit/>
          </a:bodyPr>
          <a:lstStyle/>
          <a:p>
            <a:pPr>
              <a:lnSpc>
                <a:spcPts val="1188"/>
              </a:lnSpc>
              <a:spcBef>
                <a:spcPts val="0"/>
              </a:spcBef>
              <a:spcAft>
                <a:spcPts val="0"/>
              </a:spcAft>
              <a:defRPr sz="1100" b="0">
                <a:solidFill>
                  <a:srgbClr val="526472"/>
                </a:solidFill>
                <a:latin typeface="Arial"/>
              </a:defRPr>
            </a:pPr>
            <a:r>
              <a:t>M02-S07  •  Topic slide 9</a:t>
            </a:r>
          </a:p>
        </p:txBody>
      </p:sp>
      <p:sp>
        <p:nvSpPr>
          <p:cNvPr id="7" name="Rectangle 6"/>
          <p:cNvSpPr/>
          <p:nvPr/>
        </p:nvSpPr>
        <p:spPr>
          <a:xfrm>
            <a:off x="384048" y="1124712"/>
            <a:ext cx="4620768" cy="438912"/>
          </a:xfrm>
          <a:prstGeom prst="rect">
            <a:avLst/>
          </a:prstGeom>
          <a:solidFill>
            <a:srgbClr val="176B73"/>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8" name="TextBox 7"/>
          <p:cNvSpPr txBox="1"/>
          <p:nvPr/>
        </p:nvSpPr>
        <p:spPr>
          <a:xfrm>
            <a:off x="438912" y="1152144"/>
            <a:ext cx="4511040" cy="338328"/>
          </a:xfrm>
          <a:prstGeom prst="rect">
            <a:avLst/>
          </a:prstGeom>
          <a:noFill/>
        </p:spPr>
        <p:txBody>
          <a:bodyPr wrap="square" tIns="36576" bIns="36576" anchor="t">
            <a:spAutoFit/>
          </a:bodyPr>
          <a:lstStyle/>
          <a:p>
            <a:pPr>
              <a:lnSpc>
                <a:spcPts val="2160"/>
              </a:lnSpc>
              <a:spcBef>
                <a:spcPts val="0"/>
              </a:spcBef>
              <a:spcAft>
                <a:spcPts val="0"/>
              </a:spcAft>
              <a:defRPr sz="2000" b="1">
                <a:solidFill>
                  <a:srgbClr val="FFFFFF"/>
                </a:solidFill>
                <a:latin typeface="Arial"/>
              </a:defRPr>
            </a:pPr>
            <a:r>
              <a:t>Start</a:t>
            </a:r>
          </a:p>
        </p:txBody>
      </p:sp>
      <p:sp>
        <p:nvSpPr>
          <p:cNvPr id="9" name="TextBox 8"/>
          <p:cNvSpPr txBox="1"/>
          <p:nvPr/>
        </p:nvSpPr>
        <p:spPr>
          <a:xfrm>
            <a:off x="420623" y="1618488"/>
            <a:ext cx="4547616" cy="329184"/>
          </a:xfrm>
          <a:prstGeom prst="rect">
            <a:avLst/>
          </a:prstGeom>
          <a:noFill/>
        </p:spPr>
        <p:txBody>
          <a:bodyPr wrap="square" tIns="36576" bIns="36576" anchor="t">
            <a:spAutoFit/>
          </a:bodyPr>
          <a:lstStyle/>
          <a:p>
            <a:pPr>
              <a:lnSpc>
                <a:spcPts val="1512"/>
              </a:lnSpc>
              <a:spcBef>
                <a:spcPts val="0"/>
              </a:spcBef>
              <a:spcAft>
                <a:spcPts val="0"/>
              </a:spcAft>
              <a:defRPr sz="1400" b="1">
                <a:solidFill>
                  <a:srgbClr val="176B73"/>
                </a:solidFill>
                <a:latin typeface="Arial"/>
              </a:defRPr>
            </a:pPr>
            <a:r>
              <a:t>No carrying</a:t>
            </a:r>
          </a:p>
        </p:txBody>
      </p:sp>
      <p:sp>
        <p:nvSpPr>
          <p:cNvPr id="10" name="Rectangle 9"/>
          <p:cNvSpPr/>
          <p:nvPr/>
        </p:nvSpPr>
        <p:spPr>
          <a:xfrm>
            <a:off x="5004816" y="1124712"/>
            <a:ext cx="4620768" cy="438912"/>
          </a:xfrm>
          <a:prstGeom prst="rect">
            <a:avLst/>
          </a:prstGeom>
          <a:solidFill>
            <a:srgbClr val="3559A2"/>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1" name="TextBox 10"/>
          <p:cNvSpPr txBox="1"/>
          <p:nvPr/>
        </p:nvSpPr>
        <p:spPr>
          <a:xfrm>
            <a:off x="5059680" y="1152144"/>
            <a:ext cx="4511040" cy="338328"/>
          </a:xfrm>
          <a:prstGeom prst="rect">
            <a:avLst/>
          </a:prstGeom>
          <a:noFill/>
        </p:spPr>
        <p:txBody>
          <a:bodyPr wrap="square" tIns="36576" bIns="36576" anchor="t">
            <a:spAutoFit/>
          </a:bodyPr>
          <a:lstStyle/>
          <a:p>
            <a:pPr>
              <a:lnSpc>
                <a:spcPts val="2160"/>
              </a:lnSpc>
              <a:spcBef>
                <a:spcPts val="0"/>
              </a:spcBef>
              <a:spcAft>
                <a:spcPts val="0"/>
              </a:spcAft>
              <a:defRPr sz="2000" b="1">
                <a:solidFill>
                  <a:srgbClr val="FFFFFF"/>
                </a:solidFill>
                <a:latin typeface="Arial"/>
              </a:defRPr>
            </a:pPr>
            <a:r>
              <a:t>Build</a:t>
            </a:r>
          </a:p>
        </p:txBody>
      </p:sp>
      <p:sp>
        <p:nvSpPr>
          <p:cNvPr id="12" name="TextBox 11"/>
          <p:cNvSpPr txBox="1"/>
          <p:nvPr/>
        </p:nvSpPr>
        <p:spPr>
          <a:xfrm>
            <a:off x="5041392" y="1618488"/>
            <a:ext cx="4547616" cy="329184"/>
          </a:xfrm>
          <a:prstGeom prst="rect">
            <a:avLst/>
          </a:prstGeom>
          <a:noFill/>
        </p:spPr>
        <p:txBody>
          <a:bodyPr wrap="square" tIns="36576" bIns="36576" anchor="t">
            <a:spAutoFit/>
          </a:bodyPr>
          <a:lstStyle/>
          <a:p>
            <a:pPr>
              <a:lnSpc>
                <a:spcPts val="1512"/>
              </a:lnSpc>
              <a:spcBef>
                <a:spcPts val="0"/>
              </a:spcBef>
              <a:spcAft>
                <a:spcPts val="0"/>
              </a:spcAft>
              <a:defRPr sz="1400" b="1">
                <a:solidFill>
                  <a:srgbClr val="3559A2"/>
                </a:solidFill>
                <a:latin typeface="Arial"/>
              </a:defRPr>
            </a:pPr>
            <a:r>
              <a:t>Carrying; give remainders</a:t>
            </a:r>
          </a:p>
        </p:txBody>
      </p:sp>
      <p:sp>
        <p:nvSpPr>
          <p:cNvPr id="13" name="Rectangle 12"/>
          <p:cNvSpPr/>
          <p:nvPr/>
        </p:nvSpPr>
        <p:spPr>
          <a:xfrm>
            <a:off x="9625584" y="1124712"/>
            <a:ext cx="4620768" cy="438912"/>
          </a:xfrm>
          <a:prstGeom prst="rect">
            <a:avLst/>
          </a:prstGeom>
          <a:solidFill>
            <a:srgbClr val="754B87"/>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4" name="TextBox 13"/>
          <p:cNvSpPr txBox="1"/>
          <p:nvPr/>
        </p:nvSpPr>
        <p:spPr>
          <a:xfrm>
            <a:off x="9680448" y="1152144"/>
            <a:ext cx="4511040" cy="338328"/>
          </a:xfrm>
          <a:prstGeom prst="rect">
            <a:avLst/>
          </a:prstGeom>
          <a:noFill/>
        </p:spPr>
        <p:txBody>
          <a:bodyPr wrap="square" tIns="36576" bIns="36576" anchor="t">
            <a:spAutoFit/>
          </a:bodyPr>
          <a:lstStyle/>
          <a:p>
            <a:pPr>
              <a:lnSpc>
                <a:spcPts val="2160"/>
              </a:lnSpc>
              <a:spcBef>
                <a:spcPts val="0"/>
              </a:spcBef>
              <a:spcAft>
                <a:spcPts val="0"/>
              </a:spcAft>
              <a:defRPr sz="2000" b="1">
                <a:solidFill>
                  <a:srgbClr val="FFFFFF"/>
                </a:solidFill>
                <a:latin typeface="Arial"/>
              </a:defRPr>
            </a:pPr>
            <a:r>
              <a:t>Confidence</a:t>
            </a:r>
          </a:p>
        </p:txBody>
      </p:sp>
      <p:sp>
        <p:nvSpPr>
          <p:cNvPr id="15" name="TextBox 14"/>
          <p:cNvSpPr txBox="1"/>
          <p:nvPr/>
        </p:nvSpPr>
        <p:spPr>
          <a:xfrm>
            <a:off x="9662160" y="1618488"/>
            <a:ext cx="4547616" cy="329184"/>
          </a:xfrm>
          <a:prstGeom prst="rect">
            <a:avLst/>
          </a:prstGeom>
          <a:noFill/>
        </p:spPr>
        <p:txBody>
          <a:bodyPr wrap="square" tIns="36576" bIns="36576" anchor="t">
            <a:spAutoFit/>
          </a:bodyPr>
          <a:lstStyle/>
          <a:p>
            <a:pPr>
              <a:lnSpc>
                <a:spcPts val="1512"/>
              </a:lnSpc>
              <a:spcBef>
                <a:spcPts val="0"/>
              </a:spcBef>
              <a:spcAft>
                <a:spcPts val="0"/>
              </a:spcAft>
              <a:defRPr sz="1400" b="1">
                <a:solidFill>
                  <a:srgbClr val="754B87"/>
                </a:solidFill>
                <a:latin typeface="Arial"/>
              </a:defRPr>
            </a:pPr>
            <a:r>
              <a:t>Includes 2-digit divisors; give decimals</a:t>
            </a:r>
          </a:p>
        </p:txBody>
      </p:sp>
      <p:sp>
        <p:nvSpPr>
          <p:cNvPr id="16" name="Rectangle 15"/>
          <p:cNvSpPr/>
          <p:nvPr/>
        </p:nvSpPr>
        <p:spPr>
          <a:xfrm>
            <a:off x="384048" y="2020824"/>
            <a:ext cx="4620768" cy="909828"/>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7" name="TextBox 16"/>
          <p:cNvSpPr txBox="1"/>
          <p:nvPr/>
        </p:nvSpPr>
        <p:spPr>
          <a:xfrm>
            <a:off x="493776" y="2231136"/>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176B73"/>
                </a:solidFill>
                <a:latin typeface="Arial"/>
              </a:defRPr>
            </a:pPr>
            <a:r>
              <a:t>1.</a:t>
            </a:r>
          </a:p>
        </p:txBody>
      </p:sp>
      <p:sp>
        <p:nvSpPr>
          <p:cNvPr id="18" name="TextBox 17"/>
          <p:cNvSpPr txBox="1"/>
          <p:nvPr/>
        </p:nvSpPr>
        <p:spPr>
          <a:xfrm>
            <a:off x="987552" y="2203704"/>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62 ÷ 2</a:t>
            </a:r>
          </a:p>
        </p:txBody>
      </p:sp>
      <p:sp>
        <p:nvSpPr>
          <p:cNvPr id="19" name="Rectangle 18"/>
          <p:cNvSpPr/>
          <p:nvPr/>
        </p:nvSpPr>
        <p:spPr>
          <a:xfrm>
            <a:off x="384048" y="2948939"/>
            <a:ext cx="4620768" cy="909828"/>
          </a:xfrm>
          <a:prstGeom prst="rect">
            <a:avLst/>
          </a:prstGeom>
          <a:solidFill>
            <a:srgbClr val="EDF6F5"/>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20" name="TextBox 19"/>
          <p:cNvSpPr txBox="1"/>
          <p:nvPr/>
        </p:nvSpPr>
        <p:spPr>
          <a:xfrm>
            <a:off x="493776" y="3159251"/>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176B73"/>
                </a:solidFill>
                <a:latin typeface="Arial"/>
              </a:defRPr>
            </a:pPr>
            <a:r>
              <a:t>2.</a:t>
            </a:r>
          </a:p>
        </p:txBody>
      </p:sp>
      <p:sp>
        <p:nvSpPr>
          <p:cNvPr id="21" name="TextBox 20"/>
          <p:cNvSpPr txBox="1"/>
          <p:nvPr/>
        </p:nvSpPr>
        <p:spPr>
          <a:xfrm>
            <a:off x="987552" y="3131820"/>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936 ÷ 3</a:t>
            </a:r>
          </a:p>
        </p:txBody>
      </p:sp>
      <p:sp>
        <p:nvSpPr>
          <p:cNvPr id="22" name="Rectangle 21"/>
          <p:cNvSpPr/>
          <p:nvPr/>
        </p:nvSpPr>
        <p:spPr>
          <a:xfrm>
            <a:off x="384048" y="3877056"/>
            <a:ext cx="4620768" cy="909828"/>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23" name="TextBox 22"/>
          <p:cNvSpPr txBox="1"/>
          <p:nvPr/>
        </p:nvSpPr>
        <p:spPr>
          <a:xfrm>
            <a:off x="493776" y="4087368"/>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176B73"/>
                </a:solidFill>
                <a:latin typeface="Arial"/>
              </a:defRPr>
            </a:pPr>
            <a:r>
              <a:t>3.</a:t>
            </a:r>
          </a:p>
        </p:txBody>
      </p:sp>
      <p:sp>
        <p:nvSpPr>
          <p:cNvPr id="24" name="TextBox 23"/>
          <p:cNvSpPr txBox="1"/>
          <p:nvPr/>
        </p:nvSpPr>
        <p:spPr>
          <a:xfrm>
            <a:off x="987552" y="4059936"/>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448 ÷ 4</a:t>
            </a:r>
          </a:p>
        </p:txBody>
      </p:sp>
      <p:sp>
        <p:nvSpPr>
          <p:cNvPr id="25" name="Rectangle 24"/>
          <p:cNvSpPr/>
          <p:nvPr/>
        </p:nvSpPr>
        <p:spPr>
          <a:xfrm>
            <a:off x="384048" y="4805172"/>
            <a:ext cx="4620768" cy="909828"/>
          </a:xfrm>
          <a:prstGeom prst="rect">
            <a:avLst/>
          </a:prstGeom>
          <a:solidFill>
            <a:srgbClr val="EDF6F5"/>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26" name="TextBox 25"/>
          <p:cNvSpPr txBox="1"/>
          <p:nvPr/>
        </p:nvSpPr>
        <p:spPr>
          <a:xfrm>
            <a:off x="493776" y="5015484"/>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176B73"/>
                </a:solidFill>
                <a:latin typeface="Arial"/>
              </a:defRPr>
            </a:pPr>
            <a:r>
              <a:t>4.</a:t>
            </a:r>
          </a:p>
        </p:txBody>
      </p:sp>
      <p:sp>
        <p:nvSpPr>
          <p:cNvPr id="27" name="TextBox 26"/>
          <p:cNvSpPr txBox="1"/>
          <p:nvPr/>
        </p:nvSpPr>
        <p:spPr>
          <a:xfrm>
            <a:off x="987552" y="4988052"/>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505 ÷ 5</a:t>
            </a:r>
          </a:p>
        </p:txBody>
      </p:sp>
      <p:sp>
        <p:nvSpPr>
          <p:cNvPr id="28" name="Rectangle 27"/>
          <p:cNvSpPr/>
          <p:nvPr/>
        </p:nvSpPr>
        <p:spPr>
          <a:xfrm>
            <a:off x="384048" y="5733288"/>
            <a:ext cx="4620768" cy="909828"/>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29" name="TextBox 28"/>
          <p:cNvSpPr txBox="1"/>
          <p:nvPr/>
        </p:nvSpPr>
        <p:spPr>
          <a:xfrm>
            <a:off x="493776" y="5943600"/>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176B73"/>
                </a:solidFill>
                <a:latin typeface="Arial"/>
              </a:defRPr>
            </a:pPr>
            <a:r>
              <a:t>5.</a:t>
            </a:r>
          </a:p>
        </p:txBody>
      </p:sp>
      <p:sp>
        <p:nvSpPr>
          <p:cNvPr id="30" name="TextBox 29"/>
          <p:cNvSpPr txBox="1"/>
          <p:nvPr/>
        </p:nvSpPr>
        <p:spPr>
          <a:xfrm>
            <a:off x="987552" y="5916168"/>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666 ÷ 6</a:t>
            </a:r>
          </a:p>
        </p:txBody>
      </p:sp>
      <p:sp>
        <p:nvSpPr>
          <p:cNvPr id="31" name="Rectangle 30"/>
          <p:cNvSpPr/>
          <p:nvPr/>
        </p:nvSpPr>
        <p:spPr>
          <a:xfrm>
            <a:off x="384048" y="6661403"/>
            <a:ext cx="4620768" cy="909828"/>
          </a:xfrm>
          <a:prstGeom prst="rect">
            <a:avLst/>
          </a:prstGeom>
          <a:solidFill>
            <a:srgbClr val="EDF6F5"/>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32" name="TextBox 31"/>
          <p:cNvSpPr txBox="1"/>
          <p:nvPr/>
        </p:nvSpPr>
        <p:spPr>
          <a:xfrm>
            <a:off x="493776" y="6871716"/>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176B73"/>
                </a:solidFill>
                <a:latin typeface="Arial"/>
              </a:defRPr>
            </a:pPr>
            <a:r>
              <a:t>6.</a:t>
            </a:r>
          </a:p>
        </p:txBody>
      </p:sp>
      <p:sp>
        <p:nvSpPr>
          <p:cNvPr id="33" name="TextBox 32"/>
          <p:cNvSpPr txBox="1"/>
          <p:nvPr/>
        </p:nvSpPr>
        <p:spPr>
          <a:xfrm>
            <a:off x="987552" y="6844283"/>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999 ÷ 9</a:t>
            </a:r>
          </a:p>
        </p:txBody>
      </p:sp>
      <p:sp>
        <p:nvSpPr>
          <p:cNvPr id="34" name="Rectangle 33"/>
          <p:cNvSpPr/>
          <p:nvPr/>
        </p:nvSpPr>
        <p:spPr>
          <a:xfrm>
            <a:off x="5004816" y="2020824"/>
            <a:ext cx="4620768" cy="909828"/>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35" name="TextBox 34"/>
          <p:cNvSpPr txBox="1"/>
          <p:nvPr/>
        </p:nvSpPr>
        <p:spPr>
          <a:xfrm>
            <a:off x="5114544" y="2231136"/>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3559A2"/>
                </a:solidFill>
                <a:latin typeface="Arial"/>
              </a:defRPr>
            </a:pPr>
            <a:r>
              <a:t>1.</a:t>
            </a:r>
          </a:p>
        </p:txBody>
      </p:sp>
      <p:sp>
        <p:nvSpPr>
          <p:cNvPr id="36" name="TextBox 35"/>
          <p:cNvSpPr txBox="1"/>
          <p:nvPr/>
        </p:nvSpPr>
        <p:spPr>
          <a:xfrm>
            <a:off x="5608320" y="2203704"/>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108 ÷ 4</a:t>
            </a:r>
          </a:p>
        </p:txBody>
      </p:sp>
      <p:sp>
        <p:nvSpPr>
          <p:cNvPr id="37" name="Rectangle 36"/>
          <p:cNvSpPr/>
          <p:nvPr/>
        </p:nvSpPr>
        <p:spPr>
          <a:xfrm>
            <a:off x="5004816" y="2948939"/>
            <a:ext cx="4620768" cy="909828"/>
          </a:xfrm>
          <a:prstGeom prst="rect">
            <a:avLst/>
          </a:prstGeom>
          <a:solidFill>
            <a:srgbClr val="EFF3FA"/>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38" name="TextBox 37"/>
          <p:cNvSpPr txBox="1"/>
          <p:nvPr/>
        </p:nvSpPr>
        <p:spPr>
          <a:xfrm>
            <a:off x="5114544" y="3159251"/>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3559A2"/>
                </a:solidFill>
                <a:latin typeface="Arial"/>
              </a:defRPr>
            </a:pPr>
            <a:r>
              <a:t>2.</a:t>
            </a:r>
          </a:p>
        </p:txBody>
      </p:sp>
      <p:sp>
        <p:nvSpPr>
          <p:cNvPr id="39" name="TextBox 38"/>
          <p:cNvSpPr txBox="1"/>
          <p:nvPr/>
        </p:nvSpPr>
        <p:spPr>
          <a:xfrm>
            <a:off x="5608320" y="3131820"/>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245 ÷ 6</a:t>
            </a:r>
          </a:p>
        </p:txBody>
      </p:sp>
      <p:sp>
        <p:nvSpPr>
          <p:cNvPr id="40" name="Rectangle 39"/>
          <p:cNvSpPr/>
          <p:nvPr/>
        </p:nvSpPr>
        <p:spPr>
          <a:xfrm>
            <a:off x="5004816" y="3877056"/>
            <a:ext cx="4620768" cy="909828"/>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41" name="TextBox 40"/>
          <p:cNvSpPr txBox="1"/>
          <p:nvPr/>
        </p:nvSpPr>
        <p:spPr>
          <a:xfrm>
            <a:off x="5114544" y="4087368"/>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3559A2"/>
                </a:solidFill>
                <a:latin typeface="Arial"/>
              </a:defRPr>
            </a:pPr>
            <a:r>
              <a:t>3.</a:t>
            </a:r>
          </a:p>
        </p:txBody>
      </p:sp>
      <p:sp>
        <p:nvSpPr>
          <p:cNvPr id="42" name="TextBox 41"/>
          <p:cNvSpPr txBox="1"/>
          <p:nvPr/>
        </p:nvSpPr>
        <p:spPr>
          <a:xfrm>
            <a:off x="5608320" y="4059936"/>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314 ÷ 7</a:t>
            </a:r>
          </a:p>
        </p:txBody>
      </p:sp>
      <p:sp>
        <p:nvSpPr>
          <p:cNvPr id="43" name="Rectangle 42"/>
          <p:cNvSpPr/>
          <p:nvPr/>
        </p:nvSpPr>
        <p:spPr>
          <a:xfrm>
            <a:off x="5004816" y="4805172"/>
            <a:ext cx="4620768" cy="909828"/>
          </a:xfrm>
          <a:prstGeom prst="rect">
            <a:avLst/>
          </a:prstGeom>
          <a:solidFill>
            <a:srgbClr val="EFF3FA"/>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44" name="TextBox 43"/>
          <p:cNvSpPr txBox="1"/>
          <p:nvPr/>
        </p:nvSpPr>
        <p:spPr>
          <a:xfrm>
            <a:off x="5114544" y="5015484"/>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3559A2"/>
                </a:solidFill>
                <a:latin typeface="Arial"/>
              </a:defRPr>
            </a:pPr>
            <a:r>
              <a:t>4.</a:t>
            </a:r>
          </a:p>
        </p:txBody>
      </p:sp>
      <p:sp>
        <p:nvSpPr>
          <p:cNvPr id="45" name="TextBox 44"/>
          <p:cNvSpPr txBox="1"/>
          <p:nvPr/>
        </p:nvSpPr>
        <p:spPr>
          <a:xfrm>
            <a:off x="5608320" y="4988052"/>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467 ÷ 8</a:t>
            </a:r>
          </a:p>
        </p:txBody>
      </p:sp>
      <p:sp>
        <p:nvSpPr>
          <p:cNvPr id="46" name="Rectangle 45"/>
          <p:cNvSpPr/>
          <p:nvPr/>
        </p:nvSpPr>
        <p:spPr>
          <a:xfrm>
            <a:off x="5004816" y="5733288"/>
            <a:ext cx="4620768" cy="909828"/>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47" name="TextBox 46"/>
          <p:cNvSpPr txBox="1"/>
          <p:nvPr/>
        </p:nvSpPr>
        <p:spPr>
          <a:xfrm>
            <a:off x="5114544" y="5943600"/>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3559A2"/>
                </a:solidFill>
                <a:latin typeface="Arial"/>
              </a:defRPr>
            </a:pPr>
            <a:r>
              <a:t>5.</a:t>
            </a:r>
          </a:p>
        </p:txBody>
      </p:sp>
      <p:sp>
        <p:nvSpPr>
          <p:cNvPr id="48" name="TextBox 47"/>
          <p:cNvSpPr txBox="1"/>
          <p:nvPr/>
        </p:nvSpPr>
        <p:spPr>
          <a:xfrm>
            <a:off x="5608320" y="5916168"/>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586 ÷ 9</a:t>
            </a:r>
          </a:p>
        </p:txBody>
      </p:sp>
      <p:sp>
        <p:nvSpPr>
          <p:cNvPr id="49" name="Rectangle 48"/>
          <p:cNvSpPr/>
          <p:nvPr/>
        </p:nvSpPr>
        <p:spPr>
          <a:xfrm>
            <a:off x="5004816" y="6661403"/>
            <a:ext cx="4620768" cy="909828"/>
          </a:xfrm>
          <a:prstGeom prst="rect">
            <a:avLst/>
          </a:prstGeom>
          <a:solidFill>
            <a:srgbClr val="EFF3FA"/>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50" name="TextBox 49"/>
          <p:cNvSpPr txBox="1"/>
          <p:nvPr/>
        </p:nvSpPr>
        <p:spPr>
          <a:xfrm>
            <a:off x="5114544" y="6871716"/>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3559A2"/>
                </a:solidFill>
                <a:latin typeface="Arial"/>
              </a:defRPr>
            </a:pPr>
            <a:r>
              <a:t>6.</a:t>
            </a:r>
          </a:p>
        </p:txBody>
      </p:sp>
      <p:sp>
        <p:nvSpPr>
          <p:cNvPr id="51" name="TextBox 50"/>
          <p:cNvSpPr txBox="1"/>
          <p:nvPr/>
        </p:nvSpPr>
        <p:spPr>
          <a:xfrm>
            <a:off x="5608320" y="6844283"/>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703 ÷ 5</a:t>
            </a:r>
          </a:p>
        </p:txBody>
      </p:sp>
      <p:sp>
        <p:nvSpPr>
          <p:cNvPr id="52" name="Rectangle 51"/>
          <p:cNvSpPr/>
          <p:nvPr/>
        </p:nvSpPr>
        <p:spPr>
          <a:xfrm>
            <a:off x="9625584" y="2020824"/>
            <a:ext cx="4620768" cy="909828"/>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53" name="TextBox 52"/>
          <p:cNvSpPr txBox="1"/>
          <p:nvPr/>
        </p:nvSpPr>
        <p:spPr>
          <a:xfrm>
            <a:off x="9735312" y="2231136"/>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754B87"/>
                </a:solidFill>
                <a:latin typeface="Arial"/>
              </a:defRPr>
            </a:pPr>
            <a:r>
              <a:t>1.</a:t>
            </a:r>
          </a:p>
        </p:txBody>
      </p:sp>
      <p:sp>
        <p:nvSpPr>
          <p:cNvPr id="54" name="TextBox 53"/>
          <p:cNvSpPr txBox="1"/>
          <p:nvPr/>
        </p:nvSpPr>
        <p:spPr>
          <a:xfrm>
            <a:off x="10229088" y="2203704"/>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849 ÷ 4</a:t>
            </a:r>
          </a:p>
        </p:txBody>
      </p:sp>
      <p:sp>
        <p:nvSpPr>
          <p:cNvPr id="55" name="Rectangle 54"/>
          <p:cNvSpPr/>
          <p:nvPr/>
        </p:nvSpPr>
        <p:spPr>
          <a:xfrm>
            <a:off x="9625584" y="2948939"/>
            <a:ext cx="4620768" cy="909828"/>
          </a:xfrm>
          <a:prstGeom prst="rect">
            <a:avLst/>
          </a:prstGeom>
          <a:solidFill>
            <a:srgbClr val="F5F0F7"/>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56" name="TextBox 55"/>
          <p:cNvSpPr txBox="1"/>
          <p:nvPr/>
        </p:nvSpPr>
        <p:spPr>
          <a:xfrm>
            <a:off x="9735312" y="3159251"/>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754B87"/>
                </a:solidFill>
                <a:latin typeface="Arial"/>
              </a:defRPr>
            </a:pPr>
            <a:r>
              <a:t>2.</a:t>
            </a:r>
          </a:p>
        </p:txBody>
      </p:sp>
      <p:sp>
        <p:nvSpPr>
          <p:cNvPr id="57" name="TextBox 56"/>
          <p:cNvSpPr txBox="1"/>
          <p:nvPr/>
        </p:nvSpPr>
        <p:spPr>
          <a:xfrm>
            <a:off x="10229088" y="3131820"/>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967 ÷ 2</a:t>
            </a:r>
          </a:p>
        </p:txBody>
      </p:sp>
      <p:sp>
        <p:nvSpPr>
          <p:cNvPr id="58" name="Rectangle 57"/>
          <p:cNvSpPr/>
          <p:nvPr/>
        </p:nvSpPr>
        <p:spPr>
          <a:xfrm>
            <a:off x="9625584" y="3877056"/>
            <a:ext cx="4620768" cy="909828"/>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59" name="TextBox 58"/>
          <p:cNvSpPr txBox="1"/>
          <p:nvPr/>
        </p:nvSpPr>
        <p:spPr>
          <a:xfrm>
            <a:off x="9735312" y="4087368"/>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754B87"/>
                </a:solidFill>
                <a:latin typeface="Arial"/>
              </a:defRPr>
            </a:pPr>
            <a:r>
              <a:t>3.</a:t>
            </a:r>
          </a:p>
        </p:txBody>
      </p:sp>
      <p:sp>
        <p:nvSpPr>
          <p:cNvPr id="60" name="TextBox 59"/>
          <p:cNvSpPr txBox="1"/>
          <p:nvPr/>
        </p:nvSpPr>
        <p:spPr>
          <a:xfrm>
            <a:off x="10229088" y="4059936"/>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4,374 ÷ 18</a:t>
            </a:r>
          </a:p>
        </p:txBody>
      </p:sp>
      <p:sp>
        <p:nvSpPr>
          <p:cNvPr id="61" name="Rectangle 60"/>
          <p:cNvSpPr/>
          <p:nvPr/>
        </p:nvSpPr>
        <p:spPr>
          <a:xfrm>
            <a:off x="9625584" y="4805172"/>
            <a:ext cx="4620768" cy="909828"/>
          </a:xfrm>
          <a:prstGeom prst="rect">
            <a:avLst/>
          </a:prstGeom>
          <a:solidFill>
            <a:srgbClr val="F5F0F7"/>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62" name="TextBox 61"/>
          <p:cNvSpPr txBox="1"/>
          <p:nvPr/>
        </p:nvSpPr>
        <p:spPr>
          <a:xfrm>
            <a:off x="9735312" y="5015484"/>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754B87"/>
                </a:solidFill>
                <a:latin typeface="Arial"/>
              </a:defRPr>
            </a:pPr>
            <a:r>
              <a:t>4.</a:t>
            </a:r>
          </a:p>
        </p:txBody>
      </p:sp>
      <p:sp>
        <p:nvSpPr>
          <p:cNvPr id="63" name="TextBox 62"/>
          <p:cNvSpPr txBox="1"/>
          <p:nvPr/>
        </p:nvSpPr>
        <p:spPr>
          <a:xfrm>
            <a:off x="10229088" y="4988052"/>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6,288 ÷ 48</a:t>
            </a:r>
          </a:p>
        </p:txBody>
      </p:sp>
      <p:sp>
        <p:nvSpPr>
          <p:cNvPr id="64" name="Rectangle 63"/>
          <p:cNvSpPr/>
          <p:nvPr/>
        </p:nvSpPr>
        <p:spPr>
          <a:xfrm>
            <a:off x="9625584" y="5733288"/>
            <a:ext cx="4620768" cy="909828"/>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65" name="TextBox 64"/>
          <p:cNvSpPr txBox="1"/>
          <p:nvPr/>
        </p:nvSpPr>
        <p:spPr>
          <a:xfrm>
            <a:off x="9735312" y="5943600"/>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754B87"/>
                </a:solidFill>
                <a:latin typeface="Arial"/>
              </a:defRPr>
            </a:pPr>
            <a:r>
              <a:t>5.</a:t>
            </a:r>
          </a:p>
        </p:txBody>
      </p:sp>
      <p:sp>
        <p:nvSpPr>
          <p:cNvPr id="66" name="TextBox 65"/>
          <p:cNvSpPr txBox="1"/>
          <p:nvPr/>
        </p:nvSpPr>
        <p:spPr>
          <a:xfrm>
            <a:off x="10229088" y="5916168"/>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7,957 ÷ 16</a:t>
            </a:r>
          </a:p>
        </p:txBody>
      </p:sp>
      <p:sp>
        <p:nvSpPr>
          <p:cNvPr id="67" name="Rectangle 66"/>
          <p:cNvSpPr/>
          <p:nvPr/>
        </p:nvSpPr>
        <p:spPr>
          <a:xfrm>
            <a:off x="9625584" y="6661403"/>
            <a:ext cx="4620768" cy="909828"/>
          </a:xfrm>
          <a:prstGeom prst="rect">
            <a:avLst/>
          </a:prstGeom>
          <a:solidFill>
            <a:srgbClr val="F5F0F7"/>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68" name="TextBox 67"/>
          <p:cNvSpPr txBox="1"/>
          <p:nvPr/>
        </p:nvSpPr>
        <p:spPr>
          <a:xfrm>
            <a:off x="9735312" y="6871716"/>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754B87"/>
                </a:solidFill>
                <a:latin typeface="Arial"/>
              </a:defRPr>
            </a:pPr>
            <a:r>
              <a:t>6.</a:t>
            </a:r>
          </a:p>
        </p:txBody>
      </p:sp>
      <p:sp>
        <p:nvSpPr>
          <p:cNvPr id="69" name="TextBox 68"/>
          <p:cNvSpPr txBox="1"/>
          <p:nvPr/>
        </p:nvSpPr>
        <p:spPr>
          <a:xfrm>
            <a:off x="10229088" y="6844283"/>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8,623 ÷ 50</a:t>
            </a:r>
          </a:p>
        </p:txBody>
      </p:sp>
      <p:sp>
        <p:nvSpPr>
          <p:cNvPr id="70" name="Progression curved arrow: Thread 1 to Thread 2"/>
          <p:cNvSpPr/>
          <p:nvPr/>
        </p:nvSpPr>
        <p:spPr>
          <a:xfrm>
            <a:off x="4671059" y="7506573"/>
            <a:ext cx="621792" cy="314053"/>
          </a:xfrm>
          <a:custGeom>
            <a:avLst/>
            <a:gdLst/>
            <a:ahLst/>
            <a:cxnLst/>
            <a:rect l="0" t="0" r="100000" b="100000"/>
            <a:pathLst>
              <a:path w="100000" h="100000" fill="none">
                <a:moveTo>
                  <a:pt x="6970" y="48439"/>
                </a:moveTo>
                <a:cubicBezTo>
                  <a:pt x="40678" y="114499"/>
                  <a:pt x="73026" y="88145"/>
                  <a:pt x="93030" y="13799"/>
                </a:cubicBezTo>
              </a:path>
              <a:path w="100000" h="100000" fill="none">
                <a:moveTo>
                  <a:pt x="69018" y="40431"/>
                </a:moveTo>
                <a:lnTo>
                  <a:pt x="93030" y="13799"/>
                </a:lnTo>
                <a:lnTo>
                  <a:pt x="92217" y="66207"/>
                </a:lnTo>
              </a:path>
            </a:pathLst>
          </a:custGeom>
          <a:noFill/>
          <a:ln w="64449" cap="rnd">
            <a:solidFill>
              <a:schemeClr val="accent6">
                <a:lumMod val="60000"/>
                <a:lumOff val="40000"/>
              </a:schemeClr>
            </a:solidFill>
            <a:round/>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71" name="Progression curved arrow: Thread 2 to Thread 3"/>
          <p:cNvSpPr/>
          <p:nvPr/>
        </p:nvSpPr>
        <p:spPr>
          <a:xfrm>
            <a:off x="9243991" y="7498079"/>
            <a:ext cx="621792" cy="314053"/>
          </a:xfrm>
          <a:custGeom>
            <a:avLst/>
            <a:gdLst/>
            <a:ahLst/>
            <a:cxnLst/>
            <a:rect l="0" t="0" r="100000" b="100000"/>
            <a:pathLst>
              <a:path w="100000" h="100000" fill="none">
                <a:moveTo>
                  <a:pt x="6970" y="48439"/>
                </a:moveTo>
                <a:cubicBezTo>
                  <a:pt x="40678" y="114499"/>
                  <a:pt x="73026" y="88145"/>
                  <a:pt x="93030" y="13799"/>
                </a:cubicBezTo>
              </a:path>
              <a:path w="100000" h="100000" fill="none">
                <a:moveTo>
                  <a:pt x="69018" y="40431"/>
                </a:moveTo>
                <a:lnTo>
                  <a:pt x="93030" y="13799"/>
                </a:lnTo>
                <a:lnTo>
                  <a:pt x="92217" y="66207"/>
                </a:lnTo>
              </a:path>
            </a:pathLst>
          </a:custGeom>
          <a:noFill/>
          <a:ln w="64449" cap="rnd">
            <a:solidFill>
              <a:schemeClr val="accent6">
                <a:lumMod val="60000"/>
                <a:lumOff val="40000"/>
              </a:schemeClr>
            </a:solidFill>
            <a:round/>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F7F8FA"/>
        </a:solidFill>
        <a:effectLst/>
      </p:bgPr>
    </p:bg>
    <p:spTree>
      <p:nvGrpSpPr>
        <p:cNvPr id="1" name=""/>
        <p:cNvGrpSpPr/>
        <p:nvPr/>
      </p:nvGrpSpPr>
      <p:grpSpPr/>
      <p:sp>
        <p:nvSpPr>
          <p:cNvPr id="2" name="Rectangle 1"/>
          <p:cNvSpPr/>
          <p:nvPr/>
        </p:nvSpPr>
        <p:spPr>
          <a:xfrm>
            <a:off x="0" y="0"/>
            <a:ext cx="14630400" cy="73152"/>
          </a:xfrm>
          <a:prstGeom prst="rect">
            <a:avLst/>
          </a:prstGeom>
          <a:solidFill>
            <a:srgbClr val="176B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20040" y="164592"/>
            <a:ext cx="13990320" cy="457200"/>
          </a:xfrm>
          <a:prstGeom prst="rect">
            <a:avLst/>
          </a:prstGeom>
          <a:noFill/>
        </p:spPr>
        <p:txBody>
          <a:bodyPr wrap="square" lIns="54864" rIns="54864" tIns="22860" bIns="22860">
            <a:spAutoFit/>
          </a:bodyPr>
          <a:lstStyle/>
          <a:p>
            <a:pPr>
              <a:lnSpc>
                <a:spcPts val="2940"/>
              </a:lnSpc>
              <a:spcBef>
                <a:spcPts val="0"/>
              </a:spcBef>
              <a:spcAft>
                <a:spcPts val="0"/>
              </a:spcAft>
              <a:defRPr sz="2800" b="1">
                <a:solidFill>
                  <a:srgbClr val="182B3A"/>
                </a:solidFill>
                <a:latin typeface="Arial"/>
              </a:defRPr>
            </a:pPr>
            <a:r>
              <a:t>Signed numbers: addition and subtraction</a:t>
            </a:r>
          </a:p>
        </p:txBody>
      </p:sp>
      <p:sp>
        <p:nvSpPr>
          <p:cNvPr id="4" name="TextBox 3"/>
          <p:cNvSpPr txBox="1"/>
          <p:nvPr/>
        </p:nvSpPr>
        <p:spPr>
          <a:xfrm>
            <a:off x="320040" y="704088"/>
            <a:ext cx="13990320" cy="347472"/>
          </a:xfrm>
          <a:prstGeom prst="rect">
            <a:avLst/>
          </a:prstGeom>
          <a:noFill/>
        </p:spPr>
        <p:txBody>
          <a:bodyPr wrap="square" lIns="54864" rIns="54864" tIns="22860" bIns="22860">
            <a:spAutoFit/>
          </a:bodyPr>
          <a:lstStyle/>
          <a:p>
            <a:pPr>
              <a:lnSpc>
                <a:spcPts val="1575"/>
              </a:lnSpc>
              <a:spcBef>
                <a:spcPts val="0"/>
              </a:spcBef>
              <a:spcAft>
                <a:spcPts val="0"/>
              </a:spcAft>
              <a:defRPr sz="1500" b="0">
                <a:solidFill>
                  <a:srgbClr val="526472"/>
                </a:solidFill>
                <a:latin typeface="Arial"/>
              </a:defRPr>
            </a:pPr>
            <a:r>
              <a:t>Initial assessment • Work out all four questions. Show your working.</a:t>
            </a:r>
          </a:p>
        </p:txBody>
      </p:sp>
      <p:sp>
        <p:nvSpPr>
          <p:cNvPr id="5" name="TextBox 4"/>
          <p:cNvSpPr txBox="1"/>
          <p:nvPr/>
        </p:nvSpPr>
        <p:spPr>
          <a:xfrm>
            <a:off x="320040" y="7973568"/>
            <a:ext cx="10789920" cy="210312"/>
          </a:xfrm>
          <a:prstGeom prst="rect">
            <a:avLst/>
          </a:prstGeom>
          <a:noFill/>
        </p:spPr>
        <p:txBody>
          <a:bodyPr wrap="square" lIns="54864" rIns="54864" tIns="22860" bIns="22860">
            <a:spAutoFit/>
          </a:bodyPr>
          <a:lstStyle/>
          <a:p>
            <a:pPr>
              <a:lnSpc>
                <a:spcPts val="1155"/>
              </a:lnSpc>
              <a:spcBef>
                <a:spcPts val="0"/>
              </a:spcBef>
              <a:spcAft>
                <a:spcPts val="0"/>
              </a:spcAft>
              <a:defRPr sz="1100" b="0">
                <a:solidFill>
                  <a:srgbClr val="526472"/>
                </a:solidFill>
                <a:latin typeface="Arial"/>
              </a:defRPr>
            </a:pPr>
            <a:r>
              <a:t>GCSE Maths revision • No calculator • Show your working.</a:t>
            </a:r>
          </a:p>
        </p:txBody>
      </p:sp>
      <p:sp>
        <p:nvSpPr>
          <p:cNvPr id="6" name="TextBox 5"/>
          <p:cNvSpPr txBox="1"/>
          <p:nvPr/>
        </p:nvSpPr>
        <p:spPr>
          <a:xfrm>
            <a:off x="11155680" y="7973568"/>
            <a:ext cx="3108960" cy="210312"/>
          </a:xfrm>
          <a:prstGeom prst="rect">
            <a:avLst/>
          </a:prstGeom>
          <a:noFill/>
        </p:spPr>
        <p:txBody>
          <a:bodyPr wrap="square" lIns="54864" rIns="54864" tIns="22860" bIns="22860">
            <a:spAutoFit/>
          </a:bodyPr>
          <a:lstStyle/>
          <a:p>
            <a:pPr>
              <a:lnSpc>
                <a:spcPts val="1155"/>
              </a:lnSpc>
              <a:spcBef>
                <a:spcPts val="0"/>
              </a:spcBef>
              <a:spcAft>
                <a:spcPts val="0"/>
              </a:spcAft>
              <a:defRPr sz="1100" b="0">
                <a:solidFill>
                  <a:srgbClr val="526472"/>
                </a:solidFill>
                <a:latin typeface="Arial"/>
              </a:defRPr>
            </a:pPr>
            <a:r>
              <a:t>M13-IA</a:t>
            </a:r>
          </a:p>
        </p:txBody>
      </p:sp>
      <p:sp>
        <p:nvSpPr>
          <p:cNvPr id="7" name="Rectangle 6"/>
          <p:cNvSpPr/>
          <p:nvPr/>
        </p:nvSpPr>
        <p:spPr>
          <a:xfrm>
            <a:off x="457200" y="1691640"/>
            <a:ext cx="6720840" cy="2514600"/>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21792" y="1874520"/>
            <a:ext cx="6309360" cy="594360"/>
          </a:xfrm>
          <a:prstGeom prst="rect">
            <a:avLst/>
          </a:prstGeom>
          <a:noFill/>
        </p:spPr>
        <p:txBody>
          <a:bodyPr wrap="square" lIns="54864" rIns="54864" tIns="22860" bIns="22860">
            <a:spAutoFit/>
          </a:bodyPr>
          <a:lstStyle/>
          <a:p>
            <a:pPr>
              <a:lnSpc>
                <a:spcPts val="3150"/>
              </a:lnSpc>
              <a:spcBef>
                <a:spcPts val="0"/>
              </a:spcBef>
              <a:spcAft>
                <a:spcPts val="0"/>
              </a:spcAft>
              <a:defRPr sz="3000" b="1">
                <a:solidFill>
                  <a:srgbClr val="182B3A"/>
                </a:solidFill>
                <a:latin typeface="Arial"/>
              </a:defRPr>
            </a:pPr>
            <a:r>
              <a:t>1.  −2 + 9</a:t>
            </a:r>
          </a:p>
        </p:txBody>
      </p:sp>
      <p:sp>
        <p:nvSpPr>
          <p:cNvPr id="9" name="Rectangle 8"/>
          <p:cNvSpPr/>
          <p:nvPr/>
        </p:nvSpPr>
        <p:spPr>
          <a:xfrm>
            <a:off x="7452360" y="1691640"/>
            <a:ext cx="6720840" cy="2514600"/>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616952" y="1874520"/>
            <a:ext cx="6309360" cy="594360"/>
          </a:xfrm>
          <a:prstGeom prst="rect">
            <a:avLst/>
          </a:prstGeom>
          <a:noFill/>
        </p:spPr>
        <p:txBody>
          <a:bodyPr wrap="square" lIns="54864" rIns="54864" tIns="22860" bIns="22860">
            <a:spAutoFit/>
          </a:bodyPr>
          <a:lstStyle/>
          <a:p>
            <a:pPr>
              <a:lnSpc>
                <a:spcPts val="3150"/>
              </a:lnSpc>
              <a:spcBef>
                <a:spcPts val="0"/>
              </a:spcBef>
              <a:spcAft>
                <a:spcPts val="0"/>
              </a:spcAft>
              <a:defRPr sz="3000" b="1">
                <a:solidFill>
                  <a:srgbClr val="182B3A"/>
                </a:solidFill>
                <a:latin typeface="Arial"/>
              </a:defRPr>
            </a:pPr>
            <a:r>
              <a:t>2.  6 − 11</a:t>
            </a:r>
          </a:p>
        </p:txBody>
      </p:sp>
      <p:sp>
        <p:nvSpPr>
          <p:cNvPr id="11" name="Rectangle 10"/>
          <p:cNvSpPr/>
          <p:nvPr/>
        </p:nvSpPr>
        <p:spPr>
          <a:xfrm>
            <a:off x="457200" y="4480560"/>
            <a:ext cx="6720840" cy="2514600"/>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21792" y="4663440"/>
            <a:ext cx="6309360" cy="594360"/>
          </a:xfrm>
          <a:prstGeom prst="rect">
            <a:avLst/>
          </a:prstGeom>
          <a:noFill/>
        </p:spPr>
        <p:txBody>
          <a:bodyPr wrap="square" lIns="54864" rIns="54864" tIns="22860" bIns="22860">
            <a:spAutoFit/>
          </a:bodyPr>
          <a:lstStyle/>
          <a:p>
            <a:pPr>
              <a:lnSpc>
                <a:spcPts val="3150"/>
              </a:lnSpc>
              <a:spcBef>
                <a:spcPts val="0"/>
              </a:spcBef>
              <a:spcAft>
                <a:spcPts val="0"/>
              </a:spcAft>
              <a:defRPr sz="3000" b="1">
                <a:solidFill>
                  <a:srgbClr val="182B3A"/>
                </a:solidFill>
                <a:latin typeface="Arial"/>
              </a:defRPr>
            </a:pPr>
            <a:r>
              <a:t>3.  −7 − (−10)</a:t>
            </a:r>
          </a:p>
        </p:txBody>
      </p:sp>
      <p:sp>
        <p:nvSpPr>
          <p:cNvPr id="13" name="Rectangle 12"/>
          <p:cNvSpPr/>
          <p:nvPr/>
        </p:nvSpPr>
        <p:spPr>
          <a:xfrm>
            <a:off x="7452360" y="4480560"/>
            <a:ext cx="6720840" cy="2514600"/>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616952" y="4663440"/>
            <a:ext cx="6309360" cy="594360"/>
          </a:xfrm>
          <a:prstGeom prst="rect">
            <a:avLst/>
          </a:prstGeom>
          <a:noFill/>
        </p:spPr>
        <p:txBody>
          <a:bodyPr wrap="square" lIns="54864" rIns="54864" tIns="22860" bIns="22860">
            <a:spAutoFit/>
          </a:bodyPr>
          <a:lstStyle/>
          <a:p>
            <a:pPr>
              <a:lnSpc>
                <a:spcPts val="3150"/>
              </a:lnSpc>
              <a:spcBef>
                <a:spcPts val="0"/>
              </a:spcBef>
              <a:spcAft>
                <a:spcPts val="0"/>
              </a:spcAft>
              <a:defRPr sz="3000" b="1">
                <a:solidFill>
                  <a:srgbClr val="182B3A"/>
                </a:solidFill>
                <a:latin typeface="Arial"/>
              </a:defRPr>
            </a:pPr>
            <a:r>
              <a:t>4.  5 + (−9) − (−6)</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F7F8FA"/>
        </a:solidFill>
        <a:effectLst/>
      </p:bgPr>
    </p:bg>
    <p:spTree>
      <p:nvGrpSpPr>
        <p:cNvPr id="1" name=""/>
        <p:cNvGrpSpPr/>
        <p:nvPr/>
      </p:nvGrpSpPr>
      <p:grpSpPr/>
      <p:sp>
        <p:nvSpPr>
          <p:cNvPr id="2" name="Rectangle 1"/>
          <p:cNvSpPr/>
          <p:nvPr/>
        </p:nvSpPr>
        <p:spPr>
          <a:xfrm>
            <a:off x="0" y="0"/>
            <a:ext cx="14630400" cy="73152"/>
          </a:xfrm>
          <a:prstGeom prst="rect">
            <a:avLst/>
          </a:prstGeom>
          <a:solidFill>
            <a:srgbClr val="176B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20040" y="164592"/>
            <a:ext cx="13990320" cy="457200"/>
          </a:xfrm>
          <a:prstGeom prst="rect">
            <a:avLst/>
          </a:prstGeom>
          <a:noFill/>
        </p:spPr>
        <p:txBody>
          <a:bodyPr wrap="square" lIns="54864" rIns="54864" tIns="22860" bIns="22860">
            <a:spAutoFit/>
          </a:bodyPr>
          <a:lstStyle/>
          <a:p>
            <a:pPr>
              <a:lnSpc>
                <a:spcPts val="2940"/>
              </a:lnSpc>
              <a:spcBef>
                <a:spcPts val="0"/>
              </a:spcBef>
              <a:spcAft>
                <a:spcPts val="0"/>
              </a:spcAft>
              <a:defRPr sz="2800" b="1">
                <a:solidFill>
                  <a:srgbClr val="182B3A"/>
                </a:solidFill>
                <a:latin typeface="Arial"/>
              </a:defRPr>
            </a:pPr>
            <a:r>
              <a:t>Signed numbers: addition and subtraction</a:t>
            </a:r>
          </a:p>
        </p:txBody>
      </p:sp>
      <p:sp>
        <p:nvSpPr>
          <p:cNvPr id="4" name="TextBox 3"/>
          <p:cNvSpPr txBox="1"/>
          <p:nvPr/>
        </p:nvSpPr>
        <p:spPr>
          <a:xfrm>
            <a:off x="320040" y="704088"/>
            <a:ext cx="13990320" cy="347472"/>
          </a:xfrm>
          <a:prstGeom prst="rect">
            <a:avLst/>
          </a:prstGeom>
          <a:noFill/>
        </p:spPr>
        <p:txBody>
          <a:bodyPr wrap="square" lIns="54864" rIns="54864" tIns="22860" bIns="22860">
            <a:spAutoFit/>
          </a:bodyPr>
          <a:lstStyle/>
          <a:p>
            <a:pPr>
              <a:lnSpc>
                <a:spcPts val="1575"/>
              </a:lnSpc>
              <a:spcBef>
                <a:spcPts val="0"/>
              </a:spcBef>
              <a:spcAft>
                <a:spcPts val="0"/>
              </a:spcAft>
              <a:defRPr sz="1500" b="0">
                <a:solidFill>
                  <a:srgbClr val="526472"/>
                </a:solidFill>
                <a:latin typeface="Arial"/>
              </a:defRPr>
            </a:pPr>
            <a:r>
              <a:t>Rules recap • Start at the first number.</a:t>
            </a:r>
          </a:p>
        </p:txBody>
      </p:sp>
      <p:sp>
        <p:nvSpPr>
          <p:cNvPr id="5" name="TextBox 4"/>
          <p:cNvSpPr txBox="1"/>
          <p:nvPr/>
        </p:nvSpPr>
        <p:spPr>
          <a:xfrm>
            <a:off x="320040" y="7973568"/>
            <a:ext cx="10789920" cy="210312"/>
          </a:xfrm>
          <a:prstGeom prst="rect">
            <a:avLst/>
          </a:prstGeom>
          <a:noFill/>
        </p:spPr>
        <p:txBody>
          <a:bodyPr wrap="square" lIns="54864" rIns="54864" tIns="22860" bIns="22860">
            <a:spAutoFit/>
          </a:bodyPr>
          <a:lstStyle/>
          <a:p>
            <a:pPr>
              <a:lnSpc>
                <a:spcPts val="1155"/>
              </a:lnSpc>
              <a:spcBef>
                <a:spcPts val="0"/>
              </a:spcBef>
              <a:spcAft>
                <a:spcPts val="0"/>
              </a:spcAft>
              <a:defRPr sz="1100" b="0">
                <a:solidFill>
                  <a:srgbClr val="526472"/>
                </a:solidFill>
                <a:latin typeface="Arial"/>
              </a:defRPr>
            </a:pPr>
            <a:r>
              <a:t>GCSE Maths revision • No calculator • Show your working.</a:t>
            </a:r>
          </a:p>
        </p:txBody>
      </p:sp>
      <p:sp>
        <p:nvSpPr>
          <p:cNvPr id="6" name="TextBox 5"/>
          <p:cNvSpPr txBox="1"/>
          <p:nvPr/>
        </p:nvSpPr>
        <p:spPr>
          <a:xfrm>
            <a:off x="11155680" y="7973568"/>
            <a:ext cx="3108960" cy="210312"/>
          </a:xfrm>
          <a:prstGeom prst="rect">
            <a:avLst/>
          </a:prstGeom>
          <a:noFill/>
        </p:spPr>
        <p:txBody>
          <a:bodyPr wrap="square" lIns="54864" rIns="54864" tIns="22860" bIns="22860">
            <a:spAutoFit/>
          </a:bodyPr>
          <a:lstStyle/>
          <a:p>
            <a:pPr>
              <a:lnSpc>
                <a:spcPts val="1155"/>
              </a:lnSpc>
              <a:spcBef>
                <a:spcPts val="0"/>
              </a:spcBef>
              <a:spcAft>
                <a:spcPts val="0"/>
              </a:spcAft>
              <a:defRPr sz="1100" b="0">
                <a:solidFill>
                  <a:srgbClr val="526472"/>
                </a:solidFill>
                <a:latin typeface="Arial"/>
              </a:defRPr>
            </a:pPr>
            <a:r>
              <a:t>M13-RULES</a:t>
            </a:r>
          </a:p>
        </p:txBody>
      </p:sp>
      <p:sp>
        <p:nvSpPr>
          <p:cNvPr id="7" name="Rectangle 6"/>
          <p:cNvSpPr/>
          <p:nvPr/>
        </p:nvSpPr>
        <p:spPr>
          <a:xfrm>
            <a:off x="365760" y="1280160"/>
            <a:ext cx="6812280" cy="1783080"/>
          </a:xfrm>
          <a:prstGeom prst="rect">
            <a:avLst/>
          </a:prstGeom>
          <a:solidFill>
            <a:srgbClr val="EDF6F5"/>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02920" y="1389888"/>
            <a:ext cx="6510528" cy="393192"/>
          </a:xfrm>
          <a:prstGeom prst="rect">
            <a:avLst/>
          </a:prstGeom>
          <a:noFill/>
        </p:spPr>
        <p:txBody>
          <a:bodyPr wrap="square" lIns="54864" rIns="54864" tIns="22860" bIns="22860">
            <a:spAutoFit/>
          </a:bodyPr>
          <a:lstStyle/>
          <a:p>
            <a:pPr>
              <a:lnSpc>
                <a:spcPts val="2415"/>
              </a:lnSpc>
              <a:spcBef>
                <a:spcPts val="0"/>
              </a:spcBef>
              <a:spcAft>
                <a:spcPts val="0"/>
              </a:spcAft>
              <a:defRPr sz="2300" b="1">
                <a:solidFill>
                  <a:srgbClr val="176B73"/>
                </a:solidFill>
                <a:latin typeface="Arial"/>
              </a:defRPr>
            </a:pPr>
            <a:r>
              <a:t>Add a positive number</a:t>
            </a:r>
          </a:p>
        </p:txBody>
      </p:sp>
      <p:sp>
        <p:nvSpPr>
          <p:cNvPr id="9" name="TextBox 8"/>
          <p:cNvSpPr txBox="1"/>
          <p:nvPr/>
        </p:nvSpPr>
        <p:spPr>
          <a:xfrm>
            <a:off x="502920" y="1883664"/>
            <a:ext cx="6510528" cy="502920"/>
          </a:xfrm>
          <a:prstGeom prst="rect">
            <a:avLst/>
          </a:prstGeom>
          <a:noFill/>
        </p:spPr>
        <p:txBody>
          <a:bodyPr wrap="square" lIns="54864" rIns="54864" tIns="22860" bIns="22860">
            <a:spAutoFit/>
          </a:bodyPr>
          <a:lstStyle/>
          <a:p>
            <a:pPr>
              <a:lnSpc>
                <a:spcPts val="2100"/>
              </a:lnSpc>
              <a:spcBef>
                <a:spcPts val="0"/>
              </a:spcBef>
              <a:spcAft>
                <a:spcPts val="0"/>
              </a:spcAft>
              <a:defRPr sz="2000" b="0">
                <a:solidFill>
                  <a:srgbClr val="182B3A"/>
                </a:solidFill>
                <a:latin typeface="Arial"/>
              </a:defRPr>
            </a:pPr>
            <a:r>
              <a:t>Move right: the value increases.</a:t>
            </a:r>
          </a:p>
        </p:txBody>
      </p:sp>
      <p:sp>
        <p:nvSpPr>
          <p:cNvPr id="10" name="TextBox 9"/>
          <p:cNvSpPr txBox="1"/>
          <p:nvPr/>
        </p:nvSpPr>
        <p:spPr>
          <a:xfrm>
            <a:off x="502920" y="2450591"/>
            <a:ext cx="6510528" cy="438912"/>
          </a:xfrm>
          <a:prstGeom prst="rect">
            <a:avLst/>
          </a:prstGeom>
          <a:noFill/>
        </p:spPr>
        <p:txBody>
          <a:bodyPr wrap="square" lIns="54864" rIns="54864" tIns="22860" bIns="22860">
            <a:spAutoFit/>
          </a:bodyPr>
          <a:lstStyle/>
          <a:p>
            <a:pPr>
              <a:lnSpc>
                <a:spcPts val="2625"/>
              </a:lnSpc>
              <a:spcBef>
                <a:spcPts val="0"/>
              </a:spcBef>
              <a:spcAft>
                <a:spcPts val="0"/>
              </a:spcAft>
              <a:defRPr sz="2500" b="1">
                <a:solidFill>
                  <a:srgbClr val="182B3A"/>
                </a:solidFill>
                <a:latin typeface="Arial"/>
              </a:defRPr>
            </a:pPr>
            <a:r>
              <a:t>−4 + 7 = 3</a:t>
            </a:r>
          </a:p>
        </p:txBody>
      </p:sp>
      <p:sp>
        <p:nvSpPr>
          <p:cNvPr id="11" name="Rectangle 10"/>
          <p:cNvSpPr/>
          <p:nvPr/>
        </p:nvSpPr>
        <p:spPr>
          <a:xfrm>
            <a:off x="7452360" y="1280160"/>
            <a:ext cx="6812280" cy="1783080"/>
          </a:xfrm>
          <a:prstGeom prst="rect">
            <a:avLst/>
          </a:prstGeom>
          <a:solidFill>
            <a:srgbClr val="EFF3FA"/>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589520" y="1389888"/>
            <a:ext cx="6510528" cy="393192"/>
          </a:xfrm>
          <a:prstGeom prst="rect">
            <a:avLst/>
          </a:prstGeom>
          <a:noFill/>
        </p:spPr>
        <p:txBody>
          <a:bodyPr wrap="square" lIns="54864" rIns="54864" tIns="22860" bIns="22860">
            <a:spAutoFit/>
          </a:bodyPr>
          <a:lstStyle/>
          <a:p>
            <a:pPr>
              <a:lnSpc>
                <a:spcPts val="2415"/>
              </a:lnSpc>
              <a:spcBef>
                <a:spcPts val="0"/>
              </a:spcBef>
              <a:spcAft>
                <a:spcPts val="0"/>
              </a:spcAft>
              <a:defRPr sz="2300" b="1">
                <a:solidFill>
                  <a:srgbClr val="3559A2"/>
                </a:solidFill>
                <a:latin typeface="Arial"/>
              </a:defRPr>
            </a:pPr>
            <a:r>
              <a:t>Add a negative number</a:t>
            </a:r>
          </a:p>
        </p:txBody>
      </p:sp>
      <p:sp>
        <p:nvSpPr>
          <p:cNvPr id="13" name="TextBox 12"/>
          <p:cNvSpPr txBox="1"/>
          <p:nvPr/>
        </p:nvSpPr>
        <p:spPr>
          <a:xfrm>
            <a:off x="7589520" y="1883664"/>
            <a:ext cx="6510528" cy="502920"/>
          </a:xfrm>
          <a:prstGeom prst="rect">
            <a:avLst/>
          </a:prstGeom>
          <a:noFill/>
        </p:spPr>
        <p:txBody>
          <a:bodyPr wrap="square" lIns="54864" rIns="54864" tIns="22860" bIns="22860">
            <a:spAutoFit/>
          </a:bodyPr>
          <a:lstStyle/>
          <a:p>
            <a:pPr>
              <a:lnSpc>
                <a:spcPts val="2100"/>
              </a:lnSpc>
              <a:spcBef>
                <a:spcPts val="0"/>
              </a:spcBef>
              <a:spcAft>
                <a:spcPts val="0"/>
              </a:spcAft>
              <a:defRPr sz="2000" b="0">
                <a:solidFill>
                  <a:srgbClr val="182B3A"/>
                </a:solidFill>
                <a:latin typeface="Arial"/>
              </a:defRPr>
            </a:pPr>
            <a:r>
              <a:t>Move left: the value decreases.</a:t>
            </a:r>
          </a:p>
        </p:txBody>
      </p:sp>
      <p:sp>
        <p:nvSpPr>
          <p:cNvPr id="14" name="TextBox 13"/>
          <p:cNvSpPr txBox="1"/>
          <p:nvPr/>
        </p:nvSpPr>
        <p:spPr>
          <a:xfrm>
            <a:off x="7589520" y="2450591"/>
            <a:ext cx="6510528" cy="438912"/>
          </a:xfrm>
          <a:prstGeom prst="rect">
            <a:avLst/>
          </a:prstGeom>
          <a:noFill/>
        </p:spPr>
        <p:txBody>
          <a:bodyPr wrap="square" lIns="54864" rIns="54864" tIns="22860" bIns="22860">
            <a:spAutoFit/>
          </a:bodyPr>
          <a:lstStyle/>
          <a:p>
            <a:pPr>
              <a:lnSpc>
                <a:spcPts val="2625"/>
              </a:lnSpc>
              <a:spcBef>
                <a:spcPts val="0"/>
              </a:spcBef>
              <a:spcAft>
                <a:spcPts val="0"/>
              </a:spcAft>
              <a:defRPr sz="2500" b="1">
                <a:solidFill>
                  <a:srgbClr val="182B3A"/>
                </a:solidFill>
                <a:latin typeface="Arial"/>
              </a:defRPr>
            </a:pPr>
            <a:r>
              <a:t>4 + (−7) = 4 − 7 = −3</a:t>
            </a:r>
          </a:p>
        </p:txBody>
      </p:sp>
      <p:sp>
        <p:nvSpPr>
          <p:cNvPr id="15" name="Rectangle 14"/>
          <p:cNvSpPr/>
          <p:nvPr/>
        </p:nvSpPr>
        <p:spPr>
          <a:xfrm>
            <a:off x="365760" y="3200400"/>
            <a:ext cx="6812280" cy="1783080"/>
          </a:xfrm>
          <a:prstGeom prst="rect">
            <a:avLst/>
          </a:prstGeom>
          <a:solidFill>
            <a:srgbClr val="EDF6F5"/>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502920" y="3310128"/>
            <a:ext cx="6510528" cy="393192"/>
          </a:xfrm>
          <a:prstGeom prst="rect">
            <a:avLst/>
          </a:prstGeom>
          <a:noFill/>
        </p:spPr>
        <p:txBody>
          <a:bodyPr wrap="square" lIns="54864" rIns="54864" tIns="22860" bIns="22860">
            <a:spAutoFit/>
          </a:bodyPr>
          <a:lstStyle/>
          <a:p>
            <a:pPr>
              <a:lnSpc>
                <a:spcPts val="2415"/>
              </a:lnSpc>
              <a:spcBef>
                <a:spcPts val="0"/>
              </a:spcBef>
              <a:spcAft>
                <a:spcPts val="0"/>
              </a:spcAft>
              <a:defRPr sz="2300" b="1">
                <a:solidFill>
                  <a:srgbClr val="176B73"/>
                </a:solidFill>
                <a:latin typeface="Arial"/>
              </a:defRPr>
            </a:pPr>
            <a:r>
              <a:t>Subtract a positive number</a:t>
            </a:r>
          </a:p>
        </p:txBody>
      </p:sp>
      <p:sp>
        <p:nvSpPr>
          <p:cNvPr id="17" name="TextBox 16"/>
          <p:cNvSpPr txBox="1"/>
          <p:nvPr/>
        </p:nvSpPr>
        <p:spPr>
          <a:xfrm>
            <a:off x="502920" y="3803904"/>
            <a:ext cx="6510528" cy="502920"/>
          </a:xfrm>
          <a:prstGeom prst="rect">
            <a:avLst/>
          </a:prstGeom>
          <a:noFill/>
        </p:spPr>
        <p:txBody>
          <a:bodyPr wrap="square" lIns="54864" rIns="54864" tIns="22860" bIns="22860">
            <a:spAutoFit/>
          </a:bodyPr>
          <a:lstStyle/>
          <a:p>
            <a:pPr>
              <a:lnSpc>
                <a:spcPts val="2100"/>
              </a:lnSpc>
              <a:spcBef>
                <a:spcPts val="0"/>
              </a:spcBef>
              <a:spcAft>
                <a:spcPts val="0"/>
              </a:spcAft>
              <a:defRPr sz="2000" b="0">
                <a:solidFill>
                  <a:srgbClr val="182B3A"/>
                </a:solidFill>
                <a:latin typeface="Arial"/>
              </a:defRPr>
            </a:pPr>
            <a:r>
              <a:t>Move left: the value decreases.</a:t>
            </a:r>
          </a:p>
        </p:txBody>
      </p:sp>
      <p:sp>
        <p:nvSpPr>
          <p:cNvPr id="18" name="TextBox 17"/>
          <p:cNvSpPr txBox="1"/>
          <p:nvPr/>
        </p:nvSpPr>
        <p:spPr>
          <a:xfrm>
            <a:off x="502920" y="4370832"/>
            <a:ext cx="6510528" cy="438912"/>
          </a:xfrm>
          <a:prstGeom prst="rect">
            <a:avLst/>
          </a:prstGeom>
          <a:noFill/>
        </p:spPr>
        <p:txBody>
          <a:bodyPr wrap="square" lIns="54864" rIns="54864" tIns="22860" bIns="22860">
            <a:spAutoFit/>
          </a:bodyPr>
          <a:lstStyle/>
          <a:p>
            <a:pPr>
              <a:lnSpc>
                <a:spcPts val="2625"/>
              </a:lnSpc>
              <a:spcBef>
                <a:spcPts val="0"/>
              </a:spcBef>
              <a:spcAft>
                <a:spcPts val="0"/>
              </a:spcAft>
              <a:defRPr sz="2500" b="1">
                <a:solidFill>
                  <a:srgbClr val="182B3A"/>
                </a:solidFill>
                <a:latin typeface="Arial"/>
              </a:defRPr>
            </a:pPr>
            <a:r>
              <a:t>3 − 8 = −5</a:t>
            </a:r>
          </a:p>
        </p:txBody>
      </p:sp>
      <p:sp>
        <p:nvSpPr>
          <p:cNvPr id="19" name="Rectangle 18"/>
          <p:cNvSpPr/>
          <p:nvPr/>
        </p:nvSpPr>
        <p:spPr>
          <a:xfrm>
            <a:off x="7452360" y="3200400"/>
            <a:ext cx="6812280" cy="1783080"/>
          </a:xfrm>
          <a:prstGeom prst="rect">
            <a:avLst/>
          </a:prstGeom>
          <a:solidFill>
            <a:srgbClr val="EFF3FA"/>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589520" y="3310128"/>
            <a:ext cx="6510528" cy="393192"/>
          </a:xfrm>
          <a:prstGeom prst="rect">
            <a:avLst/>
          </a:prstGeom>
          <a:noFill/>
        </p:spPr>
        <p:txBody>
          <a:bodyPr wrap="square" lIns="54864" rIns="54864" tIns="22860" bIns="22860">
            <a:spAutoFit/>
          </a:bodyPr>
          <a:lstStyle/>
          <a:p>
            <a:pPr>
              <a:lnSpc>
                <a:spcPts val="2415"/>
              </a:lnSpc>
              <a:spcBef>
                <a:spcPts val="0"/>
              </a:spcBef>
              <a:spcAft>
                <a:spcPts val="0"/>
              </a:spcAft>
              <a:defRPr sz="2300" b="1">
                <a:solidFill>
                  <a:srgbClr val="3559A2"/>
                </a:solidFill>
                <a:latin typeface="Arial"/>
              </a:defRPr>
            </a:pPr>
            <a:r>
              <a:t>Subtract a negative number</a:t>
            </a:r>
          </a:p>
        </p:txBody>
      </p:sp>
      <p:sp>
        <p:nvSpPr>
          <p:cNvPr id="21" name="TextBox 20"/>
          <p:cNvSpPr txBox="1"/>
          <p:nvPr/>
        </p:nvSpPr>
        <p:spPr>
          <a:xfrm>
            <a:off x="7589520" y="3803904"/>
            <a:ext cx="6510528" cy="502920"/>
          </a:xfrm>
          <a:prstGeom prst="rect">
            <a:avLst/>
          </a:prstGeom>
          <a:noFill/>
        </p:spPr>
        <p:txBody>
          <a:bodyPr wrap="square" lIns="54864" rIns="54864" tIns="22860" bIns="22860">
            <a:spAutoFit/>
          </a:bodyPr>
          <a:lstStyle/>
          <a:p>
            <a:pPr>
              <a:lnSpc>
                <a:spcPts val="2100"/>
              </a:lnSpc>
              <a:spcBef>
                <a:spcPts val="0"/>
              </a:spcBef>
              <a:spcAft>
                <a:spcPts val="0"/>
              </a:spcAft>
              <a:defRPr sz="2000" b="0">
                <a:solidFill>
                  <a:srgbClr val="182B3A"/>
                </a:solidFill>
                <a:latin typeface="Arial"/>
              </a:defRPr>
            </a:pPr>
            <a:r>
              <a:t>Move right: subtracting a negative is adding a positive.</a:t>
            </a:r>
          </a:p>
        </p:txBody>
      </p:sp>
      <p:sp>
        <p:nvSpPr>
          <p:cNvPr id="22" name="TextBox 21"/>
          <p:cNvSpPr txBox="1"/>
          <p:nvPr/>
        </p:nvSpPr>
        <p:spPr>
          <a:xfrm>
            <a:off x="7589520" y="4370832"/>
            <a:ext cx="6510528" cy="438912"/>
          </a:xfrm>
          <a:prstGeom prst="rect">
            <a:avLst/>
          </a:prstGeom>
          <a:noFill/>
        </p:spPr>
        <p:txBody>
          <a:bodyPr wrap="square" lIns="54864" rIns="54864" tIns="22860" bIns="22860">
            <a:spAutoFit/>
          </a:bodyPr>
          <a:lstStyle/>
          <a:p>
            <a:pPr>
              <a:lnSpc>
                <a:spcPts val="2625"/>
              </a:lnSpc>
              <a:spcBef>
                <a:spcPts val="0"/>
              </a:spcBef>
              <a:spcAft>
                <a:spcPts val="0"/>
              </a:spcAft>
              <a:defRPr sz="2500" b="1">
                <a:solidFill>
                  <a:srgbClr val="182B3A"/>
                </a:solidFill>
                <a:latin typeface="Arial"/>
              </a:defRPr>
            </a:pPr>
            <a:r>
              <a:t>6 − (−3) = 6 + 3 = 9</a:t>
            </a:r>
          </a:p>
        </p:txBody>
      </p:sp>
      <p:sp>
        <p:nvSpPr>
          <p:cNvPr id="23" name="TextBox 22"/>
          <p:cNvSpPr txBox="1"/>
          <p:nvPr/>
        </p:nvSpPr>
        <p:spPr>
          <a:xfrm>
            <a:off x="457200" y="5276088"/>
            <a:ext cx="13716000" cy="640080"/>
          </a:xfrm>
          <a:prstGeom prst="rect">
            <a:avLst/>
          </a:prstGeom>
          <a:noFill/>
        </p:spPr>
        <p:txBody>
          <a:bodyPr wrap="square" lIns="54864" rIns="54864" tIns="22860" bIns="22860">
            <a:spAutoFit/>
          </a:bodyPr>
          <a:lstStyle/>
          <a:p>
            <a:pPr>
              <a:lnSpc>
                <a:spcPts val="2310"/>
              </a:lnSpc>
              <a:spcBef>
                <a:spcPts val="0"/>
              </a:spcBef>
              <a:spcAft>
                <a:spcPts val="0"/>
              </a:spcAft>
              <a:defRPr sz="2200" b="0">
                <a:solidFill>
                  <a:srgbClr val="182B3A"/>
                </a:solidFill>
                <a:latin typeface="Arial"/>
              </a:defRPr>
            </a:pPr>
            <a:r>
              <a:t>In 6 − (−3), the first − means subtract;</a:t>
            </a:r>
          </a:p>
          <a:p>
            <a:pPr>
              <a:lnSpc>
                <a:spcPts val="2310"/>
              </a:lnSpc>
              <a:spcBef>
                <a:spcPts val="0"/>
              </a:spcBef>
              <a:spcAft>
                <a:spcPts val="0"/>
              </a:spcAft>
              <a:defRPr sz="2200" b="0">
                <a:solidFill>
                  <a:srgbClr val="182B3A"/>
                </a:solidFill>
                <a:latin typeface="Arial"/>
              </a:defRPr>
            </a:pPr>
            <a:r>
              <a:t>the − inside brackets belongs to the number −3.</a:t>
            </a:r>
          </a:p>
        </p:txBody>
      </p:sp>
      <p:sp>
        <p:nvSpPr>
          <p:cNvPr id="24" name="Rectangle 23"/>
          <p:cNvSpPr/>
          <p:nvPr/>
        </p:nvSpPr>
        <p:spPr>
          <a:xfrm>
            <a:off x="365760" y="6080760"/>
            <a:ext cx="13898880" cy="704088"/>
          </a:xfrm>
          <a:prstGeom prst="rect">
            <a:avLst/>
          </a:prstGeom>
          <a:solidFill>
            <a:srgbClr val="E8EDF1"/>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502920" y="6199632"/>
            <a:ext cx="13624560" cy="448056"/>
          </a:xfrm>
          <a:prstGeom prst="rect">
            <a:avLst/>
          </a:prstGeom>
          <a:noFill/>
        </p:spPr>
        <p:txBody>
          <a:bodyPr wrap="square" lIns="54864" rIns="54864" tIns="22860" bIns="22860">
            <a:spAutoFit/>
          </a:bodyPr>
          <a:lstStyle/>
          <a:p>
            <a:pPr>
              <a:lnSpc>
                <a:spcPts val="2415"/>
              </a:lnSpc>
              <a:spcBef>
                <a:spcPts val="0"/>
              </a:spcBef>
              <a:spcAft>
                <a:spcPts val="0"/>
              </a:spcAft>
              <a:defRPr sz="2300" b="1">
                <a:solidFill>
                  <a:srgbClr val="182B3A"/>
                </a:solidFill>
                <a:latin typeface="Arial"/>
              </a:defRPr>
            </a:pPr>
            <a:r>
              <a:t>To subtract a number, add its opposite. Keep the first number unchanged.</a:t>
            </a:r>
          </a:p>
        </p:txBody>
      </p:sp>
      <p:sp>
        <p:nvSpPr>
          <p:cNvPr id="26" name="TextBox 25"/>
          <p:cNvSpPr txBox="1"/>
          <p:nvPr/>
        </p:nvSpPr>
        <p:spPr>
          <a:xfrm>
            <a:off x="457200" y="7022592"/>
            <a:ext cx="13716000" cy="694944"/>
          </a:xfrm>
          <a:prstGeom prst="rect">
            <a:avLst/>
          </a:prstGeom>
          <a:noFill/>
        </p:spPr>
        <p:txBody>
          <a:bodyPr wrap="square" lIns="54864" rIns="54864" tIns="22860" bIns="22860">
            <a:spAutoFit/>
          </a:bodyPr>
          <a:lstStyle/>
          <a:p>
            <a:pPr>
              <a:lnSpc>
                <a:spcPts val="2310"/>
              </a:lnSpc>
              <a:spcBef>
                <a:spcPts val="0"/>
              </a:spcBef>
              <a:spcAft>
                <a:spcPts val="0"/>
              </a:spcAft>
              <a:defRPr sz="2200" b="0">
                <a:solidFill>
                  <a:srgbClr val="182B3A"/>
                </a:solidFill>
                <a:latin typeface="Arial"/>
              </a:defRPr>
            </a:pPr>
            <a:r>
              <a:t>Two negative numbers do not automatically give a positive answer:</a:t>
            </a:r>
          </a:p>
          <a:p>
            <a:pPr>
              <a:lnSpc>
                <a:spcPts val="2310"/>
              </a:lnSpc>
              <a:spcBef>
                <a:spcPts val="0"/>
              </a:spcBef>
              <a:spcAft>
                <a:spcPts val="0"/>
              </a:spcAft>
              <a:defRPr sz="2200" b="0">
                <a:solidFill>
                  <a:srgbClr val="182B3A"/>
                </a:solidFill>
                <a:latin typeface="Arial"/>
              </a:defRPr>
            </a:pPr>
            <a:r>
              <a:t>−4 + (−3) = −7.</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F7F8FA"/>
        </a:solidFill>
        <a:effectLst/>
      </p:bgPr>
    </p:bg>
    <p:spTree>
      <p:nvGrpSpPr>
        <p:cNvPr id="1" name=""/>
        <p:cNvGrpSpPr/>
        <p:nvPr/>
      </p:nvGrpSpPr>
      <p:grpSpPr/>
      <p:sp>
        <p:nvSpPr>
          <p:cNvPr id="2" name="Rectangle 1"/>
          <p:cNvSpPr/>
          <p:nvPr/>
        </p:nvSpPr>
        <p:spPr>
          <a:xfrm>
            <a:off x="0" y="0"/>
            <a:ext cx="14630400" cy="73152"/>
          </a:xfrm>
          <a:prstGeom prst="rect">
            <a:avLst/>
          </a:prstGeom>
          <a:solidFill>
            <a:srgbClr val="176B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20040" y="164592"/>
            <a:ext cx="13990320" cy="457200"/>
          </a:xfrm>
          <a:prstGeom prst="rect">
            <a:avLst/>
          </a:prstGeom>
          <a:noFill/>
        </p:spPr>
        <p:txBody>
          <a:bodyPr wrap="square" lIns="54864" rIns="54864" tIns="22860" bIns="22860">
            <a:spAutoFit/>
          </a:bodyPr>
          <a:lstStyle/>
          <a:p>
            <a:pPr>
              <a:lnSpc>
                <a:spcPts val="2940"/>
              </a:lnSpc>
              <a:spcBef>
                <a:spcPts val="0"/>
              </a:spcBef>
              <a:spcAft>
                <a:spcPts val="0"/>
              </a:spcAft>
              <a:defRPr sz="2800" b="1">
                <a:solidFill>
                  <a:srgbClr val="182B3A"/>
                </a:solidFill>
                <a:latin typeface="Arial"/>
              </a:defRPr>
            </a:pPr>
            <a:r>
              <a:t>Signed numbers: addition and subtraction</a:t>
            </a:r>
          </a:p>
        </p:txBody>
      </p:sp>
      <p:sp>
        <p:nvSpPr>
          <p:cNvPr id="4" name="TextBox 3"/>
          <p:cNvSpPr txBox="1"/>
          <p:nvPr/>
        </p:nvSpPr>
        <p:spPr>
          <a:xfrm>
            <a:off x="320040" y="704088"/>
            <a:ext cx="13990320" cy="347472"/>
          </a:xfrm>
          <a:prstGeom prst="rect">
            <a:avLst/>
          </a:prstGeom>
          <a:noFill/>
        </p:spPr>
        <p:txBody>
          <a:bodyPr wrap="square" lIns="54864" rIns="54864" tIns="22860" bIns="22860">
            <a:spAutoFit/>
          </a:bodyPr>
          <a:lstStyle/>
          <a:p>
            <a:pPr>
              <a:lnSpc>
                <a:spcPts val="1575"/>
              </a:lnSpc>
              <a:spcBef>
                <a:spcPts val="0"/>
              </a:spcBef>
              <a:spcAft>
                <a:spcPts val="0"/>
              </a:spcAft>
              <a:defRPr sz="1500" b="0">
                <a:solidFill>
                  <a:srgbClr val="526472"/>
                </a:solidFill>
                <a:latin typeface="Arial"/>
              </a:defRPr>
            </a:pPr>
            <a:r>
              <a:t>Worked demo • Follow each calculation.</a:t>
            </a:r>
          </a:p>
        </p:txBody>
      </p:sp>
      <p:sp>
        <p:nvSpPr>
          <p:cNvPr id="5" name="TextBox 4"/>
          <p:cNvSpPr txBox="1"/>
          <p:nvPr/>
        </p:nvSpPr>
        <p:spPr>
          <a:xfrm>
            <a:off x="320040" y="7973568"/>
            <a:ext cx="10789920" cy="210312"/>
          </a:xfrm>
          <a:prstGeom prst="rect">
            <a:avLst/>
          </a:prstGeom>
          <a:noFill/>
        </p:spPr>
        <p:txBody>
          <a:bodyPr wrap="square" lIns="54864" rIns="54864" tIns="22860" bIns="22860">
            <a:spAutoFit/>
          </a:bodyPr>
          <a:lstStyle/>
          <a:p>
            <a:pPr>
              <a:lnSpc>
                <a:spcPts val="1155"/>
              </a:lnSpc>
              <a:spcBef>
                <a:spcPts val="0"/>
              </a:spcBef>
              <a:spcAft>
                <a:spcPts val="0"/>
              </a:spcAft>
              <a:defRPr sz="1100" b="0">
                <a:solidFill>
                  <a:srgbClr val="526472"/>
                </a:solidFill>
                <a:latin typeface="Arial"/>
              </a:defRPr>
            </a:pPr>
            <a:r>
              <a:t>GCSE Maths revision • No calculator • Show your working.</a:t>
            </a:r>
          </a:p>
        </p:txBody>
      </p:sp>
      <p:sp>
        <p:nvSpPr>
          <p:cNvPr id="6" name="TextBox 5"/>
          <p:cNvSpPr txBox="1"/>
          <p:nvPr/>
        </p:nvSpPr>
        <p:spPr>
          <a:xfrm>
            <a:off x="11155680" y="7973568"/>
            <a:ext cx="3108960" cy="210312"/>
          </a:xfrm>
          <a:prstGeom prst="rect">
            <a:avLst/>
          </a:prstGeom>
          <a:noFill/>
        </p:spPr>
        <p:txBody>
          <a:bodyPr wrap="square" lIns="54864" rIns="54864" tIns="22860" bIns="22860">
            <a:spAutoFit/>
          </a:bodyPr>
          <a:lstStyle/>
          <a:p>
            <a:pPr>
              <a:lnSpc>
                <a:spcPts val="1155"/>
              </a:lnSpc>
              <a:spcBef>
                <a:spcPts val="0"/>
              </a:spcBef>
              <a:spcAft>
                <a:spcPts val="0"/>
              </a:spcAft>
              <a:defRPr sz="1100" b="0">
                <a:solidFill>
                  <a:srgbClr val="526472"/>
                </a:solidFill>
                <a:latin typeface="Arial"/>
              </a:defRPr>
            </a:pPr>
            <a:r>
              <a:t>M13-S01</a:t>
            </a:r>
          </a:p>
        </p:txBody>
      </p:sp>
      <p:sp>
        <p:nvSpPr>
          <p:cNvPr id="7" name="TextBox 6"/>
          <p:cNvSpPr txBox="1"/>
          <p:nvPr/>
        </p:nvSpPr>
        <p:spPr>
          <a:xfrm>
            <a:off x="365760" y="1069848"/>
            <a:ext cx="13807440" cy="548640"/>
          </a:xfrm>
          <a:prstGeom prst="rect">
            <a:avLst/>
          </a:prstGeom>
          <a:noFill/>
        </p:spPr>
        <p:txBody>
          <a:bodyPr wrap="square" lIns="54864" rIns="54864" tIns="22860" bIns="22860">
            <a:spAutoFit/>
          </a:bodyPr>
          <a:lstStyle/>
          <a:p>
            <a:pPr>
              <a:lnSpc>
                <a:spcPts val="1680"/>
              </a:lnSpc>
              <a:spcBef>
                <a:spcPts val="0"/>
              </a:spcBef>
              <a:spcAft>
                <a:spcPts val="0"/>
              </a:spcAft>
              <a:defRPr sz="1600" b="1">
                <a:solidFill>
                  <a:srgbClr val="182B3A"/>
                </a:solidFill>
                <a:latin typeface="Arial"/>
              </a:defRPr>
            </a:pPr>
            <a:r>
              <a:t>Adding a negative moves left: 4 + (−7) = 4 − 7 = −3.</a:t>
            </a:r>
          </a:p>
          <a:p>
            <a:pPr>
              <a:lnSpc>
                <a:spcPts val="1680"/>
              </a:lnSpc>
              <a:spcBef>
                <a:spcPts val="0"/>
              </a:spcBef>
              <a:spcAft>
                <a:spcPts val="0"/>
              </a:spcAft>
              <a:defRPr sz="1600" b="1">
                <a:solidFill>
                  <a:srgbClr val="182B3A"/>
                </a:solidFill>
                <a:latin typeface="Arial"/>
              </a:defRPr>
            </a:pPr>
            <a:r>
              <a:t>Subtracting a negative moves right: 6 − (−3) = 6 + 3 = 9.</a:t>
            </a:r>
          </a:p>
        </p:txBody>
      </p:sp>
      <p:sp>
        <p:nvSpPr>
          <p:cNvPr id="8" name="Rectangle 7"/>
          <p:cNvSpPr/>
          <p:nvPr/>
        </p:nvSpPr>
        <p:spPr>
          <a:xfrm>
            <a:off x="2121408" y="1709928"/>
            <a:ext cx="4040123" cy="420624"/>
          </a:xfrm>
          <a:prstGeom prst="rect">
            <a:avLst/>
          </a:prstGeom>
          <a:solidFill>
            <a:srgbClr val="176B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2148839" y="1741932"/>
            <a:ext cx="3980688" cy="329184"/>
          </a:xfrm>
          <a:prstGeom prst="rect">
            <a:avLst/>
          </a:prstGeom>
          <a:noFill/>
        </p:spPr>
        <p:txBody>
          <a:bodyPr wrap="square" lIns="54864" rIns="54864" tIns="22860" bIns="22860">
            <a:spAutoFit/>
          </a:bodyPr>
          <a:lstStyle/>
          <a:p>
            <a:pPr>
              <a:lnSpc>
                <a:spcPts val="1995"/>
              </a:lnSpc>
              <a:spcBef>
                <a:spcPts val="0"/>
              </a:spcBef>
              <a:spcAft>
                <a:spcPts val="0"/>
              </a:spcAft>
              <a:defRPr sz="1900" b="1">
                <a:solidFill>
                  <a:srgbClr val="FFFFFF"/>
                </a:solidFill>
                <a:latin typeface="Arial"/>
              </a:defRPr>
            </a:pPr>
            <a:r>
              <a:t>Start</a:t>
            </a:r>
          </a:p>
        </p:txBody>
      </p:sp>
      <p:sp>
        <p:nvSpPr>
          <p:cNvPr id="10" name="Rectangle 9"/>
          <p:cNvSpPr/>
          <p:nvPr/>
        </p:nvSpPr>
        <p:spPr>
          <a:xfrm>
            <a:off x="6184392" y="1709928"/>
            <a:ext cx="4040123" cy="420624"/>
          </a:xfrm>
          <a:prstGeom prst="rect">
            <a:avLst/>
          </a:prstGeom>
          <a:solidFill>
            <a:srgbClr val="3559A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211824" y="1741932"/>
            <a:ext cx="3980688" cy="329184"/>
          </a:xfrm>
          <a:prstGeom prst="rect">
            <a:avLst/>
          </a:prstGeom>
          <a:noFill/>
        </p:spPr>
        <p:txBody>
          <a:bodyPr wrap="square" lIns="54864" rIns="54864" tIns="22860" bIns="22860">
            <a:spAutoFit/>
          </a:bodyPr>
          <a:lstStyle/>
          <a:p>
            <a:pPr>
              <a:lnSpc>
                <a:spcPts val="1995"/>
              </a:lnSpc>
              <a:spcBef>
                <a:spcPts val="0"/>
              </a:spcBef>
              <a:spcAft>
                <a:spcPts val="0"/>
              </a:spcAft>
              <a:defRPr sz="1900" b="1">
                <a:solidFill>
                  <a:srgbClr val="FFFFFF"/>
                </a:solidFill>
                <a:latin typeface="Arial"/>
              </a:defRPr>
            </a:pPr>
            <a:r>
              <a:t>Build</a:t>
            </a:r>
          </a:p>
        </p:txBody>
      </p:sp>
      <p:sp>
        <p:nvSpPr>
          <p:cNvPr id="12" name="Rectangle 11"/>
          <p:cNvSpPr/>
          <p:nvPr/>
        </p:nvSpPr>
        <p:spPr>
          <a:xfrm>
            <a:off x="10247376" y="1709928"/>
            <a:ext cx="4040123" cy="420624"/>
          </a:xfrm>
          <a:prstGeom prst="rect">
            <a:avLst/>
          </a:prstGeom>
          <a:solidFill>
            <a:srgbClr val="754B8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0274808" y="1741932"/>
            <a:ext cx="3980688" cy="329184"/>
          </a:xfrm>
          <a:prstGeom prst="rect">
            <a:avLst/>
          </a:prstGeom>
          <a:noFill/>
        </p:spPr>
        <p:txBody>
          <a:bodyPr wrap="square" lIns="54864" rIns="54864" tIns="22860" bIns="22860">
            <a:spAutoFit/>
          </a:bodyPr>
          <a:lstStyle/>
          <a:p>
            <a:pPr>
              <a:lnSpc>
                <a:spcPts val="1995"/>
              </a:lnSpc>
              <a:spcBef>
                <a:spcPts val="0"/>
              </a:spcBef>
              <a:spcAft>
                <a:spcPts val="0"/>
              </a:spcAft>
              <a:defRPr sz="1900" b="1">
                <a:solidFill>
                  <a:srgbClr val="FFFFFF"/>
                </a:solidFill>
                <a:latin typeface="Arial"/>
              </a:defRPr>
            </a:pPr>
            <a:r>
              <a:t>Confidence</a:t>
            </a:r>
          </a:p>
        </p:txBody>
      </p:sp>
      <p:sp>
        <p:nvSpPr>
          <p:cNvPr id="14" name="Rectangle 13"/>
          <p:cNvSpPr/>
          <p:nvPr/>
        </p:nvSpPr>
        <p:spPr>
          <a:xfrm>
            <a:off x="320040" y="2157984"/>
            <a:ext cx="1801367" cy="685800"/>
          </a:xfrm>
          <a:prstGeom prst="rect">
            <a:avLst/>
          </a:prstGeom>
          <a:solidFill>
            <a:srgbClr val="E8EDF1"/>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374904" y="2249424"/>
            <a:ext cx="1691639" cy="530352"/>
          </a:xfrm>
          <a:prstGeom prst="rect">
            <a:avLst/>
          </a:prstGeom>
          <a:noFill/>
        </p:spPr>
        <p:txBody>
          <a:bodyPr wrap="square" lIns="54864" rIns="54864" tIns="22860" bIns="22860">
            <a:spAutoFit/>
          </a:bodyPr>
          <a:lstStyle/>
          <a:p>
            <a:pPr>
              <a:lnSpc>
                <a:spcPts val="1785"/>
              </a:lnSpc>
              <a:spcBef>
                <a:spcPts val="0"/>
              </a:spcBef>
              <a:spcAft>
                <a:spcPts val="0"/>
              </a:spcAft>
              <a:defRPr sz="1700" b="1">
                <a:solidFill>
                  <a:srgbClr val="182B3A"/>
                </a:solidFill>
                <a:latin typeface="Arial"/>
              </a:defRPr>
            </a:pPr>
            <a:r>
              <a:t>The Full Question</a:t>
            </a:r>
          </a:p>
        </p:txBody>
      </p:sp>
      <p:sp>
        <p:nvSpPr>
          <p:cNvPr id="16" name="Rectangle 15"/>
          <p:cNvSpPr/>
          <p:nvPr/>
        </p:nvSpPr>
        <p:spPr>
          <a:xfrm>
            <a:off x="2121408" y="2157984"/>
            <a:ext cx="4062984" cy="685800"/>
          </a:xfrm>
          <a:prstGeom prst="rect">
            <a:avLst/>
          </a:prstGeom>
          <a:solidFill>
            <a:srgbClr val="EDF6F5"/>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2194560" y="2240279"/>
            <a:ext cx="3916680" cy="539496"/>
          </a:xfrm>
          <a:prstGeom prst="rect">
            <a:avLst/>
          </a:prstGeom>
          <a:noFill/>
        </p:spPr>
        <p:txBody>
          <a:bodyPr wrap="square" lIns="54864" rIns="54864" tIns="22860" bIns="22860">
            <a:spAutoFit/>
          </a:bodyPr>
          <a:lstStyle/>
          <a:p>
            <a:pPr>
              <a:lnSpc>
                <a:spcPts val="2520"/>
              </a:lnSpc>
              <a:spcBef>
                <a:spcPts val="0"/>
              </a:spcBef>
              <a:spcAft>
                <a:spcPts val="0"/>
              </a:spcAft>
              <a:defRPr sz="2400" b="1">
                <a:solidFill>
                  <a:srgbClr val="182B3A"/>
                </a:solidFill>
                <a:latin typeface="Arial"/>
              </a:defRPr>
            </a:pPr>
            <a:r>
              <a:t>−4 + 7</a:t>
            </a:r>
          </a:p>
        </p:txBody>
      </p:sp>
      <p:sp>
        <p:nvSpPr>
          <p:cNvPr id="18" name="Rectangle 17"/>
          <p:cNvSpPr/>
          <p:nvPr/>
        </p:nvSpPr>
        <p:spPr>
          <a:xfrm>
            <a:off x="6184392" y="2157984"/>
            <a:ext cx="4062984" cy="685800"/>
          </a:xfrm>
          <a:prstGeom prst="rect">
            <a:avLst/>
          </a:prstGeom>
          <a:solidFill>
            <a:srgbClr val="EFF3FA"/>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257544" y="2240279"/>
            <a:ext cx="3916680" cy="539496"/>
          </a:xfrm>
          <a:prstGeom prst="rect">
            <a:avLst/>
          </a:prstGeom>
          <a:noFill/>
        </p:spPr>
        <p:txBody>
          <a:bodyPr wrap="square" lIns="54864" rIns="54864" tIns="22860" bIns="22860">
            <a:spAutoFit/>
          </a:bodyPr>
          <a:lstStyle/>
          <a:p>
            <a:pPr>
              <a:lnSpc>
                <a:spcPts val="2520"/>
              </a:lnSpc>
              <a:spcBef>
                <a:spcPts val="0"/>
              </a:spcBef>
              <a:spcAft>
                <a:spcPts val="0"/>
              </a:spcAft>
              <a:defRPr sz="2400" b="1">
                <a:solidFill>
                  <a:srgbClr val="182B3A"/>
                </a:solidFill>
                <a:latin typeface="Arial"/>
              </a:defRPr>
            </a:pPr>
            <a:r>
              <a:t>6 − (−3)</a:t>
            </a:r>
          </a:p>
        </p:txBody>
      </p:sp>
      <p:sp>
        <p:nvSpPr>
          <p:cNvPr id="20" name="Rectangle 19"/>
          <p:cNvSpPr/>
          <p:nvPr/>
        </p:nvSpPr>
        <p:spPr>
          <a:xfrm>
            <a:off x="10247376" y="2157984"/>
            <a:ext cx="4062984" cy="685800"/>
          </a:xfrm>
          <a:prstGeom prst="rect">
            <a:avLst/>
          </a:prstGeom>
          <a:solidFill>
            <a:srgbClr val="F5F0F7"/>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10320528" y="2240279"/>
            <a:ext cx="3916680" cy="539496"/>
          </a:xfrm>
          <a:prstGeom prst="rect">
            <a:avLst/>
          </a:prstGeom>
          <a:noFill/>
        </p:spPr>
        <p:txBody>
          <a:bodyPr wrap="square" lIns="54864" rIns="54864" tIns="22860" bIns="22860">
            <a:spAutoFit/>
          </a:bodyPr>
          <a:lstStyle/>
          <a:p>
            <a:pPr>
              <a:lnSpc>
                <a:spcPts val="2520"/>
              </a:lnSpc>
              <a:spcBef>
                <a:spcPts val="0"/>
              </a:spcBef>
              <a:spcAft>
                <a:spcPts val="0"/>
              </a:spcAft>
              <a:defRPr sz="2400" b="1">
                <a:solidFill>
                  <a:srgbClr val="182B3A"/>
                </a:solidFill>
                <a:latin typeface="Arial"/>
              </a:defRPr>
            </a:pPr>
            <a:r>
              <a:t>−5 + 8 − (−2)</a:t>
            </a:r>
          </a:p>
        </p:txBody>
      </p:sp>
      <p:sp>
        <p:nvSpPr>
          <p:cNvPr id="22" name="Rectangle 21"/>
          <p:cNvSpPr/>
          <p:nvPr/>
        </p:nvSpPr>
        <p:spPr>
          <a:xfrm>
            <a:off x="320040" y="2843784"/>
            <a:ext cx="1801367" cy="777240"/>
          </a:xfrm>
          <a:prstGeom prst="rect">
            <a:avLst/>
          </a:prstGeom>
          <a:solidFill>
            <a:srgbClr val="E8EDF1"/>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374904" y="2935224"/>
            <a:ext cx="1691639" cy="621792"/>
          </a:xfrm>
          <a:prstGeom prst="rect">
            <a:avLst/>
          </a:prstGeom>
          <a:noFill/>
        </p:spPr>
        <p:txBody>
          <a:bodyPr wrap="square" lIns="54864" rIns="54864" tIns="22860" bIns="22860">
            <a:spAutoFit/>
          </a:bodyPr>
          <a:lstStyle/>
          <a:p>
            <a:pPr>
              <a:lnSpc>
                <a:spcPts val="1785"/>
              </a:lnSpc>
              <a:spcBef>
                <a:spcPts val="0"/>
              </a:spcBef>
              <a:spcAft>
                <a:spcPts val="0"/>
              </a:spcAft>
              <a:defRPr sz="1700" b="1">
                <a:solidFill>
                  <a:srgbClr val="182B3A"/>
                </a:solidFill>
                <a:latin typeface="Arial"/>
              </a:defRPr>
            </a:pPr>
            <a:r>
              <a:t>Read the Signs</a:t>
            </a:r>
          </a:p>
        </p:txBody>
      </p:sp>
      <p:sp>
        <p:nvSpPr>
          <p:cNvPr id="24" name="Rectangle 23"/>
          <p:cNvSpPr/>
          <p:nvPr/>
        </p:nvSpPr>
        <p:spPr>
          <a:xfrm>
            <a:off x="2121408" y="2843784"/>
            <a:ext cx="4062984" cy="777240"/>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2194560" y="2926079"/>
            <a:ext cx="3916680" cy="630936"/>
          </a:xfrm>
          <a:prstGeom prst="rect">
            <a:avLst/>
          </a:prstGeom>
          <a:noFill/>
        </p:spPr>
        <p:txBody>
          <a:bodyPr wrap="square" lIns="54864" rIns="54864" tIns="22860" bIns="22860">
            <a:spAutoFit/>
          </a:bodyPr>
          <a:lstStyle/>
          <a:p>
            <a:pPr>
              <a:lnSpc>
                <a:spcPts val="1785"/>
              </a:lnSpc>
              <a:spcBef>
                <a:spcPts val="0"/>
              </a:spcBef>
              <a:spcAft>
                <a:spcPts val="0"/>
              </a:spcAft>
              <a:defRPr sz="1700" b="0">
                <a:solidFill>
                  <a:srgbClr val="182B3A"/>
                </a:solidFill>
                <a:latin typeface="Arial"/>
              </a:defRPr>
            </a:pPr>
            <a:r>
              <a:t>Start at −4; add positive 7.</a:t>
            </a:r>
          </a:p>
        </p:txBody>
      </p:sp>
      <p:sp>
        <p:nvSpPr>
          <p:cNvPr id="26" name="Rectangle 25"/>
          <p:cNvSpPr/>
          <p:nvPr/>
        </p:nvSpPr>
        <p:spPr>
          <a:xfrm>
            <a:off x="6184392" y="2843784"/>
            <a:ext cx="4062984" cy="777240"/>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6257544" y="2926079"/>
            <a:ext cx="3916680" cy="630936"/>
          </a:xfrm>
          <a:prstGeom prst="rect">
            <a:avLst/>
          </a:prstGeom>
          <a:noFill/>
        </p:spPr>
        <p:txBody>
          <a:bodyPr wrap="square" lIns="54864" rIns="54864" tIns="22860" bIns="22860">
            <a:spAutoFit/>
          </a:bodyPr>
          <a:lstStyle/>
          <a:p>
            <a:pPr>
              <a:lnSpc>
                <a:spcPts val="1785"/>
              </a:lnSpc>
              <a:spcBef>
                <a:spcPts val="0"/>
              </a:spcBef>
              <a:spcAft>
                <a:spcPts val="0"/>
              </a:spcAft>
              <a:defRPr sz="1700" b="0">
                <a:solidFill>
                  <a:srgbClr val="182B3A"/>
                </a:solidFill>
                <a:latin typeface="Arial"/>
              </a:defRPr>
            </a:pPr>
            <a:r>
              <a:t>Start at 6; subtract negative 3.</a:t>
            </a:r>
          </a:p>
        </p:txBody>
      </p:sp>
      <p:sp>
        <p:nvSpPr>
          <p:cNvPr id="28" name="Rectangle 27"/>
          <p:cNvSpPr/>
          <p:nvPr/>
        </p:nvSpPr>
        <p:spPr>
          <a:xfrm>
            <a:off x="10247376" y="2843784"/>
            <a:ext cx="4062984" cy="777240"/>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10320528" y="2926079"/>
            <a:ext cx="3916680" cy="630936"/>
          </a:xfrm>
          <a:prstGeom prst="rect">
            <a:avLst/>
          </a:prstGeom>
          <a:noFill/>
        </p:spPr>
        <p:txBody>
          <a:bodyPr wrap="square" lIns="54864" rIns="54864" tIns="22860" bIns="22860">
            <a:spAutoFit/>
          </a:bodyPr>
          <a:lstStyle/>
          <a:p>
            <a:pPr>
              <a:lnSpc>
                <a:spcPts val="1785"/>
              </a:lnSpc>
              <a:spcBef>
                <a:spcPts val="0"/>
              </a:spcBef>
              <a:spcAft>
                <a:spcPts val="0"/>
              </a:spcAft>
              <a:defRPr sz="1700" b="0">
                <a:solidFill>
                  <a:srgbClr val="182B3A"/>
                </a:solidFill>
                <a:latin typeface="Arial"/>
              </a:defRPr>
            </a:pPr>
            <a:r>
              <a:t>Add positive 8, then subtract negative 2.</a:t>
            </a:r>
          </a:p>
        </p:txBody>
      </p:sp>
      <p:sp>
        <p:nvSpPr>
          <p:cNvPr id="30" name="Rectangle 29"/>
          <p:cNvSpPr/>
          <p:nvPr/>
        </p:nvSpPr>
        <p:spPr>
          <a:xfrm>
            <a:off x="320040" y="3621024"/>
            <a:ext cx="1801367" cy="777240"/>
          </a:xfrm>
          <a:prstGeom prst="rect">
            <a:avLst/>
          </a:prstGeom>
          <a:solidFill>
            <a:srgbClr val="E8EDF1"/>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374904" y="3712463"/>
            <a:ext cx="1691639" cy="621792"/>
          </a:xfrm>
          <a:prstGeom prst="rect">
            <a:avLst/>
          </a:prstGeom>
          <a:noFill/>
        </p:spPr>
        <p:txBody>
          <a:bodyPr wrap="square" lIns="54864" rIns="54864" tIns="22860" bIns="22860">
            <a:spAutoFit/>
          </a:bodyPr>
          <a:lstStyle/>
          <a:p>
            <a:pPr>
              <a:lnSpc>
                <a:spcPts val="1785"/>
              </a:lnSpc>
              <a:spcBef>
                <a:spcPts val="0"/>
              </a:spcBef>
              <a:spcAft>
                <a:spcPts val="0"/>
              </a:spcAft>
              <a:defRPr sz="1700" b="1">
                <a:solidFill>
                  <a:srgbClr val="182B3A"/>
                </a:solidFill>
                <a:latin typeface="Arial"/>
              </a:defRPr>
            </a:pPr>
            <a:r>
              <a:t>Rewrite the Calculation</a:t>
            </a:r>
          </a:p>
        </p:txBody>
      </p:sp>
      <p:sp>
        <p:nvSpPr>
          <p:cNvPr id="32" name="Rectangle 31"/>
          <p:cNvSpPr/>
          <p:nvPr/>
        </p:nvSpPr>
        <p:spPr>
          <a:xfrm>
            <a:off x="2121408" y="3621024"/>
            <a:ext cx="4062984" cy="777240"/>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2194560" y="3703320"/>
            <a:ext cx="3916680" cy="630936"/>
          </a:xfrm>
          <a:prstGeom prst="rect">
            <a:avLst/>
          </a:prstGeom>
          <a:noFill/>
        </p:spPr>
        <p:txBody>
          <a:bodyPr wrap="square" lIns="54864" rIns="54864" tIns="22860" bIns="22860">
            <a:spAutoFit/>
          </a:bodyPr>
          <a:lstStyle/>
          <a:p>
            <a:pPr>
              <a:lnSpc>
                <a:spcPts val="1785"/>
              </a:lnSpc>
              <a:spcBef>
                <a:spcPts val="0"/>
              </a:spcBef>
              <a:spcAft>
                <a:spcPts val="0"/>
              </a:spcAft>
              <a:defRPr sz="1700" b="0">
                <a:solidFill>
                  <a:srgbClr val="182B3A"/>
                </a:solidFill>
                <a:latin typeface="Arial"/>
              </a:defRPr>
            </a:pPr>
            <a:r>
              <a:t>−4 + 7 is already an addition.</a:t>
            </a:r>
          </a:p>
        </p:txBody>
      </p:sp>
      <p:sp>
        <p:nvSpPr>
          <p:cNvPr id="34" name="Rectangle 33"/>
          <p:cNvSpPr/>
          <p:nvPr/>
        </p:nvSpPr>
        <p:spPr>
          <a:xfrm>
            <a:off x="6184392" y="3621024"/>
            <a:ext cx="4062984" cy="777240"/>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257544" y="3703320"/>
            <a:ext cx="3916680" cy="630936"/>
          </a:xfrm>
          <a:prstGeom prst="rect">
            <a:avLst/>
          </a:prstGeom>
          <a:noFill/>
        </p:spPr>
        <p:txBody>
          <a:bodyPr wrap="square" lIns="54864" rIns="54864" tIns="22860" bIns="22860">
            <a:spAutoFit/>
          </a:bodyPr>
          <a:lstStyle/>
          <a:p>
            <a:pPr>
              <a:lnSpc>
                <a:spcPts val="1785"/>
              </a:lnSpc>
              <a:spcBef>
                <a:spcPts val="0"/>
              </a:spcBef>
              <a:spcAft>
                <a:spcPts val="0"/>
              </a:spcAft>
              <a:defRPr sz="1700" b="0">
                <a:solidFill>
                  <a:srgbClr val="182B3A"/>
                </a:solidFill>
                <a:latin typeface="Arial"/>
              </a:defRPr>
            </a:pPr>
            <a:r>
              <a:t>6 − (−3) = 6 + 3.</a:t>
            </a:r>
          </a:p>
        </p:txBody>
      </p:sp>
      <p:sp>
        <p:nvSpPr>
          <p:cNvPr id="36" name="Rectangle 35"/>
          <p:cNvSpPr/>
          <p:nvPr/>
        </p:nvSpPr>
        <p:spPr>
          <a:xfrm>
            <a:off x="10247376" y="3621024"/>
            <a:ext cx="4062984" cy="777240"/>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10320528" y="3703320"/>
            <a:ext cx="3916680" cy="630936"/>
          </a:xfrm>
          <a:prstGeom prst="rect">
            <a:avLst/>
          </a:prstGeom>
          <a:noFill/>
        </p:spPr>
        <p:txBody>
          <a:bodyPr wrap="square" lIns="54864" rIns="54864" tIns="22860" bIns="22860">
            <a:spAutoFit/>
          </a:bodyPr>
          <a:lstStyle/>
          <a:p>
            <a:pPr>
              <a:lnSpc>
                <a:spcPts val="1785"/>
              </a:lnSpc>
              <a:spcBef>
                <a:spcPts val="0"/>
              </a:spcBef>
              <a:spcAft>
                <a:spcPts val="0"/>
              </a:spcAft>
              <a:defRPr sz="1700" b="0">
                <a:solidFill>
                  <a:srgbClr val="182B3A"/>
                </a:solidFill>
                <a:latin typeface="Arial"/>
              </a:defRPr>
            </a:pPr>
            <a:r>
              <a:t>−5 + 8 + 2.</a:t>
            </a:r>
          </a:p>
        </p:txBody>
      </p:sp>
      <p:sp>
        <p:nvSpPr>
          <p:cNvPr id="38" name="Rectangle 37"/>
          <p:cNvSpPr/>
          <p:nvPr/>
        </p:nvSpPr>
        <p:spPr>
          <a:xfrm>
            <a:off x="320040" y="4398264"/>
            <a:ext cx="1801367" cy="1920240"/>
          </a:xfrm>
          <a:prstGeom prst="rect">
            <a:avLst/>
          </a:prstGeom>
          <a:solidFill>
            <a:srgbClr val="E8EDF1"/>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374904" y="4489703"/>
            <a:ext cx="1691639" cy="1764792"/>
          </a:xfrm>
          <a:prstGeom prst="rect">
            <a:avLst/>
          </a:prstGeom>
          <a:noFill/>
        </p:spPr>
        <p:txBody>
          <a:bodyPr wrap="square" lIns="54864" rIns="54864" tIns="22860" bIns="22860">
            <a:spAutoFit/>
          </a:bodyPr>
          <a:lstStyle/>
          <a:p>
            <a:pPr>
              <a:lnSpc>
                <a:spcPts val="1785"/>
              </a:lnSpc>
              <a:spcBef>
                <a:spcPts val="0"/>
              </a:spcBef>
              <a:spcAft>
                <a:spcPts val="0"/>
              </a:spcAft>
              <a:defRPr sz="1700" b="1">
                <a:solidFill>
                  <a:srgbClr val="182B3A"/>
                </a:solidFill>
                <a:latin typeface="Arial"/>
              </a:defRPr>
            </a:pPr>
            <a:r>
              <a:t>Calculate</a:t>
            </a:r>
          </a:p>
        </p:txBody>
      </p:sp>
      <p:sp>
        <p:nvSpPr>
          <p:cNvPr id="40" name="Rectangle 39"/>
          <p:cNvSpPr/>
          <p:nvPr/>
        </p:nvSpPr>
        <p:spPr>
          <a:xfrm>
            <a:off x="2121408" y="4398264"/>
            <a:ext cx="4062984" cy="1920240"/>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2194560" y="4480559"/>
            <a:ext cx="3916680" cy="548640"/>
          </a:xfrm>
          <a:prstGeom prst="rect">
            <a:avLst/>
          </a:prstGeom>
          <a:noFill/>
        </p:spPr>
        <p:txBody>
          <a:bodyPr wrap="square" lIns="54864" rIns="54864" tIns="22860" bIns="22860">
            <a:spAutoFit/>
          </a:bodyPr>
          <a:lstStyle/>
          <a:p>
            <a:pPr>
              <a:lnSpc>
                <a:spcPts val="1785"/>
              </a:lnSpc>
              <a:spcBef>
                <a:spcPts val="0"/>
              </a:spcBef>
              <a:spcAft>
                <a:spcPts val="0"/>
              </a:spcAft>
              <a:defRPr sz="1700" b="0">
                <a:solidFill>
                  <a:srgbClr val="182B3A"/>
                </a:solidFill>
                <a:latin typeface="Arial"/>
              </a:defRPr>
            </a:pPr>
            <a:r>
              <a:t>Move 4 right to 0, then 3 right: 3.</a:t>
            </a:r>
          </a:p>
        </p:txBody>
      </p:sp>
      <p:cxnSp>
        <p:nvCxnSpPr>
          <p:cNvPr id="42" name="Connector 41"/>
          <p:cNvCxnSpPr/>
          <p:nvPr/>
        </p:nvCxnSpPr>
        <p:spPr>
          <a:xfrm>
            <a:off x="2395728" y="5916168"/>
            <a:ext cx="3514344" cy="0"/>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cxnSp>
        <p:nvCxnSpPr>
          <p:cNvPr id="43" name="Connector 42"/>
          <p:cNvCxnSpPr/>
          <p:nvPr/>
        </p:nvCxnSpPr>
        <p:spPr>
          <a:xfrm>
            <a:off x="2395728" y="5879592"/>
            <a:ext cx="0" cy="73152"/>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sp>
        <p:nvSpPr>
          <p:cNvPr id="44" name="TextBox 43"/>
          <p:cNvSpPr txBox="1"/>
          <p:nvPr/>
        </p:nvSpPr>
        <p:spPr>
          <a:xfrm>
            <a:off x="2203196" y="5980176"/>
            <a:ext cx="310896" cy="201168"/>
          </a:xfrm>
          <a:prstGeom prst="rect">
            <a:avLst/>
          </a:prstGeom>
          <a:noFill/>
        </p:spPr>
        <p:txBody>
          <a:bodyPr wrap="square" lIns="0" rIns="0" tIns="22860" bIns="22860">
            <a:spAutoFit/>
          </a:bodyPr>
          <a:lstStyle/>
          <a:p>
            <a:pPr algn="ctr">
              <a:lnSpc>
                <a:spcPts val="1050"/>
              </a:lnSpc>
              <a:spcBef>
                <a:spcPts val="0"/>
              </a:spcBef>
              <a:spcAft>
                <a:spcPts val="0"/>
              </a:spcAft>
              <a:defRPr sz="1000" b="0">
                <a:solidFill>
                  <a:srgbClr val="182B3A"/>
                </a:solidFill>
                <a:latin typeface="Arial"/>
              </a:defRPr>
            </a:pPr>
            <a:r>
              <a:t>−5</a:t>
            </a:r>
          </a:p>
        </p:txBody>
      </p:sp>
      <p:cxnSp>
        <p:nvCxnSpPr>
          <p:cNvPr id="45" name="Connector 44"/>
          <p:cNvCxnSpPr/>
          <p:nvPr/>
        </p:nvCxnSpPr>
        <p:spPr>
          <a:xfrm>
            <a:off x="2786210" y="5879592"/>
            <a:ext cx="0" cy="73152"/>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sp>
        <p:nvSpPr>
          <p:cNvPr id="46" name="TextBox 45"/>
          <p:cNvSpPr txBox="1"/>
          <p:nvPr/>
        </p:nvSpPr>
        <p:spPr>
          <a:xfrm>
            <a:off x="2593678" y="5980176"/>
            <a:ext cx="310896" cy="201168"/>
          </a:xfrm>
          <a:prstGeom prst="rect">
            <a:avLst/>
          </a:prstGeom>
          <a:noFill/>
        </p:spPr>
        <p:txBody>
          <a:bodyPr wrap="square" lIns="0" rIns="0" tIns="22860" bIns="22860">
            <a:spAutoFit/>
          </a:bodyPr>
          <a:lstStyle/>
          <a:p>
            <a:pPr algn="ctr">
              <a:lnSpc>
                <a:spcPts val="1050"/>
              </a:lnSpc>
              <a:spcBef>
                <a:spcPts val="0"/>
              </a:spcBef>
              <a:spcAft>
                <a:spcPts val="0"/>
              </a:spcAft>
              <a:defRPr sz="1000" b="0">
                <a:solidFill>
                  <a:srgbClr val="182B3A"/>
                </a:solidFill>
                <a:latin typeface="Arial"/>
              </a:defRPr>
            </a:pPr>
            <a:r>
              <a:t>−4</a:t>
            </a:r>
          </a:p>
        </p:txBody>
      </p:sp>
      <p:cxnSp>
        <p:nvCxnSpPr>
          <p:cNvPr id="47" name="Connector 46"/>
          <p:cNvCxnSpPr/>
          <p:nvPr/>
        </p:nvCxnSpPr>
        <p:spPr>
          <a:xfrm>
            <a:off x="3176693" y="5879592"/>
            <a:ext cx="0" cy="73152"/>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sp>
        <p:nvSpPr>
          <p:cNvPr id="48" name="TextBox 47"/>
          <p:cNvSpPr txBox="1"/>
          <p:nvPr/>
        </p:nvSpPr>
        <p:spPr>
          <a:xfrm>
            <a:off x="2984161" y="5980176"/>
            <a:ext cx="310896" cy="201168"/>
          </a:xfrm>
          <a:prstGeom prst="rect">
            <a:avLst/>
          </a:prstGeom>
          <a:noFill/>
        </p:spPr>
        <p:txBody>
          <a:bodyPr wrap="square" lIns="0" rIns="0" tIns="22860" bIns="22860">
            <a:spAutoFit/>
          </a:bodyPr>
          <a:lstStyle/>
          <a:p>
            <a:pPr algn="ctr">
              <a:lnSpc>
                <a:spcPts val="1050"/>
              </a:lnSpc>
              <a:spcBef>
                <a:spcPts val="0"/>
              </a:spcBef>
              <a:spcAft>
                <a:spcPts val="0"/>
              </a:spcAft>
              <a:defRPr sz="1000" b="0">
                <a:solidFill>
                  <a:srgbClr val="182B3A"/>
                </a:solidFill>
                <a:latin typeface="Arial"/>
              </a:defRPr>
            </a:pPr>
            <a:r>
              <a:t>−3</a:t>
            </a:r>
          </a:p>
        </p:txBody>
      </p:sp>
      <p:cxnSp>
        <p:nvCxnSpPr>
          <p:cNvPr id="49" name="Connector 48"/>
          <p:cNvCxnSpPr/>
          <p:nvPr/>
        </p:nvCxnSpPr>
        <p:spPr>
          <a:xfrm>
            <a:off x="3567176" y="5879592"/>
            <a:ext cx="0" cy="73152"/>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sp>
        <p:nvSpPr>
          <p:cNvPr id="50" name="TextBox 49"/>
          <p:cNvSpPr txBox="1"/>
          <p:nvPr/>
        </p:nvSpPr>
        <p:spPr>
          <a:xfrm>
            <a:off x="3374644" y="5980176"/>
            <a:ext cx="310896" cy="201168"/>
          </a:xfrm>
          <a:prstGeom prst="rect">
            <a:avLst/>
          </a:prstGeom>
          <a:noFill/>
        </p:spPr>
        <p:txBody>
          <a:bodyPr wrap="square" lIns="0" rIns="0" tIns="22860" bIns="22860">
            <a:spAutoFit/>
          </a:bodyPr>
          <a:lstStyle/>
          <a:p>
            <a:pPr algn="ctr">
              <a:lnSpc>
                <a:spcPts val="1050"/>
              </a:lnSpc>
              <a:spcBef>
                <a:spcPts val="0"/>
              </a:spcBef>
              <a:spcAft>
                <a:spcPts val="0"/>
              </a:spcAft>
              <a:defRPr sz="1000" b="0">
                <a:solidFill>
                  <a:srgbClr val="182B3A"/>
                </a:solidFill>
                <a:latin typeface="Arial"/>
              </a:defRPr>
            </a:pPr>
            <a:r>
              <a:t>−2</a:t>
            </a:r>
          </a:p>
        </p:txBody>
      </p:sp>
      <p:cxnSp>
        <p:nvCxnSpPr>
          <p:cNvPr id="51" name="Connector 50"/>
          <p:cNvCxnSpPr/>
          <p:nvPr/>
        </p:nvCxnSpPr>
        <p:spPr>
          <a:xfrm>
            <a:off x="3957658" y="5879592"/>
            <a:ext cx="0" cy="73152"/>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sp>
        <p:nvSpPr>
          <p:cNvPr id="52" name="TextBox 51"/>
          <p:cNvSpPr txBox="1"/>
          <p:nvPr/>
        </p:nvSpPr>
        <p:spPr>
          <a:xfrm>
            <a:off x="3765126" y="5980176"/>
            <a:ext cx="310896" cy="201168"/>
          </a:xfrm>
          <a:prstGeom prst="rect">
            <a:avLst/>
          </a:prstGeom>
          <a:noFill/>
        </p:spPr>
        <p:txBody>
          <a:bodyPr wrap="square" lIns="0" rIns="0" tIns="22860" bIns="22860">
            <a:spAutoFit/>
          </a:bodyPr>
          <a:lstStyle/>
          <a:p>
            <a:pPr algn="ctr">
              <a:lnSpc>
                <a:spcPts val="1050"/>
              </a:lnSpc>
              <a:spcBef>
                <a:spcPts val="0"/>
              </a:spcBef>
              <a:spcAft>
                <a:spcPts val="0"/>
              </a:spcAft>
              <a:defRPr sz="1000" b="0">
                <a:solidFill>
                  <a:srgbClr val="182B3A"/>
                </a:solidFill>
                <a:latin typeface="Arial"/>
              </a:defRPr>
            </a:pPr>
            <a:r>
              <a:t>−1</a:t>
            </a:r>
          </a:p>
        </p:txBody>
      </p:sp>
      <p:cxnSp>
        <p:nvCxnSpPr>
          <p:cNvPr id="53" name="Connector 52"/>
          <p:cNvCxnSpPr/>
          <p:nvPr/>
        </p:nvCxnSpPr>
        <p:spPr>
          <a:xfrm>
            <a:off x="4348141" y="5879592"/>
            <a:ext cx="0" cy="73152"/>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sp>
        <p:nvSpPr>
          <p:cNvPr id="54" name="TextBox 53"/>
          <p:cNvSpPr txBox="1"/>
          <p:nvPr/>
        </p:nvSpPr>
        <p:spPr>
          <a:xfrm>
            <a:off x="4192693" y="5980176"/>
            <a:ext cx="310896" cy="201168"/>
          </a:xfrm>
          <a:prstGeom prst="rect">
            <a:avLst/>
          </a:prstGeom>
          <a:noFill/>
        </p:spPr>
        <p:txBody>
          <a:bodyPr wrap="square" lIns="0" rIns="0" tIns="22860" bIns="22860">
            <a:spAutoFit/>
          </a:bodyPr>
          <a:lstStyle/>
          <a:p>
            <a:pPr algn="ctr">
              <a:lnSpc>
                <a:spcPts val="1050"/>
              </a:lnSpc>
              <a:spcBef>
                <a:spcPts val="0"/>
              </a:spcBef>
              <a:spcAft>
                <a:spcPts val="0"/>
              </a:spcAft>
              <a:defRPr sz="1000" b="1">
                <a:solidFill>
                  <a:srgbClr val="182B3A"/>
                </a:solidFill>
                <a:latin typeface="Arial"/>
              </a:defRPr>
            </a:pPr>
            <a:r>
              <a:t>0</a:t>
            </a:r>
          </a:p>
        </p:txBody>
      </p:sp>
      <p:cxnSp>
        <p:nvCxnSpPr>
          <p:cNvPr id="55" name="Connector 54"/>
          <p:cNvCxnSpPr/>
          <p:nvPr/>
        </p:nvCxnSpPr>
        <p:spPr>
          <a:xfrm>
            <a:off x="4738624" y="5879592"/>
            <a:ext cx="0" cy="73152"/>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sp>
        <p:nvSpPr>
          <p:cNvPr id="56" name="TextBox 55"/>
          <p:cNvSpPr txBox="1"/>
          <p:nvPr/>
        </p:nvSpPr>
        <p:spPr>
          <a:xfrm>
            <a:off x="4583176" y="5980176"/>
            <a:ext cx="310896" cy="201168"/>
          </a:xfrm>
          <a:prstGeom prst="rect">
            <a:avLst/>
          </a:prstGeom>
          <a:noFill/>
        </p:spPr>
        <p:txBody>
          <a:bodyPr wrap="square" lIns="0" rIns="0" tIns="22860" bIns="22860">
            <a:spAutoFit/>
          </a:bodyPr>
          <a:lstStyle/>
          <a:p>
            <a:pPr algn="ctr">
              <a:lnSpc>
                <a:spcPts val="1050"/>
              </a:lnSpc>
              <a:spcBef>
                <a:spcPts val="0"/>
              </a:spcBef>
              <a:spcAft>
                <a:spcPts val="0"/>
              </a:spcAft>
              <a:defRPr sz="1000" b="0">
                <a:solidFill>
                  <a:srgbClr val="182B3A"/>
                </a:solidFill>
                <a:latin typeface="Arial"/>
              </a:defRPr>
            </a:pPr>
            <a:r>
              <a:t>1</a:t>
            </a:r>
          </a:p>
        </p:txBody>
      </p:sp>
      <p:cxnSp>
        <p:nvCxnSpPr>
          <p:cNvPr id="57" name="Connector 56"/>
          <p:cNvCxnSpPr/>
          <p:nvPr/>
        </p:nvCxnSpPr>
        <p:spPr>
          <a:xfrm>
            <a:off x="5129106" y="5879592"/>
            <a:ext cx="0" cy="73152"/>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sp>
        <p:nvSpPr>
          <p:cNvPr id="58" name="TextBox 57"/>
          <p:cNvSpPr txBox="1"/>
          <p:nvPr/>
        </p:nvSpPr>
        <p:spPr>
          <a:xfrm>
            <a:off x="4973658" y="5980176"/>
            <a:ext cx="310896" cy="201168"/>
          </a:xfrm>
          <a:prstGeom prst="rect">
            <a:avLst/>
          </a:prstGeom>
          <a:noFill/>
        </p:spPr>
        <p:txBody>
          <a:bodyPr wrap="square" lIns="0" rIns="0" tIns="22860" bIns="22860">
            <a:spAutoFit/>
          </a:bodyPr>
          <a:lstStyle/>
          <a:p>
            <a:pPr algn="ctr">
              <a:lnSpc>
                <a:spcPts val="1050"/>
              </a:lnSpc>
              <a:spcBef>
                <a:spcPts val="0"/>
              </a:spcBef>
              <a:spcAft>
                <a:spcPts val="0"/>
              </a:spcAft>
              <a:defRPr sz="1000" b="0">
                <a:solidFill>
                  <a:srgbClr val="182B3A"/>
                </a:solidFill>
                <a:latin typeface="Arial"/>
              </a:defRPr>
            </a:pPr>
            <a:r>
              <a:t>2</a:t>
            </a:r>
          </a:p>
        </p:txBody>
      </p:sp>
      <p:cxnSp>
        <p:nvCxnSpPr>
          <p:cNvPr id="59" name="Connector 58"/>
          <p:cNvCxnSpPr/>
          <p:nvPr/>
        </p:nvCxnSpPr>
        <p:spPr>
          <a:xfrm>
            <a:off x="5519589" y="5879592"/>
            <a:ext cx="0" cy="73152"/>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sp>
        <p:nvSpPr>
          <p:cNvPr id="60" name="TextBox 59"/>
          <p:cNvSpPr txBox="1"/>
          <p:nvPr/>
        </p:nvSpPr>
        <p:spPr>
          <a:xfrm>
            <a:off x="5364141" y="5980176"/>
            <a:ext cx="310896" cy="201168"/>
          </a:xfrm>
          <a:prstGeom prst="rect">
            <a:avLst/>
          </a:prstGeom>
          <a:noFill/>
        </p:spPr>
        <p:txBody>
          <a:bodyPr wrap="square" lIns="0" rIns="0" tIns="22860" bIns="22860">
            <a:spAutoFit/>
          </a:bodyPr>
          <a:lstStyle/>
          <a:p>
            <a:pPr algn="ctr">
              <a:lnSpc>
                <a:spcPts val="1050"/>
              </a:lnSpc>
              <a:spcBef>
                <a:spcPts val="0"/>
              </a:spcBef>
              <a:spcAft>
                <a:spcPts val="0"/>
              </a:spcAft>
              <a:defRPr sz="1000" b="0">
                <a:solidFill>
                  <a:srgbClr val="182B3A"/>
                </a:solidFill>
                <a:latin typeface="Arial"/>
              </a:defRPr>
            </a:pPr>
            <a:r>
              <a:t>3</a:t>
            </a:r>
          </a:p>
        </p:txBody>
      </p:sp>
      <p:cxnSp>
        <p:nvCxnSpPr>
          <p:cNvPr id="61" name="Connector 60"/>
          <p:cNvCxnSpPr/>
          <p:nvPr/>
        </p:nvCxnSpPr>
        <p:spPr>
          <a:xfrm>
            <a:off x="5910072" y="5879592"/>
            <a:ext cx="0" cy="73152"/>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sp>
        <p:nvSpPr>
          <p:cNvPr id="62" name="TextBox 61"/>
          <p:cNvSpPr txBox="1"/>
          <p:nvPr/>
        </p:nvSpPr>
        <p:spPr>
          <a:xfrm>
            <a:off x="5754624" y="5980176"/>
            <a:ext cx="310896" cy="201168"/>
          </a:xfrm>
          <a:prstGeom prst="rect">
            <a:avLst/>
          </a:prstGeom>
          <a:noFill/>
        </p:spPr>
        <p:txBody>
          <a:bodyPr wrap="square" lIns="0" rIns="0" tIns="22860" bIns="22860">
            <a:spAutoFit/>
          </a:bodyPr>
          <a:lstStyle/>
          <a:p>
            <a:pPr algn="ctr">
              <a:lnSpc>
                <a:spcPts val="1050"/>
              </a:lnSpc>
              <a:spcBef>
                <a:spcPts val="0"/>
              </a:spcBef>
              <a:spcAft>
                <a:spcPts val="0"/>
              </a:spcAft>
              <a:defRPr sz="1000" b="0">
                <a:solidFill>
                  <a:srgbClr val="182B3A"/>
                </a:solidFill>
                <a:latin typeface="Arial"/>
              </a:defRPr>
            </a:pPr>
            <a:r>
              <a:t>4</a:t>
            </a:r>
          </a:p>
        </p:txBody>
      </p:sp>
      <p:cxnSp>
        <p:nvCxnSpPr>
          <p:cNvPr id="63" name="Connector 62"/>
          <p:cNvCxnSpPr/>
          <p:nvPr/>
        </p:nvCxnSpPr>
        <p:spPr>
          <a:xfrm flipV="1">
            <a:off x="2786210" y="5605272"/>
            <a:ext cx="0" cy="256032"/>
          </a:xfrm>
          <a:prstGeom prst="line">
            <a:avLst/>
          </a:prstGeom>
          <a:ln w="12700">
            <a:solidFill>
              <a:srgbClr val="176B73"/>
            </a:solidFill>
          </a:ln>
        </p:spPr>
        <p:style>
          <a:lnRef idx="2">
            <a:schemeClr val="accent1"/>
          </a:lnRef>
          <a:fillRef idx="0">
            <a:schemeClr val="accent1"/>
          </a:fillRef>
          <a:effectRef idx="1">
            <a:schemeClr val="accent1"/>
          </a:effectRef>
          <a:fontRef idx="minor">
            <a:schemeClr val="tx1"/>
          </a:fontRef>
        </p:style>
      </p:cxnSp>
      <p:cxnSp>
        <p:nvCxnSpPr>
          <p:cNvPr id="64" name="Connector 63"/>
          <p:cNvCxnSpPr/>
          <p:nvPr/>
        </p:nvCxnSpPr>
        <p:spPr>
          <a:xfrm>
            <a:off x="2786210" y="5605272"/>
            <a:ext cx="1561931" cy="0"/>
          </a:xfrm>
          <a:prstGeom prst="line">
            <a:avLst/>
          </a:prstGeom>
          <a:ln w="25400">
            <a:solidFill>
              <a:srgbClr val="176B73"/>
            </a:solidFill>
            <a:tailEnd type="triangle"/>
          </a:ln>
        </p:spPr>
        <p:style>
          <a:lnRef idx="2">
            <a:schemeClr val="accent1"/>
          </a:lnRef>
          <a:fillRef idx="0">
            <a:schemeClr val="accent1"/>
          </a:fillRef>
          <a:effectRef idx="1">
            <a:schemeClr val="accent1"/>
          </a:effectRef>
          <a:fontRef idx="minor">
            <a:schemeClr val="tx1"/>
          </a:fontRef>
        </p:style>
      </p:cxnSp>
      <p:cxnSp>
        <p:nvCxnSpPr>
          <p:cNvPr id="65" name="Connector 64"/>
          <p:cNvCxnSpPr/>
          <p:nvPr/>
        </p:nvCxnSpPr>
        <p:spPr>
          <a:xfrm>
            <a:off x="4348141" y="5605272"/>
            <a:ext cx="0" cy="256032"/>
          </a:xfrm>
          <a:prstGeom prst="line">
            <a:avLst/>
          </a:prstGeom>
          <a:ln w="12700">
            <a:solidFill>
              <a:srgbClr val="176B73"/>
            </a:solidFill>
          </a:ln>
        </p:spPr>
        <p:style>
          <a:lnRef idx="2">
            <a:schemeClr val="accent1"/>
          </a:lnRef>
          <a:fillRef idx="0">
            <a:schemeClr val="accent1"/>
          </a:fillRef>
          <a:effectRef idx="1">
            <a:schemeClr val="accent1"/>
          </a:effectRef>
          <a:fontRef idx="minor">
            <a:schemeClr val="tx1"/>
          </a:fontRef>
        </p:style>
      </p:cxnSp>
      <p:sp>
        <p:nvSpPr>
          <p:cNvPr id="66" name="TextBox 65"/>
          <p:cNvSpPr txBox="1"/>
          <p:nvPr/>
        </p:nvSpPr>
        <p:spPr>
          <a:xfrm>
            <a:off x="2231136" y="5010912"/>
            <a:ext cx="3843528" cy="246888"/>
          </a:xfrm>
          <a:prstGeom prst="rect">
            <a:avLst/>
          </a:prstGeom>
          <a:noFill/>
        </p:spPr>
        <p:txBody>
          <a:bodyPr wrap="square" lIns="54864" rIns="54864" tIns="22860" bIns="22860">
            <a:spAutoFit/>
          </a:bodyPr>
          <a:lstStyle/>
          <a:p>
            <a:pPr>
              <a:lnSpc>
                <a:spcPts val="1260"/>
              </a:lnSpc>
              <a:spcBef>
                <a:spcPts val="0"/>
              </a:spcBef>
              <a:spcAft>
                <a:spcPts val="0"/>
              </a:spcAft>
              <a:defRPr sz="1200" b="1">
                <a:solidFill>
                  <a:srgbClr val="176B73"/>
                </a:solidFill>
                <a:latin typeface="Arial"/>
              </a:defRPr>
            </a:pPr>
            <a:r>
              <a:t>+4 then +3: total +7</a:t>
            </a:r>
          </a:p>
        </p:txBody>
      </p:sp>
      <p:cxnSp>
        <p:nvCxnSpPr>
          <p:cNvPr id="67" name="Connector 66"/>
          <p:cNvCxnSpPr/>
          <p:nvPr/>
        </p:nvCxnSpPr>
        <p:spPr>
          <a:xfrm flipV="1">
            <a:off x="4348141" y="5312664"/>
            <a:ext cx="0" cy="548640"/>
          </a:xfrm>
          <a:prstGeom prst="line">
            <a:avLst/>
          </a:prstGeom>
          <a:ln w="12700">
            <a:solidFill>
              <a:srgbClr val="176B73"/>
            </a:solidFill>
          </a:ln>
        </p:spPr>
        <p:style>
          <a:lnRef idx="2">
            <a:schemeClr val="accent1"/>
          </a:lnRef>
          <a:fillRef idx="0">
            <a:schemeClr val="accent1"/>
          </a:fillRef>
          <a:effectRef idx="1">
            <a:schemeClr val="accent1"/>
          </a:effectRef>
          <a:fontRef idx="minor">
            <a:schemeClr val="tx1"/>
          </a:fontRef>
        </p:style>
      </p:cxnSp>
      <p:cxnSp>
        <p:nvCxnSpPr>
          <p:cNvPr id="68" name="Connector 67"/>
          <p:cNvCxnSpPr/>
          <p:nvPr/>
        </p:nvCxnSpPr>
        <p:spPr>
          <a:xfrm>
            <a:off x="4348141" y="5312664"/>
            <a:ext cx="1171448" cy="0"/>
          </a:xfrm>
          <a:prstGeom prst="line">
            <a:avLst/>
          </a:prstGeom>
          <a:ln w="25400">
            <a:solidFill>
              <a:srgbClr val="176B73"/>
            </a:solidFill>
            <a:tailEnd type="triangle"/>
          </a:ln>
        </p:spPr>
        <p:style>
          <a:lnRef idx="2">
            <a:schemeClr val="accent1"/>
          </a:lnRef>
          <a:fillRef idx="0">
            <a:schemeClr val="accent1"/>
          </a:fillRef>
          <a:effectRef idx="1">
            <a:schemeClr val="accent1"/>
          </a:effectRef>
          <a:fontRef idx="minor">
            <a:schemeClr val="tx1"/>
          </a:fontRef>
        </p:style>
      </p:cxnSp>
      <p:cxnSp>
        <p:nvCxnSpPr>
          <p:cNvPr id="69" name="Connector 68"/>
          <p:cNvCxnSpPr/>
          <p:nvPr/>
        </p:nvCxnSpPr>
        <p:spPr>
          <a:xfrm>
            <a:off x="5519589" y="5312664"/>
            <a:ext cx="0" cy="548640"/>
          </a:xfrm>
          <a:prstGeom prst="line">
            <a:avLst/>
          </a:prstGeom>
          <a:ln w="12700">
            <a:solidFill>
              <a:srgbClr val="176B73"/>
            </a:solidFill>
          </a:ln>
        </p:spPr>
        <p:style>
          <a:lnRef idx="2">
            <a:schemeClr val="accent1"/>
          </a:lnRef>
          <a:fillRef idx="0">
            <a:schemeClr val="accent1"/>
          </a:fillRef>
          <a:effectRef idx="1">
            <a:schemeClr val="accent1"/>
          </a:effectRef>
          <a:fontRef idx="minor">
            <a:schemeClr val="tx1"/>
          </a:fontRef>
        </p:style>
      </p:cxnSp>
      <p:sp>
        <p:nvSpPr>
          <p:cNvPr id="70" name="TextBox 69"/>
          <p:cNvSpPr txBox="1"/>
          <p:nvPr/>
        </p:nvSpPr>
        <p:spPr>
          <a:xfrm>
            <a:off x="2231136" y="5276088"/>
            <a:ext cx="3843528" cy="246888"/>
          </a:xfrm>
          <a:prstGeom prst="rect">
            <a:avLst/>
          </a:prstGeom>
          <a:noFill/>
        </p:spPr>
        <p:txBody>
          <a:bodyPr wrap="square" lIns="54864" rIns="54864" tIns="22860" bIns="22860">
            <a:spAutoFit/>
          </a:bodyPr>
          <a:lstStyle/>
          <a:p>
            <a:pPr>
              <a:lnSpc>
                <a:spcPts val="1260"/>
              </a:lnSpc>
              <a:spcBef>
                <a:spcPts val="0"/>
              </a:spcBef>
              <a:spcAft>
                <a:spcPts val="0"/>
              </a:spcAft>
              <a:defRPr sz="1200" b="1">
                <a:solidFill>
                  <a:srgbClr val="176B73"/>
                </a:solidFill>
                <a:latin typeface="Arial"/>
              </a:defRPr>
            </a:pPr>
          </a:p>
        </p:txBody>
      </p:sp>
      <p:sp>
        <p:nvSpPr>
          <p:cNvPr id="71" name="Rectangle 70"/>
          <p:cNvSpPr/>
          <p:nvPr/>
        </p:nvSpPr>
        <p:spPr>
          <a:xfrm>
            <a:off x="6184392" y="4398264"/>
            <a:ext cx="4062984" cy="1920240"/>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2" name="TextBox 71"/>
          <p:cNvSpPr txBox="1"/>
          <p:nvPr/>
        </p:nvSpPr>
        <p:spPr>
          <a:xfrm>
            <a:off x="6257544" y="4480559"/>
            <a:ext cx="3916680" cy="548640"/>
          </a:xfrm>
          <a:prstGeom prst="rect">
            <a:avLst/>
          </a:prstGeom>
          <a:noFill/>
        </p:spPr>
        <p:txBody>
          <a:bodyPr wrap="square" lIns="54864" rIns="54864" tIns="22860" bIns="22860">
            <a:spAutoFit/>
          </a:bodyPr>
          <a:lstStyle/>
          <a:p>
            <a:pPr>
              <a:lnSpc>
                <a:spcPts val="1785"/>
              </a:lnSpc>
              <a:spcBef>
                <a:spcPts val="0"/>
              </a:spcBef>
              <a:spcAft>
                <a:spcPts val="0"/>
              </a:spcAft>
              <a:defRPr sz="1700" b="0">
                <a:solidFill>
                  <a:srgbClr val="182B3A"/>
                </a:solidFill>
                <a:latin typeface="Arial"/>
              </a:defRPr>
            </a:pPr>
            <a:r>
              <a:t>6 + 3 = 9.</a:t>
            </a:r>
          </a:p>
        </p:txBody>
      </p:sp>
      <p:cxnSp>
        <p:nvCxnSpPr>
          <p:cNvPr id="73" name="Connector 72"/>
          <p:cNvCxnSpPr/>
          <p:nvPr/>
        </p:nvCxnSpPr>
        <p:spPr>
          <a:xfrm>
            <a:off x="6458712" y="5916168"/>
            <a:ext cx="3514344" cy="0"/>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cxnSp>
        <p:nvCxnSpPr>
          <p:cNvPr id="74" name="Connector 73"/>
          <p:cNvCxnSpPr/>
          <p:nvPr/>
        </p:nvCxnSpPr>
        <p:spPr>
          <a:xfrm>
            <a:off x="6458712" y="5879592"/>
            <a:ext cx="0" cy="73152"/>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sp>
        <p:nvSpPr>
          <p:cNvPr id="75" name="TextBox 74"/>
          <p:cNvSpPr txBox="1"/>
          <p:nvPr/>
        </p:nvSpPr>
        <p:spPr>
          <a:xfrm>
            <a:off x="6303264" y="5980176"/>
            <a:ext cx="310896" cy="201168"/>
          </a:xfrm>
          <a:prstGeom prst="rect">
            <a:avLst/>
          </a:prstGeom>
          <a:noFill/>
        </p:spPr>
        <p:txBody>
          <a:bodyPr wrap="square" lIns="0" rIns="0" tIns="22860" bIns="22860">
            <a:spAutoFit/>
          </a:bodyPr>
          <a:lstStyle/>
          <a:p>
            <a:pPr algn="ctr">
              <a:lnSpc>
                <a:spcPts val="1050"/>
              </a:lnSpc>
              <a:spcBef>
                <a:spcPts val="0"/>
              </a:spcBef>
              <a:spcAft>
                <a:spcPts val="0"/>
              </a:spcAft>
              <a:defRPr sz="1000" b="1">
                <a:solidFill>
                  <a:srgbClr val="182B3A"/>
                </a:solidFill>
                <a:latin typeface="Arial"/>
              </a:defRPr>
            </a:pPr>
            <a:r>
              <a:t>0</a:t>
            </a:r>
          </a:p>
        </p:txBody>
      </p:sp>
      <p:cxnSp>
        <p:nvCxnSpPr>
          <p:cNvPr id="76" name="Connector 75"/>
          <p:cNvCxnSpPr/>
          <p:nvPr/>
        </p:nvCxnSpPr>
        <p:spPr>
          <a:xfrm>
            <a:off x="6810146" y="5879592"/>
            <a:ext cx="0" cy="73152"/>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sp>
        <p:nvSpPr>
          <p:cNvPr id="77" name="TextBox 76"/>
          <p:cNvSpPr txBox="1"/>
          <p:nvPr/>
        </p:nvSpPr>
        <p:spPr>
          <a:xfrm>
            <a:off x="6654698" y="5980176"/>
            <a:ext cx="310896" cy="201168"/>
          </a:xfrm>
          <a:prstGeom prst="rect">
            <a:avLst/>
          </a:prstGeom>
          <a:noFill/>
        </p:spPr>
        <p:txBody>
          <a:bodyPr wrap="square" lIns="0" rIns="0" tIns="22860" bIns="22860">
            <a:spAutoFit/>
          </a:bodyPr>
          <a:lstStyle/>
          <a:p>
            <a:pPr algn="ctr">
              <a:lnSpc>
                <a:spcPts val="1050"/>
              </a:lnSpc>
              <a:spcBef>
                <a:spcPts val="0"/>
              </a:spcBef>
              <a:spcAft>
                <a:spcPts val="0"/>
              </a:spcAft>
              <a:defRPr sz="1000" b="0">
                <a:solidFill>
                  <a:srgbClr val="182B3A"/>
                </a:solidFill>
                <a:latin typeface="Arial"/>
              </a:defRPr>
            </a:pPr>
            <a:r>
              <a:t>1</a:t>
            </a:r>
          </a:p>
        </p:txBody>
      </p:sp>
      <p:cxnSp>
        <p:nvCxnSpPr>
          <p:cNvPr id="78" name="Connector 77"/>
          <p:cNvCxnSpPr/>
          <p:nvPr/>
        </p:nvCxnSpPr>
        <p:spPr>
          <a:xfrm>
            <a:off x="7161580" y="5879592"/>
            <a:ext cx="0" cy="73152"/>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sp>
        <p:nvSpPr>
          <p:cNvPr id="79" name="TextBox 78"/>
          <p:cNvSpPr txBox="1"/>
          <p:nvPr/>
        </p:nvSpPr>
        <p:spPr>
          <a:xfrm>
            <a:off x="7006132" y="5980176"/>
            <a:ext cx="310896" cy="201168"/>
          </a:xfrm>
          <a:prstGeom prst="rect">
            <a:avLst/>
          </a:prstGeom>
          <a:noFill/>
        </p:spPr>
        <p:txBody>
          <a:bodyPr wrap="square" lIns="0" rIns="0" tIns="22860" bIns="22860">
            <a:spAutoFit/>
          </a:bodyPr>
          <a:lstStyle/>
          <a:p>
            <a:pPr algn="ctr">
              <a:lnSpc>
                <a:spcPts val="1050"/>
              </a:lnSpc>
              <a:spcBef>
                <a:spcPts val="0"/>
              </a:spcBef>
              <a:spcAft>
                <a:spcPts val="0"/>
              </a:spcAft>
              <a:defRPr sz="1000" b="0">
                <a:solidFill>
                  <a:srgbClr val="182B3A"/>
                </a:solidFill>
                <a:latin typeface="Arial"/>
              </a:defRPr>
            </a:pPr>
            <a:r>
              <a:t>2</a:t>
            </a:r>
          </a:p>
        </p:txBody>
      </p:sp>
      <p:cxnSp>
        <p:nvCxnSpPr>
          <p:cNvPr id="80" name="Connector 79"/>
          <p:cNvCxnSpPr/>
          <p:nvPr/>
        </p:nvCxnSpPr>
        <p:spPr>
          <a:xfrm>
            <a:off x="7513015" y="5879592"/>
            <a:ext cx="0" cy="73152"/>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sp>
        <p:nvSpPr>
          <p:cNvPr id="81" name="TextBox 80"/>
          <p:cNvSpPr txBox="1"/>
          <p:nvPr/>
        </p:nvSpPr>
        <p:spPr>
          <a:xfrm>
            <a:off x="7357567" y="5980176"/>
            <a:ext cx="310896" cy="201168"/>
          </a:xfrm>
          <a:prstGeom prst="rect">
            <a:avLst/>
          </a:prstGeom>
          <a:noFill/>
        </p:spPr>
        <p:txBody>
          <a:bodyPr wrap="square" lIns="0" rIns="0" tIns="22860" bIns="22860">
            <a:spAutoFit/>
          </a:bodyPr>
          <a:lstStyle/>
          <a:p>
            <a:pPr algn="ctr">
              <a:lnSpc>
                <a:spcPts val="1050"/>
              </a:lnSpc>
              <a:spcBef>
                <a:spcPts val="0"/>
              </a:spcBef>
              <a:spcAft>
                <a:spcPts val="0"/>
              </a:spcAft>
              <a:defRPr sz="1000" b="0">
                <a:solidFill>
                  <a:srgbClr val="182B3A"/>
                </a:solidFill>
                <a:latin typeface="Arial"/>
              </a:defRPr>
            </a:pPr>
            <a:r>
              <a:t>3</a:t>
            </a:r>
          </a:p>
        </p:txBody>
      </p:sp>
      <p:cxnSp>
        <p:nvCxnSpPr>
          <p:cNvPr id="82" name="Connector 81"/>
          <p:cNvCxnSpPr/>
          <p:nvPr/>
        </p:nvCxnSpPr>
        <p:spPr>
          <a:xfrm>
            <a:off x="7864449" y="5879592"/>
            <a:ext cx="0" cy="73152"/>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sp>
        <p:nvSpPr>
          <p:cNvPr id="83" name="TextBox 82"/>
          <p:cNvSpPr txBox="1"/>
          <p:nvPr/>
        </p:nvSpPr>
        <p:spPr>
          <a:xfrm>
            <a:off x="7709001" y="5980176"/>
            <a:ext cx="310896" cy="201168"/>
          </a:xfrm>
          <a:prstGeom prst="rect">
            <a:avLst/>
          </a:prstGeom>
          <a:noFill/>
        </p:spPr>
        <p:txBody>
          <a:bodyPr wrap="square" lIns="0" rIns="0" tIns="22860" bIns="22860">
            <a:spAutoFit/>
          </a:bodyPr>
          <a:lstStyle/>
          <a:p>
            <a:pPr algn="ctr">
              <a:lnSpc>
                <a:spcPts val="1050"/>
              </a:lnSpc>
              <a:spcBef>
                <a:spcPts val="0"/>
              </a:spcBef>
              <a:spcAft>
                <a:spcPts val="0"/>
              </a:spcAft>
              <a:defRPr sz="1000" b="0">
                <a:solidFill>
                  <a:srgbClr val="182B3A"/>
                </a:solidFill>
                <a:latin typeface="Arial"/>
              </a:defRPr>
            </a:pPr>
            <a:r>
              <a:t>4</a:t>
            </a:r>
          </a:p>
        </p:txBody>
      </p:sp>
      <p:cxnSp>
        <p:nvCxnSpPr>
          <p:cNvPr id="84" name="Connector 83"/>
          <p:cNvCxnSpPr/>
          <p:nvPr/>
        </p:nvCxnSpPr>
        <p:spPr>
          <a:xfrm>
            <a:off x="8215883" y="5879592"/>
            <a:ext cx="0" cy="73152"/>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sp>
        <p:nvSpPr>
          <p:cNvPr id="85" name="TextBox 84"/>
          <p:cNvSpPr txBox="1"/>
          <p:nvPr/>
        </p:nvSpPr>
        <p:spPr>
          <a:xfrm>
            <a:off x="8060436" y="5980176"/>
            <a:ext cx="310896" cy="201168"/>
          </a:xfrm>
          <a:prstGeom prst="rect">
            <a:avLst/>
          </a:prstGeom>
          <a:noFill/>
        </p:spPr>
        <p:txBody>
          <a:bodyPr wrap="square" lIns="0" rIns="0" tIns="22860" bIns="22860">
            <a:spAutoFit/>
          </a:bodyPr>
          <a:lstStyle/>
          <a:p>
            <a:pPr algn="ctr">
              <a:lnSpc>
                <a:spcPts val="1050"/>
              </a:lnSpc>
              <a:spcBef>
                <a:spcPts val="0"/>
              </a:spcBef>
              <a:spcAft>
                <a:spcPts val="0"/>
              </a:spcAft>
              <a:defRPr sz="1000" b="0">
                <a:solidFill>
                  <a:srgbClr val="182B3A"/>
                </a:solidFill>
                <a:latin typeface="Arial"/>
              </a:defRPr>
            </a:pPr>
            <a:r>
              <a:t>5</a:t>
            </a:r>
          </a:p>
        </p:txBody>
      </p:sp>
      <p:cxnSp>
        <p:nvCxnSpPr>
          <p:cNvPr id="86" name="Connector 85"/>
          <p:cNvCxnSpPr/>
          <p:nvPr/>
        </p:nvCxnSpPr>
        <p:spPr>
          <a:xfrm>
            <a:off x="8567318" y="5879592"/>
            <a:ext cx="0" cy="73152"/>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sp>
        <p:nvSpPr>
          <p:cNvPr id="87" name="TextBox 86"/>
          <p:cNvSpPr txBox="1"/>
          <p:nvPr/>
        </p:nvSpPr>
        <p:spPr>
          <a:xfrm>
            <a:off x="8411870" y="5980176"/>
            <a:ext cx="310896" cy="201168"/>
          </a:xfrm>
          <a:prstGeom prst="rect">
            <a:avLst/>
          </a:prstGeom>
          <a:noFill/>
        </p:spPr>
        <p:txBody>
          <a:bodyPr wrap="square" lIns="0" rIns="0" tIns="22860" bIns="22860">
            <a:spAutoFit/>
          </a:bodyPr>
          <a:lstStyle/>
          <a:p>
            <a:pPr algn="ctr">
              <a:lnSpc>
                <a:spcPts val="1050"/>
              </a:lnSpc>
              <a:spcBef>
                <a:spcPts val="0"/>
              </a:spcBef>
              <a:spcAft>
                <a:spcPts val="0"/>
              </a:spcAft>
              <a:defRPr sz="1000" b="0">
                <a:solidFill>
                  <a:srgbClr val="182B3A"/>
                </a:solidFill>
                <a:latin typeface="Arial"/>
              </a:defRPr>
            </a:pPr>
            <a:r>
              <a:t>6</a:t>
            </a:r>
          </a:p>
        </p:txBody>
      </p:sp>
      <p:cxnSp>
        <p:nvCxnSpPr>
          <p:cNvPr id="88" name="Connector 87"/>
          <p:cNvCxnSpPr/>
          <p:nvPr/>
        </p:nvCxnSpPr>
        <p:spPr>
          <a:xfrm>
            <a:off x="8918752" y="5879592"/>
            <a:ext cx="0" cy="73152"/>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sp>
        <p:nvSpPr>
          <p:cNvPr id="89" name="TextBox 88"/>
          <p:cNvSpPr txBox="1"/>
          <p:nvPr/>
        </p:nvSpPr>
        <p:spPr>
          <a:xfrm>
            <a:off x="8763304" y="5980176"/>
            <a:ext cx="310896" cy="201168"/>
          </a:xfrm>
          <a:prstGeom prst="rect">
            <a:avLst/>
          </a:prstGeom>
          <a:noFill/>
        </p:spPr>
        <p:txBody>
          <a:bodyPr wrap="square" lIns="0" rIns="0" tIns="22860" bIns="22860">
            <a:spAutoFit/>
          </a:bodyPr>
          <a:lstStyle/>
          <a:p>
            <a:pPr algn="ctr">
              <a:lnSpc>
                <a:spcPts val="1050"/>
              </a:lnSpc>
              <a:spcBef>
                <a:spcPts val="0"/>
              </a:spcBef>
              <a:spcAft>
                <a:spcPts val="0"/>
              </a:spcAft>
              <a:defRPr sz="1000" b="0">
                <a:solidFill>
                  <a:srgbClr val="182B3A"/>
                </a:solidFill>
                <a:latin typeface="Arial"/>
              </a:defRPr>
            </a:pPr>
            <a:r>
              <a:t>7</a:t>
            </a:r>
          </a:p>
        </p:txBody>
      </p:sp>
      <p:cxnSp>
        <p:nvCxnSpPr>
          <p:cNvPr id="90" name="Connector 89"/>
          <p:cNvCxnSpPr/>
          <p:nvPr/>
        </p:nvCxnSpPr>
        <p:spPr>
          <a:xfrm>
            <a:off x="9270187" y="5879592"/>
            <a:ext cx="0" cy="73152"/>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sp>
        <p:nvSpPr>
          <p:cNvPr id="91" name="TextBox 90"/>
          <p:cNvSpPr txBox="1"/>
          <p:nvPr/>
        </p:nvSpPr>
        <p:spPr>
          <a:xfrm>
            <a:off x="9114739" y="5980176"/>
            <a:ext cx="310896" cy="201168"/>
          </a:xfrm>
          <a:prstGeom prst="rect">
            <a:avLst/>
          </a:prstGeom>
          <a:noFill/>
        </p:spPr>
        <p:txBody>
          <a:bodyPr wrap="square" lIns="0" rIns="0" tIns="22860" bIns="22860">
            <a:spAutoFit/>
          </a:bodyPr>
          <a:lstStyle/>
          <a:p>
            <a:pPr algn="ctr">
              <a:lnSpc>
                <a:spcPts val="1050"/>
              </a:lnSpc>
              <a:spcBef>
                <a:spcPts val="0"/>
              </a:spcBef>
              <a:spcAft>
                <a:spcPts val="0"/>
              </a:spcAft>
              <a:defRPr sz="1000" b="0">
                <a:solidFill>
                  <a:srgbClr val="182B3A"/>
                </a:solidFill>
                <a:latin typeface="Arial"/>
              </a:defRPr>
            </a:pPr>
            <a:r>
              <a:t>8</a:t>
            </a:r>
          </a:p>
        </p:txBody>
      </p:sp>
      <p:cxnSp>
        <p:nvCxnSpPr>
          <p:cNvPr id="92" name="Connector 91"/>
          <p:cNvCxnSpPr/>
          <p:nvPr/>
        </p:nvCxnSpPr>
        <p:spPr>
          <a:xfrm>
            <a:off x="9621621" y="5879592"/>
            <a:ext cx="0" cy="73152"/>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sp>
        <p:nvSpPr>
          <p:cNvPr id="93" name="TextBox 92"/>
          <p:cNvSpPr txBox="1"/>
          <p:nvPr/>
        </p:nvSpPr>
        <p:spPr>
          <a:xfrm>
            <a:off x="9466173" y="5980176"/>
            <a:ext cx="310896" cy="201168"/>
          </a:xfrm>
          <a:prstGeom prst="rect">
            <a:avLst/>
          </a:prstGeom>
          <a:noFill/>
        </p:spPr>
        <p:txBody>
          <a:bodyPr wrap="square" lIns="0" rIns="0" tIns="22860" bIns="22860">
            <a:spAutoFit/>
          </a:bodyPr>
          <a:lstStyle/>
          <a:p>
            <a:pPr algn="ctr">
              <a:lnSpc>
                <a:spcPts val="1050"/>
              </a:lnSpc>
              <a:spcBef>
                <a:spcPts val="0"/>
              </a:spcBef>
              <a:spcAft>
                <a:spcPts val="0"/>
              </a:spcAft>
              <a:defRPr sz="1000" b="0">
                <a:solidFill>
                  <a:srgbClr val="182B3A"/>
                </a:solidFill>
                <a:latin typeface="Arial"/>
              </a:defRPr>
            </a:pPr>
            <a:r>
              <a:t>9</a:t>
            </a:r>
          </a:p>
        </p:txBody>
      </p:sp>
      <p:cxnSp>
        <p:nvCxnSpPr>
          <p:cNvPr id="94" name="Connector 93"/>
          <p:cNvCxnSpPr/>
          <p:nvPr/>
        </p:nvCxnSpPr>
        <p:spPr>
          <a:xfrm>
            <a:off x="9973056" y="5879592"/>
            <a:ext cx="0" cy="73152"/>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sp>
        <p:nvSpPr>
          <p:cNvPr id="95" name="TextBox 94"/>
          <p:cNvSpPr txBox="1"/>
          <p:nvPr/>
        </p:nvSpPr>
        <p:spPr>
          <a:xfrm>
            <a:off x="9817608" y="5980176"/>
            <a:ext cx="310896" cy="201168"/>
          </a:xfrm>
          <a:prstGeom prst="rect">
            <a:avLst/>
          </a:prstGeom>
          <a:noFill/>
        </p:spPr>
        <p:txBody>
          <a:bodyPr wrap="square" lIns="0" rIns="0" tIns="22860" bIns="22860">
            <a:spAutoFit/>
          </a:bodyPr>
          <a:lstStyle/>
          <a:p>
            <a:pPr algn="ctr">
              <a:lnSpc>
                <a:spcPts val="1050"/>
              </a:lnSpc>
              <a:spcBef>
                <a:spcPts val="0"/>
              </a:spcBef>
              <a:spcAft>
                <a:spcPts val="0"/>
              </a:spcAft>
              <a:defRPr sz="1000" b="0">
                <a:solidFill>
                  <a:srgbClr val="182B3A"/>
                </a:solidFill>
                <a:latin typeface="Arial"/>
              </a:defRPr>
            </a:pPr>
            <a:r>
              <a:t>10</a:t>
            </a:r>
          </a:p>
        </p:txBody>
      </p:sp>
      <p:cxnSp>
        <p:nvCxnSpPr>
          <p:cNvPr id="96" name="Connector 95"/>
          <p:cNvCxnSpPr/>
          <p:nvPr/>
        </p:nvCxnSpPr>
        <p:spPr>
          <a:xfrm flipV="1">
            <a:off x="8567318" y="5605272"/>
            <a:ext cx="0" cy="256032"/>
          </a:xfrm>
          <a:prstGeom prst="line">
            <a:avLst/>
          </a:prstGeom>
          <a:ln w="12700">
            <a:solidFill>
              <a:srgbClr val="3559A2"/>
            </a:solidFill>
          </a:ln>
        </p:spPr>
        <p:style>
          <a:lnRef idx="2">
            <a:schemeClr val="accent1"/>
          </a:lnRef>
          <a:fillRef idx="0">
            <a:schemeClr val="accent1"/>
          </a:fillRef>
          <a:effectRef idx="1">
            <a:schemeClr val="accent1"/>
          </a:effectRef>
          <a:fontRef idx="minor">
            <a:schemeClr val="tx1"/>
          </a:fontRef>
        </p:style>
      </p:cxnSp>
      <p:cxnSp>
        <p:nvCxnSpPr>
          <p:cNvPr id="97" name="Connector 96"/>
          <p:cNvCxnSpPr/>
          <p:nvPr/>
        </p:nvCxnSpPr>
        <p:spPr>
          <a:xfrm>
            <a:off x="8567318" y="5605272"/>
            <a:ext cx="1054303" cy="0"/>
          </a:xfrm>
          <a:prstGeom prst="line">
            <a:avLst/>
          </a:prstGeom>
          <a:ln w="25400">
            <a:solidFill>
              <a:srgbClr val="3559A2"/>
            </a:solidFill>
            <a:tailEnd type="triangle"/>
          </a:ln>
        </p:spPr>
        <p:style>
          <a:lnRef idx="2">
            <a:schemeClr val="accent1"/>
          </a:lnRef>
          <a:fillRef idx="0">
            <a:schemeClr val="accent1"/>
          </a:fillRef>
          <a:effectRef idx="1">
            <a:schemeClr val="accent1"/>
          </a:effectRef>
          <a:fontRef idx="minor">
            <a:schemeClr val="tx1"/>
          </a:fontRef>
        </p:style>
      </p:cxnSp>
      <p:cxnSp>
        <p:nvCxnSpPr>
          <p:cNvPr id="98" name="Connector 97"/>
          <p:cNvCxnSpPr/>
          <p:nvPr/>
        </p:nvCxnSpPr>
        <p:spPr>
          <a:xfrm>
            <a:off x="9621621" y="5605272"/>
            <a:ext cx="0" cy="256032"/>
          </a:xfrm>
          <a:prstGeom prst="line">
            <a:avLst/>
          </a:prstGeom>
          <a:ln w="12700">
            <a:solidFill>
              <a:srgbClr val="3559A2"/>
            </a:solidFill>
          </a:ln>
        </p:spPr>
        <p:style>
          <a:lnRef idx="2">
            <a:schemeClr val="accent1"/>
          </a:lnRef>
          <a:fillRef idx="0">
            <a:schemeClr val="accent1"/>
          </a:fillRef>
          <a:effectRef idx="1">
            <a:schemeClr val="accent1"/>
          </a:effectRef>
          <a:fontRef idx="minor">
            <a:schemeClr val="tx1"/>
          </a:fontRef>
        </p:style>
      </p:cxnSp>
      <p:sp>
        <p:nvSpPr>
          <p:cNvPr id="99" name="TextBox 98"/>
          <p:cNvSpPr txBox="1"/>
          <p:nvPr/>
        </p:nvSpPr>
        <p:spPr>
          <a:xfrm>
            <a:off x="6294120" y="5010912"/>
            <a:ext cx="3843528" cy="246888"/>
          </a:xfrm>
          <a:prstGeom prst="rect">
            <a:avLst/>
          </a:prstGeom>
          <a:noFill/>
        </p:spPr>
        <p:txBody>
          <a:bodyPr wrap="square" lIns="54864" rIns="54864" tIns="22860" bIns="22860">
            <a:spAutoFit/>
          </a:bodyPr>
          <a:lstStyle/>
          <a:p>
            <a:pPr>
              <a:lnSpc>
                <a:spcPts val="1260"/>
              </a:lnSpc>
              <a:spcBef>
                <a:spcPts val="0"/>
              </a:spcBef>
              <a:spcAft>
                <a:spcPts val="0"/>
              </a:spcAft>
              <a:defRPr sz="1200" b="1">
                <a:solidFill>
                  <a:srgbClr val="3559A2"/>
                </a:solidFill>
                <a:latin typeface="Arial"/>
              </a:defRPr>
            </a:pPr>
            <a:r>
              <a:t>subtract −3 = add 3</a:t>
            </a:r>
          </a:p>
        </p:txBody>
      </p:sp>
      <p:sp>
        <p:nvSpPr>
          <p:cNvPr id="100" name="Rectangle 99"/>
          <p:cNvSpPr/>
          <p:nvPr/>
        </p:nvSpPr>
        <p:spPr>
          <a:xfrm>
            <a:off x="10247376" y="4398264"/>
            <a:ext cx="4062984" cy="1920240"/>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1" name="TextBox 100"/>
          <p:cNvSpPr txBox="1"/>
          <p:nvPr/>
        </p:nvSpPr>
        <p:spPr>
          <a:xfrm>
            <a:off x="10320528" y="4480559"/>
            <a:ext cx="3916680" cy="548640"/>
          </a:xfrm>
          <a:prstGeom prst="rect">
            <a:avLst/>
          </a:prstGeom>
          <a:noFill/>
        </p:spPr>
        <p:txBody>
          <a:bodyPr wrap="square" lIns="54864" rIns="54864" tIns="22860" bIns="22860">
            <a:spAutoFit/>
          </a:bodyPr>
          <a:lstStyle/>
          <a:p>
            <a:pPr>
              <a:lnSpc>
                <a:spcPts val="1785"/>
              </a:lnSpc>
              <a:spcBef>
                <a:spcPts val="0"/>
              </a:spcBef>
              <a:spcAft>
                <a:spcPts val="0"/>
              </a:spcAft>
              <a:defRPr sz="1700" b="0">
                <a:solidFill>
                  <a:srgbClr val="182B3A"/>
                </a:solidFill>
                <a:latin typeface="Arial"/>
              </a:defRPr>
            </a:pPr>
            <a:r>
              <a:t>−5 + 8 = 3; 3 + 2 = 5.</a:t>
            </a:r>
          </a:p>
        </p:txBody>
      </p:sp>
      <p:cxnSp>
        <p:nvCxnSpPr>
          <p:cNvPr id="102" name="Connector 101"/>
          <p:cNvCxnSpPr/>
          <p:nvPr/>
        </p:nvCxnSpPr>
        <p:spPr>
          <a:xfrm>
            <a:off x="10521696" y="5916168"/>
            <a:ext cx="3514344" cy="0"/>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cxnSp>
        <p:nvCxnSpPr>
          <p:cNvPr id="103" name="Connector 102"/>
          <p:cNvCxnSpPr/>
          <p:nvPr/>
        </p:nvCxnSpPr>
        <p:spPr>
          <a:xfrm>
            <a:off x="10521696" y="5879592"/>
            <a:ext cx="0" cy="73152"/>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sp>
        <p:nvSpPr>
          <p:cNvPr id="104" name="TextBox 103"/>
          <p:cNvSpPr txBox="1"/>
          <p:nvPr/>
        </p:nvSpPr>
        <p:spPr>
          <a:xfrm>
            <a:off x="10329164" y="5980176"/>
            <a:ext cx="310896" cy="201168"/>
          </a:xfrm>
          <a:prstGeom prst="rect">
            <a:avLst/>
          </a:prstGeom>
          <a:noFill/>
        </p:spPr>
        <p:txBody>
          <a:bodyPr wrap="square" lIns="0" rIns="0" tIns="22860" bIns="22860">
            <a:spAutoFit/>
          </a:bodyPr>
          <a:lstStyle/>
          <a:p>
            <a:pPr algn="ctr">
              <a:lnSpc>
                <a:spcPts val="1050"/>
              </a:lnSpc>
              <a:spcBef>
                <a:spcPts val="0"/>
              </a:spcBef>
              <a:spcAft>
                <a:spcPts val="0"/>
              </a:spcAft>
              <a:defRPr sz="1000" b="0">
                <a:solidFill>
                  <a:srgbClr val="182B3A"/>
                </a:solidFill>
                <a:latin typeface="Arial"/>
              </a:defRPr>
            </a:pPr>
            <a:r>
              <a:t>−6</a:t>
            </a:r>
          </a:p>
        </p:txBody>
      </p:sp>
      <p:cxnSp>
        <p:nvCxnSpPr>
          <p:cNvPr id="105" name="Connector 104"/>
          <p:cNvCxnSpPr/>
          <p:nvPr/>
        </p:nvCxnSpPr>
        <p:spPr>
          <a:xfrm>
            <a:off x="10814557" y="5879592"/>
            <a:ext cx="0" cy="73152"/>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sp>
        <p:nvSpPr>
          <p:cNvPr id="106" name="TextBox 105"/>
          <p:cNvSpPr txBox="1"/>
          <p:nvPr/>
        </p:nvSpPr>
        <p:spPr>
          <a:xfrm>
            <a:off x="10622025" y="5980176"/>
            <a:ext cx="310896" cy="201168"/>
          </a:xfrm>
          <a:prstGeom prst="rect">
            <a:avLst/>
          </a:prstGeom>
          <a:noFill/>
        </p:spPr>
        <p:txBody>
          <a:bodyPr wrap="square" lIns="0" rIns="0" tIns="22860" bIns="22860">
            <a:spAutoFit/>
          </a:bodyPr>
          <a:lstStyle/>
          <a:p>
            <a:pPr algn="ctr">
              <a:lnSpc>
                <a:spcPts val="1050"/>
              </a:lnSpc>
              <a:spcBef>
                <a:spcPts val="0"/>
              </a:spcBef>
              <a:spcAft>
                <a:spcPts val="0"/>
              </a:spcAft>
              <a:defRPr sz="1000" b="0">
                <a:solidFill>
                  <a:srgbClr val="182B3A"/>
                </a:solidFill>
                <a:latin typeface="Arial"/>
              </a:defRPr>
            </a:pPr>
            <a:r>
              <a:t>−5</a:t>
            </a:r>
          </a:p>
        </p:txBody>
      </p:sp>
      <p:cxnSp>
        <p:nvCxnSpPr>
          <p:cNvPr id="107" name="Connector 106"/>
          <p:cNvCxnSpPr/>
          <p:nvPr/>
        </p:nvCxnSpPr>
        <p:spPr>
          <a:xfrm>
            <a:off x="11107420" y="5879592"/>
            <a:ext cx="0" cy="73152"/>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sp>
        <p:nvSpPr>
          <p:cNvPr id="108" name="TextBox 107"/>
          <p:cNvSpPr txBox="1"/>
          <p:nvPr/>
        </p:nvSpPr>
        <p:spPr>
          <a:xfrm>
            <a:off x="10914888" y="5980176"/>
            <a:ext cx="310896" cy="201168"/>
          </a:xfrm>
          <a:prstGeom prst="rect">
            <a:avLst/>
          </a:prstGeom>
          <a:noFill/>
        </p:spPr>
        <p:txBody>
          <a:bodyPr wrap="square" lIns="0" rIns="0" tIns="22860" bIns="22860">
            <a:spAutoFit/>
          </a:bodyPr>
          <a:lstStyle/>
          <a:p>
            <a:pPr algn="ctr">
              <a:lnSpc>
                <a:spcPts val="1050"/>
              </a:lnSpc>
              <a:spcBef>
                <a:spcPts val="0"/>
              </a:spcBef>
              <a:spcAft>
                <a:spcPts val="0"/>
              </a:spcAft>
              <a:defRPr sz="1000" b="0">
                <a:solidFill>
                  <a:srgbClr val="182B3A"/>
                </a:solidFill>
                <a:latin typeface="Arial"/>
              </a:defRPr>
            </a:pPr>
            <a:r>
              <a:t>−4</a:t>
            </a:r>
          </a:p>
        </p:txBody>
      </p:sp>
      <p:cxnSp>
        <p:nvCxnSpPr>
          <p:cNvPr id="109" name="Connector 108"/>
          <p:cNvCxnSpPr/>
          <p:nvPr/>
        </p:nvCxnSpPr>
        <p:spPr>
          <a:xfrm>
            <a:off x="11400282" y="5879592"/>
            <a:ext cx="0" cy="73152"/>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sp>
        <p:nvSpPr>
          <p:cNvPr id="110" name="TextBox 109"/>
          <p:cNvSpPr txBox="1"/>
          <p:nvPr/>
        </p:nvSpPr>
        <p:spPr>
          <a:xfrm>
            <a:off x="11207750" y="5980176"/>
            <a:ext cx="310896" cy="201168"/>
          </a:xfrm>
          <a:prstGeom prst="rect">
            <a:avLst/>
          </a:prstGeom>
          <a:noFill/>
        </p:spPr>
        <p:txBody>
          <a:bodyPr wrap="square" lIns="0" rIns="0" tIns="22860" bIns="22860">
            <a:spAutoFit/>
          </a:bodyPr>
          <a:lstStyle/>
          <a:p>
            <a:pPr algn="ctr">
              <a:lnSpc>
                <a:spcPts val="1050"/>
              </a:lnSpc>
              <a:spcBef>
                <a:spcPts val="0"/>
              </a:spcBef>
              <a:spcAft>
                <a:spcPts val="0"/>
              </a:spcAft>
              <a:defRPr sz="1000" b="0">
                <a:solidFill>
                  <a:srgbClr val="182B3A"/>
                </a:solidFill>
                <a:latin typeface="Arial"/>
              </a:defRPr>
            </a:pPr>
            <a:r>
              <a:t>−3</a:t>
            </a:r>
          </a:p>
        </p:txBody>
      </p:sp>
      <p:cxnSp>
        <p:nvCxnSpPr>
          <p:cNvPr id="111" name="Connector 110"/>
          <p:cNvCxnSpPr/>
          <p:nvPr/>
        </p:nvCxnSpPr>
        <p:spPr>
          <a:xfrm>
            <a:off x="11693143" y="5879592"/>
            <a:ext cx="0" cy="73152"/>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sp>
        <p:nvSpPr>
          <p:cNvPr id="112" name="TextBox 111"/>
          <p:cNvSpPr txBox="1"/>
          <p:nvPr/>
        </p:nvSpPr>
        <p:spPr>
          <a:xfrm>
            <a:off x="11500611" y="5980176"/>
            <a:ext cx="310896" cy="201168"/>
          </a:xfrm>
          <a:prstGeom prst="rect">
            <a:avLst/>
          </a:prstGeom>
          <a:noFill/>
        </p:spPr>
        <p:txBody>
          <a:bodyPr wrap="square" lIns="0" rIns="0" tIns="22860" bIns="22860">
            <a:spAutoFit/>
          </a:bodyPr>
          <a:lstStyle/>
          <a:p>
            <a:pPr algn="ctr">
              <a:lnSpc>
                <a:spcPts val="1050"/>
              </a:lnSpc>
              <a:spcBef>
                <a:spcPts val="0"/>
              </a:spcBef>
              <a:spcAft>
                <a:spcPts val="0"/>
              </a:spcAft>
              <a:defRPr sz="1000" b="0">
                <a:solidFill>
                  <a:srgbClr val="182B3A"/>
                </a:solidFill>
                <a:latin typeface="Arial"/>
              </a:defRPr>
            </a:pPr>
            <a:r>
              <a:t>−2</a:t>
            </a:r>
          </a:p>
        </p:txBody>
      </p:sp>
      <p:cxnSp>
        <p:nvCxnSpPr>
          <p:cNvPr id="113" name="Connector 112"/>
          <p:cNvCxnSpPr/>
          <p:nvPr/>
        </p:nvCxnSpPr>
        <p:spPr>
          <a:xfrm>
            <a:off x="11986006" y="5879592"/>
            <a:ext cx="0" cy="73152"/>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sp>
        <p:nvSpPr>
          <p:cNvPr id="114" name="TextBox 113"/>
          <p:cNvSpPr txBox="1"/>
          <p:nvPr/>
        </p:nvSpPr>
        <p:spPr>
          <a:xfrm>
            <a:off x="11793474" y="5980176"/>
            <a:ext cx="310896" cy="201168"/>
          </a:xfrm>
          <a:prstGeom prst="rect">
            <a:avLst/>
          </a:prstGeom>
          <a:noFill/>
        </p:spPr>
        <p:txBody>
          <a:bodyPr wrap="square" lIns="0" rIns="0" tIns="22860" bIns="22860">
            <a:spAutoFit/>
          </a:bodyPr>
          <a:lstStyle/>
          <a:p>
            <a:pPr algn="ctr">
              <a:lnSpc>
                <a:spcPts val="1050"/>
              </a:lnSpc>
              <a:spcBef>
                <a:spcPts val="0"/>
              </a:spcBef>
              <a:spcAft>
                <a:spcPts val="0"/>
              </a:spcAft>
              <a:defRPr sz="1000" b="0">
                <a:solidFill>
                  <a:srgbClr val="182B3A"/>
                </a:solidFill>
                <a:latin typeface="Arial"/>
              </a:defRPr>
            </a:pPr>
            <a:r>
              <a:t>−1</a:t>
            </a:r>
          </a:p>
        </p:txBody>
      </p:sp>
      <p:cxnSp>
        <p:nvCxnSpPr>
          <p:cNvPr id="115" name="Connector 114"/>
          <p:cNvCxnSpPr/>
          <p:nvPr/>
        </p:nvCxnSpPr>
        <p:spPr>
          <a:xfrm>
            <a:off x="12278868" y="5879592"/>
            <a:ext cx="0" cy="73152"/>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sp>
        <p:nvSpPr>
          <p:cNvPr id="116" name="TextBox 115"/>
          <p:cNvSpPr txBox="1"/>
          <p:nvPr/>
        </p:nvSpPr>
        <p:spPr>
          <a:xfrm>
            <a:off x="12123420" y="5980176"/>
            <a:ext cx="310896" cy="201168"/>
          </a:xfrm>
          <a:prstGeom prst="rect">
            <a:avLst/>
          </a:prstGeom>
          <a:noFill/>
        </p:spPr>
        <p:txBody>
          <a:bodyPr wrap="square" lIns="0" rIns="0" tIns="22860" bIns="22860">
            <a:spAutoFit/>
          </a:bodyPr>
          <a:lstStyle/>
          <a:p>
            <a:pPr algn="ctr">
              <a:lnSpc>
                <a:spcPts val="1050"/>
              </a:lnSpc>
              <a:spcBef>
                <a:spcPts val="0"/>
              </a:spcBef>
              <a:spcAft>
                <a:spcPts val="0"/>
              </a:spcAft>
              <a:defRPr sz="1000" b="1">
                <a:solidFill>
                  <a:srgbClr val="182B3A"/>
                </a:solidFill>
                <a:latin typeface="Arial"/>
              </a:defRPr>
            </a:pPr>
            <a:r>
              <a:t>0</a:t>
            </a:r>
          </a:p>
        </p:txBody>
      </p:sp>
      <p:cxnSp>
        <p:nvCxnSpPr>
          <p:cNvPr id="117" name="Connector 116"/>
          <p:cNvCxnSpPr/>
          <p:nvPr/>
        </p:nvCxnSpPr>
        <p:spPr>
          <a:xfrm>
            <a:off x="12571729" y="5879592"/>
            <a:ext cx="0" cy="73152"/>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sp>
        <p:nvSpPr>
          <p:cNvPr id="118" name="TextBox 117"/>
          <p:cNvSpPr txBox="1"/>
          <p:nvPr/>
        </p:nvSpPr>
        <p:spPr>
          <a:xfrm>
            <a:off x="12416281" y="5980176"/>
            <a:ext cx="310896" cy="201168"/>
          </a:xfrm>
          <a:prstGeom prst="rect">
            <a:avLst/>
          </a:prstGeom>
          <a:noFill/>
        </p:spPr>
        <p:txBody>
          <a:bodyPr wrap="square" lIns="0" rIns="0" tIns="22860" bIns="22860">
            <a:spAutoFit/>
          </a:bodyPr>
          <a:lstStyle/>
          <a:p>
            <a:pPr algn="ctr">
              <a:lnSpc>
                <a:spcPts val="1050"/>
              </a:lnSpc>
              <a:spcBef>
                <a:spcPts val="0"/>
              </a:spcBef>
              <a:spcAft>
                <a:spcPts val="0"/>
              </a:spcAft>
              <a:defRPr sz="1000" b="0">
                <a:solidFill>
                  <a:srgbClr val="182B3A"/>
                </a:solidFill>
                <a:latin typeface="Arial"/>
              </a:defRPr>
            </a:pPr>
            <a:r>
              <a:t>1</a:t>
            </a:r>
          </a:p>
        </p:txBody>
      </p:sp>
      <p:cxnSp>
        <p:nvCxnSpPr>
          <p:cNvPr id="119" name="Connector 118"/>
          <p:cNvCxnSpPr/>
          <p:nvPr/>
        </p:nvCxnSpPr>
        <p:spPr>
          <a:xfrm>
            <a:off x="12864592" y="5879592"/>
            <a:ext cx="0" cy="73152"/>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sp>
        <p:nvSpPr>
          <p:cNvPr id="120" name="TextBox 119"/>
          <p:cNvSpPr txBox="1"/>
          <p:nvPr/>
        </p:nvSpPr>
        <p:spPr>
          <a:xfrm>
            <a:off x="12709144" y="5980176"/>
            <a:ext cx="310896" cy="201168"/>
          </a:xfrm>
          <a:prstGeom prst="rect">
            <a:avLst/>
          </a:prstGeom>
          <a:noFill/>
        </p:spPr>
        <p:txBody>
          <a:bodyPr wrap="square" lIns="0" rIns="0" tIns="22860" bIns="22860">
            <a:spAutoFit/>
          </a:bodyPr>
          <a:lstStyle/>
          <a:p>
            <a:pPr algn="ctr">
              <a:lnSpc>
                <a:spcPts val="1050"/>
              </a:lnSpc>
              <a:spcBef>
                <a:spcPts val="0"/>
              </a:spcBef>
              <a:spcAft>
                <a:spcPts val="0"/>
              </a:spcAft>
              <a:defRPr sz="1000" b="0">
                <a:solidFill>
                  <a:srgbClr val="182B3A"/>
                </a:solidFill>
                <a:latin typeface="Arial"/>
              </a:defRPr>
            </a:pPr>
            <a:r>
              <a:t>2</a:t>
            </a:r>
          </a:p>
        </p:txBody>
      </p:sp>
      <p:cxnSp>
        <p:nvCxnSpPr>
          <p:cNvPr id="121" name="Connector 120"/>
          <p:cNvCxnSpPr/>
          <p:nvPr/>
        </p:nvCxnSpPr>
        <p:spPr>
          <a:xfrm>
            <a:off x="13157454" y="5879592"/>
            <a:ext cx="0" cy="73152"/>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sp>
        <p:nvSpPr>
          <p:cNvPr id="122" name="TextBox 121"/>
          <p:cNvSpPr txBox="1"/>
          <p:nvPr/>
        </p:nvSpPr>
        <p:spPr>
          <a:xfrm>
            <a:off x="13002006" y="5980176"/>
            <a:ext cx="310896" cy="201168"/>
          </a:xfrm>
          <a:prstGeom prst="rect">
            <a:avLst/>
          </a:prstGeom>
          <a:noFill/>
        </p:spPr>
        <p:txBody>
          <a:bodyPr wrap="square" lIns="0" rIns="0" tIns="22860" bIns="22860">
            <a:spAutoFit/>
          </a:bodyPr>
          <a:lstStyle/>
          <a:p>
            <a:pPr algn="ctr">
              <a:lnSpc>
                <a:spcPts val="1050"/>
              </a:lnSpc>
              <a:spcBef>
                <a:spcPts val="0"/>
              </a:spcBef>
              <a:spcAft>
                <a:spcPts val="0"/>
              </a:spcAft>
              <a:defRPr sz="1000" b="0">
                <a:solidFill>
                  <a:srgbClr val="182B3A"/>
                </a:solidFill>
                <a:latin typeface="Arial"/>
              </a:defRPr>
            </a:pPr>
            <a:r>
              <a:t>3</a:t>
            </a:r>
          </a:p>
        </p:txBody>
      </p:sp>
      <p:cxnSp>
        <p:nvCxnSpPr>
          <p:cNvPr id="123" name="Connector 122"/>
          <p:cNvCxnSpPr/>
          <p:nvPr/>
        </p:nvCxnSpPr>
        <p:spPr>
          <a:xfrm>
            <a:off x="13450316" y="5879592"/>
            <a:ext cx="0" cy="73152"/>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sp>
        <p:nvSpPr>
          <p:cNvPr id="124" name="TextBox 123"/>
          <p:cNvSpPr txBox="1"/>
          <p:nvPr/>
        </p:nvSpPr>
        <p:spPr>
          <a:xfrm>
            <a:off x="13294868" y="5980176"/>
            <a:ext cx="310896" cy="201168"/>
          </a:xfrm>
          <a:prstGeom prst="rect">
            <a:avLst/>
          </a:prstGeom>
          <a:noFill/>
        </p:spPr>
        <p:txBody>
          <a:bodyPr wrap="square" lIns="0" rIns="0" tIns="22860" bIns="22860">
            <a:spAutoFit/>
          </a:bodyPr>
          <a:lstStyle/>
          <a:p>
            <a:pPr algn="ctr">
              <a:lnSpc>
                <a:spcPts val="1050"/>
              </a:lnSpc>
              <a:spcBef>
                <a:spcPts val="0"/>
              </a:spcBef>
              <a:spcAft>
                <a:spcPts val="0"/>
              </a:spcAft>
              <a:defRPr sz="1000" b="0">
                <a:solidFill>
                  <a:srgbClr val="182B3A"/>
                </a:solidFill>
                <a:latin typeface="Arial"/>
              </a:defRPr>
            </a:pPr>
            <a:r>
              <a:t>4</a:t>
            </a:r>
          </a:p>
        </p:txBody>
      </p:sp>
      <p:cxnSp>
        <p:nvCxnSpPr>
          <p:cNvPr id="125" name="Connector 124"/>
          <p:cNvCxnSpPr/>
          <p:nvPr/>
        </p:nvCxnSpPr>
        <p:spPr>
          <a:xfrm>
            <a:off x="13743177" y="5879592"/>
            <a:ext cx="0" cy="73152"/>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sp>
        <p:nvSpPr>
          <p:cNvPr id="126" name="TextBox 125"/>
          <p:cNvSpPr txBox="1"/>
          <p:nvPr/>
        </p:nvSpPr>
        <p:spPr>
          <a:xfrm>
            <a:off x="13587729" y="5980176"/>
            <a:ext cx="310896" cy="201168"/>
          </a:xfrm>
          <a:prstGeom prst="rect">
            <a:avLst/>
          </a:prstGeom>
          <a:noFill/>
        </p:spPr>
        <p:txBody>
          <a:bodyPr wrap="square" lIns="0" rIns="0" tIns="22860" bIns="22860">
            <a:spAutoFit/>
          </a:bodyPr>
          <a:lstStyle/>
          <a:p>
            <a:pPr algn="ctr">
              <a:lnSpc>
                <a:spcPts val="1050"/>
              </a:lnSpc>
              <a:spcBef>
                <a:spcPts val="0"/>
              </a:spcBef>
              <a:spcAft>
                <a:spcPts val="0"/>
              </a:spcAft>
              <a:defRPr sz="1000" b="0">
                <a:solidFill>
                  <a:srgbClr val="182B3A"/>
                </a:solidFill>
                <a:latin typeface="Arial"/>
              </a:defRPr>
            </a:pPr>
            <a:r>
              <a:t>5</a:t>
            </a:r>
          </a:p>
        </p:txBody>
      </p:sp>
      <p:cxnSp>
        <p:nvCxnSpPr>
          <p:cNvPr id="127" name="Connector 126"/>
          <p:cNvCxnSpPr/>
          <p:nvPr/>
        </p:nvCxnSpPr>
        <p:spPr>
          <a:xfrm>
            <a:off x="14036040" y="5879592"/>
            <a:ext cx="0" cy="73152"/>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sp>
        <p:nvSpPr>
          <p:cNvPr id="128" name="TextBox 127"/>
          <p:cNvSpPr txBox="1"/>
          <p:nvPr/>
        </p:nvSpPr>
        <p:spPr>
          <a:xfrm>
            <a:off x="13880592" y="5980176"/>
            <a:ext cx="310896" cy="201168"/>
          </a:xfrm>
          <a:prstGeom prst="rect">
            <a:avLst/>
          </a:prstGeom>
          <a:noFill/>
        </p:spPr>
        <p:txBody>
          <a:bodyPr wrap="square" lIns="0" rIns="0" tIns="22860" bIns="22860">
            <a:spAutoFit/>
          </a:bodyPr>
          <a:lstStyle/>
          <a:p>
            <a:pPr algn="ctr">
              <a:lnSpc>
                <a:spcPts val="1050"/>
              </a:lnSpc>
              <a:spcBef>
                <a:spcPts val="0"/>
              </a:spcBef>
              <a:spcAft>
                <a:spcPts val="0"/>
              </a:spcAft>
              <a:defRPr sz="1000" b="0">
                <a:solidFill>
                  <a:srgbClr val="182B3A"/>
                </a:solidFill>
                <a:latin typeface="Arial"/>
              </a:defRPr>
            </a:pPr>
            <a:r>
              <a:t>6</a:t>
            </a:r>
          </a:p>
        </p:txBody>
      </p:sp>
      <p:cxnSp>
        <p:nvCxnSpPr>
          <p:cNvPr id="129" name="Connector 128"/>
          <p:cNvCxnSpPr/>
          <p:nvPr/>
        </p:nvCxnSpPr>
        <p:spPr>
          <a:xfrm flipV="1">
            <a:off x="10814557" y="5605272"/>
            <a:ext cx="0" cy="256032"/>
          </a:xfrm>
          <a:prstGeom prst="line">
            <a:avLst/>
          </a:prstGeom>
          <a:ln w="12700">
            <a:solidFill>
              <a:srgbClr val="754B87"/>
            </a:solidFill>
          </a:ln>
        </p:spPr>
        <p:style>
          <a:lnRef idx="2">
            <a:schemeClr val="accent1"/>
          </a:lnRef>
          <a:fillRef idx="0">
            <a:schemeClr val="accent1"/>
          </a:fillRef>
          <a:effectRef idx="1">
            <a:schemeClr val="accent1"/>
          </a:effectRef>
          <a:fontRef idx="minor">
            <a:schemeClr val="tx1"/>
          </a:fontRef>
        </p:style>
      </p:cxnSp>
      <p:cxnSp>
        <p:nvCxnSpPr>
          <p:cNvPr id="130" name="Connector 129"/>
          <p:cNvCxnSpPr/>
          <p:nvPr/>
        </p:nvCxnSpPr>
        <p:spPr>
          <a:xfrm>
            <a:off x="10814557" y="5605272"/>
            <a:ext cx="2342897" cy="0"/>
          </a:xfrm>
          <a:prstGeom prst="line">
            <a:avLst/>
          </a:prstGeom>
          <a:ln w="25400">
            <a:solidFill>
              <a:srgbClr val="754B87"/>
            </a:solidFill>
            <a:tailEnd type="triangle"/>
          </a:ln>
        </p:spPr>
        <p:style>
          <a:lnRef idx="2">
            <a:schemeClr val="accent1"/>
          </a:lnRef>
          <a:fillRef idx="0">
            <a:schemeClr val="accent1"/>
          </a:fillRef>
          <a:effectRef idx="1">
            <a:schemeClr val="accent1"/>
          </a:effectRef>
          <a:fontRef idx="minor">
            <a:schemeClr val="tx1"/>
          </a:fontRef>
        </p:style>
      </p:cxnSp>
      <p:cxnSp>
        <p:nvCxnSpPr>
          <p:cNvPr id="131" name="Connector 130"/>
          <p:cNvCxnSpPr/>
          <p:nvPr/>
        </p:nvCxnSpPr>
        <p:spPr>
          <a:xfrm>
            <a:off x="13157454" y="5605272"/>
            <a:ext cx="0" cy="256032"/>
          </a:xfrm>
          <a:prstGeom prst="line">
            <a:avLst/>
          </a:prstGeom>
          <a:ln w="12700">
            <a:solidFill>
              <a:srgbClr val="754B87"/>
            </a:solidFill>
          </a:ln>
        </p:spPr>
        <p:style>
          <a:lnRef idx="2">
            <a:schemeClr val="accent1"/>
          </a:lnRef>
          <a:fillRef idx="0">
            <a:schemeClr val="accent1"/>
          </a:fillRef>
          <a:effectRef idx="1">
            <a:schemeClr val="accent1"/>
          </a:effectRef>
          <a:fontRef idx="minor">
            <a:schemeClr val="tx1"/>
          </a:fontRef>
        </p:style>
      </p:cxnSp>
      <p:sp>
        <p:nvSpPr>
          <p:cNvPr id="132" name="TextBox 131"/>
          <p:cNvSpPr txBox="1"/>
          <p:nvPr/>
        </p:nvSpPr>
        <p:spPr>
          <a:xfrm>
            <a:off x="10357104" y="5010912"/>
            <a:ext cx="3843528" cy="246888"/>
          </a:xfrm>
          <a:prstGeom prst="rect">
            <a:avLst/>
          </a:prstGeom>
          <a:noFill/>
        </p:spPr>
        <p:txBody>
          <a:bodyPr wrap="square" lIns="54864" rIns="54864" tIns="22860" bIns="22860">
            <a:spAutoFit/>
          </a:bodyPr>
          <a:lstStyle/>
          <a:p>
            <a:pPr>
              <a:lnSpc>
                <a:spcPts val="1260"/>
              </a:lnSpc>
              <a:spcBef>
                <a:spcPts val="0"/>
              </a:spcBef>
              <a:spcAft>
                <a:spcPts val="0"/>
              </a:spcAft>
              <a:defRPr sz="1200" b="1">
                <a:solidFill>
                  <a:srgbClr val="754B87"/>
                </a:solidFill>
                <a:latin typeface="Arial"/>
              </a:defRPr>
            </a:pPr>
            <a:r>
              <a:t>+8, then +2</a:t>
            </a:r>
          </a:p>
        </p:txBody>
      </p:sp>
      <p:cxnSp>
        <p:nvCxnSpPr>
          <p:cNvPr id="133" name="Connector 132"/>
          <p:cNvCxnSpPr/>
          <p:nvPr/>
        </p:nvCxnSpPr>
        <p:spPr>
          <a:xfrm flipV="1">
            <a:off x="13157454" y="5312664"/>
            <a:ext cx="0" cy="548640"/>
          </a:xfrm>
          <a:prstGeom prst="line">
            <a:avLst/>
          </a:prstGeom>
          <a:ln w="12700">
            <a:solidFill>
              <a:srgbClr val="754B87"/>
            </a:solidFill>
          </a:ln>
        </p:spPr>
        <p:style>
          <a:lnRef idx="2">
            <a:schemeClr val="accent1"/>
          </a:lnRef>
          <a:fillRef idx="0">
            <a:schemeClr val="accent1"/>
          </a:fillRef>
          <a:effectRef idx="1">
            <a:schemeClr val="accent1"/>
          </a:effectRef>
          <a:fontRef idx="minor">
            <a:schemeClr val="tx1"/>
          </a:fontRef>
        </p:style>
      </p:cxnSp>
      <p:cxnSp>
        <p:nvCxnSpPr>
          <p:cNvPr id="134" name="Connector 133"/>
          <p:cNvCxnSpPr/>
          <p:nvPr/>
        </p:nvCxnSpPr>
        <p:spPr>
          <a:xfrm>
            <a:off x="13157454" y="5312664"/>
            <a:ext cx="585723" cy="0"/>
          </a:xfrm>
          <a:prstGeom prst="line">
            <a:avLst/>
          </a:prstGeom>
          <a:ln w="25400">
            <a:solidFill>
              <a:srgbClr val="754B87"/>
            </a:solidFill>
            <a:tailEnd type="triangle"/>
          </a:ln>
        </p:spPr>
        <p:style>
          <a:lnRef idx="2">
            <a:schemeClr val="accent1"/>
          </a:lnRef>
          <a:fillRef idx="0">
            <a:schemeClr val="accent1"/>
          </a:fillRef>
          <a:effectRef idx="1">
            <a:schemeClr val="accent1"/>
          </a:effectRef>
          <a:fontRef idx="minor">
            <a:schemeClr val="tx1"/>
          </a:fontRef>
        </p:style>
      </p:cxnSp>
      <p:cxnSp>
        <p:nvCxnSpPr>
          <p:cNvPr id="135" name="Connector 134"/>
          <p:cNvCxnSpPr/>
          <p:nvPr/>
        </p:nvCxnSpPr>
        <p:spPr>
          <a:xfrm>
            <a:off x="13743177" y="5312664"/>
            <a:ext cx="0" cy="548640"/>
          </a:xfrm>
          <a:prstGeom prst="line">
            <a:avLst/>
          </a:prstGeom>
          <a:ln w="12700">
            <a:solidFill>
              <a:srgbClr val="754B87"/>
            </a:solidFill>
          </a:ln>
        </p:spPr>
        <p:style>
          <a:lnRef idx="2">
            <a:schemeClr val="accent1"/>
          </a:lnRef>
          <a:fillRef idx="0">
            <a:schemeClr val="accent1"/>
          </a:fillRef>
          <a:effectRef idx="1">
            <a:schemeClr val="accent1"/>
          </a:effectRef>
          <a:fontRef idx="minor">
            <a:schemeClr val="tx1"/>
          </a:fontRef>
        </p:style>
      </p:cxnSp>
      <p:sp>
        <p:nvSpPr>
          <p:cNvPr id="136" name="TextBox 135"/>
          <p:cNvSpPr txBox="1"/>
          <p:nvPr/>
        </p:nvSpPr>
        <p:spPr>
          <a:xfrm>
            <a:off x="10357104" y="5276088"/>
            <a:ext cx="3843528" cy="246888"/>
          </a:xfrm>
          <a:prstGeom prst="rect">
            <a:avLst/>
          </a:prstGeom>
          <a:noFill/>
        </p:spPr>
        <p:txBody>
          <a:bodyPr wrap="square" lIns="54864" rIns="54864" tIns="22860" bIns="22860">
            <a:spAutoFit/>
          </a:bodyPr>
          <a:lstStyle/>
          <a:p>
            <a:pPr>
              <a:lnSpc>
                <a:spcPts val="1260"/>
              </a:lnSpc>
              <a:spcBef>
                <a:spcPts val="0"/>
              </a:spcBef>
              <a:spcAft>
                <a:spcPts val="0"/>
              </a:spcAft>
              <a:defRPr sz="1200" b="1">
                <a:solidFill>
                  <a:srgbClr val="754B87"/>
                </a:solidFill>
                <a:latin typeface="Arial"/>
              </a:defRPr>
            </a:pPr>
          </a:p>
        </p:txBody>
      </p:sp>
      <p:sp>
        <p:nvSpPr>
          <p:cNvPr id="137" name="Rectangle 136"/>
          <p:cNvSpPr/>
          <p:nvPr/>
        </p:nvSpPr>
        <p:spPr>
          <a:xfrm>
            <a:off x="320040" y="6318504"/>
            <a:ext cx="1801367" cy="1188720"/>
          </a:xfrm>
          <a:prstGeom prst="rect">
            <a:avLst/>
          </a:prstGeom>
          <a:solidFill>
            <a:srgbClr val="E8EDF1"/>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8" name="TextBox 137"/>
          <p:cNvSpPr txBox="1"/>
          <p:nvPr/>
        </p:nvSpPr>
        <p:spPr>
          <a:xfrm>
            <a:off x="374904" y="6409944"/>
            <a:ext cx="1691639" cy="1033272"/>
          </a:xfrm>
          <a:prstGeom prst="rect">
            <a:avLst/>
          </a:prstGeom>
          <a:noFill/>
        </p:spPr>
        <p:txBody>
          <a:bodyPr wrap="square" lIns="54864" rIns="54864" tIns="22860" bIns="22860">
            <a:spAutoFit/>
          </a:bodyPr>
          <a:lstStyle/>
          <a:p>
            <a:pPr>
              <a:lnSpc>
                <a:spcPts val="1785"/>
              </a:lnSpc>
              <a:spcBef>
                <a:spcPts val="0"/>
              </a:spcBef>
              <a:spcAft>
                <a:spcPts val="0"/>
              </a:spcAft>
              <a:defRPr sz="1700" b="1">
                <a:solidFill>
                  <a:srgbClr val="182B3A"/>
                </a:solidFill>
                <a:latin typeface="Arial"/>
              </a:defRPr>
            </a:pPr>
            <a:r>
              <a:t>Check the Answer</a:t>
            </a:r>
          </a:p>
        </p:txBody>
      </p:sp>
      <p:sp>
        <p:nvSpPr>
          <p:cNvPr id="139" name="Rectangle 138"/>
          <p:cNvSpPr/>
          <p:nvPr/>
        </p:nvSpPr>
        <p:spPr>
          <a:xfrm>
            <a:off x="2121408" y="6318504"/>
            <a:ext cx="4062984" cy="1188720"/>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0" name="TextBox 139"/>
          <p:cNvSpPr txBox="1"/>
          <p:nvPr/>
        </p:nvSpPr>
        <p:spPr>
          <a:xfrm>
            <a:off x="2194560" y="6400800"/>
            <a:ext cx="3916680" cy="1042416"/>
          </a:xfrm>
          <a:prstGeom prst="rect">
            <a:avLst/>
          </a:prstGeom>
          <a:noFill/>
        </p:spPr>
        <p:txBody>
          <a:bodyPr wrap="square" lIns="54864" rIns="54864" tIns="22860" bIns="22860">
            <a:spAutoFit/>
          </a:bodyPr>
          <a:lstStyle/>
          <a:p>
            <a:pPr>
              <a:lnSpc>
                <a:spcPts val="1785"/>
              </a:lnSpc>
              <a:spcBef>
                <a:spcPts val="0"/>
              </a:spcBef>
              <a:spcAft>
                <a:spcPts val="0"/>
              </a:spcAft>
              <a:defRPr sz="1700" b="0">
                <a:solidFill>
                  <a:srgbClr val="182B3A"/>
                </a:solidFill>
                <a:latin typeface="Arial"/>
              </a:defRPr>
            </a:pPr>
            <a:r>
              <a:t>3 − 7 = −4. Answer: 3.</a:t>
            </a:r>
          </a:p>
        </p:txBody>
      </p:sp>
      <p:sp>
        <p:nvSpPr>
          <p:cNvPr id="141" name="Rectangle 140"/>
          <p:cNvSpPr/>
          <p:nvPr/>
        </p:nvSpPr>
        <p:spPr>
          <a:xfrm>
            <a:off x="6184392" y="6318504"/>
            <a:ext cx="4062984" cy="1188720"/>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2" name="TextBox 141"/>
          <p:cNvSpPr txBox="1"/>
          <p:nvPr/>
        </p:nvSpPr>
        <p:spPr>
          <a:xfrm>
            <a:off x="6257544" y="6400800"/>
            <a:ext cx="3916680" cy="1042416"/>
          </a:xfrm>
          <a:prstGeom prst="rect">
            <a:avLst/>
          </a:prstGeom>
          <a:noFill/>
        </p:spPr>
        <p:txBody>
          <a:bodyPr wrap="square" lIns="54864" rIns="54864" tIns="22860" bIns="22860">
            <a:spAutoFit/>
          </a:bodyPr>
          <a:lstStyle/>
          <a:p>
            <a:pPr>
              <a:lnSpc>
                <a:spcPts val="1785"/>
              </a:lnSpc>
              <a:spcBef>
                <a:spcPts val="0"/>
              </a:spcBef>
              <a:spcAft>
                <a:spcPts val="0"/>
              </a:spcAft>
              <a:defRPr sz="1700" b="0">
                <a:solidFill>
                  <a:srgbClr val="182B3A"/>
                </a:solidFill>
                <a:latin typeface="Arial"/>
              </a:defRPr>
            </a:pPr>
            <a:r>
              <a:t>9 + (−3) = 6. Answer: 9.</a:t>
            </a:r>
          </a:p>
        </p:txBody>
      </p:sp>
      <p:sp>
        <p:nvSpPr>
          <p:cNvPr id="143" name="Rectangle 142"/>
          <p:cNvSpPr/>
          <p:nvPr/>
        </p:nvSpPr>
        <p:spPr>
          <a:xfrm>
            <a:off x="10247376" y="6318504"/>
            <a:ext cx="4062984" cy="1188720"/>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4" name="TextBox 143"/>
          <p:cNvSpPr txBox="1"/>
          <p:nvPr/>
        </p:nvSpPr>
        <p:spPr>
          <a:xfrm>
            <a:off x="10320528" y="6400800"/>
            <a:ext cx="3916680" cy="1042416"/>
          </a:xfrm>
          <a:prstGeom prst="rect">
            <a:avLst/>
          </a:prstGeom>
          <a:noFill/>
        </p:spPr>
        <p:txBody>
          <a:bodyPr wrap="square" lIns="54864" rIns="54864" tIns="22860" bIns="22860">
            <a:spAutoFit/>
          </a:bodyPr>
          <a:lstStyle/>
          <a:p>
            <a:pPr>
              <a:lnSpc>
                <a:spcPts val="1785"/>
              </a:lnSpc>
              <a:spcBef>
                <a:spcPts val="0"/>
              </a:spcBef>
              <a:spcAft>
                <a:spcPts val="0"/>
              </a:spcAft>
              <a:defRPr sz="1700" b="0">
                <a:solidFill>
                  <a:srgbClr val="182B3A"/>
                </a:solidFill>
                <a:latin typeface="Arial"/>
              </a:defRPr>
            </a:pPr>
            <a:r>
              <a:t>5 + (−2) = 3; 3 − 8 = −5. Answer: 5.</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bg>
      <p:bgPr>
        <a:solidFill>
          <a:srgbClr val="F7F8FA"/>
        </a:solidFill>
        <a:effectLst/>
      </p:bgPr>
    </p:bg>
    <p:spTree>
      <p:nvGrpSpPr>
        <p:cNvPr id="1" name=""/>
        <p:cNvGrpSpPr/>
        <p:nvPr/>
      </p:nvGrpSpPr>
      <p:grpSpPr/>
      <p:sp>
        <p:nvSpPr>
          <p:cNvPr id="2" name="Rectangle 1"/>
          <p:cNvSpPr/>
          <p:nvPr/>
        </p:nvSpPr>
        <p:spPr>
          <a:xfrm>
            <a:off x="0" y="0"/>
            <a:ext cx="14630400" cy="73152"/>
          </a:xfrm>
          <a:prstGeom prst="rect">
            <a:avLst/>
          </a:prstGeom>
          <a:solidFill>
            <a:srgbClr val="176B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20040" y="164592"/>
            <a:ext cx="13990320" cy="457200"/>
          </a:xfrm>
          <a:prstGeom prst="rect">
            <a:avLst/>
          </a:prstGeom>
          <a:noFill/>
        </p:spPr>
        <p:txBody>
          <a:bodyPr wrap="square" lIns="54864" rIns="54864" tIns="22860" bIns="22860">
            <a:spAutoFit/>
          </a:bodyPr>
          <a:lstStyle/>
          <a:p>
            <a:pPr>
              <a:lnSpc>
                <a:spcPts val="2940"/>
              </a:lnSpc>
              <a:spcBef>
                <a:spcPts val="0"/>
              </a:spcBef>
              <a:spcAft>
                <a:spcPts val="0"/>
              </a:spcAft>
              <a:defRPr sz="2800" b="1">
                <a:solidFill>
                  <a:srgbClr val="182B3A"/>
                </a:solidFill>
                <a:latin typeface="Arial"/>
              </a:defRPr>
            </a:pPr>
            <a:r>
              <a:t>Signed numbers: addition and subtraction</a:t>
            </a:r>
          </a:p>
        </p:txBody>
      </p:sp>
      <p:sp>
        <p:nvSpPr>
          <p:cNvPr id="4" name="TextBox 3"/>
          <p:cNvSpPr txBox="1"/>
          <p:nvPr/>
        </p:nvSpPr>
        <p:spPr>
          <a:xfrm>
            <a:off x="320040" y="704088"/>
            <a:ext cx="13990320" cy="347472"/>
          </a:xfrm>
          <a:prstGeom prst="rect">
            <a:avLst/>
          </a:prstGeom>
          <a:noFill/>
        </p:spPr>
        <p:txBody>
          <a:bodyPr wrap="square" lIns="54864" rIns="54864" tIns="22860" bIns="22860">
            <a:spAutoFit/>
          </a:bodyPr>
          <a:lstStyle/>
          <a:p>
            <a:pPr>
              <a:lnSpc>
                <a:spcPts val="1575"/>
              </a:lnSpc>
              <a:spcBef>
                <a:spcPts val="0"/>
              </a:spcBef>
              <a:spcAft>
                <a:spcPts val="0"/>
              </a:spcAft>
              <a:defRPr sz="1500" b="0">
                <a:solidFill>
                  <a:srgbClr val="526472"/>
                </a:solidFill>
                <a:latin typeface="Arial"/>
              </a:defRPr>
            </a:pPr>
            <a:r>
              <a:t>Step-by-step practice 1 • Show your working.</a:t>
            </a:r>
          </a:p>
        </p:txBody>
      </p:sp>
      <p:sp>
        <p:nvSpPr>
          <p:cNvPr id="5" name="TextBox 4"/>
          <p:cNvSpPr txBox="1"/>
          <p:nvPr/>
        </p:nvSpPr>
        <p:spPr>
          <a:xfrm>
            <a:off x="320040" y="7973568"/>
            <a:ext cx="10789920" cy="210312"/>
          </a:xfrm>
          <a:prstGeom prst="rect">
            <a:avLst/>
          </a:prstGeom>
          <a:noFill/>
        </p:spPr>
        <p:txBody>
          <a:bodyPr wrap="square" lIns="54864" rIns="54864" tIns="22860" bIns="22860">
            <a:spAutoFit/>
          </a:bodyPr>
          <a:lstStyle/>
          <a:p>
            <a:pPr>
              <a:lnSpc>
                <a:spcPts val="1155"/>
              </a:lnSpc>
              <a:spcBef>
                <a:spcPts val="0"/>
              </a:spcBef>
              <a:spcAft>
                <a:spcPts val="0"/>
              </a:spcAft>
              <a:defRPr sz="1100" b="0">
                <a:solidFill>
                  <a:srgbClr val="526472"/>
                </a:solidFill>
                <a:latin typeface="Arial"/>
              </a:defRPr>
            </a:pPr>
            <a:r>
              <a:t>GCSE Maths revision • No calculator • Show your working.</a:t>
            </a:r>
          </a:p>
        </p:txBody>
      </p:sp>
      <p:sp>
        <p:nvSpPr>
          <p:cNvPr id="6" name="TextBox 5"/>
          <p:cNvSpPr txBox="1"/>
          <p:nvPr/>
        </p:nvSpPr>
        <p:spPr>
          <a:xfrm>
            <a:off x="11155680" y="7973568"/>
            <a:ext cx="3108960" cy="210312"/>
          </a:xfrm>
          <a:prstGeom prst="rect">
            <a:avLst/>
          </a:prstGeom>
          <a:noFill/>
        </p:spPr>
        <p:txBody>
          <a:bodyPr wrap="square" lIns="54864" rIns="54864" tIns="22860" bIns="22860">
            <a:spAutoFit/>
          </a:bodyPr>
          <a:lstStyle/>
          <a:p>
            <a:pPr>
              <a:lnSpc>
                <a:spcPts val="1155"/>
              </a:lnSpc>
              <a:spcBef>
                <a:spcPts val="0"/>
              </a:spcBef>
              <a:spcAft>
                <a:spcPts val="0"/>
              </a:spcAft>
              <a:defRPr sz="1100" b="0">
                <a:solidFill>
                  <a:srgbClr val="526472"/>
                </a:solidFill>
                <a:latin typeface="Arial"/>
              </a:defRPr>
            </a:pPr>
            <a:r>
              <a:t>M13-S02</a:t>
            </a:r>
          </a:p>
        </p:txBody>
      </p:sp>
      <p:sp>
        <p:nvSpPr>
          <p:cNvPr id="7" name="Rectangle 6"/>
          <p:cNvSpPr/>
          <p:nvPr/>
        </p:nvSpPr>
        <p:spPr>
          <a:xfrm>
            <a:off x="2121408" y="1115568"/>
            <a:ext cx="4040123" cy="420624"/>
          </a:xfrm>
          <a:prstGeom prst="rect">
            <a:avLst/>
          </a:prstGeom>
          <a:solidFill>
            <a:srgbClr val="176B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2148839" y="1147572"/>
            <a:ext cx="3980688" cy="329184"/>
          </a:xfrm>
          <a:prstGeom prst="rect">
            <a:avLst/>
          </a:prstGeom>
          <a:noFill/>
        </p:spPr>
        <p:txBody>
          <a:bodyPr wrap="square" lIns="54864" rIns="54864" tIns="22860" bIns="22860">
            <a:spAutoFit/>
          </a:bodyPr>
          <a:lstStyle/>
          <a:p>
            <a:pPr>
              <a:lnSpc>
                <a:spcPts val="1995"/>
              </a:lnSpc>
              <a:spcBef>
                <a:spcPts val="0"/>
              </a:spcBef>
              <a:spcAft>
                <a:spcPts val="0"/>
              </a:spcAft>
              <a:defRPr sz="1900" b="1">
                <a:solidFill>
                  <a:srgbClr val="FFFFFF"/>
                </a:solidFill>
                <a:latin typeface="Arial"/>
              </a:defRPr>
            </a:pPr>
            <a:r>
              <a:t>Start</a:t>
            </a:r>
          </a:p>
        </p:txBody>
      </p:sp>
      <p:sp>
        <p:nvSpPr>
          <p:cNvPr id="9" name="Rectangle 8"/>
          <p:cNvSpPr/>
          <p:nvPr/>
        </p:nvSpPr>
        <p:spPr>
          <a:xfrm>
            <a:off x="6184392" y="1115568"/>
            <a:ext cx="4040123" cy="420624"/>
          </a:xfrm>
          <a:prstGeom prst="rect">
            <a:avLst/>
          </a:prstGeom>
          <a:solidFill>
            <a:srgbClr val="3559A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211824" y="1147572"/>
            <a:ext cx="3980688" cy="329184"/>
          </a:xfrm>
          <a:prstGeom prst="rect">
            <a:avLst/>
          </a:prstGeom>
          <a:noFill/>
        </p:spPr>
        <p:txBody>
          <a:bodyPr wrap="square" lIns="54864" rIns="54864" tIns="22860" bIns="22860">
            <a:spAutoFit/>
          </a:bodyPr>
          <a:lstStyle/>
          <a:p>
            <a:pPr>
              <a:lnSpc>
                <a:spcPts val="1995"/>
              </a:lnSpc>
              <a:spcBef>
                <a:spcPts val="0"/>
              </a:spcBef>
              <a:spcAft>
                <a:spcPts val="0"/>
              </a:spcAft>
              <a:defRPr sz="1900" b="1">
                <a:solidFill>
                  <a:srgbClr val="FFFFFF"/>
                </a:solidFill>
                <a:latin typeface="Arial"/>
              </a:defRPr>
            </a:pPr>
            <a:r>
              <a:t>Build</a:t>
            </a:r>
          </a:p>
        </p:txBody>
      </p:sp>
      <p:sp>
        <p:nvSpPr>
          <p:cNvPr id="11" name="Rectangle 10"/>
          <p:cNvSpPr/>
          <p:nvPr/>
        </p:nvSpPr>
        <p:spPr>
          <a:xfrm>
            <a:off x="10247376" y="1115568"/>
            <a:ext cx="4040123" cy="420624"/>
          </a:xfrm>
          <a:prstGeom prst="rect">
            <a:avLst/>
          </a:prstGeom>
          <a:solidFill>
            <a:srgbClr val="754B8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0274808" y="1147572"/>
            <a:ext cx="3980688" cy="329184"/>
          </a:xfrm>
          <a:prstGeom prst="rect">
            <a:avLst/>
          </a:prstGeom>
          <a:noFill/>
        </p:spPr>
        <p:txBody>
          <a:bodyPr wrap="square" lIns="54864" rIns="54864" tIns="22860" bIns="22860">
            <a:spAutoFit/>
          </a:bodyPr>
          <a:lstStyle/>
          <a:p>
            <a:pPr>
              <a:lnSpc>
                <a:spcPts val="1995"/>
              </a:lnSpc>
              <a:spcBef>
                <a:spcPts val="0"/>
              </a:spcBef>
              <a:spcAft>
                <a:spcPts val="0"/>
              </a:spcAft>
              <a:defRPr sz="1900" b="1">
                <a:solidFill>
                  <a:srgbClr val="FFFFFF"/>
                </a:solidFill>
                <a:latin typeface="Arial"/>
              </a:defRPr>
            </a:pPr>
            <a:r>
              <a:t>Confidence</a:t>
            </a:r>
          </a:p>
        </p:txBody>
      </p:sp>
      <p:sp>
        <p:nvSpPr>
          <p:cNvPr id="13" name="Rectangle 12"/>
          <p:cNvSpPr/>
          <p:nvPr/>
        </p:nvSpPr>
        <p:spPr>
          <a:xfrm>
            <a:off x="320040" y="1563624"/>
            <a:ext cx="1801367" cy="822960"/>
          </a:xfrm>
          <a:prstGeom prst="rect">
            <a:avLst/>
          </a:prstGeom>
          <a:solidFill>
            <a:srgbClr val="E8EDF1"/>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374904" y="1655064"/>
            <a:ext cx="1691639" cy="667512"/>
          </a:xfrm>
          <a:prstGeom prst="rect">
            <a:avLst/>
          </a:prstGeom>
          <a:noFill/>
        </p:spPr>
        <p:txBody>
          <a:bodyPr wrap="square" lIns="54864" rIns="54864" tIns="22860" bIns="22860">
            <a:spAutoFit/>
          </a:bodyPr>
          <a:lstStyle/>
          <a:p>
            <a:pPr>
              <a:lnSpc>
                <a:spcPts val="1785"/>
              </a:lnSpc>
              <a:spcBef>
                <a:spcPts val="0"/>
              </a:spcBef>
              <a:spcAft>
                <a:spcPts val="0"/>
              </a:spcAft>
              <a:defRPr sz="1700" b="1">
                <a:solidFill>
                  <a:srgbClr val="182B3A"/>
                </a:solidFill>
                <a:latin typeface="Arial"/>
              </a:defRPr>
            </a:pPr>
            <a:r>
              <a:t>The Full Question</a:t>
            </a:r>
          </a:p>
        </p:txBody>
      </p:sp>
      <p:sp>
        <p:nvSpPr>
          <p:cNvPr id="15" name="Rectangle 14"/>
          <p:cNvSpPr/>
          <p:nvPr/>
        </p:nvSpPr>
        <p:spPr>
          <a:xfrm>
            <a:off x="2121408" y="1563624"/>
            <a:ext cx="4062984" cy="822960"/>
          </a:xfrm>
          <a:prstGeom prst="rect">
            <a:avLst/>
          </a:prstGeom>
          <a:solidFill>
            <a:srgbClr val="EDF6F5"/>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2194560" y="1645920"/>
            <a:ext cx="3916680" cy="676656"/>
          </a:xfrm>
          <a:prstGeom prst="rect">
            <a:avLst/>
          </a:prstGeom>
          <a:noFill/>
        </p:spPr>
        <p:txBody>
          <a:bodyPr wrap="square" lIns="54864" rIns="54864" tIns="22860" bIns="22860">
            <a:spAutoFit/>
          </a:bodyPr>
          <a:lstStyle/>
          <a:p>
            <a:pPr>
              <a:lnSpc>
                <a:spcPts val="2520"/>
              </a:lnSpc>
              <a:spcBef>
                <a:spcPts val="0"/>
              </a:spcBef>
              <a:spcAft>
                <a:spcPts val="0"/>
              </a:spcAft>
              <a:defRPr sz="2400" b="1">
                <a:solidFill>
                  <a:srgbClr val="182B3A"/>
                </a:solidFill>
                <a:latin typeface="Arial"/>
              </a:defRPr>
            </a:pPr>
            <a:r>
              <a:t>−6 + 9</a:t>
            </a:r>
          </a:p>
        </p:txBody>
      </p:sp>
      <p:sp>
        <p:nvSpPr>
          <p:cNvPr id="17" name="Rectangle 16"/>
          <p:cNvSpPr/>
          <p:nvPr/>
        </p:nvSpPr>
        <p:spPr>
          <a:xfrm>
            <a:off x="6184392" y="1563624"/>
            <a:ext cx="4062984" cy="822960"/>
          </a:xfrm>
          <a:prstGeom prst="rect">
            <a:avLst/>
          </a:prstGeom>
          <a:solidFill>
            <a:srgbClr val="EFF3FA"/>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257544" y="1645920"/>
            <a:ext cx="3916680" cy="676656"/>
          </a:xfrm>
          <a:prstGeom prst="rect">
            <a:avLst/>
          </a:prstGeom>
          <a:noFill/>
        </p:spPr>
        <p:txBody>
          <a:bodyPr wrap="square" lIns="54864" rIns="54864" tIns="22860" bIns="22860">
            <a:spAutoFit/>
          </a:bodyPr>
          <a:lstStyle/>
          <a:p>
            <a:pPr>
              <a:lnSpc>
                <a:spcPts val="2520"/>
              </a:lnSpc>
              <a:spcBef>
                <a:spcPts val="0"/>
              </a:spcBef>
              <a:spcAft>
                <a:spcPts val="0"/>
              </a:spcAft>
              <a:defRPr sz="2400" b="1">
                <a:solidFill>
                  <a:srgbClr val="182B3A"/>
                </a:solidFill>
                <a:latin typeface="Arial"/>
              </a:defRPr>
            </a:pPr>
            <a:r>
              <a:t>4 + (−7)</a:t>
            </a:r>
          </a:p>
        </p:txBody>
      </p:sp>
      <p:sp>
        <p:nvSpPr>
          <p:cNvPr id="19" name="Rectangle 18"/>
          <p:cNvSpPr/>
          <p:nvPr/>
        </p:nvSpPr>
        <p:spPr>
          <a:xfrm>
            <a:off x="10247376" y="1563624"/>
            <a:ext cx="4062984" cy="822960"/>
          </a:xfrm>
          <a:prstGeom prst="rect">
            <a:avLst/>
          </a:prstGeom>
          <a:solidFill>
            <a:srgbClr val="F5F0F7"/>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20528" y="1645920"/>
            <a:ext cx="3916680" cy="676656"/>
          </a:xfrm>
          <a:prstGeom prst="rect">
            <a:avLst/>
          </a:prstGeom>
          <a:noFill/>
        </p:spPr>
        <p:txBody>
          <a:bodyPr wrap="square" lIns="54864" rIns="54864" tIns="22860" bIns="22860">
            <a:spAutoFit/>
          </a:bodyPr>
          <a:lstStyle/>
          <a:p>
            <a:pPr>
              <a:lnSpc>
                <a:spcPts val="2520"/>
              </a:lnSpc>
              <a:spcBef>
                <a:spcPts val="0"/>
              </a:spcBef>
              <a:spcAft>
                <a:spcPts val="0"/>
              </a:spcAft>
              <a:defRPr sz="2400" b="1">
                <a:solidFill>
                  <a:srgbClr val="182B3A"/>
                </a:solidFill>
                <a:latin typeface="Arial"/>
              </a:defRPr>
            </a:pPr>
            <a:r>
              <a:t>−8 + 5 − (−4)</a:t>
            </a:r>
          </a:p>
        </p:txBody>
      </p:sp>
      <p:sp>
        <p:nvSpPr>
          <p:cNvPr id="21" name="Rectangle 20"/>
          <p:cNvSpPr/>
          <p:nvPr/>
        </p:nvSpPr>
        <p:spPr>
          <a:xfrm>
            <a:off x="320040" y="2386584"/>
            <a:ext cx="1801367" cy="1261872"/>
          </a:xfrm>
          <a:prstGeom prst="rect">
            <a:avLst/>
          </a:prstGeom>
          <a:solidFill>
            <a:srgbClr val="E8EDF1"/>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374904" y="2478024"/>
            <a:ext cx="1691639" cy="1106424"/>
          </a:xfrm>
          <a:prstGeom prst="rect">
            <a:avLst/>
          </a:prstGeom>
          <a:noFill/>
        </p:spPr>
        <p:txBody>
          <a:bodyPr wrap="square" lIns="54864" rIns="54864" tIns="22860" bIns="22860">
            <a:spAutoFit/>
          </a:bodyPr>
          <a:lstStyle/>
          <a:p>
            <a:pPr>
              <a:lnSpc>
                <a:spcPts val="1785"/>
              </a:lnSpc>
              <a:spcBef>
                <a:spcPts val="0"/>
              </a:spcBef>
              <a:spcAft>
                <a:spcPts val="0"/>
              </a:spcAft>
              <a:defRPr sz="1700" b="1">
                <a:solidFill>
                  <a:srgbClr val="182B3A"/>
                </a:solidFill>
                <a:latin typeface="Arial"/>
              </a:defRPr>
            </a:pPr>
            <a:r>
              <a:t>Read the Signs</a:t>
            </a:r>
          </a:p>
        </p:txBody>
      </p:sp>
      <p:sp>
        <p:nvSpPr>
          <p:cNvPr id="23" name="Rectangle 22"/>
          <p:cNvSpPr/>
          <p:nvPr/>
        </p:nvSpPr>
        <p:spPr>
          <a:xfrm>
            <a:off x="2121408" y="2386584"/>
            <a:ext cx="4062984" cy="1261872"/>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2194560" y="2468879"/>
            <a:ext cx="3916680" cy="1115568"/>
          </a:xfrm>
          <a:prstGeom prst="rect">
            <a:avLst/>
          </a:prstGeom>
          <a:noFill/>
        </p:spPr>
        <p:txBody>
          <a:bodyPr wrap="square" lIns="54864" rIns="54864" tIns="22860" bIns="22860">
            <a:spAutoFit/>
          </a:bodyPr>
          <a:lstStyle/>
          <a:p>
            <a:pPr>
              <a:lnSpc>
                <a:spcPts val="1785"/>
              </a:lnSpc>
              <a:spcBef>
                <a:spcPts val="0"/>
              </a:spcBef>
              <a:spcAft>
                <a:spcPts val="0"/>
              </a:spcAft>
              <a:defRPr sz="1700" b="0">
                <a:solidFill>
                  <a:srgbClr val="182B3A"/>
                </a:solidFill>
                <a:latin typeface="Arial"/>
              </a:defRPr>
            </a:pPr>
            <a:r>
              <a:t>Identify the operation signs and the signs belonging to the numbers.</a:t>
            </a:r>
          </a:p>
        </p:txBody>
      </p:sp>
      <p:sp>
        <p:nvSpPr>
          <p:cNvPr id="25" name="Rectangle 24"/>
          <p:cNvSpPr/>
          <p:nvPr/>
        </p:nvSpPr>
        <p:spPr>
          <a:xfrm>
            <a:off x="6184392" y="2386584"/>
            <a:ext cx="4062984" cy="1261872"/>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257544" y="2468879"/>
            <a:ext cx="3916680" cy="1115568"/>
          </a:xfrm>
          <a:prstGeom prst="rect">
            <a:avLst/>
          </a:prstGeom>
          <a:noFill/>
        </p:spPr>
        <p:txBody>
          <a:bodyPr wrap="square" lIns="54864" rIns="54864" tIns="22860" bIns="22860">
            <a:spAutoFit/>
          </a:bodyPr>
          <a:lstStyle/>
          <a:p>
            <a:pPr>
              <a:lnSpc>
                <a:spcPts val="1785"/>
              </a:lnSpc>
              <a:spcBef>
                <a:spcPts val="0"/>
              </a:spcBef>
              <a:spcAft>
                <a:spcPts val="0"/>
              </a:spcAft>
              <a:defRPr sz="1700" b="0">
                <a:solidFill>
                  <a:srgbClr val="182B3A"/>
                </a:solidFill>
                <a:latin typeface="Arial"/>
              </a:defRPr>
            </a:pPr>
            <a:r>
              <a:t>Identify the operation signs and the signs belonging to the numbers.</a:t>
            </a:r>
          </a:p>
        </p:txBody>
      </p:sp>
      <p:sp>
        <p:nvSpPr>
          <p:cNvPr id="27" name="Rectangle 26"/>
          <p:cNvSpPr/>
          <p:nvPr/>
        </p:nvSpPr>
        <p:spPr>
          <a:xfrm>
            <a:off x="10247376" y="2386584"/>
            <a:ext cx="4062984" cy="1261872"/>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10320528" y="2468879"/>
            <a:ext cx="3916680" cy="1115568"/>
          </a:xfrm>
          <a:prstGeom prst="rect">
            <a:avLst/>
          </a:prstGeom>
          <a:noFill/>
        </p:spPr>
        <p:txBody>
          <a:bodyPr wrap="square" lIns="54864" rIns="54864" tIns="22860" bIns="22860">
            <a:spAutoFit/>
          </a:bodyPr>
          <a:lstStyle/>
          <a:p>
            <a:pPr>
              <a:lnSpc>
                <a:spcPts val="1785"/>
              </a:lnSpc>
              <a:spcBef>
                <a:spcPts val="0"/>
              </a:spcBef>
              <a:spcAft>
                <a:spcPts val="0"/>
              </a:spcAft>
              <a:defRPr sz="1700" b="0">
                <a:solidFill>
                  <a:srgbClr val="182B3A"/>
                </a:solidFill>
                <a:latin typeface="Arial"/>
              </a:defRPr>
            </a:pPr>
            <a:r>
              <a:t>Identify the operation signs and the signs belonging to the numbers.</a:t>
            </a:r>
          </a:p>
        </p:txBody>
      </p:sp>
      <p:sp>
        <p:nvSpPr>
          <p:cNvPr id="29" name="Rectangle 28"/>
          <p:cNvSpPr/>
          <p:nvPr/>
        </p:nvSpPr>
        <p:spPr>
          <a:xfrm>
            <a:off x="320040" y="3648456"/>
            <a:ext cx="1801367" cy="1261872"/>
          </a:xfrm>
          <a:prstGeom prst="rect">
            <a:avLst/>
          </a:prstGeom>
          <a:solidFill>
            <a:srgbClr val="E8EDF1"/>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374904" y="3739896"/>
            <a:ext cx="1691639" cy="1106424"/>
          </a:xfrm>
          <a:prstGeom prst="rect">
            <a:avLst/>
          </a:prstGeom>
          <a:noFill/>
        </p:spPr>
        <p:txBody>
          <a:bodyPr wrap="square" lIns="54864" rIns="54864" tIns="22860" bIns="22860">
            <a:spAutoFit/>
          </a:bodyPr>
          <a:lstStyle/>
          <a:p>
            <a:pPr>
              <a:lnSpc>
                <a:spcPts val="1785"/>
              </a:lnSpc>
              <a:spcBef>
                <a:spcPts val="0"/>
              </a:spcBef>
              <a:spcAft>
                <a:spcPts val="0"/>
              </a:spcAft>
              <a:defRPr sz="1700" b="1">
                <a:solidFill>
                  <a:srgbClr val="182B3A"/>
                </a:solidFill>
                <a:latin typeface="Arial"/>
              </a:defRPr>
            </a:pPr>
            <a:r>
              <a:t>Rewrite the Calculation</a:t>
            </a:r>
          </a:p>
        </p:txBody>
      </p:sp>
      <p:sp>
        <p:nvSpPr>
          <p:cNvPr id="31" name="Rectangle 30"/>
          <p:cNvSpPr/>
          <p:nvPr/>
        </p:nvSpPr>
        <p:spPr>
          <a:xfrm>
            <a:off x="2121408" y="3648456"/>
            <a:ext cx="4062984" cy="1261872"/>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2194560" y="3730752"/>
            <a:ext cx="3916680" cy="1115568"/>
          </a:xfrm>
          <a:prstGeom prst="rect">
            <a:avLst/>
          </a:prstGeom>
          <a:noFill/>
        </p:spPr>
        <p:txBody>
          <a:bodyPr wrap="square" lIns="54864" rIns="54864" tIns="22860" bIns="22860">
            <a:spAutoFit/>
          </a:bodyPr>
          <a:lstStyle/>
          <a:p>
            <a:pPr>
              <a:lnSpc>
                <a:spcPts val="1785"/>
              </a:lnSpc>
              <a:spcBef>
                <a:spcPts val="0"/>
              </a:spcBef>
              <a:spcAft>
                <a:spcPts val="0"/>
              </a:spcAft>
              <a:defRPr sz="1700" b="0">
                <a:solidFill>
                  <a:srgbClr val="182B3A"/>
                </a:solidFill>
                <a:latin typeface="Arial"/>
              </a:defRPr>
            </a:pPr>
            <a:r>
              <a:t>Replace subtraction by addition of the opposite where useful.</a:t>
            </a:r>
          </a:p>
        </p:txBody>
      </p:sp>
      <p:sp>
        <p:nvSpPr>
          <p:cNvPr id="33" name="Rectangle 32"/>
          <p:cNvSpPr/>
          <p:nvPr/>
        </p:nvSpPr>
        <p:spPr>
          <a:xfrm>
            <a:off x="6184392" y="3648456"/>
            <a:ext cx="4062984" cy="1261872"/>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6257544" y="3730752"/>
            <a:ext cx="3916680" cy="1115568"/>
          </a:xfrm>
          <a:prstGeom prst="rect">
            <a:avLst/>
          </a:prstGeom>
          <a:noFill/>
        </p:spPr>
        <p:txBody>
          <a:bodyPr wrap="square" lIns="54864" rIns="54864" tIns="22860" bIns="22860">
            <a:spAutoFit/>
          </a:bodyPr>
          <a:lstStyle/>
          <a:p>
            <a:pPr>
              <a:lnSpc>
                <a:spcPts val="1785"/>
              </a:lnSpc>
              <a:spcBef>
                <a:spcPts val="0"/>
              </a:spcBef>
              <a:spcAft>
                <a:spcPts val="0"/>
              </a:spcAft>
              <a:defRPr sz="1700" b="0">
                <a:solidFill>
                  <a:srgbClr val="182B3A"/>
                </a:solidFill>
                <a:latin typeface="Arial"/>
              </a:defRPr>
            </a:pPr>
            <a:r>
              <a:t>Replace subtraction by addition of the opposite where useful.</a:t>
            </a:r>
          </a:p>
        </p:txBody>
      </p:sp>
      <p:sp>
        <p:nvSpPr>
          <p:cNvPr id="35" name="Rectangle 34"/>
          <p:cNvSpPr/>
          <p:nvPr/>
        </p:nvSpPr>
        <p:spPr>
          <a:xfrm>
            <a:off x="10247376" y="3648456"/>
            <a:ext cx="4062984" cy="1261872"/>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10320528" y="3730752"/>
            <a:ext cx="3916680" cy="1115568"/>
          </a:xfrm>
          <a:prstGeom prst="rect">
            <a:avLst/>
          </a:prstGeom>
          <a:noFill/>
        </p:spPr>
        <p:txBody>
          <a:bodyPr wrap="square" lIns="54864" rIns="54864" tIns="22860" bIns="22860">
            <a:spAutoFit/>
          </a:bodyPr>
          <a:lstStyle/>
          <a:p>
            <a:pPr>
              <a:lnSpc>
                <a:spcPts val="1785"/>
              </a:lnSpc>
              <a:spcBef>
                <a:spcPts val="0"/>
              </a:spcBef>
              <a:spcAft>
                <a:spcPts val="0"/>
              </a:spcAft>
              <a:defRPr sz="1700" b="0">
                <a:solidFill>
                  <a:srgbClr val="182B3A"/>
                </a:solidFill>
                <a:latin typeface="Arial"/>
              </a:defRPr>
            </a:pPr>
            <a:r>
              <a:t>Replace subtraction by addition of the opposite where useful.</a:t>
            </a:r>
          </a:p>
        </p:txBody>
      </p:sp>
      <p:sp>
        <p:nvSpPr>
          <p:cNvPr id="37" name="Rectangle 36"/>
          <p:cNvSpPr/>
          <p:nvPr/>
        </p:nvSpPr>
        <p:spPr>
          <a:xfrm>
            <a:off x="320040" y="4910327"/>
            <a:ext cx="1801367" cy="1261872"/>
          </a:xfrm>
          <a:prstGeom prst="rect">
            <a:avLst/>
          </a:prstGeom>
          <a:solidFill>
            <a:srgbClr val="E8EDF1"/>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374904" y="5001767"/>
            <a:ext cx="1691639" cy="1106424"/>
          </a:xfrm>
          <a:prstGeom prst="rect">
            <a:avLst/>
          </a:prstGeom>
          <a:noFill/>
        </p:spPr>
        <p:txBody>
          <a:bodyPr wrap="square" lIns="54864" rIns="54864" tIns="22860" bIns="22860">
            <a:spAutoFit/>
          </a:bodyPr>
          <a:lstStyle/>
          <a:p>
            <a:pPr>
              <a:lnSpc>
                <a:spcPts val="1785"/>
              </a:lnSpc>
              <a:spcBef>
                <a:spcPts val="0"/>
              </a:spcBef>
              <a:spcAft>
                <a:spcPts val="0"/>
              </a:spcAft>
              <a:defRPr sz="1700" b="1">
                <a:solidFill>
                  <a:srgbClr val="182B3A"/>
                </a:solidFill>
                <a:latin typeface="Arial"/>
              </a:defRPr>
            </a:pPr>
            <a:r>
              <a:t>Calculate</a:t>
            </a:r>
          </a:p>
        </p:txBody>
      </p:sp>
      <p:sp>
        <p:nvSpPr>
          <p:cNvPr id="39" name="Rectangle 38"/>
          <p:cNvSpPr/>
          <p:nvPr/>
        </p:nvSpPr>
        <p:spPr>
          <a:xfrm>
            <a:off x="2121408" y="4910327"/>
            <a:ext cx="4062984" cy="1261872"/>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2194560" y="4992623"/>
            <a:ext cx="3916680" cy="1115568"/>
          </a:xfrm>
          <a:prstGeom prst="rect">
            <a:avLst/>
          </a:prstGeom>
          <a:noFill/>
        </p:spPr>
        <p:txBody>
          <a:bodyPr wrap="square" lIns="54864" rIns="54864" tIns="22860" bIns="22860">
            <a:spAutoFit/>
          </a:bodyPr>
          <a:lstStyle/>
          <a:p>
            <a:pPr>
              <a:lnSpc>
                <a:spcPts val="1785"/>
              </a:lnSpc>
              <a:spcBef>
                <a:spcPts val="0"/>
              </a:spcBef>
              <a:spcAft>
                <a:spcPts val="0"/>
              </a:spcAft>
              <a:defRPr sz="1700" b="0">
                <a:solidFill>
                  <a:srgbClr val="182B3A"/>
                </a:solidFill>
                <a:latin typeface="Arial"/>
              </a:defRPr>
            </a:pPr>
            <a:r>
              <a:t>Work from left to right. Show each result.</a:t>
            </a:r>
          </a:p>
        </p:txBody>
      </p:sp>
      <p:sp>
        <p:nvSpPr>
          <p:cNvPr id="41" name="Rectangle 40"/>
          <p:cNvSpPr/>
          <p:nvPr/>
        </p:nvSpPr>
        <p:spPr>
          <a:xfrm>
            <a:off x="6184392" y="4910327"/>
            <a:ext cx="4062984" cy="1261872"/>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6257544" y="4992623"/>
            <a:ext cx="3916680" cy="1115568"/>
          </a:xfrm>
          <a:prstGeom prst="rect">
            <a:avLst/>
          </a:prstGeom>
          <a:noFill/>
        </p:spPr>
        <p:txBody>
          <a:bodyPr wrap="square" lIns="54864" rIns="54864" tIns="22860" bIns="22860">
            <a:spAutoFit/>
          </a:bodyPr>
          <a:lstStyle/>
          <a:p>
            <a:pPr>
              <a:lnSpc>
                <a:spcPts val="1785"/>
              </a:lnSpc>
              <a:spcBef>
                <a:spcPts val="0"/>
              </a:spcBef>
              <a:spcAft>
                <a:spcPts val="0"/>
              </a:spcAft>
              <a:defRPr sz="1700" b="0">
                <a:solidFill>
                  <a:srgbClr val="182B3A"/>
                </a:solidFill>
                <a:latin typeface="Arial"/>
              </a:defRPr>
            </a:pPr>
            <a:r>
              <a:t>Work from left to right. Show each result.</a:t>
            </a:r>
          </a:p>
        </p:txBody>
      </p:sp>
      <p:sp>
        <p:nvSpPr>
          <p:cNvPr id="43" name="Rectangle 42"/>
          <p:cNvSpPr/>
          <p:nvPr/>
        </p:nvSpPr>
        <p:spPr>
          <a:xfrm>
            <a:off x="10247376" y="4910327"/>
            <a:ext cx="4062984" cy="1261872"/>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10320528" y="4992623"/>
            <a:ext cx="3916680" cy="1115568"/>
          </a:xfrm>
          <a:prstGeom prst="rect">
            <a:avLst/>
          </a:prstGeom>
          <a:noFill/>
        </p:spPr>
        <p:txBody>
          <a:bodyPr wrap="square" lIns="54864" rIns="54864" tIns="22860" bIns="22860">
            <a:spAutoFit/>
          </a:bodyPr>
          <a:lstStyle/>
          <a:p>
            <a:pPr>
              <a:lnSpc>
                <a:spcPts val="1785"/>
              </a:lnSpc>
              <a:spcBef>
                <a:spcPts val="0"/>
              </a:spcBef>
              <a:spcAft>
                <a:spcPts val="0"/>
              </a:spcAft>
              <a:defRPr sz="1700" b="0">
                <a:solidFill>
                  <a:srgbClr val="182B3A"/>
                </a:solidFill>
                <a:latin typeface="Arial"/>
              </a:defRPr>
            </a:pPr>
            <a:r>
              <a:t>Work from left to right. Show each result.</a:t>
            </a:r>
          </a:p>
        </p:txBody>
      </p:sp>
      <p:sp>
        <p:nvSpPr>
          <p:cNvPr id="45" name="Rectangle 44"/>
          <p:cNvSpPr/>
          <p:nvPr/>
        </p:nvSpPr>
        <p:spPr>
          <a:xfrm>
            <a:off x="320040" y="6172199"/>
            <a:ext cx="1801367" cy="1243584"/>
          </a:xfrm>
          <a:prstGeom prst="rect">
            <a:avLst/>
          </a:prstGeom>
          <a:solidFill>
            <a:srgbClr val="E8EDF1"/>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374904" y="6263639"/>
            <a:ext cx="1691639" cy="1088136"/>
          </a:xfrm>
          <a:prstGeom prst="rect">
            <a:avLst/>
          </a:prstGeom>
          <a:noFill/>
        </p:spPr>
        <p:txBody>
          <a:bodyPr wrap="square" lIns="54864" rIns="54864" tIns="22860" bIns="22860">
            <a:spAutoFit/>
          </a:bodyPr>
          <a:lstStyle/>
          <a:p>
            <a:pPr>
              <a:lnSpc>
                <a:spcPts val="1785"/>
              </a:lnSpc>
              <a:spcBef>
                <a:spcPts val="0"/>
              </a:spcBef>
              <a:spcAft>
                <a:spcPts val="0"/>
              </a:spcAft>
              <a:defRPr sz="1700" b="1">
                <a:solidFill>
                  <a:srgbClr val="182B3A"/>
                </a:solidFill>
                <a:latin typeface="Arial"/>
              </a:defRPr>
            </a:pPr>
            <a:r>
              <a:t>Check the Answer</a:t>
            </a:r>
          </a:p>
        </p:txBody>
      </p:sp>
      <p:sp>
        <p:nvSpPr>
          <p:cNvPr id="47" name="Rectangle 46"/>
          <p:cNvSpPr/>
          <p:nvPr/>
        </p:nvSpPr>
        <p:spPr>
          <a:xfrm>
            <a:off x="2121408" y="6172199"/>
            <a:ext cx="4062984" cy="1243584"/>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TextBox 47"/>
          <p:cNvSpPr txBox="1"/>
          <p:nvPr/>
        </p:nvSpPr>
        <p:spPr>
          <a:xfrm>
            <a:off x="2194560" y="6254495"/>
            <a:ext cx="3916680" cy="1097280"/>
          </a:xfrm>
          <a:prstGeom prst="rect">
            <a:avLst/>
          </a:prstGeom>
          <a:noFill/>
        </p:spPr>
        <p:txBody>
          <a:bodyPr wrap="square" lIns="54864" rIns="54864" tIns="22860" bIns="22860">
            <a:spAutoFit/>
          </a:bodyPr>
          <a:lstStyle/>
          <a:p>
            <a:pPr>
              <a:lnSpc>
                <a:spcPts val="1785"/>
              </a:lnSpc>
              <a:spcBef>
                <a:spcPts val="0"/>
              </a:spcBef>
              <a:spcAft>
                <a:spcPts val="0"/>
              </a:spcAft>
              <a:defRPr sz="1700" b="0">
                <a:solidFill>
                  <a:srgbClr val="182B3A"/>
                </a:solidFill>
                <a:latin typeface="Arial"/>
              </a:defRPr>
            </a:pPr>
            <a:r>
              <a:t>Undo the last operation to check. Write the final answer.</a:t>
            </a:r>
          </a:p>
        </p:txBody>
      </p:sp>
      <p:sp>
        <p:nvSpPr>
          <p:cNvPr id="49" name="Rectangle 48"/>
          <p:cNvSpPr/>
          <p:nvPr/>
        </p:nvSpPr>
        <p:spPr>
          <a:xfrm>
            <a:off x="6184392" y="6172199"/>
            <a:ext cx="4062984" cy="1243584"/>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TextBox 49"/>
          <p:cNvSpPr txBox="1"/>
          <p:nvPr/>
        </p:nvSpPr>
        <p:spPr>
          <a:xfrm>
            <a:off x="6257544" y="6254495"/>
            <a:ext cx="3916680" cy="1097280"/>
          </a:xfrm>
          <a:prstGeom prst="rect">
            <a:avLst/>
          </a:prstGeom>
          <a:noFill/>
        </p:spPr>
        <p:txBody>
          <a:bodyPr wrap="square" lIns="54864" rIns="54864" tIns="22860" bIns="22860">
            <a:spAutoFit/>
          </a:bodyPr>
          <a:lstStyle/>
          <a:p>
            <a:pPr>
              <a:lnSpc>
                <a:spcPts val="1785"/>
              </a:lnSpc>
              <a:spcBef>
                <a:spcPts val="0"/>
              </a:spcBef>
              <a:spcAft>
                <a:spcPts val="0"/>
              </a:spcAft>
              <a:defRPr sz="1700" b="0">
                <a:solidFill>
                  <a:srgbClr val="182B3A"/>
                </a:solidFill>
                <a:latin typeface="Arial"/>
              </a:defRPr>
            </a:pPr>
            <a:r>
              <a:t>Undo the last operation to check. Write the final answer.</a:t>
            </a:r>
          </a:p>
        </p:txBody>
      </p:sp>
      <p:sp>
        <p:nvSpPr>
          <p:cNvPr id="51" name="Rectangle 50"/>
          <p:cNvSpPr/>
          <p:nvPr/>
        </p:nvSpPr>
        <p:spPr>
          <a:xfrm>
            <a:off x="10247376" y="6172199"/>
            <a:ext cx="4062984" cy="1243584"/>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TextBox 51"/>
          <p:cNvSpPr txBox="1"/>
          <p:nvPr/>
        </p:nvSpPr>
        <p:spPr>
          <a:xfrm>
            <a:off x="10320528" y="6254495"/>
            <a:ext cx="3916680" cy="1097280"/>
          </a:xfrm>
          <a:prstGeom prst="rect">
            <a:avLst/>
          </a:prstGeom>
          <a:noFill/>
        </p:spPr>
        <p:txBody>
          <a:bodyPr wrap="square" lIns="54864" rIns="54864" tIns="22860" bIns="22860">
            <a:spAutoFit/>
          </a:bodyPr>
          <a:lstStyle/>
          <a:p>
            <a:pPr>
              <a:lnSpc>
                <a:spcPts val="1785"/>
              </a:lnSpc>
              <a:spcBef>
                <a:spcPts val="0"/>
              </a:spcBef>
              <a:spcAft>
                <a:spcPts val="0"/>
              </a:spcAft>
              <a:defRPr sz="1700" b="0">
                <a:solidFill>
                  <a:srgbClr val="182B3A"/>
                </a:solidFill>
                <a:latin typeface="Arial"/>
              </a:defRPr>
            </a:pPr>
            <a:r>
              <a:t>Undo the last operation to check. Write the final answer.</a:t>
            </a:r>
          </a:p>
        </p:txBody>
      </p:sp>
      <p:sp>
        <p:nvSpPr>
          <p:cNvPr id="53" name="Progression curved arrow: Thread 1 to Thread 2"/>
          <p:cNvSpPr/>
          <p:nvPr/>
        </p:nvSpPr>
        <p:spPr>
          <a:xfrm>
            <a:off x="5850635" y="7351125"/>
            <a:ext cx="621792" cy="314053"/>
          </a:xfrm>
          <a:custGeom>
            <a:avLst/>
            <a:gdLst/>
            <a:ahLst/>
            <a:cxnLst/>
            <a:rect l="0" t="0" r="100000" b="100000"/>
            <a:pathLst>
              <a:path w="100000" h="100000" fill="none">
                <a:moveTo>
                  <a:pt x="6970" y="48439"/>
                </a:moveTo>
                <a:cubicBezTo>
                  <a:pt x="40678" y="114499"/>
                  <a:pt x="73026" y="88145"/>
                  <a:pt x="93030" y="13799"/>
                </a:cubicBezTo>
              </a:path>
              <a:path w="100000" h="100000" fill="none">
                <a:moveTo>
                  <a:pt x="69018" y="40431"/>
                </a:moveTo>
                <a:lnTo>
                  <a:pt x="93030" y="13799"/>
                </a:lnTo>
                <a:lnTo>
                  <a:pt x="92217" y="66207"/>
                </a:lnTo>
              </a:path>
            </a:pathLst>
          </a:custGeom>
          <a:noFill/>
          <a:ln w="64449" cap="rnd">
            <a:solidFill>
              <a:schemeClr val="accent6">
                <a:lumMod val="60000"/>
                <a:lumOff val="40000"/>
              </a:schemeClr>
            </a:solidFill>
            <a:round/>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4" name="Progression curved arrow: Thread 2 to Thread 3"/>
          <p:cNvSpPr/>
          <p:nvPr/>
        </p:nvSpPr>
        <p:spPr>
          <a:xfrm>
            <a:off x="9865783" y="7342631"/>
            <a:ext cx="621792" cy="314053"/>
          </a:xfrm>
          <a:custGeom>
            <a:avLst/>
            <a:gdLst/>
            <a:ahLst/>
            <a:cxnLst/>
            <a:rect l="0" t="0" r="100000" b="100000"/>
            <a:pathLst>
              <a:path w="100000" h="100000" fill="none">
                <a:moveTo>
                  <a:pt x="6970" y="48439"/>
                </a:moveTo>
                <a:cubicBezTo>
                  <a:pt x="40678" y="114499"/>
                  <a:pt x="73026" y="88145"/>
                  <a:pt x="93030" y="13799"/>
                </a:cubicBezTo>
              </a:path>
              <a:path w="100000" h="100000" fill="none">
                <a:moveTo>
                  <a:pt x="69018" y="40431"/>
                </a:moveTo>
                <a:lnTo>
                  <a:pt x="93030" y="13799"/>
                </a:lnTo>
                <a:lnTo>
                  <a:pt x="92217" y="66207"/>
                </a:lnTo>
              </a:path>
            </a:pathLst>
          </a:custGeom>
          <a:noFill/>
          <a:ln w="64449" cap="rnd">
            <a:solidFill>
              <a:schemeClr val="accent6">
                <a:lumMod val="60000"/>
                <a:lumOff val="40000"/>
              </a:schemeClr>
            </a:solidFill>
            <a:round/>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bg>
      <p:bgPr>
        <a:solidFill>
          <a:srgbClr val="F7F8FA"/>
        </a:solidFill>
        <a:effectLst/>
      </p:bgPr>
    </p:bg>
    <p:spTree>
      <p:nvGrpSpPr>
        <p:cNvPr id="1" name=""/>
        <p:cNvGrpSpPr/>
        <p:nvPr/>
      </p:nvGrpSpPr>
      <p:grpSpPr/>
      <p:sp>
        <p:nvSpPr>
          <p:cNvPr id="2" name="Rectangle 1"/>
          <p:cNvSpPr/>
          <p:nvPr/>
        </p:nvSpPr>
        <p:spPr>
          <a:xfrm>
            <a:off x="0" y="0"/>
            <a:ext cx="14630400" cy="73152"/>
          </a:xfrm>
          <a:prstGeom prst="rect">
            <a:avLst/>
          </a:prstGeom>
          <a:solidFill>
            <a:srgbClr val="176B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20040" y="164592"/>
            <a:ext cx="13990320" cy="457200"/>
          </a:xfrm>
          <a:prstGeom prst="rect">
            <a:avLst/>
          </a:prstGeom>
          <a:noFill/>
        </p:spPr>
        <p:txBody>
          <a:bodyPr wrap="square" lIns="54864" rIns="54864" tIns="22860" bIns="22860">
            <a:spAutoFit/>
          </a:bodyPr>
          <a:lstStyle/>
          <a:p>
            <a:pPr>
              <a:lnSpc>
                <a:spcPts val="2940"/>
              </a:lnSpc>
              <a:spcBef>
                <a:spcPts val="0"/>
              </a:spcBef>
              <a:spcAft>
                <a:spcPts val="0"/>
              </a:spcAft>
              <a:defRPr sz="2800" b="1">
                <a:solidFill>
                  <a:srgbClr val="182B3A"/>
                </a:solidFill>
                <a:latin typeface="Arial"/>
              </a:defRPr>
            </a:pPr>
            <a:r>
              <a:t>Signed numbers: addition and subtraction</a:t>
            </a:r>
          </a:p>
        </p:txBody>
      </p:sp>
      <p:sp>
        <p:nvSpPr>
          <p:cNvPr id="4" name="TextBox 3"/>
          <p:cNvSpPr txBox="1"/>
          <p:nvPr/>
        </p:nvSpPr>
        <p:spPr>
          <a:xfrm>
            <a:off x="320040" y="704088"/>
            <a:ext cx="13990320" cy="347472"/>
          </a:xfrm>
          <a:prstGeom prst="rect">
            <a:avLst/>
          </a:prstGeom>
          <a:noFill/>
        </p:spPr>
        <p:txBody>
          <a:bodyPr wrap="square" lIns="54864" rIns="54864" tIns="22860" bIns="22860">
            <a:spAutoFit/>
          </a:bodyPr>
          <a:lstStyle/>
          <a:p>
            <a:pPr>
              <a:lnSpc>
                <a:spcPts val="1575"/>
              </a:lnSpc>
              <a:spcBef>
                <a:spcPts val="0"/>
              </a:spcBef>
              <a:spcAft>
                <a:spcPts val="0"/>
              </a:spcAft>
              <a:defRPr sz="1500" b="0">
                <a:solidFill>
                  <a:srgbClr val="526472"/>
                </a:solidFill>
                <a:latin typeface="Arial"/>
              </a:defRPr>
            </a:pPr>
            <a:r>
              <a:t>Step-by-step practice 2 • Show your working.</a:t>
            </a:r>
          </a:p>
        </p:txBody>
      </p:sp>
      <p:sp>
        <p:nvSpPr>
          <p:cNvPr id="5" name="TextBox 4"/>
          <p:cNvSpPr txBox="1"/>
          <p:nvPr/>
        </p:nvSpPr>
        <p:spPr>
          <a:xfrm>
            <a:off x="320040" y="7973568"/>
            <a:ext cx="10789920" cy="210312"/>
          </a:xfrm>
          <a:prstGeom prst="rect">
            <a:avLst/>
          </a:prstGeom>
          <a:noFill/>
        </p:spPr>
        <p:txBody>
          <a:bodyPr wrap="square" lIns="54864" rIns="54864" tIns="22860" bIns="22860">
            <a:spAutoFit/>
          </a:bodyPr>
          <a:lstStyle/>
          <a:p>
            <a:pPr>
              <a:lnSpc>
                <a:spcPts val="1155"/>
              </a:lnSpc>
              <a:spcBef>
                <a:spcPts val="0"/>
              </a:spcBef>
              <a:spcAft>
                <a:spcPts val="0"/>
              </a:spcAft>
              <a:defRPr sz="1100" b="0">
                <a:solidFill>
                  <a:srgbClr val="526472"/>
                </a:solidFill>
                <a:latin typeface="Arial"/>
              </a:defRPr>
            </a:pPr>
            <a:r>
              <a:t>GCSE Maths revision • No calculator • Show your working.</a:t>
            </a:r>
          </a:p>
        </p:txBody>
      </p:sp>
      <p:sp>
        <p:nvSpPr>
          <p:cNvPr id="6" name="TextBox 5"/>
          <p:cNvSpPr txBox="1"/>
          <p:nvPr/>
        </p:nvSpPr>
        <p:spPr>
          <a:xfrm>
            <a:off x="11155680" y="7973568"/>
            <a:ext cx="3108960" cy="210312"/>
          </a:xfrm>
          <a:prstGeom prst="rect">
            <a:avLst/>
          </a:prstGeom>
          <a:noFill/>
        </p:spPr>
        <p:txBody>
          <a:bodyPr wrap="square" lIns="54864" rIns="54864" tIns="22860" bIns="22860">
            <a:spAutoFit/>
          </a:bodyPr>
          <a:lstStyle/>
          <a:p>
            <a:pPr>
              <a:lnSpc>
                <a:spcPts val="1155"/>
              </a:lnSpc>
              <a:spcBef>
                <a:spcPts val="0"/>
              </a:spcBef>
              <a:spcAft>
                <a:spcPts val="0"/>
              </a:spcAft>
              <a:defRPr sz="1100" b="0">
                <a:solidFill>
                  <a:srgbClr val="526472"/>
                </a:solidFill>
                <a:latin typeface="Arial"/>
              </a:defRPr>
            </a:pPr>
            <a:r>
              <a:t>M13-S03</a:t>
            </a:r>
          </a:p>
        </p:txBody>
      </p:sp>
      <p:sp>
        <p:nvSpPr>
          <p:cNvPr id="7" name="Rectangle 6"/>
          <p:cNvSpPr/>
          <p:nvPr/>
        </p:nvSpPr>
        <p:spPr>
          <a:xfrm>
            <a:off x="2121408" y="1115568"/>
            <a:ext cx="4040123" cy="420624"/>
          </a:xfrm>
          <a:prstGeom prst="rect">
            <a:avLst/>
          </a:prstGeom>
          <a:solidFill>
            <a:srgbClr val="176B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2148839" y="1147572"/>
            <a:ext cx="3980688" cy="329184"/>
          </a:xfrm>
          <a:prstGeom prst="rect">
            <a:avLst/>
          </a:prstGeom>
          <a:noFill/>
        </p:spPr>
        <p:txBody>
          <a:bodyPr wrap="square" lIns="54864" rIns="54864" tIns="22860" bIns="22860">
            <a:spAutoFit/>
          </a:bodyPr>
          <a:lstStyle/>
          <a:p>
            <a:pPr>
              <a:lnSpc>
                <a:spcPts val="1995"/>
              </a:lnSpc>
              <a:spcBef>
                <a:spcPts val="0"/>
              </a:spcBef>
              <a:spcAft>
                <a:spcPts val="0"/>
              </a:spcAft>
              <a:defRPr sz="1900" b="1">
                <a:solidFill>
                  <a:srgbClr val="FFFFFF"/>
                </a:solidFill>
                <a:latin typeface="Arial"/>
              </a:defRPr>
            </a:pPr>
            <a:r>
              <a:t>Start</a:t>
            </a:r>
          </a:p>
        </p:txBody>
      </p:sp>
      <p:sp>
        <p:nvSpPr>
          <p:cNvPr id="9" name="Rectangle 8"/>
          <p:cNvSpPr/>
          <p:nvPr/>
        </p:nvSpPr>
        <p:spPr>
          <a:xfrm>
            <a:off x="6184392" y="1115568"/>
            <a:ext cx="4040123" cy="420624"/>
          </a:xfrm>
          <a:prstGeom prst="rect">
            <a:avLst/>
          </a:prstGeom>
          <a:solidFill>
            <a:srgbClr val="3559A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211824" y="1147572"/>
            <a:ext cx="3980688" cy="329184"/>
          </a:xfrm>
          <a:prstGeom prst="rect">
            <a:avLst/>
          </a:prstGeom>
          <a:noFill/>
        </p:spPr>
        <p:txBody>
          <a:bodyPr wrap="square" lIns="54864" rIns="54864" tIns="22860" bIns="22860">
            <a:spAutoFit/>
          </a:bodyPr>
          <a:lstStyle/>
          <a:p>
            <a:pPr>
              <a:lnSpc>
                <a:spcPts val="1995"/>
              </a:lnSpc>
              <a:spcBef>
                <a:spcPts val="0"/>
              </a:spcBef>
              <a:spcAft>
                <a:spcPts val="0"/>
              </a:spcAft>
              <a:defRPr sz="1900" b="1">
                <a:solidFill>
                  <a:srgbClr val="FFFFFF"/>
                </a:solidFill>
                <a:latin typeface="Arial"/>
              </a:defRPr>
            </a:pPr>
            <a:r>
              <a:t>Build</a:t>
            </a:r>
          </a:p>
        </p:txBody>
      </p:sp>
      <p:sp>
        <p:nvSpPr>
          <p:cNvPr id="11" name="Rectangle 10"/>
          <p:cNvSpPr/>
          <p:nvPr/>
        </p:nvSpPr>
        <p:spPr>
          <a:xfrm>
            <a:off x="10247376" y="1115568"/>
            <a:ext cx="4040123" cy="420624"/>
          </a:xfrm>
          <a:prstGeom prst="rect">
            <a:avLst/>
          </a:prstGeom>
          <a:solidFill>
            <a:srgbClr val="754B8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0274808" y="1147572"/>
            <a:ext cx="3980688" cy="329184"/>
          </a:xfrm>
          <a:prstGeom prst="rect">
            <a:avLst/>
          </a:prstGeom>
          <a:noFill/>
        </p:spPr>
        <p:txBody>
          <a:bodyPr wrap="square" lIns="54864" rIns="54864" tIns="22860" bIns="22860">
            <a:spAutoFit/>
          </a:bodyPr>
          <a:lstStyle/>
          <a:p>
            <a:pPr>
              <a:lnSpc>
                <a:spcPts val="1995"/>
              </a:lnSpc>
              <a:spcBef>
                <a:spcPts val="0"/>
              </a:spcBef>
              <a:spcAft>
                <a:spcPts val="0"/>
              </a:spcAft>
              <a:defRPr sz="1900" b="1">
                <a:solidFill>
                  <a:srgbClr val="FFFFFF"/>
                </a:solidFill>
                <a:latin typeface="Arial"/>
              </a:defRPr>
            </a:pPr>
            <a:r>
              <a:t>Confidence</a:t>
            </a:r>
          </a:p>
        </p:txBody>
      </p:sp>
      <p:sp>
        <p:nvSpPr>
          <p:cNvPr id="13" name="Rectangle 12"/>
          <p:cNvSpPr/>
          <p:nvPr/>
        </p:nvSpPr>
        <p:spPr>
          <a:xfrm>
            <a:off x="320040" y="1563624"/>
            <a:ext cx="1801367" cy="822960"/>
          </a:xfrm>
          <a:prstGeom prst="rect">
            <a:avLst/>
          </a:prstGeom>
          <a:solidFill>
            <a:srgbClr val="E8EDF1"/>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374904" y="1655064"/>
            <a:ext cx="1691639" cy="667512"/>
          </a:xfrm>
          <a:prstGeom prst="rect">
            <a:avLst/>
          </a:prstGeom>
          <a:noFill/>
        </p:spPr>
        <p:txBody>
          <a:bodyPr wrap="square" lIns="54864" rIns="54864" tIns="22860" bIns="22860">
            <a:spAutoFit/>
          </a:bodyPr>
          <a:lstStyle/>
          <a:p>
            <a:pPr>
              <a:lnSpc>
                <a:spcPts val="1785"/>
              </a:lnSpc>
              <a:spcBef>
                <a:spcPts val="0"/>
              </a:spcBef>
              <a:spcAft>
                <a:spcPts val="0"/>
              </a:spcAft>
              <a:defRPr sz="1700" b="1">
                <a:solidFill>
                  <a:srgbClr val="182B3A"/>
                </a:solidFill>
                <a:latin typeface="Arial"/>
              </a:defRPr>
            </a:pPr>
            <a:r>
              <a:t>The Full Question</a:t>
            </a:r>
          </a:p>
        </p:txBody>
      </p:sp>
      <p:sp>
        <p:nvSpPr>
          <p:cNvPr id="15" name="Rectangle 14"/>
          <p:cNvSpPr/>
          <p:nvPr/>
        </p:nvSpPr>
        <p:spPr>
          <a:xfrm>
            <a:off x="2121408" y="1563624"/>
            <a:ext cx="4062984" cy="822960"/>
          </a:xfrm>
          <a:prstGeom prst="rect">
            <a:avLst/>
          </a:prstGeom>
          <a:solidFill>
            <a:srgbClr val="EDF6F5"/>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2194560" y="1645920"/>
            <a:ext cx="3916680" cy="676656"/>
          </a:xfrm>
          <a:prstGeom prst="rect">
            <a:avLst/>
          </a:prstGeom>
          <a:noFill/>
        </p:spPr>
        <p:txBody>
          <a:bodyPr wrap="square" lIns="54864" rIns="54864" tIns="22860" bIns="22860">
            <a:spAutoFit/>
          </a:bodyPr>
          <a:lstStyle/>
          <a:p>
            <a:pPr>
              <a:lnSpc>
                <a:spcPts val="2520"/>
              </a:lnSpc>
              <a:spcBef>
                <a:spcPts val="0"/>
              </a:spcBef>
              <a:spcAft>
                <a:spcPts val="0"/>
              </a:spcAft>
              <a:defRPr sz="2400" b="1">
                <a:solidFill>
                  <a:srgbClr val="182B3A"/>
                </a:solidFill>
                <a:latin typeface="Arial"/>
              </a:defRPr>
            </a:pPr>
            <a:r>
              <a:t>3 − 8</a:t>
            </a:r>
          </a:p>
        </p:txBody>
      </p:sp>
      <p:sp>
        <p:nvSpPr>
          <p:cNvPr id="17" name="Rectangle 16"/>
          <p:cNvSpPr/>
          <p:nvPr/>
        </p:nvSpPr>
        <p:spPr>
          <a:xfrm>
            <a:off x="6184392" y="1563624"/>
            <a:ext cx="4062984" cy="822960"/>
          </a:xfrm>
          <a:prstGeom prst="rect">
            <a:avLst/>
          </a:prstGeom>
          <a:solidFill>
            <a:srgbClr val="EFF3FA"/>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257544" y="1645920"/>
            <a:ext cx="3916680" cy="676656"/>
          </a:xfrm>
          <a:prstGeom prst="rect">
            <a:avLst/>
          </a:prstGeom>
          <a:noFill/>
        </p:spPr>
        <p:txBody>
          <a:bodyPr wrap="square" lIns="54864" rIns="54864" tIns="22860" bIns="22860">
            <a:spAutoFit/>
          </a:bodyPr>
          <a:lstStyle/>
          <a:p>
            <a:pPr>
              <a:lnSpc>
                <a:spcPts val="2520"/>
              </a:lnSpc>
              <a:spcBef>
                <a:spcPts val="0"/>
              </a:spcBef>
              <a:spcAft>
                <a:spcPts val="0"/>
              </a:spcAft>
              <a:defRPr sz="2400" b="1">
                <a:solidFill>
                  <a:srgbClr val="182B3A"/>
                </a:solidFill>
                <a:latin typeface="Arial"/>
              </a:defRPr>
            </a:pPr>
            <a:r>
              <a:t>−5 − (−9)</a:t>
            </a:r>
          </a:p>
        </p:txBody>
      </p:sp>
      <p:sp>
        <p:nvSpPr>
          <p:cNvPr id="19" name="Rectangle 18"/>
          <p:cNvSpPr/>
          <p:nvPr/>
        </p:nvSpPr>
        <p:spPr>
          <a:xfrm>
            <a:off x="10247376" y="1563624"/>
            <a:ext cx="4062984" cy="822960"/>
          </a:xfrm>
          <a:prstGeom prst="rect">
            <a:avLst/>
          </a:prstGeom>
          <a:solidFill>
            <a:srgbClr val="F5F0F7"/>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20528" y="1645920"/>
            <a:ext cx="3916680" cy="676656"/>
          </a:xfrm>
          <a:prstGeom prst="rect">
            <a:avLst/>
          </a:prstGeom>
          <a:noFill/>
        </p:spPr>
        <p:txBody>
          <a:bodyPr wrap="square" lIns="54864" rIns="54864" tIns="22860" bIns="22860">
            <a:spAutoFit/>
          </a:bodyPr>
          <a:lstStyle/>
          <a:p>
            <a:pPr>
              <a:lnSpc>
                <a:spcPts val="2520"/>
              </a:lnSpc>
              <a:spcBef>
                <a:spcPts val="0"/>
              </a:spcBef>
              <a:spcAft>
                <a:spcPts val="0"/>
              </a:spcAft>
              <a:defRPr sz="2400" b="1">
                <a:solidFill>
                  <a:srgbClr val="182B3A"/>
                </a:solidFill>
                <a:latin typeface="Arial"/>
              </a:defRPr>
            </a:pPr>
            <a:r>
              <a:t>7 − (−2) + (−12)</a:t>
            </a:r>
          </a:p>
        </p:txBody>
      </p:sp>
      <p:sp>
        <p:nvSpPr>
          <p:cNvPr id="21" name="Rectangle 20"/>
          <p:cNvSpPr/>
          <p:nvPr/>
        </p:nvSpPr>
        <p:spPr>
          <a:xfrm>
            <a:off x="320040" y="2386584"/>
            <a:ext cx="1801367" cy="1261872"/>
          </a:xfrm>
          <a:prstGeom prst="rect">
            <a:avLst/>
          </a:prstGeom>
          <a:solidFill>
            <a:srgbClr val="E8EDF1"/>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374904" y="2478024"/>
            <a:ext cx="1691639" cy="1106424"/>
          </a:xfrm>
          <a:prstGeom prst="rect">
            <a:avLst/>
          </a:prstGeom>
          <a:noFill/>
        </p:spPr>
        <p:txBody>
          <a:bodyPr wrap="square" lIns="54864" rIns="54864" tIns="22860" bIns="22860">
            <a:spAutoFit/>
          </a:bodyPr>
          <a:lstStyle/>
          <a:p>
            <a:pPr>
              <a:lnSpc>
                <a:spcPts val="1785"/>
              </a:lnSpc>
              <a:spcBef>
                <a:spcPts val="0"/>
              </a:spcBef>
              <a:spcAft>
                <a:spcPts val="0"/>
              </a:spcAft>
              <a:defRPr sz="1700" b="1">
                <a:solidFill>
                  <a:srgbClr val="182B3A"/>
                </a:solidFill>
                <a:latin typeface="Arial"/>
              </a:defRPr>
            </a:pPr>
            <a:r>
              <a:t>Read the Signs</a:t>
            </a:r>
          </a:p>
        </p:txBody>
      </p:sp>
      <p:sp>
        <p:nvSpPr>
          <p:cNvPr id="23" name="Rectangle 22"/>
          <p:cNvSpPr/>
          <p:nvPr/>
        </p:nvSpPr>
        <p:spPr>
          <a:xfrm>
            <a:off x="2121408" y="2386584"/>
            <a:ext cx="4062984" cy="1261872"/>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2194560" y="2468879"/>
            <a:ext cx="3916680" cy="1115568"/>
          </a:xfrm>
          <a:prstGeom prst="rect">
            <a:avLst/>
          </a:prstGeom>
          <a:noFill/>
        </p:spPr>
        <p:txBody>
          <a:bodyPr wrap="square" lIns="54864" rIns="54864" tIns="22860" bIns="22860">
            <a:spAutoFit/>
          </a:bodyPr>
          <a:lstStyle/>
          <a:p>
            <a:pPr>
              <a:lnSpc>
                <a:spcPts val="1785"/>
              </a:lnSpc>
              <a:spcBef>
                <a:spcPts val="0"/>
              </a:spcBef>
              <a:spcAft>
                <a:spcPts val="0"/>
              </a:spcAft>
              <a:defRPr sz="1700" b="0">
                <a:solidFill>
                  <a:srgbClr val="182B3A"/>
                </a:solidFill>
                <a:latin typeface="Arial"/>
              </a:defRPr>
            </a:pPr>
            <a:r>
              <a:t>Identify the operation signs and the signs belonging to the numbers.</a:t>
            </a:r>
          </a:p>
        </p:txBody>
      </p:sp>
      <p:sp>
        <p:nvSpPr>
          <p:cNvPr id="25" name="Rectangle 24"/>
          <p:cNvSpPr/>
          <p:nvPr/>
        </p:nvSpPr>
        <p:spPr>
          <a:xfrm>
            <a:off x="6184392" y="2386584"/>
            <a:ext cx="4062984" cy="1261872"/>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257544" y="2468879"/>
            <a:ext cx="3916680" cy="1115568"/>
          </a:xfrm>
          <a:prstGeom prst="rect">
            <a:avLst/>
          </a:prstGeom>
          <a:noFill/>
        </p:spPr>
        <p:txBody>
          <a:bodyPr wrap="square" lIns="54864" rIns="54864" tIns="22860" bIns="22860">
            <a:spAutoFit/>
          </a:bodyPr>
          <a:lstStyle/>
          <a:p>
            <a:pPr>
              <a:lnSpc>
                <a:spcPts val="1785"/>
              </a:lnSpc>
              <a:spcBef>
                <a:spcPts val="0"/>
              </a:spcBef>
              <a:spcAft>
                <a:spcPts val="0"/>
              </a:spcAft>
              <a:defRPr sz="1700" b="0">
                <a:solidFill>
                  <a:srgbClr val="182B3A"/>
                </a:solidFill>
                <a:latin typeface="Arial"/>
              </a:defRPr>
            </a:pPr>
            <a:r>
              <a:t>Identify the operation signs and the signs belonging to the numbers.</a:t>
            </a:r>
          </a:p>
        </p:txBody>
      </p:sp>
      <p:sp>
        <p:nvSpPr>
          <p:cNvPr id="27" name="Rectangle 26"/>
          <p:cNvSpPr/>
          <p:nvPr/>
        </p:nvSpPr>
        <p:spPr>
          <a:xfrm>
            <a:off x="10247376" y="2386584"/>
            <a:ext cx="4062984" cy="1261872"/>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10320528" y="2468879"/>
            <a:ext cx="3916680" cy="1115568"/>
          </a:xfrm>
          <a:prstGeom prst="rect">
            <a:avLst/>
          </a:prstGeom>
          <a:noFill/>
        </p:spPr>
        <p:txBody>
          <a:bodyPr wrap="square" lIns="54864" rIns="54864" tIns="22860" bIns="22860">
            <a:spAutoFit/>
          </a:bodyPr>
          <a:lstStyle/>
          <a:p>
            <a:pPr>
              <a:lnSpc>
                <a:spcPts val="1785"/>
              </a:lnSpc>
              <a:spcBef>
                <a:spcPts val="0"/>
              </a:spcBef>
              <a:spcAft>
                <a:spcPts val="0"/>
              </a:spcAft>
              <a:defRPr sz="1700" b="0">
                <a:solidFill>
                  <a:srgbClr val="182B3A"/>
                </a:solidFill>
                <a:latin typeface="Arial"/>
              </a:defRPr>
            </a:pPr>
            <a:r>
              <a:t>Identify the operation signs and the signs belonging to the numbers.</a:t>
            </a:r>
          </a:p>
        </p:txBody>
      </p:sp>
      <p:sp>
        <p:nvSpPr>
          <p:cNvPr id="29" name="Rectangle 28"/>
          <p:cNvSpPr/>
          <p:nvPr/>
        </p:nvSpPr>
        <p:spPr>
          <a:xfrm>
            <a:off x="320040" y="3648456"/>
            <a:ext cx="1801367" cy="1261872"/>
          </a:xfrm>
          <a:prstGeom prst="rect">
            <a:avLst/>
          </a:prstGeom>
          <a:solidFill>
            <a:srgbClr val="E8EDF1"/>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374904" y="3739896"/>
            <a:ext cx="1691639" cy="1106424"/>
          </a:xfrm>
          <a:prstGeom prst="rect">
            <a:avLst/>
          </a:prstGeom>
          <a:noFill/>
        </p:spPr>
        <p:txBody>
          <a:bodyPr wrap="square" lIns="54864" rIns="54864" tIns="22860" bIns="22860">
            <a:spAutoFit/>
          </a:bodyPr>
          <a:lstStyle/>
          <a:p>
            <a:pPr>
              <a:lnSpc>
                <a:spcPts val="1785"/>
              </a:lnSpc>
              <a:spcBef>
                <a:spcPts val="0"/>
              </a:spcBef>
              <a:spcAft>
                <a:spcPts val="0"/>
              </a:spcAft>
              <a:defRPr sz="1700" b="1">
                <a:solidFill>
                  <a:srgbClr val="182B3A"/>
                </a:solidFill>
                <a:latin typeface="Arial"/>
              </a:defRPr>
            </a:pPr>
            <a:r>
              <a:t>Rewrite the Calculation</a:t>
            </a:r>
          </a:p>
        </p:txBody>
      </p:sp>
      <p:sp>
        <p:nvSpPr>
          <p:cNvPr id="31" name="Rectangle 30"/>
          <p:cNvSpPr/>
          <p:nvPr/>
        </p:nvSpPr>
        <p:spPr>
          <a:xfrm>
            <a:off x="2121408" y="3648456"/>
            <a:ext cx="4062984" cy="1261872"/>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2194560" y="3730752"/>
            <a:ext cx="3916680" cy="1115568"/>
          </a:xfrm>
          <a:prstGeom prst="rect">
            <a:avLst/>
          </a:prstGeom>
          <a:noFill/>
        </p:spPr>
        <p:txBody>
          <a:bodyPr wrap="square" lIns="54864" rIns="54864" tIns="22860" bIns="22860">
            <a:spAutoFit/>
          </a:bodyPr>
          <a:lstStyle/>
          <a:p>
            <a:pPr>
              <a:lnSpc>
                <a:spcPts val="1785"/>
              </a:lnSpc>
              <a:spcBef>
                <a:spcPts val="0"/>
              </a:spcBef>
              <a:spcAft>
                <a:spcPts val="0"/>
              </a:spcAft>
              <a:defRPr sz="1700" b="0">
                <a:solidFill>
                  <a:srgbClr val="182B3A"/>
                </a:solidFill>
                <a:latin typeface="Arial"/>
              </a:defRPr>
            </a:pPr>
            <a:r>
              <a:t>Replace subtraction by addition of the opposite where useful.</a:t>
            </a:r>
          </a:p>
        </p:txBody>
      </p:sp>
      <p:sp>
        <p:nvSpPr>
          <p:cNvPr id="33" name="Rectangle 32"/>
          <p:cNvSpPr/>
          <p:nvPr/>
        </p:nvSpPr>
        <p:spPr>
          <a:xfrm>
            <a:off x="6184392" y="3648456"/>
            <a:ext cx="4062984" cy="1261872"/>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6257544" y="3730752"/>
            <a:ext cx="3916680" cy="1115568"/>
          </a:xfrm>
          <a:prstGeom prst="rect">
            <a:avLst/>
          </a:prstGeom>
          <a:noFill/>
        </p:spPr>
        <p:txBody>
          <a:bodyPr wrap="square" lIns="54864" rIns="54864" tIns="22860" bIns="22860">
            <a:spAutoFit/>
          </a:bodyPr>
          <a:lstStyle/>
          <a:p>
            <a:pPr>
              <a:lnSpc>
                <a:spcPts val="1785"/>
              </a:lnSpc>
              <a:spcBef>
                <a:spcPts val="0"/>
              </a:spcBef>
              <a:spcAft>
                <a:spcPts val="0"/>
              </a:spcAft>
              <a:defRPr sz="1700" b="0">
                <a:solidFill>
                  <a:srgbClr val="182B3A"/>
                </a:solidFill>
                <a:latin typeface="Arial"/>
              </a:defRPr>
            </a:pPr>
            <a:r>
              <a:t>Replace subtraction by addition of the opposite where useful.</a:t>
            </a:r>
          </a:p>
        </p:txBody>
      </p:sp>
      <p:sp>
        <p:nvSpPr>
          <p:cNvPr id="35" name="Rectangle 34"/>
          <p:cNvSpPr/>
          <p:nvPr/>
        </p:nvSpPr>
        <p:spPr>
          <a:xfrm>
            <a:off x="10247376" y="3648456"/>
            <a:ext cx="4062984" cy="1261872"/>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10320528" y="3730752"/>
            <a:ext cx="3916680" cy="1115568"/>
          </a:xfrm>
          <a:prstGeom prst="rect">
            <a:avLst/>
          </a:prstGeom>
          <a:noFill/>
        </p:spPr>
        <p:txBody>
          <a:bodyPr wrap="square" lIns="54864" rIns="54864" tIns="22860" bIns="22860">
            <a:spAutoFit/>
          </a:bodyPr>
          <a:lstStyle/>
          <a:p>
            <a:pPr>
              <a:lnSpc>
                <a:spcPts val="1785"/>
              </a:lnSpc>
              <a:spcBef>
                <a:spcPts val="0"/>
              </a:spcBef>
              <a:spcAft>
                <a:spcPts val="0"/>
              </a:spcAft>
              <a:defRPr sz="1700" b="0">
                <a:solidFill>
                  <a:srgbClr val="182B3A"/>
                </a:solidFill>
                <a:latin typeface="Arial"/>
              </a:defRPr>
            </a:pPr>
            <a:r>
              <a:t>Replace subtraction by addition of the opposite where useful.</a:t>
            </a:r>
          </a:p>
        </p:txBody>
      </p:sp>
      <p:sp>
        <p:nvSpPr>
          <p:cNvPr id="37" name="Rectangle 36"/>
          <p:cNvSpPr/>
          <p:nvPr/>
        </p:nvSpPr>
        <p:spPr>
          <a:xfrm>
            <a:off x="320040" y="4910327"/>
            <a:ext cx="1801367" cy="1261872"/>
          </a:xfrm>
          <a:prstGeom prst="rect">
            <a:avLst/>
          </a:prstGeom>
          <a:solidFill>
            <a:srgbClr val="E8EDF1"/>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374904" y="5001767"/>
            <a:ext cx="1691639" cy="1106424"/>
          </a:xfrm>
          <a:prstGeom prst="rect">
            <a:avLst/>
          </a:prstGeom>
          <a:noFill/>
        </p:spPr>
        <p:txBody>
          <a:bodyPr wrap="square" lIns="54864" rIns="54864" tIns="22860" bIns="22860">
            <a:spAutoFit/>
          </a:bodyPr>
          <a:lstStyle/>
          <a:p>
            <a:pPr>
              <a:lnSpc>
                <a:spcPts val="1785"/>
              </a:lnSpc>
              <a:spcBef>
                <a:spcPts val="0"/>
              </a:spcBef>
              <a:spcAft>
                <a:spcPts val="0"/>
              </a:spcAft>
              <a:defRPr sz="1700" b="1">
                <a:solidFill>
                  <a:srgbClr val="182B3A"/>
                </a:solidFill>
                <a:latin typeface="Arial"/>
              </a:defRPr>
            </a:pPr>
            <a:r>
              <a:t>Calculate</a:t>
            </a:r>
          </a:p>
        </p:txBody>
      </p:sp>
      <p:sp>
        <p:nvSpPr>
          <p:cNvPr id="39" name="Rectangle 38"/>
          <p:cNvSpPr/>
          <p:nvPr/>
        </p:nvSpPr>
        <p:spPr>
          <a:xfrm>
            <a:off x="2121408" y="4910327"/>
            <a:ext cx="4062984" cy="1261872"/>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2194560" y="4992623"/>
            <a:ext cx="3916680" cy="1115568"/>
          </a:xfrm>
          <a:prstGeom prst="rect">
            <a:avLst/>
          </a:prstGeom>
          <a:noFill/>
        </p:spPr>
        <p:txBody>
          <a:bodyPr wrap="square" lIns="54864" rIns="54864" tIns="22860" bIns="22860">
            <a:spAutoFit/>
          </a:bodyPr>
          <a:lstStyle/>
          <a:p>
            <a:pPr>
              <a:lnSpc>
                <a:spcPts val="1785"/>
              </a:lnSpc>
              <a:spcBef>
                <a:spcPts val="0"/>
              </a:spcBef>
              <a:spcAft>
                <a:spcPts val="0"/>
              </a:spcAft>
              <a:defRPr sz="1700" b="0">
                <a:solidFill>
                  <a:srgbClr val="182B3A"/>
                </a:solidFill>
                <a:latin typeface="Arial"/>
              </a:defRPr>
            </a:pPr>
            <a:r>
              <a:t>Work from left to right. Show each result.</a:t>
            </a:r>
          </a:p>
        </p:txBody>
      </p:sp>
      <p:sp>
        <p:nvSpPr>
          <p:cNvPr id="41" name="Rectangle 40"/>
          <p:cNvSpPr/>
          <p:nvPr/>
        </p:nvSpPr>
        <p:spPr>
          <a:xfrm>
            <a:off x="6184392" y="4910327"/>
            <a:ext cx="4062984" cy="1261872"/>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6257544" y="4992623"/>
            <a:ext cx="3916680" cy="1115568"/>
          </a:xfrm>
          <a:prstGeom prst="rect">
            <a:avLst/>
          </a:prstGeom>
          <a:noFill/>
        </p:spPr>
        <p:txBody>
          <a:bodyPr wrap="square" lIns="54864" rIns="54864" tIns="22860" bIns="22860">
            <a:spAutoFit/>
          </a:bodyPr>
          <a:lstStyle/>
          <a:p>
            <a:pPr>
              <a:lnSpc>
                <a:spcPts val="1785"/>
              </a:lnSpc>
              <a:spcBef>
                <a:spcPts val="0"/>
              </a:spcBef>
              <a:spcAft>
                <a:spcPts val="0"/>
              </a:spcAft>
              <a:defRPr sz="1700" b="0">
                <a:solidFill>
                  <a:srgbClr val="182B3A"/>
                </a:solidFill>
                <a:latin typeface="Arial"/>
              </a:defRPr>
            </a:pPr>
            <a:r>
              <a:t>Work from left to right. Show each result.</a:t>
            </a:r>
          </a:p>
        </p:txBody>
      </p:sp>
      <p:sp>
        <p:nvSpPr>
          <p:cNvPr id="43" name="Rectangle 42"/>
          <p:cNvSpPr/>
          <p:nvPr/>
        </p:nvSpPr>
        <p:spPr>
          <a:xfrm>
            <a:off x="10247376" y="4910327"/>
            <a:ext cx="4062984" cy="1261872"/>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10320528" y="4992623"/>
            <a:ext cx="3916680" cy="1115568"/>
          </a:xfrm>
          <a:prstGeom prst="rect">
            <a:avLst/>
          </a:prstGeom>
          <a:noFill/>
        </p:spPr>
        <p:txBody>
          <a:bodyPr wrap="square" lIns="54864" rIns="54864" tIns="22860" bIns="22860">
            <a:spAutoFit/>
          </a:bodyPr>
          <a:lstStyle/>
          <a:p>
            <a:pPr>
              <a:lnSpc>
                <a:spcPts val="1785"/>
              </a:lnSpc>
              <a:spcBef>
                <a:spcPts val="0"/>
              </a:spcBef>
              <a:spcAft>
                <a:spcPts val="0"/>
              </a:spcAft>
              <a:defRPr sz="1700" b="0">
                <a:solidFill>
                  <a:srgbClr val="182B3A"/>
                </a:solidFill>
                <a:latin typeface="Arial"/>
              </a:defRPr>
            </a:pPr>
            <a:r>
              <a:t>Work from left to right. Show each result.</a:t>
            </a:r>
          </a:p>
        </p:txBody>
      </p:sp>
      <p:sp>
        <p:nvSpPr>
          <p:cNvPr id="45" name="Rectangle 44"/>
          <p:cNvSpPr/>
          <p:nvPr/>
        </p:nvSpPr>
        <p:spPr>
          <a:xfrm>
            <a:off x="320040" y="6172199"/>
            <a:ext cx="1801367" cy="1243584"/>
          </a:xfrm>
          <a:prstGeom prst="rect">
            <a:avLst/>
          </a:prstGeom>
          <a:solidFill>
            <a:srgbClr val="E8EDF1"/>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374904" y="6263639"/>
            <a:ext cx="1691639" cy="1088136"/>
          </a:xfrm>
          <a:prstGeom prst="rect">
            <a:avLst/>
          </a:prstGeom>
          <a:noFill/>
        </p:spPr>
        <p:txBody>
          <a:bodyPr wrap="square" lIns="54864" rIns="54864" tIns="22860" bIns="22860">
            <a:spAutoFit/>
          </a:bodyPr>
          <a:lstStyle/>
          <a:p>
            <a:pPr>
              <a:lnSpc>
                <a:spcPts val="1785"/>
              </a:lnSpc>
              <a:spcBef>
                <a:spcPts val="0"/>
              </a:spcBef>
              <a:spcAft>
                <a:spcPts val="0"/>
              </a:spcAft>
              <a:defRPr sz="1700" b="1">
                <a:solidFill>
                  <a:srgbClr val="182B3A"/>
                </a:solidFill>
                <a:latin typeface="Arial"/>
              </a:defRPr>
            </a:pPr>
            <a:r>
              <a:t>Check the Answer</a:t>
            </a:r>
          </a:p>
        </p:txBody>
      </p:sp>
      <p:sp>
        <p:nvSpPr>
          <p:cNvPr id="47" name="Rectangle 46"/>
          <p:cNvSpPr/>
          <p:nvPr/>
        </p:nvSpPr>
        <p:spPr>
          <a:xfrm>
            <a:off x="2121408" y="6172199"/>
            <a:ext cx="4062984" cy="1243584"/>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TextBox 47"/>
          <p:cNvSpPr txBox="1"/>
          <p:nvPr/>
        </p:nvSpPr>
        <p:spPr>
          <a:xfrm>
            <a:off x="2194560" y="6254495"/>
            <a:ext cx="3916680" cy="1097280"/>
          </a:xfrm>
          <a:prstGeom prst="rect">
            <a:avLst/>
          </a:prstGeom>
          <a:noFill/>
        </p:spPr>
        <p:txBody>
          <a:bodyPr wrap="square" lIns="54864" rIns="54864" tIns="22860" bIns="22860">
            <a:spAutoFit/>
          </a:bodyPr>
          <a:lstStyle/>
          <a:p>
            <a:pPr>
              <a:lnSpc>
                <a:spcPts val="1785"/>
              </a:lnSpc>
              <a:spcBef>
                <a:spcPts val="0"/>
              </a:spcBef>
              <a:spcAft>
                <a:spcPts val="0"/>
              </a:spcAft>
              <a:defRPr sz="1700" b="0">
                <a:solidFill>
                  <a:srgbClr val="182B3A"/>
                </a:solidFill>
                <a:latin typeface="Arial"/>
              </a:defRPr>
            </a:pPr>
            <a:r>
              <a:t>Undo the last operation to check. Write the final answer.</a:t>
            </a:r>
          </a:p>
        </p:txBody>
      </p:sp>
      <p:sp>
        <p:nvSpPr>
          <p:cNvPr id="49" name="Rectangle 48"/>
          <p:cNvSpPr/>
          <p:nvPr/>
        </p:nvSpPr>
        <p:spPr>
          <a:xfrm>
            <a:off x="6184392" y="6172199"/>
            <a:ext cx="4062984" cy="1243584"/>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TextBox 49"/>
          <p:cNvSpPr txBox="1"/>
          <p:nvPr/>
        </p:nvSpPr>
        <p:spPr>
          <a:xfrm>
            <a:off x="6257544" y="6254495"/>
            <a:ext cx="3916680" cy="1097280"/>
          </a:xfrm>
          <a:prstGeom prst="rect">
            <a:avLst/>
          </a:prstGeom>
          <a:noFill/>
        </p:spPr>
        <p:txBody>
          <a:bodyPr wrap="square" lIns="54864" rIns="54864" tIns="22860" bIns="22860">
            <a:spAutoFit/>
          </a:bodyPr>
          <a:lstStyle/>
          <a:p>
            <a:pPr>
              <a:lnSpc>
                <a:spcPts val="1785"/>
              </a:lnSpc>
              <a:spcBef>
                <a:spcPts val="0"/>
              </a:spcBef>
              <a:spcAft>
                <a:spcPts val="0"/>
              </a:spcAft>
              <a:defRPr sz="1700" b="0">
                <a:solidFill>
                  <a:srgbClr val="182B3A"/>
                </a:solidFill>
                <a:latin typeface="Arial"/>
              </a:defRPr>
            </a:pPr>
            <a:r>
              <a:t>Undo the last operation to check. Write the final answer.</a:t>
            </a:r>
          </a:p>
        </p:txBody>
      </p:sp>
      <p:sp>
        <p:nvSpPr>
          <p:cNvPr id="51" name="Rectangle 50"/>
          <p:cNvSpPr/>
          <p:nvPr/>
        </p:nvSpPr>
        <p:spPr>
          <a:xfrm>
            <a:off x="10247376" y="6172199"/>
            <a:ext cx="4062984" cy="1243584"/>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TextBox 51"/>
          <p:cNvSpPr txBox="1"/>
          <p:nvPr/>
        </p:nvSpPr>
        <p:spPr>
          <a:xfrm>
            <a:off x="10320528" y="6254495"/>
            <a:ext cx="3916680" cy="1097280"/>
          </a:xfrm>
          <a:prstGeom prst="rect">
            <a:avLst/>
          </a:prstGeom>
          <a:noFill/>
        </p:spPr>
        <p:txBody>
          <a:bodyPr wrap="square" lIns="54864" rIns="54864" tIns="22860" bIns="22860">
            <a:spAutoFit/>
          </a:bodyPr>
          <a:lstStyle/>
          <a:p>
            <a:pPr>
              <a:lnSpc>
                <a:spcPts val="1785"/>
              </a:lnSpc>
              <a:spcBef>
                <a:spcPts val="0"/>
              </a:spcBef>
              <a:spcAft>
                <a:spcPts val="0"/>
              </a:spcAft>
              <a:defRPr sz="1700" b="0">
                <a:solidFill>
                  <a:srgbClr val="182B3A"/>
                </a:solidFill>
                <a:latin typeface="Arial"/>
              </a:defRPr>
            </a:pPr>
            <a:r>
              <a:t>Undo the last operation to check. Write the final answer.</a:t>
            </a:r>
          </a:p>
        </p:txBody>
      </p:sp>
      <p:sp>
        <p:nvSpPr>
          <p:cNvPr id="53" name="Progression curved arrow: Thread 1 to Thread 2"/>
          <p:cNvSpPr/>
          <p:nvPr/>
        </p:nvSpPr>
        <p:spPr>
          <a:xfrm>
            <a:off x="5850635" y="7351125"/>
            <a:ext cx="621792" cy="314053"/>
          </a:xfrm>
          <a:custGeom>
            <a:avLst/>
            <a:gdLst/>
            <a:ahLst/>
            <a:cxnLst/>
            <a:rect l="0" t="0" r="100000" b="100000"/>
            <a:pathLst>
              <a:path w="100000" h="100000" fill="none">
                <a:moveTo>
                  <a:pt x="6970" y="48439"/>
                </a:moveTo>
                <a:cubicBezTo>
                  <a:pt x="40678" y="114499"/>
                  <a:pt x="73026" y="88145"/>
                  <a:pt x="93030" y="13799"/>
                </a:cubicBezTo>
              </a:path>
              <a:path w="100000" h="100000" fill="none">
                <a:moveTo>
                  <a:pt x="69018" y="40431"/>
                </a:moveTo>
                <a:lnTo>
                  <a:pt x="93030" y="13799"/>
                </a:lnTo>
                <a:lnTo>
                  <a:pt x="92217" y="66207"/>
                </a:lnTo>
              </a:path>
            </a:pathLst>
          </a:custGeom>
          <a:noFill/>
          <a:ln w="64449" cap="rnd">
            <a:solidFill>
              <a:schemeClr val="accent6">
                <a:lumMod val="60000"/>
                <a:lumOff val="40000"/>
              </a:schemeClr>
            </a:solidFill>
            <a:round/>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4" name="Progression curved arrow: Thread 2 to Thread 3"/>
          <p:cNvSpPr/>
          <p:nvPr/>
        </p:nvSpPr>
        <p:spPr>
          <a:xfrm>
            <a:off x="9865783" y="7342631"/>
            <a:ext cx="621792" cy="314053"/>
          </a:xfrm>
          <a:custGeom>
            <a:avLst/>
            <a:gdLst/>
            <a:ahLst/>
            <a:cxnLst/>
            <a:rect l="0" t="0" r="100000" b="100000"/>
            <a:pathLst>
              <a:path w="100000" h="100000" fill="none">
                <a:moveTo>
                  <a:pt x="6970" y="48439"/>
                </a:moveTo>
                <a:cubicBezTo>
                  <a:pt x="40678" y="114499"/>
                  <a:pt x="73026" y="88145"/>
                  <a:pt x="93030" y="13799"/>
                </a:cubicBezTo>
              </a:path>
              <a:path w="100000" h="100000" fill="none">
                <a:moveTo>
                  <a:pt x="69018" y="40431"/>
                </a:moveTo>
                <a:lnTo>
                  <a:pt x="93030" y="13799"/>
                </a:lnTo>
                <a:lnTo>
                  <a:pt x="92217" y="66207"/>
                </a:lnTo>
              </a:path>
            </a:pathLst>
          </a:custGeom>
          <a:noFill/>
          <a:ln w="64449" cap="rnd">
            <a:solidFill>
              <a:schemeClr val="accent6">
                <a:lumMod val="60000"/>
                <a:lumOff val="40000"/>
              </a:schemeClr>
            </a:solidFill>
            <a:round/>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bg>
      <p:bgPr>
        <a:solidFill>
          <a:srgbClr val="F7F8FA"/>
        </a:solidFill>
        <a:effectLst/>
      </p:bgPr>
    </p:bg>
    <p:spTree>
      <p:nvGrpSpPr>
        <p:cNvPr id="1" name=""/>
        <p:cNvGrpSpPr/>
        <p:nvPr/>
      </p:nvGrpSpPr>
      <p:grpSpPr/>
      <p:sp>
        <p:nvSpPr>
          <p:cNvPr id="2" name="Rectangle 1"/>
          <p:cNvSpPr/>
          <p:nvPr/>
        </p:nvSpPr>
        <p:spPr>
          <a:xfrm>
            <a:off x="0" y="0"/>
            <a:ext cx="14630400" cy="91440"/>
          </a:xfrm>
          <a:prstGeom prst="rect">
            <a:avLst/>
          </a:prstGeom>
          <a:solidFill>
            <a:srgbClr val="176B73"/>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 name="TextBox 2"/>
          <p:cNvSpPr txBox="1"/>
          <p:nvPr/>
        </p:nvSpPr>
        <p:spPr>
          <a:xfrm>
            <a:off x="384048" y="219456"/>
            <a:ext cx="13807440" cy="457200"/>
          </a:xfrm>
          <a:prstGeom prst="rect">
            <a:avLst/>
          </a:prstGeom>
          <a:noFill/>
        </p:spPr>
        <p:txBody>
          <a:bodyPr wrap="square" tIns="36576" bIns="36576" anchor="t">
            <a:spAutoFit/>
          </a:bodyPr>
          <a:lstStyle/>
          <a:p>
            <a:pPr>
              <a:lnSpc>
                <a:spcPts val="3132"/>
              </a:lnSpc>
              <a:spcBef>
                <a:spcPts val="0"/>
              </a:spcBef>
              <a:spcAft>
                <a:spcPts val="0"/>
              </a:spcAft>
              <a:defRPr sz="2900" b="1">
                <a:solidFill>
                  <a:srgbClr val="182B3A"/>
                </a:solidFill>
                <a:latin typeface="Arial"/>
              </a:defRPr>
            </a:pPr>
            <a:r>
              <a:t>Signed numbers: addition and subtraction — spot the errors</a:t>
            </a:r>
          </a:p>
        </p:txBody>
      </p:sp>
      <p:sp>
        <p:nvSpPr>
          <p:cNvPr id="4" name="TextBox 3"/>
          <p:cNvSpPr txBox="1"/>
          <p:nvPr/>
        </p:nvSpPr>
        <p:spPr>
          <a:xfrm>
            <a:off x="384048" y="740664"/>
            <a:ext cx="13807440" cy="411480"/>
          </a:xfrm>
          <a:prstGeom prst="rect">
            <a:avLst/>
          </a:prstGeom>
          <a:noFill/>
        </p:spPr>
        <p:txBody>
          <a:bodyPr wrap="square" tIns="36576" bIns="36576" anchor="t">
            <a:spAutoFit/>
          </a:bodyPr>
          <a:lstStyle/>
          <a:p>
            <a:pPr>
              <a:lnSpc>
                <a:spcPts val="1836"/>
              </a:lnSpc>
              <a:spcBef>
                <a:spcPts val="0"/>
              </a:spcBef>
              <a:spcAft>
                <a:spcPts val="0"/>
              </a:spcAft>
              <a:defRPr sz="1700" b="0">
                <a:solidFill>
                  <a:srgbClr val="526472"/>
                </a:solidFill>
                <a:latin typeface="Arial"/>
              </a:defRPr>
            </a:pPr>
            <a:r>
              <a:t>Each student’s working contains a mistake. Find it, correct the working and give the right answer.</a:t>
            </a:r>
          </a:p>
        </p:txBody>
      </p:sp>
      <p:sp>
        <p:nvSpPr>
          <p:cNvPr id="5" name="TextBox 4"/>
          <p:cNvSpPr txBox="1"/>
          <p:nvPr/>
        </p:nvSpPr>
        <p:spPr>
          <a:xfrm>
            <a:off x="384048" y="7863840"/>
            <a:ext cx="13716000" cy="256032"/>
          </a:xfrm>
          <a:prstGeom prst="rect">
            <a:avLst/>
          </a:prstGeom>
          <a:noFill/>
        </p:spPr>
        <p:txBody>
          <a:bodyPr wrap="square" tIns="36576" bIns="36576" anchor="t">
            <a:spAutoFit/>
          </a:bodyPr>
          <a:lstStyle/>
          <a:p>
            <a:pPr>
              <a:lnSpc>
                <a:spcPts val="1188"/>
              </a:lnSpc>
              <a:spcBef>
                <a:spcPts val="0"/>
              </a:spcBef>
              <a:spcAft>
                <a:spcPts val="0"/>
              </a:spcAft>
              <a:defRPr sz="1100" b="0">
                <a:solidFill>
                  <a:srgbClr val="526472"/>
                </a:solidFill>
                <a:latin typeface="Arial"/>
              </a:defRPr>
            </a:pPr>
            <a:r>
              <a:t>M13-SE  •  Record your working in your booklet or webapp.</a:t>
            </a:r>
          </a:p>
        </p:txBody>
      </p:sp>
      <p:sp>
        <p:nvSpPr>
          <p:cNvPr id="6" name="Rectangle 5"/>
          <p:cNvSpPr/>
          <p:nvPr/>
        </p:nvSpPr>
        <p:spPr>
          <a:xfrm>
            <a:off x="384048" y="1234440"/>
            <a:ext cx="4588764" cy="420624"/>
          </a:xfrm>
          <a:prstGeom prst="rect">
            <a:avLst/>
          </a:prstGeom>
          <a:solidFill>
            <a:srgbClr val="176B73"/>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7" name="TextBox 6"/>
          <p:cNvSpPr txBox="1"/>
          <p:nvPr/>
        </p:nvSpPr>
        <p:spPr>
          <a:xfrm>
            <a:off x="448056" y="1261872"/>
            <a:ext cx="4474464" cy="347472"/>
          </a:xfrm>
          <a:prstGeom prst="rect">
            <a:avLst/>
          </a:prstGeom>
          <a:noFill/>
        </p:spPr>
        <p:txBody>
          <a:bodyPr wrap="square" tIns="36576" bIns="36576" anchor="t">
            <a:spAutoFit/>
          </a:bodyPr>
          <a:lstStyle/>
          <a:p>
            <a:pPr>
              <a:lnSpc>
                <a:spcPts val="2160"/>
              </a:lnSpc>
              <a:spcBef>
                <a:spcPts val="0"/>
              </a:spcBef>
              <a:spcAft>
                <a:spcPts val="0"/>
              </a:spcAft>
              <a:defRPr sz="2000" b="1">
                <a:solidFill>
                  <a:srgbClr val="FFFFFF"/>
                </a:solidFill>
                <a:latin typeface="Arial"/>
              </a:defRPr>
            </a:pPr>
            <a:r>
              <a:t>Start</a:t>
            </a:r>
          </a:p>
        </p:txBody>
      </p:sp>
      <p:sp>
        <p:nvSpPr>
          <p:cNvPr id="8" name="Rectangle 7"/>
          <p:cNvSpPr/>
          <p:nvPr/>
        </p:nvSpPr>
        <p:spPr>
          <a:xfrm>
            <a:off x="384048" y="1719072"/>
            <a:ext cx="4588764" cy="1929384"/>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9" name="TextBox 8"/>
          <p:cNvSpPr txBox="1"/>
          <p:nvPr/>
        </p:nvSpPr>
        <p:spPr>
          <a:xfrm>
            <a:off x="475488" y="1755648"/>
            <a:ext cx="4392168" cy="402336"/>
          </a:xfrm>
          <a:prstGeom prst="rect">
            <a:avLst/>
          </a:prstGeom>
          <a:noFill/>
        </p:spPr>
        <p:txBody>
          <a:bodyPr wrap="square" tIns="36576" bIns="36576" anchor="t">
            <a:spAutoFit/>
          </a:bodyPr>
          <a:lstStyle/>
          <a:p>
            <a:pPr>
              <a:lnSpc>
                <a:spcPts val="2268"/>
              </a:lnSpc>
              <a:spcBef>
                <a:spcPts val="0"/>
              </a:spcBef>
              <a:spcAft>
                <a:spcPts val="0"/>
              </a:spcAft>
              <a:defRPr sz="2100" b="1">
                <a:solidFill>
                  <a:srgbClr val="182B3A"/>
                </a:solidFill>
                <a:latin typeface="Arial"/>
              </a:defRPr>
            </a:pPr>
            <a:r>
              <a:t>1.  −3 + 5</a:t>
            </a:r>
          </a:p>
        </p:txBody>
      </p:sp>
      <p:sp>
        <p:nvSpPr>
          <p:cNvPr id="10" name="TextBox 9"/>
          <p:cNvSpPr txBox="1"/>
          <p:nvPr/>
        </p:nvSpPr>
        <p:spPr>
          <a:xfrm>
            <a:off x="704088" y="2231136"/>
            <a:ext cx="4023360" cy="310896"/>
          </a:xfrm>
          <a:prstGeom prst="rect">
            <a:avLst/>
          </a:prstGeom>
          <a:noFill/>
        </p:spPr>
        <p:txBody>
          <a:bodyPr wrap="none" lIns="0" rIns="0" tIns="0" bIns="0">
            <a:spAutoFit/>
          </a:bodyPr>
          <a:lstStyle/>
          <a:p>
            <a:pPr algn="l">
              <a:lnSpc>
                <a:spcPts val="2576"/>
              </a:lnSpc>
              <a:spcBef>
                <a:spcPts val="0"/>
              </a:spcBef>
              <a:spcAft>
                <a:spcPts val="0"/>
              </a:spcAft>
              <a:defRPr sz="2300" b="0">
                <a:solidFill>
                  <a:srgbClr val="182B3A"/>
                </a:solidFill>
                <a:latin typeface="Arial"/>
              </a:defRPr>
            </a:pPr>
            <a:r>
              <a:t>−3 + 5</a:t>
            </a:r>
          </a:p>
        </p:txBody>
      </p:sp>
      <p:sp>
        <p:nvSpPr>
          <p:cNvPr id="11" name="TextBox 10"/>
          <p:cNvSpPr txBox="1"/>
          <p:nvPr/>
        </p:nvSpPr>
        <p:spPr>
          <a:xfrm>
            <a:off x="704088" y="2578608"/>
            <a:ext cx="4023360" cy="310896"/>
          </a:xfrm>
          <a:prstGeom prst="rect">
            <a:avLst/>
          </a:prstGeom>
          <a:noFill/>
        </p:spPr>
        <p:txBody>
          <a:bodyPr wrap="none" lIns="0" rIns="0" tIns="0" bIns="0">
            <a:spAutoFit/>
          </a:bodyPr>
          <a:lstStyle/>
          <a:p>
            <a:pPr algn="l">
              <a:lnSpc>
                <a:spcPts val="2576"/>
              </a:lnSpc>
              <a:spcBef>
                <a:spcPts val="0"/>
              </a:spcBef>
              <a:spcAft>
                <a:spcPts val="0"/>
              </a:spcAft>
              <a:defRPr sz="2300" b="0">
                <a:solidFill>
                  <a:srgbClr val="182B3A"/>
                </a:solidFill>
                <a:latin typeface="Arial"/>
              </a:defRPr>
            </a:pPr>
            <a:r>
              <a:t>= −3 − 5</a:t>
            </a:r>
          </a:p>
        </p:txBody>
      </p:sp>
      <p:sp>
        <p:nvSpPr>
          <p:cNvPr id="12" name="TextBox 11"/>
          <p:cNvSpPr txBox="1"/>
          <p:nvPr/>
        </p:nvSpPr>
        <p:spPr>
          <a:xfrm>
            <a:off x="704088" y="2926080"/>
            <a:ext cx="4023360" cy="310896"/>
          </a:xfrm>
          <a:prstGeom prst="rect">
            <a:avLst/>
          </a:prstGeom>
          <a:noFill/>
        </p:spPr>
        <p:txBody>
          <a:bodyPr wrap="none" lIns="0" rIns="0" tIns="0" bIns="0">
            <a:spAutoFit/>
          </a:bodyPr>
          <a:lstStyle/>
          <a:p>
            <a:pPr algn="l">
              <a:lnSpc>
                <a:spcPts val="2576"/>
              </a:lnSpc>
              <a:spcBef>
                <a:spcPts val="0"/>
              </a:spcBef>
              <a:spcAft>
                <a:spcPts val="0"/>
              </a:spcAft>
              <a:defRPr sz="2300" b="0">
                <a:solidFill>
                  <a:srgbClr val="182B3A"/>
                </a:solidFill>
                <a:latin typeface="Arial"/>
              </a:defRPr>
            </a:pPr>
            <a:r>
              <a:t>= −8</a:t>
            </a:r>
          </a:p>
        </p:txBody>
      </p:sp>
      <p:sp>
        <p:nvSpPr>
          <p:cNvPr id="13" name="Rectangle 12"/>
          <p:cNvSpPr/>
          <p:nvPr/>
        </p:nvSpPr>
        <p:spPr>
          <a:xfrm>
            <a:off x="384048" y="3721608"/>
            <a:ext cx="4588764" cy="1929384"/>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4" name="TextBox 13"/>
          <p:cNvSpPr txBox="1"/>
          <p:nvPr/>
        </p:nvSpPr>
        <p:spPr>
          <a:xfrm>
            <a:off x="475488" y="3758184"/>
            <a:ext cx="4392168" cy="402336"/>
          </a:xfrm>
          <a:prstGeom prst="rect">
            <a:avLst/>
          </a:prstGeom>
          <a:noFill/>
        </p:spPr>
        <p:txBody>
          <a:bodyPr wrap="square" tIns="36576" bIns="36576" anchor="t">
            <a:spAutoFit/>
          </a:bodyPr>
          <a:lstStyle/>
          <a:p>
            <a:pPr>
              <a:lnSpc>
                <a:spcPts val="2268"/>
              </a:lnSpc>
              <a:spcBef>
                <a:spcPts val="0"/>
              </a:spcBef>
              <a:spcAft>
                <a:spcPts val="0"/>
              </a:spcAft>
              <a:defRPr sz="2100" b="1">
                <a:solidFill>
                  <a:srgbClr val="182B3A"/>
                </a:solidFill>
                <a:latin typeface="Arial"/>
              </a:defRPr>
            </a:pPr>
            <a:r>
              <a:t>2.  4 − 9</a:t>
            </a:r>
          </a:p>
        </p:txBody>
      </p:sp>
      <p:sp>
        <p:nvSpPr>
          <p:cNvPr id="15" name="TextBox 14"/>
          <p:cNvSpPr txBox="1"/>
          <p:nvPr/>
        </p:nvSpPr>
        <p:spPr>
          <a:xfrm>
            <a:off x="704088" y="4233672"/>
            <a:ext cx="4023360" cy="310896"/>
          </a:xfrm>
          <a:prstGeom prst="rect">
            <a:avLst/>
          </a:prstGeom>
          <a:noFill/>
        </p:spPr>
        <p:txBody>
          <a:bodyPr wrap="none" lIns="0" rIns="0" tIns="0" bIns="0">
            <a:spAutoFit/>
          </a:bodyPr>
          <a:lstStyle/>
          <a:p>
            <a:pPr algn="l">
              <a:lnSpc>
                <a:spcPts val="2576"/>
              </a:lnSpc>
              <a:spcBef>
                <a:spcPts val="0"/>
              </a:spcBef>
              <a:spcAft>
                <a:spcPts val="0"/>
              </a:spcAft>
              <a:defRPr sz="2300" b="0">
                <a:solidFill>
                  <a:srgbClr val="182B3A"/>
                </a:solidFill>
                <a:latin typeface="Arial"/>
              </a:defRPr>
            </a:pPr>
            <a:r>
              <a:t>4 − 9</a:t>
            </a:r>
          </a:p>
        </p:txBody>
      </p:sp>
      <p:sp>
        <p:nvSpPr>
          <p:cNvPr id="16" name="TextBox 15"/>
          <p:cNvSpPr txBox="1"/>
          <p:nvPr/>
        </p:nvSpPr>
        <p:spPr>
          <a:xfrm>
            <a:off x="704088" y="4581144"/>
            <a:ext cx="4023360" cy="310896"/>
          </a:xfrm>
          <a:prstGeom prst="rect">
            <a:avLst/>
          </a:prstGeom>
          <a:noFill/>
        </p:spPr>
        <p:txBody>
          <a:bodyPr wrap="none" lIns="0" rIns="0" tIns="0" bIns="0">
            <a:spAutoFit/>
          </a:bodyPr>
          <a:lstStyle/>
          <a:p>
            <a:pPr algn="l">
              <a:lnSpc>
                <a:spcPts val="2576"/>
              </a:lnSpc>
              <a:spcBef>
                <a:spcPts val="0"/>
              </a:spcBef>
              <a:spcAft>
                <a:spcPts val="0"/>
              </a:spcAft>
              <a:defRPr sz="2300" b="0">
                <a:solidFill>
                  <a:srgbClr val="182B3A"/>
                </a:solidFill>
                <a:latin typeface="Arial"/>
              </a:defRPr>
            </a:pPr>
            <a:r>
              <a:t>= 9 − 4</a:t>
            </a:r>
          </a:p>
        </p:txBody>
      </p:sp>
      <p:sp>
        <p:nvSpPr>
          <p:cNvPr id="17" name="TextBox 16"/>
          <p:cNvSpPr txBox="1"/>
          <p:nvPr/>
        </p:nvSpPr>
        <p:spPr>
          <a:xfrm>
            <a:off x="704088" y="4928616"/>
            <a:ext cx="4023360" cy="310896"/>
          </a:xfrm>
          <a:prstGeom prst="rect">
            <a:avLst/>
          </a:prstGeom>
          <a:noFill/>
        </p:spPr>
        <p:txBody>
          <a:bodyPr wrap="none" lIns="0" rIns="0" tIns="0" bIns="0">
            <a:spAutoFit/>
          </a:bodyPr>
          <a:lstStyle/>
          <a:p>
            <a:pPr algn="l">
              <a:lnSpc>
                <a:spcPts val="2576"/>
              </a:lnSpc>
              <a:spcBef>
                <a:spcPts val="0"/>
              </a:spcBef>
              <a:spcAft>
                <a:spcPts val="0"/>
              </a:spcAft>
              <a:defRPr sz="2300" b="0">
                <a:solidFill>
                  <a:srgbClr val="182B3A"/>
                </a:solidFill>
                <a:latin typeface="Arial"/>
              </a:defRPr>
            </a:pPr>
            <a:r>
              <a:t>= 5</a:t>
            </a:r>
          </a:p>
        </p:txBody>
      </p:sp>
      <p:sp>
        <p:nvSpPr>
          <p:cNvPr id="18" name="Rectangle 17"/>
          <p:cNvSpPr/>
          <p:nvPr/>
        </p:nvSpPr>
        <p:spPr>
          <a:xfrm>
            <a:off x="384048" y="5724144"/>
            <a:ext cx="4588764" cy="1929384"/>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9" name="TextBox 18"/>
          <p:cNvSpPr txBox="1"/>
          <p:nvPr/>
        </p:nvSpPr>
        <p:spPr>
          <a:xfrm>
            <a:off x="475488" y="5760720"/>
            <a:ext cx="4392168" cy="402336"/>
          </a:xfrm>
          <a:prstGeom prst="rect">
            <a:avLst/>
          </a:prstGeom>
          <a:noFill/>
        </p:spPr>
        <p:txBody>
          <a:bodyPr wrap="square" tIns="36576" bIns="36576" anchor="t">
            <a:spAutoFit/>
          </a:bodyPr>
          <a:lstStyle/>
          <a:p>
            <a:pPr>
              <a:lnSpc>
                <a:spcPts val="2268"/>
              </a:lnSpc>
              <a:spcBef>
                <a:spcPts val="0"/>
              </a:spcBef>
              <a:spcAft>
                <a:spcPts val="0"/>
              </a:spcAft>
              <a:defRPr sz="2100" b="1">
                <a:solidFill>
                  <a:srgbClr val="182B3A"/>
                </a:solidFill>
                <a:latin typeface="Arial"/>
              </a:defRPr>
            </a:pPr>
            <a:r>
              <a:t>3.  −4 − 6</a:t>
            </a:r>
          </a:p>
        </p:txBody>
      </p:sp>
      <p:sp>
        <p:nvSpPr>
          <p:cNvPr id="20" name="TextBox 19"/>
          <p:cNvSpPr txBox="1"/>
          <p:nvPr/>
        </p:nvSpPr>
        <p:spPr>
          <a:xfrm>
            <a:off x="704088" y="6236208"/>
            <a:ext cx="4023360" cy="310896"/>
          </a:xfrm>
          <a:prstGeom prst="rect">
            <a:avLst/>
          </a:prstGeom>
          <a:noFill/>
        </p:spPr>
        <p:txBody>
          <a:bodyPr wrap="none" lIns="0" rIns="0" tIns="0" bIns="0">
            <a:spAutoFit/>
          </a:bodyPr>
          <a:lstStyle/>
          <a:p>
            <a:pPr algn="l">
              <a:lnSpc>
                <a:spcPts val="2576"/>
              </a:lnSpc>
              <a:spcBef>
                <a:spcPts val="0"/>
              </a:spcBef>
              <a:spcAft>
                <a:spcPts val="0"/>
              </a:spcAft>
              <a:defRPr sz="2300" b="0">
                <a:solidFill>
                  <a:srgbClr val="182B3A"/>
                </a:solidFill>
                <a:latin typeface="Arial"/>
              </a:defRPr>
            </a:pPr>
            <a:r>
              <a:t>−4 − 6</a:t>
            </a:r>
          </a:p>
        </p:txBody>
      </p:sp>
      <p:sp>
        <p:nvSpPr>
          <p:cNvPr id="21" name="TextBox 20"/>
          <p:cNvSpPr txBox="1"/>
          <p:nvPr/>
        </p:nvSpPr>
        <p:spPr>
          <a:xfrm>
            <a:off x="704088" y="6583680"/>
            <a:ext cx="4023360" cy="310896"/>
          </a:xfrm>
          <a:prstGeom prst="rect">
            <a:avLst/>
          </a:prstGeom>
          <a:noFill/>
        </p:spPr>
        <p:txBody>
          <a:bodyPr wrap="none" lIns="0" rIns="0" tIns="0" bIns="0">
            <a:spAutoFit/>
          </a:bodyPr>
          <a:lstStyle/>
          <a:p>
            <a:pPr algn="l">
              <a:lnSpc>
                <a:spcPts val="2576"/>
              </a:lnSpc>
              <a:spcBef>
                <a:spcPts val="0"/>
              </a:spcBef>
              <a:spcAft>
                <a:spcPts val="0"/>
              </a:spcAft>
              <a:defRPr sz="2300" b="0">
                <a:solidFill>
                  <a:srgbClr val="182B3A"/>
                </a:solidFill>
                <a:latin typeface="Arial"/>
              </a:defRPr>
            </a:pPr>
            <a:r>
              <a:t>= 4 + 6</a:t>
            </a:r>
          </a:p>
        </p:txBody>
      </p:sp>
      <p:sp>
        <p:nvSpPr>
          <p:cNvPr id="22" name="TextBox 21"/>
          <p:cNvSpPr txBox="1"/>
          <p:nvPr/>
        </p:nvSpPr>
        <p:spPr>
          <a:xfrm>
            <a:off x="704088" y="6931152"/>
            <a:ext cx="4023360" cy="310896"/>
          </a:xfrm>
          <a:prstGeom prst="rect">
            <a:avLst/>
          </a:prstGeom>
          <a:noFill/>
        </p:spPr>
        <p:txBody>
          <a:bodyPr wrap="none" lIns="0" rIns="0" tIns="0" bIns="0">
            <a:spAutoFit/>
          </a:bodyPr>
          <a:lstStyle/>
          <a:p>
            <a:pPr algn="l">
              <a:lnSpc>
                <a:spcPts val="2576"/>
              </a:lnSpc>
              <a:spcBef>
                <a:spcPts val="0"/>
              </a:spcBef>
              <a:spcAft>
                <a:spcPts val="0"/>
              </a:spcAft>
              <a:defRPr sz="2300" b="0">
                <a:solidFill>
                  <a:srgbClr val="182B3A"/>
                </a:solidFill>
                <a:latin typeface="Arial"/>
              </a:defRPr>
            </a:pPr>
            <a:r>
              <a:t>= 10</a:t>
            </a:r>
          </a:p>
        </p:txBody>
      </p:sp>
      <p:sp>
        <p:nvSpPr>
          <p:cNvPr id="23" name="Rectangle 22"/>
          <p:cNvSpPr/>
          <p:nvPr/>
        </p:nvSpPr>
        <p:spPr>
          <a:xfrm>
            <a:off x="5004816" y="1234440"/>
            <a:ext cx="4588764" cy="420624"/>
          </a:xfrm>
          <a:prstGeom prst="rect">
            <a:avLst/>
          </a:prstGeom>
          <a:solidFill>
            <a:srgbClr val="3559A2"/>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4" name="TextBox 23"/>
          <p:cNvSpPr txBox="1"/>
          <p:nvPr/>
        </p:nvSpPr>
        <p:spPr>
          <a:xfrm>
            <a:off x="5068824" y="1261872"/>
            <a:ext cx="4474464" cy="347472"/>
          </a:xfrm>
          <a:prstGeom prst="rect">
            <a:avLst/>
          </a:prstGeom>
          <a:noFill/>
        </p:spPr>
        <p:txBody>
          <a:bodyPr wrap="square" tIns="36576" bIns="36576" anchor="t">
            <a:spAutoFit/>
          </a:bodyPr>
          <a:lstStyle/>
          <a:p>
            <a:pPr>
              <a:lnSpc>
                <a:spcPts val="2160"/>
              </a:lnSpc>
              <a:spcBef>
                <a:spcPts val="0"/>
              </a:spcBef>
              <a:spcAft>
                <a:spcPts val="0"/>
              </a:spcAft>
              <a:defRPr sz="2000" b="1">
                <a:solidFill>
                  <a:srgbClr val="FFFFFF"/>
                </a:solidFill>
                <a:latin typeface="Arial"/>
              </a:defRPr>
            </a:pPr>
            <a:r>
              <a:t>Build</a:t>
            </a:r>
          </a:p>
        </p:txBody>
      </p:sp>
      <p:sp>
        <p:nvSpPr>
          <p:cNvPr id="25" name="Rectangle 24"/>
          <p:cNvSpPr/>
          <p:nvPr/>
        </p:nvSpPr>
        <p:spPr>
          <a:xfrm>
            <a:off x="5004816" y="1719072"/>
            <a:ext cx="4588764" cy="1929384"/>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6" name="TextBox 25"/>
          <p:cNvSpPr txBox="1"/>
          <p:nvPr/>
        </p:nvSpPr>
        <p:spPr>
          <a:xfrm>
            <a:off x="5096256" y="1755648"/>
            <a:ext cx="4392168" cy="402336"/>
          </a:xfrm>
          <a:prstGeom prst="rect">
            <a:avLst/>
          </a:prstGeom>
          <a:noFill/>
        </p:spPr>
        <p:txBody>
          <a:bodyPr wrap="square" tIns="36576" bIns="36576" anchor="t">
            <a:spAutoFit/>
          </a:bodyPr>
          <a:lstStyle/>
          <a:p>
            <a:pPr>
              <a:lnSpc>
                <a:spcPts val="2268"/>
              </a:lnSpc>
              <a:spcBef>
                <a:spcPts val="0"/>
              </a:spcBef>
              <a:spcAft>
                <a:spcPts val="0"/>
              </a:spcAft>
              <a:defRPr sz="2100" b="1">
                <a:solidFill>
                  <a:srgbClr val="182B3A"/>
                </a:solidFill>
                <a:latin typeface="Arial"/>
              </a:defRPr>
            </a:pPr>
            <a:r>
              <a:t>1.  6 + (−10)</a:t>
            </a:r>
          </a:p>
        </p:txBody>
      </p:sp>
      <p:sp>
        <p:nvSpPr>
          <p:cNvPr id="27" name="TextBox 26"/>
          <p:cNvSpPr txBox="1"/>
          <p:nvPr/>
        </p:nvSpPr>
        <p:spPr>
          <a:xfrm>
            <a:off x="5324856" y="2231136"/>
            <a:ext cx="4023360" cy="310896"/>
          </a:xfrm>
          <a:prstGeom prst="rect">
            <a:avLst/>
          </a:prstGeom>
          <a:noFill/>
        </p:spPr>
        <p:txBody>
          <a:bodyPr wrap="none" lIns="0" rIns="0" tIns="0" bIns="0">
            <a:spAutoFit/>
          </a:bodyPr>
          <a:lstStyle/>
          <a:p>
            <a:pPr algn="l">
              <a:lnSpc>
                <a:spcPts val="2576"/>
              </a:lnSpc>
              <a:spcBef>
                <a:spcPts val="0"/>
              </a:spcBef>
              <a:spcAft>
                <a:spcPts val="0"/>
              </a:spcAft>
              <a:defRPr sz="2300" b="0">
                <a:solidFill>
                  <a:srgbClr val="182B3A"/>
                </a:solidFill>
                <a:latin typeface="Arial"/>
              </a:defRPr>
            </a:pPr>
            <a:r>
              <a:t>6 + (−10)</a:t>
            </a:r>
          </a:p>
        </p:txBody>
      </p:sp>
      <p:sp>
        <p:nvSpPr>
          <p:cNvPr id="28" name="TextBox 27"/>
          <p:cNvSpPr txBox="1"/>
          <p:nvPr/>
        </p:nvSpPr>
        <p:spPr>
          <a:xfrm>
            <a:off x="5324856" y="2578608"/>
            <a:ext cx="4023360" cy="310896"/>
          </a:xfrm>
          <a:prstGeom prst="rect">
            <a:avLst/>
          </a:prstGeom>
          <a:noFill/>
        </p:spPr>
        <p:txBody>
          <a:bodyPr wrap="none" lIns="0" rIns="0" tIns="0" bIns="0">
            <a:spAutoFit/>
          </a:bodyPr>
          <a:lstStyle/>
          <a:p>
            <a:pPr algn="l">
              <a:lnSpc>
                <a:spcPts val="2576"/>
              </a:lnSpc>
              <a:spcBef>
                <a:spcPts val="0"/>
              </a:spcBef>
              <a:spcAft>
                <a:spcPts val="0"/>
              </a:spcAft>
              <a:defRPr sz="2300" b="0">
                <a:solidFill>
                  <a:srgbClr val="182B3A"/>
                </a:solidFill>
                <a:latin typeface="Arial"/>
              </a:defRPr>
            </a:pPr>
            <a:r>
              <a:t>= 6 + 10</a:t>
            </a:r>
          </a:p>
        </p:txBody>
      </p:sp>
      <p:sp>
        <p:nvSpPr>
          <p:cNvPr id="29" name="TextBox 28"/>
          <p:cNvSpPr txBox="1"/>
          <p:nvPr/>
        </p:nvSpPr>
        <p:spPr>
          <a:xfrm>
            <a:off x="5324856" y="2926080"/>
            <a:ext cx="4023360" cy="310896"/>
          </a:xfrm>
          <a:prstGeom prst="rect">
            <a:avLst/>
          </a:prstGeom>
          <a:noFill/>
        </p:spPr>
        <p:txBody>
          <a:bodyPr wrap="none" lIns="0" rIns="0" tIns="0" bIns="0">
            <a:spAutoFit/>
          </a:bodyPr>
          <a:lstStyle/>
          <a:p>
            <a:pPr algn="l">
              <a:lnSpc>
                <a:spcPts val="2576"/>
              </a:lnSpc>
              <a:spcBef>
                <a:spcPts val="0"/>
              </a:spcBef>
              <a:spcAft>
                <a:spcPts val="0"/>
              </a:spcAft>
              <a:defRPr sz="2300" b="0">
                <a:solidFill>
                  <a:srgbClr val="182B3A"/>
                </a:solidFill>
                <a:latin typeface="Arial"/>
              </a:defRPr>
            </a:pPr>
            <a:r>
              <a:t>= 16</a:t>
            </a:r>
          </a:p>
        </p:txBody>
      </p:sp>
      <p:sp>
        <p:nvSpPr>
          <p:cNvPr id="30" name="Rectangle 29"/>
          <p:cNvSpPr/>
          <p:nvPr/>
        </p:nvSpPr>
        <p:spPr>
          <a:xfrm>
            <a:off x="5004816" y="3721608"/>
            <a:ext cx="4588764" cy="1929384"/>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1" name="TextBox 30"/>
          <p:cNvSpPr txBox="1"/>
          <p:nvPr/>
        </p:nvSpPr>
        <p:spPr>
          <a:xfrm>
            <a:off x="5096256" y="3758184"/>
            <a:ext cx="4392168" cy="402336"/>
          </a:xfrm>
          <a:prstGeom prst="rect">
            <a:avLst/>
          </a:prstGeom>
          <a:noFill/>
        </p:spPr>
        <p:txBody>
          <a:bodyPr wrap="square" tIns="36576" bIns="36576" anchor="t">
            <a:spAutoFit/>
          </a:bodyPr>
          <a:lstStyle/>
          <a:p>
            <a:pPr>
              <a:lnSpc>
                <a:spcPts val="2268"/>
              </a:lnSpc>
              <a:spcBef>
                <a:spcPts val="0"/>
              </a:spcBef>
              <a:spcAft>
                <a:spcPts val="0"/>
              </a:spcAft>
              <a:defRPr sz="2100" b="1">
                <a:solidFill>
                  <a:srgbClr val="182B3A"/>
                </a:solidFill>
                <a:latin typeface="Arial"/>
              </a:defRPr>
            </a:pPr>
            <a:r>
              <a:t>2.  −6 − (−18)</a:t>
            </a:r>
          </a:p>
        </p:txBody>
      </p:sp>
      <p:sp>
        <p:nvSpPr>
          <p:cNvPr id="32" name="TextBox 31"/>
          <p:cNvSpPr txBox="1"/>
          <p:nvPr/>
        </p:nvSpPr>
        <p:spPr>
          <a:xfrm>
            <a:off x="5324856" y="4233672"/>
            <a:ext cx="4023360" cy="310896"/>
          </a:xfrm>
          <a:prstGeom prst="rect">
            <a:avLst/>
          </a:prstGeom>
          <a:noFill/>
        </p:spPr>
        <p:txBody>
          <a:bodyPr wrap="none" lIns="0" rIns="0" tIns="0" bIns="0">
            <a:spAutoFit/>
          </a:bodyPr>
          <a:lstStyle/>
          <a:p>
            <a:pPr algn="l">
              <a:lnSpc>
                <a:spcPts val="2576"/>
              </a:lnSpc>
              <a:spcBef>
                <a:spcPts val="0"/>
              </a:spcBef>
              <a:spcAft>
                <a:spcPts val="0"/>
              </a:spcAft>
              <a:defRPr sz="2300" b="0">
                <a:solidFill>
                  <a:srgbClr val="182B3A"/>
                </a:solidFill>
                <a:latin typeface="Arial"/>
              </a:defRPr>
            </a:pPr>
            <a:r>
              <a:t>−6 − (−18)</a:t>
            </a:r>
          </a:p>
        </p:txBody>
      </p:sp>
      <p:sp>
        <p:nvSpPr>
          <p:cNvPr id="33" name="TextBox 32"/>
          <p:cNvSpPr txBox="1"/>
          <p:nvPr/>
        </p:nvSpPr>
        <p:spPr>
          <a:xfrm>
            <a:off x="5324856" y="4581144"/>
            <a:ext cx="4023360" cy="310896"/>
          </a:xfrm>
          <a:prstGeom prst="rect">
            <a:avLst/>
          </a:prstGeom>
          <a:noFill/>
        </p:spPr>
        <p:txBody>
          <a:bodyPr wrap="none" lIns="0" rIns="0" tIns="0" bIns="0">
            <a:spAutoFit/>
          </a:bodyPr>
          <a:lstStyle/>
          <a:p>
            <a:pPr algn="l">
              <a:lnSpc>
                <a:spcPts val="2576"/>
              </a:lnSpc>
              <a:spcBef>
                <a:spcPts val="0"/>
              </a:spcBef>
              <a:spcAft>
                <a:spcPts val="0"/>
              </a:spcAft>
              <a:defRPr sz="2300" b="0">
                <a:solidFill>
                  <a:srgbClr val="182B3A"/>
                </a:solidFill>
                <a:latin typeface="Arial"/>
              </a:defRPr>
            </a:pPr>
            <a:r>
              <a:t>= −6 − 18</a:t>
            </a:r>
          </a:p>
        </p:txBody>
      </p:sp>
      <p:sp>
        <p:nvSpPr>
          <p:cNvPr id="34" name="TextBox 33"/>
          <p:cNvSpPr txBox="1"/>
          <p:nvPr/>
        </p:nvSpPr>
        <p:spPr>
          <a:xfrm>
            <a:off x="5324856" y="4928616"/>
            <a:ext cx="4023360" cy="310896"/>
          </a:xfrm>
          <a:prstGeom prst="rect">
            <a:avLst/>
          </a:prstGeom>
          <a:noFill/>
        </p:spPr>
        <p:txBody>
          <a:bodyPr wrap="none" lIns="0" rIns="0" tIns="0" bIns="0">
            <a:spAutoFit/>
          </a:bodyPr>
          <a:lstStyle/>
          <a:p>
            <a:pPr algn="l">
              <a:lnSpc>
                <a:spcPts val="2576"/>
              </a:lnSpc>
              <a:spcBef>
                <a:spcPts val="0"/>
              </a:spcBef>
              <a:spcAft>
                <a:spcPts val="0"/>
              </a:spcAft>
              <a:defRPr sz="2300" b="0">
                <a:solidFill>
                  <a:srgbClr val="182B3A"/>
                </a:solidFill>
                <a:latin typeface="Arial"/>
              </a:defRPr>
            </a:pPr>
            <a:r>
              <a:t>= −24</a:t>
            </a:r>
          </a:p>
        </p:txBody>
      </p:sp>
      <p:sp>
        <p:nvSpPr>
          <p:cNvPr id="35" name="Rectangle 34"/>
          <p:cNvSpPr/>
          <p:nvPr/>
        </p:nvSpPr>
        <p:spPr>
          <a:xfrm>
            <a:off x="5004816" y="5724144"/>
            <a:ext cx="4588764" cy="1929384"/>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6" name="TextBox 35"/>
          <p:cNvSpPr txBox="1"/>
          <p:nvPr/>
        </p:nvSpPr>
        <p:spPr>
          <a:xfrm>
            <a:off x="5096256" y="5760720"/>
            <a:ext cx="4392168" cy="402336"/>
          </a:xfrm>
          <a:prstGeom prst="rect">
            <a:avLst/>
          </a:prstGeom>
          <a:noFill/>
        </p:spPr>
        <p:txBody>
          <a:bodyPr wrap="square" tIns="36576" bIns="36576" anchor="t">
            <a:spAutoFit/>
          </a:bodyPr>
          <a:lstStyle/>
          <a:p>
            <a:pPr>
              <a:lnSpc>
                <a:spcPts val="2268"/>
              </a:lnSpc>
              <a:spcBef>
                <a:spcPts val="0"/>
              </a:spcBef>
              <a:spcAft>
                <a:spcPts val="0"/>
              </a:spcAft>
              <a:defRPr sz="2100" b="1">
                <a:solidFill>
                  <a:srgbClr val="182B3A"/>
                </a:solidFill>
                <a:latin typeface="Arial"/>
              </a:defRPr>
            </a:pPr>
            <a:r>
              <a:t>3.  −7 + (−4)</a:t>
            </a:r>
          </a:p>
        </p:txBody>
      </p:sp>
      <p:sp>
        <p:nvSpPr>
          <p:cNvPr id="37" name="TextBox 36"/>
          <p:cNvSpPr txBox="1"/>
          <p:nvPr/>
        </p:nvSpPr>
        <p:spPr>
          <a:xfrm>
            <a:off x="5324856" y="6236208"/>
            <a:ext cx="4023360" cy="310896"/>
          </a:xfrm>
          <a:prstGeom prst="rect">
            <a:avLst/>
          </a:prstGeom>
          <a:noFill/>
        </p:spPr>
        <p:txBody>
          <a:bodyPr wrap="none" lIns="0" rIns="0" tIns="0" bIns="0">
            <a:spAutoFit/>
          </a:bodyPr>
          <a:lstStyle/>
          <a:p>
            <a:pPr algn="l">
              <a:lnSpc>
                <a:spcPts val="2576"/>
              </a:lnSpc>
              <a:spcBef>
                <a:spcPts val="0"/>
              </a:spcBef>
              <a:spcAft>
                <a:spcPts val="0"/>
              </a:spcAft>
              <a:defRPr sz="2300" b="0">
                <a:solidFill>
                  <a:srgbClr val="182B3A"/>
                </a:solidFill>
                <a:latin typeface="Arial"/>
              </a:defRPr>
            </a:pPr>
            <a:r>
              <a:t>−7 + (−4)</a:t>
            </a:r>
          </a:p>
        </p:txBody>
      </p:sp>
      <p:sp>
        <p:nvSpPr>
          <p:cNvPr id="38" name="TextBox 37"/>
          <p:cNvSpPr txBox="1"/>
          <p:nvPr/>
        </p:nvSpPr>
        <p:spPr>
          <a:xfrm>
            <a:off x="5324856" y="6583680"/>
            <a:ext cx="4023360" cy="310896"/>
          </a:xfrm>
          <a:prstGeom prst="rect">
            <a:avLst/>
          </a:prstGeom>
          <a:noFill/>
        </p:spPr>
        <p:txBody>
          <a:bodyPr wrap="none" lIns="0" rIns="0" tIns="0" bIns="0">
            <a:spAutoFit/>
          </a:bodyPr>
          <a:lstStyle/>
          <a:p>
            <a:pPr algn="l">
              <a:lnSpc>
                <a:spcPts val="2576"/>
              </a:lnSpc>
              <a:spcBef>
                <a:spcPts val="0"/>
              </a:spcBef>
              <a:spcAft>
                <a:spcPts val="0"/>
              </a:spcAft>
              <a:defRPr sz="2300" b="0">
                <a:solidFill>
                  <a:srgbClr val="182B3A"/>
                </a:solidFill>
                <a:latin typeface="Arial"/>
              </a:defRPr>
            </a:pPr>
            <a:r>
              <a:t>= 7 + 4</a:t>
            </a:r>
          </a:p>
        </p:txBody>
      </p:sp>
      <p:sp>
        <p:nvSpPr>
          <p:cNvPr id="39" name="TextBox 38"/>
          <p:cNvSpPr txBox="1"/>
          <p:nvPr/>
        </p:nvSpPr>
        <p:spPr>
          <a:xfrm>
            <a:off x="5324856" y="6931152"/>
            <a:ext cx="4023360" cy="310896"/>
          </a:xfrm>
          <a:prstGeom prst="rect">
            <a:avLst/>
          </a:prstGeom>
          <a:noFill/>
        </p:spPr>
        <p:txBody>
          <a:bodyPr wrap="none" lIns="0" rIns="0" tIns="0" bIns="0">
            <a:spAutoFit/>
          </a:bodyPr>
          <a:lstStyle/>
          <a:p>
            <a:pPr algn="l">
              <a:lnSpc>
                <a:spcPts val="2576"/>
              </a:lnSpc>
              <a:spcBef>
                <a:spcPts val="0"/>
              </a:spcBef>
              <a:spcAft>
                <a:spcPts val="0"/>
              </a:spcAft>
              <a:defRPr sz="2300" b="0">
                <a:solidFill>
                  <a:srgbClr val="182B3A"/>
                </a:solidFill>
                <a:latin typeface="Arial"/>
              </a:defRPr>
            </a:pPr>
            <a:r>
              <a:t>= 11</a:t>
            </a:r>
          </a:p>
        </p:txBody>
      </p:sp>
      <p:sp>
        <p:nvSpPr>
          <p:cNvPr id="40" name="Rectangle 39"/>
          <p:cNvSpPr/>
          <p:nvPr/>
        </p:nvSpPr>
        <p:spPr>
          <a:xfrm>
            <a:off x="9625584" y="1234440"/>
            <a:ext cx="4588764" cy="420624"/>
          </a:xfrm>
          <a:prstGeom prst="rect">
            <a:avLst/>
          </a:prstGeom>
          <a:solidFill>
            <a:srgbClr val="754B87"/>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1" name="TextBox 40"/>
          <p:cNvSpPr txBox="1"/>
          <p:nvPr/>
        </p:nvSpPr>
        <p:spPr>
          <a:xfrm>
            <a:off x="9689592" y="1261872"/>
            <a:ext cx="4474464" cy="347472"/>
          </a:xfrm>
          <a:prstGeom prst="rect">
            <a:avLst/>
          </a:prstGeom>
          <a:noFill/>
        </p:spPr>
        <p:txBody>
          <a:bodyPr wrap="square" tIns="36576" bIns="36576" anchor="t">
            <a:spAutoFit/>
          </a:bodyPr>
          <a:lstStyle/>
          <a:p>
            <a:pPr>
              <a:lnSpc>
                <a:spcPts val="2160"/>
              </a:lnSpc>
              <a:spcBef>
                <a:spcPts val="0"/>
              </a:spcBef>
              <a:spcAft>
                <a:spcPts val="0"/>
              </a:spcAft>
              <a:defRPr sz="2000" b="1">
                <a:solidFill>
                  <a:srgbClr val="FFFFFF"/>
                </a:solidFill>
                <a:latin typeface="Arial"/>
              </a:defRPr>
            </a:pPr>
            <a:r>
              <a:t>Confidence</a:t>
            </a:r>
          </a:p>
        </p:txBody>
      </p:sp>
      <p:sp>
        <p:nvSpPr>
          <p:cNvPr id="42" name="Rectangle 41"/>
          <p:cNvSpPr/>
          <p:nvPr/>
        </p:nvSpPr>
        <p:spPr>
          <a:xfrm>
            <a:off x="9625584" y="1719072"/>
            <a:ext cx="4588764" cy="1929384"/>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3" name="TextBox 42"/>
          <p:cNvSpPr txBox="1"/>
          <p:nvPr/>
        </p:nvSpPr>
        <p:spPr>
          <a:xfrm>
            <a:off x="9717024" y="1755648"/>
            <a:ext cx="4392168" cy="402336"/>
          </a:xfrm>
          <a:prstGeom prst="rect">
            <a:avLst/>
          </a:prstGeom>
          <a:noFill/>
        </p:spPr>
        <p:txBody>
          <a:bodyPr wrap="square" tIns="36576" bIns="36576" anchor="t">
            <a:spAutoFit/>
          </a:bodyPr>
          <a:lstStyle/>
          <a:p>
            <a:pPr>
              <a:lnSpc>
                <a:spcPts val="2268"/>
              </a:lnSpc>
              <a:spcBef>
                <a:spcPts val="0"/>
              </a:spcBef>
              <a:spcAft>
                <a:spcPts val="0"/>
              </a:spcAft>
              <a:defRPr sz="2100" b="1">
                <a:solidFill>
                  <a:srgbClr val="182B3A"/>
                </a:solidFill>
                <a:latin typeface="Arial"/>
              </a:defRPr>
            </a:pPr>
            <a:r>
              <a:t>1.  −4 − (−7) + (−6)</a:t>
            </a:r>
          </a:p>
        </p:txBody>
      </p:sp>
      <p:sp>
        <p:nvSpPr>
          <p:cNvPr id="44" name="TextBox 43"/>
          <p:cNvSpPr txBox="1"/>
          <p:nvPr/>
        </p:nvSpPr>
        <p:spPr>
          <a:xfrm>
            <a:off x="9945624" y="2231136"/>
            <a:ext cx="4023360" cy="310896"/>
          </a:xfrm>
          <a:prstGeom prst="rect">
            <a:avLst/>
          </a:prstGeom>
          <a:noFill/>
        </p:spPr>
        <p:txBody>
          <a:bodyPr wrap="none" lIns="0" rIns="0" tIns="0" bIns="0">
            <a:spAutoFit/>
          </a:bodyPr>
          <a:lstStyle/>
          <a:p>
            <a:pPr algn="l">
              <a:lnSpc>
                <a:spcPts val="2576"/>
              </a:lnSpc>
              <a:spcBef>
                <a:spcPts val="0"/>
              </a:spcBef>
              <a:spcAft>
                <a:spcPts val="0"/>
              </a:spcAft>
              <a:defRPr sz="2300" b="0">
                <a:solidFill>
                  <a:srgbClr val="182B3A"/>
                </a:solidFill>
                <a:latin typeface="Arial"/>
              </a:defRPr>
            </a:pPr>
            <a:r>
              <a:t>−4 − (−7) + (−6)</a:t>
            </a:r>
          </a:p>
        </p:txBody>
      </p:sp>
      <p:sp>
        <p:nvSpPr>
          <p:cNvPr id="45" name="TextBox 44"/>
          <p:cNvSpPr txBox="1"/>
          <p:nvPr/>
        </p:nvSpPr>
        <p:spPr>
          <a:xfrm>
            <a:off x="9945624" y="2578608"/>
            <a:ext cx="4023360" cy="310896"/>
          </a:xfrm>
          <a:prstGeom prst="rect">
            <a:avLst/>
          </a:prstGeom>
          <a:noFill/>
        </p:spPr>
        <p:txBody>
          <a:bodyPr wrap="none" lIns="0" rIns="0" tIns="0" bIns="0">
            <a:spAutoFit/>
          </a:bodyPr>
          <a:lstStyle/>
          <a:p>
            <a:pPr algn="l">
              <a:lnSpc>
                <a:spcPts val="2576"/>
              </a:lnSpc>
              <a:spcBef>
                <a:spcPts val="0"/>
              </a:spcBef>
              <a:spcAft>
                <a:spcPts val="0"/>
              </a:spcAft>
              <a:defRPr sz="2300" b="0">
                <a:solidFill>
                  <a:srgbClr val="182B3A"/>
                </a:solidFill>
                <a:latin typeface="Arial"/>
              </a:defRPr>
            </a:pPr>
            <a:r>
              <a:t>= −4 + 7 + 6</a:t>
            </a:r>
          </a:p>
        </p:txBody>
      </p:sp>
      <p:sp>
        <p:nvSpPr>
          <p:cNvPr id="46" name="TextBox 45"/>
          <p:cNvSpPr txBox="1"/>
          <p:nvPr/>
        </p:nvSpPr>
        <p:spPr>
          <a:xfrm>
            <a:off x="9945624" y="2926080"/>
            <a:ext cx="4023360" cy="310896"/>
          </a:xfrm>
          <a:prstGeom prst="rect">
            <a:avLst/>
          </a:prstGeom>
          <a:noFill/>
        </p:spPr>
        <p:txBody>
          <a:bodyPr wrap="none" lIns="0" rIns="0" tIns="0" bIns="0">
            <a:spAutoFit/>
          </a:bodyPr>
          <a:lstStyle/>
          <a:p>
            <a:pPr algn="l">
              <a:lnSpc>
                <a:spcPts val="2576"/>
              </a:lnSpc>
              <a:spcBef>
                <a:spcPts val="0"/>
              </a:spcBef>
              <a:spcAft>
                <a:spcPts val="0"/>
              </a:spcAft>
              <a:defRPr sz="2300" b="0">
                <a:solidFill>
                  <a:srgbClr val="182B3A"/>
                </a:solidFill>
                <a:latin typeface="Arial"/>
              </a:defRPr>
            </a:pPr>
            <a:r>
              <a:t>= 3 + 6</a:t>
            </a:r>
          </a:p>
        </p:txBody>
      </p:sp>
      <p:sp>
        <p:nvSpPr>
          <p:cNvPr id="47" name="TextBox 46"/>
          <p:cNvSpPr txBox="1"/>
          <p:nvPr/>
        </p:nvSpPr>
        <p:spPr>
          <a:xfrm>
            <a:off x="9945624" y="3273552"/>
            <a:ext cx="4023360" cy="310896"/>
          </a:xfrm>
          <a:prstGeom prst="rect">
            <a:avLst/>
          </a:prstGeom>
          <a:noFill/>
        </p:spPr>
        <p:txBody>
          <a:bodyPr wrap="none" lIns="0" rIns="0" tIns="0" bIns="0">
            <a:spAutoFit/>
          </a:bodyPr>
          <a:lstStyle/>
          <a:p>
            <a:pPr algn="l">
              <a:lnSpc>
                <a:spcPts val="2576"/>
              </a:lnSpc>
              <a:spcBef>
                <a:spcPts val="0"/>
              </a:spcBef>
              <a:spcAft>
                <a:spcPts val="0"/>
              </a:spcAft>
              <a:defRPr sz="2300" b="0">
                <a:solidFill>
                  <a:srgbClr val="182B3A"/>
                </a:solidFill>
                <a:latin typeface="Arial"/>
              </a:defRPr>
            </a:pPr>
            <a:r>
              <a:t>= 9</a:t>
            </a:r>
          </a:p>
        </p:txBody>
      </p:sp>
      <p:sp>
        <p:nvSpPr>
          <p:cNvPr id="48" name="Rectangle 47"/>
          <p:cNvSpPr/>
          <p:nvPr/>
        </p:nvSpPr>
        <p:spPr>
          <a:xfrm>
            <a:off x="9625584" y="3721608"/>
            <a:ext cx="4588764" cy="1929384"/>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9" name="TextBox 48"/>
          <p:cNvSpPr txBox="1"/>
          <p:nvPr/>
        </p:nvSpPr>
        <p:spPr>
          <a:xfrm>
            <a:off x="9717024" y="3758184"/>
            <a:ext cx="4392168" cy="402336"/>
          </a:xfrm>
          <a:prstGeom prst="rect">
            <a:avLst/>
          </a:prstGeom>
          <a:noFill/>
        </p:spPr>
        <p:txBody>
          <a:bodyPr wrap="square" tIns="36576" bIns="36576" anchor="t">
            <a:spAutoFit/>
          </a:bodyPr>
          <a:lstStyle/>
          <a:p>
            <a:pPr>
              <a:lnSpc>
                <a:spcPts val="2268"/>
              </a:lnSpc>
              <a:spcBef>
                <a:spcPts val="0"/>
              </a:spcBef>
              <a:spcAft>
                <a:spcPts val="0"/>
              </a:spcAft>
              <a:defRPr sz="2100" b="1">
                <a:solidFill>
                  <a:srgbClr val="182B3A"/>
                </a:solidFill>
                <a:latin typeface="Arial"/>
              </a:defRPr>
            </a:pPr>
            <a:r>
              <a:t>2.  8 + (−12) − (−5)</a:t>
            </a:r>
          </a:p>
        </p:txBody>
      </p:sp>
      <p:sp>
        <p:nvSpPr>
          <p:cNvPr id="50" name="TextBox 49"/>
          <p:cNvSpPr txBox="1"/>
          <p:nvPr/>
        </p:nvSpPr>
        <p:spPr>
          <a:xfrm>
            <a:off x="9945624" y="4233672"/>
            <a:ext cx="4023360" cy="310896"/>
          </a:xfrm>
          <a:prstGeom prst="rect">
            <a:avLst/>
          </a:prstGeom>
          <a:noFill/>
        </p:spPr>
        <p:txBody>
          <a:bodyPr wrap="none" lIns="0" rIns="0" tIns="0" bIns="0">
            <a:spAutoFit/>
          </a:bodyPr>
          <a:lstStyle/>
          <a:p>
            <a:pPr algn="l">
              <a:lnSpc>
                <a:spcPts val="2576"/>
              </a:lnSpc>
              <a:spcBef>
                <a:spcPts val="0"/>
              </a:spcBef>
              <a:spcAft>
                <a:spcPts val="0"/>
              </a:spcAft>
              <a:defRPr sz="2300" b="0">
                <a:solidFill>
                  <a:srgbClr val="182B3A"/>
                </a:solidFill>
                <a:latin typeface="Arial"/>
              </a:defRPr>
            </a:pPr>
            <a:r>
              <a:t>8 + (−12) − (−5)</a:t>
            </a:r>
          </a:p>
        </p:txBody>
      </p:sp>
      <p:sp>
        <p:nvSpPr>
          <p:cNvPr id="51" name="TextBox 50"/>
          <p:cNvSpPr txBox="1"/>
          <p:nvPr/>
        </p:nvSpPr>
        <p:spPr>
          <a:xfrm>
            <a:off x="9945624" y="4581144"/>
            <a:ext cx="4023360" cy="310896"/>
          </a:xfrm>
          <a:prstGeom prst="rect">
            <a:avLst/>
          </a:prstGeom>
          <a:noFill/>
        </p:spPr>
        <p:txBody>
          <a:bodyPr wrap="none" lIns="0" rIns="0" tIns="0" bIns="0">
            <a:spAutoFit/>
          </a:bodyPr>
          <a:lstStyle/>
          <a:p>
            <a:pPr algn="l">
              <a:lnSpc>
                <a:spcPts val="2576"/>
              </a:lnSpc>
              <a:spcBef>
                <a:spcPts val="0"/>
              </a:spcBef>
              <a:spcAft>
                <a:spcPts val="0"/>
              </a:spcAft>
              <a:defRPr sz="2300" b="0">
                <a:solidFill>
                  <a:srgbClr val="182B3A"/>
                </a:solidFill>
                <a:latin typeface="Arial"/>
              </a:defRPr>
            </a:pPr>
            <a:r>
              <a:t>= 8 − 12 − 5</a:t>
            </a:r>
          </a:p>
        </p:txBody>
      </p:sp>
      <p:sp>
        <p:nvSpPr>
          <p:cNvPr id="52" name="TextBox 51"/>
          <p:cNvSpPr txBox="1"/>
          <p:nvPr/>
        </p:nvSpPr>
        <p:spPr>
          <a:xfrm>
            <a:off x="9945624" y="4928616"/>
            <a:ext cx="4023360" cy="310896"/>
          </a:xfrm>
          <a:prstGeom prst="rect">
            <a:avLst/>
          </a:prstGeom>
          <a:noFill/>
        </p:spPr>
        <p:txBody>
          <a:bodyPr wrap="none" lIns="0" rIns="0" tIns="0" bIns="0">
            <a:spAutoFit/>
          </a:bodyPr>
          <a:lstStyle/>
          <a:p>
            <a:pPr algn="l">
              <a:lnSpc>
                <a:spcPts val="2576"/>
              </a:lnSpc>
              <a:spcBef>
                <a:spcPts val="0"/>
              </a:spcBef>
              <a:spcAft>
                <a:spcPts val="0"/>
              </a:spcAft>
              <a:defRPr sz="2300" b="0">
                <a:solidFill>
                  <a:srgbClr val="182B3A"/>
                </a:solidFill>
                <a:latin typeface="Arial"/>
              </a:defRPr>
            </a:pPr>
            <a:r>
              <a:t>= −4 − 5</a:t>
            </a:r>
          </a:p>
        </p:txBody>
      </p:sp>
      <p:sp>
        <p:nvSpPr>
          <p:cNvPr id="53" name="TextBox 52"/>
          <p:cNvSpPr txBox="1"/>
          <p:nvPr/>
        </p:nvSpPr>
        <p:spPr>
          <a:xfrm>
            <a:off x="9945624" y="5276088"/>
            <a:ext cx="4023360" cy="310896"/>
          </a:xfrm>
          <a:prstGeom prst="rect">
            <a:avLst/>
          </a:prstGeom>
          <a:noFill/>
        </p:spPr>
        <p:txBody>
          <a:bodyPr wrap="none" lIns="0" rIns="0" tIns="0" bIns="0">
            <a:spAutoFit/>
          </a:bodyPr>
          <a:lstStyle/>
          <a:p>
            <a:pPr algn="l">
              <a:lnSpc>
                <a:spcPts val="2576"/>
              </a:lnSpc>
              <a:spcBef>
                <a:spcPts val="0"/>
              </a:spcBef>
              <a:spcAft>
                <a:spcPts val="0"/>
              </a:spcAft>
              <a:defRPr sz="2300" b="0">
                <a:solidFill>
                  <a:srgbClr val="182B3A"/>
                </a:solidFill>
                <a:latin typeface="Arial"/>
              </a:defRPr>
            </a:pPr>
            <a:r>
              <a:t>= −9</a:t>
            </a:r>
          </a:p>
        </p:txBody>
      </p:sp>
      <p:sp>
        <p:nvSpPr>
          <p:cNvPr id="54" name="Rectangle 53"/>
          <p:cNvSpPr/>
          <p:nvPr/>
        </p:nvSpPr>
        <p:spPr>
          <a:xfrm>
            <a:off x="9625584" y="5724144"/>
            <a:ext cx="4588764" cy="1929384"/>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5" name="TextBox 54"/>
          <p:cNvSpPr txBox="1"/>
          <p:nvPr/>
        </p:nvSpPr>
        <p:spPr>
          <a:xfrm>
            <a:off x="9717024" y="5760720"/>
            <a:ext cx="4392168" cy="402336"/>
          </a:xfrm>
          <a:prstGeom prst="rect">
            <a:avLst/>
          </a:prstGeom>
          <a:noFill/>
        </p:spPr>
        <p:txBody>
          <a:bodyPr wrap="square" tIns="36576" bIns="36576" anchor="t">
            <a:spAutoFit/>
          </a:bodyPr>
          <a:lstStyle/>
          <a:p>
            <a:pPr>
              <a:lnSpc>
                <a:spcPts val="2268"/>
              </a:lnSpc>
              <a:spcBef>
                <a:spcPts val="0"/>
              </a:spcBef>
              <a:spcAft>
                <a:spcPts val="0"/>
              </a:spcAft>
              <a:defRPr sz="2100" b="1">
                <a:solidFill>
                  <a:srgbClr val="182B3A"/>
                </a:solidFill>
                <a:latin typeface="Arial"/>
              </a:defRPr>
            </a:pPr>
            <a:r>
              <a:t>3.  −9 − 6 + 18</a:t>
            </a:r>
          </a:p>
        </p:txBody>
      </p:sp>
      <p:sp>
        <p:nvSpPr>
          <p:cNvPr id="56" name="TextBox 55"/>
          <p:cNvSpPr txBox="1"/>
          <p:nvPr/>
        </p:nvSpPr>
        <p:spPr>
          <a:xfrm>
            <a:off x="9945624" y="6236208"/>
            <a:ext cx="4023360" cy="310896"/>
          </a:xfrm>
          <a:prstGeom prst="rect">
            <a:avLst/>
          </a:prstGeom>
          <a:noFill/>
        </p:spPr>
        <p:txBody>
          <a:bodyPr wrap="none" lIns="0" rIns="0" tIns="0" bIns="0">
            <a:spAutoFit/>
          </a:bodyPr>
          <a:lstStyle/>
          <a:p>
            <a:pPr algn="l">
              <a:lnSpc>
                <a:spcPts val="2576"/>
              </a:lnSpc>
              <a:spcBef>
                <a:spcPts val="0"/>
              </a:spcBef>
              <a:spcAft>
                <a:spcPts val="0"/>
              </a:spcAft>
              <a:defRPr sz="2300" b="0">
                <a:solidFill>
                  <a:srgbClr val="182B3A"/>
                </a:solidFill>
                <a:latin typeface="Arial"/>
              </a:defRPr>
            </a:pPr>
            <a:r>
              <a:t>−9 − 6 + 18</a:t>
            </a:r>
          </a:p>
        </p:txBody>
      </p:sp>
      <p:sp>
        <p:nvSpPr>
          <p:cNvPr id="57" name="TextBox 56"/>
          <p:cNvSpPr txBox="1"/>
          <p:nvPr/>
        </p:nvSpPr>
        <p:spPr>
          <a:xfrm>
            <a:off x="9945624" y="6583680"/>
            <a:ext cx="4023360" cy="310896"/>
          </a:xfrm>
          <a:prstGeom prst="rect">
            <a:avLst/>
          </a:prstGeom>
          <a:noFill/>
        </p:spPr>
        <p:txBody>
          <a:bodyPr wrap="none" lIns="0" rIns="0" tIns="0" bIns="0">
            <a:spAutoFit/>
          </a:bodyPr>
          <a:lstStyle/>
          <a:p>
            <a:pPr algn="l">
              <a:lnSpc>
                <a:spcPts val="2576"/>
              </a:lnSpc>
              <a:spcBef>
                <a:spcPts val="0"/>
              </a:spcBef>
              <a:spcAft>
                <a:spcPts val="0"/>
              </a:spcAft>
              <a:defRPr sz="2300" b="0">
                <a:solidFill>
                  <a:srgbClr val="182B3A"/>
                </a:solidFill>
                <a:latin typeface="Arial"/>
              </a:defRPr>
            </a:pPr>
            <a:r>
              <a:t>= −3 + 18</a:t>
            </a:r>
          </a:p>
        </p:txBody>
      </p:sp>
      <p:sp>
        <p:nvSpPr>
          <p:cNvPr id="58" name="TextBox 57"/>
          <p:cNvSpPr txBox="1"/>
          <p:nvPr/>
        </p:nvSpPr>
        <p:spPr>
          <a:xfrm>
            <a:off x="9945624" y="6931152"/>
            <a:ext cx="4023360" cy="310896"/>
          </a:xfrm>
          <a:prstGeom prst="rect">
            <a:avLst/>
          </a:prstGeom>
          <a:noFill/>
        </p:spPr>
        <p:txBody>
          <a:bodyPr wrap="none" lIns="0" rIns="0" tIns="0" bIns="0">
            <a:spAutoFit/>
          </a:bodyPr>
          <a:lstStyle/>
          <a:p>
            <a:pPr algn="l">
              <a:lnSpc>
                <a:spcPts val="2576"/>
              </a:lnSpc>
              <a:spcBef>
                <a:spcPts val="0"/>
              </a:spcBef>
              <a:spcAft>
                <a:spcPts val="0"/>
              </a:spcAft>
              <a:defRPr sz="2300" b="0">
                <a:solidFill>
                  <a:srgbClr val="182B3A"/>
                </a:solidFill>
                <a:latin typeface="Arial"/>
              </a:defRPr>
            </a:pPr>
            <a:r>
              <a:t>= 15</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bg>
      <p:bgPr>
        <a:solidFill>
          <a:srgbClr val="F7F8FA"/>
        </a:solidFill>
        <a:effectLst/>
      </p:bgPr>
    </p:bg>
    <p:spTree>
      <p:nvGrpSpPr>
        <p:cNvPr id="1" name=""/>
        <p:cNvGrpSpPr/>
        <p:nvPr/>
      </p:nvGrpSpPr>
      <p:grpSpPr/>
      <p:sp>
        <p:nvSpPr>
          <p:cNvPr id="2" name="Rectangle 1"/>
          <p:cNvSpPr/>
          <p:nvPr/>
        </p:nvSpPr>
        <p:spPr>
          <a:xfrm>
            <a:off x="0" y="0"/>
            <a:ext cx="14630400" cy="73152"/>
          </a:xfrm>
          <a:prstGeom prst="rect">
            <a:avLst/>
          </a:prstGeom>
          <a:solidFill>
            <a:srgbClr val="176B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20040" y="164592"/>
            <a:ext cx="13990320" cy="457200"/>
          </a:xfrm>
          <a:prstGeom prst="rect">
            <a:avLst/>
          </a:prstGeom>
          <a:noFill/>
        </p:spPr>
        <p:txBody>
          <a:bodyPr wrap="square" lIns="54864" rIns="54864" tIns="22860" bIns="22860">
            <a:spAutoFit/>
          </a:bodyPr>
          <a:lstStyle/>
          <a:p>
            <a:pPr>
              <a:lnSpc>
                <a:spcPts val="2940"/>
              </a:lnSpc>
              <a:spcBef>
                <a:spcPts val="0"/>
              </a:spcBef>
              <a:spcAft>
                <a:spcPts val="0"/>
              </a:spcAft>
              <a:defRPr sz="2800" b="1">
                <a:solidFill>
                  <a:srgbClr val="182B3A"/>
                </a:solidFill>
                <a:latin typeface="Arial"/>
              </a:defRPr>
            </a:pPr>
            <a:r>
              <a:t>Signed numbers: addition and subtraction</a:t>
            </a:r>
          </a:p>
        </p:txBody>
      </p:sp>
      <p:sp>
        <p:nvSpPr>
          <p:cNvPr id="4" name="TextBox 3"/>
          <p:cNvSpPr txBox="1"/>
          <p:nvPr/>
        </p:nvSpPr>
        <p:spPr>
          <a:xfrm>
            <a:off x="320040" y="704088"/>
            <a:ext cx="13990320" cy="347472"/>
          </a:xfrm>
          <a:prstGeom prst="rect">
            <a:avLst/>
          </a:prstGeom>
          <a:noFill/>
        </p:spPr>
        <p:txBody>
          <a:bodyPr wrap="square" lIns="54864" rIns="54864" tIns="22860" bIns="22860">
            <a:spAutoFit/>
          </a:bodyPr>
          <a:lstStyle/>
          <a:p>
            <a:pPr>
              <a:lnSpc>
                <a:spcPts val="1575"/>
              </a:lnSpc>
              <a:spcBef>
                <a:spcPts val="0"/>
              </a:spcBef>
              <a:spcAft>
                <a:spcPts val="0"/>
              </a:spcAft>
              <a:defRPr sz="1500" b="0">
                <a:solidFill>
                  <a:srgbClr val="526472"/>
                </a:solidFill>
                <a:latin typeface="Arial"/>
              </a:defRPr>
            </a:pPr>
            <a:r>
              <a:t>Independent practice 1 • Choose a column. Show your working and check your answers.</a:t>
            </a:r>
          </a:p>
        </p:txBody>
      </p:sp>
      <p:sp>
        <p:nvSpPr>
          <p:cNvPr id="5" name="TextBox 4"/>
          <p:cNvSpPr txBox="1"/>
          <p:nvPr/>
        </p:nvSpPr>
        <p:spPr>
          <a:xfrm>
            <a:off x="320040" y="7973568"/>
            <a:ext cx="10789920" cy="210312"/>
          </a:xfrm>
          <a:prstGeom prst="rect">
            <a:avLst/>
          </a:prstGeom>
          <a:noFill/>
        </p:spPr>
        <p:txBody>
          <a:bodyPr wrap="square" lIns="54864" rIns="54864" tIns="22860" bIns="22860">
            <a:spAutoFit/>
          </a:bodyPr>
          <a:lstStyle/>
          <a:p>
            <a:pPr>
              <a:lnSpc>
                <a:spcPts val="1155"/>
              </a:lnSpc>
              <a:spcBef>
                <a:spcPts val="0"/>
              </a:spcBef>
              <a:spcAft>
                <a:spcPts val="0"/>
              </a:spcAft>
              <a:defRPr sz="1100" b="0">
                <a:solidFill>
                  <a:srgbClr val="526472"/>
                </a:solidFill>
                <a:latin typeface="Arial"/>
              </a:defRPr>
            </a:pPr>
            <a:r>
              <a:t>GCSE Maths revision • No calculator • Show your working.</a:t>
            </a:r>
          </a:p>
        </p:txBody>
      </p:sp>
      <p:sp>
        <p:nvSpPr>
          <p:cNvPr id="6" name="TextBox 5"/>
          <p:cNvSpPr txBox="1"/>
          <p:nvPr/>
        </p:nvSpPr>
        <p:spPr>
          <a:xfrm>
            <a:off x="11155680" y="7973568"/>
            <a:ext cx="3108960" cy="210312"/>
          </a:xfrm>
          <a:prstGeom prst="rect">
            <a:avLst/>
          </a:prstGeom>
          <a:noFill/>
        </p:spPr>
        <p:txBody>
          <a:bodyPr wrap="square" lIns="54864" rIns="54864" tIns="22860" bIns="22860">
            <a:spAutoFit/>
          </a:bodyPr>
          <a:lstStyle/>
          <a:p>
            <a:pPr>
              <a:lnSpc>
                <a:spcPts val="1155"/>
              </a:lnSpc>
              <a:spcBef>
                <a:spcPts val="0"/>
              </a:spcBef>
              <a:spcAft>
                <a:spcPts val="0"/>
              </a:spcAft>
              <a:defRPr sz="1100" b="0">
                <a:solidFill>
                  <a:srgbClr val="526472"/>
                </a:solidFill>
                <a:latin typeface="Arial"/>
              </a:defRPr>
            </a:pPr>
            <a:r>
              <a:t>M13-S04</a:t>
            </a:r>
          </a:p>
        </p:txBody>
      </p:sp>
      <p:sp>
        <p:nvSpPr>
          <p:cNvPr id="7" name="Rectangle 6"/>
          <p:cNvSpPr/>
          <p:nvPr/>
        </p:nvSpPr>
        <p:spPr>
          <a:xfrm>
            <a:off x="320040" y="1115568"/>
            <a:ext cx="4640580" cy="420624"/>
          </a:xfrm>
          <a:prstGeom prst="rect">
            <a:avLst/>
          </a:prstGeom>
          <a:solidFill>
            <a:srgbClr val="176B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347472" y="1147572"/>
            <a:ext cx="4581144" cy="329184"/>
          </a:xfrm>
          <a:prstGeom prst="rect">
            <a:avLst/>
          </a:prstGeom>
          <a:noFill/>
        </p:spPr>
        <p:txBody>
          <a:bodyPr wrap="square" lIns="54864" rIns="54864" tIns="22860" bIns="22860">
            <a:spAutoFit/>
          </a:bodyPr>
          <a:lstStyle/>
          <a:p>
            <a:pPr>
              <a:lnSpc>
                <a:spcPts val="1995"/>
              </a:lnSpc>
              <a:spcBef>
                <a:spcPts val="0"/>
              </a:spcBef>
              <a:spcAft>
                <a:spcPts val="0"/>
              </a:spcAft>
              <a:defRPr sz="1900" b="1">
                <a:solidFill>
                  <a:srgbClr val="FFFFFF"/>
                </a:solidFill>
                <a:latin typeface="Arial"/>
              </a:defRPr>
            </a:pPr>
            <a:r>
              <a:t>Start</a:t>
            </a:r>
          </a:p>
        </p:txBody>
      </p:sp>
      <p:sp>
        <p:nvSpPr>
          <p:cNvPr id="9" name="Rectangle 8"/>
          <p:cNvSpPr/>
          <p:nvPr/>
        </p:nvSpPr>
        <p:spPr>
          <a:xfrm>
            <a:off x="4983480" y="1115568"/>
            <a:ext cx="4640580" cy="420624"/>
          </a:xfrm>
          <a:prstGeom prst="rect">
            <a:avLst/>
          </a:prstGeom>
          <a:solidFill>
            <a:srgbClr val="3559A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010912" y="1147572"/>
            <a:ext cx="4581144" cy="329184"/>
          </a:xfrm>
          <a:prstGeom prst="rect">
            <a:avLst/>
          </a:prstGeom>
          <a:noFill/>
        </p:spPr>
        <p:txBody>
          <a:bodyPr wrap="square" lIns="54864" rIns="54864" tIns="22860" bIns="22860">
            <a:spAutoFit/>
          </a:bodyPr>
          <a:lstStyle/>
          <a:p>
            <a:pPr>
              <a:lnSpc>
                <a:spcPts val="1995"/>
              </a:lnSpc>
              <a:spcBef>
                <a:spcPts val="0"/>
              </a:spcBef>
              <a:spcAft>
                <a:spcPts val="0"/>
              </a:spcAft>
              <a:defRPr sz="1900" b="1">
                <a:solidFill>
                  <a:srgbClr val="FFFFFF"/>
                </a:solidFill>
                <a:latin typeface="Arial"/>
              </a:defRPr>
            </a:pPr>
            <a:r>
              <a:t>Build</a:t>
            </a:r>
          </a:p>
        </p:txBody>
      </p:sp>
      <p:sp>
        <p:nvSpPr>
          <p:cNvPr id="11" name="Rectangle 10"/>
          <p:cNvSpPr/>
          <p:nvPr/>
        </p:nvSpPr>
        <p:spPr>
          <a:xfrm>
            <a:off x="9646920" y="1115568"/>
            <a:ext cx="4640580" cy="420624"/>
          </a:xfrm>
          <a:prstGeom prst="rect">
            <a:avLst/>
          </a:prstGeom>
          <a:solidFill>
            <a:srgbClr val="754B8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9674352" y="1147572"/>
            <a:ext cx="4581144" cy="329184"/>
          </a:xfrm>
          <a:prstGeom prst="rect">
            <a:avLst/>
          </a:prstGeom>
          <a:noFill/>
        </p:spPr>
        <p:txBody>
          <a:bodyPr wrap="square" lIns="54864" rIns="54864" tIns="22860" bIns="22860">
            <a:spAutoFit/>
          </a:bodyPr>
          <a:lstStyle/>
          <a:p>
            <a:pPr>
              <a:lnSpc>
                <a:spcPts val="1995"/>
              </a:lnSpc>
              <a:spcBef>
                <a:spcPts val="0"/>
              </a:spcBef>
              <a:spcAft>
                <a:spcPts val="0"/>
              </a:spcAft>
              <a:defRPr sz="1900" b="1">
                <a:solidFill>
                  <a:srgbClr val="FFFFFF"/>
                </a:solidFill>
                <a:latin typeface="Arial"/>
              </a:defRPr>
            </a:pPr>
            <a:r>
              <a:t>Confidence</a:t>
            </a:r>
          </a:p>
        </p:txBody>
      </p:sp>
      <p:sp>
        <p:nvSpPr>
          <p:cNvPr id="13" name="Rectangle 12"/>
          <p:cNvSpPr/>
          <p:nvPr/>
        </p:nvSpPr>
        <p:spPr>
          <a:xfrm>
            <a:off x="320040" y="1581912"/>
            <a:ext cx="4640580" cy="1005840"/>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11479" y="1819656"/>
            <a:ext cx="4453128" cy="548640"/>
          </a:xfrm>
          <a:prstGeom prst="rect">
            <a:avLst/>
          </a:prstGeom>
          <a:noFill/>
        </p:spPr>
        <p:txBody>
          <a:bodyPr wrap="square" lIns="54864" rIns="54864" tIns="22860" bIns="22860">
            <a:spAutoFit/>
          </a:bodyPr>
          <a:lstStyle/>
          <a:p>
            <a:pPr>
              <a:lnSpc>
                <a:spcPts val="2730"/>
              </a:lnSpc>
              <a:spcBef>
                <a:spcPts val="0"/>
              </a:spcBef>
              <a:spcAft>
                <a:spcPts val="0"/>
              </a:spcAft>
              <a:defRPr sz="2600" b="0">
                <a:solidFill>
                  <a:srgbClr val="182B3A"/>
                </a:solidFill>
                <a:latin typeface="Arial"/>
              </a:defRPr>
            </a:pPr>
            <a:r>
              <a:t>1.  −3 + 8</a:t>
            </a:r>
          </a:p>
        </p:txBody>
      </p:sp>
      <p:sp>
        <p:nvSpPr>
          <p:cNvPr id="15" name="Rectangle 14"/>
          <p:cNvSpPr/>
          <p:nvPr/>
        </p:nvSpPr>
        <p:spPr>
          <a:xfrm>
            <a:off x="4983480" y="1581912"/>
            <a:ext cx="4640580" cy="1005840"/>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5074920" y="1819656"/>
            <a:ext cx="4453128" cy="548640"/>
          </a:xfrm>
          <a:prstGeom prst="rect">
            <a:avLst/>
          </a:prstGeom>
          <a:noFill/>
        </p:spPr>
        <p:txBody>
          <a:bodyPr wrap="square" lIns="54864" rIns="54864" tIns="22860" bIns="22860">
            <a:spAutoFit/>
          </a:bodyPr>
          <a:lstStyle/>
          <a:p>
            <a:pPr>
              <a:lnSpc>
                <a:spcPts val="2730"/>
              </a:lnSpc>
              <a:spcBef>
                <a:spcPts val="0"/>
              </a:spcBef>
              <a:spcAft>
                <a:spcPts val="0"/>
              </a:spcAft>
              <a:defRPr sz="2600" b="0">
                <a:solidFill>
                  <a:srgbClr val="182B3A"/>
                </a:solidFill>
                <a:latin typeface="Arial"/>
              </a:defRPr>
            </a:pPr>
            <a:r>
              <a:t>1.  5 − (−2)</a:t>
            </a:r>
          </a:p>
        </p:txBody>
      </p:sp>
      <p:sp>
        <p:nvSpPr>
          <p:cNvPr id="17" name="Rectangle 16"/>
          <p:cNvSpPr/>
          <p:nvPr/>
        </p:nvSpPr>
        <p:spPr>
          <a:xfrm>
            <a:off x="9646920" y="1581912"/>
            <a:ext cx="4640580" cy="1005840"/>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9738360" y="1819656"/>
            <a:ext cx="4453128" cy="548640"/>
          </a:xfrm>
          <a:prstGeom prst="rect">
            <a:avLst/>
          </a:prstGeom>
          <a:noFill/>
        </p:spPr>
        <p:txBody>
          <a:bodyPr wrap="square" lIns="54864" rIns="54864" tIns="22860" bIns="22860">
            <a:spAutoFit/>
          </a:bodyPr>
          <a:lstStyle/>
          <a:p>
            <a:pPr>
              <a:lnSpc>
                <a:spcPts val="2730"/>
              </a:lnSpc>
              <a:spcBef>
                <a:spcPts val="0"/>
              </a:spcBef>
              <a:spcAft>
                <a:spcPts val="0"/>
              </a:spcAft>
              <a:defRPr sz="2600" b="0">
                <a:solidFill>
                  <a:srgbClr val="182B3A"/>
                </a:solidFill>
                <a:latin typeface="Arial"/>
              </a:defRPr>
            </a:pPr>
            <a:r>
              <a:t>1.  −4 + 7 − (−3)</a:t>
            </a:r>
          </a:p>
        </p:txBody>
      </p:sp>
      <p:sp>
        <p:nvSpPr>
          <p:cNvPr id="19" name="Rectangle 18"/>
          <p:cNvSpPr/>
          <p:nvPr/>
        </p:nvSpPr>
        <p:spPr>
          <a:xfrm>
            <a:off x="320040" y="2587752"/>
            <a:ext cx="4640580" cy="1005840"/>
          </a:xfrm>
          <a:prstGeom prst="rect">
            <a:avLst/>
          </a:prstGeom>
          <a:solidFill>
            <a:srgbClr val="EDF6F5"/>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411479" y="2825496"/>
            <a:ext cx="4453128" cy="548640"/>
          </a:xfrm>
          <a:prstGeom prst="rect">
            <a:avLst/>
          </a:prstGeom>
          <a:noFill/>
        </p:spPr>
        <p:txBody>
          <a:bodyPr wrap="square" lIns="54864" rIns="54864" tIns="22860" bIns="22860">
            <a:spAutoFit/>
          </a:bodyPr>
          <a:lstStyle/>
          <a:p>
            <a:pPr>
              <a:lnSpc>
                <a:spcPts val="2730"/>
              </a:lnSpc>
              <a:spcBef>
                <a:spcPts val="0"/>
              </a:spcBef>
              <a:spcAft>
                <a:spcPts val="0"/>
              </a:spcAft>
              <a:defRPr sz="2600" b="0">
                <a:solidFill>
                  <a:srgbClr val="182B3A"/>
                </a:solidFill>
                <a:latin typeface="Arial"/>
              </a:defRPr>
            </a:pPr>
            <a:r>
              <a:t>2.  2 − 7</a:t>
            </a:r>
          </a:p>
        </p:txBody>
      </p:sp>
      <p:sp>
        <p:nvSpPr>
          <p:cNvPr id="21" name="Rectangle 20"/>
          <p:cNvSpPr/>
          <p:nvPr/>
        </p:nvSpPr>
        <p:spPr>
          <a:xfrm>
            <a:off x="4983480" y="2587752"/>
            <a:ext cx="4640580" cy="1005840"/>
          </a:xfrm>
          <a:prstGeom prst="rect">
            <a:avLst/>
          </a:prstGeom>
          <a:solidFill>
            <a:srgbClr val="EFF3FA"/>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5074920" y="2825496"/>
            <a:ext cx="4453128" cy="548640"/>
          </a:xfrm>
          <a:prstGeom prst="rect">
            <a:avLst/>
          </a:prstGeom>
          <a:noFill/>
        </p:spPr>
        <p:txBody>
          <a:bodyPr wrap="square" lIns="54864" rIns="54864" tIns="22860" bIns="22860">
            <a:spAutoFit/>
          </a:bodyPr>
          <a:lstStyle/>
          <a:p>
            <a:pPr>
              <a:lnSpc>
                <a:spcPts val="2730"/>
              </a:lnSpc>
              <a:spcBef>
                <a:spcPts val="0"/>
              </a:spcBef>
              <a:spcAft>
                <a:spcPts val="0"/>
              </a:spcAft>
              <a:defRPr sz="2600" b="0">
                <a:solidFill>
                  <a:srgbClr val="182B3A"/>
                </a:solidFill>
                <a:latin typeface="Arial"/>
              </a:defRPr>
            </a:pPr>
            <a:r>
              <a:t>2.  7 + (−9)</a:t>
            </a:r>
          </a:p>
        </p:txBody>
      </p:sp>
      <p:sp>
        <p:nvSpPr>
          <p:cNvPr id="23" name="Rectangle 22"/>
          <p:cNvSpPr/>
          <p:nvPr/>
        </p:nvSpPr>
        <p:spPr>
          <a:xfrm>
            <a:off x="9646920" y="2587752"/>
            <a:ext cx="4640580" cy="1005840"/>
          </a:xfrm>
          <a:prstGeom prst="rect">
            <a:avLst/>
          </a:prstGeom>
          <a:solidFill>
            <a:srgbClr val="F5F0F7"/>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9738360" y="2825496"/>
            <a:ext cx="4453128" cy="548640"/>
          </a:xfrm>
          <a:prstGeom prst="rect">
            <a:avLst/>
          </a:prstGeom>
          <a:noFill/>
        </p:spPr>
        <p:txBody>
          <a:bodyPr wrap="square" lIns="54864" rIns="54864" tIns="22860" bIns="22860">
            <a:spAutoFit/>
          </a:bodyPr>
          <a:lstStyle/>
          <a:p>
            <a:pPr>
              <a:lnSpc>
                <a:spcPts val="2730"/>
              </a:lnSpc>
              <a:spcBef>
                <a:spcPts val="0"/>
              </a:spcBef>
              <a:spcAft>
                <a:spcPts val="0"/>
              </a:spcAft>
              <a:defRPr sz="2600" b="0">
                <a:solidFill>
                  <a:srgbClr val="182B3A"/>
                </a:solidFill>
                <a:latin typeface="Arial"/>
              </a:defRPr>
            </a:pPr>
            <a:r>
              <a:t>2.  6 − 9 + 2</a:t>
            </a:r>
          </a:p>
        </p:txBody>
      </p:sp>
      <p:sp>
        <p:nvSpPr>
          <p:cNvPr id="25" name="Rectangle 24"/>
          <p:cNvSpPr/>
          <p:nvPr/>
        </p:nvSpPr>
        <p:spPr>
          <a:xfrm>
            <a:off x="320040" y="3593592"/>
            <a:ext cx="4640580" cy="1005840"/>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411479" y="3831336"/>
            <a:ext cx="4453128" cy="548640"/>
          </a:xfrm>
          <a:prstGeom prst="rect">
            <a:avLst/>
          </a:prstGeom>
          <a:noFill/>
        </p:spPr>
        <p:txBody>
          <a:bodyPr wrap="square" lIns="54864" rIns="54864" tIns="22860" bIns="22860">
            <a:spAutoFit/>
          </a:bodyPr>
          <a:lstStyle/>
          <a:p>
            <a:pPr>
              <a:lnSpc>
                <a:spcPts val="2730"/>
              </a:lnSpc>
              <a:spcBef>
                <a:spcPts val="0"/>
              </a:spcBef>
              <a:spcAft>
                <a:spcPts val="0"/>
              </a:spcAft>
              <a:defRPr sz="2600" b="0">
                <a:solidFill>
                  <a:srgbClr val="182B3A"/>
                </a:solidFill>
                <a:latin typeface="Arial"/>
              </a:defRPr>
            </a:pPr>
            <a:r>
              <a:t>3.  −6 + 4</a:t>
            </a:r>
          </a:p>
        </p:txBody>
      </p:sp>
      <p:sp>
        <p:nvSpPr>
          <p:cNvPr id="27" name="Rectangle 26"/>
          <p:cNvSpPr/>
          <p:nvPr/>
        </p:nvSpPr>
        <p:spPr>
          <a:xfrm>
            <a:off x="4983480" y="3593592"/>
            <a:ext cx="4640580" cy="1005840"/>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5074920" y="3831336"/>
            <a:ext cx="4453128" cy="548640"/>
          </a:xfrm>
          <a:prstGeom prst="rect">
            <a:avLst/>
          </a:prstGeom>
          <a:noFill/>
        </p:spPr>
        <p:txBody>
          <a:bodyPr wrap="square" lIns="54864" rIns="54864" tIns="22860" bIns="22860">
            <a:spAutoFit/>
          </a:bodyPr>
          <a:lstStyle/>
          <a:p>
            <a:pPr>
              <a:lnSpc>
                <a:spcPts val="2730"/>
              </a:lnSpc>
              <a:spcBef>
                <a:spcPts val="0"/>
              </a:spcBef>
              <a:spcAft>
                <a:spcPts val="0"/>
              </a:spcAft>
              <a:defRPr sz="2600" b="0">
                <a:solidFill>
                  <a:srgbClr val="182B3A"/>
                </a:solidFill>
                <a:latin typeface="Arial"/>
              </a:defRPr>
            </a:pPr>
            <a:r>
              <a:t>3.  −4 + (−6)</a:t>
            </a:r>
          </a:p>
        </p:txBody>
      </p:sp>
      <p:sp>
        <p:nvSpPr>
          <p:cNvPr id="29" name="Rectangle 28"/>
          <p:cNvSpPr/>
          <p:nvPr/>
        </p:nvSpPr>
        <p:spPr>
          <a:xfrm>
            <a:off x="9646920" y="3593592"/>
            <a:ext cx="4640580" cy="1005840"/>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9738360" y="3831336"/>
            <a:ext cx="4453128" cy="548640"/>
          </a:xfrm>
          <a:prstGeom prst="rect">
            <a:avLst/>
          </a:prstGeom>
          <a:noFill/>
        </p:spPr>
        <p:txBody>
          <a:bodyPr wrap="square" lIns="54864" rIns="54864" tIns="22860" bIns="22860">
            <a:spAutoFit/>
          </a:bodyPr>
          <a:lstStyle/>
          <a:p>
            <a:pPr>
              <a:lnSpc>
                <a:spcPts val="2730"/>
              </a:lnSpc>
              <a:spcBef>
                <a:spcPts val="0"/>
              </a:spcBef>
              <a:spcAft>
                <a:spcPts val="0"/>
              </a:spcAft>
              <a:defRPr sz="2600" b="0">
                <a:solidFill>
                  <a:srgbClr val="182B3A"/>
                </a:solidFill>
                <a:latin typeface="Arial"/>
              </a:defRPr>
            </a:pPr>
            <a:r>
              <a:t>3.  −5 + (−3) + 10</a:t>
            </a:r>
          </a:p>
        </p:txBody>
      </p:sp>
      <p:sp>
        <p:nvSpPr>
          <p:cNvPr id="31" name="Rectangle 30"/>
          <p:cNvSpPr/>
          <p:nvPr/>
        </p:nvSpPr>
        <p:spPr>
          <a:xfrm>
            <a:off x="320040" y="4599432"/>
            <a:ext cx="4640580" cy="1005840"/>
          </a:xfrm>
          <a:prstGeom prst="rect">
            <a:avLst/>
          </a:prstGeom>
          <a:solidFill>
            <a:srgbClr val="EDF6F5"/>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411479" y="4837176"/>
            <a:ext cx="4453128" cy="548640"/>
          </a:xfrm>
          <a:prstGeom prst="rect">
            <a:avLst/>
          </a:prstGeom>
          <a:noFill/>
        </p:spPr>
        <p:txBody>
          <a:bodyPr wrap="square" lIns="54864" rIns="54864" tIns="22860" bIns="22860">
            <a:spAutoFit/>
          </a:bodyPr>
          <a:lstStyle/>
          <a:p>
            <a:pPr>
              <a:lnSpc>
                <a:spcPts val="2730"/>
              </a:lnSpc>
              <a:spcBef>
                <a:spcPts val="0"/>
              </a:spcBef>
              <a:spcAft>
                <a:spcPts val="0"/>
              </a:spcAft>
              <a:defRPr sz="2600" b="0">
                <a:solidFill>
                  <a:srgbClr val="182B3A"/>
                </a:solidFill>
                <a:latin typeface="Arial"/>
              </a:defRPr>
            </a:pPr>
            <a:r>
              <a:t>4.  −2 − 5</a:t>
            </a:r>
          </a:p>
        </p:txBody>
      </p:sp>
      <p:sp>
        <p:nvSpPr>
          <p:cNvPr id="33" name="Rectangle 32"/>
          <p:cNvSpPr/>
          <p:nvPr/>
        </p:nvSpPr>
        <p:spPr>
          <a:xfrm>
            <a:off x="4983480" y="4599432"/>
            <a:ext cx="4640580" cy="1005840"/>
          </a:xfrm>
          <a:prstGeom prst="rect">
            <a:avLst/>
          </a:prstGeom>
          <a:solidFill>
            <a:srgbClr val="EFF3FA"/>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5074920" y="4837176"/>
            <a:ext cx="4453128" cy="548640"/>
          </a:xfrm>
          <a:prstGeom prst="rect">
            <a:avLst/>
          </a:prstGeom>
          <a:noFill/>
        </p:spPr>
        <p:txBody>
          <a:bodyPr wrap="square" lIns="54864" rIns="54864" tIns="22860" bIns="22860">
            <a:spAutoFit/>
          </a:bodyPr>
          <a:lstStyle/>
          <a:p>
            <a:pPr>
              <a:lnSpc>
                <a:spcPts val="2730"/>
              </a:lnSpc>
              <a:spcBef>
                <a:spcPts val="0"/>
              </a:spcBef>
              <a:spcAft>
                <a:spcPts val="0"/>
              </a:spcAft>
              <a:defRPr sz="2600" b="0">
                <a:solidFill>
                  <a:srgbClr val="182B3A"/>
                </a:solidFill>
                <a:latin typeface="Arial"/>
              </a:defRPr>
            </a:pPr>
            <a:r>
              <a:t>4.  −8 − (−3)</a:t>
            </a:r>
          </a:p>
        </p:txBody>
      </p:sp>
      <p:sp>
        <p:nvSpPr>
          <p:cNvPr id="35" name="Rectangle 34"/>
          <p:cNvSpPr/>
          <p:nvPr/>
        </p:nvSpPr>
        <p:spPr>
          <a:xfrm>
            <a:off x="9646920" y="4599432"/>
            <a:ext cx="4640580" cy="1005840"/>
          </a:xfrm>
          <a:prstGeom prst="rect">
            <a:avLst/>
          </a:prstGeom>
          <a:solidFill>
            <a:srgbClr val="F5F0F7"/>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9738360" y="4837176"/>
            <a:ext cx="4453128" cy="548640"/>
          </a:xfrm>
          <a:prstGeom prst="rect">
            <a:avLst/>
          </a:prstGeom>
          <a:noFill/>
        </p:spPr>
        <p:txBody>
          <a:bodyPr wrap="square" lIns="54864" rIns="54864" tIns="22860" bIns="22860">
            <a:spAutoFit/>
          </a:bodyPr>
          <a:lstStyle/>
          <a:p>
            <a:pPr>
              <a:lnSpc>
                <a:spcPts val="2730"/>
              </a:lnSpc>
              <a:spcBef>
                <a:spcPts val="0"/>
              </a:spcBef>
              <a:spcAft>
                <a:spcPts val="0"/>
              </a:spcAft>
              <a:defRPr sz="2600" b="0">
                <a:solidFill>
                  <a:srgbClr val="182B3A"/>
                </a:solidFill>
                <a:latin typeface="Arial"/>
              </a:defRPr>
            </a:pPr>
            <a:r>
              <a:t>4.  8 − (−2) − 13</a:t>
            </a:r>
          </a:p>
        </p:txBody>
      </p:sp>
      <p:sp>
        <p:nvSpPr>
          <p:cNvPr id="37" name="Rectangle 36"/>
          <p:cNvSpPr/>
          <p:nvPr/>
        </p:nvSpPr>
        <p:spPr>
          <a:xfrm>
            <a:off x="320040" y="5605272"/>
            <a:ext cx="4640580" cy="1005840"/>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411479" y="5843016"/>
            <a:ext cx="4453128" cy="548640"/>
          </a:xfrm>
          <a:prstGeom prst="rect">
            <a:avLst/>
          </a:prstGeom>
          <a:noFill/>
        </p:spPr>
        <p:txBody>
          <a:bodyPr wrap="square" lIns="54864" rIns="54864" tIns="22860" bIns="22860">
            <a:spAutoFit/>
          </a:bodyPr>
          <a:lstStyle/>
          <a:p>
            <a:pPr>
              <a:lnSpc>
                <a:spcPts val="2730"/>
              </a:lnSpc>
              <a:spcBef>
                <a:spcPts val="0"/>
              </a:spcBef>
              <a:spcAft>
                <a:spcPts val="0"/>
              </a:spcAft>
              <a:defRPr sz="2600" b="0">
                <a:solidFill>
                  <a:srgbClr val="182B3A"/>
                </a:solidFill>
                <a:latin typeface="Arial"/>
              </a:defRPr>
            </a:pPr>
            <a:r>
              <a:t>5.  −9 + 9</a:t>
            </a:r>
          </a:p>
        </p:txBody>
      </p:sp>
      <p:sp>
        <p:nvSpPr>
          <p:cNvPr id="39" name="Rectangle 38"/>
          <p:cNvSpPr/>
          <p:nvPr/>
        </p:nvSpPr>
        <p:spPr>
          <a:xfrm>
            <a:off x="4983480" y="5605272"/>
            <a:ext cx="4640580" cy="1005840"/>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5074920" y="5843016"/>
            <a:ext cx="4453128" cy="548640"/>
          </a:xfrm>
          <a:prstGeom prst="rect">
            <a:avLst/>
          </a:prstGeom>
          <a:noFill/>
        </p:spPr>
        <p:txBody>
          <a:bodyPr wrap="square" lIns="54864" rIns="54864" tIns="22860" bIns="22860">
            <a:spAutoFit/>
          </a:bodyPr>
          <a:lstStyle/>
          <a:p>
            <a:pPr>
              <a:lnSpc>
                <a:spcPts val="2730"/>
              </a:lnSpc>
              <a:spcBef>
                <a:spcPts val="0"/>
              </a:spcBef>
              <a:spcAft>
                <a:spcPts val="0"/>
              </a:spcAft>
              <a:defRPr sz="2600" b="0">
                <a:solidFill>
                  <a:srgbClr val="182B3A"/>
                </a:solidFill>
                <a:latin typeface="Arial"/>
              </a:defRPr>
            </a:pPr>
            <a:r>
              <a:t>5.  −5 − (−5)</a:t>
            </a:r>
          </a:p>
        </p:txBody>
      </p:sp>
      <p:sp>
        <p:nvSpPr>
          <p:cNvPr id="41" name="Rectangle 40"/>
          <p:cNvSpPr/>
          <p:nvPr/>
        </p:nvSpPr>
        <p:spPr>
          <a:xfrm>
            <a:off x="9646920" y="5605272"/>
            <a:ext cx="4640580" cy="1005840"/>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9738360" y="5843016"/>
            <a:ext cx="4453128" cy="548640"/>
          </a:xfrm>
          <a:prstGeom prst="rect">
            <a:avLst/>
          </a:prstGeom>
          <a:noFill/>
        </p:spPr>
        <p:txBody>
          <a:bodyPr wrap="square" lIns="54864" rIns="54864" tIns="22860" bIns="22860">
            <a:spAutoFit/>
          </a:bodyPr>
          <a:lstStyle/>
          <a:p>
            <a:pPr>
              <a:lnSpc>
                <a:spcPts val="2730"/>
              </a:lnSpc>
              <a:spcBef>
                <a:spcPts val="0"/>
              </a:spcBef>
              <a:spcAft>
                <a:spcPts val="0"/>
              </a:spcAft>
              <a:defRPr sz="2600" b="0">
                <a:solidFill>
                  <a:srgbClr val="182B3A"/>
                </a:solidFill>
                <a:latin typeface="Arial"/>
              </a:defRPr>
            </a:pPr>
            <a:r>
              <a:t>5.  −7 − (−4) + 1</a:t>
            </a:r>
          </a:p>
        </p:txBody>
      </p:sp>
      <p:sp>
        <p:nvSpPr>
          <p:cNvPr id="43" name="Rectangle 42"/>
          <p:cNvSpPr/>
          <p:nvPr/>
        </p:nvSpPr>
        <p:spPr>
          <a:xfrm>
            <a:off x="320040" y="6611112"/>
            <a:ext cx="4640580" cy="1005840"/>
          </a:xfrm>
          <a:prstGeom prst="rect">
            <a:avLst/>
          </a:prstGeom>
          <a:solidFill>
            <a:srgbClr val="EDF6F5"/>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411479" y="6848856"/>
            <a:ext cx="4453128" cy="548640"/>
          </a:xfrm>
          <a:prstGeom prst="rect">
            <a:avLst/>
          </a:prstGeom>
          <a:noFill/>
        </p:spPr>
        <p:txBody>
          <a:bodyPr wrap="square" lIns="54864" rIns="54864" tIns="22860" bIns="22860">
            <a:spAutoFit/>
          </a:bodyPr>
          <a:lstStyle/>
          <a:p>
            <a:pPr>
              <a:lnSpc>
                <a:spcPts val="2730"/>
              </a:lnSpc>
              <a:spcBef>
                <a:spcPts val="0"/>
              </a:spcBef>
              <a:spcAft>
                <a:spcPts val="0"/>
              </a:spcAft>
              <a:defRPr sz="2600" b="0">
                <a:solidFill>
                  <a:srgbClr val="182B3A"/>
                </a:solidFill>
                <a:latin typeface="Arial"/>
              </a:defRPr>
            </a:pPr>
            <a:r>
              <a:t>6.  4 − 10</a:t>
            </a:r>
          </a:p>
        </p:txBody>
      </p:sp>
      <p:sp>
        <p:nvSpPr>
          <p:cNvPr id="45" name="Rectangle 44"/>
          <p:cNvSpPr/>
          <p:nvPr/>
        </p:nvSpPr>
        <p:spPr>
          <a:xfrm>
            <a:off x="4983480" y="6611112"/>
            <a:ext cx="4640580" cy="1005840"/>
          </a:xfrm>
          <a:prstGeom prst="rect">
            <a:avLst/>
          </a:prstGeom>
          <a:solidFill>
            <a:srgbClr val="EFF3FA"/>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5074920" y="6848856"/>
            <a:ext cx="4453128" cy="548640"/>
          </a:xfrm>
          <a:prstGeom prst="rect">
            <a:avLst/>
          </a:prstGeom>
          <a:noFill/>
        </p:spPr>
        <p:txBody>
          <a:bodyPr wrap="square" lIns="54864" rIns="54864" tIns="22860" bIns="22860">
            <a:spAutoFit/>
          </a:bodyPr>
          <a:lstStyle/>
          <a:p>
            <a:pPr>
              <a:lnSpc>
                <a:spcPts val="2730"/>
              </a:lnSpc>
              <a:spcBef>
                <a:spcPts val="0"/>
              </a:spcBef>
              <a:spcAft>
                <a:spcPts val="0"/>
              </a:spcAft>
              <a:defRPr sz="2600" b="0">
                <a:solidFill>
                  <a:srgbClr val="182B3A"/>
                </a:solidFill>
                <a:latin typeface="Arial"/>
              </a:defRPr>
            </a:pPr>
            <a:r>
              <a:t>6.  0 + (−7)</a:t>
            </a:r>
          </a:p>
        </p:txBody>
      </p:sp>
      <p:sp>
        <p:nvSpPr>
          <p:cNvPr id="47" name="Rectangle 46"/>
          <p:cNvSpPr/>
          <p:nvPr/>
        </p:nvSpPr>
        <p:spPr>
          <a:xfrm>
            <a:off x="9646920" y="6611112"/>
            <a:ext cx="4640580" cy="1005840"/>
          </a:xfrm>
          <a:prstGeom prst="rect">
            <a:avLst/>
          </a:prstGeom>
          <a:solidFill>
            <a:srgbClr val="F5F0F7"/>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TextBox 47"/>
          <p:cNvSpPr txBox="1"/>
          <p:nvPr/>
        </p:nvSpPr>
        <p:spPr>
          <a:xfrm>
            <a:off x="9738360" y="6848856"/>
            <a:ext cx="4453128" cy="548640"/>
          </a:xfrm>
          <a:prstGeom prst="rect">
            <a:avLst/>
          </a:prstGeom>
          <a:noFill/>
        </p:spPr>
        <p:txBody>
          <a:bodyPr wrap="square" lIns="54864" rIns="54864" tIns="22860" bIns="22860">
            <a:spAutoFit/>
          </a:bodyPr>
          <a:lstStyle/>
          <a:p>
            <a:pPr>
              <a:lnSpc>
                <a:spcPts val="2730"/>
              </a:lnSpc>
              <a:spcBef>
                <a:spcPts val="0"/>
              </a:spcBef>
              <a:spcAft>
                <a:spcPts val="0"/>
              </a:spcAft>
              <a:defRPr sz="2600" b="0">
                <a:solidFill>
                  <a:srgbClr val="182B3A"/>
                </a:solidFill>
                <a:latin typeface="Arial"/>
              </a:defRPr>
            </a:pPr>
            <a:r>
              <a:t>6.  3 + (−8) − (−5)</a:t>
            </a:r>
          </a:p>
        </p:txBody>
      </p:sp>
      <p:sp>
        <p:nvSpPr>
          <p:cNvPr id="49" name="Progression curved arrow: Thread 1 to Thread 2"/>
          <p:cNvSpPr/>
          <p:nvPr/>
        </p:nvSpPr>
        <p:spPr>
          <a:xfrm>
            <a:off x="4649723" y="7552294"/>
            <a:ext cx="621792" cy="314053"/>
          </a:xfrm>
          <a:custGeom>
            <a:avLst/>
            <a:gdLst/>
            <a:ahLst/>
            <a:cxnLst/>
            <a:rect l="0" t="0" r="100000" b="100000"/>
            <a:pathLst>
              <a:path w="100000" h="100000" fill="none">
                <a:moveTo>
                  <a:pt x="6970" y="48439"/>
                </a:moveTo>
                <a:cubicBezTo>
                  <a:pt x="40678" y="114499"/>
                  <a:pt x="73026" y="88145"/>
                  <a:pt x="93030" y="13799"/>
                </a:cubicBezTo>
              </a:path>
              <a:path w="100000" h="100000" fill="none">
                <a:moveTo>
                  <a:pt x="69018" y="40431"/>
                </a:moveTo>
                <a:lnTo>
                  <a:pt x="93030" y="13799"/>
                </a:lnTo>
                <a:lnTo>
                  <a:pt x="92217" y="66207"/>
                </a:lnTo>
              </a:path>
            </a:pathLst>
          </a:custGeom>
          <a:noFill/>
          <a:ln w="64449" cap="rnd">
            <a:solidFill>
              <a:schemeClr val="accent6">
                <a:lumMod val="60000"/>
                <a:lumOff val="40000"/>
              </a:schemeClr>
            </a:solidFill>
            <a:round/>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0" name="Progression curved arrow: Thread 2 to Thread 3"/>
          <p:cNvSpPr/>
          <p:nvPr/>
        </p:nvSpPr>
        <p:spPr>
          <a:xfrm>
            <a:off x="9265327" y="7543800"/>
            <a:ext cx="621792" cy="314053"/>
          </a:xfrm>
          <a:custGeom>
            <a:avLst/>
            <a:gdLst/>
            <a:ahLst/>
            <a:cxnLst/>
            <a:rect l="0" t="0" r="100000" b="100000"/>
            <a:pathLst>
              <a:path w="100000" h="100000" fill="none">
                <a:moveTo>
                  <a:pt x="6970" y="48439"/>
                </a:moveTo>
                <a:cubicBezTo>
                  <a:pt x="40678" y="114499"/>
                  <a:pt x="73026" y="88145"/>
                  <a:pt x="93030" y="13799"/>
                </a:cubicBezTo>
              </a:path>
              <a:path w="100000" h="100000" fill="none">
                <a:moveTo>
                  <a:pt x="69018" y="40431"/>
                </a:moveTo>
                <a:lnTo>
                  <a:pt x="93030" y="13799"/>
                </a:lnTo>
                <a:lnTo>
                  <a:pt x="92217" y="66207"/>
                </a:lnTo>
              </a:path>
            </a:pathLst>
          </a:custGeom>
          <a:noFill/>
          <a:ln w="64449" cap="rnd">
            <a:solidFill>
              <a:schemeClr val="accent6">
                <a:lumMod val="60000"/>
                <a:lumOff val="40000"/>
              </a:schemeClr>
            </a:solidFill>
            <a:round/>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bg>
      <p:bgPr>
        <a:solidFill>
          <a:srgbClr val="F7F8FA"/>
        </a:solidFill>
        <a:effectLst/>
      </p:bgPr>
    </p:bg>
    <p:spTree>
      <p:nvGrpSpPr>
        <p:cNvPr id="1" name=""/>
        <p:cNvGrpSpPr/>
        <p:nvPr/>
      </p:nvGrpSpPr>
      <p:grpSpPr/>
      <p:sp>
        <p:nvSpPr>
          <p:cNvPr id="2" name="Rectangle 1"/>
          <p:cNvSpPr/>
          <p:nvPr/>
        </p:nvSpPr>
        <p:spPr>
          <a:xfrm>
            <a:off x="0" y="0"/>
            <a:ext cx="14630400" cy="73152"/>
          </a:xfrm>
          <a:prstGeom prst="rect">
            <a:avLst/>
          </a:prstGeom>
          <a:solidFill>
            <a:srgbClr val="176B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20040" y="164592"/>
            <a:ext cx="13990320" cy="457200"/>
          </a:xfrm>
          <a:prstGeom prst="rect">
            <a:avLst/>
          </a:prstGeom>
          <a:noFill/>
        </p:spPr>
        <p:txBody>
          <a:bodyPr wrap="square" lIns="54864" rIns="54864" tIns="22860" bIns="22860">
            <a:spAutoFit/>
          </a:bodyPr>
          <a:lstStyle/>
          <a:p>
            <a:pPr>
              <a:lnSpc>
                <a:spcPts val="2940"/>
              </a:lnSpc>
              <a:spcBef>
                <a:spcPts val="0"/>
              </a:spcBef>
              <a:spcAft>
                <a:spcPts val="0"/>
              </a:spcAft>
              <a:defRPr sz="2800" b="1">
                <a:solidFill>
                  <a:srgbClr val="182B3A"/>
                </a:solidFill>
                <a:latin typeface="Arial"/>
              </a:defRPr>
            </a:pPr>
            <a:r>
              <a:t>Signed numbers: addition and subtraction</a:t>
            </a:r>
          </a:p>
        </p:txBody>
      </p:sp>
      <p:sp>
        <p:nvSpPr>
          <p:cNvPr id="4" name="TextBox 3"/>
          <p:cNvSpPr txBox="1"/>
          <p:nvPr/>
        </p:nvSpPr>
        <p:spPr>
          <a:xfrm>
            <a:off x="320040" y="704088"/>
            <a:ext cx="13990320" cy="347472"/>
          </a:xfrm>
          <a:prstGeom prst="rect">
            <a:avLst/>
          </a:prstGeom>
          <a:noFill/>
        </p:spPr>
        <p:txBody>
          <a:bodyPr wrap="square" lIns="54864" rIns="54864" tIns="22860" bIns="22860">
            <a:spAutoFit/>
          </a:bodyPr>
          <a:lstStyle/>
          <a:p>
            <a:pPr>
              <a:lnSpc>
                <a:spcPts val="1575"/>
              </a:lnSpc>
              <a:spcBef>
                <a:spcPts val="0"/>
              </a:spcBef>
              <a:spcAft>
                <a:spcPts val="0"/>
              </a:spcAft>
              <a:defRPr sz="1500" b="0">
                <a:solidFill>
                  <a:srgbClr val="526472"/>
                </a:solidFill>
                <a:latin typeface="Arial"/>
              </a:defRPr>
            </a:pPr>
            <a:r>
              <a:t>Independent practice 2 • Choose a column. Show your working and check your answers.</a:t>
            </a:r>
          </a:p>
        </p:txBody>
      </p:sp>
      <p:sp>
        <p:nvSpPr>
          <p:cNvPr id="5" name="TextBox 4"/>
          <p:cNvSpPr txBox="1"/>
          <p:nvPr/>
        </p:nvSpPr>
        <p:spPr>
          <a:xfrm>
            <a:off x="320040" y="7973568"/>
            <a:ext cx="10789920" cy="210312"/>
          </a:xfrm>
          <a:prstGeom prst="rect">
            <a:avLst/>
          </a:prstGeom>
          <a:noFill/>
        </p:spPr>
        <p:txBody>
          <a:bodyPr wrap="square" lIns="54864" rIns="54864" tIns="22860" bIns="22860">
            <a:spAutoFit/>
          </a:bodyPr>
          <a:lstStyle/>
          <a:p>
            <a:pPr>
              <a:lnSpc>
                <a:spcPts val="1155"/>
              </a:lnSpc>
              <a:spcBef>
                <a:spcPts val="0"/>
              </a:spcBef>
              <a:spcAft>
                <a:spcPts val="0"/>
              </a:spcAft>
              <a:defRPr sz="1100" b="0">
                <a:solidFill>
                  <a:srgbClr val="526472"/>
                </a:solidFill>
                <a:latin typeface="Arial"/>
              </a:defRPr>
            </a:pPr>
            <a:r>
              <a:t>GCSE Maths revision • No calculator • Show your working.</a:t>
            </a:r>
          </a:p>
        </p:txBody>
      </p:sp>
      <p:sp>
        <p:nvSpPr>
          <p:cNvPr id="6" name="TextBox 5"/>
          <p:cNvSpPr txBox="1"/>
          <p:nvPr/>
        </p:nvSpPr>
        <p:spPr>
          <a:xfrm>
            <a:off x="11155680" y="7973568"/>
            <a:ext cx="3108960" cy="210312"/>
          </a:xfrm>
          <a:prstGeom prst="rect">
            <a:avLst/>
          </a:prstGeom>
          <a:noFill/>
        </p:spPr>
        <p:txBody>
          <a:bodyPr wrap="square" lIns="54864" rIns="54864" tIns="22860" bIns="22860">
            <a:spAutoFit/>
          </a:bodyPr>
          <a:lstStyle/>
          <a:p>
            <a:pPr>
              <a:lnSpc>
                <a:spcPts val="1155"/>
              </a:lnSpc>
              <a:spcBef>
                <a:spcPts val="0"/>
              </a:spcBef>
              <a:spcAft>
                <a:spcPts val="0"/>
              </a:spcAft>
              <a:defRPr sz="1100" b="0">
                <a:solidFill>
                  <a:srgbClr val="526472"/>
                </a:solidFill>
                <a:latin typeface="Arial"/>
              </a:defRPr>
            </a:pPr>
            <a:r>
              <a:t>M13-S05</a:t>
            </a:r>
          </a:p>
        </p:txBody>
      </p:sp>
      <p:sp>
        <p:nvSpPr>
          <p:cNvPr id="7" name="Rectangle 6"/>
          <p:cNvSpPr/>
          <p:nvPr/>
        </p:nvSpPr>
        <p:spPr>
          <a:xfrm>
            <a:off x="320040" y="1115568"/>
            <a:ext cx="4640580" cy="420624"/>
          </a:xfrm>
          <a:prstGeom prst="rect">
            <a:avLst/>
          </a:prstGeom>
          <a:solidFill>
            <a:srgbClr val="176B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347472" y="1147572"/>
            <a:ext cx="4581144" cy="329184"/>
          </a:xfrm>
          <a:prstGeom prst="rect">
            <a:avLst/>
          </a:prstGeom>
          <a:noFill/>
        </p:spPr>
        <p:txBody>
          <a:bodyPr wrap="square" lIns="54864" rIns="54864" tIns="22860" bIns="22860">
            <a:spAutoFit/>
          </a:bodyPr>
          <a:lstStyle/>
          <a:p>
            <a:pPr>
              <a:lnSpc>
                <a:spcPts val="1995"/>
              </a:lnSpc>
              <a:spcBef>
                <a:spcPts val="0"/>
              </a:spcBef>
              <a:spcAft>
                <a:spcPts val="0"/>
              </a:spcAft>
              <a:defRPr sz="1900" b="1">
                <a:solidFill>
                  <a:srgbClr val="FFFFFF"/>
                </a:solidFill>
                <a:latin typeface="Arial"/>
              </a:defRPr>
            </a:pPr>
            <a:r>
              <a:t>Start</a:t>
            </a:r>
          </a:p>
        </p:txBody>
      </p:sp>
      <p:sp>
        <p:nvSpPr>
          <p:cNvPr id="9" name="Rectangle 8"/>
          <p:cNvSpPr/>
          <p:nvPr/>
        </p:nvSpPr>
        <p:spPr>
          <a:xfrm>
            <a:off x="4983480" y="1115568"/>
            <a:ext cx="4640580" cy="420624"/>
          </a:xfrm>
          <a:prstGeom prst="rect">
            <a:avLst/>
          </a:prstGeom>
          <a:solidFill>
            <a:srgbClr val="3559A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010912" y="1147572"/>
            <a:ext cx="4581144" cy="329184"/>
          </a:xfrm>
          <a:prstGeom prst="rect">
            <a:avLst/>
          </a:prstGeom>
          <a:noFill/>
        </p:spPr>
        <p:txBody>
          <a:bodyPr wrap="square" lIns="54864" rIns="54864" tIns="22860" bIns="22860">
            <a:spAutoFit/>
          </a:bodyPr>
          <a:lstStyle/>
          <a:p>
            <a:pPr>
              <a:lnSpc>
                <a:spcPts val="1995"/>
              </a:lnSpc>
              <a:spcBef>
                <a:spcPts val="0"/>
              </a:spcBef>
              <a:spcAft>
                <a:spcPts val="0"/>
              </a:spcAft>
              <a:defRPr sz="1900" b="1">
                <a:solidFill>
                  <a:srgbClr val="FFFFFF"/>
                </a:solidFill>
                <a:latin typeface="Arial"/>
              </a:defRPr>
            </a:pPr>
            <a:r>
              <a:t>Build</a:t>
            </a:r>
          </a:p>
        </p:txBody>
      </p:sp>
      <p:sp>
        <p:nvSpPr>
          <p:cNvPr id="11" name="Rectangle 10"/>
          <p:cNvSpPr/>
          <p:nvPr/>
        </p:nvSpPr>
        <p:spPr>
          <a:xfrm>
            <a:off x="9646920" y="1115568"/>
            <a:ext cx="4640580" cy="420624"/>
          </a:xfrm>
          <a:prstGeom prst="rect">
            <a:avLst/>
          </a:prstGeom>
          <a:solidFill>
            <a:srgbClr val="754B8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9674352" y="1147572"/>
            <a:ext cx="4581144" cy="329184"/>
          </a:xfrm>
          <a:prstGeom prst="rect">
            <a:avLst/>
          </a:prstGeom>
          <a:noFill/>
        </p:spPr>
        <p:txBody>
          <a:bodyPr wrap="square" lIns="54864" rIns="54864" tIns="22860" bIns="22860">
            <a:spAutoFit/>
          </a:bodyPr>
          <a:lstStyle/>
          <a:p>
            <a:pPr>
              <a:lnSpc>
                <a:spcPts val="1995"/>
              </a:lnSpc>
              <a:spcBef>
                <a:spcPts val="0"/>
              </a:spcBef>
              <a:spcAft>
                <a:spcPts val="0"/>
              </a:spcAft>
              <a:defRPr sz="1900" b="1">
                <a:solidFill>
                  <a:srgbClr val="FFFFFF"/>
                </a:solidFill>
                <a:latin typeface="Arial"/>
              </a:defRPr>
            </a:pPr>
            <a:r>
              <a:t>Confidence</a:t>
            </a:r>
          </a:p>
        </p:txBody>
      </p:sp>
      <p:sp>
        <p:nvSpPr>
          <p:cNvPr id="13" name="Rectangle 12"/>
          <p:cNvSpPr/>
          <p:nvPr/>
        </p:nvSpPr>
        <p:spPr>
          <a:xfrm>
            <a:off x="320040" y="1581912"/>
            <a:ext cx="4640580" cy="1005840"/>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11479" y="1819656"/>
            <a:ext cx="4453128" cy="548640"/>
          </a:xfrm>
          <a:prstGeom prst="rect">
            <a:avLst/>
          </a:prstGeom>
          <a:noFill/>
        </p:spPr>
        <p:txBody>
          <a:bodyPr wrap="square" lIns="54864" rIns="54864" tIns="22860" bIns="22860">
            <a:spAutoFit/>
          </a:bodyPr>
          <a:lstStyle/>
          <a:p>
            <a:pPr>
              <a:lnSpc>
                <a:spcPts val="2730"/>
              </a:lnSpc>
              <a:spcBef>
                <a:spcPts val="0"/>
              </a:spcBef>
              <a:spcAft>
                <a:spcPts val="0"/>
              </a:spcAft>
              <a:defRPr sz="2600" b="0">
                <a:solidFill>
                  <a:srgbClr val="182B3A"/>
                </a:solidFill>
                <a:latin typeface="Arial"/>
              </a:defRPr>
            </a:pPr>
            <a:r>
              <a:t>1.  −4 − 6</a:t>
            </a:r>
          </a:p>
        </p:txBody>
      </p:sp>
      <p:sp>
        <p:nvSpPr>
          <p:cNvPr id="15" name="Rectangle 14"/>
          <p:cNvSpPr/>
          <p:nvPr/>
        </p:nvSpPr>
        <p:spPr>
          <a:xfrm>
            <a:off x="4983480" y="1581912"/>
            <a:ext cx="4640580" cy="1005840"/>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5074920" y="1819656"/>
            <a:ext cx="4453128" cy="548640"/>
          </a:xfrm>
          <a:prstGeom prst="rect">
            <a:avLst/>
          </a:prstGeom>
          <a:noFill/>
        </p:spPr>
        <p:txBody>
          <a:bodyPr wrap="square" lIns="54864" rIns="54864" tIns="22860" bIns="22860">
            <a:spAutoFit/>
          </a:bodyPr>
          <a:lstStyle/>
          <a:p>
            <a:pPr>
              <a:lnSpc>
                <a:spcPts val="2730"/>
              </a:lnSpc>
              <a:spcBef>
                <a:spcPts val="0"/>
              </a:spcBef>
              <a:spcAft>
                <a:spcPts val="0"/>
              </a:spcAft>
              <a:defRPr sz="2600" b="0">
                <a:solidFill>
                  <a:srgbClr val="182B3A"/>
                </a:solidFill>
                <a:latin typeface="Arial"/>
              </a:defRPr>
            </a:pPr>
            <a:r>
              <a:t>1.  9 − (−4)</a:t>
            </a:r>
          </a:p>
        </p:txBody>
      </p:sp>
      <p:sp>
        <p:nvSpPr>
          <p:cNvPr id="17" name="Rectangle 16"/>
          <p:cNvSpPr/>
          <p:nvPr/>
        </p:nvSpPr>
        <p:spPr>
          <a:xfrm>
            <a:off x="9646920" y="1581912"/>
            <a:ext cx="4640580" cy="1005840"/>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9738360" y="1819656"/>
            <a:ext cx="4453128" cy="548640"/>
          </a:xfrm>
          <a:prstGeom prst="rect">
            <a:avLst/>
          </a:prstGeom>
          <a:noFill/>
        </p:spPr>
        <p:txBody>
          <a:bodyPr wrap="square" lIns="54864" rIns="54864" tIns="22860" bIns="22860">
            <a:spAutoFit/>
          </a:bodyPr>
          <a:lstStyle/>
          <a:p>
            <a:pPr>
              <a:lnSpc>
                <a:spcPts val="2730"/>
              </a:lnSpc>
              <a:spcBef>
                <a:spcPts val="0"/>
              </a:spcBef>
              <a:spcAft>
                <a:spcPts val="0"/>
              </a:spcAft>
              <a:defRPr sz="2600" b="0">
                <a:solidFill>
                  <a:srgbClr val="182B3A"/>
                </a:solidFill>
                <a:latin typeface="Arial"/>
              </a:defRPr>
            </a:pPr>
            <a:r>
              <a:t>1.  −6 + 9 + (−4)</a:t>
            </a:r>
          </a:p>
        </p:txBody>
      </p:sp>
      <p:sp>
        <p:nvSpPr>
          <p:cNvPr id="19" name="Rectangle 18"/>
          <p:cNvSpPr/>
          <p:nvPr/>
        </p:nvSpPr>
        <p:spPr>
          <a:xfrm>
            <a:off x="320040" y="2587752"/>
            <a:ext cx="4640580" cy="1005840"/>
          </a:xfrm>
          <a:prstGeom prst="rect">
            <a:avLst/>
          </a:prstGeom>
          <a:solidFill>
            <a:srgbClr val="EDF6F5"/>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411479" y="2825496"/>
            <a:ext cx="4453128" cy="548640"/>
          </a:xfrm>
          <a:prstGeom prst="rect">
            <a:avLst/>
          </a:prstGeom>
          <a:noFill/>
        </p:spPr>
        <p:txBody>
          <a:bodyPr wrap="square" lIns="54864" rIns="54864" tIns="22860" bIns="22860">
            <a:spAutoFit/>
          </a:bodyPr>
          <a:lstStyle/>
          <a:p>
            <a:pPr>
              <a:lnSpc>
                <a:spcPts val="2730"/>
              </a:lnSpc>
              <a:spcBef>
                <a:spcPts val="0"/>
              </a:spcBef>
              <a:spcAft>
                <a:spcPts val="0"/>
              </a:spcAft>
              <a:defRPr sz="2600" b="0">
                <a:solidFill>
                  <a:srgbClr val="182B3A"/>
                </a:solidFill>
                <a:latin typeface="Arial"/>
              </a:defRPr>
            </a:pPr>
            <a:r>
              <a:t>2.  −11 + 11</a:t>
            </a:r>
          </a:p>
        </p:txBody>
      </p:sp>
      <p:sp>
        <p:nvSpPr>
          <p:cNvPr id="21" name="Rectangle 20"/>
          <p:cNvSpPr/>
          <p:nvPr/>
        </p:nvSpPr>
        <p:spPr>
          <a:xfrm>
            <a:off x="4983480" y="2587752"/>
            <a:ext cx="4640580" cy="1005840"/>
          </a:xfrm>
          <a:prstGeom prst="rect">
            <a:avLst/>
          </a:prstGeom>
          <a:solidFill>
            <a:srgbClr val="EFF3FA"/>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5074920" y="2825496"/>
            <a:ext cx="4453128" cy="548640"/>
          </a:xfrm>
          <a:prstGeom prst="rect">
            <a:avLst/>
          </a:prstGeom>
          <a:noFill/>
        </p:spPr>
        <p:txBody>
          <a:bodyPr wrap="square" lIns="54864" rIns="54864" tIns="22860" bIns="22860">
            <a:spAutoFit/>
          </a:bodyPr>
          <a:lstStyle/>
          <a:p>
            <a:pPr>
              <a:lnSpc>
                <a:spcPts val="2730"/>
              </a:lnSpc>
              <a:spcBef>
                <a:spcPts val="0"/>
              </a:spcBef>
              <a:spcAft>
                <a:spcPts val="0"/>
              </a:spcAft>
              <a:defRPr sz="2600" b="0">
                <a:solidFill>
                  <a:srgbClr val="182B3A"/>
                </a:solidFill>
                <a:latin typeface="Arial"/>
              </a:defRPr>
            </a:pPr>
            <a:r>
              <a:t>2.  −6 + (−7)</a:t>
            </a:r>
          </a:p>
        </p:txBody>
      </p:sp>
      <p:sp>
        <p:nvSpPr>
          <p:cNvPr id="23" name="Rectangle 22"/>
          <p:cNvSpPr/>
          <p:nvPr/>
        </p:nvSpPr>
        <p:spPr>
          <a:xfrm>
            <a:off x="9646920" y="2587752"/>
            <a:ext cx="4640580" cy="1005840"/>
          </a:xfrm>
          <a:prstGeom prst="rect">
            <a:avLst/>
          </a:prstGeom>
          <a:solidFill>
            <a:srgbClr val="F5F0F7"/>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9738360" y="2825496"/>
            <a:ext cx="4453128" cy="548640"/>
          </a:xfrm>
          <a:prstGeom prst="rect">
            <a:avLst/>
          </a:prstGeom>
          <a:noFill/>
        </p:spPr>
        <p:txBody>
          <a:bodyPr wrap="square" lIns="54864" rIns="54864" tIns="22860" bIns="22860">
            <a:spAutoFit/>
          </a:bodyPr>
          <a:lstStyle/>
          <a:p>
            <a:pPr>
              <a:lnSpc>
                <a:spcPts val="2730"/>
              </a:lnSpc>
              <a:spcBef>
                <a:spcPts val="0"/>
              </a:spcBef>
              <a:spcAft>
                <a:spcPts val="0"/>
              </a:spcAft>
              <a:defRPr sz="2600" b="0">
                <a:solidFill>
                  <a:srgbClr val="182B3A"/>
                </a:solidFill>
                <a:latin typeface="Arial"/>
              </a:defRPr>
            </a:pPr>
            <a:r>
              <a:t>2.  4 − (−6) + (−10)</a:t>
            </a:r>
          </a:p>
        </p:txBody>
      </p:sp>
      <p:sp>
        <p:nvSpPr>
          <p:cNvPr id="25" name="Rectangle 24"/>
          <p:cNvSpPr/>
          <p:nvPr/>
        </p:nvSpPr>
        <p:spPr>
          <a:xfrm>
            <a:off x="320040" y="3593592"/>
            <a:ext cx="4640580" cy="1005840"/>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411479" y="3831336"/>
            <a:ext cx="4453128" cy="548640"/>
          </a:xfrm>
          <a:prstGeom prst="rect">
            <a:avLst/>
          </a:prstGeom>
          <a:noFill/>
        </p:spPr>
        <p:txBody>
          <a:bodyPr wrap="square" lIns="54864" rIns="54864" tIns="22860" bIns="22860">
            <a:spAutoFit/>
          </a:bodyPr>
          <a:lstStyle/>
          <a:p>
            <a:pPr>
              <a:lnSpc>
                <a:spcPts val="2730"/>
              </a:lnSpc>
              <a:spcBef>
                <a:spcPts val="0"/>
              </a:spcBef>
              <a:spcAft>
                <a:spcPts val="0"/>
              </a:spcAft>
              <a:defRPr sz="2600" b="0">
                <a:solidFill>
                  <a:srgbClr val="182B3A"/>
                </a:solidFill>
                <a:latin typeface="Arial"/>
              </a:defRPr>
            </a:pPr>
            <a:r>
              <a:t>3.  6 − 15</a:t>
            </a:r>
          </a:p>
        </p:txBody>
      </p:sp>
      <p:sp>
        <p:nvSpPr>
          <p:cNvPr id="27" name="Rectangle 26"/>
          <p:cNvSpPr/>
          <p:nvPr/>
        </p:nvSpPr>
        <p:spPr>
          <a:xfrm>
            <a:off x="4983480" y="3593592"/>
            <a:ext cx="4640580" cy="1005840"/>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5074920" y="3831336"/>
            <a:ext cx="4453128" cy="548640"/>
          </a:xfrm>
          <a:prstGeom prst="rect">
            <a:avLst/>
          </a:prstGeom>
          <a:noFill/>
        </p:spPr>
        <p:txBody>
          <a:bodyPr wrap="square" lIns="54864" rIns="54864" tIns="22860" bIns="22860">
            <a:spAutoFit/>
          </a:bodyPr>
          <a:lstStyle/>
          <a:p>
            <a:pPr>
              <a:lnSpc>
                <a:spcPts val="2730"/>
              </a:lnSpc>
              <a:spcBef>
                <a:spcPts val="0"/>
              </a:spcBef>
              <a:spcAft>
                <a:spcPts val="0"/>
              </a:spcAft>
              <a:defRPr sz="2600" b="0">
                <a:solidFill>
                  <a:srgbClr val="182B3A"/>
                </a:solidFill>
                <a:latin typeface="Arial"/>
              </a:defRPr>
            </a:pPr>
            <a:r>
              <a:t>3.  0 − (−9)</a:t>
            </a:r>
          </a:p>
        </p:txBody>
      </p:sp>
      <p:sp>
        <p:nvSpPr>
          <p:cNvPr id="29" name="Rectangle 28"/>
          <p:cNvSpPr/>
          <p:nvPr/>
        </p:nvSpPr>
        <p:spPr>
          <a:xfrm>
            <a:off x="9646920" y="3593592"/>
            <a:ext cx="4640580" cy="1005840"/>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9738360" y="3831336"/>
            <a:ext cx="4453128" cy="548640"/>
          </a:xfrm>
          <a:prstGeom prst="rect">
            <a:avLst/>
          </a:prstGeom>
          <a:noFill/>
        </p:spPr>
        <p:txBody>
          <a:bodyPr wrap="square" lIns="54864" rIns="54864" tIns="22860" bIns="22860">
            <a:spAutoFit/>
          </a:bodyPr>
          <a:lstStyle/>
          <a:p>
            <a:pPr>
              <a:lnSpc>
                <a:spcPts val="2730"/>
              </a:lnSpc>
              <a:spcBef>
                <a:spcPts val="0"/>
              </a:spcBef>
              <a:spcAft>
                <a:spcPts val="0"/>
              </a:spcAft>
              <a:defRPr sz="2600" b="0">
                <a:solidFill>
                  <a:srgbClr val="182B3A"/>
                </a:solidFill>
                <a:latin typeface="Arial"/>
              </a:defRPr>
            </a:pPr>
            <a:r>
              <a:t>3.  7 − 10 − (−5)</a:t>
            </a:r>
          </a:p>
        </p:txBody>
      </p:sp>
      <p:sp>
        <p:nvSpPr>
          <p:cNvPr id="31" name="Rectangle 30"/>
          <p:cNvSpPr/>
          <p:nvPr/>
        </p:nvSpPr>
        <p:spPr>
          <a:xfrm>
            <a:off x="320040" y="4599432"/>
            <a:ext cx="4640580" cy="1005840"/>
          </a:xfrm>
          <a:prstGeom prst="rect">
            <a:avLst/>
          </a:prstGeom>
          <a:solidFill>
            <a:srgbClr val="EDF6F5"/>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411479" y="4837176"/>
            <a:ext cx="4453128" cy="548640"/>
          </a:xfrm>
          <a:prstGeom prst="rect">
            <a:avLst/>
          </a:prstGeom>
          <a:noFill/>
        </p:spPr>
        <p:txBody>
          <a:bodyPr wrap="square" lIns="54864" rIns="54864" tIns="22860" bIns="22860">
            <a:spAutoFit/>
          </a:bodyPr>
          <a:lstStyle/>
          <a:p>
            <a:pPr>
              <a:lnSpc>
                <a:spcPts val="2730"/>
              </a:lnSpc>
              <a:spcBef>
                <a:spcPts val="0"/>
              </a:spcBef>
              <a:spcAft>
                <a:spcPts val="0"/>
              </a:spcAft>
              <a:defRPr sz="2600" b="0">
                <a:solidFill>
                  <a:srgbClr val="182B3A"/>
                </a:solidFill>
                <a:latin typeface="Arial"/>
              </a:defRPr>
            </a:pPr>
            <a:r>
              <a:t>4.  −7 + 10</a:t>
            </a:r>
          </a:p>
        </p:txBody>
      </p:sp>
      <p:sp>
        <p:nvSpPr>
          <p:cNvPr id="33" name="Rectangle 32"/>
          <p:cNvSpPr/>
          <p:nvPr/>
        </p:nvSpPr>
        <p:spPr>
          <a:xfrm>
            <a:off x="4983480" y="4599432"/>
            <a:ext cx="4640580" cy="1005840"/>
          </a:xfrm>
          <a:prstGeom prst="rect">
            <a:avLst/>
          </a:prstGeom>
          <a:solidFill>
            <a:srgbClr val="EFF3FA"/>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5074920" y="4837176"/>
            <a:ext cx="4453128" cy="548640"/>
          </a:xfrm>
          <a:prstGeom prst="rect">
            <a:avLst/>
          </a:prstGeom>
          <a:noFill/>
        </p:spPr>
        <p:txBody>
          <a:bodyPr wrap="square" lIns="54864" rIns="54864" tIns="22860" bIns="22860">
            <a:spAutoFit/>
          </a:bodyPr>
          <a:lstStyle/>
          <a:p>
            <a:pPr>
              <a:lnSpc>
                <a:spcPts val="2730"/>
              </a:lnSpc>
              <a:spcBef>
                <a:spcPts val="0"/>
              </a:spcBef>
              <a:spcAft>
                <a:spcPts val="0"/>
              </a:spcAft>
              <a:defRPr sz="2600" b="0">
                <a:solidFill>
                  <a:srgbClr val="182B3A"/>
                </a:solidFill>
                <a:latin typeface="Arial"/>
              </a:defRPr>
            </a:pPr>
            <a:r>
              <a:t>4.  3 + (−8)</a:t>
            </a:r>
          </a:p>
        </p:txBody>
      </p:sp>
      <p:sp>
        <p:nvSpPr>
          <p:cNvPr id="35" name="Rectangle 34"/>
          <p:cNvSpPr/>
          <p:nvPr/>
        </p:nvSpPr>
        <p:spPr>
          <a:xfrm>
            <a:off x="9646920" y="4599432"/>
            <a:ext cx="4640580" cy="1005840"/>
          </a:xfrm>
          <a:prstGeom prst="rect">
            <a:avLst/>
          </a:prstGeom>
          <a:solidFill>
            <a:srgbClr val="F5F0F7"/>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9738360" y="4837176"/>
            <a:ext cx="4453128" cy="548640"/>
          </a:xfrm>
          <a:prstGeom prst="rect">
            <a:avLst/>
          </a:prstGeom>
          <a:noFill/>
        </p:spPr>
        <p:txBody>
          <a:bodyPr wrap="square" lIns="54864" rIns="54864" tIns="22860" bIns="22860">
            <a:spAutoFit/>
          </a:bodyPr>
          <a:lstStyle/>
          <a:p>
            <a:pPr>
              <a:lnSpc>
                <a:spcPts val="2730"/>
              </a:lnSpc>
              <a:spcBef>
                <a:spcPts val="0"/>
              </a:spcBef>
              <a:spcAft>
                <a:spcPts val="0"/>
              </a:spcAft>
              <a:defRPr sz="2600" b="0">
                <a:solidFill>
                  <a:srgbClr val="182B3A"/>
                </a:solidFill>
                <a:latin typeface="Arial"/>
              </a:defRPr>
            </a:pPr>
            <a:r>
              <a:t>4.  −8 − (−2) − 1</a:t>
            </a:r>
          </a:p>
        </p:txBody>
      </p:sp>
      <p:sp>
        <p:nvSpPr>
          <p:cNvPr id="37" name="Rectangle 36"/>
          <p:cNvSpPr/>
          <p:nvPr/>
        </p:nvSpPr>
        <p:spPr>
          <a:xfrm>
            <a:off x="320040" y="5605272"/>
            <a:ext cx="4640580" cy="1005840"/>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411479" y="5843016"/>
            <a:ext cx="4453128" cy="548640"/>
          </a:xfrm>
          <a:prstGeom prst="rect">
            <a:avLst/>
          </a:prstGeom>
          <a:noFill/>
        </p:spPr>
        <p:txBody>
          <a:bodyPr wrap="square" lIns="54864" rIns="54864" tIns="22860" bIns="22860">
            <a:spAutoFit/>
          </a:bodyPr>
          <a:lstStyle/>
          <a:p>
            <a:pPr>
              <a:lnSpc>
                <a:spcPts val="2730"/>
              </a:lnSpc>
              <a:spcBef>
                <a:spcPts val="0"/>
              </a:spcBef>
              <a:spcAft>
                <a:spcPts val="0"/>
              </a:spcAft>
              <a:defRPr sz="2600" b="0">
                <a:solidFill>
                  <a:srgbClr val="182B3A"/>
                </a:solidFill>
                <a:latin typeface="Arial"/>
              </a:defRPr>
            </a:pPr>
            <a:r>
              <a:t>5.  −8 + 3</a:t>
            </a:r>
          </a:p>
        </p:txBody>
      </p:sp>
      <p:sp>
        <p:nvSpPr>
          <p:cNvPr id="39" name="Rectangle 38"/>
          <p:cNvSpPr/>
          <p:nvPr/>
        </p:nvSpPr>
        <p:spPr>
          <a:xfrm>
            <a:off x="4983480" y="5605272"/>
            <a:ext cx="4640580" cy="1005840"/>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5074920" y="5843016"/>
            <a:ext cx="4453128" cy="548640"/>
          </a:xfrm>
          <a:prstGeom prst="rect">
            <a:avLst/>
          </a:prstGeom>
          <a:noFill/>
        </p:spPr>
        <p:txBody>
          <a:bodyPr wrap="square" lIns="54864" rIns="54864" tIns="22860" bIns="22860">
            <a:spAutoFit/>
          </a:bodyPr>
          <a:lstStyle/>
          <a:p>
            <a:pPr>
              <a:lnSpc>
                <a:spcPts val="2730"/>
              </a:lnSpc>
              <a:spcBef>
                <a:spcPts val="0"/>
              </a:spcBef>
              <a:spcAft>
                <a:spcPts val="0"/>
              </a:spcAft>
              <a:defRPr sz="2600" b="0">
                <a:solidFill>
                  <a:srgbClr val="182B3A"/>
                </a:solidFill>
                <a:latin typeface="Arial"/>
              </a:defRPr>
            </a:pPr>
            <a:r>
              <a:t>5.  −3 − (−8)</a:t>
            </a:r>
          </a:p>
        </p:txBody>
      </p:sp>
      <p:sp>
        <p:nvSpPr>
          <p:cNvPr id="41" name="Rectangle 40"/>
          <p:cNvSpPr/>
          <p:nvPr/>
        </p:nvSpPr>
        <p:spPr>
          <a:xfrm>
            <a:off x="9646920" y="5605272"/>
            <a:ext cx="4640580" cy="1005840"/>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9738360" y="5843016"/>
            <a:ext cx="4453128" cy="548640"/>
          </a:xfrm>
          <a:prstGeom prst="rect">
            <a:avLst/>
          </a:prstGeom>
          <a:noFill/>
        </p:spPr>
        <p:txBody>
          <a:bodyPr wrap="square" lIns="54864" rIns="54864" tIns="22860" bIns="22860">
            <a:spAutoFit/>
          </a:bodyPr>
          <a:lstStyle/>
          <a:p>
            <a:pPr>
              <a:lnSpc>
                <a:spcPts val="2730"/>
              </a:lnSpc>
              <a:spcBef>
                <a:spcPts val="0"/>
              </a:spcBef>
              <a:spcAft>
                <a:spcPts val="0"/>
              </a:spcAft>
              <a:defRPr sz="2600" b="0">
                <a:solidFill>
                  <a:srgbClr val="182B3A"/>
                </a:solidFill>
                <a:latin typeface="Arial"/>
              </a:defRPr>
            </a:pPr>
            <a:r>
              <a:t>5.  −9 + 5 − (−7)</a:t>
            </a:r>
          </a:p>
        </p:txBody>
      </p:sp>
      <p:sp>
        <p:nvSpPr>
          <p:cNvPr id="43" name="Rectangle 42"/>
          <p:cNvSpPr/>
          <p:nvPr/>
        </p:nvSpPr>
        <p:spPr>
          <a:xfrm>
            <a:off x="320040" y="6611112"/>
            <a:ext cx="4640580" cy="1005840"/>
          </a:xfrm>
          <a:prstGeom prst="rect">
            <a:avLst/>
          </a:prstGeom>
          <a:solidFill>
            <a:srgbClr val="EDF6F5"/>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411479" y="6848856"/>
            <a:ext cx="4453128" cy="548640"/>
          </a:xfrm>
          <a:prstGeom prst="rect">
            <a:avLst/>
          </a:prstGeom>
          <a:noFill/>
        </p:spPr>
        <p:txBody>
          <a:bodyPr wrap="square" lIns="54864" rIns="54864" tIns="22860" bIns="22860">
            <a:spAutoFit/>
          </a:bodyPr>
          <a:lstStyle/>
          <a:p>
            <a:pPr>
              <a:lnSpc>
                <a:spcPts val="2730"/>
              </a:lnSpc>
              <a:spcBef>
                <a:spcPts val="0"/>
              </a:spcBef>
              <a:spcAft>
                <a:spcPts val="0"/>
              </a:spcAft>
              <a:defRPr sz="2600" b="0">
                <a:solidFill>
                  <a:srgbClr val="182B3A"/>
                </a:solidFill>
                <a:latin typeface="Arial"/>
              </a:defRPr>
            </a:pPr>
            <a:r>
              <a:t>6.  5 − 12</a:t>
            </a:r>
          </a:p>
        </p:txBody>
      </p:sp>
      <p:sp>
        <p:nvSpPr>
          <p:cNvPr id="45" name="Rectangle 44"/>
          <p:cNvSpPr/>
          <p:nvPr/>
        </p:nvSpPr>
        <p:spPr>
          <a:xfrm>
            <a:off x="4983480" y="6611112"/>
            <a:ext cx="4640580" cy="1005840"/>
          </a:xfrm>
          <a:prstGeom prst="rect">
            <a:avLst/>
          </a:prstGeom>
          <a:solidFill>
            <a:srgbClr val="EFF3FA"/>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5074920" y="6848856"/>
            <a:ext cx="4453128" cy="548640"/>
          </a:xfrm>
          <a:prstGeom prst="rect">
            <a:avLst/>
          </a:prstGeom>
          <a:noFill/>
        </p:spPr>
        <p:txBody>
          <a:bodyPr wrap="square" lIns="54864" rIns="54864" tIns="22860" bIns="22860">
            <a:spAutoFit/>
          </a:bodyPr>
          <a:lstStyle/>
          <a:p>
            <a:pPr>
              <a:lnSpc>
                <a:spcPts val="2730"/>
              </a:lnSpc>
              <a:spcBef>
                <a:spcPts val="0"/>
              </a:spcBef>
              <a:spcAft>
                <a:spcPts val="0"/>
              </a:spcAft>
              <a:defRPr sz="2600" b="0">
                <a:solidFill>
                  <a:srgbClr val="182B3A"/>
                </a:solidFill>
                <a:latin typeface="Arial"/>
              </a:defRPr>
            </a:pPr>
            <a:r>
              <a:t>6.  −10 − (−6)</a:t>
            </a:r>
          </a:p>
        </p:txBody>
      </p:sp>
      <p:sp>
        <p:nvSpPr>
          <p:cNvPr id="47" name="Rectangle 46"/>
          <p:cNvSpPr/>
          <p:nvPr/>
        </p:nvSpPr>
        <p:spPr>
          <a:xfrm>
            <a:off x="9646920" y="6611112"/>
            <a:ext cx="4640580" cy="1005840"/>
          </a:xfrm>
          <a:prstGeom prst="rect">
            <a:avLst/>
          </a:prstGeom>
          <a:solidFill>
            <a:srgbClr val="F5F0F7"/>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TextBox 47"/>
          <p:cNvSpPr txBox="1"/>
          <p:nvPr/>
        </p:nvSpPr>
        <p:spPr>
          <a:xfrm>
            <a:off x="9738360" y="6848856"/>
            <a:ext cx="4453128" cy="548640"/>
          </a:xfrm>
          <a:prstGeom prst="rect">
            <a:avLst/>
          </a:prstGeom>
          <a:noFill/>
        </p:spPr>
        <p:txBody>
          <a:bodyPr wrap="square" lIns="54864" rIns="54864" tIns="22860" bIns="22860">
            <a:spAutoFit/>
          </a:bodyPr>
          <a:lstStyle/>
          <a:p>
            <a:pPr>
              <a:lnSpc>
                <a:spcPts val="2730"/>
              </a:lnSpc>
              <a:spcBef>
                <a:spcPts val="0"/>
              </a:spcBef>
              <a:spcAft>
                <a:spcPts val="0"/>
              </a:spcAft>
              <a:defRPr sz="2600" b="0">
                <a:solidFill>
                  <a:srgbClr val="182B3A"/>
                </a:solidFill>
                <a:latin typeface="Arial"/>
              </a:defRPr>
            </a:pPr>
            <a:r>
              <a:t>6.  5 + (−12) + 3</a:t>
            </a:r>
          </a:p>
        </p:txBody>
      </p:sp>
      <p:sp>
        <p:nvSpPr>
          <p:cNvPr id="49" name="Progression curved arrow: Thread 1 to Thread 2"/>
          <p:cNvSpPr/>
          <p:nvPr/>
        </p:nvSpPr>
        <p:spPr>
          <a:xfrm>
            <a:off x="4649723" y="7552294"/>
            <a:ext cx="621792" cy="314053"/>
          </a:xfrm>
          <a:custGeom>
            <a:avLst/>
            <a:gdLst/>
            <a:ahLst/>
            <a:cxnLst/>
            <a:rect l="0" t="0" r="100000" b="100000"/>
            <a:pathLst>
              <a:path w="100000" h="100000" fill="none">
                <a:moveTo>
                  <a:pt x="6970" y="48439"/>
                </a:moveTo>
                <a:cubicBezTo>
                  <a:pt x="40678" y="114499"/>
                  <a:pt x="73026" y="88145"/>
                  <a:pt x="93030" y="13799"/>
                </a:cubicBezTo>
              </a:path>
              <a:path w="100000" h="100000" fill="none">
                <a:moveTo>
                  <a:pt x="69018" y="40431"/>
                </a:moveTo>
                <a:lnTo>
                  <a:pt x="93030" y="13799"/>
                </a:lnTo>
                <a:lnTo>
                  <a:pt x="92217" y="66207"/>
                </a:lnTo>
              </a:path>
            </a:pathLst>
          </a:custGeom>
          <a:noFill/>
          <a:ln w="64449" cap="rnd">
            <a:solidFill>
              <a:schemeClr val="accent6">
                <a:lumMod val="60000"/>
                <a:lumOff val="40000"/>
              </a:schemeClr>
            </a:solidFill>
            <a:round/>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0" name="Progression curved arrow: Thread 2 to Thread 3"/>
          <p:cNvSpPr/>
          <p:nvPr/>
        </p:nvSpPr>
        <p:spPr>
          <a:xfrm>
            <a:off x="9265327" y="7543800"/>
            <a:ext cx="621792" cy="314053"/>
          </a:xfrm>
          <a:custGeom>
            <a:avLst/>
            <a:gdLst/>
            <a:ahLst/>
            <a:cxnLst/>
            <a:rect l="0" t="0" r="100000" b="100000"/>
            <a:pathLst>
              <a:path w="100000" h="100000" fill="none">
                <a:moveTo>
                  <a:pt x="6970" y="48439"/>
                </a:moveTo>
                <a:cubicBezTo>
                  <a:pt x="40678" y="114499"/>
                  <a:pt x="73026" y="88145"/>
                  <a:pt x="93030" y="13799"/>
                </a:cubicBezTo>
              </a:path>
              <a:path w="100000" h="100000" fill="none">
                <a:moveTo>
                  <a:pt x="69018" y="40431"/>
                </a:moveTo>
                <a:lnTo>
                  <a:pt x="93030" y="13799"/>
                </a:lnTo>
                <a:lnTo>
                  <a:pt x="92217" y="66207"/>
                </a:lnTo>
              </a:path>
            </a:pathLst>
          </a:custGeom>
          <a:noFill/>
          <a:ln w="64449" cap="rnd">
            <a:solidFill>
              <a:schemeClr val="accent6">
                <a:lumMod val="60000"/>
                <a:lumOff val="40000"/>
              </a:schemeClr>
            </a:solidFill>
            <a:round/>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bg>
      <p:bgPr>
        <a:solidFill>
          <a:srgbClr val="F7F8FA"/>
        </a:solidFill>
        <a:effectLst/>
      </p:bgPr>
    </p:bg>
    <p:spTree>
      <p:nvGrpSpPr>
        <p:cNvPr id="1" name=""/>
        <p:cNvGrpSpPr/>
        <p:nvPr/>
      </p:nvGrpSpPr>
      <p:grpSpPr/>
      <p:sp>
        <p:nvSpPr>
          <p:cNvPr id="2" name="Rectangle 1"/>
          <p:cNvSpPr/>
          <p:nvPr/>
        </p:nvSpPr>
        <p:spPr>
          <a:xfrm>
            <a:off x="0" y="0"/>
            <a:ext cx="14630400" cy="73152"/>
          </a:xfrm>
          <a:prstGeom prst="rect">
            <a:avLst/>
          </a:prstGeom>
          <a:solidFill>
            <a:srgbClr val="176B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20040" y="164592"/>
            <a:ext cx="13990320" cy="457200"/>
          </a:xfrm>
          <a:prstGeom prst="rect">
            <a:avLst/>
          </a:prstGeom>
          <a:noFill/>
        </p:spPr>
        <p:txBody>
          <a:bodyPr wrap="square" lIns="54864" rIns="54864" tIns="22860" bIns="22860">
            <a:spAutoFit/>
          </a:bodyPr>
          <a:lstStyle/>
          <a:p>
            <a:pPr>
              <a:lnSpc>
                <a:spcPts val="2940"/>
              </a:lnSpc>
              <a:spcBef>
                <a:spcPts val="0"/>
              </a:spcBef>
              <a:spcAft>
                <a:spcPts val="0"/>
              </a:spcAft>
              <a:defRPr sz="2800" b="1">
                <a:solidFill>
                  <a:srgbClr val="182B3A"/>
                </a:solidFill>
                <a:latin typeface="Arial"/>
              </a:defRPr>
            </a:pPr>
            <a:r>
              <a:t>Signed numbers: addition and subtraction</a:t>
            </a:r>
          </a:p>
        </p:txBody>
      </p:sp>
      <p:sp>
        <p:nvSpPr>
          <p:cNvPr id="4" name="TextBox 3"/>
          <p:cNvSpPr txBox="1"/>
          <p:nvPr/>
        </p:nvSpPr>
        <p:spPr>
          <a:xfrm>
            <a:off x="320040" y="704088"/>
            <a:ext cx="13990320" cy="347472"/>
          </a:xfrm>
          <a:prstGeom prst="rect">
            <a:avLst/>
          </a:prstGeom>
          <a:noFill/>
        </p:spPr>
        <p:txBody>
          <a:bodyPr wrap="square" lIns="54864" rIns="54864" tIns="22860" bIns="22860">
            <a:spAutoFit/>
          </a:bodyPr>
          <a:lstStyle/>
          <a:p>
            <a:pPr>
              <a:lnSpc>
                <a:spcPts val="1575"/>
              </a:lnSpc>
              <a:spcBef>
                <a:spcPts val="0"/>
              </a:spcBef>
              <a:spcAft>
                <a:spcPts val="0"/>
              </a:spcAft>
              <a:defRPr sz="1500" b="0">
                <a:solidFill>
                  <a:srgbClr val="526472"/>
                </a:solidFill>
                <a:latin typeface="Arial"/>
              </a:defRPr>
            </a:pPr>
            <a:r>
              <a:t>Independent practice 3 • Choose a column. Show your working and check your answers.</a:t>
            </a:r>
          </a:p>
        </p:txBody>
      </p:sp>
      <p:sp>
        <p:nvSpPr>
          <p:cNvPr id="5" name="TextBox 4"/>
          <p:cNvSpPr txBox="1"/>
          <p:nvPr/>
        </p:nvSpPr>
        <p:spPr>
          <a:xfrm>
            <a:off x="320040" y="7973568"/>
            <a:ext cx="10789920" cy="210312"/>
          </a:xfrm>
          <a:prstGeom prst="rect">
            <a:avLst/>
          </a:prstGeom>
          <a:noFill/>
        </p:spPr>
        <p:txBody>
          <a:bodyPr wrap="square" lIns="54864" rIns="54864" tIns="22860" bIns="22860">
            <a:spAutoFit/>
          </a:bodyPr>
          <a:lstStyle/>
          <a:p>
            <a:pPr>
              <a:lnSpc>
                <a:spcPts val="1155"/>
              </a:lnSpc>
              <a:spcBef>
                <a:spcPts val="0"/>
              </a:spcBef>
              <a:spcAft>
                <a:spcPts val="0"/>
              </a:spcAft>
              <a:defRPr sz="1100" b="0">
                <a:solidFill>
                  <a:srgbClr val="526472"/>
                </a:solidFill>
                <a:latin typeface="Arial"/>
              </a:defRPr>
            </a:pPr>
            <a:r>
              <a:t>GCSE Maths revision • No calculator • Show your working.</a:t>
            </a:r>
          </a:p>
        </p:txBody>
      </p:sp>
      <p:sp>
        <p:nvSpPr>
          <p:cNvPr id="6" name="TextBox 5"/>
          <p:cNvSpPr txBox="1"/>
          <p:nvPr/>
        </p:nvSpPr>
        <p:spPr>
          <a:xfrm>
            <a:off x="11155680" y="7973568"/>
            <a:ext cx="3108960" cy="210312"/>
          </a:xfrm>
          <a:prstGeom prst="rect">
            <a:avLst/>
          </a:prstGeom>
          <a:noFill/>
        </p:spPr>
        <p:txBody>
          <a:bodyPr wrap="square" lIns="54864" rIns="54864" tIns="22860" bIns="22860">
            <a:spAutoFit/>
          </a:bodyPr>
          <a:lstStyle/>
          <a:p>
            <a:pPr>
              <a:lnSpc>
                <a:spcPts val="1155"/>
              </a:lnSpc>
              <a:spcBef>
                <a:spcPts val="0"/>
              </a:spcBef>
              <a:spcAft>
                <a:spcPts val="0"/>
              </a:spcAft>
              <a:defRPr sz="1100" b="0">
                <a:solidFill>
                  <a:srgbClr val="526472"/>
                </a:solidFill>
                <a:latin typeface="Arial"/>
              </a:defRPr>
            </a:pPr>
            <a:r>
              <a:t>M13-S06</a:t>
            </a:r>
          </a:p>
        </p:txBody>
      </p:sp>
      <p:sp>
        <p:nvSpPr>
          <p:cNvPr id="7" name="Rectangle 6"/>
          <p:cNvSpPr/>
          <p:nvPr/>
        </p:nvSpPr>
        <p:spPr>
          <a:xfrm>
            <a:off x="320040" y="1115568"/>
            <a:ext cx="4640580" cy="420624"/>
          </a:xfrm>
          <a:prstGeom prst="rect">
            <a:avLst/>
          </a:prstGeom>
          <a:solidFill>
            <a:srgbClr val="176B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347472" y="1147572"/>
            <a:ext cx="4581144" cy="329184"/>
          </a:xfrm>
          <a:prstGeom prst="rect">
            <a:avLst/>
          </a:prstGeom>
          <a:noFill/>
        </p:spPr>
        <p:txBody>
          <a:bodyPr wrap="square" lIns="54864" rIns="54864" tIns="22860" bIns="22860">
            <a:spAutoFit/>
          </a:bodyPr>
          <a:lstStyle/>
          <a:p>
            <a:pPr>
              <a:lnSpc>
                <a:spcPts val="1995"/>
              </a:lnSpc>
              <a:spcBef>
                <a:spcPts val="0"/>
              </a:spcBef>
              <a:spcAft>
                <a:spcPts val="0"/>
              </a:spcAft>
              <a:defRPr sz="1900" b="1">
                <a:solidFill>
                  <a:srgbClr val="FFFFFF"/>
                </a:solidFill>
                <a:latin typeface="Arial"/>
              </a:defRPr>
            </a:pPr>
            <a:r>
              <a:t>Start</a:t>
            </a:r>
          </a:p>
        </p:txBody>
      </p:sp>
      <p:sp>
        <p:nvSpPr>
          <p:cNvPr id="9" name="Rectangle 8"/>
          <p:cNvSpPr/>
          <p:nvPr/>
        </p:nvSpPr>
        <p:spPr>
          <a:xfrm>
            <a:off x="4983480" y="1115568"/>
            <a:ext cx="4640580" cy="420624"/>
          </a:xfrm>
          <a:prstGeom prst="rect">
            <a:avLst/>
          </a:prstGeom>
          <a:solidFill>
            <a:srgbClr val="3559A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010912" y="1147572"/>
            <a:ext cx="4581144" cy="329184"/>
          </a:xfrm>
          <a:prstGeom prst="rect">
            <a:avLst/>
          </a:prstGeom>
          <a:noFill/>
        </p:spPr>
        <p:txBody>
          <a:bodyPr wrap="square" lIns="54864" rIns="54864" tIns="22860" bIns="22860">
            <a:spAutoFit/>
          </a:bodyPr>
          <a:lstStyle/>
          <a:p>
            <a:pPr>
              <a:lnSpc>
                <a:spcPts val="1995"/>
              </a:lnSpc>
              <a:spcBef>
                <a:spcPts val="0"/>
              </a:spcBef>
              <a:spcAft>
                <a:spcPts val="0"/>
              </a:spcAft>
              <a:defRPr sz="1900" b="1">
                <a:solidFill>
                  <a:srgbClr val="FFFFFF"/>
                </a:solidFill>
                <a:latin typeface="Arial"/>
              </a:defRPr>
            </a:pPr>
            <a:r>
              <a:t>Build</a:t>
            </a:r>
          </a:p>
        </p:txBody>
      </p:sp>
      <p:sp>
        <p:nvSpPr>
          <p:cNvPr id="11" name="Rectangle 10"/>
          <p:cNvSpPr/>
          <p:nvPr/>
        </p:nvSpPr>
        <p:spPr>
          <a:xfrm>
            <a:off x="9646920" y="1115568"/>
            <a:ext cx="4640580" cy="420624"/>
          </a:xfrm>
          <a:prstGeom prst="rect">
            <a:avLst/>
          </a:prstGeom>
          <a:solidFill>
            <a:srgbClr val="754B8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9674352" y="1147572"/>
            <a:ext cx="4581144" cy="329184"/>
          </a:xfrm>
          <a:prstGeom prst="rect">
            <a:avLst/>
          </a:prstGeom>
          <a:noFill/>
        </p:spPr>
        <p:txBody>
          <a:bodyPr wrap="square" lIns="54864" rIns="54864" tIns="22860" bIns="22860">
            <a:spAutoFit/>
          </a:bodyPr>
          <a:lstStyle/>
          <a:p>
            <a:pPr>
              <a:lnSpc>
                <a:spcPts val="1995"/>
              </a:lnSpc>
              <a:spcBef>
                <a:spcPts val="0"/>
              </a:spcBef>
              <a:spcAft>
                <a:spcPts val="0"/>
              </a:spcAft>
              <a:defRPr sz="1900" b="1">
                <a:solidFill>
                  <a:srgbClr val="FFFFFF"/>
                </a:solidFill>
                <a:latin typeface="Arial"/>
              </a:defRPr>
            </a:pPr>
            <a:r>
              <a:t>Confidence</a:t>
            </a:r>
          </a:p>
        </p:txBody>
      </p:sp>
      <p:sp>
        <p:nvSpPr>
          <p:cNvPr id="13" name="Rectangle 12"/>
          <p:cNvSpPr/>
          <p:nvPr/>
        </p:nvSpPr>
        <p:spPr>
          <a:xfrm>
            <a:off x="320040" y="1581912"/>
            <a:ext cx="4640580" cy="1005840"/>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11479" y="1819656"/>
            <a:ext cx="4453128" cy="548640"/>
          </a:xfrm>
          <a:prstGeom prst="rect">
            <a:avLst/>
          </a:prstGeom>
          <a:noFill/>
        </p:spPr>
        <p:txBody>
          <a:bodyPr wrap="square" lIns="54864" rIns="54864" tIns="22860" bIns="22860">
            <a:spAutoFit/>
          </a:bodyPr>
          <a:lstStyle/>
          <a:p>
            <a:pPr>
              <a:lnSpc>
                <a:spcPts val="2730"/>
              </a:lnSpc>
              <a:spcBef>
                <a:spcPts val="0"/>
              </a:spcBef>
              <a:spcAft>
                <a:spcPts val="0"/>
              </a:spcAft>
              <a:defRPr sz="2600" b="0">
                <a:solidFill>
                  <a:srgbClr val="182B3A"/>
                </a:solidFill>
                <a:latin typeface="Arial"/>
              </a:defRPr>
            </a:pPr>
            <a:r>
              <a:t>1.  −8 + 12</a:t>
            </a:r>
          </a:p>
        </p:txBody>
      </p:sp>
      <p:sp>
        <p:nvSpPr>
          <p:cNvPr id="15" name="Rectangle 14"/>
          <p:cNvSpPr/>
          <p:nvPr/>
        </p:nvSpPr>
        <p:spPr>
          <a:xfrm>
            <a:off x="4983480" y="1581912"/>
            <a:ext cx="4640580" cy="1005840"/>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5074920" y="1819656"/>
            <a:ext cx="4453128" cy="548640"/>
          </a:xfrm>
          <a:prstGeom prst="rect">
            <a:avLst/>
          </a:prstGeom>
          <a:noFill/>
        </p:spPr>
        <p:txBody>
          <a:bodyPr wrap="square" lIns="54864" rIns="54864" tIns="22860" bIns="22860">
            <a:spAutoFit/>
          </a:bodyPr>
          <a:lstStyle/>
          <a:p>
            <a:pPr>
              <a:lnSpc>
                <a:spcPts val="2730"/>
              </a:lnSpc>
              <a:spcBef>
                <a:spcPts val="0"/>
              </a:spcBef>
              <a:spcAft>
                <a:spcPts val="0"/>
              </a:spcAft>
              <a:defRPr sz="2600" b="0">
                <a:solidFill>
                  <a:srgbClr val="182B3A"/>
                </a:solidFill>
                <a:latin typeface="Arial"/>
              </a:defRPr>
            </a:pPr>
            <a:r>
              <a:t>1.  −9 + (−2)</a:t>
            </a:r>
          </a:p>
        </p:txBody>
      </p:sp>
      <p:sp>
        <p:nvSpPr>
          <p:cNvPr id="17" name="Rectangle 16"/>
          <p:cNvSpPr/>
          <p:nvPr/>
        </p:nvSpPr>
        <p:spPr>
          <a:xfrm>
            <a:off x="9646920" y="1581912"/>
            <a:ext cx="4640580" cy="1005840"/>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9738360" y="1819656"/>
            <a:ext cx="4453128" cy="548640"/>
          </a:xfrm>
          <a:prstGeom prst="rect">
            <a:avLst/>
          </a:prstGeom>
          <a:noFill/>
        </p:spPr>
        <p:txBody>
          <a:bodyPr wrap="square" lIns="54864" rIns="54864" tIns="22860" bIns="22860">
            <a:spAutoFit/>
          </a:bodyPr>
          <a:lstStyle/>
          <a:p>
            <a:pPr>
              <a:lnSpc>
                <a:spcPts val="2730"/>
              </a:lnSpc>
              <a:spcBef>
                <a:spcPts val="0"/>
              </a:spcBef>
              <a:spcAft>
                <a:spcPts val="0"/>
              </a:spcAft>
              <a:defRPr sz="2600" b="0">
                <a:solidFill>
                  <a:srgbClr val="182B3A"/>
                </a:solidFill>
                <a:latin typeface="Arial"/>
              </a:defRPr>
            </a:pPr>
            <a:r>
              <a:t>1.  10 − 14 + (−2)</a:t>
            </a:r>
          </a:p>
        </p:txBody>
      </p:sp>
      <p:sp>
        <p:nvSpPr>
          <p:cNvPr id="19" name="Rectangle 18"/>
          <p:cNvSpPr/>
          <p:nvPr/>
        </p:nvSpPr>
        <p:spPr>
          <a:xfrm>
            <a:off x="320040" y="2587752"/>
            <a:ext cx="4640580" cy="1005840"/>
          </a:xfrm>
          <a:prstGeom prst="rect">
            <a:avLst/>
          </a:prstGeom>
          <a:solidFill>
            <a:srgbClr val="EDF6F5"/>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411479" y="2825496"/>
            <a:ext cx="4453128" cy="548640"/>
          </a:xfrm>
          <a:prstGeom prst="rect">
            <a:avLst/>
          </a:prstGeom>
          <a:noFill/>
        </p:spPr>
        <p:txBody>
          <a:bodyPr wrap="square" lIns="54864" rIns="54864" tIns="22860" bIns="22860">
            <a:spAutoFit/>
          </a:bodyPr>
          <a:lstStyle/>
          <a:p>
            <a:pPr>
              <a:lnSpc>
                <a:spcPts val="2730"/>
              </a:lnSpc>
              <a:spcBef>
                <a:spcPts val="0"/>
              </a:spcBef>
              <a:spcAft>
                <a:spcPts val="0"/>
              </a:spcAft>
              <a:defRPr sz="2600" b="0">
                <a:solidFill>
                  <a:srgbClr val="182B3A"/>
                </a:solidFill>
                <a:latin typeface="Arial"/>
              </a:defRPr>
            </a:pPr>
            <a:r>
              <a:t>2.  −5 − 4</a:t>
            </a:r>
          </a:p>
        </p:txBody>
      </p:sp>
      <p:sp>
        <p:nvSpPr>
          <p:cNvPr id="21" name="Rectangle 20"/>
          <p:cNvSpPr/>
          <p:nvPr/>
        </p:nvSpPr>
        <p:spPr>
          <a:xfrm>
            <a:off x="4983480" y="2587752"/>
            <a:ext cx="4640580" cy="1005840"/>
          </a:xfrm>
          <a:prstGeom prst="rect">
            <a:avLst/>
          </a:prstGeom>
          <a:solidFill>
            <a:srgbClr val="EFF3FA"/>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5074920" y="2825496"/>
            <a:ext cx="4453128" cy="548640"/>
          </a:xfrm>
          <a:prstGeom prst="rect">
            <a:avLst/>
          </a:prstGeom>
          <a:noFill/>
        </p:spPr>
        <p:txBody>
          <a:bodyPr wrap="square" lIns="54864" rIns="54864" tIns="22860" bIns="22860">
            <a:spAutoFit/>
          </a:bodyPr>
          <a:lstStyle/>
          <a:p>
            <a:pPr>
              <a:lnSpc>
                <a:spcPts val="2730"/>
              </a:lnSpc>
              <a:spcBef>
                <a:spcPts val="0"/>
              </a:spcBef>
              <a:spcAft>
                <a:spcPts val="0"/>
              </a:spcAft>
              <a:defRPr sz="2600" b="0">
                <a:solidFill>
                  <a:srgbClr val="182B3A"/>
                </a:solidFill>
                <a:latin typeface="Arial"/>
              </a:defRPr>
            </a:pPr>
            <a:r>
              <a:t>2.  8 − (−5)</a:t>
            </a:r>
          </a:p>
        </p:txBody>
      </p:sp>
      <p:sp>
        <p:nvSpPr>
          <p:cNvPr id="23" name="Rectangle 22"/>
          <p:cNvSpPr/>
          <p:nvPr/>
        </p:nvSpPr>
        <p:spPr>
          <a:xfrm>
            <a:off x="9646920" y="2587752"/>
            <a:ext cx="4640580" cy="1005840"/>
          </a:xfrm>
          <a:prstGeom prst="rect">
            <a:avLst/>
          </a:prstGeom>
          <a:solidFill>
            <a:srgbClr val="F5F0F7"/>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9738360" y="2825496"/>
            <a:ext cx="4453128" cy="548640"/>
          </a:xfrm>
          <a:prstGeom prst="rect">
            <a:avLst/>
          </a:prstGeom>
          <a:noFill/>
        </p:spPr>
        <p:txBody>
          <a:bodyPr wrap="square" lIns="54864" rIns="54864" tIns="22860" bIns="22860">
            <a:spAutoFit/>
          </a:bodyPr>
          <a:lstStyle/>
          <a:p>
            <a:pPr>
              <a:lnSpc>
                <a:spcPts val="2730"/>
              </a:lnSpc>
              <a:spcBef>
                <a:spcPts val="0"/>
              </a:spcBef>
              <a:spcAft>
                <a:spcPts val="0"/>
              </a:spcAft>
              <a:defRPr sz="2600" b="0">
                <a:solidFill>
                  <a:srgbClr val="182B3A"/>
                </a:solidFill>
                <a:latin typeface="Arial"/>
              </a:defRPr>
            </a:pPr>
            <a:r>
              <a:t>2.  6 + (−9) − (−3)</a:t>
            </a:r>
          </a:p>
        </p:txBody>
      </p:sp>
      <p:sp>
        <p:nvSpPr>
          <p:cNvPr id="25" name="Rectangle 24"/>
          <p:cNvSpPr/>
          <p:nvPr/>
        </p:nvSpPr>
        <p:spPr>
          <a:xfrm>
            <a:off x="320040" y="3593592"/>
            <a:ext cx="4640580" cy="1005840"/>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411479" y="3831336"/>
            <a:ext cx="4453128" cy="548640"/>
          </a:xfrm>
          <a:prstGeom prst="rect">
            <a:avLst/>
          </a:prstGeom>
          <a:noFill/>
        </p:spPr>
        <p:txBody>
          <a:bodyPr wrap="square" lIns="54864" rIns="54864" tIns="22860" bIns="22860">
            <a:spAutoFit/>
          </a:bodyPr>
          <a:lstStyle/>
          <a:p>
            <a:pPr>
              <a:lnSpc>
                <a:spcPts val="2730"/>
              </a:lnSpc>
              <a:spcBef>
                <a:spcPts val="0"/>
              </a:spcBef>
              <a:spcAft>
                <a:spcPts val="0"/>
              </a:spcAft>
              <a:defRPr sz="2600" b="0">
                <a:solidFill>
                  <a:srgbClr val="182B3A"/>
                </a:solidFill>
                <a:latin typeface="Arial"/>
              </a:defRPr>
            </a:pPr>
            <a:r>
              <a:t>3.  −10 + 6</a:t>
            </a:r>
          </a:p>
        </p:txBody>
      </p:sp>
      <p:sp>
        <p:nvSpPr>
          <p:cNvPr id="27" name="Rectangle 26"/>
          <p:cNvSpPr/>
          <p:nvPr/>
        </p:nvSpPr>
        <p:spPr>
          <a:xfrm>
            <a:off x="4983480" y="3593592"/>
            <a:ext cx="4640580" cy="1005840"/>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5074920" y="3831336"/>
            <a:ext cx="4453128" cy="548640"/>
          </a:xfrm>
          <a:prstGeom prst="rect">
            <a:avLst/>
          </a:prstGeom>
          <a:noFill/>
        </p:spPr>
        <p:txBody>
          <a:bodyPr wrap="square" lIns="54864" rIns="54864" tIns="22860" bIns="22860">
            <a:spAutoFit/>
          </a:bodyPr>
          <a:lstStyle/>
          <a:p>
            <a:pPr>
              <a:lnSpc>
                <a:spcPts val="2730"/>
              </a:lnSpc>
              <a:spcBef>
                <a:spcPts val="0"/>
              </a:spcBef>
              <a:spcAft>
                <a:spcPts val="0"/>
              </a:spcAft>
              <a:defRPr sz="2600" b="0">
                <a:solidFill>
                  <a:srgbClr val="182B3A"/>
                </a:solidFill>
                <a:latin typeface="Arial"/>
              </a:defRPr>
            </a:pPr>
            <a:r>
              <a:t>3.  −7 − (−4)</a:t>
            </a:r>
          </a:p>
        </p:txBody>
      </p:sp>
      <p:sp>
        <p:nvSpPr>
          <p:cNvPr id="29" name="Rectangle 28"/>
          <p:cNvSpPr/>
          <p:nvPr/>
        </p:nvSpPr>
        <p:spPr>
          <a:xfrm>
            <a:off x="9646920" y="3593592"/>
            <a:ext cx="4640580" cy="1005840"/>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9738360" y="3831336"/>
            <a:ext cx="4453128" cy="548640"/>
          </a:xfrm>
          <a:prstGeom prst="rect">
            <a:avLst/>
          </a:prstGeom>
          <a:noFill/>
        </p:spPr>
        <p:txBody>
          <a:bodyPr wrap="square" lIns="54864" rIns="54864" tIns="22860" bIns="22860">
            <a:spAutoFit/>
          </a:bodyPr>
          <a:lstStyle/>
          <a:p>
            <a:pPr>
              <a:lnSpc>
                <a:spcPts val="2730"/>
              </a:lnSpc>
              <a:spcBef>
                <a:spcPts val="0"/>
              </a:spcBef>
              <a:spcAft>
                <a:spcPts val="0"/>
              </a:spcAft>
              <a:defRPr sz="2600" b="0">
                <a:solidFill>
                  <a:srgbClr val="182B3A"/>
                </a:solidFill>
                <a:latin typeface="Arial"/>
              </a:defRPr>
            </a:pPr>
            <a:r>
              <a:t>3.  −2 − (−8) + 5</a:t>
            </a:r>
          </a:p>
        </p:txBody>
      </p:sp>
      <p:sp>
        <p:nvSpPr>
          <p:cNvPr id="31" name="Rectangle 30"/>
          <p:cNvSpPr/>
          <p:nvPr/>
        </p:nvSpPr>
        <p:spPr>
          <a:xfrm>
            <a:off x="320040" y="4599432"/>
            <a:ext cx="4640580" cy="1005840"/>
          </a:xfrm>
          <a:prstGeom prst="rect">
            <a:avLst/>
          </a:prstGeom>
          <a:solidFill>
            <a:srgbClr val="EDF6F5"/>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411479" y="4837176"/>
            <a:ext cx="4453128" cy="548640"/>
          </a:xfrm>
          <a:prstGeom prst="rect">
            <a:avLst/>
          </a:prstGeom>
          <a:noFill/>
        </p:spPr>
        <p:txBody>
          <a:bodyPr wrap="square" lIns="54864" rIns="54864" tIns="22860" bIns="22860">
            <a:spAutoFit/>
          </a:bodyPr>
          <a:lstStyle/>
          <a:p>
            <a:pPr>
              <a:lnSpc>
                <a:spcPts val="2730"/>
              </a:lnSpc>
              <a:spcBef>
                <a:spcPts val="0"/>
              </a:spcBef>
              <a:spcAft>
                <a:spcPts val="0"/>
              </a:spcAft>
              <a:defRPr sz="2600" b="0">
                <a:solidFill>
                  <a:srgbClr val="182B3A"/>
                </a:solidFill>
                <a:latin typeface="Arial"/>
              </a:defRPr>
            </a:pPr>
            <a:r>
              <a:t>4.  9 − 14</a:t>
            </a:r>
          </a:p>
        </p:txBody>
      </p:sp>
      <p:sp>
        <p:nvSpPr>
          <p:cNvPr id="33" name="Rectangle 32"/>
          <p:cNvSpPr/>
          <p:nvPr/>
        </p:nvSpPr>
        <p:spPr>
          <a:xfrm>
            <a:off x="4983480" y="4599432"/>
            <a:ext cx="4640580" cy="1005840"/>
          </a:xfrm>
          <a:prstGeom prst="rect">
            <a:avLst/>
          </a:prstGeom>
          <a:solidFill>
            <a:srgbClr val="EFF3FA"/>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5074920" y="4837176"/>
            <a:ext cx="4453128" cy="548640"/>
          </a:xfrm>
          <a:prstGeom prst="rect">
            <a:avLst/>
          </a:prstGeom>
          <a:noFill/>
        </p:spPr>
        <p:txBody>
          <a:bodyPr wrap="square" lIns="54864" rIns="54864" tIns="22860" bIns="22860">
            <a:spAutoFit/>
          </a:bodyPr>
          <a:lstStyle/>
          <a:p>
            <a:pPr>
              <a:lnSpc>
                <a:spcPts val="2730"/>
              </a:lnSpc>
              <a:spcBef>
                <a:spcPts val="0"/>
              </a:spcBef>
              <a:spcAft>
                <a:spcPts val="0"/>
              </a:spcAft>
              <a:defRPr sz="2600" b="0">
                <a:solidFill>
                  <a:srgbClr val="182B3A"/>
                </a:solidFill>
                <a:latin typeface="Arial"/>
              </a:defRPr>
            </a:pPr>
            <a:r>
              <a:t>4.  6 + (−11)</a:t>
            </a:r>
          </a:p>
        </p:txBody>
      </p:sp>
      <p:sp>
        <p:nvSpPr>
          <p:cNvPr id="35" name="Rectangle 34"/>
          <p:cNvSpPr/>
          <p:nvPr/>
        </p:nvSpPr>
        <p:spPr>
          <a:xfrm>
            <a:off x="9646920" y="4599432"/>
            <a:ext cx="4640580" cy="1005840"/>
          </a:xfrm>
          <a:prstGeom prst="rect">
            <a:avLst/>
          </a:prstGeom>
          <a:solidFill>
            <a:srgbClr val="F5F0F7"/>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9738360" y="4837176"/>
            <a:ext cx="4453128" cy="548640"/>
          </a:xfrm>
          <a:prstGeom prst="rect">
            <a:avLst/>
          </a:prstGeom>
          <a:noFill/>
        </p:spPr>
        <p:txBody>
          <a:bodyPr wrap="square" lIns="54864" rIns="54864" tIns="22860" bIns="22860">
            <a:spAutoFit/>
          </a:bodyPr>
          <a:lstStyle/>
          <a:p>
            <a:pPr>
              <a:lnSpc>
                <a:spcPts val="2730"/>
              </a:lnSpc>
              <a:spcBef>
                <a:spcPts val="0"/>
              </a:spcBef>
              <a:spcAft>
                <a:spcPts val="0"/>
              </a:spcAft>
              <a:defRPr sz="2600" b="0">
                <a:solidFill>
                  <a:srgbClr val="182B3A"/>
                </a:solidFill>
                <a:latin typeface="Arial"/>
              </a:defRPr>
            </a:pPr>
            <a:r>
              <a:t>4.  −3 + (−6) − (−4)</a:t>
            </a:r>
          </a:p>
        </p:txBody>
      </p:sp>
      <p:sp>
        <p:nvSpPr>
          <p:cNvPr id="37" name="Rectangle 36"/>
          <p:cNvSpPr/>
          <p:nvPr/>
        </p:nvSpPr>
        <p:spPr>
          <a:xfrm>
            <a:off x="320040" y="5605272"/>
            <a:ext cx="4640580" cy="1005840"/>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411479" y="5843016"/>
            <a:ext cx="4453128" cy="548640"/>
          </a:xfrm>
          <a:prstGeom prst="rect">
            <a:avLst/>
          </a:prstGeom>
          <a:noFill/>
        </p:spPr>
        <p:txBody>
          <a:bodyPr wrap="square" lIns="54864" rIns="54864" tIns="22860" bIns="22860">
            <a:spAutoFit/>
          </a:bodyPr>
          <a:lstStyle/>
          <a:p>
            <a:pPr>
              <a:lnSpc>
                <a:spcPts val="2730"/>
              </a:lnSpc>
              <a:spcBef>
                <a:spcPts val="0"/>
              </a:spcBef>
              <a:spcAft>
                <a:spcPts val="0"/>
              </a:spcAft>
              <a:defRPr sz="2600" b="0">
                <a:solidFill>
                  <a:srgbClr val="182B3A"/>
                </a:solidFill>
                <a:latin typeface="Arial"/>
              </a:defRPr>
            </a:pPr>
            <a:r>
              <a:t>5.  7 − 16</a:t>
            </a:r>
          </a:p>
        </p:txBody>
      </p:sp>
      <p:sp>
        <p:nvSpPr>
          <p:cNvPr id="39" name="Rectangle 38"/>
          <p:cNvSpPr/>
          <p:nvPr/>
        </p:nvSpPr>
        <p:spPr>
          <a:xfrm>
            <a:off x="4983480" y="5605272"/>
            <a:ext cx="4640580" cy="1005840"/>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5074920" y="5843016"/>
            <a:ext cx="4453128" cy="548640"/>
          </a:xfrm>
          <a:prstGeom prst="rect">
            <a:avLst/>
          </a:prstGeom>
          <a:noFill/>
        </p:spPr>
        <p:txBody>
          <a:bodyPr wrap="square" lIns="54864" rIns="54864" tIns="22860" bIns="22860">
            <a:spAutoFit/>
          </a:bodyPr>
          <a:lstStyle/>
          <a:p>
            <a:pPr>
              <a:lnSpc>
                <a:spcPts val="2730"/>
              </a:lnSpc>
              <a:spcBef>
                <a:spcPts val="0"/>
              </a:spcBef>
              <a:spcAft>
                <a:spcPts val="0"/>
              </a:spcAft>
              <a:defRPr sz="2600" b="0">
                <a:solidFill>
                  <a:srgbClr val="182B3A"/>
                </a:solidFill>
                <a:latin typeface="Arial"/>
              </a:defRPr>
            </a:pPr>
            <a:r>
              <a:t>5.  −4 − (−10)</a:t>
            </a:r>
          </a:p>
        </p:txBody>
      </p:sp>
      <p:sp>
        <p:nvSpPr>
          <p:cNvPr id="41" name="Rectangle 40"/>
          <p:cNvSpPr/>
          <p:nvPr/>
        </p:nvSpPr>
        <p:spPr>
          <a:xfrm>
            <a:off x="9646920" y="5605272"/>
            <a:ext cx="4640580" cy="1005840"/>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9738360" y="5843016"/>
            <a:ext cx="4453128" cy="548640"/>
          </a:xfrm>
          <a:prstGeom prst="rect">
            <a:avLst/>
          </a:prstGeom>
          <a:noFill/>
        </p:spPr>
        <p:txBody>
          <a:bodyPr wrap="square" lIns="54864" rIns="54864" tIns="22860" bIns="22860">
            <a:spAutoFit/>
          </a:bodyPr>
          <a:lstStyle/>
          <a:p>
            <a:pPr>
              <a:lnSpc>
                <a:spcPts val="2730"/>
              </a:lnSpc>
              <a:spcBef>
                <a:spcPts val="0"/>
              </a:spcBef>
              <a:spcAft>
                <a:spcPts val="0"/>
              </a:spcAft>
              <a:defRPr sz="2600" b="0">
                <a:solidFill>
                  <a:srgbClr val="182B3A"/>
                </a:solidFill>
                <a:latin typeface="Arial"/>
              </a:defRPr>
            </a:pPr>
            <a:r>
              <a:t>5.  9 − (−3) + (−7)</a:t>
            </a:r>
          </a:p>
        </p:txBody>
      </p:sp>
      <p:sp>
        <p:nvSpPr>
          <p:cNvPr id="43" name="Rectangle 42"/>
          <p:cNvSpPr/>
          <p:nvPr/>
        </p:nvSpPr>
        <p:spPr>
          <a:xfrm>
            <a:off x="320040" y="6611112"/>
            <a:ext cx="4640580" cy="1005840"/>
          </a:xfrm>
          <a:prstGeom prst="rect">
            <a:avLst/>
          </a:prstGeom>
          <a:solidFill>
            <a:srgbClr val="EDF6F5"/>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411479" y="6848856"/>
            <a:ext cx="4453128" cy="548640"/>
          </a:xfrm>
          <a:prstGeom prst="rect">
            <a:avLst/>
          </a:prstGeom>
          <a:noFill/>
        </p:spPr>
        <p:txBody>
          <a:bodyPr wrap="square" lIns="54864" rIns="54864" tIns="22860" bIns="22860">
            <a:spAutoFit/>
          </a:bodyPr>
          <a:lstStyle/>
          <a:p>
            <a:pPr>
              <a:lnSpc>
                <a:spcPts val="2730"/>
              </a:lnSpc>
              <a:spcBef>
                <a:spcPts val="0"/>
              </a:spcBef>
              <a:spcAft>
                <a:spcPts val="0"/>
              </a:spcAft>
              <a:defRPr sz="2600" b="0">
                <a:solidFill>
                  <a:srgbClr val="182B3A"/>
                </a:solidFill>
                <a:latin typeface="Arial"/>
              </a:defRPr>
            </a:pPr>
            <a:r>
              <a:t>6.  −12 + 12</a:t>
            </a:r>
          </a:p>
        </p:txBody>
      </p:sp>
      <p:sp>
        <p:nvSpPr>
          <p:cNvPr id="45" name="Rectangle 44"/>
          <p:cNvSpPr/>
          <p:nvPr/>
        </p:nvSpPr>
        <p:spPr>
          <a:xfrm>
            <a:off x="4983480" y="6611112"/>
            <a:ext cx="4640580" cy="1005840"/>
          </a:xfrm>
          <a:prstGeom prst="rect">
            <a:avLst/>
          </a:prstGeom>
          <a:solidFill>
            <a:srgbClr val="EFF3FA"/>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5074920" y="6848856"/>
            <a:ext cx="4453128" cy="548640"/>
          </a:xfrm>
          <a:prstGeom prst="rect">
            <a:avLst/>
          </a:prstGeom>
          <a:noFill/>
        </p:spPr>
        <p:txBody>
          <a:bodyPr wrap="square" lIns="54864" rIns="54864" tIns="22860" bIns="22860">
            <a:spAutoFit/>
          </a:bodyPr>
          <a:lstStyle/>
          <a:p>
            <a:pPr>
              <a:lnSpc>
                <a:spcPts val="2730"/>
              </a:lnSpc>
              <a:spcBef>
                <a:spcPts val="0"/>
              </a:spcBef>
              <a:spcAft>
                <a:spcPts val="0"/>
              </a:spcAft>
              <a:defRPr sz="2600" b="0">
                <a:solidFill>
                  <a:srgbClr val="182B3A"/>
                </a:solidFill>
                <a:latin typeface="Arial"/>
              </a:defRPr>
            </a:pPr>
            <a:r>
              <a:t>6.  −12 − (−7)</a:t>
            </a:r>
          </a:p>
        </p:txBody>
      </p:sp>
      <p:sp>
        <p:nvSpPr>
          <p:cNvPr id="47" name="Rectangle 46"/>
          <p:cNvSpPr/>
          <p:nvPr/>
        </p:nvSpPr>
        <p:spPr>
          <a:xfrm>
            <a:off x="9646920" y="6611112"/>
            <a:ext cx="4640580" cy="1005840"/>
          </a:xfrm>
          <a:prstGeom prst="rect">
            <a:avLst/>
          </a:prstGeom>
          <a:solidFill>
            <a:srgbClr val="F5F0F7"/>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TextBox 47"/>
          <p:cNvSpPr txBox="1"/>
          <p:nvPr/>
        </p:nvSpPr>
        <p:spPr>
          <a:xfrm>
            <a:off x="9738360" y="6848856"/>
            <a:ext cx="4453128" cy="548640"/>
          </a:xfrm>
          <a:prstGeom prst="rect">
            <a:avLst/>
          </a:prstGeom>
          <a:noFill/>
        </p:spPr>
        <p:txBody>
          <a:bodyPr wrap="square" lIns="54864" rIns="54864" tIns="22860" bIns="22860">
            <a:spAutoFit/>
          </a:bodyPr>
          <a:lstStyle/>
          <a:p>
            <a:pPr>
              <a:lnSpc>
                <a:spcPts val="2730"/>
              </a:lnSpc>
              <a:spcBef>
                <a:spcPts val="0"/>
              </a:spcBef>
              <a:spcAft>
                <a:spcPts val="0"/>
              </a:spcAft>
              <a:defRPr sz="2600" b="0">
                <a:solidFill>
                  <a:srgbClr val="182B3A"/>
                </a:solidFill>
                <a:latin typeface="Arial"/>
              </a:defRPr>
            </a:pPr>
            <a:r>
              <a:t>6.  −11 + 8 − 2</a:t>
            </a:r>
          </a:p>
        </p:txBody>
      </p:sp>
      <p:sp>
        <p:nvSpPr>
          <p:cNvPr id="49" name="Progression curved arrow: Thread 1 to Thread 2"/>
          <p:cNvSpPr/>
          <p:nvPr/>
        </p:nvSpPr>
        <p:spPr>
          <a:xfrm>
            <a:off x="4649723" y="7552294"/>
            <a:ext cx="621792" cy="314053"/>
          </a:xfrm>
          <a:custGeom>
            <a:avLst/>
            <a:gdLst/>
            <a:ahLst/>
            <a:cxnLst/>
            <a:rect l="0" t="0" r="100000" b="100000"/>
            <a:pathLst>
              <a:path w="100000" h="100000" fill="none">
                <a:moveTo>
                  <a:pt x="6970" y="48439"/>
                </a:moveTo>
                <a:cubicBezTo>
                  <a:pt x="40678" y="114499"/>
                  <a:pt x="73026" y="88145"/>
                  <a:pt x="93030" y="13799"/>
                </a:cubicBezTo>
              </a:path>
              <a:path w="100000" h="100000" fill="none">
                <a:moveTo>
                  <a:pt x="69018" y="40431"/>
                </a:moveTo>
                <a:lnTo>
                  <a:pt x="93030" y="13799"/>
                </a:lnTo>
                <a:lnTo>
                  <a:pt x="92217" y="66207"/>
                </a:lnTo>
              </a:path>
            </a:pathLst>
          </a:custGeom>
          <a:noFill/>
          <a:ln w="64449" cap="rnd">
            <a:solidFill>
              <a:schemeClr val="accent6">
                <a:lumMod val="60000"/>
                <a:lumOff val="40000"/>
              </a:schemeClr>
            </a:solidFill>
            <a:round/>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0" name="Progression curved arrow: Thread 2 to Thread 3"/>
          <p:cNvSpPr/>
          <p:nvPr/>
        </p:nvSpPr>
        <p:spPr>
          <a:xfrm>
            <a:off x="9265327" y="7543800"/>
            <a:ext cx="621792" cy="314053"/>
          </a:xfrm>
          <a:custGeom>
            <a:avLst/>
            <a:gdLst/>
            <a:ahLst/>
            <a:cxnLst/>
            <a:rect l="0" t="0" r="100000" b="100000"/>
            <a:pathLst>
              <a:path w="100000" h="100000" fill="none">
                <a:moveTo>
                  <a:pt x="6970" y="48439"/>
                </a:moveTo>
                <a:cubicBezTo>
                  <a:pt x="40678" y="114499"/>
                  <a:pt x="73026" y="88145"/>
                  <a:pt x="93030" y="13799"/>
                </a:cubicBezTo>
              </a:path>
              <a:path w="100000" h="100000" fill="none">
                <a:moveTo>
                  <a:pt x="69018" y="40431"/>
                </a:moveTo>
                <a:lnTo>
                  <a:pt x="93030" y="13799"/>
                </a:lnTo>
                <a:lnTo>
                  <a:pt x="92217" y="66207"/>
                </a:lnTo>
              </a:path>
            </a:pathLst>
          </a:custGeom>
          <a:noFill/>
          <a:ln w="64449" cap="rnd">
            <a:solidFill>
              <a:schemeClr val="accent6">
                <a:lumMod val="60000"/>
                <a:lumOff val="40000"/>
              </a:schemeClr>
            </a:solidFill>
            <a:round/>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bg>
      <p:bgPr>
        <a:solidFill>
          <a:srgbClr val="F7F8FA"/>
        </a:solidFill>
        <a:effectLst/>
      </p:bgPr>
    </p:bg>
    <p:spTree>
      <p:nvGrpSpPr>
        <p:cNvPr id="1" name=""/>
        <p:cNvGrpSpPr/>
        <p:nvPr/>
      </p:nvGrpSpPr>
      <p:grpSpPr/>
      <p:sp>
        <p:nvSpPr>
          <p:cNvPr id="2" name="Rectangle 1"/>
          <p:cNvSpPr/>
          <p:nvPr/>
        </p:nvSpPr>
        <p:spPr>
          <a:xfrm>
            <a:off x="0" y="0"/>
            <a:ext cx="14630400" cy="73152"/>
          </a:xfrm>
          <a:prstGeom prst="rect">
            <a:avLst/>
          </a:prstGeom>
          <a:solidFill>
            <a:srgbClr val="176B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20040" y="164592"/>
            <a:ext cx="13990320" cy="457200"/>
          </a:xfrm>
          <a:prstGeom prst="rect">
            <a:avLst/>
          </a:prstGeom>
          <a:noFill/>
        </p:spPr>
        <p:txBody>
          <a:bodyPr wrap="square" lIns="54864" rIns="54864" tIns="22860" bIns="22860">
            <a:spAutoFit/>
          </a:bodyPr>
          <a:lstStyle/>
          <a:p>
            <a:pPr>
              <a:lnSpc>
                <a:spcPts val="2940"/>
              </a:lnSpc>
              <a:spcBef>
                <a:spcPts val="0"/>
              </a:spcBef>
              <a:spcAft>
                <a:spcPts val="0"/>
              </a:spcAft>
              <a:defRPr sz="2800" b="1">
                <a:solidFill>
                  <a:srgbClr val="182B3A"/>
                </a:solidFill>
                <a:latin typeface="Arial"/>
              </a:defRPr>
            </a:pPr>
            <a:r>
              <a:t>Signed numbers: addition and subtraction</a:t>
            </a:r>
          </a:p>
        </p:txBody>
      </p:sp>
      <p:sp>
        <p:nvSpPr>
          <p:cNvPr id="4" name="TextBox 3"/>
          <p:cNvSpPr txBox="1"/>
          <p:nvPr/>
        </p:nvSpPr>
        <p:spPr>
          <a:xfrm>
            <a:off x="320040" y="704088"/>
            <a:ext cx="13990320" cy="347472"/>
          </a:xfrm>
          <a:prstGeom prst="rect">
            <a:avLst/>
          </a:prstGeom>
          <a:noFill/>
        </p:spPr>
        <p:txBody>
          <a:bodyPr wrap="square" lIns="54864" rIns="54864" tIns="22860" bIns="22860">
            <a:spAutoFit/>
          </a:bodyPr>
          <a:lstStyle/>
          <a:p>
            <a:pPr>
              <a:lnSpc>
                <a:spcPts val="1575"/>
              </a:lnSpc>
              <a:spcBef>
                <a:spcPts val="0"/>
              </a:spcBef>
              <a:spcAft>
                <a:spcPts val="0"/>
              </a:spcAft>
              <a:defRPr sz="1500" b="0">
                <a:solidFill>
                  <a:srgbClr val="526472"/>
                </a:solidFill>
                <a:latin typeface="Arial"/>
              </a:defRPr>
            </a:pPr>
            <a:r>
              <a:t>Independent practice 4 • Choose a column. Show your working and check your answers.</a:t>
            </a:r>
          </a:p>
        </p:txBody>
      </p:sp>
      <p:sp>
        <p:nvSpPr>
          <p:cNvPr id="5" name="TextBox 4"/>
          <p:cNvSpPr txBox="1"/>
          <p:nvPr/>
        </p:nvSpPr>
        <p:spPr>
          <a:xfrm>
            <a:off x="320040" y="7973568"/>
            <a:ext cx="10789920" cy="210312"/>
          </a:xfrm>
          <a:prstGeom prst="rect">
            <a:avLst/>
          </a:prstGeom>
          <a:noFill/>
        </p:spPr>
        <p:txBody>
          <a:bodyPr wrap="square" lIns="54864" rIns="54864" tIns="22860" bIns="22860">
            <a:spAutoFit/>
          </a:bodyPr>
          <a:lstStyle/>
          <a:p>
            <a:pPr>
              <a:lnSpc>
                <a:spcPts val="1155"/>
              </a:lnSpc>
              <a:spcBef>
                <a:spcPts val="0"/>
              </a:spcBef>
              <a:spcAft>
                <a:spcPts val="0"/>
              </a:spcAft>
              <a:defRPr sz="1100" b="0">
                <a:solidFill>
                  <a:srgbClr val="526472"/>
                </a:solidFill>
                <a:latin typeface="Arial"/>
              </a:defRPr>
            </a:pPr>
            <a:r>
              <a:t>GCSE Maths revision • No calculator • Show your working.</a:t>
            </a:r>
          </a:p>
        </p:txBody>
      </p:sp>
      <p:sp>
        <p:nvSpPr>
          <p:cNvPr id="6" name="TextBox 5"/>
          <p:cNvSpPr txBox="1"/>
          <p:nvPr/>
        </p:nvSpPr>
        <p:spPr>
          <a:xfrm>
            <a:off x="11155680" y="7973568"/>
            <a:ext cx="3108960" cy="210312"/>
          </a:xfrm>
          <a:prstGeom prst="rect">
            <a:avLst/>
          </a:prstGeom>
          <a:noFill/>
        </p:spPr>
        <p:txBody>
          <a:bodyPr wrap="square" lIns="54864" rIns="54864" tIns="22860" bIns="22860">
            <a:spAutoFit/>
          </a:bodyPr>
          <a:lstStyle/>
          <a:p>
            <a:pPr>
              <a:lnSpc>
                <a:spcPts val="1155"/>
              </a:lnSpc>
              <a:spcBef>
                <a:spcPts val="0"/>
              </a:spcBef>
              <a:spcAft>
                <a:spcPts val="0"/>
              </a:spcAft>
              <a:defRPr sz="1100" b="0">
                <a:solidFill>
                  <a:srgbClr val="526472"/>
                </a:solidFill>
                <a:latin typeface="Arial"/>
              </a:defRPr>
            </a:pPr>
            <a:r>
              <a:t>M13-S07</a:t>
            </a:r>
          </a:p>
        </p:txBody>
      </p:sp>
      <p:sp>
        <p:nvSpPr>
          <p:cNvPr id="7" name="Rectangle 6"/>
          <p:cNvSpPr/>
          <p:nvPr/>
        </p:nvSpPr>
        <p:spPr>
          <a:xfrm>
            <a:off x="320040" y="1115568"/>
            <a:ext cx="4640580" cy="420624"/>
          </a:xfrm>
          <a:prstGeom prst="rect">
            <a:avLst/>
          </a:prstGeom>
          <a:solidFill>
            <a:srgbClr val="176B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347472" y="1147572"/>
            <a:ext cx="4581144" cy="329184"/>
          </a:xfrm>
          <a:prstGeom prst="rect">
            <a:avLst/>
          </a:prstGeom>
          <a:noFill/>
        </p:spPr>
        <p:txBody>
          <a:bodyPr wrap="square" lIns="54864" rIns="54864" tIns="22860" bIns="22860">
            <a:spAutoFit/>
          </a:bodyPr>
          <a:lstStyle/>
          <a:p>
            <a:pPr>
              <a:lnSpc>
                <a:spcPts val="1995"/>
              </a:lnSpc>
              <a:spcBef>
                <a:spcPts val="0"/>
              </a:spcBef>
              <a:spcAft>
                <a:spcPts val="0"/>
              </a:spcAft>
              <a:defRPr sz="1900" b="1">
                <a:solidFill>
                  <a:srgbClr val="FFFFFF"/>
                </a:solidFill>
                <a:latin typeface="Arial"/>
              </a:defRPr>
            </a:pPr>
            <a:r>
              <a:t>Start</a:t>
            </a:r>
          </a:p>
        </p:txBody>
      </p:sp>
      <p:sp>
        <p:nvSpPr>
          <p:cNvPr id="9" name="Rectangle 8"/>
          <p:cNvSpPr/>
          <p:nvPr/>
        </p:nvSpPr>
        <p:spPr>
          <a:xfrm>
            <a:off x="4983480" y="1115568"/>
            <a:ext cx="4640580" cy="420624"/>
          </a:xfrm>
          <a:prstGeom prst="rect">
            <a:avLst/>
          </a:prstGeom>
          <a:solidFill>
            <a:srgbClr val="3559A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010912" y="1147572"/>
            <a:ext cx="4581144" cy="329184"/>
          </a:xfrm>
          <a:prstGeom prst="rect">
            <a:avLst/>
          </a:prstGeom>
          <a:noFill/>
        </p:spPr>
        <p:txBody>
          <a:bodyPr wrap="square" lIns="54864" rIns="54864" tIns="22860" bIns="22860">
            <a:spAutoFit/>
          </a:bodyPr>
          <a:lstStyle/>
          <a:p>
            <a:pPr>
              <a:lnSpc>
                <a:spcPts val="1995"/>
              </a:lnSpc>
              <a:spcBef>
                <a:spcPts val="0"/>
              </a:spcBef>
              <a:spcAft>
                <a:spcPts val="0"/>
              </a:spcAft>
              <a:defRPr sz="1900" b="1">
                <a:solidFill>
                  <a:srgbClr val="FFFFFF"/>
                </a:solidFill>
                <a:latin typeface="Arial"/>
              </a:defRPr>
            </a:pPr>
            <a:r>
              <a:t>Build</a:t>
            </a:r>
          </a:p>
        </p:txBody>
      </p:sp>
      <p:sp>
        <p:nvSpPr>
          <p:cNvPr id="11" name="Rectangle 10"/>
          <p:cNvSpPr/>
          <p:nvPr/>
        </p:nvSpPr>
        <p:spPr>
          <a:xfrm>
            <a:off x="9646920" y="1115568"/>
            <a:ext cx="4640580" cy="420624"/>
          </a:xfrm>
          <a:prstGeom prst="rect">
            <a:avLst/>
          </a:prstGeom>
          <a:solidFill>
            <a:srgbClr val="754B8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9674352" y="1147572"/>
            <a:ext cx="4581144" cy="329184"/>
          </a:xfrm>
          <a:prstGeom prst="rect">
            <a:avLst/>
          </a:prstGeom>
          <a:noFill/>
        </p:spPr>
        <p:txBody>
          <a:bodyPr wrap="square" lIns="54864" rIns="54864" tIns="22860" bIns="22860">
            <a:spAutoFit/>
          </a:bodyPr>
          <a:lstStyle/>
          <a:p>
            <a:pPr>
              <a:lnSpc>
                <a:spcPts val="1995"/>
              </a:lnSpc>
              <a:spcBef>
                <a:spcPts val="0"/>
              </a:spcBef>
              <a:spcAft>
                <a:spcPts val="0"/>
              </a:spcAft>
              <a:defRPr sz="1900" b="1">
                <a:solidFill>
                  <a:srgbClr val="FFFFFF"/>
                </a:solidFill>
                <a:latin typeface="Arial"/>
              </a:defRPr>
            </a:pPr>
            <a:r>
              <a:t>Confidence</a:t>
            </a:r>
          </a:p>
        </p:txBody>
      </p:sp>
      <p:sp>
        <p:nvSpPr>
          <p:cNvPr id="13" name="Rectangle 12"/>
          <p:cNvSpPr/>
          <p:nvPr/>
        </p:nvSpPr>
        <p:spPr>
          <a:xfrm>
            <a:off x="320040" y="1581912"/>
            <a:ext cx="4640580" cy="1005840"/>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11479" y="1819656"/>
            <a:ext cx="4453128" cy="548640"/>
          </a:xfrm>
          <a:prstGeom prst="rect">
            <a:avLst/>
          </a:prstGeom>
          <a:noFill/>
        </p:spPr>
        <p:txBody>
          <a:bodyPr wrap="square" lIns="54864" rIns="54864" tIns="22860" bIns="22860">
            <a:spAutoFit/>
          </a:bodyPr>
          <a:lstStyle/>
          <a:p>
            <a:pPr>
              <a:lnSpc>
                <a:spcPts val="2730"/>
              </a:lnSpc>
              <a:spcBef>
                <a:spcPts val="0"/>
              </a:spcBef>
              <a:spcAft>
                <a:spcPts val="0"/>
              </a:spcAft>
              <a:defRPr sz="2600" b="0">
                <a:solidFill>
                  <a:srgbClr val="182B3A"/>
                </a:solidFill>
                <a:latin typeface="Arial"/>
              </a:defRPr>
            </a:pPr>
            <a:r>
              <a:t>1.  −12 + 7</a:t>
            </a:r>
          </a:p>
        </p:txBody>
      </p:sp>
      <p:sp>
        <p:nvSpPr>
          <p:cNvPr id="15" name="Rectangle 14"/>
          <p:cNvSpPr/>
          <p:nvPr/>
        </p:nvSpPr>
        <p:spPr>
          <a:xfrm>
            <a:off x="4983480" y="1581912"/>
            <a:ext cx="4640580" cy="1005840"/>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5074920" y="1819656"/>
            <a:ext cx="4453128" cy="548640"/>
          </a:xfrm>
          <a:prstGeom prst="rect">
            <a:avLst/>
          </a:prstGeom>
          <a:noFill/>
        </p:spPr>
        <p:txBody>
          <a:bodyPr wrap="square" lIns="54864" rIns="54864" tIns="22860" bIns="22860">
            <a:spAutoFit/>
          </a:bodyPr>
          <a:lstStyle/>
          <a:p>
            <a:pPr>
              <a:lnSpc>
                <a:spcPts val="2730"/>
              </a:lnSpc>
              <a:spcBef>
                <a:spcPts val="0"/>
              </a:spcBef>
              <a:spcAft>
                <a:spcPts val="0"/>
              </a:spcAft>
              <a:defRPr sz="2600" b="0">
                <a:solidFill>
                  <a:srgbClr val="182B3A"/>
                </a:solidFill>
                <a:latin typeface="Arial"/>
              </a:defRPr>
            </a:pPr>
            <a:r>
              <a:t>1.  0 − (−6)</a:t>
            </a:r>
          </a:p>
        </p:txBody>
      </p:sp>
      <p:sp>
        <p:nvSpPr>
          <p:cNvPr id="17" name="Rectangle 16"/>
          <p:cNvSpPr/>
          <p:nvPr/>
        </p:nvSpPr>
        <p:spPr>
          <a:xfrm>
            <a:off x="9646920" y="1581912"/>
            <a:ext cx="4640580" cy="1005840"/>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9738360" y="1819656"/>
            <a:ext cx="4453128" cy="548640"/>
          </a:xfrm>
          <a:prstGeom prst="rect">
            <a:avLst/>
          </a:prstGeom>
          <a:noFill/>
        </p:spPr>
        <p:txBody>
          <a:bodyPr wrap="square" lIns="54864" rIns="54864" tIns="22860" bIns="22860">
            <a:spAutoFit/>
          </a:bodyPr>
          <a:lstStyle/>
          <a:p>
            <a:pPr>
              <a:lnSpc>
                <a:spcPts val="2730"/>
              </a:lnSpc>
              <a:spcBef>
                <a:spcPts val="0"/>
              </a:spcBef>
              <a:spcAft>
                <a:spcPts val="0"/>
              </a:spcAft>
              <a:defRPr sz="2600" b="0">
                <a:solidFill>
                  <a:srgbClr val="182B3A"/>
                </a:solidFill>
                <a:latin typeface="Arial"/>
              </a:defRPr>
            </a:pPr>
            <a:r>
              <a:t>1.  −12 + 7 + 8</a:t>
            </a:r>
          </a:p>
        </p:txBody>
      </p:sp>
      <p:sp>
        <p:nvSpPr>
          <p:cNvPr id="19" name="Rectangle 18"/>
          <p:cNvSpPr/>
          <p:nvPr/>
        </p:nvSpPr>
        <p:spPr>
          <a:xfrm>
            <a:off x="320040" y="2587752"/>
            <a:ext cx="4640580" cy="1005840"/>
          </a:xfrm>
          <a:prstGeom prst="rect">
            <a:avLst/>
          </a:prstGeom>
          <a:solidFill>
            <a:srgbClr val="EDF6F5"/>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411479" y="2825496"/>
            <a:ext cx="4453128" cy="548640"/>
          </a:xfrm>
          <a:prstGeom prst="rect">
            <a:avLst/>
          </a:prstGeom>
          <a:noFill/>
        </p:spPr>
        <p:txBody>
          <a:bodyPr wrap="square" lIns="54864" rIns="54864" tIns="22860" bIns="22860">
            <a:spAutoFit/>
          </a:bodyPr>
          <a:lstStyle/>
          <a:p>
            <a:pPr>
              <a:lnSpc>
                <a:spcPts val="2730"/>
              </a:lnSpc>
              <a:spcBef>
                <a:spcPts val="0"/>
              </a:spcBef>
              <a:spcAft>
                <a:spcPts val="0"/>
              </a:spcAft>
              <a:defRPr sz="2600" b="0">
                <a:solidFill>
                  <a:srgbClr val="182B3A"/>
                </a:solidFill>
                <a:latin typeface="Arial"/>
              </a:defRPr>
            </a:pPr>
            <a:r>
              <a:t>2.  11 − 18</a:t>
            </a:r>
          </a:p>
        </p:txBody>
      </p:sp>
      <p:sp>
        <p:nvSpPr>
          <p:cNvPr id="21" name="Rectangle 20"/>
          <p:cNvSpPr/>
          <p:nvPr/>
        </p:nvSpPr>
        <p:spPr>
          <a:xfrm>
            <a:off x="4983480" y="2587752"/>
            <a:ext cx="4640580" cy="1005840"/>
          </a:xfrm>
          <a:prstGeom prst="rect">
            <a:avLst/>
          </a:prstGeom>
          <a:solidFill>
            <a:srgbClr val="EFF3FA"/>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5074920" y="2825496"/>
            <a:ext cx="4453128" cy="548640"/>
          </a:xfrm>
          <a:prstGeom prst="rect">
            <a:avLst/>
          </a:prstGeom>
          <a:noFill/>
        </p:spPr>
        <p:txBody>
          <a:bodyPr wrap="square" lIns="54864" rIns="54864" tIns="22860" bIns="22860">
            <a:spAutoFit/>
          </a:bodyPr>
          <a:lstStyle/>
          <a:p>
            <a:pPr>
              <a:lnSpc>
                <a:spcPts val="2730"/>
              </a:lnSpc>
              <a:spcBef>
                <a:spcPts val="0"/>
              </a:spcBef>
              <a:spcAft>
                <a:spcPts val="0"/>
              </a:spcAft>
              <a:defRPr sz="2600" b="0">
                <a:solidFill>
                  <a:srgbClr val="182B3A"/>
                </a:solidFill>
                <a:latin typeface="Arial"/>
              </a:defRPr>
            </a:pPr>
            <a:r>
              <a:t>2.  −11 − (−8)</a:t>
            </a:r>
          </a:p>
        </p:txBody>
      </p:sp>
      <p:sp>
        <p:nvSpPr>
          <p:cNvPr id="23" name="Rectangle 22"/>
          <p:cNvSpPr/>
          <p:nvPr/>
        </p:nvSpPr>
        <p:spPr>
          <a:xfrm>
            <a:off x="9646920" y="2587752"/>
            <a:ext cx="4640580" cy="1005840"/>
          </a:xfrm>
          <a:prstGeom prst="rect">
            <a:avLst/>
          </a:prstGeom>
          <a:solidFill>
            <a:srgbClr val="F5F0F7"/>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9738360" y="2825496"/>
            <a:ext cx="4453128" cy="548640"/>
          </a:xfrm>
          <a:prstGeom prst="rect">
            <a:avLst/>
          </a:prstGeom>
          <a:noFill/>
        </p:spPr>
        <p:txBody>
          <a:bodyPr wrap="square" lIns="54864" rIns="54864" tIns="22860" bIns="22860">
            <a:spAutoFit/>
          </a:bodyPr>
          <a:lstStyle/>
          <a:p>
            <a:pPr>
              <a:lnSpc>
                <a:spcPts val="2730"/>
              </a:lnSpc>
              <a:spcBef>
                <a:spcPts val="0"/>
              </a:spcBef>
              <a:spcAft>
                <a:spcPts val="0"/>
              </a:spcAft>
              <a:defRPr sz="2600" b="0">
                <a:solidFill>
                  <a:srgbClr val="182B3A"/>
                </a:solidFill>
                <a:latin typeface="Arial"/>
              </a:defRPr>
            </a:pPr>
            <a:r>
              <a:t>2.  4 − (−5) + (−12)</a:t>
            </a:r>
          </a:p>
        </p:txBody>
      </p:sp>
      <p:sp>
        <p:nvSpPr>
          <p:cNvPr id="25" name="Rectangle 24"/>
          <p:cNvSpPr/>
          <p:nvPr/>
        </p:nvSpPr>
        <p:spPr>
          <a:xfrm>
            <a:off x="320040" y="3593592"/>
            <a:ext cx="4640580" cy="1005840"/>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411479" y="3831336"/>
            <a:ext cx="4453128" cy="548640"/>
          </a:xfrm>
          <a:prstGeom prst="rect">
            <a:avLst/>
          </a:prstGeom>
          <a:noFill/>
        </p:spPr>
        <p:txBody>
          <a:bodyPr wrap="square" lIns="54864" rIns="54864" tIns="22860" bIns="22860">
            <a:spAutoFit/>
          </a:bodyPr>
          <a:lstStyle/>
          <a:p>
            <a:pPr>
              <a:lnSpc>
                <a:spcPts val="2730"/>
              </a:lnSpc>
              <a:spcBef>
                <a:spcPts val="0"/>
              </a:spcBef>
              <a:spcAft>
                <a:spcPts val="0"/>
              </a:spcAft>
              <a:defRPr sz="2600" b="0">
                <a:solidFill>
                  <a:srgbClr val="182B3A"/>
                </a:solidFill>
                <a:latin typeface="Arial"/>
              </a:defRPr>
            </a:pPr>
            <a:r>
              <a:t>3.  −6 − 8</a:t>
            </a:r>
          </a:p>
        </p:txBody>
      </p:sp>
      <p:sp>
        <p:nvSpPr>
          <p:cNvPr id="27" name="Rectangle 26"/>
          <p:cNvSpPr/>
          <p:nvPr/>
        </p:nvSpPr>
        <p:spPr>
          <a:xfrm>
            <a:off x="4983480" y="3593592"/>
            <a:ext cx="4640580" cy="1005840"/>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5074920" y="3831336"/>
            <a:ext cx="4453128" cy="548640"/>
          </a:xfrm>
          <a:prstGeom prst="rect">
            <a:avLst/>
          </a:prstGeom>
          <a:noFill/>
        </p:spPr>
        <p:txBody>
          <a:bodyPr wrap="square" lIns="54864" rIns="54864" tIns="22860" bIns="22860">
            <a:spAutoFit/>
          </a:bodyPr>
          <a:lstStyle/>
          <a:p>
            <a:pPr>
              <a:lnSpc>
                <a:spcPts val="2730"/>
              </a:lnSpc>
              <a:spcBef>
                <a:spcPts val="0"/>
              </a:spcBef>
              <a:spcAft>
                <a:spcPts val="0"/>
              </a:spcAft>
              <a:defRPr sz="2600" b="0">
                <a:solidFill>
                  <a:srgbClr val="182B3A"/>
                </a:solidFill>
                <a:latin typeface="Arial"/>
              </a:defRPr>
            </a:pPr>
            <a:r>
              <a:t>3.  5 + (−13)</a:t>
            </a:r>
          </a:p>
        </p:txBody>
      </p:sp>
      <p:sp>
        <p:nvSpPr>
          <p:cNvPr id="29" name="Rectangle 28"/>
          <p:cNvSpPr/>
          <p:nvPr/>
        </p:nvSpPr>
        <p:spPr>
          <a:xfrm>
            <a:off x="9646920" y="3593592"/>
            <a:ext cx="4640580" cy="1005840"/>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9738360" y="3831336"/>
            <a:ext cx="4453128" cy="548640"/>
          </a:xfrm>
          <a:prstGeom prst="rect">
            <a:avLst/>
          </a:prstGeom>
          <a:noFill/>
        </p:spPr>
        <p:txBody>
          <a:bodyPr wrap="square" lIns="54864" rIns="54864" tIns="22860" bIns="22860">
            <a:spAutoFit/>
          </a:bodyPr>
          <a:lstStyle/>
          <a:p>
            <a:pPr>
              <a:lnSpc>
                <a:spcPts val="2730"/>
              </a:lnSpc>
              <a:spcBef>
                <a:spcPts val="0"/>
              </a:spcBef>
              <a:spcAft>
                <a:spcPts val="0"/>
              </a:spcAft>
              <a:defRPr sz="2600" b="0">
                <a:solidFill>
                  <a:srgbClr val="182B3A"/>
                </a:solidFill>
                <a:latin typeface="Arial"/>
              </a:defRPr>
            </a:pPr>
            <a:r>
              <a:t>3.  −6 − (−9) + (−3)</a:t>
            </a:r>
          </a:p>
        </p:txBody>
      </p:sp>
      <p:sp>
        <p:nvSpPr>
          <p:cNvPr id="31" name="Rectangle 30"/>
          <p:cNvSpPr/>
          <p:nvPr/>
        </p:nvSpPr>
        <p:spPr>
          <a:xfrm>
            <a:off x="320040" y="4599432"/>
            <a:ext cx="4640580" cy="1005840"/>
          </a:xfrm>
          <a:prstGeom prst="rect">
            <a:avLst/>
          </a:prstGeom>
          <a:solidFill>
            <a:srgbClr val="EDF6F5"/>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411479" y="4837176"/>
            <a:ext cx="4453128" cy="548640"/>
          </a:xfrm>
          <a:prstGeom prst="rect">
            <a:avLst/>
          </a:prstGeom>
          <a:noFill/>
        </p:spPr>
        <p:txBody>
          <a:bodyPr wrap="square" lIns="54864" rIns="54864" tIns="22860" bIns="22860">
            <a:spAutoFit/>
          </a:bodyPr>
          <a:lstStyle/>
          <a:p>
            <a:pPr>
              <a:lnSpc>
                <a:spcPts val="2730"/>
              </a:lnSpc>
              <a:spcBef>
                <a:spcPts val="0"/>
              </a:spcBef>
              <a:spcAft>
                <a:spcPts val="0"/>
              </a:spcAft>
              <a:defRPr sz="2600" b="0">
                <a:solidFill>
                  <a:srgbClr val="182B3A"/>
                </a:solidFill>
                <a:latin typeface="Arial"/>
              </a:defRPr>
            </a:pPr>
            <a:r>
              <a:t>4.  −9 + 14</a:t>
            </a:r>
          </a:p>
        </p:txBody>
      </p:sp>
      <p:sp>
        <p:nvSpPr>
          <p:cNvPr id="33" name="Rectangle 32"/>
          <p:cNvSpPr/>
          <p:nvPr/>
        </p:nvSpPr>
        <p:spPr>
          <a:xfrm>
            <a:off x="4983480" y="4599432"/>
            <a:ext cx="4640580" cy="1005840"/>
          </a:xfrm>
          <a:prstGeom prst="rect">
            <a:avLst/>
          </a:prstGeom>
          <a:solidFill>
            <a:srgbClr val="EFF3FA"/>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5074920" y="4837176"/>
            <a:ext cx="4453128" cy="548640"/>
          </a:xfrm>
          <a:prstGeom prst="rect">
            <a:avLst/>
          </a:prstGeom>
          <a:noFill/>
        </p:spPr>
        <p:txBody>
          <a:bodyPr wrap="square" lIns="54864" rIns="54864" tIns="22860" bIns="22860">
            <a:spAutoFit/>
          </a:bodyPr>
          <a:lstStyle/>
          <a:p>
            <a:pPr>
              <a:lnSpc>
                <a:spcPts val="2730"/>
              </a:lnSpc>
              <a:spcBef>
                <a:spcPts val="0"/>
              </a:spcBef>
              <a:spcAft>
                <a:spcPts val="0"/>
              </a:spcAft>
              <a:defRPr sz="2600" b="0">
                <a:solidFill>
                  <a:srgbClr val="182B3A"/>
                </a:solidFill>
                <a:latin typeface="Arial"/>
              </a:defRPr>
            </a:pPr>
            <a:r>
              <a:t>4.  −7 − (−12)</a:t>
            </a:r>
          </a:p>
        </p:txBody>
      </p:sp>
      <p:sp>
        <p:nvSpPr>
          <p:cNvPr id="35" name="Rectangle 34"/>
          <p:cNvSpPr/>
          <p:nvPr/>
        </p:nvSpPr>
        <p:spPr>
          <a:xfrm>
            <a:off x="9646920" y="4599432"/>
            <a:ext cx="4640580" cy="1005840"/>
          </a:xfrm>
          <a:prstGeom prst="rect">
            <a:avLst/>
          </a:prstGeom>
          <a:solidFill>
            <a:srgbClr val="F5F0F7"/>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9738360" y="4837176"/>
            <a:ext cx="4453128" cy="548640"/>
          </a:xfrm>
          <a:prstGeom prst="rect">
            <a:avLst/>
          </a:prstGeom>
          <a:noFill/>
        </p:spPr>
        <p:txBody>
          <a:bodyPr wrap="square" lIns="54864" rIns="54864" tIns="22860" bIns="22860">
            <a:spAutoFit/>
          </a:bodyPr>
          <a:lstStyle/>
          <a:p>
            <a:pPr>
              <a:lnSpc>
                <a:spcPts val="2730"/>
              </a:lnSpc>
              <a:spcBef>
                <a:spcPts val="0"/>
              </a:spcBef>
              <a:spcAft>
                <a:spcPts val="0"/>
              </a:spcAft>
              <a:defRPr sz="2600" b="0">
                <a:solidFill>
                  <a:srgbClr val="182B3A"/>
                </a:solidFill>
                <a:latin typeface="Arial"/>
              </a:defRPr>
            </a:pPr>
            <a:r>
              <a:t>4.  5 − 13 − (−2)</a:t>
            </a:r>
          </a:p>
        </p:txBody>
      </p:sp>
      <p:sp>
        <p:nvSpPr>
          <p:cNvPr id="37" name="Rectangle 36"/>
          <p:cNvSpPr/>
          <p:nvPr/>
        </p:nvSpPr>
        <p:spPr>
          <a:xfrm>
            <a:off x="320040" y="5605272"/>
            <a:ext cx="4640580" cy="1005840"/>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411479" y="5843016"/>
            <a:ext cx="4453128" cy="548640"/>
          </a:xfrm>
          <a:prstGeom prst="rect">
            <a:avLst/>
          </a:prstGeom>
          <a:noFill/>
        </p:spPr>
        <p:txBody>
          <a:bodyPr wrap="square" lIns="54864" rIns="54864" tIns="22860" bIns="22860">
            <a:spAutoFit/>
          </a:bodyPr>
          <a:lstStyle/>
          <a:p>
            <a:pPr>
              <a:lnSpc>
                <a:spcPts val="2730"/>
              </a:lnSpc>
              <a:spcBef>
                <a:spcPts val="0"/>
              </a:spcBef>
              <a:spcAft>
                <a:spcPts val="0"/>
              </a:spcAft>
              <a:defRPr sz="2600" b="0">
                <a:solidFill>
                  <a:srgbClr val="182B3A"/>
                </a:solidFill>
                <a:latin typeface="Arial"/>
              </a:defRPr>
            </a:pPr>
            <a:r>
              <a:t>5.  −15 + 15</a:t>
            </a:r>
          </a:p>
        </p:txBody>
      </p:sp>
      <p:sp>
        <p:nvSpPr>
          <p:cNvPr id="39" name="Rectangle 38"/>
          <p:cNvSpPr/>
          <p:nvPr/>
        </p:nvSpPr>
        <p:spPr>
          <a:xfrm>
            <a:off x="4983480" y="5605272"/>
            <a:ext cx="4640580" cy="1005840"/>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5074920" y="5843016"/>
            <a:ext cx="4453128" cy="548640"/>
          </a:xfrm>
          <a:prstGeom prst="rect">
            <a:avLst/>
          </a:prstGeom>
          <a:noFill/>
        </p:spPr>
        <p:txBody>
          <a:bodyPr wrap="square" lIns="54864" rIns="54864" tIns="22860" bIns="22860">
            <a:spAutoFit/>
          </a:bodyPr>
          <a:lstStyle/>
          <a:p>
            <a:pPr>
              <a:lnSpc>
                <a:spcPts val="2730"/>
              </a:lnSpc>
              <a:spcBef>
                <a:spcPts val="0"/>
              </a:spcBef>
              <a:spcAft>
                <a:spcPts val="0"/>
              </a:spcAft>
              <a:defRPr sz="2600" b="0">
                <a:solidFill>
                  <a:srgbClr val="182B3A"/>
                </a:solidFill>
                <a:latin typeface="Arial"/>
              </a:defRPr>
            </a:pPr>
            <a:r>
              <a:t>5.  12 − (−3)</a:t>
            </a:r>
          </a:p>
        </p:txBody>
      </p:sp>
      <p:sp>
        <p:nvSpPr>
          <p:cNvPr id="41" name="Rectangle 40"/>
          <p:cNvSpPr/>
          <p:nvPr/>
        </p:nvSpPr>
        <p:spPr>
          <a:xfrm>
            <a:off x="9646920" y="5605272"/>
            <a:ext cx="4640580" cy="1005840"/>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9738360" y="5843016"/>
            <a:ext cx="4453128" cy="548640"/>
          </a:xfrm>
          <a:prstGeom prst="rect">
            <a:avLst/>
          </a:prstGeom>
          <a:noFill/>
        </p:spPr>
        <p:txBody>
          <a:bodyPr wrap="square" lIns="54864" rIns="54864" tIns="22860" bIns="22860">
            <a:spAutoFit/>
          </a:bodyPr>
          <a:lstStyle/>
          <a:p>
            <a:pPr>
              <a:lnSpc>
                <a:spcPts val="2730"/>
              </a:lnSpc>
              <a:spcBef>
                <a:spcPts val="0"/>
              </a:spcBef>
              <a:spcAft>
                <a:spcPts val="0"/>
              </a:spcAft>
              <a:defRPr sz="2600" b="0">
                <a:solidFill>
                  <a:srgbClr val="182B3A"/>
                </a:solidFill>
                <a:latin typeface="Arial"/>
              </a:defRPr>
            </a:pPr>
            <a:r>
              <a:t>5.  8 + (−11) − 4</a:t>
            </a:r>
          </a:p>
        </p:txBody>
      </p:sp>
      <p:sp>
        <p:nvSpPr>
          <p:cNvPr id="43" name="Rectangle 42"/>
          <p:cNvSpPr/>
          <p:nvPr/>
        </p:nvSpPr>
        <p:spPr>
          <a:xfrm>
            <a:off x="320040" y="6611112"/>
            <a:ext cx="4640580" cy="1005840"/>
          </a:xfrm>
          <a:prstGeom prst="rect">
            <a:avLst/>
          </a:prstGeom>
          <a:solidFill>
            <a:srgbClr val="EDF6F5"/>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411479" y="6848856"/>
            <a:ext cx="4453128" cy="548640"/>
          </a:xfrm>
          <a:prstGeom prst="rect">
            <a:avLst/>
          </a:prstGeom>
          <a:noFill/>
        </p:spPr>
        <p:txBody>
          <a:bodyPr wrap="square" lIns="54864" rIns="54864" tIns="22860" bIns="22860">
            <a:spAutoFit/>
          </a:bodyPr>
          <a:lstStyle/>
          <a:p>
            <a:pPr>
              <a:lnSpc>
                <a:spcPts val="2730"/>
              </a:lnSpc>
              <a:spcBef>
                <a:spcPts val="0"/>
              </a:spcBef>
              <a:spcAft>
                <a:spcPts val="0"/>
              </a:spcAft>
              <a:defRPr sz="2600" b="0">
                <a:solidFill>
                  <a:srgbClr val="182B3A"/>
                </a:solidFill>
                <a:latin typeface="Arial"/>
              </a:defRPr>
            </a:pPr>
            <a:r>
              <a:t>6.  8 − 13</a:t>
            </a:r>
          </a:p>
        </p:txBody>
      </p:sp>
      <p:sp>
        <p:nvSpPr>
          <p:cNvPr id="45" name="Rectangle 44"/>
          <p:cNvSpPr/>
          <p:nvPr/>
        </p:nvSpPr>
        <p:spPr>
          <a:xfrm>
            <a:off x="4983480" y="6611112"/>
            <a:ext cx="4640580" cy="1005840"/>
          </a:xfrm>
          <a:prstGeom prst="rect">
            <a:avLst/>
          </a:prstGeom>
          <a:solidFill>
            <a:srgbClr val="EFF3FA"/>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5074920" y="6848856"/>
            <a:ext cx="4453128" cy="548640"/>
          </a:xfrm>
          <a:prstGeom prst="rect">
            <a:avLst/>
          </a:prstGeom>
          <a:noFill/>
        </p:spPr>
        <p:txBody>
          <a:bodyPr wrap="square" lIns="54864" rIns="54864" tIns="22860" bIns="22860">
            <a:spAutoFit/>
          </a:bodyPr>
          <a:lstStyle/>
          <a:p>
            <a:pPr>
              <a:lnSpc>
                <a:spcPts val="2730"/>
              </a:lnSpc>
              <a:spcBef>
                <a:spcPts val="0"/>
              </a:spcBef>
              <a:spcAft>
                <a:spcPts val="0"/>
              </a:spcAft>
              <a:defRPr sz="2600" b="0">
                <a:solidFill>
                  <a:srgbClr val="182B3A"/>
                </a:solidFill>
                <a:latin typeface="Arial"/>
              </a:defRPr>
            </a:pPr>
            <a:r>
              <a:t>6.  −4 + (−9)</a:t>
            </a:r>
          </a:p>
        </p:txBody>
      </p:sp>
      <p:sp>
        <p:nvSpPr>
          <p:cNvPr id="47" name="Rectangle 46"/>
          <p:cNvSpPr/>
          <p:nvPr/>
        </p:nvSpPr>
        <p:spPr>
          <a:xfrm>
            <a:off x="9646920" y="6611112"/>
            <a:ext cx="4640580" cy="1005840"/>
          </a:xfrm>
          <a:prstGeom prst="rect">
            <a:avLst/>
          </a:prstGeom>
          <a:solidFill>
            <a:srgbClr val="F5F0F7"/>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TextBox 47"/>
          <p:cNvSpPr txBox="1"/>
          <p:nvPr/>
        </p:nvSpPr>
        <p:spPr>
          <a:xfrm>
            <a:off x="9738360" y="6848856"/>
            <a:ext cx="4453128" cy="548640"/>
          </a:xfrm>
          <a:prstGeom prst="rect">
            <a:avLst/>
          </a:prstGeom>
          <a:noFill/>
        </p:spPr>
        <p:txBody>
          <a:bodyPr wrap="square" lIns="54864" rIns="54864" tIns="22860" bIns="22860">
            <a:spAutoFit/>
          </a:bodyPr>
          <a:lstStyle/>
          <a:p>
            <a:pPr>
              <a:lnSpc>
                <a:spcPts val="2730"/>
              </a:lnSpc>
              <a:spcBef>
                <a:spcPts val="0"/>
              </a:spcBef>
              <a:spcAft>
                <a:spcPts val="0"/>
              </a:spcAft>
              <a:defRPr sz="2600" b="0">
                <a:solidFill>
                  <a:srgbClr val="182B3A"/>
                </a:solidFill>
                <a:latin typeface="Arial"/>
              </a:defRPr>
            </a:pPr>
            <a:r>
              <a:t>6.  −10 + 6 − (−7)</a:t>
            </a:r>
          </a:p>
        </p:txBody>
      </p:sp>
      <p:sp>
        <p:nvSpPr>
          <p:cNvPr id="49" name="Progression curved arrow: Thread 1 to Thread 2"/>
          <p:cNvSpPr/>
          <p:nvPr/>
        </p:nvSpPr>
        <p:spPr>
          <a:xfrm>
            <a:off x="4649723" y="7552294"/>
            <a:ext cx="621792" cy="314053"/>
          </a:xfrm>
          <a:custGeom>
            <a:avLst/>
            <a:gdLst/>
            <a:ahLst/>
            <a:cxnLst/>
            <a:rect l="0" t="0" r="100000" b="100000"/>
            <a:pathLst>
              <a:path w="100000" h="100000" fill="none">
                <a:moveTo>
                  <a:pt x="6970" y="48439"/>
                </a:moveTo>
                <a:cubicBezTo>
                  <a:pt x="40678" y="114499"/>
                  <a:pt x="73026" y="88145"/>
                  <a:pt x="93030" y="13799"/>
                </a:cubicBezTo>
              </a:path>
              <a:path w="100000" h="100000" fill="none">
                <a:moveTo>
                  <a:pt x="69018" y="40431"/>
                </a:moveTo>
                <a:lnTo>
                  <a:pt x="93030" y="13799"/>
                </a:lnTo>
                <a:lnTo>
                  <a:pt x="92217" y="66207"/>
                </a:lnTo>
              </a:path>
            </a:pathLst>
          </a:custGeom>
          <a:noFill/>
          <a:ln w="64449" cap="rnd">
            <a:solidFill>
              <a:schemeClr val="accent6">
                <a:lumMod val="60000"/>
                <a:lumOff val="40000"/>
              </a:schemeClr>
            </a:solidFill>
            <a:round/>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0" name="Progression curved arrow: Thread 2 to Thread 3"/>
          <p:cNvSpPr/>
          <p:nvPr/>
        </p:nvSpPr>
        <p:spPr>
          <a:xfrm>
            <a:off x="9265327" y="7543800"/>
            <a:ext cx="621792" cy="314053"/>
          </a:xfrm>
          <a:custGeom>
            <a:avLst/>
            <a:gdLst/>
            <a:ahLst/>
            <a:cxnLst/>
            <a:rect l="0" t="0" r="100000" b="100000"/>
            <a:pathLst>
              <a:path w="100000" h="100000" fill="none">
                <a:moveTo>
                  <a:pt x="6970" y="48439"/>
                </a:moveTo>
                <a:cubicBezTo>
                  <a:pt x="40678" y="114499"/>
                  <a:pt x="73026" y="88145"/>
                  <a:pt x="93030" y="13799"/>
                </a:cubicBezTo>
              </a:path>
              <a:path w="100000" h="100000" fill="none">
                <a:moveTo>
                  <a:pt x="69018" y="40431"/>
                </a:moveTo>
                <a:lnTo>
                  <a:pt x="93030" y="13799"/>
                </a:lnTo>
                <a:lnTo>
                  <a:pt x="92217" y="66207"/>
                </a:lnTo>
              </a:path>
            </a:pathLst>
          </a:custGeom>
          <a:noFill/>
          <a:ln w="64449" cap="rnd">
            <a:solidFill>
              <a:schemeClr val="accent6">
                <a:lumMod val="60000"/>
                <a:lumOff val="40000"/>
              </a:schemeClr>
            </a:solidFill>
            <a:round/>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bg>
      <p:bgPr>
        <a:solidFill>
          <a:srgbClr val="F7F8FA"/>
        </a:solidFill>
        <a:effectLst/>
      </p:bgPr>
    </p:bg>
    <p:spTree>
      <p:nvGrpSpPr>
        <p:cNvPr id="1" name=""/>
        <p:cNvGrpSpPr/>
        <p:nvPr/>
      </p:nvGrpSpPr>
      <p:grpSpPr/>
      <p:sp>
        <p:nvSpPr>
          <p:cNvPr id="2" name="Rectangle 1"/>
          <p:cNvSpPr/>
          <p:nvPr/>
        </p:nvSpPr>
        <p:spPr>
          <a:xfrm>
            <a:off x="0" y="0"/>
            <a:ext cx="14630400" cy="73152"/>
          </a:xfrm>
          <a:prstGeom prst="rect">
            <a:avLst/>
          </a:prstGeom>
          <a:solidFill>
            <a:srgbClr val="176B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20040" y="164592"/>
            <a:ext cx="13990320" cy="457200"/>
          </a:xfrm>
          <a:prstGeom prst="rect">
            <a:avLst/>
          </a:prstGeom>
          <a:noFill/>
        </p:spPr>
        <p:txBody>
          <a:bodyPr wrap="square" lIns="54864" rIns="54864" tIns="22860" bIns="22860">
            <a:spAutoFit/>
          </a:bodyPr>
          <a:lstStyle/>
          <a:p>
            <a:pPr>
              <a:lnSpc>
                <a:spcPts val="2940"/>
              </a:lnSpc>
              <a:spcBef>
                <a:spcPts val="0"/>
              </a:spcBef>
              <a:spcAft>
                <a:spcPts val="0"/>
              </a:spcAft>
              <a:defRPr sz="2800" b="1">
                <a:solidFill>
                  <a:srgbClr val="182B3A"/>
                </a:solidFill>
                <a:latin typeface="Arial"/>
              </a:defRPr>
            </a:pPr>
            <a:r>
              <a:t>Solving equations</a:t>
            </a:r>
          </a:p>
        </p:txBody>
      </p:sp>
      <p:sp>
        <p:nvSpPr>
          <p:cNvPr id="4" name="TextBox 3"/>
          <p:cNvSpPr txBox="1"/>
          <p:nvPr/>
        </p:nvSpPr>
        <p:spPr>
          <a:xfrm>
            <a:off x="320040" y="704088"/>
            <a:ext cx="13990320" cy="347472"/>
          </a:xfrm>
          <a:prstGeom prst="rect">
            <a:avLst/>
          </a:prstGeom>
          <a:noFill/>
        </p:spPr>
        <p:txBody>
          <a:bodyPr wrap="square" lIns="54864" rIns="54864" tIns="22860" bIns="22860">
            <a:spAutoFit/>
          </a:bodyPr>
          <a:lstStyle/>
          <a:p>
            <a:pPr>
              <a:lnSpc>
                <a:spcPts val="1575"/>
              </a:lnSpc>
              <a:spcBef>
                <a:spcPts val="0"/>
              </a:spcBef>
              <a:spcAft>
                <a:spcPts val="0"/>
              </a:spcAft>
              <a:defRPr sz="1500" b="0">
                <a:solidFill>
                  <a:srgbClr val="526472"/>
                </a:solidFill>
                <a:latin typeface="Arial"/>
              </a:defRPr>
            </a:pPr>
            <a:r>
              <a:t>Initial assessment • Solve all four. Show your working.</a:t>
            </a:r>
          </a:p>
        </p:txBody>
      </p:sp>
      <p:sp>
        <p:nvSpPr>
          <p:cNvPr id="5" name="TextBox 4"/>
          <p:cNvSpPr txBox="1"/>
          <p:nvPr/>
        </p:nvSpPr>
        <p:spPr>
          <a:xfrm>
            <a:off x="320040" y="7973568"/>
            <a:ext cx="10789920" cy="210312"/>
          </a:xfrm>
          <a:prstGeom prst="rect">
            <a:avLst/>
          </a:prstGeom>
          <a:noFill/>
        </p:spPr>
        <p:txBody>
          <a:bodyPr wrap="square" lIns="54864" rIns="54864" tIns="22860" bIns="22860">
            <a:spAutoFit/>
          </a:bodyPr>
          <a:lstStyle/>
          <a:p>
            <a:pPr>
              <a:lnSpc>
                <a:spcPts val="1155"/>
              </a:lnSpc>
              <a:spcBef>
                <a:spcPts val="0"/>
              </a:spcBef>
              <a:spcAft>
                <a:spcPts val="0"/>
              </a:spcAft>
              <a:defRPr sz="1100" b="0">
                <a:solidFill>
                  <a:srgbClr val="526472"/>
                </a:solidFill>
                <a:latin typeface="Arial"/>
              </a:defRPr>
            </a:pPr>
            <a:r>
              <a:t>GCSE Maths revision • No calculator • Show your working.</a:t>
            </a:r>
          </a:p>
        </p:txBody>
      </p:sp>
      <p:sp>
        <p:nvSpPr>
          <p:cNvPr id="6" name="TextBox 5"/>
          <p:cNvSpPr txBox="1"/>
          <p:nvPr/>
        </p:nvSpPr>
        <p:spPr>
          <a:xfrm>
            <a:off x="11155680" y="7973568"/>
            <a:ext cx="3108960" cy="210312"/>
          </a:xfrm>
          <a:prstGeom prst="rect">
            <a:avLst/>
          </a:prstGeom>
          <a:noFill/>
        </p:spPr>
        <p:txBody>
          <a:bodyPr wrap="square" lIns="54864" rIns="54864" tIns="22860" bIns="22860">
            <a:spAutoFit/>
          </a:bodyPr>
          <a:lstStyle/>
          <a:p>
            <a:pPr>
              <a:lnSpc>
                <a:spcPts val="1155"/>
              </a:lnSpc>
              <a:spcBef>
                <a:spcPts val="0"/>
              </a:spcBef>
              <a:spcAft>
                <a:spcPts val="0"/>
              </a:spcAft>
              <a:defRPr sz="1100" b="0">
                <a:solidFill>
                  <a:srgbClr val="526472"/>
                </a:solidFill>
                <a:latin typeface="Arial"/>
              </a:defRPr>
            </a:pPr>
            <a:r>
              <a:t>M10-IA</a:t>
            </a:r>
          </a:p>
        </p:txBody>
      </p:sp>
      <p:sp>
        <p:nvSpPr>
          <p:cNvPr id="7" name="Rectangle 6"/>
          <p:cNvSpPr/>
          <p:nvPr/>
        </p:nvSpPr>
        <p:spPr>
          <a:xfrm>
            <a:off x="384048" y="1499616"/>
            <a:ext cx="6839712" cy="2816352"/>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66928" y="1773936"/>
            <a:ext cx="6446520" cy="1005840"/>
          </a:xfrm>
          <a:prstGeom prst="rect">
            <a:avLst/>
          </a:prstGeom>
          <a:noFill/>
        </p:spPr>
        <p:txBody>
          <a:bodyPr wrap="square" lIns="54864" rIns="54864" tIns="22860" bIns="22860">
            <a:spAutoFit/>
          </a:bodyPr>
          <a:lstStyle/>
          <a:p>
            <a:pPr>
              <a:lnSpc>
                <a:spcPts val="3045"/>
              </a:lnSpc>
              <a:spcBef>
                <a:spcPts val="0"/>
              </a:spcBef>
              <a:spcAft>
                <a:spcPts val="0"/>
              </a:spcAft>
              <a:defRPr sz="2900" b="1">
                <a:solidFill>
                  <a:srgbClr val="182B3A"/>
                </a:solidFill>
                <a:latin typeface="Arial"/>
              </a:defRPr>
            </a:pPr>
            <a:r>
              <a:t>1.  x + 6 = 23</a:t>
            </a:r>
          </a:p>
        </p:txBody>
      </p:sp>
      <p:sp>
        <p:nvSpPr>
          <p:cNvPr id="9" name="Rectangle 8"/>
          <p:cNvSpPr/>
          <p:nvPr/>
        </p:nvSpPr>
        <p:spPr>
          <a:xfrm>
            <a:off x="7370064" y="1499616"/>
            <a:ext cx="6839712" cy="2816352"/>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552944" y="1773936"/>
            <a:ext cx="6446520" cy="1005840"/>
          </a:xfrm>
          <a:prstGeom prst="rect">
            <a:avLst/>
          </a:prstGeom>
          <a:noFill/>
        </p:spPr>
        <p:txBody>
          <a:bodyPr wrap="square" lIns="54864" rIns="54864" tIns="22860" bIns="22860">
            <a:spAutoFit/>
          </a:bodyPr>
          <a:lstStyle/>
          <a:p>
            <a:pPr>
              <a:lnSpc>
                <a:spcPts val="3045"/>
              </a:lnSpc>
              <a:spcBef>
                <a:spcPts val="0"/>
              </a:spcBef>
              <a:spcAft>
                <a:spcPts val="0"/>
              </a:spcAft>
              <a:defRPr sz="2900" b="1">
                <a:solidFill>
                  <a:srgbClr val="182B3A"/>
                </a:solidFill>
                <a:latin typeface="Arial"/>
              </a:defRPr>
            </a:pPr>
            <a:r>
              <a:t>2.  5x = 35</a:t>
            </a:r>
          </a:p>
        </p:txBody>
      </p:sp>
      <p:sp>
        <p:nvSpPr>
          <p:cNvPr id="11" name="Rectangle 10"/>
          <p:cNvSpPr/>
          <p:nvPr/>
        </p:nvSpPr>
        <p:spPr>
          <a:xfrm>
            <a:off x="384048" y="4517136"/>
            <a:ext cx="6839712" cy="2816352"/>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566928" y="4791455"/>
            <a:ext cx="6446520" cy="1005840"/>
          </a:xfrm>
          <a:prstGeom prst="rect">
            <a:avLst/>
          </a:prstGeom>
          <a:noFill/>
        </p:spPr>
        <p:txBody>
          <a:bodyPr wrap="square" lIns="54864" rIns="54864" tIns="22860" bIns="22860">
            <a:spAutoFit/>
          </a:bodyPr>
          <a:lstStyle/>
          <a:p>
            <a:pPr>
              <a:lnSpc>
                <a:spcPts val="3045"/>
              </a:lnSpc>
              <a:spcBef>
                <a:spcPts val="0"/>
              </a:spcBef>
              <a:spcAft>
                <a:spcPts val="0"/>
              </a:spcAft>
              <a:defRPr sz="2900" b="1">
                <a:solidFill>
                  <a:srgbClr val="182B3A"/>
                </a:solidFill>
                <a:latin typeface="Arial"/>
              </a:defRPr>
            </a:pPr>
            <a:r>
              <a:t>3.  3x − 4 = 23</a:t>
            </a:r>
          </a:p>
        </p:txBody>
      </p:sp>
      <p:sp>
        <p:nvSpPr>
          <p:cNvPr id="13" name="Rectangle 12"/>
          <p:cNvSpPr/>
          <p:nvPr/>
        </p:nvSpPr>
        <p:spPr>
          <a:xfrm>
            <a:off x="7370064" y="4517136"/>
            <a:ext cx="6839712" cy="2816352"/>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552944" y="4791455"/>
            <a:ext cx="6446520" cy="1005840"/>
          </a:xfrm>
          <a:prstGeom prst="rect">
            <a:avLst/>
          </a:prstGeom>
          <a:noFill/>
        </p:spPr>
        <p:txBody>
          <a:bodyPr wrap="square" lIns="54864" rIns="54864" tIns="22860" bIns="22860">
            <a:spAutoFit/>
          </a:bodyPr>
          <a:lstStyle/>
          <a:p>
            <a:pPr>
              <a:lnSpc>
                <a:spcPts val="3045"/>
              </a:lnSpc>
              <a:spcBef>
                <a:spcPts val="0"/>
              </a:spcBef>
              <a:spcAft>
                <a:spcPts val="0"/>
              </a:spcAft>
              <a:defRPr sz="2900" b="1">
                <a:solidFill>
                  <a:srgbClr val="182B3A"/>
                </a:solidFill>
                <a:latin typeface="Arial"/>
              </a:defRPr>
            </a:pPr>
            <a:r>
              <a:t>4.  2(x + 3) = x + 14</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bg>
      <p:bgPr>
        <a:solidFill>
          <a:srgbClr val="F7F8FA"/>
        </a:solidFill>
        <a:effectLst/>
      </p:bgPr>
    </p:bg>
    <p:spTree>
      <p:nvGrpSpPr>
        <p:cNvPr id="1" name=""/>
        <p:cNvGrpSpPr/>
        <p:nvPr/>
      </p:nvGrpSpPr>
      <p:grpSpPr/>
      <p:sp>
        <p:nvSpPr>
          <p:cNvPr id="2" name="Rectangle 1"/>
          <p:cNvSpPr/>
          <p:nvPr/>
        </p:nvSpPr>
        <p:spPr>
          <a:xfrm>
            <a:off x="0" y="0"/>
            <a:ext cx="14630400" cy="73152"/>
          </a:xfrm>
          <a:prstGeom prst="rect">
            <a:avLst/>
          </a:prstGeom>
          <a:solidFill>
            <a:srgbClr val="176B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20040" y="164592"/>
            <a:ext cx="13990320" cy="457200"/>
          </a:xfrm>
          <a:prstGeom prst="rect">
            <a:avLst/>
          </a:prstGeom>
          <a:noFill/>
        </p:spPr>
        <p:txBody>
          <a:bodyPr wrap="square" lIns="54864" rIns="54864" tIns="22860" bIns="22860">
            <a:spAutoFit/>
          </a:bodyPr>
          <a:lstStyle/>
          <a:p>
            <a:pPr>
              <a:lnSpc>
                <a:spcPts val="2940"/>
              </a:lnSpc>
              <a:spcBef>
                <a:spcPts val="0"/>
              </a:spcBef>
              <a:spcAft>
                <a:spcPts val="0"/>
              </a:spcAft>
              <a:defRPr sz="2800" b="1">
                <a:solidFill>
                  <a:srgbClr val="182B3A"/>
                </a:solidFill>
                <a:latin typeface="Arial"/>
              </a:defRPr>
            </a:pPr>
            <a:r>
              <a:t>Solving equations</a:t>
            </a:r>
          </a:p>
        </p:txBody>
      </p:sp>
      <p:sp>
        <p:nvSpPr>
          <p:cNvPr id="4" name="TextBox 3"/>
          <p:cNvSpPr txBox="1"/>
          <p:nvPr/>
        </p:nvSpPr>
        <p:spPr>
          <a:xfrm>
            <a:off x="320040" y="704088"/>
            <a:ext cx="13990320" cy="347472"/>
          </a:xfrm>
          <a:prstGeom prst="rect">
            <a:avLst/>
          </a:prstGeom>
          <a:noFill/>
        </p:spPr>
        <p:txBody>
          <a:bodyPr wrap="square" lIns="54864" rIns="54864" tIns="22860" bIns="22860">
            <a:spAutoFit/>
          </a:bodyPr>
          <a:lstStyle/>
          <a:p>
            <a:pPr>
              <a:lnSpc>
                <a:spcPts val="1575"/>
              </a:lnSpc>
              <a:spcBef>
                <a:spcPts val="0"/>
              </a:spcBef>
              <a:spcAft>
                <a:spcPts val="0"/>
              </a:spcAft>
              <a:defRPr sz="1500" b="0">
                <a:solidFill>
                  <a:srgbClr val="526472"/>
                </a:solidFill>
                <a:latin typeface="Arial"/>
              </a:defRPr>
            </a:pPr>
            <a:r>
              <a:t>Technique recap • Simplify first, then keep both sides equal.</a:t>
            </a:r>
          </a:p>
        </p:txBody>
      </p:sp>
      <p:sp>
        <p:nvSpPr>
          <p:cNvPr id="5" name="TextBox 4"/>
          <p:cNvSpPr txBox="1"/>
          <p:nvPr/>
        </p:nvSpPr>
        <p:spPr>
          <a:xfrm>
            <a:off x="320040" y="7973568"/>
            <a:ext cx="10789920" cy="210312"/>
          </a:xfrm>
          <a:prstGeom prst="rect">
            <a:avLst/>
          </a:prstGeom>
          <a:noFill/>
        </p:spPr>
        <p:txBody>
          <a:bodyPr wrap="square" lIns="54864" rIns="54864" tIns="22860" bIns="22860">
            <a:spAutoFit/>
          </a:bodyPr>
          <a:lstStyle/>
          <a:p>
            <a:pPr>
              <a:lnSpc>
                <a:spcPts val="1155"/>
              </a:lnSpc>
              <a:spcBef>
                <a:spcPts val="0"/>
              </a:spcBef>
              <a:spcAft>
                <a:spcPts val="0"/>
              </a:spcAft>
              <a:defRPr sz="1100" b="0">
                <a:solidFill>
                  <a:srgbClr val="526472"/>
                </a:solidFill>
                <a:latin typeface="Arial"/>
              </a:defRPr>
            </a:pPr>
            <a:r>
              <a:t>GCSE Maths revision • No calculator • Show your working.</a:t>
            </a:r>
          </a:p>
        </p:txBody>
      </p:sp>
      <p:sp>
        <p:nvSpPr>
          <p:cNvPr id="6" name="TextBox 5"/>
          <p:cNvSpPr txBox="1"/>
          <p:nvPr/>
        </p:nvSpPr>
        <p:spPr>
          <a:xfrm>
            <a:off x="11155680" y="7973568"/>
            <a:ext cx="3108960" cy="210312"/>
          </a:xfrm>
          <a:prstGeom prst="rect">
            <a:avLst/>
          </a:prstGeom>
          <a:noFill/>
        </p:spPr>
        <p:txBody>
          <a:bodyPr wrap="square" lIns="54864" rIns="54864" tIns="22860" bIns="22860">
            <a:spAutoFit/>
          </a:bodyPr>
          <a:lstStyle/>
          <a:p>
            <a:pPr>
              <a:lnSpc>
                <a:spcPts val="1155"/>
              </a:lnSpc>
              <a:spcBef>
                <a:spcPts val="0"/>
              </a:spcBef>
              <a:spcAft>
                <a:spcPts val="0"/>
              </a:spcAft>
              <a:defRPr sz="1100" b="0">
                <a:solidFill>
                  <a:srgbClr val="526472"/>
                </a:solidFill>
                <a:latin typeface="Arial"/>
              </a:defRPr>
            </a:pPr>
            <a:r>
              <a:t>M10-RECAP</a:t>
            </a:r>
          </a:p>
        </p:txBody>
      </p:sp>
      <p:sp>
        <p:nvSpPr>
          <p:cNvPr id="7" name="Rectangle 6"/>
          <p:cNvSpPr/>
          <p:nvPr/>
        </p:nvSpPr>
        <p:spPr>
          <a:xfrm>
            <a:off x="320040" y="1115568"/>
            <a:ext cx="4640580" cy="420624"/>
          </a:xfrm>
          <a:prstGeom prst="rect">
            <a:avLst/>
          </a:prstGeom>
          <a:solidFill>
            <a:srgbClr val="176B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347472" y="1147572"/>
            <a:ext cx="4581144" cy="329184"/>
          </a:xfrm>
          <a:prstGeom prst="rect">
            <a:avLst/>
          </a:prstGeom>
          <a:noFill/>
        </p:spPr>
        <p:txBody>
          <a:bodyPr wrap="square" lIns="54864" rIns="54864" tIns="22860" bIns="22860">
            <a:spAutoFit/>
          </a:bodyPr>
          <a:lstStyle/>
          <a:p>
            <a:pPr>
              <a:lnSpc>
                <a:spcPts val="1995"/>
              </a:lnSpc>
              <a:spcBef>
                <a:spcPts val="0"/>
              </a:spcBef>
              <a:spcAft>
                <a:spcPts val="0"/>
              </a:spcAft>
              <a:defRPr sz="1900" b="1">
                <a:solidFill>
                  <a:srgbClr val="FFFFFF"/>
                </a:solidFill>
                <a:latin typeface="Arial"/>
              </a:defRPr>
            </a:pPr>
            <a:r>
              <a:t>Start</a:t>
            </a:r>
          </a:p>
        </p:txBody>
      </p:sp>
      <p:sp>
        <p:nvSpPr>
          <p:cNvPr id="9" name="Rectangle 8"/>
          <p:cNvSpPr/>
          <p:nvPr/>
        </p:nvSpPr>
        <p:spPr>
          <a:xfrm>
            <a:off x="4983480" y="1115568"/>
            <a:ext cx="4640580" cy="420624"/>
          </a:xfrm>
          <a:prstGeom prst="rect">
            <a:avLst/>
          </a:prstGeom>
          <a:solidFill>
            <a:srgbClr val="3559A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010912" y="1147572"/>
            <a:ext cx="4581144" cy="329184"/>
          </a:xfrm>
          <a:prstGeom prst="rect">
            <a:avLst/>
          </a:prstGeom>
          <a:noFill/>
        </p:spPr>
        <p:txBody>
          <a:bodyPr wrap="square" lIns="54864" rIns="54864" tIns="22860" bIns="22860">
            <a:spAutoFit/>
          </a:bodyPr>
          <a:lstStyle/>
          <a:p>
            <a:pPr>
              <a:lnSpc>
                <a:spcPts val="1995"/>
              </a:lnSpc>
              <a:spcBef>
                <a:spcPts val="0"/>
              </a:spcBef>
              <a:spcAft>
                <a:spcPts val="0"/>
              </a:spcAft>
              <a:defRPr sz="1900" b="1">
                <a:solidFill>
                  <a:srgbClr val="FFFFFF"/>
                </a:solidFill>
                <a:latin typeface="Arial"/>
              </a:defRPr>
            </a:pPr>
            <a:r>
              <a:t>Build</a:t>
            </a:r>
          </a:p>
        </p:txBody>
      </p:sp>
      <p:sp>
        <p:nvSpPr>
          <p:cNvPr id="11" name="Rectangle 10"/>
          <p:cNvSpPr/>
          <p:nvPr/>
        </p:nvSpPr>
        <p:spPr>
          <a:xfrm>
            <a:off x="9646920" y="1115568"/>
            <a:ext cx="4640580" cy="420624"/>
          </a:xfrm>
          <a:prstGeom prst="rect">
            <a:avLst/>
          </a:prstGeom>
          <a:solidFill>
            <a:srgbClr val="754B8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9674352" y="1147572"/>
            <a:ext cx="4581144" cy="329184"/>
          </a:xfrm>
          <a:prstGeom prst="rect">
            <a:avLst/>
          </a:prstGeom>
          <a:noFill/>
        </p:spPr>
        <p:txBody>
          <a:bodyPr wrap="square" lIns="54864" rIns="54864" tIns="22860" bIns="22860">
            <a:spAutoFit/>
          </a:bodyPr>
          <a:lstStyle/>
          <a:p>
            <a:pPr>
              <a:lnSpc>
                <a:spcPts val="1995"/>
              </a:lnSpc>
              <a:spcBef>
                <a:spcPts val="0"/>
              </a:spcBef>
              <a:spcAft>
                <a:spcPts val="0"/>
              </a:spcAft>
              <a:defRPr sz="1900" b="1">
                <a:solidFill>
                  <a:srgbClr val="FFFFFF"/>
                </a:solidFill>
                <a:latin typeface="Arial"/>
              </a:defRPr>
            </a:pPr>
            <a:r>
              <a:t>Confidence</a:t>
            </a:r>
          </a:p>
        </p:txBody>
      </p:sp>
      <p:sp>
        <p:nvSpPr>
          <p:cNvPr id="13" name="Rectangle 12"/>
          <p:cNvSpPr/>
          <p:nvPr/>
        </p:nvSpPr>
        <p:spPr>
          <a:xfrm>
            <a:off x="320040" y="1627632"/>
            <a:ext cx="4626864" cy="6080760"/>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29768" y="1773936"/>
            <a:ext cx="4389120" cy="457200"/>
          </a:xfrm>
          <a:prstGeom prst="rect">
            <a:avLst/>
          </a:prstGeom>
          <a:noFill/>
        </p:spPr>
        <p:txBody>
          <a:bodyPr wrap="square" lIns="54864" rIns="54864" tIns="22860" bIns="22860">
            <a:spAutoFit/>
          </a:bodyPr>
          <a:lstStyle/>
          <a:p>
            <a:pPr>
              <a:lnSpc>
                <a:spcPts val="2310"/>
              </a:lnSpc>
              <a:spcBef>
                <a:spcPts val="0"/>
              </a:spcBef>
              <a:spcAft>
                <a:spcPts val="0"/>
              </a:spcAft>
              <a:defRPr sz="2200" b="1">
                <a:solidFill>
                  <a:srgbClr val="182B3A"/>
                </a:solidFill>
                <a:latin typeface="Arial"/>
              </a:defRPr>
            </a:pPr>
            <a:r>
              <a:t>Keep the balance</a:t>
            </a:r>
          </a:p>
        </p:txBody>
      </p:sp>
      <p:cxnSp>
        <p:nvCxnSpPr>
          <p:cNvPr id="15" name="Connector 14"/>
          <p:cNvCxnSpPr/>
          <p:nvPr/>
        </p:nvCxnSpPr>
        <p:spPr>
          <a:xfrm>
            <a:off x="2633472" y="2377440"/>
            <a:ext cx="0" cy="1115568"/>
          </a:xfrm>
          <a:prstGeom prst="line">
            <a:avLst/>
          </a:prstGeom>
          <a:ln w="15240">
            <a:solidFill>
              <a:srgbClr val="8193A0"/>
            </a:solidFill>
          </a:ln>
          <a:effectLst/>
        </p:spPr>
        <p:style>
          <a:lnRef idx="2">
            <a:schemeClr val="accent1"/>
          </a:lnRef>
          <a:fillRef idx="0">
            <a:schemeClr val="accent1"/>
          </a:fillRef>
          <a:effectRef idx="1">
            <a:schemeClr val="accent1"/>
          </a:effectRef>
          <a:fontRef idx="minor">
            <a:schemeClr val="tx1"/>
          </a:fontRef>
        </p:style>
      </p:cxnSp>
      <p:sp>
        <p:nvSpPr>
          <p:cNvPr id="16" name="TextBox 15"/>
          <p:cNvSpPr txBox="1"/>
          <p:nvPr/>
        </p:nvSpPr>
        <p:spPr>
          <a:xfrm>
            <a:off x="493776" y="2359152"/>
            <a:ext cx="1984248" cy="320040"/>
          </a:xfrm>
          <a:prstGeom prst="rect">
            <a:avLst/>
          </a:prstGeom>
          <a:noFill/>
        </p:spPr>
        <p:txBody>
          <a:bodyPr wrap="none" lIns="0" rIns="0" tIns="0" bIns="0">
            <a:spAutoFit/>
          </a:bodyPr>
          <a:lstStyle/>
          <a:p>
            <a:pPr algn="r">
              <a:lnSpc>
                <a:spcPts val="2352"/>
              </a:lnSpc>
              <a:spcAft>
                <a:spcPts val="0"/>
              </a:spcAft>
              <a:defRPr sz="2100" b="0">
                <a:solidFill>
                  <a:srgbClr val="182B3A"/>
                </a:solidFill>
                <a:latin typeface="Arial"/>
              </a:defRPr>
            </a:pPr>
            <a:r>
              <a:t>x + 7</a:t>
            </a:r>
          </a:p>
        </p:txBody>
      </p:sp>
      <p:sp>
        <p:nvSpPr>
          <p:cNvPr id="17" name="TextBox 16"/>
          <p:cNvSpPr txBox="1"/>
          <p:nvPr/>
        </p:nvSpPr>
        <p:spPr>
          <a:xfrm>
            <a:off x="2807208" y="2359152"/>
            <a:ext cx="1965960" cy="320040"/>
          </a:xfrm>
          <a:prstGeom prst="rect">
            <a:avLst/>
          </a:prstGeom>
          <a:noFill/>
        </p:spPr>
        <p:txBody>
          <a:bodyPr wrap="none" lIns="0" rIns="0" tIns="0" bIns="0">
            <a:spAutoFit/>
          </a:bodyPr>
          <a:lstStyle/>
          <a:p>
            <a:pPr algn="l">
              <a:lnSpc>
                <a:spcPts val="2352"/>
              </a:lnSpc>
              <a:spcAft>
                <a:spcPts val="0"/>
              </a:spcAft>
              <a:defRPr sz="2100" b="0">
                <a:solidFill>
                  <a:srgbClr val="182B3A"/>
                </a:solidFill>
                <a:latin typeface="Arial"/>
              </a:defRPr>
            </a:pPr>
            <a:r>
              <a:t>19</a:t>
            </a:r>
          </a:p>
        </p:txBody>
      </p:sp>
      <p:sp>
        <p:nvSpPr>
          <p:cNvPr id="18" name="Rectangle 17"/>
          <p:cNvSpPr/>
          <p:nvPr/>
        </p:nvSpPr>
        <p:spPr>
          <a:xfrm>
            <a:off x="2523744" y="2359152"/>
            <a:ext cx="219456" cy="27432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2523744" y="2359152"/>
            <a:ext cx="219456" cy="274320"/>
          </a:xfrm>
          <a:prstGeom prst="rect">
            <a:avLst/>
          </a:prstGeom>
          <a:noFill/>
        </p:spPr>
        <p:txBody>
          <a:bodyPr wrap="none" lIns="0" rIns="0" tIns="0" bIns="0">
            <a:spAutoFit/>
          </a:bodyPr>
          <a:lstStyle/>
          <a:p>
            <a:pPr algn="ctr">
              <a:lnSpc>
                <a:spcPts val="2352"/>
              </a:lnSpc>
              <a:spcAft>
                <a:spcPts val="0"/>
              </a:spcAft>
              <a:defRPr sz="2100" b="0">
                <a:solidFill>
                  <a:srgbClr val="182B3A"/>
                </a:solidFill>
                <a:latin typeface="Arial"/>
              </a:defRPr>
            </a:pPr>
            <a:r>
              <a:t>=</a:t>
            </a:r>
          </a:p>
        </p:txBody>
      </p:sp>
      <p:sp>
        <p:nvSpPr>
          <p:cNvPr id="20" name="TextBox 19"/>
          <p:cNvSpPr txBox="1"/>
          <p:nvPr/>
        </p:nvSpPr>
        <p:spPr>
          <a:xfrm>
            <a:off x="493776" y="2724912"/>
            <a:ext cx="1984248" cy="320040"/>
          </a:xfrm>
          <a:prstGeom prst="rect">
            <a:avLst/>
          </a:prstGeom>
          <a:noFill/>
        </p:spPr>
        <p:txBody>
          <a:bodyPr wrap="none" lIns="0" rIns="0" tIns="0" bIns="0">
            <a:spAutoFit/>
          </a:bodyPr>
          <a:lstStyle/>
          <a:p>
            <a:pPr algn="r">
              <a:lnSpc>
                <a:spcPts val="2016"/>
              </a:lnSpc>
              <a:spcAft>
                <a:spcPts val="0"/>
              </a:spcAft>
              <a:defRPr sz="1800" b="0">
                <a:solidFill>
                  <a:srgbClr val="3559A2"/>
                </a:solidFill>
                <a:latin typeface="Arial"/>
              </a:defRPr>
            </a:pPr>
            <a:r>
              <a:t>− 7</a:t>
            </a:r>
          </a:p>
        </p:txBody>
      </p:sp>
      <p:sp>
        <p:nvSpPr>
          <p:cNvPr id="21" name="TextBox 20"/>
          <p:cNvSpPr txBox="1"/>
          <p:nvPr/>
        </p:nvSpPr>
        <p:spPr>
          <a:xfrm>
            <a:off x="2807208" y="2724912"/>
            <a:ext cx="1965960" cy="320040"/>
          </a:xfrm>
          <a:prstGeom prst="rect">
            <a:avLst/>
          </a:prstGeom>
          <a:noFill/>
        </p:spPr>
        <p:txBody>
          <a:bodyPr wrap="none" lIns="0" rIns="0" tIns="0" bIns="0">
            <a:spAutoFit/>
          </a:bodyPr>
          <a:lstStyle/>
          <a:p>
            <a:pPr algn="l">
              <a:lnSpc>
                <a:spcPts val="2016"/>
              </a:lnSpc>
              <a:spcAft>
                <a:spcPts val="0"/>
              </a:spcAft>
              <a:defRPr sz="1800" b="0">
                <a:solidFill>
                  <a:srgbClr val="3559A2"/>
                </a:solidFill>
                <a:latin typeface="Arial"/>
              </a:defRPr>
            </a:pPr>
            <a:r>
              <a:t>− 7</a:t>
            </a:r>
          </a:p>
        </p:txBody>
      </p:sp>
      <p:sp>
        <p:nvSpPr>
          <p:cNvPr id="22" name="TextBox 21"/>
          <p:cNvSpPr txBox="1"/>
          <p:nvPr/>
        </p:nvSpPr>
        <p:spPr>
          <a:xfrm>
            <a:off x="493776" y="3090672"/>
            <a:ext cx="1984248" cy="320040"/>
          </a:xfrm>
          <a:prstGeom prst="rect">
            <a:avLst/>
          </a:prstGeom>
          <a:noFill/>
        </p:spPr>
        <p:txBody>
          <a:bodyPr wrap="none" lIns="0" rIns="0" tIns="0" bIns="0">
            <a:spAutoFit/>
          </a:bodyPr>
          <a:lstStyle/>
          <a:p>
            <a:pPr algn="r">
              <a:lnSpc>
                <a:spcPts val="2352"/>
              </a:lnSpc>
              <a:spcAft>
                <a:spcPts val="0"/>
              </a:spcAft>
              <a:defRPr sz="2100" b="0">
                <a:solidFill>
                  <a:srgbClr val="182B3A"/>
                </a:solidFill>
                <a:latin typeface="Arial"/>
              </a:defRPr>
            </a:pPr>
            <a:r>
              <a:t>x</a:t>
            </a:r>
          </a:p>
        </p:txBody>
      </p:sp>
      <p:sp>
        <p:nvSpPr>
          <p:cNvPr id="23" name="TextBox 22"/>
          <p:cNvSpPr txBox="1"/>
          <p:nvPr/>
        </p:nvSpPr>
        <p:spPr>
          <a:xfrm>
            <a:off x="2807208" y="3090672"/>
            <a:ext cx="1965960" cy="320040"/>
          </a:xfrm>
          <a:prstGeom prst="rect">
            <a:avLst/>
          </a:prstGeom>
          <a:noFill/>
        </p:spPr>
        <p:txBody>
          <a:bodyPr wrap="none" lIns="0" rIns="0" tIns="0" bIns="0">
            <a:spAutoFit/>
          </a:bodyPr>
          <a:lstStyle/>
          <a:p>
            <a:pPr algn="l">
              <a:lnSpc>
                <a:spcPts val="2352"/>
              </a:lnSpc>
              <a:spcAft>
                <a:spcPts val="0"/>
              </a:spcAft>
              <a:defRPr sz="2100" b="0">
                <a:solidFill>
                  <a:srgbClr val="182B3A"/>
                </a:solidFill>
                <a:latin typeface="Arial"/>
              </a:defRPr>
            </a:pPr>
            <a:r>
              <a:t>12</a:t>
            </a:r>
          </a:p>
        </p:txBody>
      </p:sp>
      <p:sp>
        <p:nvSpPr>
          <p:cNvPr id="24" name="Rectangle 23"/>
          <p:cNvSpPr/>
          <p:nvPr/>
        </p:nvSpPr>
        <p:spPr>
          <a:xfrm>
            <a:off x="2523744" y="3090672"/>
            <a:ext cx="219456" cy="27432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2523744" y="3090672"/>
            <a:ext cx="219456" cy="274320"/>
          </a:xfrm>
          <a:prstGeom prst="rect">
            <a:avLst/>
          </a:prstGeom>
          <a:noFill/>
        </p:spPr>
        <p:txBody>
          <a:bodyPr wrap="none" lIns="0" rIns="0" tIns="0" bIns="0">
            <a:spAutoFit/>
          </a:bodyPr>
          <a:lstStyle/>
          <a:p>
            <a:pPr algn="ctr">
              <a:lnSpc>
                <a:spcPts val="2352"/>
              </a:lnSpc>
              <a:spcAft>
                <a:spcPts val="0"/>
              </a:spcAft>
              <a:defRPr sz="2100" b="0">
                <a:solidFill>
                  <a:srgbClr val="182B3A"/>
                </a:solidFill>
                <a:latin typeface="Arial"/>
              </a:defRPr>
            </a:pPr>
            <a:r>
              <a:t>=</a:t>
            </a:r>
          </a:p>
        </p:txBody>
      </p:sp>
      <p:sp>
        <p:nvSpPr>
          <p:cNvPr id="26" name="TextBox 25"/>
          <p:cNvSpPr txBox="1"/>
          <p:nvPr/>
        </p:nvSpPr>
        <p:spPr>
          <a:xfrm>
            <a:off x="457200" y="4681728"/>
            <a:ext cx="4352544" cy="2770632"/>
          </a:xfrm>
          <a:prstGeom prst="rect">
            <a:avLst/>
          </a:prstGeom>
          <a:noFill/>
        </p:spPr>
        <p:txBody>
          <a:bodyPr wrap="square" lIns="54864" rIns="54864" tIns="22860" bIns="22860">
            <a:spAutoFit/>
          </a:bodyPr>
          <a:lstStyle/>
          <a:p>
            <a:pPr>
              <a:lnSpc>
                <a:spcPts val="1995"/>
              </a:lnSpc>
              <a:spcBef>
                <a:spcPts val="0"/>
              </a:spcBef>
              <a:spcAft>
                <a:spcPts val="0"/>
              </a:spcAft>
              <a:defRPr sz="1900" b="0">
                <a:solidFill>
                  <a:srgbClr val="182B3A"/>
                </a:solidFill>
                <a:latin typeface="Arial"/>
              </a:defRPr>
            </a:pPr>
            <a:r>
              <a:t>Do the same operation to both whole sides.</a:t>
            </a:r>
          </a:p>
          <a:p>
            <a:pPr>
              <a:lnSpc>
                <a:spcPts val="1995"/>
              </a:lnSpc>
              <a:spcBef>
                <a:spcPts val="0"/>
              </a:spcBef>
              <a:spcAft>
                <a:spcPts val="0"/>
              </a:spcAft>
              <a:defRPr sz="1900" b="0">
                <a:solidFill>
                  <a:srgbClr val="182B3A"/>
                </a:solidFill>
                <a:latin typeface="Arial"/>
              </a:defRPr>
            </a:pPr>
          </a:p>
          <a:p>
            <a:pPr>
              <a:lnSpc>
                <a:spcPts val="1995"/>
              </a:lnSpc>
              <a:spcBef>
                <a:spcPts val="0"/>
              </a:spcBef>
              <a:spcAft>
                <a:spcPts val="0"/>
              </a:spcAft>
              <a:defRPr sz="1900" b="0">
                <a:solidFill>
                  <a:srgbClr val="182B3A"/>
                </a:solidFill>
                <a:latin typeface="Arial"/>
              </a:defRPr>
            </a:pPr>
            <a:r>
              <a:t>Undo addition/subtraction before a remaining multiplication or division.</a:t>
            </a:r>
          </a:p>
          <a:p>
            <a:pPr>
              <a:lnSpc>
                <a:spcPts val="1995"/>
              </a:lnSpc>
              <a:spcBef>
                <a:spcPts val="0"/>
              </a:spcBef>
              <a:spcAft>
                <a:spcPts val="0"/>
              </a:spcAft>
              <a:defRPr sz="1900" b="0">
                <a:solidFill>
                  <a:srgbClr val="182B3A"/>
                </a:solidFill>
                <a:latin typeface="Arial"/>
              </a:defRPr>
            </a:pPr>
          </a:p>
          <a:p>
            <a:pPr>
              <a:lnSpc>
                <a:spcPts val="1995"/>
              </a:lnSpc>
              <a:spcBef>
                <a:spcPts val="0"/>
              </a:spcBef>
              <a:spcAft>
                <a:spcPts val="0"/>
              </a:spcAft>
              <a:defRPr sz="1900" b="0">
                <a:solidFill>
                  <a:srgbClr val="182B3A"/>
                </a:solidFill>
                <a:latin typeface="Arial"/>
              </a:defRPr>
            </a:pPr>
            <a:r>
              <a:t>A negative divided by a positive is negative: −12 ÷ 3 = −4.</a:t>
            </a:r>
          </a:p>
        </p:txBody>
      </p:sp>
      <p:sp>
        <p:nvSpPr>
          <p:cNvPr id="27" name="Rectangle 26"/>
          <p:cNvSpPr/>
          <p:nvPr/>
        </p:nvSpPr>
        <p:spPr>
          <a:xfrm>
            <a:off x="4983480" y="1627632"/>
            <a:ext cx="4626864" cy="6080760"/>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5093208" y="1773936"/>
            <a:ext cx="4389120" cy="457200"/>
          </a:xfrm>
          <a:prstGeom prst="rect">
            <a:avLst/>
          </a:prstGeom>
          <a:noFill/>
        </p:spPr>
        <p:txBody>
          <a:bodyPr wrap="square" lIns="54864" rIns="54864" tIns="22860" bIns="22860">
            <a:spAutoFit/>
          </a:bodyPr>
          <a:lstStyle/>
          <a:p>
            <a:pPr>
              <a:lnSpc>
                <a:spcPts val="2310"/>
              </a:lnSpc>
              <a:spcBef>
                <a:spcPts val="0"/>
              </a:spcBef>
              <a:spcAft>
                <a:spcPts val="0"/>
              </a:spcAft>
              <a:defRPr sz="2200" b="1">
                <a:solidFill>
                  <a:srgbClr val="182B3A"/>
                </a:solidFill>
                <a:latin typeface="Arial"/>
              </a:defRPr>
            </a:pPr>
            <a:r>
              <a:t>Simplify or factorise</a:t>
            </a:r>
          </a:p>
        </p:txBody>
      </p:sp>
      <p:cxnSp>
        <p:nvCxnSpPr>
          <p:cNvPr id="29" name="Connector 28"/>
          <p:cNvCxnSpPr/>
          <p:nvPr/>
        </p:nvCxnSpPr>
        <p:spPr>
          <a:xfrm>
            <a:off x="7296912" y="2377440"/>
            <a:ext cx="0" cy="2212848"/>
          </a:xfrm>
          <a:prstGeom prst="line">
            <a:avLst/>
          </a:prstGeom>
          <a:ln w="15240">
            <a:solidFill>
              <a:srgbClr val="8193A0"/>
            </a:solidFill>
          </a:ln>
          <a:effectLst/>
        </p:spPr>
        <p:style>
          <a:lnRef idx="2">
            <a:schemeClr val="accent1"/>
          </a:lnRef>
          <a:fillRef idx="0">
            <a:schemeClr val="accent1"/>
          </a:fillRef>
          <a:effectRef idx="1">
            <a:schemeClr val="accent1"/>
          </a:effectRef>
          <a:fontRef idx="minor">
            <a:schemeClr val="tx1"/>
          </a:fontRef>
        </p:style>
      </p:cxnSp>
      <p:sp>
        <p:nvSpPr>
          <p:cNvPr id="30" name="TextBox 29"/>
          <p:cNvSpPr txBox="1"/>
          <p:nvPr/>
        </p:nvSpPr>
        <p:spPr>
          <a:xfrm>
            <a:off x="5157216" y="2359152"/>
            <a:ext cx="1984248" cy="320040"/>
          </a:xfrm>
          <a:prstGeom prst="rect">
            <a:avLst/>
          </a:prstGeom>
          <a:noFill/>
        </p:spPr>
        <p:txBody>
          <a:bodyPr wrap="none" lIns="0" rIns="0" tIns="0" bIns="0">
            <a:spAutoFit/>
          </a:bodyPr>
          <a:lstStyle/>
          <a:p>
            <a:pPr algn="r">
              <a:lnSpc>
                <a:spcPts val="2352"/>
              </a:lnSpc>
              <a:spcAft>
                <a:spcPts val="0"/>
              </a:spcAft>
              <a:defRPr sz="2100" b="0">
                <a:solidFill>
                  <a:srgbClr val="182B3A"/>
                </a:solidFill>
                <a:latin typeface="Arial"/>
              </a:defRPr>
            </a:pPr>
            <a:r>
              <a:t>6x + 12</a:t>
            </a:r>
          </a:p>
        </p:txBody>
      </p:sp>
      <p:sp>
        <p:nvSpPr>
          <p:cNvPr id="31" name="TextBox 30"/>
          <p:cNvSpPr txBox="1"/>
          <p:nvPr/>
        </p:nvSpPr>
        <p:spPr>
          <a:xfrm>
            <a:off x="7470648" y="2359152"/>
            <a:ext cx="1965960" cy="320040"/>
          </a:xfrm>
          <a:prstGeom prst="rect">
            <a:avLst/>
          </a:prstGeom>
          <a:noFill/>
        </p:spPr>
        <p:txBody>
          <a:bodyPr wrap="none" lIns="0" rIns="0" tIns="0" bIns="0">
            <a:spAutoFit/>
          </a:bodyPr>
          <a:lstStyle/>
          <a:p>
            <a:pPr algn="l">
              <a:lnSpc>
                <a:spcPts val="2352"/>
              </a:lnSpc>
              <a:spcAft>
                <a:spcPts val="0"/>
              </a:spcAft>
              <a:defRPr sz="2100" b="0">
                <a:solidFill>
                  <a:srgbClr val="182B3A"/>
                </a:solidFill>
                <a:latin typeface="Arial"/>
              </a:defRPr>
            </a:pPr>
            <a:r>
              <a:t>30</a:t>
            </a:r>
          </a:p>
        </p:txBody>
      </p:sp>
      <p:sp>
        <p:nvSpPr>
          <p:cNvPr id="32" name="Rectangle 31"/>
          <p:cNvSpPr/>
          <p:nvPr/>
        </p:nvSpPr>
        <p:spPr>
          <a:xfrm>
            <a:off x="7187184" y="2359152"/>
            <a:ext cx="219456" cy="27432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7187184" y="2359152"/>
            <a:ext cx="219456" cy="274320"/>
          </a:xfrm>
          <a:prstGeom prst="rect">
            <a:avLst/>
          </a:prstGeom>
          <a:noFill/>
        </p:spPr>
        <p:txBody>
          <a:bodyPr wrap="none" lIns="0" rIns="0" tIns="0" bIns="0">
            <a:spAutoFit/>
          </a:bodyPr>
          <a:lstStyle/>
          <a:p>
            <a:pPr algn="ctr">
              <a:lnSpc>
                <a:spcPts val="2352"/>
              </a:lnSpc>
              <a:spcAft>
                <a:spcPts val="0"/>
              </a:spcAft>
              <a:defRPr sz="2100" b="0">
                <a:solidFill>
                  <a:srgbClr val="182B3A"/>
                </a:solidFill>
                <a:latin typeface="Arial"/>
              </a:defRPr>
            </a:pPr>
            <a:r>
              <a:t>=</a:t>
            </a:r>
          </a:p>
        </p:txBody>
      </p:sp>
      <p:sp>
        <p:nvSpPr>
          <p:cNvPr id="34" name="TextBox 33"/>
          <p:cNvSpPr txBox="1"/>
          <p:nvPr/>
        </p:nvSpPr>
        <p:spPr>
          <a:xfrm>
            <a:off x="5157216" y="2724912"/>
            <a:ext cx="1984248" cy="320040"/>
          </a:xfrm>
          <a:prstGeom prst="rect">
            <a:avLst/>
          </a:prstGeom>
          <a:noFill/>
        </p:spPr>
        <p:txBody>
          <a:bodyPr wrap="none" lIns="0" rIns="0" tIns="0" bIns="0">
            <a:spAutoFit/>
          </a:bodyPr>
          <a:lstStyle/>
          <a:p>
            <a:pPr algn="r">
              <a:lnSpc>
                <a:spcPts val="2352"/>
              </a:lnSpc>
              <a:spcAft>
                <a:spcPts val="0"/>
              </a:spcAft>
              <a:defRPr sz="2100" b="0">
                <a:solidFill>
                  <a:srgbClr val="182B3A"/>
                </a:solidFill>
                <a:latin typeface="Arial"/>
              </a:defRPr>
            </a:pPr>
            <a:r>
              <a:t>6(x + 2)</a:t>
            </a:r>
          </a:p>
        </p:txBody>
      </p:sp>
      <p:sp>
        <p:nvSpPr>
          <p:cNvPr id="35" name="TextBox 34"/>
          <p:cNvSpPr txBox="1"/>
          <p:nvPr/>
        </p:nvSpPr>
        <p:spPr>
          <a:xfrm>
            <a:off x="7470648" y="2724912"/>
            <a:ext cx="1965960" cy="320040"/>
          </a:xfrm>
          <a:prstGeom prst="rect">
            <a:avLst/>
          </a:prstGeom>
          <a:noFill/>
        </p:spPr>
        <p:txBody>
          <a:bodyPr wrap="none" lIns="0" rIns="0" tIns="0" bIns="0">
            <a:spAutoFit/>
          </a:bodyPr>
          <a:lstStyle/>
          <a:p>
            <a:pPr algn="l">
              <a:lnSpc>
                <a:spcPts val="2352"/>
              </a:lnSpc>
              <a:spcAft>
                <a:spcPts val="0"/>
              </a:spcAft>
              <a:defRPr sz="2100" b="0">
                <a:solidFill>
                  <a:srgbClr val="182B3A"/>
                </a:solidFill>
                <a:latin typeface="Arial"/>
              </a:defRPr>
            </a:pPr>
            <a:r>
              <a:t>30</a:t>
            </a:r>
          </a:p>
        </p:txBody>
      </p:sp>
      <p:sp>
        <p:nvSpPr>
          <p:cNvPr id="36" name="Rectangle 35"/>
          <p:cNvSpPr/>
          <p:nvPr/>
        </p:nvSpPr>
        <p:spPr>
          <a:xfrm>
            <a:off x="7187184" y="2724912"/>
            <a:ext cx="219456" cy="27432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7187184" y="2724912"/>
            <a:ext cx="219456" cy="274320"/>
          </a:xfrm>
          <a:prstGeom prst="rect">
            <a:avLst/>
          </a:prstGeom>
          <a:noFill/>
        </p:spPr>
        <p:txBody>
          <a:bodyPr wrap="none" lIns="0" rIns="0" tIns="0" bIns="0">
            <a:spAutoFit/>
          </a:bodyPr>
          <a:lstStyle/>
          <a:p>
            <a:pPr algn="ctr">
              <a:lnSpc>
                <a:spcPts val="2352"/>
              </a:lnSpc>
              <a:spcAft>
                <a:spcPts val="0"/>
              </a:spcAft>
              <a:defRPr sz="2100" b="0">
                <a:solidFill>
                  <a:srgbClr val="182B3A"/>
                </a:solidFill>
                <a:latin typeface="Arial"/>
              </a:defRPr>
            </a:pPr>
            <a:r>
              <a:t>=</a:t>
            </a:r>
          </a:p>
        </p:txBody>
      </p:sp>
      <p:sp>
        <p:nvSpPr>
          <p:cNvPr id="38" name="TextBox 37"/>
          <p:cNvSpPr txBox="1"/>
          <p:nvPr/>
        </p:nvSpPr>
        <p:spPr>
          <a:xfrm>
            <a:off x="5157216" y="3090672"/>
            <a:ext cx="1984248" cy="320040"/>
          </a:xfrm>
          <a:prstGeom prst="rect">
            <a:avLst/>
          </a:prstGeom>
          <a:noFill/>
        </p:spPr>
        <p:txBody>
          <a:bodyPr wrap="none" lIns="0" rIns="0" tIns="0" bIns="0">
            <a:spAutoFit/>
          </a:bodyPr>
          <a:lstStyle/>
          <a:p>
            <a:pPr algn="r">
              <a:lnSpc>
                <a:spcPts val="2016"/>
              </a:lnSpc>
              <a:spcAft>
                <a:spcPts val="0"/>
              </a:spcAft>
              <a:defRPr sz="1800" b="0">
                <a:solidFill>
                  <a:srgbClr val="3559A2"/>
                </a:solidFill>
                <a:latin typeface="Arial"/>
              </a:defRPr>
            </a:pPr>
            <a:r>
              <a:t>÷ 6</a:t>
            </a:r>
          </a:p>
        </p:txBody>
      </p:sp>
      <p:sp>
        <p:nvSpPr>
          <p:cNvPr id="39" name="TextBox 38"/>
          <p:cNvSpPr txBox="1"/>
          <p:nvPr/>
        </p:nvSpPr>
        <p:spPr>
          <a:xfrm>
            <a:off x="7470648" y="3090672"/>
            <a:ext cx="1965960" cy="320040"/>
          </a:xfrm>
          <a:prstGeom prst="rect">
            <a:avLst/>
          </a:prstGeom>
          <a:noFill/>
        </p:spPr>
        <p:txBody>
          <a:bodyPr wrap="none" lIns="0" rIns="0" tIns="0" bIns="0">
            <a:spAutoFit/>
          </a:bodyPr>
          <a:lstStyle/>
          <a:p>
            <a:pPr algn="l">
              <a:lnSpc>
                <a:spcPts val="2016"/>
              </a:lnSpc>
              <a:spcAft>
                <a:spcPts val="0"/>
              </a:spcAft>
              <a:defRPr sz="1800" b="0">
                <a:solidFill>
                  <a:srgbClr val="3559A2"/>
                </a:solidFill>
                <a:latin typeface="Arial"/>
              </a:defRPr>
            </a:pPr>
            <a:r>
              <a:t>÷ 6</a:t>
            </a:r>
          </a:p>
        </p:txBody>
      </p:sp>
      <p:sp>
        <p:nvSpPr>
          <p:cNvPr id="40" name="TextBox 39"/>
          <p:cNvSpPr txBox="1"/>
          <p:nvPr/>
        </p:nvSpPr>
        <p:spPr>
          <a:xfrm>
            <a:off x="5157216" y="3456432"/>
            <a:ext cx="1984248" cy="320040"/>
          </a:xfrm>
          <a:prstGeom prst="rect">
            <a:avLst/>
          </a:prstGeom>
          <a:noFill/>
        </p:spPr>
        <p:txBody>
          <a:bodyPr wrap="none" lIns="0" rIns="0" tIns="0" bIns="0">
            <a:spAutoFit/>
          </a:bodyPr>
          <a:lstStyle/>
          <a:p>
            <a:pPr algn="r">
              <a:lnSpc>
                <a:spcPts val="2352"/>
              </a:lnSpc>
              <a:spcAft>
                <a:spcPts val="0"/>
              </a:spcAft>
              <a:defRPr sz="2100" b="0">
                <a:solidFill>
                  <a:srgbClr val="182B3A"/>
                </a:solidFill>
                <a:latin typeface="Arial"/>
              </a:defRPr>
            </a:pPr>
            <a:r>
              <a:t>x + 2</a:t>
            </a:r>
          </a:p>
        </p:txBody>
      </p:sp>
      <p:sp>
        <p:nvSpPr>
          <p:cNvPr id="41" name="TextBox 40"/>
          <p:cNvSpPr txBox="1"/>
          <p:nvPr/>
        </p:nvSpPr>
        <p:spPr>
          <a:xfrm>
            <a:off x="7470648" y="3456432"/>
            <a:ext cx="1965960" cy="320040"/>
          </a:xfrm>
          <a:prstGeom prst="rect">
            <a:avLst/>
          </a:prstGeom>
          <a:noFill/>
        </p:spPr>
        <p:txBody>
          <a:bodyPr wrap="none" lIns="0" rIns="0" tIns="0" bIns="0">
            <a:spAutoFit/>
          </a:bodyPr>
          <a:lstStyle/>
          <a:p>
            <a:pPr algn="l">
              <a:lnSpc>
                <a:spcPts val="2352"/>
              </a:lnSpc>
              <a:spcAft>
                <a:spcPts val="0"/>
              </a:spcAft>
              <a:defRPr sz="2100" b="0">
                <a:solidFill>
                  <a:srgbClr val="182B3A"/>
                </a:solidFill>
                <a:latin typeface="Arial"/>
              </a:defRPr>
            </a:pPr>
            <a:r>
              <a:t>5</a:t>
            </a:r>
          </a:p>
        </p:txBody>
      </p:sp>
      <p:sp>
        <p:nvSpPr>
          <p:cNvPr id="42" name="Rectangle 41"/>
          <p:cNvSpPr/>
          <p:nvPr/>
        </p:nvSpPr>
        <p:spPr>
          <a:xfrm>
            <a:off x="7187184" y="3456432"/>
            <a:ext cx="219456" cy="27432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7187184" y="3456432"/>
            <a:ext cx="219456" cy="274320"/>
          </a:xfrm>
          <a:prstGeom prst="rect">
            <a:avLst/>
          </a:prstGeom>
          <a:noFill/>
        </p:spPr>
        <p:txBody>
          <a:bodyPr wrap="none" lIns="0" rIns="0" tIns="0" bIns="0">
            <a:spAutoFit/>
          </a:bodyPr>
          <a:lstStyle/>
          <a:p>
            <a:pPr algn="ctr">
              <a:lnSpc>
                <a:spcPts val="2352"/>
              </a:lnSpc>
              <a:spcAft>
                <a:spcPts val="0"/>
              </a:spcAft>
              <a:defRPr sz="2100" b="0">
                <a:solidFill>
                  <a:srgbClr val="182B3A"/>
                </a:solidFill>
                <a:latin typeface="Arial"/>
              </a:defRPr>
            </a:pPr>
            <a:r>
              <a:t>=</a:t>
            </a:r>
          </a:p>
        </p:txBody>
      </p:sp>
      <p:sp>
        <p:nvSpPr>
          <p:cNvPr id="44" name="TextBox 43"/>
          <p:cNvSpPr txBox="1"/>
          <p:nvPr/>
        </p:nvSpPr>
        <p:spPr>
          <a:xfrm>
            <a:off x="5157216" y="3822191"/>
            <a:ext cx="1984248" cy="320040"/>
          </a:xfrm>
          <a:prstGeom prst="rect">
            <a:avLst/>
          </a:prstGeom>
          <a:noFill/>
        </p:spPr>
        <p:txBody>
          <a:bodyPr wrap="none" lIns="0" rIns="0" tIns="0" bIns="0">
            <a:spAutoFit/>
          </a:bodyPr>
          <a:lstStyle/>
          <a:p>
            <a:pPr algn="r">
              <a:lnSpc>
                <a:spcPts val="2016"/>
              </a:lnSpc>
              <a:spcAft>
                <a:spcPts val="0"/>
              </a:spcAft>
              <a:defRPr sz="1800" b="0">
                <a:solidFill>
                  <a:srgbClr val="3559A2"/>
                </a:solidFill>
                <a:latin typeface="Arial"/>
              </a:defRPr>
            </a:pPr>
            <a:r>
              <a:t>− 2</a:t>
            </a:r>
          </a:p>
        </p:txBody>
      </p:sp>
      <p:sp>
        <p:nvSpPr>
          <p:cNvPr id="45" name="TextBox 44"/>
          <p:cNvSpPr txBox="1"/>
          <p:nvPr/>
        </p:nvSpPr>
        <p:spPr>
          <a:xfrm>
            <a:off x="7470648" y="3822191"/>
            <a:ext cx="1965960" cy="320040"/>
          </a:xfrm>
          <a:prstGeom prst="rect">
            <a:avLst/>
          </a:prstGeom>
          <a:noFill/>
        </p:spPr>
        <p:txBody>
          <a:bodyPr wrap="none" lIns="0" rIns="0" tIns="0" bIns="0">
            <a:spAutoFit/>
          </a:bodyPr>
          <a:lstStyle/>
          <a:p>
            <a:pPr algn="l">
              <a:lnSpc>
                <a:spcPts val="2016"/>
              </a:lnSpc>
              <a:spcAft>
                <a:spcPts val="0"/>
              </a:spcAft>
              <a:defRPr sz="1800" b="0">
                <a:solidFill>
                  <a:srgbClr val="3559A2"/>
                </a:solidFill>
                <a:latin typeface="Arial"/>
              </a:defRPr>
            </a:pPr>
            <a:r>
              <a:t>− 2</a:t>
            </a:r>
          </a:p>
        </p:txBody>
      </p:sp>
      <p:sp>
        <p:nvSpPr>
          <p:cNvPr id="46" name="TextBox 45"/>
          <p:cNvSpPr txBox="1"/>
          <p:nvPr/>
        </p:nvSpPr>
        <p:spPr>
          <a:xfrm>
            <a:off x="5157216" y="4187952"/>
            <a:ext cx="1984248" cy="320040"/>
          </a:xfrm>
          <a:prstGeom prst="rect">
            <a:avLst/>
          </a:prstGeom>
          <a:noFill/>
        </p:spPr>
        <p:txBody>
          <a:bodyPr wrap="none" lIns="0" rIns="0" tIns="0" bIns="0">
            <a:spAutoFit/>
          </a:bodyPr>
          <a:lstStyle/>
          <a:p>
            <a:pPr algn="r">
              <a:lnSpc>
                <a:spcPts val="2352"/>
              </a:lnSpc>
              <a:spcAft>
                <a:spcPts val="0"/>
              </a:spcAft>
              <a:defRPr sz="2100" b="0">
                <a:solidFill>
                  <a:srgbClr val="182B3A"/>
                </a:solidFill>
                <a:latin typeface="Arial"/>
              </a:defRPr>
            </a:pPr>
            <a:r>
              <a:t>x</a:t>
            </a:r>
          </a:p>
        </p:txBody>
      </p:sp>
      <p:sp>
        <p:nvSpPr>
          <p:cNvPr id="47" name="TextBox 46"/>
          <p:cNvSpPr txBox="1"/>
          <p:nvPr/>
        </p:nvSpPr>
        <p:spPr>
          <a:xfrm>
            <a:off x="7470648" y="4187952"/>
            <a:ext cx="1965960" cy="320040"/>
          </a:xfrm>
          <a:prstGeom prst="rect">
            <a:avLst/>
          </a:prstGeom>
          <a:noFill/>
        </p:spPr>
        <p:txBody>
          <a:bodyPr wrap="none" lIns="0" rIns="0" tIns="0" bIns="0">
            <a:spAutoFit/>
          </a:bodyPr>
          <a:lstStyle/>
          <a:p>
            <a:pPr algn="l">
              <a:lnSpc>
                <a:spcPts val="2352"/>
              </a:lnSpc>
              <a:spcAft>
                <a:spcPts val="0"/>
              </a:spcAft>
              <a:defRPr sz="2100" b="0">
                <a:solidFill>
                  <a:srgbClr val="182B3A"/>
                </a:solidFill>
                <a:latin typeface="Arial"/>
              </a:defRPr>
            </a:pPr>
            <a:r>
              <a:t>3</a:t>
            </a:r>
          </a:p>
        </p:txBody>
      </p:sp>
      <p:sp>
        <p:nvSpPr>
          <p:cNvPr id="48" name="Rectangle 47"/>
          <p:cNvSpPr/>
          <p:nvPr/>
        </p:nvSpPr>
        <p:spPr>
          <a:xfrm>
            <a:off x="7187184" y="4187952"/>
            <a:ext cx="219456" cy="27432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TextBox 48"/>
          <p:cNvSpPr txBox="1"/>
          <p:nvPr/>
        </p:nvSpPr>
        <p:spPr>
          <a:xfrm>
            <a:off x="7187184" y="4187952"/>
            <a:ext cx="219456" cy="274320"/>
          </a:xfrm>
          <a:prstGeom prst="rect">
            <a:avLst/>
          </a:prstGeom>
          <a:noFill/>
        </p:spPr>
        <p:txBody>
          <a:bodyPr wrap="none" lIns="0" rIns="0" tIns="0" bIns="0">
            <a:spAutoFit/>
          </a:bodyPr>
          <a:lstStyle/>
          <a:p>
            <a:pPr algn="ctr">
              <a:lnSpc>
                <a:spcPts val="2352"/>
              </a:lnSpc>
              <a:spcAft>
                <a:spcPts val="0"/>
              </a:spcAft>
              <a:defRPr sz="2100" b="0">
                <a:solidFill>
                  <a:srgbClr val="182B3A"/>
                </a:solidFill>
                <a:latin typeface="Arial"/>
              </a:defRPr>
            </a:pPr>
            <a:r>
              <a:t>=</a:t>
            </a:r>
          </a:p>
        </p:txBody>
      </p:sp>
      <p:sp>
        <p:nvSpPr>
          <p:cNvPr id="50" name="TextBox 49"/>
          <p:cNvSpPr txBox="1"/>
          <p:nvPr/>
        </p:nvSpPr>
        <p:spPr>
          <a:xfrm>
            <a:off x="5120640" y="4681728"/>
            <a:ext cx="4352544" cy="2770632"/>
          </a:xfrm>
          <a:prstGeom prst="rect">
            <a:avLst/>
          </a:prstGeom>
          <a:noFill/>
        </p:spPr>
        <p:txBody>
          <a:bodyPr wrap="square" lIns="54864" rIns="54864" tIns="22860" bIns="22860">
            <a:spAutoFit/>
          </a:bodyPr>
          <a:lstStyle/>
          <a:p>
            <a:pPr>
              <a:lnSpc>
                <a:spcPts val="1995"/>
              </a:lnSpc>
              <a:spcBef>
                <a:spcPts val="0"/>
              </a:spcBef>
              <a:spcAft>
                <a:spcPts val="0"/>
              </a:spcAft>
              <a:defRPr sz="1900" b="0">
                <a:solidFill>
                  <a:srgbClr val="182B3A"/>
                </a:solidFill>
                <a:latin typeface="Arial"/>
              </a:defRPr>
            </a:pPr>
            <a:r>
              <a:t>Collect like terms: 2x + 3x = 5x.</a:t>
            </a:r>
          </a:p>
          <a:p>
            <a:pPr>
              <a:lnSpc>
                <a:spcPts val="1995"/>
              </a:lnSpc>
              <a:spcBef>
                <a:spcPts val="0"/>
              </a:spcBef>
              <a:spcAft>
                <a:spcPts val="0"/>
              </a:spcAft>
              <a:defRPr sz="1900" b="0">
                <a:solidFill>
                  <a:srgbClr val="182B3A"/>
                </a:solidFill>
                <a:latin typeface="Arial"/>
              </a:defRPr>
            </a:pPr>
          </a:p>
          <a:p>
            <a:pPr>
              <a:lnSpc>
                <a:spcPts val="1995"/>
              </a:lnSpc>
              <a:spcBef>
                <a:spcPts val="0"/>
              </a:spcBef>
              <a:spcAft>
                <a:spcPts val="0"/>
              </a:spcAft>
              <a:defRPr sz="1900" b="0">
                <a:solidFill>
                  <a:srgbClr val="182B3A"/>
                </a:solidFill>
                <a:latin typeface="Arial"/>
              </a:defRPr>
            </a:pPr>
            <a:r>
              <a:t>A common factor belongs to every term: 6x + 12 = 6(x + 2).</a:t>
            </a:r>
          </a:p>
        </p:txBody>
      </p:sp>
      <p:sp>
        <p:nvSpPr>
          <p:cNvPr id="51" name="Rectangle 50"/>
          <p:cNvSpPr/>
          <p:nvPr/>
        </p:nvSpPr>
        <p:spPr>
          <a:xfrm>
            <a:off x="9646920" y="1627632"/>
            <a:ext cx="4626864" cy="6080760"/>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TextBox 51"/>
          <p:cNvSpPr txBox="1"/>
          <p:nvPr/>
        </p:nvSpPr>
        <p:spPr>
          <a:xfrm>
            <a:off x="9756648" y="1773936"/>
            <a:ext cx="4389120" cy="457200"/>
          </a:xfrm>
          <a:prstGeom prst="rect">
            <a:avLst/>
          </a:prstGeom>
          <a:noFill/>
        </p:spPr>
        <p:txBody>
          <a:bodyPr wrap="square" lIns="54864" rIns="54864" tIns="22860" bIns="22860">
            <a:spAutoFit/>
          </a:bodyPr>
          <a:lstStyle/>
          <a:p>
            <a:pPr>
              <a:lnSpc>
                <a:spcPts val="2310"/>
              </a:lnSpc>
              <a:spcBef>
                <a:spcPts val="0"/>
              </a:spcBef>
              <a:spcAft>
                <a:spcPts val="0"/>
              </a:spcAft>
              <a:defRPr sz="2200" b="1">
                <a:solidFill>
                  <a:srgbClr val="182B3A"/>
                </a:solidFill>
                <a:latin typeface="Arial"/>
              </a:defRPr>
            </a:pPr>
            <a:r>
              <a:t>Choose a short first step</a:t>
            </a:r>
          </a:p>
        </p:txBody>
      </p:sp>
      <p:cxnSp>
        <p:nvCxnSpPr>
          <p:cNvPr id="53" name="Connector 52"/>
          <p:cNvCxnSpPr/>
          <p:nvPr/>
        </p:nvCxnSpPr>
        <p:spPr>
          <a:xfrm>
            <a:off x="11960352" y="2377440"/>
            <a:ext cx="0" cy="1847088"/>
          </a:xfrm>
          <a:prstGeom prst="line">
            <a:avLst/>
          </a:prstGeom>
          <a:ln w="15240">
            <a:solidFill>
              <a:srgbClr val="8193A0"/>
            </a:solidFill>
          </a:ln>
          <a:effectLst/>
        </p:spPr>
        <p:style>
          <a:lnRef idx="2">
            <a:schemeClr val="accent1"/>
          </a:lnRef>
          <a:fillRef idx="0">
            <a:schemeClr val="accent1"/>
          </a:fillRef>
          <a:effectRef idx="1">
            <a:schemeClr val="accent1"/>
          </a:effectRef>
          <a:fontRef idx="minor">
            <a:schemeClr val="tx1"/>
          </a:fontRef>
        </p:style>
      </p:cxnSp>
      <p:sp>
        <p:nvSpPr>
          <p:cNvPr id="54" name="TextBox 53"/>
          <p:cNvSpPr txBox="1"/>
          <p:nvPr/>
        </p:nvSpPr>
        <p:spPr>
          <a:xfrm>
            <a:off x="9820656" y="2359152"/>
            <a:ext cx="1984248" cy="320040"/>
          </a:xfrm>
          <a:prstGeom prst="rect">
            <a:avLst/>
          </a:prstGeom>
          <a:noFill/>
        </p:spPr>
        <p:txBody>
          <a:bodyPr wrap="none" lIns="0" rIns="0" tIns="0" bIns="0">
            <a:spAutoFit/>
          </a:bodyPr>
          <a:lstStyle/>
          <a:p>
            <a:pPr algn="r">
              <a:lnSpc>
                <a:spcPts val="2352"/>
              </a:lnSpc>
              <a:spcAft>
                <a:spcPts val="0"/>
              </a:spcAft>
              <a:defRPr sz="2100" b="0">
                <a:solidFill>
                  <a:srgbClr val="182B3A"/>
                </a:solidFill>
                <a:latin typeface="Arial"/>
              </a:defRPr>
            </a:pPr>
            <a:r>
              <a:t>3(x + 4)</a:t>
            </a:r>
          </a:p>
        </p:txBody>
      </p:sp>
      <p:sp>
        <p:nvSpPr>
          <p:cNvPr id="55" name="TextBox 54"/>
          <p:cNvSpPr txBox="1"/>
          <p:nvPr/>
        </p:nvSpPr>
        <p:spPr>
          <a:xfrm>
            <a:off x="12134088" y="2359152"/>
            <a:ext cx="1965960" cy="320040"/>
          </a:xfrm>
          <a:prstGeom prst="rect">
            <a:avLst/>
          </a:prstGeom>
          <a:noFill/>
        </p:spPr>
        <p:txBody>
          <a:bodyPr wrap="none" lIns="0" rIns="0" tIns="0" bIns="0">
            <a:spAutoFit/>
          </a:bodyPr>
          <a:lstStyle/>
          <a:p>
            <a:pPr algn="l">
              <a:lnSpc>
                <a:spcPts val="2352"/>
              </a:lnSpc>
              <a:spcAft>
                <a:spcPts val="0"/>
              </a:spcAft>
              <a:defRPr sz="2100" b="0">
                <a:solidFill>
                  <a:srgbClr val="182B3A"/>
                </a:solidFill>
                <a:latin typeface="Arial"/>
              </a:defRPr>
            </a:pPr>
            <a:r>
              <a:t>27</a:t>
            </a:r>
          </a:p>
        </p:txBody>
      </p:sp>
      <p:sp>
        <p:nvSpPr>
          <p:cNvPr id="56" name="Rectangle 55"/>
          <p:cNvSpPr/>
          <p:nvPr/>
        </p:nvSpPr>
        <p:spPr>
          <a:xfrm>
            <a:off x="11850624" y="2359152"/>
            <a:ext cx="219456" cy="27432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 name="TextBox 56"/>
          <p:cNvSpPr txBox="1"/>
          <p:nvPr/>
        </p:nvSpPr>
        <p:spPr>
          <a:xfrm>
            <a:off x="11850624" y="2359152"/>
            <a:ext cx="219456" cy="274320"/>
          </a:xfrm>
          <a:prstGeom prst="rect">
            <a:avLst/>
          </a:prstGeom>
          <a:noFill/>
        </p:spPr>
        <p:txBody>
          <a:bodyPr wrap="none" lIns="0" rIns="0" tIns="0" bIns="0">
            <a:spAutoFit/>
          </a:bodyPr>
          <a:lstStyle/>
          <a:p>
            <a:pPr algn="ctr">
              <a:lnSpc>
                <a:spcPts val="2352"/>
              </a:lnSpc>
              <a:spcAft>
                <a:spcPts val="0"/>
              </a:spcAft>
              <a:defRPr sz="2100" b="0">
                <a:solidFill>
                  <a:srgbClr val="182B3A"/>
                </a:solidFill>
                <a:latin typeface="Arial"/>
              </a:defRPr>
            </a:pPr>
            <a:r>
              <a:t>=</a:t>
            </a:r>
          </a:p>
        </p:txBody>
      </p:sp>
      <p:sp>
        <p:nvSpPr>
          <p:cNvPr id="58" name="TextBox 57"/>
          <p:cNvSpPr txBox="1"/>
          <p:nvPr/>
        </p:nvSpPr>
        <p:spPr>
          <a:xfrm>
            <a:off x="9820656" y="2724912"/>
            <a:ext cx="1984248" cy="320040"/>
          </a:xfrm>
          <a:prstGeom prst="rect">
            <a:avLst/>
          </a:prstGeom>
          <a:noFill/>
        </p:spPr>
        <p:txBody>
          <a:bodyPr wrap="none" lIns="0" rIns="0" tIns="0" bIns="0">
            <a:spAutoFit/>
          </a:bodyPr>
          <a:lstStyle/>
          <a:p>
            <a:pPr algn="r">
              <a:lnSpc>
                <a:spcPts val="2016"/>
              </a:lnSpc>
              <a:spcAft>
                <a:spcPts val="0"/>
              </a:spcAft>
              <a:defRPr sz="1800" b="0">
                <a:solidFill>
                  <a:srgbClr val="3559A2"/>
                </a:solidFill>
                <a:latin typeface="Arial"/>
              </a:defRPr>
            </a:pPr>
            <a:r>
              <a:t>÷ 3</a:t>
            </a:r>
          </a:p>
        </p:txBody>
      </p:sp>
      <p:sp>
        <p:nvSpPr>
          <p:cNvPr id="59" name="TextBox 58"/>
          <p:cNvSpPr txBox="1"/>
          <p:nvPr/>
        </p:nvSpPr>
        <p:spPr>
          <a:xfrm>
            <a:off x="12134088" y="2724912"/>
            <a:ext cx="1965960" cy="320040"/>
          </a:xfrm>
          <a:prstGeom prst="rect">
            <a:avLst/>
          </a:prstGeom>
          <a:noFill/>
        </p:spPr>
        <p:txBody>
          <a:bodyPr wrap="none" lIns="0" rIns="0" tIns="0" bIns="0">
            <a:spAutoFit/>
          </a:bodyPr>
          <a:lstStyle/>
          <a:p>
            <a:pPr algn="l">
              <a:lnSpc>
                <a:spcPts val="2016"/>
              </a:lnSpc>
              <a:spcAft>
                <a:spcPts val="0"/>
              </a:spcAft>
              <a:defRPr sz="1800" b="0">
                <a:solidFill>
                  <a:srgbClr val="3559A2"/>
                </a:solidFill>
                <a:latin typeface="Arial"/>
              </a:defRPr>
            </a:pPr>
            <a:r>
              <a:t>÷ 3</a:t>
            </a:r>
          </a:p>
        </p:txBody>
      </p:sp>
      <p:sp>
        <p:nvSpPr>
          <p:cNvPr id="60" name="TextBox 59"/>
          <p:cNvSpPr txBox="1"/>
          <p:nvPr/>
        </p:nvSpPr>
        <p:spPr>
          <a:xfrm>
            <a:off x="9820656" y="3090672"/>
            <a:ext cx="1984248" cy="320040"/>
          </a:xfrm>
          <a:prstGeom prst="rect">
            <a:avLst/>
          </a:prstGeom>
          <a:noFill/>
        </p:spPr>
        <p:txBody>
          <a:bodyPr wrap="none" lIns="0" rIns="0" tIns="0" bIns="0">
            <a:spAutoFit/>
          </a:bodyPr>
          <a:lstStyle/>
          <a:p>
            <a:pPr algn="r">
              <a:lnSpc>
                <a:spcPts val="2352"/>
              </a:lnSpc>
              <a:spcAft>
                <a:spcPts val="0"/>
              </a:spcAft>
              <a:defRPr sz="2100" b="0">
                <a:solidFill>
                  <a:srgbClr val="182B3A"/>
                </a:solidFill>
                <a:latin typeface="Arial"/>
              </a:defRPr>
            </a:pPr>
            <a:r>
              <a:t>x + 4</a:t>
            </a:r>
          </a:p>
        </p:txBody>
      </p:sp>
      <p:sp>
        <p:nvSpPr>
          <p:cNvPr id="61" name="TextBox 60"/>
          <p:cNvSpPr txBox="1"/>
          <p:nvPr/>
        </p:nvSpPr>
        <p:spPr>
          <a:xfrm>
            <a:off x="12134088" y="3090672"/>
            <a:ext cx="1965960" cy="320040"/>
          </a:xfrm>
          <a:prstGeom prst="rect">
            <a:avLst/>
          </a:prstGeom>
          <a:noFill/>
        </p:spPr>
        <p:txBody>
          <a:bodyPr wrap="none" lIns="0" rIns="0" tIns="0" bIns="0">
            <a:spAutoFit/>
          </a:bodyPr>
          <a:lstStyle/>
          <a:p>
            <a:pPr algn="l">
              <a:lnSpc>
                <a:spcPts val="2352"/>
              </a:lnSpc>
              <a:spcAft>
                <a:spcPts val="0"/>
              </a:spcAft>
              <a:defRPr sz="2100" b="0">
                <a:solidFill>
                  <a:srgbClr val="182B3A"/>
                </a:solidFill>
                <a:latin typeface="Arial"/>
              </a:defRPr>
            </a:pPr>
            <a:r>
              <a:t>9</a:t>
            </a:r>
          </a:p>
        </p:txBody>
      </p:sp>
      <p:sp>
        <p:nvSpPr>
          <p:cNvPr id="62" name="Rectangle 61"/>
          <p:cNvSpPr/>
          <p:nvPr/>
        </p:nvSpPr>
        <p:spPr>
          <a:xfrm>
            <a:off x="11850624" y="3090672"/>
            <a:ext cx="219456" cy="27432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3" name="TextBox 62"/>
          <p:cNvSpPr txBox="1"/>
          <p:nvPr/>
        </p:nvSpPr>
        <p:spPr>
          <a:xfrm>
            <a:off x="11850624" y="3090672"/>
            <a:ext cx="219456" cy="274320"/>
          </a:xfrm>
          <a:prstGeom prst="rect">
            <a:avLst/>
          </a:prstGeom>
          <a:noFill/>
        </p:spPr>
        <p:txBody>
          <a:bodyPr wrap="none" lIns="0" rIns="0" tIns="0" bIns="0">
            <a:spAutoFit/>
          </a:bodyPr>
          <a:lstStyle/>
          <a:p>
            <a:pPr algn="ctr">
              <a:lnSpc>
                <a:spcPts val="2352"/>
              </a:lnSpc>
              <a:spcAft>
                <a:spcPts val="0"/>
              </a:spcAft>
              <a:defRPr sz="2100" b="0">
                <a:solidFill>
                  <a:srgbClr val="182B3A"/>
                </a:solidFill>
                <a:latin typeface="Arial"/>
              </a:defRPr>
            </a:pPr>
            <a:r>
              <a:t>=</a:t>
            </a:r>
          </a:p>
        </p:txBody>
      </p:sp>
      <p:sp>
        <p:nvSpPr>
          <p:cNvPr id="64" name="TextBox 63"/>
          <p:cNvSpPr txBox="1"/>
          <p:nvPr/>
        </p:nvSpPr>
        <p:spPr>
          <a:xfrm>
            <a:off x="9820656" y="3456432"/>
            <a:ext cx="1984248" cy="320040"/>
          </a:xfrm>
          <a:prstGeom prst="rect">
            <a:avLst/>
          </a:prstGeom>
          <a:noFill/>
        </p:spPr>
        <p:txBody>
          <a:bodyPr wrap="none" lIns="0" rIns="0" tIns="0" bIns="0">
            <a:spAutoFit/>
          </a:bodyPr>
          <a:lstStyle/>
          <a:p>
            <a:pPr algn="r">
              <a:lnSpc>
                <a:spcPts val="2016"/>
              </a:lnSpc>
              <a:spcAft>
                <a:spcPts val="0"/>
              </a:spcAft>
              <a:defRPr sz="1800" b="0">
                <a:solidFill>
                  <a:srgbClr val="3559A2"/>
                </a:solidFill>
                <a:latin typeface="Arial"/>
              </a:defRPr>
            </a:pPr>
            <a:r>
              <a:t>− 4</a:t>
            </a:r>
          </a:p>
        </p:txBody>
      </p:sp>
      <p:sp>
        <p:nvSpPr>
          <p:cNvPr id="65" name="TextBox 64"/>
          <p:cNvSpPr txBox="1"/>
          <p:nvPr/>
        </p:nvSpPr>
        <p:spPr>
          <a:xfrm>
            <a:off x="12134088" y="3456432"/>
            <a:ext cx="1965960" cy="320040"/>
          </a:xfrm>
          <a:prstGeom prst="rect">
            <a:avLst/>
          </a:prstGeom>
          <a:noFill/>
        </p:spPr>
        <p:txBody>
          <a:bodyPr wrap="none" lIns="0" rIns="0" tIns="0" bIns="0">
            <a:spAutoFit/>
          </a:bodyPr>
          <a:lstStyle/>
          <a:p>
            <a:pPr algn="l">
              <a:lnSpc>
                <a:spcPts val="2016"/>
              </a:lnSpc>
              <a:spcAft>
                <a:spcPts val="0"/>
              </a:spcAft>
              <a:defRPr sz="1800" b="0">
                <a:solidFill>
                  <a:srgbClr val="3559A2"/>
                </a:solidFill>
                <a:latin typeface="Arial"/>
              </a:defRPr>
            </a:pPr>
            <a:r>
              <a:t>− 4</a:t>
            </a:r>
          </a:p>
        </p:txBody>
      </p:sp>
      <p:sp>
        <p:nvSpPr>
          <p:cNvPr id="66" name="TextBox 65"/>
          <p:cNvSpPr txBox="1"/>
          <p:nvPr/>
        </p:nvSpPr>
        <p:spPr>
          <a:xfrm>
            <a:off x="9820656" y="3822191"/>
            <a:ext cx="1984248" cy="320040"/>
          </a:xfrm>
          <a:prstGeom prst="rect">
            <a:avLst/>
          </a:prstGeom>
          <a:noFill/>
        </p:spPr>
        <p:txBody>
          <a:bodyPr wrap="none" lIns="0" rIns="0" tIns="0" bIns="0">
            <a:spAutoFit/>
          </a:bodyPr>
          <a:lstStyle/>
          <a:p>
            <a:pPr algn="r">
              <a:lnSpc>
                <a:spcPts val="2352"/>
              </a:lnSpc>
              <a:spcAft>
                <a:spcPts val="0"/>
              </a:spcAft>
              <a:defRPr sz="2100" b="0">
                <a:solidFill>
                  <a:srgbClr val="182B3A"/>
                </a:solidFill>
                <a:latin typeface="Arial"/>
              </a:defRPr>
            </a:pPr>
            <a:r>
              <a:t>x</a:t>
            </a:r>
          </a:p>
        </p:txBody>
      </p:sp>
      <p:sp>
        <p:nvSpPr>
          <p:cNvPr id="67" name="TextBox 66"/>
          <p:cNvSpPr txBox="1"/>
          <p:nvPr/>
        </p:nvSpPr>
        <p:spPr>
          <a:xfrm>
            <a:off x="12134088" y="3822191"/>
            <a:ext cx="1965960" cy="320040"/>
          </a:xfrm>
          <a:prstGeom prst="rect">
            <a:avLst/>
          </a:prstGeom>
          <a:noFill/>
        </p:spPr>
        <p:txBody>
          <a:bodyPr wrap="none" lIns="0" rIns="0" tIns="0" bIns="0">
            <a:spAutoFit/>
          </a:bodyPr>
          <a:lstStyle/>
          <a:p>
            <a:pPr algn="l">
              <a:lnSpc>
                <a:spcPts val="2352"/>
              </a:lnSpc>
              <a:spcAft>
                <a:spcPts val="0"/>
              </a:spcAft>
              <a:defRPr sz="2100" b="0">
                <a:solidFill>
                  <a:srgbClr val="182B3A"/>
                </a:solidFill>
                <a:latin typeface="Arial"/>
              </a:defRPr>
            </a:pPr>
            <a:r>
              <a:t>5</a:t>
            </a:r>
          </a:p>
        </p:txBody>
      </p:sp>
      <p:sp>
        <p:nvSpPr>
          <p:cNvPr id="68" name="Rectangle 67"/>
          <p:cNvSpPr/>
          <p:nvPr/>
        </p:nvSpPr>
        <p:spPr>
          <a:xfrm>
            <a:off x="11850624" y="3822191"/>
            <a:ext cx="219456" cy="27432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9" name="TextBox 68"/>
          <p:cNvSpPr txBox="1"/>
          <p:nvPr/>
        </p:nvSpPr>
        <p:spPr>
          <a:xfrm>
            <a:off x="11850624" y="3822191"/>
            <a:ext cx="219456" cy="274320"/>
          </a:xfrm>
          <a:prstGeom prst="rect">
            <a:avLst/>
          </a:prstGeom>
          <a:noFill/>
        </p:spPr>
        <p:txBody>
          <a:bodyPr wrap="none" lIns="0" rIns="0" tIns="0" bIns="0">
            <a:spAutoFit/>
          </a:bodyPr>
          <a:lstStyle/>
          <a:p>
            <a:pPr algn="ctr">
              <a:lnSpc>
                <a:spcPts val="2352"/>
              </a:lnSpc>
              <a:spcAft>
                <a:spcPts val="0"/>
              </a:spcAft>
              <a:defRPr sz="2100" b="0">
                <a:solidFill>
                  <a:srgbClr val="182B3A"/>
                </a:solidFill>
                <a:latin typeface="Arial"/>
              </a:defRPr>
            </a:pPr>
            <a:r>
              <a:t>=</a:t>
            </a:r>
          </a:p>
        </p:txBody>
      </p:sp>
      <p:sp>
        <p:nvSpPr>
          <p:cNvPr id="70" name="TextBox 69"/>
          <p:cNvSpPr txBox="1"/>
          <p:nvPr/>
        </p:nvSpPr>
        <p:spPr>
          <a:xfrm>
            <a:off x="9784080" y="4681728"/>
            <a:ext cx="4352544" cy="2770632"/>
          </a:xfrm>
          <a:prstGeom prst="rect">
            <a:avLst/>
          </a:prstGeom>
          <a:noFill/>
        </p:spPr>
        <p:txBody>
          <a:bodyPr wrap="square" lIns="54864" rIns="54864" tIns="22860" bIns="22860">
            <a:spAutoFit/>
          </a:bodyPr>
          <a:lstStyle/>
          <a:p>
            <a:pPr>
              <a:lnSpc>
                <a:spcPts val="1995"/>
              </a:lnSpc>
              <a:spcBef>
                <a:spcPts val="0"/>
              </a:spcBef>
              <a:spcAft>
                <a:spcPts val="0"/>
              </a:spcAft>
              <a:defRPr sz="1900" b="0">
                <a:solidFill>
                  <a:srgbClr val="182B3A"/>
                </a:solidFill>
                <a:latin typeface="Arial"/>
              </a:defRPr>
            </a:pPr>
            <a:r>
              <a:t>Here, divide by 3 before expanding.</a:t>
            </a:r>
          </a:p>
          <a:p>
            <a:pPr>
              <a:lnSpc>
                <a:spcPts val="1995"/>
              </a:lnSpc>
              <a:spcBef>
                <a:spcPts val="0"/>
              </a:spcBef>
              <a:spcAft>
                <a:spcPts val="0"/>
              </a:spcAft>
              <a:defRPr sz="1900" b="0">
                <a:solidFill>
                  <a:srgbClr val="182B3A"/>
                </a:solidFill>
                <a:latin typeface="Arial"/>
              </a:defRPr>
            </a:pPr>
          </a:p>
          <a:p>
            <a:pPr>
              <a:lnSpc>
                <a:spcPts val="1995"/>
              </a:lnSpc>
              <a:spcBef>
                <a:spcPts val="0"/>
              </a:spcBef>
              <a:spcAft>
                <a:spcPts val="0"/>
              </a:spcAft>
              <a:defRPr sz="1900" b="0">
                <a:solidFill>
                  <a:srgbClr val="182B3A"/>
                </a:solidFill>
                <a:latin typeface="Arial"/>
              </a:defRPr>
            </a:pPr>
            <a:r>
              <a:t>With x on both sides, subtract the smaller x-term first when convenient.</a:t>
            </a:r>
          </a:p>
          <a:p>
            <a:pPr>
              <a:lnSpc>
                <a:spcPts val="1995"/>
              </a:lnSpc>
              <a:spcBef>
                <a:spcPts val="0"/>
              </a:spcBef>
              <a:spcAft>
                <a:spcPts val="0"/>
              </a:spcAft>
              <a:defRPr sz="1900" b="0">
                <a:solidFill>
                  <a:srgbClr val="182B3A"/>
                </a:solidFill>
                <a:latin typeface="Arial"/>
              </a:defRPr>
            </a:pPr>
          </a:p>
          <a:p>
            <a:pPr>
              <a:lnSpc>
                <a:spcPts val="1995"/>
              </a:lnSpc>
              <a:spcBef>
                <a:spcPts val="0"/>
              </a:spcBef>
              <a:spcAft>
                <a:spcPts val="0"/>
              </a:spcAft>
              <a:defRPr sz="1900" b="0">
                <a:solidFill>
                  <a:srgbClr val="182B3A"/>
                </a:solidFill>
                <a:latin typeface="Arial"/>
              </a:defRPr>
            </a:pPr>
            <a:r>
              <a:t>If expanding is needed, multiply every bracket term. Check in the original equation.</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bg>
      <p:bgPr>
        <a:solidFill>
          <a:srgbClr val="F7F8FA"/>
        </a:solidFill>
        <a:effectLst/>
      </p:bgPr>
    </p:bg>
    <p:spTree>
      <p:nvGrpSpPr>
        <p:cNvPr id="1" name=""/>
        <p:cNvGrpSpPr/>
        <p:nvPr/>
      </p:nvGrpSpPr>
      <p:grpSpPr/>
      <p:sp>
        <p:nvSpPr>
          <p:cNvPr id="2" name="Rectangle 1"/>
          <p:cNvSpPr/>
          <p:nvPr/>
        </p:nvSpPr>
        <p:spPr>
          <a:xfrm>
            <a:off x="0" y="0"/>
            <a:ext cx="14630400" cy="73152"/>
          </a:xfrm>
          <a:prstGeom prst="rect">
            <a:avLst/>
          </a:prstGeom>
          <a:solidFill>
            <a:srgbClr val="176B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20040" y="164592"/>
            <a:ext cx="13990320" cy="457200"/>
          </a:xfrm>
          <a:prstGeom prst="rect">
            <a:avLst/>
          </a:prstGeom>
          <a:noFill/>
        </p:spPr>
        <p:txBody>
          <a:bodyPr wrap="square" lIns="54864" rIns="54864" tIns="22860" bIns="22860">
            <a:spAutoFit/>
          </a:bodyPr>
          <a:lstStyle/>
          <a:p>
            <a:pPr>
              <a:lnSpc>
                <a:spcPts val="2940"/>
              </a:lnSpc>
              <a:spcBef>
                <a:spcPts val="0"/>
              </a:spcBef>
              <a:spcAft>
                <a:spcPts val="0"/>
              </a:spcAft>
              <a:defRPr sz="2800" b="1">
                <a:solidFill>
                  <a:srgbClr val="182B3A"/>
                </a:solidFill>
                <a:latin typeface="Arial"/>
              </a:defRPr>
            </a:pPr>
            <a:r>
              <a:t>Solving equations</a:t>
            </a:r>
          </a:p>
        </p:txBody>
      </p:sp>
      <p:sp>
        <p:nvSpPr>
          <p:cNvPr id="4" name="TextBox 3"/>
          <p:cNvSpPr txBox="1"/>
          <p:nvPr/>
        </p:nvSpPr>
        <p:spPr>
          <a:xfrm>
            <a:off x="320040" y="704088"/>
            <a:ext cx="13990320" cy="347472"/>
          </a:xfrm>
          <a:prstGeom prst="rect">
            <a:avLst/>
          </a:prstGeom>
          <a:noFill/>
        </p:spPr>
        <p:txBody>
          <a:bodyPr wrap="square" lIns="54864" rIns="54864" tIns="22860" bIns="22860">
            <a:spAutoFit/>
          </a:bodyPr>
          <a:lstStyle/>
          <a:p>
            <a:pPr>
              <a:lnSpc>
                <a:spcPts val="1575"/>
              </a:lnSpc>
              <a:spcBef>
                <a:spcPts val="0"/>
              </a:spcBef>
              <a:spcAft>
                <a:spcPts val="0"/>
              </a:spcAft>
              <a:defRPr sz="1500" b="0">
                <a:solidFill>
                  <a:srgbClr val="526472"/>
                </a:solidFill>
                <a:latin typeface="Arial"/>
              </a:defRPr>
            </a:pPr>
            <a:r>
              <a:t>Worked demo • Follow the working down each side of the line.</a:t>
            </a:r>
          </a:p>
        </p:txBody>
      </p:sp>
      <p:sp>
        <p:nvSpPr>
          <p:cNvPr id="5" name="TextBox 4"/>
          <p:cNvSpPr txBox="1"/>
          <p:nvPr/>
        </p:nvSpPr>
        <p:spPr>
          <a:xfrm>
            <a:off x="320040" y="7973568"/>
            <a:ext cx="10789920" cy="210312"/>
          </a:xfrm>
          <a:prstGeom prst="rect">
            <a:avLst/>
          </a:prstGeom>
          <a:noFill/>
        </p:spPr>
        <p:txBody>
          <a:bodyPr wrap="square" lIns="54864" rIns="54864" tIns="22860" bIns="22860">
            <a:spAutoFit/>
          </a:bodyPr>
          <a:lstStyle/>
          <a:p>
            <a:pPr>
              <a:lnSpc>
                <a:spcPts val="1155"/>
              </a:lnSpc>
              <a:spcBef>
                <a:spcPts val="0"/>
              </a:spcBef>
              <a:spcAft>
                <a:spcPts val="0"/>
              </a:spcAft>
              <a:defRPr sz="1100" b="0">
                <a:solidFill>
                  <a:srgbClr val="526472"/>
                </a:solidFill>
                <a:latin typeface="Arial"/>
              </a:defRPr>
            </a:pPr>
            <a:r>
              <a:t>GCSE Maths revision • No calculator • Show your working.</a:t>
            </a:r>
          </a:p>
        </p:txBody>
      </p:sp>
      <p:sp>
        <p:nvSpPr>
          <p:cNvPr id="6" name="TextBox 5"/>
          <p:cNvSpPr txBox="1"/>
          <p:nvPr/>
        </p:nvSpPr>
        <p:spPr>
          <a:xfrm>
            <a:off x="11155680" y="7973568"/>
            <a:ext cx="3108960" cy="210312"/>
          </a:xfrm>
          <a:prstGeom prst="rect">
            <a:avLst/>
          </a:prstGeom>
          <a:noFill/>
        </p:spPr>
        <p:txBody>
          <a:bodyPr wrap="square" lIns="54864" rIns="54864" tIns="22860" bIns="22860">
            <a:spAutoFit/>
          </a:bodyPr>
          <a:lstStyle/>
          <a:p>
            <a:pPr>
              <a:lnSpc>
                <a:spcPts val="1155"/>
              </a:lnSpc>
              <a:spcBef>
                <a:spcPts val="0"/>
              </a:spcBef>
              <a:spcAft>
                <a:spcPts val="0"/>
              </a:spcAft>
              <a:defRPr sz="1100" b="0">
                <a:solidFill>
                  <a:srgbClr val="526472"/>
                </a:solidFill>
                <a:latin typeface="Arial"/>
              </a:defRPr>
            </a:pPr>
            <a:r>
              <a:t>M10-S01</a:t>
            </a:r>
          </a:p>
        </p:txBody>
      </p:sp>
      <p:sp>
        <p:nvSpPr>
          <p:cNvPr id="7" name="Rectangle 6"/>
          <p:cNvSpPr/>
          <p:nvPr/>
        </p:nvSpPr>
        <p:spPr>
          <a:xfrm>
            <a:off x="320040" y="1115568"/>
            <a:ext cx="4640580" cy="420624"/>
          </a:xfrm>
          <a:prstGeom prst="rect">
            <a:avLst/>
          </a:prstGeom>
          <a:solidFill>
            <a:srgbClr val="176B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347472" y="1147572"/>
            <a:ext cx="4581144" cy="329184"/>
          </a:xfrm>
          <a:prstGeom prst="rect">
            <a:avLst/>
          </a:prstGeom>
          <a:noFill/>
        </p:spPr>
        <p:txBody>
          <a:bodyPr wrap="square" lIns="54864" rIns="54864" tIns="22860" bIns="22860">
            <a:spAutoFit/>
          </a:bodyPr>
          <a:lstStyle/>
          <a:p>
            <a:pPr>
              <a:lnSpc>
                <a:spcPts val="1995"/>
              </a:lnSpc>
              <a:spcBef>
                <a:spcPts val="0"/>
              </a:spcBef>
              <a:spcAft>
                <a:spcPts val="0"/>
              </a:spcAft>
              <a:defRPr sz="1900" b="1">
                <a:solidFill>
                  <a:srgbClr val="FFFFFF"/>
                </a:solidFill>
                <a:latin typeface="Arial"/>
              </a:defRPr>
            </a:pPr>
            <a:r>
              <a:t>Start</a:t>
            </a:r>
          </a:p>
        </p:txBody>
      </p:sp>
      <p:sp>
        <p:nvSpPr>
          <p:cNvPr id="9" name="Rectangle 8"/>
          <p:cNvSpPr/>
          <p:nvPr/>
        </p:nvSpPr>
        <p:spPr>
          <a:xfrm>
            <a:off x="4983480" y="1115568"/>
            <a:ext cx="4640580" cy="420624"/>
          </a:xfrm>
          <a:prstGeom prst="rect">
            <a:avLst/>
          </a:prstGeom>
          <a:solidFill>
            <a:srgbClr val="3559A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010912" y="1147572"/>
            <a:ext cx="4581144" cy="329184"/>
          </a:xfrm>
          <a:prstGeom prst="rect">
            <a:avLst/>
          </a:prstGeom>
          <a:noFill/>
        </p:spPr>
        <p:txBody>
          <a:bodyPr wrap="square" lIns="54864" rIns="54864" tIns="22860" bIns="22860">
            <a:spAutoFit/>
          </a:bodyPr>
          <a:lstStyle/>
          <a:p>
            <a:pPr>
              <a:lnSpc>
                <a:spcPts val="1995"/>
              </a:lnSpc>
              <a:spcBef>
                <a:spcPts val="0"/>
              </a:spcBef>
              <a:spcAft>
                <a:spcPts val="0"/>
              </a:spcAft>
              <a:defRPr sz="1900" b="1">
                <a:solidFill>
                  <a:srgbClr val="FFFFFF"/>
                </a:solidFill>
                <a:latin typeface="Arial"/>
              </a:defRPr>
            </a:pPr>
            <a:r>
              <a:t>Build</a:t>
            </a:r>
          </a:p>
        </p:txBody>
      </p:sp>
      <p:sp>
        <p:nvSpPr>
          <p:cNvPr id="11" name="Rectangle 10"/>
          <p:cNvSpPr/>
          <p:nvPr/>
        </p:nvSpPr>
        <p:spPr>
          <a:xfrm>
            <a:off x="9646920" y="1115568"/>
            <a:ext cx="4640580" cy="420624"/>
          </a:xfrm>
          <a:prstGeom prst="rect">
            <a:avLst/>
          </a:prstGeom>
          <a:solidFill>
            <a:srgbClr val="754B8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9674352" y="1147572"/>
            <a:ext cx="4581144" cy="329184"/>
          </a:xfrm>
          <a:prstGeom prst="rect">
            <a:avLst/>
          </a:prstGeom>
          <a:noFill/>
        </p:spPr>
        <p:txBody>
          <a:bodyPr wrap="square" lIns="54864" rIns="54864" tIns="22860" bIns="22860">
            <a:spAutoFit/>
          </a:bodyPr>
          <a:lstStyle/>
          <a:p>
            <a:pPr>
              <a:lnSpc>
                <a:spcPts val="1995"/>
              </a:lnSpc>
              <a:spcBef>
                <a:spcPts val="0"/>
              </a:spcBef>
              <a:spcAft>
                <a:spcPts val="0"/>
              </a:spcAft>
              <a:defRPr sz="1900" b="1">
                <a:solidFill>
                  <a:srgbClr val="FFFFFF"/>
                </a:solidFill>
                <a:latin typeface="Arial"/>
              </a:defRPr>
            </a:pPr>
            <a:r>
              <a:t>Confidence</a:t>
            </a:r>
          </a:p>
        </p:txBody>
      </p:sp>
      <p:sp>
        <p:nvSpPr>
          <p:cNvPr id="13" name="Rectangle 12"/>
          <p:cNvSpPr/>
          <p:nvPr/>
        </p:nvSpPr>
        <p:spPr>
          <a:xfrm>
            <a:off x="320040" y="1609344"/>
            <a:ext cx="4631436" cy="6035040"/>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29768" y="1773936"/>
            <a:ext cx="4389120" cy="457200"/>
          </a:xfrm>
          <a:prstGeom prst="rect">
            <a:avLst/>
          </a:prstGeom>
          <a:noFill/>
        </p:spPr>
        <p:txBody>
          <a:bodyPr wrap="square" lIns="54864" rIns="54864" tIns="22860" bIns="22860">
            <a:spAutoFit/>
          </a:bodyPr>
          <a:lstStyle/>
          <a:p>
            <a:pPr>
              <a:lnSpc>
                <a:spcPts val="2625"/>
              </a:lnSpc>
              <a:spcBef>
                <a:spcPts val="0"/>
              </a:spcBef>
              <a:spcAft>
                <a:spcPts val="0"/>
              </a:spcAft>
              <a:defRPr sz="2500" b="1">
                <a:solidFill>
                  <a:srgbClr val="182B3A"/>
                </a:solidFill>
                <a:latin typeface="Arial"/>
              </a:defRPr>
            </a:pPr>
            <a:r>
              <a:t>x − 7 = 5</a:t>
            </a:r>
          </a:p>
        </p:txBody>
      </p:sp>
      <p:cxnSp>
        <p:nvCxnSpPr>
          <p:cNvPr id="15" name="Connector 14"/>
          <p:cNvCxnSpPr/>
          <p:nvPr/>
        </p:nvCxnSpPr>
        <p:spPr>
          <a:xfrm>
            <a:off x="2624328" y="2487168"/>
            <a:ext cx="0" cy="1225296"/>
          </a:xfrm>
          <a:prstGeom prst="line">
            <a:avLst/>
          </a:prstGeom>
          <a:ln w="15240">
            <a:solidFill>
              <a:srgbClr val="8193A0"/>
            </a:solidFill>
          </a:ln>
          <a:effectLst/>
        </p:spPr>
        <p:style>
          <a:lnRef idx="2">
            <a:schemeClr val="accent1"/>
          </a:lnRef>
          <a:fillRef idx="0">
            <a:schemeClr val="accent1"/>
          </a:fillRef>
          <a:effectRef idx="1">
            <a:schemeClr val="accent1"/>
          </a:effectRef>
          <a:fontRef idx="minor">
            <a:schemeClr val="tx1"/>
          </a:fontRef>
        </p:style>
      </p:cxnSp>
      <p:sp>
        <p:nvSpPr>
          <p:cNvPr id="16" name="TextBox 15"/>
          <p:cNvSpPr txBox="1"/>
          <p:nvPr/>
        </p:nvSpPr>
        <p:spPr>
          <a:xfrm>
            <a:off x="466344" y="2468880"/>
            <a:ext cx="2002536" cy="320040"/>
          </a:xfrm>
          <a:prstGeom prst="rect">
            <a:avLst/>
          </a:prstGeom>
          <a:noFill/>
        </p:spPr>
        <p:txBody>
          <a:bodyPr wrap="none" lIns="0" rIns="0" tIns="0" bIns="0">
            <a:spAutoFit/>
          </a:bodyPr>
          <a:lstStyle/>
          <a:p>
            <a:pPr algn="r">
              <a:lnSpc>
                <a:spcPts val="2464"/>
              </a:lnSpc>
              <a:spcAft>
                <a:spcPts val="0"/>
              </a:spcAft>
              <a:defRPr sz="2200" b="0">
                <a:solidFill>
                  <a:srgbClr val="182B3A"/>
                </a:solidFill>
                <a:latin typeface="Arial"/>
              </a:defRPr>
            </a:pPr>
            <a:r>
              <a:t>x − 7</a:t>
            </a:r>
          </a:p>
        </p:txBody>
      </p:sp>
      <p:sp>
        <p:nvSpPr>
          <p:cNvPr id="17" name="TextBox 16"/>
          <p:cNvSpPr txBox="1"/>
          <p:nvPr/>
        </p:nvSpPr>
        <p:spPr>
          <a:xfrm>
            <a:off x="2798064" y="2468880"/>
            <a:ext cx="1984248" cy="320040"/>
          </a:xfrm>
          <a:prstGeom prst="rect">
            <a:avLst/>
          </a:prstGeom>
          <a:noFill/>
        </p:spPr>
        <p:txBody>
          <a:bodyPr wrap="none" lIns="0" rIns="0" tIns="0" bIns="0">
            <a:spAutoFit/>
          </a:bodyPr>
          <a:lstStyle/>
          <a:p>
            <a:pPr algn="l">
              <a:lnSpc>
                <a:spcPts val="2464"/>
              </a:lnSpc>
              <a:spcAft>
                <a:spcPts val="0"/>
              </a:spcAft>
              <a:defRPr sz="2200" b="0">
                <a:solidFill>
                  <a:srgbClr val="182B3A"/>
                </a:solidFill>
                <a:latin typeface="Arial"/>
              </a:defRPr>
            </a:pPr>
            <a:r>
              <a:t>5</a:t>
            </a:r>
          </a:p>
        </p:txBody>
      </p:sp>
      <p:sp>
        <p:nvSpPr>
          <p:cNvPr id="18" name="Rectangle 17"/>
          <p:cNvSpPr/>
          <p:nvPr/>
        </p:nvSpPr>
        <p:spPr>
          <a:xfrm>
            <a:off x="2514600" y="2468880"/>
            <a:ext cx="219456" cy="27432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2514600" y="2468880"/>
            <a:ext cx="219456" cy="274320"/>
          </a:xfrm>
          <a:prstGeom prst="rect">
            <a:avLst/>
          </a:prstGeom>
          <a:noFill/>
        </p:spPr>
        <p:txBody>
          <a:bodyPr wrap="none" lIns="0" rIns="0" tIns="0" bIns="0">
            <a:spAutoFit/>
          </a:bodyPr>
          <a:lstStyle/>
          <a:p>
            <a:pPr algn="ctr">
              <a:lnSpc>
                <a:spcPts val="2464"/>
              </a:lnSpc>
              <a:spcAft>
                <a:spcPts val="0"/>
              </a:spcAft>
              <a:defRPr sz="2200" b="0">
                <a:solidFill>
                  <a:srgbClr val="182B3A"/>
                </a:solidFill>
                <a:latin typeface="Arial"/>
              </a:defRPr>
            </a:pPr>
            <a:r>
              <a:t>=</a:t>
            </a:r>
          </a:p>
        </p:txBody>
      </p:sp>
      <p:sp>
        <p:nvSpPr>
          <p:cNvPr id="20" name="TextBox 19"/>
          <p:cNvSpPr txBox="1"/>
          <p:nvPr/>
        </p:nvSpPr>
        <p:spPr>
          <a:xfrm>
            <a:off x="466344" y="2871216"/>
            <a:ext cx="2002536" cy="320040"/>
          </a:xfrm>
          <a:prstGeom prst="rect">
            <a:avLst/>
          </a:prstGeom>
          <a:noFill/>
        </p:spPr>
        <p:txBody>
          <a:bodyPr wrap="none" lIns="0" rIns="0" tIns="0" bIns="0">
            <a:spAutoFit/>
          </a:bodyPr>
          <a:lstStyle/>
          <a:p>
            <a:pPr algn="r">
              <a:lnSpc>
                <a:spcPts val="2128"/>
              </a:lnSpc>
              <a:spcAft>
                <a:spcPts val="0"/>
              </a:spcAft>
              <a:defRPr sz="1900" b="0">
                <a:solidFill>
                  <a:srgbClr val="3559A2"/>
                </a:solidFill>
                <a:latin typeface="Arial"/>
              </a:defRPr>
            </a:pPr>
            <a:r>
              <a:t>+ 7</a:t>
            </a:r>
          </a:p>
        </p:txBody>
      </p:sp>
      <p:sp>
        <p:nvSpPr>
          <p:cNvPr id="21" name="TextBox 20"/>
          <p:cNvSpPr txBox="1"/>
          <p:nvPr/>
        </p:nvSpPr>
        <p:spPr>
          <a:xfrm>
            <a:off x="2798064" y="2871216"/>
            <a:ext cx="1984248" cy="320040"/>
          </a:xfrm>
          <a:prstGeom prst="rect">
            <a:avLst/>
          </a:prstGeom>
          <a:noFill/>
        </p:spPr>
        <p:txBody>
          <a:bodyPr wrap="none" lIns="0" rIns="0" tIns="0" bIns="0">
            <a:spAutoFit/>
          </a:bodyPr>
          <a:lstStyle/>
          <a:p>
            <a:pPr algn="l">
              <a:lnSpc>
                <a:spcPts val="2128"/>
              </a:lnSpc>
              <a:spcAft>
                <a:spcPts val="0"/>
              </a:spcAft>
              <a:defRPr sz="1900" b="0">
                <a:solidFill>
                  <a:srgbClr val="3559A2"/>
                </a:solidFill>
                <a:latin typeface="Arial"/>
              </a:defRPr>
            </a:pPr>
            <a:r>
              <a:t>+ 7</a:t>
            </a:r>
          </a:p>
        </p:txBody>
      </p:sp>
      <p:sp>
        <p:nvSpPr>
          <p:cNvPr id="22" name="TextBox 21"/>
          <p:cNvSpPr txBox="1"/>
          <p:nvPr/>
        </p:nvSpPr>
        <p:spPr>
          <a:xfrm>
            <a:off x="466344" y="3273552"/>
            <a:ext cx="2002536" cy="320040"/>
          </a:xfrm>
          <a:prstGeom prst="rect">
            <a:avLst/>
          </a:prstGeom>
          <a:noFill/>
        </p:spPr>
        <p:txBody>
          <a:bodyPr wrap="none" lIns="0" rIns="0" tIns="0" bIns="0">
            <a:spAutoFit/>
          </a:bodyPr>
          <a:lstStyle/>
          <a:p>
            <a:pPr algn="r">
              <a:lnSpc>
                <a:spcPts val="2464"/>
              </a:lnSpc>
              <a:spcAft>
                <a:spcPts val="0"/>
              </a:spcAft>
              <a:defRPr sz="2200" b="0">
                <a:solidFill>
                  <a:srgbClr val="182B3A"/>
                </a:solidFill>
                <a:latin typeface="Arial"/>
              </a:defRPr>
            </a:pPr>
            <a:r>
              <a:t>x</a:t>
            </a:r>
          </a:p>
        </p:txBody>
      </p:sp>
      <p:sp>
        <p:nvSpPr>
          <p:cNvPr id="23" name="TextBox 22"/>
          <p:cNvSpPr txBox="1"/>
          <p:nvPr/>
        </p:nvSpPr>
        <p:spPr>
          <a:xfrm>
            <a:off x="2798064" y="3273552"/>
            <a:ext cx="1984248" cy="320040"/>
          </a:xfrm>
          <a:prstGeom prst="rect">
            <a:avLst/>
          </a:prstGeom>
          <a:noFill/>
        </p:spPr>
        <p:txBody>
          <a:bodyPr wrap="none" lIns="0" rIns="0" tIns="0" bIns="0">
            <a:spAutoFit/>
          </a:bodyPr>
          <a:lstStyle/>
          <a:p>
            <a:pPr algn="l">
              <a:lnSpc>
                <a:spcPts val="2464"/>
              </a:lnSpc>
              <a:spcAft>
                <a:spcPts val="0"/>
              </a:spcAft>
              <a:defRPr sz="2200" b="0">
                <a:solidFill>
                  <a:srgbClr val="182B3A"/>
                </a:solidFill>
                <a:latin typeface="Arial"/>
              </a:defRPr>
            </a:pPr>
            <a:r>
              <a:t>12</a:t>
            </a:r>
          </a:p>
        </p:txBody>
      </p:sp>
      <p:sp>
        <p:nvSpPr>
          <p:cNvPr id="24" name="Rectangle 23"/>
          <p:cNvSpPr/>
          <p:nvPr/>
        </p:nvSpPr>
        <p:spPr>
          <a:xfrm>
            <a:off x="2514600" y="3273552"/>
            <a:ext cx="219456" cy="27432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2514600" y="3273552"/>
            <a:ext cx="219456" cy="274320"/>
          </a:xfrm>
          <a:prstGeom prst="rect">
            <a:avLst/>
          </a:prstGeom>
          <a:noFill/>
        </p:spPr>
        <p:txBody>
          <a:bodyPr wrap="none" lIns="0" rIns="0" tIns="0" bIns="0">
            <a:spAutoFit/>
          </a:bodyPr>
          <a:lstStyle/>
          <a:p>
            <a:pPr algn="ctr">
              <a:lnSpc>
                <a:spcPts val="2464"/>
              </a:lnSpc>
              <a:spcAft>
                <a:spcPts val="0"/>
              </a:spcAft>
              <a:defRPr sz="2200" b="0">
                <a:solidFill>
                  <a:srgbClr val="182B3A"/>
                </a:solidFill>
                <a:latin typeface="Arial"/>
              </a:defRPr>
            </a:pPr>
            <a:r>
              <a:t>=</a:t>
            </a:r>
          </a:p>
        </p:txBody>
      </p:sp>
      <p:sp>
        <p:nvSpPr>
          <p:cNvPr id="26" name="TextBox 25"/>
          <p:cNvSpPr txBox="1"/>
          <p:nvPr/>
        </p:nvSpPr>
        <p:spPr>
          <a:xfrm>
            <a:off x="429768" y="6656832"/>
            <a:ext cx="4389120" cy="868680"/>
          </a:xfrm>
          <a:prstGeom prst="rect">
            <a:avLst/>
          </a:prstGeom>
          <a:noFill/>
        </p:spPr>
        <p:txBody>
          <a:bodyPr wrap="square" lIns="54864" rIns="54864" tIns="22860" bIns="22860">
            <a:spAutoFit/>
          </a:bodyPr>
          <a:lstStyle/>
          <a:p>
            <a:pPr>
              <a:lnSpc>
                <a:spcPts val="1890"/>
              </a:lnSpc>
              <a:spcBef>
                <a:spcPts val="0"/>
              </a:spcBef>
              <a:spcAft>
                <a:spcPts val="0"/>
              </a:spcAft>
              <a:defRPr sz="1800" b="0">
                <a:solidFill>
                  <a:srgbClr val="182B3A"/>
                </a:solidFill>
                <a:latin typeface="Arial"/>
              </a:defRPr>
            </a:pPr>
            <a:r>
              <a:t>At x = 12, left side = 5 and right side = 5.</a:t>
            </a:r>
          </a:p>
        </p:txBody>
      </p:sp>
      <p:sp>
        <p:nvSpPr>
          <p:cNvPr id="27" name="Rectangle 26"/>
          <p:cNvSpPr/>
          <p:nvPr/>
        </p:nvSpPr>
        <p:spPr>
          <a:xfrm>
            <a:off x="4983480" y="1609344"/>
            <a:ext cx="4631436" cy="6035040"/>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5093208" y="1773936"/>
            <a:ext cx="4389120" cy="457200"/>
          </a:xfrm>
          <a:prstGeom prst="rect">
            <a:avLst/>
          </a:prstGeom>
          <a:noFill/>
        </p:spPr>
        <p:txBody>
          <a:bodyPr wrap="square" lIns="54864" rIns="54864" tIns="22860" bIns="22860">
            <a:spAutoFit/>
          </a:bodyPr>
          <a:lstStyle/>
          <a:p>
            <a:pPr>
              <a:lnSpc>
                <a:spcPts val="2625"/>
              </a:lnSpc>
              <a:spcBef>
                <a:spcPts val="0"/>
              </a:spcBef>
              <a:spcAft>
                <a:spcPts val="0"/>
              </a:spcAft>
              <a:defRPr sz="2500" b="1">
                <a:solidFill>
                  <a:srgbClr val="182B3A"/>
                </a:solidFill>
                <a:latin typeface="Arial"/>
              </a:defRPr>
            </a:pPr>
            <a:r>
              <a:t>4x + 3 = 31</a:t>
            </a:r>
          </a:p>
        </p:txBody>
      </p:sp>
      <p:cxnSp>
        <p:nvCxnSpPr>
          <p:cNvPr id="29" name="Connector 28"/>
          <p:cNvCxnSpPr/>
          <p:nvPr/>
        </p:nvCxnSpPr>
        <p:spPr>
          <a:xfrm>
            <a:off x="7287768" y="2487168"/>
            <a:ext cx="0" cy="2029968"/>
          </a:xfrm>
          <a:prstGeom prst="line">
            <a:avLst/>
          </a:prstGeom>
          <a:ln w="15240">
            <a:solidFill>
              <a:srgbClr val="8193A0"/>
            </a:solidFill>
          </a:ln>
          <a:effectLst/>
        </p:spPr>
        <p:style>
          <a:lnRef idx="2">
            <a:schemeClr val="accent1"/>
          </a:lnRef>
          <a:fillRef idx="0">
            <a:schemeClr val="accent1"/>
          </a:fillRef>
          <a:effectRef idx="1">
            <a:schemeClr val="accent1"/>
          </a:effectRef>
          <a:fontRef idx="minor">
            <a:schemeClr val="tx1"/>
          </a:fontRef>
        </p:style>
      </p:cxnSp>
      <p:sp>
        <p:nvSpPr>
          <p:cNvPr id="30" name="TextBox 29"/>
          <p:cNvSpPr txBox="1"/>
          <p:nvPr/>
        </p:nvSpPr>
        <p:spPr>
          <a:xfrm>
            <a:off x="5129784" y="2468880"/>
            <a:ext cx="2002536" cy="320040"/>
          </a:xfrm>
          <a:prstGeom prst="rect">
            <a:avLst/>
          </a:prstGeom>
          <a:noFill/>
        </p:spPr>
        <p:txBody>
          <a:bodyPr wrap="none" lIns="0" rIns="0" tIns="0" bIns="0">
            <a:spAutoFit/>
          </a:bodyPr>
          <a:lstStyle/>
          <a:p>
            <a:pPr algn="r">
              <a:lnSpc>
                <a:spcPts val="2464"/>
              </a:lnSpc>
              <a:spcAft>
                <a:spcPts val="0"/>
              </a:spcAft>
              <a:defRPr sz="2200" b="0">
                <a:solidFill>
                  <a:srgbClr val="182B3A"/>
                </a:solidFill>
                <a:latin typeface="Arial"/>
              </a:defRPr>
            </a:pPr>
            <a:r>
              <a:t>4x + 3</a:t>
            </a:r>
          </a:p>
        </p:txBody>
      </p:sp>
      <p:sp>
        <p:nvSpPr>
          <p:cNvPr id="31" name="TextBox 30"/>
          <p:cNvSpPr txBox="1"/>
          <p:nvPr/>
        </p:nvSpPr>
        <p:spPr>
          <a:xfrm>
            <a:off x="7461504" y="2468880"/>
            <a:ext cx="1984248" cy="320040"/>
          </a:xfrm>
          <a:prstGeom prst="rect">
            <a:avLst/>
          </a:prstGeom>
          <a:noFill/>
        </p:spPr>
        <p:txBody>
          <a:bodyPr wrap="none" lIns="0" rIns="0" tIns="0" bIns="0">
            <a:spAutoFit/>
          </a:bodyPr>
          <a:lstStyle/>
          <a:p>
            <a:pPr algn="l">
              <a:lnSpc>
                <a:spcPts val="2464"/>
              </a:lnSpc>
              <a:spcAft>
                <a:spcPts val="0"/>
              </a:spcAft>
              <a:defRPr sz="2200" b="0">
                <a:solidFill>
                  <a:srgbClr val="182B3A"/>
                </a:solidFill>
                <a:latin typeface="Arial"/>
              </a:defRPr>
            </a:pPr>
            <a:r>
              <a:t>31</a:t>
            </a:r>
          </a:p>
        </p:txBody>
      </p:sp>
      <p:sp>
        <p:nvSpPr>
          <p:cNvPr id="32" name="Rectangle 31"/>
          <p:cNvSpPr/>
          <p:nvPr/>
        </p:nvSpPr>
        <p:spPr>
          <a:xfrm>
            <a:off x="7178040" y="2468880"/>
            <a:ext cx="219456" cy="27432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7178040" y="2468880"/>
            <a:ext cx="219456" cy="274320"/>
          </a:xfrm>
          <a:prstGeom prst="rect">
            <a:avLst/>
          </a:prstGeom>
          <a:noFill/>
        </p:spPr>
        <p:txBody>
          <a:bodyPr wrap="none" lIns="0" rIns="0" tIns="0" bIns="0">
            <a:spAutoFit/>
          </a:bodyPr>
          <a:lstStyle/>
          <a:p>
            <a:pPr algn="ctr">
              <a:lnSpc>
                <a:spcPts val="2464"/>
              </a:lnSpc>
              <a:spcAft>
                <a:spcPts val="0"/>
              </a:spcAft>
              <a:defRPr sz="2200" b="0">
                <a:solidFill>
                  <a:srgbClr val="182B3A"/>
                </a:solidFill>
                <a:latin typeface="Arial"/>
              </a:defRPr>
            </a:pPr>
            <a:r>
              <a:t>=</a:t>
            </a:r>
          </a:p>
        </p:txBody>
      </p:sp>
      <p:sp>
        <p:nvSpPr>
          <p:cNvPr id="34" name="TextBox 33"/>
          <p:cNvSpPr txBox="1"/>
          <p:nvPr/>
        </p:nvSpPr>
        <p:spPr>
          <a:xfrm>
            <a:off x="5129784" y="2871216"/>
            <a:ext cx="2002536" cy="320040"/>
          </a:xfrm>
          <a:prstGeom prst="rect">
            <a:avLst/>
          </a:prstGeom>
          <a:noFill/>
        </p:spPr>
        <p:txBody>
          <a:bodyPr wrap="none" lIns="0" rIns="0" tIns="0" bIns="0">
            <a:spAutoFit/>
          </a:bodyPr>
          <a:lstStyle/>
          <a:p>
            <a:pPr algn="r">
              <a:lnSpc>
                <a:spcPts val="2128"/>
              </a:lnSpc>
              <a:spcAft>
                <a:spcPts val="0"/>
              </a:spcAft>
              <a:defRPr sz="1900" b="0">
                <a:solidFill>
                  <a:srgbClr val="3559A2"/>
                </a:solidFill>
                <a:latin typeface="Arial"/>
              </a:defRPr>
            </a:pPr>
            <a:r>
              <a:t>− 3</a:t>
            </a:r>
          </a:p>
        </p:txBody>
      </p:sp>
      <p:sp>
        <p:nvSpPr>
          <p:cNvPr id="35" name="TextBox 34"/>
          <p:cNvSpPr txBox="1"/>
          <p:nvPr/>
        </p:nvSpPr>
        <p:spPr>
          <a:xfrm>
            <a:off x="7461504" y="2871216"/>
            <a:ext cx="1984248" cy="320040"/>
          </a:xfrm>
          <a:prstGeom prst="rect">
            <a:avLst/>
          </a:prstGeom>
          <a:noFill/>
        </p:spPr>
        <p:txBody>
          <a:bodyPr wrap="none" lIns="0" rIns="0" tIns="0" bIns="0">
            <a:spAutoFit/>
          </a:bodyPr>
          <a:lstStyle/>
          <a:p>
            <a:pPr algn="l">
              <a:lnSpc>
                <a:spcPts val="2128"/>
              </a:lnSpc>
              <a:spcAft>
                <a:spcPts val="0"/>
              </a:spcAft>
              <a:defRPr sz="1900" b="0">
                <a:solidFill>
                  <a:srgbClr val="3559A2"/>
                </a:solidFill>
                <a:latin typeface="Arial"/>
              </a:defRPr>
            </a:pPr>
            <a:r>
              <a:t>− 3</a:t>
            </a:r>
          </a:p>
        </p:txBody>
      </p:sp>
      <p:sp>
        <p:nvSpPr>
          <p:cNvPr id="36" name="TextBox 35"/>
          <p:cNvSpPr txBox="1"/>
          <p:nvPr/>
        </p:nvSpPr>
        <p:spPr>
          <a:xfrm>
            <a:off x="5129784" y="3273552"/>
            <a:ext cx="2002536" cy="320040"/>
          </a:xfrm>
          <a:prstGeom prst="rect">
            <a:avLst/>
          </a:prstGeom>
          <a:noFill/>
        </p:spPr>
        <p:txBody>
          <a:bodyPr wrap="none" lIns="0" rIns="0" tIns="0" bIns="0">
            <a:spAutoFit/>
          </a:bodyPr>
          <a:lstStyle/>
          <a:p>
            <a:pPr algn="r">
              <a:lnSpc>
                <a:spcPts val="2464"/>
              </a:lnSpc>
              <a:spcAft>
                <a:spcPts val="0"/>
              </a:spcAft>
              <a:defRPr sz="2200" b="0">
                <a:solidFill>
                  <a:srgbClr val="182B3A"/>
                </a:solidFill>
                <a:latin typeface="Arial"/>
              </a:defRPr>
            </a:pPr>
            <a:r>
              <a:t>4x</a:t>
            </a:r>
          </a:p>
        </p:txBody>
      </p:sp>
      <p:sp>
        <p:nvSpPr>
          <p:cNvPr id="37" name="TextBox 36"/>
          <p:cNvSpPr txBox="1"/>
          <p:nvPr/>
        </p:nvSpPr>
        <p:spPr>
          <a:xfrm>
            <a:off x="7461504" y="3273552"/>
            <a:ext cx="1984248" cy="320040"/>
          </a:xfrm>
          <a:prstGeom prst="rect">
            <a:avLst/>
          </a:prstGeom>
          <a:noFill/>
        </p:spPr>
        <p:txBody>
          <a:bodyPr wrap="none" lIns="0" rIns="0" tIns="0" bIns="0">
            <a:spAutoFit/>
          </a:bodyPr>
          <a:lstStyle/>
          <a:p>
            <a:pPr algn="l">
              <a:lnSpc>
                <a:spcPts val="2464"/>
              </a:lnSpc>
              <a:spcAft>
                <a:spcPts val="0"/>
              </a:spcAft>
              <a:defRPr sz="2200" b="0">
                <a:solidFill>
                  <a:srgbClr val="182B3A"/>
                </a:solidFill>
                <a:latin typeface="Arial"/>
              </a:defRPr>
            </a:pPr>
            <a:r>
              <a:t>28</a:t>
            </a:r>
          </a:p>
        </p:txBody>
      </p:sp>
      <p:sp>
        <p:nvSpPr>
          <p:cNvPr id="38" name="Rectangle 37"/>
          <p:cNvSpPr/>
          <p:nvPr/>
        </p:nvSpPr>
        <p:spPr>
          <a:xfrm>
            <a:off x="7178040" y="3273552"/>
            <a:ext cx="219456" cy="27432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7178040" y="3273552"/>
            <a:ext cx="219456" cy="274320"/>
          </a:xfrm>
          <a:prstGeom prst="rect">
            <a:avLst/>
          </a:prstGeom>
          <a:noFill/>
        </p:spPr>
        <p:txBody>
          <a:bodyPr wrap="none" lIns="0" rIns="0" tIns="0" bIns="0">
            <a:spAutoFit/>
          </a:bodyPr>
          <a:lstStyle/>
          <a:p>
            <a:pPr algn="ctr">
              <a:lnSpc>
                <a:spcPts val="2464"/>
              </a:lnSpc>
              <a:spcAft>
                <a:spcPts val="0"/>
              </a:spcAft>
              <a:defRPr sz="2200" b="0">
                <a:solidFill>
                  <a:srgbClr val="182B3A"/>
                </a:solidFill>
                <a:latin typeface="Arial"/>
              </a:defRPr>
            </a:pPr>
            <a:r>
              <a:t>=</a:t>
            </a:r>
          </a:p>
        </p:txBody>
      </p:sp>
      <p:sp>
        <p:nvSpPr>
          <p:cNvPr id="40" name="TextBox 39"/>
          <p:cNvSpPr txBox="1"/>
          <p:nvPr/>
        </p:nvSpPr>
        <p:spPr>
          <a:xfrm>
            <a:off x="5129784" y="3675888"/>
            <a:ext cx="2002536" cy="320040"/>
          </a:xfrm>
          <a:prstGeom prst="rect">
            <a:avLst/>
          </a:prstGeom>
          <a:noFill/>
        </p:spPr>
        <p:txBody>
          <a:bodyPr wrap="none" lIns="0" rIns="0" tIns="0" bIns="0">
            <a:spAutoFit/>
          </a:bodyPr>
          <a:lstStyle/>
          <a:p>
            <a:pPr algn="r">
              <a:lnSpc>
                <a:spcPts val="2128"/>
              </a:lnSpc>
              <a:spcAft>
                <a:spcPts val="0"/>
              </a:spcAft>
              <a:defRPr sz="1900" b="0">
                <a:solidFill>
                  <a:srgbClr val="3559A2"/>
                </a:solidFill>
                <a:latin typeface="Arial"/>
              </a:defRPr>
            </a:pPr>
            <a:r>
              <a:t>÷ 4</a:t>
            </a:r>
          </a:p>
        </p:txBody>
      </p:sp>
      <p:sp>
        <p:nvSpPr>
          <p:cNvPr id="41" name="TextBox 40"/>
          <p:cNvSpPr txBox="1"/>
          <p:nvPr/>
        </p:nvSpPr>
        <p:spPr>
          <a:xfrm>
            <a:off x="7461504" y="3675888"/>
            <a:ext cx="1984248" cy="320040"/>
          </a:xfrm>
          <a:prstGeom prst="rect">
            <a:avLst/>
          </a:prstGeom>
          <a:noFill/>
        </p:spPr>
        <p:txBody>
          <a:bodyPr wrap="none" lIns="0" rIns="0" tIns="0" bIns="0">
            <a:spAutoFit/>
          </a:bodyPr>
          <a:lstStyle/>
          <a:p>
            <a:pPr algn="l">
              <a:lnSpc>
                <a:spcPts val="2128"/>
              </a:lnSpc>
              <a:spcAft>
                <a:spcPts val="0"/>
              </a:spcAft>
              <a:defRPr sz="1900" b="0">
                <a:solidFill>
                  <a:srgbClr val="3559A2"/>
                </a:solidFill>
                <a:latin typeface="Arial"/>
              </a:defRPr>
            </a:pPr>
            <a:r>
              <a:t>÷ 4</a:t>
            </a:r>
          </a:p>
        </p:txBody>
      </p:sp>
      <p:sp>
        <p:nvSpPr>
          <p:cNvPr id="42" name="TextBox 41"/>
          <p:cNvSpPr txBox="1"/>
          <p:nvPr/>
        </p:nvSpPr>
        <p:spPr>
          <a:xfrm>
            <a:off x="5129784" y="4078224"/>
            <a:ext cx="2002536" cy="320040"/>
          </a:xfrm>
          <a:prstGeom prst="rect">
            <a:avLst/>
          </a:prstGeom>
          <a:noFill/>
        </p:spPr>
        <p:txBody>
          <a:bodyPr wrap="none" lIns="0" rIns="0" tIns="0" bIns="0">
            <a:spAutoFit/>
          </a:bodyPr>
          <a:lstStyle/>
          <a:p>
            <a:pPr algn="r">
              <a:lnSpc>
                <a:spcPts val="2464"/>
              </a:lnSpc>
              <a:spcAft>
                <a:spcPts val="0"/>
              </a:spcAft>
              <a:defRPr sz="2200" b="0">
                <a:solidFill>
                  <a:srgbClr val="182B3A"/>
                </a:solidFill>
                <a:latin typeface="Arial"/>
              </a:defRPr>
            </a:pPr>
            <a:r>
              <a:t>x</a:t>
            </a:r>
          </a:p>
        </p:txBody>
      </p:sp>
      <p:sp>
        <p:nvSpPr>
          <p:cNvPr id="43" name="TextBox 42"/>
          <p:cNvSpPr txBox="1"/>
          <p:nvPr/>
        </p:nvSpPr>
        <p:spPr>
          <a:xfrm>
            <a:off x="7461504" y="4078224"/>
            <a:ext cx="1984248" cy="320040"/>
          </a:xfrm>
          <a:prstGeom prst="rect">
            <a:avLst/>
          </a:prstGeom>
          <a:noFill/>
        </p:spPr>
        <p:txBody>
          <a:bodyPr wrap="none" lIns="0" rIns="0" tIns="0" bIns="0">
            <a:spAutoFit/>
          </a:bodyPr>
          <a:lstStyle/>
          <a:p>
            <a:pPr algn="l">
              <a:lnSpc>
                <a:spcPts val="2464"/>
              </a:lnSpc>
              <a:spcAft>
                <a:spcPts val="0"/>
              </a:spcAft>
              <a:defRPr sz="2200" b="0">
                <a:solidFill>
                  <a:srgbClr val="182B3A"/>
                </a:solidFill>
                <a:latin typeface="Arial"/>
              </a:defRPr>
            </a:pPr>
            <a:r>
              <a:t>7</a:t>
            </a:r>
          </a:p>
        </p:txBody>
      </p:sp>
      <p:sp>
        <p:nvSpPr>
          <p:cNvPr id="44" name="Rectangle 43"/>
          <p:cNvSpPr/>
          <p:nvPr/>
        </p:nvSpPr>
        <p:spPr>
          <a:xfrm>
            <a:off x="7178040" y="4078224"/>
            <a:ext cx="219456" cy="27432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7178040" y="4078224"/>
            <a:ext cx="219456" cy="274320"/>
          </a:xfrm>
          <a:prstGeom prst="rect">
            <a:avLst/>
          </a:prstGeom>
          <a:noFill/>
        </p:spPr>
        <p:txBody>
          <a:bodyPr wrap="none" lIns="0" rIns="0" tIns="0" bIns="0">
            <a:spAutoFit/>
          </a:bodyPr>
          <a:lstStyle/>
          <a:p>
            <a:pPr algn="ctr">
              <a:lnSpc>
                <a:spcPts val="2464"/>
              </a:lnSpc>
              <a:spcAft>
                <a:spcPts val="0"/>
              </a:spcAft>
              <a:defRPr sz="2200" b="0">
                <a:solidFill>
                  <a:srgbClr val="182B3A"/>
                </a:solidFill>
                <a:latin typeface="Arial"/>
              </a:defRPr>
            </a:pPr>
            <a:r>
              <a:t>=</a:t>
            </a:r>
          </a:p>
        </p:txBody>
      </p:sp>
      <p:sp>
        <p:nvSpPr>
          <p:cNvPr id="46" name="TextBox 45"/>
          <p:cNvSpPr txBox="1"/>
          <p:nvPr/>
        </p:nvSpPr>
        <p:spPr>
          <a:xfrm>
            <a:off x="5093208" y="6656832"/>
            <a:ext cx="4389120" cy="868680"/>
          </a:xfrm>
          <a:prstGeom prst="rect">
            <a:avLst/>
          </a:prstGeom>
          <a:noFill/>
        </p:spPr>
        <p:txBody>
          <a:bodyPr wrap="square" lIns="54864" rIns="54864" tIns="22860" bIns="22860">
            <a:spAutoFit/>
          </a:bodyPr>
          <a:lstStyle/>
          <a:p>
            <a:pPr>
              <a:lnSpc>
                <a:spcPts val="1890"/>
              </a:lnSpc>
              <a:spcBef>
                <a:spcPts val="0"/>
              </a:spcBef>
              <a:spcAft>
                <a:spcPts val="0"/>
              </a:spcAft>
              <a:defRPr sz="1800" b="0">
                <a:solidFill>
                  <a:srgbClr val="182B3A"/>
                </a:solidFill>
                <a:latin typeface="Arial"/>
              </a:defRPr>
            </a:pPr>
            <a:r>
              <a:t>At x = 7, left side = 31 and right side = 31.</a:t>
            </a:r>
          </a:p>
        </p:txBody>
      </p:sp>
      <p:sp>
        <p:nvSpPr>
          <p:cNvPr id="47" name="Rectangle 46"/>
          <p:cNvSpPr/>
          <p:nvPr/>
        </p:nvSpPr>
        <p:spPr>
          <a:xfrm>
            <a:off x="9646920" y="1609344"/>
            <a:ext cx="4631436" cy="6035040"/>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TextBox 47"/>
          <p:cNvSpPr txBox="1"/>
          <p:nvPr/>
        </p:nvSpPr>
        <p:spPr>
          <a:xfrm>
            <a:off x="9756648" y="1773936"/>
            <a:ext cx="4389120" cy="457200"/>
          </a:xfrm>
          <a:prstGeom prst="rect">
            <a:avLst/>
          </a:prstGeom>
          <a:noFill/>
        </p:spPr>
        <p:txBody>
          <a:bodyPr wrap="square" lIns="54864" rIns="54864" tIns="22860" bIns="22860">
            <a:spAutoFit/>
          </a:bodyPr>
          <a:lstStyle/>
          <a:p>
            <a:pPr>
              <a:lnSpc>
                <a:spcPts val="2625"/>
              </a:lnSpc>
              <a:spcBef>
                <a:spcPts val="0"/>
              </a:spcBef>
              <a:spcAft>
                <a:spcPts val="0"/>
              </a:spcAft>
              <a:defRPr sz="2500" b="1">
                <a:solidFill>
                  <a:srgbClr val="182B3A"/>
                </a:solidFill>
                <a:latin typeface="Arial"/>
              </a:defRPr>
            </a:pPr>
            <a:r>
              <a:t>3(x + 2) = x + 24</a:t>
            </a:r>
          </a:p>
        </p:txBody>
      </p:sp>
      <p:cxnSp>
        <p:nvCxnSpPr>
          <p:cNvPr id="49" name="Connector 48"/>
          <p:cNvCxnSpPr/>
          <p:nvPr/>
        </p:nvCxnSpPr>
        <p:spPr>
          <a:xfrm>
            <a:off x="11951208" y="2487168"/>
            <a:ext cx="0" cy="3236976"/>
          </a:xfrm>
          <a:prstGeom prst="line">
            <a:avLst/>
          </a:prstGeom>
          <a:ln w="15240">
            <a:solidFill>
              <a:srgbClr val="8193A0"/>
            </a:solidFill>
          </a:ln>
          <a:effectLst/>
        </p:spPr>
        <p:style>
          <a:lnRef idx="2">
            <a:schemeClr val="accent1"/>
          </a:lnRef>
          <a:fillRef idx="0">
            <a:schemeClr val="accent1"/>
          </a:fillRef>
          <a:effectRef idx="1">
            <a:schemeClr val="accent1"/>
          </a:effectRef>
          <a:fontRef idx="minor">
            <a:schemeClr val="tx1"/>
          </a:fontRef>
        </p:style>
      </p:cxnSp>
      <p:sp>
        <p:nvSpPr>
          <p:cNvPr id="50" name="TextBox 49"/>
          <p:cNvSpPr txBox="1"/>
          <p:nvPr/>
        </p:nvSpPr>
        <p:spPr>
          <a:xfrm>
            <a:off x="9793224" y="2468880"/>
            <a:ext cx="2002536" cy="320040"/>
          </a:xfrm>
          <a:prstGeom prst="rect">
            <a:avLst/>
          </a:prstGeom>
          <a:noFill/>
        </p:spPr>
        <p:txBody>
          <a:bodyPr wrap="none" lIns="0" rIns="0" tIns="0" bIns="0">
            <a:spAutoFit/>
          </a:bodyPr>
          <a:lstStyle/>
          <a:p>
            <a:pPr algn="r">
              <a:lnSpc>
                <a:spcPts val="2464"/>
              </a:lnSpc>
              <a:spcAft>
                <a:spcPts val="0"/>
              </a:spcAft>
              <a:defRPr sz="2200" b="0">
                <a:solidFill>
                  <a:srgbClr val="182B3A"/>
                </a:solidFill>
                <a:latin typeface="Arial"/>
              </a:defRPr>
            </a:pPr>
            <a:r>
              <a:t>3(x + 2)</a:t>
            </a:r>
          </a:p>
        </p:txBody>
      </p:sp>
      <p:sp>
        <p:nvSpPr>
          <p:cNvPr id="51" name="TextBox 50"/>
          <p:cNvSpPr txBox="1"/>
          <p:nvPr/>
        </p:nvSpPr>
        <p:spPr>
          <a:xfrm>
            <a:off x="12124944" y="2468880"/>
            <a:ext cx="1984248" cy="320040"/>
          </a:xfrm>
          <a:prstGeom prst="rect">
            <a:avLst/>
          </a:prstGeom>
          <a:noFill/>
        </p:spPr>
        <p:txBody>
          <a:bodyPr wrap="none" lIns="0" rIns="0" tIns="0" bIns="0">
            <a:spAutoFit/>
          </a:bodyPr>
          <a:lstStyle/>
          <a:p>
            <a:pPr algn="l">
              <a:lnSpc>
                <a:spcPts val="2464"/>
              </a:lnSpc>
              <a:spcAft>
                <a:spcPts val="0"/>
              </a:spcAft>
              <a:defRPr sz="2200" b="0">
                <a:solidFill>
                  <a:srgbClr val="182B3A"/>
                </a:solidFill>
                <a:latin typeface="Arial"/>
              </a:defRPr>
            </a:pPr>
            <a:r>
              <a:t>x + 24</a:t>
            </a:r>
          </a:p>
        </p:txBody>
      </p:sp>
      <p:sp>
        <p:nvSpPr>
          <p:cNvPr id="52" name="Rectangle 51"/>
          <p:cNvSpPr/>
          <p:nvPr/>
        </p:nvSpPr>
        <p:spPr>
          <a:xfrm>
            <a:off x="11841480" y="2468880"/>
            <a:ext cx="219456" cy="27432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TextBox 52"/>
          <p:cNvSpPr txBox="1"/>
          <p:nvPr/>
        </p:nvSpPr>
        <p:spPr>
          <a:xfrm>
            <a:off x="11841480" y="2468880"/>
            <a:ext cx="219456" cy="274320"/>
          </a:xfrm>
          <a:prstGeom prst="rect">
            <a:avLst/>
          </a:prstGeom>
          <a:noFill/>
        </p:spPr>
        <p:txBody>
          <a:bodyPr wrap="none" lIns="0" rIns="0" tIns="0" bIns="0">
            <a:spAutoFit/>
          </a:bodyPr>
          <a:lstStyle/>
          <a:p>
            <a:pPr algn="ctr">
              <a:lnSpc>
                <a:spcPts val="2464"/>
              </a:lnSpc>
              <a:spcAft>
                <a:spcPts val="0"/>
              </a:spcAft>
              <a:defRPr sz="2200" b="0">
                <a:solidFill>
                  <a:srgbClr val="182B3A"/>
                </a:solidFill>
                <a:latin typeface="Arial"/>
              </a:defRPr>
            </a:pPr>
            <a:r>
              <a:t>=</a:t>
            </a:r>
          </a:p>
        </p:txBody>
      </p:sp>
      <p:sp>
        <p:nvSpPr>
          <p:cNvPr id="54" name="TextBox 53"/>
          <p:cNvSpPr txBox="1"/>
          <p:nvPr/>
        </p:nvSpPr>
        <p:spPr>
          <a:xfrm>
            <a:off x="9793224" y="2871216"/>
            <a:ext cx="2002536" cy="320040"/>
          </a:xfrm>
          <a:prstGeom prst="rect">
            <a:avLst/>
          </a:prstGeom>
          <a:noFill/>
        </p:spPr>
        <p:txBody>
          <a:bodyPr wrap="none" lIns="0" rIns="0" tIns="0" bIns="0">
            <a:spAutoFit/>
          </a:bodyPr>
          <a:lstStyle/>
          <a:p>
            <a:pPr algn="r">
              <a:lnSpc>
                <a:spcPts val="2464"/>
              </a:lnSpc>
              <a:spcAft>
                <a:spcPts val="0"/>
              </a:spcAft>
              <a:defRPr sz="2200" b="0">
                <a:solidFill>
                  <a:srgbClr val="182B3A"/>
                </a:solidFill>
                <a:latin typeface="Arial"/>
              </a:defRPr>
            </a:pPr>
            <a:r>
              <a:t>3x + 6</a:t>
            </a:r>
          </a:p>
        </p:txBody>
      </p:sp>
      <p:sp>
        <p:nvSpPr>
          <p:cNvPr id="55" name="TextBox 54"/>
          <p:cNvSpPr txBox="1"/>
          <p:nvPr/>
        </p:nvSpPr>
        <p:spPr>
          <a:xfrm>
            <a:off x="12124944" y="2871216"/>
            <a:ext cx="1984248" cy="320040"/>
          </a:xfrm>
          <a:prstGeom prst="rect">
            <a:avLst/>
          </a:prstGeom>
          <a:noFill/>
        </p:spPr>
        <p:txBody>
          <a:bodyPr wrap="none" lIns="0" rIns="0" tIns="0" bIns="0">
            <a:spAutoFit/>
          </a:bodyPr>
          <a:lstStyle/>
          <a:p>
            <a:pPr algn="l">
              <a:lnSpc>
                <a:spcPts val="2464"/>
              </a:lnSpc>
              <a:spcAft>
                <a:spcPts val="0"/>
              </a:spcAft>
              <a:defRPr sz="2200" b="0">
                <a:solidFill>
                  <a:srgbClr val="182B3A"/>
                </a:solidFill>
                <a:latin typeface="Arial"/>
              </a:defRPr>
            </a:pPr>
            <a:r>
              <a:t>x + 24</a:t>
            </a:r>
          </a:p>
        </p:txBody>
      </p:sp>
      <p:sp>
        <p:nvSpPr>
          <p:cNvPr id="56" name="Rectangle 55"/>
          <p:cNvSpPr/>
          <p:nvPr/>
        </p:nvSpPr>
        <p:spPr>
          <a:xfrm>
            <a:off x="11841480" y="2871216"/>
            <a:ext cx="219456" cy="27432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 name="TextBox 56"/>
          <p:cNvSpPr txBox="1"/>
          <p:nvPr/>
        </p:nvSpPr>
        <p:spPr>
          <a:xfrm>
            <a:off x="11841480" y="2871216"/>
            <a:ext cx="219456" cy="274320"/>
          </a:xfrm>
          <a:prstGeom prst="rect">
            <a:avLst/>
          </a:prstGeom>
          <a:noFill/>
        </p:spPr>
        <p:txBody>
          <a:bodyPr wrap="none" lIns="0" rIns="0" tIns="0" bIns="0">
            <a:spAutoFit/>
          </a:bodyPr>
          <a:lstStyle/>
          <a:p>
            <a:pPr algn="ctr">
              <a:lnSpc>
                <a:spcPts val="2464"/>
              </a:lnSpc>
              <a:spcAft>
                <a:spcPts val="0"/>
              </a:spcAft>
              <a:defRPr sz="2200" b="0">
                <a:solidFill>
                  <a:srgbClr val="182B3A"/>
                </a:solidFill>
                <a:latin typeface="Arial"/>
              </a:defRPr>
            </a:pPr>
            <a:r>
              <a:t>=</a:t>
            </a:r>
          </a:p>
        </p:txBody>
      </p:sp>
      <p:sp>
        <p:nvSpPr>
          <p:cNvPr id="58" name="TextBox 57"/>
          <p:cNvSpPr txBox="1"/>
          <p:nvPr/>
        </p:nvSpPr>
        <p:spPr>
          <a:xfrm>
            <a:off x="9793224" y="3273552"/>
            <a:ext cx="2002536" cy="320040"/>
          </a:xfrm>
          <a:prstGeom prst="rect">
            <a:avLst/>
          </a:prstGeom>
          <a:noFill/>
        </p:spPr>
        <p:txBody>
          <a:bodyPr wrap="none" lIns="0" rIns="0" tIns="0" bIns="0">
            <a:spAutoFit/>
          </a:bodyPr>
          <a:lstStyle/>
          <a:p>
            <a:pPr algn="r">
              <a:lnSpc>
                <a:spcPts val="2128"/>
              </a:lnSpc>
              <a:spcAft>
                <a:spcPts val="0"/>
              </a:spcAft>
              <a:defRPr sz="1900" b="0">
                <a:solidFill>
                  <a:srgbClr val="3559A2"/>
                </a:solidFill>
                <a:latin typeface="Arial"/>
              </a:defRPr>
            </a:pPr>
            <a:r>
              <a:t>− x</a:t>
            </a:r>
          </a:p>
        </p:txBody>
      </p:sp>
      <p:sp>
        <p:nvSpPr>
          <p:cNvPr id="59" name="TextBox 58"/>
          <p:cNvSpPr txBox="1"/>
          <p:nvPr/>
        </p:nvSpPr>
        <p:spPr>
          <a:xfrm>
            <a:off x="12124944" y="3273552"/>
            <a:ext cx="1984248" cy="320040"/>
          </a:xfrm>
          <a:prstGeom prst="rect">
            <a:avLst/>
          </a:prstGeom>
          <a:noFill/>
        </p:spPr>
        <p:txBody>
          <a:bodyPr wrap="none" lIns="0" rIns="0" tIns="0" bIns="0">
            <a:spAutoFit/>
          </a:bodyPr>
          <a:lstStyle/>
          <a:p>
            <a:pPr algn="l">
              <a:lnSpc>
                <a:spcPts val="2128"/>
              </a:lnSpc>
              <a:spcAft>
                <a:spcPts val="0"/>
              </a:spcAft>
              <a:defRPr sz="1900" b="0">
                <a:solidFill>
                  <a:srgbClr val="3559A2"/>
                </a:solidFill>
                <a:latin typeface="Arial"/>
              </a:defRPr>
            </a:pPr>
            <a:r>
              <a:t>− x</a:t>
            </a:r>
          </a:p>
        </p:txBody>
      </p:sp>
      <p:sp>
        <p:nvSpPr>
          <p:cNvPr id="60" name="TextBox 59"/>
          <p:cNvSpPr txBox="1"/>
          <p:nvPr/>
        </p:nvSpPr>
        <p:spPr>
          <a:xfrm>
            <a:off x="9793224" y="3675888"/>
            <a:ext cx="2002536" cy="320040"/>
          </a:xfrm>
          <a:prstGeom prst="rect">
            <a:avLst/>
          </a:prstGeom>
          <a:noFill/>
        </p:spPr>
        <p:txBody>
          <a:bodyPr wrap="none" lIns="0" rIns="0" tIns="0" bIns="0">
            <a:spAutoFit/>
          </a:bodyPr>
          <a:lstStyle/>
          <a:p>
            <a:pPr algn="r">
              <a:lnSpc>
                <a:spcPts val="2464"/>
              </a:lnSpc>
              <a:spcAft>
                <a:spcPts val="0"/>
              </a:spcAft>
              <a:defRPr sz="2200" b="0">
                <a:solidFill>
                  <a:srgbClr val="182B3A"/>
                </a:solidFill>
                <a:latin typeface="Arial"/>
              </a:defRPr>
            </a:pPr>
            <a:r>
              <a:t>2x + 6</a:t>
            </a:r>
          </a:p>
        </p:txBody>
      </p:sp>
      <p:sp>
        <p:nvSpPr>
          <p:cNvPr id="61" name="TextBox 60"/>
          <p:cNvSpPr txBox="1"/>
          <p:nvPr/>
        </p:nvSpPr>
        <p:spPr>
          <a:xfrm>
            <a:off x="12124944" y="3675888"/>
            <a:ext cx="1984248" cy="320040"/>
          </a:xfrm>
          <a:prstGeom prst="rect">
            <a:avLst/>
          </a:prstGeom>
          <a:noFill/>
        </p:spPr>
        <p:txBody>
          <a:bodyPr wrap="none" lIns="0" rIns="0" tIns="0" bIns="0">
            <a:spAutoFit/>
          </a:bodyPr>
          <a:lstStyle/>
          <a:p>
            <a:pPr algn="l">
              <a:lnSpc>
                <a:spcPts val="2464"/>
              </a:lnSpc>
              <a:spcAft>
                <a:spcPts val="0"/>
              </a:spcAft>
              <a:defRPr sz="2200" b="0">
                <a:solidFill>
                  <a:srgbClr val="182B3A"/>
                </a:solidFill>
                <a:latin typeface="Arial"/>
              </a:defRPr>
            </a:pPr>
            <a:r>
              <a:t>24</a:t>
            </a:r>
          </a:p>
        </p:txBody>
      </p:sp>
      <p:sp>
        <p:nvSpPr>
          <p:cNvPr id="62" name="Rectangle 61"/>
          <p:cNvSpPr/>
          <p:nvPr/>
        </p:nvSpPr>
        <p:spPr>
          <a:xfrm>
            <a:off x="11841480" y="3675888"/>
            <a:ext cx="219456" cy="27432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3" name="TextBox 62"/>
          <p:cNvSpPr txBox="1"/>
          <p:nvPr/>
        </p:nvSpPr>
        <p:spPr>
          <a:xfrm>
            <a:off x="11841480" y="3675888"/>
            <a:ext cx="219456" cy="274320"/>
          </a:xfrm>
          <a:prstGeom prst="rect">
            <a:avLst/>
          </a:prstGeom>
          <a:noFill/>
        </p:spPr>
        <p:txBody>
          <a:bodyPr wrap="none" lIns="0" rIns="0" tIns="0" bIns="0">
            <a:spAutoFit/>
          </a:bodyPr>
          <a:lstStyle/>
          <a:p>
            <a:pPr algn="ctr">
              <a:lnSpc>
                <a:spcPts val="2464"/>
              </a:lnSpc>
              <a:spcAft>
                <a:spcPts val="0"/>
              </a:spcAft>
              <a:defRPr sz="2200" b="0">
                <a:solidFill>
                  <a:srgbClr val="182B3A"/>
                </a:solidFill>
                <a:latin typeface="Arial"/>
              </a:defRPr>
            </a:pPr>
            <a:r>
              <a:t>=</a:t>
            </a:r>
          </a:p>
        </p:txBody>
      </p:sp>
      <p:sp>
        <p:nvSpPr>
          <p:cNvPr id="64" name="TextBox 63"/>
          <p:cNvSpPr txBox="1"/>
          <p:nvPr/>
        </p:nvSpPr>
        <p:spPr>
          <a:xfrm>
            <a:off x="9793224" y="4078224"/>
            <a:ext cx="2002536" cy="320040"/>
          </a:xfrm>
          <a:prstGeom prst="rect">
            <a:avLst/>
          </a:prstGeom>
          <a:noFill/>
        </p:spPr>
        <p:txBody>
          <a:bodyPr wrap="none" lIns="0" rIns="0" tIns="0" bIns="0">
            <a:spAutoFit/>
          </a:bodyPr>
          <a:lstStyle/>
          <a:p>
            <a:pPr algn="r">
              <a:lnSpc>
                <a:spcPts val="2128"/>
              </a:lnSpc>
              <a:spcAft>
                <a:spcPts val="0"/>
              </a:spcAft>
              <a:defRPr sz="1900" b="0">
                <a:solidFill>
                  <a:srgbClr val="3559A2"/>
                </a:solidFill>
                <a:latin typeface="Arial"/>
              </a:defRPr>
            </a:pPr>
            <a:r>
              <a:t>− 6</a:t>
            </a:r>
          </a:p>
        </p:txBody>
      </p:sp>
      <p:sp>
        <p:nvSpPr>
          <p:cNvPr id="65" name="TextBox 64"/>
          <p:cNvSpPr txBox="1"/>
          <p:nvPr/>
        </p:nvSpPr>
        <p:spPr>
          <a:xfrm>
            <a:off x="12124944" y="4078224"/>
            <a:ext cx="1984248" cy="320040"/>
          </a:xfrm>
          <a:prstGeom prst="rect">
            <a:avLst/>
          </a:prstGeom>
          <a:noFill/>
        </p:spPr>
        <p:txBody>
          <a:bodyPr wrap="none" lIns="0" rIns="0" tIns="0" bIns="0">
            <a:spAutoFit/>
          </a:bodyPr>
          <a:lstStyle/>
          <a:p>
            <a:pPr algn="l">
              <a:lnSpc>
                <a:spcPts val="2128"/>
              </a:lnSpc>
              <a:spcAft>
                <a:spcPts val="0"/>
              </a:spcAft>
              <a:defRPr sz="1900" b="0">
                <a:solidFill>
                  <a:srgbClr val="3559A2"/>
                </a:solidFill>
                <a:latin typeface="Arial"/>
              </a:defRPr>
            </a:pPr>
            <a:r>
              <a:t>− 6</a:t>
            </a:r>
          </a:p>
        </p:txBody>
      </p:sp>
      <p:sp>
        <p:nvSpPr>
          <p:cNvPr id="66" name="TextBox 65"/>
          <p:cNvSpPr txBox="1"/>
          <p:nvPr/>
        </p:nvSpPr>
        <p:spPr>
          <a:xfrm>
            <a:off x="9793224" y="4480560"/>
            <a:ext cx="2002536" cy="320040"/>
          </a:xfrm>
          <a:prstGeom prst="rect">
            <a:avLst/>
          </a:prstGeom>
          <a:noFill/>
        </p:spPr>
        <p:txBody>
          <a:bodyPr wrap="none" lIns="0" rIns="0" tIns="0" bIns="0">
            <a:spAutoFit/>
          </a:bodyPr>
          <a:lstStyle/>
          <a:p>
            <a:pPr algn="r">
              <a:lnSpc>
                <a:spcPts val="2464"/>
              </a:lnSpc>
              <a:spcAft>
                <a:spcPts val="0"/>
              </a:spcAft>
              <a:defRPr sz="2200" b="0">
                <a:solidFill>
                  <a:srgbClr val="182B3A"/>
                </a:solidFill>
                <a:latin typeface="Arial"/>
              </a:defRPr>
            </a:pPr>
            <a:r>
              <a:t>2x</a:t>
            </a:r>
          </a:p>
        </p:txBody>
      </p:sp>
      <p:sp>
        <p:nvSpPr>
          <p:cNvPr id="67" name="TextBox 66"/>
          <p:cNvSpPr txBox="1"/>
          <p:nvPr/>
        </p:nvSpPr>
        <p:spPr>
          <a:xfrm>
            <a:off x="12124944" y="4480560"/>
            <a:ext cx="1984248" cy="320040"/>
          </a:xfrm>
          <a:prstGeom prst="rect">
            <a:avLst/>
          </a:prstGeom>
          <a:noFill/>
        </p:spPr>
        <p:txBody>
          <a:bodyPr wrap="none" lIns="0" rIns="0" tIns="0" bIns="0">
            <a:spAutoFit/>
          </a:bodyPr>
          <a:lstStyle/>
          <a:p>
            <a:pPr algn="l">
              <a:lnSpc>
                <a:spcPts val="2464"/>
              </a:lnSpc>
              <a:spcAft>
                <a:spcPts val="0"/>
              </a:spcAft>
              <a:defRPr sz="2200" b="0">
                <a:solidFill>
                  <a:srgbClr val="182B3A"/>
                </a:solidFill>
                <a:latin typeface="Arial"/>
              </a:defRPr>
            </a:pPr>
            <a:r>
              <a:t>18</a:t>
            </a:r>
          </a:p>
        </p:txBody>
      </p:sp>
      <p:sp>
        <p:nvSpPr>
          <p:cNvPr id="68" name="Rectangle 67"/>
          <p:cNvSpPr/>
          <p:nvPr/>
        </p:nvSpPr>
        <p:spPr>
          <a:xfrm>
            <a:off x="11841480" y="4480560"/>
            <a:ext cx="219456" cy="27432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9" name="TextBox 68"/>
          <p:cNvSpPr txBox="1"/>
          <p:nvPr/>
        </p:nvSpPr>
        <p:spPr>
          <a:xfrm>
            <a:off x="11841480" y="4480560"/>
            <a:ext cx="219456" cy="274320"/>
          </a:xfrm>
          <a:prstGeom prst="rect">
            <a:avLst/>
          </a:prstGeom>
          <a:noFill/>
        </p:spPr>
        <p:txBody>
          <a:bodyPr wrap="none" lIns="0" rIns="0" tIns="0" bIns="0">
            <a:spAutoFit/>
          </a:bodyPr>
          <a:lstStyle/>
          <a:p>
            <a:pPr algn="ctr">
              <a:lnSpc>
                <a:spcPts val="2464"/>
              </a:lnSpc>
              <a:spcAft>
                <a:spcPts val="0"/>
              </a:spcAft>
              <a:defRPr sz="2200" b="0">
                <a:solidFill>
                  <a:srgbClr val="182B3A"/>
                </a:solidFill>
                <a:latin typeface="Arial"/>
              </a:defRPr>
            </a:pPr>
            <a:r>
              <a:t>=</a:t>
            </a:r>
          </a:p>
        </p:txBody>
      </p:sp>
      <p:sp>
        <p:nvSpPr>
          <p:cNvPr id="70" name="TextBox 69"/>
          <p:cNvSpPr txBox="1"/>
          <p:nvPr/>
        </p:nvSpPr>
        <p:spPr>
          <a:xfrm>
            <a:off x="9793224" y="4882896"/>
            <a:ext cx="2002536" cy="320040"/>
          </a:xfrm>
          <a:prstGeom prst="rect">
            <a:avLst/>
          </a:prstGeom>
          <a:noFill/>
        </p:spPr>
        <p:txBody>
          <a:bodyPr wrap="none" lIns="0" rIns="0" tIns="0" bIns="0">
            <a:spAutoFit/>
          </a:bodyPr>
          <a:lstStyle/>
          <a:p>
            <a:pPr algn="r">
              <a:lnSpc>
                <a:spcPts val="2128"/>
              </a:lnSpc>
              <a:spcAft>
                <a:spcPts val="0"/>
              </a:spcAft>
              <a:defRPr sz="1900" b="0">
                <a:solidFill>
                  <a:srgbClr val="3559A2"/>
                </a:solidFill>
                <a:latin typeface="Arial"/>
              </a:defRPr>
            </a:pPr>
            <a:r>
              <a:t>÷ 2</a:t>
            </a:r>
          </a:p>
        </p:txBody>
      </p:sp>
      <p:sp>
        <p:nvSpPr>
          <p:cNvPr id="71" name="TextBox 70"/>
          <p:cNvSpPr txBox="1"/>
          <p:nvPr/>
        </p:nvSpPr>
        <p:spPr>
          <a:xfrm>
            <a:off x="12124944" y="4882896"/>
            <a:ext cx="1984248" cy="320040"/>
          </a:xfrm>
          <a:prstGeom prst="rect">
            <a:avLst/>
          </a:prstGeom>
          <a:noFill/>
        </p:spPr>
        <p:txBody>
          <a:bodyPr wrap="none" lIns="0" rIns="0" tIns="0" bIns="0">
            <a:spAutoFit/>
          </a:bodyPr>
          <a:lstStyle/>
          <a:p>
            <a:pPr algn="l">
              <a:lnSpc>
                <a:spcPts val="2128"/>
              </a:lnSpc>
              <a:spcAft>
                <a:spcPts val="0"/>
              </a:spcAft>
              <a:defRPr sz="1900" b="0">
                <a:solidFill>
                  <a:srgbClr val="3559A2"/>
                </a:solidFill>
                <a:latin typeface="Arial"/>
              </a:defRPr>
            </a:pPr>
            <a:r>
              <a:t>÷ 2</a:t>
            </a:r>
          </a:p>
        </p:txBody>
      </p:sp>
      <p:sp>
        <p:nvSpPr>
          <p:cNvPr id="72" name="TextBox 71"/>
          <p:cNvSpPr txBox="1"/>
          <p:nvPr/>
        </p:nvSpPr>
        <p:spPr>
          <a:xfrm>
            <a:off x="9793224" y="5285232"/>
            <a:ext cx="2002536" cy="320040"/>
          </a:xfrm>
          <a:prstGeom prst="rect">
            <a:avLst/>
          </a:prstGeom>
          <a:noFill/>
        </p:spPr>
        <p:txBody>
          <a:bodyPr wrap="none" lIns="0" rIns="0" tIns="0" bIns="0">
            <a:spAutoFit/>
          </a:bodyPr>
          <a:lstStyle/>
          <a:p>
            <a:pPr algn="r">
              <a:lnSpc>
                <a:spcPts val="2464"/>
              </a:lnSpc>
              <a:spcAft>
                <a:spcPts val="0"/>
              </a:spcAft>
              <a:defRPr sz="2200" b="0">
                <a:solidFill>
                  <a:srgbClr val="182B3A"/>
                </a:solidFill>
                <a:latin typeface="Arial"/>
              </a:defRPr>
            </a:pPr>
            <a:r>
              <a:t>x</a:t>
            </a:r>
          </a:p>
        </p:txBody>
      </p:sp>
      <p:sp>
        <p:nvSpPr>
          <p:cNvPr id="73" name="TextBox 72"/>
          <p:cNvSpPr txBox="1"/>
          <p:nvPr/>
        </p:nvSpPr>
        <p:spPr>
          <a:xfrm>
            <a:off x="12124944" y="5285232"/>
            <a:ext cx="1984248" cy="320040"/>
          </a:xfrm>
          <a:prstGeom prst="rect">
            <a:avLst/>
          </a:prstGeom>
          <a:noFill/>
        </p:spPr>
        <p:txBody>
          <a:bodyPr wrap="none" lIns="0" rIns="0" tIns="0" bIns="0">
            <a:spAutoFit/>
          </a:bodyPr>
          <a:lstStyle/>
          <a:p>
            <a:pPr algn="l">
              <a:lnSpc>
                <a:spcPts val="2464"/>
              </a:lnSpc>
              <a:spcAft>
                <a:spcPts val="0"/>
              </a:spcAft>
              <a:defRPr sz="2200" b="0">
                <a:solidFill>
                  <a:srgbClr val="182B3A"/>
                </a:solidFill>
                <a:latin typeface="Arial"/>
              </a:defRPr>
            </a:pPr>
            <a:r>
              <a:t>9</a:t>
            </a:r>
          </a:p>
        </p:txBody>
      </p:sp>
      <p:sp>
        <p:nvSpPr>
          <p:cNvPr id="74" name="Rectangle 73"/>
          <p:cNvSpPr/>
          <p:nvPr/>
        </p:nvSpPr>
        <p:spPr>
          <a:xfrm>
            <a:off x="11841480" y="5285232"/>
            <a:ext cx="219456" cy="27432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5" name="TextBox 74"/>
          <p:cNvSpPr txBox="1"/>
          <p:nvPr/>
        </p:nvSpPr>
        <p:spPr>
          <a:xfrm>
            <a:off x="11841480" y="5285232"/>
            <a:ext cx="219456" cy="274320"/>
          </a:xfrm>
          <a:prstGeom prst="rect">
            <a:avLst/>
          </a:prstGeom>
          <a:noFill/>
        </p:spPr>
        <p:txBody>
          <a:bodyPr wrap="none" lIns="0" rIns="0" tIns="0" bIns="0">
            <a:spAutoFit/>
          </a:bodyPr>
          <a:lstStyle/>
          <a:p>
            <a:pPr algn="ctr">
              <a:lnSpc>
                <a:spcPts val="2464"/>
              </a:lnSpc>
              <a:spcAft>
                <a:spcPts val="0"/>
              </a:spcAft>
              <a:defRPr sz="2200" b="0">
                <a:solidFill>
                  <a:srgbClr val="182B3A"/>
                </a:solidFill>
                <a:latin typeface="Arial"/>
              </a:defRPr>
            </a:pPr>
            <a:r>
              <a:t>=</a:t>
            </a:r>
          </a:p>
        </p:txBody>
      </p:sp>
      <p:sp>
        <p:nvSpPr>
          <p:cNvPr id="76" name="TextBox 75"/>
          <p:cNvSpPr txBox="1"/>
          <p:nvPr/>
        </p:nvSpPr>
        <p:spPr>
          <a:xfrm>
            <a:off x="9756648" y="6656832"/>
            <a:ext cx="4389120" cy="868680"/>
          </a:xfrm>
          <a:prstGeom prst="rect">
            <a:avLst/>
          </a:prstGeom>
          <a:noFill/>
        </p:spPr>
        <p:txBody>
          <a:bodyPr wrap="square" lIns="54864" rIns="54864" tIns="22860" bIns="22860">
            <a:spAutoFit/>
          </a:bodyPr>
          <a:lstStyle/>
          <a:p>
            <a:pPr>
              <a:lnSpc>
                <a:spcPts val="1890"/>
              </a:lnSpc>
              <a:spcBef>
                <a:spcPts val="0"/>
              </a:spcBef>
              <a:spcAft>
                <a:spcPts val="0"/>
              </a:spcAft>
              <a:defRPr sz="1800" b="0">
                <a:solidFill>
                  <a:srgbClr val="182B3A"/>
                </a:solidFill>
                <a:latin typeface="Arial"/>
              </a:defRPr>
            </a:pPr>
            <a:r>
              <a:t>At x = 9, left side = 33 and right side = 33.</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bg>
      <p:bgPr>
        <a:solidFill>
          <a:srgbClr val="F7F8FA"/>
        </a:solidFill>
        <a:effectLst/>
      </p:bgPr>
    </p:bg>
    <p:spTree>
      <p:nvGrpSpPr>
        <p:cNvPr id="1" name=""/>
        <p:cNvGrpSpPr/>
        <p:nvPr/>
      </p:nvGrpSpPr>
      <p:grpSpPr/>
      <p:sp>
        <p:nvSpPr>
          <p:cNvPr id="2" name="Rectangle 1"/>
          <p:cNvSpPr/>
          <p:nvPr/>
        </p:nvSpPr>
        <p:spPr>
          <a:xfrm>
            <a:off x="0" y="0"/>
            <a:ext cx="14630400" cy="73152"/>
          </a:xfrm>
          <a:prstGeom prst="rect">
            <a:avLst/>
          </a:prstGeom>
          <a:solidFill>
            <a:srgbClr val="176B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20040" y="164592"/>
            <a:ext cx="13990320" cy="457200"/>
          </a:xfrm>
          <a:prstGeom prst="rect">
            <a:avLst/>
          </a:prstGeom>
          <a:noFill/>
        </p:spPr>
        <p:txBody>
          <a:bodyPr wrap="square" lIns="54864" rIns="54864" tIns="22860" bIns="22860">
            <a:spAutoFit/>
          </a:bodyPr>
          <a:lstStyle/>
          <a:p>
            <a:pPr>
              <a:lnSpc>
                <a:spcPts val="2940"/>
              </a:lnSpc>
              <a:spcBef>
                <a:spcPts val="0"/>
              </a:spcBef>
              <a:spcAft>
                <a:spcPts val="0"/>
              </a:spcAft>
              <a:defRPr sz="2800" b="1">
                <a:solidFill>
                  <a:srgbClr val="182B3A"/>
                </a:solidFill>
                <a:latin typeface="Arial"/>
              </a:defRPr>
            </a:pPr>
            <a:r>
              <a:t>Solving equations</a:t>
            </a:r>
          </a:p>
        </p:txBody>
      </p:sp>
      <p:sp>
        <p:nvSpPr>
          <p:cNvPr id="4" name="TextBox 3"/>
          <p:cNvSpPr txBox="1"/>
          <p:nvPr/>
        </p:nvSpPr>
        <p:spPr>
          <a:xfrm>
            <a:off x="320040" y="704088"/>
            <a:ext cx="13990320" cy="347472"/>
          </a:xfrm>
          <a:prstGeom prst="rect">
            <a:avLst/>
          </a:prstGeom>
          <a:noFill/>
        </p:spPr>
        <p:txBody>
          <a:bodyPr wrap="square" lIns="54864" rIns="54864" tIns="22860" bIns="22860">
            <a:spAutoFit/>
          </a:bodyPr>
          <a:lstStyle/>
          <a:p>
            <a:pPr>
              <a:lnSpc>
                <a:spcPts val="1575"/>
              </a:lnSpc>
              <a:spcBef>
                <a:spcPts val="0"/>
              </a:spcBef>
              <a:spcAft>
                <a:spcPts val="0"/>
              </a:spcAft>
              <a:defRPr sz="1500" b="0">
                <a:solidFill>
                  <a:srgbClr val="526472"/>
                </a:solidFill>
                <a:latin typeface="Arial"/>
              </a:defRPr>
            </a:pPr>
            <a:r>
              <a:t>Step-by-step practice 1 • Copy the centre line and show each operation.</a:t>
            </a:r>
          </a:p>
        </p:txBody>
      </p:sp>
      <p:sp>
        <p:nvSpPr>
          <p:cNvPr id="5" name="TextBox 4"/>
          <p:cNvSpPr txBox="1"/>
          <p:nvPr/>
        </p:nvSpPr>
        <p:spPr>
          <a:xfrm>
            <a:off x="320040" y="7973568"/>
            <a:ext cx="10789920" cy="210312"/>
          </a:xfrm>
          <a:prstGeom prst="rect">
            <a:avLst/>
          </a:prstGeom>
          <a:noFill/>
        </p:spPr>
        <p:txBody>
          <a:bodyPr wrap="square" lIns="54864" rIns="54864" tIns="22860" bIns="22860">
            <a:spAutoFit/>
          </a:bodyPr>
          <a:lstStyle/>
          <a:p>
            <a:pPr>
              <a:lnSpc>
                <a:spcPts val="1155"/>
              </a:lnSpc>
              <a:spcBef>
                <a:spcPts val="0"/>
              </a:spcBef>
              <a:spcAft>
                <a:spcPts val="0"/>
              </a:spcAft>
              <a:defRPr sz="1100" b="0">
                <a:solidFill>
                  <a:srgbClr val="526472"/>
                </a:solidFill>
                <a:latin typeface="Arial"/>
              </a:defRPr>
            </a:pPr>
            <a:r>
              <a:t>GCSE Maths revision • No calculator • Show your working.</a:t>
            </a:r>
          </a:p>
        </p:txBody>
      </p:sp>
      <p:sp>
        <p:nvSpPr>
          <p:cNvPr id="6" name="TextBox 5"/>
          <p:cNvSpPr txBox="1"/>
          <p:nvPr/>
        </p:nvSpPr>
        <p:spPr>
          <a:xfrm>
            <a:off x="11155680" y="7973568"/>
            <a:ext cx="3108960" cy="210312"/>
          </a:xfrm>
          <a:prstGeom prst="rect">
            <a:avLst/>
          </a:prstGeom>
          <a:noFill/>
        </p:spPr>
        <p:txBody>
          <a:bodyPr wrap="square" lIns="54864" rIns="54864" tIns="22860" bIns="22860">
            <a:spAutoFit/>
          </a:bodyPr>
          <a:lstStyle/>
          <a:p>
            <a:pPr>
              <a:lnSpc>
                <a:spcPts val="1155"/>
              </a:lnSpc>
              <a:spcBef>
                <a:spcPts val="0"/>
              </a:spcBef>
              <a:spcAft>
                <a:spcPts val="0"/>
              </a:spcAft>
              <a:defRPr sz="1100" b="0">
                <a:solidFill>
                  <a:srgbClr val="526472"/>
                </a:solidFill>
                <a:latin typeface="Arial"/>
              </a:defRPr>
            </a:pPr>
            <a:r>
              <a:t>M10-S02</a:t>
            </a:r>
          </a:p>
        </p:txBody>
      </p:sp>
      <p:sp>
        <p:nvSpPr>
          <p:cNvPr id="7" name="Rectangle 6"/>
          <p:cNvSpPr/>
          <p:nvPr/>
        </p:nvSpPr>
        <p:spPr>
          <a:xfrm>
            <a:off x="2121408" y="1115568"/>
            <a:ext cx="4040123" cy="420624"/>
          </a:xfrm>
          <a:prstGeom prst="rect">
            <a:avLst/>
          </a:prstGeom>
          <a:solidFill>
            <a:srgbClr val="176B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2148839" y="1147572"/>
            <a:ext cx="3980688" cy="329184"/>
          </a:xfrm>
          <a:prstGeom prst="rect">
            <a:avLst/>
          </a:prstGeom>
          <a:noFill/>
        </p:spPr>
        <p:txBody>
          <a:bodyPr wrap="square" lIns="54864" rIns="54864" tIns="22860" bIns="22860">
            <a:spAutoFit/>
          </a:bodyPr>
          <a:lstStyle/>
          <a:p>
            <a:pPr>
              <a:lnSpc>
                <a:spcPts val="1995"/>
              </a:lnSpc>
              <a:spcBef>
                <a:spcPts val="0"/>
              </a:spcBef>
              <a:spcAft>
                <a:spcPts val="0"/>
              </a:spcAft>
              <a:defRPr sz="1900" b="1">
                <a:solidFill>
                  <a:srgbClr val="FFFFFF"/>
                </a:solidFill>
                <a:latin typeface="Arial"/>
              </a:defRPr>
            </a:pPr>
            <a:r>
              <a:t>Start</a:t>
            </a:r>
          </a:p>
        </p:txBody>
      </p:sp>
      <p:sp>
        <p:nvSpPr>
          <p:cNvPr id="9" name="Rectangle 8"/>
          <p:cNvSpPr/>
          <p:nvPr/>
        </p:nvSpPr>
        <p:spPr>
          <a:xfrm>
            <a:off x="6184392" y="1115568"/>
            <a:ext cx="4040123" cy="420624"/>
          </a:xfrm>
          <a:prstGeom prst="rect">
            <a:avLst/>
          </a:prstGeom>
          <a:solidFill>
            <a:srgbClr val="3559A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211824" y="1147572"/>
            <a:ext cx="3980688" cy="329184"/>
          </a:xfrm>
          <a:prstGeom prst="rect">
            <a:avLst/>
          </a:prstGeom>
          <a:noFill/>
        </p:spPr>
        <p:txBody>
          <a:bodyPr wrap="square" lIns="54864" rIns="54864" tIns="22860" bIns="22860">
            <a:spAutoFit/>
          </a:bodyPr>
          <a:lstStyle/>
          <a:p>
            <a:pPr>
              <a:lnSpc>
                <a:spcPts val="1995"/>
              </a:lnSpc>
              <a:spcBef>
                <a:spcPts val="0"/>
              </a:spcBef>
              <a:spcAft>
                <a:spcPts val="0"/>
              </a:spcAft>
              <a:defRPr sz="1900" b="1">
                <a:solidFill>
                  <a:srgbClr val="FFFFFF"/>
                </a:solidFill>
                <a:latin typeface="Arial"/>
              </a:defRPr>
            </a:pPr>
            <a:r>
              <a:t>Build</a:t>
            </a:r>
          </a:p>
        </p:txBody>
      </p:sp>
      <p:sp>
        <p:nvSpPr>
          <p:cNvPr id="11" name="Rectangle 10"/>
          <p:cNvSpPr/>
          <p:nvPr/>
        </p:nvSpPr>
        <p:spPr>
          <a:xfrm>
            <a:off x="10247376" y="1115568"/>
            <a:ext cx="4040123" cy="420624"/>
          </a:xfrm>
          <a:prstGeom prst="rect">
            <a:avLst/>
          </a:prstGeom>
          <a:solidFill>
            <a:srgbClr val="754B8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0274808" y="1147572"/>
            <a:ext cx="3980688" cy="329184"/>
          </a:xfrm>
          <a:prstGeom prst="rect">
            <a:avLst/>
          </a:prstGeom>
          <a:noFill/>
        </p:spPr>
        <p:txBody>
          <a:bodyPr wrap="square" lIns="54864" rIns="54864" tIns="22860" bIns="22860">
            <a:spAutoFit/>
          </a:bodyPr>
          <a:lstStyle/>
          <a:p>
            <a:pPr>
              <a:lnSpc>
                <a:spcPts val="1995"/>
              </a:lnSpc>
              <a:spcBef>
                <a:spcPts val="0"/>
              </a:spcBef>
              <a:spcAft>
                <a:spcPts val="0"/>
              </a:spcAft>
              <a:defRPr sz="1900" b="1">
                <a:solidFill>
                  <a:srgbClr val="FFFFFF"/>
                </a:solidFill>
                <a:latin typeface="Arial"/>
              </a:defRPr>
            </a:pPr>
            <a:r>
              <a:t>Confidence</a:t>
            </a:r>
          </a:p>
        </p:txBody>
      </p:sp>
      <p:sp>
        <p:nvSpPr>
          <p:cNvPr id="13" name="Rectangle 12"/>
          <p:cNvSpPr/>
          <p:nvPr/>
        </p:nvSpPr>
        <p:spPr>
          <a:xfrm>
            <a:off x="320040" y="1581912"/>
            <a:ext cx="1773936" cy="594360"/>
          </a:xfrm>
          <a:prstGeom prst="rect">
            <a:avLst/>
          </a:prstGeom>
          <a:solidFill>
            <a:srgbClr val="E8EDF1"/>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02336" y="1691640"/>
            <a:ext cx="1581912" cy="411480"/>
          </a:xfrm>
          <a:prstGeom prst="rect">
            <a:avLst/>
          </a:prstGeom>
          <a:noFill/>
        </p:spPr>
        <p:txBody>
          <a:bodyPr wrap="square" lIns="54864" rIns="54864" tIns="22860" bIns="22860">
            <a:spAutoFit/>
          </a:bodyPr>
          <a:lstStyle/>
          <a:p>
            <a:pPr>
              <a:lnSpc>
                <a:spcPts val="1890"/>
              </a:lnSpc>
              <a:spcBef>
                <a:spcPts val="0"/>
              </a:spcBef>
              <a:spcAft>
                <a:spcPts val="0"/>
              </a:spcAft>
              <a:defRPr sz="1800" b="1">
                <a:solidFill>
                  <a:srgbClr val="182B3A"/>
                </a:solidFill>
                <a:latin typeface="Arial"/>
              </a:defRPr>
            </a:pPr>
            <a:r>
              <a:t>Equation</a:t>
            </a:r>
          </a:p>
        </p:txBody>
      </p:sp>
      <p:sp>
        <p:nvSpPr>
          <p:cNvPr id="15" name="Rectangle 14"/>
          <p:cNvSpPr/>
          <p:nvPr/>
        </p:nvSpPr>
        <p:spPr>
          <a:xfrm>
            <a:off x="2121408" y="1581912"/>
            <a:ext cx="4040123" cy="594360"/>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2212848" y="1673352"/>
            <a:ext cx="3834384" cy="438912"/>
          </a:xfrm>
          <a:prstGeom prst="rect">
            <a:avLst/>
          </a:prstGeom>
          <a:noFill/>
        </p:spPr>
        <p:txBody>
          <a:bodyPr wrap="square" lIns="54864" rIns="54864" tIns="22860" bIns="22860">
            <a:spAutoFit/>
          </a:bodyPr>
          <a:lstStyle/>
          <a:p>
            <a:pPr>
              <a:lnSpc>
                <a:spcPts val="2205"/>
              </a:lnSpc>
              <a:spcBef>
                <a:spcPts val="0"/>
              </a:spcBef>
              <a:spcAft>
                <a:spcPts val="0"/>
              </a:spcAft>
              <a:defRPr sz="2100" b="1">
                <a:solidFill>
                  <a:srgbClr val="182B3A"/>
                </a:solidFill>
                <a:latin typeface="Arial"/>
              </a:defRPr>
            </a:pPr>
            <a:r>
              <a:t>x − 8 = 15</a:t>
            </a:r>
          </a:p>
        </p:txBody>
      </p:sp>
      <p:sp>
        <p:nvSpPr>
          <p:cNvPr id="17" name="Rectangle 16"/>
          <p:cNvSpPr/>
          <p:nvPr/>
        </p:nvSpPr>
        <p:spPr>
          <a:xfrm>
            <a:off x="6184392" y="1581912"/>
            <a:ext cx="4040123" cy="594360"/>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275832" y="1673352"/>
            <a:ext cx="3834384" cy="438912"/>
          </a:xfrm>
          <a:prstGeom prst="rect">
            <a:avLst/>
          </a:prstGeom>
          <a:noFill/>
        </p:spPr>
        <p:txBody>
          <a:bodyPr wrap="square" lIns="54864" rIns="54864" tIns="22860" bIns="22860">
            <a:spAutoFit/>
          </a:bodyPr>
          <a:lstStyle/>
          <a:p>
            <a:pPr>
              <a:lnSpc>
                <a:spcPts val="2205"/>
              </a:lnSpc>
              <a:spcBef>
                <a:spcPts val="0"/>
              </a:spcBef>
              <a:spcAft>
                <a:spcPts val="0"/>
              </a:spcAft>
              <a:defRPr sz="2100" b="1">
                <a:solidFill>
                  <a:srgbClr val="182B3A"/>
                </a:solidFill>
                <a:latin typeface="Arial"/>
              </a:defRPr>
            </a:pPr>
            <a:r>
              <a:t>5x + 7 = 37</a:t>
            </a:r>
          </a:p>
        </p:txBody>
      </p:sp>
      <p:sp>
        <p:nvSpPr>
          <p:cNvPr id="19" name="Rectangle 18"/>
          <p:cNvSpPr/>
          <p:nvPr/>
        </p:nvSpPr>
        <p:spPr>
          <a:xfrm>
            <a:off x="10247376" y="1581912"/>
            <a:ext cx="4040123" cy="594360"/>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8816" y="1673352"/>
            <a:ext cx="3834384" cy="438912"/>
          </a:xfrm>
          <a:prstGeom prst="rect">
            <a:avLst/>
          </a:prstGeom>
          <a:noFill/>
        </p:spPr>
        <p:txBody>
          <a:bodyPr wrap="square" lIns="54864" rIns="54864" tIns="22860" bIns="22860">
            <a:spAutoFit/>
          </a:bodyPr>
          <a:lstStyle/>
          <a:p>
            <a:pPr>
              <a:lnSpc>
                <a:spcPts val="2205"/>
              </a:lnSpc>
              <a:spcBef>
                <a:spcPts val="0"/>
              </a:spcBef>
              <a:spcAft>
                <a:spcPts val="0"/>
              </a:spcAft>
              <a:defRPr sz="2100" b="1">
                <a:solidFill>
                  <a:srgbClr val="182B3A"/>
                </a:solidFill>
                <a:latin typeface="Arial"/>
              </a:defRPr>
            </a:pPr>
            <a:r>
              <a:t>3(x + 4) = x + 20</a:t>
            </a:r>
          </a:p>
        </p:txBody>
      </p:sp>
      <p:sp>
        <p:nvSpPr>
          <p:cNvPr id="21" name="Rectangle 20"/>
          <p:cNvSpPr/>
          <p:nvPr/>
        </p:nvSpPr>
        <p:spPr>
          <a:xfrm>
            <a:off x="320040" y="2176272"/>
            <a:ext cx="1773936" cy="960120"/>
          </a:xfrm>
          <a:prstGeom prst="rect">
            <a:avLst/>
          </a:prstGeom>
          <a:solidFill>
            <a:srgbClr val="E8EDF1"/>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402336" y="2286000"/>
            <a:ext cx="1581912" cy="777240"/>
          </a:xfrm>
          <a:prstGeom prst="rect">
            <a:avLst/>
          </a:prstGeom>
          <a:noFill/>
        </p:spPr>
        <p:txBody>
          <a:bodyPr wrap="square" lIns="54864" rIns="54864" tIns="22860" bIns="22860">
            <a:spAutoFit/>
          </a:bodyPr>
          <a:lstStyle/>
          <a:p>
            <a:pPr>
              <a:lnSpc>
                <a:spcPts val="1890"/>
              </a:lnSpc>
              <a:spcBef>
                <a:spcPts val="0"/>
              </a:spcBef>
              <a:spcAft>
                <a:spcPts val="0"/>
              </a:spcAft>
              <a:defRPr sz="1800" b="1">
                <a:solidFill>
                  <a:srgbClr val="182B3A"/>
                </a:solidFill>
                <a:latin typeface="Arial"/>
              </a:defRPr>
            </a:pPr>
            <a:r>
              <a:t>Simplify the Equation</a:t>
            </a:r>
          </a:p>
        </p:txBody>
      </p:sp>
      <p:sp>
        <p:nvSpPr>
          <p:cNvPr id="23" name="Rectangle 22"/>
          <p:cNvSpPr/>
          <p:nvPr/>
        </p:nvSpPr>
        <p:spPr>
          <a:xfrm>
            <a:off x="2121408" y="2176272"/>
            <a:ext cx="4040123" cy="960120"/>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2212848" y="2267712"/>
            <a:ext cx="3834384" cy="804672"/>
          </a:xfrm>
          <a:prstGeom prst="rect">
            <a:avLst/>
          </a:prstGeom>
          <a:noFill/>
        </p:spPr>
        <p:txBody>
          <a:bodyPr wrap="square" lIns="54864" rIns="54864" tIns="22860" bIns="22860">
            <a:spAutoFit/>
          </a:bodyPr>
          <a:lstStyle/>
          <a:p>
            <a:pPr>
              <a:lnSpc>
                <a:spcPts val="1890"/>
              </a:lnSpc>
              <a:spcBef>
                <a:spcPts val="0"/>
              </a:spcBef>
              <a:spcAft>
                <a:spcPts val="0"/>
              </a:spcAft>
              <a:defRPr sz="1800" b="0">
                <a:solidFill>
                  <a:srgbClr val="182B3A"/>
                </a:solidFill>
                <a:latin typeface="Arial"/>
              </a:defRPr>
            </a:pPr>
            <a:r>
              <a:t>Collect like terms or factorise if useful. Copy the equation with a line through the equals sign.</a:t>
            </a:r>
          </a:p>
        </p:txBody>
      </p:sp>
      <p:sp>
        <p:nvSpPr>
          <p:cNvPr id="25" name="Rectangle 24"/>
          <p:cNvSpPr/>
          <p:nvPr/>
        </p:nvSpPr>
        <p:spPr>
          <a:xfrm>
            <a:off x="6184392" y="2176272"/>
            <a:ext cx="4040123" cy="960120"/>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275832" y="2267712"/>
            <a:ext cx="3834384" cy="804672"/>
          </a:xfrm>
          <a:prstGeom prst="rect">
            <a:avLst/>
          </a:prstGeom>
          <a:noFill/>
        </p:spPr>
        <p:txBody>
          <a:bodyPr wrap="square" lIns="54864" rIns="54864" tIns="22860" bIns="22860">
            <a:spAutoFit/>
          </a:bodyPr>
          <a:lstStyle/>
          <a:p>
            <a:pPr>
              <a:lnSpc>
                <a:spcPts val="1890"/>
              </a:lnSpc>
              <a:spcBef>
                <a:spcPts val="0"/>
              </a:spcBef>
              <a:spcAft>
                <a:spcPts val="0"/>
              </a:spcAft>
              <a:defRPr sz="1800" b="0">
                <a:solidFill>
                  <a:srgbClr val="182B3A"/>
                </a:solidFill>
                <a:latin typeface="Arial"/>
              </a:defRPr>
            </a:pPr>
            <a:r>
              <a:t>Collect like terms or factorise if useful. Copy the equation with a line through the equals sign.</a:t>
            </a:r>
          </a:p>
        </p:txBody>
      </p:sp>
      <p:sp>
        <p:nvSpPr>
          <p:cNvPr id="27" name="Rectangle 26"/>
          <p:cNvSpPr/>
          <p:nvPr/>
        </p:nvSpPr>
        <p:spPr>
          <a:xfrm>
            <a:off x="10247376" y="2176272"/>
            <a:ext cx="4040123" cy="960120"/>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10338816" y="2267712"/>
            <a:ext cx="3834384" cy="804672"/>
          </a:xfrm>
          <a:prstGeom prst="rect">
            <a:avLst/>
          </a:prstGeom>
          <a:noFill/>
        </p:spPr>
        <p:txBody>
          <a:bodyPr wrap="square" lIns="54864" rIns="54864" tIns="22860" bIns="22860">
            <a:spAutoFit/>
          </a:bodyPr>
          <a:lstStyle/>
          <a:p>
            <a:pPr>
              <a:lnSpc>
                <a:spcPts val="1890"/>
              </a:lnSpc>
              <a:spcBef>
                <a:spcPts val="0"/>
              </a:spcBef>
              <a:spcAft>
                <a:spcPts val="0"/>
              </a:spcAft>
              <a:defRPr sz="1800" b="0">
                <a:solidFill>
                  <a:srgbClr val="182B3A"/>
                </a:solidFill>
                <a:latin typeface="Arial"/>
              </a:defRPr>
            </a:pPr>
            <a:r>
              <a:t>Collect like terms or factorise if useful. Copy the equation with a line through the equals sign.</a:t>
            </a:r>
          </a:p>
        </p:txBody>
      </p:sp>
      <p:sp>
        <p:nvSpPr>
          <p:cNvPr id="29" name="Rectangle 28"/>
          <p:cNvSpPr/>
          <p:nvPr/>
        </p:nvSpPr>
        <p:spPr>
          <a:xfrm>
            <a:off x="320040" y="3136391"/>
            <a:ext cx="1773936" cy="1874519"/>
          </a:xfrm>
          <a:prstGeom prst="rect">
            <a:avLst/>
          </a:prstGeom>
          <a:solidFill>
            <a:srgbClr val="E8EDF1"/>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402336" y="3246120"/>
            <a:ext cx="1581912" cy="1691639"/>
          </a:xfrm>
          <a:prstGeom prst="rect">
            <a:avLst/>
          </a:prstGeom>
          <a:noFill/>
        </p:spPr>
        <p:txBody>
          <a:bodyPr wrap="square" lIns="54864" rIns="54864" tIns="22860" bIns="22860">
            <a:spAutoFit/>
          </a:bodyPr>
          <a:lstStyle/>
          <a:p>
            <a:pPr>
              <a:lnSpc>
                <a:spcPts val="1890"/>
              </a:lnSpc>
              <a:spcBef>
                <a:spcPts val="0"/>
              </a:spcBef>
              <a:spcAft>
                <a:spcPts val="0"/>
              </a:spcAft>
              <a:defRPr sz="1800" b="1">
                <a:solidFill>
                  <a:srgbClr val="182B3A"/>
                </a:solidFill>
                <a:latin typeface="Arial"/>
              </a:defRPr>
            </a:pPr>
            <a:r>
              <a:t>Use Inverse Operations</a:t>
            </a:r>
          </a:p>
        </p:txBody>
      </p:sp>
      <p:sp>
        <p:nvSpPr>
          <p:cNvPr id="31" name="Rectangle 30"/>
          <p:cNvSpPr/>
          <p:nvPr/>
        </p:nvSpPr>
        <p:spPr>
          <a:xfrm>
            <a:off x="2121408" y="3136391"/>
            <a:ext cx="4040123" cy="1874519"/>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2212848" y="3227832"/>
            <a:ext cx="3834384" cy="1719072"/>
          </a:xfrm>
          <a:prstGeom prst="rect">
            <a:avLst/>
          </a:prstGeom>
          <a:noFill/>
        </p:spPr>
        <p:txBody>
          <a:bodyPr wrap="square" lIns="54864" rIns="54864" tIns="22860" bIns="22860">
            <a:spAutoFit/>
          </a:bodyPr>
          <a:lstStyle/>
          <a:p>
            <a:pPr>
              <a:lnSpc>
                <a:spcPts val="1890"/>
              </a:lnSpc>
              <a:spcBef>
                <a:spcPts val="0"/>
              </a:spcBef>
              <a:spcAft>
                <a:spcPts val="0"/>
              </a:spcAft>
              <a:defRPr sz="1800" b="0">
                <a:solidFill>
                  <a:srgbClr val="182B3A"/>
                </a:solidFill>
                <a:latin typeface="Arial"/>
              </a:defRPr>
            </a:pPr>
            <a:r>
              <a:t>Write the same operation on both sides. Choose an operation that makes the equation simpler.</a:t>
            </a:r>
          </a:p>
        </p:txBody>
      </p:sp>
      <p:cxnSp>
        <p:nvCxnSpPr>
          <p:cNvPr id="33" name="Connector 32"/>
          <p:cNvCxnSpPr/>
          <p:nvPr/>
        </p:nvCxnSpPr>
        <p:spPr>
          <a:xfrm>
            <a:off x="4152899" y="4215383"/>
            <a:ext cx="0" cy="685800"/>
          </a:xfrm>
          <a:prstGeom prst="line">
            <a:avLst/>
          </a:prstGeom>
          <a:ln w="15240">
            <a:solidFill>
              <a:srgbClr val="8193A0"/>
            </a:solidFill>
          </a:ln>
        </p:spPr>
        <p:style>
          <a:lnRef idx="2">
            <a:schemeClr val="accent1"/>
          </a:lnRef>
          <a:fillRef idx="0">
            <a:schemeClr val="accent1"/>
          </a:fillRef>
          <a:effectRef idx="1">
            <a:schemeClr val="accent1"/>
          </a:effectRef>
          <a:fontRef idx="minor">
            <a:schemeClr val="tx1"/>
          </a:fontRef>
        </p:style>
      </p:cxnSp>
      <p:sp>
        <p:nvSpPr>
          <p:cNvPr id="34" name="Rectangle 33"/>
          <p:cNvSpPr/>
          <p:nvPr/>
        </p:nvSpPr>
        <p:spPr>
          <a:xfrm>
            <a:off x="6184392" y="3136391"/>
            <a:ext cx="4040123" cy="1874519"/>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275832" y="3227832"/>
            <a:ext cx="3834384" cy="1719072"/>
          </a:xfrm>
          <a:prstGeom prst="rect">
            <a:avLst/>
          </a:prstGeom>
          <a:noFill/>
        </p:spPr>
        <p:txBody>
          <a:bodyPr wrap="square" lIns="54864" rIns="54864" tIns="22860" bIns="22860">
            <a:spAutoFit/>
          </a:bodyPr>
          <a:lstStyle/>
          <a:p>
            <a:pPr>
              <a:lnSpc>
                <a:spcPts val="1890"/>
              </a:lnSpc>
              <a:spcBef>
                <a:spcPts val="0"/>
              </a:spcBef>
              <a:spcAft>
                <a:spcPts val="0"/>
              </a:spcAft>
              <a:defRPr sz="1800" b="0">
                <a:solidFill>
                  <a:srgbClr val="182B3A"/>
                </a:solidFill>
                <a:latin typeface="Arial"/>
              </a:defRPr>
            </a:pPr>
            <a:r>
              <a:t>Write the same operation on both sides. Choose an operation that makes the equation simpler.</a:t>
            </a:r>
          </a:p>
        </p:txBody>
      </p:sp>
      <p:cxnSp>
        <p:nvCxnSpPr>
          <p:cNvPr id="36" name="Connector 35"/>
          <p:cNvCxnSpPr/>
          <p:nvPr/>
        </p:nvCxnSpPr>
        <p:spPr>
          <a:xfrm>
            <a:off x="8215883" y="4215383"/>
            <a:ext cx="0" cy="685800"/>
          </a:xfrm>
          <a:prstGeom prst="line">
            <a:avLst/>
          </a:prstGeom>
          <a:ln w="15240">
            <a:solidFill>
              <a:srgbClr val="8193A0"/>
            </a:solidFill>
          </a:ln>
        </p:spPr>
        <p:style>
          <a:lnRef idx="2">
            <a:schemeClr val="accent1"/>
          </a:lnRef>
          <a:fillRef idx="0">
            <a:schemeClr val="accent1"/>
          </a:fillRef>
          <a:effectRef idx="1">
            <a:schemeClr val="accent1"/>
          </a:effectRef>
          <a:fontRef idx="minor">
            <a:schemeClr val="tx1"/>
          </a:fontRef>
        </p:style>
      </p:cxnSp>
      <p:sp>
        <p:nvSpPr>
          <p:cNvPr id="37" name="Rectangle 36"/>
          <p:cNvSpPr/>
          <p:nvPr/>
        </p:nvSpPr>
        <p:spPr>
          <a:xfrm>
            <a:off x="10247376" y="3136391"/>
            <a:ext cx="4040123" cy="1874519"/>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10338816" y="3227832"/>
            <a:ext cx="3834384" cy="1719072"/>
          </a:xfrm>
          <a:prstGeom prst="rect">
            <a:avLst/>
          </a:prstGeom>
          <a:noFill/>
        </p:spPr>
        <p:txBody>
          <a:bodyPr wrap="square" lIns="54864" rIns="54864" tIns="22860" bIns="22860">
            <a:spAutoFit/>
          </a:bodyPr>
          <a:lstStyle/>
          <a:p>
            <a:pPr>
              <a:lnSpc>
                <a:spcPts val="1890"/>
              </a:lnSpc>
              <a:spcBef>
                <a:spcPts val="0"/>
              </a:spcBef>
              <a:spcAft>
                <a:spcPts val="0"/>
              </a:spcAft>
              <a:defRPr sz="1800" b="0">
                <a:solidFill>
                  <a:srgbClr val="182B3A"/>
                </a:solidFill>
                <a:latin typeface="Arial"/>
              </a:defRPr>
            </a:pPr>
            <a:r>
              <a:t>Write the same operation on both sides. Choose an operation that makes the equation simpler.</a:t>
            </a:r>
          </a:p>
        </p:txBody>
      </p:sp>
      <p:cxnSp>
        <p:nvCxnSpPr>
          <p:cNvPr id="39" name="Connector 38"/>
          <p:cNvCxnSpPr/>
          <p:nvPr/>
        </p:nvCxnSpPr>
        <p:spPr>
          <a:xfrm>
            <a:off x="12278868" y="4215383"/>
            <a:ext cx="0" cy="685800"/>
          </a:xfrm>
          <a:prstGeom prst="line">
            <a:avLst/>
          </a:prstGeom>
          <a:ln w="15240">
            <a:solidFill>
              <a:srgbClr val="8193A0"/>
            </a:solidFill>
          </a:ln>
        </p:spPr>
        <p:style>
          <a:lnRef idx="2">
            <a:schemeClr val="accent1"/>
          </a:lnRef>
          <a:fillRef idx="0">
            <a:schemeClr val="accent1"/>
          </a:fillRef>
          <a:effectRef idx="1">
            <a:schemeClr val="accent1"/>
          </a:effectRef>
          <a:fontRef idx="minor">
            <a:schemeClr val="tx1"/>
          </a:fontRef>
        </p:style>
      </p:cxnSp>
      <p:sp>
        <p:nvSpPr>
          <p:cNvPr id="40" name="Rectangle 39"/>
          <p:cNvSpPr/>
          <p:nvPr/>
        </p:nvSpPr>
        <p:spPr>
          <a:xfrm>
            <a:off x="320040" y="5010912"/>
            <a:ext cx="1773936" cy="1051560"/>
          </a:xfrm>
          <a:prstGeom prst="rect">
            <a:avLst/>
          </a:prstGeom>
          <a:solidFill>
            <a:srgbClr val="E8EDF1"/>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402336" y="5120640"/>
            <a:ext cx="1581912" cy="868680"/>
          </a:xfrm>
          <a:prstGeom prst="rect">
            <a:avLst/>
          </a:prstGeom>
          <a:noFill/>
        </p:spPr>
        <p:txBody>
          <a:bodyPr wrap="square" lIns="54864" rIns="54864" tIns="22860" bIns="22860">
            <a:spAutoFit/>
          </a:bodyPr>
          <a:lstStyle/>
          <a:p>
            <a:pPr>
              <a:lnSpc>
                <a:spcPts val="1890"/>
              </a:lnSpc>
              <a:spcBef>
                <a:spcPts val="0"/>
              </a:spcBef>
              <a:spcAft>
                <a:spcPts val="0"/>
              </a:spcAft>
              <a:defRPr sz="1800" b="1">
                <a:solidFill>
                  <a:srgbClr val="182B3A"/>
                </a:solidFill>
                <a:latin typeface="Arial"/>
              </a:defRPr>
            </a:pPr>
            <a:r>
              <a:t>Find the Unknown</a:t>
            </a:r>
          </a:p>
        </p:txBody>
      </p:sp>
      <p:sp>
        <p:nvSpPr>
          <p:cNvPr id="42" name="Rectangle 41"/>
          <p:cNvSpPr/>
          <p:nvPr/>
        </p:nvSpPr>
        <p:spPr>
          <a:xfrm>
            <a:off x="2121408" y="5010912"/>
            <a:ext cx="4040123" cy="1051560"/>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2212848" y="5102351"/>
            <a:ext cx="3834384" cy="896111"/>
          </a:xfrm>
          <a:prstGeom prst="rect">
            <a:avLst/>
          </a:prstGeom>
          <a:noFill/>
        </p:spPr>
        <p:txBody>
          <a:bodyPr wrap="square" lIns="54864" rIns="54864" tIns="22860" bIns="22860">
            <a:spAutoFit/>
          </a:bodyPr>
          <a:lstStyle/>
          <a:p>
            <a:pPr>
              <a:lnSpc>
                <a:spcPts val="1890"/>
              </a:lnSpc>
              <a:spcBef>
                <a:spcPts val="0"/>
              </a:spcBef>
              <a:spcAft>
                <a:spcPts val="0"/>
              </a:spcAft>
              <a:defRPr sz="1800" b="0">
                <a:solidFill>
                  <a:srgbClr val="182B3A"/>
                </a:solidFill>
                <a:latin typeface="Arial"/>
              </a:defRPr>
            </a:pPr>
            <a:r>
              <a:t>Continue until x is alone. Keep the left and right sides balanced.</a:t>
            </a:r>
          </a:p>
        </p:txBody>
      </p:sp>
      <p:sp>
        <p:nvSpPr>
          <p:cNvPr id="44" name="Rectangle 43"/>
          <p:cNvSpPr/>
          <p:nvPr/>
        </p:nvSpPr>
        <p:spPr>
          <a:xfrm>
            <a:off x="6184392" y="5010912"/>
            <a:ext cx="4040123" cy="1051560"/>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6275832" y="5102351"/>
            <a:ext cx="3834384" cy="896111"/>
          </a:xfrm>
          <a:prstGeom prst="rect">
            <a:avLst/>
          </a:prstGeom>
          <a:noFill/>
        </p:spPr>
        <p:txBody>
          <a:bodyPr wrap="square" lIns="54864" rIns="54864" tIns="22860" bIns="22860">
            <a:spAutoFit/>
          </a:bodyPr>
          <a:lstStyle/>
          <a:p>
            <a:pPr>
              <a:lnSpc>
                <a:spcPts val="1890"/>
              </a:lnSpc>
              <a:spcBef>
                <a:spcPts val="0"/>
              </a:spcBef>
              <a:spcAft>
                <a:spcPts val="0"/>
              </a:spcAft>
              <a:defRPr sz="1800" b="0">
                <a:solidFill>
                  <a:srgbClr val="182B3A"/>
                </a:solidFill>
                <a:latin typeface="Arial"/>
              </a:defRPr>
            </a:pPr>
            <a:r>
              <a:t>Continue until x is alone. Keep the left and right sides balanced.</a:t>
            </a:r>
          </a:p>
        </p:txBody>
      </p:sp>
      <p:sp>
        <p:nvSpPr>
          <p:cNvPr id="46" name="Rectangle 45"/>
          <p:cNvSpPr/>
          <p:nvPr/>
        </p:nvSpPr>
        <p:spPr>
          <a:xfrm>
            <a:off x="10247376" y="5010912"/>
            <a:ext cx="4040123" cy="1051560"/>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TextBox 46"/>
          <p:cNvSpPr txBox="1"/>
          <p:nvPr/>
        </p:nvSpPr>
        <p:spPr>
          <a:xfrm>
            <a:off x="10338816" y="5102351"/>
            <a:ext cx="3834384" cy="896111"/>
          </a:xfrm>
          <a:prstGeom prst="rect">
            <a:avLst/>
          </a:prstGeom>
          <a:noFill/>
        </p:spPr>
        <p:txBody>
          <a:bodyPr wrap="square" lIns="54864" rIns="54864" tIns="22860" bIns="22860">
            <a:spAutoFit/>
          </a:bodyPr>
          <a:lstStyle/>
          <a:p>
            <a:pPr>
              <a:lnSpc>
                <a:spcPts val="1890"/>
              </a:lnSpc>
              <a:spcBef>
                <a:spcPts val="0"/>
              </a:spcBef>
              <a:spcAft>
                <a:spcPts val="0"/>
              </a:spcAft>
              <a:defRPr sz="1800" b="0">
                <a:solidFill>
                  <a:srgbClr val="182B3A"/>
                </a:solidFill>
                <a:latin typeface="Arial"/>
              </a:defRPr>
            </a:pPr>
            <a:r>
              <a:t>Continue until x is alone. Keep the left and right sides balanced.</a:t>
            </a:r>
          </a:p>
        </p:txBody>
      </p:sp>
      <p:sp>
        <p:nvSpPr>
          <p:cNvPr id="48" name="Rectangle 47"/>
          <p:cNvSpPr/>
          <p:nvPr/>
        </p:nvSpPr>
        <p:spPr>
          <a:xfrm>
            <a:off x="320040" y="6062471"/>
            <a:ext cx="1773936" cy="1536192"/>
          </a:xfrm>
          <a:prstGeom prst="rect">
            <a:avLst/>
          </a:prstGeom>
          <a:solidFill>
            <a:srgbClr val="E8EDF1"/>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TextBox 48"/>
          <p:cNvSpPr txBox="1"/>
          <p:nvPr/>
        </p:nvSpPr>
        <p:spPr>
          <a:xfrm>
            <a:off x="402336" y="6172199"/>
            <a:ext cx="1581912" cy="1353312"/>
          </a:xfrm>
          <a:prstGeom prst="rect">
            <a:avLst/>
          </a:prstGeom>
          <a:noFill/>
        </p:spPr>
        <p:txBody>
          <a:bodyPr wrap="square" lIns="54864" rIns="54864" tIns="22860" bIns="22860">
            <a:spAutoFit/>
          </a:bodyPr>
          <a:lstStyle/>
          <a:p>
            <a:pPr>
              <a:lnSpc>
                <a:spcPts val="1890"/>
              </a:lnSpc>
              <a:spcBef>
                <a:spcPts val="0"/>
              </a:spcBef>
              <a:spcAft>
                <a:spcPts val="0"/>
              </a:spcAft>
              <a:defRPr sz="1800" b="1">
                <a:solidFill>
                  <a:srgbClr val="182B3A"/>
                </a:solidFill>
                <a:latin typeface="Arial"/>
              </a:defRPr>
            </a:pPr>
            <a:r>
              <a:t>Check by Substitution</a:t>
            </a:r>
          </a:p>
        </p:txBody>
      </p:sp>
      <p:sp>
        <p:nvSpPr>
          <p:cNvPr id="50" name="Rectangle 49"/>
          <p:cNvSpPr/>
          <p:nvPr/>
        </p:nvSpPr>
        <p:spPr>
          <a:xfrm>
            <a:off x="2121408" y="6062471"/>
            <a:ext cx="4040123" cy="1536192"/>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TextBox 50"/>
          <p:cNvSpPr txBox="1"/>
          <p:nvPr/>
        </p:nvSpPr>
        <p:spPr>
          <a:xfrm>
            <a:off x="2212848" y="6153911"/>
            <a:ext cx="3834384" cy="1380744"/>
          </a:xfrm>
          <a:prstGeom prst="rect">
            <a:avLst/>
          </a:prstGeom>
          <a:noFill/>
        </p:spPr>
        <p:txBody>
          <a:bodyPr wrap="square" lIns="54864" rIns="54864" tIns="22860" bIns="22860">
            <a:spAutoFit/>
          </a:bodyPr>
          <a:lstStyle/>
          <a:p>
            <a:pPr>
              <a:lnSpc>
                <a:spcPts val="1890"/>
              </a:lnSpc>
              <a:spcBef>
                <a:spcPts val="0"/>
              </a:spcBef>
              <a:spcAft>
                <a:spcPts val="0"/>
              </a:spcAft>
              <a:defRPr sz="1800" b="0">
                <a:solidFill>
                  <a:srgbClr val="182B3A"/>
                </a:solidFill>
                <a:latin typeface="Arial"/>
              </a:defRPr>
            </a:pPr>
            <a:r>
              <a:t>Put your value into the original equation. Work out both sides and compare.</a:t>
            </a:r>
          </a:p>
        </p:txBody>
      </p:sp>
      <p:sp>
        <p:nvSpPr>
          <p:cNvPr id="52" name="Rectangle 51"/>
          <p:cNvSpPr/>
          <p:nvPr/>
        </p:nvSpPr>
        <p:spPr>
          <a:xfrm>
            <a:off x="6184392" y="6062471"/>
            <a:ext cx="4040123" cy="1536192"/>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TextBox 52"/>
          <p:cNvSpPr txBox="1"/>
          <p:nvPr/>
        </p:nvSpPr>
        <p:spPr>
          <a:xfrm>
            <a:off x="6275832" y="6153911"/>
            <a:ext cx="3834384" cy="1380744"/>
          </a:xfrm>
          <a:prstGeom prst="rect">
            <a:avLst/>
          </a:prstGeom>
          <a:noFill/>
        </p:spPr>
        <p:txBody>
          <a:bodyPr wrap="square" lIns="54864" rIns="54864" tIns="22860" bIns="22860">
            <a:spAutoFit/>
          </a:bodyPr>
          <a:lstStyle/>
          <a:p>
            <a:pPr>
              <a:lnSpc>
                <a:spcPts val="1890"/>
              </a:lnSpc>
              <a:spcBef>
                <a:spcPts val="0"/>
              </a:spcBef>
              <a:spcAft>
                <a:spcPts val="0"/>
              </a:spcAft>
              <a:defRPr sz="1800" b="0">
                <a:solidFill>
                  <a:srgbClr val="182B3A"/>
                </a:solidFill>
                <a:latin typeface="Arial"/>
              </a:defRPr>
            </a:pPr>
            <a:r>
              <a:t>Put your value into the original equation. Work out both sides and compare.</a:t>
            </a:r>
          </a:p>
        </p:txBody>
      </p:sp>
      <p:sp>
        <p:nvSpPr>
          <p:cNvPr id="54" name="Rectangle 53"/>
          <p:cNvSpPr/>
          <p:nvPr/>
        </p:nvSpPr>
        <p:spPr>
          <a:xfrm>
            <a:off x="10247376" y="6062471"/>
            <a:ext cx="4040123" cy="1536192"/>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TextBox 54"/>
          <p:cNvSpPr txBox="1"/>
          <p:nvPr/>
        </p:nvSpPr>
        <p:spPr>
          <a:xfrm>
            <a:off x="10338816" y="6153911"/>
            <a:ext cx="3834384" cy="1380744"/>
          </a:xfrm>
          <a:prstGeom prst="rect">
            <a:avLst/>
          </a:prstGeom>
          <a:noFill/>
        </p:spPr>
        <p:txBody>
          <a:bodyPr wrap="square" lIns="54864" rIns="54864" tIns="22860" bIns="22860">
            <a:spAutoFit/>
          </a:bodyPr>
          <a:lstStyle/>
          <a:p>
            <a:pPr>
              <a:lnSpc>
                <a:spcPts val="1890"/>
              </a:lnSpc>
              <a:spcBef>
                <a:spcPts val="0"/>
              </a:spcBef>
              <a:spcAft>
                <a:spcPts val="0"/>
              </a:spcAft>
              <a:defRPr sz="1800" b="0">
                <a:solidFill>
                  <a:srgbClr val="182B3A"/>
                </a:solidFill>
                <a:latin typeface="Arial"/>
              </a:defRPr>
            </a:pPr>
            <a:r>
              <a:t>Put your value into the original equation. Work out both sides and compare.</a:t>
            </a:r>
          </a:p>
        </p:txBody>
      </p:sp>
      <p:sp>
        <p:nvSpPr>
          <p:cNvPr id="56" name="Progression curved arrow: Thread 1 to Thread 2"/>
          <p:cNvSpPr/>
          <p:nvPr/>
        </p:nvSpPr>
        <p:spPr>
          <a:xfrm>
            <a:off x="5850635" y="7351125"/>
            <a:ext cx="621792" cy="314053"/>
          </a:xfrm>
          <a:custGeom>
            <a:avLst/>
            <a:gdLst/>
            <a:ahLst/>
            <a:cxnLst/>
            <a:rect l="0" t="0" r="100000" b="100000"/>
            <a:pathLst>
              <a:path w="100000" h="100000" fill="none">
                <a:moveTo>
                  <a:pt x="6970" y="48439"/>
                </a:moveTo>
                <a:cubicBezTo>
                  <a:pt x="40678" y="114499"/>
                  <a:pt x="73026" y="88145"/>
                  <a:pt x="93030" y="13799"/>
                </a:cubicBezTo>
              </a:path>
              <a:path w="100000" h="100000" fill="none">
                <a:moveTo>
                  <a:pt x="69018" y="40431"/>
                </a:moveTo>
                <a:lnTo>
                  <a:pt x="93030" y="13799"/>
                </a:lnTo>
                <a:lnTo>
                  <a:pt x="92217" y="66207"/>
                </a:lnTo>
              </a:path>
            </a:pathLst>
          </a:custGeom>
          <a:noFill/>
          <a:ln w="64449" cap="rnd">
            <a:solidFill>
              <a:schemeClr val="accent6">
                <a:lumMod val="60000"/>
                <a:lumOff val="40000"/>
              </a:schemeClr>
            </a:solidFill>
            <a:round/>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7" name="Progression curved arrow: Thread 2 to Thread 3"/>
          <p:cNvSpPr/>
          <p:nvPr/>
        </p:nvSpPr>
        <p:spPr>
          <a:xfrm>
            <a:off x="9865783" y="7342631"/>
            <a:ext cx="621792" cy="314053"/>
          </a:xfrm>
          <a:custGeom>
            <a:avLst/>
            <a:gdLst/>
            <a:ahLst/>
            <a:cxnLst/>
            <a:rect l="0" t="0" r="100000" b="100000"/>
            <a:pathLst>
              <a:path w="100000" h="100000" fill="none">
                <a:moveTo>
                  <a:pt x="6970" y="48439"/>
                </a:moveTo>
                <a:cubicBezTo>
                  <a:pt x="40678" y="114499"/>
                  <a:pt x="73026" y="88145"/>
                  <a:pt x="93030" y="13799"/>
                </a:cubicBezTo>
              </a:path>
              <a:path w="100000" h="100000" fill="none">
                <a:moveTo>
                  <a:pt x="69018" y="40431"/>
                </a:moveTo>
                <a:lnTo>
                  <a:pt x="93030" y="13799"/>
                </a:lnTo>
                <a:lnTo>
                  <a:pt x="92217" y="66207"/>
                </a:lnTo>
              </a:path>
            </a:pathLst>
          </a:custGeom>
          <a:noFill/>
          <a:ln w="64449" cap="rnd">
            <a:solidFill>
              <a:schemeClr val="accent6">
                <a:lumMod val="60000"/>
                <a:lumOff val="40000"/>
              </a:schemeClr>
            </a:solidFill>
            <a:round/>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bg>
      <p:bgPr>
        <a:solidFill>
          <a:srgbClr val="F7F8FA"/>
        </a:solidFill>
        <a:effectLst/>
      </p:bgPr>
    </p:bg>
    <p:spTree>
      <p:nvGrpSpPr>
        <p:cNvPr id="1" name=""/>
        <p:cNvGrpSpPr/>
        <p:nvPr/>
      </p:nvGrpSpPr>
      <p:grpSpPr/>
      <p:sp>
        <p:nvSpPr>
          <p:cNvPr id="2" name="Rectangle 1"/>
          <p:cNvSpPr/>
          <p:nvPr/>
        </p:nvSpPr>
        <p:spPr>
          <a:xfrm>
            <a:off x="0" y="0"/>
            <a:ext cx="14630400" cy="73152"/>
          </a:xfrm>
          <a:prstGeom prst="rect">
            <a:avLst/>
          </a:prstGeom>
          <a:solidFill>
            <a:srgbClr val="176B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20040" y="164592"/>
            <a:ext cx="13990320" cy="457200"/>
          </a:xfrm>
          <a:prstGeom prst="rect">
            <a:avLst/>
          </a:prstGeom>
          <a:noFill/>
        </p:spPr>
        <p:txBody>
          <a:bodyPr wrap="square" lIns="54864" rIns="54864" tIns="22860" bIns="22860">
            <a:spAutoFit/>
          </a:bodyPr>
          <a:lstStyle/>
          <a:p>
            <a:pPr>
              <a:lnSpc>
                <a:spcPts val="2940"/>
              </a:lnSpc>
              <a:spcBef>
                <a:spcPts val="0"/>
              </a:spcBef>
              <a:spcAft>
                <a:spcPts val="0"/>
              </a:spcAft>
              <a:defRPr sz="2800" b="1">
                <a:solidFill>
                  <a:srgbClr val="182B3A"/>
                </a:solidFill>
                <a:latin typeface="Arial"/>
              </a:defRPr>
            </a:pPr>
            <a:r>
              <a:t>Solving equations</a:t>
            </a:r>
          </a:p>
        </p:txBody>
      </p:sp>
      <p:sp>
        <p:nvSpPr>
          <p:cNvPr id="4" name="TextBox 3"/>
          <p:cNvSpPr txBox="1"/>
          <p:nvPr/>
        </p:nvSpPr>
        <p:spPr>
          <a:xfrm>
            <a:off x="320040" y="704088"/>
            <a:ext cx="13990320" cy="347472"/>
          </a:xfrm>
          <a:prstGeom prst="rect">
            <a:avLst/>
          </a:prstGeom>
          <a:noFill/>
        </p:spPr>
        <p:txBody>
          <a:bodyPr wrap="square" lIns="54864" rIns="54864" tIns="22860" bIns="22860">
            <a:spAutoFit/>
          </a:bodyPr>
          <a:lstStyle/>
          <a:p>
            <a:pPr>
              <a:lnSpc>
                <a:spcPts val="1575"/>
              </a:lnSpc>
              <a:spcBef>
                <a:spcPts val="0"/>
              </a:spcBef>
              <a:spcAft>
                <a:spcPts val="0"/>
              </a:spcAft>
              <a:defRPr sz="1500" b="0">
                <a:solidFill>
                  <a:srgbClr val="526472"/>
                </a:solidFill>
                <a:latin typeface="Arial"/>
              </a:defRPr>
            </a:pPr>
            <a:r>
              <a:t>Step-by-step practice 2 • Copy the centre line and show each operation.</a:t>
            </a:r>
          </a:p>
        </p:txBody>
      </p:sp>
      <p:sp>
        <p:nvSpPr>
          <p:cNvPr id="5" name="TextBox 4"/>
          <p:cNvSpPr txBox="1"/>
          <p:nvPr/>
        </p:nvSpPr>
        <p:spPr>
          <a:xfrm>
            <a:off x="320040" y="7973568"/>
            <a:ext cx="10789920" cy="210312"/>
          </a:xfrm>
          <a:prstGeom prst="rect">
            <a:avLst/>
          </a:prstGeom>
          <a:noFill/>
        </p:spPr>
        <p:txBody>
          <a:bodyPr wrap="square" lIns="54864" rIns="54864" tIns="22860" bIns="22860">
            <a:spAutoFit/>
          </a:bodyPr>
          <a:lstStyle/>
          <a:p>
            <a:pPr>
              <a:lnSpc>
                <a:spcPts val="1155"/>
              </a:lnSpc>
              <a:spcBef>
                <a:spcPts val="0"/>
              </a:spcBef>
              <a:spcAft>
                <a:spcPts val="0"/>
              </a:spcAft>
              <a:defRPr sz="1100" b="0">
                <a:solidFill>
                  <a:srgbClr val="526472"/>
                </a:solidFill>
                <a:latin typeface="Arial"/>
              </a:defRPr>
            </a:pPr>
            <a:r>
              <a:t>GCSE Maths revision • No calculator • Show your working.</a:t>
            </a:r>
          </a:p>
        </p:txBody>
      </p:sp>
      <p:sp>
        <p:nvSpPr>
          <p:cNvPr id="6" name="TextBox 5"/>
          <p:cNvSpPr txBox="1"/>
          <p:nvPr/>
        </p:nvSpPr>
        <p:spPr>
          <a:xfrm>
            <a:off x="11155680" y="7973568"/>
            <a:ext cx="3108960" cy="210312"/>
          </a:xfrm>
          <a:prstGeom prst="rect">
            <a:avLst/>
          </a:prstGeom>
          <a:noFill/>
        </p:spPr>
        <p:txBody>
          <a:bodyPr wrap="square" lIns="54864" rIns="54864" tIns="22860" bIns="22860">
            <a:spAutoFit/>
          </a:bodyPr>
          <a:lstStyle/>
          <a:p>
            <a:pPr>
              <a:lnSpc>
                <a:spcPts val="1155"/>
              </a:lnSpc>
              <a:spcBef>
                <a:spcPts val="0"/>
              </a:spcBef>
              <a:spcAft>
                <a:spcPts val="0"/>
              </a:spcAft>
              <a:defRPr sz="1100" b="0">
                <a:solidFill>
                  <a:srgbClr val="526472"/>
                </a:solidFill>
                <a:latin typeface="Arial"/>
              </a:defRPr>
            </a:pPr>
            <a:r>
              <a:t>M10-S03</a:t>
            </a:r>
          </a:p>
        </p:txBody>
      </p:sp>
      <p:sp>
        <p:nvSpPr>
          <p:cNvPr id="7" name="Rectangle 6"/>
          <p:cNvSpPr/>
          <p:nvPr/>
        </p:nvSpPr>
        <p:spPr>
          <a:xfrm>
            <a:off x="2121408" y="1115568"/>
            <a:ext cx="4040123" cy="420624"/>
          </a:xfrm>
          <a:prstGeom prst="rect">
            <a:avLst/>
          </a:prstGeom>
          <a:solidFill>
            <a:srgbClr val="176B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2148839" y="1147572"/>
            <a:ext cx="3980688" cy="329184"/>
          </a:xfrm>
          <a:prstGeom prst="rect">
            <a:avLst/>
          </a:prstGeom>
          <a:noFill/>
        </p:spPr>
        <p:txBody>
          <a:bodyPr wrap="square" lIns="54864" rIns="54864" tIns="22860" bIns="22860">
            <a:spAutoFit/>
          </a:bodyPr>
          <a:lstStyle/>
          <a:p>
            <a:pPr>
              <a:lnSpc>
                <a:spcPts val="1995"/>
              </a:lnSpc>
              <a:spcBef>
                <a:spcPts val="0"/>
              </a:spcBef>
              <a:spcAft>
                <a:spcPts val="0"/>
              </a:spcAft>
              <a:defRPr sz="1900" b="1">
                <a:solidFill>
                  <a:srgbClr val="FFFFFF"/>
                </a:solidFill>
                <a:latin typeface="Arial"/>
              </a:defRPr>
            </a:pPr>
            <a:r>
              <a:t>Start</a:t>
            </a:r>
          </a:p>
        </p:txBody>
      </p:sp>
      <p:sp>
        <p:nvSpPr>
          <p:cNvPr id="9" name="Rectangle 8"/>
          <p:cNvSpPr/>
          <p:nvPr/>
        </p:nvSpPr>
        <p:spPr>
          <a:xfrm>
            <a:off x="6184392" y="1115568"/>
            <a:ext cx="4040123" cy="420624"/>
          </a:xfrm>
          <a:prstGeom prst="rect">
            <a:avLst/>
          </a:prstGeom>
          <a:solidFill>
            <a:srgbClr val="3559A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211824" y="1147572"/>
            <a:ext cx="3980688" cy="329184"/>
          </a:xfrm>
          <a:prstGeom prst="rect">
            <a:avLst/>
          </a:prstGeom>
          <a:noFill/>
        </p:spPr>
        <p:txBody>
          <a:bodyPr wrap="square" lIns="54864" rIns="54864" tIns="22860" bIns="22860">
            <a:spAutoFit/>
          </a:bodyPr>
          <a:lstStyle/>
          <a:p>
            <a:pPr>
              <a:lnSpc>
                <a:spcPts val="1995"/>
              </a:lnSpc>
              <a:spcBef>
                <a:spcPts val="0"/>
              </a:spcBef>
              <a:spcAft>
                <a:spcPts val="0"/>
              </a:spcAft>
              <a:defRPr sz="1900" b="1">
                <a:solidFill>
                  <a:srgbClr val="FFFFFF"/>
                </a:solidFill>
                <a:latin typeface="Arial"/>
              </a:defRPr>
            </a:pPr>
            <a:r>
              <a:t>Build</a:t>
            </a:r>
          </a:p>
        </p:txBody>
      </p:sp>
      <p:sp>
        <p:nvSpPr>
          <p:cNvPr id="11" name="Rectangle 10"/>
          <p:cNvSpPr/>
          <p:nvPr/>
        </p:nvSpPr>
        <p:spPr>
          <a:xfrm>
            <a:off x="10247376" y="1115568"/>
            <a:ext cx="4040123" cy="420624"/>
          </a:xfrm>
          <a:prstGeom prst="rect">
            <a:avLst/>
          </a:prstGeom>
          <a:solidFill>
            <a:srgbClr val="754B8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0274808" y="1147572"/>
            <a:ext cx="3980688" cy="329184"/>
          </a:xfrm>
          <a:prstGeom prst="rect">
            <a:avLst/>
          </a:prstGeom>
          <a:noFill/>
        </p:spPr>
        <p:txBody>
          <a:bodyPr wrap="square" lIns="54864" rIns="54864" tIns="22860" bIns="22860">
            <a:spAutoFit/>
          </a:bodyPr>
          <a:lstStyle/>
          <a:p>
            <a:pPr>
              <a:lnSpc>
                <a:spcPts val="1995"/>
              </a:lnSpc>
              <a:spcBef>
                <a:spcPts val="0"/>
              </a:spcBef>
              <a:spcAft>
                <a:spcPts val="0"/>
              </a:spcAft>
              <a:defRPr sz="1900" b="1">
                <a:solidFill>
                  <a:srgbClr val="FFFFFF"/>
                </a:solidFill>
                <a:latin typeface="Arial"/>
              </a:defRPr>
            </a:pPr>
            <a:r>
              <a:t>Confidence</a:t>
            </a:r>
          </a:p>
        </p:txBody>
      </p:sp>
      <p:sp>
        <p:nvSpPr>
          <p:cNvPr id="13" name="Rectangle 12"/>
          <p:cNvSpPr/>
          <p:nvPr/>
        </p:nvSpPr>
        <p:spPr>
          <a:xfrm>
            <a:off x="320040" y="1581912"/>
            <a:ext cx="1773936" cy="594360"/>
          </a:xfrm>
          <a:prstGeom prst="rect">
            <a:avLst/>
          </a:prstGeom>
          <a:solidFill>
            <a:srgbClr val="E8EDF1"/>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02336" y="1691640"/>
            <a:ext cx="1581912" cy="411480"/>
          </a:xfrm>
          <a:prstGeom prst="rect">
            <a:avLst/>
          </a:prstGeom>
          <a:noFill/>
        </p:spPr>
        <p:txBody>
          <a:bodyPr wrap="square" lIns="54864" rIns="54864" tIns="22860" bIns="22860">
            <a:spAutoFit/>
          </a:bodyPr>
          <a:lstStyle/>
          <a:p>
            <a:pPr>
              <a:lnSpc>
                <a:spcPts val="1890"/>
              </a:lnSpc>
              <a:spcBef>
                <a:spcPts val="0"/>
              </a:spcBef>
              <a:spcAft>
                <a:spcPts val="0"/>
              </a:spcAft>
              <a:defRPr sz="1800" b="1">
                <a:solidFill>
                  <a:srgbClr val="182B3A"/>
                </a:solidFill>
                <a:latin typeface="Arial"/>
              </a:defRPr>
            </a:pPr>
            <a:r>
              <a:t>Equation</a:t>
            </a:r>
          </a:p>
        </p:txBody>
      </p:sp>
      <p:sp>
        <p:nvSpPr>
          <p:cNvPr id="15" name="Rectangle 14"/>
          <p:cNvSpPr/>
          <p:nvPr/>
        </p:nvSpPr>
        <p:spPr>
          <a:xfrm>
            <a:off x="2121408" y="1581912"/>
            <a:ext cx="4040123" cy="594360"/>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2212848" y="1673352"/>
            <a:ext cx="3834384" cy="438912"/>
          </a:xfrm>
          <a:prstGeom prst="rect">
            <a:avLst/>
          </a:prstGeom>
          <a:noFill/>
        </p:spPr>
        <p:txBody>
          <a:bodyPr wrap="square" lIns="54864" rIns="54864" tIns="22860" bIns="22860">
            <a:spAutoFit/>
          </a:bodyPr>
          <a:lstStyle/>
          <a:p>
            <a:pPr>
              <a:lnSpc>
                <a:spcPts val="2205"/>
              </a:lnSpc>
              <a:spcBef>
                <a:spcPts val="0"/>
              </a:spcBef>
              <a:spcAft>
                <a:spcPts val="0"/>
              </a:spcAft>
              <a:defRPr sz="2100" b="1">
                <a:solidFill>
                  <a:srgbClr val="182B3A"/>
                </a:solidFill>
                <a:latin typeface="Arial"/>
              </a:defRPr>
            </a:pPr>
            <a:r>
              <a:t>6x = -18</a:t>
            </a:r>
          </a:p>
        </p:txBody>
      </p:sp>
      <p:sp>
        <p:nvSpPr>
          <p:cNvPr id="17" name="Rectangle 16"/>
          <p:cNvSpPr/>
          <p:nvPr/>
        </p:nvSpPr>
        <p:spPr>
          <a:xfrm>
            <a:off x="6184392" y="1581912"/>
            <a:ext cx="4040123" cy="594360"/>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275832" y="1673352"/>
            <a:ext cx="3834384" cy="438912"/>
          </a:xfrm>
          <a:prstGeom prst="rect">
            <a:avLst/>
          </a:prstGeom>
          <a:noFill/>
        </p:spPr>
        <p:txBody>
          <a:bodyPr wrap="square" lIns="54864" rIns="54864" tIns="22860" bIns="22860">
            <a:spAutoFit/>
          </a:bodyPr>
          <a:lstStyle/>
          <a:p>
            <a:pPr>
              <a:lnSpc>
                <a:spcPts val="2205"/>
              </a:lnSpc>
              <a:spcBef>
                <a:spcPts val="0"/>
              </a:spcBef>
              <a:spcAft>
                <a:spcPts val="0"/>
              </a:spcAft>
              <a:defRPr sz="2100" b="1">
                <a:solidFill>
                  <a:srgbClr val="182B3A"/>
                </a:solidFill>
                <a:latin typeface="Arial"/>
              </a:defRPr>
            </a:pPr>
            <a:r>
              <a:t>4x − 9 = 23</a:t>
            </a:r>
          </a:p>
        </p:txBody>
      </p:sp>
      <p:sp>
        <p:nvSpPr>
          <p:cNvPr id="19" name="Rectangle 18"/>
          <p:cNvSpPr/>
          <p:nvPr/>
        </p:nvSpPr>
        <p:spPr>
          <a:xfrm>
            <a:off x="10247376" y="1581912"/>
            <a:ext cx="4040123" cy="594360"/>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8816" y="1673352"/>
            <a:ext cx="3834384" cy="438912"/>
          </a:xfrm>
          <a:prstGeom prst="rect">
            <a:avLst/>
          </a:prstGeom>
          <a:noFill/>
        </p:spPr>
        <p:txBody>
          <a:bodyPr wrap="square" lIns="54864" rIns="54864" tIns="22860" bIns="22860">
            <a:spAutoFit/>
          </a:bodyPr>
          <a:lstStyle/>
          <a:p>
            <a:pPr>
              <a:lnSpc>
                <a:spcPts val="2205"/>
              </a:lnSpc>
              <a:spcBef>
                <a:spcPts val="0"/>
              </a:spcBef>
              <a:spcAft>
                <a:spcPts val="0"/>
              </a:spcAft>
              <a:defRPr sz="2100" b="1">
                <a:solidFill>
                  <a:srgbClr val="182B3A"/>
                </a:solidFill>
                <a:latin typeface="Arial"/>
              </a:defRPr>
            </a:pPr>
            <a:r>
              <a:t>5(x − 2) = 2x + 23</a:t>
            </a:r>
          </a:p>
        </p:txBody>
      </p:sp>
      <p:sp>
        <p:nvSpPr>
          <p:cNvPr id="21" name="Rectangle 20"/>
          <p:cNvSpPr/>
          <p:nvPr/>
        </p:nvSpPr>
        <p:spPr>
          <a:xfrm>
            <a:off x="320040" y="2176272"/>
            <a:ext cx="1773936" cy="960120"/>
          </a:xfrm>
          <a:prstGeom prst="rect">
            <a:avLst/>
          </a:prstGeom>
          <a:solidFill>
            <a:srgbClr val="E8EDF1"/>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402336" y="2286000"/>
            <a:ext cx="1581912" cy="777240"/>
          </a:xfrm>
          <a:prstGeom prst="rect">
            <a:avLst/>
          </a:prstGeom>
          <a:noFill/>
        </p:spPr>
        <p:txBody>
          <a:bodyPr wrap="square" lIns="54864" rIns="54864" tIns="22860" bIns="22860">
            <a:spAutoFit/>
          </a:bodyPr>
          <a:lstStyle/>
          <a:p>
            <a:pPr>
              <a:lnSpc>
                <a:spcPts val="1890"/>
              </a:lnSpc>
              <a:spcBef>
                <a:spcPts val="0"/>
              </a:spcBef>
              <a:spcAft>
                <a:spcPts val="0"/>
              </a:spcAft>
              <a:defRPr sz="1800" b="1">
                <a:solidFill>
                  <a:srgbClr val="182B3A"/>
                </a:solidFill>
                <a:latin typeface="Arial"/>
              </a:defRPr>
            </a:pPr>
            <a:r>
              <a:t>Simplify the Equation</a:t>
            </a:r>
          </a:p>
        </p:txBody>
      </p:sp>
      <p:sp>
        <p:nvSpPr>
          <p:cNvPr id="23" name="Rectangle 22"/>
          <p:cNvSpPr/>
          <p:nvPr/>
        </p:nvSpPr>
        <p:spPr>
          <a:xfrm>
            <a:off x="2121408" y="2176272"/>
            <a:ext cx="4040123" cy="960120"/>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2212848" y="2267712"/>
            <a:ext cx="3834384" cy="804672"/>
          </a:xfrm>
          <a:prstGeom prst="rect">
            <a:avLst/>
          </a:prstGeom>
          <a:noFill/>
        </p:spPr>
        <p:txBody>
          <a:bodyPr wrap="square" lIns="54864" rIns="54864" tIns="22860" bIns="22860">
            <a:spAutoFit/>
          </a:bodyPr>
          <a:lstStyle/>
          <a:p>
            <a:pPr>
              <a:lnSpc>
                <a:spcPts val="1890"/>
              </a:lnSpc>
              <a:spcBef>
                <a:spcPts val="0"/>
              </a:spcBef>
              <a:spcAft>
                <a:spcPts val="0"/>
              </a:spcAft>
              <a:defRPr sz="1800" b="0">
                <a:solidFill>
                  <a:srgbClr val="182B3A"/>
                </a:solidFill>
                <a:latin typeface="Arial"/>
              </a:defRPr>
            </a:pPr>
            <a:r>
              <a:t>Collect like terms or factorise if useful. Copy the equation with a line through the equals sign.</a:t>
            </a:r>
          </a:p>
        </p:txBody>
      </p:sp>
      <p:sp>
        <p:nvSpPr>
          <p:cNvPr id="25" name="Rectangle 24"/>
          <p:cNvSpPr/>
          <p:nvPr/>
        </p:nvSpPr>
        <p:spPr>
          <a:xfrm>
            <a:off x="6184392" y="2176272"/>
            <a:ext cx="4040123" cy="960120"/>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275832" y="2267712"/>
            <a:ext cx="3834384" cy="804672"/>
          </a:xfrm>
          <a:prstGeom prst="rect">
            <a:avLst/>
          </a:prstGeom>
          <a:noFill/>
        </p:spPr>
        <p:txBody>
          <a:bodyPr wrap="square" lIns="54864" rIns="54864" tIns="22860" bIns="22860">
            <a:spAutoFit/>
          </a:bodyPr>
          <a:lstStyle/>
          <a:p>
            <a:pPr>
              <a:lnSpc>
                <a:spcPts val="1890"/>
              </a:lnSpc>
              <a:spcBef>
                <a:spcPts val="0"/>
              </a:spcBef>
              <a:spcAft>
                <a:spcPts val="0"/>
              </a:spcAft>
              <a:defRPr sz="1800" b="0">
                <a:solidFill>
                  <a:srgbClr val="182B3A"/>
                </a:solidFill>
                <a:latin typeface="Arial"/>
              </a:defRPr>
            </a:pPr>
            <a:r>
              <a:t>Collect like terms or factorise if useful. Copy the equation with a line through the equals sign.</a:t>
            </a:r>
          </a:p>
        </p:txBody>
      </p:sp>
      <p:sp>
        <p:nvSpPr>
          <p:cNvPr id="27" name="Rectangle 26"/>
          <p:cNvSpPr/>
          <p:nvPr/>
        </p:nvSpPr>
        <p:spPr>
          <a:xfrm>
            <a:off x="10247376" y="2176272"/>
            <a:ext cx="4040123" cy="960120"/>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10338816" y="2267712"/>
            <a:ext cx="3834384" cy="804672"/>
          </a:xfrm>
          <a:prstGeom prst="rect">
            <a:avLst/>
          </a:prstGeom>
          <a:noFill/>
        </p:spPr>
        <p:txBody>
          <a:bodyPr wrap="square" lIns="54864" rIns="54864" tIns="22860" bIns="22860">
            <a:spAutoFit/>
          </a:bodyPr>
          <a:lstStyle/>
          <a:p>
            <a:pPr>
              <a:lnSpc>
                <a:spcPts val="1890"/>
              </a:lnSpc>
              <a:spcBef>
                <a:spcPts val="0"/>
              </a:spcBef>
              <a:spcAft>
                <a:spcPts val="0"/>
              </a:spcAft>
              <a:defRPr sz="1800" b="0">
                <a:solidFill>
                  <a:srgbClr val="182B3A"/>
                </a:solidFill>
                <a:latin typeface="Arial"/>
              </a:defRPr>
            </a:pPr>
            <a:r>
              <a:t>Collect like terms or factorise if useful. Copy the equation with a line through the equals sign.</a:t>
            </a:r>
          </a:p>
        </p:txBody>
      </p:sp>
      <p:sp>
        <p:nvSpPr>
          <p:cNvPr id="29" name="Rectangle 28"/>
          <p:cNvSpPr/>
          <p:nvPr/>
        </p:nvSpPr>
        <p:spPr>
          <a:xfrm>
            <a:off x="320040" y="3136391"/>
            <a:ext cx="1773936" cy="1874519"/>
          </a:xfrm>
          <a:prstGeom prst="rect">
            <a:avLst/>
          </a:prstGeom>
          <a:solidFill>
            <a:srgbClr val="E8EDF1"/>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402336" y="3246120"/>
            <a:ext cx="1581912" cy="1691639"/>
          </a:xfrm>
          <a:prstGeom prst="rect">
            <a:avLst/>
          </a:prstGeom>
          <a:noFill/>
        </p:spPr>
        <p:txBody>
          <a:bodyPr wrap="square" lIns="54864" rIns="54864" tIns="22860" bIns="22860">
            <a:spAutoFit/>
          </a:bodyPr>
          <a:lstStyle/>
          <a:p>
            <a:pPr>
              <a:lnSpc>
                <a:spcPts val="1890"/>
              </a:lnSpc>
              <a:spcBef>
                <a:spcPts val="0"/>
              </a:spcBef>
              <a:spcAft>
                <a:spcPts val="0"/>
              </a:spcAft>
              <a:defRPr sz="1800" b="1">
                <a:solidFill>
                  <a:srgbClr val="182B3A"/>
                </a:solidFill>
                <a:latin typeface="Arial"/>
              </a:defRPr>
            </a:pPr>
            <a:r>
              <a:t>Use Inverse Operations</a:t>
            </a:r>
          </a:p>
        </p:txBody>
      </p:sp>
      <p:sp>
        <p:nvSpPr>
          <p:cNvPr id="31" name="Rectangle 30"/>
          <p:cNvSpPr/>
          <p:nvPr/>
        </p:nvSpPr>
        <p:spPr>
          <a:xfrm>
            <a:off x="2121408" y="3136391"/>
            <a:ext cx="4040123" cy="1874519"/>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2212848" y="3227832"/>
            <a:ext cx="3834384" cy="1719072"/>
          </a:xfrm>
          <a:prstGeom prst="rect">
            <a:avLst/>
          </a:prstGeom>
          <a:noFill/>
        </p:spPr>
        <p:txBody>
          <a:bodyPr wrap="square" lIns="54864" rIns="54864" tIns="22860" bIns="22860">
            <a:spAutoFit/>
          </a:bodyPr>
          <a:lstStyle/>
          <a:p>
            <a:pPr>
              <a:lnSpc>
                <a:spcPts val="1890"/>
              </a:lnSpc>
              <a:spcBef>
                <a:spcPts val="0"/>
              </a:spcBef>
              <a:spcAft>
                <a:spcPts val="0"/>
              </a:spcAft>
              <a:defRPr sz="1800" b="0">
                <a:solidFill>
                  <a:srgbClr val="182B3A"/>
                </a:solidFill>
                <a:latin typeface="Arial"/>
              </a:defRPr>
            </a:pPr>
            <a:r>
              <a:t>Write the same operation on both sides. Choose an operation that makes the equation simpler.</a:t>
            </a:r>
          </a:p>
        </p:txBody>
      </p:sp>
      <p:cxnSp>
        <p:nvCxnSpPr>
          <p:cNvPr id="33" name="Connector 32"/>
          <p:cNvCxnSpPr/>
          <p:nvPr/>
        </p:nvCxnSpPr>
        <p:spPr>
          <a:xfrm>
            <a:off x="4152899" y="4215383"/>
            <a:ext cx="0" cy="685800"/>
          </a:xfrm>
          <a:prstGeom prst="line">
            <a:avLst/>
          </a:prstGeom>
          <a:ln w="15240">
            <a:solidFill>
              <a:srgbClr val="8193A0"/>
            </a:solidFill>
          </a:ln>
        </p:spPr>
        <p:style>
          <a:lnRef idx="2">
            <a:schemeClr val="accent1"/>
          </a:lnRef>
          <a:fillRef idx="0">
            <a:schemeClr val="accent1"/>
          </a:fillRef>
          <a:effectRef idx="1">
            <a:schemeClr val="accent1"/>
          </a:effectRef>
          <a:fontRef idx="minor">
            <a:schemeClr val="tx1"/>
          </a:fontRef>
        </p:style>
      </p:cxnSp>
      <p:sp>
        <p:nvSpPr>
          <p:cNvPr id="34" name="Rectangle 33"/>
          <p:cNvSpPr/>
          <p:nvPr/>
        </p:nvSpPr>
        <p:spPr>
          <a:xfrm>
            <a:off x="6184392" y="3136391"/>
            <a:ext cx="4040123" cy="1874519"/>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275832" y="3227832"/>
            <a:ext cx="3834384" cy="1719072"/>
          </a:xfrm>
          <a:prstGeom prst="rect">
            <a:avLst/>
          </a:prstGeom>
          <a:noFill/>
        </p:spPr>
        <p:txBody>
          <a:bodyPr wrap="square" lIns="54864" rIns="54864" tIns="22860" bIns="22860">
            <a:spAutoFit/>
          </a:bodyPr>
          <a:lstStyle/>
          <a:p>
            <a:pPr>
              <a:lnSpc>
                <a:spcPts val="1890"/>
              </a:lnSpc>
              <a:spcBef>
                <a:spcPts val="0"/>
              </a:spcBef>
              <a:spcAft>
                <a:spcPts val="0"/>
              </a:spcAft>
              <a:defRPr sz="1800" b="0">
                <a:solidFill>
                  <a:srgbClr val="182B3A"/>
                </a:solidFill>
                <a:latin typeface="Arial"/>
              </a:defRPr>
            </a:pPr>
            <a:r>
              <a:t>Write the same operation on both sides. Choose an operation that makes the equation simpler.</a:t>
            </a:r>
          </a:p>
        </p:txBody>
      </p:sp>
      <p:cxnSp>
        <p:nvCxnSpPr>
          <p:cNvPr id="36" name="Connector 35"/>
          <p:cNvCxnSpPr/>
          <p:nvPr/>
        </p:nvCxnSpPr>
        <p:spPr>
          <a:xfrm>
            <a:off x="8215883" y="4215383"/>
            <a:ext cx="0" cy="685800"/>
          </a:xfrm>
          <a:prstGeom prst="line">
            <a:avLst/>
          </a:prstGeom>
          <a:ln w="15240">
            <a:solidFill>
              <a:srgbClr val="8193A0"/>
            </a:solidFill>
          </a:ln>
        </p:spPr>
        <p:style>
          <a:lnRef idx="2">
            <a:schemeClr val="accent1"/>
          </a:lnRef>
          <a:fillRef idx="0">
            <a:schemeClr val="accent1"/>
          </a:fillRef>
          <a:effectRef idx="1">
            <a:schemeClr val="accent1"/>
          </a:effectRef>
          <a:fontRef idx="minor">
            <a:schemeClr val="tx1"/>
          </a:fontRef>
        </p:style>
      </p:cxnSp>
      <p:sp>
        <p:nvSpPr>
          <p:cNvPr id="37" name="Rectangle 36"/>
          <p:cNvSpPr/>
          <p:nvPr/>
        </p:nvSpPr>
        <p:spPr>
          <a:xfrm>
            <a:off x="10247376" y="3136391"/>
            <a:ext cx="4040123" cy="1874519"/>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10338816" y="3227832"/>
            <a:ext cx="3834384" cy="1719072"/>
          </a:xfrm>
          <a:prstGeom prst="rect">
            <a:avLst/>
          </a:prstGeom>
          <a:noFill/>
        </p:spPr>
        <p:txBody>
          <a:bodyPr wrap="square" lIns="54864" rIns="54864" tIns="22860" bIns="22860">
            <a:spAutoFit/>
          </a:bodyPr>
          <a:lstStyle/>
          <a:p>
            <a:pPr>
              <a:lnSpc>
                <a:spcPts val="1890"/>
              </a:lnSpc>
              <a:spcBef>
                <a:spcPts val="0"/>
              </a:spcBef>
              <a:spcAft>
                <a:spcPts val="0"/>
              </a:spcAft>
              <a:defRPr sz="1800" b="0">
                <a:solidFill>
                  <a:srgbClr val="182B3A"/>
                </a:solidFill>
                <a:latin typeface="Arial"/>
              </a:defRPr>
            </a:pPr>
            <a:r>
              <a:t>Write the same operation on both sides. Choose an operation that makes the equation simpler.</a:t>
            </a:r>
          </a:p>
        </p:txBody>
      </p:sp>
      <p:cxnSp>
        <p:nvCxnSpPr>
          <p:cNvPr id="39" name="Connector 38"/>
          <p:cNvCxnSpPr/>
          <p:nvPr/>
        </p:nvCxnSpPr>
        <p:spPr>
          <a:xfrm>
            <a:off x="12278868" y="4215383"/>
            <a:ext cx="0" cy="685800"/>
          </a:xfrm>
          <a:prstGeom prst="line">
            <a:avLst/>
          </a:prstGeom>
          <a:ln w="15240">
            <a:solidFill>
              <a:srgbClr val="8193A0"/>
            </a:solidFill>
          </a:ln>
        </p:spPr>
        <p:style>
          <a:lnRef idx="2">
            <a:schemeClr val="accent1"/>
          </a:lnRef>
          <a:fillRef idx="0">
            <a:schemeClr val="accent1"/>
          </a:fillRef>
          <a:effectRef idx="1">
            <a:schemeClr val="accent1"/>
          </a:effectRef>
          <a:fontRef idx="minor">
            <a:schemeClr val="tx1"/>
          </a:fontRef>
        </p:style>
      </p:cxnSp>
      <p:sp>
        <p:nvSpPr>
          <p:cNvPr id="40" name="Rectangle 39"/>
          <p:cNvSpPr/>
          <p:nvPr/>
        </p:nvSpPr>
        <p:spPr>
          <a:xfrm>
            <a:off x="320040" y="5010912"/>
            <a:ext cx="1773936" cy="1051560"/>
          </a:xfrm>
          <a:prstGeom prst="rect">
            <a:avLst/>
          </a:prstGeom>
          <a:solidFill>
            <a:srgbClr val="E8EDF1"/>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402336" y="5120640"/>
            <a:ext cx="1581912" cy="868680"/>
          </a:xfrm>
          <a:prstGeom prst="rect">
            <a:avLst/>
          </a:prstGeom>
          <a:noFill/>
        </p:spPr>
        <p:txBody>
          <a:bodyPr wrap="square" lIns="54864" rIns="54864" tIns="22860" bIns="22860">
            <a:spAutoFit/>
          </a:bodyPr>
          <a:lstStyle/>
          <a:p>
            <a:pPr>
              <a:lnSpc>
                <a:spcPts val="1890"/>
              </a:lnSpc>
              <a:spcBef>
                <a:spcPts val="0"/>
              </a:spcBef>
              <a:spcAft>
                <a:spcPts val="0"/>
              </a:spcAft>
              <a:defRPr sz="1800" b="1">
                <a:solidFill>
                  <a:srgbClr val="182B3A"/>
                </a:solidFill>
                <a:latin typeface="Arial"/>
              </a:defRPr>
            </a:pPr>
            <a:r>
              <a:t>Find the Unknown</a:t>
            </a:r>
          </a:p>
        </p:txBody>
      </p:sp>
      <p:sp>
        <p:nvSpPr>
          <p:cNvPr id="42" name="Rectangle 41"/>
          <p:cNvSpPr/>
          <p:nvPr/>
        </p:nvSpPr>
        <p:spPr>
          <a:xfrm>
            <a:off x="2121408" y="5010912"/>
            <a:ext cx="4040123" cy="1051560"/>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2212848" y="5102351"/>
            <a:ext cx="3834384" cy="896111"/>
          </a:xfrm>
          <a:prstGeom prst="rect">
            <a:avLst/>
          </a:prstGeom>
          <a:noFill/>
        </p:spPr>
        <p:txBody>
          <a:bodyPr wrap="square" lIns="54864" rIns="54864" tIns="22860" bIns="22860">
            <a:spAutoFit/>
          </a:bodyPr>
          <a:lstStyle/>
          <a:p>
            <a:pPr>
              <a:lnSpc>
                <a:spcPts val="1890"/>
              </a:lnSpc>
              <a:spcBef>
                <a:spcPts val="0"/>
              </a:spcBef>
              <a:spcAft>
                <a:spcPts val="0"/>
              </a:spcAft>
              <a:defRPr sz="1800" b="0">
                <a:solidFill>
                  <a:srgbClr val="182B3A"/>
                </a:solidFill>
                <a:latin typeface="Arial"/>
              </a:defRPr>
            </a:pPr>
            <a:r>
              <a:t>Continue until x is alone. Keep the left and right sides balanced.</a:t>
            </a:r>
          </a:p>
        </p:txBody>
      </p:sp>
      <p:sp>
        <p:nvSpPr>
          <p:cNvPr id="44" name="Rectangle 43"/>
          <p:cNvSpPr/>
          <p:nvPr/>
        </p:nvSpPr>
        <p:spPr>
          <a:xfrm>
            <a:off x="6184392" y="5010912"/>
            <a:ext cx="4040123" cy="1051560"/>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6275832" y="5102351"/>
            <a:ext cx="3834384" cy="896111"/>
          </a:xfrm>
          <a:prstGeom prst="rect">
            <a:avLst/>
          </a:prstGeom>
          <a:noFill/>
        </p:spPr>
        <p:txBody>
          <a:bodyPr wrap="square" lIns="54864" rIns="54864" tIns="22860" bIns="22860">
            <a:spAutoFit/>
          </a:bodyPr>
          <a:lstStyle/>
          <a:p>
            <a:pPr>
              <a:lnSpc>
                <a:spcPts val="1890"/>
              </a:lnSpc>
              <a:spcBef>
                <a:spcPts val="0"/>
              </a:spcBef>
              <a:spcAft>
                <a:spcPts val="0"/>
              </a:spcAft>
              <a:defRPr sz="1800" b="0">
                <a:solidFill>
                  <a:srgbClr val="182B3A"/>
                </a:solidFill>
                <a:latin typeface="Arial"/>
              </a:defRPr>
            </a:pPr>
            <a:r>
              <a:t>Continue until x is alone. Keep the left and right sides balanced.</a:t>
            </a:r>
          </a:p>
        </p:txBody>
      </p:sp>
      <p:sp>
        <p:nvSpPr>
          <p:cNvPr id="46" name="Rectangle 45"/>
          <p:cNvSpPr/>
          <p:nvPr/>
        </p:nvSpPr>
        <p:spPr>
          <a:xfrm>
            <a:off x="10247376" y="5010912"/>
            <a:ext cx="4040123" cy="1051560"/>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TextBox 46"/>
          <p:cNvSpPr txBox="1"/>
          <p:nvPr/>
        </p:nvSpPr>
        <p:spPr>
          <a:xfrm>
            <a:off x="10338816" y="5102351"/>
            <a:ext cx="3834384" cy="896111"/>
          </a:xfrm>
          <a:prstGeom prst="rect">
            <a:avLst/>
          </a:prstGeom>
          <a:noFill/>
        </p:spPr>
        <p:txBody>
          <a:bodyPr wrap="square" lIns="54864" rIns="54864" tIns="22860" bIns="22860">
            <a:spAutoFit/>
          </a:bodyPr>
          <a:lstStyle/>
          <a:p>
            <a:pPr>
              <a:lnSpc>
                <a:spcPts val="1890"/>
              </a:lnSpc>
              <a:spcBef>
                <a:spcPts val="0"/>
              </a:spcBef>
              <a:spcAft>
                <a:spcPts val="0"/>
              </a:spcAft>
              <a:defRPr sz="1800" b="0">
                <a:solidFill>
                  <a:srgbClr val="182B3A"/>
                </a:solidFill>
                <a:latin typeface="Arial"/>
              </a:defRPr>
            </a:pPr>
            <a:r>
              <a:t>Continue until x is alone. Keep the left and right sides balanced.</a:t>
            </a:r>
          </a:p>
        </p:txBody>
      </p:sp>
      <p:sp>
        <p:nvSpPr>
          <p:cNvPr id="48" name="Rectangle 47"/>
          <p:cNvSpPr/>
          <p:nvPr/>
        </p:nvSpPr>
        <p:spPr>
          <a:xfrm>
            <a:off x="320040" y="6062471"/>
            <a:ext cx="1773936" cy="1536192"/>
          </a:xfrm>
          <a:prstGeom prst="rect">
            <a:avLst/>
          </a:prstGeom>
          <a:solidFill>
            <a:srgbClr val="E8EDF1"/>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TextBox 48"/>
          <p:cNvSpPr txBox="1"/>
          <p:nvPr/>
        </p:nvSpPr>
        <p:spPr>
          <a:xfrm>
            <a:off x="402336" y="6172199"/>
            <a:ext cx="1581912" cy="1353312"/>
          </a:xfrm>
          <a:prstGeom prst="rect">
            <a:avLst/>
          </a:prstGeom>
          <a:noFill/>
        </p:spPr>
        <p:txBody>
          <a:bodyPr wrap="square" lIns="54864" rIns="54864" tIns="22860" bIns="22860">
            <a:spAutoFit/>
          </a:bodyPr>
          <a:lstStyle/>
          <a:p>
            <a:pPr>
              <a:lnSpc>
                <a:spcPts val="1890"/>
              </a:lnSpc>
              <a:spcBef>
                <a:spcPts val="0"/>
              </a:spcBef>
              <a:spcAft>
                <a:spcPts val="0"/>
              </a:spcAft>
              <a:defRPr sz="1800" b="1">
                <a:solidFill>
                  <a:srgbClr val="182B3A"/>
                </a:solidFill>
                <a:latin typeface="Arial"/>
              </a:defRPr>
            </a:pPr>
            <a:r>
              <a:t>Check by Substitution</a:t>
            </a:r>
          </a:p>
        </p:txBody>
      </p:sp>
      <p:sp>
        <p:nvSpPr>
          <p:cNvPr id="50" name="Rectangle 49"/>
          <p:cNvSpPr/>
          <p:nvPr/>
        </p:nvSpPr>
        <p:spPr>
          <a:xfrm>
            <a:off x="2121408" y="6062471"/>
            <a:ext cx="4040123" cy="1536192"/>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TextBox 50"/>
          <p:cNvSpPr txBox="1"/>
          <p:nvPr/>
        </p:nvSpPr>
        <p:spPr>
          <a:xfrm>
            <a:off x="2212848" y="6153911"/>
            <a:ext cx="3834384" cy="1380744"/>
          </a:xfrm>
          <a:prstGeom prst="rect">
            <a:avLst/>
          </a:prstGeom>
          <a:noFill/>
        </p:spPr>
        <p:txBody>
          <a:bodyPr wrap="square" lIns="54864" rIns="54864" tIns="22860" bIns="22860">
            <a:spAutoFit/>
          </a:bodyPr>
          <a:lstStyle/>
          <a:p>
            <a:pPr>
              <a:lnSpc>
                <a:spcPts val="1890"/>
              </a:lnSpc>
              <a:spcBef>
                <a:spcPts val="0"/>
              </a:spcBef>
              <a:spcAft>
                <a:spcPts val="0"/>
              </a:spcAft>
              <a:defRPr sz="1800" b="0">
                <a:solidFill>
                  <a:srgbClr val="182B3A"/>
                </a:solidFill>
                <a:latin typeface="Arial"/>
              </a:defRPr>
            </a:pPr>
            <a:r>
              <a:t>Put your value into the original equation. Work out both sides and compare.</a:t>
            </a:r>
          </a:p>
        </p:txBody>
      </p:sp>
      <p:sp>
        <p:nvSpPr>
          <p:cNvPr id="52" name="Rectangle 51"/>
          <p:cNvSpPr/>
          <p:nvPr/>
        </p:nvSpPr>
        <p:spPr>
          <a:xfrm>
            <a:off x="6184392" y="6062471"/>
            <a:ext cx="4040123" cy="1536192"/>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TextBox 52"/>
          <p:cNvSpPr txBox="1"/>
          <p:nvPr/>
        </p:nvSpPr>
        <p:spPr>
          <a:xfrm>
            <a:off x="6275832" y="6153911"/>
            <a:ext cx="3834384" cy="1380744"/>
          </a:xfrm>
          <a:prstGeom prst="rect">
            <a:avLst/>
          </a:prstGeom>
          <a:noFill/>
        </p:spPr>
        <p:txBody>
          <a:bodyPr wrap="square" lIns="54864" rIns="54864" tIns="22860" bIns="22860">
            <a:spAutoFit/>
          </a:bodyPr>
          <a:lstStyle/>
          <a:p>
            <a:pPr>
              <a:lnSpc>
                <a:spcPts val="1890"/>
              </a:lnSpc>
              <a:spcBef>
                <a:spcPts val="0"/>
              </a:spcBef>
              <a:spcAft>
                <a:spcPts val="0"/>
              </a:spcAft>
              <a:defRPr sz="1800" b="0">
                <a:solidFill>
                  <a:srgbClr val="182B3A"/>
                </a:solidFill>
                <a:latin typeface="Arial"/>
              </a:defRPr>
            </a:pPr>
            <a:r>
              <a:t>Put your value into the original equation. Work out both sides and compare.</a:t>
            </a:r>
          </a:p>
        </p:txBody>
      </p:sp>
      <p:sp>
        <p:nvSpPr>
          <p:cNvPr id="54" name="Rectangle 53"/>
          <p:cNvSpPr/>
          <p:nvPr/>
        </p:nvSpPr>
        <p:spPr>
          <a:xfrm>
            <a:off x="10247376" y="6062471"/>
            <a:ext cx="4040123" cy="1536192"/>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TextBox 54"/>
          <p:cNvSpPr txBox="1"/>
          <p:nvPr/>
        </p:nvSpPr>
        <p:spPr>
          <a:xfrm>
            <a:off x="10338816" y="6153911"/>
            <a:ext cx="3834384" cy="1380744"/>
          </a:xfrm>
          <a:prstGeom prst="rect">
            <a:avLst/>
          </a:prstGeom>
          <a:noFill/>
        </p:spPr>
        <p:txBody>
          <a:bodyPr wrap="square" lIns="54864" rIns="54864" tIns="22860" bIns="22860">
            <a:spAutoFit/>
          </a:bodyPr>
          <a:lstStyle/>
          <a:p>
            <a:pPr>
              <a:lnSpc>
                <a:spcPts val="1890"/>
              </a:lnSpc>
              <a:spcBef>
                <a:spcPts val="0"/>
              </a:spcBef>
              <a:spcAft>
                <a:spcPts val="0"/>
              </a:spcAft>
              <a:defRPr sz="1800" b="0">
                <a:solidFill>
                  <a:srgbClr val="182B3A"/>
                </a:solidFill>
                <a:latin typeface="Arial"/>
              </a:defRPr>
            </a:pPr>
            <a:r>
              <a:t>Put your value into the original equation. Work out both sides and compare.</a:t>
            </a:r>
          </a:p>
        </p:txBody>
      </p:sp>
      <p:sp>
        <p:nvSpPr>
          <p:cNvPr id="56" name="Progression curved arrow: Thread 1 to Thread 2"/>
          <p:cNvSpPr/>
          <p:nvPr/>
        </p:nvSpPr>
        <p:spPr>
          <a:xfrm>
            <a:off x="5850635" y="7351125"/>
            <a:ext cx="621792" cy="314053"/>
          </a:xfrm>
          <a:custGeom>
            <a:avLst/>
            <a:gdLst/>
            <a:ahLst/>
            <a:cxnLst/>
            <a:rect l="0" t="0" r="100000" b="100000"/>
            <a:pathLst>
              <a:path w="100000" h="100000" fill="none">
                <a:moveTo>
                  <a:pt x="6970" y="48439"/>
                </a:moveTo>
                <a:cubicBezTo>
                  <a:pt x="40678" y="114499"/>
                  <a:pt x="73026" y="88145"/>
                  <a:pt x="93030" y="13799"/>
                </a:cubicBezTo>
              </a:path>
              <a:path w="100000" h="100000" fill="none">
                <a:moveTo>
                  <a:pt x="69018" y="40431"/>
                </a:moveTo>
                <a:lnTo>
                  <a:pt x="93030" y="13799"/>
                </a:lnTo>
                <a:lnTo>
                  <a:pt x="92217" y="66207"/>
                </a:lnTo>
              </a:path>
            </a:pathLst>
          </a:custGeom>
          <a:noFill/>
          <a:ln w="64449" cap="rnd">
            <a:solidFill>
              <a:schemeClr val="accent6">
                <a:lumMod val="60000"/>
                <a:lumOff val="40000"/>
              </a:schemeClr>
            </a:solidFill>
            <a:round/>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7" name="Progression curved arrow: Thread 2 to Thread 3"/>
          <p:cNvSpPr/>
          <p:nvPr/>
        </p:nvSpPr>
        <p:spPr>
          <a:xfrm>
            <a:off x="9865783" y="7342631"/>
            <a:ext cx="621792" cy="314053"/>
          </a:xfrm>
          <a:custGeom>
            <a:avLst/>
            <a:gdLst/>
            <a:ahLst/>
            <a:cxnLst/>
            <a:rect l="0" t="0" r="100000" b="100000"/>
            <a:pathLst>
              <a:path w="100000" h="100000" fill="none">
                <a:moveTo>
                  <a:pt x="6970" y="48439"/>
                </a:moveTo>
                <a:cubicBezTo>
                  <a:pt x="40678" y="114499"/>
                  <a:pt x="73026" y="88145"/>
                  <a:pt x="93030" y="13799"/>
                </a:cubicBezTo>
              </a:path>
              <a:path w="100000" h="100000" fill="none">
                <a:moveTo>
                  <a:pt x="69018" y="40431"/>
                </a:moveTo>
                <a:lnTo>
                  <a:pt x="93030" y="13799"/>
                </a:lnTo>
                <a:lnTo>
                  <a:pt x="92217" y="66207"/>
                </a:lnTo>
              </a:path>
            </a:pathLst>
          </a:custGeom>
          <a:noFill/>
          <a:ln w="64449" cap="rnd">
            <a:solidFill>
              <a:schemeClr val="accent6">
                <a:lumMod val="60000"/>
                <a:lumOff val="40000"/>
              </a:schemeClr>
            </a:solidFill>
            <a:round/>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bg>
      <p:bgPr>
        <a:solidFill>
          <a:srgbClr val="F7F8FA"/>
        </a:solidFill>
        <a:effectLst/>
      </p:bgPr>
    </p:bg>
    <p:spTree>
      <p:nvGrpSpPr>
        <p:cNvPr id="1" name=""/>
        <p:cNvGrpSpPr/>
        <p:nvPr/>
      </p:nvGrpSpPr>
      <p:grpSpPr/>
      <p:sp>
        <p:nvSpPr>
          <p:cNvPr id="2" name="Rectangle 1"/>
          <p:cNvSpPr/>
          <p:nvPr/>
        </p:nvSpPr>
        <p:spPr>
          <a:xfrm>
            <a:off x="0" y="0"/>
            <a:ext cx="14630400" cy="73152"/>
          </a:xfrm>
          <a:prstGeom prst="rect">
            <a:avLst/>
          </a:prstGeom>
          <a:solidFill>
            <a:srgbClr val="176B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20040" y="164592"/>
            <a:ext cx="13990320" cy="457200"/>
          </a:xfrm>
          <a:prstGeom prst="rect">
            <a:avLst/>
          </a:prstGeom>
          <a:noFill/>
        </p:spPr>
        <p:txBody>
          <a:bodyPr wrap="square" lIns="54864" rIns="54864" tIns="22860" bIns="22860">
            <a:spAutoFit/>
          </a:bodyPr>
          <a:lstStyle/>
          <a:p>
            <a:pPr>
              <a:lnSpc>
                <a:spcPts val="2940"/>
              </a:lnSpc>
              <a:spcBef>
                <a:spcPts val="0"/>
              </a:spcBef>
              <a:spcAft>
                <a:spcPts val="0"/>
              </a:spcAft>
              <a:defRPr sz="2800" b="1">
                <a:solidFill>
                  <a:srgbClr val="182B3A"/>
                </a:solidFill>
                <a:latin typeface="Arial"/>
              </a:defRPr>
            </a:pPr>
            <a:r>
              <a:t>Solving equations</a:t>
            </a:r>
          </a:p>
        </p:txBody>
      </p:sp>
      <p:sp>
        <p:nvSpPr>
          <p:cNvPr id="4" name="TextBox 3"/>
          <p:cNvSpPr txBox="1"/>
          <p:nvPr/>
        </p:nvSpPr>
        <p:spPr>
          <a:xfrm>
            <a:off x="320040" y="704088"/>
            <a:ext cx="13990320" cy="347472"/>
          </a:xfrm>
          <a:prstGeom prst="rect">
            <a:avLst/>
          </a:prstGeom>
          <a:noFill/>
        </p:spPr>
        <p:txBody>
          <a:bodyPr wrap="square" lIns="54864" rIns="54864" tIns="22860" bIns="22860">
            <a:spAutoFit/>
          </a:bodyPr>
          <a:lstStyle/>
          <a:p>
            <a:pPr>
              <a:lnSpc>
                <a:spcPts val="1575"/>
              </a:lnSpc>
              <a:spcBef>
                <a:spcPts val="0"/>
              </a:spcBef>
              <a:spcAft>
                <a:spcPts val="0"/>
              </a:spcAft>
              <a:defRPr sz="1500" b="0">
                <a:solidFill>
                  <a:srgbClr val="526472"/>
                </a:solidFill>
                <a:latin typeface="Arial"/>
              </a:defRPr>
            </a:pPr>
            <a:r>
              <a:t>Spot the errors • Find the first wrong step, correct it and finish.</a:t>
            </a:r>
          </a:p>
        </p:txBody>
      </p:sp>
      <p:sp>
        <p:nvSpPr>
          <p:cNvPr id="5" name="TextBox 4"/>
          <p:cNvSpPr txBox="1"/>
          <p:nvPr/>
        </p:nvSpPr>
        <p:spPr>
          <a:xfrm>
            <a:off x="320040" y="7973568"/>
            <a:ext cx="10789920" cy="210312"/>
          </a:xfrm>
          <a:prstGeom prst="rect">
            <a:avLst/>
          </a:prstGeom>
          <a:noFill/>
        </p:spPr>
        <p:txBody>
          <a:bodyPr wrap="square" lIns="54864" rIns="54864" tIns="22860" bIns="22860">
            <a:spAutoFit/>
          </a:bodyPr>
          <a:lstStyle/>
          <a:p>
            <a:pPr>
              <a:lnSpc>
                <a:spcPts val="1155"/>
              </a:lnSpc>
              <a:spcBef>
                <a:spcPts val="0"/>
              </a:spcBef>
              <a:spcAft>
                <a:spcPts val="0"/>
              </a:spcAft>
              <a:defRPr sz="1100" b="0">
                <a:solidFill>
                  <a:srgbClr val="526472"/>
                </a:solidFill>
                <a:latin typeface="Arial"/>
              </a:defRPr>
            </a:pPr>
            <a:r>
              <a:t>GCSE Maths revision • No calculator • Show your working.</a:t>
            </a:r>
          </a:p>
        </p:txBody>
      </p:sp>
      <p:sp>
        <p:nvSpPr>
          <p:cNvPr id="6" name="TextBox 5"/>
          <p:cNvSpPr txBox="1"/>
          <p:nvPr/>
        </p:nvSpPr>
        <p:spPr>
          <a:xfrm>
            <a:off x="11155680" y="7973568"/>
            <a:ext cx="3108960" cy="210312"/>
          </a:xfrm>
          <a:prstGeom prst="rect">
            <a:avLst/>
          </a:prstGeom>
          <a:noFill/>
        </p:spPr>
        <p:txBody>
          <a:bodyPr wrap="square" lIns="54864" rIns="54864" tIns="22860" bIns="22860">
            <a:spAutoFit/>
          </a:bodyPr>
          <a:lstStyle/>
          <a:p>
            <a:pPr>
              <a:lnSpc>
                <a:spcPts val="1155"/>
              </a:lnSpc>
              <a:spcBef>
                <a:spcPts val="0"/>
              </a:spcBef>
              <a:spcAft>
                <a:spcPts val="0"/>
              </a:spcAft>
              <a:defRPr sz="1100" b="0">
                <a:solidFill>
                  <a:srgbClr val="526472"/>
                </a:solidFill>
                <a:latin typeface="Arial"/>
              </a:defRPr>
            </a:pPr>
            <a:r>
              <a:t>M10-SE</a:t>
            </a:r>
          </a:p>
        </p:txBody>
      </p:sp>
      <p:sp>
        <p:nvSpPr>
          <p:cNvPr id="7" name="Rectangle 6"/>
          <p:cNvSpPr/>
          <p:nvPr/>
        </p:nvSpPr>
        <p:spPr>
          <a:xfrm>
            <a:off x="320040" y="1115568"/>
            <a:ext cx="4640580" cy="420624"/>
          </a:xfrm>
          <a:prstGeom prst="rect">
            <a:avLst/>
          </a:prstGeom>
          <a:solidFill>
            <a:srgbClr val="176B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347472" y="1147572"/>
            <a:ext cx="4581144" cy="329184"/>
          </a:xfrm>
          <a:prstGeom prst="rect">
            <a:avLst/>
          </a:prstGeom>
          <a:noFill/>
        </p:spPr>
        <p:txBody>
          <a:bodyPr wrap="square" lIns="54864" rIns="54864" tIns="22860" bIns="22860">
            <a:spAutoFit/>
          </a:bodyPr>
          <a:lstStyle/>
          <a:p>
            <a:pPr>
              <a:lnSpc>
                <a:spcPts val="1995"/>
              </a:lnSpc>
              <a:spcBef>
                <a:spcPts val="0"/>
              </a:spcBef>
              <a:spcAft>
                <a:spcPts val="0"/>
              </a:spcAft>
              <a:defRPr sz="1900" b="1">
                <a:solidFill>
                  <a:srgbClr val="FFFFFF"/>
                </a:solidFill>
                <a:latin typeface="Arial"/>
              </a:defRPr>
            </a:pPr>
            <a:r>
              <a:t>Start</a:t>
            </a:r>
          </a:p>
        </p:txBody>
      </p:sp>
      <p:sp>
        <p:nvSpPr>
          <p:cNvPr id="9" name="Rectangle 8"/>
          <p:cNvSpPr/>
          <p:nvPr/>
        </p:nvSpPr>
        <p:spPr>
          <a:xfrm>
            <a:off x="4983480" y="1115568"/>
            <a:ext cx="4640580" cy="420624"/>
          </a:xfrm>
          <a:prstGeom prst="rect">
            <a:avLst/>
          </a:prstGeom>
          <a:solidFill>
            <a:srgbClr val="3559A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010912" y="1147572"/>
            <a:ext cx="4581144" cy="329184"/>
          </a:xfrm>
          <a:prstGeom prst="rect">
            <a:avLst/>
          </a:prstGeom>
          <a:noFill/>
        </p:spPr>
        <p:txBody>
          <a:bodyPr wrap="square" lIns="54864" rIns="54864" tIns="22860" bIns="22860">
            <a:spAutoFit/>
          </a:bodyPr>
          <a:lstStyle/>
          <a:p>
            <a:pPr>
              <a:lnSpc>
                <a:spcPts val="1995"/>
              </a:lnSpc>
              <a:spcBef>
                <a:spcPts val="0"/>
              </a:spcBef>
              <a:spcAft>
                <a:spcPts val="0"/>
              </a:spcAft>
              <a:defRPr sz="1900" b="1">
                <a:solidFill>
                  <a:srgbClr val="FFFFFF"/>
                </a:solidFill>
                <a:latin typeface="Arial"/>
              </a:defRPr>
            </a:pPr>
            <a:r>
              <a:t>Build</a:t>
            </a:r>
          </a:p>
        </p:txBody>
      </p:sp>
      <p:sp>
        <p:nvSpPr>
          <p:cNvPr id="11" name="Rectangle 10"/>
          <p:cNvSpPr/>
          <p:nvPr/>
        </p:nvSpPr>
        <p:spPr>
          <a:xfrm>
            <a:off x="9646920" y="1115568"/>
            <a:ext cx="4640580" cy="420624"/>
          </a:xfrm>
          <a:prstGeom prst="rect">
            <a:avLst/>
          </a:prstGeom>
          <a:solidFill>
            <a:srgbClr val="754B8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9674352" y="1147572"/>
            <a:ext cx="4581144" cy="329184"/>
          </a:xfrm>
          <a:prstGeom prst="rect">
            <a:avLst/>
          </a:prstGeom>
          <a:noFill/>
        </p:spPr>
        <p:txBody>
          <a:bodyPr wrap="square" lIns="54864" rIns="54864" tIns="22860" bIns="22860">
            <a:spAutoFit/>
          </a:bodyPr>
          <a:lstStyle/>
          <a:p>
            <a:pPr>
              <a:lnSpc>
                <a:spcPts val="1995"/>
              </a:lnSpc>
              <a:spcBef>
                <a:spcPts val="0"/>
              </a:spcBef>
              <a:spcAft>
                <a:spcPts val="0"/>
              </a:spcAft>
              <a:defRPr sz="1900" b="1">
                <a:solidFill>
                  <a:srgbClr val="FFFFFF"/>
                </a:solidFill>
                <a:latin typeface="Arial"/>
              </a:defRPr>
            </a:pPr>
            <a:r>
              <a:t>Confidence</a:t>
            </a:r>
          </a:p>
        </p:txBody>
      </p:sp>
      <p:sp>
        <p:nvSpPr>
          <p:cNvPr id="13" name="Rectangle 12"/>
          <p:cNvSpPr/>
          <p:nvPr/>
        </p:nvSpPr>
        <p:spPr>
          <a:xfrm>
            <a:off x="320040" y="1627632"/>
            <a:ext cx="4631436" cy="1975104"/>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11479" y="1682496"/>
            <a:ext cx="4434840" cy="347472"/>
          </a:xfrm>
          <a:prstGeom prst="rect">
            <a:avLst/>
          </a:prstGeom>
          <a:noFill/>
        </p:spPr>
        <p:txBody>
          <a:bodyPr wrap="square" lIns="54864" rIns="54864" tIns="22860" bIns="22860">
            <a:spAutoFit/>
          </a:bodyPr>
          <a:lstStyle/>
          <a:p>
            <a:pPr>
              <a:lnSpc>
                <a:spcPts val="2205"/>
              </a:lnSpc>
              <a:spcBef>
                <a:spcPts val="0"/>
              </a:spcBef>
              <a:spcAft>
                <a:spcPts val="0"/>
              </a:spcAft>
              <a:defRPr sz="2100" b="1">
                <a:solidFill>
                  <a:srgbClr val="182B3A"/>
                </a:solidFill>
                <a:latin typeface="Arial"/>
              </a:defRPr>
            </a:pPr>
            <a:r>
              <a:t>1.  x + 8 = 19</a:t>
            </a:r>
          </a:p>
        </p:txBody>
      </p:sp>
      <p:cxnSp>
        <p:nvCxnSpPr>
          <p:cNvPr id="15" name="Connector 14"/>
          <p:cNvCxnSpPr/>
          <p:nvPr/>
        </p:nvCxnSpPr>
        <p:spPr>
          <a:xfrm>
            <a:off x="2624328" y="2148840"/>
            <a:ext cx="0" cy="566928"/>
          </a:xfrm>
          <a:prstGeom prst="line">
            <a:avLst/>
          </a:prstGeom>
          <a:ln w="15240">
            <a:solidFill>
              <a:srgbClr val="8193A0"/>
            </a:solidFill>
          </a:ln>
          <a:effectLst/>
        </p:spPr>
        <p:style>
          <a:lnRef idx="2">
            <a:schemeClr val="accent1"/>
          </a:lnRef>
          <a:fillRef idx="0">
            <a:schemeClr val="accent1"/>
          </a:fillRef>
          <a:effectRef idx="1">
            <a:schemeClr val="accent1"/>
          </a:effectRef>
          <a:fontRef idx="minor">
            <a:schemeClr val="tx1"/>
          </a:fontRef>
        </p:style>
      </p:cxnSp>
      <p:sp>
        <p:nvSpPr>
          <p:cNvPr id="16" name="TextBox 15"/>
          <p:cNvSpPr txBox="1"/>
          <p:nvPr/>
        </p:nvSpPr>
        <p:spPr>
          <a:xfrm>
            <a:off x="1051560" y="2130552"/>
            <a:ext cx="1417320" cy="320040"/>
          </a:xfrm>
          <a:prstGeom prst="rect">
            <a:avLst/>
          </a:prstGeom>
          <a:noFill/>
        </p:spPr>
        <p:txBody>
          <a:bodyPr wrap="none" lIns="0" rIns="0" tIns="0" bIns="0">
            <a:spAutoFit/>
          </a:bodyPr>
          <a:lstStyle/>
          <a:p>
            <a:pPr algn="r">
              <a:lnSpc>
                <a:spcPts val="2240"/>
              </a:lnSpc>
              <a:spcAft>
                <a:spcPts val="0"/>
              </a:spcAft>
              <a:defRPr sz="2000" b="0">
                <a:solidFill>
                  <a:srgbClr val="182B3A"/>
                </a:solidFill>
                <a:latin typeface="Arial"/>
              </a:defRPr>
            </a:pPr>
            <a:r>
              <a:t>x + 8</a:t>
            </a:r>
          </a:p>
        </p:txBody>
      </p:sp>
      <p:sp>
        <p:nvSpPr>
          <p:cNvPr id="17" name="TextBox 16"/>
          <p:cNvSpPr txBox="1"/>
          <p:nvPr/>
        </p:nvSpPr>
        <p:spPr>
          <a:xfrm>
            <a:off x="2798064" y="2130552"/>
            <a:ext cx="1399032" cy="320040"/>
          </a:xfrm>
          <a:prstGeom prst="rect">
            <a:avLst/>
          </a:prstGeom>
          <a:noFill/>
        </p:spPr>
        <p:txBody>
          <a:bodyPr wrap="none" lIns="0" rIns="0" tIns="0" bIns="0">
            <a:spAutoFit/>
          </a:bodyPr>
          <a:lstStyle/>
          <a:p>
            <a:pPr algn="l">
              <a:lnSpc>
                <a:spcPts val="2240"/>
              </a:lnSpc>
              <a:spcAft>
                <a:spcPts val="0"/>
              </a:spcAft>
              <a:defRPr sz="2000" b="0">
                <a:solidFill>
                  <a:srgbClr val="182B3A"/>
                </a:solidFill>
                <a:latin typeface="Arial"/>
              </a:defRPr>
            </a:pPr>
            <a:r>
              <a:t>19</a:t>
            </a:r>
          </a:p>
        </p:txBody>
      </p:sp>
      <p:sp>
        <p:nvSpPr>
          <p:cNvPr id="18" name="Rectangle 17"/>
          <p:cNvSpPr/>
          <p:nvPr/>
        </p:nvSpPr>
        <p:spPr>
          <a:xfrm>
            <a:off x="2514600" y="2130552"/>
            <a:ext cx="219456" cy="27432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2514600" y="2130552"/>
            <a:ext cx="219456" cy="274320"/>
          </a:xfrm>
          <a:prstGeom prst="rect">
            <a:avLst/>
          </a:prstGeom>
          <a:noFill/>
        </p:spPr>
        <p:txBody>
          <a:bodyPr wrap="none" lIns="0" rIns="0" tIns="0" bIns="0">
            <a:spAutoFit/>
          </a:bodyPr>
          <a:lstStyle/>
          <a:p>
            <a:pPr algn="ctr">
              <a:lnSpc>
                <a:spcPts val="2240"/>
              </a:lnSpc>
              <a:spcAft>
                <a:spcPts val="0"/>
              </a:spcAft>
              <a:defRPr sz="2000" b="0">
                <a:solidFill>
                  <a:srgbClr val="182B3A"/>
                </a:solidFill>
                <a:latin typeface="Arial"/>
              </a:defRPr>
            </a:pPr>
            <a:r>
              <a:t>=</a:t>
            </a:r>
          </a:p>
        </p:txBody>
      </p:sp>
      <p:sp>
        <p:nvSpPr>
          <p:cNvPr id="20" name="TextBox 19"/>
          <p:cNvSpPr txBox="1"/>
          <p:nvPr/>
        </p:nvSpPr>
        <p:spPr>
          <a:xfrm>
            <a:off x="438912" y="2281428"/>
            <a:ext cx="594360" cy="219456"/>
          </a:xfrm>
          <a:prstGeom prst="rect">
            <a:avLst/>
          </a:prstGeom>
          <a:noFill/>
        </p:spPr>
        <p:txBody>
          <a:bodyPr wrap="none" lIns="0" rIns="0" tIns="0" bIns="0">
            <a:spAutoFit/>
          </a:bodyPr>
          <a:lstStyle/>
          <a:p>
            <a:pPr algn="l">
              <a:lnSpc>
                <a:spcPts val="1456"/>
              </a:lnSpc>
              <a:spcAft>
                <a:spcPts val="0"/>
              </a:spcAft>
              <a:defRPr sz="1300" b="0">
                <a:solidFill>
                  <a:srgbClr val="3559A2"/>
                </a:solidFill>
                <a:latin typeface="Arial"/>
              </a:defRPr>
            </a:pPr>
            <a:r>
              <a:t>+ 8</a:t>
            </a:r>
          </a:p>
        </p:txBody>
      </p:sp>
      <p:sp>
        <p:nvSpPr>
          <p:cNvPr id="21" name="TextBox 20"/>
          <p:cNvSpPr txBox="1"/>
          <p:nvPr/>
        </p:nvSpPr>
        <p:spPr>
          <a:xfrm>
            <a:off x="4215384" y="2281428"/>
            <a:ext cx="594360" cy="219456"/>
          </a:xfrm>
          <a:prstGeom prst="rect">
            <a:avLst/>
          </a:prstGeom>
          <a:noFill/>
        </p:spPr>
        <p:txBody>
          <a:bodyPr wrap="none" lIns="0" rIns="0" tIns="0" bIns="0">
            <a:spAutoFit/>
          </a:bodyPr>
          <a:lstStyle/>
          <a:p>
            <a:pPr algn="r">
              <a:lnSpc>
                <a:spcPts val="1456"/>
              </a:lnSpc>
              <a:spcAft>
                <a:spcPts val="0"/>
              </a:spcAft>
              <a:defRPr sz="1300" b="0">
                <a:solidFill>
                  <a:srgbClr val="3559A2"/>
                </a:solidFill>
                <a:latin typeface="Arial"/>
              </a:defRPr>
            </a:pPr>
            <a:r>
              <a:t>+ 8</a:t>
            </a:r>
          </a:p>
        </p:txBody>
      </p:sp>
      <p:sp>
        <p:nvSpPr>
          <p:cNvPr id="22" name="TextBox 21"/>
          <p:cNvSpPr txBox="1"/>
          <p:nvPr/>
        </p:nvSpPr>
        <p:spPr>
          <a:xfrm>
            <a:off x="1051560" y="2404872"/>
            <a:ext cx="1417320" cy="320040"/>
          </a:xfrm>
          <a:prstGeom prst="rect">
            <a:avLst/>
          </a:prstGeom>
          <a:noFill/>
        </p:spPr>
        <p:txBody>
          <a:bodyPr wrap="none" lIns="0" rIns="0" tIns="0" bIns="0">
            <a:spAutoFit/>
          </a:bodyPr>
          <a:lstStyle/>
          <a:p>
            <a:pPr algn="r">
              <a:lnSpc>
                <a:spcPts val="2240"/>
              </a:lnSpc>
              <a:spcAft>
                <a:spcPts val="0"/>
              </a:spcAft>
              <a:defRPr sz="2000" b="0">
                <a:solidFill>
                  <a:srgbClr val="182B3A"/>
                </a:solidFill>
                <a:latin typeface="Arial"/>
              </a:defRPr>
            </a:pPr>
            <a:r>
              <a:t>x</a:t>
            </a:r>
          </a:p>
        </p:txBody>
      </p:sp>
      <p:sp>
        <p:nvSpPr>
          <p:cNvPr id="23" name="TextBox 22"/>
          <p:cNvSpPr txBox="1"/>
          <p:nvPr/>
        </p:nvSpPr>
        <p:spPr>
          <a:xfrm>
            <a:off x="2798064" y="2404872"/>
            <a:ext cx="1399032" cy="320040"/>
          </a:xfrm>
          <a:prstGeom prst="rect">
            <a:avLst/>
          </a:prstGeom>
          <a:noFill/>
        </p:spPr>
        <p:txBody>
          <a:bodyPr wrap="none" lIns="0" rIns="0" tIns="0" bIns="0">
            <a:spAutoFit/>
          </a:bodyPr>
          <a:lstStyle/>
          <a:p>
            <a:pPr algn="l">
              <a:lnSpc>
                <a:spcPts val="2240"/>
              </a:lnSpc>
              <a:spcAft>
                <a:spcPts val="0"/>
              </a:spcAft>
              <a:defRPr sz="2000" b="0">
                <a:solidFill>
                  <a:srgbClr val="182B3A"/>
                </a:solidFill>
                <a:latin typeface="Arial"/>
              </a:defRPr>
            </a:pPr>
            <a:r>
              <a:t>27</a:t>
            </a:r>
          </a:p>
        </p:txBody>
      </p:sp>
      <p:sp>
        <p:nvSpPr>
          <p:cNvPr id="24" name="Rectangle 23"/>
          <p:cNvSpPr/>
          <p:nvPr/>
        </p:nvSpPr>
        <p:spPr>
          <a:xfrm>
            <a:off x="2514600" y="2404872"/>
            <a:ext cx="219456" cy="27432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2514600" y="2404872"/>
            <a:ext cx="219456" cy="274320"/>
          </a:xfrm>
          <a:prstGeom prst="rect">
            <a:avLst/>
          </a:prstGeom>
          <a:noFill/>
        </p:spPr>
        <p:txBody>
          <a:bodyPr wrap="none" lIns="0" rIns="0" tIns="0" bIns="0">
            <a:spAutoFit/>
          </a:bodyPr>
          <a:lstStyle/>
          <a:p>
            <a:pPr algn="ctr">
              <a:lnSpc>
                <a:spcPts val="2240"/>
              </a:lnSpc>
              <a:spcAft>
                <a:spcPts val="0"/>
              </a:spcAft>
              <a:defRPr sz="2000" b="0">
                <a:solidFill>
                  <a:srgbClr val="182B3A"/>
                </a:solidFill>
                <a:latin typeface="Arial"/>
              </a:defRPr>
            </a:pPr>
            <a:r>
              <a:t>=</a:t>
            </a:r>
          </a:p>
        </p:txBody>
      </p:sp>
      <p:sp>
        <p:nvSpPr>
          <p:cNvPr id="26" name="Rectangle 25"/>
          <p:cNvSpPr/>
          <p:nvPr/>
        </p:nvSpPr>
        <p:spPr>
          <a:xfrm>
            <a:off x="320040" y="3666744"/>
            <a:ext cx="4631436" cy="1975104"/>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411479" y="3721607"/>
            <a:ext cx="4434840" cy="347472"/>
          </a:xfrm>
          <a:prstGeom prst="rect">
            <a:avLst/>
          </a:prstGeom>
          <a:noFill/>
        </p:spPr>
        <p:txBody>
          <a:bodyPr wrap="square" lIns="54864" rIns="54864" tIns="22860" bIns="22860">
            <a:spAutoFit/>
          </a:bodyPr>
          <a:lstStyle/>
          <a:p>
            <a:pPr>
              <a:lnSpc>
                <a:spcPts val="2205"/>
              </a:lnSpc>
              <a:spcBef>
                <a:spcPts val="0"/>
              </a:spcBef>
              <a:spcAft>
                <a:spcPts val="0"/>
              </a:spcAft>
              <a:defRPr sz="2100" b="1">
                <a:solidFill>
                  <a:srgbClr val="182B3A"/>
                </a:solidFill>
                <a:latin typeface="Arial"/>
              </a:defRPr>
            </a:pPr>
            <a:r>
              <a:t>2.  x − 5 = 8</a:t>
            </a:r>
          </a:p>
        </p:txBody>
      </p:sp>
      <p:cxnSp>
        <p:nvCxnSpPr>
          <p:cNvPr id="28" name="Connector 27"/>
          <p:cNvCxnSpPr/>
          <p:nvPr/>
        </p:nvCxnSpPr>
        <p:spPr>
          <a:xfrm>
            <a:off x="2624328" y="4187951"/>
            <a:ext cx="0" cy="566928"/>
          </a:xfrm>
          <a:prstGeom prst="line">
            <a:avLst/>
          </a:prstGeom>
          <a:ln w="15240">
            <a:solidFill>
              <a:srgbClr val="8193A0"/>
            </a:solidFill>
          </a:ln>
          <a:effectLst/>
        </p:spPr>
        <p:style>
          <a:lnRef idx="2">
            <a:schemeClr val="accent1"/>
          </a:lnRef>
          <a:fillRef idx="0">
            <a:schemeClr val="accent1"/>
          </a:fillRef>
          <a:effectRef idx="1">
            <a:schemeClr val="accent1"/>
          </a:effectRef>
          <a:fontRef idx="minor">
            <a:schemeClr val="tx1"/>
          </a:fontRef>
        </p:style>
      </p:cxnSp>
      <p:sp>
        <p:nvSpPr>
          <p:cNvPr id="29" name="TextBox 28"/>
          <p:cNvSpPr txBox="1"/>
          <p:nvPr/>
        </p:nvSpPr>
        <p:spPr>
          <a:xfrm>
            <a:off x="1051560" y="4169663"/>
            <a:ext cx="1417320" cy="320040"/>
          </a:xfrm>
          <a:prstGeom prst="rect">
            <a:avLst/>
          </a:prstGeom>
          <a:noFill/>
        </p:spPr>
        <p:txBody>
          <a:bodyPr wrap="none" lIns="0" rIns="0" tIns="0" bIns="0">
            <a:spAutoFit/>
          </a:bodyPr>
          <a:lstStyle/>
          <a:p>
            <a:pPr algn="r">
              <a:lnSpc>
                <a:spcPts val="2240"/>
              </a:lnSpc>
              <a:spcAft>
                <a:spcPts val="0"/>
              </a:spcAft>
              <a:defRPr sz="2000" b="0">
                <a:solidFill>
                  <a:srgbClr val="182B3A"/>
                </a:solidFill>
                <a:latin typeface="Arial"/>
              </a:defRPr>
            </a:pPr>
            <a:r>
              <a:t>x − 5</a:t>
            </a:r>
          </a:p>
        </p:txBody>
      </p:sp>
      <p:sp>
        <p:nvSpPr>
          <p:cNvPr id="30" name="TextBox 29"/>
          <p:cNvSpPr txBox="1"/>
          <p:nvPr/>
        </p:nvSpPr>
        <p:spPr>
          <a:xfrm>
            <a:off x="2798064" y="4169663"/>
            <a:ext cx="1399032" cy="320040"/>
          </a:xfrm>
          <a:prstGeom prst="rect">
            <a:avLst/>
          </a:prstGeom>
          <a:noFill/>
        </p:spPr>
        <p:txBody>
          <a:bodyPr wrap="none" lIns="0" rIns="0" tIns="0" bIns="0">
            <a:spAutoFit/>
          </a:bodyPr>
          <a:lstStyle/>
          <a:p>
            <a:pPr algn="l">
              <a:lnSpc>
                <a:spcPts val="2240"/>
              </a:lnSpc>
              <a:spcAft>
                <a:spcPts val="0"/>
              </a:spcAft>
              <a:defRPr sz="2000" b="0">
                <a:solidFill>
                  <a:srgbClr val="182B3A"/>
                </a:solidFill>
                <a:latin typeface="Arial"/>
              </a:defRPr>
            </a:pPr>
            <a:r>
              <a:t>8</a:t>
            </a:r>
          </a:p>
        </p:txBody>
      </p:sp>
      <p:sp>
        <p:nvSpPr>
          <p:cNvPr id="31" name="Rectangle 30"/>
          <p:cNvSpPr/>
          <p:nvPr/>
        </p:nvSpPr>
        <p:spPr>
          <a:xfrm>
            <a:off x="2514600" y="4169663"/>
            <a:ext cx="219456" cy="27432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2514600" y="4169663"/>
            <a:ext cx="219456" cy="274320"/>
          </a:xfrm>
          <a:prstGeom prst="rect">
            <a:avLst/>
          </a:prstGeom>
          <a:noFill/>
        </p:spPr>
        <p:txBody>
          <a:bodyPr wrap="none" lIns="0" rIns="0" tIns="0" bIns="0">
            <a:spAutoFit/>
          </a:bodyPr>
          <a:lstStyle/>
          <a:p>
            <a:pPr algn="ctr">
              <a:lnSpc>
                <a:spcPts val="2240"/>
              </a:lnSpc>
              <a:spcAft>
                <a:spcPts val="0"/>
              </a:spcAft>
              <a:defRPr sz="2000" b="0">
                <a:solidFill>
                  <a:srgbClr val="182B3A"/>
                </a:solidFill>
                <a:latin typeface="Arial"/>
              </a:defRPr>
            </a:pPr>
            <a:r>
              <a:t>=</a:t>
            </a:r>
          </a:p>
        </p:txBody>
      </p:sp>
      <p:sp>
        <p:nvSpPr>
          <p:cNvPr id="33" name="TextBox 32"/>
          <p:cNvSpPr txBox="1"/>
          <p:nvPr/>
        </p:nvSpPr>
        <p:spPr>
          <a:xfrm>
            <a:off x="438912" y="4320540"/>
            <a:ext cx="594360" cy="219456"/>
          </a:xfrm>
          <a:prstGeom prst="rect">
            <a:avLst/>
          </a:prstGeom>
          <a:noFill/>
        </p:spPr>
        <p:txBody>
          <a:bodyPr wrap="none" lIns="0" rIns="0" tIns="0" bIns="0">
            <a:spAutoFit/>
          </a:bodyPr>
          <a:lstStyle/>
          <a:p>
            <a:pPr algn="l">
              <a:lnSpc>
                <a:spcPts val="1456"/>
              </a:lnSpc>
              <a:spcAft>
                <a:spcPts val="0"/>
              </a:spcAft>
              <a:defRPr sz="1300" b="0">
                <a:solidFill>
                  <a:srgbClr val="3559A2"/>
                </a:solidFill>
                <a:latin typeface="Arial"/>
              </a:defRPr>
            </a:pPr>
            <a:r>
              <a:t>− 5</a:t>
            </a:r>
          </a:p>
        </p:txBody>
      </p:sp>
      <p:sp>
        <p:nvSpPr>
          <p:cNvPr id="34" name="TextBox 33"/>
          <p:cNvSpPr txBox="1"/>
          <p:nvPr/>
        </p:nvSpPr>
        <p:spPr>
          <a:xfrm>
            <a:off x="4215384" y="4320540"/>
            <a:ext cx="594360" cy="219456"/>
          </a:xfrm>
          <a:prstGeom prst="rect">
            <a:avLst/>
          </a:prstGeom>
          <a:noFill/>
        </p:spPr>
        <p:txBody>
          <a:bodyPr wrap="none" lIns="0" rIns="0" tIns="0" bIns="0">
            <a:spAutoFit/>
          </a:bodyPr>
          <a:lstStyle/>
          <a:p>
            <a:pPr algn="r">
              <a:lnSpc>
                <a:spcPts val="1456"/>
              </a:lnSpc>
              <a:spcAft>
                <a:spcPts val="0"/>
              </a:spcAft>
              <a:defRPr sz="1300" b="0">
                <a:solidFill>
                  <a:srgbClr val="3559A2"/>
                </a:solidFill>
                <a:latin typeface="Arial"/>
              </a:defRPr>
            </a:pPr>
            <a:r>
              <a:t>− 5</a:t>
            </a:r>
          </a:p>
        </p:txBody>
      </p:sp>
      <p:sp>
        <p:nvSpPr>
          <p:cNvPr id="35" name="TextBox 34"/>
          <p:cNvSpPr txBox="1"/>
          <p:nvPr/>
        </p:nvSpPr>
        <p:spPr>
          <a:xfrm>
            <a:off x="1051560" y="4443983"/>
            <a:ext cx="1417320" cy="320040"/>
          </a:xfrm>
          <a:prstGeom prst="rect">
            <a:avLst/>
          </a:prstGeom>
          <a:noFill/>
        </p:spPr>
        <p:txBody>
          <a:bodyPr wrap="none" lIns="0" rIns="0" tIns="0" bIns="0">
            <a:spAutoFit/>
          </a:bodyPr>
          <a:lstStyle/>
          <a:p>
            <a:pPr algn="r">
              <a:lnSpc>
                <a:spcPts val="2240"/>
              </a:lnSpc>
              <a:spcAft>
                <a:spcPts val="0"/>
              </a:spcAft>
              <a:defRPr sz="2000" b="0">
                <a:solidFill>
                  <a:srgbClr val="182B3A"/>
                </a:solidFill>
                <a:latin typeface="Arial"/>
              </a:defRPr>
            </a:pPr>
            <a:r>
              <a:t>x</a:t>
            </a:r>
          </a:p>
        </p:txBody>
      </p:sp>
      <p:sp>
        <p:nvSpPr>
          <p:cNvPr id="36" name="TextBox 35"/>
          <p:cNvSpPr txBox="1"/>
          <p:nvPr/>
        </p:nvSpPr>
        <p:spPr>
          <a:xfrm>
            <a:off x="2798064" y="4443983"/>
            <a:ext cx="1399032" cy="320040"/>
          </a:xfrm>
          <a:prstGeom prst="rect">
            <a:avLst/>
          </a:prstGeom>
          <a:noFill/>
        </p:spPr>
        <p:txBody>
          <a:bodyPr wrap="none" lIns="0" rIns="0" tIns="0" bIns="0">
            <a:spAutoFit/>
          </a:bodyPr>
          <a:lstStyle/>
          <a:p>
            <a:pPr algn="l">
              <a:lnSpc>
                <a:spcPts val="2240"/>
              </a:lnSpc>
              <a:spcAft>
                <a:spcPts val="0"/>
              </a:spcAft>
              <a:defRPr sz="2000" b="0">
                <a:solidFill>
                  <a:srgbClr val="182B3A"/>
                </a:solidFill>
                <a:latin typeface="Arial"/>
              </a:defRPr>
            </a:pPr>
            <a:r>
              <a:t>3</a:t>
            </a:r>
          </a:p>
        </p:txBody>
      </p:sp>
      <p:sp>
        <p:nvSpPr>
          <p:cNvPr id="37" name="Rectangle 36"/>
          <p:cNvSpPr/>
          <p:nvPr/>
        </p:nvSpPr>
        <p:spPr>
          <a:xfrm>
            <a:off x="2514600" y="4443983"/>
            <a:ext cx="219456" cy="27432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2514600" y="4443983"/>
            <a:ext cx="219456" cy="274320"/>
          </a:xfrm>
          <a:prstGeom prst="rect">
            <a:avLst/>
          </a:prstGeom>
          <a:noFill/>
        </p:spPr>
        <p:txBody>
          <a:bodyPr wrap="none" lIns="0" rIns="0" tIns="0" bIns="0">
            <a:spAutoFit/>
          </a:bodyPr>
          <a:lstStyle/>
          <a:p>
            <a:pPr algn="ctr">
              <a:lnSpc>
                <a:spcPts val="2240"/>
              </a:lnSpc>
              <a:spcAft>
                <a:spcPts val="0"/>
              </a:spcAft>
              <a:defRPr sz="2000" b="0">
                <a:solidFill>
                  <a:srgbClr val="182B3A"/>
                </a:solidFill>
                <a:latin typeface="Arial"/>
              </a:defRPr>
            </a:pPr>
            <a:r>
              <a:t>=</a:t>
            </a:r>
          </a:p>
        </p:txBody>
      </p:sp>
      <p:sp>
        <p:nvSpPr>
          <p:cNvPr id="39" name="Rectangle 38"/>
          <p:cNvSpPr/>
          <p:nvPr/>
        </p:nvSpPr>
        <p:spPr>
          <a:xfrm>
            <a:off x="320040" y="5705856"/>
            <a:ext cx="4631436" cy="1975104"/>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411479" y="5760720"/>
            <a:ext cx="4434840" cy="347472"/>
          </a:xfrm>
          <a:prstGeom prst="rect">
            <a:avLst/>
          </a:prstGeom>
          <a:noFill/>
        </p:spPr>
        <p:txBody>
          <a:bodyPr wrap="square" lIns="54864" rIns="54864" tIns="22860" bIns="22860">
            <a:spAutoFit/>
          </a:bodyPr>
          <a:lstStyle/>
          <a:p>
            <a:pPr>
              <a:lnSpc>
                <a:spcPts val="2205"/>
              </a:lnSpc>
              <a:spcBef>
                <a:spcPts val="0"/>
              </a:spcBef>
              <a:spcAft>
                <a:spcPts val="0"/>
              </a:spcAft>
              <a:defRPr sz="2100" b="1">
                <a:solidFill>
                  <a:srgbClr val="182B3A"/>
                </a:solidFill>
                <a:latin typeface="Arial"/>
              </a:defRPr>
            </a:pPr>
            <a:r>
              <a:t>3.  6x = 24</a:t>
            </a:r>
          </a:p>
        </p:txBody>
      </p:sp>
      <p:cxnSp>
        <p:nvCxnSpPr>
          <p:cNvPr id="41" name="Connector 40"/>
          <p:cNvCxnSpPr/>
          <p:nvPr/>
        </p:nvCxnSpPr>
        <p:spPr>
          <a:xfrm>
            <a:off x="2624328" y="6227064"/>
            <a:ext cx="0" cy="566928"/>
          </a:xfrm>
          <a:prstGeom prst="line">
            <a:avLst/>
          </a:prstGeom>
          <a:ln w="15240">
            <a:solidFill>
              <a:srgbClr val="8193A0"/>
            </a:solidFill>
          </a:ln>
          <a:effectLst/>
        </p:spPr>
        <p:style>
          <a:lnRef idx="2">
            <a:schemeClr val="accent1"/>
          </a:lnRef>
          <a:fillRef idx="0">
            <a:schemeClr val="accent1"/>
          </a:fillRef>
          <a:effectRef idx="1">
            <a:schemeClr val="accent1"/>
          </a:effectRef>
          <a:fontRef idx="minor">
            <a:schemeClr val="tx1"/>
          </a:fontRef>
        </p:style>
      </p:cxnSp>
      <p:sp>
        <p:nvSpPr>
          <p:cNvPr id="42" name="TextBox 41"/>
          <p:cNvSpPr txBox="1"/>
          <p:nvPr/>
        </p:nvSpPr>
        <p:spPr>
          <a:xfrm>
            <a:off x="1051560" y="6208776"/>
            <a:ext cx="1417320" cy="320040"/>
          </a:xfrm>
          <a:prstGeom prst="rect">
            <a:avLst/>
          </a:prstGeom>
          <a:noFill/>
        </p:spPr>
        <p:txBody>
          <a:bodyPr wrap="none" lIns="0" rIns="0" tIns="0" bIns="0">
            <a:spAutoFit/>
          </a:bodyPr>
          <a:lstStyle/>
          <a:p>
            <a:pPr algn="r">
              <a:lnSpc>
                <a:spcPts val="2240"/>
              </a:lnSpc>
              <a:spcAft>
                <a:spcPts val="0"/>
              </a:spcAft>
              <a:defRPr sz="2000" b="0">
                <a:solidFill>
                  <a:srgbClr val="182B3A"/>
                </a:solidFill>
                <a:latin typeface="Arial"/>
              </a:defRPr>
            </a:pPr>
            <a:r>
              <a:t>6x</a:t>
            </a:r>
          </a:p>
        </p:txBody>
      </p:sp>
      <p:sp>
        <p:nvSpPr>
          <p:cNvPr id="43" name="TextBox 42"/>
          <p:cNvSpPr txBox="1"/>
          <p:nvPr/>
        </p:nvSpPr>
        <p:spPr>
          <a:xfrm>
            <a:off x="2798064" y="6208776"/>
            <a:ext cx="1399032" cy="320040"/>
          </a:xfrm>
          <a:prstGeom prst="rect">
            <a:avLst/>
          </a:prstGeom>
          <a:noFill/>
        </p:spPr>
        <p:txBody>
          <a:bodyPr wrap="none" lIns="0" rIns="0" tIns="0" bIns="0">
            <a:spAutoFit/>
          </a:bodyPr>
          <a:lstStyle/>
          <a:p>
            <a:pPr algn="l">
              <a:lnSpc>
                <a:spcPts val="2240"/>
              </a:lnSpc>
              <a:spcAft>
                <a:spcPts val="0"/>
              </a:spcAft>
              <a:defRPr sz="2000" b="0">
                <a:solidFill>
                  <a:srgbClr val="182B3A"/>
                </a:solidFill>
                <a:latin typeface="Arial"/>
              </a:defRPr>
            </a:pPr>
            <a:r>
              <a:t>24</a:t>
            </a:r>
          </a:p>
        </p:txBody>
      </p:sp>
      <p:sp>
        <p:nvSpPr>
          <p:cNvPr id="44" name="Rectangle 43"/>
          <p:cNvSpPr/>
          <p:nvPr/>
        </p:nvSpPr>
        <p:spPr>
          <a:xfrm>
            <a:off x="2514600" y="6208776"/>
            <a:ext cx="219456" cy="27432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2514600" y="6208776"/>
            <a:ext cx="219456" cy="274320"/>
          </a:xfrm>
          <a:prstGeom prst="rect">
            <a:avLst/>
          </a:prstGeom>
          <a:noFill/>
        </p:spPr>
        <p:txBody>
          <a:bodyPr wrap="none" lIns="0" rIns="0" tIns="0" bIns="0">
            <a:spAutoFit/>
          </a:bodyPr>
          <a:lstStyle/>
          <a:p>
            <a:pPr algn="ctr">
              <a:lnSpc>
                <a:spcPts val="2240"/>
              </a:lnSpc>
              <a:spcAft>
                <a:spcPts val="0"/>
              </a:spcAft>
              <a:defRPr sz="2000" b="0">
                <a:solidFill>
                  <a:srgbClr val="182B3A"/>
                </a:solidFill>
                <a:latin typeface="Arial"/>
              </a:defRPr>
            </a:pPr>
            <a:r>
              <a:t>=</a:t>
            </a:r>
          </a:p>
        </p:txBody>
      </p:sp>
      <p:sp>
        <p:nvSpPr>
          <p:cNvPr id="46" name="TextBox 45"/>
          <p:cNvSpPr txBox="1"/>
          <p:nvPr/>
        </p:nvSpPr>
        <p:spPr>
          <a:xfrm>
            <a:off x="438912" y="6359652"/>
            <a:ext cx="594360" cy="219456"/>
          </a:xfrm>
          <a:prstGeom prst="rect">
            <a:avLst/>
          </a:prstGeom>
          <a:noFill/>
        </p:spPr>
        <p:txBody>
          <a:bodyPr wrap="none" lIns="0" rIns="0" tIns="0" bIns="0">
            <a:spAutoFit/>
          </a:bodyPr>
          <a:lstStyle/>
          <a:p>
            <a:pPr algn="l">
              <a:lnSpc>
                <a:spcPts val="1456"/>
              </a:lnSpc>
              <a:spcAft>
                <a:spcPts val="0"/>
              </a:spcAft>
              <a:defRPr sz="1300" b="0">
                <a:solidFill>
                  <a:srgbClr val="3559A2"/>
                </a:solidFill>
                <a:latin typeface="Arial"/>
              </a:defRPr>
            </a:pPr>
            <a:r>
              <a:t>− 6</a:t>
            </a:r>
          </a:p>
        </p:txBody>
      </p:sp>
      <p:sp>
        <p:nvSpPr>
          <p:cNvPr id="47" name="TextBox 46"/>
          <p:cNvSpPr txBox="1"/>
          <p:nvPr/>
        </p:nvSpPr>
        <p:spPr>
          <a:xfrm>
            <a:off x="4215384" y="6359652"/>
            <a:ext cx="594360" cy="219456"/>
          </a:xfrm>
          <a:prstGeom prst="rect">
            <a:avLst/>
          </a:prstGeom>
          <a:noFill/>
        </p:spPr>
        <p:txBody>
          <a:bodyPr wrap="none" lIns="0" rIns="0" tIns="0" bIns="0">
            <a:spAutoFit/>
          </a:bodyPr>
          <a:lstStyle/>
          <a:p>
            <a:pPr algn="r">
              <a:lnSpc>
                <a:spcPts val="1456"/>
              </a:lnSpc>
              <a:spcAft>
                <a:spcPts val="0"/>
              </a:spcAft>
              <a:defRPr sz="1300" b="0">
                <a:solidFill>
                  <a:srgbClr val="3559A2"/>
                </a:solidFill>
                <a:latin typeface="Arial"/>
              </a:defRPr>
            </a:pPr>
            <a:r>
              <a:t>− 6</a:t>
            </a:r>
          </a:p>
        </p:txBody>
      </p:sp>
      <p:sp>
        <p:nvSpPr>
          <p:cNvPr id="48" name="TextBox 47"/>
          <p:cNvSpPr txBox="1"/>
          <p:nvPr/>
        </p:nvSpPr>
        <p:spPr>
          <a:xfrm>
            <a:off x="1051560" y="6483096"/>
            <a:ext cx="1417320" cy="320040"/>
          </a:xfrm>
          <a:prstGeom prst="rect">
            <a:avLst/>
          </a:prstGeom>
          <a:noFill/>
        </p:spPr>
        <p:txBody>
          <a:bodyPr wrap="none" lIns="0" rIns="0" tIns="0" bIns="0">
            <a:spAutoFit/>
          </a:bodyPr>
          <a:lstStyle/>
          <a:p>
            <a:pPr algn="r">
              <a:lnSpc>
                <a:spcPts val="2240"/>
              </a:lnSpc>
              <a:spcAft>
                <a:spcPts val="0"/>
              </a:spcAft>
              <a:defRPr sz="2000" b="0">
                <a:solidFill>
                  <a:srgbClr val="182B3A"/>
                </a:solidFill>
                <a:latin typeface="Arial"/>
              </a:defRPr>
            </a:pPr>
            <a:r>
              <a:t>x</a:t>
            </a:r>
          </a:p>
        </p:txBody>
      </p:sp>
      <p:sp>
        <p:nvSpPr>
          <p:cNvPr id="49" name="TextBox 48"/>
          <p:cNvSpPr txBox="1"/>
          <p:nvPr/>
        </p:nvSpPr>
        <p:spPr>
          <a:xfrm>
            <a:off x="2798064" y="6483096"/>
            <a:ext cx="1399032" cy="320040"/>
          </a:xfrm>
          <a:prstGeom prst="rect">
            <a:avLst/>
          </a:prstGeom>
          <a:noFill/>
        </p:spPr>
        <p:txBody>
          <a:bodyPr wrap="none" lIns="0" rIns="0" tIns="0" bIns="0">
            <a:spAutoFit/>
          </a:bodyPr>
          <a:lstStyle/>
          <a:p>
            <a:pPr algn="l">
              <a:lnSpc>
                <a:spcPts val="2240"/>
              </a:lnSpc>
              <a:spcAft>
                <a:spcPts val="0"/>
              </a:spcAft>
              <a:defRPr sz="2000" b="0">
                <a:solidFill>
                  <a:srgbClr val="182B3A"/>
                </a:solidFill>
                <a:latin typeface="Arial"/>
              </a:defRPr>
            </a:pPr>
            <a:r>
              <a:t>18</a:t>
            </a:r>
          </a:p>
        </p:txBody>
      </p:sp>
      <p:sp>
        <p:nvSpPr>
          <p:cNvPr id="50" name="Rectangle 49"/>
          <p:cNvSpPr/>
          <p:nvPr/>
        </p:nvSpPr>
        <p:spPr>
          <a:xfrm>
            <a:off x="2514600" y="6483096"/>
            <a:ext cx="219456" cy="27432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TextBox 50"/>
          <p:cNvSpPr txBox="1"/>
          <p:nvPr/>
        </p:nvSpPr>
        <p:spPr>
          <a:xfrm>
            <a:off x="2514600" y="6483096"/>
            <a:ext cx="219456" cy="274320"/>
          </a:xfrm>
          <a:prstGeom prst="rect">
            <a:avLst/>
          </a:prstGeom>
          <a:noFill/>
        </p:spPr>
        <p:txBody>
          <a:bodyPr wrap="none" lIns="0" rIns="0" tIns="0" bIns="0">
            <a:spAutoFit/>
          </a:bodyPr>
          <a:lstStyle/>
          <a:p>
            <a:pPr algn="ctr">
              <a:lnSpc>
                <a:spcPts val="2240"/>
              </a:lnSpc>
              <a:spcAft>
                <a:spcPts val="0"/>
              </a:spcAft>
              <a:defRPr sz="2000" b="0">
                <a:solidFill>
                  <a:srgbClr val="182B3A"/>
                </a:solidFill>
                <a:latin typeface="Arial"/>
              </a:defRPr>
            </a:pPr>
            <a:r>
              <a:t>=</a:t>
            </a:r>
          </a:p>
        </p:txBody>
      </p:sp>
      <p:sp>
        <p:nvSpPr>
          <p:cNvPr id="52" name="Rectangle 51"/>
          <p:cNvSpPr/>
          <p:nvPr/>
        </p:nvSpPr>
        <p:spPr>
          <a:xfrm>
            <a:off x="4983480" y="1627632"/>
            <a:ext cx="4631436" cy="1975104"/>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TextBox 52"/>
          <p:cNvSpPr txBox="1"/>
          <p:nvPr/>
        </p:nvSpPr>
        <p:spPr>
          <a:xfrm>
            <a:off x="5074920" y="1682496"/>
            <a:ext cx="4434840" cy="347472"/>
          </a:xfrm>
          <a:prstGeom prst="rect">
            <a:avLst/>
          </a:prstGeom>
          <a:noFill/>
        </p:spPr>
        <p:txBody>
          <a:bodyPr wrap="square" lIns="54864" rIns="54864" tIns="22860" bIns="22860">
            <a:spAutoFit/>
          </a:bodyPr>
          <a:lstStyle/>
          <a:p>
            <a:pPr>
              <a:lnSpc>
                <a:spcPts val="2205"/>
              </a:lnSpc>
              <a:spcBef>
                <a:spcPts val="0"/>
              </a:spcBef>
              <a:spcAft>
                <a:spcPts val="0"/>
              </a:spcAft>
              <a:defRPr sz="2100" b="1">
                <a:solidFill>
                  <a:srgbClr val="182B3A"/>
                </a:solidFill>
                <a:latin typeface="Arial"/>
              </a:defRPr>
            </a:pPr>
            <a:r>
              <a:t>1.  3x + 6 = 30</a:t>
            </a:r>
          </a:p>
        </p:txBody>
      </p:sp>
      <p:cxnSp>
        <p:nvCxnSpPr>
          <p:cNvPr id="54" name="Connector 53"/>
          <p:cNvCxnSpPr/>
          <p:nvPr/>
        </p:nvCxnSpPr>
        <p:spPr>
          <a:xfrm>
            <a:off x="7287768" y="2148840"/>
            <a:ext cx="0" cy="841248"/>
          </a:xfrm>
          <a:prstGeom prst="line">
            <a:avLst/>
          </a:prstGeom>
          <a:ln w="15240">
            <a:solidFill>
              <a:srgbClr val="8193A0"/>
            </a:solidFill>
          </a:ln>
          <a:effectLst/>
        </p:spPr>
        <p:style>
          <a:lnRef idx="2">
            <a:schemeClr val="accent1"/>
          </a:lnRef>
          <a:fillRef idx="0">
            <a:schemeClr val="accent1"/>
          </a:fillRef>
          <a:effectRef idx="1">
            <a:schemeClr val="accent1"/>
          </a:effectRef>
          <a:fontRef idx="minor">
            <a:schemeClr val="tx1"/>
          </a:fontRef>
        </p:style>
      </p:cxnSp>
      <p:sp>
        <p:nvSpPr>
          <p:cNvPr id="55" name="TextBox 54"/>
          <p:cNvSpPr txBox="1"/>
          <p:nvPr/>
        </p:nvSpPr>
        <p:spPr>
          <a:xfrm>
            <a:off x="5715000" y="2130552"/>
            <a:ext cx="1417320" cy="320040"/>
          </a:xfrm>
          <a:prstGeom prst="rect">
            <a:avLst/>
          </a:prstGeom>
          <a:noFill/>
        </p:spPr>
        <p:txBody>
          <a:bodyPr wrap="none" lIns="0" rIns="0" tIns="0" bIns="0">
            <a:spAutoFit/>
          </a:bodyPr>
          <a:lstStyle/>
          <a:p>
            <a:pPr algn="r">
              <a:lnSpc>
                <a:spcPts val="2240"/>
              </a:lnSpc>
              <a:spcAft>
                <a:spcPts val="0"/>
              </a:spcAft>
              <a:defRPr sz="2000" b="0">
                <a:solidFill>
                  <a:srgbClr val="182B3A"/>
                </a:solidFill>
                <a:latin typeface="Arial"/>
              </a:defRPr>
            </a:pPr>
            <a:r>
              <a:t>3x + 6</a:t>
            </a:r>
          </a:p>
        </p:txBody>
      </p:sp>
      <p:sp>
        <p:nvSpPr>
          <p:cNvPr id="56" name="TextBox 55"/>
          <p:cNvSpPr txBox="1"/>
          <p:nvPr/>
        </p:nvSpPr>
        <p:spPr>
          <a:xfrm>
            <a:off x="7461504" y="2130552"/>
            <a:ext cx="1399032" cy="320040"/>
          </a:xfrm>
          <a:prstGeom prst="rect">
            <a:avLst/>
          </a:prstGeom>
          <a:noFill/>
        </p:spPr>
        <p:txBody>
          <a:bodyPr wrap="none" lIns="0" rIns="0" tIns="0" bIns="0">
            <a:spAutoFit/>
          </a:bodyPr>
          <a:lstStyle/>
          <a:p>
            <a:pPr algn="l">
              <a:lnSpc>
                <a:spcPts val="2240"/>
              </a:lnSpc>
              <a:spcAft>
                <a:spcPts val="0"/>
              </a:spcAft>
              <a:defRPr sz="2000" b="0">
                <a:solidFill>
                  <a:srgbClr val="182B3A"/>
                </a:solidFill>
                <a:latin typeface="Arial"/>
              </a:defRPr>
            </a:pPr>
            <a:r>
              <a:t>30</a:t>
            </a:r>
          </a:p>
        </p:txBody>
      </p:sp>
      <p:sp>
        <p:nvSpPr>
          <p:cNvPr id="57" name="Rectangle 56"/>
          <p:cNvSpPr/>
          <p:nvPr/>
        </p:nvSpPr>
        <p:spPr>
          <a:xfrm>
            <a:off x="7178040" y="2130552"/>
            <a:ext cx="219456" cy="27432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 name="TextBox 57"/>
          <p:cNvSpPr txBox="1"/>
          <p:nvPr/>
        </p:nvSpPr>
        <p:spPr>
          <a:xfrm>
            <a:off x="7178040" y="2130552"/>
            <a:ext cx="219456" cy="274320"/>
          </a:xfrm>
          <a:prstGeom prst="rect">
            <a:avLst/>
          </a:prstGeom>
          <a:noFill/>
        </p:spPr>
        <p:txBody>
          <a:bodyPr wrap="none" lIns="0" rIns="0" tIns="0" bIns="0">
            <a:spAutoFit/>
          </a:bodyPr>
          <a:lstStyle/>
          <a:p>
            <a:pPr algn="ctr">
              <a:lnSpc>
                <a:spcPts val="2240"/>
              </a:lnSpc>
              <a:spcAft>
                <a:spcPts val="0"/>
              </a:spcAft>
              <a:defRPr sz="2000" b="0">
                <a:solidFill>
                  <a:srgbClr val="182B3A"/>
                </a:solidFill>
                <a:latin typeface="Arial"/>
              </a:defRPr>
            </a:pPr>
            <a:r>
              <a:t>=</a:t>
            </a:r>
          </a:p>
        </p:txBody>
      </p:sp>
      <p:sp>
        <p:nvSpPr>
          <p:cNvPr id="59" name="TextBox 58"/>
          <p:cNvSpPr txBox="1"/>
          <p:nvPr/>
        </p:nvSpPr>
        <p:spPr>
          <a:xfrm>
            <a:off x="5102352" y="2281428"/>
            <a:ext cx="594360" cy="219456"/>
          </a:xfrm>
          <a:prstGeom prst="rect">
            <a:avLst/>
          </a:prstGeom>
          <a:noFill/>
        </p:spPr>
        <p:txBody>
          <a:bodyPr wrap="none" lIns="0" rIns="0" tIns="0" bIns="0">
            <a:spAutoFit/>
          </a:bodyPr>
          <a:lstStyle/>
          <a:p>
            <a:pPr algn="l">
              <a:lnSpc>
                <a:spcPts val="1456"/>
              </a:lnSpc>
              <a:spcAft>
                <a:spcPts val="0"/>
              </a:spcAft>
              <a:defRPr sz="1300" b="0">
                <a:solidFill>
                  <a:srgbClr val="3559A2"/>
                </a:solidFill>
                <a:latin typeface="Arial"/>
              </a:defRPr>
            </a:pPr>
            <a:r>
              <a:t>− 6</a:t>
            </a:r>
          </a:p>
        </p:txBody>
      </p:sp>
      <p:sp>
        <p:nvSpPr>
          <p:cNvPr id="60" name="TextBox 59"/>
          <p:cNvSpPr txBox="1"/>
          <p:nvPr/>
        </p:nvSpPr>
        <p:spPr>
          <a:xfrm>
            <a:off x="8878824" y="2281428"/>
            <a:ext cx="594360" cy="219456"/>
          </a:xfrm>
          <a:prstGeom prst="rect">
            <a:avLst/>
          </a:prstGeom>
          <a:noFill/>
        </p:spPr>
        <p:txBody>
          <a:bodyPr wrap="none" lIns="0" rIns="0" tIns="0" bIns="0">
            <a:spAutoFit/>
          </a:bodyPr>
          <a:lstStyle/>
          <a:p>
            <a:pPr algn="r">
              <a:lnSpc>
                <a:spcPts val="1456"/>
              </a:lnSpc>
              <a:spcAft>
                <a:spcPts val="0"/>
              </a:spcAft>
              <a:defRPr sz="1300" b="0">
                <a:solidFill>
                  <a:srgbClr val="3559A2"/>
                </a:solidFill>
                <a:latin typeface="Arial"/>
              </a:defRPr>
            </a:pPr>
            <a:r>
              <a:t>+ 6</a:t>
            </a:r>
          </a:p>
        </p:txBody>
      </p:sp>
      <p:sp>
        <p:nvSpPr>
          <p:cNvPr id="61" name="TextBox 60"/>
          <p:cNvSpPr txBox="1"/>
          <p:nvPr/>
        </p:nvSpPr>
        <p:spPr>
          <a:xfrm>
            <a:off x="5715000" y="2404872"/>
            <a:ext cx="1417320" cy="320040"/>
          </a:xfrm>
          <a:prstGeom prst="rect">
            <a:avLst/>
          </a:prstGeom>
          <a:noFill/>
        </p:spPr>
        <p:txBody>
          <a:bodyPr wrap="none" lIns="0" rIns="0" tIns="0" bIns="0">
            <a:spAutoFit/>
          </a:bodyPr>
          <a:lstStyle/>
          <a:p>
            <a:pPr algn="r">
              <a:lnSpc>
                <a:spcPts val="2240"/>
              </a:lnSpc>
              <a:spcAft>
                <a:spcPts val="0"/>
              </a:spcAft>
              <a:defRPr sz="2000" b="0">
                <a:solidFill>
                  <a:srgbClr val="182B3A"/>
                </a:solidFill>
                <a:latin typeface="Arial"/>
              </a:defRPr>
            </a:pPr>
            <a:r>
              <a:t>3x</a:t>
            </a:r>
          </a:p>
        </p:txBody>
      </p:sp>
      <p:sp>
        <p:nvSpPr>
          <p:cNvPr id="62" name="TextBox 61"/>
          <p:cNvSpPr txBox="1"/>
          <p:nvPr/>
        </p:nvSpPr>
        <p:spPr>
          <a:xfrm>
            <a:off x="7461504" y="2404872"/>
            <a:ext cx="1399032" cy="320040"/>
          </a:xfrm>
          <a:prstGeom prst="rect">
            <a:avLst/>
          </a:prstGeom>
          <a:noFill/>
        </p:spPr>
        <p:txBody>
          <a:bodyPr wrap="none" lIns="0" rIns="0" tIns="0" bIns="0">
            <a:spAutoFit/>
          </a:bodyPr>
          <a:lstStyle/>
          <a:p>
            <a:pPr algn="l">
              <a:lnSpc>
                <a:spcPts val="2240"/>
              </a:lnSpc>
              <a:spcAft>
                <a:spcPts val="0"/>
              </a:spcAft>
              <a:defRPr sz="2000" b="0">
                <a:solidFill>
                  <a:srgbClr val="182B3A"/>
                </a:solidFill>
                <a:latin typeface="Arial"/>
              </a:defRPr>
            </a:pPr>
            <a:r>
              <a:t>36</a:t>
            </a:r>
          </a:p>
        </p:txBody>
      </p:sp>
      <p:sp>
        <p:nvSpPr>
          <p:cNvPr id="63" name="Rectangle 62"/>
          <p:cNvSpPr/>
          <p:nvPr/>
        </p:nvSpPr>
        <p:spPr>
          <a:xfrm>
            <a:off x="7178040" y="2404872"/>
            <a:ext cx="219456" cy="27432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4" name="TextBox 63"/>
          <p:cNvSpPr txBox="1"/>
          <p:nvPr/>
        </p:nvSpPr>
        <p:spPr>
          <a:xfrm>
            <a:off x="7178040" y="2404872"/>
            <a:ext cx="219456" cy="274320"/>
          </a:xfrm>
          <a:prstGeom prst="rect">
            <a:avLst/>
          </a:prstGeom>
          <a:noFill/>
        </p:spPr>
        <p:txBody>
          <a:bodyPr wrap="none" lIns="0" rIns="0" tIns="0" bIns="0">
            <a:spAutoFit/>
          </a:bodyPr>
          <a:lstStyle/>
          <a:p>
            <a:pPr algn="ctr">
              <a:lnSpc>
                <a:spcPts val="2240"/>
              </a:lnSpc>
              <a:spcAft>
                <a:spcPts val="0"/>
              </a:spcAft>
              <a:defRPr sz="2000" b="0">
                <a:solidFill>
                  <a:srgbClr val="182B3A"/>
                </a:solidFill>
                <a:latin typeface="Arial"/>
              </a:defRPr>
            </a:pPr>
            <a:r>
              <a:t>=</a:t>
            </a:r>
          </a:p>
        </p:txBody>
      </p:sp>
      <p:sp>
        <p:nvSpPr>
          <p:cNvPr id="65" name="TextBox 64"/>
          <p:cNvSpPr txBox="1"/>
          <p:nvPr/>
        </p:nvSpPr>
        <p:spPr>
          <a:xfrm>
            <a:off x="5102352" y="2555748"/>
            <a:ext cx="594360" cy="219456"/>
          </a:xfrm>
          <a:prstGeom prst="rect">
            <a:avLst/>
          </a:prstGeom>
          <a:noFill/>
        </p:spPr>
        <p:txBody>
          <a:bodyPr wrap="none" lIns="0" rIns="0" tIns="0" bIns="0">
            <a:spAutoFit/>
          </a:bodyPr>
          <a:lstStyle/>
          <a:p>
            <a:pPr algn="l">
              <a:lnSpc>
                <a:spcPts val="1456"/>
              </a:lnSpc>
              <a:spcAft>
                <a:spcPts val="0"/>
              </a:spcAft>
              <a:defRPr sz="1300" b="0">
                <a:solidFill>
                  <a:srgbClr val="3559A2"/>
                </a:solidFill>
                <a:latin typeface="Arial"/>
              </a:defRPr>
            </a:pPr>
            <a:r>
              <a:t>÷ 3</a:t>
            </a:r>
          </a:p>
        </p:txBody>
      </p:sp>
      <p:sp>
        <p:nvSpPr>
          <p:cNvPr id="66" name="TextBox 65"/>
          <p:cNvSpPr txBox="1"/>
          <p:nvPr/>
        </p:nvSpPr>
        <p:spPr>
          <a:xfrm>
            <a:off x="8878824" y="2555748"/>
            <a:ext cx="594360" cy="219456"/>
          </a:xfrm>
          <a:prstGeom prst="rect">
            <a:avLst/>
          </a:prstGeom>
          <a:noFill/>
        </p:spPr>
        <p:txBody>
          <a:bodyPr wrap="none" lIns="0" rIns="0" tIns="0" bIns="0">
            <a:spAutoFit/>
          </a:bodyPr>
          <a:lstStyle/>
          <a:p>
            <a:pPr algn="r">
              <a:lnSpc>
                <a:spcPts val="1456"/>
              </a:lnSpc>
              <a:spcAft>
                <a:spcPts val="0"/>
              </a:spcAft>
              <a:defRPr sz="1300" b="0">
                <a:solidFill>
                  <a:srgbClr val="3559A2"/>
                </a:solidFill>
                <a:latin typeface="Arial"/>
              </a:defRPr>
            </a:pPr>
            <a:r>
              <a:t>÷ 3</a:t>
            </a:r>
          </a:p>
        </p:txBody>
      </p:sp>
      <p:sp>
        <p:nvSpPr>
          <p:cNvPr id="67" name="TextBox 66"/>
          <p:cNvSpPr txBox="1"/>
          <p:nvPr/>
        </p:nvSpPr>
        <p:spPr>
          <a:xfrm>
            <a:off x="5715000" y="2679192"/>
            <a:ext cx="1417320" cy="320040"/>
          </a:xfrm>
          <a:prstGeom prst="rect">
            <a:avLst/>
          </a:prstGeom>
          <a:noFill/>
        </p:spPr>
        <p:txBody>
          <a:bodyPr wrap="none" lIns="0" rIns="0" tIns="0" bIns="0">
            <a:spAutoFit/>
          </a:bodyPr>
          <a:lstStyle/>
          <a:p>
            <a:pPr algn="r">
              <a:lnSpc>
                <a:spcPts val="2240"/>
              </a:lnSpc>
              <a:spcAft>
                <a:spcPts val="0"/>
              </a:spcAft>
              <a:defRPr sz="2000" b="0">
                <a:solidFill>
                  <a:srgbClr val="182B3A"/>
                </a:solidFill>
                <a:latin typeface="Arial"/>
              </a:defRPr>
            </a:pPr>
            <a:r>
              <a:t>x</a:t>
            </a:r>
          </a:p>
        </p:txBody>
      </p:sp>
      <p:sp>
        <p:nvSpPr>
          <p:cNvPr id="68" name="TextBox 67"/>
          <p:cNvSpPr txBox="1"/>
          <p:nvPr/>
        </p:nvSpPr>
        <p:spPr>
          <a:xfrm>
            <a:off x="7461504" y="2679192"/>
            <a:ext cx="1399032" cy="320040"/>
          </a:xfrm>
          <a:prstGeom prst="rect">
            <a:avLst/>
          </a:prstGeom>
          <a:noFill/>
        </p:spPr>
        <p:txBody>
          <a:bodyPr wrap="none" lIns="0" rIns="0" tIns="0" bIns="0">
            <a:spAutoFit/>
          </a:bodyPr>
          <a:lstStyle/>
          <a:p>
            <a:pPr algn="l">
              <a:lnSpc>
                <a:spcPts val="2240"/>
              </a:lnSpc>
              <a:spcAft>
                <a:spcPts val="0"/>
              </a:spcAft>
              <a:defRPr sz="2000" b="0">
                <a:solidFill>
                  <a:srgbClr val="182B3A"/>
                </a:solidFill>
                <a:latin typeface="Arial"/>
              </a:defRPr>
            </a:pPr>
            <a:r>
              <a:t>12</a:t>
            </a:r>
          </a:p>
        </p:txBody>
      </p:sp>
      <p:sp>
        <p:nvSpPr>
          <p:cNvPr id="69" name="Rectangle 68"/>
          <p:cNvSpPr/>
          <p:nvPr/>
        </p:nvSpPr>
        <p:spPr>
          <a:xfrm>
            <a:off x="7178040" y="2679192"/>
            <a:ext cx="219456" cy="27432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0" name="TextBox 69"/>
          <p:cNvSpPr txBox="1"/>
          <p:nvPr/>
        </p:nvSpPr>
        <p:spPr>
          <a:xfrm>
            <a:off x="7178040" y="2679192"/>
            <a:ext cx="219456" cy="274320"/>
          </a:xfrm>
          <a:prstGeom prst="rect">
            <a:avLst/>
          </a:prstGeom>
          <a:noFill/>
        </p:spPr>
        <p:txBody>
          <a:bodyPr wrap="none" lIns="0" rIns="0" tIns="0" bIns="0">
            <a:spAutoFit/>
          </a:bodyPr>
          <a:lstStyle/>
          <a:p>
            <a:pPr algn="ctr">
              <a:lnSpc>
                <a:spcPts val="2240"/>
              </a:lnSpc>
              <a:spcAft>
                <a:spcPts val="0"/>
              </a:spcAft>
              <a:defRPr sz="2000" b="0">
                <a:solidFill>
                  <a:srgbClr val="182B3A"/>
                </a:solidFill>
                <a:latin typeface="Arial"/>
              </a:defRPr>
            </a:pPr>
            <a:r>
              <a:t>=</a:t>
            </a:r>
          </a:p>
        </p:txBody>
      </p:sp>
      <p:sp>
        <p:nvSpPr>
          <p:cNvPr id="71" name="Rectangle 70"/>
          <p:cNvSpPr/>
          <p:nvPr/>
        </p:nvSpPr>
        <p:spPr>
          <a:xfrm>
            <a:off x="4983480" y="3666744"/>
            <a:ext cx="4631436" cy="1975104"/>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2" name="TextBox 71"/>
          <p:cNvSpPr txBox="1"/>
          <p:nvPr/>
        </p:nvSpPr>
        <p:spPr>
          <a:xfrm>
            <a:off x="5074920" y="3721607"/>
            <a:ext cx="4434840" cy="347472"/>
          </a:xfrm>
          <a:prstGeom prst="rect">
            <a:avLst/>
          </a:prstGeom>
          <a:noFill/>
        </p:spPr>
        <p:txBody>
          <a:bodyPr wrap="square" lIns="54864" rIns="54864" tIns="22860" bIns="22860">
            <a:spAutoFit/>
          </a:bodyPr>
          <a:lstStyle/>
          <a:p>
            <a:pPr>
              <a:lnSpc>
                <a:spcPts val="2205"/>
              </a:lnSpc>
              <a:spcBef>
                <a:spcPts val="0"/>
              </a:spcBef>
              <a:spcAft>
                <a:spcPts val="0"/>
              </a:spcAft>
              <a:defRPr sz="2100" b="1">
                <a:solidFill>
                  <a:srgbClr val="182B3A"/>
                </a:solidFill>
                <a:latin typeface="Arial"/>
              </a:defRPr>
            </a:pPr>
            <a:r>
              <a:t>2.  4x − 8 = 16</a:t>
            </a:r>
          </a:p>
        </p:txBody>
      </p:sp>
      <p:cxnSp>
        <p:nvCxnSpPr>
          <p:cNvPr id="73" name="Connector 72"/>
          <p:cNvCxnSpPr/>
          <p:nvPr/>
        </p:nvCxnSpPr>
        <p:spPr>
          <a:xfrm>
            <a:off x="7287768" y="4187951"/>
            <a:ext cx="0" cy="841249"/>
          </a:xfrm>
          <a:prstGeom prst="line">
            <a:avLst/>
          </a:prstGeom>
          <a:ln w="15240">
            <a:solidFill>
              <a:srgbClr val="8193A0"/>
            </a:solidFill>
          </a:ln>
          <a:effectLst/>
        </p:spPr>
        <p:style>
          <a:lnRef idx="2">
            <a:schemeClr val="accent1"/>
          </a:lnRef>
          <a:fillRef idx="0">
            <a:schemeClr val="accent1"/>
          </a:fillRef>
          <a:effectRef idx="1">
            <a:schemeClr val="accent1"/>
          </a:effectRef>
          <a:fontRef idx="minor">
            <a:schemeClr val="tx1"/>
          </a:fontRef>
        </p:style>
      </p:cxnSp>
      <p:sp>
        <p:nvSpPr>
          <p:cNvPr id="74" name="TextBox 73"/>
          <p:cNvSpPr txBox="1"/>
          <p:nvPr/>
        </p:nvSpPr>
        <p:spPr>
          <a:xfrm>
            <a:off x="5715000" y="4169663"/>
            <a:ext cx="1417320" cy="320040"/>
          </a:xfrm>
          <a:prstGeom prst="rect">
            <a:avLst/>
          </a:prstGeom>
          <a:noFill/>
        </p:spPr>
        <p:txBody>
          <a:bodyPr wrap="none" lIns="0" rIns="0" tIns="0" bIns="0">
            <a:spAutoFit/>
          </a:bodyPr>
          <a:lstStyle/>
          <a:p>
            <a:pPr algn="r">
              <a:lnSpc>
                <a:spcPts val="2240"/>
              </a:lnSpc>
              <a:spcAft>
                <a:spcPts val="0"/>
              </a:spcAft>
              <a:defRPr sz="2000" b="0">
                <a:solidFill>
                  <a:srgbClr val="182B3A"/>
                </a:solidFill>
                <a:latin typeface="Arial"/>
              </a:defRPr>
            </a:pPr>
            <a:r>
              <a:t>4x − 8</a:t>
            </a:r>
          </a:p>
        </p:txBody>
      </p:sp>
      <p:sp>
        <p:nvSpPr>
          <p:cNvPr id="75" name="TextBox 74"/>
          <p:cNvSpPr txBox="1"/>
          <p:nvPr/>
        </p:nvSpPr>
        <p:spPr>
          <a:xfrm>
            <a:off x="7461504" y="4169663"/>
            <a:ext cx="1399032" cy="320040"/>
          </a:xfrm>
          <a:prstGeom prst="rect">
            <a:avLst/>
          </a:prstGeom>
          <a:noFill/>
        </p:spPr>
        <p:txBody>
          <a:bodyPr wrap="none" lIns="0" rIns="0" tIns="0" bIns="0">
            <a:spAutoFit/>
          </a:bodyPr>
          <a:lstStyle/>
          <a:p>
            <a:pPr algn="l">
              <a:lnSpc>
                <a:spcPts val="2240"/>
              </a:lnSpc>
              <a:spcAft>
                <a:spcPts val="0"/>
              </a:spcAft>
              <a:defRPr sz="2000" b="0">
                <a:solidFill>
                  <a:srgbClr val="182B3A"/>
                </a:solidFill>
                <a:latin typeface="Arial"/>
              </a:defRPr>
            </a:pPr>
            <a:r>
              <a:t>16</a:t>
            </a:r>
          </a:p>
        </p:txBody>
      </p:sp>
      <p:sp>
        <p:nvSpPr>
          <p:cNvPr id="76" name="Rectangle 75"/>
          <p:cNvSpPr/>
          <p:nvPr/>
        </p:nvSpPr>
        <p:spPr>
          <a:xfrm>
            <a:off x="7178040" y="4169663"/>
            <a:ext cx="219456" cy="27432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7" name="TextBox 76"/>
          <p:cNvSpPr txBox="1"/>
          <p:nvPr/>
        </p:nvSpPr>
        <p:spPr>
          <a:xfrm>
            <a:off x="7178040" y="4169663"/>
            <a:ext cx="219456" cy="274320"/>
          </a:xfrm>
          <a:prstGeom prst="rect">
            <a:avLst/>
          </a:prstGeom>
          <a:noFill/>
        </p:spPr>
        <p:txBody>
          <a:bodyPr wrap="none" lIns="0" rIns="0" tIns="0" bIns="0">
            <a:spAutoFit/>
          </a:bodyPr>
          <a:lstStyle/>
          <a:p>
            <a:pPr algn="ctr">
              <a:lnSpc>
                <a:spcPts val="2240"/>
              </a:lnSpc>
              <a:spcAft>
                <a:spcPts val="0"/>
              </a:spcAft>
              <a:defRPr sz="2000" b="0">
                <a:solidFill>
                  <a:srgbClr val="182B3A"/>
                </a:solidFill>
                <a:latin typeface="Arial"/>
              </a:defRPr>
            </a:pPr>
            <a:r>
              <a:t>=</a:t>
            </a:r>
          </a:p>
        </p:txBody>
      </p:sp>
      <p:sp>
        <p:nvSpPr>
          <p:cNvPr id="78" name="TextBox 77"/>
          <p:cNvSpPr txBox="1"/>
          <p:nvPr/>
        </p:nvSpPr>
        <p:spPr>
          <a:xfrm>
            <a:off x="5102352" y="4320540"/>
            <a:ext cx="594360" cy="219456"/>
          </a:xfrm>
          <a:prstGeom prst="rect">
            <a:avLst/>
          </a:prstGeom>
          <a:noFill/>
        </p:spPr>
        <p:txBody>
          <a:bodyPr wrap="none" lIns="0" rIns="0" tIns="0" bIns="0">
            <a:spAutoFit/>
          </a:bodyPr>
          <a:lstStyle/>
          <a:p>
            <a:pPr algn="l">
              <a:lnSpc>
                <a:spcPts val="1456"/>
              </a:lnSpc>
              <a:spcAft>
                <a:spcPts val="0"/>
              </a:spcAft>
              <a:defRPr sz="1300" b="0">
                <a:solidFill>
                  <a:srgbClr val="3559A2"/>
                </a:solidFill>
                <a:latin typeface="Arial"/>
              </a:defRPr>
            </a:pPr>
            <a:r>
              <a:t>+ 8</a:t>
            </a:r>
          </a:p>
        </p:txBody>
      </p:sp>
      <p:sp>
        <p:nvSpPr>
          <p:cNvPr id="79" name="TextBox 78"/>
          <p:cNvSpPr txBox="1"/>
          <p:nvPr/>
        </p:nvSpPr>
        <p:spPr>
          <a:xfrm>
            <a:off x="8878824" y="4320540"/>
            <a:ext cx="594360" cy="219456"/>
          </a:xfrm>
          <a:prstGeom prst="rect">
            <a:avLst/>
          </a:prstGeom>
          <a:noFill/>
        </p:spPr>
        <p:txBody>
          <a:bodyPr wrap="none" lIns="0" rIns="0" tIns="0" bIns="0">
            <a:spAutoFit/>
          </a:bodyPr>
          <a:lstStyle/>
          <a:p>
            <a:pPr algn="r">
              <a:lnSpc>
                <a:spcPts val="1456"/>
              </a:lnSpc>
              <a:spcAft>
                <a:spcPts val="0"/>
              </a:spcAft>
              <a:defRPr sz="1300" b="0">
                <a:solidFill>
                  <a:srgbClr val="3559A2"/>
                </a:solidFill>
                <a:latin typeface="Arial"/>
              </a:defRPr>
            </a:pPr>
            <a:r>
              <a:t>− 8</a:t>
            </a:r>
          </a:p>
        </p:txBody>
      </p:sp>
      <p:sp>
        <p:nvSpPr>
          <p:cNvPr id="80" name="TextBox 79"/>
          <p:cNvSpPr txBox="1"/>
          <p:nvPr/>
        </p:nvSpPr>
        <p:spPr>
          <a:xfrm>
            <a:off x="5715000" y="4443983"/>
            <a:ext cx="1417320" cy="320040"/>
          </a:xfrm>
          <a:prstGeom prst="rect">
            <a:avLst/>
          </a:prstGeom>
          <a:noFill/>
        </p:spPr>
        <p:txBody>
          <a:bodyPr wrap="none" lIns="0" rIns="0" tIns="0" bIns="0">
            <a:spAutoFit/>
          </a:bodyPr>
          <a:lstStyle/>
          <a:p>
            <a:pPr algn="r">
              <a:lnSpc>
                <a:spcPts val="2240"/>
              </a:lnSpc>
              <a:spcAft>
                <a:spcPts val="0"/>
              </a:spcAft>
              <a:defRPr sz="2000" b="0">
                <a:solidFill>
                  <a:srgbClr val="182B3A"/>
                </a:solidFill>
                <a:latin typeface="Arial"/>
              </a:defRPr>
            </a:pPr>
            <a:r>
              <a:t>4x</a:t>
            </a:r>
          </a:p>
        </p:txBody>
      </p:sp>
      <p:sp>
        <p:nvSpPr>
          <p:cNvPr id="81" name="TextBox 80"/>
          <p:cNvSpPr txBox="1"/>
          <p:nvPr/>
        </p:nvSpPr>
        <p:spPr>
          <a:xfrm>
            <a:off x="7461504" y="4443983"/>
            <a:ext cx="1399032" cy="320040"/>
          </a:xfrm>
          <a:prstGeom prst="rect">
            <a:avLst/>
          </a:prstGeom>
          <a:noFill/>
        </p:spPr>
        <p:txBody>
          <a:bodyPr wrap="none" lIns="0" rIns="0" tIns="0" bIns="0">
            <a:spAutoFit/>
          </a:bodyPr>
          <a:lstStyle/>
          <a:p>
            <a:pPr algn="l">
              <a:lnSpc>
                <a:spcPts val="2240"/>
              </a:lnSpc>
              <a:spcAft>
                <a:spcPts val="0"/>
              </a:spcAft>
              <a:defRPr sz="2000" b="0">
                <a:solidFill>
                  <a:srgbClr val="182B3A"/>
                </a:solidFill>
                <a:latin typeface="Arial"/>
              </a:defRPr>
            </a:pPr>
            <a:r>
              <a:t>8</a:t>
            </a:r>
          </a:p>
        </p:txBody>
      </p:sp>
      <p:sp>
        <p:nvSpPr>
          <p:cNvPr id="82" name="Rectangle 81"/>
          <p:cNvSpPr/>
          <p:nvPr/>
        </p:nvSpPr>
        <p:spPr>
          <a:xfrm>
            <a:off x="7178040" y="4443983"/>
            <a:ext cx="219456" cy="27432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3" name="TextBox 82"/>
          <p:cNvSpPr txBox="1"/>
          <p:nvPr/>
        </p:nvSpPr>
        <p:spPr>
          <a:xfrm>
            <a:off x="7178040" y="4443983"/>
            <a:ext cx="219456" cy="274320"/>
          </a:xfrm>
          <a:prstGeom prst="rect">
            <a:avLst/>
          </a:prstGeom>
          <a:noFill/>
        </p:spPr>
        <p:txBody>
          <a:bodyPr wrap="none" lIns="0" rIns="0" tIns="0" bIns="0">
            <a:spAutoFit/>
          </a:bodyPr>
          <a:lstStyle/>
          <a:p>
            <a:pPr algn="ctr">
              <a:lnSpc>
                <a:spcPts val="2240"/>
              </a:lnSpc>
              <a:spcAft>
                <a:spcPts val="0"/>
              </a:spcAft>
              <a:defRPr sz="2000" b="0">
                <a:solidFill>
                  <a:srgbClr val="182B3A"/>
                </a:solidFill>
                <a:latin typeface="Arial"/>
              </a:defRPr>
            </a:pPr>
            <a:r>
              <a:t>=</a:t>
            </a:r>
          </a:p>
        </p:txBody>
      </p:sp>
      <p:sp>
        <p:nvSpPr>
          <p:cNvPr id="84" name="TextBox 83"/>
          <p:cNvSpPr txBox="1"/>
          <p:nvPr/>
        </p:nvSpPr>
        <p:spPr>
          <a:xfrm>
            <a:off x="5102352" y="4594859"/>
            <a:ext cx="594360" cy="219456"/>
          </a:xfrm>
          <a:prstGeom prst="rect">
            <a:avLst/>
          </a:prstGeom>
          <a:noFill/>
        </p:spPr>
        <p:txBody>
          <a:bodyPr wrap="none" lIns="0" rIns="0" tIns="0" bIns="0">
            <a:spAutoFit/>
          </a:bodyPr>
          <a:lstStyle/>
          <a:p>
            <a:pPr algn="l">
              <a:lnSpc>
                <a:spcPts val="1456"/>
              </a:lnSpc>
              <a:spcAft>
                <a:spcPts val="0"/>
              </a:spcAft>
              <a:defRPr sz="1300" b="0">
                <a:solidFill>
                  <a:srgbClr val="3559A2"/>
                </a:solidFill>
                <a:latin typeface="Arial"/>
              </a:defRPr>
            </a:pPr>
            <a:r>
              <a:t>÷ 4</a:t>
            </a:r>
          </a:p>
        </p:txBody>
      </p:sp>
      <p:sp>
        <p:nvSpPr>
          <p:cNvPr id="85" name="TextBox 84"/>
          <p:cNvSpPr txBox="1"/>
          <p:nvPr/>
        </p:nvSpPr>
        <p:spPr>
          <a:xfrm>
            <a:off x="8878824" y="4594859"/>
            <a:ext cx="594360" cy="219456"/>
          </a:xfrm>
          <a:prstGeom prst="rect">
            <a:avLst/>
          </a:prstGeom>
          <a:noFill/>
        </p:spPr>
        <p:txBody>
          <a:bodyPr wrap="none" lIns="0" rIns="0" tIns="0" bIns="0">
            <a:spAutoFit/>
          </a:bodyPr>
          <a:lstStyle/>
          <a:p>
            <a:pPr algn="r">
              <a:lnSpc>
                <a:spcPts val="1456"/>
              </a:lnSpc>
              <a:spcAft>
                <a:spcPts val="0"/>
              </a:spcAft>
              <a:defRPr sz="1300" b="0">
                <a:solidFill>
                  <a:srgbClr val="3559A2"/>
                </a:solidFill>
                <a:latin typeface="Arial"/>
              </a:defRPr>
            </a:pPr>
            <a:r>
              <a:t>÷ 4</a:t>
            </a:r>
          </a:p>
        </p:txBody>
      </p:sp>
      <p:sp>
        <p:nvSpPr>
          <p:cNvPr id="86" name="TextBox 85"/>
          <p:cNvSpPr txBox="1"/>
          <p:nvPr/>
        </p:nvSpPr>
        <p:spPr>
          <a:xfrm>
            <a:off x="5715000" y="4718303"/>
            <a:ext cx="1417320" cy="320040"/>
          </a:xfrm>
          <a:prstGeom prst="rect">
            <a:avLst/>
          </a:prstGeom>
          <a:noFill/>
        </p:spPr>
        <p:txBody>
          <a:bodyPr wrap="none" lIns="0" rIns="0" tIns="0" bIns="0">
            <a:spAutoFit/>
          </a:bodyPr>
          <a:lstStyle/>
          <a:p>
            <a:pPr algn="r">
              <a:lnSpc>
                <a:spcPts val="2240"/>
              </a:lnSpc>
              <a:spcAft>
                <a:spcPts val="0"/>
              </a:spcAft>
              <a:defRPr sz="2000" b="0">
                <a:solidFill>
                  <a:srgbClr val="182B3A"/>
                </a:solidFill>
                <a:latin typeface="Arial"/>
              </a:defRPr>
            </a:pPr>
            <a:r>
              <a:t>x</a:t>
            </a:r>
          </a:p>
        </p:txBody>
      </p:sp>
      <p:sp>
        <p:nvSpPr>
          <p:cNvPr id="87" name="TextBox 86"/>
          <p:cNvSpPr txBox="1"/>
          <p:nvPr/>
        </p:nvSpPr>
        <p:spPr>
          <a:xfrm>
            <a:off x="7461504" y="4718303"/>
            <a:ext cx="1399032" cy="320040"/>
          </a:xfrm>
          <a:prstGeom prst="rect">
            <a:avLst/>
          </a:prstGeom>
          <a:noFill/>
        </p:spPr>
        <p:txBody>
          <a:bodyPr wrap="none" lIns="0" rIns="0" tIns="0" bIns="0">
            <a:spAutoFit/>
          </a:bodyPr>
          <a:lstStyle/>
          <a:p>
            <a:pPr algn="l">
              <a:lnSpc>
                <a:spcPts val="2240"/>
              </a:lnSpc>
              <a:spcAft>
                <a:spcPts val="0"/>
              </a:spcAft>
              <a:defRPr sz="2000" b="0">
                <a:solidFill>
                  <a:srgbClr val="182B3A"/>
                </a:solidFill>
                <a:latin typeface="Arial"/>
              </a:defRPr>
            </a:pPr>
            <a:r>
              <a:t>2</a:t>
            </a:r>
          </a:p>
        </p:txBody>
      </p:sp>
      <p:sp>
        <p:nvSpPr>
          <p:cNvPr id="88" name="Rectangle 87"/>
          <p:cNvSpPr/>
          <p:nvPr/>
        </p:nvSpPr>
        <p:spPr>
          <a:xfrm>
            <a:off x="7178040" y="4718303"/>
            <a:ext cx="219456" cy="27432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9" name="TextBox 88"/>
          <p:cNvSpPr txBox="1"/>
          <p:nvPr/>
        </p:nvSpPr>
        <p:spPr>
          <a:xfrm>
            <a:off x="7178040" y="4718303"/>
            <a:ext cx="219456" cy="274320"/>
          </a:xfrm>
          <a:prstGeom prst="rect">
            <a:avLst/>
          </a:prstGeom>
          <a:noFill/>
        </p:spPr>
        <p:txBody>
          <a:bodyPr wrap="none" lIns="0" rIns="0" tIns="0" bIns="0">
            <a:spAutoFit/>
          </a:bodyPr>
          <a:lstStyle/>
          <a:p>
            <a:pPr algn="ctr">
              <a:lnSpc>
                <a:spcPts val="2240"/>
              </a:lnSpc>
              <a:spcAft>
                <a:spcPts val="0"/>
              </a:spcAft>
              <a:defRPr sz="2000" b="0">
                <a:solidFill>
                  <a:srgbClr val="182B3A"/>
                </a:solidFill>
                <a:latin typeface="Arial"/>
              </a:defRPr>
            </a:pPr>
            <a:r>
              <a:t>=</a:t>
            </a:r>
          </a:p>
        </p:txBody>
      </p:sp>
      <p:sp>
        <p:nvSpPr>
          <p:cNvPr id="90" name="Rectangle 89"/>
          <p:cNvSpPr/>
          <p:nvPr/>
        </p:nvSpPr>
        <p:spPr>
          <a:xfrm>
            <a:off x="4983480" y="5705856"/>
            <a:ext cx="4631436" cy="1975104"/>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1" name="TextBox 90"/>
          <p:cNvSpPr txBox="1"/>
          <p:nvPr/>
        </p:nvSpPr>
        <p:spPr>
          <a:xfrm>
            <a:off x="5074920" y="5760720"/>
            <a:ext cx="4434840" cy="347472"/>
          </a:xfrm>
          <a:prstGeom prst="rect">
            <a:avLst/>
          </a:prstGeom>
          <a:noFill/>
        </p:spPr>
        <p:txBody>
          <a:bodyPr wrap="square" lIns="54864" rIns="54864" tIns="22860" bIns="22860">
            <a:spAutoFit/>
          </a:bodyPr>
          <a:lstStyle/>
          <a:p>
            <a:pPr>
              <a:lnSpc>
                <a:spcPts val="2205"/>
              </a:lnSpc>
              <a:spcBef>
                <a:spcPts val="0"/>
              </a:spcBef>
              <a:spcAft>
                <a:spcPts val="0"/>
              </a:spcAft>
              <a:defRPr sz="2100" b="1">
                <a:solidFill>
                  <a:srgbClr val="182B3A"/>
                </a:solidFill>
                <a:latin typeface="Arial"/>
              </a:defRPr>
            </a:pPr>
            <a:r>
              <a:t>3.  5x + 10 = 45</a:t>
            </a:r>
          </a:p>
        </p:txBody>
      </p:sp>
      <p:cxnSp>
        <p:nvCxnSpPr>
          <p:cNvPr id="92" name="Connector 91"/>
          <p:cNvCxnSpPr/>
          <p:nvPr/>
        </p:nvCxnSpPr>
        <p:spPr>
          <a:xfrm>
            <a:off x="7287768" y="6227064"/>
            <a:ext cx="0" cy="841248"/>
          </a:xfrm>
          <a:prstGeom prst="line">
            <a:avLst/>
          </a:prstGeom>
          <a:ln w="15240">
            <a:solidFill>
              <a:srgbClr val="8193A0"/>
            </a:solidFill>
          </a:ln>
          <a:effectLst/>
        </p:spPr>
        <p:style>
          <a:lnRef idx="2">
            <a:schemeClr val="accent1"/>
          </a:lnRef>
          <a:fillRef idx="0">
            <a:schemeClr val="accent1"/>
          </a:fillRef>
          <a:effectRef idx="1">
            <a:schemeClr val="accent1"/>
          </a:effectRef>
          <a:fontRef idx="minor">
            <a:schemeClr val="tx1"/>
          </a:fontRef>
        </p:style>
      </p:cxnSp>
      <p:sp>
        <p:nvSpPr>
          <p:cNvPr id="93" name="TextBox 92"/>
          <p:cNvSpPr txBox="1"/>
          <p:nvPr/>
        </p:nvSpPr>
        <p:spPr>
          <a:xfrm>
            <a:off x="5715000" y="6208776"/>
            <a:ext cx="1417320" cy="320040"/>
          </a:xfrm>
          <a:prstGeom prst="rect">
            <a:avLst/>
          </a:prstGeom>
          <a:noFill/>
        </p:spPr>
        <p:txBody>
          <a:bodyPr wrap="none" lIns="0" rIns="0" tIns="0" bIns="0">
            <a:spAutoFit/>
          </a:bodyPr>
          <a:lstStyle/>
          <a:p>
            <a:pPr algn="r">
              <a:lnSpc>
                <a:spcPts val="2240"/>
              </a:lnSpc>
              <a:spcAft>
                <a:spcPts val="0"/>
              </a:spcAft>
              <a:defRPr sz="2000" b="0">
                <a:solidFill>
                  <a:srgbClr val="182B3A"/>
                </a:solidFill>
                <a:latin typeface="Arial"/>
              </a:defRPr>
            </a:pPr>
            <a:r>
              <a:t>5x + 10</a:t>
            </a:r>
          </a:p>
        </p:txBody>
      </p:sp>
      <p:sp>
        <p:nvSpPr>
          <p:cNvPr id="94" name="TextBox 93"/>
          <p:cNvSpPr txBox="1"/>
          <p:nvPr/>
        </p:nvSpPr>
        <p:spPr>
          <a:xfrm>
            <a:off x="7461504" y="6208776"/>
            <a:ext cx="1399032" cy="320040"/>
          </a:xfrm>
          <a:prstGeom prst="rect">
            <a:avLst/>
          </a:prstGeom>
          <a:noFill/>
        </p:spPr>
        <p:txBody>
          <a:bodyPr wrap="none" lIns="0" rIns="0" tIns="0" bIns="0">
            <a:spAutoFit/>
          </a:bodyPr>
          <a:lstStyle/>
          <a:p>
            <a:pPr algn="l">
              <a:lnSpc>
                <a:spcPts val="2240"/>
              </a:lnSpc>
              <a:spcAft>
                <a:spcPts val="0"/>
              </a:spcAft>
              <a:defRPr sz="2000" b="0">
                <a:solidFill>
                  <a:srgbClr val="182B3A"/>
                </a:solidFill>
                <a:latin typeface="Arial"/>
              </a:defRPr>
            </a:pPr>
            <a:r>
              <a:t>45</a:t>
            </a:r>
          </a:p>
        </p:txBody>
      </p:sp>
      <p:sp>
        <p:nvSpPr>
          <p:cNvPr id="95" name="Rectangle 94"/>
          <p:cNvSpPr/>
          <p:nvPr/>
        </p:nvSpPr>
        <p:spPr>
          <a:xfrm>
            <a:off x="7178040" y="6208776"/>
            <a:ext cx="219456" cy="27432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6" name="TextBox 95"/>
          <p:cNvSpPr txBox="1"/>
          <p:nvPr/>
        </p:nvSpPr>
        <p:spPr>
          <a:xfrm>
            <a:off x="7178040" y="6208776"/>
            <a:ext cx="219456" cy="274320"/>
          </a:xfrm>
          <a:prstGeom prst="rect">
            <a:avLst/>
          </a:prstGeom>
          <a:noFill/>
        </p:spPr>
        <p:txBody>
          <a:bodyPr wrap="none" lIns="0" rIns="0" tIns="0" bIns="0">
            <a:spAutoFit/>
          </a:bodyPr>
          <a:lstStyle/>
          <a:p>
            <a:pPr algn="ctr">
              <a:lnSpc>
                <a:spcPts val="2240"/>
              </a:lnSpc>
              <a:spcAft>
                <a:spcPts val="0"/>
              </a:spcAft>
              <a:defRPr sz="2000" b="0">
                <a:solidFill>
                  <a:srgbClr val="182B3A"/>
                </a:solidFill>
                <a:latin typeface="Arial"/>
              </a:defRPr>
            </a:pPr>
            <a:r>
              <a:t>=</a:t>
            </a:r>
          </a:p>
        </p:txBody>
      </p:sp>
      <p:sp>
        <p:nvSpPr>
          <p:cNvPr id="97" name="TextBox 96"/>
          <p:cNvSpPr txBox="1"/>
          <p:nvPr/>
        </p:nvSpPr>
        <p:spPr>
          <a:xfrm>
            <a:off x="5102352" y="6359652"/>
            <a:ext cx="594360" cy="219456"/>
          </a:xfrm>
          <a:prstGeom prst="rect">
            <a:avLst/>
          </a:prstGeom>
          <a:noFill/>
        </p:spPr>
        <p:txBody>
          <a:bodyPr wrap="none" lIns="0" rIns="0" tIns="0" bIns="0">
            <a:spAutoFit/>
          </a:bodyPr>
          <a:lstStyle/>
          <a:p>
            <a:pPr algn="l">
              <a:lnSpc>
                <a:spcPts val="1456"/>
              </a:lnSpc>
              <a:spcAft>
                <a:spcPts val="0"/>
              </a:spcAft>
              <a:defRPr sz="1300" b="0">
                <a:solidFill>
                  <a:srgbClr val="3559A2"/>
                </a:solidFill>
                <a:latin typeface="Arial"/>
              </a:defRPr>
            </a:pPr>
            <a:r>
              <a:t>÷ 5</a:t>
            </a:r>
          </a:p>
        </p:txBody>
      </p:sp>
      <p:sp>
        <p:nvSpPr>
          <p:cNvPr id="98" name="TextBox 97"/>
          <p:cNvSpPr txBox="1"/>
          <p:nvPr/>
        </p:nvSpPr>
        <p:spPr>
          <a:xfrm>
            <a:off x="8878824" y="6359652"/>
            <a:ext cx="594360" cy="219456"/>
          </a:xfrm>
          <a:prstGeom prst="rect">
            <a:avLst/>
          </a:prstGeom>
          <a:noFill/>
        </p:spPr>
        <p:txBody>
          <a:bodyPr wrap="none" lIns="0" rIns="0" tIns="0" bIns="0">
            <a:spAutoFit/>
          </a:bodyPr>
          <a:lstStyle/>
          <a:p>
            <a:pPr algn="r">
              <a:lnSpc>
                <a:spcPts val="1456"/>
              </a:lnSpc>
              <a:spcAft>
                <a:spcPts val="0"/>
              </a:spcAft>
              <a:defRPr sz="1300" b="0">
                <a:solidFill>
                  <a:srgbClr val="3559A2"/>
                </a:solidFill>
                <a:latin typeface="Arial"/>
              </a:defRPr>
            </a:pPr>
            <a:r>
              <a:t>÷ 5</a:t>
            </a:r>
          </a:p>
        </p:txBody>
      </p:sp>
      <p:sp>
        <p:nvSpPr>
          <p:cNvPr id="99" name="TextBox 98"/>
          <p:cNvSpPr txBox="1"/>
          <p:nvPr/>
        </p:nvSpPr>
        <p:spPr>
          <a:xfrm>
            <a:off x="5715000" y="6483096"/>
            <a:ext cx="1417320" cy="320040"/>
          </a:xfrm>
          <a:prstGeom prst="rect">
            <a:avLst/>
          </a:prstGeom>
          <a:noFill/>
        </p:spPr>
        <p:txBody>
          <a:bodyPr wrap="none" lIns="0" rIns="0" tIns="0" bIns="0">
            <a:spAutoFit/>
          </a:bodyPr>
          <a:lstStyle/>
          <a:p>
            <a:pPr algn="r">
              <a:lnSpc>
                <a:spcPts val="2240"/>
              </a:lnSpc>
              <a:spcAft>
                <a:spcPts val="0"/>
              </a:spcAft>
              <a:defRPr sz="2000" b="0">
                <a:solidFill>
                  <a:srgbClr val="182B3A"/>
                </a:solidFill>
                <a:latin typeface="Arial"/>
              </a:defRPr>
            </a:pPr>
            <a:r>
              <a:t>x + 10</a:t>
            </a:r>
          </a:p>
        </p:txBody>
      </p:sp>
      <p:sp>
        <p:nvSpPr>
          <p:cNvPr id="100" name="TextBox 99"/>
          <p:cNvSpPr txBox="1"/>
          <p:nvPr/>
        </p:nvSpPr>
        <p:spPr>
          <a:xfrm>
            <a:off x="7461504" y="6483096"/>
            <a:ext cx="1399032" cy="320040"/>
          </a:xfrm>
          <a:prstGeom prst="rect">
            <a:avLst/>
          </a:prstGeom>
          <a:noFill/>
        </p:spPr>
        <p:txBody>
          <a:bodyPr wrap="none" lIns="0" rIns="0" tIns="0" bIns="0">
            <a:spAutoFit/>
          </a:bodyPr>
          <a:lstStyle/>
          <a:p>
            <a:pPr algn="l">
              <a:lnSpc>
                <a:spcPts val="2240"/>
              </a:lnSpc>
              <a:spcAft>
                <a:spcPts val="0"/>
              </a:spcAft>
              <a:defRPr sz="2000" b="0">
                <a:solidFill>
                  <a:srgbClr val="182B3A"/>
                </a:solidFill>
                <a:latin typeface="Arial"/>
              </a:defRPr>
            </a:pPr>
            <a:r>
              <a:t>9</a:t>
            </a:r>
          </a:p>
        </p:txBody>
      </p:sp>
      <p:sp>
        <p:nvSpPr>
          <p:cNvPr id="101" name="Rectangle 100"/>
          <p:cNvSpPr/>
          <p:nvPr/>
        </p:nvSpPr>
        <p:spPr>
          <a:xfrm>
            <a:off x="7178040" y="6483096"/>
            <a:ext cx="219456" cy="27432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2" name="TextBox 101"/>
          <p:cNvSpPr txBox="1"/>
          <p:nvPr/>
        </p:nvSpPr>
        <p:spPr>
          <a:xfrm>
            <a:off x="7178040" y="6483096"/>
            <a:ext cx="219456" cy="274320"/>
          </a:xfrm>
          <a:prstGeom prst="rect">
            <a:avLst/>
          </a:prstGeom>
          <a:noFill/>
        </p:spPr>
        <p:txBody>
          <a:bodyPr wrap="none" lIns="0" rIns="0" tIns="0" bIns="0">
            <a:spAutoFit/>
          </a:bodyPr>
          <a:lstStyle/>
          <a:p>
            <a:pPr algn="ctr">
              <a:lnSpc>
                <a:spcPts val="2240"/>
              </a:lnSpc>
              <a:spcAft>
                <a:spcPts val="0"/>
              </a:spcAft>
              <a:defRPr sz="2000" b="0">
                <a:solidFill>
                  <a:srgbClr val="182B3A"/>
                </a:solidFill>
                <a:latin typeface="Arial"/>
              </a:defRPr>
            </a:pPr>
            <a:r>
              <a:t>=</a:t>
            </a:r>
          </a:p>
        </p:txBody>
      </p:sp>
      <p:sp>
        <p:nvSpPr>
          <p:cNvPr id="103" name="TextBox 102"/>
          <p:cNvSpPr txBox="1"/>
          <p:nvPr/>
        </p:nvSpPr>
        <p:spPr>
          <a:xfrm>
            <a:off x="5102352" y="6633972"/>
            <a:ext cx="594360" cy="219456"/>
          </a:xfrm>
          <a:prstGeom prst="rect">
            <a:avLst/>
          </a:prstGeom>
          <a:noFill/>
        </p:spPr>
        <p:txBody>
          <a:bodyPr wrap="none" lIns="0" rIns="0" tIns="0" bIns="0">
            <a:spAutoFit/>
          </a:bodyPr>
          <a:lstStyle/>
          <a:p>
            <a:pPr algn="l">
              <a:lnSpc>
                <a:spcPts val="1456"/>
              </a:lnSpc>
              <a:spcAft>
                <a:spcPts val="0"/>
              </a:spcAft>
              <a:defRPr sz="1300" b="0">
                <a:solidFill>
                  <a:srgbClr val="3559A2"/>
                </a:solidFill>
                <a:latin typeface="Arial"/>
              </a:defRPr>
            </a:pPr>
            <a:r>
              <a:t>− 10</a:t>
            </a:r>
          </a:p>
        </p:txBody>
      </p:sp>
      <p:sp>
        <p:nvSpPr>
          <p:cNvPr id="104" name="TextBox 103"/>
          <p:cNvSpPr txBox="1"/>
          <p:nvPr/>
        </p:nvSpPr>
        <p:spPr>
          <a:xfrm>
            <a:off x="8878824" y="6633972"/>
            <a:ext cx="594360" cy="219456"/>
          </a:xfrm>
          <a:prstGeom prst="rect">
            <a:avLst/>
          </a:prstGeom>
          <a:noFill/>
        </p:spPr>
        <p:txBody>
          <a:bodyPr wrap="none" lIns="0" rIns="0" tIns="0" bIns="0">
            <a:spAutoFit/>
          </a:bodyPr>
          <a:lstStyle/>
          <a:p>
            <a:pPr algn="r">
              <a:lnSpc>
                <a:spcPts val="1456"/>
              </a:lnSpc>
              <a:spcAft>
                <a:spcPts val="0"/>
              </a:spcAft>
              <a:defRPr sz="1300" b="0">
                <a:solidFill>
                  <a:srgbClr val="3559A2"/>
                </a:solidFill>
                <a:latin typeface="Arial"/>
              </a:defRPr>
            </a:pPr>
            <a:r>
              <a:t>− 10</a:t>
            </a:r>
          </a:p>
        </p:txBody>
      </p:sp>
      <p:sp>
        <p:nvSpPr>
          <p:cNvPr id="105" name="TextBox 104"/>
          <p:cNvSpPr txBox="1"/>
          <p:nvPr/>
        </p:nvSpPr>
        <p:spPr>
          <a:xfrm>
            <a:off x="5715000" y="6757416"/>
            <a:ext cx="1417320" cy="320040"/>
          </a:xfrm>
          <a:prstGeom prst="rect">
            <a:avLst/>
          </a:prstGeom>
          <a:noFill/>
        </p:spPr>
        <p:txBody>
          <a:bodyPr wrap="none" lIns="0" rIns="0" tIns="0" bIns="0">
            <a:spAutoFit/>
          </a:bodyPr>
          <a:lstStyle/>
          <a:p>
            <a:pPr algn="r">
              <a:lnSpc>
                <a:spcPts val="2240"/>
              </a:lnSpc>
              <a:spcAft>
                <a:spcPts val="0"/>
              </a:spcAft>
              <a:defRPr sz="2000" b="0">
                <a:solidFill>
                  <a:srgbClr val="182B3A"/>
                </a:solidFill>
                <a:latin typeface="Arial"/>
              </a:defRPr>
            </a:pPr>
            <a:r>
              <a:t>x</a:t>
            </a:r>
          </a:p>
        </p:txBody>
      </p:sp>
      <p:sp>
        <p:nvSpPr>
          <p:cNvPr id="106" name="TextBox 105"/>
          <p:cNvSpPr txBox="1"/>
          <p:nvPr/>
        </p:nvSpPr>
        <p:spPr>
          <a:xfrm>
            <a:off x="7461504" y="6757416"/>
            <a:ext cx="1399032" cy="320040"/>
          </a:xfrm>
          <a:prstGeom prst="rect">
            <a:avLst/>
          </a:prstGeom>
          <a:noFill/>
        </p:spPr>
        <p:txBody>
          <a:bodyPr wrap="none" lIns="0" rIns="0" tIns="0" bIns="0">
            <a:spAutoFit/>
          </a:bodyPr>
          <a:lstStyle/>
          <a:p>
            <a:pPr algn="l">
              <a:lnSpc>
                <a:spcPts val="2240"/>
              </a:lnSpc>
              <a:spcAft>
                <a:spcPts val="0"/>
              </a:spcAft>
              <a:defRPr sz="2000" b="0">
                <a:solidFill>
                  <a:srgbClr val="182B3A"/>
                </a:solidFill>
                <a:latin typeface="Arial"/>
              </a:defRPr>
            </a:pPr>
            <a:r>
              <a:t>−1</a:t>
            </a:r>
          </a:p>
        </p:txBody>
      </p:sp>
      <p:sp>
        <p:nvSpPr>
          <p:cNvPr id="107" name="Rectangle 106"/>
          <p:cNvSpPr/>
          <p:nvPr/>
        </p:nvSpPr>
        <p:spPr>
          <a:xfrm>
            <a:off x="7178040" y="6757416"/>
            <a:ext cx="219456" cy="27432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8" name="TextBox 107"/>
          <p:cNvSpPr txBox="1"/>
          <p:nvPr/>
        </p:nvSpPr>
        <p:spPr>
          <a:xfrm>
            <a:off x="7178040" y="6757416"/>
            <a:ext cx="219456" cy="274320"/>
          </a:xfrm>
          <a:prstGeom prst="rect">
            <a:avLst/>
          </a:prstGeom>
          <a:noFill/>
        </p:spPr>
        <p:txBody>
          <a:bodyPr wrap="none" lIns="0" rIns="0" tIns="0" bIns="0">
            <a:spAutoFit/>
          </a:bodyPr>
          <a:lstStyle/>
          <a:p>
            <a:pPr algn="ctr">
              <a:lnSpc>
                <a:spcPts val="2240"/>
              </a:lnSpc>
              <a:spcAft>
                <a:spcPts val="0"/>
              </a:spcAft>
              <a:defRPr sz="2000" b="0">
                <a:solidFill>
                  <a:srgbClr val="182B3A"/>
                </a:solidFill>
                <a:latin typeface="Arial"/>
              </a:defRPr>
            </a:pPr>
            <a:r>
              <a:t>=</a:t>
            </a:r>
          </a:p>
        </p:txBody>
      </p:sp>
      <p:sp>
        <p:nvSpPr>
          <p:cNvPr id="109" name="Rectangle 108"/>
          <p:cNvSpPr/>
          <p:nvPr/>
        </p:nvSpPr>
        <p:spPr>
          <a:xfrm>
            <a:off x="9646920" y="1627632"/>
            <a:ext cx="4631436" cy="1975104"/>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0" name="TextBox 109"/>
          <p:cNvSpPr txBox="1"/>
          <p:nvPr/>
        </p:nvSpPr>
        <p:spPr>
          <a:xfrm>
            <a:off x="9738360" y="1682496"/>
            <a:ext cx="4434840" cy="347472"/>
          </a:xfrm>
          <a:prstGeom prst="rect">
            <a:avLst/>
          </a:prstGeom>
          <a:noFill/>
        </p:spPr>
        <p:txBody>
          <a:bodyPr wrap="square" lIns="54864" rIns="54864" tIns="22860" bIns="22860">
            <a:spAutoFit/>
          </a:bodyPr>
          <a:lstStyle/>
          <a:p>
            <a:pPr>
              <a:lnSpc>
                <a:spcPts val="2205"/>
              </a:lnSpc>
              <a:spcBef>
                <a:spcPts val="0"/>
              </a:spcBef>
              <a:spcAft>
                <a:spcPts val="0"/>
              </a:spcAft>
              <a:defRPr sz="2100" b="1">
                <a:solidFill>
                  <a:srgbClr val="182B3A"/>
                </a:solidFill>
                <a:latin typeface="Arial"/>
              </a:defRPr>
            </a:pPr>
            <a:r>
              <a:t>1.  2(x + 5) = 30</a:t>
            </a:r>
          </a:p>
        </p:txBody>
      </p:sp>
      <p:cxnSp>
        <p:nvCxnSpPr>
          <p:cNvPr id="111" name="Connector 110"/>
          <p:cNvCxnSpPr/>
          <p:nvPr/>
        </p:nvCxnSpPr>
        <p:spPr>
          <a:xfrm>
            <a:off x="11951208" y="2148840"/>
            <a:ext cx="0" cy="1115568"/>
          </a:xfrm>
          <a:prstGeom prst="line">
            <a:avLst/>
          </a:prstGeom>
          <a:ln w="15240">
            <a:solidFill>
              <a:srgbClr val="8193A0"/>
            </a:solidFill>
          </a:ln>
          <a:effectLst/>
        </p:spPr>
        <p:style>
          <a:lnRef idx="2">
            <a:schemeClr val="accent1"/>
          </a:lnRef>
          <a:fillRef idx="0">
            <a:schemeClr val="accent1"/>
          </a:fillRef>
          <a:effectRef idx="1">
            <a:schemeClr val="accent1"/>
          </a:effectRef>
          <a:fontRef idx="minor">
            <a:schemeClr val="tx1"/>
          </a:fontRef>
        </p:style>
      </p:cxnSp>
      <p:sp>
        <p:nvSpPr>
          <p:cNvPr id="112" name="TextBox 111"/>
          <p:cNvSpPr txBox="1"/>
          <p:nvPr/>
        </p:nvSpPr>
        <p:spPr>
          <a:xfrm>
            <a:off x="10378440" y="2130552"/>
            <a:ext cx="1417320" cy="320040"/>
          </a:xfrm>
          <a:prstGeom prst="rect">
            <a:avLst/>
          </a:prstGeom>
          <a:noFill/>
        </p:spPr>
        <p:txBody>
          <a:bodyPr wrap="none" lIns="0" rIns="0" tIns="0" bIns="0">
            <a:spAutoFit/>
          </a:bodyPr>
          <a:lstStyle/>
          <a:p>
            <a:pPr algn="r">
              <a:lnSpc>
                <a:spcPts val="2240"/>
              </a:lnSpc>
              <a:spcAft>
                <a:spcPts val="0"/>
              </a:spcAft>
              <a:defRPr sz="2000" b="0">
                <a:solidFill>
                  <a:srgbClr val="182B3A"/>
                </a:solidFill>
                <a:latin typeface="Arial"/>
              </a:defRPr>
            </a:pPr>
            <a:r>
              <a:t>2(x + 5)</a:t>
            </a:r>
          </a:p>
        </p:txBody>
      </p:sp>
      <p:sp>
        <p:nvSpPr>
          <p:cNvPr id="113" name="TextBox 112"/>
          <p:cNvSpPr txBox="1"/>
          <p:nvPr/>
        </p:nvSpPr>
        <p:spPr>
          <a:xfrm>
            <a:off x="12124944" y="2130552"/>
            <a:ext cx="1399032" cy="320040"/>
          </a:xfrm>
          <a:prstGeom prst="rect">
            <a:avLst/>
          </a:prstGeom>
          <a:noFill/>
        </p:spPr>
        <p:txBody>
          <a:bodyPr wrap="none" lIns="0" rIns="0" tIns="0" bIns="0">
            <a:spAutoFit/>
          </a:bodyPr>
          <a:lstStyle/>
          <a:p>
            <a:pPr algn="l">
              <a:lnSpc>
                <a:spcPts val="2240"/>
              </a:lnSpc>
              <a:spcAft>
                <a:spcPts val="0"/>
              </a:spcAft>
              <a:defRPr sz="2000" b="0">
                <a:solidFill>
                  <a:srgbClr val="182B3A"/>
                </a:solidFill>
                <a:latin typeface="Arial"/>
              </a:defRPr>
            </a:pPr>
            <a:r>
              <a:t>30</a:t>
            </a:r>
          </a:p>
        </p:txBody>
      </p:sp>
      <p:sp>
        <p:nvSpPr>
          <p:cNvPr id="114" name="Rectangle 113"/>
          <p:cNvSpPr/>
          <p:nvPr/>
        </p:nvSpPr>
        <p:spPr>
          <a:xfrm>
            <a:off x="11841480" y="2130552"/>
            <a:ext cx="219456" cy="27432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5" name="TextBox 114"/>
          <p:cNvSpPr txBox="1"/>
          <p:nvPr/>
        </p:nvSpPr>
        <p:spPr>
          <a:xfrm>
            <a:off x="11841480" y="2130552"/>
            <a:ext cx="219456" cy="274320"/>
          </a:xfrm>
          <a:prstGeom prst="rect">
            <a:avLst/>
          </a:prstGeom>
          <a:noFill/>
        </p:spPr>
        <p:txBody>
          <a:bodyPr wrap="none" lIns="0" rIns="0" tIns="0" bIns="0">
            <a:spAutoFit/>
          </a:bodyPr>
          <a:lstStyle/>
          <a:p>
            <a:pPr algn="ctr">
              <a:lnSpc>
                <a:spcPts val="2240"/>
              </a:lnSpc>
              <a:spcAft>
                <a:spcPts val="0"/>
              </a:spcAft>
              <a:defRPr sz="2000" b="0">
                <a:solidFill>
                  <a:srgbClr val="182B3A"/>
                </a:solidFill>
                <a:latin typeface="Arial"/>
              </a:defRPr>
            </a:pPr>
            <a:r>
              <a:t>=</a:t>
            </a:r>
          </a:p>
        </p:txBody>
      </p:sp>
      <p:sp>
        <p:nvSpPr>
          <p:cNvPr id="116" name="TextBox 115"/>
          <p:cNvSpPr txBox="1"/>
          <p:nvPr/>
        </p:nvSpPr>
        <p:spPr>
          <a:xfrm>
            <a:off x="10378440" y="2404872"/>
            <a:ext cx="1417320" cy="320040"/>
          </a:xfrm>
          <a:prstGeom prst="rect">
            <a:avLst/>
          </a:prstGeom>
          <a:noFill/>
        </p:spPr>
        <p:txBody>
          <a:bodyPr wrap="none" lIns="0" rIns="0" tIns="0" bIns="0">
            <a:spAutoFit/>
          </a:bodyPr>
          <a:lstStyle/>
          <a:p>
            <a:pPr algn="r">
              <a:lnSpc>
                <a:spcPts val="2240"/>
              </a:lnSpc>
              <a:spcAft>
                <a:spcPts val="0"/>
              </a:spcAft>
              <a:defRPr sz="2000" b="0">
                <a:solidFill>
                  <a:srgbClr val="182B3A"/>
                </a:solidFill>
                <a:latin typeface="Arial"/>
              </a:defRPr>
            </a:pPr>
            <a:r>
              <a:t>2x + 5</a:t>
            </a:r>
          </a:p>
        </p:txBody>
      </p:sp>
      <p:sp>
        <p:nvSpPr>
          <p:cNvPr id="117" name="TextBox 116"/>
          <p:cNvSpPr txBox="1"/>
          <p:nvPr/>
        </p:nvSpPr>
        <p:spPr>
          <a:xfrm>
            <a:off x="12124944" y="2404872"/>
            <a:ext cx="1399032" cy="320040"/>
          </a:xfrm>
          <a:prstGeom prst="rect">
            <a:avLst/>
          </a:prstGeom>
          <a:noFill/>
        </p:spPr>
        <p:txBody>
          <a:bodyPr wrap="none" lIns="0" rIns="0" tIns="0" bIns="0">
            <a:spAutoFit/>
          </a:bodyPr>
          <a:lstStyle/>
          <a:p>
            <a:pPr algn="l">
              <a:lnSpc>
                <a:spcPts val="2240"/>
              </a:lnSpc>
              <a:spcAft>
                <a:spcPts val="0"/>
              </a:spcAft>
              <a:defRPr sz="2000" b="0">
                <a:solidFill>
                  <a:srgbClr val="182B3A"/>
                </a:solidFill>
                <a:latin typeface="Arial"/>
              </a:defRPr>
            </a:pPr>
            <a:r>
              <a:t>30</a:t>
            </a:r>
          </a:p>
        </p:txBody>
      </p:sp>
      <p:sp>
        <p:nvSpPr>
          <p:cNvPr id="118" name="Rectangle 117"/>
          <p:cNvSpPr/>
          <p:nvPr/>
        </p:nvSpPr>
        <p:spPr>
          <a:xfrm>
            <a:off x="11841480" y="2404872"/>
            <a:ext cx="219456" cy="27432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9" name="TextBox 118"/>
          <p:cNvSpPr txBox="1"/>
          <p:nvPr/>
        </p:nvSpPr>
        <p:spPr>
          <a:xfrm>
            <a:off x="11841480" y="2404872"/>
            <a:ext cx="219456" cy="274320"/>
          </a:xfrm>
          <a:prstGeom prst="rect">
            <a:avLst/>
          </a:prstGeom>
          <a:noFill/>
        </p:spPr>
        <p:txBody>
          <a:bodyPr wrap="none" lIns="0" rIns="0" tIns="0" bIns="0">
            <a:spAutoFit/>
          </a:bodyPr>
          <a:lstStyle/>
          <a:p>
            <a:pPr algn="ctr">
              <a:lnSpc>
                <a:spcPts val="2240"/>
              </a:lnSpc>
              <a:spcAft>
                <a:spcPts val="0"/>
              </a:spcAft>
              <a:defRPr sz="2000" b="0">
                <a:solidFill>
                  <a:srgbClr val="182B3A"/>
                </a:solidFill>
                <a:latin typeface="Arial"/>
              </a:defRPr>
            </a:pPr>
            <a:r>
              <a:t>=</a:t>
            </a:r>
          </a:p>
        </p:txBody>
      </p:sp>
      <p:sp>
        <p:nvSpPr>
          <p:cNvPr id="120" name="TextBox 119"/>
          <p:cNvSpPr txBox="1"/>
          <p:nvPr/>
        </p:nvSpPr>
        <p:spPr>
          <a:xfrm>
            <a:off x="9765792" y="2555748"/>
            <a:ext cx="594360" cy="219456"/>
          </a:xfrm>
          <a:prstGeom prst="rect">
            <a:avLst/>
          </a:prstGeom>
          <a:noFill/>
        </p:spPr>
        <p:txBody>
          <a:bodyPr wrap="none" lIns="0" rIns="0" tIns="0" bIns="0">
            <a:spAutoFit/>
          </a:bodyPr>
          <a:lstStyle/>
          <a:p>
            <a:pPr algn="l">
              <a:lnSpc>
                <a:spcPts val="1456"/>
              </a:lnSpc>
              <a:spcAft>
                <a:spcPts val="0"/>
              </a:spcAft>
              <a:defRPr sz="1300" b="0">
                <a:solidFill>
                  <a:srgbClr val="3559A2"/>
                </a:solidFill>
                <a:latin typeface="Arial"/>
              </a:defRPr>
            </a:pPr>
            <a:r>
              <a:t>− 5</a:t>
            </a:r>
          </a:p>
        </p:txBody>
      </p:sp>
      <p:sp>
        <p:nvSpPr>
          <p:cNvPr id="121" name="TextBox 120"/>
          <p:cNvSpPr txBox="1"/>
          <p:nvPr/>
        </p:nvSpPr>
        <p:spPr>
          <a:xfrm>
            <a:off x="13542264" y="2555748"/>
            <a:ext cx="594360" cy="219456"/>
          </a:xfrm>
          <a:prstGeom prst="rect">
            <a:avLst/>
          </a:prstGeom>
          <a:noFill/>
        </p:spPr>
        <p:txBody>
          <a:bodyPr wrap="none" lIns="0" rIns="0" tIns="0" bIns="0">
            <a:spAutoFit/>
          </a:bodyPr>
          <a:lstStyle/>
          <a:p>
            <a:pPr algn="r">
              <a:lnSpc>
                <a:spcPts val="1456"/>
              </a:lnSpc>
              <a:spcAft>
                <a:spcPts val="0"/>
              </a:spcAft>
              <a:defRPr sz="1300" b="0">
                <a:solidFill>
                  <a:srgbClr val="3559A2"/>
                </a:solidFill>
                <a:latin typeface="Arial"/>
              </a:defRPr>
            </a:pPr>
            <a:r>
              <a:t>− 5</a:t>
            </a:r>
          </a:p>
        </p:txBody>
      </p:sp>
      <p:sp>
        <p:nvSpPr>
          <p:cNvPr id="122" name="TextBox 121"/>
          <p:cNvSpPr txBox="1"/>
          <p:nvPr/>
        </p:nvSpPr>
        <p:spPr>
          <a:xfrm>
            <a:off x="10378440" y="2679192"/>
            <a:ext cx="1417320" cy="320040"/>
          </a:xfrm>
          <a:prstGeom prst="rect">
            <a:avLst/>
          </a:prstGeom>
          <a:noFill/>
        </p:spPr>
        <p:txBody>
          <a:bodyPr wrap="none" lIns="0" rIns="0" tIns="0" bIns="0">
            <a:spAutoFit/>
          </a:bodyPr>
          <a:lstStyle/>
          <a:p>
            <a:pPr algn="r">
              <a:lnSpc>
                <a:spcPts val="2240"/>
              </a:lnSpc>
              <a:spcAft>
                <a:spcPts val="0"/>
              </a:spcAft>
              <a:defRPr sz="2000" b="0">
                <a:solidFill>
                  <a:srgbClr val="182B3A"/>
                </a:solidFill>
                <a:latin typeface="Arial"/>
              </a:defRPr>
            </a:pPr>
            <a:r>
              <a:t>2x</a:t>
            </a:r>
          </a:p>
        </p:txBody>
      </p:sp>
      <p:sp>
        <p:nvSpPr>
          <p:cNvPr id="123" name="TextBox 122"/>
          <p:cNvSpPr txBox="1"/>
          <p:nvPr/>
        </p:nvSpPr>
        <p:spPr>
          <a:xfrm>
            <a:off x="12124944" y="2679192"/>
            <a:ext cx="1399032" cy="320040"/>
          </a:xfrm>
          <a:prstGeom prst="rect">
            <a:avLst/>
          </a:prstGeom>
          <a:noFill/>
        </p:spPr>
        <p:txBody>
          <a:bodyPr wrap="none" lIns="0" rIns="0" tIns="0" bIns="0">
            <a:spAutoFit/>
          </a:bodyPr>
          <a:lstStyle/>
          <a:p>
            <a:pPr algn="l">
              <a:lnSpc>
                <a:spcPts val="2240"/>
              </a:lnSpc>
              <a:spcAft>
                <a:spcPts val="0"/>
              </a:spcAft>
              <a:defRPr sz="2000" b="0">
                <a:solidFill>
                  <a:srgbClr val="182B3A"/>
                </a:solidFill>
                <a:latin typeface="Arial"/>
              </a:defRPr>
            </a:pPr>
            <a:r>
              <a:t>25</a:t>
            </a:r>
          </a:p>
        </p:txBody>
      </p:sp>
      <p:sp>
        <p:nvSpPr>
          <p:cNvPr id="124" name="Rectangle 123"/>
          <p:cNvSpPr/>
          <p:nvPr/>
        </p:nvSpPr>
        <p:spPr>
          <a:xfrm>
            <a:off x="11841480" y="2679192"/>
            <a:ext cx="219456" cy="27432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5" name="TextBox 124"/>
          <p:cNvSpPr txBox="1"/>
          <p:nvPr/>
        </p:nvSpPr>
        <p:spPr>
          <a:xfrm>
            <a:off x="11841480" y="2679192"/>
            <a:ext cx="219456" cy="274320"/>
          </a:xfrm>
          <a:prstGeom prst="rect">
            <a:avLst/>
          </a:prstGeom>
          <a:noFill/>
        </p:spPr>
        <p:txBody>
          <a:bodyPr wrap="none" lIns="0" rIns="0" tIns="0" bIns="0">
            <a:spAutoFit/>
          </a:bodyPr>
          <a:lstStyle/>
          <a:p>
            <a:pPr algn="ctr">
              <a:lnSpc>
                <a:spcPts val="2240"/>
              </a:lnSpc>
              <a:spcAft>
                <a:spcPts val="0"/>
              </a:spcAft>
              <a:defRPr sz="2000" b="0">
                <a:solidFill>
                  <a:srgbClr val="182B3A"/>
                </a:solidFill>
                <a:latin typeface="Arial"/>
              </a:defRPr>
            </a:pPr>
            <a:r>
              <a:t>=</a:t>
            </a:r>
          </a:p>
        </p:txBody>
      </p:sp>
      <p:sp>
        <p:nvSpPr>
          <p:cNvPr id="126" name="TextBox 125"/>
          <p:cNvSpPr txBox="1"/>
          <p:nvPr/>
        </p:nvSpPr>
        <p:spPr>
          <a:xfrm>
            <a:off x="9765792" y="2830068"/>
            <a:ext cx="594360" cy="219456"/>
          </a:xfrm>
          <a:prstGeom prst="rect">
            <a:avLst/>
          </a:prstGeom>
          <a:noFill/>
        </p:spPr>
        <p:txBody>
          <a:bodyPr wrap="none" lIns="0" rIns="0" tIns="0" bIns="0">
            <a:spAutoFit/>
          </a:bodyPr>
          <a:lstStyle/>
          <a:p>
            <a:pPr algn="l">
              <a:lnSpc>
                <a:spcPts val="1456"/>
              </a:lnSpc>
              <a:spcAft>
                <a:spcPts val="0"/>
              </a:spcAft>
              <a:defRPr sz="1300" b="0">
                <a:solidFill>
                  <a:srgbClr val="3559A2"/>
                </a:solidFill>
                <a:latin typeface="Arial"/>
              </a:defRPr>
            </a:pPr>
            <a:r>
              <a:t>÷ 2</a:t>
            </a:r>
          </a:p>
        </p:txBody>
      </p:sp>
      <p:sp>
        <p:nvSpPr>
          <p:cNvPr id="127" name="TextBox 126"/>
          <p:cNvSpPr txBox="1"/>
          <p:nvPr/>
        </p:nvSpPr>
        <p:spPr>
          <a:xfrm>
            <a:off x="13542264" y="2830068"/>
            <a:ext cx="594360" cy="219456"/>
          </a:xfrm>
          <a:prstGeom prst="rect">
            <a:avLst/>
          </a:prstGeom>
          <a:noFill/>
        </p:spPr>
        <p:txBody>
          <a:bodyPr wrap="none" lIns="0" rIns="0" tIns="0" bIns="0">
            <a:spAutoFit/>
          </a:bodyPr>
          <a:lstStyle/>
          <a:p>
            <a:pPr algn="r">
              <a:lnSpc>
                <a:spcPts val="1456"/>
              </a:lnSpc>
              <a:spcAft>
                <a:spcPts val="0"/>
              </a:spcAft>
              <a:defRPr sz="1300" b="0">
                <a:solidFill>
                  <a:srgbClr val="3559A2"/>
                </a:solidFill>
                <a:latin typeface="Arial"/>
              </a:defRPr>
            </a:pPr>
            <a:r>
              <a:t>÷ 2</a:t>
            </a:r>
          </a:p>
        </p:txBody>
      </p:sp>
      <p:sp>
        <p:nvSpPr>
          <p:cNvPr id="128" name="TextBox 127"/>
          <p:cNvSpPr txBox="1"/>
          <p:nvPr/>
        </p:nvSpPr>
        <p:spPr>
          <a:xfrm>
            <a:off x="10378440" y="2953512"/>
            <a:ext cx="1417320" cy="320040"/>
          </a:xfrm>
          <a:prstGeom prst="rect">
            <a:avLst/>
          </a:prstGeom>
          <a:noFill/>
        </p:spPr>
        <p:txBody>
          <a:bodyPr wrap="none" lIns="0" rIns="0" tIns="0" bIns="0">
            <a:spAutoFit/>
          </a:bodyPr>
          <a:lstStyle/>
          <a:p>
            <a:pPr algn="r">
              <a:lnSpc>
                <a:spcPts val="2240"/>
              </a:lnSpc>
              <a:spcAft>
                <a:spcPts val="0"/>
              </a:spcAft>
              <a:defRPr sz="2000" b="0">
                <a:solidFill>
                  <a:srgbClr val="182B3A"/>
                </a:solidFill>
                <a:latin typeface="Arial"/>
              </a:defRPr>
            </a:pPr>
            <a:r>
              <a:t>x</a:t>
            </a:r>
          </a:p>
        </p:txBody>
      </p:sp>
      <p:sp>
        <p:nvSpPr>
          <p:cNvPr id="129" name="TextBox 128"/>
          <p:cNvSpPr txBox="1"/>
          <p:nvPr/>
        </p:nvSpPr>
        <p:spPr>
          <a:xfrm>
            <a:off x="12124944" y="2953512"/>
            <a:ext cx="1399032" cy="320040"/>
          </a:xfrm>
          <a:prstGeom prst="rect">
            <a:avLst/>
          </a:prstGeom>
          <a:noFill/>
        </p:spPr>
        <p:txBody>
          <a:bodyPr wrap="none" lIns="0" rIns="0" tIns="0" bIns="0">
            <a:spAutoFit/>
          </a:bodyPr>
          <a:lstStyle/>
          <a:p>
            <a:pPr algn="l">
              <a:lnSpc>
                <a:spcPts val="2240"/>
              </a:lnSpc>
              <a:spcAft>
                <a:spcPts val="0"/>
              </a:spcAft>
              <a:defRPr sz="2000" b="0">
                <a:solidFill>
                  <a:srgbClr val="182B3A"/>
                </a:solidFill>
                <a:latin typeface="Arial"/>
              </a:defRPr>
            </a:pPr>
            <a:r>
              <a:t>12.5</a:t>
            </a:r>
          </a:p>
        </p:txBody>
      </p:sp>
      <p:sp>
        <p:nvSpPr>
          <p:cNvPr id="130" name="Rectangle 129"/>
          <p:cNvSpPr/>
          <p:nvPr/>
        </p:nvSpPr>
        <p:spPr>
          <a:xfrm>
            <a:off x="11841480" y="2953512"/>
            <a:ext cx="219456" cy="27432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1" name="TextBox 130"/>
          <p:cNvSpPr txBox="1"/>
          <p:nvPr/>
        </p:nvSpPr>
        <p:spPr>
          <a:xfrm>
            <a:off x="11841480" y="2953512"/>
            <a:ext cx="219456" cy="274320"/>
          </a:xfrm>
          <a:prstGeom prst="rect">
            <a:avLst/>
          </a:prstGeom>
          <a:noFill/>
        </p:spPr>
        <p:txBody>
          <a:bodyPr wrap="none" lIns="0" rIns="0" tIns="0" bIns="0">
            <a:spAutoFit/>
          </a:bodyPr>
          <a:lstStyle/>
          <a:p>
            <a:pPr algn="ctr">
              <a:lnSpc>
                <a:spcPts val="2240"/>
              </a:lnSpc>
              <a:spcAft>
                <a:spcPts val="0"/>
              </a:spcAft>
              <a:defRPr sz="2000" b="0">
                <a:solidFill>
                  <a:srgbClr val="182B3A"/>
                </a:solidFill>
                <a:latin typeface="Arial"/>
              </a:defRPr>
            </a:pPr>
            <a:r>
              <a:t>=</a:t>
            </a:r>
          </a:p>
        </p:txBody>
      </p:sp>
      <p:sp>
        <p:nvSpPr>
          <p:cNvPr id="132" name="Rectangle 131"/>
          <p:cNvSpPr/>
          <p:nvPr/>
        </p:nvSpPr>
        <p:spPr>
          <a:xfrm>
            <a:off x="9646920" y="3666744"/>
            <a:ext cx="4631436" cy="1975104"/>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3" name="TextBox 132"/>
          <p:cNvSpPr txBox="1"/>
          <p:nvPr/>
        </p:nvSpPr>
        <p:spPr>
          <a:xfrm>
            <a:off x="9738360" y="3721607"/>
            <a:ext cx="4434840" cy="347472"/>
          </a:xfrm>
          <a:prstGeom prst="rect">
            <a:avLst/>
          </a:prstGeom>
          <a:noFill/>
        </p:spPr>
        <p:txBody>
          <a:bodyPr wrap="square" lIns="54864" rIns="54864" tIns="22860" bIns="22860">
            <a:spAutoFit/>
          </a:bodyPr>
          <a:lstStyle/>
          <a:p>
            <a:pPr>
              <a:lnSpc>
                <a:spcPts val="2205"/>
              </a:lnSpc>
              <a:spcBef>
                <a:spcPts val="0"/>
              </a:spcBef>
              <a:spcAft>
                <a:spcPts val="0"/>
              </a:spcAft>
              <a:defRPr sz="2100" b="1">
                <a:solidFill>
                  <a:srgbClr val="182B3A"/>
                </a:solidFill>
                <a:latin typeface="Arial"/>
              </a:defRPr>
            </a:pPr>
            <a:r>
              <a:t>2.  4x + 3 = 2x + 33</a:t>
            </a:r>
          </a:p>
        </p:txBody>
      </p:sp>
      <p:cxnSp>
        <p:nvCxnSpPr>
          <p:cNvPr id="134" name="Connector 133"/>
          <p:cNvCxnSpPr/>
          <p:nvPr/>
        </p:nvCxnSpPr>
        <p:spPr>
          <a:xfrm>
            <a:off x="11951208" y="4187951"/>
            <a:ext cx="0" cy="1115569"/>
          </a:xfrm>
          <a:prstGeom prst="line">
            <a:avLst/>
          </a:prstGeom>
          <a:ln w="15240">
            <a:solidFill>
              <a:srgbClr val="8193A0"/>
            </a:solidFill>
          </a:ln>
          <a:effectLst/>
        </p:spPr>
        <p:style>
          <a:lnRef idx="2">
            <a:schemeClr val="accent1"/>
          </a:lnRef>
          <a:fillRef idx="0">
            <a:schemeClr val="accent1"/>
          </a:fillRef>
          <a:effectRef idx="1">
            <a:schemeClr val="accent1"/>
          </a:effectRef>
          <a:fontRef idx="minor">
            <a:schemeClr val="tx1"/>
          </a:fontRef>
        </p:style>
      </p:cxnSp>
      <p:sp>
        <p:nvSpPr>
          <p:cNvPr id="135" name="TextBox 134"/>
          <p:cNvSpPr txBox="1"/>
          <p:nvPr/>
        </p:nvSpPr>
        <p:spPr>
          <a:xfrm>
            <a:off x="10378440" y="4169663"/>
            <a:ext cx="1417320" cy="320040"/>
          </a:xfrm>
          <a:prstGeom prst="rect">
            <a:avLst/>
          </a:prstGeom>
          <a:noFill/>
        </p:spPr>
        <p:txBody>
          <a:bodyPr wrap="none" lIns="0" rIns="0" tIns="0" bIns="0">
            <a:spAutoFit/>
          </a:bodyPr>
          <a:lstStyle/>
          <a:p>
            <a:pPr algn="r">
              <a:lnSpc>
                <a:spcPts val="2240"/>
              </a:lnSpc>
              <a:spcAft>
                <a:spcPts val="0"/>
              </a:spcAft>
              <a:defRPr sz="2000" b="0">
                <a:solidFill>
                  <a:srgbClr val="182B3A"/>
                </a:solidFill>
                <a:latin typeface="Arial"/>
              </a:defRPr>
            </a:pPr>
            <a:r>
              <a:t>4x + 3</a:t>
            </a:r>
          </a:p>
        </p:txBody>
      </p:sp>
      <p:sp>
        <p:nvSpPr>
          <p:cNvPr id="136" name="TextBox 135"/>
          <p:cNvSpPr txBox="1"/>
          <p:nvPr/>
        </p:nvSpPr>
        <p:spPr>
          <a:xfrm>
            <a:off x="12124944" y="4169663"/>
            <a:ext cx="1399032" cy="320040"/>
          </a:xfrm>
          <a:prstGeom prst="rect">
            <a:avLst/>
          </a:prstGeom>
          <a:noFill/>
        </p:spPr>
        <p:txBody>
          <a:bodyPr wrap="none" lIns="0" rIns="0" tIns="0" bIns="0">
            <a:spAutoFit/>
          </a:bodyPr>
          <a:lstStyle/>
          <a:p>
            <a:pPr algn="l">
              <a:lnSpc>
                <a:spcPts val="2240"/>
              </a:lnSpc>
              <a:spcAft>
                <a:spcPts val="0"/>
              </a:spcAft>
              <a:defRPr sz="2000" b="0">
                <a:solidFill>
                  <a:srgbClr val="182B3A"/>
                </a:solidFill>
                <a:latin typeface="Arial"/>
              </a:defRPr>
            </a:pPr>
            <a:r>
              <a:t>2x + 33</a:t>
            </a:r>
          </a:p>
        </p:txBody>
      </p:sp>
      <p:sp>
        <p:nvSpPr>
          <p:cNvPr id="137" name="Rectangle 136"/>
          <p:cNvSpPr/>
          <p:nvPr/>
        </p:nvSpPr>
        <p:spPr>
          <a:xfrm>
            <a:off x="11841480" y="4169663"/>
            <a:ext cx="219456" cy="27432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8" name="TextBox 137"/>
          <p:cNvSpPr txBox="1"/>
          <p:nvPr/>
        </p:nvSpPr>
        <p:spPr>
          <a:xfrm>
            <a:off x="11841480" y="4169663"/>
            <a:ext cx="219456" cy="274320"/>
          </a:xfrm>
          <a:prstGeom prst="rect">
            <a:avLst/>
          </a:prstGeom>
          <a:noFill/>
        </p:spPr>
        <p:txBody>
          <a:bodyPr wrap="none" lIns="0" rIns="0" tIns="0" bIns="0">
            <a:spAutoFit/>
          </a:bodyPr>
          <a:lstStyle/>
          <a:p>
            <a:pPr algn="ctr">
              <a:lnSpc>
                <a:spcPts val="2240"/>
              </a:lnSpc>
              <a:spcAft>
                <a:spcPts val="0"/>
              </a:spcAft>
              <a:defRPr sz="2000" b="0">
                <a:solidFill>
                  <a:srgbClr val="182B3A"/>
                </a:solidFill>
                <a:latin typeface="Arial"/>
              </a:defRPr>
            </a:pPr>
            <a:r>
              <a:t>=</a:t>
            </a:r>
          </a:p>
        </p:txBody>
      </p:sp>
      <p:sp>
        <p:nvSpPr>
          <p:cNvPr id="139" name="TextBox 138"/>
          <p:cNvSpPr txBox="1"/>
          <p:nvPr/>
        </p:nvSpPr>
        <p:spPr>
          <a:xfrm>
            <a:off x="9765792" y="4320540"/>
            <a:ext cx="594360" cy="219456"/>
          </a:xfrm>
          <a:prstGeom prst="rect">
            <a:avLst/>
          </a:prstGeom>
          <a:noFill/>
        </p:spPr>
        <p:txBody>
          <a:bodyPr wrap="none" lIns="0" rIns="0" tIns="0" bIns="0">
            <a:spAutoFit/>
          </a:bodyPr>
          <a:lstStyle/>
          <a:p>
            <a:pPr algn="l">
              <a:lnSpc>
                <a:spcPts val="1456"/>
              </a:lnSpc>
              <a:spcAft>
                <a:spcPts val="0"/>
              </a:spcAft>
              <a:defRPr sz="1300" b="0">
                <a:solidFill>
                  <a:srgbClr val="3559A2"/>
                </a:solidFill>
                <a:latin typeface="Arial"/>
              </a:defRPr>
            </a:pPr>
            <a:r>
              <a:t>+ 2x</a:t>
            </a:r>
          </a:p>
        </p:txBody>
      </p:sp>
      <p:sp>
        <p:nvSpPr>
          <p:cNvPr id="140" name="TextBox 139"/>
          <p:cNvSpPr txBox="1"/>
          <p:nvPr/>
        </p:nvSpPr>
        <p:spPr>
          <a:xfrm>
            <a:off x="13542264" y="4320540"/>
            <a:ext cx="594360" cy="219456"/>
          </a:xfrm>
          <a:prstGeom prst="rect">
            <a:avLst/>
          </a:prstGeom>
          <a:noFill/>
        </p:spPr>
        <p:txBody>
          <a:bodyPr wrap="none" lIns="0" rIns="0" tIns="0" bIns="0">
            <a:spAutoFit/>
          </a:bodyPr>
          <a:lstStyle/>
          <a:p>
            <a:pPr algn="r">
              <a:lnSpc>
                <a:spcPts val="1456"/>
              </a:lnSpc>
              <a:spcAft>
                <a:spcPts val="0"/>
              </a:spcAft>
              <a:defRPr sz="1300" b="0">
                <a:solidFill>
                  <a:srgbClr val="3559A2"/>
                </a:solidFill>
                <a:latin typeface="Arial"/>
              </a:defRPr>
            </a:pPr>
            <a:r>
              <a:t>− 2x</a:t>
            </a:r>
          </a:p>
        </p:txBody>
      </p:sp>
      <p:sp>
        <p:nvSpPr>
          <p:cNvPr id="141" name="TextBox 140"/>
          <p:cNvSpPr txBox="1"/>
          <p:nvPr/>
        </p:nvSpPr>
        <p:spPr>
          <a:xfrm>
            <a:off x="10378440" y="4443983"/>
            <a:ext cx="1417320" cy="320040"/>
          </a:xfrm>
          <a:prstGeom prst="rect">
            <a:avLst/>
          </a:prstGeom>
          <a:noFill/>
        </p:spPr>
        <p:txBody>
          <a:bodyPr wrap="none" lIns="0" rIns="0" tIns="0" bIns="0">
            <a:spAutoFit/>
          </a:bodyPr>
          <a:lstStyle/>
          <a:p>
            <a:pPr algn="r">
              <a:lnSpc>
                <a:spcPts val="2240"/>
              </a:lnSpc>
              <a:spcAft>
                <a:spcPts val="0"/>
              </a:spcAft>
              <a:defRPr sz="2000" b="0">
                <a:solidFill>
                  <a:srgbClr val="182B3A"/>
                </a:solidFill>
                <a:latin typeface="Arial"/>
              </a:defRPr>
            </a:pPr>
            <a:r>
              <a:t>6x + 3</a:t>
            </a:r>
          </a:p>
        </p:txBody>
      </p:sp>
      <p:sp>
        <p:nvSpPr>
          <p:cNvPr id="142" name="TextBox 141"/>
          <p:cNvSpPr txBox="1"/>
          <p:nvPr/>
        </p:nvSpPr>
        <p:spPr>
          <a:xfrm>
            <a:off x="12124944" y="4443983"/>
            <a:ext cx="1399032" cy="320040"/>
          </a:xfrm>
          <a:prstGeom prst="rect">
            <a:avLst/>
          </a:prstGeom>
          <a:noFill/>
        </p:spPr>
        <p:txBody>
          <a:bodyPr wrap="none" lIns="0" rIns="0" tIns="0" bIns="0">
            <a:spAutoFit/>
          </a:bodyPr>
          <a:lstStyle/>
          <a:p>
            <a:pPr algn="l">
              <a:lnSpc>
                <a:spcPts val="2240"/>
              </a:lnSpc>
              <a:spcAft>
                <a:spcPts val="0"/>
              </a:spcAft>
              <a:defRPr sz="2000" b="0">
                <a:solidFill>
                  <a:srgbClr val="182B3A"/>
                </a:solidFill>
                <a:latin typeface="Arial"/>
              </a:defRPr>
            </a:pPr>
            <a:r>
              <a:t>33</a:t>
            </a:r>
          </a:p>
        </p:txBody>
      </p:sp>
      <p:sp>
        <p:nvSpPr>
          <p:cNvPr id="143" name="Rectangle 142"/>
          <p:cNvSpPr/>
          <p:nvPr/>
        </p:nvSpPr>
        <p:spPr>
          <a:xfrm>
            <a:off x="11841480" y="4443983"/>
            <a:ext cx="219456" cy="27432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4" name="TextBox 143"/>
          <p:cNvSpPr txBox="1"/>
          <p:nvPr/>
        </p:nvSpPr>
        <p:spPr>
          <a:xfrm>
            <a:off x="11841480" y="4443983"/>
            <a:ext cx="219456" cy="274320"/>
          </a:xfrm>
          <a:prstGeom prst="rect">
            <a:avLst/>
          </a:prstGeom>
          <a:noFill/>
        </p:spPr>
        <p:txBody>
          <a:bodyPr wrap="none" lIns="0" rIns="0" tIns="0" bIns="0">
            <a:spAutoFit/>
          </a:bodyPr>
          <a:lstStyle/>
          <a:p>
            <a:pPr algn="ctr">
              <a:lnSpc>
                <a:spcPts val="2240"/>
              </a:lnSpc>
              <a:spcAft>
                <a:spcPts val="0"/>
              </a:spcAft>
              <a:defRPr sz="2000" b="0">
                <a:solidFill>
                  <a:srgbClr val="182B3A"/>
                </a:solidFill>
                <a:latin typeface="Arial"/>
              </a:defRPr>
            </a:pPr>
            <a:r>
              <a:t>=</a:t>
            </a:r>
          </a:p>
        </p:txBody>
      </p:sp>
      <p:sp>
        <p:nvSpPr>
          <p:cNvPr id="145" name="TextBox 144"/>
          <p:cNvSpPr txBox="1"/>
          <p:nvPr/>
        </p:nvSpPr>
        <p:spPr>
          <a:xfrm>
            <a:off x="9765792" y="4594859"/>
            <a:ext cx="594360" cy="219456"/>
          </a:xfrm>
          <a:prstGeom prst="rect">
            <a:avLst/>
          </a:prstGeom>
          <a:noFill/>
        </p:spPr>
        <p:txBody>
          <a:bodyPr wrap="none" lIns="0" rIns="0" tIns="0" bIns="0">
            <a:spAutoFit/>
          </a:bodyPr>
          <a:lstStyle/>
          <a:p>
            <a:pPr algn="l">
              <a:lnSpc>
                <a:spcPts val="1456"/>
              </a:lnSpc>
              <a:spcAft>
                <a:spcPts val="0"/>
              </a:spcAft>
              <a:defRPr sz="1300" b="0">
                <a:solidFill>
                  <a:srgbClr val="3559A2"/>
                </a:solidFill>
                <a:latin typeface="Arial"/>
              </a:defRPr>
            </a:pPr>
            <a:r>
              <a:t>− 3</a:t>
            </a:r>
          </a:p>
        </p:txBody>
      </p:sp>
      <p:sp>
        <p:nvSpPr>
          <p:cNvPr id="146" name="TextBox 145"/>
          <p:cNvSpPr txBox="1"/>
          <p:nvPr/>
        </p:nvSpPr>
        <p:spPr>
          <a:xfrm>
            <a:off x="13542264" y="4594859"/>
            <a:ext cx="594360" cy="219456"/>
          </a:xfrm>
          <a:prstGeom prst="rect">
            <a:avLst/>
          </a:prstGeom>
          <a:noFill/>
        </p:spPr>
        <p:txBody>
          <a:bodyPr wrap="none" lIns="0" rIns="0" tIns="0" bIns="0">
            <a:spAutoFit/>
          </a:bodyPr>
          <a:lstStyle/>
          <a:p>
            <a:pPr algn="r">
              <a:lnSpc>
                <a:spcPts val="1456"/>
              </a:lnSpc>
              <a:spcAft>
                <a:spcPts val="0"/>
              </a:spcAft>
              <a:defRPr sz="1300" b="0">
                <a:solidFill>
                  <a:srgbClr val="3559A2"/>
                </a:solidFill>
                <a:latin typeface="Arial"/>
              </a:defRPr>
            </a:pPr>
            <a:r>
              <a:t>− 3</a:t>
            </a:r>
          </a:p>
        </p:txBody>
      </p:sp>
      <p:sp>
        <p:nvSpPr>
          <p:cNvPr id="147" name="TextBox 146"/>
          <p:cNvSpPr txBox="1"/>
          <p:nvPr/>
        </p:nvSpPr>
        <p:spPr>
          <a:xfrm>
            <a:off x="10378440" y="4718303"/>
            <a:ext cx="1417320" cy="320040"/>
          </a:xfrm>
          <a:prstGeom prst="rect">
            <a:avLst/>
          </a:prstGeom>
          <a:noFill/>
        </p:spPr>
        <p:txBody>
          <a:bodyPr wrap="none" lIns="0" rIns="0" tIns="0" bIns="0">
            <a:spAutoFit/>
          </a:bodyPr>
          <a:lstStyle/>
          <a:p>
            <a:pPr algn="r">
              <a:lnSpc>
                <a:spcPts val="2240"/>
              </a:lnSpc>
              <a:spcAft>
                <a:spcPts val="0"/>
              </a:spcAft>
              <a:defRPr sz="2000" b="0">
                <a:solidFill>
                  <a:srgbClr val="182B3A"/>
                </a:solidFill>
                <a:latin typeface="Arial"/>
              </a:defRPr>
            </a:pPr>
            <a:r>
              <a:t>6x</a:t>
            </a:r>
          </a:p>
        </p:txBody>
      </p:sp>
      <p:sp>
        <p:nvSpPr>
          <p:cNvPr id="148" name="TextBox 147"/>
          <p:cNvSpPr txBox="1"/>
          <p:nvPr/>
        </p:nvSpPr>
        <p:spPr>
          <a:xfrm>
            <a:off x="12124944" y="4718303"/>
            <a:ext cx="1399032" cy="320040"/>
          </a:xfrm>
          <a:prstGeom prst="rect">
            <a:avLst/>
          </a:prstGeom>
          <a:noFill/>
        </p:spPr>
        <p:txBody>
          <a:bodyPr wrap="none" lIns="0" rIns="0" tIns="0" bIns="0">
            <a:spAutoFit/>
          </a:bodyPr>
          <a:lstStyle/>
          <a:p>
            <a:pPr algn="l">
              <a:lnSpc>
                <a:spcPts val="2240"/>
              </a:lnSpc>
              <a:spcAft>
                <a:spcPts val="0"/>
              </a:spcAft>
              <a:defRPr sz="2000" b="0">
                <a:solidFill>
                  <a:srgbClr val="182B3A"/>
                </a:solidFill>
                <a:latin typeface="Arial"/>
              </a:defRPr>
            </a:pPr>
            <a:r>
              <a:t>30</a:t>
            </a:r>
          </a:p>
        </p:txBody>
      </p:sp>
      <p:sp>
        <p:nvSpPr>
          <p:cNvPr id="149" name="Rectangle 148"/>
          <p:cNvSpPr/>
          <p:nvPr/>
        </p:nvSpPr>
        <p:spPr>
          <a:xfrm>
            <a:off x="11841480" y="4718303"/>
            <a:ext cx="219456" cy="27432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0" name="TextBox 149"/>
          <p:cNvSpPr txBox="1"/>
          <p:nvPr/>
        </p:nvSpPr>
        <p:spPr>
          <a:xfrm>
            <a:off x="11841480" y="4718303"/>
            <a:ext cx="219456" cy="274320"/>
          </a:xfrm>
          <a:prstGeom prst="rect">
            <a:avLst/>
          </a:prstGeom>
          <a:noFill/>
        </p:spPr>
        <p:txBody>
          <a:bodyPr wrap="none" lIns="0" rIns="0" tIns="0" bIns="0">
            <a:spAutoFit/>
          </a:bodyPr>
          <a:lstStyle/>
          <a:p>
            <a:pPr algn="ctr">
              <a:lnSpc>
                <a:spcPts val="2240"/>
              </a:lnSpc>
              <a:spcAft>
                <a:spcPts val="0"/>
              </a:spcAft>
              <a:defRPr sz="2000" b="0">
                <a:solidFill>
                  <a:srgbClr val="182B3A"/>
                </a:solidFill>
                <a:latin typeface="Arial"/>
              </a:defRPr>
            </a:pPr>
            <a:r>
              <a:t>=</a:t>
            </a:r>
          </a:p>
        </p:txBody>
      </p:sp>
      <p:sp>
        <p:nvSpPr>
          <p:cNvPr id="151" name="TextBox 150"/>
          <p:cNvSpPr txBox="1"/>
          <p:nvPr/>
        </p:nvSpPr>
        <p:spPr>
          <a:xfrm>
            <a:off x="9765792" y="4869179"/>
            <a:ext cx="594360" cy="219456"/>
          </a:xfrm>
          <a:prstGeom prst="rect">
            <a:avLst/>
          </a:prstGeom>
          <a:noFill/>
        </p:spPr>
        <p:txBody>
          <a:bodyPr wrap="none" lIns="0" rIns="0" tIns="0" bIns="0">
            <a:spAutoFit/>
          </a:bodyPr>
          <a:lstStyle/>
          <a:p>
            <a:pPr algn="l">
              <a:lnSpc>
                <a:spcPts val="1456"/>
              </a:lnSpc>
              <a:spcAft>
                <a:spcPts val="0"/>
              </a:spcAft>
              <a:defRPr sz="1300" b="0">
                <a:solidFill>
                  <a:srgbClr val="3559A2"/>
                </a:solidFill>
                <a:latin typeface="Arial"/>
              </a:defRPr>
            </a:pPr>
            <a:r>
              <a:t>÷ 6</a:t>
            </a:r>
          </a:p>
        </p:txBody>
      </p:sp>
      <p:sp>
        <p:nvSpPr>
          <p:cNvPr id="152" name="TextBox 151"/>
          <p:cNvSpPr txBox="1"/>
          <p:nvPr/>
        </p:nvSpPr>
        <p:spPr>
          <a:xfrm>
            <a:off x="13542264" y="4869179"/>
            <a:ext cx="594360" cy="219456"/>
          </a:xfrm>
          <a:prstGeom prst="rect">
            <a:avLst/>
          </a:prstGeom>
          <a:noFill/>
        </p:spPr>
        <p:txBody>
          <a:bodyPr wrap="none" lIns="0" rIns="0" tIns="0" bIns="0">
            <a:spAutoFit/>
          </a:bodyPr>
          <a:lstStyle/>
          <a:p>
            <a:pPr algn="r">
              <a:lnSpc>
                <a:spcPts val="1456"/>
              </a:lnSpc>
              <a:spcAft>
                <a:spcPts val="0"/>
              </a:spcAft>
              <a:defRPr sz="1300" b="0">
                <a:solidFill>
                  <a:srgbClr val="3559A2"/>
                </a:solidFill>
                <a:latin typeface="Arial"/>
              </a:defRPr>
            </a:pPr>
            <a:r>
              <a:t>÷ 6</a:t>
            </a:r>
          </a:p>
        </p:txBody>
      </p:sp>
      <p:sp>
        <p:nvSpPr>
          <p:cNvPr id="153" name="TextBox 152"/>
          <p:cNvSpPr txBox="1"/>
          <p:nvPr/>
        </p:nvSpPr>
        <p:spPr>
          <a:xfrm>
            <a:off x="10378440" y="4992623"/>
            <a:ext cx="1417320" cy="320040"/>
          </a:xfrm>
          <a:prstGeom prst="rect">
            <a:avLst/>
          </a:prstGeom>
          <a:noFill/>
        </p:spPr>
        <p:txBody>
          <a:bodyPr wrap="none" lIns="0" rIns="0" tIns="0" bIns="0">
            <a:spAutoFit/>
          </a:bodyPr>
          <a:lstStyle/>
          <a:p>
            <a:pPr algn="r">
              <a:lnSpc>
                <a:spcPts val="2240"/>
              </a:lnSpc>
              <a:spcAft>
                <a:spcPts val="0"/>
              </a:spcAft>
              <a:defRPr sz="2000" b="0">
                <a:solidFill>
                  <a:srgbClr val="182B3A"/>
                </a:solidFill>
                <a:latin typeface="Arial"/>
              </a:defRPr>
            </a:pPr>
            <a:r>
              <a:t>x</a:t>
            </a:r>
          </a:p>
        </p:txBody>
      </p:sp>
      <p:sp>
        <p:nvSpPr>
          <p:cNvPr id="154" name="TextBox 153"/>
          <p:cNvSpPr txBox="1"/>
          <p:nvPr/>
        </p:nvSpPr>
        <p:spPr>
          <a:xfrm>
            <a:off x="12124944" y="4992623"/>
            <a:ext cx="1399032" cy="320040"/>
          </a:xfrm>
          <a:prstGeom prst="rect">
            <a:avLst/>
          </a:prstGeom>
          <a:noFill/>
        </p:spPr>
        <p:txBody>
          <a:bodyPr wrap="none" lIns="0" rIns="0" tIns="0" bIns="0">
            <a:spAutoFit/>
          </a:bodyPr>
          <a:lstStyle/>
          <a:p>
            <a:pPr algn="l">
              <a:lnSpc>
                <a:spcPts val="2240"/>
              </a:lnSpc>
              <a:spcAft>
                <a:spcPts val="0"/>
              </a:spcAft>
              <a:defRPr sz="2000" b="0">
                <a:solidFill>
                  <a:srgbClr val="182B3A"/>
                </a:solidFill>
                <a:latin typeface="Arial"/>
              </a:defRPr>
            </a:pPr>
            <a:r>
              <a:t>5</a:t>
            </a:r>
          </a:p>
        </p:txBody>
      </p:sp>
      <p:sp>
        <p:nvSpPr>
          <p:cNvPr id="155" name="Rectangle 154"/>
          <p:cNvSpPr/>
          <p:nvPr/>
        </p:nvSpPr>
        <p:spPr>
          <a:xfrm>
            <a:off x="11841480" y="4992623"/>
            <a:ext cx="219456" cy="27432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6" name="TextBox 155"/>
          <p:cNvSpPr txBox="1"/>
          <p:nvPr/>
        </p:nvSpPr>
        <p:spPr>
          <a:xfrm>
            <a:off x="11841480" y="4992623"/>
            <a:ext cx="219456" cy="274320"/>
          </a:xfrm>
          <a:prstGeom prst="rect">
            <a:avLst/>
          </a:prstGeom>
          <a:noFill/>
        </p:spPr>
        <p:txBody>
          <a:bodyPr wrap="none" lIns="0" rIns="0" tIns="0" bIns="0">
            <a:spAutoFit/>
          </a:bodyPr>
          <a:lstStyle/>
          <a:p>
            <a:pPr algn="ctr">
              <a:lnSpc>
                <a:spcPts val="2240"/>
              </a:lnSpc>
              <a:spcAft>
                <a:spcPts val="0"/>
              </a:spcAft>
              <a:defRPr sz="2000" b="0">
                <a:solidFill>
                  <a:srgbClr val="182B3A"/>
                </a:solidFill>
                <a:latin typeface="Arial"/>
              </a:defRPr>
            </a:pPr>
            <a:r>
              <a:t>=</a:t>
            </a:r>
          </a:p>
        </p:txBody>
      </p:sp>
      <p:sp>
        <p:nvSpPr>
          <p:cNvPr id="157" name="Rectangle 156"/>
          <p:cNvSpPr/>
          <p:nvPr/>
        </p:nvSpPr>
        <p:spPr>
          <a:xfrm>
            <a:off x="9646920" y="5705856"/>
            <a:ext cx="4631436" cy="1975104"/>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8" name="TextBox 157"/>
          <p:cNvSpPr txBox="1"/>
          <p:nvPr/>
        </p:nvSpPr>
        <p:spPr>
          <a:xfrm>
            <a:off x="9738360" y="5760720"/>
            <a:ext cx="4434840" cy="347472"/>
          </a:xfrm>
          <a:prstGeom prst="rect">
            <a:avLst/>
          </a:prstGeom>
          <a:noFill/>
        </p:spPr>
        <p:txBody>
          <a:bodyPr wrap="square" lIns="54864" rIns="54864" tIns="22860" bIns="22860">
            <a:spAutoFit/>
          </a:bodyPr>
          <a:lstStyle/>
          <a:p>
            <a:pPr>
              <a:lnSpc>
                <a:spcPts val="2205"/>
              </a:lnSpc>
              <a:spcBef>
                <a:spcPts val="0"/>
              </a:spcBef>
              <a:spcAft>
                <a:spcPts val="0"/>
              </a:spcAft>
              <a:defRPr sz="2100" b="1">
                <a:solidFill>
                  <a:srgbClr val="182B3A"/>
                </a:solidFill>
                <a:latin typeface="Arial"/>
              </a:defRPr>
            </a:pPr>
            <a:r>
              <a:t>3.  3(x − 4) = x − 16</a:t>
            </a:r>
          </a:p>
        </p:txBody>
      </p:sp>
      <p:cxnSp>
        <p:nvCxnSpPr>
          <p:cNvPr id="159" name="Connector 158"/>
          <p:cNvCxnSpPr/>
          <p:nvPr/>
        </p:nvCxnSpPr>
        <p:spPr>
          <a:xfrm>
            <a:off x="11951208" y="6227064"/>
            <a:ext cx="0" cy="1389888"/>
          </a:xfrm>
          <a:prstGeom prst="line">
            <a:avLst/>
          </a:prstGeom>
          <a:ln w="15240">
            <a:solidFill>
              <a:srgbClr val="8193A0"/>
            </a:solidFill>
          </a:ln>
          <a:effectLst/>
        </p:spPr>
        <p:style>
          <a:lnRef idx="2">
            <a:schemeClr val="accent1"/>
          </a:lnRef>
          <a:fillRef idx="0">
            <a:schemeClr val="accent1"/>
          </a:fillRef>
          <a:effectRef idx="1">
            <a:schemeClr val="accent1"/>
          </a:effectRef>
          <a:fontRef idx="minor">
            <a:schemeClr val="tx1"/>
          </a:fontRef>
        </p:style>
      </p:cxnSp>
      <p:sp>
        <p:nvSpPr>
          <p:cNvPr id="160" name="TextBox 159"/>
          <p:cNvSpPr txBox="1"/>
          <p:nvPr/>
        </p:nvSpPr>
        <p:spPr>
          <a:xfrm>
            <a:off x="10378440" y="6208776"/>
            <a:ext cx="1417320" cy="320040"/>
          </a:xfrm>
          <a:prstGeom prst="rect">
            <a:avLst/>
          </a:prstGeom>
          <a:noFill/>
        </p:spPr>
        <p:txBody>
          <a:bodyPr wrap="none" lIns="0" rIns="0" tIns="0" bIns="0">
            <a:spAutoFit/>
          </a:bodyPr>
          <a:lstStyle/>
          <a:p>
            <a:pPr algn="r">
              <a:lnSpc>
                <a:spcPts val="2240"/>
              </a:lnSpc>
              <a:spcAft>
                <a:spcPts val="0"/>
              </a:spcAft>
              <a:defRPr sz="2000" b="0">
                <a:solidFill>
                  <a:srgbClr val="182B3A"/>
                </a:solidFill>
                <a:latin typeface="Arial"/>
              </a:defRPr>
            </a:pPr>
            <a:r>
              <a:t>3(x − 4)</a:t>
            </a:r>
          </a:p>
        </p:txBody>
      </p:sp>
      <p:sp>
        <p:nvSpPr>
          <p:cNvPr id="161" name="TextBox 160"/>
          <p:cNvSpPr txBox="1"/>
          <p:nvPr/>
        </p:nvSpPr>
        <p:spPr>
          <a:xfrm>
            <a:off x="12124944" y="6208776"/>
            <a:ext cx="1399032" cy="320040"/>
          </a:xfrm>
          <a:prstGeom prst="rect">
            <a:avLst/>
          </a:prstGeom>
          <a:noFill/>
        </p:spPr>
        <p:txBody>
          <a:bodyPr wrap="none" lIns="0" rIns="0" tIns="0" bIns="0">
            <a:spAutoFit/>
          </a:bodyPr>
          <a:lstStyle/>
          <a:p>
            <a:pPr algn="l">
              <a:lnSpc>
                <a:spcPts val="2240"/>
              </a:lnSpc>
              <a:spcAft>
                <a:spcPts val="0"/>
              </a:spcAft>
              <a:defRPr sz="2000" b="0">
                <a:solidFill>
                  <a:srgbClr val="182B3A"/>
                </a:solidFill>
                <a:latin typeface="Arial"/>
              </a:defRPr>
            </a:pPr>
            <a:r>
              <a:t>x − 16</a:t>
            </a:r>
          </a:p>
        </p:txBody>
      </p:sp>
      <p:sp>
        <p:nvSpPr>
          <p:cNvPr id="162" name="Rectangle 161"/>
          <p:cNvSpPr/>
          <p:nvPr/>
        </p:nvSpPr>
        <p:spPr>
          <a:xfrm>
            <a:off x="11841480" y="6208776"/>
            <a:ext cx="219456" cy="27432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3" name="TextBox 162"/>
          <p:cNvSpPr txBox="1"/>
          <p:nvPr/>
        </p:nvSpPr>
        <p:spPr>
          <a:xfrm>
            <a:off x="11841480" y="6208776"/>
            <a:ext cx="219456" cy="274320"/>
          </a:xfrm>
          <a:prstGeom prst="rect">
            <a:avLst/>
          </a:prstGeom>
          <a:noFill/>
        </p:spPr>
        <p:txBody>
          <a:bodyPr wrap="none" lIns="0" rIns="0" tIns="0" bIns="0">
            <a:spAutoFit/>
          </a:bodyPr>
          <a:lstStyle/>
          <a:p>
            <a:pPr algn="ctr">
              <a:lnSpc>
                <a:spcPts val="2240"/>
              </a:lnSpc>
              <a:spcAft>
                <a:spcPts val="0"/>
              </a:spcAft>
              <a:defRPr sz="2000" b="0">
                <a:solidFill>
                  <a:srgbClr val="182B3A"/>
                </a:solidFill>
                <a:latin typeface="Arial"/>
              </a:defRPr>
            </a:pPr>
            <a:r>
              <a:t>=</a:t>
            </a:r>
          </a:p>
        </p:txBody>
      </p:sp>
      <p:sp>
        <p:nvSpPr>
          <p:cNvPr id="164" name="TextBox 163"/>
          <p:cNvSpPr txBox="1"/>
          <p:nvPr/>
        </p:nvSpPr>
        <p:spPr>
          <a:xfrm>
            <a:off x="10378440" y="6483096"/>
            <a:ext cx="1417320" cy="320040"/>
          </a:xfrm>
          <a:prstGeom prst="rect">
            <a:avLst/>
          </a:prstGeom>
          <a:noFill/>
        </p:spPr>
        <p:txBody>
          <a:bodyPr wrap="none" lIns="0" rIns="0" tIns="0" bIns="0">
            <a:spAutoFit/>
          </a:bodyPr>
          <a:lstStyle/>
          <a:p>
            <a:pPr algn="r">
              <a:lnSpc>
                <a:spcPts val="2240"/>
              </a:lnSpc>
              <a:spcAft>
                <a:spcPts val="0"/>
              </a:spcAft>
              <a:defRPr sz="2000" b="0">
                <a:solidFill>
                  <a:srgbClr val="182B3A"/>
                </a:solidFill>
                <a:latin typeface="Arial"/>
              </a:defRPr>
            </a:pPr>
            <a:r>
              <a:t>3x − 4</a:t>
            </a:r>
          </a:p>
        </p:txBody>
      </p:sp>
      <p:sp>
        <p:nvSpPr>
          <p:cNvPr id="165" name="TextBox 164"/>
          <p:cNvSpPr txBox="1"/>
          <p:nvPr/>
        </p:nvSpPr>
        <p:spPr>
          <a:xfrm>
            <a:off x="12124944" y="6483096"/>
            <a:ext cx="1399032" cy="320040"/>
          </a:xfrm>
          <a:prstGeom prst="rect">
            <a:avLst/>
          </a:prstGeom>
          <a:noFill/>
        </p:spPr>
        <p:txBody>
          <a:bodyPr wrap="none" lIns="0" rIns="0" tIns="0" bIns="0">
            <a:spAutoFit/>
          </a:bodyPr>
          <a:lstStyle/>
          <a:p>
            <a:pPr algn="l">
              <a:lnSpc>
                <a:spcPts val="2240"/>
              </a:lnSpc>
              <a:spcAft>
                <a:spcPts val="0"/>
              </a:spcAft>
              <a:defRPr sz="2000" b="0">
                <a:solidFill>
                  <a:srgbClr val="182B3A"/>
                </a:solidFill>
                <a:latin typeface="Arial"/>
              </a:defRPr>
            </a:pPr>
            <a:r>
              <a:t>x − 16</a:t>
            </a:r>
          </a:p>
        </p:txBody>
      </p:sp>
      <p:sp>
        <p:nvSpPr>
          <p:cNvPr id="166" name="Rectangle 165"/>
          <p:cNvSpPr/>
          <p:nvPr/>
        </p:nvSpPr>
        <p:spPr>
          <a:xfrm>
            <a:off x="11841480" y="6483096"/>
            <a:ext cx="219456" cy="27432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7" name="TextBox 166"/>
          <p:cNvSpPr txBox="1"/>
          <p:nvPr/>
        </p:nvSpPr>
        <p:spPr>
          <a:xfrm>
            <a:off x="11841480" y="6483096"/>
            <a:ext cx="219456" cy="274320"/>
          </a:xfrm>
          <a:prstGeom prst="rect">
            <a:avLst/>
          </a:prstGeom>
          <a:noFill/>
        </p:spPr>
        <p:txBody>
          <a:bodyPr wrap="none" lIns="0" rIns="0" tIns="0" bIns="0">
            <a:spAutoFit/>
          </a:bodyPr>
          <a:lstStyle/>
          <a:p>
            <a:pPr algn="ctr">
              <a:lnSpc>
                <a:spcPts val="2240"/>
              </a:lnSpc>
              <a:spcAft>
                <a:spcPts val="0"/>
              </a:spcAft>
              <a:defRPr sz="2000" b="0">
                <a:solidFill>
                  <a:srgbClr val="182B3A"/>
                </a:solidFill>
                <a:latin typeface="Arial"/>
              </a:defRPr>
            </a:pPr>
            <a:r>
              <a:t>=</a:t>
            </a:r>
          </a:p>
        </p:txBody>
      </p:sp>
      <p:sp>
        <p:nvSpPr>
          <p:cNvPr id="168" name="TextBox 167"/>
          <p:cNvSpPr txBox="1"/>
          <p:nvPr/>
        </p:nvSpPr>
        <p:spPr>
          <a:xfrm>
            <a:off x="9765792" y="6633972"/>
            <a:ext cx="594360" cy="219456"/>
          </a:xfrm>
          <a:prstGeom prst="rect">
            <a:avLst/>
          </a:prstGeom>
          <a:noFill/>
        </p:spPr>
        <p:txBody>
          <a:bodyPr wrap="none" lIns="0" rIns="0" tIns="0" bIns="0">
            <a:spAutoFit/>
          </a:bodyPr>
          <a:lstStyle/>
          <a:p>
            <a:pPr algn="l">
              <a:lnSpc>
                <a:spcPts val="1456"/>
              </a:lnSpc>
              <a:spcAft>
                <a:spcPts val="0"/>
              </a:spcAft>
              <a:defRPr sz="1300" b="0">
                <a:solidFill>
                  <a:srgbClr val="3559A2"/>
                </a:solidFill>
                <a:latin typeface="Arial"/>
              </a:defRPr>
            </a:pPr>
            <a:r>
              <a:t>− x</a:t>
            </a:r>
          </a:p>
        </p:txBody>
      </p:sp>
      <p:sp>
        <p:nvSpPr>
          <p:cNvPr id="169" name="TextBox 168"/>
          <p:cNvSpPr txBox="1"/>
          <p:nvPr/>
        </p:nvSpPr>
        <p:spPr>
          <a:xfrm>
            <a:off x="13542264" y="6633972"/>
            <a:ext cx="594360" cy="219456"/>
          </a:xfrm>
          <a:prstGeom prst="rect">
            <a:avLst/>
          </a:prstGeom>
          <a:noFill/>
        </p:spPr>
        <p:txBody>
          <a:bodyPr wrap="none" lIns="0" rIns="0" tIns="0" bIns="0">
            <a:spAutoFit/>
          </a:bodyPr>
          <a:lstStyle/>
          <a:p>
            <a:pPr algn="r">
              <a:lnSpc>
                <a:spcPts val="1456"/>
              </a:lnSpc>
              <a:spcAft>
                <a:spcPts val="0"/>
              </a:spcAft>
              <a:defRPr sz="1300" b="0">
                <a:solidFill>
                  <a:srgbClr val="3559A2"/>
                </a:solidFill>
                <a:latin typeface="Arial"/>
              </a:defRPr>
            </a:pPr>
            <a:r>
              <a:t>− x</a:t>
            </a:r>
          </a:p>
        </p:txBody>
      </p:sp>
      <p:sp>
        <p:nvSpPr>
          <p:cNvPr id="170" name="TextBox 169"/>
          <p:cNvSpPr txBox="1"/>
          <p:nvPr/>
        </p:nvSpPr>
        <p:spPr>
          <a:xfrm>
            <a:off x="10378440" y="6757416"/>
            <a:ext cx="1417320" cy="320040"/>
          </a:xfrm>
          <a:prstGeom prst="rect">
            <a:avLst/>
          </a:prstGeom>
          <a:noFill/>
        </p:spPr>
        <p:txBody>
          <a:bodyPr wrap="none" lIns="0" rIns="0" tIns="0" bIns="0">
            <a:spAutoFit/>
          </a:bodyPr>
          <a:lstStyle/>
          <a:p>
            <a:pPr algn="r">
              <a:lnSpc>
                <a:spcPts val="2240"/>
              </a:lnSpc>
              <a:spcAft>
                <a:spcPts val="0"/>
              </a:spcAft>
              <a:defRPr sz="2000" b="0">
                <a:solidFill>
                  <a:srgbClr val="182B3A"/>
                </a:solidFill>
                <a:latin typeface="Arial"/>
              </a:defRPr>
            </a:pPr>
            <a:r>
              <a:t>2x − 4</a:t>
            </a:r>
          </a:p>
        </p:txBody>
      </p:sp>
      <p:sp>
        <p:nvSpPr>
          <p:cNvPr id="171" name="TextBox 170"/>
          <p:cNvSpPr txBox="1"/>
          <p:nvPr/>
        </p:nvSpPr>
        <p:spPr>
          <a:xfrm>
            <a:off x="12124944" y="6757416"/>
            <a:ext cx="1399032" cy="320040"/>
          </a:xfrm>
          <a:prstGeom prst="rect">
            <a:avLst/>
          </a:prstGeom>
          <a:noFill/>
        </p:spPr>
        <p:txBody>
          <a:bodyPr wrap="none" lIns="0" rIns="0" tIns="0" bIns="0">
            <a:spAutoFit/>
          </a:bodyPr>
          <a:lstStyle/>
          <a:p>
            <a:pPr algn="l">
              <a:lnSpc>
                <a:spcPts val="2240"/>
              </a:lnSpc>
              <a:spcAft>
                <a:spcPts val="0"/>
              </a:spcAft>
              <a:defRPr sz="2000" b="0">
                <a:solidFill>
                  <a:srgbClr val="182B3A"/>
                </a:solidFill>
                <a:latin typeface="Arial"/>
              </a:defRPr>
            </a:pPr>
            <a:r>
              <a:t>−16</a:t>
            </a:r>
          </a:p>
        </p:txBody>
      </p:sp>
      <p:sp>
        <p:nvSpPr>
          <p:cNvPr id="172" name="Rectangle 171"/>
          <p:cNvSpPr/>
          <p:nvPr/>
        </p:nvSpPr>
        <p:spPr>
          <a:xfrm>
            <a:off x="11841480" y="6757416"/>
            <a:ext cx="219456" cy="27432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3" name="TextBox 172"/>
          <p:cNvSpPr txBox="1"/>
          <p:nvPr/>
        </p:nvSpPr>
        <p:spPr>
          <a:xfrm>
            <a:off x="11841480" y="6757416"/>
            <a:ext cx="219456" cy="274320"/>
          </a:xfrm>
          <a:prstGeom prst="rect">
            <a:avLst/>
          </a:prstGeom>
          <a:noFill/>
        </p:spPr>
        <p:txBody>
          <a:bodyPr wrap="none" lIns="0" rIns="0" tIns="0" bIns="0">
            <a:spAutoFit/>
          </a:bodyPr>
          <a:lstStyle/>
          <a:p>
            <a:pPr algn="ctr">
              <a:lnSpc>
                <a:spcPts val="2240"/>
              </a:lnSpc>
              <a:spcAft>
                <a:spcPts val="0"/>
              </a:spcAft>
              <a:defRPr sz="2000" b="0">
                <a:solidFill>
                  <a:srgbClr val="182B3A"/>
                </a:solidFill>
                <a:latin typeface="Arial"/>
              </a:defRPr>
            </a:pPr>
            <a:r>
              <a:t>=</a:t>
            </a:r>
          </a:p>
        </p:txBody>
      </p:sp>
      <p:sp>
        <p:nvSpPr>
          <p:cNvPr id="174" name="TextBox 173"/>
          <p:cNvSpPr txBox="1"/>
          <p:nvPr/>
        </p:nvSpPr>
        <p:spPr>
          <a:xfrm>
            <a:off x="9765792" y="6908292"/>
            <a:ext cx="594360" cy="219456"/>
          </a:xfrm>
          <a:prstGeom prst="rect">
            <a:avLst/>
          </a:prstGeom>
          <a:noFill/>
        </p:spPr>
        <p:txBody>
          <a:bodyPr wrap="none" lIns="0" rIns="0" tIns="0" bIns="0">
            <a:spAutoFit/>
          </a:bodyPr>
          <a:lstStyle/>
          <a:p>
            <a:pPr algn="l">
              <a:lnSpc>
                <a:spcPts val="1456"/>
              </a:lnSpc>
              <a:spcAft>
                <a:spcPts val="0"/>
              </a:spcAft>
              <a:defRPr sz="1300" b="0">
                <a:solidFill>
                  <a:srgbClr val="3559A2"/>
                </a:solidFill>
                <a:latin typeface="Arial"/>
              </a:defRPr>
            </a:pPr>
            <a:r>
              <a:t>+ 4</a:t>
            </a:r>
          </a:p>
        </p:txBody>
      </p:sp>
      <p:sp>
        <p:nvSpPr>
          <p:cNvPr id="175" name="TextBox 174"/>
          <p:cNvSpPr txBox="1"/>
          <p:nvPr/>
        </p:nvSpPr>
        <p:spPr>
          <a:xfrm>
            <a:off x="13542264" y="6908292"/>
            <a:ext cx="594360" cy="219456"/>
          </a:xfrm>
          <a:prstGeom prst="rect">
            <a:avLst/>
          </a:prstGeom>
          <a:noFill/>
        </p:spPr>
        <p:txBody>
          <a:bodyPr wrap="none" lIns="0" rIns="0" tIns="0" bIns="0">
            <a:spAutoFit/>
          </a:bodyPr>
          <a:lstStyle/>
          <a:p>
            <a:pPr algn="r">
              <a:lnSpc>
                <a:spcPts val="1456"/>
              </a:lnSpc>
              <a:spcAft>
                <a:spcPts val="0"/>
              </a:spcAft>
              <a:defRPr sz="1300" b="0">
                <a:solidFill>
                  <a:srgbClr val="3559A2"/>
                </a:solidFill>
                <a:latin typeface="Arial"/>
              </a:defRPr>
            </a:pPr>
            <a:r>
              <a:t>+ 4</a:t>
            </a:r>
          </a:p>
        </p:txBody>
      </p:sp>
      <p:sp>
        <p:nvSpPr>
          <p:cNvPr id="176" name="TextBox 175"/>
          <p:cNvSpPr txBox="1"/>
          <p:nvPr/>
        </p:nvSpPr>
        <p:spPr>
          <a:xfrm>
            <a:off x="10378440" y="7031736"/>
            <a:ext cx="1417320" cy="320040"/>
          </a:xfrm>
          <a:prstGeom prst="rect">
            <a:avLst/>
          </a:prstGeom>
          <a:noFill/>
        </p:spPr>
        <p:txBody>
          <a:bodyPr wrap="none" lIns="0" rIns="0" tIns="0" bIns="0">
            <a:spAutoFit/>
          </a:bodyPr>
          <a:lstStyle/>
          <a:p>
            <a:pPr algn="r">
              <a:lnSpc>
                <a:spcPts val="2240"/>
              </a:lnSpc>
              <a:spcAft>
                <a:spcPts val="0"/>
              </a:spcAft>
              <a:defRPr sz="2000" b="0">
                <a:solidFill>
                  <a:srgbClr val="182B3A"/>
                </a:solidFill>
                <a:latin typeface="Arial"/>
              </a:defRPr>
            </a:pPr>
            <a:r>
              <a:t>2x</a:t>
            </a:r>
          </a:p>
        </p:txBody>
      </p:sp>
      <p:sp>
        <p:nvSpPr>
          <p:cNvPr id="177" name="TextBox 176"/>
          <p:cNvSpPr txBox="1"/>
          <p:nvPr/>
        </p:nvSpPr>
        <p:spPr>
          <a:xfrm>
            <a:off x="12124944" y="7031736"/>
            <a:ext cx="1399032" cy="320040"/>
          </a:xfrm>
          <a:prstGeom prst="rect">
            <a:avLst/>
          </a:prstGeom>
          <a:noFill/>
        </p:spPr>
        <p:txBody>
          <a:bodyPr wrap="none" lIns="0" rIns="0" tIns="0" bIns="0">
            <a:spAutoFit/>
          </a:bodyPr>
          <a:lstStyle/>
          <a:p>
            <a:pPr algn="l">
              <a:lnSpc>
                <a:spcPts val="2240"/>
              </a:lnSpc>
              <a:spcAft>
                <a:spcPts val="0"/>
              </a:spcAft>
              <a:defRPr sz="2000" b="0">
                <a:solidFill>
                  <a:srgbClr val="182B3A"/>
                </a:solidFill>
                <a:latin typeface="Arial"/>
              </a:defRPr>
            </a:pPr>
            <a:r>
              <a:t>−12</a:t>
            </a:r>
          </a:p>
        </p:txBody>
      </p:sp>
      <p:sp>
        <p:nvSpPr>
          <p:cNvPr id="178" name="Rectangle 177"/>
          <p:cNvSpPr/>
          <p:nvPr/>
        </p:nvSpPr>
        <p:spPr>
          <a:xfrm>
            <a:off x="11841480" y="7031736"/>
            <a:ext cx="219456" cy="27432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9" name="TextBox 178"/>
          <p:cNvSpPr txBox="1"/>
          <p:nvPr/>
        </p:nvSpPr>
        <p:spPr>
          <a:xfrm>
            <a:off x="11841480" y="7031736"/>
            <a:ext cx="219456" cy="274320"/>
          </a:xfrm>
          <a:prstGeom prst="rect">
            <a:avLst/>
          </a:prstGeom>
          <a:noFill/>
        </p:spPr>
        <p:txBody>
          <a:bodyPr wrap="none" lIns="0" rIns="0" tIns="0" bIns="0">
            <a:spAutoFit/>
          </a:bodyPr>
          <a:lstStyle/>
          <a:p>
            <a:pPr algn="ctr">
              <a:lnSpc>
                <a:spcPts val="2240"/>
              </a:lnSpc>
              <a:spcAft>
                <a:spcPts val="0"/>
              </a:spcAft>
              <a:defRPr sz="2000" b="0">
                <a:solidFill>
                  <a:srgbClr val="182B3A"/>
                </a:solidFill>
                <a:latin typeface="Arial"/>
              </a:defRPr>
            </a:pPr>
            <a:r>
              <a:t>=</a:t>
            </a:r>
          </a:p>
        </p:txBody>
      </p:sp>
      <p:sp>
        <p:nvSpPr>
          <p:cNvPr id="180" name="TextBox 179"/>
          <p:cNvSpPr txBox="1"/>
          <p:nvPr/>
        </p:nvSpPr>
        <p:spPr>
          <a:xfrm>
            <a:off x="9765792" y="7182612"/>
            <a:ext cx="594360" cy="219456"/>
          </a:xfrm>
          <a:prstGeom prst="rect">
            <a:avLst/>
          </a:prstGeom>
          <a:noFill/>
        </p:spPr>
        <p:txBody>
          <a:bodyPr wrap="none" lIns="0" rIns="0" tIns="0" bIns="0">
            <a:spAutoFit/>
          </a:bodyPr>
          <a:lstStyle/>
          <a:p>
            <a:pPr algn="l">
              <a:lnSpc>
                <a:spcPts val="1456"/>
              </a:lnSpc>
              <a:spcAft>
                <a:spcPts val="0"/>
              </a:spcAft>
              <a:defRPr sz="1300" b="0">
                <a:solidFill>
                  <a:srgbClr val="3559A2"/>
                </a:solidFill>
                <a:latin typeface="Arial"/>
              </a:defRPr>
            </a:pPr>
            <a:r>
              <a:t>÷ 2</a:t>
            </a:r>
          </a:p>
        </p:txBody>
      </p:sp>
      <p:sp>
        <p:nvSpPr>
          <p:cNvPr id="181" name="TextBox 180"/>
          <p:cNvSpPr txBox="1"/>
          <p:nvPr/>
        </p:nvSpPr>
        <p:spPr>
          <a:xfrm>
            <a:off x="13542264" y="7182612"/>
            <a:ext cx="594360" cy="219456"/>
          </a:xfrm>
          <a:prstGeom prst="rect">
            <a:avLst/>
          </a:prstGeom>
          <a:noFill/>
        </p:spPr>
        <p:txBody>
          <a:bodyPr wrap="none" lIns="0" rIns="0" tIns="0" bIns="0">
            <a:spAutoFit/>
          </a:bodyPr>
          <a:lstStyle/>
          <a:p>
            <a:pPr algn="r">
              <a:lnSpc>
                <a:spcPts val="1456"/>
              </a:lnSpc>
              <a:spcAft>
                <a:spcPts val="0"/>
              </a:spcAft>
              <a:defRPr sz="1300" b="0">
                <a:solidFill>
                  <a:srgbClr val="3559A2"/>
                </a:solidFill>
                <a:latin typeface="Arial"/>
              </a:defRPr>
            </a:pPr>
            <a:r>
              <a:t>÷ 2</a:t>
            </a:r>
          </a:p>
        </p:txBody>
      </p:sp>
      <p:sp>
        <p:nvSpPr>
          <p:cNvPr id="182" name="TextBox 181"/>
          <p:cNvSpPr txBox="1"/>
          <p:nvPr/>
        </p:nvSpPr>
        <p:spPr>
          <a:xfrm>
            <a:off x="10378440" y="7306056"/>
            <a:ext cx="1417320" cy="320040"/>
          </a:xfrm>
          <a:prstGeom prst="rect">
            <a:avLst/>
          </a:prstGeom>
          <a:noFill/>
        </p:spPr>
        <p:txBody>
          <a:bodyPr wrap="none" lIns="0" rIns="0" tIns="0" bIns="0">
            <a:spAutoFit/>
          </a:bodyPr>
          <a:lstStyle/>
          <a:p>
            <a:pPr algn="r">
              <a:lnSpc>
                <a:spcPts val="2240"/>
              </a:lnSpc>
              <a:spcAft>
                <a:spcPts val="0"/>
              </a:spcAft>
              <a:defRPr sz="2000" b="0">
                <a:solidFill>
                  <a:srgbClr val="182B3A"/>
                </a:solidFill>
                <a:latin typeface="Arial"/>
              </a:defRPr>
            </a:pPr>
            <a:r>
              <a:t>x</a:t>
            </a:r>
          </a:p>
        </p:txBody>
      </p:sp>
      <p:sp>
        <p:nvSpPr>
          <p:cNvPr id="183" name="TextBox 182"/>
          <p:cNvSpPr txBox="1"/>
          <p:nvPr/>
        </p:nvSpPr>
        <p:spPr>
          <a:xfrm>
            <a:off x="12124944" y="7306056"/>
            <a:ext cx="1399032" cy="320040"/>
          </a:xfrm>
          <a:prstGeom prst="rect">
            <a:avLst/>
          </a:prstGeom>
          <a:noFill/>
        </p:spPr>
        <p:txBody>
          <a:bodyPr wrap="none" lIns="0" rIns="0" tIns="0" bIns="0">
            <a:spAutoFit/>
          </a:bodyPr>
          <a:lstStyle/>
          <a:p>
            <a:pPr algn="l">
              <a:lnSpc>
                <a:spcPts val="2240"/>
              </a:lnSpc>
              <a:spcAft>
                <a:spcPts val="0"/>
              </a:spcAft>
              <a:defRPr sz="2000" b="0">
                <a:solidFill>
                  <a:srgbClr val="182B3A"/>
                </a:solidFill>
                <a:latin typeface="Arial"/>
              </a:defRPr>
            </a:pPr>
            <a:r>
              <a:t>−6</a:t>
            </a:r>
          </a:p>
        </p:txBody>
      </p:sp>
      <p:sp>
        <p:nvSpPr>
          <p:cNvPr id="184" name="Rectangle 183"/>
          <p:cNvSpPr/>
          <p:nvPr/>
        </p:nvSpPr>
        <p:spPr>
          <a:xfrm>
            <a:off x="11841480" y="7306056"/>
            <a:ext cx="219456" cy="27432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5" name="TextBox 184"/>
          <p:cNvSpPr txBox="1"/>
          <p:nvPr/>
        </p:nvSpPr>
        <p:spPr>
          <a:xfrm>
            <a:off x="11841480" y="7306056"/>
            <a:ext cx="219456" cy="274320"/>
          </a:xfrm>
          <a:prstGeom prst="rect">
            <a:avLst/>
          </a:prstGeom>
          <a:noFill/>
        </p:spPr>
        <p:txBody>
          <a:bodyPr wrap="none" lIns="0" rIns="0" tIns="0" bIns="0">
            <a:spAutoFit/>
          </a:bodyPr>
          <a:lstStyle/>
          <a:p>
            <a:pPr algn="ctr">
              <a:lnSpc>
                <a:spcPts val="2240"/>
              </a:lnSpc>
              <a:spcAft>
                <a:spcPts val="0"/>
              </a:spcAft>
              <a:defRPr sz="2000" b="0">
                <a:solidFill>
                  <a:srgbClr val="182B3A"/>
                </a:solidFill>
                <a:latin typeface="Arial"/>
              </a:defRPr>
            </a:pPr>
            <a:r>
              <a:t>=</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bg>
      <p:bgPr>
        <a:solidFill>
          <a:srgbClr val="F7F8FA"/>
        </a:solidFill>
        <a:effectLst/>
      </p:bgPr>
    </p:bg>
    <p:spTree>
      <p:nvGrpSpPr>
        <p:cNvPr id="1" name=""/>
        <p:cNvGrpSpPr/>
        <p:nvPr/>
      </p:nvGrpSpPr>
      <p:grpSpPr/>
      <p:sp>
        <p:nvSpPr>
          <p:cNvPr id="2" name="Rectangle 1"/>
          <p:cNvSpPr/>
          <p:nvPr/>
        </p:nvSpPr>
        <p:spPr>
          <a:xfrm>
            <a:off x="0" y="0"/>
            <a:ext cx="14630400" cy="73152"/>
          </a:xfrm>
          <a:prstGeom prst="rect">
            <a:avLst/>
          </a:prstGeom>
          <a:solidFill>
            <a:srgbClr val="176B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20040" y="164592"/>
            <a:ext cx="13990320" cy="457200"/>
          </a:xfrm>
          <a:prstGeom prst="rect">
            <a:avLst/>
          </a:prstGeom>
          <a:noFill/>
        </p:spPr>
        <p:txBody>
          <a:bodyPr wrap="square" lIns="54864" rIns="54864" tIns="22860" bIns="22860">
            <a:spAutoFit/>
          </a:bodyPr>
          <a:lstStyle/>
          <a:p>
            <a:pPr>
              <a:lnSpc>
                <a:spcPts val="2940"/>
              </a:lnSpc>
              <a:spcBef>
                <a:spcPts val="0"/>
              </a:spcBef>
              <a:spcAft>
                <a:spcPts val="0"/>
              </a:spcAft>
              <a:defRPr sz="2800" b="1">
                <a:solidFill>
                  <a:srgbClr val="182B3A"/>
                </a:solidFill>
                <a:latin typeface="Arial"/>
              </a:defRPr>
            </a:pPr>
            <a:r>
              <a:t>Solving equations</a:t>
            </a:r>
          </a:p>
        </p:txBody>
      </p:sp>
      <p:sp>
        <p:nvSpPr>
          <p:cNvPr id="4" name="TextBox 3"/>
          <p:cNvSpPr txBox="1"/>
          <p:nvPr/>
        </p:nvSpPr>
        <p:spPr>
          <a:xfrm>
            <a:off x="320040" y="704088"/>
            <a:ext cx="13990320" cy="347472"/>
          </a:xfrm>
          <a:prstGeom prst="rect">
            <a:avLst/>
          </a:prstGeom>
          <a:noFill/>
        </p:spPr>
        <p:txBody>
          <a:bodyPr wrap="square" lIns="54864" rIns="54864" tIns="22860" bIns="22860">
            <a:spAutoFit/>
          </a:bodyPr>
          <a:lstStyle/>
          <a:p>
            <a:pPr>
              <a:lnSpc>
                <a:spcPts val="1575"/>
              </a:lnSpc>
              <a:spcBef>
                <a:spcPts val="0"/>
              </a:spcBef>
              <a:spcAft>
                <a:spcPts val="0"/>
              </a:spcAft>
              <a:defRPr sz="1500" b="0">
                <a:solidFill>
                  <a:srgbClr val="526472"/>
                </a:solidFill>
                <a:latin typeface="Arial"/>
              </a:defRPr>
            </a:pPr>
            <a:r>
              <a:t>Independent practice 1 • Solve each equation and check by substitution.</a:t>
            </a:r>
          </a:p>
        </p:txBody>
      </p:sp>
      <p:sp>
        <p:nvSpPr>
          <p:cNvPr id="5" name="TextBox 4"/>
          <p:cNvSpPr txBox="1"/>
          <p:nvPr/>
        </p:nvSpPr>
        <p:spPr>
          <a:xfrm>
            <a:off x="320040" y="7973568"/>
            <a:ext cx="10789920" cy="210312"/>
          </a:xfrm>
          <a:prstGeom prst="rect">
            <a:avLst/>
          </a:prstGeom>
          <a:noFill/>
        </p:spPr>
        <p:txBody>
          <a:bodyPr wrap="square" lIns="54864" rIns="54864" tIns="22860" bIns="22860">
            <a:spAutoFit/>
          </a:bodyPr>
          <a:lstStyle/>
          <a:p>
            <a:pPr>
              <a:lnSpc>
                <a:spcPts val="1155"/>
              </a:lnSpc>
              <a:spcBef>
                <a:spcPts val="0"/>
              </a:spcBef>
              <a:spcAft>
                <a:spcPts val="0"/>
              </a:spcAft>
              <a:defRPr sz="1100" b="0">
                <a:solidFill>
                  <a:srgbClr val="526472"/>
                </a:solidFill>
                <a:latin typeface="Arial"/>
              </a:defRPr>
            </a:pPr>
            <a:r>
              <a:t>GCSE Maths revision • No calculator • Show your working.</a:t>
            </a:r>
          </a:p>
        </p:txBody>
      </p:sp>
      <p:sp>
        <p:nvSpPr>
          <p:cNvPr id="6" name="TextBox 5"/>
          <p:cNvSpPr txBox="1"/>
          <p:nvPr/>
        </p:nvSpPr>
        <p:spPr>
          <a:xfrm>
            <a:off x="11155680" y="7973568"/>
            <a:ext cx="3108960" cy="210312"/>
          </a:xfrm>
          <a:prstGeom prst="rect">
            <a:avLst/>
          </a:prstGeom>
          <a:noFill/>
        </p:spPr>
        <p:txBody>
          <a:bodyPr wrap="square" lIns="54864" rIns="54864" tIns="22860" bIns="22860">
            <a:spAutoFit/>
          </a:bodyPr>
          <a:lstStyle/>
          <a:p>
            <a:pPr>
              <a:lnSpc>
                <a:spcPts val="1155"/>
              </a:lnSpc>
              <a:spcBef>
                <a:spcPts val="0"/>
              </a:spcBef>
              <a:spcAft>
                <a:spcPts val="0"/>
              </a:spcAft>
              <a:defRPr sz="1100" b="0">
                <a:solidFill>
                  <a:srgbClr val="526472"/>
                </a:solidFill>
                <a:latin typeface="Arial"/>
              </a:defRPr>
            </a:pPr>
            <a:r>
              <a:t>M10-S04</a:t>
            </a:r>
          </a:p>
        </p:txBody>
      </p:sp>
      <p:sp>
        <p:nvSpPr>
          <p:cNvPr id="7" name="Rectangle 6"/>
          <p:cNvSpPr/>
          <p:nvPr/>
        </p:nvSpPr>
        <p:spPr>
          <a:xfrm>
            <a:off x="320040" y="1115568"/>
            <a:ext cx="4640580" cy="420624"/>
          </a:xfrm>
          <a:prstGeom prst="rect">
            <a:avLst/>
          </a:prstGeom>
          <a:solidFill>
            <a:srgbClr val="176B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347472" y="1147572"/>
            <a:ext cx="4581144" cy="329184"/>
          </a:xfrm>
          <a:prstGeom prst="rect">
            <a:avLst/>
          </a:prstGeom>
          <a:noFill/>
        </p:spPr>
        <p:txBody>
          <a:bodyPr wrap="square" lIns="54864" rIns="54864" tIns="22860" bIns="22860">
            <a:spAutoFit/>
          </a:bodyPr>
          <a:lstStyle/>
          <a:p>
            <a:pPr>
              <a:lnSpc>
                <a:spcPts val="1995"/>
              </a:lnSpc>
              <a:spcBef>
                <a:spcPts val="0"/>
              </a:spcBef>
              <a:spcAft>
                <a:spcPts val="0"/>
              </a:spcAft>
              <a:defRPr sz="1900" b="1">
                <a:solidFill>
                  <a:srgbClr val="FFFFFF"/>
                </a:solidFill>
                <a:latin typeface="Arial"/>
              </a:defRPr>
            </a:pPr>
            <a:r>
              <a:t>Start</a:t>
            </a:r>
          </a:p>
        </p:txBody>
      </p:sp>
      <p:sp>
        <p:nvSpPr>
          <p:cNvPr id="9" name="Rectangle 8"/>
          <p:cNvSpPr/>
          <p:nvPr/>
        </p:nvSpPr>
        <p:spPr>
          <a:xfrm>
            <a:off x="4983480" y="1115568"/>
            <a:ext cx="4640580" cy="420624"/>
          </a:xfrm>
          <a:prstGeom prst="rect">
            <a:avLst/>
          </a:prstGeom>
          <a:solidFill>
            <a:srgbClr val="3559A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010912" y="1147572"/>
            <a:ext cx="4581144" cy="329184"/>
          </a:xfrm>
          <a:prstGeom prst="rect">
            <a:avLst/>
          </a:prstGeom>
          <a:noFill/>
        </p:spPr>
        <p:txBody>
          <a:bodyPr wrap="square" lIns="54864" rIns="54864" tIns="22860" bIns="22860">
            <a:spAutoFit/>
          </a:bodyPr>
          <a:lstStyle/>
          <a:p>
            <a:pPr>
              <a:lnSpc>
                <a:spcPts val="1995"/>
              </a:lnSpc>
              <a:spcBef>
                <a:spcPts val="0"/>
              </a:spcBef>
              <a:spcAft>
                <a:spcPts val="0"/>
              </a:spcAft>
              <a:defRPr sz="1900" b="1">
                <a:solidFill>
                  <a:srgbClr val="FFFFFF"/>
                </a:solidFill>
                <a:latin typeface="Arial"/>
              </a:defRPr>
            </a:pPr>
            <a:r>
              <a:t>Build</a:t>
            </a:r>
          </a:p>
        </p:txBody>
      </p:sp>
      <p:sp>
        <p:nvSpPr>
          <p:cNvPr id="11" name="Rectangle 10"/>
          <p:cNvSpPr/>
          <p:nvPr/>
        </p:nvSpPr>
        <p:spPr>
          <a:xfrm>
            <a:off x="9646920" y="1115568"/>
            <a:ext cx="4640580" cy="420624"/>
          </a:xfrm>
          <a:prstGeom prst="rect">
            <a:avLst/>
          </a:prstGeom>
          <a:solidFill>
            <a:srgbClr val="754B8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9674352" y="1147572"/>
            <a:ext cx="4581144" cy="329184"/>
          </a:xfrm>
          <a:prstGeom prst="rect">
            <a:avLst/>
          </a:prstGeom>
          <a:noFill/>
        </p:spPr>
        <p:txBody>
          <a:bodyPr wrap="square" lIns="54864" rIns="54864" tIns="22860" bIns="22860">
            <a:spAutoFit/>
          </a:bodyPr>
          <a:lstStyle/>
          <a:p>
            <a:pPr>
              <a:lnSpc>
                <a:spcPts val="1995"/>
              </a:lnSpc>
              <a:spcBef>
                <a:spcPts val="0"/>
              </a:spcBef>
              <a:spcAft>
                <a:spcPts val="0"/>
              </a:spcAft>
              <a:defRPr sz="1900" b="1">
                <a:solidFill>
                  <a:srgbClr val="FFFFFF"/>
                </a:solidFill>
                <a:latin typeface="Arial"/>
              </a:defRPr>
            </a:pPr>
            <a:r>
              <a:t>Confidence</a:t>
            </a:r>
          </a:p>
        </p:txBody>
      </p:sp>
      <p:sp>
        <p:nvSpPr>
          <p:cNvPr id="13" name="Rectangle 12"/>
          <p:cNvSpPr/>
          <p:nvPr/>
        </p:nvSpPr>
        <p:spPr>
          <a:xfrm>
            <a:off x="320040" y="1581912"/>
            <a:ext cx="4640580" cy="1005840"/>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11479" y="1783080"/>
            <a:ext cx="365760" cy="548640"/>
          </a:xfrm>
          <a:prstGeom prst="rect">
            <a:avLst/>
          </a:prstGeom>
          <a:noFill/>
        </p:spPr>
        <p:txBody>
          <a:bodyPr wrap="square" lIns="54864" rIns="54864" tIns="22860" bIns="22860">
            <a:spAutoFit/>
          </a:bodyPr>
          <a:lstStyle/>
          <a:p>
            <a:pPr>
              <a:lnSpc>
                <a:spcPts val="2100"/>
              </a:lnSpc>
              <a:spcBef>
                <a:spcPts val="0"/>
              </a:spcBef>
              <a:spcAft>
                <a:spcPts val="0"/>
              </a:spcAft>
              <a:defRPr sz="2000" b="1">
                <a:solidFill>
                  <a:srgbClr val="182B3A"/>
                </a:solidFill>
                <a:latin typeface="Arial"/>
              </a:defRPr>
            </a:pPr>
            <a:r>
              <a:t>1.</a:t>
            </a:r>
          </a:p>
        </p:txBody>
      </p:sp>
      <p:sp>
        <p:nvSpPr>
          <p:cNvPr id="15" name="TextBox 14"/>
          <p:cNvSpPr txBox="1"/>
          <p:nvPr/>
        </p:nvSpPr>
        <p:spPr>
          <a:xfrm>
            <a:off x="804672" y="1783080"/>
            <a:ext cx="4059936" cy="594360"/>
          </a:xfrm>
          <a:prstGeom prst="rect">
            <a:avLst/>
          </a:prstGeom>
          <a:noFill/>
        </p:spPr>
        <p:txBody>
          <a:bodyPr wrap="square" lIns="54864" rIns="54864" tIns="22860" bIns="22860">
            <a:spAutoFit/>
          </a:bodyPr>
          <a:lstStyle/>
          <a:p>
            <a:pPr>
              <a:lnSpc>
                <a:spcPts val="2520"/>
              </a:lnSpc>
              <a:spcBef>
                <a:spcPts val="0"/>
              </a:spcBef>
              <a:spcAft>
                <a:spcPts val="0"/>
              </a:spcAft>
              <a:defRPr sz="2400" b="0">
                <a:solidFill>
                  <a:srgbClr val="182B3A"/>
                </a:solidFill>
                <a:latin typeface="Arial"/>
              </a:defRPr>
            </a:pPr>
            <a:r>
              <a:t>x + 6 = -2</a:t>
            </a:r>
          </a:p>
        </p:txBody>
      </p:sp>
      <p:sp>
        <p:nvSpPr>
          <p:cNvPr id="16" name="Rectangle 15"/>
          <p:cNvSpPr/>
          <p:nvPr/>
        </p:nvSpPr>
        <p:spPr>
          <a:xfrm>
            <a:off x="320040" y="2587752"/>
            <a:ext cx="4640580" cy="1005840"/>
          </a:xfrm>
          <a:prstGeom prst="rect">
            <a:avLst/>
          </a:prstGeom>
          <a:solidFill>
            <a:srgbClr val="EDF6F5"/>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411479" y="2788920"/>
            <a:ext cx="365760" cy="548640"/>
          </a:xfrm>
          <a:prstGeom prst="rect">
            <a:avLst/>
          </a:prstGeom>
          <a:noFill/>
        </p:spPr>
        <p:txBody>
          <a:bodyPr wrap="square" lIns="54864" rIns="54864" tIns="22860" bIns="22860">
            <a:spAutoFit/>
          </a:bodyPr>
          <a:lstStyle/>
          <a:p>
            <a:pPr>
              <a:lnSpc>
                <a:spcPts val="2100"/>
              </a:lnSpc>
              <a:spcBef>
                <a:spcPts val="0"/>
              </a:spcBef>
              <a:spcAft>
                <a:spcPts val="0"/>
              </a:spcAft>
              <a:defRPr sz="2000" b="1">
                <a:solidFill>
                  <a:srgbClr val="182B3A"/>
                </a:solidFill>
                <a:latin typeface="Arial"/>
              </a:defRPr>
            </a:pPr>
            <a:r>
              <a:t>2.</a:t>
            </a:r>
          </a:p>
        </p:txBody>
      </p:sp>
      <p:sp>
        <p:nvSpPr>
          <p:cNvPr id="18" name="TextBox 17"/>
          <p:cNvSpPr txBox="1"/>
          <p:nvPr/>
        </p:nvSpPr>
        <p:spPr>
          <a:xfrm>
            <a:off x="804672" y="2788920"/>
            <a:ext cx="4059936" cy="594360"/>
          </a:xfrm>
          <a:prstGeom prst="rect">
            <a:avLst/>
          </a:prstGeom>
          <a:noFill/>
        </p:spPr>
        <p:txBody>
          <a:bodyPr wrap="square" lIns="54864" rIns="54864" tIns="22860" bIns="22860">
            <a:spAutoFit/>
          </a:bodyPr>
          <a:lstStyle/>
          <a:p>
            <a:pPr>
              <a:lnSpc>
                <a:spcPts val="2520"/>
              </a:lnSpc>
              <a:spcBef>
                <a:spcPts val="0"/>
              </a:spcBef>
              <a:spcAft>
                <a:spcPts val="0"/>
              </a:spcAft>
              <a:defRPr sz="2400" b="0">
                <a:solidFill>
                  <a:srgbClr val="182B3A"/>
                </a:solidFill>
                <a:latin typeface="Arial"/>
              </a:defRPr>
            </a:pPr>
            <a:r>
              <a:t>8 = x − 6</a:t>
            </a:r>
          </a:p>
        </p:txBody>
      </p:sp>
      <p:sp>
        <p:nvSpPr>
          <p:cNvPr id="19" name="Rectangle 18"/>
          <p:cNvSpPr/>
          <p:nvPr/>
        </p:nvSpPr>
        <p:spPr>
          <a:xfrm>
            <a:off x="320040" y="3593592"/>
            <a:ext cx="4640580" cy="1005840"/>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411479" y="3794760"/>
            <a:ext cx="365760" cy="548640"/>
          </a:xfrm>
          <a:prstGeom prst="rect">
            <a:avLst/>
          </a:prstGeom>
          <a:noFill/>
        </p:spPr>
        <p:txBody>
          <a:bodyPr wrap="square" lIns="54864" rIns="54864" tIns="22860" bIns="22860">
            <a:spAutoFit/>
          </a:bodyPr>
          <a:lstStyle/>
          <a:p>
            <a:pPr>
              <a:lnSpc>
                <a:spcPts val="2100"/>
              </a:lnSpc>
              <a:spcBef>
                <a:spcPts val="0"/>
              </a:spcBef>
              <a:spcAft>
                <a:spcPts val="0"/>
              </a:spcAft>
              <a:defRPr sz="2000" b="1">
                <a:solidFill>
                  <a:srgbClr val="182B3A"/>
                </a:solidFill>
                <a:latin typeface="Arial"/>
              </a:defRPr>
            </a:pPr>
            <a:r>
              <a:t>3.</a:t>
            </a:r>
          </a:p>
        </p:txBody>
      </p:sp>
      <p:sp>
        <p:nvSpPr>
          <p:cNvPr id="21" name="TextBox 20"/>
          <p:cNvSpPr txBox="1"/>
          <p:nvPr/>
        </p:nvSpPr>
        <p:spPr>
          <a:xfrm>
            <a:off x="804672" y="3794760"/>
            <a:ext cx="4059936" cy="594360"/>
          </a:xfrm>
          <a:prstGeom prst="rect">
            <a:avLst/>
          </a:prstGeom>
          <a:noFill/>
        </p:spPr>
        <p:txBody>
          <a:bodyPr wrap="square" lIns="54864" rIns="54864" tIns="22860" bIns="22860">
            <a:spAutoFit/>
          </a:bodyPr>
          <a:lstStyle/>
          <a:p>
            <a:pPr>
              <a:lnSpc>
                <a:spcPts val="2520"/>
              </a:lnSpc>
              <a:spcBef>
                <a:spcPts val="0"/>
              </a:spcBef>
              <a:spcAft>
                <a:spcPts val="0"/>
              </a:spcAft>
              <a:defRPr sz="2400" b="0">
                <a:solidFill>
                  <a:srgbClr val="182B3A"/>
                </a:solidFill>
                <a:latin typeface="Arial"/>
              </a:defRPr>
            </a:pPr>
            <a:r>
              <a:t>x − 7 = 18</a:t>
            </a:r>
          </a:p>
        </p:txBody>
      </p:sp>
      <p:sp>
        <p:nvSpPr>
          <p:cNvPr id="22" name="Rectangle 21"/>
          <p:cNvSpPr/>
          <p:nvPr/>
        </p:nvSpPr>
        <p:spPr>
          <a:xfrm>
            <a:off x="320040" y="4599432"/>
            <a:ext cx="4640580" cy="1005840"/>
          </a:xfrm>
          <a:prstGeom prst="rect">
            <a:avLst/>
          </a:prstGeom>
          <a:solidFill>
            <a:srgbClr val="EDF6F5"/>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411479" y="4800600"/>
            <a:ext cx="365760" cy="548640"/>
          </a:xfrm>
          <a:prstGeom prst="rect">
            <a:avLst/>
          </a:prstGeom>
          <a:noFill/>
        </p:spPr>
        <p:txBody>
          <a:bodyPr wrap="square" lIns="54864" rIns="54864" tIns="22860" bIns="22860">
            <a:spAutoFit/>
          </a:bodyPr>
          <a:lstStyle/>
          <a:p>
            <a:pPr>
              <a:lnSpc>
                <a:spcPts val="2100"/>
              </a:lnSpc>
              <a:spcBef>
                <a:spcPts val="0"/>
              </a:spcBef>
              <a:spcAft>
                <a:spcPts val="0"/>
              </a:spcAft>
              <a:defRPr sz="2000" b="1">
                <a:solidFill>
                  <a:srgbClr val="182B3A"/>
                </a:solidFill>
                <a:latin typeface="Arial"/>
              </a:defRPr>
            </a:pPr>
            <a:r>
              <a:t>4.</a:t>
            </a:r>
          </a:p>
        </p:txBody>
      </p:sp>
      <p:sp>
        <p:nvSpPr>
          <p:cNvPr id="24" name="TextBox 23"/>
          <p:cNvSpPr txBox="1"/>
          <p:nvPr/>
        </p:nvSpPr>
        <p:spPr>
          <a:xfrm>
            <a:off x="804672" y="4800600"/>
            <a:ext cx="4059936" cy="594360"/>
          </a:xfrm>
          <a:prstGeom prst="rect">
            <a:avLst/>
          </a:prstGeom>
          <a:noFill/>
        </p:spPr>
        <p:txBody>
          <a:bodyPr wrap="square" lIns="54864" rIns="54864" tIns="22860" bIns="22860">
            <a:spAutoFit/>
          </a:bodyPr>
          <a:lstStyle/>
          <a:p>
            <a:pPr>
              <a:lnSpc>
                <a:spcPts val="2520"/>
              </a:lnSpc>
              <a:spcBef>
                <a:spcPts val="0"/>
              </a:spcBef>
              <a:spcAft>
                <a:spcPts val="0"/>
              </a:spcAft>
              <a:defRPr sz="2400" b="0">
                <a:solidFill>
                  <a:srgbClr val="182B3A"/>
                </a:solidFill>
                <a:latin typeface="Arial"/>
              </a:defRPr>
            </a:pPr>
            <a:r>
              <a:t>x − 9 = -4</a:t>
            </a:r>
          </a:p>
        </p:txBody>
      </p:sp>
      <p:sp>
        <p:nvSpPr>
          <p:cNvPr id="25" name="Rectangle 24"/>
          <p:cNvSpPr/>
          <p:nvPr/>
        </p:nvSpPr>
        <p:spPr>
          <a:xfrm>
            <a:off x="320040" y="5605272"/>
            <a:ext cx="4640580" cy="1005840"/>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411479" y="5806440"/>
            <a:ext cx="365760" cy="548640"/>
          </a:xfrm>
          <a:prstGeom prst="rect">
            <a:avLst/>
          </a:prstGeom>
          <a:noFill/>
        </p:spPr>
        <p:txBody>
          <a:bodyPr wrap="square" lIns="54864" rIns="54864" tIns="22860" bIns="22860">
            <a:spAutoFit/>
          </a:bodyPr>
          <a:lstStyle/>
          <a:p>
            <a:pPr>
              <a:lnSpc>
                <a:spcPts val="2100"/>
              </a:lnSpc>
              <a:spcBef>
                <a:spcPts val="0"/>
              </a:spcBef>
              <a:spcAft>
                <a:spcPts val="0"/>
              </a:spcAft>
              <a:defRPr sz="2000" b="1">
                <a:solidFill>
                  <a:srgbClr val="182B3A"/>
                </a:solidFill>
                <a:latin typeface="Arial"/>
              </a:defRPr>
            </a:pPr>
            <a:r>
              <a:t>5.</a:t>
            </a:r>
          </a:p>
        </p:txBody>
      </p:sp>
      <p:sp>
        <p:nvSpPr>
          <p:cNvPr id="27" name="TextBox 26"/>
          <p:cNvSpPr txBox="1"/>
          <p:nvPr/>
        </p:nvSpPr>
        <p:spPr>
          <a:xfrm>
            <a:off x="804672" y="5806440"/>
            <a:ext cx="4059936" cy="594360"/>
          </a:xfrm>
          <a:prstGeom prst="rect">
            <a:avLst/>
          </a:prstGeom>
          <a:noFill/>
        </p:spPr>
        <p:txBody>
          <a:bodyPr wrap="square" lIns="54864" rIns="54864" tIns="22860" bIns="22860">
            <a:spAutoFit/>
          </a:bodyPr>
          <a:lstStyle/>
          <a:p>
            <a:pPr>
              <a:lnSpc>
                <a:spcPts val="2520"/>
              </a:lnSpc>
              <a:spcBef>
                <a:spcPts val="0"/>
              </a:spcBef>
              <a:spcAft>
                <a:spcPts val="0"/>
              </a:spcAft>
              <a:defRPr sz="2400" b="0">
                <a:solidFill>
                  <a:srgbClr val="182B3A"/>
                </a:solidFill>
                <a:latin typeface="Arial"/>
              </a:defRPr>
            </a:pPr>
            <a:r>
              <a:t>189 = 7x</a:t>
            </a:r>
          </a:p>
        </p:txBody>
      </p:sp>
      <p:sp>
        <p:nvSpPr>
          <p:cNvPr id="28" name="Rectangle 27"/>
          <p:cNvSpPr/>
          <p:nvPr/>
        </p:nvSpPr>
        <p:spPr>
          <a:xfrm>
            <a:off x="320040" y="6611112"/>
            <a:ext cx="4640580" cy="1005840"/>
          </a:xfrm>
          <a:prstGeom prst="rect">
            <a:avLst/>
          </a:prstGeom>
          <a:solidFill>
            <a:srgbClr val="EDF6F5"/>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411479" y="6812280"/>
            <a:ext cx="365760" cy="548640"/>
          </a:xfrm>
          <a:prstGeom prst="rect">
            <a:avLst/>
          </a:prstGeom>
          <a:noFill/>
        </p:spPr>
        <p:txBody>
          <a:bodyPr wrap="square" lIns="54864" rIns="54864" tIns="22860" bIns="22860">
            <a:spAutoFit/>
          </a:bodyPr>
          <a:lstStyle/>
          <a:p>
            <a:pPr>
              <a:lnSpc>
                <a:spcPts val="2100"/>
              </a:lnSpc>
              <a:spcBef>
                <a:spcPts val="0"/>
              </a:spcBef>
              <a:spcAft>
                <a:spcPts val="0"/>
              </a:spcAft>
              <a:defRPr sz="2000" b="1">
                <a:solidFill>
                  <a:srgbClr val="182B3A"/>
                </a:solidFill>
                <a:latin typeface="Arial"/>
              </a:defRPr>
            </a:pPr>
            <a:r>
              <a:t>6.</a:t>
            </a:r>
          </a:p>
        </p:txBody>
      </p:sp>
      <p:sp>
        <p:nvSpPr>
          <p:cNvPr id="30" name="TextBox 29"/>
          <p:cNvSpPr txBox="1"/>
          <p:nvPr/>
        </p:nvSpPr>
        <p:spPr>
          <a:xfrm>
            <a:off x="804672" y="6812280"/>
            <a:ext cx="4059936" cy="594360"/>
          </a:xfrm>
          <a:prstGeom prst="rect">
            <a:avLst/>
          </a:prstGeom>
          <a:noFill/>
        </p:spPr>
        <p:txBody>
          <a:bodyPr wrap="square" lIns="54864" rIns="54864" tIns="22860" bIns="22860">
            <a:spAutoFit/>
          </a:bodyPr>
          <a:lstStyle/>
          <a:p>
            <a:pPr>
              <a:lnSpc>
                <a:spcPts val="2520"/>
              </a:lnSpc>
              <a:spcBef>
                <a:spcPts val="0"/>
              </a:spcBef>
              <a:spcAft>
                <a:spcPts val="0"/>
              </a:spcAft>
              <a:defRPr sz="2400" b="0">
                <a:solidFill>
                  <a:srgbClr val="182B3A"/>
                </a:solidFill>
                <a:latin typeface="Arial"/>
              </a:defRPr>
            </a:pPr>
            <a:r>
              <a:t>4x = 4</a:t>
            </a:r>
          </a:p>
        </p:txBody>
      </p:sp>
      <p:sp>
        <p:nvSpPr>
          <p:cNvPr id="31" name="Rectangle 30"/>
          <p:cNvSpPr/>
          <p:nvPr/>
        </p:nvSpPr>
        <p:spPr>
          <a:xfrm>
            <a:off x="4983480" y="1581912"/>
            <a:ext cx="4640580" cy="1005840"/>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5074920" y="1783080"/>
            <a:ext cx="365760" cy="548640"/>
          </a:xfrm>
          <a:prstGeom prst="rect">
            <a:avLst/>
          </a:prstGeom>
          <a:noFill/>
        </p:spPr>
        <p:txBody>
          <a:bodyPr wrap="square" lIns="54864" rIns="54864" tIns="22860" bIns="22860">
            <a:spAutoFit/>
          </a:bodyPr>
          <a:lstStyle/>
          <a:p>
            <a:pPr>
              <a:lnSpc>
                <a:spcPts val="2100"/>
              </a:lnSpc>
              <a:spcBef>
                <a:spcPts val="0"/>
              </a:spcBef>
              <a:spcAft>
                <a:spcPts val="0"/>
              </a:spcAft>
              <a:defRPr sz="2000" b="1">
                <a:solidFill>
                  <a:srgbClr val="182B3A"/>
                </a:solidFill>
                <a:latin typeface="Arial"/>
              </a:defRPr>
            </a:pPr>
            <a:r>
              <a:t>1.</a:t>
            </a:r>
          </a:p>
        </p:txBody>
      </p:sp>
      <p:sp>
        <p:nvSpPr>
          <p:cNvPr id="33" name="TextBox 32"/>
          <p:cNvSpPr txBox="1"/>
          <p:nvPr/>
        </p:nvSpPr>
        <p:spPr>
          <a:xfrm>
            <a:off x="5468112" y="1783080"/>
            <a:ext cx="4059936" cy="594360"/>
          </a:xfrm>
          <a:prstGeom prst="rect">
            <a:avLst/>
          </a:prstGeom>
          <a:noFill/>
        </p:spPr>
        <p:txBody>
          <a:bodyPr wrap="square" lIns="54864" rIns="54864" tIns="22860" bIns="22860">
            <a:spAutoFit/>
          </a:bodyPr>
          <a:lstStyle/>
          <a:p>
            <a:pPr>
              <a:lnSpc>
                <a:spcPts val="2520"/>
              </a:lnSpc>
              <a:spcBef>
                <a:spcPts val="0"/>
              </a:spcBef>
              <a:spcAft>
                <a:spcPts val="0"/>
              </a:spcAft>
              <a:defRPr sz="2400" b="0">
                <a:solidFill>
                  <a:srgbClr val="182B3A"/>
                </a:solidFill>
                <a:latin typeface="Arial"/>
              </a:defRPr>
            </a:pPr>
            <a:r>
              <a:t>6x − 3 = 57</a:t>
            </a:r>
          </a:p>
        </p:txBody>
      </p:sp>
      <p:sp>
        <p:nvSpPr>
          <p:cNvPr id="34" name="Rectangle 33"/>
          <p:cNvSpPr/>
          <p:nvPr/>
        </p:nvSpPr>
        <p:spPr>
          <a:xfrm>
            <a:off x="4983480" y="2587752"/>
            <a:ext cx="4640580" cy="1005840"/>
          </a:xfrm>
          <a:prstGeom prst="rect">
            <a:avLst/>
          </a:prstGeom>
          <a:solidFill>
            <a:srgbClr val="EFF3FA"/>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5074920" y="2788920"/>
            <a:ext cx="365760" cy="548640"/>
          </a:xfrm>
          <a:prstGeom prst="rect">
            <a:avLst/>
          </a:prstGeom>
          <a:noFill/>
        </p:spPr>
        <p:txBody>
          <a:bodyPr wrap="square" lIns="54864" rIns="54864" tIns="22860" bIns="22860">
            <a:spAutoFit/>
          </a:bodyPr>
          <a:lstStyle/>
          <a:p>
            <a:pPr>
              <a:lnSpc>
                <a:spcPts val="2100"/>
              </a:lnSpc>
              <a:spcBef>
                <a:spcPts val="0"/>
              </a:spcBef>
              <a:spcAft>
                <a:spcPts val="0"/>
              </a:spcAft>
              <a:defRPr sz="2000" b="1">
                <a:solidFill>
                  <a:srgbClr val="182B3A"/>
                </a:solidFill>
                <a:latin typeface="Arial"/>
              </a:defRPr>
            </a:pPr>
            <a:r>
              <a:t>2.</a:t>
            </a:r>
          </a:p>
        </p:txBody>
      </p:sp>
      <p:sp>
        <p:nvSpPr>
          <p:cNvPr id="36" name="TextBox 35"/>
          <p:cNvSpPr txBox="1"/>
          <p:nvPr/>
        </p:nvSpPr>
        <p:spPr>
          <a:xfrm>
            <a:off x="5468112" y="2788920"/>
            <a:ext cx="4059936" cy="594360"/>
          </a:xfrm>
          <a:prstGeom prst="rect">
            <a:avLst/>
          </a:prstGeom>
          <a:noFill/>
        </p:spPr>
        <p:txBody>
          <a:bodyPr wrap="square" lIns="54864" rIns="54864" tIns="22860" bIns="22860">
            <a:spAutoFit/>
          </a:bodyPr>
          <a:lstStyle/>
          <a:p>
            <a:pPr>
              <a:lnSpc>
                <a:spcPts val="2520"/>
              </a:lnSpc>
              <a:spcBef>
                <a:spcPts val="0"/>
              </a:spcBef>
              <a:spcAft>
                <a:spcPts val="0"/>
              </a:spcAft>
              <a:defRPr sz="2400" b="0">
                <a:solidFill>
                  <a:srgbClr val="182B3A"/>
                </a:solidFill>
                <a:latin typeface="Arial"/>
              </a:defRPr>
            </a:pPr>
            <a:r>
              <a:t>8 + 7x = 71</a:t>
            </a:r>
          </a:p>
        </p:txBody>
      </p:sp>
      <p:sp>
        <p:nvSpPr>
          <p:cNvPr id="37" name="Rectangle 36"/>
          <p:cNvSpPr/>
          <p:nvPr/>
        </p:nvSpPr>
        <p:spPr>
          <a:xfrm>
            <a:off x="4983480" y="3593592"/>
            <a:ext cx="4640580" cy="1005840"/>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5074920" y="3794760"/>
            <a:ext cx="365760" cy="548640"/>
          </a:xfrm>
          <a:prstGeom prst="rect">
            <a:avLst/>
          </a:prstGeom>
          <a:noFill/>
        </p:spPr>
        <p:txBody>
          <a:bodyPr wrap="square" lIns="54864" rIns="54864" tIns="22860" bIns="22860">
            <a:spAutoFit/>
          </a:bodyPr>
          <a:lstStyle/>
          <a:p>
            <a:pPr>
              <a:lnSpc>
                <a:spcPts val="2100"/>
              </a:lnSpc>
              <a:spcBef>
                <a:spcPts val="0"/>
              </a:spcBef>
              <a:spcAft>
                <a:spcPts val="0"/>
              </a:spcAft>
              <a:defRPr sz="2000" b="1">
                <a:solidFill>
                  <a:srgbClr val="182B3A"/>
                </a:solidFill>
                <a:latin typeface="Arial"/>
              </a:defRPr>
            </a:pPr>
            <a:r>
              <a:t>3.</a:t>
            </a:r>
          </a:p>
        </p:txBody>
      </p:sp>
      <p:sp>
        <p:nvSpPr>
          <p:cNvPr id="39" name="TextBox 38"/>
          <p:cNvSpPr txBox="1"/>
          <p:nvPr/>
        </p:nvSpPr>
        <p:spPr>
          <a:xfrm>
            <a:off x="5468112" y="3794760"/>
            <a:ext cx="4059936" cy="594360"/>
          </a:xfrm>
          <a:prstGeom prst="rect">
            <a:avLst/>
          </a:prstGeom>
          <a:noFill/>
        </p:spPr>
        <p:txBody>
          <a:bodyPr wrap="square" lIns="54864" rIns="54864" tIns="22860" bIns="22860">
            <a:spAutoFit/>
          </a:bodyPr>
          <a:lstStyle/>
          <a:p>
            <a:pPr>
              <a:lnSpc>
                <a:spcPts val="2520"/>
              </a:lnSpc>
              <a:spcBef>
                <a:spcPts val="0"/>
              </a:spcBef>
              <a:spcAft>
                <a:spcPts val="0"/>
              </a:spcAft>
              <a:defRPr sz="2400" b="0">
                <a:solidFill>
                  <a:srgbClr val="182B3A"/>
                </a:solidFill>
                <a:latin typeface="Arial"/>
              </a:defRPr>
            </a:pPr>
            <a:r>
              <a:t>7x + 6 = -29</a:t>
            </a:r>
          </a:p>
        </p:txBody>
      </p:sp>
      <p:sp>
        <p:nvSpPr>
          <p:cNvPr id="40" name="Rectangle 39"/>
          <p:cNvSpPr/>
          <p:nvPr/>
        </p:nvSpPr>
        <p:spPr>
          <a:xfrm>
            <a:off x="4983480" y="4599432"/>
            <a:ext cx="4640580" cy="1005840"/>
          </a:xfrm>
          <a:prstGeom prst="rect">
            <a:avLst/>
          </a:prstGeom>
          <a:solidFill>
            <a:srgbClr val="EFF3FA"/>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5074920" y="4800600"/>
            <a:ext cx="365760" cy="548640"/>
          </a:xfrm>
          <a:prstGeom prst="rect">
            <a:avLst/>
          </a:prstGeom>
          <a:noFill/>
        </p:spPr>
        <p:txBody>
          <a:bodyPr wrap="square" lIns="54864" rIns="54864" tIns="22860" bIns="22860">
            <a:spAutoFit/>
          </a:bodyPr>
          <a:lstStyle/>
          <a:p>
            <a:pPr>
              <a:lnSpc>
                <a:spcPts val="2100"/>
              </a:lnSpc>
              <a:spcBef>
                <a:spcPts val="0"/>
              </a:spcBef>
              <a:spcAft>
                <a:spcPts val="0"/>
              </a:spcAft>
              <a:defRPr sz="2000" b="1">
                <a:solidFill>
                  <a:srgbClr val="182B3A"/>
                </a:solidFill>
                <a:latin typeface="Arial"/>
              </a:defRPr>
            </a:pPr>
            <a:r>
              <a:t>4.</a:t>
            </a:r>
          </a:p>
        </p:txBody>
      </p:sp>
      <p:sp>
        <p:nvSpPr>
          <p:cNvPr id="42" name="TextBox 41"/>
          <p:cNvSpPr txBox="1"/>
          <p:nvPr/>
        </p:nvSpPr>
        <p:spPr>
          <a:xfrm>
            <a:off x="5468112" y="4800600"/>
            <a:ext cx="4059936" cy="594360"/>
          </a:xfrm>
          <a:prstGeom prst="rect">
            <a:avLst/>
          </a:prstGeom>
          <a:noFill/>
        </p:spPr>
        <p:txBody>
          <a:bodyPr wrap="square" lIns="54864" rIns="54864" tIns="22860" bIns="22860">
            <a:spAutoFit/>
          </a:bodyPr>
          <a:lstStyle/>
          <a:p>
            <a:pPr>
              <a:lnSpc>
                <a:spcPts val="2520"/>
              </a:lnSpc>
              <a:spcBef>
                <a:spcPts val="0"/>
              </a:spcBef>
              <a:spcAft>
                <a:spcPts val="0"/>
              </a:spcAft>
              <a:defRPr sz="2400" b="0">
                <a:solidFill>
                  <a:srgbClr val="182B3A"/>
                </a:solidFill>
                <a:latin typeface="Arial"/>
              </a:defRPr>
            </a:pPr>
            <a:r>
              <a:t>-9 + 6x = 39</a:t>
            </a:r>
          </a:p>
        </p:txBody>
      </p:sp>
      <p:sp>
        <p:nvSpPr>
          <p:cNvPr id="43" name="Rectangle 42"/>
          <p:cNvSpPr/>
          <p:nvPr/>
        </p:nvSpPr>
        <p:spPr>
          <a:xfrm>
            <a:off x="4983480" y="5605272"/>
            <a:ext cx="4640580" cy="1005840"/>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5074920" y="5806440"/>
            <a:ext cx="365760" cy="548640"/>
          </a:xfrm>
          <a:prstGeom prst="rect">
            <a:avLst/>
          </a:prstGeom>
          <a:noFill/>
        </p:spPr>
        <p:txBody>
          <a:bodyPr wrap="square" lIns="54864" rIns="54864" tIns="22860" bIns="22860">
            <a:spAutoFit/>
          </a:bodyPr>
          <a:lstStyle/>
          <a:p>
            <a:pPr>
              <a:lnSpc>
                <a:spcPts val="2100"/>
              </a:lnSpc>
              <a:spcBef>
                <a:spcPts val="0"/>
              </a:spcBef>
              <a:spcAft>
                <a:spcPts val="0"/>
              </a:spcAft>
              <a:defRPr sz="2000" b="1">
                <a:solidFill>
                  <a:srgbClr val="182B3A"/>
                </a:solidFill>
                <a:latin typeface="Arial"/>
              </a:defRPr>
            </a:pPr>
            <a:r>
              <a:t>5.</a:t>
            </a:r>
          </a:p>
        </p:txBody>
      </p:sp>
      <p:sp>
        <p:nvSpPr>
          <p:cNvPr id="45" name="TextBox 44"/>
          <p:cNvSpPr txBox="1"/>
          <p:nvPr/>
        </p:nvSpPr>
        <p:spPr>
          <a:xfrm>
            <a:off x="5468112" y="5806440"/>
            <a:ext cx="4059936" cy="594360"/>
          </a:xfrm>
          <a:prstGeom prst="rect">
            <a:avLst/>
          </a:prstGeom>
          <a:noFill/>
        </p:spPr>
        <p:txBody>
          <a:bodyPr wrap="square" lIns="54864" rIns="54864" tIns="22860" bIns="22860">
            <a:spAutoFit/>
          </a:bodyPr>
          <a:lstStyle/>
          <a:p>
            <a:pPr>
              <a:lnSpc>
                <a:spcPts val="2520"/>
              </a:lnSpc>
              <a:spcBef>
                <a:spcPts val="0"/>
              </a:spcBef>
              <a:spcAft>
                <a:spcPts val="0"/>
              </a:spcAft>
              <a:defRPr sz="2400" b="0">
                <a:solidFill>
                  <a:srgbClr val="182B3A"/>
                </a:solidFill>
                <a:latin typeface="Arial"/>
              </a:defRPr>
            </a:pPr>
            <a:r>
              <a:t>5x + x + 8 = 8</a:t>
            </a:r>
          </a:p>
        </p:txBody>
      </p:sp>
      <p:sp>
        <p:nvSpPr>
          <p:cNvPr id="46" name="Rectangle 45"/>
          <p:cNvSpPr/>
          <p:nvPr/>
        </p:nvSpPr>
        <p:spPr>
          <a:xfrm>
            <a:off x="4983480" y="6611112"/>
            <a:ext cx="4640580" cy="1005840"/>
          </a:xfrm>
          <a:prstGeom prst="rect">
            <a:avLst/>
          </a:prstGeom>
          <a:solidFill>
            <a:srgbClr val="EFF3FA"/>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TextBox 46"/>
          <p:cNvSpPr txBox="1"/>
          <p:nvPr/>
        </p:nvSpPr>
        <p:spPr>
          <a:xfrm>
            <a:off x="5074920" y="6812280"/>
            <a:ext cx="365760" cy="548640"/>
          </a:xfrm>
          <a:prstGeom prst="rect">
            <a:avLst/>
          </a:prstGeom>
          <a:noFill/>
        </p:spPr>
        <p:txBody>
          <a:bodyPr wrap="square" lIns="54864" rIns="54864" tIns="22860" bIns="22860">
            <a:spAutoFit/>
          </a:bodyPr>
          <a:lstStyle/>
          <a:p>
            <a:pPr>
              <a:lnSpc>
                <a:spcPts val="2100"/>
              </a:lnSpc>
              <a:spcBef>
                <a:spcPts val="0"/>
              </a:spcBef>
              <a:spcAft>
                <a:spcPts val="0"/>
              </a:spcAft>
              <a:defRPr sz="2000" b="1">
                <a:solidFill>
                  <a:srgbClr val="182B3A"/>
                </a:solidFill>
                <a:latin typeface="Arial"/>
              </a:defRPr>
            </a:pPr>
            <a:r>
              <a:t>6.</a:t>
            </a:r>
          </a:p>
        </p:txBody>
      </p:sp>
      <p:sp>
        <p:nvSpPr>
          <p:cNvPr id="48" name="TextBox 47"/>
          <p:cNvSpPr txBox="1"/>
          <p:nvPr/>
        </p:nvSpPr>
        <p:spPr>
          <a:xfrm>
            <a:off x="5468112" y="6812280"/>
            <a:ext cx="4059936" cy="594360"/>
          </a:xfrm>
          <a:prstGeom prst="rect">
            <a:avLst/>
          </a:prstGeom>
          <a:noFill/>
        </p:spPr>
        <p:txBody>
          <a:bodyPr wrap="square" lIns="54864" rIns="54864" tIns="22860" bIns="22860">
            <a:spAutoFit/>
          </a:bodyPr>
          <a:lstStyle/>
          <a:p>
            <a:pPr>
              <a:lnSpc>
                <a:spcPts val="2520"/>
              </a:lnSpc>
              <a:spcBef>
                <a:spcPts val="0"/>
              </a:spcBef>
              <a:spcAft>
                <a:spcPts val="0"/>
              </a:spcAft>
              <a:defRPr sz="2400" b="0">
                <a:solidFill>
                  <a:srgbClr val="182B3A"/>
                </a:solidFill>
                <a:latin typeface="Arial"/>
              </a:defRPr>
            </a:pPr>
            <a:r>
              <a:t>-3 + 2x = -11</a:t>
            </a:r>
          </a:p>
        </p:txBody>
      </p:sp>
      <p:sp>
        <p:nvSpPr>
          <p:cNvPr id="49" name="Rectangle 48"/>
          <p:cNvSpPr/>
          <p:nvPr/>
        </p:nvSpPr>
        <p:spPr>
          <a:xfrm>
            <a:off x="9646920" y="1581912"/>
            <a:ext cx="4640580" cy="1005840"/>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TextBox 49"/>
          <p:cNvSpPr txBox="1"/>
          <p:nvPr/>
        </p:nvSpPr>
        <p:spPr>
          <a:xfrm>
            <a:off x="9738360" y="1783080"/>
            <a:ext cx="365760" cy="548640"/>
          </a:xfrm>
          <a:prstGeom prst="rect">
            <a:avLst/>
          </a:prstGeom>
          <a:noFill/>
        </p:spPr>
        <p:txBody>
          <a:bodyPr wrap="square" lIns="54864" rIns="54864" tIns="22860" bIns="22860">
            <a:spAutoFit/>
          </a:bodyPr>
          <a:lstStyle/>
          <a:p>
            <a:pPr>
              <a:lnSpc>
                <a:spcPts val="2100"/>
              </a:lnSpc>
              <a:spcBef>
                <a:spcPts val="0"/>
              </a:spcBef>
              <a:spcAft>
                <a:spcPts val="0"/>
              </a:spcAft>
              <a:defRPr sz="2000" b="1">
                <a:solidFill>
                  <a:srgbClr val="182B3A"/>
                </a:solidFill>
                <a:latin typeface="Arial"/>
              </a:defRPr>
            </a:pPr>
            <a:r>
              <a:t>1.</a:t>
            </a:r>
          </a:p>
        </p:txBody>
      </p:sp>
      <p:sp>
        <p:nvSpPr>
          <p:cNvPr id="51" name="TextBox 50"/>
          <p:cNvSpPr txBox="1"/>
          <p:nvPr/>
        </p:nvSpPr>
        <p:spPr>
          <a:xfrm>
            <a:off x="10131552" y="1783080"/>
            <a:ext cx="4059936" cy="594360"/>
          </a:xfrm>
          <a:prstGeom prst="rect">
            <a:avLst/>
          </a:prstGeom>
          <a:noFill/>
        </p:spPr>
        <p:txBody>
          <a:bodyPr wrap="square" lIns="54864" rIns="54864" tIns="22860" bIns="22860">
            <a:spAutoFit/>
          </a:bodyPr>
          <a:lstStyle/>
          <a:p>
            <a:pPr>
              <a:lnSpc>
                <a:spcPts val="2520"/>
              </a:lnSpc>
              <a:spcBef>
                <a:spcPts val="0"/>
              </a:spcBef>
              <a:spcAft>
                <a:spcPts val="0"/>
              </a:spcAft>
              <a:defRPr sz="2400" b="0">
                <a:solidFill>
                  <a:srgbClr val="182B3A"/>
                </a:solidFill>
                <a:latin typeface="Arial"/>
              </a:defRPr>
            </a:pPr>
            <a:r>
              <a:t>3(x − 3) = 2x − 11</a:t>
            </a:r>
          </a:p>
        </p:txBody>
      </p:sp>
      <p:sp>
        <p:nvSpPr>
          <p:cNvPr id="52" name="Rectangle 51"/>
          <p:cNvSpPr/>
          <p:nvPr/>
        </p:nvSpPr>
        <p:spPr>
          <a:xfrm>
            <a:off x="9646920" y="2587752"/>
            <a:ext cx="4640580" cy="1005840"/>
          </a:xfrm>
          <a:prstGeom prst="rect">
            <a:avLst/>
          </a:prstGeom>
          <a:solidFill>
            <a:srgbClr val="F5F0F7"/>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TextBox 52"/>
          <p:cNvSpPr txBox="1"/>
          <p:nvPr/>
        </p:nvSpPr>
        <p:spPr>
          <a:xfrm>
            <a:off x="9738360" y="2788920"/>
            <a:ext cx="365760" cy="548640"/>
          </a:xfrm>
          <a:prstGeom prst="rect">
            <a:avLst/>
          </a:prstGeom>
          <a:noFill/>
        </p:spPr>
        <p:txBody>
          <a:bodyPr wrap="square" lIns="54864" rIns="54864" tIns="22860" bIns="22860">
            <a:spAutoFit/>
          </a:bodyPr>
          <a:lstStyle/>
          <a:p>
            <a:pPr>
              <a:lnSpc>
                <a:spcPts val="2100"/>
              </a:lnSpc>
              <a:spcBef>
                <a:spcPts val="0"/>
              </a:spcBef>
              <a:spcAft>
                <a:spcPts val="0"/>
              </a:spcAft>
              <a:defRPr sz="2000" b="1">
                <a:solidFill>
                  <a:srgbClr val="182B3A"/>
                </a:solidFill>
                <a:latin typeface="Arial"/>
              </a:defRPr>
            </a:pPr>
            <a:r>
              <a:t>2.</a:t>
            </a:r>
          </a:p>
        </p:txBody>
      </p:sp>
      <p:sp>
        <p:nvSpPr>
          <p:cNvPr id="54" name="TextBox 53"/>
          <p:cNvSpPr txBox="1"/>
          <p:nvPr/>
        </p:nvSpPr>
        <p:spPr>
          <a:xfrm>
            <a:off x="10131552" y="2788920"/>
            <a:ext cx="4059936" cy="594360"/>
          </a:xfrm>
          <a:prstGeom prst="rect">
            <a:avLst/>
          </a:prstGeom>
          <a:noFill/>
        </p:spPr>
        <p:txBody>
          <a:bodyPr wrap="square" lIns="54864" rIns="54864" tIns="22860" bIns="22860">
            <a:spAutoFit/>
          </a:bodyPr>
          <a:lstStyle/>
          <a:p>
            <a:pPr>
              <a:lnSpc>
                <a:spcPts val="2520"/>
              </a:lnSpc>
              <a:spcBef>
                <a:spcPts val="0"/>
              </a:spcBef>
              <a:spcAft>
                <a:spcPts val="0"/>
              </a:spcAft>
              <a:defRPr sz="2400" b="0">
                <a:solidFill>
                  <a:srgbClr val="182B3A"/>
                </a:solidFill>
                <a:latin typeface="Arial"/>
              </a:defRPr>
            </a:pPr>
            <a:r>
              <a:t>5x + 10 = 20</a:t>
            </a:r>
          </a:p>
        </p:txBody>
      </p:sp>
      <p:sp>
        <p:nvSpPr>
          <p:cNvPr id="55" name="Rectangle 54"/>
          <p:cNvSpPr/>
          <p:nvPr/>
        </p:nvSpPr>
        <p:spPr>
          <a:xfrm>
            <a:off x="9646920" y="3593592"/>
            <a:ext cx="4640580" cy="1005840"/>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TextBox 55"/>
          <p:cNvSpPr txBox="1"/>
          <p:nvPr/>
        </p:nvSpPr>
        <p:spPr>
          <a:xfrm>
            <a:off x="9738360" y="3794760"/>
            <a:ext cx="365760" cy="548640"/>
          </a:xfrm>
          <a:prstGeom prst="rect">
            <a:avLst/>
          </a:prstGeom>
          <a:noFill/>
        </p:spPr>
        <p:txBody>
          <a:bodyPr wrap="square" lIns="54864" rIns="54864" tIns="22860" bIns="22860">
            <a:spAutoFit/>
          </a:bodyPr>
          <a:lstStyle/>
          <a:p>
            <a:pPr>
              <a:lnSpc>
                <a:spcPts val="2100"/>
              </a:lnSpc>
              <a:spcBef>
                <a:spcPts val="0"/>
              </a:spcBef>
              <a:spcAft>
                <a:spcPts val="0"/>
              </a:spcAft>
              <a:defRPr sz="2000" b="1">
                <a:solidFill>
                  <a:srgbClr val="182B3A"/>
                </a:solidFill>
                <a:latin typeface="Arial"/>
              </a:defRPr>
            </a:pPr>
            <a:r>
              <a:t>3.</a:t>
            </a:r>
          </a:p>
        </p:txBody>
      </p:sp>
      <p:sp>
        <p:nvSpPr>
          <p:cNvPr id="57" name="TextBox 56"/>
          <p:cNvSpPr txBox="1"/>
          <p:nvPr/>
        </p:nvSpPr>
        <p:spPr>
          <a:xfrm>
            <a:off x="10131552" y="3794760"/>
            <a:ext cx="4059936" cy="594360"/>
          </a:xfrm>
          <a:prstGeom prst="rect">
            <a:avLst/>
          </a:prstGeom>
          <a:noFill/>
        </p:spPr>
        <p:txBody>
          <a:bodyPr wrap="square" lIns="54864" rIns="54864" tIns="22860" bIns="22860">
            <a:spAutoFit/>
          </a:bodyPr>
          <a:lstStyle/>
          <a:p>
            <a:pPr>
              <a:lnSpc>
                <a:spcPts val="2520"/>
              </a:lnSpc>
              <a:spcBef>
                <a:spcPts val="0"/>
              </a:spcBef>
              <a:spcAft>
                <a:spcPts val="0"/>
              </a:spcAft>
              <a:defRPr sz="2400" b="0">
                <a:solidFill>
                  <a:srgbClr val="182B3A"/>
                </a:solidFill>
                <a:latin typeface="Arial"/>
              </a:defRPr>
            </a:pPr>
            <a:r>
              <a:t>3x + 12 = 9</a:t>
            </a:r>
          </a:p>
        </p:txBody>
      </p:sp>
      <p:sp>
        <p:nvSpPr>
          <p:cNvPr id="58" name="Rectangle 57"/>
          <p:cNvSpPr/>
          <p:nvPr/>
        </p:nvSpPr>
        <p:spPr>
          <a:xfrm>
            <a:off x="9646920" y="4599432"/>
            <a:ext cx="4640580" cy="1005840"/>
          </a:xfrm>
          <a:prstGeom prst="rect">
            <a:avLst/>
          </a:prstGeom>
          <a:solidFill>
            <a:srgbClr val="F5F0F7"/>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 name="TextBox 58"/>
          <p:cNvSpPr txBox="1"/>
          <p:nvPr/>
        </p:nvSpPr>
        <p:spPr>
          <a:xfrm>
            <a:off x="9738360" y="4800600"/>
            <a:ext cx="365760" cy="548640"/>
          </a:xfrm>
          <a:prstGeom prst="rect">
            <a:avLst/>
          </a:prstGeom>
          <a:noFill/>
        </p:spPr>
        <p:txBody>
          <a:bodyPr wrap="square" lIns="54864" rIns="54864" tIns="22860" bIns="22860">
            <a:spAutoFit/>
          </a:bodyPr>
          <a:lstStyle/>
          <a:p>
            <a:pPr>
              <a:lnSpc>
                <a:spcPts val="2100"/>
              </a:lnSpc>
              <a:spcBef>
                <a:spcPts val="0"/>
              </a:spcBef>
              <a:spcAft>
                <a:spcPts val="0"/>
              </a:spcAft>
              <a:defRPr sz="2000" b="1">
                <a:solidFill>
                  <a:srgbClr val="182B3A"/>
                </a:solidFill>
                <a:latin typeface="Arial"/>
              </a:defRPr>
            </a:pPr>
            <a:r>
              <a:t>4.</a:t>
            </a:r>
          </a:p>
        </p:txBody>
      </p:sp>
      <p:sp>
        <p:nvSpPr>
          <p:cNvPr id="60" name="TextBox 59"/>
          <p:cNvSpPr txBox="1"/>
          <p:nvPr/>
        </p:nvSpPr>
        <p:spPr>
          <a:xfrm>
            <a:off x="10131552" y="4800600"/>
            <a:ext cx="4059936" cy="594360"/>
          </a:xfrm>
          <a:prstGeom prst="rect">
            <a:avLst/>
          </a:prstGeom>
          <a:noFill/>
        </p:spPr>
        <p:txBody>
          <a:bodyPr wrap="square" lIns="54864" rIns="54864" tIns="22860" bIns="22860">
            <a:spAutoFit/>
          </a:bodyPr>
          <a:lstStyle/>
          <a:p>
            <a:pPr>
              <a:lnSpc>
                <a:spcPts val="2520"/>
              </a:lnSpc>
              <a:spcBef>
                <a:spcPts val="0"/>
              </a:spcBef>
              <a:spcAft>
                <a:spcPts val="0"/>
              </a:spcAft>
              <a:defRPr sz="2400" b="0">
                <a:solidFill>
                  <a:srgbClr val="182B3A"/>
                </a:solidFill>
                <a:latin typeface="Arial"/>
              </a:defRPr>
            </a:pPr>
            <a:r>
              <a:t>4x + 2 = x + 14</a:t>
            </a:r>
          </a:p>
        </p:txBody>
      </p:sp>
      <p:sp>
        <p:nvSpPr>
          <p:cNvPr id="61" name="Rectangle 60"/>
          <p:cNvSpPr/>
          <p:nvPr/>
        </p:nvSpPr>
        <p:spPr>
          <a:xfrm>
            <a:off x="9646920" y="5605272"/>
            <a:ext cx="4640580" cy="1005840"/>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 name="TextBox 61"/>
          <p:cNvSpPr txBox="1"/>
          <p:nvPr/>
        </p:nvSpPr>
        <p:spPr>
          <a:xfrm>
            <a:off x="9738360" y="5806440"/>
            <a:ext cx="365760" cy="548640"/>
          </a:xfrm>
          <a:prstGeom prst="rect">
            <a:avLst/>
          </a:prstGeom>
          <a:noFill/>
        </p:spPr>
        <p:txBody>
          <a:bodyPr wrap="square" lIns="54864" rIns="54864" tIns="22860" bIns="22860">
            <a:spAutoFit/>
          </a:bodyPr>
          <a:lstStyle/>
          <a:p>
            <a:pPr>
              <a:lnSpc>
                <a:spcPts val="2100"/>
              </a:lnSpc>
              <a:spcBef>
                <a:spcPts val="0"/>
              </a:spcBef>
              <a:spcAft>
                <a:spcPts val="0"/>
              </a:spcAft>
              <a:defRPr sz="2000" b="1">
                <a:solidFill>
                  <a:srgbClr val="182B3A"/>
                </a:solidFill>
                <a:latin typeface="Arial"/>
              </a:defRPr>
            </a:pPr>
            <a:r>
              <a:t>5.</a:t>
            </a:r>
          </a:p>
        </p:txBody>
      </p:sp>
      <p:sp>
        <p:nvSpPr>
          <p:cNvPr id="63" name="TextBox 62"/>
          <p:cNvSpPr txBox="1"/>
          <p:nvPr/>
        </p:nvSpPr>
        <p:spPr>
          <a:xfrm>
            <a:off x="10131552" y="5806440"/>
            <a:ext cx="4059936" cy="594360"/>
          </a:xfrm>
          <a:prstGeom prst="rect">
            <a:avLst/>
          </a:prstGeom>
          <a:noFill/>
        </p:spPr>
        <p:txBody>
          <a:bodyPr wrap="square" lIns="54864" rIns="54864" tIns="22860" bIns="22860">
            <a:spAutoFit/>
          </a:bodyPr>
          <a:lstStyle/>
          <a:p>
            <a:pPr>
              <a:lnSpc>
                <a:spcPts val="2520"/>
              </a:lnSpc>
              <a:spcBef>
                <a:spcPts val="0"/>
              </a:spcBef>
              <a:spcAft>
                <a:spcPts val="0"/>
              </a:spcAft>
              <a:defRPr sz="2400" b="0">
                <a:solidFill>
                  <a:srgbClr val="182B3A"/>
                </a:solidFill>
                <a:latin typeface="Arial"/>
              </a:defRPr>
            </a:pPr>
            <a:r>
              <a:t>5(x − 3) = x + 69</a:t>
            </a:r>
          </a:p>
        </p:txBody>
      </p:sp>
      <p:sp>
        <p:nvSpPr>
          <p:cNvPr id="64" name="Rectangle 63"/>
          <p:cNvSpPr/>
          <p:nvPr/>
        </p:nvSpPr>
        <p:spPr>
          <a:xfrm>
            <a:off x="9646920" y="6611112"/>
            <a:ext cx="4640580" cy="1005840"/>
          </a:xfrm>
          <a:prstGeom prst="rect">
            <a:avLst/>
          </a:prstGeom>
          <a:solidFill>
            <a:srgbClr val="F5F0F7"/>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5" name="TextBox 64"/>
          <p:cNvSpPr txBox="1"/>
          <p:nvPr/>
        </p:nvSpPr>
        <p:spPr>
          <a:xfrm>
            <a:off x="9738360" y="6812280"/>
            <a:ext cx="365760" cy="548640"/>
          </a:xfrm>
          <a:prstGeom prst="rect">
            <a:avLst/>
          </a:prstGeom>
          <a:noFill/>
        </p:spPr>
        <p:txBody>
          <a:bodyPr wrap="square" lIns="54864" rIns="54864" tIns="22860" bIns="22860">
            <a:spAutoFit/>
          </a:bodyPr>
          <a:lstStyle/>
          <a:p>
            <a:pPr>
              <a:lnSpc>
                <a:spcPts val="2100"/>
              </a:lnSpc>
              <a:spcBef>
                <a:spcPts val="0"/>
              </a:spcBef>
              <a:spcAft>
                <a:spcPts val="0"/>
              </a:spcAft>
              <a:defRPr sz="2000" b="1">
                <a:solidFill>
                  <a:srgbClr val="182B3A"/>
                </a:solidFill>
                <a:latin typeface="Arial"/>
              </a:defRPr>
            </a:pPr>
            <a:r>
              <a:t>6.</a:t>
            </a:r>
          </a:p>
        </p:txBody>
      </p:sp>
      <p:sp>
        <p:nvSpPr>
          <p:cNvPr id="66" name="TextBox 65"/>
          <p:cNvSpPr txBox="1"/>
          <p:nvPr/>
        </p:nvSpPr>
        <p:spPr>
          <a:xfrm>
            <a:off x="10131552" y="6812280"/>
            <a:ext cx="4059936" cy="594360"/>
          </a:xfrm>
          <a:prstGeom prst="rect">
            <a:avLst/>
          </a:prstGeom>
          <a:noFill/>
        </p:spPr>
        <p:txBody>
          <a:bodyPr wrap="square" lIns="54864" rIns="54864" tIns="22860" bIns="22860">
            <a:spAutoFit/>
          </a:bodyPr>
          <a:lstStyle/>
          <a:p>
            <a:pPr>
              <a:lnSpc>
                <a:spcPts val="2520"/>
              </a:lnSpc>
              <a:spcBef>
                <a:spcPts val="0"/>
              </a:spcBef>
              <a:spcAft>
                <a:spcPts val="0"/>
              </a:spcAft>
              <a:defRPr sz="2400" b="0">
                <a:solidFill>
                  <a:srgbClr val="182B3A"/>
                </a:solidFill>
                <a:latin typeface="Arial"/>
              </a:defRPr>
            </a:pPr>
            <a:r>
              <a:t>6x + 12 = 126</a:t>
            </a:r>
          </a:p>
        </p:txBody>
      </p:sp>
      <p:sp>
        <p:nvSpPr>
          <p:cNvPr id="67" name="Progression curved arrow: Thread 1 to Thread 2"/>
          <p:cNvSpPr/>
          <p:nvPr/>
        </p:nvSpPr>
        <p:spPr>
          <a:xfrm>
            <a:off x="4649723" y="7552294"/>
            <a:ext cx="621792" cy="314053"/>
          </a:xfrm>
          <a:custGeom>
            <a:avLst/>
            <a:gdLst/>
            <a:ahLst/>
            <a:cxnLst/>
            <a:rect l="0" t="0" r="100000" b="100000"/>
            <a:pathLst>
              <a:path w="100000" h="100000" fill="none">
                <a:moveTo>
                  <a:pt x="6970" y="48439"/>
                </a:moveTo>
                <a:cubicBezTo>
                  <a:pt x="40678" y="114499"/>
                  <a:pt x="73026" y="88145"/>
                  <a:pt x="93030" y="13799"/>
                </a:cubicBezTo>
              </a:path>
              <a:path w="100000" h="100000" fill="none">
                <a:moveTo>
                  <a:pt x="69018" y="40431"/>
                </a:moveTo>
                <a:lnTo>
                  <a:pt x="93030" y="13799"/>
                </a:lnTo>
                <a:lnTo>
                  <a:pt x="92217" y="66207"/>
                </a:lnTo>
              </a:path>
            </a:pathLst>
          </a:custGeom>
          <a:noFill/>
          <a:ln w="64449" cap="rnd">
            <a:solidFill>
              <a:schemeClr val="accent6">
                <a:lumMod val="60000"/>
                <a:lumOff val="40000"/>
              </a:schemeClr>
            </a:solidFill>
            <a:round/>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68" name="Progression curved arrow: Thread 2 to Thread 3"/>
          <p:cNvSpPr/>
          <p:nvPr/>
        </p:nvSpPr>
        <p:spPr>
          <a:xfrm>
            <a:off x="9265327" y="7543800"/>
            <a:ext cx="621792" cy="314053"/>
          </a:xfrm>
          <a:custGeom>
            <a:avLst/>
            <a:gdLst/>
            <a:ahLst/>
            <a:cxnLst/>
            <a:rect l="0" t="0" r="100000" b="100000"/>
            <a:pathLst>
              <a:path w="100000" h="100000" fill="none">
                <a:moveTo>
                  <a:pt x="6970" y="48439"/>
                </a:moveTo>
                <a:cubicBezTo>
                  <a:pt x="40678" y="114499"/>
                  <a:pt x="73026" y="88145"/>
                  <a:pt x="93030" y="13799"/>
                </a:cubicBezTo>
              </a:path>
              <a:path w="100000" h="100000" fill="none">
                <a:moveTo>
                  <a:pt x="69018" y="40431"/>
                </a:moveTo>
                <a:lnTo>
                  <a:pt x="93030" y="13799"/>
                </a:lnTo>
                <a:lnTo>
                  <a:pt x="92217" y="66207"/>
                </a:lnTo>
              </a:path>
            </a:pathLst>
          </a:custGeom>
          <a:noFill/>
          <a:ln w="64449" cap="rnd">
            <a:solidFill>
              <a:schemeClr val="accent6">
                <a:lumMod val="60000"/>
                <a:lumOff val="40000"/>
              </a:schemeClr>
            </a:solidFill>
            <a:round/>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bg>
      <p:bgPr>
        <a:solidFill>
          <a:srgbClr val="F7F8FA"/>
        </a:solidFill>
        <a:effectLst/>
      </p:bgPr>
    </p:bg>
    <p:spTree>
      <p:nvGrpSpPr>
        <p:cNvPr id="1" name=""/>
        <p:cNvGrpSpPr/>
        <p:nvPr/>
      </p:nvGrpSpPr>
      <p:grpSpPr/>
      <p:sp>
        <p:nvSpPr>
          <p:cNvPr id="2" name="Rectangle 1"/>
          <p:cNvSpPr/>
          <p:nvPr/>
        </p:nvSpPr>
        <p:spPr>
          <a:xfrm>
            <a:off x="0" y="0"/>
            <a:ext cx="14630400" cy="73152"/>
          </a:xfrm>
          <a:prstGeom prst="rect">
            <a:avLst/>
          </a:prstGeom>
          <a:solidFill>
            <a:srgbClr val="176B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20040" y="164592"/>
            <a:ext cx="13990320" cy="457200"/>
          </a:xfrm>
          <a:prstGeom prst="rect">
            <a:avLst/>
          </a:prstGeom>
          <a:noFill/>
        </p:spPr>
        <p:txBody>
          <a:bodyPr wrap="square" lIns="54864" rIns="54864" tIns="22860" bIns="22860">
            <a:spAutoFit/>
          </a:bodyPr>
          <a:lstStyle/>
          <a:p>
            <a:pPr>
              <a:lnSpc>
                <a:spcPts val="2940"/>
              </a:lnSpc>
              <a:spcBef>
                <a:spcPts val="0"/>
              </a:spcBef>
              <a:spcAft>
                <a:spcPts val="0"/>
              </a:spcAft>
              <a:defRPr sz="2800" b="1">
                <a:solidFill>
                  <a:srgbClr val="182B3A"/>
                </a:solidFill>
                <a:latin typeface="Arial"/>
              </a:defRPr>
            </a:pPr>
            <a:r>
              <a:t>Solving equations</a:t>
            </a:r>
          </a:p>
        </p:txBody>
      </p:sp>
      <p:sp>
        <p:nvSpPr>
          <p:cNvPr id="4" name="TextBox 3"/>
          <p:cNvSpPr txBox="1"/>
          <p:nvPr/>
        </p:nvSpPr>
        <p:spPr>
          <a:xfrm>
            <a:off x="320040" y="704088"/>
            <a:ext cx="13990320" cy="347472"/>
          </a:xfrm>
          <a:prstGeom prst="rect">
            <a:avLst/>
          </a:prstGeom>
          <a:noFill/>
        </p:spPr>
        <p:txBody>
          <a:bodyPr wrap="square" lIns="54864" rIns="54864" tIns="22860" bIns="22860">
            <a:spAutoFit/>
          </a:bodyPr>
          <a:lstStyle/>
          <a:p>
            <a:pPr>
              <a:lnSpc>
                <a:spcPts val="1575"/>
              </a:lnSpc>
              <a:spcBef>
                <a:spcPts val="0"/>
              </a:spcBef>
              <a:spcAft>
                <a:spcPts val="0"/>
              </a:spcAft>
              <a:defRPr sz="1500" b="0">
                <a:solidFill>
                  <a:srgbClr val="526472"/>
                </a:solidFill>
                <a:latin typeface="Arial"/>
              </a:defRPr>
            </a:pPr>
            <a:r>
              <a:t>Independent practice 2 • Solve each equation and check by substitution.</a:t>
            </a:r>
          </a:p>
        </p:txBody>
      </p:sp>
      <p:sp>
        <p:nvSpPr>
          <p:cNvPr id="5" name="TextBox 4"/>
          <p:cNvSpPr txBox="1"/>
          <p:nvPr/>
        </p:nvSpPr>
        <p:spPr>
          <a:xfrm>
            <a:off x="320040" y="7973568"/>
            <a:ext cx="10789920" cy="210312"/>
          </a:xfrm>
          <a:prstGeom prst="rect">
            <a:avLst/>
          </a:prstGeom>
          <a:noFill/>
        </p:spPr>
        <p:txBody>
          <a:bodyPr wrap="square" lIns="54864" rIns="54864" tIns="22860" bIns="22860">
            <a:spAutoFit/>
          </a:bodyPr>
          <a:lstStyle/>
          <a:p>
            <a:pPr>
              <a:lnSpc>
                <a:spcPts val="1155"/>
              </a:lnSpc>
              <a:spcBef>
                <a:spcPts val="0"/>
              </a:spcBef>
              <a:spcAft>
                <a:spcPts val="0"/>
              </a:spcAft>
              <a:defRPr sz="1100" b="0">
                <a:solidFill>
                  <a:srgbClr val="526472"/>
                </a:solidFill>
                <a:latin typeface="Arial"/>
              </a:defRPr>
            </a:pPr>
            <a:r>
              <a:t>GCSE Maths revision • No calculator • Show your working.</a:t>
            </a:r>
          </a:p>
        </p:txBody>
      </p:sp>
      <p:sp>
        <p:nvSpPr>
          <p:cNvPr id="6" name="TextBox 5"/>
          <p:cNvSpPr txBox="1"/>
          <p:nvPr/>
        </p:nvSpPr>
        <p:spPr>
          <a:xfrm>
            <a:off x="11155680" y="7973568"/>
            <a:ext cx="3108960" cy="210312"/>
          </a:xfrm>
          <a:prstGeom prst="rect">
            <a:avLst/>
          </a:prstGeom>
          <a:noFill/>
        </p:spPr>
        <p:txBody>
          <a:bodyPr wrap="square" lIns="54864" rIns="54864" tIns="22860" bIns="22860">
            <a:spAutoFit/>
          </a:bodyPr>
          <a:lstStyle/>
          <a:p>
            <a:pPr>
              <a:lnSpc>
                <a:spcPts val="1155"/>
              </a:lnSpc>
              <a:spcBef>
                <a:spcPts val="0"/>
              </a:spcBef>
              <a:spcAft>
                <a:spcPts val="0"/>
              </a:spcAft>
              <a:defRPr sz="1100" b="0">
                <a:solidFill>
                  <a:srgbClr val="526472"/>
                </a:solidFill>
                <a:latin typeface="Arial"/>
              </a:defRPr>
            </a:pPr>
            <a:r>
              <a:t>M10-S05</a:t>
            </a:r>
          </a:p>
        </p:txBody>
      </p:sp>
      <p:sp>
        <p:nvSpPr>
          <p:cNvPr id="7" name="Rectangle 6"/>
          <p:cNvSpPr/>
          <p:nvPr/>
        </p:nvSpPr>
        <p:spPr>
          <a:xfrm>
            <a:off x="320040" y="1115568"/>
            <a:ext cx="4640580" cy="420624"/>
          </a:xfrm>
          <a:prstGeom prst="rect">
            <a:avLst/>
          </a:prstGeom>
          <a:solidFill>
            <a:srgbClr val="176B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347472" y="1147572"/>
            <a:ext cx="4581144" cy="329184"/>
          </a:xfrm>
          <a:prstGeom prst="rect">
            <a:avLst/>
          </a:prstGeom>
          <a:noFill/>
        </p:spPr>
        <p:txBody>
          <a:bodyPr wrap="square" lIns="54864" rIns="54864" tIns="22860" bIns="22860">
            <a:spAutoFit/>
          </a:bodyPr>
          <a:lstStyle/>
          <a:p>
            <a:pPr>
              <a:lnSpc>
                <a:spcPts val="1995"/>
              </a:lnSpc>
              <a:spcBef>
                <a:spcPts val="0"/>
              </a:spcBef>
              <a:spcAft>
                <a:spcPts val="0"/>
              </a:spcAft>
              <a:defRPr sz="1900" b="1">
                <a:solidFill>
                  <a:srgbClr val="FFFFFF"/>
                </a:solidFill>
                <a:latin typeface="Arial"/>
              </a:defRPr>
            </a:pPr>
            <a:r>
              <a:t>Start</a:t>
            </a:r>
          </a:p>
        </p:txBody>
      </p:sp>
      <p:sp>
        <p:nvSpPr>
          <p:cNvPr id="9" name="Rectangle 8"/>
          <p:cNvSpPr/>
          <p:nvPr/>
        </p:nvSpPr>
        <p:spPr>
          <a:xfrm>
            <a:off x="4983480" y="1115568"/>
            <a:ext cx="4640580" cy="420624"/>
          </a:xfrm>
          <a:prstGeom prst="rect">
            <a:avLst/>
          </a:prstGeom>
          <a:solidFill>
            <a:srgbClr val="3559A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010912" y="1147572"/>
            <a:ext cx="4581144" cy="329184"/>
          </a:xfrm>
          <a:prstGeom prst="rect">
            <a:avLst/>
          </a:prstGeom>
          <a:noFill/>
        </p:spPr>
        <p:txBody>
          <a:bodyPr wrap="square" lIns="54864" rIns="54864" tIns="22860" bIns="22860">
            <a:spAutoFit/>
          </a:bodyPr>
          <a:lstStyle/>
          <a:p>
            <a:pPr>
              <a:lnSpc>
                <a:spcPts val="1995"/>
              </a:lnSpc>
              <a:spcBef>
                <a:spcPts val="0"/>
              </a:spcBef>
              <a:spcAft>
                <a:spcPts val="0"/>
              </a:spcAft>
              <a:defRPr sz="1900" b="1">
                <a:solidFill>
                  <a:srgbClr val="FFFFFF"/>
                </a:solidFill>
                <a:latin typeface="Arial"/>
              </a:defRPr>
            </a:pPr>
            <a:r>
              <a:t>Build</a:t>
            </a:r>
          </a:p>
        </p:txBody>
      </p:sp>
      <p:sp>
        <p:nvSpPr>
          <p:cNvPr id="11" name="Rectangle 10"/>
          <p:cNvSpPr/>
          <p:nvPr/>
        </p:nvSpPr>
        <p:spPr>
          <a:xfrm>
            <a:off x="9646920" y="1115568"/>
            <a:ext cx="4640580" cy="420624"/>
          </a:xfrm>
          <a:prstGeom prst="rect">
            <a:avLst/>
          </a:prstGeom>
          <a:solidFill>
            <a:srgbClr val="754B8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9674352" y="1147572"/>
            <a:ext cx="4581144" cy="329184"/>
          </a:xfrm>
          <a:prstGeom prst="rect">
            <a:avLst/>
          </a:prstGeom>
          <a:noFill/>
        </p:spPr>
        <p:txBody>
          <a:bodyPr wrap="square" lIns="54864" rIns="54864" tIns="22860" bIns="22860">
            <a:spAutoFit/>
          </a:bodyPr>
          <a:lstStyle/>
          <a:p>
            <a:pPr>
              <a:lnSpc>
                <a:spcPts val="1995"/>
              </a:lnSpc>
              <a:spcBef>
                <a:spcPts val="0"/>
              </a:spcBef>
              <a:spcAft>
                <a:spcPts val="0"/>
              </a:spcAft>
              <a:defRPr sz="1900" b="1">
                <a:solidFill>
                  <a:srgbClr val="FFFFFF"/>
                </a:solidFill>
                <a:latin typeface="Arial"/>
              </a:defRPr>
            </a:pPr>
            <a:r>
              <a:t>Confidence</a:t>
            </a:r>
          </a:p>
        </p:txBody>
      </p:sp>
      <p:sp>
        <p:nvSpPr>
          <p:cNvPr id="13" name="Rectangle 12"/>
          <p:cNvSpPr/>
          <p:nvPr/>
        </p:nvSpPr>
        <p:spPr>
          <a:xfrm>
            <a:off x="320040" y="1581912"/>
            <a:ext cx="4640580" cy="1005840"/>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11479" y="1783080"/>
            <a:ext cx="365760" cy="548640"/>
          </a:xfrm>
          <a:prstGeom prst="rect">
            <a:avLst/>
          </a:prstGeom>
          <a:noFill/>
        </p:spPr>
        <p:txBody>
          <a:bodyPr wrap="square" lIns="54864" rIns="54864" tIns="22860" bIns="22860">
            <a:spAutoFit/>
          </a:bodyPr>
          <a:lstStyle/>
          <a:p>
            <a:pPr>
              <a:lnSpc>
                <a:spcPts val="2100"/>
              </a:lnSpc>
              <a:spcBef>
                <a:spcPts val="0"/>
              </a:spcBef>
              <a:spcAft>
                <a:spcPts val="0"/>
              </a:spcAft>
              <a:defRPr sz="2000" b="1">
                <a:solidFill>
                  <a:srgbClr val="182B3A"/>
                </a:solidFill>
                <a:latin typeface="Arial"/>
              </a:defRPr>
            </a:pPr>
            <a:r>
              <a:t>1.</a:t>
            </a:r>
          </a:p>
        </p:txBody>
      </p:sp>
      <p:sp>
        <p:nvSpPr>
          <p:cNvPr id="15" name="TextBox 14"/>
          <p:cNvSpPr txBox="1"/>
          <p:nvPr/>
        </p:nvSpPr>
        <p:spPr>
          <a:xfrm>
            <a:off x="804672" y="1783080"/>
            <a:ext cx="4059936" cy="594360"/>
          </a:xfrm>
          <a:prstGeom prst="rect">
            <a:avLst/>
          </a:prstGeom>
          <a:noFill/>
        </p:spPr>
        <p:txBody>
          <a:bodyPr wrap="square" lIns="54864" rIns="54864" tIns="22860" bIns="22860">
            <a:spAutoFit/>
          </a:bodyPr>
          <a:lstStyle/>
          <a:p>
            <a:pPr>
              <a:lnSpc>
                <a:spcPts val="2520"/>
              </a:lnSpc>
              <a:spcBef>
                <a:spcPts val="0"/>
              </a:spcBef>
              <a:spcAft>
                <a:spcPts val="0"/>
              </a:spcAft>
              <a:defRPr sz="2400" b="0">
                <a:solidFill>
                  <a:srgbClr val="182B3A"/>
                </a:solidFill>
                <a:latin typeface="Arial"/>
              </a:defRPr>
            </a:pPr>
            <a:r>
              <a:t>x + 8 = 28</a:t>
            </a:r>
          </a:p>
        </p:txBody>
      </p:sp>
      <p:sp>
        <p:nvSpPr>
          <p:cNvPr id="16" name="Rectangle 15"/>
          <p:cNvSpPr/>
          <p:nvPr/>
        </p:nvSpPr>
        <p:spPr>
          <a:xfrm>
            <a:off x="320040" y="2587752"/>
            <a:ext cx="4640580" cy="1005840"/>
          </a:xfrm>
          <a:prstGeom prst="rect">
            <a:avLst/>
          </a:prstGeom>
          <a:solidFill>
            <a:srgbClr val="EDF6F5"/>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411479" y="2788920"/>
            <a:ext cx="365760" cy="548640"/>
          </a:xfrm>
          <a:prstGeom prst="rect">
            <a:avLst/>
          </a:prstGeom>
          <a:noFill/>
        </p:spPr>
        <p:txBody>
          <a:bodyPr wrap="square" lIns="54864" rIns="54864" tIns="22860" bIns="22860">
            <a:spAutoFit/>
          </a:bodyPr>
          <a:lstStyle/>
          <a:p>
            <a:pPr>
              <a:lnSpc>
                <a:spcPts val="2100"/>
              </a:lnSpc>
              <a:spcBef>
                <a:spcPts val="0"/>
              </a:spcBef>
              <a:spcAft>
                <a:spcPts val="0"/>
              </a:spcAft>
              <a:defRPr sz="2000" b="1">
                <a:solidFill>
                  <a:srgbClr val="182B3A"/>
                </a:solidFill>
                <a:latin typeface="Arial"/>
              </a:defRPr>
            </a:pPr>
            <a:r>
              <a:t>2.</a:t>
            </a:r>
          </a:p>
        </p:txBody>
      </p:sp>
      <p:sp>
        <p:nvSpPr>
          <p:cNvPr id="18" name="TextBox 17"/>
          <p:cNvSpPr txBox="1"/>
          <p:nvPr/>
        </p:nvSpPr>
        <p:spPr>
          <a:xfrm>
            <a:off x="804672" y="2788920"/>
            <a:ext cx="4059936" cy="594360"/>
          </a:xfrm>
          <a:prstGeom prst="rect">
            <a:avLst/>
          </a:prstGeom>
          <a:noFill/>
        </p:spPr>
        <p:txBody>
          <a:bodyPr wrap="square" lIns="54864" rIns="54864" tIns="22860" bIns="22860">
            <a:spAutoFit/>
          </a:bodyPr>
          <a:lstStyle/>
          <a:p>
            <a:pPr>
              <a:lnSpc>
                <a:spcPts val="2520"/>
              </a:lnSpc>
              <a:spcBef>
                <a:spcPts val="0"/>
              </a:spcBef>
              <a:spcAft>
                <a:spcPts val="0"/>
              </a:spcAft>
              <a:defRPr sz="2400" b="0">
                <a:solidFill>
                  <a:srgbClr val="182B3A"/>
                </a:solidFill>
                <a:latin typeface="Arial"/>
              </a:defRPr>
            </a:pPr>
            <a:r>
              <a:t>-14 = x − 8</a:t>
            </a:r>
          </a:p>
        </p:txBody>
      </p:sp>
      <p:sp>
        <p:nvSpPr>
          <p:cNvPr id="19" name="Rectangle 18"/>
          <p:cNvSpPr/>
          <p:nvPr/>
        </p:nvSpPr>
        <p:spPr>
          <a:xfrm>
            <a:off x="320040" y="3593592"/>
            <a:ext cx="4640580" cy="1005840"/>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411479" y="3794760"/>
            <a:ext cx="365760" cy="548640"/>
          </a:xfrm>
          <a:prstGeom prst="rect">
            <a:avLst/>
          </a:prstGeom>
          <a:noFill/>
        </p:spPr>
        <p:txBody>
          <a:bodyPr wrap="square" lIns="54864" rIns="54864" tIns="22860" bIns="22860">
            <a:spAutoFit/>
          </a:bodyPr>
          <a:lstStyle/>
          <a:p>
            <a:pPr>
              <a:lnSpc>
                <a:spcPts val="2100"/>
              </a:lnSpc>
              <a:spcBef>
                <a:spcPts val="0"/>
              </a:spcBef>
              <a:spcAft>
                <a:spcPts val="0"/>
              </a:spcAft>
              <a:defRPr sz="2000" b="1">
                <a:solidFill>
                  <a:srgbClr val="182B3A"/>
                </a:solidFill>
                <a:latin typeface="Arial"/>
              </a:defRPr>
            </a:pPr>
            <a:r>
              <a:t>3.</a:t>
            </a:r>
          </a:p>
        </p:txBody>
      </p:sp>
      <p:sp>
        <p:nvSpPr>
          <p:cNvPr id="21" name="TextBox 20"/>
          <p:cNvSpPr txBox="1"/>
          <p:nvPr/>
        </p:nvSpPr>
        <p:spPr>
          <a:xfrm>
            <a:off x="804672" y="3794760"/>
            <a:ext cx="4059936" cy="594360"/>
          </a:xfrm>
          <a:prstGeom prst="rect">
            <a:avLst/>
          </a:prstGeom>
          <a:noFill/>
        </p:spPr>
        <p:txBody>
          <a:bodyPr wrap="square" lIns="54864" rIns="54864" tIns="22860" bIns="22860">
            <a:spAutoFit/>
          </a:bodyPr>
          <a:lstStyle/>
          <a:p>
            <a:pPr>
              <a:lnSpc>
                <a:spcPts val="2520"/>
              </a:lnSpc>
              <a:spcBef>
                <a:spcPts val="0"/>
              </a:spcBef>
              <a:spcAft>
                <a:spcPts val="0"/>
              </a:spcAft>
              <a:defRPr sz="2400" b="0">
                <a:solidFill>
                  <a:srgbClr val="182B3A"/>
                </a:solidFill>
                <a:latin typeface="Arial"/>
              </a:defRPr>
            </a:pPr>
            <a:r>
              <a:t>5x = 65</a:t>
            </a:r>
          </a:p>
        </p:txBody>
      </p:sp>
      <p:sp>
        <p:nvSpPr>
          <p:cNvPr id="22" name="Rectangle 21"/>
          <p:cNvSpPr/>
          <p:nvPr/>
        </p:nvSpPr>
        <p:spPr>
          <a:xfrm>
            <a:off x="320040" y="4599432"/>
            <a:ext cx="4640580" cy="1005840"/>
          </a:xfrm>
          <a:prstGeom prst="rect">
            <a:avLst/>
          </a:prstGeom>
          <a:solidFill>
            <a:srgbClr val="EDF6F5"/>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411479" y="4800600"/>
            <a:ext cx="365760" cy="548640"/>
          </a:xfrm>
          <a:prstGeom prst="rect">
            <a:avLst/>
          </a:prstGeom>
          <a:noFill/>
        </p:spPr>
        <p:txBody>
          <a:bodyPr wrap="square" lIns="54864" rIns="54864" tIns="22860" bIns="22860">
            <a:spAutoFit/>
          </a:bodyPr>
          <a:lstStyle/>
          <a:p>
            <a:pPr>
              <a:lnSpc>
                <a:spcPts val="2100"/>
              </a:lnSpc>
              <a:spcBef>
                <a:spcPts val="0"/>
              </a:spcBef>
              <a:spcAft>
                <a:spcPts val="0"/>
              </a:spcAft>
              <a:defRPr sz="2000" b="1">
                <a:solidFill>
                  <a:srgbClr val="182B3A"/>
                </a:solidFill>
                <a:latin typeface="Arial"/>
              </a:defRPr>
            </a:pPr>
            <a:r>
              <a:t>4.</a:t>
            </a:r>
          </a:p>
        </p:txBody>
      </p:sp>
      <p:sp>
        <p:nvSpPr>
          <p:cNvPr id="24" name="TextBox 23"/>
          <p:cNvSpPr txBox="1"/>
          <p:nvPr/>
        </p:nvSpPr>
        <p:spPr>
          <a:xfrm>
            <a:off x="804672" y="4800600"/>
            <a:ext cx="4059936" cy="594360"/>
          </a:xfrm>
          <a:prstGeom prst="rect">
            <a:avLst/>
          </a:prstGeom>
          <a:noFill/>
        </p:spPr>
        <p:txBody>
          <a:bodyPr wrap="square" lIns="54864" rIns="54864" tIns="22860" bIns="22860">
            <a:spAutoFit/>
          </a:bodyPr>
          <a:lstStyle/>
          <a:p>
            <a:pPr>
              <a:lnSpc>
                <a:spcPts val="2520"/>
              </a:lnSpc>
              <a:spcBef>
                <a:spcPts val="0"/>
              </a:spcBef>
              <a:spcAft>
                <a:spcPts val="0"/>
              </a:spcAft>
              <a:defRPr sz="2400" b="0">
                <a:solidFill>
                  <a:srgbClr val="182B3A"/>
                </a:solidFill>
                <a:latin typeface="Arial"/>
              </a:defRPr>
            </a:pPr>
            <a:r>
              <a:t>x ÷ 2 = 11</a:t>
            </a:r>
          </a:p>
        </p:txBody>
      </p:sp>
      <p:sp>
        <p:nvSpPr>
          <p:cNvPr id="25" name="Rectangle 24"/>
          <p:cNvSpPr/>
          <p:nvPr/>
        </p:nvSpPr>
        <p:spPr>
          <a:xfrm>
            <a:off x="320040" y="5605272"/>
            <a:ext cx="4640580" cy="1005840"/>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411479" y="5806440"/>
            <a:ext cx="365760" cy="548640"/>
          </a:xfrm>
          <a:prstGeom prst="rect">
            <a:avLst/>
          </a:prstGeom>
          <a:noFill/>
        </p:spPr>
        <p:txBody>
          <a:bodyPr wrap="square" lIns="54864" rIns="54864" tIns="22860" bIns="22860">
            <a:spAutoFit/>
          </a:bodyPr>
          <a:lstStyle/>
          <a:p>
            <a:pPr>
              <a:lnSpc>
                <a:spcPts val="2100"/>
              </a:lnSpc>
              <a:spcBef>
                <a:spcPts val="0"/>
              </a:spcBef>
              <a:spcAft>
                <a:spcPts val="0"/>
              </a:spcAft>
              <a:defRPr sz="2000" b="1">
                <a:solidFill>
                  <a:srgbClr val="182B3A"/>
                </a:solidFill>
                <a:latin typeface="Arial"/>
              </a:defRPr>
            </a:pPr>
            <a:r>
              <a:t>5.</a:t>
            </a:r>
          </a:p>
        </p:txBody>
      </p:sp>
      <p:sp>
        <p:nvSpPr>
          <p:cNvPr id="27" name="TextBox 26"/>
          <p:cNvSpPr txBox="1"/>
          <p:nvPr/>
        </p:nvSpPr>
        <p:spPr>
          <a:xfrm>
            <a:off x="804672" y="5806440"/>
            <a:ext cx="4059936" cy="594360"/>
          </a:xfrm>
          <a:prstGeom prst="rect">
            <a:avLst/>
          </a:prstGeom>
          <a:noFill/>
        </p:spPr>
        <p:txBody>
          <a:bodyPr wrap="square" lIns="54864" rIns="54864" tIns="22860" bIns="22860">
            <a:spAutoFit/>
          </a:bodyPr>
          <a:lstStyle/>
          <a:p>
            <a:pPr>
              <a:lnSpc>
                <a:spcPts val="2520"/>
              </a:lnSpc>
              <a:spcBef>
                <a:spcPts val="0"/>
              </a:spcBef>
              <a:spcAft>
                <a:spcPts val="0"/>
              </a:spcAft>
              <a:defRPr sz="2400" b="0">
                <a:solidFill>
                  <a:srgbClr val="182B3A"/>
                </a:solidFill>
                <a:latin typeface="Arial"/>
              </a:defRPr>
            </a:pPr>
            <a:r>
              <a:t>27 = x + 9</a:t>
            </a:r>
          </a:p>
        </p:txBody>
      </p:sp>
      <p:sp>
        <p:nvSpPr>
          <p:cNvPr id="28" name="Rectangle 27"/>
          <p:cNvSpPr/>
          <p:nvPr/>
        </p:nvSpPr>
        <p:spPr>
          <a:xfrm>
            <a:off x="320040" y="6611112"/>
            <a:ext cx="4640580" cy="1005840"/>
          </a:xfrm>
          <a:prstGeom prst="rect">
            <a:avLst/>
          </a:prstGeom>
          <a:solidFill>
            <a:srgbClr val="EDF6F5"/>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411479" y="6812280"/>
            <a:ext cx="365760" cy="548640"/>
          </a:xfrm>
          <a:prstGeom prst="rect">
            <a:avLst/>
          </a:prstGeom>
          <a:noFill/>
        </p:spPr>
        <p:txBody>
          <a:bodyPr wrap="square" lIns="54864" rIns="54864" tIns="22860" bIns="22860">
            <a:spAutoFit/>
          </a:bodyPr>
          <a:lstStyle/>
          <a:p>
            <a:pPr>
              <a:lnSpc>
                <a:spcPts val="2100"/>
              </a:lnSpc>
              <a:spcBef>
                <a:spcPts val="0"/>
              </a:spcBef>
              <a:spcAft>
                <a:spcPts val="0"/>
              </a:spcAft>
              <a:defRPr sz="2000" b="1">
                <a:solidFill>
                  <a:srgbClr val="182B3A"/>
                </a:solidFill>
                <a:latin typeface="Arial"/>
              </a:defRPr>
            </a:pPr>
            <a:r>
              <a:t>6.</a:t>
            </a:r>
          </a:p>
        </p:txBody>
      </p:sp>
      <p:sp>
        <p:nvSpPr>
          <p:cNvPr id="30" name="TextBox 29"/>
          <p:cNvSpPr txBox="1"/>
          <p:nvPr/>
        </p:nvSpPr>
        <p:spPr>
          <a:xfrm>
            <a:off x="804672" y="6812280"/>
            <a:ext cx="4059936" cy="594360"/>
          </a:xfrm>
          <a:prstGeom prst="rect">
            <a:avLst/>
          </a:prstGeom>
          <a:noFill/>
        </p:spPr>
        <p:txBody>
          <a:bodyPr wrap="square" lIns="54864" rIns="54864" tIns="22860" bIns="22860">
            <a:spAutoFit/>
          </a:bodyPr>
          <a:lstStyle/>
          <a:p>
            <a:pPr>
              <a:lnSpc>
                <a:spcPts val="2520"/>
              </a:lnSpc>
              <a:spcBef>
                <a:spcPts val="0"/>
              </a:spcBef>
              <a:spcAft>
                <a:spcPts val="0"/>
              </a:spcAft>
              <a:defRPr sz="2400" b="0">
                <a:solidFill>
                  <a:srgbClr val="182B3A"/>
                </a:solidFill>
                <a:latin typeface="Arial"/>
              </a:defRPr>
            </a:pPr>
            <a:r>
              <a:t>6x = 90</a:t>
            </a:r>
          </a:p>
        </p:txBody>
      </p:sp>
      <p:sp>
        <p:nvSpPr>
          <p:cNvPr id="31" name="Rectangle 30"/>
          <p:cNvSpPr/>
          <p:nvPr/>
        </p:nvSpPr>
        <p:spPr>
          <a:xfrm>
            <a:off x="4983480" y="1581912"/>
            <a:ext cx="4640580" cy="1005840"/>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5074920" y="1783080"/>
            <a:ext cx="365760" cy="548640"/>
          </a:xfrm>
          <a:prstGeom prst="rect">
            <a:avLst/>
          </a:prstGeom>
          <a:noFill/>
        </p:spPr>
        <p:txBody>
          <a:bodyPr wrap="square" lIns="54864" rIns="54864" tIns="22860" bIns="22860">
            <a:spAutoFit/>
          </a:bodyPr>
          <a:lstStyle/>
          <a:p>
            <a:pPr>
              <a:lnSpc>
                <a:spcPts val="2100"/>
              </a:lnSpc>
              <a:spcBef>
                <a:spcPts val="0"/>
              </a:spcBef>
              <a:spcAft>
                <a:spcPts val="0"/>
              </a:spcAft>
              <a:defRPr sz="2000" b="1">
                <a:solidFill>
                  <a:srgbClr val="182B3A"/>
                </a:solidFill>
                <a:latin typeface="Arial"/>
              </a:defRPr>
            </a:pPr>
            <a:r>
              <a:t>1.</a:t>
            </a:r>
          </a:p>
        </p:txBody>
      </p:sp>
      <p:sp>
        <p:nvSpPr>
          <p:cNvPr id="33" name="TextBox 32"/>
          <p:cNvSpPr txBox="1"/>
          <p:nvPr/>
        </p:nvSpPr>
        <p:spPr>
          <a:xfrm>
            <a:off x="5468112" y="1783080"/>
            <a:ext cx="4059936" cy="594360"/>
          </a:xfrm>
          <a:prstGeom prst="rect">
            <a:avLst/>
          </a:prstGeom>
          <a:noFill/>
        </p:spPr>
        <p:txBody>
          <a:bodyPr wrap="square" lIns="54864" rIns="54864" tIns="22860" bIns="22860">
            <a:spAutoFit/>
          </a:bodyPr>
          <a:lstStyle/>
          <a:p>
            <a:pPr>
              <a:lnSpc>
                <a:spcPts val="2520"/>
              </a:lnSpc>
              <a:spcBef>
                <a:spcPts val="0"/>
              </a:spcBef>
              <a:spcAft>
                <a:spcPts val="0"/>
              </a:spcAft>
              <a:defRPr sz="2400" b="0">
                <a:solidFill>
                  <a:srgbClr val="182B3A"/>
                </a:solidFill>
                <a:latin typeface="Arial"/>
              </a:defRPr>
            </a:pPr>
            <a:r>
              <a:t>5x − 9 = -44</a:t>
            </a:r>
          </a:p>
        </p:txBody>
      </p:sp>
      <p:sp>
        <p:nvSpPr>
          <p:cNvPr id="34" name="Rectangle 33"/>
          <p:cNvSpPr/>
          <p:nvPr/>
        </p:nvSpPr>
        <p:spPr>
          <a:xfrm>
            <a:off x="4983480" y="2587752"/>
            <a:ext cx="4640580" cy="1005840"/>
          </a:xfrm>
          <a:prstGeom prst="rect">
            <a:avLst/>
          </a:prstGeom>
          <a:solidFill>
            <a:srgbClr val="EFF3FA"/>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5074920" y="2788920"/>
            <a:ext cx="365760" cy="548640"/>
          </a:xfrm>
          <a:prstGeom prst="rect">
            <a:avLst/>
          </a:prstGeom>
          <a:noFill/>
        </p:spPr>
        <p:txBody>
          <a:bodyPr wrap="square" lIns="54864" rIns="54864" tIns="22860" bIns="22860">
            <a:spAutoFit/>
          </a:bodyPr>
          <a:lstStyle/>
          <a:p>
            <a:pPr>
              <a:lnSpc>
                <a:spcPts val="2100"/>
              </a:lnSpc>
              <a:spcBef>
                <a:spcPts val="0"/>
              </a:spcBef>
              <a:spcAft>
                <a:spcPts val="0"/>
              </a:spcAft>
              <a:defRPr sz="2000" b="1">
                <a:solidFill>
                  <a:srgbClr val="182B3A"/>
                </a:solidFill>
                <a:latin typeface="Arial"/>
              </a:defRPr>
            </a:pPr>
            <a:r>
              <a:t>2.</a:t>
            </a:r>
          </a:p>
        </p:txBody>
      </p:sp>
      <p:sp>
        <p:nvSpPr>
          <p:cNvPr id="36" name="TextBox 35"/>
          <p:cNvSpPr txBox="1"/>
          <p:nvPr/>
        </p:nvSpPr>
        <p:spPr>
          <a:xfrm>
            <a:off x="5468112" y="2788920"/>
            <a:ext cx="4059936" cy="594360"/>
          </a:xfrm>
          <a:prstGeom prst="rect">
            <a:avLst/>
          </a:prstGeom>
          <a:noFill/>
        </p:spPr>
        <p:txBody>
          <a:bodyPr wrap="square" lIns="54864" rIns="54864" tIns="22860" bIns="22860">
            <a:spAutoFit/>
          </a:bodyPr>
          <a:lstStyle/>
          <a:p>
            <a:pPr>
              <a:lnSpc>
                <a:spcPts val="2520"/>
              </a:lnSpc>
              <a:spcBef>
                <a:spcPts val="0"/>
              </a:spcBef>
              <a:spcAft>
                <a:spcPts val="0"/>
              </a:spcAft>
              <a:defRPr sz="2400" b="0">
                <a:solidFill>
                  <a:srgbClr val="182B3A"/>
                </a:solidFill>
                <a:latin typeface="Arial"/>
              </a:defRPr>
            </a:pPr>
            <a:r>
              <a:t>4x + x + 6 = 121</a:t>
            </a:r>
          </a:p>
        </p:txBody>
      </p:sp>
      <p:sp>
        <p:nvSpPr>
          <p:cNvPr id="37" name="Rectangle 36"/>
          <p:cNvSpPr/>
          <p:nvPr/>
        </p:nvSpPr>
        <p:spPr>
          <a:xfrm>
            <a:off x="4983480" y="3593592"/>
            <a:ext cx="4640580" cy="1005840"/>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5074920" y="3794760"/>
            <a:ext cx="365760" cy="548640"/>
          </a:xfrm>
          <a:prstGeom prst="rect">
            <a:avLst/>
          </a:prstGeom>
          <a:noFill/>
        </p:spPr>
        <p:txBody>
          <a:bodyPr wrap="square" lIns="54864" rIns="54864" tIns="22860" bIns="22860">
            <a:spAutoFit/>
          </a:bodyPr>
          <a:lstStyle/>
          <a:p>
            <a:pPr>
              <a:lnSpc>
                <a:spcPts val="2100"/>
              </a:lnSpc>
              <a:spcBef>
                <a:spcPts val="0"/>
              </a:spcBef>
              <a:spcAft>
                <a:spcPts val="0"/>
              </a:spcAft>
              <a:defRPr sz="2000" b="1">
                <a:solidFill>
                  <a:srgbClr val="182B3A"/>
                </a:solidFill>
                <a:latin typeface="Arial"/>
              </a:defRPr>
            </a:pPr>
            <a:r>
              <a:t>3.</a:t>
            </a:r>
          </a:p>
        </p:txBody>
      </p:sp>
      <p:sp>
        <p:nvSpPr>
          <p:cNvPr id="39" name="TextBox 38"/>
          <p:cNvSpPr txBox="1"/>
          <p:nvPr/>
        </p:nvSpPr>
        <p:spPr>
          <a:xfrm>
            <a:off x="5468112" y="3794760"/>
            <a:ext cx="4059936" cy="594360"/>
          </a:xfrm>
          <a:prstGeom prst="rect">
            <a:avLst/>
          </a:prstGeom>
          <a:noFill/>
        </p:spPr>
        <p:txBody>
          <a:bodyPr wrap="square" lIns="54864" rIns="54864" tIns="22860" bIns="22860">
            <a:spAutoFit/>
          </a:bodyPr>
          <a:lstStyle/>
          <a:p>
            <a:pPr>
              <a:lnSpc>
                <a:spcPts val="2520"/>
              </a:lnSpc>
              <a:spcBef>
                <a:spcPts val="0"/>
              </a:spcBef>
              <a:spcAft>
                <a:spcPts val="0"/>
              </a:spcAft>
              <a:defRPr sz="2400" b="0">
                <a:solidFill>
                  <a:srgbClr val="182B3A"/>
                </a:solidFill>
                <a:latin typeface="Arial"/>
              </a:defRPr>
            </a:pPr>
            <a:r>
              <a:t>5x + 8 = -7</a:t>
            </a:r>
          </a:p>
        </p:txBody>
      </p:sp>
      <p:sp>
        <p:nvSpPr>
          <p:cNvPr id="40" name="Rectangle 39"/>
          <p:cNvSpPr/>
          <p:nvPr/>
        </p:nvSpPr>
        <p:spPr>
          <a:xfrm>
            <a:off x="4983480" y="4599432"/>
            <a:ext cx="4640580" cy="1005840"/>
          </a:xfrm>
          <a:prstGeom prst="rect">
            <a:avLst/>
          </a:prstGeom>
          <a:solidFill>
            <a:srgbClr val="EFF3FA"/>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5074920" y="4800600"/>
            <a:ext cx="365760" cy="548640"/>
          </a:xfrm>
          <a:prstGeom prst="rect">
            <a:avLst/>
          </a:prstGeom>
          <a:noFill/>
        </p:spPr>
        <p:txBody>
          <a:bodyPr wrap="square" lIns="54864" rIns="54864" tIns="22860" bIns="22860">
            <a:spAutoFit/>
          </a:bodyPr>
          <a:lstStyle/>
          <a:p>
            <a:pPr>
              <a:lnSpc>
                <a:spcPts val="2100"/>
              </a:lnSpc>
              <a:spcBef>
                <a:spcPts val="0"/>
              </a:spcBef>
              <a:spcAft>
                <a:spcPts val="0"/>
              </a:spcAft>
              <a:defRPr sz="2000" b="1">
                <a:solidFill>
                  <a:srgbClr val="182B3A"/>
                </a:solidFill>
                <a:latin typeface="Arial"/>
              </a:defRPr>
            </a:pPr>
            <a:r>
              <a:t>4.</a:t>
            </a:r>
          </a:p>
        </p:txBody>
      </p:sp>
      <p:sp>
        <p:nvSpPr>
          <p:cNvPr id="42" name="TextBox 41"/>
          <p:cNvSpPr txBox="1"/>
          <p:nvPr/>
        </p:nvSpPr>
        <p:spPr>
          <a:xfrm>
            <a:off x="5468112" y="4800600"/>
            <a:ext cx="4059936" cy="594360"/>
          </a:xfrm>
          <a:prstGeom prst="rect">
            <a:avLst/>
          </a:prstGeom>
          <a:noFill/>
        </p:spPr>
        <p:txBody>
          <a:bodyPr wrap="square" lIns="54864" rIns="54864" tIns="22860" bIns="22860">
            <a:spAutoFit/>
          </a:bodyPr>
          <a:lstStyle/>
          <a:p>
            <a:pPr>
              <a:lnSpc>
                <a:spcPts val="2520"/>
              </a:lnSpc>
              <a:spcBef>
                <a:spcPts val="0"/>
              </a:spcBef>
              <a:spcAft>
                <a:spcPts val="0"/>
              </a:spcAft>
              <a:defRPr sz="2400" b="0">
                <a:solidFill>
                  <a:srgbClr val="182B3A"/>
                </a:solidFill>
                <a:latin typeface="Arial"/>
              </a:defRPr>
            </a:pPr>
            <a:r>
              <a:t>8 + 3x = 80</a:t>
            </a:r>
          </a:p>
        </p:txBody>
      </p:sp>
      <p:sp>
        <p:nvSpPr>
          <p:cNvPr id="43" name="Rectangle 42"/>
          <p:cNvSpPr/>
          <p:nvPr/>
        </p:nvSpPr>
        <p:spPr>
          <a:xfrm>
            <a:off x="4983480" y="5605272"/>
            <a:ext cx="4640580" cy="1005840"/>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5074920" y="5806440"/>
            <a:ext cx="365760" cy="548640"/>
          </a:xfrm>
          <a:prstGeom prst="rect">
            <a:avLst/>
          </a:prstGeom>
          <a:noFill/>
        </p:spPr>
        <p:txBody>
          <a:bodyPr wrap="square" lIns="54864" rIns="54864" tIns="22860" bIns="22860">
            <a:spAutoFit/>
          </a:bodyPr>
          <a:lstStyle/>
          <a:p>
            <a:pPr>
              <a:lnSpc>
                <a:spcPts val="2100"/>
              </a:lnSpc>
              <a:spcBef>
                <a:spcPts val="0"/>
              </a:spcBef>
              <a:spcAft>
                <a:spcPts val="0"/>
              </a:spcAft>
              <a:defRPr sz="2000" b="1">
                <a:solidFill>
                  <a:srgbClr val="182B3A"/>
                </a:solidFill>
                <a:latin typeface="Arial"/>
              </a:defRPr>
            </a:pPr>
            <a:r>
              <a:t>5.</a:t>
            </a:r>
          </a:p>
        </p:txBody>
      </p:sp>
      <p:sp>
        <p:nvSpPr>
          <p:cNvPr id="45" name="TextBox 44"/>
          <p:cNvSpPr txBox="1"/>
          <p:nvPr/>
        </p:nvSpPr>
        <p:spPr>
          <a:xfrm>
            <a:off x="5468112" y="5806440"/>
            <a:ext cx="4059936" cy="594360"/>
          </a:xfrm>
          <a:prstGeom prst="rect">
            <a:avLst/>
          </a:prstGeom>
          <a:noFill/>
        </p:spPr>
        <p:txBody>
          <a:bodyPr wrap="square" lIns="54864" rIns="54864" tIns="22860" bIns="22860">
            <a:spAutoFit/>
          </a:bodyPr>
          <a:lstStyle/>
          <a:p>
            <a:pPr>
              <a:lnSpc>
                <a:spcPts val="2520"/>
              </a:lnSpc>
              <a:spcBef>
                <a:spcPts val="0"/>
              </a:spcBef>
              <a:spcAft>
                <a:spcPts val="0"/>
              </a:spcAft>
              <a:defRPr sz="2400" b="0">
                <a:solidFill>
                  <a:srgbClr val="182B3A"/>
                </a:solidFill>
                <a:latin typeface="Arial"/>
              </a:defRPr>
            </a:pPr>
            <a:r>
              <a:t>-5 + 3x = 73</a:t>
            </a:r>
          </a:p>
        </p:txBody>
      </p:sp>
      <p:sp>
        <p:nvSpPr>
          <p:cNvPr id="46" name="Rectangle 45"/>
          <p:cNvSpPr/>
          <p:nvPr/>
        </p:nvSpPr>
        <p:spPr>
          <a:xfrm>
            <a:off x="4983480" y="6611112"/>
            <a:ext cx="4640580" cy="1005840"/>
          </a:xfrm>
          <a:prstGeom prst="rect">
            <a:avLst/>
          </a:prstGeom>
          <a:solidFill>
            <a:srgbClr val="EFF3FA"/>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TextBox 46"/>
          <p:cNvSpPr txBox="1"/>
          <p:nvPr/>
        </p:nvSpPr>
        <p:spPr>
          <a:xfrm>
            <a:off x="5074920" y="6812280"/>
            <a:ext cx="365760" cy="548640"/>
          </a:xfrm>
          <a:prstGeom prst="rect">
            <a:avLst/>
          </a:prstGeom>
          <a:noFill/>
        </p:spPr>
        <p:txBody>
          <a:bodyPr wrap="square" lIns="54864" rIns="54864" tIns="22860" bIns="22860">
            <a:spAutoFit/>
          </a:bodyPr>
          <a:lstStyle/>
          <a:p>
            <a:pPr>
              <a:lnSpc>
                <a:spcPts val="2100"/>
              </a:lnSpc>
              <a:spcBef>
                <a:spcPts val="0"/>
              </a:spcBef>
              <a:spcAft>
                <a:spcPts val="0"/>
              </a:spcAft>
              <a:defRPr sz="2000" b="1">
                <a:solidFill>
                  <a:srgbClr val="182B3A"/>
                </a:solidFill>
                <a:latin typeface="Arial"/>
              </a:defRPr>
            </a:pPr>
            <a:r>
              <a:t>6.</a:t>
            </a:r>
          </a:p>
        </p:txBody>
      </p:sp>
      <p:sp>
        <p:nvSpPr>
          <p:cNvPr id="48" name="TextBox 47"/>
          <p:cNvSpPr txBox="1"/>
          <p:nvPr/>
        </p:nvSpPr>
        <p:spPr>
          <a:xfrm>
            <a:off x="5468112" y="6812280"/>
            <a:ext cx="4059936" cy="594360"/>
          </a:xfrm>
          <a:prstGeom prst="rect">
            <a:avLst/>
          </a:prstGeom>
          <a:noFill/>
        </p:spPr>
        <p:txBody>
          <a:bodyPr wrap="square" lIns="54864" rIns="54864" tIns="22860" bIns="22860">
            <a:spAutoFit/>
          </a:bodyPr>
          <a:lstStyle/>
          <a:p>
            <a:pPr>
              <a:lnSpc>
                <a:spcPts val="2520"/>
              </a:lnSpc>
              <a:spcBef>
                <a:spcPts val="0"/>
              </a:spcBef>
              <a:spcAft>
                <a:spcPts val="0"/>
              </a:spcAft>
              <a:defRPr sz="2400" b="0">
                <a:solidFill>
                  <a:srgbClr val="182B3A"/>
                </a:solidFill>
                <a:latin typeface="Arial"/>
              </a:defRPr>
            </a:pPr>
            <a:r>
              <a:t>4 + 2x = 18</a:t>
            </a:r>
          </a:p>
        </p:txBody>
      </p:sp>
      <p:sp>
        <p:nvSpPr>
          <p:cNvPr id="49" name="Rectangle 48"/>
          <p:cNvSpPr/>
          <p:nvPr/>
        </p:nvSpPr>
        <p:spPr>
          <a:xfrm>
            <a:off x="9646920" y="1581912"/>
            <a:ext cx="4640580" cy="1005840"/>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TextBox 49"/>
          <p:cNvSpPr txBox="1"/>
          <p:nvPr/>
        </p:nvSpPr>
        <p:spPr>
          <a:xfrm>
            <a:off x="9738360" y="1783080"/>
            <a:ext cx="365760" cy="548640"/>
          </a:xfrm>
          <a:prstGeom prst="rect">
            <a:avLst/>
          </a:prstGeom>
          <a:noFill/>
        </p:spPr>
        <p:txBody>
          <a:bodyPr wrap="square" lIns="54864" rIns="54864" tIns="22860" bIns="22860">
            <a:spAutoFit/>
          </a:bodyPr>
          <a:lstStyle/>
          <a:p>
            <a:pPr>
              <a:lnSpc>
                <a:spcPts val="2100"/>
              </a:lnSpc>
              <a:spcBef>
                <a:spcPts val="0"/>
              </a:spcBef>
              <a:spcAft>
                <a:spcPts val="0"/>
              </a:spcAft>
              <a:defRPr sz="2000" b="1">
                <a:solidFill>
                  <a:srgbClr val="182B3A"/>
                </a:solidFill>
                <a:latin typeface="Arial"/>
              </a:defRPr>
            </a:pPr>
            <a:r>
              <a:t>1.</a:t>
            </a:r>
          </a:p>
        </p:txBody>
      </p:sp>
      <p:sp>
        <p:nvSpPr>
          <p:cNvPr id="51" name="TextBox 50"/>
          <p:cNvSpPr txBox="1"/>
          <p:nvPr/>
        </p:nvSpPr>
        <p:spPr>
          <a:xfrm>
            <a:off x="10131552" y="1783080"/>
            <a:ext cx="4059936" cy="594360"/>
          </a:xfrm>
          <a:prstGeom prst="rect">
            <a:avLst/>
          </a:prstGeom>
          <a:noFill/>
        </p:spPr>
        <p:txBody>
          <a:bodyPr wrap="square" lIns="54864" rIns="54864" tIns="22860" bIns="22860">
            <a:spAutoFit/>
          </a:bodyPr>
          <a:lstStyle/>
          <a:p>
            <a:pPr>
              <a:lnSpc>
                <a:spcPts val="2520"/>
              </a:lnSpc>
              <a:spcBef>
                <a:spcPts val="0"/>
              </a:spcBef>
              <a:spcAft>
                <a:spcPts val="0"/>
              </a:spcAft>
              <a:defRPr sz="2400" b="0">
                <a:solidFill>
                  <a:srgbClr val="182B3A"/>
                </a:solidFill>
                <a:latin typeface="Arial"/>
              </a:defRPr>
            </a:pPr>
            <a:r>
              <a:t>7(x − 5) = 2x + 50</a:t>
            </a:r>
          </a:p>
        </p:txBody>
      </p:sp>
      <p:sp>
        <p:nvSpPr>
          <p:cNvPr id="52" name="Rectangle 51"/>
          <p:cNvSpPr/>
          <p:nvPr/>
        </p:nvSpPr>
        <p:spPr>
          <a:xfrm>
            <a:off x="9646920" y="2587752"/>
            <a:ext cx="4640580" cy="1005840"/>
          </a:xfrm>
          <a:prstGeom prst="rect">
            <a:avLst/>
          </a:prstGeom>
          <a:solidFill>
            <a:srgbClr val="F5F0F7"/>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TextBox 52"/>
          <p:cNvSpPr txBox="1"/>
          <p:nvPr/>
        </p:nvSpPr>
        <p:spPr>
          <a:xfrm>
            <a:off x="9738360" y="2788920"/>
            <a:ext cx="365760" cy="548640"/>
          </a:xfrm>
          <a:prstGeom prst="rect">
            <a:avLst/>
          </a:prstGeom>
          <a:noFill/>
        </p:spPr>
        <p:txBody>
          <a:bodyPr wrap="square" lIns="54864" rIns="54864" tIns="22860" bIns="22860">
            <a:spAutoFit/>
          </a:bodyPr>
          <a:lstStyle/>
          <a:p>
            <a:pPr>
              <a:lnSpc>
                <a:spcPts val="2100"/>
              </a:lnSpc>
              <a:spcBef>
                <a:spcPts val="0"/>
              </a:spcBef>
              <a:spcAft>
                <a:spcPts val="0"/>
              </a:spcAft>
              <a:defRPr sz="2000" b="1">
                <a:solidFill>
                  <a:srgbClr val="182B3A"/>
                </a:solidFill>
                <a:latin typeface="Arial"/>
              </a:defRPr>
            </a:pPr>
            <a:r>
              <a:t>2.</a:t>
            </a:r>
          </a:p>
        </p:txBody>
      </p:sp>
      <p:sp>
        <p:nvSpPr>
          <p:cNvPr id="54" name="TextBox 53"/>
          <p:cNvSpPr txBox="1"/>
          <p:nvPr/>
        </p:nvSpPr>
        <p:spPr>
          <a:xfrm>
            <a:off x="10131552" y="2788920"/>
            <a:ext cx="4059936" cy="594360"/>
          </a:xfrm>
          <a:prstGeom prst="rect">
            <a:avLst/>
          </a:prstGeom>
          <a:noFill/>
        </p:spPr>
        <p:txBody>
          <a:bodyPr wrap="square" lIns="54864" rIns="54864" tIns="22860" bIns="22860">
            <a:spAutoFit/>
          </a:bodyPr>
          <a:lstStyle/>
          <a:p>
            <a:pPr>
              <a:lnSpc>
                <a:spcPts val="2520"/>
              </a:lnSpc>
              <a:spcBef>
                <a:spcPts val="0"/>
              </a:spcBef>
              <a:spcAft>
                <a:spcPts val="0"/>
              </a:spcAft>
              <a:defRPr sz="2400" b="0">
                <a:solidFill>
                  <a:srgbClr val="182B3A"/>
                </a:solidFill>
                <a:latin typeface="Arial"/>
              </a:defRPr>
            </a:pPr>
            <a:r>
              <a:t>6(x + 2) = x + 92</a:t>
            </a:r>
          </a:p>
        </p:txBody>
      </p:sp>
      <p:sp>
        <p:nvSpPr>
          <p:cNvPr id="55" name="Rectangle 54"/>
          <p:cNvSpPr/>
          <p:nvPr/>
        </p:nvSpPr>
        <p:spPr>
          <a:xfrm>
            <a:off x="9646920" y="3593592"/>
            <a:ext cx="4640580" cy="1005840"/>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TextBox 55"/>
          <p:cNvSpPr txBox="1"/>
          <p:nvPr/>
        </p:nvSpPr>
        <p:spPr>
          <a:xfrm>
            <a:off x="9738360" y="3794760"/>
            <a:ext cx="365760" cy="548640"/>
          </a:xfrm>
          <a:prstGeom prst="rect">
            <a:avLst/>
          </a:prstGeom>
          <a:noFill/>
        </p:spPr>
        <p:txBody>
          <a:bodyPr wrap="square" lIns="54864" rIns="54864" tIns="22860" bIns="22860">
            <a:spAutoFit/>
          </a:bodyPr>
          <a:lstStyle/>
          <a:p>
            <a:pPr>
              <a:lnSpc>
                <a:spcPts val="2100"/>
              </a:lnSpc>
              <a:spcBef>
                <a:spcPts val="0"/>
              </a:spcBef>
              <a:spcAft>
                <a:spcPts val="0"/>
              </a:spcAft>
              <a:defRPr sz="2000" b="1">
                <a:solidFill>
                  <a:srgbClr val="182B3A"/>
                </a:solidFill>
                <a:latin typeface="Arial"/>
              </a:defRPr>
            </a:pPr>
            <a:r>
              <a:t>3.</a:t>
            </a:r>
          </a:p>
        </p:txBody>
      </p:sp>
      <p:sp>
        <p:nvSpPr>
          <p:cNvPr id="57" name="TextBox 56"/>
          <p:cNvSpPr txBox="1"/>
          <p:nvPr/>
        </p:nvSpPr>
        <p:spPr>
          <a:xfrm>
            <a:off x="10131552" y="3794760"/>
            <a:ext cx="4059936" cy="594360"/>
          </a:xfrm>
          <a:prstGeom prst="rect">
            <a:avLst/>
          </a:prstGeom>
          <a:noFill/>
        </p:spPr>
        <p:txBody>
          <a:bodyPr wrap="square" lIns="54864" rIns="54864" tIns="22860" bIns="22860">
            <a:spAutoFit/>
          </a:bodyPr>
          <a:lstStyle/>
          <a:p>
            <a:pPr>
              <a:lnSpc>
                <a:spcPts val="2520"/>
              </a:lnSpc>
              <a:spcBef>
                <a:spcPts val="0"/>
              </a:spcBef>
              <a:spcAft>
                <a:spcPts val="0"/>
              </a:spcAft>
              <a:defRPr sz="2400" b="0">
                <a:solidFill>
                  <a:srgbClr val="182B3A"/>
                </a:solidFill>
                <a:latin typeface="Arial"/>
              </a:defRPr>
            </a:pPr>
            <a:r>
              <a:t>6(x − 5) = 3x − 12</a:t>
            </a:r>
          </a:p>
        </p:txBody>
      </p:sp>
      <p:sp>
        <p:nvSpPr>
          <p:cNvPr id="58" name="Rectangle 57"/>
          <p:cNvSpPr/>
          <p:nvPr/>
        </p:nvSpPr>
        <p:spPr>
          <a:xfrm>
            <a:off x="9646920" y="4599432"/>
            <a:ext cx="4640580" cy="1005840"/>
          </a:xfrm>
          <a:prstGeom prst="rect">
            <a:avLst/>
          </a:prstGeom>
          <a:solidFill>
            <a:srgbClr val="F5F0F7"/>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 name="TextBox 58"/>
          <p:cNvSpPr txBox="1"/>
          <p:nvPr/>
        </p:nvSpPr>
        <p:spPr>
          <a:xfrm>
            <a:off x="9738360" y="4800600"/>
            <a:ext cx="365760" cy="548640"/>
          </a:xfrm>
          <a:prstGeom prst="rect">
            <a:avLst/>
          </a:prstGeom>
          <a:noFill/>
        </p:spPr>
        <p:txBody>
          <a:bodyPr wrap="square" lIns="54864" rIns="54864" tIns="22860" bIns="22860">
            <a:spAutoFit/>
          </a:bodyPr>
          <a:lstStyle/>
          <a:p>
            <a:pPr>
              <a:lnSpc>
                <a:spcPts val="2100"/>
              </a:lnSpc>
              <a:spcBef>
                <a:spcPts val="0"/>
              </a:spcBef>
              <a:spcAft>
                <a:spcPts val="0"/>
              </a:spcAft>
              <a:defRPr sz="2000" b="1">
                <a:solidFill>
                  <a:srgbClr val="182B3A"/>
                </a:solidFill>
                <a:latin typeface="Arial"/>
              </a:defRPr>
            </a:pPr>
            <a:r>
              <a:t>4.</a:t>
            </a:r>
          </a:p>
        </p:txBody>
      </p:sp>
      <p:sp>
        <p:nvSpPr>
          <p:cNvPr id="60" name="TextBox 59"/>
          <p:cNvSpPr txBox="1"/>
          <p:nvPr/>
        </p:nvSpPr>
        <p:spPr>
          <a:xfrm>
            <a:off x="10131552" y="4800600"/>
            <a:ext cx="4059936" cy="594360"/>
          </a:xfrm>
          <a:prstGeom prst="rect">
            <a:avLst/>
          </a:prstGeom>
          <a:noFill/>
        </p:spPr>
        <p:txBody>
          <a:bodyPr wrap="square" lIns="54864" rIns="54864" tIns="22860" bIns="22860">
            <a:spAutoFit/>
          </a:bodyPr>
          <a:lstStyle/>
          <a:p>
            <a:pPr>
              <a:lnSpc>
                <a:spcPts val="2520"/>
              </a:lnSpc>
              <a:spcBef>
                <a:spcPts val="0"/>
              </a:spcBef>
              <a:spcAft>
                <a:spcPts val="0"/>
              </a:spcAft>
              <a:defRPr sz="2400" b="0">
                <a:solidFill>
                  <a:srgbClr val="182B3A"/>
                </a:solidFill>
                <a:latin typeface="Arial"/>
              </a:defRPr>
            </a:pPr>
            <a:r>
              <a:t>4x − 9 = 2x − 3</a:t>
            </a:r>
          </a:p>
        </p:txBody>
      </p:sp>
      <p:sp>
        <p:nvSpPr>
          <p:cNvPr id="61" name="Rectangle 60"/>
          <p:cNvSpPr/>
          <p:nvPr/>
        </p:nvSpPr>
        <p:spPr>
          <a:xfrm>
            <a:off x="9646920" y="5605272"/>
            <a:ext cx="4640580" cy="1005840"/>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 name="TextBox 61"/>
          <p:cNvSpPr txBox="1"/>
          <p:nvPr/>
        </p:nvSpPr>
        <p:spPr>
          <a:xfrm>
            <a:off x="9738360" y="5806440"/>
            <a:ext cx="365760" cy="548640"/>
          </a:xfrm>
          <a:prstGeom prst="rect">
            <a:avLst/>
          </a:prstGeom>
          <a:noFill/>
        </p:spPr>
        <p:txBody>
          <a:bodyPr wrap="square" lIns="54864" rIns="54864" tIns="22860" bIns="22860">
            <a:spAutoFit/>
          </a:bodyPr>
          <a:lstStyle/>
          <a:p>
            <a:pPr>
              <a:lnSpc>
                <a:spcPts val="2100"/>
              </a:lnSpc>
              <a:spcBef>
                <a:spcPts val="0"/>
              </a:spcBef>
              <a:spcAft>
                <a:spcPts val="0"/>
              </a:spcAft>
              <a:defRPr sz="2000" b="1">
                <a:solidFill>
                  <a:srgbClr val="182B3A"/>
                </a:solidFill>
                <a:latin typeface="Arial"/>
              </a:defRPr>
            </a:pPr>
            <a:r>
              <a:t>5.</a:t>
            </a:r>
          </a:p>
        </p:txBody>
      </p:sp>
      <p:sp>
        <p:nvSpPr>
          <p:cNvPr id="63" name="TextBox 62"/>
          <p:cNvSpPr txBox="1"/>
          <p:nvPr/>
        </p:nvSpPr>
        <p:spPr>
          <a:xfrm>
            <a:off x="10131552" y="5806440"/>
            <a:ext cx="4059936" cy="594360"/>
          </a:xfrm>
          <a:prstGeom prst="rect">
            <a:avLst/>
          </a:prstGeom>
          <a:noFill/>
        </p:spPr>
        <p:txBody>
          <a:bodyPr wrap="square" lIns="54864" rIns="54864" tIns="22860" bIns="22860">
            <a:spAutoFit/>
          </a:bodyPr>
          <a:lstStyle/>
          <a:p>
            <a:pPr>
              <a:lnSpc>
                <a:spcPts val="2520"/>
              </a:lnSpc>
              <a:spcBef>
                <a:spcPts val="0"/>
              </a:spcBef>
              <a:spcAft>
                <a:spcPts val="0"/>
              </a:spcAft>
              <a:defRPr sz="2400" b="0">
                <a:solidFill>
                  <a:srgbClr val="182B3A"/>
                </a:solidFill>
                <a:latin typeface="Arial"/>
              </a:defRPr>
            </a:pPr>
            <a:r>
              <a:t>5(x − 7) = 4x − 23</a:t>
            </a:r>
          </a:p>
        </p:txBody>
      </p:sp>
      <p:sp>
        <p:nvSpPr>
          <p:cNvPr id="64" name="Rectangle 63"/>
          <p:cNvSpPr/>
          <p:nvPr/>
        </p:nvSpPr>
        <p:spPr>
          <a:xfrm>
            <a:off x="9646920" y="6611112"/>
            <a:ext cx="4640580" cy="1005840"/>
          </a:xfrm>
          <a:prstGeom prst="rect">
            <a:avLst/>
          </a:prstGeom>
          <a:solidFill>
            <a:srgbClr val="F5F0F7"/>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5" name="TextBox 64"/>
          <p:cNvSpPr txBox="1"/>
          <p:nvPr/>
        </p:nvSpPr>
        <p:spPr>
          <a:xfrm>
            <a:off x="9738360" y="6812280"/>
            <a:ext cx="365760" cy="548640"/>
          </a:xfrm>
          <a:prstGeom prst="rect">
            <a:avLst/>
          </a:prstGeom>
          <a:noFill/>
        </p:spPr>
        <p:txBody>
          <a:bodyPr wrap="square" lIns="54864" rIns="54864" tIns="22860" bIns="22860">
            <a:spAutoFit/>
          </a:bodyPr>
          <a:lstStyle/>
          <a:p>
            <a:pPr>
              <a:lnSpc>
                <a:spcPts val="2100"/>
              </a:lnSpc>
              <a:spcBef>
                <a:spcPts val="0"/>
              </a:spcBef>
              <a:spcAft>
                <a:spcPts val="0"/>
              </a:spcAft>
              <a:defRPr sz="2000" b="1">
                <a:solidFill>
                  <a:srgbClr val="182B3A"/>
                </a:solidFill>
                <a:latin typeface="Arial"/>
              </a:defRPr>
            </a:pPr>
            <a:r>
              <a:t>6.</a:t>
            </a:r>
          </a:p>
        </p:txBody>
      </p:sp>
      <p:sp>
        <p:nvSpPr>
          <p:cNvPr id="66" name="TextBox 65"/>
          <p:cNvSpPr txBox="1"/>
          <p:nvPr/>
        </p:nvSpPr>
        <p:spPr>
          <a:xfrm>
            <a:off x="10131552" y="6812280"/>
            <a:ext cx="4059936" cy="594360"/>
          </a:xfrm>
          <a:prstGeom prst="rect">
            <a:avLst/>
          </a:prstGeom>
          <a:noFill/>
        </p:spPr>
        <p:txBody>
          <a:bodyPr wrap="square" lIns="54864" rIns="54864" tIns="22860" bIns="22860">
            <a:spAutoFit/>
          </a:bodyPr>
          <a:lstStyle/>
          <a:p>
            <a:pPr>
              <a:lnSpc>
                <a:spcPts val="2520"/>
              </a:lnSpc>
              <a:spcBef>
                <a:spcPts val="0"/>
              </a:spcBef>
              <a:spcAft>
                <a:spcPts val="0"/>
              </a:spcAft>
              <a:defRPr sz="2400" b="0">
                <a:solidFill>
                  <a:srgbClr val="182B3A"/>
                </a:solidFill>
                <a:latin typeface="Arial"/>
              </a:defRPr>
            </a:pPr>
            <a:r>
              <a:t>3x + 15 = 108</a:t>
            </a:r>
          </a:p>
        </p:txBody>
      </p:sp>
      <p:sp>
        <p:nvSpPr>
          <p:cNvPr id="67" name="Progression curved arrow: Thread 1 to Thread 2"/>
          <p:cNvSpPr/>
          <p:nvPr/>
        </p:nvSpPr>
        <p:spPr>
          <a:xfrm>
            <a:off x="4649723" y="7552294"/>
            <a:ext cx="621792" cy="314053"/>
          </a:xfrm>
          <a:custGeom>
            <a:avLst/>
            <a:gdLst/>
            <a:ahLst/>
            <a:cxnLst/>
            <a:rect l="0" t="0" r="100000" b="100000"/>
            <a:pathLst>
              <a:path w="100000" h="100000" fill="none">
                <a:moveTo>
                  <a:pt x="6970" y="48439"/>
                </a:moveTo>
                <a:cubicBezTo>
                  <a:pt x="40678" y="114499"/>
                  <a:pt x="73026" y="88145"/>
                  <a:pt x="93030" y="13799"/>
                </a:cubicBezTo>
              </a:path>
              <a:path w="100000" h="100000" fill="none">
                <a:moveTo>
                  <a:pt x="69018" y="40431"/>
                </a:moveTo>
                <a:lnTo>
                  <a:pt x="93030" y="13799"/>
                </a:lnTo>
                <a:lnTo>
                  <a:pt x="92217" y="66207"/>
                </a:lnTo>
              </a:path>
            </a:pathLst>
          </a:custGeom>
          <a:noFill/>
          <a:ln w="64449" cap="rnd">
            <a:solidFill>
              <a:schemeClr val="accent6">
                <a:lumMod val="60000"/>
                <a:lumOff val="40000"/>
              </a:schemeClr>
            </a:solidFill>
            <a:round/>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68" name="Progression curved arrow: Thread 2 to Thread 3"/>
          <p:cNvSpPr/>
          <p:nvPr/>
        </p:nvSpPr>
        <p:spPr>
          <a:xfrm>
            <a:off x="9265327" y="7543800"/>
            <a:ext cx="621792" cy="314053"/>
          </a:xfrm>
          <a:custGeom>
            <a:avLst/>
            <a:gdLst/>
            <a:ahLst/>
            <a:cxnLst/>
            <a:rect l="0" t="0" r="100000" b="100000"/>
            <a:pathLst>
              <a:path w="100000" h="100000" fill="none">
                <a:moveTo>
                  <a:pt x="6970" y="48439"/>
                </a:moveTo>
                <a:cubicBezTo>
                  <a:pt x="40678" y="114499"/>
                  <a:pt x="73026" y="88145"/>
                  <a:pt x="93030" y="13799"/>
                </a:cubicBezTo>
              </a:path>
              <a:path w="100000" h="100000" fill="none">
                <a:moveTo>
                  <a:pt x="69018" y="40431"/>
                </a:moveTo>
                <a:lnTo>
                  <a:pt x="93030" y="13799"/>
                </a:lnTo>
                <a:lnTo>
                  <a:pt x="92217" y="66207"/>
                </a:lnTo>
              </a:path>
            </a:pathLst>
          </a:custGeom>
          <a:noFill/>
          <a:ln w="64449" cap="rnd">
            <a:solidFill>
              <a:schemeClr val="accent6">
                <a:lumMod val="60000"/>
                <a:lumOff val="40000"/>
              </a:schemeClr>
            </a:solidFill>
            <a:round/>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bg>
      <p:bgPr>
        <a:solidFill>
          <a:srgbClr val="F7F8FA"/>
        </a:solidFill>
        <a:effectLst/>
      </p:bgPr>
    </p:bg>
    <p:spTree>
      <p:nvGrpSpPr>
        <p:cNvPr id="1" name=""/>
        <p:cNvGrpSpPr/>
        <p:nvPr/>
      </p:nvGrpSpPr>
      <p:grpSpPr/>
      <p:sp>
        <p:nvSpPr>
          <p:cNvPr id="2" name="Rectangle 1"/>
          <p:cNvSpPr/>
          <p:nvPr/>
        </p:nvSpPr>
        <p:spPr>
          <a:xfrm>
            <a:off x="0" y="0"/>
            <a:ext cx="14630400" cy="73152"/>
          </a:xfrm>
          <a:prstGeom prst="rect">
            <a:avLst/>
          </a:prstGeom>
          <a:solidFill>
            <a:srgbClr val="176B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20040" y="164592"/>
            <a:ext cx="13990320" cy="457200"/>
          </a:xfrm>
          <a:prstGeom prst="rect">
            <a:avLst/>
          </a:prstGeom>
          <a:noFill/>
        </p:spPr>
        <p:txBody>
          <a:bodyPr wrap="square" lIns="54864" rIns="54864" tIns="22860" bIns="22860">
            <a:spAutoFit/>
          </a:bodyPr>
          <a:lstStyle/>
          <a:p>
            <a:pPr>
              <a:lnSpc>
                <a:spcPts val="2940"/>
              </a:lnSpc>
              <a:spcBef>
                <a:spcPts val="0"/>
              </a:spcBef>
              <a:spcAft>
                <a:spcPts val="0"/>
              </a:spcAft>
              <a:defRPr sz="2800" b="1">
                <a:solidFill>
                  <a:srgbClr val="182B3A"/>
                </a:solidFill>
                <a:latin typeface="Arial"/>
              </a:defRPr>
            </a:pPr>
            <a:r>
              <a:t>Solving equations</a:t>
            </a:r>
          </a:p>
        </p:txBody>
      </p:sp>
      <p:sp>
        <p:nvSpPr>
          <p:cNvPr id="4" name="TextBox 3"/>
          <p:cNvSpPr txBox="1"/>
          <p:nvPr/>
        </p:nvSpPr>
        <p:spPr>
          <a:xfrm>
            <a:off x="320040" y="704088"/>
            <a:ext cx="13990320" cy="347472"/>
          </a:xfrm>
          <a:prstGeom prst="rect">
            <a:avLst/>
          </a:prstGeom>
          <a:noFill/>
        </p:spPr>
        <p:txBody>
          <a:bodyPr wrap="square" lIns="54864" rIns="54864" tIns="22860" bIns="22860">
            <a:spAutoFit/>
          </a:bodyPr>
          <a:lstStyle/>
          <a:p>
            <a:pPr>
              <a:lnSpc>
                <a:spcPts val="1575"/>
              </a:lnSpc>
              <a:spcBef>
                <a:spcPts val="0"/>
              </a:spcBef>
              <a:spcAft>
                <a:spcPts val="0"/>
              </a:spcAft>
              <a:defRPr sz="1500" b="0">
                <a:solidFill>
                  <a:srgbClr val="526472"/>
                </a:solidFill>
                <a:latin typeface="Arial"/>
              </a:defRPr>
            </a:pPr>
            <a:r>
              <a:t>Independent practice 3 • Solve each equation and check by substitution.</a:t>
            </a:r>
          </a:p>
        </p:txBody>
      </p:sp>
      <p:sp>
        <p:nvSpPr>
          <p:cNvPr id="5" name="TextBox 4"/>
          <p:cNvSpPr txBox="1"/>
          <p:nvPr/>
        </p:nvSpPr>
        <p:spPr>
          <a:xfrm>
            <a:off x="320040" y="7973568"/>
            <a:ext cx="10789920" cy="210312"/>
          </a:xfrm>
          <a:prstGeom prst="rect">
            <a:avLst/>
          </a:prstGeom>
          <a:noFill/>
        </p:spPr>
        <p:txBody>
          <a:bodyPr wrap="square" lIns="54864" rIns="54864" tIns="22860" bIns="22860">
            <a:spAutoFit/>
          </a:bodyPr>
          <a:lstStyle/>
          <a:p>
            <a:pPr>
              <a:lnSpc>
                <a:spcPts val="1155"/>
              </a:lnSpc>
              <a:spcBef>
                <a:spcPts val="0"/>
              </a:spcBef>
              <a:spcAft>
                <a:spcPts val="0"/>
              </a:spcAft>
              <a:defRPr sz="1100" b="0">
                <a:solidFill>
                  <a:srgbClr val="526472"/>
                </a:solidFill>
                <a:latin typeface="Arial"/>
              </a:defRPr>
            </a:pPr>
            <a:r>
              <a:t>GCSE Maths revision • No calculator • Show your working.</a:t>
            </a:r>
          </a:p>
        </p:txBody>
      </p:sp>
      <p:sp>
        <p:nvSpPr>
          <p:cNvPr id="6" name="TextBox 5"/>
          <p:cNvSpPr txBox="1"/>
          <p:nvPr/>
        </p:nvSpPr>
        <p:spPr>
          <a:xfrm>
            <a:off x="11155680" y="7973568"/>
            <a:ext cx="3108960" cy="210312"/>
          </a:xfrm>
          <a:prstGeom prst="rect">
            <a:avLst/>
          </a:prstGeom>
          <a:noFill/>
        </p:spPr>
        <p:txBody>
          <a:bodyPr wrap="square" lIns="54864" rIns="54864" tIns="22860" bIns="22860">
            <a:spAutoFit/>
          </a:bodyPr>
          <a:lstStyle/>
          <a:p>
            <a:pPr>
              <a:lnSpc>
                <a:spcPts val="1155"/>
              </a:lnSpc>
              <a:spcBef>
                <a:spcPts val="0"/>
              </a:spcBef>
              <a:spcAft>
                <a:spcPts val="0"/>
              </a:spcAft>
              <a:defRPr sz="1100" b="0">
                <a:solidFill>
                  <a:srgbClr val="526472"/>
                </a:solidFill>
                <a:latin typeface="Arial"/>
              </a:defRPr>
            </a:pPr>
            <a:r>
              <a:t>M10-S06</a:t>
            </a:r>
          </a:p>
        </p:txBody>
      </p:sp>
      <p:sp>
        <p:nvSpPr>
          <p:cNvPr id="7" name="Rectangle 6"/>
          <p:cNvSpPr/>
          <p:nvPr/>
        </p:nvSpPr>
        <p:spPr>
          <a:xfrm>
            <a:off x="320040" y="1115568"/>
            <a:ext cx="4640580" cy="420624"/>
          </a:xfrm>
          <a:prstGeom prst="rect">
            <a:avLst/>
          </a:prstGeom>
          <a:solidFill>
            <a:srgbClr val="176B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347472" y="1147572"/>
            <a:ext cx="4581144" cy="329184"/>
          </a:xfrm>
          <a:prstGeom prst="rect">
            <a:avLst/>
          </a:prstGeom>
          <a:noFill/>
        </p:spPr>
        <p:txBody>
          <a:bodyPr wrap="square" lIns="54864" rIns="54864" tIns="22860" bIns="22860">
            <a:spAutoFit/>
          </a:bodyPr>
          <a:lstStyle/>
          <a:p>
            <a:pPr>
              <a:lnSpc>
                <a:spcPts val="1995"/>
              </a:lnSpc>
              <a:spcBef>
                <a:spcPts val="0"/>
              </a:spcBef>
              <a:spcAft>
                <a:spcPts val="0"/>
              </a:spcAft>
              <a:defRPr sz="1900" b="1">
                <a:solidFill>
                  <a:srgbClr val="FFFFFF"/>
                </a:solidFill>
                <a:latin typeface="Arial"/>
              </a:defRPr>
            </a:pPr>
            <a:r>
              <a:t>Start</a:t>
            </a:r>
          </a:p>
        </p:txBody>
      </p:sp>
      <p:sp>
        <p:nvSpPr>
          <p:cNvPr id="9" name="Rectangle 8"/>
          <p:cNvSpPr/>
          <p:nvPr/>
        </p:nvSpPr>
        <p:spPr>
          <a:xfrm>
            <a:off x="4983480" y="1115568"/>
            <a:ext cx="4640580" cy="420624"/>
          </a:xfrm>
          <a:prstGeom prst="rect">
            <a:avLst/>
          </a:prstGeom>
          <a:solidFill>
            <a:srgbClr val="3559A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010912" y="1147572"/>
            <a:ext cx="4581144" cy="329184"/>
          </a:xfrm>
          <a:prstGeom prst="rect">
            <a:avLst/>
          </a:prstGeom>
          <a:noFill/>
        </p:spPr>
        <p:txBody>
          <a:bodyPr wrap="square" lIns="54864" rIns="54864" tIns="22860" bIns="22860">
            <a:spAutoFit/>
          </a:bodyPr>
          <a:lstStyle/>
          <a:p>
            <a:pPr>
              <a:lnSpc>
                <a:spcPts val="1995"/>
              </a:lnSpc>
              <a:spcBef>
                <a:spcPts val="0"/>
              </a:spcBef>
              <a:spcAft>
                <a:spcPts val="0"/>
              </a:spcAft>
              <a:defRPr sz="1900" b="1">
                <a:solidFill>
                  <a:srgbClr val="FFFFFF"/>
                </a:solidFill>
                <a:latin typeface="Arial"/>
              </a:defRPr>
            </a:pPr>
            <a:r>
              <a:t>Build</a:t>
            </a:r>
          </a:p>
        </p:txBody>
      </p:sp>
      <p:sp>
        <p:nvSpPr>
          <p:cNvPr id="11" name="Rectangle 10"/>
          <p:cNvSpPr/>
          <p:nvPr/>
        </p:nvSpPr>
        <p:spPr>
          <a:xfrm>
            <a:off x="9646920" y="1115568"/>
            <a:ext cx="4640580" cy="420624"/>
          </a:xfrm>
          <a:prstGeom prst="rect">
            <a:avLst/>
          </a:prstGeom>
          <a:solidFill>
            <a:srgbClr val="754B8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9674352" y="1147572"/>
            <a:ext cx="4581144" cy="329184"/>
          </a:xfrm>
          <a:prstGeom prst="rect">
            <a:avLst/>
          </a:prstGeom>
          <a:noFill/>
        </p:spPr>
        <p:txBody>
          <a:bodyPr wrap="square" lIns="54864" rIns="54864" tIns="22860" bIns="22860">
            <a:spAutoFit/>
          </a:bodyPr>
          <a:lstStyle/>
          <a:p>
            <a:pPr>
              <a:lnSpc>
                <a:spcPts val="1995"/>
              </a:lnSpc>
              <a:spcBef>
                <a:spcPts val="0"/>
              </a:spcBef>
              <a:spcAft>
                <a:spcPts val="0"/>
              </a:spcAft>
              <a:defRPr sz="1900" b="1">
                <a:solidFill>
                  <a:srgbClr val="FFFFFF"/>
                </a:solidFill>
                <a:latin typeface="Arial"/>
              </a:defRPr>
            </a:pPr>
            <a:r>
              <a:t>Confidence</a:t>
            </a:r>
          </a:p>
        </p:txBody>
      </p:sp>
      <p:sp>
        <p:nvSpPr>
          <p:cNvPr id="13" name="Rectangle 12"/>
          <p:cNvSpPr/>
          <p:nvPr/>
        </p:nvSpPr>
        <p:spPr>
          <a:xfrm>
            <a:off x="320040" y="1581912"/>
            <a:ext cx="4640580" cy="1005840"/>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11479" y="1783080"/>
            <a:ext cx="365760" cy="548640"/>
          </a:xfrm>
          <a:prstGeom prst="rect">
            <a:avLst/>
          </a:prstGeom>
          <a:noFill/>
        </p:spPr>
        <p:txBody>
          <a:bodyPr wrap="square" lIns="54864" rIns="54864" tIns="22860" bIns="22860">
            <a:spAutoFit/>
          </a:bodyPr>
          <a:lstStyle/>
          <a:p>
            <a:pPr>
              <a:lnSpc>
                <a:spcPts val="2100"/>
              </a:lnSpc>
              <a:spcBef>
                <a:spcPts val="0"/>
              </a:spcBef>
              <a:spcAft>
                <a:spcPts val="0"/>
              </a:spcAft>
              <a:defRPr sz="2000" b="1">
                <a:solidFill>
                  <a:srgbClr val="182B3A"/>
                </a:solidFill>
                <a:latin typeface="Arial"/>
              </a:defRPr>
            </a:pPr>
            <a:r>
              <a:t>1.</a:t>
            </a:r>
          </a:p>
        </p:txBody>
      </p:sp>
      <p:sp>
        <p:nvSpPr>
          <p:cNvPr id="15" name="TextBox 14"/>
          <p:cNvSpPr txBox="1"/>
          <p:nvPr/>
        </p:nvSpPr>
        <p:spPr>
          <a:xfrm>
            <a:off x="804672" y="1783080"/>
            <a:ext cx="4059936" cy="594360"/>
          </a:xfrm>
          <a:prstGeom prst="rect">
            <a:avLst/>
          </a:prstGeom>
          <a:noFill/>
        </p:spPr>
        <p:txBody>
          <a:bodyPr wrap="square" lIns="54864" rIns="54864" tIns="22860" bIns="22860">
            <a:spAutoFit/>
          </a:bodyPr>
          <a:lstStyle/>
          <a:p>
            <a:pPr>
              <a:lnSpc>
                <a:spcPts val="2520"/>
              </a:lnSpc>
              <a:spcBef>
                <a:spcPts val="0"/>
              </a:spcBef>
              <a:spcAft>
                <a:spcPts val="0"/>
              </a:spcAft>
              <a:defRPr sz="2400" b="0">
                <a:solidFill>
                  <a:srgbClr val="182B3A"/>
                </a:solidFill>
                <a:latin typeface="Arial"/>
              </a:defRPr>
            </a:pPr>
            <a:r>
              <a:t>x − 8 = -10</a:t>
            </a:r>
          </a:p>
        </p:txBody>
      </p:sp>
      <p:sp>
        <p:nvSpPr>
          <p:cNvPr id="16" name="Rectangle 15"/>
          <p:cNvSpPr/>
          <p:nvPr/>
        </p:nvSpPr>
        <p:spPr>
          <a:xfrm>
            <a:off x="320040" y="2587752"/>
            <a:ext cx="4640580" cy="1005840"/>
          </a:xfrm>
          <a:prstGeom prst="rect">
            <a:avLst/>
          </a:prstGeom>
          <a:solidFill>
            <a:srgbClr val="EDF6F5"/>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411479" y="2788920"/>
            <a:ext cx="365760" cy="548640"/>
          </a:xfrm>
          <a:prstGeom prst="rect">
            <a:avLst/>
          </a:prstGeom>
          <a:noFill/>
        </p:spPr>
        <p:txBody>
          <a:bodyPr wrap="square" lIns="54864" rIns="54864" tIns="22860" bIns="22860">
            <a:spAutoFit/>
          </a:bodyPr>
          <a:lstStyle/>
          <a:p>
            <a:pPr>
              <a:lnSpc>
                <a:spcPts val="2100"/>
              </a:lnSpc>
              <a:spcBef>
                <a:spcPts val="0"/>
              </a:spcBef>
              <a:spcAft>
                <a:spcPts val="0"/>
              </a:spcAft>
              <a:defRPr sz="2000" b="1">
                <a:solidFill>
                  <a:srgbClr val="182B3A"/>
                </a:solidFill>
                <a:latin typeface="Arial"/>
              </a:defRPr>
            </a:pPr>
            <a:r>
              <a:t>2.</a:t>
            </a:r>
          </a:p>
        </p:txBody>
      </p:sp>
      <p:sp>
        <p:nvSpPr>
          <p:cNvPr id="18" name="TextBox 17"/>
          <p:cNvSpPr txBox="1"/>
          <p:nvPr/>
        </p:nvSpPr>
        <p:spPr>
          <a:xfrm>
            <a:off x="804672" y="2788920"/>
            <a:ext cx="4059936" cy="594360"/>
          </a:xfrm>
          <a:prstGeom prst="rect">
            <a:avLst/>
          </a:prstGeom>
          <a:noFill/>
        </p:spPr>
        <p:txBody>
          <a:bodyPr wrap="square" lIns="54864" rIns="54864" tIns="22860" bIns="22860">
            <a:spAutoFit/>
          </a:bodyPr>
          <a:lstStyle/>
          <a:p>
            <a:pPr>
              <a:lnSpc>
                <a:spcPts val="2520"/>
              </a:lnSpc>
              <a:spcBef>
                <a:spcPts val="0"/>
              </a:spcBef>
              <a:spcAft>
                <a:spcPts val="0"/>
              </a:spcAft>
              <a:defRPr sz="2400" b="0">
                <a:solidFill>
                  <a:srgbClr val="182B3A"/>
                </a:solidFill>
                <a:latin typeface="Arial"/>
              </a:defRPr>
            </a:pPr>
            <a:r>
              <a:t>x ÷ 3 = -1</a:t>
            </a:r>
          </a:p>
        </p:txBody>
      </p:sp>
      <p:sp>
        <p:nvSpPr>
          <p:cNvPr id="19" name="Rectangle 18"/>
          <p:cNvSpPr/>
          <p:nvPr/>
        </p:nvSpPr>
        <p:spPr>
          <a:xfrm>
            <a:off x="320040" y="3593592"/>
            <a:ext cx="4640580" cy="1005840"/>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411479" y="3794760"/>
            <a:ext cx="365760" cy="548640"/>
          </a:xfrm>
          <a:prstGeom prst="rect">
            <a:avLst/>
          </a:prstGeom>
          <a:noFill/>
        </p:spPr>
        <p:txBody>
          <a:bodyPr wrap="square" lIns="54864" rIns="54864" tIns="22860" bIns="22860">
            <a:spAutoFit/>
          </a:bodyPr>
          <a:lstStyle/>
          <a:p>
            <a:pPr>
              <a:lnSpc>
                <a:spcPts val="2100"/>
              </a:lnSpc>
              <a:spcBef>
                <a:spcPts val="0"/>
              </a:spcBef>
              <a:spcAft>
                <a:spcPts val="0"/>
              </a:spcAft>
              <a:defRPr sz="2000" b="1">
                <a:solidFill>
                  <a:srgbClr val="182B3A"/>
                </a:solidFill>
                <a:latin typeface="Arial"/>
              </a:defRPr>
            </a:pPr>
            <a:r>
              <a:t>3.</a:t>
            </a:r>
          </a:p>
        </p:txBody>
      </p:sp>
      <p:sp>
        <p:nvSpPr>
          <p:cNvPr id="21" name="TextBox 20"/>
          <p:cNvSpPr txBox="1"/>
          <p:nvPr/>
        </p:nvSpPr>
        <p:spPr>
          <a:xfrm>
            <a:off x="804672" y="3794760"/>
            <a:ext cx="4059936" cy="594360"/>
          </a:xfrm>
          <a:prstGeom prst="rect">
            <a:avLst/>
          </a:prstGeom>
          <a:noFill/>
        </p:spPr>
        <p:txBody>
          <a:bodyPr wrap="square" lIns="54864" rIns="54864" tIns="22860" bIns="22860">
            <a:spAutoFit/>
          </a:bodyPr>
          <a:lstStyle/>
          <a:p>
            <a:pPr>
              <a:lnSpc>
                <a:spcPts val="2520"/>
              </a:lnSpc>
              <a:spcBef>
                <a:spcPts val="0"/>
              </a:spcBef>
              <a:spcAft>
                <a:spcPts val="0"/>
              </a:spcAft>
              <a:defRPr sz="2400" b="0">
                <a:solidFill>
                  <a:srgbClr val="182B3A"/>
                </a:solidFill>
                <a:latin typeface="Arial"/>
              </a:defRPr>
            </a:pPr>
            <a:r>
              <a:t>x ÷ 2 = 0</a:t>
            </a:r>
          </a:p>
        </p:txBody>
      </p:sp>
      <p:sp>
        <p:nvSpPr>
          <p:cNvPr id="22" name="Rectangle 21"/>
          <p:cNvSpPr/>
          <p:nvPr/>
        </p:nvSpPr>
        <p:spPr>
          <a:xfrm>
            <a:off x="320040" y="4599432"/>
            <a:ext cx="4640580" cy="1005840"/>
          </a:xfrm>
          <a:prstGeom prst="rect">
            <a:avLst/>
          </a:prstGeom>
          <a:solidFill>
            <a:srgbClr val="EDF6F5"/>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411479" y="4800600"/>
            <a:ext cx="365760" cy="548640"/>
          </a:xfrm>
          <a:prstGeom prst="rect">
            <a:avLst/>
          </a:prstGeom>
          <a:noFill/>
        </p:spPr>
        <p:txBody>
          <a:bodyPr wrap="square" lIns="54864" rIns="54864" tIns="22860" bIns="22860">
            <a:spAutoFit/>
          </a:bodyPr>
          <a:lstStyle/>
          <a:p>
            <a:pPr>
              <a:lnSpc>
                <a:spcPts val="2100"/>
              </a:lnSpc>
              <a:spcBef>
                <a:spcPts val="0"/>
              </a:spcBef>
              <a:spcAft>
                <a:spcPts val="0"/>
              </a:spcAft>
              <a:defRPr sz="2000" b="1">
                <a:solidFill>
                  <a:srgbClr val="182B3A"/>
                </a:solidFill>
                <a:latin typeface="Arial"/>
              </a:defRPr>
            </a:pPr>
            <a:r>
              <a:t>4.</a:t>
            </a:r>
          </a:p>
        </p:txBody>
      </p:sp>
      <p:sp>
        <p:nvSpPr>
          <p:cNvPr id="24" name="TextBox 23"/>
          <p:cNvSpPr txBox="1"/>
          <p:nvPr/>
        </p:nvSpPr>
        <p:spPr>
          <a:xfrm>
            <a:off x="804672" y="4800600"/>
            <a:ext cx="4059936" cy="594360"/>
          </a:xfrm>
          <a:prstGeom prst="rect">
            <a:avLst/>
          </a:prstGeom>
          <a:noFill/>
        </p:spPr>
        <p:txBody>
          <a:bodyPr wrap="square" lIns="54864" rIns="54864" tIns="22860" bIns="22860">
            <a:spAutoFit/>
          </a:bodyPr>
          <a:lstStyle/>
          <a:p>
            <a:pPr>
              <a:lnSpc>
                <a:spcPts val="2520"/>
              </a:lnSpc>
              <a:spcBef>
                <a:spcPts val="0"/>
              </a:spcBef>
              <a:spcAft>
                <a:spcPts val="0"/>
              </a:spcAft>
              <a:defRPr sz="2400" b="0">
                <a:solidFill>
                  <a:srgbClr val="182B3A"/>
                </a:solidFill>
                <a:latin typeface="Arial"/>
              </a:defRPr>
            </a:pPr>
            <a:r>
              <a:t>x ÷ 2 = 2</a:t>
            </a:r>
          </a:p>
        </p:txBody>
      </p:sp>
      <p:sp>
        <p:nvSpPr>
          <p:cNvPr id="25" name="Rectangle 24"/>
          <p:cNvSpPr/>
          <p:nvPr/>
        </p:nvSpPr>
        <p:spPr>
          <a:xfrm>
            <a:off x="320040" y="5605272"/>
            <a:ext cx="4640580" cy="1005840"/>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411479" y="5806440"/>
            <a:ext cx="365760" cy="548640"/>
          </a:xfrm>
          <a:prstGeom prst="rect">
            <a:avLst/>
          </a:prstGeom>
          <a:noFill/>
        </p:spPr>
        <p:txBody>
          <a:bodyPr wrap="square" lIns="54864" rIns="54864" tIns="22860" bIns="22860">
            <a:spAutoFit/>
          </a:bodyPr>
          <a:lstStyle/>
          <a:p>
            <a:pPr>
              <a:lnSpc>
                <a:spcPts val="2100"/>
              </a:lnSpc>
              <a:spcBef>
                <a:spcPts val="0"/>
              </a:spcBef>
              <a:spcAft>
                <a:spcPts val="0"/>
              </a:spcAft>
              <a:defRPr sz="2000" b="1">
                <a:solidFill>
                  <a:srgbClr val="182B3A"/>
                </a:solidFill>
                <a:latin typeface="Arial"/>
              </a:defRPr>
            </a:pPr>
            <a:r>
              <a:t>5.</a:t>
            </a:r>
          </a:p>
        </p:txBody>
      </p:sp>
      <p:sp>
        <p:nvSpPr>
          <p:cNvPr id="27" name="TextBox 26"/>
          <p:cNvSpPr txBox="1"/>
          <p:nvPr/>
        </p:nvSpPr>
        <p:spPr>
          <a:xfrm>
            <a:off x="804672" y="5806440"/>
            <a:ext cx="4059936" cy="594360"/>
          </a:xfrm>
          <a:prstGeom prst="rect">
            <a:avLst/>
          </a:prstGeom>
          <a:noFill/>
        </p:spPr>
        <p:txBody>
          <a:bodyPr wrap="square" lIns="54864" rIns="54864" tIns="22860" bIns="22860">
            <a:spAutoFit/>
          </a:bodyPr>
          <a:lstStyle/>
          <a:p>
            <a:pPr>
              <a:lnSpc>
                <a:spcPts val="2520"/>
              </a:lnSpc>
              <a:spcBef>
                <a:spcPts val="0"/>
              </a:spcBef>
              <a:spcAft>
                <a:spcPts val="0"/>
              </a:spcAft>
              <a:defRPr sz="2400" b="0">
                <a:solidFill>
                  <a:srgbClr val="182B3A"/>
                </a:solidFill>
                <a:latin typeface="Arial"/>
              </a:defRPr>
            </a:pPr>
            <a:r>
              <a:t>28 = x + 2</a:t>
            </a:r>
          </a:p>
        </p:txBody>
      </p:sp>
      <p:sp>
        <p:nvSpPr>
          <p:cNvPr id="28" name="Rectangle 27"/>
          <p:cNvSpPr/>
          <p:nvPr/>
        </p:nvSpPr>
        <p:spPr>
          <a:xfrm>
            <a:off x="320040" y="6611112"/>
            <a:ext cx="4640580" cy="1005840"/>
          </a:xfrm>
          <a:prstGeom prst="rect">
            <a:avLst/>
          </a:prstGeom>
          <a:solidFill>
            <a:srgbClr val="EDF6F5"/>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411479" y="6812280"/>
            <a:ext cx="365760" cy="548640"/>
          </a:xfrm>
          <a:prstGeom prst="rect">
            <a:avLst/>
          </a:prstGeom>
          <a:noFill/>
        </p:spPr>
        <p:txBody>
          <a:bodyPr wrap="square" lIns="54864" rIns="54864" tIns="22860" bIns="22860">
            <a:spAutoFit/>
          </a:bodyPr>
          <a:lstStyle/>
          <a:p>
            <a:pPr>
              <a:lnSpc>
                <a:spcPts val="2100"/>
              </a:lnSpc>
              <a:spcBef>
                <a:spcPts val="0"/>
              </a:spcBef>
              <a:spcAft>
                <a:spcPts val="0"/>
              </a:spcAft>
              <a:defRPr sz="2000" b="1">
                <a:solidFill>
                  <a:srgbClr val="182B3A"/>
                </a:solidFill>
                <a:latin typeface="Arial"/>
              </a:defRPr>
            </a:pPr>
            <a:r>
              <a:t>6.</a:t>
            </a:r>
          </a:p>
        </p:txBody>
      </p:sp>
      <p:sp>
        <p:nvSpPr>
          <p:cNvPr id="30" name="TextBox 29"/>
          <p:cNvSpPr txBox="1"/>
          <p:nvPr/>
        </p:nvSpPr>
        <p:spPr>
          <a:xfrm>
            <a:off x="804672" y="6812280"/>
            <a:ext cx="4059936" cy="594360"/>
          </a:xfrm>
          <a:prstGeom prst="rect">
            <a:avLst/>
          </a:prstGeom>
          <a:noFill/>
        </p:spPr>
        <p:txBody>
          <a:bodyPr wrap="square" lIns="54864" rIns="54864" tIns="22860" bIns="22860">
            <a:spAutoFit/>
          </a:bodyPr>
          <a:lstStyle/>
          <a:p>
            <a:pPr>
              <a:lnSpc>
                <a:spcPts val="2520"/>
              </a:lnSpc>
              <a:spcBef>
                <a:spcPts val="0"/>
              </a:spcBef>
              <a:spcAft>
                <a:spcPts val="0"/>
              </a:spcAft>
              <a:defRPr sz="2400" b="0">
                <a:solidFill>
                  <a:srgbClr val="182B3A"/>
                </a:solidFill>
                <a:latin typeface="Arial"/>
              </a:defRPr>
            </a:pPr>
            <a:r>
              <a:t>x + 8 = 16</a:t>
            </a:r>
          </a:p>
        </p:txBody>
      </p:sp>
      <p:sp>
        <p:nvSpPr>
          <p:cNvPr id="31" name="Rectangle 30"/>
          <p:cNvSpPr/>
          <p:nvPr/>
        </p:nvSpPr>
        <p:spPr>
          <a:xfrm>
            <a:off x="4983480" y="1581912"/>
            <a:ext cx="4640580" cy="1005840"/>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5074920" y="1783080"/>
            <a:ext cx="365760" cy="548640"/>
          </a:xfrm>
          <a:prstGeom prst="rect">
            <a:avLst/>
          </a:prstGeom>
          <a:noFill/>
        </p:spPr>
        <p:txBody>
          <a:bodyPr wrap="square" lIns="54864" rIns="54864" tIns="22860" bIns="22860">
            <a:spAutoFit/>
          </a:bodyPr>
          <a:lstStyle/>
          <a:p>
            <a:pPr>
              <a:lnSpc>
                <a:spcPts val="2100"/>
              </a:lnSpc>
              <a:spcBef>
                <a:spcPts val="0"/>
              </a:spcBef>
              <a:spcAft>
                <a:spcPts val="0"/>
              </a:spcAft>
              <a:defRPr sz="2000" b="1">
                <a:solidFill>
                  <a:srgbClr val="182B3A"/>
                </a:solidFill>
                <a:latin typeface="Arial"/>
              </a:defRPr>
            </a:pPr>
            <a:r>
              <a:t>1.</a:t>
            </a:r>
          </a:p>
        </p:txBody>
      </p:sp>
      <p:sp>
        <p:nvSpPr>
          <p:cNvPr id="33" name="TextBox 32"/>
          <p:cNvSpPr txBox="1"/>
          <p:nvPr/>
        </p:nvSpPr>
        <p:spPr>
          <a:xfrm>
            <a:off x="5468112" y="1783080"/>
            <a:ext cx="4059936" cy="594360"/>
          </a:xfrm>
          <a:prstGeom prst="rect">
            <a:avLst/>
          </a:prstGeom>
          <a:noFill/>
        </p:spPr>
        <p:txBody>
          <a:bodyPr wrap="square" lIns="54864" rIns="54864" tIns="22860" bIns="22860">
            <a:spAutoFit/>
          </a:bodyPr>
          <a:lstStyle/>
          <a:p>
            <a:pPr>
              <a:lnSpc>
                <a:spcPts val="2520"/>
              </a:lnSpc>
              <a:spcBef>
                <a:spcPts val="0"/>
              </a:spcBef>
              <a:spcAft>
                <a:spcPts val="0"/>
              </a:spcAft>
              <a:defRPr sz="2400" b="0">
                <a:solidFill>
                  <a:srgbClr val="182B3A"/>
                </a:solidFill>
                <a:latin typeface="Arial"/>
              </a:defRPr>
            </a:pPr>
            <a:r>
              <a:t>x + x − 9 = 33</a:t>
            </a:r>
          </a:p>
        </p:txBody>
      </p:sp>
      <p:sp>
        <p:nvSpPr>
          <p:cNvPr id="34" name="Rectangle 33"/>
          <p:cNvSpPr/>
          <p:nvPr/>
        </p:nvSpPr>
        <p:spPr>
          <a:xfrm>
            <a:off x="4983480" y="2587752"/>
            <a:ext cx="4640580" cy="1005840"/>
          </a:xfrm>
          <a:prstGeom prst="rect">
            <a:avLst/>
          </a:prstGeom>
          <a:solidFill>
            <a:srgbClr val="EFF3FA"/>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5074920" y="2788920"/>
            <a:ext cx="365760" cy="548640"/>
          </a:xfrm>
          <a:prstGeom prst="rect">
            <a:avLst/>
          </a:prstGeom>
          <a:noFill/>
        </p:spPr>
        <p:txBody>
          <a:bodyPr wrap="square" lIns="54864" rIns="54864" tIns="22860" bIns="22860">
            <a:spAutoFit/>
          </a:bodyPr>
          <a:lstStyle/>
          <a:p>
            <a:pPr>
              <a:lnSpc>
                <a:spcPts val="2100"/>
              </a:lnSpc>
              <a:spcBef>
                <a:spcPts val="0"/>
              </a:spcBef>
              <a:spcAft>
                <a:spcPts val="0"/>
              </a:spcAft>
              <a:defRPr sz="2000" b="1">
                <a:solidFill>
                  <a:srgbClr val="182B3A"/>
                </a:solidFill>
                <a:latin typeface="Arial"/>
              </a:defRPr>
            </a:pPr>
            <a:r>
              <a:t>2.</a:t>
            </a:r>
          </a:p>
        </p:txBody>
      </p:sp>
      <p:sp>
        <p:nvSpPr>
          <p:cNvPr id="36" name="TextBox 35"/>
          <p:cNvSpPr txBox="1"/>
          <p:nvPr/>
        </p:nvSpPr>
        <p:spPr>
          <a:xfrm>
            <a:off x="5468112" y="2788920"/>
            <a:ext cx="4059936" cy="594360"/>
          </a:xfrm>
          <a:prstGeom prst="rect">
            <a:avLst/>
          </a:prstGeom>
          <a:noFill/>
        </p:spPr>
        <p:txBody>
          <a:bodyPr wrap="square" lIns="54864" rIns="54864" tIns="22860" bIns="22860">
            <a:spAutoFit/>
          </a:bodyPr>
          <a:lstStyle/>
          <a:p>
            <a:pPr>
              <a:lnSpc>
                <a:spcPts val="2520"/>
              </a:lnSpc>
              <a:spcBef>
                <a:spcPts val="0"/>
              </a:spcBef>
              <a:spcAft>
                <a:spcPts val="0"/>
              </a:spcAft>
              <a:defRPr sz="2400" b="0">
                <a:solidFill>
                  <a:srgbClr val="182B3A"/>
                </a:solidFill>
                <a:latin typeface="Arial"/>
              </a:defRPr>
            </a:pPr>
            <a:r>
              <a:t>2x + x − 9 = 21</a:t>
            </a:r>
          </a:p>
        </p:txBody>
      </p:sp>
      <p:sp>
        <p:nvSpPr>
          <p:cNvPr id="37" name="Rectangle 36"/>
          <p:cNvSpPr/>
          <p:nvPr/>
        </p:nvSpPr>
        <p:spPr>
          <a:xfrm>
            <a:off x="4983480" y="3593592"/>
            <a:ext cx="4640580" cy="1005840"/>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5074920" y="3794760"/>
            <a:ext cx="365760" cy="548640"/>
          </a:xfrm>
          <a:prstGeom prst="rect">
            <a:avLst/>
          </a:prstGeom>
          <a:noFill/>
        </p:spPr>
        <p:txBody>
          <a:bodyPr wrap="square" lIns="54864" rIns="54864" tIns="22860" bIns="22860">
            <a:spAutoFit/>
          </a:bodyPr>
          <a:lstStyle/>
          <a:p>
            <a:pPr>
              <a:lnSpc>
                <a:spcPts val="2100"/>
              </a:lnSpc>
              <a:spcBef>
                <a:spcPts val="0"/>
              </a:spcBef>
              <a:spcAft>
                <a:spcPts val="0"/>
              </a:spcAft>
              <a:defRPr sz="2000" b="1">
                <a:solidFill>
                  <a:srgbClr val="182B3A"/>
                </a:solidFill>
                <a:latin typeface="Arial"/>
              </a:defRPr>
            </a:pPr>
            <a:r>
              <a:t>3.</a:t>
            </a:r>
          </a:p>
        </p:txBody>
      </p:sp>
      <p:sp>
        <p:nvSpPr>
          <p:cNvPr id="39" name="TextBox 38"/>
          <p:cNvSpPr txBox="1"/>
          <p:nvPr/>
        </p:nvSpPr>
        <p:spPr>
          <a:xfrm>
            <a:off x="5468112" y="3794760"/>
            <a:ext cx="4059936" cy="594360"/>
          </a:xfrm>
          <a:prstGeom prst="rect">
            <a:avLst/>
          </a:prstGeom>
          <a:noFill/>
        </p:spPr>
        <p:txBody>
          <a:bodyPr wrap="square" lIns="54864" rIns="54864" tIns="22860" bIns="22860">
            <a:spAutoFit/>
          </a:bodyPr>
          <a:lstStyle/>
          <a:p>
            <a:pPr>
              <a:lnSpc>
                <a:spcPts val="2520"/>
              </a:lnSpc>
              <a:spcBef>
                <a:spcPts val="0"/>
              </a:spcBef>
              <a:spcAft>
                <a:spcPts val="0"/>
              </a:spcAft>
              <a:defRPr sz="2400" b="0">
                <a:solidFill>
                  <a:srgbClr val="182B3A"/>
                </a:solidFill>
                <a:latin typeface="Arial"/>
              </a:defRPr>
            </a:pPr>
            <a:r>
              <a:t>6x + x + 4 = 88</a:t>
            </a:r>
          </a:p>
        </p:txBody>
      </p:sp>
      <p:sp>
        <p:nvSpPr>
          <p:cNvPr id="40" name="Rectangle 39"/>
          <p:cNvSpPr/>
          <p:nvPr/>
        </p:nvSpPr>
        <p:spPr>
          <a:xfrm>
            <a:off x="4983480" y="4599432"/>
            <a:ext cx="4640580" cy="1005840"/>
          </a:xfrm>
          <a:prstGeom prst="rect">
            <a:avLst/>
          </a:prstGeom>
          <a:solidFill>
            <a:srgbClr val="EFF3FA"/>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5074920" y="4800600"/>
            <a:ext cx="365760" cy="548640"/>
          </a:xfrm>
          <a:prstGeom prst="rect">
            <a:avLst/>
          </a:prstGeom>
          <a:noFill/>
        </p:spPr>
        <p:txBody>
          <a:bodyPr wrap="square" lIns="54864" rIns="54864" tIns="22860" bIns="22860">
            <a:spAutoFit/>
          </a:bodyPr>
          <a:lstStyle/>
          <a:p>
            <a:pPr>
              <a:lnSpc>
                <a:spcPts val="2100"/>
              </a:lnSpc>
              <a:spcBef>
                <a:spcPts val="0"/>
              </a:spcBef>
              <a:spcAft>
                <a:spcPts val="0"/>
              </a:spcAft>
              <a:defRPr sz="2000" b="1">
                <a:solidFill>
                  <a:srgbClr val="182B3A"/>
                </a:solidFill>
                <a:latin typeface="Arial"/>
              </a:defRPr>
            </a:pPr>
            <a:r>
              <a:t>4.</a:t>
            </a:r>
          </a:p>
        </p:txBody>
      </p:sp>
      <p:sp>
        <p:nvSpPr>
          <p:cNvPr id="42" name="TextBox 41"/>
          <p:cNvSpPr txBox="1"/>
          <p:nvPr/>
        </p:nvSpPr>
        <p:spPr>
          <a:xfrm>
            <a:off x="5468112" y="4800600"/>
            <a:ext cx="4059936" cy="594360"/>
          </a:xfrm>
          <a:prstGeom prst="rect">
            <a:avLst/>
          </a:prstGeom>
          <a:noFill/>
        </p:spPr>
        <p:txBody>
          <a:bodyPr wrap="square" lIns="54864" rIns="54864" tIns="22860" bIns="22860">
            <a:spAutoFit/>
          </a:bodyPr>
          <a:lstStyle/>
          <a:p>
            <a:pPr>
              <a:lnSpc>
                <a:spcPts val="2520"/>
              </a:lnSpc>
              <a:spcBef>
                <a:spcPts val="0"/>
              </a:spcBef>
              <a:spcAft>
                <a:spcPts val="0"/>
              </a:spcAft>
              <a:defRPr sz="2400" b="0">
                <a:solidFill>
                  <a:srgbClr val="182B3A"/>
                </a:solidFill>
                <a:latin typeface="Arial"/>
              </a:defRPr>
            </a:pPr>
            <a:r>
              <a:t>8 + 6x = -22</a:t>
            </a:r>
          </a:p>
        </p:txBody>
      </p:sp>
      <p:sp>
        <p:nvSpPr>
          <p:cNvPr id="43" name="Rectangle 42"/>
          <p:cNvSpPr/>
          <p:nvPr/>
        </p:nvSpPr>
        <p:spPr>
          <a:xfrm>
            <a:off x="4983480" y="5605272"/>
            <a:ext cx="4640580" cy="1005840"/>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5074920" y="5806440"/>
            <a:ext cx="365760" cy="548640"/>
          </a:xfrm>
          <a:prstGeom prst="rect">
            <a:avLst/>
          </a:prstGeom>
          <a:noFill/>
        </p:spPr>
        <p:txBody>
          <a:bodyPr wrap="square" lIns="54864" rIns="54864" tIns="22860" bIns="22860">
            <a:spAutoFit/>
          </a:bodyPr>
          <a:lstStyle/>
          <a:p>
            <a:pPr>
              <a:lnSpc>
                <a:spcPts val="2100"/>
              </a:lnSpc>
              <a:spcBef>
                <a:spcPts val="0"/>
              </a:spcBef>
              <a:spcAft>
                <a:spcPts val="0"/>
              </a:spcAft>
              <a:defRPr sz="2000" b="1">
                <a:solidFill>
                  <a:srgbClr val="182B3A"/>
                </a:solidFill>
                <a:latin typeface="Arial"/>
              </a:defRPr>
            </a:pPr>
            <a:r>
              <a:t>5.</a:t>
            </a:r>
          </a:p>
        </p:txBody>
      </p:sp>
      <p:sp>
        <p:nvSpPr>
          <p:cNvPr id="45" name="TextBox 44"/>
          <p:cNvSpPr txBox="1"/>
          <p:nvPr/>
        </p:nvSpPr>
        <p:spPr>
          <a:xfrm>
            <a:off x="5468112" y="5806440"/>
            <a:ext cx="4059936" cy="594360"/>
          </a:xfrm>
          <a:prstGeom prst="rect">
            <a:avLst/>
          </a:prstGeom>
          <a:noFill/>
        </p:spPr>
        <p:txBody>
          <a:bodyPr wrap="square" lIns="54864" rIns="54864" tIns="22860" bIns="22860">
            <a:spAutoFit/>
          </a:bodyPr>
          <a:lstStyle/>
          <a:p>
            <a:pPr>
              <a:lnSpc>
                <a:spcPts val="2520"/>
              </a:lnSpc>
              <a:spcBef>
                <a:spcPts val="0"/>
              </a:spcBef>
              <a:spcAft>
                <a:spcPts val="0"/>
              </a:spcAft>
              <a:defRPr sz="2400" b="0">
                <a:solidFill>
                  <a:srgbClr val="182B3A"/>
                </a:solidFill>
                <a:latin typeface="Arial"/>
              </a:defRPr>
            </a:pPr>
            <a:r>
              <a:t>23 = 7x + 2</a:t>
            </a:r>
          </a:p>
        </p:txBody>
      </p:sp>
      <p:sp>
        <p:nvSpPr>
          <p:cNvPr id="46" name="Rectangle 45"/>
          <p:cNvSpPr/>
          <p:nvPr/>
        </p:nvSpPr>
        <p:spPr>
          <a:xfrm>
            <a:off x="4983480" y="6611112"/>
            <a:ext cx="4640580" cy="1005840"/>
          </a:xfrm>
          <a:prstGeom prst="rect">
            <a:avLst/>
          </a:prstGeom>
          <a:solidFill>
            <a:srgbClr val="EFF3FA"/>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TextBox 46"/>
          <p:cNvSpPr txBox="1"/>
          <p:nvPr/>
        </p:nvSpPr>
        <p:spPr>
          <a:xfrm>
            <a:off x="5074920" y="6812280"/>
            <a:ext cx="365760" cy="548640"/>
          </a:xfrm>
          <a:prstGeom prst="rect">
            <a:avLst/>
          </a:prstGeom>
          <a:noFill/>
        </p:spPr>
        <p:txBody>
          <a:bodyPr wrap="square" lIns="54864" rIns="54864" tIns="22860" bIns="22860">
            <a:spAutoFit/>
          </a:bodyPr>
          <a:lstStyle/>
          <a:p>
            <a:pPr>
              <a:lnSpc>
                <a:spcPts val="2100"/>
              </a:lnSpc>
              <a:spcBef>
                <a:spcPts val="0"/>
              </a:spcBef>
              <a:spcAft>
                <a:spcPts val="0"/>
              </a:spcAft>
              <a:defRPr sz="2000" b="1">
                <a:solidFill>
                  <a:srgbClr val="182B3A"/>
                </a:solidFill>
                <a:latin typeface="Arial"/>
              </a:defRPr>
            </a:pPr>
            <a:r>
              <a:t>6.</a:t>
            </a:r>
          </a:p>
        </p:txBody>
      </p:sp>
      <p:sp>
        <p:nvSpPr>
          <p:cNvPr id="48" name="TextBox 47"/>
          <p:cNvSpPr txBox="1"/>
          <p:nvPr/>
        </p:nvSpPr>
        <p:spPr>
          <a:xfrm>
            <a:off x="5468112" y="6812280"/>
            <a:ext cx="4059936" cy="594360"/>
          </a:xfrm>
          <a:prstGeom prst="rect">
            <a:avLst/>
          </a:prstGeom>
          <a:noFill/>
        </p:spPr>
        <p:txBody>
          <a:bodyPr wrap="square" lIns="54864" rIns="54864" tIns="22860" bIns="22860">
            <a:spAutoFit/>
          </a:bodyPr>
          <a:lstStyle/>
          <a:p>
            <a:pPr>
              <a:lnSpc>
                <a:spcPts val="2520"/>
              </a:lnSpc>
              <a:spcBef>
                <a:spcPts val="0"/>
              </a:spcBef>
              <a:spcAft>
                <a:spcPts val="0"/>
              </a:spcAft>
              <a:defRPr sz="2400" b="0">
                <a:solidFill>
                  <a:srgbClr val="182B3A"/>
                </a:solidFill>
                <a:latin typeface="Arial"/>
              </a:defRPr>
            </a:pPr>
            <a:r>
              <a:t>7x + 8 = 85</a:t>
            </a:r>
          </a:p>
        </p:txBody>
      </p:sp>
      <p:sp>
        <p:nvSpPr>
          <p:cNvPr id="49" name="Rectangle 48"/>
          <p:cNvSpPr/>
          <p:nvPr/>
        </p:nvSpPr>
        <p:spPr>
          <a:xfrm>
            <a:off x="9646920" y="1581912"/>
            <a:ext cx="4640580" cy="1005840"/>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TextBox 49"/>
          <p:cNvSpPr txBox="1"/>
          <p:nvPr/>
        </p:nvSpPr>
        <p:spPr>
          <a:xfrm>
            <a:off x="9738360" y="1783080"/>
            <a:ext cx="365760" cy="548640"/>
          </a:xfrm>
          <a:prstGeom prst="rect">
            <a:avLst/>
          </a:prstGeom>
          <a:noFill/>
        </p:spPr>
        <p:txBody>
          <a:bodyPr wrap="square" lIns="54864" rIns="54864" tIns="22860" bIns="22860">
            <a:spAutoFit/>
          </a:bodyPr>
          <a:lstStyle/>
          <a:p>
            <a:pPr>
              <a:lnSpc>
                <a:spcPts val="2100"/>
              </a:lnSpc>
              <a:spcBef>
                <a:spcPts val="0"/>
              </a:spcBef>
              <a:spcAft>
                <a:spcPts val="0"/>
              </a:spcAft>
              <a:defRPr sz="2000" b="1">
                <a:solidFill>
                  <a:srgbClr val="182B3A"/>
                </a:solidFill>
                <a:latin typeface="Arial"/>
              </a:defRPr>
            </a:pPr>
            <a:r>
              <a:t>1.</a:t>
            </a:r>
          </a:p>
        </p:txBody>
      </p:sp>
      <p:sp>
        <p:nvSpPr>
          <p:cNvPr id="51" name="TextBox 50"/>
          <p:cNvSpPr txBox="1"/>
          <p:nvPr/>
        </p:nvSpPr>
        <p:spPr>
          <a:xfrm>
            <a:off x="10131552" y="1783080"/>
            <a:ext cx="4059936" cy="594360"/>
          </a:xfrm>
          <a:prstGeom prst="rect">
            <a:avLst/>
          </a:prstGeom>
          <a:noFill/>
        </p:spPr>
        <p:txBody>
          <a:bodyPr wrap="square" lIns="54864" rIns="54864" tIns="22860" bIns="22860">
            <a:spAutoFit/>
          </a:bodyPr>
          <a:lstStyle/>
          <a:p>
            <a:pPr>
              <a:lnSpc>
                <a:spcPts val="2520"/>
              </a:lnSpc>
              <a:spcBef>
                <a:spcPts val="0"/>
              </a:spcBef>
              <a:spcAft>
                <a:spcPts val="0"/>
              </a:spcAft>
              <a:defRPr sz="2400" b="0">
                <a:solidFill>
                  <a:srgbClr val="182B3A"/>
                </a:solidFill>
                <a:latin typeface="Arial"/>
              </a:defRPr>
            </a:pPr>
            <a:r>
              <a:t>6x + 4 = 3x + 79</a:t>
            </a:r>
          </a:p>
        </p:txBody>
      </p:sp>
      <p:sp>
        <p:nvSpPr>
          <p:cNvPr id="52" name="Rectangle 51"/>
          <p:cNvSpPr/>
          <p:nvPr/>
        </p:nvSpPr>
        <p:spPr>
          <a:xfrm>
            <a:off x="9646920" y="2587752"/>
            <a:ext cx="4640580" cy="1005840"/>
          </a:xfrm>
          <a:prstGeom prst="rect">
            <a:avLst/>
          </a:prstGeom>
          <a:solidFill>
            <a:srgbClr val="F5F0F7"/>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TextBox 52"/>
          <p:cNvSpPr txBox="1"/>
          <p:nvPr/>
        </p:nvSpPr>
        <p:spPr>
          <a:xfrm>
            <a:off x="9738360" y="2788920"/>
            <a:ext cx="365760" cy="548640"/>
          </a:xfrm>
          <a:prstGeom prst="rect">
            <a:avLst/>
          </a:prstGeom>
          <a:noFill/>
        </p:spPr>
        <p:txBody>
          <a:bodyPr wrap="square" lIns="54864" rIns="54864" tIns="22860" bIns="22860">
            <a:spAutoFit/>
          </a:bodyPr>
          <a:lstStyle/>
          <a:p>
            <a:pPr>
              <a:lnSpc>
                <a:spcPts val="2100"/>
              </a:lnSpc>
              <a:spcBef>
                <a:spcPts val="0"/>
              </a:spcBef>
              <a:spcAft>
                <a:spcPts val="0"/>
              </a:spcAft>
              <a:defRPr sz="2000" b="1">
                <a:solidFill>
                  <a:srgbClr val="182B3A"/>
                </a:solidFill>
                <a:latin typeface="Arial"/>
              </a:defRPr>
            </a:pPr>
            <a:r>
              <a:t>2.</a:t>
            </a:r>
          </a:p>
        </p:txBody>
      </p:sp>
      <p:sp>
        <p:nvSpPr>
          <p:cNvPr id="54" name="TextBox 53"/>
          <p:cNvSpPr txBox="1"/>
          <p:nvPr/>
        </p:nvSpPr>
        <p:spPr>
          <a:xfrm>
            <a:off x="10131552" y="2788920"/>
            <a:ext cx="4059936" cy="594360"/>
          </a:xfrm>
          <a:prstGeom prst="rect">
            <a:avLst/>
          </a:prstGeom>
          <a:noFill/>
        </p:spPr>
        <p:txBody>
          <a:bodyPr wrap="square" lIns="54864" rIns="54864" tIns="22860" bIns="22860">
            <a:spAutoFit/>
          </a:bodyPr>
          <a:lstStyle/>
          <a:p>
            <a:pPr>
              <a:lnSpc>
                <a:spcPts val="2520"/>
              </a:lnSpc>
              <a:spcBef>
                <a:spcPts val="0"/>
              </a:spcBef>
              <a:spcAft>
                <a:spcPts val="0"/>
              </a:spcAft>
              <a:defRPr sz="2400" b="0">
                <a:solidFill>
                  <a:srgbClr val="182B3A"/>
                </a:solidFill>
                <a:latin typeface="Arial"/>
              </a:defRPr>
            </a:pPr>
            <a:r>
              <a:t>5(x + 6) = 165</a:t>
            </a:r>
          </a:p>
        </p:txBody>
      </p:sp>
      <p:sp>
        <p:nvSpPr>
          <p:cNvPr id="55" name="Rectangle 54"/>
          <p:cNvSpPr/>
          <p:nvPr/>
        </p:nvSpPr>
        <p:spPr>
          <a:xfrm>
            <a:off x="9646920" y="3593592"/>
            <a:ext cx="4640580" cy="1005840"/>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TextBox 55"/>
          <p:cNvSpPr txBox="1"/>
          <p:nvPr/>
        </p:nvSpPr>
        <p:spPr>
          <a:xfrm>
            <a:off x="9738360" y="3794760"/>
            <a:ext cx="365760" cy="548640"/>
          </a:xfrm>
          <a:prstGeom prst="rect">
            <a:avLst/>
          </a:prstGeom>
          <a:noFill/>
        </p:spPr>
        <p:txBody>
          <a:bodyPr wrap="square" lIns="54864" rIns="54864" tIns="22860" bIns="22860">
            <a:spAutoFit/>
          </a:bodyPr>
          <a:lstStyle/>
          <a:p>
            <a:pPr>
              <a:lnSpc>
                <a:spcPts val="2100"/>
              </a:lnSpc>
              <a:spcBef>
                <a:spcPts val="0"/>
              </a:spcBef>
              <a:spcAft>
                <a:spcPts val="0"/>
              </a:spcAft>
              <a:defRPr sz="2000" b="1">
                <a:solidFill>
                  <a:srgbClr val="182B3A"/>
                </a:solidFill>
                <a:latin typeface="Arial"/>
              </a:defRPr>
            </a:pPr>
            <a:r>
              <a:t>3.</a:t>
            </a:r>
          </a:p>
        </p:txBody>
      </p:sp>
      <p:sp>
        <p:nvSpPr>
          <p:cNvPr id="57" name="TextBox 56"/>
          <p:cNvSpPr txBox="1"/>
          <p:nvPr/>
        </p:nvSpPr>
        <p:spPr>
          <a:xfrm>
            <a:off x="10131552" y="3794760"/>
            <a:ext cx="4059936" cy="594360"/>
          </a:xfrm>
          <a:prstGeom prst="rect">
            <a:avLst/>
          </a:prstGeom>
          <a:noFill/>
        </p:spPr>
        <p:txBody>
          <a:bodyPr wrap="square" lIns="54864" rIns="54864" tIns="22860" bIns="22860">
            <a:spAutoFit/>
          </a:bodyPr>
          <a:lstStyle/>
          <a:p>
            <a:pPr>
              <a:lnSpc>
                <a:spcPts val="2520"/>
              </a:lnSpc>
              <a:spcBef>
                <a:spcPts val="0"/>
              </a:spcBef>
              <a:spcAft>
                <a:spcPts val="0"/>
              </a:spcAft>
              <a:defRPr sz="2400" b="0">
                <a:solidFill>
                  <a:srgbClr val="182B3A"/>
                </a:solidFill>
                <a:latin typeface="Arial"/>
              </a:defRPr>
            </a:pPr>
            <a:r>
              <a:t>6x − 9 = 3x + 60</a:t>
            </a:r>
          </a:p>
        </p:txBody>
      </p:sp>
      <p:sp>
        <p:nvSpPr>
          <p:cNvPr id="58" name="Rectangle 57"/>
          <p:cNvSpPr/>
          <p:nvPr/>
        </p:nvSpPr>
        <p:spPr>
          <a:xfrm>
            <a:off x="9646920" y="4599432"/>
            <a:ext cx="4640580" cy="1005840"/>
          </a:xfrm>
          <a:prstGeom prst="rect">
            <a:avLst/>
          </a:prstGeom>
          <a:solidFill>
            <a:srgbClr val="F5F0F7"/>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 name="TextBox 58"/>
          <p:cNvSpPr txBox="1"/>
          <p:nvPr/>
        </p:nvSpPr>
        <p:spPr>
          <a:xfrm>
            <a:off x="9738360" y="4800600"/>
            <a:ext cx="365760" cy="548640"/>
          </a:xfrm>
          <a:prstGeom prst="rect">
            <a:avLst/>
          </a:prstGeom>
          <a:noFill/>
        </p:spPr>
        <p:txBody>
          <a:bodyPr wrap="square" lIns="54864" rIns="54864" tIns="22860" bIns="22860">
            <a:spAutoFit/>
          </a:bodyPr>
          <a:lstStyle/>
          <a:p>
            <a:pPr>
              <a:lnSpc>
                <a:spcPts val="2100"/>
              </a:lnSpc>
              <a:spcBef>
                <a:spcPts val="0"/>
              </a:spcBef>
              <a:spcAft>
                <a:spcPts val="0"/>
              </a:spcAft>
              <a:defRPr sz="2000" b="1">
                <a:solidFill>
                  <a:srgbClr val="182B3A"/>
                </a:solidFill>
                <a:latin typeface="Arial"/>
              </a:defRPr>
            </a:pPr>
            <a:r>
              <a:t>4.</a:t>
            </a:r>
          </a:p>
        </p:txBody>
      </p:sp>
      <p:sp>
        <p:nvSpPr>
          <p:cNvPr id="60" name="TextBox 59"/>
          <p:cNvSpPr txBox="1"/>
          <p:nvPr/>
        </p:nvSpPr>
        <p:spPr>
          <a:xfrm>
            <a:off x="10131552" y="4800600"/>
            <a:ext cx="4059936" cy="594360"/>
          </a:xfrm>
          <a:prstGeom prst="rect">
            <a:avLst/>
          </a:prstGeom>
          <a:noFill/>
        </p:spPr>
        <p:txBody>
          <a:bodyPr wrap="square" lIns="54864" rIns="54864" tIns="22860" bIns="22860">
            <a:spAutoFit/>
          </a:bodyPr>
          <a:lstStyle/>
          <a:p>
            <a:pPr>
              <a:lnSpc>
                <a:spcPts val="2520"/>
              </a:lnSpc>
              <a:spcBef>
                <a:spcPts val="0"/>
              </a:spcBef>
              <a:spcAft>
                <a:spcPts val="0"/>
              </a:spcAft>
              <a:defRPr sz="2400" b="0">
                <a:solidFill>
                  <a:srgbClr val="182B3A"/>
                </a:solidFill>
                <a:latin typeface="Arial"/>
              </a:defRPr>
            </a:pPr>
            <a:r>
              <a:t>2x − 6 = 12</a:t>
            </a:r>
          </a:p>
        </p:txBody>
      </p:sp>
      <p:sp>
        <p:nvSpPr>
          <p:cNvPr id="61" name="Rectangle 60"/>
          <p:cNvSpPr/>
          <p:nvPr/>
        </p:nvSpPr>
        <p:spPr>
          <a:xfrm>
            <a:off x="9646920" y="5605272"/>
            <a:ext cx="4640580" cy="1005840"/>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 name="TextBox 61"/>
          <p:cNvSpPr txBox="1"/>
          <p:nvPr/>
        </p:nvSpPr>
        <p:spPr>
          <a:xfrm>
            <a:off x="9738360" y="5806440"/>
            <a:ext cx="365760" cy="548640"/>
          </a:xfrm>
          <a:prstGeom prst="rect">
            <a:avLst/>
          </a:prstGeom>
          <a:noFill/>
        </p:spPr>
        <p:txBody>
          <a:bodyPr wrap="square" lIns="54864" rIns="54864" tIns="22860" bIns="22860">
            <a:spAutoFit/>
          </a:bodyPr>
          <a:lstStyle/>
          <a:p>
            <a:pPr>
              <a:lnSpc>
                <a:spcPts val="2100"/>
              </a:lnSpc>
              <a:spcBef>
                <a:spcPts val="0"/>
              </a:spcBef>
              <a:spcAft>
                <a:spcPts val="0"/>
              </a:spcAft>
              <a:defRPr sz="2000" b="1">
                <a:solidFill>
                  <a:srgbClr val="182B3A"/>
                </a:solidFill>
                <a:latin typeface="Arial"/>
              </a:defRPr>
            </a:pPr>
            <a:r>
              <a:t>5.</a:t>
            </a:r>
          </a:p>
        </p:txBody>
      </p:sp>
      <p:sp>
        <p:nvSpPr>
          <p:cNvPr id="63" name="TextBox 62"/>
          <p:cNvSpPr txBox="1"/>
          <p:nvPr/>
        </p:nvSpPr>
        <p:spPr>
          <a:xfrm>
            <a:off x="10131552" y="5806440"/>
            <a:ext cx="4059936" cy="594360"/>
          </a:xfrm>
          <a:prstGeom prst="rect">
            <a:avLst/>
          </a:prstGeom>
          <a:noFill/>
        </p:spPr>
        <p:txBody>
          <a:bodyPr wrap="square" lIns="54864" rIns="54864" tIns="22860" bIns="22860">
            <a:spAutoFit/>
          </a:bodyPr>
          <a:lstStyle/>
          <a:p>
            <a:pPr>
              <a:lnSpc>
                <a:spcPts val="2520"/>
              </a:lnSpc>
              <a:spcBef>
                <a:spcPts val="0"/>
              </a:spcBef>
              <a:spcAft>
                <a:spcPts val="0"/>
              </a:spcAft>
              <a:defRPr sz="2400" b="0">
                <a:solidFill>
                  <a:srgbClr val="182B3A"/>
                </a:solidFill>
                <a:latin typeface="Arial"/>
              </a:defRPr>
            </a:pPr>
            <a:r>
              <a:t>6(x − 3) = 90</a:t>
            </a:r>
          </a:p>
        </p:txBody>
      </p:sp>
      <p:sp>
        <p:nvSpPr>
          <p:cNvPr id="64" name="Rectangle 63"/>
          <p:cNvSpPr/>
          <p:nvPr/>
        </p:nvSpPr>
        <p:spPr>
          <a:xfrm>
            <a:off x="9646920" y="6611112"/>
            <a:ext cx="4640580" cy="1005840"/>
          </a:xfrm>
          <a:prstGeom prst="rect">
            <a:avLst/>
          </a:prstGeom>
          <a:solidFill>
            <a:srgbClr val="F5F0F7"/>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5" name="TextBox 64"/>
          <p:cNvSpPr txBox="1"/>
          <p:nvPr/>
        </p:nvSpPr>
        <p:spPr>
          <a:xfrm>
            <a:off x="9738360" y="6812280"/>
            <a:ext cx="365760" cy="548640"/>
          </a:xfrm>
          <a:prstGeom prst="rect">
            <a:avLst/>
          </a:prstGeom>
          <a:noFill/>
        </p:spPr>
        <p:txBody>
          <a:bodyPr wrap="square" lIns="54864" rIns="54864" tIns="22860" bIns="22860">
            <a:spAutoFit/>
          </a:bodyPr>
          <a:lstStyle/>
          <a:p>
            <a:pPr>
              <a:lnSpc>
                <a:spcPts val="2100"/>
              </a:lnSpc>
              <a:spcBef>
                <a:spcPts val="0"/>
              </a:spcBef>
              <a:spcAft>
                <a:spcPts val="0"/>
              </a:spcAft>
              <a:defRPr sz="2000" b="1">
                <a:solidFill>
                  <a:srgbClr val="182B3A"/>
                </a:solidFill>
                <a:latin typeface="Arial"/>
              </a:defRPr>
            </a:pPr>
            <a:r>
              <a:t>6.</a:t>
            </a:r>
          </a:p>
        </p:txBody>
      </p:sp>
      <p:sp>
        <p:nvSpPr>
          <p:cNvPr id="66" name="TextBox 65"/>
          <p:cNvSpPr txBox="1"/>
          <p:nvPr/>
        </p:nvSpPr>
        <p:spPr>
          <a:xfrm>
            <a:off x="10131552" y="6812280"/>
            <a:ext cx="4059936" cy="594360"/>
          </a:xfrm>
          <a:prstGeom prst="rect">
            <a:avLst/>
          </a:prstGeom>
          <a:noFill/>
        </p:spPr>
        <p:txBody>
          <a:bodyPr wrap="square" lIns="54864" rIns="54864" tIns="22860" bIns="22860">
            <a:spAutoFit/>
          </a:bodyPr>
          <a:lstStyle/>
          <a:p>
            <a:pPr>
              <a:lnSpc>
                <a:spcPts val="2520"/>
              </a:lnSpc>
              <a:spcBef>
                <a:spcPts val="0"/>
              </a:spcBef>
              <a:spcAft>
                <a:spcPts val="0"/>
              </a:spcAft>
              <a:defRPr sz="2400" b="0">
                <a:solidFill>
                  <a:srgbClr val="182B3A"/>
                </a:solidFill>
                <a:latin typeface="Arial"/>
              </a:defRPr>
            </a:pPr>
            <a:r>
              <a:t>6x + 8 = 4x + 56</a:t>
            </a:r>
          </a:p>
        </p:txBody>
      </p:sp>
      <p:sp>
        <p:nvSpPr>
          <p:cNvPr id="67" name="Progression curved arrow: Thread 1 to Thread 2"/>
          <p:cNvSpPr/>
          <p:nvPr/>
        </p:nvSpPr>
        <p:spPr>
          <a:xfrm>
            <a:off x="4649723" y="7552294"/>
            <a:ext cx="621792" cy="314053"/>
          </a:xfrm>
          <a:custGeom>
            <a:avLst/>
            <a:gdLst/>
            <a:ahLst/>
            <a:cxnLst/>
            <a:rect l="0" t="0" r="100000" b="100000"/>
            <a:pathLst>
              <a:path w="100000" h="100000" fill="none">
                <a:moveTo>
                  <a:pt x="6970" y="48439"/>
                </a:moveTo>
                <a:cubicBezTo>
                  <a:pt x="40678" y="114499"/>
                  <a:pt x="73026" y="88145"/>
                  <a:pt x="93030" y="13799"/>
                </a:cubicBezTo>
              </a:path>
              <a:path w="100000" h="100000" fill="none">
                <a:moveTo>
                  <a:pt x="69018" y="40431"/>
                </a:moveTo>
                <a:lnTo>
                  <a:pt x="93030" y="13799"/>
                </a:lnTo>
                <a:lnTo>
                  <a:pt x="92217" y="66207"/>
                </a:lnTo>
              </a:path>
            </a:pathLst>
          </a:custGeom>
          <a:noFill/>
          <a:ln w="64449" cap="rnd">
            <a:solidFill>
              <a:schemeClr val="accent6">
                <a:lumMod val="60000"/>
                <a:lumOff val="40000"/>
              </a:schemeClr>
            </a:solidFill>
            <a:round/>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68" name="Progression curved arrow: Thread 2 to Thread 3"/>
          <p:cNvSpPr/>
          <p:nvPr/>
        </p:nvSpPr>
        <p:spPr>
          <a:xfrm>
            <a:off x="9265327" y="7543800"/>
            <a:ext cx="621792" cy="314053"/>
          </a:xfrm>
          <a:custGeom>
            <a:avLst/>
            <a:gdLst/>
            <a:ahLst/>
            <a:cxnLst/>
            <a:rect l="0" t="0" r="100000" b="100000"/>
            <a:pathLst>
              <a:path w="100000" h="100000" fill="none">
                <a:moveTo>
                  <a:pt x="6970" y="48439"/>
                </a:moveTo>
                <a:cubicBezTo>
                  <a:pt x="40678" y="114499"/>
                  <a:pt x="73026" y="88145"/>
                  <a:pt x="93030" y="13799"/>
                </a:cubicBezTo>
              </a:path>
              <a:path w="100000" h="100000" fill="none">
                <a:moveTo>
                  <a:pt x="69018" y="40431"/>
                </a:moveTo>
                <a:lnTo>
                  <a:pt x="93030" y="13799"/>
                </a:lnTo>
                <a:lnTo>
                  <a:pt x="92217" y="66207"/>
                </a:lnTo>
              </a:path>
            </a:pathLst>
          </a:custGeom>
          <a:noFill/>
          <a:ln w="64449" cap="rnd">
            <a:solidFill>
              <a:schemeClr val="accent6">
                <a:lumMod val="60000"/>
                <a:lumOff val="40000"/>
              </a:schemeClr>
            </a:solidFill>
            <a:round/>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bg>
      <p:bgPr>
        <a:solidFill>
          <a:srgbClr val="F7F8FA"/>
        </a:solidFill>
        <a:effectLst/>
      </p:bgPr>
    </p:bg>
    <p:spTree>
      <p:nvGrpSpPr>
        <p:cNvPr id="1" name=""/>
        <p:cNvGrpSpPr/>
        <p:nvPr/>
      </p:nvGrpSpPr>
      <p:grpSpPr/>
      <p:sp>
        <p:nvSpPr>
          <p:cNvPr id="2" name="Rectangle 1"/>
          <p:cNvSpPr/>
          <p:nvPr/>
        </p:nvSpPr>
        <p:spPr>
          <a:xfrm>
            <a:off x="0" y="0"/>
            <a:ext cx="14630400" cy="73152"/>
          </a:xfrm>
          <a:prstGeom prst="rect">
            <a:avLst/>
          </a:prstGeom>
          <a:solidFill>
            <a:srgbClr val="176B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20040" y="164592"/>
            <a:ext cx="13990320" cy="457200"/>
          </a:xfrm>
          <a:prstGeom prst="rect">
            <a:avLst/>
          </a:prstGeom>
          <a:noFill/>
        </p:spPr>
        <p:txBody>
          <a:bodyPr wrap="square" lIns="54864" rIns="54864" tIns="22860" bIns="22860">
            <a:spAutoFit/>
          </a:bodyPr>
          <a:lstStyle/>
          <a:p>
            <a:pPr>
              <a:lnSpc>
                <a:spcPts val="2940"/>
              </a:lnSpc>
              <a:spcBef>
                <a:spcPts val="0"/>
              </a:spcBef>
              <a:spcAft>
                <a:spcPts val="0"/>
              </a:spcAft>
              <a:defRPr sz="2800" b="1">
                <a:solidFill>
                  <a:srgbClr val="182B3A"/>
                </a:solidFill>
                <a:latin typeface="Arial"/>
              </a:defRPr>
            </a:pPr>
            <a:r>
              <a:t>Solving equations</a:t>
            </a:r>
          </a:p>
        </p:txBody>
      </p:sp>
      <p:sp>
        <p:nvSpPr>
          <p:cNvPr id="4" name="TextBox 3"/>
          <p:cNvSpPr txBox="1"/>
          <p:nvPr/>
        </p:nvSpPr>
        <p:spPr>
          <a:xfrm>
            <a:off x="320040" y="704088"/>
            <a:ext cx="13990320" cy="347472"/>
          </a:xfrm>
          <a:prstGeom prst="rect">
            <a:avLst/>
          </a:prstGeom>
          <a:noFill/>
        </p:spPr>
        <p:txBody>
          <a:bodyPr wrap="square" lIns="54864" rIns="54864" tIns="22860" bIns="22860">
            <a:spAutoFit/>
          </a:bodyPr>
          <a:lstStyle/>
          <a:p>
            <a:pPr>
              <a:lnSpc>
                <a:spcPts val="1575"/>
              </a:lnSpc>
              <a:spcBef>
                <a:spcPts val="0"/>
              </a:spcBef>
              <a:spcAft>
                <a:spcPts val="0"/>
              </a:spcAft>
              <a:defRPr sz="1500" b="0">
                <a:solidFill>
                  <a:srgbClr val="526472"/>
                </a:solidFill>
                <a:latin typeface="Arial"/>
              </a:defRPr>
            </a:pPr>
            <a:r>
              <a:t>Independent practice 4 • Solve each equation and check by substitution.</a:t>
            </a:r>
          </a:p>
        </p:txBody>
      </p:sp>
      <p:sp>
        <p:nvSpPr>
          <p:cNvPr id="5" name="TextBox 4"/>
          <p:cNvSpPr txBox="1"/>
          <p:nvPr/>
        </p:nvSpPr>
        <p:spPr>
          <a:xfrm>
            <a:off x="320040" y="7973568"/>
            <a:ext cx="10789920" cy="210312"/>
          </a:xfrm>
          <a:prstGeom prst="rect">
            <a:avLst/>
          </a:prstGeom>
          <a:noFill/>
        </p:spPr>
        <p:txBody>
          <a:bodyPr wrap="square" lIns="54864" rIns="54864" tIns="22860" bIns="22860">
            <a:spAutoFit/>
          </a:bodyPr>
          <a:lstStyle/>
          <a:p>
            <a:pPr>
              <a:lnSpc>
                <a:spcPts val="1155"/>
              </a:lnSpc>
              <a:spcBef>
                <a:spcPts val="0"/>
              </a:spcBef>
              <a:spcAft>
                <a:spcPts val="0"/>
              </a:spcAft>
              <a:defRPr sz="1100" b="0">
                <a:solidFill>
                  <a:srgbClr val="526472"/>
                </a:solidFill>
                <a:latin typeface="Arial"/>
              </a:defRPr>
            </a:pPr>
            <a:r>
              <a:t>GCSE Maths revision • No calculator • Show your working.</a:t>
            </a:r>
          </a:p>
        </p:txBody>
      </p:sp>
      <p:sp>
        <p:nvSpPr>
          <p:cNvPr id="6" name="TextBox 5"/>
          <p:cNvSpPr txBox="1"/>
          <p:nvPr/>
        </p:nvSpPr>
        <p:spPr>
          <a:xfrm>
            <a:off x="11155680" y="7973568"/>
            <a:ext cx="3108960" cy="210312"/>
          </a:xfrm>
          <a:prstGeom prst="rect">
            <a:avLst/>
          </a:prstGeom>
          <a:noFill/>
        </p:spPr>
        <p:txBody>
          <a:bodyPr wrap="square" lIns="54864" rIns="54864" tIns="22860" bIns="22860">
            <a:spAutoFit/>
          </a:bodyPr>
          <a:lstStyle/>
          <a:p>
            <a:pPr>
              <a:lnSpc>
                <a:spcPts val="1155"/>
              </a:lnSpc>
              <a:spcBef>
                <a:spcPts val="0"/>
              </a:spcBef>
              <a:spcAft>
                <a:spcPts val="0"/>
              </a:spcAft>
              <a:defRPr sz="1100" b="0">
                <a:solidFill>
                  <a:srgbClr val="526472"/>
                </a:solidFill>
                <a:latin typeface="Arial"/>
              </a:defRPr>
            </a:pPr>
            <a:r>
              <a:t>M10-S07</a:t>
            </a:r>
          </a:p>
        </p:txBody>
      </p:sp>
      <p:sp>
        <p:nvSpPr>
          <p:cNvPr id="7" name="Rectangle 6"/>
          <p:cNvSpPr/>
          <p:nvPr/>
        </p:nvSpPr>
        <p:spPr>
          <a:xfrm>
            <a:off x="320040" y="1115568"/>
            <a:ext cx="4640580" cy="420624"/>
          </a:xfrm>
          <a:prstGeom prst="rect">
            <a:avLst/>
          </a:prstGeom>
          <a:solidFill>
            <a:srgbClr val="176B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347472" y="1147572"/>
            <a:ext cx="4581144" cy="329184"/>
          </a:xfrm>
          <a:prstGeom prst="rect">
            <a:avLst/>
          </a:prstGeom>
          <a:noFill/>
        </p:spPr>
        <p:txBody>
          <a:bodyPr wrap="square" lIns="54864" rIns="54864" tIns="22860" bIns="22860">
            <a:spAutoFit/>
          </a:bodyPr>
          <a:lstStyle/>
          <a:p>
            <a:pPr>
              <a:lnSpc>
                <a:spcPts val="1995"/>
              </a:lnSpc>
              <a:spcBef>
                <a:spcPts val="0"/>
              </a:spcBef>
              <a:spcAft>
                <a:spcPts val="0"/>
              </a:spcAft>
              <a:defRPr sz="1900" b="1">
                <a:solidFill>
                  <a:srgbClr val="FFFFFF"/>
                </a:solidFill>
                <a:latin typeface="Arial"/>
              </a:defRPr>
            </a:pPr>
            <a:r>
              <a:t>Start</a:t>
            </a:r>
          </a:p>
        </p:txBody>
      </p:sp>
      <p:sp>
        <p:nvSpPr>
          <p:cNvPr id="9" name="Rectangle 8"/>
          <p:cNvSpPr/>
          <p:nvPr/>
        </p:nvSpPr>
        <p:spPr>
          <a:xfrm>
            <a:off x="4983480" y="1115568"/>
            <a:ext cx="4640580" cy="420624"/>
          </a:xfrm>
          <a:prstGeom prst="rect">
            <a:avLst/>
          </a:prstGeom>
          <a:solidFill>
            <a:srgbClr val="3559A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010912" y="1147572"/>
            <a:ext cx="4581144" cy="329184"/>
          </a:xfrm>
          <a:prstGeom prst="rect">
            <a:avLst/>
          </a:prstGeom>
          <a:noFill/>
        </p:spPr>
        <p:txBody>
          <a:bodyPr wrap="square" lIns="54864" rIns="54864" tIns="22860" bIns="22860">
            <a:spAutoFit/>
          </a:bodyPr>
          <a:lstStyle/>
          <a:p>
            <a:pPr>
              <a:lnSpc>
                <a:spcPts val="1995"/>
              </a:lnSpc>
              <a:spcBef>
                <a:spcPts val="0"/>
              </a:spcBef>
              <a:spcAft>
                <a:spcPts val="0"/>
              </a:spcAft>
              <a:defRPr sz="1900" b="1">
                <a:solidFill>
                  <a:srgbClr val="FFFFFF"/>
                </a:solidFill>
                <a:latin typeface="Arial"/>
              </a:defRPr>
            </a:pPr>
            <a:r>
              <a:t>Build</a:t>
            </a:r>
          </a:p>
        </p:txBody>
      </p:sp>
      <p:sp>
        <p:nvSpPr>
          <p:cNvPr id="11" name="Rectangle 10"/>
          <p:cNvSpPr/>
          <p:nvPr/>
        </p:nvSpPr>
        <p:spPr>
          <a:xfrm>
            <a:off x="9646920" y="1115568"/>
            <a:ext cx="4640580" cy="420624"/>
          </a:xfrm>
          <a:prstGeom prst="rect">
            <a:avLst/>
          </a:prstGeom>
          <a:solidFill>
            <a:srgbClr val="754B8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9674352" y="1147572"/>
            <a:ext cx="4581144" cy="329184"/>
          </a:xfrm>
          <a:prstGeom prst="rect">
            <a:avLst/>
          </a:prstGeom>
          <a:noFill/>
        </p:spPr>
        <p:txBody>
          <a:bodyPr wrap="square" lIns="54864" rIns="54864" tIns="22860" bIns="22860">
            <a:spAutoFit/>
          </a:bodyPr>
          <a:lstStyle/>
          <a:p>
            <a:pPr>
              <a:lnSpc>
                <a:spcPts val="1995"/>
              </a:lnSpc>
              <a:spcBef>
                <a:spcPts val="0"/>
              </a:spcBef>
              <a:spcAft>
                <a:spcPts val="0"/>
              </a:spcAft>
              <a:defRPr sz="1900" b="1">
                <a:solidFill>
                  <a:srgbClr val="FFFFFF"/>
                </a:solidFill>
                <a:latin typeface="Arial"/>
              </a:defRPr>
            </a:pPr>
            <a:r>
              <a:t>Confidence</a:t>
            </a:r>
          </a:p>
        </p:txBody>
      </p:sp>
      <p:sp>
        <p:nvSpPr>
          <p:cNvPr id="13" name="Rectangle 12"/>
          <p:cNvSpPr/>
          <p:nvPr/>
        </p:nvSpPr>
        <p:spPr>
          <a:xfrm>
            <a:off x="320040" y="1581912"/>
            <a:ext cx="4640580" cy="1005840"/>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11479" y="1783080"/>
            <a:ext cx="365760" cy="548640"/>
          </a:xfrm>
          <a:prstGeom prst="rect">
            <a:avLst/>
          </a:prstGeom>
          <a:noFill/>
        </p:spPr>
        <p:txBody>
          <a:bodyPr wrap="square" lIns="54864" rIns="54864" tIns="22860" bIns="22860">
            <a:spAutoFit/>
          </a:bodyPr>
          <a:lstStyle/>
          <a:p>
            <a:pPr>
              <a:lnSpc>
                <a:spcPts val="2100"/>
              </a:lnSpc>
              <a:spcBef>
                <a:spcPts val="0"/>
              </a:spcBef>
              <a:spcAft>
                <a:spcPts val="0"/>
              </a:spcAft>
              <a:defRPr sz="2000" b="1">
                <a:solidFill>
                  <a:srgbClr val="182B3A"/>
                </a:solidFill>
                <a:latin typeface="Arial"/>
              </a:defRPr>
            </a:pPr>
            <a:r>
              <a:t>1.</a:t>
            </a:r>
          </a:p>
        </p:txBody>
      </p:sp>
      <p:sp>
        <p:nvSpPr>
          <p:cNvPr id="15" name="TextBox 14"/>
          <p:cNvSpPr txBox="1"/>
          <p:nvPr/>
        </p:nvSpPr>
        <p:spPr>
          <a:xfrm>
            <a:off x="804672" y="1783080"/>
            <a:ext cx="4059936" cy="594360"/>
          </a:xfrm>
          <a:prstGeom prst="rect">
            <a:avLst/>
          </a:prstGeom>
          <a:noFill/>
        </p:spPr>
        <p:txBody>
          <a:bodyPr wrap="square" lIns="54864" rIns="54864" tIns="22860" bIns="22860">
            <a:spAutoFit/>
          </a:bodyPr>
          <a:lstStyle/>
          <a:p>
            <a:pPr>
              <a:lnSpc>
                <a:spcPts val="2520"/>
              </a:lnSpc>
              <a:spcBef>
                <a:spcPts val="0"/>
              </a:spcBef>
              <a:spcAft>
                <a:spcPts val="0"/>
              </a:spcAft>
              <a:defRPr sz="2400" b="0">
                <a:solidFill>
                  <a:srgbClr val="182B3A"/>
                </a:solidFill>
                <a:latin typeface="Arial"/>
              </a:defRPr>
            </a:pPr>
            <a:r>
              <a:t>7x = 140</a:t>
            </a:r>
          </a:p>
        </p:txBody>
      </p:sp>
      <p:sp>
        <p:nvSpPr>
          <p:cNvPr id="16" name="Rectangle 15"/>
          <p:cNvSpPr/>
          <p:nvPr/>
        </p:nvSpPr>
        <p:spPr>
          <a:xfrm>
            <a:off x="320040" y="2587752"/>
            <a:ext cx="4640580" cy="1005840"/>
          </a:xfrm>
          <a:prstGeom prst="rect">
            <a:avLst/>
          </a:prstGeom>
          <a:solidFill>
            <a:srgbClr val="EDF6F5"/>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411479" y="2788920"/>
            <a:ext cx="365760" cy="548640"/>
          </a:xfrm>
          <a:prstGeom prst="rect">
            <a:avLst/>
          </a:prstGeom>
          <a:noFill/>
        </p:spPr>
        <p:txBody>
          <a:bodyPr wrap="square" lIns="54864" rIns="54864" tIns="22860" bIns="22860">
            <a:spAutoFit/>
          </a:bodyPr>
          <a:lstStyle/>
          <a:p>
            <a:pPr>
              <a:lnSpc>
                <a:spcPts val="2100"/>
              </a:lnSpc>
              <a:spcBef>
                <a:spcPts val="0"/>
              </a:spcBef>
              <a:spcAft>
                <a:spcPts val="0"/>
              </a:spcAft>
              <a:defRPr sz="2000" b="1">
                <a:solidFill>
                  <a:srgbClr val="182B3A"/>
                </a:solidFill>
                <a:latin typeface="Arial"/>
              </a:defRPr>
            </a:pPr>
            <a:r>
              <a:t>2.</a:t>
            </a:r>
          </a:p>
        </p:txBody>
      </p:sp>
      <p:sp>
        <p:nvSpPr>
          <p:cNvPr id="18" name="TextBox 17"/>
          <p:cNvSpPr txBox="1"/>
          <p:nvPr/>
        </p:nvSpPr>
        <p:spPr>
          <a:xfrm>
            <a:off x="804672" y="2788920"/>
            <a:ext cx="4059936" cy="594360"/>
          </a:xfrm>
          <a:prstGeom prst="rect">
            <a:avLst/>
          </a:prstGeom>
          <a:noFill/>
        </p:spPr>
        <p:txBody>
          <a:bodyPr wrap="square" lIns="54864" rIns="54864" tIns="22860" bIns="22860">
            <a:spAutoFit/>
          </a:bodyPr>
          <a:lstStyle/>
          <a:p>
            <a:pPr>
              <a:lnSpc>
                <a:spcPts val="2520"/>
              </a:lnSpc>
              <a:spcBef>
                <a:spcPts val="0"/>
              </a:spcBef>
              <a:spcAft>
                <a:spcPts val="0"/>
              </a:spcAft>
              <a:defRPr sz="2400" b="0">
                <a:solidFill>
                  <a:srgbClr val="182B3A"/>
                </a:solidFill>
                <a:latin typeface="Arial"/>
              </a:defRPr>
            </a:pPr>
            <a:r>
              <a:t>11 = x − 6</a:t>
            </a:r>
          </a:p>
        </p:txBody>
      </p:sp>
      <p:sp>
        <p:nvSpPr>
          <p:cNvPr id="19" name="Rectangle 18"/>
          <p:cNvSpPr/>
          <p:nvPr/>
        </p:nvSpPr>
        <p:spPr>
          <a:xfrm>
            <a:off x="320040" y="3593592"/>
            <a:ext cx="4640580" cy="1005840"/>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411479" y="3794760"/>
            <a:ext cx="365760" cy="548640"/>
          </a:xfrm>
          <a:prstGeom prst="rect">
            <a:avLst/>
          </a:prstGeom>
          <a:noFill/>
        </p:spPr>
        <p:txBody>
          <a:bodyPr wrap="square" lIns="54864" rIns="54864" tIns="22860" bIns="22860">
            <a:spAutoFit/>
          </a:bodyPr>
          <a:lstStyle/>
          <a:p>
            <a:pPr>
              <a:lnSpc>
                <a:spcPts val="2100"/>
              </a:lnSpc>
              <a:spcBef>
                <a:spcPts val="0"/>
              </a:spcBef>
              <a:spcAft>
                <a:spcPts val="0"/>
              </a:spcAft>
              <a:defRPr sz="2000" b="1">
                <a:solidFill>
                  <a:srgbClr val="182B3A"/>
                </a:solidFill>
                <a:latin typeface="Arial"/>
              </a:defRPr>
            </a:pPr>
            <a:r>
              <a:t>3.</a:t>
            </a:r>
          </a:p>
        </p:txBody>
      </p:sp>
      <p:sp>
        <p:nvSpPr>
          <p:cNvPr id="21" name="TextBox 20"/>
          <p:cNvSpPr txBox="1"/>
          <p:nvPr/>
        </p:nvSpPr>
        <p:spPr>
          <a:xfrm>
            <a:off x="804672" y="3794760"/>
            <a:ext cx="4059936" cy="594360"/>
          </a:xfrm>
          <a:prstGeom prst="rect">
            <a:avLst/>
          </a:prstGeom>
          <a:noFill/>
        </p:spPr>
        <p:txBody>
          <a:bodyPr wrap="square" lIns="54864" rIns="54864" tIns="22860" bIns="22860">
            <a:spAutoFit/>
          </a:bodyPr>
          <a:lstStyle/>
          <a:p>
            <a:pPr>
              <a:lnSpc>
                <a:spcPts val="2520"/>
              </a:lnSpc>
              <a:spcBef>
                <a:spcPts val="0"/>
              </a:spcBef>
              <a:spcAft>
                <a:spcPts val="0"/>
              </a:spcAft>
              <a:defRPr sz="2400" b="0">
                <a:solidFill>
                  <a:srgbClr val="182B3A"/>
                </a:solidFill>
                <a:latin typeface="Arial"/>
              </a:defRPr>
            </a:pPr>
            <a:r>
              <a:t>x ÷ 5 = 22</a:t>
            </a:r>
          </a:p>
        </p:txBody>
      </p:sp>
      <p:sp>
        <p:nvSpPr>
          <p:cNvPr id="22" name="Rectangle 21"/>
          <p:cNvSpPr/>
          <p:nvPr/>
        </p:nvSpPr>
        <p:spPr>
          <a:xfrm>
            <a:off x="320040" y="4599432"/>
            <a:ext cx="4640580" cy="1005840"/>
          </a:xfrm>
          <a:prstGeom prst="rect">
            <a:avLst/>
          </a:prstGeom>
          <a:solidFill>
            <a:srgbClr val="EDF6F5"/>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411479" y="4800600"/>
            <a:ext cx="365760" cy="548640"/>
          </a:xfrm>
          <a:prstGeom prst="rect">
            <a:avLst/>
          </a:prstGeom>
          <a:noFill/>
        </p:spPr>
        <p:txBody>
          <a:bodyPr wrap="square" lIns="54864" rIns="54864" tIns="22860" bIns="22860">
            <a:spAutoFit/>
          </a:bodyPr>
          <a:lstStyle/>
          <a:p>
            <a:pPr>
              <a:lnSpc>
                <a:spcPts val="2100"/>
              </a:lnSpc>
              <a:spcBef>
                <a:spcPts val="0"/>
              </a:spcBef>
              <a:spcAft>
                <a:spcPts val="0"/>
              </a:spcAft>
              <a:defRPr sz="2000" b="1">
                <a:solidFill>
                  <a:srgbClr val="182B3A"/>
                </a:solidFill>
                <a:latin typeface="Arial"/>
              </a:defRPr>
            </a:pPr>
            <a:r>
              <a:t>4.</a:t>
            </a:r>
          </a:p>
        </p:txBody>
      </p:sp>
      <p:sp>
        <p:nvSpPr>
          <p:cNvPr id="24" name="TextBox 23"/>
          <p:cNvSpPr txBox="1"/>
          <p:nvPr/>
        </p:nvSpPr>
        <p:spPr>
          <a:xfrm>
            <a:off x="804672" y="4800600"/>
            <a:ext cx="4059936" cy="594360"/>
          </a:xfrm>
          <a:prstGeom prst="rect">
            <a:avLst/>
          </a:prstGeom>
          <a:noFill/>
        </p:spPr>
        <p:txBody>
          <a:bodyPr wrap="square" lIns="54864" rIns="54864" tIns="22860" bIns="22860">
            <a:spAutoFit/>
          </a:bodyPr>
          <a:lstStyle/>
          <a:p>
            <a:pPr>
              <a:lnSpc>
                <a:spcPts val="2520"/>
              </a:lnSpc>
              <a:spcBef>
                <a:spcPts val="0"/>
              </a:spcBef>
              <a:spcAft>
                <a:spcPts val="0"/>
              </a:spcAft>
              <a:defRPr sz="2400" b="0">
                <a:solidFill>
                  <a:srgbClr val="182B3A"/>
                </a:solidFill>
                <a:latin typeface="Arial"/>
              </a:defRPr>
            </a:pPr>
            <a:r>
              <a:t>2x = 2</a:t>
            </a:r>
          </a:p>
        </p:txBody>
      </p:sp>
      <p:sp>
        <p:nvSpPr>
          <p:cNvPr id="25" name="Rectangle 24"/>
          <p:cNvSpPr/>
          <p:nvPr/>
        </p:nvSpPr>
        <p:spPr>
          <a:xfrm>
            <a:off x="320040" y="5605272"/>
            <a:ext cx="4640580" cy="1005840"/>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411479" y="5806440"/>
            <a:ext cx="365760" cy="548640"/>
          </a:xfrm>
          <a:prstGeom prst="rect">
            <a:avLst/>
          </a:prstGeom>
          <a:noFill/>
        </p:spPr>
        <p:txBody>
          <a:bodyPr wrap="square" lIns="54864" rIns="54864" tIns="22860" bIns="22860">
            <a:spAutoFit/>
          </a:bodyPr>
          <a:lstStyle/>
          <a:p>
            <a:pPr>
              <a:lnSpc>
                <a:spcPts val="2100"/>
              </a:lnSpc>
              <a:spcBef>
                <a:spcPts val="0"/>
              </a:spcBef>
              <a:spcAft>
                <a:spcPts val="0"/>
              </a:spcAft>
              <a:defRPr sz="2000" b="1">
                <a:solidFill>
                  <a:srgbClr val="182B3A"/>
                </a:solidFill>
                <a:latin typeface="Arial"/>
              </a:defRPr>
            </a:pPr>
            <a:r>
              <a:t>5.</a:t>
            </a:r>
          </a:p>
        </p:txBody>
      </p:sp>
      <p:sp>
        <p:nvSpPr>
          <p:cNvPr id="27" name="TextBox 26"/>
          <p:cNvSpPr txBox="1"/>
          <p:nvPr/>
        </p:nvSpPr>
        <p:spPr>
          <a:xfrm>
            <a:off x="804672" y="5806440"/>
            <a:ext cx="4059936" cy="594360"/>
          </a:xfrm>
          <a:prstGeom prst="rect">
            <a:avLst/>
          </a:prstGeom>
          <a:noFill/>
        </p:spPr>
        <p:txBody>
          <a:bodyPr wrap="square" lIns="54864" rIns="54864" tIns="22860" bIns="22860">
            <a:spAutoFit/>
          </a:bodyPr>
          <a:lstStyle/>
          <a:p>
            <a:pPr>
              <a:lnSpc>
                <a:spcPts val="2520"/>
              </a:lnSpc>
              <a:spcBef>
                <a:spcPts val="0"/>
              </a:spcBef>
              <a:spcAft>
                <a:spcPts val="0"/>
              </a:spcAft>
              <a:defRPr sz="2400" b="0">
                <a:solidFill>
                  <a:srgbClr val="182B3A"/>
                </a:solidFill>
                <a:latin typeface="Arial"/>
              </a:defRPr>
            </a:pPr>
            <a:r>
              <a:t>x ÷ 2 = 5</a:t>
            </a:r>
          </a:p>
        </p:txBody>
      </p:sp>
      <p:sp>
        <p:nvSpPr>
          <p:cNvPr id="28" name="Rectangle 27"/>
          <p:cNvSpPr/>
          <p:nvPr/>
        </p:nvSpPr>
        <p:spPr>
          <a:xfrm>
            <a:off x="320040" y="6611112"/>
            <a:ext cx="4640580" cy="1005840"/>
          </a:xfrm>
          <a:prstGeom prst="rect">
            <a:avLst/>
          </a:prstGeom>
          <a:solidFill>
            <a:srgbClr val="EDF6F5"/>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411479" y="6812280"/>
            <a:ext cx="365760" cy="548640"/>
          </a:xfrm>
          <a:prstGeom prst="rect">
            <a:avLst/>
          </a:prstGeom>
          <a:noFill/>
        </p:spPr>
        <p:txBody>
          <a:bodyPr wrap="square" lIns="54864" rIns="54864" tIns="22860" bIns="22860">
            <a:spAutoFit/>
          </a:bodyPr>
          <a:lstStyle/>
          <a:p>
            <a:pPr>
              <a:lnSpc>
                <a:spcPts val="2100"/>
              </a:lnSpc>
              <a:spcBef>
                <a:spcPts val="0"/>
              </a:spcBef>
              <a:spcAft>
                <a:spcPts val="0"/>
              </a:spcAft>
              <a:defRPr sz="2000" b="1">
                <a:solidFill>
                  <a:srgbClr val="182B3A"/>
                </a:solidFill>
                <a:latin typeface="Arial"/>
              </a:defRPr>
            </a:pPr>
            <a:r>
              <a:t>6.</a:t>
            </a:r>
          </a:p>
        </p:txBody>
      </p:sp>
      <p:sp>
        <p:nvSpPr>
          <p:cNvPr id="30" name="TextBox 29"/>
          <p:cNvSpPr txBox="1"/>
          <p:nvPr/>
        </p:nvSpPr>
        <p:spPr>
          <a:xfrm>
            <a:off x="804672" y="6812280"/>
            <a:ext cx="4059936" cy="594360"/>
          </a:xfrm>
          <a:prstGeom prst="rect">
            <a:avLst/>
          </a:prstGeom>
          <a:noFill/>
        </p:spPr>
        <p:txBody>
          <a:bodyPr wrap="square" lIns="54864" rIns="54864" tIns="22860" bIns="22860">
            <a:spAutoFit/>
          </a:bodyPr>
          <a:lstStyle/>
          <a:p>
            <a:pPr>
              <a:lnSpc>
                <a:spcPts val="2520"/>
              </a:lnSpc>
              <a:spcBef>
                <a:spcPts val="0"/>
              </a:spcBef>
              <a:spcAft>
                <a:spcPts val="0"/>
              </a:spcAft>
              <a:defRPr sz="2400" b="0">
                <a:solidFill>
                  <a:srgbClr val="182B3A"/>
                </a:solidFill>
                <a:latin typeface="Arial"/>
              </a:defRPr>
            </a:pPr>
            <a:r>
              <a:t>x + 7 = 1</a:t>
            </a:r>
          </a:p>
        </p:txBody>
      </p:sp>
      <p:sp>
        <p:nvSpPr>
          <p:cNvPr id="31" name="Rectangle 30"/>
          <p:cNvSpPr/>
          <p:nvPr/>
        </p:nvSpPr>
        <p:spPr>
          <a:xfrm>
            <a:off x="4983480" y="1581912"/>
            <a:ext cx="4640580" cy="1005840"/>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5074920" y="1783080"/>
            <a:ext cx="365760" cy="548640"/>
          </a:xfrm>
          <a:prstGeom prst="rect">
            <a:avLst/>
          </a:prstGeom>
          <a:noFill/>
        </p:spPr>
        <p:txBody>
          <a:bodyPr wrap="square" lIns="54864" rIns="54864" tIns="22860" bIns="22860">
            <a:spAutoFit/>
          </a:bodyPr>
          <a:lstStyle/>
          <a:p>
            <a:pPr>
              <a:lnSpc>
                <a:spcPts val="2100"/>
              </a:lnSpc>
              <a:spcBef>
                <a:spcPts val="0"/>
              </a:spcBef>
              <a:spcAft>
                <a:spcPts val="0"/>
              </a:spcAft>
              <a:defRPr sz="2000" b="1">
                <a:solidFill>
                  <a:srgbClr val="182B3A"/>
                </a:solidFill>
                <a:latin typeface="Arial"/>
              </a:defRPr>
            </a:pPr>
            <a:r>
              <a:t>1.</a:t>
            </a:r>
          </a:p>
        </p:txBody>
      </p:sp>
      <p:sp>
        <p:nvSpPr>
          <p:cNvPr id="33" name="TextBox 32"/>
          <p:cNvSpPr txBox="1"/>
          <p:nvPr/>
        </p:nvSpPr>
        <p:spPr>
          <a:xfrm>
            <a:off x="5468112" y="1783080"/>
            <a:ext cx="4059936" cy="594360"/>
          </a:xfrm>
          <a:prstGeom prst="rect">
            <a:avLst/>
          </a:prstGeom>
          <a:noFill/>
        </p:spPr>
        <p:txBody>
          <a:bodyPr wrap="square" lIns="54864" rIns="54864" tIns="22860" bIns="22860">
            <a:spAutoFit/>
          </a:bodyPr>
          <a:lstStyle/>
          <a:p>
            <a:pPr>
              <a:lnSpc>
                <a:spcPts val="2520"/>
              </a:lnSpc>
              <a:spcBef>
                <a:spcPts val="0"/>
              </a:spcBef>
              <a:spcAft>
                <a:spcPts val="0"/>
              </a:spcAft>
              <a:defRPr sz="2400" b="0">
                <a:solidFill>
                  <a:srgbClr val="182B3A"/>
                </a:solidFill>
                <a:latin typeface="Arial"/>
              </a:defRPr>
            </a:pPr>
            <a:r>
              <a:t>3x − 3 = 54</a:t>
            </a:r>
          </a:p>
        </p:txBody>
      </p:sp>
      <p:sp>
        <p:nvSpPr>
          <p:cNvPr id="34" name="Rectangle 33"/>
          <p:cNvSpPr/>
          <p:nvPr/>
        </p:nvSpPr>
        <p:spPr>
          <a:xfrm>
            <a:off x="4983480" y="2587752"/>
            <a:ext cx="4640580" cy="1005840"/>
          </a:xfrm>
          <a:prstGeom prst="rect">
            <a:avLst/>
          </a:prstGeom>
          <a:solidFill>
            <a:srgbClr val="EFF3FA"/>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5074920" y="2788920"/>
            <a:ext cx="365760" cy="548640"/>
          </a:xfrm>
          <a:prstGeom prst="rect">
            <a:avLst/>
          </a:prstGeom>
          <a:noFill/>
        </p:spPr>
        <p:txBody>
          <a:bodyPr wrap="square" lIns="54864" rIns="54864" tIns="22860" bIns="22860">
            <a:spAutoFit/>
          </a:bodyPr>
          <a:lstStyle/>
          <a:p>
            <a:pPr>
              <a:lnSpc>
                <a:spcPts val="2100"/>
              </a:lnSpc>
              <a:spcBef>
                <a:spcPts val="0"/>
              </a:spcBef>
              <a:spcAft>
                <a:spcPts val="0"/>
              </a:spcAft>
              <a:defRPr sz="2000" b="1">
                <a:solidFill>
                  <a:srgbClr val="182B3A"/>
                </a:solidFill>
                <a:latin typeface="Arial"/>
              </a:defRPr>
            </a:pPr>
            <a:r>
              <a:t>2.</a:t>
            </a:r>
          </a:p>
        </p:txBody>
      </p:sp>
      <p:sp>
        <p:nvSpPr>
          <p:cNvPr id="36" name="TextBox 35"/>
          <p:cNvSpPr txBox="1"/>
          <p:nvPr/>
        </p:nvSpPr>
        <p:spPr>
          <a:xfrm>
            <a:off x="5468112" y="2788920"/>
            <a:ext cx="4059936" cy="594360"/>
          </a:xfrm>
          <a:prstGeom prst="rect">
            <a:avLst/>
          </a:prstGeom>
          <a:noFill/>
        </p:spPr>
        <p:txBody>
          <a:bodyPr wrap="square" lIns="54864" rIns="54864" tIns="22860" bIns="22860">
            <a:spAutoFit/>
          </a:bodyPr>
          <a:lstStyle/>
          <a:p>
            <a:pPr>
              <a:lnSpc>
                <a:spcPts val="2520"/>
              </a:lnSpc>
              <a:spcBef>
                <a:spcPts val="0"/>
              </a:spcBef>
              <a:spcAft>
                <a:spcPts val="0"/>
              </a:spcAft>
              <a:defRPr sz="2400" b="0">
                <a:solidFill>
                  <a:srgbClr val="182B3A"/>
                </a:solidFill>
                <a:latin typeface="Arial"/>
              </a:defRPr>
            </a:pPr>
            <a:r>
              <a:t>6x + x − 5 = 100</a:t>
            </a:r>
          </a:p>
        </p:txBody>
      </p:sp>
      <p:sp>
        <p:nvSpPr>
          <p:cNvPr id="37" name="Rectangle 36"/>
          <p:cNvSpPr/>
          <p:nvPr/>
        </p:nvSpPr>
        <p:spPr>
          <a:xfrm>
            <a:off x="4983480" y="3593592"/>
            <a:ext cx="4640580" cy="1005840"/>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5074920" y="3794760"/>
            <a:ext cx="365760" cy="548640"/>
          </a:xfrm>
          <a:prstGeom prst="rect">
            <a:avLst/>
          </a:prstGeom>
          <a:noFill/>
        </p:spPr>
        <p:txBody>
          <a:bodyPr wrap="square" lIns="54864" rIns="54864" tIns="22860" bIns="22860">
            <a:spAutoFit/>
          </a:bodyPr>
          <a:lstStyle/>
          <a:p>
            <a:pPr>
              <a:lnSpc>
                <a:spcPts val="2100"/>
              </a:lnSpc>
              <a:spcBef>
                <a:spcPts val="0"/>
              </a:spcBef>
              <a:spcAft>
                <a:spcPts val="0"/>
              </a:spcAft>
              <a:defRPr sz="2000" b="1">
                <a:solidFill>
                  <a:srgbClr val="182B3A"/>
                </a:solidFill>
                <a:latin typeface="Arial"/>
              </a:defRPr>
            </a:pPr>
            <a:r>
              <a:t>3.</a:t>
            </a:r>
          </a:p>
        </p:txBody>
      </p:sp>
      <p:sp>
        <p:nvSpPr>
          <p:cNvPr id="39" name="TextBox 38"/>
          <p:cNvSpPr txBox="1"/>
          <p:nvPr/>
        </p:nvSpPr>
        <p:spPr>
          <a:xfrm>
            <a:off x="5468112" y="3794760"/>
            <a:ext cx="4059936" cy="594360"/>
          </a:xfrm>
          <a:prstGeom prst="rect">
            <a:avLst/>
          </a:prstGeom>
          <a:noFill/>
        </p:spPr>
        <p:txBody>
          <a:bodyPr wrap="square" lIns="54864" rIns="54864" tIns="22860" bIns="22860">
            <a:spAutoFit/>
          </a:bodyPr>
          <a:lstStyle/>
          <a:p>
            <a:pPr>
              <a:lnSpc>
                <a:spcPts val="2520"/>
              </a:lnSpc>
              <a:spcBef>
                <a:spcPts val="0"/>
              </a:spcBef>
              <a:spcAft>
                <a:spcPts val="0"/>
              </a:spcAft>
              <a:defRPr sz="2400" b="0">
                <a:solidFill>
                  <a:srgbClr val="182B3A"/>
                </a:solidFill>
                <a:latin typeface="Arial"/>
              </a:defRPr>
            </a:pPr>
            <a:r>
              <a:t>4x + 2 = 26</a:t>
            </a:r>
          </a:p>
        </p:txBody>
      </p:sp>
      <p:sp>
        <p:nvSpPr>
          <p:cNvPr id="40" name="Rectangle 39"/>
          <p:cNvSpPr/>
          <p:nvPr/>
        </p:nvSpPr>
        <p:spPr>
          <a:xfrm>
            <a:off x="4983480" y="4599432"/>
            <a:ext cx="4640580" cy="1005840"/>
          </a:xfrm>
          <a:prstGeom prst="rect">
            <a:avLst/>
          </a:prstGeom>
          <a:solidFill>
            <a:srgbClr val="EFF3FA"/>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5074920" y="4800600"/>
            <a:ext cx="365760" cy="548640"/>
          </a:xfrm>
          <a:prstGeom prst="rect">
            <a:avLst/>
          </a:prstGeom>
          <a:noFill/>
        </p:spPr>
        <p:txBody>
          <a:bodyPr wrap="square" lIns="54864" rIns="54864" tIns="22860" bIns="22860">
            <a:spAutoFit/>
          </a:bodyPr>
          <a:lstStyle/>
          <a:p>
            <a:pPr>
              <a:lnSpc>
                <a:spcPts val="2100"/>
              </a:lnSpc>
              <a:spcBef>
                <a:spcPts val="0"/>
              </a:spcBef>
              <a:spcAft>
                <a:spcPts val="0"/>
              </a:spcAft>
              <a:defRPr sz="2000" b="1">
                <a:solidFill>
                  <a:srgbClr val="182B3A"/>
                </a:solidFill>
                <a:latin typeface="Arial"/>
              </a:defRPr>
            </a:pPr>
            <a:r>
              <a:t>4.</a:t>
            </a:r>
          </a:p>
        </p:txBody>
      </p:sp>
      <p:sp>
        <p:nvSpPr>
          <p:cNvPr id="42" name="TextBox 41"/>
          <p:cNvSpPr txBox="1"/>
          <p:nvPr/>
        </p:nvSpPr>
        <p:spPr>
          <a:xfrm>
            <a:off x="5468112" y="4800600"/>
            <a:ext cx="4059936" cy="594360"/>
          </a:xfrm>
          <a:prstGeom prst="rect">
            <a:avLst/>
          </a:prstGeom>
          <a:noFill/>
        </p:spPr>
        <p:txBody>
          <a:bodyPr wrap="square" lIns="54864" rIns="54864" tIns="22860" bIns="22860">
            <a:spAutoFit/>
          </a:bodyPr>
          <a:lstStyle/>
          <a:p>
            <a:pPr>
              <a:lnSpc>
                <a:spcPts val="2520"/>
              </a:lnSpc>
              <a:spcBef>
                <a:spcPts val="0"/>
              </a:spcBef>
              <a:spcAft>
                <a:spcPts val="0"/>
              </a:spcAft>
              <a:defRPr sz="2400" b="0">
                <a:solidFill>
                  <a:srgbClr val="182B3A"/>
                </a:solidFill>
                <a:latin typeface="Arial"/>
              </a:defRPr>
            </a:pPr>
            <a:r>
              <a:t>x + x − 3 = -11</a:t>
            </a:r>
          </a:p>
        </p:txBody>
      </p:sp>
      <p:sp>
        <p:nvSpPr>
          <p:cNvPr id="43" name="Rectangle 42"/>
          <p:cNvSpPr/>
          <p:nvPr/>
        </p:nvSpPr>
        <p:spPr>
          <a:xfrm>
            <a:off x="4983480" y="5605272"/>
            <a:ext cx="4640580" cy="1005840"/>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5074920" y="5806440"/>
            <a:ext cx="365760" cy="548640"/>
          </a:xfrm>
          <a:prstGeom prst="rect">
            <a:avLst/>
          </a:prstGeom>
          <a:noFill/>
        </p:spPr>
        <p:txBody>
          <a:bodyPr wrap="square" lIns="54864" rIns="54864" tIns="22860" bIns="22860">
            <a:spAutoFit/>
          </a:bodyPr>
          <a:lstStyle/>
          <a:p>
            <a:pPr>
              <a:lnSpc>
                <a:spcPts val="2100"/>
              </a:lnSpc>
              <a:spcBef>
                <a:spcPts val="0"/>
              </a:spcBef>
              <a:spcAft>
                <a:spcPts val="0"/>
              </a:spcAft>
              <a:defRPr sz="2000" b="1">
                <a:solidFill>
                  <a:srgbClr val="182B3A"/>
                </a:solidFill>
                <a:latin typeface="Arial"/>
              </a:defRPr>
            </a:pPr>
            <a:r>
              <a:t>5.</a:t>
            </a:r>
          </a:p>
        </p:txBody>
      </p:sp>
      <p:sp>
        <p:nvSpPr>
          <p:cNvPr id="45" name="TextBox 44"/>
          <p:cNvSpPr txBox="1"/>
          <p:nvPr/>
        </p:nvSpPr>
        <p:spPr>
          <a:xfrm>
            <a:off x="5468112" y="5806440"/>
            <a:ext cx="4059936" cy="594360"/>
          </a:xfrm>
          <a:prstGeom prst="rect">
            <a:avLst/>
          </a:prstGeom>
          <a:noFill/>
        </p:spPr>
        <p:txBody>
          <a:bodyPr wrap="square" lIns="54864" rIns="54864" tIns="22860" bIns="22860">
            <a:spAutoFit/>
          </a:bodyPr>
          <a:lstStyle/>
          <a:p>
            <a:pPr>
              <a:lnSpc>
                <a:spcPts val="2520"/>
              </a:lnSpc>
              <a:spcBef>
                <a:spcPts val="0"/>
              </a:spcBef>
              <a:spcAft>
                <a:spcPts val="0"/>
              </a:spcAft>
              <a:defRPr sz="2400" b="0">
                <a:solidFill>
                  <a:srgbClr val="182B3A"/>
                </a:solidFill>
                <a:latin typeface="Arial"/>
              </a:defRPr>
            </a:pPr>
            <a:r>
              <a:t>6 + 2x = -10</a:t>
            </a:r>
          </a:p>
        </p:txBody>
      </p:sp>
      <p:sp>
        <p:nvSpPr>
          <p:cNvPr id="46" name="Rectangle 45"/>
          <p:cNvSpPr/>
          <p:nvPr/>
        </p:nvSpPr>
        <p:spPr>
          <a:xfrm>
            <a:off x="4983480" y="6611112"/>
            <a:ext cx="4640580" cy="1005840"/>
          </a:xfrm>
          <a:prstGeom prst="rect">
            <a:avLst/>
          </a:prstGeom>
          <a:solidFill>
            <a:srgbClr val="EFF3FA"/>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TextBox 46"/>
          <p:cNvSpPr txBox="1"/>
          <p:nvPr/>
        </p:nvSpPr>
        <p:spPr>
          <a:xfrm>
            <a:off x="5074920" y="6812280"/>
            <a:ext cx="365760" cy="548640"/>
          </a:xfrm>
          <a:prstGeom prst="rect">
            <a:avLst/>
          </a:prstGeom>
          <a:noFill/>
        </p:spPr>
        <p:txBody>
          <a:bodyPr wrap="square" lIns="54864" rIns="54864" tIns="22860" bIns="22860">
            <a:spAutoFit/>
          </a:bodyPr>
          <a:lstStyle/>
          <a:p>
            <a:pPr>
              <a:lnSpc>
                <a:spcPts val="2100"/>
              </a:lnSpc>
              <a:spcBef>
                <a:spcPts val="0"/>
              </a:spcBef>
              <a:spcAft>
                <a:spcPts val="0"/>
              </a:spcAft>
              <a:defRPr sz="2000" b="1">
                <a:solidFill>
                  <a:srgbClr val="182B3A"/>
                </a:solidFill>
                <a:latin typeface="Arial"/>
              </a:defRPr>
            </a:pPr>
            <a:r>
              <a:t>6.</a:t>
            </a:r>
          </a:p>
        </p:txBody>
      </p:sp>
      <p:sp>
        <p:nvSpPr>
          <p:cNvPr id="48" name="TextBox 47"/>
          <p:cNvSpPr txBox="1"/>
          <p:nvPr/>
        </p:nvSpPr>
        <p:spPr>
          <a:xfrm>
            <a:off x="5468112" y="6812280"/>
            <a:ext cx="4059936" cy="594360"/>
          </a:xfrm>
          <a:prstGeom prst="rect">
            <a:avLst/>
          </a:prstGeom>
          <a:noFill/>
        </p:spPr>
        <p:txBody>
          <a:bodyPr wrap="square" lIns="54864" rIns="54864" tIns="22860" bIns="22860">
            <a:spAutoFit/>
          </a:bodyPr>
          <a:lstStyle/>
          <a:p>
            <a:pPr>
              <a:lnSpc>
                <a:spcPts val="2520"/>
              </a:lnSpc>
              <a:spcBef>
                <a:spcPts val="0"/>
              </a:spcBef>
              <a:spcAft>
                <a:spcPts val="0"/>
              </a:spcAft>
              <a:defRPr sz="2400" b="0">
                <a:solidFill>
                  <a:srgbClr val="182B3A"/>
                </a:solidFill>
                <a:latin typeface="Arial"/>
              </a:defRPr>
            </a:pPr>
            <a:r>
              <a:t>5x + x − 9 = 69</a:t>
            </a:r>
          </a:p>
        </p:txBody>
      </p:sp>
      <p:sp>
        <p:nvSpPr>
          <p:cNvPr id="49" name="Rectangle 48"/>
          <p:cNvSpPr/>
          <p:nvPr/>
        </p:nvSpPr>
        <p:spPr>
          <a:xfrm>
            <a:off x="9646920" y="1581912"/>
            <a:ext cx="4640580" cy="1005840"/>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TextBox 49"/>
          <p:cNvSpPr txBox="1"/>
          <p:nvPr/>
        </p:nvSpPr>
        <p:spPr>
          <a:xfrm>
            <a:off x="9738360" y="1783080"/>
            <a:ext cx="365760" cy="548640"/>
          </a:xfrm>
          <a:prstGeom prst="rect">
            <a:avLst/>
          </a:prstGeom>
          <a:noFill/>
        </p:spPr>
        <p:txBody>
          <a:bodyPr wrap="square" lIns="54864" rIns="54864" tIns="22860" bIns="22860">
            <a:spAutoFit/>
          </a:bodyPr>
          <a:lstStyle/>
          <a:p>
            <a:pPr>
              <a:lnSpc>
                <a:spcPts val="2100"/>
              </a:lnSpc>
              <a:spcBef>
                <a:spcPts val="0"/>
              </a:spcBef>
              <a:spcAft>
                <a:spcPts val="0"/>
              </a:spcAft>
              <a:defRPr sz="2000" b="1">
                <a:solidFill>
                  <a:srgbClr val="182B3A"/>
                </a:solidFill>
                <a:latin typeface="Arial"/>
              </a:defRPr>
            </a:pPr>
            <a:r>
              <a:t>1.</a:t>
            </a:r>
          </a:p>
        </p:txBody>
      </p:sp>
      <p:sp>
        <p:nvSpPr>
          <p:cNvPr id="51" name="TextBox 50"/>
          <p:cNvSpPr txBox="1"/>
          <p:nvPr/>
        </p:nvSpPr>
        <p:spPr>
          <a:xfrm>
            <a:off x="10131552" y="1783080"/>
            <a:ext cx="4059936" cy="594360"/>
          </a:xfrm>
          <a:prstGeom prst="rect">
            <a:avLst/>
          </a:prstGeom>
          <a:noFill/>
        </p:spPr>
        <p:txBody>
          <a:bodyPr wrap="square" lIns="54864" rIns="54864" tIns="22860" bIns="22860">
            <a:spAutoFit/>
          </a:bodyPr>
          <a:lstStyle/>
          <a:p>
            <a:pPr>
              <a:lnSpc>
                <a:spcPts val="2520"/>
              </a:lnSpc>
              <a:spcBef>
                <a:spcPts val="0"/>
              </a:spcBef>
              <a:spcAft>
                <a:spcPts val="0"/>
              </a:spcAft>
              <a:defRPr sz="2400" b="0">
                <a:solidFill>
                  <a:srgbClr val="182B3A"/>
                </a:solidFill>
                <a:latin typeface="Arial"/>
              </a:defRPr>
            </a:pPr>
            <a:r>
              <a:t>4(x + 6) = 80</a:t>
            </a:r>
          </a:p>
        </p:txBody>
      </p:sp>
      <p:sp>
        <p:nvSpPr>
          <p:cNvPr id="52" name="Rectangle 51"/>
          <p:cNvSpPr/>
          <p:nvPr/>
        </p:nvSpPr>
        <p:spPr>
          <a:xfrm>
            <a:off x="9646920" y="2587752"/>
            <a:ext cx="4640580" cy="1005840"/>
          </a:xfrm>
          <a:prstGeom prst="rect">
            <a:avLst/>
          </a:prstGeom>
          <a:solidFill>
            <a:srgbClr val="F5F0F7"/>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TextBox 52"/>
          <p:cNvSpPr txBox="1"/>
          <p:nvPr/>
        </p:nvSpPr>
        <p:spPr>
          <a:xfrm>
            <a:off x="9738360" y="2788920"/>
            <a:ext cx="365760" cy="548640"/>
          </a:xfrm>
          <a:prstGeom prst="rect">
            <a:avLst/>
          </a:prstGeom>
          <a:noFill/>
        </p:spPr>
        <p:txBody>
          <a:bodyPr wrap="square" lIns="54864" rIns="54864" tIns="22860" bIns="22860">
            <a:spAutoFit/>
          </a:bodyPr>
          <a:lstStyle/>
          <a:p>
            <a:pPr>
              <a:lnSpc>
                <a:spcPts val="2100"/>
              </a:lnSpc>
              <a:spcBef>
                <a:spcPts val="0"/>
              </a:spcBef>
              <a:spcAft>
                <a:spcPts val="0"/>
              </a:spcAft>
              <a:defRPr sz="2000" b="1">
                <a:solidFill>
                  <a:srgbClr val="182B3A"/>
                </a:solidFill>
                <a:latin typeface="Arial"/>
              </a:defRPr>
            </a:pPr>
            <a:r>
              <a:t>2.</a:t>
            </a:r>
          </a:p>
        </p:txBody>
      </p:sp>
      <p:sp>
        <p:nvSpPr>
          <p:cNvPr id="54" name="TextBox 53"/>
          <p:cNvSpPr txBox="1"/>
          <p:nvPr/>
        </p:nvSpPr>
        <p:spPr>
          <a:xfrm>
            <a:off x="10131552" y="2788920"/>
            <a:ext cx="4059936" cy="594360"/>
          </a:xfrm>
          <a:prstGeom prst="rect">
            <a:avLst/>
          </a:prstGeom>
          <a:noFill/>
        </p:spPr>
        <p:txBody>
          <a:bodyPr wrap="square" lIns="54864" rIns="54864" tIns="22860" bIns="22860">
            <a:spAutoFit/>
          </a:bodyPr>
          <a:lstStyle/>
          <a:p>
            <a:pPr>
              <a:lnSpc>
                <a:spcPts val="2520"/>
              </a:lnSpc>
              <a:spcBef>
                <a:spcPts val="0"/>
              </a:spcBef>
              <a:spcAft>
                <a:spcPts val="0"/>
              </a:spcAft>
              <a:defRPr sz="2400" b="0">
                <a:solidFill>
                  <a:srgbClr val="182B3A"/>
                </a:solidFill>
                <a:latin typeface="Arial"/>
              </a:defRPr>
            </a:pPr>
            <a:r>
              <a:t>2x − 14 = -6</a:t>
            </a:r>
          </a:p>
        </p:txBody>
      </p:sp>
      <p:sp>
        <p:nvSpPr>
          <p:cNvPr id="55" name="Rectangle 54"/>
          <p:cNvSpPr/>
          <p:nvPr/>
        </p:nvSpPr>
        <p:spPr>
          <a:xfrm>
            <a:off x="9646920" y="3593592"/>
            <a:ext cx="4640580" cy="1005840"/>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TextBox 55"/>
          <p:cNvSpPr txBox="1"/>
          <p:nvPr/>
        </p:nvSpPr>
        <p:spPr>
          <a:xfrm>
            <a:off x="9738360" y="3794760"/>
            <a:ext cx="365760" cy="548640"/>
          </a:xfrm>
          <a:prstGeom prst="rect">
            <a:avLst/>
          </a:prstGeom>
          <a:noFill/>
        </p:spPr>
        <p:txBody>
          <a:bodyPr wrap="square" lIns="54864" rIns="54864" tIns="22860" bIns="22860">
            <a:spAutoFit/>
          </a:bodyPr>
          <a:lstStyle/>
          <a:p>
            <a:pPr>
              <a:lnSpc>
                <a:spcPts val="2100"/>
              </a:lnSpc>
              <a:spcBef>
                <a:spcPts val="0"/>
              </a:spcBef>
              <a:spcAft>
                <a:spcPts val="0"/>
              </a:spcAft>
              <a:defRPr sz="2000" b="1">
                <a:solidFill>
                  <a:srgbClr val="182B3A"/>
                </a:solidFill>
                <a:latin typeface="Arial"/>
              </a:defRPr>
            </a:pPr>
            <a:r>
              <a:t>3.</a:t>
            </a:r>
          </a:p>
        </p:txBody>
      </p:sp>
      <p:sp>
        <p:nvSpPr>
          <p:cNvPr id="57" name="TextBox 56"/>
          <p:cNvSpPr txBox="1"/>
          <p:nvPr/>
        </p:nvSpPr>
        <p:spPr>
          <a:xfrm>
            <a:off x="10131552" y="3794760"/>
            <a:ext cx="4059936" cy="594360"/>
          </a:xfrm>
          <a:prstGeom prst="rect">
            <a:avLst/>
          </a:prstGeom>
          <a:noFill/>
        </p:spPr>
        <p:txBody>
          <a:bodyPr wrap="square" lIns="54864" rIns="54864" tIns="22860" bIns="22860">
            <a:spAutoFit/>
          </a:bodyPr>
          <a:lstStyle/>
          <a:p>
            <a:pPr>
              <a:lnSpc>
                <a:spcPts val="2520"/>
              </a:lnSpc>
              <a:spcBef>
                <a:spcPts val="0"/>
              </a:spcBef>
              <a:spcAft>
                <a:spcPts val="0"/>
              </a:spcAft>
              <a:defRPr sz="2400" b="0">
                <a:solidFill>
                  <a:srgbClr val="182B3A"/>
                </a:solidFill>
                <a:latin typeface="Arial"/>
              </a:defRPr>
            </a:pPr>
            <a:r>
              <a:t>4(x − 3) = -24</a:t>
            </a:r>
          </a:p>
        </p:txBody>
      </p:sp>
      <p:sp>
        <p:nvSpPr>
          <p:cNvPr id="58" name="Rectangle 57"/>
          <p:cNvSpPr/>
          <p:nvPr/>
        </p:nvSpPr>
        <p:spPr>
          <a:xfrm>
            <a:off x="9646920" y="4599432"/>
            <a:ext cx="4640580" cy="1005840"/>
          </a:xfrm>
          <a:prstGeom prst="rect">
            <a:avLst/>
          </a:prstGeom>
          <a:solidFill>
            <a:srgbClr val="F5F0F7"/>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 name="TextBox 58"/>
          <p:cNvSpPr txBox="1"/>
          <p:nvPr/>
        </p:nvSpPr>
        <p:spPr>
          <a:xfrm>
            <a:off x="9738360" y="4800600"/>
            <a:ext cx="365760" cy="548640"/>
          </a:xfrm>
          <a:prstGeom prst="rect">
            <a:avLst/>
          </a:prstGeom>
          <a:noFill/>
        </p:spPr>
        <p:txBody>
          <a:bodyPr wrap="square" lIns="54864" rIns="54864" tIns="22860" bIns="22860">
            <a:spAutoFit/>
          </a:bodyPr>
          <a:lstStyle/>
          <a:p>
            <a:pPr>
              <a:lnSpc>
                <a:spcPts val="2100"/>
              </a:lnSpc>
              <a:spcBef>
                <a:spcPts val="0"/>
              </a:spcBef>
              <a:spcAft>
                <a:spcPts val="0"/>
              </a:spcAft>
              <a:defRPr sz="2000" b="1">
                <a:solidFill>
                  <a:srgbClr val="182B3A"/>
                </a:solidFill>
                <a:latin typeface="Arial"/>
              </a:defRPr>
            </a:pPr>
            <a:r>
              <a:t>4.</a:t>
            </a:r>
          </a:p>
        </p:txBody>
      </p:sp>
      <p:sp>
        <p:nvSpPr>
          <p:cNvPr id="60" name="TextBox 59"/>
          <p:cNvSpPr txBox="1"/>
          <p:nvPr/>
        </p:nvSpPr>
        <p:spPr>
          <a:xfrm>
            <a:off x="10131552" y="4800600"/>
            <a:ext cx="4059936" cy="594360"/>
          </a:xfrm>
          <a:prstGeom prst="rect">
            <a:avLst/>
          </a:prstGeom>
          <a:noFill/>
        </p:spPr>
        <p:txBody>
          <a:bodyPr wrap="square" lIns="54864" rIns="54864" tIns="22860" bIns="22860">
            <a:spAutoFit/>
          </a:bodyPr>
          <a:lstStyle/>
          <a:p>
            <a:pPr>
              <a:lnSpc>
                <a:spcPts val="2520"/>
              </a:lnSpc>
              <a:spcBef>
                <a:spcPts val="0"/>
              </a:spcBef>
              <a:spcAft>
                <a:spcPts val="0"/>
              </a:spcAft>
              <a:defRPr sz="2400" b="0">
                <a:solidFill>
                  <a:srgbClr val="182B3A"/>
                </a:solidFill>
                <a:latin typeface="Arial"/>
              </a:defRPr>
            </a:pPr>
            <a:r>
              <a:t>3x + 8 = x + 40</a:t>
            </a:r>
          </a:p>
        </p:txBody>
      </p:sp>
      <p:sp>
        <p:nvSpPr>
          <p:cNvPr id="61" name="Rectangle 60"/>
          <p:cNvSpPr/>
          <p:nvPr/>
        </p:nvSpPr>
        <p:spPr>
          <a:xfrm>
            <a:off x="9646920" y="5605272"/>
            <a:ext cx="4640580" cy="1005840"/>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 name="TextBox 61"/>
          <p:cNvSpPr txBox="1"/>
          <p:nvPr/>
        </p:nvSpPr>
        <p:spPr>
          <a:xfrm>
            <a:off x="9738360" y="5806440"/>
            <a:ext cx="365760" cy="548640"/>
          </a:xfrm>
          <a:prstGeom prst="rect">
            <a:avLst/>
          </a:prstGeom>
          <a:noFill/>
        </p:spPr>
        <p:txBody>
          <a:bodyPr wrap="square" lIns="54864" rIns="54864" tIns="22860" bIns="22860">
            <a:spAutoFit/>
          </a:bodyPr>
          <a:lstStyle/>
          <a:p>
            <a:pPr>
              <a:lnSpc>
                <a:spcPts val="2100"/>
              </a:lnSpc>
              <a:spcBef>
                <a:spcPts val="0"/>
              </a:spcBef>
              <a:spcAft>
                <a:spcPts val="0"/>
              </a:spcAft>
              <a:defRPr sz="2000" b="1">
                <a:solidFill>
                  <a:srgbClr val="182B3A"/>
                </a:solidFill>
                <a:latin typeface="Arial"/>
              </a:defRPr>
            </a:pPr>
            <a:r>
              <a:t>5.</a:t>
            </a:r>
          </a:p>
        </p:txBody>
      </p:sp>
      <p:sp>
        <p:nvSpPr>
          <p:cNvPr id="63" name="TextBox 62"/>
          <p:cNvSpPr txBox="1"/>
          <p:nvPr/>
        </p:nvSpPr>
        <p:spPr>
          <a:xfrm>
            <a:off x="10131552" y="5806440"/>
            <a:ext cx="4059936" cy="594360"/>
          </a:xfrm>
          <a:prstGeom prst="rect">
            <a:avLst/>
          </a:prstGeom>
          <a:noFill/>
        </p:spPr>
        <p:txBody>
          <a:bodyPr wrap="square" lIns="54864" rIns="54864" tIns="22860" bIns="22860">
            <a:spAutoFit/>
          </a:bodyPr>
          <a:lstStyle/>
          <a:p>
            <a:pPr>
              <a:lnSpc>
                <a:spcPts val="2520"/>
              </a:lnSpc>
              <a:spcBef>
                <a:spcPts val="0"/>
              </a:spcBef>
              <a:spcAft>
                <a:spcPts val="0"/>
              </a:spcAft>
              <a:defRPr sz="2400" b="0">
                <a:solidFill>
                  <a:srgbClr val="182B3A"/>
                </a:solidFill>
                <a:latin typeface="Arial"/>
              </a:defRPr>
            </a:pPr>
            <a:r>
              <a:t>5(x + 4) = -15</a:t>
            </a:r>
          </a:p>
        </p:txBody>
      </p:sp>
      <p:sp>
        <p:nvSpPr>
          <p:cNvPr id="64" name="Rectangle 63"/>
          <p:cNvSpPr/>
          <p:nvPr/>
        </p:nvSpPr>
        <p:spPr>
          <a:xfrm>
            <a:off x="9646920" y="6611112"/>
            <a:ext cx="4640580" cy="1005840"/>
          </a:xfrm>
          <a:prstGeom prst="rect">
            <a:avLst/>
          </a:prstGeom>
          <a:solidFill>
            <a:srgbClr val="F5F0F7"/>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5" name="TextBox 64"/>
          <p:cNvSpPr txBox="1"/>
          <p:nvPr/>
        </p:nvSpPr>
        <p:spPr>
          <a:xfrm>
            <a:off x="9738360" y="6812280"/>
            <a:ext cx="365760" cy="548640"/>
          </a:xfrm>
          <a:prstGeom prst="rect">
            <a:avLst/>
          </a:prstGeom>
          <a:noFill/>
        </p:spPr>
        <p:txBody>
          <a:bodyPr wrap="square" lIns="54864" rIns="54864" tIns="22860" bIns="22860">
            <a:spAutoFit/>
          </a:bodyPr>
          <a:lstStyle/>
          <a:p>
            <a:pPr>
              <a:lnSpc>
                <a:spcPts val="2100"/>
              </a:lnSpc>
              <a:spcBef>
                <a:spcPts val="0"/>
              </a:spcBef>
              <a:spcAft>
                <a:spcPts val="0"/>
              </a:spcAft>
              <a:defRPr sz="2000" b="1">
                <a:solidFill>
                  <a:srgbClr val="182B3A"/>
                </a:solidFill>
                <a:latin typeface="Arial"/>
              </a:defRPr>
            </a:pPr>
            <a:r>
              <a:t>6.</a:t>
            </a:r>
          </a:p>
        </p:txBody>
      </p:sp>
      <p:sp>
        <p:nvSpPr>
          <p:cNvPr id="66" name="TextBox 65"/>
          <p:cNvSpPr txBox="1"/>
          <p:nvPr/>
        </p:nvSpPr>
        <p:spPr>
          <a:xfrm>
            <a:off x="10131552" y="6812280"/>
            <a:ext cx="4059936" cy="594360"/>
          </a:xfrm>
          <a:prstGeom prst="rect">
            <a:avLst/>
          </a:prstGeom>
          <a:noFill/>
        </p:spPr>
        <p:txBody>
          <a:bodyPr wrap="square" lIns="54864" rIns="54864" tIns="22860" bIns="22860">
            <a:spAutoFit/>
          </a:bodyPr>
          <a:lstStyle/>
          <a:p>
            <a:pPr>
              <a:lnSpc>
                <a:spcPts val="2520"/>
              </a:lnSpc>
              <a:spcBef>
                <a:spcPts val="0"/>
              </a:spcBef>
              <a:spcAft>
                <a:spcPts val="0"/>
              </a:spcAft>
              <a:defRPr sz="2400" b="0">
                <a:solidFill>
                  <a:srgbClr val="182B3A"/>
                </a:solidFill>
                <a:latin typeface="Arial"/>
              </a:defRPr>
            </a:pPr>
            <a:r>
              <a:t>7(x + 6) = 91</a:t>
            </a:r>
          </a:p>
        </p:txBody>
      </p:sp>
      <p:sp>
        <p:nvSpPr>
          <p:cNvPr id="67" name="Progression curved arrow: Thread 1 to Thread 2"/>
          <p:cNvSpPr/>
          <p:nvPr/>
        </p:nvSpPr>
        <p:spPr>
          <a:xfrm>
            <a:off x="4649723" y="7552294"/>
            <a:ext cx="621792" cy="314053"/>
          </a:xfrm>
          <a:custGeom>
            <a:avLst/>
            <a:gdLst/>
            <a:ahLst/>
            <a:cxnLst/>
            <a:rect l="0" t="0" r="100000" b="100000"/>
            <a:pathLst>
              <a:path w="100000" h="100000" fill="none">
                <a:moveTo>
                  <a:pt x="6970" y="48439"/>
                </a:moveTo>
                <a:cubicBezTo>
                  <a:pt x="40678" y="114499"/>
                  <a:pt x="73026" y="88145"/>
                  <a:pt x="93030" y="13799"/>
                </a:cubicBezTo>
              </a:path>
              <a:path w="100000" h="100000" fill="none">
                <a:moveTo>
                  <a:pt x="69018" y="40431"/>
                </a:moveTo>
                <a:lnTo>
                  <a:pt x="93030" y="13799"/>
                </a:lnTo>
                <a:lnTo>
                  <a:pt x="92217" y="66207"/>
                </a:lnTo>
              </a:path>
            </a:pathLst>
          </a:custGeom>
          <a:noFill/>
          <a:ln w="64449" cap="rnd">
            <a:solidFill>
              <a:schemeClr val="accent6">
                <a:lumMod val="60000"/>
                <a:lumOff val="40000"/>
              </a:schemeClr>
            </a:solidFill>
            <a:round/>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68" name="Progression curved arrow: Thread 2 to Thread 3"/>
          <p:cNvSpPr/>
          <p:nvPr/>
        </p:nvSpPr>
        <p:spPr>
          <a:xfrm>
            <a:off x="9265327" y="7543800"/>
            <a:ext cx="621792" cy="314053"/>
          </a:xfrm>
          <a:custGeom>
            <a:avLst/>
            <a:gdLst/>
            <a:ahLst/>
            <a:cxnLst/>
            <a:rect l="0" t="0" r="100000" b="100000"/>
            <a:pathLst>
              <a:path w="100000" h="100000" fill="none">
                <a:moveTo>
                  <a:pt x="6970" y="48439"/>
                </a:moveTo>
                <a:cubicBezTo>
                  <a:pt x="40678" y="114499"/>
                  <a:pt x="73026" y="88145"/>
                  <a:pt x="93030" y="13799"/>
                </a:cubicBezTo>
              </a:path>
              <a:path w="100000" h="100000" fill="none">
                <a:moveTo>
                  <a:pt x="69018" y="40431"/>
                </a:moveTo>
                <a:lnTo>
                  <a:pt x="93030" y="13799"/>
                </a:lnTo>
                <a:lnTo>
                  <a:pt x="92217" y="66207"/>
                </a:lnTo>
              </a:path>
            </a:pathLst>
          </a:custGeom>
          <a:noFill/>
          <a:ln w="64449" cap="rnd">
            <a:solidFill>
              <a:schemeClr val="accent6">
                <a:lumMod val="60000"/>
                <a:lumOff val="40000"/>
              </a:schemeClr>
            </a:solidFill>
            <a:round/>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bg>
      <p:bgPr>
        <a:solidFill>
          <a:srgbClr val="F7F8FA"/>
        </a:solidFill>
        <a:effectLst/>
      </p:bgPr>
    </p:bg>
    <p:spTree>
      <p:nvGrpSpPr>
        <p:cNvPr id="1" name=""/>
        <p:cNvGrpSpPr/>
        <p:nvPr/>
      </p:nvGrpSpPr>
      <p:grpSpPr/>
      <p:sp>
        <p:nvSpPr>
          <p:cNvPr id="2" name="Rectangle 1"/>
          <p:cNvSpPr/>
          <p:nvPr/>
        </p:nvSpPr>
        <p:spPr>
          <a:xfrm>
            <a:off x="0" y="0"/>
            <a:ext cx="14630400" cy="73152"/>
          </a:xfrm>
          <a:prstGeom prst="rect">
            <a:avLst/>
          </a:prstGeom>
          <a:solidFill>
            <a:srgbClr val="176B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20040" y="164592"/>
            <a:ext cx="13990320" cy="457200"/>
          </a:xfrm>
          <a:prstGeom prst="rect">
            <a:avLst/>
          </a:prstGeom>
          <a:noFill/>
        </p:spPr>
        <p:txBody>
          <a:bodyPr wrap="square" lIns="54864" rIns="54864" tIns="22860" bIns="22860">
            <a:spAutoFit/>
          </a:bodyPr>
          <a:lstStyle/>
          <a:p>
            <a:pPr>
              <a:lnSpc>
                <a:spcPts val="2940"/>
              </a:lnSpc>
              <a:spcBef>
                <a:spcPts val="0"/>
              </a:spcBef>
              <a:spcAft>
                <a:spcPts val="0"/>
              </a:spcAft>
              <a:defRPr sz="2800" b="1">
                <a:solidFill>
                  <a:srgbClr val="182B3A"/>
                </a:solidFill>
                <a:latin typeface="Arial"/>
              </a:defRPr>
            </a:pPr>
            <a:r>
              <a:t>Adding and subtracting fractions</a:t>
            </a:r>
          </a:p>
        </p:txBody>
      </p:sp>
      <p:sp>
        <p:nvSpPr>
          <p:cNvPr id="4" name="TextBox 3"/>
          <p:cNvSpPr txBox="1"/>
          <p:nvPr/>
        </p:nvSpPr>
        <p:spPr>
          <a:xfrm>
            <a:off x="320040" y="704088"/>
            <a:ext cx="13990320" cy="347472"/>
          </a:xfrm>
          <a:prstGeom prst="rect">
            <a:avLst/>
          </a:prstGeom>
          <a:noFill/>
        </p:spPr>
        <p:txBody>
          <a:bodyPr wrap="square" lIns="54864" rIns="54864" tIns="22860" bIns="22860">
            <a:spAutoFit/>
          </a:bodyPr>
          <a:lstStyle/>
          <a:p>
            <a:pPr>
              <a:lnSpc>
                <a:spcPts val="1575"/>
              </a:lnSpc>
              <a:spcBef>
                <a:spcPts val="0"/>
              </a:spcBef>
              <a:spcAft>
                <a:spcPts val="0"/>
              </a:spcAft>
              <a:defRPr sz="1500" b="0">
                <a:solidFill>
                  <a:srgbClr val="526472"/>
                </a:solidFill>
                <a:latin typeface="Arial"/>
              </a:defRPr>
            </a:pPr>
            <a:r>
              <a:t>Initial assessment • Calculate and simplify. Show your working.</a:t>
            </a:r>
          </a:p>
        </p:txBody>
      </p:sp>
      <p:sp>
        <p:nvSpPr>
          <p:cNvPr id="5" name="TextBox 4"/>
          <p:cNvSpPr txBox="1"/>
          <p:nvPr/>
        </p:nvSpPr>
        <p:spPr>
          <a:xfrm>
            <a:off x="320040" y="7973568"/>
            <a:ext cx="10789920" cy="210312"/>
          </a:xfrm>
          <a:prstGeom prst="rect">
            <a:avLst/>
          </a:prstGeom>
          <a:noFill/>
        </p:spPr>
        <p:txBody>
          <a:bodyPr wrap="square" lIns="54864" rIns="54864" tIns="22860" bIns="22860">
            <a:spAutoFit/>
          </a:bodyPr>
          <a:lstStyle/>
          <a:p>
            <a:pPr>
              <a:lnSpc>
                <a:spcPts val="1155"/>
              </a:lnSpc>
              <a:spcBef>
                <a:spcPts val="0"/>
              </a:spcBef>
              <a:spcAft>
                <a:spcPts val="0"/>
              </a:spcAft>
              <a:defRPr sz="1100" b="0">
                <a:solidFill>
                  <a:srgbClr val="526472"/>
                </a:solidFill>
                <a:latin typeface="Arial"/>
              </a:defRPr>
            </a:pPr>
            <a:r>
              <a:t>GCSE Maths revision • No calculator • Show your working.</a:t>
            </a:r>
          </a:p>
        </p:txBody>
      </p:sp>
      <p:sp>
        <p:nvSpPr>
          <p:cNvPr id="6" name="TextBox 5"/>
          <p:cNvSpPr txBox="1"/>
          <p:nvPr/>
        </p:nvSpPr>
        <p:spPr>
          <a:xfrm>
            <a:off x="11155680" y="7973568"/>
            <a:ext cx="3108960" cy="210312"/>
          </a:xfrm>
          <a:prstGeom prst="rect">
            <a:avLst/>
          </a:prstGeom>
          <a:noFill/>
        </p:spPr>
        <p:txBody>
          <a:bodyPr wrap="square" lIns="54864" rIns="54864" tIns="22860" bIns="22860">
            <a:spAutoFit/>
          </a:bodyPr>
          <a:lstStyle/>
          <a:p>
            <a:pPr>
              <a:lnSpc>
                <a:spcPts val="1155"/>
              </a:lnSpc>
              <a:spcBef>
                <a:spcPts val="0"/>
              </a:spcBef>
              <a:spcAft>
                <a:spcPts val="0"/>
              </a:spcAft>
              <a:defRPr sz="1100" b="0">
                <a:solidFill>
                  <a:srgbClr val="526472"/>
                </a:solidFill>
                <a:latin typeface="Arial"/>
              </a:defRPr>
            </a:pPr>
            <a:r>
              <a:t>M15-IA</a:t>
            </a:r>
          </a:p>
        </p:txBody>
      </p:sp>
      <p:sp>
        <p:nvSpPr>
          <p:cNvPr id="7" name="Rectangle 6"/>
          <p:cNvSpPr/>
          <p:nvPr/>
        </p:nvSpPr>
        <p:spPr>
          <a:xfrm>
            <a:off x="384048" y="1508760"/>
            <a:ext cx="6839712" cy="2816352"/>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21207" y="1691639"/>
            <a:ext cx="365760" cy="365760"/>
          </a:xfrm>
          <a:prstGeom prst="rect">
            <a:avLst/>
          </a:prstGeom>
          <a:noFill/>
        </p:spPr>
        <p:txBody>
          <a:bodyPr wrap="square" lIns="54864" rIns="54864" tIns="22860" bIns="22860">
            <a:spAutoFit/>
          </a:bodyPr>
          <a:lstStyle/>
          <a:p>
            <a:pPr>
              <a:lnSpc>
                <a:spcPts val="2415"/>
              </a:lnSpc>
              <a:spcBef>
                <a:spcPts val="0"/>
              </a:spcBef>
              <a:spcAft>
                <a:spcPts val="0"/>
              </a:spcAft>
              <a:defRPr sz="2300" b="1">
                <a:solidFill>
                  <a:srgbClr val="182B3A"/>
                </a:solidFill>
                <a:latin typeface="Arial"/>
              </a:defRPr>
            </a:pPr>
            <a:r>
              <a:t>1.</a:t>
            </a:r>
          </a:p>
        </p:txBody>
      </p:sp>
      <p:sp>
        <p:nvSpPr>
          <p:cNvPr id="9" name="TextBox 8"/>
          <p:cNvSpPr txBox="1"/>
          <p:nvPr/>
        </p:nvSpPr>
        <p:spPr>
          <a:xfrm>
            <a:off x="1051560" y="1783080"/>
            <a:ext cx="271653" cy="256032"/>
          </a:xfrm>
          <a:prstGeom prst="rect">
            <a:avLst/>
          </a:prstGeom>
          <a:noFill/>
        </p:spPr>
        <p:txBody>
          <a:bodyPr wrap="none" lIns="0" rIns="0" tIns="0" bIns="0">
            <a:spAutoFit/>
          </a:bodyPr>
          <a:lstStyle/>
          <a:p>
            <a:pPr algn="ctr">
              <a:lnSpc>
                <a:spcPts val="2576"/>
              </a:lnSpc>
              <a:spcAft>
                <a:spcPts val="0"/>
              </a:spcAft>
              <a:defRPr sz="2300" b="0">
                <a:solidFill>
                  <a:srgbClr val="182B3A"/>
                </a:solidFill>
                <a:latin typeface="Arial"/>
              </a:defRPr>
            </a:pPr>
            <a:r>
              <a:t>2</a:t>
            </a:r>
          </a:p>
        </p:txBody>
      </p:sp>
      <p:cxnSp>
        <p:nvCxnSpPr>
          <p:cNvPr id="10" name="Connector 9"/>
          <p:cNvCxnSpPr/>
          <p:nvPr/>
        </p:nvCxnSpPr>
        <p:spPr>
          <a:xfrm>
            <a:off x="1051560" y="2048255"/>
            <a:ext cx="271653" cy="0"/>
          </a:xfrm>
          <a:prstGeom prst="line">
            <a:avLst/>
          </a:prstGeom>
          <a:ln w="12700">
            <a:solidFill>
              <a:srgbClr val="182B3A"/>
            </a:solidFill>
          </a:ln>
          <a:effectLst/>
        </p:spPr>
        <p:style>
          <a:lnRef idx="2">
            <a:schemeClr val="accent1"/>
          </a:lnRef>
          <a:fillRef idx="0">
            <a:schemeClr val="accent1"/>
          </a:fillRef>
          <a:effectRef idx="1">
            <a:schemeClr val="accent1"/>
          </a:effectRef>
          <a:fontRef idx="minor">
            <a:schemeClr val="tx1"/>
          </a:fontRef>
        </p:style>
      </p:cxnSp>
      <p:sp>
        <p:nvSpPr>
          <p:cNvPr id="11" name="TextBox 10"/>
          <p:cNvSpPr txBox="1"/>
          <p:nvPr/>
        </p:nvSpPr>
        <p:spPr>
          <a:xfrm>
            <a:off x="1051560" y="2066543"/>
            <a:ext cx="271653" cy="256032"/>
          </a:xfrm>
          <a:prstGeom prst="rect">
            <a:avLst/>
          </a:prstGeom>
          <a:noFill/>
        </p:spPr>
        <p:txBody>
          <a:bodyPr wrap="none" lIns="0" rIns="0" tIns="0" bIns="0">
            <a:spAutoFit/>
          </a:bodyPr>
          <a:lstStyle/>
          <a:p>
            <a:pPr algn="ctr">
              <a:lnSpc>
                <a:spcPts val="2576"/>
              </a:lnSpc>
              <a:spcAft>
                <a:spcPts val="0"/>
              </a:spcAft>
              <a:defRPr sz="2300" b="0">
                <a:solidFill>
                  <a:srgbClr val="182B3A"/>
                </a:solidFill>
                <a:latin typeface="Arial"/>
              </a:defRPr>
            </a:pPr>
            <a:r>
              <a:t>7</a:t>
            </a:r>
          </a:p>
        </p:txBody>
      </p:sp>
      <p:sp>
        <p:nvSpPr>
          <p:cNvPr id="12" name="TextBox 11"/>
          <p:cNvSpPr txBox="1"/>
          <p:nvPr/>
        </p:nvSpPr>
        <p:spPr>
          <a:xfrm>
            <a:off x="1378077" y="1901952"/>
            <a:ext cx="446531" cy="347472"/>
          </a:xfrm>
          <a:prstGeom prst="rect">
            <a:avLst/>
          </a:prstGeom>
          <a:noFill/>
        </p:spPr>
        <p:txBody>
          <a:bodyPr wrap="none" lIns="0" rIns="0" tIns="0" bIns="0">
            <a:spAutoFit/>
          </a:bodyPr>
          <a:lstStyle/>
          <a:p>
            <a:pPr algn="l">
              <a:lnSpc>
                <a:spcPts val="3248"/>
              </a:lnSpc>
              <a:spcAft>
                <a:spcPts val="0"/>
              </a:spcAft>
              <a:defRPr sz="2900" b="0">
                <a:solidFill>
                  <a:srgbClr val="182B3A"/>
                </a:solidFill>
                <a:latin typeface="Arial"/>
              </a:defRPr>
            </a:pPr>
            <a:r>
              <a:t> + </a:t>
            </a:r>
          </a:p>
        </p:txBody>
      </p:sp>
      <p:sp>
        <p:nvSpPr>
          <p:cNvPr id="13" name="TextBox 12"/>
          <p:cNvSpPr txBox="1"/>
          <p:nvPr/>
        </p:nvSpPr>
        <p:spPr>
          <a:xfrm>
            <a:off x="1824609" y="1783080"/>
            <a:ext cx="271653" cy="256032"/>
          </a:xfrm>
          <a:prstGeom prst="rect">
            <a:avLst/>
          </a:prstGeom>
          <a:noFill/>
        </p:spPr>
        <p:txBody>
          <a:bodyPr wrap="none" lIns="0" rIns="0" tIns="0" bIns="0">
            <a:spAutoFit/>
          </a:bodyPr>
          <a:lstStyle/>
          <a:p>
            <a:pPr algn="ctr">
              <a:lnSpc>
                <a:spcPts val="2576"/>
              </a:lnSpc>
              <a:spcAft>
                <a:spcPts val="0"/>
              </a:spcAft>
              <a:defRPr sz="2300" b="0">
                <a:solidFill>
                  <a:srgbClr val="182B3A"/>
                </a:solidFill>
                <a:latin typeface="Arial"/>
              </a:defRPr>
            </a:pPr>
            <a:r>
              <a:t>3</a:t>
            </a:r>
          </a:p>
        </p:txBody>
      </p:sp>
      <p:cxnSp>
        <p:nvCxnSpPr>
          <p:cNvPr id="14" name="Connector 13"/>
          <p:cNvCxnSpPr/>
          <p:nvPr/>
        </p:nvCxnSpPr>
        <p:spPr>
          <a:xfrm>
            <a:off x="1824609" y="2048255"/>
            <a:ext cx="271653" cy="0"/>
          </a:xfrm>
          <a:prstGeom prst="line">
            <a:avLst/>
          </a:prstGeom>
          <a:ln w="12700">
            <a:solidFill>
              <a:srgbClr val="182B3A"/>
            </a:solidFill>
          </a:ln>
          <a:effectLst/>
        </p:spPr>
        <p:style>
          <a:lnRef idx="2">
            <a:schemeClr val="accent1"/>
          </a:lnRef>
          <a:fillRef idx="0">
            <a:schemeClr val="accent1"/>
          </a:fillRef>
          <a:effectRef idx="1">
            <a:schemeClr val="accent1"/>
          </a:effectRef>
          <a:fontRef idx="minor">
            <a:schemeClr val="tx1"/>
          </a:fontRef>
        </p:style>
      </p:cxnSp>
      <p:sp>
        <p:nvSpPr>
          <p:cNvPr id="15" name="TextBox 14"/>
          <p:cNvSpPr txBox="1"/>
          <p:nvPr/>
        </p:nvSpPr>
        <p:spPr>
          <a:xfrm>
            <a:off x="1824609" y="2066543"/>
            <a:ext cx="271653" cy="256032"/>
          </a:xfrm>
          <a:prstGeom prst="rect">
            <a:avLst/>
          </a:prstGeom>
          <a:noFill/>
        </p:spPr>
        <p:txBody>
          <a:bodyPr wrap="none" lIns="0" rIns="0" tIns="0" bIns="0">
            <a:spAutoFit/>
          </a:bodyPr>
          <a:lstStyle/>
          <a:p>
            <a:pPr algn="ctr">
              <a:lnSpc>
                <a:spcPts val="2576"/>
              </a:lnSpc>
              <a:spcAft>
                <a:spcPts val="0"/>
              </a:spcAft>
              <a:defRPr sz="2300" b="0">
                <a:solidFill>
                  <a:srgbClr val="182B3A"/>
                </a:solidFill>
                <a:latin typeface="Arial"/>
              </a:defRPr>
            </a:pPr>
            <a:r>
              <a:t>7</a:t>
            </a:r>
          </a:p>
        </p:txBody>
      </p:sp>
      <p:sp>
        <p:nvSpPr>
          <p:cNvPr id="16" name="Rectangle 15"/>
          <p:cNvSpPr/>
          <p:nvPr/>
        </p:nvSpPr>
        <p:spPr>
          <a:xfrm>
            <a:off x="7379208" y="1508760"/>
            <a:ext cx="6839712" cy="2816352"/>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516368" y="1691639"/>
            <a:ext cx="365760" cy="365760"/>
          </a:xfrm>
          <a:prstGeom prst="rect">
            <a:avLst/>
          </a:prstGeom>
          <a:noFill/>
        </p:spPr>
        <p:txBody>
          <a:bodyPr wrap="square" lIns="54864" rIns="54864" tIns="22860" bIns="22860">
            <a:spAutoFit/>
          </a:bodyPr>
          <a:lstStyle/>
          <a:p>
            <a:pPr>
              <a:lnSpc>
                <a:spcPts val="2415"/>
              </a:lnSpc>
              <a:spcBef>
                <a:spcPts val="0"/>
              </a:spcBef>
              <a:spcAft>
                <a:spcPts val="0"/>
              </a:spcAft>
              <a:defRPr sz="2300" b="1">
                <a:solidFill>
                  <a:srgbClr val="182B3A"/>
                </a:solidFill>
                <a:latin typeface="Arial"/>
              </a:defRPr>
            </a:pPr>
            <a:r>
              <a:t>2.</a:t>
            </a:r>
          </a:p>
        </p:txBody>
      </p:sp>
      <p:sp>
        <p:nvSpPr>
          <p:cNvPr id="18" name="TextBox 17"/>
          <p:cNvSpPr txBox="1"/>
          <p:nvPr/>
        </p:nvSpPr>
        <p:spPr>
          <a:xfrm>
            <a:off x="8046720" y="1783080"/>
            <a:ext cx="271653" cy="256032"/>
          </a:xfrm>
          <a:prstGeom prst="rect">
            <a:avLst/>
          </a:prstGeom>
          <a:noFill/>
        </p:spPr>
        <p:txBody>
          <a:bodyPr wrap="none" lIns="0" rIns="0" tIns="0" bIns="0">
            <a:spAutoFit/>
          </a:bodyPr>
          <a:lstStyle/>
          <a:p>
            <a:pPr algn="ctr">
              <a:lnSpc>
                <a:spcPts val="2576"/>
              </a:lnSpc>
              <a:spcAft>
                <a:spcPts val="0"/>
              </a:spcAft>
              <a:defRPr sz="2300" b="0">
                <a:solidFill>
                  <a:srgbClr val="182B3A"/>
                </a:solidFill>
                <a:latin typeface="Arial"/>
              </a:defRPr>
            </a:pPr>
            <a:r>
              <a:t>7</a:t>
            </a:r>
          </a:p>
        </p:txBody>
      </p:sp>
      <p:cxnSp>
        <p:nvCxnSpPr>
          <p:cNvPr id="19" name="Connector 18"/>
          <p:cNvCxnSpPr/>
          <p:nvPr/>
        </p:nvCxnSpPr>
        <p:spPr>
          <a:xfrm>
            <a:off x="8046720" y="2048255"/>
            <a:ext cx="271653" cy="0"/>
          </a:xfrm>
          <a:prstGeom prst="line">
            <a:avLst/>
          </a:prstGeom>
          <a:ln w="12700">
            <a:solidFill>
              <a:srgbClr val="182B3A"/>
            </a:solidFill>
          </a:ln>
          <a:effectLst/>
        </p:spPr>
        <p:style>
          <a:lnRef idx="2">
            <a:schemeClr val="accent1"/>
          </a:lnRef>
          <a:fillRef idx="0">
            <a:schemeClr val="accent1"/>
          </a:fillRef>
          <a:effectRef idx="1">
            <a:schemeClr val="accent1"/>
          </a:effectRef>
          <a:fontRef idx="minor">
            <a:schemeClr val="tx1"/>
          </a:fontRef>
        </p:style>
      </p:cxnSp>
      <p:sp>
        <p:nvSpPr>
          <p:cNvPr id="20" name="TextBox 19"/>
          <p:cNvSpPr txBox="1"/>
          <p:nvPr/>
        </p:nvSpPr>
        <p:spPr>
          <a:xfrm>
            <a:off x="8046720" y="2066543"/>
            <a:ext cx="271653" cy="256032"/>
          </a:xfrm>
          <a:prstGeom prst="rect">
            <a:avLst/>
          </a:prstGeom>
          <a:noFill/>
        </p:spPr>
        <p:txBody>
          <a:bodyPr wrap="none" lIns="0" rIns="0" tIns="0" bIns="0">
            <a:spAutoFit/>
          </a:bodyPr>
          <a:lstStyle/>
          <a:p>
            <a:pPr algn="ctr">
              <a:lnSpc>
                <a:spcPts val="2576"/>
              </a:lnSpc>
              <a:spcAft>
                <a:spcPts val="0"/>
              </a:spcAft>
              <a:defRPr sz="2300" b="0">
                <a:solidFill>
                  <a:srgbClr val="182B3A"/>
                </a:solidFill>
                <a:latin typeface="Arial"/>
              </a:defRPr>
            </a:pPr>
            <a:r>
              <a:t>9</a:t>
            </a:r>
          </a:p>
        </p:txBody>
      </p:sp>
      <p:sp>
        <p:nvSpPr>
          <p:cNvPr id="21" name="TextBox 20"/>
          <p:cNvSpPr txBox="1"/>
          <p:nvPr/>
        </p:nvSpPr>
        <p:spPr>
          <a:xfrm>
            <a:off x="8373237" y="1901952"/>
            <a:ext cx="446531" cy="347472"/>
          </a:xfrm>
          <a:prstGeom prst="rect">
            <a:avLst/>
          </a:prstGeom>
          <a:noFill/>
        </p:spPr>
        <p:txBody>
          <a:bodyPr wrap="none" lIns="0" rIns="0" tIns="0" bIns="0">
            <a:spAutoFit/>
          </a:bodyPr>
          <a:lstStyle/>
          <a:p>
            <a:pPr algn="l">
              <a:lnSpc>
                <a:spcPts val="3248"/>
              </a:lnSpc>
              <a:spcAft>
                <a:spcPts val="0"/>
              </a:spcAft>
              <a:defRPr sz="2900" b="0">
                <a:solidFill>
                  <a:srgbClr val="182B3A"/>
                </a:solidFill>
                <a:latin typeface="Arial"/>
              </a:defRPr>
            </a:pPr>
            <a:r>
              <a:t> − </a:t>
            </a:r>
          </a:p>
        </p:txBody>
      </p:sp>
      <p:sp>
        <p:nvSpPr>
          <p:cNvPr id="22" name="TextBox 21"/>
          <p:cNvSpPr txBox="1"/>
          <p:nvPr/>
        </p:nvSpPr>
        <p:spPr>
          <a:xfrm>
            <a:off x="8819769" y="1783080"/>
            <a:ext cx="271653" cy="256032"/>
          </a:xfrm>
          <a:prstGeom prst="rect">
            <a:avLst/>
          </a:prstGeom>
          <a:noFill/>
        </p:spPr>
        <p:txBody>
          <a:bodyPr wrap="none" lIns="0" rIns="0" tIns="0" bIns="0">
            <a:spAutoFit/>
          </a:bodyPr>
          <a:lstStyle/>
          <a:p>
            <a:pPr algn="ctr">
              <a:lnSpc>
                <a:spcPts val="2576"/>
              </a:lnSpc>
              <a:spcAft>
                <a:spcPts val="0"/>
              </a:spcAft>
              <a:defRPr sz="2300" b="0">
                <a:solidFill>
                  <a:srgbClr val="182B3A"/>
                </a:solidFill>
                <a:latin typeface="Arial"/>
              </a:defRPr>
            </a:pPr>
            <a:r>
              <a:t>2</a:t>
            </a:r>
          </a:p>
        </p:txBody>
      </p:sp>
      <p:cxnSp>
        <p:nvCxnSpPr>
          <p:cNvPr id="23" name="Connector 22"/>
          <p:cNvCxnSpPr/>
          <p:nvPr/>
        </p:nvCxnSpPr>
        <p:spPr>
          <a:xfrm>
            <a:off x="8819769" y="2048255"/>
            <a:ext cx="271653" cy="0"/>
          </a:xfrm>
          <a:prstGeom prst="line">
            <a:avLst/>
          </a:prstGeom>
          <a:ln w="12700">
            <a:solidFill>
              <a:srgbClr val="182B3A"/>
            </a:solidFill>
          </a:ln>
          <a:effectLst/>
        </p:spPr>
        <p:style>
          <a:lnRef idx="2">
            <a:schemeClr val="accent1"/>
          </a:lnRef>
          <a:fillRef idx="0">
            <a:schemeClr val="accent1"/>
          </a:fillRef>
          <a:effectRef idx="1">
            <a:schemeClr val="accent1"/>
          </a:effectRef>
          <a:fontRef idx="minor">
            <a:schemeClr val="tx1"/>
          </a:fontRef>
        </p:style>
      </p:cxnSp>
      <p:sp>
        <p:nvSpPr>
          <p:cNvPr id="24" name="TextBox 23"/>
          <p:cNvSpPr txBox="1"/>
          <p:nvPr/>
        </p:nvSpPr>
        <p:spPr>
          <a:xfrm>
            <a:off x="8819769" y="2066543"/>
            <a:ext cx="271653" cy="256032"/>
          </a:xfrm>
          <a:prstGeom prst="rect">
            <a:avLst/>
          </a:prstGeom>
          <a:noFill/>
        </p:spPr>
        <p:txBody>
          <a:bodyPr wrap="none" lIns="0" rIns="0" tIns="0" bIns="0">
            <a:spAutoFit/>
          </a:bodyPr>
          <a:lstStyle/>
          <a:p>
            <a:pPr algn="ctr">
              <a:lnSpc>
                <a:spcPts val="2576"/>
              </a:lnSpc>
              <a:spcAft>
                <a:spcPts val="0"/>
              </a:spcAft>
              <a:defRPr sz="2300" b="0">
                <a:solidFill>
                  <a:srgbClr val="182B3A"/>
                </a:solidFill>
                <a:latin typeface="Arial"/>
              </a:defRPr>
            </a:pPr>
            <a:r>
              <a:t>9</a:t>
            </a:r>
          </a:p>
        </p:txBody>
      </p:sp>
      <p:sp>
        <p:nvSpPr>
          <p:cNvPr id="25" name="Rectangle 24"/>
          <p:cNvSpPr/>
          <p:nvPr/>
        </p:nvSpPr>
        <p:spPr>
          <a:xfrm>
            <a:off x="384048" y="4526279"/>
            <a:ext cx="6839712" cy="2816352"/>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521207" y="4709159"/>
            <a:ext cx="365760" cy="365760"/>
          </a:xfrm>
          <a:prstGeom prst="rect">
            <a:avLst/>
          </a:prstGeom>
          <a:noFill/>
        </p:spPr>
        <p:txBody>
          <a:bodyPr wrap="square" lIns="54864" rIns="54864" tIns="22860" bIns="22860">
            <a:spAutoFit/>
          </a:bodyPr>
          <a:lstStyle/>
          <a:p>
            <a:pPr>
              <a:lnSpc>
                <a:spcPts val="2415"/>
              </a:lnSpc>
              <a:spcBef>
                <a:spcPts val="0"/>
              </a:spcBef>
              <a:spcAft>
                <a:spcPts val="0"/>
              </a:spcAft>
              <a:defRPr sz="2300" b="1">
                <a:solidFill>
                  <a:srgbClr val="182B3A"/>
                </a:solidFill>
                <a:latin typeface="Arial"/>
              </a:defRPr>
            </a:pPr>
            <a:r>
              <a:t>3.</a:t>
            </a:r>
          </a:p>
        </p:txBody>
      </p:sp>
      <p:sp>
        <p:nvSpPr>
          <p:cNvPr id="27" name="TextBox 26"/>
          <p:cNvSpPr txBox="1"/>
          <p:nvPr/>
        </p:nvSpPr>
        <p:spPr>
          <a:xfrm>
            <a:off x="1051560" y="4800599"/>
            <a:ext cx="271653" cy="256032"/>
          </a:xfrm>
          <a:prstGeom prst="rect">
            <a:avLst/>
          </a:prstGeom>
          <a:noFill/>
        </p:spPr>
        <p:txBody>
          <a:bodyPr wrap="none" lIns="0" rIns="0" tIns="0" bIns="0">
            <a:spAutoFit/>
          </a:bodyPr>
          <a:lstStyle/>
          <a:p>
            <a:pPr algn="ctr">
              <a:lnSpc>
                <a:spcPts val="2576"/>
              </a:lnSpc>
              <a:spcAft>
                <a:spcPts val="0"/>
              </a:spcAft>
              <a:defRPr sz="2300" b="0">
                <a:solidFill>
                  <a:srgbClr val="182B3A"/>
                </a:solidFill>
                <a:latin typeface="Arial"/>
              </a:defRPr>
            </a:pPr>
            <a:r>
              <a:t>1</a:t>
            </a:r>
          </a:p>
        </p:txBody>
      </p:sp>
      <p:cxnSp>
        <p:nvCxnSpPr>
          <p:cNvPr id="28" name="Connector 27"/>
          <p:cNvCxnSpPr/>
          <p:nvPr/>
        </p:nvCxnSpPr>
        <p:spPr>
          <a:xfrm>
            <a:off x="1051560" y="5065775"/>
            <a:ext cx="271653" cy="0"/>
          </a:xfrm>
          <a:prstGeom prst="line">
            <a:avLst/>
          </a:prstGeom>
          <a:ln w="12700">
            <a:solidFill>
              <a:srgbClr val="182B3A"/>
            </a:solidFill>
          </a:ln>
          <a:effectLst/>
        </p:spPr>
        <p:style>
          <a:lnRef idx="2">
            <a:schemeClr val="accent1"/>
          </a:lnRef>
          <a:fillRef idx="0">
            <a:schemeClr val="accent1"/>
          </a:fillRef>
          <a:effectRef idx="1">
            <a:schemeClr val="accent1"/>
          </a:effectRef>
          <a:fontRef idx="minor">
            <a:schemeClr val="tx1"/>
          </a:fontRef>
        </p:style>
      </p:cxnSp>
      <p:sp>
        <p:nvSpPr>
          <p:cNvPr id="29" name="TextBox 28"/>
          <p:cNvSpPr txBox="1"/>
          <p:nvPr/>
        </p:nvSpPr>
        <p:spPr>
          <a:xfrm>
            <a:off x="1051560" y="5084063"/>
            <a:ext cx="271653" cy="256032"/>
          </a:xfrm>
          <a:prstGeom prst="rect">
            <a:avLst/>
          </a:prstGeom>
          <a:noFill/>
        </p:spPr>
        <p:txBody>
          <a:bodyPr wrap="none" lIns="0" rIns="0" tIns="0" bIns="0">
            <a:spAutoFit/>
          </a:bodyPr>
          <a:lstStyle/>
          <a:p>
            <a:pPr algn="ctr">
              <a:lnSpc>
                <a:spcPts val="2576"/>
              </a:lnSpc>
              <a:spcAft>
                <a:spcPts val="0"/>
              </a:spcAft>
              <a:defRPr sz="2300" b="0">
                <a:solidFill>
                  <a:srgbClr val="182B3A"/>
                </a:solidFill>
                <a:latin typeface="Arial"/>
              </a:defRPr>
            </a:pPr>
            <a:r>
              <a:t>3</a:t>
            </a:r>
          </a:p>
        </p:txBody>
      </p:sp>
      <p:sp>
        <p:nvSpPr>
          <p:cNvPr id="30" name="TextBox 29"/>
          <p:cNvSpPr txBox="1"/>
          <p:nvPr/>
        </p:nvSpPr>
        <p:spPr>
          <a:xfrm>
            <a:off x="1378077" y="4919471"/>
            <a:ext cx="446531" cy="347472"/>
          </a:xfrm>
          <a:prstGeom prst="rect">
            <a:avLst/>
          </a:prstGeom>
          <a:noFill/>
        </p:spPr>
        <p:txBody>
          <a:bodyPr wrap="none" lIns="0" rIns="0" tIns="0" bIns="0">
            <a:spAutoFit/>
          </a:bodyPr>
          <a:lstStyle/>
          <a:p>
            <a:pPr algn="l">
              <a:lnSpc>
                <a:spcPts val="3248"/>
              </a:lnSpc>
              <a:spcAft>
                <a:spcPts val="0"/>
              </a:spcAft>
              <a:defRPr sz="2900" b="0">
                <a:solidFill>
                  <a:srgbClr val="182B3A"/>
                </a:solidFill>
                <a:latin typeface="Arial"/>
              </a:defRPr>
            </a:pPr>
            <a:r>
              <a:t> + </a:t>
            </a:r>
          </a:p>
        </p:txBody>
      </p:sp>
      <p:sp>
        <p:nvSpPr>
          <p:cNvPr id="31" name="TextBox 30"/>
          <p:cNvSpPr txBox="1"/>
          <p:nvPr/>
        </p:nvSpPr>
        <p:spPr>
          <a:xfrm>
            <a:off x="1824609" y="4800599"/>
            <a:ext cx="271653" cy="256032"/>
          </a:xfrm>
          <a:prstGeom prst="rect">
            <a:avLst/>
          </a:prstGeom>
          <a:noFill/>
        </p:spPr>
        <p:txBody>
          <a:bodyPr wrap="none" lIns="0" rIns="0" tIns="0" bIns="0">
            <a:spAutoFit/>
          </a:bodyPr>
          <a:lstStyle/>
          <a:p>
            <a:pPr algn="ctr">
              <a:lnSpc>
                <a:spcPts val="2576"/>
              </a:lnSpc>
              <a:spcAft>
                <a:spcPts val="0"/>
              </a:spcAft>
              <a:defRPr sz="2300" b="0">
                <a:solidFill>
                  <a:srgbClr val="182B3A"/>
                </a:solidFill>
                <a:latin typeface="Arial"/>
              </a:defRPr>
            </a:pPr>
            <a:r>
              <a:t>1</a:t>
            </a:r>
          </a:p>
        </p:txBody>
      </p:sp>
      <p:cxnSp>
        <p:nvCxnSpPr>
          <p:cNvPr id="32" name="Connector 31"/>
          <p:cNvCxnSpPr/>
          <p:nvPr/>
        </p:nvCxnSpPr>
        <p:spPr>
          <a:xfrm>
            <a:off x="1824609" y="5065775"/>
            <a:ext cx="271653" cy="0"/>
          </a:xfrm>
          <a:prstGeom prst="line">
            <a:avLst/>
          </a:prstGeom>
          <a:ln w="12700">
            <a:solidFill>
              <a:srgbClr val="182B3A"/>
            </a:solidFill>
          </a:ln>
          <a:effectLst/>
        </p:spPr>
        <p:style>
          <a:lnRef idx="2">
            <a:schemeClr val="accent1"/>
          </a:lnRef>
          <a:fillRef idx="0">
            <a:schemeClr val="accent1"/>
          </a:fillRef>
          <a:effectRef idx="1">
            <a:schemeClr val="accent1"/>
          </a:effectRef>
          <a:fontRef idx="minor">
            <a:schemeClr val="tx1"/>
          </a:fontRef>
        </p:style>
      </p:cxnSp>
      <p:sp>
        <p:nvSpPr>
          <p:cNvPr id="33" name="TextBox 32"/>
          <p:cNvSpPr txBox="1"/>
          <p:nvPr/>
        </p:nvSpPr>
        <p:spPr>
          <a:xfrm>
            <a:off x="1824609" y="5084063"/>
            <a:ext cx="271653" cy="256032"/>
          </a:xfrm>
          <a:prstGeom prst="rect">
            <a:avLst/>
          </a:prstGeom>
          <a:noFill/>
        </p:spPr>
        <p:txBody>
          <a:bodyPr wrap="none" lIns="0" rIns="0" tIns="0" bIns="0">
            <a:spAutoFit/>
          </a:bodyPr>
          <a:lstStyle/>
          <a:p>
            <a:pPr algn="ctr">
              <a:lnSpc>
                <a:spcPts val="2576"/>
              </a:lnSpc>
              <a:spcAft>
                <a:spcPts val="0"/>
              </a:spcAft>
              <a:defRPr sz="2300" b="0">
                <a:solidFill>
                  <a:srgbClr val="182B3A"/>
                </a:solidFill>
                <a:latin typeface="Arial"/>
              </a:defRPr>
            </a:pPr>
            <a:r>
              <a:t>6</a:t>
            </a:r>
          </a:p>
        </p:txBody>
      </p:sp>
      <p:sp>
        <p:nvSpPr>
          <p:cNvPr id="34" name="Rectangle 33"/>
          <p:cNvSpPr/>
          <p:nvPr/>
        </p:nvSpPr>
        <p:spPr>
          <a:xfrm>
            <a:off x="7379208" y="4526279"/>
            <a:ext cx="6839712" cy="2816352"/>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7516368" y="4709159"/>
            <a:ext cx="365760" cy="365760"/>
          </a:xfrm>
          <a:prstGeom prst="rect">
            <a:avLst/>
          </a:prstGeom>
          <a:noFill/>
        </p:spPr>
        <p:txBody>
          <a:bodyPr wrap="square" lIns="54864" rIns="54864" tIns="22860" bIns="22860">
            <a:spAutoFit/>
          </a:bodyPr>
          <a:lstStyle/>
          <a:p>
            <a:pPr>
              <a:lnSpc>
                <a:spcPts val="2415"/>
              </a:lnSpc>
              <a:spcBef>
                <a:spcPts val="0"/>
              </a:spcBef>
              <a:spcAft>
                <a:spcPts val="0"/>
              </a:spcAft>
              <a:defRPr sz="2300" b="1">
                <a:solidFill>
                  <a:srgbClr val="182B3A"/>
                </a:solidFill>
                <a:latin typeface="Arial"/>
              </a:defRPr>
            </a:pPr>
            <a:r>
              <a:t>4.</a:t>
            </a:r>
          </a:p>
        </p:txBody>
      </p:sp>
      <p:sp>
        <p:nvSpPr>
          <p:cNvPr id="36" name="TextBox 35"/>
          <p:cNvSpPr txBox="1"/>
          <p:nvPr/>
        </p:nvSpPr>
        <p:spPr>
          <a:xfrm>
            <a:off x="8046720" y="4919471"/>
            <a:ext cx="335407" cy="347472"/>
          </a:xfrm>
          <a:prstGeom prst="rect">
            <a:avLst/>
          </a:prstGeom>
          <a:noFill/>
        </p:spPr>
        <p:txBody>
          <a:bodyPr wrap="none" lIns="0" rIns="0" tIns="0" bIns="0">
            <a:spAutoFit/>
          </a:bodyPr>
          <a:lstStyle/>
          <a:p>
            <a:pPr algn="l">
              <a:lnSpc>
                <a:spcPts val="3248"/>
              </a:lnSpc>
              <a:spcAft>
                <a:spcPts val="0"/>
              </a:spcAft>
              <a:defRPr sz="2900" b="0">
                <a:solidFill>
                  <a:srgbClr val="182B3A"/>
                </a:solidFill>
                <a:latin typeface="Arial"/>
              </a:defRPr>
            </a:pPr>
            <a:r>
              <a:t>1 </a:t>
            </a:r>
          </a:p>
        </p:txBody>
      </p:sp>
      <p:sp>
        <p:nvSpPr>
          <p:cNvPr id="37" name="TextBox 36"/>
          <p:cNvSpPr txBox="1"/>
          <p:nvPr/>
        </p:nvSpPr>
        <p:spPr>
          <a:xfrm>
            <a:off x="8382127" y="4800599"/>
            <a:ext cx="271653" cy="256032"/>
          </a:xfrm>
          <a:prstGeom prst="rect">
            <a:avLst/>
          </a:prstGeom>
          <a:noFill/>
        </p:spPr>
        <p:txBody>
          <a:bodyPr wrap="none" lIns="0" rIns="0" tIns="0" bIns="0">
            <a:spAutoFit/>
          </a:bodyPr>
          <a:lstStyle/>
          <a:p>
            <a:pPr algn="ctr">
              <a:lnSpc>
                <a:spcPts val="2576"/>
              </a:lnSpc>
              <a:spcAft>
                <a:spcPts val="0"/>
              </a:spcAft>
              <a:defRPr sz="2300" b="0">
                <a:solidFill>
                  <a:srgbClr val="182B3A"/>
                </a:solidFill>
                <a:latin typeface="Arial"/>
              </a:defRPr>
            </a:pPr>
            <a:r>
              <a:t>1</a:t>
            </a:r>
          </a:p>
        </p:txBody>
      </p:sp>
      <p:cxnSp>
        <p:nvCxnSpPr>
          <p:cNvPr id="38" name="Connector 37"/>
          <p:cNvCxnSpPr/>
          <p:nvPr/>
        </p:nvCxnSpPr>
        <p:spPr>
          <a:xfrm>
            <a:off x="8382127" y="5065775"/>
            <a:ext cx="271653" cy="0"/>
          </a:xfrm>
          <a:prstGeom prst="line">
            <a:avLst/>
          </a:prstGeom>
          <a:ln w="12700">
            <a:solidFill>
              <a:srgbClr val="182B3A"/>
            </a:solidFill>
          </a:ln>
          <a:effectLst/>
        </p:spPr>
        <p:style>
          <a:lnRef idx="2">
            <a:schemeClr val="accent1"/>
          </a:lnRef>
          <a:fillRef idx="0">
            <a:schemeClr val="accent1"/>
          </a:fillRef>
          <a:effectRef idx="1">
            <a:schemeClr val="accent1"/>
          </a:effectRef>
          <a:fontRef idx="minor">
            <a:schemeClr val="tx1"/>
          </a:fontRef>
        </p:style>
      </p:cxnSp>
      <p:sp>
        <p:nvSpPr>
          <p:cNvPr id="39" name="TextBox 38"/>
          <p:cNvSpPr txBox="1"/>
          <p:nvPr/>
        </p:nvSpPr>
        <p:spPr>
          <a:xfrm>
            <a:off x="8382127" y="5084063"/>
            <a:ext cx="271653" cy="256032"/>
          </a:xfrm>
          <a:prstGeom prst="rect">
            <a:avLst/>
          </a:prstGeom>
          <a:noFill/>
        </p:spPr>
        <p:txBody>
          <a:bodyPr wrap="none" lIns="0" rIns="0" tIns="0" bIns="0">
            <a:spAutoFit/>
          </a:bodyPr>
          <a:lstStyle/>
          <a:p>
            <a:pPr algn="ctr">
              <a:lnSpc>
                <a:spcPts val="2576"/>
              </a:lnSpc>
              <a:spcAft>
                <a:spcPts val="0"/>
              </a:spcAft>
              <a:defRPr sz="2300" b="0">
                <a:solidFill>
                  <a:srgbClr val="182B3A"/>
                </a:solidFill>
                <a:latin typeface="Arial"/>
              </a:defRPr>
            </a:pPr>
            <a:r>
              <a:t>3</a:t>
            </a:r>
          </a:p>
        </p:txBody>
      </p:sp>
      <p:sp>
        <p:nvSpPr>
          <p:cNvPr id="40" name="TextBox 39"/>
          <p:cNvSpPr txBox="1"/>
          <p:nvPr/>
        </p:nvSpPr>
        <p:spPr>
          <a:xfrm>
            <a:off x="8708644" y="4919471"/>
            <a:ext cx="446531" cy="347472"/>
          </a:xfrm>
          <a:prstGeom prst="rect">
            <a:avLst/>
          </a:prstGeom>
          <a:noFill/>
        </p:spPr>
        <p:txBody>
          <a:bodyPr wrap="none" lIns="0" rIns="0" tIns="0" bIns="0">
            <a:spAutoFit/>
          </a:bodyPr>
          <a:lstStyle/>
          <a:p>
            <a:pPr algn="l">
              <a:lnSpc>
                <a:spcPts val="3248"/>
              </a:lnSpc>
              <a:spcAft>
                <a:spcPts val="0"/>
              </a:spcAft>
              <a:defRPr sz="2900" b="0">
                <a:solidFill>
                  <a:srgbClr val="182B3A"/>
                </a:solidFill>
                <a:latin typeface="Arial"/>
              </a:defRPr>
            </a:pPr>
            <a:r>
              <a:t> − </a:t>
            </a:r>
          </a:p>
        </p:txBody>
      </p:sp>
      <p:sp>
        <p:nvSpPr>
          <p:cNvPr id="41" name="TextBox 40"/>
          <p:cNvSpPr txBox="1"/>
          <p:nvPr/>
        </p:nvSpPr>
        <p:spPr>
          <a:xfrm>
            <a:off x="9155176" y="4800599"/>
            <a:ext cx="271653" cy="256032"/>
          </a:xfrm>
          <a:prstGeom prst="rect">
            <a:avLst/>
          </a:prstGeom>
          <a:noFill/>
        </p:spPr>
        <p:txBody>
          <a:bodyPr wrap="none" lIns="0" rIns="0" tIns="0" bIns="0">
            <a:spAutoFit/>
          </a:bodyPr>
          <a:lstStyle/>
          <a:p>
            <a:pPr algn="ctr">
              <a:lnSpc>
                <a:spcPts val="2576"/>
              </a:lnSpc>
              <a:spcAft>
                <a:spcPts val="0"/>
              </a:spcAft>
              <a:defRPr sz="2300" b="0">
                <a:solidFill>
                  <a:srgbClr val="182B3A"/>
                </a:solidFill>
                <a:latin typeface="Arial"/>
              </a:defRPr>
            </a:pPr>
            <a:r>
              <a:t>3</a:t>
            </a:r>
          </a:p>
        </p:txBody>
      </p:sp>
      <p:cxnSp>
        <p:nvCxnSpPr>
          <p:cNvPr id="42" name="Connector 41"/>
          <p:cNvCxnSpPr/>
          <p:nvPr/>
        </p:nvCxnSpPr>
        <p:spPr>
          <a:xfrm>
            <a:off x="9155176" y="5065775"/>
            <a:ext cx="271653" cy="0"/>
          </a:xfrm>
          <a:prstGeom prst="line">
            <a:avLst/>
          </a:prstGeom>
          <a:ln w="12700">
            <a:solidFill>
              <a:srgbClr val="182B3A"/>
            </a:solidFill>
          </a:ln>
          <a:effectLst/>
        </p:spPr>
        <p:style>
          <a:lnRef idx="2">
            <a:schemeClr val="accent1"/>
          </a:lnRef>
          <a:fillRef idx="0">
            <a:schemeClr val="accent1"/>
          </a:fillRef>
          <a:effectRef idx="1">
            <a:schemeClr val="accent1"/>
          </a:effectRef>
          <a:fontRef idx="minor">
            <a:schemeClr val="tx1"/>
          </a:fontRef>
        </p:style>
      </p:cxnSp>
      <p:sp>
        <p:nvSpPr>
          <p:cNvPr id="43" name="TextBox 42"/>
          <p:cNvSpPr txBox="1"/>
          <p:nvPr/>
        </p:nvSpPr>
        <p:spPr>
          <a:xfrm>
            <a:off x="9155176" y="5084063"/>
            <a:ext cx="271653" cy="256032"/>
          </a:xfrm>
          <a:prstGeom prst="rect">
            <a:avLst/>
          </a:prstGeom>
          <a:noFill/>
        </p:spPr>
        <p:txBody>
          <a:bodyPr wrap="none" lIns="0" rIns="0" tIns="0" bIns="0">
            <a:spAutoFit/>
          </a:bodyPr>
          <a:lstStyle/>
          <a:p>
            <a:pPr algn="ctr">
              <a:lnSpc>
                <a:spcPts val="2576"/>
              </a:lnSpc>
              <a:spcAft>
                <a:spcPts val="0"/>
              </a:spcAft>
              <a:defRPr sz="2300" b="0">
                <a:solidFill>
                  <a:srgbClr val="182B3A"/>
                </a:solidFill>
                <a:latin typeface="Arial"/>
              </a:defRPr>
            </a:pPr>
            <a:r>
              <a:t>4</a:t>
            </a:r>
          </a:p>
        </p:txBody>
      </p:sp>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bg>
      <p:bgPr>
        <a:solidFill>
          <a:srgbClr val="F7F8FA"/>
        </a:solidFill>
        <a:effectLst/>
      </p:bgPr>
    </p:bg>
    <p:spTree>
      <p:nvGrpSpPr>
        <p:cNvPr id="1" name=""/>
        <p:cNvGrpSpPr/>
        <p:nvPr/>
      </p:nvGrpSpPr>
      <p:grpSpPr/>
      <p:sp>
        <p:nvSpPr>
          <p:cNvPr id="2" name="Rectangle 1"/>
          <p:cNvSpPr/>
          <p:nvPr/>
        </p:nvSpPr>
        <p:spPr>
          <a:xfrm>
            <a:off x="0" y="0"/>
            <a:ext cx="14630400" cy="73152"/>
          </a:xfrm>
          <a:prstGeom prst="rect">
            <a:avLst/>
          </a:prstGeom>
          <a:solidFill>
            <a:srgbClr val="176B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20040" y="164592"/>
            <a:ext cx="13990320" cy="457200"/>
          </a:xfrm>
          <a:prstGeom prst="rect">
            <a:avLst/>
          </a:prstGeom>
          <a:noFill/>
        </p:spPr>
        <p:txBody>
          <a:bodyPr wrap="square" lIns="54864" rIns="54864" tIns="22860" bIns="22860">
            <a:spAutoFit/>
          </a:bodyPr>
          <a:lstStyle/>
          <a:p>
            <a:pPr>
              <a:lnSpc>
                <a:spcPts val="2940"/>
              </a:lnSpc>
              <a:spcBef>
                <a:spcPts val="0"/>
              </a:spcBef>
              <a:spcAft>
                <a:spcPts val="0"/>
              </a:spcAft>
              <a:defRPr sz="2800" b="1">
                <a:solidFill>
                  <a:srgbClr val="182B3A"/>
                </a:solidFill>
                <a:latin typeface="Arial"/>
              </a:defRPr>
            </a:pPr>
            <a:r>
              <a:t>Adding and subtracting fractions</a:t>
            </a:r>
          </a:p>
        </p:txBody>
      </p:sp>
      <p:sp>
        <p:nvSpPr>
          <p:cNvPr id="4" name="TextBox 3"/>
          <p:cNvSpPr txBox="1"/>
          <p:nvPr/>
        </p:nvSpPr>
        <p:spPr>
          <a:xfrm>
            <a:off x="320040" y="704088"/>
            <a:ext cx="13990320" cy="347472"/>
          </a:xfrm>
          <a:prstGeom prst="rect">
            <a:avLst/>
          </a:prstGeom>
          <a:noFill/>
        </p:spPr>
        <p:txBody>
          <a:bodyPr wrap="square" lIns="54864" rIns="54864" tIns="22860" bIns="22860">
            <a:spAutoFit/>
          </a:bodyPr>
          <a:lstStyle/>
          <a:p>
            <a:pPr>
              <a:lnSpc>
                <a:spcPts val="1575"/>
              </a:lnSpc>
              <a:spcBef>
                <a:spcPts val="0"/>
              </a:spcBef>
              <a:spcAft>
                <a:spcPts val="0"/>
              </a:spcAft>
              <a:defRPr sz="1500" b="0">
                <a:solidFill>
                  <a:srgbClr val="526472"/>
                </a:solidFill>
                <a:latin typeface="Arial"/>
              </a:defRPr>
            </a:pPr>
            <a:r>
              <a:t>Technique recap • Equal-sized parts before adding or subtracting.</a:t>
            </a:r>
          </a:p>
        </p:txBody>
      </p:sp>
      <p:sp>
        <p:nvSpPr>
          <p:cNvPr id="5" name="TextBox 4"/>
          <p:cNvSpPr txBox="1"/>
          <p:nvPr/>
        </p:nvSpPr>
        <p:spPr>
          <a:xfrm>
            <a:off x="320040" y="7973568"/>
            <a:ext cx="10789920" cy="210312"/>
          </a:xfrm>
          <a:prstGeom prst="rect">
            <a:avLst/>
          </a:prstGeom>
          <a:noFill/>
        </p:spPr>
        <p:txBody>
          <a:bodyPr wrap="square" lIns="54864" rIns="54864" tIns="22860" bIns="22860">
            <a:spAutoFit/>
          </a:bodyPr>
          <a:lstStyle/>
          <a:p>
            <a:pPr>
              <a:lnSpc>
                <a:spcPts val="1155"/>
              </a:lnSpc>
              <a:spcBef>
                <a:spcPts val="0"/>
              </a:spcBef>
              <a:spcAft>
                <a:spcPts val="0"/>
              </a:spcAft>
              <a:defRPr sz="1100" b="0">
                <a:solidFill>
                  <a:srgbClr val="526472"/>
                </a:solidFill>
                <a:latin typeface="Arial"/>
              </a:defRPr>
            </a:pPr>
            <a:r>
              <a:t>GCSE Maths revision • No calculator • Show your working.</a:t>
            </a:r>
          </a:p>
        </p:txBody>
      </p:sp>
      <p:sp>
        <p:nvSpPr>
          <p:cNvPr id="6" name="TextBox 5"/>
          <p:cNvSpPr txBox="1"/>
          <p:nvPr/>
        </p:nvSpPr>
        <p:spPr>
          <a:xfrm>
            <a:off x="11155680" y="7973568"/>
            <a:ext cx="3108960" cy="210312"/>
          </a:xfrm>
          <a:prstGeom prst="rect">
            <a:avLst/>
          </a:prstGeom>
          <a:noFill/>
        </p:spPr>
        <p:txBody>
          <a:bodyPr wrap="square" lIns="54864" rIns="54864" tIns="22860" bIns="22860">
            <a:spAutoFit/>
          </a:bodyPr>
          <a:lstStyle/>
          <a:p>
            <a:pPr>
              <a:lnSpc>
                <a:spcPts val="1155"/>
              </a:lnSpc>
              <a:spcBef>
                <a:spcPts val="0"/>
              </a:spcBef>
              <a:spcAft>
                <a:spcPts val="0"/>
              </a:spcAft>
              <a:defRPr sz="1100" b="0">
                <a:solidFill>
                  <a:srgbClr val="526472"/>
                </a:solidFill>
                <a:latin typeface="Arial"/>
              </a:defRPr>
            </a:pPr>
            <a:r>
              <a:t>M15-RECAP</a:t>
            </a:r>
          </a:p>
        </p:txBody>
      </p:sp>
      <p:sp>
        <p:nvSpPr>
          <p:cNvPr id="7" name="Rectangle 6"/>
          <p:cNvSpPr/>
          <p:nvPr/>
        </p:nvSpPr>
        <p:spPr>
          <a:xfrm>
            <a:off x="320040" y="1115568"/>
            <a:ext cx="4640580" cy="420624"/>
          </a:xfrm>
          <a:prstGeom prst="rect">
            <a:avLst/>
          </a:prstGeom>
          <a:solidFill>
            <a:srgbClr val="176B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347472" y="1147572"/>
            <a:ext cx="4581144" cy="329184"/>
          </a:xfrm>
          <a:prstGeom prst="rect">
            <a:avLst/>
          </a:prstGeom>
          <a:noFill/>
        </p:spPr>
        <p:txBody>
          <a:bodyPr wrap="square" lIns="54864" rIns="54864" tIns="22860" bIns="22860">
            <a:spAutoFit/>
          </a:bodyPr>
          <a:lstStyle/>
          <a:p>
            <a:pPr>
              <a:lnSpc>
                <a:spcPts val="1995"/>
              </a:lnSpc>
              <a:spcBef>
                <a:spcPts val="0"/>
              </a:spcBef>
              <a:spcAft>
                <a:spcPts val="0"/>
              </a:spcAft>
              <a:defRPr sz="1900" b="1">
                <a:solidFill>
                  <a:srgbClr val="FFFFFF"/>
                </a:solidFill>
                <a:latin typeface="Arial"/>
              </a:defRPr>
            </a:pPr>
            <a:r>
              <a:t>Start</a:t>
            </a:r>
          </a:p>
        </p:txBody>
      </p:sp>
      <p:sp>
        <p:nvSpPr>
          <p:cNvPr id="9" name="Rectangle 8"/>
          <p:cNvSpPr/>
          <p:nvPr/>
        </p:nvSpPr>
        <p:spPr>
          <a:xfrm>
            <a:off x="4983480" y="1115568"/>
            <a:ext cx="4640580" cy="420624"/>
          </a:xfrm>
          <a:prstGeom prst="rect">
            <a:avLst/>
          </a:prstGeom>
          <a:solidFill>
            <a:srgbClr val="3559A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010912" y="1147572"/>
            <a:ext cx="4581144" cy="329184"/>
          </a:xfrm>
          <a:prstGeom prst="rect">
            <a:avLst/>
          </a:prstGeom>
          <a:noFill/>
        </p:spPr>
        <p:txBody>
          <a:bodyPr wrap="square" lIns="54864" rIns="54864" tIns="22860" bIns="22860">
            <a:spAutoFit/>
          </a:bodyPr>
          <a:lstStyle/>
          <a:p>
            <a:pPr>
              <a:lnSpc>
                <a:spcPts val="1995"/>
              </a:lnSpc>
              <a:spcBef>
                <a:spcPts val="0"/>
              </a:spcBef>
              <a:spcAft>
                <a:spcPts val="0"/>
              </a:spcAft>
              <a:defRPr sz="1900" b="1">
                <a:solidFill>
                  <a:srgbClr val="FFFFFF"/>
                </a:solidFill>
                <a:latin typeface="Arial"/>
              </a:defRPr>
            </a:pPr>
            <a:r>
              <a:t>Build</a:t>
            </a:r>
          </a:p>
        </p:txBody>
      </p:sp>
      <p:sp>
        <p:nvSpPr>
          <p:cNvPr id="11" name="Rectangle 10"/>
          <p:cNvSpPr/>
          <p:nvPr/>
        </p:nvSpPr>
        <p:spPr>
          <a:xfrm>
            <a:off x="9646920" y="1115568"/>
            <a:ext cx="4640580" cy="420624"/>
          </a:xfrm>
          <a:prstGeom prst="rect">
            <a:avLst/>
          </a:prstGeom>
          <a:solidFill>
            <a:srgbClr val="754B8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9674352" y="1147572"/>
            <a:ext cx="4581144" cy="329184"/>
          </a:xfrm>
          <a:prstGeom prst="rect">
            <a:avLst/>
          </a:prstGeom>
          <a:noFill/>
        </p:spPr>
        <p:txBody>
          <a:bodyPr wrap="square" lIns="54864" rIns="54864" tIns="22860" bIns="22860">
            <a:spAutoFit/>
          </a:bodyPr>
          <a:lstStyle/>
          <a:p>
            <a:pPr>
              <a:lnSpc>
                <a:spcPts val="1995"/>
              </a:lnSpc>
              <a:spcBef>
                <a:spcPts val="0"/>
              </a:spcBef>
              <a:spcAft>
                <a:spcPts val="0"/>
              </a:spcAft>
              <a:defRPr sz="1900" b="1">
                <a:solidFill>
                  <a:srgbClr val="FFFFFF"/>
                </a:solidFill>
                <a:latin typeface="Arial"/>
              </a:defRPr>
            </a:pPr>
            <a:r>
              <a:t>Confidence</a:t>
            </a:r>
          </a:p>
        </p:txBody>
      </p:sp>
      <p:sp>
        <p:nvSpPr>
          <p:cNvPr id="13" name="Rectangle 12"/>
          <p:cNvSpPr/>
          <p:nvPr/>
        </p:nvSpPr>
        <p:spPr>
          <a:xfrm>
            <a:off x="320040" y="1600200"/>
            <a:ext cx="4626864" cy="6080760"/>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4983480" y="1600200"/>
            <a:ext cx="4626864" cy="6080760"/>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9646920" y="1600200"/>
            <a:ext cx="4626864" cy="6080760"/>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48056" y="1783080"/>
            <a:ext cx="4389120" cy="457200"/>
          </a:xfrm>
          <a:prstGeom prst="rect">
            <a:avLst/>
          </a:prstGeom>
          <a:noFill/>
        </p:spPr>
        <p:txBody>
          <a:bodyPr wrap="square" lIns="54864" rIns="54864" tIns="22860" bIns="22860">
            <a:spAutoFit/>
          </a:bodyPr>
          <a:lstStyle/>
          <a:p>
            <a:pPr>
              <a:lnSpc>
                <a:spcPts val="2310"/>
              </a:lnSpc>
              <a:spcBef>
                <a:spcPts val="0"/>
              </a:spcBef>
              <a:spcAft>
                <a:spcPts val="0"/>
              </a:spcAft>
              <a:defRPr sz="2200" b="1">
                <a:solidFill>
                  <a:srgbClr val="182B3A"/>
                </a:solidFill>
                <a:latin typeface="Arial"/>
              </a:defRPr>
            </a:pPr>
            <a:r>
              <a:t>Keep the parts the same size</a:t>
            </a:r>
          </a:p>
        </p:txBody>
      </p:sp>
      <p:sp>
        <p:nvSpPr>
          <p:cNvPr id="17" name="TextBox 16"/>
          <p:cNvSpPr txBox="1"/>
          <p:nvPr/>
        </p:nvSpPr>
        <p:spPr>
          <a:xfrm>
            <a:off x="521207" y="2423160"/>
            <a:ext cx="236728" cy="256032"/>
          </a:xfrm>
          <a:prstGeom prst="rect">
            <a:avLst/>
          </a:prstGeom>
          <a:noFill/>
        </p:spPr>
        <p:txBody>
          <a:bodyPr wrap="none" lIns="0" rIns="0" tIns="0" bIns="0">
            <a:spAutoFit/>
          </a:bodyPr>
          <a:lstStyle/>
          <a:p>
            <a:pPr algn="ctr">
              <a:lnSpc>
                <a:spcPts val="2016"/>
              </a:lnSpc>
              <a:spcAft>
                <a:spcPts val="0"/>
              </a:spcAft>
              <a:defRPr sz="1800" b="0">
                <a:solidFill>
                  <a:srgbClr val="182B3A"/>
                </a:solidFill>
                <a:latin typeface="Arial"/>
              </a:defRPr>
            </a:pPr>
            <a:r>
              <a:t>1</a:t>
            </a:r>
          </a:p>
        </p:txBody>
      </p:sp>
      <p:cxnSp>
        <p:nvCxnSpPr>
          <p:cNvPr id="18" name="Connector 17"/>
          <p:cNvCxnSpPr/>
          <p:nvPr/>
        </p:nvCxnSpPr>
        <p:spPr>
          <a:xfrm>
            <a:off x="521207" y="2688336"/>
            <a:ext cx="236729" cy="0"/>
          </a:xfrm>
          <a:prstGeom prst="line">
            <a:avLst/>
          </a:prstGeom>
          <a:ln w="12700">
            <a:solidFill>
              <a:srgbClr val="182B3A"/>
            </a:solidFill>
          </a:ln>
          <a:effectLst/>
        </p:spPr>
        <p:style>
          <a:lnRef idx="2">
            <a:schemeClr val="accent1"/>
          </a:lnRef>
          <a:fillRef idx="0">
            <a:schemeClr val="accent1"/>
          </a:fillRef>
          <a:effectRef idx="1">
            <a:schemeClr val="accent1"/>
          </a:effectRef>
          <a:fontRef idx="minor">
            <a:schemeClr val="tx1"/>
          </a:fontRef>
        </p:style>
      </p:cxnSp>
      <p:sp>
        <p:nvSpPr>
          <p:cNvPr id="19" name="TextBox 18"/>
          <p:cNvSpPr txBox="1"/>
          <p:nvPr/>
        </p:nvSpPr>
        <p:spPr>
          <a:xfrm>
            <a:off x="521207" y="2706624"/>
            <a:ext cx="236728" cy="256032"/>
          </a:xfrm>
          <a:prstGeom prst="rect">
            <a:avLst/>
          </a:prstGeom>
          <a:noFill/>
        </p:spPr>
        <p:txBody>
          <a:bodyPr wrap="none" lIns="0" rIns="0" tIns="0" bIns="0">
            <a:spAutoFit/>
          </a:bodyPr>
          <a:lstStyle/>
          <a:p>
            <a:pPr algn="ctr">
              <a:lnSpc>
                <a:spcPts val="2016"/>
              </a:lnSpc>
              <a:spcAft>
                <a:spcPts val="0"/>
              </a:spcAft>
              <a:defRPr sz="1800" b="0">
                <a:solidFill>
                  <a:srgbClr val="182B3A"/>
                </a:solidFill>
                <a:latin typeface="Arial"/>
              </a:defRPr>
            </a:pPr>
            <a:r>
              <a:t>3</a:t>
            </a:r>
          </a:p>
        </p:txBody>
      </p:sp>
      <p:sp>
        <p:nvSpPr>
          <p:cNvPr id="20" name="TextBox 19"/>
          <p:cNvSpPr txBox="1"/>
          <p:nvPr/>
        </p:nvSpPr>
        <p:spPr>
          <a:xfrm>
            <a:off x="812800" y="2542032"/>
            <a:ext cx="363982" cy="347472"/>
          </a:xfrm>
          <a:prstGeom prst="rect">
            <a:avLst/>
          </a:prstGeom>
          <a:noFill/>
        </p:spPr>
        <p:txBody>
          <a:bodyPr wrap="none" lIns="0" rIns="0" tIns="0" bIns="0">
            <a:spAutoFit/>
          </a:bodyPr>
          <a:lstStyle/>
          <a:p>
            <a:pPr algn="l">
              <a:lnSpc>
                <a:spcPts val="2576"/>
              </a:lnSpc>
              <a:spcAft>
                <a:spcPts val="0"/>
              </a:spcAft>
              <a:defRPr sz="2300" b="0">
                <a:solidFill>
                  <a:srgbClr val="182B3A"/>
                </a:solidFill>
                <a:latin typeface="Arial"/>
              </a:defRPr>
            </a:pPr>
            <a:r>
              <a:t> = </a:t>
            </a:r>
          </a:p>
        </p:txBody>
      </p:sp>
      <p:sp>
        <p:nvSpPr>
          <p:cNvPr id="21" name="TextBox 20"/>
          <p:cNvSpPr txBox="1"/>
          <p:nvPr/>
        </p:nvSpPr>
        <p:spPr>
          <a:xfrm>
            <a:off x="1176782" y="2423160"/>
            <a:ext cx="236728" cy="256032"/>
          </a:xfrm>
          <a:prstGeom prst="rect">
            <a:avLst/>
          </a:prstGeom>
          <a:noFill/>
        </p:spPr>
        <p:txBody>
          <a:bodyPr wrap="none" lIns="0" rIns="0" tIns="0" bIns="0">
            <a:spAutoFit/>
          </a:bodyPr>
          <a:lstStyle/>
          <a:p>
            <a:pPr algn="ctr">
              <a:lnSpc>
                <a:spcPts val="2016"/>
              </a:lnSpc>
              <a:spcAft>
                <a:spcPts val="0"/>
              </a:spcAft>
              <a:defRPr sz="1800" b="0">
                <a:solidFill>
                  <a:srgbClr val="182B3A"/>
                </a:solidFill>
                <a:latin typeface="Arial"/>
              </a:defRPr>
            </a:pPr>
            <a:r>
              <a:t>2</a:t>
            </a:r>
          </a:p>
        </p:txBody>
      </p:sp>
      <p:cxnSp>
        <p:nvCxnSpPr>
          <p:cNvPr id="22" name="Connector 21"/>
          <p:cNvCxnSpPr/>
          <p:nvPr/>
        </p:nvCxnSpPr>
        <p:spPr>
          <a:xfrm>
            <a:off x="1176782" y="2688336"/>
            <a:ext cx="236728" cy="0"/>
          </a:xfrm>
          <a:prstGeom prst="line">
            <a:avLst/>
          </a:prstGeom>
          <a:ln w="12700">
            <a:solidFill>
              <a:srgbClr val="182B3A"/>
            </a:solidFill>
          </a:ln>
          <a:effectLst/>
        </p:spPr>
        <p:style>
          <a:lnRef idx="2">
            <a:schemeClr val="accent1"/>
          </a:lnRef>
          <a:fillRef idx="0">
            <a:schemeClr val="accent1"/>
          </a:fillRef>
          <a:effectRef idx="1">
            <a:schemeClr val="accent1"/>
          </a:effectRef>
          <a:fontRef idx="minor">
            <a:schemeClr val="tx1"/>
          </a:fontRef>
        </p:style>
      </p:cxnSp>
      <p:sp>
        <p:nvSpPr>
          <p:cNvPr id="23" name="TextBox 22"/>
          <p:cNvSpPr txBox="1"/>
          <p:nvPr/>
        </p:nvSpPr>
        <p:spPr>
          <a:xfrm>
            <a:off x="1176782" y="2706624"/>
            <a:ext cx="236728" cy="256032"/>
          </a:xfrm>
          <a:prstGeom prst="rect">
            <a:avLst/>
          </a:prstGeom>
          <a:noFill/>
        </p:spPr>
        <p:txBody>
          <a:bodyPr wrap="none" lIns="0" rIns="0" tIns="0" bIns="0">
            <a:spAutoFit/>
          </a:bodyPr>
          <a:lstStyle/>
          <a:p>
            <a:pPr algn="ctr">
              <a:lnSpc>
                <a:spcPts val="2016"/>
              </a:lnSpc>
              <a:spcAft>
                <a:spcPts val="0"/>
              </a:spcAft>
              <a:defRPr sz="1800" b="0">
                <a:solidFill>
                  <a:srgbClr val="182B3A"/>
                </a:solidFill>
                <a:latin typeface="Arial"/>
              </a:defRPr>
            </a:pPr>
            <a:r>
              <a:t>6</a:t>
            </a:r>
          </a:p>
        </p:txBody>
      </p:sp>
      <p:sp>
        <p:nvSpPr>
          <p:cNvPr id="24" name="TextBox 23"/>
          <p:cNvSpPr txBox="1"/>
          <p:nvPr/>
        </p:nvSpPr>
        <p:spPr>
          <a:xfrm>
            <a:off x="521207" y="3044952"/>
            <a:ext cx="236728" cy="256032"/>
          </a:xfrm>
          <a:prstGeom prst="rect">
            <a:avLst/>
          </a:prstGeom>
          <a:noFill/>
        </p:spPr>
        <p:txBody>
          <a:bodyPr wrap="none" lIns="0" rIns="0" tIns="0" bIns="0">
            <a:spAutoFit/>
          </a:bodyPr>
          <a:lstStyle/>
          <a:p>
            <a:pPr algn="ctr">
              <a:lnSpc>
                <a:spcPts val="2016"/>
              </a:lnSpc>
              <a:spcAft>
                <a:spcPts val="0"/>
              </a:spcAft>
              <a:defRPr sz="1800" b="0">
                <a:solidFill>
                  <a:srgbClr val="182B3A"/>
                </a:solidFill>
                <a:latin typeface="Arial"/>
              </a:defRPr>
            </a:pPr>
            <a:r>
              <a:t>1</a:t>
            </a:r>
          </a:p>
        </p:txBody>
      </p:sp>
      <p:cxnSp>
        <p:nvCxnSpPr>
          <p:cNvPr id="25" name="Connector 24"/>
          <p:cNvCxnSpPr/>
          <p:nvPr/>
        </p:nvCxnSpPr>
        <p:spPr>
          <a:xfrm>
            <a:off x="521207" y="3310128"/>
            <a:ext cx="236729" cy="0"/>
          </a:xfrm>
          <a:prstGeom prst="line">
            <a:avLst/>
          </a:prstGeom>
          <a:ln w="12700">
            <a:solidFill>
              <a:srgbClr val="182B3A"/>
            </a:solidFill>
          </a:ln>
          <a:effectLst/>
        </p:spPr>
        <p:style>
          <a:lnRef idx="2">
            <a:schemeClr val="accent1"/>
          </a:lnRef>
          <a:fillRef idx="0">
            <a:schemeClr val="accent1"/>
          </a:fillRef>
          <a:effectRef idx="1">
            <a:schemeClr val="accent1"/>
          </a:effectRef>
          <a:fontRef idx="minor">
            <a:schemeClr val="tx1"/>
          </a:fontRef>
        </p:style>
      </p:cxnSp>
      <p:sp>
        <p:nvSpPr>
          <p:cNvPr id="26" name="TextBox 25"/>
          <p:cNvSpPr txBox="1"/>
          <p:nvPr/>
        </p:nvSpPr>
        <p:spPr>
          <a:xfrm>
            <a:off x="521207" y="3328415"/>
            <a:ext cx="236728" cy="256032"/>
          </a:xfrm>
          <a:prstGeom prst="rect">
            <a:avLst/>
          </a:prstGeom>
          <a:noFill/>
        </p:spPr>
        <p:txBody>
          <a:bodyPr wrap="none" lIns="0" rIns="0" tIns="0" bIns="0">
            <a:spAutoFit/>
          </a:bodyPr>
          <a:lstStyle/>
          <a:p>
            <a:pPr algn="ctr">
              <a:lnSpc>
                <a:spcPts val="2016"/>
              </a:lnSpc>
              <a:spcAft>
                <a:spcPts val="0"/>
              </a:spcAft>
              <a:defRPr sz="1800" b="0">
                <a:solidFill>
                  <a:srgbClr val="182B3A"/>
                </a:solidFill>
                <a:latin typeface="Arial"/>
              </a:defRPr>
            </a:pPr>
            <a:r>
              <a:t>3</a:t>
            </a:r>
          </a:p>
        </p:txBody>
      </p:sp>
      <p:sp>
        <p:nvSpPr>
          <p:cNvPr id="27" name="TextBox 26"/>
          <p:cNvSpPr txBox="1"/>
          <p:nvPr/>
        </p:nvSpPr>
        <p:spPr>
          <a:xfrm>
            <a:off x="812800" y="3163824"/>
            <a:ext cx="363982" cy="347472"/>
          </a:xfrm>
          <a:prstGeom prst="rect">
            <a:avLst/>
          </a:prstGeom>
          <a:noFill/>
        </p:spPr>
        <p:txBody>
          <a:bodyPr wrap="none" lIns="0" rIns="0" tIns="0" bIns="0">
            <a:spAutoFit/>
          </a:bodyPr>
          <a:lstStyle/>
          <a:p>
            <a:pPr algn="l">
              <a:lnSpc>
                <a:spcPts val="2576"/>
              </a:lnSpc>
              <a:spcAft>
                <a:spcPts val="0"/>
              </a:spcAft>
              <a:defRPr sz="2300" b="0">
                <a:solidFill>
                  <a:srgbClr val="182B3A"/>
                </a:solidFill>
                <a:latin typeface="Arial"/>
              </a:defRPr>
            </a:pPr>
            <a:r>
              <a:t> + </a:t>
            </a:r>
          </a:p>
        </p:txBody>
      </p:sp>
      <p:sp>
        <p:nvSpPr>
          <p:cNvPr id="28" name="TextBox 27"/>
          <p:cNvSpPr txBox="1"/>
          <p:nvPr/>
        </p:nvSpPr>
        <p:spPr>
          <a:xfrm>
            <a:off x="1176782" y="3044952"/>
            <a:ext cx="236728" cy="256032"/>
          </a:xfrm>
          <a:prstGeom prst="rect">
            <a:avLst/>
          </a:prstGeom>
          <a:noFill/>
        </p:spPr>
        <p:txBody>
          <a:bodyPr wrap="none" lIns="0" rIns="0" tIns="0" bIns="0">
            <a:spAutoFit/>
          </a:bodyPr>
          <a:lstStyle/>
          <a:p>
            <a:pPr algn="ctr">
              <a:lnSpc>
                <a:spcPts val="2016"/>
              </a:lnSpc>
              <a:spcAft>
                <a:spcPts val="0"/>
              </a:spcAft>
              <a:defRPr sz="1800" b="0">
                <a:solidFill>
                  <a:srgbClr val="182B3A"/>
                </a:solidFill>
                <a:latin typeface="Arial"/>
              </a:defRPr>
            </a:pPr>
            <a:r>
              <a:t>1</a:t>
            </a:r>
          </a:p>
        </p:txBody>
      </p:sp>
      <p:cxnSp>
        <p:nvCxnSpPr>
          <p:cNvPr id="29" name="Connector 28"/>
          <p:cNvCxnSpPr/>
          <p:nvPr/>
        </p:nvCxnSpPr>
        <p:spPr>
          <a:xfrm>
            <a:off x="1176782" y="3310128"/>
            <a:ext cx="236728" cy="0"/>
          </a:xfrm>
          <a:prstGeom prst="line">
            <a:avLst/>
          </a:prstGeom>
          <a:ln w="12700">
            <a:solidFill>
              <a:srgbClr val="182B3A"/>
            </a:solidFill>
          </a:ln>
          <a:effectLst/>
        </p:spPr>
        <p:style>
          <a:lnRef idx="2">
            <a:schemeClr val="accent1"/>
          </a:lnRef>
          <a:fillRef idx="0">
            <a:schemeClr val="accent1"/>
          </a:fillRef>
          <a:effectRef idx="1">
            <a:schemeClr val="accent1"/>
          </a:effectRef>
          <a:fontRef idx="minor">
            <a:schemeClr val="tx1"/>
          </a:fontRef>
        </p:style>
      </p:cxnSp>
      <p:sp>
        <p:nvSpPr>
          <p:cNvPr id="30" name="TextBox 29"/>
          <p:cNvSpPr txBox="1"/>
          <p:nvPr/>
        </p:nvSpPr>
        <p:spPr>
          <a:xfrm>
            <a:off x="1176782" y="3328415"/>
            <a:ext cx="236728" cy="256032"/>
          </a:xfrm>
          <a:prstGeom prst="rect">
            <a:avLst/>
          </a:prstGeom>
          <a:noFill/>
        </p:spPr>
        <p:txBody>
          <a:bodyPr wrap="none" lIns="0" rIns="0" tIns="0" bIns="0">
            <a:spAutoFit/>
          </a:bodyPr>
          <a:lstStyle/>
          <a:p>
            <a:pPr algn="ctr">
              <a:lnSpc>
                <a:spcPts val="2016"/>
              </a:lnSpc>
              <a:spcAft>
                <a:spcPts val="0"/>
              </a:spcAft>
              <a:defRPr sz="1800" b="0">
                <a:solidFill>
                  <a:srgbClr val="182B3A"/>
                </a:solidFill>
                <a:latin typeface="Arial"/>
              </a:defRPr>
            </a:pPr>
            <a:r>
              <a:t>6</a:t>
            </a:r>
          </a:p>
        </p:txBody>
      </p:sp>
      <p:sp>
        <p:nvSpPr>
          <p:cNvPr id="31" name="TextBox 30"/>
          <p:cNvSpPr txBox="1"/>
          <p:nvPr/>
        </p:nvSpPr>
        <p:spPr>
          <a:xfrm>
            <a:off x="1468374" y="3163824"/>
            <a:ext cx="363982" cy="347472"/>
          </a:xfrm>
          <a:prstGeom prst="rect">
            <a:avLst/>
          </a:prstGeom>
          <a:noFill/>
        </p:spPr>
        <p:txBody>
          <a:bodyPr wrap="none" lIns="0" rIns="0" tIns="0" bIns="0">
            <a:spAutoFit/>
          </a:bodyPr>
          <a:lstStyle/>
          <a:p>
            <a:pPr algn="l">
              <a:lnSpc>
                <a:spcPts val="2576"/>
              </a:lnSpc>
              <a:spcAft>
                <a:spcPts val="0"/>
              </a:spcAft>
              <a:defRPr sz="2300" b="0">
                <a:solidFill>
                  <a:srgbClr val="182B3A"/>
                </a:solidFill>
                <a:latin typeface="Arial"/>
              </a:defRPr>
            </a:pPr>
            <a:r>
              <a:t> = </a:t>
            </a:r>
          </a:p>
        </p:txBody>
      </p:sp>
      <p:sp>
        <p:nvSpPr>
          <p:cNvPr id="32" name="TextBox 31"/>
          <p:cNvSpPr txBox="1"/>
          <p:nvPr/>
        </p:nvSpPr>
        <p:spPr>
          <a:xfrm>
            <a:off x="1832355" y="3044952"/>
            <a:ext cx="236728" cy="256032"/>
          </a:xfrm>
          <a:prstGeom prst="rect">
            <a:avLst/>
          </a:prstGeom>
          <a:noFill/>
        </p:spPr>
        <p:txBody>
          <a:bodyPr wrap="none" lIns="0" rIns="0" tIns="0" bIns="0">
            <a:spAutoFit/>
          </a:bodyPr>
          <a:lstStyle/>
          <a:p>
            <a:pPr algn="ctr">
              <a:lnSpc>
                <a:spcPts val="2016"/>
              </a:lnSpc>
              <a:spcAft>
                <a:spcPts val="0"/>
              </a:spcAft>
              <a:defRPr sz="1800" b="0">
                <a:solidFill>
                  <a:srgbClr val="182B3A"/>
                </a:solidFill>
                <a:latin typeface="Arial"/>
              </a:defRPr>
            </a:pPr>
            <a:r>
              <a:t>2</a:t>
            </a:r>
          </a:p>
        </p:txBody>
      </p:sp>
      <p:cxnSp>
        <p:nvCxnSpPr>
          <p:cNvPr id="33" name="Connector 32"/>
          <p:cNvCxnSpPr/>
          <p:nvPr/>
        </p:nvCxnSpPr>
        <p:spPr>
          <a:xfrm>
            <a:off x="1832355" y="3310128"/>
            <a:ext cx="236729" cy="0"/>
          </a:xfrm>
          <a:prstGeom prst="line">
            <a:avLst/>
          </a:prstGeom>
          <a:ln w="12700">
            <a:solidFill>
              <a:srgbClr val="182B3A"/>
            </a:solidFill>
          </a:ln>
          <a:effectLst/>
        </p:spPr>
        <p:style>
          <a:lnRef idx="2">
            <a:schemeClr val="accent1"/>
          </a:lnRef>
          <a:fillRef idx="0">
            <a:schemeClr val="accent1"/>
          </a:fillRef>
          <a:effectRef idx="1">
            <a:schemeClr val="accent1"/>
          </a:effectRef>
          <a:fontRef idx="minor">
            <a:schemeClr val="tx1"/>
          </a:fontRef>
        </p:style>
      </p:cxnSp>
      <p:sp>
        <p:nvSpPr>
          <p:cNvPr id="34" name="TextBox 33"/>
          <p:cNvSpPr txBox="1"/>
          <p:nvPr/>
        </p:nvSpPr>
        <p:spPr>
          <a:xfrm>
            <a:off x="1832355" y="3328415"/>
            <a:ext cx="236728" cy="256032"/>
          </a:xfrm>
          <a:prstGeom prst="rect">
            <a:avLst/>
          </a:prstGeom>
          <a:noFill/>
        </p:spPr>
        <p:txBody>
          <a:bodyPr wrap="none" lIns="0" rIns="0" tIns="0" bIns="0">
            <a:spAutoFit/>
          </a:bodyPr>
          <a:lstStyle/>
          <a:p>
            <a:pPr algn="ctr">
              <a:lnSpc>
                <a:spcPts val="2016"/>
              </a:lnSpc>
              <a:spcAft>
                <a:spcPts val="0"/>
              </a:spcAft>
              <a:defRPr sz="1800" b="0">
                <a:solidFill>
                  <a:srgbClr val="182B3A"/>
                </a:solidFill>
                <a:latin typeface="Arial"/>
              </a:defRPr>
            </a:pPr>
            <a:r>
              <a:t>6</a:t>
            </a:r>
          </a:p>
        </p:txBody>
      </p:sp>
      <p:sp>
        <p:nvSpPr>
          <p:cNvPr id="35" name="TextBox 34"/>
          <p:cNvSpPr txBox="1"/>
          <p:nvPr/>
        </p:nvSpPr>
        <p:spPr>
          <a:xfrm>
            <a:off x="2123948" y="3163824"/>
            <a:ext cx="363982" cy="347472"/>
          </a:xfrm>
          <a:prstGeom prst="rect">
            <a:avLst/>
          </a:prstGeom>
          <a:noFill/>
        </p:spPr>
        <p:txBody>
          <a:bodyPr wrap="none" lIns="0" rIns="0" tIns="0" bIns="0">
            <a:spAutoFit/>
          </a:bodyPr>
          <a:lstStyle/>
          <a:p>
            <a:pPr algn="l">
              <a:lnSpc>
                <a:spcPts val="2576"/>
              </a:lnSpc>
              <a:spcAft>
                <a:spcPts val="0"/>
              </a:spcAft>
              <a:defRPr sz="2300" b="0">
                <a:solidFill>
                  <a:srgbClr val="182B3A"/>
                </a:solidFill>
                <a:latin typeface="Arial"/>
              </a:defRPr>
            </a:pPr>
            <a:r>
              <a:t> + </a:t>
            </a:r>
          </a:p>
        </p:txBody>
      </p:sp>
      <p:sp>
        <p:nvSpPr>
          <p:cNvPr id="36" name="TextBox 35"/>
          <p:cNvSpPr txBox="1"/>
          <p:nvPr/>
        </p:nvSpPr>
        <p:spPr>
          <a:xfrm>
            <a:off x="2487930" y="3044952"/>
            <a:ext cx="236728" cy="256032"/>
          </a:xfrm>
          <a:prstGeom prst="rect">
            <a:avLst/>
          </a:prstGeom>
          <a:noFill/>
        </p:spPr>
        <p:txBody>
          <a:bodyPr wrap="none" lIns="0" rIns="0" tIns="0" bIns="0">
            <a:spAutoFit/>
          </a:bodyPr>
          <a:lstStyle/>
          <a:p>
            <a:pPr algn="ctr">
              <a:lnSpc>
                <a:spcPts val="2016"/>
              </a:lnSpc>
              <a:spcAft>
                <a:spcPts val="0"/>
              </a:spcAft>
              <a:defRPr sz="1800" b="0">
                <a:solidFill>
                  <a:srgbClr val="182B3A"/>
                </a:solidFill>
                <a:latin typeface="Arial"/>
              </a:defRPr>
            </a:pPr>
            <a:r>
              <a:t>1</a:t>
            </a:r>
          </a:p>
        </p:txBody>
      </p:sp>
      <p:cxnSp>
        <p:nvCxnSpPr>
          <p:cNvPr id="37" name="Connector 36"/>
          <p:cNvCxnSpPr/>
          <p:nvPr/>
        </p:nvCxnSpPr>
        <p:spPr>
          <a:xfrm>
            <a:off x="2487930" y="3310128"/>
            <a:ext cx="236728" cy="0"/>
          </a:xfrm>
          <a:prstGeom prst="line">
            <a:avLst/>
          </a:prstGeom>
          <a:ln w="12700">
            <a:solidFill>
              <a:srgbClr val="182B3A"/>
            </a:solidFill>
          </a:ln>
          <a:effectLst/>
        </p:spPr>
        <p:style>
          <a:lnRef idx="2">
            <a:schemeClr val="accent1"/>
          </a:lnRef>
          <a:fillRef idx="0">
            <a:schemeClr val="accent1"/>
          </a:fillRef>
          <a:effectRef idx="1">
            <a:schemeClr val="accent1"/>
          </a:effectRef>
          <a:fontRef idx="minor">
            <a:schemeClr val="tx1"/>
          </a:fontRef>
        </p:style>
      </p:cxnSp>
      <p:sp>
        <p:nvSpPr>
          <p:cNvPr id="38" name="TextBox 37"/>
          <p:cNvSpPr txBox="1"/>
          <p:nvPr/>
        </p:nvSpPr>
        <p:spPr>
          <a:xfrm>
            <a:off x="2487930" y="3328415"/>
            <a:ext cx="236728" cy="256032"/>
          </a:xfrm>
          <a:prstGeom prst="rect">
            <a:avLst/>
          </a:prstGeom>
          <a:noFill/>
        </p:spPr>
        <p:txBody>
          <a:bodyPr wrap="none" lIns="0" rIns="0" tIns="0" bIns="0">
            <a:spAutoFit/>
          </a:bodyPr>
          <a:lstStyle/>
          <a:p>
            <a:pPr algn="ctr">
              <a:lnSpc>
                <a:spcPts val="2016"/>
              </a:lnSpc>
              <a:spcAft>
                <a:spcPts val="0"/>
              </a:spcAft>
              <a:defRPr sz="1800" b="0">
                <a:solidFill>
                  <a:srgbClr val="182B3A"/>
                </a:solidFill>
                <a:latin typeface="Arial"/>
              </a:defRPr>
            </a:pPr>
            <a:r>
              <a:t>6</a:t>
            </a:r>
          </a:p>
        </p:txBody>
      </p:sp>
      <p:sp>
        <p:nvSpPr>
          <p:cNvPr id="39" name="TextBox 38"/>
          <p:cNvSpPr txBox="1"/>
          <p:nvPr/>
        </p:nvSpPr>
        <p:spPr>
          <a:xfrm>
            <a:off x="521207" y="3785616"/>
            <a:ext cx="281432" cy="347472"/>
          </a:xfrm>
          <a:prstGeom prst="rect">
            <a:avLst/>
          </a:prstGeom>
          <a:noFill/>
        </p:spPr>
        <p:txBody>
          <a:bodyPr wrap="none" lIns="0" rIns="0" tIns="0" bIns="0">
            <a:spAutoFit/>
          </a:bodyPr>
          <a:lstStyle/>
          <a:p>
            <a:pPr algn="l">
              <a:lnSpc>
                <a:spcPts val="2576"/>
              </a:lnSpc>
              <a:spcAft>
                <a:spcPts val="0"/>
              </a:spcAft>
              <a:defRPr sz="2300" b="0">
                <a:solidFill>
                  <a:srgbClr val="182B3A"/>
                </a:solidFill>
                <a:latin typeface="Arial"/>
              </a:defRPr>
            </a:pPr>
            <a:r>
              <a:t>= </a:t>
            </a:r>
          </a:p>
        </p:txBody>
      </p:sp>
      <p:sp>
        <p:nvSpPr>
          <p:cNvPr id="40" name="TextBox 39"/>
          <p:cNvSpPr txBox="1"/>
          <p:nvPr/>
        </p:nvSpPr>
        <p:spPr>
          <a:xfrm>
            <a:off x="802640" y="3666744"/>
            <a:ext cx="236728" cy="256032"/>
          </a:xfrm>
          <a:prstGeom prst="rect">
            <a:avLst/>
          </a:prstGeom>
          <a:noFill/>
        </p:spPr>
        <p:txBody>
          <a:bodyPr wrap="none" lIns="0" rIns="0" tIns="0" bIns="0">
            <a:spAutoFit/>
          </a:bodyPr>
          <a:lstStyle/>
          <a:p>
            <a:pPr algn="ctr">
              <a:lnSpc>
                <a:spcPts val="2016"/>
              </a:lnSpc>
              <a:spcAft>
                <a:spcPts val="0"/>
              </a:spcAft>
              <a:defRPr sz="1800" b="0">
                <a:solidFill>
                  <a:srgbClr val="182B3A"/>
                </a:solidFill>
                <a:latin typeface="Arial"/>
              </a:defRPr>
            </a:pPr>
            <a:r>
              <a:t>3</a:t>
            </a:r>
          </a:p>
        </p:txBody>
      </p:sp>
      <p:cxnSp>
        <p:nvCxnSpPr>
          <p:cNvPr id="41" name="Connector 40"/>
          <p:cNvCxnSpPr/>
          <p:nvPr/>
        </p:nvCxnSpPr>
        <p:spPr>
          <a:xfrm>
            <a:off x="802640" y="3931920"/>
            <a:ext cx="236728" cy="0"/>
          </a:xfrm>
          <a:prstGeom prst="line">
            <a:avLst/>
          </a:prstGeom>
          <a:ln w="12700">
            <a:solidFill>
              <a:srgbClr val="182B3A"/>
            </a:solidFill>
          </a:ln>
          <a:effectLst/>
        </p:spPr>
        <p:style>
          <a:lnRef idx="2">
            <a:schemeClr val="accent1"/>
          </a:lnRef>
          <a:fillRef idx="0">
            <a:schemeClr val="accent1"/>
          </a:fillRef>
          <a:effectRef idx="1">
            <a:schemeClr val="accent1"/>
          </a:effectRef>
          <a:fontRef idx="minor">
            <a:schemeClr val="tx1"/>
          </a:fontRef>
        </p:style>
      </p:cxnSp>
      <p:sp>
        <p:nvSpPr>
          <p:cNvPr id="42" name="TextBox 41"/>
          <p:cNvSpPr txBox="1"/>
          <p:nvPr/>
        </p:nvSpPr>
        <p:spPr>
          <a:xfrm>
            <a:off x="802640" y="3950208"/>
            <a:ext cx="236728" cy="256032"/>
          </a:xfrm>
          <a:prstGeom prst="rect">
            <a:avLst/>
          </a:prstGeom>
          <a:noFill/>
        </p:spPr>
        <p:txBody>
          <a:bodyPr wrap="none" lIns="0" rIns="0" tIns="0" bIns="0">
            <a:spAutoFit/>
          </a:bodyPr>
          <a:lstStyle/>
          <a:p>
            <a:pPr algn="ctr">
              <a:lnSpc>
                <a:spcPts val="2016"/>
              </a:lnSpc>
              <a:spcAft>
                <a:spcPts val="0"/>
              </a:spcAft>
              <a:defRPr sz="1800" b="0">
                <a:solidFill>
                  <a:srgbClr val="182B3A"/>
                </a:solidFill>
                <a:latin typeface="Arial"/>
              </a:defRPr>
            </a:pPr>
            <a:r>
              <a:t>6</a:t>
            </a:r>
          </a:p>
        </p:txBody>
      </p:sp>
      <p:sp>
        <p:nvSpPr>
          <p:cNvPr id="43" name="TextBox 42"/>
          <p:cNvSpPr txBox="1"/>
          <p:nvPr/>
        </p:nvSpPr>
        <p:spPr>
          <a:xfrm>
            <a:off x="1094232" y="3785616"/>
            <a:ext cx="363982" cy="347472"/>
          </a:xfrm>
          <a:prstGeom prst="rect">
            <a:avLst/>
          </a:prstGeom>
          <a:noFill/>
        </p:spPr>
        <p:txBody>
          <a:bodyPr wrap="none" lIns="0" rIns="0" tIns="0" bIns="0">
            <a:spAutoFit/>
          </a:bodyPr>
          <a:lstStyle/>
          <a:p>
            <a:pPr algn="l">
              <a:lnSpc>
                <a:spcPts val="2576"/>
              </a:lnSpc>
              <a:spcAft>
                <a:spcPts val="0"/>
              </a:spcAft>
              <a:defRPr sz="2300" b="0">
                <a:solidFill>
                  <a:srgbClr val="182B3A"/>
                </a:solidFill>
                <a:latin typeface="Arial"/>
              </a:defRPr>
            </a:pPr>
            <a:r>
              <a:t> = </a:t>
            </a:r>
          </a:p>
        </p:txBody>
      </p:sp>
      <p:sp>
        <p:nvSpPr>
          <p:cNvPr id="44" name="TextBox 43"/>
          <p:cNvSpPr txBox="1"/>
          <p:nvPr/>
        </p:nvSpPr>
        <p:spPr>
          <a:xfrm>
            <a:off x="1458214" y="3666744"/>
            <a:ext cx="236728" cy="256032"/>
          </a:xfrm>
          <a:prstGeom prst="rect">
            <a:avLst/>
          </a:prstGeom>
          <a:noFill/>
        </p:spPr>
        <p:txBody>
          <a:bodyPr wrap="none" lIns="0" rIns="0" tIns="0" bIns="0">
            <a:spAutoFit/>
          </a:bodyPr>
          <a:lstStyle/>
          <a:p>
            <a:pPr algn="ctr">
              <a:lnSpc>
                <a:spcPts val="2016"/>
              </a:lnSpc>
              <a:spcAft>
                <a:spcPts val="0"/>
              </a:spcAft>
              <a:defRPr sz="1800" b="0">
                <a:solidFill>
                  <a:srgbClr val="182B3A"/>
                </a:solidFill>
                <a:latin typeface="Arial"/>
              </a:defRPr>
            </a:pPr>
            <a:r>
              <a:t>1</a:t>
            </a:r>
          </a:p>
        </p:txBody>
      </p:sp>
      <p:cxnSp>
        <p:nvCxnSpPr>
          <p:cNvPr id="45" name="Connector 44"/>
          <p:cNvCxnSpPr/>
          <p:nvPr/>
        </p:nvCxnSpPr>
        <p:spPr>
          <a:xfrm>
            <a:off x="1458214" y="3931920"/>
            <a:ext cx="236728" cy="0"/>
          </a:xfrm>
          <a:prstGeom prst="line">
            <a:avLst/>
          </a:prstGeom>
          <a:ln w="12700">
            <a:solidFill>
              <a:srgbClr val="182B3A"/>
            </a:solidFill>
          </a:ln>
          <a:effectLst/>
        </p:spPr>
        <p:style>
          <a:lnRef idx="2">
            <a:schemeClr val="accent1"/>
          </a:lnRef>
          <a:fillRef idx="0">
            <a:schemeClr val="accent1"/>
          </a:fillRef>
          <a:effectRef idx="1">
            <a:schemeClr val="accent1"/>
          </a:effectRef>
          <a:fontRef idx="minor">
            <a:schemeClr val="tx1"/>
          </a:fontRef>
        </p:style>
      </p:cxnSp>
      <p:sp>
        <p:nvSpPr>
          <p:cNvPr id="46" name="TextBox 45"/>
          <p:cNvSpPr txBox="1"/>
          <p:nvPr/>
        </p:nvSpPr>
        <p:spPr>
          <a:xfrm>
            <a:off x="1458214" y="3950208"/>
            <a:ext cx="236728" cy="256032"/>
          </a:xfrm>
          <a:prstGeom prst="rect">
            <a:avLst/>
          </a:prstGeom>
          <a:noFill/>
        </p:spPr>
        <p:txBody>
          <a:bodyPr wrap="none" lIns="0" rIns="0" tIns="0" bIns="0">
            <a:spAutoFit/>
          </a:bodyPr>
          <a:lstStyle/>
          <a:p>
            <a:pPr algn="ctr">
              <a:lnSpc>
                <a:spcPts val="2016"/>
              </a:lnSpc>
              <a:spcAft>
                <a:spcPts val="0"/>
              </a:spcAft>
              <a:defRPr sz="1800" b="0">
                <a:solidFill>
                  <a:srgbClr val="182B3A"/>
                </a:solidFill>
                <a:latin typeface="Arial"/>
              </a:defRPr>
            </a:pPr>
            <a:r>
              <a:t>2</a:t>
            </a:r>
          </a:p>
        </p:txBody>
      </p:sp>
      <p:sp>
        <p:nvSpPr>
          <p:cNvPr id="47" name="Rectangle 46"/>
          <p:cNvSpPr/>
          <p:nvPr/>
        </p:nvSpPr>
        <p:spPr>
          <a:xfrm>
            <a:off x="448056" y="4572000"/>
            <a:ext cx="1447800" cy="365760"/>
          </a:xfrm>
          <a:prstGeom prst="rect">
            <a:avLst/>
          </a:prstGeom>
          <a:solidFill>
            <a:srgbClr val="BBDDDD"/>
          </a:solidFill>
          <a:ln>
            <a:solidFill>
              <a:srgbClr val="3559A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Rectangle 47"/>
          <p:cNvSpPr/>
          <p:nvPr/>
        </p:nvSpPr>
        <p:spPr>
          <a:xfrm>
            <a:off x="1895856" y="4572000"/>
            <a:ext cx="1447800" cy="365760"/>
          </a:xfrm>
          <a:prstGeom prst="rect">
            <a:avLst/>
          </a:prstGeom>
          <a:solidFill>
            <a:srgbClr val="FFFFFF"/>
          </a:solidFill>
          <a:ln>
            <a:solidFill>
              <a:srgbClr val="3559A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Rectangle 48"/>
          <p:cNvSpPr/>
          <p:nvPr/>
        </p:nvSpPr>
        <p:spPr>
          <a:xfrm>
            <a:off x="3343656" y="4572000"/>
            <a:ext cx="1447800" cy="365760"/>
          </a:xfrm>
          <a:prstGeom prst="rect">
            <a:avLst/>
          </a:prstGeom>
          <a:solidFill>
            <a:srgbClr val="FFFFFF"/>
          </a:solidFill>
          <a:ln>
            <a:solidFill>
              <a:srgbClr val="3559A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Rectangle 49"/>
          <p:cNvSpPr/>
          <p:nvPr/>
        </p:nvSpPr>
        <p:spPr>
          <a:xfrm>
            <a:off x="448056" y="5148072"/>
            <a:ext cx="723900" cy="365760"/>
          </a:xfrm>
          <a:prstGeom prst="rect">
            <a:avLst/>
          </a:prstGeom>
          <a:solidFill>
            <a:srgbClr val="BBDDDD"/>
          </a:solidFill>
          <a:ln>
            <a:solidFill>
              <a:srgbClr val="3559A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Rectangle 50"/>
          <p:cNvSpPr/>
          <p:nvPr/>
        </p:nvSpPr>
        <p:spPr>
          <a:xfrm>
            <a:off x="1171956" y="5148072"/>
            <a:ext cx="723900" cy="365760"/>
          </a:xfrm>
          <a:prstGeom prst="rect">
            <a:avLst/>
          </a:prstGeom>
          <a:solidFill>
            <a:srgbClr val="BBDDDD"/>
          </a:solidFill>
          <a:ln>
            <a:solidFill>
              <a:srgbClr val="3559A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Rectangle 51"/>
          <p:cNvSpPr/>
          <p:nvPr/>
        </p:nvSpPr>
        <p:spPr>
          <a:xfrm>
            <a:off x="1895856" y="5148072"/>
            <a:ext cx="723900" cy="365760"/>
          </a:xfrm>
          <a:prstGeom prst="rect">
            <a:avLst/>
          </a:prstGeom>
          <a:solidFill>
            <a:srgbClr val="FFFFFF"/>
          </a:solidFill>
          <a:ln>
            <a:solidFill>
              <a:srgbClr val="3559A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Rectangle 52"/>
          <p:cNvSpPr/>
          <p:nvPr/>
        </p:nvSpPr>
        <p:spPr>
          <a:xfrm>
            <a:off x="2619756" y="5148072"/>
            <a:ext cx="723900" cy="365760"/>
          </a:xfrm>
          <a:prstGeom prst="rect">
            <a:avLst/>
          </a:prstGeom>
          <a:solidFill>
            <a:srgbClr val="FFFFFF"/>
          </a:solidFill>
          <a:ln>
            <a:solidFill>
              <a:srgbClr val="3559A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Rectangle 53"/>
          <p:cNvSpPr/>
          <p:nvPr/>
        </p:nvSpPr>
        <p:spPr>
          <a:xfrm>
            <a:off x="3343656" y="5148072"/>
            <a:ext cx="723900" cy="365760"/>
          </a:xfrm>
          <a:prstGeom prst="rect">
            <a:avLst/>
          </a:prstGeom>
          <a:solidFill>
            <a:srgbClr val="FFFFFF"/>
          </a:solidFill>
          <a:ln>
            <a:solidFill>
              <a:srgbClr val="3559A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Rectangle 54"/>
          <p:cNvSpPr/>
          <p:nvPr/>
        </p:nvSpPr>
        <p:spPr>
          <a:xfrm>
            <a:off x="4067556" y="5148072"/>
            <a:ext cx="723900" cy="365760"/>
          </a:xfrm>
          <a:prstGeom prst="rect">
            <a:avLst/>
          </a:prstGeom>
          <a:solidFill>
            <a:srgbClr val="FFFFFF"/>
          </a:solidFill>
          <a:ln>
            <a:solidFill>
              <a:srgbClr val="3559A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TextBox 55"/>
          <p:cNvSpPr txBox="1"/>
          <p:nvPr/>
        </p:nvSpPr>
        <p:spPr>
          <a:xfrm>
            <a:off x="448056" y="5815584"/>
            <a:ext cx="4389120" cy="1554480"/>
          </a:xfrm>
          <a:prstGeom prst="rect">
            <a:avLst/>
          </a:prstGeom>
          <a:noFill/>
        </p:spPr>
        <p:txBody>
          <a:bodyPr wrap="square" lIns="54864" rIns="54864" tIns="22860" bIns="22860">
            <a:spAutoFit/>
          </a:bodyPr>
          <a:lstStyle/>
          <a:p>
            <a:pPr>
              <a:lnSpc>
                <a:spcPts val="1995"/>
              </a:lnSpc>
              <a:spcBef>
                <a:spcPts val="0"/>
              </a:spcBef>
              <a:spcAft>
                <a:spcPts val="0"/>
              </a:spcAft>
              <a:defRPr sz="1900" b="0">
                <a:solidFill>
                  <a:srgbClr val="182B3A"/>
                </a:solidFill>
                <a:latin typeface="Arial"/>
              </a:defRPr>
            </a:pPr>
            <a:r>
              <a:t>The two strips are the same whole.</a:t>
            </a:r>
          </a:p>
          <a:p>
            <a:pPr>
              <a:lnSpc>
                <a:spcPts val="1995"/>
              </a:lnSpc>
              <a:spcBef>
                <a:spcPts val="0"/>
              </a:spcBef>
              <a:spcAft>
                <a:spcPts val="0"/>
              </a:spcAft>
              <a:defRPr sz="1900" b="0">
                <a:solidFill>
                  <a:srgbClr val="182B3A"/>
                </a:solidFill>
                <a:latin typeface="Arial"/>
              </a:defRPr>
            </a:pPr>
            <a:r>
              <a:t>Multiply top and bottom by 2: the value stays the same.</a:t>
            </a:r>
          </a:p>
        </p:txBody>
      </p:sp>
      <p:sp>
        <p:nvSpPr>
          <p:cNvPr id="57" name="TextBox 56"/>
          <p:cNvSpPr txBox="1"/>
          <p:nvPr/>
        </p:nvSpPr>
        <p:spPr>
          <a:xfrm>
            <a:off x="5111496" y="1783080"/>
            <a:ext cx="4389120" cy="457200"/>
          </a:xfrm>
          <a:prstGeom prst="rect">
            <a:avLst/>
          </a:prstGeom>
          <a:noFill/>
        </p:spPr>
        <p:txBody>
          <a:bodyPr wrap="square" lIns="54864" rIns="54864" tIns="22860" bIns="22860">
            <a:spAutoFit/>
          </a:bodyPr>
          <a:lstStyle/>
          <a:p>
            <a:pPr>
              <a:lnSpc>
                <a:spcPts val="2310"/>
              </a:lnSpc>
              <a:spcBef>
                <a:spcPts val="0"/>
              </a:spcBef>
              <a:spcAft>
                <a:spcPts val="0"/>
              </a:spcAft>
              <a:defRPr sz="2200" b="1">
                <a:solidFill>
                  <a:srgbClr val="182B3A"/>
                </a:solidFill>
                <a:latin typeface="Arial"/>
              </a:defRPr>
            </a:pPr>
            <a:r>
              <a:t>Use a common denominator</a:t>
            </a:r>
          </a:p>
        </p:txBody>
      </p:sp>
      <p:sp>
        <p:nvSpPr>
          <p:cNvPr id="58" name="TextBox 57"/>
          <p:cNvSpPr txBox="1"/>
          <p:nvPr/>
        </p:nvSpPr>
        <p:spPr>
          <a:xfrm>
            <a:off x="5184648" y="2423160"/>
            <a:ext cx="243078" cy="256032"/>
          </a:xfrm>
          <a:prstGeom prst="rect">
            <a:avLst/>
          </a:prstGeom>
          <a:noFill/>
        </p:spPr>
        <p:txBody>
          <a:bodyPr wrap="none" lIns="0" rIns="0" tIns="0" bIns="0">
            <a:spAutoFit/>
          </a:bodyPr>
          <a:lstStyle/>
          <a:p>
            <a:pPr algn="ctr">
              <a:lnSpc>
                <a:spcPts val="2128"/>
              </a:lnSpc>
              <a:spcAft>
                <a:spcPts val="0"/>
              </a:spcAft>
              <a:defRPr sz="1900" b="0">
                <a:solidFill>
                  <a:srgbClr val="182B3A"/>
                </a:solidFill>
                <a:latin typeface="Arial"/>
              </a:defRPr>
            </a:pPr>
            <a:r>
              <a:t>3</a:t>
            </a:r>
          </a:p>
        </p:txBody>
      </p:sp>
      <p:cxnSp>
        <p:nvCxnSpPr>
          <p:cNvPr id="59" name="Connector 58"/>
          <p:cNvCxnSpPr/>
          <p:nvPr/>
        </p:nvCxnSpPr>
        <p:spPr>
          <a:xfrm>
            <a:off x="5184648" y="2688336"/>
            <a:ext cx="243078" cy="0"/>
          </a:xfrm>
          <a:prstGeom prst="line">
            <a:avLst/>
          </a:prstGeom>
          <a:ln w="12700">
            <a:solidFill>
              <a:srgbClr val="182B3A"/>
            </a:solidFill>
          </a:ln>
          <a:effectLst/>
        </p:spPr>
        <p:style>
          <a:lnRef idx="2">
            <a:schemeClr val="accent1"/>
          </a:lnRef>
          <a:fillRef idx="0">
            <a:schemeClr val="accent1"/>
          </a:fillRef>
          <a:effectRef idx="1">
            <a:schemeClr val="accent1"/>
          </a:effectRef>
          <a:fontRef idx="minor">
            <a:schemeClr val="tx1"/>
          </a:fontRef>
        </p:style>
      </p:cxnSp>
      <p:sp>
        <p:nvSpPr>
          <p:cNvPr id="60" name="TextBox 59"/>
          <p:cNvSpPr txBox="1"/>
          <p:nvPr/>
        </p:nvSpPr>
        <p:spPr>
          <a:xfrm>
            <a:off x="5184648" y="2706624"/>
            <a:ext cx="243078" cy="256032"/>
          </a:xfrm>
          <a:prstGeom prst="rect">
            <a:avLst/>
          </a:prstGeom>
          <a:noFill/>
        </p:spPr>
        <p:txBody>
          <a:bodyPr wrap="none" lIns="0" rIns="0" tIns="0" bIns="0">
            <a:spAutoFit/>
          </a:bodyPr>
          <a:lstStyle/>
          <a:p>
            <a:pPr algn="ctr">
              <a:lnSpc>
                <a:spcPts val="2128"/>
              </a:lnSpc>
              <a:spcAft>
                <a:spcPts val="0"/>
              </a:spcAft>
              <a:defRPr sz="1900" b="0">
                <a:solidFill>
                  <a:srgbClr val="182B3A"/>
                </a:solidFill>
                <a:latin typeface="Arial"/>
              </a:defRPr>
            </a:pPr>
            <a:r>
              <a:t>4</a:t>
            </a:r>
          </a:p>
        </p:txBody>
      </p:sp>
      <p:sp>
        <p:nvSpPr>
          <p:cNvPr id="61" name="TextBox 60"/>
          <p:cNvSpPr txBox="1"/>
          <p:nvPr/>
        </p:nvSpPr>
        <p:spPr>
          <a:xfrm>
            <a:off x="5482590" y="2542032"/>
            <a:ext cx="376682" cy="347472"/>
          </a:xfrm>
          <a:prstGeom prst="rect">
            <a:avLst/>
          </a:prstGeom>
          <a:noFill/>
        </p:spPr>
        <p:txBody>
          <a:bodyPr wrap="none" lIns="0" rIns="0" tIns="0" bIns="0">
            <a:spAutoFit/>
          </a:bodyPr>
          <a:lstStyle/>
          <a:p>
            <a:pPr algn="l">
              <a:lnSpc>
                <a:spcPts val="2688"/>
              </a:lnSpc>
              <a:spcAft>
                <a:spcPts val="0"/>
              </a:spcAft>
              <a:defRPr sz="2400" b="0">
                <a:solidFill>
                  <a:srgbClr val="182B3A"/>
                </a:solidFill>
                <a:latin typeface="Arial"/>
              </a:defRPr>
            </a:pPr>
            <a:r>
              <a:t> − </a:t>
            </a:r>
          </a:p>
        </p:txBody>
      </p:sp>
      <p:sp>
        <p:nvSpPr>
          <p:cNvPr id="62" name="TextBox 61"/>
          <p:cNvSpPr txBox="1"/>
          <p:nvPr/>
        </p:nvSpPr>
        <p:spPr>
          <a:xfrm>
            <a:off x="5859272" y="2423160"/>
            <a:ext cx="243078" cy="256032"/>
          </a:xfrm>
          <a:prstGeom prst="rect">
            <a:avLst/>
          </a:prstGeom>
          <a:noFill/>
        </p:spPr>
        <p:txBody>
          <a:bodyPr wrap="none" lIns="0" rIns="0" tIns="0" bIns="0">
            <a:spAutoFit/>
          </a:bodyPr>
          <a:lstStyle/>
          <a:p>
            <a:pPr algn="ctr">
              <a:lnSpc>
                <a:spcPts val="2128"/>
              </a:lnSpc>
              <a:spcAft>
                <a:spcPts val="0"/>
              </a:spcAft>
              <a:defRPr sz="1900" b="0">
                <a:solidFill>
                  <a:srgbClr val="182B3A"/>
                </a:solidFill>
                <a:latin typeface="Arial"/>
              </a:defRPr>
            </a:pPr>
            <a:r>
              <a:t>1</a:t>
            </a:r>
          </a:p>
        </p:txBody>
      </p:sp>
      <p:cxnSp>
        <p:nvCxnSpPr>
          <p:cNvPr id="63" name="Connector 62"/>
          <p:cNvCxnSpPr/>
          <p:nvPr/>
        </p:nvCxnSpPr>
        <p:spPr>
          <a:xfrm>
            <a:off x="5859272" y="2688336"/>
            <a:ext cx="243078" cy="0"/>
          </a:xfrm>
          <a:prstGeom prst="line">
            <a:avLst/>
          </a:prstGeom>
          <a:ln w="12700">
            <a:solidFill>
              <a:srgbClr val="182B3A"/>
            </a:solidFill>
          </a:ln>
          <a:effectLst/>
        </p:spPr>
        <p:style>
          <a:lnRef idx="2">
            <a:schemeClr val="accent1"/>
          </a:lnRef>
          <a:fillRef idx="0">
            <a:schemeClr val="accent1"/>
          </a:fillRef>
          <a:effectRef idx="1">
            <a:schemeClr val="accent1"/>
          </a:effectRef>
          <a:fontRef idx="minor">
            <a:schemeClr val="tx1"/>
          </a:fontRef>
        </p:style>
      </p:cxnSp>
      <p:sp>
        <p:nvSpPr>
          <p:cNvPr id="64" name="TextBox 63"/>
          <p:cNvSpPr txBox="1"/>
          <p:nvPr/>
        </p:nvSpPr>
        <p:spPr>
          <a:xfrm>
            <a:off x="5859272" y="2706624"/>
            <a:ext cx="243078" cy="256032"/>
          </a:xfrm>
          <a:prstGeom prst="rect">
            <a:avLst/>
          </a:prstGeom>
          <a:noFill/>
        </p:spPr>
        <p:txBody>
          <a:bodyPr wrap="none" lIns="0" rIns="0" tIns="0" bIns="0">
            <a:spAutoFit/>
          </a:bodyPr>
          <a:lstStyle/>
          <a:p>
            <a:pPr algn="ctr">
              <a:lnSpc>
                <a:spcPts val="2128"/>
              </a:lnSpc>
              <a:spcAft>
                <a:spcPts val="0"/>
              </a:spcAft>
              <a:defRPr sz="1900" b="0">
                <a:solidFill>
                  <a:srgbClr val="182B3A"/>
                </a:solidFill>
                <a:latin typeface="Arial"/>
              </a:defRPr>
            </a:pPr>
            <a:r>
              <a:t>6</a:t>
            </a:r>
          </a:p>
        </p:txBody>
      </p:sp>
      <p:sp>
        <p:nvSpPr>
          <p:cNvPr id="65" name="TextBox 64"/>
          <p:cNvSpPr txBox="1"/>
          <p:nvPr/>
        </p:nvSpPr>
        <p:spPr>
          <a:xfrm>
            <a:off x="5184648" y="3163824"/>
            <a:ext cx="290957" cy="347472"/>
          </a:xfrm>
          <a:prstGeom prst="rect">
            <a:avLst/>
          </a:prstGeom>
          <a:noFill/>
        </p:spPr>
        <p:txBody>
          <a:bodyPr wrap="none" lIns="0" rIns="0" tIns="0" bIns="0">
            <a:spAutoFit/>
          </a:bodyPr>
          <a:lstStyle/>
          <a:p>
            <a:pPr algn="l">
              <a:lnSpc>
                <a:spcPts val="2688"/>
              </a:lnSpc>
              <a:spcAft>
                <a:spcPts val="0"/>
              </a:spcAft>
              <a:defRPr sz="2400" b="0">
                <a:solidFill>
                  <a:srgbClr val="182B3A"/>
                </a:solidFill>
                <a:latin typeface="Arial"/>
              </a:defRPr>
            </a:pPr>
            <a:r>
              <a:t>= </a:t>
            </a:r>
          </a:p>
        </p:txBody>
      </p:sp>
      <p:sp>
        <p:nvSpPr>
          <p:cNvPr id="66" name="TextBox 65"/>
          <p:cNvSpPr txBox="1"/>
          <p:nvPr/>
        </p:nvSpPr>
        <p:spPr>
          <a:xfrm>
            <a:off x="5475604" y="3044952"/>
            <a:ext cx="376428" cy="256032"/>
          </a:xfrm>
          <a:prstGeom prst="rect">
            <a:avLst/>
          </a:prstGeom>
          <a:noFill/>
        </p:spPr>
        <p:txBody>
          <a:bodyPr wrap="none" lIns="0" rIns="0" tIns="0" bIns="0">
            <a:spAutoFit/>
          </a:bodyPr>
          <a:lstStyle/>
          <a:p>
            <a:pPr algn="ctr">
              <a:lnSpc>
                <a:spcPts val="2128"/>
              </a:lnSpc>
              <a:spcAft>
                <a:spcPts val="0"/>
              </a:spcAft>
              <a:defRPr sz="1900" b="0">
                <a:solidFill>
                  <a:srgbClr val="182B3A"/>
                </a:solidFill>
                <a:latin typeface="Arial"/>
              </a:defRPr>
            </a:pPr>
            <a:r>
              <a:t>9</a:t>
            </a:r>
          </a:p>
        </p:txBody>
      </p:sp>
      <p:cxnSp>
        <p:nvCxnSpPr>
          <p:cNvPr id="67" name="Connector 66"/>
          <p:cNvCxnSpPr/>
          <p:nvPr/>
        </p:nvCxnSpPr>
        <p:spPr>
          <a:xfrm>
            <a:off x="5475604" y="3310128"/>
            <a:ext cx="376429" cy="0"/>
          </a:xfrm>
          <a:prstGeom prst="line">
            <a:avLst/>
          </a:prstGeom>
          <a:ln w="12700">
            <a:solidFill>
              <a:srgbClr val="182B3A"/>
            </a:solidFill>
          </a:ln>
          <a:effectLst/>
        </p:spPr>
        <p:style>
          <a:lnRef idx="2">
            <a:schemeClr val="accent1"/>
          </a:lnRef>
          <a:fillRef idx="0">
            <a:schemeClr val="accent1"/>
          </a:fillRef>
          <a:effectRef idx="1">
            <a:schemeClr val="accent1"/>
          </a:effectRef>
          <a:fontRef idx="minor">
            <a:schemeClr val="tx1"/>
          </a:fontRef>
        </p:style>
      </p:cxnSp>
      <p:sp>
        <p:nvSpPr>
          <p:cNvPr id="68" name="TextBox 67"/>
          <p:cNvSpPr txBox="1"/>
          <p:nvPr/>
        </p:nvSpPr>
        <p:spPr>
          <a:xfrm>
            <a:off x="5475604" y="3328415"/>
            <a:ext cx="376428" cy="256032"/>
          </a:xfrm>
          <a:prstGeom prst="rect">
            <a:avLst/>
          </a:prstGeom>
          <a:noFill/>
        </p:spPr>
        <p:txBody>
          <a:bodyPr wrap="none" lIns="0" rIns="0" tIns="0" bIns="0">
            <a:spAutoFit/>
          </a:bodyPr>
          <a:lstStyle/>
          <a:p>
            <a:pPr algn="ctr">
              <a:lnSpc>
                <a:spcPts val="2128"/>
              </a:lnSpc>
              <a:spcAft>
                <a:spcPts val="0"/>
              </a:spcAft>
              <a:defRPr sz="1900" b="0">
                <a:solidFill>
                  <a:srgbClr val="182B3A"/>
                </a:solidFill>
                <a:latin typeface="Arial"/>
              </a:defRPr>
            </a:pPr>
            <a:r>
              <a:t>12</a:t>
            </a:r>
          </a:p>
        </p:txBody>
      </p:sp>
      <p:sp>
        <p:nvSpPr>
          <p:cNvPr id="69" name="TextBox 68"/>
          <p:cNvSpPr txBox="1"/>
          <p:nvPr/>
        </p:nvSpPr>
        <p:spPr>
          <a:xfrm>
            <a:off x="5906897" y="3163824"/>
            <a:ext cx="376682" cy="347472"/>
          </a:xfrm>
          <a:prstGeom prst="rect">
            <a:avLst/>
          </a:prstGeom>
          <a:noFill/>
        </p:spPr>
        <p:txBody>
          <a:bodyPr wrap="none" lIns="0" rIns="0" tIns="0" bIns="0">
            <a:spAutoFit/>
          </a:bodyPr>
          <a:lstStyle/>
          <a:p>
            <a:pPr algn="l">
              <a:lnSpc>
                <a:spcPts val="2688"/>
              </a:lnSpc>
              <a:spcAft>
                <a:spcPts val="0"/>
              </a:spcAft>
              <a:defRPr sz="2400" b="0">
                <a:solidFill>
                  <a:srgbClr val="182B3A"/>
                </a:solidFill>
                <a:latin typeface="Arial"/>
              </a:defRPr>
            </a:pPr>
            <a:r>
              <a:t> − </a:t>
            </a:r>
          </a:p>
        </p:txBody>
      </p:sp>
      <p:sp>
        <p:nvSpPr>
          <p:cNvPr id="70" name="TextBox 69"/>
          <p:cNvSpPr txBox="1"/>
          <p:nvPr/>
        </p:nvSpPr>
        <p:spPr>
          <a:xfrm>
            <a:off x="6283579" y="3044952"/>
            <a:ext cx="376428" cy="256032"/>
          </a:xfrm>
          <a:prstGeom prst="rect">
            <a:avLst/>
          </a:prstGeom>
          <a:noFill/>
        </p:spPr>
        <p:txBody>
          <a:bodyPr wrap="none" lIns="0" rIns="0" tIns="0" bIns="0">
            <a:spAutoFit/>
          </a:bodyPr>
          <a:lstStyle/>
          <a:p>
            <a:pPr algn="ctr">
              <a:lnSpc>
                <a:spcPts val="2128"/>
              </a:lnSpc>
              <a:spcAft>
                <a:spcPts val="0"/>
              </a:spcAft>
              <a:defRPr sz="1900" b="0">
                <a:solidFill>
                  <a:srgbClr val="182B3A"/>
                </a:solidFill>
                <a:latin typeface="Arial"/>
              </a:defRPr>
            </a:pPr>
            <a:r>
              <a:t>2</a:t>
            </a:r>
          </a:p>
        </p:txBody>
      </p:sp>
      <p:cxnSp>
        <p:nvCxnSpPr>
          <p:cNvPr id="71" name="Connector 70"/>
          <p:cNvCxnSpPr/>
          <p:nvPr/>
        </p:nvCxnSpPr>
        <p:spPr>
          <a:xfrm>
            <a:off x="6283579" y="3310128"/>
            <a:ext cx="376428" cy="0"/>
          </a:xfrm>
          <a:prstGeom prst="line">
            <a:avLst/>
          </a:prstGeom>
          <a:ln w="12700">
            <a:solidFill>
              <a:srgbClr val="182B3A"/>
            </a:solidFill>
          </a:ln>
          <a:effectLst/>
        </p:spPr>
        <p:style>
          <a:lnRef idx="2">
            <a:schemeClr val="accent1"/>
          </a:lnRef>
          <a:fillRef idx="0">
            <a:schemeClr val="accent1"/>
          </a:fillRef>
          <a:effectRef idx="1">
            <a:schemeClr val="accent1"/>
          </a:effectRef>
          <a:fontRef idx="minor">
            <a:schemeClr val="tx1"/>
          </a:fontRef>
        </p:style>
      </p:cxnSp>
      <p:sp>
        <p:nvSpPr>
          <p:cNvPr id="72" name="TextBox 71"/>
          <p:cNvSpPr txBox="1"/>
          <p:nvPr/>
        </p:nvSpPr>
        <p:spPr>
          <a:xfrm>
            <a:off x="6283579" y="3328415"/>
            <a:ext cx="376428" cy="256032"/>
          </a:xfrm>
          <a:prstGeom prst="rect">
            <a:avLst/>
          </a:prstGeom>
          <a:noFill/>
        </p:spPr>
        <p:txBody>
          <a:bodyPr wrap="none" lIns="0" rIns="0" tIns="0" bIns="0">
            <a:spAutoFit/>
          </a:bodyPr>
          <a:lstStyle/>
          <a:p>
            <a:pPr algn="ctr">
              <a:lnSpc>
                <a:spcPts val="2128"/>
              </a:lnSpc>
              <a:spcAft>
                <a:spcPts val="0"/>
              </a:spcAft>
              <a:defRPr sz="1900" b="0">
                <a:solidFill>
                  <a:srgbClr val="182B3A"/>
                </a:solidFill>
                <a:latin typeface="Arial"/>
              </a:defRPr>
            </a:pPr>
            <a:r>
              <a:t>12</a:t>
            </a:r>
          </a:p>
        </p:txBody>
      </p:sp>
      <p:sp>
        <p:nvSpPr>
          <p:cNvPr id="73" name="TextBox 72"/>
          <p:cNvSpPr txBox="1"/>
          <p:nvPr/>
        </p:nvSpPr>
        <p:spPr>
          <a:xfrm>
            <a:off x="5184648" y="3785616"/>
            <a:ext cx="290957" cy="347472"/>
          </a:xfrm>
          <a:prstGeom prst="rect">
            <a:avLst/>
          </a:prstGeom>
          <a:noFill/>
        </p:spPr>
        <p:txBody>
          <a:bodyPr wrap="none" lIns="0" rIns="0" tIns="0" bIns="0">
            <a:spAutoFit/>
          </a:bodyPr>
          <a:lstStyle/>
          <a:p>
            <a:pPr algn="l">
              <a:lnSpc>
                <a:spcPts val="2688"/>
              </a:lnSpc>
              <a:spcAft>
                <a:spcPts val="0"/>
              </a:spcAft>
              <a:defRPr sz="2400" b="0">
                <a:solidFill>
                  <a:srgbClr val="182B3A"/>
                </a:solidFill>
                <a:latin typeface="Arial"/>
              </a:defRPr>
            </a:pPr>
            <a:r>
              <a:t>= </a:t>
            </a:r>
          </a:p>
        </p:txBody>
      </p:sp>
      <p:sp>
        <p:nvSpPr>
          <p:cNvPr id="74" name="TextBox 73"/>
          <p:cNvSpPr txBox="1"/>
          <p:nvPr/>
        </p:nvSpPr>
        <p:spPr>
          <a:xfrm>
            <a:off x="5475604" y="3666744"/>
            <a:ext cx="376428" cy="256032"/>
          </a:xfrm>
          <a:prstGeom prst="rect">
            <a:avLst/>
          </a:prstGeom>
          <a:noFill/>
        </p:spPr>
        <p:txBody>
          <a:bodyPr wrap="none" lIns="0" rIns="0" tIns="0" bIns="0">
            <a:spAutoFit/>
          </a:bodyPr>
          <a:lstStyle/>
          <a:p>
            <a:pPr algn="ctr">
              <a:lnSpc>
                <a:spcPts val="2128"/>
              </a:lnSpc>
              <a:spcAft>
                <a:spcPts val="0"/>
              </a:spcAft>
              <a:defRPr sz="1900" b="0">
                <a:solidFill>
                  <a:srgbClr val="182B3A"/>
                </a:solidFill>
                <a:latin typeface="Arial"/>
              </a:defRPr>
            </a:pPr>
            <a:r>
              <a:t>7</a:t>
            </a:r>
          </a:p>
        </p:txBody>
      </p:sp>
      <p:cxnSp>
        <p:nvCxnSpPr>
          <p:cNvPr id="75" name="Connector 74"/>
          <p:cNvCxnSpPr/>
          <p:nvPr/>
        </p:nvCxnSpPr>
        <p:spPr>
          <a:xfrm>
            <a:off x="5475604" y="3931920"/>
            <a:ext cx="376429" cy="0"/>
          </a:xfrm>
          <a:prstGeom prst="line">
            <a:avLst/>
          </a:prstGeom>
          <a:ln w="12700">
            <a:solidFill>
              <a:srgbClr val="182B3A"/>
            </a:solidFill>
          </a:ln>
          <a:effectLst/>
        </p:spPr>
        <p:style>
          <a:lnRef idx="2">
            <a:schemeClr val="accent1"/>
          </a:lnRef>
          <a:fillRef idx="0">
            <a:schemeClr val="accent1"/>
          </a:fillRef>
          <a:effectRef idx="1">
            <a:schemeClr val="accent1"/>
          </a:effectRef>
          <a:fontRef idx="minor">
            <a:schemeClr val="tx1"/>
          </a:fontRef>
        </p:style>
      </p:cxnSp>
      <p:sp>
        <p:nvSpPr>
          <p:cNvPr id="76" name="TextBox 75"/>
          <p:cNvSpPr txBox="1"/>
          <p:nvPr/>
        </p:nvSpPr>
        <p:spPr>
          <a:xfrm>
            <a:off x="5475604" y="3950208"/>
            <a:ext cx="376428" cy="256032"/>
          </a:xfrm>
          <a:prstGeom prst="rect">
            <a:avLst/>
          </a:prstGeom>
          <a:noFill/>
        </p:spPr>
        <p:txBody>
          <a:bodyPr wrap="none" lIns="0" rIns="0" tIns="0" bIns="0">
            <a:spAutoFit/>
          </a:bodyPr>
          <a:lstStyle/>
          <a:p>
            <a:pPr algn="ctr">
              <a:lnSpc>
                <a:spcPts val="2128"/>
              </a:lnSpc>
              <a:spcAft>
                <a:spcPts val="0"/>
              </a:spcAft>
              <a:defRPr sz="1900" b="0">
                <a:solidFill>
                  <a:srgbClr val="182B3A"/>
                </a:solidFill>
                <a:latin typeface="Arial"/>
              </a:defRPr>
            </a:pPr>
            <a:r>
              <a:t>12</a:t>
            </a:r>
          </a:p>
        </p:txBody>
      </p:sp>
      <p:sp>
        <p:nvSpPr>
          <p:cNvPr id="77" name="TextBox 76"/>
          <p:cNvSpPr txBox="1"/>
          <p:nvPr/>
        </p:nvSpPr>
        <p:spPr>
          <a:xfrm>
            <a:off x="5111496" y="4709160"/>
            <a:ext cx="4389120" cy="2651760"/>
          </a:xfrm>
          <a:prstGeom prst="rect">
            <a:avLst/>
          </a:prstGeom>
          <a:noFill/>
        </p:spPr>
        <p:txBody>
          <a:bodyPr wrap="square" lIns="54864" rIns="54864" tIns="22860" bIns="22860">
            <a:spAutoFit/>
          </a:bodyPr>
          <a:lstStyle/>
          <a:p>
            <a:pPr>
              <a:lnSpc>
                <a:spcPts val="1995"/>
              </a:lnSpc>
              <a:spcBef>
                <a:spcPts val="0"/>
              </a:spcBef>
              <a:spcAft>
                <a:spcPts val="0"/>
              </a:spcAft>
              <a:defRPr sz="1900" b="0">
                <a:solidFill>
                  <a:srgbClr val="182B3A"/>
                </a:solidFill>
                <a:latin typeface="Arial"/>
              </a:defRPr>
            </a:pPr>
            <a:r>
              <a:t>Choose a common multiple: 12.</a:t>
            </a:r>
          </a:p>
          <a:p>
            <a:pPr>
              <a:lnSpc>
                <a:spcPts val="1995"/>
              </a:lnSpc>
              <a:spcBef>
                <a:spcPts val="0"/>
              </a:spcBef>
              <a:spcAft>
                <a:spcPts val="0"/>
              </a:spcAft>
              <a:defRPr sz="1900" b="0">
                <a:solidFill>
                  <a:srgbClr val="182B3A"/>
                </a:solidFill>
                <a:latin typeface="Arial"/>
              </a:defRPr>
            </a:pPr>
            <a:r>
              <a:t>Multiply each numerator by the same factor as its denominator.</a:t>
            </a:r>
          </a:p>
          <a:p>
            <a:pPr>
              <a:lnSpc>
                <a:spcPts val="1995"/>
              </a:lnSpc>
              <a:spcBef>
                <a:spcPts val="0"/>
              </a:spcBef>
              <a:spcAft>
                <a:spcPts val="0"/>
              </a:spcAft>
              <a:defRPr sz="1900" b="0">
                <a:solidFill>
                  <a:srgbClr val="182B3A"/>
                </a:solidFill>
                <a:latin typeface="Arial"/>
              </a:defRPr>
            </a:pPr>
            <a:r>
              <a:t>Only add or subtract the numerators.</a:t>
            </a:r>
          </a:p>
          <a:p>
            <a:pPr>
              <a:lnSpc>
                <a:spcPts val="1995"/>
              </a:lnSpc>
              <a:spcBef>
                <a:spcPts val="0"/>
              </a:spcBef>
              <a:spcAft>
                <a:spcPts val="0"/>
              </a:spcAft>
              <a:defRPr sz="1900" b="0">
                <a:solidFill>
                  <a:srgbClr val="182B3A"/>
                </a:solidFill>
                <a:latin typeface="Arial"/>
              </a:defRPr>
            </a:pPr>
            <a:r>
              <a:t>Equal fractions subtract to zero: 3/5 − 3/5 = 0.</a:t>
            </a:r>
          </a:p>
        </p:txBody>
      </p:sp>
      <p:sp>
        <p:nvSpPr>
          <p:cNvPr id="78" name="TextBox 77"/>
          <p:cNvSpPr txBox="1"/>
          <p:nvPr/>
        </p:nvSpPr>
        <p:spPr>
          <a:xfrm>
            <a:off x="9774936" y="1783080"/>
            <a:ext cx="4389120" cy="457200"/>
          </a:xfrm>
          <a:prstGeom prst="rect">
            <a:avLst/>
          </a:prstGeom>
          <a:noFill/>
        </p:spPr>
        <p:txBody>
          <a:bodyPr wrap="square" lIns="54864" rIns="54864" tIns="22860" bIns="22860">
            <a:spAutoFit/>
          </a:bodyPr>
          <a:lstStyle/>
          <a:p>
            <a:pPr>
              <a:lnSpc>
                <a:spcPts val="2205"/>
              </a:lnSpc>
              <a:spcBef>
                <a:spcPts val="0"/>
              </a:spcBef>
              <a:spcAft>
                <a:spcPts val="0"/>
              </a:spcAft>
              <a:defRPr sz="2100" b="1">
                <a:solidFill>
                  <a:srgbClr val="182B3A"/>
                </a:solidFill>
                <a:latin typeface="Arial"/>
              </a:defRPr>
            </a:pPr>
            <a:r>
              <a:t>Mixed numbers and simplifying</a:t>
            </a:r>
          </a:p>
        </p:txBody>
      </p:sp>
      <p:sp>
        <p:nvSpPr>
          <p:cNvPr id="79" name="TextBox 78"/>
          <p:cNvSpPr txBox="1"/>
          <p:nvPr/>
        </p:nvSpPr>
        <p:spPr>
          <a:xfrm>
            <a:off x="9848088" y="2542032"/>
            <a:ext cx="271906" cy="347472"/>
          </a:xfrm>
          <a:prstGeom prst="rect">
            <a:avLst/>
          </a:prstGeom>
          <a:noFill/>
        </p:spPr>
        <p:txBody>
          <a:bodyPr wrap="none" lIns="0" rIns="0" tIns="0" bIns="0">
            <a:spAutoFit/>
          </a:bodyPr>
          <a:lstStyle/>
          <a:p>
            <a:pPr algn="l">
              <a:lnSpc>
                <a:spcPts val="2576"/>
              </a:lnSpc>
              <a:spcAft>
                <a:spcPts val="0"/>
              </a:spcAft>
              <a:defRPr sz="2300" b="0">
                <a:solidFill>
                  <a:srgbClr val="182B3A"/>
                </a:solidFill>
                <a:latin typeface="Arial"/>
              </a:defRPr>
            </a:pPr>
            <a:r>
              <a:t>1 </a:t>
            </a:r>
          </a:p>
        </p:txBody>
      </p:sp>
      <p:sp>
        <p:nvSpPr>
          <p:cNvPr id="80" name="TextBox 79"/>
          <p:cNvSpPr txBox="1"/>
          <p:nvPr/>
        </p:nvSpPr>
        <p:spPr>
          <a:xfrm>
            <a:off x="10119995" y="2423160"/>
            <a:ext cx="236728" cy="256032"/>
          </a:xfrm>
          <a:prstGeom prst="rect">
            <a:avLst/>
          </a:prstGeom>
          <a:noFill/>
        </p:spPr>
        <p:txBody>
          <a:bodyPr wrap="none" lIns="0" rIns="0" tIns="0" bIns="0">
            <a:spAutoFit/>
          </a:bodyPr>
          <a:lstStyle/>
          <a:p>
            <a:pPr algn="ctr">
              <a:lnSpc>
                <a:spcPts val="2016"/>
              </a:lnSpc>
              <a:spcAft>
                <a:spcPts val="0"/>
              </a:spcAft>
              <a:defRPr sz="1800" b="0">
                <a:solidFill>
                  <a:srgbClr val="182B3A"/>
                </a:solidFill>
                <a:latin typeface="Arial"/>
              </a:defRPr>
            </a:pPr>
            <a:r>
              <a:t>1</a:t>
            </a:r>
          </a:p>
        </p:txBody>
      </p:sp>
      <p:cxnSp>
        <p:nvCxnSpPr>
          <p:cNvPr id="81" name="Connector 80"/>
          <p:cNvCxnSpPr/>
          <p:nvPr/>
        </p:nvCxnSpPr>
        <p:spPr>
          <a:xfrm>
            <a:off x="10119995" y="2688336"/>
            <a:ext cx="236728" cy="0"/>
          </a:xfrm>
          <a:prstGeom prst="line">
            <a:avLst/>
          </a:prstGeom>
          <a:ln w="12700">
            <a:solidFill>
              <a:srgbClr val="182B3A"/>
            </a:solidFill>
          </a:ln>
          <a:effectLst/>
        </p:spPr>
        <p:style>
          <a:lnRef idx="2">
            <a:schemeClr val="accent1"/>
          </a:lnRef>
          <a:fillRef idx="0">
            <a:schemeClr val="accent1"/>
          </a:fillRef>
          <a:effectRef idx="1">
            <a:schemeClr val="accent1"/>
          </a:effectRef>
          <a:fontRef idx="minor">
            <a:schemeClr val="tx1"/>
          </a:fontRef>
        </p:style>
      </p:cxnSp>
      <p:sp>
        <p:nvSpPr>
          <p:cNvPr id="82" name="TextBox 81"/>
          <p:cNvSpPr txBox="1"/>
          <p:nvPr/>
        </p:nvSpPr>
        <p:spPr>
          <a:xfrm>
            <a:off x="10119995" y="2706624"/>
            <a:ext cx="236728" cy="256032"/>
          </a:xfrm>
          <a:prstGeom prst="rect">
            <a:avLst/>
          </a:prstGeom>
          <a:noFill/>
        </p:spPr>
        <p:txBody>
          <a:bodyPr wrap="none" lIns="0" rIns="0" tIns="0" bIns="0">
            <a:spAutoFit/>
          </a:bodyPr>
          <a:lstStyle/>
          <a:p>
            <a:pPr algn="ctr">
              <a:lnSpc>
                <a:spcPts val="2016"/>
              </a:lnSpc>
              <a:spcAft>
                <a:spcPts val="0"/>
              </a:spcAft>
              <a:defRPr sz="1800" b="0">
                <a:solidFill>
                  <a:srgbClr val="182B3A"/>
                </a:solidFill>
                <a:latin typeface="Arial"/>
              </a:defRPr>
            </a:pPr>
            <a:r>
              <a:t>3</a:t>
            </a:r>
          </a:p>
        </p:txBody>
      </p:sp>
      <p:sp>
        <p:nvSpPr>
          <p:cNvPr id="83" name="TextBox 82"/>
          <p:cNvSpPr txBox="1"/>
          <p:nvPr/>
        </p:nvSpPr>
        <p:spPr>
          <a:xfrm>
            <a:off x="10411587" y="2542032"/>
            <a:ext cx="363982" cy="347472"/>
          </a:xfrm>
          <a:prstGeom prst="rect">
            <a:avLst/>
          </a:prstGeom>
          <a:noFill/>
        </p:spPr>
        <p:txBody>
          <a:bodyPr wrap="none" lIns="0" rIns="0" tIns="0" bIns="0">
            <a:spAutoFit/>
          </a:bodyPr>
          <a:lstStyle/>
          <a:p>
            <a:pPr algn="l">
              <a:lnSpc>
                <a:spcPts val="2576"/>
              </a:lnSpc>
              <a:spcAft>
                <a:spcPts val="0"/>
              </a:spcAft>
              <a:defRPr sz="2300" b="0">
                <a:solidFill>
                  <a:srgbClr val="182B3A"/>
                </a:solidFill>
                <a:latin typeface="Arial"/>
              </a:defRPr>
            </a:pPr>
            <a:r>
              <a:t> = </a:t>
            </a:r>
          </a:p>
        </p:txBody>
      </p:sp>
      <p:sp>
        <p:nvSpPr>
          <p:cNvPr id="84" name="TextBox 83"/>
          <p:cNvSpPr txBox="1"/>
          <p:nvPr/>
        </p:nvSpPr>
        <p:spPr>
          <a:xfrm>
            <a:off x="10775569" y="2423160"/>
            <a:ext cx="236728" cy="256032"/>
          </a:xfrm>
          <a:prstGeom prst="rect">
            <a:avLst/>
          </a:prstGeom>
          <a:noFill/>
        </p:spPr>
        <p:txBody>
          <a:bodyPr wrap="none" lIns="0" rIns="0" tIns="0" bIns="0">
            <a:spAutoFit/>
          </a:bodyPr>
          <a:lstStyle/>
          <a:p>
            <a:pPr algn="ctr">
              <a:lnSpc>
                <a:spcPts val="2016"/>
              </a:lnSpc>
              <a:spcAft>
                <a:spcPts val="0"/>
              </a:spcAft>
              <a:defRPr sz="1800" b="0">
                <a:solidFill>
                  <a:srgbClr val="182B3A"/>
                </a:solidFill>
                <a:latin typeface="Arial"/>
              </a:defRPr>
            </a:pPr>
            <a:r>
              <a:t>4</a:t>
            </a:r>
          </a:p>
        </p:txBody>
      </p:sp>
      <p:cxnSp>
        <p:nvCxnSpPr>
          <p:cNvPr id="85" name="Connector 84"/>
          <p:cNvCxnSpPr/>
          <p:nvPr/>
        </p:nvCxnSpPr>
        <p:spPr>
          <a:xfrm>
            <a:off x="10775569" y="2688336"/>
            <a:ext cx="236728" cy="0"/>
          </a:xfrm>
          <a:prstGeom prst="line">
            <a:avLst/>
          </a:prstGeom>
          <a:ln w="12700">
            <a:solidFill>
              <a:srgbClr val="182B3A"/>
            </a:solidFill>
          </a:ln>
          <a:effectLst/>
        </p:spPr>
        <p:style>
          <a:lnRef idx="2">
            <a:schemeClr val="accent1"/>
          </a:lnRef>
          <a:fillRef idx="0">
            <a:schemeClr val="accent1"/>
          </a:fillRef>
          <a:effectRef idx="1">
            <a:schemeClr val="accent1"/>
          </a:effectRef>
          <a:fontRef idx="minor">
            <a:schemeClr val="tx1"/>
          </a:fontRef>
        </p:style>
      </p:cxnSp>
      <p:sp>
        <p:nvSpPr>
          <p:cNvPr id="86" name="TextBox 85"/>
          <p:cNvSpPr txBox="1"/>
          <p:nvPr/>
        </p:nvSpPr>
        <p:spPr>
          <a:xfrm>
            <a:off x="10775569" y="2706624"/>
            <a:ext cx="236728" cy="256032"/>
          </a:xfrm>
          <a:prstGeom prst="rect">
            <a:avLst/>
          </a:prstGeom>
          <a:noFill/>
        </p:spPr>
        <p:txBody>
          <a:bodyPr wrap="none" lIns="0" rIns="0" tIns="0" bIns="0">
            <a:spAutoFit/>
          </a:bodyPr>
          <a:lstStyle/>
          <a:p>
            <a:pPr algn="ctr">
              <a:lnSpc>
                <a:spcPts val="2016"/>
              </a:lnSpc>
              <a:spcAft>
                <a:spcPts val="0"/>
              </a:spcAft>
              <a:defRPr sz="1800" b="0">
                <a:solidFill>
                  <a:srgbClr val="182B3A"/>
                </a:solidFill>
                <a:latin typeface="Arial"/>
              </a:defRPr>
            </a:pPr>
            <a:r>
              <a:t>3</a:t>
            </a:r>
          </a:p>
        </p:txBody>
      </p:sp>
      <p:sp>
        <p:nvSpPr>
          <p:cNvPr id="87" name="TextBox 86"/>
          <p:cNvSpPr txBox="1"/>
          <p:nvPr/>
        </p:nvSpPr>
        <p:spPr>
          <a:xfrm>
            <a:off x="9848088" y="3044952"/>
            <a:ext cx="236728" cy="256032"/>
          </a:xfrm>
          <a:prstGeom prst="rect">
            <a:avLst/>
          </a:prstGeom>
          <a:noFill/>
        </p:spPr>
        <p:txBody>
          <a:bodyPr wrap="none" lIns="0" rIns="0" tIns="0" bIns="0">
            <a:spAutoFit/>
          </a:bodyPr>
          <a:lstStyle/>
          <a:p>
            <a:pPr algn="ctr">
              <a:lnSpc>
                <a:spcPts val="2016"/>
              </a:lnSpc>
              <a:spcAft>
                <a:spcPts val="0"/>
              </a:spcAft>
              <a:defRPr sz="1800" b="0">
                <a:solidFill>
                  <a:srgbClr val="182B3A"/>
                </a:solidFill>
                <a:latin typeface="Arial"/>
              </a:defRPr>
            </a:pPr>
            <a:r>
              <a:t>4</a:t>
            </a:r>
          </a:p>
        </p:txBody>
      </p:sp>
      <p:cxnSp>
        <p:nvCxnSpPr>
          <p:cNvPr id="88" name="Connector 87"/>
          <p:cNvCxnSpPr/>
          <p:nvPr/>
        </p:nvCxnSpPr>
        <p:spPr>
          <a:xfrm>
            <a:off x="9848088" y="3310128"/>
            <a:ext cx="236728" cy="0"/>
          </a:xfrm>
          <a:prstGeom prst="line">
            <a:avLst/>
          </a:prstGeom>
          <a:ln w="12700">
            <a:solidFill>
              <a:srgbClr val="182B3A"/>
            </a:solidFill>
          </a:ln>
          <a:effectLst/>
        </p:spPr>
        <p:style>
          <a:lnRef idx="2">
            <a:schemeClr val="accent1"/>
          </a:lnRef>
          <a:fillRef idx="0">
            <a:schemeClr val="accent1"/>
          </a:fillRef>
          <a:effectRef idx="1">
            <a:schemeClr val="accent1"/>
          </a:effectRef>
          <a:fontRef idx="minor">
            <a:schemeClr val="tx1"/>
          </a:fontRef>
        </p:style>
      </p:cxnSp>
      <p:sp>
        <p:nvSpPr>
          <p:cNvPr id="89" name="TextBox 88"/>
          <p:cNvSpPr txBox="1"/>
          <p:nvPr/>
        </p:nvSpPr>
        <p:spPr>
          <a:xfrm>
            <a:off x="9848088" y="3328415"/>
            <a:ext cx="236728" cy="256032"/>
          </a:xfrm>
          <a:prstGeom prst="rect">
            <a:avLst/>
          </a:prstGeom>
          <a:noFill/>
        </p:spPr>
        <p:txBody>
          <a:bodyPr wrap="none" lIns="0" rIns="0" tIns="0" bIns="0">
            <a:spAutoFit/>
          </a:bodyPr>
          <a:lstStyle/>
          <a:p>
            <a:pPr algn="ctr">
              <a:lnSpc>
                <a:spcPts val="2016"/>
              </a:lnSpc>
              <a:spcAft>
                <a:spcPts val="0"/>
              </a:spcAft>
              <a:defRPr sz="1800" b="0">
                <a:solidFill>
                  <a:srgbClr val="182B3A"/>
                </a:solidFill>
                <a:latin typeface="Arial"/>
              </a:defRPr>
            </a:pPr>
            <a:r>
              <a:t>3</a:t>
            </a:r>
          </a:p>
        </p:txBody>
      </p:sp>
      <p:sp>
        <p:nvSpPr>
          <p:cNvPr id="90" name="TextBox 89"/>
          <p:cNvSpPr txBox="1"/>
          <p:nvPr/>
        </p:nvSpPr>
        <p:spPr>
          <a:xfrm>
            <a:off x="10139680" y="3163824"/>
            <a:ext cx="363982" cy="347472"/>
          </a:xfrm>
          <a:prstGeom prst="rect">
            <a:avLst/>
          </a:prstGeom>
          <a:noFill/>
        </p:spPr>
        <p:txBody>
          <a:bodyPr wrap="none" lIns="0" rIns="0" tIns="0" bIns="0">
            <a:spAutoFit/>
          </a:bodyPr>
          <a:lstStyle/>
          <a:p>
            <a:pPr algn="l">
              <a:lnSpc>
                <a:spcPts val="2576"/>
              </a:lnSpc>
              <a:spcAft>
                <a:spcPts val="0"/>
              </a:spcAft>
              <a:defRPr sz="2300" b="0">
                <a:solidFill>
                  <a:srgbClr val="182B3A"/>
                </a:solidFill>
                <a:latin typeface="Arial"/>
              </a:defRPr>
            </a:pPr>
            <a:r>
              <a:t> − </a:t>
            </a:r>
          </a:p>
        </p:txBody>
      </p:sp>
      <p:sp>
        <p:nvSpPr>
          <p:cNvPr id="91" name="TextBox 90"/>
          <p:cNvSpPr txBox="1"/>
          <p:nvPr/>
        </p:nvSpPr>
        <p:spPr>
          <a:xfrm>
            <a:off x="10503662" y="3044952"/>
            <a:ext cx="236728" cy="256032"/>
          </a:xfrm>
          <a:prstGeom prst="rect">
            <a:avLst/>
          </a:prstGeom>
          <a:noFill/>
        </p:spPr>
        <p:txBody>
          <a:bodyPr wrap="none" lIns="0" rIns="0" tIns="0" bIns="0">
            <a:spAutoFit/>
          </a:bodyPr>
          <a:lstStyle/>
          <a:p>
            <a:pPr algn="ctr">
              <a:lnSpc>
                <a:spcPts val="2016"/>
              </a:lnSpc>
              <a:spcAft>
                <a:spcPts val="0"/>
              </a:spcAft>
              <a:defRPr sz="1800" b="0">
                <a:solidFill>
                  <a:srgbClr val="182B3A"/>
                </a:solidFill>
                <a:latin typeface="Arial"/>
              </a:defRPr>
            </a:pPr>
            <a:r>
              <a:t>3</a:t>
            </a:r>
          </a:p>
        </p:txBody>
      </p:sp>
      <p:cxnSp>
        <p:nvCxnSpPr>
          <p:cNvPr id="92" name="Connector 91"/>
          <p:cNvCxnSpPr/>
          <p:nvPr/>
        </p:nvCxnSpPr>
        <p:spPr>
          <a:xfrm>
            <a:off x="10503662" y="3310128"/>
            <a:ext cx="236728" cy="0"/>
          </a:xfrm>
          <a:prstGeom prst="line">
            <a:avLst/>
          </a:prstGeom>
          <a:ln w="12700">
            <a:solidFill>
              <a:srgbClr val="182B3A"/>
            </a:solidFill>
          </a:ln>
          <a:effectLst/>
        </p:spPr>
        <p:style>
          <a:lnRef idx="2">
            <a:schemeClr val="accent1"/>
          </a:lnRef>
          <a:fillRef idx="0">
            <a:schemeClr val="accent1"/>
          </a:fillRef>
          <a:effectRef idx="1">
            <a:schemeClr val="accent1"/>
          </a:effectRef>
          <a:fontRef idx="minor">
            <a:schemeClr val="tx1"/>
          </a:fontRef>
        </p:style>
      </p:cxnSp>
      <p:sp>
        <p:nvSpPr>
          <p:cNvPr id="93" name="TextBox 92"/>
          <p:cNvSpPr txBox="1"/>
          <p:nvPr/>
        </p:nvSpPr>
        <p:spPr>
          <a:xfrm>
            <a:off x="10503662" y="3328415"/>
            <a:ext cx="236728" cy="256032"/>
          </a:xfrm>
          <a:prstGeom prst="rect">
            <a:avLst/>
          </a:prstGeom>
          <a:noFill/>
        </p:spPr>
        <p:txBody>
          <a:bodyPr wrap="none" lIns="0" rIns="0" tIns="0" bIns="0">
            <a:spAutoFit/>
          </a:bodyPr>
          <a:lstStyle/>
          <a:p>
            <a:pPr algn="ctr">
              <a:lnSpc>
                <a:spcPts val="2016"/>
              </a:lnSpc>
              <a:spcAft>
                <a:spcPts val="0"/>
              </a:spcAft>
              <a:defRPr sz="1800" b="0">
                <a:solidFill>
                  <a:srgbClr val="182B3A"/>
                </a:solidFill>
                <a:latin typeface="Arial"/>
              </a:defRPr>
            </a:pPr>
            <a:r>
              <a:t>4</a:t>
            </a:r>
          </a:p>
        </p:txBody>
      </p:sp>
      <p:sp>
        <p:nvSpPr>
          <p:cNvPr id="94" name="TextBox 93"/>
          <p:cNvSpPr txBox="1"/>
          <p:nvPr/>
        </p:nvSpPr>
        <p:spPr>
          <a:xfrm>
            <a:off x="10795254" y="3163824"/>
            <a:ext cx="363982" cy="347472"/>
          </a:xfrm>
          <a:prstGeom prst="rect">
            <a:avLst/>
          </a:prstGeom>
          <a:noFill/>
        </p:spPr>
        <p:txBody>
          <a:bodyPr wrap="none" lIns="0" rIns="0" tIns="0" bIns="0">
            <a:spAutoFit/>
          </a:bodyPr>
          <a:lstStyle/>
          <a:p>
            <a:pPr algn="l">
              <a:lnSpc>
                <a:spcPts val="2576"/>
              </a:lnSpc>
              <a:spcAft>
                <a:spcPts val="0"/>
              </a:spcAft>
              <a:defRPr sz="2300" b="0">
                <a:solidFill>
                  <a:srgbClr val="182B3A"/>
                </a:solidFill>
                <a:latin typeface="Arial"/>
              </a:defRPr>
            </a:pPr>
            <a:r>
              <a:t> = </a:t>
            </a:r>
          </a:p>
        </p:txBody>
      </p:sp>
      <p:sp>
        <p:nvSpPr>
          <p:cNvPr id="95" name="TextBox 94"/>
          <p:cNvSpPr txBox="1"/>
          <p:nvPr/>
        </p:nvSpPr>
        <p:spPr>
          <a:xfrm>
            <a:off x="11159236" y="3044952"/>
            <a:ext cx="363728" cy="256032"/>
          </a:xfrm>
          <a:prstGeom prst="rect">
            <a:avLst/>
          </a:prstGeom>
          <a:noFill/>
        </p:spPr>
        <p:txBody>
          <a:bodyPr wrap="none" lIns="0" rIns="0" tIns="0" bIns="0">
            <a:spAutoFit/>
          </a:bodyPr>
          <a:lstStyle/>
          <a:p>
            <a:pPr algn="ctr">
              <a:lnSpc>
                <a:spcPts val="2016"/>
              </a:lnSpc>
              <a:spcAft>
                <a:spcPts val="0"/>
              </a:spcAft>
              <a:defRPr sz="1800" b="0">
                <a:solidFill>
                  <a:srgbClr val="182B3A"/>
                </a:solidFill>
                <a:latin typeface="Arial"/>
              </a:defRPr>
            </a:pPr>
            <a:r>
              <a:t>16</a:t>
            </a:r>
          </a:p>
        </p:txBody>
      </p:sp>
      <p:cxnSp>
        <p:nvCxnSpPr>
          <p:cNvPr id="96" name="Connector 95"/>
          <p:cNvCxnSpPr/>
          <p:nvPr/>
        </p:nvCxnSpPr>
        <p:spPr>
          <a:xfrm>
            <a:off x="11159236" y="3310128"/>
            <a:ext cx="363728" cy="0"/>
          </a:xfrm>
          <a:prstGeom prst="line">
            <a:avLst/>
          </a:prstGeom>
          <a:ln w="12700">
            <a:solidFill>
              <a:srgbClr val="182B3A"/>
            </a:solidFill>
          </a:ln>
          <a:effectLst/>
        </p:spPr>
        <p:style>
          <a:lnRef idx="2">
            <a:schemeClr val="accent1"/>
          </a:lnRef>
          <a:fillRef idx="0">
            <a:schemeClr val="accent1"/>
          </a:fillRef>
          <a:effectRef idx="1">
            <a:schemeClr val="accent1"/>
          </a:effectRef>
          <a:fontRef idx="minor">
            <a:schemeClr val="tx1"/>
          </a:fontRef>
        </p:style>
      </p:cxnSp>
      <p:sp>
        <p:nvSpPr>
          <p:cNvPr id="97" name="TextBox 96"/>
          <p:cNvSpPr txBox="1"/>
          <p:nvPr/>
        </p:nvSpPr>
        <p:spPr>
          <a:xfrm>
            <a:off x="11159236" y="3328415"/>
            <a:ext cx="363728" cy="256032"/>
          </a:xfrm>
          <a:prstGeom prst="rect">
            <a:avLst/>
          </a:prstGeom>
          <a:noFill/>
        </p:spPr>
        <p:txBody>
          <a:bodyPr wrap="none" lIns="0" rIns="0" tIns="0" bIns="0">
            <a:spAutoFit/>
          </a:bodyPr>
          <a:lstStyle/>
          <a:p>
            <a:pPr algn="ctr">
              <a:lnSpc>
                <a:spcPts val="2016"/>
              </a:lnSpc>
              <a:spcAft>
                <a:spcPts val="0"/>
              </a:spcAft>
              <a:defRPr sz="1800" b="0">
                <a:solidFill>
                  <a:srgbClr val="182B3A"/>
                </a:solidFill>
                <a:latin typeface="Arial"/>
              </a:defRPr>
            </a:pPr>
            <a:r>
              <a:t>12</a:t>
            </a:r>
          </a:p>
        </p:txBody>
      </p:sp>
      <p:sp>
        <p:nvSpPr>
          <p:cNvPr id="98" name="TextBox 97"/>
          <p:cNvSpPr txBox="1"/>
          <p:nvPr/>
        </p:nvSpPr>
        <p:spPr>
          <a:xfrm>
            <a:off x="11577828" y="3163824"/>
            <a:ext cx="363982" cy="347472"/>
          </a:xfrm>
          <a:prstGeom prst="rect">
            <a:avLst/>
          </a:prstGeom>
          <a:noFill/>
        </p:spPr>
        <p:txBody>
          <a:bodyPr wrap="none" lIns="0" rIns="0" tIns="0" bIns="0">
            <a:spAutoFit/>
          </a:bodyPr>
          <a:lstStyle/>
          <a:p>
            <a:pPr algn="l">
              <a:lnSpc>
                <a:spcPts val="2576"/>
              </a:lnSpc>
              <a:spcAft>
                <a:spcPts val="0"/>
              </a:spcAft>
              <a:defRPr sz="2300" b="0">
                <a:solidFill>
                  <a:srgbClr val="182B3A"/>
                </a:solidFill>
                <a:latin typeface="Arial"/>
              </a:defRPr>
            </a:pPr>
            <a:r>
              <a:t> − </a:t>
            </a:r>
          </a:p>
        </p:txBody>
      </p:sp>
      <p:sp>
        <p:nvSpPr>
          <p:cNvPr id="99" name="TextBox 98"/>
          <p:cNvSpPr txBox="1"/>
          <p:nvPr/>
        </p:nvSpPr>
        <p:spPr>
          <a:xfrm>
            <a:off x="11941810" y="3044952"/>
            <a:ext cx="363728" cy="256032"/>
          </a:xfrm>
          <a:prstGeom prst="rect">
            <a:avLst/>
          </a:prstGeom>
          <a:noFill/>
        </p:spPr>
        <p:txBody>
          <a:bodyPr wrap="none" lIns="0" rIns="0" tIns="0" bIns="0">
            <a:spAutoFit/>
          </a:bodyPr>
          <a:lstStyle/>
          <a:p>
            <a:pPr algn="ctr">
              <a:lnSpc>
                <a:spcPts val="2016"/>
              </a:lnSpc>
              <a:spcAft>
                <a:spcPts val="0"/>
              </a:spcAft>
              <a:defRPr sz="1800" b="0">
                <a:solidFill>
                  <a:srgbClr val="182B3A"/>
                </a:solidFill>
                <a:latin typeface="Arial"/>
              </a:defRPr>
            </a:pPr>
            <a:r>
              <a:t>9</a:t>
            </a:r>
          </a:p>
        </p:txBody>
      </p:sp>
      <p:cxnSp>
        <p:nvCxnSpPr>
          <p:cNvPr id="100" name="Connector 99"/>
          <p:cNvCxnSpPr/>
          <p:nvPr/>
        </p:nvCxnSpPr>
        <p:spPr>
          <a:xfrm>
            <a:off x="11941810" y="3310128"/>
            <a:ext cx="363728" cy="0"/>
          </a:xfrm>
          <a:prstGeom prst="line">
            <a:avLst/>
          </a:prstGeom>
          <a:ln w="12700">
            <a:solidFill>
              <a:srgbClr val="182B3A"/>
            </a:solidFill>
          </a:ln>
          <a:effectLst/>
        </p:spPr>
        <p:style>
          <a:lnRef idx="2">
            <a:schemeClr val="accent1"/>
          </a:lnRef>
          <a:fillRef idx="0">
            <a:schemeClr val="accent1"/>
          </a:fillRef>
          <a:effectRef idx="1">
            <a:schemeClr val="accent1"/>
          </a:effectRef>
          <a:fontRef idx="minor">
            <a:schemeClr val="tx1"/>
          </a:fontRef>
        </p:style>
      </p:cxnSp>
      <p:sp>
        <p:nvSpPr>
          <p:cNvPr id="101" name="TextBox 100"/>
          <p:cNvSpPr txBox="1"/>
          <p:nvPr/>
        </p:nvSpPr>
        <p:spPr>
          <a:xfrm>
            <a:off x="11941810" y="3328415"/>
            <a:ext cx="363728" cy="256032"/>
          </a:xfrm>
          <a:prstGeom prst="rect">
            <a:avLst/>
          </a:prstGeom>
          <a:noFill/>
        </p:spPr>
        <p:txBody>
          <a:bodyPr wrap="none" lIns="0" rIns="0" tIns="0" bIns="0">
            <a:spAutoFit/>
          </a:bodyPr>
          <a:lstStyle/>
          <a:p>
            <a:pPr algn="ctr">
              <a:lnSpc>
                <a:spcPts val="2016"/>
              </a:lnSpc>
              <a:spcAft>
                <a:spcPts val="0"/>
              </a:spcAft>
              <a:defRPr sz="1800" b="0">
                <a:solidFill>
                  <a:srgbClr val="182B3A"/>
                </a:solidFill>
                <a:latin typeface="Arial"/>
              </a:defRPr>
            </a:pPr>
            <a:r>
              <a:t>12</a:t>
            </a:r>
          </a:p>
        </p:txBody>
      </p:sp>
      <p:sp>
        <p:nvSpPr>
          <p:cNvPr id="102" name="TextBox 101"/>
          <p:cNvSpPr txBox="1"/>
          <p:nvPr/>
        </p:nvSpPr>
        <p:spPr>
          <a:xfrm>
            <a:off x="9848088" y="3785616"/>
            <a:ext cx="281432" cy="347472"/>
          </a:xfrm>
          <a:prstGeom prst="rect">
            <a:avLst/>
          </a:prstGeom>
          <a:noFill/>
        </p:spPr>
        <p:txBody>
          <a:bodyPr wrap="none" lIns="0" rIns="0" tIns="0" bIns="0">
            <a:spAutoFit/>
          </a:bodyPr>
          <a:lstStyle/>
          <a:p>
            <a:pPr algn="l">
              <a:lnSpc>
                <a:spcPts val="2576"/>
              </a:lnSpc>
              <a:spcAft>
                <a:spcPts val="0"/>
              </a:spcAft>
              <a:defRPr sz="2300" b="0">
                <a:solidFill>
                  <a:srgbClr val="182B3A"/>
                </a:solidFill>
                <a:latin typeface="Arial"/>
              </a:defRPr>
            </a:pPr>
            <a:r>
              <a:t>= </a:t>
            </a:r>
          </a:p>
        </p:txBody>
      </p:sp>
      <p:sp>
        <p:nvSpPr>
          <p:cNvPr id="103" name="TextBox 102"/>
          <p:cNvSpPr txBox="1"/>
          <p:nvPr/>
        </p:nvSpPr>
        <p:spPr>
          <a:xfrm>
            <a:off x="10129520" y="3666744"/>
            <a:ext cx="363728" cy="256032"/>
          </a:xfrm>
          <a:prstGeom prst="rect">
            <a:avLst/>
          </a:prstGeom>
          <a:noFill/>
        </p:spPr>
        <p:txBody>
          <a:bodyPr wrap="none" lIns="0" rIns="0" tIns="0" bIns="0">
            <a:spAutoFit/>
          </a:bodyPr>
          <a:lstStyle/>
          <a:p>
            <a:pPr algn="ctr">
              <a:lnSpc>
                <a:spcPts val="2016"/>
              </a:lnSpc>
              <a:spcAft>
                <a:spcPts val="0"/>
              </a:spcAft>
              <a:defRPr sz="1800" b="0">
                <a:solidFill>
                  <a:srgbClr val="182B3A"/>
                </a:solidFill>
                <a:latin typeface="Arial"/>
              </a:defRPr>
            </a:pPr>
            <a:r>
              <a:t>7</a:t>
            </a:r>
          </a:p>
        </p:txBody>
      </p:sp>
      <p:cxnSp>
        <p:nvCxnSpPr>
          <p:cNvPr id="104" name="Connector 103"/>
          <p:cNvCxnSpPr/>
          <p:nvPr/>
        </p:nvCxnSpPr>
        <p:spPr>
          <a:xfrm>
            <a:off x="10129520" y="3931920"/>
            <a:ext cx="363728" cy="0"/>
          </a:xfrm>
          <a:prstGeom prst="line">
            <a:avLst/>
          </a:prstGeom>
          <a:ln w="12700">
            <a:solidFill>
              <a:srgbClr val="182B3A"/>
            </a:solidFill>
          </a:ln>
          <a:effectLst/>
        </p:spPr>
        <p:style>
          <a:lnRef idx="2">
            <a:schemeClr val="accent1"/>
          </a:lnRef>
          <a:fillRef idx="0">
            <a:schemeClr val="accent1"/>
          </a:fillRef>
          <a:effectRef idx="1">
            <a:schemeClr val="accent1"/>
          </a:effectRef>
          <a:fontRef idx="minor">
            <a:schemeClr val="tx1"/>
          </a:fontRef>
        </p:style>
      </p:cxnSp>
      <p:sp>
        <p:nvSpPr>
          <p:cNvPr id="105" name="TextBox 104"/>
          <p:cNvSpPr txBox="1"/>
          <p:nvPr/>
        </p:nvSpPr>
        <p:spPr>
          <a:xfrm>
            <a:off x="10129520" y="3950208"/>
            <a:ext cx="363728" cy="256032"/>
          </a:xfrm>
          <a:prstGeom prst="rect">
            <a:avLst/>
          </a:prstGeom>
          <a:noFill/>
        </p:spPr>
        <p:txBody>
          <a:bodyPr wrap="none" lIns="0" rIns="0" tIns="0" bIns="0">
            <a:spAutoFit/>
          </a:bodyPr>
          <a:lstStyle/>
          <a:p>
            <a:pPr algn="ctr">
              <a:lnSpc>
                <a:spcPts val="2016"/>
              </a:lnSpc>
              <a:spcAft>
                <a:spcPts val="0"/>
              </a:spcAft>
              <a:defRPr sz="1800" b="0">
                <a:solidFill>
                  <a:srgbClr val="182B3A"/>
                </a:solidFill>
                <a:latin typeface="Arial"/>
              </a:defRPr>
            </a:pPr>
            <a:r>
              <a:t>12</a:t>
            </a:r>
          </a:p>
        </p:txBody>
      </p:sp>
      <p:sp>
        <p:nvSpPr>
          <p:cNvPr id="106" name="TextBox 105"/>
          <p:cNvSpPr txBox="1"/>
          <p:nvPr/>
        </p:nvSpPr>
        <p:spPr>
          <a:xfrm>
            <a:off x="9848088" y="4288536"/>
            <a:ext cx="236728" cy="256032"/>
          </a:xfrm>
          <a:prstGeom prst="rect">
            <a:avLst/>
          </a:prstGeom>
          <a:noFill/>
        </p:spPr>
        <p:txBody>
          <a:bodyPr wrap="none" lIns="0" rIns="0" tIns="0" bIns="0">
            <a:spAutoFit/>
          </a:bodyPr>
          <a:lstStyle/>
          <a:p>
            <a:pPr algn="ctr">
              <a:lnSpc>
                <a:spcPts val="2016"/>
              </a:lnSpc>
              <a:spcAft>
                <a:spcPts val="0"/>
              </a:spcAft>
              <a:defRPr sz="1800" b="0">
                <a:solidFill>
                  <a:srgbClr val="182B3A"/>
                </a:solidFill>
                <a:latin typeface="Arial"/>
              </a:defRPr>
            </a:pPr>
            <a:r>
              <a:t>8</a:t>
            </a:r>
          </a:p>
        </p:txBody>
      </p:sp>
      <p:cxnSp>
        <p:nvCxnSpPr>
          <p:cNvPr id="107" name="Connector 106"/>
          <p:cNvCxnSpPr/>
          <p:nvPr/>
        </p:nvCxnSpPr>
        <p:spPr>
          <a:xfrm>
            <a:off x="9848088" y="4553712"/>
            <a:ext cx="236728" cy="0"/>
          </a:xfrm>
          <a:prstGeom prst="line">
            <a:avLst/>
          </a:prstGeom>
          <a:ln w="12700">
            <a:solidFill>
              <a:srgbClr val="182B3A"/>
            </a:solidFill>
          </a:ln>
          <a:effectLst/>
        </p:spPr>
        <p:style>
          <a:lnRef idx="2">
            <a:schemeClr val="accent1"/>
          </a:lnRef>
          <a:fillRef idx="0">
            <a:schemeClr val="accent1"/>
          </a:fillRef>
          <a:effectRef idx="1">
            <a:schemeClr val="accent1"/>
          </a:effectRef>
          <a:fontRef idx="minor">
            <a:schemeClr val="tx1"/>
          </a:fontRef>
        </p:style>
      </p:cxnSp>
      <p:sp>
        <p:nvSpPr>
          <p:cNvPr id="108" name="TextBox 107"/>
          <p:cNvSpPr txBox="1"/>
          <p:nvPr/>
        </p:nvSpPr>
        <p:spPr>
          <a:xfrm>
            <a:off x="9848088" y="4572000"/>
            <a:ext cx="236728" cy="256032"/>
          </a:xfrm>
          <a:prstGeom prst="rect">
            <a:avLst/>
          </a:prstGeom>
          <a:noFill/>
        </p:spPr>
        <p:txBody>
          <a:bodyPr wrap="none" lIns="0" rIns="0" tIns="0" bIns="0">
            <a:spAutoFit/>
          </a:bodyPr>
          <a:lstStyle/>
          <a:p>
            <a:pPr algn="ctr">
              <a:lnSpc>
                <a:spcPts val="2016"/>
              </a:lnSpc>
              <a:spcAft>
                <a:spcPts val="0"/>
              </a:spcAft>
              <a:defRPr sz="1800" b="0">
                <a:solidFill>
                  <a:srgbClr val="182B3A"/>
                </a:solidFill>
                <a:latin typeface="Arial"/>
              </a:defRPr>
            </a:pPr>
            <a:r>
              <a:t>6</a:t>
            </a:r>
          </a:p>
        </p:txBody>
      </p:sp>
      <p:sp>
        <p:nvSpPr>
          <p:cNvPr id="109" name="TextBox 108"/>
          <p:cNvSpPr txBox="1"/>
          <p:nvPr/>
        </p:nvSpPr>
        <p:spPr>
          <a:xfrm>
            <a:off x="10139680" y="4407408"/>
            <a:ext cx="363982" cy="347472"/>
          </a:xfrm>
          <a:prstGeom prst="rect">
            <a:avLst/>
          </a:prstGeom>
          <a:noFill/>
        </p:spPr>
        <p:txBody>
          <a:bodyPr wrap="none" lIns="0" rIns="0" tIns="0" bIns="0">
            <a:spAutoFit/>
          </a:bodyPr>
          <a:lstStyle/>
          <a:p>
            <a:pPr algn="l">
              <a:lnSpc>
                <a:spcPts val="2576"/>
              </a:lnSpc>
              <a:spcAft>
                <a:spcPts val="0"/>
              </a:spcAft>
              <a:defRPr sz="2300" b="0">
                <a:solidFill>
                  <a:srgbClr val="182B3A"/>
                </a:solidFill>
                <a:latin typeface="Arial"/>
              </a:defRPr>
            </a:pPr>
            <a:r>
              <a:t> = </a:t>
            </a:r>
          </a:p>
        </p:txBody>
      </p:sp>
      <p:sp>
        <p:nvSpPr>
          <p:cNvPr id="110" name="TextBox 109"/>
          <p:cNvSpPr txBox="1"/>
          <p:nvPr/>
        </p:nvSpPr>
        <p:spPr>
          <a:xfrm>
            <a:off x="10503662" y="4288536"/>
            <a:ext cx="236728" cy="256032"/>
          </a:xfrm>
          <a:prstGeom prst="rect">
            <a:avLst/>
          </a:prstGeom>
          <a:noFill/>
        </p:spPr>
        <p:txBody>
          <a:bodyPr wrap="none" lIns="0" rIns="0" tIns="0" bIns="0">
            <a:spAutoFit/>
          </a:bodyPr>
          <a:lstStyle/>
          <a:p>
            <a:pPr algn="ctr">
              <a:lnSpc>
                <a:spcPts val="2016"/>
              </a:lnSpc>
              <a:spcAft>
                <a:spcPts val="0"/>
              </a:spcAft>
              <a:defRPr sz="1800" b="0">
                <a:solidFill>
                  <a:srgbClr val="182B3A"/>
                </a:solidFill>
                <a:latin typeface="Arial"/>
              </a:defRPr>
            </a:pPr>
            <a:r>
              <a:t>4</a:t>
            </a:r>
          </a:p>
        </p:txBody>
      </p:sp>
      <p:cxnSp>
        <p:nvCxnSpPr>
          <p:cNvPr id="111" name="Connector 110"/>
          <p:cNvCxnSpPr/>
          <p:nvPr/>
        </p:nvCxnSpPr>
        <p:spPr>
          <a:xfrm>
            <a:off x="10503662" y="4553712"/>
            <a:ext cx="236728" cy="0"/>
          </a:xfrm>
          <a:prstGeom prst="line">
            <a:avLst/>
          </a:prstGeom>
          <a:ln w="12700">
            <a:solidFill>
              <a:srgbClr val="182B3A"/>
            </a:solidFill>
          </a:ln>
          <a:effectLst/>
        </p:spPr>
        <p:style>
          <a:lnRef idx="2">
            <a:schemeClr val="accent1"/>
          </a:lnRef>
          <a:fillRef idx="0">
            <a:schemeClr val="accent1"/>
          </a:fillRef>
          <a:effectRef idx="1">
            <a:schemeClr val="accent1"/>
          </a:effectRef>
          <a:fontRef idx="minor">
            <a:schemeClr val="tx1"/>
          </a:fontRef>
        </p:style>
      </p:cxnSp>
      <p:sp>
        <p:nvSpPr>
          <p:cNvPr id="112" name="TextBox 111"/>
          <p:cNvSpPr txBox="1"/>
          <p:nvPr/>
        </p:nvSpPr>
        <p:spPr>
          <a:xfrm>
            <a:off x="10503662" y="4572000"/>
            <a:ext cx="236728" cy="256032"/>
          </a:xfrm>
          <a:prstGeom prst="rect">
            <a:avLst/>
          </a:prstGeom>
          <a:noFill/>
        </p:spPr>
        <p:txBody>
          <a:bodyPr wrap="none" lIns="0" rIns="0" tIns="0" bIns="0">
            <a:spAutoFit/>
          </a:bodyPr>
          <a:lstStyle/>
          <a:p>
            <a:pPr algn="ctr">
              <a:lnSpc>
                <a:spcPts val="2016"/>
              </a:lnSpc>
              <a:spcAft>
                <a:spcPts val="0"/>
              </a:spcAft>
              <a:defRPr sz="1800" b="0">
                <a:solidFill>
                  <a:srgbClr val="182B3A"/>
                </a:solidFill>
                <a:latin typeface="Arial"/>
              </a:defRPr>
            </a:pPr>
            <a:r>
              <a:t>3</a:t>
            </a:r>
          </a:p>
        </p:txBody>
      </p:sp>
      <p:sp>
        <p:nvSpPr>
          <p:cNvPr id="113" name="TextBox 112"/>
          <p:cNvSpPr txBox="1"/>
          <p:nvPr/>
        </p:nvSpPr>
        <p:spPr>
          <a:xfrm>
            <a:off x="10795254" y="4407408"/>
            <a:ext cx="608457" cy="347472"/>
          </a:xfrm>
          <a:prstGeom prst="rect">
            <a:avLst/>
          </a:prstGeom>
          <a:noFill/>
        </p:spPr>
        <p:txBody>
          <a:bodyPr wrap="none" lIns="0" rIns="0" tIns="0" bIns="0">
            <a:spAutoFit/>
          </a:bodyPr>
          <a:lstStyle/>
          <a:p>
            <a:pPr algn="l">
              <a:lnSpc>
                <a:spcPts val="2576"/>
              </a:lnSpc>
              <a:spcAft>
                <a:spcPts val="0"/>
              </a:spcAft>
              <a:defRPr sz="2300" b="0">
                <a:solidFill>
                  <a:srgbClr val="182B3A"/>
                </a:solidFill>
                <a:latin typeface="Arial"/>
              </a:defRPr>
            </a:pPr>
            <a:r>
              <a:t> = 1 </a:t>
            </a:r>
          </a:p>
        </p:txBody>
      </p:sp>
      <p:sp>
        <p:nvSpPr>
          <p:cNvPr id="114" name="TextBox 113"/>
          <p:cNvSpPr txBox="1"/>
          <p:nvPr/>
        </p:nvSpPr>
        <p:spPr>
          <a:xfrm>
            <a:off x="11403711" y="4288536"/>
            <a:ext cx="236728" cy="256032"/>
          </a:xfrm>
          <a:prstGeom prst="rect">
            <a:avLst/>
          </a:prstGeom>
          <a:noFill/>
        </p:spPr>
        <p:txBody>
          <a:bodyPr wrap="none" lIns="0" rIns="0" tIns="0" bIns="0">
            <a:spAutoFit/>
          </a:bodyPr>
          <a:lstStyle/>
          <a:p>
            <a:pPr algn="ctr">
              <a:lnSpc>
                <a:spcPts val="2016"/>
              </a:lnSpc>
              <a:spcAft>
                <a:spcPts val="0"/>
              </a:spcAft>
              <a:defRPr sz="1800" b="0">
                <a:solidFill>
                  <a:srgbClr val="182B3A"/>
                </a:solidFill>
                <a:latin typeface="Arial"/>
              </a:defRPr>
            </a:pPr>
            <a:r>
              <a:t>1</a:t>
            </a:r>
          </a:p>
        </p:txBody>
      </p:sp>
      <p:cxnSp>
        <p:nvCxnSpPr>
          <p:cNvPr id="115" name="Connector 114"/>
          <p:cNvCxnSpPr/>
          <p:nvPr/>
        </p:nvCxnSpPr>
        <p:spPr>
          <a:xfrm>
            <a:off x="11403711" y="4553712"/>
            <a:ext cx="236728" cy="0"/>
          </a:xfrm>
          <a:prstGeom prst="line">
            <a:avLst/>
          </a:prstGeom>
          <a:ln w="12700">
            <a:solidFill>
              <a:srgbClr val="182B3A"/>
            </a:solidFill>
          </a:ln>
          <a:effectLst/>
        </p:spPr>
        <p:style>
          <a:lnRef idx="2">
            <a:schemeClr val="accent1"/>
          </a:lnRef>
          <a:fillRef idx="0">
            <a:schemeClr val="accent1"/>
          </a:fillRef>
          <a:effectRef idx="1">
            <a:schemeClr val="accent1"/>
          </a:effectRef>
          <a:fontRef idx="minor">
            <a:schemeClr val="tx1"/>
          </a:fontRef>
        </p:style>
      </p:cxnSp>
      <p:sp>
        <p:nvSpPr>
          <p:cNvPr id="116" name="TextBox 115"/>
          <p:cNvSpPr txBox="1"/>
          <p:nvPr/>
        </p:nvSpPr>
        <p:spPr>
          <a:xfrm>
            <a:off x="11403711" y="4572000"/>
            <a:ext cx="236728" cy="256032"/>
          </a:xfrm>
          <a:prstGeom prst="rect">
            <a:avLst/>
          </a:prstGeom>
          <a:noFill/>
        </p:spPr>
        <p:txBody>
          <a:bodyPr wrap="none" lIns="0" rIns="0" tIns="0" bIns="0">
            <a:spAutoFit/>
          </a:bodyPr>
          <a:lstStyle/>
          <a:p>
            <a:pPr algn="ctr">
              <a:lnSpc>
                <a:spcPts val="2016"/>
              </a:lnSpc>
              <a:spcAft>
                <a:spcPts val="0"/>
              </a:spcAft>
              <a:defRPr sz="1800" b="0">
                <a:solidFill>
                  <a:srgbClr val="182B3A"/>
                </a:solidFill>
                <a:latin typeface="Arial"/>
              </a:defRPr>
            </a:pPr>
            <a:r>
              <a:t>3</a:t>
            </a:r>
          </a:p>
        </p:txBody>
      </p:sp>
      <p:sp>
        <p:nvSpPr>
          <p:cNvPr id="117" name="TextBox 116"/>
          <p:cNvSpPr txBox="1"/>
          <p:nvPr/>
        </p:nvSpPr>
        <p:spPr>
          <a:xfrm>
            <a:off x="9774936" y="5303520"/>
            <a:ext cx="4389120" cy="2103120"/>
          </a:xfrm>
          <a:prstGeom prst="rect">
            <a:avLst/>
          </a:prstGeom>
          <a:noFill/>
        </p:spPr>
        <p:txBody>
          <a:bodyPr wrap="square" lIns="54864" rIns="54864" tIns="22860" bIns="22860">
            <a:spAutoFit/>
          </a:bodyPr>
          <a:lstStyle/>
          <a:p>
            <a:pPr>
              <a:lnSpc>
                <a:spcPts val="1890"/>
              </a:lnSpc>
              <a:spcBef>
                <a:spcPts val="0"/>
              </a:spcBef>
              <a:spcAft>
                <a:spcPts val="0"/>
              </a:spcAft>
              <a:defRPr sz="1800" b="0">
                <a:solidFill>
                  <a:srgbClr val="182B3A"/>
                </a:solidFill>
                <a:latin typeface="Arial"/>
              </a:defRPr>
            </a:pPr>
            <a:r>
              <a:t>Whole × denominator + numerator gives the improper numerator.</a:t>
            </a:r>
          </a:p>
          <a:p>
            <a:pPr>
              <a:lnSpc>
                <a:spcPts val="1890"/>
              </a:lnSpc>
              <a:spcBef>
                <a:spcPts val="0"/>
              </a:spcBef>
              <a:spcAft>
                <a:spcPts val="0"/>
              </a:spcAft>
              <a:defRPr sz="1800" b="0">
                <a:solidFill>
                  <a:srgbClr val="182B3A"/>
                </a:solidFill>
                <a:latin typeface="Arial"/>
              </a:defRPr>
            </a:pPr>
            <a:r>
              <a:t>Simplify by dividing top and bottom by the same factor.</a:t>
            </a:r>
          </a:p>
          <a:p>
            <a:pPr>
              <a:lnSpc>
                <a:spcPts val="1890"/>
              </a:lnSpc>
              <a:spcBef>
                <a:spcPts val="0"/>
              </a:spcBef>
              <a:spcAft>
                <a:spcPts val="0"/>
              </a:spcAft>
              <a:defRPr sz="1800" b="0">
                <a:solidFill>
                  <a:srgbClr val="182B3A"/>
                </a:solidFill>
                <a:latin typeface="Arial"/>
              </a:defRPr>
            </a:pPr>
            <a:r>
              <a:t>For a mixed answer, divide: quotient is the whole; remainder is the numerator.</a:t>
            </a:r>
          </a:p>
        </p:txBody>
      </p:sp>
    </p:spTree>
  </p:cSld>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p:cSld>
    <p:bg>
      <p:bgPr>
        <a:solidFill>
          <a:srgbClr val="F7F8FA"/>
        </a:solidFill>
        <a:effectLst/>
      </p:bgPr>
    </p:bg>
    <p:spTree>
      <p:nvGrpSpPr>
        <p:cNvPr id="1" name=""/>
        <p:cNvGrpSpPr/>
        <p:nvPr/>
      </p:nvGrpSpPr>
      <p:grpSpPr/>
      <p:sp>
        <p:nvSpPr>
          <p:cNvPr id="2" name="Rectangle 1"/>
          <p:cNvSpPr/>
          <p:nvPr/>
        </p:nvSpPr>
        <p:spPr>
          <a:xfrm>
            <a:off x="0" y="0"/>
            <a:ext cx="14630400" cy="73152"/>
          </a:xfrm>
          <a:prstGeom prst="rect">
            <a:avLst/>
          </a:prstGeom>
          <a:solidFill>
            <a:srgbClr val="176B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20040" y="164592"/>
            <a:ext cx="13990320" cy="457200"/>
          </a:xfrm>
          <a:prstGeom prst="rect">
            <a:avLst/>
          </a:prstGeom>
          <a:noFill/>
        </p:spPr>
        <p:txBody>
          <a:bodyPr wrap="square" lIns="54864" rIns="54864" tIns="22860" bIns="22860">
            <a:spAutoFit/>
          </a:bodyPr>
          <a:lstStyle/>
          <a:p>
            <a:pPr>
              <a:lnSpc>
                <a:spcPts val="2940"/>
              </a:lnSpc>
              <a:spcBef>
                <a:spcPts val="0"/>
              </a:spcBef>
              <a:spcAft>
                <a:spcPts val="0"/>
              </a:spcAft>
              <a:defRPr sz="2800" b="1">
                <a:solidFill>
                  <a:srgbClr val="182B3A"/>
                </a:solidFill>
                <a:latin typeface="Arial"/>
              </a:defRPr>
            </a:pPr>
            <a:r>
              <a:t>Adding and subtracting fractions</a:t>
            </a:r>
          </a:p>
        </p:txBody>
      </p:sp>
      <p:sp>
        <p:nvSpPr>
          <p:cNvPr id="4" name="TextBox 3"/>
          <p:cNvSpPr txBox="1"/>
          <p:nvPr/>
        </p:nvSpPr>
        <p:spPr>
          <a:xfrm>
            <a:off x="320040" y="704088"/>
            <a:ext cx="13990320" cy="347472"/>
          </a:xfrm>
          <a:prstGeom prst="rect">
            <a:avLst/>
          </a:prstGeom>
          <a:noFill/>
        </p:spPr>
        <p:txBody>
          <a:bodyPr wrap="square" lIns="54864" rIns="54864" tIns="22860" bIns="22860">
            <a:spAutoFit/>
          </a:bodyPr>
          <a:lstStyle/>
          <a:p>
            <a:pPr>
              <a:lnSpc>
                <a:spcPts val="1575"/>
              </a:lnSpc>
              <a:spcBef>
                <a:spcPts val="0"/>
              </a:spcBef>
              <a:spcAft>
                <a:spcPts val="0"/>
              </a:spcAft>
              <a:defRPr sz="1500" b="0">
                <a:solidFill>
                  <a:srgbClr val="526472"/>
                </a:solidFill>
                <a:latin typeface="Arial"/>
              </a:defRPr>
            </a:pPr>
            <a:r>
              <a:t>Worked demo • Calculate, simplify and give mixed answers where needed.</a:t>
            </a:r>
          </a:p>
        </p:txBody>
      </p:sp>
      <p:sp>
        <p:nvSpPr>
          <p:cNvPr id="5" name="TextBox 4"/>
          <p:cNvSpPr txBox="1"/>
          <p:nvPr/>
        </p:nvSpPr>
        <p:spPr>
          <a:xfrm>
            <a:off x="320040" y="7973568"/>
            <a:ext cx="10789920" cy="210312"/>
          </a:xfrm>
          <a:prstGeom prst="rect">
            <a:avLst/>
          </a:prstGeom>
          <a:noFill/>
        </p:spPr>
        <p:txBody>
          <a:bodyPr wrap="square" lIns="54864" rIns="54864" tIns="22860" bIns="22860">
            <a:spAutoFit/>
          </a:bodyPr>
          <a:lstStyle/>
          <a:p>
            <a:pPr>
              <a:lnSpc>
                <a:spcPts val="1155"/>
              </a:lnSpc>
              <a:spcBef>
                <a:spcPts val="0"/>
              </a:spcBef>
              <a:spcAft>
                <a:spcPts val="0"/>
              </a:spcAft>
              <a:defRPr sz="1100" b="0">
                <a:solidFill>
                  <a:srgbClr val="526472"/>
                </a:solidFill>
                <a:latin typeface="Arial"/>
              </a:defRPr>
            </a:pPr>
            <a:r>
              <a:t>GCSE Maths revision • No calculator • Show your working.</a:t>
            </a:r>
          </a:p>
        </p:txBody>
      </p:sp>
      <p:sp>
        <p:nvSpPr>
          <p:cNvPr id="6" name="TextBox 5"/>
          <p:cNvSpPr txBox="1"/>
          <p:nvPr/>
        </p:nvSpPr>
        <p:spPr>
          <a:xfrm>
            <a:off x="11155680" y="7973568"/>
            <a:ext cx="3108960" cy="210312"/>
          </a:xfrm>
          <a:prstGeom prst="rect">
            <a:avLst/>
          </a:prstGeom>
          <a:noFill/>
        </p:spPr>
        <p:txBody>
          <a:bodyPr wrap="square" lIns="54864" rIns="54864" tIns="22860" bIns="22860">
            <a:spAutoFit/>
          </a:bodyPr>
          <a:lstStyle/>
          <a:p>
            <a:pPr>
              <a:lnSpc>
                <a:spcPts val="1155"/>
              </a:lnSpc>
              <a:spcBef>
                <a:spcPts val="0"/>
              </a:spcBef>
              <a:spcAft>
                <a:spcPts val="0"/>
              </a:spcAft>
              <a:defRPr sz="1100" b="0">
                <a:solidFill>
                  <a:srgbClr val="526472"/>
                </a:solidFill>
                <a:latin typeface="Arial"/>
              </a:defRPr>
            </a:pPr>
            <a:r>
              <a:t>M15-S01</a:t>
            </a:r>
          </a:p>
        </p:txBody>
      </p:sp>
      <p:sp>
        <p:nvSpPr>
          <p:cNvPr id="7" name="Rectangle 6"/>
          <p:cNvSpPr/>
          <p:nvPr/>
        </p:nvSpPr>
        <p:spPr>
          <a:xfrm>
            <a:off x="320040" y="1115568"/>
            <a:ext cx="4640580" cy="420624"/>
          </a:xfrm>
          <a:prstGeom prst="rect">
            <a:avLst/>
          </a:prstGeom>
          <a:solidFill>
            <a:srgbClr val="176B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347472" y="1147572"/>
            <a:ext cx="4581144" cy="329184"/>
          </a:xfrm>
          <a:prstGeom prst="rect">
            <a:avLst/>
          </a:prstGeom>
          <a:noFill/>
        </p:spPr>
        <p:txBody>
          <a:bodyPr wrap="square" lIns="54864" rIns="54864" tIns="22860" bIns="22860">
            <a:spAutoFit/>
          </a:bodyPr>
          <a:lstStyle/>
          <a:p>
            <a:pPr>
              <a:lnSpc>
                <a:spcPts val="1995"/>
              </a:lnSpc>
              <a:spcBef>
                <a:spcPts val="0"/>
              </a:spcBef>
              <a:spcAft>
                <a:spcPts val="0"/>
              </a:spcAft>
              <a:defRPr sz="1900" b="1">
                <a:solidFill>
                  <a:srgbClr val="FFFFFF"/>
                </a:solidFill>
                <a:latin typeface="Arial"/>
              </a:defRPr>
            </a:pPr>
            <a:r>
              <a:t>Start</a:t>
            </a:r>
          </a:p>
        </p:txBody>
      </p:sp>
      <p:sp>
        <p:nvSpPr>
          <p:cNvPr id="9" name="Rectangle 8"/>
          <p:cNvSpPr/>
          <p:nvPr/>
        </p:nvSpPr>
        <p:spPr>
          <a:xfrm>
            <a:off x="4983480" y="1115568"/>
            <a:ext cx="4640580" cy="420624"/>
          </a:xfrm>
          <a:prstGeom prst="rect">
            <a:avLst/>
          </a:prstGeom>
          <a:solidFill>
            <a:srgbClr val="3559A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010912" y="1147572"/>
            <a:ext cx="4581144" cy="329184"/>
          </a:xfrm>
          <a:prstGeom prst="rect">
            <a:avLst/>
          </a:prstGeom>
          <a:noFill/>
        </p:spPr>
        <p:txBody>
          <a:bodyPr wrap="square" lIns="54864" rIns="54864" tIns="22860" bIns="22860">
            <a:spAutoFit/>
          </a:bodyPr>
          <a:lstStyle/>
          <a:p>
            <a:pPr>
              <a:lnSpc>
                <a:spcPts val="1995"/>
              </a:lnSpc>
              <a:spcBef>
                <a:spcPts val="0"/>
              </a:spcBef>
              <a:spcAft>
                <a:spcPts val="0"/>
              </a:spcAft>
              <a:defRPr sz="1900" b="1">
                <a:solidFill>
                  <a:srgbClr val="FFFFFF"/>
                </a:solidFill>
                <a:latin typeface="Arial"/>
              </a:defRPr>
            </a:pPr>
            <a:r>
              <a:t>Build</a:t>
            </a:r>
          </a:p>
        </p:txBody>
      </p:sp>
      <p:sp>
        <p:nvSpPr>
          <p:cNvPr id="11" name="Rectangle 10"/>
          <p:cNvSpPr/>
          <p:nvPr/>
        </p:nvSpPr>
        <p:spPr>
          <a:xfrm>
            <a:off x="9646920" y="1115568"/>
            <a:ext cx="4640580" cy="420624"/>
          </a:xfrm>
          <a:prstGeom prst="rect">
            <a:avLst/>
          </a:prstGeom>
          <a:solidFill>
            <a:srgbClr val="754B8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9674352" y="1147572"/>
            <a:ext cx="4581144" cy="329184"/>
          </a:xfrm>
          <a:prstGeom prst="rect">
            <a:avLst/>
          </a:prstGeom>
          <a:noFill/>
        </p:spPr>
        <p:txBody>
          <a:bodyPr wrap="square" lIns="54864" rIns="54864" tIns="22860" bIns="22860">
            <a:spAutoFit/>
          </a:bodyPr>
          <a:lstStyle/>
          <a:p>
            <a:pPr>
              <a:lnSpc>
                <a:spcPts val="1995"/>
              </a:lnSpc>
              <a:spcBef>
                <a:spcPts val="0"/>
              </a:spcBef>
              <a:spcAft>
                <a:spcPts val="0"/>
              </a:spcAft>
              <a:defRPr sz="1900" b="1">
                <a:solidFill>
                  <a:srgbClr val="FFFFFF"/>
                </a:solidFill>
                <a:latin typeface="Arial"/>
              </a:defRPr>
            </a:pPr>
            <a:r>
              <a:t>Confidence</a:t>
            </a:r>
          </a:p>
        </p:txBody>
      </p:sp>
      <p:sp>
        <p:nvSpPr>
          <p:cNvPr id="13" name="Rectangle 12"/>
          <p:cNvSpPr/>
          <p:nvPr/>
        </p:nvSpPr>
        <p:spPr>
          <a:xfrm>
            <a:off x="320040" y="1600200"/>
            <a:ext cx="4626864" cy="6080760"/>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502919" y="1856231"/>
            <a:ext cx="252603" cy="256032"/>
          </a:xfrm>
          <a:prstGeom prst="rect">
            <a:avLst/>
          </a:prstGeom>
          <a:noFill/>
        </p:spPr>
        <p:txBody>
          <a:bodyPr wrap="none" lIns="0" rIns="0" tIns="0" bIns="0">
            <a:spAutoFit/>
          </a:bodyPr>
          <a:lstStyle/>
          <a:p>
            <a:pPr algn="ctr">
              <a:lnSpc>
                <a:spcPts val="2240"/>
              </a:lnSpc>
              <a:spcAft>
                <a:spcPts val="0"/>
              </a:spcAft>
              <a:defRPr sz="2000" b="0">
                <a:solidFill>
                  <a:srgbClr val="182B3A"/>
                </a:solidFill>
                <a:latin typeface="Arial"/>
              </a:defRPr>
            </a:pPr>
            <a:r>
              <a:t>3</a:t>
            </a:r>
          </a:p>
        </p:txBody>
      </p:sp>
      <p:cxnSp>
        <p:nvCxnSpPr>
          <p:cNvPr id="15" name="Connector 14"/>
          <p:cNvCxnSpPr/>
          <p:nvPr/>
        </p:nvCxnSpPr>
        <p:spPr>
          <a:xfrm>
            <a:off x="502919" y="2121408"/>
            <a:ext cx="252603" cy="0"/>
          </a:xfrm>
          <a:prstGeom prst="line">
            <a:avLst/>
          </a:prstGeom>
          <a:ln w="12700">
            <a:solidFill>
              <a:srgbClr val="182B3A"/>
            </a:solidFill>
          </a:ln>
          <a:effectLst/>
        </p:spPr>
        <p:style>
          <a:lnRef idx="2">
            <a:schemeClr val="accent1"/>
          </a:lnRef>
          <a:fillRef idx="0">
            <a:schemeClr val="accent1"/>
          </a:fillRef>
          <a:effectRef idx="1">
            <a:schemeClr val="accent1"/>
          </a:effectRef>
          <a:fontRef idx="minor">
            <a:schemeClr val="tx1"/>
          </a:fontRef>
        </p:style>
      </p:cxnSp>
      <p:sp>
        <p:nvSpPr>
          <p:cNvPr id="16" name="TextBox 15"/>
          <p:cNvSpPr txBox="1"/>
          <p:nvPr/>
        </p:nvSpPr>
        <p:spPr>
          <a:xfrm>
            <a:off x="502919" y="2139696"/>
            <a:ext cx="252603" cy="256032"/>
          </a:xfrm>
          <a:prstGeom prst="rect">
            <a:avLst/>
          </a:prstGeom>
          <a:noFill/>
        </p:spPr>
        <p:txBody>
          <a:bodyPr wrap="none" lIns="0" rIns="0" tIns="0" bIns="0">
            <a:spAutoFit/>
          </a:bodyPr>
          <a:lstStyle/>
          <a:p>
            <a:pPr algn="ctr">
              <a:lnSpc>
                <a:spcPts val="2240"/>
              </a:lnSpc>
              <a:spcAft>
                <a:spcPts val="0"/>
              </a:spcAft>
              <a:defRPr sz="2000" b="0">
                <a:solidFill>
                  <a:srgbClr val="182B3A"/>
                </a:solidFill>
                <a:latin typeface="Arial"/>
              </a:defRPr>
            </a:pPr>
            <a:r>
              <a:t>8</a:t>
            </a:r>
          </a:p>
        </p:txBody>
      </p:sp>
      <p:sp>
        <p:nvSpPr>
          <p:cNvPr id="17" name="TextBox 16"/>
          <p:cNvSpPr txBox="1"/>
          <p:nvPr/>
        </p:nvSpPr>
        <p:spPr>
          <a:xfrm>
            <a:off x="810387" y="1975103"/>
            <a:ext cx="405257" cy="347472"/>
          </a:xfrm>
          <a:prstGeom prst="rect">
            <a:avLst/>
          </a:prstGeom>
          <a:noFill/>
        </p:spPr>
        <p:txBody>
          <a:bodyPr wrap="none" lIns="0" rIns="0" tIns="0" bIns="0">
            <a:spAutoFit/>
          </a:bodyPr>
          <a:lstStyle/>
          <a:p>
            <a:pPr algn="l">
              <a:lnSpc>
                <a:spcPts val="2912"/>
              </a:lnSpc>
              <a:spcAft>
                <a:spcPts val="0"/>
              </a:spcAft>
              <a:defRPr sz="2600" b="0">
                <a:solidFill>
                  <a:srgbClr val="182B3A"/>
                </a:solidFill>
                <a:latin typeface="Arial"/>
              </a:defRPr>
            </a:pPr>
            <a:r>
              <a:t> + </a:t>
            </a:r>
          </a:p>
        </p:txBody>
      </p:sp>
      <p:sp>
        <p:nvSpPr>
          <p:cNvPr id="18" name="TextBox 17"/>
          <p:cNvSpPr txBox="1"/>
          <p:nvPr/>
        </p:nvSpPr>
        <p:spPr>
          <a:xfrm>
            <a:off x="1215644" y="1856231"/>
            <a:ext cx="252603" cy="256032"/>
          </a:xfrm>
          <a:prstGeom prst="rect">
            <a:avLst/>
          </a:prstGeom>
          <a:noFill/>
        </p:spPr>
        <p:txBody>
          <a:bodyPr wrap="none" lIns="0" rIns="0" tIns="0" bIns="0">
            <a:spAutoFit/>
          </a:bodyPr>
          <a:lstStyle/>
          <a:p>
            <a:pPr algn="ctr">
              <a:lnSpc>
                <a:spcPts val="2240"/>
              </a:lnSpc>
              <a:spcAft>
                <a:spcPts val="0"/>
              </a:spcAft>
              <a:defRPr sz="2000" b="0">
                <a:solidFill>
                  <a:srgbClr val="182B3A"/>
                </a:solidFill>
                <a:latin typeface="Arial"/>
              </a:defRPr>
            </a:pPr>
            <a:r>
              <a:t>1</a:t>
            </a:r>
          </a:p>
        </p:txBody>
      </p:sp>
      <p:cxnSp>
        <p:nvCxnSpPr>
          <p:cNvPr id="19" name="Connector 18"/>
          <p:cNvCxnSpPr/>
          <p:nvPr/>
        </p:nvCxnSpPr>
        <p:spPr>
          <a:xfrm>
            <a:off x="1215644" y="2121408"/>
            <a:ext cx="252602" cy="0"/>
          </a:xfrm>
          <a:prstGeom prst="line">
            <a:avLst/>
          </a:prstGeom>
          <a:ln w="12700">
            <a:solidFill>
              <a:srgbClr val="182B3A"/>
            </a:solidFill>
          </a:ln>
          <a:effectLst/>
        </p:spPr>
        <p:style>
          <a:lnRef idx="2">
            <a:schemeClr val="accent1"/>
          </a:lnRef>
          <a:fillRef idx="0">
            <a:schemeClr val="accent1"/>
          </a:fillRef>
          <a:effectRef idx="1">
            <a:schemeClr val="accent1"/>
          </a:effectRef>
          <a:fontRef idx="minor">
            <a:schemeClr val="tx1"/>
          </a:fontRef>
        </p:style>
      </p:cxnSp>
      <p:sp>
        <p:nvSpPr>
          <p:cNvPr id="20" name="TextBox 19"/>
          <p:cNvSpPr txBox="1"/>
          <p:nvPr/>
        </p:nvSpPr>
        <p:spPr>
          <a:xfrm>
            <a:off x="1215644" y="2139696"/>
            <a:ext cx="252603" cy="256032"/>
          </a:xfrm>
          <a:prstGeom prst="rect">
            <a:avLst/>
          </a:prstGeom>
          <a:noFill/>
        </p:spPr>
        <p:txBody>
          <a:bodyPr wrap="none" lIns="0" rIns="0" tIns="0" bIns="0">
            <a:spAutoFit/>
          </a:bodyPr>
          <a:lstStyle/>
          <a:p>
            <a:pPr algn="ctr">
              <a:lnSpc>
                <a:spcPts val="2240"/>
              </a:lnSpc>
              <a:spcAft>
                <a:spcPts val="0"/>
              </a:spcAft>
              <a:defRPr sz="2000" b="0">
                <a:solidFill>
                  <a:srgbClr val="182B3A"/>
                </a:solidFill>
                <a:latin typeface="Arial"/>
              </a:defRPr>
            </a:pPr>
            <a:r>
              <a:t>8</a:t>
            </a:r>
          </a:p>
        </p:txBody>
      </p:sp>
      <p:sp>
        <p:nvSpPr>
          <p:cNvPr id="21" name="TextBox 20"/>
          <p:cNvSpPr txBox="1"/>
          <p:nvPr/>
        </p:nvSpPr>
        <p:spPr>
          <a:xfrm>
            <a:off x="502919" y="2734056"/>
            <a:ext cx="313182" cy="347472"/>
          </a:xfrm>
          <a:prstGeom prst="rect">
            <a:avLst/>
          </a:prstGeom>
          <a:noFill/>
        </p:spPr>
        <p:txBody>
          <a:bodyPr wrap="none" lIns="0" rIns="0" tIns="0" bIns="0">
            <a:spAutoFit/>
          </a:bodyPr>
          <a:lstStyle/>
          <a:p>
            <a:pPr algn="l">
              <a:lnSpc>
                <a:spcPts val="2912"/>
              </a:lnSpc>
              <a:spcAft>
                <a:spcPts val="0"/>
              </a:spcAft>
              <a:defRPr sz="2600" b="0">
                <a:solidFill>
                  <a:srgbClr val="182B3A"/>
                </a:solidFill>
                <a:latin typeface="Arial"/>
              </a:defRPr>
            </a:pPr>
            <a:r>
              <a:t>= </a:t>
            </a:r>
          </a:p>
        </p:txBody>
      </p:sp>
      <p:sp>
        <p:nvSpPr>
          <p:cNvPr id="22" name="TextBox 21"/>
          <p:cNvSpPr txBox="1"/>
          <p:nvPr/>
        </p:nvSpPr>
        <p:spPr>
          <a:xfrm>
            <a:off x="816102" y="2615184"/>
            <a:ext cx="252603" cy="256032"/>
          </a:xfrm>
          <a:prstGeom prst="rect">
            <a:avLst/>
          </a:prstGeom>
          <a:noFill/>
        </p:spPr>
        <p:txBody>
          <a:bodyPr wrap="none" lIns="0" rIns="0" tIns="0" bIns="0">
            <a:spAutoFit/>
          </a:bodyPr>
          <a:lstStyle/>
          <a:p>
            <a:pPr algn="ctr">
              <a:lnSpc>
                <a:spcPts val="2240"/>
              </a:lnSpc>
              <a:spcAft>
                <a:spcPts val="0"/>
              </a:spcAft>
              <a:defRPr sz="2000" b="0">
                <a:solidFill>
                  <a:srgbClr val="182B3A"/>
                </a:solidFill>
                <a:latin typeface="Arial"/>
              </a:defRPr>
            </a:pPr>
            <a:r>
              <a:t>4</a:t>
            </a:r>
          </a:p>
        </p:txBody>
      </p:sp>
      <p:cxnSp>
        <p:nvCxnSpPr>
          <p:cNvPr id="23" name="Connector 22"/>
          <p:cNvCxnSpPr/>
          <p:nvPr/>
        </p:nvCxnSpPr>
        <p:spPr>
          <a:xfrm>
            <a:off x="816102" y="2880359"/>
            <a:ext cx="252603" cy="0"/>
          </a:xfrm>
          <a:prstGeom prst="line">
            <a:avLst/>
          </a:prstGeom>
          <a:ln w="12700">
            <a:solidFill>
              <a:srgbClr val="182B3A"/>
            </a:solidFill>
          </a:ln>
          <a:effectLst/>
        </p:spPr>
        <p:style>
          <a:lnRef idx="2">
            <a:schemeClr val="accent1"/>
          </a:lnRef>
          <a:fillRef idx="0">
            <a:schemeClr val="accent1"/>
          </a:fillRef>
          <a:effectRef idx="1">
            <a:schemeClr val="accent1"/>
          </a:effectRef>
          <a:fontRef idx="minor">
            <a:schemeClr val="tx1"/>
          </a:fontRef>
        </p:style>
      </p:cxnSp>
      <p:sp>
        <p:nvSpPr>
          <p:cNvPr id="24" name="TextBox 23"/>
          <p:cNvSpPr txBox="1"/>
          <p:nvPr/>
        </p:nvSpPr>
        <p:spPr>
          <a:xfrm>
            <a:off x="816102" y="2898648"/>
            <a:ext cx="252603" cy="256032"/>
          </a:xfrm>
          <a:prstGeom prst="rect">
            <a:avLst/>
          </a:prstGeom>
          <a:noFill/>
        </p:spPr>
        <p:txBody>
          <a:bodyPr wrap="none" lIns="0" rIns="0" tIns="0" bIns="0">
            <a:spAutoFit/>
          </a:bodyPr>
          <a:lstStyle/>
          <a:p>
            <a:pPr algn="ctr">
              <a:lnSpc>
                <a:spcPts val="2240"/>
              </a:lnSpc>
              <a:spcAft>
                <a:spcPts val="0"/>
              </a:spcAft>
              <a:defRPr sz="2000" b="0">
                <a:solidFill>
                  <a:srgbClr val="182B3A"/>
                </a:solidFill>
                <a:latin typeface="Arial"/>
              </a:defRPr>
            </a:pPr>
            <a:r>
              <a:t>8</a:t>
            </a:r>
          </a:p>
        </p:txBody>
      </p:sp>
      <p:sp>
        <p:nvSpPr>
          <p:cNvPr id="25" name="TextBox 24"/>
          <p:cNvSpPr txBox="1"/>
          <p:nvPr/>
        </p:nvSpPr>
        <p:spPr>
          <a:xfrm>
            <a:off x="502919" y="3493008"/>
            <a:ext cx="313182" cy="347472"/>
          </a:xfrm>
          <a:prstGeom prst="rect">
            <a:avLst/>
          </a:prstGeom>
          <a:noFill/>
        </p:spPr>
        <p:txBody>
          <a:bodyPr wrap="none" lIns="0" rIns="0" tIns="0" bIns="0">
            <a:spAutoFit/>
          </a:bodyPr>
          <a:lstStyle/>
          <a:p>
            <a:pPr algn="l">
              <a:lnSpc>
                <a:spcPts val="2912"/>
              </a:lnSpc>
              <a:spcAft>
                <a:spcPts val="0"/>
              </a:spcAft>
              <a:defRPr sz="2600" b="0">
                <a:solidFill>
                  <a:srgbClr val="182B3A"/>
                </a:solidFill>
                <a:latin typeface="Arial"/>
              </a:defRPr>
            </a:pPr>
            <a:r>
              <a:t>= </a:t>
            </a:r>
          </a:p>
        </p:txBody>
      </p:sp>
      <p:sp>
        <p:nvSpPr>
          <p:cNvPr id="26" name="TextBox 25"/>
          <p:cNvSpPr txBox="1"/>
          <p:nvPr/>
        </p:nvSpPr>
        <p:spPr>
          <a:xfrm>
            <a:off x="816102" y="3374135"/>
            <a:ext cx="252603" cy="256032"/>
          </a:xfrm>
          <a:prstGeom prst="rect">
            <a:avLst/>
          </a:prstGeom>
          <a:noFill/>
        </p:spPr>
        <p:txBody>
          <a:bodyPr wrap="none" lIns="0" rIns="0" tIns="0" bIns="0">
            <a:spAutoFit/>
          </a:bodyPr>
          <a:lstStyle/>
          <a:p>
            <a:pPr algn="ctr">
              <a:lnSpc>
                <a:spcPts val="2240"/>
              </a:lnSpc>
              <a:spcAft>
                <a:spcPts val="0"/>
              </a:spcAft>
              <a:defRPr sz="2000" b="0">
                <a:solidFill>
                  <a:srgbClr val="182B3A"/>
                </a:solidFill>
                <a:latin typeface="Arial"/>
              </a:defRPr>
            </a:pPr>
            <a:r>
              <a:t>1</a:t>
            </a:r>
          </a:p>
        </p:txBody>
      </p:sp>
      <p:cxnSp>
        <p:nvCxnSpPr>
          <p:cNvPr id="27" name="Connector 26"/>
          <p:cNvCxnSpPr/>
          <p:nvPr/>
        </p:nvCxnSpPr>
        <p:spPr>
          <a:xfrm>
            <a:off x="816102" y="3639311"/>
            <a:ext cx="252603" cy="0"/>
          </a:xfrm>
          <a:prstGeom prst="line">
            <a:avLst/>
          </a:prstGeom>
          <a:ln w="12700">
            <a:solidFill>
              <a:srgbClr val="182B3A"/>
            </a:solidFill>
          </a:ln>
          <a:effectLst/>
        </p:spPr>
        <p:style>
          <a:lnRef idx="2">
            <a:schemeClr val="accent1"/>
          </a:lnRef>
          <a:fillRef idx="0">
            <a:schemeClr val="accent1"/>
          </a:fillRef>
          <a:effectRef idx="1">
            <a:schemeClr val="accent1"/>
          </a:effectRef>
          <a:fontRef idx="minor">
            <a:schemeClr val="tx1"/>
          </a:fontRef>
        </p:style>
      </p:cxnSp>
      <p:sp>
        <p:nvSpPr>
          <p:cNvPr id="28" name="TextBox 27"/>
          <p:cNvSpPr txBox="1"/>
          <p:nvPr/>
        </p:nvSpPr>
        <p:spPr>
          <a:xfrm>
            <a:off x="816102" y="3657600"/>
            <a:ext cx="252603" cy="256032"/>
          </a:xfrm>
          <a:prstGeom prst="rect">
            <a:avLst/>
          </a:prstGeom>
          <a:noFill/>
        </p:spPr>
        <p:txBody>
          <a:bodyPr wrap="none" lIns="0" rIns="0" tIns="0" bIns="0">
            <a:spAutoFit/>
          </a:bodyPr>
          <a:lstStyle/>
          <a:p>
            <a:pPr algn="ctr">
              <a:lnSpc>
                <a:spcPts val="2240"/>
              </a:lnSpc>
              <a:spcAft>
                <a:spcPts val="0"/>
              </a:spcAft>
              <a:defRPr sz="2000" b="0">
                <a:solidFill>
                  <a:srgbClr val="182B3A"/>
                </a:solidFill>
                <a:latin typeface="Arial"/>
              </a:defRPr>
            </a:pPr>
            <a:r>
              <a:t>2</a:t>
            </a:r>
          </a:p>
        </p:txBody>
      </p:sp>
      <p:sp>
        <p:nvSpPr>
          <p:cNvPr id="29" name="TextBox 28"/>
          <p:cNvSpPr txBox="1"/>
          <p:nvPr/>
        </p:nvSpPr>
        <p:spPr>
          <a:xfrm>
            <a:off x="448056" y="5961888"/>
            <a:ext cx="4370832" cy="1463040"/>
          </a:xfrm>
          <a:prstGeom prst="rect">
            <a:avLst/>
          </a:prstGeom>
          <a:noFill/>
        </p:spPr>
        <p:txBody>
          <a:bodyPr wrap="square" lIns="54864" rIns="54864" tIns="22860" bIns="22860">
            <a:spAutoFit/>
          </a:bodyPr>
          <a:lstStyle/>
          <a:p>
            <a:pPr>
              <a:lnSpc>
                <a:spcPts val="1995"/>
              </a:lnSpc>
              <a:spcBef>
                <a:spcPts val="0"/>
              </a:spcBef>
              <a:spcAft>
                <a:spcPts val="0"/>
              </a:spcAft>
              <a:defRPr sz="1900" b="0">
                <a:solidFill>
                  <a:srgbClr val="182B3A"/>
                </a:solidFill>
                <a:latin typeface="Arial"/>
              </a:defRPr>
            </a:pPr>
            <a:r>
              <a:t>Use equal-sized parts; change numerator and denominator together, then add or subtract only the numerators. Simplify the result.</a:t>
            </a:r>
          </a:p>
        </p:txBody>
      </p:sp>
      <p:sp>
        <p:nvSpPr>
          <p:cNvPr id="30" name="Rectangle 29"/>
          <p:cNvSpPr/>
          <p:nvPr/>
        </p:nvSpPr>
        <p:spPr>
          <a:xfrm>
            <a:off x="4983480" y="1600200"/>
            <a:ext cx="4626864" cy="6080760"/>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5166360" y="1856231"/>
            <a:ext cx="252603" cy="256032"/>
          </a:xfrm>
          <a:prstGeom prst="rect">
            <a:avLst/>
          </a:prstGeom>
          <a:noFill/>
        </p:spPr>
        <p:txBody>
          <a:bodyPr wrap="none" lIns="0" rIns="0" tIns="0" bIns="0">
            <a:spAutoFit/>
          </a:bodyPr>
          <a:lstStyle/>
          <a:p>
            <a:pPr algn="ctr">
              <a:lnSpc>
                <a:spcPts val="2240"/>
              </a:lnSpc>
              <a:spcAft>
                <a:spcPts val="0"/>
              </a:spcAft>
              <a:defRPr sz="2000" b="0">
                <a:solidFill>
                  <a:srgbClr val="182B3A"/>
                </a:solidFill>
                <a:latin typeface="Arial"/>
              </a:defRPr>
            </a:pPr>
            <a:r>
              <a:t>5</a:t>
            </a:r>
          </a:p>
        </p:txBody>
      </p:sp>
      <p:cxnSp>
        <p:nvCxnSpPr>
          <p:cNvPr id="32" name="Connector 31"/>
          <p:cNvCxnSpPr/>
          <p:nvPr/>
        </p:nvCxnSpPr>
        <p:spPr>
          <a:xfrm>
            <a:off x="5166360" y="2121408"/>
            <a:ext cx="252603" cy="0"/>
          </a:xfrm>
          <a:prstGeom prst="line">
            <a:avLst/>
          </a:prstGeom>
          <a:ln w="12700">
            <a:solidFill>
              <a:srgbClr val="182B3A"/>
            </a:solidFill>
          </a:ln>
          <a:effectLst/>
        </p:spPr>
        <p:style>
          <a:lnRef idx="2">
            <a:schemeClr val="accent1"/>
          </a:lnRef>
          <a:fillRef idx="0">
            <a:schemeClr val="accent1"/>
          </a:fillRef>
          <a:effectRef idx="1">
            <a:schemeClr val="accent1"/>
          </a:effectRef>
          <a:fontRef idx="minor">
            <a:schemeClr val="tx1"/>
          </a:fontRef>
        </p:style>
      </p:cxnSp>
      <p:sp>
        <p:nvSpPr>
          <p:cNvPr id="33" name="TextBox 32"/>
          <p:cNvSpPr txBox="1"/>
          <p:nvPr/>
        </p:nvSpPr>
        <p:spPr>
          <a:xfrm>
            <a:off x="5166360" y="2139696"/>
            <a:ext cx="252603" cy="256032"/>
          </a:xfrm>
          <a:prstGeom prst="rect">
            <a:avLst/>
          </a:prstGeom>
          <a:noFill/>
        </p:spPr>
        <p:txBody>
          <a:bodyPr wrap="none" lIns="0" rIns="0" tIns="0" bIns="0">
            <a:spAutoFit/>
          </a:bodyPr>
          <a:lstStyle/>
          <a:p>
            <a:pPr algn="ctr">
              <a:lnSpc>
                <a:spcPts val="2240"/>
              </a:lnSpc>
              <a:spcAft>
                <a:spcPts val="0"/>
              </a:spcAft>
              <a:defRPr sz="2000" b="0">
                <a:solidFill>
                  <a:srgbClr val="182B3A"/>
                </a:solidFill>
                <a:latin typeface="Arial"/>
              </a:defRPr>
            </a:pPr>
            <a:r>
              <a:t>6</a:t>
            </a:r>
          </a:p>
        </p:txBody>
      </p:sp>
      <p:sp>
        <p:nvSpPr>
          <p:cNvPr id="34" name="TextBox 33"/>
          <p:cNvSpPr txBox="1"/>
          <p:nvPr/>
        </p:nvSpPr>
        <p:spPr>
          <a:xfrm>
            <a:off x="5473827" y="1975103"/>
            <a:ext cx="405257" cy="347472"/>
          </a:xfrm>
          <a:prstGeom prst="rect">
            <a:avLst/>
          </a:prstGeom>
          <a:noFill/>
        </p:spPr>
        <p:txBody>
          <a:bodyPr wrap="none" lIns="0" rIns="0" tIns="0" bIns="0">
            <a:spAutoFit/>
          </a:bodyPr>
          <a:lstStyle/>
          <a:p>
            <a:pPr algn="l">
              <a:lnSpc>
                <a:spcPts val="2912"/>
              </a:lnSpc>
              <a:spcAft>
                <a:spcPts val="0"/>
              </a:spcAft>
              <a:defRPr sz="2600" b="0">
                <a:solidFill>
                  <a:srgbClr val="182B3A"/>
                </a:solidFill>
                <a:latin typeface="Arial"/>
              </a:defRPr>
            </a:pPr>
            <a:r>
              <a:t> − </a:t>
            </a:r>
          </a:p>
        </p:txBody>
      </p:sp>
      <p:sp>
        <p:nvSpPr>
          <p:cNvPr id="35" name="TextBox 34"/>
          <p:cNvSpPr txBox="1"/>
          <p:nvPr/>
        </p:nvSpPr>
        <p:spPr>
          <a:xfrm>
            <a:off x="5879084" y="1856231"/>
            <a:ext cx="252603" cy="256032"/>
          </a:xfrm>
          <a:prstGeom prst="rect">
            <a:avLst/>
          </a:prstGeom>
          <a:noFill/>
        </p:spPr>
        <p:txBody>
          <a:bodyPr wrap="none" lIns="0" rIns="0" tIns="0" bIns="0">
            <a:spAutoFit/>
          </a:bodyPr>
          <a:lstStyle/>
          <a:p>
            <a:pPr algn="ctr">
              <a:lnSpc>
                <a:spcPts val="2240"/>
              </a:lnSpc>
              <a:spcAft>
                <a:spcPts val="0"/>
              </a:spcAft>
              <a:defRPr sz="2000" b="0">
                <a:solidFill>
                  <a:srgbClr val="182B3A"/>
                </a:solidFill>
                <a:latin typeface="Arial"/>
              </a:defRPr>
            </a:pPr>
            <a:r>
              <a:t>1</a:t>
            </a:r>
          </a:p>
        </p:txBody>
      </p:sp>
      <p:cxnSp>
        <p:nvCxnSpPr>
          <p:cNvPr id="36" name="Connector 35"/>
          <p:cNvCxnSpPr/>
          <p:nvPr/>
        </p:nvCxnSpPr>
        <p:spPr>
          <a:xfrm>
            <a:off x="5879084" y="2121408"/>
            <a:ext cx="252603" cy="0"/>
          </a:xfrm>
          <a:prstGeom prst="line">
            <a:avLst/>
          </a:prstGeom>
          <a:ln w="12700">
            <a:solidFill>
              <a:srgbClr val="182B3A"/>
            </a:solidFill>
          </a:ln>
          <a:effectLst/>
        </p:spPr>
        <p:style>
          <a:lnRef idx="2">
            <a:schemeClr val="accent1"/>
          </a:lnRef>
          <a:fillRef idx="0">
            <a:schemeClr val="accent1"/>
          </a:fillRef>
          <a:effectRef idx="1">
            <a:schemeClr val="accent1"/>
          </a:effectRef>
          <a:fontRef idx="minor">
            <a:schemeClr val="tx1"/>
          </a:fontRef>
        </p:style>
      </p:cxnSp>
      <p:sp>
        <p:nvSpPr>
          <p:cNvPr id="37" name="TextBox 36"/>
          <p:cNvSpPr txBox="1"/>
          <p:nvPr/>
        </p:nvSpPr>
        <p:spPr>
          <a:xfrm>
            <a:off x="5879084" y="2139696"/>
            <a:ext cx="252603" cy="256032"/>
          </a:xfrm>
          <a:prstGeom prst="rect">
            <a:avLst/>
          </a:prstGeom>
          <a:noFill/>
        </p:spPr>
        <p:txBody>
          <a:bodyPr wrap="none" lIns="0" rIns="0" tIns="0" bIns="0">
            <a:spAutoFit/>
          </a:bodyPr>
          <a:lstStyle/>
          <a:p>
            <a:pPr algn="ctr">
              <a:lnSpc>
                <a:spcPts val="2240"/>
              </a:lnSpc>
              <a:spcAft>
                <a:spcPts val="0"/>
              </a:spcAft>
              <a:defRPr sz="2000" b="0">
                <a:solidFill>
                  <a:srgbClr val="182B3A"/>
                </a:solidFill>
                <a:latin typeface="Arial"/>
              </a:defRPr>
            </a:pPr>
            <a:r>
              <a:t>3</a:t>
            </a:r>
          </a:p>
        </p:txBody>
      </p:sp>
      <p:sp>
        <p:nvSpPr>
          <p:cNvPr id="38" name="TextBox 37"/>
          <p:cNvSpPr txBox="1"/>
          <p:nvPr/>
        </p:nvSpPr>
        <p:spPr>
          <a:xfrm>
            <a:off x="5166360" y="2734056"/>
            <a:ext cx="313182" cy="347472"/>
          </a:xfrm>
          <a:prstGeom prst="rect">
            <a:avLst/>
          </a:prstGeom>
          <a:noFill/>
        </p:spPr>
        <p:txBody>
          <a:bodyPr wrap="none" lIns="0" rIns="0" tIns="0" bIns="0">
            <a:spAutoFit/>
          </a:bodyPr>
          <a:lstStyle/>
          <a:p>
            <a:pPr algn="l">
              <a:lnSpc>
                <a:spcPts val="2912"/>
              </a:lnSpc>
              <a:spcAft>
                <a:spcPts val="0"/>
              </a:spcAft>
              <a:defRPr sz="2600" b="0">
                <a:solidFill>
                  <a:srgbClr val="182B3A"/>
                </a:solidFill>
                <a:latin typeface="Arial"/>
              </a:defRPr>
            </a:pPr>
            <a:r>
              <a:t>= </a:t>
            </a:r>
          </a:p>
        </p:txBody>
      </p:sp>
      <p:sp>
        <p:nvSpPr>
          <p:cNvPr id="39" name="TextBox 38"/>
          <p:cNvSpPr txBox="1"/>
          <p:nvPr/>
        </p:nvSpPr>
        <p:spPr>
          <a:xfrm>
            <a:off x="5479542" y="2615184"/>
            <a:ext cx="252603" cy="256032"/>
          </a:xfrm>
          <a:prstGeom prst="rect">
            <a:avLst/>
          </a:prstGeom>
          <a:noFill/>
        </p:spPr>
        <p:txBody>
          <a:bodyPr wrap="none" lIns="0" rIns="0" tIns="0" bIns="0">
            <a:spAutoFit/>
          </a:bodyPr>
          <a:lstStyle/>
          <a:p>
            <a:pPr algn="ctr">
              <a:lnSpc>
                <a:spcPts val="2240"/>
              </a:lnSpc>
              <a:spcAft>
                <a:spcPts val="0"/>
              </a:spcAft>
              <a:defRPr sz="2000" b="0">
                <a:solidFill>
                  <a:srgbClr val="182B3A"/>
                </a:solidFill>
                <a:latin typeface="Arial"/>
              </a:defRPr>
            </a:pPr>
            <a:r>
              <a:t>5</a:t>
            </a:r>
          </a:p>
        </p:txBody>
      </p:sp>
      <p:cxnSp>
        <p:nvCxnSpPr>
          <p:cNvPr id="40" name="Connector 39"/>
          <p:cNvCxnSpPr/>
          <p:nvPr/>
        </p:nvCxnSpPr>
        <p:spPr>
          <a:xfrm>
            <a:off x="5479542" y="2880359"/>
            <a:ext cx="252603" cy="0"/>
          </a:xfrm>
          <a:prstGeom prst="line">
            <a:avLst/>
          </a:prstGeom>
          <a:ln w="12700">
            <a:solidFill>
              <a:srgbClr val="182B3A"/>
            </a:solidFill>
          </a:ln>
          <a:effectLst/>
        </p:spPr>
        <p:style>
          <a:lnRef idx="2">
            <a:schemeClr val="accent1"/>
          </a:lnRef>
          <a:fillRef idx="0">
            <a:schemeClr val="accent1"/>
          </a:fillRef>
          <a:effectRef idx="1">
            <a:schemeClr val="accent1"/>
          </a:effectRef>
          <a:fontRef idx="minor">
            <a:schemeClr val="tx1"/>
          </a:fontRef>
        </p:style>
      </p:cxnSp>
      <p:sp>
        <p:nvSpPr>
          <p:cNvPr id="41" name="TextBox 40"/>
          <p:cNvSpPr txBox="1"/>
          <p:nvPr/>
        </p:nvSpPr>
        <p:spPr>
          <a:xfrm>
            <a:off x="5479542" y="2898648"/>
            <a:ext cx="252603" cy="256032"/>
          </a:xfrm>
          <a:prstGeom prst="rect">
            <a:avLst/>
          </a:prstGeom>
          <a:noFill/>
        </p:spPr>
        <p:txBody>
          <a:bodyPr wrap="none" lIns="0" rIns="0" tIns="0" bIns="0">
            <a:spAutoFit/>
          </a:bodyPr>
          <a:lstStyle/>
          <a:p>
            <a:pPr algn="ctr">
              <a:lnSpc>
                <a:spcPts val="2240"/>
              </a:lnSpc>
              <a:spcAft>
                <a:spcPts val="0"/>
              </a:spcAft>
              <a:defRPr sz="2000" b="0">
                <a:solidFill>
                  <a:srgbClr val="182B3A"/>
                </a:solidFill>
                <a:latin typeface="Arial"/>
              </a:defRPr>
            </a:pPr>
            <a:r>
              <a:t>6</a:t>
            </a:r>
          </a:p>
        </p:txBody>
      </p:sp>
      <p:sp>
        <p:nvSpPr>
          <p:cNvPr id="42" name="TextBox 41"/>
          <p:cNvSpPr txBox="1"/>
          <p:nvPr/>
        </p:nvSpPr>
        <p:spPr>
          <a:xfrm>
            <a:off x="5787009" y="2734056"/>
            <a:ext cx="405257" cy="347472"/>
          </a:xfrm>
          <a:prstGeom prst="rect">
            <a:avLst/>
          </a:prstGeom>
          <a:noFill/>
        </p:spPr>
        <p:txBody>
          <a:bodyPr wrap="none" lIns="0" rIns="0" tIns="0" bIns="0">
            <a:spAutoFit/>
          </a:bodyPr>
          <a:lstStyle/>
          <a:p>
            <a:pPr algn="l">
              <a:lnSpc>
                <a:spcPts val="2912"/>
              </a:lnSpc>
              <a:spcAft>
                <a:spcPts val="0"/>
              </a:spcAft>
              <a:defRPr sz="2600" b="0">
                <a:solidFill>
                  <a:srgbClr val="182B3A"/>
                </a:solidFill>
                <a:latin typeface="Arial"/>
              </a:defRPr>
            </a:pPr>
            <a:r>
              <a:t> − </a:t>
            </a:r>
          </a:p>
        </p:txBody>
      </p:sp>
      <p:sp>
        <p:nvSpPr>
          <p:cNvPr id="43" name="TextBox 42"/>
          <p:cNvSpPr txBox="1"/>
          <p:nvPr/>
        </p:nvSpPr>
        <p:spPr>
          <a:xfrm>
            <a:off x="6192266" y="2615184"/>
            <a:ext cx="252603" cy="256032"/>
          </a:xfrm>
          <a:prstGeom prst="rect">
            <a:avLst/>
          </a:prstGeom>
          <a:noFill/>
        </p:spPr>
        <p:txBody>
          <a:bodyPr wrap="none" lIns="0" rIns="0" tIns="0" bIns="0">
            <a:spAutoFit/>
          </a:bodyPr>
          <a:lstStyle/>
          <a:p>
            <a:pPr algn="ctr">
              <a:lnSpc>
                <a:spcPts val="2240"/>
              </a:lnSpc>
              <a:spcAft>
                <a:spcPts val="0"/>
              </a:spcAft>
              <a:defRPr sz="2000" b="0">
                <a:solidFill>
                  <a:srgbClr val="182B3A"/>
                </a:solidFill>
                <a:latin typeface="Arial"/>
              </a:defRPr>
            </a:pPr>
            <a:r>
              <a:t>2</a:t>
            </a:r>
          </a:p>
        </p:txBody>
      </p:sp>
      <p:cxnSp>
        <p:nvCxnSpPr>
          <p:cNvPr id="44" name="Connector 43"/>
          <p:cNvCxnSpPr/>
          <p:nvPr/>
        </p:nvCxnSpPr>
        <p:spPr>
          <a:xfrm>
            <a:off x="6192266" y="2880359"/>
            <a:ext cx="252603" cy="0"/>
          </a:xfrm>
          <a:prstGeom prst="line">
            <a:avLst/>
          </a:prstGeom>
          <a:ln w="12700">
            <a:solidFill>
              <a:srgbClr val="182B3A"/>
            </a:solidFill>
          </a:ln>
          <a:effectLst/>
        </p:spPr>
        <p:style>
          <a:lnRef idx="2">
            <a:schemeClr val="accent1"/>
          </a:lnRef>
          <a:fillRef idx="0">
            <a:schemeClr val="accent1"/>
          </a:fillRef>
          <a:effectRef idx="1">
            <a:schemeClr val="accent1"/>
          </a:effectRef>
          <a:fontRef idx="minor">
            <a:schemeClr val="tx1"/>
          </a:fontRef>
        </p:style>
      </p:cxnSp>
      <p:sp>
        <p:nvSpPr>
          <p:cNvPr id="45" name="TextBox 44"/>
          <p:cNvSpPr txBox="1"/>
          <p:nvPr/>
        </p:nvSpPr>
        <p:spPr>
          <a:xfrm>
            <a:off x="6192266" y="2898648"/>
            <a:ext cx="252603" cy="256032"/>
          </a:xfrm>
          <a:prstGeom prst="rect">
            <a:avLst/>
          </a:prstGeom>
          <a:noFill/>
        </p:spPr>
        <p:txBody>
          <a:bodyPr wrap="none" lIns="0" rIns="0" tIns="0" bIns="0">
            <a:spAutoFit/>
          </a:bodyPr>
          <a:lstStyle/>
          <a:p>
            <a:pPr algn="ctr">
              <a:lnSpc>
                <a:spcPts val="2240"/>
              </a:lnSpc>
              <a:spcAft>
                <a:spcPts val="0"/>
              </a:spcAft>
              <a:defRPr sz="2000" b="0">
                <a:solidFill>
                  <a:srgbClr val="182B3A"/>
                </a:solidFill>
                <a:latin typeface="Arial"/>
              </a:defRPr>
            </a:pPr>
            <a:r>
              <a:t>6</a:t>
            </a:r>
          </a:p>
        </p:txBody>
      </p:sp>
      <p:sp>
        <p:nvSpPr>
          <p:cNvPr id="46" name="TextBox 45"/>
          <p:cNvSpPr txBox="1"/>
          <p:nvPr/>
        </p:nvSpPr>
        <p:spPr>
          <a:xfrm>
            <a:off x="5166360" y="3493008"/>
            <a:ext cx="313182" cy="347472"/>
          </a:xfrm>
          <a:prstGeom prst="rect">
            <a:avLst/>
          </a:prstGeom>
          <a:noFill/>
        </p:spPr>
        <p:txBody>
          <a:bodyPr wrap="none" lIns="0" rIns="0" tIns="0" bIns="0">
            <a:spAutoFit/>
          </a:bodyPr>
          <a:lstStyle/>
          <a:p>
            <a:pPr algn="l">
              <a:lnSpc>
                <a:spcPts val="2912"/>
              </a:lnSpc>
              <a:spcAft>
                <a:spcPts val="0"/>
              </a:spcAft>
              <a:defRPr sz="2600" b="0">
                <a:solidFill>
                  <a:srgbClr val="182B3A"/>
                </a:solidFill>
                <a:latin typeface="Arial"/>
              </a:defRPr>
            </a:pPr>
            <a:r>
              <a:t>= </a:t>
            </a:r>
          </a:p>
        </p:txBody>
      </p:sp>
      <p:sp>
        <p:nvSpPr>
          <p:cNvPr id="47" name="TextBox 46"/>
          <p:cNvSpPr txBox="1"/>
          <p:nvPr/>
        </p:nvSpPr>
        <p:spPr>
          <a:xfrm>
            <a:off x="5479542" y="3374135"/>
            <a:ext cx="252603" cy="256032"/>
          </a:xfrm>
          <a:prstGeom prst="rect">
            <a:avLst/>
          </a:prstGeom>
          <a:noFill/>
        </p:spPr>
        <p:txBody>
          <a:bodyPr wrap="none" lIns="0" rIns="0" tIns="0" bIns="0">
            <a:spAutoFit/>
          </a:bodyPr>
          <a:lstStyle/>
          <a:p>
            <a:pPr algn="ctr">
              <a:lnSpc>
                <a:spcPts val="2240"/>
              </a:lnSpc>
              <a:spcAft>
                <a:spcPts val="0"/>
              </a:spcAft>
              <a:defRPr sz="2000" b="0">
                <a:solidFill>
                  <a:srgbClr val="182B3A"/>
                </a:solidFill>
                <a:latin typeface="Arial"/>
              </a:defRPr>
            </a:pPr>
            <a:r>
              <a:t>3</a:t>
            </a:r>
          </a:p>
        </p:txBody>
      </p:sp>
      <p:cxnSp>
        <p:nvCxnSpPr>
          <p:cNvPr id="48" name="Connector 47"/>
          <p:cNvCxnSpPr/>
          <p:nvPr/>
        </p:nvCxnSpPr>
        <p:spPr>
          <a:xfrm>
            <a:off x="5479542" y="3639311"/>
            <a:ext cx="252603" cy="0"/>
          </a:xfrm>
          <a:prstGeom prst="line">
            <a:avLst/>
          </a:prstGeom>
          <a:ln w="12700">
            <a:solidFill>
              <a:srgbClr val="182B3A"/>
            </a:solidFill>
          </a:ln>
          <a:effectLst/>
        </p:spPr>
        <p:style>
          <a:lnRef idx="2">
            <a:schemeClr val="accent1"/>
          </a:lnRef>
          <a:fillRef idx="0">
            <a:schemeClr val="accent1"/>
          </a:fillRef>
          <a:effectRef idx="1">
            <a:schemeClr val="accent1"/>
          </a:effectRef>
          <a:fontRef idx="minor">
            <a:schemeClr val="tx1"/>
          </a:fontRef>
        </p:style>
      </p:cxnSp>
      <p:sp>
        <p:nvSpPr>
          <p:cNvPr id="49" name="TextBox 48"/>
          <p:cNvSpPr txBox="1"/>
          <p:nvPr/>
        </p:nvSpPr>
        <p:spPr>
          <a:xfrm>
            <a:off x="5479542" y="3657600"/>
            <a:ext cx="252603" cy="256032"/>
          </a:xfrm>
          <a:prstGeom prst="rect">
            <a:avLst/>
          </a:prstGeom>
          <a:noFill/>
        </p:spPr>
        <p:txBody>
          <a:bodyPr wrap="none" lIns="0" rIns="0" tIns="0" bIns="0">
            <a:spAutoFit/>
          </a:bodyPr>
          <a:lstStyle/>
          <a:p>
            <a:pPr algn="ctr">
              <a:lnSpc>
                <a:spcPts val="2240"/>
              </a:lnSpc>
              <a:spcAft>
                <a:spcPts val="0"/>
              </a:spcAft>
              <a:defRPr sz="2000" b="0">
                <a:solidFill>
                  <a:srgbClr val="182B3A"/>
                </a:solidFill>
                <a:latin typeface="Arial"/>
              </a:defRPr>
            </a:pPr>
            <a:r>
              <a:t>6</a:t>
            </a:r>
          </a:p>
        </p:txBody>
      </p:sp>
      <p:sp>
        <p:nvSpPr>
          <p:cNvPr id="50" name="TextBox 49"/>
          <p:cNvSpPr txBox="1"/>
          <p:nvPr/>
        </p:nvSpPr>
        <p:spPr>
          <a:xfrm>
            <a:off x="5166360" y="4251959"/>
            <a:ext cx="313182" cy="347472"/>
          </a:xfrm>
          <a:prstGeom prst="rect">
            <a:avLst/>
          </a:prstGeom>
          <a:noFill/>
        </p:spPr>
        <p:txBody>
          <a:bodyPr wrap="none" lIns="0" rIns="0" tIns="0" bIns="0">
            <a:spAutoFit/>
          </a:bodyPr>
          <a:lstStyle/>
          <a:p>
            <a:pPr algn="l">
              <a:lnSpc>
                <a:spcPts val="2912"/>
              </a:lnSpc>
              <a:spcAft>
                <a:spcPts val="0"/>
              </a:spcAft>
              <a:defRPr sz="2600" b="0">
                <a:solidFill>
                  <a:srgbClr val="182B3A"/>
                </a:solidFill>
                <a:latin typeface="Arial"/>
              </a:defRPr>
            </a:pPr>
            <a:r>
              <a:t>= </a:t>
            </a:r>
          </a:p>
        </p:txBody>
      </p:sp>
      <p:sp>
        <p:nvSpPr>
          <p:cNvPr id="51" name="TextBox 50"/>
          <p:cNvSpPr txBox="1"/>
          <p:nvPr/>
        </p:nvSpPr>
        <p:spPr>
          <a:xfrm>
            <a:off x="5479542" y="4133087"/>
            <a:ext cx="252603" cy="256032"/>
          </a:xfrm>
          <a:prstGeom prst="rect">
            <a:avLst/>
          </a:prstGeom>
          <a:noFill/>
        </p:spPr>
        <p:txBody>
          <a:bodyPr wrap="none" lIns="0" rIns="0" tIns="0" bIns="0">
            <a:spAutoFit/>
          </a:bodyPr>
          <a:lstStyle/>
          <a:p>
            <a:pPr algn="ctr">
              <a:lnSpc>
                <a:spcPts val="2240"/>
              </a:lnSpc>
              <a:spcAft>
                <a:spcPts val="0"/>
              </a:spcAft>
              <a:defRPr sz="2000" b="0">
                <a:solidFill>
                  <a:srgbClr val="182B3A"/>
                </a:solidFill>
                <a:latin typeface="Arial"/>
              </a:defRPr>
            </a:pPr>
            <a:r>
              <a:t>1</a:t>
            </a:r>
          </a:p>
        </p:txBody>
      </p:sp>
      <p:cxnSp>
        <p:nvCxnSpPr>
          <p:cNvPr id="52" name="Connector 51"/>
          <p:cNvCxnSpPr/>
          <p:nvPr/>
        </p:nvCxnSpPr>
        <p:spPr>
          <a:xfrm>
            <a:off x="5479542" y="4398264"/>
            <a:ext cx="252603" cy="0"/>
          </a:xfrm>
          <a:prstGeom prst="line">
            <a:avLst/>
          </a:prstGeom>
          <a:ln w="12700">
            <a:solidFill>
              <a:srgbClr val="182B3A"/>
            </a:solidFill>
          </a:ln>
          <a:effectLst/>
        </p:spPr>
        <p:style>
          <a:lnRef idx="2">
            <a:schemeClr val="accent1"/>
          </a:lnRef>
          <a:fillRef idx="0">
            <a:schemeClr val="accent1"/>
          </a:fillRef>
          <a:effectRef idx="1">
            <a:schemeClr val="accent1"/>
          </a:effectRef>
          <a:fontRef idx="minor">
            <a:schemeClr val="tx1"/>
          </a:fontRef>
        </p:style>
      </p:cxnSp>
      <p:sp>
        <p:nvSpPr>
          <p:cNvPr id="53" name="TextBox 52"/>
          <p:cNvSpPr txBox="1"/>
          <p:nvPr/>
        </p:nvSpPr>
        <p:spPr>
          <a:xfrm>
            <a:off x="5479542" y="4416552"/>
            <a:ext cx="252603" cy="256032"/>
          </a:xfrm>
          <a:prstGeom prst="rect">
            <a:avLst/>
          </a:prstGeom>
          <a:noFill/>
        </p:spPr>
        <p:txBody>
          <a:bodyPr wrap="none" lIns="0" rIns="0" tIns="0" bIns="0">
            <a:spAutoFit/>
          </a:bodyPr>
          <a:lstStyle/>
          <a:p>
            <a:pPr algn="ctr">
              <a:lnSpc>
                <a:spcPts val="2240"/>
              </a:lnSpc>
              <a:spcAft>
                <a:spcPts val="0"/>
              </a:spcAft>
              <a:defRPr sz="2000" b="0">
                <a:solidFill>
                  <a:srgbClr val="182B3A"/>
                </a:solidFill>
                <a:latin typeface="Arial"/>
              </a:defRPr>
            </a:pPr>
            <a:r>
              <a:t>2</a:t>
            </a:r>
          </a:p>
        </p:txBody>
      </p:sp>
      <p:sp>
        <p:nvSpPr>
          <p:cNvPr id="54" name="TextBox 53"/>
          <p:cNvSpPr txBox="1"/>
          <p:nvPr/>
        </p:nvSpPr>
        <p:spPr>
          <a:xfrm>
            <a:off x="5111496" y="5961888"/>
            <a:ext cx="4370832" cy="1463040"/>
          </a:xfrm>
          <a:prstGeom prst="rect">
            <a:avLst/>
          </a:prstGeom>
          <a:noFill/>
        </p:spPr>
        <p:txBody>
          <a:bodyPr wrap="square" lIns="54864" rIns="54864" tIns="22860" bIns="22860">
            <a:spAutoFit/>
          </a:bodyPr>
          <a:lstStyle/>
          <a:p>
            <a:pPr>
              <a:lnSpc>
                <a:spcPts val="1995"/>
              </a:lnSpc>
              <a:spcBef>
                <a:spcPts val="0"/>
              </a:spcBef>
              <a:spcAft>
                <a:spcPts val="0"/>
              </a:spcAft>
              <a:defRPr sz="1900" b="0">
                <a:solidFill>
                  <a:srgbClr val="182B3A"/>
                </a:solidFill>
                <a:latin typeface="Arial"/>
              </a:defRPr>
            </a:pPr>
            <a:r>
              <a:t>Use equal-sized parts; change numerator and denominator together, then add or subtract only the numerators. Simplify the result.</a:t>
            </a:r>
          </a:p>
        </p:txBody>
      </p:sp>
      <p:sp>
        <p:nvSpPr>
          <p:cNvPr id="55" name="Rectangle 54"/>
          <p:cNvSpPr/>
          <p:nvPr/>
        </p:nvSpPr>
        <p:spPr>
          <a:xfrm>
            <a:off x="9646920" y="1600200"/>
            <a:ext cx="4626864" cy="6080760"/>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TextBox 55"/>
          <p:cNvSpPr txBox="1"/>
          <p:nvPr/>
        </p:nvSpPr>
        <p:spPr>
          <a:xfrm>
            <a:off x="9829800" y="1975103"/>
            <a:ext cx="303656" cy="347472"/>
          </a:xfrm>
          <a:prstGeom prst="rect">
            <a:avLst/>
          </a:prstGeom>
          <a:noFill/>
        </p:spPr>
        <p:txBody>
          <a:bodyPr wrap="none" lIns="0" rIns="0" tIns="0" bIns="0">
            <a:spAutoFit/>
          </a:bodyPr>
          <a:lstStyle/>
          <a:p>
            <a:pPr algn="l">
              <a:lnSpc>
                <a:spcPts val="2912"/>
              </a:lnSpc>
              <a:spcAft>
                <a:spcPts val="0"/>
              </a:spcAft>
              <a:defRPr sz="2600" b="0">
                <a:solidFill>
                  <a:srgbClr val="182B3A"/>
                </a:solidFill>
                <a:latin typeface="Arial"/>
              </a:defRPr>
            </a:pPr>
            <a:r>
              <a:t>1 </a:t>
            </a:r>
          </a:p>
        </p:txBody>
      </p:sp>
      <p:sp>
        <p:nvSpPr>
          <p:cNvPr id="57" name="TextBox 56"/>
          <p:cNvSpPr txBox="1"/>
          <p:nvPr/>
        </p:nvSpPr>
        <p:spPr>
          <a:xfrm>
            <a:off x="10133457" y="1856231"/>
            <a:ext cx="252603" cy="256032"/>
          </a:xfrm>
          <a:prstGeom prst="rect">
            <a:avLst/>
          </a:prstGeom>
          <a:noFill/>
        </p:spPr>
        <p:txBody>
          <a:bodyPr wrap="none" lIns="0" rIns="0" tIns="0" bIns="0">
            <a:spAutoFit/>
          </a:bodyPr>
          <a:lstStyle/>
          <a:p>
            <a:pPr algn="ctr">
              <a:lnSpc>
                <a:spcPts val="2240"/>
              </a:lnSpc>
              <a:spcAft>
                <a:spcPts val="0"/>
              </a:spcAft>
              <a:defRPr sz="2000" b="0">
                <a:solidFill>
                  <a:srgbClr val="182B3A"/>
                </a:solidFill>
                <a:latin typeface="Arial"/>
              </a:defRPr>
            </a:pPr>
            <a:r>
              <a:t>1</a:t>
            </a:r>
          </a:p>
        </p:txBody>
      </p:sp>
      <p:cxnSp>
        <p:nvCxnSpPr>
          <p:cNvPr id="58" name="Connector 57"/>
          <p:cNvCxnSpPr/>
          <p:nvPr/>
        </p:nvCxnSpPr>
        <p:spPr>
          <a:xfrm>
            <a:off x="10133457" y="2121408"/>
            <a:ext cx="252603" cy="0"/>
          </a:xfrm>
          <a:prstGeom prst="line">
            <a:avLst/>
          </a:prstGeom>
          <a:ln w="12700">
            <a:solidFill>
              <a:srgbClr val="182B3A"/>
            </a:solidFill>
          </a:ln>
          <a:effectLst/>
        </p:spPr>
        <p:style>
          <a:lnRef idx="2">
            <a:schemeClr val="accent1"/>
          </a:lnRef>
          <a:fillRef idx="0">
            <a:schemeClr val="accent1"/>
          </a:fillRef>
          <a:effectRef idx="1">
            <a:schemeClr val="accent1"/>
          </a:effectRef>
          <a:fontRef idx="minor">
            <a:schemeClr val="tx1"/>
          </a:fontRef>
        </p:style>
      </p:cxnSp>
      <p:sp>
        <p:nvSpPr>
          <p:cNvPr id="59" name="TextBox 58"/>
          <p:cNvSpPr txBox="1"/>
          <p:nvPr/>
        </p:nvSpPr>
        <p:spPr>
          <a:xfrm>
            <a:off x="10133457" y="2139696"/>
            <a:ext cx="252603" cy="256032"/>
          </a:xfrm>
          <a:prstGeom prst="rect">
            <a:avLst/>
          </a:prstGeom>
          <a:noFill/>
        </p:spPr>
        <p:txBody>
          <a:bodyPr wrap="none" lIns="0" rIns="0" tIns="0" bIns="0">
            <a:spAutoFit/>
          </a:bodyPr>
          <a:lstStyle/>
          <a:p>
            <a:pPr algn="ctr">
              <a:lnSpc>
                <a:spcPts val="2240"/>
              </a:lnSpc>
              <a:spcAft>
                <a:spcPts val="0"/>
              </a:spcAft>
              <a:defRPr sz="2000" b="0">
                <a:solidFill>
                  <a:srgbClr val="182B3A"/>
                </a:solidFill>
                <a:latin typeface="Arial"/>
              </a:defRPr>
            </a:pPr>
            <a:r>
              <a:t>3</a:t>
            </a:r>
          </a:p>
        </p:txBody>
      </p:sp>
      <p:sp>
        <p:nvSpPr>
          <p:cNvPr id="60" name="TextBox 59"/>
          <p:cNvSpPr txBox="1"/>
          <p:nvPr/>
        </p:nvSpPr>
        <p:spPr>
          <a:xfrm>
            <a:off x="10440924" y="1975103"/>
            <a:ext cx="405257" cy="347472"/>
          </a:xfrm>
          <a:prstGeom prst="rect">
            <a:avLst/>
          </a:prstGeom>
          <a:noFill/>
        </p:spPr>
        <p:txBody>
          <a:bodyPr wrap="none" lIns="0" rIns="0" tIns="0" bIns="0">
            <a:spAutoFit/>
          </a:bodyPr>
          <a:lstStyle/>
          <a:p>
            <a:pPr algn="l">
              <a:lnSpc>
                <a:spcPts val="2912"/>
              </a:lnSpc>
              <a:spcAft>
                <a:spcPts val="0"/>
              </a:spcAft>
              <a:defRPr sz="2600" b="0">
                <a:solidFill>
                  <a:srgbClr val="182B3A"/>
                </a:solidFill>
                <a:latin typeface="Arial"/>
              </a:defRPr>
            </a:pPr>
            <a:r>
              <a:t> − </a:t>
            </a:r>
          </a:p>
        </p:txBody>
      </p:sp>
      <p:sp>
        <p:nvSpPr>
          <p:cNvPr id="61" name="TextBox 60"/>
          <p:cNvSpPr txBox="1"/>
          <p:nvPr/>
        </p:nvSpPr>
        <p:spPr>
          <a:xfrm>
            <a:off x="10846181" y="1856231"/>
            <a:ext cx="252603" cy="256032"/>
          </a:xfrm>
          <a:prstGeom prst="rect">
            <a:avLst/>
          </a:prstGeom>
          <a:noFill/>
        </p:spPr>
        <p:txBody>
          <a:bodyPr wrap="none" lIns="0" rIns="0" tIns="0" bIns="0">
            <a:spAutoFit/>
          </a:bodyPr>
          <a:lstStyle/>
          <a:p>
            <a:pPr algn="ctr">
              <a:lnSpc>
                <a:spcPts val="2240"/>
              </a:lnSpc>
              <a:spcAft>
                <a:spcPts val="0"/>
              </a:spcAft>
              <a:defRPr sz="2000" b="0">
                <a:solidFill>
                  <a:srgbClr val="182B3A"/>
                </a:solidFill>
                <a:latin typeface="Arial"/>
              </a:defRPr>
            </a:pPr>
            <a:r>
              <a:t>3</a:t>
            </a:r>
          </a:p>
        </p:txBody>
      </p:sp>
      <p:cxnSp>
        <p:nvCxnSpPr>
          <p:cNvPr id="62" name="Connector 61"/>
          <p:cNvCxnSpPr/>
          <p:nvPr/>
        </p:nvCxnSpPr>
        <p:spPr>
          <a:xfrm>
            <a:off x="10846181" y="2121408"/>
            <a:ext cx="252603" cy="0"/>
          </a:xfrm>
          <a:prstGeom prst="line">
            <a:avLst/>
          </a:prstGeom>
          <a:ln w="12700">
            <a:solidFill>
              <a:srgbClr val="182B3A"/>
            </a:solidFill>
          </a:ln>
          <a:effectLst/>
        </p:spPr>
        <p:style>
          <a:lnRef idx="2">
            <a:schemeClr val="accent1"/>
          </a:lnRef>
          <a:fillRef idx="0">
            <a:schemeClr val="accent1"/>
          </a:fillRef>
          <a:effectRef idx="1">
            <a:schemeClr val="accent1"/>
          </a:effectRef>
          <a:fontRef idx="minor">
            <a:schemeClr val="tx1"/>
          </a:fontRef>
        </p:style>
      </p:cxnSp>
      <p:sp>
        <p:nvSpPr>
          <p:cNvPr id="63" name="TextBox 62"/>
          <p:cNvSpPr txBox="1"/>
          <p:nvPr/>
        </p:nvSpPr>
        <p:spPr>
          <a:xfrm>
            <a:off x="10846181" y="2139696"/>
            <a:ext cx="252603" cy="256032"/>
          </a:xfrm>
          <a:prstGeom prst="rect">
            <a:avLst/>
          </a:prstGeom>
          <a:noFill/>
        </p:spPr>
        <p:txBody>
          <a:bodyPr wrap="none" lIns="0" rIns="0" tIns="0" bIns="0">
            <a:spAutoFit/>
          </a:bodyPr>
          <a:lstStyle/>
          <a:p>
            <a:pPr algn="ctr">
              <a:lnSpc>
                <a:spcPts val="2240"/>
              </a:lnSpc>
              <a:spcAft>
                <a:spcPts val="0"/>
              </a:spcAft>
              <a:defRPr sz="2000" b="0">
                <a:solidFill>
                  <a:srgbClr val="182B3A"/>
                </a:solidFill>
                <a:latin typeface="Arial"/>
              </a:defRPr>
            </a:pPr>
            <a:r>
              <a:t>4</a:t>
            </a:r>
          </a:p>
        </p:txBody>
      </p:sp>
      <p:sp>
        <p:nvSpPr>
          <p:cNvPr id="64" name="TextBox 63"/>
          <p:cNvSpPr txBox="1"/>
          <p:nvPr/>
        </p:nvSpPr>
        <p:spPr>
          <a:xfrm>
            <a:off x="9829800" y="2734056"/>
            <a:ext cx="313182" cy="347472"/>
          </a:xfrm>
          <a:prstGeom prst="rect">
            <a:avLst/>
          </a:prstGeom>
          <a:noFill/>
        </p:spPr>
        <p:txBody>
          <a:bodyPr wrap="none" lIns="0" rIns="0" tIns="0" bIns="0">
            <a:spAutoFit/>
          </a:bodyPr>
          <a:lstStyle/>
          <a:p>
            <a:pPr algn="l">
              <a:lnSpc>
                <a:spcPts val="2912"/>
              </a:lnSpc>
              <a:spcAft>
                <a:spcPts val="0"/>
              </a:spcAft>
              <a:defRPr sz="2600" b="0">
                <a:solidFill>
                  <a:srgbClr val="182B3A"/>
                </a:solidFill>
                <a:latin typeface="Arial"/>
              </a:defRPr>
            </a:pPr>
            <a:r>
              <a:t>= </a:t>
            </a:r>
          </a:p>
        </p:txBody>
      </p:sp>
      <p:sp>
        <p:nvSpPr>
          <p:cNvPr id="65" name="TextBox 64"/>
          <p:cNvSpPr txBox="1"/>
          <p:nvPr/>
        </p:nvSpPr>
        <p:spPr>
          <a:xfrm>
            <a:off x="10142982" y="2615184"/>
            <a:ext cx="252603" cy="256032"/>
          </a:xfrm>
          <a:prstGeom prst="rect">
            <a:avLst/>
          </a:prstGeom>
          <a:noFill/>
        </p:spPr>
        <p:txBody>
          <a:bodyPr wrap="none" lIns="0" rIns="0" tIns="0" bIns="0">
            <a:spAutoFit/>
          </a:bodyPr>
          <a:lstStyle/>
          <a:p>
            <a:pPr algn="ctr">
              <a:lnSpc>
                <a:spcPts val="2240"/>
              </a:lnSpc>
              <a:spcAft>
                <a:spcPts val="0"/>
              </a:spcAft>
              <a:defRPr sz="2000" b="0">
                <a:solidFill>
                  <a:srgbClr val="182B3A"/>
                </a:solidFill>
                <a:latin typeface="Arial"/>
              </a:defRPr>
            </a:pPr>
            <a:r>
              <a:t>4</a:t>
            </a:r>
          </a:p>
        </p:txBody>
      </p:sp>
      <p:cxnSp>
        <p:nvCxnSpPr>
          <p:cNvPr id="66" name="Connector 65"/>
          <p:cNvCxnSpPr/>
          <p:nvPr/>
        </p:nvCxnSpPr>
        <p:spPr>
          <a:xfrm>
            <a:off x="10142982" y="2880359"/>
            <a:ext cx="252603" cy="0"/>
          </a:xfrm>
          <a:prstGeom prst="line">
            <a:avLst/>
          </a:prstGeom>
          <a:ln w="12700">
            <a:solidFill>
              <a:srgbClr val="182B3A"/>
            </a:solidFill>
          </a:ln>
          <a:effectLst/>
        </p:spPr>
        <p:style>
          <a:lnRef idx="2">
            <a:schemeClr val="accent1"/>
          </a:lnRef>
          <a:fillRef idx="0">
            <a:schemeClr val="accent1"/>
          </a:fillRef>
          <a:effectRef idx="1">
            <a:schemeClr val="accent1"/>
          </a:effectRef>
          <a:fontRef idx="minor">
            <a:schemeClr val="tx1"/>
          </a:fontRef>
        </p:style>
      </p:cxnSp>
      <p:sp>
        <p:nvSpPr>
          <p:cNvPr id="67" name="TextBox 66"/>
          <p:cNvSpPr txBox="1"/>
          <p:nvPr/>
        </p:nvSpPr>
        <p:spPr>
          <a:xfrm>
            <a:off x="10142982" y="2898648"/>
            <a:ext cx="252603" cy="256032"/>
          </a:xfrm>
          <a:prstGeom prst="rect">
            <a:avLst/>
          </a:prstGeom>
          <a:noFill/>
        </p:spPr>
        <p:txBody>
          <a:bodyPr wrap="none" lIns="0" rIns="0" tIns="0" bIns="0">
            <a:spAutoFit/>
          </a:bodyPr>
          <a:lstStyle/>
          <a:p>
            <a:pPr algn="ctr">
              <a:lnSpc>
                <a:spcPts val="2240"/>
              </a:lnSpc>
              <a:spcAft>
                <a:spcPts val="0"/>
              </a:spcAft>
              <a:defRPr sz="2000" b="0">
                <a:solidFill>
                  <a:srgbClr val="182B3A"/>
                </a:solidFill>
                <a:latin typeface="Arial"/>
              </a:defRPr>
            </a:pPr>
            <a:r>
              <a:t>3</a:t>
            </a:r>
          </a:p>
        </p:txBody>
      </p:sp>
      <p:sp>
        <p:nvSpPr>
          <p:cNvPr id="68" name="TextBox 67"/>
          <p:cNvSpPr txBox="1"/>
          <p:nvPr/>
        </p:nvSpPr>
        <p:spPr>
          <a:xfrm>
            <a:off x="10450449" y="2734056"/>
            <a:ext cx="405257" cy="347472"/>
          </a:xfrm>
          <a:prstGeom prst="rect">
            <a:avLst/>
          </a:prstGeom>
          <a:noFill/>
        </p:spPr>
        <p:txBody>
          <a:bodyPr wrap="none" lIns="0" rIns="0" tIns="0" bIns="0">
            <a:spAutoFit/>
          </a:bodyPr>
          <a:lstStyle/>
          <a:p>
            <a:pPr algn="l">
              <a:lnSpc>
                <a:spcPts val="2912"/>
              </a:lnSpc>
              <a:spcAft>
                <a:spcPts val="0"/>
              </a:spcAft>
              <a:defRPr sz="2600" b="0">
                <a:solidFill>
                  <a:srgbClr val="182B3A"/>
                </a:solidFill>
                <a:latin typeface="Arial"/>
              </a:defRPr>
            </a:pPr>
            <a:r>
              <a:t> − </a:t>
            </a:r>
          </a:p>
        </p:txBody>
      </p:sp>
      <p:sp>
        <p:nvSpPr>
          <p:cNvPr id="69" name="TextBox 68"/>
          <p:cNvSpPr txBox="1"/>
          <p:nvPr/>
        </p:nvSpPr>
        <p:spPr>
          <a:xfrm>
            <a:off x="10855706" y="2615184"/>
            <a:ext cx="252603" cy="256032"/>
          </a:xfrm>
          <a:prstGeom prst="rect">
            <a:avLst/>
          </a:prstGeom>
          <a:noFill/>
        </p:spPr>
        <p:txBody>
          <a:bodyPr wrap="none" lIns="0" rIns="0" tIns="0" bIns="0">
            <a:spAutoFit/>
          </a:bodyPr>
          <a:lstStyle/>
          <a:p>
            <a:pPr algn="ctr">
              <a:lnSpc>
                <a:spcPts val="2240"/>
              </a:lnSpc>
              <a:spcAft>
                <a:spcPts val="0"/>
              </a:spcAft>
              <a:defRPr sz="2000" b="0">
                <a:solidFill>
                  <a:srgbClr val="182B3A"/>
                </a:solidFill>
                <a:latin typeface="Arial"/>
              </a:defRPr>
            </a:pPr>
            <a:r>
              <a:t>3</a:t>
            </a:r>
          </a:p>
        </p:txBody>
      </p:sp>
      <p:cxnSp>
        <p:nvCxnSpPr>
          <p:cNvPr id="70" name="Connector 69"/>
          <p:cNvCxnSpPr/>
          <p:nvPr/>
        </p:nvCxnSpPr>
        <p:spPr>
          <a:xfrm>
            <a:off x="10855706" y="2880359"/>
            <a:ext cx="252603" cy="0"/>
          </a:xfrm>
          <a:prstGeom prst="line">
            <a:avLst/>
          </a:prstGeom>
          <a:ln w="12700">
            <a:solidFill>
              <a:srgbClr val="182B3A"/>
            </a:solidFill>
          </a:ln>
          <a:effectLst/>
        </p:spPr>
        <p:style>
          <a:lnRef idx="2">
            <a:schemeClr val="accent1"/>
          </a:lnRef>
          <a:fillRef idx="0">
            <a:schemeClr val="accent1"/>
          </a:fillRef>
          <a:effectRef idx="1">
            <a:schemeClr val="accent1"/>
          </a:effectRef>
          <a:fontRef idx="minor">
            <a:schemeClr val="tx1"/>
          </a:fontRef>
        </p:style>
      </p:cxnSp>
      <p:sp>
        <p:nvSpPr>
          <p:cNvPr id="71" name="TextBox 70"/>
          <p:cNvSpPr txBox="1"/>
          <p:nvPr/>
        </p:nvSpPr>
        <p:spPr>
          <a:xfrm>
            <a:off x="10855706" y="2898648"/>
            <a:ext cx="252603" cy="256032"/>
          </a:xfrm>
          <a:prstGeom prst="rect">
            <a:avLst/>
          </a:prstGeom>
          <a:noFill/>
        </p:spPr>
        <p:txBody>
          <a:bodyPr wrap="none" lIns="0" rIns="0" tIns="0" bIns="0">
            <a:spAutoFit/>
          </a:bodyPr>
          <a:lstStyle/>
          <a:p>
            <a:pPr algn="ctr">
              <a:lnSpc>
                <a:spcPts val="2240"/>
              </a:lnSpc>
              <a:spcAft>
                <a:spcPts val="0"/>
              </a:spcAft>
              <a:defRPr sz="2000" b="0">
                <a:solidFill>
                  <a:srgbClr val="182B3A"/>
                </a:solidFill>
                <a:latin typeface="Arial"/>
              </a:defRPr>
            </a:pPr>
            <a:r>
              <a:t>4</a:t>
            </a:r>
          </a:p>
        </p:txBody>
      </p:sp>
      <p:sp>
        <p:nvSpPr>
          <p:cNvPr id="72" name="TextBox 71"/>
          <p:cNvSpPr txBox="1"/>
          <p:nvPr/>
        </p:nvSpPr>
        <p:spPr>
          <a:xfrm>
            <a:off x="9829800" y="3493008"/>
            <a:ext cx="313182" cy="347472"/>
          </a:xfrm>
          <a:prstGeom prst="rect">
            <a:avLst/>
          </a:prstGeom>
          <a:noFill/>
        </p:spPr>
        <p:txBody>
          <a:bodyPr wrap="none" lIns="0" rIns="0" tIns="0" bIns="0">
            <a:spAutoFit/>
          </a:bodyPr>
          <a:lstStyle/>
          <a:p>
            <a:pPr algn="l">
              <a:lnSpc>
                <a:spcPts val="2912"/>
              </a:lnSpc>
              <a:spcAft>
                <a:spcPts val="0"/>
              </a:spcAft>
              <a:defRPr sz="2600" b="0">
                <a:solidFill>
                  <a:srgbClr val="182B3A"/>
                </a:solidFill>
                <a:latin typeface="Arial"/>
              </a:defRPr>
            </a:pPr>
            <a:r>
              <a:t>= </a:t>
            </a:r>
          </a:p>
        </p:txBody>
      </p:sp>
      <p:sp>
        <p:nvSpPr>
          <p:cNvPr id="73" name="TextBox 72"/>
          <p:cNvSpPr txBox="1"/>
          <p:nvPr/>
        </p:nvSpPr>
        <p:spPr>
          <a:xfrm>
            <a:off x="10142982" y="3374135"/>
            <a:ext cx="395478" cy="256032"/>
          </a:xfrm>
          <a:prstGeom prst="rect">
            <a:avLst/>
          </a:prstGeom>
          <a:noFill/>
        </p:spPr>
        <p:txBody>
          <a:bodyPr wrap="none" lIns="0" rIns="0" tIns="0" bIns="0">
            <a:spAutoFit/>
          </a:bodyPr>
          <a:lstStyle/>
          <a:p>
            <a:pPr algn="ctr">
              <a:lnSpc>
                <a:spcPts val="2240"/>
              </a:lnSpc>
              <a:spcAft>
                <a:spcPts val="0"/>
              </a:spcAft>
              <a:defRPr sz="2000" b="0">
                <a:solidFill>
                  <a:srgbClr val="182B3A"/>
                </a:solidFill>
                <a:latin typeface="Arial"/>
              </a:defRPr>
            </a:pPr>
            <a:r>
              <a:t>16</a:t>
            </a:r>
          </a:p>
        </p:txBody>
      </p:sp>
      <p:cxnSp>
        <p:nvCxnSpPr>
          <p:cNvPr id="74" name="Connector 73"/>
          <p:cNvCxnSpPr/>
          <p:nvPr/>
        </p:nvCxnSpPr>
        <p:spPr>
          <a:xfrm>
            <a:off x="10142982" y="3639311"/>
            <a:ext cx="395478" cy="0"/>
          </a:xfrm>
          <a:prstGeom prst="line">
            <a:avLst/>
          </a:prstGeom>
          <a:ln w="12700">
            <a:solidFill>
              <a:srgbClr val="182B3A"/>
            </a:solidFill>
          </a:ln>
          <a:effectLst/>
        </p:spPr>
        <p:style>
          <a:lnRef idx="2">
            <a:schemeClr val="accent1"/>
          </a:lnRef>
          <a:fillRef idx="0">
            <a:schemeClr val="accent1"/>
          </a:fillRef>
          <a:effectRef idx="1">
            <a:schemeClr val="accent1"/>
          </a:effectRef>
          <a:fontRef idx="minor">
            <a:schemeClr val="tx1"/>
          </a:fontRef>
        </p:style>
      </p:cxnSp>
      <p:sp>
        <p:nvSpPr>
          <p:cNvPr id="75" name="TextBox 74"/>
          <p:cNvSpPr txBox="1"/>
          <p:nvPr/>
        </p:nvSpPr>
        <p:spPr>
          <a:xfrm>
            <a:off x="10142982" y="3657600"/>
            <a:ext cx="395478" cy="256032"/>
          </a:xfrm>
          <a:prstGeom prst="rect">
            <a:avLst/>
          </a:prstGeom>
          <a:noFill/>
        </p:spPr>
        <p:txBody>
          <a:bodyPr wrap="none" lIns="0" rIns="0" tIns="0" bIns="0">
            <a:spAutoFit/>
          </a:bodyPr>
          <a:lstStyle/>
          <a:p>
            <a:pPr algn="ctr">
              <a:lnSpc>
                <a:spcPts val="2240"/>
              </a:lnSpc>
              <a:spcAft>
                <a:spcPts val="0"/>
              </a:spcAft>
              <a:defRPr sz="2000" b="0">
                <a:solidFill>
                  <a:srgbClr val="182B3A"/>
                </a:solidFill>
                <a:latin typeface="Arial"/>
              </a:defRPr>
            </a:pPr>
            <a:r>
              <a:t>12</a:t>
            </a:r>
          </a:p>
        </p:txBody>
      </p:sp>
      <p:sp>
        <p:nvSpPr>
          <p:cNvPr id="76" name="TextBox 75"/>
          <p:cNvSpPr txBox="1"/>
          <p:nvPr/>
        </p:nvSpPr>
        <p:spPr>
          <a:xfrm>
            <a:off x="10593324" y="3493008"/>
            <a:ext cx="405257" cy="347472"/>
          </a:xfrm>
          <a:prstGeom prst="rect">
            <a:avLst/>
          </a:prstGeom>
          <a:noFill/>
        </p:spPr>
        <p:txBody>
          <a:bodyPr wrap="none" lIns="0" rIns="0" tIns="0" bIns="0">
            <a:spAutoFit/>
          </a:bodyPr>
          <a:lstStyle/>
          <a:p>
            <a:pPr algn="l">
              <a:lnSpc>
                <a:spcPts val="2912"/>
              </a:lnSpc>
              <a:spcAft>
                <a:spcPts val="0"/>
              </a:spcAft>
              <a:defRPr sz="2600" b="0">
                <a:solidFill>
                  <a:srgbClr val="182B3A"/>
                </a:solidFill>
                <a:latin typeface="Arial"/>
              </a:defRPr>
            </a:pPr>
            <a:r>
              <a:t> − </a:t>
            </a:r>
          </a:p>
        </p:txBody>
      </p:sp>
      <p:sp>
        <p:nvSpPr>
          <p:cNvPr id="77" name="TextBox 76"/>
          <p:cNvSpPr txBox="1"/>
          <p:nvPr/>
        </p:nvSpPr>
        <p:spPr>
          <a:xfrm>
            <a:off x="10998581" y="3374135"/>
            <a:ext cx="395478" cy="256032"/>
          </a:xfrm>
          <a:prstGeom prst="rect">
            <a:avLst/>
          </a:prstGeom>
          <a:noFill/>
        </p:spPr>
        <p:txBody>
          <a:bodyPr wrap="none" lIns="0" rIns="0" tIns="0" bIns="0">
            <a:spAutoFit/>
          </a:bodyPr>
          <a:lstStyle/>
          <a:p>
            <a:pPr algn="ctr">
              <a:lnSpc>
                <a:spcPts val="2240"/>
              </a:lnSpc>
              <a:spcAft>
                <a:spcPts val="0"/>
              </a:spcAft>
              <a:defRPr sz="2000" b="0">
                <a:solidFill>
                  <a:srgbClr val="182B3A"/>
                </a:solidFill>
                <a:latin typeface="Arial"/>
              </a:defRPr>
            </a:pPr>
            <a:r>
              <a:t>9</a:t>
            </a:r>
          </a:p>
        </p:txBody>
      </p:sp>
      <p:cxnSp>
        <p:nvCxnSpPr>
          <p:cNvPr id="78" name="Connector 77"/>
          <p:cNvCxnSpPr/>
          <p:nvPr/>
        </p:nvCxnSpPr>
        <p:spPr>
          <a:xfrm>
            <a:off x="10998581" y="3639311"/>
            <a:ext cx="395478" cy="0"/>
          </a:xfrm>
          <a:prstGeom prst="line">
            <a:avLst/>
          </a:prstGeom>
          <a:ln w="12700">
            <a:solidFill>
              <a:srgbClr val="182B3A"/>
            </a:solidFill>
          </a:ln>
          <a:effectLst/>
        </p:spPr>
        <p:style>
          <a:lnRef idx="2">
            <a:schemeClr val="accent1"/>
          </a:lnRef>
          <a:fillRef idx="0">
            <a:schemeClr val="accent1"/>
          </a:fillRef>
          <a:effectRef idx="1">
            <a:schemeClr val="accent1"/>
          </a:effectRef>
          <a:fontRef idx="minor">
            <a:schemeClr val="tx1"/>
          </a:fontRef>
        </p:style>
      </p:cxnSp>
      <p:sp>
        <p:nvSpPr>
          <p:cNvPr id="79" name="TextBox 78"/>
          <p:cNvSpPr txBox="1"/>
          <p:nvPr/>
        </p:nvSpPr>
        <p:spPr>
          <a:xfrm>
            <a:off x="10998581" y="3657600"/>
            <a:ext cx="395478" cy="256032"/>
          </a:xfrm>
          <a:prstGeom prst="rect">
            <a:avLst/>
          </a:prstGeom>
          <a:noFill/>
        </p:spPr>
        <p:txBody>
          <a:bodyPr wrap="none" lIns="0" rIns="0" tIns="0" bIns="0">
            <a:spAutoFit/>
          </a:bodyPr>
          <a:lstStyle/>
          <a:p>
            <a:pPr algn="ctr">
              <a:lnSpc>
                <a:spcPts val="2240"/>
              </a:lnSpc>
              <a:spcAft>
                <a:spcPts val="0"/>
              </a:spcAft>
              <a:defRPr sz="2000" b="0">
                <a:solidFill>
                  <a:srgbClr val="182B3A"/>
                </a:solidFill>
                <a:latin typeface="Arial"/>
              </a:defRPr>
            </a:pPr>
            <a:r>
              <a:t>12</a:t>
            </a:r>
          </a:p>
        </p:txBody>
      </p:sp>
      <p:sp>
        <p:nvSpPr>
          <p:cNvPr id="80" name="TextBox 79"/>
          <p:cNvSpPr txBox="1"/>
          <p:nvPr/>
        </p:nvSpPr>
        <p:spPr>
          <a:xfrm>
            <a:off x="9829800" y="4251959"/>
            <a:ext cx="313182" cy="347472"/>
          </a:xfrm>
          <a:prstGeom prst="rect">
            <a:avLst/>
          </a:prstGeom>
          <a:noFill/>
        </p:spPr>
        <p:txBody>
          <a:bodyPr wrap="none" lIns="0" rIns="0" tIns="0" bIns="0">
            <a:spAutoFit/>
          </a:bodyPr>
          <a:lstStyle/>
          <a:p>
            <a:pPr algn="l">
              <a:lnSpc>
                <a:spcPts val="2912"/>
              </a:lnSpc>
              <a:spcAft>
                <a:spcPts val="0"/>
              </a:spcAft>
              <a:defRPr sz="2600" b="0">
                <a:solidFill>
                  <a:srgbClr val="182B3A"/>
                </a:solidFill>
                <a:latin typeface="Arial"/>
              </a:defRPr>
            </a:pPr>
            <a:r>
              <a:t>= </a:t>
            </a:r>
          </a:p>
        </p:txBody>
      </p:sp>
      <p:sp>
        <p:nvSpPr>
          <p:cNvPr id="81" name="TextBox 80"/>
          <p:cNvSpPr txBox="1"/>
          <p:nvPr/>
        </p:nvSpPr>
        <p:spPr>
          <a:xfrm>
            <a:off x="10142982" y="4133087"/>
            <a:ext cx="395478" cy="256032"/>
          </a:xfrm>
          <a:prstGeom prst="rect">
            <a:avLst/>
          </a:prstGeom>
          <a:noFill/>
        </p:spPr>
        <p:txBody>
          <a:bodyPr wrap="none" lIns="0" rIns="0" tIns="0" bIns="0">
            <a:spAutoFit/>
          </a:bodyPr>
          <a:lstStyle/>
          <a:p>
            <a:pPr algn="ctr">
              <a:lnSpc>
                <a:spcPts val="2240"/>
              </a:lnSpc>
              <a:spcAft>
                <a:spcPts val="0"/>
              </a:spcAft>
              <a:defRPr sz="2000" b="0">
                <a:solidFill>
                  <a:srgbClr val="182B3A"/>
                </a:solidFill>
                <a:latin typeface="Arial"/>
              </a:defRPr>
            </a:pPr>
            <a:r>
              <a:t>7</a:t>
            </a:r>
          </a:p>
        </p:txBody>
      </p:sp>
      <p:cxnSp>
        <p:nvCxnSpPr>
          <p:cNvPr id="82" name="Connector 81"/>
          <p:cNvCxnSpPr/>
          <p:nvPr/>
        </p:nvCxnSpPr>
        <p:spPr>
          <a:xfrm>
            <a:off x="10142982" y="4398264"/>
            <a:ext cx="395478" cy="0"/>
          </a:xfrm>
          <a:prstGeom prst="line">
            <a:avLst/>
          </a:prstGeom>
          <a:ln w="12700">
            <a:solidFill>
              <a:srgbClr val="182B3A"/>
            </a:solidFill>
          </a:ln>
          <a:effectLst/>
        </p:spPr>
        <p:style>
          <a:lnRef idx="2">
            <a:schemeClr val="accent1"/>
          </a:lnRef>
          <a:fillRef idx="0">
            <a:schemeClr val="accent1"/>
          </a:fillRef>
          <a:effectRef idx="1">
            <a:schemeClr val="accent1"/>
          </a:effectRef>
          <a:fontRef idx="minor">
            <a:schemeClr val="tx1"/>
          </a:fontRef>
        </p:style>
      </p:cxnSp>
      <p:sp>
        <p:nvSpPr>
          <p:cNvPr id="83" name="TextBox 82"/>
          <p:cNvSpPr txBox="1"/>
          <p:nvPr/>
        </p:nvSpPr>
        <p:spPr>
          <a:xfrm>
            <a:off x="10142982" y="4416552"/>
            <a:ext cx="395478" cy="256032"/>
          </a:xfrm>
          <a:prstGeom prst="rect">
            <a:avLst/>
          </a:prstGeom>
          <a:noFill/>
        </p:spPr>
        <p:txBody>
          <a:bodyPr wrap="none" lIns="0" rIns="0" tIns="0" bIns="0">
            <a:spAutoFit/>
          </a:bodyPr>
          <a:lstStyle/>
          <a:p>
            <a:pPr algn="ctr">
              <a:lnSpc>
                <a:spcPts val="2240"/>
              </a:lnSpc>
              <a:spcAft>
                <a:spcPts val="0"/>
              </a:spcAft>
              <a:defRPr sz="2000" b="0">
                <a:solidFill>
                  <a:srgbClr val="182B3A"/>
                </a:solidFill>
                <a:latin typeface="Arial"/>
              </a:defRPr>
            </a:pPr>
            <a:r>
              <a:t>12</a:t>
            </a:r>
          </a:p>
        </p:txBody>
      </p:sp>
      <p:sp>
        <p:nvSpPr>
          <p:cNvPr id="84" name="TextBox 83"/>
          <p:cNvSpPr txBox="1"/>
          <p:nvPr/>
        </p:nvSpPr>
        <p:spPr>
          <a:xfrm>
            <a:off x="9774936" y="5961888"/>
            <a:ext cx="4370832" cy="1463040"/>
          </a:xfrm>
          <a:prstGeom prst="rect">
            <a:avLst/>
          </a:prstGeom>
          <a:noFill/>
        </p:spPr>
        <p:txBody>
          <a:bodyPr wrap="square" lIns="54864" rIns="54864" tIns="22860" bIns="22860">
            <a:spAutoFit/>
          </a:bodyPr>
          <a:lstStyle/>
          <a:p>
            <a:pPr>
              <a:lnSpc>
                <a:spcPts val="1995"/>
              </a:lnSpc>
              <a:spcBef>
                <a:spcPts val="0"/>
              </a:spcBef>
              <a:spcAft>
                <a:spcPts val="0"/>
              </a:spcAft>
              <a:defRPr sz="1900" b="0">
                <a:solidFill>
                  <a:srgbClr val="182B3A"/>
                </a:solidFill>
                <a:latin typeface="Arial"/>
              </a:defRPr>
            </a:pPr>
            <a:r>
              <a:t>Use equal-sized parts; change numerator and denominator together, then add or subtract only the numerators. Simplify the result.</a:t>
            </a:r>
          </a:p>
        </p:txBody>
      </p:sp>
    </p:spTree>
  </p:cSld>
  <p:clrMapOvr>
    <a:masterClrMapping/>
  </p:clrMapOvr>
</p:sld>
</file>

<file path=ppt/slides/slide43.xml><?xml version="1.0" encoding="utf-8"?>
<p:sld xmlns:a="http://schemas.openxmlformats.org/drawingml/2006/main" xmlns:p="http://schemas.openxmlformats.org/presentationml/2006/main" xmlns:r="http://schemas.openxmlformats.org/officeDocument/2006/relationships">
  <p:cSld>
    <p:bg>
      <p:bgPr>
        <a:solidFill>
          <a:srgbClr val="F7F8FA"/>
        </a:solidFill>
        <a:effectLst/>
      </p:bgPr>
    </p:bg>
    <p:spTree>
      <p:nvGrpSpPr>
        <p:cNvPr id="1" name=""/>
        <p:cNvGrpSpPr/>
        <p:nvPr/>
      </p:nvGrpSpPr>
      <p:grpSpPr/>
      <p:sp>
        <p:nvSpPr>
          <p:cNvPr id="2" name="Rectangle 1"/>
          <p:cNvSpPr/>
          <p:nvPr/>
        </p:nvSpPr>
        <p:spPr>
          <a:xfrm>
            <a:off x="0" y="0"/>
            <a:ext cx="14630400" cy="73152"/>
          </a:xfrm>
          <a:prstGeom prst="rect">
            <a:avLst/>
          </a:prstGeom>
          <a:solidFill>
            <a:srgbClr val="176B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20040" y="164592"/>
            <a:ext cx="13990320" cy="457200"/>
          </a:xfrm>
          <a:prstGeom prst="rect">
            <a:avLst/>
          </a:prstGeom>
          <a:noFill/>
        </p:spPr>
        <p:txBody>
          <a:bodyPr wrap="square" lIns="54864" rIns="54864" tIns="22860" bIns="22860">
            <a:spAutoFit/>
          </a:bodyPr>
          <a:lstStyle/>
          <a:p>
            <a:pPr>
              <a:lnSpc>
                <a:spcPts val="2940"/>
              </a:lnSpc>
              <a:spcBef>
                <a:spcPts val="0"/>
              </a:spcBef>
              <a:spcAft>
                <a:spcPts val="0"/>
              </a:spcAft>
              <a:defRPr sz="2800" b="1">
                <a:solidFill>
                  <a:srgbClr val="182B3A"/>
                </a:solidFill>
                <a:latin typeface="Arial"/>
              </a:defRPr>
            </a:pPr>
            <a:r>
              <a:t>Adding and subtracting fractions</a:t>
            </a:r>
          </a:p>
        </p:txBody>
      </p:sp>
      <p:sp>
        <p:nvSpPr>
          <p:cNvPr id="4" name="TextBox 3"/>
          <p:cNvSpPr txBox="1"/>
          <p:nvPr/>
        </p:nvSpPr>
        <p:spPr>
          <a:xfrm>
            <a:off x="320040" y="704088"/>
            <a:ext cx="13990320" cy="347472"/>
          </a:xfrm>
          <a:prstGeom prst="rect">
            <a:avLst/>
          </a:prstGeom>
          <a:noFill/>
        </p:spPr>
        <p:txBody>
          <a:bodyPr wrap="square" lIns="54864" rIns="54864" tIns="22860" bIns="22860">
            <a:spAutoFit/>
          </a:bodyPr>
          <a:lstStyle/>
          <a:p>
            <a:pPr>
              <a:lnSpc>
                <a:spcPts val="1575"/>
              </a:lnSpc>
              <a:spcBef>
                <a:spcPts val="0"/>
              </a:spcBef>
              <a:spcAft>
                <a:spcPts val="0"/>
              </a:spcAft>
              <a:defRPr sz="1500" b="0">
                <a:solidFill>
                  <a:srgbClr val="526472"/>
                </a:solidFill>
                <a:latin typeface="Arial"/>
              </a:defRPr>
            </a:pPr>
            <a:r>
              <a:t>Step-by-step practice 1 • Calculate and simplify.</a:t>
            </a:r>
          </a:p>
        </p:txBody>
      </p:sp>
      <p:sp>
        <p:nvSpPr>
          <p:cNvPr id="5" name="TextBox 4"/>
          <p:cNvSpPr txBox="1"/>
          <p:nvPr/>
        </p:nvSpPr>
        <p:spPr>
          <a:xfrm>
            <a:off x="320040" y="7973568"/>
            <a:ext cx="10789920" cy="210312"/>
          </a:xfrm>
          <a:prstGeom prst="rect">
            <a:avLst/>
          </a:prstGeom>
          <a:noFill/>
        </p:spPr>
        <p:txBody>
          <a:bodyPr wrap="square" lIns="54864" rIns="54864" tIns="22860" bIns="22860">
            <a:spAutoFit/>
          </a:bodyPr>
          <a:lstStyle/>
          <a:p>
            <a:pPr>
              <a:lnSpc>
                <a:spcPts val="1155"/>
              </a:lnSpc>
              <a:spcBef>
                <a:spcPts val="0"/>
              </a:spcBef>
              <a:spcAft>
                <a:spcPts val="0"/>
              </a:spcAft>
              <a:defRPr sz="1100" b="0">
                <a:solidFill>
                  <a:srgbClr val="526472"/>
                </a:solidFill>
                <a:latin typeface="Arial"/>
              </a:defRPr>
            </a:pPr>
            <a:r>
              <a:t>GCSE Maths revision • No calculator • Show your working.</a:t>
            </a:r>
          </a:p>
        </p:txBody>
      </p:sp>
      <p:sp>
        <p:nvSpPr>
          <p:cNvPr id="6" name="TextBox 5"/>
          <p:cNvSpPr txBox="1"/>
          <p:nvPr/>
        </p:nvSpPr>
        <p:spPr>
          <a:xfrm>
            <a:off x="11155680" y="7973568"/>
            <a:ext cx="3108960" cy="210312"/>
          </a:xfrm>
          <a:prstGeom prst="rect">
            <a:avLst/>
          </a:prstGeom>
          <a:noFill/>
        </p:spPr>
        <p:txBody>
          <a:bodyPr wrap="square" lIns="54864" rIns="54864" tIns="22860" bIns="22860">
            <a:spAutoFit/>
          </a:bodyPr>
          <a:lstStyle/>
          <a:p>
            <a:pPr>
              <a:lnSpc>
                <a:spcPts val="1155"/>
              </a:lnSpc>
              <a:spcBef>
                <a:spcPts val="0"/>
              </a:spcBef>
              <a:spcAft>
                <a:spcPts val="0"/>
              </a:spcAft>
              <a:defRPr sz="1100" b="0">
                <a:solidFill>
                  <a:srgbClr val="526472"/>
                </a:solidFill>
                <a:latin typeface="Arial"/>
              </a:defRPr>
            </a:pPr>
            <a:r>
              <a:t>M15-S02</a:t>
            </a:r>
          </a:p>
        </p:txBody>
      </p:sp>
      <p:sp>
        <p:nvSpPr>
          <p:cNvPr id="7" name="Rectangle 6"/>
          <p:cNvSpPr/>
          <p:nvPr/>
        </p:nvSpPr>
        <p:spPr>
          <a:xfrm>
            <a:off x="2121408" y="1115568"/>
            <a:ext cx="4040123" cy="420624"/>
          </a:xfrm>
          <a:prstGeom prst="rect">
            <a:avLst/>
          </a:prstGeom>
          <a:solidFill>
            <a:srgbClr val="176B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2148839" y="1147572"/>
            <a:ext cx="3980688" cy="329184"/>
          </a:xfrm>
          <a:prstGeom prst="rect">
            <a:avLst/>
          </a:prstGeom>
          <a:noFill/>
        </p:spPr>
        <p:txBody>
          <a:bodyPr wrap="square" lIns="54864" rIns="54864" tIns="22860" bIns="22860">
            <a:spAutoFit/>
          </a:bodyPr>
          <a:lstStyle/>
          <a:p>
            <a:pPr>
              <a:lnSpc>
                <a:spcPts val="1995"/>
              </a:lnSpc>
              <a:spcBef>
                <a:spcPts val="0"/>
              </a:spcBef>
              <a:spcAft>
                <a:spcPts val="0"/>
              </a:spcAft>
              <a:defRPr sz="1900" b="1">
                <a:solidFill>
                  <a:srgbClr val="FFFFFF"/>
                </a:solidFill>
                <a:latin typeface="Arial"/>
              </a:defRPr>
            </a:pPr>
            <a:r>
              <a:t>Start</a:t>
            </a:r>
          </a:p>
        </p:txBody>
      </p:sp>
      <p:sp>
        <p:nvSpPr>
          <p:cNvPr id="9" name="Rectangle 8"/>
          <p:cNvSpPr/>
          <p:nvPr/>
        </p:nvSpPr>
        <p:spPr>
          <a:xfrm>
            <a:off x="6184392" y="1115568"/>
            <a:ext cx="4040123" cy="420624"/>
          </a:xfrm>
          <a:prstGeom prst="rect">
            <a:avLst/>
          </a:prstGeom>
          <a:solidFill>
            <a:srgbClr val="3559A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211824" y="1147572"/>
            <a:ext cx="3980688" cy="329184"/>
          </a:xfrm>
          <a:prstGeom prst="rect">
            <a:avLst/>
          </a:prstGeom>
          <a:noFill/>
        </p:spPr>
        <p:txBody>
          <a:bodyPr wrap="square" lIns="54864" rIns="54864" tIns="22860" bIns="22860">
            <a:spAutoFit/>
          </a:bodyPr>
          <a:lstStyle/>
          <a:p>
            <a:pPr>
              <a:lnSpc>
                <a:spcPts val="1995"/>
              </a:lnSpc>
              <a:spcBef>
                <a:spcPts val="0"/>
              </a:spcBef>
              <a:spcAft>
                <a:spcPts val="0"/>
              </a:spcAft>
              <a:defRPr sz="1900" b="1">
                <a:solidFill>
                  <a:srgbClr val="FFFFFF"/>
                </a:solidFill>
                <a:latin typeface="Arial"/>
              </a:defRPr>
            </a:pPr>
            <a:r>
              <a:t>Build</a:t>
            </a:r>
          </a:p>
        </p:txBody>
      </p:sp>
      <p:sp>
        <p:nvSpPr>
          <p:cNvPr id="11" name="Rectangle 10"/>
          <p:cNvSpPr/>
          <p:nvPr/>
        </p:nvSpPr>
        <p:spPr>
          <a:xfrm>
            <a:off x="10247376" y="1115568"/>
            <a:ext cx="4040123" cy="420624"/>
          </a:xfrm>
          <a:prstGeom prst="rect">
            <a:avLst/>
          </a:prstGeom>
          <a:solidFill>
            <a:srgbClr val="754B8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0274808" y="1147572"/>
            <a:ext cx="3980688" cy="329184"/>
          </a:xfrm>
          <a:prstGeom prst="rect">
            <a:avLst/>
          </a:prstGeom>
          <a:noFill/>
        </p:spPr>
        <p:txBody>
          <a:bodyPr wrap="square" lIns="54864" rIns="54864" tIns="22860" bIns="22860">
            <a:spAutoFit/>
          </a:bodyPr>
          <a:lstStyle/>
          <a:p>
            <a:pPr>
              <a:lnSpc>
                <a:spcPts val="1995"/>
              </a:lnSpc>
              <a:spcBef>
                <a:spcPts val="0"/>
              </a:spcBef>
              <a:spcAft>
                <a:spcPts val="0"/>
              </a:spcAft>
              <a:defRPr sz="1900" b="1">
                <a:solidFill>
                  <a:srgbClr val="FFFFFF"/>
                </a:solidFill>
                <a:latin typeface="Arial"/>
              </a:defRPr>
            </a:pPr>
            <a:r>
              <a:t>Confidence</a:t>
            </a:r>
          </a:p>
        </p:txBody>
      </p:sp>
      <p:sp>
        <p:nvSpPr>
          <p:cNvPr id="13" name="Rectangle 12"/>
          <p:cNvSpPr/>
          <p:nvPr/>
        </p:nvSpPr>
        <p:spPr>
          <a:xfrm>
            <a:off x="320040" y="1581912"/>
            <a:ext cx="1773936" cy="822960"/>
          </a:xfrm>
          <a:prstGeom prst="rect">
            <a:avLst/>
          </a:prstGeom>
          <a:solidFill>
            <a:srgbClr val="E8EDF1"/>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02336" y="1691640"/>
            <a:ext cx="1572768" cy="640080"/>
          </a:xfrm>
          <a:prstGeom prst="rect">
            <a:avLst/>
          </a:prstGeom>
          <a:noFill/>
        </p:spPr>
        <p:txBody>
          <a:bodyPr wrap="square" lIns="54864" rIns="54864" tIns="22860" bIns="22860">
            <a:spAutoFit/>
          </a:bodyPr>
          <a:lstStyle/>
          <a:p>
            <a:pPr>
              <a:lnSpc>
                <a:spcPts val="1890"/>
              </a:lnSpc>
              <a:spcBef>
                <a:spcPts val="0"/>
              </a:spcBef>
              <a:spcAft>
                <a:spcPts val="0"/>
              </a:spcAft>
              <a:defRPr sz="1800" b="1">
                <a:solidFill>
                  <a:srgbClr val="182B3A"/>
                </a:solidFill>
                <a:latin typeface="Arial"/>
              </a:defRPr>
            </a:pPr>
            <a:r>
              <a:t>Question</a:t>
            </a:r>
          </a:p>
        </p:txBody>
      </p:sp>
      <p:sp>
        <p:nvSpPr>
          <p:cNvPr id="15" name="Rectangle 14"/>
          <p:cNvSpPr/>
          <p:nvPr/>
        </p:nvSpPr>
        <p:spPr>
          <a:xfrm>
            <a:off x="2121408" y="1581912"/>
            <a:ext cx="4040123" cy="822960"/>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2304288" y="1673352"/>
            <a:ext cx="236728" cy="256032"/>
          </a:xfrm>
          <a:prstGeom prst="rect">
            <a:avLst/>
          </a:prstGeom>
          <a:noFill/>
        </p:spPr>
        <p:txBody>
          <a:bodyPr wrap="none" lIns="0" rIns="0" tIns="0" bIns="0">
            <a:spAutoFit/>
          </a:bodyPr>
          <a:lstStyle/>
          <a:p>
            <a:pPr algn="ctr">
              <a:lnSpc>
                <a:spcPts val="2016"/>
              </a:lnSpc>
              <a:spcAft>
                <a:spcPts val="0"/>
              </a:spcAft>
              <a:defRPr sz="1800" b="0">
                <a:solidFill>
                  <a:srgbClr val="182B3A"/>
                </a:solidFill>
                <a:latin typeface="Arial"/>
              </a:defRPr>
            </a:pPr>
            <a:r>
              <a:t>2</a:t>
            </a:r>
          </a:p>
        </p:txBody>
      </p:sp>
      <p:cxnSp>
        <p:nvCxnSpPr>
          <p:cNvPr id="17" name="Connector 16"/>
          <p:cNvCxnSpPr/>
          <p:nvPr/>
        </p:nvCxnSpPr>
        <p:spPr>
          <a:xfrm>
            <a:off x="2304288" y="1938528"/>
            <a:ext cx="236728" cy="0"/>
          </a:xfrm>
          <a:prstGeom prst="line">
            <a:avLst/>
          </a:prstGeom>
          <a:ln w="12700">
            <a:solidFill>
              <a:srgbClr val="182B3A"/>
            </a:solidFill>
          </a:ln>
          <a:effectLst/>
        </p:spPr>
        <p:style>
          <a:lnRef idx="2">
            <a:schemeClr val="accent1"/>
          </a:lnRef>
          <a:fillRef idx="0">
            <a:schemeClr val="accent1"/>
          </a:fillRef>
          <a:effectRef idx="1">
            <a:schemeClr val="accent1"/>
          </a:effectRef>
          <a:fontRef idx="minor">
            <a:schemeClr val="tx1"/>
          </a:fontRef>
        </p:style>
      </p:cxnSp>
      <p:sp>
        <p:nvSpPr>
          <p:cNvPr id="18" name="TextBox 17"/>
          <p:cNvSpPr txBox="1"/>
          <p:nvPr/>
        </p:nvSpPr>
        <p:spPr>
          <a:xfrm>
            <a:off x="2304288" y="1956816"/>
            <a:ext cx="236728" cy="256032"/>
          </a:xfrm>
          <a:prstGeom prst="rect">
            <a:avLst/>
          </a:prstGeom>
          <a:noFill/>
        </p:spPr>
        <p:txBody>
          <a:bodyPr wrap="none" lIns="0" rIns="0" tIns="0" bIns="0">
            <a:spAutoFit/>
          </a:bodyPr>
          <a:lstStyle/>
          <a:p>
            <a:pPr algn="ctr">
              <a:lnSpc>
                <a:spcPts val="2016"/>
              </a:lnSpc>
              <a:spcAft>
                <a:spcPts val="0"/>
              </a:spcAft>
              <a:defRPr sz="1800" b="0">
                <a:solidFill>
                  <a:srgbClr val="182B3A"/>
                </a:solidFill>
                <a:latin typeface="Arial"/>
              </a:defRPr>
            </a:pPr>
            <a:r>
              <a:t>9</a:t>
            </a:r>
          </a:p>
        </p:txBody>
      </p:sp>
      <p:sp>
        <p:nvSpPr>
          <p:cNvPr id="19" name="TextBox 18"/>
          <p:cNvSpPr txBox="1"/>
          <p:nvPr/>
        </p:nvSpPr>
        <p:spPr>
          <a:xfrm>
            <a:off x="2595880" y="1792224"/>
            <a:ext cx="363982" cy="347472"/>
          </a:xfrm>
          <a:prstGeom prst="rect">
            <a:avLst/>
          </a:prstGeom>
          <a:noFill/>
        </p:spPr>
        <p:txBody>
          <a:bodyPr wrap="none" lIns="0" rIns="0" tIns="0" bIns="0">
            <a:spAutoFit/>
          </a:bodyPr>
          <a:lstStyle/>
          <a:p>
            <a:pPr algn="l">
              <a:lnSpc>
                <a:spcPts val="2576"/>
              </a:lnSpc>
              <a:spcAft>
                <a:spcPts val="0"/>
              </a:spcAft>
              <a:defRPr sz="2300" b="0">
                <a:solidFill>
                  <a:srgbClr val="182B3A"/>
                </a:solidFill>
                <a:latin typeface="Arial"/>
              </a:defRPr>
            </a:pPr>
            <a:r>
              <a:t> + </a:t>
            </a:r>
          </a:p>
        </p:txBody>
      </p:sp>
      <p:sp>
        <p:nvSpPr>
          <p:cNvPr id="20" name="TextBox 19"/>
          <p:cNvSpPr txBox="1"/>
          <p:nvPr/>
        </p:nvSpPr>
        <p:spPr>
          <a:xfrm>
            <a:off x="2959861" y="1673352"/>
            <a:ext cx="236728" cy="256032"/>
          </a:xfrm>
          <a:prstGeom prst="rect">
            <a:avLst/>
          </a:prstGeom>
          <a:noFill/>
        </p:spPr>
        <p:txBody>
          <a:bodyPr wrap="none" lIns="0" rIns="0" tIns="0" bIns="0">
            <a:spAutoFit/>
          </a:bodyPr>
          <a:lstStyle/>
          <a:p>
            <a:pPr algn="ctr">
              <a:lnSpc>
                <a:spcPts val="2016"/>
              </a:lnSpc>
              <a:spcAft>
                <a:spcPts val="0"/>
              </a:spcAft>
              <a:defRPr sz="1800" b="0">
                <a:solidFill>
                  <a:srgbClr val="182B3A"/>
                </a:solidFill>
                <a:latin typeface="Arial"/>
              </a:defRPr>
            </a:pPr>
            <a:r>
              <a:t>5</a:t>
            </a:r>
          </a:p>
        </p:txBody>
      </p:sp>
      <p:cxnSp>
        <p:nvCxnSpPr>
          <p:cNvPr id="21" name="Connector 20"/>
          <p:cNvCxnSpPr/>
          <p:nvPr/>
        </p:nvCxnSpPr>
        <p:spPr>
          <a:xfrm>
            <a:off x="2959861" y="1938528"/>
            <a:ext cx="236729" cy="0"/>
          </a:xfrm>
          <a:prstGeom prst="line">
            <a:avLst/>
          </a:prstGeom>
          <a:ln w="12700">
            <a:solidFill>
              <a:srgbClr val="182B3A"/>
            </a:solidFill>
          </a:ln>
          <a:effectLst/>
        </p:spPr>
        <p:style>
          <a:lnRef idx="2">
            <a:schemeClr val="accent1"/>
          </a:lnRef>
          <a:fillRef idx="0">
            <a:schemeClr val="accent1"/>
          </a:fillRef>
          <a:effectRef idx="1">
            <a:schemeClr val="accent1"/>
          </a:effectRef>
          <a:fontRef idx="minor">
            <a:schemeClr val="tx1"/>
          </a:fontRef>
        </p:style>
      </p:cxnSp>
      <p:sp>
        <p:nvSpPr>
          <p:cNvPr id="22" name="TextBox 21"/>
          <p:cNvSpPr txBox="1"/>
          <p:nvPr/>
        </p:nvSpPr>
        <p:spPr>
          <a:xfrm>
            <a:off x="2959861" y="1956816"/>
            <a:ext cx="236728" cy="256032"/>
          </a:xfrm>
          <a:prstGeom prst="rect">
            <a:avLst/>
          </a:prstGeom>
          <a:noFill/>
        </p:spPr>
        <p:txBody>
          <a:bodyPr wrap="none" lIns="0" rIns="0" tIns="0" bIns="0">
            <a:spAutoFit/>
          </a:bodyPr>
          <a:lstStyle/>
          <a:p>
            <a:pPr algn="ctr">
              <a:lnSpc>
                <a:spcPts val="2016"/>
              </a:lnSpc>
              <a:spcAft>
                <a:spcPts val="0"/>
              </a:spcAft>
              <a:defRPr sz="1800" b="0">
                <a:solidFill>
                  <a:srgbClr val="182B3A"/>
                </a:solidFill>
                <a:latin typeface="Arial"/>
              </a:defRPr>
            </a:pPr>
            <a:r>
              <a:t>9</a:t>
            </a:r>
          </a:p>
        </p:txBody>
      </p:sp>
      <p:sp>
        <p:nvSpPr>
          <p:cNvPr id="23" name="Rectangle 22"/>
          <p:cNvSpPr/>
          <p:nvPr/>
        </p:nvSpPr>
        <p:spPr>
          <a:xfrm>
            <a:off x="6184392" y="1581912"/>
            <a:ext cx="4040123" cy="822960"/>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367272" y="1673352"/>
            <a:ext cx="236728" cy="256032"/>
          </a:xfrm>
          <a:prstGeom prst="rect">
            <a:avLst/>
          </a:prstGeom>
          <a:noFill/>
        </p:spPr>
        <p:txBody>
          <a:bodyPr wrap="none" lIns="0" rIns="0" tIns="0" bIns="0">
            <a:spAutoFit/>
          </a:bodyPr>
          <a:lstStyle/>
          <a:p>
            <a:pPr algn="ctr">
              <a:lnSpc>
                <a:spcPts val="2016"/>
              </a:lnSpc>
              <a:spcAft>
                <a:spcPts val="0"/>
              </a:spcAft>
              <a:defRPr sz="1800" b="0">
                <a:solidFill>
                  <a:srgbClr val="182B3A"/>
                </a:solidFill>
                <a:latin typeface="Arial"/>
              </a:defRPr>
            </a:pPr>
            <a:r>
              <a:t>3</a:t>
            </a:r>
          </a:p>
        </p:txBody>
      </p:sp>
      <p:cxnSp>
        <p:nvCxnSpPr>
          <p:cNvPr id="25" name="Connector 24"/>
          <p:cNvCxnSpPr/>
          <p:nvPr/>
        </p:nvCxnSpPr>
        <p:spPr>
          <a:xfrm>
            <a:off x="6367272" y="1938528"/>
            <a:ext cx="236728" cy="0"/>
          </a:xfrm>
          <a:prstGeom prst="line">
            <a:avLst/>
          </a:prstGeom>
          <a:ln w="12700">
            <a:solidFill>
              <a:srgbClr val="182B3A"/>
            </a:solidFill>
          </a:ln>
          <a:effectLst/>
        </p:spPr>
        <p:style>
          <a:lnRef idx="2">
            <a:schemeClr val="accent1"/>
          </a:lnRef>
          <a:fillRef idx="0">
            <a:schemeClr val="accent1"/>
          </a:fillRef>
          <a:effectRef idx="1">
            <a:schemeClr val="accent1"/>
          </a:effectRef>
          <a:fontRef idx="minor">
            <a:schemeClr val="tx1"/>
          </a:fontRef>
        </p:style>
      </p:cxnSp>
      <p:sp>
        <p:nvSpPr>
          <p:cNvPr id="26" name="TextBox 25"/>
          <p:cNvSpPr txBox="1"/>
          <p:nvPr/>
        </p:nvSpPr>
        <p:spPr>
          <a:xfrm>
            <a:off x="6367272" y="1956816"/>
            <a:ext cx="236728" cy="256032"/>
          </a:xfrm>
          <a:prstGeom prst="rect">
            <a:avLst/>
          </a:prstGeom>
          <a:noFill/>
        </p:spPr>
        <p:txBody>
          <a:bodyPr wrap="none" lIns="0" rIns="0" tIns="0" bIns="0">
            <a:spAutoFit/>
          </a:bodyPr>
          <a:lstStyle/>
          <a:p>
            <a:pPr algn="ctr">
              <a:lnSpc>
                <a:spcPts val="2016"/>
              </a:lnSpc>
              <a:spcAft>
                <a:spcPts val="0"/>
              </a:spcAft>
              <a:defRPr sz="1800" b="0">
                <a:solidFill>
                  <a:srgbClr val="182B3A"/>
                </a:solidFill>
                <a:latin typeface="Arial"/>
              </a:defRPr>
            </a:pPr>
            <a:r>
              <a:t>4</a:t>
            </a:r>
          </a:p>
        </p:txBody>
      </p:sp>
      <p:sp>
        <p:nvSpPr>
          <p:cNvPr id="27" name="TextBox 26"/>
          <p:cNvSpPr txBox="1"/>
          <p:nvPr/>
        </p:nvSpPr>
        <p:spPr>
          <a:xfrm>
            <a:off x="6658864" y="1792224"/>
            <a:ext cx="363982" cy="347472"/>
          </a:xfrm>
          <a:prstGeom prst="rect">
            <a:avLst/>
          </a:prstGeom>
          <a:noFill/>
        </p:spPr>
        <p:txBody>
          <a:bodyPr wrap="none" lIns="0" rIns="0" tIns="0" bIns="0">
            <a:spAutoFit/>
          </a:bodyPr>
          <a:lstStyle/>
          <a:p>
            <a:pPr algn="l">
              <a:lnSpc>
                <a:spcPts val="2576"/>
              </a:lnSpc>
              <a:spcAft>
                <a:spcPts val="0"/>
              </a:spcAft>
              <a:defRPr sz="2300" b="0">
                <a:solidFill>
                  <a:srgbClr val="182B3A"/>
                </a:solidFill>
                <a:latin typeface="Arial"/>
              </a:defRPr>
            </a:pPr>
            <a:r>
              <a:t> − </a:t>
            </a:r>
          </a:p>
        </p:txBody>
      </p:sp>
      <p:sp>
        <p:nvSpPr>
          <p:cNvPr id="28" name="TextBox 27"/>
          <p:cNvSpPr txBox="1"/>
          <p:nvPr/>
        </p:nvSpPr>
        <p:spPr>
          <a:xfrm>
            <a:off x="7022846" y="1673352"/>
            <a:ext cx="236728" cy="256032"/>
          </a:xfrm>
          <a:prstGeom prst="rect">
            <a:avLst/>
          </a:prstGeom>
          <a:noFill/>
        </p:spPr>
        <p:txBody>
          <a:bodyPr wrap="none" lIns="0" rIns="0" tIns="0" bIns="0">
            <a:spAutoFit/>
          </a:bodyPr>
          <a:lstStyle/>
          <a:p>
            <a:pPr algn="ctr">
              <a:lnSpc>
                <a:spcPts val="2016"/>
              </a:lnSpc>
              <a:spcAft>
                <a:spcPts val="0"/>
              </a:spcAft>
              <a:defRPr sz="1800" b="0">
                <a:solidFill>
                  <a:srgbClr val="182B3A"/>
                </a:solidFill>
                <a:latin typeface="Arial"/>
              </a:defRPr>
            </a:pPr>
            <a:r>
              <a:t>1</a:t>
            </a:r>
          </a:p>
        </p:txBody>
      </p:sp>
      <p:cxnSp>
        <p:nvCxnSpPr>
          <p:cNvPr id="29" name="Connector 28"/>
          <p:cNvCxnSpPr/>
          <p:nvPr/>
        </p:nvCxnSpPr>
        <p:spPr>
          <a:xfrm>
            <a:off x="7022846" y="1938528"/>
            <a:ext cx="236728" cy="0"/>
          </a:xfrm>
          <a:prstGeom prst="line">
            <a:avLst/>
          </a:prstGeom>
          <a:ln w="12700">
            <a:solidFill>
              <a:srgbClr val="182B3A"/>
            </a:solidFill>
          </a:ln>
          <a:effectLst/>
        </p:spPr>
        <p:style>
          <a:lnRef idx="2">
            <a:schemeClr val="accent1"/>
          </a:lnRef>
          <a:fillRef idx="0">
            <a:schemeClr val="accent1"/>
          </a:fillRef>
          <a:effectRef idx="1">
            <a:schemeClr val="accent1"/>
          </a:effectRef>
          <a:fontRef idx="minor">
            <a:schemeClr val="tx1"/>
          </a:fontRef>
        </p:style>
      </p:cxnSp>
      <p:sp>
        <p:nvSpPr>
          <p:cNvPr id="30" name="TextBox 29"/>
          <p:cNvSpPr txBox="1"/>
          <p:nvPr/>
        </p:nvSpPr>
        <p:spPr>
          <a:xfrm>
            <a:off x="7022846" y="1956816"/>
            <a:ext cx="236728" cy="256032"/>
          </a:xfrm>
          <a:prstGeom prst="rect">
            <a:avLst/>
          </a:prstGeom>
          <a:noFill/>
        </p:spPr>
        <p:txBody>
          <a:bodyPr wrap="none" lIns="0" rIns="0" tIns="0" bIns="0">
            <a:spAutoFit/>
          </a:bodyPr>
          <a:lstStyle/>
          <a:p>
            <a:pPr algn="ctr">
              <a:lnSpc>
                <a:spcPts val="2016"/>
              </a:lnSpc>
              <a:spcAft>
                <a:spcPts val="0"/>
              </a:spcAft>
              <a:defRPr sz="1800" b="0">
                <a:solidFill>
                  <a:srgbClr val="182B3A"/>
                </a:solidFill>
                <a:latin typeface="Arial"/>
              </a:defRPr>
            </a:pPr>
            <a:r>
              <a:t>8</a:t>
            </a:r>
          </a:p>
        </p:txBody>
      </p:sp>
      <p:sp>
        <p:nvSpPr>
          <p:cNvPr id="31" name="Rectangle 30"/>
          <p:cNvSpPr/>
          <p:nvPr/>
        </p:nvSpPr>
        <p:spPr>
          <a:xfrm>
            <a:off x="10247376" y="1581912"/>
            <a:ext cx="4040123" cy="822960"/>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10430256" y="1792224"/>
            <a:ext cx="271906" cy="347472"/>
          </a:xfrm>
          <a:prstGeom prst="rect">
            <a:avLst/>
          </a:prstGeom>
          <a:noFill/>
        </p:spPr>
        <p:txBody>
          <a:bodyPr wrap="none" lIns="0" rIns="0" tIns="0" bIns="0">
            <a:spAutoFit/>
          </a:bodyPr>
          <a:lstStyle/>
          <a:p>
            <a:pPr algn="l">
              <a:lnSpc>
                <a:spcPts val="2576"/>
              </a:lnSpc>
              <a:spcAft>
                <a:spcPts val="0"/>
              </a:spcAft>
              <a:defRPr sz="2300" b="0">
                <a:solidFill>
                  <a:srgbClr val="182B3A"/>
                </a:solidFill>
                <a:latin typeface="Arial"/>
              </a:defRPr>
            </a:pPr>
            <a:r>
              <a:t>1 </a:t>
            </a:r>
          </a:p>
        </p:txBody>
      </p:sp>
      <p:sp>
        <p:nvSpPr>
          <p:cNvPr id="33" name="TextBox 32"/>
          <p:cNvSpPr txBox="1"/>
          <p:nvPr/>
        </p:nvSpPr>
        <p:spPr>
          <a:xfrm>
            <a:off x="10702163" y="1673352"/>
            <a:ext cx="236728" cy="256032"/>
          </a:xfrm>
          <a:prstGeom prst="rect">
            <a:avLst/>
          </a:prstGeom>
          <a:noFill/>
        </p:spPr>
        <p:txBody>
          <a:bodyPr wrap="none" lIns="0" rIns="0" tIns="0" bIns="0">
            <a:spAutoFit/>
          </a:bodyPr>
          <a:lstStyle/>
          <a:p>
            <a:pPr algn="ctr">
              <a:lnSpc>
                <a:spcPts val="2016"/>
              </a:lnSpc>
              <a:spcAft>
                <a:spcPts val="0"/>
              </a:spcAft>
              <a:defRPr sz="1800" b="0">
                <a:solidFill>
                  <a:srgbClr val="182B3A"/>
                </a:solidFill>
                <a:latin typeface="Arial"/>
              </a:defRPr>
            </a:pPr>
            <a:r>
              <a:t>2</a:t>
            </a:r>
          </a:p>
        </p:txBody>
      </p:sp>
      <p:cxnSp>
        <p:nvCxnSpPr>
          <p:cNvPr id="34" name="Connector 33"/>
          <p:cNvCxnSpPr/>
          <p:nvPr/>
        </p:nvCxnSpPr>
        <p:spPr>
          <a:xfrm>
            <a:off x="10702163" y="1938528"/>
            <a:ext cx="236728" cy="0"/>
          </a:xfrm>
          <a:prstGeom prst="line">
            <a:avLst/>
          </a:prstGeom>
          <a:ln w="12700">
            <a:solidFill>
              <a:srgbClr val="182B3A"/>
            </a:solidFill>
          </a:ln>
          <a:effectLst/>
        </p:spPr>
        <p:style>
          <a:lnRef idx="2">
            <a:schemeClr val="accent1"/>
          </a:lnRef>
          <a:fillRef idx="0">
            <a:schemeClr val="accent1"/>
          </a:fillRef>
          <a:effectRef idx="1">
            <a:schemeClr val="accent1"/>
          </a:effectRef>
          <a:fontRef idx="minor">
            <a:schemeClr val="tx1"/>
          </a:fontRef>
        </p:style>
      </p:cxnSp>
      <p:sp>
        <p:nvSpPr>
          <p:cNvPr id="35" name="TextBox 34"/>
          <p:cNvSpPr txBox="1"/>
          <p:nvPr/>
        </p:nvSpPr>
        <p:spPr>
          <a:xfrm>
            <a:off x="10702163" y="1956816"/>
            <a:ext cx="236728" cy="256032"/>
          </a:xfrm>
          <a:prstGeom prst="rect">
            <a:avLst/>
          </a:prstGeom>
          <a:noFill/>
        </p:spPr>
        <p:txBody>
          <a:bodyPr wrap="none" lIns="0" rIns="0" tIns="0" bIns="0">
            <a:spAutoFit/>
          </a:bodyPr>
          <a:lstStyle/>
          <a:p>
            <a:pPr algn="ctr">
              <a:lnSpc>
                <a:spcPts val="2016"/>
              </a:lnSpc>
              <a:spcAft>
                <a:spcPts val="0"/>
              </a:spcAft>
              <a:defRPr sz="1800" b="0">
                <a:solidFill>
                  <a:srgbClr val="182B3A"/>
                </a:solidFill>
                <a:latin typeface="Arial"/>
              </a:defRPr>
            </a:pPr>
            <a:r>
              <a:t>5</a:t>
            </a:r>
          </a:p>
        </p:txBody>
      </p:sp>
      <p:sp>
        <p:nvSpPr>
          <p:cNvPr id="36" name="TextBox 35"/>
          <p:cNvSpPr txBox="1"/>
          <p:nvPr/>
        </p:nvSpPr>
        <p:spPr>
          <a:xfrm>
            <a:off x="10993755" y="1792224"/>
            <a:ext cx="363982" cy="347472"/>
          </a:xfrm>
          <a:prstGeom prst="rect">
            <a:avLst/>
          </a:prstGeom>
          <a:noFill/>
        </p:spPr>
        <p:txBody>
          <a:bodyPr wrap="none" lIns="0" rIns="0" tIns="0" bIns="0">
            <a:spAutoFit/>
          </a:bodyPr>
          <a:lstStyle/>
          <a:p>
            <a:pPr algn="l">
              <a:lnSpc>
                <a:spcPts val="2576"/>
              </a:lnSpc>
              <a:spcAft>
                <a:spcPts val="0"/>
              </a:spcAft>
              <a:defRPr sz="2300" b="0">
                <a:solidFill>
                  <a:srgbClr val="182B3A"/>
                </a:solidFill>
                <a:latin typeface="Arial"/>
              </a:defRPr>
            </a:pPr>
            <a:r>
              <a:t> + </a:t>
            </a:r>
          </a:p>
        </p:txBody>
      </p:sp>
      <p:sp>
        <p:nvSpPr>
          <p:cNvPr id="37" name="TextBox 36"/>
          <p:cNvSpPr txBox="1"/>
          <p:nvPr/>
        </p:nvSpPr>
        <p:spPr>
          <a:xfrm>
            <a:off x="11357737" y="1673352"/>
            <a:ext cx="236728" cy="256032"/>
          </a:xfrm>
          <a:prstGeom prst="rect">
            <a:avLst/>
          </a:prstGeom>
          <a:noFill/>
        </p:spPr>
        <p:txBody>
          <a:bodyPr wrap="none" lIns="0" rIns="0" tIns="0" bIns="0">
            <a:spAutoFit/>
          </a:bodyPr>
          <a:lstStyle/>
          <a:p>
            <a:pPr algn="ctr">
              <a:lnSpc>
                <a:spcPts val="2016"/>
              </a:lnSpc>
              <a:spcAft>
                <a:spcPts val="0"/>
              </a:spcAft>
              <a:defRPr sz="1800" b="0">
                <a:solidFill>
                  <a:srgbClr val="182B3A"/>
                </a:solidFill>
                <a:latin typeface="Arial"/>
              </a:defRPr>
            </a:pPr>
            <a:r>
              <a:t>2</a:t>
            </a:r>
          </a:p>
        </p:txBody>
      </p:sp>
      <p:cxnSp>
        <p:nvCxnSpPr>
          <p:cNvPr id="38" name="Connector 37"/>
          <p:cNvCxnSpPr/>
          <p:nvPr/>
        </p:nvCxnSpPr>
        <p:spPr>
          <a:xfrm>
            <a:off x="11357737" y="1938528"/>
            <a:ext cx="236728" cy="0"/>
          </a:xfrm>
          <a:prstGeom prst="line">
            <a:avLst/>
          </a:prstGeom>
          <a:ln w="12700">
            <a:solidFill>
              <a:srgbClr val="182B3A"/>
            </a:solidFill>
          </a:ln>
          <a:effectLst/>
        </p:spPr>
        <p:style>
          <a:lnRef idx="2">
            <a:schemeClr val="accent1"/>
          </a:lnRef>
          <a:fillRef idx="0">
            <a:schemeClr val="accent1"/>
          </a:fillRef>
          <a:effectRef idx="1">
            <a:schemeClr val="accent1"/>
          </a:effectRef>
          <a:fontRef idx="minor">
            <a:schemeClr val="tx1"/>
          </a:fontRef>
        </p:style>
      </p:cxnSp>
      <p:sp>
        <p:nvSpPr>
          <p:cNvPr id="39" name="TextBox 38"/>
          <p:cNvSpPr txBox="1"/>
          <p:nvPr/>
        </p:nvSpPr>
        <p:spPr>
          <a:xfrm>
            <a:off x="11357737" y="1956816"/>
            <a:ext cx="236728" cy="256032"/>
          </a:xfrm>
          <a:prstGeom prst="rect">
            <a:avLst/>
          </a:prstGeom>
          <a:noFill/>
        </p:spPr>
        <p:txBody>
          <a:bodyPr wrap="none" lIns="0" rIns="0" tIns="0" bIns="0">
            <a:spAutoFit/>
          </a:bodyPr>
          <a:lstStyle/>
          <a:p>
            <a:pPr algn="ctr">
              <a:lnSpc>
                <a:spcPts val="2016"/>
              </a:lnSpc>
              <a:spcAft>
                <a:spcPts val="0"/>
              </a:spcAft>
              <a:defRPr sz="1800" b="0">
                <a:solidFill>
                  <a:srgbClr val="182B3A"/>
                </a:solidFill>
                <a:latin typeface="Arial"/>
              </a:defRPr>
            </a:pPr>
            <a:r>
              <a:t>3</a:t>
            </a:r>
          </a:p>
        </p:txBody>
      </p:sp>
      <p:sp>
        <p:nvSpPr>
          <p:cNvPr id="40" name="Rectangle 39"/>
          <p:cNvSpPr/>
          <p:nvPr/>
        </p:nvSpPr>
        <p:spPr>
          <a:xfrm>
            <a:off x="320040" y="2404872"/>
            <a:ext cx="1773936" cy="1143000"/>
          </a:xfrm>
          <a:prstGeom prst="rect">
            <a:avLst/>
          </a:prstGeom>
          <a:solidFill>
            <a:srgbClr val="E8EDF1"/>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402336" y="2514600"/>
            <a:ext cx="1572768" cy="960120"/>
          </a:xfrm>
          <a:prstGeom prst="rect">
            <a:avLst/>
          </a:prstGeom>
          <a:noFill/>
        </p:spPr>
        <p:txBody>
          <a:bodyPr wrap="square" lIns="54864" rIns="54864" tIns="22860" bIns="22860">
            <a:spAutoFit/>
          </a:bodyPr>
          <a:lstStyle/>
          <a:p>
            <a:pPr>
              <a:lnSpc>
                <a:spcPts val="1890"/>
              </a:lnSpc>
              <a:spcBef>
                <a:spcPts val="0"/>
              </a:spcBef>
              <a:spcAft>
                <a:spcPts val="0"/>
              </a:spcAft>
              <a:defRPr sz="1800" b="1">
                <a:solidFill>
                  <a:srgbClr val="182B3A"/>
                </a:solidFill>
                <a:latin typeface="Arial"/>
              </a:defRPr>
            </a:pPr>
            <a:r>
              <a:t>Prepare the Fractions</a:t>
            </a:r>
          </a:p>
        </p:txBody>
      </p:sp>
      <p:sp>
        <p:nvSpPr>
          <p:cNvPr id="42" name="Rectangle 41"/>
          <p:cNvSpPr/>
          <p:nvPr/>
        </p:nvSpPr>
        <p:spPr>
          <a:xfrm>
            <a:off x="2121408" y="2404872"/>
            <a:ext cx="4040123" cy="1143000"/>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2231136" y="2542032"/>
            <a:ext cx="3806952" cy="914400"/>
          </a:xfrm>
          <a:prstGeom prst="rect">
            <a:avLst/>
          </a:prstGeom>
          <a:noFill/>
        </p:spPr>
        <p:txBody>
          <a:bodyPr wrap="square" lIns="54864" rIns="54864" tIns="22860" bIns="22860">
            <a:spAutoFit/>
          </a:bodyPr>
          <a:lstStyle/>
          <a:p>
            <a:pPr>
              <a:lnSpc>
                <a:spcPts val="1995"/>
              </a:lnSpc>
              <a:spcBef>
                <a:spcPts val="0"/>
              </a:spcBef>
              <a:spcAft>
                <a:spcPts val="0"/>
              </a:spcAft>
              <a:defRPr sz="1900" b="0">
                <a:solidFill>
                  <a:srgbClr val="182B3A"/>
                </a:solidFill>
                <a:latin typeface="Arial"/>
              </a:defRPr>
            </a:pPr>
            <a:r>
              <a:t>Convert mixed numbers to improper fractions if needed.</a:t>
            </a:r>
          </a:p>
        </p:txBody>
      </p:sp>
      <p:sp>
        <p:nvSpPr>
          <p:cNvPr id="44" name="Rectangle 43"/>
          <p:cNvSpPr/>
          <p:nvPr/>
        </p:nvSpPr>
        <p:spPr>
          <a:xfrm>
            <a:off x="6184392" y="2404872"/>
            <a:ext cx="4040123" cy="1143000"/>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6294120" y="2542032"/>
            <a:ext cx="3806952" cy="914400"/>
          </a:xfrm>
          <a:prstGeom prst="rect">
            <a:avLst/>
          </a:prstGeom>
          <a:noFill/>
        </p:spPr>
        <p:txBody>
          <a:bodyPr wrap="square" lIns="54864" rIns="54864" tIns="22860" bIns="22860">
            <a:spAutoFit/>
          </a:bodyPr>
          <a:lstStyle/>
          <a:p>
            <a:pPr>
              <a:lnSpc>
                <a:spcPts val="1995"/>
              </a:lnSpc>
              <a:spcBef>
                <a:spcPts val="0"/>
              </a:spcBef>
              <a:spcAft>
                <a:spcPts val="0"/>
              </a:spcAft>
              <a:defRPr sz="1900" b="0">
                <a:solidFill>
                  <a:srgbClr val="182B3A"/>
                </a:solidFill>
                <a:latin typeface="Arial"/>
              </a:defRPr>
            </a:pPr>
            <a:r>
              <a:t>Convert mixed numbers to improper fractions if needed.</a:t>
            </a:r>
          </a:p>
        </p:txBody>
      </p:sp>
      <p:sp>
        <p:nvSpPr>
          <p:cNvPr id="46" name="Rectangle 45"/>
          <p:cNvSpPr/>
          <p:nvPr/>
        </p:nvSpPr>
        <p:spPr>
          <a:xfrm>
            <a:off x="10247376" y="2404872"/>
            <a:ext cx="4040123" cy="1143000"/>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TextBox 46"/>
          <p:cNvSpPr txBox="1"/>
          <p:nvPr/>
        </p:nvSpPr>
        <p:spPr>
          <a:xfrm>
            <a:off x="10357104" y="2542032"/>
            <a:ext cx="3806952" cy="914400"/>
          </a:xfrm>
          <a:prstGeom prst="rect">
            <a:avLst/>
          </a:prstGeom>
          <a:noFill/>
        </p:spPr>
        <p:txBody>
          <a:bodyPr wrap="square" lIns="54864" rIns="54864" tIns="22860" bIns="22860">
            <a:spAutoFit/>
          </a:bodyPr>
          <a:lstStyle/>
          <a:p>
            <a:pPr>
              <a:lnSpc>
                <a:spcPts val="1995"/>
              </a:lnSpc>
              <a:spcBef>
                <a:spcPts val="0"/>
              </a:spcBef>
              <a:spcAft>
                <a:spcPts val="0"/>
              </a:spcAft>
              <a:defRPr sz="1900" b="0">
                <a:solidFill>
                  <a:srgbClr val="182B3A"/>
                </a:solidFill>
                <a:latin typeface="Arial"/>
              </a:defRPr>
            </a:pPr>
            <a:r>
              <a:t>Convert mixed numbers to improper fractions if needed.</a:t>
            </a:r>
          </a:p>
        </p:txBody>
      </p:sp>
      <p:sp>
        <p:nvSpPr>
          <p:cNvPr id="48" name="Rectangle 47"/>
          <p:cNvSpPr/>
          <p:nvPr/>
        </p:nvSpPr>
        <p:spPr>
          <a:xfrm>
            <a:off x="320040" y="3547872"/>
            <a:ext cx="1773936" cy="1325880"/>
          </a:xfrm>
          <a:prstGeom prst="rect">
            <a:avLst/>
          </a:prstGeom>
          <a:solidFill>
            <a:srgbClr val="E8EDF1"/>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TextBox 48"/>
          <p:cNvSpPr txBox="1"/>
          <p:nvPr/>
        </p:nvSpPr>
        <p:spPr>
          <a:xfrm>
            <a:off x="402336" y="3657600"/>
            <a:ext cx="1572768" cy="1143000"/>
          </a:xfrm>
          <a:prstGeom prst="rect">
            <a:avLst/>
          </a:prstGeom>
          <a:noFill/>
        </p:spPr>
        <p:txBody>
          <a:bodyPr wrap="square" lIns="54864" rIns="54864" tIns="22860" bIns="22860">
            <a:spAutoFit/>
          </a:bodyPr>
          <a:lstStyle/>
          <a:p>
            <a:pPr>
              <a:lnSpc>
                <a:spcPts val="1890"/>
              </a:lnSpc>
              <a:spcBef>
                <a:spcPts val="0"/>
              </a:spcBef>
              <a:spcAft>
                <a:spcPts val="0"/>
              </a:spcAft>
              <a:defRPr sz="1800" b="1">
                <a:solidFill>
                  <a:srgbClr val="182B3A"/>
                </a:solidFill>
                <a:latin typeface="Arial"/>
              </a:defRPr>
            </a:pPr>
            <a:r>
              <a:t>Use a Common Denominator</a:t>
            </a:r>
          </a:p>
        </p:txBody>
      </p:sp>
      <p:sp>
        <p:nvSpPr>
          <p:cNvPr id="50" name="Rectangle 49"/>
          <p:cNvSpPr/>
          <p:nvPr/>
        </p:nvSpPr>
        <p:spPr>
          <a:xfrm>
            <a:off x="2121408" y="3547872"/>
            <a:ext cx="4040123" cy="1325880"/>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TextBox 50"/>
          <p:cNvSpPr txBox="1"/>
          <p:nvPr/>
        </p:nvSpPr>
        <p:spPr>
          <a:xfrm>
            <a:off x="2231136" y="3685032"/>
            <a:ext cx="3806952" cy="1097280"/>
          </a:xfrm>
          <a:prstGeom prst="rect">
            <a:avLst/>
          </a:prstGeom>
          <a:noFill/>
        </p:spPr>
        <p:txBody>
          <a:bodyPr wrap="square" lIns="54864" rIns="54864" tIns="22860" bIns="22860">
            <a:spAutoFit/>
          </a:bodyPr>
          <a:lstStyle/>
          <a:p>
            <a:pPr>
              <a:lnSpc>
                <a:spcPts val="1995"/>
              </a:lnSpc>
              <a:spcBef>
                <a:spcPts val="0"/>
              </a:spcBef>
              <a:spcAft>
                <a:spcPts val="0"/>
              </a:spcAft>
              <a:defRPr sz="1900" b="0">
                <a:solidFill>
                  <a:srgbClr val="182B3A"/>
                </a:solidFill>
                <a:latin typeface="Arial"/>
              </a:defRPr>
            </a:pPr>
            <a:r>
              <a:t>Find a common multiple. Change top and bottom together.</a:t>
            </a:r>
          </a:p>
        </p:txBody>
      </p:sp>
      <p:sp>
        <p:nvSpPr>
          <p:cNvPr id="52" name="Rectangle 51"/>
          <p:cNvSpPr/>
          <p:nvPr/>
        </p:nvSpPr>
        <p:spPr>
          <a:xfrm>
            <a:off x="6184392" y="3547872"/>
            <a:ext cx="4040123" cy="1325880"/>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TextBox 52"/>
          <p:cNvSpPr txBox="1"/>
          <p:nvPr/>
        </p:nvSpPr>
        <p:spPr>
          <a:xfrm>
            <a:off x="6294120" y="3685032"/>
            <a:ext cx="3806952" cy="1097280"/>
          </a:xfrm>
          <a:prstGeom prst="rect">
            <a:avLst/>
          </a:prstGeom>
          <a:noFill/>
        </p:spPr>
        <p:txBody>
          <a:bodyPr wrap="square" lIns="54864" rIns="54864" tIns="22860" bIns="22860">
            <a:spAutoFit/>
          </a:bodyPr>
          <a:lstStyle/>
          <a:p>
            <a:pPr>
              <a:lnSpc>
                <a:spcPts val="1995"/>
              </a:lnSpc>
              <a:spcBef>
                <a:spcPts val="0"/>
              </a:spcBef>
              <a:spcAft>
                <a:spcPts val="0"/>
              </a:spcAft>
              <a:defRPr sz="1900" b="0">
                <a:solidFill>
                  <a:srgbClr val="182B3A"/>
                </a:solidFill>
                <a:latin typeface="Arial"/>
              </a:defRPr>
            </a:pPr>
            <a:r>
              <a:t>Find a common multiple. Change top and bottom together.</a:t>
            </a:r>
          </a:p>
        </p:txBody>
      </p:sp>
      <p:sp>
        <p:nvSpPr>
          <p:cNvPr id="54" name="Rectangle 53"/>
          <p:cNvSpPr/>
          <p:nvPr/>
        </p:nvSpPr>
        <p:spPr>
          <a:xfrm>
            <a:off x="10247376" y="3547872"/>
            <a:ext cx="4040123" cy="1325880"/>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TextBox 54"/>
          <p:cNvSpPr txBox="1"/>
          <p:nvPr/>
        </p:nvSpPr>
        <p:spPr>
          <a:xfrm>
            <a:off x="10357104" y="3685032"/>
            <a:ext cx="3806952" cy="1097280"/>
          </a:xfrm>
          <a:prstGeom prst="rect">
            <a:avLst/>
          </a:prstGeom>
          <a:noFill/>
        </p:spPr>
        <p:txBody>
          <a:bodyPr wrap="square" lIns="54864" rIns="54864" tIns="22860" bIns="22860">
            <a:spAutoFit/>
          </a:bodyPr>
          <a:lstStyle/>
          <a:p>
            <a:pPr>
              <a:lnSpc>
                <a:spcPts val="1995"/>
              </a:lnSpc>
              <a:spcBef>
                <a:spcPts val="0"/>
              </a:spcBef>
              <a:spcAft>
                <a:spcPts val="0"/>
              </a:spcAft>
              <a:defRPr sz="1900" b="0">
                <a:solidFill>
                  <a:srgbClr val="182B3A"/>
                </a:solidFill>
                <a:latin typeface="Arial"/>
              </a:defRPr>
            </a:pPr>
            <a:r>
              <a:t>Find a common multiple. Change top and bottom together.</a:t>
            </a:r>
          </a:p>
        </p:txBody>
      </p:sp>
      <p:sp>
        <p:nvSpPr>
          <p:cNvPr id="56" name="Rectangle 55"/>
          <p:cNvSpPr/>
          <p:nvPr/>
        </p:nvSpPr>
        <p:spPr>
          <a:xfrm>
            <a:off x="320040" y="4873752"/>
            <a:ext cx="1773936" cy="1234440"/>
          </a:xfrm>
          <a:prstGeom prst="rect">
            <a:avLst/>
          </a:prstGeom>
          <a:solidFill>
            <a:srgbClr val="E8EDF1"/>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 name="TextBox 56"/>
          <p:cNvSpPr txBox="1"/>
          <p:nvPr/>
        </p:nvSpPr>
        <p:spPr>
          <a:xfrm>
            <a:off x="402336" y="4983480"/>
            <a:ext cx="1572768" cy="1051560"/>
          </a:xfrm>
          <a:prstGeom prst="rect">
            <a:avLst/>
          </a:prstGeom>
          <a:noFill/>
        </p:spPr>
        <p:txBody>
          <a:bodyPr wrap="square" lIns="54864" rIns="54864" tIns="22860" bIns="22860">
            <a:spAutoFit/>
          </a:bodyPr>
          <a:lstStyle/>
          <a:p>
            <a:pPr>
              <a:lnSpc>
                <a:spcPts val="1890"/>
              </a:lnSpc>
              <a:spcBef>
                <a:spcPts val="0"/>
              </a:spcBef>
              <a:spcAft>
                <a:spcPts val="0"/>
              </a:spcAft>
              <a:defRPr sz="1800" b="1">
                <a:solidFill>
                  <a:srgbClr val="182B3A"/>
                </a:solidFill>
                <a:latin typeface="Arial"/>
              </a:defRPr>
            </a:pPr>
            <a:r>
              <a:t>Add or Subtract</a:t>
            </a:r>
          </a:p>
        </p:txBody>
      </p:sp>
      <p:sp>
        <p:nvSpPr>
          <p:cNvPr id="58" name="Rectangle 57"/>
          <p:cNvSpPr/>
          <p:nvPr/>
        </p:nvSpPr>
        <p:spPr>
          <a:xfrm>
            <a:off x="2121408" y="4873752"/>
            <a:ext cx="4040123" cy="1234440"/>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 name="TextBox 58"/>
          <p:cNvSpPr txBox="1"/>
          <p:nvPr/>
        </p:nvSpPr>
        <p:spPr>
          <a:xfrm>
            <a:off x="2231136" y="5010912"/>
            <a:ext cx="3806952" cy="1005840"/>
          </a:xfrm>
          <a:prstGeom prst="rect">
            <a:avLst/>
          </a:prstGeom>
          <a:noFill/>
        </p:spPr>
        <p:txBody>
          <a:bodyPr wrap="square" lIns="54864" rIns="54864" tIns="22860" bIns="22860">
            <a:spAutoFit/>
          </a:bodyPr>
          <a:lstStyle/>
          <a:p>
            <a:pPr>
              <a:lnSpc>
                <a:spcPts val="1995"/>
              </a:lnSpc>
              <a:spcBef>
                <a:spcPts val="0"/>
              </a:spcBef>
              <a:spcAft>
                <a:spcPts val="0"/>
              </a:spcAft>
              <a:defRPr sz="1900" b="0">
                <a:solidFill>
                  <a:srgbClr val="182B3A"/>
                </a:solidFill>
                <a:latin typeface="Arial"/>
              </a:defRPr>
            </a:pPr>
            <a:r>
              <a:t>Work with the numerators; keep the common denominator.</a:t>
            </a:r>
          </a:p>
        </p:txBody>
      </p:sp>
      <p:sp>
        <p:nvSpPr>
          <p:cNvPr id="60" name="Rectangle 59"/>
          <p:cNvSpPr/>
          <p:nvPr/>
        </p:nvSpPr>
        <p:spPr>
          <a:xfrm>
            <a:off x="6184392" y="4873752"/>
            <a:ext cx="4040123" cy="1234440"/>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 name="TextBox 60"/>
          <p:cNvSpPr txBox="1"/>
          <p:nvPr/>
        </p:nvSpPr>
        <p:spPr>
          <a:xfrm>
            <a:off x="6294120" y="5010912"/>
            <a:ext cx="3806952" cy="1005840"/>
          </a:xfrm>
          <a:prstGeom prst="rect">
            <a:avLst/>
          </a:prstGeom>
          <a:noFill/>
        </p:spPr>
        <p:txBody>
          <a:bodyPr wrap="square" lIns="54864" rIns="54864" tIns="22860" bIns="22860">
            <a:spAutoFit/>
          </a:bodyPr>
          <a:lstStyle/>
          <a:p>
            <a:pPr>
              <a:lnSpc>
                <a:spcPts val="1995"/>
              </a:lnSpc>
              <a:spcBef>
                <a:spcPts val="0"/>
              </a:spcBef>
              <a:spcAft>
                <a:spcPts val="0"/>
              </a:spcAft>
              <a:defRPr sz="1900" b="0">
                <a:solidFill>
                  <a:srgbClr val="182B3A"/>
                </a:solidFill>
                <a:latin typeface="Arial"/>
              </a:defRPr>
            </a:pPr>
            <a:r>
              <a:t>Work with the numerators; keep the common denominator.</a:t>
            </a:r>
          </a:p>
        </p:txBody>
      </p:sp>
      <p:sp>
        <p:nvSpPr>
          <p:cNvPr id="62" name="Rectangle 61"/>
          <p:cNvSpPr/>
          <p:nvPr/>
        </p:nvSpPr>
        <p:spPr>
          <a:xfrm>
            <a:off x="10247376" y="4873752"/>
            <a:ext cx="4040123" cy="1234440"/>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3" name="TextBox 62"/>
          <p:cNvSpPr txBox="1"/>
          <p:nvPr/>
        </p:nvSpPr>
        <p:spPr>
          <a:xfrm>
            <a:off x="10357104" y="5010912"/>
            <a:ext cx="3806952" cy="1005840"/>
          </a:xfrm>
          <a:prstGeom prst="rect">
            <a:avLst/>
          </a:prstGeom>
          <a:noFill/>
        </p:spPr>
        <p:txBody>
          <a:bodyPr wrap="square" lIns="54864" rIns="54864" tIns="22860" bIns="22860">
            <a:spAutoFit/>
          </a:bodyPr>
          <a:lstStyle/>
          <a:p>
            <a:pPr>
              <a:lnSpc>
                <a:spcPts val="1995"/>
              </a:lnSpc>
              <a:spcBef>
                <a:spcPts val="0"/>
              </a:spcBef>
              <a:spcAft>
                <a:spcPts val="0"/>
              </a:spcAft>
              <a:defRPr sz="1900" b="0">
                <a:solidFill>
                  <a:srgbClr val="182B3A"/>
                </a:solidFill>
                <a:latin typeface="Arial"/>
              </a:defRPr>
            </a:pPr>
            <a:r>
              <a:t>Work with the numerators; keep the common denominator.</a:t>
            </a:r>
          </a:p>
        </p:txBody>
      </p:sp>
      <p:sp>
        <p:nvSpPr>
          <p:cNvPr id="64" name="Rectangle 63"/>
          <p:cNvSpPr/>
          <p:nvPr/>
        </p:nvSpPr>
        <p:spPr>
          <a:xfrm>
            <a:off x="320040" y="6108192"/>
            <a:ext cx="1773936" cy="1490472"/>
          </a:xfrm>
          <a:prstGeom prst="rect">
            <a:avLst/>
          </a:prstGeom>
          <a:solidFill>
            <a:srgbClr val="E8EDF1"/>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5" name="TextBox 64"/>
          <p:cNvSpPr txBox="1"/>
          <p:nvPr/>
        </p:nvSpPr>
        <p:spPr>
          <a:xfrm>
            <a:off x="402336" y="6217920"/>
            <a:ext cx="1572768" cy="1307592"/>
          </a:xfrm>
          <a:prstGeom prst="rect">
            <a:avLst/>
          </a:prstGeom>
          <a:noFill/>
        </p:spPr>
        <p:txBody>
          <a:bodyPr wrap="square" lIns="54864" rIns="54864" tIns="22860" bIns="22860">
            <a:spAutoFit/>
          </a:bodyPr>
          <a:lstStyle/>
          <a:p>
            <a:pPr>
              <a:lnSpc>
                <a:spcPts val="1890"/>
              </a:lnSpc>
              <a:spcBef>
                <a:spcPts val="0"/>
              </a:spcBef>
              <a:spcAft>
                <a:spcPts val="0"/>
              </a:spcAft>
              <a:defRPr sz="1800" b="1">
                <a:solidFill>
                  <a:srgbClr val="182B3A"/>
                </a:solidFill>
                <a:latin typeface="Arial"/>
              </a:defRPr>
            </a:pPr>
            <a:r>
              <a:t>Simplify the Answer</a:t>
            </a:r>
          </a:p>
        </p:txBody>
      </p:sp>
      <p:sp>
        <p:nvSpPr>
          <p:cNvPr id="66" name="Rectangle 65"/>
          <p:cNvSpPr/>
          <p:nvPr/>
        </p:nvSpPr>
        <p:spPr>
          <a:xfrm>
            <a:off x="2121408" y="6108192"/>
            <a:ext cx="4040123" cy="1490472"/>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7" name="TextBox 66"/>
          <p:cNvSpPr txBox="1"/>
          <p:nvPr/>
        </p:nvSpPr>
        <p:spPr>
          <a:xfrm>
            <a:off x="2231136" y="6245352"/>
            <a:ext cx="3806952" cy="1261872"/>
          </a:xfrm>
          <a:prstGeom prst="rect">
            <a:avLst/>
          </a:prstGeom>
          <a:noFill/>
        </p:spPr>
        <p:txBody>
          <a:bodyPr wrap="square" lIns="54864" rIns="54864" tIns="22860" bIns="22860">
            <a:spAutoFit/>
          </a:bodyPr>
          <a:lstStyle/>
          <a:p>
            <a:pPr>
              <a:lnSpc>
                <a:spcPts val="1995"/>
              </a:lnSpc>
              <a:spcBef>
                <a:spcPts val="0"/>
              </a:spcBef>
              <a:spcAft>
                <a:spcPts val="0"/>
              </a:spcAft>
              <a:defRPr sz="1900" b="0">
                <a:solidFill>
                  <a:srgbClr val="182B3A"/>
                </a:solidFill>
                <a:latin typeface="Arial"/>
              </a:defRPr>
            </a:pPr>
            <a:r>
              <a:t>Divide top and bottom by a common factor. Give a mixed answer if greater than 1.</a:t>
            </a:r>
          </a:p>
        </p:txBody>
      </p:sp>
      <p:sp>
        <p:nvSpPr>
          <p:cNvPr id="68" name="Rectangle 67"/>
          <p:cNvSpPr/>
          <p:nvPr/>
        </p:nvSpPr>
        <p:spPr>
          <a:xfrm>
            <a:off x="6184392" y="6108192"/>
            <a:ext cx="4040123" cy="1490472"/>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9" name="TextBox 68"/>
          <p:cNvSpPr txBox="1"/>
          <p:nvPr/>
        </p:nvSpPr>
        <p:spPr>
          <a:xfrm>
            <a:off x="6294120" y="6245352"/>
            <a:ext cx="3806952" cy="1261872"/>
          </a:xfrm>
          <a:prstGeom prst="rect">
            <a:avLst/>
          </a:prstGeom>
          <a:noFill/>
        </p:spPr>
        <p:txBody>
          <a:bodyPr wrap="square" lIns="54864" rIns="54864" tIns="22860" bIns="22860">
            <a:spAutoFit/>
          </a:bodyPr>
          <a:lstStyle/>
          <a:p>
            <a:pPr>
              <a:lnSpc>
                <a:spcPts val="1995"/>
              </a:lnSpc>
              <a:spcBef>
                <a:spcPts val="0"/>
              </a:spcBef>
              <a:spcAft>
                <a:spcPts val="0"/>
              </a:spcAft>
              <a:defRPr sz="1900" b="0">
                <a:solidFill>
                  <a:srgbClr val="182B3A"/>
                </a:solidFill>
                <a:latin typeface="Arial"/>
              </a:defRPr>
            </a:pPr>
            <a:r>
              <a:t>Divide top and bottom by a common factor. Give a mixed answer if greater than 1.</a:t>
            </a:r>
          </a:p>
        </p:txBody>
      </p:sp>
      <p:sp>
        <p:nvSpPr>
          <p:cNvPr id="70" name="Rectangle 69"/>
          <p:cNvSpPr/>
          <p:nvPr/>
        </p:nvSpPr>
        <p:spPr>
          <a:xfrm>
            <a:off x="10247376" y="6108192"/>
            <a:ext cx="4040123" cy="1490472"/>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1" name="TextBox 70"/>
          <p:cNvSpPr txBox="1"/>
          <p:nvPr/>
        </p:nvSpPr>
        <p:spPr>
          <a:xfrm>
            <a:off x="10357104" y="6245352"/>
            <a:ext cx="3806952" cy="1261872"/>
          </a:xfrm>
          <a:prstGeom prst="rect">
            <a:avLst/>
          </a:prstGeom>
          <a:noFill/>
        </p:spPr>
        <p:txBody>
          <a:bodyPr wrap="square" lIns="54864" rIns="54864" tIns="22860" bIns="22860">
            <a:spAutoFit/>
          </a:bodyPr>
          <a:lstStyle/>
          <a:p>
            <a:pPr>
              <a:lnSpc>
                <a:spcPts val="1995"/>
              </a:lnSpc>
              <a:spcBef>
                <a:spcPts val="0"/>
              </a:spcBef>
              <a:spcAft>
                <a:spcPts val="0"/>
              </a:spcAft>
              <a:defRPr sz="1900" b="0">
                <a:solidFill>
                  <a:srgbClr val="182B3A"/>
                </a:solidFill>
                <a:latin typeface="Arial"/>
              </a:defRPr>
            </a:pPr>
            <a:r>
              <a:t>Divide top and bottom by a common factor. Give a mixed answer if greater than 1.</a:t>
            </a:r>
          </a:p>
        </p:txBody>
      </p:sp>
      <p:sp>
        <p:nvSpPr>
          <p:cNvPr id="72" name="Progression curved arrow: Thread 1 to Thread 2"/>
          <p:cNvSpPr/>
          <p:nvPr/>
        </p:nvSpPr>
        <p:spPr>
          <a:xfrm>
            <a:off x="5850635" y="7351125"/>
            <a:ext cx="621792" cy="314053"/>
          </a:xfrm>
          <a:custGeom>
            <a:avLst/>
            <a:gdLst/>
            <a:ahLst/>
            <a:cxnLst/>
            <a:rect l="0" t="0" r="100000" b="100000"/>
            <a:pathLst>
              <a:path w="100000" h="100000" fill="none">
                <a:moveTo>
                  <a:pt x="6970" y="48439"/>
                </a:moveTo>
                <a:cubicBezTo>
                  <a:pt x="40678" y="114499"/>
                  <a:pt x="73026" y="88145"/>
                  <a:pt x="93030" y="13799"/>
                </a:cubicBezTo>
              </a:path>
              <a:path w="100000" h="100000" fill="none">
                <a:moveTo>
                  <a:pt x="69018" y="40431"/>
                </a:moveTo>
                <a:lnTo>
                  <a:pt x="93030" y="13799"/>
                </a:lnTo>
                <a:lnTo>
                  <a:pt x="92217" y="66207"/>
                </a:lnTo>
              </a:path>
            </a:pathLst>
          </a:custGeom>
          <a:noFill/>
          <a:ln w="64449" cap="rnd">
            <a:solidFill>
              <a:schemeClr val="accent6">
                <a:lumMod val="60000"/>
                <a:lumOff val="40000"/>
              </a:schemeClr>
            </a:solidFill>
            <a:round/>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73" name="Progression curved arrow: Thread 2 to Thread 3"/>
          <p:cNvSpPr/>
          <p:nvPr/>
        </p:nvSpPr>
        <p:spPr>
          <a:xfrm>
            <a:off x="9865783" y="7342631"/>
            <a:ext cx="621792" cy="314053"/>
          </a:xfrm>
          <a:custGeom>
            <a:avLst/>
            <a:gdLst/>
            <a:ahLst/>
            <a:cxnLst/>
            <a:rect l="0" t="0" r="100000" b="100000"/>
            <a:pathLst>
              <a:path w="100000" h="100000" fill="none">
                <a:moveTo>
                  <a:pt x="6970" y="48439"/>
                </a:moveTo>
                <a:cubicBezTo>
                  <a:pt x="40678" y="114499"/>
                  <a:pt x="73026" y="88145"/>
                  <a:pt x="93030" y="13799"/>
                </a:cubicBezTo>
              </a:path>
              <a:path w="100000" h="100000" fill="none">
                <a:moveTo>
                  <a:pt x="69018" y="40431"/>
                </a:moveTo>
                <a:lnTo>
                  <a:pt x="93030" y="13799"/>
                </a:lnTo>
                <a:lnTo>
                  <a:pt x="92217" y="66207"/>
                </a:lnTo>
              </a:path>
            </a:pathLst>
          </a:custGeom>
          <a:noFill/>
          <a:ln w="64449" cap="rnd">
            <a:solidFill>
              <a:schemeClr val="accent6">
                <a:lumMod val="60000"/>
                <a:lumOff val="40000"/>
              </a:schemeClr>
            </a:solidFill>
            <a:round/>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Tree>
  </p:cSld>
  <p:clrMapOvr>
    <a:masterClrMapping/>
  </p:clrMapOvr>
</p:sld>
</file>

<file path=ppt/slides/slide44.xml><?xml version="1.0" encoding="utf-8"?>
<p:sld xmlns:a="http://schemas.openxmlformats.org/drawingml/2006/main" xmlns:p="http://schemas.openxmlformats.org/presentationml/2006/main" xmlns:r="http://schemas.openxmlformats.org/officeDocument/2006/relationships">
  <p:cSld>
    <p:bg>
      <p:bgPr>
        <a:solidFill>
          <a:srgbClr val="F7F8FA"/>
        </a:solidFill>
        <a:effectLst/>
      </p:bgPr>
    </p:bg>
    <p:spTree>
      <p:nvGrpSpPr>
        <p:cNvPr id="1" name=""/>
        <p:cNvGrpSpPr/>
        <p:nvPr/>
      </p:nvGrpSpPr>
      <p:grpSpPr/>
      <p:sp>
        <p:nvSpPr>
          <p:cNvPr id="2" name="Rectangle 1"/>
          <p:cNvSpPr/>
          <p:nvPr/>
        </p:nvSpPr>
        <p:spPr>
          <a:xfrm>
            <a:off x="0" y="0"/>
            <a:ext cx="14630400" cy="73152"/>
          </a:xfrm>
          <a:prstGeom prst="rect">
            <a:avLst/>
          </a:prstGeom>
          <a:solidFill>
            <a:srgbClr val="176B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20040" y="164592"/>
            <a:ext cx="13990320" cy="457200"/>
          </a:xfrm>
          <a:prstGeom prst="rect">
            <a:avLst/>
          </a:prstGeom>
          <a:noFill/>
        </p:spPr>
        <p:txBody>
          <a:bodyPr wrap="square" lIns="54864" rIns="54864" tIns="22860" bIns="22860">
            <a:spAutoFit/>
          </a:bodyPr>
          <a:lstStyle/>
          <a:p>
            <a:pPr>
              <a:lnSpc>
                <a:spcPts val="2940"/>
              </a:lnSpc>
              <a:spcBef>
                <a:spcPts val="0"/>
              </a:spcBef>
              <a:spcAft>
                <a:spcPts val="0"/>
              </a:spcAft>
              <a:defRPr sz="2800" b="1">
                <a:solidFill>
                  <a:srgbClr val="182B3A"/>
                </a:solidFill>
                <a:latin typeface="Arial"/>
              </a:defRPr>
            </a:pPr>
            <a:r>
              <a:t>Adding and subtracting fractions</a:t>
            </a:r>
          </a:p>
        </p:txBody>
      </p:sp>
      <p:sp>
        <p:nvSpPr>
          <p:cNvPr id="4" name="TextBox 3"/>
          <p:cNvSpPr txBox="1"/>
          <p:nvPr/>
        </p:nvSpPr>
        <p:spPr>
          <a:xfrm>
            <a:off x="320040" y="704088"/>
            <a:ext cx="13990320" cy="347472"/>
          </a:xfrm>
          <a:prstGeom prst="rect">
            <a:avLst/>
          </a:prstGeom>
          <a:noFill/>
        </p:spPr>
        <p:txBody>
          <a:bodyPr wrap="square" lIns="54864" rIns="54864" tIns="22860" bIns="22860">
            <a:spAutoFit/>
          </a:bodyPr>
          <a:lstStyle/>
          <a:p>
            <a:pPr>
              <a:lnSpc>
                <a:spcPts val="1575"/>
              </a:lnSpc>
              <a:spcBef>
                <a:spcPts val="0"/>
              </a:spcBef>
              <a:spcAft>
                <a:spcPts val="0"/>
              </a:spcAft>
              <a:defRPr sz="1500" b="0">
                <a:solidFill>
                  <a:srgbClr val="526472"/>
                </a:solidFill>
                <a:latin typeface="Arial"/>
              </a:defRPr>
            </a:pPr>
            <a:r>
              <a:t>Step-by-step practice 2 • Calculate and simplify.</a:t>
            </a:r>
          </a:p>
        </p:txBody>
      </p:sp>
      <p:sp>
        <p:nvSpPr>
          <p:cNvPr id="5" name="TextBox 4"/>
          <p:cNvSpPr txBox="1"/>
          <p:nvPr/>
        </p:nvSpPr>
        <p:spPr>
          <a:xfrm>
            <a:off x="320040" y="7973568"/>
            <a:ext cx="10789920" cy="210312"/>
          </a:xfrm>
          <a:prstGeom prst="rect">
            <a:avLst/>
          </a:prstGeom>
          <a:noFill/>
        </p:spPr>
        <p:txBody>
          <a:bodyPr wrap="square" lIns="54864" rIns="54864" tIns="22860" bIns="22860">
            <a:spAutoFit/>
          </a:bodyPr>
          <a:lstStyle/>
          <a:p>
            <a:pPr>
              <a:lnSpc>
                <a:spcPts val="1155"/>
              </a:lnSpc>
              <a:spcBef>
                <a:spcPts val="0"/>
              </a:spcBef>
              <a:spcAft>
                <a:spcPts val="0"/>
              </a:spcAft>
              <a:defRPr sz="1100" b="0">
                <a:solidFill>
                  <a:srgbClr val="526472"/>
                </a:solidFill>
                <a:latin typeface="Arial"/>
              </a:defRPr>
            </a:pPr>
            <a:r>
              <a:t>GCSE Maths revision • No calculator • Show your working.</a:t>
            </a:r>
          </a:p>
        </p:txBody>
      </p:sp>
      <p:sp>
        <p:nvSpPr>
          <p:cNvPr id="6" name="TextBox 5"/>
          <p:cNvSpPr txBox="1"/>
          <p:nvPr/>
        </p:nvSpPr>
        <p:spPr>
          <a:xfrm>
            <a:off x="11155680" y="7973568"/>
            <a:ext cx="3108960" cy="210312"/>
          </a:xfrm>
          <a:prstGeom prst="rect">
            <a:avLst/>
          </a:prstGeom>
          <a:noFill/>
        </p:spPr>
        <p:txBody>
          <a:bodyPr wrap="square" lIns="54864" rIns="54864" tIns="22860" bIns="22860">
            <a:spAutoFit/>
          </a:bodyPr>
          <a:lstStyle/>
          <a:p>
            <a:pPr>
              <a:lnSpc>
                <a:spcPts val="1155"/>
              </a:lnSpc>
              <a:spcBef>
                <a:spcPts val="0"/>
              </a:spcBef>
              <a:spcAft>
                <a:spcPts val="0"/>
              </a:spcAft>
              <a:defRPr sz="1100" b="0">
                <a:solidFill>
                  <a:srgbClr val="526472"/>
                </a:solidFill>
                <a:latin typeface="Arial"/>
              </a:defRPr>
            </a:pPr>
            <a:r>
              <a:t>M15-S03</a:t>
            </a:r>
          </a:p>
        </p:txBody>
      </p:sp>
      <p:sp>
        <p:nvSpPr>
          <p:cNvPr id="7" name="Rectangle 6"/>
          <p:cNvSpPr/>
          <p:nvPr/>
        </p:nvSpPr>
        <p:spPr>
          <a:xfrm>
            <a:off x="2121408" y="1115568"/>
            <a:ext cx="4040123" cy="420624"/>
          </a:xfrm>
          <a:prstGeom prst="rect">
            <a:avLst/>
          </a:prstGeom>
          <a:solidFill>
            <a:srgbClr val="176B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2148839" y="1147572"/>
            <a:ext cx="3980688" cy="329184"/>
          </a:xfrm>
          <a:prstGeom prst="rect">
            <a:avLst/>
          </a:prstGeom>
          <a:noFill/>
        </p:spPr>
        <p:txBody>
          <a:bodyPr wrap="square" lIns="54864" rIns="54864" tIns="22860" bIns="22860">
            <a:spAutoFit/>
          </a:bodyPr>
          <a:lstStyle/>
          <a:p>
            <a:pPr>
              <a:lnSpc>
                <a:spcPts val="1995"/>
              </a:lnSpc>
              <a:spcBef>
                <a:spcPts val="0"/>
              </a:spcBef>
              <a:spcAft>
                <a:spcPts val="0"/>
              </a:spcAft>
              <a:defRPr sz="1900" b="1">
                <a:solidFill>
                  <a:srgbClr val="FFFFFF"/>
                </a:solidFill>
                <a:latin typeface="Arial"/>
              </a:defRPr>
            </a:pPr>
            <a:r>
              <a:t>Start</a:t>
            </a:r>
          </a:p>
        </p:txBody>
      </p:sp>
      <p:sp>
        <p:nvSpPr>
          <p:cNvPr id="9" name="Rectangle 8"/>
          <p:cNvSpPr/>
          <p:nvPr/>
        </p:nvSpPr>
        <p:spPr>
          <a:xfrm>
            <a:off x="6184392" y="1115568"/>
            <a:ext cx="4040123" cy="420624"/>
          </a:xfrm>
          <a:prstGeom prst="rect">
            <a:avLst/>
          </a:prstGeom>
          <a:solidFill>
            <a:srgbClr val="3559A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211824" y="1147572"/>
            <a:ext cx="3980688" cy="329184"/>
          </a:xfrm>
          <a:prstGeom prst="rect">
            <a:avLst/>
          </a:prstGeom>
          <a:noFill/>
        </p:spPr>
        <p:txBody>
          <a:bodyPr wrap="square" lIns="54864" rIns="54864" tIns="22860" bIns="22860">
            <a:spAutoFit/>
          </a:bodyPr>
          <a:lstStyle/>
          <a:p>
            <a:pPr>
              <a:lnSpc>
                <a:spcPts val="1995"/>
              </a:lnSpc>
              <a:spcBef>
                <a:spcPts val="0"/>
              </a:spcBef>
              <a:spcAft>
                <a:spcPts val="0"/>
              </a:spcAft>
              <a:defRPr sz="1900" b="1">
                <a:solidFill>
                  <a:srgbClr val="FFFFFF"/>
                </a:solidFill>
                <a:latin typeface="Arial"/>
              </a:defRPr>
            </a:pPr>
            <a:r>
              <a:t>Build</a:t>
            </a:r>
          </a:p>
        </p:txBody>
      </p:sp>
      <p:sp>
        <p:nvSpPr>
          <p:cNvPr id="11" name="Rectangle 10"/>
          <p:cNvSpPr/>
          <p:nvPr/>
        </p:nvSpPr>
        <p:spPr>
          <a:xfrm>
            <a:off x="10247376" y="1115568"/>
            <a:ext cx="4040123" cy="420624"/>
          </a:xfrm>
          <a:prstGeom prst="rect">
            <a:avLst/>
          </a:prstGeom>
          <a:solidFill>
            <a:srgbClr val="754B8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0274808" y="1147572"/>
            <a:ext cx="3980688" cy="329184"/>
          </a:xfrm>
          <a:prstGeom prst="rect">
            <a:avLst/>
          </a:prstGeom>
          <a:noFill/>
        </p:spPr>
        <p:txBody>
          <a:bodyPr wrap="square" lIns="54864" rIns="54864" tIns="22860" bIns="22860">
            <a:spAutoFit/>
          </a:bodyPr>
          <a:lstStyle/>
          <a:p>
            <a:pPr>
              <a:lnSpc>
                <a:spcPts val="1995"/>
              </a:lnSpc>
              <a:spcBef>
                <a:spcPts val="0"/>
              </a:spcBef>
              <a:spcAft>
                <a:spcPts val="0"/>
              </a:spcAft>
              <a:defRPr sz="1900" b="1">
                <a:solidFill>
                  <a:srgbClr val="FFFFFF"/>
                </a:solidFill>
                <a:latin typeface="Arial"/>
              </a:defRPr>
            </a:pPr>
            <a:r>
              <a:t>Confidence</a:t>
            </a:r>
          </a:p>
        </p:txBody>
      </p:sp>
      <p:sp>
        <p:nvSpPr>
          <p:cNvPr id="13" name="Rectangle 12"/>
          <p:cNvSpPr/>
          <p:nvPr/>
        </p:nvSpPr>
        <p:spPr>
          <a:xfrm>
            <a:off x="320040" y="1581912"/>
            <a:ext cx="1773936" cy="822960"/>
          </a:xfrm>
          <a:prstGeom prst="rect">
            <a:avLst/>
          </a:prstGeom>
          <a:solidFill>
            <a:srgbClr val="E8EDF1"/>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02336" y="1691640"/>
            <a:ext cx="1572768" cy="640080"/>
          </a:xfrm>
          <a:prstGeom prst="rect">
            <a:avLst/>
          </a:prstGeom>
          <a:noFill/>
        </p:spPr>
        <p:txBody>
          <a:bodyPr wrap="square" lIns="54864" rIns="54864" tIns="22860" bIns="22860">
            <a:spAutoFit/>
          </a:bodyPr>
          <a:lstStyle/>
          <a:p>
            <a:pPr>
              <a:lnSpc>
                <a:spcPts val="1890"/>
              </a:lnSpc>
              <a:spcBef>
                <a:spcPts val="0"/>
              </a:spcBef>
              <a:spcAft>
                <a:spcPts val="0"/>
              </a:spcAft>
              <a:defRPr sz="1800" b="1">
                <a:solidFill>
                  <a:srgbClr val="182B3A"/>
                </a:solidFill>
                <a:latin typeface="Arial"/>
              </a:defRPr>
            </a:pPr>
            <a:r>
              <a:t>Question</a:t>
            </a:r>
          </a:p>
        </p:txBody>
      </p:sp>
      <p:sp>
        <p:nvSpPr>
          <p:cNvPr id="15" name="Rectangle 14"/>
          <p:cNvSpPr/>
          <p:nvPr/>
        </p:nvSpPr>
        <p:spPr>
          <a:xfrm>
            <a:off x="2121408" y="1581912"/>
            <a:ext cx="4040123" cy="822960"/>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2304288" y="1673352"/>
            <a:ext cx="363728" cy="256032"/>
          </a:xfrm>
          <a:prstGeom prst="rect">
            <a:avLst/>
          </a:prstGeom>
          <a:noFill/>
        </p:spPr>
        <p:txBody>
          <a:bodyPr wrap="none" lIns="0" rIns="0" tIns="0" bIns="0">
            <a:spAutoFit/>
          </a:bodyPr>
          <a:lstStyle/>
          <a:p>
            <a:pPr algn="ctr">
              <a:lnSpc>
                <a:spcPts val="2016"/>
              </a:lnSpc>
              <a:spcAft>
                <a:spcPts val="0"/>
              </a:spcAft>
              <a:defRPr sz="1800" b="0">
                <a:solidFill>
                  <a:srgbClr val="182B3A"/>
                </a:solidFill>
                <a:latin typeface="Arial"/>
              </a:defRPr>
            </a:pPr>
            <a:r>
              <a:t>7</a:t>
            </a:r>
          </a:p>
        </p:txBody>
      </p:sp>
      <p:cxnSp>
        <p:nvCxnSpPr>
          <p:cNvPr id="17" name="Connector 16"/>
          <p:cNvCxnSpPr/>
          <p:nvPr/>
        </p:nvCxnSpPr>
        <p:spPr>
          <a:xfrm>
            <a:off x="2304288" y="1938528"/>
            <a:ext cx="363728" cy="0"/>
          </a:xfrm>
          <a:prstGeom prst="line">
            <a:avLst/>
          </a:prstGeom>
          <a:ln w="12700">
            <a:solidFill>
              <a:srgbClr val="182B3A"/>
            </a:solidFill>
          </a:ln>
          <a:effectLst/>
        </p:spPr>
        <p:style>
          <a:lnRef idx="2">
            <a:schemeClr val="accent1"/>
          </a:lnRef>
          <a:fillRef idx="0">
            <a:schemeClr val="accent1"/>
          </a:fillRef>
          <a:effectRef idx="1">
            <a:schemeClr val="accent1"/>
          </a:effectRef>
          <a:fontRef idx="minor">
            <a:schemeClr val="tx1"/>
          </a:fontRef>
        </p:style>
      </p:cxnSp>
      <p:sp>
        <p:nvSpPr>
          <p:cNvPr id="18" name="TextBox 17"/>
          <p:cNvSpPr txBox="1"/>
          <p:nvPr/>
        </p:nvSpPr>
        <p:spPr>
          <a:xfrm>
            <a:off x="2304288" y="1956816"/>
            <a:ext cx="363728" cy="256032"/>
          </a:xfrm>
          <a:prstGeom prst="rect">
            <a:avLst/>
          </a:prstGeom>
          <a:noFill/>
        </p:spPr>
        <p:txBody>
          <a:bodyPr wrap="none" lIns="0" rIns="0" tIns="0" bIns="0">
            <a:spAutoFit/>
          </a:bodyPr>
          <a:lstStyle/>
          <a:p>
            <a:pPr algn="ctr">
              <a:lnSpc>
                <a:spcPts val="2016"/>
              </a:lnSpc>
              <a:spcAft>
                <a:spcPts val="0"/>
              </a:spcAft>
              <a:defRPr sz="1800" b="0">
                <a:solidFill>
                  <a:srgbClr val="182B3A"/>
                </a:solidFill>
                <a:latin typeface="Arial"/>
              </a:defRPr>
            </a:pPr>
            <a:r>
              <a:t>10</a:t>
            </a:r>
          </a:p>
        </p:txBody>
      </p:sp>
      <p:sp>
        <p:nvSpPr>
          <p:cNvPr id="19" name="TextBox 18"/>
          <p:cNvSpPr txBox="1"/>
          <p:nvPr/>
        </p:nvSpPr>
        <p:spPr>
          <a:xfrm>
            <a:off x="2722880" y="1792224"/>
            <a:ext cx="363982" cy="347472"/>
          </a:xfrm>
          <a:prstGeom prst="rect">
            <a:avLst/>
          </a:prstGeom>
          <a:noFill/>
        </p:spPr>
        <p:txBody>
          <a:bodyPr wrap="none" lIns="0" rIns="0" tIns="0" bIns="0">
            <a:spAutoFit/>
          </a:bodyPr>
          <a:lstStyle/>
          <a:p>
            <a:pPr algn="l">
              <a:lnSpc>
                <a:spcPts val="2576"/>
              </a:lnSpc>
              <a:spcAft>
                <a:spcPts val="0"/>
              </a:spcAft>
              <a:defRPr sz="2300" b="0">
                <a:solidFill>
                  <a:srgbClr val="182B3A"/>
                </a:solidFill>
                <a:latin typeface="Arial"/>
              </a:defRPr>
            </a:pPr>
            <a:r>
              <a:t> − </a:t>
            </a:r>
          </a:p>
        </p:txBody>
      </p:sp>
      <p:sp>
        <p:nvSpPr>
          <p:cNvPr id="20" name="TextBox 19"/>
          <p:cNvSpPr txBox="1"/>
          <p:nvPr/>
        </p:nvSpPr>
        <p:spPr>
          <a:xfrm>
            <a:off x="3086862" y="1673352"/>
            <a:ext cx="363728" cy="256032"/>
          </a:xfrm>
          <a:prstGeom prst="rect">
            <a:avLst/>
          </a:prstGeom>
          <a:noFill/>
        </p:spPr>
        <p:txBody>
          <a:bodyPr wrap="none" lIns="0" rIns="0" tIns="0" bIns="0">
            <a:spAutoFit/>
          </a:bodyPr>
          <a:lstStyle/>
          <a:p>
            <a:pPr algn="ctr">
              <a:lnSpc>
                <a:spcPts val="2016"/>
              </a:lnSpc>
              <a:spcAft>
                <a:spcPts val="0"/>
              </a:spcAft>
              <a:defRPr sz="1800" b="0">
                <a:solidFill>
                  <a:srgbClr val="182B3A"/>
                </a:solidFill>
                <a:latin typeface="Arial"/>
              </a:defRPr>
            </a:pPr>
            <a:r>
              <a:t>3</a:t>
            </a:r>
          </a:p>
        </p:txBody>
      </p:sp>
      <p:cxnSp>
        <p:nvCxnSpPr>
          <p:cNvPr id="21" name="Connector 20"/>
          <p:cNvCxnSpPr/>
          <p:nvPr/>
        </p:nvCxnSpPr>
        <p:spPr>
          <a:xfrm>
            <a:off x="3086862" y="1938528"/>
            <a:ext cx="363728" cy="0"/>
          </a:xfrm>
          <a:prstGeom prst="line">
            <a:avLst/>
          </a:prstGeom>
          <a:ln w="12700">
            <a:solidFill>
              <a:srgbClr val="182B3A"/>
            </a:solidFill>
          </a:ln>
          <a:effectLst/>
        </p:spPr>
        <p:style>
          <a:lnRef idx="2">
            <a:schemeClr val="accent1"/>
          </a:lnRef>
          <a:fillRef idx="0">
            <a:schemeClr val="accent1"/>
          </a:fillRef>
          <a:effectRef idx="1">
            <a:schemeClr val="accent1"/>
          </a:effectRef>
          <a:fontRef idx="minor">
            <a:schemeClr val="tx1"/>
          </a:fontRef>
        </p:style>
      </p:cxnSp>
      <p:sp>
        <p:nvSpPr>
          <p:cNvPr id="22" name="TextBox 21"/>
          <p:cNvSpPr txBox="1"/>
          <p:nvPr/>
        </p:nvSpPr>
        <p:spPr>
          <a:xfrm>
            <a:off x="3086862" y="1956816"/>
            <a:ext cx="363728" cy="256032"/>
          </a:xfrm>
          <a:prstGeom prst="rect">
            <a:avLst/>
          </a:prstGeom>
          <a:noFill/>
        </p:spPr>
        <p:txBody>
          <a:bodyPr wrap="none" lIns="0" rIns="0" tIns="0" bIns="0">
            <a:spAutoFit/>
          </a:bodyPr>
          <a:lstStyle/>
          <a:p>
            <a:pPr algn="ctr">
              <a:lnSpc>
                <a:spcPts val="2016"/>
              </a:lnSpc>
              <a:spcAft>
                <a:spcPts val="0"/>
              </a:spcAft>
              <a:defRPr sz="1800" b="0">
                <a:solidFill>
                  <a:srgbClr val="182B3A"/>
                </a:solidFill>
                <a:latin typeface="Arial"/>
              </a:defRPr>
            </a:pPr>
            <a:r>
              <a:t>10</a:t>
            </a:r>
          </a:p>
        </p:txBody>
      </p:sp>
      <p:sp>
        <p:nvSpPr>
          <p:cNvPr id="23" name="Rectangle 22"/>
          <p:cNvSpPr/>
          <p:nvPr/>
        </p:nvSpPr>
        <p:spPr>
          <a:xfrm>
            <a:off x="6184392" y="1581912"/>
            <a:ext cx="4040123" cy="822960"/>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367272" y="1673352"/>
            <a:ext cx="236728" cy="256032"/>
          </a:xfrm>
          <a:prstGeom prst="rect">
            <a:avLst/>
          </a:prstGeom>
          <a:noFill/>
        </p:spPr>
        <p:txBody>
          <a:bodyPr wrap="none" lIns="0" rIns="0" tIns="0" bIns="0">
            <a:spAutoFit/>
          </a:bodyPr>
          <a:lstStyle/>
          <a:p>
            <a:pPr algn="ctr">
              <a:lnSpc>
                <a:spcPts val="2016"/>
              </a:lnSpc>
              <a:spcAft>
                <a:spcPts val="0"/>
              </a:spcAft>
              <a:defRPr sz="1800" b="0">
                <a:solidFill>
                  <a:srgbClr val="182B3A"/>
                </a:solidFill>
                <a:latin typeface="Arial"/>
              </a:defRPr>
            </a:pPr>
            <a:r>
              <a:t>2</a:t>
            </a:r>
          </a:p>
        </p:txBody>
      </p:sp>
      <p:cxnSp>
        <p:nvCxnSpPr>
          <p:cNvPr id="25" name="Connector 24"/>
          <p:cNvCxnSpPr/>
          <p:nvPr/>
        </p:nvCxnSpPr>
        <p:spPr>
          <a:xfrm>
            <a:off x="6367272" y="1938528"/>
            <a:ext cx="236728" cy="0"/>
          </a:xfrm>
          <a:prstGeom prst="line">
            <a:avLst/>
          </a:prstGeom>
          <a:ln w="12700">
            <a:solidFill>
              <a:srgbClr val="182B3A"/>
            </a:solidFill>
          </a:ln>
          <a:effectLst/>
        </p:spPr>
        <p:style>
          <a:lnRef idx="2">
            <a:schemeClr val="accent1"/>
          </a:lnRef>
          <a:fillRef idx="0">
            <a:schemeClr val="accent1"/>
          </a:fillRef>
          <a:effectRef idx="1">
            <a:schemeClr val="accent1"/>
          </a:effectRef>
          <a:fontRef idx="minor">
            <a:schemeClr val="tx1"/>
          </a:fontRef>
        </p:style>
      </p:cxnSp>
      <p:sp>
        <p:nvSpPr>
          <p:cNvPr id="26" name="TextBox 25"/>
          <p:cNvSpPr txBox="1"/>
          <p:nvPr/>
        </p:nvSpPr>
        <p:spPr>
          <a:xfrm>
            <a:off x="6367272" y="1956816"/>
            <a:ext cx="236728" cy="256032"/>
          </a:xfrm>
          <a:prstGeom prst="rect">
            <a:avLst/>
          </a:prstGeom>
          <a:noFill/>
        </p:spPr>
        <p:txBody>
          <a:bodyPr wrap="none" lIns="0" rIns="0" tIns="0" bIns="0">
            <a:spAutoFit/>
          </a:bodyPr>
          <a:lstStyle/>
          <a:p>
            <a:pPr algn="ctr">
              <a:lnSpc>
                <a:spcPts val="2016"/>
              </a:lnSpc>
              <a:spcAft>
                <a:spcPts val="0"/>
              </a:spcAft>
              <a:defRPr sz="1800" b="0">
                <a:solidFill>
                  <a:srgbClr val="182B3A"/>
                </a:solidFill>
                <a:latin typeface="Arial"/>
              </a:defRPr>
            </a:pPr>
            <a:r>
              <a:t>3</a:t>
            </a:r>
          </a:p>
        </p:txBody>
      </p:sp>
      <p:sp>
        <p:nvSpPr>
          <p:cNvPr id="27" name="TextBox 26"/>
          <p:cNvSpPr txBox="1"/>
          <p:nvPr/>
        </p:nvSpPr>
        <p:spPr>
          <a:xfrm>
            <a:off x="6658864" y="1792224"/>
            <a:ext cx="363982" cy="347472"/>
          </a:xfrm>
          <a:prstGeom prst="rect">
            <a:avLst/>
          </a:prstGeom>
          <a:noFill/>
        </p:spPr>
        <p:txBody>
          <a:bodyPr wrap="none" lIns="0" rIns="0" tIns="0" bIns="0">
            <a:spAutoFit/>
          </a:bodyPr>
          <a:lstStyle/>
          <a:p>
            <a:pPr algn="l">
              <a:lnSpc>
                <a:spcPts val="2576"/>
              </a:lnSpc>
              <a:spcAft>
                <a:spcPts val="0"/>
              </a:spcAft>
              <a:defRPr sz="2300" b="0">
                <a:solidFill>
                  <a:srgbClr val="182B3A"/>
                </a:solidFill>
                <a:latin typeface="Arial"/>
              </a:defRPr>
            </a:pPr>
            <a:r>
              <a:t> + </a:t>
            </a:r>
          </a:p>
        </p:txBody>
      </p:sp>
      <p:sp>
        <p:nvSpPr>
          <p:cNvPr id="28" name="TextBox 27"/>
          <p:cNvSpPr txBox="1"/>
          <p:nvPr/>
        </p:nvSpPr>
        <p:spPr>
          <a:xfrm>
            <a:off x="7022846" y="1673352"/>
            <a:ext cx="236728" cy="256032"/>
          </a:xfrm>
          <a:prstGeom prst="rect">
            <a:avLst/>
          </a:prstGeom>
          <a:noFill/>
        </p:spPr>
        <p:txBody>
          <a:bodyPr wrap="none" lIns="0" rIns="0" tIns="0" bIns="0">
            <a:spAutoFit/>
          </a:bodyPr>
          <a:lstStyle/>
          <a:p>
            <a:pPr algn="ctr">
              <a:lnSpc>
                <a:spcPts val="2016"/>
              </a:lnSpc>
              <a:spcAft>
                <a:spcPts val="0"/>
              </a:spcAft>
              <a:defRPr sz="1800" b="0">
                <a:solidFill>
                  <a:srgbClr val="182B3A"/>
                </a:solidFill>
                <a:latin typeface="Arial"/>
              </a:defRPr>
            </a:pPr>
            <a:r>
              <a:t>5</a:t>
            </a:r>
          </a:p>
        </p:txBody>
      </p:sp>
      <p:cxnSp>
        <p:nvCxnSpPr>
          <p:cNvPr id="29" name="Connector 28"/>
          <p:cNvCxnSpPr/>
          <p:nvPr/>
        </p:nvCxnSpPr>
        <p:spPr>
          <a:xfrm>
            <a:off x="7022846" y="1938528"/>
            <a:ext cx="236728" cy="0"/>
          </a:xfrm>
          <a:prstGeom prst="line">
            <a:avLst/>
          </a:prstGeom>
          <a:ln w="12700">
            <a:solidFill>
              <a:srgbClr val="182B3A"/>
            </a:solidFill>
          </a:ln>
          <a:effectLst/>
        </p:spPr>
        <p:style>
          <a:lnRef idx="2">
            <a:schemeClr val="accent1"/>
          </a:lnRef>
          <a:fillRef idx="0">
            <a:schemeClr val="accent1"/>
          </a:fillRef>
          <a:effectRef idx="1">
            <a:schemeClr val="accent1"/>
          </a:effectRef>
          <a:fontRef idx="minor">
            <a:schemeClr val="tx1"/>
          </a:fontRef>
        </p:style>
      </p:cxnSp>
      <p:sp>
        <p:nvSpPr>
          <p:cNvPr id="30" name="TextBox 29"/>
          <p:cNvSpPr txBox="1"/>
          <p:nvPr/>
        </p:nvSpPr>
        <p:spPr>
          <a:xfrm>
            <a:off x="7022846" y="1956816"/>
            <a:ext cx="236728" cy="256032"/>
          </a:xfrm>
          <a:prstGeom prst="rect">
            <a:avLst/>
          </a:prstGeom>
          <a:noFill/>
        </p:spPr>
        <p:txBody>
          <a:bodyPr wrap="none" lIns="0" rIns="0" tIns="0" bIns="0">
            <a:spAutoFit/>
          </a:bodyPr>
          <a:lstStyle/>
          <a:p>
            <a:pPr algn="ctr">
              <a:lnSpc>
                <a:spcPts val="2016"/>
              </a:lnSpc>
              <a:spcAft>
                <a:spcPts val="0"/>
              </a:spcAft>
              <a:defRPr sz="1800" b="0">
                <a:solidFill>
                  <a:srgbClr val="182B3A"/>
                </a:solidFill>
                <a:latin typeface="Arial"/>
              </a:defRPr>
            </a:pPr>
            <a:r>
              <a:t>9</a:t>
            </a:r>
          </a:p>
        </p:txBody>
      </p:sp>
      <p:sp>
        <p:nvSpPr>
          <p:cNvPr id="31" name="Rectangle 30"/>
          <p:cNvSpPr/>
          <p:nvPr/>
        </p:nvSpPr>
        <p:spPr>
          <a:xfrm>
            <a:off x="10247376" y="1581912"/>
            <a:ext cx="4040123" cy="822960"/>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10430256" y="1792224"/>
            <a:ext cx="271906" cy="347472"/>
          </a:xfrm>
          <a:prstGeom prst="rect">
            <a:avLst/>
          </a:prstGeom>
          <a:noFill/>
        </p:spPr>
        <p:txBody>
          <a:bodyPr wrap="none" lIns="0" rIns="0" tIns="0" bIns="0">
            <a:spAutoFit/>
          </a:bodyPr>
          <a:lstStyle/>
          <a:p>
            <a:pPr algn="l">
              <a:lnSpc>
                <a:spcPts val="2576"/>
              </a:lnSpc>
              <a:spcAft>
                <a:spcPts val="0"/>
              </a:spcAft>
              <a:defRPr sz="2300" b="0">
                <a:solidFill>
                  <a:srgbClr val="182B3A"/>
                </a:solidFill>
                <a:latin typeface="Arial"/>
              </a:defRPr>
            </a:pPr>
            <a:r>
              <a:t>2 </a:t>
            </a:r>
          </a:p>
        </p:txBody>
      </p:sp>
      <p:sp>
        <p:nvSpPr>
          <p:cNvPr id="33" name="TextBox 32"/>
          <p:cNvSpPr txBox="1"/>
          <p:nvPr/>
        </p:nvSpPr>
        <p:spPr>
          <a:xfrm>
            <a:off x="10702163" y="1673352"/>
            <a:ext cx="236728" cy="256032"/>
          </a:xfrm>
          <a:prstGeom prst="rect">
            <a:avLst/>
          </a:prstGeom>
          <a:noFill/>
        </p:spPr>
        <p:txBody>
          <a:bodyPr wrap="none" lIns="0" rIns="0" tIns="0" bIns="0">
            <a:spAutoFit/>
          </a:bodyPr>
          <a:lstStyle/>
          <a:p>
            <a:pPr algn="ctr">
              <a:lnSpc>
                <a:spcPts val="2016"/>
              </a:lnSpc>
              <a:spcAft>
                <a:spcPts val="0"/>
              </a:spcAft>
              <a:defRPr sz="1800" b="0">
                <a:solidFill>
                  <a:srgbClr val="182B3A"/>
                </a:solidFill>
                <a:latin typeface="Arial"/>
              </a:defRPr>
            </a:pPr>
            <a:r>
              <a:t>1</a:t>
            </a:r>
          </a:p>
        </p:txBody>
      </p:sp>
      <p:cxnSp>
        <p:nvCxnSpPr>
          <p:cNvPr id="34" name="Connector 33"/>
          <p:cNvCxnSpPr/>
          <p:nvPr/>
        </p:nvCxnSpPr>
        <p:spPr>
          <a:xfrm>
            <a:off x="10702163" y="1938528"/>
            <a:ext cx="236728" cy="0"/>
          </a:xfrm>
          <a:prstGeom prst="line">
            <a:avLst/>
          </a:prstGeom>
          <a:ln w="12700">
            <a:solidFill>
              <a:srgbClr val="182B3A"/>
            </a:solidFill>
          </a:ln>
          <a:effectLst/>
        </p:spPr>
        <p:style>
          <a:lnRef idx="2">
            <a:schemeClr val="accent1"/>
          </a:lnRef>
          <a:fillRef idx="0">
            <a:schemeClr val="accent1"/>
          </a:fillRef>
          <a:effectRef idx="1">
            <a:schemeClr val="accent1"/>
          </a:effectRef>
          <a:fontRef idx="minor">
            <a:schemeClr val="tx1"/>
          </a:fontRef>
        </p:style>
      </p:cxnSp>
      <p:sp>
        <p:nvSpPr>
          <p:cNvPr id="35" name="TextBox 34"/>
          <p:cNvSpPr txBox="1"/>
          <p:nvPr/>
        </p:nvSpPr>
        <p:spPr>
          <a:xfrm>
            <a:off x="10702163" y="1956816"/>
            <a:ext cx="236728" cy="256032"/>
          </a:xfrm>
          <a:prstGeom prst="rect">
            <a:avLst/>
          </a:prstGeom>
          <a:noFill/>
        </p:spPr>
        <p:txBody>
          <a:bodyPr wrap="none" lIns="0" rIns="0" tIns="0" bIns="0">
            <a:spAutoFit/>
          </a:bodyPr>
          <a:lstStyle/>
          <a:p>
            <a:pPr algn="ctr">
              <a:lnSpc>
                <a:spcPts val="2016"/>
              </a:lnSpc>
              <a:spcAft>
                <a:spcPts val="0"/>
              </a:spcAft>
              <a:defRPr sz="1800" b="0">
                <a:solidFill>
                  <a:srgbClr val="182B3A"/>
                </a:solidFill>
                <a:latin typeface="Arial"/>
              </a:defRPr>
            </a:pPr>
            <a:r>
              <a:t>4</a:t>
            </a:r>
          </a:p>
        </p:txBody>
      </p:sp>
      <p:sp>
        <p:nvSpPr>
          <p:cNvPr id="36" name="TextBox 35"/>
          <p:cNvSpPr txBox="1"/>
          <p:nvPr/>
        </p:nvSpPr>
        <p:spPr>
          <a:xfrm>
            <a:off x="10993755" y="1792224"/>
            <a:ext cx="363982" cy="347472"/>
          </a:xfrm>
          <a:prstGeom prst="rect">
            <a:avLst/>
          </a:prstGeom>
          <a:noFill/>
        </p:spPr>
        <p:txBody>
          <a:bodyPr wrap="none" lIns="0" rIns="0" tIns="0" bIns="0">
            <a:spAutoFit/>
          </a:bodyPr>
          <a:lstStyle/>
          <a:p>
            <a:pPr algn="l">
              <a:lnSpc>
                <a:spcPts val="2576"/>
              </a:lnSpc>
              <a:spcAft>
                <a:spcPts val="0"/>
              </a:spcAft>
              <a:defRPr sz="2300" b="0">
                <a:solidFill>
                  <a:srgbClr val="182B3A"/>
                </a:solidFill>
                <a:latin typeface="Arial"/>
              </a:defRPr>
            </a:pPr>
            <a:r>
              <a:t> − </a:t>
            </a:r>
          </a:p>
        </p:txBody>
      </p:sp>
      <p:sp>
        <p:nvSpPr>
          <p:cNvPr id="37" name="TextBox 36"/>
          <p:cNvSpPr txBox="1"/>
          <p:nvPr/>
        </p:nvSpPr>
        <p:spPr>
          <a:xfrm>
            <a:off x="11357737" y="1673352"/>
            <a:ext cx="236728" cy="256032"/>
          </a:xfrm>
          <a:prstGeom prst="rect">
            <a:avLst/>
          </a:prstGeom>
          <a:noFill/>
        </p:spPr>
        <p:txBody>
          <a:bodyPr wrap="none" lIns="0" rIns="0" tIns="0" bIns="0">
            <a:spAutoFit/>
          </a:bodyPr>
          <a:lstStyle/>
          <a:p>
            <a:pPr algn="ctr">
              <a:lnSpc>
                <a:spcPts val="2016"/>
              </a:lnSpc>
              <a:spcAft>
                <a:spcPts val="0"/>
              </a:spcAft>
              <a:defRPr sz="1800" b="0">
                <a:solidFill>
                  <a:srgbClr val="182B3A"/>
                </a:solidFill>
                <a:latin typeface="Arial"/>
              </a:defRPr>
            </a:pPr>
            <a:r>
              <a:t>5</a:t>
            </a:r>
          </a:p>
        </p:txBody>
      </p:sp>
      <p:cxnSp>
        <p:nvCxnSpPr>
          <p:cNvPr id="38" name="Connector 37"/>
          <p:cNvCxnSpPr/>
          <p:nvPr/>
        </p:nvCxnSpPr>
        <p:spPr>
          <a:xfrm>
            <a:off x="11357737" y="1938528"/>
            <a:ext cx="236728" cy="0"/>
          </a:xfrm>
          <a:prstGeom prst="line">
            <a:avLst/>
          </a:prstGeom>
          <a:ln w="12700">
            <a:solidFill>
              <a:srgbClr val="182B3A"/>
            </a:solidFill>
          </a:ln>
          <a:effectLst/>
        </p:spPr>
        <p:style>
          <a:lnRef idx="2">
            <a:schemeClr val="accent1"/>
          </a:lnRef>
          <a:fillRef idx="0">
            <a:schemeClr val="accent1"/>
          </a:fillRef>
          <a:effectRef idx="1">
            <a:schemeClr val="accent1"/>
          </a:effectRef>
          <a:fontRef idx="minor">
            <a:schemeClr val="tx1"/>
          </a:fontRef>
        </p:style>
      </p:cxnSp>
      <p:sp>
        <p:nvSpPr>
          <p:cNvPr id="39" name="TextBox 38"/>
          <p:cNvSpPr txBox="1"/>
          <p:nvPr/>
        </p:nvSpPr>
        <p:spPr>
          <a:xfrm>
            <a:off x="11357737" y="1956816"/>
            <a:ext cx="236728" cy="256032"/>
          </a:xfrm>
          <a:prstGeom prst="rect">
            <a:avLst/>
          </a:prstGeom>
          <a:noFill/>
        </p:spPr>
        <p:txBody>
          <a:bodyPr wrap="none" lIns="0" rIns="0" tIns="0" bIns="0">
            <a:spAutoFit/>
          </a:bodyPr>
          <a:lstStyle/>
          <a:p>
            <a:pPr algn="ctr">
              <a:lnSpc>
                <a:spcPts val="2016"/>
              </a:lnSpc>
              <a:spcAft>
                <a:spcPts val="0"/>
              </a:spcAft>
              <a:defRPr sz="1800" b="0">
                <a:solidFill>
                  <a:srgbClr val="182B3A"/>
                </a:solidFill>
                <a:latin typeface="Arial"/>
              </a:defRPr>
            </a:pPr>
            <a:r>
              <a:t>6</a:t>
            </a:r>
          </a:p>
        </p:txBody>
      </p:sp>
      <p:sp>
        <p:nvSpPr>
          <p:cNvPr id="40" name="Rectangle 39"/>
          <p:cNvSpPr/>
          <p:nvPr/>
        </p:nvSpPr>
        <p:spPr>
          <a:xfrm>
            <a:off x="320040" y="2404872"/>
            <a:ext cx="1773936" cy="1143000"/>
          </a:xfrm>
          <a:prstGeom prst="rect">
            <a:avLst/>
          </a:prstGeom>
          <a:solidFill>
            <a:srgbClr val="E8EDF1"/>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402336" y="2514600"/>
            <a:ext cx="1572768" cy="960120"/>
          </a:xfrm>
          <a:prstGeom prst="rect">
            <a:avLst/>
          </a:prstGeom>
          <a:noFill/>
        </p:spPr>
        <p:txBody>
          <a:bodyPr wrap="square" lIns="54864" rIns="54864" tIns="22860" bIns="22860">
            <a:spAutoFit/>
          </a:bodyPr>
          <a:lstStyle/>
          <a:p>
            <a:pPr>
              <a:lnSpc>
                <a:spcPts val="1890"/>
              </a:lnSpc>
              <a:spcBef>
                <a:spcPts val="0"/>
              </a:spcBef>
              <a:spcAft>
                <a:spcPts val="0"/>
              </a:spcAft>
              <a:defRPr sz="1800" b="1">
                <a:solidFill>
                  <a:srgbClr val="182B3A"/>
                </a:solidFill>
                <a:latin typeface="Arial"/>
              </a:defRPr>
            </a:pPr>
            <a:r>
              <a:t>Prepare the Fractions</a:t>
            </a:r>
          </a:p>
        </p:txBody>
      </p:sp>
      <p:sp>
        <p:nvSpPr>
          <p:cNvPr id="42" name="Rectangle 41"/>
          <p:cNvSpPr/>
          <p:nvPr/>
        </p:nvSpPr>
        <p:spPr>
          <a:xfrm>
            <a:off x="2121408" y="2404872"/>
            <a:ext cx="4040123" cy="1143000"/>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2231136" y="2542032"/>
            <a:ext cx="3806952" cy="914400"/>
          </a:xfrm>
          <a:prstGeom prst="rect">
            <a:avLst/>
          </a:prstGeom>
          <a:noFill/>
        </p:spPr>
        <p:txBody>
          <a:bodyPr wrap="square" lIns="54864" rIns="54864" tIns="22860" bIns="22860">
            <a:spAutoFit/>
          </a:bodyPr>
          <a:lstStyle/>
          <a:p>
            <a:pPr>
              <a:lnSpc>
                <a:spcPts val="1995"/>
              </a:lnSpc>
              <a:spcBef>
                <a:spcPts val="0"/>
              </a:spcBef>
              <a:spcAft>
                <a:spcPts val="0"/>
              </a:spcAft>
              <a:defRPr sz="1900" b="0">
                <a:solidFill>
                  <a:srgbClr val="182B3A"/>
                </a:solidFill>
                <a:latin typeface="Arial"/>
              </a:defRPr>
            </a:pPr>
            <a:r>
              <a:t>Convert mixed numbers to improper fractions if needed.</a:t>
            </a:r>
          </a:p>
        </p:txBody>
      </p:sp>
      <p:sp>
        <p:nvSpPr>
          <p:cNvPr id="44" name="Rectangle 43"/>
          <p:cNvSpPr/>
          <p:nvPr/>
        </p:nvSpPr>
        <p:spPr>
          <a:xfrm>
            <a:off x="6184392" y="2404872"/>
            <a:ext cx="4040123" cy="1143000"/>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6294120" y="2542032"/>
            <a:ext cx="3806952" cy="914400"/>
          </a:xfrm>
          <a:prstGeom prst="rect">
            <a:avLst/>
          </a:prstGeom>
          <a:noFill/>
        </p:spPr>
        <p:txBody>
          <a:bodyPr wrap="square" lIns="54864" rIns="54864" tIns="22860" bIns="22860">
            <a:spAutoFit/>
          </a:bodyPr>
          <a:lstStyle/>
          <a:p>
            <a:pPr>
              <a:lnSpc>
                <a:spcPts val="1995"/>
              </a:lnSpc>
              <a:spcBef>
                <a:spcPts val="0"/>
              </a:spcBef>
              <a:spcAft>
                <a:spcPts val="0"/>
              </a:spcAft>
              <a:defRPr sz="1900" b="0">
                <a:solidFill>
                  <a:srgbClr val="182B3A"/>
                </a:solidFill>
                <a:latin typeface="Arial"/>
              </a:defRPr>
            </a:pPr>
            <a:r>
              <a:t>Convert mixed numbers to improper fractions if needed.</a:t>
            </a:r>
          </a:p>
        </p:txBody>
      </p:sp>
      <p:sp>
        <p:nvSpPr>
          <p:cNvPr id="46" name="Rectangle 45"/>
          <p:cNvSpPr/>
          <p:nvPr/>
        </p:nvSpPr>
        <p:spPr>
          <a:xfrm>
            <a:off x="10247376" y="2404872"/>
            <a:ext cx="4040123" cy="1143000"/>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TextBox 46"/>
          <p:cNvSpPr txBox="1"/>
          <p:nvPr/>
        </p:nvSpPr>
        <p:spPr>
          <a:xfrm>
            <a:off x="10357104" y="2542032"/>
            <a:ext cx="3806952" cy="914400"/>
          </a:xfrm>
          <a:prstGeom prst="rect">
            <a:avLst/>
          </a:prstGeom>
          <a:noFill/>
        </p:spPr>
        <p:txBody>
          <a:bodyPr wrap="square" lIns="54864" rIns="54864" tIns="22860" bIns="22860">
            <a:spAutoFit/>
          </a:bodyPr>
          <a:lstStyle/>
          <a:p>
            <a:pPr>
              <a:lnSpc>
                <a:spcPts val="1995"/>
              </a:lnSpc>
              <a:spcBef>
                <a:spcPts val="0"/>
              </a:spcBef>
              <a:spcAft>
                <a:spcPts val="0"/>
              </a:spcAft>
              <a:defRPr sz="1900" b="0">
                <a:solidFill>
                  <a:srgbClr val="182B3A"/>
                </a:solidFill>
                <a:latin typeface="Arial"/>
              </a:defRPr>
            </a:pPr>
            <a:r>
              <a:t>Convert mixed numbers to improper fractions if needed.</a:t>
            </a:r>
          </a:p>
        </p:txBody>
      </p:sp>
      <p:sp>
        <p:nvSpPr>
          <p:cNvPr id="48" name="Rectangle 47"/>
          <p:cNvSpPr/>
          <p:nvPr/>
        </p:nvSpPr>
        <p:spPr>
          <a:xfrm>
            <a:off x="320040" y="3547872"/>
            <a:ext cx="1773936" cy="1325880"/>
          </a:xfrm>
          <a:prstGeom prst="rect">
            <a:avLst/>
          </a:prstGeom>
          <a:solidFill>
            <a:srgbClr val="E8EDF1"/>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TextBox 48"/>
          <p:cNvSpPr txBox="1"/>
          <p:nvPr/>
        </p:nvSpPr>
        <p:spPr>
          <a:xfrm>
            <a:off x="402336" y="3657600"/>
            <a:ext cx="1572768" cy="1143000"/>
          </a:xfrm>
          <a:prstGeom prst="rect">
            <a:avLst/>
          </a:prstGeom>
          <a:noFill/>
        </p:spPr>
        <p:txBody>
          <a:bodyPr wrap="square" lIns="54864" rIns="54864" tIns="22860" bIns="22860">
            <a:spAutoFit/>
          </a:bodyPr>
          <a:lstStyle/>
          <a:p>
            <a:pPr>
              <a:lnSpc>
                <a:spcPts val="1890"/>
              </a:lnSpc>
              <a:spcBef>
                <a:spcPts val="0"/>
              </a:spcBef>
              <a:spcAft>
                <a:spcPts val="0"/>
              </a:spcAft>
              <a:defRPr sz="1800" b="1">
                <a:solidFill>
                  <a:srgbClr val="182B3A"/>
                </a:solidFill>
                <a:latin typeface="Arial"/>
              </a:defRPr>
            </a:pPr>
            <a:r>
              <a:t>Use a Common Denominator</a:t>
            </a:r>
          </a:p>
        </p:txBody>
      </p:sp>
      <p:sp>
        <p:nvSpPr>
          <p:cNvPr id="50" name="Rectangle 49"/>
          <p:cNvSpPr/>
          <p:nvPr/>
        </p:nvSpPr>
        <p:spPr>
          <a:xfrm>
            <a:off x="2121408" y="3547872"/>
            <a:ext cx="4040123" cy="1325880"/>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TextBox 50"/>
          <p:cNvSpPr txBox="1"/>
          <p:nvPr/>
        </p:nvSpPr>
        <p:spPr>
          <a:xfrm>
            <a:off x="2231136" y="3685032"/>
            <a:ext cx="3806952" cy="1097280"/>
          </a:xfrm>
          <a:prstGeom prst="rect">
            <a:avLst/>
          </a:prstGeom>
          <a:noFill/>
        </p:spPr>
        <p:txBody>
          <a:bodyPr wrap="square" lIns="54864" rIns="54864" tIns="22860" bIns="22860">
            <a:spAutoFit/>
          </a:bodyPr>
          <a:lstStyle/>
          <a:p>
            <a:pPr>
              <a:lnSpc>
                <a:spcPts val="1995"/>
              </a:lnSpc>
              <a:spcBef>
                <a:spcPts val="0"/>
              </a:spcBef>
              <a:spcAft>
                <a:spcPts val="0"/>
              </a:spcAft>
              <a:defRPr sz="1900" b="0">
                <a:solidFill>
                  <a:srgbClr val="182B3A"/>
                </a:solidFill>
                <a:latin typeface="Arial"/>
              </a:defRPr>
            </a:pPr>
            <a:r>
              <a:t>Find a common multiple. Change top and bottom together.</a:t>
            </a:r>
          </a:p>
        </p:txBody>
      </p:sp>
      <p:sp>
        <p:nvSpPr>
          <p:cNvPr id="52" name="Rectangle 51"/>
          <p:cNvSpPr/>
          <p:nvPr/>
        </p:nvSpPr>
        <p:spPr>
          <a:xfrm>
            <a:off x="6184392" y="3547872"/>
            <a:ext cx="4040123" cy="1325880"/>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TextBox 52"/>
          <p:cNvSpPr txBox="1"/>
          <p:nvPr/>
        </p:nvSpPr>
        <p:spPr>
          <a:xfrm>
            <a:off x="6294120" y="3685032"/>
            <a:ext cx="3806952" cy="1097280"/>
          </a:xfrm>
          <a:prstGeom prst="rect">
            <a:avLst/>
          </a:prstGeom>
          <a:noFill/>
        </p:spPr>
        <p:txBody>
          <a:bodyPr wrap="square" lIns="54864" rIns="54864" tIns="22860" bIns="22860">
            <a:spAutoFit/>
          </a:bodyPr>
          <a:lstStyle/>
          <a:p>
            <a:pPr>
              <a:lnSpc>
                <a:spcPts val="1995"/>
              </a:lnSpc>
              <a:spcBef>
                <a:spcPts val="0"/>
              </a:spcBef>
              <a:spcAft>
                <a:spcPts val="0"/>
              </a:spcAft>
              <a:defRPr sz="1900" b="0">
                <a:solidFill>
                  <a:srgbClr val="182B3A"/>
                </a:solidFill>
                <a:latin typeface="Arial"/>
              </a:defRPr>
            </a:pPr>
            <a:r>
              <a:t>Find a common multiple. Change top and bottom together.</a:t>
            </a:r>
          </a:p>
        </p:txBody>
      </p:sp>
      <p:sp>
        <p:nvSpPr>
          <p:cNvPr id="54" name="Rectangle 53"/>
          <p:cNvSpPr/>
          <p:nvPr/>
        </p:nvSpPr>
        <p:spPr>
          <a:xfrm>
            <a:off x="10247376" y="3547872"/>
            <a:ext cx="4040123" cy="1325880"/>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TextBox 54"/>
          <p:cNvSpPr txBox="1"/>
          <p:nvPr/>
        </p:nvSpPr>
        <p:spPr>
          <a:xfrm>
            <a:off x="10357104" y="3685032"/>
            <a:ext cx="3806952" cy="1097280"/>
          </a:xfrm>
          <a:prstGeom prst="rect">
            <a:avLst/>
          </a:prstGeom>
          <a:noFill/>
        </p:spPr>
        <p:txBody>
          <a:bodyPr wrap="square" lIns="54864" rIns="54864" tIns="22860" bIns="22860">
            <a:spAutoFit/>
          </a:bodyPr>
          <a:lstStyle/>
          <a:p>
            <a:pPr>
              <a:lnSpc>
                <a:spcPts val="1995"/>
              </a:lnSpc>
              <a:spcBef>
                <a:spcPts val="0"/>
              </a:spcBef>
              <a:spcAft>
                <a:spcPts val="0"/>
              </a:spcAft>
              <a:defRPr sz="1900" b="0">
                <a:solidFill>
                  <a:srgbClr val="182B3A"/>
                </a:solidFill>
                <a:latin typeface="Arial"/>
              </a:defRPr>
            </a:pPr>
            <a:r>
              <a:t>Find a common multiple. Change top and bottom together.</a:t>
            </a:r>
          </a:p>
        </p:txBody>
      </p:sp>
      <p:sp>
        <p:nvSpPr>
          <p:cNvPr id="56" name="Rectangle 55"/>
          <p:cNvSpPr/>
          <p:nvPr/>
        </p:nvSpPr>
        <p:spPr>
          <a:xfrm>
            <a:off x="320040" y="4873752"/>
            <a:ext cx="1773936" cy="1234440"/>
          </a:xfrm>
          <a:prstGeom prst="rect">
            <a:avLst/>
          </a:prstGeom>
          <a:solidFill>
            <a:srgbClr val="E8EDF1"/>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 name="TextBox 56"/>
          <p:cNvSpPr txBox="1"/>
          <p:nvPr/>
        </p:nvSpPr>
        <p:spPr>
          <a:xfrm>
            <a:off x="402336" y="4983480"/>
            <a:ext cx="1572768" cy="1051560"/>
          </a:xfrm>
          <a:prstGeom prst="rect">
            <a:avLst/>
          </a:prstGeom>
          <a:noFill/>
        </p:spPr>
        <p:txBody>
          <a:bodyPr wrap="square" lIns="54864" rIns="54864" tIns="22860" bIns="22860">
            <a:spAutoFit/>
          </a:bodyPr>
          <a:lstStyle/>
          <a:p>
            <a:pPr>
              <a:lnSpc>
                <a:spcPts val="1890"/>
              </a:lnSpc>
              <a:spcBef>
                <a:spcPts val="0"/>
              </a:spcBef>
              <a:spcAft>
                <a:spcPts val="0"/>
              </a:spcAft>
              <a:defRPr sz="1800" b="1">
                <a:solidFill>
                  <a:srgbClr val="182B3A"/>
                </a:solidFill>
                <a:latin typeface="Arial"/>
              </a:defRPr>
            </a:pPr>
            <a:r>
              <a:t>Add or Subtract</a:t>
            </a:r>
          </a:p>
        </p:txBody>
      </p:sp>
      <p:sp>
        <p:nvSpPr>
          <p:cNvPr id="58" name="Rectangle 57"/>
          <p:cNvSpPr/>
          <p:nvPr/>
        </p:nvSpPr>
        <p:spPr>
          <a:xfrm>
            <a:off x="2121408" y="4873752"/>
            <a:ext cx="4040123" cy="1234440"/>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 name="TextBox 58"/>
          <p:cNvSpPr txBox="1"/>
          <p:nvPr/>
        </p:nvSpPr>
        <p:spPr>
          <a:xfrm>
            <a:off x="2231136" y="5010912"/>
            <a:ext cx="3806952" cy="1005840"/>
          </a:xfrm>
          <a:prstGeom prst="rect">
            <a:avLst/>
          </a:prstGeom>
          <a:noFill/>
        </p:spPr>
        <p:txBody>
          <a:bodyPr wrap="square" lIns="54864" rIns="54864" tIns="22860" bIns="22860">
            <a:spAutoFit/>
          </a:bodyPr>
          <a:lstStyle/>
          <a:p>
            <a:pPr>
              <a:lnSpc>
                <a:spcPts val="1995"/>
              </a:lnSpc>
              <a:spcBef>
                <a:spcPts val="0"/>
              </a:spcBef>
              <a:spcAft>
                <a:spcPts val="0"/>
              </a:spcAft>
              <a:defRPr sz="1900" b="0">
                <a:solidFill>
                  <a:srgbClr val="182B3A"/>
                </a:solidFill>
                <a:latin typeface="Arial"/>
              </a:defRPr>
            </a:pPr>
            <a:r>
              <a:t>Work with the numerators; keep the common denominator.</a:t>
            </a:r>
          </a:p>
        </p:txBody>
      </p:sp>
      <p:sp>
        <p:nvSpPr>
          <p:cNvPr id="60" name="Rectangle 59"/>
          <p:cNvSpPr/>
          <p:nvPr/>
        </p:nvSpPr>
        <p:spPr>
          <a:xfrm>
            <a:off x="6184392" y="4873752"/>
            <a:ext cx="4040123" cy="1234440"/>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 name="TextBox 60"/>
          <p:cNvSpPr txBox="1"/>
          <p:nvPr/>
        </p:nvSpPr>
        <p:spPr>
          <a:xfrm>
            <a:off x="6294120" y="5010912"/>
            <a:ext cx="3806952" cy="1005840"/>
          </a:xfrm>
          <a:prstGeom prst="rect">
            <a:avLst/>
          </a:prstGeom>
          <a:noFill/>
        </p:spPr>
        <p:txBody>
          <a:bodyPr wrap="square" lIns="54864" rIns="54864" tIns="22860" bIns="22860">
            <a:spAutoFit/>
          </a:bodyPr>
          <a:lstStyle/>
          <a:p>
            <a:pPr>
              <a:lnSpc>
                <a:spcPts val="1995"/>
              </a:lnSpc>
              <a:spcBef>
                <a:spcPts val="0"/>
              </a:spcBef>
              <a:spcAft>
                <a:spcPts val="0"/>
              </a:spcAft>
              <a:defRPr sz="1900" b="0">
                <a:solidFill>
                  <a:srgbClr val="182B3A"/>
                </a:solidFill>
                <a:latin typeface="Arial"/>
              </a:defRPr>
            </a:pPr>
            <a:r>
              <a:t>Work with the numerators; keep the common denominator.</a:t>
            </a:r>
          </a:p>
        </p:txBody>
      </p:sp>
      <p:sp>
        <p:nvSpPr>
          <p:cNvPr id="62" name="Rectangle 61"/>
          <p:cNvSpPr/>
          <p:nvPr/>
        </p:nvSpPr>
        <p:spPr>
          <a:xfrm>
            <a:off x="10247376" y="4873752"/>
            <a:ext cx="4040123" cy="1234440"/>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3" name="TextBox 62"/>
          <p:cNvSpPr txBox="1"/>
          <p:nvPr/>
        </p:nvSpPr>
        <p:spPr>
          <a:xfrm>
            <a:off x="10357104" y="5010912"/>
            <a:ext cx="3806952" cy="1005840"/>
          </a:xfrm>
          <a:prstGeom prst="rect">
            <a:avLst/>
          </a:prstGeom>
          <a:noFill/>
        </p:spPr>
        <p:txBody>
          <a:bodyPr wrap="square" lIns="54864" rIns="54864" tIns="22860" bIns="22860">
            <a:spAutoFit/>
          </a:bodyPr>
          <a:lstStyle/>
          <a:p>
            <a:pPr>
              <a:lnSpc>
                <a:spcPts val="1995"/>
              </a:lnSpc>
              <a:spcBef>
                <a:spcPts val="0"/>
              </a:spcBef>
              <a:spcAft>
                <a:spcPts val="0"/>
              </a:spcAft>
              <a:defRPr sz="1900" b="0">
                <a:solidFill>
                  <a:srgbClr val="182B3A"/>
                </a:solidFill>
                <a:latin typeface="Arial"/>
              </a:defRPr>
            </a:pPr>
            <a:r>
              <a:t>Work with the numerators; keep the common denominator.</a:t>
            </a:r>
          </a:p>
        </p:txBody>
      </p:sp>
      <p:sp>
        <p:nvSpPr>
          <p:cNvPr id="64" name="Rectangle 63"/>
          <p:cNvSpPr/>
          <p:nvPr/>
        </p:nvSpPr>
        <p:spPr>
          <a:xfrm>
            <a:off x="320040" y="6108192"/>
            <a:ext cx="1773936" cy="1490472"/>
          </a:xfrm>
          <a:prstGeom prst="rect">
            <a:avLst/>
          </a:prstGeom>
          <a:solidFill>
            <a:srgbClr val="E8EDF1"/>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5" name="TextBox 64"/>
          <p:cNvSpPr txBox="1"/>
          <p:nvPr/>
        </p:nvSpPr>
        <p:spPr>
          <a:xfrm>
            <a:off x="402336" y="6217920"/>
            <a:ext cx="1572768" cy="1307592"/>
          </a:xfrm>
          <a:prstGeom prst="rect">
            <a:avLst/>
          </a:prstGeom>
          <a:noFill/>
        </p:spPr>
        <p:txBody>
          <a:bodyPr wrap="square" lIns="54864" rIns="54864" tIns="22860" bIns="22860">
            <a:spAutoFit/>
          </a:bodyPr>
          <a:lstStyle/>
          <a:p>
            <a:pPr>
              <a:lnSpc>
                <a:spcPts val="1890"/>
              </a:lnSpc>
              <a:spcBef>
                <a:spcPts val="0"/>
              </a:spcBef>
              <a:spcAft>
                <a:spcPts val="0"/>
              </a:spcAft>
              <a:defRPr sz="1800" b="1">
                <a:solidFill>
                  <a:srgbClr val="182B3A"/>
                </a:solidFill>
                <a:latin typeface="Arial"/>
              </a:defRPr>
            </a:pPr>
            <a:r>
              <a:t>Simplify the Answer</a:t>
            </a:r>
          </a:p>
        </p:txBody>
      </p:sp>
      <p:sp>
        <p:nvSpPr>
          <p:cNvPr id="66" name="Rectangle 65"/>
          <p:cNvSpPr/>
          <p:nvPr/>
        </p:nvSpPr>
        <p:spPr>
          <a:xfrm>
            <a:off x="2121408" y="6108192"/>
            <a:ext cx="4040123" cy="1490472"/>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7" name="TextBox 66"/>
          <p:cNvSpPr txBox="1"/>
          <p:nvPr/>
        </p:nvSpPr>
        <p:spPr>
          <a:xfrm>
            <a:off x="2231136" y="6245352"/>
            <a:ext cx="3806952" cy="1261872"/>
          </a:xfrm>
          <a:prstGeom prst="rect">
            <a:avLst/>
          </a:prstGeom>
          <a:noFill/>
        </p:spPr>
        <p:txBody>
          <a:bodyPr wrap="square" lIns="54864" rIns="54864" tIns="22860" bIns="22860">
            <a:spAutoFit/>
          </a:bodyPr>
          <a:lstStyle/>
          <a:p>
            <a:pPr>
              <a:lnSpc>
                <a:spcPts val="1995"/>
              </a:lnSpc>
              <a:spcBef>
                <a:spcPts val="0"/>
              </a:spcBef>
              <a:spcAft>
                <a:spcPts val="0"/>
              </a:spcAft>
              <a:defRPr sz="1900" b="0">
                <a:solidFill>
                  <a:srgbClr val="182B3A"/>
                </a:solidFill>
                <a:latin typeface="Arial"/>
              </a:defRPr>
            </a:pPr>
            <a:r>
              <a:t>Divide top and bottom by a common factor. Give a mixed answer if greater than 1.</a:t>
            </a:r>
          </a:p>
        </p:txBody>
      </p:sp>
      <p:sp>
        <p:nvSpPr>
          <p:cNvPr id="68" name="Rectangle 67"/>
          <p:cNvSpPr/>
          <p:nvPr/>
        </p:nvSpPr>
        <p:spPr>
          <a:xfrm>
            <a:off x="6184392" y="6108192"/>
            <a:ext cx="4040123" cy="1490472"/>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9" name="TextBox 68"/>
          <p:cNvSpPr txBox="1"/>
          <p:nvPr/>
        </p:nvSpPr>
        <p:spPr>
          <a:xfrm>
            <a:off x="6294120" y="6245352"/>
            <a:ext cx="3806952" cy="1261872"/>
          </a:xfrm>
          <a:prstGeom prst="rect">
            <a:avLst/>
          </a:prstGeom>
          <a:noFill/>
        </p:spPr>
        <p:txBody>
          <a:bodyPr wrap="square" lIns="54864" rIns="54864" tIns="22860" bIns="22860">
            <a:spAutoFit/>
          </a:bodyPr>
          <a:lstStyle/>
          <a:p>
            <a:pPr>
              <a:lnSpc>
                <a:spcPts val="1995"/>
              </a:lnSpc>
              <a:spcBef>
                <a:spcPts val="0"/>
              </a:spcBef>
              <a:spcAft>
                <a:spcPts val="0"/>
              </a:spcAft>
              <a:defRPr sz="1900" b="0">
                <a:solidFill>
                  <a:srgbClr val="182B3A"/>
                </a:solidFill>
                <a:latin typeface="Arial"/>
              </a:defRPr>
            </a:pPr>
            <a:r>
              <a:t>Divide top and bottom by a common factor. Give a mixed answer if greater than 1.</a:t>
            </a:r>
          </a:p>
        </p:txBody>
      </p:sp>
      <p:sp>
        <p:nvSpPr>
          <p:cNvPr id="70" name="Rectangle 69"/>
          <p:cNvSpPr/>
          <p:nvPr/>
        </p:nvSpPr>
        <p:spPr>
          <a:xfrm>
            <a:off x="10247376" y="6108192"/>
            <a:ext cx="4040123" cy="1490472"/>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1" name="TextBox 70"/>
          <p:cNvSpPr txBox="1"/>
          <p:nvPr/>
        </p:nvSpPr>
        <p:spPr>
          <a:xfrm>
            <a:off x="10357104" y="6245352"/>
            <a:ext cx="3806952" cy="1261872"/>
          </a:xfrm>
          <a:prstGeom prst="rect">
            <a:avLst/>
          </a:prstGeom>
          <a:noFill/>
        </p:spPr>
        <p:txBody>
          <a:bodyPr wrap="square" lIns="54864" rIns="54864" tIns="22860" bIns="22860">
            <a:spAutoFit/>
          </a:bodyPr>
          <a:lstStyle/>
          <a:p>
            <a:pPr>
              <a:lnSpc>
                <a:spcPts val="1995"/>
              </a:lnSpc>
              <a:spcBef>
                <a:spcPts val="0"/>
              </a:spcBef>
              <a:spcAft>
                <a:spcPts val="0"/>
              </a:spcAft>
              <a:defRPr sz="1900" b="0">
                <a:solidFill>
                  <a:srgbClr val="182B3A"/>
                </a:solidFill>
                <a:latin typeface="Arial"/>
              </a:defRPr>
            </a:pPr>
            <a:r>
              <a:t>Divide top and bottom by a common factor. Give a mixed answer if greater than 1.</a:t>
            </a:r>
          </a:p>
        </p:txBody>
      </p:sp>
      <p:sp>
        <p:nvSpPr>
          <p:cNvPr id="72" name="Progression curved arrow: Thread 1 to Thread 2"/>
          <p:cNvSpPr/>
          <p:nvPr/>
        </p:nvSpPr>
        <p:spPr>
          <a:xfrm>
            <a:off x="5850635" y="7351125"/>
            <a:ext cx="621792" cy="314053"/>
          </a:xfrm>
          <a:custGeom>
            <a:avLst/>
            <a:gdLst/>
            <a:ahLst/>
            <a:cxnLst/>
            <a:rect l="0" t="0" r="100000" b="100000"/>
            <a:pathLst>
              <a:path w="100000" h="100000" fill="none">
                <a:moveTo>
                  <a:pt x="6970" y="48439"/>
                </a:moveTo>
                <a:cubicBezTo>
                  <a:pt x="40678" y="114499"/>
                  <a:pt x="73026" y="88145"/>
                  <a:pt x="93030" y="13799"/>
                </a:cubicBezTo>
              </a:path>
              <a:path w="100000" h="100000" fill="none">
                <a:moveTo>
                  <a:pt x="69018" y="40431"/>
                </a:moveTo>
                <a:lnTo>
                  <a:pt x="93030" y="13799"/>
                </a:lnTo>
                <a:lnTo>
                  <a:pt x="92217" y="66207"/>
                </a:lnTo>
              </a:path>
            </a:pathLst>
          </a:custGeom>
          <a:noFill/>
          <a:ln w="64449" cap="rnd">
            <a:solidFill>
              <a:schemeClr val="accent6">
                <a:lumMod val="60000"/>
                <a:lumOff val="40000"/>
              </a:schemeClr>
            </a:solidFill>
            <a:round/>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73" name="Progression curved arrow: Thread 2 to Thread 3"/>
          <p:cNvSpPr/>
          <p:nvPr/>
        </p:nvSpPr>
        <p:spPr>
          <a:xfrm>
            <a:off x="9865783" y="7342631"/>
            <a:ext cx="621792" cy="314053"/>
          </a:xfrm>
          <a:custGeom>
            <a:avLst/>
            <a:gdLst/>
            <a:ahLst/>
            <a:cxnLst/>
            <a:rect l="0" t="0" r="100000" b="100000"/>
            <a:pathLst>
              <a:path w="100000" h="100000" fill="none">
                <a:moveTo>
                  <a:pt x="6970" y="48439"/>
                </a:moveTo>
                <a:cubicBezTo>
                  <a:pt x="40678" y="114499"/>
                  <a:pt x="73026" y="88145"/>
                  <a:pt x="93030" y="13799"/>
                </a:cubicBezTo>
              </a:path>
              <a:path w="100000" h="100000" fill="none">
                <a:moveTo>
                  <a:pt x="69018" y="40431"/>
                </a:moveTo>
                <a:lnTo>
                  <a:pt x="93030" y="13799"/>
                </a:lnTo>
                <a:lnTo>
                  <a:pt x="92217" y="66207"/>
                </a:lnTo>
              </a:path>
            </a:pathLst>
          </a:custGeom>
          <a:noFill/>
          <a:ln w="64449" cap="rnd">
            <a:solidFill>
              <a:schemeClr val="accent6">
                <a:lumMod val="60000"/>
                <a:lumOff val="40000"/>
              </a:schemeClr>
            </a:solidFill>
            <a:round/>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Tree>
  </p:cSld>
  <p:clrMapOvr>
    <a:masterClrMapping/>
  </p:clrMapOvr>
</p:sld>
</file>

<file path=ppt/slides/slide45.xml><?xml version="1.0" encoding="utf-8"?>
<p:sld xmlns:a="http://schemas.openxmlformats.org/drawingml/2006/main" xmlns:p="http://schemas.openxmlformats.org/presentationml/2006/main" xmlns:r="http://schemas.openxmlformats.org/officeDocument/2006/relationships">
  <p:cSld>
    <p:bg>
      <p:bgPr>
        <a:solidFill>
          <a:srgbClr val="F7F8FA"/>
        </a:solidFill>
        <a:effectLst/>
      </p:bgPr>
    </p:bg>
    <p:spTree>
      <p:nvGrpSpPr>
        <p:cNvPr id="1" name=""/>
        <p:cNvGrpSpPr/>
        <p:nvPr/>
      </p:nvGrpSpPr>
      <p:grpSpPr/>
      <p:sp>
        <p:nvSpPr>
          <p:cNvPr id="2" name="Rectangle 1"/>
          <p:cNvSpPr/>
          <p:nvPr/>
        </p:nvSpPr>
        <p:spPr>
          <a:xfrm>
            <a:off x="0" y="0"/>
            <a:ext cx="14630400" cy="73152"/>
          </a:xfrm>
          <a:prstGeom prst="rect">
            <a:avLst/>
          </a:prstGeom>
          <a:solidFill>
            <a:srgbClr val="176B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20040" y="164592"/>
            <a:ext cx="13990320" cy="457200"/>
          </a:xfrm>
          <a:prstGeom prst="rect">
            <a:avLst/>
          </a:prstGeom>
          <a:noFill/>
        </p:spPr>
        <p:txBody>
          <a:bodyPr wrap="square" lIns="54864" rIns="54864" tIns="22860" bIns="22860">
            <a:spAutoFit/>
          </a:bodyPr>
          <a:lstStyle/>
          <a:p>
            <a:pPr>
              <a:lnSpc>
                <a:spcPts val="2940"/>
              </a:lnSpc>
              <a:spcBef>
                <a:spcPts val="0"/>
              </a:spcBef>
              <a:spcAft>
                <a:spcPts val="0"/>
              </a:spcAft>
              <a:defRPr sz="2800" b="1">
                <a:solidFill>
                  <a:srgbClr val="182B3A"/>
                </a:solidFill>
                <a:latin typeface="Arial"/>
              </a:defRPr>
            </a:pPr>
            <a:r>
              <a:t>Adding and subtracting fractions</a:t>
            </a:r>
          </a:p>
        </p:txBody>
      </p:sp>
      <p:sp>
        <p:nvSpPr>
          <p:cNvPr id="4" name="TextBox 3"/>
          <p:cNvSpPr txBox="1"/>
          <p:nvPr/>
        </p:nvSpPr>
        <p:spPr>
          <a:xfrm>
            <a:off x="320040" y="704088"/>
            <a:ext cx="13990320" cy="347472"/>
          </a:xfrm>
          <a:prstGeom prst="rect">
            <a:avLst/>
          </a:prstGeom>
          <a:noFill/>
        </p:spPr>
        <p:txBody>
          <a:bodyPr wrap="square" lIns="54864" rIns="54864" tIns="22860" bIns="22860">
            <a:spAutoFit/>
          </a:bodyPr>
          <a:lstStyle/>
          <a:p>
            <a:pPr>
              <a:lnSpc>
                <a:spcPts val="1575"/>
              </a:lnSpc>
              <a:spcBef>
                <a:spcPts val="0"/>
              </a:spcBef>
              <a:spcAft>
                <a:spcPts val="0"/>
              </a:spcAft>
              <a:defRPr sz="1500" b="0">
                <a:solidFill>
                  <a:srgbClr val="526472"/>
                </a:solidFill>
                <a:latin typeface="Arial"/>
              </a:defRPr>
            </a:pPr>
            <a:r>
              <a:t>Spot the errors • Find the first wrong step and correct the full calculation.</a:t>
            </a:r>
          </a:p>
        </p:txBody>
      </p:sp>
      <p:sp>
        <p:nvSpPr>
          <p:cNvPr id="5" name="TextBox 4"/>
          <p:cNvSpPr txBox="1"/>
          <p:nvPr/>
        </p:nvSpPr>
        <p:spPr>
          <a:xfrm>
            <a:off x="320040" y="7973568"/>
            <a:ext cx="10789920" cy="210312"/>
          </a:xfrm>
          <a:prstGeom prst="rect">
            <a:avLst/>
          </a:prstGeom>
          <a:noFill/>
        </p:spPr>
        <p:txBody>
          <a:bodyPr wrap="square" lIns="54864" rIns="54864" tIns="22860" bIns="22860">
            <a:spAutoFit/>
          </a:bodyPr>
          <a:lstStyle/>
          <a:p>
            <a:pPr>
              <a:lnSpc>
                <a:spcPts val="1155"/>
              </a:lnSpc>
              <a:spcBef>
                <a:spcPts val="0"/>
              </a:spcBef>
              <a:spcAft>
                <a:spcPts val="0"/>
              </a:spcAft>
              <a:defRPr sz="1100" b="0">
                <a:solidFill>
                  <a:srgbClr val="526472"/>
                </a:solidFill>
                <a:latin typeface="Arial"/>
              </a:defRPr>
            </a:pPr>
            <a:r>
              <a:t>GCSE Maths revision • No calculator • Show your working.</a:t>
            </a:r>
          </a:p>
        </p:txBody>
      </p:sp>
      <p:sp>
        <p:nvSpPr>
          <p:cNvPr id="6" name="TextBox 5"/>
          <p:cNvSpPr txBox="1"/>
          <p:nvPr/>
        </p:nvSpPr>
        <p:spPr>
          <a:xfrm>
            <a:off x="11155680" y="7973568"/>
            <a:ext cx="3108960" cy="210312"/>
          </a:xfrm>
          <a:prstGeom prst="rect">
            <a:avLst/>
          </a:prstGeom>
          <a:noFill/>
        </p:spPr>
        <p:txBody>
          <a:bodyPr wrap="square" lIns="54864" rIns="54864" tIns="22860" bIns="22860">
            <a:spAutoFit/>
          </a:bodyPr>
          <a:lstStyle/>
          <a:p>
            <a:pPr>
              <a:lnSpc>
                <a:spcPts val="1155"/>
              </a:lnSpc>
              <a:spcBef>
                <a:spcPts val="0"/>
              </a:spcBef>
              <a:spcAft>
                <a:spcPts val="0"/>
              </a:spcAft>
              <a:defRPr sz="1100" b="0">
                <a:solidFill>
                  <a:srgbClr val="526472"/>
                </a:solidFill>
                <a:latin typeface="Arial"/>
              </a:defRPr>
            </a:pPr>
            <a:r>
              <a:t>M15-SE</a:t>
            </a:r>
          </a:p>
        </p:txBody>
      </p:sp>
      <p:sp>
        <p:nvSpPr>
          <p:cNvPr id="7" name="Rectangle 6"/>
          <p:cNvSpPr/>
          <p:nvPr/>
        </p:nvSpPr>
        <p:spPr>
          <a:xfrm>
            <a:off x="320040" y="1115568"/>
            <a:ext cx="4640580" cy="420624"/>
          </a:xfrm>
          <a:prstGeom prst="rect">
            <a:avLst/>
          </a:prstGeom>
          <a:solidFill>
            <a:srgbClr val="176B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347472" y="1147572"/>
            <a:ext cx="4581144" cy="329184"/>
          </a:xfrm>
          <a:prstGeom prst="rect">
            <a:avLst/>
          </a:prstGeom>
          <a:noFill/>
        </p:spPr>
        <p:txBody>
          <a:bodyPr wrap="square" lIns="54864" rIns="54864" tIns="22860" bIns="22860">
            <a:spAutoFit/>
          </a:bodyPr>
          <a:lstStyle/>
          <a:p>
            <a:pPr>
              <a:lnSpc>
                <a:spcPts val="1995"/>
              </a:lnSpc>
              <a:spcBef>
                <a:spcPts val="0"/>
              </a:spcBef>
              <a:spcAft>
                <a:spcPts val="0"/>
              </a:spcAft>
              <a:defRPr sz="1900" b="1">
                <a:solidFill>
                  <a:srgbClr val="FFFFFF"/>
                </a:solidFill>
                <a:latin typeface="Arial"/>
              </a:defRPr>
            </a:pPr>
            <a:r>
              <a:t>Start</a:t>
            </a:r>
          </a:p>
        </p:txBody>
      </p:sp>
      <p:sp>
        <p:nvSpPr>
          <p:cNvPr id="9" name="Rectangle 8"/>
          <p:cNvSpPr/>
          <p:nvPr/>
        </p:nvSpPr>
        <p:spPr>
          <a:xfrm>
            <a:off x="4983480" y="1115568"/>
            <a:ext cx="4640580" cy="420624"/>
          </a:xfrm>
          <a:prstGeom prst="rect">
            <a:avLst/>
          </a:prstGeom>
          <a:solidFill>
            <a:srgbClr val="3559A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010912" y="1147572"/>
            <a:ext cx="4581144" cy="329184"/>
          </a:xfrm>
          <a:prstGeom prst="rect">
            <a:avLst/>
          </a:prstGeom>
          <a:noFill/>
        </p:spPr>
        <p:txBody>
          <a:bodyPr wrap="square" lIns="54864" rIns="54864" tIns="22860" bIns="22860">
            <a:spAutoFit/>
          </a:bodyPr>
          <a:lstStyle/>
          <a:p>
            <a:pPr>
              <a:lnSpc>
                <a:spcPts val="1995"/>
              </a:lnSpc>
              <a:spcBef>
                <a:spcPts val="0"/>
              </a:spcBef>
              <a:spcAft>
                <a:spcPts val="0"/>
              </a:spcAft>
              <a:defRPr sz="1900" b="1">
                <a:solidFill>
                  <a:srgbClr val="FFFFFF"/>
                </a:solidFill>
                <a:latin typeface="Arial"/>
              </a:defRPr>
            </a:pPr>
            <a:r>
              <a:t>Build</a:t>
            </a:r>
          </a:p>
        </p:txBody>
      </p:sp>
      <p:sp>
        <p:nvSpPr>
          <p:cNvPr id="11" name="Rectangle 10"/>
          <p:cNvSpPr/>
          <p:nvPr/>
        </p:nvSpPr>
        <p:spPr>
          <a:xfrm>
            <a:off x="9646920" y="1115568"/>
            <a:ext cx="4640580" cy="420624"/>
          </a:xfrm>
          <a:prstGeom prst="rect">
            <a:avLst/>
          </a:prstGeom>
          <a:solidFill>
            <a:srgbClr val="754B8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9674352" y="1147572"/>
            <a:ext cx="4581144" cy="329184"/>
          </a:xfrm>
          <a:prstGeom prst="rect">
            <a:avLst/>
          </a:prstGeom>
          <a:noFill/>
        </p:spPr>
        <p:txBody>
          <a:bodyPr wrap="square" lIns="54864" rIns="54864" tIns="22860" bIns="22860">
            <a:spAutoFit/>
          </a:bodyPr>
          <a:lstStyle/>
          <a:p>
            <a:pPr>
              <a:lnSpc>
                <a:spcPts val="1995"/>
              </a:lnSpc>
              <a:spcBef>
                <a:spcPts val="0"/>
              </a:spcBef>
              <a:spcAft>
                <a:spcPts val="0"/>
              </a:spcAft>
              <a:defRPr sz="1900" b="1">
                <a:solidFill>
                  <a:srgbClr val="FFFFFF"/>
                </a:solidFill>
                <a:latin typeface="Arial"/>
              </a:defRPr>
            </a:pPr>
            <a:r>
              <a:t>Confidence</a:t>
            </a:r>
          </a:p>
        </p:txBody>
      </p:sp>
      <p:sp>
        <p:nvSpPr>
          <p:cNvPr id="13" name="Rectangle 12"/>
          <p:cNvSpPr/>
          <p:nvPr/>
        </p:nvSpPr>
        <p:spPr>
          <a:xfrm>
            <a:off x="320040" y="1627632"/>
            <a:ext cx="4631436" cy="1975104"/>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11479" y="1755648"/>
            <a:ext cx="301752" cy="365760"/>
          </a:xfrm>
          <a:prstGeom prst="rect">
            <a:avLst/>
          </a:prstGeom>
          <a:noFill/>
        </p:spPr>
        <p:txBody>
          <a:bodyPr wrap="square" lIns="54864" rIns="54864" tIns="22860" bIns="22860">
            <a:spAutoFit/>
          </a:bodyPr>
          <a:lstStyle/>
          <a:p>
            <a:pPr>
              <a:lnSpc>
                <a:spcPts val="2205"/>
              </a:lnSpc>
              <a:spcBef>
                <a:spcPts val="0"/>
              </a:spcBef>
              <a:spcAft>
                <a:spcPts val="0"/>
              </a:spcAft>
              <a:defRPr sz="2100" b="1">
                <a:solidFill>
                  <a:srgbClr val="182B3A"/>
                </a:solidFill>
                <a:latin typeface="Arial"/>
              </a:defRPr>
            </a:pPr>
            <a:r>
              <a:t>1.</a:t>
            </a:r>
          </a:p>
        </p:txBody>
      </p:sp>
      <p:sp>
        <p:nvSpPr>
          <p:cNvPr id="15" name="TextBox 14"/>
          <p:cNvSpPr txBox="1"/>
          <p:nvPr/>
        </p:nvSpPr>
        <p:spPr>
          <a:xfrm>
            <a:off x="850392" y="1691640"/>
            <a:ext cx="230377" cy="256032"/>
          </a:xfrm>
          <a:prstGeom prst="rect">
            <a:avLst/>
          </a:prstGeom>
          <a:noFill/>
        </p:spPr>
        <p:txBody>
          <a:bodyPr wrap="none" lIns="0" rIns="0" tIns="0" bIns="0">
            <a:spAutoFit/>
          </a:bodyPr>
          <a:lstStyle/>
          <a:p>
            <a:pPr algn="ctr">
              <a:lnSpc>
                <a:spcPts val="1904"/>
              </a:lnSpc>
              <a:spcAft>
                <a:spcPts val="0"/>
              </a:spcAft>
              <a:defRPr sz="1700" b="0">
                <a:solidFill>
                  <a:srgbClr val="182B3A"/>
                </a:solidFill>
                <a:latin typeface="Arial"/>
              </a:defRPr>
            </a:pPr>
            <a:r>
              <a:t>2</a:t>
            </a:r>
          </a:p>
        </p:txBody>
      </p:sp>
      <p:cxnSp>
        <p:nvCxnSpPr>
          <p:cNvPr id="16" name="Connector 15"/>
          <p:cNvCxnSpPr/>
          <p:nvPr/>
        </p:nvCxnSpPr>
        <p:spPr>
          <a:xfrm>
            <a:off x="850392" y="1956816"/>
            <a:ext cx="230378" cy="0"/>
          </a:xfrm>
          <a:prstGeom prst="line">
            <a:avLst/>
          </a:prstGeom>
          <a:ln w="12700">
            <a:solidFill>
              <a:srgbClr val="182B3A"/>
            </a:solidFill>
          </a:ln>
          <a:effectLst/>
        </p:spPr>
        <p:style>
          <a:lnRef idx="2">
            <a:schemeClr val="accent1"/>
          </a:lnRef>
          <a:fillRef idx="0">
            <a:schemeClr val="accent1"/>
          </a:fillRef>
          <a:effectRef idx="1">
            <a:schemeClr val="accent1"/>
          </a:effectRef>
          <a:fontRef idx="minor">
            <a:schemeClr val="tx1"/>
          </a:fontRef>
        </p:style>
      </p:cxnSp>
      <p:sp>
        <p:nvSpPr>
          <p:cNvPr id="17" name="TextBox 16"/>
          <p:cNvSpPr txBox="1"/>
          <p:nvPr/>
        </p:nvSpPr>
        <p:spPr>
          <a:xfrm>
            <a:off x="850392" y="1975104"/>
            <a:ext cx="230377" cy="256032"/>
          </a:xfrm>
          <a:prstGeom prst="rect">
            <a:avLst/>
          </a:prstGeom>
          <a:noFill/>
        </p:spPr>
        <p:txBody>
          <a:bodyPr wrap="none" lIns="0" rIns="0" tIns="0" bIns="0">
            <a:spAutoFit/>
          </a:bodyPr>
          <a:lstStyle/>
          <a:p>
            <a:pPr algn="ctr">
              <a:lnSpc>
                <a:spcPts val="1904"/>
              </a:lnSpc>
              <a:spcAft>
                <a:spcPts val="0"/>
              </a:spcAft>
              <a:defRPr sz="1700" b="0">
                <a:solidFill>
                  <a:srgbClr val="182B3A"/>
                </a:solidFill>
                <a:latin typeface="Arial"/>
              </a:defRPr>
            </a:pPr>
            <a:r>
              <a:t>7</a:t>
            </a:r>
          </a:p>
        </p:txBody>
      </p:sp>
      <p:sp>
        <p:nvSpPr>
          <p:cNvPr id="18" name="TextBox 17"/>
          <p:cNvSpPr txBox="1"/>
          <p:nvPr/>
        </p:nvSpPr>
        <p:spPr>
          <a:xfrm>
            <a:off x="1135634" y="1810512"/>
            <a:ext cx="341757" cy="347472"/>
          </a:xfrm>
          <a:prstGeom prst="rect">
            <a:avLst/>
          </a:prstGeom>
          <a:noFill/>
        </p:spPr>
        <p:txBody>
          <a:bodyPr wrap="none" lIns="0" rIns="0" tIns="0" bIns="0">
            <a:spAutoFit/>
          </a:bodyPr>
          <a:lstStyle/>
          <a:p>
            <a:pPr algn="l">
              <a:lnSpc>
                <a:spcPts val="2464"/>
              </a:lnSpc>
              <a:spcAft>
                <a:spcPts val="0"/>
              </a:spcAft>
              <a:defRPr sz="2200" b="0">
                <a:solidFill>
                  <a:srgbClr val="182B3A"/>
                </a:solidFill>
                <a:latin typeface="Arial"/>
              </a:defRPr>
            </a:pPr>
            <a:r>
              <a:t> + </a:t>
            </a:r>
          </a:p>
        </p:txBody>
      </p:sp>
      <p:sp>
        <p:nvSpPr>
          <p:cNvPr id="19" name="TextBox 18"/>
          <p:cNvSpPr txBox="1"/>
          <p:nvPr/>
        </p:nvSpPr>
        <p:spPr>
          <a:xfrm>
            <a:off x="1477391" y="1691640"/>
            <a:ext cx="230377" cy="256032"/>
          </a:xfrm>
          <a:prstGeom prst="rect">
            <a:avLst/>
          </a:prstGeom>
          <a:noFill/>
        </p:spPr>
        <p:txBody>
          <a:bodyPr wrap="none" lIns="0" rIns="0" tIns="0" bIns="0">
            <a:spAutoFit/>
          </a:bodyPr>
          <a:lstStyle/>
          <a:p>
            <a:pPr algn="ctr">
              <a:lnSpc>
                <a:spcPts val="1904"/>
              </a:lnSpc>
              <a:spcAft>
                <a:spcPts val="0"/>
              </a:spcAft>
              <a:defRPr sz="1700" b="0">
                <a:solidFill>
                  <a:srgbClr val="182B3A"/>
                </a:solidFill>
                <a:latin typeface="Arial"/>
              </a:defRPr>
            </a:pPr>
            <a:r>
              <a:t>3</a:t>
            </a:r>
          </a:p>
        </p:txBody>
      </p:sp>
      <p:cxnSp>
        <p:nvCxnSpPr>
          <p:cNvPr id="20" name="Connector 19"/>
          <p:cNvCxnSpPr/>
          <p:nvPr/>
        </p:nvCxnSpPr>
        <p:spPr>
          <a:xfrm>
            <a:off x="1477391" y="1956816"/>
            <a:ext cx="230378" cy="0"/>
          </a:xfrm>
          <a:prstGeom prst="line">
            <a:avLst/>
          </a:prstGeom>
          <a:ln w="12700">
            <a:solidFill>
              <a:srgbClr val="182B3A"/>
            </a:solidFill>
          </a:ln>
          <a:effectLst/>
        </p:spPr>
        <p:style>
          <a:lnRef idx="2">
            <a:schemeClr val="accent1"/>
          </a:lnRef>
          <a:fillRef idx="0">
            <a:schemeClr val="accent1"/>
          </a:fillRef>
          <a:effectRef idx="1">
            <a:schemeClr val="accent1"/>
          </a:effectRef>
          <a:fontRef idx="minor">
            <a:schemeClr val="tx1"/>
          </a:fontRef>
        </p:style>
      </p:cxnSp>
      <p:sp>
        <p:nvSpPr>
          <p:cNvPr id="21" name="TextBox 20"/>
          <p:cNvSpPr txBox="1"/>
          <p:nvPr/>
        </p:nvSpPr>
        <p:spPr>
          <a:xfrm>
            <a:off x="1477391" y="1975104"/>
            <a:ext cx="230377" cy="256032"/>
          </a:xfrm>
          <a:prstGeom prst="rect">
            <a:avLst/>
          </a:prstGeom>
          <a:noFill/>
        </p:spPr>
        <p:txBody>
          <a:bodyPr wrap="none" lIns="0" rIns="0" tIns="0" bIns="0">
            <a:spAutoFit/>
          </a:bodyPr>
          <a:lstStyle/>
          <a:p>
            <a:pPr algn="ctr">
              <a:lnSpc>
                <a:spcPts val="1904"/>
              </a:lnSpc>
              <a:spcAft>
                <a:spcPts val="0"/>
              </a:spcAft>
              <a:defRPr sz="1700" b="0">
                <a:solidFill>
                  <a:srgbClr val="182B3A"/>
                </a:solidFill>
                <a:latin typeface="Arial"/>
              </a:defRPr>
            </a:pPr>
            <a:r>
              <a:t>7</a:t>
            </a:r>
          </a:p>
        </p:txBody>
      </p:sp>
      <p:sp>
        <p:nvSpPr>
          <p:cNvPr id="22" name="TextBox 21"/>
          <p:cNvSpPr txBox="1"/>
          <p:nvPr/>
        </p:nvSpPr>
        <p:spPr>
          <a:xfrm>
            <a:off x="850392" y="2258568"/>
            <a:ext cx="265557" cy="347472"/>
          </a:xfrm>
          <a:prstGeom prst="rect">
            <a:avLst/>
          </a:prstGeom>
          <a:noFill/>
        </p:spPr>
        <p:txBody>
          <a:bodyPr wrap="none" lIns="0" rIns="0" tIns="0" bIns="0">
            <a:spAutoFit/>
          </a:bodyPr>
          <a:lstStyle/>
          <a:p>
            <a:pPr algn="l">
              <a:lnSpc>
                <a:spcPts val="2464"/>
              </a:lnSpc>
              <a:spcAft>
                <a:spcPts val="0"/>
              </a:spcAft>
              <a:defRPr sz="2200" b="0">
                <a:solidFill>
                  <a:srgbClr val="182B3A"/>
                </a:solidFill>
                <a:latin typeface="Arial"/>
              </a:defRPr>
            </a:pPr>
            <a:r>
              <a:t>= </a:t>
            </a:r>
          </a:p>
        </p:txBody>
      </p:sp>
      <p:sp>
        <p:nvSpPr>
          <p:cNvPr id="23" name="TextBox 22"/>
          <p:cNvSpPr txBox="1"/>
          <p:nvPr/>
        </p:nvSpPr>
        <p:spPr>
          <a:xfrm>
            <a:off x="1115949" y="2139696"/>
            <a:ext cx="351028" cy="256032"/>
          </a:xfrm>
          <a:prstGeom prst="rect">
            <a:avLst/>
          </a:prstGeom>
          <a:noFill/>
        </p:spPr>
        <p:txBody>
          <a:bodyPr wrap="none" lIns="0" rIns="0" tIns="0" bIns="0">
            <a:spAutoFit/>
          </a:bodyPr>
          <a:lstStyle/>
          <a:p>
            <a:pPr algn="ctr">
              <a:lnSpc>
                <a:spcPts val="1904"/>
              </a:lnSpc>
              <a:spcAft>
                <a:spcPts val="0"/>
              </a:spcAft>
              <a:defRPr sz="1700" b="0">
                <a:solidFill>
                  <a:srgbClr val="182B3A"/>
                </a:solidFill>
                <a:latin typeface="Arial"/>
              </a:defRPr>
            </a:pPr>
            <a:r>
              <a:t>5</a:t>
            </a:r>
          </a:p>
        </p:txBody>
      </p:sp>
      <p:cxnSp>
        <p:nvCxnSpPr>
          <p:cNvPr id="24" name="Connector 23"/>
          <p:cNvCxnSpPr/>
          <p:nvPr/>
        </p:nvCxnSpPr>
        <p:spPr>
          <a:xfrm>
            <a:off x="1115949" y="2404872"/>
            <a:ext cx="351028" cy="0"/>
          </a:xfrm>
          <a:prstGeom prst="line">
            <a:avLst/>
          </a:prstGeom>
          <a:ln w="12700">
            <a:solidFill>
              <a:srgbClr val="182B3A"/>
            </a:solidFill>
          </a:ln>
          <a:effectLst/>
        </p:spPr>
        <p:style>
          <a:lnRef idx="2">
            <a:schemeClr val="accent1"/>
          </a:lnRef>
          <a:fillRef idx="0">
            <a:schemeClr val="accent1"/>
          </a:fillRef>
          <a:effectRef idx="1">
            <a:schemeClr val="accent1"/>
          </a:effectRef>
          <a:fontRef idx="minor">
            <a:schemeClr val="tx1"/>
          </a:fontRef>
        </p:style>
      </p:cxnSp>
      <p:sp>
        <p:nvSpPr>
          <p:cNvPr id="25" name="TextBox 24"/>
          <p:cNvSpPr txBox="1"/>
          <p:nvPr/>
        </p:nvSpPr>
        <p:spPr>
          <a:xfrm>
            <a:off x="1115949" y="2423160"/>
            <a:ext cx="351028" cy="256032"/>
          </a:xfrm>
          <a:prstGeom prst="rect">
            <a:avLst/>
          </a:prstGeom>
          <a:noFill/>
        </p:spPr>
        <p:txBody>
          <a:bodyPr wrap="none" lIns="0" rIns="0" tIns="0" bIns="0">
            <a:spAutoFit/>
          </a:bodyPr>
          <a:lstStyle/>
          <a:p>
            <a:pPr algn="ctr">
              <a:lnSpc>
                <a:spcPts val="1904"/>
              </a:lnSpc>
              <a:spcAft>
                <a:spcPts val="0"/>
              </a:spcAft>
              <a:defRPr sz="1700" b="0">
                <a:solidFill>
                  <a:srgbClr val="182B3A"/>
                </a:solidFill>
                <a:latin typeface="Arial"/>
              </a:defRPr>
            </a:pPr>
            <a:r>
              <a:t>14</a:t>
            </a:r>
          </a:p>
        </p:txBody>
      </p:sp>
      <p:sp>
        <p:nvSpPr>
          <p:cNvPr id="26" name="Rectangle 25"/>
          <p:cNvSpPr/>
          <p:nvPr/>
        </p:nvSpPr>
        <p:spPr>
          <a:xfrm>
            <a:off x="320040" y="3666744"/>
            <a:ext cx="4631436" cy="1975104"/>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411479" y="3794759"/>
            <a:ext cx="301752" cy="365760"/>
          </a:xfrm>
          <a:prstGeom prst="rect">
            <a:avLst/>
          </a:prstGeom>
          <a:noFill/>
        </p:spPr>
        <p:txBody>
          <a:bodyPr wrap="square" lIns="54864" rIns="54864" tIns="22860" bIns="22860">
            <a:spAutoFit/>
          </a:bodyPr>
          <a:lstStyle/>
          <a:p>
            <a:pPr>
              <a:lnSpc>
                <a:spcPts val="2205"/>
              </a:lnSpc>
              <a:spcBef>
                <a:spcPts val="0"/>
              </a:spcBef>
              <a:spcAft>
                <a:spcPts val="0"/>
              </a:spcAft>
              <a:defRPr sz="2100" b="1">
                <a:solidFill>
                  <a:srgbClr val="182B3A"/>
                </a:solidFill>
                <a:latin typeface="Arial"/>
              </a:defRPr>
            </a:pPr>
            <a:r>
              <a:t>2.</a:t>
            </a:r>
          </a:p>
        </p:txBody>
      </p:sp>
      <p:sp>
        <p:nvSpPr>
          <p:cNvPr id="28" name="TextBox 27"/>
          <p:cNvSpPr txBox="1"/>
          <p:nvPr/>
        </p:nvSpPr>
        <p:spPr>
          <a:xfrm>
            <a:off x="850392" y="3730752"/>
            <a:ext cx="350779" cy="256032"/>
          </a:xfrm>
          <a:prstGeom prst="rect">
            <a:avLst/>
          </a:prstGeom>
          <a:noFill/>
        </p:spPr>
        <p:txBody>
          <a:bodyPr wrap="none" lIns="0" rIns="0" tIns="0" bIns="0">
            <a:spAutoFit/>
          </a:bodyPr>
          <a:lstStyle/>
          <a:p>
            <a:pPr algn="ctr">
              <a:lnSpc>
                <a:spcPts val="1904"/>
              </a:lnSpc>
              <a:spcAft>
                <a:spcPts val="0"/>
              </a:spcAft>
              <a:defRPr sz="1700" b="0">
                <a:solidFill>
                  <a:srgbClr val="182B3A"/>
                </a:solidFill>
                <a:latin typeface="Arial"/>
              </a:defRPr>
            </a:pPr>
            <a:r>
              <a:t>9</a:t>
            </a:r>
          </a:p>
        </p:txBody>
      </p:sp>
      <p:cxnSp>
        <p:nvCxnSpPr>
          <p:cNvPr id="29" name="Connector 28"/>
          <p:cNvCxnSpPr/>
          <p:nvPr/>
        </p:nvCxnSpPr>
        <p:spPr>
          <a:xfrm>
            <a:off x="850392" y="3995928"/>
            <a:ext cx="350779" cy="0"/>
          </a:xfrm>
          <a:prstGeom prst="line">
            <a:avLst/>
          </a:prstGeom>
          <a:ln w="12700">
            <a:solidFill>
              <a:srgbClr val="182B3A"/>
            </a:solidFill>
          </a:ln>
          <a:effectLst/>
        </p:spPr>
        <p:style>
          <a:lnRef idx="2">
            <a:schemeClr val="accent1"/>
          </a:lnRef>
          <a:fillRef idx="0">
            <a:schemeClr val="accent1"/>
          </a:fillRef>
          <a:effectRef idx="1">
            <a:schemeClr val="accent1"/>
          </a:effectRef>
          <a:fontRef idx="minor">
            <a:schemeClr val="tx1"/>
          </a:fontRef>
        </p:style>
      </p:cxnSp>
      <p:sp>
        <p:nvSpPr>
          <p:cNvPr id="30" name="TextBox 29"/>
          <p:cNvSpPr txBox="1"/>
          <p:nvPr/>
        </p:nvSpPr>
        <p:spPr>
          <a:xfrm>
            <a:off x="850392" y="4014215"/>
            <a:ext cx="350779" cy="256032"/>
          </a:xfrm>
          <a:prstGeom prst="rect">
            <a:avLst/>
          </a:prstGeom>
          <a:noFill/>
        </p:spPr>
        <p:txBody>
          <a:bodyPr wrap="none" lIns="0" rIns="0" tIns="0" bIns="0">
            <a:spAutoFit/>
          </a:bodyPr>
          <a:lstStyle/>
          <a:p>
            <a:pPr algn="ctr">
              <a:lnSpc>
                <a:spcPts val="1904"/>
              </a:lnSpc>
              <a:spcAft>
                <a:spcPts val="0"/>
              </a:spcAft>
              <a:defRPr sz="1700" b="0">
                <a:solidFill>
                  <a:srgbClr val="182B3A"/>
                </a:solidFill>
                <a:latin typeface="Arial"/>
              </a:defRPr>
            </a:pPr>
            <a:r>
              <a:t>11</a:t>
            </a:r>
          </a:p>
        </p:txBody>
      </p:sp>
      <p:sp>
        <p:nvSpPr>
          <p:cNvPr id="31" name="TextBox 30"/>
          <p:cNvSpPr txBox="1"/>
          <p:nvPr/>
        </p:nvSpPr>
        <p:spPr>
          <a:xfrm>
            <a:off x="1256035" y="3849624"/>
            <a:ext cx="341757" cy="347472"/>
          </a:xfrm>
          <a:prstGeom prst="rect">
            <a:avLst/>
          </a:prstGeom>
          <a:noFill/>
        </p:spPr>
        <p:txBody>
          <a:bodyPr wrap="none" lIns="0" rIns="0" tIns="0" bIns="0">
            <a:spAutoFit/>
          </a:bodyPr>
          <a:lstStyle/>
          <a:p>
            <a:pPr algn="l">
              <a:lnSpc>
                <a:spcPts val="2464"/>
              </a:lnSpc>
              <a:spcAft>
                <a:spcPts val="0"/>
              </a:spcAft>
              <a:defRPr sz="2200" b="0">
                <a:solidFill>
                  <a:srgbClr val="182B3A"/>
                </a:solidFill>
                <a:latin typeface="Arial"/>
              </a:defRPr>
            </a:pPr>
            <a:r>
              <a:t> − </a:t>
            </a:r>
          </a:p>
        </p:txBody>
      </p:sp>
      <p:sp>
        <p:nvSpPr>
          <p:cNvPr id="32" name="TextBox 31"/>
          <p:cNvSpPr txBox="1"/>
          <p:nvPr/>
        </p:nvSpPr>
        <p:spPr>
          <a:xfrm>
            <a:off x="1597792" y="3730752"/>
            <a:ext cx="350779" cy="256032"/>
          </a:xfrm>
          <a:prstGeom prst="rect">
            <a:avLst/>
          </a:prstGeom>
          <a:noFill/>
        </p:spPr>
        <p:txBody>
          <a:bodyPr wrap="none" lIns="0" rIns="0" tIns="0" bIns="0">
            <a:spAutoFit/>
          </a:bodyPr>
          <a:lstStyle/>
          <a:p>
            <a:pPr algn="ctr">
              <a:lnSpc>
                <a:spcPts val="1904"/>
              </a:lnSpc>
              <a:spcAft>
                <a:spcPts val="0"/>
              </a:spcAft>
              <a:defRPr sz="1700" b="0">
                <a:solidFill>
                  <a:srgbClr val="182B3A"/>
                </a:solidFill>
                <a:latin typeface="Arial"/>
              </a:defRPr>
            </a:pPr>
            <a:r>
              <a:t>2</a:t>
            </a:r>
          </a:p>
        </p:txBody>
      </p:sp>
      <p:cxnSp>
        <p:nvCxnSpPr>
          <p:cNvPr id="33" name="Connector 32"/>
          <p:cNvCxnSpPr/>
          <p:nvPr/>
        </p:nvCxnSpPr>
        <p:spPr>
          <a:xfrm>
            <a:off x="1597792" y="3995928"/>
            <a:ext cx="350780" cy="0"/>
          </a:xfrm>
          <a:prstGeom prst="line">
            <a:avLst/>
          </a:prstGeom>
          <a:ln w="12700">
            <a:solidFill>
              <a:srgbClr val="182B3A"/>
            </a:solidFill>
          </a:ln>
          <a:effectLst/>
        </p:spPr>
        <p:style>
          <a:lnRef idx="2">
            <a:schemeClr val="accent1"/>
          </a:lnRef>
          <a:fillRef idx="0">
            <a:schemeClr val="accent1"/>
          </a:fillRef>
          <a:effectRef idx="1">
            <a:schemeClr val="accent1"/>
          </a:effectRef>
          <a:fontRef idx="minor">
            <a:schemeClr val="tx1"/>
          </a:fontRef>
        </p:style>
      </p:cxnSp>
      <p:sp>
        <p:nvSpPr>
          <p:cNvPr id="34" name="TextBox 33"/>
          <p:cNvSpPr txBox="1"/>
          <p:nvPr/>
        </p:nvSpPr>
        <p:spPr>
          <a:xfrm>
            <a:off x="1597792" y="4014215"/>
            <a:ext cx="350779" cy="256032"/>
          </a:xfrm>
          <a:prstGeom prst="rect">
            <a:avLst/>
          </a:prstGeom>
          <a:noFill/>
        </p:spPr>
        <p:txBody>
          <a:bodyPr wrap="none" lIns="0" rIns="0" tIns="0" bIns="0">
            <a:spAutoFit/>
          </a:bodyPr>
          <a:lstStyle/>
          <a:p>
            <a:pPr algn="ctr">
              <a:lnSpc>
                <a:spcPts val="1904"/>
              </a:lnSpc>
              <a:spcAft>
                <a:spcPts val="0"/>
              </a:spcAft>
              <a:defRPr sz="1700" b="0">
                <a:solidFill>
                  <a:srgbClr val="182B3A"/>
                </a:solidFill>
                <a:latin typeface="Arial"/>
              </a:defRPr>
            </a:pPr>
            <a:r>
              <a:t>11</a:t>
            </a:r>
          </a:p>
        </p:txBody>
      </p:sp>
      <p:sp>
        <p:nvSpPr>
          <p:cNvPr id="35" name="TextBox 34"/>
          <p:cNvSpPr txBox="1"/>
          <p:nvPr/>
        </p:nvSpPr>
        <p:spPr>
          <a:xfrm>
            <a:off x="850392" y="4297680"/>
            <a:ext cx="265557" cy="347472"/>
          </a:xfrm>
          <a:prstGeom prst="rect">
            <a:avLst/>
          </a:prstGeom>
          <a:noFill/>
        </p:spPr>
        <p:txBody>
          <a:bodyPr wrap="none" lIns="0" rIns="0" tIns="0" bIns="0">
            <a:spAutoFit/>
          </a:bodyPr>
          <a:lstStyle/>
          <a:p>
            <a:pPr algn="l">
              <a:lnSpc>
                <a:spcPts val="2464"/>
              </a:lnSpc>
              <a:spcAft>
                <a:spcPts val="0"/>
              </a:spcAft>
              <a:defRPr sz="2200" b="0">
                <a:solidFill>
                  <a:srgbClr val="182B3A"/>
                </a:solidFill>
                <a:latin typeface="Arial"/>
              </a:defRPr>
            </a:pPr>
            <a:r>
              <a:t>= </a:t>
            </a:r>
          </a:p>
        </p:txBody>
      </p:sp>
      <p:sp>
        <p:nvSpPr>
          <p:cNvPr id="36" name="TextBox 35"/>
          <p:cNvSpPr txBox="1"/>
          <p:nvPr/>
        </p:nvSpPr>
        <p:spPr>
          <a:xfrm>
            <a:off x="1115949" y="4178808"/>
            <a:ext cx="350779" cy="256032"/>
          </a:xfrm>
          <a:prstGeom prst="rect">
            <a:avLst/>
          </a:prstGeom>
          <a:noFill/>
        </p:spPr>
        <p:txBody>
          <a:bodyPr wrap="none" lIns="0" rIns="0" tIns="0" bIns="0">
            <a:spAutoFit/>
          </a:bodyPr>
          <a:lstStyle/>
          <a:p>
            <a:pPr algn="ctr">
              <a:lnSpc>
                <a:spcPts val="1904"/>
              </a:lnSpc>
              <a:spcAft>
                <a:spcPts val="0"/>
              </a:spcAft>
              <a:defRPr sz="1700" b="0">
                <a:solidFill>
                  <a:srgbClr val="182B3A"/>
                </a:solidFill>
                <a:latin typeface="Arial"/>
              </a:defRPr>
            </a:pPr>
            <a:r>
              <a:t>11</a:t>
            </a:r>
          </a:p>
        </p:txBody>
      </p:sp>
      <p:cxnSp>
        <p:nvCxnSpPr>
          <p:cNvPr id="37" name="Connector 36"/>
          <p:cNvCxnSpPr/>
          <p:nvPr/>
        </p:nvCxnSpPr>
        <p:spPr>
          <a:xfrm>
            <a:off x="1115949" y="4443984"/>
            <a:ext cx="350779" cy="0"/>
          </a:xfrm>
          <a:prstGeom prst="line">
            <a:avLst/>
          </a:prstGeom>
          <a:ln w="12700">
            <a:solidFill>
              <a:srgbClr val="182B3A"/>
            </a:solidFill>
          </a:ln>
          <a:effectLst/>
        </p:spPr>
        <p:style>
          <a:lnRef idx="2">
            <a:schemeClr val="accent1"/>
          </a:lnRef>
          <a:fillRef idx="0">
            <a:schemeClr val="accent1"/>
          </a:fillRef>
          <a:effectRef idx="1">
            <a:schemeClr val="accent1"/>
          </a:effectRef>
          <a:fontRef idx="minor">
            <a:schemeClr val="tx1"/>
          </a:fontRef>
        </p:style>
      </p:cxnSp>
      <p:sp>
        <p:nvSpPr>
          <p:cNvPr id="38" name="TextBox 37"/>
          <p:cNvSpPr txBox="1"/>
          <p:nvPr/>
        </p:nvSpPr>
        <p:spPr>
          <a:xfrm>
            <a:off x="1115949" y="4462272"/>
            <a:ext cx="350779" cy="256032"/>
          </a:xfrm>
          <a:prstGeom prst="rect">
            <a:avLst/>
          </a:prstGeom>
          <a:noFill/>
        </p:spPr>
        <p:txBody>
          <a:bodyPr wrap="none" lIns="0" rIns="0" tIns="0" bIns="0">
            <a:spAutoFit/>
          </a:bodyPr>
          <a:lstStyle/>
          <a:p>
            <a:pPr algn="ctr">
              <a:lnSpc>
                <a:spcPts val="1904"/>
              </a:lnSpc>
              <a:spcAft>
                <a:spcPts val="0"/>
              </a:spcAft>
              <a:defRPr sz="1700" b="0">
                <a:solidFill>
                  <a:srgbClr val="182B3A"/>
                </a:solidFill>
                <a:latin typeface="Arial"/>
              </a:defRPr>
            </a:pPr>
            <a:r>
              <a:t>11</a:t>
            </a:r>
          </a:p>
        </p:txBody>
      </p:sp>
      <p:sp>
        <p:nvSpPr>
          <p:cNvPr id="39" name="TextBox 38"/>
          <p:cNvSpPr txBox="1"/>
          <p:nvPr/>
        </p:nvSpPr>
        <p:spPr>
          <a:xfrm>
            <a:off x="850392" y="4745736"/>
            <a:ext cx="421132" cy="347472"/>
          </a:xfrm>
          <a:prstGeom prst="rect">
            <a:avLst/>
          </a:prstGeom>
          <a:noFill/>
        </p:spPr>
        <p:txBody>
          <a:bodyPr wrap="none" lIns="0" rIns="0" tIns="0" bIns="0">
            <a:spAutoFit/>
          </a:bodyPr>
          <a:lstStyle/>
          <a:p>
            <a:pPr algn="l">
              <a:lnSpc>
                <a:spcPts val="2464"/>
              </a:lnSpc>
              <a:spcAft>
                <a:spcPts val="0"/>
              </a:spcAft>
              <a:defRPr sz="2200" b="0">
                <a:solidFill>
                  <a:srgbClr val="182B3A"/>
                </a:solidFill>
                <a:latin typeface="Arial"/>
              </a:defRPr>
            </a:pPr>
            <a:r>
              <a:t>= 1</a:t>
            </a:r>
          </a:p>
        </p:txBody>
      </p:sp>
      <p:sp>
        <p:nvSpPr>
          <p:cNvPr id="40" name="Rectangle 39"/>
          <p:cNvSpPr/>
          <p:nvPr/>
        </p:nvSpPr>
        <p:spPr>
          <a:xfrm>
            <a:off x="320040" y="5705856"/>
            <a:ext cx="4631436" cy="1975104"/>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411479" y="5833872"/>
            <a:ext cx="301752" cy="365760"/>
          </a:xfrm>
          <a:prstGeom prst="rect">
            <a:avLst/>
          </a:prstGeom>
          <a:noFill/>
        </p:spPr>
        <p:txBody>
          <a:bodyPr wrap="square" lIns="54864" rIns="54864" tIns="22860" bIns="22860">
            <a:spAutoFit/>
          </a:bodyPr>
          <a:lstStyle/>
          <a:p>
            <a:pPr>
              <a:lnSpc>
                <a:spcPts val="2205"/>
              </a:lnSpc>
              <a:spcBef>
                <a:spcPts val="0"/>
              </a:spcBef>
              <a:spcAft>
                <a:spcPts val="0"/>
              </a:spcAft>
              <a:defRPr sz="2100" b="1">
                <a:solidFill>
                  <a:srgbClr val="182B3A"/>
                </a:solidFill>
                <a:latin typeface="Arial"/>
              </a:defRPr>
            </a:pPr>
            <a:r>
              <a:t>3.</a:t>
            </a:r>
          </a:p>
        </p:txBody>
      </p:sp>
      <p:sp>
        <p:nvSpPr>
          <p:cNvPr id="42" name="TextBox 41"/>
          <p:cNvSpPr txBox="1"/>
          <p:nvPr/>
        </p:nvSpPr>
        <p:spPr>
          <a:xfrm>
            <a:off x="850392" y="5769864"/>
            <a:ext cx="351028" cy="256032"/>
          </a:xfrm>
          <a:prstGeom prst="rect">
            <a:avLst/>
          </a:prstGeom>
          <a:noFill/>
        </p:spPr>
        <p:txBody>
          <a:bodyPr wrap="none" lIns="0" rIns="0" tIns="0" bIns="0">
            <a:spAutoFit/>
          </a:bodyPr>
          <a:lstStyle/>
          <a:p>
            <a:pPr algn="ctr">
              <a:lnSpc>
                <a:spcPts val="1904"/>
              </a:lnSpc>
              <a:spcAft>
                <a:spcPts val="0"/>
              </a:spcAft>
              <a:defRPr sz="1700" b="0">
                <a:solidFill>
                  <a:srgbClr val="182B3A"/>
                </a:solidFill>
                <a:latin typeface="Arial"/>
              </a:defRPr>
            </a:pPr>
            <a:r>
              <a:t>5</a:t>
            </a:r>
          </a:p>
        </p:txBody>
      </p:sp>
      <p:cxnSp>
        <p:nvCxnSpPr>
          <p:cNvPr id="43" name="Connector 42"/>
          <p:cNvCxnSpPr/>
          <p:nvPr/>
        </p:nvCxnSpPr>
        <p:spPr>
          <a:xfrm>
            <a:off x="850392" y="6035040"/>
            <a:ext cx="351028" cy="0"/>
          </a:xfrm>
          <a:prstGeom prst="line">
            <a:avLst/>
          </a:prstGeom>
          <a:ln w="12700">
            <a:solidFill>
              <a:srgbClr val="182B3A"/>
            </a:solidFill>
          </a:ln>
          <a:effectLst/>
        </p:spPr>
        <p:style>
          <a:lnRef idx="2">
            <a:schemeClr val="accent1"/>
          </a:lnRef>
          <a:fillRef idx="0">
            <a:schemeClr val="accent1"/>
          </a:fillRef>
          <a:effectRef idx="1">
            <a:schemeClr val="accent1"/>
          </a:effectRef>
          <a:fontRef idx="minor">
            <a:schemeClr val="tx1"/>
          </a:fontRef>
        </p:style>
      </p:cxnSp>
      <p:sp>
        <p:nvSpPr>
          <p:cNvPr id="44" name="TextBox 43"/>
          <p:cNvSpPr txBox="1"/>
          <p:nvPr/>
        </p:nvSpPr>
        <p:spPr>
          <a:xfrm>
            <a:off x="850392" y="6053328"/>
            <a:ext cx="351028" cy="256032"/>
          </a:xfrm>
          <a:prstGeom prst="rect">
            <a:avLst/>
          </a:prstGeom>
          <a:noFill/>
        </p:spPr>
        <p:txBody>
          <a:bodyPr wrap="none" lIns="0" rIns="0" tIns="0" bIns="0">
            <a:spAutoFit/>
          </a:bodyPr>
          <a:lstStyle/>
          <a:p>
            <a:pPr algn="ctr">
              <a:lnSpc>
                <a:spcPts val="1904"/>
              </a:lnSpc>
              <a:spcAft>
                <a:spcPts val="0"/>
              </a:spcAft>
              <a:defRPr sz="1700" b="0">
                <a:solidFill>
                  <a:srgbClr val="182B3A"/>
                </a:solidFill>
                <a:latin typeface="Arial"/>
              </a:defRPr>
            </a:pPr>
            <a:r>
              <a:t>12</a:t>
            </a:r>
          </a:p>
        </p:txBody>
      </p:sp>
      <p:sp>
        <p:nvSpPr>
          <p:cNvPr id="45" name="TextBox 44"/>
          <p:cNvSpPr txBox="1"/>
          <p:nvPr/>
        </p:nvSpPr>
        <p:spPr>
          <a:xfrm>
            <a:off x="1256283" y="5888736"/>
            <a:ext cx="341757" cy="347472"/>
          </a:xfrm>
          <a:prstGeom prst="rect">
            <a:avLst/>
          </a:prstGeom>
          <a:noFill/>
        </p:spPr>
        <p:txBody>
          <a:bodyPr wrap="none" lIns="0" rIns="0" tIns="0" bIns="0">
            <a:spAutoFit/>
          </a:bodyPr>
          <a:lstStyle/>
          <a:p>
            <a:pPr algn="l">
              <a:lnSpc>
                <a:spcPts val="2464"/>
              </a:lnSpc>
              <a:spcAft>
                <a:spcPts val="0"/>
              </a:spcAft>
              <a:defRPr sz="2200" b="0">
                <a:solidFill>
                  <a:srgbClr val="182B3A"/>
                </a:solidFill>
                <a:latin typeface="Arial"/>
              </a:defRPr>
            </a:pPr>
            <a:r>
              <a:t> + </a:t>
            </a:r>
          </a:p>
        </p:txBody>
      </p:sp>
      <p:sp>
        <p:nvSpPr>
          <p:cNvPr id="46" name="TextBox 45"/>
          <p:cNvSpPr txBox="1"/>
          <p:nvPr/>
        </p:nvSpPr>
        <p:spPr>
          <a:xfrm>
            <a:off x="1598041" y="5769864"/>
            <a:ext cx="351028" cy="256032"/>
          </a:xfrm>
          <a:prstGeom prst="rect">
            <a:avLst/>
          </a:prstGeom>
          <a:noFill/>
        </p:spPr>
        <p:txBody>
          <a:bodyPr wrap="none" lIns="0" rIns="0" tIns="0" bIns="0">
            <a:spAutoFit/>
          </a:bodyPr>
          <a:lstStyle/>
          <a:p>
            <a:pPr algn="ctr">
              <a:lnSpc>
                <a:spcPts val="1904"/>
              </a:lnSpc>
              <a:spcAft>
                <a:spcPts val="0"/>
              </a:spcAft>
              <a:defRPr sz="1700" b="0">
                <a:solidFill>
                  <a:srgbClr val="182B3A"/>
                </a:solidFill>
                <a:latin typeface="Arial"/>
              </a:defRPr>
            </a:pPr>
            <a:r>
              <a:t>3</a:t>
            </a:r>
          </a:p>
        </p:txBody>
      </p:sp>
      <p:cxnSp>
        <p:nvCxnSpPr>
          <p:cNvPr id="47" name="Connector 46"/>
          <p:cNvCxnSpPr/>
          <p:nvPr/>
        </p:nvCxnSpPr>
        <p:spPr>
          <a:xfrm>
            <a:off x="1598041" y="6035040"/>
            <a:ext cx="351028" cy="0"/>
          </a:xfrm>
          <a:prstGeom prst="line">
            <a:avLst/>
          </a:prstGeom>
          <a:ln w="12700">
            <a:solidFill>
              <a:srgbClr val="182B3A"/>
            </a:solidFill>
          </a:ln>
          <a:effectLst/>
        </p:spPr>
        <p:style>
          <a:lnRef idx="2">
            <a:schemeClr val="accent1"/>
          </a:lnRef>
          <a:fillRef idx="0">
            <a:schemeClr val="accent1"/>
          </a:fillRef>
          <a:effectRef idx="1">
            <a:schemeClr val="accent1"/>
          </a:effectRef>
          <a:fontRef idx="minor">
            <a:schemeClr val="tx1"/>
          </a:fontRef>
        </p:style>
      </p:cxnSp>
      <p:sp>
        <p:nvSpPr>
          <p:cNvPr id="48" name="TextBox 47"/>
          <p:cNvSpPr txBox="1"/>
          <p:nvPr/>
        </p:nvSpPr>
        <p:spPr>
          <a:xfrm>
            <a:off x="1598041" y="6053328"/>
            <a:ext cx="351028" cy="256032"/>
          </a:xfrm>
          <a:prstGeom prst="rect">
            <a:avLst/>
          </a:prstGeom>
          <a:noFill/>
        </p:spPr>
        <p:txBody>
          <a:bodyPr wrap="none" lIns="0" rIns="0" tIns="0" bIns="0">
            <a:spAutoFit/>
          </a:bodyPr>
          <a:lstStyle/>
          <a:p>
            <a:pPr algn="ctr">
              <a:lnSpc>
                <a:spcPts val="1904"/>
              </a:lnSpc>
              <a:spcAft>
                <a:spcPts val="0"/>
              </a:spcAft>
              <a:defRPr sz="1700" b="0">
                <a:solidFill>
                  <a:srgbClr val="182B3A"/>
                </a:solidFill>
                <a:latin typeface="Arial"/>
              </a:defRPr>
            </a:pPr>
            <a:r>
              <a:t>12</a:t>
            </a:r>
          </a:p>
        </p:txBody>
      </p:sp>
      <p:sp>
        <p:nvSpPr>
          <p:cNvPr id="49" name="TextBox 48"/>
          <p:cNvSpPr txBox="1"/>
          <p:nvPr/>
        </p:nvSpPr>
        <p:spPr>
          <a:xfrm>
            <a:off x="850392" y="6336792"/>
            <a:ext cx="265557" cy="347472"/>
          </a:xfrm>
          <a:prstGeom prst="rect">
            <a:avLst/>
          </a:prstGeom>
          <a:noFill/>
        </p:spPr>
        <p:txBody>
          <a:bodyPr wrap="none" lIns="0" rIns="0" tIns="0" bIns="0">
            <a:spAutoFit/>
          </a:bodyPr>
          <a:lstStyle/>
          <a:p>
            <a:pPr algn="l">
              <a:lnSpc>
                <a:spcPts val="2464"/>
              </a:lnSpc>
              <a:spcAft>
                <a:spcPts val="0"/>
              </a:spcAft>
              <a:defRPr sz="2200" b="0">
                <a:solidFill>
                  <a:srgbClr val="182B3A"/>
                </a:solidFill>
                <a:latin typeface="Arial"/>
              </a:defRPr>
            </a:pPr>
            <a:r>
              <a:t>= </a:t>
            </a:r>
          </a:p>
        </p:txBody>
      </p:sp>
      <p:sp>
        <p:nvSpPr>
          <p:cNvPr id="50" name="TextBox 49"/>
          <p:cNvSpPr txBox="1"/>
          <p:nvPr/>
        </p:nvSpPr>
        <p:spPr>
          <a:xfrm>
            <a:off x="1115949" y="6217920"/>
            <a:ext cx="351028" cy="256032"/>
          </a:xfrm>
          <a:prstGeom prst="rect">
            <a:avLst/>
          </a:prstGeom>
          <a:noFill/>
        </p:spPr>
        <p:txBody>
          <a:bodyPr wrap="none" lIns="0" rIns="0" tIns="0" bIns="0">
            <a:spAutoFit/>
          </a:bodyPr>
          <a:lstStyle/>
          <a:p>
            <a:pPr algn="ctr">
              <a:lnSpc>
                <a:spcPts val="1904"/>
              </a:lnSpc>
              <a:spcAft>
                <a:spcPts val="0"/>
              </a:spcAft>
              <a:defRPr sz="1700" b="0">
                <a:solidFill>
                  <a:srgbClr val="182B3A"/>
                </a:solidFill>
                <a:latin typeface="Arial"/>
              </a:defRPr>
            </a:pPr>
            <a:r>
              <a:t>8</a:t>
            </a:r>
          </a:p>
        </p:txBody>
      </p:sp>
      <p:cxnSp>
        <p:nvCxnSpPr>
          <p:cNvPr id="51" name="Connector 50"/>
          <p:cNvCxnSpPr/>
          <p:nvPr/>
        </p:nvCxnSpPr>
        <p:spPr>
          <a:xfrm>
            <a:off x="1115949" y="6483096"/>
            <a:ext cx="351028" cy="0"/>
          </a:xfrm>
          <a:prstGeom prst="line">
            <a:avLst/>
          </a:prstGeom>
          <a:ln w="12700">
            <a:solidFill>
              <a:srgbClr val="182B3A"/>
            </a:solidFill>
          </a:ln>
          <a:effectLst/>
        </p:spPr>
        <p:style>
          <a:lnRef idx="2">
            <a:schemeClr val="accent1"/>
          </a:lnRef>
          <a:fillRef idx="0">
            <a:schemeClr val="accent1"/>
          </a:fillRef>
          <a:effectRef idx="1">
            <a:schemeClr val="accent1"/>
          </a:effectRef>
          <a:fontRef idx="minor">
            <a:schemeClr val="tx1"/>
          </a:fontRef>
        </p:style>
      </p:cxnSp>
      <p:sp>
        <p:nvSpPr>
          <p:cNvPr id="52" name="TextBox 51"/>
          <p:cNvSpPr txBox="1"/>
          <p:nvPr/>
        </p:nvSpPr>
        <p:spPr>
          <a:xfrm>
            <a:off x="1115949" y="6501384"/>
            <a:ext cx="351028" cy="256032"/>
          </a:xfrm>
          <a:prstGeom prst="rect">
            <a:avLst/>
          </a:prstGeom>
          <a:noFill/>
        </p:spPr>
        <p:txBody>
          <a:bodyPr wrap="none" lIns="0" rIns="0" tIns="0" bIns="0">
            <a:spAutoFit/>
          </a:bodyPr>
          <a:lstStyle/>
          <a:p>
            <a:pPr algn="ctr">
              <a:lnSpc>
                <a:spcPts val="1904"/>
              </a:lnSpc>
              <a:spcAft>
                <a:spcPts val="0"/>
              </a:spcAft>
              <a:defRPr sz="1700" b="0">
                <a:solidFill>
                  <a:srgbClr val="182B3A"/>
                </a:solidFill>
                <a:latin typeface="Arial"/>
              </a:defRPr>
            </a:pPr>
            <a:r>
              <a:t>12</a:t>
            </a:r>
          </a:p>
        </p:txBody>
      </p:sp>
      <p:sp>
        <p:nvSpPr>
          <p:cNvPr id="53" name="TextBox 52"/>
          <p:cNvSpPr txBox="1"/>
          <p:nvPr/>
        </p:nvSpPr>
        <p:spPr>
          <a:xfrm>
            <a:off x="850392" y="6784848"/>
            <a:ext cx="265557" cy="347472"/>
          </a:xfrm>
          <a:prstGeom prst="rect">
            <a:avLst/>
          </a:prstGeom>
          <a:noFill/>
        </p:spPr>
        <p:txBody>
          <a:bodyPr wrap="none" lIns="0" rIns="0" tIns="0" bIns="0">
            <a:spAutoFit/>
          </a:bodyPr>
          <a:lstStyle/>
          <a:p>
            <a:pPr algn="l">
              <a:lnSpc>
                <a:spcPts val="2464"/>
              </a:lnSpc>
              <a:spcAft>
                <a:spcPts val="0"/>
              </a:spcAft>
              <a:defRPr sz="2200" b="0">
                <a:solidFill>
                  <a:srgbClr val="182B3A"/>
                </a:solidFill>
                <a:latin typeface="Arial"/>
              </a:defRPr>
            </a:pPr>
            <a:r>
              <a:t>= </a:t>
            </a:r>
          </a:p>
        </p:txBody>
      </p:sp>
      <p:sp>
        <p:nvSpPr>
          <p:cNvPr id="54" name="TextBox 53"/>
          <p:cNvSpPr txBox="1"/>
          <p:nvPr/>
        </p:nvSpPr>
        <p:spPr>
          <a:xfrm>
            <a:off x="1115949" y="6665976"/>
            <a:ext cx="351028" cy="256032"/>
          </a:xfrm>
          <a:prstGeom prst="rect">
            <a:avLst/>
          </a:prstGeom>
          <a:noFill/>
        </p:spPr>
        <p:txBody>
          <a:bodyPr wrap="none" lIns="0" rIns="0" tIns="0" bIns="0">
            <a:spAutoFit/>
          </a:bodyPr>
          <a:lstStyle/>
          <a:p>
            <a:pPr algn="ctr">
              <a:lnSpc>
                <a:spcPts val="1904"/>
              </a:lnSpc>
              <a:spcAft>
                <a:spcPts val="0"/>
              </a:spcAft>
              <a:defRPr sz="1700" b="0">
                <a:solidFill>
                  <a:srgbClr val="182B3A"/>
                </a:solidFill>
                <a:latin typeface="Arial"/>
              </a:defRPr>
            </a:pPr>
            <a:r>
              <a:t>4</a:t>
            </a:r>
          </a:p>
        </p:txBody>
      </p:sp>
      <p:cxnSp>
        <p:nvCxnSpPr>
          <p:cNvPr id="55" name="Connector 54"/>
          <p:cNvCxnSpPr/>
          <p:nvPr/>
        </p:nvCxnSpPr>
        <p:spPr>
          <a:xfrm>
            <a:off x="1115949" y="6931152"/>
            <a:ext cx="351028" cy="0"/>
          </a:xfrm>
          <a:prstGeom prst="line">
            <a:avLst/>
          </a:prstGeom>
          <a:ln w="12700">
            <a:solidFill>
              <a:srgbClr val="182B3A"/>
            </a:solidFill>
          </a:ln>
          <a:effectLst/>
        </p:spPr>
        <p:style>
          <a:lnRef idx="2">
            <a:schemeClr val="accent1"/>
          </a:lnRef>
          <a:fillRef idx="0">
            <a:schemeClr val="accent1"/>
          </a:fillRef>
          <a:effectRef idx="1">
            <a:schemeClr val="accent1"/>
          </a:effectRef>
          <a:fontRef idx="minor">
            <a:schemeClr val="tx1"/>
          </a:fontRef>
        </p:style>
      </p:cxnSp>
      <p:sp>
        <p:nvSpPr>
          <p:cNvPr id="56" name="TextBox 55"/>
          <p:cNvSpPr txBox="1"/>
          <p:nvPr/>
        </p:nvSpPr>
        <p:spPr>
          <a:xfrm>
            <a:off x="1115949" y="6949440"/>
            <a:ext cx="351028" cy="256032"/>
          </a:xfrm>
          <a:prstGeom prst="rect">
            <a:avLst/>
          </a:prstGeom>
          <a:noFill/>
        </p:spPr>
        <p:txBody>
          <a:bodyPr wrap="none" lIns="0" rIns="0" tIns="0" bIns="0">
            <a:spAutoFit/>
          </a:bodyPr>
          <a:lstStyle/>
          <a:p>
            <a:pPr algn="ctr">
              <a:lnSpc>
                <a:spcPts val="1904"/>
              </a:lnSpc>
              <a:spcAft>
                <a:spcPts val="0"/>
              </a:spcAft>
              <a:defRPr sz="1700" b="0">
                <a:solidFill>
                  <a:srgbClr val="182B3A"/>
                </a:solidFill>
                <a:latin typeface="Arial"/>
              </a:defRPr>
            </a:pPr>
            <a:r>
              <a:t>12</a:t>
            </a:r>
          </a:p>
        </p:txBody>
      </p:sp>
      <p:sp>
        <p:nvSpPr>
          <p:cNvPr id="57" name="Rectangle 56"/>
          <p:cNvSpPr/>
          <p:nvPr/>
        </p:nvSpPr>
        <p:spPr>
          <a:xfrm>
            <a:off x="4983480" y="1627632"/>
            <a:ext cx="4631436" cy="1975104"/>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 name="TextBox 57"/>
          <p:cNvSpPr txBox="1"/>
          <p:nvPr/>
        </p:nvSpPr>
        <p:spPr>
          <a:xfrm>
            <a:off x="5074920" y="1755648"/>
            <a:ext cx="301752" cy="365760"/>
          </a:xfrm>
          <a:prstGeom prst="rect">
            <a:avLst/>
          </a:prstGeom>
          <a:noFill/>
        </p:spPr>
        <p:txBody>
          <a:bodyPr wrap="square" lIns="54864" rIns="54864" tIns="22860" bIns="22860">
            <a:spAutoFit/>
          </a:bodyPr>
          <a:lstStyle/>
          <a:p>
            <a:pPr>
              <a:lnSpc>
                <a:spcPts val="2205"/>
              </a:lnSpc>
              <a:spcBef>
                <a:spcPts val="0"/>
              </a:spcBef>
              <a:spcAft>
                <a:spcPts val="0"/>
              </a:spcAft>
              <a:defRPr sz="2100" b="1">
                <a:solidFill>
                  <a:srgbClr val="182B3A"/>
                </a:solidFill>
                <a:latin typeface="Arial"/>
              </a:defRPr>
            </a:pPr>
            <a:r>
              <a:t>1.</a:t>
            </a:r>
          </a:p>
        </p:txBody>
      </p:sp>
      <p:sp>
        <p:nvSpPr>
          <p:cNvPr id="59" name="TextBox 58"/>
          <p:cNvSpPr txBox="1"/>
          <p:nvPr/>
        </p:nvSpPr>
        <p:spPr>
          <a:xfrm>
            <a:off x="5513832" y="1691640"/>
            <a:ext cx="230377" cy="256032"/>
          </a:xfrm>
          <a:prstGeom prst="rect">
            <a:avLst/>
          </a:prstGeom>
          <a:noFill/>
        </p:spPr>
        <p:txBody>
          <a:bodyPr wrap="none" lIns="0" rIns="0" tIns="0" bIns="0">
            <a:spAutoFit/>
          </a:bodyPr>
          <a:lstStyle/>
          <a:p>
            <a:pPr algn="ctr">
              <a:lnSpc>
                <a:spcPts val="1904"/>
              </a:lnSpc>
              <a:spcAft>
                <a:spcPts val="0"/>
              </a:spcAft>
              <a:defRPr sz="1700" b="0">
                <a:solidFill>
                  <a:srgbClr val="182B3A"/>
                </a:solidFill>
                <a:latin typeface="Arial"/>
              </a:defRPr>
            </a:pPr>
            <a:r>
              <a:t>1</a:t>
            </a:r>
          </a:p>
        </p:txBody>
      </p:sp>
      <p:cxnSp>
        <p:nvCxnSpPr>
          <p:cNvPr id="60" name="Connector 59"/>
          <p:cNvCxnSpPr/>
          <p:nvPr/>
        </p:nvCxnSpPr>
        <p:spPr>
          <a:xfrm>
            <a:off x="5513832" y="1956816"/>
            <a:ext cx="230378" cy="0"/>
          </a:xfrm>
          <a:prstGeom prst="line">
            <a:avLst/>
          </a:prstGeom>
          <a:ln w="12700">
            <a:solidFill>
              <a:srgbClr val="182B3A"/>
            </a:solidFill>
          </a:ln>
          <a:effectLst/>
        </p:spPr>
        <p:style>
          <a:lnRef idx="2">
            <a:schemeClr val="accent1"/>
          </a:lnRef>
          <a:fillRef idx="0">
            <a:schemeClr val="accent1"/>
          </a:fillRef>
          <a:effectRef idx="1">
            <a:schemeClr val="accent1"/>
          </a:effectRef>
          <a:fontRef idx="minor">
            <a:schemeClr val="tx1"/>
          </a:fontRef>
        </p:style>
      </p:cxnSp>
      <p:sp>
        <p:nvSpPr>
          <p:cNvPr id="61" name="TextBox 60"/>
          <p:cNvSpPr txBox="1"/>
          <p:nvPr/>
        </p:nvSpPr>
        <p:spPr>
          <a:xfrm>
            <a:off x="5513832" y="1975104"/>
            <a:ext cx="230377" cy="256032"/>
          </a:xfrm>
          <a:prstGeom prst="rect">
            <a:avLst/>
          </a:prstGeom>
          <a:noFill/>
        </p:spPr>
        <p:txBody>
          <a:bodyPr wrap="none" lIns="0" rIns="0" tIns="0" bIns="0">
            <a:spAutoFit/>
          </a:bodyPr>
          <a:lstStyle/>
          <a:p>
            <a:pPr algn="ctr">
              <a:lnSpc>
                <a:spcPts val="1904"/>
              </a:lnSpc>
              <a:spcAft>
                <a:spcPts val="0"/>
              </a:spcAft>
              <a:defRPr sz="1700" b="0">
                <a:solidFill>
                  <a:srgbClr val="182B3A"/>
                </a:solidFill>
                <a:latin typeface="Arial"/>
              </a:defRPr>
            </a:pPr>
            <a:r>
              <a:t>4</a:t>
            </a:r>
          </a:p>
        </p:txBody>
      </p:sp>
      <p:sp>
        <p:nvSpPr>
          <p:cNvPr id="62" name="TextBox 61"/>
          <p:cNvSpPr txBox="1"/>
          <p:nvPr/>
        </p:nvSpPr>
        <p:spPr>
          <a:xfrm>
            <a:off x="5799074" y="1810512"/>
            <a:ext cx="341757" cy="347472"/>
          </a:xfrm>
          <a:prstGeom prst="rect">
            <a:avLst/>
          </a:prstGeom>
          <a:noFill/>
        </p:spPr>
        <p:txBody>
          <a:bodyPr wrap="none" lIns="0" rIns="0" tIns="0" bIns="0">
            <a:spAutoFit/>
          </a:bodyPr>
          <a:lstStyle/>
          <a:p>
            <a:pPr algn="l">
              <a:lnSpc>
                <a:spcPts val="2464"/>
              </a:lnSpc>
              <a:spcAft>
                <a:spcPts val="0"/>
              </a:spcAft>
              <a:defRPr sz="2200" b="0">
                <a:solidFill>
                  <a:srgbClr val="182B3A"/>
                </a:solidFill>
                <a:latin typeface="Arial"/>
              </a:defRPr>
            </a:pPr>
            <a:r>
              <a:t> + </a:t>
            </a:r>
          </a:p>
        </p:txBody>
      </p:sp>
      <p:sp>
        <p:nvSpPr>
          <p:cNvPr id="63" name="TextBox 62"/>
          <p:cNvSpPr txBox="1"/>
          <p:nvPr/>
        </p:nvSpPr>
        <p:spPr>
          <a:xfrm>
            <a:off x="6140831" y="1691640"/>
            <a:ext cx="230377" cy="256032"/>
          </a:xfrm>
          <a:prstGeom prst="rect">
            <a:avLst/>
          </a:prstGeom>
          <a:noFill/>
        </p:spPr>
        <p:txBody>
          <a:bodyPr wrap="none" lIns="0" rIns="0" tIns="0" bIns="0">
            <a:spAutoFit/>
          </a:bodyPr>
          <a:lstStyle/>
          <a:p>
            <a:pPr algn="ctr">
              <a:lnSpc>
                <a:spcPts val="1904"/>
              </a:lnSpc>
              <a:spcAft>
                <a:spcPts val="0"/>
              </a:spcAft>
              <a:defRPr sz="1700" b="0">
                <a:solidFill>
                  <a:srgbClr val="182B3A"/>
                </a:solidFill>
                <a:latin typeface="Arial"/>
              </a:defRPr>
            </a:pPr>
            <a:r>
              <a:t>3</a:t>
            </a:r>
          </a:p>
        </p:txBody>
      </p:sp>
      <p:cxnSp>
        <p:nvCxnSpPr>
          <p:cNvPr id="64" name="Connector 63"/>
          <p:cNvCxnSpPr/>
          <p:nvPr/>
        </p:nvCxnSpPr>
        <p:spPr>
          <a:xfrm>
            <a:off x="6140831" y="1956816"/>
            <a:ext cx="230378" cy="0"/>
          </a:xfrm>
          <a:prstGeom prst="line">
            <a:avLst/>
          </a:prstGeom>
          <a:ln w="12700">
            <a:solidFill>
              <a:srgbClr val="182B3A"/>
            </a:solidFill>
          </a:ln>
          <a:effectLst/>
        </p:spPr>
        <p:style>
          <a:lnRef idx="2">
            <a:schemeClr val="accent1"/>
          </a:lnRef>
          <a:fillRef idx="0">
            <a:schemeClr val="accent1"/>
          </a:fillRef>
          <a:effectRef idx="1">
            <a:schemeClr val="accent1"/>
          </a:effectRef>
          <a:fontRef idx="minor">
            <a:schemeClr val="tx1"/>
          </a:fontRef>
        </p:style>
      </p:cxnSp>
      <p:sp>
        <p:nvSpPr>
          <p:cNvPr id="65" name="TextBox 64"/>
          <p:cNvSpPr txBox="1"/>
          <p:nvPr/>
        </p:nvSpPr>
        <p:spPr>
          <a:xfrm>
            <a:off x="6140831" y="1975104"/>
            <a:ext cx="230377" cy="256032"/>
          </a:xfrm>
          <a:prstGeom prst="rect">
            <a:avLst/>
          </a:prstGeom>
          <a:noFill/>
        </p:spPr>
        <p:txBody>
          <a:bodyPr wrap="none" lIns="0" rIns="0" tIns="0" bIns="0">
            <a:spAutoFit/>
          </a:bodyPr>
          <a:lstStyle/>
          <a:p>
            <a:pPr algn="ctr">
              <a:lnSpc>
                <a:spcPts val="1904"/>
              </a:lnSpc>
              <a:spcAft>
                <a:spcPts val="0"/>
              </a:spcAft>
              <a:defRPr sz="1700" b="0">
                <a:solidFill>
                  <a:srgbClr val="182B3A"/>
                </a:solidFill>
                <a:latin typeface="Arial"/>
              </a:defRPr>
            </a:pPr>
            <a:r>
              <a:t>8</a:t>
            </a:r>
          </a:p>
        </p:txBody>
      </p:sp>
      <p:sp>
        <p:nvSpPr>
          <p:cNvPr id="66" name="TextBox 65"/>
          <p:cNvSpPr txBox="1"/>
          <p:nvPr/>
        </p:nvSpPr>
        <p:spPr>
          <a:xfrm>
            <a:off x="5513832" y="2258568"/>
            <a:ext cx="265557" cy="347472"/>
          </a:xfrm>
          <a:prstGeom prst="rect">
            <a:avLst/>
          </a:prstGeom>
          <a:noFill/>
        </p:spPr>
        <p:txBody>
          <a:bodyPr wrap="none" lIns="0" rIns="0" tIns="0" bIns="0">
            <a:spAutoFit/>
          </a:bodyPr>
          <a:lstStyle/>
          <a:p>
            <a:pPr algn="l">
              <a:lnSpc>
                <a:spcPts val="2464"/>
              </a:lnSpc>
              <a:spcAft>
                <a:spcPts val="0"/>
              </a:spcAft>
              <a:defRPr sz="2200" b="0">
                <a:solidFill>
                  <a:srgbClr val="182B3A"/>
                </a:solidFill>
                <a:latin typeface="Arial"/>
              </a:defRPr>
            </a:pPr>
            <a:r>
              <a:t>= </a:t>
            </a:r>
          </a:p>
        </p:txBody>
      </p:sp>
      <p:sp>
        <p:nvSpPr>
          <p:cNvPr id="67" name="TextBox 66"/>
          <p:cNvSpPr txBox="1"/>
          <p:nvPr/>
        </p:nvSpPr>
        <p:spPr>
          <a:xfrm>
            <a:off x="5779389" y="2139696"/>
            <a:ext cx="230377" cy="256032"/>
          </a:xfrm>
          <a:prstGeom prst="rect">
            <a:avLst/>
          </a:prstGeom>
          <a:noFill/>
        </p:spPr>
        <p:txBody>
          <a:bodyPr wrap="none" lIns="0" rIns="0" tIns="0" bIns="0">
            <a:spAutoFit/>
          </a:bodyPr>
          <a:lstStyle/>
          <a:p>
            <a:pPr algn="ctr">
              <a:lnSpc>
                <a:spcPts val="1904"/>
              </a:lnSpc>
              <a:spcAft>
                <a:spcPts val="0"/>
              </a:spcAft>
              <a:defRPr sz="1700" b="0">
                <a:solidFill>
                  <a:srgbClr val="182B3A"/>
                </a:solidFill>
                <a:latin typeface="Arial"/>
              </a:defRPr>
            </a:pPr>
            <a:r>
              <a:t>1</a:t>
            </a:r>
          </a:p>
        </p:txBody>
      </p:sp>
      <p:cxnSp>
        <p:nvCxnSpPr>
          <p:cNvPr id="68" name="Connector 67"/>
          <p:cNvCxnSpPr/>
          <p:nvPr/>
        </p:nvCxnSpPr>
        <p:spPr>
          <a:xfrm>
            <a:off x="5779389" y="2404872"/>
            <a:ext cx="230378" cy="0"/>
          </a:xfrm>
          <a:prstGeom prst="line">
            <a:avLst/>
          </a:prstGeom>
          <a:ln w="12700">
            <a:solidFill>
              <a:srgbClr val="182B3A"/>
            </a:solidFill>
          </a:ln>
          <a:effectLst/>
        </p:spPr>
        <p:style>
          <a:lnRef idx="2">
            <a:schemeClr val="accent1"/>
          </a:lnRef>
          <a:fillRef idx="0">
            <a:schemeClr val="accent1"/>
          </a:fillRef>
          <a:effectRef idx="1">
            <a:schemeClr val="accent1"/>
          </a:effectRef>
          <a:fontRef idx="minor">
            <a:schemeClr val="tx1"/>
          </a:fontRef>
        </p:style>
      </p:cxnSp>
      <p:sp>
        <p:nvSpPr>
          <p:cNvPr id="69" name="TextBox 68"/>
          <p:cNvSpPr txBox="1"/>
          <p:nvPr/>
        </p:nvSpPr>
        <p:spPr>
          <a:xfrm>
            <a:off x="5779389" y="2423160"/>
            <a:ext cx="230377" cy="256032"/>
          </a:xfrm>
          <a:prstGeom prst="rect">
            <a:avLst/>
          </a:prstGeom>
          <a:noFill/>
        </p:spPr>
        <p:txBody>
          <a:bodyPr wrap="none" lIns="0" rIns="0" tIns="0" bIns="0">
            <a:spAutoFit/>
          </a:bodyPr>
          <a:lstStyle/>
          <a:p>
            <a:pPr algn="ctr">
              <a:lnSpc>
                <a:spcPts val="1904"/>
              </a:lnSpc>
              <a:spcAft>
                <a:spcPts val="0"/>
              </a:spcAft>
              <a:defRPr sz="1700" b="0">
                <a:solidFill>
                  <a:srgbClr val="182B3A"/>
                </a:solidFill>
                <a:latin typeface="Arial"/>
              </a:defRPr>
            </a:pPr>
            <a:r>
              <a:t>8</a:t>
            </a:r>
          </a:p>
        </p:txBody>
      </p:sp>
      <p:sp>
        <p:nvSpPr>
          <p:cNvPr id="70" name="TextBox 69"/>
          <p:cNvSpPr txBox="1"/>
          <p:nvPr/>
        </p:nvSpPr>
        <p:spPr>
          <a:xfrm>
            <a:off x="6064631" y="2258568"/>
            <a:ext cx="341757" cy="347472"/>
          </a:xfrm>
          <a:prstGeom prst="rect">
            <a:avLst/>
          </a:prstGeom>
          <a:noFill/>
        </p:spPr>
        <p:txBody>
          <a:bodyPr wrap="none" lIns="0" rIns="0" tIns="0" bIns="0">
            <a:spAutoFit/>
          </a:bodyPr>
          <a:lstStyle/>
          <a:p>
            <a:pPr algn="l">
              <a:lnSpc>
                <a:spcPts val="2464"/>
              </a:lnSpc>
              <a:spcAft>
                <a:spcPts val="0"/>
              </a:spcAft>
              <a:defRPr sz="2200" b="0">
                <a:solidFill>
                  <a:srgbClr val="182B3A"/>
                </a:solidFill>
                <a:latin typeface="Arial"/>
              </a:defRPr>
            </a:pPr>
            <a:r>
              <a:t> + </a:t>
            </a:r>
          </a:p>
        </p:txBody>
      </p:sp>
      <p:sp>
        <p:nvSpPr>
          <p:cNvPr id="71" name="TextBox 70"/>
          <p:cNvSpPr txBox="1"/>
          <p:nvPr/>
        </p:nvSpPr>
        <p:spPr>
          <a:xfrm>
            <a:off x="6406388" y="2139696"/>
            <a:ext cx="230377" cy="256032"/>
          </a:xfrm>
          <a:prstGeom prst="rect">
            <a:avLst/>
          </a:prstGeom>
          <a:noFill/>
        </p:spPr>
        <p:txBody>
          <a:bodyPr wrap="none" lIns="0" rIns="0" tIns="0" bIns="0">
            <a:spAutoFit/>
          </a:bodyPr>
          <a:lstStyle/>
          <a:p>
            <a:pPr algn="ctr">
              <a:lnSpc>
                <a:spcPts val="1904"/>
              </a:lnSpc>
              <a:spcAft>
                <a:spcPts val="0"/>
              </a:spcAft>
              <a:defRPr sz="1700" b="0">
                <a:solidFill>
                  <a:srgbClr val="182B3A"/>
                </a:solidFill>
                <a:latin typeface="Arial"/>
              </a:defRPr>
            </a:pPr>
            <a:r>
              <a:t>3</a:t>
            </a:r>
          </a:p>
        </p:txBody>
      </p:sp>
      <p:cxnSp>
        <p:nvCxnSpPr>
          <p:cNvPr id="72" name="Connector 71"/>
          <p:cNvCxnSpPr/>
          <p:nvPr/>
        </p:nvCxnSpPr>
        <p:spPr>
          <a:xfrm>
            <a:off x="6406388" y="2404872"/>
            <a:ext cx="230378" cy="0"/>
          </a:xfrm>
          <a:prstGeom prst="line">
            <a:avLst/>
          </a:prstGeom>
          <a:ln w="12700">
            <a:solidFill>
              <a:srgbClr val="182B3A"/>
            </a:solidFill>
          </a:ln>
          <a:effectLst/>
        </p:spPr>
        <p:style>
          <a:lnRef idx="2">
            <a:schemeClr val="accent1"/>
          </a:lnRef>
          <a:fillRef idx="0">
            <a:schemeClr val="accent1"/>
          </a:fillRef>
          <a:effectRef idx="1">
            <a:schemeClr val="accent1"/>
          </a:effectRef>
          <a:fontRef idx="minor">
            <a:schemeClr val="tx1"/>
          </a:fontRef>
        </p:style>
      </p:cxnSp>
      <p:sp>
        <p:nvSpPr>
          <p:cNvPr id="73" name="TextBox 72"/>
          <p:cNvSpPr txBox="1"/>
          <p:nvPr/>
        </p:nvSpPr>
        <p:spPr>
          <a:xfrm>
            <a:off x="6406388" y="2423160"/>
            <a:ext cx="230377" cy="256032"/>
          </a:xfrm>
          <a:prstGeom prst="rect">
            <a:avLst/>
          </a:prstGeom>
          <a:noFill/>
        </p:spPr>
        <p:txBody>
          <a:bodyPr wrap="none" lIns="0" rIns="0" tIns="0" bIns="0">
            <a:spAutoFit/>
          </a:bodyPr>
          <a:lstStyle/>
          <a:p>
            <a:pPr algn="ctr">
              <a:lnSpc>
                <a:spcPts val="1904"/>
              </a:lnSpc>
              <a:spcAft>
                <a:spcPts val="0"/>
              </a:spcAft>
              <a:defRPr sz="1700" b="0">
                <a:solidFill>
                  <a:srgbClr val="182B3A"/>
                </a:solidFill>
                <a:latin typeface="Arial"/>
              </a:defRPr>
            </a:pPr>
            <a:r>
              <a:t>8</a:t>
            </a:r>
          </a:p>
        </p:txBody>
      </p:sp>
      <p:sp>
        <p:nvSpPr>
          <p:cNvPr id="74" name="TextBox 73"/>
          <p:cNvSpPr txBox="1"/>
          <p:nvPr/>
        </p:nvSpPr>
        <p:spPr>
          <a:xfrm>
            <a:off x="5513832" y="2706624"/>
            <a:ext cx="265557" cy="347472"/>
          </a:xfrm>
          <a:prstGeom prst="rect">
            <a:avLst/>
          </a:prstGeom>
          <a:noFill/>
        </p:spPr>
        <p:txBody>
          <a:bodyPr wrap="none" lIns="0" rIns="0" tIns="0" bIns="0">
            <a:spAutoFit/>
          </a:bodyPr>
          <a:lstStyle/>
          <a:p>
            <a:pPr algn="l">
              <a:lnSpc>
                <a:spcPts val="2464"/>
              </a:lnSpc>
              <a:spcAft>
                <a:spcPts val="0"/>
              </a:spcAft>
              <a:defRPr sz="2200" b="0">
                <a:solidFill>
                  <a:srgbClr val="182B3A"/>
                </a:solidFill>
                <a:latin typeface="Arial"/>
              </a:defRPr>
            </a:pPr>
            <a:r>
              <a:t>= </a:t>
            </a:r>
          </a:p>
        </p:txBody>
      </p:sp>
      <p:sp>
        <p:nvSpPr>
          <p:cNvPr id="75" name="TextBox 74"/>
          <p:cNvSpPr txBox="1"/>
          <p:nvPr/>
        </p:nvSpPr>
        <p:spPr>
          <a:xfrm>
            <a:off x="5779389" y="2587752"/>
            <a:ext cx="230377" cy="256032"/>
          </a:xfrm>
          <a:prstGeom prst="rect">
            <a:avLst/>
          </a:prstGeom>
          <a:noFill/>
        </p:spPr>
        <p:txBody>
          <a:bodyPr wrap="none" lIns="0" rIns="0" tIns="0" bIns="0">
            <a:spAutoFit/>
          </a:bodyPr>
          <a:lstStyle/>
          <a:p>
            <a:pPr algn="ctr">
              <a:lnSpc>
                <a:spcPts val="1904"/>
              </a:lnSpc>
              <a:spcAft>
                <a:spcPts val="0"/>
              </a:spcAft>
              <a:defRPr sz="1700" b="0">
                <a:solidFill>
                  <a:srgbClr val="182B3A"/>
                </a:solidFill>
                <a:latin typeface="Arial"/>
              </a:defRPr>
            </a:pPr>
            <a:r>
              <a:t>4</a:t>
            </a:r>
          </a:p>
        </p:txBody>
      </p:sp>
      <p:cxnSp>
        <p:nvCxnSpPr>
          <p:cNvPr id="76" name="Connector 75"/>
          <p:cNvCxnSpPr/>
          <p:nvPr/>
        </p:nvCxnSpPr>
        <p:spPr>
          <a:xfrm>
            <a:off x="5779389" y="2852928"/>
            <a:ext cx="230378" cy="0"/>
          </a:xfrm>
          <a:prstGeom prst="line">
            <a:avLst/>
          </a:prstGeom>
          <a:ln w="12700">
            <a:solidFill>
              <a:srgbClr val="182B3A"/>
            </a:solidFill>
          </a:ln>
          <a:effectLst/>
        </p:spPr>
        <p:style>
          <a:lnRef idx="2">
            <a:schemeClr val="accent1"/>
          </a:lnRef>
          <a:fillRef idx="0">
            <a:schemeClr val="accent1"/>
          </a:fillRef>
          <a:effectRef idx="1">
            <a:schemeClr val="accent1"/>
          </a:effectRef>
          <a:fontRef idx="minor">
            <a:schemeClr val="tx1"/>
          </a:fontRef>
        </p:style>
      </p:cxnSp>
      <p:sp>
        <p:nvSpPr>
          <p:cNvPr id="77" name="TextBox 76"/>
          <p:cNvSpPr txBox="1"/>
          <p:nvPr/>
        </p:nvSpPr>
        <p:spPr>
          <a:xfrm>
            <a:off x="5779389" y="2871216"/>
            <a:ext cx="230377" cy="256032"/>
          </a:xfrm>
          <a:prstGeom prst="rect">
            <a:avLst/>
          </a:prstGeom>
          <a:noFill/>
        </p:spPr>
        <p:txBody>
          <a:bodyPr wrap="none" lIns="0" rIns="0" tIns="0" bIns="0">
            <a:spAutoFit/>
          </a:bodyPr>
          <a:lstStyle/>
          <a:p>
            <a:pPr algn="ctr">
              <a:lnSpc>
                <a:spcPts val="1904"/>
              </a:lnSpc>
              <a:spcAft>
                <a:spcPts val="0"/>
              </a:spcAft>
              <a:defRPr sz="1700" b="0">
                <a:solidFill>
                  <a:srgbClr val="182B3A"/>
                </a:solidFill>
                <a:latin typeface="Arial"/>
              </a:defRPr>
            </a:pPr>
            <a:r>
              <a:t>8</a:t>
            </a:r>
          </a:p>
        </p:txBody>
      </p:sp>
      <p:sp>
        <p:nvSpPr>
          <p:cNvPr id="78" name="Rectangle 77"/>
          <p:cNvSpPr/>
          <p:nvPr/>
        </p:nvSpPr>
        <p:spPr>
          <a:xfrm>
            <a:off x="4983480" y="3666744"/>
            <a:ext cx="4631436" cy="1975104"/>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9" name="TextBox 78"/>
          <p:cNvSpPr txBox="1"/>
          <p:nvPr/>
        </p:nvSpPr>
        <p:spPr>
          <a:xfrm>
            <a:off x="5074920" y="3794759"/>
            <a:ext cx="301752" cy="365760"/>
          </a:xfrm>
          <a:prstGeom prst="rect">
            <a:avLst/>
          </a:prstGeom>
          <a:noFill/>
        </p:spPr>
        <p:txBody>
          <a:bodyPr wrap="square" lIns="54864" rIns="54864" tIns="22860" bIns="22860">
            <a:spAutoFit/>
          </a:bodyPr>
          <a:lstStyle/>
          <a:p>
            <a:pPr>
              <a:lnSpc>
                <a:spcPts val="2205"/>
              </a:lnSpc>
              <a:spcBef>
                <a:spcPts val="0"/>
              </a:spcBef>
              <a:spcAft>
                <a:spcPts val="0"/>
              </a:spcAft>
              <a:defRPr sz="2100" b="1">
                <a:solidFill>
                  <a:srgbClr val="182B3A"/>
                </a:solidFill>
                <a:latin typeface="Arial"/>
              </a:defRPr>
            </a:pPr>
            <a:r>
              <a:t>2.</a:t>
            </a:r>
          </a:p>
        </p:txBody>
      </p:sp>
      <p:sp>
        <p:nvSpPr>
          <p:cNvPr id="80" name="TextBox 79"/>
          <p:cNvSpPr txBox="1"/>
          <p:nvPr/>
        </p:nvSpPr>
        <p:spPr>
          <a:xfrm>
            <a:off x="5513832" y="3730752"/>
            <a:ext cx="351028" cy="256032"/>
          </a:xfrm>
          <a:prstGeom prst="rect">
            <a:avLst/>
          </a:prstGeom>
          <a:noFill/>
        </p:spPr>
        <p:txBody>
          <a:bodyPr wrap="none" lIns="0" rIns="0" tIns="0" bIns="0">
            <a:spAutoFit/>
          </a:bodyPr>
          <a:lstStyle/>
          <a:p>
            <a:pPr algn="ctr">
              <a:lnSpc>
                <a:spcPts val="1904"/>
              </a:lnSpc>
              <a:spcAft>
                <a:spcPts val="0"/>
              </a:spcAft>
              <a:defRPr sz="1700" b="0">
                <a:solidFill>
                  <a:srgbClr val="182B3A"/>
                </a:solidFill>
                <a:latin typeface="Arial"/>
              </a:defRPr>
            </a:pPr>
            <a:r>
              <a:t>11</a:t>
            </a:r>
          </a:p>
        </p:txBody>
      </p:sp>
      <p:cxnSp>
        <p:nvCxnSpPr>
          <p:cNvPr id="81" name="Connector 80"/>
          <p:cNvCxnSpPr/>
          <p:nvPr/>
        </p:nvCxnSpPr>
        <p:spPr>
          <a:xfrm>
            <a:off x="5513832" y="3995928"/>
            <a:ext cx="351028" cy="0"/>
          </a:xfrm>
          <a:prstGeom prst="line">
            <a:avLst/>
          </a:prstGeom>
          <a:ln w="12700">
            <a:solidFill>
              <a:srgbClr val="182B3A"/>
            </a:solidFill>
          </a:ln>
          <a:effectLst/>
        </p:spPr>
        <p:style>
          <a:lnRef idx="2">
            <a:schemeClr val="accent1"/>
          </a:lnRef>
          <a:fillRef idx="0">
            <a:schemeClr val="accent1"/>
          </a:fillRef>
          <a:effectRef idx="1">
            <a:schemeClr val="accent1"/>
          </a:effectRef>
          <a:fontRef idx="minor">
            <a:schemeClr val="tx1"/>
          </a:fontRef>
        </p:style>
      </p:cxnSp>
      <p:sp>
        <p:nvSpPr>
          <p:cNvPr id="82" name="TextBox 81"/>
          <p:cNvSpPr txBox="1"/>
          <p:nvPr/>
        </p:nvSpPr>
        <p:spPr>
          <a:xfrm>
            <a:off x="5513832" y="4014215"/>
            <a:ext cx="351028" cy="256032"/>
          </a:xfrm>
          <a:prstGeom prst="rect">
            <a:avLst/>
          </a:prstGeom>
          <a:noFill/>
        </p:spPr>
        <p:txBody>
          <a:bodyPr wrap="none" lIns="0" rIns="0" tIns="0" bIns="0">
            <a:spAutoFit/>
          </a:bodyPr>
          <a:lstStyle/>
          <a:p>
            <a:pPr algn="ctr">
              <a:lnSpc>
                <a:spcPts val="1904"/>
              </a:lnSpc>
              <a:spcAft>
                <a:spcPts val="0"/>
              </a:spcAft>
              <a:defRPr sz="1700" b="0">
                <a:solidFill>
                  <a:srgbClr val="182B3A"/>
                </a:solidFill>
                <a:latin typeface="Arial"/>
              </a:defRPr>
            </a:pPr>
            <a:r>
              <a:t>12</a:t>
            </a:r>
          </a:p>
        </p:txBody>
      </p:sp>
      <p:sp>
        <p:nvSpPr>
          <p:cNvPr id="83" name="TextBox 82"/>
          <p:cNvSpPr txBox="1"/>
          <p:nvPr/>
        </p:nvSpPr>
        <p:spPr>
          <a:xfrm>
            <a:off x="5919724" y="3849624"/>
            <a:ext cx="341757" cy="347472"/>
          </a:xfrm>
          <a:prstGeom prst="rect">
            <a:avLst/>
          </a:prstGeom>
          <a:noFill/>
        </p:spPr>
        <p:txBody>
          <a:bodyPr wrap="none" lIns="0" rIns="0" tIns="0" bIns="0">
            <a:spAutoFit/>
          </a:bodyPr>
          <a:lstStyle/>
          <a:p>
            <a:pPr algn="l">
              <a:lnSpc>
                <a:spcPts val="2464"/>
              </a:lnSpc>
              <a:spcAft>
                <a:spcPts val="0"/>
              </a:spcAft>
              <a:defRPr sz="2200" b="0">
                <a:solidFill>
                  <a:srgbClr val="182B3A"/>
                </a:solidFill>
                <a:latin typeface="Arial"/>
              </a:defRPr>
            </a:pPr>
            <a:r>
              <a:t> − </a:t>
            </a:r>
          </a:p>
        </p:txBody>
      </p:sp>
      <p:sp>
        <p:nvSpPr>
          <p:cNvPr id="84" name="TextBox 83"/>
          <p:cNvSpPr txBox="1"/>
          <p:nvPr/>
        </p:nvSpPr>
        <p:spPr>
          <a:xfrm>
            <a:off x="6261481" y="3730752"/>
            <a:ext cx="230377" cy="256032"/>
          </a:xfrm>
          <a:prstGeom prst="rect">
            <a:avLst/>
          </a:prstGeom>
          <a:noFill/>
        </p:spPr>
        <p:txBody>
          <a:bodyPr wrap="none" lIns="0" rIns="0" tIns="0" bIns="0">
            <a:spAutoFit/>
          </a:bodyPr>
          <a:lstStyle/>
          <a:p>
            <a:pPr algn="ctr">
              <a:lnSpc>
                <a:spcPts val="1904"/>
              </a:lnSpc>
              <a:spcAft>
                <a:spcPts val="0"/>
              </a:spcAft>
              <a:defRPr sz="1700" b="0">
                <a:solidFill>
                  <a:srgbClr val="182B3A"/>
                </a:solidFill>
                <a:latin typeface="Arial"/>
              </a:defRPr>
            </a:pPr>
            <a:r>
              <a:t>1</a:t>
            </a:r>
          </a:p>
        </p:txBody>
      </p:sp>
      <p:cxnSp>
        <p:nvCxnSpPr>
          <p:cNvPr id="85" name="Connector 84"/>
          <p:cNvCxnSpPr/>
          <p:nvPr/>
        </p:nvCxnSpPr>
        <p:spPr>
          <a:xfrm>
            <a:off x="6261481" y="3995928"/>
            <a:ext cx="230378" cy="0"/>
          </a:xfrm>
          <a:prstGeom prst="line">
            <a:avLst/>
          </a:prstGeom>
          <a:ln w="12700">
            <a:solidFill>
              <a:srgbClr val="182B3A"/>
            </a:solidFill>
          </a:ln>
          <a:effectLst/>
        </p:spPr>
        <p:style>
          <a:lnRef idx="2">
            <a:schemeClr val="accent1"/>
          </a:lnRef>
          <a:fillRef idx="0">
            <a:schemeClr val="accent1"/>
          </a:fillRef>
          <a:effectRef idx="1">
            <a:schemeClr val="accent1"/>
          </a:effectRef>
          <a:fontRef idx="minor">
            <a:schemeClr val="tx1"/>
          </a:fontRef>
        </p:style>
      </p:cxnSp>
      <p:sp>
        <p:nvSpPr>
          <p:cNvPr id="86" name="TextBox 85"/>
          <p:cNvSpPr txBox="1"/>
          <p:nvPr/>
        </p:nvSpPr>
        <p:spPr>
          <a:xfrm>
            <a:off x="6261481" y="4014215"/>
            <a:ext cx="230377" cy="256032"/>
          </a:xfrm>
          <a:prstGeom prst="rect">
            <a:avLst/>
          </a:prstGeom>
          <a:noFill/>
        </p:spPr>
        <p:txBody>
          <a:bodyPr wrap="none" lIns="0" rIns="0" tIns="0" bIns="0">
            <a:spAutoFit/>
          </a:bodyPr>
          <a:lstStyle/>
          <a:p>
            <a:pPr algn="ctr">
              <a:lnSpc>
                <a:spcPts val="1904"/>
              </a:lnSpc>
              <a:spcAft>
                <a:spcPts val="0"/>
              </a:spcAft>
              <a:defRPr sz="1700" b="0">
                <a:solidFill>
                  <a:srgbClr val="182B3A"/>
                </a:solidFill>
                <a:latin typeface="Arial"/>
              </a:defRPr>
            </a:pPr>
            <a:r>
              <a:t>3</a:t>
            </a:r>
          </a:p>
        </p:txBody>
      </p:sp>
      <p:sp>
        <p:nvSpPr>
          <p:cNvPr id="87" name="TextBox 86"/>
          <p:cNvSpPr txBox="1"/>
          <p:nvPr/>
        </p:nvSpPr>
        <p:spPr>
          <a:xfrm>
            <a:off x="5513832" y="4297680"/>
            <a:ext cx="265557" cy="347472"/>
          </a:xfrm>
          <a:prstGeom prst="rect">
            <a:avLst/>
          </a:prstGeom>
          <a:noFill/>
        </p:spPr>
        <p:txBody>
          <a:bodyPr wrap="none" lIns="0" rIns="0" tIns="0" bIns="0">
            <a:spAutoFit/>
          </a:bodyPr>
          <a:lstStyle/>
          <a:p>
            <a:pPr algn="l">
              <a:lnSpc>
                <a:spcPts val="2464"/>
              </a:lnSpc>
              <a:spcAft>
                <a:spcPts val="0"/>
              </a:spcAft>
              <a:defRPr sz="2200" b="0">
                <a:solidFill>
                  <a:srgbClr val="182B3A"/>
                </a:solidFill>
                <a:latin typeface="Arial"/>
              </a:defRPr>
            </a:pPr>
            <a:r>
              <a:t>= </a:t>
            </a:r>
          </a:p>
        </p:txBody>
      </p:sp>
      <p:sp>
        <p:nvSpPr>
          <p:cNvPr id="88" name="TextBox 87"/>
          <p:cNvSpPr txBox="1"/>
          <p:nvPr/>
        </p:nvSpPr>
        <p:spPr>
          <a:xfrm>
            <a:off x="5779389" y="4178808"/>
            <a:ext cx="351028" cy="256032"/>
          </a:xfrm>
          <a:prstGeom prst="rect">
            <a:avLst/>
          </a:prstGeom>
          <a:noFill/>
        </p:spPr>
        <p:txBody>
          <a:bodyPr wrap="none" lIns="0" rIns="0" tIns="0" bIns="0">
            <a:spAutoFit/>
          </a:bodyPr>
          <a:lstStyle/>
          <a:p>
            <a:pPr algn="ctr">
              <a:lnSpc>
                <a:spcPts val="1904"/>
              </a:lnSpc>
              <a:spcAft>
                <a:spcPts val="0"/>
              </a:spcAft>
              <a:defRPr sz="1700" b="0">
                <a:solidFill>
                  <a:srgbClr val="182B3A"/>
                </a:solidFill>
                <a:latin typeface="Arial"/>
              </a:defRPr>
            </a:pPr>
            <a:r>
              <a:t>11</a:t>
            </a:r>
          </a:p>
        </p:txBody>
      </p:sp>
      <p:cxnSp>
        <p:nvCxnSpPr>
          <p:cNvPr id="89" name="Connector 88"/>
          <p:cNvCxnSpPr/>
          <p:nvPr/>
        </p:nvCxnSpPr>
        <p:spPr>
          <a:xfrm>
            <a:off x="5779389" y="4443984"/>
            <a:ext cx="351028" cy="0"/>
          </a:xfrm>
          <a:prstGeom prst="line">
            <a:avLst/>
          </a:prstGeom>
          <a:ln w="12700">
            <a:solidFill>
              <a:srgbClr val="182B3A"/>
            </a:solidFill>
          </a:ln>
          <a:effectLst/>
        </p:spPr>
        <p:style>
          <a:lnRef idx="2">
            <a:schemeClr val="accent1"/>
          </a:lnRef>
          <a:fillRef idx="0">
            <a:schemeClr val="accent1"/>
          </a:fillRef>
          <a:effectRef idx="1">
            <a:schemeClr val="accent1"/>
          </a:effectRef>
          <a:fontRef idx="minor">
            <a:schemeClr val="tx1"/>
          </a:fontRef>
        </p:style>
      </p:cxnSp>
      <p:sp>
        <p:nvSpPr>
          <p:cNvPr id="90" name="TextBox 89"/>
          <p:cNvSpPr txBox="1"/>
          <p:nvPr/>
        </p:nvSpPr>
        <p:spPr>
          <a:xfrm>
            <a:off x="5779389" y="4462272"/>
            <a:ext cx="351028" cy="256032"/>
          </a:xfrm>
          <a:prstGeom prst="rect">
            <a:avLst/>
          </a:prstGeom>
          <a:noFill/>
        </p:spPr>
        <p:txBody>
          <a:bodyPr wrap="none" lIns="0" rIns="0" tIns="0" bIns="0">
            <a:spAutoFit/>
          </a:bodyPr>
          <a:lstStyle/>
          <a:p>
            <a:pPr algn="ctr">
              <a:lnSpc>
                <a:spcPts val="1904"/>
              </a:lnSpc>
              <a:spcAft>
                <a:spcPts val="0"/>
              </a:spcAft>
              <a:defRPr sz="1700" b="0">
                <a:solidFill>
                  <a:srgbClr val="182B3A"/>
                </a:solidFill>
                <a:latin typeface="Arial"/>
              </a:defRPr>
            </a:pPr>
            <a:r>
              <a:t>12</a:t>
            </a:r>
          </a:p>
        </p:txBody>
      </p:sp>
      <p:sp>
        <p:nvSpPr>
          <p:cNvPr id="91" name="TextBox 90"/>
          <p:cNvSpPr txBox="1"/>
          <p:nvPr/>
        </p:nvSpPr>
        <p:spPr>
          <a:xfrm>
            <a:off x="6185281" y="4297680"/>
            <a:ext cx="341757" cy="347472"/>
          </a:xfrm>
          <a:prstGeom prst="rect">
            <a:avLst/>
          </a:prstGeom>
          <a:noFill/>
        </p:spPr>
        <p:txBody>
          <a:bodyPr wrap="none" lIns="0" rIns="0" tIns="0" bIns="0">
            <a:spAutoFit/>
          </a:bodyPr>
          <a:lstStyle/>
          <a:p>
            <a:pPr algn="l">
              <a:lnSpc>
                <a:spcPts val="2464"/>
              </a:lnSpc>
              <a:spcAft>
                <a:spcPts val="0"/>
              </a:spcAft>
              <a:defRPr sz="2200" b="0">
                <a:solidFill>
                  <a:srgbClr val="182B3A"/>
                </a:solidFill>
                <a:latin typeface="Arial"/>
              </a:defRPr>
            </a:pPr>
            <a:r>
              <a:t> − </a:t>
            </a:r>
          </a:p>
        </p:txBody>
      </p:sp>
      <p:sp>
        <p:nvSpPr>
          <p:cNvPr id="92" name="TextBox 91"/>
          <p:cNvSpPr txBox="1"/>
          <p:nvPr/>
        </p:nvSpPr>
        <p:spPr>
          <a:xfrm>
            <a:off x="6527038" y="4178808"/>
            <a:ext cx="351028" cy="256032"/>
          </a:xfrm>
          <a:prstGeom prst="rect">
            <a:avLst/>
          </a:prstGeom>
          <a:noFill/>
        </p:spPr>
        <p:txBody>
          <a:bodyPr wrap="none" lIns="0" rIns="0" tIns="0" bIns="0">
            <a:spAutoFit/>
          </a:bodyPr>
          <a:lstStyle/>
          <a:p>
            <a:pPr algn="ctr">
              <a:lnSpc>
                <a:spcPts val="1904"/>
              </a:lnSpc>
              <a:spcAft>
                <a:spcPts val="0"/>
              </a:spcAft>
              <a:defRPr sz="1700" b="0">
                <a:solidFill>
                  <a:srgbClr val="182B3A"/>
                </a:solidFill>
                <a:latin typeface="Arial"/>
              </a:defRPr>
            </a:pPr>
            <a:r>
              <a:t>1</a:t>
            </a:r>
          </a:p>
        </p:txBody>
      </p:sp>
      <p:cxnSp>
        <p:nvCxnSpPr>
          <p:cNvPr id="93" name="Connector 92"/>
          <p:cNvCxnSpPr/>
          <p:nvPr/>
        </p:nvCxnSpPr>
        <p:spPr>
          <a:xfrm>
            <a:off x="6527038" y="4443984"/>
            <a:ext cx="351028" cy="0"/>
          </a:xfrm>
          <a:prstGeom prst="line">
            <a:avLst/>
          </a:prstGeom>
          <a:ln w="12700">
            <a:solidFill>
              <a:srgbClr val="182B3A"/>
            </a:solidFill>
          </a:ln>
          <a:effectLst/>
        </p:spPr>
        <p:style>
          <a:lnRef idx="2">
            <a:schemeClr val="accent1"/>
          </a:lnRef>
          <a:fillRef idx="0">
            <a:schemeClr val="accent1"/>
          </a:fillRef>
          <a:effectRef idx="1">
            <a:schemeClr val="accent1"/>
          </a:effectRef>
          <a:fontRef idx="minor">
            <a:schemeClr val="tx1"/>
          </a:fontRef>
        </p:style>
      </p:cxnSp>
      <p:sp>
        <p:nvSpPr>
          <p:cNvPr id="94" name="TextBox 93"/>
          <p:cNvSpPr txBox="1"/>
          <p:nvPr/>
        </p:nvSpPr>
        <p:spPr>
          <a:xfrm>
            <a:off x="6527038" y="4462272"/>
            <a:ext cx="351028" cy="256032"/>
          </a:xfrm>
          <a:prstGeom prst="rect">
            <a:avLst/>
          </a:prstGeom>
          <a:noFill/>
        </p:spPr>
        <p:txBody>
          <a:bodyPr wrap="none" lIns="0" rIns="0" tIns="0" bIns="0">
            <a:spAutoFit/>
          </a:bodyPr>
          <a:lstStyle/>
          <a:p>
            <a:pPr algn="ctr">
              <a:lnSpc>
                <a:spcPts val="1904"/>
              </a:lnSpc>
              <a:spcAft>
                <a:spcPts val="0"/>
              </a:spcAft>
              <a:defRPr sz="1700" b="0">
                <a:solidFill>
                  <a:srgbClr val="182B3A"/>
                </a:solidFill>
                <a:latin typeface="Arial"/>
              </a:defRPr>
            </a:pPr>
            <a:r>
              <a:t>12</a:t>
            </a:r>
          </a:p>
        </p:txBody>
      </p:sp>
      <p:sp>
        <p:nvSpPr>
          <p:cNvPr id="95" name="TextBox 94"/>
          <p:cNvSpPr txBox="1"/>
          <p:nvPr/>
        </p:nvSpPr>
        <p:spPr>
          <a:xfrm>
            <a:off x="5513832" y="4745736"/>
            <a:ext cx="265557" cy="347472"/>
          </a:xfrm>
          <a:prstGeom prst="rect">
            <a:avLst/>
          </a:prstGeom>
          <a:noFill/>
        </p:spPr>
        <p:txBody>
          <a:bodyPr wrap="none" lIns="0" rIns="0" tIns="0" bIns="0">
            <a:spAutoFit/>
          </a:bodyPr>
          <a:lstStyle/>
          <a:p>
            <a:pPr algn="l">
              <a:lnSpc>
                <a:spcPts val="2464"/>
              </a:lnSpc>
              <a:spcAft>
                <a:spcPts val="0"/>
              </a:spcAft>
              <a:defRPr sz="2200" b="0">
                <a:solidFill>
                  <a:srgbClr val="182B3A"/>
                </a:solidFill>
                <a:latin typeface="Arial"/>
              </a:defRPr>
            </a:pPr>
            <a:r>
              <a:t>= </a:t>
            </a:r>
          </a:p>
        </p:txBody>
      </p:sp>
      <p:sp>
        <p:nvSpPr>
          <p:cNvPr id="96" name="TextBox 95"/>
          <p:cNvSpPr txBox="1"/>
          <p:nvPr/>
        </p:nvSpPr>
        <p:spPr>
          <a:xfrm>
            <a:off x="5779389" y="4626864"/>
            <a:ext cx="351028" cy="256032"/>
          </a:xfrm>
          <a:prstGeom prst="rect">
            <a:avLst/>
          </a:prstGeom>
          <a:noFill/>
        </p:spPr>
        <p:txBody>
          <a:bodyPr wrap="none" lIns="0" rIns="0" tIns="0" bIns="0">
            <a:spAutoFit/>
          </a:bodyPr>
          <a:lstStyle/>
          <a:p>
            <a:pPr algn="ctr">
              <a:lnSpc>
                <a:spcPts val="1904"/>
              </a:lnSpc>
              <a:spcAft>
                <a:spcPts val="0"/>
              </a:spcAft>
              <a:defRPr sz="1700" b="0">
                <a:solidFill>
                  <a:srgbClr val="182B3A"/>
                </a:solidFill>
                <a:latin typeface="Arial"/>
              </a:defRPr>
            </a:pPr>
            <a:r>
              <a:t>10</a:t>
            </a:r>
          </a:p>
        </p:txBody>
      </p:sp>
      <p:cxnSp>
        <p:nvCxnSpPr>
          <p:cNvPr id="97" name="Connector 96"/>
          <p:cNvCxnSpPr/>
          <p:nvPr/>
        </p:nvCxnSpPr>
        <p:spPr>
          <a:xfrm>
            <a:off x="5779389" y="4892040"/>
            <a:ext cx="351028" cy="0"/>
          </a:xfrm>
          <a:prstGeom prst="line">
            <a:avLst/>
          </a:prstGeom>
          <a:ln w="12700">
            <a:solidFill>
              <a:srgbClr val="182B3A"/>
            </a:solidFill>
          </a:ln>
          <a:effectLst/>
        </p:spPr>
        <p:style>
          <a:lnRef idx="2">
            <a:schemeClr val="accent1"/>
          </a:lnRef>
          <a:fillRef idx="0">
            <a:schemeClr val="accent1"/>
          </a:fillRef>
          <a:effectRef idx="1">
            <a:schemeClr val="accent1"/>
          </a:effectRef>
          <a:fontRef idx="minor">
            <a:schemeClr val="tx1"/>
          </a:fontRef>
        </p:style>
      </p:cxnSp>
      <p:sp>
        <p:nvSpPr>
          <p:cNvPr id="98" name="TextBox 97"/>
          <p:cNvSpPr txBox="1"/>
          <p:nvPr/>
        </p:nvSpPr>
        <p:spPr>
          <a:xfrm>
            <a:off x="5779389" y="4910328"/>
            <a:ext cx="351028" cy="256032"/>
          </a:xfrm>
          <a:prstGeom prst="rect">
            <a:avLst/>
          </a:prstGeom>
          <a:noFill/>
        </p:spPr>
        <p:txBody>
          <a:bodyPr wrap="none" lIns="0" rIns="0" tIns="0" bIns="0">
            <a:spAutoFit/>
          </a:bodyPr>
          <a:lstStyle/>
          <a:p>
            <a:pPr algn="ctr">
              <a:lnSpc>
                <a:spcPts val="1904"/>
              </a:lnSpc>
              <a:spcAft>
                <a:spcPts val="0"/>
              </a:spcAft>
              <a:defRPr sz="1700" b="0">
                <a:solidFill>
                  <a:srgbClr val="182B3A"/>
                </a:solidFill>
                <a:latin typeface="Arial"/>
              </a:defRPr>
            </a:pPr>
            <a:r>
              <a:t>12</a:t>
            </a:r>
          </a:p>
        </p:txBody>
      </p:sp>
      <p:sp>
        <p:nvSpPr>
          <p:cNvPr id="99" name="Rectangle 98"/>
          <p:cNvSpPr/>
          <p:nvPr/>
        </p:nvSpPr>
        <p:spPr>
          <a:xfrm>
            <a:off x="4983480" y="5705856"/>
            <a:ext cx="4631436" cy="1975104"/>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0" name="TextBox 99"/>
          <p:cNvSpPr txBox="1"/>
          <p:nvPr/>
        </p:nvSpPr>
        <p:spPr>
          <a:xfrm>
            <a:off x="5074920" y="5833872"/>
            <a:ext cx="301752" cy="365760"/>
          </a:xfrm>
          <a:prstGeom prst="rect">
            <a:avLst/>
          </a:prstGeom>
          <a:noFill/>
        </p:spPr>
        <p:txBody>
          <a:bodyPr wrap="square" lIns="54864" rIns="54864" tIns="22860" bIns="22860">
            <a:spAutoFit/>
          </a:bodyPr>
          <a:lstStyle/>
          <a:p>
            <a:pPr>
              <a:lnSpc>
                <a:spcPts val="2205"/>
              </a:lnSpc>
              <a:spcBef>
                <a:spcPts val="0"/>
              </a:spcBef>
              <a:spcAft>
                <a:spcPts val="0"/>
              </a:spcAft>
              <a:defRPr sz="2100" b="1">
                <a:solidFill>
                  <a:srgbClr val="182B3A"/>
                </a:solidFill>
                <a:latin typeface="Arial"/>
              </a:defRPr>
            </a:pPr>
            <a:r>
              <a:t>3.</a:t>
            </a:r>
          </a:p>
        </p:txBody>
      </p:sp>
      <p:sp>
        <p:nvSpPr>
          <p:cNvPr id="101" name="TextBox 100"/>
          <p:cNvSpPr txBox="1"/>
          <p:nvPr/>
        </p:nvSpPr>
        <p:spPr>
          <a:xfrm>
            <a:off x="5513832" y="5769864"/>
            <a:ext cx="230377" cy="256032"/>
          </a:xfrm>
          <a:prstGeom prst="rect">
            <a:avLst/>
          </a:prstGeom>
          <a:noFill/>
        </p:spPr>
        <p:txBody>
          <a:bodyPr wrap="none" lIns="0" rIns="0" tIns="0" bIns="0">
            <a:spAutoFit/>
          </a:bodyPr>
          <a:lstStyle/>
          <a:p>
            <a:pPr algn="ctr">
              <a:lnSpc>
                <a:spcPts val="1904"/>
              </a:lnSpc>
              <a:spcAft>
                <a:spcPts val="0"/>
              </a:spcAft>
              <a:defRPr sz="1700" b="0">
                <a:solidFill>
                  <a:srgbClr val="182B3A"/>
                </a:solidFill>
                <a:latin typeface="Arial"/>
              </a:defRPr>
            </a:pPr>
            <a:r>
              <a:t>2</a:t>
            </a:r>
          </a:p>
        </p:txBody>
      </p:sp>
      <p:cxnSp>
        <p:nvCxnSpPr>
          <p:cNvPr id="102" name="Connector 101"/>
          <p:cNvCxnSpPr/>
          <p:nvPr/>
        </p:nvCxnSpPr>
        <p:spPr>
          <a:xfrm>
            <a:off x="5513832" y="6035040"/>
            <a:ext cx="230378" cy="0"/>
          </a:xfrm>
          <a:prstGeom prst="line">
            <a:avLst/>
          </a:prstGeom>
          <a:ln w="12700">
            <a:solidFill>
              <a:srgbClr val="182B3A"/>
            </a:solidFill>
          </a:ln>
          <a:effectLst/>
        </p:spPr>
        <p:style>
          <a:lnRef idx="2">
            <a:schemeClr val="accent1"/>
          </a:lnRef>
          <a:fillRef idx="0">
            <a:schemeClr val="accent1"/>
          </a:fillRef>
          <a:effectRef idx="1">
            <a:schemeClr val="accent1"/>
          </a:effectRef>
          <a:fontRef idx="minor">
            <a:schemeClr val="tx1"/>
          </a:fontRef>
        </p:style>
      </p:cxnSp>
      <p:sp>
        <p:nvSpPr>
          <p:cNvPr id="103" name="TextBox 102"/>
          <p:cNvSpPr txBox="1"/>
          <p:nvPr/>
        </p:nvSpPr>
        <p:spPr>
          <a:xfrm>
            <a:off x="5513832" y="6053328"/>
            <a:ext cx="230377" cy="256032"/>
          </a:xfrm>
          <a:prstGeom prst="rect">
            <a:avLst/>
          </a:prstGeom>
          <a:noFill/>
        </p:spPr>
        <p:txBody>
          <a:bodyPr wrap="none" lIns="0" rIns="0" tIns="0" bIns="0">
            <a:spAutoFit/>
          </a:bodyPr>
          <a:lstStyle/>
          <a:p>
            <a:pPr algn="ctr">
              <a:lnSpc>
                <a:spcPts val="1904"/>
              </a:lnSpc>
              <a:spcAft>
                <a:spcPts val="0"/>
              </a:spcAft>
              <a:defRPr sz="1700" b="0">
                <a:solidFill>
                  <a:srgbClr val="182B3A"/>
                </a:solidFill>
                <a:latin typeface="Arial"/>
              </a:defRPr>
            </a:pPr>
            <a:r>
              <a:t>5</a:t>
            </a:r>
          </a:p>
        </p:txBody>
      </p:sp>
      <p:sp>
        <p:nvSpPr>
          <p:cNvPr id="104" name="TextBox 103"/>
          <p:cNvSpPr txBox="1"/>
          <p:nvPr/>
        </p:nvSpPr>
        <p:spPr>
          <a:xfrm>
            <a:off x="5799074" y="5888736"/>
            <a:ext cx="341757" cy="347472"/>
          </a:xfrm>
          <a:prstGeom prst="rect">
            <a:avLst/>
          </a:prstGeom>
          <a:noFill/>
        </p:spPr>
        <p:txBody>
          <a:bodyPr wrap="none" lIns="0" rIns="0" tIns="0" bIns="0">
            <a:spAutoFit/>
          </a:bodyPr>
          <a:lstStyle/>
          <a:p>
            <a:pPr algn="l">
              <a:lnSpc>
                <a:spcPts val="2464"/>
              </a:lnSpc>
              <a:spcAft>
                <a:spcPts val="0"/>
              </a:spcAft>
              <a:defRPr sz="2200" b="0">
                <a:solidFill>
                  <a:srgbClr val="182B3A"/>
                </a:solidFill>
                <a:latin typeface="Arial"/>
              </a:defRPr>
            </a:pPr>
            <a:r>
              <a:t> + </a:t>
            </a:r>
          </a:p>
        </p:txBody>
      </p:sp>
      <p:sp>
        <p:nvSpPr>
          <p:cNvPr id="105" name="TextBox 104"/>
          <p:cNvSpPr txBox="1"/>
          <p:nvPr/>
        </p:nvSpPr>
        <p:spPr>
          <a:xfrm>
            <a:off x="6140831" y="5769864"/>
            <a:ext cx="351028" cy="256032"/>
          </a:xfrm>
          <a:prstGeom prst="rect">
            <a:avLst/>
          </a:prstGeom>
          <a:noFill/>
        </p:spPr>
        <p:txBody>
          <a:bodyPr wrap="none" lIns="0" rIns="0" tIns="0" bIns="0">
            <a:spAutoFit/>
          </a:bodyPr>
          <a:lstStyle/>
          <a:p>
            <a:pPr algn="ctr">
              <a:lnSpc>
                <a:spcPts val="1904"/>
              </a:lnSpc>
              <a:spcAft>
                <a:spcPts val="0"/>
              </a:spcAft>
              <a:defRPr sz="1700" b="0">
                <a:solidFill>
                  <a:srgbClr val="182B3A"/>
                </a:solidFill>
                <a:latin typeface="Arial"/>
              </a:defRPr>
            </a:pPr>
            <a:r>
              <a:t>3</a:t>
            </a:r>
          </a:p>
        </p:txBody>
      </p:sp>
      <p:cxnSp>
        <p:nvCxnSpPr>
          <p:cNvPr id="106" name="Connector 105"/>
          <p:cNvCxnSpPr/>
          <p:nvPr/>
        </p:nvCxnSpPr>
        <p:spPr>
          <a:xfrm>
            <a:off x="6140831" y="6035040"/>
            <a:ext cx="351028" cy="0"/>
          </a:xfrm>
          <a:prstGeom prst="line">
            <a:avLst/>
          </a:prstGeom>
          <a:ln w="12700">
            <a:solidFill>
              <a:srgbClr val="182B3A"/>
            </a:solidFill>
          </a:ln>
          <a:effectLst/>
        </p:spPr>
        <p:style>
          <a:lnRef idx="2">
            <a:schemeClr val="accent1"/>
          </a:lnRef>
          <a:fillRef idx="0">
            <a:schemeClr val="accent1"/>
          </a:fillRef>
          <a:effectRef idx="1">
            <a:schemeClr val="accent1"/>
          </a:effectRef>
          <a:fontRef idx="minor">
            <a:schemeClr val="tx1"/>
          </a:fontRef>
        </p:style>
      </p:cxnSp>
      <p:sp>
        <p:nvSpPr>
          <p:cNvPr id="107" name="TextBox 106"/>
          <p:cNvSpPr txBox="1"/>
          <p:nvPr/>
        </p:nvSpPr>
        <p:spPr>
          <a:xfrm>
            <a:off x="6140831" y="6053328"/>
            <a:ext cx="351028" cy="256032"/>
          </a:xfrm>
          <a:prstGeom prst="rect">
            <a:avLst/>
          </a:prstGeom>
          <a:noFill/>
        </p:spPr>
        <p:txBody>
          <a:bodyPr wrap="none" lIns="0" rIns="0" tIns="0" bIns="0">
            <a:spAutoFit/>
          </a:bodyPr>
          <a:lstStyle/>
          <a:p>
            <a:pPr algn="ctr">
              <a:lnSpc>
                <a:spcPts val="1904"/>
              </a:lnSpc>
              <a:spcAft>
                <a:spcPts val="0"/>
              </a:spcAft>
              <a:defRPr sz="1700" b="0">
                <a:solidFill>
                  <a:srgbClr val="182B3A"/>
                </a:solidFill>
                <a:latin typeface="Arial"/>
              </a:defRPr>
            </a:pPr>
            <a:r>
              <a:t>10</a:t>
            </a:r>
          </a:p>
        </p:txBody>
      </p:sp>
      <p:sp>
        <p:nvSpPr>
          <p:cNvPr id="108" name="TextBox 107"/>
          <p:cNvSpPr txBox="1"/>
          <p:nvPr/>
        </p:nvSpPr>
        <p:spPr>
          <a:xfrm>
            <a:off x="5513832" y="6336792"/>
            <a:ext cx="265557" cy="347472"/>
          </a:xfrm>
          <a:prstGeom prst="rect">
            <a:avLst/>
          </a:prstGeom>
          <a:noFill/>
        </p:spPr>
        <p:txBody>
          <a:bodyPr wrap="none" lIns="0" rIns="0" tIns="0" bIns="0">
            <a:spAutoFit/>
          </a:bodyPr>
          <a:lstStyle/>
          <a:p>
            <a:pPr algn="l">
              <a:lnSpc>
                <a:spcPts val="2464"/>
              </a:lnSpc>
              <a:spcAft>
                <a:spcPts val="0"/>
              </a:spcAft>
              <a:defRPr sz="2200" b="0">
                <a:solidFill>
                  <a:srgbClr val="182B3A"/>
                </a:solidFill>
                <a:latin typeface="Arial"/>
              </a:defRPr>
            </a:pPr>
            <a:r>
              <a:t>= </a:t>
            </a:r>
          </a:p>
        </p:txBody>
      </p:sp>
      <p:sp>
        <p:nvSpPr>
          <p:cNvPr id="109" name="TextBox 108"/>
          <p:cNvSpPr txBox="1"/>
          <p:nvPr/>
        </p:nvSpPr>
        <p:spPr>
          <a:xfrm>
            <a:off x="5779389" y="6217920"/>
            <a:ext cx="351028" cy="256032"/>
          </a:xfrm>
          <a:prstGeom prst="rect">
            <a:avLst/>
          </a:prstGeom>
          <a:noFill/>
        </p:spPr>
        <p:txBody>
          <a:bodyPr wrap="none" lIns="0" rIns="0" tIns="0" bIns="0">
            <a:spAutoFit/>
          </a:bodyPr>
          <a:lstStyle/>
          <a:p>
            <a:pPr algn="ctr">
              <a:lnSpc>
                <a:spcPts val="1904"/>
              </a:lnSpc>
              <a:spcAft>
                <a:spcPts val="0"/>
              </a:spcAft>
              <a:defRPr sz="1700" b="0">
                <a:solidFill>
                  <a:srgbClr val="182B3A"/>
                </a:solidFill>
                <a:latin typeface="Arial"/>
              </a:defRPr>
            </a:pPr>
            <a:r>
              <a:t>4</a:t>
            </a:r>
          </a:p>
        </p:txBody>
      </p:sp>
      <p:cxnSp>
        <p:nvCxnSpPr>
          <p:cNvPr id="110" name="Connector 109"/>
          <p:cNvCxnSpPr/>
          <p:nvPr/>
        </p:nvCxnSpPr>
        <p:spPr>
          <a:xfrm>
            <a:off x="5779389" y="6483096"/>
            <a:ext cx="351028" cy="0"/>
          </a:xfrm>
          <a:prstGeom prst="line">
            <a:avLst/>
          </a:prstGeom>
          <a:ln w="12700">
            <a:solidFill>
              <a:srgbClr val="182B3A"/>
            </a:solidFill>
          </a:ln>
          <a:effectLst/>
        </p:spPr>
        <p:style>
          <a:lnRef idx="2">
            <a:schemeClr val="accent1"/>
          </a:lnRef>
          <a:fillRef idx="0">
            <a:schemeClr val="accent1"/>
          </a:fillRef>
          <a:effectRef idx="1">
            <a:schemeClr val="accent1"/>
          </a:effectRef>
          <a:fontRef idx="minor">
            <a:schemeClr val="tx1"/>
          </a:fontRef>
        </p:style>
      </p:cxnSp>
      <p:sp>
        <p:nvSpPr>
          <p:cNvPr id="111" name="TextBox 110"/>
          <p:cNvSpPr txBox="1"/>
          <p:nvPr/>
        </p:nvSpPr>
        <p:spPr>
          <a:xfrm>
            <a:off x="5779389" y="6501384"/>
            <a:ext cx="351028" cy="256032"/>
          </a:xfrm>
          <a:prstGeom prst="rect">
            <a:avLst/>
          </a:prstGeom>
          <a:noFill/>
        </p:spPr>
        <p:txBody>
          <a:bodyPr wrap="none" lIns="0" rIns="0" tIns="0" bIns="0">
            <a:spAutoFit/>
          </a:bodyPr>
          <a:lstStyle/>
          <a:p>
            <a:pPr algn="ctr">
              <a:lnSpc>
                <a:spcPts val="1904"/>
              </a:lnSpc>
              <a:spcAft>
                <a:spcPts val="0"/>
              </a:spcAft>
              <a:defRPr sz="1700" b="0">
                <a:solidFill>
                  <a:srgbClr val="182B3A"/>
                </a:solidFill>
                <a:latin typeface="Arial"/>
              </a:defRPr>
            </a:pPr>
            <a:r>
              <a:t>10</a:t>
            </a:r>
          </a:p>
        </p:txBody>
      </p:sp>
      <p:sp>
        <p:nvSpPr>
          <p:cNvPr id="112" name="TextBox 111"/>
          <p:cNvSpPr txBox="1"/>
          <p:nvPr/>
        </p:nvSpPr>
        <p:spPr>
          <a:xfrm>
            <a:off x="6185281" y="6336792"/>
            <a:ext cx="341757" cy="347472"/>
          </a:xfrm>
          <a:prstGeom prst="rect">
            <a:avLst/>
          </a:prstGeom>
          <a:noFill/>
        </p:spPr>
        <p:txBody>
          <a:bodyPr wrap="none" lIns="0" rIns="0" tIns="0" bIns="0">
            <a:spAutoFit/>
          </a:bodyPr>
          <a:lstStyle/>
          <a:p>
            <a:pPr algn="l">
              <a:lnSpc>
                <a:spcPts val="2464"/>
              </a:lnSpc>
              <a:spcAft>
                <a:spcPts val="0"/>
              </a:spcAft>
              <a:defRPr sz="2200" b="0">
                <a:solidFill>
                  <a:srgbClr val="182B3A"/>
                </a:solidFill>
                <a:latin typeface="Arial"/>
              </a:defRPr>
            </a:pPr>
            <a:r>
              <a:t> + </a:t>
            </a:r>
          </a:p>
        </p:txBody>
      </p:sp>
      <p:sp>
        <p:nvSpPr>
          <p:cNvPr id="113" name="TextBox 112"/>
          <p:cNvSpPr txBox="1"/>
          <p:nvPr/>
        </p:nvSpPr>
        <p:spPr>
          <a:xfrm>
            <a:off x="6527038" y="6217920"/>
            <a:ext cx="351028" cy="256032"/>
          </a:xfrm>
          <a:prstGeom prst="rect">
            <a:avLst/>
          </a:prstGeom>
          <a:noFill/>
        </p:spPr>
        <p:txBody>
          <a:bodyPr wrap="none" lIns="0" rIns="0" tIns="0" bIns="0">
            <a:spAutoFit/>
          </a:bodyPr>
          <a:lstStyle/>
          <a:p>
            <a:pPr algn="ctr">
              <a:lnSpc>
                <a:spcPts val="1904"/>
              </a:lnSpc>
              <a:spcAft>
                <a:spcPts val="0"/>
              </a:spcAft>
              <a:defRPr sz="1700" b="0">
                <a:solidFill>
                  <a:srgbClr val="182B3A"/>
                </a:solidFill>
                <a:latin typeface="Arial"/>
              </a:defRPr>
            </a:pPr>
            <a:r>
              <a:t>3</a:t>
            </a:r>
          </a:p>
        </p:txBody>
      </p:sp>
      <p:cxnSp>
        <p:nvCxnSpPr>
          <p:cNvPr id="114" name="Connector 113"/>
          <p:cNvCxnSpPr/>
          <p:nvPr/>
        </p:nvCxnSpPr>
        <p:spPr>
          <a:xfrm>
            <a:off x="6527038" y="6483096"/>
            <a:ext cx="351028" cy="0"/>
          </a:xfrm>
          <a:prstGeom prst="line">
            <a:avLst/>
          </a:prstGeom>
          <a:ln w="12700">
            <a:solidFill>
              <a:srgbClr val="182B3A"/>
            </a:solidFill>
          </a:ln>
          <a:effectLst/>
        </p:spPr>
        <p:style>
          <a:lnRef idx="2">
            <a:schemeClr val="accent1"/>
          </a:lnRef>
          <a:fillRef idx="0">
            <a:schemeClr val="accent1"/>
          </a:fillRef>
          <a:effectRef idx="1">
            <a:schemeClr val="accent1"/>
          </a:effectRef>
          <a:fontRef idx="minor">
            <a:schemeClr val="tx1"/>
          </a:fontRef>
        </p:style>
      </p:cxnSp>
      <p:sp>
        <p:nvSpPr>
          <p:cNvPr id="115" name="TextBox 114"/>
          <p:cNvSpPr txBox="1"/>
          <p:nvPr/>
        </p:nvSpPr>
        <p:spPr>
          <a:xfrm>
            <a:off x="6527038" y="6501384"/>
            <a:ext cx="351028" cy="256032"/>
          </a:xfrm>
          <a:prstGeom prst="rect">
            <a:avLst/>
          </a:prstGeom>
          <a:noFill/>
        </p:spPr>
        <p:txBody>
          <a:bodyPr wrap="none" lIns="0" rIns="0" tIns="0" bIns="0">
            <a:spAutoFit/>
          </a:bodyPr>
          <a:lstStyle/>
          <a:p>
            <a:pPr algn="ctr">
              <a:lnSpc>
                <a:spcPts val="1904"/>
              </a:lnSpc>
              <a:spcAft>
                <a:spcPts val="0"/>
              </a:spcAft>
              <a:defRPr sz="1700" b="0">
                <a:solidFill>
                  <a:srgbClr val="182B3A"/>
                </a:solidFill>
                <a:latin typeface="Arial"/>
              </a:defRPr>
            </a:pPr>
            <a:r>
              <a:t>10</a:t>
            </a:r>
          </a:p>
        </p:txBody>
      </p:sp>
      <p:sp>
        <p:nvSpPr>
          <p:cNvPr id="116" name="TextBox 115"/>
          <p:cNvSpPr txBox="1"/>
          <p:nvPr/>
        </p:nvSpPr>
        <p:spPr>
          <a:xfrm>
            <a:off x="5513832" y="6784848"/>
            <a:ext cx="265557" cy="347472"/>
          </a:xfrm>
          <a:prstGeom prst="rect">
            <a:avLst/>
          </a:prstGeom>
          <a:noFill/>
        </p:spPr>
        <p:txBody>
          <a:bodyPr wrap="none" lIns="0" rIns="0" tIns="0" bIns="0">
            <a:spAutoFit/>
          </a:bodyPr>
          <a:lstStyle/>
          <a:p>
            <a:pPr algn="l">
              <a:lnSpc>
                <a:spcPts val="2464"/>
              </a:lnSpc>
              <a:spcAft>
                <a:spcPts val="0"/>
              </a:spcAft>
              <a:defRPr sz="2200" b="0">
                <a:solidFill>
                  <a:srgbClr val="182B3A"/>
                </a:solidFill>
                <a:latin typeface="Arial"/>
              </a:defRPr>
            </a:pPr>
            <a:r>
              <a:t>= </a:t>
            </a:r>
          </a:p>
        </p:txBody>
      </p:sp>
      <p:sp>
        <p:nvSpPr>
          <p:cNvPr id="117" name="TextBox 116"/>
          <p:cNvSpPr txBox="1"/>
          <p:nvPr/>
        </p:nvSpPr>
        <p:spPr>
          <a:xfrm>
            <a:off x="5779389" y="6665976"/>
            <a:ext cx="351028" cy="256032"/>
          </a:xfrm>
          <a:prstGeom prst="rect">
            <a:avLst/>
          </a:prstGeom>
          <a:noFill/>
        </p:spPr>
        <p:txBody>
          <a:bodyPr wrap="none" lIns="0" rIns="0" tIns="0" bIns="0">
            <a:spAutoFit/>
          </a:bodyPr>
          <a:lstStyle/>
          <a:p>
            <a:pPr algn="ctr">
              <a:lnSpc>
                <a:spcPts val="1904"/>
              </a:lnSpc>
              <a:spcAft>
                <a:spcPts val="0"/>
              </a:spcAft>
              <a:defRPr sz="1700" b="0">
                <a:solidFill>
                  <a:srgbClr val="182B3A"/>
                </a:solidFill>
                <a:latin typeface="Arial"/>
              </a:defRPr>
            </a:pPr>
            <a:r>
              <a:t>7</a:t>
            </a:r>
          </a:p>
        </p:txBody>
      </p:sp>
      <p:cxnSp>
        <p:nvCxnSpPr>
          <p:cNvPr id="118" name="Connector 117"/>
          <p:cNvCxnSpPr/>
          <p:nvPr/>
        </p:nvCxnSpPr>
        <p:spPr>
          <a:xfrm>
            <a:off x="5779389" y="6931152"/>
            <a:ext cx="351028" cy="0"/>
          </a:xfrm>
          <a:prstGeom prst="line">
            <a:avLst/>
          </a:prstGeom>
          <a:ln w="12700">
            <a:solidFill>
              <a:srgbClr val="182B3A"/>
            </a:solidFill>
          </a:ln>
          <a:effectLst/>
        </p:spPr>
        <p:style>
          <a:lnRef idx="2">
            <a:schemeClr val="accent1"/>
          </a:lnRef>
          <a:fillRef idx="0">
            <a:schemeClr val="accent1"/>
          </a:fillRef>
          <a:effectRef idx="1">
            <a:schemeClr val="accent1"/>
          </a:effectRef>
          <a:fontRef idx="minor">
            <a:schemeClr val="tx1"/>
          </a:fontRef>
        </p:style>
      </p:cxnSp>
      <p:sp>
        <p:nvSpPr>
          <p:cNvPr id="119" name="TextBox 118"/>
          <p:cNvSpPr txBox="1"/>
          <p:nvPr/>
        </p:nvSpPr>
        <p:spPr>
          <a:xfrm>
            <a:off x="5779389" y="6949440"/>
            <a:ext cx="351028" cy="256032"/>
          </a:xfrm>
          <a:prstGeom prst="rect">
            <a:avLst/>
          </a:prstGeom>
          <a:noFill/>
        </p:spPr>
        <p:txBody>
          <a:bodyPr wrap="none" lIns="0" rIns="0" tIns="0" bIns="0">
            <a:spAutoFit/>
          </a:bodyPr>
          <a:lstStyle/>
          <a:p>
            <a:pPr algn="ctr">
              <a:lnSpc>
                <a:spcPts val="1904"/>
              </a:lnSpc>
              <a:spcAft>
                <a:spcPts val="0"/>
              </a:spcAft>
              <a:defRPr sz="1700" b="0">
                <a:solidFill>
                  <a:srgbClr val="182B3A"/>
                </a:solidFill>
                <a:latin typeface="Arial"/>
              </a:defRPr>
            </a:pPr>
            <a:r>
              <a:t>20</a:t>
            </a:r>
          </a:p>
        </p:txBody>
      </p:sp>
      <p:sp>
        <p:nvSpPr>
          <p:cNvPr id="120" name="Rectangle 119"/>
          <p:cNvSpPr/>
          <p:nvPr/>
        </p:nvSpPr>
        <p:spPr>
          <a:xfrm>
            <a:off x="9646920" y="1627632"/>
            <a:ext cx="4631436" cy="1975104"/>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1" name="TextBox 120"/>
          <p:cNvSpPr txBox="1"/>
          <p:nvPr/>
        </p:nvSpPr>
        <p:spPr>
          <a:xfrm>
            <a:off x="9738360" y="1755648"/>
            <a:ext cx="301752" cy="365760"/>
          </a:xfrm>
          <a:prstGeom prst="rect">
            <a:avLst/>
          </a:prstGeom>
          <a:noFill/>
        </p:spPr>
        <p:txBody>
          <a:bodyPr wrap="square" lIns="54864" rIns="54864" tIns="22860" bIns="22860">
            <a:spAutoFit/>
          </a:bodyPr>
          <a:lstStyle/>
          <a:p>
            <a:pPr>
              <a:lnSpc>
                <a:spcPts val="2205"/>
              </a:lnSpc>
              <a:spcBef>
                <a:spcPts val="0"/>
              </a:spcBef>
              <a:spcAft>
                <a:spcPts val="0"/>
              </a:spcAft>
              <a:defRPr sz="2100" b="1">
                <a:solidFill>
                  <a:srgbClr val="182B3A"/>
                </a:solidFill>
                <a:latin typeface="Arial"/>
              </a:defRPr>
            </a:pPr>
            <a:r>
              <a:t>1.</a:t>
            </a:r>
          </a:p>
        </p:txBody>
      </p:sp>
      <p:sp>
        <p:nvSpPr>
          <p:cNvPr id="122" name="TextBox 121"/>
          <p:cNvSpPr txBox="1"/>
          <p:nvPr/>
        </p:nvSpPr>
        <p:spPr>
          <a:xfrm>
            <a:off x="10177272" y="1810512"/>
            <a:ext cx="259207" cy="347472"/>
          </a:xfrm>
          <a:prstGeom prst="rect">
            <a:avLst/>
          </a:prstGeom>
          <a:noFill/>
        </p:spPr>
        <p:txBody>
          <a:bodyPr wrap="none" lIns="0" rIns="0" tIns="0" bIns="0">
            <a:spAutoFit/>
          </a:bodyPr>
          <a:lstStyle/>
          <a:p>
            <a:pPr algn="l">
              <a:lnSpc>
                <a:spcPts val="2464"/>
              </a:lnSpc>
              <a:spcAft>
                <a:spcPts val="0"/>
              </a:spcAft>
              <a:defRPr sz="2200" b="0">
                <a:solidFill>
                  <a:srgbClr val="182B3A"/>
                </a:solidFill>
                <a:latin typeface="Arial"/>
              </a:defRPr>
            </a:pPr>
            <a:r>
              <a:t>2 </a:t>
            </a:r>
          </a:p>
        </p:txBody>
      </p:sp>
      <p:sp>
        <p:nvSpPr>
          <p:cNvPr id="123" name="TextBox 122"/>
          <p:cNvSpPr txBox="1"/>
          <p:nvPr/>
        </p:nvSpPr>
        <p:spPr>
          <a:xfrm>
            <a:off x="10436479" y="1691640"/>
            <a:ext cx="230377" cy="256032"/>
          </a:xfrm>
          <a:prstGeom prst="rect">
            <a:avLst/>
          </a:prstGeom>
          <a:noFill/>
        </p:spPr>
        <p:txBody>
          <a:bodyPr wrap="none" lIns="0" rIns="0" tIns="0" bIns="0">
            <a:spAutoFit/>
          </a:bodyPr>
          <a:lstStyle/>
          <a:p>
            <a:pPr algn="ctr">
              <a:lnSpc>
                <a:spcPts val="1904"/>
              </a:lnSpc>
              <a:spcAft>
                <a:spcPts val="0"/>
              </a:spcAft>
              <a:defRPr sz="1700" b="0">
                <a:solidFill>
                  <a:srgbClr val="182B3A"/>
                </a:solidFill>
                <a:latin typeface="Arial"/>
              </a:defRPr>
            </a:pPr>
            <a:r>
              <a:t>1</a:t>
            </a:r>
          </a:p>
        </p:txBody>
      </p:sp>
      <p:cxnSp>
        <p:nvCxnSpPr>
          <p:cNvPr id="124" name="Connector 123"/>
          <p:cNvCxnSpPr/>
          <p:nvPr/>
        </p:nvCxnSpPr>
        <p:spPr>
          <a:xfrm>
            <a:off x="10436479" y="1956816"/>
            <a:ext cx="230378" cy="0"/>
          </a:xfrm>
          <a:prstGeom prst="line">
            <a:avLst/>
          </a:prstGeom>
          <a:ln w="12700">
            <a:solidFill>
              <a:srgbClr val="182B3A"/>
            </a:solidFill>
          </a:ln>
          <a:effectLst/>
        </p:spPr>
        <p:style>
          <a:lnRef idx="2">
            <a:schemeClr val="accent1"/>
          </a:lnRef>
          <a:fillRef idx="0">
            <a:schemeClr val="accent1"/>
          </a:fillRef>
          <a:effectRef idx="1">
            <a:schemeClr val="accent1"/>
          </a:effectRef>
          <a:fontRef idx="minor">
            <a:schemeClr val="tx1"/>
          </a:fontRef>
        </p:style>
      </p:cxnSp>
      <p:sp>
        <p:nvSpPr>
          <p:cNvPr id="125" name="TextBox 124"/>
          <p:cNvSpPr txBox="1"/>
          <p:nvPr/>
        </p:nvSpPr>
        <p:spPr>
          <a:xfrm>
            <a:off x="10436479" y="1975104"/>
            <a:ext cx="230377" cy="256032"/>
          </a:xfrm>
          <a:prstGeom prst="rect">
            <a:avLst/>
          </a:prstGeom>
          <a:noFill/>
        </p:spPr>
        <p:txBody>
          <a:bodyPr wrap="none" lIns="0" rIns="0" tIns="0" bIns="0">
            <a:spAutoFit/>
          </a:bodyPr>
          <a:lstStyle/>
          <a:p>
            <a:pPr algn="ctr">
              <a:lnSpc>
                <a:spcPts val="1904"/>
              </a:lnSpc>
              <a:spcAft>
                <a:spcPts val="0"/>
              </a:spcAft>
              <a:defRPr sz="1700" b="0">
                <a:solidFill>
                  <a:srgbClr val="182B3A"/>
                </a:solidFill>
                <a:latin typeface="Arial"/>
              </a:defRPr>
            </a:pPr>
            <a:r>
              <a:t>3</a:t>
            </a:r>
          </a:p>
        </p:txBody>
      </p:sp>
      <p:sp>
        <p:nvSpPr>
          <p:cNvPr id="126" name="TextBox 125"/>
          <p:cNvSpPr txBox="1"/>
          <p:nvPr/>
        </p:nvSpPr>
        <p:spPr>
          <a:xfrm>
            <a:off x="10721721" y="1810512"/>
            <a:ext cx="341757" cy="347472"/>
          </a:xfrm>
          <a:prstGeom prst="rect">
            <a:avLst/>
          </a:prstGeom>
          <a:noFill/>
        </p:spPr>
        <p:txBody>
          <a:bodyPr wrap="none" lIns="0" rIns="0" tIns="0" bIns="0">
            <a:spAutoFit/>
          </a:bodyPr>
          <a:lstStyle/>
          <a:p>
            <a:pPr algn="l">
              <a:lnSpc>
                <a:spcPts val="2464"/>
              </a:lnSpc>
              <a:spcAft>
                <a:spcPts val="0"/>
              </a:spcAft>
              <a:defRPr sz="2200" b="0">
                <a:solidFill>
                  <a:srgbClr val="182B3A"/>
                </a:solidFill>
                <a:latin typeface="Arial"/>
              </a:defRPr>
            </a:pPr>
            <a:r>
              <a:t> − </a:t>
            </a:r>
          </a:p>
        </p:txBody>
      </p:sp>
      <p:sp>
        <p:nvSpPr>
          <p:cNvPr id="127" name="TextBox 126"/>
          <p:cNvSpPr txBox="1"/>
          <p:nvPr/>
        </p:nvSpPr>
        <p:spPr>
          <a:xfrm>
            <a:off x="11063478" y="1691640"/>
            <a:ext cx="230377" cy="256032"/>
          </a:xfrm>
          <a:prstGeom prst="rect">
            <a:avLst/>
          </a:prstGeom>
          <a:noFill/>
        </p:spPr>
        <p:txBody>
          <a:bodyPr wrap="none" lIns="0" rIns="0" tIns="0" bIns="0">
            <a:spAutoFit/>
          </a:bodyPr>
          <a:lstStyle/>
          <a:p>
            <a:pPr algn="ctr">
              <a:lnSpc>
                <a:spcPts val="1904"/>
              </a:lnSpc>
              <a:spcAft>
                <a:spcPts val="0"/>
              </a:spcAft>
              <a:defRPr sz="1700" b="0">
                <a:solidFill>
                  <a:srgbClr val="182B3A"/>
                </a:solidFill>
                <a:latin typeface="Arial"/>
              </a:defRPr>
            </a:pPr>
            <a:r>
              <a:t>1</a:t>
            </a:r>
          </a:p>
        </p:txBody>
      </p:sp>
      <p:cxnSp>
        <p:nvCxnSpPr>
          <p:cNvPr id="128" name="Connector 127"/>
          <p:cNvCxnSpPr/>
          <p:nvPr/>
        </p:nvCxnSpPr>
        <p:spPr>
          <a:xfrm>
            <a:off x="11063478" y="1956816"/>
            <a:ext cx="230378" cy="0"/>
          </a:xfrm>
          <a:prstGeom prst="line">
            <a:avLst/>
          </a:prstGeom>
          <a:ln w="12700">
            <a:solidFill>
              <a:srgbClr val="182B3A"/>
            </a:solidFill>
          </a:ln>
          <a:effectLst/>
        </p:spPr>
        <p:style>
          <a:lnRef idx="2">
            <a:schemeClr val="accent1"/>
          </a:lnRef>
          <a:fillRef idx="0">
            <a:schemeClr val="accent1"/>
          </a:fillRef>
          <a:effectRef idx="1">
            <a:schemeClr val="accent1"/>
          </a:effectRef>
          <a:fontRef idx="minor">
            <a:schemeClr val="tx1"/>
          </a:fontRef>
        </p:style>
      </p:cxnSp>
      <p:sp>
        <p:nvSpPr>
          <p:cNvPr id="129" name="TextBox 128"/>
          <p:cNvSpPr txBox="1"/>
          <p:nvPr/>
        </p:nvSpPr>
        <p:spPr>
          <a:xfrm>
            <a:off x="11063478" y="1975104"/>
            <a:ext cx="230377" cy="256032"/>
          </a:xfrm>
          <a:prstGeom prst="rect">
            <a:avLst/>
          </a:prstGeom>
          <a:noFill/>
        </p:spPr>
        <p:txBody>
          <a:bodyPr wrap="none" lIns="0" rIns="0" tIns="0" bIns="0">
            <a:spAutoFit/>
          </a:bodyPr>
          <a:lstStyle/>
          <a:p>
            <a:pPr algn="ctr">
              <a:lnSpc>
                <a:spcPts val="1904"/>
              </a:lnSpc>
              <a:spcAft>
                <a:spcPts val="0"/>
              </a:spcAft>
              <a:defRPr sz="1700" b="0">
                <a:solidFill>
                  <a:srgbClr val="182B3A"/>
                </a:solidFill>
                <a:latin typeface="Arial"/>
              </a:defRPr>
            </a:pPr>
            <a:r>
              <a:t>4</a:t>
            </a:r>
          </a:p>
        </p:txBody>
      </p:sp>
      <p:sp>
        <p:nvSpPr>
          <p:cNvPr id="130" name="TextBox 129"/>
          <p:cNvSpPr txBox="1"/>
          <p:nvPr/>
        </p:nvSpPr>
        <p:spPr>
          <a:xfrm>
            <a:off x="10177272" y="2258568"/>
            <a:ext cx="265557" cy="347472"/>
          </a:xfrm>
          <a:prstGeom prst="rect">
            <a:avLst/>
          </a:prstGeom>
          <a:noFill/>
        </p:spPr>
        <p:txBody>
          <a:bodyPr wrap="none" lIns="0" rIns="0" tIns="0" bIns="0">
            <a:spAutoFit/>
          </a:bodyPr>
          <a:lstStyle/>
          <a:p>
            <a:pPr algn="l">
              <a:lnSpc>
                <a:spcPts val="2464"/>
              </a:lnSpc>
              <a:spcAft>
                <a:spcPts val="0"/>
              </a:spcAft>
              <a:defRPr sz="2200" b="0">
                <a:solidFill>
                  <a:srgbClr val="182B3A"/>
                </a:solidFill>
                <a:latin typeface="Arial"/>
              </a:defRPr>
            </a:pPr>
            <a:r>
              <a:t>= </a:t>
            </a:r>
          </a:p>
        </p:txBody>
      </p:sp>
      <p:sp>
        <p:nvSpPr>
          <p:cNvPr id="131" name="TextBox 130"/>
          <p:cNvSpPr txBox="1"/>
          <p:nvPr/>
        </p:nvSpPr>
        <p:spPr>
          <a:xfrm>
            <a:off x="10442829" y="2139696"/>
            <a:ext cx="230377" cy="256032"/>
          </a:xfrm>
          <a:prstGeom prst="rect">
            <a:avLst/>
          </a:prstGeom>
          <a:noFill/>
        </p:spPr>
        <p:txBody>
          <a:bodyPr wrap="none" lIns="0" rIns="0" tIns="0" bIns="0">
            <a:spAutoFit/>
          </a:bodyPr>
          <a:lstStyle/>
          <a:p>
            <a:pPr algn="ctr">
              <a:lnSpc>
                <a:spcPts val="1904"/>
              </a:lnSpc>
              <a:spcAft>
                <a:spcPts val="0"/>
              </a:spcAft>
              <a:defRPr sz="1700" b="0">
                <a:solidFill>
                  <a:srgbClr val="182B3A"/>
                </a:solidFill>
                <a:latin typeface="Arial"/>
              </a:defRPr>
            </a:pPr>
            <a:r>
              <a:t>3</a:t>
            </a:r>
          </a:p>
        </p:txBody>
      </p:sp>
      <p:cxnSp>
        <p:nvCxnSpPr>
          <p:cNvPr id="132" name="Connector 131"/>
          <p:cNvCxnSpPr/>
          <p:nvPr/>
        </p:nvCxnSpPr>
        <p:spPr>
          <a:xfrm>
            <a:off x="10442829" y="2404872"/>
            <a:ext cx="230378" cy="0"/>
          </a:xfrm>
          <a:prstGeom prst="line">
            <a:avLst/>
          </a:prstGeom>
          <a:ln w="12700">
            <a:solidFill>
              <a:srgbClr val="182B3A"/>
            </a:solidFill>
          </a:ln>
          <a:effectLst/>
        </p:spPr>
        <p:style>
          <a:lnRef idx="2">
            <a:schemeClr val="accent1"/>
          </a:lnRef>
          <a:fillRef idx="0">
            <a:schemeClr val="accent1"/>
          </a:fillRef>
          <a:effectRef idx="1">
            <a:schemeClr val="accent1"/>
          </a:effectRef>
          <a:fontRef idx="minor">
            <a:schemeClr val="tx1"/>
          </a:fontRef>
        </p:style>
      </p:cxnSp>
      <p:sp>
        <p:nvSpPr>
          <p:cNvPr id="133" name="TextBox 132"/>
          <p:cNvSpPr txBox="1"/>
          <p:nvPr/>
        </p:nvSpPr>
        <p:spPr>
          <a:xfrm>
            <a:off x="10442829" y="2423160"/>
            <a:ext cx="230377" cy="256032"/>
          </a:xfrm>
          <a:prstGeom prst="rect">
            <a:avLst/>
          </a:prstGeom>
          <a:noFill/>
        </p:spPr>
        <p:txBody>
          <a:bodyPr wrap="none" lIns="0" rIns="0" tIns="0" bIns="0">
            <a:spAutoFit/>
          </a:bodyPr>
          <a:lstStyle/>
          <a:p>
            <a:pPr algn="ctr">
              <a:lnSpc>
                <a:spcPts val="1904"/>
              </a:lnSpc>
              <a:spcAft>
                <a:spcPts val="0"/>
              </a:spcAft>
              <a:defRPr sz="1700" b="0">
                <a:solidFill>
                  <a:srgbClr val="182B3A"/>
                </a:solidFill>
                <a:latin typeface="Arial"/>
              </a:defRPr>
            </a:pPr>
            <a:r>
              <a:t>3</a:t>
            </a:r>
          </a:p>
        </p:txBody>
      </p:sp>
      <p:sp>
        <p:nvSpPr>
          <p:cNvPr id="134" name="TextBox 133"/>
          <p:cNvSpPr txBox="1"/>
          <p:nvPr/>
        </p:nvSpPr>
        <p:spPr>
          <a:xfrm>
            <a:off x="10728071" y="2258568"/>
            <a:ext cx="341757" cy="347472"/>
          </a:xfrm>
          <a:prstGeom prst="rect">
            <a:avLst/>
          </a:prstGeom>
          <a:noFill/>
        </p:spPr>
        <p:txBody>
          <a:bodyPr wrap="none" lIns="0" rIns="0" tIns="0" bIns="0">
            <a:spAutoFit/>
          </a:bodyPr>
          <a:lstStyle/>
          <a:p>
            <a:pPr algn="l">
              <a:lnSpc>
                <a:spcPts val="2464"/>
              </a:lnSpc>
              <a:spcAft>
                <a:spcPts val="0"/>
              </a:spcAft>
              <a:defRPr sz="2200" b="0">
                <a:solidFill>
                  <a:srgbClr val="182B3A"/>
                </a:solidFill>
                <a:latin typeface="Arial"/>
              </a:defRPr>
            </a:pPr>
            <a:r>
              <a:t> − </a:t>
            </a:r>
          </a:p>
        </p:txBody>
      </p:sp>
      <p:sp>
        <p:nvSpPr>
          <p:cNvPr id="135" name="TextBox 134"/>
          <p:cNvSpPr txBox="1"/>
          <p:nvPr/>
        </p:nvSpPr>
        <p:spPr>
          <a:xfrm>
            <a:off x="11069828" y="2139696"/>
            <a:ext cx="230377" cy="256032"/>
          </a:xfrm>
          <a:prstGeom prst="rect">
            <a:avLst/>
          </a:prstGeom>
          <a:noFill/>
        </p:spPr>
        <p:txBody>
          <a:bodyPr wrap="none" lIns="0" rIns="0" tIns="0" bIns="0">
            <a:spAutoFit/>
          </a:bodyPr>
          <a:lstStyle/>
          <a:p>
            <a:pPr algn="ctr">
              <a:lnSpc>
                <a:spcPts val="1904"/>
              </a:lnSpc>
              <a:spcAft>
                <a:spcPts val="0"/>
              </a:spcAft>
              <a:defRPr sz="1700" b="0">
                <a:solidFill>
                  <a:srgbClr val="182B3A"/>
                </a:solidFill>
                <a:latin typeface="Arial"/>
              </a:defRPr>
            </a:pPr>
            <a:r>
              <a:t>1</a:t>
            </a:r>
          </a:p>
        </p:txBody>
      </p:sp>
      <p:cxnSp>
        <p:nvCxnSpPr>
          <p:cNvPr id="136" name="Connector 135"/>
          <p:cNvCxnSpPr/>
          <p:nvPr/>
        </p:nvCxnSpPr>
        <p:spPr>
          <a:xfrm>
            <a:off x="11069828" y="2404872"/>
            <a:ext cx="230378" cy="0"/>
          </a:xfrm>
          <a:prstGeom prst="line">
            <a:avLst/>
          </a:prstGeom>
          <a:ln w="12700">
            <a:solidFill>
              <a:srgbClr val="182B3A"/>
            </a:solidFill>
          </a:ln>
          <a:effectLst/>
        </p:spPr>
        <p:style>
          <a:lnRef idx="2">
            <a:schemeClr val="accent1"/>
          </a:lnRef>
          <a:fillRef idx="0">
            <a:schemeClr val="accent1"/>
          </a:fillRef>
          <a:effectRef idx="1">
            <a:schemeClr val="accent1"/>
          </a:effectRef>
          <a:fontRef idx="minor">
            <a:schemeClr val="tx1"/>
          </a:fontRef>
        </p:style>
      </p:cxnSp>
      <p:sp>
        <p:nvSpPr>
          <p:cNvPr id="137" name="TextBox 136"/>
          <p:cNvSpPr txBox="1"/>
          <p:nvPr/>
        </p:nvSpPr>
        <p:spPr>
          <a:xfrm>
            <a:off x="11069828" y="2423160"/>
            <a:ext cx="230377" cy="256032"/>
          </a:xfrm>
          <a:prstGeom prst="rect">
            <a:avLst/>
          </a:prstGeom>
          <a:noFill/>
        </p:spPr>
        <p:txBody>
          <a:bodyPr wrap="none" lIns="0" rIns="0" tIns="0" bIns="0">
            <a:spAutoFit/>
          </a:bodyPr>
          <a:lstStyle/>
          <a:p>
            <a:pPr algn="ctr">
              <a:lnSpc>
                <a:spcPts val="1904"/>
              </a:lnSpc>
              <a:spcAft>
                <a:spcPts val="0"/>
              </a:spcAft>
              <a:defRPr sz="1700" b="0">
                <a:solidFill>
                  <a:srgbClr val="182B3A"/>
                </a:solidFill>
                <a:latin typeface="Arial"/>
              </a:defRPr>
            </a:pPr>
            <a:r>
              <a:t>4</a:t>
            </a:r>
          </a:p>
        </p:txBody>
      </p:sp>
      <p:sp>
        <p:nvSpPr>
          <p:cNvPr id="138" name="TextBox 137"/>
          <p:cNvSpPr txBox="1"/>
          <p:nvPr/>
        </p:nvSpPr>
        <p:spPr>
          <a:xfrm>
            <a:off x="10177272" y="2706624"/>
            <a:ext cx="265557" cy="347472"/>
          </a:xfrm>
          <a:prstGeom prst="rect">
            <a:avLst/>
          </a:prstGeom>
          <a:noFill/>
        </p:spPr>
        <p:txBody>
          <a:bodyPr wrap="none" lIns="0" rIns="0" tIns="0" bIns="0">
            <a:spAutoFit/>
          </a:bodyPr>
          <a:lstStyle/>
          <a:p>
            <a:pPr algn="l">
              <a:lnSpc>
                <a:spcPts val="2464"/>
              </a:lnSpc>
              <a:spcAft>
                <a:spcPts val="0"/>
              </a:spcAft>
              <a:defRPr sz="2200" b="0">
                <a:solidFill>
                  <a:srgbClr val="182B3A"/>
                </a:solidFill>
                <a:latin typeface="Arial"/>
              </a:defRPr>
            </a:pPr>
            <a:r>
              <a:t>= </a:t>
            </a:r>
          </a:p>
        </p:txBody>
      </p:sp>
      <p:sp>
        <p:nvSpPr>
          <p:cNvPr id="139" name="TextBox 138"/>
          <p:cNvSpPr txBox="1"/>
          <p:nvPr/>
        </p:nvSpPr>
        <p:spPr>
          <a:xfrm>
            <a:off x="10442829" y="2587752"/>
            <a:ext cx="351028" cy="256032"/>
          </a:xfrm>
          <a:prstGeom prst="rect">
            <a:avLst/>
          </a:prstGeom>
          <a:noFill/>
        </p:spPr>
        <p:txBody>
          <a:bodyPr wrap="none" lIns="0" rIns="0" tIns="0" bIns="0">
            <a:spAutoFit/>
          </a:bodyPr>
          <a:lstStyle/>
          <a:p>
            <a:pPr algn="ctr">
              <a:lnSpc>
                <a:spcPts val="1904"/>
              </a:lnSpc>
              <a:spcAft>
                <a:spcPts val="0"/>
              </a:spcAft>
              <a:defRPr sz="1700" b="0">
                <a:solidFill>
                  <a:srgbClr val="182B3A"/>
                </a:solidFill>
                <a:latin typeface="Arial"/>
              </a:defRPr>
            </a:pPr>
            <a:r>
              <a:t>9</a:t>
            </a:r>
          </a:p>
        </p:txBody>
      </p:sp>
      <p:cxnSp>
        <p:nvCxnSpPr>
          <p:cNvPr id="140" name="Connector 139"/>
          <p:cNvCxnSpPr/>
          <p:nvPr/>
        </p:nvCxnSpPr>
        <p:spPr>
          <a:xfrm>
            <a:off x="10442829" y="2852928"/>
            <a:ext cx="351028" cy="0"/>
          </a:xfrm>
          <a:prstGeom prst="line">
            <a:avLst/>
          </a:prstGeom>
          <a:ln w="12700">
            <a:solidFill>
              <a:srgbClr val="182B3A"/>
            </a:solidFill>
          </a:ln>
          <a:effectLst/>
        </p:spPr>
        <p:style>
          <a:lnRef idx="2">
            <a:schemeClr val="accent1"/>
          </a:lnRef>
          <a:fillRef idx="0">
            <a:schemeClr val="accent1"/>
          </a:fillRef>
          <a:effectRef idx="1">
            <a:schemeClr val="accent1"/>
          </a:effectRef>
          <a:fontRef idx="minor">
            <a:schemeClr val="tx1"/>
          </a:fontRef>
        </p:style>
      </p:cxnSp>
      <p:sp>
        <p:nvSpPr>
          <p:cNvPr id="141" name="TextBox 140"/>
          <p:cNvSpPr txBox="1"/>
          <p:nvPr/>
        </p:nvSpPr>
        <p:spPr>
          <a:xfrm>
            <a:off x="10442829" y="2871216"/>
            <a:ext cx="351028" cy="256032"/>
          </a:xfrm>
          <a:prstGeom prst="rect">
            <a:avLst/>
          </a:prstGeom>
          <a:noFill/>
        </p:spPr>
        <p:txBody>
          <a:bodyPr wrap="none" lIns="0" rIns="0" tIns="0" bIns="0">
            <a:spAutoFit/>
          </a:bodyPr>
          <a:lstStyle/>
          <a:p>
            <a:pPr algn="ctr">
              <a:lnSpc>
                <a:spcPts val="1904"/>
              </a:lnSpc>
              <a:spcAft>
                <a:spcPts val="0"/>
              </a:spcAft>
              <a:defRPr sz="1700" b="0">
                <a:solidFill>
                  <a:srgbClr val="182B3A"/>
                </a:solidFill>
                <a:latin typeface="Arial"/>
              </a:defRPr>
            </a:pPr>
            <a:r>
              <a:t>12</a:t>
            </a:r>
          </a:p>
        </p:txBody>
      </p:sp>
      <p:sp>
        <p:nvSpPr>
          <p:cNvPr id="142" name="Rectangle 141"/>
          <p:cNvSpPr/>
          <p:nvPr/>
        </p:nvSpPr>
        <p:spPr>
          <a:xfrm>
            <a:off x="9646920" y="3666744"/>
            <a:ext cx="4631436" cy="1975104"/>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3" name="TextBox 142"/>
          <p:cNvSpPr txBox="1"/>
          <p:nvPr/>
        </p:nvSpPr>
        <p:spPr>
          <a:xfrm>
            <a:off x="9738360" y="3794759"/>
            <a:ext cx="301752" cy="365760"/>
          </a:xfrm>
          <a:prstGeom prst="rect">
            <a:avLst/>
          </a:prstGeom>
          <a:noFill/>
        </p:spPr>
        <p:txBody>
          <a:bodyPr wrap="square" lIns="54864" rIns="54864" tIns="22860" bIns="22860">
            <a:spAutoFit/>
          </a:bodyPr>
          <a:lstStyle/>
          <a:p>
            <a:pPr>
              <a:lnSpc>
                <a:spcPts val="2205"/>
              </a:lnSpc>
              <a:spcBef>
                <a:spcPts val="0"/>
              </a:spcBef>
              <a:spcAft>
                <a:spcPts val="0"/>
              </a:spcAft>
              <a:defRPr sz="2100" b="1">
                <a:solidFill>
                  <a:srgbClr val="182B3A"/>
                </a:solidFill>
                <a:latin typeface="Arial"/>
              </a:defRPr>
            </a:pPr>
            <a:r>
              <a:t>2.</a:t>
            </a:r>
          </a:p>
        </p:txBody>
      </p:sp>
      <p:sp>
        <p:nvSpPr>
          <p:cNvPr id="144" name="TextBox 143"/>
          <p:cNvSpPr txBox="1"/>
          <p:nvPr/>
        </p:nvSpPr>
        <p:spPr>
          <a:xfrm>
            <a:off x="10177272" y="3849624"/>
            <a:ext cx="259207" cy="347472"/>
          </a:xfrm>
          <a:prstGeom prst="rect">
            <a:avLst/>
          </a:prstGeom>
          <a:noFill/>
        </p:spPr>
        <p:txBody>
          <a:bodyPr wrap="none" lIns="0" rIns="0" tIns="0" bIns="0">
            <a:spAutoFit/>
          </a:bodyPr>
          <a:lstStyle/>
          <a:p>
            <a:pPr algn="l">
              <a:lnSpc>
                <a:spcPts val="2464"/>
              </a:lnSpc>
              <a:spcAft>
                <a:spcPts val="0"/>
              </a:spcAft>
              <a:defRPr sz="2200" b="0">
                <a:solidFill>
                  <a:srgbClr val="182B3A"/>
                </a:solidFill>
                <a:latin typeface="Arial"/>
              </a:defRPr>
            </a:pPr>
            <a:r>
              <a:t>1 </a:t>
            </a:r>
          </a:p>
        </p:txBody>
      </p:sp>
      <p:sp>
        <p:nvSpPr>
          <p:cNvPr id="145" name="TextBox 144"/>
          <p:cNvSpPr txBox="1"/>
          <p:nvPr/>
        </p:nvSpPr>
        <p:spPr>
          <a:xfrm>
            <a:off x="10436479" y="3730752"/>
            <a:ext cx="230377" cy="256032"/>
          </a:xfrm>
          <a:prstGeom prst="rect">
            <a:avLst/>
          </a:prstGeom>
          <a:noFill/>
        </p:spPr>
        <p:txBody>
          <a:bodyPr wrap="none" lIns="0" rIns="0" tIns="0" bIns="0">
            <a:spAutoFit/>
          </a:bodyPr>
          <a:lstStyle/>
          <a:p>
            <a:pPr algn="ctr">
              <a:lnSpc>
                <a:spcPts val="1904"/>
              </a:lnSpc>
              <a:spcAft>
                <a:spcPts val="0"/>
              </a:spcAft>
              <a:defRPr sz="1700" b="0">
                <a:solidFill>
                  <a:srgbClr val="182B3A"/>
                </a:solidFill>
                <a:latin typeface="Arial"/>
              </a:defRPr>
            </a:pPr>
            <a:r>
              <a:t>3</a:t>
            </a:r>
          </a:p>
        </p:txBody>
      </p:sp>
      <p:cxnSp>
        <p:nvCxnSpPr>
          <p:cNvPr id="146" name="Connector 145"/>
          <p:cNvCxnSpPr/>
          <p:nvPr/>
        </p:nvCxnSpPr>
        <p:spPr>
          <a:xfrm>
            <a:off x="10436479" y="3995928"/>
            <a:ext cx="230378" cy="0"/>
          </a:xfrm>
          <a:prstGeom prst="line">
            <a:avLst/>
          </a:prstGeom>
          <a:ln w="12700">
            <a:solidFill>
              <a:srgbClr val="182B3A"/>
            </a:solidFill>
          </a:ln>
          <a:effectLst/>
        </p:spPr>
        <p:style>
          <a:lnRef idx="2">
            <a:schemeClr val="accent1"/>
          </a:lnRef>
          <a:fillRef idx="0">
            <a:schemeClr val="accent1"/>
          </a:fillRef>
          <a:effectRef idx="1">
            <a:schemeClr val="accent1"/>
          </a:effectRef>
          <a:fontRef idx="minor">
            <a:schemeClr val="tx1"/>
          </a:fontRef>
        </p:style>
      </p:cxnSp>
      <p:sp>
        <p:nvSpPr>
          <p:cNvPr id="147" name="TextBox 146"/>
          <p:cNvSpPr txBox="1"/>
          <p:nvPr/>
        </p:nvSpPr>
        <p:spPr>
          <a:xfrm>
            <a:off x="10436479" y="4014215"/>
            <a:ext cx="230377" cy="256032"/>
          </a:xfrm>
          <a:prstGeom prst="rect">
            <a:avLst/>
          </a:prstGeom>
          <a:noFill/>
        </p:spPr>
        <p:txBody>
          <a:bodyPr wrap="none" lIns="0" rIns="0" tIns="0" bIns="0">
            <a:spAutoFit/>
          </a:bodyPr>
          <a:lstStyle/>
          <a:p>
            <a:pPr algn="ctr">
              <a:lnSpc>
                <a:spcPts val="1904"/>
              </a:lnSpc>
              <a:spcAft>
                <a:spcPts val="0"/>
              </a:spcAft>
              <a:defRPr sz="1700" b="0">
                <a:solidFill>
                  <a:srgbClr val="182B3A"/>
                </a:solidFill>
                <a:latin typeface="Arial"/>
              </a:defRPr>
            </a:pPr>
            <a:r>
              <a:t>4</a:t>
            </a:r>
          </a:p>
        </p:txBody>
      </p:sp>
      <p:sp>
        <p:nvSpPr>
          <p:cNvPr id="148" name="TextBox 147"/>
          <p:cNvSpPr txBox="1"/>
          <p:nvPr/>
        </p:nvSpPr>
        <p:spPr>
          <a:xfrm>
            <a:off x="10721721" y="3849624"/>
            <a:ext cx="341757" cy="347472"/>
          </a:xfrm>
          <a:prstGeom prst="rect">
            <a:avLst/>
          </a:prstGeom>
          <a:noFill/>
        </p:spPr>
        <p:txBody>
          <a:bodyPr wrap="none" lIns="0" rIns="0" tIns="0" bIns="0">
            <a:spAutoFit/>
          </a:bodyPr>
          <a:lstStyle/>
          <a:p>
            <a:pPr algn="l">
              <a:lnSpc>
                <a:spcPts val="2464"/>
              </a:lnSpc>
              <a:spcAft>
                <a:spcPts val="0"/>
              </a:spcAft>
              <a:defRPr sz="2200" b="0">
                <a:solidFill>
                  <a:srgbClr val="182B3A"/>
                </a:solidFill>
                <a:latin typeface="Arial"/>
              </a:defRPr>
            </a:pPr>
            <a:r>
              <a:t> + </a:t>
            </a:r>
          </a:p>
        </p:txBody>
      </p:sp>
      <p:sp>
        <p:nvSpPr>
          <p:cNvPr id="149" name="TextBox 148"/>
          <p:cNvSpPr txBox="1"/>
          <p:nvPr/>
        </p:nvSpPr>
        <p:spPr>
          <a:xfrm>
            <a:off x="11063478" y="3730752"/>
            <a:ext cx="230377" cy="256032"/>
          </a:xfrm>
          <a:prstGeom prst="rect">
            <a:avLst/>
          </a:prstGeom>
          <a:noFill/>
        </p:spPr>
        <p:txBody>
          <a:bodyPr wrap="none" lIns="0" rIns="0" tIns="0" bIns="0">
            <a:spAutoFit/>
          </a:bodyPr>
          <a:lstStyle/>
          <a:p>
            <a:pPr algn="ctr">
              <a:lnSpc>
                <a:spcPts val="1904"/>
              </a:lnSpc>
              <a:spcAft>
                <a:spcPts val="0"/>
              </a:spcAft>
              <a:defRPr sz="1700" b="0">
                <a:solidFill>
                  <a:srgbClr val="182B3A"/>
                </a:solidFill>
                <a:latin typeface="Arial"/>
              </a:defRPr>
            </a:pPr>
            <a:r>
              <a:t>2</a:t>
            </a:r>
          </a:p>
        </p:txBody>
      </p:sp>
      <p:cxnSp>
        <p:nvCxnSpPr>
          <p:cNvPr id="150" name="Connector 149"/>
          <p:cNvCxnSpPr/>
          <p:nvPr/>
        </p:nvCxnSpPr>
        <p:spPr>
          <a:xfrm>
            <a:off x="11063478" y="3995928"/>
            <a:ext cx="230378" cy="0"/>
          </a:xfrm>
          <a:prstGeom prst="line">
            <a:avLst/>
          </a:prstGeom>
          <a:ln w="12700">
            <a:solidFill>
              <a:srgbClr val="182B3A"/>
            </a:solidFill>
          </a:ln>
          <a:effectLst/>
        </p:spPr>
        <p:style>
          <a:lnRef idx="2">
            <a:schemeClr val="accent1"/>
          </a:lnRef>
          <a:fillRef idx="0">
            <a:schemeClr val="accent1"/>
          </a:fillRef>
          <a:effectRef idx="1">
            <a:schemeClr val="accent1"/>
          </a:effectRef>
          <a:fontRef idx="minor">
            <a:schemeClr val="tx1"/>
          </a:fontRef>
        </p:style>
      </p:cxnSp>
      <p:sp>
        <p:nvSpPr>
          <p:cNvPr id="151" name="TextBox 150"/>
          <p:cNvSpPr txBox="1"/>
          <p:nvPr/>
        </p:nvSpPr>
        <p:spPr>
          <a:xfrm>
            <a:off x="11063478" y="4014215"/>
            <a:ext cx="230377" cy="256032"/>
          </a:xfrm>
          <a:prstGeom prst="rect">
            <a:avLst/>
          </a:prstGeom>
          <a:noFill/>
        </p:spPr>
        <p:txBody>
          <a:bodyPr wrap="none" lIns="0" rIns="0" tIns="0" bIns="0">
            <a:spAutoFit/>
          </a:bodyPr>
          <a:lstStyle/>
          <a:p>
            <a:pPr algn="ctr">
              <a:lnSpc>
                <a:spcPts val="1904"/>
              </a:lnSpc>
              <a:spcAft>
                <a:spcPts val="0"/>
              </a:spcAft>
              <a:defRPr sz="1700" b="0">
                <a:solidFill>
                  <a:srgbClr val="182B3A"/>
                </a:solidFill>
                <a:latin typeface="Arial"/>
              </a:defRPr>
            </a:pPr>
            <a:r>
              <a:t>3</a:t>
            </a:r>
          </a:p>
        </p:txBody>
      </p:sp>
      <p:sp>
        <p:nvSpPr>
          <p:cNvPr id="152" name="TextBox 151"/>
          <p:cNvSpPr txBox="1"/>
          <p:nvPr/>
        </p:nvSpPr>
        <p:spPr>
          <a:xfrm>
            <a:off x="10177272" y="4297680"/>
            <a:ext cx="265557" cy="347472"/>
          </a:xfrm>
          <a:prstGeom prst="rect">
            <a:avLst/>
          </a:prstGeom>
          <a:noFill/>
        </p:spPr>
        <p:txBody>
          <a:bodyPr wrap="none" lIns="0" rIns="0" tIns="0" bIns="0">
            <a:spAutoFit/>
          </a:bodyPr>
          <a:lstStyle/>
          <a:p>
            <a:pPr algn="l">
              <a:lnSpc>
                <a:spcPts val="2464"/>
              </a:lnSpc>
              <a:spcAft>
                <a:spcPts val="0"/>
              </a:spcAft>
              <a:defRPr sz="2200" b="0">
                <a:solidFill>
                  <a:srgbClr val="182B3A"/>
                </a:solidFill>
                <a:latin typeface="Arial"/>
              </a:defRPr>
            </a:pPr>
            <a:r>
              <a:t>= </a:t>
            </a:r>
          </a:p>
        </p:txBody>
      </p:sp>
      <p:sp>
        <p:nvSpPr>
          <p:cNvPr id="153" name="TextBox 152"/>
          <p:cNvSpPr txBox="1"/>
          <p:nvPr/>
        </p:nvSpPr>
        <p:spPr>
          <a:xfrm>
            <a:off x="10442829" y="4178808"/>
            <a:ext cx="351028" cy="256032"/>
          </a:xfrm>
          <a:prstGeom prst="rect">
            <a:avLst/>
          </a:prstGeom>
          <a:noFill/>
        </p:spPr>
        <p:txBody>
          <a:bodyPr wrap="none" lIns="0" rIns="0" tIns="0" bIns="0">
            <a:spAutoFit/>
          </a:bodyPr>
          <a:lstStyle/>
          <a:p>
            <a:pPr algn="ctr">
              <a:lnSpc>
                <a:spcPts val="1904"/>
              </a:lnSpc>
              <a:spcAft>
                <a:spcPts val="0"/>
              </a:spcAft>
              <a:defRPr sz="1700" b="0">
                <a:solidFill>
                  <a:srgbClr val="182B3A"/>
                </a:solidFill>
                <a:latin typeface="Arial"/>
              </a:defRPr>
            </a:pPr>
            <a:r>
              <a:t>9</a:t>
            </a:r>
          </a:p>
        </p:txBody>
      </p:sp>
      <p:cxnSp>
        <p:nvCxnSpPr>
          <p:cNvPr id="154" name="Connector 153"/>
          <p:cNvCxnSpPr/>
          <p:nvPr/>
        </p:nvCxnSpPr>
        <p:spPr>
          <a:xfrm>
            <a:off x="10442829" y="4443984"/>
            <a:ext cx="351028" cy="0"/>
          </a:xfrm>
          <a:prstGeom prst="line">
            <a:avLst/>
          </a:prstGeom>
          <a:ln w="12700">
            <a:solidFill>
              <a:srgbClr val="182B3A"/>
            </a:solidFill>
          </a:ln>
          <a:effectLst/>
        </p:spPr>
        <p:style>
          <a:lnRef idx="2">
            <a:schemeClr val="accent1"/>
          </a:lnRef>
          <a:fillRef idx="0">
            <a:schemeClr val="accent1"/>
          </a:fillRef>
          <a:effectRef idx="1">
            <a:schemeClr val="accent1"/>
          </a:effectRef>
          <a:fontRef idx="minor">
            <a:schemeClr val="tx1"/>
          </a:fontRef>
        </p:style>
      </p:cxnSp>
      <p:sp>
        <p:nvSpPr>
          <p:cNvPr id="155" name="TextBox 154"/>
          <p:cNvSpPr txBox="1"/>
          <p:nvPr/>
        </p:nvSpPr>
        <p:spPr>
          <a:xfrm>
            <a:off x="10442829" y="4462272"/>
            <a:ext cx="351028" cy="256032"/>
          </a:xfrm>
          <a:prstGeom prst="rect">
            <a:avLst/>
          </a:prstGeom>
          <a:noFill/>
        </p:spPr>
        <p:txBody>
          <a:bodyPr wrap="none" lIns="0" rIns="0" tIns="0" bIns="0">
            <a:spAutoFit/>
          </a:bodyPr>
          <a:lstStyle/>
          <a:p>
            <a:pPr algn="ctr">
              <a:lnSpc>
                <a:spcPts val="1904"/>
              </a:lnSpc>
              <a:spcAft>
                <a:spcPts val="0"/>
              </a:spcAft>
              <a:defRPr sz="1700" b="0">
                <a:solidFill>
                  <a:srgbClr val="182B3A"/>
                </a:solidFill>
                <a:latin typeface="Arial"/>
              </a:defRPr>
            </a:pPr>
            <a:r>
              <a:t>12</a:t>
            </a:r>
          </a:p>
        </p:txBody>
      </p:sp>
      <p:sp>
        <p:nvSpPr>
          <p:cNvPr id="156" name="TextBox 155"/>
          <p:cNvSpPr txBox="1"/>
          <p:nvPr/>
        </p:nvSpPr>
        <p:spPr>
          <a:xfrm>
            <a:off x="10848721" y="4297680"/>
            <a:ext cx="341757" cy="347472"/>
          </a:xfrm>
          <a:prstGeom prst="rect">
            <a:avLst/>
          </a:prstGeom>
          <a:noFill/>
        </p:spPr>
        <p:txBody>
          <a:bodyPr wrap="none" lIns="0" rIns="0" tIns="0" bIns="0">
            <a:spAutoFit/>
          </a:bodyPr>
          <a:lstStyle/>
          <a:p>
            <a:pPr algn="l">
              <a:lnSpc>
                <a:spcPts val="2464"/>
              </a:lnSpc>
              <a:spcAft>
                <a:spcPts val="0"/>
              </a:spcAft>
              <a:defRPr sz="2200" b="0">
                <a:solidFill>
                  <a:srgbClr val="182B3A"/>
                </a:solidFill>
                <a:latin typeface="Arial"/>
              </a:defRPr>
            </a:pPr>
            <a:r>
              <a:t> + </a:t>
            </a:r>
          </a:p>
        </p:txBody>
      </p:sp>
      <p:sp>
        <p:nvSpPr>
          <p:cNvPr id="157" name="TextBox 156"/>
          <p:cNvSpPr txBox="1"/>
          <p:nvPr/>
        </p:nvSpPr>
        <p:spPr>
          <a:xfrm>
            <a:off x="11190478" y="4178808"/>
            <a:ext cx="351028" cy="256032"/>
          </a:xfrm>
          <a:prstGeom prst="rect">
            <a:avLst/>
          </a:prstGeom>
          <a:noFill/>
        </p:spPr>
        <p:txBody>
          <a:bodyPr wrap="none" lIns="0" rIns="0" tIns="0" bIns="0">
            <a:spAutoFit/>
          </a:bodyPr>
          <a:lstStyle/>
          <a:p>
            <a:pPr algn="ctr">
              <a:lnSpc>
                <a:spcPts val="1904"/>
              </a:lnSpc>
              <a:spcAft>
                <a:spcPts val="0"/>
              </a:spcAft>
              <a:defRPr sz="1700" b="0">
                <a:solidFill>
                  <a:srgbClr val="182B3A"/>
                </a:solidFill>
                <a:latin typeface="Arial"/>
              </a:defRPr>
            </a:pPr>
            <a:r>
              <a:t>8</a:t>
            </a:r>
          </a:p>
        </p:txBody>
      </p:sp>
      <p:cxnSp>
        <p:nvCxnSpPr>
          <p:cNvPr id="158" name="Connector 157"/>
          <p:cNvCxnSpPr/>
          <p:nvPr/>
        </p:nvCxnSpPr>
        <p:spPr>
          <a:xfrm>
            <a:off x="11190478" y="4443984"/>
            <a:ext cx="351028" cy="0"/>
          </a:xfrm>
          <a:prstGeom prst="line">
            <a:avLst/>
          </a:prstGeom>
          <a:ln w="12700">
            <a:solidFill>
              <a:srgbClr val="182B3A"/>
            </a:solidFill>
          </a:ln>
          <a:effectLst/>
        </p:spPr>
        <p:style>
          <a:lnRef idx="2">
            <a:schemeClr val="accent1"/>
          </a:lnRef>
          <a:fillRef idx="0">
            <a:schemeClr val="accent1"/>
          </a:fillRef>
          <a:effectRef idx="1">
            <a:schemeClr val="accent1"/>
          </a:effectRef>
          <a:fontRef idx="minor">
            <a:schemeClr val="tx1"/>
          </a:fontRef>
        </p:style>
      </p:cxnSp>
      <p:sp>
        <p:nvSpPr>
          <p:cNvPr id="159" name="TextBox 158"/>
          <p:cNvSpPr txBox="1"/>
          <p:nvPr/>
        </p:nvSpPr>
        <p:spPr>
          <a:xfrm>
            <a:off x="11190478" y="4462272"/>
            <a:ext cx="351028" cy="256032"/>
          </a:xfrm>
          <a:prstGeom prst="rect">
            <a:avLst/>
          </a:prstGeom>
          <a:noFill/>
        </p:spPr>
        <p:txBody>
          <a:bodyPr wrap="none" lIns="0" rIns="0" tIns="0" bIns="0">
            <a:spAutoFit/>
          </a:bodyPr>
          <a:lstStyle/>
          <a:p>
            <a:pPr algn="ctr">
              <a:lnSpc>
                <a:spcPts val="1904"/>
              </a:lnSpc>
              <a:spcAft>
                <a:spcPts val="0"/>
              </a:spcAft>
              <a:defRPr sz="1700" b="0">
                <a:solidFill>
                  <a:srgbClr val="182B3A"/>
                </a:solidFill>
                <a:latin typeface="Arial"/>
              </a:defRPr>
            </a:pPr>
            <a:r>
              <a:t>12</a:t>
            </a:r>
          </a:p>
        </p:txBody>
      </p:sp>
      <p:sp>
        <p:nvSpPr>
          <p:cNvPr id="160" name="TextBox 159"/>
          <p:cNvSpPr txBox="1"/>
          <p:nvPr/>
        </p:nvSpPr>
        <p:spPr>
          <a:xfrm>
            <a:off x="10177272" y="4745736"/>
            <a:ext cx="497332" cy="347472"/>
          </a:xfrm>
          <a:prstGeom prst="rect">
            <a:avLst/>
          </a:prstGeom>
          <a:noFill/>
        </p:spPr>
        <p:txBody>
          <a:bodyPr wrap="none" lIns="0" rIns="0" tIns="0" bIns="0">
            <a:spAutoFit/>
          </a:bodyPr>
          <a:lstStyle/>
          <a:p>
            <a:pPr algn="l">
              <a:lnSpc>
                <a:spcPts val="2464"/>
              </a:lnSpc>
              <a:spcAft>
                <a:spcPts val="0"/>
              </a:spcAft>
              <a:defRPr sz="2200" b="0">
                <a:solidFill>
                  <a:srgbClr val="182B3A"/>
                </a:solidFill>
                <a:latin typeface="Arial"/>
              </a:defRPr>
            </a:pPr>
            <a:r>
              <a:t>= 1 </a:t>
            </a:r>
          </a:p>
        </p:txBody>
      </p:sp>
      <p:sp>
        <p:nvSpPr>
          <p:cNvPr id="161" name="TextBox 160"/>
          <p:cNvSpPr txBox="1"/>
          <p:nvPr/>
        </p:nvSpPr>
        <p:spPr>
          <a:xfrm>
            <a:off x="10674604" y="4626864"/>
            <a:ext cx="351028" cy="256032"/>
          </a:xfrm>
          <a:prstGeom prst="rect">
            <a:avLst/>
          </a:prstGeom>
          <a:noFill/>
        </p:spPr>
        <p:txBody>
          <a:bodyPr wrap="none" lIns="0" rIns="0" tIns="0" bIns="0">
            <a:spAutoFit/>
          </a:bodyPr>
          <a:lstStyle/>
          <a:p>
            <a:pPr algn="ctr">
              <a:lnSpc>
                <a:spcPts val="1904"/>
              </a:lnSpc>
              <a:spcAft>
                <a:spcPts val="0"/>
              </a:spcAft>
              <a:defRPr sz="1700" b="0">
                <a:solidFill>
                  <a:srgbClr val="182B3A"/>
                </a:solidFill>
                <a:latin typeface="Arial"/>
              </a:defRPr>
            </a:pPr>
            <a:r>
              <a:t>5</a:t>
            </a:r>
          </a:p>
        </p:txBody>
      </p:sp>
      <p:cxnSp>
        <p:nvCxnSpPr>
          <p:cNvPr id="162" name="Connector 161"/>
          <p:cNvCxnSpPr/>
          <p:nvPr/>
        </p:nvCxnSpPr>
        <p:spPr>
          <a:xfrm>
            <a:off x="10674604" y="4892040"/>
            <a:ext cx="351028" cy="0"/>
          </a:xfrm>
          <a:prstGeom prst="line">
            <a:avLst/>
          </a:prstGeom>
          <a:ln w="12700">
            <a:solidFill>
              <a:srgbClr val="182B3A"/>
            </a:solidFill>
          </a:ln>
          <a:effectLst/>
        </p:spPr>
        <p:style>
          <a:lnRef idx="2">
            <a:schemeClr val="accent1"/>
          </a:lnRef>
          <a:fillRef idx="0">
            <a:schemeClr val="accent1"/>
          </a:fillRef>
          <a:effectRef idx="1">
            <a:schemeClr val="accent1"/>
          </a:effectRef>
          <a:fontRef idx="minor">
            <a:schemeClr val="tx1"/>
          </a:fontRef>
        </p:style>
      </p:cxnSp>
      <p:sp>
        <p:nvSpPr>
          <p:cNvPr id="163" name="TextBox 162"/>
          <p:cNvSpPr txBox="1"/>
          <p:nvPr/>
        </p:nvSpPr>
        <p:spPr>
          <a:xfrm>
            <a:off x="10674604" y="4910328"/>
            <a:ext cx="351028" cy="256032"/>
          </a:xfrm>
          <a:prstGeom prst="rect">
            <a:avLst/>
          </a:prstGeom>
          <a:noFill/>
        </p:spPr>
        <p:txBody>
          <a:bodyPr wrap="none" lIns="0" rIns="0" tIns="0" bIns="0">
            <a:spAutoFit/>
          </a:bodyPr>
          <a:lstStyle/>
          <a:p>
            <a:pPr algn="ctr">
              <a:lnSpc>
                <a:spcPts val="1904"/>
              </a:lnSpc>
              <a:spcAft>
                <a:spcPts val="0"/>
              </a:spcAft>
              <a:defRPr sz="1700" b="0">
                <a:solidFill>
                  <a:srgbClr val="182B3A"/>
                </a:solidFill>
                <a:latin typeface="Arial"/>
              </a:defRPr>
            </a:pPr>
            <a:r>
              <a:t>12</a:t>
            </a:r>
          </a:p>
        </p:txBody>
      </p:sp>
      <p:sp>
        <p:nvSpPr>
          <p:cNvPr id="164" name="Rectangle 163"/>
          <p:cNvSpPr/>
          <p:nvPr/>
        </p:nvSpPr>
        <p:spPr>
          <a:xfrm>
            <a:off x="9646920" y="5705856"/>
            <a:ext cx="4631436" cy="1975104"/>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5" name="TextBox 164"/>
          <p:cNvSpPr txBox="1"/>
          <p:nvPr/>
        </p:nvSpPr>
        <p:spPr>
          <a:xfrm>
            <a:off x="9738360" y="5833872"/>
            <a:ext cx="301752" cy="365760"/>
          </a:xfrm>
          <a:prstGeom prst="rect">
            <a:avLst/>
          </a:prstGeom>
          <a:noFill/>
        </p:spPr>
        <p:txBody>
          <a:bodyPr wrap="square" lIns="54864" rIns="54864" tIns="22860" bIns="22860">
            <a:spAutoFit/>
          </a:bodyPr>
          <a:lstStyle/>
          <a:p>
            <a:pPr>
              <a:lnSpc>
                <a:spcPts val="2205"/>
              </a:lnSpc>
              <a:spcBef>
                <a:spcPts val="0"/>
              </a:spcBef>
              <a:spcAft>
                <a:spcPts val="0"/>
              </a:spcAft>
              <a:defRPr sz="2100" b="1">
                <a:solidFill>
                  <a:srgbClr val="182B3A"/>
                </a:solidFill>
                <a:latin typeface="Arial"/>
              </a:defRPr>
            </a:pPr>
            <a:r>
              <a:t>3.</a:t>
            </a:r>
          </a:p>
        </p:txBody>
      </p:sp>
      <p:sp>
        <p:nvSpPr>
          <p:cNvPr id="166" name="TextBox 165"/>
          <p:cNvSpPr txBox="1"/>
          <p:nvPr/>
        </p:nvSpPr>
        <p:spPr>
          <a:xfrm>
            <a:off x="10177272" y="5888736"/>
            <a:ext cx="259207" cy="347472"/>
          </a:xfrm>
          <a:prstGeom prst="rect">
            <a:avLst/>
          </a:prstGeom>
          <a:noFill/>
        </p:spPr>
        <p:txBody>
          <a:bodyPr wrap="none" lIns="0" rIns="0" tIns="0" bIns="0">
            <a:spAutoFit/>
          </a:bodyPr>
          <a:lstStyle/>
          <a:p>
            <a:pPr algn="l">
              <a:lnSpc>
                <a:spcPts val="2464"/>
              </a:lnSpc>
              <a:spcAft>
                <a:spcPts val="0"/>
              </a:spcAft>
              <a:defRPr sz="2200" b="0">
                <a:solidFill>
                  <a:srgbClr val="182B3A"/>
                </a:solidFill>
                <a:latin typeface="Arial"/>
              </a:defRPr>
            </a:pPr>
            <a:r>
              <a:t>2 </a:t>
            </a:r>
          </a:p>
        </p:txBody>
      </p:sp>
      <p:sp>
        <p:nvSpPr>
          <p:cNvPr id="167" name="TextBox 166"/>
          <p:cNvSpPr txBox="1"/>
          <p:nvPr/>
        </p:nvSpPr>
        <p:spPr>
          <a:xfrm>
            <a:off x="10436479" y="5769864"/>
            <a:ext cx="230377" cy="256032"/>
          </a:xfrm>
          <a:prstGeom prst="rect">
            <a:avLst/>
          </a:prstGeom>
          <a:noFill/>
        </p:spPr>
        <p:txBody>
          <a:bodyPr wrap="none" lIns="0" rIns="0" tIns="0" bIns="0">
            <a:spAutoFit/>
          </a:bodyPr>
          <a:lstStyle/>
          <a:p>
            <a:pPr algn="ctr">
              <a:lnSpc>
                <a:spcPts val="1904"/>
              </a:lnSpc>
              <a:spcAft>
                <a:spcPts val="0"/>
              </a:spcAft>
              <a:defRPr sz="1700" b="0">
                <a:solidFill>
                  <a:srgbClr val="182B3A"/>
                </a:solidFill>
                <a:latin typeface="Arial"/>
              </a:defRPr>
            </a:pPr>
            <a:r>
              <a:t>1</a:t>
            </a:r>
          </a:p>
        </p:txBody>
      </p:sp>
      <p:cxnSp>
        <p:nvCxnSpPr>
          <p:cNvPr id="168" name="Connector 167"/>
          <p:cNvCxnSpPr/>
          <p:nvPr/>
        </p:nvCxnSpPr>
        <p:spPr>
          <a:xfrm>
            <a:off x="10436479" y="6035040"/>
            <a:ext cx="230378" cy="0"/>
          </a:xfrm>
          <a:prstGeom prst="line">
            <a:avLst/>
          </a:prstGeom>
          <a:ln w="12700">
            <a:solidFill>
              <a:srgbClr val="182B3A"/>
            </a:solidFill>
          </a:ln>
          <a:effectLst/>
        </p:spPr>
        <p:style>
          <a:lnRef idx="2">
            <a:schemeClr val="accent1"/>
          </a:lnRef>
          <a:fillRef idx="0">
            <a:schemeClr val="accent1"/>
          </a:fillRef>
          <a:effectRef idx="1">
            <a:schemeClr val="accent1"/>
          </a:effectRef>
          <a:fontRef idx="minor">
            <a:schemeClr val="tx1"/>
          </a:fontRef>
        </p:style>
      </p:cxnSp>
      <p:sp>
        <p:nvSpPr>
          <p:cNvPr id="169" name="TextBox 168"/>
          <p:cNvSpPr txBox="1"/>
          <p:nvPr/>
        </p:nvSpPr>
        <p:spPr>
          <a:xfrm>
            <a:off x="10436479" y="6053328"/>
            <a:ext cx="230377" cy="256032"/>
          </a:xfrm>
          <a:prstGeom prst="rect">
            <a:avLst/>
          </a:prstGeom>
          <a:noFill/>
        </p:spPr>
        <p:txBody>
          <a:bodyPr wrap="none" lIns="0" rIns="0" tIns="0" bIns="0">
            <a:spAutoFit/>
          </a:bodyPr>
          <a:lstStyle/>
          <a:p>
            <a:pPr algn="ctr">
              <a:lnSpc>
                <a:spcPts val="1904"/>
              </a:lnSpc>
              <a:spcAft>
                <a:spcPts val="0"/>
              </a:spcAft>
              <a:defRPr sz="1700" b="0">
                <a:solidFill>
                  <a:srgbClr val="182B3A"/>
                </a:solidFill>
                <a:latin typeface="Arial"/>
              </a:defRPr>
            </a:pPr>
            <a:r>
              <a:t>6</a:t>
            </a:r>
          </a:p>
        </p:txBody>
      </p:sp>
      <p:sp>
        <p:nvSpPr>
          <p:cNvPr id="170" name="TextBox 169"/>
          <p:cNvSpPr txBox="1"/>
          <p:nvPr/>
        </p:nvSpPr>
        <p:spPr>
          <a:xfrm>
            <a:off x="10721721" y="5888736"/>
            <a:ext cx="341757" cy="347472"/>
          </a:xfrm>
          <a:prstGeom prst="rect">
            <a:avLst/>
          </a:prstGeom>
          <a:noFill/>
        </p:spPr>
        <p:txBody>
          <a:bodyPr wrap="none" lIns="0" rIns="0" tIns="0" bIns="0">
            <a:spAutoFit/>
          </a:bodyPr>
          <a:lstStyle/>
          <a:p>
            <a:pPr algn="l">
              <a:lnSpc>
                <a:spcPts val="2464"/>
              </a:lnSpc>
              <a:spcAft>
                <a:spcPts val="0"/>
              </a:spcAft>
              <a:defRPr sz="2200" b="0">
                <a:solidFill>
                  <a:srgbClr val="182B3A"/>
                </a:solidFill>
                <a:latin typeface="Arial"/>
              </a:defRPr>
            </a:pPr>
            <a:r>
              <a:t> − </a:t>
            </a:r>
          </a:p>
        </p:txBody>
      </p:sp>
      <p:sp>
        <p:nvSpPr>
          <p:cNvPr id="171" name="TextBox 170"/>
          <p:cNvSpPr txBox="1"/>
          <p:nvPr/>
        </p:nvSpPr>
        <p:spPr>
          <a:xfrm>
            <a:off x="11063478" y="5769864"/>
            <a:ext cx="230377" cy="256032"/>
          </a:xfrm>
          <a:prstGeom prst="rect">
            <a:avLst/>
          </a:prstGeom>
          <a:noFill/>
        </p:spPr>
        <p:txBody>
          <a:bodyPr wrap="none" lIns="0" rIns="0" tIns="0" bIns="0">
            <a:spAutoFit/>
          </a:bodyPr>
          <a:lstStyle/>
          <a:p>
            <a:pPr algn="ctr">
              <a:lnSpc>
                <a:spcPts val="1904"/>
              </a:lnSpc>
              <a:spcAft>
                <a:spcPts val="0"/>
              </a:spcAft>
              <a:defRPr sz="1700" b="0">
                <a:solidFill>
                  <a:srgbClr val="182B3A"/>
                </a:solidFill>
                <a:latin typeface="Arial"/>
              </a:defRPr>
            </a:pPr>
            <a:r>
              <a:t>1</a:t>
            </a:r>
          </a:p>
        </p:txBody>
      </p:sp>
      <p:cxnSp>
        <p:nvCxnSpPr>
          <p:cNvPr id="172" name="Connector 171"/>
          <p:cNvCxnSpPr/>
          <p:nvPr/>
        </p:nvCxnSpPr>
        <p:spPr>
          <a:xfrm>
            <a:off x="11063478" y="6035040"/>
            <a:ext cx="230378" cy="0"/>
          </a:xfrm>
          <a:prstGeom prst="line">
            <a:avLst/>
          </a:prstGeom>
          <a:ln w="12700">
            <a:solidFill>
              <a:srgbClr val="182B3A"/>
            </a:solidFill>
          </a:ln>
          <a:effectLst/>
        </p:spPr>
        <p:style>
          <a:lnRef idx="2">
            <a:schemeClr val="accent1"/>
          </a:lnRef>
          <a:fillRef idx="0">
            <a:schemeClr val="accent1"/>
          </a:fillRef>
          <a:effectRef idx="1">
            <a:schemeClr val="accent1"/>
          </a:effectRef>
          <a:fontRef idx="minor">
            <a:schemeClr val="tx1"/>
          </a:fontRef>
        </p:style>
      </p:cxnSp>
      <p:sp>
        <p:nvSpPr>
          <p:cNvPr id="173" name="TextBox 172"/>
          <p:cNvSpPr txBox="1"/>
          <p:nvPr/>
        </p:nvSpPr>
        <p:spPr>
          <a:xfrm>
            <a:off x="11063478" y="6053328"/>
            <a:ext cx="230377" cy="256032"/>
          </a:xfrm>
          <a:prstGeom prst="rect">
            <a:avLst/>
          </a:prstGeom>
          <a:noFill/>
        </p:spPr>
        <p:txBody>
          <a:bodyPr wrap="none" lIns="0" rIns="0" tIns="0" bIns="0">
            <a:spAutoFit/>
          </a:bodyPr>
          <a:lstStyle/>
          <a:p>
            <a:pPr algn="ctr">
              <a:lnSpc>
                <a:spcPts val="1904"/>
              </a:lnSpc>
              <a:spcAft>
                <a:spcPts val="0"/>
              </a:spcAft>
              <a:defRPr sz="1700" b="0">
                <a:solidFill>
                  <a:srgbClr val="182B3A"/>
                </a:solidFill>
                <a:latin typeface="Arial"/>
              </a:defRPr>
            </a:pPr>
            <a:r>
              <a:t>2</a:t>
            </a:r>
          </a:p>
        </p:txBody>
      </p:sp>
      <p:sp>
        <p:nvSpPr>
          <p:cNvPr id="174" name="TextBox 173"/>
          <p:cNvSpPr txBox="1"/>
          <p:nvPr/>
        </p:nvSpPr>
        <p:spPr>
          <a:xfrm>
            <a:off x="10177272" y="6336792"/>
            <a:ext cx="265557" cy="347472"/>
          </a:xfrm>
          <a:prstGeom prst="rect">
            <a:avLst/>
          </a:prstGeom>
          <a:noFill/>
        </p:spPr>
        <p:txBody>
          <a:bodyPr wrap="none" lIns="0" rIns="0" tIns="0" bIns="0">
            <a:spAutoFit/>
          </a:bodyPr>
          <a:lstStyle/>
          <a:p>
            <a:pPr algn="l">
              <a:lnSpc>
                <a:spcPts val="2464"/>
              </a:lnSpc>
              <a:spcAft>
                <a:spcPts val="0"/>
              </a:spcAft>
              <a:defRPr sz="2200" b="0">
                <a:solidFill>
                  <a:srgbClr val="182B3A"/>
                </a:solidFill>
                <a:latin typeface="Arial"/>
              </a:defRPr>
            </a:pPr>
            <a:r>
              <a:t>= </a:t>
            </a:r>
          </a:p>
        </p:txBody>
      </p:sp>
      <p:sp>
        <p:nvSpPr>
          <p:cNvPr id="175" name="TextBox 174"/>
          <p:cNvSpPr txBox="1"/>
          <p:nvPr/>
        </p:nvSpPr>
        <p:spPr>
          <a:xfrm>
            <a:off x="10442829" y="6217920"/>
            <a:ext cx="351028" cy="256032"/>
          </a:xfrm>
          <a:prstGeom prst="rect">
            <a:avLst/>
          </a:prstGeom>
          <a:noFill/>
        </p:spPr>
        <p:txBody>
          <a:bodyPr wrap="none" lIns="0" rIns="0" tIns="0" bIns="0">
            <a:spAutoFit/>
          </a:bodyPr>
          <a:lstStyle/>
          <a:p>
            <a:pPr algn="ctr">
              <a:lnSpc>
                <a:spcPts val="1904"/>
              </a:lnSpc>
              <a:spcAft>
                <a:spcPts val="0"/>
              </a:spcAft>
              <a:defRPr sz="1700" b="0">
                <a:solidFill>
                  <a:srgbClr val="182B3A"/>
                </a:solidFill>
                <a:latin typeface="Arial"/>
              </a:defRPr>
            </a:pPr>
            <a:r>
              <a:t>13</a:t>
            </a:r>
          </a:p>
        </p:txBody>
      </p:sp>
      <p:cxnSp>
        <p:nvCxnSpPr>
          <p:cNvPr id="176" name="Connector 175"/>
          <p:cNvCxnSpPr/>
          <p:nvPr/>
        </p:nvCxnSpPr>
        <p:spPr>
          <a:xfrm>
            <a:off x="10442829" y="6483096"/>
            <a:ext cx="351028" cy="0"/>
          </a:xfrm>
          <a:prstGeom prst="line">
            <a:avLst/>
          </a:prstGeom>
          <a:ln w="12700">
            <a:solidFill>
              <a:srgbClr val="182B3A"/>
            </a:solidFill>
          </a:ln>
          <a:effectLst/>
        </p:spPr>
        <p:style>
          <a:lnRef idx="2">
            <a:schemeClr val="accent1"/>
          </a:lnRef>
          <a:fillRef idx="0">
            <a:schemeClr val="accent1"/>
          </a:fillRef>
          <a:effectRef idx="1">
            <a:schemeClr val="accent1"/>
          </a:effectRef>
          <a:fontRef idx="minor">
            <a:schemeClr val="tx1"/>
          </a:fontRef>
        </p:style>
      </p:cxnSp>
      <p:sp>
        <p:nvSpPr>
          <p:cNvPr id="177" name="TextBox 176"/>
          <p:cNvSpPr txBox="1"/>
          <p:nvPr/>
        </p:nvSpPr>
        <p:spPr>
          <a:xfrm>
            <a:off x="10442829" y="6501384"/>
            <a:ext cx="351028" cy="256032"/>
          </a:xfrm>
          <a:prstGeom prst="rect">
            <a:avLst/>
          </a:prstGeom>
          <a:noFill/>
        </p:spPr>
        <p:txBody>
          <a:bodyPr wrap="none" lIns="0" rIns="0" tIns="0" bIns="0">
            <a:spAutoFit/>
          </a:bodyPr>
          <a:lstStyle/>
          <a:p>
            <a:pPr algn="ctr">
              <a:lnSpc>
                <a:spcPts val="1904"/>
              </a:lnSpc>
              <a:spcAft>
                <a:spcPts val="0"/>
              </a:spcAft>
              <a:defRPr sz="1700" b="0">
                <a:solidFill>
                  <a:srgbClr val="182B3A"/>
                </a:solidFill>
                <a:latin typeface="Arial"/>
              </a:defRPr>
            </a:pPr>
            <a:r>
              <a:t>6</a:t>
            </a:r>
          </a:p>
        </p:txBody>
      </p:sp>
      <p:sp>
        <p:nvSpPr>
          <p:cNvPr id="178" name="TextBox 177"/>
          <p:cNvSpPr txBox="1"/>
          <p:nvPr/>
        </p:nvSpPr>
        <p:spPr>
          <a:xfrm>
            <a:off x="10848721" y="6336792"/>
            <a:ext cx="341757" cy="347472"/>
          </a:xfrm>
          <a:prstGeom prst="rect">
            <a:avLst/>
          </a:prstGeom>
          <a:noFill/>
        </p:spPr>
        <p:txBody>
          <a:bodyPr wrap="none" lIns="0" rIns="0" tIns="0" bIns="0">
            <a:spAutoFit/>
          </a:bodyPr>
          <a:lstStyle/>
          <a:p>
            <a:pPr algn="l">
              <a:lnSpc>
                <a:spcPts val="2464"/>
              </a:lnSpc>
              <a:spcAft>
                <a:spcPts val="0"/>
              </a:spcAft>
              <a:defRPr sz="2200" b="0">
                <a:solidFill>
                  <a:srgbClr val="182B3A"/>
                </a:solidFill>
                <a:latin typeface="Arial"/>
              </a:defRPr>
            </a:pPr>
            <a:r>
              <a:t> − </a:t>
            </a:r>
          </a:p>
        </p:txBody>
      </p:sp>
      <p:sp>
        <p:nvSpPr>
          <p:cNvPr id="179" name="TextBox 178"/>
          <p:cNvSpPr txBox="1"/>
          <p:nvPr/>
        </p:nvSpPr>
        <p:spPr>
          <a:xfrm>
            <a:off x="11190478" y="6217920"/>
            <a:ext cx="230377" cy="256032"/>
          </a:xfrm>
          <a:prstGeom prst="rect">
            <a:avLst/>
          </a:prstGeom>
          <a:noFill/>
        </p:spPr>
        <p:txBody>
          <a:bodyPr wrap="none" lIns="0" rIns="0" tIns="0" bIns="0">
            <a:spAutoFit/>
          </a:bodyPr>
          <a:lstStyle/>
          <a:p>
            <a:pPr algn="ctr">
              <a:lnSpc>
                <a:spcPts val="1904"/>
              </a:lnSpc>
              <a:spcAft>
                <a:spcPts val="0"/>
              </a:spcAft>
              <a:defRPr sz="1700" b="0">
                <a:solidFill>
                  <a:srgbClr val="182B3A"/>
                </a:solidFill>
                <a:latin typeface="Arial"/>
              </a:defRPr>
            </a:pPr>
            <a:r>
              <a:t>3</a:t>
            </a:r>
          </a:p>
        </p:txBody>
      </p:sp>
      <p:cxnSp>
        <p:nvCxnSpPr>
          <p:cNvPr id="180" name="Connector 179"/>
          <p:cNvCxnSpPr/>
          <p:nvPr/>
        </p:nvCxnSpPr>
        <p:spPr>
          <a:xfrm>
            <a:off x="11190478" y="6483096"/>
            <a:ext cx="230378" cy="0"/>
          </a:xfrm>
          <a:prstGeom prst="line">
            <a:avLst/>
          </a:prstGeom>
          <a:ln w="12700">
            <a:solidFill>
              <a:srgbClr val="182B3A"/>
            </a:solidFill>
          </a:ln>
          <a:effectLst/>
        </p:spPr>
        <p:style>
          <a:lnRef idx="2">
            <a:schemeClr val="accent1"/>
          </a:lnRef>
          <a:fillRef idx="0">
            <a:schemeClr val="accent1"/>
          </a:fillRef>
          <a:effectRef idx="1">
            <a:schemeClr val="accent1"/>
          </a:effectRef>
          <a:fontRef idx="minor">
            <a:schemeClr val="tx1"/>
          </a:fontRef>
        </p:style>
      </p:cxnSp>
      <p:sp>
        <p:nvSpPr>
          <p:cNvPr id="181" name="TextBox 180"/>
          <p:cNvSpPr txBox="1"/>
          <p:nvPr/>
        </p:nvSpPr>
        <p:spPr>
          <a:xfrm>
            <a:off x="11190478" y="6501384"/>
            <a:ext cx="230377" cy="256032"/>
          </a:xfrm>
          <a:prstGeom prst="rect">
            <a:avLst/>
          </a:prstGeom>
          <a:noFill/>
        </p:spPr>
        <p:txBody>
          <a:bodyPr wrap="none" lIns="0" rIns="0" tIns="0" bIns="0">
            <a:spAutoFit/>
          </a:bodyPr>
          <a:lstStyle/>
          <a:p>
            <a:pPr algn="ctr">
              <a:lnSpc>
                <a:spcPts val="1904"/>
              </a:lnSpc>
              <a:spcAft>
                <a:spcPts val="0"/>
              </a:spcAft>
              <a:defRPr sz="1700" b="0">
                <a:solidFill>
                  <a:srgbClr val="182B3A"/>
                </a:solidFill>
                <a:latin typeface="Arial"/>
              </a:defRPr>
            </a:pPr>
            <a:r>
              <a:t>6</a:t>
            </a:r>
          </a:p>
        </p:txBody>
      </p:sp>
      <p:sp>
        <p:nvSpPr>
          <p:cNvPr id="182" name="TextBox 181"/>
          <p:cNvSpPr txBox="1"/>
          <p:nvPr/>
        </p:nvSpPr>
        <p:spPr>
          <a:xfrm>
            <a:off x="10177272" y="6784848"/>
            <a:ext cx="265557" cy="347472"/>
          </a:xfrm>
          <a:prstGeom prst="rect">
            <a:avLst/>
          </a:prstGeom>
          <a:noFill/>
        </p:spPr>
        <p:txBody>
          <a:bodyPr wrap="none" lIns="0" rIns="0" tIns="0" bIns="0">
            <a:spAutoFit/>
          </a:bodyPr>
          <a:lstStyle/>
          <a:p>
            <a:pPr algn="l">
              <a:lnSpc>
                <a:spcPts val="2464"/>
              </a:lnSpc>
              <a:spcAft>
                <a:spcPts val="0"/>
              </a:spcAft>
              <a:defRPr sz="2200" b="0">
                <a:solidFill>
                  <a:srgbClr val="182B3A"/>
                </a:solidFill>
                <a:latin typeface="Arial"/>
              </a:defRPr>
            </a:pPr>
            <a:r>
              <a:t>= </a:t>
            </a:r>
          </a:p>
        </p:txBody>
      </p:sp>
      <p:sp>
        <p:nvSpPr>
          <p:cNvPr id="183" name="TextBox 182"/>
          <p:cNvSpPr txBox="1"/>
          <p:nvPr/>
        </p:nvSpPr>
        <p:spPr>
          <a:xfrm>
            <a:off x="10442829" y="6665976"/>
            <a:ext cx="351028" cy="256032"/>
          </a:xfrm>
          <a:prstGeom prst="rect">
            <a:avLst/>
          </a:prstGeom>
          <a:noFill/>
        </p:spPr>
        <p:txBody>
          <a:bodyPr wrap="none" lIns="0" rIns="0" tIns="0" bIns="0">
            <a:spAutoFit/>
          </a:bodyPr>
          <a:lstStyle/>
          <a:p>
            <a:pPr algn="ctr">
              <a:lnSpc>
                <a:spcPts val="1904"/>
              </a:lnSpc>
              <a:spcAft>
                <a:spcPts val="0"/>
              </a:spcAft>
              <a:defRPr sz="1700" b="0">
                <a:solidFill>
                  <a:srgbClr val="182B3A"/>
                </a:solidFill>
                <a:latin typeface="Arial"/>
              </a:defRPr>
            </a:pPr>
            <a:r>
              <a:t>10</a:t>
            </a:r>
          </a:p>
        </p:txBody>
      </p:sp>
      <p:cxnSp>
        <p:nvCxnSpPr>
          <p:cNvPr id="184" name="Connector 183"/>
          <p:cNvCxnSpPr/>
          <p:nvPr/>
        </p:nvCxnSpPr>
        <p:spPr>
          <a:xfrm>
            <a:off x="10442829" y="6931152"/>
            <a:ext cx="351028" cy="0"/>
          </a:xfrm>
          <a:prstGeom prst="line">
            <a:avLst/>
          </a:prstGeom>
          <a:ln w="12700">
            <a:solidFill>
              <a:srgbClr val="182B3A"/>
            </a:solidFill>
          </a:ln>
          <a:effectLst/>
        </p:spPr>
        <p:style>
          <a:lnRef idx="2">
            <a:schemeClr val="accent1"/>
          </a:lnRef>
          <a:fillRef idx="0">
            <a:schemeClr val="accent1"/>
          </a:fillRef>
          <a:effectRef idx="1">
            <a:schemeClr val="accent1"/>
          </a:effectRef>
          <a:fontRef idx="minor">
            <a:schemeClr val="tx1"/>
          </a:fontRef>
        </p:style>
      </p:cxnSp>
      <p:sp>
        <p:nvSpPr>
          <p:cNvPr id="185" name="TextBox 184"/>
          <p:cNvSpPr txBox="1"/>
          <p:nvPr/>
        </p:nvSpPr>
        <p:spPr>
          <a:xfrm>
            <a:off x="10442829" y="6949440"/>
            <a:ext cx="351028" cy="256032"/>
          </a:xfrm>
          <a:prstGeom prst="rect">
            <a:avLst/>
          </a:prstGeom>
          <a:noFill/>
        </p:spPr>
        <p:txBody>
          <a:bodyPr wrap="none" lIns="0" rIns="0" tIns="0" bIns="0">
            <a:spAutoFit/>
          </a:bodyPr>
          <a:lstStyle/>
          <a:p>
            <a:pPr algn="ctr">
              <a:lnSpc>
                <a:spcPts val="1904"/>
              </a:lnSpc>
              <a:spcAft>
                <a:spcPts val="0"/>
              </a:spcAft>
              <a:defRPr sz="1700" b="0">
                <a:solidFill>
                  <a:srgbClr val="182B3A"/>
                </a:solidFill>
                <a:latin typeface="Arial"/>
              </a:defRPr>
            </a:pPr>
            <a:r>
              <a:t>6</a:t>
            </a:r>
          </a:p>
        </p:txBody>
      </p:sp>
      <p:sp>
        <p:nvSpPr>
          <p:cNvPr id="186" name="TextBox 185"/>
          <p:cNvSpPr txBox="1"/>
          <p:nvPr/>
        </p:nvSpPr>
        <p:spPr>
          <a:xfrm>
            <a:off x="10177272" y="7232904"/>
            <a:ext cx="497332" cy="347472"/>
          </a:xfrm>
          <a:prstGeom prst="rect">
            <a:avLst/>
          </a:prstGeom>
          <a:noFill/>
        </p:spPr>
        <p:txBody>
          <a:bodyPr wrap="none" lIns="0" rIns="0" tIns="0" bIns="0">
            <a:spAutoFit/>
          </a:bodyPr>
          <a:lstStyle/>
          <a:p>
            <a:pPr algn="l">
              <a:lnSpc>
                <a:spcPts val="2464"/>
              </a:lnSpc>
              <a:spcAft>
                <a:spcPts val="0"/>
              </a:spcAft>
              <a:defRPr sz="2200" b="0">
                <a:solidFill>
                  <a:srgbClr val="182B3A"/>
                </a:solidFill>
                <a:latin typeface="Arial"/>
              </a:defRPr>
            </a:pPr>
            <a:r>
              <a:t>= 1 </a:t>
            </a:r>
          </a:p>
        </p:txBody>
      </p:sp>
      <p:sp>
        <p:nvSpPr>
          <p:cNvPr id="187" name="TextBox 186"/>
          <p:cNvSpPr txBox="1"/>
          <p:nvPr/>
        </p:nvSpPr>
        <p:spPr>
          <a:xfrm>
            <a:off x="10674604" y="7114032"/>
            <a:ext cx="230377" cy="256032"/>
          </a:xfrm>
          <a:prstGeom prst="rect">
            <a:avLst/>
          </a:prstGeom>
          <a:noFill/>
        </p:spPr>
        <p:txBody>
          <a:bodyPr wrap="none" lIns="0" rIns="0" tIns="0" bIns="0">
            <a:spAutoFit/>
          </a:bodyPr>
          <a:lstStyle/>
          <a:p>
            <a:pPr algn="ctr">
              <a:lnSpc>
                <a:spcPts val="1904"/>
              </a:lnSpc>
              <a:spcAft>
                <a:spcPts val="0"/>
              </a:spcAft>
              <a:defRPr sz="1700" b="0">
                <a:solidFill>
                  <a:srgbClr val="182B3A"/>
                </a:solidFill>
                <a:latin typeface="Arial"/>
              </a:defRPr>
            </a:pPr>
            <a:r>
              <a:t>3</a:t>
            </a:r>
          </a:p>
        </p:txBody>
      </p:sp>
      <p:cxnSp>
        <p:nvCxnSpPr>
          <p:cNvPr id="188" name="Connector 187"/>
          <p:cNvCxnSpPr/>
          <p:nvPr/>
        </p:nvCxnSpPr>
        <p:spPr>
          <a:xfrm>
            <a:off x="10674604" y="7379208"/>
            <a:ext cx="230378" cy="0"/>
          </a:xfrm>
          <a:prstGeom prst="line">
            <a:avLst/>
          </a:prstGeom>
          <a:ln w="12700">
            <a:solidFill>
              <a:srgbClr val="182B3A"/>
            </a:solidFill>
          </a:ln>
          <a:effectLst/>
        </p:spPr>
        <p:style>
          <a:lnRef idx="2">
            <a:schemeClr val="accent1"/>
          </a:lnRef>
          <a:fillRef idx="0">
            <a:schemeClr val="accent1"/>
          </a:fillRef>
          <a:effectRef idx="1">
            <a:schemeClr val="accent1"/>
          </a:effectRef>
          <a:fontRef idx="minor">
            <a:schemeClr val="tx1"/>
          </a:fontRef>
        </p:style>
      </p:cxnSp>
      <p:sp>
        <p:nvSpPr>
          <p:cNvPr id="189" name="TextBox 188"/>
          <p:cNvSpPr txBox="1"/>
          <p:nvPr/>
        </p:nvSpPr>
        <p:spPr>
          <a:xfrm>
            <a:off x="10674604" y="7397496"/>
            <a:ext cx="230377" cy="256032"/>
          </a:xfrm>
          <a:prstGeom prst="rect">
            <a:avLst/>
          </a:prstGeom>
          <a:noFill/>
        </p:spPr>
        <p:txBody>
          <a:bodyPr wrap="none" lIns="0" rIns="0" tIns="0" bIns="0">
            <a:spAutoFit/>
          </a:bodyPr>
          <a:lstStyle/>
          <a:p>
            <a:pPr algn="ctr">
              <a:lnSpc>
                <a:spcPts val="1904"/>
              </a:lnSpc>
              <a:spcAft>
                <a:spcPts val="0"/>
              </a:spcAft>
              <a:defRPr sz="1700" b="0">
                <a:solidFill>
                  <a:srgbClr val="182B3A"/>
                </a:solidFill>
                <a:latin typeface="Arial"/>
              </a:defRPr>
            </a:pPr>
            <a:r>
              <a:t>6</a:t>
            </a:r>
          </a:p>
        </p:txBody>
      </p:sp>
    </p:spTree>
  </p:cSld>
  <p:clrMapOvr>
    <a:masterClrMapping/>
  </p:clrMapOvr>
</p:sld>
</file>

<file path=ppt/slides/slide46.xml><?xml version="1.0" encoding="utf-8"?>
<p:sld xmlns:a="http://schemas.openxmlformats.org/drawingml/2006/main" xmlns:p="http://schemas.openxmlformats.org/presentationml/2006/main" xmlns:r="http://schemas.openxmlformats.org/officeDocument/2006/relationships">
  <p:cSld>
    <p:bg>
      <p:bgPr>
        <a:solidFill>
          <a:srgbClr val="F7F8FA"/>
        </a:solidFill>
        <a:effectLst/>
      </p:bgPr>
    </p:bg>
    <p:spTree>
      <p:nvGrpSpPr>
        <p:cNvPr id="1" name=""/>
        <p:cNvGrpSpPr/>
        <p:nvPr/>
      </p:nvGrpSpPr>
      <p:grpSpPr/>
      <p:sp>
        <p:nvSpPr>
          <p:cNvPr id="2" name="Rectangle 1"/>
          <p:cNvSpPr/>
          <p:nvPr/>
        </p:nvSpPr>
        <p:spPr>
          <a:xfrm>
            <a:off x="0" y="0"/>
            <a:ext cx="14630400" cy="73152"/>
          </a:xfrm>
          <a:prstGeom prst="rect">
            <a:avLst/>
          </a:prstGeom>
          <a:solidFill>
            <a:srgbClr val="176B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20040" y="164592"/>
            <a:ext cx="13990320" cy="457200"/>
          </a:xfrm>
          <a:prstGeom prst="rect">
            <a:avLst/>
          </a:prstGeom>
          <a:noFill/>
        </p:spPr>
        <p:txBody>
          <a:bodyPr wrap="square" lIns="54864" rIns="54864" tIns="22860" bIns="22860">
            <a:spAutoFit/>
          </a:bodyPr>
          <a:lstStyle/>
          <a:p>
            <a:pPr>
              <a:lnSpc>
                <a:spcPts val="2940"/>
              </a:lnSpc>
              <a:spcBef>
                <a:spcPts val="0"/>
              </a:spcBef>
              <a:spcAft>
                <a:spcPts val="0"/>
              </a:spcAft>
              <a:defRPr sz="2800" b="1">
                <a:solidFill>
                  <a:srgbClr val="182B3A"/>
                </a:solidFill>
                <a:latin typeface="Arial"/>
              </a:defRPr>
            </a:pPr>
            <a:r>
              <a:t>Adding and subtracting fractions</a:t>
            </a:r>
          </a:p>
        </p:txBody>
      </p:sp>
      <p:sp>
        <p:nvSpPr>
          <p:cNvPr id="4" name="TextBox 3"/>
          <p:cNvSpPr txBox="1"/>
          <p:nvPr/>
        </p:nvSpPr>
        <p:spPr>
          <a:xfrm>
            <a:off x="320040" y="704088"/>
            <a:ext cx="13990320" cy="347472"/>
          </a:xfrm>
          <a:prstGeom prst="rect">
            <a:avLst/>
          </a:prstGeom>
          <a:noFill/>
        </p:spPr>
        <p:txBody>
          <a:bodyPr wrap="square" lIns="54864" rIns="54864" tIns="22860" bIns="22860">
            <a:spAutoFit/>
          </a:bodyPr>
          <a:lstStyle/>
          <a:p>
            <a:pPr>
              <a:lnSpc>
                <a:spcPts val="1575"/>
              </a:lnSpc>
              <a:spcBef>
                <a:spcPts val="0"/>
              </a:spcBef>
              <a:spcAft>
                <a:spcPts val="0"/>
              </a:spcAft>
              <a:defRPr sz="1500" b="0">
                <a:solidFill>
                  <a:srgbClr val="526472"/>
                </a:solidFill>
                <a:latin typeface="Arial"/>
              </a:defRPr>
            </a:pPr>
            <a:r>
              <a:t>Independent practice 1 • Simplify; write mixed answers if greater than 1.</a:t>
            </a:r>
          </a:p>
        </p:txBody>
      </p:sp>
      <p:sp>
        <p:nvSpPr>
          <p:cNvPr id="5" name="TextBox 4"/>
          <p:cNvSpPr txBox="1"/>
          <p:nvPr/>
        </p:nvSpPr>
        <p:spPr>
          <a:xfrm>
            <a:off x="320040" y="7973568"/>
            <a:ext cx="10789920" cy="210312"/>
          </a:xfrm>
          <a:prstGeom prst="rect">
            <a:avLst/>
          </a:prstGeom>
          <a:noFill/>
        </p:spPr>
        <p:txBody>
          <a:bodyPr wrap="square" lIns="54864" rIns="54864" tIns="22860" bIns="22860">
            <a:spAutoFit/>
          </a:bodyPr>
          <a:lstStyle/>
          <a:p>
            <a:pPr>
              <a:lnSpc>
                <a:spcPts val="1155"/>
              </a:lnSpc>
              <a:spcBef>
                <a:spcPts val="0"/>
              </a:spcBef>
              <a:spcAft>
                <a:spcPts val="0"/>
              </a:spcAft>
              <a:defRPr sz="1100" b="0">
                <a:solidFill>
                  <a:srgbClr val="526472"/>
                </a:solidFill>
                <a:latin typeface="Arial"/>
              </a:defRPr>
            </a:pPr>
            <a:r>
              <a:t>GCSE Maths revision • No calculator • Show your working.</a:t>
            </a:r>
          </a:p>
        </p:txBody>
      </p:sp>
      <p:sp>
        <p:nvSpPr>
          <p:cNvPr id="6" name="TextBox 5"/>
          <p:cNvSpPr txBox="1"/>
          <p:nvPr/>
        </p:nvSpPr>
        <p:spPr>
          <a:xfrm>
            <a:off x="11155680" y="7973568"/>
            <a:ext cx="3108960" cy="210312"/>
          </a:xfrm>
          <a:prstGeom prst="rect">
            <a:avLst/>
          </a:prstGeom>
          <a:noFill/>
        </p:spPr>
        <p:txBody>
          <a:bodyPr wrap="square" lIns="54864" rIns="54864" tIns="22860" bIns="22860">
            <a:spAutoFit/>
          </a:bodyPr>
          <a:lstStyle/>
          <a:p>
            <a:pPr>
              <a:lnSpc>
                <a:spcPts val="1155"/>
              </a:lnSpc>
              <a:spcBef>
                <a:spcPts val="0"/>
              </a:spcBef>
              <a:spcAft>
                <a:spcPts val="0"/>
              </a:spcAft>
              <a:defRPr sz="1100" b="0">
                <a:solidFill>
                  <a:srgbClr val="526472"/>
                </a:solidFill>
                <a:latin typeface="Arial"/>
              </a:defRPr>
            </a:pPr>
            <a:r>
              <a:t>M15-S04</a:t>
            </a:r>
          </a:p>
        </p:txBody>
      </p:sp>
      <p:sp>
        <p:nvSpPr>
          <p:cNvPr id="7" name="Rectangle 6"/>
          <p:cNvSpPr/>
          <p:nvPr/>
        </p:nvSpPr>
        <p:spPr>
          <a:xfrm>
            <a:off x="320040" y="1115568"/>
            <a:ext cx="4640580" cy="420624"/>
          </a:xfrm>
          <a:prstGeom prst="rect">
            <a:avLst/>
          </a:prstGeom>
          <a:solidFill>
            <a:srgbClr val="176B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347472" y="1147572"/>
            <a:ext cx="4581144" cy="329184"/>
          </a:xfrm>
          <a:prstGeom prst="rect">
            <a:avLst/>
          </a:prstGeom>
          <a:noFill/>
        </p:spPr>
        <p:txBody>
          <a:bodyPr wrap="square" lIns="54864" rIns="54864" tIns="22860" bIns="22860">
            <a:spAutoFit/>
          </a:bodyPr>
          <a:lstStyle/>
          <a:p>
            <a:pPr>
              <a:lnSpc>
                <a:spcPts val="1995"/>
              </a:lnSpc>
              <a:spcBef>
                <a:spcPts val="0"/>
              </a:spcBef>
              <a:spcAft>
                <a:spcPts val="0"/>
              </a:spcAft>
              <a:defRPr sz="1900" b="1">
                <a:solidFill>
                  <a:srgbClr val="FFFFFF"/>
                </a:solidFill>
                <a:latin typeface="Arial"/>
              </a:defRPr>
            </a:pPr>
            <a:r>
              <a:t>Start</a:t>
            </a:r>
          </a:p>
        </p:txBody>
      </p:sp>
      <p:sp>
        <p:nvSpPr>
          <p:cNvPr id="9" name="Rectangle 8"/>
          <p:cNvSpPr/>
          <p:nvPr/>
        </p:nvSpPr>
        <p:spPr>
          <a:xfrm>
            <a:off x="4983480" y="1115568"/>
            <a:ext cx="4640580" cy="420624"/>
          </a:xfrm>
          <a:prstGeom prst="rect">
            <a:avLst/>
          </a:prstGeom>
          <a:solidFill>
            <a:srgbClr val="3559A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010912" y="1147572"/>
            <a:ext cx="4581144" cy="329184"/>
          </a:xfrm>
          <a:prstGeom prst="rect">
            <a:avLst/>
          </a:prstGeom>
          <a:noFill/>
        </p:spPr>
        <p:txBody>
          <a:bodyPr wrap="square" lIns="54864" rIns="54864" tIns="22860" bIns="22860">
            <a:spAutoFit/>
          </a:bodyPr>
          <a:lstStyle/>
          <a:p>
            <a:pPr>
              <a:lnSpc>
                <a:spcPts val="1995"/>
              </a:lnSpc>
              <a:spcBef>
                <a:spcPts val="0"/>
              </a:spcBef>
              <a:spcAft>
                <a:spcPts val="0"/>
              </a:spcAft>
              <a:defRPr sz="1900" b="1">
                <a:solidFill>
                  <a:srgbClr val="FFFFFF"/>
                </a:solidFill>
                <a:latin typeface="Arial"/>
              </a:defRPr>
            </a:pPr>
            <a:r>
              <a:t>Build</a:t>
            </a:r>
          </a:p>
        </p:txBody>
      </p:sp>
      <p:sp>
        <p:nvSpPr>
          <p:cNvPr id="11" name="Rectangle 10"/>
          <p:cNvSpPr/>
          <p:nvPr/>
        </p:nvSpPr>
        <p:spPr>
          <a:xfrm>
            <a:off x="9646920" y="1115568"/>
            <a:ext cx="4640580" cy="420624"/>
          </a:xfrm>
          <a:prstGeom prst="rect">
            <a:avLst/>
          </a:prstGeom>
          <a:solidFill>
            <a:srgbClr val="754B8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9674352" y="1147572"/>
            <a:ext cx="4581144" cy="329184"/>
          </a:xfrm>
          <a:prstGeom prst="rect">
            <a:avLst/>
          </a:prstGeom>
          <a:noFill/>
        </p:spPr>
        <p:txBody>
          <a:bodyPr wrap="square" lIns="54864" rIns="54864" tIns="22860" bIns="22860">
            <a:spAutoFit/>
          </a:bodyPr>
          <a:lstStyle/>
          <a:p>
            <a:pPr>
              <a:lnSpc>
                <a:spcPts val="1995"/>
              </a:lnSpc>
              <a:spcBef>
                <a:spcPts val="0"/>
              </a:spcBef>
              <a:spcAft>
                <a:spcPts val="0"/>
              </a:spcAft>
              <a:defRPr sz="1900" b="1">
                <a:solidFill>
                  <a:srgbClr val="FFFFFF"/>
                </a:solidFill>
                <a:latin typeface="Arial"/>
              </a:defRPr>
            </a:pPr>
            <a:r>
              <a:t>Confidence</a:t>
            </a:r>
          </a:p>
        </p:txBody>
      </p:sp>
      <p:sp>
        <p:nvSpPr>
          <p:cNvPr id="13" name="Rectangle 12"/>
          <p:cNvSpPr/>
          <p:nvPr/>
        </p:nvSpPr>
        <p:spPr>
          <a:xfrm>
            <a:off x="320040" y="1581912"/>
            <a:ext cx="4640580" cy="1005840"/>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11479" y="1837943"/>
            <a:ext cx="320040" cy="365760"/>
          </a:xfrm>
          <a:prstGeom prst="rect">
            <a:avLst/>
          </a:prstGeom>
          <a:noFill/>
        </p:spPr>
        <p:txBody>
          <a:bodyPr wrap="square" lIns="54864" rIns="54864" tIns="22860" bIns="22860">
            <a:spAutoFit/>
          </a:bodyPr>
          <a:lstStyle/>
          <a:p>
            <a:pPr>
              <a:lnSpc>
                <a:spcPts val="2205"/>
              </a:lnSpc>
              <a:spcBef>
                <a:spcPts val="0"/>
              </a:spcBef>
              <a:spcAft>
                <a:spcPts val="0"/>
              </a:spcAft>
              <a:defRPr sz="2100" b="1">
                <a:solidFill>
                  <a:srgbClr val="182B3A"/>
                </a:solidFill>
                <a:latin typeface="Arial"/>
              </a:defRPr>
            </a:pPr>
            <a:r>
              <a:t>1.</a:t>
            </a:r>
          </a:p>
        </p:txBody>
      </p:sp>
      <p:sp>
        <p:nvSpPr>
          <p:cNvPr id="15" name="TextBox 14"/>
          <p:cNvSpPr txBox="1"/>
          <p:nvPr/>
        </p:nvSpPr>
        <p:spPr>
          <a:xfrm>
            <a:off x="914399" y="1755648"/>
            <a:ext cx="252603" cy="256032"/>
          </a:xfrm>
          <a:prstGeom prst="rect">
            <a:avLst/>
          </a:prstGeom>
          <a:noFill/>
        </p:spPr>
        <p:txBody>
          <a:bodyPr wrap="none" lIns="0" rIns="0" tIns="0" bIns="0">
            <a:spAutoFit/>
          </a:bodyPr>
          <a:lstStyle/>
          <a:p>
            <a:pPr algn="ctr">
              <a:lnSpc>
                <a:spcPts val="2240"/>
              </a:lnSpc>
              <a:spcAft>
                <a:spcPts val="0"/>
              </a:spcAft>
              <a:defRPr sz="2000" b="0">
                <a:solidFill>
                  <a:srgbClr val="182B3A"/>
                </a:solidFill>
                <a:latin typeface="Arial"/>
              </a:defRPr>
            </a:pPr>
            <a:r>
              <a:t>7</a:t>
            </a:r>
          </a:p>
        </p:txBody>
      </p:sp>
      <p:cxnSp>
        <p:nvCxnSpPr>
          <p:cNvPr id="16" name="Connector 15"/>
          <p:cNvCxnSpPr/>
          <p:nvPr/>
        </p:nvCxnSpPr>
        <p:spPr>
          <a:xfrm>
            <a:off x="914399" y="2020824"/>
            <a:ext cx="252604" cy="0"/>
          </a:xfrm>
          <a:prstGeom prst="line">
            <a:avLst/>
          </a:prstGeom>
          <a:ln w="12700">
            <a:solidFill>
              <a:srgbClr val="182B3A"/>
            </a:solidFill>
          </a:ln>
          <a:effectLst/>
        </p:spPr>
        <p:style>
          <a:lnRef idx="2">
            <a:schemeClr val="accent1"/>
          </a:lnRef>
          <a:fillRef idx="0">
            <a:schemeClr val="accent1"/>
          </a:fillRef>
          <a:effectRef idx="1">
            <a:schemeClr val="accent1"/>
          </a:effectRef>
          <a:fontRef idx="minor">
            <a:schemeClr val="tx1"/>
          </a:fontRef>
        </p:style>
      </p:cxnSp>
      <p:sp>
        <p:nvSpPr>
          <p:cNvPr id="17" name="TextBox 16"/>
          <p:cNvSpPr txBox="1"/>
          <p:nvPr/>
        </p:nvSpPr>
        <p:spPr>
          <a:xfrm>
            <a:off x="914399" y="2039112"/>
            <a:ext cx="252603" cy="256032"/>
          </a:xfrm>
          <a:prstGeom prst="rect">
            <a:avLst/>
          </a:prstGeom>
          <a:noFill/>
        </p:spPr>
        <p:txBody>
          <a:bodyPr wrap="none" lIns="0" rIns="0" tIns="0" bIns="0">
            <a:spAutoFit/>
          </a:bodyPr>
          <a:lstStyle/>
          <a:p>
            <a:pPr algn="ctr">
              <a:lnSpc>
                <a:spcPts val="2240"/>
              </a:lnSpc>
              <a:spcAft>
                <a:spcPts val="0"/>
              </a:spcAft>
              <a:defRPr sz="2000" b="0">
                <a:solidFill>
                  <a:srgbClr val="182B3A"/>
                </a:solidFill>
                <a:latin typeface="Arial"/>
              </a:defRPr>
            </a:pPr>
            <a:r>
              <a:t>9</a:t>
            </a:r>
          </a:p>
        </p:txBody>
      </p:sp>
      <p:sp>
        <p:nvSpPr>
          <p:cNvPr id="18" name="TextBox 17"/>
          <p:cNvSpPr txBox="1"/>
          <p:nvPr/>
        </p:nvSpPr>
        <p:spPr>
          <a:xfrm>
            <a:off x="1221867" y="1874519"/>
            <a:ext cx="389381" cy="347472"/>
          </a:xfrm>
          <a:prstGeom prst="rect">
            <a:avLst/>
          </a:prstGeom>
          <a:noFill/>
        </p:spPr>
        <p:txBody>
          <a:bodyPr wrap="none" lIns="0" rIns="0" tIns="0" bIns="0">
            <a:spAutoFit/>
          </a:bodyPr>
          <a:lstStyle/>
          <a:p>
            <a:pPr algn="l">
              <a:lnSpc>
                <a:spcPts val="2800"/>
              </a:lnSpc>
              <a:spcAft>
                <a:spcPts val="0"/>
              </a:spcAft>
              <a:defRPr sz="2500" b="0">
                <a:solidFill>
                  <a:srgbClr val="182B3A"/>
                </a:solidFill>
                <a:latin typeface="Arial"/>
              </a:defRPr>
            </a:pPr>
            <a:r>
              <a:t> − </a:t>
            </a:r>
          </a:p>
        </p:txBody>
      </p:sp>
      <p:sp>
        <p:nvSpPr>
          <p:cNvPr id="19" name="TextBox 18"/>
          <p:cNvSpPr txBox="1"/>
          <p:nvPr/>
        </p:nvSpPr>
        <p:spPr>
          <a:xfrm>
            <a:off x="1611249" y="1755648"/>
            <a:ext cx="252603" cy="256032"/>
          </a:xfrm>
          <a:prstGeom prst="rect">
            <a:avLst/>
          </a:prstGeom>
          <a:noFill/>
        </p:spPr>
        <p:txBody>
          <a:bodyPr wrap="none" lIns="0" rIns="0" tIns="0" bIns="0">
            <a:spAutoFit/>
          </a:bodyPr>
          <a:lstStyle/>
          <a:p>
            <a:pPr algn="ctr">
              <a:lnSpc>
                <a:spcPts val="2240"/>
              </a:lnSpc>
              <a:spcAft>
                <a:spcPts val="0"/>
              </a:spcAft>
              <a:defRPr sz="2000" b="0">
                <a:solidFill>
                  <a:srgbClr val="182B3A"/>
                </a:solidFill>
                <a:latin typeface="Arial"/>
              </a:defRPr>
            </a:pPr>
            <a:r>
              <a:t>2</a:t>
            </a:r>
          </a:p>
        </p:txBody>
      </p:sp>
      <p:cxnSp>
        <p:nvCxnSpPr>
          <p:cNvPr id="20" name="Connector 19"/>
          <p:cNvCxnSpPr/>
          <p:nvPr/>
        </p:nvCxnSpPr>
        <p:spPr>
          <a:xfrm>
            <a:off x="1611249" y="2020824"/>
            <a:ext cx="252602" cy="0"/>
          </a:xfrm>
          <a:prstGeom prst="line">
            <a:avLst/>
          </a:prstGeom>
          <a:ln w="12700">
            <a:solidFill>
              <a:srgbClr val="182B3A"/>
            </a:solidFill>
          </a:ln>
          <a:effectLst/>
        </p:spPr>
        <p:style>
          <a:lnRef idx="2">
            <a:schemeClr val="accent1"/>
          </a:lnRef>
          <a:fillRef idx="0">
            <a:schemeClr val="accent1"/>
          </a:fillRef>
          <a:effectRef idx="1">
            <a:schemeClr val="accent1"/>
          </a:effectRef>
          <a:fontRef idx="minor">
            <a:schemeClr val="tx1"/>
          </a:fontRef>
        </p:style>
      </p:cxnSp>
      <p:sp>
        <p:nvSpPr>
          <p:cNvPr id="21" name="TextBox 20"/>
          <p:cNvSpPr txBox="1"/>
          <p:nvPr/>
        </p:nvSpPr>
        <p:spPr>
          <a:xfrm>
            <a:off x="1611249" y="2039112"/>
            <a:ext cx="252603" cy="256032"/>
          </a:xfrm>
          <a:prstGeom prst="rect">
            <a:avLst/>
          </a:prstGeom>
          <a:noFill/>
        </p:spPr>
        <p:txBody>
          <a:bodyPr wrap="none" lIns="0" rIns="0" tIns="0" bIns="0">
            <a:spAutoFit/>
          </a:bodyPr>
          <a:lstStyle/>
          <a:p>
            <a:pPr algn="ctr">
              <a:lnSpc>
                <a:spcPts val="2240"/>
              </a:lnSpc>
              <a:spcAft>
                <a:spcPts val="0"/>
              </a:spcAft>
              <a:defRPr sz="2000" b="0">
                <a:solidFill>
                  <a:srgbClr val="182B3A"/>
                </a:solidFill>
                <a:latin typeface="Arial"/>
              </a:defRPr>
            </a:pPr>
            <a:r>
              <a:t>9</a:t>
            </a:r>
          </a:p>
        </p:txBody>
      </p:sp>
      <p:sp>
        <p:nvSpPr>
          <p:cNvPr id="22" name="Rectangle 21"/>
          <p:cNvSpPr/>
          <p:nvPr/>
        </p:nvSpPr>
        <p:spPr>
          <a:xfrm>
            <a:off x="320040" y="2587752"/>
            <a:ext cx="4640580" cy="1005840"/>
          </a:xfrm>
          <a:prstGeom prst="rect">
            <a:avLst/>
          </a:prstGeom>
          <a:solidFill>
            <a:srgbClr val="EDF6F5"/>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411479" y="2843784"/>
            <a:ext cx="320040" cy="365760"/>
          </a:xfrm>
          <a:prstGeom prst="rect">
            <a:avLst/>
          </a:prstGeom>
          <a:noFill/>
        </p:spPr>
        <p:txBody>
          <a:bodyPr wrap="square" lIns="54864" rIns="54864" tIns="22860" bIns="22860">
            <a:spAutoFit/>
          </a:bodyPr>
          <a:lstStyle/>
          <a:p>
            <a:pPr>
              <a:lnSpc>
                <a:spcPts val="2205"/>
              </a:lnSpc>
              <a:spcBef>
                <a:spcPts val="0"/>
              </a:spcBef>
              <a:spcAft>
                <a:spcPts val="0"/>
              </a:spcAft>
              <a:defRPr sz="2100" b="1">
                <a:solidFill>
                  <a:srgbClr val="182B3A"/>
                </a:solidFill>
                <a:latin typeface="Arial"/>
              </a:defRPr>
            </a:pPr>
            <a:r>
              <a:t>2.</a:t>
            </a:r>
          </a:p>
        </p:txBody>
      </p:sp>
      <p:sp>
        <p:nvSpPr>
          <p:cNvPr id="24" name="TextBox 23"/>
          <p:cNvSpPr txBox="1"/>
          <p:nvPr/>
        </p:nvSpPr>
        <p:spPr>
          <a:xfrm>
            <a:off x="914399" y="2761488"/>
            <a:ext cx="252603" cy="256032"/>
          </a:xfrm>
          <a:prstGeom prst="rect">
            <a:avLst/>
          </a:prstGeom>
          <a:noFill/>
        </p:spPr>
        <p:txBody>
          <a:bodyPr wrap="none" lIns="0" rIns="0" tIns="0" bIns="0">
            <a:spAutoFit/>
          </a:bodyPr>
          <a:lstStyle/>
          <a:p>
            <a:pPr algn="ctr">
              <a:lnSpc>
                <a:spcPts val="2240"/>
              </a:lnSpc>
              <a:spcAft>
                <a:spcPts val="0"/>
              </a:spcAft>
              <a:defRPr sz="2000" b="0">
                <a:solidFill>
                  <a:srgbClr val="182B3A"/>
                </a:solidFill>
                <a:latin typeface="Arial"/>
              </a:defRPr>
            </a:pPr>
            <a:r>
              <a:t>5</a:t>
            </a:r>
          </a:p>
        </p:txBody>
      </p:sp>
      <p:cxnSp>
        <p:nvCxnSpPr>
          <p:cNvPr id="25" name="Connector 24"/>
          <p:cNvCxnSpPr/>
          <p:nvPr/>
        </p:nvCxnSpPr>
        <p:spPr>
          <a:xfrm>
            <a:off x="914399" y="3026664"/>
            <a:ext cx="252604" cy="0"/>
          </a:xfrm>
          <a:prstGeom prst="line">
            <a:avLst/>
          </a:prstGeom>
          <a:ln w="12700">
            <a:solidFill>
              <a:srgbClr val="182B3A"/>
            </a:solidFill>
          </a:ln>
          <a:effectLst/>
        </p:spPr>
        <p:style>
          <a:lnRef idx="2">
            <a:schemeClr val="accent1"/>
          </a:lnRef>
          <a:fillRef idx="0">
            <a:schemeClr val="accent1"/>
          </a:fillRef>
          <a:effectRef idx="1">
            <a:schemeClr val="accent1"/>
          </a:effectRef>
          <a:fontRef idx="minor">
            <a:schemeClr val="tx1"/>
          </a:fontRef>
        </p:style>
      </p:cxnSp>
      <p:sp>
        <p:nvSpPr>
          <p:cNvPr id="26" name="TextBox 25"/>
          <p:cNvSpPr txBox="1"/>
          <p:nvPr/>
        </p:nvSpPr>
        <p:spPr>
          <a:xfrm>
            <a:off x="914399" y="3044952"/>
            <a:ext cx="252603" cy="256032"/>
          </a:xfrm>
          <a:prstGeom prst="rect">
            <a:avLst/>
          </a:prstGeom>
          <a:noFill/>
        </p:spPr>
        <p:txBody>
          <a:bodyPr wrap="none" lIns="0" rIns="0" tIns="0" bIns="0">
            <a:spAutoFit/>
          </a:bodyPr>
          <a:lstStyle/>
          <a:p>
            <a:pPr algn="ctr">
              <a:lnSpc>
                <a:spcPts val="2240"/>
              </a:lnSpc>
              <a:spcAft>
                <a:spcPts val="0"/>
              </a:spcAft>
              <a:defRPr sz="2000" b="0">
                <a:solidFill>
                  <a:srgbClr val="182B3A"/>
                </a:solidFill>
                <a:latin typeface="Arial"/>
              </a:defRPr>
            </a:pPr>
            <a:r>
              <a:t>7</a:t>
            </a:r>
          </a:p>
        </p:txBody>
      </p:sp>
      <p:sp>
        <p:nvSpPr>
          <p:cNvPr id="27" name="TextBox 26"/>
          <p:cNvSpPr txBox="1"/>
          <p:nvPr/>
        </p:nvSpPr>
        <p:spPr>
          <a:xfrm>
            <a:off x="1221867" y="2880360"/>
            <a:ext cx="389381" cy="347472"/>
          </a:xfrm>
          <a:prstGeom prst="rect">
            <a:avLst/>
          </a:prstGeom>
          <a:noFill/>
        </p:spPr>
        <p:txBody>
          <a:bodyPr wrap="none" lIns="0" rIns="0" tIns="0" bIns="0">
            <a:spAutoFit/>
          </a:bodyPr>
          <a:lstStyle/>
          <a:p>
            <a:pPr algn="l">
              <a:lnSpc>
                <a:spcPts val="2800"/>
              </a:lnSpc>
              <a:spcAft>
                <a:spcPts val="0"/>
              </a:spcAft>
              <a:defRPr sz="2500" b="0">
                <a:solidFill>
                  <a:srgbClr val="182B3A"/>
                </a:solidFill>
                <a:latin typeface="Arial"/>
              </a:defRPr>
            </a:pPr>
            <a:r>
              <a:t> − </a:t>
            </a:r>
          </a:p>
        </p:txBody>
      </p:sp>
      <p:sp>
        <p:nvSpPr>
          <p:cNvPr id="28" name="TextBox 27"/>
          <p:cNvSpPr txBox="1"/>
          <p:nvPr/>
        </p:nvSpPr>
        <p:spPr>
          <a:xfrm>
            <a:off x="1611249" y="2761488"/>
            <a:ext cx="252603" cy="256032"/>
          </a:xfrm>
          <a:prstGeom prst="rect">
            <a:avLst/>
          </a:prstGeom>
          <a:noFill/>
        </p:spPr>
        <p:txBody>
          <a:bodyPr wrap="none" lIns="0" rIns="0" tIns="0" bIns="0">
            <a:spAutoFit/>
          </a:bodyPr>
          <a:lstStyle/>
          <a:p>
            <a:pPr algn="ctr">
              <a:lnSpc>
                <a:spcPts val="2240"/>
              </a:lnSpc>
              <a:spcAft>
                <a:spcPts val="0"/>
              </a:spcAft>
              <a:defRPr sz="2000" b="0">
                <a:solidFill>
                  <a:srgbClr val="182B3A"/>
                </a:solidFill>
                <a:latin typeface="Arial"/>
              </a:defRPr>
            </a:pPr>
            <a:r>
              <a:t>3</a:t>
            </a:r>
          </a:p>
        </p:txBody>
      </p:sp>
      <p:cxnSp>
        <p:nvCxnSpPr>
          <p:cNvPr id="29" name="Connector 28"/>
          <p:cNvCxnSpPr/>
          <p:nvPr/>
        </p:nvCxnSpPr>
        <p:spPr>
          <a:xfrm>
            <a:off x="1611249" y="3026664"/>
            <a:ext cx="252602" cy="0"/>
          </a:xfrm>
          <a:prstGeom prst="line">
            <a:avLst/>
          </a:prstGeom>
          <a:ln w="12700">
            <a:solidFill>
              <a:srgbClr val="182B3A"/>
            </a:solidFill>
          </a:ln>
          <a:effectLst/>
        </p:spPr>
        <p:style>
          <a:lnRef idx="2">
            <a:schemeClr val="accent1"/>
          </a:lnRef>
          <a:fillRef idx="0">
            <a:schemeClr val="accent1"/>
          </a:fillRef>
          <a:effectRef idx="1">
            <a:schemeClr val="accent1"/>
          </a:effectRef>
          <a:fontRef idx="minor">
            <a:schemeClr val="tx1"/>
          </a:fontRef>
        </p:style>
      </p:cxnSp>
      <p:sp>
        <p:nvSpPr>
          <p:cNvPr id="30" name="TextBox 29"/>
          <p:cNvSpPr txBox="1"/>
          <p:nvPr/>
        </p:nvSpPr>
        <p:spPr>
          <a:xfrm>
            <a:off x="1611249" y="3044952"/>
            <a:ext cx="252603" cy="256032"/>
          </a:xfrm>
          <a:prstGeom prst="rect">
            <a:avLst/>
          </a:prstGeom>
          <a:noFill/>
        </p:spPr>
        <p:txBody>
          <a:bodyPr wrap="none" lIns="0" rIns="0" tIns="0" bIns="0">
            <a:spAutoFit/>
          </a:bodyPr>
          <a:lstStyle/>
          <a:p>
            <a:pPr algn="ctr">
              <a:lnSpc>
                <a:spcPts val="2240"/>
              </a:lnSpc>
              <a:spcAft>
                <a:spcPts val="0"/>
              </a:spcAft>
              <a:defRPr sz="2000" b="0">
                <a:solidFill>
                  <a:srgbClr val="182B3A"/>
                </a:solidFill>
                <a:latin typeface="Arial"/>
              </a:defRPr>
            </a:pPr>
            <a:r>
              <a:t>7</a:t>
            </a:r>
          </a:p>
        </p:txBody>
      </p:sp>
      <p:sp>
        <p:nvSpPr>
          <p:cNvPr id="31" name="Rectangle 30"/>
          <p:cNvSpPr/>
          <p:nvPr/>
        </p:nvSpPr>
        <p:spPr>
          <a:xfrm>
            <a:off x="320040" y="3593592"/>
            <a:ext cx="4640580" cy="1005840"/>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411479" y="3849624"/>
            <a:ext cx="320040" cy="365760"/>
          </a:xfrm>
          <a:prstGeom prst="rect">
            <a:avLst/>
          </a:prstGeom>
          <a:noFill/>
        </p:spPr>
        <p:txBody>
          <a:bodyPr wrap="square" lIns="54864" rIns="54864" tIns="22860" bIns="22860">
            <a:spAutoFit/>
          </a:bodyPr>
          <a:lstStyle/>
          <a:p>
            <a:pPr>
              <a:lnSpc>
                <a:spcPts val="2205"/>
              </a:lnSpc>
              <a:spcBef>
                <a:spcPts val="0"/>
              </a:spcBef>
              <a:spcAft>
                <a:spcPts val="0"/>
              </a:spcAft>
              <a:defRPr sz="2100" b="1">
                <a:solidFill>
                  <a:srgbClr val="182B3A"/>
                </a:solidFill>
                <a:latin typeface="Arial"/>
              </a:defRPr>
            </a:pPr>
            <a:r>
              <a:t>3.</a:t>
            </a:r>
          </a:p>
        </p:txBody>
      </p:sp>
      <p:sp>
        <p:nvSpPr>
          <p:cNvPr id="33" name="TextBox 32"/>
          <p:cNvSpPr txBox="1"/>
          <p:nvPr/>
        </p:nvSpPr>
        <p:spPr>
          <a:xfrm>
            <a:off x="914399" y="3767328"/>
            <a:ext cx="395180" cy="256032"/>
          </a:xfrm>
          <a:prstGeom prst="rect">
            <a:avLst/>
          </a:prstGeom>
          <a:noFill/>
        </p:spPr>
        <p:txBody>
          <a:bodyPr wrap="none" lIns="0" rIns="0" tIns="0" bIns="0">
            <a:spAutoFit/>
          </a:bodyPr>
          <a:lstStyle/>
          <a:p>
            <a:pPr algn="ctr">
              <a:lnSpc>
                <a:spcPts val="2240"/>
              </a:lnSpc>
              <a:spcAft>
                <a:spcPts val="0"/>
              </a:spcAft>
              <a:defRPr sz="2000" b="0">
                <a:solidFill>
                  <a:srgbClr val="182B3A"/>
                </a:solidFill>
                <a:latin typeface="Arial"/>
              </a:defRPr>
            </a:pPr>
            <a:r>
              <a:t>7</a:t>
            </a:r>
          </a:p>
        </p:txBody>
      </p:sp>
      <p:cxnSp>
        <p:nvCxnSpPr>
          <p:cNvPr id="34" name="Connector 33"/>
          <p:cNvCxnSpPr/>
          <p:nvPr/>
        </p:nvCxnSpPr>
        <p:spPr>
          <a:xfrm>
            <a:off x="914399" y="4032504"/>
            <a:ext cx="395181" cy="0"/>
          </a:xfrm>
          <a:prstGeom prst="line">
            <a:avLst/>
          </a:prstGeom>
          <a:ln w="12700">
            <a:solidFill>
              <a:srgbClr val="182B3A"/>
            </a:solidFill>
          </a:ln>
          <a:effectLst/>
        </p:spPr>
        <p:style>
          <a:lnRef idx="2">
            <a:schemeClr val="accent1"/>
          </a:lnRef>
          <a:fillRef idx="0">
            <a:schemeClr val="accent1"/>
          </a:fillRef>
          <a:effectRef idx="1">
            <a:schemeClr val="accent1"/>
          </a:effectRef>
          <a:fontRef idx="minor">
            <a:schemeClr val="tx1"/>
          </a:fontRef>
        </p:style>
      </p:cxnSp>
      <p:sp>
        <p:nvSpPr>
          <p:cNvPr id="35" name="TextBox 34"/>
          <p:cNvSpPr txBox="1"/>
          <p:nvPr/>
        </p:nvSpPr>
        <p:spPr>
          <a:xfrm>
            <a:off x="914399" y="4050791"/>
            <a:ext cx="395180" cy="256032"/>
          </a:xfrm>
          <a:prstGeom prst="rect">
            <a:avLst/>
          </a:prstGeom>
          <a:noFill/>
        </p:spPr>
        <p:txBody>
          <a:bodyPr wrap="none" lIns="0" rIns="0" tIns="0" bIns="0">
            <a:spAutoFit/>
          </a:bodyPr>
          <a:lstStyle/>
          <a:p>
            <a:pPr algn="ctr">
              <a:lnSpc>
                <a:spcPts val="2240"/>
              </a:lnSpc>
              <a:spcAft>
                <a:spcPts val="0"/>
              </a:spcAft>
              <a:defRPr sz="2000" b="0">
                <a:solidFill>
                  <a:srgbClr val="182B3A"/>
                </a:solidFill>
                <a:latin typeface="Arial"/>
              </a:defRPr>
            </a:pPr>
            <a:r>
              <a:t>11</a:t>
            </a:r>
          </a:p>
        </p:txBody>
      </p:sp>
      <p:sp>
        <p:nvSpPr>
          <p:cNvPr id="36" name="TextBox 35"/>
          <p:cNvSpPr txBox="1"/>
          <p:nvPr/>
        </p:nvSpPr>
        <p:spPr>
          <a:xfrm>
            <a:off x="1364444" y="3886200"/>
            <a:ext cx="389381" cy="347472"/>
          </a:xfrm>
          <a:prstGeom prst="rect">
            <a:avLst/>
          </a:prstGeom>
          <a:noFill/>
        </p:spPr>
        <p:txBody>
          <a:bodyPr wrap="none" lIns="0" rIns="0" tIns="0" bIns="0">
            <a:spAutoFit/>
          </a:bodyPr>
          <a:lstStyle/>
          <a:p>
            <a:pPr algn="l">
              <a:lnSpc>
                <a:spcPts val="2800"/>
              </a:lnSpc>
              <a:spcAft>
                <a:spcPts val="0"/>
              </a:spcAft>
              <a:defRPr sz="2500" b="0">
                <a:solidFill>
                  <a:srgbClr val="182B3A"/>
                </a:solidFill>
                <a:latin typeface="Arial"/>
              </a:defRPr>
            </a:pPr>
            <a:r>
              <a:t> − </a:t>
            </a:r>
          </a:p>
        </p:txBody>
      </p:sp>
      <p:sp>
        <p:nvSpPr>
          <p:cNvPr id="37" name="TextBox 36"/>
          <p:cNvSpPr txBox="1"/>
          <p:nvPr/>
        </p:nvSpPr>
        <p:spPr>
          <a:xfrm>
            <a:off x="1753826" y="3767328"/>
            <a:ext cx="395180" cy="256032"/>
          </a:xfrm>
          <a:prstGeom prst="rect">
            <a:avLst/>
          </a:prstGeom>
          <a:noFill/>
        </p:spPr>
        <p:txBody>
          <a:bodyPr wrap="none" lIns="0" rIns="0" tIns="0" bIns="0">
            <a:spAutoFit/>
          </a:bodyPr>
          <a:lstStyle/>
          <a:p>
            <a:pPr algn="ctr">
              <a:lnSpc>
                <a:spcPts val="2240"/>
              </a:lnSpc>
              <a:spcAft>
                <a:spcPts val="0"/>
              </a:spcAft>
              <a:defRPr sz="2000" b="0">
                <a:solidFill>
                  <a:srgbClr val="182B3A"/>
                </a:solidFill>
                <a:latin typeface="Arial"/>
              </a:defRPr>
            </a:pPr>
            <a:r>
              <a:t>6</a:t>
            </a:r>
          </a:p>
        </p:txBody>
      </p:sp>
      <p:cxnSp>
        <p:nvCxnSpPr>
          <p:cNvPr id="38" name="Connector 37"/>
          <p:cNvCxnSpPr/>
          <p:nvPr/>
        </p:nvCxnSpPr>
        <p:spPr>
          <a:xfrm>
            <a:off x="1753826" y="4032504"/>
            <a:ext cx="395180" cy="0"/>
          </a:xfrm>
          <a:prstGeom prst="line">
            <a:avLst/>
          </a:prstGeom>
          <a:ln w="12700">
            <a:solidFill>
              <a:srgbClr val="182B3A"/>
            </a:solidFill>
          </a:ln>
          <a:effectLst/>
        </p:spPr>
        <p:style>
          <a:lnRef idx="2">
            <a:schemeClr val="accent1"/>
          </a:lnRef>
          <a:fillRef idx="0">
            <a:schemeClr val="accent1"/>
          </a:fillRef>
          <a:effectRef idx="1">
            <a:schemeClr val="accent1"/>
          </a:effectRef>
          <a:fontRef idx="minor">
            <a:schemeClr val="tx1"/>
          </a:fontRef>
        </p:style>
      </p:cxnSp>
      <p:sp>
        <p:nvSpPr>
          <p:cNvPr id="39" name="TextBox 38"/>
          <p:cNvSpPr txBox="1"/>
          <p:nvPr/>
        </p:nvSpPr>
        <p:spPr>
          <a:xfrm>
            <a:off x="1753826" y="4050791"/>
            <a:ext cx="395180" cy="256032"/>
          </a:xfrm>
          <a:prstGeom prst="rect">
            <a:avLst/>
          </a:prstGeom>
          <a:noFill/>
        </p:spPr>
        <p:txBody>
          <a:bodyPr wrap="none" lIns="0" rIns="0" tIns="0" bIns="0">
            <a:spAutoFit/>
          </a:bodyPr>
          <a:lstStyle/>
          <a:p>
            <a:pPr algn="ctr">
              <a:lnSpc>
                <a:spcPts val="2240"/>
              </a:lnSpc>
              <a:spcAft>
                <a:spcPts val="0"/>
              </a:spcAft>
              <a:defRPr sz="2000" b="0">
                <a:solidFill>
                  <a:srgbClr val="182B3A"/>
                </a:solidFill>
                <a:latin typeface="Arial"/>
              </a:defRPr>
            </a:pPr>
            <a:r>
              <a:t>11</a:t>
            </a:r>
          </a:p>
        </p:txBody>
      </p:sp>
      <p:sp>
        <p:nvSpPr>
          <p:cNvPr id="40" name="Rectangle 39"/>
          <p:cNvSpPr/>
          <p:nvPr/>
        </p:nvSpPr>
        <p:spPr>
          <a:xfrm>
            <a:off x="320040" y="4599432"/>
            <a:ext cx="4640580" cy="1005840"/>
          </a:xfrm>
          <a:prstGeom prst="rect">
            <a:avLst/>
          </a:prstGeom>
          <a:solidFill>
            <a:srgbClr val="EDF6F5"/>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411479" y="4855464"/>
            <a:ext cx="320040" cy="365760"/>
          </a:xfrm>
          <a:prstGeom prst="rect">
            <a:avLst/>
          </a:prstGeom>
          <a:noFill/>
        </p:spPr>
        <p:txBody>
          <a:bodyPr wrap="square" lIns="54864" rIns="54864" tIns="22860" bIns="22860">
            <a:spAutoFit/>
          </a:bodyPr>
          <a:lstStyle/>
          <a:p>
            <a:pPr>
              <a:lnSpc>
                <a:spcPts val="2205"/>
              </a:lnSpc>
              <a:spcBef>
                <a:spcPts val="0"/>
              </a:spcBef>
              <a:spcAft>
                <a:spcPts val="0"/>
              </a:spcAft>
              <a:defRPr sz="2100" b="1">
                <a:solidFill>
                  <a:srgbClr val="182B3A"/>
                </a:solidFill>
                <a:latin typeface="Arial"/>
              </a:defRPr>
            </a:pPr>
            <a:r>
              <a:t>4.</a:t>
            </a:r>
          </a:p>
        </p:txBody>
      </p:sp>
      <p:sp>
        <p:nvSpPr>
          <p:cNvPr id="42" name="TextBox 41"/>
          <p:cNvSpPr txBox="1"/>
          <p:nvPr/>
        </p:nvSpPr>
        <p:spPr>
          <a:xfrm>
            <a:off x="914399" y="4773168"/>
            <a:ext cx="395180" cy="256032"/>
          </a:xfrm>
          <a:prstGeom prst="rect">
            <a:avLst/>
          </a:prstGeom>
          <a:noFill/>
        </p:spPr>
        <p:txBody>
          <a:bodyPr wrap="none" lIns="0" rIns="0" tIns="0" bIns="0">
            <a:spAutoFit/>
          </a:bodyPr>
          <a:lstStyle/>
          <a:p>
            <a:pPr algn="ctr">
              <a:lnSpc>
                <a:spcPts val="2240"/>
              </a:lnSpc>
              <a:spcAft>
                <a:spcPts val="0"/>
              </a:spcAft>
              <a:defRPr sz="2000" b="0">
                <a:solidFill>
                  <a:srgbClr val="182B3A"/>
                </a:solidFill>
                <a:latin typeface="Arial"/>
              </a:defRPr>
            </a:pPr>
            <a:r>
              <a:t>4</a:t>
            </a:r>
          </a:p>
        </p:txBody>
      </p:sp>
      <p:cxnSp>
        <p:nvCxnSpPr>
          <p:cNvPr id="43" name="Connector 42"/>
          <p:cNvCxnSpPr/>
          <p:nvPr/>
        </p:nvCxnSpPr>
        <p:spPr>
          <a:xfrm>
            <a:off x="914399" y="5038344"/>
            <a:ext cx="395181" cy="0"/>
          </a:xfrm>
          <a:prstGeom prst="line">
            <a:avLst/>
          </a:prstGeom>
          <a:ln w="12700">
            <a:solidFill>
              <a:srgbClr val="182B3A"/>
            </a:solidFill>
          </a:ln>
          <a:effectLst/>
        </p:spPr>
        <p:style>
          <a:lnRef idx="2">
            <a:schemeClr val="accent1"/>
          </a:lnRef>
          <a:fillRef idx="0">
            <a:schemeClr val="accent1"/>
          </a:fillRef>
          <a:effectRef idx="1">
            <a:schemeClr val="accent1"/>
          </a:effectRef>
          <a:fontRef idx="minor">
            <a:schemeClr val="tx1"/>
          </a:fontRef>
        </p:style>
      </p:cxnSp>
      <p:sp>
        <p:nvSpPr>
          <p:cNvPr id="44" name="TextBox 43"/>
          <p:cNvSpPr txBox="1"/>
          <p:nvPr/>
        </p:nvSpPr>
        <p:spPr>
          <a:xfrm>
            <a:off x="914399" y="5056632"/>
            <a:ext cx="395180" cy="256032"/>
          </a:xfrm>
          <a:prstGeom prst="rect">
            <a:avLst/>
          </a:prstGeom>
          <a:noFill/>
        </p:spPr>
        <p:txBody>
          <a:bodyPr wrap="none" lIns="0" rIns="0" tIns="0" bIns="0">
            <a:spAutoFit/>
          </a:bodyPr>
          <a:lstStyle/>
          <a:p>
            <a:pPr algn="ctr">
              <a:lnSpc>
                <a:spcPts val="2240"/>
              </a:lnSpc>
              <a:spcAft>
                <a:spcPts val="0"/>
              </a:spcAft>
              <a:defRPr sz="2000" b="0">
                <a:solidFill>
                  <a:srgbClr val="182B3A"/>
                </a:solidFill>
                <a:latin typeface="Arial"/>
              </a:defRPr>
            </a:pPr>
            <a:r>
              <a:t>11</a:t>
            </a:r>
          </a:p>
        </p:txBody>
      </p:sp>
      <p:sp>
        <p:nvSpPr>
          <p:cNvPr id="45" name="TextBox 44"/>
          <p:cNvSpPr txBox="1"/>
          <p:nvPr/>
        </p:nvSpPr>
        <p:spPr>
          <a:xfrm>
            <a:off x="1364444" y="4892040"/>
            <a:ext cx="389381" cy="347472"/>
          </a:xfrm>
          <a:prstGeom prst="rect">
            <a:avLst/>
          </a:prstGeom>
          <a:noFill/>
        </p:spPr>
        <p:txBody>
          <a:bodyPr wrap="none" lIns="0" rIns="0" tIns="0" bIns="0">
            <a:spAutoFit/>
          </a:bodyPr>
          <a:lstStyle/>
          <a:p>
            <a:pPr algn="l">
              <a:lnSpc>
                <a:spcPts val="2800"/>
              </a:lnSpc>
              <a:spcAft>
                <a:spcPts val="0"/>
              </a:spcAft>
              <a:defRPr sz="2500" b="0">
                <a:solidFill>
                  <a:srgbClr val="182B3A"/>
                </a:solidFill>
                <a:latin typeface="Arial"/>
              </a:defRPr>
            </a:pPr>
            <a:r>
              <a:t> + </a:t>
            </a:r>
          </a:p>
        </p:txBody>
      </p:sp>
      <p:sp>
        <p:nvSpPr>
          <p:cNvPr id="46" name="TextBox 45"/>
          <p:cNvSpPr txBox="1"/>
          <p:nvPr/>
        </p:nvSpPr>
        <p:spPr>
          <a:xfrm>
            <a:off x="1753826" y="4773168"/>
            <a:ext cx="395478" cy="256032"/>
          </a:xfrm>
          <a:prstGeom prst="rect">
            <a:avLst/>
          </a:prstGeom>
          <a:noFill/>
        </p:spPr>
        <p:txBody>
          <a:bodyPr wrap="none" lIns="0" rIns="0" tIns="0" bIns="0">
            <a:spAutoFit/>
          </a:bodyPr>
          <a:lstStyle/>
          <a:p>
            <a:pPr algn="ctr">
              <a:lnSpc>
                <a:spcPts val="2240"/>
              </a:lnSpc>
              <a:spcAft>
                <a:spcPts val="0"/>
              </a:spcAft>
              <a:defRPr sz="2000" b="0">
                <a:solidFill>
                  <a:srgbClr val="182B3A"/>
                </a:solidFill>
                <a:latin typeface="Arial"/>
              </a:defRPr>
            </a:pPr>
            <a:r>
              <a:t>10</a:t>
            </a:r>
          </a:p>
        </p:txBody>
      </p:sp>
      <p:cxnSp>
        <p:nvCxnSpPr>
          <p:cNvPr id="47" name="Connector 46"/>
          <p:cNvCxnSpPr/>
          <p:nvPr/>
        </p:nvCxnSpPr>
        <p:spPr>
          <a:xfrm>
            <a:off x="1753826" y="5038344"/>
            <a:ext cx="395478" cy="0"/>
          </a:xfrm>
          <a:prstGeom prst="line">
            <a:avLst/>
          </a:prstGeom>
          <a:ln w="12700">
            <a:solidFill>
              <a:srgbClr val="182B3A"/>
            </a:solidFill>
          </a:ln>
          <a:effectLst/>
        </p:spPr>
        <p:style>
          <a:lnRef idx="2">
            <a:schemeClr val="accent1"/>
          </a:lnRef>
          <a:fillRef idx="0">
            <a:schemeClr val="accent1"/>
          </a:fillRef>
          <a:effectRef idx="1">
            <a:schemeClr val="accent1"/>
          </a:effectRef>
          <a:fontRef idx="minor">
            <a:schemeClr val="tx1"/>
          </a:fontRef>
        </p:style>
      </p:cxnSp>
      <p:sp>
        <p:nvSpPr>
          <p:cNvPr id="48" name="TextBox 47"/>
          <p:cNvSpPr txBox="1"/>
          <p:nvPr/>
        </p:nvSpPr>
        <p:spPr>
          <a:xfrm>
            <a:off x="1753826" y="5056632"/>
            <a:ext cx="395478" cy="256032"/>
          </a:xfrm>
          <a:prstGeom prst="rect">
            <a:avLst/>
          </a:prstGeom>
          <a:noFill/>
        </p:spPr>
        <p:txBody>
          <a:bodyPr wrap="none" lIns="0" rIns="0" tIns="0" bIns="0">
            <a:spAutoFit/>
          </a:bodyPr>
          <a:lstStyle/>
          <a:p>
            <a:pPr algn="ctr">
              <a:lnSpc>
                <a:spcPts val="2240"/>
              </a:lnSpc>
              <a:spcAft>
                <a:spcPts val="0"/>
              </a:spcAft>
              <a:defRPr sz="2000" b="0">
                <a:solidFill>
                  <a:srgbClr val="182B3A"/>
                </a:solidFill>
                <a:latin typeface="Arial"/>
              </a:defRPr>
            </a:pPr>
            <a:r>
              <a:t>11</a:t>
            </a:r>
          </a:p>
        </p:txBody>
      </p:sp>
      <p:sp>
        <p:nvSpPr>
          <p:cNvPr id="49" name="Rectangle 48"/>
          <p:cNvSpPr/>
          <p:nvPr/>
        </p:nvSpPr>
        <p:spPr>
          <a:xfrm>
            <a:off x="320040" y="5605272"/>
            <a:ext cx="4640580" cy="1005840"/>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TextBox 49"/>
          <p:cNvSpPr txBox="1"/>
          <p:nvPr/>
        </p:nvSpPr>
        <p:spPr>
          <a:xfrm>
            <a:off x="411479" y="5861304"/>
            <a:ext cx="320040" cy="365760"/>
          </a:xfrm>
          <a:prstGeom prst="rect">
            <a:avLst/>
          </a:prstGeom>
          <a:noFill/>
        </p:spPr>
        <p:txBody>
          <a:bodyPr wrap="square" lIns="54864" rIns="54864" tIns="22860" bIns="22860">
            <a:spAutoFit/>
          </a:bodyPr>
          <a:lstStyle/>
          <a:p>
            <a:pPr>
              <a:lnSpc>
                <a:spcPts val="2205"/>
              </a:lnSpc>
              <a:spcBef>
                <a:spcPts val="0"/>
              </a:spcBef>
              <a:spcAft>
                <a:spcPts val="0"/>
              </a:spcAft>
              <a:defRPr sz="2100" b="1">
                <a:solidFill>
                  <a:srgbClr val="182B3A"/>
                </a:solidFill>
                <a:latin typeface="Arial"/>
              </a:defRPr>
            </a:pPr>
            <a:r>
              <a:t>5.</a:t>
            </a:r>
          </a:p>
        </p:txBody>
      </p:sp>
      <p:sp>
        <p:nvSpPr>
          <p:cNvPr id="51" name="TextBox 50"/>
          <p:cNvSpPr txBox="1"/>
          <p:nvPr/>
        </p:nvSpPr>
        <p:spPr>
          <a:xfrm>
            <a:off x="914399" y="5779008"/>
            <a:ext cx="395478" cy="256032"/>
          </a:xfrm>
          <a:prstGeom prst="rect">
            <a:avLst/>
          </a:prstGeom>
          <a:noFill/>
        </p:spPr>
        <p:txBody>
          <a:bodyPr wrap="none" lIns="0" rIns="0" tIns="0" bIns="0">
            <a:spAutoFit/>
          </a:bodyPr>
          <a:lstStyle/>
          <a:p>
            <a:pPr algn="ctr">
              <a:lnSpc>
                <a:spcPts val="2240"/>
              </a:lnSpc>
              <a:spcAft>
                <a:spcPts val="0"/>
              </a:spcAft>
              <a:defRPr sz="2000" b="0">
                <a:solidFill>
                  <a:srgbClr val="182B3A"/>
                </a:solidFill>
                <a:latin typeface="Arial"/>
              </a:defRPr>
            </a:pPr>
            <a:r>
              <a:t>1</a:t>
            </a:r>
          </a:p>
        </p:txBody>
      </p:sp>
      <p:cxnSp>
        <p:nvCxnSpPr>
          <p:cNvPr id="52" name="Connector 51"/>
          <p:cNvCxnSpPr/>
          <p:nvPr/>
        </p:nvCxnSpPr>
        <p:spPr>
          <a:xfrm>
            <a:off x="914399" y="6044184"/>
            <a:ext cx="395479" cy="0"/>
          </a:xfrm>
          <a:prstGeom prst="line">
            <a:avLst/>
          </a:prstGeom>
          <a:ln w="12700">
            <a:solidFill>
              <a:srgbClr val="182B3A"/>
            </a:solidFill>
          </a:ln>
          <a:effectLst/>
        </p:spPr>
        <p:style>
          <a:lnRef idx="2">
            <a:schemeClr val="accent1"/>
          </a:lnRef>
          <a:fillRef idx="0">
            <a:schemeClr val="accent1"/>
          </a:fillRef>
          <a:effectRef idx="1">
            <a:schemeClr val="accent1"/>
          </a:effectRef>
          <a:fontRef idx="minor">
            <a:schemeClr val="tx1"/>
          </a:fontRef>
        </p:style>
      </p:cxnSp>
      <p:sp>
        <p:nvSpPr>
          <p:cNvPr id="53" name="TextBox 52"/>
          <p:cNvSpPr txBox="1"/>
          <p:nvPr/>
        </p:nvSpPr>
        <p:spPr>
          <a:xfrm>
            <a:off x="914399" y="6062472"/>
            <a:ext cx="395478" cy="256032"/>
          </a:xfrm>
          <a:prstGeom prst="rect">
            <a:avLst/>
          </a:prstGeom>
          <a:noFill/>
        </p:spPr>
        <p:txBody>
          <a:bodyPr wrap="none" lIns="0" rIns="0" tIns="0" bIns="0">
            <a:spAutoFit/>
          </a:bodyPr>
          <a:lstStyle/>
          <a:p>
            <a:pPr algn="ctr">
              <a:lnSpc>
                <a:spcPts val="2240"/>
              </a:lnSpc>
              <a:spcAft>
                <a:spcPts val="0"/>
              </a:spcAft>
              <a:defRPr sz="2000" b="0">
                <a:solidFill>
                  <a:srgbClr val="182B3A"/>
                </a:solidFill>
                <a:latin typeface="Arial"/>
              </a:defRPr>
            </a:pPr>
            <a:r>
              <a:t>12</a:t>
            </a:r>
          </a:p>
        </p:txBody>
      </p:sp>
      <p:sp>
        <p:nvSpPr>
          <p:cNvPr id="54" name="TextBox 53"/>
          <p:cNvSpPr txBox="1"/>
          <p:nvPr/>
        </p:nvSpPr>
        <p:spPr>
          <a:xfrm>
            <a:off x="1364742" y="5897880"/>
            <a:ext cx="389381" cy="347472"/>
          </a:xfrm>
          <a:prstGeom prst="rect">
            <a:avLst/>
          </a:prstGeom>
          <a:noFill/>
        </p:spPr>
        <p:txBody>
          <a:bodyPr wrap="none" lIns="0" rIns="0" tIns="0" bIns="0">
            <a:spAutoFit/>
          </a:bodyPr>
          <a:lstStyle/>
          <a:p>
            <a:pPr algn="l">
              <a:lnSpc>
                <a:spcPts val="2800"/>
              </a:lnSpc>
              <a:spcAft>
                <a:spcPts val="0"/>
              </a:spcAft>
              <a:defRPr sz="2500" b="0">
                <a:solidFill>
                  <a:srgbClr val="182B3A"/>
                </a:solidFill>
                <a:latin typeface="Arial"/>
              </a:defRPr>
            </a:pPr>
            <a:r>
              <a:t> + </a:t>
            </a:r>
          </a:p>
        </p:txBody>
      </p:sp>
      <p:sp>
        <p:nvSpPr>
          <p:cNvPr id="55" name="TextBox 54"/>
          <p:cNvSpPr txBox="1"/>
          <p:nvPr/>
        </p:nvSpPr>
        <p:spPr>
          <a:xfrm>
            <a:off x="1754124" y="5779008"/>
            <a:ext cx="395478" cy="256032"/>
          </a:xfrm>
          <a:prstGeom prst="rect">
            <a:avLst/>
          </a:prstGeom>
          <a:noFill/>
        </p:spPr>
        <p:txBody>
          <a:bodyPr wrap="none" lIns="0" rIns="0" tIns="0" bIns="0">
            <a:spAutoFit/>
          </a:bodyPr>
          <a:lstStyle/>
          <a:p>
            <a:pPr algn="ctr">
              <a:lnSpc>
                <a:spcPts val="2240"/>
              </a:lnSpc>
              <a:spcAft>
                <a:spcPts val="0"/>
              </a:spcAft>
              <a:defRPr sz="2000" b="0">
                <a:solidFill>
                  <a:srgbClr val="182B3A"/>
                </a:solidFill>
                <a:latin typeface="Arial"/>
              </a:defRPr>
            </a:pPr>
            <a:r>
              <a:t>1</a:t>
            </a:r>
          </a:p>
        </p:txBody>
      </p:sp>
      <p:cxnSp>
        <p:nvCxnSpPr>
          <p:cNvPr id="56" name="Connector 55"/>
          <p:cNvCxnSpPr/>
          <p:nvPr/>
        </p:nvCxnSpPr>
        <p:spPr>
          <a:xfrm>
            <a:off x="1754124" y="6044184"/>
            <a:ext cx="395478" cy="0"/>
          </a:xfrm>
          <a:prstGeom prst="line">
            <a:avLst/>
          </a:prstGeom>
          <a:ln w="12700">
            <a:solidFill>
              <a:srgbClr val="182B3A"/>
            </a:solidFill>
          </a:ln>
          <a:effectLst/>
        </p:spPr>
        <p:style>
          <a:lnRef idx="2">
            <a:schemeClr val="accent1"/>
          </a:lnRef>
          <a:fillRef idx="0">
            <a:schemeClr val="accent1"/>
          </a:fillRef>
          <a:effectRef idx="1">
            <a:schemeClr val="accent1"/>
          </a:effectRef>
          <a:fontRef idx="minor">
            <a:schemeClr val="tx1"/>
          </a:fontRef>
        </p:style>
      </p:cxnSp>
      <p:sp>
        <p:nvSpPr>
          <p:cNvPr id="57" name="TextBox 56"/>
          <p:cNvSpPr txBox="1"/>
          <p:nvPr/>
        </p:nvSpPr>
        <p:spPr>
          <a:xfrm>
            <a:off x="1754124" y="6062472"/>
            <a:ext cx="395478" cy="256032"/>
          </a:xfrm>
          <a:prstGeom prst="rect">
            <a:avLst/>
          </a:prstGeom>
          <a:noFill/>
        </p:spPr>
        <p:txBody>
          <a:bodyPr wrap="none" lIns="0" rIns="0" tIns="0" bIns="0">
            <a:spAutoFit/>
          </a:bodyPr>
          <a:lstStyle/>
          <a:p>
            <a:pPr algn="ctr">
              <a:lnSpc>
                <a:spcPts val="2240"/>
              </a:lnSpc>
              <a:spcAft>
                <a:spcPts val="0"/>
              </a:spcAft>
              <a:defRPr sz="2000" b="0">
                <a:solidFill>
                  <a:srgbClr val="182B3A"/>
                </a:solidFill>
                <a:latin typeface="Arial"/>
              </a:defRPr>
            </a:pPr>
            <a:r>
              <a:t>12</a:t>
            </a:r>
          </a:p>
        </p:txBody>
      </p:sp>
      <p:sp>
        <p:nvSpPr>
          <p:cNvPr id="58" name="Rectangle 57"/>
          <p:cNvSpPr/>
          <p:nvPr/>
        </p:nvSpPr>
        <p:spPr>
          <a:xfrm>
            <a:off x="320040" y="6611112"/>
            <a:ext cx="4640580" cy="1005840"/>
          </a:xfrm>
          <a:prstGeom prst="rect">
            <a:avLst/>
          </a:prstGeom>
          <a:solidFill>
            <a:srgbClr val="EDF6F5"/>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 name="TextBox 58"/>
          <p:cNvSpPr txBox="1"/>
          <p:nvPr/>
        </p:nvSpPr>
        <p:spPr>
          <a:xfrm>
            <a:off x="411479" y="6867144"/>
            <a:ext cx="320040" cy="365760"/>
          </a:xfrm>
          <a:prstGeom prst="rect">
            <a:avLst/>
          </a:prstGeom>
          <a:noFill/>
        </p:spPr>
        <p:txBody>
          <a:bodyPr wrap="square" lIns="54864" rIns="54864" tIns="22860" bIns="22860">
            <a:spAutoFit/>
          </a:bodyPr>
          <a:lstStyle/>
          <a:p>
            <a:pPr>
              <a:lnSpc>
                <a:spcPts val="2205"/>
              </a:lnSpc>
              <a:spcBef>
                <a:spcPts val="0"/>
              </a:spcBef>
              <a:spcAft>
                <a:spcPts val="0"/>
              </a:spcAft>
              <a:defRPr sz="2100" b="1">
                <a:solidFill>
                  <a:srgbClr val="182B3A"/>
                </a:solidFill>
                <a:latin typeface="Arial"/>
              </a:defRPr>
            </a:pPr>
            <a:r>
              <a:t>6.</a:t>
            </a:r>
          </a:p>
        </p:txBody>
      </p:sp>
      <p:sp>
        <p:nvSpPr>
          <p:cNvPr id="60" name="TextBox 59"/>
          <p:cNvSpPr txBox="1"/>
          <p:nvPr/>
        </p:nvSpPr>
        <p:spPr>
          <a:xfrm>
            <a:off x="914399" y="6784848"/>
            <a:ext cx="252603" cy="256032"/>
          </a:xfrm>
          <a:prstGeom prst="rect">
            <a:avLst/>
          </a:prstGeom>
          <a:noFill/>
        </p:spPr>
        <p:txBody>
          <a:bodyPr wrap="none" lIns="0" rIns="0" tIns="0" bIns="0">
            <a:spAutoFit/>
          </a:bodyPr>
          <a:lstStyle/>
          <a:p>
            <a:pPr algn="ctr">
              <a:lnSpc>
                <a:spcPts val="2240"/>
              </a:lnSpc>
              <a:spcAft>
                <a:spcPts val="0"/>
              </a:spcAft>
              <a:defRPr sz="2000" b="0">
                <a:solidFill>
                  <a:srgbClr val="182B3A"/>
                </a:solidFill>
                <a:latin typeface="Arial"/>
              </a:defRPr>
            </a:pPr>
            <a:r>
              <a:t>4</a:t>
            </a:r>
          </a:p>
        </p:txBody>
      </p:sp>
      <p:cxnSp>
        <p:nvCxnSpPr>
          <p:cNvPr id="61" name="Connector 60"/>
          <p:cNvCxnSpPr/>
          <p:nvPr/>
        </p:nvCxnSpPr>
        <p:spPr>
          <a:xfrm>
            <a:off x="914399" y="7050024"/>
            <a:ext cx="252604" cy="0"/>
          </a:xfrm>
          <a:prstGeom prst="line">
            <a:avLst/>
          </a:prstGeom>
          <a:ln w="12700">
            <a:solidFill>
              <a:srgbClr val="182B3A"/>
            </a:solidFill>
          </a:ln>
          <a:effectLst/>
        </p:spPr>
        <p:style>
          <a:lnRef idx="2">
            <a:schemeClr val="accent1"/>
          </a:lnRef>
          <a:fillRef idx="0">
            <a:schemeClr val="accent1"/>
          </a:fillRef>
          <a:effectRef idx="1">
            <a:schemeClr val="accent1"/>
          </a:effectRef>
          <a:fontRef idx="minor">
            <a:schemeClr val="tx1"/>
          </a:fontRef>
        </p:style>
      </p:cxnSp>
      <p:sp>
        <p:nvSpPr>
          <p:cNvPr id="62" name="TextBox 61"/>
          <p:cNvSpPr txBox="1"/>
          <p:nvPr/>
        </p:nvSpPr>
        <p:spPr>
          <a:xfrm>
            <a:off x="914399" y="7068312"/>
            <a:ext cx="252603" cy="256032"/>
          </a:xfrm>
          <a:prstGeom prst="rect">
            <a:avLst/>
          </a:prstGeom>
          <a:noFill/>
        </p:spPr>
        <p:txBody>
          <a:bodyPr wrap="none" lIns="0" rIns="0" tIns="0" bIns="0">
            <a:spAutoFit/>
          </a:bodyPr>
          <a:lstStyle/>
          <a:p>
            <a:pPr algn="ctr">
              <a:lnSpc>
                <a:spcPts val="2240"/>
              </a:lnSpc>
              <a:spcAft>
                <a:spcPts val="0"/>
              </a:spcAft>
              <a:defRPr sz="2000" b="0">
                <a:solidFill>
                  <a:srgbClr val="182B3A"/>
                </a:solidFill>
                <a:latin typeface="Arial"/>
              </a:defRPr>
            </a:pPr>
            <a:r>
              <a:t>7</a:t>
            </a:r>
          </a:p>
        </p:txBody>
      </p:sp>
      <p:sp>
        <p:nvSpPr>
          <p:cNvPr id="63" name="TextBox 62"/>
          <p:cNvSpPr txBox="1"/>
          <p:nvPr/>
        </p:nvSpPr>
        <p:spPr>
          <a:xfrm>
            <a:off x="1221867" y="6903720"/>
            <a:ext cx="389381" cy="347472"/>
          </a:xfrm>
          <a:prstGeom prst="rect">
            <a:avLst/>
          </a:prstGeom>
          <a:noFill/>
        </p:spPr>
        <p:txBody>
          <a:bodyPr wrap="none" lIns="0" rIns="0" tIns="0" bIns="0">
            <a:spAutoFit/>
          </a:bodyPr>
          <a:lstStyle/>
          <a:p>
            <a:pPr algn="l">
              <a:lnSpc>
                <a:spcPts val="2800"/>
              </a:lnSpc>
              <a:spcAft>
                <a:spcPts val="0"/>
              </a:spcAft>
              <a:defRPr sz="2500" b="0">
                <a:solidFill>
                  <a:srgbClr val="182B3A"/>
                </a:solidFill>
                <a:latin typeface="Arial"/>
              </a:defRPr>
            </a:pPr>
            <a:r>
              <a:t> + </a:t>
            </a:r>
          </a:p>
        </p:txBody>
      </p:sp>
      <p:sp>
        <p:nvSpPr>
          <p:cNvPr id="64" name="TextBox 63"/>
          <p:cNvSpPr txBox="1"/>
          <p:nvPr/>
        </p:nvSpPr>
        <p:spPr>
          <a:xfrm>
            <a:off x="1611249" y="6784848"/>
            <a:ext cx="252603" cy="256032"/>
          </a:xfrm>
          <a:prstGeom prst="rect">
            <a:avLst/>
          </a:prstGeom>
          <a:noFill/>
        </p:spPr>
        <p:txBody>
          <a:bodyPr wrap="none" lIns="0" rIns="0" tIns="0" bIns="0">
            <a:spAutoFit/>
          </a:bodyPr>
          <a:lstStyle/>
          <a:p>
            <a:pPr algn="ctr">
              <a:lnSpc>
                <a:spcPts val="2240"/>
              </a:lnSpc>
              <a:spcAft>
                <a:spcPts val="0"/>
              </a:spcAft>
              <a:defRPr sz="2000" b="0">
                <a:solidFill>
                  <a:srgbClr val="182B3A"/>
                </a:solidFill>
                <a:latin typeface="Arial"/>
              </a:defRPr>
            </a:pPr>
            <a:r>
              <a:t>2</a:t>
            </a:r>
          </a:p>
        </p:txBody>
      </p:sp>
      <p:cxnSp>
        <p:nvCxnSpPr>
          <p:cNvPr id="65" name="Connector 64"/>
          <p:cNvCxnSpPr/>
          <p:nvPr/>
        </p:nvCxnSpPr>
        <p:spPr>
          <a:xfrm>
            <a:off x="1611249" y="7050024"/>
            <a:ext cx="252602" cy="0"/>
          </a:xfrm>
          <a:prstGeom prst="line">
            <a:avLst/>
          </a:prstGeom>
          <a:ln w="12700">
            <a:solidFill>
              <a:srgbClr val="182B3A"/>
            </a:solidFill>
          </a:ln>
          <a:effectLst/>
        </p:spPr>
        <p:style>
          <a:lnRef idx="2">
            <a:schemeClr val="accent1"/>
          </a:lnRef>
          <a:fillRef idx="0">
            <a:schemeClr val="accent1"/>
          </a:fillRef>
          <a:effectRef idx="1">
            <a:schemeClr val="accent1"/>
          </a:effectRef>
          <a:fontRef idx="minor">
            <a:schemeClr val="tx1"/>
          </a:fontRef>
        </p:style>
      </p:cxnSp>
      <p:sp>
        <p:nvSpPr>
          <p:cNvPr id="66" name="TextBox 65"/>
          <p:cNvSpPr txBox="1"/>
          <p:nvPr/>
        </p:nvSpPr>
        <p:spPr>
          <a:xfrm>
            <a:off x="1611249" y="7068312"/>
            <a:ext cx="252603" cy="256032"/>
          </a:xfrm>
          <a:prstGeom prst="rect">
            <a:avLst/>
          </a:prstGeom>
          <a:noFill/>
        </p:spPr>
        <p:txBody>
          <a:bodyPr wrap="none" lIns="0" rIns="0" tIns="0" bIns="0">
            <a:spAutoFit/>
          </a:bodyPr>
          <a:lstStyle/>
          <a:p>
            <a:pPr algn="ctr">
              <a:lnSpc>
                <a:spcPts val="2240"/>
              </a:lnSpc>
              <a:spcAft>
                <a:spcPts val="0"/>
              </a:spcAft>
              <a:defRPr sz="2000" b="0">
                <a:solidFill>
                  <a:srgbClr val="182B3A"/>
                </a:solidFill>
                <a:latin typeface="Arial"/>
              </a:defRPr>
            </a:pPr>
            <a:r>
              <a:t>7</a:t>
            </a:r>
          </a:p>
        </p:txBody>
      </p:sp>
      <p:sp>
        <p:nvSpPr>
          <p:cNvPr id="67" name="Rectangle 66"/>
          <p:cNvSpPr/>
          <p:nvPr/>
        </p:nvSpPr>
        <p:spPr>
          <a:xfrm>
            <a:off x="4983480" y="1581912"/>
            <a:ext cx="4640580" cy="1005840"/>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8" name="TextBox 67"/>
          <p:cNvSpPr txBox="1"/>
          <p:nvPr/>
        </p:nvSpPr>
        <p:spPr>
          <a:xfrm>
            <a:off x="5074920" y="1837943"/>
            <a:ext cx="320040" cy="365760"/>
          </a:xfrm>
          <a:prstGeom prst="rect">
            <a:avLst/>
          </a:prstGeom>
          <a:noFill/>
        </p:spPr>
        <p:txBody>
          <a:bodyPr wrap="square" lIns="54864" rIns="54864" tIns="22860" bIns="22860">
            <a:spAutoFit/>
          </a:bodyPr>
          <a:lstStyle/>
          <a:p>
            <a:pPr>
              <a:lnSpc>
                <a:spcPts val="2205"/>
              </a:lnSpc>
              <a:spcBef>
                <a:spcPts val="0"/>
              </a:spcBef>
              <a:spcAft>
                <a:spcPts val="0"/>
              </a:spcAft>
              <a:defRPr sz="2100" b="1">
                <a:solidFill>
                  <a:srgbClr val="182B3A"/>
                </a:solidFill>
                <a:latin typeface="Arial"/>
              </a:defRPr>
            </a:pPr>
            <a:r>
              <a:t>1.</a:t>
            </a:r>
          </a:p>
        </p:txBody>
      </p:sp>
      <p:sp>
        <p:nvSpPr>
          <p:cNvPr id="69" name="TextBox 68"/>
          <p:cNvSpPr txBox="1"/>
          <p:nvPr/>
        </p:nvSpPr>
        <p:spPr>
          <a:xfrm>
            <a:off x="5577840" y="1755648"/>
            <a:ext cx="252603" cy="256032"/>
          </a:xfrm>
          <a:prstGeom prst="rect">
            <a:avLst/>
          </a:prstGeom>
          <a:noFill/>
        </p:spPr>
        <p:txBody>
          <a:bodyPr wrap="none" lIns="0" rIns="0" tIns="0" bIns="0">
            <a:spAutoFit/>
          </a:bodyPr>
          <a:lstStyle/>
          <a:p>
            <a:pPr algn="ctr">
              <a:lnSpc>
                <a:spcPts val="2240"/>
              </a:lnSpc>
              <a:spcAft>
                <a:spcPts val="0"/>
              </a:spcAft>
              <a:defRPr sz="2000" b="0">
                <a:solidFill>
                  <a:srgbClr val="182B3A"/>
                </a:solidFill>
                <a:latin typeface="Arial"/>
              </a:defRPr>
            </a:pPr>
            <a:r>
              <a:t>4</a:t>
            </a:r>
          </a:p>
        </p:txBody>
      </p:sp>
      <p:cxnSp>
        <p:nvCxnSpPr>
          <p:cNvPr id="70" name="Connector 69"/>
          <p:cNvCxnSpPr/>
          <p:nvPr/>
        </p:nvCxnSpPr>
        <p:spPr>
          <a:xfrm>
            <a:off x="5577840" y="2020824"/>
            <a:ext cx="252603" cy="0"/>
          </a:xfrm>
          <a:prstGeom prst="line">
            <a:avLst/>
          </a:prstGeom>
          <a:ln w="12700">
            <a:solidFill>
              <a:srgbClr val="182B3A"/>
            </a:solidFill>
          </a:ln>
          <a:effectLst/>
        </p:spPr>
        <p:style>
          <a:lnRef idx="2">
            <a:schemeClr val="accent1"/>
          </a:lnRef>
          <a:fillRef idx="0">
            <a:schemeClr val="accent1"/>
          </a:fillRef>
          <a:effectRef idx="1">
            <a:schemeClr val="accent1"/>
          </a:effectRef>
          <a:fontRef idx="minor">
            <a:schemeClr val="tx1"/>
          </a:fontRef>
        </p:style>
      </p:cxnSp>
      <p:sp>
        <p:nvSpPr>
          <p:cNvPr id="71" name="TextBox 70"/>
          <p:cNvSpPr txBox="1"/>
          <p:nvPr/>
        </p:nvSpPr>
        <p:spPr>
          <a:xfrm>
            <a:off x="5577840" y="2039112"/>
            <a:ext cx="252603" cy="256032"/>
          </a:xfrm>
          <a:prstGeom prst="rect">
            <a:avLst/>
          </a:prstGeom>
          <a:noFill/>
        </p:spPr>
        <p:txBody>
          <a:bodyPr wrap="none" lIns="0" rIns="0" tIns="0" bIns="0">
            <a:spAutoFit/>
          </a:bodyPr>
          <a:lstStyle/>
          <a:p>
            <a:pPr algn="ctr">
              <a:lnSpc>
                <a:spcPts val="2240"/>
              </a:lnSpc>
              <a:spcAft>
                <a:spcPts val="0"/>
              </a:spcAft>
              <a:defRPr sz="2000" b="0">
                <a:solidFill>
                  <a:srgbClr val="182B3A"/>
                </a:solidFill>
                <a:latin typeface="Arial"/>
              </a:defRPr>
            </a:pPr>
            <a:r>
              <a:t>5</a:t>
            </a:r>
          </a:p>
        </p:txBody>
      </p:sp>
      <p:sp>
        <p:nvSpPr>
          <p:cNvPr id="72" name="TextBox 71"/>
          <p:cNvSpPr txBox="1"/>
          <p:nvPr/>
        </p:nvSpPr>
        <p:spPr>
          <a:xfrm>
            <a:off x="5885307" y="1874519"/>
            <a:ext cx="389381" cy="347472"/>
          </a:xfrm>
          <a:prstGeom prst="rect">
            <a:avLst/>
          </a:prstGeom>
          <a:noFill/>
        </p:spPr>
        <p:txBody>
          <a:bodyPr wrap="none" lIns="0" rIns="0" tIns="0" bIns="0">
            <a:spAutoFit/>
          </a:bodyPr>
          <a:lstStyle/>
          <a:p>
            <a:pPr algn="l">
              <a:lnSpc>
                <a:spcPts val="2800"/>
              </a:lnSpc>
              <a:spcAft>
                <a:spcPts val="0"/>
              </a:spcAft>
              <a:defRPr sz="2500" b="0">
                <a:solidFill>
                  <a:srgbClr val="182B3A"/>
                </a:solidFill>
                <a:latin typeface="Arial"/>
              </a:defRPr>
            </a:pPr>
            <a:r>
              <a:t> − </a:t>
            </a:r>
          </a:p>
        </p:txBody>
      </p:sp>
      <p:sp>
        <p:nvSpPr>
          <p:cNvPr id="73" name="TextBox 72"/>
          <p:cNvSpPr txBox="1"/>
          <p:nvPr/>
        </p:nvSpPr>
        <p:spPr>
          <a:xfrm>
            <a:off x="6274689" y="1755648"/>
            <a:ext cx="395478" cy="256032"/>
          </a:xfrm>
          <a:prstGeom prst="rect">
            <a:avLst/>
          </a:prstGeom>
          <a:noFill/>
        </p:spPr>
        <p:txBody>
          <a:bodyPr wrap="none" lIns="0" rIns="0" tIns="0" bIns="0">
            <a:spAutoFit/>
          </a:bodyPr>
          <a:lstStyle/>
          <a:p>
            <a:pPr algn="ctr">
              <a:lnSpc>
                <a:spcPts val="2240"/>
              </a:lnSpc>
              <a:spcAft>
                <a:spcPts val="0"/>
              </a:spcAft>
              <a:defRPr sz="2000" b="0">
                <a:solidFill>
                  <a:srgbClr val="182B3A"/>
                </a:solidFill>
                <a:latin typeface="Arial"/>
              </a:defRPr>
            </a:pPr>
            <a:r>
              <a:t>7</a:t>
            </a:r>
          </a:p>
        </p:txBody>
      </p:sp>
      <p:cxnSp>
        <p:nvCxnSpPr>
          <p:cNvPr id="74" name="Connector 73"/>
          <p:cNvCxnSpPr/>
          <p:nvPr/>
        </p:nvCxnSpPr>
        <p:spPr>
          <a:xfrm>
            <a:off x="6274689" y="2020824"/>
            <a:ext cx="395478" cy="0"/>
          </a:xfrm>
          <a:prstGeom prst="line">
            <a:avLst/>
          </a:prstGeom>
          <a:ln w="12700">
            <a:solidFill>
              <a:srgbClr val="182B3A"/>
            </a:solidFill>
          </a:ln>
          <a:effectLst/>
        </p:spPr>
        <p:style>
          <a:lnRef idx="2">
            <a:schemeClr val="accent1"/>
          </a:lnRef>
          <a:fillRef idx="0">
            <a:schemeClr val="accent1"/>
          </a:fillRef>
          <a:effectRef idx="1">
            <a:schemeClr val="accent1"/>
          </a:effectRef>
          <a:fontRef idx="minor">
            <a:schemeClr val="tx1"/>
          </a:fontRef>
        </p:style>
      </p:cxnSp>
      <p:sp>
        <p:nvSpPr>
          <p:cNvPr id="75" name="TextBox 74"/>
          <p:cNvSpPr txBox="1"/>
          <p:nvPr/>
        </p:nvSpPr>
        <p:spPr>
          <a:xfrm>
            <a:off x="6274689" y="2039112"/>
            <a:ext cx="395478" cy="256032"/>
          </a:xfrm>
          <a:prstGeom prst="rect">
            <a:avLst/>
          </a:prstGeom>
          <a:noFill/>
        </p:spPr>
        <p:txBody>
          <a:bodyPr wrap="none" lIns="0" rIns="0" tIns="0" bIns="0">
            <a:spAutoFit/>
          </a:bodyPr>
          <a:lstStyle/>
          <a:p>
            <a:pPr algn="ctr">
              <a:lnSpc>
                <a:spcPts val="2240"/>
              </a:lnSpc>
              <a:spcAft>
                <a:spcPts val="0"/>
              </a:spcAft>
              <a:defRPr sz="2000" b="0">
                <a:solidFill>
                  <a:srgbClr val="182B3A"/>
                </a:solidFill>
                <a:latin typeface="Arial"/>
              </a:defRPr>
            </a:pPr>
            <a:r>
              <a:t>10</a:t>
            </a:r>
          </a:p>
        </p:txBody>
      </p:sp>
      <p:sp>
        <p:nvSpPr>
          <p:cNvPr id="76" name="Rectangle 75"/>
          <p:cNvSpPr/>
          <p:nvPr/>
        </p:nvSpPr>
        <p:spPr>
          <a:xfrm>
            <a:off x="4983480" y="2587752"/>
            <a:ext cx="4640580" cy="1005840"/>
          </a:xfrm>
          <a:prstGeom prst="rect">
            <a:avLst/>
          </a:prstGeom>
          <a:solidFill>
            <a:srgbClr val="EFF3FA"/>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7" name="TextBox 76"/>
          <p:cNvSpPr txBox="1"/>
          <p:nvPr/>
        </p:nvSpPr>
        <p:spPr>
          <a:xfrm>
            <a:off x="5074920" y="2843784"/>
            <a:ext cx="320040" cy="365760"/>
          </a:xfrm>
          <a:prstGeom prst="rect">
            <a:avLst/>
          </a:prstGeom>
          <a:noFill/>
        </p:spPr>
        <p:txBody>
          <a:bodyPr wrap="square" lIns="54864" rIns="54864" tIns="22860" bIns="22860">
            <a:spAutoFit/>
          </a:bodyPr>
          <a:lstStyle/>
          <a:p>
            <a:pPr>
              <a:lnSpc>
                <a:spcPts val="2205"/>
              </a:lnSpc>
              <a:spcBef>
                <a:spcPts val="0"/>
              </a:spcBef>
              <a:spcAft>
                <a:spcPts val="0"/>
              </a:spcAft>
              <a:defRPr sz="2100" b="1">
                <a:solidFill>
                  <a:srgbClr val="182B3A"/>
                </a:solidFill>
                <a:latin typeface="Arial"/>
              </a:defRPr>
            </a:pPr>
            <a:r>
              <a:t>2.</a:t>
            </a:r>
          </a:p>
        </p:txBody>
      </p:sp>
      <p:sp>
        <p:nvSpPr>
          <p:cNvPr id="78" name="TextBox 77"/>
          <p:cNvSpPr txBox="1"/>
          <p:nvPr/>
        </p:nvSpPr>
        <p:spPr>
          <a:xfrm>
            <a:off x="5577840" y="2761488"/>
            <a:ext cx="395478" cy="256032"/>
          </a:xfrm>
          <a:prstGeom prst="rect">
            <a:avLst/>
          </a:prstGeom>
          <a:noFill/>
        </p:spPr>
        <p:txBody>
          <a:bodyPr wrap="none" lIns="0" rIns="0" tIns="0" bIns="0">
            <a:spAutoFit/>
          </a:bodyPr>
          <a:lstStyle/>
          <a:p>
            <a:pPr algn="ctr">
              <a:lnSpc>
                <a:spcPts val="2240"/>
              </a:lnSpc>
              <a:spcAft>
                <a:spcPts val="0"/>
              </a:spcAft>
              <a:defRPr sz="2000" b="0">
                <a:solidFill>
                  <a:srgbClr val="182B3A"/>
                </a:solidFill>
                <a:latin typeface="Arial"/>
              </a:defRPr>
            </a:pPr>
            <a:r>
              <a:t>11</a:t>
            </a:r>
          </a:p>
        </p:txBody>
      </p:sp>
      <p:cxnSp>
        <p:nvCxnSpPr>
          <p:cNvPr id="79" name="Connector 78"/>
          <p:cNvCxnSpPr/>
          <p:nvPr/>
        </p:nvCxnSpPr>
        <p:spPr>
          <a:xfrm>
            <a:off x="5577840" y="3026664"/>
            <a:ext cx="395478" cy="0"/>
          </a:xfrm>
          <a:prstGeom prst="line">
            <a:avLst/>
          </a:prstGeom>
          <a:ln w="12700">
            <a:solidFill>
              <a:srgbClr val="182B3A"/>
            </a:solidFill>
          </a:ln>
          <a:effectLst/>
        </p:spPr>
        <p:style>
          <a:lnRef idx="2">
            <a:schemeClr val="accent1"/>
          </a:lnRef>
          <a:fillRef idx="0">
            <a:schemeClr val="accent1"/>
          </a:fillRef>
          <a:effectRef idx="1">
            <a:schemeClr val="accent1"/>
          </a:effectRef>
          <a:fontRef idx="minor">
            <a:schemeClr val="tx1"/>
          </a:fontRef>
        </p:style>
      </p:cxnSp>
      <p:sp>
        <p:nvSpPr>
          <p:cNvPr id="80" name="TextBox 79"/>
          <p:cNvSpPr txBox="1"/>
          <p:nvPr/>
        </p:nvSpPr>
        <p:spPr>
          <a:xfrm>
            <a:off x="5577840" y="3044952"/>
            <a:ext cx="395478" cy="256032"/>
          </a:xfrm>
          <a:prstGeom prst="rect">
            <a:avLst/>
          </a:prstGeom>
          <a:noFill/>
        </p:spPr>
        <p:txBody>
          <a:bodyPr wrap="none" lIns="0" rIns="0" tIns="0" bIns="0">
            <a:spAutoFit/>
          </a:bodyPr>
          <a:lstStyle/>
          <a:p>
            <a:pPr algn="ctr">
              <a:lnSpc>
                <a:spcPts val="2240"/>
              </a:lnSpc>
              <a:spcAft>
                <a:spcPts val="0"/>
              </a:spcAft>
              <a:defRPr sz="2000" b="0">
                <a:solidFill>
                  <a:srgbClr val="182B3A"/>
                </a:solidFill>
                <a:latin typeface="Arial"/>
              </a:defRPr>
            </a:pPr>
            <a:r>
              <a:t>12</a:t>
            </a:r>
          </a:p>
        </p:txBody>
      </p:sp>
      <p:sp>
        <p:nvSpPr>
          <p:cNvPr id="81" name="TextBox 80"/>
          <p:cNvSpPr txBox="1"/>
          <p:nvPr/>
        </p:nvSpPr>
        <p:spPr>
          <a:xfrm>
            <a:off x="6028182" y="2880360"/>
            <a:ext cx="389381" cy="347472"/>
          </a:xfrm>
          <a:prstGeom prst="rect">
            <a:avLst/>
          </a:prstGeom>
          <a:noFill/>
        </p:spPr>
        <p:txBody>
          <a:bodyPr wrap="none" lIns="0" rIns="0" tIns="0" bIns="0">
            <a:spAutoFit/>
          </a:bodyPr>
          <a:lstStyle/>
          <a:p>
            <a:pPr algn="l">
              <a:lnSpc>
                <a:spcPts val="2800"/>
              </a:lnSpc>
              <a:spcAft>
                <a:spcPts val="0"/>
              </a:spcAft>
              <a:defRPr sz="2500" b="0">
                <a:solidFill>
                  <a:srgbClr val="182B3A"/>
                </a:solidFill>
                <a:latin typeface="Arial"/>
              </a:defRPr>
            </a:pPr>
            <a:r>
              <a:t> − </a:t>
            </a:r>
          </a:p>
        </p:txBody>
      </p:sp>
      <p:sp>
        <p:nvSpPr>
          <p:cNvPr id="82" name="TextBox 81"/>
          <p:cNvSpPr txBox="1"/>
          <p:nvPr/>
        </p:nvSpPr>
        <p:spPr>
          <a:xfrm>
            <a:off x="6417564" y="2761488"/>
            <a:ext cx="252603" cy="256032"/>
          </a:xfrm>
          <a:prstGeom prst="rect">
            <a:avLst/>
          </a:prstGeom>
          <a:noFill/>
        </p:spPr>
        <p:txBody>
          <a:bodyPr wrap="none" lIns="0" rIns="0" tIns="0" bIns="0">
            <a:spAutoFit/>
          </a:bodyPr>
          <a:lstStyle/>
          <a:p>
            <a:pPr algn="ctr">
              <a:lnSpc>
                <a:spcPts val="2240"/>
              </a:lnSpc>
              <a:spcAft>
                <a:spcPts val="0"/>
              </a:spcAft>
              <a:defRPr sz="2000" b="0">
                <a:solidFill>
                  <a:srgbClr val="182B3A"/>
                </a:solidFill>
                <a:latin typeface="Arial"/>
              </a:defRPr>
            </a:pPr>
            <a:r>
              <a:t>1</a:t>
            </a:r>
          </a:p>
        </p:txBody>
      </p:sp>
      <p:cxnSp>
        <p:nvCxnSpPr>
          <p:cNvPr id="83" name="Connector 82"/>
          <p:cNvCxnSpPr/>
          <p:nvPr/>
        </p:nvCxnSpPr>
        <p:spPr>
          <a:xfrm>
            <a:off x="6417564" y="3026664"/>
            <a:ext cx="252603" cy="0"/>
          </a:xfrm>
          <a:prstGeom prst="line">
            <a:avLst/>
          </a:prstGeom>
          <a:ln w="12700">
            <a:solidFill>
              <a:srgbClr val="182B3A"/>
            </a:solidFill>
          </a:ln>
          <a:effectLst/>
        </p:spPr>
        <p:style>
          <a:lnRef idx="2">
            <a:schemeClr val="accent1"/>
          </a:lnRef>
          <a:fillRef idx="0">
            <a:schemeClr val="accent1"/>
          </a:fillRef>
          <a:effectRef idx="1">
            <a:schemeClr val="accent1"/>
          </a:effectRef>
          <a:fontRef idx="minor">
            <a:schemeClr val="tx1"/>
          </a:fontRef>
        </p:style>
      </p:cxnSp>
      <p:sp>
        <p:nvSpPr>
          <p:cNvPr id="84" name="TextBox 83"/>
          <p:cNvSpPr txBox="1"/>
          <p:nvPr/>
        </p:nvSpPr>
        <p:spPr>
          <a:xfrm>
            <a:off x="6417564" y="3044952"/>
            <a:ext cx="252603" cy="256032"/>
          </a:xfrm>
          <a:prstGeom prst="rect">
            <a:avLst/>
          </a:prstGeom>
          <a:noFill/>
        </p:spPr>
        <p:txBody>
          <a:bodyPr wrap="none" lIns="0" rIns="0" tIns="0" bIns="0">
            <a:spAutoFit/>
          </a:bodyPr>
          <a:lstStyle/>
          <a:p>
            <a:pPr algn="ctr">
              <a:lnSpc>
                <a:spcPts val="2240"/>
              </a:lnSpc>
              <a:spcAft>
                <a:spcPts val="0"/>
              </a:spcAft>
              <a:defRPr sz="2000" b="0">
                <a:solidFill>
                  <a:srgbClr val="182B3A"/>
                </a:solidFill>
                <a:latin typeface="Arial"/>
              </a:defRPr>
            </a:pPr>
            <a:r>
              <a:t>3</a:t>
            </a:r>
          </a:p>
        </p:txBody>
      </p:sp>
      <p:sp>
        <p:nvSpPr>
          <p:cNvPr id="85" name="Rectangle 84"/>
          <p:cNvSpPr/>
          <p:nvPr/>
        </p:nvSpPr>
        <p:spPr>
          <a:xfrm>
            <a:off x="4983480" y="3593592"/>
            <a:ext cx="4640580" cy="1005840"/>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6" name="TextBox 85"/>
          <p:cNvSpPr txBox="1"/>
          <p:nvPr/>
        </p:nvSpPr>
        <p:spPr>
          <a:xfrm>
            <a:off x="5074920" y="3849624"/>
            <a:ext cx="320040" cy="365760"/>
          </a:xfrm>
          <a:prstGeom prst="rect">
            <a:avLst/>
          </a:prstGeom>
          <a:noFill/>
        </p:spPr>
        <p:txBody>
          <a:bodyPr wrap="square" lIns="54864" rIns="54864" tIns="22860" bIns="22860">
            <a:spAutoFit/>
          </a:bodyPr>
          <a:lstStyle/>
          <a:p>
            <a:pPr>
              <a:lnSpc>
                <a:spcPts val="2205"/>
              </a:lnSpc>
              <a:spcBef>
                <a:spcPts val="0"/>
              </a:spcBef>
              <a:spcAft>
                <a:spcPts val="0"/>
              </a:spcAft>
              <a:defRPr sz="2100" b="1">
                <a:solidFill>
                  <a:srgbClr val="182B3A"/>
                </a:solidFill>
                <a:latin typeface="Arial"/>
              </a:defRPr>
            </a:pPr>
            <a:r>
              <a:t>3.</a:t>
            </a:r>
          </a:p>
        </p:txBody>
      </p:sp>
      <p:sp>
        <p:nvSpPr>
          <p:cNvPr id="87" name="TextBox 86"/>
          <p:cNvSpPr txBox="1"/>
          <p:nvPr/>
        </p:nvSpPr>
        <p:spPr>
          <a:xfrm>
            <a:off x="5577840" y="3767328"/>
            <a:ext cx="252603" cy="256032"/>
          </a:xfrm>
          <a:prstGeom prst="rect">
            <a:avLst/>
          </a:prstGeom>
          <a:noFill/>
        </p:spPr>
        <p:txBody>
          <a:bodyPr wrap="none" lIns="0" rIns="0" tIns="0" bIns="0">
            <a:spAutoFit/>
          </a:bodyPr>
          <a:lstStyle/>
          <a:p>
            <a:pPr algn="ctr">
              <a:lnSpc>
                <a:spcPts val="2240"/>
              </a:lnSpc>
              <a:spcAft>
                <a:spcPts val="0"/>
              </a:spcAft>
              <a:defRPr sz="2000" b="0">
                <a:solidFill>
                  <a:srgbClr val="182B3A"/>
                </a:solidFill>
                <a:latin typeface="Arial"/>
              </a:defRPr>
            </a:pPr>
            <a:r>
              <a:t>2</a:t>
            </a:r>
          </a:p>
        </p:txBody>
      </p:sp>
      <p:cxnSp>
        <p:nvCxnSpPr>
          <p:cNvPr id="88" name="Connector 87"/>
          <p:cNvCxnSpPr/>
          <p:nvPr/>
        </p:nvCxnSpPr>
        <p:spPr>
          <a:xfrm>
            <a:off x="5577840" y="4032504"/>
            <a:ext cx="252603" cy="0"/>
          </a:xfrm>
          <a:prstGeom prst="line">
            <a:avLst/>
          </a:prstGeom>
          <a:ln w="12700">
            <a:solidFill>
              <a:srgbClr val="182B3A"/>
            </a:solidFill>
          </a:ln>
          <a:effectLst/>
        </p:spPr>
        <p:style>
          <a:lnRef idx="2">
            <a:schemeClr val="accent1"/>
          </a:lnRef>
          <a:fillRef idx="0">
            <a:schemeClr val="accent1"/>
          </a:fillRef>
          <a:effectRef idx="1">
            <a:schemeClr val="accent1"/>
          </a:effectRef>
          <a:fontRef idx="minor">
            <a:schemeClr val="tx1"/>
          </a:fontRef>
        </p:style>
      </p:cxnSp>
      <p:sp>
        <p:nvSpPr>
          <p:cNvPr id="89" name="TextBox 88"/>
          <p:cNvSpPr txBox="1"/>
          <p:nvPr/>
        </p:nvSpPr>
        <p:spPr>
          <a:xfrm>
            <a:off x="5577840" y="4050791"/>
            <a:ext cx="252603" cy="256032"/>
          </a:xfrm>
          <a:prstGeom prst="rect">
            <a:avLst/>
          </a:prstGeom>
          <a:noFill/>
        </p:spPr>
        <p:txBody>
          <a:bodyPr wrap="none" lIns="0" rIns="0" tIns="0" bIns="0">
            <a:spAutoFit/>
          </a:bodyPr>
          <a:lstStyle/>
          <a:p>
            <a:pPr algn="ctr">
              <a:lnSpc>
                <a:spcPts val="2240"/>
              </a:lnSpc>
              <a:spcAft>
                <a:spcPts val="0"/>
              </a:spcAft>
              <a:defRPr sz="2000" b="0">
                <a:solidFill>
                  <a:srgbClr val="182B3A"/>
                </a:solidFill>
                <a:latin typeface="Arial"/>
              </a:defRPr>
            </a:pPr>
            <a:r>
              <a:t>3</a:t>
            </a:r>
          </a:p>
        </p:txBody>
      </p:sp>
      <p:sp>
        <p:nvSpPr>
          <p:cNvPr id="90" name="TextBox 89"/>
          <p:cNvSpPr txBox="1"/>
          <p:nvPr/>
        </p:nvSpPr>
        <p:spPr>
          <a:xfrm>
            <a:off x="5885307" y="3886200"/>
            <a:ext cx="389381" cy="347472"/>
          </a:xfrm>
          <a:prstGeom prst="rect">
            <a:avLst/>
          </a:prstGeom>
          <a:noFill/>
        </p:spPr>
        <p:txBody>
          <a:bodyPr wrap="none" lIns="0" rIns="0" tIns="0" bIns="0">
            <a:spAutoFit/>
          </a:bodyPr>
          <a:lstStyle/>
          <a:p>
            <a:pPr algn="l">
              <a:lnSpc>
                <a:spcPts val="2800"/>
              </a:lnSpc>
              <a:spcAft>
                <a:spcPts val="0"/>
              </a:spcAft>
              <a:defRPr sz="2500" b="0">
                <a:solidFill>
                  <a:srgbClr val="182B3A"/>
                </a:solidFill>
                <a:latin typeface="Arial"/>
              </a:defRPr>
            </a:pPr>
            <a:r>
              <a:t> + </a:t>
            </a:r>
          </a:p>
        </p:txBody>
      </p:sp>
      <p:sp>
        <p:nvSpPr>
          <p:cNvPr id="91" name="TextBox 90"/>
          <p:cNvSpPr txBox="1"/>
          <p:nvPr/>
        </p:nvSpPr>
        <p:spPr>
          <a:xfrm>
            <a:off x="6274689" y="3767328"/>
            <a:ext cx="395478" cy="256032"/>
          </a:xfrm>
          <a:prstGeom prst="rect">
            <a:avLst/>
          </a:prstGeom>
          <a:noFill/>
        </p:spPr>
        <p:txBody>
          <a:bodyPr wrap="none" lIns="0" rIns="0" tIns="0" bIns="0">
            <a:spAutoFit/>
          </a:bodyPr>
          <a:lstStyle/>
          <a:p>
            <a:pPr algn="ctr">
              <a:lnSpc>
                <a:spcPts val="2240"/>
              </a:lnSpc>
              <a:spcAft>
                <a:spcPts val="0"/>
              </a:spcAft>
              <a:defRPr sz="2000" b="0">
                <a:solidFill>
                  <a:srgbClr val="182B3A"/>
                </a:solidFill>
                <a:latin typeface="Arial"/>
              </a:defRPr>
            </a:pPr>
            <a:r>
              <a:t>7</a:t>
            </a:r>
          </a:p>
        </p:txBody>
      </p:sp>
      <p:cxnSp>
        <p:nvCxnSpPr>
          <p:cNvPr id="92" name="Connector 91"/>
          <p:cNvCxnSpPr/>
          <p:nvPr/>
        </p:nvCxnSpPr>
        <p:spPr>
          <a:xfrm>
            <a:off x="6274689" y="4032504"/>
            <a:ext cx="395478" cy="0"/>
          </a:xfrm>
          <a:prstGeom prst="line">
            <a:avLst/>
          </a:prstGeom>
          <a:ln w="12700">
            <a:solidFill>
              <a:srgbClr val="182B3A"/>
            </a:solidFill>
          </a:ln>
          <a:effectLst/>
        </p:spPr>
        <p:style>
          <a:lnRef idx="2">
            <a:schemeClr val="accent1"/>
          </a:lnRef>
          <a:fillRef idx="0">
            <a:schemeClr val="accent1"/>
          </a:fillRef>
          <a:effectRef idx="1">
            <a:schemeClr val="accent1"/>
          </a:effectRef>
          <a:fontRef idx="minor">
            <a:schemeClr val="tx1"/>
          </a:fontRef>
        </p:style>
      </p:cxnSp>
      <p:sp>
        <p:nvSpPr>
          <p:cNvPr id="93" name="TextBox 92"/>
          <p:cNvSpPr txBox="1"/>
          <p:nvPr/>
        </p:nvSpPr>
        <p:spPr>
          <a:xfrm>
            <a:off x="6274689" y="4050791"/>
            <a:ext cx="395478" cy="256032"/>
          </a:xfrm>
          <a:prstGeom prst="rect">
            <a:avLst/>
          </a:prstGeom>
          <a:noFill/>
        </p:spPr>
        <p:txBody>
          <a:bodyPr wrap="none" lIns="0" rIns="0" tIns="0" bIns="0">
            <a:spAutoFit/>
          </a:bodyPr>
          <a:lstStyle/>
          <a:p>
            <a:pPr algn="ctr">
              <a:lnSpc>
                <a:spcPts val="2240"/>
              </a:lnSpc>
              <a:spcAft>
                <a:spcPts val="0"/>
              </a:spcAft>
              <a:defRPr sz="2000" b="0">
                <a:solidFill>
                  <a:srgbClr val="182B3A"/>
                </a:solidFill>
                <a:latin typeface="Arial"/>
              </a:defRPr>
            </a:pPr>
            <a:r>
              <a:t>12</a:t>
            </a:r>
          </a:p>
        </p:txBody>
      </p:sp>
      <p:sp>
        <p:nvSpPr>
          <p:cNvPr id="94" name="Rectangle 93"/>
          <p:cNvSpPr/>
          <p:nvPr/>
        </p:nvSpPr>
        <p:spPr>
          <a:xfrm>
            <a:off x="4983480" y="4599432"/>
            <a:ext cx="4640580" cy="1005840"/>
          </a:xfrm>
          <a:prstGeom prst="rect">
            <a:avLst/>
          </a:prstGeom>
          <a:solidFill>
            <a:srgbClr val="EFF3FA"/>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5" name="TextBox 94"/>
          <p:cNvSpPr txBox="1"/>
          <p:nvPr/>
        </p:nvSpPr>
        <p:spPr>
          <a:xfrm>
            <a:off x="5074920" y="4855464"/>
            <a:ext cx="320040" cy="365760"/>
          </a:xfrm>
          <a:prstGeom prst="rect">
            <a:avLst/>
          </a:prstGeom>
          <a:noFill/>
        </p:spPr>
        <p:txBody>
          <a:bodyPr wrap="square" lIns="54864" rIns="54864" tIns="22860" bIns="22860">
            <a:spAutoFit/>
          </a:bodyPr>
          <a:lstStyle/>
          <a:p>
            <a:pPr>
              <a:lnSpc>
                <a:spcPts val="2205"/>
              </a:lnSpc>
              <a:spcBef>
                <a:spcPts val="0"/>
              </a:spcBef>
              <a:spcAft>
                <a:spcPts val="0"/>
              </a:spcAft>
              <a:defRPr sz="2100" b="1">
                <a:solidFill>
                  <a:srgbClr val="182B3A"/>
                </a:solidFill>
                <a:latin typeface="Arial"/>
              </a:defRPr>
            </a:pPr>
            <a:r>
              <a:t>4.</a:t>
            </a:r>
          </a:p>
        </p:txBody>
      </p:sp>
      <p:sp>
        <p:nvSpPr>
          <p:cNvPr id="96" name="TextBox 95"/>
          <p:cNvSpPr txBox="1"/>
          <p:nvPr/>
        </p:nvSpPr>
        <p:spPr>
          <a:xfrm>
            <a:off x="5577840" y="4773168"/>
            <a:ext cx="252603" cy="256032"/>
          </a:xfrm>
          <a:prstGeom prst="rect">
            <a:avLst/>
          </a:prstGeom>
          <a:noFill/>
        </p:spPr>
        <p:txBody>
          <a:bodyPr wrap="none" lIns="0" rIns="0" tIns="0" bIns="0">
            <a:spAutoFit/>
          </a:bodyPr>
          <a:lstStyle/>
          <a:p>
            <a:pPr algn="ctr">
              <a:lnSpc>
                <a:spcPts val="2240"/>
              </a:lnSpc>
              <a:spcAft>
                <a:spcPts val="0"/>
              </a:spcAft>
              <a:defRPr sz="2000" b="0">
                <a:solidFill>
                  <a:srgbClr val="182B3A"/>
                </a:solidFill>
                <a:latin typeface="Arial"/>
              </a:defRPr>
            </a:pPr>
            <a:r>
              <a:t>4</a:t>
            </a:r>
          </a:p>
        </p:txBody>
      </p:sp>
      <p:cxnSp>
        <p:nvCxnSpPr>
          <p:cNvPr id="97" name="Connector 96"/>
          <p:cNvCxnSpPr/>
          <p:nvPr/>
        </p:nvCxnSpPr>
        <p:spPr>
          <a:xfrm>
            <a:off x="5577840" y="5038344"/>
            <a:ext cx="252603" cy="0"/>
          </a:xfrm>
          <a:prstGeom prst="line">
            <a:avLst/>
          </a:prstGeom>
          <a:ln w="12700">
            <a:solidFill>
              <a:srgbClr val="182B3A"/>
            </a:solidFill>
          </a:ln>
          <a:effectLst/>
        </p:spPr>
        <p:style>
          <a:lnRef idx="2">
            <a:schemeClr val="accent1"/>
          </a:lnRef>
          <a:fillRef idx="0">
            <a:schemeClr val="accent1"/>
          </a:fillRef>
          <a:effectRef idx="1">
            <a:schemeClr val="accent1"/>
          </a:effectRef>
          <a:fontRef idx="minor">
            <a:schemeClr val="tx1"/>
          </a:fontRef>
        </p:style>
      </p:cxnSp>
      <p:sp>
        <p:nvSpPr>
          <p:cNvPr id="98" name="TextBox 97"/>
          <p:cNvSpPr txBox="1"/>
          <p:nvPr/>
        </p:nvSpPr>
        <p:spPr>
          <a:xfrm>
            <a:off x="5577840" y="5056632"/>
            <a:ext cx="252603" cy="256032"/>
          </a:xfrm>
          <a:prstGeom prst="rect">
            <a:avLst/>
          </a:prstGeom>
          <a:noFill/>
        </p:spPr>
        <p:txBody>
          <a:bodyPr wrap="none" lIns="0" rIns="0" tIns="0" bIns="0">
            <a:spAutoFit/>
          </a:bodyPr>
          <a:lstStyle/>
          <a:p>
            <a:pPr algn="ctr">
              <a:lnSpc>
                <a:spcPts val="2240"/>
              </a:lnSpc>
              <a:spcAft>
                <a:spcPts val="0"/>
              </a:spcAft>
              <a:defRPr sz="2000" b="0">
                <a:solidFill>
                  <a:srgbClr val="182B3A"/>
                </a:solidFill>
                <a:latin typeface="Arial"/>
              </a:defRPr>
            </a:pPr>
            <a:r>
              <a:t>5</a:t>
            </a:r>
          </a:p>
        </p:txBody>
      </p:sp>
      <p:sp>
        <p:nvSpPr>
          <p:cNvPr id="99" name="TextBox 98"/>
          <p:cNvSpPr txBox="1"/>
          <p:nvPr/>
        </p:nvSpPr>
        <p:spPr>
          <a:xfrm>
            <a:off x="5885307" y="4892040"/>
            <a:ext cx="389381" cy="347472"/>
          </a:xfrm>
          <a:prstGeom prst="rect">
            <a:avLst/>
          </a:prstGeom>
          <a:noFill/>
        </p:spPr>
        <p:txBody>
          <a:bodyPr wrap="none" lIns="0" rIns="0" tIns="0" bIns="0">
            <a:spAutoFit/>
          </a:bodyPr>
          <a:lstStyle/>
          <a:p>
            <a:pPr algn="l">
              <a:lnSpc>
                <a:spcPts val="2800"/>
              </a:lnSpc>
              <a:spcAft>
                <a:spcPts val="0"/>
              </a:spcAft>
              <a:defRPr sz="2500" b="0">
                <a:solidFill>
                  <a:srgbClr val="182B3A"/>
                </a:solidFill>
                <a:latin typeface="Arial"/>
              </a:defRPr>
            </a:pPr>
            <a:r>
              <a:t> − </a:t>
            </a:r>
          </a:p>
        </p:txBody>
      </p:sp>
      <p:sp>
        <p:nvSpPr>
          <p:cNvPr id="100" name="TextBox 99"/>
          <p:cNvSpPr txBox="1"/>
          <p:nvPr/>
        </p:nvSpPr>
        <p:spPr>
          <a:xfrm>
            <a:off x="6274689" y="4773168"/>
            <a:ext cx="395478" cy="256032"/>
          </a:xfrm>
          <a:prstGeom prst="rect">
            <a:avLst/>
          </a:prstGeom>
          <a:noFill/>
        </p:spPr>
        <p:txBody>
          <a:bodyPr wrap="none" lIns="0" rIns="0" tIns="0" bIns="0">
            <a:spAutoFit/>
          </a:bodyPr>
          <a:lstStyle/>
          <a:p>
            <a:pPr algn="ctr">
              <a:lnSpc>
                <a:spcPts val="2240"/>
              </a:lnSpc>
              <a:spcAft>
                <a:spcPts val="0"/>
              </a:spcAft>
              <a:defRPr sz="2000" b="0">
                <a:solidFill>
                  <a:srgbClr val="182B3A"/>
                </a:solidFill>
                <a:latin typeface="Arial"/>
              </a:defRPr>
            </a:pPr>
            <a:r>
              <a:t>1</a:t>
            </a:r>
          </a:p>
        </p:txBody>
      </p:sp>
      <p:cxnSp>
        <p:nvCxnSpPr>
          <p:cNvPr id="101" name="Connector 100"/>
          <p:cNvCxnSpPr/>
          <p:nvPr/>
        </p:nvCxnSpPr>
        <p:spPr>
          <a:xfrm>
            <a:off x="6274689" y="5038344"/>
            <a:ext cx="395478" cy="0"/>
          </a:xfrm>
          <a:prstGeom prst="line">
            <a:avLst/>
          </a:prstGeom>
          <a:ln w="12700">
            <a:solidFill>
              <a:srgbClr val="182B3A"/>
            </a:solidFill>
          </a:ln>
          <a:effectLst/>
        </p:spPr>
        <p:style>
          <a:lnRef idx="2">
            <a:schemeClr val="accent1"/>
          </a:lnRef>
          <a:fillRef idx="0">
            <a:schemeClr val="accent1"/>
          </a:fillRef>
          <a:effectRef idx="1">
            <a:schemeClr val="accent1"/>
          </a:effectRef>
          <a:fontRef idx="minor">
            <a:schemeClr val="tx1"/>
          </a:fontRef>
        </p:style>
      </p:cxnSp>
      <p:sp>
        <p:nvSpPr>
          <p:cNvPr id="102" name="TextBox 101"/>
          <p:cNvSpPr txBox="1"/>
          <p:nvPr/>
        </p:nvSpPr>
        <p:spPr>
          <a:xfrm>
            <a:off x="6274689" y="5056632"/>
            <a:ext cx="395478" cy="256032"/>
          </a:xfrm>
          <a:prstGeom prst="rect">
            <a:avLst/>
          </a:prstGeom>
          <a:noFill/>
        </p:spPr>
        <p:txBody>
          <a:bodyPr wrap="none" lIns="0" rIns="0" tIns="0" bIns="0">
            <a:spAutoFit/>
          </a:bodyPr>
          <a:lstStyle/>
          <a:p>
            <a:pPr algn="ctr">
              <a:lnSpc>
                <a:spcPts val="2240"/>
              </a:lnSpc>
              <a:spcAft>
                <a:spcPts val="0"/>
              </a:spcAft>
              <a:defRPr sz="2000" b="0">
                <a:solidFill>
                  <a:srgbClr val="182B3A"/>
                </a:solidFill>
                <a:latin typeface="Arial"/>
              </a:defRPr>
            </a:pPr>
            <a:r>
              <a:t>10</a:t>
            </a:r>
          </a:p>
        </p:txBody>
      </p:sp>
      <p:sp>
        <p:nvSpPr>
          <p:cNvPr id="103" name="Rectangle 102"/>
          <p:cNvSpPr/>
          <p:nvPr/>
        </p:nvSpPr>
        <p:spPr>
          <a:xfrm>
            <a:off x="4983480" y="5605272"/>
            <a:ext cx="4640580" cy="1005840"/>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4" name="TextBox 103"/>
          <p:cNvSpPr txBox="1"/>
          <p:nvPr/>
        </p:nvSpPr>
        <p:spPr>
          <a:xfrm>
            <a:off x="5074920" y="5861304"/>
            <a:ext cx="320040" cy="365760"/>
          </a:xfrm>
          <a:prstGeom prst="rect">
            <a:avLst/>
          </a:prstGeom>
          <a:noFill/>
        </p:spPr>
        <p:txBody>
          <a:bodyPr wrap="square" lIns="54864" rIns="54864" tIns="22860" bIns="22860">
            <a:spAutoFit/>
          </a:bodyPr>
          <a:lstStyle/>
          <a:p>
            <a:pPr>
              <a:lnSpc>
                <a:spcPts val="2205"/>
              </a:lnSpc>
              <a:spcBef>
                <a:spcPts val="0"/>
              </a:spcBef>
              <a:spcAft>
                <a:spcPts val="0"/>
              </a:spcAft>
              <a:defRPr sz="2100" b="1">
                <a:solidFill>
                  <a:srgbClr val="182B3A"/>
                </a:solidFill>
                <a:latin typeface="Arial"/>
              </a:defRPr>
            </a:pPr>
            <a:r>
              <a:t>5.</a:t>
            </a:r>
          </a:p>
        </p:txBody>
      </p:sp>
      <p:sp>
        <p:nvSpPr>
          <p:cNvPr id="105" name="TextBox 104"/>
          <p:cNvSpPr txBox="1"/>
          <p:nvPr/>
        </p:nvSpPr>
        <p:spPr>
          <a:xfrm>
            <a:off x="5577840" y="5779008"/>
            <a:ext cx="252603" cy="256032"/>
          </a:xfrm>
          <a:prstGeom prst="rect">
            <a:avLst/>
          </a:prstGeom>
          <a:noFill/>
        </p:spPr>
        <p:txBody>
          <a:bodyPr wrap="none" lIns="0" rIns="0" tIns="0" bIns="0">
            <a:spAutoFit/>
          </a:bodyPr>
          <a:lstStyle/>
          <a:p>
            <a:pPr algn="ctr">
              <a:lnSpc>
                <a:spcPts val="2240"/>
              </a:lnSpc>
              <a:spcAft>
                <a:spcPts val="0"/>
              </a:spcAft>
              <a:defRPr sz="2000" b="0">
                <a:solidFill>
                  <a:srgbClr val="182B3A"/>
                </a:solidFill>
                <a:latin typeface="Arial"/>
              </a:defRPr>
            </a:pPr>
            <a:r>
              <a:t>3</a:t>
            </a:r>
          </a:p>
        </p:txBody>
      </p:sp>
      <p:cxnSp>
        <p:nvCxnSpPr>
          <p:cNvPr id="106" name="Connector 105"/>
          <p:cNvCxnSpPr/>
          <p:nvPr/>
        </p:nvCxnSpPr>
        <p:spPr>
          <a:xfrm>
            <a:off x="5577840" y="6044184"/>
            <a:ext cx="252603" cy="0"/>
          </a:xfrm>
          <a:prstGeom prst="line">
            <a:avLst/>
          </a:prstGeom>
          <a:ln w="12700">
            <a:solidFill>
              <a:srgbClr val="182B3A"/>
            </a:solidFill>
          </a:ln>
          <a:effectLst/>
        </p:spPr>
        <p:style>
          <a:lnRef idx="2">
            <a:schemeClr val="accent1"/>
          </a:lnRef>
          <a:fillRef idx="0">
            <a:schemeClr val="accent1"/>
          </a:fillRef>
          <a:effectRef idx="1">
            <a:schemeClr val="accent1"/>
          </a:effectRef>
          <a:fontRef idx="minor">
            <a:schemeClr val="tx1"/>
          </a:fontRef>
        </p:style>
      </p:cxnSp>
      <p:sp>
        <p:nvSpPr>
          <p:cNvPr id="107" name="TextBox 106"/>
          <p:cNvSpPr txBox="1"/>
          <p:nvPr/>
        </p:nvSpPr>
        <p:spPr>
          <a:xfrm>
            <a:off x="5577840" y="6062472"/>
            <a:ext cx="252603" cy="256032"/>
          </a:xfrm>
          <a:prstGeom prst="rect">
            <a:avLst/>
          </a:prstGeom>
          <a:noFill/>
        </p:spPr>
        <p:txBody>
          <a:bodyPr wrap="none" lIns="0" rIns="0" tIns="0" bIns="0">
            <a:spAutoFit/>
          </a:bodyPr>
          <a:lstStyle/>
          <a:p>
            <a:pPr algn="ctr">
              <a:lnSpc>
                <a:spcPts val="2240"/>
              </a:lnSpc>
              <a:spcAft>
                <a:spcPts val="0"/>
              </a:spcAft>
              <a:defRPr sz="2000" b="0">
                <a:solidFill>
                  <a:srgbClr val="182B3A"/>
                </a:solidFill>
                <a:latin typeface="Arial"/>
              </a:defRPr>
            </a:pPr>
            <a:r>
              <a:t>4</a:t>
            </a:r>
          </a:p>
        </p:txBody>
      </p:sp>
      <p:sp>
        <p:nvSpPr>
          <p:cNvPr id="108" name="TextBox 107"/>
          <p:cNvSpPr txBox="1"/>
          <p:nvPr/>
        </p:nvSpPr>
        <p:spPr>
          <a:xfrm>
            <a:off x="5885307" y="5897880"/>
            <a:ext cx="389381" cy="347472"/>
          </a:xfrm>
          <a:prstGeom prst="rect">
            <a:avLst/>
          </a:prstGeom>
          <a:noFill/>
        </p:spPr>
        <p:txBody>
          <a:bodyPr wrap="none" lIns="0" rIns="0" tIns="0" bIns="0">
            <a:spAutoFit/>
          </a:bodyPr>
          <a:lstStyle/>
          <a:p>
            <a:pPr algn="l">
              <a:lnSpc>
                <a:spcPts val="2800"/>
              </a:lnSpc>
              <a:spcAft>
                <a:spcPts val="0"/>
              </a:spcAft>
              <a:defRPr sz="2500" b="0">
                <a:solidFill>
                  <a:srgbClr val="182B3A"/>
                </a:solidFill>
                <a:latin typeface="Arial"/>
              </a:defRPr>
            </a:pPr>
            <a:r>
              <a:t> + </a:t>
            </a:r>
          </a:p>
        </p:txBody>
      </p:sp>
      <p:sp>
        <p:nvSpPr>
          <p:cNvPr id="109" name="TextBox 108"/>
          <p:cNvSpPr txBox="1"/>
          <p:nvPr/>
        </p:nvSpPr>
        <p:spPr>
          <a:xfrm>
            <a:off x="6274689" y="5779008"/>
            <a:ext cx="252603" cy="256032"/>
          </a:xfrm>
          <a:prstGeom prst="rect">
            <a:avLst/>
          </a:prstGeom>
          <a:noFill/>
        </p:spPr>
        <p:txBody>
          <a:bodyPr wrap="none" lIns="0" rIns="0" tIns="0" bIns="0">
            <a:spAutoFit/>
          </a:bodyPr>
          <a:lstStyle/>
          <a:p>
            <a:pPr algn="ctr">
              <a:lnSpc>
                <a:spcPts val="2240"/>
              </a:lnSpc>
              <a:spcAft>
                <a:spcPts val="0"/>
              </a:spcAft>
              <a:defRPr sz="2000" b="0">
                <a:solidFill>
                  <a:srgbClr val="182B3A"/>
                </a:solidFill>
                <a:latin typeface="Arial"/>
              </a:defRPr>
            </a:pPr>
            <a:r>
              <a:t>5</a:t>
            </a:r>
          </a:p>
        </p:txBody>
      </p:sp>
      <p:cxnSp>
        <p:nvCxnSpPr>
          <p:cNvPr id="110" name="Connector 109"/>
          <p:cNvCxnSpPr/>
          <p:nvPr/>
        </p:nvCxnSpPr>
        <p:spPr>
          <a:xfrm>
            <a:off x="6274689" y="6044184"/>
            <a:ext cx="252603" cy="0"/>
          </a:xfrm>
          <a:prstGeom prst="line">
            <a:avLst/>
          </a:prstGeom>
          <a:ln w="12700">
            <a:solidFill>
              <a:srgbClr val="182B3A"/>
            </a:solidFill>
          </a:ln>
          <a:effectLst/>
        </p:spPr>
        <p:style>
          <a:lnRef idx="2">
            <a:schemeClr val="accent1"/>
          </a:lnRef>
          <a:fillRef idx="0">
            <a:schemeClr val="accent1"/>
          </a:fillRef>
          <a:effectRef idx="1">
            <a:schemeClr val="accent1"/>
          </a:effectRef>
          <a:fontRef idx="minor">
            <a:schemeClr val="tx1"/>
          </a:fontRef>
        </p:style>
      </p:cxnSp>
      <p:sp>
        <p:nvSpPr>
          <p:cNvPr id="111" name="TextBox 110"/>
          <p:cNvSpPr txBox="1"/>
          <p:nvPr/>
        </p:nvSpPr>
        <p:spPr>
          <a:xfrm>
            <a:off x="6274689" y="6062472"/>
            <a:ext cx="252603" cy="256032"/>
          </a:xfrm>
          <a:prstGeom prst="rect">
            <a:avLst/>
          </a:prstGeom>
          <a:noFill/>
        </p:spPr>
        <p:txBody>
          <a:bodyPr wrap="none" lIns="0" rIns="0" tIns="0" bIns="0">
            <a:spAutoFit/>
          </a:bodyPr>
          <a:lstStyle/>
          <a:p>
            <a:pPr algn="ctr">
              <a:lnSpc>
                <a:spcPts val="2240"/>
              </a:lnSpc>
              <a:spcAft>
                <a:spcPts val="0"/>
              </a:spcAft>
              <a:defRPr sz="2000" b="0">
                <a:solidFill>
                  <a:srgbClr val="182B3A"/>
                </a:solidFill>
                <a:latin typeface="Arial"/>
              </a:defRPr>
            </a:pPr>
            <a:r>
              <a:t>8</a:t>
            </a:r>
          </a:p>
        </p:txBody>
      </p:sp>
      <p:sp>
        <p:nvSpPr>
          <p:cNvPr id="112" name="Rectangle 111"/>
          <p:cNvSpPr/>
          <p:nvPr/>
        </p:nvSpPr>
        <p:spPr>
          <a:xfrm>
            <a:off x="4983480" y="6611112"/>
            <a:ext cx="4640580" cy="1005840"/>
          </a:xfrm>
          <a:prstGeom prst="rect">
            <a:avLst/>
          </a:prstGeom>
          <a:solidFill>
            <a:srgbClr val="EFF3FA"/>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3" name="TextBox 112"/>
          <p:cNvSpPr txBox="1"/>
          <p:nvPr/>
        </p:nvSpPr>
        <p:spPr>
          <a:xfrm>
            <a:off x="5074920" y="6867144"/>
            <a:ext cx="320040" cy="365760"/>
          </a:xfrm>
          <a:prstGeom prst="rect">
            <a:avLst/>
          </a:prstGeom>
          <a:noFill/>
        </p:spPr>
        <p:txBody>
          <a:bodyPr wrap="square" lIns="54864" rIns="54864" tIns="22860" bIns="22860">
            <a:spAutoFit/>
          </a:bodyPr>
          <a:lstStyle/>
          <a:p>
            <a:pPr>
              <a:lnSpc>
                <a:spcPts val="2205"/>
              </a:lnSpc>
              <a:spcBef>
                <a:spcPts val="0"/>
              </a:spcBef>
              <a:spcAft>
                <a:spcPts val="0"/>
              </a:spcAft>
              <a:defRPr sz="2100" b="1">
                <a:solidFill>
                  <a:srgbClr val="182B3A"/>
                </a:solidFill>
                <a:latin typeface="Arial"/>
              </a:defRPr>
            </a:pPr>
            <a:r>
              <a:t>6.</a:t>
            </a:r>
          </a:p>
        </p:txBody>
      </p:sp>
      <p:sp>
        <p:nvSpPr>
          <p:cNvPr id="114" name="TextBox 113"/>
          <p:cNvSpPr txBox="1"/>
          <p:nvPr/>
        </p:nvSpPr>
        <p:spPr>
          <a:xfrm>
            <a:off x="5577840" y="6784848"/>
            <a:ext cx="252603" cy="256032"/>
          </a:xfrm>
          <a:prstGeom prst="rect">
            <a:avLst/>
          </a:prstGeom>
          <a:noFill/>
        </p:spPr>
        <p:txBody>
          <a:bodyPr wrap="none" lIns="0" rIns="0" tIns="0" bIns="0">
            <a:spAutoFit/>
          </a:bodyPr>
          <a:lstStyle/>
          <a:p>
            <a:pPr algn="ctr">
              <a:lnSpc>
                <a:spcPts val="2240"/>
              </a:lnSpc>
              <a:spcAft>
                <a:spcPts val="0"/>
              </a:spcAft>
              <a:defRPr sz="2000" b="0">
                <a:solidFill>
                  <a:srgbClr val="182B3A"/>
                </a:solidFill>
                <a:latin typeface="Arial"/>
              </a:defRPr>
            </a:pPr>
            <a:r>
              <a:t>7</a:t>
            </a:r>
          </a:p>
        </p:txBody>
      </p:sp>
      <p:cxnSp>
        <p:nvCxnSpPr>
          <p:cNvPr id="115" name="Connector 114"/>
          <p:cNvCxnSpPr/>
          <p:nvPr/>
        </p:nvCxnSpPr>
        <p:spPr>
          <a:xfrm>
            <a:off x="5577840" y="7050024"/>
            <a:ext cx="252603" cy="0"/>
          </a:xfrm>
          <a:prstGeom prst="line">
            <a:avLst/>
          </a:prstGeom>
          <a:ln w="12700">
            <a:solidFill>
              <a:srgbClr val="182B3A"/>
            </a:solidFill>
          </a:ln>
          <a:effectLst/>
        </p:spPr>
        <p:style>
          <a:lnRef idx="2">
            <a:schemeClr val="accent1"/>
          </a:lnRef>
          <a:fillRef idx="0">
            <a:schemeClr val="accent1"/>
          </a:fillRef>
          <a:effectRef idx="1">
            <a:schemeClr val="accent1"/>
          </a:effectRef>
          <a:fontRef idx="minor">
            <a:schemeClr val="tx1"/>
          </a:fontRef>
        </p:style>
      </p:cxnSp>
      <p:sp>
        <p:nvSpPr>
          <p:cNvPr id="116" name="TextBox 115"/>
          <p:cNvSpPr txBox="1"/>
          <p:nvPr/>
        </p:nvSpPr>
        <p:spPr>
          <a:xfrm>
            <a:off x="5577840" y="7068312"/>
            <a:ext cx="252603" cy="256032"/>
          </a:xfrm>
          <a:prstGeom prst="rect">
            <a:avLst/>
          </a:prstGeom>
          <a:noFill/>
        </p:spPr>
        <p:txBody>
          <a:bodyPr wrap="none" lIns="0" rIns="0" tIns="0" bIns="0">
            <a:spAutoFit/>
          </a:bodyPr>
          <a:lstStyle/>
          <a:p>
            <a:pPr algn="ctr">
              <a:lnSpc>
                <a:spcPts val="2240"/>
              </a:lnSpc>
              <a:spcAft>
                <a:spcPts val="0"/>
              </a:spcAft>
              <a:defRPr sz="2000" b="0">
                <a:solidFill>
                  <a:srgbClr val="182B3A"/>
                </a:solidFill>
                <a:latin typeface="Arial"/>
              </a:defRPr>
            </a:pPr>
            <a:r>
              <a:t>9</a:t>
            </a:r>
          </a:p>
        </p:txBody>
      </p:sp>
      <p:sp>
        <p:nvSpPr>
          <p:cNvPr id="117" name="TextBox 116"/>
          <p:cNvSpPr txBox="1"/>
          <p:nvPr/>
        </p:nvSpPr>
        <p:spPr>
          <a:xfrm>
            <a:off x="5885307" y="6903720"/>
            <a:ext cx="389381" cy="347472"/>
          </a:xfrm>
          <a:prstGeom prst="rect">
            <a:avLst/>
          </a:prstGeom>
          <a:noFill/>
        </p:spPr>
        <p:txBody>
          <a:bodyPr wrap="none" lIns="0" rIns="0" tIns="0" bIns="0">
            <a:spAutoFit/>
          </a:bodyPr>
          <a:lstStyle/>
          <a:p>
            <a:pPr algn="l">
              <a:lnSpc>
                <a:spcPts val="2800"/>
              </a:lnSpc>
              <a:spcAft>
                <a:spcPts val="0"/>
              </a:spcAft>
              <a:defRPr sz="2500" b="0">
                <a:solidFill>
                  <a:srgbClr val="182B3A"/>
                </a:solidFill>
                <a:latin typeface="Arial"/>
              </a:defRPr>
            </a:pPr>
            <a:r>
              <a:t> + </a:t>
            </a:r>
          </a:p>
        </p:txBody>
      </p:sp>
      <p:sp>
        <p:nvSpPr>
          <p:cNvPr id="118" name="TextBox 117"/>
          <p:cNvSpPr txBox="1"/>
          <p:nvPr/>
        </p:nvSpPr>
        <p:spPr>
          <a:xfrm>
            <a:off x="6274689" y="6784848"/>
            <a:ext cx="252603" cy="256032"/>
          </a:xfrm>
          <a:prstGeom prst="rect">
            <a:avLst/>
          </a:prstGeom>
          <a:noFill/>
        </p:spPr>
        <p:txBody>
          <a:bodyPr wrap="none" lIns="0" rIns="0" tIns="0" bIns="0">
            <a:spAutoFit/>
          </a:bodyPr>
          <a:lstStyle/>
          <a:p>
            <a:pPr algn="ctr">
              <a:lnSpc>
                <a:spcPts val="2240"/>
              </a:lnSpc>
              <a:spcAft>
                <a:spcPts val="0"/>
              </a:spcAft>
              <a:defRPr sz="2000" b="0">
                <a:solidFill>
                  <a:srgbClr val="182B3A"/>
                </a:solidFill>
                <a:latin typeface="Arial"/>
              </a:defRPr>
            </a:pPr>
            <a:r>
              <a:t>2</a:t>
            </a:r>
          </a:p>
        </p:txBody>
      </p:sp>
      <p:cxnSp>
        <p:nvCxnSpPr>
          <p:cNvPr id="119" name="Connector 118"/>
          <p:cNvCxnSpPr/>
          <p:nvPr/>
        </p:nvCxnSpPr>
        <p:spPr>
          <a:xfrm>
            <a:off x="6274689" y="7050024"/>
            <a:ext cx="252603" cy="0"/>
          </a:xfrm>
          <a:prstGeom prst="line">
            <a:avLst/>
          </a:prstGeom>
          <a:ln w="12700">
            <a:solidFill>
              <a:srgbClr val="182B3A"/>
            </a:solidFill>
          </a:ln>
          <a:effectLst/>
        </p:spPr>
        <p:style>
          <a:lnRef idx="2">
            <a:schemeClr val="accent1"/>
          </a:lnRef>
          <a:fillRef idx="0">
            <a:schemeClr val="accent1"/>
          </a:fillRef>
          <a:effectRef idx="1">
            <a:schemeClr val="accent1"/>
          </a:effectRef>
          <a:fontRef idx="minor">
            <a:schemeClr val="tx1"/>
          </a:fontRef>
        </p:style>
      </p:cxnSp>
      <p:sp>
        <p:nvSpPr>
          <p:cNvPr id="120" name="TextBox 119"/>
          <p:cNvSpPr txBox="1"/>
          <p:nvPr/>
        </p:nvSpPr>
        <p:spPr>
          <a:xfrm>
            <a:off x="6274689" y="7068312"/>
            <a:ext cx="252603" cy="256032"/>
          </a:xfrm>
          <a:prstGeom prst="rect">
            <a:avLst/>
          </a:prstGeom>
          <a:noFill/>
        </p:spPr>
        <p:txBody>
          <a:bodyPr wrap="none" lIns="0" rIns="0" tIns="0" bIns="0">
            <a:spAutoFit/>
          </a:bodyPr>
          <a:lstStyle/>
          <a:p>
            <a:pPr algn="ctr">
              <a:lnSpc>
                <a:spcPts val="2240"/>
              </a:lnSpc>
              <a:spcAft>
                <a:spcPts val="0"/>
              </a:spcAft>
              <a:defRPr sz="2000" b="0">
                <a:solidFill>
                  <a:srgbClr val="182B3A"/>
                </a:solidFill>
                <a:latin typeface="Arial"/>
              </a:defRPr>
            </a:pPr>
            <a:r>
              <a:t>3</a:t>
            </a:r>
          </a:p>
        </p:txBody>
      </p:sp>
      <p:sp>
        <p:nvSpPr>
          <p:cNvPr id="121" name="Rectangle 120"/>
          <p:cNvSpPr/>
          <p:nvPr/>
        </p:nvSpPr>
        <p:spPr>
          <a:xfrm>
            <a:off x="9646920" y="1581912"/>
            <a:ext cx="4640580" cy="1005840"/>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2" name="TextBox 121"/>
          <p:cNvSpPr txBox="1"/>
          <p:nvPr/>
        </p:nvSpPr>
        <p:spPr>
          <a:xfrm>
            <a:off x="9738360" y="1837943"/>
            <a:ext cx="320040" cy="365760"/>
          </a:xfrm>
          <a:prstGeom prst="rect">
            <a:avLst/>
          </a:prstGeom>
          <a:noFill/>
        </p:spPr>
        <p:txBody>
          <a:bodyPr wrap="square" lIns="54864" rIns="54864" tIns="22860" bIns="22860">
            <a:spAutoFit/>
          </a:bodyPr>
          <a:lstStyle/>
          <a:p>
            <a:pPr>
              <a:lnSpc>
                <a:spcPts val="2205"/>
              </a:lnSpc>
              <a:spcBef>
                <a:spcPts val="0"/>
              </a:spcBef>
              <a:spcAft>
                <a:spcPts val="0"/>
              </a:spcAft>
              <a:defRPr sz="2100" b="1">
                <a:solidFill>
                  <a:srgbClr val="182B3A"/>
                </a:solidFill>
                <a:latin typeface="Arial"/>
              </a:defRPr>
            </a:pPr>
            <a:r>
              <a:t>1.</a:t>
            </a:r>
          </a:p>
        </p:txBody>
      </p:sp>
      <p:sp>
        <p:nvSpPr>
          <p:cNvPr id="123" name="TextBox 122"/>
          <p:cNvSpPr txBox="1"/>
          <p:nvPr/>
        </p:nvSpPr>
        <p:spPr>
          <a:xfrm>
            <a:off x="10241280" y="1874519"/>
            <a:ext cx="294132" cy="347472"/>
          </a:xfrm>
          <a:prstGeom prst="rect">
            <a:avLst/>
          </a:prstGeom>
          <a:noFill/>
        </p:spPr>
        <p:txBody>
          <a:bodyPr wrap="none" lIns="0" rIns="0" tIns="0" bIns="0">
            <a:spAutoFit/>
          </a:bodyPr>
          <a:lstStyle/>
          <a:p>
            <a:pPr algn="l">
              <a:lnSpc>
                <a:spcPts val="2800"/>
              </a:lnSpc>
              <a:spcAft>
                <a:spcPts val="0"/>
              </a:spcAft>
              <a:defRPr sz="2500" b="0">
                <a:solidFill>
                  <a:srgbClr val="182B3A"/>
                </a:solidFill>
                <a:latin typeface="Arial"/>
              </a:defRPr>
            </a:pPr>
            <a:r>
              <a:t>2 </a:t>
            </a:r>
          </a:p>
        </p:txBody>
      </p:sp>
      <p:sp>
        <p:nvSpPr>
          <p:cNvPr id="124" name="TextBox 123"/>
          <p:cNvSpPr txBox="1"/>
          <p:nvPr/>
        </p:nvSpPr>
        <p:spPr>
          <a:xfrm>
            <a:off x="10535412" y="1755648"/>
            <a:ext cx="395478" cy="256032"/>
          </a:xfrm>
          <a:prstGeom prst="rect">
            <a:avLst/>
          </a:prstGeom>
          <a:noFill/>
        </p:spPr>
        <p:txBody>
          <a:bodyPr wrap="none" lIns="0" rIns="0" tIns="0" bIns="0">
            <a:spAutoFit/>
          </a:bodyPr>
          <a:lstStyle/>
          <a:p>
            <a:pPr algn="ctr">
              <a:lnSpc>
                <a:spcPts val="2240"/>
              </a:lnSpc>
              <a:spcAft>
                <a:spcPts val="0"/>
              </a:spcAft>
              <a:defRPr sz="2000" b="0">
                <a:solidFill>
                  <a:srgbClr val="182B3A"/>
                </a:solidFill>
                <a:latin typeface="Arial"/>
              </a:defRPr>
            </a:pPr>
            <a:r>
              <a:t>7</a:t>
            </a:r>
          </a:p>
        </p:txBody>
      </p:sp>
      <p:cxnSp>
        <p:nvCxnSpPr>
          <p:cNvPr id="125" name="Connector 124"/>
          <p:cNvCxnSpPr/>
          <p:nvPr/>
        </p:nvCxnSpPr>
        <p:spPr>
          <a:xfrm>
            <a:off x="10535412" y="2020824"/>
            <a:ext cx="395478" cy="0"/>
          </a:xfrm>
          <a:prstGeom prst="line">
            <a:avLst/>
          </a:prstGeom>
          <a:ln w="12700">
            <a:solidFill>
              <a:srgbClr val="182B3A"/>
            </a:solidFill>
          </a:ln>
          <a:effectLst/>
        </p:spPr>
        <p:style>
          <a:lnRef idx="2">
            <a:schemeClr val="accent1"/>
          </a:lnRef>
          <a:fillRef idx="0">
            <a:schemeClr val="accent1"/>
          </a:fillRef>
          <a:effectRef idx="1">
            <a:schemeClr val="accent1"/>
          </a:effectRef>
          <a:fontRef idx="minor">
            <a:schemeClr val="tx1"/>
          </a:fontRef>
        </p:style>
      </p:cxnSp>
      <p:sp>
        <p:nvSpPr>
          <p:cNvPr id="126" name="TextBox 125"/>
          <p:cNvSpPr txBox="1"/>
          <p:nvPr/>
        </p:nvSpPr>
        <p:spPr>
          <a:xfrm>
            <a:off x="10535412" y="2039112"/>
            <a:ext cx="395478" cy="256032"/>
          </a:xfrm>
          <a:prstGeom prst="rect">
            <a:avLst/>
          </a:prstGeom>
          <a:noFill/>
        </p:spPr>
        <p:txBody>
          <a:bodyPr wrap="none" lIns="0" rIns="0" tIns="0" bIns="0">
            <a:spAutoFit/>
          </a:bodyPr>
          <a:lstStyle/>
          <a:p>
            <a:pPr algn="ctr">
              <a:lnSpc>
                <a:spcPts val="2240"/>
              </a:lnSpc>
              <a:spcAft>
                <a:spcPts val="0"/>
              </a:spcAft>
              <a:defRPr sz="2000" b="0">
                <a:solidFill>
                  <a:srgbClr val="182B3A"/>
                </a:solidFill>
                <a:latin typeface="Arial"/>
              </a:defRPr>
            </a:pPr>
            <a:r>
              <a:t>12</a:t>
            </a:r>
          </a:p>
        </p:txBody>
      </p:sp>
      <p:sp>
        <p:nvSpPr>
          <p:cNvPr id="127" name="TextBox 126"/>
          <p:cNvSpPr txBox="1"/>
          <p:nvPr/>
        </p:nvSpPr>
        <p:spPr>
          <a:xfrm>
            <a:off x="10985754" y="1874519"/>
            <a:ext cx="389381" cy="347472"/>
          </a:xfrm>
          <a:prstGeom prst="rect">
            <a:avLst/>
          </a:prstGeom>
          <a:noFill/>
        </p:spPr>
        <p:txBody>
          <a:bodyPr wrap="none" lIns="0" rIns="0" tIns="0" bIns="0">
            <a:spAutoFit/>
          </a:bodyPr>
          <a:lstStyle/>
          <a:p>
            <a:pPr algn="l">
              <a:lnSpc>
                <a:spcPts val="2800"/>
              </a:lnSpc>
              <a:spcAft>
                <a:spcPts val="0"/>
              </a:spcAft>
              <a:defRPr sz="2500" b="0">
                <a:solidFill>
                  <a:srgbClr val="182B3A"/>
                </a:solidFill>
                <a:latin typeface="Arial"/>
              </a:defRPr>
            </a:pPr>
            <a:r>
              <a:t> + </a:t>
            </a:r>
          </a:p>
        </p:txBody>
      </p:sp>
      <p:sp>
        <p:nvSpPr>
          <p:cNvPr id="128" name="TextBox 127"/>
          <p:cNvSpPr txBox="1"/>
          <p:nvPr/>
        </p:nvSpPr>
        <p:spPr>
          <a:xfrm>
            <a:off x="11375136" y="1755648"/>
            <a:ext cx="252603" cy="256032"/>
          </a:xfrm>
          <a:prstGeom prst="rect">
            <a:avLst/>
          </a:prstGeom>
          <a:noFill/>
        </p:spPr>
        <p:txBody>
          <a:bodyPr wrap="none" lIns="0" rIns="0" tIns="0" bIns="0">
            <a:spAutoFit/>
          </a:bodyPr>
          <a:lstStyle/>
          <a:p>
            <a:pPr algn="ctr">
              <a:lnSpc>
                <a:spcPts val="2240"/>
              </a:lnSpc>
              <a:spcAft>
                <a:spcPts val="0"/>
              </a:spcAft>
              <a:defRPr sz="2000" b="0">
                <a:solidFill>
                  <a:srgbClr val="182B3A"/>
                </a:solidFill>
                <a:latin typeface="Arial"/>
              </a:defRPr>
            </a:pPr>
            <a:r>
              <a:t>3</a:t>
            </a:r>
          </a:p>
        </p:txBody>
      </p:sp>
      <p:cxnSp>
        <p:nvCxnSpPr>
          <p:cNvPr id="129" name="Connector 128"/>
          <p:cNvCxnSpPr/>
          <p:nvPr/>
        </p:nvCxnSpPr>
        <p:spPr>
          <a:xfrm>
            <a:off x="11375136" y="2020824"/>
            <a:ext cx="252603" cy="0"/>
          </a:xfrm>
          <a:prstGeom prst="line">
            <a:avLst/>
          </a:prstGeom>
          <a:ln w="12700">
            <a:solidFill>
              <a:srgbClr val="182B3A"/>
            </a:solidFill>
          </a:ln>
          <a:effectLst/>
        </p:spPr>
        <p:style>
          <a:lnRef idx="2">
            <a:schemeClr val="accent1"/>
          </a:lnRef>
          <a:fillRef idx="0">
            <a:schemeClr val="accent1"/>
          </a:fillRef>
          <a:effectRef idx="1">
            <a:schemeClr val="accent1"/>
          </a:effectRef>
          <a:fontRef idx="minor">
            <a:schemeClr val="tx1"/>
          </a:fontRef>
        </p:style>
      </p:cxnSp>
      <p:sp>
        <p:nvSpPr>
          <p:cNvPr id="130" name="TextBox 129"/>
          <p:cNvSpPr txBox="1"/>
          <p:nvPr/>
        </p:nvSpPr>
        <p:spPr>
          <a:xfrm>
            <a:off x="11375136" y="2039112"/>
            <a:ext cx="252603" cy="256032"/>
          </a:xfrm>
          <a:prstGeom prst="rect">
            <a:avLst/>
          </a:prstGeom>
          <a:noFill/>
        </p:spPr>
        <p:txBody>
          <a:bodyPr wrap="none" lIns="0" rIns="0" tIns="0" bIns="0">
            <a:spAutoFit/>
          </a:bodyPr>
          <a:lstStyle/>
          <a:p>
            <a:pPr algn="ctr">
              <a:lnSpc>
                <a:spcPts val="2240"/>
              </a:lnSpc>
              <a:spcAft>
                <a:spcPts val="0"/>
              </a:spcAft>
              <a:defRPr sz="2000" b="0">
                <a:solidFill>
                  <a:srgbClr val="182B3A"/>
                </a:solidFill>
                <a:latin typeface="Arial"/>
              </a:defRPr>
            </a:pPr>
            <a:r>
              <a:t>8</a:t>
            </a:r>
          </a:p>
        </p:txBody>
      </p:sp>
      <p:sp>
        <p:nvSpPr>
          <p:cNvPr id="131" name="Rectangle 130"/>
          <p:cNvSpPr/>
          <p:nvPr/>
        </p:nvSpPr>
        <p:spPr>
          <a:xfrm>
            <a:off x="9646920" y="2587752"/>
            <a:ext cx="4640580" cy="1005840"/>
          </a:xfrm>
          <a:prstGeom prst="rect">
            <a:avLst/>
          </a:prstGeom>
          <a:solidFill>
            <a:srgbClr val="F5F0F7"/>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2" name="TextBox 131"/>
          <p:cNvSpPr txBox="1"/>
          <p:nvPr/>
        </p:nvSpPr>
        <p:spPr>
          <a:xfrm>
            <a:off x="9738360" y="2843784"/>
            <a:ext cx="320040" cy="365760"/>
          </a:xfrm>
          <a:prstGeom prst="rect">
            <a:avLst/>
          </a:prstGeom>
          <a:noFill/>
        </p:spPr>
        <p:txBody>
          <a:bodyPr wrap="square" lIns="54864" rIns="54864" tIns="22860" bIns="22860">
            <a:spAutoFit/>
          </a:bodyPr>
          <a:lstStyle/>
          <a:p>
            <a:pPr>
              <a:lnSpc>
                <a:spcPts val="2205"/>
              </a:lnSpc>
              <a:spcBef>
                <a:spcPts val="0"/>
              </a:spcBef>
              <a:spcAft>
                <a:spcPts val="0"/>
              </a:spcAft>
              <a:defRPr sz="2100" b="1">
                <a:solidFill>
                  <a:srgbClr val="182B3A"/>
                </a:solidFill>
                <a:latin typeface="Arial"/>
              </a:defRPr>
            </a:pPr>
            <a:r>
              <a:t>2.</a:t>
            </a:r>
          </a:p>
        </p:txBody>
      </p:sp>
      <p:sp>
        <p:nvSpPr>
          <p:cNvPr id="133" name="TextBox 132"/>
          <p:cNvSpPr txBox="1"/>
          <p:nvPr/>
        </p:nvSpPr>
        <p:spPr>
          <a:xfrm>
            <a:off x="10241280" y="2761488"/>
            <a:ext cx="252603" cy="256032"/>
          </a:xfrm>
          <a:prstGeom prst="rect">
            <a:avLst/>
          </a:prstGeom>
          <a:noFill/>
        </p:spPr>
        <p:txBody>
          <a:bodyPr wrap="none" lIns="0" rIns="0" tIns="0" bIns="0">
            <a:spAutoFit/>
          </a:bodyPr>
          <a:lstStyle/>
          <a:p>
            <a:pPr algn="ctr">
              <a:lnSpc>
                <a:spcPts val="2240"/>
              </a:lnSpc>
              <a:spcAft>
                <a:spcPts val="0"/>
              </a:spcAft>
              <a:defRPr sz="2000" b="0">
                <a:solidFill>
                  <a:srgbClr val="182B3A"/>
                </a:solidFill>
                <a:latin typeface="Arial"/>
              </a:defRPr>
            </a:pPr>
            <a:r>
              <a:t>5</a:t>
            </a:r>
          </a:p>
        </p:txBody>
      </p:sp>
      <p:cxnSp>
        <p:nvCxnSpPr>
          <p:cNvPr id="134" name="Connector 133"/>
          <p:cNvCxnSpPr/>
          <p:nvPr/>
        </p:nvCxnSpPr>
        <p:spPr>
          <a:xfrm>
            <a:off x="10241280" y="3026664"/>
            <a:ext cx="252603" cy="0"/>
          </a:xfrm>
          <a:prstGeom prst="line">
            <a:avLst/>
          </a:prstGeom>
          <a:ln w="12700">
            <a:solidFill>
              <a:srgbClr val="182B3A"/>
            </a:solidFill>
          </a:ln>
          <a:effectLst/>
        </p:spPr>
        <p:style>
          <a:lnRef idx="2">
            <a:schemeClr val="accent1"/>
          </a:lnRef>
          <a:fillRef idx="0">
            <a:schemeClr val="accent1"/>
          </a:fillRef>
          <a:effectRef idx="1">
            <a:schemeClr val="accent1"/>
          </a:effectRef>
          <a:fontRef idx="minor">
            <a:schemeClr val="tx1"/>
          </a:fontRef>
        </p:style>
      </p:cxnSp>
      <p:sp>
        <p:nvSpPr>
          <p:cNvPr id="135" name="TextBox 134"/>
          <p:cNvSpPr txBox="1"/>
          <p:nvPr/>
        </p:nvSpPr>
        <p:spPr>
          <a:xfrm>
            <a:off x="10241280" y="3044952"/>
            <a:ext cx="252603" cy="256032"/>
          </a:xfrm>
          <a:prstGeom prst="rect">
            <a:avLst/>
          </a:prstGeom>
          <a:noFill/>
        </p:spPr>
        <p:txBody>
          <a:bodyPr wrap="none" lIns="0" rIns="0" tIns="0" bIns="0">
            <a:spAutoFit/>
          </a:bodyPr>
          <a:lstStyle/>
          <a:p>
            <a:pPr algn="ctr">
              <a:lnSpc>
                <a:spcPts val="2240"/>
              </a:lnSpc>
              <a:spcAft>
                <a:spcPts val="0"/>
              </a:spcAft>
              <a:defRPr sz="2000" b="0">
                <a:solidFill>
                  <a:srgbClr val="182B3A"/>
                </a:solidFill>
                <a:latin typeface="Arial"/>
              </a:defRPr>
            </a:pPr>
            <a:r>
              <a:t>6</a:t>
            </a:r>
          </a:p>
        </p:txBody>
      </p:sp>
      <p:sp>
        <p:nvSpPr>
          <p:cNvPr id="136" name="TextBox 135"/>
          <p:cNvSpPr txBox="1"/>
          <p:nvPr/>
        </p:nvSpPr>
        <p:spPr>
          <a:xfrm>
            <a:off x="10548747" y="2880360"/>
            <a:ext cx="389381" cy="347472"/>
          </a:xfrm>
          <a:prstGeom prst="rect">
            <a:avLst/>
          </a:prstGeom>
          <a:noFill/>
        </p:spPr>
        <p:txBody>
          <a:bodyPr wrap="none" lIns="0" rIns="0" tIns="0" bIns="0">
            <a:spAutoFit/>
          </a:bodyPr>
          <a:lstStyle/>
          <a:p>
            <a:pPr algn="l">
              <a:lnSpc>
                <a:spcPts val="2800"/>
              </a:lnSpc>
              <a:spcAft>
                <a:spcPts val="0"/>
              </a:spcAft>
              <a:defRPr sz="2500" b="0">
                <a:solidFill>
                  <a:srgbClr val="182B3A"/>
                </a:solidFill>
                <a:latin typeface="Arial"/>
              </a:defRPr>
            </a:pPr>
            <a:r>
              <a:t> − </a:t>
            </a:r>
          </a:p>
        </p:txBody>
      </p:sp>
      <p:sp>
        <p:nvSpPr>
          <p:cNvPr id="137" name="TextBox 136"/>
          <p:cNvSpPr txBox="1"/>
          <p:nvPr/>
        </p:nvSpPr>
        <p:spPr>
          <a:xfrm>
            <a:off x="10938129" y="2761488"/>
            <a:ext cx="252603" cy="256032"/>
          </a:xfrm>
          <a:prstGeom prst="rect">
            <a:avLst/>
          </a:prstGeom>
          <a:noFill/>
        </p:spPr>
        <p:txBody>
          <a:bodyPr wrap="none" lIns="0" rIns="0" tIns="0" bIns="0">
            <a:spAutoFit/>
          </a:bodyPr>
          <a:lstStyle/>
          <a:p>
            <a:pPr algn="ctr">
              <a:lnSpc>
                <a:spcPts val="2240"/>
              </a:lnSpc>
              <a:spcAft>
                <a:spcPts val="0"/>
              </a:spcAft>
              <a:defRPr sz="2000" b="0">
                <a:solidFill>
                  <a:srgbClr val="182B3A"/>
                </a:solidFill>
                <a:latin typeface="Arial"/>
              </a:defRPr>
            </a:pPr>
            <a:r>
              <a:t>4</a:t>
            </a:r>
          </a:p>
        </p:txBody>
      </p:sp>
      <p:cxnSp>
        <p:nvCxnSpPr>
          <p:cNvPr id="138" name="Connector 137"/>
          <p:cNvCxnSpPr/>
          <p:nvPr/>
        </p:nvCxnSpPr>
        <p:spPr>
          <a:xfrm>
            <a:off x="10938129" y="3026664"/>
            <a:ext cx="252603" cy="0"/>
          </a:xfrm>
          <a:prstGeom prst="line">
            <a:avLst/>
          </a:prstGeom>
          <a:ln w="12700">
            <a:solidFill>
              <a:srgbClr val="182B3A"/>
            </a:solidFill>
          </a:ln>
          <a:effectLst/>
        </p:spPr>
        <p:style>
          <a:lnRef idx="2">
            <a:schemeClr val="accent1"/>
          </a:lnRef>
          <a:fillRef idx="0">
            <a:schemeClr val="accent1"/>
          </a:fillRef>
          <a:effectRef idx="1">
            <a:schemeClr val="accent1"/>
          </a:effectRef>
          <a:fontRef idx="minor">
            <a:schemeClr val="tx1"/>
          </a:fontRef>
        </p:style>
      </p:cxnSp>
      <p:sp>
        <p:nvSpPr>
          <p:cNvPr id="139" name="TextBox 138"/>
          <p:cNvSpPr txBox="1"/>
          <p:nvPr/>
        </p:nvSpPr>
        <p:spPr>
          <a:xfrm>
            <a:off x="10938129" y="3044952"/>
            <a:ext cx="252603" cy="256032"/>
          </a:xfrm>
          <a:prstGeom prst="rect">
            <a:avLst/>
          </a:prstGeom>
          <a:noFill/>
        </p:spPr>
        <p:txBody>
          <a:bodyPr wrap="none" lIns="0" rIns="0" tIns="0" bIns="0">
            <a:spAutoFit/>
          </a:bodyPr>
          <a:lstStyle/>
          <a:p>
            <a:pPr algn="ctr">
              <a:lnSpc>
                <a:spcPts val="2240"/>
              </a:lnSpc>
              <a:spcAft>
                <a:spcPts val="0"/>
              </a:spcAft>
              <a:defRPr sz="2000" b="0">
                <a:solidFill>
                  <a:srgbClr val="182B3A"/>
                </a:solidFill>
                <a:latin typeface="Arial"/>
              </a:defRPr>
            </a:pPr>
            <a:r>
              <a:t>5</a:t>
            </a:r>
          </a:p>
        </p:txBody>
      </p:sp>
      <p:sp>
        <p:nvSpPr>
          <p:cNvPr id="140" name="Rectangle 139"/>
          <p:cNvSpPr/>
          <p:nvPr/>
        </p:nvSpPr>
        <p:spPr>
          <a:xfrm>
            <a:off x="9646920" y="3593592"/>
            <a:ext cx="4640580" cy="1005840"/>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1" name="TextBox 140"/>
          <p:cNvSpPr txBox="1"/>
          <p:nvPr/>
        </p:nvSpPr>
        <p:spPr>
          <a:xfrm>
            <a:off x="9738360" y="3849624"/>
            <a:ext cx="320040" cy="365760"/>
          </a:xfrm>
          <a:prstGeom prst="rect">
            <a:avLst/>
          </a:prstGeom>
          <a:noFill/>
        </p:spPr>
        <p:txBody>
          <a:bodyPr wrap="square" lIns="54864" rIns="54864" tIns="22860" bIns="22860">
            <a:spAutoFit/>
          </a:bodyPr>
          <a:lstStyle/>
          <a:p>
            <a:pPr>
              <a:lnSpc>
                <a:spcPts val="2205"/>
              </a:lnSpc>
              <a:spcBef>
                <a:spcPts val="0"/>
              </a:spcBef>
              <a:spcAft>
                <a:spcPts val="0"/>
              </a:spcAft>
              <a:defRPr sz="2100" b="1">
                <a:solidFill>
                  <a:srgbClr val="182B3A"/>
                </a:solidFill>
                <a:latin typeface="Arial"/>
              </a:defRPr>
            </a:pPr>
            <a:r>
              <a:t>3.</a:t>
            </a:r>
          </a:p>
        </p:txBody>
      </p:sp>
      <p:sp>
        <p:nvSpPr>
          <p:cNvPr id="142" name="TextBox 141"/>
          <p:cNvSpPr txBox="1"/>
          <p:nvPr/>
        </p:nvSpPr>
        <p:spPr>
          <a:xfrm>
            <a:off x="10241280" y="3886200"/>
            <a:ext cx="294132" cy="347472"/>
          </a:xfrm>
          <a:prstGeom prst="rect">
            <a:avLst/>
          </a:prstGeom>
          <a:noFill/>
        </p:spPr>
        <p:txBody>
          <a:bodyPr wrap="none" lIns="0" rIns="0" tIns="0" bIns="0">
            <a:spAutoFit/>
          </a:bodyPr>
          <a:lstStyle/>
          <a:p>
            <a:pPr algn="l">
              <a:lnSpc>
                <a:spcPts val="2800"/>
              </a:lnSpc>
              <a:spcAft>
                <a:spcPts val="0"/>
              </a:spcAft>
              <a:defRPr sz="2500" b="0">
                <a:solidFill>
                  <a:srgbClr val="182B3A"/>
                </a:solidFill>
                <a:latin typeface="Arial"/>
              </a:defRPr>
            </a:pPr>
            <a:r>
              <a:t>1 </a:t>
            </a:r>
          </a:p>
        </p:txBody>
      </p:sp>
      <p:sp>
        <p:nvSpPr>
          <p:cNvPr id="143" name="TextBox 142"/>
          <p:cNvSpPr txBox="1"/>
          <p:nvPr/>
        </p:nvSpPr>
        <p:spPr>
          <a:xfrm>
            <a:off x="10535412" y="3767328"/>
            <a:ext cx="252603" cy="256032"/>
          </a:xfrm>
          <a:prstGeom prst="rect">
            <a:avLst/>
          </a:prstGeom>
          <a:noFill/>
        </p:spPr>
        <p:txBody>
          <a:bodyPr wrap="none" lIns="0" rIns="0" tIns="0" bIns="0">
            <a:spAutoFit/>
          </a:bodyPr>
          <a:lstStyle/>
          <a:p>
            <a:pPr algn="ctr">
              <a:lnSpc>
                <a:spcPts val="2240"/>
              </a:lnSpc>
              <a:spcAft>
                <a:spcPts val="0"/>
              </a:spcAft>
              <a:defRPr sz="2000" b="0">
                <a:solidFill>
                  <a:srgbClr val="182B3A"/>
                </a:solidFill>
                <a:latin typeface="Arial"/>
              </a:defRPr>
            </a:pPr>
            <a:r>
              <a:t>1</a:t>
            </a:r>
          </a:p>
        </p:txBody>
      </p:sp>
      <p:cxnSp>
        <p:nvCxnSpPr>
          <p:cNvPr id="144" name="Connector 143"/>
          <p:cNvCxnSpPr/>
          <p:nvPr/>
        </p:nvCxnSpPr>
        <p:spPr>
          <a:xfrm>
            <a:off x="10535412" y="4032504"/>
            <a:ext cx="252603" cy="0"/>
          </a:xfrm>
          <a:prstGeom prst="line">
            <a:avLst/>
          </a:prstGeom>
          <a:ln w="12700">
            <a:solidFill>
              <a:srgbClr val="182B3A"/>
            </a:solidFill>
          </a:ln>
          <a:effectLst/>
        </p:spPr>
        <p:style>
          <a:lnRef idx="2">
            <a:schemeClr val="accent1"/>
          </a:lnRef>
          <a:fillRef idx="0">
            <a:schemeClr val="accent1"/>
          </a:fillRef>
          <a:effectRef idx="1">
            <a:schemeClr val="accent1"/>
          </a:effectRef>
          <a:fontRef idx="minor">
            <a:schemeClr val="tx1"/>
          </a:fontRef>
        </p:style>
      </p:cxnSp>
      <p:sp>
        <p:nvSpPr>
          <p:cNvPr id="145" name="TextBox 144"/>
          <p:cNvSpPr txBox="1"/>
          <p:nvPr/>
        </p:nvSpPr>
        <p:spPr>
          <a:xfrm>
            <a:off x="10535412" y="4050791"/>
            <a:ext cx="252603" cy="256032"/>
          </a:xfrm>
          <a:prstGeom prst="rect">
            <a:avLst/>
          </a:prstGeom>
          <a:noFill/>
        </p:spPr>
        <p:txBody>
          <a:bodyPr wrap="none" lIns="0" rIns="0" tIns="0" bIns="0">
            <a:spAutoFit/>
          </a:bodyPr>
          <a:lstStyle/>
          <a:p>
            <a:pPr algn="ctr">
              <a:lnSpc>
                <a:spcPts val="2240"/>
              </a:lnSpc>
              <a:spcAft>
                <a:spcPts val="0"/>
              </a:spcAft>
              <a:defRPr sz="2000" b="0">
                <a:solidFill>
                  <a:srgbClr val="182B3A"/>
                </a:solidFill>
                <a:latin typeface="Arial"/>
              </a:defRPr>
            </a:pPr>
            <a:r>
              <a:t>6</a:t>
            </a:r>
          </a:p>
        </p:txBody>
      </p:sp>
      <p:sp>
        <p:nvSpPr>
          <p:cNvPr id="146" name="TextBox 145"/>
          <p:cNvSpPr txBox="1"/>
          <p:nvPr/>
        </p:nvSpPr>
        <p:spPr>
          <a:xfrm>
            <a:off x="10842879" y="3886200"/>
            <a:ext cx="389381" cy="347472"/>
          </a:xfrm>
          <a:prstGeom prst="rect">
            <a:avLst/>
          </a:prstGeom>
          <a:noFill/>
        </p:spPr>
        <p:txBody>
          <a:bodyPr wrap="none" lIns="0" rIns="0" tIns="0" bIns="0">
            <a:spAutoFit/>
          </a:bodyPr>
          <a:lstStyle/>
          <a:p>
            <a:pPr algn="l">
              <a:lnSpc>
                <a:spcPts val="2800"/>
              </a:lnSpc>
              <a:spcAft>
                <a:spcPts val="0"/>
              </a:spcAft>
              <a:defRPr sz="2500" b="0">
                <a:solidFill>
                  <a:srgbClr val="182B3A"/>
                </a:solidFill>
                <a:latin typeface="Arial"/>
              </a:defRPr>
            </a:pPr>
            <a:r>
              <a:t> − </a:t>
            </a:r>
          </a:p>
        </p:txBody>
      </p:sp>
      <p:sp>
        <p:nvSpPr>
          <p:cNvPr id="147" name="TextBox 146"/>
          <p:cNvSpPr txBox="1"/>
          <p:nvPr/>
        </p:nvSpPr>
        <p:spPr>
          <a:xfrm>
            <a:off x="11232261" y="3767328"/>
            <a:ext cx="252603" cy="256032"/>
          </a:xfrm>
          <a:prstGeom prst="rect">
            <a:avLst/>
          </a:prstGeom>
          <a:noFill/>
        </p:spPr>
        <p:txBody>
          <a:bodyPr wrap="none" lIns="0" rIns="0" tIns="0" bIns="0">
            <a:spAutoFit/>
          </a:bodyPr>
          <a:lstStyle/>
          <a:p>
            <a:pPr algn="ctr">
              <a:lnSpc>
                <a:spcPts val="2240"/>
              </a:lnSpc>
              <a:spcAft>
                <a:spcPts val="0"/>
              </a:spcAft>
              <a:defRPr sz="2000" b="0">
                <a:solidFill>
                  <a:srgbClr val="182B3A"/>
                </a:solidFill>
                <a:latin typeface="Arial"/>
              </a:defRPr>
            </a:pPr>
            <a:r>
              <a:t>3</a:t>
            </a:r>
          </a:p>
        </p:txBody>
      </p:sp>
      <p:cxnSp>
        <p:nvCxnSpPr>
          <p:cNvPr id="148" name="Connector 147"/>
          <p:cNvCxnSpPr/>
          <p:nvPr/>
        </p:nvCxnSpPr>
        <p:spPr>
          <a:xfrm>
            <a:off x="11232261" y="4032504"/>
            <a:ext cx="252603" cy="0"/>
          </a:xfrm>
          <a:prstGeom prst="line">
            <a:avLst/>
          </a:prstGeom>
          <a:ln w="12700">
            <a:solidFill>
              <a:srgbClr val="182B3A"/>
            </a:solidFill>
          </a:ln>
          <a:effectLst/>
        </p:spPr>
        <p:style>
          <a:lnRef idx="2">
            <a:schemeClr val="accent1"/>
          </a:lnRef>
          <a:fillRef idx="0">
            <a:schemeClr val="accent1"/>
          </a:fillRef>
          <a:effectRef idx="1">
            <a:schemeClr val="accent1"/>
          </a:effectRef>
          <a:fontRef idx="minor">
            <a:schemeClr val="tx1"/>
          </a:fontRef>
        </p:style>
      </p:cxnSp>
      <p:sp>
        <p:nvSpPr>
          <p:cNvPr id="149" name="TextBox 148"/>
          <p:cNvSpPr txBox="1"/>
          <p:nvPr/>
        </p:nvSpPr>
        <p:spPr>
          <a:xfrm>
            <a:off x="11232261" y="4050791"/>
            <a:ext cx="252603" cy="256032"/>
          </a:xfrm>
          <a:prstGeom prst="rect">
            <a:avLst/>
          </a:prstGeom>
          <a:noFill/>
        </p:spPr>
        <p:txBody>
          <a:bodyPr wrap="none" lIns="0" rIns="0" tIns="0" bIns="0">
            <a:spAutoFit/>
          </a:bodyPr>
          <a:lstStyle/>
          <a:p>
            <a:pPr algn="ctr">
              <a:lnSpc>
                <a:spcPts val="2240"/>
              </a:lnSpc>
              <a:spcAft>
                <a:spcPts val="0"/>
              </a:spcAft>
              <a:defRPr sz="2000" b="0">
                <a:solidFill>
                  <a:srgbClr val="182B3A"/>
                </a:solidFill>
                <a:latin typeface="Arial"/>
              </a:defRPr>
            </a:pPr>
            <a:r>
              <a:t>8</a:t>
            </a:r>
          </a:p>
        </p:txBody>
      </p:sp>
      <p:sp>
        <p:nvSpPr>
          <p:cNvPr id="150" name="Rectangle 149"/>
          <p:cNvSpPr/>
          <p:nvPr/>
        </p:nvSpPr>
        <p:spPr>
          <a:xfrm>
            <a:off x="9646920" y="4599432"/>
            <a:ext cx="4640580" cy="1005840"/>
          </a:xfrm>
          <a:prstGeom prst="rect">
            <a:avLst/>
          </a:prstGeom>
          <a:solidFill>
            <a:srgbClr val="F5F0F7"/>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1" name="TextBox 150"/>
          <p:cNvSpPr txBox="1"/>
          <p:nvPr/>
        </p:nvSpPr>
        <p:spPr>
          <a:xfrm>
            <a:off x="9738360" y="4855464"/>
            <a:ext cx="320040" cy="365760"/>
          </a:xfrm>
          <a:prstGeom prst="rect">
            <a:avLst/>
          </a:prstGeom>
          <a:noFill/>
        </p:spPr>
        <p:txBody>
          <a:bodyPr wrap="square" lIns="54864" rIns="54864" tIns="22860" bIns="22860">
            <a:spAutoFit/>
          </a:bodyPr>
          <a:lstStyle/>
          <a:p>
            <a:pPr>
              <a:lnSpc>
                <a:spcPts val="2205"/>
              </a:lnSpc>
              <a:spcBef>
                <a:spcPts val="0"/>
              </a:spcBef>
              <a:spcAft>
                <a:spcPts val="0"/>
              </a:spcAft>
              <a:defRPr sz="2100" b="1">
                <a:solidFill>
                  <a:srgbClr val="182B3A"/>
                </a:solidFill>
                <a:latin typeface="Arial"/>
              </a:defRPr>
            </a:pPr>
            <a:r>
              <a:t>4.</a:t>
            </a:r>
          </a:p>
        </p:txBody>
      </p:sp>
      <p:sp>
        <p:nvSpPr>
          <p:cNvPr id="152" name="TextBox 151"/>
          <p:cNvSpPr txBox="1"/>
          <p:nvPr/>
        </p:nvSpPr>
        <p:spPr>
          <a:xfrm>
            <a:off x="10241280" y="4892040"/>
            <a:ext cx="294132" cy="347472"/>
          </a:xfrm>
          <a:prstGeom prst="rect">
            <a:avLst/>
          </a:prstGeom>
          <a:noFill/>
        </p:spPr>
        <p:txBody>
          <a:bodyPr wrap="none" lIns="0" rIns="0" tIns="0" bIns="0">
            <a:spAutoFit/>
          </a:bodyPr>
          <a:lstStyle/>
          <a:p>
            <a:pPr algn="l">
              <a:lnSpc>
                <a:spcPts val="2800"/>
              </a:lnSpc>
              <a:spcAft>
                <a:spcPts val="0"/>
              </a:spcAft>
              <a:defRPr sz="2500" b="0">
                <a:solidFill>
                  <a:srgbClr val="182B3A"/>
                </a:solidFill>
                <a:latin typeface="Arial"/>
              </a:defRPr>
            </a:pPr>
            <a:r>
              <a:t>1 </a:t>
            </a:r>
          </a:p>
        </p:txBody>
      </p:sp>
      <p:sp>
        <p:nvSpPr>
          <p:cNvPr id="153" name="TextBox 152"/>
          <p:cNvSpPr txBox="1"/>
          <p:nvPr/>
        </p:nvSpPr>
        <p:spPr>
          <a:xfrm>
            <a:off x="10535412" y="4773168"/>
            <a:ext cx="252603" cy="256032"/>
          </a:xfrm>
          <a:prstGeom prst="rect">
            <a:avLst/>
          </a:prstGeom>
          <a:noFill/>
        </p:spPr>
        <p:txBody>
          <a:bodyPr wrap="none" lIns="0" rIns="0" tIns="0" bIns="0">
            <a:spAutoFit/>
          </a:bodyPr>
          <a:lstStyle/>
          <a:p>
            <a:pPr algn="ctr">
              <a:lnSpc>
                <a:spcPts val="2240"/>
              </a:lnSpc>
              <a:spcAft>
                <a:spcPts val="0"/>
              </a:spcAft>
              <a:defRPr sz="2000" b="0">
                <a:solidFill>
                  <a:srgbClr val="182B3A"/>
                </a:solidFill>
                <a:latin typeface="Arial"/>
              </a:defRPr>
            </a:pPr>
            <a:r>
              <a:t>1</a:t>
            </a:r>
          </a:p>
        </p:txBody>
      </p:sp>
      <p:cxnSp>
        <p:nvCxnSpPr>
          <p:cNvPr id="154" name="Connector 153"/>
          <p:cNvCxnSpPr/>
          <p:nvPr/>
        </p:nvCxnSpPr>
        <p:spPr>
          <a:xfrm>
            <a:off x="10535412" y="5038344"/>
            <a:ext cx="252603" cy="0"/>
          </a:xfrm>
          <a:prstGeom prst="line">
            <a:avLst/>
          </a:prstGeom>
          <a:ln w="12700">
            <a:solidFill>
              <a:srgbClr val="182B3A"/>
            </a:solidFill>
          </a:ln>
          <a:effectLst/>
        </p:spPr>
        <p:style>
          <a:lnRef idx="2">
            <a:schemeClr val="accent1"/>
          </a:lnRef>
          <a:fillRef idx="0">
            <a:schemeClr val="accent1"/>
          </a:fillRef>
          <a:effectRef idx="1">
            <a:schemeClr val="accent1"/>
          </a:effectRef>
          <a:fontRef idx="minor">
            <a:schemeClr val="tx1"/>
          </a:fontRef>
        </p:style>
      </p:cxnSp>
      <p:sp>
        <p:nvSpPr>
          <p:cNvPr id="155" name="TextBox 154"/>
          <p:cNvSpPr txBox="1"/>
          <p:nvPr/>
        </p:nvSpPr>
        <p:spPr>
          <a:xfrm>
            <a:off x="10535412" y="5056632"/>
            <a:ext cx="252603" cy="256032"/>
          </a:xfrm>
          <a:prstGeom prst="rect">
            <a:avLst/>
          </a:prstGeom>
          <a:noFill/>
        </p:spPr>
        <p:txBody>
          <a:bodyPr wrap="none" lIns="0" rIns="0" tIns="0" bIns="0">
            <a:spAutoFit/>
          </a:bodyPr>
          <a:lstStyle/>
          <a:p>
            <a:pPr algn="ctr">
              <a:lnSpc>
                <a:spcPts val="2240"/>
              </a:lnSpc>
              <a:spcAft>
                <a:spcPts val="0"/>
              </a:spcAft>
              <a:defRPr sz="2000" b="0">
                <a:solidFill>
                  <a:srgbClr val="182B3A"/>
                </a:solidFill>
                <a:latin typeface="Arial"/>
              </a:defRPr>
            </a:pPr>
            <a:r>
              <a:t>6</a:t>
            </a:r>
          </a:p>
        </p:txBody>
      </p:sp>
      <p:sp>
        <p:nvSpPr>
          <p:cNvPr id="156" name="TextBox 155"/>
          <p:cNvSpPr txBox="1"/>
          <p:nvPr/>
        </p:nvSpPr>
        <p:spPr>
          <a:xfrm>
            <a:off x="10842879" y="4892040"/>
            <a:ext cx="389381" cy="347472"/>
          </a:xfrm>
          <a:prstGeom prst="rect">
            <a:avLst/>
          </a:prstGeom>
          <a:noFill/>
        </p:spPr>
        <p:txBody>
          <a:bodyPr wrap="none" lIns="0" rIns="0" tIns="0" bIns="0">
            <a:spAutoFit/>
          </a:bodyPr>
          <a:lstStyle/>
          <a:p>
            <a:pPr algn="l">
              <a:lnSpc>
                <a:spcPts val="2800"/>
              </a:lnSpc>
              <a:spcAft>
                <a:spcPts val="0"/>
              </a:spcAft>
              <a:defRPr sz="2500" b="0">
                <a:solidFill>
                  <a:srgbClr val="182B3A"/>
                </a:solidFill>
                <a:latin typeface="Arial"/>
              </a:defRPr>
            </a:pPr>
            <a:r>
              <a:t> + </a:t>
            </a:r>
          </a:p>
        </p:txBody>
      </p:sp>
      <p:sp>
        <p:nvSpPr>
          <p:cNvPr id="157" name="TextBox 156"/>
          <p:cNvSpPr txBox="1"/>
          <p:nvPr/>
        </p:nvSpPr>
        <p:spPr>
          <a:xfrm>
            <a:off x="11232261" y="4773168"/>
            <a:ext cx="252603" cy="256032"/>
          </a:xfrm>
          <a:prstGeom prst="rect">
            <a:avLst/>
          </a:prstGeom>
          <a:noFill/>
        </p:spPr>
        <p:txBody>
          <a:bodyPr wrap="none" lIns="0" rIns="0" tIns="0" bIns="0">
            <a:spAutoFit/>
          </a:bodyPr>
          <a:lstStyle/>
          <a:p>
            <a:pPr algn="ctr">
              <a:lnSpc>
                <a:spcPts val="2240"/>
              </a:lnSpc>
              <a:spcAft>
                <a:spcPts val="0"/>
              </a:spcAft>
              <a:defRPr sz="2000" b="0">
                <a:solidFill>
                  <a:srgbClr val="182B3A"/>
                </a:solidFill>
                <a:latin typeface="Arial"/>
              </a:defRPr>
            </a:pPr>
            <a:r>
              <a:t>3</a:t>
            </a:r>
          </a:p>
        </p:txBody>
      </p:sp>
      <p:cxnSp>
        <p:nvCxnSpPr>
          <p:cNvPr id="158" name="Connector 157"/>
          <p:cNvCxnSpPr/>
          <p:nvPr/>
        </p:nvCxnSpPr>
        <p:spPr>
          <a:xfrm>
            <a:off x="11232261" y="5038344"/>
            <a:ext cx="252603" cy="0"/>
          </a:xfrm>
          <a:prstGeom prst="line">
            <a:avLst/>
          </a:prstGeom>
          <a:ln w="12700">
            <a:solidFill>
              <a:srgbClr val="182B3A"/>
            </a:solidFill>
          </a:ln>
          <a:effectLst/>
        </p:spPr>
        <p:style>
          <a:lnRef idx="2">
            <a:schemeClr val="accent1"/>
          </a:lnRef>
          <a:fillRef idx="0">
            <a:schemeClr val="accent1"/>
          </a:fillRef>
          <a:effectRef idx="1">
            <a:schemeClr val="accent1"/>
          </a:effectRef>
          <a:fontRef idx="minor">
            <a:schemeClr val="tx1"/>
          </a:fontRef>
        </p:style>
      </p:cxnSp>
      <p:sp>
        <p:nvSpPr>
          <p:cNvPr id="159" name="TextBox 158"/>
          <p:cNvSpPr txBox="1"/>
          <p:nvPr/>
        </p:nvSpPr>
        <p:spPr>
          <a:xfrm>
            <a:off x="11232261" y="5056632"/>
            <a:ext cx="252603" cy="256032"/>
          </a:xfrm>
          <a:prstGeom prst="rect">
            <a:avLst/>
          </a:prstGeom>
          <a:noFill/>
        </p:spPr>
        <p:txBody>
          <a:bodyPr wrap="none" lIns="0" rIns="0" tIns="0" bIns="0">
            <a:spAutoFit/>
          </a:bodyPr>
          <a:lstStyle/>
          <a:p>
            <a:pPr algn="ctr">
              <a:lnSpc>
                <a:spcPts val="2240"/>
              </a:lnSpc>
              <a:spcAft>
                <a:spcPts val="0"/>
              </a:spcAft>
              <a:defRPr sz="2000" b="0">
                <a:solidFill>
                  <a:srgbClr val="182B3A"/>
                </a:solidFill>
                <a:latin typeface="Arial"/>
              </a:defRPr>
            </a:pPr>
            <a:r>
              <a:t>4</a:t>
            </a:r>
          </a:p>
        </p:txBody>
      </p:sp>
      <p:sp>
        <p:nvSpPr>
          <p:cNvPr id="160" name="Rectangle 159"/>
          <p:cNvSpPr/>
          <p:nvPr/>
        </p:nvSpPr>
        <p:spPr>
          <a:xfrm>
            <a:off x="9646920" y="5605272"/>
            <a:ext cx="4640580" cy="1005840"/>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1" name="TextBox 160"/>
          <p:cNvSpPr txBox="1"/>
          <p:nvPr/>
        </p:nvSpPr>
        <p:spPr>
          <a:xfrm>
            <a:off x="9738360" y="5861304"/>
            <a:ext cx="320040" cy="365760"/>
          </a:xfrm>
          <a:prstGeom prst="rect">
            <a:avLst/>
          </a:prstGeom>
          <a:noFill/>
        </p:spPr>
        <p:txBody>
          <a:bodyPr wrap="square" lIns="54864" rIns="54864" tIns="22860" bIns="22860">
            <a:spAutoFit/>
          </a:bodyPr>
          <a:lstStyle/>
          <a:p>
            <a:pPr>
              <a:lnSpc>
                <a:spcPts val="2205"/>
              </a:lnSpc>
              <a:spcBef>
                <a:spcPts val="0"/>
              </a:spcBef>
              <a:spcAft>
                <a:spcPts val="0"/>
              </a:spcAft>
              <a:defRPr sz="2100" b="1">
                <a:solidFill>
                  <a:srgbClr val="182B3A"/>
                </a:solidFill>
                <a:latin typeface="Arial"/>
              </a:defRPr>
            </a:pPr>
            <a:r>
              <a:t>5.</a:t>
            </a:r>
          </a:p>
        </p:txBody>
      </p:sp>
      <p:sp>
        <p:nvSpPr>
          <p:cNvPr id="162" name="TextBox 161"/>
          <p:cNvSpPr txBox="1"/>
          <p:nvPr/>
        </p:nvSpPr>
        <p:spPr>
          <a:xfrm>
            <a:off x="10241280" y="5779008"/>
            <a:ext cx="252603" cy="256032"/>
          </a:xfrm>
          <a:prstGeom prst="rect">
            <a:avLst/>
          </a:prstGeom>
          <a:noFill/>
        </p:spPr>
        <p:txBody>
          <a:bodyPr wrap="none" lIns="0" rIns="0" tIns="0" bIns="0">
            <a:spAutoFit/>
          </a:bodyPr>
          <a:lstStyle/>
          <a:p>
            <a:pPr algn="ctr">
              <a:lnSpc>
                <a:spcPts val="2240"/>
              </a:lnSpc>
              <a:spcAft>
                <a:spcPts val="0"/>
              </a:spcAft>
              <a:defRPr sz="2000" b="0">
                <a:solidFill>
                  <a:srgbClr val="182B3A"/>
                </a:solidFill>
                <a:latin typeface="Arial"/>
              </a:defRPr>
            </a:pPr>
            <a:r>
              <a:t>1</a:t>
            </a:r>
          </a:p>
        </p:txBody>
      </p:sp>
      <p:cxnSp>
        <p:nvCxnSpPr>
          <p:cNvPr id="163" name="Connector 162"/>
          <p:cNvCxnSpPr/>
          <p:nvPr/>
        </p:nvCxnSpPr>
        <p:spPr>
          <a:xfrm>
            <a:off x="10241280" y="6044184"/>
            <a:ext cx="252603" cy="0"/>
          </a:xfrm>
          <a:prstGeom prst="line">
            <a:avLst/>
          </a:prstGeom>
          <a:ln w="12700">
            <a:solidFill>
              <a:srgbClr val="182B3A"/>
            </a:solidFill>
          </a:ln>
          <a:effectLst/>
        </p:spPr>
        <p:style>
          <a:lnRef idx="2">
            <a:schemeClr val="accent1"/>
          </a:lnRef>
          <a:fillRef idx="0">
            <a:schemeClr val="accent1"/>
          </a:fillRef>
          <a:effectRef idx="1">
            <a:schemeClr val="accent1"/>
          </a:effectRef>
          <a:fontRef idx="minor">
            <a:schemeClr val="tx1"/>
          </a:fontRef>
        </p:style>
      </p:cxnSp>
      <p:sp>
        <p:nvSpPr>
          <p:cNvPr id="164" name="TextBox 163"/>
          <p:cNvSpPr txBox="1"/>
          <p:nvPr/>
        </p:nvSpPr>
        <p:spPr>
          <a:xfrm>
            <a:off x="10241280" y="6062472"/>
            <a:ext cx="252603" cy="256032"/>
          </a:xfrm>
          <a:prstGeom prst="rect">
            <a:avLst/>
          </a:prstGeom>
          <a:noFill/>
        </p:spPr>
        <p:txBody>
          <a:bodyPr wrap="none" lIns="0" rIns="0" tIns="0" bIns="0">
            <a:spAutoFit/>
          </a:bodyPr>
          <a:lstStyle/>
          <a:p>
            <a:pPr algn="ctr">
              <a:lnSpc>
                <a:spcPts val="2240"/>
              </a:lnSpc>
              <a:spcAft>
                <a:spcPts val="0"/>
              </a:spcAft>
              <a:defRPr sz="2000" b="0">
                <a:solidFill>
                  <a:srgbClr val="182B3A"/>
                </a:solidFill>
                <a:latin typeface="Arial"/>
              </a:defRPr>
            </a:pPr>
            <a:r>
              <a:t>3</a:t>
            </a:r>
          </a:p>
        </p:txBody>
      </p:sp>
      <p:sp>
        <p:nvSpPr>
          <p:cNvPr id="165" name="TextBox 164"/>
          <p:cNvSpPr txBox="1"/>
          <p:nvPr/>
        </p:nvSpPr>
        <p:spPr>
          <a:xfrm>
            <a:off x="10548747" y="5897880"/>
            <a:ext cx="389381" cy="347472"/>
          </a:xfrm>
          <a:prstGeom prst="rect">
            <a:avLst/>
          </a:prstGeom>
          <a:noFill/>
        </p:spPr>
        <p:txBody>
          <a:bodyPr wrap="none" lIns="0" rIns="0" tIns="0" bIns="0">
            <a:spAutoFit/>
          </a:bodyPr>
          <a:lstStyle/>
          <a:p>
            <a:pPr algn="l">
              <a:lnSpc>
                <a:spcPts val="2800"/>
              </a:lnSpc>
              <a:spcAft>
                <a:spcPts val="0"/>
              </a:spcAft>
              <a:defRPr sz="2500" b="0">
                <a:solidFill>
                  <a:srgbClr val="182B3A"/>
                </a:solidFill>
                <a:latin typeface="Arial"/>
              </a:defRPr>
            </a:pPr>
            <a:r>
              <a:t> + </a:t>
            </a:r>
          </a:p>
        </p:txBody>
      </p:sp>
      <p:sp>
        <p:nvSpPr>
          <p:cNvPr id="166" name="TextBox 165"/>
          <p:cNvSpPr txBox="1"/>
          <p:nvPr/>
        </p:nvSpPr>
        <p:spPr>
          <a:xfrm>
            <a:off x="10938129" y="5779008"/>
            <a:ext cx="252603" cy="256032"/>
          </a:xfrm>
          <a:prstGeom prst="rect">
            <a:avLst/>
          </a:prstGeom>
          <a:noFill/>
        </p:spPr>
        <p:txBody>
          <a:bodyPr wrap="none" lIns="0" rIns="0" tIns="0" bIns="0">
            <a:spAutoFit/>
          </a:bodyPr>
          <a:lstStyle/>
          <a:p>
            <a:pPr algn="ctr">
              <a:lnSpc>
                <a:spcPts val="2240"/>
              </a:lnSpc>
              <a:spcAft>
                <a:spcPts val="0"/>
              </a:spcAft>
              <a:defRPr sz="2000" b="0">
                <a:solidFill>
                  <a:srgbClr val="182B3A"/>
                </a:solidFill>
                <a:latin typeface="Arial"/>
              </a:defRPr>
            </a:pPr>
            <a:r>
              <a:t>2</a:t>
            </a:r>
          </a:p>
        </p:txBody>
      </p:sp>
      <p:cxnSp>
        <p:nvCxnSpPr>
          <p:cNvPr id="167" name="Connector 166"/>
          <p:cNvCxnSpPr/>
          <p:nvPr/>
        </p:nvCxnSpPr>
        <p:spPr>
          <a:xfrm>
            <a:off x="10938129" y="6044184"/>
            <a:ext cx="252603" cy="0"/>
          </a:xfrm>
          <a:prstGeom prst="line">
            <a:avLst/>
          </a:prstGeom>
          <a:ln w="12700">
            <a:solidFill>
              <a:srgbClr val="182B3A"/>
            </a:solidFill>
          </a:ln>
          <a:effectLst/>
        </p:spPr>
        <p:style>
          <a:lnRef idx="2">
            <a:schemeClr val="accent1"/>
          </a:lnRef>
          <a:fillRef idx="0">
            <a:schemeClr val="accent1"/>
          </a:fillRef>
          <a:effectRef idx="1">
            <a:schemeClr val="accent1"/>
          </a:effectRef>
          <a:fontRef idx="minor">
            <a:schemeClr val="tx1"/>
          </a:fontRef>
        </p:style>
      </p:cxnSp>
      <p:sp>
        <p:nvSpPr>
          <p:cNvPr id="168" name="TextBox 167"/>
          <p:cNvSpPr txBox="1"/>
          <p:nvPr/>
        </p:nvSpPr>
        <p:spPr>
          <a:xfrm>
            <a:off x="10938129" y="6062472"/>
            <a:ext cx="252603" cy="256032"/>
          </a:xfrm>
          <a:prstGeom prst="rect">
            <a:avLst/>
          </a:prstGeom>
          <a:noFill/>
        </p:spPr>
        <p:txBody>
          <a:bodyPr wrap="none" lIns="0" rIns="0" tIns="0" bIns="0">
            <a:spAutoFit/>
          </a:bodyPr>
          <a:lstStyle/>
          <a:p>
            <a:pPr algn="ctr">
              <a:lnSpc>
                <a:spcPts val="2240"/>
              </a:lnSpc>
              <a:spcAft>
                <a:spcPts val="0"/>
              </a:spcAft>
              <a:defRPr sz="2000" b="0">
                <a:solidFill>
                  <a:srgbClr val="182B3A"/>
                </a:solidFill>
                <a:latin typeface="Arial"/>
              </a:defRPr>
            </a:pPr>
            <a:r>
              <a:t>7</a:t>
            </a:r>
          </a:p>
        </p:txBody>
      </p:sp>
      <p:sp>
        <p:nvSpPr>
          <p:cNvPr id="169" name="Rectangle 168"/>
          <p:cNvSpPr/>
          <p:nvPr/>
        </p:nvSpPr>
        <p:spPr>
          <a:xfrm>
            <a:off x="9646920" y="6611112"/>
            <a:ext cx="4640580" cy="1005840"/>
          </a:xfrm>
          <a:prstGeom prst="rect">
            <a:avLst/>
          </a:prstGeom>
          <a:solidFill>
            <a:srgbClr val="F5F0F7"/>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0" name="TextBox 169"/>
          <p:cNvSpPr txBox="1"/>
          <p:nvPr/>
        </p:nvSpPr>
        <p:spPr>
          <a:xfrm>
            <a:off x="9738360" y="6867144"/>
            <a:ext cx="320040" cy="365760"/>
          </a:xfrm>
          <a:prstGeom prst="rect">
            <a:avLst/>
          </a:prstGeom>
          <a:noFill/>
        </p:spPr>
        <p:txBody>
          <a:bodyPr wrap="square" lIns="54864" rIns="54864" tIns="22860" bIns="22860">
            <a:spAutoFit/>
          </a:bodyPr>
          <a:lstStyle/>
          <a:p>
            <a:pPr>
              <a:lnSpc>
                <a:spcPts val="2205"/>
              </a:lnSpc>
              <a:spcBef>
                <a:spcPts val="0"/>
              </a:spcBef>
              <a:spcAft>
                <a:spcPts val="0"/>
              </a:spcAft>
              <a:defRPr sz="2100" b="1">
                <a:solidFill>
                  <a:srgbClr val="182B3A"/>
                </a:solidFill>
                <a:latin typeface="Arial"/>
              </a:defRPr>
            </a:pPr>
            <a:r>
              <a:t>6.</a:t>
            </a:r>
          </a:p>
        </p:txBody>
      </p:sp>
      <p:sp>
        <p:nvSpPr>
          <p:cNvPr id="171" name="TextBox 170"/>
          <p:cNvSpPr txBox="1"/>
          <p:nvPr/>
        </p:nvSpPr>
        <p:spPr>
          <a:xfrm>
            <a:off x="10241280" y="6903720"/>
            <a:ext cx="294132" cy="347472"/>
          </a:xfrm>
          <a:prstGeom prst="rect">
            <a:avLst/>
          </a:prstGeom>
          <a:noFill/>
        </p:spPr>
        <p:txBody>
          <a:bodyPr wrap="none" lIns="0" rIns="0" tIns="0" bIns="0">
            <a:spAutoFit/>
          </a:bodyPr>
          <a:lstStyle/>
          <a:p>
            <a:pPr algn="l">
              <a:lnSpc>
                <a:spcPts val="2800"/>
              </a:lnSpc>
              <a:spcAft>
                <a:spcPts val="0"/>
              </a:spcAft>
              <a:defRPr sz="2500" b="0">
                <a:solidFill>
                  <a:srgbClr val="182B3A"/>
                </a:solidFill>
                <a:latin typeface="Arial"/>
              </a:defRPr>
            </a:pPr>
            <a:r>
              <a:t>1 </a:t>
            </a:r>
          </a:p>
        </p:txBody>
      </p:sp>
      <p:sp>
        <p:nvSpPr>
          <p:cNvPr id="172" name="TextBox 171"/>
          <p:cNvSpPr txBox="1"/>
          <p:nvPr/>
        </p:nvSpPr>
        <p:spPr>
          <a:xfrm>
            <a:off x="10535412" y="6784848"/>
            <a:ext cx="252603" cy="256032"/>
          </a:xfrm>
          <a:prstGeom prst="rect">
            <a:avLst/>
          </a:prstGeom>
          <a:noFill/>
        </p:spPr>
        <p:txBody>
          <a:bodyPr wrap="none" lIns="0" rIns="0" tIns="0" bIns="0">
            <a:spAutoFit/>
          </a:bodyPr>
          <a:lstStyle/>
          <a:p>
            <a:pPr algn="ctr">
              <a:lnSpc>
                <a:spcPts val="2240"/>
              </a:lnSpc>
              <a:spcAft>
                <a:spcPts val="0"/>
              </a:spcAft>
              <a:defRPr sz="2000" b="0">
                <a:solidFill>
                  <a:srgbClr val="182B3A"/>
                </a:solidFill>
                <a:latin typeface="Arial"/>
              </a:defRPr>
            </a:pPr>
            <a:r>
              <a:t>5</a:t>
            </a:r>
          </a:p>
        </p:txBody>
      </p:sp>
      <p:cxnSp>
        <p:nvCxnSpPr>
          <p:cNvPr id="173" name="Connector 172"/>
          <p:cNvCxnSpPr/>
          <p:nvPr/>
        </p:nvCxnSpPr>
        <p:spPr>
          <a:xfrm>
            <a:off x="10535412" y="7050024"/>
            <a:ext cx="252603" cy="0"/>
          </a:xfrm>
          <a:prstGeom prst="line">
            <a:avLst/>
          </a:prstGeom>
          <a:ln w="12700">
            <a:solidFill>
              <a:srgbClr val="182B3A"/>
            </a:solidFill>
          </a:ln>
          <a:effectLst/>
        </p:spPr>
        <p:style>
          <a:lnRef idx="2">
            <a:schemeClr val="accent1"/>
          </a:lnRef>
          <a:fillRef idx="0">
            <a:schemeClr val="accent1"/>
          </a:fillRef>
          <a:effectRef idx="1">
            <a:schemeClr val="accent1"/>
          </a:effectRef>
          <a:fontRef idx="minor">
            <a:schemeClr val="tx1"/>
          </a:fontRef>
        </p:style>
      </p:cxnSp>
      <p:sp>
        <p:nvSpPr>
          <p:cNvPr id="174" name="TextBox 173"/>
          <p:cNvSpPr txBox="1"/>
          <p:nvPr/>
        </p:nvSpPr>
        <p:spPr>
          <a:xfrm>
            <a:off x="10535412" y="7068312"/>
            <a:ext cx="252603" cy="256032"/>
          </a:xfrm>
          <a:prstGeom prst="rect">
            <a:avLst/>
          </a:prstGeom>
          <a:noFill/>
        </p:spPr>
        <p:txBody>
          <a:bodyPr wrap="none" lIns="0" rIns="0" tIns="0" bIns="0">
            <a:spAutoFit/>
          </a:bodyPr>
          <a:lstStyle/>
          <a:p>
            <a:pPr algn="ctr">
              <a:lnSpc>
                <a:spcPts val="2240"/>
              </a:lnSpc>
              <a:spcAft>
                <a:spcPts val="0"/>
              </a:spcAft>
              <a:defRPr sz="2000" b="0">
                <a:solidFill>
                  <a:srgbClr val="182B3A"/>
                </a:solidFill>
                <a:latin typeface="Arial"/>
              </a:defRPr>
            </a:pPr>
            <a:r>
              <a:t>6</a:t>
            </a:r>
          </a:p>
        </p:txBody>
      </p:sp>
      <p:sp>
        <p:nvSpPr>
          <p:cNvPr id="175" name="TextBox 174"/>
          <p:cNvSpPr txBox="1"/>
          <p:nvPr/>
        </p:nvSpPr>
        <p:spPr>
          <a:xfrm>
            <a:off x="10842879" y="6903720"/>
            <a:ext cx="389381" cy="347472"/>
          </a:xfrm>
          <a:prstGeom prst="rect">
            <a:avLst/>
          </a:prstGeom>
          <a:noFill/>
        </p:spPr>
        <p:txBody>
          <a:bodyPr wrap="none" lIns="0" rIns="0" tIns="0" bIns="0">
            <a:spAutoFit/>
          </a:bodyPr>
          <a:lstStyle/>
          <a:p>
            <a:pPr algn="l">
              <a:lnSpc>
                <a:spcPts val="2800"/>
              </a:lnSpc>
              <a:spcAft>
                <a:spcPts val="0"/>
              </a:spcAft>
              <a:defRPr sz="2500" b="0">
                <a:solidFill>
                  <a:srgbClr val="182B3A"/>
                </a:solidFill>
                <a:latin typeface="Arial"/>
              </a:defRPr>
            </a:pPr>
            <a:r>
              <a:t> − </a:t>
            </a:r>
          </a:p>
        </p:txBody>
      </p:sp>
      <p:sp>
        <p:nvSpPr>
          <p:cNvPr id="176" name="TextBox 175"/>
          <p:cNvSpPr txBox="1"/>
          <p:nvPr/>
        </p:nvSpPr>
        <p:spPr>
          <a:xfrm>
            <a:off x="11232261" y="6784848"/>
            <a:ext cx="252603" cy="256032"/>
          </a:xfrm>
          <a:prstGeom prst="rect">
            <a:avLst/>
          </a:prstGeom>
          <a:noFill/>
        </p:spPr>
        <p:txBody>
          <a:bodyPr wrap="none" lIns="0" rIns="0" tIns="0" bIns="0">
            <a:spAutoFit/>
          </a:bodyPr>
          <a:lstStyle/>
          <a:p>
            <a:pPr algn="ctr">
              <a:lnSpc>
                <a:spcPts val="2240"/>
              </a:lnSpc>
              <a:spcAft>
                <a:spcPts val="0"/>
              </a:spcAft>
              <a:defRPr sz="2000" b="0">
                <a:solidFill>
                  <a:srgbClr val="182B3A"/>
                </a:solidFill>
                <a:latin typeface="Arial"/>
              </a:defRPr>
            </a:pPr>
            <a:r>
              <a:t>8</a:t>
            </a:r>
          </a:p>
        </p:txBody>
      </p:sp>
      <p:cxnSp>
        <p:nvCxnSpPr>
          <p:cNvPr id="177" name="Connector 176"/>
          <p:cNvCxnSpPr/>
          <p:nvPr/>
        </p:nvCxnSpPr>
        <p:spPr>
          <a:xfrm>
            <a:off x="11232261" y="7050024"/>
            <a:ext cx="252603" cy="0"/>
          </a:xfrm>
          <a:prstGeom prst="line">
            <a:avLst/>
          </a:prstGeom>
          <a:ln w="12700">
            <a:solidFill>
              <a:srgbClr val="182B3A"/>
            </a:solidFill>
          </a:ln>
          <a:effectLst/>
        </p:spPr>
        <p:style>
          <a:lnRef idx="2">
            <a:schemeClr val="accent1"/>
          </a:lnRef>
          <a:fillRef idx="0">
            <a:schemeClr val="accent1"/>
          </a:fillRef>
          <a:effectRef idx="1">
            <a:schemeClr val="accent1"/>
          </a:effectRef>
          <a:fontRef idx="minor">
            <a:schemeClr val="tx1"/>
          </a:fontRef>
        </p:style>
      </p:cxnSp>
      <p:sp>
        <p:nvSpPr>
          <p:cNvPr id="178" name="TextBox 177"/>
          <p:cNvSpPr txBox="1"/>
          <p:nvPr/>
        </p:nvSpPr>
        <p:spPr>
          <a:xfrm>
            <a:off x="11232261" y="7068312"/>
            <a:ext cx="252603" cy="256032"/>
          </a:xfrm>
          <a:prstGeom prst="rect">
            <a:avLst/>
          </a:prstGeom>
          <a:noFill/>
        </p:spPr>
        <p:txBody>
          <a:bodyPr wrap="none" lIns="0" rIns="0" tIns="0" bIns="0">
            <a:spAutoFit/>
          </a:bodyPr>
          <a:lstStyle/>
          <a:p>
            <a:pPr algn="ctr">
              <a:lnSpc>
                <a:spcPts val="2240"/>
              </a:lnSpc>
              <a:spcAft>
                <a:spcPts val="0"/>
              </a:spcAft>
              <a:defRPr sz="2000" b="0">
                <a:solidFill>
                  <a:srgbClr val="182B3A"/>
                </a:solidFill>
                <a:latin typeface="Arial"/>
              </a:defRPr>
            </a:pPr>
            <a:r>
              <a:t>9</a:t>
            </a:r>
          </a:p>
        </p:txBody>
      </p:sp>
      <p:sp>
        <p:nvSpPr>
          <p:cNvPr id="179" name="Progression curved arrow: Thread 1 to Thread 2"/>
          <p:cNvSpPr/>
          <p:nvPr/>
        </p:nvSpPr>
        <p:spPr>
          <a:xfrm>
            <a:off x="4649723" y="7552294"/>
            <a:ext cx="621792" cy="314053"/>
          </a:xfrm>
          <a:custGeom>
            <a:avLst/>
            <a:gdLst/>
            <a:ahLst/>
            <a:cxnLst/>
            <a:rect l="0" t="0" r="100000" b="100000"/>
            <a:pathLst>
              <a:path w="100000" h="100000" fill="none">
                <a:moveTo>
                  <a:pt x="6970" y="48439"/>
                </a:moveTo>
                <a:cubicBezTo>
                  <a:pt x="40678" y="114499"/>
                  <a:pt x="73026" y="88145"/>
                  <a:pt x="93030" y="13799"/>
                </a:cubicBezTo>
              </a:path>
              <a:path w="100000" h="100000" fill="none">
                <a:moveTo>
                  <a:pt x="69018" y="40431"/>
                </a:moveTo>
                <a:lnTo>
                  <a:pt x="93030" y="13799"/>
                </a:lnTo>
                <a:lnTo>
                  <a:pt x="92217" y="66207"/>
                </a:lnTo>
              </a:path>
            </a:pathLst>
          </a:custGeom>
          <a:noFill/>
          <a:ln w="64449" cap="rnd">
            <a:solidFill>
              <a:schemeClr val="accent6">
                <a:lumMod val="60000"/>
                <a:lumOff val="40000"/>
              </a:schemeClr>
            </a:solidFill>
            <a:round/>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80" name="Progression curved arrow: Thread 2 to Thread 3"/>
          <p:cNvSpPr/>
          <p:nvPr/>
        </p:nvSpPr>
        <p:spPr>
          <a:xfrm>
            <a:off x="9265327" y="7543800"/>
            <a:ext cx="621792" cy="314053"/>
          </a:xfrm>
          <a:custGeom>
            <a:avLst/>
            <a:gdLst/>
            <a:ahLst/>
            <a:cxnLst/>
            <a:rect l="0" t="0" r="100000" b="100000"/>
            <a:pathLst>
              <a:path w="100000" h="100000" fill="none">
                <a:moveTo>
                  <a:pt x="6970" y="48439"/>
                </a:moveTo>
                <a:cubicBezTo>
                  <a:pt x="40678" y="114499"/>
                  <a:pt x="73026" y="88145"/>
                  <a:pt x="93030" y="13799"/>
                </a:cubicBezTo>
              </a:path>
              <a:path w="100000" h="100000" fill="none">
                <a:moveTo>
                  <a:pt x="69018" y="40431"/>
                </a:moveTo>
                <a:lnTo>
                  <a:pt x="93030" y="13799"/>
                </a:lnTo>
                <a:lnTo>
                  <a:pt x="92217" y="66207"/>
                </a:lnTo>
              </a:path>
            </a:pathLst>
          </a:custGeom>
          <a:noFill/>
          <a:ln w="64449" cap="rnd">
            <a:solidFill>
              <a:schemeClr val="accent6">
                <a:lumMod val="60000"/>
                <a:lumOff val="40000"/>
              </a:schemeClr>
            </a:solidFill>
            <a:round/>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Tree>
  </p:cSld>
  <p:clrMapOvr>
    <a:masterClrMapping/>
  </p:clrMapOvr>
</p:sld>
</file>

<file path=ppt/slides/slide47.xml><?xml version="1.0" encoding="utf-8"?>
<p:sld xmlns:a="http://schemas.openxmlformats.org/drawingml/2006/main" xmlns:p="http://schemas.openxmlformats.org/presentationml/2006/main" xmlns:r="http://schemas.openxmlformats.org/officeDocument/2006/relationships">
  <p:cSld>
    <p:bg>
      <p:bgPr>
        <a:solidFill>
          <a:srgbClr val="F7F8FA"/>
        </a:solidFill>
        <a:effectLst/>
      </p:bgPr>
    </p:bg>
    <p:spTree>
      <p:nvGrpSpPr>
        <p:cNvPr id="1" name=""/>
        <p:cNvGrpSpPr/>
        <p:nvPr/>
      </p:nvGrpSpPr>
      <p:grpSpPr/>
      <p:sp>
        <p:nvSpPr>
          <p:cNvPr id="2" name="Rectangle 1"/>
          <p:cNvSpPr/>
          <p:nvPr/>
        </p:nvSpPr>
        <p:spPr>
          <a:xfrm>
            <a:off x="0" y="0"/>
            <a:ext cx="14630400" cy="73152"/>
          </a:xfrm>
          <a:prstGeom prst="rect">
            <a:avLst/>
          </a:prstGeom>
          <a:solidFill>
            <a:srgbClr val="176B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20040" y="164592"/>
            <a:ext cx="13990320" cy="457200"/>
          </a:xfrm>
          <a:prstGeom prst="rect">
            <a:avLst/>
          </a:prstGeom>
          <a:noFill/>
        </p:spPr>
        <p:txBody>
          <a:bodyPr wrap="square" lIns="54864" rIns="54864" tIns="22860" bIns="22860">
            <a:spAutoFit/>
          </a:bodyPr>
          <a:lstStyle/>
          <a:p>
            <a:pPr>
              <a:lnSpc>
                <a:spcPts val="2940"/>
              </a:lnSpc>
              <a:spcBef>
                <a:spcPts val="0"/>
              </a:spcBef>
              <a:spcAft>
                <a:spcPts val="0"/>
              </a:spcAft>
              <a:defRPr sz="2800" b="1">
                <a:solidFill>
                  <a:srgbClr val="182B3A"/>
                </a:solidFill>
                <a:latin typeface="Arial"/>
              </a:defRPr>
            </a:pPr>
            <a:r>
              <a:t>Adding and subtracting fractions</a:t>
            </a:r>
          </a:p>
        </p:txBody>
      </p:sp>
      <p:sp>
        <p:nvSpPr>
          <p:cNvPr id="4" name="TextBox 3"/>
          <p:cNvSpPr txBox="1"/>
          <p:nvPr/>
        </p:nvSpPr>
        <p:spPr>
          <a:xfrm>
            <a:off x="320040" y="704088"/>
            <a:ext cx="13990320" cy="347472"/>
          </a:xfrm>
          <a:prstGeom prst="rect">
            <a:avLst/>
          </a:prstGeom>
          <a:noFill/>
        </p:spPr>
        <p:txBody>
          <a:bodyPr wrap="square" lIns="54864" rIns="54864" tIns="22860" bIns="22860">
            <a:spAutoFit/>
          </a:bodyPr>
          <a:lstStyle/>
          <a:p>
            <a:pPr>
              <a:lnSpc>
                <a:spcPts val="1575"/>
              </a:lnSpc>
              <a:spcBef>
                <a:spcPts val="0"/>
              </a:spcBef>
              <a:spcAft>
                <a:spcPts val="0"/>
              </a:spcAft>
              <a:defRPr sz="1500" b="0">
                <a:solidFill>
                  <a:srgbClr val="526472"/>
                </a:solidFill>
                <a:latin typeface="Arial"/>
              </a:defRPr>
            </a:pPr>
            <a:r>
              <a:t>Independent practice 2 • Simplify; write mixed answers if greater than 1.</a:t>
            </a:r>
          </a:p>
        </p:txBody>
      </p:sp>
      <p:sp>
        <p:nvSpPr>
          <p:cNvPr id="5" name="TextBox 4"/>
          <p:cNvSpPr txBox="1"/>
          <p:nvPr/>
        </p:nvSpPr>
        <p:spPr>
          <a:xfrm>
            <a:off x="320040" y="7973568"/>
            <a:ext cx="10789920" cy="210312"/>
          </a:xfrm>
          <a:prstGeom prst="rect">
            <a:avLst/>
          </a:prstGeom>
          <a:noFill/>
        </p:spPr>
        <p:txBody>
          <a:bodyPr wrap="square" lIns="54864" rIns="54864" tIns="22860" bIns="22860">
            <a:spAutoFit/>
          </a:bodyPr>
          <a:lstStyle/>
          <a:p>
            <a:pPr>
              <a:lnSpc>
                <a:spcPts val="1155"/>
              </a:lnSpc>
              <a:spcBef>
                <a:spcPts val="0"/>
              </a:spcBef>
              <a:spcAft>
                <a:spcPts val="0"/>
              </a:spcAft>
              <a:defRPr sz="1100" b="0">
                <a:solidFill>
                  <a:srgbClr val="526472"/>
                </a:solidFill>
                <a:latin typeface="Arial"/>
              </a:defRPr>
            </a:pPr>
            <a:r>
              <a:t>GCSE Maths revision • No calculator • Show your working.</a:t>
            </a:r>
          </a:p>
        </p:txBody>
      </p:sp>
      <p:sp>
        <p:nvSpPr>
          <p:cNvPr id="6" name="TextBox 5"/>
          <p:cNvSpPr txBox="1"/>
          <p:nvPr/>
        </p:nvSpPr>
        <p:spPr>
          <a:xfrm>
            <a:off x="11155680" y="7973568"/>
            <a:ext cx="3108960" cy="210312"/>
          </a:xfrm>
          <a:prstGeom prst="rect">
            <a:avLst/>
          </a:prstGeom>
          <a:noFill/>
        </p:spPr>
        <p:txBody>
          <a:bodyPr wrap="square" lIns="54864" rIns="54864" tIns="22860" bIns="22860">
            <a:spAutoFit/>
          </a:bodyPr>
          <a:lstStyle/>
          <a:p>
            <a:pPr>
              <a:lnSpc>
                <a:spcPts val="1155"/>
              </a:lnSpc>
              <a:spcBef>
                <a:spcPts val="0"/>
              </a:spcBef>
              <a:spcAft>
                <a:spcPts val="0"/>
              </a:spcAft>
              <a:defRPr sz="1100" b="0">
                <a:solidFill>
                  <a:srgbClr val="526472"/>
                </a:solidFill>
                <a:latin typeface="Arial"/>
              </a:defRPr>
            </a:pPr>
            <a:r>
              <a:t>M15-S05</a:t>
            </a:r>
          </a:p>
        </p:txBody>
      </p:sp>
      <p:sp>
        <p:nvSpPr>
          <p:cNvPr id="7" name="Rectangle 6"/>
          <p:cNvSpPr/>
          <p:nvPr/>
        </p:nvSpPr>
        <p:spPr>
          <a:xfrm>
            <a:off x="320040" y="1115568"/>
            <a:ext cx="4640580" cy="420624"/>
          </a:xfrm>
          <a:prstGeom prst="rect">
            <a:avLst/>
          </a:prstGeom>
          <a:solidFill>
            <a:srgbClr val="176B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347472" y="1147572"/>
            <a:ext cx="4581144" cy="329184"/>
          </a:xfrm>
          <a:prstGeom prst="rect">
            <a:avLst/>
          </a:prstGeom>
          <a:noFill/>
        </p:spPr>
        <p:txBody>
          <a:bodyPr wrap="square" lIns="54864" rIns="54864" tIns="22860" bIns="22860">
            <a:spAutoFit/>
          </a:bodyPr>
          <a:lstStyle/>
          <a:p>
            <a:pPr>
              <a:lnSpc>
                <a:spcPts val="1995"/>
              </a:lnSpc>
              <a:spcBef>
                <a:spcPts val="0"/>
              </a:spcBef>
              <a:spcAft>
                <a:spcPts val="0"/>
              </a:spcAft>
              <a:defRPr sz="1900" b="1">
                <a:solidFill>
                  <a:srgbClr val="FFFFFF"/>
                </a:solidFill>
                <a:latin typeface="Arial"/>
              </a:defRPr>
            </a:pPr>
            <a:r>
              <a:t>Start</a:t>
            </a:r>
          </a:p>
        </p:txBody>
      </p:sp>
      <p:sp>
        <p:nvSpPr>
          <p:cNvPr id="9" name="Rectangle 8"/>
          <p:cNvSpPr/>
          <p:nvPr/>
        </p:nvSpPr>
        <p:spPr>
          <a:xfrm>
            <a:off x="4983480" y="1115568"/>
            <a:ext cx="4640580" cy="420624"/>
          </a:xfrm>
          <a:prstGeom prst="rect">
            <a:avLst/>
          </a:prstGeom>
          <a:solidFill>
            <a:srgbClr val="3559A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010912" y="1147572"/>
            <a:ext cx="4581144" cy="329184"/>
          </a:xfrm>
          <a:prstGeom prst="rect">
            <a:avLst/>
          </a:prstGeom>
          <a:noFill/>
        </p:spPr>
        <p:txBody>
          <a:bodyPr wrap="square" lIns="54864" rIns="54864" tIns="22860" bIns="22860">
            <a:spAutoFit/>
          </a:bodyPr>
          <a:lstStyle/>
          <a:p>
            <a:pPr>
              <a:lnSpc>
                <a:spcPts val="1995"/>
              </a:lnSpc>
              <a:spcBef>
                <a:spcPts val="0"/>
              </a:spcBef>
              <a:spcAft>
                <a:spcPts val="0"/>
              </a:spcAft>
              <a:defRPr sz="1900" b="1">
                <a:solidFill>
                  <a:srgbClr val="FFFFFF"/>
                </a:solidFill>
                <a:latin typeface="Arial"/>
              </a:defRPr>
            </a:pPr>
            <a:r>
              <a:t>Build</a:t>
            </a:r>
          </a:p>
        </p:txBody>
      </p:sp>
      <p:sp>
        <p:nvSpPr>
          <p:cNvPr id="11" name="Rectangle 10"/>
          <p:cNvSpPr/>
          <p:nvPr/>
        </p:nvSpPr>
        <p:spPr>
          <a:xfrm>
            <a:off x="9646920" y="1115568"/>
            <a:ext cx="4640580" cy="420624"/>
          </a:xfrm>
          <a:prstGeom prst="rect">
            <a:avLst/>
          </a:prstGeom>
          <a:solidFill>
            <a:srgbClr val="754B8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9674352" y="1147572"/>
            <a:ext cx="4581144" cy="329184"/>
          </a:xfrm>
          <a:prstGeom prst="rect">
            <a:avLst/>
          </a:prstGeom>
          <a:noFill/>
        </p:spPr>
        <p:txBody>
          <a:bodyPr wrap="square" lIns="54864" rIns="54864" tIns="22860" bIns="22860">
            <a:spAutoFit/>
          </a:bodyPr>
          <a:lstStyle/>
          <a:p>
            <a:pPr>
              <a:lnSpc>
                <a:spcPts val="1995"/>
              </a:lnSpc>
              <a:spcBef>
                <a:spcPts val="0"/>
              </a:spcBef>
              <a:spcAft>
                <a:spcPts val="0"/>
              </a:spcAft>
              <a:defRPr sz="1900" b="1">
                <a:solidFill>
                  <a:srgbClr val="FFFFFF"/>
                </a:solidFill>
                <a:latin typeface="Arial"/>
              </a:defRPr>
            </a:pPr>
            <a:r>
              <a:t>Confidence</a:t>
            </a:r>
          </a:p>
        </p:txBody>
      </p:sp>
      <p:sp>
        <p:nvSpPr>
          <p:cNvPr id="13" name="Rectangle 12"/>
          <p:cNvSpPr/>
          <p:nvPr/>
        </p:nvSpPr>
        <p:spPr>
          <a:xfrm>
            <a:off x="320040" y="1581912"/>
            <a:ext cx="4640580" cy="1005840"/>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11479" y="1837943"/>
            <a:ext cx="320040" cy="365760"/>
          </a:xfrm>
          <a:prstGeom prst="rect">
            <a:avLst/>
          </a:prstGeom>
          <a:noFill/>
        </p:spPr>
        <p:txBody>
          <a:bodyPr wrap="square" lIns="54864" rIns="54864" tIns="22860" bIns="22860">
            <a:spAutoFit/>
          </a:bodyPr>
          <a:lstStyle/>
          <a:p>
            <a:pPr>
              <a:lnSpc>
                <a:spcPts val="2205"/>
              </a:lnSpc>
              <a:spcBef>
                <a:spcPts val="0"/>
              </a:spcBef>
              <a:spcAft>
                <a:spcPts val="0"/>
              </a:spcAft>
              <a:defRPr sz="2100" b="1">
                <a:solidFill>
                  <a:srgbClr val="182B3A"/>
                </a:solidFill>
                <a:latin typeface="Arial"/>
              </a:defRPr>
            </a:pPr>
            <a:r>
              <a:t>1.</a:t>
            </a:r>
          </a:p>
        </p:txBody>
      </p:sp>
      <p:sp>
        <p:nvSpPr>
          <p:cNvPr id="15" name="TextBox 14"/>
          <p:cNvSpPr txBox="1"/>
          <p:nvPr/>
        </p:nvSpPr>
        <p:spPr>
          <a:xfrm>
            <a:off x="914399" y="1755648"/>
            <a:ext cx="395180" cy="256032"/>
          </a:xfrm>
          <a:prstGeom prst="rect">
            <a:avLst/>
          </a:prstGeom>
          <a:noFill/>
        </p:spPr>
        <p:txBody>
          <a:bodyPr wrap="none" lIns="0" rIns="0" tIns="0" bIns="0">
            <a:spAutoFit/>
          </a:bodyPr>
          <a:lstStyle/>
          <a:p>
            <a:pPr algn="ctr">
              <a:lnSpc>
                <a:spcPts val="2240"/>
              </a:lnSpc>
              <a:spcAft>
                <a:spcPts val="0"/>
              </a:spcAft>
              <a:defRPr sz="2000" b="0">
                <a:solidFill>
                  <a:srgbClr val="182B3A"/>
                </a:solidFill>
                <a:latin typeface="Arial"/>
              </a:defRPr>
            </a:pPr>
            <a:r>
              <a:t>7</a:t>
            </a:r>
          </a:p>
        </p:txBody>
      </p:sp>
      <p:cxnSp>
        <p:nvCxnSpPr>
          <p:cNvPr id="16" name="Connector 15"/>
          <p:cNvCxnSpPr/>
          <p:nvPr/>
        </p:nvCxnSpPr>
        <p:spPr>
          <a:xfrm>
            <a:off x="914399" y="2020824"/>
            <a:ext cx="395181" cy="0"/>
          </a:xfrm>
          <a:prstGeom prst="line">
            <a:avLst/>
          </a:prstGeom>
          <a:ln w="12700">
            <a:solidFill>
              <a:srgbClr val="182B3A"/>
            </a:solidFill>
          </a:ln>
          <a:effectLst/>
        </p:spPr>
        <p:style>
          <a:lnRef idx="2">
            <a:schemeClr val="accent1"/>
          </a:lnRef>
          <a:fillRef idx="0">
            <a:schemeClr val="accent1"/>
          </a:fillRef>
          <a:effectRef idx="1">
            <a:schemeClr val="accent1"/>
          </a:effectRef>
          <a:fontRef idx="minor">
            <a:schemeClr val="tx1"/>
          </a:fontRef>
        </p:style>
      </p:cxnSp>
      <p:sp>
        <p:nvSpPr>
          <p:cNvPr id="17" name="TextBox 16"/>
          <p:cNvSpPr txBox="1"/>
          <p:nvPr/>
        </p:nvSpPr>
        <p:spPr>
          <a:xfrm>
            <a:off x="914399" y="2039112"/>
            <a:ext cx="395180" cy="256032"/>
          </a:xfrm>
          <a:prstGeom prst="rect">
            <a:avLst/>
          </a:prstGeom>
          <a:noFill/>
        </p:spPr>
        <p:txBody>
          <a:bodyPr wrap="none" lIns="0" rIns="0" tIns="0" bIns="0">
            <a:spAutoFit/>
          </a:bodyPr>
          <a:lstStyle/>
          <a:p>
            <a:pPr algn="ctr">
              <a:lnSpc>
                <a:spcPts val="2240"/>
              </a:lnSpc>
              <a:spcAft>
                <a:spcPts val="0"/>
              </a:spcAft>
              <a:defRPr sz="2000" b="0">
                <a:solidFill>
                  <a:srgbClr val="182B3A"/>
                </a:solidFill>
                <a:latin typeface="Arial"/>
              </a:defRPr>
            </a:pPr>
            <a:r>
              <a:t>11</a:t>
            </a:r>
          </a:p>
        </p:txBody>
      </p:sp>
      <p:sp>
        <p:nvSpPr>
          <p:cNvPr id="18" name="TextBox 17"/>
          <p:cNvSpPr txBox="1"/>
          <p:nvPr/>
        </p:nvSpPr>
        <p:spPr>
          <a:xfrm>
            <a:off x="1364444" y="1874519"/>
            <a:ext cx="389381" cy="347472"/>
          </a:xfrm>
          <a:prstGeom prst="rect">
            <a:avLst/>
          </a:prstGeom>
          <a:noFill/>
        </p:spPr>
        <p:txBody>
          <a:bodyPr wrap="none" lIns="0" rIns="0" tIns="0" bIns="0">
            <a:spAutoFit/>
          </a:bodyPr>
          <a:lstStyle/>
          <a:p>
            <a:pPr algn="l">
              <a:lnSpc>
                <a:spcPts val="2800"/>
              </a:lnSpc>
              <a:spcAft>
                <a:spcPts val="0"/>
              </a:spcAft>
              <a:defRPr sz="2500" b="0">
                <a:solidFill>
                  <a:srgbClr val="182B3A"/>
                </a:solidFill>
                <a:latin typeface="Arial"/>
              </a:defRPr>
            </a:pPr>
            <a:r>
              <a:t> − </a:t>
            </a:r>
          </a:p>
        </p:txBody>
      </p:sp>
      <p:sp>
        <p:nvSpPr>
          <p:cNvPr id="19" name="TextBox 18"/>
          <p:cNvSpPr txBox="1"/>
          <p:nvPr/>
        </p:nvSpPr>
        <p:spPr>
          <a:xfrm>
            <a:off x="1753826" y="1755648"/>
            <a:ext cx="395180" cy="256032"/>
          </a:xfrm>
          <a:prstGeom prst="rect">
            <a:avLst/>
          </a:prstGeom>
          <a:noFill/>
        </p:spPr>
        <p:txBody>
          <a:bodyPr wrap="none" lIns="0" rIns="0" tIns="0" bIns="0">
            <a:spAutoFit/>
          </a:bodyPr>
          <a:lstStyle/>
          <a:p>
            <a:pPr algn="ctr">
              <a:lnSpc>
                <a:spcPts val="2240"/>
              </a:lnSpc>
              <a:spcAft>
                <a:spcPts val="0"/>
              </a:spcAft>
              <a:defRPr sz="2000" b="0">
                <a:solidFill>
                  <a:srgbClr val="182B3A"/>
                </a:solidFill>
                <a:latin typeface="Arial"/>
              </a:defRPr>
            </a:pPr>
            <a:r>
              <a:t>5</a:t>
            </a:r>
          </a:p>
        </p:txBody>
      </p:sp>
      <p:cxnSp>
        <p:nvCxnSpPr>
          <p:cNvPr id="20" name="Connector 19"/>
          <p:cNvCxnSpPr/>
          <p:nvPr/>
        </p:nvCxnSpPr>
        <p:spPr>
          <a:xfrm>
            <a:off x="1753826" y="2020824"/>
            <a:ext cx="395180" cy="0"/>
          </a:xfrm>
          <a:prstGeom prst="line">
            <a:avLst/>
          </a:prstGeom>
          <a:ln w="12700">
            <a:solidFill>
              <a:srgbClr val="182B3A"/>
            </a:solidFill>
          </a:ln>
          <a:effectLst/>
        </p:spPr>
        <p:style>
          <a:lnRef idx="2">
            <a:schemeClr val="accent1"/>
          </a:lnRef>
          <a:fillRef idx="0">
            <a:schemeClr val="accent1"/>
          </a:fillRef>
          <a:effectRef idx="1">
            <a:schemeClr val="accent1"/>
          </a:effectRef>
          <a:fontRef idx="minor">
            <a:schemeClr val="tx1"/>
          </a:fontRef>
        </p:style>
      </p:cxnSp>
      <p:sp>
        <p:nvSpPr>
          <p:cNvPr id="21" name="TextBox 20"/>
          <p:cNvSpPr txBox="1"/>
          <p:nvPr/>
        </p:nvSpPr>
        <p:spPr>
          <a:xfrm>
            <a:off x="1753826" y="2039112"/>
            <a:ext cx="395180" cy="256032"/>
          </a:xfrm>
          <a:prstGeom prst="rect">
            <a:avLst/>
          </a:prstGeom>
          <a:noFill/>
        </p:spPr>
        <p:txBody>
          <a:bodyPr wrap="none" lIns="0" rIns="0" tIns="0" bIns="0">
            <a:spAutoFit/>
          </a:bodyPr>
          <a:lstStyle/>
          <a:p>
            <a:pPr algn="ctr">
              <a:lnSpc>
                <a:spcPts val="2240"/>
              </a:lnSpc>
              <a:spcAft>
                <a:spcPts val="0"/>
              </a:spcAft>
              <a:defRPr sz="2000" b="0">
                <a:solidFill>
                  <a:srgbClr val="182B3A"/>
                </a:solidFill>
                <a:latin typeface="Arial"/>
              </a:defRPr>
            </a:pPr>
            <a:r>
              <a:t>11</a:t>
            </a:r>
          </a:p>
        </p:txBody>
      </p:sp>
      <p:sp>
        <p:nvSpPr>
          <p:cNvPr id="22" name="Rectangle 21"/>
          <p:cNvSpPr/>
          <p:nvPr/>
        </p:nvSpPr>
        <p:spPr>
          <a:xfrm>
            <a:off x="320040" y="2587752"/>
            <a:ext cx="4640580" cy="1005840"/>
          </a:xfrm>
          <a:prstGeom prst="rect">
            <a:avLst/>
          </a:prstGeom>
          <a:solidFill>
            <a:srgbClr val="EDF6F5"/>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411479" y="2843784"/>
            <a:ext cx="320040" cy="365760"/>
          </a:xfrm>
          <a:prstGeom prst="rect">
            <a:avLst/>
          </a:prstGeom>
          <a:noFill/>
        </p:spPr>
        <p:txBody>
          <a:bodyPr wrap="square" lIns="54864" rIns="54864" tIns="22860" bIns="22860">
            <a:spAutoFit/>
          </a:bodyPr>
          <a:lstStyle/>
          <a:p>
            <a:pPr>
              <a:lnSpc>
                <a:spcPts val="2205"/>
              </a:lnSpc>
              <a:spcBef>
                <a:spcPts val="0"/>
              </a:spcBef>
              <a:spcAft>
                <a:spcPts val="0"/>
              </a:spcAft>
              <a:defRPr sz="2100" b="1">
                <a:solidFill>
                  <a:srgbClr val="182B3A"/>
                </a:solidFill>
                <a:latin typeface="Arial"/>
              </a:defRPr>
            </a:pPr>
            <a:r>
              <a:t>2.</a:t>
            </a:r>
          </a:p>
        </p:txBody>
      </p:sp>
      <p:sp>
        <p:nvSpPr>
          <p:cNvPr id="24" name="TextBox 23"/>
          <p:cNvSpPr txBox="1"/>
          <p:nvPr/>
        </p:nvSpPr>
        <p:spPr>
          <a:xfrm>
            <a:off x="914399" y="2761488"/>
            <a:ext cx="252603" cy="256032"/>
          </a:xfrm>
          <a:prstGeom prst="rect">
            <a:avLst/>
          </a:prstGeom>
          <a:noFill/>
        </p:spPr>
        <p:txBody>
          <a:bodyPr wrap="none" lIns="0" rIns="0" tIns="0" bIns="0">
            <a:spAutoFit/>
          </a:bodyPr>
          <a:lstStyle/>
          <a:p>
            <a:pPr algn="ctr">
              <a:lnSpc>
                <a:spcPts val="2240"/>
              </a:lnSpc>
              <a:spcAft>
                <a:spcPts val="0"/>
              </a:spcAft>
              <a:defRPr sz="2000" b="0">
                <a:solidFill>
                  <a:srgbClr val="182B3A"/>
                </a:solidFill>
                <a:latin typeface="Arial"/>
              </a:defRPr>
            </a:pPr>
            <a:r>
              <a:t>1</a:t>
            </a:r>
          </a:p>
        </p:txBody>
      </p:sp>
      <p:cxnSp>
        <p:nvCxnSpPr>
          <p:cNvPr id="25" name="Connector 24"/>
          <p:cNvCxnSpPr/>
          <p:nvPr/>
        </p:nvCxnSpPr>
        <p:spPr>
          <a:xfrm>
            <a:off x="914399" y="3026664"/>
            <a:ext cx="252604" cy="0"/>
          </a:xfrm>
          <a:prstGeom prst="line">
            <a:avLst/>
          </a:prstGeom>
          <a:ln w="12700">
            <a:solidFill>
              <a:srgbClr val="182B3A"/>
            </a:solidFill>
          </a:ln>
          <a:effectLst/>
        </p:spPr>
        <p:style>
          <a:lnRef idx="2">
            <a:schemeClr val="accent1"/>
          </a:lnRef>
          <a:fillRef idx="0">
            <a:schemeClr val="accent1"/>
          </a:fillRef>
          <a:effectRef idx="1">
            <a:schemeClr val="accent1"/>
          </a:effectRef>
          <a:fontRef idx="minor">
            <a:schemeClr val="tx1"/>
          </a:fontRef>
        </p:style>
      </p:cxnSp>
      <p:sp>
        <p:nvSpPr>
          <p:cNvPr id="26" name="TextBox 25"/>
          <p:cNvSpPr txBox="1"/>
          <p:nvPr/>
        </p:nvSpPr>
        <p:spPr>
          <a:xfrm>
            <a:off x="914399" y="3044952"/>
            <a:ext cx="252603" cy="256032"/>
          </a:xfrm>
          <a:prstGeom prst="rect">
            <a:avLst/>
          </a:prstGeom>
          <a:noFill/>
        </p:spPr>
        <p:txBody>
          <a:bodyPr wrap="none" lIns="0" rIns="0" tIns="0" bIns="0">
            <a:spAutoFit/>
          </a:bodyPr>
          <a:lstStyle/>
          <a:p>
            <a:pPr algn="ctr">
              <a:lnSpc>
                <a:spcPts val="2240"/>
              </a:lnSpc>
              <a:spcAft>
                <a:spcPts val="0"/>
              </a:spcAft>
              <a:defRPr sz="2000" b="0">
                <a:solidFill>
                  <a:srgbClr val="182B3A"/>
                </a:solidFill>
                <a:latin typeface="Arial"/>
              </a:defRPr>
            </a:pPr>
            <a:r>
              <a:t>9</a:t>
            </a:r>
          </a:p>
        </p:txBody>
      </p:sp>
      <p:sp>
        <p:nvSpPr>
          <p:cNvPr id="27" name="TextBox 26"/>
          <p:cNvSpPr txBox="1"/>
          <p:nvPr/>
        </p:nvSpPr>
        <p:spPr>
          <a:xfrm>
            <a:off x="1221867" y="2880360"/>
            <a:ext cx="389381" cy="347472"/>
          </a:xfrm>
          <a:prstGeom prst="rect">
            <a:avLst/>
          </a:prstGeom>
          <a:noFill/>
        </p:spPr>
        <p:txBody>
          <a:bodyPr wrap="none" lIns="0" rIns="0" tIns="0" bIns="0">
            <a:spAutoFit/>
          </a:bodyPr>
          <a:lstStyle/>
          <a:p>
            <a:pPr algn="l">
              <a:lnSpc>
                <a:spcPts val="2800"/>
              </a:lnSpc>
              <a:spcAft>
                <a:spcPts val="0"/>
              </a:spcAft>
              <a:defRPr sz="2500" b="0">
                <a:solidFill>
                  <a:srgbClr val="182B3A"/>
                </a:solidFill>
                <a:latin typeface="Arial"/>
              </a:defRPr>
            </a:pPr>
            <a:r>
              <a:t> + </a:t>
            </a:r>
          </a:p>
        </p:txBody>
      </p:sp>
      <p:sp>
        <p:nvSpPr>
          <p:cNvPr id="28" name="TextBox 27"/>
          <p:cNvSpPr txBox="1"/>
          <p:nvPr/>
        </p:nvSpPr>
        <p:spPr>
          <a:xfrm>
            <a:off x="1611249" y="2761488"/>
            <a:ext cx="252603" cy="256032"/>
          </a:xfrm>
          <a:prstGeom prst="rect">
            <a:avLst/>
          </a:prstGeom>
          <a:noFill/>
        </p:spPr>
        <p:txBody>
          <a:bodyPr wrap="none" lIns="0" rIns="0" tIns="0" bIns="0">
            <a:spAutoFit/>
          </a:bodyPr>
          <a:lstStyle/>
          <a:p>
            <a:pPr algn="ctr">
              <a:lnSpc>
                <a:spcPts val="2240"/>
              </a:lnSpc>
              <a:spcAft>
                <a:spcPts val="0"/>
              </a:spcAft>
              <a:defRPr sz="2000" b="0">
                <a:solidFill>
                  <a:srgbClr val="182B3A"/>
                </a:solidFill>
                <a:latin typeface="Arial"/>
              </a:defRPr>
            </a:pPr>
            <a:r>
              <a:t>2</a:t>
            </a:r>
          </a:p>
        </p:txBody>
      </p:sp>
      <p:cxnSp>
        <p:nvCxnSpPr>
          <p:cNvPr id="29" name="Connector 28"/>
          <p:cNvCxnSpPr/>
          <p:nvPr/>
        </p:nvCxnSpPr>
        <p:spPr>
          <a:xfrm>
            <a:off x="1611249" y="3026664"/>
            <a:ext cx="252602" cy="0"/>
          </a:xfrm>
          <a:prstGeom prst="line">
            <a:avLst/>
          </a:prstGeom>
          <a:ln w="12700">
            <a:solidFill>
              <a:srgbClr val="182B3A"/>
            </a:solidFill>
          </a:ln>
          <a:effectLst/>
        </p:spPr>
        <p:style>
          <a:lnRef idx="2">
            <a:schemeClr val="accent1"/>
          </a:lnRef>
          <a:fillRef idx="0">
            <a:schemeClr val="accent1"/>
          </a:fillRef>
          <a:effectRef idx="1">
            <a:schemeClr val="accent1"/>
          </a:effectRef>
          <a:fontRef idx="minor">
            <a:schemeClr val="tx1"/>
          </a:fontRef>
        </p:style>
      </p:cxnSp>
      <p:sp>
        <p:nvSpPr>
          <p:cNvPr id="30" name="TextBox 29"/>
          <p:cNvSpPr txBox="1"/>
          <p:nvPr/>
        </p:nvSpPr>
        <p:spPr>
          <a:xfrm>
            <a:off x="1611249" y="3044952"/>
            <a:ext cx="252603" cy="256032"/>
          </a:xfrm>
          <a:prstGeom prst="rect">
            <a:avLst/>
          </a:prstGeom>
          <a:noFill/>
        </p:spPr>
        <p:txBody>
          <a:bodyPr wrap="none" lIns="0" rIns="0" tIns="0" bIns="0">
            <a:spAutoFit/>
          </a:bodyPr>
          <a:lstStyle/>
          <a:p>
            <a:pPr algn="ctr">
              <a:lnSpc>
                <a:spcPts val="2240"/>
              </a:lnSpc>
              <a:spcAft>
                <a:spcPts val="0"/>
              </a:spcAft>
              <a:defRPr sz="2000" b="0">
                <a:solidFill>
                  <a:srgbClr val="182B3A"/>
                </a:solidFill>
                <a:latin typeface="Arial"/>
              </a:defRPr>
            </a:pPr>
            <a:r>
              <a:t>9</a:t>
            </a:r>
          </a:p>
        </p:txBody>
      </p:sp>
      <p:sp>
        <p:nvSpPr>
          <p:cNvPr id="31" name="Rectangle 30"/>
          <p:cNvSpPr/>
          <p:nvPr/>
        </p:nvSpPr>
        <p:spPr>
          <a:xfrm>
            <a:off x="320040" y="3593592"/>
            <a:ext cx="4640580" cy="1005840"/>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411479" y="3849624"/>
            <a:ext cx="320040" cy="365760"/>
          </a:xfrm>
          <a:prstGeom prst="rect">
            <a:avLst/>
          </a:prstGeom>
          <a:noFill/>
        </p:spPr>
        <p:txBody>
          <a:bodyPr wrap="square" lIns="54864" rIns="54864" tIns="22860" bIns="22860">
            <a:spAutoFit/>
          </a:bodyPr>
          <a:lstStyle/>
          <a:p>
            <a:pPr>
              <a:lnSpc>
                <a:spcPts val="2205"/>
              </a:lnSpc>
              <a:spcBef>
                <a:spcPts val="0"/>
              </a:spcBef>
              <a:spcAft>
                <a:spcPts val="0"/>
              </a:spcAft>
              <a:defRPr sz="2100" b="1">
                <a:solidFill>
                  <a:srgbClr val="182B3A"/>
                </a:solidFill>
                <a:latin typeface="Arial"/>
              </a:defRPr>
            </a:pPr>
            <a:r>
              <a:t>3.</a:t>
            </a:r>
          </a:p>
        </p:txBody>
      </p:sp>
      <p:sp>
        <p:nvSpPr>
          <p:cNvPr id="33" name="TextBox 32"/>
          <p:cNvSpPr txBox="1"/>
          <p:nvPr/>
        </p:nvSpPr>
        <p:spPr>
          <a:xfrm>
            <a:off x="914399" y="3767328"/>
            <a:ext cx="395478" cy="256032"/>
          </a:xfrm>
          <a:prstGeom prst="rect">
            <a:avLst/>
          </a:prstGeom>
          <a:noFill/>
        </p:spPr>
        <p:txBody>
          <a:bodyPr wrap="none" lIns="0" rIns="0" tIns="0" bIns="0">
            <a:spAutoFit/>
          </a:bodyPr>
          <a:lstStyle/>
          <a:p>
            <a:pPr algn="ctr">
              <a:lnSpc>
                <a:spcPts val="2240"/>
              </a:lnSpc>
              <a:spcAft>
                <a:spcPts val="0"/>
              </a:spcAft>
              <a:defRPr sz="2000" b="0">
                <a:solidFill>
                  <a:srgbClr val="182B3A"/>
                </a:solidFill>
                <a:latin typeface="Arial"/>
              </a:defRPr>
            </a:pPr>
            <a:r>
              <a:t>9</a:t>
            </a:r>
          </a:p>
        </p:txBody>
      </p:sp>
      <p:cxnSp>
        <p:nvCxnSpPr>
          <p:cNvPr id="34" name="Connector 33"/>
          <p:cNvCxnSpPr/>
          <p:nvPr/>
        </p:nvCxnSpPr>
        <p:spPr>
          <a:xfrm>
            <a:off x="914399" y="4032504"/>
            <a:ext cx="395479" cy="0"/>
          </a:xfrm>
          <a:prstGeom prst="line">
            <a:avLst/>
          </a:prstGeom>
          <a:ln w="12700">
            <a:solidFill>
              <a:srgbClr val="182B3A"/>
            </a:solidFill>
          </a:ln>
          <a:effectLst/>
        </p:spPr>
        <p:style>
          <a:lnRef idx="2">
            <a:schemeClr val="accent1"/>
          </a:lnRef>
          <a:fillRef idx="0">
            <a:schemeClr val="accent1"/>
          </a:fillRef>
          <a:effectRef idx="1">
            <a:schemeClr val="accent1"/>
          </a:effectRef>
          <a:fontRef idx="minor">
            <a:schemeClr val="tx1"/>
          </a:fontRef>
        </p:style>
      </p:cxnSp>
      <p:sp>
        <p:nvSpPr>
          <p:cNvPr id="35" name="TextBox 34"/>
          <p:cNvSpPr txBox="1"/>
          <p:nvPr/>
        </p:nvSpPr>
        <p:spPr>
          <a:xfrm>
            <a:off x="914399" y="4050791"/>
            <a:ext cx="395478" cy="256032"/>
          </a:xfrm>
          <a:prstGeom prst="rect">
            <a:avLst/>
          </a:prstGeom>
          <a:noFill/>
        </p:spPr>
        <p:txBody>
          <a:bodyPr wrap="none" lIns="0" rIns="0" tIns="0" bIns="0">
            <a:spAutoFit/>
          </a:bodyPr>
          <a:lstStyle/>
          <a:p>
            <a:pPr algn="ctr">
              <a:lnSpc>
                <a:spcPts val="2240"/>
              </a:lnSpc>
              <a:spcAft>
                <a:spcPts val="0"/>
              </a:spcAft>
              <a:defRPr sz="2000" b="0">
                <a:solidFill>
                  <a:srgbClr val="182B3A"/>
                </a:solidFill>
                <a:latin typeface="Arial"/>
              </a:defRPr>
            </a:pPr>
            <a:r>
              <a:t>10</a:t>
            </a:r>
          </a:p>
        </p:txBody>
      </p:sp>
      <p:sp>
        <p:nvSpPr>
          <p:cNvPr id="36" name="TextBox 35"/>
          <p:cNvSpPr txBox="1"/>
          <p:nvPr/>
        </p:nvSpPr>
        <p:spPr>
          <a:xfrm>
            <a:off x="1364742" y="3886200"/>
            <a:ext cx="389381" cy="347472"/>
          </a:xfrm>
          <a:prstGeom prst="rect">
            <a:avLst/>
          </a:prstGeom>
          <a:noFill/>
        </p:spPr>
        <p:txBody>
          <a:bodyPr wrap="none" lIns="0" rIns="0" tIns="0" bIns="0">
            <a:spAutoFit/>
          </a:bodyPr>
          <a:lstStyle/>
          <a:p>
            <a:pPr algn="l">
              <a:lnSpc>
                <a:spcPts val="2800"/>
              </a:lnSpc>
              <a:spcAft>
                <a:spcPts val="0"/>
              </a:spcAft>
              <a:defRPr sz="2500" b="0">
                <a:solidFill>
                  <a:srgbClr val="182B3A"/>
                </a:solidFill>
                <a:latin typeface="Arial"/>
              </a:defRPr>
            </a:pPr>
            <a:r>
              <a:t> − </a:t>
            </a:r>
          </a:p>
        </p:txBody>
      </p:sp>
      <p:sp>
        <p:nvSpPr>
          <p:cNvPr id="37" name="TextBox 36"/>
          <p:cNvSpPr txBox="1"/>
          <p:nvPr/>
        </p:nvSpPr>
        <p:spPr>
          <a:xfrm>
            <a:off x="1754124" y="3767328"/>
            <a:ext cx="395478" cy="256032"/>
          </a:xfrm>
          <a:prstGeom prst="rect">
            <a:avLst/>
          </a:prstGeom>
          <a:noFill/>
        </p:spPr>
        <p:txBody>
          <a:bodyPr wrap="none" lIns="0" rIns="0" tIns="0" bIns="0">
            <a:spAutoFit/>
          </a:bodyPr>
          <a:lstStyle/>
          <a:p>
            <a:pPr algn="ctr">
              <a:lnSpc>
                <a:spcPts val="2240"/>
              </a:lnSpc>
              <a:spcAft>
                <a:spcPts val="0"/>
              </a:spcAft>
              <a:defRPr sz="2000" b="0">
                <a:solidFill>
                  <a:srgbClr val="182B3A"/>
                </a:solidFill>
                <a:latin typeface="Arial"/>
              </a:defRPr>
            </a:pPr>
            <a:r>
              <a:t>7</a:t>
            </a:r>
          </a:p>
        </p:txBody>
      </p:sp>
      <p:cxnSp>
        <p:nvCxnSpPr>
          <p:cNvPr id="38" name="Connector 37"/>
          <p:cNvCxnSpPr/>
          <p:nvPr/>
        </p:nvCxnSpPr>
        <p:spPr>
          <a:xfrm>
            <a:off x="1754124" y="4032504"/>
            <a:ext cx="395478" cy="0"/>
          </a:xfrm>
          <a:prstGeom prst="line">
            <a:avLst/>
          </a:prstGeom>
          <a:ln w="12700">
            <a:solidFill>
              <a:srgbClr val="182B3A"/>
            </a:solidFill>
          </a:ln>
          <a:effectLst/>
        </p:spPr>
        <p:style>
          <a:lnRef idx="2">
            <a:schemeClr val="accent1"/>
          </a:lnRef>
          <a:fillRef idx="0">
            <a:schemeClr val="accent1"/>
          </a:fillRef>
          <a:effectRef idx="1">
            <a:schemeClr val="accent1"/>
          </a:effectRef>
          <a:fontRef idx="minor">
            <a:schemeClr val="tx1"/>
          </a:fontRef>
        </p:style>
      </p:cxnSp>
      <p:sp>
        <p:nvSpPr>
          <p:cNvPr id="39" name="TextBox 38"/>
          <p:cNvSpPr txBox="1"/>
          <p:nvPr/>
        </p:nvSpPr>
        <p:spPr>
          <a:xfrm>
            <a:off x="1754124" y="4050791"/>
            <a:ext cx="395478" cy="256032"/>
          </a:xfrm>
          <a:prstGeom prst="rect">
            <a:avLst/>
          </a:prstGeom>
          <a:noFill/>
        </p:spPr>
        <p:txBody>
          <a:bodyPr wrap="none" lIns="0" rIns="0" tIns="0" bIns="0">
            <a:spAutoFit/>
          </a:bodyPr>
          <a:lstStyle/>
          <a:p>
            <a:pPr algn="ctr">
              <a:lnSpc>
                <a:spcPts val="2240"/>
              </a:lnSpc>
              <a:spcAft>
                <a:spcPts val="0"/>
              </a:spcAft>
              <a:defRPr sz="2000" b="0">
                <a:solidFill>
                  <a:srgbClr val="182B3A"/>
                </a:solidFill>
                <a:latin typeface="Arial"/>
              </a:defRPr>
            </a:pPr>
            <a:r>
              <a:t>10</a:t>
            </a:r>
          </a:p>
        </p:txBody>
      </p:sp>
      <p:sp>
        <p:nvSpPr>
          <p:cNvPr id="40" name="Rectangle 39"/>
          <p:cNvSpPr/>
          <p:nvPr/>
        </p:nvSpPr>
        <p:spPr>
          <a:xfrm>
            <a:off x="320040" y="4599432"/>
            <a:ext cx="4640580" cy="1005840"/>
          </a:xfrm>
          <a:prstGeom prst="rect">
            <a:avLst/>
          </a:prstGeom>
          <a:solidFill>
            <a:srgbClr val="EDF6F5"/>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411479" y="4855464"/>
            <a:ext cx="320040" cy="365760"/>
          </a:xfrm>
          <a:prstGeom prst="rect">
            <a:avLst/>
          </a:prstGeom>
          <a:noFill/>
        </p:spPr>
        <p:txBody>
          <a:bodyPr wrap="square" lIns="54864" rIns="54864" tIns="22860" bIns="22860">
            <a:spAutoFit/>
          </a:bodyPr>
          <a:lstStyle/>
          <a:p>
            <a:pPr>
              <a:lnSpc>
                <a:spcPts val="2205"/>
              </a:lnSpc>
              <a:spcBef>
                <a:spcPts val="0"/>
              </a:spcBef>
              <a:spcAft>
                <a:spcPts val="0"/>
              </a:spcAft>
              <a:defRPr sz="2100" b="1">
                <a:solidFill>
                  <a:srgbClr val="182B3A"/>
                </a:solidFill>
                <a:latin typeface="Arial"/>
              </a:defRPr>
            </a:pPr>
            <a:r>
              <a:t>4.</a:t>
            </a:r>
          </a:p>
        </p:txBody>
      </p:sp>
      <p:sp>
        <p:nvSpPr>
          <p:cNvPr id="42" name="TextBox 41"/>
          <p:cNvSpPr txBox="1"/>
          <p:nvPr/>
        </p:nvSpPr>
        <p:spPr>
          <a:xfrm>
            <a:off x="914399" y="4773168"/>
            <a:ext cx="252603" cy="256032"/>
          </a:xfrm>
          <a:prstGeom prst="rect">
            <a:avLst/>
          </a:prstGeom>
          <a:noFill/>
        </p:spPr>
        <p:txBody>
          <a:bodyPr wrap="none" lIns="0" rIns="0" tIns="0" bIns="0">
            <a:spAutoFit/>
          </a:bodyPr>
          <a:lstStyle/>
          <a:p>
            <a:pPr algn="ctr">
              <a:lnSpc>
                <a:spcPts val="2240"/>
              </a:lnSpc>
              <a:spcAft>
                <a:spcPts val="0"/>
              </a:spcAft>
              <a:defRPr sz="2000" b="0">
                <a:solidFill>
                  <a:srgbClr val="182B3A"/>
                </a:solidFill>
                <a:latin typeface="Arial"/>
              </a:defRPr>
            </a:pPr>
            <a:r>
              <a:t>5</a:t>
            </a:r>
          </a:p>
        </p:txBody>
      </p:sp>
      <p:cxnSp>
        <p:nvCxnSpPr>
          <p:cNvPr id="43" name="Connector 42"/>
          <p:cNvCxnSpPr/>
          <p:nvPr/>
        </p:nvCxnSpPr>
        <p:spPr>
          <a:xfrm>
            <a:off x="914399" y="5038344"/>
            <a:ext cx="252604" cy="0"/>
          </a:xfrm>
          <a:prstGeom prst="line">
            <a:avLst/>
          </a:prstGeom>
          <a:ln w="12700">
            <a:solidFill>
              <a:srgbClr val="182B3A"/>
            </a:solidFill>
          </a:ln>
          <a:effectLst/>
        </p:spPr>
        <p:style>
          <a:lnRef idx="2">
            <a:schemeClr val="accent1"/>
          </a:lnRef>
          <a:fillRef idx="0">
            <a:schemeClr val="accent1"/>
          </a:fillRef>
          <a:effectRef idx="1">
            <a:schemeClr val="accent1"/>
          </a:effectRef>
          <a:fontRef idx="minor">
            <a:schemeClr val="tx1"/>
          </a:fontRef>
        </p:style>
      </p:cxnSp>
      <p:sp>
        <p:nvSpPr>
          <p:cNvPr id="44" name="TextBox 43"/>
          <p:cNvSpPr txBox="1"/>
          <p:nvPr/>
        </p:nvSpPr>
        <p:spPr>
          <a:xfrm>
            <a:off x="914399" y="5056632"/>
            <a:ext cx="252603" cy="256032"/>
          </a:xfrm>
          <a:prstGeom prst="rect">
            <a:avLst/>
          </a:prstGeom>
          <a:noFill/>
        </p:spPr>
        <p:txBody>
          <a:bodyPr wrap="none" lIns="0" rIns="0" tIns="0" bIns="0">
            <a:spAutoFit/>
          </a:bodyPr>
          <a:lstStyle/>
          <a:p>
            <a:pPr algn="ctr">
              <a:lnSpc>
                <a:spcPts val="2240"/>
              </a:lnSpc>
              <a:spcAft>
                <a:spcPts val="0"/>
              </a:spcAft>
              <a:defRPr sz="2000" b="0">
                <a:solidFill>
                  <a:srgbClr val="182B3A"/>
                </a:solidFill>
                <a:latin typeface="Arial"/>
              </a:defRPr>
            </a:pPr>
            <a:r>
              <a:t>6</a:t>
            </a:r>
          </a:p>
        </p:txBody>
      </p:sp>
      <p:sp>
        <p:nvSpPr>
          <p:cNvPr id="45" name="TextBox 44"/>
          <p:cNvSpPr txBox="1"/>
          <p:nvPr/>
        </p:nvSpPr>
        <p:spPr>
          <a:xfrm>
            <a:off x="1221867" y="4892040"/>
            <a:ext cx="389381" cy="347472"/>
          </a:xfrm>
          <a:prstGeom prst="rect">
            <a:avLst/>
          </a:prstGeom>
          <a:noFill/>
        </p:spPr>
        <p:txBody>
          <a:bodyPr wrap="none" lIns="0" rIns="0" tIns="0" bIns="0">
            <a:spAutoFit/>
          </a:bodyPr>
          <a:lstStyle/>
          <a:p>
            <a:pPr algn="l">
              <a:lnSpc>
                <a:spcPts val="2800"/>
              </a:lnSpc>
              <a:spcAft>
                <a:spcPts val="0"/>
              </a:spcAft>
              <a:defRPr sz="2500" b="0">
                <a:solidFill>
                  <a:srgbClr val="182B3A"/>
                </a:solidFill>
                <a:latin typeface="Arial"/>
              </a:defRPr>
            </a:pPr>
            <a:r>
              <a:t> + </a:t>
            </a:r>
          </a:p>
        </p:txBody>
      </p:sp>
      <p:sp>
        <p:nvSpPr>
          <p:cNvPr id="46" name="TextBox 45"/>
          <p:cNvSpPr txBox="1"/>
          <p:nvPr/>
        </p:nvSpPr>
        <p:spPr>
          <a:xfrm>
            <a:off x="1611249" y="4773168"/>
            <a:ext cx="252603" cy="256032"/>
          </a:xfrm>
          <a:prstGeom prst="rect">
            <a:avLst/>
          </a:prstGeom>
          <a:noFill/>
        </p:spPr>
        <p:txBody>
          <a:bodyPr wrap="none" lIns="0" rIns="0" tIns="0" bIns="0">
            <a:spAutoFit/>
          </a:bodyPr>
          <a:lstStyle/>
          <a:p>
            <a:pPr algn="ctr">
              <a:lnSpc>
                <a:spcPts val="2240"/>
              </a:lnSpc>
              <a:spcAft>
                <a:spcPts val="0"/>
              </a:spcAft>
              <a:defRPr sz="2000" b="0">
                <a:solidFill>
                  <a:srgbClr val="182B3A"/>
                </a:solidFill>
                <a:latin typeface="Arial"/>
              </a:defRPr>
            </a:pPr>
            <a:r>
              <a:t>5</a:t>
            </a:r>
          </a:p>
        </p:txBody>
      </p:sp>
      <p:cxnSp>
        <p:nvCxnSpPr>
          <p:cNvPr id="47" name="Connector 46"/>
          <p:cNvCxnSpPr/>
          <p:nvPr/>
        </p:nvCxnSpPr>
        <p:spPr>
          <a:xfrm>
            <a:off x="1611249" y="5038344"/>
            <a:ext cx="252602" cy="0"/>
          </a:xfrm>
          <a:prstGeom prst="line">
            <a:avLst/>
          </a:prstGeom>
          <a:ln w="12700">
            <a:solidFill>
              <a:srgbClr val="182B3A"/>
            </a:solidFill>
          </a:ln>
          <a:effectLst/>
        </p:spPr>
        <p:style>
          <a:lnRef idx="2">
            <a:schemeClr val="accent1"/>
          </a:lnRef>
          <a:fillRef idx="0">
            <a:schemeClr val="accent1"/>
          </a:fillRef>
          <a:effectRef idx="1">
            <a:schemeClr val="accent1"/>
          </a:effectRef>
          <a:fontRef idx="minor">
            <a:schemeClr val="tx1"/>
          </a:fontRef>
        </p:style>
      </p:cxnSp>
      <p:sp>
        <p:nvSpPr>
          <p:cNvPr id="48" name="TextBox 47"/>
          <p:cNvSpPr txBox="1"/>
          <p:nvPr/>
        </p:nvSpPr>
        <p:spPr>
          <a:xfrm>
            <a:off x="1611249" y="5056632"/>
            <a:ext cx="252603" cy="256032"/>
          </a:xfrm>
          <a:prstGeom prst="rect">
            <a:avLst/>
          </a:prstGeom>
          <a:noFill/>
        </p:spPr>
        <p:txBody>
          <a:bodyPr wrap="none" lIns="0" rIns="0" tIns="0" bIns="0">
            <a:spAutoFit/>
          </a:bodyPr>
          <a:lstStyle/>
          <a:p>
            <a:pPr algn="ctr">
              <a:lnSpc>
                <a:spcPts val="2240"/>
              </a:lnSpc>
              <a:spcAft>
                <a:spcPts val="0"/>
              </a:spcAft>
              <a:defRPr sz="2000" b="0">
                <a:solidFill>
                  <a:srgbClr val="182B3A"/>
                </a:solidFill>
                <a:latin typeface="Arial"/>
              </a:defRPr>
            </a:pPr>
            <a:r>
              <a:t>6</a:t>
            </a:r>
          </a:p>
        </p:txBody>
      </p:sp>
      <p:sp>
        <p:nvSpPr>
          <p:cNvPr id="49" name="Rectangle 48"/>
          <p:cNvSpPr/>
          <p:nvPr/>
        </p:nvSpPr>
        <p:spPr>
          <a:xfrm>
            <a:off x="320040" y="5605272"/>
            <a:ext cx="4640580" cy="1005840"/>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TextBox 49"/>
          <p:cNvSpPr txBox="1"/>
          <p:nvPr/>
        </p:nvSpPr>
        <p:spPr>
          <a:xfrm>
            <a:off x="411479" y="5861304"/>
            <a:ext cx="320040" cy="365760"/>
          </a:xfrm>
          <a:prstGeom prst="rect">
            <a:avLst/>
          </a:prstGeom>
          <a:noFill/>
        </p:spPr>
        <p:txBody>
          <a:bodyPr wrap="square" lIns="54864" rIns="54864" tIns="22860" bIns="22860">
            <a:spAutoFit/>
          </a:bodyPr>
          <a:lstStyle/>
          <a:p>
            <a:pPr>
              <a:lnSpc>
                <a:spcPts val="2205"/>
              </a:lnSpc>
              <a:spcBef>
                <a:spcPts val="0"/>
              </a:spcBef>
              <a:spcAft>
                <a:spcPts val="0"/>
              </a:spcAft>
              <a:defRPr sz="2100" b="1">
                <a:solidFill>
                  <a:srgbClr val="182B3A"/>
                </a:solidFill>
                <a:latin typeface="Arial"/>
              </a:defRPr>
            </a:pPr>
            <a:r>
              <a:t>5.</a:t>
            </a:r>
          </a:p>
        </p:txBody>
      </p:sp>
      <p:sp>
        <p:nvSpPr>
          <p:cNvPr id="51" name="TextBox 50"/>
          <p:cNvSpPr txBox="1"/>
          <p:nvPr/>
        </p:nvSpPr>
        <p:spPr>
          <a:xfrm>
            <a:off x="914399" y="5779008"/>
            <a:ext cx="395180" cy="256032"/>
          </a:xfrm>
          <a:prstGeom prst="rect">
            <a:avLst/>
          </a:prstGeom>
          <a:noFill/>
        </p:spPr>
        <p:txBody>
          <a:bodyPr wrap="none" lIns="0" rIns="0" tIns="0" bIns="0">
            <a:spAutoFit/>
          </a:bodyPr>
          <a:lstStyle/>
          <a:p>
            <a:pPr algn="ctr">
              <a:lnSpc>
                <a:spcPts val="2240"/>
              </a:lnSpc>
              <a:spcAft>
                <a:spcPts val="0"/>
              </a:spcAft>
              <a:defRPr sz="2000" b="0">
                <a:solidFill>
                  <a:srgbClr val="182B3A"/>
                </a:solidFill>
                <a:latin typeface="Arial"/>
              </a:defRPr>
            </a:pPr>
            <a:r>
              <a:t>2</a:t>
            </a:r>
          </a:p>
        </p:txBody>
      </p:sp>
      <p:cxnSp>
        <p:nvCxnSpPr>
          <p:cNvPr id="52" name="Connector 51"/>
          <p:cNvCxnSpPr/>
          <p:nvPr/>
        </p:nvCxnSpPr>
        <p:spPr>
          <a:xfrm>
            <a:off x="914399" y="6044184"/>
            <a:ext cx="395181" cy="0"/>
          </a:xfrm>
          <a:prstGeom prst="line">
            <a:avLst/>
          </a:prstGeom>
          <a:ln w="12700">
            <a:solidFill>
              <a:srgbClr val="182B3A"/>
            </a:solidFill>
          </a:ln>
          <a:effectLst/>
        </p:spPr>
        <p:style>
          <a:lnRef idx="2">
            <a:schemeClr val="accent1"/>
          </a:lnRef>
          <a:fillRef idx="0">
            <a:schemeClr val="accent1"/>
          </a:fillRef>
          <a:effectRef idx="1">
            <a:schemeClr val="accent1"/>
          </a:effectRef>
          <a:fontRef idx="minor">
            <a:schemeClr val="tx1"/>
          </a:fontRef>
        </p:style>
      </p:cxnSp>
      <p:sp>
        <p:nvSpPr>
          <p:cNvPr id="53" name="TextBox 52"/>
          <p:cNvSpPr txBox="1"/>
          <p:nvPr/>
        </p:nvSpPr>
        <p:spPr>
          <a:xfrm>
            <a:off x="914399" y="6062472"/>
            <a:ext cx="395180" cy="256032"/>
          </a:xfrm>
          <a:prstGeom prst="rect">
            <a:avLst/>
          </a:prstGeom>
          <a:noFill/>
        </p:spPr>
        <p:txBody>
          <a:bodyPr wrap="none" lIns="0" rIns="0" tIns="0" bIns="0">
            <a:spAutoFit/>
          </a:bodyPr>
          <a:lstStyle/>
          <a:p>
            <a:pPr algn="ctr">
              <a:lnSpc>
                <a:spcPts val="2240"/>
              </a:lnSpc>
              <a:spcAft>
                <a:spcPts val="0"/>
              </a:spcAft>
              <a:defRPr sz="2000" b="0">
                <a:solidFill>
                  <a:srgbClr val="182B3A"/>
                </a:solidFill>
                <a:latin typeface="Arial"/>
              </a:defRPr>
            </a:pPr>
            <a:r>
              <a:t>11</a:t>
            </a:r>
          </a:p>
        </p:txBody>
      </p:sp>
      <p:sp>
        <p:nvSpPr>
          <p:cNvPr id="54" name="TextBox 53"/>
          <p:cNvSpPr txBox="1"/>
          <p:nvPr/>
        </p:nvSpPr>
        <p:spPr>
          <a:xfrm>
            <a:off x="1364444" y="5897880"/>
            <a:ext cx="389381" cy="347472"/>
          </a:xfrm>
          <a:prstGeom prst="rect">
            <a:avLst/>
          </a:prstGeom>
          <a:noFill/>
        </p:spPr>
        <p:txBody>
          <a:bodyPr wrap="none" lIns="0" rIns="0" tIns="0" bIns="0">
            <a:spAutoFit/>
          </a:bodyPr>
          <a:lstStyle/>
          <a:p>
            <a:pPr algn="l">
              <a:lnSpc>
                <a:spcPts val="2800"/>
              </a:lnSpc>
              <a:spcAft>
                <a:spcPts val="0"/>
              </a:spcAft>
              <a:defRPr sz="2500" b="0">
                <a:solidFill>
                  <a:srgbClr val="182B3A"/>
                </a:solidFill>
                <a:latin typeface="Arial"/>
              </a:defRPr>
            </a:pPr>
            <a:r>
              <a:t> − </a:t>
            </a:r>
          </a:p>
        </p:txBody>
      </p:sp>
      <p:sp>
        <p:nvSpPr>
          <p:cNvPr id="55" name="TextBox 54"/>
          <p:cNvSpPr txBox="1"/>
          <p:nvPr/>
        </p:nvSpPr>
        <p:spPr>
          <a:xfrm>
            <a:off x="1753826" y="5779008"/>
            <a:ext cx="395180" cy="256032"/>
          </a:xfrm>
          <a:prstGeom prst="rect">
            <a:avLst/>
          </a:prstGeom>
          <a:noFill/>
        </p:spPr>
        <p:txBody>
          <a:bodyPr wrap="none" lIns="0" rIns="0" tIns="0" bIns="0">
            <a:spAutoFit/>
          </a:bodyPr>
          <a:lstStyle/>
          <a:p>
            <a:pPr algn="ctr">
              <a:lnSpc>
                <a:spcPts val="2240"/>
              </a:lnSpc>
              <a:spcAft>
                <a:spcPts val="0"/>
              </a:spcAft>
              <a:defRPr sz="2000" b="0">
                <a:solidFill>
                  <a:srgbClr val="182B3A"/>
                </a:solidFill>
                <a:latin typeface="Arial"/>
              </a:defRPr>
            </a:pPr>
            <a:r>
              <a:t>2</a:t>
            </a:r>
          </a:p>
        </p:txBody>
      </p:sp>
      <p:cxnSp>
        <p:nvCxnSpPr>
          <p:cNvPr id="56" name="Connector 55"/>
          <p:cNvCxnSpPr/>
          <p:nvPr/>
        </p:nvCxnSpPr>
        <p:spPr>
          <a:xfrm>
            <a:off x="1753826" y="6044184"/>
            <a:ext cx="395180" cy="0"/>
          </a:xfrm>
          <a:prstGeom prst="line">
            <a:avLst/>
          </a:prstGeom>
          <a:ln w="12700">
            <a:solidFill>
              <a:srgbClr val="182B3A"/>
            </a:solidFill>
          </a:ln>
          <a:effectLst/>
        </p:spPr>
        <p:style>
          <a:lnRef idx="2">
            <a:schemeClr val="accent1"/>
          </a:lnRef>
          <a:fillRef idx="0">
            <a:schemeClr val="accent1"/>
          </a:fillRef>
          <a:effectRef idx="1">
            <a:schemeClr val="accent1"/>
          </a:effectRef>
          <a:fontRef idx="minor">
            <a:schemeClr val="tx1"/>
          </a:fontRef>
        </p:style>
      </p:cxnSp>
      <p:sp>
        <p:nvSpPr>
          <p:cNvPr id="57" name="TextBox 56"/>
          <p:cNvSpPr txBox="1"/>
          <p:nvPr/>
        </p:nvSpPr>
        <p:spPr>
          <a:xfrm>
            <a:off x="1753826" y="6062472"/>
            <a:ext cx="395180" cy="256032"/>
          </a:xfrm>
          <a:prstGeom prst="rect">
            <a:avLst/>
          </a:prstGeom>
          <a:noFill/>
        </p:spPr>
        <p:txBody>
          <a:bodyPr wrap="none" lIns="0" rIns="0" tIns="0" bIns="0">
            <a:spAutoFit/>
          </a:bodyPr>
          <a:lstStyle/>
          <a:p>
            <a:pPr algn="ctr">
              <a:lnSpc>
                <a:spcPts val="2240"/>
              </a:lnSpc>
              <a:spcAft>
                <a:spcPts val="0"/>
              </a:spcAft>
              <a:defRPr sz="2000" b="0">
                <a:solidFill>
                  <a:srgbClr val="182B3A"/>
                </a:solidFill>
                <a:latin typeface="Arial"/>
              </a:defRPr>
            </a:pPr>
            <a:r>
              <a:t>11</a:t>
            </a:r>
          </a:p>
        </p:txBody>
      </p:sp>
      <p:sp>
        <p:nvSpPr>
          <p:cNvPr id="58" name="Rectangle 57"/>
          <p:cNvSpPr/>
          <p:nvPr/>
        </p:nvSpPr>
        <p:spPr>
          <a:xfrm>
            <a:off x="320040" y="6611112"/>
            <a:ext cx="4640580" cy="1005840"/>
          </a:xfrm>
          <a:prstGeom prst="rect">
            <a:avLst/>
          </a:prstGeom>
          <a:solidFill>
            <a:srgbClr val="EDF6F5"/>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 name="TextBox 58"/>
          <p:cNvSpPr txBox="1"/>
          <p:nvPr/>
        </p:nvSpPr>
        <p:spPr>
          <a:xfrm>
            <a:off x="411479" y="6867144"/>
            <a:ext cx="320040" cy="365760"/>
          </a:xfrm>
          <a:prstGeom prst="rect">
            <a:avLst/>
          </a:prstGeom>
          <a:noFill/>
        </p:spPr>
        <p:txBody>
          <a:bodyPr wrap="square" lIns="54864" rIns="54864" tIns="22860" bIns="22860">
            <a:spAutoFit/>
          </a:bodyPr>
          <a:lstStyle/>
          <a:p>
            <a:pPr>
              <a:lnSpc>
                <a:spcPts val="2205"/>
              </a:lnSpc>
              <a:spcBef>
                <a:spcPts val="0"/>
              </a:spcBef>
              <a:spcAft>
                <a:spcPts val="0"/>
              </a:spcAft>
              <a:defRPr sz="2100" b="1">
                <a:solidFill>
                  <a:srgbClr val="182B3A"/>
                </a:solidFill>
                <a:latin typeface="Arial"/>
              </a:defRPr>
            </a:pPr>
            <a:r>
              <a:t>6.</a:t>
            </a:r>
          </a:p>
        </p:txBody>
      </p:sp>
      <p:sp>
        <p:nvSpPr>
          <p:cNvPr id="60" name="TextBox 59"/>
          <p:cNvSpPr txBox="1"/>
          <p:nvPr/>
        </p:nvSpPr>
        <p:spPr>
          <a:xfrm>
            <a:off x="914399" y="6784848"/>
            <a:ext cx="395478" cy="256032"/>
          </a:xfrm>
          <a:prstGeom prst="rect">
            <a:avLst/>
          </a:prstGeom>
          <a:noFill/>
        </p:spPr>
        <p:txBody>
          <a:bodyPr wrap="none" lIns="0" rIns="0" tIns="0" bIns="0">
            <a:spAutoFit/>
          </a:bodyPr>
          <a:lstStyle/>
          <a:p>
            <a:pPr algn="ctr">
              <a:lnSpc>
                <a:spcPts val="2240"/>
              </a:lnSpc>
              <a:spcAft>
                <a:spcPts val="0"/>
              </a:spcAft>
              <a:defRPr sz="2000" b="0">
                <a:solidFill>
                  <a:srgbClr val="182B3A"/>
                </a:solidFill>
                <a:latin typeface="Arial"/>
              </a:defRPr>
            </a:pPr>
            <a:r>
              <a:t>7</a:t>
            </a:r>
          </a:p>
        </p:txBody>
      </p:sp>
      <p:cxnSp>
        <p:nvCxnSpPr>
          <p:cNvPr id="61" name="Connector 60"/>
          <p:cNvCxnSpPr/>
          <p:nvPr/>
        </p:nvCxnSpPr>
        <p:spPr>
          <a:xfrm>
            <a:off x="914399" y="7050024"/>
            <a:ext cx="395479" cy="0"/>
          </a:xfrm>
          <a:prstGeom prst="line">
            <a:avLst/>
          </a:prstGeom>
          <a:ln w="12700">
            <a:solidFill>
              <a:srgbClr val="182B3A"/>
            </a:solidFill>
          </a:ln>
          <a:effectLst/>
        </p:spPr>
        <p:style>
          <a:lnRef idx="2">
            <a:schemeClr val="accent1"/>
          </a:lnRef>
          <a:fillRef idx="0">
            <a:schemeClr val="accent1"/>
          </a:fillRef>
          <a:effectRef idx="1">
            <a:schemeClr val="accent1"/>
          </a:effectRef>
          <a:fontRef idx="minor">
            <a:schemeClr val="tx1"/>
          </a:fontRef>
        </p:style>
      </p:cxnSp>
      <p:sp>
        <p:nvSpPr>
          <p:cNvPr id="62" name="TextBox 61"/>
          <p:cNvSpPr txBox="1"/>
          <p:nvPr/>
        </p:nvSpPr>
        <p:spPr>
          <a:xfrm>
            <a:off x="914399" y="7068312"/>
            <a:ext cx="395478" cy="256032"/>
          </a:xfrm>
          <a:prstGeom prst="rect">
            <a:avLst/>
          </a:prstGeom>
          <a:noFill/>
        </p:spPr>
        <p:txBody>
          <a:bodyPr wrap="none" lIns="0" rIns="0" tIns="0" bIns="0">
            <a:spAutoFit/>
          </a:bodyPr>
          <a:lstStyle/>
          <a:p>
            <a:pPr algn="ctr">
              <a:lnSpc>
                <a:spcPts val="2240"/>
              </a:lnSpc>
              <a:spcAft>
                <a:spcPts val="0"/>
              </a:spcAft>
              <a:defRPr sz="2000" b="0">
                <a:solidFill>
                  <a:srgbClr val="182B3A"/>
                </a:solidFill>
                <a:latin typeface="Arial"/>
              </a:defRPr>
            </a:pPr>
            <a:r>
              <a:t>10</a:t>
            </a:r>
          </a:p>
        </p:txBody>
      </p:sp>
      <p:sp>
        <p:nvSpPr>
          <p:cNvPr id="63" name="TextBox 62"/>
          <p:cNvSpPr txBox="1"/>
          <p:nvPr/>
        </p:nvSpPr>
        <p:spPr>
          <a:xfrm>
            <a:off x="1364742" y="6903720"/>
            <a:ext cx="389381" cy="347472"/>
          </a:xfrm>
          <a:prstGeom prst="rect">
            <a:avLst/>
          </a:prstGeom>
          <a:noFill/>
        </p:spPr>
        <p:txBody>
          <a:bodyPr wrap="none" lIns="0" rIns="0" tIns="0" bIns="0">
            <a:spAutoFit/>
          </a:bodyPr>
          <a:lstStyle/>
          <a:p>
            <a:pPr algn="l">
              <a:lnSpc>
                <a:spcPts val="2800"/>
              </a:lnSpc>
              <a:spcAft>
                <a:spcPts val="0"/>
              </a:spcAft>
              <a:defRPr sz="2500" b="0">
                <a:solidFill>
                  <a:srgbClr val="182B3A"/>
                </a:solidFill>
                <a:latin typeface="Arial"/>
              </a:defRPr>
            </a:pPr>
            <a:r>
              <a:t> + </a:t>
            </a:r>
          </a:p>
        </p:txBody>
      </p:sp>
      <p:sp>
        <p:nvSpPr>
          <p:cNvPr id="64" name="TextBox 63"/>
          <p:cNvSpPr txBox="1"/>
          <p:nvPr/>
        </p:nvSpPr>
        <p:spPr>
          <a:xfrm>
            <a:off x="1754124" y="6784848"/>
            <a:ext cx="395478" cy="256032"/>
          </a:xfrm>
          <a:prstGeom prst="rect">
            <a:avLst/>
          </a:prstGeom>
          <a:noFill/>
        </p:spPr>
        <p:txBody>
          <a:bodyPr wrap="none" lIns="0" rIns="0" tIns="0" bIns="0">
            <a:spAutoFit/>
          </a:bodyPr>
          <a:lstStyle/>
          <a:p>
            <a:pPr algn="ctr">
              <a:lnSpc>
                <a:spcPts val="2240"/>
              </a:lnSpc>
              <a:spcAft>
                <a:spcPts val="0"/>
              </a:spcAft>
              <a:defRPr sz="2000" b="0">
                <a:solidFill>
                  <a:srgbClr val="182B3A"/>
                </a:solidFill>
                <a:latin typeface="Arial"/>
              </a:defRPr>
            </a:pPr>
            <a:r>
              <a:t>9</a:t>
            </a:r>
          </a:p>
        </p:txBody>
      </p:sp>
      <p:cxnSp>
        <p:nvCxnSpPr>
          <p:cNvPr id="65" name="Connector 64"/>
          <p:cNvCxnSpPr/>
          <p:nvPr/>
        </p:nvCxnSpPr>
        <p:spPr>
          <a:xfrm>
            <a:off x="1754124" y="7050024"/>
            <a:ext cx="395478" cy="0"/>
          </a:xfrm>
          <a:prstGeom prst="line">
            <a:avLst/>
          </a:prstGeom>
          <a:ln w="12700">
            <a:solidFill>
              <a:srgbClr val="182B3A"/>
            </a:solidFill>
          </a:ln>
          <a:effectLst/>
        </p:spPr>
        <p:style>
          <a:lnRef idx="2">
            <a:schemeClr val="accent1"/>
          </a:lnRef>
          <a:fillRef idx="0">
            <a:schemeClr val="accent1"/>
          </a:fillRef>
          <a:effectRef idx="1">
            <a:schemeClr val="accent1"/>
          </a:effectRef>
          <a:fontRef idx="minor">
            <a:schemeClr val="tx1"/>
          </a:fontRef>
        </p:style>
      </p:cxnSp>
      <p:sp>
        <p:nvSpPr>
          <p:cNvPr id="66" name="TextBox 65"/>
          <p:cNvSpPr txBox="1"/>
          <p:nvPr/>
        </p:nvSpPr>
        <p:spPr>
          <a:xfrm>
            <a:off x="1754124" y="7068312"/>
            <a:ext cx="395478" cy="256032"/>
          </a:xfrm>
          <a:prstGeom prst="rect">
            <a:avLst/>
          </a:prstGeom>
          <a:noFill/>
        </p:spPr>
        <p:txBody>
          <a:bodyPr wrap="none" lIns="0" rIns="0" tIns="0" bIns="0">
            <a:spAutoFit/>
          </a:bodyPr>
          <a:lstStyle/>
          <a:p>
            <a:pPr algn="ctr">
              <a:lnSpc>
                <a:spcPts val="2240"/>
              </a:lnSpc>
              <a:spcAft>
                <a:spcPts val="0"/>
              </a:spcAft>
              <a:defRPr sz="2000" b="0">
                <a:solidFill>
                  <a:srgbClr val="182B3A"/>
                </a:solidFill>
                <a:latin typeface="Arial"/>
              </a:defRPr>
            </a:pPr>
            <a:r>
              <a:t>10</a:t>
            </a:r>
          </a:p>
        </p:txBody>
      </p:sp>
      <p:sp>
        <p:nvSpPr>
          <p:cNvPr id="67" name="Rectangle 66"/>
          <p:cNvSpPr/>
          <p:nvPr/>
        </p:nvSpPr>
        <p:spPr>
          <a:xfrm>
            <a:off x="4983480" y="1581912"/>
            <a:ext cx="4640580" cy="1005840"/>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8" name="TextBox 67"/>
          <p:cNvSpPr txBox="1"/>
          <p:nvPr/>
        </p:nvSpPr>
        <p:spPr>
          <a:xfrm>
            <a:off x="5074920" y="1837943"/>
            <a:ext cx="320040" cy="365760"/>
          </a:xfrm>
          <a:prstGeom prst="rect">
            <a:avLst/>
          </a:prstGeom>
          <a:noFill/>
        </p:spPr>
        <p:txBody>
          <a:bodyPr wrap="square" lIns="54864" rIns="54864" tIns="22860" bIns="22860">
            <a:spAutoFit/>
          </a:bodyPr>
          <a:lstStyle/>
          <a:p>
            <a:pPr>
              <a:lnSpc>
                <a:spcPts val="2205"/>
              </a:lnSpc>
              <a:spcBef>
                <a:spcPts val="0"/>
              </a:spcBef>
              <a:spcAft>
                <a:spcPts val="0"/>
              </a:spcAft>
              <a:defRPr sz="2100" b="1">
                <a:solidFill>
                  <a:srgbClr val="182B3A"/>
                </a:solidFill>
                <a:latin typeface="Arial"/>
              </a:defRPr>
            </a:pPr>
            <a:r>
              <a:t>1.</a:t>
            </a:r>
          </a:p>
        </p:txBody>
      </p:sp>
      <p:sp>
        <p:nvSpPr>
          <p:cNvPr id="69" name="TextBox 68"/>
          <p:cNvSpPr txBox="1"/>
          <p:nvPr/>
        </p:nvSpPr>
        <p:spPr>
          <a:xfrm>
            <a:off x="5577840" y="1755648"/>
            <a:ext cx="395478" cy="256032"/>
          </a:xfrm>
          <a:prstGeom prst="rect">
            <a:avLst/>
          </a:prstGeom>
          <a:noFill/>
        </p:spPr>
        <p:txBody>
          <a:bodyPr wrap="none" lIns="0" rIns="0" tIns="0" bIns="0">
            <a:spAutoFit/>
          </a:bodyPr>
          <a:lstStyle/>
          <a:p>
            <a:pPr algn="ctr">
              <a:lnSpc>
                <a:spcPts val="2240"/>
              </a:lnSpc>
              <a:spcAft>
                <a:spcPts val="0"/>
              </a:spcAft>
              <a:defRPr sz="2000" b="0">
                <a:solidFill>
                  <a:srgbClr val="182B3A"/>
                </a:solidFill>
                <a:latin typeface="Arial"/>
              </a:defRPr>
            </a:pPr>
            <a:r>
              <a:t>5</a:t>
            </a:r>
          </a:p>
        </p:txBody>
      </p:sp>
      <p:cxnSp>
        <p:nvCxnSpPr>
          <p:cNvPr id="70" name="Connector 69"/>
          <p:cNvCxnSpPr/>
          <p:nvPr/>
        </p:nvCxnSpPr>
        <p:spPr>
          <a:xfrm>
            <a:off x="5577840" y="2020824"/>
            <a:ext cx="395478" cy="0"/>
          </a:xfrm>
          <a:prstGeom prst="line">
            <a:avLst/>
          </a:prstGeom>
          <a:ln w="12700">
            <a:solidFill>
              <a:srgbClr val="182B3A"/>
            </a:solidFill>
          </a:ln>
          <a:effectLst/>
        </p:spPr>
        <p:style>
          <a:lnRef idx="2">
            <a:schemeClr val="accent1"/>
          </a:lnRef>
          <a:fillRef idx="0">
            <a:schemeClr val="accent1"/>
          </a:fillRef>
          <a:effectRef idx="1">
            <a:schemeClr val="accent1"/>
          </a:effectRef>
          <a:fontRef idx="minor">
            <a:schemeClr val="tx1"/>
          </a:fontRef>
        </p:style>
      </p:cxnSp>
      <p:sp>
        <p:nvSpPr>
          <p:cNvPr id="71" name="TextBox 70"/>
          <p:cNvSpPr txBox="1"/>
          <p:nvPr/>
        </p:nvSpPr>
        <p:spPr>
          <a:xfrm>
            <a:off x="5577840" y="2039112"/>
            <a:ext cx="395478" cy="256032"/>
          </a:xfrm>
          <a:prstGeom prst="rect">
            <a:avLst/>
          </a:prstGeom>
          <a:noFill/>
        </p:spPr>
        <p:txBody>
          <a:bodyPr wrap="none" lIns="0" rIns="0" tIns="0" bIns="0">
            <a:spAutoFit/>
          </a:bodyPr>
          <a:lstStyle/>
          <a:p>
            <a:pPr algn="ctr">
              <a:lnSpc>
                <a:spcPts val="2240"/>
              </a:lnSpc>
              <a:spcAft>
                <a:spcPts val="0"/>
              </a:spcAft>
              <a:defRPr sz="2000" b="0">
                <a:solidFill>
                  <a:srgbClr val="182B3A"/>
                </a:solidFill>
                <a:latin typeface="Arial"/>
              </a:defRPr>
            </a:pPr>
            <a:r>
              <a:t>12</a:t>
            </a:r>
          </a:p>
        </p:txBody>
      </p:sp>
      <p:sp>
        <p:nvSpPr>
          <p:cNvPr id="72" name="TextBox 71"/>
          <p:cNvSpPr txBox="1"/>
          <p:nvPr/>
        </p:nvSpPr>
        <p:spPr>
          <a:xfrm>
            <a:off x="6028182" y="1874519"/>
            <a:ext cx="389381" cy="347472"/>
          </a:xfrm>
          <a:prstGeom prst="rect">
            <a:avLst/>
          </a:prstGeom>
          <a:noFill/>
        </p:spPr>
        <p:txBody>
          <a:bodyPr wrap="none" lIns="0" rIns="0" tIns="0" bIns="0">
            <a:spAutoFit/>
          </a:bodyPr>
          <a:lstStyle/>
          <a:p>
            <a:pPr algn="l">
              <a:lnSpc>
                <a:spcPts val="2800"/>
              </a:lnSpc>
              <a:spcAft>
                <a:spcPts val="0"/>
              </a:spcAft>
              <a:defRPr sz="2500" b="0">
                <a:solidFill>
                  <a:srgbClr val="182B3A"/>
                </a:solidFill>
                <a:latin typeface="Arial"/>
              </a:defRPr>
            </a:pPr>
            <a:r>
              <a:t> − </a:t>
            </a:r>
          </a:p>
        </p:txBody>
      </p:sp>
      <p:sp>
        <p:nvSpPr>
          <p:cNvPr id="73" name="TextBox 72"/>
          <p:cNvSpPr txBox="1"/>
          <p:nvPr/>
        </p:nvSpPr>
        <p:spPr>
          <a:xfrm>
            <a:off x="6417564" y="1755648"/>
            <a:ext cx="252603" cy="256032"/>
          </a:xfrm>
          <a:prstGeom prst="rect">
            <a:avLst/>
          </a:prstGeom>
          <a:noFill/>
        </p:spPr>
        <p:txBody>
          <a:bodyPr wrap="none" lIns="0" rIns="0" tIns="0" bIns="0">
            <a:spAutoFit/>
          </a:bodyPr>
          <a:lstStyle/>
          <a:p>
            <a:pPr algn="ctr">
              <a:lnSpc>
                <a:spcPts val="2240"/>
              </a:lnSpc>
              <a:spcAft>
                <a:spcPts val="0"/>
              </a:spcAft>
              <a:defRPr sz="2000" b="0">
                <a:solidFill>
                  <a:srgbClr val="182B3A"/>
                </a:solidFill>
                <a:latin typeface="Arial"/>
              </a:defRPr>
            </a:pPr>
            <a:r>
              <a:t>1</a:t>
            </a:r>
          </a:p>
        </p:txBody>
      </p:sp>
      <p:cxnSp>
        <p:nvCxnSpPr>
          <p:cNvPr id="74" name="Connector 73"/>
          <p:cNvCxnSpPr/>
          <p:nvPr/>
        </p:nvCxnSpPr>
        <p:spPr>
          <a:xfrm>
            <a:off x="6417564" y="2020824"/>
            <a:ext cx="252603" cy="0"/>
          </a:xfrm>
          <a:prstGeom prst="line">
            <a:avLst/>
          </a:prstGeom>
          <a:ln w="12700">
            <a:solidFill>
              <a:srgbClr val="182B3A"/>
            </a:solidFill>
          </a:ln>
          <a:effectLst/>
        </p:spPr>
        <p:style>
          <a:lnRef idx="2">
            <a:schemeClr val="accent1"/>
          </a:lnRef>
          <a:fillRef idx="0">
            <a:schemeClr val="accent1"/>
          </a:fillRef>
          <a:effectRef idx="1">
            <a:schemeClr val="accent1"/>
          </a:effectRef>
          <a:fontRef idx="minor">
            <a:schemeClr val="tx1"/>
          </a:fontRef>
        </p:style>
      </p:cxnSp>
      <p:sp>
        <p:nvSpPr>
          <p:cNvPr id="75" name="TextBox 74"/>
          <p:cNvSpPr txBox="1"/>
          <p:nvPr/>
        </p:nvSpPr>
        <p:spPr>
          <a:xfrm>
            <a:off x="6417564" y="2039112"/>
            <a:ext cx="252603" cy="256032"/>
          </a:xfrm>
          <a:prstGeom prst="rect">
            <a:avLst/>
          </a:prstGeom>
          <a:noFill/>
        </p:spPr>
        <p:txBody>
          <a:bodyPr wrap="none" lIns="0" rIns="0" tIns="0" bIns="0">
            <a:spAutoFit/>
          </a:bodyPr>
          <a:lstStyle/>
          <a:p>
            <a:pPr algn="ctr">
              <a:lnSpc>
                <a:spcPts val="2240"/>
              </a:lnSpc>
              <a:spcAft>
                <a:spcPts val="0"/>
              </a:spcAft>
              <a:defRPr sz="2000" b="0">
                <a:solidFill>
                  <a:srgbClr val="182B3A"/>
                </a:solidFill>
                <a:latin typeface="Arial"/>
              </a:defRPr>
            </a:pPr>
            <a:r>
              <a:t>4</a:t>
            </a:r>
          </a:p>
        </p:txBody>
      </p:sp>
      <p:sp>
        <p:nvSpPr>
          <p:cNvPr id="76" name="Rectangle 75"/>
          <p:cNvSpPr/>
          <p:nvPr/>
        </p:nvSpPr>
        <p:spPr>
          <a:xfrm>
            <a:off x="4983480" y="2587752"/>
            <a:ext cx="4640580" cy="1005840"/>
          </a:xfrm>
          <a:prstGeom prst="rect">
            <a:avLst/>
          </a:prstGeom>
          <a:solidFill>
            <a:srgbClr val="EFF3FA"/>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7" name="TextBox 76"/>
          <p:cNvSpPr txBox="1"/>
          <p:nvPr/>
        </p:nvSpPr>
        <p:spPr>
          <a:xfrm>
            <a:off x="5074920" y="2843784"/>
            <a:ext cx="320040" cy="365760"/>
          </a:xfrm>
          <a:prstGeom prst="rect">
            <a:avLst/>
          </a:prstGeom>
          <a:noFill/>
        </p:spPr>
        <p:txBody>
          <a:bodyPr wrap="square" lIns="54864" rIns="54864" tIns="22860" bIns="22860">
            <a:spAutoFit/>
          </a:bodyPr>
          <a:lstStyle/>
          <a:p>
            <a:pPr>
              <a:lnSpc>
                <a:spcPts val="2205"/>
              </a:lnSpc>
              <a:spcBef>
                <a:spcPts val="0"/>
              </a:spcBef>
              <a:spcAft>
                <a:spcPts val="0"/>
              </a:spcAft>
              <a:defRPr sz="2100" b="1">
                <a:solidFill>
                  <a:srgbClr val="182B3A"/>
                </a:solidFill>
                <a:latin typeface="Arial"/>
              </a:defRPr>
            </a:pPr>
            <a:r>
              <a:t>2.</a:t>
            </a:r>
          </a:p>
        </p:txBody>
      </p:sp>
      <p:sp>
        <p:nvSpPr>
          <p:cNvPr id="78" name="TextBox 77"/>
          <p:cNvSpPr txBox="1"/>
          <p:nvPr/>
        </p:nvSpPr>
        <p:spPr>
          <a:xfrm>
            <a:off x="5577840" y="2761488"/>
            <a:ext cx="252603" cy="256032"/>
          </a:xfrm>
          <a:prstGeom prst="rect">
            <a:avLst/>
          </a:prstGeom>
          <a:noFill/>
        </p:spPr>
        <p:txBody>
          <a:bodyPr wrap="none" lIns="0" rIns="0" tIns="0" bIns="0">
            <a:spAutoFit/>
          </a:bodyPr>
          <a:lstStyle/>
          <a:p>
            <a:pPr algn="ctr">
              <a:lnSpc>
                <a:spcPts val="2240"/>
              </a:lnSpc>
              <a:spcAft>
                <a:spcPts val="0"/>
              </a:spcAft>
              <a:defRPr sz="2000" b="0">
                <a:solidFill>
                  <a:srgbClr val="182B3A"/>
                </a:solidFill>
                <a:latin typeface="Arial"/>
              </a:defRPr>
            </a:pPr>
            <a:r>
              <a:t>2</a:t>
            </a:r>
          </a:p>
        </p:txBody>
      </p:sp>
      <p:cxnSp>
        <p:nvCxnSpPr>
          <p:cNvPr id="79" name="Connector 78"/>
          <p:cNvCxnSpPr/>
          <p:nvPr/>
        </p:nvCxnSpPr>
        <p:spPr>
          <a:xfrm>
            <a:off x="5577840" y="3026664"/>
            <a:ext cx="252603" cy="0"/>
          </a:xfrm>
          <a:prstGeom prst="line">
            <a:avLst/>
          </a:prstGeom>
          <a:ln w="12700">
            <a:solidFill>
              <a:srgbClr val="182B3A"/>
            </a:solidFill>
          </a:ln>
          <a:effectLst/>
        </p:spPr>
        <p:style>
          <a:lnRef idx="2">
            <a:schemeClr val="accent1"/>
          </a:lnRef>
          <a:fillRef idx="0">
            <a:schemeClr val="accent1"/>
          </a:fillRef>
          <a:effectRef idx="1">
            <a:schemeClr val="accent1"/>
          </a:effectRef>
          <a:fontRef idx="minor">
            <a:schemeClr val="tx1"/>
          </a:fontRef>
        </p:style>
      </p:cxnSp>
      <p:sp>
        <p:nvSpPr>
          <p:cNvPr id="80" name="TextBox 79"/>
          <p:cNvSpPr txBox="1"/>
          <p:nvPr/>
        </p:nvSpPr>
        <p:spPr>
          <a:xfrm>
            <a:off x="5577840" y="3044952"/>
            <a:ext cx="252603" cy="256032"/>
          </a:xfrm>
          <a:prstGeom prst="rect">
            <a:avLst/>
          </a:prstGeom>
          <a:noFill/>
        </p:spPr>
        <p:txBody>
          <a:bodyPr wrap="none" lIns="0" rIns="0" tIns="0" bIns="0">
            <a:spAutoFit/>
          </a:bodyPr>
          <a:lstStyle/>
          <a:p>
            <a:pPr algn="ctr">
              <a:lnSpc>
                <a:spcPts val="2240"/>
              </a:lnSpc>
              <a:spcAft>
                <a:spcPts val="0"/>
              </a:spcAft>
              <a:defRPr sz="2000" b="0">
                <a:solidFill>
                  <a:srgbClr val="182B3A"/>
                </a:solidFill>
                <a:latin typeface="Arial"/>
              </a:defRPr>
            </a:pPr>
            <a:r>
              <a:t>3</a:t>
            </a:r>
          </a:p>
        </p:txBody>
      </p:sp>
      <p:sp>
        <p:nvSpPr>
          <p:cNvPr id="81" name="TextBox 80"/>
          <p:cNvSpPr txBox="1"/>
          <p:nvPr/>
        </p:nvSpPr>
        <p:spPr>
          <a:xfrm>
            <a:off x="5885307" y="2880360"/>
            <a:ext cx="389381" cy="347472"/>
          </a:xfrm>
          <a:prstGeom prst="rect">
            <a:avLst/>
          </a:prstGeom>
          <a:noFill/>
        </p:spPr>
        <p:txBody>
          <a:bodyPr wrap="none" lIns="0" rIns="0" tIns="0" bIns="0">
            <a:spAutoFit/>
          </a:bodyPr>
          <a:lstStyle/>
          <a:p>
            <a:pPr algn="l">
              <a:lnSpc>
                <a:spcPts val="2800"/>
              </a:lnSpc>
              <a:spcAft>
                <a:spcPts val="0"/>
              </a:spcAft>
              <a:defRPr sz="2500" b="0">
                <a:solidFill>
                  <a:srgbClr val="182B3A"/>
                </a:solidFill>
                <a:latin typeface="Arial"/>
              </a:defRPr>
            </a:pPr>
            <a:r>
              <a:t> − </a:t>
            </a:r>
          </a:p>
        </p:txBody>
      </p:sp>
      <p:sp>
        <p:nvSpPr>
          <p:cNvPr id="82" name="TextBox 81"/>
          <p:cNvSpPr txBox="1"/>
          <p:nvPr/>
        </p:nvSpPr>
        <p:spPr>
          <a:xfrm>
            <a:off x="6274689" y="2761488"/>
            <a:ext cx="252603" cy="256032"/>
          </a:xfrm>
          <a:prstGeom prst="rect">
            <a:avLst/>
          </a:prstGeom>
          <a:noFill/>
        </p:spPr>
        <p:txBody>
          <a:bodyPr wrap="none" lIns="0" rIns="0" tIns="0" bIns="0">
            <a:spAutoFit/>
          </a:bodyPr>
          <a:lstStyle/>
          <a:p>
            <a:pPr algn="ctr">
              <a:lnSpc>
                <a:spcPts val="2240"/>
              </a:lnSpc>
              <a:spcAft>
                <a:spcPts val="0"/>
              </a:spcAft>
              <a:defRPr sz="2000" b="0">
                <a:solidFill>
                  <a:srgbClr val="182B3A"/>
                </a:solidFill>
                <a:latin typeface="Arial"/>
              </a:defRPr>
            </a:pPr>
            <a:r>
              <a:t>2</a:t>
            </a:r>
          </a:p>
        </p:txBody>
      </p:sp>
      <p:cxnSp>
        <p:nvCxnSpPr>
          <p:cNvPr id="83" name="Connector 82"/>
          <p:cNvCxnSpPr/>
          <p:nvPr/>
        </p:nvCxnSpPr>
        <p:spPr>
          <a:xfrm>
            <a:off x="6274689" y="3026664"/>
            <a:ext cx="252603" cy="0"/>
          </a:xfrm>
          <a:prstGeom prst="line">
            <a:avLst/>
          </a:prstGeom>
          <a:ln w="12700">
            <a:solidFill>
              <a:srgbClr val="182B3A"/>
            </a:solidFill>
          </a:ln>
          <a:effectLst/>
        </p:spPr>
        <p:style>
          <a:lnRef idx="2">
            <a:schemeClr val="accent1"/>
          </a:lnRef>
          <a:fillRef idx="0">
            <a:schemeClr val="accent1"/>
          </a:fillRef>
          <a:effectRef idx="1">
            <a:schemeClr val="accent1"/>
          </a:effectRef>
          <a:fontRef idx="minor">
            <a:schemeClr val="tx1"/>
          </a:fontRef>
        </p:style>
      </p:cxnSp>
      <p:sp>
        <p:nvSpPr>
          <p:cNvPr id="84" name="TextBox 83"/>
          <p:cNvSpPr txBox="1"/>
          <p:nvPr/>
        </p:nvSpPr>
        <p:spPr>
          <a:xfrm>
            <a:off x="6274689" y="3044952"/>
            <a:ext cx="252603" cy="256032"/>
          </a:xfrm>
          <a:prstGeom prst="rect">
            <a:avLst/>
          </a:prstGeom>
          <a:noFill/>
        </p:spPr>
        <p:txBody>
          <a:bodyPr wrap="none" lIns="0" rIns="0" tIns="0" bIns="0">
            <a:spAutoFit/>
          </a:bodyPr>
          <a:lstStyle/>
          <a:p>
            <a:pPr algn="ctr">
              <a:lnSpc>
                <a:spcPts val="2240"/>
              </a:lnSpc>
              <a:spcAft>
                <a:spcPts val="0"/>
              </a:spcAft>
              <a:defRPr sz="2000" b="0">
                <a:solidFill>
                  <a:srgbClr val="182B3A"/>
                </a:solidFill>
                <a:latin typeface="Arial"/>
              </a:defRPr>
            </a:pPr>
            <a:r>
              <a:t>9</a:t>
            </a:r>
          </a:p>
        </p:txBody>
      </p:sp>
      <p:sp>
        <p:nvSpPr>
          <p:cNvPr id="85" name="Rectangle 84"/>
          <p:cNvSpPr/>
          <p:nvPr/>
        </p:nvSpPr>
        <p:spPr>
          <a:xfrm>
            <a:off x="4983480" y="3593592"/>
            <a:ext cx="4640580" cy="1005840"/>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6" name="TextBox 85"/>
          <p:cNvSpPr txBox="1"/>
          <p:nvPr/>
        </p:nvSpPr>
        <p:spPr>
          <a:xfrm>
            <a:off x="5074920" y="3849624"/>
            <a:ext cx="320040" cy="365760"/>
          </a:xfrm>
          <a:prstGeom prst="rect">
            <a:avLst/>
          </a:prstGeom>
          <a:noFill/>
        </p:spPr>
        <p:txBody>
          <a:bodyPr wrap="square" lIns="54864" rIns="54864" tIns="22860" bIns="22860">
            <a:spAutoFit/>
          </a:bodyPr>
          <a:lstStyle/>
          <a:p>
            <a:pPr>
              <a:lnSpc>
                <a:spcPts val="2205"/>
              </a:lnSpc>
              <a:spcBef>
                <a:spcPts val="0"/>
              </a:spcBef>
              <a:spcAft>
                <a:spcPts val="0"/>
              </a:spcAft>
              <a:defRPr sz="2100" b="1">
                <a:solidFill>
                  <a:srgbClr val="182B3A"/>
                </a:solidFill>
                <a:latin typeface="Arial"/>
              </a:defRPr>
            </a:pPr>
            <a:r>
              <a:t>3.</a:t>
            </a:r>
          </a:p>
        </p:txBody>
      </p:sp>
      <p:sp>
        <p:nvSpPr>
          <p:cNvPr id="87" name="TextBox 86"/>
          <p:cNvSpPr txBox="1"/>
          <p:nvPr/>
        </p:nvSpPr>
        <p:spPr>
          <a:xfrm>
            <a:off x="5577840" y="3767328"/>
            <a:ext cx="252603" cy="256032"/>
          </a:xfrm>
          <a:prstGeom prst="rect">
            <a:avLst/>
          </a:prstGeom>
          <a:noFill/>
        </p:spPr>
        <p:txBody>
          <a:bodyPr wrap="none" lIns="0" rIns="0" tIns="0" bIns="0">
            <a:spAutoFit/>
          </a:bodyPr>
          <a:lstStyle/>
          <a:p>
            <a:pPr algn="ctr">
              <a:lnSpc>
                <a:spcPts val="2240"/>
              </a:lnSpc>
              <a:spcAft>
                <a:spcPts val="0"/>
              </a:spcAft>
              <a:defRPr sz="2000" b="0">
                <a:solidFill>
                  <a:srgbClr val="182B3A"/>
                </a:solidFill>
                <a:latin typeface="Arial"/>
              </a:defRPr>
            </a:pPr>
            <a:r>
              <a:t>4</a:t>
            </a:r>
          </a:p>
        </p:txBody>
      </p:sp>
      <p:cxnSp>
        <p:nvCxnSpPr>
          <p:cNvPr id="88" name="Connector 87"/>
          <p:cNvCxnSpPr/>
          <p:nvPr/>
        </p:nvCxnSpPr>
        <p:spPr>
          <a:xfrm>
            <a:off x="5577840" y="4032504"/>
            <a:ext cx="252603" cy="0"/>
          </a:xfrm>
          <a:prstGeom prst="line">
            <a:avLst/>
          </a:prstGeom>
          <a:ln w="12700">
            <a:solidFill>
              <a:srgbClr val="182B3A"/>
            </a:solidFill>
          </a:ln>
          <a:effectLst/>
        </p:spPr>
        <p:style>
          <a:lnRef idx="2">
            <a:schemeClr val="accent1"/>
          </a:lnRef>
          <a:fillRef idx="0">
            <a:schemeClr val="accent1"/>
          </a:fillRef>
          <a:effectRef idx="1">
            <a:schemeClr val="accent1"/>
          </a:effectRef>
          <a:fontRef idx="minor">
            <a:schemeClr val="tx1"/>
          </a:fontRef>
        </p:style>
      </p:cxnSp>
      <p:sp>
        <p:nvSpPr>
          <p:cNvPr id="89" name="TextBox 88"/>
          <p:cNvSpPr txBox="1"/>
          <p:nvPr/>
        </p:nvSpPr>
        <p:spPr>
          <a:xfrm>
            <a:off x="5577840" y="4050791"/>
            <a:ext cx="252603" cy="256032"/>
          </a:xfrm>
          <a:prstGeom prst="rect">
            <a:avLst/>
          </a:prstGeom>
          <a:noFill/>
        </p:spPr>
        <p:txBody>
          <a:bodyPr wrap="none" lIns="0" rIns="0" tIns="0" bIns="0">
            <a:spAutoFit/>
          </a:bodyPr>
          <a:lstStyle/>
          <a:p>
            <a:pPr algn="ctr">
              <a:lnSpc>
                <a:spcPts val="2240"/>
              </a:lnSpc>
              <a:spcAft>
                <a:spcPts val="0"/>
              </a:spcAft>
              <a:defRPr sz="2000" b="0">
                <a:solidFill>
                  <a:srgbClr val="182B3A"/>
                </a:solidFill>
                <a:latin typeface="Arial"/>
              </a:defRPr>
            </a:pPr>
            <a:r>
              <a:t>9</a:t>
            </a:r>
          </a:p>
        </p:txBody>
      </p:sp>
      <p:sp>
        <p:nvSpPr>
          <p:cNvPr id="90" name="TextBox 89"/>
          <p:cNvSpPr txBox="1"/>
          <p:nvPr/>
        </p:nvSpPr>
        <p:spPr>
          <a:xfrm>
            <a:off x="5885307" y="3886200"/>
            <a:ext cx="389381" cy="347472"/>
          </a:xfrm>
          <a:prstGeom prst="rect">
            <a:avLst/>
          </a:prstGeom>
          <a:noFill/>
        </p:spPr>
        <p:txBody>
          <a:bodyPr wrap="none" lIns="0" rIns="0" tIns="0" bIns="0">
            <a:spAutoFit/>
          </a:bodyPr>
          <a:lstStyle/>
          <a:p>
            <a:pPr algn="l">
              <a:lnSpc>
                <a:spcPts val="2800"/>
              </a:lnSpc>
              <a:spcAft>
                <a:spcPts val="0"/>
              </a:spcAft>
              <a:defRPr sz="2500" b="0">
                <a:solidFill>
                  <a:srgbClr val="182B3A"/>
                </a:solidFill>
                <a:latin typeface="Arial"/>
              </a:defRPr>
            </a:pPr>
            <a:r>
              <a:t> − </a:t>
            </a:r>
          </a:p>
        </p:txBody>
      </p:sp>
      <p:sp>
        <p:nvSpPr>
          <p:cNvPr id="91" name="TextBox 90"/>
          <p:cNvSpPr txBox="1"/>
          <p:nvPr/>
        </p:nvSpPr>
        <p:spPr>
          <a:xfrm>
            <a:off x="6274689" y="3767328"/>
            <a:ext cx="252603" cy="256032"/>
          </a:xfrm>
          <a:prstGeom prst="rect">
            <a:avLst/>
          </a:prstGeom>
          <a:noFill/>
        </p:spPr>
        <p:txBody>
          <a:bodyPr wrap="none" lIns="0" rIns="0" tIns="0" bIns="0">
            <a:spAutoFit/>
          </a:bodyPr>
          <a:lstStyle/>
          <a:p>
            <a:pPr algn="ctr">
              <a:lnSpc>
                <a:spcPts val="2240"/>
              </a:lnSpc>
              <a:spcAft>
                <a:spcPts val="0"/>
              </a:spcAft>
              <a:defRPr sz="2000" b="0">
                <a:solidFill>
                  <a:srgbClr val="182B3A"/>
                </a:solidFill>
                <a:latin typeface="Arial"/>
              </a:defRPr>
            </a:pPr>
            <a:r>
              <a:t>1</a:t>
            </a:r>
          </a:p>
        </p:txBody>
      </p:sp>
      <p:cxnSp>
        <p:nvCxnSpPr>
          <p:cNvPr id="92" name="Connector 91"/>
          <p:cNvCxnSpPr/>
          <p:nvPr/>
        </p:nvCxnSpPr>
        <p:spPr>
          <a:xfrm>
            <a:off x="6274689" y="4032504"/>
            <a:ext cx="252603" cy="0"/>
          </a:xfrm>
          <a:prstGeom prst="line">
            <a:avLst/>
          </a:prstGeom>
          <a:ln w="12700">
            <a:solidFill>
              <a:srgbClr val="182B3A"/>
            </a:solidFill>
          </a:ln>
          <a:effectLst/>
        </p:spPr>
        <p:style>
          <a:lnRef idx="2">
            <a:schemeClr val="accent1"/>
          </a:lnRef>
          <a:fillRef idx="0">
            <a:schemeClr val="accent1"/>
          </a:fillRef>
          <a:effectRef idx="1">
            <a:schemeClr val="accent1"/>
          </a:effectRef>
          <a:fontRef idx="minor">
            <a:schemeClr val="tx1"/>
          </a:fontRef>
        </p:style>
      </p:cxnSp>
      <p:sp>
        <p:nvSpPr>
          <p:cNvPr id="93" name="TextBox 92"/>
          <p:cNvSpPr txBox="1"/>
          <p:nvPr/>
        </p:nvSpPr>
        <p:spPr>
          <a:xfrm>
            <a:off x="6274689" y="4050791"/>
            <a:ext cx="252603" cy="256032"/>
          </a:xfrm>
          <a:prstGeom prst="rect">
            <a:avLst/>
          </a:prstGeom>
          <a:noFill/>
        </p:spPr>
        <p:txBody>
          <a:bodyPr wrap="none" lIns="0" rIns="0" tIns="0" bIns="0">
            <a:spAutoFit/>
          </a:bodyPr>
          <a:lstStyle/>
          <a:p>
            <a:pPr algn="ctr">
              <a:lnSpc>
                <a:spcPts val="2240"/>
              </a:lnSpc>
              <a:spcAft>
                <a:spcPts val="0"/>
              </a:spcAft>
              <a:defRPr sz="2000" b="0">
                <a:solidFill>
                  <a:srgbClr val="182B3A"/>
                </a:solidFill>
                <a:latin typeface="Arial"/>
              </a:defRPr>
            </a:pPr>
            <a:r>
              <a:t>3</a:t>
            </a:r>
          </a:p>
        </p:txBody>
      </p:sp>
      <p:sp>
        <p:nvSpPr>
          <p:cNvPr id="94" name="Rectangle 93"/>
          <p:cNvSpPr/>
          <p:nvPr/>
        </p:nvSpPr>
        <p:spPr>
          <a:xfrm>
            <a:off x="4983480" y="4599432"/>
            <a:ext cx="4640580" cy="1005840"/>
          </a:xfrm>
          <a:prstGeom prst="rect">
            <a:avLst/>
          </a:prstGeom>
          <a:solidFill>
            <a:srgbClr val="EFF3FA"/>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5" name="TextBox 94"/>
          <p:cNvSpPr txBox="1"/>
          <p:nvPr/>
        </p:nvSpPr>
        <p:spPr>
          <a:xfrm>
            <a:off x="5074920" y="4855464"/>
            <a:ext cx="320040" cy="365760"/>
          </a:xfrm>
          <a:prstGeom prst="rect">
            <a:avLst/>
          </a:prstGeom>
          <a:noFill/>
        </p:spPr>
        <p:txBody>
          <a:bodyPr wrap="square" lIns="54864" rIns="54864" tIns="22860" bIns="22860">
            <a:spAutoFit/>
          </a:bodyPr>
          <a:lstStyle/>
          <a:p>
            <a:pPr>
              <a:lnSpc>
                <a:spcPts val="2205"/>
              </a:lnSpc>
              <a:spcBef>
                <a:spcPts val="0"/>
              </a:spcBef>
              <a:spcAft>
                <a:spcPts val="0"/>
              </a:spcAft>
              <a:defRPr sz="2100" b="1">
                <a:solidFill>
                  <a:srgbClr val="182B3A"/>
                </a:solidFill>
                <a:latin typeface="Arial"/>
              </a:defRPr>
            </a:pPr>
            <a:r>
              <a:t>4.</a:t>
            </a:r>
          </a:p>
        </p:txBody>
      </p:sp>
      <p:sp>
        <p:nvSpPr>
          <p:cNvPr id="96" name="TextBox 95"/>
          <p:cNvSpPr txBox="1"/>
          <p:nvPr/>
        </p:nvSpPr>
        <p:spPr>
          <a:xfrm>
            <a:off x="5577840" y="4773168"/>
            <a:ext cx="252603" cy="256032"/>
          </a:xfrm>
          <a:prstGeom prst="rect">
            <a:avLst/>
          </a:prstGeom>
          <a:noFill/>
        </p:spPr>
        <p:txBody>
          <a:bodyPr wrap="none" lIns="0" rIns="0" tIns="0" bIns="0">
            <a:spAutoFit/>
          </a:bodyPr>
          <a:lstStyle/>
          <a:p>
            <a:pPr algn="ctr">
              <a:lnSpc>
                <a:spcPts val="2240"/>
              </a:lnSpc>
              <a:spcAft>
                <a:spcPts val="0"/>
              </a:spcAft>
              <a:defRPr sz="2000" b="0">
                <a:solidFill>
                  <a:srgbClr val="182B3A"/>
                </a:solidFill>
                <a:latin typeface="Arial"/>
              </a:defRPr>
            </a:pPr>
            <a:r>
              <a:t>1</a:t>
            </a:r>
          </a:p>
        </p:txBody>
      </p:sp>
      <p:cxnSp>
        <p:nvCxnSpPr>
          <p:cNvPr id="97" name="Connector 96"/>
          <p:cNvCxnSpPr/>
          <p:nvPr/>
        </p:nvCxnSpPr>
        <p:spPr>
          <a:xfrm>
            <a:off x="5577840" y="5038344"/>
            <a:ext cx="252603" cy="0"/>
          </a:xfrm>
          <a:prstGeom prst="line">
            <a:avLst/>
          </a:prstGeom>
          <a:ln w="12700">
            <a:solidFill>
              <a:srgbClr val="182B3A"/>
            </a:solidFill>
          </a:ln>
          <a:effectLst/>
        </p:spPr>
        <p:style>
          <a:lnRef idx="2">
            <a:schemeClr val="accent1"/>
          </a:lnRef>
          <a:fillRef idx="0">
            <a:schemeClr val="accent1"/>
          </a:fillRef>
          <a:effectRef idx="1">
            <a:schemeClr val="accent1"/>
          </a:effectRef>
          <a:fontRef idx="minor">
            <a:schemeClr val="tx1"/>
          </a:fontRef>
        </p:style>
      </p:cxnSp>
      <p:sp>
        <p:nvSpPr>
          <p:cNvPr id="98" name="TextBox 97"/>
          <p:cNvSpPr txBox="1"/>
          <p:nvPr/>
        </p:nvSpPr>
        <p:spPr>
          <a:xfrm>
            <a:off x="5577840" y="5056632"/>
            <a:ext cx="252603" cy="256032"/>
          </a:xfrm>
          <a:prstGeom prst="rect">
            <a:avLst/>
          </a:prstGeom>
          <a:noFill/>
        </p:spPr>
        <p:txBody>
          <a:bodyPr wrap="none" lIns="0" rIns="0" tIns="0" bIns="0">
            <a:spAutoFit/>
          </a:bodyPr>
          <a:lstStyle/>
          <a:p>
            <a:pPr algn="ctr">
              <a:lnSpc>
                <a:spcPts val="2240"/>
              </a:lnSpc>
              <a:spcAft>
                <a:spcPts val="0"/>
              </a:spcAft>
              <a:defRPr sz="2000" b="0">
                <a:solidFill>
                  <a:srgbClr val="182B3A"/>
                </a:solidFill>
                <a:latin typeface="Arial"/>
              </a:defRPr>
            </a:pPr>
            <a:r>
              <a:t>4</a:t>
            </a:r>
          </a:p>
        </p:txBody>
      </p:sp>
      <p:sp>
        <p:nvSpPr>
          <p:cNvPr id="99" name="TextBox 98"/>
          <p:cNvSpPr txBox="1"/>
          <p:nvPr/>
        </p:nvSpPr>
        <p:spPr>
          <a:xfrm>
            <a:off x="5885307" y="4892040"/>
            <a:ext cx="389381" cy="347472"/>
          </a:xfrm>
          <a:prstGeom prst="rect">
            <a:avLst/>
          </a:prstGeom>
          <a:noFill/>
        </p:spPr>
        <p:txBody>
          <a:bodyPr wrap="none" lIns="0" rIns="0" tIns="0" bIns="0">
            <a:spAutoFit/>
          </a:bodyPr>
          <a:lstStyle/>
          <a:p>
            <a:pPr algn="l">
              <a:lnSpc>
                <a:spcPts val="2800"/>
              </a:lnSpc>
              <a:spcAft>
                <a:spcPts val="0"/>
              </a:spcAft>
              <a:defRPr sz="2500" b="0">
                <a:solidFill>
                  <a:srgbClr val="182B3A"/>
                </a:solidFill>
                <a:latin typeface="Arial"/>
              </a:defRPr>
            </a:pPr>
            <a:r>
              <a:t> + </a:t>
            </a:r>
          </a:p>
        </p:txBody>
      </p:sp>
      <p:sp>
        <p:nvSpPr>
          <p:cNvPr id="100" name="TextBox 99"/>
          <p:cNvSpPr txBox="1"/>
          <p:nvPr/>
        </p:nvSpPr>
        <p:spPr>
          <a:xfrm>
            <a:off x="6274689" y="4773168"/>
            <a:ext cx="395478" cy="256032"/>
          </a:xfrm>
          <a:prstGeom prst="rect">
            <a:avLst/>
          </a:prstGeom>
          <a:noFill/>
        </p:spPr>
        <p:txBody>
          <a:bodyPr wrap="none" lIns="0" rIns="0" tIns="0" bIns="0">
            <a:spAutoFit/>
          </a:bodyPr>
          <a:lstStyle/>
          <a:p>
            <a:pPr algn="ctr">
              <a:lnSpc>
                <a:spcPts val="2240"/>
              </a:lnSpc>
              <a:spcAft>
                <a:spcPts val="0"/>
              </a:spcAft>
              <a:defRPr sz="2000" b="0">
                <a:solidFill>
                  <a:srgbClr val="182B3A"/>
                </a:solidFill>
                <a:latin typeface="Arial"/>
              </a:defRPr>
            </a:pPr>
            <a:r>
              <a:t>5</a:t>
            </a:r>
          </a:p>
        </p:txBody>
      </p:sp>
      <p:cxnSp>
        <p:nvCxnSpPr>
          <p:cNvPr id="101" name="Connector 100"/>
          <p:cNvCxnSpPr/>
          <p:nvPr/>
        </p:nvCxnSpPr>
        <p:spPr>
          <a:xfrm>
            <a:off x="6274689" y="5038344"/>
            <a:ext cx="395478" cy="0"/>
          </a:xfrm>
          <a:prstGeom prst="line">
            <a:avLst/>
          </a:prstGeom>
          <a:ln w="12700">
            <a:solidFill>
              <a:srgbClr val="182B3A"/>
            </a:solidFill>
          </a:ln>
          <a:effectLst/>
        </p:spPr>
        <p:style>
          <a:lnRef idx="2">
            <a:schemeClr val="accent1"/>
          </a:lnRef>
          <a:fillRef idx="0">
            <a:schemeClr val="accent1"/>
          </a:fillRef>
          <a:effectRef idx="1">
            <a:schemeClr val="accent1"/>
          </a:effectRef>
          <a:fontRef idx="minor">
            <a:schemeClr val="tx1"/>
          </a:fontRef>
        </p:style>
      </p:cxnSp>
      <p:sp>
        <p:nvSpPr>
          <p:cNvPr id="102" name="TextBox 101"/>
          <p:cNvSpPr txBox="1"/>
          <p:nvPr/>
        </p:nvSpPr>
        <p:spPr>
          <a:xfrm>
            <a:off x="6274689" y="5056632"/>
            <a:ext cx="395478" cy="256032"/>
          </a:xfrm>
          <a:prstGeom prst="rect">
            <a:avLst/>
          </a:prstGeom>
          <a:noFill/>
        </p:spPr>
        <p:txBody>
          <a:bodyPr wrap="none" lIns="0" rIns="0" tIns="0" bIns="0">
            <a:spAutoFit/>
          </a:bodyPr>
          <a:lstStyle/>
          <a:p>
            <a:pPr algn="ctr">
              <a:lnSpc>
                <a:spcPts val="2240"/>
              </a:lnSpc>
              <a:spcAft>
                <a:spcPts val="0"/>
              </a:spcAft>
              <a:defRPr sz="2000" b="0">
                <a:solidFill>
                  <a:srgbClr val="182B3A"/>
                </a:solidFill>
                <a:latin typeface="Arial"/>
              </a:defRPr>
            </a:pPr>
            <a:r>
              <a:t>12</a:t>
            </a:r>
          </a:p>
        </p:txBody>
      </p:sp>
      <p:sp>
        <p:nvSpPr>
          <p:cNvPr id="103" name="Rectangle 102"/>
          <p:cNvSpPr/>
          <p:nvPr/>
        </p:nvSpPr>
        <p:spPr>
          <a:xfrm>
            <a:off x="4983480" y="5605272"/>
            <a:ext cx="4640580" cy="1005840"/>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4" name="TextBox 103"/>
          <p:cNvSpPr txBox="1"/>
          <p:nvPr/>
        </p:nvSpPr>
        <p:spPr>
          <a:xfrm>
            <a:off x="5074920" y="5861304"/>
            <a:ext cx="320040" cy="365760"/>
          </a:xfrm>
          <a:prstGeom prst="rect">
            <a:avLst/>
          </a:prstGeom>
          <a:noFill/>
        </p:spPr>
        <p:txBody>
          <a:bodyPr wrap="square" lIns="54864" rIns="54864" tIns="22860" bIns="22860">
            <a:spAutoFit/>
          </a:bodyPr>
          <a:lstStyle/>
          <a:p>
            <a:pPr>
              <a:lnSpc>
                <a:spcPts val="2205"/>
              </a:lnSpc>
              <a:spcBef>
                <a:spcPts val="0"/>
              </a:spcBef>
              <a:spcAft>
                <a:spcPts val="0"/>
              </a:spcAft>
              <a:defRPr sz="2100" b="1">
                <a:solidFill>
                  <a:srgbClr val="182B3A"/>
                </a:solidFill>
                <a:latin typeface="Arial"/>
              </a:defRPr>
            </a:pPr>
            <a:r>
              <a:t>5.</a:t>
            </a:r>
          </a:p>
        </p:txBody>
      </p:sp>
      <p:sp>
        <p:nvSpPr>
          <p:cNvPr id="105" name="TextBox 104"/>
          <p:cNvSpPr txBox="1"/>
          <p:nvPr/>
        </p:nvSpPr>
        <p:spPr>
          <a:xfrm>
            <a:off x="5577840" y="5779008"/>
            <a:ext cx="252603" cy="256032"/>
          </a:xfrm>
          <a:prstGeom prst="rect">
            <a:avLst/>
          </a:prstGeom>
          <a:noFill/>
        </p:spPr>
        <p:txBody>
          <a:bodyPr wrap="none" lIns="0" rIns="0" tIns="0" bIns="0">
            <a:spAutoFit/>
          </a:bodyPr>
          <a:lstStyle/>
          <a:p>
            <a:pPr algn="ctr">
              <a:lnSpc>
                <a:spcPts val="2240"/>
              </a:lnSpc>
              <a:spcAft>
                <a:spcPts val="0"/>
              </a:spcAft>
              <a:defRPr sz="2000" b="0">
                <a:solidFill>
                  <a:srgbClr val="182B3A"/>
                </a:solidFill>
                <a:latin typeface="Arial"/>
              </a:defRPr>
            </a:pPr>
            <a:r>
              <a:t>1</a:t>
            </a:r>
          </a:p>
        </p:txBody>
      </p:sp>
      <p:cxnSp>
        <p:nvCxnSpPr>
          <p:cNvPr id="106" name="Connector 105"/>
          <p:cNvCxnSpPr/>
          <p:nvPr/>
        </p:nvCxnSpPr>
        <p:spPr>
          <a:xfrm>
            <a:off x="5577840" y="6044184"/>
            <a:ext cx="252603" cy="0"/>
          </a:xfrm>
          <a:prstGeom prst="line">
            <a:avLst/>
          </a:prstGeom>
          <a:ln w="12700">
            <a:solidFill>
              <a:srgbClr val="182B3A"/>
            </a:solidFill>
          </a:ln>
          <a:effectLst/>
        </p:spPr>
        <p:style>
          <a:lnRef idx="2">
            <a:schemeClr val="accent1"/>
          </a:lnRef>
          <a:fillRef idx="0">
            <a:schemeClr val="accent1"/>
          </a:fillRef>
          <a:effectRef idx="1">
            <a:schemeClr val="accent1"/>
          </a:effectRef>
          <a:fontRef idx="minor">
            <a:schemeClr val="tx1"/>
          </a:fontRef>
        </p:style>
      </p:cxnSp>
      <p:sp>
        <p:nvSpPr>
          <p:cNvPr id="107" name="TextBox 106"/>
          <p:cNvSpPr txBox="1"/>
          <p:nvPr/>
        </p:nvSpPr>
        <p:spPr>
          <a:xfrm>
            <a:off x="5577840" y="6062472"/>
            <a:ext cx="252603" cy="256032"/>
          </a:xfrm>
          <a:prstGeom prst="rect">
            <a:avLst/>
          </a:prstGeom>
          <a:noFill/>
        </p:spPr>
        <p:txBody>
          <a:bodyPr wrap="none" lIns="0" rIns="0" tIns="0" bIns="0">
            <a:spAutoFit/>
          </a:bodyPr>
          <a:lstStyle/>
          <a:p>
            <a:pPr algn="ctr">
              <a:lnSpc>
                <a:spcPts val="2240"/>
              </a:lnSpc>
              <a:spcAft>
                <a:spcPts val="0"/>
              </a:spcAft>
              <a:defRPr sz="2000" b="0">
                <a:solidFill>
                  <a:srgbClr val="182B3A"/>
                </a:solidFill>
                <a:latin typeface="Arial"/>
              </a:defRPr>
            </a:pPr>
            <a:r>
              <a:t>4</a:t>
            </a:r>
          </a:p>
        </p:txBody>
      </p:sp>
      <p:sp>
        <p:nvSpPr>
          <p:cNvPr id="108" name="TextBox 107"/>
          <p:cNvSpPr txBox="1"/>
          <p:nvPr/>
        </p:nvSpPr>
        <p:spPr>
          <a:xfrm>
            <a:off x="5885307" y="5897880"/>
            <a:ext cx="389381" cy="347472"/>
          </a:xfrm>
          <a:prstGeom prst="rect">
            <a:avLst/>
          </a:prstGeom>
          <a:noFill/>
        </p:spPr>
        <p:txBody>
          <a:bodyPr wrap="none" lIns="0" rIns="0" tIns="0" bIns="0">
            <a:spAutoFit/>
          </a:bodyPr>
          <a:lstStyle/>
          <a:p>
            <a:pPr algn="l">
              <a:lnSpc>
                <a:spcPts val="2800"/>
              </a:lnSpc>
              <a:spcAft>
                <a:spcPts val="0"/>
              </a:spcAft>
              <a:defRPr sz="2500" b="0">
                <a:solidFill>
                  <a:srgbClr val="182B3A"/>
                </a:solidFill>
                <a:latin typeface="Arial"/>
              </a:defRPr>
            </a:pPr>
            <a:r>
              <a:t> + </a:t>
            </a:r>
          </a:p>
        </p:txBody>
      </p:sp>
      <p:sp>
        <p:nvSpPr>
          <p:cNvPr id="109" name="TextBox 108"/>
          <p:cNvSpPr txBox="1"/>
          <p:nvPr/>
        </p:nvSpPr>
        <p:spPr>
          <a:xfrm>
            <a:off x="6274689" y="5779008"/>
            <a:ext cx="395478" cy="256032"/>
          </a:xfrm>
          <a:prstGeom prst="rect">
            <a:avLst/>
          </a:prstGeom>
          <a:noFill/>
        </p:spPr>
        <p:txBody>
          <a:bodyPr wrap="none" lIns="0" rIns="0" tIns="0" bIns="0">
            <a:spAutoFit/>
          </a:bodyPr>
          <a:lstStyle/>
          <a:p>
            <a:pPr algn="ctr">
              <a:lnSpc>
                <a:spcPts val="2240"/>
              </a:lnSpc>
              <a:spcAft>
                <a:spcPts val="0"/>
              </a:spcAft>
              <a:defRPr sz="2000" b="0">
                <a:solidFill>
                  <a:srgbClr val="182B3A"/>
                </a:solidFill>
                <a:latin typeface="Arial"/>
              </a:defRPr>
            </a:pPr>
            <a:r>
              <a:t>11</a:t>
            </a:r>
          </a:p>
        </p:txBody>
      </p:sp>
      <p:cxnSp>
        <p:nvCxnSpPr>
          <p:cNvPr id="110" name="Connector 109"/>
          <p:cNvCxnSpPr/>
          <p:nvPr/>
        </p:nvCxnSpPr>
        <p:spPr>
          <a:xfrm>
            <a:off x="6274689" y="6044184"/>
            <a:ext cx="395478" cy="0"/>
          </a:xfrm>
          <a:prstGeom prst="line">
            <a:avLst/>
          </a:prstGeom>
          <a:ln w="12700">
            <a:solidFill>
              <a:srgbClr val="182B3A"/>
            </a:solidFill>
          </a:ln>
          <a:effectLst/>
        </p:spPr>
        <p:style>
          <a:lnRef idx="2">
            <a:schemeClr val="accent1"/>
          </a:lnRef>
          <a:fillRef idx="0">
            <a:schemeClr val="accent1"/>
          </a:fillRef>
          <a:effectRef idx="1">
            <a:schemeClr val="accent1"/>
          </a:effectRef>
          <a:fontRef idx="minor">
            <a:schemeClr val="tx1"/>
          </a:fontRef>
        </p:style>
      </p:cxnSp>
      <p:sp>
        <p:nvSpPr>
          <p:cNvPr id="111" name="TextBox 110"/>
          <p:cNvSpPr txBox="1"/>
          <p:nvPr/>
        </p:nvSpPr>
        <p:spPr>
          <a:xfrm>
            <a:off x="6274689" y="6062472"/>
            <a:ext cx="395478" cy="256032"/>
          </a:xfrm>
          <a:prstGeom prst="rect">
            <a:avLst/>
          </a:prstGeom>
          <a:noFill/>
        </p:spPr>
        <p:txBody>
          <a:bodyPr wrap="none" lIns="0" rIns="0" tIns="0" bIns="0">
            <a:spAutoFit/>
          </a:bodyPr>
          <a:lstStyle/>
          <a:p>
            <a:pPr algn="ctr">
              <a:lnSpc>
                <a:spcPts val="2240"/>
              </a:lnSpc>
              <a:spcAft>
                <a:spcPts val="0"/>
              </a:spcAft>
              <a:defRPr sz="2000" b="0">
                <a:solidFill>
                  <a:srgbClr val="182B3A"/>
                </a:solidFill>
                <a:latin typeface="Arial"/>
              </a:defRPr>
            </a:pPr>
            <a:r>
              <a:t>12</a:t>
            </a:r>
          </a:p>
        </p:txBody>
      </p:sp>
      <p:sp>
        <p:nvSpPr>
          <p:cNvPr id="112" name="Rectangle 111"/>
          <p:cNvSpPr/>
          <p:nvPr/>
        </p:nvSpPr>
        <p:spPr>
          <a:xfrm>
            <a:off x="4983480" y="6611112"/>
            <a:ext cx="4640580" cy="1005840"/>
          </a:xfrm>
          <a:prstGeom prst="rect">
            <a:avLst/>
          </a:prstGeom>
          <a:solidFill>
            <a:srgbClr val="EFF3FA"/>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3" name="TextBox 112"/>
          <p:cNvSpPr txBox="1"/>
          <p:nvPr/>
        </p:nvSpPr>
        <p:spPr>
          <a:xfrm>
            <a:off x="5074920" y="6867144"/>
            <a:ext cx="320040" cy="365760"/>
          </a:xfrm>
          <a:prstGeom prst="rect">
            <a:avLst/>
          </a:prstGeom>
          <a:noFill/>
        </p:spPr>
        <p:txBody>
          <a:bodyPr wrap="square" lIns="54864" rIns="54864" tIns="22860" bIns="22860">
            <a:spAutoFit/>
          </a:bodyPr>
          <a:lstStyle/>
          <a:p>
            <a:pPr>
              <a:lnSpc>
                <a:spcPts val="2205"/>
              </a:lnSpc>
              <a:spcBef>
                <a:spcPts val="0"/>
              </a:spcBef>
              <a:spcAft>
                <a:spcPts val="0"/>
              </a:spcAft>
              <a:defRPr sz="2100" b="1">
                <a:solidFill>
                  <a:srgbClr val="182B3A"/>
                </a:solidFill>
                <a:latin typeface="Arial"/>
              </a:defRPr>
            </a:pPr>
            <a:r>
              <a:t>6.</a:t>
            </a:r>
          </a:p>
        </p:txBody>
      </p:sp>
      <p:sp>
        <p:nvSpPr>
          <p:cNvPr id="114" name="TextBox 113"/>
          <p:cNvSpPr txBox="1"/>
          <p:nvPr/>
        </p:nvSpPr>
        <p:spPr>
          <a:xfrm>
            <a:off x="5577840" y="6784848"/>
            <a:ext cx="252603" cy="256032"/>
          </a:xfrm>
          <a:prstGeom prst="rect">
            <a:avLst/>
          </a:prstGeom>
          <a:noFill/>
        </p:spPr>
        <p:txBody>
          <a:bodyPr wrap="none" lIns="0" rIns="0" tIns="0" bIns="0">
            <a:spAutoFit/>
          </a:bodyPr>
          <a:lstStyle/>
          <a:p>
            <a:pPr algn="ctr">
              <a:lnSpc>
                <a:spcPts val="2240"/>
              </a:lnSpc>
              <a:spcAft>
                <a:spcPts val="0"/>
              </a:spcAft>
              <a:defRPr sz="2000" b="0">
                <a:solidFill>
                  <a:srgbClr val="182B3A"/>
                </a:solidFill>
                <a:latin typeface="Arial"/>
              </a:defRPr>
            </a:pPr>
            <a:r>
              <a:t>3</a:t>
            </a:r>
          </a:p>
        </p:txBody>
      </p:sp>
      <p:cxnSp>
        <p:nvCxnSpPr>
          <p:cNvPr id="115" name="Connector 114"/>
          <p:cNvCxnSpPr/>
          <p:nvPr/>
        </p:nvCxnSpPr>
        <p:spPr>
          <a:xfrm>
            <a:off x="5577840" y="7050024"/>
            <a:ext cx="252603" cy="0"/>
          </a:xfrm>
          <a:prstGeom prst="line">
            <a:avLst/>
          </a:prstGeom>
          <a:ln w="12700">
            <a:solidFill>
              <a:srgbClr val="182B3A"/>
            </a:solidFill>
          </a:ln>
          <a:effectLst/>
        </p:spPr>
        <p:style>
          <a:lnRef idx="2">
            <a:schemeClr val="accent1"/>
          </a:lnRef>
          <a:fillRef idx="0">
            <a:schemeClr val="accent1"/>
          </a:fillRef>
          <a:effectRef idx="1">
            <a:schemeClr val="accent1"/>
          </a:effectRef>
          <a:fontRef idx="minor">
            <a:schemeClr val="tx1"/>
          </a:fontRef>
        </p:style>
      </p:cxnSp>
      <p:sp>
        <p:nvSpPr>
          <p:cNvPr id="116" name="TextBox 115"/>
          <p:cNvSpPr txBox="1"/>
          <p:nvPr/>
        </p:nvSpPr>
        <p:spPr>
          <a:xfrm>
            <a:off x="5577840" y="7068312"/>
            <a:ext cx="252603" cy="256032"/>
          </a:xfrm>
          <a:prstGeom prst="rect">
            <a:avLst/>
          </a:prstGeom>
          <a:noFill/>
        </p:spPr>
        <p:txBody>
          <a:bodyPr wrap="none" lIns="0" rIns="0" tIns="0" bIns="0">
            <a:spAutoFit/>
          </a:bodyPr>
          <a:lstStyle/>
          <a:p>
            <a:pPr algn="ctr">
              <a:lnSpc>
                <a:spcPts val="2240"/>
              </a:lnSpc>
              <a:spcAft>
                <a:spcPts val="0"/>
              </a:spcAft>
              <a:defRPr sz="2000" b="0">
                <a:solidFill>
                  <a:srgbClr val="182B3A"/>
                </a:solidFill>
                <a:latin typeface="Arial"/>
              </a:defRPr>
            </a:pPr>
            <a:r>
              <a:t>5</a:t>
            </a:r>
          </a:p>
        </p:txBody>
      </p:sp>
      <p:sp>
        <p:nvSpPr>
          <p:cNvPr id="117" name="TextBox 116"/>
          <p:cNvSpPr txBox="1"/>
          <p:nvPr/>
        </p:nvSpPr>
        <p:spPr>
          <a:xfrm>
            <a:off x="5885307" y="6903720"/>
            <a:ext cx="389381" cy="347472"/>
          </a:xfrm>
          <a:prstGeom prst="rect">
            <a:avLst/>
          </a:prstGeom>
          <a:noFill/>
        </p:spPr>
        <p:txBody>
          <a:bodyPr wrap="none" lIns="0" rIns="0" tIns="0" bIns="0">
            <a:spAutoFit/>
          </a:bodyPr>
          <a:lstStyle/>
          <a:p>
            <a:pPr algn="l">
              <a:lnSpc>
                <a:spcPts val="2800"/>
              </a:lnSpc>
              <a:spcAft>
                <a:spcPts val="0"/>
              </a:spcAft>
              <a:defRPr sz="2500" b="0">
                <a:solidFill>
                  <a:srgbClr val="182B3A"/>
                </a:solidFill>
                <a:latin typeface="Arial"/>
              </a:defRPr>
            </a:pPr>
            <a:r>
              <a:t> + </a:t>
            </a:r>
          </a:p>
        </p:txBody>
      </p:sp>
      <p:sp>
        <p:nvSpPr>
          <p:cNvPr id="118" name="TextBox 117"/>
          <p:cNvSpPr txBox="1"/>
          <p:nvPr/>
        </p:nvSpPr>
        <p:spPr>
          <a:xfrm>
            <a:off x="6274689" y="6784848"/>
            <a:ext cx="395478" cy="256032"/>
          </a:xfrm>
          <a:prstGeom prst="rect">
            <a:avLst/>
          </a:prstGeom>
          <a:noFill/>
        </p:spPr>
        <p:txBody>
          <a:bodyPr wrap="none" lIns="0" rIns="0" tIns="0" bIns="0">
            <a:spAutoFit/>
          </a:bodyPr>
          <a:lstStyle/>
          <a:p>
            <a:pPr algn="ctr">
              <a:lnSpc>
                <a:spcPts val="2240"/>
              </a:lnSpc>
              <a:spcAft>
                <a:spcPts val="0"/>
              </a:spcAft>
              <a:defRPr sz="2000" b="0">
                <a:solidFill>
                  <a:srgbClr val="182B3A"/>
                </a:solidFill>
                <a:latin typeface="Arial"/>
              </a:defRPr>
            </a:pPr>
            <a:r>
              <a:t>9</a:t>
            </a:r>
          </a:p>
        </p:txBody>
      </p:sp>
      <p:cxnSp>
        <p:nvCxnSpPr>
          <p:cNvPr id="119" name="Connector 118"/>
          <p:cNvCxnSpPr/>
          <p:nvPr/>
        </p:nvCxnSpPr>
        <p:spPr>
          <a:xfrm>
            <a:off x="6274689" y="7050024"/>
            <a:ext cx="395478" cy="0"/>
          </a:xfrm>
          <a:prstGeom prst="line">
            <a:avLst/>
          </a:prstGeom>
          <a:ln w="12700">
            <a:solidFill>
              <a:srgbClr val="182B3A"/>
            </a:solidFill>
          </a:ln>
          <a:effectLst/>
        </p:spPr>
        <p:style>
          <a:lnRef idx="2">
            <a:schemeClr val="accent1"/>
          </a:lnRef>
          <a:fillRef idx="0">
            <a:schemeClr val="accent1"/>
          </a:fillRef>
          <a:effectRef idx="1">
            <a:schemeClr val="accent1"/>
          </a:effectRef>
          <a:fontRef idx="minor">
            <a:schemeClr val="tx1"/>
          </a:fontRef>
        </p:style>
      </p:cxnSp>
      <p:sp>
        <p:nvSpPr>
          <p:cNvPr id="120" name="TextBox 119"/>
          <p:cNvSpPr txBox="1"/>
          <p:nvPr/>
        </p:nvSpPr>
        <p:spPr>
          <a:xfrm>
            <a:off x="6274689" y="7068312"/>
            <a:ext cx="395478" cy="256032"/>
          </a:xfrm>
          <a:prstGeom prst="rect">
            <a:avLst/>
          </a:prstGeom>
          <a:noFill/>
        </p:spPr>
        <p:txBody>
          <a:bodyPr wrap="none" lIns="0" rIns="0" tIns="0" bIns="0">
            <a:spAutoFit/>
          </a:bodyPr>
          <a:lstStyle/>
          <a:p>
            <a:pPr algn="ctr">
              <a:lnSpc>
                <a:spcPts val="2240"/>
              </a:lnSpc>
              <a:spcAft>
                <a:spcPts val="0"/>
              </a:spcAft>
              <a:defRPr sz="2000" b="0">
                <a:solidFill>
                  <a:srgbClr val="182B3A"/>
                </a:solidFill>
                <a:latin typeface="Arial"/>
              </a:defRPr>
            </a:pPr>
            <a:r>
              <a:t>10</a:t>
            </a:r>
          </a:p>
        </p:txBody>
      </p:sp>
      <p:sp>
        <p:nvSpPr>
          <p:cNvPr id="121" name="Rectangle 120"/>
          <p:cNvSpPr/>
          <p:nvPr/>
        </p:nvSpPr>
        <p:spPr>
          <a:xfrm>
            <a:off x="9646920" y="1581912"/>
            <a:ext cx="4640580" cy="1005840"/>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2" name="TextBox 121"/>
          <p:cNvSpPr txBox="1"/>
          <p:nvPr/>
        </p:nvSpPr>
        <p:spPr>
          <a:xfrm>
            <a:off x="9738360" y="1837943"/>
            <a:ext cx="320040" cy="365760"/>
          </a:xfrm>
          <a:prstGeom prst="rect">
            <a:avLst/>
          </a:prstGeom>
          <a:noFill/>
        </p:spPr>
        <p:txBody>
          <a:bodyPr wrap="square" lIns="54864" rIns="54864" tIns="22860" bIns="22860">
            <a:spAutoFit/>
          </a:bodyPr>
          <a:lstStyle/>
          <a:p>
            <a:pPr>
              <a:lnSpc>
                <a:spcPts val="2205"/>
              </a:lnSpc>
              <a:spcBef>
                <a:spcPts val="0"/>
              </a:spcBef>
              <a:spcAft>
                <a:spcPts val="0"/>
              </a:spcAft>
              <a:defRPr sz="2100" b="1">
                <a:solidFill>
                  <a:srgbClr val="182B3A"/>
                </a:solidFill>
                <a:latin typeface="Arial"/>
              </a:defRPr>
            </a:pPr>
            <a:r>
              <a:t>1.</a:t>
            </a:r>
          </a:p>
        </p:txBody>
      </p:sp>
      <p:sp>
        <p:nvSpPr>
          <p:cNvPr id="123" name="TextBox 122"/>
          <p:cNvSpPr txBox="1"/>
          <p:nvPr/>
        </p:nvSpPr>
        <p:spPr>
          <a:xfrm>
            <a:off x="10241280" y="1755648"/>
            <a:ext cx="252603" cy="256032"/>
          </a:xfrm>
          <a:prstGeom prst="rect">
            <a:avLst/>
          </a:prstGeom>
          <a:noFill/>
        </p:spPr>
        <p:txBody>
          <a:bodyPr wrap="none" lIns="0" rIns="0" tIns="0" bIns="0">
            <a:spAutoFit/>
          </a:bodyPr>
          <a:lstStyle/>
          <a:p>
            <a:pPr algn="ctr">
              <a:lnSpc>
                <a:spcPts val="2240"/>
              </a:lnSpc>
              <a:spcAft>
                <a:spcPts val="0"/>
              </a:spcAft>
              <a:defRPr sz="2000" b="0">
                <a:solidFill>
                  <a:srgbClr val="182B3A"/>
                </a:solidFill>
                <a:latin typeface="Arial"/>
              </a:defRPr>
            </a:pPr>
            <a:r>
              <a:t>2</a:t>
            </a:r>
          </a:p>
        </p:txBody>
      </p:sp>
      <p:cxnSp>
        <p:nvCxnSpPr>
          <p:cNvPr id="124" name="Connector 123"/>
          <p:cNvCxnSpPr/>
          <p:nvPr/>
        </p:nvCxnSpPr>
        <p:spPr>
          <a:xfrm>
            <a:off x="10241280" y="2020824"/>
            <a:ext cx="252603" cy="0"/>
          </a:xfrm>
          <a:prstGeom prst="line">
            <a:avLst/>
          </a:prstGeom>
          <a:ln w="12700">
            <a:solidFill>
              <a:srgbClr val="182B3A"/>
            </a:solidFill>
          </a:ln>
          <a:effectLst/>
        </p:spPr>
        <p:style>
          <a:lnRef idx="2">
            <a:schemeClr val="accent1"/>
          </a:lnRef>
          <a:fillRef idx="0">
            <a:schemeClr val="accent1"/>
          </a:fillRef>
          <a:effectRef idx="1">
            <a:schemeClr val="accent1"/>
          </a:effectRef>
          <a:fontRef idx="minor">
            <a:schemeClr val="tx1"/>
          </a:fontRef>
        </p:style>
      </p:cxnSp>
      <p:sp>
        <p:nvSpPr>
          <p:cNvPr id="125" name="TextBox 124"/>
          <p:cNvSpPr txBox="1"/>
          <p:nvPr/>
        </p:nvSpPr>
        <p:spPr>
          <a:xfrm>
            <a:off x="10241280" y="2039112"/>
            <a:ext cx="252603" cy="256032"/>
          </a:xfrm>
          <a:prstGeom prst="rect">
            <a:avLst/>
          </a:prstGeom>
          <a:noFill/>
        </p:spPr>
        <p:txBody>
          <a:bodyPr wrap="none" lIns="0" rIns="0" tIns="0" bIns="0">
            <a:spAutoFit/>
          </a:bodyPr>
          <a:lstStyle/>
          <a:p>
            <a:pPr algn="ctr">
              <a:lnSpc>
                <a:spcPts val="2240"/>
              </a:lnSpc>
              <a:spcAft>
                <a:spcPts val="0"/>
              </a:spcAft>
              <a:defRPr sz="2000" b="0">
                <a:solidFill>
                  <a:srgbClr val="182B3A"/>
                </a:solidFill>
                <a:latin typeface="Arial"/>
              </a:defRPr>
            </a:pPr>
            <a:r>
              <a:t>5</a:t>
            </a:r>
          </a:p>
        </p:txBody>
      </p:sp>
      <p:sp>
        <p:nvSpPr>
          <p:cNvPr id="126" name="TextBox 125"/>
          <p:cNvSpPr txBox="1"/>
          <p:nvPr/>
        </p:nvSpPr>
        <p:spPr>
          <a:xfrm>
            <a:off x="10548747" y="1874519"/>
            <a:ext cx="389381" cy="347472"/>
          </a:xfrm>
          <a:prstGeom prst="rect">
            <a:avLst/>
          </a:prstGeom>
          <a:noFill/>
        </p:spPr>
        <p:txBody>
          <a:bodyPr wrap="none" lIns="0" rIns="0" tIns="0" bIns="0">
            <a:spAutoFit/>
          </a:bodyPr>
          <a:lstStyle/>
          <a:p>
            <a:pPr algn="l">
              <a:lnSpc>
                <a:spcPts val="2800"/>
              </a:lnSpc>
              <a:spcAft>
                <a:spcPts val="0"/>
              </a:spcAft>
              <a:defRPr sz="2500" b="0">
                <a:solidFill>
                  <a:srgbClr val="182B3A"/>
                </a:solidFill>
                <a:latin typeface="Arial"/>
              </a:defRPr>
            </a:pPr>
            <a:r>
              <a:t> + </a:t>
            </a:r>
          </a:p>
        </p:txBody>
      </p:sp>
      <p:sp>
        <p:nvSpPr>
          <p:cNvPr id="127" name="TextBox 126"/>
          <p:cNvSpPr txBox="1"/>
          <p:nvPr/>
        </p:nvSpPr>
        <p:spPr>
          <a:xfrm>
            <a:off x="10938129" y="1755648"/>
            <a:ext cx="252603" cy="256032"/>
          </a:xfrm>
          <a:prstGeom prst="rect">
            <a:avLst/>
          </a:prstGeom>
          <a:noFill/>
        </p:spPr>
        <p:txBody>
          <a:bodyPr wrap="none" lIns="0" rIns="0" tIns="0" bIns="0">
            <a:spAutoFit/>
          </a:bodyPr>
          <a:lstStyle/>
          <a:p>
            <a:pPr algn="ctr">
              <a:lnSpc>
                <a:spcPts val="2240"/>
              </a:lnSpc>
              <a:spcAft>
                <a:spcPts val="0"/>
              </a:spcAft>
              <a:defRPr sz="2000" b="0">
                <a:solidFill>
                  <a:srgbClr val="182B3A"/>
                </a:solidFill>
                <a:latin typeface="Arial"/>
              </a:defRPr>
            </a:pPr>
            <a:r>
              <a:t>1</a:t>
            </a:r>
          </a:p>
        </p:txBody>
      </p:sp>
      <p:cxnSp>
        <p:nvCxnSpPr>
          <p:cNvPr id="128" name="Connector 127"/>
          <p:cNvCxnSpPr/>
          <p:nvPr/>
        </p:nvCxnSpPr>
        <p:spPr>
          <a:xfrm>
            <a:off x="10938129" y="2020824"/>
            <a:ext cx="252603" cy="0"/>
          </a:xfrm>
          <a:prstGeom prst="line">
            <a:avLst/>
          </a:prstGeom>
          <a:ln w="12700">
            <a:solidFill>
              <a:srgbClr val="182B3A"/>
            </a:solidFill>
          </a:ln>
          <a:effectLst/>
        </p:spPr>
        <p:style>
          <a:lnRef idx="2">
            <a:schemeClr val="accent1"/>
          </a:lnRef>
          <a:fillRef idx="0">
            <a:schemeClr val="accent1"/>
          </a:fillRef>
          <a:effectRef idx="1">
            <a:schemeClr val="accent1"/>
          </a:effectRef>
          <a:fontRef idx="minor">
            <a:schemeClr val="tx1"/>
          </a:fontRef>
        </p:style>
      </p:cxnSp>
      <p:sp>
        <p:nvSpPr>
          <p:cNvPr id="129" name="TextBox 128"/>
          <p:cNvSpPr txBox="1"/>
          <p:nvPr/>
        </p:nvSpPr>
        <p:spPr>
          <a:xfrm>
            <a:off x="10938129" y="2039112"/>
            <a:ext cx="252603" cy="256032"/>
          </a:xfrm>
          <a:prstGeom prst="rect">
            <a:avLst/>
          </a:prstGeom>
          <a:noFill/>
        </p:spPr>
        <p:txBody>
          <a:bodyPr wrap="none" lIns="0" rIns="0" tIns="0" bIns="0">
            <a:spAutoFit/>
          </a:bodyPr>
          <a:lstStyle/>
          <a:p>
            <a:pPr algn="ctr">
              <a:lnSpc>
                <a:spcPts val="2240"/>
              </a:lnSpc>
              <a:spcAft>
                <a:spcPts val="0"/>
              </a:spcAft>
              <a:defRPr sz="2000" b="0">
                <a:solidFill>
                  <a:srgbClr val="182B3A"/>
                </a:solidFill>
                <a:latin typeface="Arial"/>
              </a:defRPr>
            </a:pPr>
            <a:r>
              <a:t>3</a:t>
            </a:r>
          </a:p>
        </p:txBody>
      </p:sp>
      <p:sp>
        <p:nvSpPr>
          <p:cNvPr id="130" name="Rectangle 129"/>
          <p:cNvSpPr/>
          <p:nvPr/>
        </p:nvSpPr>
        <p:spPr>
          <a:xfrm>
            <a:off x="9646920" y="2587752"/>
            <a:ext cx="4640580" cy="1005840"/>
          </a:xfrm>
          <a:prstGeom prst="rect">
            <a:avLst/>
          </a:prstGeom>
          <a:solidFill>
            <a:srgbClr val="F5F0F7"/>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1" name="TextBox 130"/>
          <p:cNvSpPr txBox="1"/>
          <p:nvPr/>
        </p:nvSpPr>
        <p:spPr>
          <a:xfrm>
            <a:off x="9738360" y="2843784"/>
            <a:ext cx="320040" cy="365760"/>
          </a:xfrm>
          <a:prstGeom prst="rect">
            <a:avLst/>
          </a:prstGeom>
          <a:noFill/>
        </p:spPr>
        <p:txBody>
          <a:bodyPr wrap="square" lIns="54864" rIns="54864" tIns="22860" bIns="22860">
            <a:spAutoFit/>
          </a:bodyPr>
          <a:lstStyle/>
          <a:p>
            <a:pPr>
              <a:lnSpc>
                <a:spcPts val="2205"/>
              </a:lnSpc>
              <a:spcBef>
                <a:spcPts val="0"/>
              </a:spcBef>
              <a:spcAft>
                <a:spcPts val="0"/>
              </a:spcAft>
              <a:defRPr sz="2100" b="1">
                <a:solidFill>
                  <a:srgbClr val="182B3A"/>
                </a:solidFill>
                <a:latin typeface="Arial"/>
              </a:defRPr>
            </a:pPr>
            <a:r>
              <a:t>2.</a:t>
            </a:r>
          </a:p>
        </p:txBody>
      </p:sp>
      <p:sp>
        <p:nvSpPr>
          <p:cNvPr id="132" name="TextBox 131"/>
          <p:cNvSpPr txBox="1"/>
          <p:nvPr/>
        </p:nvSpPr>
        <p:spPr>
          <a:xfrm>
            <a:off x="10241280" y="2761488"/>
            <a:ext cx="252603" cy="256032"/>
          </a:xfrm>
          <a:prstGeom prst="rect">
            <a:avLst/>
          </a:prstGeom>
          <a:noFill/>
        </p:spPr>
        <p:txBody>
          <a:bodyPr wrap="none" lIns="0" rIns="0" tIns="0" bIns="0">
            <a:spAutoFit/>
          </a:bodyPr>
          <a:lstStyle/>
          <a:p>
            <a:pPr algn="ctr">
              <a:lnSpc>
                <a:spcPts val="2240"/>
              </a:lnSpc>
              <a:spcAft>
                <a:spcPts val="0"/>
              </a:spcAft>
              <a:defRPr sz="2000" b="0">
                <a:solidFill>
                  <a:srgbClr val="182B3A"/>
                </a:solidFill>
                <a:latin typeface="Arial"/>
              </a:defRPr>
            </a:pPr>
            <a:r>
              <a:t>5</a:t>
            </a:r>
          </a:p>
        </p:txBody>
      </p:sp>
      <p:cxnSp>
        <p:nvCxnSpPr>
          <p:cNvPr id="133" name="Connector 132"/>
          <p:cNvCxnSpPr/>
          <p:nvPr/>
        </p:nvCxnSpPr>
        <p:spPr>
          <a:xfrm>
            <a:off x="10241280" y="3026664"/>
            <a:ext cx="252603" cy="0"/>
          </a:xfrm>
          <a:prstGeom prst="line">
            <a:avLst/>
          </a:prstGeom>
          <a:ln w="12700">
            <a:solidFill>
              <a:srgbClr val="182B3A"/>
            </a:solidFill>
          </a:ln>
          <a:effectLst/>
        </p:spPr>
        <p:style>
          <a:lnRef idx="2">
            <a:schemeClr val="accent1"/>
          </a:lnRef>
          <a:fillRef idx="0">
            <a:schemeClr val="accent1"/>
          </a:fillRef>
          <a:effectRef idx="1">
            <a:schemeClr val="accent1"/>
          </a:effectRef>
          <a:fontRef idx="minor">
            <a:schemeClr val="tx1"/>
          </a:fontRef>
        </p:style>
      </p:cxnSp>
      <p:sp>
        <p:nvSpPr>
          <p:cNvPr id="134" name="TextBox 133"/>
          <p:cNvSpPr txBox="1"/>
          <p:nvPr/>
        </p:nvSpPr>
        <p:spPr>
          <a:xfrm>
            <a:off x="10241280" y="3044952"/>
            <a:ext cx="252603" cy="256032"/>
          </a:xfrm>
          <a:prstGeom prst="rect">
            <a:avLst/>
          </a:prstGeom>
          <a:noFill/>
        </p:spPr>
        <p:txBody>
          <a:bodyPr wrap="none" lIns="0" rIns="0" tIns="0" bIns="0">
            <a:spAutoFit/>
          </a:bodyPr>
          <a:lstStyle/>
          <a:p>
            <a:pPr algn="ctr">
              <a:lnSpc>
                <a:spcPts val="2240"/>
              </a:lnSpc>
              <a:spcAft>
                <a:spcPts val="0"/>
              </a:spcAft>
              <a:defRPr sz="2000" b="0">
                <a:solidFill>
                  <a:srgbClr val="182B3A"/>
                </a:solidFill>
                <a:latin typeface="Arial"/>
              </a:defRPr>
            </a:pPr>
            <a:r>
              <a:t>9</a:t>
            </a:r>
          </a:p>
        </p:txBody>
      </p:sp>
      <p:sp>
        <p:nvSpPr>
          <p:cNvPr id="135" name="TextBox 134"/>
          <p:cNvSpPr txBox="1"/>
          <p:nvPr/>
        </p:nvSpPr>
        <p:spPr>
          <a:xfrm>
            <a:off x="10548747" y="2880360"/>
            <a:ext cx="389381" cy="347472"/>
          </a:xfrm>
          <a:prstGeom prst="rect">
            <a:avLst/>
          </a:prstGeom>
          <a:noFill/>
        </p:spPr>
        <p:txBody>
          <a:bodyPr wrap="none" lIns="0" rIns="0" tIns="0" bIns="0">
            <a:spAutoFit/>
          </a:bodyPr>
          <a:lstStyle/>
          <a:p>
            <a:pPr algn="l">
              <a:lnSpc>
                <a:spcPts val="2800"/>
              </a:lnSpc>
              <a:spcAft>
                <a:spcPts val="0"/>
              </a:spcAft>
              <a:defRPr sz="2500" b="0">
                <a:solidFill>
                  <a:srgbClr val="182B3A"/>
                </a:solidFill>
                <a:latin typeface="Arial"/>
              </a:defRPr>
            </a:pPr>
            <a:r>
              <a:t> + </a:t>
            </a:r>
          </a:p>
        </p:txBody>
      </p:sp>
      <p:sp>
        <p:nvSpPr>
          <p:cNvPr id="136" name="TextBox 135"/>
          <p:cNvSpPr txBox="1"/>
          <p:nvPr/>
        </p:nvSpPr>
        <p:spPr>
          <a:xfrm>
            <a:off x="10938129" y="2761488"/>
            <a:ext cx="252603" cy="256032"/>
          </a:xfrm>
          <a:prstGeom prst="rect">
            <a:avLst/>
          </a:prstGeom>
          <a:noFill/>
        </p:spPr>
        <p:txBody>
          <a:bodyPr wrap="none" lIns="0" rIns="0" tIns="0" bIns="0">
            <a:spAutoFit/>
          </a:bodyPr>
          <a:lstStyle/>
          <a:p>
            <a:pPr algn="ctr">
              <a:lnSpc>
                <a:spcPts val="2240"/>
              </a:lnSpc>
              <a:spcAft>
                <a:spcPts val="0"/>
              </a:spcAft>
              <a:defRPr sz="2000" b="0">
                <a:solidFill>
                  <a:srgbClr val="182B3A"/>
                </a:solidFill>
                <a:latin typeface="Arial"/>
              </a:defRPr>
            </a:pPr>
            <a:r>
              <a:t>5</a:t>
            </a:r>
          </a:p>
        </p:txBody>
      </p:sp>
      <p:cxnSp>
        <p:nvCxnSpPr>
          <p:cNvPr id="137" name="Connector 136"/>
          <p:cNvCxnSpPr/>
          <p:nvPr/>
        </p:nvCxnSpPr>
        <p:spPr>
          <a:xfrm>
            <a:off x="10938129" y="3026664"/>
            <a:ext cx="252603" cy="0"/>
          </a:xfrm>
          <a:prstGeom prst="line">
            <a:avLst/>
          </a:prstGeom>
          <a:ln w="12700">
            <a:solidFill>
              <a:srgbClr val="182B3A"/>
            </a:solidFill>
          </a:ln>
          <a:effectLst/>
        </p:spPr>
        <p:style>
          <a:lnRef idx="2">
            <a:schemeClr val="accent1"/>
          </a:lnRef>
          <a:fillRef idx="0">
            <a:schemeClr val="accent1"/>
          </a:fillRef>
          <a:effectRef idx="1">
            <a:schemeClr val="accent1"/>
          </a:effectRef>
          <a:fontRef idx="minor">
            <a:schemeClr val="tx1"/>
          </a:fontRef>
        </p:style>
      </p:cxnSp>
      <p:sp>
        <p:nvSpPr>
          <p:cNvPr id="138" name="TextBox 137"/>
          <p:cNvSpPr txBox="1"/>
          <p:nvPr/>
        </p:nvSpPr>
        <p:spPr>
          <a:xfrm>
            <a:off x="10938129" y="3044952"/>
            <a:ext cx="252603" cy="256032"/>
          </a:xfrm>
          <a:prstGeom prst="rect">
            <a:avLst/>
          </a:prstGeom>
          <a:noFill/>
        </p:spPr>
        <p:txBody>
          <a:bodyPr wrap="none" lIns="0" rIns="0" tIns="0" bIns="0">
            <a:spAutoFit/>
          </a:bodyPr>
          <a:lstStyle/>
          <a:p>
            <a:pPr algn="ctr">
              <a:lnSpc>
                <a:spcPts val="2240"/>
              </a:lnSpc>
              <a:spcAft>
                <a:spcPts val="0"/>
              </a:spcAft>
              <a:defRPr sz="2000" b="0">
                <a:solidFill>
                  <a:srgbClr val="182B3A"/>
                </a:solidFill>
                <a:latin typeface="Arial"/>
              </a:defRPr>
            </a:pPr>
            <a:r>
              <a:t>6</a:t>
            </a:r>
          </a:p>
        </p:txBody>
      </p:sp>
      <p:sp>
        <p:nvSpPr>
          <p:cNvPr id="139" name="Rectangle 138"/>
          <p:cNvSpPr/>
          <p:nvPr/>
        </p:nvSpPr>
        <p:spPr>
          <a:xfrm>
            <a:off x="9646920" y="3593592"/>
            <a:ext cx="4640580" cy="1005840"/>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0" name="TextBox 139"/>
          <p:cNvSpPr txBox="1"/>
          <p:nvPr/>
        </p:nvSpPr>
        <p:spPr>
          <a:xfrm>
            <a:off x="9738360" y="3849624"/>
            <a:ext cx="320040" cy="365760"/>
          </a:xfrm>
          <a:prstGeom prst="rect">
            <a:avLst/>
          </a:prstGeom>
          <a:noFill/>
        </p:spPr>
        <p:txBody>
          <a:bodyPr wrap="square" lIns="54864" rIns="54864" tIns="22860" bIns="22860">
            <a:spAutoFit/>
          </a:bodyPr>
          <a:lstStyle/>
          <a:p>
            <a:pPr>
              <a:lnSpc>
                <a:spcPts val="2205"/>
              </a:lnSpc>
              <a:spcBef>
                <a:spcPts val="0"/>
              </a:spcBef>
              <a:spcAft>
                <a:spcPts val="0"/>
              </a:spcAft>
              <a:defRPr sz="2100" b="1">
                <a:solidFill>
                  <a:srgbClr val="182B3A"/>
                </a:solidFill>
                <a:latin typeface="Arial"/>
              </a:defRPr>
            </a:pPr>
            <a:r>
              <a:t>3.</a:t>
            </a:r>
          </a:p>
        </p:txBody>
      </p:sp>
      <p:sp>
        <p:nvSpPr>
          <p:cNvPr id="141" name="TextBox 140"/>
          <p:cNvSpPr txBox="1"/>
          <p:nvPr/>
        </p:nvSpPr>
        <p:spPr>
          <a:xfrm>
            <a:off x="10241280" y="3767328"/>
            <a:ext cx="252603" cy="256032"/>
          </a:xfrm>
          <a:prstGeom prst="rect">
            <a:avLst/>
          </a:prstGeom>
          <a:noFill/>
        </p:spPr>
        <p:txBody>
          <a:bodyPr wrap="none" lIns="0" rIns="0" tIns="0" bIns="0">
            <a:spAutoFit/>
          </a:bodyPr>
          <a:lstStyle/>
          <a:p>
            <a:pPr algn="ctr">
              <a:lnSpc>
                <a:spcPts val="2240"/>
              </a:lnSpc>
              <a:spcAft>
                <a:spcPts val="0"/>
              </a:spcAft>
              <a:defRPr sz="2000" b="0">
                <a:solidFill>
                  <a:srgbClr val="182B3A"/>
                </a:solidFill>
                <a:latin typeface="Arial"/>
              </a:defRPr>
            </a:pPr>
            <a:r>
              <a:t>4</a:t>
            </a:r>
          </a:p>
        </p:txBody>
      </p:sp>
      <p:cxnSp>
        <p:nvCxnSpPr>
          <p:cNvPr id="142" name="Connector 141"/>
          <p:cNvCxnSpPr/>
          <p:nvPr/>
        </p:nvCxnSpPr>
        <p:spPr>
          <a:xfrm>
            <a:off x="10241280" y="4032504"/>
            <a:ext cx="252603" cy="0"/>
          </a:xfrm>
          <a:prstGeom prst="line">
            <a:avLst/>
          </a:prstGeom>
          <a:ln w="12700">
            <a:solidFill>
              <a:srgbClr val="182B3A"/>
            </a:solidFill>
          </a:ln>
          <a:effectLst/>
        </p:spPr>
        <p:style>
          <a:lnRef idx="2">
            <a:schemeClr val="accent1"/>
          </a:lnRef>
          <a:fillRef idx="0">
            <a:schemeClr val="accent1"/>
          </a:fillRef>
          <a:effectRef idx="1">
            <a:schemeClr val="accent1"/>
          </a:effectRef>
          <a:fontRef idx="minor">
            <a:schemeClr val="tx1"/>
          </a:fontRef>
        </p:style>
      </p:cxnSp>
      <p:sp>
        <p:nvSpPr>
          <p:cNvPr id="143" name="TextBox 142"/>
          <p:cNvSpPr txBox="1"/>
          <p:nvPr/>
        </p:nvSpPr>
        <p:spPr>
          <a:xfrm>
            <a:off x="10241280" y="4050791"/>
            <a:ext cx="252603" cy="256032"/>
          </a:xfrm>
          <a:prstGeom prst="rect">
            <a:avLst/>
          </a:prstGeom>
          <a:noFill/>
        </p:spPr>
        <p:txBody>
          <a:bodyPr wrap="none" lIns="0" rIns="0" tIns="0" bIns="0">
            <a:spAutoFit/>
          </a:bodyPr>
          <a:lstStyle/>
          <a:p>
            <a:pPr algn="ctr">
              <a:lnSpc>
                <a:spcPts val="2240"/>
              </a:lnSpc>
              <a:spcAft>
                <a:spcPts val="0"/>
              </a:spcAft>
              <a:defRPr sz="2000" b="0">
                <a:solidFill>
                  <a:srgbClr val="182B3A"/>
                </a:solidFill>
                <a:latin typeface="Arial"/>
              </a:defRPr>
            </a:pPr>
            <a:r>
              <a:t>5</a:t>
            </a:r>
          </a:p>
        </p:txBody>
      </p:sp>
      <p:sp>
        <p:nvSpPr>
          <p:cNvPr id="144" name="TextBox 143"/>
          <p:cNvSpPr txBox="1"/>
          <p:nvPr/>
        </p:nvSpPr>
        <p:spPr>
          <a:xfrm>
            <a:off x="10548747" y="3886200"/>
            <a:ext cx="389381" cy="347472"/>
          </a:xfrm>
          <a:prstGeom prst="rect">
            <a:avLst/>
          </a:prstGeom>
          <a:noFill/>
        </p:spPr>
        <p:txBody>
          <a:bodyPr wrap="none" lIns="0" rIns="0" tIns="0" bIns="0">
            <a:spAutoFit/>
          </a:bodyPr>
          <a:lstStyle/>
          <a:p>
            <a:pPr algn="l">
              <a:lnSpc>
                <a:spcPts val="2800"/>
              </a:lnSpc>
              <a:spcAft>
                <a:spcPts val="0"/>
              </a:spcAft>
              <a:defRPr sz="2500" b="0">
                <a:solidFill>
                  <a:srgbClr val="182B3A"/>
                </a:solidFill>
                <a:latin typeface="Arial"/>
              </a:defRPr>
            </a:pPr>
            <a:r>
              <a:t> + </a:t>
            </a:r>
          </a:p>
        </p:txBody>
      </p:sp>
      <p:sp>
        <p:nvSpPr>
          <p:cNvPr id="145" name="TextBox 144"/>
          <p:cNvSpPr txBox="1"/>
          <p:nvPr/>
        </p:nvSpPr>
        <p:spPr>
          <a:xfrm>
            <a:off x="10938129" y="3767328"/>
            <a:ext cx="252603" cy="256032"/>
          </a:xfrm>
          <a:prstGeom prst="rect">
            <a:avLst/>
          </a:prstGeom>
          <a:noFill/>
        </p:spPr>
        <p:txBody>
          <a:bodyPr wrap="none" lIns="0" rIns="0" tIns="0" bIns="0">
            <a:spAutoFit/>
          </a:bodyPr>
          <a:lstStyle/>
          <a:p>
            <a:pPr algn="ctr">
              <a:lnSpc>
                <a:spcPts val="2240"/>
              </a:lnSpc>
              <a:spcAft>
                <a:spcPts val="0"/>
              </a:spcAft>
              <a:defRPr sz="2000" b="0">
                <a:solidFill>
                  <a:srgbClr val="182B3A"/>
                </a:solidFill>
                <a:latin typeface="Arial"/>
              </a:defRPr>
            </a:pPr>
            <a:r>
              <a:t>1</a:t>
            </a:r>
          </a:p>
        </p:txBody>
      </p:sp>
      <p:cxnSp>
        <p:nvCxnSpPr>
          <p:cNvPr id="146" name="Connector 145"/>
          <p:cNvCxnSpPr/>
          <p:nvPr/>
        </p:nvCxnSpPr>
        <p:spPr>
          <a:xfrm>
            <a:off x="10938129" y="4032504"/>
            <a:ext cx="252603" cy="0"/>
          </a:xfrm>
          <a:prstGeom prst="line">
            <a:avLst/>
          </a:prstGeom>
          <a:ln w="12700">
            <a:solidFill>
              <a:srgbClr val="182B3A"/>
            </a:solidFill>
          </a:ln>
          <a:effectLst/>
        </p:spPr>
        <p:style>
          <a:lnRef idx="2">
            <a:schemeClr val="accent1"/>
          </a:lnRef>
          <a:fillRef idx="0">
            <a:schemeClr val="accent1"/>
          </a:fillRef>
          <a:effectRef idx="1">
            <a:schemeClr val="accent1"/>
          </a:effectRef>
          <a:fontRef idx="minor">
            <a:schemeClr val="tx1"/>
          </a:fontRef>
        </p:style>
      </p:cxnSp>
      <p:sp>
        <p:nvSpPr>
          <p:cNvPr id="147" name="TextBox 146"/>
          <p:cNvSpPr txBox="1"/>
          <p:nvPr/>
        </p:nvSpPr>
        <p:spPr>
          <a:xfrm>
            <a:off x="10938129" y="4050791"/>
            <a:ext cx="252603" cy="256032"/>
          </a:xfrm>
          <a:prstGeom prst="rect">
            <a:avLst/>
          </a:prstGeom>
          <a:noFill/>
        </p:spPr>
        <p:txBody>
          <a:bodyPr wrap="none" lIns="0" rIns="0" tIns="0" bIns="0">
            <a:spAutoFit/>
          </a:bodyPr>
          <a:lstStyle/>
          <a:p>
            <a:pPr algn="ctr">
              <a:lnSpc>
                <a:spcPts val="2240"/>
              </a:lnSpc>
              <a:spcAft>
                <a:spcPts val="0"/>
              </a:spcAft>
              <a:defRPr sz="2000" b="0">
                <a:solidFill>
                  <a:srgbClr val="182B3A"/>
                </a:solidFill>
                <a:latin typeface="Arial"/>
              </a:defRPr>
            </a:pPr>
            <a:r>
              <a:t>3</a:t>
            </a:r>
          </a:p>
        </p:txBody>
      </p:sp>
      <p:sp>
        <p:nvSpPr>
          <p:cNvPr id="148" name="Rectangle 147"/>
          <p:cNvSpPr/>
          <p:nvPr/>
        </p:nvSpPr>
        <p:spPr>
          <a:xfrm>
            <a:off x="9646920" y="4599432"/>
            <a:ext cx="4640580" cy="1005840"/>
          </a:xfrm>
          <a:prstGeom prst="rect">
            <a:avLst/>
          </a:prstGeom>
          <a:solidFill>
            <a:srgbClr val="F5F0F7"/>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9" name="TextBox 148"/>
          <p:cNvSpPr txBox="1"/>
          <p:nvPr/>
        </p:nvSpPr>
        <p:spPr>
          <a:xfrm>
            <a:off x="9738360" y="4855464"/>
            <a:ext cx="320040" cy="365760"/>
          </a:xfrm>
          <a:prstGeom prst="rect">
            <a:avLst/>
          </a:prstGeom>
          <a:noFill/>
        </p:spPr>
        <p:txBody>
          <a:bodyPr wrap="square" lIns="54864" rIns="54864" tIns="22860" bIns="22860">
            <a:spAutoFit/>
          </a:bodyPr>
          <a:lstStyle/>
          <a:p>
            <a:pPr>
              <a:lnSpc>
                <a:spcPts val="2205"/>
              </a:lnSpc>
              <a:spcBef>
                <a:spcPts val="0"/>
              </a:spcBef>
              <a:spcAft>
                <a:spcPts val="0"/>
              </a:spcAft>
              <a:defRPr sz="2100" b="1">
                <a:solidFill>
                  <a:srgbClr val="182B3A"/>
                </a:solidFill>
                <a:latin typeface="Arial"/>
              </a:defRPr>
            </a:pPr>
            <a:r>
              <a:t>4.</a:t>
            </a:r>
          </a:p>
        </p:txBody>
      </p:sp>
      <p:sp>
        <p:nvSpPr>
          <p:cNvPr id="150" name="TextBox 149"/>
          <p:cNvSpPr txBox="1"/>
          <p:nvPr/>
        </p:nvSpPr>
        <p:spPr>
          <a:xfrm>
            <a:off x="10241280" y="4892040"/>
            <a:ext cx="294132" cy="347472"/>
          </a:xfrm>
          <a:prstGeom prst="rect">
            <a:avLst/>
          </a:prstGeom>
          <a:noFill/>
        </p:spPr>
        <p:txBody>
          <a:bodyPr wrap="none" lIns="0" rIns="0" tIns="0" bIns="0">
            <a:spAutoFit/>
          </a:bodyPr>
          <a:lstStyle/>
          <a:p>
            <a:pPr algn="l">
              <a:lnSpc>
                <a:spcPts val="2800"/>
              </a:lnSpc>
              <a:spcAft>
                <a:spcPts val="0"/>
              </a:spcAft>
              <a:defRPr sz="2500" b="0">
                <a:solidFill>
                  <a:srgbClr val="182B3A"/>
                </a:solidFill>
                <a:latin typeface="Arial"/>
              </a:defRPr>
            </a:pPr>
            <a:r>
              <a:t>2 </a:t>
            </a:r>
          </a:p>
        </p:txBody>
      </p:sp>
      <p:sp>
        <p:nvSpPr>
          <p:cNvPr id="151" name="TextBox 150"/>
          <p:cNvSpPr txBox="1"/>
          <p:nvPr/>
        </p:nvSpPr>
        <p:spPr>
          <a:xfrm>
            <a:off x="10535412" y="4773168"/>
            <a:ext cx="252603" cy="256032"/>
          </a:xfrm>
          <a:prstGeom prst="rect">
            <a:avLst/>
          </a:prstGeom>
          <a:noFill/>
        </p:spPr>
        <p:txBody>
          <a:bodyPr wrap="none" lIns="0" rIns="0" tIns="0" bIns="0">
            <a:spAutoFit/>
          </a:bodyPr>
          <a:lstStyle/>
          <a:p>
            <a:pPr algn="ctr">
              <a:lnSpc>
                <a:spcPts val="2240"/>
              </a:lnSpc>
              <a:spcAft>
                <a:spcPts val="0"/>
              </a:spcAft>
              <a:defRPr sz="2000" b="0">
                <a:solidFill>
                  <a:srgbClr val="182B3A"/>
                </a:solidFill>
                <a:latin typeface="Arial"/>
              </a:defRPr>
            </a:pPr>
            <a:r>
              <a:t>2</a:t>
            </a:r>
          </a:p>
        </p:txBody>
      </p:sp>
      <p:cxnSp>
        <p:nvCxnSpPr>
          <p:cNvPr id="152" name="Connector 151"/>
          <p:cNvCxnSpPr/>
          <p:nvPr/>
        </p:nvCxnSpPr>
        <p:spPr>
          <a:xfrm>
            <a:off x="10535412" y="5038344"/>
            <a:ext cx="252603" cy="0"/>
          </a:xfrm>
          <a:prstGeom prst="line">
            <a:avLst/>
          </a:prstGeom>
          <a:ln w="12700">
            <a:solidFill>
              <a:srgbClr val="182B3A"/>
            </a:solidFill>
          </a:ln>
          <a:effectLst/>
        </p:spPr>
        <p:style>
          <a:lnRef idx="2">
            <a:schemeClr val="accent1"/>
          </a:lnRef>
          <a:fillRef idx="0">
            <a:schemeClr val="accent1"/>
          </a:fillRef>
          <a:effectRef idx="1">
            <a:schemeClr val="accent1"/>
          </a:effectRef>
          <a:fontRef idx="minor">
            <a:schemeClr val="tx1"/>
          </a:fontRef>
        </p:style>
      </p:cxnSp>
      <p:sp>
        <p:nvSpPr>
          <p:cNvPr id="153" name="TextBox 152"/>
          <p:cNvSpPr txBox="1"/>
          <p:nvPr/>
        </p:nvSpPr>
        <p:spPr>
          <a:xfrm>
            <a:off x="10535412" y="5056632"/>
            <a:ext cx="252603" cy="256032"/>
          </a:xfrm>
          <a:prstGeom prst="rect">
            <a:avLst/>
          </a:prstGeom>
          <a:noFill/>
        </p:spPr>
        <p:txBody>
          <a:bodyPr wrap="none" lIns="0" rIns="0" tIns="0" bIns="0">
            <a:spAutoFit/>
          </a:bodyPr>
          <a:lstStyle/>
          <a:p>
            <a:pPr algn="ctr">
              <a:lnSpc>
                <a:spcPts val="2240"/>
              </a:lnSpc>
              <a:spcAft>
                <a:spcPts val="0"/>
              </a:spcAft>
              <a:defRPr sz="2000" b="0">
                <a:solidFill>
                  <a:srgbClr val="182B3A"/>
                </a:solidFill>
                <a:latin typeface="Arial"/>
              </a:defRPr>
            </a:pPr>
            <a:r>
              <a:t>5</a:t>
            </a:r>
          </a:p>
        </p:txBody>
      </p:sp>
      <p:sp>
        <p:nvSpPr>
          <p:cNvPr id="154" name="TextBox 153"/>
          <p:cNvSpPr txBox="1"/>
          <p:nvPr/>
        </p:nvSpPr>
        <p:spPr>
          <a:xfrm>
            <a:off x="10842879" y="4892040"/>
            <a:ext cx="389381" cy="347472"/>
          </a:xfrm>
          <a:prstGeom prst="rect">
            <a:avLst/>
          </a:prstGeom>
          <a:noFill/>
        </p:spPr>
        <p:txBody>
          <a:bodyPr wrap="none" lIns="0" rIns="0" tIns="0" bIns="0">
            <a:spAutoFit/>
          </a:bodyPr>
          <a:lstStyle/>
          <a:p>
            <a:pPr algn="l">
              <a:lnSpc>
                <a:spcPts val="2800"/>
              </a:lnSpc>
              <a:spcAft>
                <a:spcPts val="0"/>
              </a:spcAft>
              <a:defRPr sz="2500" b="0">
                <a:solidFill>
                  <a:srgbClr val="182B3A"/>
                </a:solidFill>
                <a:latin typeface="Arial"/>
              </a:defRPr>
            </a:pPr>
            <a:r>
              <a:t> − </a:t>
            </a:r>
          </a:p>
        </p:txBody>
      </p:sp>
      <p:sp>
        <p:nvSpPr>
          <p:cNvPr id="155" name="TextBox 154"/>
          <p:cNvSpPr txBox="1"/>
          <p:nvPr/>
        </p:nvSpPr>
        <p:spPr>
          <a:xfrm>
            <a:off x="11232261" y="4773168"/>
            <a:ext cx="252603" cy="256032"/>
          </a:xfrm>
          <a:prstGeom prst="rect">
            <a:avLst/>
          </a:prstGeom>
          <a:noFill/>
        </p:spPr>
        <p:txBody>
          <a:bodyPr wrap="none" lIns="0" rIns="0" tIns="0" bIns="0">
            <a:spAutoFit/>
          </a:bodyPr>
          <a:lstStyle/>
          <a:p>
            <a:pPr algn="ctr">
              <a:lnSpc>
                <a:spcPts val="2240"/>
              </a:lnSpc>
              <a:spcAft>
                <a:spcPts val="0"/>
              </a:spcAft>
              <a:defRPr sz="2000" b="0">
                <a:solidFill>
                  <a:srgbClr val="182B3A"/>
                </a:solidFill>
                <a:latin typeface="Arial"/>
              </a:defRPr>
            </a:pPr>
            <a:r>
              <a:t>1</a:t>
            </a:r>
          </a:p>
        </p:txBody>
      </p:sp>
      <p:cxnSp>
        <p:nvCxnSpPr>
          <p:cNvPr id="156" name="Connector 155"/>
          <p:cNvCxnSpPr/>
          <p:nvPr/>
        </p:nvCxnSpPr>
        <p:spPr>
          <a:xfrm>
            <a:off x="11232261" y="5038344"/>
            <a:ext cx="252603" cy="0"/>
          </a:xfrm>
          <a:prstGeom prst="line">
            <a:avLst/>
          </a:prstGeom>
          <a:ln w="12700">
            <a:solidFill>
              <a:srgbClr val="182B3A"/>
            </a:solidFill>
          </a:ln>
          <a:effectLst/>
        </p:spPr>
        <p:style>
          <a:lnRef idx="2">
            <a:schemeClr val="accent1"/>
          </a:lnRef>
          <a:fillRef idx="0">
            <a:schemeClr val="accent1"/>
          </a:fillRef>
          <a:effectRef idx="1">
            <a:schemeClr val="accent1"/>
          </a:effectRef>
          <a:fontRef idx="minor">
            <a:schemeClr val="tx1"/>
          </a:fontRef>
        </p:style>
      </p:cxnSp>
      <p:sp>
        <p:nvSpPr>
          <p:cNvPr id="157" name="TextBox 156"/>
          <p:cNvSpPr txBox="1"/>
          <p:nvPr/>
        </p:nvSpPr>
        <p:spPr>
          <a:xfrm>
            <a:off x="11232261" y="5056632"/>
            <a:ext cx="252603" cy="256032"/>
          </a:xfrm>
          <a:prstGeom prst="rect">
            <a:avLst/>
          </a:prstGeom>
          <a:noFill/>
        </p:spPr>
        <p:txBody>
          <a:bodyPr wrap="none" lIns="0" rIns="0" tIns="0" bIns="0">
            <a:spAutoFit/>
          </a:bodyPr>
          <a:lstStyle/>
          <a:p>
            <a:pPr algn="ctr">
              <a:lnSpc>
                <a:spcPts val="2240"/>
              </a:lnSpc>
              <a:spcAft>
                <a:spcPts val="0"/>
              </a:spcAft>
              <a:defRPr sz="2000" b="0">
                <a:solidFill>
                  <a:srgbClr val="182B3A"/>
                </a:solidFill>
                <a:latin typeface="Arial"/>
              </a:defRPr>
            </a:pPr>
            <a:r>
              <a:t>7</a:t>
            </a:r>
          </a:p>
        </p:txBody>
      </p:sp>
      <p:sp>
        <p:nvSpPr>
          <p:cNvPr id="158" name="Rectangle 157"/>
          <p:cNvSpPr/>
          <p:nvPr/>
        </p:nvSpPr>
        <p:spPr>
          <a:xfrm>
            <a:off x="9646920" y="5605272"/>
            <a:ext cx="4640580" cy="1005840"/>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9" name="TextBox 158"/>
          <p:cNvSpPr txBox="1"/>
          <p:nvPr/>
        </p:nvSpPr>
        <p:spPr>
          <a:xfrm>
            <a:off x="9738360" y="5861304"/>
            <a:ext cx="320040" cy="365760"/>
          </a:xfrm>
          <a:prstGeom prst="rect">
            <a:avLst/>
          </a:prstGeom>
          <a:noFill/>
        </p:spPr>
        <p:txBody>
          <a:bodyPr wrap="square" lIns="54864" rIns="54864" tIns="22860" bIns="22860">
            <a:spAutoFit/>
          </a:bodyPr>
          <a:lstStyle/>
          <a:p>
            <a:pPr>
              <a:lnSpc>
                <a:spcPts val="2205"/>
              </a:lnSpc>
              <a:spcBef>
                <a:spcPts val="0"/>
              </a:spcBef>
              <a:spcAft>
                <a:spcPts val="0"/>
              </a:spcAft>
              <a:defRPr sz="2100" b="1">
                <a:solidFill>
                  <a:srgbClr val="182B3A"/>
                </a:solidFill>
                <a:latin typeface="Arial"/>
              </a:defRPr>
            </a:pPr>
            <a:r>
              <a:t>5.</a:t>
            </a:r>
          </a:p>
        </p:txBody>
      </p:sp>
      <p:sp>
        <p:nvSpPr>
          <p:cNvPr id="160" name="TextBox 159"/>
          <p:cNvSpPr txBox="1"/>
          <p:nvPr/>
        </p:nvSpPr>
        <p:spPr>
          <a:xfrm>
            <a:off x="10241280" y="5897880"/>
            <a:ext cx="294132" cy="347472"/>
          </a:xfrm>
          <a:prstGeom prst="rect">
            <a:avLst/>
          </a:prstGeom>
          <a:noFill/>
        </p:spPr>
        <p:txBody>
          <a:bodyPr wrap="none" lIns="0" rIns="0" tIns="0" bIns="0">
            <a:spAutoFit/>
          </a:bodyPr>
          <a:lstStyle/>
          <a:p>
            <a:pPr algn="l">
              <a:lnSpc>
                <a:spcPts val="2800"/>
              </a:lnSpc>
              <a:spcAft>
                <a:spcPts val="0"/>
              </a:spcAft>
              <a:defRPr sz="2500" b="0">
                <a:solidFill>
                  <a:srgbClr val="182B3A"/>
                </a:solidFill>
                <a:latin typeface="Arial"/>
              </a:defRPr>
            </a:pPr>
            <a:r>
              <a:t>1 </a:t>
            </a:r>
          </a:p>
        </p:txBody>
      </p:sp>
      <p:sp>
        <p:nvSpPr>
          <p:cNvPr id="161" name="TextBox 160"/>
          <p:cNvSpPr txBox="1"/>
          <p:nvPr/>
        </p:nvSpPr>
        <p:spPr>
          <a:xfrm>
            <a:off x="10535412" y="5779008"/>
            <a:ext cx="252603" cy="256032"/>
          </a:xfrm>
          <a:prstGeom prst="rect">
            <a:avLst/>
          </a:prstGeom>
          <a:noFill/>
        </p:spPr>
        <p:txBody>
          <a:bodyPr wrap="none" lIns="0" rIns="0" tIns="0" bIns="0">
            <a:spAutoFit/>
          </a:bodyPr>
          <a:lstStyle/>
          <a:p>
            <a:pPr algn="ctr">
              <a:lnSpc>
                <a:spcPts val="2240"/>
              </a:lnSpc>
              <a:spcAft>
                <a:spcPts val="0"/>
              </a:spcAft>
              <a:defRPr sz="2000" b="0">
                <a:solidFill>
                  <a:srgbClr val="182B3A"/>
                </a:solidFill>
                <a:latin typeface="Arial"/>
              </a:defRPr>
            </a:pPr>
            <a:r>
              <a:t>2</a:t>
            </a:r>
          </a:p>
        </p:txBody>
      </p:sp>
      <p:cxnSp>
        <p:nvCxnSpPr>
          <p:cNvPr id="162" name="Connector 161"/>
          <p:cNvCxnSpPr/>
          <p:nvPr/>
        </p:nvCxnSpPr>
        <p:spPr>
          <a:xfrm>
            <a:off x="10535412" y="6044184"/>
            <a:ext cx="252603" cy="0"/>
          </a:xfrm>
          <a:prstGeom prst="line">
            <a:avLst/>
          </a:prstGeom>
          <a:ln w="12700">
            <a:solidFill>
              <a:srgbClr val="182B3A"/>
            </a:solidFill>
          </a:ln>
          <a:effectLst/>
        </p:spPr>
        <p:style>
          <a:lnRef idx="2">
            <a:schemeClr val="accent1"/>
          </a:lnRef>
          <a:fillRef idx="0">
            <a:schemeClr val="accent1"/>
          </a:fillRef>
          <a:effectRef idx="1">
            <a:schemeClr val="accent1"/>
          </a:effectRef>
          <a:fontRef idx="minor">
            <a:schemeClr val="tx1"/>
          </a:fontRef>
        </p:style>
      </p:cxnSp>
      <p:sp>
        <p:nvSpPr>
          <p:cNvPr id="163" name="TextBox 162"/>
          <p:cNvSpPr txBox="1"/>
          <p:nvPr/>
        </p:nvSpPr>
        <p:spPr>
          <a:xfrm>
            <a:off x="10535412" y="6062472"/>
            <a:ext cx="252603" cy="256032"/>
          </a:xfrm>
          <a:prstGeom prst="rect">
            <a:avLst/>
          </a:prstGeom>
          <a:noFill/>
        </p:spPr>
        <p:txBody>
          <a:bodyPr wrap="none" lIns="0" rIns="0" tIns="0" bIns="0">
            <a:spAutoFit/>
          </a:bodyPr>
          <a:lstStyle/>
          <a:p>
            <a:pPr algn="ctr">
              <a:lnSpc>
                <a:spcPts val="2240"/>
              </a:lnSpc>
              <a:spcAft>
                <a:spcPts val="0"/>
              </a:spcAft>
              <a:defRPr sz="2000" b="0">
                <a:solidFill>
                  <a:srgbClr val="182B3A"/>
                </a:solidFill>
                <a:latin typeface="Arial"/>
              </a:defRPr>
            </a:pPr>
            <a:r>
              <a:t>5</a:t>
            </a:r>
          </a:p>
        </p:txBody>
      </p:sp>
      <p:sp>
        <p:nvSpPr>
          <p:cNvPr id="164" name="TextBox 163"/>
          <p:cNvSpPr txBox="1"/>
          <p:nvPr/>
        </p:nvSpPr>
        <p:spPr>
          <a:xfrm>
            <a:off x="10842879" y="5897880"/>
            <a:ext cx="389381" cy="347472"/>
          </a:xfrm>
          <a:prstGeom prst="rect">
            <a:avLst/>
          </a:prstGeom>
          <a:noFill/>
        </p:spPr>
        <p:txBody>
          <a:bodyPr wrap="none" lIns="0" rIns="0" tIns="0" bIns="0">
            <a:spAutoFit/>
          </a:bodyPr>
          <a:lstStyle/>
          <a:p>
            <a:pPr algn="l">
              <a:lnSpc>
                <a:spcPts val="2800"/>
              </a:lnSpc>
              <a:spcAft>
                <a:spcPts val="0"/>
              </a:spcAft>
              <a:defRPr sz="2500" b="0">
                <a:solidFill>
                  <a:srgbClr val="182B3A"/>
                </a:solidFill>
                <a:latin typeface="Arial"/>
              </a:defRPr>
            </a:pPr>
            <a:r>
              <a:t> − </a:t>
            </a:r>
          </a:p>
        </p:txBody>
      </p:sp>
      <p:sp>
        <p:nvSpPr>
          <p:cNvPr id="165" name="TextBox 164"/>
          <p:cNvSpPr txBox="1"/>
          <p:nvPr/>
        </p:nvSpPr>
        <p:spPr>
          <a:xfrm>
            <a:off x="11232261" y="5779008"/>
            <a:ext cx="252603" cy="256032"/>
          </a:xfrm>
          <a:prstGeom prst="rect">
            <a:avLst/>
          </a:prstGeom>
          <a:noFill/>
        </p:spPr>
        <p:txBody>
          <a:bodyPr wrap="none" lIns="0" rIns="0" tIns="0" bIns="0">
            <a:spAutoFit/>
          </a:bodyPr>
          <a:lstStyle/>
          <a:p>
            <a:pPr algn="ctr">
              <a:lnSpc>
                <a:spcPts val="2240"/>
              </a:lnSpc>
              <a:spcAft>
                <a:spcPts val="0"/>
              </a:spcAft>
              <a:defRPr sz="2000" b="0">
                <a:solidFill>
                  <a:srgbClr val="182B3A"/>
                </a:solidFill>
                <a:latin typeface="Arial"/>
              </a:defRPr>
            </a:pPr>
            <a:r>
              <a:t>3</a:t>
            </a:r>
          </a:p>
        </p:txBody>
      </p:sp>
      <p:cxnSp>
        <p:nvCxnSpPr>
          <p:cNvPr id="166" name="Connector 165"/>
          <p:cNvCxnSpPr/>
          <p:nvPr/>
        </p:nvCxnSpPr>
        <p:spPr>
          <a:xfrm>
            <a:off x="11232261" y="6044184"/>
            <a:ext cx="252603" cy="0"/>
          </a:xfrm>
          <a:prstGeom prst="line">
            <a:avLst/>
          </a:prstGeom>
          <a:ln w="12700">
            <a:solidFill>
              <a:srgbClr val="182B3A"/>
            </a:solidFill>
          </a:ln>
          <a:effectLst/>
        </p:spPr>
        <p:style>
          <a:lnRef idx="2">
            <a:schemeClr val="accent1"/>
          </a:lnRef>
          <a:fillRef idx="0">
            <a:schemeClr val="accent1"/>
          </a:fillRef>
          <a:effectRef idx="1">
            <a:schemeClr val="accent1"/>
          </a:effectRef>
          <a:fontRef idx="minor">
            <a:schemeClr val="tx1"/>
          </a:fontRef>
        </p:style>
      </p:cxnSp>
      <p:sp>
        <p:nvSpPr>
          <p:cNvPr id="167" name="TextBox 166"/>
          <p:cNvSpPr txBox="1"/>
          <p:nvPr/>
        </p:nvSpPr>
        <p:spPr>
          <a:xfrm>
            <a:off x="11232261" y="6062472"/>
            <a:ext cx="252603" cy="256032"/>
          </a:xfrm>
          <a:prstGeom prst="rect">
            <a:avLst/>
          </a:prstGeom>
          <a:noFill/>
        </p:spPr>
        <p:txBody>
          <a:bodyPr wrap="none" lIns="0" rIns="0" tIns="0" bIns="0">
            <a:spAutoFit/>
          </a:bodyPr>
          <a:lstStyle/>
          <a:p>
            <a:pPr algn="ctr">
              <a:lnSpc>
                <a:spcPts val="2240"/>
              </a:lnSpc>
              <a:spcAft>
                <a:spcPts val="0"/>
              </a:spcAft>
              <a:defRPr sz="2000" b="0">
                <a:solidFill>
                  <a:srgbClr val="182B3A"/>
                </a:solidFill>
                <a:latin typeface="Arial"/>
              </a:defRPr>
            </a:pPr>
            <a:r>
              <a:t>4</a:t>
            </a:r>
          </a:p>
        </p:txBody>
      </p:sp>
      <p:sp>
        <p:nvSpPr>
          <p:cNvPr id="168" name="Rectangle 167"/>
          <p:cNvSpPr/>
          <p:nvPr/>
        </p:nvSpPr>
        <p:spPr>
          <a:xfrm>
            <a:off x="9646920" y="6611112"/>
            <a:ext cx="4640580" cy="1005840"/>
          </a:xfrm>
          <a:prstGeom prst="rect">
            <a:avLst/>
          </a:prstGeom>
          <a:solidFill>
            <a:srgbClr val="F5F0F7"/>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9" name="TextBox 168"/>
          <p:cNvSpPr txBox="1"/>
          <p:nvPr/>
        </p:nvSpPr>
        <p:spPr>
          <a:xfrm>
            <a:off x="9738360" y="6867144"/>
            <a:ext cx="320040" cy="365760"/>
          </a:xfrm>
          <a:prstGeom prst="rect">
            <a:avLst/>
          </a:prstGeom>
          <a:noFill/>
        </p:spPr>
        <p:txBody>
          <a:bodyPr wrap="square" lIns="54864" rIns="54864" tIns="22860" bIns="22860">
            <a:spAutoFit/>
          </a:bodyPr>
          <a:lstStyle/>
          <a:p>
            <a:pPr>
              <a:lnSpc>
                <a:spcPts val="2205"/>
              </a:lnSpc>
              <a:spcBef>
                <a:spcPts val="0"/>
              </a:spcBef>
              <a:spcAft>
                <a:spcPts val="0"/>
              </a:spcAft>
              <a:defRPr sz="2100" b="1">
                <a:solidFill>
                  <a:srgbClr val="182B3A"/>
                </a:solidFill>
                <a:latin typeface="Arial"/>
              </a:defRPr>
            </a:pPr>
            <a:r>
              <a:t>6.</a:t>
            </a:r>
          </a:p>
        </p:txBody>
      </p:sp>
      <p:sp>
        <p:nvSpPr>
          <p:cNvPr id="170" name="TextBox 169"/>
          <p:cNvSpPr txBox="1"/>
          <p:nvPr/>
        </p:nvSpPr>
        <p:spPr>
          <a:xfrm>
            <a:off x="10241280" y="6784848"/>
            <a:ext cx="252603" cy="256032"/>
          </a:xfrm>
          <a:prstGeom prst="rect">
            <a:avLst/>
          </a:prstGeom>
          <a:noFill/>
        </p:spPr>
        <p:txBody>
          <a:bodyPr wrap="none" lIns="0" rIns="0" tIns="0" bIns="0">
            <a:spAutoFit/>
          </a:bodyPr>
          <a:lstStyle/>
          <a:p>
            <a:pPr algn="ctr">
              <a:lnSpc>
                <a:spcPts val="2240"/>
              </a:lnSpc>
              <a:spcAft>
                <a:spcPts val="0"/>
              </a:spcAft>
              <a:defRPr sz="2000" b="0">
                <a:solidFill>
                  <a:srgbClr val="182B3A"/>
                </a:solidFill>
                <a:latin typeface="Arial"/>
              </a:defRPr>
            </a:pPr>
            <a:r>
              <a:t>7</a:t>
            </a:r>
          </a:p>
        </p:txBody>
      </p:sp>
      <p:cxnSp>
        <p:nvCxnSpPr>
          <p:cNvPr id="171" name="Connector 170"/>
          <p:cNvCxnSpPr/>
          <p:nvPr/>
        </p:nvCxnSpPr>
        <p:spPr>
          <a:xfrm>
            <a:off x="10241280" y="7050024"/>
            <a:ext cx="252603" cy="0"/>
          </a:xfrm>
          <a:prstGeom prst="line">
            <a:avLst/>
          </a:prstGeom>
          <a:ln w="12700">
            <a:solidFill>
              <a:srgbClr val="182B3A"/>
            </a:solidFill>
          </a:ln>
          <a:effectLst/>
        </p:spPr>
        <p:style>
          <a:lnRef idx="2">
            <a:schemeClr val="accent1"/>
          </a:lnRef>
          <a:fillRef idx="0">
            <a:schemeClr val="accent1"/>
          </a:fillRef>
          <a:effectRef idx="1">
            <a:schemeClr val="accent1"/>
          </a:effectRef>
          <a:fontRef idx="minor">
            <a:schemeClr val="tx1"/>
          </a:fontRef>
        </p:style>
      </p:cxnSp>
      <p:sp>
        <p:nvSpPr>
          <p:cNvPr id="172" name="TextBox 171"/>
          <p:cNvSpPr txBox="1"/>
          <p:nvPr/>
        </p:nvSpPr>
        <p:spPr>
          <a:xfrm>
            <a:off x="10241280" y="7068312"/>
            <a:ext cx="252603" cy="256032"/>
          </a:xfrm>
          <a:prstGeom prst="rect">
            <a:avLst/>
          </a:prstGeom>
          <a:noFill/>
        </p:spPr>
        <p:txBody>
          <a:bodyPr wrap="none" lIns="0" rIns="0" tIns="0" bIns="0">
            <a:spAutoFit/>
          </a:bodyPr>
          <a:lstStyle/>
          <a:p>
            <a:pPr algn="ctr">
              <a:lnSpc>
                <a:spcPts val="2240"/>
              </a:lnSpc>
              <a:spcAft>
                <a:spcPts val="0"/>
              </a:spcAft>
              <a:defRPr sz="2000" b="0">
                <a:solidFill>
                  <a:srgbClr val="182B3A"/>
                </a:solidFill>
                <a:latin typeface="Arial"/>
              </a:defRPr>
            </a:pPr>
            <a:r>
              <a:t>9</a:t>
            </a:r>
          </a:p>
        </p:txBody>
      </p:sp>
      <p:sp>
        <p:nvSpPr>
          <p:cNvPr id="173" name="TextBox 172"/>
          <p:cNvSpPr txBox="1"/>
          <p:nvPr/>
        </p:nvSpPr>
        <p:spPr>
          <a:xfrm>
            <a:off x="10548747" y="6903720"/>
            <a:ext cx="389381" cy="347472"/>
          </a:xfrm>
          <a:prstGeom prst="rect">
            <a:avLst/>
          </a:prstGeom>
          <a:noFill/>
        </p:spPr>
        <p:txBody>
          <a:bodyPr wrap="none" lIns="0" rIns="0" tIns="0" bIns="0">
            <a:spAutoFit/>
          </a:bodyPr>
          <a:lstStyle/>
          <a:p>
            <a:pPr algn="l">
              <a:lnSpc>
                <a:spcPts val="2800"/>
              </a:lnSpc>
              <a:spcAft>
                <a:spcPts val="0"/>
              </a:spcAft>
              <a:defRPr sz="2500" b="0">
                <a:solidFill>
                  <a:srgbClr val="182B3A"/>
                </a:solidFill>
                <a:latin typeface="Arial"/>
              </a:defRPr>
            </a:pPr>
            <a:r>
              <a:t> − </a:t>
            </a:r>
          </a:p>
        </p:txBody>
      </p:sp>
      <p:sp>
        <p:nvSpPr>
          <p:cNvPr id="174" name="TextBox 173"/>
          <p:cNvSpPr txBox="1"/>
          <p:nvPr/>
        </p:nvSpPr>
        <p:spPr>
          <a:xfrm>
            <a:off x="10938129" y="6784848"/>
            <a:ext cx="252603" cy="256032"/>
          </a:xfrm>
          <a:prstGeom prst="rect">
            <a:avLst/>
          </a:prstGeom>
          <a:noFill/>
        </p:spPr>
        <p:txBody>
          <a:bodyPr wrap="none" lIns="0" rIns="0" tIns="0" bIns="0">
            <a:spAutoFit/>
          </a:bodyPr>
          <a:lstStyle/>
          <a:p>
            <a:pPr algn="ctr">
              <a:lnSpc>
                <a:spcPts val="2240"/>
              </a:lnSpc>
              <a:spcAft>
                <a:spcPts val="0"/>
              </a:spcAft>
              <a:defRPr sz="2000" b="0">
                <a:solidFill>
                  <a:srgbClr val="182B3A"/>
                </a:solidFill>
                <a:latin typeface="Arial"/>
              </a:defRPr>
            </a:pPr>
            <a:r>
              <a:t>1</a:t>
            </a:r>
          </a:p>
        </p:txBody>
      </p:sp>
      <p:cxnSp>
        <p:nvCxnSpPr>
          <p:cNvPr id="175" name="Connector 174"/>
          <p:cNvCxnSpPr/>
          <p:nvPr/>
        </p:nvCxnSpPr>
        <p:spPr>
          <a:xfrm>
            <a:off x="10938129" y="7050024"/>
            <a:ext cx="252603" cy="0"/>
          </a:xfrm>
          <a:prstGeom prst="line">
            <a:avLst/>
          </a:prstGeom>
          <a:ln w="12700">
            <a:solidFill>
              <a:srgbClr val="182B3A"/>
            </a:solidFill>
          </a:ln>
          <a:effectLst/>
        </p:spPr>
        <p:style>
          <a:lnRef idx="2">
            <a:schemeClr val="accent1"/>
          </a:lnRef>
          <a:fillRef idx="0">
            <a:schemeClr val="accent1"/>
          </a:fillRef>
          <a:effectRef idx="1">
            <a:schemeClr val="accent1"/>
          </a:effectRef>
          <a:fontRef idx="minor">
            <a:schemeClr val="tx1"/>
          </a:fontRef>
        </p:style>
      </p:cxnSp>
      <p:sp>
        <p:nvSpPr>
          <p:cNvPr id="176" name="TextBox 175"/>
          <p:cNvSpPr txBox="1"/>
          <p:nvPr/>
        </p:nvSpPr>
        <p:spPr>
          <a:xfrm>
            <a:off x="10938129" y="7068312"/>
            <a:ext cx="252603" cy="256032"/>
          </a:xfrm>
          <a:prstGeom prst="rect">
            <a:avLst/>
          </a:prstGeom>
          <a:noFill/>
        </p:spPr>
        <p:txBody>
          <a:bodyPr wrap="none" lIns="0" rIns="0" tIns="0" bIns="0">
            <a:spAutoFit/>
          </a:bodyPr>
          <a:lstStyle/>
          <a:p>
            <a:pPr algn="ctr">
              <a:lnSpc>
                <a:spcPts val="2240"/>
              </a:lnSpc>
              <a:spcAft>
                <a:spcPts val="0"/>
              </a:spcAft>
              <a:defRPr sz="2000" b="0">
                <a:solidFill>
                  <a:srgbClr val="182B3A"/>
                </a:solidFill>
                <a:latin typeface="Arial"/>
              </a:defRPr>
            </a:pPr>
            <a:r>
              <a:t>4</a:t>
            </a:r>
          </a:p>
        </p:txBody>
      </p:sp>
      <p:sp>
        <p:nvSpPr>
          <p:cNvPr id="177" name="Progression curved arrow: Thread 1 to Thread 2"/>
          <p:cNvSpPr/>
          <p:nvPr/>
        </p:nvSpPr>
        <p:spPr>
          <a:xfrm>
            <a:off x="4649723" y="7552294"/>
            <a:ext cx="621792" cy="314053"/>
          </a:xfrm>
          <a:custGeom>
            <a:avLst/>
            <a:gdLst/>
            <a:ahLst/>
            <a:cxnLst/>
            <a:rect l="0" t="0" r="100000" b="100000"/>
            <a:pathLst>
              <a:path w="100000" h="100000" fill="none">
                <a:moveTo>
                  <a:pt x="6970" y="48439"/>
                </a:moveTo>
                <a:cubicBezTo>
                  <a:pt x="40678" y="114499"/>
                  <a:pt x="73026" y="88145"/>
                  <a:pt x="93030" y="13799"/>
                </a:cubicBezTo>
              </a:path>
              <a:path w="100000" h="100000" fill="none">
                <a:moveTo>
                  <a:pt x="69018" y="40431"/>
                </a:moveTo>
                <a:lnTo>
                  <a:pt x="93030" y="13799"/>
                </a:lnTo>
                <a:lnTo>
                  <a:pt x="92217" y="66207"/>
                </a:lnTo>
              </a:path>
            </a:pathLst>
          </a:custGeom>
          <a:noFill/>
          <a:ln w="64449" cap="rnd">
            <a:solidFill>
              <a:schemeClr val="accent6">
                <a:lumMod val="60000"/>
                <a:lumOff val="40000"/>
              </a:schemeClr>
            </a:solidFill>
            <a:round/>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78" name="Progression curved arrow: Thread 2 to Thread 3"/>
          <p:cNvSpPr/>
          <p:nvPr/>
        </p:nvSpPr>
        <p:spPr>
          <a:xfrm>
            <a:off x="9265327" y="7543800"/>
            <a:ext cx="621792" cy="314053"/>
          </a:xfrm>
          <a:custGeom>
            <a:avLst/>
            <a:gdLst/>
            <a:ahLst/>
            <a:cxnLst/>
            <a:rect l="0" t="0" r="100000" b="100000"/>
            <a:pathLst>
              <a:path w="100000" h="100000" fill="none">
                <a:moveTo>
                  <a:pt x="6970" y="48439"/>
                </a:moveTo>
                <a:cubicBezTo>
                  <a:pt x="40678" y="114499"/>
                  <a:pt x="73026" y="88145"/>
                  <a:pt x="93030" y="13799"/>
                </a:cubicBezTo>
              </a:path>
              <a:path w="100000" h="100000" fill="none">
                <a:moveTo>
                  <a:pt x="69018" y="40431"/>
                </a:moveTo>
                <a:lnTo>
                  <a:pt x="93030" y="13799"/>
                </a:lnTo>
                <a:lnTo>
                  <a:pt x="92217" y="66207"/>
                </a:lnTo>
              </a:path>
            </a:pathLst>
          </a:custGeom>
          <a:noFill/>
          <a:ln w="64449" cap="rnd">
            <a:solidFill>
              <a:schemeClr val="accent6">
                <a:lumMod val="60000"/>
                <a:lumOff val="40000"/>
              </a:schemeClr>
            </a:solidFill>
            <a:round/>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Tree>
  </p:cSld>
  <p:clrMapOvr>
    <a:masterClrMapping/>
  </p:clrMapOvr>
</p:sld>
</file>

<file path=ppt/slides/slide48.xml><?xml version="1.0" encoding="utf-8"?>
<p:sld xmlns:a="http://schemas.openxmlformats.org/drawingml/2006/main" xmlns:p="http://schemas.openxmlformats.org/presentationml/2006/main" xmlns:r="http://schemas.openxmlformats.org/officeDocument/2006/relationships">
  <p:cSld>
    <p:bg>
      <p:bgPr>
        <a:solidFill>
          <a:srgbClr val="F7F8FA"/>
        </a:solidFill>
        <a:effectLst/>
      </p:bgPr>
    </p:bg>
    <p:spTree>
      <p:nvGrpSpPr>
        <p:cNvPr id="1" name=""/>
        <p:cNvGrpSpPr/>
        <p:nvPr/>
      </p:nvGrpSpPr>
      <p:grpSpPr/>
      <p:sp>
        <p:nvSpPr>
          <p:cNvPr id="2" name="Rectangle 1"/>
          <p:cNvSpPr/>
          <p:nvPr/>
        </p:nvSpPr>
        <p:spPr>
          <a:xfrm>
            <a:off x="0" y="0"/>
            <a:ext cx="14630400" cy="73152"/>
          </a:xfrm>
          <a:prstGeom prst="rect">
            <a:avLst/>
          </a:prstGeom>
          <a:solidFill>
            <a:srgbClr val="176B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20040" y="164592"/>
            <a:ext cx="13990320" cy="457200"/>
          </a:xfrm>
          <a:prstGeom prst="rect">
            <a:avLst/>
          </a:prstGeom>
          <a:noFill/>
        </p:spPr>
        <p:txBody>
          <a:bodyPr wrap="square" lIns="54864" rIns="54864" tIns="22860" bIns="22860">
            <a:spAutoFit/>
          </a:bodyPr>
          <a:lstStyle/>
          <a:p>
            <a:pPr>
              <a:lnSpc>
                <a:spcPts val="2940"/>
              </a:lnSpc>
              <a:spcBef>
                <a:spcPts val="0"/>
              </a:spcBef>
              <a:spcAft>
                <a:spcPts val="0"/>
              </a:spcAft>
              <a:defRPr sz="2800" b="1">
                <a:solidFill>
                  <a:srgbClr val="182B3A"/>
                </a:solidFill>
                <a:latin typeface="Arial"/>
              </a:defRPr>
            </a:pPr>
            <a:r>
              <a:t>Adding and subtracting fractions</a:t>
            </a:r>
          </a:p>
        </p:txBody>
      </p:sp>
      <p:sp>
        <p:nvSpPr>
          <p:cNvPr id="4" name="TextBox 3"/>
          <p:cNvSpPr txBox="1"/>
          <p:nvPr/>
        </p:nvSpPr>
        <p:spPr>
          <a:xfrm>
            <a:off x="320040" y="704088"/>
            <a:ext cx="13990320" cy="347472"/>
          </a:xfrm>
          <a:prstGeom prst="rect">
            <a:avLst/>
          </a:prstGeom>
          <a:noFill/>
        </p:spPr>
        <p:txBody>
          <a:bodyPr wrap="square" lIns="54864" rIns="54864" tIns="22860" bIns="22860">
            <a:spAutoFit/>
          </a:bodyPr>
          <a:lstStyle/>
          <a:p>
            <a:pPr>
              <a:lnSpc>
                <a:spcPts val="1575"/>
              </a:lnSpc>
              <a:spcBef>
                <a:spcPts val="0"/>
              </a:spcBef>
              <a:spcAft>
                <a:spcPts val="0"/>
              </a:spcAft>
              <a:defRPr sz="1500" b="0">
                <a:solidFill>
                  <a:srgbClr val="526472"/>
                </a:solidFill>
                <a:latin typeface="Arial"/>
              </a:defRPr>
            </a:pPr>
            <a:r>
              <a:t>Independent practice 3 • Simplify; write mixed answers if greater than 1.</a:t>
            </a:r>
          </a:p>
        </p:txBody>
      </p:sp>
      <p:sp>
        <p:nvSpPr>
          <p:cNvPr id="5" name="TextBox 4"/>
          <p:cNvSpPr txBox="1"/>
          <p:nvPr/>
        </p:nvSpPr>
        <p:spPr>
          <a:xfrm>
            <a:off x="320040" y="7973568"/>
            <a:ext cx="10789920" cy="210312"/>
          </a:xfrm>
          <a:prstGeom prst="rect">
            <a:avLst/>
          </a:prstGeom>
          <a:noFill/>
        </p:spPr>
        <p:txBody>
          <a:bodyPr wrap="square" lIns="54864" rIns="54864" tIns="22860" bIns="22860">
            <a:spAutoFit/>
          </a:bodyPr>
          <a:lstStyle/>
          <a:p>
            <a:pPr>
              <a:lnSpc>
                <a:spcPts val="1155"/>
              </a:lnSpc>
              <a:spcBef>
                <a:spcPts val="0"/>
              </a:spcBef>
              <a:spcAft>
                <a:spcPts val="0"/>
              </a:spcAft>
              <a:defRPr sz="1100" b="0">
                <a:solidFill>
                  <a:srgbClr val="526472"/>
                </a:solidFill>
                <a:latin typeface="Arial"/>
              </a:defRPr>
            </a:pPr>
            <a:r>
              <a:t>GCSE Maths revision • No calculator • Show your working.</a:t>
            </a:r>
          </a:p>
        </p:txBody>
      </p:sp>
      <p:sp>
        <p:nvSpPr>
          <p:cNvPr id="6" name="TextBox 5"/>
          <p:cNvSpPr txBox="1"/>
          <p:nvPr/>
        </p:nvSpPr>
        <p:spPr>
          <a:xfrm>
            <a:off x="11155680" y="7973568"/>
            <a:ext cx="3108960" cy="210312"/>
          </a:xfrm>
          <a:prstGeom prst="rect">
            <a:avLst/>
          </a:prstGeom>
          <a:noFill/>
        </p:spPr>
        <p:txBody>
          <a:bodyPr wrap="square" lIns="54864" rIns="54864" tIns="22860" bIns="22860">
            <a:spAutoFit/>
          </a:bodyPr>
          <a:lstStyle/>
          <a:p>
            <a:pPr>
              <a:lnSpc>
                <a:spcPts val="1155"/>
              </a:lnSpc>
              <a:spcBef>
                <a:spcPts val="0"/>
              </a:spcBef>
              <a:spcAft>
                <a:spcPts val="0"/>
              </a:spcAft>
              <a:defRPr sz="1100" b="0">
                <a:solidFill>
                  <a:srgbClr val="526472"/>
                </a:solidFill>
                <a:latin typeface="Arial"/>
              </a:defRPr>
            </a:pPr>
            <a:r>
              <a:t>M15-S06</a:t>
            </a:r>
          </a:p>
        </p:txBody>
      </p:sp>
      <p:sp>
        <p:nvSpPr>
          <p:cNvPr id="7" name="Rectangle 6"/>
          <p:cNvSpPr/>
          <p:nvPr/>
        </p:nvSpPr>
        <p:spPr>
          <a:xfrm>
            <a:off x="320040" y="1115568"/>
            <a:ext cx="4640580" cy="420624"/>
          </a:xfrm>
          <a:prstGeom prst="rect">
            <a:avLst/>
          </a:prstGeom>
          <a:solidFill>
            <a:srgbClr val="176B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347472" y="1147572"/>
            <a:ext cx="4581144" cy="329184"/>
          </a:xfrm>
          <a:prstGeom prst="rect">
            <a:avLst/>
          </a:prstGeom>
          <a:noFill/>
        </p:spPr>
        <p:txBody>
          <a:bodyPr wrap="square" lIns="54864" rIns="54864" tIns="22860" bIns="22860">
            <a:spAutoFit/>
          </a:bodyPr>
          <a:lstStyle/>
          <a:p>
            <a:pPr>
              <a:lnSpc>
                <a:spcPts val="1995"/>
              </a:lnSpc>
              <a:spcBef>
                <a:spcPts val="0"/>
              </a:spcBef>
              <a:spcAft>
                <a:spcPts val="0"/>
              </a:spcAft>
              <a:defRPr sz="1900" b="1">
                <a:solidFill>
                  <a:srgbClr val="FFFFFF"/>
                </a:solidFill>
                <a:latin typeface="Arial"/>
              </a:defRPr>
            </a:pPr>
            <a:r>
              <a:t>Start</a:t>
            </a:r>
          </a:p>
        </p:txBody>
      </p:sp>
      <p:sp>
        <p:nvSpPr>
          <p:cNvPr id="9" name="Rectangle 8"/>
          <p:cNvSpPr/>
          <p:nvPr/>
        </p:nvSpPr>
        <p:spPr>
          <a:xfrm>
            <a:off x="4983480" y="1115568"/>
            <a:ext cx="4640580" cy="420624"/>
          </a:xfrm>
          <a:prstGeom prst="rect">
            <a:avLst/>
          </a:prstGeom>
          <a:solidFill>
            <a:srgbClr val="3559A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010912" y="1147572"/>
            <a:ext cx="4581144" cy="329184"/>
          </a:xfrm>
          <a:prstGeom prst="rect">
            <a:avLst/>
          </a:prstGeom>
          <a:noFill/>
        </p:spPr>
        <p:txBody>
          <a:bodyPr wrap="square" lIns="54864" rIns="54864" tIns="22860" bIns="22860">
            <a:spAutoFit/>
          </a:bodyPr>
          <a:lstStyle/>
          <a:p>
            <a:pPr>
              <a:lnSpc>
                <a:spcPts val="1995"/>
              </a:lnSpc>
              <a:spcBef>
                <a:spcPts val="0"/>
              </a:spcBef>
              <a:spcAft>
                <a:spcPts val="0"/>
              </a:spcAft>
              <a:defRPr sz="1900" b="1">
                <a:solidFill>
                  <a:srgbClr val="FFFFFF"/>
                </a:solidFill>
                <a:latin typeface="Arial"/>
              </a:defRPr>
            </a:pPr>
            <a:r>
              <a:t>Build</a:t>
            </a:r>
          </a:p>
        </p:txBody>
      </p:sp>
      <p:sp>
        <p:nvSpPr>
          <p:cNvPr id="11" name="Rectangle 10"/>
          <p:cNvSpPr/>
          <p:nvPr/>
        </p:nvSpPr>
        <p:spPr>
          <a:xfrm>
            <a:off x="9646920" y="1115568"/>
            <a:ext cx="4640580" cy="420624"/>
          </a:xfrm>
          <a:prstGeom prst="rect">
            <a:avLst/>
          </a:prstGeom>
          <a:solidFill>
            <a:srgbClr val="754B8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9674352" y="1147572"/>
            <a:ext cx="4581144" cy="329184"/>
          </a:xfrm>
          <a:prstGeom prst="rect">
            <a:avLst/>
          </a:prstGeom>
          <a:noFill/>
        </p:spPr>
        <p:txBody>
          <a:bodyPr wrap="square" lIns="54864" rIns="54864" tIns="22860" bIns="22860">
            <a:spAutoFit/>
          </a:bodyPr>
          <a:lstStyle/>
          <a:p>
            <a:pPr>
              <a:lnSpc>
                <a:spcPts val="1995"/>
              </a:lnSpc>
              <a:spcBef>
                <a:spcPts val="0"/>
              </a:spcBef>
              <a:spcAft>
                <a:spcPts val="0"/>
              </a:spcAft>
              <a:defRPr sz="1900" b="1">
                <a:solidFill>
                  <a:srgbClr val="FFFFFF"/>
                </a:solidFill>
                <a:latin typeface="Arial"/>
              </a:defRPr>
            </a:pPr>
            <a:r>
              <a:t>Confidence</a:t>
            </a:r>
          </a:p>
        </p:txBody>
      </p:sp>
      <p:sp>
        <p:nvSpPr>
          <p:cNvPr id="13" name="Rectangle 12"/>
          <p:cNvSpPr/>
          <p:nvPr/>
        </p:nvSpPr>
        <p:spPr>
          <a:xfrm>
            <a:off x="320040" y="1581912"/>
            <a:ext cx="4640580" cy="1005840"/>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11479" y="1837943"/>
            <a:ext cx="320040" cy="365760"/>
          </a:xfrm>
          <a:prstGeom prst="rect">
            <a:avLst/>
          </a:prstGeom>
          <a:noFill/>
        </p:spPr>
        <p:txBody>
          <a:bodyPr wrap="square" lIns="54864" rIns="54864" tIns="22860" bIns="22860">
            <a:spAutoFit/>
          </a:bodyPr>
          <a:lstStyle/>
          <a:p>
            <a:pPr>
              <a:lnSpc>
                <a:spcPts val="2205"/>
              </a:lnSpc>
              <a:spcBef>
                <a:spcPts val="0"/>
              </a:spcBef>
              <a:spcAft>
                <a:spcPts val="0"/>
              </a:spcAft>
              <a:defRPr sz="2100" b="1">
                <a:solidFill>
                  <a:srgbClr val="182B3A"/>
                </a:solidFill>
                <a:latin typeface="Arial"/>
              </a:defRPr>
            </a:pPr>
            <a:r>
              <a:t>1.</a:t>
            </a:r>
          </a:p>
        </p:txBody>
      </p:sp>
      <p:sp>
        <p:nvSpPr>
          <p:cNvPr id="15" name="TextBox 14"/>
          <p:cNvSpPr txBox="1"/>
          <p:nvPr/>
        </p:nvSpPr>
        <p:spPr>
          <a:xfrm>
            <a:off x="914399" y="1755648"/>
            <a:ext cx="252603" cy="256032"/>
          </a:xfrm>
          <a:prstGeom prst="rect">
            <a:avLst/>
          </a:prstGeom>
          <a:noFill/>
        </p:spPr>
        <p:txBody>
          <a:bodyPr wrap="none" lIns="0" rIns="0" tIns="0" bIns="0">
            <a:spAutoFit/>
          </a:bodyPr>
          <a:lstStyle/>
          <a:p>
            <a:pPr algn="ctr">
              <a:lnSpc>
                <a:spcPts val="2240"/>
              </a:lnSpc>
              <a:spcAft>
                <a:spcPts val="0"/>
              </a:spcAft>
              <a:defRPr sz="2000" b="0">
                <a:solidFill>
                  <a:srgbClr val="182B3A"/>
                </a:solidFill>
                <a:latin typeface="Arial"/>
              </a:defRPr>
            </a:pPr>
            <a:r>
              <a:t>1</a:t>
            </a:r>
          </a:p>
        </p:txBody>
      </p:sp>
      <p:cxnSp>
        <p:nvCxnSpPr>
          <p:cNvPr id="16" name="Connector 15"/>
          <p:cNvCxnSpPr/>
          <p:nvPr/>
        </p:nvCxnSpPr>
        <p:spPr>
          <a:xfrm>
            <a:off x="914399" y="2020824"/>
            <a:ext cx="252604" cy="0"/>
          </a:xfrm>
          <a:prstGeom prst="line">
            <a:avLst/>
          </a:prstGeom>
          <a:ln w="12700">
            <a:solidFill>
              <a:srgbClr val="182B3A"/>
            </a:solidFill>
          </a:ln>
          <a:effectLst/>
        </p:spPr>
        <p:style>
          <a:lnRef idx="2">
            <a:schemeClr val="accent1"/>
          </a:lnRef>
          <a:fillRef idx="0">
            <a:schemeClr val="accent1"/>
          </a:fillRef>
          <a:effectRef idx="1">
            <a:schemeClr val="accent1"/>
          </a:effectRef>
          <a:fontRef idx="minor">
            <a:schemeClr val="tx1"/>
          </a:fontRef>
        </p:style>
      </p:cxnSp>
      <p:sp>
        <p:nvSpPr>
          <p:cNvPr id="17" name="TextBox 16"/>
          <p:cNvSpPr txBox="1"/>
          <p:nvPr/>
        </p:nvSpPr>
        <p:spPr>
          <a:xfrm>
            <a:off x="914399" y="2039112"/>
            <a:ext cx="252603" cy="256032"/>
          </a:xfrm>
          <a:prstGeom prst="rect">
            <a:avLst/>
          </a:prstGeom>
          <a:noFill/>
        </p:spPr>
        <p:txBody>
          <a:bodyPr wrap="none" lIns="0" rIns="0" tIns="0" bIns="0">
            <a:spAutoFit/>
          </a:bodyPr>
          <a:lstStyle/>
          <a:p>
            <a:pPr algn="ctr">
              <a:lnSpc>
                <a:spcPts val="2240"/>
              </a:lnSpc>
              <a:spcAft>
                <a:spcPts val="0"/>
              </a:spcAft>
              <a:defRPr sz="2000" b="0">
                <a:solidFill>
                  <a:srgbClr val="182B3A"/>
                </a:solidFill>
                <a:latin typeface="Arial"/>
              </a:defRPr>
            </a:pPr>
            <a:r>
              <a:t>6</a:t>
            </a:r>
          </a:p>
        </p:txBody>
      </p:sp>
      <p:sp>
        <p:nvSpPr>
          <p:cNvPr id="18" name="TextBox 17"/>
          <p:cNvSpPr txBox="1"/>
          <p:nvPr/>
        </p:nvSpPr>
        <p:spPr>
          <a:xfrm>
            <a:off x="1221867" y="1874519"/>
            <a:ext cx="389381" cy="347472"/>
          </a:xfrm>
          <a:prstGeom prst="rect">
            <a:avLst/>
          </a:prstGeom>
          <a:noFill/>
        </p:spPr>
        <p:txBody>
          <a:bodyPr wrap="none" lIns="0" rIns="0" tIns="0" bIns="0">
            <a:spAutoFit/>
          </a:bodyPr>
          <a:lstStyle/>
          <a:p>
            <a:pPr algn="l">
              <a:lnSpc>
                <a:spcPts val="2800"/>
              </a:lnSpc>
              <a:spcAft>
                <a:spcPts val="0"/>
              </a:spcAft>
              <a:defRPr sz="2500" b="0">
                <a:solidFill>
                  <a:srgbClr val="182B3A"/>
                </a:solidFill>
                <a:latin typeface="Arial"/>
              </a:defRPr>
            </a:pPr>
            <a:r>
              <a:t> + </a:t>
            </a:r>
          </a:p>
        </p:txBody>
      </p:sp>
      <p:sp>
        <p:nvSpPr>
          <p:cNvPr id="19" name="TextBox 18"/>
          <p:cNvSpPr txBox="1"/>
          <p:nvPr/>
        </p:nvSpPr>
        <p:spPr>
          <a:xfrm>
            <a:off x="1611249" y="1755648"/>
            <a:ext cx="252603" cy="256032"/>
          </a:xfrm>
          <a:prstGeom prst="rect">
            <a:avLst/>
          </a:prstGeom>
          <a:noFill/>
        </p:spPr>
        <p:txBody>
          <a:bodyPr wrap="none" lIns="0" rIns="0" tIns="0" bIns="0">
            <a:spAutoFit/>
          </a:bodyPr>
          <a:lstStyle/>
          <a:p>
            <a:pPr algn="ctr">
              <a:lnSpc>
                <a:spcPts val="2240"/>
              </a:lnSpc>
              <a:spcAft>
                <a:spcPts val="0"/>
              </a:spcAft>
              <a:defRPr sz="2000" b="0">
                <a:solidFill>
                  <a:srgbClr val="182B3A"/>
                </a:solidFill>
                <a:latin typeface="Arial"/>
              </a:defRPr>
            </a:pPr>
            <a:r>
              <a:t>1</a:t>
            </a:r>
          </a:p>
        </p:txBody>
      </p:sp>
      <p:cxnSp>
        <p:nvCxnSpPr>
          <p:cNvPr id="20" name="Connector 19"/>
          <p:cNvCxnSpPr/>
          <p:nvPr/>
        </p:nvCxnSpPr>
        <p:spPr>
          <a:xfrm>
            <a:off x="1611249" y="2020824"/>
            <a:ext cx="252602" cy="0"/>
          </a:xfrm>
          <a:prstGeom prst="line">
            <a:avLst/>
          </a:prstGeom>
          <a:ln w="12700">
            <a:solidFill>
              <a:srgbClr val="182B3A"/>
            </a:solidFill>
          </a:ln>
          <a:effectLst/>
        </p:spPr>
        <p:style>
          <a:lnRef idx="2">
            <a:schemeClr val="accent1"/>
          </a:lnRef>
          <a:fillRef idx="0">
            <a:schemeClr val="accent1"/>
          </a:fillRef>
          <a:effectRef idx="1">
            <a:schemeClr val="accent1"/>
          </a:effectRef>
          <a:fontRef idx="minor">
            <a:schemeClr val="tx1"/>
          </a:fontRef>
        </p:style>
      </p:cxnSp>
      <p:sp>
        <p:nvSpPr>
          <p:cNvPr id="21" name="TextBox 20"/>
          <p:cNvSpPr txBox="1"/>
          <p:nvPr/>
        </p:nvSpPr>
        <p:spPr>
          <a:xfrm>
            <a:off x="1611249" y="2039112"/>
            <a:ext cx="252603" cy="256032"/>
          </a:xfrm>
          <a:prstGeom prst="rect">
            <a:avLst/>
          </a:prstGeom>
          <a:noFill/>
        </p:spPr>
        <p:txBody>
          <a:bodyPr wrap="none" lIns="0" rIns="0" tIns="0" bIns="0">
            <a:spAutoFit/>
          </a:bodyPr>
          <a:lstStyle/>
          <a:p>
            <a:pPr algn="ctr">
              <a:lnSpc>
                <a:spcPts val="2240"/>
              </a:lnSpc>
              <a:spcAft>
                <a:spcPts val="0"/>
              </a:spcAft>
              <a:defRPr sz="2000" b="0">
                <a:solidFill>
                  <a:srgbClr val="182B3A"/>
                </a:solidFill>
                <a:latin typeface="Arial"/>
              </a:defRPr>
            </a:pPr>
            <a:r>
              <a:t>6</a:t>
            </a:r>
          </a:p>
        </p:txBody>
      </p:sp>
      <p:sp>
        <p:nvSpPr>
          <p:cNvPr id="22" name="Rectangle 21"/>
          <p:cNvSpPr/>
          <p:nvPr/>
        </p:nvSpPr>
        <p:spPr>
          <a:xfrm>
            <a:off x="320040" y="2587752"/>
            <a:ext cx="4640580" cy="1005840"/>
          </a:xfrm>
          <a:prstGeom prst="rect">
            <a:avLst/>
          </a:prstGeom>
          <a:solidFill>
            <a:srgbClr val="EDF6F5"/>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411479" y="2843784"/>
            <a:ext cx="320040" cy="365760"/>
          </a:xfrm>
          <a:prstGeom prst="rect">
            <a:avLst/>
          </a:prstGeom>
          <a:noFill/>
        </p:spPr>
        <p:txBody>
          <a:bodyPr wrap="square" lIns="54864" rIns="54864" tIns="22860" bIns="22860">
            <a:spAutoFit/>
          </a:bodyPr>
          <a:lstStyle/>
          <a:p>
            <a:pPr>
              <a:lnSpc>
                <a:spcPts val="2205"/>
              </a:lnSpc>
              <a:spcBef>
                <a:spcPts val="0"/>
              </a:spcBef>
              <a:spcAft>
                <a:spcPts val="0"/>
              </a:spcAft>
              <a:defRPr sz="2100" b="1">
                <a:solidFill>
                  <a:srgbClr val="182B3A"/>
                </a:solidFill>
                <a:latin typeface="Arial"/>
              </a:defRPr>
            </a:pPr>
            <a:r>
              <a:t>2.</a:t>
            </a:r>
          </a:p>
        </p:txBody>
      </p:sp>
      <p:sp>
        <p:nvSpPr>
          <p:cNvPr id="24" name="TextBox 23"/>
          <p:cNvSpPr txBox="1"/>
          <p:nvPr/>
        </p:nvSpPr>
        <p:spPr>
          <a:xfrm>
            <a:off x="914399" y="2761488"/>
            <a:ext cx="252603" cy="256032"/>
          </a:xfrm>
          <a:prstGeom prst="rect">
            <a:avLst/>
          </a:prstGeom>
          <a:noFill/>
        </p:spPr>
        <p:txBody>
          <a:bodyPr wrap="none" lIns="0" rIns="0" tIns="0" bIns="0">
            <a:spAutoFit/>
          </a:bodyPr>
          <a:lstStyle/>
          <a:p>
            <a:pPr algn="ctr">
              <a:lnSpc>
                <a:spcPts val="2240"/>
              </a:lnSpc>
              <a:spcAft>
                <a:spcPts val="0"/>
              </a:spcAft>
              <a:defRPr sz="2000" b="0">
                <a:solidFill>
                  <a:srgbClr val="182B3A"/>
                </a:solidFill>
                <a:latin typeface="Arial"/>
              </a:defRPr>
            </a:pPr>
            <a:r>
              <a:t>4</a:t>
            </a:r>
          </a:p>
        </p:txBody>
      </p:sp>
      <p:cxnSp>
        <p:nvCxnSpPr>
          <p:cNvPr id="25" name="Connector 24"/>
          <p:cNvCxnSpPr/>
          <p:nvPr/>
        </p:nvCxnSpPr>
        <p:spPr>
          <a:xfrm>
            <a:off x="914399" y="3026664"/>
            <a:ext cx="252604" cy="0"/>
          </a:xfrm>
          <a:prstGeom prst="line">
            <a:avLst/>
          </a:prstGeom>
          <a:ln w="12700">
            <a:solidFill>
              <a:srgbClr val="182B3A"/>
            </a:solidFill>
          </a:ln>
          <a:effectLst/>
        </p:spPr>
        <p:style>
          <a:lnRef idx="2">
            <a:schemeClr val="accent1"/>
          </a:lnRef>
          <a:fillRef idx="0">
            <a:schemeClr val="accent1"/>
          </a:fillRef>
          <a:effectRef idx="1">
            <a:schemeClr val="accent1"/>
          </a:effectRef>
          <a:fontRef idx="minor">
            <a:schemeClr val="tx1"/>
          </a:fontRef>
        </p:style>
      </p:cxnSp>
      <p:sp>
        <p:nvSpPr>
          <p:cNvPr id="26" name="TextBox 25"/>
          <p:cNvSpPr txBox="1"/>
          <p:nvPr/>
        </p:nvSpPr>
        <p:spPr>
          <a:xfrm>
            <a:off x="914399" y="3044952"/>
            <a:ext cx="252603" cy="256032"/>
          </a:xfrm>
          <a:prstGeom prst="rect">
            <a:avLst/>
          </a:prstGeom>
          <a:noFill/>
        </p:spPr>
        <p:txBody>
          <a:bodyPr wrap="none" lIns="0" rIns="0" tIns="0" bIns="0">
            <a:spAutoFit/>
          </a:bodyPr>
          <a:lstStyle/>
          <a:p>
            <a:pPr algn="ctr">
              <a:lnSpc>
                <a:spcPts val="2240"/>
              </a:lnSpc>
              <a:spcAft>
                <a:spcPts val="0"/>
              </a:spcAft>
              <a:defRPr sz="2000" b="0">
                <a:solidFill>
                  <a:srgbClr val="182B3A"/>
                </a:solidFill>
                <a:latin typeface="Arial"/>
              </a:defRPr>
            </a:pPr>
            <a:r>
              <a:t>5</a:t>
            </a:r>
          </a:p>
        </p:txBody>
      </p:sp>
      <p:sp>
        <p:nvSpPr>
          <p:cNvPr id="27" name="TextBox 26"/>
          <p:cNvSpPr txBox="1"/>
          <p:nvPr/>
        </p:nvSpPr>
        <p:spPr>
          <a:xfrm>
            <a:off x="1221867" y="2880360"/>
            <a:ext cx="389381" cy="347472"/>
          </a:xfrm>
          <a:prstGeom prst="rect">
            <a:avLst/>
          </a:prstGeom>
          <a:noFill/>
        </p:spPr>
        <p:txBody>
          <a:bodyPr wrap="none" lIns="0" rIns="0" tIns="0" bIns="0">
            <a:spAutoFit/>
          </a:bodyPr>
          <a:lstStyle/>
          <a:p>
            <a:pPr algn="l">
              <a:lnSpc>
                <a:spcPts val="2800"/>
              </a:lnSpc>
              <a:spcAft>
                <a:spcPts val="0"/>
              </a:spcAft>
              <a:defRPr sz="2500" b="0">
                <a:solidFill>
                  <a:srgbClr val="182B3A"/>
                </a:solidFill>
                <a:latin typeface="Arial"/>
              </a:defRPr>
            </a:pPr>
            <a:r>
              <a:t> − </a:t>
            </a:r>
          </a:p>
        </p:txBody>
      </p:sp>
      <p:sp>
        <p:nvSpPr>
          <p:cNvPr id="28" name="TextBox 27"/>
          <p:cNvSpPr txBox="1"/>
          <p:nvPr/>
        </p:nvSpPr>
        <p:spPr>
          <a:xfrm>
            <a:off x="1611249" y="2761488"/>
            <a:ext cx="252603" cy="256032"/>
          </a:xfrm>
          <a:prstGeom prst="rect">
            <a:avLst/>
          </a:prstGeom>
          <a:noFill/>
        </p:spPr>
        <p:txBody>
          <a:bodyPr wrap="none" lIns="0" rIns="0" tIns="0" bIns="0">
            <a:spAutoFit/>
          </a:bodyPr>
          <a:lstStyle/>
          <a:p>
            <a:pPr algn="ctr">
              <a:lnSpc>
                <a:spcPts val="2240"/>
              </a:lnSpc>
              <a:spcAft>
                <a:spcPts val="0"/>
              </a:spcAft>
              <a:defRPr sz="2000" b="0">
                <a:solidFill>
                  <a:srgbClr val="182B3A"/>
                </a:solidFill>
                <a:latin typeface="Arial"/>
              </a:defRPr>
            </a:pPr>
            <a:r>
              <a:t>3</a:t>
            </a:r>
          </a:p>
        </p:txBody>
      </p:sp>
      <p:cxnSp>
        <p:nvCxnSpPr>
          <p:cNvPr id="29" name="Connector 28"/>
          <p:cNvCxnSpPr/>
          <p:nvPr/>
        </p:nvCxnSpPr>
        <p:spPr>
          <a:xfrm>
            <a:off x="1611249" y="3026664"/>
            <a:ext cx="252602" cy="0"/>
          </a:xfrm>
          <a:prstGeom prst="line">
            <a:avLst/>
          </a:prstGeom>
          <a:ln w="12700">
            <a:solidFill>
              <a:srgbClr val="182B3A"/>
            </a:solidFill>
          </a:ln>
          <a:effectLst/>
        </p:spPr>
        <p:style>
          <a:lnRef idx="2">
            <a:schemeClr val="accent1"/>
          </a:lnRef>
          <a:fillRef idx="0">
            <a:schemeClr val="accent1"/>
          </a:fillRef>
          <a:effectRef idx="1">
            <a:schemeClr val="accent1"/>
          </a:effectRef>
          <a:fontRef idx="minor">
            <a:schemeClr val="tx1"/>
          </a:fontRef>
        </p:style>
      </p:cxnSp>
      <p:sp>
        <p:nvSpPr>
          <p:cNvPr id="30" name="TextBox 29"/>
          <p:cNvSpPr txBox="1"/>
          <p:nvPr/>
        </p:nvSpPr>
        <p:spPr>
          <a:xfrm>
            <a:off x="1611249" y="3044952"/>
            <a:ext cx="252603" cy="256032"/>
          </a:xfrm>
          <a:prstGeom prst="rect">
            <a:avLst/>
          </a:prstGeom>
          <a:noFill/>
        </p:spPr>
        <p:txBody>
          <a:bodyPr wrap="none" lIns="0" rIns="0" tIns="0" bIns="0">
            <a:spAutoFit/>
          </a:bodyPr>
          <a:lstStyle/>
          <a:p>
            <a:pPr algn="ctr">
              <a:lnSpc>
                <a:spcPts val="2240"/>
              </a:lnSpc>
              <a:spcAft>
                <a:spcPts val="0"/>
              </a:spcAft>
              <a:defRPr sz="2000" b="0">
                <a:solidFill>
                  <a:srgbClr val="182B3A"/>
                </a:solidFill>
                <a:latin typeface="Arial"/>
              </a:defRPr>
            </a:pPr>
            <a:r>
              <a:t>5</a:t>
            </a:r>
          </a:p>
        </p:txBody>
      </p:sp>
      <p:sp>
        <p:nvSpPr>
          <p:cNvPr id="31" name="Rectangle 30"/>
          <p:cNvSpPr/>
          <p:nvPr/>
        </p:nvSpPr>
        <p:spPr>
          <a:xfrm>
            <a:off x="320040" y="3593592"/>
            <a:ext cx="4640580" cy="1005840"/>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411479" y="3849624"/>
            <a:ext cx="320040" cy="365760"/>
          </a:xfrm>
          <a:prstGeom prst="rect">
            <a:avLst/>
          </a:prstGeom>
          <a:noFill/>
        </p:spPr>
        <p:txBody>
          <a:bodyPr wrap="square" lIns="54864" rIns="54864" tIns="22860" bIns="22860">
            <a:spAutoFit/>
          </a:bodyPr>
          <a:lstStyle/>
          <a:p>
            <a:pPr>
              <a:lnSpc>
                <a:spcPts val="2205"/>
              </a:lnSpc>
              <a:spcBef>
                <a:spcPts val="0"/>
              </a:spcBef>
              <a:spcAft>
                <a:spcPts val="0"/>
              </a:spcAft>
              <a:defRPr sz="2100" b="1">
                <a:solidFill>
                  <a:srgbClr val="182B3A"/>
                </a:solidFill>
                <a:latin typeface="Arial"/>
              </a:defRPr>
            </a:pPr>
            <a:r>
              <a:t>3.</a:t>
            </a:r>
          </a:p>
        </p:txBody>
      </p:sp>
      <p:sp>
        <p:nvSpPr>
          <p:cNvPr id="33" name="TextBox 32"/>
          <p:cNvSpPr txBox="1"/>
          <p:nvPr/>
        </p:nvSpPr>
        <p:spPr>
          <a:xfrm>
            <a:off x="914399" y="3767328"/>
            <a:ext cx="252603" cy="256032"/>
          </a:xfrm>
          <a:prstGeom prst="rect">
            <a:avLst/>
          </a:prstGeom>
          <a:noFill/>
        </p:spPr>
        <p:txBody>
          <a:bodyPr wrap="none" lIns="0" rIns="0" tIns="0" bIns="0">
            <a:spAutoFit/>
          </a:bodyPr>
          <a:lstStyle/>
          <a:p>
            <a:pPr algn="ctr">
              <a:lnSpc>
                <a:spcPts val="2240"/>
              </a:lnSpc>
              <a:spcAft>
                <a:spcPts val="0"/>
              </a:spcAft>
              <a:defRPr sz="2000" b="0">
                <a:solidFill>
                  <a:srgbClr val="182B3A"/>
                </a:solidFill>
                <a:latin typeface="Arial"/>
              </a:defRPr>
            </a:pPr>
            <a:r>
              <a:t>8</a:t>
            </a:r>
          </a:p>
        </p:txBody>
      </p:sp>
      <p:cxnSp>
        <p:nvCxnSpPr>
          <p:cNvPr id="34" name="Connector 33"/>
          <p:cNvCxnSpPr/>
          <p:nvPr/>
        </p:nvCxnSpPr>
        <p:spPr>
          <a:xfrm>
            <a:off x="914399" y="4032504"/>
            <a:ext cx="252604" cy="0"/>
          </a:xfrm>
          <a:prstGeom prst="line">
            <a:avLst/>
          </a:prstGeom>
          <a:ln w="12700">
            <a:solidFill>
              <a:srgbClr val="182B3A"/>
            </a:solidFill>
          </a:ln>
          <a:effectLst/>
        </p:spPr>
        <p:style>
          <a:lnRef idx="2">
            <a:schemeClr val="accent1"/>
          </a:lnRef>
          <a:fillRef idx="0">
            <a:schemeClr val="accent1"/>
          </a:fillRef>
          <a:effectRef idx="1">
            <a:schemeClr val="accent1"/>
          </a:effectRef>
          <a:fontRef idx="minor">
            <a:schemeClr val="tx1"/>
          </a:fontRef>
        </p:style>
      </p:cxnSp>
      <p:sp>
        <p:nvSpPr>
          <p:cNvPr id="35" name="TextBox 34"/>
          <p:cNvSpPr txBox="1"/>
          <p:nvPr/>
        </p:nvSpPr>
        <p:spPr>
          <a:xfrm>
            <a:off x="914399" y="4050791"/>
            <a:ext cx="252603" cy="256032"/>
          </a:xfrm>
          <a:prstGeom prst="rect">
            <a:avLst/>
          </a:prstGeom>
          <a:noFill/>
        </p:spPr>
        <p:txBody>
          <a:bodyPr wrap="none" lIns="0" rIns="0" tIns="0" bIns="0">
            <a:spAutoFit/>
          </a:bodyPr>
          <a:lstStyle/>
          <a:p>
            <a:pPr algn="ctr">
              <a:lnSpc>
                <a:spcPts val="2240"/>
              </a:lnSpc>
              <a:spcAft>
                <a:spcPts val="0"/>
              </a:spcAft>
              <a:defRPr sz="2000" b="0">
                <a:solidFill>
                  <a:srgbClr val="182B3A"/>
                </a:solidFill>
                <a:latin typeface="Arial"/>
              </a:defRPr>
            </a:pPr>
            <a:r>
              <a:t>9</a:t>
            </a:r>
          </a:p>
        </p:txBody>
      </p:sp>
      <p:sp>
        <p:nvSpPr>
          <p:cNvPr id="36" name="TextBox 35"/>
          <p:cNvSpPr txBox="1"/>
          <p:nvPr/>
        </p:nvSpPr>
        <p:spPr>
          <a:xfrm>
            <a:off x="1221867" y="3886200"/>
            <a:ext cx="389381" cy="347472"/>
          </a:xfrm>
          <a:prstGeom prst="rect">
            <a:avLst/>
          </a:prstGeom>
          <a:noFill/>
        </p:spPr>
        <p:txBody>
          <a:bodyPr wrap="none" lIns="0" rIns="0" tIns="0" bIns="0">
            <a:spAutoFit/>
          </a:bodyPr>
          <a:lstStyle/>
          <a:p>
            <a:pPr algn="l">
              <a:lnSpc>
                <a:spcPts val="2800"/>
              </a:lnSpc>
              <a:spcAft>
                <a:spcPts val="0"/>
              </a:spcAft>
              <a:defRPr sz="2500" b="0">
                <a:solidFill>
                  <a:srgbClr val="182B3A"/>
                </a:solidFill>
                <a:latin typeface="Arial"/>
              </a:defRPr>
            </a:pPr>
            <a:r>
              <a:t> − </a:t>
            </a:r>
          </a:p>
        </p:txBody>
      </p:sp>
      <p:sp>
        <p:nvSpPr>
          <p:cNvPr id="37" name="TextBox 36"/>
          <p:cNvSpPr txBox="1"/>
          <p:nvPr/>
        </p:nvSpPr>
        <p:spPr>
          <a:xfrm>
            <a:off x="1611249" y="3767328"/>
            <a:ext cx="252603" cy="256032"/>
          </a:xfrm>
          <a:prstGeom prst="rect">
            <a:avLst/>
          </a:prstGeom>
          <a:noFill/>
        </p:spPr>
        <p:txBody>
          <a:bodyPr wrap="none" lIns="0" rIns="0" tIns="0" bIns="0">
            <a:spAutoFit/>
          </a:bodyPr>
          <a:lstStyle/>
          <a:p>
            <a:pPr algn="ctr">
              <a:lnSpc>
                <a:spcPts val="2240"/>
              </a:lnSpc>
              <a:spcAft>
                <a:spcPts val="0"/>
              </a:spcAft>
              <a:defRPr sz="2000" b="0">
                <a:solidFill>
                  <a:srgbClr val="182B3A"/>
                </a:solidFill>
                <a:latin typeface="Arial"/>
              </a:defRPr>
            </a:pPr>
            <a:r>
              <a:t>7</a:t>
            </a:r>
          </a:p>
        </p:txBody>
      </p:sp>
      <p:cxnSp>
        <p:nvCxnSpPr>
          <p:cNvPr id="38" name="Connector 37"/>
          <p:cNvCxnSpPr/>
          <p:nvPr/>
        </p:nvCxnSpPr>
        <p:spPr>
          <a:xfrm>
            <a:off x="1611249" y="4032504"/>
            <a:ext cx="252602" cy="0"/>
          </a:xfrm>
          <a:prstGeom prst="line">
            <a:avLst/>
          </a:prstGeom>
          <a:ln w="12700">
            <a:solidFill>
              <a:srgbClr val="182B3A"/>
            </a:solidFill>
          </a:ln>
          <a:effectLst/>
        </p:spPr>
        <p:style>
          <a:lnRef idx="2">
            <a:schemeClr val="accent1"/>
          </a:lnRef>
          <a:fillRef idx="0">
            <a:schemeClr val="accent1"/>
          </a:fillRef>
          <a:effectRef idx="1">
            <a:schemeClr val="accent1"/>
          </a:effectRef>
          <a:fontRef idx="minor">
            <a:schemeClr val="tx1"/>
          </a:fontRef>
        </p:style>
      </p:cxnSp>
      <p:sp>
        <p:nvSpPr>
          <p:cNvPr id="39" name="TextBox 38"/>
          <p:cNvSpPr txBox="1"/>
          <p:nvPr/>
        </p:nvSpPr>
        <p:spPr>
          <a:xfrm>
            <a:off x="1611249" y="4050791"/>
            <a:ext cx="252603" cy="256032"/>
          </a:xfrm>
          <a:prstGeom prst="rect">
            <a:avLst/>
          </a:prstGeom>
          <a:noFill/>
        </p:spPr>
        <p:txBody>
          <a:bodyPr wrap="none" lIns="0" rIns="0" tIns="0" bIns="0">
            <a:spAutoFit/>
          </a:bodyPr>
          <a:lstStyle/>
          <a:p>
            <a:pPr algn="ctr">
              <a:lnSpc>
                <a:spcPts val="2240"/>
              </a:lnSpc>
              <a:spcAft>
                <a:spcPts val="0"/>
              </a:spcAft>
              <a:defRPr sz="2000" b="0">
                <a:solidFill>
                  <a:srgbClr val="182B3A"/>
                </a:solidFill>
                <a:latin typeface="Arial"/>
              </a:defRPr>
            </a:pPr>
            <a:r>
              <a:t>9</a:t>
            </a:r>
          </a:p>
        </p:txBody>
      </p:sp>
      <p:sp>
        <p:nvSpPr>
          <p:cNvPr id="40" name="Rectangle 39"/>
          <p:cNvSpPr/>
          <p:nvPr/>
        </p:nvSpPr>
        <p:spPr>
          <a:xfrm>
            <a:off x="320040" y="4599432"/>
            <a:ext cx="4640580" cy="1005840"/>
          </a:xfrm>
          <a:prstGeom prst="rect">
            <a:avLst/>
          </a:prstGeom>
          <a:solidFill>
            <a:srgbClr val="EDF6F5"/>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411479" y="4855464"/>
            <a:ext cx="320040" cy="365760"/>
          </a:xfrm>
          <a:prstGeom prst="rect">
            <a:avLst/>
          </a:prstGeom>
          <a:noFill/>
        </p:spPr>
        <p:txBody>
          <a:bodyPr wrap="square" lIns="54864" rIns="54864" tIns="22860" bIns="22860">
            <a:spAutoFit/>
          </a:bodyPr>
          <a:lstStyle/>
          <a:p>
            <a:pPr>
              <a:lnSpc>
                <a:spcPts val="2205"/>
              </a:lnSpc>
              <a:spcBef>
                <a:spcPts val="0"/>
              </a:spcBef>
              <a:spcAft>
                <a:spcPts val="0"/>
              </a:spcAft>
              <a:defRPr sz="2100" b="1">
                <a:solidFill>
                  <a:srgbClr val="182B3A"/>
                </a:solidFill>
                <a:latin typeface="Arial"/>
              </a:defRPr>
            </a:pPr>
            <a:r>
              <a:t>4.</a:t>
            </a:r>
          </a:p>
        </p:txBody>
      </p:sp>
      <p:sp>
        <p:nvSpPr>
          <p:cNvPr id="42" name="TextBox 41"/>
          <p:cNvSpPr txBox="1"/>
          <p:nvPr/>
        </p:nvSpPr>
        <p:spPr>
          <a:xfrm>
            <a:off x="914399" y="4773168"/>
            <a:ext cx="395478" cy="256032"/>
          </a:xfrm>
          <a:prstGeom prst="rect">
            <a:avLst/>
          </a:prstGeom>
          <a:noFill/>
        </p:spPr>
        <p:txBody>
          <a:bodyPr wrap="none" lIns="0" rIns="0" tIns="0" bIns="0">
            <a:spAutoFit/>
          </a:bodyPr>
          <a:lstStyle/>
          <a:p>
            <a:pPr algn="ctr">
              <a:lnSpc>
                <a:spcPts val="2240"/>
              </a:lnSpc>
              <a:spcAft>
                <a:spcPts val="0"/>
              </a:spcAft>
              <a:defRPr sz="2000" b="0">
                <a:solidFill>
                  <a:srgbClr val="182B3A"/>
                </a:solidFill>
                <a:latin typeface="Arial"/>
              </a:defRPr>
            </a:pPr>
            <a:r>
              <a:t>10</a:t>
            </a:r>
          </a:p>
        </p:txBody>
      </p:sp>
      <p:cxnSp>
        <p:nvCxnSpPr>
          <p:cNvPr id="43" name="Connector 42"/>
          <p:cNvCxnSpPr/>
          <p:nvPr/>
        </p:nvCxnSpPr>
        <p:spPr>
          <a:xfrm>
            <a:off x="914399" y="5038344"/>
            <a:ext cx="395479" cy="0"/>
          </a:xfrm>
          <a:prstGeom prst="line">
            <a:avLst/>
          </a:prstGeom>
          <a:ln w="12700">
            <a:solidFill>
              <a:srgbClr val="182B3A"/>
            </a:solidFill>
          </a:ln>
          <a:effectLst/>
        </p:spPr>
        <p:style>
          <a:lnRef idx="2">
            <a:schemeClr val="accent1"/>
          </a:lnRef>
          <a:fillRef idx="0">
            <a:schemeClr val="accent1"/>
          </a:fillRef>
          <a:effectRef idx="1">
            <a:schemeClr val="accent1"/>
          </a:effectRef>
          <a:fontRef idx="minor">
            <a:schemeClr val="tx1"/>
          </a:fontRef>
        </p:style>
      </p:cxnSp>
      <p:sp>
        <p:nvSpPr>
          <p:cNvPr id="44" name="TextBox 43"/>
          <p:cNvSpPr txBox="1"/>
          <p:nvPr/>
        </p:nvSpPr>
        <p:spPr>
          <a:xfrm>
            <a:off x="914399" y="5056632"/>
            <a:ext cx="395478" cy="256032"/>
          </a:xfrm>
          <a:prstGeom prst="rect">
            <a:avLst/>
          </a:prstGeom>
          <a:noFill/>
        </p:spPr>
        <p:txBody>
          <a:bodyPr wrap="none" lIns="0" rIns="0" tIns="0" bIns="0">
            <a:spAutoFit/>
          </a:bodyPr>
          <a:lstStyle/>
          <a:p>
            <a:pPr algn="ctr">
              <a:lnSpc>
                <a:spcPts val="2240"/>
              </a:lnSpc>
              <a:spcAft>
                <a:spcPts val="0"/>
              </a:spcAft>
              <a:defRPr sz="2000" b="0">
                <a:solidFill>
                  <a:srgbClr val="182B3A"/>
                </a:solidFill>
                <a:latin typeface="Arial"/>
              </a:defRPr>
            </a:pPr>
            <a:r>
              <a:t>11</a:t>
            </a:r>
          </a:p>
        </p:txBody>
      </p:sp>
      <p:sp>
        <p:nvSpPr>
          <p:cNvPr id="45" name="TextBox 44"/>
          <p:cNvSpPr txBox="1"/>
          <p:nvPr/>
        </p:nvSpPr>
        <p:spPr>
          <a:xfrm>
            <a:off x="1364742" y="4892040"/>
            <a:ext cx="389381" cy="347472"/>
          </a:xfrm>
          <a:prstGeom prst="rect">
            <a:avLst/>
          </a:prstGeom>
          <a:noFill/>
        </p:spPr>
        <p:txBody>
          <a:bodyPr wrap="none" lIns="0" rIns="0" tIns="0" bIns="0">
            <a:spAutoFit/>
          </a:bodyPr>
          <a:lstStyle/>
          <a:p>
            <a:pPr algn="l">
              <a:lnSpc>
                <a:spcPts val="2800"/>
              </a:lnSpc>
              <a:spcAft>
                <a:spcPts val="0"/>
              </a:spcAft>
              <a:defRPr sz="2500" b="0">
                <a:solidFill>
                  <a:srgbClr val="182B3A"/>
                </a:solidFill>
                <a:latin typeface="Arial"/>
              </a:defRPr>
            </a:pPr>
            <a:r>
              <a:t> − </a:t>
            </a:r>
          </a:p>
        </p:txBody>
      </p:sp>
      <p:sp>
        <p:nvSpPr>
          <p:cNvPr id="46" name="TextBox 45"/>
          <p:cNvSpPr txBox="1"/>
          <p:nvPr/>
        </p:nvSpPr>
        <p:spPr>
          <a:xfrm>
            <a:off x="1754124" y="4773168"/>
            <a:ext cx="395180" cy="256032"/>
          </a:xfrm>
          <a:prstGeom prst="rect">
            <a:avLst/>
          </a:prstGeom>
          <a:noFill/>
        </p:spPr>
        <p:txBody>
          <a:bodyPr wrap="none" lIns="0" rIns="0" tIns="0" bIns="0">
            <a:spAutoFit/>
          </a:bodyPr>
          <a:lstStyle/>
          <a:p>
            <a:pPr algn="ctr">
              <a:lnSpc>
                <a:spcPts val="2240"/>
              </a:lnSpc>
              <a:spcAft>
                <a:spcPts val="0"/>
              </a:spcAft>
              <a:defRPr sz="2000" b="0">
                <a:solidFill>
                  <a:srgbClr val="182B3A"/>
                </a:solidFill>
                <a:latin typeface="Arial"/>
              </a:defRPr>
            </a:pPr>
            <a:r>
              <a:t>9</a:t>
            </a:r>
          </a:p>
        </p:txBody>
      </p:sp>
      <p:cxnSp>
        <p:nvCxnSpPr>
          <p:cNvPr id="47" name="Connector 46"/>
          <p:cNvCxnSpPr/>
          <p:nvPr/>
        </p:nvCxnSpPr>
        <p:spPr>
          <a:xfrm>
            <a:off x="1754124" y="5038344"/>
            <a:ext cx="395180" cy="0"/>
          </a:xfrm>
          <a:prstGeom prst="line">
            <a:avLst/>
          </a:prstGeom>
          <a:ln w="12700">
            <a:solidFill>
              <a:srgbClr val="182B3A"/>
            </a:solidFill>
          </a:ln>
          <a:effectLst/>
        </p:spPr>
        <p:style>
          <a:lnRef idx="2">
            <a:schemeClr val="accent1"/>
          </a:lnRef>
          <a:fillRef idx="0">
            <a:schemeClr val="accent1"/>
          </a:fillRef>
          <a:effectRef idx="1">
            <a:schemeClr val="accent1"/>
          </a:effectRef>
          <a:fontRef idx="minor">
            <a:schemeClr val="tx1"/>
          </a:fontRef>
        </p:style>
      </p:cxnSp>
      <p:sp>
        <p:nvSpPr>
          <p:cNvPr id="48" name="TextBox 47"/>
          <p:cNvSpPr txBox="1"/>
          <p:nvPr/>
        </p:nvSpPr>
        <p:spPr>
          <a:xfrm>
            <a:off x="1754124" y="5056632"/>
            <a:ext cx="395180" cy="256032"/>
          </a:xfrm>
          <a:prstGeom prst="rect">
            <a:avLst/>
          </a:prstGeom>
          <a:noFill/>
        </p:spPr>
        <p:txBody>
          <a:bodyPr wrap="none" lIns="0" rIns="0" tIns="0" bIns="0">
            <a:spAutoFit/>
          </a:bodyPr>
          <a:lstStyle/>
          <a:p>
            <a:pPr algn="ctr">
              <a:lnSpc>
                <a:spcPts val="2240"/>
              </a:lnSpc>
              <a:spcAft>
                <a:spcPts val="0"/>
              </a:spcAft>
              <a:defRPr sz="2000" b="0">
                <a:solidFill>
                  <a:srgbClr val="182B3A"/>
                </a:solidFill>
                <a:latin typeface="Arial"/>
              </a:defRPr>
            </a:pPr>
            <a:r>
              <a:t>11</a:t>
            </a:r>
          </a:p>
        </p:txBody>
      </p:sp>
      <p:sp>
        <p:nvSpPr>
          <p:cNvPr id="49" name="Rectangle 48"/>
          <p:cNvSpPr/>
          <p:nvPr/>
        </p:nvSpPr>
        <p:spPr>
          <a:xfrm>
            <a:off x="320040" y="5605272"/>
            <a:ext cx="4640580" cy="1005840"/>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TextBox 49"/>
          <p:cNvSpPr txBox="1"/>
          <p:nvPr/>
        </p:nvSpPr>
        <p:spPr>
          <a:xfrm>
            <a:off x="411479" y="5861304"/>
            <a:ext cx="320040" cy="365760"/>
          </a:xfrm>
          <a:prstGeom prst="rect">
            <a:avLst/>
          </a:prstGeom>
          <a:noFill/>
        </p:spPr>
        <p:txBody>
          <a:bodyPr wrap="square" lIns="54864" rIns="54864" tIns="22860" bIns="22860">
            <a:spAutoFit/>
          </a:bodyPr>
          <a:lstStyle/>
          <a:p>
            <a:pPr>
              <a:lnSpc>
                <a:spcPts val="2205"/>
              </a:lnSpc>
              <a:spcBef>
                <a:spcPts val="0"/>
              </a:spcBef>
              <a:spcAft>
                <a:spcPts val="0"/>
              </a:spcAft>
              <a:defRPr sz="2100" b="1">
                <a:solidFill>
                  <a:srgbClr val="182B3A"/>
                </a:solidFill>
                <a:latin typeface="Arial"/>
              </a:defRPr>
            </a:pPr>
            <a:r>
              <a:t>5.</a:t>
            </a:r>
          </a:p>
        </p:txBody>
      </p:sp>
      <p:sp>
        <p:nvSpPr>
          <p:cNvPr id="51" name="TextBox 50"/>
          <p:cNvSpPr txBox="1"/>
          <p:nvPr/>
        </p:nvSpPr>
        <p:spPr>
          <a:xfrm>
            <a:off x="914399" y="5779008"/>
            <a:ext cx="395180" cy="256032"/>
          </a:xfrm>
          <a:prstGeom prst="rect">
            <a:avLst/>
          </a:prstGeom>
          <a:noFill/>
        </p:spPr>
        <p:txBody>
          <a:bodyPr wrap="none" lIns="0" rIns="0" tIns="0" bIns="0">
            <a:spAutoFit/>
          </a:bodyPr>
          <a:lstStyle/>
          <a:p>
            <a:pPr algn="ctr">
              <a:lnSpc>
                <a:spcPts val="2240"/>
              </a:lnSpc>
              <a:spcAft>
                <a:spcPts val="0"/>
              </a:spcAft>
              <a:defRPr sz="2000" b="0">
                <a:solidFill>
                  <a:srgbClr val="182B3A"/>
                </a:solidFill>
                <a:latin typeface="Arial"/>
              </a:defRPr>
            </a:pPr>
            <a:r>
              <a:t>2</a:t>
            </a:r>
          </a:p>
        </p:txBody>
      </p:sp>
      <p:cxnSp>
        <p:nvCxnSpPr>
          <p:cNvPr id="52" name="Connector 51"/>
          <p:cNvCxnSpPr/>
          <p:nvPr/>
        </p:nvCxnSpPr>
        <p:spPr>
          <a:xfrm>
            <a:off x="914399" y="6044184"/>
            <a:ext cx="395181" cy="0"/>
          </a:xfrm>
          <a:prstGeom prst="line">
            <a:avLst/>
          </a:prstGeom>
          <a:ln w="12700">
            <a:solidFill>
              <a:srgbClr val="182B3A"/>
            </a:solidFill>
          </a:ln>
          <a:effectLst/>
        </p:spPr>
        <p:style>
          <a:lnRef idx="2">
            <a:schemeClr val="accent1"/>
          </a:lnRef>
          <a:fillRef idx="0">
            <a:schemeClr val="accent1"/>
          </a:fillRef>
          <a:effectRef idx="1">
            <a:schemeClr val="accent1"/>
          </a:effectRef>
          <a:fontRef idx="minor">
            <a:schemeClr val="tx1"/>
          </a:fontRef>
        </p:style>
      </p:cxnSp>
      <p:sp>
        <p:nvSpPr>
          <p:cNvPr id="53" name="TextBox 52"/>
          <p:cNvSpPr txBox="1"/>
          <p:nvPr/>
        </p:nvSpPr>
        <p:spPr>
          <a:xfrm>
            <a:off x="914399" y="6062472"/>
            <a:ext cx="395180" cy="256032"/>
          </a:xfrm>
          <a:prstGeom prst="rect">
            <a:avLst/>
          </a:prstGeom>
          <a:noFill/>
        </p:spPr>
        <p:txBody>
          <a:bodyPr wrap="none" lIns="0" rIns="0" tIns="0" bIns="0">
            <a:spAutoFit/>
          </a:bodyPr>
          <a:lstStyle/>
          <a:p>
            <a:pPr algn="ctr">
              <a:lnSpc>
                <a:spcPts val="2240"/>
              </a:lnSpc>
              <a:spcAft>
                <a:spcPts val="0"/>
              </a:spcAft>
              <a:defRPr sz="2000" b="0">
                <a:solidFill>
                  <a:srgbClr val="182B3A"/>
                </a:solidFill>
                <a:latin typeface="Arial"/>
              </a:defRPr>
            </a:pPr>
            <a:r>
              <a:t>11</a:t>
            </a:r>
          </a:p>
        </p:txBody>
      </p:sp>
      <p:sp>
        <p:nvSpPr>
          <p:cNvPr id="54" name="TextBox 53"/>
          <p:cNvSpPr txBox="1"/>
          <p:nvPr/>
        </p:nvSpPr>
        <p:spPr>
          <a:xfrm>
            <a:off x="1364444" y="5897880"/>
            <a:ext cx="389381" cy="347472"/>
          </a:xfrm>
          <a:prstGeom prst="rect">
            <a:avLst/>
          </a:prstGeom>
          <a:noFill/>
        </p:spPr>
        <p:txBody>
          <a:bodyPr wrap="none" lIns="0" rIns="0" tIns="0" bIns="0">
            <a:spAutoFit/>
          </a:bodyPr>
          <a:lstStyle/>
          <a:p>
            <a:pPr algn="l">
              <a:lnSpc>
                <a:spcPts val="2800"/>
              </a:lnSpc>
              <a:spcAft>
                <a:spcPts val="0"/>
              </a:spcAft>
              <a:defRPr sz="2500" b="0">
                <a:solidFill>
                  <a:srgbClr val="182B3A"/>
                </a:solidFill>
                <a:latin typeface="Arial"/>
              </a:defRPr>
            </a:pPr>
            <a:r>
              <a:t> + </a:t>
            </a:r>
          </a:p>
        </p:txBody>
      </p:sp>
      <p:sp>
        <p:nvSpPr>
          <p:cNvPr id="55" name="TextBox 54"/>
          <p:cNvSpPr txBox="1"/>
          <p:nvPr/>
        </p:nvSpPr>
        <p:spPr>
          <a:xfrm>
            <a:off x="1753826" y="5779008"/>
            <a:ext cx="395180" cy="256032"/>
          </a:xfrm>
          <a:prstGeom prst="rect">
            <a:avLst/>
          </a:prstGeom>
          <a:noFill/>
        </p:spPr>
        <p:txBody>
          <a:bodyPr wrap="none" lIns="0" rIns="0" tIns="0" bIns="0">
            <a:spAutoFit/>
          </a:bodyPr>
          <a:lstStyle/>
          <a:p>
            <a:pPr algn="ctr">
              <a:lnSpc>
                <a:spcPts val="2240"/>
              </a:lnSpc>
              <a:spcAft>
                <a:spcPts val="0"/>
              </a:spcAft>
              <a:defRPr sz="2000" b="0">
                <a:solidFill>
                  <a:srgbClr val="182B3A"/>
                </a:solidFill>
                <a:latin typeface="Arial"/>
              </a:defRPr>
            </a:pPr>
            <a:r>
              <a:t>5</a:t>
            </a:r>
          </a:p>
        </p:txBody>
      </p:sp>
      <p:cxnSp>
        <p:nvCxnSpPr>
          <p:cNvPr id="56" name="Connector 55"/>
          <p:cNvCxnSpPr/>
          <p:nvPr/>
        </p:nvCxnSpPr>
        <p:spPr>
          <a:xfrm>
            <a:off x="1753826" y="6044184"/>
            <a:ext cx="395180" cy="0"/>
          </a:xfrm>
          <a:prstGeom prst="line">
            <a:avLst/>
          </a:prstGeom>
          <a:ln w="12700">
            <a:solidFill>
              <a:srgbClr val="182B3A"/>
            </a:solidFill>
          </a:ln>
          <a:effectLst/>
        </p:spPr>
        <p:style>
          <a:lnRef idx="2">
            <a:schemeClr val="accent1"/>
          </a:lnRef>
          <a:fillRef idx="0">
            <a:schemeClr val="accent1"/>
          </a:fillRef>
          <a:effectRef idx="1">
            <a:schemeClr val="accent1"/>
          </a:effectRef>
          <a:fontRef idx="minor">
            <a:schemeClr val="tx1"/>
          </a:fontRef>
        </p:style>
      </p:cxnSp>
      <p:sp>
        <p:nvSpPr>
          <p:cNvPr id="57" name="TextBox 56"/>
          <p:cNvSpPr txBox="1"/>
          <p:nvPr/>
        </p:nvSpPr>
        <p:spPr>
          <a:xfrm>
            <a:off x="1753826" y="6062472"/>
            <a:ext cx="395180" cy="256032"/>
          </a:xfrm>
          <a:prstGeom prst="rect">
            <a:avLst/>
          </a:prstGeom>
          <a:noFill/>
        </p:spPr>
        <p:txBody>
          <a:bodyPr wrap="none" lIns="0" rIns="0" tIns="0" bIns="0">
            <a:spAutoFit/>
          </a:bodyPr>
          <a:lstStyle/>
          <a:p>
            <a:pPr algn="ctr">
              <a:lnSpc>
                <a:spcPts val="2240"/>
              </a:lnSpc>
              <a:spcAft>
                <a:spcPts val="0"/>
              </a:spcAft>
              <a:defRPr sz="2000" b="0">
                <a:solidFill>
                  <a:srgbClr val="182B3A"/>
                </a:solidFill>
                <a:latin typeface="Arial"/>
              </a:defRPr>
            </a:pPr>
            <a:r>
              <a:t>11</a:t>
            </a:r>
          </a:p>
        </p:txBody>
      </p:sp>
      <p:sp>
        <p:nvSpPr>
          <p:cNvPr id="58" name="Rectangle 57"/>
          <p:cNvSpPr/>
          <p:nvPr/>
        </p:nvSpPr>
        <p:spPr>
          <a:xfrm>
            <a:off x="320040" y="6611112"/>
            <a:ext cx="4640580" cy="1005840"/>
          </a:xfrm>
          <a:prstGeom prst="rect">
            <a:avLst/>
          </a:prstGeom>
          <a:solidFill>
            <a:srgbClr val="EDF6F5"/>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 name="TextBox 58"/>
          <p:cNvSpPr txBox="1"/>
          <p:nvPr/>
        </p:nvSpPr>
        <p:spPr>
          <a:xfrm>
            <a:off x="411479" y="6867144"/>
            <a:ext cx="320040" cy="365760"/>
          </a:xfrm>
          <a:prstGeom prst="rect">
            <a:avLst/>
          </a:prstGeom>
          <a:noFill/>
        </p:spPr>
        <p:txBody>
          <a:bodyPr wrap="square" lIns="54864" rIns="54864" tIns="22860" bIns="22860">
            <a:spAutoFit/>
          </a:bodyPr>
          <a:lstStyle/>
          <a:p>
            <a:pPr>
              <a:lnSpc>
                <a:spcPts val="2205"/>
              </a:lnSpc>
              <a:spcBef>
                <a:spcPts val="0"/>
              </a:spcBef>
              <a:spcAft>
                <a:spcPts val="0"/>
              </a:spcAft>
              <a:defRPr sz="2100" b="1">
                <a:solidFill>
                  <a:srgbClr val="182B3A"/>
                </a:solidFill>
                <a:latin typeface="Arial"/>
              </a:defRPr>
            </a:pPr>
            <a:r>
              <a:t>6.</a:t>
            </a:r>
          </a:p>
        </p:txBody>
      </p:sp>
      <p:sp>
        <p:nvSpPr>
          <p:cNvPr id="60" name="TextBox 59"/>
          <p:cNvSpPr txBox="1"/>
          <p:nvPr/>
        </p:nvSpPr>
        <p:spPr>
          <a:xfrm>
            <a:off x="914399" y="6784848"/>
            <a:ext cx="252603" cy="256032"/>
          </a:xfrm>
          <a:prstGeom prst="rect">
            <a:avLst/>
          </a:prstGeom>
          <a:noFill/>
        </p:spPr>
        <p:txBody>
          <a:bodyPr wrap="none" lIns="0" rIns="0" tIns="0" bIns="0">
            <a:spAutoFit/>
          </a:bodyPr>
          <a:lstStyle/>
          <a:p>
            <a:pPr algn="ctr">
              <a:lnSpc>
                <a:spcPts val="2240"/>
              </a:lnSpc>
              <a:spcAft>
                <a:spcPts val="0"/>
              </a:spcAft>
              <a:defRPr sz="2000" b="0">
                <a:solidFill>
                  <a:srgbClr val="182B3A"/>
                </a:solidFill>
                <a:latin typeface="Arial"/>
              </a:defRPr>
            </a:pPr>
            <a:r>
              <a:t>5</a:t>
            </a:r>
          </a:p>
        </p:txBody>
      </p:sp>
      <p:cxnSp>
        <p:nvCxnSpPr>
          <p:cNvPr id="61" name="Connector 60"/>
          <p:cNvCxnSpPr/>
          <p:nvPr/>
        </p:nvCxnSpPr>
        <p:spPr>
          <a:xfrm>
            <a:off x="914399" y="7050024"/>
            <a:ext cx="252604" cy="0"/>
          </a:xfrm>
          <a:prstGeom prst="line">
            <a:avLst/>
          </a:prstGeom>
          <a:ln w="12700">
            <a:solidFill>
              <a:srgbClr val="182B3A"/>
            </a:solidFill>
          </a:ln>
          <a:effectLst/>
        </p:spPr>
        <p:style>
          <a:lnRef idx="2">
            <a:schemeClr val="accent1"/>
          </a:lnRef>
          <a:fillRef idx="0">
            <a:schemeClr val="accent1"/>
          </a:fillRef>
          <a:effectRef idx="1">
            <a:schemeClr val="accent1"/>
          </a:effectRef>
          <a:fontRef idx="minor">
            <a:schemeClr val="tx1"/>
          </a:fontRef>
        </p:style>
      </p:cxnSp>
      <p:sp>
        <p:nvSpPr>
          <p:cNvPr id="62" name="TextBox 61"/>
          <p:cNvSpPr txBox="1"/>
          <p:nvPr/>
        </p:nvSpPr>
        <p:spPr>
          <a:xfrm>
            <a:off x="914399" y="7068312"/>
            <a:ext cx="252603" cy="256032"/>
          </a:xfrm>
          <a:prstGeom prst="rect">
            <a:avLst/>
          </a:prstGeom>
          <a:noFill/>
        </p:spPr>
        <p:txBody>
          <a:bodyPr wrap="none" lIns="0" rIns="0" tIns="0" bIns="0">
            <a:spAutoFit/>
          </a:bodyPr>
          <a:lstStyle/>
          <a:p>
            <a:pPr algn="ctr">
              <a:lnSpc>
                <a:spcPts val="2240"/>
              </a:lnSpc>
              <a:spcAft>
                <a:spcPts val="0"/>
              </a:spcAft>
              <a:defRPr sz="2000" b="0">
                <a:solidFill>
                  <a:srgbClr val="182B3A"/>
                </a:solidFill>
                <a:latin typeface="Arial"/>
              </a:defRPr>
            </a:pPr>
            <a:r>
              <a:t>8</a:t>
            </a:r>
          </a:p>
        </p:txBody>
      </p:sp>
      <p:sp>
        <p:nvSpPr>
          <p:cNvPr id="63" name="TextBox 62"/>
          <p:cNvSpPr txBox="1"/>
          <p:nvPr/>
        </p:nvSpPr>
        <p:spPr>
          <a:xfrm>
            <a:off x="1221867" y="6903720"/>
            <a:ext cx="389381" cy="347472"/>
          </a:xfrm>
          <a:prstGeom prst="rect">
            <a:avLst/>
          </a:prstGeom>
          <a:noFill/>
        </p:spPr>
        <p:txBody>
          <a:bodyPr wrap="none" lIns="0" rIns="0" tIns="0" bIns="0">
            <a:spAutoFit/>
          </a:bodyPr>
          <a:lstStyle/>
          <a:p>
            <a:pPr algn="l">
              <a:lnSpc>
                <a:spcPts val="2800"/>
              </a:lnSpc>
              <a:spcAft>
                <a:spcPts val="0"/>
              </a:spcAft>
              <a:defRPr sz="2500" b="0">
                <a:solidFill>
                  <a:srgbClr val="182B3A"/>
                </a:solidFill>
                <a:latin typeface="Arial"/>
              </a:defRPr>
            </a:pPr>
            <a:r>
              <a:t> + </a:t>
            </a:r>
          </a:p>
        </p:txBody>
      </p:sp>
      <p:sp>
        <p:nvSpPr>
          <p:cNvPr id="64" name="TextBox 63"/>
          <p:cNvSpPr txBox="1"/>
          <p:nvPr/>
        </p:nvSpPr>
        <p:spPr>
          <a:xfrm>
            <a:off x="1611249" y="6784848"/>
            <a:ext cx="252603" cy="256032"/>
          </a:xfrm>
          <a:prstGeom prst="rect">
            <a:avLst/>
          </a:prstGeom>
          <a:noFill/>
        </p:spPr>
        <p:txBody>
          <a:bodyPr wrap="none" lIns="0" rIns="0" tIns="0" bIns="0">
            <a:spAutoFit/>
          </a:bodyPr>
          <a:lstStyle/>
          <a:p>
            <a:pPr algn="ctr">
              <a:lnSpc>
                <a:spcPts val="2240"/>
              </a:lnSpc>
              <a:spcAft>
                <a:spcPts val="0"/>
              </a:spcAft>
              <a:defRPr sz="2000" b="0">
                <a:solidFill>
                  <a:srgbClr val="182B3A"/>
                </a:solidFill>
                <a:latin typeface="Arial"/>
              </a:defRPr>
            </a:pPr>
            <a:r>
              <a:t>3</a:t>
            </a:r>
          </a:p>
        </p:txBody>
      </p:sp>
      <p:cxnSp>
        <p:nvCxnSpPr>
          <p:cNvPr id="65" name="Connector 64"/>
          <p:cNvCxnSpPr/>
          <p:nvPr/>
        </p:nvCxnSpPr>
        <p:spPr>
          <a:xfrm>
            <a:off x="1611249" y="7050024"/>
            <a:ext cx="252602" cy="0"/>
          </a:xfrm>
          <a:prstGeom prst="line">
            <a:avLst/>
          </a:prstGeom>
          <a:ln w="12700">
            <a:solidFill>
              <a:srgbClr val="182B3A"/>
            </a:solidFill>
          </a:ln>
          <a:effectLst/>
        </p:spPr>
        <p:style>
          <a:lnRef idx="2">
            <a:schemeClr val="accent1"/>
          </a:lnRef>
          <a:fillRef idx="0">
            <a:schemeClr val="accent1"/>
          </a:fillRef>
          <a:effectRef idx="1">
            <a:schemeClr val="accent1"/>
          </a:effectRef>
          <a:fontRef idx="minor">
            <a:schemeClr val="tx1"/>
          </a:fontRef>
        </p:style>
      </p:cxnSp>
      <p:sp>
        <p:nvSpPr>
          <p:cNvPr id="66" name="TextBox 65"/>
          <p:cNvSpPr txBox="1"/>
          <p:nvPr/>
        </p:nvSpPr>
        <p:spPr>
          <a:xfrm>
            <a:off x="1611249" y="7068312"/>
            <a:ext cx="252603" cy="256032"/>
          </a:xfrm>
          <a:prstGeom prst="rect">
            <a:avLst/>
          </a:prstGeom>
          <a:noFill/>
        </p:spPr>
        <p:txBody>
          <a:bodyPr wrap="none" lIns="0" rIns="0" tIns="0" bIns="0">
            <a:spAutoFit/>
          </a:bodyPr>
          <a:lstStyle/>
          <a:p>
            <a:pPr algn="ctr">
              <a:lnSpc>
                <a:spcPts val="2240"/>
              </a:lnSpc>
              <a:spcAft>
                <a:spcPts val="0"/>
              </a:spcAft>
              <a:defRPr sz="2000" b="0">
                <a:solidFill>
                  <a:srgbClr val="182B3A"/>
                </a:solidFill>
                <a:latin typeface="Arial"/>
              </a:defRPr>
            </a:pPr>
            <a:r>
              <a:t>8</a:t>
            </a:r>
          </a:p>
        </p:txBody>
      </p:sp>
      <p:sp>
        <p:nvSpPr>
          <p:cNvPr id="67" name="Rectangle 66"/>
          <p:cNvSpPr/>
          <p:nvPr/>
        </p:nvSpPr>
        <p:spPr>
          <a:xfrm>
            <a:off x="4983480" y="1581912"/>
            <a:ext cx="4640580" cy="1005840"/>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8" name="TextBox 67"/>
          <p:cNvSpPr txBox="1"/>
          <p:nvPr/>
        </p:nvSpPr>
        <p:spPr>
          <a:xfrm>
            <a:off x="5074920" y="1837943"/>
            <a:ext cx="320040" cy="365760"/>
          </a:xfrm>
          <a:prstGeom prst="rect">
            <a:avLst/>
          </a:prstGeom>
          <a:noFill/>
        </p:spPr>
        <p:txBody>
          <a:bodyPr wrap="square" lIns="54864" rIns="54864" tIns="22860" bIns="22860">
            <a:spAutoFit/>
          </a:bodyPr>
          <a:lstStyle/>
          <a:p>
            <a:pPr>
              <a:lnSpc>
                <a:spcPts val="2205"/>
              </a:lnSpc>
              <a:spcBef>
                <a:spcPts val="0"/>
              </a:spcBef>
              <a:spcAft>
                <a:spcPts val="0"/>
              </a:spcAft>
              <a:defRPr sz="2100" b="1">
                <a:solidFill>
                  <a:srgbClr val="182B3A"/>
                </a:solidFill>
                <a:latin typeface="Arial"/>
              </a:defRPr>
            </a:pPr>
            <a:r>
              <a:t>1.</a:t>
            </a:r>
          </a:p>
        </p:txBody>
      </p:sp>
      <p:sp>
        <p:nvSpPr>
          <p:cNvPr id="69" name="TextBox 68"/>
          <p:cNvSpPr txBox="1"/>
          <p:nvPr/>
        </p:nvSpPr>
        <p:spPr>
          <a:xfrm>
            <a:off x="5577840" y="1755648"/>
            <a:ext cx="252603" cy="256032"/>
          </a:xfrm>
          <a:prstGeom prst="rect">
            <a:avLst/>
          </a:prstGeom>
          <a:noFill/>
        </p:spPr>
        <p:txBody>
          <a:bodyPr wrap="none" lIns="0" rIns="0" tIns="0" bIns="0">
            <a:spAutoFit/>
          </a:bodyPr>
          <a:lstStyle/>
          <a:p>
            <a:pPr algn="ctr">
              <a:lnSpc>
                <a:spcPts val="2240"/>
              </a:lnSpc>
              <a:spcAft>
                <a:spcPts val="0"/>
              </a:spcAft>
              <a:defRPr sz="2000" b="0">
                <a:solidFill>
                  <a:srgbClr val="182B3A"/>
                </a:solidFill>
                <a:latin typeface="Arial"/>
              </a:defRPr>
            </a:pPr>
            <a:r>
              <a:t>3</a:t>
            </a:r>
          </a:p>
        </p:txBody>
      </p:sp>
      <p:cxnSp>
        <p:nvCxnSpPr>
          <p:cNvPr id="70" name="Connector 69"/>
          <p:cNvCxnSpPr/>
          <p:nvPr/>
        </p:nvCxnSpPr>
        <p:spPr>
          <a:xfrm>
            <a:off x="5577840" y="2020824"/>
            <a:ext cx="252603" cy="0"/>
          </a:xfrm>
          <a:prstGeom prst="line">
            <a:avLst/>
          </a:prstGeom>
          <a:ln w="12700">
            <a:solidFill>
              <a:srgbClr val="182B3A"/>
            </a:solidFill>
          </a:ln>
          <a:effectLst/>
        </p:spPr>
        <p:style>
          <a:lnRef idx="2">
            <a:schemeClr val="accent1"/>
          </a:lnRef>
          <a:fillRef idx="0">
            <a:schemeClr val="accent1"/>
          </a:fillRef>
          <a:effectRef idx="1">
            <a:schemeClr val="accent1"/>
          </a:effectRef>
          <a:fontRef idx="minor">
            <a:schemeClr val="tx1"/>
          </a:fontRef>
        </p:style>
      </p:cxnSp>
      <p:sp>
        <p:nvSpPr>
          <p:cNvPr id="71" name="TextBox 70"/>
          <p:cNvSpPr txBox="1"/>
          <p:nvPr/>
        </p:nvSpPr>
        <p:spPr>
          <a:xfrm>
            <a:off x="5577840" y="2039112"/>
            <a:ext cx="252603" cy="256032"/>
          </a:xfrm>
          <a:prstGeom prst="rect">
            <a:avLst/>
          </a:prstGeom>
          <a:noFill/>
        </p:spPr>
        <p:txBody>
          <a:bodyPr wrap="none" lIns="0" rIns="0" tIns="0" bIns="0">
            <a:spAutoFit/>
          </a:bodyPr>
          <a:lstStyle/>
          <a:p>
            <a:pPr algn="ctr">
              <a:lnSpc>
                <a:spcPts val="2240"/>
              </a:lnSpc>
              <a:spcAft>
                <a:spcPts val="0"/>
              </a:spcAft>
              <a:defRPr sz="2000" b="0">
                <a:solidFill>
                  <a:srgbClr val="182B3A"/>
                </a:solidFill>
                <a:latin typeface="Arial"/>
              </a:defRPr>
            </a:pPr>
            <a:r>
              <a:t>4</a:t>
            </a:r>
          </a:p>
        </p:txBody>
      </p:sp>
      <p:sp>
        <p:nvSpPr>
          <p:cNvPr id="72" name="TextBox 71"/>
          <p:cNvSpPr txBox="1"/>
          <p:nvPr/>
        </p:nvSpPr>
        <p:spPr>
          <a:xfrm>
            <a:off x="5885307" y="1874519"/>
            <a:ext cx="389381" cy="347472"/>
          </a:xfrm>
          <a:prstGeom prst="rect">
            <a:avLst/>
          </a:prstGeom>
          <a:noFill/>
        </p:spPr>
        <p:txBody>
          <a:bodyPr wrap="none" lIns="0" rIns="0" tIns="0" bIns="0">
            <a:spAutoFit/>
          </a:bodyPr>
          <a:lstStyle/>
          <a:p>
            <a:pPr algn="l">
              <a:lnSpc>
                <a:spcPts val="2800"/>
              </a:lnSpc>
              <a:spcAft>
                <a:spcPts val="0"/>
              </a:spcAft>
              <a:defRPr sz="2500" b="0">
                <a:solidFill>
                  <a:srgbClr val="182B3A"/>
                </a:solidFill>
                <a:latin typeface="Arial"/>
              </a:defRPr>
            </a:pPr>
            <a:r>
              <a:t> − </a:t>
            </a:r>
          </a:p>
        </p:txBody>
      </p:sp>
      <p:sp>
        <p:nvSpPr>
          <p:cNvPr id="73" name="TextBox 72"/>
          <p:cNvSpPr txBox="1"/>
          <p:nvPr/>
        </p:nvSpPr>
        <p:spPr>
          <a:xfrm>
            <a:off x="6274689" y="1755648"/>
            <a:ext cx="252603" cy="256032"/>
          </a:xfrm>
          <a:prstGeom prst="rect">
            <a:avLst/>
          </a:prstGeom>
          <a:noFill/>
        </p:spPr>
        <p:txBody>
          <a:bodyPr wrap="none" lIns="0" rIns="0" tIns="0" bIns="0">
            <a:spAutoFit/>
          </a:bodyPr>
          <a:lstStyle/>
          <a:p>
            <a:pPr algn="ctr">
              <a:lnSpc>
                <a:spcPts val="2240"/>
              </a:lnSpc>
              <a:spcAft>
                <a:spcPts val="0"/>
              </a:spcAft>
              <a:defRPr sz="2000" b="0">
                <a:solidFill>
                  <a:srgbClr val="182B3A"/>
                </a:solidFill>
                <a:latin typeface="Arial"/>
              </a:defRPr>
            </a:pPr>
            <a:r>
              <a:t>3</a:t>
            </a:r>
          </a:p>
        </p:txBody>
      </p:sp>
      <p:cxnSp>
        <p:nvCxnSpPr>
          <p:cNvPr id="74" name="Connector 73"/>
          <p:cNvCxnSpPr/>
          <p:nvPr/>
        </p:nvCxnSpPr>
        <p:spPr>
          <a:xfrm>
            <a:off x="6274689" y="2020824"/>
            <a:ext cx="252603" cy="0"/>
          </a:xfrm>
          <a:prstGeom prst="line">
            <a:avLst/>
          </a:prstGeom>
          <a:ln w="12700">
            <a:solidFill>
              <a:srgbClr val="182B3A"/>
            </a:solidFill>
          </a:ln>
          <a:effectLst/>
        </p:spPr>
        <p:style>
          <a:lnRef idx="2">
            <a:schemeClr val="accent1"/>
          </a:lnRef>
          <a:fillRef idx="0">
            <a:schemeClr val="accent1"/>
          </a:fillRef>
          <a:effectRef idx="1">
            <a:schemeClr val="accent1"/>
          </a:effectRef>
          <a:fontRef idx="minor">
            <a:schemeClr val="tx1"/>
          </a:fontRef>
        </p:style>
      </p:cxnSp>
      <p:sp>
        <p:nvSpPr>
          <p:cNvPr id="75" name="TextBox 74"/>
          <p:cNvSpPr txBox="1"/>
          <p:nvPr/>
        </p:nvSpPr>
        <p:spPr>
          <a:xfrm>
            <a:off x="6274689" y="2039112"/>
            <a:ext cx="252603" cy="256032"/>
          </a:xfrm>
          <a:prstGeom prst="rect">
            <a:avLst/>
          </a:prstGeom>
          <a:noFill/>
        </p:spPr>
        <p:txBody>
          <a:bodyPr wrap="none" lIns="0" rIns="0" tIns="0" bIns="0">
            <a:spAutoFit/>
          </a:bodyPr>
          <a:lstStyle/>
          <a:p>
            <a:pPr algn="ctr">
              <a:lnSpc>
                <a:spcPts val="2240"/>
              </a:lnSpc>
              <a:spcAft>
                <a:spcPts val="0"/>
              </a:spcAft>
              <a:defRPr sz="2000" b="0">
                <a:solidFill>
                  <a:srgbClr val="182B3A"/>
                </a:solidFill>
                <a:latin typeface="Arial"/>
              </a:defRPr>
            </a:pPr>
            <a:r>
              <a:t>8</a:t>
            </a:r>
          </a:p>
        </p:txBody>
      </p:sp>
      <p:sp>
        <p:nvSpPr>
          <p:cNvPr id="76" name="Rectangle 75"/>
          <p:cNvSpPr/>
          <p:nvPr/>
        </p:nvSpPr>
        <p:spPr>
          <a:xfrm>
            <a:off x="4983480" y="2587752"/>
            <a:ext cx="4640580" cy="1005840"/>
          </a:xfrm>
          <a:prstGeom prst="rect">
            <a:avLst/>
          </a:prstGeom>
          <a:solidFill>
            <a:srgbClr val="EFF3FA"/>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7" name="TextBox 76"/>
          <p:cNvSpPr txBox="1"/>
          <p:nvPr/>
        </p:nvSpPr>
        <p:spPr>
          <a:xfrm>
            <a:off x="5074920" y="2843784"/>
            <a:ext cx="320040" cy="365760"/>
          </a:xfrm>
          <a:prstGeom prst="rect">
            <a:avLst/>
          </a:prstGeom>
          <a:noFill/>
        </p:spPr>
        <p:txBody>
          <a:bodyPr wrap="square" lIns="54864" rIns="54864" tIns="22860" bIns="22860">
            <a:spAutoFit/>
          </a:bodyPr>
          <a:lstStyle/>
          <a:p>
            <a:pPr>
              <a:lnSpc>
                <a:spcPts val="2205"/>
              </a:lnSpc>
              <a:spcBef>
                <a:spcPts val="0"/>
              </a:spcBef>
              <a:spcAft>
                <a:spcPts val="0"/>
              </a:spcAft>
              <a:defRPr sz="2100" b="1">
                <a:solidFill>
                  <a:srgbClr val="182B3A"/>
                </a:solidFill>
                <a:latin typeface="Arial"/>
              </a:defRPr>
            </a:pPr>
            <a:r>
              <a:t>2.</a:t>
            </a:r>
          </a:p>
        </p:txBody>
      </p:sp>
      <p:sp>
        <p:nvSpPr>
          <p:cNvPr id="78" name="TextBox 77"/>
          <p:cNvSpPr txBox="1"/>
          <p:nvPr/>
        </p:nvSpPr>
        <p:spPr>
          <a:xfrm>
            <a:off x="5577840" y="2761488"/>
            <a:ext cx="395478" cy="256032"/>
          </a:xfrm>
          <a:prstGeom prst="rect">
            <a:avLst/>
          </a:prstGeom>
          <a:noFill/>
        </p:spPr>
        <p:txBody>
          <a:bodyPr wrap="none" lIns="0" rIns="0" tIns="0" bIns="0">
            <a:spAutoFit/>
          </a:bodyPr>
          <a:lstStyle/>
          <a:p>
            <a:pPr algn="ctr">
              <a:lnSpc>
                <a:spcPts val="2240"/>
              </a:lnSpc>
              <a:spcAft>
                <a:spcPts val="0"/>
              </a:spcAft>
              <a:defRPr sz="2000" b="0">
                <a:solidFill>
                  <a:srgbClr val="182B3A"/>
                </a:solidFill>
                <a:latin typeface="Arial"/>
              </a:defRPr>
            </a:pPr>
            <a:r>
              <a:t>7</a:t>
            </a:r>
          </a:p>
        </p:txBody>
      </p:sp>
      <p:cxnSp>
        <p:nvCxnSpPr>
          <p:cNvPr id="79" name="Connector 78"/>
          <p:cNvCxnSpPr/>
          <p:nvPr/>
        </p:nvCxnSpPr>
        <p:spPr>
          <a:xfrm>
            <a:off x="5577840" y="3026664"/>
            <a:ext cx="395478" cy="0"/>
          </a:xfrm>
          <a:prstGeom prst="line">
            <a:avLst/>
          </a:prstGeom>
          <a:ln w="12700">
            <a:solidFill>
              <a:srgbClr val="182B3A"/>
            </a:solidFill>
          </a:ln>
          <a:effectLst/>
        </p:spPr>
        <p:style>
          <a:lnRef idx="2">
            <a:schemeClr val="accent1"/>
          </a:lnRef>
          <a:fillRef idx="0">
            <a:schemeClr val="accent1"/>
          </a:fillRef>
          <a:effectRef idx="1">
            <a:schemeClr val="accent1"/>
          </a:effectRef>
          <a:fontRef idx="minor">
            <a:schemeClr val="tx1"/>
          </a:fontRef>
        </p:style>
      </p:cxnSp>
      <p:sp>
        <p:nvSpPr>
          <p:cNvPr id="80" name="TextBox 79"/>
          <p:cNvSpPr txBox="1"/>
          <p:nvPr/>
        </p:nvSpPr>
        <p:spPr>
          <a:xfrm>
            <a:off x="5577840" y="3044952"/>
            <a:ext cx="395478" cy="256032"/>
          </a:xfrm>
          <a:prstGeom prst="rect">
            <a:avLst/>
          </a:prstGeom>
          <a:noFill/>
        </p:spPr>
        <p:txBody>
          <a:bodyPr wrap="none" lIns="0" rIns="0" tIns="0" bIns="0">
            <a:spAutoFit/>
          </a:bodyPr>
          <a:lstStyle/>
          <a:p>
            <a:pPr algn="ctr">
              <a:lnSpc>
                <a:spcPts val="2240"/>
              </a:lnSpc>
              <a:spcAft>
                <a:spcPts val="0"/>
              </a:spcAft>
              <a:defRPr sz="2000" b="0">
                <a:solidFill>
                  <a:srgbClr val="182B3A"/>
                </a:solidFill>
                <a:latin typeface="Arial"/>
              </a:defRPr>
            </a:pPr>
            <a:r>
              <a:t>12</a:t>
            </a:r>
          </a:p>
        </p:txBody>
      </p:sp>
      <p:sp>
        <p:nvSpPr>
          <p:cNvPr id="81" name="TextBox 80"/>
          <p:cNvSpPr txBox="1"/>
          <p:nvPr/>
        </p:nvSpPr>
        <p:spPr>
          <a:xfrm>
            <a:off x="6028182" y="2880360"/>
            <a:ext cx="389381" cy="347472"/>
          </a:xfrm>
          <a:prstGeom prst="rect">
            <a:avLst/>
          </a:prstGeom>
          <a:noFill/>
        </p:spPr>
        <p:txBody>
          <a:bodyPr wrap="none" lIns="0" rIns="0" tIns="0" bIns="0">
            <a:spAutoFit/>
          </a:bodyPr>
          <a:lstStyle/>
          <a:p>
            <a:pPr algn="l">
              <a:lnSpc>
                <a:spcPts val="2800"/>
              </a:lnSpc>
              <a:spcAft>
                <a:spcPts val="0"/>
              </a:spcAft>
              <a:defRPr sz="2500" b="0">
                <a:solidFill>
                  <a:srgbClr val="182B3A"/>
                </a:solidFill>
                <a:latin typeface="Arial"/>
              </a:defRPr>
            </a:pPr>
            <a:r>
              <a:t> − </a:t>
            </a:r>
          </a:p>
        </p:txBody>
      </p:sp>
      <p:sp>
        <p:nvSpPr>
          <p:cNvPr id="82" name="TextBox 81"/>
          <p:cNvSpPr txBox="1"/>
          <p:nvPr/>
        </p:nvSpPr>
        <p:spPr>
          <a:xfrm>
            <a:off x="6417564" y="2761488"/>
            <a:ext cx="252603" cy="256032"/>
          </a:xfrm>
          <a:prstGeom prst="rect">
            <a:avLst/>
          </a:prstGeom>
          <a:noFill/>
        </p:spPr>
        <p:txBody>
          <a:bodyPr wrap="none" lIns="0" rIns="0" tIns="0" bIns="0">
            <a:spAutoFit/>
          </a:bodyPr>
          <a:lstStyle/>
          <a:p>
            <a:pPr algn="ctr">
              <a:lnSpc>
                <a:spcPts val="2240"/>
              </a:lnSpc>
              <a:spcAft>
                <a:spcPts val="0"/>
              </a:spcAft>
              <a:defRPr sz="2000" b="0">
                <a:solidFill>
                  <a:srgbClr val="182B3A"/>
                </a:solidFill>
                <a:latin typeface="Arial"/>
              </a:defRPr>
            </a:pPr>
            <a:r>
              <a:t>1</a:t>
            </a:r>
          </a:p>
        </p:txBody>
      </p:sp>
      <p:cxnSp>
        <p:nvCxnSpPr>
          <p:cNvPr id="83" name="Connector 82"/>
          <p:cNvCxnSpPr/>
          <p:nvPr/>
        </p:nvCxnSpPr>
        <p:spPr>
          <a:xfrm>
            <a:off x="6417564" y="3026664"/>
            <a:ext cx="252603" cy="0"/>
          </a:xfrm>
          <a:prstGeom prst="line">
            <a:avLst/>
          </a:prstGeom>
          <a:ln w="12700">
            <a:solidFill>
              <a:srgbClr val="182B3A"/>
            </a:solidFill>
          </a:ln>
          <a:effectLst/>
        </p:spPr>
        <p:style>
          <a:lnRef idx="2">
            <a:schemeClr val="accent1"/>
          </a:lnRef>
          <a:fillRef idx="0">
            <a:schemeClr val="accent1"/>
          </a:fillRef>
          <a:effectRef idx="1">
            <a:schemeClr val="accent1"/>
          </a:effectRef>
          <a:fontRef idx="minor">
            <a:schemeClr val="tx1"/>
          </a:fontRef>
        </p:style>
      </p:cxnSp>
      <p:sp>
        <p:nvSpPr>
          <p:cNvPr id="84" name="TextBox 83"/>
          <p:cNvSpPr txBox="1"/>
          <p:nvPr/>
        </p:nvSpPr>
        <p:spPr>
          <a:xfrm>
            <a:off x="6417564" y="3044952"/>
            <a:ext cx="252603" cy="256032"/>
          </a:xfrm>
          <a:prstGeom prst="rect">
            <a:avLst/>
          </a:prstGeom>
          <a:noFill/>
        </p:spPr>
        <p:txBody>
          <a:bodyPr wrap="none" lIns="0" rIns="0" tIns="0" bIns="0">
            <a:spAutoFit/>
          </a:bodyPr>
          <a:lstStyle/>
          <a:p>
            <a:pPr algn="ctr">
              <a:lnSpc>
                <a:spcPts val="2240"/>
              </a:lnSpc>
              <a:spcAft>
                <a:spcPts val="0"/>
              </a:spcAft>
              <a:defRPr sz="2000" b="0">
                <a:solidFill>
                  <a:srgbClr val="182B3A"/>
                </a:solidFill>
                <a:latin typeface="Arial"/>
              </a:defRPr>
            </a:pPr>
            <a:r>
              <a:t>3</a:t>
            </a:r>
          </a:p>
        </p:txBody>
      </p:sp>
      <p:sp>
        <p:nvSpPr>
          <p:cNvPr id="85" name="Rectangle 84"/>
          <p:cNvSpPr/>
          <p:nvPr/>
        </p:nvSpPr>
        <p:spPr>
          <a:xfrm>
            <a:off x="4983480" y="3593592"/>
            <a:ext cx="4640580" cy="1005840"/>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6" name="TextBox 85"/>
          <p:cNvSpPr txBox="1"/>
          <p:nvPr/>
        </p:nvSpPr>
        <p:spPr>
          <a:xfrm>
            <a:off x="5074920" y="3849624"/>
            <a:ext cx="320040" cy="365760"/>
          </a:xfrm>
          <a:prstGeom prst="rect">
            <a:avLst/>
          </a:prstGeom>
          <a:noFill/>
        </p:spPr>
        <p:txBody>
          <a:bodyPr wrap="square" lIns="54864" rIns="54864" tIns="22860" bIns="22860">
            <a:spAutoFit/>
          </a:bodyPr>
          <a:lstStyle/>
          <a:p>
            <a:pPr>
              <a:lnSpc>
                <a:spcPts val="2205"/>
              </a:lnSpc>
              <a:spcBef>
                <a:spcPts val="0"/>
              </a:spcBef>
              <a:spcAft>
                <a:spcPts val="0"/>
              </a:spcAft>
              <a:defRPr sz="2100" b="1">
                <a:solidFill>
                  <a:srgbClr val="182B3A"/>
                </a:solidFill>
                <a:latin typeface="Arial"/>
              </a:defRPr>
            </a:pPr>
            <a:r>
              <a:t>3.</a:t>
            </a:r>
          </a:p>
        </p:txBody>
      </p:sp>
      <p:sp>
        <p:nvSpPr>
          <p:cNvPr id="87" name="TextBox 86"/>
          <p:cNvSpPr txBox="1"/>
          <p:nvPr/>
        </p:nvSpPr>
        <p:spPr>
          <a:xfrm>
            <a:off x="5577840" y="3767328"/>
            <a:ext cx="252603" cy="256032"/>
          </a:xfrm>
          <a:prstGeom prst="rect">
            <a:avLst/>
          </a:prstGeom>
          <a:noFill/>
        </p:spPr>
        <p:txBody>
          <a:bodyPr wrap="none" lIns="0" rIns="0" tIns="0" bIns="0">
            <a:spAutoFit/>
          </a:bodyPr>
          <a:lstStyle/>
          <a:p>
            <a:pPr algn="ctr">
              <a:lnSpc>
                <a:spcPts val="2240"/>
              </a:lnSpc>
              <a:spcAft>
                <a:spcPts val="0"/>
              </a:spcAft>
              <a:defRPr sz="2000" b="0">
                <a:solidFill>
                  <a:srgbClr val="182B3A"/>
                </a:solidFill>
                <a:latin typeface="Arial"/>
              </a:defRPr>
            </a:pPr>
            <a:r>
              <a:t>2</a:t>
            </a:r>
          </a:p>
        </p:txBody>
      </p:sp>
      <p:cxnSp>
        <p:nvCxnSpPr>
          <p:cNvPr id="88" name="Connector 87"/>
          <p:cNvCxnSpPr/>
          <p:nvPr/>
        </p:nvCxnSpPr>
        <p:spPr>
          <a:xfrm>
            <a:off x="5577840" y="4032504"/>
            <a:ext cx="252603" cy="0"/>
          </a:xfrm>
          <a:prstGeom prst="line">
            <a:avLst/>
          </a:prstGeom>
          <a:ln w="12700">
            <a:solidFill>
              <a:srgbClr val="182B3A"/>
            </a:solidFill>
          </a:ln>
          <a:effectLst/>
        </p:spPr>
        <p:style>
          <a:lnRef idx="2">
            <a:schemeClr val="accent1"/>
          </a:lnRef>
          <a:fillRef idx="0">
            <a:schemeClr val="accent1"/>
          </a:fillRef>
          <a:effectRef idx="1">
            <a:schemeClr val="accent1"/>
          </a:effectRef>
          <a:fontRef idx="minor">
            <a:schemeClr val="tx1"/>
          </a:fontRef>
        </p:style>
      </p:cxnSp>
      <p:sp>
        <p:nvSpPr>
          <p:cNvPr id="89" name="TextBox 88"/>
          <p:cNvSpPr txBox="1"/>
          <p:nvPr/>
        </p:nvSpPr>
        <p:spPr>
          <a:xfrm>
            <a:off x="5577840" y="4050791"/>
            <a:ext cx="252603" cy="256032"/>
          </a:xfrm>
          <a:prstGeom prst="rect">
            <a:avLst/>
          </a:prstGeom>
          <a:noFill/>
        </p:spPr>
        <p:txBody>
          <a:bodyPr wrap="none" lIns="0" rIns="0" tIns="0" bIns="0">
            <a:spAutoFit/>
          </a:bodyPr>
          <a:lstStyle/>
          <a:p>
            <a:pPr algn="ctr">
              <a:lnSpc>
                <a:spcPts val="2240"/>
              </a:lnSpc>
              <a:spcAft>
                <a:spcPts val="0"/>
              </a:spcAft>
              <a:defRPr sz="2000" b="0">
                <a:solidFill>
                  <a:srgbClr val="182B3A"/>
                </a:solidFill>
                <a:latin typeface="Arial"/>
              </a:defRPr>
            </a:pPr>
            <a:r>
              <a:t>5</a:t>
            </a:r>
          </a:p>
        </p:txBody>
      </p:sp>
      <p:sp>
        <p:nvSpPr>
          <p:cNvPr id="90" name="TextBox 89"/>
          <p:cNvSpPr txBox="1"/>
          <p:nvPr/>
        </p:nvSpPr>
        <p:spPr>
          <a:xfrm>
            <a:off x="5885307" y="3886200"/>
            <a:ext cx="389381" cy="347472"/>
          </a:xfrm>
          <a:prstGeom prst="rect">
            <a:avLst/>
          </a:prstGeom>
          <a:noFill/>
        </p:spPr>
        <p:txBody>
          <a:bodyPr wrap="none" lIns="0" rIns="0" tIns="0" bIns="0">
            <a:spAutoFit/>
          </a:bodyPr>
          <a:lstStyle/>
          <a:p>
            <a:pPr algn="l">
              <a:lnSpc>
                <a:spcPts val="2800"/>
              </a:lnSpc>
              <a:spcAft>
                <a:spcPts val="0"/>
              </a:spcAft>
              <a:defRPr sz="2500" b="0">
                <a:solidFill>
                  <a:srgbClr val="182B3A"/>
                </a:solidFill>
                <a:latin typeface="Arial"/>
              </a:defRPr>
            </a:pPr>
            <a:r>
              <a:t> − </a:t>
            </a:r>
          </a:p>
        </p:txBody>
      </p:sp>
      <p:sp>
        <p:nvSpPr>
          <p:cNvPr id="91" name="TextBox 90"/>
          <p:cNvSpPr txBox="1"/>
          <p:nvPr/>
        </p:nvSpPr>
        <p:spPr>
          <a:xfrm>
            <a:off x="6274689" y="3767328"/>
            <a:ext cx="395478" cy="256032"/>
          </a:xfrm>
          <a:prstGeom prst="rect">
            <a:avLst/>
          </a:prstGeom>
          <a:noFill/>
        </p:spPr>
        <p:txBody>
          <a:bodyPr wrap="none" lIns="0" rIns="0" tIns="0" bIns="0">
            <a:spAutoFit/>
          </a:bodyPr>
          <a:lstStyle/>
          <a:p>
            <a:pPr algn="ctr">
              <a:lnSpc>
                <a:spcPts val="2240"/>
              </a:lnSpc>
              <a:spcAft>
                <a:spcPts val="0"/>
              </a:spcAft>
              <a:defRPr sz="2000" b="0">
                <a:solidFill>
                  <a:srgbClr val="182B3A"/>
                </a:solidFill>
                <a:latin typeface="Arial"/>
              </a:defRPr>
            </a:pPr>
            <a:r>
              <a:t>3</a:t>
            </a:r>
          </a:p>
        </p:txBody>
      </p:sp>
      <p:cxnSp>
        <p:nvCxnSpPr>
          <p:cNvPr id="92" name="Connector 91"/>
          <p:cNvCxnSpPr/>
          <p:nvPr/>
        </p:nvCxnSpPr>
        <p:spPr>
          <a:xfrm>
            <a:off x="6274689" y="4032504"/>
            <a:ext cx="395478" cy="0"/>
          </a:xfrm>
          <a:prstGeom prst="line">
            <a:avLst/>
          </a:prstGeom>
          <a:ln w="12700">
            <a:solidFill>
              <a:srgbClr val="182B3A"/>
            </a:solidFill>
          </a:ln>
          <a:effectLst/>
        </p:spPr>
        <p:style>
          <a:lnRef idx="2">
            <a:schemeClr val="accent1"/>
          </a:lnRef>
          <a:fillRef idx="0">
            <a:schemeClr val="accent1"/>
          </a:fillRef>
          <a:effectRef idx="1">
            <a:schemeClr val="accent1"/>
          </a:effectRef>
          <a:fontRef idx="minor">
            <a:schemeClr val="tx1"/>
          </a:fontRef>
        </p:style>
      </p:cxnSp>
      <p:sp>
        <p:nvSpPr>
          <p:cNvPr id="93" name="TextBox 92"/>
          <p:cNvSpPr txBox="1"/>
          <p:nvPr/>
        </p:nvSpPr>
        <p:spPr>
          <a:xfrm>
            <a:off x="6274689" y="4050791"/>
            <a:ext cx="395478" cy="256032"/>
          </a:xfrm>
          <a:prstGeom prst="rect">
            <a:avLst/>
          </a:prstGeom>
          <a:noFill/>
        </p:spPr>
        <p:txBody>
          <a:bodyPr wrap="none" lIns="0" rIns="0" tIns="0" bIns="0">
            <a:spAutoFit/>
          </a:bodyPr>
          <a:lstStyle/>
          <a:p>
            <a:pPr algn="ctr">
              <a:lnSpc>
                <a:spcPts val="2240"/>
              </a:lnSpc>
              <a:spcAft>
                <a:spcPts val="0"/>
              </a:spcAft>
              <a:defRPr sz="2000" b="0">
                <a:solidFill>
                  <a:srgbClr val="182B3A"/>
                </a:solidFill>
                <a:latin typeface="Arial"/>
              </a:defRPr>
            </a:pPr>
            <a:r>
              <a:t>10</a:t>
            </a:r>
          </a:p>
        </p:txBody>
      </p:sp>
      <p:sp>
        <p:nvSpPr>
          <p:cNvPr id="94" name="Rectangle 93"/>
          <p:cNvSpPr/>
          <p:nvPr/>
        </p:nvSpPr>
        <p:spPr>
          <a:xfrm>
            <a:off x="4983480" y="4599432"/>
            <a:ext cx="4640580" cy="1005840"/>
          </a:xfrm>
          <a:prstGeom prst="rect">
            <a:avLst/>
          </a:prstGeom>
          <a:solidFill>
            <a:srgbClr val="EFF3FA"/>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5" name="TextBox 94"/>
          <p:cNvSpPr txBox="1"/>
          <p:nvPr/>
        </p:nvSpPr>
        <p:spPr>
          <a:xfrm>
            <a:off x="5074920" y="4855464"/>
            <a:ext cx="320040" cy="365760"/>
          </a:xfrm>
          <a:prstGeom prst="rect">
            <a:avLst/>
          </a:prstGeom>
          <a:noFill/>
        </p:spPr>
        <p:txBody>
          <a:bodyPr wrap="square" lIns="54864" rIns="54864" tIns="22860" bIns="22860">
            <a:spAutoFit/>
          </a:bodyPr>
          <a:lstStyle/>
          <a:p>
            <a:pPr>
              <a:lnSpc>
                <a:spcPts val="2205"/>
              </a:lnSpc>
              <a:spcBef>
                <a:spcPts val="0"/>
              </a:spcBef>
              <a:spcAft>
                <a:spcPts val="0"/>
              </a:spcAft>
              <a:defRPr sz="2100" b="1">
                <a:solidFill>
                  <a:srgbClr val="182B3A"/>
                </a:solidFill>
                <a:latin typeface="Arial"/>
              </a:defRPr>
            </a:pPr>
            <a:r>
              <a:t>4.</a:t>
            </a:r>
          </a:p>
        </p:txBody>
      </p:sp>
      <p:sp>
        <p:nvSpPr>
          <p:cNvPr id="96" name="TextBox 95"/>
          <p:cNvSpPr txBox="1"/>
          <p:nvPr/>
        </p:nvSpPr>
        <p:spPr>
          <a:xfrm>
            <a:off x="5577840" y="4773168"/>
            <a:ext cx="252603" cy="256032"/>
          </a:xfrm>
          <a:prstGeom prst="rect">
            <a:avLst/>
          </a:prstGeom>
          <a:noFill/>
        </p:spPr>
        <p:txBody>
          <a:bodyPr wrap="none" lIns="0" rIns="0" tIns="0" bIns="0">
            <a:spAutoFit/>
          </a:bodyPr>
          <a:lstStyle/>
          <a:p>
            <a:pPr algn="ctr">
              <a:lnSpc>
                <a:spcPts val="2240"/>
              </a:lnSpc>
              <a:spcAft>
                <a:spcPts val="0"/>
              </a:spcAft>
              <a:defRPr sz="2000" b="0">
                <a:solidFill>
                  <a:srgbClr val="182B3A"/>
                </a:solidFill>
                <a:latin typeface="Arial"/>
              </a:defRPr>
            </a:pPr>
            <a:r>
              <a:t>3</a:t>
            </a:r>
          </a:p>
        </p:txBody>
      </p:sp>
      <p:cxnSp>
        <p:nvCxnSpPr>
          <p:cNvPr id="97" name="Connector 96"/>
          <p:cNvCxnSpPr/>
          <p:nvPr/>
        </p:nvCxnSpPr>
        <p:spPr>
          <a:xfrm>
            <a:off x="5577840" y="5038344"/>
            <a:ext cx="252603" cy="0"/>
          </a:xfrm>
          <a:prstGeom prst="line">
            <a:avLst/>
          </a:prstGeom>
          <a:ln w="12700">
            <a:solidFill>
              <a:srgbClr val="182B3A"/>
            </a:solidFill>
          </a:ln>
          <a:effectLst/>
        </p:spPr>
        <p:style>
          <a:lnRef idx="2">
            <a:schemeClr val="accent1"/>
          </a:lnRef>
          <a:fillRef idx="0">
            <a:schemeClr val="accent1"/>
          </a:fillRef>
          <a:effectRef idx="1">
            <a:schemeClr val="accent1"/>
          </a:effectRef>
          <a:fontRef idx="minor">
            <a:schemeClr val="tx1"/>
          </a:fontRef>
        </p:style>
      </p:cxnSp>
      <p:sp>
        <p:nvSpPr>
          <p:cNvPr id="98" name="TextBox 97"/>
          <p:cNvSpPr txBox="1"/>
          <p:nvPr/>
        </p:nvSpPr>
        <p:spPr>
          <a:xfrm>
            <a:off x="5577840" y="5056632"/>
            <a:ext cx="252603" cy="256032"/>
          </a:xfrm>
          <a:prstGeom prst="rect">
            <a:avLst/>
          </a:prstGeom>
          <a:noFill/>
        </p:spPr>
        <p:txBody>
          <a:bodyPr wrap="none" lIns="0" rIns="0" tIns="0" bIns="0">
            <a:spAutoFit/>
          </a:bodyPr>
          <a:lstStyle/>
          <a:p>
            <a:pPr algn="ctr">
              <a:lnSpc>
                <a:spcPts val="2240"/>
              </a:lnSpc>
              <a:spcAft>
                <a:spcPts val="0"/>
              </a:spcAft>
              <a:defRPr sz="2000" b="0">
                <a:solidFill>
                  <a:srgbClr val="182B3A"/>
                </a:solidFill>
                <a:latin typeface="Arial"/>
              </a:defRPr>
            </a:pPr>
            <a:r>
              <a:t>8</a:t>
            </a:r>
          </a:p>
        </p:txBody>
      </p:sp>
      <p:sp>
        <p:nvSpPr>
          <p:cNvPr id="99" name="TextBox 98"/>
          <p:cNvSpPr txBox="1"/>
          <p:nvPr/>
        </p:nvSpPr>
        <p:spPr>
          <a:xfrm>
            <a:off x="5885307" y="4892040"/>
            <a:ext cx="389381" cy="347472"/>
          </a:xfrm>
          <a:prstGeom prst="rect">
            <a:avLst/>
          </a:prstGeom>
          <a:noFill/>
        </p:spPr>
        <p:txBody>
          <a:bodyPr wrap="none" lIns="0" rIns="0" tIns="0" bIns="0">
            <a:spAutoFit/>
          </a:bodyPr>
          <a:lstStyle/>
          <a:p>
            <a:pPr algn="l">
              <a:lnSpc>
                <a:spcPts val="2800"/>
              </a:lnSpc>
              <a:spcAft>
                <a:spcPts val="0"/>
              </a:spcAft>
              <a:defRPr sz="2500" b="0">
                <a:solidFill>
                  <a:srgbClr val="182B3A"/>
                </a:solidFill>
                <a:latin typeface="Arial"/>
              </a:defRPr>
            </a:pPr>
            <a:r>
              <a:t> + </a:t>
            </a:r>
          </a:p>
        </p:txBody>
      </p:sp>
      <p:sp>
        <p:nvSpPr>
          <p:cNvPr id="100" name="TextBox 99"/>
          <p:cNvSpPr txBox="1"/>
          <p:nvPr/>
        </p:nvSpPr>
        <p:spPr>
          <a:xfrm>
            <a:off x="6274689" y="4773168"/>
            <a:ext cx="252603" cy="256032"/>
          </a:xfrm>
          <a:prstGeom prst="rect">
            <a:avLst/>
          </a:prstGeom>
          <a:noFill/>
        </p:spPr>
        <p:txBody>
          <a:bodyPr wrap="none" lIns="0" rIns="0" tIns="0" bIns="0">
            <a:spAutoFit/>
          </a:bodyPr>
          <a:lstStyle/>
          <a:p>
            <a:pPr algn="ctr">
              <a:lnSpc>
                <a:spcPts val="2240"/>
              </a:lnSpc>
              <a:spcAft>
                <a:spcPts val="0"/>
              </a:spcAft>
              <a:defRPr sz="2000" b="0">
                <a:solidFill>
                  <a:srgbClr val="182B3A"/>
                </a:solidFill>
                <a:latin typeface="Arial"/>
              </a:defRPr>
            </a:pPr>
            <a:r>
              <a:t>1</a:t>
            </a:r>
          </a:p>
        </p:txBody>
      </p:sp>
      <p:cxnSp>
        <p:nvCxnSpPr>
          <p:cNvPr id="101" name="Connector 100"/>
          <p:cNvCxnSpPr/>
          <p:nvPr/>
        </p:nvCxnSpPr>
        <p:spPr>
          <a:xfrm>
            <a:off x="6274689" y="5038344"/>
            <a:ext cx="252603" cy="0"/>
          </a:xfrm>
          <a:prstGeom prst="line">
            <a:avLst/>
          </a:prstGeom>
          <a:ln w="12700">
            <a:solidFill>
              <a:srgbClr val="182B3A"/>
            </a:solidFill>
          </a:ln>
          <a:effectLst/>
        </p:spPr>
        <p:style>
          <a:lnRef idx="2">
            <a:schemeClr val="accent1"/>
          </a:lnRef>
          <a:fillRef idx="0">
            <a:schemeClr val="accent1"/>
          </a:fillRef>
          <a:effectRef idx="1">
            <a:schemeClr val="accent1"/>
          </a:effectRef>
          <a:fontRef idx="minor">
            <a:schemeClr val="tx1"/>
          </a:fontRef>
        </p:style>
      </p:cxnSp>
      <p:sp>
        <p:nvSpPr>
          <p:cNvPr id="102" name="TextBox 101"/>
          <p:cNvSpPr txBox="1"/>
          <p:nvPr/>
        </p:nvSpPr>
        <p:spPr>
          <a:xfrm>
            <a:off x="6274689" y="5056632"/>
            <a:ext cx="252603" cy="256032"/>
          </a:xfrm>
          <a:prstGeom prst="rect">
            <a:avLst/>
          </a:prstGeom>
          <a:noFill/>
        </p:spPr>
        <p:txBody>
          <a:bodyPr wrap="none" lIns="0" rIns="0" tIns="0" bIns="0">
            <a:spAutoFit/>
          </a:bodyPr>
          <a:lstStyle/>
          <a:p>
            <a:pPr algn="ctr">
              <a:lnSpc>
                <a:spcPts val="2240"/>
              </a:lnSpc>
              <a:spcAft>
                <a:spcPts val="0"/>
              </a:spcAft>
              <a:defRPr sz="2000" b="0">
                <a:solidFill>
                  <a:srgbClr val="182B3A"/>
                </a:solidFill>
                <a:latin typeface="Arial"/>
              </a:defRPr>
            </a:pPr>
            <a:r>
              <a:t>4</a:t>
            </a:r>
          </a:p>
        </p:txBody>
      </p:sp>
      <p:sp>
        <p:nvSpPr>
          <p:cNvPr id="103" name="Rectangle 102"/>
          <p:cNvSpPr/>
          <p:nvPr/>
        </p:nvSpPr>
        <p:spPr>
          <a:xfrm>
            <a:off x="4983480" y="5605272"/>
            <a:ext cx="4640580" cy="1005840"/>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4" name="TextBox 103"/>
          <p:cNvSpPr txBox="1"/>
          <p:nvPr/>
        </p:nvSpPr>
        <p:spPr>
          <a:xfrm>
            <a:off x="5074920" y="5861304"/>
            <a:ext cx="320040" cy="365760"/>
          </a:xfrm>
          <a:prstGeom prst="rect">
            <a:avLst/>
          </a:prstGeom>
          <a:noFill/>
        </p:spPr>
        <p:txBody>
          <a:bodyPr wrap="square" lIns="54864" rIns="54864" tIns="22860" bIns="22860">
            <a:spAutoFit/>
          </a:bodyPr>
          <a:lstStyle/>
          <a:p>
            <a:pPr>
              <a:lnSpc>
                <a:spcPts val="2205"/>
              </a:lnSpc>
              <a:spcBef>
                <a:spcPts val="0"/>
              </a:spcBef>
              <a:spcAft>
                <a:spcPts val="0"/>
              </a:spcAft>
              <a:defRPr sz="2100" b="1">
                <a:solidFill>
                  <a:srgbClr val="182B3A"/>
                </a:solidFill>
                <a:latin typeface="Arial"/>
              </a:defRPr>
            </a:pPr>
            <a:r>
              <a:t>5.</a:t>
            </a:r>
          </a:p>
        </p:txBody>
      </p:sp>
      <p:sp>
        <p:nvSpPr>
          <p:cNvPr id="105" name="TextBox 104"/>
          <p:cNvSpPr txBox="1"/>
          <p:nvPr/>
        </p:nvSpPr>
        <p:spPr>
          <a:xfrm>
            <a:off x="5577840" y="5779008"/>
            <a:ext cx="252603" cy="256032"/>
          </a:xfrm>
          <a:prstGeom prst="rect">
            <a:avLst/>
          </a:prstGeom>
          <a:noFill/>
        </p:spPr>
        <p:txBody>
          <a:bodyPr wrap="none" lIns="0" rIns="0" tIns="0" bIns="0">
            <a:spAutoFit/>
          </a:bodyPr>
          <a:lstStyle/>
          <a:p>
            <a:pPr algn="ctr">
              <a:lnSpc>
                <a:spcPts val="2240"/>
              </a:lnSpc>
              <a:spcAft>
                <a:spcPts val="0"/>
              </a:spcAft>
              <a:defRPr sz="2000" b="0">
                <a:solidFill>
                  <a:srgbClr val="182B3A"/>
                </a:solidFill>
                <a:latin typeface="Arial"/>
              </a:defRPr>
            </a:pPr>
            <a:r>
              <a:t>7</a:t>
            </a:r>
          </a:p>
        </p:txBody>
      </p:sp>
      <p:cxnSp>
        <p:nvCxnSpPr>
          <p:cNvPr id="106" name="Connector 105"/>
          <p:cNvCxnSpPr/>
          <p:nvPr/>
        </p:nvCxnSpPr>
        <p:spPr>
          <a:xfrm>
            <a:off x="5577840" y="6044184"/>
            <a:ext cx="252603" cy="0"/>
          </a:xfrm>
          <a:prstGeom prst="line">
            <a:avLst/>
          </a:prstGeom>
          <a:ln w="12700">
            <a:solidFill>
              <a:srgbClr val="182B3A"/>
            </a:solidFill>
          </a:ln>
          <a:effectLst/>
        </p:spPr>
        <p:style>
          <a:lnRef idx="2">
            <a:schemeClr val="accent1"/>
          </a:lnRef>
          <a:fillRef idx="0">
            <a:schemeClr val="accent1"/>
          </a:fillRef>
          <a:effectRef idx="1">
            <a:schemeClr val="accent1"/>
          </a:effectRef>
          <a:fontRef idx="minor">
            <a:schemeClr val="tx1"/>
          </a:fontRef>
        </p:style>
      </p:cxnSp>
      <p:sp>
        <p:nvSpPr>
          <p:cNvPr id="107" name="TextBox 106"/>
          <p:cNvSpPr txBox="1"/>
          <p:nvPr/>
        </p:nvSpPr>
        <p:spPr>
          <a:xfrm>
            <a:off x="5577840" y="6062472"/>
            <a:ext cx="252603" cy="256032"/>
          </a:xfrm>
          <a:prstGeom prst="rect">
            <a:avLst/>
          </a:prstGeom>
          <a:noFill/>
        </p:spPr>
        <p:txBody>
          <a:bodyPr wrap="none" lIns="0" rIns="0" tIns="0" bIns="0">
            <a:spAutoFit/>
          </a:bodyPr>
          <a:lstStyle/>
          <a:p>
            <a:pPr algn="ctr">
              <a:lnSpc>
                <a:spcPts val="2240"/>
              </a:lnSpc>
              <a:spcAft>
                <a:spcPts val="0"/>
              </a:spcAft>
              <a:defRPr sz="2000" b="0">
                <a:solidFill>
                  <a:srgbClr val="182B3A"/>
                </a:solidFill>
                <a:latin typeface="Arial"/>
              </a:defRPr>
            </a:pPr>
            <a:r>
              <a:t>8</a:t>
            </a:r>
          </a:p>
        </p:txBody>
      </p:sp>
      <p:sp>
        <p:nvSpPr>
          <p:cNvPr id="108" name="TextBox 107"/>
          <p:cNvSpPr txBox="1"/>
          <p:nvPr/>
        </p:nvSpPr>
        <p:spPr>
          <a:xfrm>
            <a:off x="5885307" y="5897880"/>
            <a:ext cx="389381" cy="347472"/>
          </a:xfrm>
          <a:prstGeom prst="rect">
            <a:avLst/>
          </a:prstGeom>
          <a:noFill/>
        </p:spPr>
        <p:txBody>
          <a:bodyPr wrap="none" lIns="0" rIns="0" tIns="0" bIns="0">
            <a:spAutoFit/>
          </a:bodyPr>
          <a:lstStyle/>
          <a:p>
            <a:pPr algn="l">
              <a:lnSpc>
                <a:spcPts val="2800"/>
              </a:lnSpc>
              <a:spcAft>
                <a:spcPts val="0"/>
              </a:spcAft>
              <a:defRPr sz="2500" b="0">
                <a:solidFill>
                  <a:srgbClr val="182B3A"/>
                </a:solidFill>
                <a:latin typeface="Arial"/>
              </a:defRPr>
            </a:pPr>
            <a:r>
              <a:t> + </a:t>
            </a:r>
          </a:p>
        </p:txBody>
      </p:sp>
      <p:sp>
        <p:nvSpPr>
          <p:cNvPr id="109" name="TextBox 108"/>
          <p:cNvSpPr txBox="1"/>
          <p:nvPr/>
        </p:nvSpPr>
        <p:spPr>
          <a:xfrm>
            <a:off x="6274689" y="5779008"/>
            <a:ext cx="252603" cy="256032"/>
          </a:xfrm>
          <a:prstGeom prst="rect">
            <a:avLst/>
          </a:prstGeom>
          <a:noFill/>
        </p:spPr>
        <p:txBody>
          <a:bodyPr wrap="none" lIns="0" rIns="0" tIns="0" bIns="0">
            <a:spAutoFit/>
          </a:bodyPr>
          <a:lstStyle/>
          <a:p>
            <a:pPr algn="ctr">
              <a:lnSpc>
                <a:spcPts val="2240"/>
              </a:lnSpc>
              <a:spcAft>
                <a:spcPts val="0"/>
              </a:spcAft>
              <a:defRPr sz="2000" b="0">
                <a:solidFill>
                  <a:srgbClr val="182B3A"/>
                </a:solidFill>
                <a:latin typeface="Arial"/>
              </a:defRPr>
            </a:pPr>
            <a:r>
              <a:t>1</a:t>
            </a:r>
          </a:p>
        </p:txBody>
      </p:sp>
      <p:cxnSp>
        <p:nvCxnSpPr>
          <p:cNvPr id="110" name="Connector 109"/>
          <p:cNvCxnSpPr/>
          <p:nvPr/>
        </p:nvCxnSpPr>
        <p:spPr>
          <a:xfrm>
            <a:off x="6274689" y="6044184"/>
            <a:ext cx="252603" cy="0"/>
          </a:xfrm>
          <a:prstGeom prst="line">
            <a:avLst/>
          </a:prstGeom>
          <a:ln w="12700">
            <a:solidFill>
              <a:srgbClr val="182B3A"/>
            </a:solidFill>
          </a:ln>
          <a:effectLst/>
        </p:spPr>
        <p:style>
          <a:lnRef idx="2">
            <a:schemeClr val="accent1"/>
          </a:lnRef>
          <a:fillRef idx="0">
            <a:schemeClr val="accent1"/>
          </a:fillRef>
          <a:effectRef idx="1">
            <a:schemeClr val="accent1"/>
          </a:effectRef>
          <a:fontRef idx="minor">
            <a:schemeClr val="tx1"/>
          </a:fontRef>
        </p:style>
      </p:cxnSp>
      <p:sp>
        <p:nvSpPr>
          <p:cNvPr id="111" name="TextBox 110"/>
          <p:cNvSpPr txBox="1"/>
          <p:nvPr/>
        </p:nvSpPr>
        <p:spPr>
          <a:xfrm>
            <a:off x="6274689" y="6062472"/>
            <a:ext cx="252603" cy="256032"/>
          </a:xfrm>
          <a:prstGeom prst="rect">
            <a:avLst/>
          </a:prstGeom>
          <a:noFill/>
        </p:spPr>
        <p:txBody>
          <a:bodyPr wrap="none" lIns="0" rIns="0" tIns="0" bIns="0">
            <a:spAutoFit/>
          </a:bodyPr>
          <a:lstStyle/>
          <a:p>
            <a:pPr algn="ctr">
              <a:lnSpc>
                <a:spcPts val="2240"/>
              </a:lnSpc>
              <a:spcAft>
                <a:spcPts val="0"/>
              </a:spcAft>
              <a:defRPr sz="2000" b="0">
                <a:solidFill>
                  <a:srgbClr val="182B3A"/>
                </a:solidFill>
                <a:latin typeface="Arial"/>
              </a:defRPr>
            </a:pPr>
            <a:r>
              <a:t>4</a:t>
            </a:r>
          </a:p>
        </p:txBody>
      </p:sp>
      <p:sp>
        <p:nvSpPr>
          <p:cNvPr id="112" name="Rectangle 111"/>
          <p:cNvSpPr/>
          <p:nvPr/>
        </p:nvSpPr>
        <p:spPr>
          <a:xfrm>
            <a:off x="4983480" y="6611112"/>
            <a:ext cx="4640580" cy="1005840"/>
          </a:xfrm>
          <a:prstGeom prst="rect">
            <a:avLst/>
          </a:prstGeom>
          <a:solidFill>
            <a:srgbClr val="EFF3FA"/>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3" name="TextBox 112"/>
          <p:cNvSpPr txBox="1"/>
          <p:nvPr/>
        </p:nvSpPr>
        <p:spPr>
          <a:xfrm>
            <a:off x="5074920" y="6867144"/>
            <a:ext cx="320040" cy="365760"/>
          </a:xfrm>
          <a:prstGeom prst="rect">
            <a:avLst/>
          </a:prstGeom>
          <a:noFill/>
        </p:spPr>
        <p:txBody>
          <a:bodyPr wrap="square" lIns="54864" rIns="54864" tIns="22860" bIns="22860">
            <a:spAutoFit/>
          </a:bodyPr>
          <a:lstStyle/>
          <a:p>
            <a:pPr>
              <a:lnSpc>
                <a:spcPts val="2205"/>
              </a:lnSpc>
              <a:spcBef>
                <a:spcPts val="0"/>
              </a:spcBef>
              <a:spcAft>
                <a:spcPts val="0"/>
              </a:spcAft>
              <a:defRPr sz="2100" b="1">
                <a:solidFill>
                  <a:srgbClr val="182B3A"/>
                </a:solidFill>
                <a:latin typeface="Arial"/>
              </a:defRPr>
            </a:pPr>
            <a:r>
              <a:t>6.</a:t>
            </a:r>
          </a:p>
        </p:txBody>
      </p:sp>
      <p:sp>
        <p:nvSpPr>
          <p:cNvPr id="114" name="TextBox 113"/>
          <p:cNvSpPr txBox="1"/>
          <p:nvPr/>
        </p:nvSpPr>
        <p:spPr>
          <a:xfrm>
            <a:off x="5577840" y="6784848"/>
            <a:ext cx="252603" cy="256032"/>
          </a:xfrm>
          <a:prstGeom prst="rect">
            <a:avLst/>
          </a:prstGeom>
          <a:noFill/>
        </p:spPr>
        <p:txBody>
          <a:bodyPr wrap="none" lIns="0" rIns="0" tIns="0" bIns="0">
            <a:spAutoFit/>
          </a:bodyPr>
          <a:lstStyle/>
          <a:p>
            <a:pPr algn="ctr">
              <a:lnSpc>
                <a:spcPts val="2240"/>
              </a:lnSpc>
              <a:spcAft>
                <a:spcPts val="0"/>
              </a:spcAft>
              <a:defRPr sz="2000" b="0">
                <a:solidFill>
                  <a:srgbClr val="182B3A"/>
                </a:solidFill>
                <a:latin typeface="Arial"/>
              </a:defRPr>
            </a:pPr>
            <a:r>
              <a:t>1</a:t>
            </a:r>
          </a:p>
        </p:txBody>
      </p:sp>
      <p:cxnSp>
        <p:nvCxnSpPr>
          <p:cNvPr id="115" name="Connector 114"/>
          <p:cNvCxnSpPr/>
          <p:nvPr/>
        </p:nvCxnSpPr>
        <p:spPr>
          <a:xfrm>
            <a:off x="5577840" y="7050024"/>
            <a:ext cx="252603" cy="0"/>
          </a:xfrm>
          <a:prstGeom prst="line">
            <a:avLst/>
          </a:prstGeom>
          <a:ln w="12700">
            <a:solidFill>
              <a:srgbClr val="182B3A"/>
            </a:solidFill>
          </a:ln>
          <a:effectLst/>
        </p:spPr>
        <p:style>
          <a:lnRef idx="2">
            <a:schemeClr val="accent1"/>
          </a:lnRef>
          <a:fillRef idx="0">
            <a:schemeClr val="accent1"/>
          </a:fillRef>
          <a:effectRef idx="1">
            <a:schemeClr val="accent1"/>
          </a:effectRef>
          <a:fontRef idx="minor">
            <a:schemeClr val="tx1"/>
          </a:fontRef>
        </p:style>
      </p:cxnSp>
      <p:sp>
        <p:nvSpPr>
          <p:cNvPr id="116" name="TextBox 115"/>
          <p:cNvSpPr txBox="1"/>
          <p:nvPr/>
        </p:nvSpPr>
        <p:spPr>
          <a:xfrm>
            <a:off x="5577840" y="7068312"/>
            <a:ext cx="252603" cy="256032"/>
          </a:xfrm>
          <a:prstGeom prst="rect">
            <a:avLst/>
          </a:prstGeom>
          <a:noFill/>
        </p:spPr>
        <p:txBody>
          <a:bodyPr wrap="none" lIns="0" rIns="0" tIns="0" bIns="0">
            <a:spAutoFit/>
          </a:bodyPr>
          <a:lstStyle/>
          <a:p>
            <a:pPr algn="ctr">
              <a:lnSpc>
                <a:spcPts val="2240"/>
              </a:lnSpc>
              <a:spcAft>
                <a:spcPts val="0"/>
              </a:spcAft>
              <a:defRPr sz="2000" b="0">
                <a:solidFill>
                  <a:srgbClr val="182B3A"/>
                </a:solidFill>
                <a:latin typeface="Arial"/>
              </a:defRPr>
            </a:pPr>
            <a:r>
              <a:t>3</a:t>
            </a:r>
          </a:p>
        </p:txBody>
      </p:sp>
      <p:sp>
        <p:nvSpPr>
          <p:cNvPr id="117" name="TextBox 116"/>
          <p:cNvSpPr txBox="1"/>
          <p:nvPr/>
        </p:nvSpPr>
        <p:spPr>
          <a:xfrm>
            <a:off x="5885307" y="6903720"/>
            <a:ext cx="389381" cy="347472"/>
          </a:xfrm>
          <a:prstGeom prst="rect">
            <a:avLst/>
          </a:prstGeom>
          <a:noFill/>
        </p:spPr>
        <p:txBody>
          <a:bodyPr wrap="none" lIns="0" rIns="0" tIns="0" bIns="0">
            <a:spAutoFit/>
          </a:bodyPr>
          <a:lstStyle/>
          <a:p>
            <a:pPr algn="l">
              <a:lnSpc>
                <a:spcPts val="2800"/>
              </a:lnSpc>
              <a:spcAft>
                <a:spcPts val="0"/>
              </a:spcAft>
              <a:defRPr sz="2500" b="0">
                <a:solidFill>
                  <a:srgbClr val="182B3A"/>
                </a:solidFill>
                <a:latin typeface="Arial"/>
              </a:defRPr>
            </a:pPr>
            <a:r>
              <a:t> + </a:t>
            </a:r>
          </a:p>
        </p:txBody>
      </p:sp>
      <p:sp>
        <p:nvSpPr>
          <p:cNvPr id="118" name="TextBox 117"/>
          <p:cNvSpPr txBox="1"/>
          <p:nvPr/>
        </p:nvSpPr>
        <p:spPr>
          <a:xfrm>
            <a:off x="6274689" y="6784848"/>
            <a:ext cx="252603" cy="256032"/>
          </a:xfrm>
          <a:prstGeom prst="rect">
            <a:avLst/>
          </a:prstGeom>
          <a:noFill/>
        </p:spPr>
        <p:txBody>
          <a:bodyPr wrap="none" lIns="0" rIns="0" tIns="0" bIns="0">
            <a:spAutoFit/>
          </a:bodyPr>
          <a:lstStyle/>
          <a:p>
            <a:pPr algn="ctr">
              <a:lnSpc>
                <a:spcPts val="2240"/>
              </a:lnSpc>
              <a:spcAft>
                <a:spcPts val="0"/>
              </a:spcAft>
              <a:defRPr sz="2000" b="0">
                <a:solidFill>
                  <a:srgbClr val="182B3A"/>
                </a:solidFill>
                <a:latin typeface="Arial"/>
              </a:defRPr>
            </a:pPr>
            <a:r>
              <a:t>1</a:t>
            </a:r>
          </a:p>
        </p:txBody>
      </p:sp>
      <p:cxnSp>
        <p:nvCxnSpPr>
          <p:cNvPr id="119" name="Connector 118"/>
          <p:cNvCxnSpPr/>
          <p:nvPr/>
        </p:nvCxnSpPr>
        <p:spPr>
          <a:xfrm>
            <a:off x="6274689" y="7050024"/>
            <a:ext cx="252603" cy="0"/>
          </a:xfrm>
          <a:prstGeom prst="line">
            <a:avLst/>
          </a:prstGeom>
          <a:ln w="12700">
            <a:solidFill>
              <a:srgbClr val="182B3A"/>
            </a:solidFill>
          </a:ln>
          <a:effectLst/>
        </p:spPr>
        <p:style>
          <a:lnRef idx="2">
            <a:schemeClr val="accent1"/>
          </a:lnRef>
          <a:fillRef idx="0">
            <a:schemeClr val="accent1"/>
          </a:fillRef>
          <a:effectRef idx="1">
            <a:schemeClr val="accent1"/>
          </a:effectRef>
          <a:fontRef idx="minor">
            <a:schemeClr val="tx1"/>
          </a:fontRef>
        </p:style>
      </p:cxnSp>
      <p:sp>
        <p:nvSpPr>
          <p:cNvPr id="120" name="TextBox 119"/>
          <p:cNvSpPr txBox="1"/>
          <p:nvPr/>
        </p:nvSpPr>
        <p:spPr>
          <a:xfrm>
            <a:off x="6274689" y="7068312"/>
            <a:ext cx="252603" cy="256032"/>
          </a:xfrm>
          <a:prstGeom prst="rect">
            <a:avLst/>
          </a:prstGeom>
          <a:noFill/>
        </p:spPr>
        <p:txBody>
          <a:bodyPr wrap="none" lIns="0" rIns="0" tIns="0" bIns="0">
            <a:spAutoFit/>
          </a:bodyPr>
          <a:lstStyle/>
          <a:p>
            <a:pPr algn="ctr">
              <a:lnSpc>
                <a:spcPts val="2240"/>
              </a:lnSpc>
              <a:spcAft>
                <a:spcPts val="0"/>
              </a:spcAft>
              <a:defRPr sz="2000" b="0">
                <a:solidFill>
                  <a:srgbClr val="182B3A"/>
                </a:solidFill>
                <a:latin typeface="Arial"/>
              </a:defRPr>
            </a:pPr>
            <a:r>
              <a:t>9</a:t>
            </a:r>
          </a:p>
        </p:txBody>
      </p:sp>
      <p:sp>
        <p:nvSpPr>
          <p:cNvPr id="121" name="Rectangle 120"/>
          <p:cNvSpPr/>
          <p:nvPr/>
        </p:nvSpPr>
        <p:spPr>
          <a:xfrm>
            <a:off x="9646920" y="1581912"/>
            <a:ext cx="4640580" cy="1005840"/>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2" name="TextBox 121"/>
          <p:cNvSpPr txBox="1"/>
          <p:nvPr/>
        </p:nvSpPr>
        <p:spPr>
          <a:xfrm>
            <a:off x="9738360" y="1837943"/>
            <a:ext cx="320040" cy="365760"/>
          </a:xfrm>
          <a:prstGeom prst="rect">
            <a:avLst/>
          </a:prstGeom>
          <a:noFill/>
        </p:spPr>
        <p:txBody>
          <a:bodyPr wrap="square" lIns="54864" rIns="54864" tIns="22860" bIns="22860">
            <a:spAutoFit/>
          </a:bodyPr>
          <a:lstStyle/>
          <a:p>
            <a:pPr>
              <a:lnSpc>
                <a:spcPts val="2205"/>
              </a:lnSpc>
              <a:spcBef>
                <a:spcPts val="0"/>
              </a:spcBef>
              <a:spcAft>
                <a:spcPts val="0"/>
              </a:spcAft>
              <a:defRPr sz="2100" b="1">
                <a:solidFill>
                  <a:srgbClr val="182B3A"/>
                </a:solidFill>
                <a:latin typeface="Arial"/>
              </a:defRPr>
            </a:pPr>
            <a:r>
              <a:t>1.</a:t>
            </a:r>
          </a:p>
        </p:txBody>
      </p:sp>
      <p:sp>
        <p:nvSpPr>
          <p:cNvPr id="123" name="TextBox 122"/>
          <p:cNvSpPr txBox="1"/>
          <p:nvPr/>
        </p:nvSpPr>
        <p:spPr>
          <a:xfrm>
            <a:off x="10241280" y="1874519"/>
            <a:ext cx="294132" cy="347472"/>
          </a:xfrm>
          <a:prstGeom prst="rect">
            <a:avLst/>
          </a:prstGeom>
          <a:noFill/>
        </p:spPr>
        <p:txBody>
          <a:bodyPr wrap="none" lIns="0" rIns="0" tIns="0" bIns="0">
            <a:spAutoFit/>
          </a:bodyPr>
          <a:lstStyle/>
          <a:p>
            <a:pPr algn="l">
              <a:lnSpc>
                <a:spcPts val="2800"/>
              </a:lnSpc>
              <a:spcAft>
                <a:spcPts val="0"/>
              </a:spcAft>
              <a:defRPr sz="2500" b="0">
                <a:solidFill>
                  <a:srgbClr val="182B3A"/>
                </a:solidFill>
                <a:latin typeface="Arial"/>
              </a:defRPr>
            </a:pPr>
            <a:r>
              <a:t>1 </a:t>
            </a:r>
          </a:p>
        </p:txBody>
      </p:sp>
      <p:sp>
        <p:nvSpPr>
          <p:cNvPr id="124" name="TextBox 123"/>
          <p:cNvSpPr txBox="1"/>
          <p:nvPr/>
        </p:nvSpPr>
        <p:spPr>
          <a:xfrm>
            <a:off x="10535412" y="1755648"/>
            <a:ext cx="252603" cy="256032"/>
          </a:xfrm>
          <a:prstGeom prst="rect">
            <a:avLst/>
          </a:prstGeom>
          <a:noFill/>
        </p:spPr>
        <p:txBody>
          <a:bodyPr wrap="none" lIns="0" rIns="0" tIns="0" bIns="0">
            <a:spAutoFit/>
          </a:bodyPr>
          <a:lstStyle/>
          <a:p>
            <a:pPr algn="ctr">
              <a:lnSpc>
                <a:spcPts val="2240"/>
              </a:lnSpc>
              <a:spcAft>
                <a:spcPts val="0"/>
              </a:spcAft>
              <a:defRPr sz="2000" b="0">
                <a:solidFill>
                  <a:srgbClr val="182B3A"/>
                </a:solidFill>
                <a:latin typeface="Arial"/>
              </a:defRPr>
            </a:pPr>
            <a:r>
              <a:t>5</a:t>
            </a:r>
          </a:p>
        </p:txBody>
      </p:sp>
      <p:cxnSp>
        <p:nvCxnSpPr>
          <p:cNvPr id="125" name="Connector 124"/>
          <p:cNvCxnSpPr/>
          <p:nvPr/>
        </p:nvCxnSpPr>
        <p:spPr>
          <a:xfrm>
            <a:off x="10535412" y="2020824"/>
            <a:ext cx="252603" cy="0"/>
          </a:xfrm>
          <a:prstGeom prst="line">
            <a:avLst/>
          </a:prstGeom>
          <a:ln w="12700">
            <a:solidFill>
              <a:srgbClr val="182B3A"/>
            </a:solidFill>
          </a:ln>
          <a:effectLst/>
        </p:spPr>
        <p:style>
          <a:lnRef idx="2">
            <a:schemeClr val="accent1"/>
          </a:lnRef>
          <a:fillRef idx="0">
            <a:schemeClr val="accent1"/>
          </a:fillRef>
          <a:effectRef idx="1">
            <a:schemeClr val="accent1"/>
          </a:effectRef>
          <a:fontRef idx="minor">
            <a:schemeClr val="tx1"/>
          </a:fontRef>
        </p:style>
      </p:cxnSp>
      <p:sp>
        <p:nvSpPr>
          <p:cNvPr id="126" name="TextBox 125"/>
          <p:cNvSpPr txBox="1"/>
          <p:nvPr/>
        </p:nvSpPr>
        <p:spPr>
          <a:xfrm>
            <a:off x="10535412" y="2039112"/>
            <a:ext cx="252603" cy="256032"/>
          </a:xfrm>
          <a:prstGeom prst="rect">
            <a:avLst/>
          </a:prstGeom>
          <a:noFill/>
        </p:spPr>
        <p:txBody>
          <a:bodyPr wrap="none" lIns="0" rIns="0" tIns="0" bIns="0">
            <a:spAutoFit/>
          </a:bodyPr>
          <a:lstStyle/>
          <a:p>
            <a:pPr algn="ctr">
              <a:lnSpc>
                <a:spcPts val="2240"/>
              </a:lnSpc>
              <a:spcAft>
                <a:spcPts val="0"/>
              </a:spcAft>
              <a:defRPr sz="2000" b="0">
                <a:solidFill>
                  <a:srgbClr val="182B3A"/>
                </a:solidFill>
                <a:latin typeface="Arial"/>
              </a:defRPr>
            </a:pPr>
            <a:r>
              <a:t>6</a:t>
            </a:r>
          </a:p>
        </p:txBody>
      </p:sp>
      <p:sp>
        <p:nvSpPr>
          <p:cNvPr id="127" name="TextBox 126"/>
          <p:cNvSpPr txBox="1"/>
          <p:nvPr/>
        </p:nvSpPr>
        <p:spPr>
          <a:xfrm>
            <a:off x="10842879" y="1874519"/>
            <a:ext cx="389381" cy="347472"/>
          </a:xfrm>
          <a:prstGeom prst="rect">
            <a:avLst/>
          </a:prstGeom>
          <a:noFill/>
        </p:spPr>
        <p:txBody>
          <a:bodyPr wrap="none" lIns="0" rIns="0" tIns="0" bIns="0">
            <a:spAutoFit/>
          </a:bodyPr>
          <a:lstStyle/>
          <a:p>
            <a:pPr algn="l">
              <a:lnSpc>
                <a:spcPts val="2800"/>
              </a:lnSpc>
              <a:spcAft>
                <a:spcPts val="0"/>
              </a:spcAft>
              <a:defRPr sz="2500" b="0">
                <a:solidFill>
                  <a:srgbClr val="182B3A"/>
                </a:solidFill>
                <a:latin typeface="Arial"/>
              </a:defRPr>
            </a:pPr>
            <a:r>
              <a:t> + </a:t>
            </a:r>
          </a:p>
        </p:txBody>
      </p:sp>
      <p:sp>
        <p:nvSpPr>
          <p:cNvPr id="128" name="TextBox 127"/>
          <p:cNvSpPr txBox="1"/>
          <p:nvPr/>
        </p:nvSpPr>
        <p:spPr>
          <a:xfrm>
            <a:off x="11232261" y="1755648"/>
            <a:ext cx="252603" cy="256032"/>
          </a:xfrm>
          <a:prstGeom prst="rect">
            <a:avLst/>
          </a:prstGeom>
          <a:noFill/>
        </p:spPr>
        <p:txBody>
          <a:bodyPr wrap="none" lIns="0" rIns="0" tIns="0" bIns="0">
            <a:spAutoFit/>
          </a:bodyPr>
          <a:lstStyle/>
          <a:p>
            <a:pPr algn="ctr">
              <a:lnSpc>
                <a:spcPts val="2240"/>
              </a:lnSpc>
              <a:spcAft>
                <a:spcPts val="0"/>
              </a:spcAft>
              <a:defRPr sz="2000" b="0">
                <a:solidFill>
                  <a:srgbClr val="182B3A"/>
                </a:solidFill>
                <a:latin typeface="Arial"/>
              </a:defRPr>
            </a:pPr>
            <a:r>
              <a:t>2</a:t>
            </a:r>
          </a:p>
        </p:txBody>
      </p:sp>
      <p:cxnSp>
        <p:nvCxnSpPr>
          <p:cNvPr id="129" name="Connector 128"/>
          <p:cNvCxnSpPr/>
          <p:nvPr/>
        </p:nvCxnSpPr>
        <p:spPr>
          <a:xfrm>
            <a:off x="11232261" y="2020824"/>
            <a:ext cx="252603" cy="0"/>
          </a:xfrm>
          <a:prstGeom prst="line">
            <a:avLst/>
          </a:prstGeom>
          <a:ln w="12700">
            <a:solidFill>
              <a:srgbClr val="182B3A"/>
            </a:solidFill>
          </a:ln>
          <a:effectLst/>
        </p:spPr>
        <p:style>
          <a:lnRef idx="2">
            <a:schemeClr val="accent1"/>
          </a:lnRef>
          <a:fillRef idx="0">
            <a:schemeClr val="accent1"/>
          </a:fillRef>
          <a:effectRef idx="1">
            <a:schemeClr val="accent1"/>
          </a:effectRef>
          <a:fontRef idx="minor">
            <a:schemeClr val="tx1"/>
          </a:fontRef>
        </p:style>
      </p:cxnSp>
      <p:sp>
        <p:nvSpPr>
          <p:cNvPr id="130" name="TextBox 129"/>
          <p:cNvSpPr txBox="1"/>
          <p:nvPr/>
        </p:nvSpPr>
        <p:spPr>
          <a:xfrm>
            <a:off x="11232261" y="2039112"/>
            <a:ext cx="252603" cy="256032"/>
          </a:xfrm>
          <a:prstGeom prst="rect">
            <a:avLst/>
          </a:prstGeom>
          <a:noFill/>
        </p:spPr>
        <p:txBody>
          <a:bodyPr wrap="none" lIns="0" rIns="0" tIns="0" bIns="0">
            <a:spAutoFit/>
          </a:bodyPr>
          <a:lstStyle/>
          <a:p>
            <a:pPr algn="ctr">
              <a:lnSpc>
                <a:spcPts val="2240"/>
              </a:lnSpc>
              <a:spcAft>
                <a:spcPts val="0"/>
              </a:spcAft>
              <a:defRPr sz="2000" b="0">
                <a:solidFill>
                  <a:srgbClr val="182B3A"/>
                </a:solidFill>
                <a:latin typeface="Arial"/>
              </a:defRPr>
            </a:pPr>
            <a:r>
              <a:t>5</a:t>
            </a:r>
          </a:p>
        </p:txBody>
      </p:sp>
      <p:sp>
        <p:nvSpPr>
          <p:cNvPr id="131" name="Rectangle 130"/>
          <p:cNvSpPr/>
          <p:nvPr/>
        </p:nvSpPr>
        <p:spPr>
          <a:xfrm>
            <a:off x="9646920" y="2587752"/>
            <a:ext cx="4640580" cy="1005840"/>
          </a:xfrm>
          <a:prstGeom prst="rect">
            <a:avLst/>
          </a:prstGeom>
          <a:solidFill>
            <a:srgbClr val="F5F0F7"/>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2" name="TextBox 131"/>
          <p:cNvSpPr txBox="1"/>
          <p:nvPr/>
        </p:nvSpPr>
        <p:spPr>
          <a:xfrm>
            <a:off x="9738360" y="2843784"/>
            <a:ext cx="320040" cy="365760"/>
          </a:xfrm>
          <a:prstGeom prst="rect">
            <a:avLst/>
          </a:prstGeom>
          <a:noFill/>
        </p:spPr>
        <p:txBody>
          <a:bodyPr wrap="square" lIns="54864" rIns="54864" tIns="22860" bIns="22860">
            <a:spAutoFit/>
          </a:bodyPr>
          <a:lstStyle/>
          <a:p>
            <a:pPr>
              <a:lnSpc>
                <a:spcPts val="2205"/>
              </a:lnSpc>
              <a:spcBef>
                <a:spcPts val="0"/>
              </a:spcBef>
              <a:spcAft>
                <a:spcPts val="0"/>
              </a:spcAft>
              <a:defRPr sz="2100" b="1">
                <a:solidFill>
                  <a:srgbClr val="182B3A"/>
                </a:solidFill>
                <a:latin typeface="Arial"/>
              </a:defRPr>
            </a:pPr>
            <a:r>
              <a:t>2.</a:t>
            </a:r>
          </a:p>
        </p:txBody>
      </p:sp>
      <p:sp>
        <p:nvSpPr>
          <p:cNvPr id="133" name="TextBox 132"/>
          <p:cNvSpPr txBox="1"/>
          <p:nvPr/>
        </p:nvSpPr>
        <p:spPr>
          <a:xfrm>
            <a:off x="10241280" y="2880360"/>
            <a:ext cx="294132" cy="347472"/>
          </a:xfrm>
          <a:prstGeom prst="rect">
            <a:avLst/>
          </a:prstGeom>
          <a:noFill/>
        </p:spPr>
        <p:txBody>
          <a:bodyPr wrap="none" lIns="0" rIns="0" tIns="0" bIns="0">
            <a:spAutoFit/>
          </a:bodyPr>
          <a:lstStyle/>
          <a:p>
            <a:pPr algn="l">
              <a:lnSpc>
                <a:spcPts val="2800"/>
              </a:lnSpc>
              <a:spcAft>
                <a:spcPts val="0"/>
              </a:spcAft>
              <a:defRPr sz="2500" b="0">
                <a:solidFill>
                  <a:srgbClr val="182B3A"/>
                </a:solidFill>
                <a:latin typeface="Arial"/>
              </a:defRPr>
            </a:pPr>
            <a:r>
              <a:t>1 </a:t>
            </a:r>
          </a:p>
        </p:txBody>
      </p:sp>
      <p:sp>
        <p:nvSpPr>
          <p:cNvPr id="134" name="TextBox 133"/>
          <p:cNvSpPr txBox="1"/>
          <p:nvPr/>
        </p:nvSpPr>
        <p:spPr>
          <a:xfrm>
            <a:off x="10535412" y="2761488"/>
            <a:ext cx="252603" cy="256032"/>
          </a:xfrm>
          <a:prstGeom prst="rect">
            <a:avLst/>
          </a:prstGeom>
          <a:noFill/>
        </p:spPr>
        <p:txBody>
          <a:bodyPr wrap="none" lIns="0" rIns="0" tIns="0" bIns="0">
            <a:spAutoFit/>
          </a:bodyPr>
          <a:lstStyle/>
          <a:p>
            <a:pPr algn="ctr">
              <a:lnSpc>
                <a:spcPts val="2240"/>
              </a:lnSpc>
              <a:spcAft>
                <a:spcPts val="0"/>
              </a:spcAft>
              <a:defRPr sz="2000" b="0">
                <a:solidFill>
                  <a:srgbClr val="182B3A"/>
                </a:solidFill>
                <a:latin typeface="Arial"/>
              </a:defRPr>
            </a:pPr>
            <a:r>
              <a:t>3</a:t>
            </a:r>
          </a:p>
        </p:txBody>
      </p:sp>
      <p:cxnSp>
        <p:nvCxnSpPr>
          <p:cNvPr id="135" name="Connector 134"/>
          <p:cNvCxnSpPr/>
          <p:nvPr/>
        </p:nvCxnSpPr>
        <p:spPr>
          <a:xfrm>
            <a:off x="10535412" y="3026664"/>
            <a:ext cx="252603" cy="0"/>
          </a:xfrm>
          <a:prstGeom prst="line">
            <a:avLst/>
          </a:prstGeom>
          <a:ln w="12700">
            <a:solidFill>
              <a:srgbClr val="182B3A"/>
            </a:solidFill>
          </a:ln>
          <a:effectLst/>
        </p:spPr>
        <p:style>
          <a:lnRef idx="2">
            <a:schemeClr val="accent1"/>
          </a:lnRef>
          <a:fillRef idx="0">
            <a:schemeClr val="accent1"/>
          </a:fillRef>
          <a:effectRef idx="1">
            <a:schemeClr val="accent1"/>
          </a:effectRef>
          <a:fontRef idx="minor">
            <a:schemeClr val="tx1"/>
          </a:fontRef>
        </p:style>
      </p:cxnSp>
      <p:sp>
        <p:nvSpPr>
          <p:cNvPr id="136" name="TextBox 135"/>
          <p:cNvSpPr txBox="1"/>
          <p:nvPr/>
        </p:nvSpPr>
        <p:spPr>
          <a:xfrm>
            <a:off x="10535412" y="3044952"/>
            <a:ext cx="252603" cy="256032"/>
          </a:xfrm>
          <a:prstGeom prst="rect">
            <a:avLst/>
          </a:prstGeom>
          <a:noFill/>
        </p:spPr>
        <p:txBody>
          <a:bodyPr wrap="none" lIns="0" rIns="0" tIns="0" bIns="0">
            <a:spAutoFit/>
          </a:bodyPr>
          <a:lstStyle/>
          <a:p>
            <a:pPr algn="ctr">
              <a:lnSpc>
                <a:spcPts val="2240"/>
              </a:lnSpc>
              <a:spcAft>
                <a:spcPts val="0"/>
              </a:spcAft>
              <a:defRPr sz="2000" b="0">
                <a:solidFill>
                  <a:srgbClr val="182B3A"/>
                </a:solidFill>
                <a:latin typeface="Arial"/>
              </a:defRPr>
            </a:pPr>
            <a:r>
              <a:t>4</a:t>
            </a:r>
          </a:p>
        </p:txBody>
      </p:sp>
      <p:sp>
        <p:nvSpPr>
          <p:cNvPr id="137" name="TextBox 136"/>
          <p:cNvSpPr txBox="1"/>
          <p:nvPr/>
        </p:nvSpPr>
        <p:spPr>
          <a:xfrm>
            <a:off x="10842879" y="2880360"/>
            <a:ext cx="389381" cy="347472"/>
          </a:xfrm>
          <a:prstGeom prst="rect">
            <a:avLst/>
          </a:prstGeom>
          <a:noFill/>
        </p:spPr>
        <p:txBody>
          <a:bodyPr wrap="none" lIns="0" rIns="0" tIns="0" bIns="0">
            <a:spAutoFit/>
          </a:bodyPr>
          <a:lstStyle/>
          <a:p>
            <a:pPr algn="l">
              <a:lnSpc>
                <a:spcPts val="2800"/>
              </a:lnSpc>
              <a:spcAft>
                <a:spcPts val="0"/>
              </a:spcAft>
              <a:defRPr sz="2500" b="0">
                <a:solidFill>
                  <a:srgbClr val="182B3A"/>
                </a:solidFill>
                <a:latin typeface="Arial"/>
              </a:defRPr>
            </a:pPr>
            <a:r>
              <a:t> + </a:t>
            </a:r>
          </a:p>
        </p:txBody>
      </p:sp>
      <p:sp>
        <p:nvSpPr>
          <p:cNvPr id="138" name="TextBox 137"/>
          <p:cNvSpPr txBox="1"/>
          <p:nvPr/>
        </p:nvSpPr>
        <p:spPr>
          <a:xfrm>
            <a:off x="11232261" y="2761488"/>
            <a:ext cx="252603" cy="256032"/>
          </a:xfrm>
          <a:prstGeom prst="rect">
            <a:avLst/>
          </a:prstGeom>
          <a:noFill/>
        </p:spPr>
        <p:txBody>
          <a:bodyPr wrap="none" lIns="0" rIns="0" tIns="0" bIns="0">
            <a:spAutoFit/>
          </a:bodyPr>
          <a:lstStyle/>
          <a:p>
            <a:pPr algn="ctr">
              <a:lnSpc>
                <a:spcPts val="2240"/>
              </a:lnSpc>
              <a:spcAft>
                <a:spcPts val="0"/>
              </a:spcAft>
              <a:defRPr sz="2000" b="0">
                <a:solidFill>
                  <a:srgbClr val="182B3A"/>
                </a:solidFill>
                <a:latin typeface="Arial"/>
              </a:defRPr>
            </a:pPr>
            <a:r>
              <a:t>4</a:t>
            </a:r>
          </a:p>
        </p:txBody>
      </p:sp>
      <p:cxnSp>
        <p:nvCxnSpPr>
          <p:cNvPr id="139" name="Connector 138"/>
          <p:cNvCxnSpPr/>
          <p:nvPr/>
        </p:nvCxnSpPr>
        <p:spPr>
          <a:xfrm>
            <a:off x="11232261" y="3026664"/>
            <a:ext cx="252603" cy="0"/>
          </a:xfrm>
          <a:prstGeom prst="line">
            <a:avLst/>
          </a:prstGeom>
          <a:ln w="12700">
            <a:solidFill>
              <a:srgbClr val="182B3A"/>
            </a:solidFill>
          </a:ln>
          <a:effectLst/>
        </p:spPr>
        <p:style>
          <a:lnRef idx="2">
            <a:schemeClr val="accent1"/>
          </a:lnRef>
          <a:fillRef idx="0">
            <a:schemeClr val="accent1"/>
          </a:fillRef>
          <a:effectRef idx="1">
            <a:schemeClr val="accent1"/>
          </a:effectRef>
          <a:fontRef idx="minor">
            <a:schemeClr val="tx1"/>
          </a:fontRef>
        </p:style>
      </p:cxnSp>
      <p:sp>
        <p:nvSpPr>
          <p:cNvPr id="140" name="TextBox 139"/>
          <p:cNvSpPr txBox="1"/>
          <p:nvPr/>
        </p:nvSpPr>
        <p:spPr>
          <a:xfrm>
            <a:off x="11232261" y="3044952"/>
            <a:ext cx="252603" cy="256032"/>
          </a:xfrm>
          <a:prstGeom prst="rect">
            <a:avLst/>
          </a:prstGeom>
          <a:noFill/>
        </p:spPr>
        <p:txBody>
          <a:bodyPr wrap="none" lIns="0" rIns="0" tIns="0" bIns="0">
            <a:spAutoFit/>
          </a:bodyPr>
          <a:lstStyle/>
          <a:p>
            <a:pPr algn="ctr">
              <a:lnSpc>
                <a:spcPts val="2240"/>
              </a:lnSpc>
              <a:spcAft>
                <a:spcPts val="0"/>
              </a:spcAft>
              <a:defRPr sz="2000" b="0">
                <a:solidFill>
                  <a:srgbClr val="182B3A"/>
                </a:solidFill>
                <a:latin typeface="Arial"/>
              </a:defRPr>
            </a:pPr>
            <a:r>
              <a:t>7</a:t>
            </a:r>
          </a:p>
        </p:txBody>
      </p:sp>
      <p:sp>
        <p:nvSpPr>
          <p:cNvPr id="141" name="Rectangle 140"/>
          <p:cNvSpPr/>
          <p:nvPr/>
        </p:nvSpPr>
        <p:spPr>
          <a:xfrm>
            <a:off x="9646920" y="3593592"/>
            <a:ext cx="4640580" cy="1005840"/>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2" name="TextBox 141"/>
          <p:cNvSpPr txBox="1"/>
          <p:nvPr/>
        </p:nvSpPr>
        <p:spPr>
          <a:xfrm>
            <a:off x="9738360" y="3849624"/>
            <a:ext cx="320040" cy="365760"/>
          </a:xfrm>
          <a:prstGeom prst="rect">
            <a:avLst/>
          </a:prstGeom>
          <a:noFill/>
        </p:spPr>
        <p:txBody>
          <a:bodyPr wrap="square" lIns="54864" rIns="54864" tIns="22860" bIns="22860">
            <a:spAutoFit/>
          </a:bodyPr>
          <a:lstStyle/>
          <a:p>
            <a:pPr>
              <a:lnSpc>
                <a:spcPts val="2205"/>
              </a:lnSpc>
              <a:spcBef>
                <a:spcPts val="0"/>
              </a:spcBef>
              <a:spcAft>
                <a:spcPts val="0"/>
              </a:spcAft>
              <a:defRPr sz="2100" b="1">
                <a:solidFill>
                  <a:srgbClr val="182B3A"/>
                </a:solidFill>
                <a:latin typeface="Arial"/>
              </a:defRPr>
            </a:pPr>
            <a:r>
              <a:t>3.</a:t>
            </a:r>
          </a:p>
        </p:txBody>
      </p:sp>
      <p:sp>
        <p:nvSpPr>
          <p:cNvPr id="143" name="TextBox 142"/>
          <p:cNvSpPr txBox="1"/>
          <p:nvPr/>
        </p:nvSpPr>
        <p:spPr>
          <a:xfrm>
            <a:off x="10241280" y="3886200"/>
            <a:ext cx="294132" cy="347472"/>
          </a:xfrm>
          <a:prstGeom prst="rect">
            <a:avLst/>
          </a:prstGeom>
          <a:noFill/>
        </p:spPr>
        <p:txBody>
          <a:bodyPr wrap="none" lIns="0" rIns="0" tIns="0" bIns="0">
            <a:spAutoFit/>
          </a:bodyPr>
          <a:lstStyle/>
          <a:p>
            <a:pPr algn="l">
              <a:lnSpc>
                <a:spcPts val="2800"/>
              </a:lnSpc>
              <a:spcAft>
                <a:spcPts val="0"/>
              </a:spcAft>
              <a:defRPr sz="2500" b="0">
                <a:solidFill>
                  <a:srgbClr val="182B3A"/>
                </a:solidFill>
                <a:latin typeface="Arial"/>
              </a:defRPr>
            </a:pPr>
            <a:r>
              <a:t>1 </a:t>
            </a:r>
          </a:p>
        </p:txBody>
      </p:sp>
      <p:sp>
        <p:nvSpPr>
          <p:cNvPr id="144" name="TextBox 143"/>
          <p:cNvSpPr txBox="1"/>
          <p:nvPr/>
        </p:nvSpPr>
        <p:spPr>
          <a:xfrm>
            <a:off x="10535412" y="3767328"/>
            <a:ext cx="252603" cy="256032"/>
          </a:xfrm>
          <a:prstGeom prst="rect">
            <a:avLst/>
          </a:prstGeom>
          <a:noFill/>
        </p:spPr>
        <p:txBody>
          <a:bodyPr wrap="none" lIns="0" rIns="0" tIns="0" bIns="0">
            <a:spAutoFit/>
          </a:bodyPr>
          <a:lstStyle/>
          <a:p>
            <a:pPr algn="ctr">
              <a:lnSpc>
                <a:spcPts val="2240"/>
              </a:lnSpc>
              <a:spcAft>
                <a:spcPts val="0"/>
              </a:spcAft>
              <a:defRPr sz="2000" b="0">
                <a:solidFill>
                  <a:srgbClr val="182B3A"/>
                </a:solidFill>
                <a:latin typeface="Arial"/>
              </a:defRPr>
            </a:pPr>
            <a:r>
              <a:t>5</a:t>
            </a:r>
          </a:p>
        </p:txBody>
      </p:sp>
      <p:cxnSp>
        <p:nvCxnSpPr>
          <p:cNvPr id="145" name="Connector 144"/>
          <p:cNvCxnSpPr/>
          <p:nvPr/>
        </p:nvCxnSpPr>
        <p:spPr>
          <a:xfrm>
            <a:off x="10535412" y="4032504"/>
            <a:ext cx="252603" cy="0"/>
          </a:xfrm>
          <a:prstGeom prst="line">
            <a:avLst/>
          </a:prstGeom>
          <a:ln w="12700">
            <a:solidFill>
              <a:srgbClr val="182B3A"/>
            </a:solidFill>
          </a:ln>
          <a:effectLst/>
        </p:spPr>
        <p:style>
          <a:lnRef idx="2">
            <a:schemeClr val="accent1"/>
          </a:lnRef>
          <a:fillRef idx="0">
            <a:schemeClr val="accent1"/>
          </a:fillRef>
          <a:effectRef idx="1">
            <a:schemeClr val="accent1"/>
          </a:effectRef>
          <a:fontRef idx="minor">
            <a:schemeClr val="tx1"/>
          </a:fontRef>
        </p:style>
      </p:cxnSp>
      <p:sp>
        <p:nvSpPr>
          <p:cNvPr id="146" name="TextBox 145"/>
          <p:cNvSpPr txBox="1"/>
          <p:nvPr/>
        </p:nvSpPr>
        <p:spPr>
          <a:xfrm>
            <a:off x="10535412" y="4050791"/>
            <a:ext cx="252603" cy="256032"/>
          </a:xfrm>
          <a:prstGeom prst="rect">
            <a:avLst/>
          </a:prstGeom>
          <a:noFill/>
        </p:spPr>
        <p:txBody>
          <a:bodyPr wrap="none" lIns="0" rIns="0" tIns="0" bIns="0">
            <a:spAutoFit/>
          </a:bodyPr>
          <a:lstStyle/>
          <a:p>
            <a:pPr algn="ctr">
              <a:lnSpc>
                <a:spcPts val="2240"/>
              </a:lnSpc>
              <a:spcAft>
                <a:spcPts val="0"/>
              </a:spcAft>
              <a:defRPr sz="2000" b="0">
                <a:solidFill>
                  <a:srgbClr val="182B3A"/>
                </a:solidFill>
                <a:latin typeface="Arial"/>
              </a:defRPr>
            </a:pPr>
            <a:r>
              <a:t>6</a:t>
            </a:r>
          </a:p>
        </p:txBody>
      </p:sp>
      <p:sp>
        <p:nvSpPr>
          <p:cNvPr id="147" name="TextBox 146"/>
          <p:cNvSpPr txBox="1"/>
          <p:nvPr/>
        </p:nvSpPr>
        <p:spPr>
          <a:xfrm>
            <a:off x="10842879" y="3886200"/>
            <a:ext cx="389381" cy="347472"/>
          </a:xfrm>
          <a:prstGeom prst="rect">
            <a:avLst/>
          </a:prstGeom>
          <a:noFill/>
        </p:spPr>
        <p:txBody>
          <a:bodyPr wrap="none" lIns="0" rIns="0" tIns="0" bIns="0">
            <a:spAutoFit/>
          </a:bodyPr>
          <a:lstStyle/>
          <a:p>
            <a:pPr algn="l">
              <a:lnSpc>
                <a:spcPts val="2800"/>
              </a:lnSpc>
              <a:spcAft>
                <a:spcPts val="0"/>
              </a:spcAft>
              <a:defRPr sz="2500" b="0">
                <a:solidFill>
                  <a:srgbClr val="182B3A"/>
                </a:solidFill>
                <a:latin typeface="Arial"/>
              </a:defRPr>
            </a:pPr>
            <a:r>
              <a:t> − </a:t>
            </a:r>
          </a:p>
        </p:txBody>
      </p:sp>
      <p:sp>
        <p:nvSpPr>
          <p:cNvPr id="148" name="TextBox 147"/>
          <p:cNvSpPr txBox="1"/>
          <p:nvPr/>
        </p:nvSpPr>
        <p:spPr>
          <a:xfrm>
            <a:off x="11232261" y="3767328"/>
            <a:ext cx="252603" cy="256032"/>
          </a:xfrm>
          <a:prstGeom prst="rect">
            <a:avLst/>
          </a:prstGeom>
          <a:noFill/>
        </p:spPr>
        <p:txBody>
          <a:bodyPr wrap="none" lIns="0" rIns="0" tIns="0" bIns="0">
            <a:spAutoFit/>
          </a:bodyPr>
          <a:lstStyle/>
          <a:p>
            <a:pPr algn="ctr">
              <a:lnSpc>
                <a:spcPts val="2240"/>
              </a:lnSpc>
              <a:spcAft>
                <a:spcPts val="0"/>
              </a:spcAft>
              <a:defRPr sz="2000" b="0">
                <a:solidFill>
                  <a:srgbClr val="182B3A"/>
                </a:solidFill>
                <a:latin typeface="Arial"/>
              </a:defRPr>
            </a:pPr>
            <a:r>
              <a:t>1</a:t>
            </a:r>
          </a:p>
        </p:txBody>
      </p:sp>
      <p:cxnSp>
        <p:nvCxnSpPr>
          <p:cNvPr id="149" name="Connector 148"/>
          <p:cNvCxnSpPr/>
          <p:nvPr/>
        </p:nvCxnSpPr>
        <p:spPr>
          <a:xfrm>
            <a:off x="11232261" y="4032504"/>
            <a:ext cx="252603" cy="0"/>
          </a:xfrm>
          <a:prstGeom prst="line">
            <a:avLst/>
          </a:prstGeom>
          <a:ln w="12700">
            <a:solidFill>
              <a:srgbClr val="182B3A"/>
            </a:solidFill>
          </a:ln>
          <a:effectLst/>
        </p:spPr>
        <p:style>
          <a:lnRef idx="2">
            <a:schemeClr val="accent1"/>
          </a:lnRef>
          <a:fillRef idx="0">
            <a:schemeClr val="accent1"/>
          </a:fillRef>
          <a:effectRef idx="1">
            <a:schemeClr val="accent1"/>
          </a:effectRef>
          <a:fontRef idx="minor">
            <a:schemeClr val="tx1"/>
          </a:fontRef>
        </p:style>
      </p:cxnSp>
      <p:sp>
        <p:nvSpPr>
          <p:cNvPr id="150" name="TextBox 149"/>
          <p:cNvSpPr txBox="1"/>
          <p:nvPr/>
        </p:nvSpPr>
        <p:spPr>
          <a:xfrm>
            <a:off x="11232261" y="4050791"/>
            <a:ext cx="252603" cy="256032"/>
          </a:xfrm>
          <a:prstGeom prst="rect">
            <a:avLst/>
          </a:prstGeom>
          <a:noFill/>
        </p:spPr>
        <p:txBody>
          <a:bodyPr wrap="none" lIns="0" rIns="0" tIns="0" bIns="0">
            <a:spAutoFit/>
          </a:bodyPr>
          <a:lstStyle/>
          <a:p>
            <a:pPr algn="ctr">
              <a:lnSpc>
                <a:spcPts val="2240"/>
              </a:lnSpc>
              <a:spcAft>
                <a:spcPts val="0"/>
              </a:spcAft>
              <a:defRPr sz="2000" b="0">
                <a:solidFill>
                  <a:srgbClr val="182B3A"/>
                </a:solidFill>
                <a:latin typeface="Arial"/>
              </a:defRPr>
            </a:pPr>
            <a:r>
              <a:t>9</a:t>
            </a:r>
          </a:p>
        </p:txBody>
      </p:sp>
      <p:sp>
        <p:nvSpPr>
          <p:cNvPr id="151" name="Rectangle 150"/>
          <p:cNvSpPr/>
          <p:nvPr/>
        </p:nvSpPr>
        <p:spPr>
          <a:xfrm>
            <a:off x="9646920" y="4599432"/>
            <a:ext cx="4640580" cy="1005840"/>
          </a:xfrm>
          <a:prstGeom prst="rect">
            <a:avLst/>
          </a:prstGeom>
          <a:solidFill>
            <a:srgbClr val="F5F0F7"/>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2" name="TextBox 151"/>
          <p:cNvSpPr txBox="1"/>
          <p:nvPr/>
        </p:nvSpPr>
        <p:spPr>
          <a:xfrm>
            <a:off x="9738360" y="4855464"/>
            <a:ext cx="320040" cy="365760"/>
          </a:xfrm>
          <a:prstGeom prst="rect">
            <a:avLst/>
          </a:prstGeom>
          <a:noFill/>
        </p:spPr>
        <p:txBody>
          <a:bodyPr wrap="square" lIns="54864" rIns="54864" tIns="22860" bIns="22860">
            <a:spAutoFit/>
          </a:bodyPr>
          <a:lstStyle/>
          <a:p>
            <a:pPr>
              <a:lnSpc>
                <a:spcPts val="2205"/>
              </a:lnSpc>
              <a:spcBef>
                <a:spcPts val="0"/>
              </a:spcBef>
              <a:spcAft>
                <a:spcPts val="0"/>
              </a:spcAft>
              <a:defRPr sz="2100" b="1">
                <a:solidFill>
                  <a:srgbClr val="182B3A"/>
                </a:solidFill>
                <a:latin typeface="Arial"/>
              </a:defRPr>
            </a:pPr>
            <a:r>
              <a:t>4.</a:t>
            </a:r>
          </a:p>
        </p:txBody>
      </p:sp>
      <p:sp>
        <p:nvSpPr>
          <p:cNvPr id="153" name="TextBox 152"/>
          <p:cNvSpPr txBox="1"/>
          <p:nvPr/>
        </p:nvSpPr>
        <p:spPr>
          <a:xfrm>
            <a:off x="10241280" y="4892040"/>
            <a:ext cx="294132" cy="347472"/>
          </a:xfrm>
          <a:prstGeom prst="rect">
            <a:avLst/>
          </a:prstGeom>
          <a:noFill/>
        </p:spPr>
        <p:txBody>
          <a:bodyPr wrap="none" lIns="0" rIns="0" tIns="0" bIns="0">
            <a:spAutoFit/>
          </a:bodyPr>
          <a:lstStyle/>
          <a:p>
            <a:pPr algn="l">
              <a:lnSpc>
                <a:spcPts val="2800"/>
              </a:lnSpc>
              <a:spcAft>
                <a:spcPts val="0"/>
              </a:spcAft>
              <a:defRPr sz="2500" b="0">
                <a:solidFill>
                  <a:srgbClr val="182B3A"/>
                </a:solidFill>
                <a:latin typeface="Arial"/>
              </a:defRPr>
            </a:pPr>
            <a:r>
              <a:t>2 </a:t>
            </a:r>
          </a:p>
        </p:txBody>
      </p:sp>
      <p:sp>
        <p:nvSpPr>
          <p:cNvPr id="154" name="TextBox 153"/>
          <p:cNvSpPr txBox="1"/>
          <p:nvPr/>
        </p:nvSpPr>
        <p:spPr>
          <a:xfrm>
            <a:off x="10535412" y="4773168"/>
            <a:ext cx="252603" cy="256032"/>
          </a:xfrm>
          <a:prstGeom prst="rect">
            <a:avLst/>
          </a:prstGeom>
          <a:noFill/>
        </p:spPr>
        <p:txBody>
          <a:bodyPr wrap="none" lIns="0" rIns="0" tIns="0" bIns="0">
            <a:spAutoFit/>
          </a:bodyPr>
          <a:lstStyle/>
          <a:p>
            <a:pPr algn="ctr">
              <a:lnSpc>
                <a:spcPts val="2240"/>
              </a:lnSpc>
              <a:spcAft>
                <a:spcPts val="0"/>
              </a:spcAft>
              <a:defRPr sz="2000" b="0">
                <a:solidFill>
                  <a:srgbClr val="182B3A"/>
                </a:solidFill>
                <a:latin typeface="Arial"/>
              </a:defRPr>
            </a:pPr>
            <a:r>
              <a:t>4</a:t>
            </a:r>
          </a:p>
        </p:txBody>
      </p:sp>
      <p:cxnSp>
        <p:nvCxnSpPr>
          <p:cNvPr id="155" name="Connector 154"/>
          <p:cNvCxnSpPr/>
          <p:nvPr/>
        </p:nvCxnSpPr>
        <p:spPr>
          <a:xfrm>
            <a:off x="10535412" y="5038344"/>
            <a:ext cx="252603" cy="0"/>
          </a:xfrm>
          <a:prstGeom prst="line">
            <a:avLst/>
          </a:prstGeom>
          <a:ln w="12700">
            <a:solidFill>
              <a:srgbClr val="182B3A"/>
            </a:solidFill>
          </a:ln>
          <a:effectLst/>
        </p:spPr>
        <p:style>
          <a:lnRef idx="2">
            <a:schemeClr val="accent1"/>
          </a:lnRef>
          <a:fillRef idx="0">
            <a:schemeClr val="accent1"/>
          </a:fillRef>
          <a:effectRef idx="1">
            <a:schemeClr val="accent1"/>
          </a:effectRef>
          <a:fontRef idx="minor">
            <a:schemeClr val="tx1"/>
          </a:fontRef>
        </p:style>
      </p:cxnSp>
      <p:sp>
        <p:nvSpPr>
          <p:cNvPr id="156" name="TextBox 155"/>
          <p:cNvSpPr txBox="1"/>
          <p:nvPr/>
        </p:nvSpPr>
        <p:spPr>
          <a:xfrm>
            <a:off x="10535412" y="5056632"/>
            <a:ext cx="252603" cy="256032"/>
          </a:xfrm>
          <a:prstGeom prst="rect">
            <a:avLst/>
          </a:prstGeom>
          <a:noFill/>
        </p:spPr>
        <p:txBody>
          <a:bodyPr wrap="none" lIns="0" rIns="0" tIns="0" bIns="0">
            <a:spAutoFit/>
          </a:bodyPr>
          <a:lstStyle/>
          <a:p>
            <a:pPr algn="ctr">
              <a:lnSpc>
                <a:spcPts val="2240"/>
              </a:lnSpc>
              <a:spcAft>
                <a:spcPts val="0"/>
              </a:spcAft>
              <a:defRPr sz="2000" b="0">
                <a:solidFill>
                  <a:srgbClr val="182B3A"/>
                </a:solidFill>
                <a:latin typeface="Arial"/>
              </a:defRPr>
            </a:pPr>
            <a:r>
              <a:t>7</a:t>
            </a:r>
          </a:p>
        </p:txBody>
      </p:sp>
      <p:sp>
        <p:nvSpPr>
          <p:cNvPr id="157" name="TextBox 156"/>
          <p:cNvSpPr txBox="1"/>
          <p:nvPr/>
        </p:nvSpPr>
        <p:spPr>
          <a:xfrm>
            <a:off x="10842879" y="4892040"/>
            <a:ext cx="389381" cy="347472"/>
          </a:xfrm>
          <a:prstGeom prst="rect">
            <a:avLst/>
          </a:prstGeom>
          <a:noFill/>
        </p:spPr>
        <p:txBody>
          <a:bodyPr wrap="none" lIns="0" rIns="0" tIns="0" bIns="0">
            <a:spAutoFit/>
          </a:bodyPr>
          <a:lstStyle/>
          <a:p>
            <a:pPr algn="l">
              <a:lnSpc>
                <a:spcPts val="2800"/>
              </a:lnSpc>
              <a:spcAft>
                <a:spcPts val="0"/>
              </a:spcAft>
              <a:defRPr sz="2500" b="0">
                <a:solidFill>
                  <a:srgbClr val="182B3A"/>
                </a:solidFill>
                <a:latin typeface="Arial"/>
              </a:defRPr>
            </a:pPr>
            <a:r>
              <a:t> + </a:t>
            </a:r>
          </a:p>
        </p:txBody>
      </p:sp>
      <p:sp>
        <p:nvSpPr>
          <p:cNvPr id="158" name="TextBox 157"/>
          <p:cNvSpPr txBox="1"/>
          <p:nvPr/>
        </p:nvSpPr>
        <p:spPr>
          <a:xfrm>
            <a:off x="11232261" y="4773168"/>
            <a:ext cx="252603" cy="256032"/>
          </a:xfrm>
          <a:prstGeom prst="rect">
            <a:avLst/>
          </a:prstGeom>
          <a:noFill/>
        </p:spPr>
        <p:txBody>
          <a:bodyPr wrap="none" lIns="0" rIns="0" tIns="0" bIns="0">
            <a:spAutoFit/>
          </a:bodyPr>
          <a:lstStyle/>
          <a:p>
            <a:pPr algn="ctr">
              <a:lnSpc>
                <a:spcPts val="2240"/>
              </a:lnSpc>
              <a:spcAft>
                <a:spcPts val="0"/>
              </a:spcAft>
              <a:defRPr sz="2000" b="0">
                <a:solidFill>
                  <a:srgbClr val="182B3A"/>
                </a:solidFill>
                <a:latin typeface="Arial"/>
              </a:defRPr>
            </a:pPr>
            <a:r>
              <a:t>2</a:t>
            </a:r>
          </a:p>
        </p:txBody>
      </p:sp>
      <p:cxnSp>
        <p:nvCxnSpPr>
          <p:cNvPr id="159" name="Connector 158"/>
          <p:cNvCxnSpPr/>
          <p:nvPr/>
        </p:nvCxnSpPr>
        <p:spPr>
          <a:xfrm>
            <a:off x="11232261" y="5038344"/>
            <a:ext cx="252603" cy="0"/>
          </a:xfrm>
          <a:prstGeom prst="line">
            <a:avLst/>
          </a:prstGeom>
          <a:ln w="12700">
            <a:solidFill>
              <a:srgbClr val="182B3A"/>
            </a:solidFill>
          </a:ln>
          <a:effectLst/>
        </p:spPr>
        <p:style>
          <a:lnRef idx="2">
            <a:schemeClr val="accent1"/>
          </a:lnRef>
          <a:fillRef idx="0">
            <a:schemeClr val="accent1"/>
          </a:fillRef>
          <a:effectRef idx="1">
            <a:schemeClr val="accent1"/>
          </a:effectRef>
          <a:fontRef idx="minor">
            <a:schemeClr val="tx1"/>
          </a:fontRef>
        </p:style>
      </p:cxnSp>
      <p:sp>
        <p:nvSpPr>
          <p:cNvPr id="160" name="TextBox 159"/>
          <p:cNvSpPr txBox="1"/>
          <p:nvPr/>
        </p:nvSpPr>
        <p:spPr>
          <a:xfrm>
            <a:off x="11232261" y="5056632"/>
            <a:ext cx="252603" cy="256032"/>
          </a:xfrm>
          <a:prstGeom prst="rect">
            <a:avLst/>
          </a:prstGeom>
          <a:noFill/>
        </p:spPr>
        <p:txBody>
          <a:bodyPr wrap="none" lIns="0" rIns="0" tIns="0" bIns="0">
            <a:spAutoFit/>
          </a:bodyPr>
          <a:lstStyle/>
          <a:p>
            <a:pPr algn="ctr">
              <a:lnSpc>
                <a:spcPts val="2240"/>
              </a:lnSpc>
              <a:spcAft>
                <a:spcPts val="0"/>
              </a:spcAft>
              <a:defRPr sz="2000" b="0">
                <a:solidFill>
                  <a:srgbClr val="182B3A"/>
                </a:solidFill>
                <a:latin typeface="Arial"/>
              </a:defRPr>
            </a:pPr>
            <a:r>
              <a:t>3</a:t>
            </a:r>
          </a:p>
        </p:txBody>
      </p:sp>
      <p:sp>
        <p:nvSpPr>
          <p:cNvPr id="161" name="Rectangle 160"/>
          <p:cNvSpPr/>
          <p:nvPr/>
        </p:nvSpPr>
        <p:spPr>
          <a:xfrm>
            <a:off x="9646920" y="5605272"/>
            <a:ext cx="4640580" cy="1005840"/>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2" name="TextBox 161"/>
          <p:cNvSpPr txBox="1"/>
          <p:nvPr/>
        </p:nvSpPr>
        <p:spPr>
          <a:xfrm>
            <a:off x="9738360" y="5861304"/>
            <a:ext cx="320040" cy="365760"/>
          </a:xfrm>
          <a:prstGeom prst="rect">
            <a:avLst/>
          </a:prstGeom>
          <a:noFill/>
        </p:spPr>
        <p:txBody>
          <a:bodyPr wrap="square" lIns="54864" rIns="54864" tIns="22860" bIns="22860">
            <a:spAutoFit/>
          </a:bodyPr>
          <a:lstStyle/>
          <a:p>
            <a:pPr>
              <a:lnSpc>
                <a:spcPts val="2205"/>
              </a:lnSpc>
              <a:spcBef>
                <a:spcPts val="0"/>
              </a:spcBef>
              <a:spcAft>
                <a:spcPts val="0"/>
              </a:spcAft>
              <a:defRPr sz="2100" b="1">
                <a:solidFill>
                  <a:srgbClr val="182B3A"/>
                </a:solidFill>
                <a:latin typeface="Arial"/>
              </a:defRPr>
            </a:pPr>
            <a:r>
              <a:t>5.</a:t>
            </a:r>
          </a:p>
        </p:txBody>
      </p:sp>
      <p:sp>
        <p:nvSpPr>
          <p:cNvPr id="163" name="TextBox 162"/>
          <p:cNvSpPr txBox="1"/>
          <p:nvPr/>
        </p:nvSpPr>
        <p:spPr>
          <a:xfrm>
            <a:off x="10241280" y="5779008"/>
            <a:ext cx="252603" cy="256032"/>
          </a:xfrm>
          <a:prstGeom prst="rect">
            <a:avLst/>
          </a:prstGeom>
          <a:noFill/>
        </p:spPr>
        <p:txBody>
          <a:bodyPr wrap="none" lIns="0" rIns="0" tIns="0" bIns="0">
            <a:spAutoFit/>
          </a:bodyPr>
          <a:lstStyle/>
          <a:p>
            <a:pPr algn="ctr">
              <a:lnSpc>
                <a:spcPts val="2240"/>
              </a:lnSpc>
              <a:spcAft>
                <a:spcPts val="0"/>
              </a:spcAft>
              <a:defRPr sz="2000" b="0">
                <a:solidFill>
                  <a:srgbClr val="182B3A"/>
                </a:solidFill>
                <a:latin typeface="Arial"/>
              </a:defRPr>
            </a:pPr>
            <a:r>
              <a:t>2</a:t>
            </a:r>
          </a:p>
        </p:txBody>
      </p:sp>
      <p:cxnSp>
        <p:nvCxnSpPr>
          <p:cNvPr id="164" name="Connector 163"/>
          <p:cNvCxnSpPr/>
          <p:nvPr/>
        </p:nvCxnSpPr>
        <p:spPr>
          <a:xfrm>
            <a:off x="10241280" y="6044184"/>
            <a:ext cx="252603" cy="0"/>
          </a:xfrm>
          <a:prstGeom prst="line">
            <a:avLst/>
          </a:prstGeom>
          <a:ln w="12700">
            <a:solidFill>
              <a:srgbClr val="182B3A"/>
            </a:solidFill>
          </a:ln>
          <a:effectLst/>
        </p:spPr>
        <p:style>
          <a:lnRef idx="2">
            <a:schemeClr val="accent1"/>
          </a:lnRef>
          <a:fillRef idx="0">
            <a:schemeClr val="accent1"/>
          </a:fillRef>
          <a:effectRef idx="1">
            <a:schemeClr val="accent1"/>
          </a:effectRef>
          <a:fontRef idx="minor">
            <a:schemeClr val="tx1"/>
          </a:fontRef>
        </p:style>
      </p:cxnSp>
      <p:sp>
        <p:nvSpPr>
          <p:cNvPr id="165" name="TextBox 164"/>
          <p:cNvSpPr txBox="1"/>
          <p:nvPr/>
        </p:nvSpPr>
        <p:spPr>
          <a:xfrm>
            <a:off x="10241280" y="6062472"/>
            <a:ext cx="252603" cy="256032"/>
          </a:xfrm>
          <a:prstGeom prst="rect">
            <a:avLst/>
          </a:prstGeom>
          <a:noFill/>
        </p:spPr>
        <p:txBody>
          <a:bodyPr wrap="none" lIns="0" rIns="0" tIns="0" bIns="0">
            <a:spAutoFit/>
          </a:bodyPr>
          <a:lstStyle/>
          <a:p>
            <a:pPr algn="ctr">
              <a:lnSpc>
                <a:spcPts val="2240"/>
              </a:lnSpc>
              <a:spcAft>
                <a:spcPts val="0"/>
              </a:spcAft>
              <a:defRPr sz="2000" b="0">
                <a:solidFill>
                  <a:srgbClr val="182B3A"/>
                </a:solidFill>
                <a:latin typeface="Arial"/>
              </a:defRPr>
            </a:pPr>
            <a:r>
              <a:t>9</a:t>
            </a:r>
          </a:p>
        </p:txBody>
      </p:sp>
      <p:sp>
        <p:nvSpPr>
          <p:cNvPr id="166" name="TextBox 165"/>
          <p:cNvSpPr txBox="1"/>
          <p:nvPr/>
        </p:nvSpPr>
        <p:spPr>
          <a:xfrm>
            <a:off x="10548747" y="5897880"/>
            <a:ext cx="389381" cy="347472"/>
          </a:xfrm>
          <a:prstGeom prst="rect">
            <a:avLst/>
          </a:prstGeom>
          <a:noFill/>
        </p:spPr>
        <p:txBody>
          <a:bodyPr wrap="none" lIns="0" rIns="0" tIns="0" bIns="0">
            <a:spAutoFit/>
          </a:bodyPr>
          <a:lstStyle/>
          <a:p>
            <a:pPr algn="l">
              <a:lnSpc>
                <a:spcPts val="2800"/>
              </a:lnSpc>
              <a:spcAft>
                <a:spcPts val="0"/>
              </a:spcAft>
              <a:defRPr sz="2500" b="0">
                <a:solidFill>
                  <a:srgbClr val="182B3A"/>
                </a:solidFill>
                <a:latin typeface="Arial"/>
              </a:defRPr>
            </a:pPr>
            <a:r>
              <a:t> − </a:t>
            </a:r>
          </a:p>
        </p:txBody>
      </p:sp>
      <p:sp>
        <p:nvSpPr>
          <p:cNvPr id="167" name="TextBox 166"/>
          <p:cNvSpPr txBox="1"/>
          <p:nvPr/>
        </p:nvSpPr>
        <p:spPr>
          <a:xfrm>
            <a:off x="10938129" y="5779008"/>
            <a:ext cx="252603" cy="256032"/>
          </a:xfrm>
          <a:prstGeom prst="rect">
            <a:avLst/>
          </a:prstGeom>
          <a:noFill/>
        </p:spPr>
        <p:txBody>
          <a:bodyPr wrap="none" lIns="0" rIns="0" tIns="0" bIns="0">
            <a:spAutoFit/>
          </a:bodyPr>
          <a:lstStyle/>
          <a:p>
            <a:pPr algn="ctr">
              <a:lnSpc>
                <a:spcPts val="2240"/>
              </a:lnSpc>
              <a:spcAft>
                <a:spcPts val="0"/>
              </a:spcAft>
              <a:defRPr sz="2000" b="0">
                <a:solidFill>
                  <a:srgbClr val="182B3A"/>
                </a:solidFill>
                <a:latin typeface="Arial"/>
              </a:defRPr>
            </a:pPr>
            <a:r>
              <a:t>1</a:t>
            </a:r>
          </a:p>
        </p:txBody>
      </p:sp>
      <p:cxnSp>
        <p:nvCxnSpPr>
          <p:cNvPr id="168" name="Connector 167"/>
          <p:cNvCxnSpPr/>
          <p:nvPr/>
        </p:nvCxnSpPr>
        <p:spPr>
          <a:xfrm>
            <a:off x="10938129" y="6044184"/>
            <a:ext cx="252603" cy="0"/>
          </a:xfrm>
          <a:prstGeom prst="line">
            <a:avLst/>
          </a:prstGeom>
          <a:ln w="12700">
            <a:solidFill>
              <a:srgbClr val="182B3A"/>
            </a:solidFill>
          </a:ln>
          <a:effectLst/>
        </p:spPr>
        <p:style>
          <a:lnRef idx="2">
            <a:schemeClr val="accent1"/>
          </a:lnRef>
          <a:fillRef idx="0">
            <a:schemeClr val="accent1"/>
          </a:fillRef>
          <a:effectRef idx="1">
            <a:schemeClr val="accent1"/>
          </a:effectRef>
          <a:fontRef idx="minor">
            <a:schemeClr val="tx1"/>
          </a:fontRef>
        </p:style>
      </p:cxnSp>
      <p:sp>
        <p:nvSpPr>
          <p:cNvPr id="169" name="TextBox 168"/>
          <p:cNvSpPr txBox="1"/>
          <p:nvPr/>
        </p:nvSpPr>
        <p:spPr>
          <a:xfrm>
            <a:off x="10938129" y="6062472"/>
            <a:ext cx="252603" cy="256032"/>
          </a:xfrm>
          <a:prstGeom prst="rect">
            <a:avLst/>
          </a:prstGeom>
          <a:noFill/>
        </p:spPr>
        <p:txBody>
          <a:bodyPr wrap="none" lIns="0" rIns="0" tIns="0" bIns="0">
            <a:spAutoFit/>
          </a:bodyPr>
          <a:lstStyle/>
          <a:p>
            <a:pPr algn="ctr">
              <a:lnSpc>
                <a:spcPts val="2240"/>
              </a:lnSpc>
              <a:spcAft>
                <a:spcPts val="0"/>
              </a:spcAft>
              <a:defRPr sz="2000" b="0">
                <a:solidFill>
                  <a:srgbClr val="182B3A"/>
                </a:solidFill>
                <a:latin typeface="Arial"/>
              </a:defRPr>
            </a:pPr>
            <a:r>
              <a:t>6</a:t>
            </a:r>
          </a:p>
        </p:txBody>
      </p:sp>
      <p:sp>
        <p:nvSpPr>
          <p:cNvPr id="170" name="Rectangle 169"/>
          <p:cNvSpPr/>
          <p:nvPr/>
        </p:nvSpPr>
        <p:spPr>
          <a:xfrm>
            <a:off x="9646920" y="6611112"/>
            <a:ext cx="4640580" cy="1005840"/>
          </a:xfrm>
          <a:prstGeom prst="rect">
            <a:avLst/>
          </a:prstGeom>
          <a:solidFill>
            <a:srgbClr val="F5F0F7"/>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1" name="TextBox 170"/>
          <p:cNvSpPr txBox="1"/>
          <p:nvPr/>
        </p:nvSpPr>
        <p:spPr>
          <a:xfrm>
            <a:off x="9738360" y="6867144"/>
            <a:ext cx="320040" cy="365760"/>
          </a:xfrm>
          <a:prstGeom prst="rect">
            <a:avLst/>
          </a:prstGeom>
          <a:noFill/>
        </p:spPr>
        <p:txBody>
          <a:bodyPr wrap="square" lIns="54864" rIns="54864" tIns="22860" bIns="22860">
            <a:spAutoFit/>
          </a:bodyPr>
          <a:lstStyle/>
          <a:p>
            <a:pPr>
              <a:lnSpc>
                <a:spcPts val="2205"/>
              </a:lnSpc>
              <a:spcBef>
                <a:spcPts val="0"/>
              </a:spcBef>
              <a:spcAft>
                <a:spcPts val="0"/>
              </a:spcAft>
              <a:defRPr sz="2100" b="1">
                <a:solidFill>
                  <a:srgbClr val="182B3A"/>
                </a:solidFill>
                <a:latin typeface="Arial"/>
              </a:defRPr>
            </a:pPr>
            <a:r>
              <a:t>6.</a:t>
            </a:r>
          </a:p>
        </p:txBody>
      </p:sp>
      <p:sp>
        <p:nvSpPr>
          <p:cNvPr id="172" name="TextBox 171"/>
          <p:cNvSpPr txBox="1"/>
          <p:nvPr/>
        </p:nvSpPr>
        <p:spPr>
          <a:xfrm>
            <a:off x="10241280" y="6784848"/>
            <a:ext cx="252603" cy="256032"/>
          </a:xfrm>
          <a:prstGeom prst="rect">
            <a:avLst/>
          </a:prstGeom>
          <a:noFill/>
        </p:spPr>
        <p:txBody>
          <a:bodyPr wrap="none" lIns="0" rIns="0" tIns="0" bIns="0">
            <a:spAutoFit/>
          </a:bodyPr>
          <a:lstStyle/>
          <a:p>
            <a:pPr algn="ctr">
              <a:lnSpc>
                <a:spcPts val="2240"/>
              </a:lnSpc>
              <a:spcAft>
                <a:spcPts val="0"/>
              </a:spcAft>
              <a:defRPr sz="2000" b="0">
                <a:solidFill>
                  <a:srgbClr val="182B3A"/>
                </a:solidFill>
                <a:latin typeface="Arial"/>
              </a:defRPr>
            </a:pPr>
            <a:r>
              <a:t>1</a:t>
            </a:r>
          </a:p>
        </p:txBody>
      </p:sp>
      <p:cxnSp>
        <p:nvCxnSpPr>
          <p:cNvPr id="173" name="Connector 172"/>
          <p:cNvCxnSpPr/>
          <p:nvPr/>
        </p:nvCxnSpPr>
        <p:spPr>
          <a:xfrm>
            <a:off x="10241280" y="7050024"/>
            <a:ext cx="252603" cy="0"/>
          </a:xfrm>
          <a:prstGeom prst="line">
            <a:avLst/>
          </a:prstGeom>
          <a:ln w="12700">
            <a:solidFill>
              <a:srgbClr val="182B3A"/>
            </a:solidFill>
          </a:ln>
          <a:effectLst/>
        </p:spPr>
        <p:style>
          <a:lnRef idx="2">
            <a:schemeClr val="accent1"/>
          </a:lnRef>
          <a:fillRef idx="0">
            <a:schemeClr val="accent1"/>
          </a:fillRef>
          <a:effectRef idx="1">
            <a:schemeClr val="accent1"/>
          </a:effectRef>
          <a:fontRef idx="minor">
            <a:schemeClr val="tx1"/>
          </a:fontRef>
        </p:style>
      </p:cxnSp>
      <p:sp>
        <p:nvSpPr>
          <p:cNvPr id="174" name="TextBox 173"/>
          <p:cNvSpPr txBox="1"/>
          <p:nvPr/>
        </p:nvSpPr>
        <p:spPr>
          <a:xfrm>
            <a:off x="10241280" y="7068312"/>
            <a:ext cx="252603" cy="256032"/>
          </a:xfrm>
          <a:prstGeom prst="rect">
            <a:avLst/>
          </a:prstGeom>
          <a:noFill/>
        </p:spPr>
        <p:txBody>
          <a:bodyPr wrap="none" lIns="0" rIns="0" tIns="0" bIns="0">
            <a:spAutoFit/>
          </a:bodyPr>
          <a:lstStyle/>
          <a:p>
            <a:pPr algn="ctr">
              <a:lnSpc>
                <a:spcPts val="2240"/>
              </a:lnSpc>
              <a:spcAft>
                <a:spcPts val="0"/>
              </a:spcAft>
              <a:defRPr sz="2000" b="0">
                <a:solidFill>
                  <a:srgbClr val="182B3A"/>
                </a:solidFill>
                <a:latin typeface="Arial"/>
              </a:defRPr>
            </a:pPr>
            <a:r>
              <a:t>4</a:t>
            </a:r>
          </a:p>
        </p:txBody>
      </p:sp>
      <p:sp>
        <p:nvSpPr>
          <p:cNvPr id="175" name="TextBox 174"/>
          <p:cNvSpPr txBox="1"/>
          <p:nvPr/>
        </p:nvSpPr>
        <p:spPr>
          <a:xfrm>
            <a:off x="10548747" y="6903720"/>
            <a:ext cx="389381" cy="347472"/>
          </a:xfrm>
          <a:prstGeom prst="rect">
            <a:avLst/>
          </a:prstGeom>
          <a:noFill/>
        </p:spPr>
        <p:txBody>
          <a:bodyPr wrap="none" lIns="0" rIns="0" tIns="0" bIns="0">
            <a:spAutoFit/>
          </a:bodyPr>
          <a:lstStyle/>
          <a:p>
            <a:pPr algn="l">
              <a:lnSpc>
                <a:spcPts val="2800"/>
              </a:lnSpc>
              <a:spcAft>
                <a:spcPts val="0"/>
              </a:spcAft>
              <a:defRPr sz="2500" b="0">
                <a:solidFill>
                  <a:srgbClr val="182B3A"/>
                </a:solidFill>
                <a:latin typeface="Arial"/>
              </a:defRPr>
            </a:pPr>
            <a:r>
              <a:t> − </a:t>
            </a:r>
          </a:p>
        </p:txBody>
      </p:sp>
      <p:sp>
        <p:nvSpPr>
          <p:cNvPr id="176" name="TextBox 175"/>
          <p:cNvSpPr txBox="1"/>
          <p:nvPr/>
        </p:nvSpPr>
        <p:spPr>
          <a:xfrm>
            <a:off x="10938129" y="6784848"/>
            <a:ext cx="252603" cy="256032"/>
          </a:xfrm>
          <a:prstGeom prst="rect">
            <a:avLst/>
          </a:prstGeom>
          <a:noFill/>
        </p:spPr>
        <p:txBody>
          <a:bodyPr wrap="none" lIns="0" rIns="0" tIns="0" bIns="0">
            <a:spAutoFit/>
          </a:bodyPr>
          <a:lstStyle/>
          <a:p>
            <a:pPr algn="ctr">
              <a:lnSpc>
                <a:spcPts val="2240"/>
              </a:lnSpc>
              <a:spcAft>
                <a:spcPts val="0"/>
              </a:spcAft>
              <a:defRPr sz="2000" b="0">
                <a:solidFill>
                  <a:srgbClr val="182B3A"/>
                </a:solidFill>
                <a:latin typeface="Arial"/>
              </a:defRPr>
            </a:pPr>
            <a:r>
              <a:t>1</a:t>
            </a:r>
          </a:p>
        </p:txBody>
      </p:sp>
      <p:cxnSp>
        <p:nvCxnSpPr>
          <p:cNvPr id="177" name="Connector 176"/>
          <p:cNvCxnSpPr/>
          <p:nvPr/>
        </p:nvCxnSpPr>
        <p:spPr>
          <a:xfrm>
            <a:off x="10938129" y="7050024"/>
            <a:ext cx="252603" cy="0"/>
          </a:xfrm>
          <a:prstGeom prst="line">
            <a:avLst/>
          </a:prstGeom>
          <a:ln w="12700">
            <a:solidFill>
              <a:srgbClr val="182B3A"/>
            </a:solidFill>
          </a:ln>
          <a:effectLst/>
        </p:spPr>
        <p:style>
          <a:lnRef idx="2">
            <a:schemeClr val="accent1"/>
          </a:lnRef>
          <a:fillRef idx="0">
            <a:schemeClr val="accent1"/>
          </a:fillRef>
          <a:effectRef idx="1">
            <a:schemeClr val="accent1"/>
          </a:effectRef>
          <a:fontRef idx="minor">
            <a:schemeClr val="tx1"/>
          </a:fontRef>
        </p:style>
      </p:cxnSp>
      <p:sp>
        <p:nvSpPr>
          <p:cNvPr id="178" name="TextBox 177"/>
          <p:cNvSpPr txBox="1"/>
          <p:nvPr/>
        </p:nvSpPr>
        <p:spPr>
          <a:xfrm>
            <a:off x="10938129" y="7068312"/>
            <a:ext cx="252603" cy="256032"/>
          </a:xfrm>
          <a:prstGeom prst="rect">
            <a:avLst/>
          </a:prstGeom>
          <a:noFill/>
        </p:spPr>
        <p:txBody>
          <a:bodyPr wrap="none" lIns="0" rIns="0" tIns="0" bIns="0">
            <a:spAutoFit/>
          </a:bodyPr>
          <a:lstStyle/>
          <a:p>
            <a:pPr algn="ctr">
              <a:lnSpc>
                <a:spcPts val="2240"/>
              </a:lnSpc>
              <a:spcAft>
                <a:spcPts val="0"/>
              </a:spcAft>
              <a:defRPr sz="2000" b="0">
                <a:solidFill>
                  <a:srgbClr val="182B3A"/>
                </a:solidFill>
                <a:latin typeface="Arial"/>
              </a:defRPr>
            </a:pPr>
            <a:r>
              <a:t>5</a:t>
            </a:r>
          </a:p>
        </p:txBody>
      </p:sp>
      <p:sp>
        <p:nvSpPr>
          <p:cNvPr id="179" name="Progression curved arrow: Thread 1 to Thread 2"/>
          <p:cNvSpPr/>
          <p:nvPr/>
        </p:nvSpPr>
        <p:spPr>
          <a:xfrm>
            <a:off x="4649723" y="7552294"/>
            <a:ext cx="621792" cy="314053"/>
          </a:xfrm>
          <a:custGeom>
            <a:avLst/>
            <a:gdLst/>
            <a:ahLst/>
            <a:cxnLst/>
            <a:rect l="0" t="0" r="100000" b="100000"/>
            <a:pathLst>
              <a:path w="100000" h="100000" fill="none">
                <a:moveTo>
                  <a:pt x="6970" y="48439"/>
                </a:moveTo>
                <a:cubicBezTo>
                  <a:pt x="40678" y="114499"/>
                  <a:pt x="73026" y="88145"/>
                  <a:pt x="93030" y="13799"/>
                </a:cubicBezTo>
              </a:path>
              <a:path w="100000" h="100000" fill="none">
                <a:moveTo>
                  <a:pt x="69018" y="40431"/>
                </a:moveTo>
                <a:lnTo>
                  <a:pt x="93030" y="13799"/>
                </a:lnTo>
                <a:lnTo>
                  <a:pt x="92217" y="66207"/>
                </a:lnTo>
              </a:path>
            </a:pathLst>
          </a:custGeom>
          <a:noFill/>
          <a:ln w="64449" cap="rnd">
            <a:solidFill>
              <a:schemeClr val="accent6">
                <a:lumMod val="60000"/>
                <a:lumOff val="40000"/>
              </a:schemeClr>
            </a:solidFill>
            <a:round/>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80" name="Progression curved arrow: Thread 2 to Thread 3"/>
          <p:cNvSpPr/>
          <p:nvPr/>
        </p:nvSpPr>
        <p:spPr>
          <a:xfrm>
            <a:off x="9265327" y="7543800"/>
            <a:ext cx="621792" cy="314053"/>
          </a:xfrm>
          <a:custGeom>
            <a:avLst/>
            <a:gdLst/>
            <a:ahLst/>
            <a:cxnLst/>
            <a:rect l="0" t="0" r="100000" b="100000"/>
            <a:pathLst>
              <a:path w="100000" h="100000" fill="none">
                <a:moveTo>
                  <a:pt x="6970" y="48439"/>
                </a:moveTo>
                <a:cubicBezTo>
                  <a:pt x="40678" y="114499"/>
                  <a:pt x="73026" y="88145"/>
                  <a:pt x="93030" y="13799"/>
                </a:cubicBezTo>
              </a:path>
              <a:path w="100000" h="100000" fill="none">
                <a:moveTo>
                  <a:pt x="69018" y="40431"/>
                </a:moveTo>
                <a:lnTo>
                  <a:pt x="93030" y="13799"/>
                </a:lnTo>
                <a:lnTo>
                  <a:pt x="92217" y="66207"/>
                </a:lnTo>
              </a:path>
            </a:pathLst>
          </a:custGeom>
          <a:noFill/>
          <a:ln w="64449" cap="rnd">
            <a:solidFill>
              <a:schemeClr val="accent6">
                <a:lumMod val="60000"/>
                <a:lumOff val="40000"/>
              </a:schemeClr>
            </a:solidFill>
            <a:round/>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Tree>
  </p:cSld>
  <p:clrMapOvr>
    <a:masterClrMapping/>
  </p:clrMapOvr>
</p:sld>
</file>

<file path=ppt/slides/slide49.xml><?xml version="1.0" encoding="utf-8"?>
<p:sld xmlns:a="http://schemas.openxmlformats.org/drawingml/2006/main" xmlns:p="http://schemas.openxmlformats.org/presentationml/2006/main" xmlns:r="http://schemas.openxmlformats.org/officeDocument/2006/relationships">
  <p:cSld>
    <p:bg>
      <p:bgPr>
        <a:solidFill>
          <a:srgbClr val="F7F8FA"/>
        </a:solidFill>
        <a:effectLst/>
      </p:bgPr>
    </p:bg>
    <p:spTree>
      <p:nvGrpSpPr>
        <p:cNvPr id="1" name=""/>
        <p:cNvGrpSpPr/>
        <p:nvPr/>
      </p:nvGrpSpPr>
      <p:grpSpPr/>
      <p:sp>
        <p:nvSpPr>
          <p:cNvPr id="2" name="Rectangle 1"/>
          <p:cNvSpPr/>
          <p:nvPr/>
        </p:nvSpPr>
        <p:spPr>
          <a:xfrm>
            <a:off x="0" y="0"/>
            <a:ext cx="14630400" cy="73152"/>
          </a:xfrm>
          <a:prstGeom prst="rect">
            <a:avLst/>
          </a:prstGeom>
          <a:solidFill>
            <a:srgbClr val="176B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20040" y="164592"/>
            <a:ext cx="13990320" cy="457200"/>
          </a:xfrm>
          <a:prstGeom prst="rect">
            <a:avLst/>
          </a:prstGeom>
          <a:noFill/>
        </p:spPr>
        <p:txBody>
          <a:bodyPr wrap="square" lIns="54864" rIns="54864" tIns="22860" bIns="22860">
            <a:spAutoFit/>
          </a:bodyPr>
          <a:lstStyle/>
          <a:p>
            <a:pPr>
              <a:lnSpc>
                <a:spcPts val="2940"/>
              </a:lnSpc>
              <a:spcBef>
                <a:spcPts val="0"/>
              </a:spcBef>
              <a:spcAft>
                <a:spcPts val="0"/>
              </a:spcAft>
              <a:defRPr sz="2800" b="1">
                <a:solidFill>
                  <a:srgbClr val="182B3A"/>
                </a:solidFill>
                <a:latin typeface="Arial"/>
              </a:defRPr>
            </a:pPr>
            <a:r>
              <a:t>Adding and subtracting fractions</a:t>
            </a:r>
          </a:p>
        </p:txBody>
      </p:sp>
      <p:sp>
        <p:nvSpPr>
          <p:cNvPr id="4" name="TextBox 3"/>
          <p:cNvSpPr txBox="1"/>
          <p:nvPr/>
        </p:nvSpPr>
        <p:spPr>
          <a:xfrm>
            <a:off x="320040" y="704088"/>
            <a:ext cx="13990320" cy="347472"/>
          </a:xfrm>
          <a:prstGeom prst="rect">
            <a:avLst/>
          </a:prstGeom>
          <a:noFill/>
        </p:spPr>
        <p:txBody>
          <a:bodyPr wrap="square" lIns="54864" rIns="54864" tIns="22860" bIns="22860">
            <a:spAutoFit/>
          </a:bodyPr>
          <a:lstStyle/>
          <a:p>
            <a:pPr>
              <a:lnSpc>
                <a:spcPts val="1575"/>
              </a:lnSpc>
              <a:spcBef>
                <a:spcPts val="0"/>
              </a:spcBef>
              <a:spcAft>
                <a:spcPts val="0"/>
              </a:spcAft>
              <a:defRPr sz="1500" b="0">
                <a:solidFill>
                  <a:srgbClr val="526472"/>
                </a:solidFill>
                <a:latin typeface="Arial"/>
              </a:defRPr>
            </a:pPr>
            <a:r>
              <a:t>Independent practice 4 • Simplify; write mixed answers if greater than 1.</a:t>
            </a:r>
          </a:p>
        </p:txBody>
      </p:sp>
      <p:sp>
        <p:nvSpPr>
          <p:cNvPr id="5" name="TextBox 4"/>
          <p:cNvSpPr txBox="1"/>
          <p:nvPr/>
        </p:nvSpPr>
        <p:spPr>
          <a:xfrm>
            <a:off x="320040" y="7973568"/>
            <a:ext cx="10789920" cy="210312"/>
          </a:xfrm>
          <a:prstGeom prst="rect">
            <a:avLst/>
          </a:prstGeom>
          <a:noFill/>
        </p:spPr>
        <p:txBody>
          <a:bodyPr wrap="square" lIns="54864" rIns="54864" tIns="22860" bIns="22860">
            <a:spAutoFit/>
          </a:bodyPr>
          <a:lstStyle/>
          <a:p>
            <a:pPr>
              <a:lnSpc>
                <a:spcPts val="1155"/>
              </a:lnSpc>
              <a:spcBef>
                <a:spcPts val="0"/>
              </a:spcBef>
              <a:spcAft>
                <a:spcPts val="0"/>
              </a:spcAft>
              <a:defRPr sz="1100" b="0">
                <a:solidFill>
                  <a:srgbClr val="526472"/>
                </a:solidFill>
                <a:latin typeface="Arial"/>
              </a:defRPr>
            </a:pPr>
            <a:r>
              <a:t>GCSE Maths revision • No calculator • Show your working.</a:t>
            </a:r>
          </a:p>
        </p:txBody>
      </p:sp>
      <p:sp>
        <p:nvSpPr>
          <p:cNvPr id="6" name="TextBox 5"/>
          <p:cNvSpPr txBox="1"/>
          <p:nvPr/>
        </p:nvSpPr>
        <p:spPr>
          <a:xfrm>
            <a:off x="11155680" y="7973568"/>
            <a:ext cx="3108960" cy="210312"/>
          </a:xfrm>
          <a:prstGeom prst="rect">
            <a:avLst/>
          </a:prstGeom>
          <a:noFill/>
        </p:spPr>
        <p:txBody>
          <a:bodyPr wrap="square" lIns="54864" rIns="54864" tIns="22860" bIns="22860">
            <a:spAutoFit/>
          </a:bodyPr>
          <a:lstStyle/>
          <a:p>
            <a:pPr>
              <a:lnSpc>
                <a:spcPts val="1155"/>
              </a:lnSpc>
              <a:spcBef>
                <a:spcPts val="0"/>
              </a:spcBef>
              <a:spcAft>
                <a:spcPts val="0"/>
              </a:spcAft>
              <a:defRPr sz="1100" b="0">
                <a:solidFill>
                  <a:srgbClr val="526472"/>
                </a:solidFill>
                <a:latin typeface="Arial"/>
              </a:defRPr>
            </a:pPr>
            <a:r>
              <a:t>M15-S07</a:t>
            </a:r>
          </a:p>
        </p:txBody>
      </p:sp>
      <p:sp>
        <p:nvSpPr>
          <p:cNvPr id="7" name="Rectangle 6"/>
          <p:cNvSpPr/>
          <p:nvPr/>
        </p:nvSpPr>
        <p:spPr>
          <a:xfrm>
            <a:off x="320040" y="1115568"/>
            <a:ext cx="4640580" cy="420624"/>
          </a:xfrm>
          <a:prstGeom prst="rect">
            <a:avLst/>
          </a:prstGeom>
          <a:solidFill>
            <a:srgbClr val="176B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347472" y="1147572"/>
            <a:ext cx="4581144" cy="329184"/>
          </a:xfrm>
          <a:prstGeom prst="rect">
            <a:avLst/>
          </a:prstGeom>
          <a:noFill/>
        </p:spPr>
        <p:txBody>
          <a:bodyPr wrap="square" lIns="54864" rIns="54864" tIns="22860" bIns="22860">
            <a:spAutoFit/>
          </a:bodyPr>
          <a:lstStyle/>
          <a:p>
            <a:pPr>
              <a:lnSpc>
                <a:spcPts val="1995"/>
              </a:lnSpc>
              <a:spcBef>
                <a:spcPts val="0"/>
              </a:spcBef>
              <a:spcAft>
                <a:spcPts val="0"/>
              </a:spcAft>
              <a:defRPr sz="1900" b="1">
                <a:solidFill>
                  <a:srgbClr val="FFFFFF"/>
                </a:solidFill>
                <a:latin typeface="Arial"/>
              </a:defRPr>
            </a:pPr>
            <a:r>
              <a:t>Start</a:t>
            </a:r>
          </a:p>
        </p:txBody>
      </p:sp>
      <p:sp>
        <p:nvSpPr>
          <p:cNvPr id="9" name="Rectangle 8"/>
          <p:cNvSpPr/>
          <p:nvPr/>
        </p:nvSpPr>
        <p:spPr>
          <a:xfrm>
            <a:off x="4983480" y="1115568"/>
            <a:ext cx="4640580" cy="420624"/>
          </a:xfrm>
          <a:prstGeom prst="rect">
            <a:avLst/>
          </a:prstGeom>
          <a:solidFill>
            <a:srgbClr val="3559A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010912" y="1147572"/>
            <a:ext cx="4581144" cy="329184"/>
          </a:xfrm>
          <a:prstGeom prst="rect">
            <a:avLst/>
          </a:prstGeom>
          <a:noFill/>
        </p:spPr>
        <p:txBody>
          <a:bodyPr wrap="square" lIns="54864" rIns="54864" tIns="22860" bIns="22860">
            <a:spAutoFit/>
          </a:bodyPr>
          <a:lstStyle/>
          <a:p>
            <a:pPr>
              <a:lnSpc>
                <a:spcPts val="1995"/>
              </a:lnSpc>
              <a:spcBef>
                <a:spcPts val="0"/>
              </a:spcBef>
              <a:spcAft>
                <a:spcPts val="0"/>
              </a:spcAft>
              <a:defRPr sz="1900" b="1">
                <a:solidFill>
                  <a:srgbClr val="FFFFFF"/>
                </a:solidFill>
                <a:latin typeface="Arial"/>
              </a:defRPr>
            </a:pPr>
            <a:r>
              <a:t>Build</a:t>
            </a:r>
          </a:p>
        </p:txBody>
      </p:sp>
      <p:sp>
        <p:nvSpPr>
          <p:cNvPr id="11" name="Rectangle 10"/>
          <p:cNvSpPr/>
          <p:nvPr/>
        </p:nvSpPr>
        <p:spPr>
          <a:xfrm>
            <a:off x="9646920" y="1115568"/>
            <a:ext cx="4640580" cy="420624"/>
          </a:xfrm>
          <a:prstGeom prst="rect">
            <a:avLst/>
          </a:prstGeom>
          <a:solidFill>
            <a:srgbClr val="754B8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9674352" y="1147572"/>
            <a:ext cx="4581144" cy="329184"/>
          </a:xfrm>
          <a:prstGeom prst="rect">
            <a:avLst/>
          </a:prstGeom>
          <a:noFill/>
        </p:spPr>
        <p:txBody>
          <a:bodyPr wrap="square" lIns="54864" rIns="54864" tIns="22860" bIns="22860">
            <a:spAutoFit/>
          </a:bodyPr>
          <a:lstStyle/>
          <a:p>
            <a:pPr>
              <a:lnSpc>
                <a:spcPts val="1995"/>
              </a:lnSpc>
              <a:spcBef>
                <a:spcPts val="0"/>
              </a:spcBef>
              <a:spcAft>
                <a:spcPts val="0"/>
              </a:spcAft>
              <a:defRPr sz="1900" b="1">
                <a:solidFill>
                  <a:srgbClr val="FFFFFF"/>
                </a:solidFill>
                <a:latin typeface="Arial"/>
              </a:defRPr>
            </a:pPr>
            <a:r>
              <a:t>Confidence</a:t>
            </a:r>
          </a:p>
        </p:txBody>
      </p:sp>
      <p:sp>
        <p:nvSpPr>
          <p:cNvPr id="13" name="Rectangle 12"/>
          <p:cNvSpPr/>
          <p:nvPr/>
        </p:nvSpPr>
        <p:spPr>
          <a:xfrm>
            <a:off x="320040" y="1581912"/>
            <a:ext cx="4640580" cy="1005840"/>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11479" y="1837943"/>
            <a:ext cx="320040" cy="365760"/>
          </a:xfrm>
          <a:prstGeom prst="rect">
            <a:avLst/>
          </a:prstGeom>
          <a:noFill/>
        </p:spPr>
        <p:txBody>
          <a:bodyPr wrap="square" lIns="54864" rIns="54864" tIns="22860" bIns="22860">
            <a:spAutoFit/>
          </a:bodyPr>
          <a:lstStyle/>
          <a:p>
            <a:pPr>
              <a:lnSpc>
                <a:spcPts val="2205"/>
              </a:lnSpc>
              <a:spcBef>
                <a:spcPts val="0"/>
              </a:spcBef>
              <a:spcAft>
                <a:spcPts val="0"/>
              </a:spcAft>
              <a:defRPr sz="2100" b="1">
                <a:solidFill>
                  <a:srgbClr val="182B3A"/>
                </a:solidFill>
                <a:latin typeface="Arial"/>
              </a:defRPr>
            </a:pPr>
            <a:r>
              <a:t>1.</a:t>
            </a:r>
          </a:p>
        </p:txBody>
      </p:sp>
      <p:sp>
        <p:nvSpPr>
          <p:cNvPr id="15" name="TextBox 14"/>
          <p:cNvSpPr txBox="1"/>
          <p:nvPr/>
        </p:nvSpPr>
        <p:spPr>
          <a:xfrm>
            <a:off x="914399" y="1755648"/>
            <a:ext cx="252603" cy="256032"/>
          </a:xfrm>
          <a:prstGeom prst="rect">
            <a:avLst/>
          </a:prstGeom>
          <a:noFill/>
        </p:spPr>
        <p:txBody>
          <a:bodyPr wrap="none" lIns="0" rIns="0" tIns="0" bIns="0">
            <a:spAutoFit/>
          </a:bodyPr>
          <a:lstStyle/>
          <a:p>
            <a:pPr algn="ctr">
              <a:lnSpc>
                <a:spcPts val="2240"/>
              </a:lnSpc>
              <a:spcAft>
                <a:spcPts val="0"/>
              </a:spcAft>
              <a:defRPr sz="2000" b="0">
                <a:solidFill>
                  <a:srgbClr val="182B3A"/>
                </a:solidFill>
                <a:latin typeface="Arial"/>
              </a:defRPr>
            </a:pPr>
            <a:r>
              <a:t>3</a:t>
            </a:r>
          </a:p>
        </p:txBody>
      </p:sp>
      <p:cxnSp>
        <p:nvCxnSpPr>
          <p:cNvPr id="16" name="Connector 15"/>
          <p:cNvCxnSpPr/>
          <p:nvPr/>
        </p:nvCxnSpPr>
        <p:spPr>
          <a:xfrm>
            <a:off x="914399" y="2020824"/>
            <a:ext cx="252604" cy="0"/>
          </a:xfrm>
          <a:prstGeom prst="line">
            <a:avLst/>
          </a:prstGeom>
          <a:ln w="12700">
            <a:solidFill>
              <a:srgbClr val="182B3A"/>
            </a:solidFill>
          </a:ln>
          <a:effectLst/>
        </p:spPr>
        <p:style>
          <a:lnRef idx="2">
            <a:schemeClr val="accent1"/>
          </a:lnRef>
          <a:fillRef idx="0">
            <a:schemeClr val="accent1"/>
          </a:fillRef>
          <a:effectRef idx="1">
            <a:schemeClr val="accent1"/>
          </a:effectRef>
          <a:fontRef idx="minor">
            <a:schemeClr val="tx1"/>
          </a:fontRef>
        </p:style>
      </p:cxnSp>
      <p:sp>
        <p:nvSpPr>
          <p:cNvPr id="17" name="TextBox 16"/>
          <p:cNvSpPr txBox="1"/>
          <p:nvPr/>
        </p:nvSpPr>
        <p:spPr>
          <a:xfrm>
            <a:off x="914399" y="2039112"/>
            <a:ext cx="252603" cy="256032"/>
          </a:xfrm>
          <a:prstGeom prst="rect">
            <a:avLst/>
          </a:prstGeom>
          <a:noFill/>
        </p:spPr>
        <p:txBody>
          <a:bodyPr wrap="none" lIns="0" rIns="0" tIns="0" bIns="0">
            <a:spAutoFit/>
          </a:bodyPr>
          <a:lstStyle/>
          <a:p>
            <a:pPr algn="ctr">
              <a:lnSpc>
                <a:spcPts val="2240"/>
              </a:lnSpc>
              <a:spcAft>
                <a:spcPts val="0"/>
              </a:spcAft>
              <a:defRPr sz="2000" b="0">
                <a:solidFill>
                  <a:srgbClr val="182B3A"/>
                </a:solidFill>
                <a:latin typeface="Arial"/>
              </a:defRPr>
            </a:pPr>
            <a:r>
              <a:t>7</a:t>
            </a:r>
          </a:p>
        </p:txBody>
      </p:sp>
      <p:sp>
        <p:nvSpPr>
          <p:cNvPr id="18" name="TextBox 17"/>
          <p:cNvSpPr txBox="1"/>
          <p:nvPr/>
        </p:nvSpPr>
        <p:spPr>
          <a:xfrm>
            <a:off x="1221867" y="1874519"/>
            <a:ext cx="389381" cy="347472"/>
          </a:xfrm>
          <a:prstGeom prst="rect">
            <a:avLst/>
          </a:prstGeom>
          <a:noFill/>
        </p:spPr>
        <p:txBody>
          <a:bodyPr wrap="none" lIns="0" rIns="0" tIns="0" bIns="0">
            <a:spAutoFit/>
          </a:bodyPr>
          <a:lstStyle/>
          <a:p>
            <a:pPr algn="l">
              <a:lnSpc>
                <a:spcPts val="2800"/>
              </a:lnSpc>
              <a:spcAft>
                <a:spcPts val="0"/>
              </a:spcAft>
              <a:defRPr sz="2500" b="0">
                <a:solidFill>
                  <a:srgbClr val="182B3A"/>
                </a:solidFill>
                <a:latin typeface="Arial"/>
              </a:defRPr>
            </a:pPr>
            <a:r>
              <a:t> − </a:t>
            </a:r>
          </a:p>
        </p:txBody>
      </p:sp>
      <p:sp>
        <p:nvSpPr>
          <p:cNvPr id="19" name="TextBox 18"/>
          <p:cNvSpPr txBox="1"/>
          <p:nvPr/>
        </p:nvSpPr>
        <p:spPr>
          <a:xfrm>
            <a:off x="1611249" y="1755648"/>
            <a:ext cx="252603" cy="256032"/>
          </a:xfrm>
          <a:prstGeom prst="rect">
            <a:avLst/>
          </a:prstGeom>
          <a:noFill/>
        </p:spPr>
        <p:txBody>
          <a:bodyPr wrap="none" lIns="0" rIns="0" tIns="0" bIns="0">
            <a:spAutoFit/>
          </a:bodyPr>
          <a:lstStyle/>
          <a:p>
            <a:pPr algn="ctr">
              <a:lnSpc>
                <a:spcPts val="2240"/>
              </a:lnSpc>
              <a:spcAft>
                <a:spcPts val="0"/>
              </a:spcAft>
              <a:defRPr sz="2000" b="0">
                <a:solidFill>
                  <a:srgbClr val="182B3A"/>
                </a:solidFill>
                <a:latin typeface="Arial"/>
              </a:defRPr>
            </a:pPr>
            <a:r>
              <a:t>2</a:t>
            </a:r>
          </a:p>
        </p:txBody>
      </p:sp>
      <p:cxnSp>
        <p:nvCxnSpPr>
          <p:cNvPr id="20" name="Connector 19"/>
          <p:cNvCxnSpPr/>
          <p:nvPr/>
        </p:nvCxnSpPr>
        <p:spPr>
          <a:xfrm>
            <a:off x="1611249" y="2020824"/>
            <a:ext cx="252602" cy="0"/>
          </a:xfrm>
          <a:prstGeom prst="line">
            <a:avLst/>
          </a:prstGeom>
          <a:ln w="12700">
            <a:solidFill>
              <a:srgbClr val="182B3A"/>
            </a:solidFill>
          </a:ln>
          <a:effectLst/>
        </p:spPr>
        <p:style>
          <a:lnRef idx="2">
            <a:schemeClr val="accent1"/>
          </a:lnRef>
          <a:fillRef idx="0">
            <a:schemeClr val="accent1"/>
          </a:fillRef>
          <a:effectRef idx="1">
            <a:schemeClr val="accent1"/>
          </a:effectRef>
          <a:fontRef idx="minor">
            <a:schemeClr val="tx1"/>
          </a:fontRef>
        </p:style>
      </p:cxnSp>
      <p:sp>
        <p:nvSpPr>
          <p:cNvPr id="21" name="TextBox 20"/>
          <p:cNvSpPr txBox="1"/>
          <p:nvPr/>
        </p:nvSpPr>
        <p:spPr>
          <a:xfrm>
            <a:off x="1611249" y="2039112"/>
            <a:ext cx="252603" cy="256032"/>
          </a:xfrm>
          <a:prstGeom prst="rect">
            <a:avLst/>
          </a:prstGeom>
          <a:noFill/>
        </p:spPr>
        <p:txBody>
          <a:bodyPr wrap="none" lIns="0" rIns="0" tIns="0" bIns="0">
            <a:spAutoFit/>
          </a:bodyPr>
          <a:lstStyle/>
          <a:p>
            <a:pPr algn="ctr">
              <a:lnSpc>
                <a:spcPts val="2240"/>
              </a:lnSpc>
              <a:spcAft>
                <a:spcPts val="0"/>
              </a:spcAft>
              <a:defRPr sz="2000" b="0">
                <a:solidFill>
                  <a:srgbClr val="182B3A"/>
                </a:solidFill>
                <a:latin typeface="Arial"/>
              </a:defRPr>
            </a:pPr>
            <a:r>
              <a:t>7</a:t>
            </a:r>
          </a:p>
        </p:txBody>
      </p:sp>
      <p:sp>
        <p:nvSpPr>
          <p:cNvPr id="22" name="Rectangle 21"/>
          <p:cNvSpPr/>
          <p:nvPr/>
        </p:nvSpPr>
        <p:spPr>
          <a:xfrm>
            <a:off x="320040" y="2587752"/>
            <a:ext cx="4640580" cy="1005840"/>
          </a:xfrm>
          <a:prstGeom prst="rect">
            <a:avLst/>
          </a:prstGeom>
          <a:solidFill>
            <a:srgbClr val="EDF6F5"/>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411479" y="2843784"/>
            <a:ext cx="320040" cy="365760"/>
          </a:xfrm>
          <a:prstGeom prst="rect">
            <a:avLst/>
          </a:prstGeom>
          <a:noFill/>
        </p:spPr>
        <p:txBody>
          <a:bodyPr wrap="square" lIns="54864" rIns="54864" tIns="22860" bIns="22860">
            <a:spAutoFit/>
          </a:bodyPr>
          <a:lstStyle/>
          <a:p>
            <a:pPr>
              <a:lnSpc>
                <a:spcPts val="2205"/>
              </a:lnSpc>
              <a:spcBef>
                <a:spcPts val="0"/>
              </a:spcBef>
              <a:spcAft>
                <a:spcPts val="0"/>
              </a:spcAft>
              <a:defRPr sz="2100" b="1">
                <a:solidFill>
                  <a:srgbClr val="182B3A"/>
                </a:solidFill>
                <a:latin typeface="Arial"/>
              </a:defRPr>
            </a:pPr>
            <a:r>
              <a:t>2.</a:t>
            </a:r>
          </a:p>
        </p:txBody>
      </p:sp>
      <p:sp>
        <p:nvSpPr>
          <p:cNvPr id="24" name="TextBox 23"/>
          <p:cNvSpPr txBox="1"/>
          <p:nvPr/>
        </p:nvSpPr>
        <p:spPr>
          <a:xfrm>
            <a:off x="914399" y="2761488"/>
            <a:ext cx="395180" cy="256032"/>
          </a:xfrm>
          <a:prstGeom prst="rect">
            <a:avLst/>
          </a:prstGeom>
          <a:noFill/>
        </p:spPr>
        <p:txBody>
          <a:bodyPr wrap="none" lIns="0" rIns="0" tIns="0" bIns="0">
            <a:spAutoFit/>
          </a:bodyPr>
          <a:lstStyle/>
          <a:p>
            <a:pPr algn="ctr">
              <a:lnSpc>
                <a:spcPts val="2240"/>
              </a:lnSpc>
              <a:spcAft>
                <a:spcPts val="0"/>
              </a:spcAft>
              <a:defRPr sz="2000" b="0">
                <a:solidFill>
                  <a:srgbClr val="182B3A"/>
                </a:solidFill>
                <a:latin typeface="Arial"/>
              </a:defRPr>
            </a:pPr>
            <a:r>
              <a:t>6</a:t>
            </a:r>
          </a:p>
        </p:txBody>
      </p:sp>
      <p:cxnSp>
        <p:nvCxnSpPr>
          <p:cNvPr id="25" name="Connector 24"/>
          <p:cNvCxnSpPr/>
          <p:nvPr/>
        </p:nvCxnSpPr>
        <p:spPr>
          <a:xfrm>
            <a:off x="914399" y="3026664"/>
            <a:ext cx="395181" cy="0"/>
          </a:xfrm>
          <a:prstGeom prst="line">
            <a:avLst/>
          </a:prstGeom>
          <a:ln w="12700">
            <a:solidFill>
              <a:srgbClr val="182B3A"/>
            </a:solidFill>
          </a:ln>
          <a:effectLst/>
        </p:spPr>
        <p:style>
          <a:lnRef idx="2">
            <a:schemeClr val="accent1"/>
          </a:lnRef>
          <a:fillRef idx="0">
            <a:schemeClr val="accent1"/>
          </a:fillRef>
          <a:effectRef idx="1">
            <a:schemeClr val="accent1"/>
          </a:effectRef>
          <a:fontRef idx="minor">
            <a:schemeClr val="tx1"/>
          </a:fontRef>
        </p:style>
      </p:cxnSp>
      <p:sp>
        <p:nvSpPr>
          <p:cNvPr id="26" name="TextBox 25"/>
          <p:cNvSpPr txBox="1"/>
          <p:nvPr/>
        </p:nvSpPr>
        <p:spPr>
          <a:xfrm>
            <a:off x="914399" y="3044952"/>
            <a:ext cx="395180" cy="256032"/>
          </a:xfrm>
          <a:prstGeom prst="rect">
            <a:avLst/>
          </a:prstGeom>
          <a:noFill/>
        </p:spPr>
        <p:txBody>
          <a:bodyPr wrap="none" lIns="0" rIns="0" tIns="0" bIns="0">
            <a:spAutoFit/>
          </a:bodyPr>
          <a:lstStyle/>
          <a:p>
            <a:pPr algn="ctr">
              <a:lnSpc>
                <a:spcPts val="2240"/>
              </a:lnSpc>
              <a:spcAft>
                <a:spcPts val="0"/>
              </a:spcAft>
              <a:defRPr sz="2000" b="0">
                <a:solidFill>
                  <a:srgbClr val="182B3A"/>
                </a:solidFill>
                <a:latin typeface="Arial"/>
              </a:defRPr>
            </a:pPr>
            <a:r>
              <a:t>11</a:t>
            </a:r>
          </a:p>
        </p:txBody>
      </p:sp>
      <p:sp>
        <p:nvSpPr>
          <p:cNvPr id="27" name="TextBox 26"/>
          <p:cNvSpPr txBox="1"/>
          <p:nvPr/>
        </p:nvSpPr>
        <p:spPr>
          <a:xfrm>
            <a:off x="1364444" y="2880360"/>
            <a:ext cx="389381" cy="347472"/>
          </a:xfrm>
          <a:prstGeom prst="rect">
            <a:avLst/>
          </a:prstGeom>
          <a:noFill/>
        </p:spPr>
        <p:txBody>
          <a:bodyPr wrap="none" lIns="0" rIns="0" tIns="0" bIns="0">
            <a:spAutoFit/>
          </a:bodyPr>
          <a:lstStyle/>
          <a:p>
            <a:pPr algn="l">
              <a:lnSpc>
                <a:spcPts val="2800"/>
              </a:lnSpc>
              <a:spcAft>
                <a:spcPts val="0"/>
              </a:spcAft>
              <a:defRPr sz="2500" b="0">
                <a:solidFill>
                  <a:srgbClr val="182B3A"/>
                </a:solidFill>
                <a:latin typeface="Arial"/>
              </a:defRPr>
            </a:pPr>
            <a:r>
              <a:t> − </a:t>
            </a:r>
          </a:p>
        </p:txBody>
      </p:sp>
      <p:sp>
        <p:nvSpPr>
          <p:cNvPr id="28" name="TextBox 27"/>
          <p:cNvSpPr txBox="1"/>
          <p:nvPr/>
        </p:nvSpPr>
        <p:spPr>
          <a:xfrm>
            <a:off x="1753826" y="2761488"/>
            <a:ext cx="395180" cy="256032"/>
          </a:xfrm>
          <a:prstGeom prst="rect">
            <a:avLst/>
          </a:prstGeom>
          <a:noFill/>
        </p:spPr>
        <p:txBody>
          <a:bodyPr wrap="none" lIns="0" rIns="0" tIns="0" bIns="0">
            <a:spAutoFit/>
          </a:bodyPr>
          <a:lstStyle/>
          <a:p>
            <a:pPr algn="ctr">
              <a:lnSpc>
                <a:spcPts val="2240"/>
              </a:lnSpc>
              <a:spcAft>
                <a:spcPts val="0"/>
              </a:spcAft>
              <a:defRPr sz="2000" b="0">
                <a:solidFill>
                  <a:srgbClr val="182B3A"/>
                </a:solidFill>
                <a:latin typeface="Arial"/>
              </a:defRPr>
            </a:pPr>
            <a:r>
              <a:t>1</a:t>
            </a:r>
          </a:p>
        </p:txBody>
      </p:sp>
      <p:cxnSp>
        <p:nvCxnSpPr>
          <p:cNvPr id="29" name="Connector 28"/>
          <p:cNvCxnSpPr/>
          <p:nvPr/>
        </p:nvCxnSpPr>
        <p:spPr>
          <a:xfrm>
            <a:off x="1753826" y="3026664"/>
            <a:ext cx="395180" cy="0"/>
          </a:xfrm>
          <a:prstGeom prst="line">
            <a:avLst/>
          </a:prstGeom>
          <a:ln w="12700">
            <a:solidFill>
              <a:srgbClr val="182B3A"/>
            </a:solidFill>
          </a:ln>
          <a:effectLst/>
        </p:spPr>
        <p:style>
          <a:lnRef idx="2">
            <a:schemeClr val="accent1"/>
          </a:lnRef>
          <a:fillRef idx="0">
            <a:schemeClr val="accent1"/>
          </a:fillRef>
          <a:effectRef idx="1">
            <a:schemeClr val="accent1"/>
          </a:effectRef>
          <a:fontRef idx="minor">
            <a:schemeClr val="tx1"/>
          </a:fontRef>
        </p:style>
      </p:cxnSp>
      <p:sp>
        <p:nvSpPr>
          <p:cNvPr id="30" name="TextBox 29"/>
          <p:cNvSpPr txBox="1"/>
          <p:nvPr/>
        </p:nvSpPr>
        <p:spPr>
          <a:xfrm>
            <a:off x="1753826" y="3044952"/>
            <a:ext cx="395180" cy="256032"/>
          </a:xfrm>
          <a:prstGeom prst="rect">
            <a:avLst/>
          </a:prstGeom>
          <a:noFill/>
        </p:spPr>
        <p:txBody>
          <a:bodyPr wrap="none" lIns="0" rIns="0" tIns="0" bIns="0">
            <a:spAutoFit/>
          </a:bodyPr>
          <a:lstStyle/>
          <a:p>
            <a:pPr algn="ctr">
              <a:lnSpc>
                <a:spcPts val="2240"/>
              </a:lnSpc>
              <a:spcAft>
                <a:spcPts val="0"/>
              </a:spcAft>
              <a:defRPr sz="2000" b="0">
                <a:solidFill>
                  <a:srgbClr val="182B3A"/>
                </a:solidFill>
                <a:latin typeface="Arial"/>
              </a:defRPr>
            </a:pPr>
            <a:r>
              <a:t>11</a:t>
            </a:r>
          </a:p>
        </p:txBody>
      </p:sp>
      <p:sp>
        <p:nvSpPr>
          <p:cNvPr id="31" name="Rectangle 30"/>
          <p:cNvSpPr/>
          <p:nvPr/>
        </p:nvSpPr>
        <p:spPr>
          <a:xfrm>
            <a:off x="320040" y="3593592"/>
            <a:ext cx="4640580" cy="1005840"/>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411479" y="3849624"/>
            <a:ext cx="320040" cy="365760"/>
          </a:xfrm>
          <a:prstGeom prst="rect">
            <a:avLst/>
          </a:prstGeom>
          <a:noFill/>
        </p:spPr>
        <p:txBody>
          <a:bodyPr wrap="square" lIns="54864" rIns="54864" tIns="22860" bIns="22860">
            <a:spAutoFit/>
          </a:bodyPr>
          <a:lstStyle/>
          <a:p>
            <a:pPr>
              <a:lnSpc>
                <a:spcPts val="2205"/>
              </a:lnSpc>
              <a:spcBef>
                <a:spcPts val="0"/>
              </a:spcBef>
              <a:spcAft>
                <a:spcPts val="0"/>
              </a:spcAft>
              <a:defRPr sz="2100" b="1">
                <a:solidFill>
                  <a:srgbClr val="182B3A"/>
                </a:solidFill>
                <a:latin typeface="Arial"/>
              </a:defRPr>
            </a:pPr>
            <a:r>
              <a:t>3.</a:t>
            </a:r>
          </a:p>
        </p:txBody>
      </p:sp>
      <p:sp>
        <p:nvSpPr>
          <p:cNvPr id="33" name="TextBox 32"/>
          <p:cNvSpPr txBox="1"/>
          <p:nvPr/>
        </p:nvSpPr>
        <p:spPr>
          <a:xfrm>
            <a:off x="914399" y="3767328"/>
            <a:ext cx="252603" cy="256032"/>
          </a:xfrm>
          <a:prstGeom prst="rect">
            <a:avLst/>
          </a:prstGeom>
          <a:noFill/>
        </p:spPr>
        <p:txBody>
          <a:bodyPr wrap="none" lIns="0" rIns="0" tIns="0" bIns="0">
            <a:spAutoFit/>
          </a:bodyPr>
          <a:lstStyle/>
          <a:p>
            <a:pPr algn="ctr">
              <a:lnSpc>
                <a:spcPts val="2240"/>
              </a:lnSpc>
              <a:spcAft>
                <a:spcPts val="0"/>
              </a:spcAft>
              <a:defRPr sz="2000" b="0">
                <a:solidFill>
                  <a:srgbClr val="182B3A"/>
                </a:solidFill>
                <a:latin typeface="Arial"/>
              </a:defRPr>
            </a:pPr>
            <a:r>
              <a:t>2</a:t>
            </a:r>
          </a:p>
        </p:txBody>
      </p:sp>
      <p:cxnSp>
        <p:nvCxnSpPr>
          <p:cNvPr id="34" name="Connector 33"/>
          <p:cNvCxnSpPr/>
          <p:nvPr/>
        </p:nvCxnSpPr>
        <p:spPr>
          <a:xfrm>
            <a:off x="914399" y="4032504"/>
            <a:ext cx="252604" cy="0"/>
          </a:xfrm>
          <a:prstGeom prst="line">
            <a:avLst/>
          </a:prstGeom>
          <a:ln w="12700">
            <a:solidFill>
              <a:srgbClr val="182B3A"/>
            </a:solidFill>
          </a:ln>
          <a:effectLst/>
        </p:spPr>
        <p:style>
          <a:lnRef idx="2">
            <a:schemeClr val="accent1"/>
          </a:lnRef>
          <a:fillRef idx="0">
            <a:schemeClr val="accent1"/>
          </a:fillRef>
          <a:effectRef idx="1">
            <a:schemeClr val="accent1"/>
          </a:effectRef>
          <a:fontRef idx="minor">
            <a:schemeClr val="tx1"/>
          </a:fontRef>
        </p:style>
      </p:cxnSp>
      <p:sp>
        <p:nvSpPr>
          <p:cNvPr id="35" name="TextBox 34"/>
          <p:cNvSpPr txBox="1"/>
          <p:nvPr/>
        </p:nvSpPr>
        <p:spPr>
          <a:xfrm>
            <a:off x="914399" y="4050791"/>
            <a:ext cx="252603" cy="256032"/>
          </a:xfrm>
          <a:prstGeom prst="rect">
            <a:avLst/>
          </a:prstGeom>
          <a:noFill/>
        </p:spPr>
        <p:txBody>
          <a:bodyPr wrap="none" lIns="0" rIns="0" tIns="0" bIns="0">
            <a:spAutoFit/>
          </a:bodyPr>
          <a:lstStyle/>
          <a:p>
            <a:pPr algn="ctr">
              <a:lnSpc>
                <a:spcPts val="2240"/>
              </a:lnSpc>
              <a:spcAft>
                <a:spcPts val="0"/>
              </a:spcAft>
              <a:defRPr sz="2000" b="0">
                <a:solidFill>
                  <a:srgbClr val="182B3A"/>
                </a:solidFill>
                <a:latin typeface="Arial"/>
              </a:defRPr>
            </a:pPr>
            <a:r>
              <a:t>7</a:t>
            </a:r>
          </a:p>
        </p:txBody>
      </p:sp>
      <p:sp>
        <p:nvSpPr>
          <p:cNvPr id="36" name="TextBox 35"/>
          <p:cNvSpPr txBox="1"/>
          <p:nvPr/>
        </p:nvSpPr>
        <p:spPr>
          <a:xfrm>
            <a:off x="1221867" y="3886200"/>
            <a:ext cx="389381" cy="347472"/>
          </a:xfrm>
          <a:prstGeom prst="rect">
            <a:avLst/>
          </a:prstGeom>
          <a:noFill/>
        </p:spPr>
        <p:txBody>
          <a:bodyPr wrap="none" lIns="0" rIns="0" tIns="0" bIns="0">
            <a:spAutoFit/>
          </a:bodyPr>
          <a:lstStyle/>
          <a:p>
            <a:pPr algn="l">
              <a:lnSpc>
                <a:spcPts val="2800"/>
              </a:lnSpc>
              <a:spcAft>
                <a:spcPts val="0"/>
              </a:spcAft>
              <a:defRPr sz="2500" b="0">
                <a:solidFill>
                  <a:srgbClr val="182B3A"/>
                </a:solidFill>
                <a:latin typeface="Arial"/>
              </a:defRPr>
            </a:pPr>
            <a:r>
              <a:t> + </a:t>
            </a:r>
          </a:p>
        </p:txBody>
      </p:sp>
      <p:sp>
        <p:nvSpPr>
          <p:cNvPr id="37" name="TextBox 36"/>
          <p:cNvSpPr txBox="1"/>
          <p:nvPr/>
        </p:nvSpPr>
        <p:spPr>
          <a:xfrm>
            <a:off x="1611249" y="3767328"/>
            <a:ext cx="252603" cy="256032"/>
          </a:xfrm>
          <a:prstGeom prst="rect">
            <a:avLst/>
          </a:prstGeom>
          <a:noFill/>
        </p:spPr>
        <p:txBody>
          <a:bodyPr wrap="none" lIns="0" rIns="0" tIns="0" bIns="0">
            <a:spAutoFit/>
          </a:bodyPr>
          <a:lstStyle/>
          <a:p>
            <a:pPr algn="ctr">
              <a:lnSpc>
                <a:spcPts val="2240"/>
              </a:lnSpc>
              <a:spcAft>
                <a:spcPts val="0"/>
              </a:spcAft>
              <a:defRPr sz="2000" b="0">
                <a:solidFill>
                  <a:srgbClr val="182B3A"/>
                </a:solidFill>
                <a:latin typeface="Arial"/>
              </a:defRPr>
            </a:pPr>
            <a:r>
              <a:t>6</a:t>
            </a:r>
          </a:p>
        </p:txBody>
      </p:sp>
      <p:cxnSp>
        <p:nvCxnSpPr>
          <p:cNvPr id="38" name="Connector 37"/>
          <p:cNvCxnSpPr/>
          <p:nvPr/>
        </p:nvCxnSpPr>
        <p:spPr>
          <a:xfrm>
            <a:off x="1611249" y="4032504"/>
            <a:ext cx="252602" cy="0"/>
          </a:xfrm>
          <a:prstGeom prst="line">
            <a:avLst/>
          </a:prstGeom>
          <a:ln w="12700">
            <a:solidFill>
              <a:srgbClr val="182B3A"/>
            </a:solidFill>
          </a:ln>
          <a:effectLst/>
        </p:spPr>
        <p:style>
          <a:lnRef idx="2">
            <a:schemeClr val="accent1"/>
          </a:lnRef>
          <a:fillRef idx="0">
            <a:schemeClr val="accent1"/>
          </a:fillRef>
          <a:effectRef idx="1">
            <a:schemeClr val="accent1"/>
          </a:effectRef>
          <a:fontRef idx="minor">
            <a:schemeClr val="tx1"/>
          </a:fontRef>
        </p:style>
      </p:cxnSp>
      <p:sp>
        <p:nvSpPr>
          <p:cNvPr id="39" name="TextBox 38"/>
          <p:cNvSpPr txBox="1"/>
          <p:nvPr/>
        </p:nvSpPr>
        <p:spPr>
          <a:xfrm>
            <a:off x="1611249" y="4050791"/>
            <a:ext cx="252603" cy="256032"/>
          </a:xfrm>
          <a:prstGeom prst="rect">
            <a:avLst/>
          </a:prstGeom>
          <a:noFill/>
        </p:spPr>
        <p:txBody>
          <a:bodyPr wrap="none" lIns="0" rIns="0" tIns="0" bIns="0">
            <a:spAutoFit/>
          </a:bodyPr>
          <a:lstStyle/>
          <a:p>
            <a:pPr algn="ctr">
              <a:lnSpc>
                <a:spcPts val="2240"/>
              </a:lnSpc>
              <a:spcAft>
                <a:spcPts val="0"/>
              </a:spcAft>
              <a:defRPr sz="2000" b="0">
                <a:solidFill>
                  <a:srgbClr val="182B3A"/>
                </a:solidFill>
                <a:latin typeface="Arial"/>
              </a:defRPr>
            </a:pPr>
            <a:r>
              <a:t>7</a:t>
            </a:r>
          </a:p>
        </p:txBody>
      </p:sp>
      <p:sp>
        <p:nvSpPr>
          <p:cNvPr id="40" name="Rectangle 39"/>
          <p:cNvSpPr/>
          <p:nvPr/>
        </p:nvSpPr>
        <p:spPr>
          <a:xfrm>
            <a:off x="320040" y="4599432"/>
            <a:ext cx="4640580" cy="1005840"/>
          </a:xfrm>
          <a:prstGeom prst="rect">
            <a:avLst/>
          </a:prstGeom>
          <a:solidFill>
            <a:srgbClr val="EDF6F5"/>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411479" y="4855464"/>
            <a:ext cx="320040" cy="365760"/>
          </a:xfrm>
          <a:prstGeom prst="rect">
            <a:avLst/>
          </a:prstGeom>
          <a:noFill/>
        </p:spPr>
        <p:txBody>
          <a:bodyPr wrap="square" lIns="54864" rIns="54864" tIns="22860" bIns="22860">
            <a:spAutoFit/>
          </a:bodyPr>
          <a:lstStyle/>
          <a:p>
            <a:pPr>
              <a:lnSpc>
                <a:spcPts val="2205"/>
              </a:lnSpc>
              <a:spcBef>
                <a:spcPts val="0"/>
              </a:spcBef>
              <a:spcAft>
                <a:spcPts val="0"/>
              </a:spcAft>
              <a:defRPr sz="2100" b="1">
                <a:solidFill>
                  <a:srgbClr val="182B3A"/>
                </a:solidFill>
                <a:latin typeface="Arial"/>
              </a:defRPr>
            </a:pPr>
            <a:r>
              <a:t>4.</a:t>
            </a:r>
          </a:p>
        </p:txBody>
      </p:sp>
      <p:sp>
        <p:nvSpPr>
          <p:cNvPr id="42" name="TextBox 41"/>
          <p:cNvSpPr txBox="1"/>
          <p:nvPr/>
        </p:nvSpPr>
        <p:spPr>
          <a:xfrm>
            <a:off x="914399" y="4773168"/>
            <a:ext cx="252603" cy="256032"/>
          </a:xfrm>
          <a:prstGeom prst="rect">
            <a:avLst/>
          </a:prstGeom>
          <a:noFill/>
        </p:spPr>
        <p:txBody>
          <a:bodyPr wrap="none" lIns="0" rIns="0" tIns="0" bIns="0">
            <a:spAutoFit/>
          </a:bodyPr>
          <a:lstStyle/>
          <a:p>
            <a:pPr algn="ctr">
              <a:lnSpc>
                <a:spcPts val="2240"/>
              </a:lnSpc>
              <a:spcAft>
                <a:spcPts val="0"/>
              </a:spcAft>
              <a:defRPr sz="2000" b="0">
                <a:solidFill>
                  <a:srgbClr val="182B3A"/>
                </a:solidFill>
                <a:latin typeface="Arial"/>
              </a:defRPr>
            </a:pPr>
            <a:r>
              <a:t>4</a:t>
            </a:r>
          </a:p>
        </p:txBody>
      </p:sp>
      <p:cxnSp>
        <p:nvCxnSpPr>
          <p:cNvPr id="43" name="Connector 42"/>
          <p:cNvCxnSpPr/>
          <p:nvPr/>
        </p:nvCxnSpPr>
        <p:spPr>
          <a:xfrm>
            <a:off x="914399" y="5038344"/>
            <a:ext cx="252604" cy="0"/>
          </a:xfrm>
          <a:prstGeom prst="line">
            <a:avLst/>
          </a:prstGeom>
          <a:ln w="12700">
            <a:solidFill>
              <a:srgbClr val="182B3A"/>
            </a:solidFill>
          </a:ln>
          <a:effectLst/>
        </p:spPr>
        <p:style>
          <a:lnRef idx="2">
            <a:schemeClr val="accent1"/>
          </a:lnRef>
          <a:fillRef idx="0">
            <a:schemeClr val="accent1"/>
          </a:fillRef>
          <a:effectRef idx="1">
            <a:schemeClr val="accent1"/>
          </a:effectRef>
          <a:fontRef idx="minor">
            <a:schemeClr val="tx1"/>
          </a:fontRef>
        </p:style>
      </p:cxnSp>
      <p:sp>
        <p:nvSpPr>
          <p:cNvPr id="44" name="TextBox 43"/>
          <p:cNvSpPr txBox="1"/>
          <p:nvPr/>
        </p:nvSpPr>
        <p:spPr>
          <a:xfrm>
            <a:off x="914399" y="5056632"/>
            <a:ext cx="252603" cy="256032"/>
          </a:xfrm>
          <a:prstGeom prst="rect">
            <a:avLst/>
          </a:prstGeom>
          <a:noFill/>
        </p:spPr>
        <p:txBody>
          <a:bodyPr wrap="none" lIns="0" rIns="0" tIns="0" bIns="0">
            <a:spAutoFit/>
          </a:bodyPr>
          <a:lstStyle/>
          <a:p>
            <a:pPr algn="ctr">
              <a:lnSpc>
                <a:spcPts val="2240"/>
              </a:lnSpc>
              <a:spcAft>
                <a:spcPts val="0"/>
              </a:spcAft>
              <a:defRPr sz="2000" b="0">
                <a:solidFill>
                  <a:srgbClr val="182B3A"/>
                </a:solidFill>
                <a:latin typeface="Arial"/>
              </a:defRPr>
            </a:pPr>
            <a:r>
              <a:t>7</a:t>
            </a:r>
          </a:p>
        </p:txBody>
      </p:sp>
      <p:sp>
        <p:nvSpPr>
          <p:cNvPr id="45" name="TextBox 44"/>
          <p:cNvSpPr txBox="1"/>
          <p:nvPr/>
        </p:nvSpPr>
        <p:spPr>
          <a:xfrm>
            <a:off x="1221867" y="4892040"/>
            <a:ext cx="389381" cy="347472"/>
          </a:xfrm>
          <a:prstGeom prst="rect">
            <a:avLst/>
          </a:prstGeom>
          <a:noFill/>
        </p:spPr>
        <p:txBody>
          <a:bodyPr wrap="none" lIns="0" rIns="0" tIns="0" bIns="0">
            <a:spAutoFit/>
          </a:bodyPr>
          <a:lstStyle/>
          <a:p>
            <a:pPr algn="l">
              <a:lnSpc>
                <a:spcPts val="2800"/>
              </a:lnSpc>
              <a:spcAft>
                <a:spcPts val="0"/>
              </a:spcAft>
              <a:defRPr sz="2500" b="0">
                <a:solidFill>
                  <a:srgbClr val="182B3A"/>
                </a:solidFill>
                <a:latin typeface="Arial"/>
              </a:defRPr>
            </a:pPr>
            <a:r>
              <a:t> + </a:t>
            </a:r>
          </a:p>
        </p:txBody>
      </p:sp>
      <p:sp>
        <p:nvSpPr>
          <p:cNvPr id="46" name="TextBox 45"/>
          <p:cNvSpPr txBox="1"/>
          <p:nvPr/>
        </p:nvSpPr>
        <p:spPr>
          <a:xfrm>
            <a:off x="1611249" y="4773168"/>
            <a:ext cx="252603" cy="256032"/>
          </a:xfrm>
          <a:prstGeom prst="rect">
            <a:avLst/>
          </a:prstGeom>
          <a:noFill/>
        </p:spPr>
        <p:txBody>
          <a:bodyPr wrap="none" lIns="0" rIns="0" tIns="0" bIns="0">
            <a:spAutoFit/>
          </a:bodyPr>
          <a:lstStyle/>
          <a:p>
            <a:pPr algn="ctr">
              <a:lnSpc>
                <a:spcPts val="2240"/>
              </a:lnSpc>
              <a:spcAft>
                <a:spcPts val="0"/>
              </a:spcAft>
              <a:defRPr sz="2000" b="0">
                <a:solidFill>
                  <a:srgbClr val="182B3A"/>
                </a:solidFill>
                <a:latin typeface="Arial"/>
              </a:defRPr>
            </a:pPr>
            <a:r>
              <a:t>1</a:t>
            </a:r>
          </a:p>
        </p:txBody>
      </p:sp>
      <p:cxnSp>
        <p:nvCxnSpPr>
          <p:cNvPr id="47" name="Connector 46"/>
          <p:cNvCxnSpPr/>
          <p:nvPr/>
        </p:nvCxnSpPr>
        <p:spPr>
          <a:xfrm>
            <a:off x="1611249" y="5038344"/>
            <a:ext cx="252602" cy="0"/>
          </a:xfrm>
          <a:prstGeom prst="line">
            <a:avLst/>
          </a:prstGeom>
          <a:ln w="12700">
            <a:solidFill>
              <a:srgbClr val="182B3A"/>
            </a:solidFill>
          </a:ln>
          <a:effectLst/>
        </p:spPr>
        <p:style>
          <a:lnRef idx="2">
            <a:schemeClr val="accent1"/>
          </a:lnRef>
          <a:fillRef idx="0">
            <a:schemeClr val="accent1"/>
          </a:fillRef>
          <a:effectRef idx="1">
            <a:schemeClr val="accent1"/>
          </a:effectRef>
          <a:fontRef idx="minor">
            <a:schemeClr val="tx1"/>
          </a:fontRef>
        </p:style>
      </p:cxnSp>
      <p:sp>
        <p:nvSpPr>
          <p:cNvPr id="48" name="TextBox 47"/>
          <p:cNvSpPr txBox="1"/>
          <p:nvPr/>
        </p:nvSpPr>
        <p:spPr>
          <a:xfrm>
            <a:off x="1611249" y="5056632"/>
            <a:ext cx="252603" cy="256032"/>
          </a:xfrm>
          <a:prstGeom prst="rect">
            <a:avLst/>
          </a:prstGeom>
          <a:noFill/>
        </p:spPr>
        <p:txBody>
          <a:bodyPr wrap="none" lIns="0" rIns="0" tIns="0" bIns="0">
            <a:spAutoFit/>
          </a:bodyPr>
          <a:lstStyle/>
          <a:p>
            <a:pPr algn="ctr">
              <a:lnSpc>
                <a:spcPts val="2240"/>
              </a:lnSpc>
              <a:spcAft>
                <a:spcPts val="0"/>
              </a:spcAft>
              <a:defRPr sz="2000" b="0">
                <a:solidFill>
                  <a:srgbClr val="182B3A"/>
                </a:solidFill>
                <a:latin typeface="Arial"/>
              </a:defRPr>
            </a:pPr>
            <a:r>
              <a:t>7</a:t>
            </a:r>
          </a:p>
        </p:txBody>
      </p:sp>
      <p:sp>
        <p:nvSpPr>
          <p:cNvPr id="49" name="Rectangle 48"/>
          <p:cNvSpPr/>
          <p:nvPr/>
        </p:nvSpPr>
        <p:spPr>
          <a:xfrm>
            <a:off x="320040" y="5605272"/>
            <a:ext cx="4640580" cy="1005840"/>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TextBox 49"/>
          <p:cNvSpPr txBox="1"/>
          <p:nvPr/>
        </p:nvSpPr>
        <p:spPr>
          <a:xfrm>
            <a:off x="411479" y="5861304"/>
            <a:ext cx="320040" cy="365760"/>
          </a:xfrm>
          <a:prstGeom prst="rect">
            <a:avLst/>
          </a:prstGeom>
          <a:noFill/>
        </p:spPr>
        <p:txBody>
          <a:bodyPr wrap="square" lIns="54864" rIns="54864" tIns="22860" bIns="22860">
            <a:spAutoFit/>
          </a:bodyPr>
          <a:lstStyle/>
          <a:p>
            <a:pPr>
              <a:lnSpc>
                <a:spcPts val="2205"/>
              </a:lnSpc>
              <a:spcBef>
                <a:spcPts val="0"/>
              </a:spcBef>
              <a:spcAft>
                <a:spcPts val="0"/>
              </a:spcAft>
              <a:defRPr sz="2100" b="1">
                <a:solidFill>
                  <a:srgbClr val="182B3A"/>
                </a:solidFill>
                <a:latin typeface="Arial"/>
              </a:defRPr>
            </a:pPr>
            <a:r>
              <a:t>5.</a:t>
            </a:r>
          </a:p>
        </p:txBody>
      </p:sp>
      <p:sp>
        <p:nvSpPr>
          <p:cNvPr id="51" name="TextBox 50"/>
          <p:cNvSpPr txBox="1"/>
          <p:nvPr/>
        </p:nvSpPr>
        <p:spPr>
          <a:xfrm>
            <a:off x="914399" y="5779008"/>
            <a:ext cx="252603" cy="256032"/>
          </a:xfrm>
          <a:prstGeom prst="rect">
            <a:avLst/>
          </a:prstGeom>
          <a:noFill/>
        </p:spPr>
        <p:txBody>
          <a:bodyPr wrap="none" lIns="0" rIns="0" tIns="0" bIns="0">
            <a:spAutoFit/>
          </a:bodyPr>
          <a:lstStyle/>
          <a:p>
            <a:pPr algn="ctr">
              <a:lnSpc>
                <a:spcPts val="2240"/>
              </a:lnSpc>
              <a:spcAft>
                <a:spcPts val="0"/>
              </a:spcAft>
              <a:defRPr sz="2000" b="0">
                <a:solidFill>
                  <a:srgbClr val="182B3A"/>
                </a:solidFill>
                <a:latin typeface="Arial"/>
              </a:defRPr>
            </a:pPr>
            <a:r>
              <a:t>8</a:t>
            </a:r>
          </a:p>
        </p:txBody>
      </p:sp>
      <p:cxnSp>
        <p:nvCxnSpPr>
          <p:cNvPr id="52" name="Connector 51"/>
          <p:cNvCxnSpPr/>
          <p:nvPr/>
        </p:nvCxnSpPr>
        <p:spPr>
          <a:xfrm>
            <a:off x="914399" y="6044184"/>
            <a:ext cx="252604" cy="0"/>
          </a:xfrm>
          <a:prstGeom prst="line">
            <a:avLst/>
          </a:prstGeom>
          <a:ln w="12700">
            <a:solidFill>
              <a:srgbClr val="182B3A"/>
            </a:solidFill>
          </a:ln>
          <a:effectLst/>
        </p:spPr>
        <p:style>
          <a:lnRef idx="2">
            <a:schemeClr val="accent1"/>
          </a:lnRef>
          <a:fillRef idx="0">
            <a:schemeClr val="accent1"/>
          </a:fillRef>
          <a:effectRef idx="1">
            <a:schemeClr val="accent1"/>
          </a:effectRef>
          <a:fontRef idx="minor">
            <a:schemeClr val="tx1"/>
          </a:fontRef>
        </p:style>
      </p:cxnSp>
      <p:sp>
        <p:nvSpPr>
          <p:cNvPr id="53" name="TextBox 52"/>
          <p:cNvSpPr txBox="1"/>
          <p:nvPr/>
        </p:nvSpPr>
        <p:spPr>
          <a:xfrm>
            <a:off x="914399" y="6062472"/>
            <a:ext cx="252603" cy="256032"/>
          </a:xfrm>
          <a:prstGeom prst="rect">
            <a:avLst/>
          </a:prstGeom>
          <a:noFill/>
        </p:spPr>
        <p:txBody>
          <a:bodyPr wrap="none" lIns="0" rIns="0" tIns="0" bIns="0">
            <a:spAutoFit/>
          </a:bodyPr>
          <a:lstStyle/>
          <a:p>
            <a:pPr algn="ctr">
              <a:lnSpc>
                <a:spcPts val="2240"/>
              </a:lnSpc>
              <a:spcAft>
                <a:spcPts val="0"/>
              </a:spcAft>
              <a:defRPr sz="2000" b="0">
                <a:solidFill>
                  <a:srgbClr val="182B3A"/>
                </a:solidFill>
                <a:latin typeface="Arial"/>
              </a:defRPr>
            </a:pPr>
            <a:r>
              <a:t>9</a:t>
            </a:r>
          </a:p>
        </p:txBody>
      </p:sp>
      <p:sp>
        <p:nvSpPr>
          <p:cNvPr id="54" name="TextBox 53"/>
          <p:cNvSpPr txBox="1"/>
          <p:nvPr/>
        </p:nvSpPr>
        <p:spPr>
          <a:xfrm>
            <a:off x="1221867" y="5897880"/>
            <a:ext cx="389381" cy="347472"/>
          </a:xfrm>
          <a:prstGeom prst="rect">
            <a:avLst/>
          </a:prstGeom>
          <a:noFill/>
        </p:spPr>
        <p:txBody>
          <a:bodyPr wrap="none" lIns="0" rIns="0" tIns="0" bIns="0">
            <a:spAutoFit/>
          </a:bodyPr>
          <a:lstStyle/>
          <a:p>
            <a:pPr algn="l">
              <a:lnSpc>
                <a:spcPts val="2800"/>
              </a:lnSpc>
              <a:spcAft>
                <a:spcPts val="0"/>
              </a:spcAft>
              <a:defRPr sz="2500" b="0">
                <a:solidFill>
                  <a:srgbClr val="182B3A"/>
                </a:solidFill>
                <a:latin typeface="Arial"/>
              </a:defRPr>
            </a:pPr>
            <a:r>
              <a:t> + </a:t>
            </a:r>
          </a:p>
        </p:txBody>
      </p:sp>
      <p:sp>
        <p:nvSpPr>
          <p:cNvPr id="55" name="TextBox 54"/>
          <p:cNvSpPr txBox="1"/>
          <p:nvPr/>
        </p:nvSpPr>
        <p:spPr>
          <a:xfrm>
            <a:off x="1611249" y="5779008"/>
            <a:ext cx="252603" cy="256032"/>
          </a:xfrm>
          <a:prstGeom prst="rect">
            <a:avLst/>
          </a:prstGeom>
          <a:noFill/>
        </p:spPr>
        <p:txBody>
          <a:bodyPr wrap="none" lIns="0" rIns="0" tIns="0" bIns="0">
            <a:spAutoFit/>
          </a:bodyPr>
          <a:lstStyle/>
          <a:p>
            <a:pPr algn="ctr">
              <a:lnSpc>
                <a:spcPts val="2240"/>
              </a:lnSpc>
              <a:spcAft>
                <a:spcPts val="0"/>
              </a:spcAft>
              <a:defRPr sz="2000" b="0">
                <a:solidFill>
                  <a:srgbClr val="182B3A"/>
                </a:solidFill>
                <a:latin typeface="Arial"/>
              </a:defRPr>
            </a:pPr>
            <a:r>
              <a:t>4</a:t>
            </a:r>
          </a:p>
        </p:txBody>
      </p:sp>
      <p:cxnSp>
        <p:nvCxnSpPr>
          <p:cNvPr id="56" name="Connector 55"/>
          <p:cNvCxnSpPr/>
          <p:nvPr/>
        </p:nvCxnSpPr>
        <p:spPr>
          <a:xfrm>
            <a:off x="1611249" y="6044184"/>
            <a:ext cx="252602" cy="0"/>
          </a:xfrm>
          <a:prstGeom prst="line">
            <a:avLst/>
          </a:prstGeom>
          <a:ln w="12700">
            <a:solidFill>
              <a:srgbClr val="182B3A"/>
            </a:solidFill>
          </a:ln>
          <a:effectLst/>
        </p:spPr>
        <p:style>
          <a:lnRef idx="2">
            <a:schemeClr val="accent1"/>
          </a:lnRef>
          <a:fillRef idx="0">
            <a:schemeClr val="accent1"/>
          </a:fillRef>
          <a:effectRef idx="1">
            <a:schemeClr val="accent1"/>
          </a:effectRef>
          <a:fontRef idx="minor">
            <a:schemeClr val="tx1"/>
          </a:fontRef>
        </p:style>
      </p:cxnSp>
      <p:sp>
        <p:nvSpPr>
          <p:cNvPr id="57" name="TextBox 56"/>
          <p:cNvSpPr txBox="1"/>
          <p:nvPr/>
        </p:nvSpPr>
        <p:spPr>
          <a:xfrm>
            <a:off x="1611249" y="6062472"/>
            <a:ext cx="252603" cy="256032"/>
          </a:xfrm>
          <a:prstGeom prst="rect">
            <a:avLst/>
          </a:prstGeom>
          <a:noFill/>
        </p:spPr>
        <p:txBody>
          <a:bodyPr wrap="none" lIns="0" rIns="0" tIns="0" bIns="0">
            <a:spAutoFit/>
          </a:bodyPr>
          <a:lstStyle/>
          <a:p>
            <a:pPr algn="ctr">
              <a:lnSpc>
                <a:spcPts val="2240"/>
              </a:lnSpc>
              <a:spcAft>
                <a:spcPts val="0"/>
              </a:spcAft>
              <a:defRPr sz="2000" b="0">
                <a:solidFill>
                  <a:srgbClr val="182B3A"/>
                </a:solidFill>
                <a:latin typeface="Arial"/>
              </a:defRPr>
            </a:pPr>
            <a:r>
              <a:t>9</a:t>
            </a:r>
          </a:p>
        </p:txBody>
      </p:sp>
      <p:sp>
        <p:nvSpPr>
          <p:cNvPr id="58" name="Rectangle 57"/>
          <p:cNvSpPr/>
          <p:nvPr/>
        </p:nvSpPr>
        <p:spPr>
          <a:xfrm>
            <a:off x="320040" y="6611112"/>
            <a:ext cx="4640580" cy="1005840"/>
          </a:xfrm>
          <a:prstGeom prst="rect">
            <a:avLst/>
          </a:prstGeom>
          <a:solidFill>
            <a:srgbClr val="EDF6F5"/>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 name="TextBox 58"/>
          <p:cNvSpPr txBox="1"/>
          <p:nvPr/>
        </p:nvSpPr>
        <p:spPr>
          <a:xfrm>
            <a:off x="411479" y="6867144"/>
            <a:ext cx="320040" cy="365760"/>
          </a:xfrm>
          <a:prstGeom prst="rect">
            <a:avLst/>
          </a:prstGeom>
          <a:noFill/>
        </p:spPr>
        <p:txBody>
          <a:bodyPr wrap="square" lIns="54864" rIns="54864" tIns="22860" bIns="22860">
            <a:spAutoFit/>
          </a:bodyPr>
          <a:lstStyle/>
          <a:p>
            <a:pPr>
              <a:lnSpc>
                <a:spcPts val="2205"/>
              </a:lnSpc>
              <a:spcBef>
                <a:spcPts val="0"/>
              </a:spcBef>
              <a:spcAft>
                <a:spcPts val="0"/>
              </a:spcAft>
              <a:defRPr sz="2100" b="1">
                <a:solidFill>
                  <a:srgbClr val="182B3A"/>
                </a:solidFill>
                <a:latin typeface="Arial"/>
              </a:defRPr>
            </a:pPr>
            <a:r>
              <a:t>6.</a:t>
            </a:r>
          </a:p>
        </p:txBody>
      </p:sp>
      <p:sp>
        <p:nvSpPr>
          <p:cNvPr id="60" name="TextBox 59"/>
          <p:cNvSpPr txBox="1"/>
          <p:nvPr/>
        </p:nvSpPr>
        <p:spPr>
          <a:xfrm>
            <a:off x="914399" y="6784848"/>
            <a:ext cx="252603" cy="256032"/>
          </a:xfrm>
          <a:prstGeom prst="rect">
            <a:avLst/>
          </a:prstGeom>
          <a:noFill/>
        </p:spPr>
        <p:txBody>
          <a:bodyPr wrap="none" lIns="0" rIns="0" tIns="0" bIns="0">
            <a:spAutoFit/>
          </a:bodyPr>
          <a:lstStyle/>
          <a:p>
            <a:pPr algn="ctr">
              <a:lnSpc>
                <a:spcPts val="2240"/>
              </a:lnSpc>
              <a:spcAft>
                <a:spcPts val="0"/>
              </a:spcAft>
              <a:defRPr sz="2000" b="0">
                <a:solidFill>
                  <a:srgbClr val="182B3A"/>
                </a:solidFill>
                <a:latin typeface="Arial"/>
              </a:defRPr>
            </a:pPr>
            <a:r>
              <a:t>7</a:t>
            </a:r>
          </a:p>
        </p:txBody>
      </p:sp>
      <p:cxnSp>
        <p:nvCxnSpPr>
          <p:cNvPr id="61" name="Connector 60"/>
          <p:cNvCxnSpPr/>
          <p:nvPr/>
        </p:nvCxnSpPr>
        <p:spPr>
          <a:xfrm>
            <a:off x="914399" y="7050024"/>
            <a:ext cx="252604" cy="0"/>
          </a:xfrm>
          <a:prstGeom prst="line">
            <a:avLst/>
          </a:prstGeom>
          <a:ln w="12700">
            <a:solidFill>
              <a:srgbClr val="182B3A"/>
            </a:solidFill>
          </a:ln>
          <a:effectLst/>
        </p:spPr>
        <p:style>
          <a:lnRef idx="2">
            <a:schemeClr val="accent1"/>
          </a:lnRef>
          <a:fillRef idx="0">
            <a:schemeClr val="accent1"/>
          </a:fillRef>
          <a:effectRef idx="1">
            <a:schemeClr val="accent1"/>
          </a:effectRef>
          <a:fontRef idx="minor">
            <a:schemeClr val="tx1"/>
          </a:fontRef>
        </p:style>
      </p:cxnSp>
      <p:sp>
        <p:nvSpPr>
          <p:cNvPr id="62" name="TextBox 61"/>
          <p:cNvSpPr txBox="1"/>
          <p:nvPr/>
        </p:nvSpPr>
        <p:spPr>
          <a:xfrm>
            <a:off x="914399" y="7068312"/>
            <a:ext cx="252603" cy="256032"/>
          </a:xfrm>
          <a:prstGeom prst="rect">
            <a:avLst/>
          </a:prstGeom>
          <a:noFill/>
        </p:spPr>
        <p:txBody>
          <a:bodyPr wrap="none" lIns="0" rIns="0" tIns="0" bIns="0">
            <a:spAutoFit/>
          </a:bodyPr>
          <a:lstStyle/>
          <a:p>
            <a:pPr algn="ctr">
              <a:lnSpc>
                <a:spcPts val="2240"/>
              </a:lnSpc>
              <a:spcAft>
                <a:spcPts val="0"/>
              </a:spcAft>
              <a:defRPr sz="2000" b="0">
                <a:solidFill>
                  <a:srgbClr val="182B3A"/>
                </a:solidFill>
                <a:latin typeface="Arial"/>
              </a:defRPr>
            </a:pPr>
            <a:r>
              <a:t>8</a:t>
            </a:r>
          </a:p>
        </p:txBody>
      </p:sp>
      <p:sp>
        <p:nvSpPr>
          <p:cNvPr id="63" name="TextBox 62"/>
          <p:cNvSpPr txBox="1"/>
          <p:nvPr/>
        </p:nvSpPr>
        <p:spPr>
          <a:xfrm>
            <a:off x="1221867" y="6903720"/>
            <a:ext cx="389381" cy="347472"/>
          </a:xfrm>
          <a:prstGeom prst="rect">
            <a:avLst/>
          </a:prstGeom>
          <a:noFill/>
        </p:spPr>
        <p:txBody>
          <a:bodyPr wrap="none" lIns="0" rIns="0" tIns="0" bIns="0">
            <a:spAutoFit/>
          </a:bodyPr>
          <a:lstStyle/>
          <a:p>
            <a:pPr algn="l">
              <a:lnSpc>
                <a:spcPts val="2800"/>
              </a:lnSpc>
              <a:spcAft>
                <a:spcPts val="0"/>
              </a:spcAft>
              <a:defRPr sz="2500" b="0">
                <a:solidFill>
                  <a:srgbClr val="182B3A"/>
                </a:solidFill>
                <a:latin typeface="Arial"/>
              </a:defRPr>
            </a:pPr>
            <a:r>
              <a:t> − </a:t>
            </a:r>
          </a:p>
        </p:txBody>
      </p:sp>
      <p:sp>
        <p:nvSpPr>
          <p:cNvPr id="64" name="TextBox 63"/>
          <p:cNvSpPr txBox="1"/>
          <p:nvPr/>
        </p:nvSpPr>
        <p:spPr>
          <a:xfrm>
            <a:off x="1611249" y="6784848"/>
            <a:ext cx="252603" cy="256032"/>
          </a:xfrm>
          <a:prstGeom prst="rect">
            <a:avLst/>
          </a:prstGeom>
          <a:noFill/>
        </p:spPr>
        <p:txBody>
          <a:bodyPr wrap="none" lIns="0" rIns="0" tIns="0" bIns="0">
            <a:spAutoFit/>
          </a:bodyPr>
          <a:lstStyle/>
          <a:p>
            <a:pPr algn="ctr">
              <a:lnSpc>
                <a:spcPts val="2240"/>
              </a:lnSpc>
              <a:spcAft>
                <a:spcPts val="0"/>
              </a:spcAft>
              <a:defRPr sz="2000" b="0">
                <a:solidFill>
                  <a:srgbClr val="182B3A"/>
                </a:solidFill>
                <a:latin typeface="Arial"/>
              </a:defRPr>
            </a:pPr>
            <a:r>
              <a:t>3</a:t>
            </a:r>
          </a:p>
        </p:txBody>
      </p:sp>
      <p:cxnSp>
        <p:nvCxnSpPr>
          <p:cNvPr id="65" name="Connector 64"/>
          <p:cNvCxnSpPr/>
          <p:nvPr/>
        </p:nvCxnSpPr>
        <p:spPr>
          <a:xfrm>
            <a:off x="1611249" y="7050024"/>
            <a:ext cx="252602" cy="0"/>
          </a:xfrm>
          <a:prstGeom prst="line">
            <a:avLst/>
          </a:prstGeom>
          <a:ln w="12700">
            <a:solidFill>
              <a:srgbClr val="182B3A"/>
            </a:solidFill>
          </a:ln>
          <a:effectLst/>
        </p:spPr>
        <p:style>
          <a:lnRef idx="2">
            <a:schemeClr val="accent1"/>
          </a:lnRef>
          <a:fillRef idx="0">
            <a:schemeClr val="accent1"/>
          </a:fillRef>
          <a:effectRef idx="1">
            <a:schemeClr val="accent1"/>
          </a:effectRef>
          <a:fontRef idx="minor">
            <a:schemeClr val="tx1"/>
          </a:fontRef>
        </p:style>
      </p:cxnSp>
      <p:sp>
        <p:nvSpPr>
          <p:cNvPr id="66" name="TextBox 65"/>
          <p:cNvSpPr txBox="1"/>
          <p:nvPr/>
        </p:nvSpPr>
        <p:spPr>
          <a:xfrm>
            <a:off x="1611249" y="7068312"/>
            <a:ext cx="252603" cy="256032"/>
          </a:xfrm>
          <a:prstGeom prst="rect">
            <a:avLst/>
          </a:prstGeom>
          <a:noFill/>
        </p:spPr>
        <p:txBody>
          <a:bodyPr wrap="none" lIns="0" rIns="0" tIns="0" bIns="0">
            <a:spAutoFit/>
          </a:bodyPr>
          <a:lstStyle/>
          <a:p>
            <a:pPr algn="ctr">
              <a:lnSpc>
                <a:spcPts val="2240"/>
              </a:lnSpc>
              <a:spcAft>
                <a:spcPts val="0"/>
              </a:spcAft>
              <a:defRPr sz="2000" b="0">
                <a:solidFill>
                  <a:srgbClr val="182B3A"/>
                </a:solidFill>
                <a:latin typeface="Arial"/>
              </a:defRPr>
            </a:pPr>
            <a:r>
              <a:t>8</a:t>
            </a:r>
          </a:p>
        </p:txBody>
      </p:sp>
      <p:sp>
        <p:nvSpPr>
          <p:cNvPr id="67" name="Rectangle 66"/>
          <p:cNvSpPr/>
          <p:nvPr/>
        </p:nvSpPr>
        <p:spPr>
          <a:xfrm>
            <a:off x="4983480" y="1581912"/>
            <a:ext cx="4640580" cy="1005840"/>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8" name="TextBox 67"/>
          <p:cNvSpPr txBox="1"/>
          <p:nvPr/>
        </p:nvSpPr>
        <p:spPr>
          <a:xfrm>
            <a:off x="5074920" y="1837943"/>
            <a:ext cx="320040" cy="365760"/>
          </a:xfrm>
          <a:prstGeom prst="rect">
            <a:avLst/>
          </a:prstGeom>
          <a:noFill/>
        </p:spPr>
        <p:txBody>
          <a:bodyPr wrap="square" lIns="54864" rIns="54864" tIns="22860" bIns="22860">
            <a:spAutoFit/>
          </a:bodyPr>
          <a:lstStyle/>
          <a:p>
            <a:pPr>
              <a:lnSpc>
                <a:spcPts val="2205"/>
              </a:lnSpc>
              <a:spcBef>
                <a:spcPts val="0"/>
              </a:spcBef>
              <a:spcAft>
                <a:spcPts val="0"/>
              </a:spcAft>
              <a:defRPr sz="2100" b="1">
                <a:solidFill>
                  <a:srgbClr val="182B3A"/>
                </a:solidFill>
                <a:latin typeface="Arial"/>
              </a:defRPr>
            </a:pPr>
            <a:r>
              <a:t>1.</a:t>
            </a:r>
          </a:p>
        </p:txBody>
      </p:sp>
      <p:sp>
        <p:nvSpPr>
          <p:cNvPr id="69" name="TextBox 68"/>
          <p:cNvSpPr txBox="1"/>
          <p:nvPr/>
        </p:nvSpPr>
        <p:spPr>
          <a:xfrm>
            <a:off x="5577840" y="1755648"/>
            <a:ext cx="252603" cy="256032"/>
          </a:xfrm>
          <a:prstGeom prst="rect">
            <a:avLst/>
          </a:prstGeom>
          <a:noFill/>
        </p:spPr>
        <p:txBody>
          <a:bodyPr wrap="none" lIns="0" rIns="0" tIns="0" bIns="0">
            <a:spAutoFit/>
          </a:bodyPr>
          <a:lstStyle/>
          <a:p>
            <a:pPr algn="ctr">
              <a:lnSpc>
                <a:spcPts val="2240"/>
              </a:lnSpc>
              <a:spcAft>
                <a:spcPts val="0"/>
              </a:spcAft>
              <a:defRPr sz="2000" b="0">
                <a:solidFill>
                  <a:srgbClr val="182B3A"/>
                </a:solidFill>
                <a:latin typeface="Arial"/>
              </a:defRPr>
            </a:pPr>
            <a:r>
              <a:t>2</a:t>
            </a:r>
          </a:p>
        </p:txBody>
      </p:sp>
      <p:cxnSp>
        <p:nvCxnSpPr>
          <p:cNvPr id="70" name="Connector 69"/>
          <p:cNvCxnSpPr/>
          <p:nvPr/>
        </p:nvCxnSpPr>
        <p:spPr>
          <a:xfrm>
            <a:off x="5577840" y="2020824"/>
            <a:ext cx="252603" cy="0"/>
          </a:xfrm>
          <a:prstGeom prst="line">
            <a:avLst/>
          </a:prstGeom>
          <a:ln w="12700">
            <a:solidFill>
              <a:srgbClr val="182B3A"/>
            </a:solidFill>
          </a:ln>
          <a:effectLst/>
        </p:spPr>
        <p:style>
          <a:lnRef idx="2">
            <a:schemeClr val="accent1"/>
          </a:lnRef>
          <a:fillRef idx="0">
            <a:schemeClr val="accent1"/>
          </a:fillRef>
          <a:effectRef idx="1">
            <a:schemeClr val="accent1"/>
          </a:effectRef>
          <a:fontRef idx="minor">
            <a:schemeClr val="tx1"/>
          </a:fontRef>
        </p:style>
      </p:cxnSp>
      <p:sp>
        <p:nvSpPr>
          <p:cNvPr id="71" name="TextBox 70"/>
          <p:cNvSpPr txBox="1"/>
          <p:nvPr/>
        </p:nvSpPr>
        <p:spPr>
          <a:xfrm>
            <a:off x="5577840" y="2039112"/>
            <a:ext cx="252603" cy="256032"/>
          </a:xfrm>
          <a:prstGeom prst="rect">
            <a:avLst/>
          </a:prstGeom>
          <a:noFill/>
        </p:spPr>
        <p:txBody>
          <a:bodyPr wrap="none" lIns="0" rIns="0" tIns="0" bIns="0">
            <a:spAutoFit/>
          </a:bodyPr>
          <a:lstStyle/>
          <a:p>
            <a:pPr algn="ctr">
              <a:lnSpc>
                <a:spcPts val="2240"/>
              </a:lnSpc>
              <a:spcAft>
                <a:spcPts val="0"/>
              </a:spcAft>
              <a:defRPr sz="2000" b="0">
                <a:solidFill>
                  <a:srgbClr val="182B3A"/>
                </a:solidFill>
                <a:latin typeface="Arial"/>
              </a:defRPr>
            </a:pPr>
            <a:r>
              <a:t>3</a:t>
            </a:r>
          </a:p>
        </p:txBody>
      </p:sp>
      <p:sp>
        <p:nvSpPr>
          <p:cNvPr id="72" name="TextBox 71"/>
          <p:cNvSpPr txBox="1"/>
          <p:nvPr/>
        </p:nvSpPr>
        <p:spPr>
          <a:xfrm>
            <a:off x="5885307" y="1874519"/>
            <a:ext cx="389381" cy="347472"/>
          </a:xfrm>
          <a:prstGeom prst="rect">
            <a:avLst/>
          </a:prstGeom>
          <a:noFill/>
        </p:spPr>
        <p:txBody>
          <a:bodyPr wrap="none" lIns="0" rIns="0" tIns="0" bIns="0">
            <a:spAutoFit/>
          </a:bodyPr>
          <a:lstStyle/>
          <a:p>
            <a:pPr algn="l">
              <a:lnSpc>
                <a:spcPts val="2800"/>
              </a:lnSpc>
              <a:spcAft>
                <a:spcPts val="0"/>
              </a:spcAft>
              <a:defRPr sz="2500" b="0">
                <a:solidFill>
                  <a:srgbClr val="182B3A"/>
                </a:solidFill>
                <a:latin typeface="Arial"/>
              </a:defRPr>
            </a:pPr>
            <a:r>
              <a:t> − </a:t>
            </a:r>
          </a:p>
        </p:txBody>
      </p:sp>
      <p:sp>
        <p:nvSpPr>
          <p:cNvPr id="73" name="TextBox 72"/>
          <p:cNvSpPr txBox="1"/>
          <p:nvPr/>
        </p:nvSpPr>
        <p:spPr>
          <a:xfrm>
            <a:off x="6274689" y="1755648"/>
            <a:ext cx="252603" cy="256032"/>
          </a:xfrm>
          <a:prstGeom prst="rect">
            <a:avLst/>
          </a:prstGeom>
          <a:noFill/>
        </p:spPr>
        <p:txBody>
          <a:bodyPr wrap="none" lIns="0" rIns="0" tIns="0" bIns="0">
            <a:spAutoFit/>
          </a:bodyPr>
          <a:lstStyle/>
          <a:p>
            <a:pPr algn="ctr">
              <a:lnSpc>
                <a:spcPts val="2240"/>
              </a:lnSpc>
              <a:spcAft>
                <a:spcPts val="0"/>
              </a:spcAft>
              <a:defRPr sz="2000" b="0">
                <a:solidFill>
                  <a:srgbClr val="182B3A"/>
                </a:solidFill>
                <a:latin typeface="Arial"/>
              </a:defRPr>
            </a:pPr>
            <a:r>
              <a:t>1</a:t>
            </a:r>
          </a:p>
        </p:txBody>
      </p:sp>
      <p:cxnSp>
        <p:nvCxnSpPr>
          <p:cNvPr id="74" name="Connector 73"/>
          <p:cNvCxnSpPr/>
          <p:nvPr/>
        </p:nvCxnSpPr>
        <p:spPr>
          <a:xfrm>
            <a:off x="6274689" y="2020824"/>
            <a:ext cx="252603" cy="0"/>
          </a:xfrm>
          <a:prstGeom prst="line">
            <a:avLst/>
          </a:prstGeom>
          <a:ln w="12700">
            <a:solidFill>
              <a:srgbClr val="182B3A"/>
            </a:solidFill>
          </a:ln>
          <a:effectLst/>
        </p:spPr>
        <p:style>
          <a:lnRef idx="2">
            <a:schemeClr val="accent1"/>
          </a:lnRef>
          <a:fillRef idx="0">
            <a:schemeClr val="accent1"/>
          </a:fillRef>
          <a:effectRef idx="1">
            <a:schemeClr val="accent1"/>
          </a:effectRef>
          <a:fontRef idx="minor">
            <a:schemeClr val="tx1"/>
          </a:fontRef>
        </p:style>
      </p:cxnSp>
      <p:sp>
        <p:nvSpPr>
          <p:cNvPr id="75" name="TextBox 74"/>
          <p:cNvSpPr txBox="1"/>
          <p:nvPr/>
        </p:nvSpPr>
        <p:spPr>
          <a:xfrm>
            <a:off x="6274689" y="2039112"/>
            <a:ext cx="252603" cy="256032"/>
          </a:xfrm>
          <a:prstGeom prst="rect">
            <a:avLst/>
          </a:prstGeom>
          <a:noFill/>
        </p:spPr>
        <p:txBody>
          <a:bodyPr wrap="none" lIns="0" rIns="0" tIns="0" bIns="0">
            <a:spAutoFit/>
          </a:bodyPr>
          <a:lstStyle/>
          <a:p>
            <a:pPr algn="ctr">
              <a:lnSpc>
                <a:spcPts val="2240"/>
              </a:lnSpc>
              <a:spcAft>
                <a:spcPts val="0"/>
              </a:spcAft>
              <a:defRPr sz="2000" b="0">
                <a:solidFill>
                  <a:srgbClr val="182B3A"/>
                </a:solidFill>
                <a:latin typeface="Arial"/>
              </a:defRPr>
            </a:pPr>
            <a:r>
              <a:t>9</a:t>
            </a:r>
          </a:p>
        </p:txBody>
      </p:sp>
      <p:sp>
        <p:nvSpPr>
          <p:cNvPr id="76" name="Rectangle 75"/>
          <p:cNvSpPr/>
          <p:nvPr/>
        </p:nvSpPr>
        <p:spPr>
          <a:xfrm>
            <a:off x="4983480" y="2587752"/>
            <a:ext cx="4640580" cy="1005840"/>
          </a:xfrm>
          <a:prstGeom prst="rect">
            <a:avLst/>
          </a:prstGeom>
          <a:solidFill>
            <a:srgbClr val="EFF3FA"/>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7" name="TextBox 76"/>
          <p:cNvSpPr txBox="1"/>
          <p:nvPr/>
        </p:nvSpPr>
        <p:spPr>
          <a:xfrm>
            <a:off x="5074920" y="2843784"/>
            <a:ext cx="320040" cy="365760"/>
          </a:xfrm>
          <a:prstGeom prst="rect">
            <a:avLst/>
          </a:prstGeom>
          <a:noFill/>
        </p:spPr>
        <p:txBody>
          <a:bodyPr wrap="square" lIns="54864" rIns="54864" tIns="22860" bIns="22860">
            <a:spAutoFit/>
          </a:bodyPr>
          <a:lstStyle/>
          <a:p>
            <a:pPr>
              <a:lnSpc>
                <a:spcPts val="2205"/>
              </a:lnSpc>
              <a:spcBef>
                <a:spcPts val="0"/>
              </a:spcBef>
              <a:spcAft>
                <a:spcPts val="0"/>
              </a:spcAft>
              <a:defRPr sz="2100" b="1">
                <a:solidFill>
                  <a:srgbClr val="182B3A"/>
                </a:solidFill>
                <a:latin typeface="Arial"/>
              </a:defRPr>
            </a:pPr>
            <a:r>
              <a:t>2.</a:t>
            </a:r>
          </a:p>
        </p:txBody>
      </p:sp>
      <p:sp>
        <p:nvSpPr>
          <p:cNvPr id="78" name="TextBox 77"/>
          <p:cNvSpPr txBox="1"/>
          <p:nvPr/>
        </p:nvSpPr>
        <p:spPr>
          <a:xfrm>
            <a:off x="5577840" y="2761488"/>
            <a:ext cx="252603" cy="256032"/>
          </a:xfrm>
          <a:prstGeom prst="rect">
            <a:avLst/>
          </a:prstGeom>
          <a:noFill/>
        </p:spPr>
        <p:txBody>
          <a:bodyPr wrap="none" lIns="0" rIns="0" tIns="0" bIns="0">
            <a:spAutoFit/>
          </a:bodyPr>
          <a:lstStyle/>
          <a:p>
            <a:pPr algn="ctr">
              <a:lnSpc>
                <a:spcPts val="2240"/>
              </a:lnSpc>
              <a:spcAft>
                <a:spcPts val="0"/>
              </a:spcAft>
              <a:defRPr sz="2000" b="0">
                <a:solidFill>
                  <a:srgbClr val="182B3A"/>
                </a:solidFill>
                <a:latin typeface="Arial"/>
              </a:defRPr>
            </a:pPr>
            <a:r>
              <a:t>1</a:t>
            </a:r>
          </a:p>
        </p:txBody>
      </p:sp>
      <p:cxnSp>
        <p:nvCxnSpPr>
          <p:cNvPr id="79" name="Connector 78"/>
          <p:cNvCxnSpPr/>
          <p:nvPr/>
        </p:nvCxnSpPr>
        <p:spPr>
          <a:xfrm>
            <a:off x="5577840" y="3026664"/>
            <a:ext cx="252603" cy="0"/>
          </a:xfrm>
          <a:prstGeom prst="line">
            <a:avLst/>
          </a:prstGeom>
          <a:ln w="12700">
            <a:solidFill>
              <a:srgbClr val="182B3A"/>
            </a:solidFill>
          </a:ln>
          <a:effectLst/>
        </p:spPr>
        <p:style>
          <a:lnRef idx="2">
            <a:schemeClr val="accent1"/>
          </a:lnRef>
          <a:fillRef idx="0">
            <a:schemeClr val="accent1"/>
          </a:fillRef>
          <a:effectRef idx="1">
            <a:schemeClr val="accent1"/>
          </a:effectRef>
          <a:fontRef idx="minor">
            <a:schemeClr val="tx1"/>
          </a:fontRef>
        </p:style>
      </p:cxnSp>
      <p:sp>
        <p:nvSpPr>
          <p:cNvPr id="80" name="TextBox 79"/>
          <p:cNvSpPr txBox="1"/>
          <p:nvPr/>
        </p:nvSpPr>
        <p:spPr>
          <a:xfrm>
            <a:off x="5577840" y="3044952"/>
            <a:ext cx="252603" cy="256032"/>
          </a:xfrm>
          <a:prstGeom prst="rect">
            <a:avLst/>
          </a:prstGeom>
          <a:noFill/>
        </p:spPr>
        <p:txBody>
          <a:bodyPr wrap="none" lIns="0" rIns="0" tIns="0" bIns="0">
            <a:spAutoFit/>
          </a:bodyPr>
          <a:lstStyle/>
          <a:p>
            <a:pPr algn="ctr">
              <a:lnSpc>
                <a:spcPts val="2240"/>
              </a:lnSpc>
              <a:spcAft>
                <a:spcPts val="0"/>
              </a:spcAft>
              <a:defRPr sz="2000" b="0">
                <a:solidFill>
                  <a:srgbClr val="182B3A"/>
                </a:solidFill>
                <a:latin typeface="Arial"/>
              </a:defRPr>
            </a:pPr>
            <a:r>
              <a:t>6</a:t>
            </a:r>
          </a:p>
        </p:txBody>
      </p:sp>
      <p:sp>
        <p:nvSpPr>
          <p:cNvPr id="81" name="TextBox 80"/>
          <p:cNvSpPr txBox="1"/>
          <p:nvPr/>
        </p:nvSpPr>
        <p:spPr>
          <a:xfrm>
            <a:off x="5885307" y="2880360"/>
            <a:ext cx="389381" cy="347472"/>
          </a:xfrm>
          <a:prstGeom prst="rect">
            <a:avLst/>
          </a:prstGeom>
          <a:noFill/>
        </p:spPr>
        <p:txBody>
          <a:bodyPr wrap="none" lIns="0" rIns="0" tIns="0" bIns="0">
            <a:spAutoFit/>
          </a:bodyPr>
          <a:lstStyle/>
          <a:p>
            <a:pPr algn="l">
              <a:lnSpc>
                <a:spcPts val="2800"/>
              </a:lnSpc>
              <a:spcAft>
                <a:spcPts val="0"/>
              </a:spcAft>
              <a:defRPr sz="2500" b="0">
                <a:solidFill>
                  <a:srgbClr val="182B3A"/>
                </a:solidFill>
                <a:latin typeface="Arial"/>
              </a:defRPr>
            </a:pPr>
            <a:r>
              <a:t> − </a:t>
            </a:r>
          </a:p>
        </p:txBody>
      </p:sp>
      <p:sp>
        <p:nvSpPr>
          <p:cNvPr id="82" name="TextBox 81"/>
          <p:cNvSpPr txBox="1"/>
          <p:nvPr/>
        </p:nvSpPr>
        <p:spPr>
          <a:xfrm>
            <a:off x="6274689" y="2761488"/>
            <a:ext cx="395478" cy="256032"/>
          </a:xfrm>
          <a:prstGeom prst="rect">
            <a:avLst/>
          </a:prstGeom>
          <a:noFill/>
        </p:spPr>
        <p:txBody>
          <a:bodyPr wrap="none" lIns="0" rIns="0" tIns="0" bIns="0">
            <a:spAutoFit/>
          </a:bodyPr>
          <a:lstStyle/>
          <a:p>
            <a:pPr algn="ctr">
              <a:lnSpc>
                <a:spcPts val="2240"/>
              </a:lnSpc>
              <a:spcAft>
                <a:spcPts val="0"/>
              </a:spcAft>
              <a:defRPr sz="2000" b="0">
                <a:solidFill>
                  <a:srgbClr val="182B3A"/>
                </a:solidFill>
                <a:latin typeface="Arial"/>
              </a:defRPr>
            </a:pPr>
            <a:r>
              <a:t>1</a:t>
            </a:r>
          </a:p>
        </p:txBody>
      </p:sp>
      <p:cxnSp>
        <p:nvCxnSpPr>
          <p:cNvPr id="83" name="Connector 82"/>
          <p:cNvCxnSpPr/>
          <p:nvPr/>
        </p:nvCxnSpPr>
        <p:spPr>
          <a:xfrm>
            <a:off x="6274689" y="3026664"/>
            <a:ext cx="395478" cy="0"/>
          </a:xfrm>
          <a:prstGeom prst="line">
            <a:avLst/>
          </a:prstGeom>
          <a:ln w="12700">
            <a:solidFill>
              <a:srgbClr val="182B3A"/>
            </a:solidFill>
          </a:ln>
          <a:effectLst/>
        </p:spPr>
        <p:style>
          <a:lnRef idx="2">
            <a:schemeClr val="accent1"/>
          </a:lnRef>
          <a:fillRef idx="0">
            <a:schemeClr val="accent1"/>
          </a:fillRef>
          <a:effectRef idx="1">
            <a:schemeClr val="accent1"/>
          </a:effectRef>
          <a:fontRef idx="minor">
            <a:schemeClr val="tx1"/>
          </a:fontRef>
        </p:style>
      </p:cxnSp>
      <p:sp>
        <p:nvSpPr>
          <p:cNvPr id="84" name="TextBox 83"/>
          <p:cNvSpPr txBox="1"/>
          <p:nvPr/>
        </p:nvSpPr>
        <p:spPr>
          <a:xfrm>
            <a:off x="6274689" y="3044952"/>
            <a:ext cx="395478" cy="256032"/>
          </a:xfrm>
          <a:prstGeom prst="rect">
            <a:avLst/>
          </a:prstGeom>
          <a:noFill/>
        </p:spPr>
        <p:txBody>
          <a:bodyPr wrap="none" lIns="0" rIns="0" tIns="0" bIns="0">
            <a:spAutoFit/>
          </a:bodyPr>
          <a:lstStyle/>
          <a:p>
            <a:pPr algn="ctr">
              <a:lnSpc>
                <a:spcPts val="2240"/>
              </a:lnSpc>
              <a:spcAft>
                <a:spcPts val="0"/>
              </a:spcAft>
              <a:defRPr sz="2000" b="0">
                <a:solidFill>
                  <a:srgbClr val="182B3A"/>
                </a:solidFill>
                <a:latin typeface="Arial"/>
              </a:defRPr>
            </a:pPr>
            <a:r>
              <a:t>12</a:t>
            </a:r>
          </a:p>
        </p:txBody>
      </p:sp>
      <p:sp>
        <p:nvSpPr>
          <p:cNvPr id="85" name="Rectangle 84"/>
          <p:cNvSpPr/>
          <p:nvPr/>
        </p:nvSpPr>
        <p:spPr>
          <a:xfrm>
            <a:off x="4983480" y="3593592"/>
            <a:ext cx="4640580" cy="1005840"/>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6" name="TextBox 85"/>
          <p:cNvSpPr txBox="1"/>
          <p:nvPr/>
        </p:nvSpPr>
        <p:spPr>
          <a:xfrm>
            <a:off x="5074920" y="3849624"/>
            <a:ext cx="320040" cy="365760"/>
          </a:xfrm>
          <a:prstGeom prst="rect">
            <a:avLst/>
          </a:prstGeom>
          <a:noFill/>
        </p:spPr>
        <p:txBody>
          <a:bodyPr wrap="square" lIns="54864" rIns="54864" tIns="22860" bIns="22860">
            <a:spAutoFit/>
          </a:bodyPr>
          <a:lstStyle/>
          <a:p>
            <a:pPr>
              <a:lnSpc>
                <a:spcPts val="2205"/>
              </a:lnSpc>
              <a:spcBef>
                <a:spcPts val="0"/>
              </a:spcBef>
              <a:spcAft>
                <a:spcPts val="0"/>
              </a:spcAft>
              <a:defRPr sz="2100" b="1">
                <a:solidFill>
                  <a:srgbClr val="182B3A"/>
                </a:solidFill>
                <a:latin typeface="Arial"/>
              </a:defRPr>
            </a:pPr>
            <a:r>
              <a:t>3.</a:t>
            </a:r>
          </a:p>
        </p:txBody>
      </p:sp>
      <p:sp>
        <p:nvSpPr>
          <p:cNvPr id="87" name="TextBox 86"/>
          <p:cNvSpPr txBox="1"/>
          <p:nvPr/>
        </p:nvSpPr>
        <p:spPr>
          <a:xfrm>
            <a:off x="5577840" y="3767328"/>
            <a:ext cx="252603" cy="256032"/>
          </a:xfrm>
          <a:prstGeom prst="rect">
            <a:avLst/>
          </a:prstGeom>
          <a:noFill/>
        </p:spPr>
        <p:txBody>
          <a:bodyPr wrap="none" lIns="0" rIns="0" tIns="0" bIns="0">
            <a:spAutoFit/>
          </a:bodyPr>
          <a:lstStyle/>
          <a:p>
            <a:pPr algn="ctr">
              <a:lnSpc>
                <a:spcPts val="2240"/>
              </a:lnSpc>
              <a:spcAft>
                <a:spcPts val="0"/>
              </a:spcAft>
              <a:defRPr sz="2000" b="0">
                <a:solidFill>
                  <a:srgbClr val="182B3A"/>
                </a:solidFill>
                <a:latin typeface="Arial"/>
              </a:defRPr>
            </a:pPr>
            <a:r>
              <a:t>5</a:t>
            </a:r>
          </a:p>
        </p:txBody>
      </p:sp>
      <p:cxnSp>
        <p:nvCxnSpPr>
          <p:cNvPr id="88" name="Connector 87"/>
          <p:cNvCxnSpPr/>
          <p:nvPr/>
        </p:nvCxnSpPr>
        <p:spPr>
          <a:xfrm>
            <a:off x="5577840" y="4032504"/>
            <a:ext cx="252603" cy="0"/>
          </a:xfrm>
          <a:prstGeom prst="line">
            <a:avLst/>
          </a:prstGeom>
          <a:ln w="12700">
            <a:solidFill>
              <a:srgbClr val="182B3A"/>
            </a:solidFill>
          </a:ln>
          <a:effectLst/>
        </p:spPr>
        <p:style>
          <a:lnRef idx="2">
            <a:schemeClr val="accent1"/>
          </a:lnRef>
          <a:fillRef idx="0">
            <a:schemeClr val="accent1"/>
          </a:fillRef>
          <a:effectRef idx="1">
            <a:schemeClr val="accent1"/>
          </a:effectRef>
          <a:fontRef idx="minor">
            <a:schemeClr val="tx1"/>
          </a:fontRef>
        </p:style>
      </p:cxnSp>
      <p:sp>
        <p:nvSpPr>
          <p:cNvPr id="89" name="TextBox 88"/>
          <p:cNvSpPr txBox="1"/>
          <p:nvPr/>
        </p:nvSpPr>
        <p:spPr>
          <a:xfrm>
            <a:off x="5577840" y="4050791"/>
            <a:ext cx="252603" cy="256032"/>
          </a:xfrm>
          <a:prstGeom prst="rect">
            <a:avLst/>
          </a:prstGeom>
          <a:noFill/>
        </p:spPr>
        <p:txBody>
          <a:bodyPr wrap="none" lIns="0" rIns="0" tIns="0" bIns="0">
            <a:spAutoFit/>
          </a:bodyPr>
          <a:lstStyle/>
          <a:p>
            <a:pPr algn="ctr">
              <a:lnSpc>
                <a:spcPts val="2240"/>
              </a:lnSpc>
              <a:spcAft>
                <a:spcPts val="0"/>
              </a:spcAft>
              <a:defRPr sz="2000" b="0">
                <a:solidFill>
                  <a:srgbClr val="182B3A"/>
                </a:solidFill>
                <a:latin typeface="Arial"/>
              </a:defRPr>
            </a:pPr>
            <a:r>
              <a:t>6</a:t>
            </a:r>
          </a:p>
        </p:txBody>
      </p:sp>
      <p:sp>
        <p:nvSpPr>
          <p:cNvPr id="90" name="TextBox 89"/>
          <p:cNvSpPr txBox="1"/>
          <p:nvPr/>
        </p:nvSpPr>
        <p:spPr>
          <a:xfrm>
            <a:off x="5885307" y="3886200"/>
            <a:ext cx="389381" cy="347472"/>
          </a:xfrm>
          <a:prstGeom prst="rect">
            <a:avLst/>
          </a:prstGeom>
          <a:noFill/>
        </p:spPr>
        <p:txBody>
          <a:bodyPr wrap="none" lIns="0" rIns="0" tIns="0" bIns="0">
            <a:spAutoFit/>
          </a:bodyPr>
          <a:lstStyle/>
          <a:p>
            <a:pPr algn="l">
              <a:lnSpc>
                <a:spcPts val="2800"/>
              </a:lnSpc>
              <a:spcAft>
                <a:spcPts val="0"/>
              </a:spcAft>
              <a:defRPr sz="2500" b="0">
                <a:solidFill>
                  <a:srgbClr val="182B3A"/>
                </a:solidFill>
                <a:latin typeface="Arial"/>
              </a:defRPr>
            </a:pPr>
            <a:r>
              <a:t> − </a:t>
            </a:r>
          </a:p>
        </p:txBody>
      </p:sp>
      <p:sp>
        <p:nvSpPr>
          <p:cNvPr id="91" name="TextBox 90"/>
          <p:cNvSpPr txBox="1"/>
          <p:nvPr/>
        </p:nvSpPr>
        <p:spPr>
          <a:xfrm>
            <a:off x="6274689" y="3767328"/>
            <a:ext cx="395478" cy="256032"/>
          </a:xfrm>
          <a:prstGeom prst="rect">
            <a:avLst/>
          </a:prstGeom>
          <a:noFill/>
        </p:spPr>
        <p:txBody>
          <a:bodyPr wrap="none" lIns="0" rIns="0" tIns="0" bIns="0">
            <a:spAutoFit/>
          </a:bodyPr>
          <a:lstStyle/>
          <a:p>
            <a:pPr algn="ctr">
              <a:lnSpc>
                <a:spcPts val="2240"/>
              </a:lnSpc>
              <a:spcAft>
                <a:spcPts val="0"/>
              </a:spcAft>
              <a:defRPr sz="2000" b="0">
                <a:solidFill>
                  <a:srgbClr val="182B3A"/>
                </a:solidFill>
                <a:latin typeface="Arial"/>
              </a:defRPr>
            </a:pPr>
            <a:r>
              <a:t>5</a:t>
            </a:r>
          </a:p>
        </p:txBody>
      </p:sp>
      <p:cxnSp>
        <p:nvCxnSpPr>
          <p:cNvPr id="92" name="Connector 91"/>
          <p:cNvCxnSpPr/>
          <p:nvPr/>
        </p:nvCxnSpPr>
        <p:spPr>
          <a:xfrm>
            <a:off x="6274689" y="4032504"/>
            <a:ext cx="395478" cy="0"/>
          </a:xfrm>
          <a:prstGeom prst="line">
            <a:avLst/>
          </a:prstGeom>
          <a:ln w="12700">
            <a:solidFill>
              <a:srgbClr val="182B3A"/>
            </a:solidFill>
          </a:ln>
          <a:effectLst/>
        </p:spPr>
        <p:style>
          <a:lnRef idx="2">
            <a:schemeClr val="accent1"/>
          </a:lnRef>
          <a:fillRef idx="0">
            <a:schemeClr val="accent1"/>
          </a:fillRef>
          <a:effectRef idx="1">
            <a:schemeClr val="accent1"/>
          </a:effectRef>
          <a:fontRef idx="minor">
            <a:schemeClr val="tx1"/>
          </a:fontRef>
        </p:style>
      </p:cxnSp>
      <p:sp>
        <p:nvSpPr>
          <p:cNvPr id="93" name="TextBox 92"/>
          <p:cNvSpPr txBox="1"/>
          <p:nvPr/>
        </p:nvSpPr>
        <p:spPr>
          <a:xfrm>
            <a:off x="6274689" y="4050791"/>
            <a:ext cx="395478" cy="256032"/>
          </a:xfrm>
          <a:prstGeom prst="rect">
            <a:avLst/>
          </a:prstGeom>
          <a:noFill/>
        </p:spPr>
        <p:txBody>
          <a:bodyPr wrap="none" lIns="0" rIns="0" tIns="0" bIns="0">
            <a:spAutoFit/>
          </a:bodyPr>
          <a:lstStyle/>
          <a:p>
            <a:pPr algn="ctr">
              <a:lnSpc>
                <a:spcPts val="2240"/>
              </a:lnSpc>
              <a:spcAft>
                <a:spcPts val="0"/>
              </a:spcAft>
              <a:defRPr sz="2000" b="0">
                <a:solidFill>
                  <a:srgbClr val="182B3A"/>
                </a:solidFill>
                <a:latin typeface="Arial"/>
              </a:defRPr>
            </a:pPr>
            <a:r>
              <a:t>12</a:t>
            </a:r>
          </a:p>
        </p:txBody>
      </p:sp>
      <p:sp>
        <p:nvSpPr>
          <p:cNvPr id="94" name="Rectangle 93"/>
          <p:cNvSpPr/>
          <p:nvPr/>
        </p:nvSpPr>
        <p:spPr>
          <a:xfrm>
            <a:off x="4983480" y="4599432"/>
            <a:ext cx="4640580" cy="1005840"/>
          </a:xfrm>
          <a:prstGeom prst="rect">
            <a:avLst/>
          </a:prstGeom>
          <a:solidFill>
            <a:srgbClr val="EFF3FA"/>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5" name="TextBox 94"/>
          <p:cNvSpPr txBox="1"/>
          <p:nvPr/>
        </p:nvSpPr>
        <p:spPr>
          <a:xfrm>
            <a:off x="5074920" y="4855464"/>
            <a:ext cx="320040" cy="365760"/>
          </a:xfrm>
          <a:prstGeom prst="rect">
            <a:avLst/>
          </a:prstGeom>
          <a:noFill/>
        </p:spPr>
        <p:txBody>
          <a:bodyPr wrap="square" lIns="54864" rIns="54864" tIns="22860" bIns="22860">
            <a:spAutoFit/>
          </a:bodyPr>
          <a:lstStyle/>
          <a:p>
            <a:pPr>
              <a:lnSpc>
                <a:spcPts val="2205"/>
              </a:lnSpc>
              <a:spcBef>
                <a:spcPts val="0"/>
              </a:spcBef>
              <a:spcAft>
                <a:spcPts val="0"/>
              </a:spcAft>
              <a:defRPr sz="2100" b="1">
                <a:solidFill>
                  <a:srgbClr val="182B3A"/>
                </a:solidFill>
                <a:latin typeface="Arial"/>
              </a:defRPr>
            </a:pPr>
            <a:r>
              <a:t>4.</a:t>
            </a:r>
          </a:p>
        </p:txBody>
      </p:sp>
      <p:sp>
        <p:nvSpPr>
          <p:cNvPr id="96" name="TextBox 95"/>
          <p:cNvSpPr txBox="1"/>
          <p:nvPr/>
        </p:nvSpPr>
        <p:spPr>
          <a:xfrm>
            <a:off x="5577840" y="4773168"/>
            <a:ext cx="252603" cy="256032"/>
          </a:xfrm>
          <a:prstGeom prst="rect">
            <a:avLst/>
          </a:prstGeom>
          <a:noFill/>
        </p:spPr>
        <p:txBody>
          <a:bodyPr wrap="none" lIns="0" rIns="0" tIns="0" bIns="0">
            <a:spAutoFit/>
          </a:bodyPr>
          <a:lstStyle/>
          <a:p>
            <a:pPr algn="ctr">
              <a:lnSpc>
                <a:spcPts val="2240"/>
              </a:lnSpc>
              <a:spcAft>
                <a:spcPts val="0"/>
              </a:spcAft>
              <a:defRPr sz="2000" b="0">
                <a:solidFill>
                  <a:srgbClr val="182B3A"/>
                </a:solidFill>
                <a:latin typeface="Arial"/>
              </a:defRPr>
            </a:pPr>
            <a:r>
              <a:t>8</a:t>
            </a:r>
          </a:p>
        </p:txBody>
      </p:sp>
      <p:cxnSp>
        <p:nvCxnSpPr>
          <p:cNvPr id="97" name="Connector 96"/>
          <p:cNvCxnSpPr/>
          <p:nvPr/>
        </p:nvCxnSpPr>
        <p:spPr>
          <a:xfrm>
            <a:off x="5577840" y="5038344"/>
            <a:ext cx="252603" cy="0"/>
          </a:xfrm>
          <a:prstGeom prst="line">
            <a:avLst/>
          </a:prstGeom>
          <a:ln w="12700">
            <a:solidFill>
              <a:srgbClr val="182B3A"/>
            </a:solidFill>
          </a:ln>
          <a:effectLst/>
        </p:spPr>
        <p:style>
          <a:lnRef idx="2">
            <a:schemeClr val="accent1"/>
          </a:lnRef>
          <a:fillRef idx="0">
            <a:schemeClr val="accent1"/>
          </a:fillRef>
          <a:effectRef idx="1">
            <a:schemeClr val="accent1"/>
          </a:effectRef>
          <a:fontRef idx="minor">
            <a:schemeClr val="tx1"/>
          </a:fontRef>
        </p:style>
      </p:cxnSp>
      <p:sp>
        <p:nvSpPr>
          <p:cNvPr id="98" name="TextBox 97"/>
          <p:cNvSpPr txBox="1"/>
          <p:nvPr/>
        </p:nvSpPr>
        <p:spPr>
          <a:xfrm>
            <a:off x="5577840" y="5056632"/>
            <a:ext cx="252603" cy="256032"/>
          </a:xfrm>
          <a:prstGeom prst="rect">
            <a:avLst/>
          </a:prstGeom>
          <a:noFill/>
        </p:spPr>
        <p:txBody>
          <a:bodyPr wrap="none" lIns="0" rIns="0" tIns="0" bIns="0">
            <a:spAutoFit/>
          </a:bodyPr>
          <a:lstStyle/>
          <a:p>
            <a:pPr algn="ctr">
              <a:lnSpc>
                <a:spcPts val="2240"/>
              </a:lnSpc>
              <a:spcAft>
                <a:spcPts val="0"/>
              </a:spcAft>
              <a:defRPr sz="2000" b="0">
                <a:solidFill>
                  <a:srgbClr val="182B3A"/>
                </a:solidFill>
                <a:latin typeface="Arial"/>
              </a:defRPr>
            </a:pPr>
            <a:r>
              <a:t>9</a:t>
            </a:r>
          </a:p>
        </p:txBody>
      </p:sp>
      <p:sp>
        <p:nvSpPr>
          <p:cNvPr id="99" name="TextBox 98"/>
          <p:cNvSpPr txBox="1"/>
          <p:nvPr/>
        </p:nvSpPr>
        <p:spPr>
          <a:xfrm>
            <a:off x="5885307" y="4892040"/>
            <a:ext cx="389381" cy="347472"/>
          </a:xfrm>
          <a:prstGeom prst="rect">
            <a:avLst/>
          </a:prstGeom>
          <a:noFill/>
        </p:spPr>
        <p:txBody>
          <a:bodyPr wrap="none" lIns="0" rIns="0" tIns="0" bIns="0">
            <a:spAutoFit/>
          </a:bodyPr>
          <a:lstStyle/>
          <a:p>
            <a:pPr algn="l">
              <a:lnSpc>
                <a:spcPts val="2800"/>
              </a:lnSpc>
              <a:spcAft>
                <a:spcPts val="0"/>
              </a:spcAft>
              <a:defRPr sz="2500" b="0">
                <a:solidFill>
                  <a:srgbClr val="182B3A"/>
                </a:solidFill>
                <a:latin typeface="Arial"/>
              </a:defRPr>
            </a:pPr>
            <a:r>
              <a:t> + </a:t>
            </a:r>
          </a:p>
        </p:txBody>
      </p:sp>
      <p:sp>
        <p:nvSpPr>
          <p:cNvPr id="100" name="TextBox 99"/>
          <p:cNvSpPr txBox="1"/>
          <p:nvPr/>
        </p:nvSpPr>
        <p:spPr>
          <a:xfrm>
            <a:off x="6274689" y="4773168"/>
            <a:ext cx="252603" cy="256032"/>
          </a:xfrm>
          <a:prstGeom prst="rect">
            <a:avLst/>
          </a:prstGeom>
          <a:noFill/>
        </p:spPr>
        <p:txBody>
          <a:bodyPr wrap="none" lIns="0" rIns="0" tIns="0" bIns="0">
            <a:spAutoFit/>
          </a:bodyPr>
          <a:lstStyle/>
          <a:p>
            <a:pPr algn="ctr">
              <a:lnSpc>
                <a:spcPts val="2240"/>
              </a:lnSpc>
              <a:spcAft>
                <a:spcPts val="0"/>
              </a:spcAft>
              <a:defRPr sz="2000" b="0">
                <a:solidFill>
                  <a:srgbClr val="182B3A"/>
                </a:solidFill>
                <a:latin typeface="Arial"/>
              </a:defRPr>
            </a:pPr>
            <a:r>
              <a:t>2</a:t>
            </a:r>
          </a:p>
        </p:txBody>
      </p:sp>
      <p:cxnSp>
        <p:nvCxnSpPr>
          <p:cNvPr id="101" name="Connector 100"/>
          <p:cNvCxnSpPr/>
          <p:nvPr/>
        </p:nvCxnSpPr>
        <p:spPr>
          <a:xfrm>
            <a:off x="6274689" y="5038344"/>
            <a:ext cx="252603" cy="0"/>
          </a:xfrm>
          <a:prstGeom prst="line">
            <a:avLst/>
          </a:prstGeom>
          <a:ln w="12700">
            <a:solidFill>
              <a:srgbClr val="182B3A"/>
            </a:solidFill>
          </a:ln>
          <a:effectLst/>
        </p:spPr>
        <p:style>
          <a:lnRef idx="2">
            <a:schemeClr val="accent1"/>
          </a:lnRef>
          <a:fillRef idx="0">
            <a:schemeClr val="accent1"/>
          </a:fillRef>
          <a:effectRef idx="1">
            <a:schemeClr val="accent1"/>
          </a:effectRef>
          <a:fontRef idx="minor">
            <a:schemeClr val="tx1"/>
          </a:fontRef>
        </p:style>
      </p:cxnSp>
      <p:sp>
        <p:nvSpPr>
          <p:cNvPr id="102" name="TextBox 101"/>
          <p:cNvSpPr txBox="1"/>
          <p:nvPr/>
        </p:nvSpPr>
        <p:spPr>
          <a:xfrm>
            <a:off x="6274689" y="5056632"/>
            <a:ext cx="252603" cy="256032"/>
          </a:xfrm>
          <a:prstGeom prst="rect">
            <a:avLst/>
          </a:prstGeom>
          <a:noFill/>
        </p:spPr>
        <p:txBody>
          <a:bodyPr wrap="none" lIns="0" rIns="0" tIns="0" bIns="0">
            <a:spAutoFit/>
          </a:bodyPr>
          <a:lstStyle/>
          <a:p>
            <a:pPr algn="ctr">
              <a:lnSpc>
                <a:spcPts val="2240"/>
              </a:lnSpc>
              <a:spcAft>
                <a:spcPts val="0"/>
              </a:spcAft>
              <a:defRPr sz="2000" b="0">
                <a:solidFill>
                  <a:srgbClr val="182B3A"/>
                </a:solidFill>
                <a:latin typeface="Arial"/>
              </a:defRPr>
            </a:pPr>
            <a:r>
              <a:t>3</a:t>
            </a:r>
          </a:p>
        </p:txBody>
      </p:sp>
      <p:sp>
        <p:nvSpPr>
          <p:cNvPr id="103" name="Rectangle 102"/>
          <p:cNvSpPr/>
          <p:nvPr/>
        </p:nvSpPr>
        <p:spPr>
          <a:xfrm>
            <a:off x="4983480" y="5605272"/>
            <a:ext cx="4640580" cy="1005840"/>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4" name="TextBox 103"/>
          <p:cNvSpPr txBox="1"/>
          <p:nvPr/>
        </p:nvSpPr>
        <p:spPr>
          <a:xfrm>
            <a:off x="5074920" y="5861304"/>
            <a:ext cx="320040" cy="365760"/>
          </a:xfrm>
          <a:prstGeom prst="rect">
            <a:avLst/>
          </a:prstGeom>
          <a:noFill/>
        </p:spPr>
        <p:txBody>
          <a:bodyPr wrap="square" lIns="54864" rIns="54864" tIns="22860" bIns="22860">
            <a:spAutoFit/>
          </a:bodyPr>
          <a:lstStyle/>
          <a:p>
            <a:pPr>
              <a:lnSpc>
                <a:spcPts val="2205"/>
              </a:lnSpc>
              <a:spcBef>
                <a:spcPts val="0"/>
              </a:spcBef>
              <a:spcAft>
                <a:spcPts val="0"/>
              </a:spcAft>
              <a:defRPr sz="2100" b="1">
                <a:solidFill>
                  <a:srgbClr val="182B3A"/>
                </a:solidFill>
                <a:latin typeface="Arial"/>
              </a:defRPr>
            </a:pPr>
            <a:r>
              <a:t>5.</a:t>
            </a:r>
          </a:p>
        </p:txBody>
      </p:sp>
      <p:sp>
        <p:nvSpPr>
          <p:cNvPr id="105" name="TextBox 104"/>
          <p:cNvSpPr txBox="1"/>
          <p:nvPr/>
        </p:nvSpPr>
        <p:spPr>
          <a:xfrm>
            <a:off x="5577840" y="5779008"/>
            <a:ext cx="252603" cy="256032"/>
          </a:xfrm>
          <a:prstGeom prst="rect">
            <a:avLst/>
          </a:prstGeom>
          <a:noFill/>
        </p:spPr>
        <p:txBody>
          <a:bodyPr wrap="none" lIns="0" rIns="0" tIns="0" bIns="0">
            <a:spAutoFit/>
          </a:bodyPr>
          <a:lstStyle/>
          <a:p>
            <a:pPr algn="ctr">
              <a:lnSpc>
                <a:spcPts val="2240"/>
              </a:lnSpc>
              <a:spcAft>
                <a:spcPts val="0"/>
              </a:spcAft>
              <a:defRPr sz="2000" b="0">
                <a:solidFill>
                  <a:srgbClr val="182B3A"/>
                </a:solidFill>
                <a:latin typeface="Arial"/>
              </a:defRPr>
            </a:pPr>
            <a:r>
              <a:t>2</a:t>
            </a:r>
          </a:p>
        </p:txBody>
      </p:sp>
      <p:cxnSp>
        <p:nvCxnSpPr>
          <p:cNvPr id="106" name="Connector 105"/>
          <p:cNvCxnSpPr/>
          <p:nvPr/>
        </p:nvCxnSpPr>
        <p:spPr>
          <a:xfrm>
            <a:off x="5577840" y="6044184"/>
            <a:ext cx="252603" cy="0"/>
          </a:xfrm>
          <a:prstGeom prst="line">
            <a:avLst/>
          </a:prstGeom>
          <a:ln w="12700">
            <a:solidFill>
              <a:srgbClr val="182B3A"/>
            </a:solidFill>
          </a:ln>
          <a:effectLst/>
        </p:spPr>
        <p:style>
          <a:lnRef idx="2">
            <a:schemeClr val="accent1"/>
          </a:lnRef>
          <a:fillRef idx="0">
            <a:schemeClr val="accent1"/>
          </a:fillRef>
          <a:effectRef idx="1">
            <a:schemeClr val="accent1"/>
          </a:effectRef>
          <a:fontRef idx="minor">
            <a:schemeClr val="tx1"/>
          </a:fontRef>
        </p:style>
      </p:cxnSp>
      <p:sp>
        <p:nvSpPr>
          <p:cNvPr id="107" name="TextBox 106"/>
          <p:cNvSpPr txBox="1"/>
          <p:nvPr/>
        </p:nvSpPr>
        <p:spPr>
          <a:xfrm>
            <a:off x="5577840" y="6062472"/>
            <a:ext cx="252603" cy="256032"/>
          </a:xfrm>
          <a:prstGeom prst="rect">
            <a:avLst/>
          </a:prstGeom>
          <a:noFill/>
        </p:spPr>
        <p:txBody>
          <a:bodyPr wrap="none" lIns="0" rIns="0" tIns="0" bIns="0">
            <a:spAutoFit/>
          </a:bodyPr>
          <a:lstStyle/>
          <a:p>
            <a:pPr algn="ctr">
              <a:lnSpc>
                <a:spcPts val="2240"/>
              </a:lnSpc>
              <a:spcAft>
                <a:spcPts val="0"/>
              </a:spcAft>
              <a:defRPr sz="2000" b="0">
                <a:solidFill>
                  <a:srgbClr val="182B3A"/>
                </a:solidFill>
                <a:latin typeface="Arial"/>
              </a:defRPr>
            </a:pPr>
            <a:r>
              <a:t>3</a:t>
            </a:r>
          </a:p>
        </p:txBody>
      </p:sp>
      <p:sp>
        <p:nvSpPr>
          <p:cNvPr id="108" name="TextBox 107"/>
          <p:cNvSpPr txBox="1"/>
          <p:nvPr/>
        </p:nvSpPr>
        <p:spPr>
          <a:xfrm>
            <a:off x="5885307" y="5897880"/>
            <a:ext cx="389381" cy="347472"/>
          </a:xfrm>
          <a:prstGeom prst="rect">
            <a:avLst/>
          </a:prstGeom>
          <a:noFill/>
        </p:spPr>
        <p:txBody>
          <a:bodyPr wrap="none" lIns="0" rIns="0" tIns="0" bIns="0">
            <a:spAutoFit/>
          </a:bodyPr>
          <a:lstStyle/>
          <a:p>
            <a:pPr algn="l">
              <a:lnSpc>
                <a:spcPts val="2800"/>
              </a:lnSpc>
              <a:spcAft>
                <a:spcPts val="0"/>
              </a:spcAft>
              <a:defRPr sz="2500" b="0">
                <a:solidFill>
                  <a:srgbClr val="182B3A"/>
                </a:solidFill>
                <a:latin typeface="Arial"/>
              </a:defRPr>
            </a:pPr>
            <a:r>
              <a:t> + </a:t>
            </a:r>
          </a:p>
        </p:txBody>
      </p:sp>
      <p:sp>
        <p:nvSpPr>
          <p:cNvPr id="109" name="TextBox 108"/>
          <p:cNvSpPr txBox="1"/>
          <p:nvPr/>
        </p:nvSpPr>
        <p:spPr>
          <a:xfrm>
            <a:off x="6274689" y="5779008"/>
            <a:ext cx="252603" cy="256032"/>
          </a:xfrm>
          <a:prstGeom prst="rect">
            <a:avLst/>
          </a:prstGeom>
          <a:noFill/>
        </p:spPr>
        <p:txBody>
          <a:bodyPr wrap="none" lIns="0" rIns="0" tIns="0" bIns="0">
            <a:spAutoFit/>
          </a:bodyPr>
          <a:lstStyle/>
          <a:p>
            <a:pPr algn="ctr">
              <a:lnSpc>
                <a:spcPts val="2240"/>
              </a:lnSpc>
              <a:spcAft>
                <a:spcPts val="0"/>
              </a:spcAft>
              <a:defRPr sz="2000" b="0">
                <a:solidFill>
                  <a:srgbClr val="182B3A"/>
                </a:solidFill>
                <a:latin typeface="Arial"/>
              </a:defRPr>
            </a:pPr>
            <a:r>
              <a:t>1</a:t>
            </a:r>
          </a:p>
        </p:txBody>
      </p:sp>
      <p:cxnSp>
        <p:nvCxnSpPr>
          <p:cNvPr id="110" name="Connector 109"/>
          <p:cNvCxnSpPr/>
          <p:nvPr/>
        </p:nvCxnSpPr>
        <p:spPr>
          <a:xfrm>
            <a:off x="6274689" y="6044184"/>
            <a:ext cx="252603" cy="0"/>
          </a:xfrm>
          <a:prstGeom prst="line">
            <a:avLst/>
          </a:prstGeom>
          <a:ln w="12700">
            <a:solidFill>
              <a:srgbClr val="182B3A"/>
            </a:solidFill>
          </a:ln>
          <a:effectLst/>
        </p:spPr>
        <p:style>
          <a:lnRef idx="2">
            <a:schemeClr val="accent1"/>
          </a:lnRef>
          <a:fillRef idx="0">
            <a:schemeClr val="accent1"/>
          </a:fillRef>
          <a:effectRef idx="1">
            <a:schemeClr val="accent1"/>
          </a:effectRef>
          <a:fontRef idx="minor">
            <a:schemeClr val="tx1"/>
          </a:fontRef>
        </p:style>
      </p:cxnSp>
      <p:sp>
        <p:nvSpPr>
          <p:cNvPr id="111" name="TextBox 110"/>
          <p:cNvSpPr txBox="1"/>
          <p:nvPr/>
        </p:nvSpPr>
        <p:spPr>
          <a:xfrm>
            <a:off x="6274689" y="6062472"/>
            <a:ext cx="252603" cy="256032"/>
          </a:xfrm>
          <a:prstGeom prst="rect">
            <a:avLst/>
          </a:prstGeom>
          <a:noFill/>
        </p:spPr>
        <p:txBody>
          <a:bodyPr wrap="none" lIns="0" rIns="0" tIns="0" bIns="0">
            <a:spAutoFit/>
          </a:bodyPr>
          <a:lstStyle/>
          <a:p>
            <a:pPr algn="ctr">
              <a:lnSpc>
                <a:spcPts val="2240"/>
              </a:lnSpc>
              <a:spcAft>
                <a:spcPts val="0"/>
              </a:spcAft>
              <a:defRPr sz="2000" b="0">
                <a:solidFill>
                  <a:srgbClr val="182B3A"/>
                </a:solidFill>
                <a:latin typeface="Arial"/>
              </a:defRPr>
            </a:pPr>
            <a:r>
              <a:t>6</a:t>
            </a:r>
          </a:p>
        </p:txBody>
      </p:sp>
      <p:sp>
        <p:nvSpPr>
          <p:cNvPr id="112" name="Rectangle 111"/>
          <p:cNvSpPr/>
          <p:nvPr/>
        </p:nvSpPr>
        <p:spPr>
          <a:xfrm>
            <a:off x="4983480" y="6611112"/>
            <a:ext cx="4640580" cy="1005840"/>
          </a:xfrm>
          <a:prstGeom prst="rect">
            <a:avLst/>
          </a:prstGeom>
          <a:solidFill>
            <a:srgbClr val="EFF3FA"/>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3" name="TextBox 112"/>
          <p:cNvSpPr txBox="1"/>
          <p:nvPr/>
        </p:nvSpPr>
        <p:spPr>
          <a:xfrm>
            <a:off x="5074920" y="6867144"/>
            <a:ext cx="320040" cy="365760"/>
          </a:xfrm>
          <a:prstGeom prst="rect">
            <a:avLst/>
          </a:prstGeom>
          <a:noFill/>
        </p:spPr>
        <p:txBody>
          <a:bodyPr wrap="square" lIns="54864" rIns="54864" tIns="22860" bIns="22860">
            <a:spAutoFit/>
          </a:bodyPr>
          <a:lstStyle/>
          <a:p>
            <a:pPr>
              <a:lnSpc>
                <a:spcPts val="2205"/>
              </a:lnSpc>
              <a:spcBef>
                <a:spcPts val="0"/>
              </a:spcBef>
              <a:spcAft>
                <a:spcPts val="0"/>
              </a:spcAft>
              <a:defRPr sz="2100" b="1">
                <a:solidFill>
                  <a:srgbClr val="182B3A"/>
                </a:solidFill>
                <a:latin typeface="Arial"/>
              </a:defRPr>
            </a:pPr>
            <a:r>
              <a:t>6.</a:t>
            </a:r>
          </a:p>
        </p:txBody>
      </p:sp>
      <p:sp>
        <p:nvSpPr>
          <p:cNvPr id="114" name="TextBox 113"/>
          <p:cNvSpPr txBox="1"/>
          <p:nvPr/>
        </p:nvSpPr>
        <p:spPr>
          <a:xfrm>
            <a:off x="5577840" y="6784848"/>
            <a:ext cx="395478" cy="256032"/>
          </a:xfrm>
          <a:prstGeom prst="rect">
            <a:avLst/>
          </a:prstGeom>
          <a:noFill/>
        </p:spPr>
        <p:txBody>
          <a:bodyPr wrap="none" lIns="0" rIns="0" tIns="0" bIns="0">
            <a:spAutoFit/>
          </a:bodyPr>
          <a:lstStyle/>
          <a:p>
            <a:pPr algn="ctr">
              <a:lnSpc>
                <a:spcPts val="2240"/>
              </a:lnSpc>
              <a:spcAft>
                <a:spcPts val="0"/>
              </a:spcAft>
              <a:defRPr sz="2000" b="0">
                <a:solidFill>
                  <a:srgbClr val="182B3A"/>
                </a:solidFill>
                <a:latin typeface="Arial"/>
              </a:defRPr>
            </a:pPr>
            <a:r>
              <a:t>9</a:t>
            </a:r>
          </a:p>
        </p:txBody>
      </p:sp>
      <p:cxnSp>
        <p:nvCxnSpPr>
          <p:cNvPr id="115" name="Connector 114"/>
          <p:cNvCxnSpPr/>
          <p:nvPr/>
        </p:nvCxnSpPr>
        <p:spPr>
          <a:xfrm>
            <a:off x="5577840" y="7050024"/>
            <a:ext cx="395478" cy="0"/>
          </a:xfrm>
          <a:prstGeom prst="line">
            <a:avLst/>
          </a:prstGeom>
          <a:ln w="12700">
            <a:solidFill>
              <a:srgbClr val="182B3A"/>
            </a:solidFill>
          </a:ln>
          <a:effectLst/>
        </p:spPr>
        <p:style>
          <a:lnRef idx="2">
            <a:schemeClr val="accent1"/>
          </a:lnRef>
          <a:fillRef idx="0">
            <a:schemeClr val="accent1"/>
          </a:fillRef>
          <a:effectRef idx="1">
            <a:schemeClr val="accent1"/>
          </a:effectRef>
          <a:fontRef idx="minor">
            <a:schemeClr val="tx1"/>
          </a:fontRef>
        </p:style>
      </p:cxnSp>
      <p:sp>
        <p:nvSpPr>
          <p:cNvPr id="116" name="TextBox 115"/>
          <p:cNvSpPr txBox="1"/>
          <p:nvPr/>
        </p:nvSpPr>
        <p:spPr>
          <a:xfrm>
            <a:off x="5577840" y="7068312"/>
            <a:ext cx="395478" cy="256032"/>
          </a:xfrm>
          <a:prstGeom prst="rect">
            <a:avLst/>
          </a:prstGeom>
          <a:noFill/>
        </p:spPr>
        <p:txBody>
          <a:bodyPr wrap="none" lIns="0" rIns="0" tIns="0" bIns="0">
            <a:spAutoFit/>
          </a:bodyPr>
          <a:lstStyle/>
          <a:p>
            <a:pPr algn="ctr">
              <a:lnSpc>
                <a:spcPts val="2240"/>
              </a:lnSpc>
              <a:spcAft>
                <a:spcPts val="0"/>
              </a:spcAft>
              <a:defRPr sz="2000" b="0">
                <a:solidFill>
                  <a:srgbClr val="182B3A"/>
                </a:solidFill>
                <a:latin typeface="Arial"/>
              </a:defRPr>
            </a:pPr>
            <a:r>
              <a:t>10</a:t>
            </a:r>
          </a:p>
        </p:txBody>
      </p:sp>
      <p:sp>
        <p:nvSpPr>
          <p:cNvPr id="117" name="TextBox 116"/>
          <p:cNvSpPr txBox="1"/>
          <p:nvPr/>
        </p:nvSpPr>
        <p:spPr>
          <a:xfrm>
            <a:off x="6028182" y="6903720"/>
            <a:ext cx="389381" cy="347472"/>
          </a:xfrm>
          <a:prstGeom prst="rect">
            <a:avLst/>
          </a:prstGeom>
          <a:noFill/>
        </p:spPr>
        <p:txBody>
          <a:bodyPr wrap="none" lIns="0" rIns="0" tIns="0" bIns="0">
            <a:spAutoFit/>
          </a:bodyPr>
          <a:lstStyle/>
          <a:p>
            <a:pPr algn="l">
              <a:lnSpc>
                <a:spcPts val="2800"/>
              </a:lnSpc>
              <a:spcAft>
                <a:spcPts val="0"/>
              </a:spcAft>
              <a:defRPr sz="2500" b="0">
                <a:solidFill>
                  <a:srgbClr val="182B3A"/>
                </a:solidFill>
                <a:latin typeface="Arial"/>
              </a:defRPr>
            </a:pPr>
            <a:r>
              <a:t> + </a:t>
            </a:r>
          </a:p>
        </p:txBody>
      </p:sp>
      <p:sp>
        <p:nvSpPr>
          <p:cNvPr id="118" name="TextBox 117"/>
          <p:cNvSpPr txBox="1"/>
          <p:nvPr/>
        </p:nvSpPr>
        <p:spPr>
          <a:xfrm>
            <a:off x="6417564" y="6784848"/>
            <a:ext cx="252603" cy="256032"/>
          </a:xfrm>
          <a:prstGeom prst="rect">
            <a:avLst/>
          </a:prstGeom>
          <a:noFill/>
        </p:spPr>
        <p:txBody>
          <a:bodyPr wrap="none" lIns="0" rIns="0" tIns="0" bIns="0">
            <a:spAutoFit/>
          </a:bodyPr>
          <a:lstStyle/>
          <a:p>
            <a:pPr algn="ctr">
              <a:lnSpc>
                <a:spcPts val="2240"/>
              </a:lnSpc>
              <a:spcAft>
                <a:spcPts val="0"/>
              </a:spcAft>
              <a:defRPr sz="2000" b="0">
                <a:solidFill>
                  <a:srgbClr val="182B3A"/>
                </a:solidFill>
                <a:latin typeface="Arial"/>
              </a:defRPr>
            </a:pPr>
            <a:r>
              <a:t>4</a:t>
            </a:r>
          </a:p>
        </p:txBody>
      </p:sp>
      <p:cxnSp>
        <p:nvCxnSpPr>
          <p:cNvPr id="119" name="Connector 118"/>
          <p:cNvCxnSpPr/>
          <p:nvPr/>
        </p:nvCxnSpPr>
        <p:spPr>
          <a:xfrm>
            <a:off x="6417564" y="7050024"/>
            <a:ext cx="252603" cy="0"/>
          </a:xfrm>
          <a:prstGeom prst="line">
            <a:avLst/>
          </a:prstGeom>
          <a:ln w="12700">
            <a:solidFill>
              <a:srgbClr val="182B3A"/>
            </a:solidFill>
          </a:ln>
          <a:effectLst/>
        </p:spPr>
        <p:style>
          <a:lnRef idx="2">
            <a:schemeClr val="accent1"/>
          </a:lnRef>
          <a:fillRef idx="0">
            <a:schemeClr val="accent1"/>
          </a:fillRef>
          <a:effectRef idx="1">
            <a:schemeClr val="accent1"/>
          </a:effectRef>
          <a:fontRef idx="minor">
            <a:schemeClr val="tx1"/>
          </a:fontRef>
        </p:style>
      </p:cxnSp>
      <p:sp>
        <p:nvSpPr>
          <p:cNvPr id="120" name="TextBox 119"/>
          <p:cNvSpPr txBox="1"/>
          <p:nvPr/>
        </p:nvSpPr>
        <p:spPr>
          <a:xfrm>
            <a:off x="6417564" y="7068312"/>
            <a:ext cx="252603" cy="256032"/>
          </a:xfrm>
          <a:prstGeom prst="rect">
            <a:avLst/>
          </a:prstGeom>
          <a:noFill/>
        </p:spPr>
        <p:txBody>
          <a:bodyPr wrap="none" lIns="0" rIns="0" tIns="0" bIns="0">
            <a:spAutoFit/>
          </a:bodyPr>
          <a:lstStyle/>
          <a:p>
            <a:pPr algn="ctr">
              <a:lnSpc>
                <a:spcPts val="2240"/>
              </a:lnSpc>
              <a:spcAft>
                <a:spcPts val="0"/>
              </a:spcAft>
              <a:defRPr sz="2000" b="0">
                <a:solidFill>
                  <a:srgbClr val="182B3A"/>
                </a:solidFill>
                <a:latin typeface="Arial"/>
              </a:defRPr>
            </a:pPr>
            <a:r>
              <a:t>5</a:t>
            </a:r>
          </a:p>
        </p:txBody>
      </p:sp>
      <p:sp>
        <p:nvSpPr>
          <p:cNvPr id="121" name="Rectangle 120"/>
          <p:cNvSpPr/>
          <p:nvPr/>
        </p:nvSpPr>
        <p:spPr>
          <a:xfrm>
            <a:off x="9646920" y="1581912"/>
            <a:ext cx="4640580" cy="1005840"/>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2" name="TextBox 121"/>
          <p:cNvSpPr txBox="1"/>
          <p:nvPr/>
        </p:nvSpPr>
        <p:spPr>
          <a:xfrm>
            <a:off x="9738360" y="1837943"/>
            <a:ext cx="320040" cy="365760"/>
          </a:xfrm>
          <a:prstGeom prst="rect">
            <a:avLst/>
          </a:prstGeom>
          <a:noFill/>
        </p:spPr>
        <p:txBody>
          <a:bodyPr wrap="square" lIns="54864" rIns="54864" tIns="22860" bIns="22860">
            <a:spAutoFit/>
          </a:bodyPr>
          <a:lstStyle/>
          <a:p>
            <a:pPr>
              <a:lnSpc>
                <a:spcPts val="2205"/>
              </a:lnSpc>
              <a:spcBef>
                <a:spcPts val="0"/>
              </a:spcBef>
              <a:spcAft>
                <a:spcPts val="0"/>
              </a:spcAft>
              <a:defRPr sz="2100" b="1">
                <a:solidFill>
                  <a:srgbClr val="182B3A"/>
                </a:solidFill>
                <a:latin typeface="Arial"/>
              </a:defRPr>
            </a:pPr>
            <a:r>
              <a:t>1.</a:t>
            </a:r>
          </a:p>
        </p:txBody>
      </p:sp>
      <p:sp>
        <p:nvSpPr>
          <p:cNvPr id="123" name="TextBox 122"/>
          <p:cNvSpPr txBox="1"/>
          <p:nvPr/>
        </p:nvSpPr>
        <p:spPr>
          <a:xfrm>
            <a:off x="10241280" y="1755648"/>
            <a:ext cx="252603" cy="256032"/>
          </a:xfrm>
          <a:prstGeom prst="rect">
            <a:avLst/>
          </a:prstGeom>
          <a:noFill/>
        </p:spPr>
        <p:txBody>
          <a:bodyPr wrap="none" lIns="0" rIns="0" tIns="0" bIns="0">
            <a:spAutoFit/>
          </a:bodyPr>
          <a:lstStyle/>
          <a:p>
            <a:pPr algn="ctr">
              <a:lnSpc>
                <a:spcPts val="2240"/>
              </a:lnSpc>
              <a:spcAft>
                <a:spcPts val="0"/>
              </a:spcAft>
              <a:defRPr sz="2000" b="0">
                <a:solidFill>
                  <a:srgbClr val="182B3A"/>
                </a:solidFill>
                <a:latin typeface="Arial"/>
              </a:defRPr>
            </a:pPr>
            <a:r>
              <a:t>5</a:t>
            </a:r>
          </a:p>
        </p:txBody>
      </p:sp>
      <p:cxnSp>
        <p:nvCxnSpPr>
          <p:cNvPr id="124" name="Connector 123"/>
          <p:cNvCxnSpPr/>
          <p:nvPr/>
        </p:nvCxnSpPr>
        <p:spPr>
          <a:xfrm>
            <a:off x="10241280" y="2020824"/>
            <a:ext cx="252603" cy="0"/>
          </a:xfrm>
          <a:prstGeom prst="line">
            <a:avLst/>
          </a:prstGeom>
          <a:ln w="12700">
            <a:solidFill>
              <a:srgbClr val="182B3A"/>
            </a:solidFill>
          </a:ln>
          <a:effectLst/>
        </p:spPr>
        <p:style>
          <a:lnRef idx="2">
            <a:schemeClr val="accent1"/>
          </a:lnRef>
          <a:fillRef idx="0">
            <a:schemeClr val="accent1"/>
          </a:fillRef>
          <a:effectRef idx="1">
            <a:schemeClr val="accent1"/>
          </a:effectRef>
          <a:fontRef idx="minor">
            <a:schemeClr val="tx1"/>
          </a:fontRef>
        </p:style>
      </p:cxnSp>
      <p:sp>
        <p:nvSpPr>
          <p:cNvPr id="125" name="TextBox 124"/>
          <p:cNvSpPr txBox="1"/>
          <p:nvPr/>
        </p:nvSpPr>
        <p:spPr>
          <a:xfrm>
            <a:off x="10241280" y="2039112"/>
            <a:ext cx="252603" cy="256032"/>
          </a:xfrm>
          <a:prstGeom prst="rect">
            <a:avLst/>
          </a:prstGeom>
          <a:noFill/>
        </p:spPr>
        <p:txBody>
          <a:bodyPr wrap="none" lIns="0" rIns="0" tIns="0" bIns="0">
            <a:spAutoFit/>
          </a:bodyPr>
          <a:lstStyle/>
          <a:p>
            <a:pPr algn="ctr">
              <a:lnSpc>
                <a:spcPts val="2240"/>
              </a:lnSpc>
              <a:spcAft>
                <a:spcPts val="0"/>
              </a:spcAft>
              <a:defRPr sz="2000" b="0">
                <a:solidFill>
                  <a:srgbClr val="182B3A"/>
                </a:solidFill>
                <a:latin typeface="Arial"/>
              </a:defRPr>
            </a:pPr>
            <a:r>
              <a:t>8</a:t>
            </a:r>
          </a:p>
        </p:txBody>
      </p:sp>
      <p:sp>
        <p:nvSpPr>
          <p:cNvPr id="126" name="TextBox 125"/>
          <p:cNvSpPr txBox="1"/>
          <p:nvPr/>
        </p:nvSpPr>
        <p:spPr>
          <a:xfrm>
            <a:off x="10548747" y="1874519"/>
            <a:ext cx="389381" cy="347472"/>
          </a:xfrm>
          <a:prstGeom prst="rect">
            <a:avLst/>
          </a:prstGeom>
          <a:noFill/>
        </p:spPr>
        <p:txBody>
          <a:bodyPr wrap="none" lIns="0" rIns="0" tIns="0" bIns="0">
            <a:spAutoFit/>
          </a:bodyPr>
          <a:lstStyle/>
          <a:p>
            <a:pPr algn="l">
              <a:lnSpc>
                <a:spcPts val="2800"/>
              </a:lnSpc>
              <a:spcAft>
                <a:spcPts val="0"/>
              </a:spcAft>
              <a:defRPr sz="2500" b="0">
                <a:solidFill>
                  <a:srgbClr val="182B3A"/>
                </a:solidFill>
                <a:latin typeface="Arial"/>
              </a:defRPr>
            </a:pPr>
            <a:r>
              <a:t> + </a:t>
            </a:r>
          </a:p>
        </p:txBody>
      </p:sp>
      <p:sp>
        <p:nvSpPr>
          <p:cNvPr id="127" name="TextBox 126"/>
          <p:cNvSpPr txBox="1"/>
          <p:nvPr/>
        </p:nvSpPr>
        <p:spPr>
          <a:xfrm>
            <a:off x="10938129" y="1755648"/>
            <a:ext cx="252603" cy="256032"/>
          </a:xfrm>
          <a:prstGeom prst="rect">
            <a:avLst/>
          </a:prstGeom>
          <a:noFill/>
        </p:spPr>
        <p:txBody>
          <a:bodyPr wrap="none" lIns="0" rIns="0" tIns="0" bIns="0">
            <a:spAutoFit/>
          </a:bodyPr>
          <a:lstStyle/>
          <a:p>
            <a:pPr algn="ctr">
              <a:lnSpc>
                <a:spcPts val="2240"/>
              </a:lnSpc>
              <a:spcAft>
                <a:spcPts val="0"/>
              </a:spcAft>
              <a:defRPr sz="2000" b="0">
                <a:solidFill>
                  <a:srgbClr val="182B3A"/>
                </a:solidFill>
                <a:latin typeface="Arial"/>
              </a:defRPr>
            </a:pPr>
            <a:r>
              <a:t>1</a:t>
            </a:r>
          </a:p>
        </p:txBody>
      </p:sp>
      <p:cxnSp>
        <p:nvCxnSpPr>
          <p:cNvPr id="128" name="Connector 127"/>
          <p:cNvCxnSpPr/>
          <p:nvPr/>
        </p:nvCxnSpPr>
        <p:spPr>
          <a:xfrm>
            <a:off x="10938129" y="2020824"/>
            <a:ext cx="252603" cy="0"/>
          </a:xfrm>
          <a:prstGeom prst="line">
            <a:avLst/>
          </a:prstGeom>
          <a:ln w="12700">
            <a:solidFill>
              <a:srgbClr val="182B3A"/>
            </a:solidFill>
          </a:ln>
          <a:effectLst/>
        </p:spPr>
        <p:style>
          <a:lnRef idx="2">
            <a:schemeClr val="accent1"/>
          </a:lnRef>
          <a:fillRef idx="0">
            <a:schemeClr val="accent1"/>
          </a:fillRef>
          <a:effectRef idx="1">
            <a:schemeClr val="accent1"/>
          </a:effectRef>
          <a:fontRef idx="minor">
            <a:schemeClr val="tx1"/>
          </a:fontRef>
        </p:style>
      </p:cxnSp>
      <p:sp>
        <p:nvSpPr>
          <p:cNvPr id="129" name="TextBox 128"/>
          <p:cNvSpPr txBox="1"/>
          <p:nvPr/>
        </p:nvSpPr>
        <p:spPr>
          <a:xfrm>
            <a:off x="10938129" y="2039112"/>
            <a:ext cx="252603" cy="256032"/>
          </a:xfrm>
          <a:prstGeom prst="rect">
            <a:avLst/>
          </a:prstGeom>
          <a:noFill/>
        </p:spPr>
        <p:txBody>
          <a:bodyPr wrap="none" lIns="0" rIns="0" tIns="0" bIns="0">
            <a:spAutoFit/>
          </a:bodyPr>
          <a:lstStyle/>
          <a:p>
            <a:pPr algn="ctr">
              <a:lnSpc>
                <a:spcPts val="2240"/>
              </a:lnSpc>
              <a:spcAft>
                <a:spcPts val="0"/>
              </a:spcAft>
              <a:defRPr sz="2000" b="0">
                <a:solidFill>
                  <a:srgbClr val="182B3A"/>
                </a:solidFill>
                <a:latin typeface="Arial"/>
              </a:defRPr>
            </a:pPr>
            <a:r>
              <a:t>6</a:t>
            </a:r>
          </a:p>
        </p:txBody>
      </p:sp>
      <p:sp>
        <p:nvSpPr>
          <p:cNvPr id="130" name="Rectangle 129"/>
          <p:cNvSpPr/>
          <p:nvPr/>
        </p:nvSpPr>
        <p:spPr>
          <a:xfrm>
            <a:off x="9646920" y="2587752"/>
            <a:ext cx="4640580" cy="1005840"/>
          </a:xfrm>
          <a:prstGeom prst="rect">
            <a:avLst/>
          </a:prstGeom>
          <a:solidFill>
            <a:srgbClr val="F5F0F7"/>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1" name="TextBox 130"/>
          <p:cNvSpPr txBox="1"/>
          <p:nvPr/>
        </p:nvSpPr>
        <p:spPr>
          <a:xfrm>
            <a:off x="9738360" y="2843784"/>
            <a:ext cx="320040" cy="365760"/>
          </a:xfrm>
          <a:prstGeom prst="rect">
            <a:avLst/>
          </a:prstGeom>
          <a:noFill/>
        </p:spPr>
        <p:txBody>
          <a:bodyPr wrap="square" lIns="54864" rIns="54864" tIns="22860" bIns="22860">
            <a:spAutoFit/>
          </a:bodyPr>
          <a:lstStyle/>
          <a:p>
            <a:pPr>
              <a:lnSpc>
                <a:spcPts val="2205"/>
              </a:lnSpc>
              <a:spcBef>
                <a:spcPts val="0"/>
              </a:spcBef>
              <a:spcAft>
                <a:spcPts val="0"/>
              </a:spcAft>
              <a:defRPr sz="2100" b="1">
                <a:solidFill>
                  <a:srgbClr val="182B3A"/>
                </a:solidFill>
                <a:latin typeface="Arial"/>
              </a:defRPr>
            </a:pPr>
            <a:r>
              <a:t>2.</a:t>
            </a:r>
          </a:p>
        </p:txBody>
      </p:sp>
      <p:sp>
        <p:nvSpPr>
          <p:cNvPr id="132" name="TextBox 131"/>
          <p:cNvSpPr txBox="1"/>
          <p:nvPr/>
        </p:nvSpPr>
        <p:spPr>
          <a:xfrm>
            <a:off x="10241280" y="2761488"/>
            <a:ext cx="252603" cy="256032"/>
          </a:xfrm>
          <a:prstGeom prst="rect">
            <a:avLst/>
          </a:prstGeom>
          <a:noFill/>
        </p:spPr>
        <p:txBody>
          <a:bodyPr wrap="none" lIns="0" rIns="0" tIns="0" bIns="0">
            <a:spAutoFit/>
          </a:bodyPr>
          <a:lstStyle/>
          <a:p>
            <a:pPr algn="ctr">
              <a:lnSpc>
                <a:spcPts val="2240"/>
              </a:lnSpc>
              <a:spcAft>
                <a:spcPts val="0"/>
              </a:spcAft>
              <a:defRPr sz="2000" b="0">
                <a:solidFill>
                  <a:srgbClr val="182B3A"/>
                </a:solidFill>
                <a:latin typeface="Arial"/>
              </a:defRPr>
            </a:pPr>
            <a:r>
              <a:t>2</a:t>
            </a:r>
          </a:p>
        </p:txBody>
      </p:sp>
      <p:cxnSp>
        <p:nvCxnSpPr>
          <p:cNvPr id="133" name="Connector 132"/>
          <p:cNvCxnSpPr/>
          <p:nvPr/>
        </p:nvCxnSpPr>
        <p:spPr>
          <a:xfrm>
            <a:off x="10241280" y="3026664"/>
            <a:ext cx="252603" cy="0"/>
          </a:xfrm>
          <a:prstGeom prst="line">
            <a:avLst/>
          </a:prstGeom>
          <a:ln w="12700">
            <a:solidFill>
              <a:srgbClr val="182B3A"/>
            </a:solidFill>
          </a:ln>
          <a:effectLst/>
        </p:spPr>
        <p:style>
          <a:lnRef idx="2">
            <a:schemeClr val="accent1"/>
          </a:lnRef>
          <a:fillRef idx="0">
            <a:schemeClr val="accent1"/>
          </a:fillRef>
          <a:effectRef idx="1">
            <a:schemeClr val="accent1"/>
          </a:effectRef>
          <a:fontRef idx="minor">
            <a:schemeClr val="tx1"/>
          </a:fontRef>
        </p:style>
      </p:cxnSp>
      <p:sp>
        <p:nvSpPr>
          <p:cNvPr id="134" name="TextBox 133"/>
          <p:cNvSpPr txBox="1"/>
          <p:nvPr/>
        </p:nvSpPr>
        <p:spPr>
          <a:xfrm>
            <a:off x="10241280" y="3044952"/>
            <a:ext cx="252603" cy="256032"/>
          </a:xfrm>
          <a:prstGeom prst="rect">
            <a:avLst/>
          </a:prstGeom>
          <a:noFill/>
        </p:spPr>
        <p:txBody>
          <a:bodyPr wrap="none" lIns="0" rIns="0" tIns="0" bIns="0">
            <a:spAutoFit/>
          </a:bodyPr>
          <a:lstStyle/>
          <a:p>
            <a:pPr algn="ctr">
              <a:lnSpc>
                <a:spcPts val="2240"/>
              </a:lnSpc>
              <a:spcAft>
                <a:spcPts val="0"/>
              </a:spcAft>
              <a:defRPr sz="2000" b="0">
                <a:solidFill>
                  <a:srgbClr val="182B3A"/>
                </a:solidFill>
                <a:latin typeface="Arial"/>
              </a:defRPr>
            </a:pPr>
            <a:r>
              <a:t>3</a:t>
            </a:r>
          </a:p>
        </p:txBody>
      </p:sp>
      <p:sp>
        <p:nvSpPr>
          <p:cNvPr id="135" name="TextBox 134"/>
          <p:cNvSpPr txBox="1"/>
          <p:nvPr/>
        </p:nvSpPr>
        <p:spPr>
          <a:xfrm>
            <a:off x="10548747" y="2880360"/>
            <a:ext cx="389381" cy="347472"/>
          </a:xfrm>
          <a:prstGeom prst="rect">
            <a:avLst/>
          </a:prstGeom>
          <a:noFill/>
        </p:spPr>
        <p:txBody>
          <a:bodyPr wrap="none" lIns="0" rIns="0" tIns="0" bIns="0">
            <a:spAutoFit/>
          </a:bodyPr>
          <a:lstStyle/>
          <a:p>
            <a:pPr algn="l">
              <a:lnSpc>
                <a:spcPts val="2800"/>
              </a:lnSpc>
              <a:spcAft>
                <a:spcPts val="0"/>
              </a:spcAft>
              <a:defRPr sz="2500" b="0">
                <a:solidFill>
                  <a:srgbClr val="182B3A"/>
                </a:solidFill>
                <a:latin typeface="Arial"/>
              </a:defRPr>
            </a:pPr>
            <a:r>
              <a:t> + </a:t>
            </a:r>
          </a:p>
        </p:txBody>
      </p:sp>
      <p:sp>
        <p:nvSpPr>
          <p:cNvPr id="136" name="TextBox 135"/>
          <p:cNvSpPr txBox="1"/>
          <p:nvPr/>
        </p:nvSpPr>
        <p:spPr>
          <a:xfrm>
            <a:off x="10938129" y="2761488"/>
            <a:ext cx="252603" cy="256032"/>
          </a:xfrm>
          <a:prstGeom prst="rect">
            <a:avLst/>
          </a:prstGeom>
          <a:noFill/>
        </p:spPr>
        <p:txBody>
          <a:bodyPr wrap="none" lIns="0" rIns="0" tIns="0" bIns="0">
            <a:spAutoFit/>
          </a:bodyPr>
          <a:lstStyle/>
          <a:p>
            <a:pPr algn="ctr">
              <a:lnSpc>
                <a:spcPts val="2240"/>
              </a:lnSpc>
              <a:spcAft>
                <a:spcPts val="0"/>
              </a:spcAft>
              <a:defRPr sz="2000" b="0">
                <a:solidFill>
                  <a:srgbClr val="182B3A"/>
                </a:solidFill>
                <a:latin typeface="Arial"/>
              </a:defRPr>
            </a:pPr>
            <a:r>
              <a:t>6</a:t>
            </a:r>
          </a:p>
        </p:txBody>
      </p:sp>
      <p:cxnSp>
        <p:nvCxnSpPr>
          <p:cNvPr id="137" name="Connector 136"/>
          <p:cNvCxnSpPr/>
          <p:nvPr/>
        </p:nvCxnSpPr>
        <p:spPr>
          <a:xfrm>
            <a:off x="10938129" y="3026664"/>
            <a:ext cx="252603" cy="0"/>
          </a:xfrm>
          <a:prstGeom prst="line">
            <a:avLst/>
          </a:prstGeom>
          <a:ln w="12700">
            <a:solidFill>
              <a:srgbClr val="182B3A"/>
            </a:solidFill>
          </a:ln>
          <a:effectLst/>
        </p:spPr>
        <p:style>
          <a:lnRef idx="2">
            <a:schemeClr val="accent1"/>
          </a:lnRef>
          <a:fillRef idx="0">
            <a:schemeClr val="accent1"/>
          </a:fillRef>
          <a:effectRef idx="1">
            <a:schemeClr val="accent1"/>
          </a:effectRef>
          <a:fontRef idx="minor">
            <a:schemeClr val="tx1"/>
          </a:fontRef>
        </p:style>
      </p:cxnSp>
      <p:sp>
        <p:nvSpPr>
          <p:cNvPr id="138" name="TextBox 137"/>
          <p:cNvSpPr txBox="1"/>
          <p:nvPr/>
        </p:nvSpPr>
        <p:spPr>
          <a:xfrm>
            <a:off x="10938129" y="3044952"/>
            <a:ext cx="252603" cy="256032"/>
          </a:xfrm>
          <a:prstGeom prst="rect">
            <a:avLst/>
          </a:prstGeom>
          <a:noFill/>
        </p:spPr>
        <p:txBody>
          <a:bodyPr wrap="none" lIns="0" rIns="0" tIns="0" bIns="0">
            <a:spAutoFit/>
          </a:bodyPr>
          <a:lstStyle/>
          <a:p>
            <a:pPr algn="ctr">
              <a:lnSpc>
                <a:spcPts val="2240"/>
              </a:lnSpc>
              <a:spcAft>
                <a:spcPts val="0"/>
              </a:spcAft>
              <a:defRPr sz="2000" b="0">
                <a:solidFill>
                  <a:srgbClr val="182B3A"/>
                </a:solidFill>
                <a:latin typeface="Arial"/>
              </a:defRPr>
            </a:pPr>
            <a:r>
              <a:t>7</a:t>
            </a:r>
          </a:p>
        </p:txBody>
      </p:sp>
      <p:sp>
        <p:nvSpPr>
          <p:cNvPr id="139" name="Rectangle 138"/>
          <p:cNvSpPr/>
          <p:nvPr/>
        </p:nvSpPr>
        <p:spPr>
          <a:xfrm>
            <a:off x="9646920" y="3593592"/>
            <a:ext cx="4640580" cy="1005840"/>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0" name="TextBox 139"/>
          <p:cNvSpPr txBox="1"/>
          <p:nvPr/>
        </p:nvSpPr>
        <p:spPr>
          <a:xfrm>
            <a:off x="9738360" y="3849624"/>
            <a:ext cx="320040" cy="365760"/>
          </a:xfrm>
          <a:prstGeom prst="rect">
            <a:avLst/>
          </a:prstGeom>
          <a:noFill/>
        </p:spPr>
        <p:txBody>
          <a:bodyPr wrap="square" lIns="54864" rIns="54864" tIns="22860" bIns="22860">
            <a:spAutoFit/>
          </a:bodyPr>
          <a:lstStyle/>
          <a:p>
            <a:pPr>
              <a:lnSpc>
                <a:spcPts val="2205"/>
              </a:lnSpc>
              <a:spcBef>
                <a:spcPts val="0"/>
              </a:spcBef>
              <a:spcAft>
                <a:spcPts val="0"/>
              </a:spcAft>
              <a:defRPr sz="2100" b="1">
                <a:solidFill>
                  <a:srgbClr val="182B3A"/>
                </a:solidFill>
                <a:latin typeface="Arial"/>
              </a:defRPr>
            </a:pPr>
            <a:r>
              <a:t>3.</a:t>
            </a:r>
          </a:p>
        </p:txBody>
      </p:sp>
      <p:sp>
        <p:nvSpPr>
          <p:cNvPr id="141" name="TextBox 140"/>
          <p:cNvSpPr txBox="1"/>
          <p:nvPr/>
        </p:nvSpPr>
        <p:spPr>
          <a:xfrm>
            <a:off x="10241280" y="3767328"/>
            <a:ext cx="252603" cy="256032"/>
          </a:xfrm>
          <a:prstGeom prst="rect">
            <a:avLst/>
          </a:prstGeom>
          <a:noFill/>
        </p:spPr>
        <p:txBody>
          <a:bodyPr wrap="none" lIns="0" rIns="0" tIns="0" bIns="0">
            <a:spAutoFit/>
          </a:bodyPr>
          <a:lstStyle/>
          <a:p>
            <a:pPr algn="ctr">
              <a:lnSpc>
                <a:spcPts val="2240"/>
              </a:lnSpc>
              <a:spcAft>
                <a:spcPts val="0"/>
              </a:spcAft>
              <a:defRPr sz="2000" b="0">
                <a:solidFill>
                  <a:srgbClr val="182B3A"/>
                </a:solidFill>
                <a:latin typeface="Arial"/>
              </a:defRPr>
            </a:pPr>
            <a:r>
              <a:t>2</a:t>
            </a:r>
          </a:p>
        </p:txBody>
      </p:sp>
      <p:cxnSp>
        <p:nvCxnSpPr>
          <p:cNvPr id="142" name="Connector 141"/>
          <p:cNvCxnSpPr/>
          <p:nvPr/>
        </p:nvCxnSpPr>
        <p:spPr>
          <a:xfrm>
            <a:off x="10241280" y="4032504"/>
            <a:ext cx="252603" cy="0"/>
          </a:xfrm>
          <a:prstGeom prst="line">
            <a:avLst/>
          </a:prstGeom>
          <a:ln w="12700">
            <a:solidFill>
              <a:srgbClr val="182B3A"/>
            </a:solidFill>
          </a:ln>
          <a:effectLst/>
        </p:spPr>
        <p:style>
          <a:lnRef idx="2">
            <a:schemeClr val="accent1"/>
          </a:lnRef>
          <a:fillRef idx="0">
            <a:schemeClr val="accent1"/>
          </a:fillRef>
          <a:effectRef idx="1">
            <a:schemeClr val="accent1"/>
          </a:effectRef>
          <a:fontRef idx="minor">
            <a:schemeClr val="tx1"/>
          </a:fontRef>
        </p:style>
      </p:cxnSp>
      <p:sp>
        <p:nvSpPr>
          <p:cNvPr id="143" name="TextBox 142"/>
          <p:cNvSpPr txBox="1"/>
          <p:nvPr/>
        </p:nvSpPr>
        <p:spPr>
          <a:xfrm>
            <a:off x="10241280" y="4050791"/>
            <a:ext cx="252603" cy="256032"/>
          </a:xfrm>
          <a:prstGeom prst="rect">
            <a:avLst/>
          </a:prstGeom>
          <a:noFill/>
        </p:spPr>
        <p:txBody>
          <a:bodyPr wrap="none" lIns="0" rIns="0" tIns="0" bIns="0">
            <a:spAutoFit/>
          </a:bodyPr>
          <a:lstStyle/>
          <a:p>
            <a:pPr algn="ctr">
              <a:lnSpc>
                <a:spcPts val="2240"/>
              </a:lnSpc>
              <a:spcAft>
                <a:spcPts val="0"/>
              </a:spcAft>
              <a:defRPr sz="2000" b="0">
                <a:solidFill>
                  <a:srgbClr val="182B3A"/>
                </a:solidFill>
                <a:latin typeface="Arial"/>
              </a:defRPr>
            </a:pPr>
            <a:r>
              <a:t>3</a:t>
            </a:r>
          </a:p>
        </p:txBody>
      </p:sp>
      <p:sp>
        <p:nvSpPr>
          <p:cNvPr id="144" name="TextBox 143"/>
          <p:cNvSpPr txBox="1"/>
          <p:nvPr/>
        </p:nvSpPr>
        <p:spPr>
          <a:xfrm>
            <a:off x="10548747" y="3886200"/>
            <a:ext cx="389381" cy="347472"/>
          </a:xfrm>
          <a:prstGeom prst="rect">
            <a:avLst/>
          </a:prstGeom>
          <a:noFill/>
        </p:spPr>
        <p:txBody>
          <a:bodyPr wrap="none" lIns="0" rIns="0" tIns="0" bIns="0">
            <a:spAutoFit/>
          </a:bodyPr>
          <a:lstStyle/>
          <a:p>
            <a:pPr algn="l">
              <a:lnSpc>
                <a:spcPts val="2800"/>
              </a:lnSpc>
              <a:spcAft>
                <a:spcPts val="0"/>
              </a:spcAft>
              <a:defRPr sz="2500" b="0">
                <a:solidFill>
                  <a:srgbClr val="182B3A"/>
                </a:solidFill>
                <a:latin typeface="Arial"/>
              </a:defRPr>
            </a:pPr>
            <a:r>
              <a:t> + </a:t>
            </a:r>
          </a:p>
        </p:txBody>
      </p:sp>
      <p:sp>
        <p:nvSpPr>
          <p:cNvPr id="145" name="TextBox 144"/>
          <p:cNvSpPr txBox="1"/>
          <p:nvPr/>
        </p:nvSpPr>
        <p:spPr>
          <a:xfrm>
            <a:off x="10938129" y="3767328"/>
            <a:ext cx="395180" cy="256032"/>
          </a:xfrm>
          <a:prstGeom prst="rect">
            <a:avLst/>
          </a:prstGeom>
          <a:noFill/>
        </p:spPr>
        <p:txBody>
          <a:bodyPr wrap="none" lIns="0" rIns="0" tIns="0" bIns="0">
            <a:spAutoFit/>
          </a:bodyPr>
          <a:lstStyle/>
          <a:p>
            <a:pPr algn="ctr">
              <a:lnSpc>
                <a:spcPts val="2240"/>
              </a:lnSpc>
              <a:spcAft>
                <a:spcPts val="0"/>
              </a:spcAft>
              <a:defRPr sz="2000" b="0">
                <a:solidFill>
                  <a:srgbClr val="182B3A"/>
                </a:solidFill>
                <a:latin typeface="Arial"/>
              </a:defRPr>
            </a:pPr>
            <a:r>
              <a:t>6</a:t>
            </a:r>
          </a:p>
        </p:txBody>
      </p:sp>
      <p:cxnSp>
        <p:nvCxnSpPr>
          <p:cNvPr id="146" name="Connector 145"/>
          <p:cNvCxnSpPr/>
          <p:nvPr/>
        </p:nvCxnSpPr>
        <p:spPr>
          <a:xfrm>
            <a:off x="10938129" y="4032504"/>
            <a:ext cx="395180" cy="0"/>
          </a:xfrm>
          <a:prstGeom prst="line">
            <a:avLst/>
          </a:prstGeom>
          <a:ln w="12700">
            <a:solidFill>
              <a:srgbClr val="182B3A"/>
            </a:solidFill>
          </a:ln>
          <a:effectLst/>
        </p:spPr>
        <p:style>
          <a:lnRef idx="2">
            <a:schemeClr val="accent1"/>
          </a:lnRef>
          <a:fillRef idx="0">
            <a:schemeClr val="accent1"/>
          </a:fillRef>
          <a:effectRef idx="1">
            <a:schemeClr val="accent1"/>
          </a:effectRef>
          <a:fontRef idx="minor">
            <a:schemeClr val="tx1"/>
          </a:fontRef>
        </p:style>
      </p:cxnSp>
      <p:sp>
        <p:nvSpPr>
          <p:cNvPr id="147" name="TextBox 146"/>
          <p:cNvSpPr txBox="1"/>
          <p:nvPr/>
        </p:nvSpPr>
        <p:spPr>
          <a:xfrm>
            <a:off x="10938129" y="4050791"/>
            <a:ext cx="395180" cy="256032"/>
          </a:xfrm>
          <a:prstGeom prst="rect">
            <a:avLst/>
          </a:prstGeom>
          <a:noFill/>
        </p:spPr>
        <p:txBody>
          <a:bodyPr wrap="none" lIns="0" rIns="0" tIns="0" bIns="0">
            <a:spAutoFit/>
          </a:bodyPr>
          <a:lstStyle/>
          <a:p>
            <a:pPr algn="ctr">
              <a:lnSpc>
                <a:spcPts val="2240"/>
              </a:lnSpc>
              <a:spcAft>
                <a:spcPts val="0"/>
              </a:spcAft>
              <a:defRPr sz="2000" b="0">
                <a:solidFill>
                  <a:srgbClr val="182B3A"/>
                </a:solidFill>
                <a:latin typeface="Arial"/>
              </a:defRPr>
            </a:pPr>
            <a:r>
              <a:t>11</a:t>
            </a:r>
          </a:p>
        </p:txBody>
      </p:sp>
      <p:sp>
        <p:nvSpPr>
          <p:cNvPr id="148" name="Rectangle 147"/>
          <p:cNvSpPr/>
          <p:nvPr/>
        </p:nvSpPr>
        <p:spPr>
          <a:xfrm>
            <a:off x="9646920" y="4599432"/>
            <a:ext cx="4640580" cy="1005840"/>
          </a:xfrm>
          <a:prstGeom prst="rect">
            <a:avLst/>
          </a:prstGeom>
          <a:solidFill>
            <a:srgbClr val="F5F0F7"/>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9" name="TextBox 148"/>
          <p:cNvSpPr txBox="1"/>
          <p:nvPr/>
        </p:nvSpPr>
        <p:spPr>
          <a:xfrm>
            <a:off x="9738360" y="4855464"/>
            <a:ext cx="320040" cy="365760"/>
          </a:xfrm>
          <a:prstGeom prst="rect">
            <a:avLst/>
          </a:prstGeom>
          <a:noFill/>
        </p:spPr>
        <p:txBody>
          <a:bodyPr wrap="square" lIns="54864" rIns="54864" tIns="22860" bIns="22860">
            <a:spAutoFit/>
          </a:bodyPr>
          <a:lstStyle/>
          <a:p>
            <a:pPr>
              <a:lnSpc>
                <a:spcPts val="2205"/>
              </a:lnSpc>
              <a:spcBef>
                <a:spcPts val="0"/>
              </a:spcBef>
              <a:spcAft>
                <a:spcPts val="0"/>
              </a:spcAft>
              <a:defRPr sz="2100" b="1">
                <a:solidFill>
                  <a:srgbClr val="182B3A"/>
                </a:solidFill>
                <a:latin typeface="Arial"/>
              </a:defRPr>
            </a:pPr>
            <a:r>
              <a:t>4.</a:t>
            </a:r>
          </a:p>
        </p:txBody>
      </p:sp>
      <p:sp>
        <p:nvSpPr>
          <p:cNvPr id="150" name="TextBox 149"/>
          <p:cNvSpPr txBox="1"/>
          <p:nvPr/>
        </p:nvSpPr>
        <p:spPr>
          <a:xfrm>
            <a:off x="10241280" y="4773168"/>
            <a:ext cx="395180" cy="256032"/>
          </a:xfrm>
          <a:prstGeom prst="rect">
            <a:avLst/>
          </a:prstGeom>
          <a:noFill/>
        </p:spPr>
        <p:txBody>
          <a:bodyPr wrap="none" lIns="0" rIns="0" tIns="0" bIns="0">
            <a:spAutoFit/>
          </a:bodyPr>
          <a:lstStyle/>
          <a:p>
            <a:pPr algn="ctr">
              <a:lnSpc>
                <a:spcPts val="2240"/>
              </a:lnSpc>
              <a:spcAft>
                <a:spcPts val="0"/>
              </a:spcAft>
              <a:defRPr sz="2000" b="0">
                <a:solidFill>
                  <a:srgbClr val="182B3A"/>
                </a:solidFill>
                <a:latin typeface="Arial"/>
              </a:defRPr>
            </a:pPr>
            <a:r>
              <a:t>6</a:t>
            </a:r>
          </a:p>
        </p:txBody>
      </p:sp>
      <p:cxnSp>
        <p:nvCxnSpPr>
          <p:cNvPr id="151" name="Connector 150"/>
          <p:cNvCxnSpPr/>
          <p:nvPr/>
        </p:nvCxnSpPr>
        <p:spPr>
          <a:xfrm>
            <a:off x="10241280" y="5038344"/>
            <a:ext cx="395180" cy="0"/>
          </a:xfrm>
          <a:prstGeom prst="line">
            <a:avLst/>
          </a:prstGeom>
          <a:ln w="12700">
            <a:solidFill>
              <a:srgbClr val="182B3A"/>
            </a:solidFill>
          </a:ln>
          <a:effectLst/>
        </p:spPr>
        <p:style>
          <a:lnRef idx="2">
            <a:schemeClr val="accent1"/>
          </a:lnRef>
          <a:fillRef idx="0">
            <a:schemeClr val="accent1"/>
          </a:fillRef>
          <a:effectRef idx="1">
            <a:schemeClr val="accent1"/>
          </a:effectRef>
          <a:fontRef idx="minor">
            <a:schemeClr val="tx1"/>
          </a:fontRef>
        </p:style>
      </p:cxnSp>
      <p:sp>
        <p:nvSpPr>
          <p:cNvPr id="152" name="TextBox 151"/>
          <p:cNvSpPr txBox="1"/>
          <p:nvPr/>
        </p:nvSpPr>
        <p:spPr>
          <a:xfrm>
            <a:off x="10241280" y="5056632"/>
            <a:ext cx="395180" cy="256032"/>
          </a:xfrm>
          <a:prstGeom prst="rect">
            <a:avLst/>
          </a:prstGeom>
          <a:noFill/>
        </p:spPr>
        <p:txBody>
          <a:bodyPr wrap="none" lIns="0" rIns="0" tIns="0" bIns="0">
            <a:spAutoFit/>
          </a:bodyPr>
          <a:lstStyle/>
          <a:p>
            <a:pPr algn="ctr">
              <a:lnSpc>
                <a:spcPts val="2240"/>
              </a:lnSpc>
              <a:spcAft>
                <a:spcPts val="0"/>
              </a:spcAft>
              <a:defRPr sz="2000" b="0">
                <a:solidFill>
                  <a:srgbClr val="182B3A"/>
                </a:solidFill>
                <a:latin typeface="Arial"/>
              </a:defRPr>
            </a:pPr>
            <a:r>
              <a:t>11</a:t>
            </a:r>
          </a:p>
        </p:txBody>
      </p:sp>
      <p:sp>
        <p:nvSpPr>
          <p:cNvPr id="153" name="TextBox 152"/>
          <p:cNvSpPr txBox="1"/>
          <p:nvPr/>
        </p:nvSpPr>
        <p:spPr>
          <a:xfrm>
            <a:off x="10691324" y="4892040"/>
            <a:ext cx="389381" cy="347472"/>
          </a:xfrm>
          <a:prstGeom prst="rect">
            <a:avLst/>
          </a:prstGeom>
          <a:noFill/>
        </p:spPr>
        <p:txBody>
          <a:bodyPr wrap="none" lIns="0" rIns="0" tIns="0" bIns="0">
            <a:spAutoFit/>
          </a:bodyPr>
          <a:lstStyle/>
          <a:p>
            <a:pPr algn="l">
              <a:lnSpc>
                <a:spcPts val="2800"/>
              </a:lnSpc>
              <a:spcAft>
                <a:spcPts val="0"/>
              </a:spcAft>
              <a:defRPr sz="2500" b="0">
                <a:solidFill>
                  <a:srgbClr val="182B3A"/>
                </a:solidFill>
                <a:latin typeface="Arial"/>
              </a:defRPr>
            </a:pPr>
            <a:r>
              <a:t> − </a:t>
            </a:r>
          </a:p>
        </p:txBody>
      </p:sp>
      <p:sp>
        <p:nvSpPr>
          <p:cNvPr id="154" name="TextBox 153"/>
          <p:cNvSpPr txBox="1"/>
          <p:nvPr/>
        </p:nvSpPr>
        <p:spPr>
          <a:xfrm>
            <a:off x="11080706" y="4773168"/>
            <a:ext cx="252603" cy="256032"/>
          </a:xfrm>
          <a:prstGeom prst="rect">
            <a:avLst/>
          </a:prstGeom>
          <a:noFill/>
        </p:spPr>
        <p:txBody>
          <a:bodyPr wrap="none" lIns="0" rIns="0" tIns="0" bIns="0">
            <a:spAutoFit/>
          </a:bodyPr>
          <a:lstStyle/>
          <a:p>
            <a:pPr algn="ctr">
              <a:lnSpc>
                <a:spcPts val="2240"/>
              </a:lnSpc>
              <a:spcAft>
                <a:spcPts val="0"/>
              </a:spcAft>
              <a:defRPr sz="2000" b="0">
                <a:solidFill>
                  <a:srgbClr val="182B3A"/>
                </a:solidFill>
                <a:latin typeface="Arial"/>
              </a:defRPr>
            </a:pPr>
            <a:r>
              <a:t>1</a:t>
            </a:r>
          </a:p>
        </p:txBody>
      </p:sp>
      <p:cxnSp>
        <p:nvCxnSpPr>
          <p:cNvPr id="155" name="Connector 154"/>
          <p:cNvCxnSpPr/>
          <p:nvPr/>
        </p:nvCxnSpPr>
        <p:spPr>
          <a:xfrm>
            <a:off x="11080706" y="5038344"/>
            <a:ext cx="252603" cy="0"/>
          </a:xfrm>
          <a:prstGeom prst="line">
            <a:avLst/>
          </a:prstGeom>
          <a:ln w="12700">
            <a:solidFill>
              <a:srgbClr val="182B3A"/>
            </a:solidFill>
          </a:ln>
          <a:effectLst/>
        </p:spPr>
        <p:style>
          <a:lnRef idx="2">
            <a:schemeClr val="accent1"/>
          </a:lnRef>
          <a:fillRef idx="0">
            <a:schemeClr val="accent1"/>
          </a:fillRef>
          <a:effectRef idx="1">
            <a:schemeClr val="accent1"/>
          </a:effectRef>
          <a:fontRef idx="minor">
            <a:schemeClr val="tx1"/>
          </a:fontRef>
        </p:style>
      </p:cxnSp>
      <p:sp>
        <p:nvSpPr>
          <p:cNvPr id="156" name="TextBox 155"/>
          <p:cNvSpPr txBox="1"/>
          <p:nvPr/>
        </p:nvSpPr>
        <p:spPr>
          <a:xfrm>
            <a:off x="11080706" y="5056632"/>
            <a:ext cx="252603" cy="256032"/>
          </a:xfrm>
          <a:prstGeom prst="rect">
            <a:avLst/>
          </a:prstGeom>
          <a:noFill/>
        </p:spPr>
        <p:txBody>
          <a:bodyPr wrap="none" lIns="0" rIns="0" tIns="0" bIns="0">
            <a:spAutoFit/>
          </a:bodyPr>
          <a:lstStyle/>
          <a:p>
            <a:pPr algn="ctr">
              <a:lnSpc>
                <a:spcPts val="2240"/>
              </a:lnSpc>
              <a:spcAft>
                <a:spcPts val="0"/>
              </a:spcAft>
              <a:defRPr sz="2000" b="0">
                <a:solidFill>
                  <a:srgbClr val="182B3A"/>
                </a:solidFill>
                <a:latin typeface="Arial"/>
              </a:defRPr>
            </a:pPr>
            <a:r>
              <a:t>3</a:t>
            </a:r>
          </a:p>
        </p:txBody>
      </p:sp>
      <p:sp>
        <p:nvSpPr>
          <p:cNvPr id="157" name="Rectangle 156"/>
          <p:cNvSpPr/>
          <p:nvPr/>
        </p:nvSpPr>
        <p:spPr>
          <a:xfrm>
            <a:off x="9646920" y="5605272"/>
            <a:ext cx="4640580" cy="1005840"/>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8" name="TextBox 157"/>
          <p:cNvSpPr txBox="1"/>
          <p:nvPr/>
        </p:nvSpPr>
        <p:spPr>
          <a:xfrm>
            <a:off x="9738360" y="5861304"/>
            <a:ext cx="320040" cy="365760"/>
          </a:xfrm>
          <a:prstGeom prst="rect">
            <a:avLst/>
          </a:prstGeom>
          <a:noFill/>
        </p:spPr>
        <p:txBody>
          <a:bodyPr wrap="square" lIns="54864" rIns="54864" tIns="22860" bIns="22860">
            <a:spAutoFit/>
          </a:bodyPr>
          <a:lstStyle/>
          <a:p>
            <a:pPr>
              <a:lnSpc>
                <a:spcPts val="2205"/>
              </a:lnSpc>
              <a:spcBef>
                <a:spcPts val="0"/>
              </a:spcBef>
              <a:spcAft>
                <a:spcPts val="0"/>
              </a:spcAft>
              <a:defRPr sz="2100" b="1">
                <a:solidFill>
                  <a:srgbClr val="182B3A"/>
                </a:solidFill>
                <a:latin typeface="Arial"/>
              </a:defRPr>
            </a:pPr>
            <a:r>
              <a:t>5.</a:t>
            </a:r>
          </a:p>
        </p:txBody>
      </p:sp>
      <p:sp>
        <p:nvSpPr>
          <p:cNvPr id="159" name="TextBox 158"/>
          <p:cNvSpPr txBox="1"/>
          <p:nvPr/>
        </p:nvSpPr>
        <p:spPr>
          <a:xfrm>
            <a:off x="10241280" y="5897880"/>
            <a:ext cx="294132" cy="347472"/>
          </a:xfrm>
          <a:prstGeom prst="rect">
            <a:avLst/>
          </a:prstGeom>
          <a:noFill/>
        </p:spPr>
        <p:txBody>
          <a:bodyPr wrap="none" lIns="0" rIns="0" tIns="0" bIns="0">
            <a:spAutoFit/>
          </a:bodyPr>
          <a:lstStyle/>
          <a:p>
            <a:pPr algn="l">
              <a:lnSpc>
                <a:spcPts val="2800"/>
              </a:lnSpc>
              <a:spcAft>
                <a:spcPts val="0"/>
              </a:spcAft>
              <a:defRPr sz="2500" b="0">
                <a:solidFill>
                  <a:srgbClr val="182B3A"/>
                </a:solidFill>
                <a:latin typeface="Arial"/>
              </a:defRPr>
            </a:pPr>
            <a:r>
              <a:t>1 </a:t>
            </a:r>
          </a:p>
        </p:txBody>
      </p:sp>
      <p:sp>
        <p:nvSpPr>
          <p:cNvPr id="160" name="TextBox 159"/>
          <p:cNvSpPr txBox="1"/>
          <p:nvPr/>
        </p:nvSpPr>
        <p:spPr>
          <a:xfrm>
            <a:off x="10535412" y="5779008"/>
            <a:ext cx="252603" cy="256032"/>
          </a:xfrm>
          <a:prstGeom prst="rect">
            <a:avLst/>
          </a:prstGeom>
          <a:noFill/>
        </p:spPr>
        <p:txBody>
          <a:bodyPr wrap="none" lIns="0" rIns="0" tIns="0" bIns="0">
            <a:spAutoFit/>
          </a:bodyPr>
          <a:lstStyle/>
          <a:p>
            <a:pPr algn="ctr">
              <a:lnSpc>
                <a:spcPts val="2240"/>
              </a:lnSpc>
              <a:spcAft>
                <a:spcPts val="0"/>
              </a:spcAft>
              <a:defRPr sz="2000" b="0">
                <a:solidFill>
                  <a:srgbClr val="182B3A"/>
                </a:solidFill>
                <a:latin typeface="Arial"/>
              </a:defRPr>
            </a:pPr>
            <a:r>
              <a:t>3</a:t>
            </a:r>
          </a:p>
        </p:txBody>
      </p:sp>
      <p:cxnSp>
        <p:nvCxnSpPr>
          <p:cNvPr id="161" name="Connector 160"/>
          <p:cNvCxnSpPr/>
          <p:nvPr/>
        </p:nvCxnSpPr>
        <p:spPr>
          <a:xfrm>
            <a:off x="10535412" y="6044184"/>
            <a:ext cx="252603" cy="0"/>
          </a:xfrm>
          <a:prstGeom prst="line">
            <a:avLst/>
          </a:prstGeom>
          <a:ln w="12700">
            <a:solidFill>
              <a:srgbClr val="182B3A"/>
            </a:solidFill>
          </a:ln>
          <a:effectLst/>
        </p:spPr>
        <p:style>
          <a:lnRef idx="2">
            <a:schemeClr val="accent1"/>
          </a:lnRef>
          <a:fillRef idx="0">
            <a:schemeClr val="accent1"/>
          </a:fillRef>
          <a:effectRef idx="1">
            <a:schemeClr val="accent1"/>
          </a:effectRef>
          <a:fontRef idx="minor">
            <a:schemeClr val="tx1"/>
          </a:fontRef>
        </p:style>
      </p:cxnSp>
      <p:sp>
        <p:nvSpPr>
          <p:cNvPr id="162" name="TextBox 161"/>
          <p:cNvSpPr txBox="1"/>
          <p:nvPr/>
        </p:nvSpPr>
        <p:spPr>
          <a:xfrm>
            <a:off x="10535412" y="6062472"/>
            <a:ext cx="252603" cy="256032"/>
          </a:xfrm>
          <a:prstGeom prst="rect">
            <a:avLst/>
          </a:prstGeom>
          <a:noFill/>
        </p:spPr>
        <p:txBody>
          <a:bodyPr wrap="none" lIns="0" rIns="0" tIns="0" bIns="0">
            <a:spAutoFit/>
          </a:bodyPr>
          <a:lstStyle/>
          <a:p>
            <a:pPr algn="ctr">
              <a:lnSpc>
                <a:spcPts val="2240"/>
              </a:lnSpc>
              <a:spcAft>
                <a:spcPts val="0"/>
              </a:spcAft>
              <a:defRPr sz="2000" b="0">
                <a:solidFill>
                  <a:srgbClr val="182B3A"/>
                </a:solidFill>
                <a:latin typeface="Arial"/>
              </a:defRPr>
            </a:pPr>
            <a:r>
              <a:t>4</a:t>
            </a:r>
          </a:p>
        </p:txBody>
      </p:sp>
      <p:sp>
        <p:nvSpPr>
          <p:cNvPr id="163" name="TextBox 162"/>
          <p:cNvSpPr txBox="1"/>
          <p:nvPr/>
        </p:nvSpPr>
        <p:spPr>
          <a:xfrm>
            <a:off x="10842879" y="5897880"/>
            <a:ext cx="389381" cy="347472"/>
          </a:xfrm>
          <a:prstGeom prst="rect">
            <a:avLst/>
          </a:prstGeom>
          <a:noFill/>
        </p:spPr>
        <p:txBody>
          <a:bodyPr wrap="none" lIns="0" rIns="0" tIns="0" bIns="0">
            <a:spAutoFit/>
          </a:bodyPr>
          <a:lstStyle/>
          <a:p>
            <a:pPr algn="l">
              <a:lnSpc>
                <a:spcPts val="2800"/>
              </a:lnSpc>
              <a:spcAft>
                <a:spcPts val="0"/>
              </a:spcAft>
              <a:defRPr sz="2500" b="0">
                <a:solidFill>
                  <a:srgbClr val="182B3A"/>
                </a:solidFill>
                <a:latin typeface="Arial"/>
              </a:defRPr>
            </a:pPr>
            <a:r>
              <a:t> − </a:t>
            </a:r>
          </a:p>
        </p:txBody>
      </p:sp>
      <p:sp>
        <p:nvSpPr>
          <p:cNvPr id="164" name="TextBox 163"/>
          <p:cNvSpPr txBox="1"/>
          <p:nvPr/>
        </p:nvSpPr>
        <p:spPr>
          <a:xfrm>
            <a:off x="11232261" y="5779008"/>
            <a:ext cx="252603" cy="256032"/>
          </a:xfrm>
          <a:prstGeom prst="rect">
            <a:avLst/>
          </a:prstGeom>
          <a:noFill/>
        </p:spPr>
        <p:txBody>
          <a:bodyPr wrap="none" lIns="0" rIns="0" tIns="0" bIns="0">
            <a:spAutoFit/>
          </a:bodyPr>
          <a:lstStyle/>
          <a:p>
            <a:pPr algn="ctr">
              <a:lnSpc>
                <a:spcPts val="2240"/>
              </a:lnSpc>
              <a:spcAft>
                <a:spcPts val="0"/>
              </a:spcAft>
              <a:defRPr sz="2000" b="0">
                <a:solidFill>
                  <a:srgbClr val="182B3A"/>
                </a:solidFill>
                <a:latin typeface="Arial"/>
              </a:defRPr>
            </a:pPr>
            <a:r>
              <a:t>4</a:t>
            </a:r>
          </a:p>
        </p:txBody>
      </p:sp>
      <p:cxnSp>
        <p:nvCxnSpPr>
          <p:cNvPr id="165" name="Connector 164"/>
          <p:cNvCxnSpPr/>
          <p:nvPr/>
        </p:nvCxnSpPr>
        <p:spPr>
          <a:xfrm>
            <a:off x="11232261" y="6044184"/>
            <a:ext cx="252603" cy="0"/>
          </a:xfrm>
          <a:prstGeom prst="line">
            <a:avLst/>
          </a:prstGeom>
          <a:ln w="12700">
            <a:solidFill>
              <a:srgbClr val="182B3A"/>
            </a:solidFill>
          </a:ln>
          <a:effectLst/>
        </p:spPr>
        <p:style>
          <a:lnRef idx="2">
            <a:schemeClr val="accent1"/>
          </a:lnRef>
          <a:fillRef idx="0">
            <a:schemeClr val="accent1"/>
          </a:fillRef>
          <a:effectRef idx="1">
            <a:schemeClr val="accent1"/>
          </a:effectRef>
          <a:fontRef idx="minor">
            <a:schemeClr val="tx1"/>
          </a:fontRef>
        </p:style>
      </p:cxnSp>
      <p:sp>
        <p:nvSpPr>
          <p:cNvPr id="166" name="TextBox 165"/>
          <p:cNvSpPr txBox="1"/>
          <p:nvPr/>
        </p:nvSpPr>
        <p:spPr>
          <a:xfrm>
            <a:off x="11232261" y="6062472"/>
            <a:ext cx="252603" cy="256032"/>
          </a:xfrm>
          <a:prstGeom prst="rect">
            <a:avLst/>
          </a:prstGeom>
          <a:noFill/>
        </p:spPr>
        <p:txBody>
          <a:bodyPr wrap="none" lIns="0" rIns="0" tIns="0" bIns="0">
            <a:spAutoFit/>
          </a:bodyPr>
          <a:lstStyle/>
          <a:p>
            <a:pPr algn="ctr">
              <a:lnSpc>
                <a:spcPts val="2240"/>
              </a:lnSpc>
              <a:spcAft>
                <a:spcPts val="0"/>
              </a:spcAft>
              <a:defRPr sz="2000" b="0">
                <a:solidFill>
                  <a:srgbClr val="182B3A"/>
                </a:solidFill>
                <a:latin typeface="Arial"/>
              </a:defRPr>
            </a:pPr>
            <a:r>
              <a:t>9</a:t>
            </a:r>
          </a:p>
        </p:txBody>
      </p:sp>
      <p:sp>
        <p:nvSpPr>
          <p:cNvPr id="167" name="Rectangle 166"/>
          <p:cNvSpPr/>
          <p:nvPr/>
        </p:nvSpPr>
        <p:spPr>
          <a:xfrm>
            <a:off x="9646920" y="6611112"/>
            <a:ext cx="4640580" cy="1005840"/>
          </a:xfrm>
          <a:prstGeom prst="rect">
            <a:avLst/>
          </a:prstGeom>
          <a:solidFill>
            <a:srgbClr val="F5F0F7"/>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8" name="TextBox 167"/>
          <p:cNvSpPr txBox="1"/>
          <p:nvPr/>
        </p:nvSpPr>
        <p:spPr>
          <a:xfrm>
            <a:off x="9738360" y="6867144"/>
            <a:ext cx="320040" cy="365760"/>
          </a:xfrm>
          <a:prstGeom prst="rect">
            <a:avLst/>
          </a:prstGeom>
          <a:noFill/>
        </p:spPr>
        <p:txBody>
          <a:bodyPr wrap="square" lIns="54864" rIns="54864" tIns="22860" bIns="22860">
            <a:spAutoFit/>
          </a:bodyPr>
          <a:lstStyle/>
          <a:p>
            <a:pPr>
              <a:lnSpc>
                <a:spcPts val="2205"/>
              </a:lnSpc>
              <a:spcBef>
                <a:spcPts val="0"/>
              </a:spcBef>
              <a:spcAft>
                <a:spcPts val="0"/>
              </a:spcAft>
              <a:defRPr sz="2100" b="1">
                <a:solidFill>
                  <a:srgbClr val="182B3A"/>
                </a:solidFill>
                <a:latin typeface="Arial"/>
              </a:defRPr>
            </a:pPr>
            <a:r>
              <a:t>6.</a:t>
            </a:r>
          </a:p>
        </p:txBody>
      </p:sp>
      <p:sp>
        <p:nvSpPr>
          <p:cNvPr id="169" name="TextBox 168"/>
          <p:cNvSpPr txBox="1"/>
          <p:nvPr/>
        </p:nvSpPr>
        <p:spPr>
          <a:xfrm>
            <a:off x="10241280" y="6903720"/>
            <a:ext cx="294132" cy="347472"/>
          </a:xfrm>
          <a:prstGeom prst="rect">
            <a:avLst/>
          </a:prstGeom>
          <a:noFill/>
        </p:spPr>
        <p:txBody>
          <a:bodyPr wrap="none" lIns="0" rIns="0" tIns="0" bIns="0">
            <a:spAutoFit/>
          </a:bodyPr>
          <a:lstStyle/>
          <a:p>
            <a:pPr algn="l">
              <a:lnSpc>
                <a:spcPts val="2800"/>
              </a:lnSpc>
              <a:spcAft>
                <a:spcPts val="0"/>
              </a:spcAft>
              <a:defRPr sz="2500" b="0">
                <a:solidFill>
                  <a:srgbClr val="182B3A"/>
                </a:solidFill>
                <a:latin typeface="Arial"/>
              </a:defRPr>
            </a:pPr>
            <a:r>
              <a:t>2 </a:t>
            </a:r>
          </a:p>
        </p:txBody>
      </p:sp>
      <p:sp>
        <p:nvSpPr>
          <p:cNvPr id="170" name="TextBox 169"/>
          <p:cNvSpPr txBox="1"/>
          <p:nvPr/>
        </p:nvSpPr>
        <p:spPr>
          <a:xfrm>
            <a:off x="10535412" y="6784848"/>
            <a:ext cx="252603" cy="256032"/>
          </a:xfrm>
          <a:prstGeom prst="rect">
            <a:avLst/>
          </a:prstGeom>
          <a:noFill/>
        </p:spPr>
        <p:txBody>
          <a:bodyPr wrap="none" lIns="0" rIns="0" tIns="0" bIns="0">
            <a:spAutoFit/>
          </a:bodyPr>
          <a:lstStyle/>
          <a:p>
            <a:pPr algn="ctr">
              <a:lnSpc>
                <a:spcPts val="2240"/>
              </a:lnSpc>
              <a:spcAft>
                <a:spcPts val="0"/>
              </a:spcAft>
              <a:defRPr sz="2000" b="0">
                <a:solidFill>
                  <a:srgbClr val="182B3A"/>
                </a:solidFill>
                <a:latin typeface="Arial"/>
              </a:defRPr>
            </a:pPr>
            <a:r>
              <a:t>4</a:t>
            </a:r>
          </a:p>
        </p:txBody>
      </p:sp>
      <p:cxnSp>
        <p:nvCxnSpPr>
          <p:cNvPr id="171" name="Connector 170"/>
          <p:cNvCxnSpPr/>
          <p:nvPr/>
        </p:nvCxnSpPr>
        <p:spPr>
          <a:xfrm>
            <a:off x="10535412" y="7050024"/>
            <a:ext cx="252603" cy="0"/>
          </a:xfrm>
          <a:prstGeom prst="line">
            <a:avLst/>
          </a:prstGeom>
          <a:ln w="12700">
            <a:solidFill>
              <a:srgbClr val="182B3A"/>
            </a:solidFill>
          </a:ln>
          <a:effectLst/>
        </p:spPr>
        <p:style>
          <a:lnRef idx="2">
            <a:schemeClr val="accent1"/>
          </a:lnRef>
          <a:fillRef idx="0">
            <a:schemeClr val="accent1"/>
          </a:fillRef>
          <a:effectRef idx="1">
            <a:schemeClr val="accent1"/>
          </a:effectRef>
          <a:fontRef idx="minor">
            <a:schemeClr val="tx1"/>
          </a:fontRef>
        </p:style>
      </p:cxnSp>
      <p:sp>
        <p:nvSpPr>
          <p:cNvPr id="172" name="TextBox 171"/>
          <p:cNvSpPr txBox="1"/>
          <p:nvPr/>
        </p:nvSpPr>
        <p:spPr>
          <a:xfrm>
            <a:off x="10535412" y="7068312"/>
            <a:ext cx="252603" cy="256032"/>
          </a:xfrm>
          <a:prstGeom prst="rect">
            <a:avLst/>
          </a:prstGeom>
          <a:noFill/>
        </p:spPr>
        <p:txBody>
          <a:bodyPr wrap="none" lIns="0" rIns="0" tIns="0" bIns="0">
            <a:spAutoFit/>
          </a:bodyPr>
          <a:lstStyle/>
          <a:p>
            <a:pPr algn="ctr">
              <a:lnSpc>
                <a:spcPts val="2240"/>
              </a:lnSpc>
              <a:spcAft>
                <a:spcPts val="0"/>
              </a:spcAft>
              <a:defRPr sz="2000" b="0">
                <a:solidFill>
                  <a:srgbClr val="182B3A"/>
                </a:solidFill>
                <a:latin typeface="Arial"/>
              </a:defRPr>
            </a:pPr>
            <a:r>
              <a:t>7</a:t>
            </a:r>
          </a:p>
        </p:txBody>
      </p:sp>
      <p:sp>
        <p:nvSpPr>
          <p:cNvPr id="173" name="TextBox 172"/>
          <p:cNvSpPr txBox="1"/>
          <p:nvPr/>
        </p:nvSpPr>
        <p:spPr>
          <a:xfrm>
            <a:off x="10842879" y="6903720"/>
            <a:ext cx="389381" cy="347472"/>
          </a:xfrm>
          <a:prstGeom prst="rect">
            <a:avLst/>
          </a:prstGeom>
          <a:noFill/>
        </p:spPr>
        <p:txBody>
          <a:bodyPr wrap="none" lIns="0" rIns="0" tIns="0" bIns="0">
            <a:spAutoFit/>
          </a:bodyPr>
          <a:lstStyle/>
          <a:p>
            <a:pPr algn="l">
              <a:lnSpc>
                <a:spcPts val="2800"/>
              </a:lnSpc>
              <a:spcAft>
                <a:spcPts val="0"/>
              </a:spcAft>
              <a:defRPr sz="2500" b="0">
                <a:solidFill>
                  <a:srgbClr val="182B3A"/>
                </a:solidFill>
                <a:latin typeface="Arial"/>
              </a:defRPr>
            </a:pPr>
            <a:r>
              <a:t> − </a:t>
            </a:r>
          </a:p>
        </p:txBody>
      </p:sp>
      <p:sp>
        <p:nvSpPr>
          <p:cNvPr id="174" name="TextBox 173"/>
          <p:cNvSpPr txBox="1"/>
          <p:nvPr/>
        </p:nvSpPr>
        <p:spPr>
          <a:xfrm>
            <a:off x="11232261" y="6784848"/>
            <a:ext cx="252603" cy="256032"/>
          </a:xfrm>
          <a:prstGeom prst="rect">
            <a:avLst/>
          </a:prstGeom>
          <a:noFill/>
        </p:spPr>
        <p:txBody>
          <a:bodyPr wrap="none" lIns="0" rIns="0" tIns="0" bIns="0">
            <a:spAutoFit/>
          </a:bodyPr>
          <a:lstStyle/>
          <a:p>
            <a:pPr algn="ctr">
              <a:lnSpc>
                <a:spcPts val="2240"/>
              </a:lnSpc>
              <a:spcAft>
                <a:spcPts val="0"/>
              </a:spcAft>
              <a:defRPr sz="2000" b="0">
                <a:solidFill>
                  <a:srgbClr val="182B3A"/>
                </a:solidFill>
                <a:latin typeface="Arial"/>
              </a:defRPr>
            </a:pPr>
            <a:r>
              <a:t>1</a:t>
            </a:r>
          </a:p>
        </p:txBody>
      </p:sp>
      <p:cxnSp>
        <p:nvCxnSpPr>
          <p:cNvPr id="175" name="Connector 174"/>
          <p:cNvCxnSpPr/>
          <p:nvPr/>
        </p:nvCxnSpPr>
        <p:spPr>
          <a:xfrm>
            <a:off x="11232261" y="7050024"/>
            <a:ext cx="252603" cy="0"/>
          </a:xfrm>
          <a:prstGeom prst="line">
            <a:avLst/>
          </a:prstGeom>
          <a:ln w="12700">
            <a:solidFill>
              <a:srgbClr val="182B3A"/>
            </a:solidFill>
          </a:ln>
          <a:effectLst/>
        </p:spPr>
        <p:style>
          <a:lnRef idx="2">
            <a:schemeClr val="accent1"/>
          </a:lnRef>
          <a:fillRef idx="0">
            <a:schemeClr val="accent1"/>
          </a:fillRef>
          <a:effectRef idx="1">
            <a:schemeClr val="accent1"/>
          </a:effectRef>
          <a:fontRef idx="minor">
            <a:schemeClr val="tx1"/>
          </a:fontRef>
        </p:style>
      </p:cxnSp>
      <p:sp>
        <p:nvSpPr>
          <p:cNvPr id="176" name="TextBox 175"/>
          <p:cNvSpPr txBox="1"/>
          <p:nvPr/>
        </p:nvSpPr>
        <p:spPr>
          <a:xfrm>
            <a:off x="11232261" y="7068312"/>
            <a:ext cx="252603" cy="256032"/>
          </a:xfrm>
          <a:prstGeom prst="rect">
            <a:avLst/>
          </a:prstGeom>
          <a:noFill/>
        </p:spPr>
        <p:txBody>
          <a:bodyPr wrap="none" lIns="0" rIns="0" tIns="0" bIns="0">
            <a:spAutoFit/>
          </a:bodyPr>
          <a:lstStyle/>
          <a:p>
            <a:pPr algn="ctr">
              <a:lnSpc>
                <a:spcPts val="2240"/>
              </a:lnSpc>
              <a:spcAft>
                <a:spcPts val="0"/>
              </a:spcAft>
              <a:defRPr sz="2000" b="0">
                <a:solidFill>
                  <a:srgbClr val="182B3A"/>
                </a:solidFill>
                <a:latin typeface="Arial"/>
              </a:defRPr>
            </a:pPr>
            <a:r>
              <a:t>5</a:t>
            </a:r>
          </a:p>
        </p:txBody>
      </p:sp>
      <p:sp>
        <p:nvSpPr>
          <p:cNvPr id="177" name="Progression curved arrow: Thread 1 to Thread 2"/>
          <p:cNvSpPr/>
          <p:nvPr/>
        </p:nvSpPr>
        <p:spPr>
          <a:xfrm>
            <a:off x="4649723" y="7552294"/>
            <a:ext cx="621792" cy="314053"/>
          </a:xfrm>
          <a:custGeom>
            <a:avLst/>
            <a:gdLst/>
            <a:ahLst/>
            <a:cxnLst/>
            <a:rect l="0" t="0" r="100000" b="100000"/>
            <a:pathLst>
              <a:path w="100000" h="100000" fill="none">
                <a:moveTo>
                  <a:pt x="6970" y="48439"/>
                </a:moveTo>
                <a:cubicBezTo>
                  <a:pt x="40678" y="114499"/>
                  <a:pt x="73026" y="88145"/>
                  <a:pt x="93030" y="13799"/>
                </a:cubicBezTo>
              </a:path>
              <a:path w="100000" h="100000" fill="none">
                <a:moveTo>
                  <a:pt x="69018" y="40431"/>
                </a:moveTo>
                <a:lnTo>
                  <a:pt x="93030" y="13799"/>
                </a:lnTo>
                <a:lnTo>
                  <a:pt x="92217" y="66207"/>
                </a:lnTo>
              </a:path>
            </a:pathLst>
          </a:custGeom>
          <a:noFill/>
          <a:ln w="64449" cap="rnd">
            <a:solidFill>
              <a:schemeClr val="accent6">
                <a:lumMod val="60000"/>
                <a:lumOff val="40000"/>
              </a:schemeClr>
            </a:solidFill>
            <a:round/>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78" name="Progression curved arrow: Thread 2 to Thread 3"/>
          <p:cNvSpPr/>
          <p:nvPr/>
        </p:nvSpPr>
        <p:spPr>
          <a:xfrm>
            <a:off x="9265327" y="7543800"/>
            <a:ext cx="621792" cy="314053"/>
          </a:xfrm>
          <a:custGeom>
            <a:avLst/>
            <a:gdLst/>
            <a:ahLst/>
            <a:cxnLst/>
            <a:rect l="0" t="0" r="100000" b="100000"/>
            <a:pathLst>
              <a:path w="100000" h="100000" fill="none">
                <a:moveTo>
                  <a:pt x="6970" y="48439"/>
                </a:moveTo>
                <a:cubicBezTo>
                  <a:pt x="40678" y="114499"/>
                  <a:pt x="73026" y="88145"/>
                  <a:pt x="93030" y="13799"/>
                </a:cubicBezTo>
              </a:path>
              <a:path w="100000" h="100000" fill="none">
                <a:moveTo>
                  <a:pt x="69018" y="40431"/>
                </a:moveTo>
                <a:lnTo>
                  <a:pt x="93030" y="13799"/>
                </a:lnTo>
                <a:lnTo>
                  <a:pt x="92217" y="66207"/>
                </a:lnTo>
              </a:path>
            </a:pathLst>
          </a:custGeom>
          <a:noFill/>
          <a:ln w="64449" cap="rnd">
            <a:solidFill>
              <a:schemeClr val="accent6">
                <a:lumMod val="60000"/>
                <a:lumOff val="40000"/>
              </a:schemeClr>
            </a:solidFill>
            <a:round/>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Tree>
  </p:cSld>
  <p:clrMapOvr>
    <a:masterClrMapping/>
  </p:clrMapOvr>
</p:sld>
</file>

<file path=ppt/slides/slide50.xml><?xml version="1.0" encoding="utf-8"?>
<p:sld xmlns:a="http://schemas.openxmlformats.org/drawingml/2006/main" xmlns:p="http://schemas.openxmlformats.org/presentationml/2006/main" xmlns:r="http://schemas.openxmlformats.org/officeDocument/2006/relationships">
  <p:cSld>
    <p:bg>
      <p:bgPr>
        <a:solidFill>
          <a:srgbClr val="F7F8FA"/>
        </a:solidFill>
        <a:effectLst/>
      </p:bgPr>
    </p:bg>
    <p:spTree>
      <p:nvGrpSpPr>
        <p:cNvPr id="1" name=""/>
        <p:cNvGrpSpPr/>
        <p:nvPr/>
      </p:nvGrpSpPr>
      <p:grpSpPr/>
      <p:sp>
        <p:nvSpPr>
          <p:cNvPr id="2" name="Rectangle 1"/>
          <p:cNvSpPr/>
          <p:nvPr/>
        </p:nvSpPr>
        <p:spPr>
          <a:xfrm>
            <a:off x="0" y="0"/>
            <a:ext cx="14630400" cy="91440"/>
          </a:xfrm>
          <a:prstGeom prst="rect">
            <a:avLst/>
          </a:prstGeom>
          <a:solidFill>
            <a:srgbClr val="176B73"/>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 name="TextBox 2"/>
          <p:cNvSpPr txBox="1"/>
          <p:nvPr/>
        </p:nvSpPr>
        <p:spPr>
          <a:xfrm>
            <a:off x="384048" y="219456"/>
            <a:ext cx="13807440" cy="457200"/>
          </a:xfrm>
          <a:prstGeom prst="rect">
            <a:avLst/>
          </a:prstGeom>
          <a:noFill/>
        </p:spPr>
        <p:txBody>
          <a:bodyPr wrap="square" tIns="36576" bIns="36576" anchor="t">
            <a:spAutoFit/>
          </a:bodyPr>
          <a:lstStyle/>
          <a:p>
            <a:pPr>
              <a:lnSpc>
                <a:spcPts val="3132"/>
              </a:lnSpc>
              <a:spcBef>
                <a:spcPts val="0"/>
              </a:spcBef>
              <a:spcAft>
                <a:spcPts val="0"/>
              </a:spcAft>
              <a:defRPr sz="2900" b="1">
                <a:solidFill>
                  <a:srgbClr val="182B3A"/>
                </a:solidFill>
                <a:latin typeface="Arial"/>
              </a:defRPr>
            </a:pPr>
            <a:r>
              <a:t>Multiplication and Division Problems — initial assessment</a:t>
            </a:r>
          </a:p>
        </p:txBody>
      </p:sp>
      <p:sp>
        <p:nvSpPr>
          <p:cNvPr id="4" name="TextBox 3"/>
          <p:cNvSpPr txBox="1"/>
          <p:nvPr/>
        </p:nvSpPr>
        <p:spPr>
          <a:xfrm>
            <a:off x="384048" y="740664"/>
            <a:ext cx="13807440" cy="411480"/>
          </a:xfrm>
          <a:prstGeom prst="rect">
            <a:avLst/>
          </a:prstGeom>
          <a:noFill/>
        </p:spPr>
        <p:txBody>
          <a:bodyPr wrap="square" tIns="36576" bIns="36576" anchor="t">
            <a:spAutoFit/>
          </a:bodyPr>
          <a:lstStyle/>
          <a:p>
            <a:pPr>
              <a:lnSpc>
                <a:spcPts val="1836"/>
              </a:lnSpc>
              <a:spcBef>
                <a:spcPts val="0"/>
              </a:spcBef>
              <a:spcAft>
                <a:spcPts val="0"/>
              </a:spcAft>
              <a:defRPr sz="1700" b="0">
                <a:solidFill>
                  <a:srgbClr val="526472"/>
                </a:solidFill>
                <a:latin typeface="Arial"/>
              </a:defRPr>
            </a:pPr>
            <a:r>
              <a:t>Show your full written method. No calculators.</a:t>
            </a:r>
          </a:p>
        </p:txBody>
      </p:sp>
      <p:sp>
        <p:nvSpPr>
          <p:cNvPr id="5" name="TextBox 4"/>
          <p:cNvSpPr txBox="1"/>
          <p:nvPr/>
        </p:nvSpPr>
        <p:spPr>
          <a:xfrm>
            <a:off x="384048" y="7863840"/>
            <a:ext cx="13716000" cy="256032"/>
          </a:xfrm>
          <a:prstGeom prst="rect">
            <a:avLst/>
          </a:prstGeom>
          <a:noFill/>
        </p:spPr>
        <p:txBody>
          <a:bodyPr wrap="square" tIns="36576" bIns="36576" anchor="t">
            <a:spAutoFit/>
          </a:bodyPr>
          <a:lstStyle/>
          <a:p>
            <a:pPr>
              <a:lnSpc>
                <a:spcPts val="1188"/>
              </a:lnSpc>
              <a:spcBef>
                <a:spcPts val="0"/>
              </a:spcBef>
              <a:spcAft>
                <a:spcPts val="0"/>
              </a:spcAft>
              <a:defRPr sz="1100" b="0">
                <a:solidFill>
                  <a:srgbClr val="526472"/>
                </a:solidFill>
                <a:latin typeface="Arial"/>
              </a:defRPr>
            </a:pPr>
            <a:r>
              <a:t>M03-IA  •  Record your working in your booklet or webapp.</a:t>
            </a:r>
          </a:p>
        </p:txBody>
      </p:sp>
      <p:sp>
        <p:nvSpPr>
          <p:cNvPr id="6" name="Rectangle 5"/>
          <p:cNvSpPr/>
          <p:nvPr/>
        </p:nvSpPr>
        <p:spPr>
          <a:xfrm>
            <a:off x="384048" y="1463040"/>
            <a:ext cx="6858000" cy="2852928"/>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7" name="TextBox 6"/>
          <p:cNvSpPr txBox="1"/>
          <p:nvPr/>
        </p:nvSpPr>
        <p:spPr>
          <a:xfrm>
            <a:off x="566928" y="1664208"/>
            <a:ext cx="6492240" cy="2468880"/>
          </a:xfrm>
          <a:prstGeom prst="rect">
            <a:avLst/>
          </a:prstGeom>
          <a:noFill/>
        </p:spPr>
        <p:txBody>
          <a:bodyPr wrap="square" tIns="36576" bIns="36576" anchor="t">
            <a:spAutoFit/>
          </a:bodyPr>
          <a:lstStyle/>
          <a:p>
            <a:pPr>
              <a:lnSpc>
                <a:spcPts val="2700"/>
              </a:lnSpc>
              <a:spcBef>
                <a:spcPts val="0"/>
              </a:spcBef>
              <a:spcAft>
                <a:spcPts val="0"/>
              </a:spcAft>
              <a:defRPr sz="2500" b="1">
                <a:solidFill>
                  <a:srgbClr val="182B3A"/>
                </a:solidFill>
                <a:latin typeface="Arial"/>
              </a:defRPr>
            </a:pPr>
            <a:r>
              <a:t>1.  A ribbon is 144 cm long and cut into 6 equal pieces. Find the length of each piece.</a:t>
            </a:r>
          </a:p>
        </p:txBody>
      </p:sp>
      <p:sp>
        <p:nvSpPr>
          <p:cNvPr id="8" name="Rectangle 7"/>
          <p:cNvSpPr/>
          <p:nvPr/>
        </p:nvSpPr>
        <p:spPr>
          <a:xfrm>
            <a:off x="7379208" y="1463040"/>
            <a:ext cx="6858000" cy="2852928"/>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9" name="TextBox 8"/>
          <p:cNvSpPr txBox="1"/>
          <p:nvPr/>
        </p:nvSpPr>
        <p:spPr>
          <a:xfrm>
            <a:off x="7562088" y="1664208"/>
            <a:ext cx="6492240" cy="2468880"/>
          </a:xfrm>
          <a:prstGeom prst="rect">
            <a:avLst/>
          </a:prstGeom>
          <a:noFill/>
        </p:spPr>
        <p:txBody>
          <a:bodyPr wrap="square" tIns="36576" bIns="36576" anchor="t">
            <a:spAutoFit/>
          </a:bodyPr>
          <a:lstStyle/>
          <a:p>
            <a:pPr>
              <a:lnSpc>
                <a:spcPts val="2700"/>
              </a:lnSpc>
              <a:spcBef>
                <a:spcPts val="0"/>
              </a:spcBef>
              <a:spcAft>
                <a:spcPts val="0"/>
              </a:spcAft>
              <a:defRPr sz="2500" b="1">
                <a:solidFill>
                  <a:srgbClr val="182B3A"/>
                </a:solidFill>
                <a:latin typeface="Arial"/>
              </a:defRPr>
            </a:pPr>
            <a:r>
              <a:t>2.  A hall has 14 rows with 25 seats in each row. How many seats are there altogether?</a:t>
            </a:r>
          </a:p>
        </p:txBody>
      </p:sp>
      <p:sp>
        <p:nvSpPr>
          <p:cNvPr id="10" name="Rectangle 9"/>
          <p:cNvSpPr/>
          <p:nvPr/>
        </p:nvSpPr>
        <p:spPr>
          <a:xfrm>
            <a:off x="384048" y="4526280"/>
            <a:ext cx="6858000" cy="2852928"/>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1" name="TextBox 10"/>
          <p:cNvSpPr txBox="1"/>
          <p:nvPr/>
        </p:nvSpPr>
        <p:spPr>
          <a:xfrm>
            <a:off x="566928" y="4727448"/>
            <a:ext cx="6492240" cy="2468880"/>
          </a:xfrm>
          <a:prstGeom prst="rect">
            <a:avLst/>
          </a:prstGeom>
          <a:noFill/>
        </p:spPr>
        <p:txBody>
          <a:bodyPr wrap="square" tIns="36576" bIns="36576" anchor="t">
            <a:spAutoFit/>
          </a:bodyPr>
          <a:lstStyle/>
          <a:p>
            <a:pPr>
              <a:lnSpc>
                <a:spcPts val="2700"/>
              </a:lnSpc>
              <a:spcBef>
                <a:spcPts val="0"/>
              </a:spcBef>
              <a:spcAft>
                <a:spcPts val="0"/>
              </a:spcAft>
              <a:defRPr sz="2500" b="1">
                <a:solidFill>
                  <a:srgbClr val="182B3A"/>
                </a:solidFill>
                <a:latin typeface="Arial"/>
              </a:defRPr>
            </a:pPr>
            <a:r>
              <a:t>3.  145 eggs are packed into boxes of 6. How many full boxes can be made?</a:t>
            </a:r>
          </a:p>
        </p:txBody>
      </p:sp>
      <p:sp>
        <p:nvSpPr>
          <p:cNvPr id="12" name="Rectangle 11"/>
          <p:cNvSpPr/>
          <p:nvPr/>
        </p:nvSpPr>
        <p:spPr>
          <a:xfrm>
            <a:off x="7379208" y="4526280"/>
            <a:ext cx="6858000" cy="2852928"/>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3" name="TextBox 12"/>
          <p:cNvSpPr txBox="1"/>
          <p:nvPr/>
        </p:nvSpPr>
        <p:spPr>
          <a:xfrm>
            <a:off x="7562088" y="4727448"/>
            <a:ext cx="6492240" cy="2468880"/>
          </a:xfrm>
          <a:prstGeom prst="rect">
            <a:avLst/>
          </a:prstGeom>
          <a:noFill/>
        </p:spPr>
        <p:txBody>
          <a:bodyPr wrap="square" tIns="36576" bIns="36576" anchor="t">
            <a:spAutoFit/>
          </a:bodyPr>
          <a:lstStyle/>
          <a:p>
            <a:pPr>
              <a:lnSpc>
                <a:spcPts val="2700"/>
              </a:lnSpc>
              <a:spcBef>
                <a:spcPts val="0"/>
              </a:spcBef>
              <a:spcAft>
                <a:spcPts val="0"/>
              </a:spcAft>
              <a:defRPr sz="2500" b="1">
                <a:solidFill>
                  <a:srgbClr val="182B3A"/>
                </a:solidFill>
                <a:latin typeface="Arial"/>
              </a:defRPr>
            </a:pPr>
            <a:r>
              <a:t>4.  A coach hire company charges £75 per coach. 130 passengers need coaches with 24 seats each. Find the total hire cost.</a:t>
            </a:r>
          </a:p>
        </p:txBody>
      </p:sp>
    </p:spTree>
  </p:cSld>
  <p:clrMapOvr>
    <a:masterClrMapping/>
  </p:clrMapOvr>
</p:sld>
</file>

<file path=ppt/slides/slide51.xml><?xml version="1.0" encoding="utf-8"?>
<p:sld xmlns:a="http://schemas.openxmlformats.org/drawingml/2006/main" xmlns:p="http://schemas.openxmlformats.org/presentationml/2006/main" xmlns:r="http://schemas.openxmlformats.org/officeDocument/2006/relationships">
  <p:cSld>
    <p:bg>
      <p:bgPr>
        <a:solidFill>
          <a:srgbClr val="F7F8FA"/>
        </a:solidFill>
        <a:effectLst/>
      </p:bgPr>
    </p:bg>
    <p:spTree>
      <p:nvGrpSpPr>
        <p:cNvPr id="1" name=""/>
        <p:cNvGrpSpPr/>
        <p:nvPr/>
      </p:nvGrpSpPr>
      <p:grpSpPr/>
      <p:sp>
        <p:nvSpPr>
          <p:cNvPr id="2" name="Rectangle 1"/>
          <p:cNvSpPr/>
          <p:nvPr/>
        </p:nvSpPr>
        <p:spPr>
          <a:xfrm>
            <a:off x="0" y="0"/>
            <a:ext cx="14630400" cy="91440"/>
          </a:xfrm>
          <a:prstGeom prst="rect">
            <a:avLst/>
          </a:prstGeom>
          <a:solidFill>
            <a:srgbClr val="754B87"/>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3" name="TextBox 2"/>
          <p:cNvSpPr txBox="1"/>
          <p:nvPr/>
        </p:nvSpPr>
        <p:spPr>
          <a:xfrm>
            <a:off x="384048" y="219456"/>
            <a:ext cx="12435840" cy="448056"/>
          </a:xfrm>
          <a:prstGeom prst="rect">
            <a:avLst/>
          </a:prstGeom>
          <a:noFill/>
        </p:spPr>
        <p:txBody>
          <a:bodyPr wrap="square" tIns="36576" bIns="36576" anchor="t">
            <a:spAutoFit/>
          </a:bodyPr>
          <a:lstStyle/>
          <a:p>
            <a:pPr>
              <a:lnSpc>
                <a:spcPts val="3132"/>
              </a:lnSpc>
              <a:spcBef>
                <a:spcPts val="0"/>
              </a:spcBef>
              <a:spcAft>
                <a:spcPts val="0"/>
              </a:spcAft>
              <a:defRPr sz="2900" b="1">
                <a:solidFill>
                  <a:srgbClr val="182B3A"/>
                </a:solidFill>
                <a:latin typeface="Arial"/>
              </a:defRPr>
            </a:pPr>
            <a:r>
              <a:t>Application to Exam Problems</a:t>
            </a:r>
          </a:p>
        </p:txBody>
      </p:sp>
      <p:sp>
        <p:nvSpPr>
          <p:cNvPr id="4" name="TextBox 3"/>
          <p:cNvSpPr txBox="1"/>
          <p:nvPr/>
        </p:nvSpPr>
        <p:spPr>
          <a:xfrm>
            <a:off x="384048" y="713232"/>
            <a:ext cx="13533120" cy="274320"/>
          </a:xfrm>
          <a:prstGeom prst="rect">
            <a:avLst/>
          </a:prstGeom>
          <a:noFill/>
        </p:spPr>
        <p:txBody>
          <a:bodyPr wrap="square" tIns="36576" bIns="36576" anchor="t">
            <a:spAutoFit/>
          </a:bodyPr>
          <a:lstStyle/>
          <a:p>
            <a:pPr>
              <a:lnSpc>
                <a:spcPts val="1512"/>
              </a:lnSpc>
              <a:spcBef>
                <a:spcPts val="0"/>
              </a:spcBef>
              <a:spcAft>
                <a:spcPts val="0"/>
              </a:spcAft>
              <a:defRPr sz="1400" b="0">
                <a:solidFill>
                  <a:srgbClr val="526472"/>
                </a:solidFill>
                <a:latin typeface="Arial"/>
              </a:defRPr>
            </a:pPr>
            <a:r>
              <a:t>Worked demo  •  Choose the calculation, use a written method, then check.</a:t>
            </a:r>
          </a:p>
        </p:txBody>
      </p:sp>
      <p:sp>
        <p:nvSpPr>
          <p:cNvPr id="5" name="TextBox 4"/>
          <p:cNvSpPr txBox="1"/>
          <p:nvPr/>
        </p:nvSpPr>
        <p:spPr>
          <a:xfrm>
            <a:off x="384048" y="7882127"/>
            <a:ext cx="10058400" cy="210312"/>
          </a:xfrm>
          <a:prstGeom prst="rect">
            <a:avLst/>
          </a:prstGeom>
          <a:noFill/>
        </p:spPr>
        <p:txBody>
          <a:bodyPr wrap="square" tIns="36576" bIns="36576" anchor="t">
            <a:spAutoFit/>
          </a:bodyPr>
          <a:lstStyle/>
          <a:p>
            <a:pPr>
              <a:lnSpc>
                <a:spcPts val="1188"/>
              </a:lnSpc>
              <a:spcBef>
                <a:spcPts val="0"/>
              </a:spcBef>
              <a:spcAft>
                <a:spcPts val="0"/>
              </a:spcAft>
              <a:defRPr sz="1100" b="0">
                <a:solidFill>
                  <a:srgbClr val="526472"/>
                </a:solidFill>
                <a:latin typeface="Arial"/>
              </a:defRPr>
            </a:pPr>
            <a:r>
              <a:t>GCSE Maths revision  •  Record your working in your booklet or webapp.</a:t>
            </a:r>
          </a:p>
        </p:txBody>
      </p:sp>
      <p:sp>
        <p:nvSpPr>
          <p:cNvPr id="6" name="TextBox 5"/>
          <p:cNvSpPr txBox="1"/>
          <p:nvPr/>
        </p:nvSpPr>
        <p:spPr>
          <a:xfrm>
            <a:off x="11430000" y="7863840"/>
            <a:ext cx="2788920" cy="228600"/>
          </a:xfrm>
          <a:prstGeom prst="rect">
            <a:avLst/>
          </a:prstGeom>
          <a:noFill/>
        </p:spPr>
        <p:txBody>
          <a:bodyPr wrap="square" tIns="36576" bIns="36576" anchor="t">
            <a:spAutoFit/>
          </a:bodyPr>
          <a:lstStyle/>
          <a:p>
            <a:pPr>
              <a:lnSpc>
                <a:spcPts val="1188"/>
              </a:lnSpc>
              <a:spcBef>
                <a:spcPts val="0"/>
              </a:spcBef>
              <a:spcAft>
                <a:spcPts val="0"/>
              </a:spcAft>
              <a:defRPr sz="1100" b="0">
                <a:solidFill>
                  <a:srgbClr val="526472"/>
                </a:solidFill>
                <a:latin typeface="Arial"/>
              </a:defRPr>
            </a:pPr>
            <a:r>
              <a:t>M03-S01  •  Topic slide 2</a:t>
            </a:r>
          </a:p>
        </p:txBody>
      </p:sp>
      <p:sp>
        <p:nvSpPr>
          <p:cNvPr id="7" name="Rectangle 6"/>
          <p:cNvSpPr/>
          <p:nvPr/>
        </p:nvSpPr>
        <p:spPr>
          <a:xfrm>
            <a:off x="2487168" y="1124712"/>
            <a:ext cx="3919727" cy="438912"/>
          </a:xfrm>
          <a:prstGeom prst="rect">
            <a:avLst/>
          </a:prstGeom>
          <a:solidFill>
            <a:srgbClr val="176B73"/>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8" name="TextBox 7"/>
          <p:cNvSpPr txBox="1"/>
          <p:nvPr/>
        </p:nvSpPr>
        <p:spPr>
          <a:xfrm>
            <a:off x="2542032" y="1152144"/>
            <a:ext cx="3809999" cy="338328"/>
          </a:xfrm>
          <a:prstGeom prst="rect">
            <a:avLst/>
          </a:prstGeom>
          <a:noFill/>
        </p:spPr>
        <p:txBody>
          <a:bodyPr wrap="square" tIns="36576" bIns="36576" anchor="t">
            <a:spAutoFit/>
          </a:bodyPr>
          <a:lstStyle/>
          <a:p>
            <a:pPr>
              <a:lnSpc>
                <a:spcPts val="2160"/>
              </a:lnSpc>
              <a:spcBef>
                <a:spcPts val="0"/>
              </a:spcBef>
              <a:spcAft>
                <a:spcPts val="0"/>
              </a:spcAft>
              <a:defRPr sz="2000" b="1">
                <a:solidFill>
                  <a:srgbClr val="FFFFFF"/>
                </a:solidFill>
                <a:latin typeface="Arial"/>
              </a:defRPr>
            </a:pPr>
            <a:r>
              <a:t>Start</a:t>
            </a:r>
          </a:p>
        </p:txBody>
      </p:sp>
      <p:sp>
        <p:nvSpPr>
          <p:cNvPr id="9" name="Rectangle 8"/>
          <p:cNvSpPr/>
          <p:nvPr/>
        </p:nvSpPr>
        <p:spPr>
          <a:xfrm>
            <a:off x="6406895" y="1124712"/>
            <a:ext cx="3919727" cy="438912"/>
          </a:xfrm>
          <a:prstGeom prst="rect">
            <a:avLst/>
          </a:prstGeom>
          <a:solidFill>
            <a:srgbClr val="3559A2"/>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0" name="TextBox 9"/>
          <p:cNvSpPr txBox="1"/>
          <p:nvPr/>
        </p:nvSpPr>
        <p:spPr>
          <a:xfrm>
            <a:off x="6461759" y="1152144"/>
            <a:ext cx="3809999" cy="338328"/>
          </a:xfrm>
          <a:prstGeom prst="rect">
            <a:avLst/>
          </a:prstGeom>
          <a:noFill/>
        </p:spPr>
        <p:txBody>
          <a:bodyPr wrap="square" tIns="36576" bIns="36576" anchor="t">
            <a:spAutoFit/>
          </a:bodyPr>
          <a:lstStyle/>
          <a:p>
            <a:pPr>
              <a:lnSpc>
                <a:spcPts val="2160"/>
              </a:lnSpc>
              <a:spcBef>
                <a:spcPts val="0"/>
              </a:spcBef>
              <a:spcAft>
                <a:spcPts val="0"/>
              </a:spcAft>
              <a:defRPr sz="2000" b="1">
                <a:solidFill>
                  <a:srgbClr val="FFFFFF"/>
                </a:solidFill>
                <a:latin typeface="Arial"/>
              </a:defRPr>
            </a:pPr>
            <a:r>
              <a:t>Build</a:t>
            </a:r>
          </a:p>
        </p:txBody>
      </p:sp>
      <p:sp>
        <p:nvSpPr>
          <p:cNvPr id="11" name="Rectangle 10"/>
          <p:cNvSpPr/>
          <p:nvPr/>
        </p:nvSpPr>
        <p:spPr>
          <a:xfrm>
            <a:off x="10326624" y="1124712"/>
            <a:ext cx="3919727" cy="438912"/>
          </a:xfrm>
          <a:prstGeom prst="rect">
            <a:avLst/>
          </a:prstGeom>
          <a:solidFill>
            <a:srgbClr val="754B87"/>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2" name="TextBox 11"/>
          <p:cNvSpPr txBox="1"/>
          <p:nvPr/>
        </p:nvSpPr>
        <p:spPr>
          <a:xfrm>
            <a:off x="10381488" y="1152144"/>
            <a:ext cx="3809999" cy="338328"/>
          </a:xfrm>
          <a:prstGeom prst="rect">
            <a:avLst/>
          </a:prstGeom>
          <a:noFill/>
        </p:spPr>
        <p:txBody>
          <a:bodyPr wrap="square" tIns="36576" bIns="36576" anchor="t">
            <a:spAutoFit/>
          </a:bodyPr>
          <a:lstStyle/>
          <a:p>
            <a:pPr>
              <a:lnSpc>
                <a:spcPts val="2160"/>
              </a:lnSpc>
              <a:spcBef>
                <a:spcPts val="0"/>
              </a:spcBef>
              <a:spcAft>
                <a:spcPts val="0"/>
              </a:spcAft>
              <a:defRPr sz="2000" b="1">
                <a:solidFill>
                  <a:srgbClr val="FFFFFF"/>
                </a:solidFill>
                <a:latin typeface="Arial"/>
              </a:defRPr>
            </a:pPr>
            <a:r>
              <a:t>Confidence</a:t>
            </a:r>
          </a:p>
        </p:txBody>
      </p:sp>
      <p:sp>
        <p:nvSpPr>
          <p:cNvPr id="13" name="Rectangle 12"/>
          <p:cNvSpPr/>
          <p:nvPr/>
        </p:nvSpPr>
        <p:spPr>
          <a:xfrm>
            <a:off x="384048" y="1581912"/>
            <a:ext cx="2103120" cy="1280160"/>
          </a:xfrm>
          <a:prstGeom prst="rect">
            <a:avLst/>
          </a:prstGeom>
          <a:solidFill>
            <a:srgbClr val="E8EDF1"/>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4" name="TextBox 13"/>
          <p:cNvSpPr txBox="1"/>
          <p:nvPr/>
        </p:nvSpPr>
        <p:spPr>
          <a:xfrm>
            <a:off x="411479" y="1618488"/>
            <a:ext cx="2048255" cy="1207007"/>
          </a:xfrm>
          <a:prstGeom prst="rect">
            <a:avLst/>
          </a:prstGeom>
          <a:noFill/>
        </p:spPr>
        <p:txBody>
          <a:bodyPr wrap="square" tIns="36576" bIns="36576" anchor="ctr">
            <a:spAutoFit/>
          </a:bodyPr>
          <a:lstStyle/>
          <a:p>
            <a:pPr>
              <a:lnSpc>
                <a:spcPts val="1728"/>
              </a:lnSpc>
              <a:spcBef>
                <a:spcPts val="0"/>
              </a:spcBef>
              <a:spcAft>
                <a:spcPts val="0"/>
              </a:spcAft>
              <a:defRPr sz="1600" b="1">
                <a:solidFill>
                  <a:srgbClr val="182B3A"/>
                </a:solidFill>
                <a:latin typeface="Arial"/>
              </a:defRPr>
            </a:pPr>
            <a:r>
              <a:t>The Full Question</a:t>
            </a:r>
          </a:p>
        </p:txBody>
      </p:sp>
      <p:sp>
        <p:nvSpPr>
          <p:cNvPr id="15" name="Rectangle 14"/>
          <p:cNvSpPr/>
          <p:nvPr/>
        </p:nvSpPr>
        <p:spPr>
          <a:xfrm>
            <a:off x="2487168" y="1581912"/>
            <a:ext cx="3919727" cy="1280160"/>
          </a:xfrm>
          <a:prstGeom prst="rect">
            <a:avLst/>
          </a:prstGeom>
          <a:solidFill>
            <a:srgbClr val="EDF6F5"/>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6" name="TextBox 15"/>
          <p:cNvSpPr txBox="1"/>
          <p:nvPr/>
        </p:nvSpPr>
        <p:spPr>
          <a:xfrm>
            <a:off x="2542032" y="1636776"/>
            <a:ext cx="3809999" cy="1170431"/>
          </a:xfrm>
          <a:prstGeom prst="rect">
            <a:avLst/>
          </a:prstGeom>
          <a:noFill/>
        </p:spPr>
        <p:txBody>
          <a:bodyPr wrap="square" tIns="36576" bIns="36576" anchor="ctr">
            <a:spAutoFit/>
          </a:bodyPr>
          <a:lstStyle/>
          <a:p>
            <a:pPr>
              <a:lnSpc>
                <a:spcPts val="2052"/>
              </a:lnSpc>
              <a:spcBef>
                <a:spcPts val="0"/>
              </a:spcBef>
              <a:spcAft>
                <a:spcPts val="0"/>
              </a:spcAft>
              <a:defRPr sz="1900" b="1">
                <a:solidFill>
                  <a:srgbClr val="182B3A"/>
                </a:solidFill>
                <a:latin typeface="Arial"/>
              </a:defRPr>
            </a:pPr>
            <a:r>
              <a:t>84 tins are shared equally among 4 boxes. How many tins go in each box?</a:t>
            </a:r>
          </a:p>
        </p:txBody>
      </p:sp>
      <p:sp>
        <p:nvSpPr>
          <p:cNvPr id="17" name="Rectangle 16"/>
          <p:cNvSpPr/>
          <p:nvPr/>
        </p:nvSpPr>
        <p:spPr>
          <a:xfrm>
            <a:off x="6406895" y="1581912"/>
            <a:ext cx="3919727" cy="1280160"/>
          </a:xfrm>
          <a:prstGeom prst="rect">
            <a:avLst/>
          </a:prstGeom>
          <a:solidFill>
            <a:srgbClr val="EFF3FA"/>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8" name="TextBox 17"/>
          <p:cNvSpPr txBox="1"/>
          <p:nvPr/>
        </p:nvSpPr>
        <p:spPr>
          <a:xfrm>
            <a:off x="6461759" y="1636776"/>
            <a:ext cx="3809999" cy="1170431"/>
          </a:xfrm>
          <a:prstGeom prst="rect">
            <a:avLst/>
          </a:prstGeom>
          <a:noFill/>
        </p:spPr>
        <p:txBody>
          <a:bodyPr wrap="square" tIns="36576" bIns="36576" anchor="ctr">
            <a:spAutoFit/>
          </a:bodyPr>
          <a:lstStyle/>
          <a:p>
            <a:pPr>
              <a:lnSpc>
                <a:spcPts val="2052"/>
              </a:lnSpc>
              <a:spcBef>
                <a:spcPts val="0"/>
              </a:spcBef>
              <a:spcAft>
                <a:spcPts val="0"/>
              </a:spcAft>
              <a:defRPr sz="1900" b="1">
                <a:solidFill>
                  <a:srgbClr val="182B3A"/>
                </a:solidFill>
                <a:latin typeface="Arial"/>
              </a:defRPr>
            </a:pPr>
            <a:r>
              <a:t>130 biscuits are packed in packs of 6. How many completely full packs can be made?</a:t>
            </a:r>
          </a:p>
        </p:txBody>
      </p:sp>
      <p:sp>
        <p:nvSpPr>
          <p:cNvPr id="19" name="Rectangle 18"/>
          <p:cNvSpPr/>
          <p:nvPr/>
        </p:nvSpPr>
        <p:spPr>
          <a:xfrm>
            <a:off x="10326624" y="1581912"/>
            <a:ext cx="3919727" cy="1280160"/>
          </a:xfrm>
          <a:prstGeom prst="rect">
            <a:avLst/>
          </a:prstGeom>
          <a:solidFill>
            <a:srgbClr val="F5F0F7"/>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20" name="TextBox 19"/>
          <p:cNvSpPr txBox="1"/>
          <p:nvPr/>
        </p:nvSpPr>
        <p:spPr>
          <a:xfrm>
            <a:off x="10381488" y="1636776"/>
            <a:ext cx="3809999" cy="1170431"/>
          </a:xfrm>
          <a:prstGeom prst="rect">
            <a:avLst/>
          </a:prstGeom>
          <a:noFill/>
        </p:spPr>
        <p:txBody>
          <a:bodyPr wrap="square" tIns="36576" bIns="36576" anchor="ctr">
            <a:spAutoFit/>
          </a:bodyPr>
          <a:lstStyle/>
          <a:p>
            <a:pPr>
              <a:lnSpc>
                <a:spcPts val="2052"/>
              </a:lnSpc>
              <a:spcBef>
                <a:spcPts val="0"/>
              </a:spcBef>
              <a:spcAft>
                <a:spcPts val="0"/>
              </a:spcAft>
              <a:defRPr sz="1900" b="1">
                <a:solidFill>
                  <a:srgbClr val="182B3A"/>
                </a:solidFill>
                <a:latin typeface="Arial"/>
              </a:defRPr>
            </a:pPr>
            <a:r>
              <a:t>145 students need minibuses with 9 passenger seats each. Hire costs £40 per minibus. Find the total cost.</a:t>
            </a:r>
          </a:p>
        </p:txBody>
      </p:sp>
      <p:sp>
        <p:nvSpPr>
          <p:cNvPr id="21" name="Rectangle 20"/>
          <p:cNvSpPr/>
          <p:nvPr/>
        </p:nvSpPr>
        <p:spPr>
          <a:xfrm>
            <a:off x="384048" y="2862072"/>
            <a:ext cx="2103120" cy="960120"/>
          </a:xfrm>
          <a:prstGeom prst="rect">
            <a:avLst/>
          </a:prstGeom>
          <a:solidFill>
            <a:srgbClr val="E8EDF1"/>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22" name="TextBox 21"/>
          <p:cNvSpPr txBox="1"/>
          <p:nvPr/>
        </p:nvSpPr>
        <p:spPr>
          <a:xfrm>
            <a:off x="448056" y="2953512"/>
            <a:ext cx="1975103" cy="777240"/>
          </a:xfrm>
          <a:prstGeom prst="rect">
            <a:avLst/>
          </a:prstGeom>
          <a:noFill/>
        </p:spPr>
        <p:txBody>
          <a:bodyPr wrap="square" tIns="36576" bIns="36576" anchor="t">
            <a:spAutoFit/>
          </a:bodyPr>
          <a:lstStyle/>
          <a:p>
            <a:pPr>
              <a:lnSpc>
                <a:spcPts val="1944"/>
              </a:lnSpc>
              <a:spcBef>
                <a:spcPts val="0"/>
              </a:spcBef>
              <a:spcAft>
                <a:spcPts val="0"/>
              </a:spcAft>
              <a:defRPr sz="1800" b="1">
                <a:solidFill>
                  <a:srgbClr val="182B3A"/>
                </a:solidFill>
                <a:latin typeface="Arial"/>
              </a:defRPr>
            </a:pPr>
            <a:r>
              <a:t>1. Keywords &amp; Calculation</a:t>
            </a:r>
          </a:p>
        </p:txBody>
      </p:sp>
      <p:sp>
        <p:nvSpPr>
          <p:cNvPr id="23" name="Rectangle 22"/>
          <p:cNvSpPr/>
          <p:nvPr/>
        </p:nvSpPr>
        <p:spPr>
          <a:xfrm>
            <a:off x="2487168" y="2862072"/>
            <a:ext cx="3919727" cy="96012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24" name="TextBox 23"/>
          <p:cNvSpPr txBox="1"/>
          <p:nvPr/>
        </p:nvSpPr>
        <p:spPr>
          <a:xfrm>
            <a:off x="2551175" y="2926079"/>
            <a:ext cx="3791712" cy="795528"/>
          </a:xfrm>
          <a:prstGeom prst="rect">
            <a:avLst/>
          </a:prstGeom>
          <a:noFill/>
        </p:spPr>
        <p:txBody>
          <a:bodyPr wrap="square" tIns="36576" bIns="36576" anchor="t">
            <a:spAutoFit/>
          </a:bodyPr>
          <a:lstStyle/>
          <a:p>
            <a:pPr>
              <a:lnSpc>
                <a:spcPts val="1836"/>
              </a:lnSpc>
              <a:spcBef>
                <a:spcPts val="0"/>
              </a:spcBef>
              <a:spcAft>
                <a:spcPts val="0"/>
              </a:spcAft>
              <a:defRPr sz="1700" b="0">
                <a:solidFill>
                  <a:srgbClr val="182B3A"/>
                </a:solidFill>
                <a:latin typeface="Arial"/>
              </a:defRPr>
            </a:pPr>
            <a:r>
              <a:t>“shared equally” among 4 boxes</a:t>
            </a:r>
          </a:p>
          <a:p>
            <a:pPr>
              <a:lnSpc>
                <a:spcPts val="1836"/>
              </a:lnSpc>
              <a:spcBef>
                <a:spcPts val="0"/>
              </a:spcBef>
              <a:spcAft>
                <a:spcPts val="0"/>
              </a:spcAft>
              <a:defRPr sz="1700" b="0">
                <a:solidFill>
                  <a:srgbClr val="182B3A"/>
                </a:solidFill>
                <a:latin typeface="Arial"/>
              </a:defRPr>
            </a:pPr>
            <a:r>
              <a:t>84 ÷ 4</a:t>
            </a:r>
          </a:p>
        </p:txBody>
      </p:sp>
      <p:sp>
        <p:nvSpPr>
          <p:cNvPr id="25" name="Rectangle 24"/>
          <p:cNvSpPr/>
          <p:nvPr/>
        </p:nvSpPr>
        <p:spPr>
          <a:xfrm>
            <a:off x="6406895" y="2862072"/>
            <a:ext cx="3919727" cy="96012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26" name="TextBox 25"/>
          <p:cNvSpPr txBox="1"/>
          <p:nvPr/>
        </p:nvSpPr>
        <p:spPr>
          <a:xfrm>
            <a:off x="6470904" y="2926079"/>
            <a:ext cx="3791712" cy="795528"/>
          </a:xfrm>
          <a:prstGeom prst="rect">
            <a:avLst/>
          </a:prstGeom>
          <a:noFill/>
        </p:spPr>
        <p:txBody>
          <a:bodyPr wrap="square" tIns="36576" bIns="36576" anchor="t">
            <a:spAutoFit/>
          </a:bodyPr>
          <a:lstStyle/>
          <a:p>
            <a:pPr>
              <a:lnSpc>
                <a:spcPts val="1836"/>
              </a:lnSpc>
              <a:spcBef>
                <a:spcPts val="0"/>
              </a:spcBef>
              <a:spcAft>
                <a:spcPts val="0"/>
              </a:spcAft>
              <a:defRPr sz="1700" b="0">
                <a:solidFill>
                  <a:srgbClr val="182B3A"/>
                </a:solidFill>
                <a:latin typeface="Arial"/>
              </a:defRPr>
            </a:pPr>
            <a:r>
              <a:t>“packs of 6”; “completely full”</a:t>
            </a:r>
          </a:p>
          <a:p>
            <a:pPr>
              <a:lnSpc>
                <a:spcPts val="1836"/>
              </a:lnSpc>
              <a:spcBef>
                <a:spcPts val="0"/>
              </a:spcBef>
              <a:spcAft>
                <a:spcPts val="0"/>
              </a:spcAft>
              <a:defRPr sz="1700" b="0">
                <a:solidFill>
                  <a:srgbClr val="182B3A"/>
                </a:solidFill>
                <a:latin typeface="Arial"/>
              </a:defRPr>
            </a:pPr>
            <a:r>
              <a:t>130 ÷ 6</a:t>
            </a:r>
          </a:p>
        </p:txBody>
      </p:sp>
      <p:sp>
        <p:nvSpPr>
          <p:cNvPr id="27" name="Rectangle 26"/>
          <p:cNvSpPr/>
          <p:nvPr/>
        </p:nvSpPr>
        <p:spPr>
          <a:xfrm>
            <a:off x="10326624" y="2862072"/>
            <a:ext cx="3919727" cy="96012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28" name="TextBox 27"/>
          <p:cNvSpPr txBox="1"/>
          <p:nvPr/>
        </p:nvSpPr>
        <p:spPr>
          <a:xfrm>
            <a:off x="10390632" y="2926079"/>
            <a:ext cx="3791712" cy="795528"/>
          </a:xfrm>
          <a:prstGeom prst="rect">
            <a:avLst/>
          </a:prstGeom>
          <a:noFill/>
        </p:spPr>
        <p:txBody>
          <a:bodyPr wrap="square" tIns="36576" bIns="36576" anchor="t">
            <a:spAutoFit/>
          </a:bodyPr>
          <a:lstStyle/>
          <a:p>
            <a:pPr>
              <a:lnSpc>
                <a:spcPts val="1836"/>
              </a:lnSpc>
              <a:spcBef>
                <a:spcPts val="0"/>
              </a:spcBef>
              <a:spcAft>
                <a:spcPts val="0"/>
              </a:spcAft>
              <a:defRPr sz="1700" b="0">
                <a:solidFill>
                  <a:srgbClr val="182B3A"/>
                </a:solidFill>
                <a:latin typeface="Arial"/>
              </a:defRPr>
            </a:pPr>
            <a:r>
              <a:t>“9 passenger seats”; “£40 per minibus”</a:t>
            </a:r>
          </a:p>
          <a:p>
            <a:pPr>
              <a:lnSpc>
                <a:spcPts val="1836"/>
              </a:lnSpc>
              <a:spcBef>
                <a:spcPts val="0"/>
              </a:spcBef>
              <a:spcAft>
                <a:spcPts val="0"/>
              </a:spcAft>
              <a:defRPr sz="1700" b="0">
                <a:solidFill>
                  <a:srgbClr val="182B3A"/>
                </a:solidFill>
                <a:latin typeface="Arial"/>
              </a:defRPr>
            </a:pPr>
            <a:r>
              <a:t>145 ÷ 9, then buses × 40</a:t>
            </a:r>
          </a:p>
        </p:txBody>
      </p:sp>
      <p:sp>
        <p:nvSpPr>
          <p:cNvPr id="29" name="Rectangle 28"/>
          <p:cNvSpPr/>
          <p:nvPr/>
        </p:nvSpPr>
        <p:spPr>
          <a:xfrm>
            <a:off x="384048" y="3822191"/>
            <a:ext cx="2103120" cy="2240280"/>
          </a:xfrm>
          <a:prstGeom prst="rect">
            <a:avLst/>
          </a:prstGeom>
          <a:solidFill>
            <a:srgbClr val="E8EDF1"/>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30" name="TextBox 29"/>
          <p:cNvSpPr txBox="1"/>
          <p:nvPr/>
        </p:nvSpPr>
        <p:spPr>
          <a:xfrm>
            <a:off x="448056" y="3913631"/>
            <a:ext cx="1975103" cy="2057400"/>
          </a:xfrm>
          <a:prstGeom prst="rect">
            <a:avLst/>
          </a:prstGeom>
          <a:noFill/>
        </p:spPr>
        <p:txBody>
          <a:bodyPr wrap="square" tIns="36576" bIns="36576" anchor="t">
            <a:spAutoFit/>
          </a:bodyPr>
          <a:lstStyle/>
          <a:p>
            <a:pPr>
              <a:lnSpc>
                <a:spcPts val="1944"/>
              </a:lnSpc>
              <a:spcBef>
                <a:spcPts val="0"/>
              </a:spcBef>
              <a:spcAft>
                <a:spcPts val="0"/>
              </a:spcAft>
              <a:defRPr sz="1800" b="1">
                <a:solidFill>
                  <a:srgbClr val="182B3A"/>
                </a:solidFill>
                <a:latin typeface="Arial"/>
              </a:defRPr>
            </a:pPr>
            <a:r>
              <a:t>2. Written Method</a:t>
            </a:r>
          </a:p>
        </p:txBody>
      </p:sp>
      <p:sp>
        <p:nvSpPr>
          <p:cNvPr id="31" name="Rectangle 30"/>
          <p:cNvSpPr/>
          <p:nvPr/>
        </p:nvSpPr>
        <p:spPr>
          <a:xfrm>
            <a:off x="2487168" y="3822191"/>
            <a:ext cx="3919727" cy="224028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32" name="TextBox 31"/>
          <p:cNvSpPr txBox="1"/>
          <p:nvPr/>
        </p:nvSpPr>
        <p:spPr>
          <a:xfrm>
            <a:off x="2551175" y="3886200"/>
            <a:ext cx="3791712" cy="1024128"/>
          </a:xfrm>
          <a:prstGeom prst="rect">
            <a:avLst/>
          </a:prstGeom>
          <a:noFill/>
        </p:spPr>
        <p:txBody>
          <a:bodyPr wrap="square" tIns="36576" bIns="36576" anchor="t">
            <a:spAutoFit/>
          </a:bodyPr>
          <a:lstStyle/>
          <a:p>
            <a:pPr>
              <a:lnSpc>
                <a:spcPts val="1836"/>
              </a:lnSpc>
              <a:spcBef>
                <a:spcPts val="0"/>
              </a:spcBef>
              <a:spcAft>
                <a:spcPts val="0"/>
              </a:spcAft>
              <a:defRPr sz="1700" b="0">
                <a:solidFill>
                  <a:srgbClr val="182B3A"/>
                </a:solidFill>
                <a:latin typeface="Arial"/>
              </a:defRPr>
            </a:pPr>
            <a:r>
              <a:t>Bus stop: 8 ÷ 4 = 2; 4 ÷ 4 = 1.</a:t>
            </a:r>
          </a:p>
          <a:p>
            <a:pPr>
              <a:lnSpc>
                <a:spcPts val="1836"/>
              </a:lnSpc>
              <a:spcBef>
                <a:spcPts val="0"/>
              </a:spcBef>
              <a:spcAft>
                <a:spcPts val="0"/>
              </a:spcAft>
              <a:defRPr sz="1700" b="0">
                <a:solidFill>
                  <a:srgbClr val="182B3A"/>
                </a:solidFill>
                <a:latin typeface="Arial"/>
              </a:defRPr>
            </a:pPr>
            <a:r>
              <a:t>84 ÷ 4 = 21.</a:t>
            </a:r>
          </a:p>
        </p:txBody>
      </p:sp>
      <p:grpSp>
        <p:nvGrpSpPr>
          <p:cNvPr id="33" name="Editable bus stop 84 ÷ 4"/>
          <p:cNvGrpSpPr/>
          <p:nvPr/>
        </p:nvGrpSpPr>
        <p:grpSpPr>
          <a:xfrm>
            <a:off x="3633216" y="5102352"/>
            <a:ext cx="1426463" cy="758952"/>
            <a:chOff x="3633216" y="5102352"/>
            <a:chExt cx="1426463" cy="758952"/>
          </a:xfrm>
        </p:grpSpPr>
        <p:cxnSp>
          <p:nvCxnSpPr>
            <p:cNvPr id="34" name="Connector 33"/>
            <p:cNvCxnSpPr/>
            <p:nvPr/>
          </p:nvCxnSpPr>
          <p:spPr>
            <a:xfrm>
              <a:off x="4035552" y="5477256"/>
              <a:ext cx="1024127" cy="0"/>
            </a:xfrm>
            <a:prstGeom prst="line">
              <a:avLst/>
            </a:prstGeom>
            <a:ln w="17780">
              <a:solidFill>
                <a:srgbClr val="182B3A"/>
              </a:solidFill>
            </a:ln>
          </p:spPr>
          <p:style>
            <a:lnRef idx="2">
              <a:schemeClr val="accent1"/>
            </a:lnRef>
            <a:fillRef idx="0">
              <a:schemeClr val="accent1"/>
            </a:fillRef>
            <a:effectRef idx="1">
              <a:schemeClr val="accent1"/>
            </a:effectRef>
            <a:fontRef idx="minor">
              <a:schemeClr val="tx1"/>
            </a:fontRef>
          </p:style>
        </p:cxnSp>
        <p:cxnSp>
          <p:nvCxnSpPr>
            <p:cNvPr id="35" name="Connector 34"/>
            <p:cNvCxnSpPr/>
            <p:nvPr/>
          </p:nvCxnSpPr>
          <p:spPr>
            <a:xfrm>
              <a:off x="4035552" y="5477256"/>
              <a:ext cx="0" cy="384048"/>
            </a:xfrm>
            <a:prstGeom prst="line">
              <a:avLst/>
            </a:prstGeom>
            <a:ln w="17780">
              <a:solidFill>
                <a:srgbClr val="182B3A"/>
              </a:solidFill>
            </a:ln>
          </p:spPr>
          <p:style>
            <a:lnRef idx="2">
              <a:schemeClr val="accent1"/>
            </a:lnRef>
            <a:fillRef idx="0">
              <a:schemeClr val="accent1"/>
            </a:fillRef>
            <a:effectRef idx="1">
              <a:schemeClr val="accent1"/>
            </a:effectRef>
            <a:fontRef idx="minor">
              <a:schemeClr val="tx1"/>
            </a:fontRef>
          </p:style>
        </p:cxnSp>
        <p:sp>
          <p:nvSpPr>
            <p:cNvPr id="36" name="TextBox 35"/>
            <p:cNvSpPr txBox="1"/>
            <p:nvPr/>
          </p:nvSpPr>
          <p:spPr>
            <a:xfrm>
              <a:off x="3633216" y="5495544"/>
              <a:ext cx="347472" cy="347472"/>
            </a:xfrm>
            <a:prstGeom prst="rect">
              <a:avLst/>
            </a:prstGeom>
            <a:noFill/>
          </p:spPr>
          <p:txBody>
            <a:bodyPr wrap="none" lIns="0" tIns="0" rIns="0" bIns="0" anchor="ctr">
              <a:spAutoFit/>
            </a:bodyPr>
            <a:lstStyle/>
            <a:p>
              <a:pPr algn="ctr">
                <a:defRPr sz="2400" b="1">
                  <a:solidFill>
                    <a:srgbClr val="176B73"/>
                  </a:solidFill>
                  <a:latin typeface="Arial"/>
                </a:defRPr>
              </a:pPr>
              <a:r>
                <a:t>4</a:t>
              </a:r>
            </a:p>
          </p:txBody>
        </p:sp>
        <p:sp>
          <p:nvSpPr>
            <p:cNvPr id="37" name="TextBox 36"/>
            <p:cNvSpPr txBox="1"/>
            <p:nvPr/>
          </p:nvSpPr>
          <p:spPr>
            <a:xfrm>
              <a:off x="4108704" y="5495544"/>
              <a:ext cx="448056" cy="347472"/>
            </a:xfrm>
            <a:prstGeom prst="rect">
              <a:avLst/>
            </a:prstGeom>
            <a:noFill/>
          </p:spPr>
          <p:txBody>
            <a:bodyPr wrap="none" lIns="0" tIns="0" rIns="0" bIns="0" anchor="ctr">
              <a:spAutoFit/>
            </a:bodyPr>
            <a:lstStyle/>
            <a:p>
              <a:pPr algn="ctr">
                <a:defRPr sz="2400" b="0">
                  <a:solidFill>
                    <a:srgbClr val="182B3A"/>
                  </a:solidFill>
                  <a:latin typeface="Arial"/>
                </a:defRPr>
              </a:pPr>
              <a:r>
                <a:t>8</a:t>
              </a:r>
            </a:p>
          </p:txBody>
        </p:sp>
        <p:sp>
          <p:nvSpPr>
            <p:cNvPr id="38" name="TextBox 37"/>
            <p:cNvSpPr txBox="1"/>
            <p:nvPr/>
          </p:nvSpPr>
          <p:spPr>
            <a:xfrm>
              <a:off x="4108704" y="5102352"/>
              <a:ext cx="448056" cy="320040"/>
            </a:xfrm>
            <a:prstGeom prst="rect">
              <a:avLst/>
            </a:prstGeom>
            <a:noFill/>
          </p:spPr>
          <p:txBody>
            <a:bodyPr wrap="none" lIns="0" tIns="0" rIns="0" bIns="0" anchor="ctr">
              <a:spAutoFit/>
            </a:bodyPr>
            <a:lstStyle/>
            <a:p>
              <a:pPr algn="ctr">
                <a:defRPr sz="2400" b="1">
                  <a:solidFill>
                    <a:srgbClr val="176B73"/>
                  </a:solidFill>
                  <a:latin typeface="Arial"/>
                </a:defRPr>
              </a:pPr>
              <a:r>
                <a:t>2</a:t>
              </a:r>
            </a:p>
          </p:txBody>
        </p:sp>
        <p:sp>
          <p:nvSpPr>
            <p:cNvPr id="39" name="TextBox 38"/>
            <p:cNvSpPr txBox="1"/>
            <p:nvPr/>
          </p:nvSpPr>
          <p:spPr>
            <a:xfrm>
              <a:off x="4556760" y="5495544"/>
              <a:ext cx="448056" cy="347472"/>
            </a:xfrm>
            <a:prstGeom prst="rect">
              <a:avLst/>
            </a:prstGeom>
            <a:noFill/>
          </p:spPr>
          <p:txBody>
            <a:bodyPr wrap="none" lIns="0" tIns="0" rIns="0" bIns="0" anchor="ctr">
              <a:spAutoFit/>
            </a:bodyPr>
            <a:lstStyle/>
            <a:p>
              <a:pPr algn="ctr">
                <a:defRPr sz="2400" b="0">
                  <a:solidFill>
                    <a:srgbClr val="182B3A"/>
                  </a:solidFill>
                  <a:latin typeface="Arial"/>
                </a:defRPr>
              </a:pPr>
              <a:r>
                <a:t>4</a:t>
              </a:r>
            </a:p>
          </p:txBody>
        </p:sp>
        <p:sp>
          <p:nvSpPr>
            <p:cNvPr id="40" name="TextBox 39"/>
            <p:cNvSpPr txBox="1"/>
            <p:nvPr/>
          </p:nvSpPr>
          <p:spPr>
            <a:xfrm>
              <a:off x="4556760" y="5102352"/>
              <a:ext cx="448056" cy="320040"/>
            </a:xfrm>
            <a:prstGeom prst="rect">
              <a:avLst/>
            </a:prstGeom>
            <a:noFill/>
          </p:spPr>
          <p:txBody>
            <a:bodyPr wrap="none" lIns="0" tIns="0" rIns="0" bIns="0" anchor="ctr">
              <a:spAutoFit/>
            </a:bodyPr>
            <a:lstStyle/>
            <a:p>
              <a:pPr algn="ctr">
                <a:defRPr sz="2400" b="1">
                  <a:solidFill>
                    <a:srgbClr val="176B73"/>
                  </a:solidFill>
                  <a:latin typeface="Arial"/>
                </a:defRPr>
              </a:pPr>
              <a:r>
                <a:t>1</a:t>
              </a:r>
            </a:p>
          </p:txBody>
        </p:sp>
      </p:grpSp>
      <p:sp>
        <p:nvSpPr>
          <p:cNvPr id="41" name="Rectangle 40"/>
          <p:cNvSpPr/>
          <p:nvPr/>
        </p:nvSpPr>
        <p:spPr>
          <a:xfrm>
            <a:off x="6406895" y="3822191"/>
            <a:ext cx="3919727" cy="224028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42" name="TextBox 41"/>
          <p:cNvSpPr txBox="1"/>
          <p:nvPr/>
        </p:nvSpPr>
        <p:spPr>
          <a:xfrm>
            <a:off x="6470904" y="3886200"/>
            <a:ext cx="3791712" cy="1024128"/>
          </a:xfrm>
          <a:prstGeom prst="rect">
            <a:avLst/>
          </a:prstGeom>
          <a:noFill/>
        </p:spPr>
        <p:txBody>
          <a:bodyPr wrap="square" tIns="36576" bIns="36576" anchor="t">
            <a:spAutoFit/>
          </a:bodyPr>
          <a:lstStyle/>
          <a:p>
            <a:pPr>
              <a:lnSpc>
                <a:spcPts val="1836"/>
              </a:lnSpc>
              <a:spcBef>
                <a:spcPts val="0"/>
              </a:spcBef>
              <a:spcAft>
                <a:spcPts val="0"/>
              </a:spcAft>
              <a:defRPr sz="1700" b="0">
                <a:solidFill>
                  <a:srgbClr val="182B3A"/>
                </a:solidFill>
                <a:latin typeface="Arial"/>
              </a:defRPr>
            </a:pPr>
            <a:r>
              <a:t>Bus stop: 13 ÷ 6 = 2 r 1;</a:t>
            </a:r>
          </a:p>
          <a:p>
            <a:pPr>
              <a:lnSpc>
                <a:spcPts val="1836"/>
              </a:lnSpc>
              <a:spcBef>
                <a:spcPts val="0"/>
              </a:spcBef>
              <a:spcAft>
                <a:spcPts val="0"/>
              </a:spcAft>
              <a:defRPr sz="1700" b="0">
                <a:solidFill>
                  <a:srgbClr val="182B3A"/>
                </a:solidFill>
                <a:latin typeface="Arial"/>
              </a:defRPr>
            </a:pPr>
            <a:r>
              <a:t>10 ÷ 6 = 1 r 4. So 130 ÷ 6 = 21 r 4.</a:t>
            </a:r>
          </a:p>
        </p:txBody>
      </p:sp>
      <p:grpSp>
        <p:nvGrpSpPr>
          <p:cNvPr id="43" name="Editable bus stop 130 ÷ 6"/>
          <p:cNvGrpSpPr/>
          <p:nvPr/>
        </p:nvGrpSpPr>
        <p:grpSpPr>
          <a:xfrm>
            <a:off x="7328915" y="5102352"/>
            <a:ext cx="1874521" cy="905256"/>
            <a:chOff x="7328915" y="5102352"/>
            <a:chExt cx="1874521" cy="905256"/>
          </a:xfrm>
        </p:grpSpPr>
        <p:cxnSp>
          <p:nvCxnSpPr>
            <p:cNvPr id="44" name="Connector 43"/>
            <p:cNvCxnSpPr/>
            <p:nvPr/>
          </p:nvCxnSpPr>
          <p:spPr>
            <a:xfrm>
              <a:off x="7731251" y="5477256"/>
              <a:ext cx="1472185" cy="0"/>
            </a:xfrm>
            <a:prstGeom prst="line">
              <a:avLst/>
            </a:prstGeom>
            <a:ln w="17780">
              <a:solidFill>
                <a:srgbClr val="182B3A"/>
              </a:solidFill>
            </a:ln>
          </p:spPr>
          <p:style>
            <a:lnRef idx="2">
              <a:schemeClr val="accent1"/>
            </a:lnRef>
            <a:fillRef idx="0">
              <a:schemeClr val="accent1"/>
            </a:fillRef>
            <a:effectRef idx="1">
              <a:schemeClr val="accent1"/>
            </a:effectRef>
            <a:fontRef idx="minor">
              <a:schemeClr val="tx1"/>
            </a:fontRef>
          </p:style>
        </p:cxnSp>
        <p:cxnSp>
          <p:nvCxnSpPr>
            <p:cNvPr id="45" name="Connector 44"/>
            <p:cNvCxnSpPr/>
            <p:nvPr/>
          </p:nvCxnSpPr>
          <p:spPr>
            <a:xfrm>
              <a:off x="7731251" y="5477256"/>
              <a:ext cx="0" cy="384048"/>
            </a:xfrm>
            <a:prstGeom prst="line">
              <a:avLst/>
            </a:prstGeom>
            <a:ln w="17780">
              <a:solidFill>
                <a:srgbClr val="182B3A"/>
              </a:solidFill>
            </a:ln>
          </p:spPr>
          <p:style>
            <a:lnRef idx="2">
              <a:schemeClr val="accent1"/>
            </a:lnRef>
            <a:fillRef idx="0">
              <a:schemeClr val="accent1"/>
            </a:fillRef>
            <a:effectRef idx="1">
              <a:schemeClr val="accent1"/>
            </a:effectRef>
            <a:fontRef idx="minor">
              <a:schemeClr val="tx1"/>
            </a:fontRef>
          </p:style>
        </p:cxnSp>
        <p:sp>
          <p:nvSpPr>
            <p:cNvPr id="46" name="TextBox 45"/>
            <p:cNvSpPr txBox="1"/>
            <p:nvPr/>
          </p:nvSpPr>
          <p:spPr>
            <a:xfrm>
              <a:off x="7328915" y="5495544"/>
              <a:ext cx="347472" cy="347472"/>
            </a:xfrm>
            <a:prstGeom prst="rect">
              <a:avLst/>
            </a:prstGeom>
            <a:noFill/>
          </p:spPr>
          <p:txBody>
            <a:bodyPr wrap="none" lIns="0" tIns="0" rIns="0" bIns="0" anchor="ctr">
              <a:spAutoFit/>
            </a:bodyPr>
            <a:lstStyle/>
            <a:p>
              <a:pPr algn="ctr">
                <a:defRPr sz="2400" b="1">
                  <a:solidFill>
                    <a:srgbClr val="3559A2"/>
                  </a:solidFill>
                  <a:latin typeface="Arial"/>
                </a:defRPr>
              </a:pPr>
              <a:r>
                <a:t>6</a:t>
              </a:r>
            </a:p>
          </p:txBody>
        </p:sp>
        <p:sp>
          <p:nvSpPr>
            <p:cNvPr id="47" name="TextBox 46"/>
            <p:cNvSpPr txBox="1"/>
            <p:nvPr/>
          </p:nvSpPr>
          <p:spPr>
            <a:xfrm>
              <a:off x="7804403" y="5495544"/>
              <a:ext cx="448056" cy="347472"/>
            </a:xfrm>
            <a:prstGeom prst="rect">
              <a:avLst/>
            </a:prstGeom>
            <a:noFill/>
          </p:spPr>
          <p:txBody>
            <a:bodyPr wrap="none" lIns="0" tIns="0" rIns="0" bIns="0" anchor="ctr">
              <a:spAutoFit/>
            </a:bodyPr>
            <a:lstStyle/>
            <a:p>
              <a:pPr algn="ctr">
                <a:defRPr sz="2400" b="0">
                  <a:solidFill>
                    <a:srgbClr val="182B3A"/>
                  </a:solidFill>
                  <a:latin typeface="Arial"/>
                </a:defRPr>
              </a:pPr>
              <a:r>
                <a:t>1</a:t>
              </a:r>
            </a:p>
          </p:txBody>
        </p:sp>
        <p:sp>
          <p:nvSpPr>
            <p:cNvPr id="48" name="TextBox 47"/>
            <p:cNvSpPr txBox="1"/>
            <p:nvPr/>
          </p:nvSpPr>
          <p:spPr>
            <a:xfrm>
              <a:off x="7804403" y="5102352"/>
              <a:ext cx="448056" cy="320040"/>
            </a:xfrm>
            <a:prstGeom prst="rect">
              <a:avLst/>
            </a:prstGeom>
            <a:noFill/>
          </p:spPr>
          <p:txBody>
            <a:bodyPr wrap="none" lIns="0" tIns="0" rIns="0" bIns="0" anchor="ctr">
              <a:spAutoFit/>
            </a:bodyPr>
            <a:lstStyle/>
            <a:p>
              <a:pPr algn="ctr">
                <a:defRPr sz="2400" b="1">
                  <a:solidFill>
                    <a:srgbClr val="3559A2"/>
                  </a:solidFill>
                  <a:latin typeface="Arial"/>
                </a:defRPr>
              </a:pPr>
              <a:endParaRPr/>
            </a:p>
          </p:txBody>
        </p:sp>
        <p:sp>
          <p:nvSpPr>
            <p:cNvPr id="49" name="TextBox 48"/>
            <p:cNvSpPr txBox="1"/>
            <p:nvPr/>
          </p:nvSpPr>
          <p:spPr>
            <a:xfrm>
              <a:off x="8252459" y="5495544"/>
              <a:ext cx="448056" cy="347472"/>
            </a:xfrm>
            <a:prstGeom prst="rect">
              <a:avLst/>
            </a:prstGeom>
            <a:noFill/>
          </p:spPr>
          <p:txBody>
            <a:bodyPr wrap="none" lIns="0" tIns="0" rIns="0" bIns="0" anchor="ctr">
              <a:spAutoFit/>
            </a:bodyPr>
            <a:lstStyle/>
            <a:p>
              <a:pPr algn="ctr">
                <a:defRPr sz="2400" b="0">
                  <a:solidFill>
                    <a:srgbClr val="182B3A"/>
                  </a:solidFill>
                  <a:latin typeface="Arial"/>
                </a:defRPr>
              </a:pPr>
              <a:r>
                <a:t>3</a:t>
              </a:r>
            </a:p>
          </p:txBody>
        </p:sp>
        <p:sp>
          <p:nvSpPr>
            <p:cNvPr id="50" name="TextBox 49"/>
            <p:cNvSpPr txBox="1"/>
            <p:nvPr/>
          </p:nvSpPr>
          <p:spPr>
            <a:xfrm>
              <a:off x="8252459" y="5102352"/>
              <a:ext cx="448056" cy="320040"/>
            </a:xfrm>
            <a:prstGeom prst="rect">
              <a:avLst/>
            </a:prstGeom>
            <a:noFill/>
          </p:spPr>
          <p:txBody>
            <a:bodyPr wrap="none" lIns="0" tIns="0" rIns="0" bIns="0" anchor="ctr">
              <a:spAutoFit/>
            </a:bodyPr>
            <a:lstStyle/>
            <a:p>
              <a:pPr algn="ctr">
                <a:defRPr sz="2400" b="1">
                  <a:solidFill>
                    <a:srgbClr val="3559A2"/>
                  </a:solidFill>
                  <a:latin typeface="Arial"/>
                </a:defRPr>
              </a:pPr>
              <a:r>
                <a:t>2</a:t>
              </a:r>
            </a:p>
          </p:txBody>
        </p:sp>
        <p:sp>
          <p:nvSpPr>
            <p:cNvPr id="51" name="TextBox 50"/>
            <p:cNvSpPr txBox="1"/>
            <p:nvPr/>
          </p:nvSpPr>
          <p:spPr>
            <a:xfrm>
              <a:off x="8161934" y="5468112"/>
              <a:ext cx="164592" cy="164592"/>
            </a:xfrm>
            <a:prstGeom prst="rect">
              <a:avLst/>
            </a:prstGeom>
            <a:noFill/>
          </p:spPr>
          <p:txBody>
            <a:bodyPr wrap="none" lIns="0" tIns="0" rIns="0" bIns="0" anchor="ctr">
              <a:spAutoFit/>
            </a:bodyPr>
            <a:lstStyle/>
            <a:p>
              <a:pPr algn="ctr">
                <a:defRPr sz="1100" b="1">
                  <a:solidFill>
                    <a:srgbClr val="B14F00"/>
                  </a:solidFill>
                  <a:latin typeface="Arial"/>
                </a:defRPr>
              </a:pPr>
              <a:r>
                <a:t>1</a:t>
              </a:r>
            </a:p>
          </p:txBody>
        </p:sp>
        <p:sp>
          <p:nvSpPr>
            <p:cNvPr id="52" name="TextBox 51"/>
            <p:cNvSpPr txBox="1"/>
            <p:nvPr/>
          </p:nvSpPr>
          <p:spPr>
            <a:xfrm>
              <a:off x="8700515" y="5495544"/>
              <a:ext cx="448056" cy="347472"/>
            </a:xfrm>
            <a:prstGeom prst="rect">
              <a:avLst/>
            </a:prstGeom>
            <a:noFill/>
          </p:spPr>
          <p:txBody>
            <a:bodyPr wrap="none" lIns="0" tIns="0" rIns="0" bIns="0" anchor="ctr">
              <a:spAutoFit/>
            </a:bodyPr>
            <a:lstStyle/>
            <a:p>
              <a:pPr algn="ctr">
                <a:defRPr sz="2400" b="0">
                  <a:solidFill>
                    <a:srgbClr val="182B3A"/>
                  </a:solidFill>
                  <a:latin typeface="Arial"/>
                </a:defRPr>
              </a:pPr>
              <a:r>
                <a:t>0</a:t>
              </a:r>
            </a:p>
          </p:txBody>
        </p:sp>
        <p:sp>
          <p:nvSpPr>
            <p:cNvPr id="53" name="TextBox 52"/>
            <p:cNvSpPr txBox="1"/>
            <p:nvPr/>
          </p:nvSpPr>
          <p:spPr>
            <a:xfrm>
              <a:off x="8700515" y="5102352"/>
              <a:ext cx="448056" cy="320040"/>
            </a:xfrm>
            <a:prstGeom prst="rect">
              <a:avLst/>
            </a:prstGeom>
            <a:noFill/>
          </p:spPr>
          <p:txBody>
            <a:bodyPr wrap="none" lIns="0" tIns="0" rIns="0" bIns="0" anchor="ctr">
              <a:spAutoFit/>
            </a:bodyPr>
            <a:lstStyle/>
            <a:p>
              <a:pPr algn="ctr">
                <a:defRPr sz="2400" b="1">
                  <a:solidFill>
                    <a:srgbClr val="3559A2"/>
                  </a:solidFill>
                  <a:latin typeface="Arial"/>
                </a:defRPr>
              </a:pPr>
              <a:r>
                <a:t>1</a:t>
              </a:r>
            </a:p>
          </p:txBody>
        </p:sp>
        <p:sp>
          <p:nvSpPr>
            <p:cNvPr id="54" name="TextBox 53"/>
            <p:cNvSpPr txBox="1"/>
            <p:nvPr/>
          </p:nvSpPr>
          <p:spPr>
            <a:xfrm>
              <a:off x="8609990" y="5468112"/>
              <a:ext cx="164592" cy="164592"/>
            </a:xfrm>
            <a:prstGeom prst="rect">
              <a:avLst/>
            </a:prstGeom>
            <a:noFill/>
          </p:spPr>
          <p:txBody>
            <a:bodyPr wrap="none" lIns="0" tIns="0" rIns="0" bIns="0" anchor="ctr">
              <a:spAutoFit/>
            </a:bodyPr>
            <a:lstStyle/>
            <a:p>
              <a:pPr algn="ctr">
                <a:defRPr sz="1100" b="1">
                  <a:solidFill>
                    <a:srgbClr val="B14F00"/>
                  </a:solidFill>
                  <a:latin typeface="Arial"/>
                </a:defRPr>
              </a:pPr>
              <a:r>
                <a:t>1</a:t>
              </a:r>
            </a:p>
          </p:txBody>
        </p:sp>
        <p:sp>
          <p:nvSpPr>
            <p:cNvPr id="55" name="TextBox 54"/>
            <p:cNvSpPr txBox="1"/>
            <p:nvPr/>
          </p:nvSpPr>
          <p:spPr>
            <a:xfrm>
              <a:off x="7804403" y="5843016"/>
              <a:ext cx="1344168" cy="164592"/>
            </a:xfrm>
            <a:prstGeom prst="rect">
              <a:avLst/>
            </a:prstGeom>
            <a:noFill/>
          </p:spPr>
          <p:txBody>
            <a:bodyPr wrap="none" lIns="0" tIns="0" rIns="0" bIns="0" anchor="ctr">
              <a:spAutoFit/>
            </a:bodyPr>
            <a:lstStyle/>
            <a:p>
              <a:pPr algn="ctr">
                <a:defRPr sz="1200" b="0">
                  <a:solidFill>
                    <a:srgbClr val="3559A2"/>
                  </a:solidFill>
                  <a:latin typeface="Arial"/>
                </a:defRPr>
              </a:pPr>
              <a:r>
                <a:t>remainder 4</a:t>
              </a:r>
            </a:p>
          </p:txBody>
        </p:sp>
      </p:grpSp>
      <p:sp>
        <p:nvSpPr>
          <p:cNvPr id="56" name="Rectangle 55"/>
          <p:cNvSpPr/>
          <p:nvPr/>
        </p:nvSpPr>
        <p:spPr>
          <a:xfrm>
            <a:off x="10326624" y="3822191"/>
            <a:ext cx="3919727" cy="224028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57" name="TextBox 56"/>
          <p:cNvSpPr txBox="1"/>
          <p:nvPr/>
        </p:nvSpPr>
        <p:spPr>
          <a:xfrm>
            <a:off x="10390632" y="3886200"/>
            <a:ext cx="3791712" cy="841247"/>
          </a:xfrm>
          <a:prstGeom prst="rect">
            <a:avLst/>
          </a:prstGeom>
          <a:noFill/>
        </p:spPr>
        <p:txBody>
          <a:bodyPr wrap="square" tIns="36576" bIns="36576" anchor="t">
            <a:spAutoFit/>
          </a:bodyPr>
          <a:lstStyle/>
          <a:p>
            <a:pPr>
              <a:lnSpc>
                <a:spcPts val="1836"/>
              </a:lnSpc>
              <a:spcBef>
                <a:spcPts val="0"/>
              </a:spcBef>
              <a:spcAft>
                <a:spcPts val="0"/>
              </a:spcAft>
              <a:defRPr sz="1700" b="0">
                <a:solidFill>
                  <a:srgbClr val="182B3A"/>
                </a:solidFill>
                <a:latin typeface="Arial"/>
              </a:defRPr>
            </a:pPr>
            <a:r>
              <a:t>Bus stop: 14 ÷ 9 = 1 r 5;</a:t>
            </a:r>
          </a:p>
          <a:p>
            <a:pPr>
              <a:lnSpc>
                <a:spcPts val="1836"/>
              </a:lnSpc>
              <a:spcBef>
                <a:spcPts val="0"/>
              </a:spcBef>
              <a:spcAft>
                <a:spcPts val="0"/>
              </a:spcAft>
              <a:defRPr sz="1700" b="0">
                <a:solidFill>
                  <a:srgbClr val="182B3A"/>
                </a:solidFill>
                <a:latin typeface="Arial"/>
              </a:defRPr>
            </a:pPr>
            <a:r>
              <a:t>55 ÷ 9 = 6 r 1. So 16 r 1 → 17 buses.</a:t>
            </a:r>
          </a:p>
          <a:p>
            <a:pPr>
              <a:lnSpc>
                <a:spcPts val="1836"/>
              </a:lnSpc>
              <a:spcBef>
                <a:spcPts val="0"/>
              </a:spcBef>
              <a:spcAft>
                <a:spcPts val="0"/>
              </a:spcAft>
              <a:defRPr sz="1700" b="0">
                <a:solidFill>
                  <a:srgbClr val="182B3A"/>
                </a:solidFill>
                <a:latin typeface="Arial"/>
              </a:defRPr>
            </a:pPr>
            <a:r>
              <a:t>Lattice: 17 × 40 = 680.</a:t>
            </a:r>
          </a:p>
        </p:txBody>
      </p:sp>
      <p:grpSp>
        <p:nvGrpSpPr>
          <p:cNvPr id="58" name="Editable bus stop 145 ÷ 9"/>
          <p:cNvGrpSpPr/>
          <p:nvPr/>
        </p:nvGrpSpPr>
        <p:grpSpPr>
          <a:xfrm>
            <a:off x="10308336" y="5010912"/>
            <a:ext cx="1863181" cy="905256"/>
            <a:chOff x="10308336" y="5010912"/>
            <a:chExt cx="1863181" cy="905256"/>
          </a:xfrm>
        </p:grpSpPr>
        <p:cxnSp>
          <p:nvCxnSpPr>
            <p:cNvPr id="59" name="Connector 58"/>
            <p:cNvCxnSpPr/>
            <p:nvPr/>
          </p:nvCxnSpPr>
          <p:spPr>
            <a:xfrm>
              <a:off x="10710672" y="5385816"/>
              <a:ext cx="1460845" cy="0"/>
            </a:xfrm>
            <a:prstGeom prst="line">
              <a:avLst/>
            </a:prstGeom>
            <a:ln w="17780">
              <a:solidFill>
                <a:srgbClr val="182B3A"/>
              </a:solidFill>
            </a:ln>
          </p:spPr>
          <p:style>
            <a:lnRef idx="2">
              <a:schemeClr val="accent1"/>
            </a:lnRef>
            <a:fillRef idx="0">
              <a:schemeClr val="accent1"/>
            </a:fillRef>
            <a:effectRef idx="1">
              <a:schemeClr val="accent1"/>
            </a:effectRef>
            <a:fontRef idx="minor">
              <a:schemeClr val="tx1"/>
            </a:fontRef>
          </p:style>
        </p:cxnSp>
        <p:cxnSp>
          <p:nvCxnSpPr>
            <p:cNvPr id="60" name="Connector 59"/>
            <p:cNvCxnSpPr/>
            <p:nvPr/>
          </p:nvCxnSpPr>
          <p:spPr>
            <a:xfrm>
              <a:off x="10710672" y="5385816"/>
              <a:ext cx="0" cy="384048"/>
            </a:xfrm>
            <a:prstGeom prst="line">
              <a:avLst/>
            </a:prstGeom>
            <a:ln w="17780">
              <a:solidFill>
                <a:srgbClr val="182B3A"/>
              </a:solidFill>
            </a:ln>
          </p:spPr>
          <p:style>
            <a:lnRef idx="2">
              <a:schemeClr val="accent1"/>
            </a:lnRef>
            <a:fillRef idx="0">
              <a:schemeClr val="accent1"/>
            </a:fillRef>
            <a:effectRef idx="1">
              <a:schemeClr val="accent1"/>
            </a:effectRef>
            <a:fontRef idx="minor">
              <a:schemeClr val="tx1"/>
            </a:fontRef>
          </p:style>
        </p:cxnSp>
        <p:sp>
          <p:nvSpPr>
            <p:cNvPr id="61" name="TextBox 60"/>
            <p:cNvSpPr txBox="1"/>
            <p:nvPr/>
          </p:nvSpPr>
          <p:spPr>
            <a:xfrm>
              <a:off x="10308336" y="5404103"/>
              <a:ext cx="347472" cy="347472"/>
            </a:xfrm>
            <a:prstGeom prst="rect">
              <a:avLst/>
            </a:prstGeom>
            <a:noFill/>
          </p:spPr>
          <p:txBody>
            <a:bodyPr wrap="none" lIns="0" tIns="0" rIns="0" bIns="0" anchor="ctr">
              <a:spAutoFit/>
            </a:bodyPr>
            <a:lstStyle/>
            <a:p>
              <a:pPr algn="ctr">
                <a:defRPr sz="2400" b="1">
                  <a:solidFill>
                    <a:srgbClr val="754B87"/>
                  </a:solidFill>
                  <a:latin typeface="Arial"/>
                </a:defRPr>
              </a:pPr>
              <a:r>
                <a:t>9</a:t>
              </a:r>
            </a:p>
          </p:txBody>
        </p:sp>
        <p:sp>
          <p:nvSpPr>
            <p:cNvPr id="62" name="TextBox 61"/>
            <p:cNvSpPr txBox="1"/>
            <p:nvPr/>
          </p:nvSpPr>
          <p:spPr>
            <a:xfrm>
              <a:off x="10783824" y="5404103"/>
              <a:ext cx="444276" cy="347472"/>
            </a:xfrm>
            <a:prstGeom prst="rect">
              <a:avLst/>
            </a:prstGeom>
            <a:noFill/>
          </p:spPr>
          <p:txBody>
            <a:bodyPr wrap="none" lIns="0" tIns="0" rIns="0" bIns="0" anchor="ctr">
              <a:spAutoFit/>
            </a:bodyPr>
            <a:lstStyle/>
            <a:p>
              <a:pPr algn="ctr">
                <a:defRPr sz="2400" b="0">
                  <a:solidFill>
                    <a:srgbClr val="182B3A"/>
                  </a:solidFill>
                  <a:latin typeface="Arial"/>
                </a:defRPr>
              </a:pPr>
              <a:r>
                <a:t>1</a:t>
              </a:r>
            </a:p>
          </p:txBody>
        </p:sp>
        <p:sp>
          <p:nvSpPr>
            <p:cNvPr id="63" name="TextBox 62"/>
            <p:cNvSpPr txBox="1"/>
            <p:nvPr/>
          </p:nvSpPr>
          <p:spPr>
            <a:xfrm>
              <a:off x="10783824" y="5010912"/>
              <a:ext cx="444276" cy="320040"/>
            </a:xfrm>
            <a:prstGeom prst="rect">
              <a:avLst/>
            </a:prstGeom>
            <a:noFill/>
          </p:spPr>
          <p:txBody>
            <a:bodyPr wrap="none" lIns="0" tIns="0" rIns="0" bIns="0" anchor="ctr">
              <a:spAutoFit/>
            </a:bodyPr>
            <a:lstStyle/>
            <a:p>
              <a:pPr algn="ctr">
                <a:defRPr sz="2400" b="1">
                  <a:solidFill>
                    <a:srgbClr val="754B87"/>
                  </a:solidFill>
                  <a:latin typeface="Arial"/>
                </a:defRPr>
              </a:pPr>
              <a:endParaRPr/>
            </a:p>
          </p:txBody>
        </p:sp>
        <p:sp>
          <p:nvSpPr>
            <p:cNvPr id="64" name="TextBox 63"/>
            <p:cNvSpPr txBox="1"/>
            <p:nvPr/>
          </p:nvSpPr>
          <p:spPr>
            <a:xfrm>
              <a:off x="11228100" y="5404103"/>
              <a:ext cx="444276" cy="347472"/>
            </a:xfrm>
            <a:prstGeom prst="rect">
              <a:avLst/>
            </a:prstGeom>
            <a:noFill/>
          </p:spPr>
          <p:txBody>
            <a:bodyPr wrap="none" lIns="0" tIns="0" rIns="0" bIns="0" anchor="ctr">
              <a:spAutoFit/>
            </a:bodyPr>
            <a:lstStyle/>
            <a:p>
              <a:pPr algn="ctr">
                <a:defRPr sz="2400" b="0">
                  <a:solidFill>
                    <a:srgbClr val="182B3A"/>
                  </a:solidFill>
                  <a:latin typeface="Arial"/>
                </a:defRPr>
              </a:pPr>
              <a:r>
                <a:t>4</a:t>
              </a:r>
            </a:p>
          </p:txBody>
        </p:sp>
        <p:sp>
          <p:nvSpPr>
            <p:cNvPr id="65" name="TextBox 64"/>
            <p:cNvSpPr txBox="1"/>
            <p:nvPr/>
          </p:nvSpPr>
          <p:spPr>
            <a:xfrm>
              <a:off x="11228100" y="5010912"/>
              <a:ext cx="444276" cy="320040"/>
            </a:xfrm>
            <a:prstGeom prst="rect">
              <a:avLst/>
            </a:prstGeom>
            <a:noFill/>
          </p:spPr>
          <p:txBody>
            <a:bodyPr wrap="none" lIns="0" tIns="0" rIns="0" bIns="0" anchor="ctr">
              <a:spAutoFit/>
            </a:bodyPr>
            <a:lstStyle/>
            <a:p>
              <a:pPr algn="ctr">
                <a:defRPr sz="2400" b="1">
                  <a:solidFill>
                    <a:srgbClr val="754B87"/>
                  </a:solidFill>
                  <a:latin typeface="Arial"/>
                </a:defRPr>
              </a:pPr>
              <a:r>
                <a:t>1</a:t>
              </a:r>
            </a:p>
          </p:txBody>
        </p:sp>
        <p:sp>
          <p:nvSpPr>
            <p:cNvPr id="66" name="TextBox 65"/>
            <p:cNvSpPr txBox="1"/>
            <p:nvPr/>
          </p:nvSpPr>
          <p:spPr>
            <a:xfrm>
              <a:off x="11137574" y="5376672"/>
              <a:ext cx="164592" cy="164592"/>
            </a:xfrm>
            <a:prstGeom prst="rect">
              <a:avLst/>
            </a:prstGeom>
            <a:noFill/>
          </p:spPr>
          <p:txBody>
            <a:bodyPr wrap="none" lIns="0" tIns="0" rIns="0" bIns="0" anchor="ctr">
              <a:spAutoFit/>
            </a:bodyPr>
            <a:lstStyle/>
            <a:p>
              <a:pPr algn="ctr">
                <a:defRPr sz="1100" b="1">
                  <a:solidFill>
                    <a:srgbClr val="B14F00"/>
                  </a:solidFill>
                  <a:latin typeface="Arial"/>
                </a:defRPr>
              </a:pPr>
              <a:r>
                <a:t>1</a:t>
              </a:r>
            </a:p>
          </p:txBody>
        </p:sp>
        <p:sp>
          <p:nvSpPr>
            <p:cNvPr id="67" name="TextBox 66"/>
            <p:cNvSpPr txBox="1"/>
            <p:nvPr/>
          </p:nvSpPr>
          <p:spPr>
            <a:xfrm>
              <a:off x="11672376" y="5404103"/>
              <a:ext cx="444276" cy="347472"/>
            </a:xfrm>
            <a:prstGeom prst="rect">
              <a:avLst/>
            </a:prstGeom>
            <a:noFill/>
          </p:spPr>
          <p:txBody>
            <a:bodyPr wrap="none" lIns="0" tIns="0" rIns="0" bIns="0" anchor="ctr">
              <a:spAutoFit/>
            </a:bodyPr>
            <a:lstStyle/>
            <a:p>
              <a:pPr algn="ctr">
                <a:defRPr sz="2400" b="0">
                  <a:solidFill>
                    <a:srgbClr val="182B3A"/>
                  </a:solidFill>
                  <a:latin typeface="Arial"/>
                </a:defRPr>
              </a:pPr>
              <a:r>
                <a:t>5</a:t>
              </a:r>
            </a:p>
          </p:txBody>
        </p:sp>
        <p:sp>
          <p:nvSpPr>
            <p:cNvPr id="68" name="TextBox 67"/>
            <p:cNvSpPr txBox="1"/>
            <p:nvPr/>
          </p:nvSpPr>
          <p:spPr>
            <a:xfrm>
              <a:off x="11672376" y="5010912"/>
              <a:ext cx="444276" cy="320040"/>
            </a:xfrm>
            <a:prstGeom prst="rect">
              <a:avLst/>
            </a:prstGeom>
            <a:noFill/>
          </p:spPr>
          <p:txBody>
            <a:bodyPr wrap="none" lIns="0" tIns="0" rIns="0" bIns="0" anchor="ctr">
              <a:spAutoFit/>
            </a:bodyPr>
            <a:lstStyle/>
            <a:p>
              <a:pPr algn="ctr">
                <a:defRPr sz="2400" b="1">
                  <a:solidFill>
                    <a:srgbClr val="754B87"/>
                  </a:solidFill>
                  <a:latin typeface="Arial"/>
                </a:defRPr>
              </a:pPr>
              <a:r>
                <a:t>6</a:t>
              </a:r>
            </a:p>
          </p:txBody>
        </p:sp>
        <p:sp>
          <p:nvSpPr>
            <p:cNvPr id="69" name="TextBox 68"/>
            <p:cNvSpPr txBox="1"/>
            <p:nvPr/>
          </p:nvSpPr>
          <p:spPr>
            <a:xfrm>
              <a:off x="11581851" y="5376672"/>
              <a:ext cx="164592" cy="164592"/>
            </a:xfrm>
            <a:prstGeom prst="rect">
              <a:avLst/>
            </a:prstGeom>
            <a:noFill/>
          </p:spPr>
          <p:txBody>
            <a:bodyPr wrap="none" lIns="0" tIns="0" rIns="0" bIns="0" anchor="ctr">
              <a:spAutoFit/>
            </a:bodyPr>
            <a:lstStyle/>
            <a:p>
              <a:pPr algn="ctr">
                <a:defRPr sz="1100" b="1">
                  <a:solidFill>
                    <a:srgbClr val="B14F00"/>
                  </a:solidFill>
                  <a:latin typeface="Arial"/>
                </a:defRPr>
              </a:pPr>
              <a:r>
                <a:t>5</a:t>
              </a:r>
            </a:p>
          </p:txBody>
        </p:sp>
        <p:sp>
          <p:nvSpPr>
            <p:cNvPr id="70" name="TextBox 69"/>
            <p:cNvSpPr txBox="1"/>
            <p:nvPr/>
          </p:nvSpPr>
          <p:spPr>
            <a:xfrm>
              <a:off x="10783824" y="5751576"/>
              <a:ext cx="1332829" cy="164592"/>
            </a:xfrm>
            <a:prstGeom prst="rect">
              <a:avLst/>
            </a:prstGeom>
            <a:noFill/>
          </p:spPr>
          <p:txBody>
            <a:bodyPr wrap="none" lIns="0" tIns="0" rIns="0" bIns="0" anchor="ctr">
              <a:spAutoFit/>
            </a:bodyPr>
            <a:lstStyle/>
            <a:p>
              <a:pPr algn="ctr">
                <a:defRPr sz="1200" b="0">
                  <a:solidFill>
                    <a:srgbClr val="754B87"/>
                  </a:solidFill>
                  <a:latin typeface="Arial"/>
                </a:defRPr>
              </a:pPr>
              <a:r>
                <a:t>remainder 1</a:t>
              </a:r>
            </a:p>
          </p:txBody>
        </p:sp>
      </p:grpSp>
      <p:grpSp>
        <p:nvGrpSpPr>
          <p:cNvPr id="71" name="Editable lattice 17 × 40"/>
          <p:cNvGrpSpPr/>
          <p:nvPr/>
        </p:nvGrpSpPr>
        <p:grpSpPr>
          <a:xfrm>
            <a:off x="12489820" y="4809743"/>
            <a:ext cx="1271016" cy="1243584"/>
            <a:chOff x="12489820" y="4809743"/>
            <a:chExt cx="1271016" cy="1243584"/>
          </a:xfrm>
        </p:grpSpPr>
        <p:sp>
          <p:nvSpPr>
            <p:cNvPr id="72" name="TextBox 71"/>
            <p:cNvSpPr txBox="1"/>
            <p:nvPr/>
          </p:nvSpPr>
          <p:spPr>
            <a:xfrm>
              <a:off x="12800716" y="4809743"/>
              <a:ext cx="333756" cy="228600"/>
            </a:xfrm>
            <a:prstGeom prst="rect">
              <a:avLst/>
            </a:prstGeom>
            <a:noFill/>
          </p:spPr>
          <p:txBody>
            <a:bodyPr wrap="none" lIns="0" tIns="0" rIns="0" bIns="0" anchor="ctr">
              <a:spAutoFit/>
            </a:bodyPr>
            <a:lstStyle/>
            <a:p>
              <a:pPr algn="ctr">
                <a:defRPr sz="1500" b="1">
                  <a:solidFill>
                    <a:srgbClr val="754B87"/>
                  </a:solidFill>
                  <a:latin typeface="Arial"/>
                </a:defRPr>
              </a:pPr>
              <a:r>
                <a:t>1</a:t>
              </a:r>
            </a:p>
          </p:txBody>
        </p:sp>
        <p:sp>
          <p:nvSpPr>
            <p:cNvPr id="73" name="TextBox 72"/>
            <p:cNvSpPr txBox="1"/>
            <p:nvPr/>
          </p:nvSpPr>
          <p:spPr>
            <a:xfrm>
              <a:off x="13134472" y="4809743"/>
              <a:ext cx="333756" cy="228600"/>
            </a:xfrm>
            <a:prstGeom prst="rect">
              <a:avLst/>
            </a:prstGeom>
            <a:noFill/>
          </p:spPr>
          <p:txBody>
            <a:bodyPr wrap="none" lIns="0" tIns="0" rIns="0" bIns="0" anchor="ctr">
              <a:spAutoFit/>
            </a:bodyPr>
            <a:lstStyle/>
            <a:p>
              <a:pPr algn="ctr">
                <a:defRPr sz="1500" b="1">
                  <a:solidFill>
                    <a:srgbClr val="754B87"/>
                  </a:solidFill>
                  <a:latin typeface="Arial"/>
                </a:defRPr>
              </a:pPr>
              <a:r>
                <a:t>7</a:t>
              </a:r>
            </a:p>
          </p:txBody>
        </p:sp>
        <p:sp>
          <p:nvSpPr>
            <p:cNvPr id="74" name="TextBox 73"/>
            <p:cNvSpPr txBox="1"/>
            <p:nvPr/>
          </p:nvSpPr>
          <p:spPr>
            <a:xfrm>
              <a:off x="13495660" y="5065775"/>
              <a:ext cx="265176" cy="333756"/>
            </a:xfrm>
            <a:prstGeom prst="rect">
              <a:avLst/>
            </a:prstGeom>
            <a:noFill/>
          </p:spPr>
          <p:txBody>
            <a:bodyPr wrap="none" lIns="0" tIns="0" rIns="0" bIns="0" anchor="ctr">
              <a:spAutoFit/>
            </a:bodyPr>
            <a:lstStyle/>
            <a:p>
              <a:pPr algn="ctr">
                <a:defRPr sz="1500" b="1">
                  <a:solidFill>
                    <a:srgbClr val="754B87"/>
                  </a:solidFill>
                  <a:latin typeface="Arial"/>
                </a:defRPr>
              </a:pPr>
              <a:r>
                <a:t>4</a:t>
              </a:r>
            </a:p>
          </p:txBody>
        </p:sp>
        <p:sp>
          <p:nvSpPr>
            <p:cNvPr id="75" name="TextBox 74"/>
            <p:cNvSpPr txBox="1"/>
            <p:nvPr/>
          </p:nvSpPr>
          <p:spPr>
            <a:xfrm>
              <a:off x="13495660" y="5399531"/>
              <a:ext cx="265176" cy="333756"/>
            </a:xfrm>
            <a:prstGeom prst="rect">
              <a:avLst/>
            </a:prstGeom>
            <a:noFill/>
          </p:spPr>
          <p:txBody>
            <a:bodyPr wrap="none" lIns="0" tIns="0" rIns="0" bIns="0" anchor="ctr">
              <a:spAutoFit/>
            </a:bodyPr>
            <a:lstStyle/>
            <a:p>
              <a:pPr algn="ctr">
                <a:defRPr sz="1500" b="1">
                  <a:solidFill>
                    <a:srgbClr val="754B87"/>
                  </a:solidFill>
                  <a:latin typeface="Arial"/>
                </a:defRPr>
              </a:pPr>
              <a:r>
                <a:t>0</a:t>
              </a:r>
            </a:p>
          </p:txBody>
        </p:sp>
        <p:sp>
          <p:nvSpPr>
            <p:cNvPr id="76" name="Rectangle 75"/>
            <p:cNvSpPr/>
            <p:nvPr/>
          </p:nvSpPr>
          <p:spPr>
            <a:xfrm>
              <a:off x="12800716" y="5065775"/>
              <a:ext cx="333756" cy="333756"/>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cxnSp>
          <p:nvCxnSpPr>
            <p:cNvPr id="77" name="Connector 76"/>
            <p:cNvCxnSpPr/>
            <p:nvPr/>
          </p:nvCxnSpPr>
          <p:spPr>
            <a:xfrm flipV="1">
              <a:off x="12800716" y="5065775"/>
              <a:ext cx="333756" cy="333756"/>
            </a:xfrm>
            <a:prstGeom prst="line">
              <a:avLst/>
            </a:prstGeom>
            <a:ln w="10160">
              <a:solidFill>
                <a:srgbClr val="8193A0"/>
              </a:solidFill>
            </a:ln>
          </p:spPr>
          <p:style>
            <a:lnRef idx="2">
              <a:schemeClr val="accent1"/>
            </a:lnRef>
            <a:fillRef idx="0">
              <a:schemeClr val="accent1"/>
            </a:fillRef>
            <a:effectRef idx="1">
              <a:schemeClr val="accent1"/>
            </a:effectRef>
            <a:fontRef idx="minor">
              <a:schemeClr val="tx1"/>
            </a:fontRef>
          </p:style>
        </p:cxnSp>
        <p:sp>
          <p:nvSpPr>
            <p:cNvPr id="78" name="TextBox 77"/>
            <p:cNvSpPr txBox="1"/>
            <p:nvPr/>
          </p:nvSpPr>
          <p:spPr>
            <a:xfrm>
              <a:off x="12814066" y="5072451"/>
              <a:ext cx="160202" cy="156865"/>
            </a:xfrm>
            <a:prstGeom prst="rect">
              <a:avLst/>
            </a:prstGeom>
            <a:noFill/>
          </p:spPr>
          <p:txBody>
            <a:bodyPr wrap="none" lIns="0" tIns="0" rIns="0" bIns="0" anchor="ctr">
              <a:spAutoFit/>
            </a:bodyPr>
            <a:lstStyle/>
            <a:p>
              <a:pPr algn="ctr">
                <a:defRPr sz="1500" b="0">
                  <a:solidFill>
                    <a:srgbClr val="182B3A"/>
                  </a:solidFill>
                  <a:latin typeface="Arial"/>
                </a:defRPr>
              </a:pPr>
              <a:r>
                <a:t>0</a:t>
              </a:r>
            </a:p>
          </p:txBody>
        </p:sp>
        <p:sp>
          <p:nvSpPr>
            <p:cNvPr id="79" name="TextBox 78"/>
            <p:cNvSpPr txBox="1"/>
            <p:nvPr/>
          </p:nvSpPr>
          <p:spPr>
            <a:xfrm>
              <a:off x="12960918" y="5229316"/>
              <a:ext cx="160202" cy="156865"/>
            </a:xfrm>
            <a:prstGeom prst="rect">
              <a:avLst/>
            </a:prstGeom>
            <a:noFill/>
          </p:spPr>
          <p:txBody>
            <a:bodyPr wrap="none" lIns="0" tIns="0" rIns="0" bIns="0" anchor="ctr">
              <a:spAutoFit/>
            </a:bodyPr>
            <a:lstStyle/>
            <a:p>
              <a:pPr algn="ctr">
                <a:defRPr sz="1500" b="0">
                  <a:solidFill>
                    <a:srgbClr val="182B3A"/>
                  </a:solidFill>
                  <a:latin typeface="Arial"/>
                </a:defRPr>
              </a:pPr>
              <a:r>
                <a:t>4</a:t>
              </a:r>
            </a:p>
          </p:txBody>
        </p:sp>
        <p:sp>
          <p:nvSpPr>
            <p:cNvPr id="80" name="Rectangle 79"/>
            <p:cNvSpPr/>
            <p:nvPr/>
          </p:nvSpPr>
          <p:spPr>
            <a:xfrm>
              <a:off x="13134472" y="5065775"/>
              <a:ext cx="333756" cy="333756"/>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cxnSp>
          <p:nvCxnSpPr>
            <p:cNvPr id="81" name="Connector 80"/>
            <p:cNvCxnSpPr/>
            <p:nvPr/>
          </p:nvCxnSpPr>
          <p:spPr>
            <a:xfrm flipV="1">
              <a:off x="13134472" y="5065775"/>
              <a:ext cx="333756" cy="333756"/>
            </a:xfrm>
            <a:prstGeom prst="line">
              <a:avLst/>
            </a:prstGeom>
            <a:ln w="10160">
              <a:solidFill>
                <a:srgbClr val="8193A0"/>
              </a:solidFill>
            </a:ln>
          </p:spPr>
          <p:style>
            <a:lnRef idx="2">
              <a:schemeClr val="accent1"/>
            </a:lnRef>
            <a:fillRef idx="0">
              <a:schemeClr val="accent1"/>
            </a:fillRef>
            <a:effectRef idx="1">
              <a:schemeClr val="accent1"/>
            </a:effectRef>
            <a:fontRef idx="minor">
              <a:schemeClr val="tx1"/>
            </a:fontRef>
          </p:style>
        </p:cxnSp>
        <p:sp>
          <p:nvSpPr>
            <p:cNvPr id="82" name="TextBox 81"/>
            <p:cNvSpPr txBox="1"/>
            <p:nvPr/>
          </p:nvSpPr>
          <p:spPr>
            <a:xfrm>
              <a:off x="13147822" y="5072451"/>
              <a:ext cx="160202" cy="156865"/>
            </a:xfrm>
            <a:prstGeom prst="rect">
              <a:avLst/>
            </a:prstGeom>
            <a:noFill/>
          </p:spPr>
          <p:txBody>
            <a:bodyPr wrap="none" lIns="0" tIns="0" rIns="0" bIns="0" anchor="ctr">
              <a:spAutoFit/>
            </a:bodyPr>
            <a:lstStyle/>
            <a:p>
              <a:pPr algn="ctr">
                <a:defRPr sz="1500" b="0">
                  <a:solidFill>
                    <a:srgbClr val="182B3A"/>
                  </a:solidFill>
                  <a:latin typeface="Arial"/>
                </a:defRPr>
              </a:pPr>
              <a:r>
                <a:t>2</a:t>
              </a:r>
            </a:p>
          </p:txBody>
        </p:sp>
        <p:sp>
          <p:nvSpPr>
            <p:cNvPr id="83" name="TextBox 82"/>
            <p:cNvSpPr txBox="1"/>
            <p:nvPr/>
          </p:nvSpPr>
          <p:spPr>
            <a:xfrm>
              <a:off x="13294674" y="5229316"/>
              <a:ext cx="160202" cy="156865"/>
            </a:xfrm>
            <a:prstGeom prst="rect">
              <a:avLst/>
            </a:prstGeom>
            <a:noFill/>
          </p:spPr>
          <p:txBody>
            <a:bodyPr wrap="none" lIns="0" tIns="0" rIns="0" bIns="0" anchor="ctr">
              <a:spAutoFit/>
            </a:bodyPr>
            <a:lstStyle/>
            <a:p>
              <a:pPr algn="ctr">
                <a:defRPr sz="1500" b="0">
                  <a:solidFill>
                    <a:srgbClr val="182B3A"/>
                  </a:solidFill>
                  <a:latin typeface="Arial"/>
                </a:defRPr>
              </a:pPr>
              <a:r>
                <a:t>8</a:t>
              </a:r>
            </a:p>
          </p:txBody>
        </p:sp>
        <p:sp>
          <p:nvSpPr>
            <p:cNvPr id="84" name="Rectangle 83"/>
            <p:cNvSpPr/>
            <p:nvPr/>
          </p:nvSpPr>
          <p:spPr>
            <a:xfrm>
              <a:off x="12800716" y="5399531"/>
              <a:ext cx="333756" cy="333756"/>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cxnSp>
          <p:nvCxnSpPr>
            <p:cNvPr id="85" name="Connector 84"/>
            <p:cNvCxnSpPr/>
            <p:nvPr/>
          </p:nvCxnSpPr>
          <p:spPr>
            <a:xfrm flipV="1">
              <a:off x="12800716" y="5399531"/>
              <a:ext cx="333756" cy="333757"/>
            </a:xfrm>
            <a:prstGeom prst="line">
              <a:avLst/>
            </a:prstGeom>
            <a:ln w="10160">
              <a:solidFill>
                <a:srgbClr val="8193A0"/>
              </a:solidFill>
            </a:ln>
          </p:spPr>
          <p:style>
            <a:lnRef idx="2">
              <a:schemeClr val="accent1"/>
            </a:lnRef>
            <a:fillRef idx="0">
              <a:schemeClr val="accent1"/>
            </a:fillRef>
            <a:effectRef idx="1">
              <a:schemeClr val="accent1"/>
            </a:effectRef>
            <a:fontRef idx="minor">
              <a:schemeClr val="tx1"/>
            </a:fontRef>
          </p:style>
        </p:cxnSp>
        <p:sp>
          <p:nvSpPr>
            <p:cNvPr id="86" name="TextBox 85"/>
            <p:cNvSpPr txBox="1"/>
            <p:nvPr/>
          </p:nvSpPr>
          <p:spPr>
            <a:xfrm>
              <a:off x="12814066" y="5406207"/>
              <a:ext cx="160202" cy="156865"/>
            </a:xfrm>
            <a:prstGeom prst="rect">
              <a:avLst/>
            </a:prstGeom>
            <a:noFill/>
          </p:spPr>
          <p:txBody>
            <a:bodyPr wrap="none" lIns="0" tIns="0" rIns="0" bIns="0" anchor="ctr">
              <a:spAutoFit/>
            </a:bodyPr>
            <a:lstStyle/>
            <a:p>
              <a:pPr algn="ctr">
                <a:defRPr sz="1500" b="0">
                  <a:solidFill>
                    <a:srgbClr val="182B3A"/>
                  </a:solidFill>
                  <a:latin typeface="Arial"/>
                </a:defRPr>
              </a:pPr>
              <a:r>
                <a:t>0</a:t>
              </a:r>
            </a:p>
          </p:txBody>
        </p:sp>
        <p:sp>
          <p:nvSpPr>
            <p:cNvPr id="87" name="TextBox 86"/>
            <p:cNvSpPr txBox="1"/>
            <p:nvPr/>
          </p:nvSpPr>
          <p:spPr>
            <a:xfrm>
              <a:off x="12960918" y="5563072"/>
              <a:ext cx="160202" cy="156865"/>
            </a:xfrm>
            <a:prstGeom prst="rect">
              <a:avLst/>
            </a:prstGeom>
            <a:noFill/>
          </p:spPr>
          <p:txBody>
            <a:bodyPr wrap="none" lIns="0" tIns="0" rIns="0" bIns="0" anchor="ctr">
              <a:spAutoFit/>
            </a:bodyPr>
            <a:lstStyle/>
            <a:p>
              <a:pPr algn="ctr">
                <a:defRPr sz="1500" b="0">
                  <a:solidFill>
                    <a:srgbClr val="182B3A"/>
                  </a:solidFill>
                  <a:latin typeface="Arial"/>
                </a:defRPr>
              </a:pPr>
              <a:r>
                <a:t>0</a:t>
              </a:r>
            </a:p>
          </p:txBody>
        </p:sp>
        <p:sp>
          <p:nvSpPr>
            <p:cNvPr id="88" name="Rectangle 87"/>
            <p:cNvSpPr/>
            <p:nvPr/>
          </p:nvSpPr>
          <p:spPr>
            <a:xfrm>
              <a:off x="13134472" y="5399531"/>
              <a:ext cx="333756" cy="333756"/>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cxnSp>
          <p:nvCxnSpPr>
            <p:cNvPr id="89" name="Connector 88"/>
            <p:cNvCxnSpPr/>
            <p:nvPr/>
          </p:nvCxnSpPr>
          <p:spPr>
            <a:xfrm flipV="1">
              <a:off x="13134472" y="5399531"/>
              <a:ext cx="333756" cy="333757"/>
            </a:xfrm>
            <a:prstGeom prst="line">
              <a:avLst/>
            </a:prstGeom>
            <a:ln w="10160">
              <a:solidFill>
                <a:srgbClr val="8193A0"/>
              </a:solidFill>
            </a:ln>
          </p:spPr>
          <p:style>
            <a:lnRef idx="2">
              <a:schemeClr val="accent1"/>
            </a:lnRef>
            <a:fillRef idx="0">
              <a:schemeClr val="accent1"/>
            </a:fillRef>
            <a:effectRef idx="1">
              <a:schemeClr val="accent1"/>
            </a:effectRef>
            <a:fontRef idx="minor">
              <a:schemeClr val="tx1"/>
            </a:fontRef>
          </p:style>
        </p:cxnSp>
        <p:sp>
          <p:nvSpPr>
            <p:cNvPr id="90" name="TextBox 89"/>
            <p:cNvSpPr txBox="1"/>
            <p:nvPr/>
          </p:nvSpPr>
          <p:spPr>
            <a:xfrm>
              <a:off x="13147822" y="5406207"/>
              <a:ext cx="160202" cy="156865"/>
            </a:xfrm>
            <a:prstGeom prst="rect">
              <a:avLst/>
            </a:prstGeom>
            <a:noFill/>
          </p:spPr>
          <p:txBody>
            <a:bodyPr wrap="none" lIns="0" tIns="0" rIns="0" bIns="0" anchor="ctr">
              <a:spAutoFit/>
            </a:bodyPr>
            <a:lstStyle/>
            <a:p>
              <a:pPr algn="ctr">
                <a:defRPr sz="1500" b="0">
                  <a:solidFill>
                    <a:srgbClr val="182B3A"/>
                  </a:solidFill>
                  <a:latin typeface="Arial"/>
                </a:defRPr>
              </a:pPr>
              <a:r>
                <a:t>0</a:t>
              </a:r>
            </a:p>
          </p:txBody>
        </p:sp>
        <p:sp>
          <p:nvSpPr>
            <p:cNvPr id="91" name="TextBox 90"/>
            <p:cNvSpPr txBox="1"/>
            <p:nvPr/>
          </p:nvSpPr>
          <p:spPr>
            <a:xfrm>
              <a:off x="13294674" y="5563072"/>
              <a:ext cx="160202" cy="156865"/>
            </a:xfrm>
            <a:prstGeom prst="rect">
              <a:avLst/>
            </a:prstGeom>
            <a:noFill/>
          </p:spPr>
          <p:txBody>
            <a:bodyPr wrap="none" lIns="0" tIns="0" rIns="0" bIns="0" anchor="ctr">
              <a:spAutoFit/>
            </a:bodyPr>
            <a:lstStyle/>
            <a:p>
              <a:pPr algn="ctr">
                <a:defRPr sz="1500" b="0">
                  <a:solidFill>
                    <a:srgbClr val="182B3A"/>
                  </a:solidFill>
                  <a:latin typeface="Arial"/>
                </a:defRPr>
              </a:pPr>
              <a:r>
                <a:t>0</a:t>
              </a:r>
            </a:p>
          </p:txBody>
        </p:sp>
        <p:cxnSp>
          <p:nvCxnSpPr>
            <p:cNvPr id="92" name="Connector 91"/>
            <p:cNvCxnSpPr/>
            <p:nvPr/>
          </p:nvCxnSpPr>
          <p:spPr>
            <a:xfrm>
              <a:off x="12800716" y="5065775"/>
              <a:ext cx="0" cy="667513"/>
            </a:xfrm>
            <a:prstGeom prst="line">
              <a:avLst/>
            </a:prstGeom>
            <a:ln w="11430">
              <a:solidFill>
                <a:srgbClr val="182B3A"/>
              </a:solidFill>
            </a:ln>
          </p:spPr>
          <p:style>
            <a:lnRef idx="2">
              <a:schemeClr val="accent1"/>
            </a:lnRef>
            <a:fillRef idx="0">
              <a:schemeClr val="accent1"/>
            </a:fillRef>
            <a:effectRef idx="1">
              <a:schemeClr val="accent1"/>
            </a:effectRef>
            <a:fontRef idx="minor">
              <a:schemeClr val="tx1"/>
            </a:fontRef>
          </p:style>
        </p:cxnSp>
        <p:cxnSp>
          <p:nvCxnSpPr>
            <p:cNvPr id="93" name="Connector 92"/>
            <p:cNvCxnSpPr/>
            <p:nvPr/>
          </p:nvCxnSpPr>
          <p:spPr>
            <a:xfrm>
              <a:off x="13134472" y="5065775"/>
              <a:ext cx="0" cy="667513"/>
            </a:xfrm>
            <a:prstGeom prst="line">
              <a:avLst/>
            </a:prstGeom>
            <a:ln w="11430">
              <a:solidFill>
                <a:srgbClr val="182B3A"/>
              </a:solidFill>
            </a:ln>
          </p:spPr>
          <p:style>
            <a:lnRef idx="2">
              <a:schemeClr val="accent1"/>
            </a:lnRef>
            <a:fillRef idx="0">
              <a:schemeClr val="accent1"/>
            </a:fillRef>
            <a:effectRef idx="1">
              <a:schemeClr val="accent1"/>
            </a:effectRef>
            <a:fontRef idx="minor">
              <a:schemeClr val="tx1"/>
            </a:fontRef>
          </p:style>
        </p:cxnSp>
        <p:cxnSp>
          <p:nvCxnSpPr>
            <p:cNvPr id="94" name="Connector 93"/>
            <p:cNvCxnSpPr/>
            <p:nvPr/>
          </p:nvCxnSpPr>
          <p:spPr>
            <a:xfrm>
              <a:off x="13468228" y="5065775"/>
              <a:ext cx="0" cy="667513"/>
            </a:xfrm>
            <a:prstGeom prst="line">
              <a:avLst/>
            </a:prstGeom>
            <a:ln w="11430">
              <a:solidFill>
                <a:srgbClr val="182B3A"/>
              </a:solidFill>
            </a:ln>
          </p:spPr>
          <p:style>
            <a:lnRef idx="2">
              <a:schemeClr val="accent1"/>
            </a:lnRef>
            <a:fillRef idx="0">
              <a:schemeClr val="accent1"/>
            </a:fillRef>
            <a:effectRef idx="1">
              <a:schemeClr val="accent1"/>
            </a:effectRef>
            <a:fontRef idx="minor">
              <a:schemeClr val="tx1"/>
            </a:fontRef>
          </p:style>
        </p:cxnSp>
        <p:cxnSp>
          <p:nvCxnSpPr>
            <p:cNvPr id="95" name="Connector 94"/>
            <p:cNvCxnSpPr/>
            <p:nvPr/>
          </p:nvCxnSpPr>
          <p:spPr>
            <a:xfrm>
              <a:off x="12800716" y="5065775"/>
              <a:ext cx="667512" cy="0"/>
            </a:xfrm>
            <a:prstGeom prst="line">
              <a:avLst/>
            </a:prstGeom>
            <a:ln w="11430">
              <a:solidFill>
                <a:srgbClr val="182B3A"/>
              </a:solidFill>
            </a:ln>
          </p:spPr>
          <p:style>
            <a:lnRef idx="2">
              <a:schemeClr val="accent1"/>
            </a:lnRef>
            <a:fillRef idx="0">
              <a:schemeClr val="accent1"/>
            </a:fillRef>
            <a:effectRef idx="1">
              <a:schemeClr val="accent1"/>
            </a:effectRef>
            <a:fontRef idx="minor">
              <a:schemeClr val="tx1"/>
            </a:fontRef>
          </p:style>
        </p:cxnSp>
        <p:cxnSp>
          <p:nvCxnSpPr>
            <p:cNvPr id="96" name="Connector 95"/>
            <p:cNvCxnSpPr/>
            <p:nvPr/>
          </p:nvCxnSpPr>
          <p:spPr>
            <a:xfrm>
              <a:off x="12800716" y="5399531"/>
              <a:ext cx="667512" cy="0"/>
            </a:xfrm>
            <a:prstGeom prst="line">
              <a:avLst/>
            </a:prstGeom>
            <a:ln w="11430">
              <a:solidFill>
                <a:srgbClr val="182B3A"/>
              </a:solidFill>
            </a:ln>
          </p:spPr>
          <p:style>
            <a:lnRef idx="2">
              <a:schemeClr val="accent1"/>
            </a:lnRef>
            <a:fillRef idx="0">
              <a:schemeClr val="accent1"/>
            </a:fillRef>
            <a:effectRef idx="1">
              <a:schemeClr val="accent1"/>
            </a:effectRef>
            <a:fontRef idx="minor">
              <a:schemeClr val="tx1"/>
            </a:fontRef>
          </p:style>
        </p:cxnSp>
        <p:cxnSp>
          <p:nvCxnSpPr>
            <p:cNvPr id="97" name="Connector 96"/>
            <p:cNvCxnSpPr/>
            <p:nvPr/>
          </p:nvCxnSpPr>
          <p:spPr>
            <a:xfrm>
              <a:off x="12800716" y="5733288"/>
              <a:ext cx="667512" cy="0"/>
            </a:xfrm>
            <a:prstGeom prst="line">
              <a:avLst/>
            </a:prstGeom>
            <a:ln w="11430">
              <a:solidFill>
                <a:srgbClr val="182B3A"/>
              </a:solidFill>
            </a:ln>
          </p:spPr>
          <p:style>
            <a:lnRef idx="2">
              <a:schemeClr val="accent1"/>
            </a:lnRef>
            <a:fillRef idx="0">
              <a:schemeClr val="accent1"/>
            </a:fillRef>
            <a:effectRef idx="1">
              <a:schemeClr val="accent1"/>
            </a:effectRef>
            <a:fontRef idx="minor">
              <a:schemeClr val="tx1"/>
            </a:fontRef>
          </p:style>
        </p:cxnSp>
        <p:sp>
          <p:nvSpPr>
            <p:cNvPr id="98" name="TextBox 97"/>
            <p:cNvSpPr txBox="1"/>
            <p:nvPr/>
          </p:nvSpPr>
          <p:spPr>
            <a:xfrm>
              <a:off x="13134472" y="5815583"/>
              <a:ext cx="333756" cy="237744"/>
            </a:xfrm>
            <a:prstGeom prst="rect">
              <a:avLst/>
            </a:prstGeom>
            <a:noFill/>
          </p:spPr>
          <p:txBody>
            <a:bodyPr wrap="none" lIns="0" tIns="0" rIns="0" bIns="0" anchor="ctr">
              <a:spAutoFit/>
            </a:bodyPr>
            <a:lstStyle/>
            <a:p>
              <a:pPr algn="ctr">
                <a:defRPr sz="1600" b="1">
                  <a:solidFill>
                    <a:srgbClr val="754B87"/>
                  </a:solidFill>
                  <a:latin typeface="Arial"/>
                </a:defRPr>
              </a:pPr>
              <a:r>
                <a:t>0</a:t>
              </a:r>
            </a:p>
          </p:txBody>
        </p:sp>
        <p:sp>
          <p:nvSpPr>
            <p:cNvPr id="99" name="TextBox 98"/>
            <p:cNvSpPr txBox="1"/>
            <p:nvPr/>
          </p:nvSpPr>
          <p:spPr>
            <a:xfrm>
              <a:off x="12800716" y="5815583"/>
              <a:ext cx="333756" cy="237744"/>
            </a:xfrm>
            <a:prstGeom prst="rect">
              <a:avLst/>
            </a:prstGeom>
            <a:noFill/>
          </p:spPr>
          <p:txBody>
            <a:bodyPr wrap="none" lIns="0" tIns="0" rIns="0" bIns="0" anchor="ctr">
              <a:spAutoFit/>
            </a:bodyPr>
            <a:lstStyle/>
            <a:p>
              <a:pPr algn="ctr">
                <a:defRPr sz="1600" b="1">
                  <a:solidFill>
                    <a:srgbClr val="754B87"/>
                  </a:solidFill>
                  <a:latin typeface="Arial"/>
                </a:defRPr>
              </a:pPr>
              <a:r>
                <a:t>8</a:t>
              </a:r>
            </a:p>
          </p:txBody>
        </p:sp>
        <p:sp>
          <p:nvSpPr>
            <p:cNvPr id="100" name="TextBox 99"/>
            <p:cNvSpPr txBox="1"/>
            <p:nvPr/>
          </p:nvSpPr>
          <p:spPr>
            <a:xfrm>
              <a:off x="12489820" y="5399531"/>
              <a:ext cx="265176" cy="333756"/>
            </a:xfrm>
            <a:prstGeom prst="rect">
              <a:avLst/>
            </a:prstGeom>
            <a:noFill/>
          </p:spPr>
          <p:txBody>
            <a:bodyPr wrap="none" lIns="0" tIns="0" rIns="0" bIns="0" anchor="ctr">
              <a:spAutoFit/>
            </a:bodyPr>
            <a:lstStyle/>
            <a:p>
              <a:pPr algn="ctr">
                <a:defRPr sz="1600" b="1">
                  <a:solidFill>
                    <a:srgbClr val="754B87"/>
                  </a:solidFill>
                  <a:latin typeface="Arial"/>
                </a:defRPr>
              </a:pPr>
              <a:r>
                <a:t>6</a:t>
              </a:r>
            </a:p>
          </p:txBody>
        </p:sp>
        <p:sp>
          <p:nvSpPr>
            <p:cNvPr id="101" name="TextBox 100"/>
            <p:cNvSpPr txBox="1"/>
            <p:nvPr/>
          </p:nvSpPr>
          <p:spPr>
            <a:xfrm>
              <a:off x="12489820" y="5065775"/>
              <a:ext cx="265176" cy="333756"/>
            </a:xfrm>
            <a:prstGeom prst="rect">
              <a:avLst/>
            </a:prstGeom>
            <a:noFill/>
          </p:spPr>
          <p:txBody>
            <a:bodyPr wrap="none" lIns="0" tIns="0" rIns="0" bIns="0" anchor="ctr">
              <a:spAutoFit/>
            </a:bodyPr>
            <a:lstStyle/>
            <a:p>
              <a:pPr algn="ctr">
                <a:defRPr sz="1600" b="1">
                  <a:solidFill>
                    <a:srgbClr val="8193A0"/>
                  </a:solidFill>
                  <a:latin typeface="Arial"/>
                </a:defRPr>
              </a:pPr>
              <a:r>
                <a:t>0</a:t>
              </a:r>
            </a:p>
          </p:txBody>
        </p:sp>
      </p:grpSp>
      <p:sp>
        <p:nvSpPr>
          <p:cNvPr id="102" name="Rectangle 101"/>
          <p:cNvSpPr/>
          <p:nvPr/>
        </p:nvSpPr>
        <p:spPr>
          <a:xfrm>
            <a:off x="384048" y="6062472"/>
            <a:ext cx="2103120" cy="960120"/>
          </a:xfrm>
          <a:prstGeom prst="rect">
            <a:avLst/>
          </a:prstGeom>
          <a:solidFill>
            <a:srgbClr val="E8EDF1"/>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03" name="TextBox 102"/>
          <p:cNvSpPr txBox="1"/>
          <p:nvPr/>
        </p:nvSpPr>
        <p:spPr>
          <a:xfrm>
            <a:off x="448056" y="6153912"/>
            <a:ext cx="1975103" cy="777240"/>
          </a:xfrm>
          <a:prstGeom prst="rect">
            <a:avLst/>
          </a:prstGeom>
          <a:noFill/>
        </p:spPr>
        <p:txBody>
          <a:bodyPr wrap="square" tIns="36576" bIns="36576" anchor="t">
            <a:spAutoFit/>
          </a:bodyPr>
          <a:lstStyle/>
          <a:p>
            <a:pPr>
              <a:lnSpc>
                <a:spcPts val="1944"/>
              </a:lnSpc>
              <a:spcBef>
                <a:spcPts val="0"/>
              </a:spcBef>
              <a:spcAft>
                <a:spcPts val="0"/>
              </a:spcAft>
              <a:defRPr sz="1800" b="1">
                <a:solidFill>
                  <a:srgbClr val="182B3A"/>
                </a:solidFill>
                <a:latin typeface="Arial"/>
              </a:defRPr>
            </a:pPr>
            <a:r>
              <a:t>3. Ballpark Check &amp; Math</a:t>
            </a:r>
          </a:p>
        </p:txBody>
      </p:sp>
      <p:sp>
        <p:nvSpPr>
          <p:cNvPr id="104" name="Rectangle 103"/>
          <p:cNvSpPr/>
          <p:nvPr/>
        </p:nvSpPr>
        <p:spPr>
          <a:xfrm>
            <a:off x="2487168" y="6062472"/>
            <a:ext cx="3919727" cy="96012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05" name="TextBox 104"/>
          <p:cNvSpPr txBox="1"/>
          <p:nvPr/>
        </p:nvSpPr>
        <p:spPr>
          <a:xfrm>
            <a:off x="2551175" y="6126480"/>
            <a:ext cx="3791712" cy="795528"/>
          </a:xfrm>
          <a:prstGeom prst="rect">
            <a:avLst/>
          </a:prstGeom>
          <a:noFill/>
        </p:spPr>
        <p:txBody>
          <a:bodyPr wrap="square" tIns="36576" bIns="36576" anchor="t">
            <a:spAutoFit/>
          </a:bodyPr>
          <a:lstStyle/>
          <a:p>
            <a:pPr>
              <a:lnSpc>
                <a:spcPts val="1836"/>
              </a:lnSpc>
              <a:spcBef>
                <a:spcPts val="0"/>
              </a:spcBef>
              <a:spcAft>
                <a:spcPts val="0"/>
              </a:spcAft>
              <a:defRPr sz="1700" b="0">
                <a:solidFill>
                  <a:srgbClr val="182B3A"/>
                </a:solidFill>
                <a:latin typeface="Arial"/>
              </a:defRPr>
            </a:pPr>
            <a:r>
              <a:t>80 ÷ 4 = 20.</a:t>
            </a:r>
          </a:p>
          <a:p>
            <a:pPr>
              <a:lnSpc>
                <a:spcPts val="1836"/>
              </a:lnSpc>
              <a:spcBef>
                <a:spcPts val="0"/>
              </a:spcBef>
              <a:spcAft>
                <a:spcPts val="0"/>
              </a:spcAft>
              <a:defRPr sz="1700" b="0">
                <a:solidFill>
                  <a:srgbClr val="182B3A"/>
                </a:solidFill>
                <a:latin typeface="Arial"/>
              </a:defRPr>
            </a:pPr>
            <a:r>
              <a:t>21 is close to 20.</a:t>
            </a:r>
          </a:p>
        </p:txBody>
      </p:sp>
      <p:sp>
        <p:nvSpPr>
          <p:cNvPr id="106" name="Rectangle 105"/>
          <p:cNvSpPr/>
          <p:nvPr/>
        </p:nvSpPr>
        <p:spPr>
          <a:xfrm>
            <a:off x="6406895" y="6062472"/>
            <a:ext cx="3919727" cy="96012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07" name="TextBox 106"/>
          <p:cNvSpPr txBox="1"/>
          <p:nvPr/>
        </p:nvSpPr>
        <p:spPr>
          <a:xfrm>
            <a:off x="6470904" y="6126480"/>
            <a:ext cx="3791712" cy="795528"/>
          </a:xfrm>
          <a:prstGeom prst="rect">
            <a:avLst/>
          </a:prstGeom>
          <a:noFill/>
        </p:spPr>
        <p:txBody>
          <a:bodyPr wrap="square" tIns="36576" bIns="36576" anchor="t">
            <a:spAutoFit/>
          </a:bodyPr>
          <a:lstStyle/>
          <a:p>
            <a:pPr>
              <a:lnSpc>
                <a:spcPts val="1836"/>
              </a:lnSpc>
              <a:spcBef>
                <a:spcPts val="0"/>
              </a:spcBef>
              <a:spcAft>
                <a:spcPts val="0"/>
              </a:spcAft>
              <a:defRPr sz="1700" b="0">
                <a:solidFill>
                  <a:srgbClr val="182B3A"/>
                </a:solidFill>
                <a:latin typeface="Arial"/>
              </a:defRPr>
            </a:pPr>
            <a:r>
              <a:t>120 ÷ 6 = 20.</a:t>
            </a:r>
          </a:p>
          <a:p>
            <a:pPr>
              <a:lnSpc>
                <a:spcPts val="1836"/>
              </a:lnSpc>
              <a:spcBef>
                <a:spcPts val="0"/>
              </a:spcBef>
              <a:spcAft>
                <a:spcPts val="0"/>
              </a:spcAft>
              <a:defRPr sz="1700" b="0">
                <a:solidFill>
                  <a:srgbClr val="182B3A"/>
                </a:solidFill>
                <a:latin typeface="Arial"/>
              </a:defRPr>
            </a:pPr>
            <a:r>
              <a:t>21 full packs is reasonable.</a:t>
            </a:r>
          </a:p>
        </p:txBody>
      </p:sp>
      <p:sp>
        <p:nvSpPr>
          <p:cNvPr id="108" name="Rectangle 107"/>
          <p:cNvSpPr/>
          <p:nvPr/>
        </p:nvSpPr>
        <p:spPr>
          <a:xfrm>
            <a:off x="10326624" y="6062472"/>
            <a:ext cx="3919727" cy="96012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09" name="TextBox 108"/>
          <p:cNvSpPr txBox="1"/>
          <p:nvPr/>
        </p:nvSpPr>
        <p:spPr>
          <a:xfrm>
            <a:off x="10390632" y="6126480"/>
            <a:ext cx="3791712" cy="795528"/>
          </a:xfrm>
          <a:prstGeom prst="rect">
            <a:avLst/>
          </a:prstGeom>
          <a:noFill/>
        </p:spPr>
        <p:txBody>
          <a:bodyPr wrap="square" tIns="36576" bIns="36576" anchor="t">
            <a:spAutoFit/>
          </a:bodyPr>
          <a:lstStyle/>
          <a:p>
            <a:pPr>
              <a:lnSpc>
                <a:spcPts val="1836"/>
              </a:lnSpc>
              <a:spcBef>
                <a:spcPts val="0"/>
              </a:spcBef>
              <a:spcAft>
                <a:spcPts val="0"/>
              </a:spcAft>
              <a:defRPr sz="1700" b="0">
                <a:solidFill>
                  <a:srgbClr val="182B3A"/>
                </a:solidFill>
                <a:latin typeface="Arial"/>
              </a:defRPr>
            </a:pPr>
            <a:r>
              <a:t>150 ÷ 10 ≈ 15; 15 × 40 = 600.</a:t>
            </a:r>
          </a:p>
          <a:p>
            <a:pPr>
              <a:lnSpc>
                <a:spcPts val="1836"/>
              </a:lnSpc>
              <a:spcBef>
                <a:spcPts val="0"/>
              </a:spcBef>
              <a:spcAft>
                <a:spcPts val="0"/>
              </a:spcAft>
              <a:defRPr sz="1700" b="0">
                <a:solidFill>
                  <a:srgbClr val="182B3A"/>
                </a:solidFill>
                <a:latin typeface="Arial"/>
              </a:defRPr>
            </a:pPr>
            <a:r>
              <a:t>£680 is reasonable: more buses are needed.</a:t>
            </a:r>
          </a:p>
        </p:txBody>
      </p:sp>
      <p:sp>
        <p:nvSpPr>
          <p:cNvPr id="110" name="Rectangle 109"/>
          <p:cNvSpPr/>
          <p:nvPr/>
        </p:nvSpPr>
        <p:spPr>
          <a:xfrm>
            <a:off x="384048" y="7022592"/>
            <a:ext cx="2103120" cy="640080"/>
          </a:xfrm>
          <a:prstGeom prst="rect">
            <a:avLst/>
          </a:prstGeom>
          <a:solidFill>
            <a:srgbClr val="E8EDF1"/>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11" name="TextBox 110"/>
          <p:cNvSpPr txBox="1"/>
          <p:nvPr/>
        </p:nvSpPr>
        <p:spPr>
          <a:xfrm>
            <a:off x="448056" y="7114031"/>
            <a:ext cx="1975103" cy="457199"/>
          </a:xfrm>
          <a:prstGeom prst="rect">
            <a:avLst/>
          </a:prstGeom>
          <a:noFill/>
        </p:spPr>
        <p:txBody>
          <a:bodyPr wrap="square" tIns="36576" bIns="36576" anchor="t">
            <a:spAutoFit/>
          </a:bodyPr>
          <a:lstStyle/>
          <a:p>
            <a:pPr>
              <a:lnSpc>
                <a:spcPts val="1944"/>
              </a:lnSpc>
              <a:spcBef>
                <a:spcPts val="0"/>
              </a:spcBef>
              <a:spcAft>
                <a:spcPts val="0"/>
              </a:spcAft>
              <a:defRPr sz="1800" b="1">
                <a:solidFill>
                  <a:srgbClr val="182B3A"/>
                </a:solidFill>
                <a:latin typeface="Arial"/>
              </a:defRPr>
            </a:pPr>
            <a:r>
              <a:t>4. Final Answer</a:t>
            </a:r>
          </a:p>
        </p:txBody>
      </p:sp>
      <p:sp>
        <p:nvSpPr>
          <p:cNvPr id="112" name="Rectangle 111"/>
          <p:cNvSpPr/>
          <p:nvPr/>
        </p:nvSpPr>
        <p:spPr>
          <a:xfrm>
            <a:off x="2487168" y="7022592"/>
            <a:ext cx="3919727" cy="64008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13" name="TextBox 112"/>
          <p:cNvSpPr txBox="1"/>
          <p:nvPr/>
        </p:nvSpPr>
        <p:spPr>
          <a:xfrm>
            <a:off x="2551175" y="7086600"/>
            <a:ext cx="3791712" cy="475488"/>
          </a:xfrm>
          <a:prstGeom prst="rect">
            <a:avLst/>
          </a:prstGeom>
          <a:noFill/>
        </p:spPr>
        <p:txBody>
          <a:bodyPr wrap="square" tIns="36576" bIns="36576" anchor="t">
            <a:spAutoFit/>
          </a:bodyPr>
          <a:lstStyle/>
          <a:p>
            <a:pPr>
              <a:lnSpc>
                <a:spcPts val="2160"/>
              </a:lnSpc>
              <a:spcBef>
                <a:spcPts val="0"/>
              </a:spcBef>
              <a:spcAft>
                <a:spcPts val="0"/>
              </a:spcAft>
              <a:defRPr sz="2000" b="0">
                <a:solidFill>
                  <a:srgbClr val="182B3A"/>
                </a:solidFill>
                <a:latin typeface="Arial"/>
              </a:defRPr>
            </a:pPr>
            <a:r>
              <a:t>21 tins per box</a:t>
            </a:r>
          </a:p>
        </p:txBody>
      </p:sp>
      <p:sp>
        <p:nvSpPr>
          <p:cNvPr id="114" name="Rectangle 113"/>
          <p:cNvSpPr/>
          <p:nvPr/>
        </p:nvSpPr>
        <p:spPr>
          <a:xfrm>
            <a:off x="6406895" y="7022592"/>
            <a:ext cx="3919727" cy="64008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15" name="TextBox 114"/>
          <p:cNvSpPr txBox="1"/>
          <p:nvPr/>
        </p:nvSpPr>
        <p:spPr>
          <a:xfrm>
            <a:off x="6470904" y="7086600"/>
            <a:ext cx="3791712" cy="475488"/>
          </a:xfrm>
          <a:prstGeom prst="rect">
            <a:avLst/>
          </a:prstGeom>
          <a:noFill/>
        </p:spPr>
        <p:txBody>
          <a:bodyPr wrap="square" tIns="36576" bIns="36576" anchor="t">
            <a:spAutoFit/>
          </a:bodyPr>
          <a:lstStyle/>
          <a:p>
            <a:pPr>
              <a:lnSpc>
                <a:spcPts val="2160"/>
              </a:lnSpc>
              <a:spcBef>
                <a:spcPts val="0"/>
              </a:spcBef>
              <a:spcAft>
                <a:spcPts val="0"/>
              </a:spcAft>
              <a:defRPr sz="2000" b="0">
                <a:solidFill>
                  <a:srgbClr val="182B3A"/>
                </a:solidFill>
                <a:latin typeface="Arial"/>
              </a:defRPr>
            </a:pPr>
            <a:r>
              <a:t>21 full packs; 4 biscuits left</a:t>
            </a:r>
          </a:p>
        </p:txBody>
      </p:sp>
      <p:sp>
        <p:nvSpPr>
          <p:cNvPr id="116" name="Rectangle 115"/>
          <p:cNvSpPr/>
          <p:nvPr/>
        </p:nvSpPr>
        <p:spPr>
          <a:xfrm>
            <a:off x="10326624" y="7022592"/>
            <a:ext cx="3919727" cy="64008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17" name="TextBox 116"/>
          <p:cNvSpPr txBox="1"/>
          <p:nvPr/>
        </p:nvSpPr>
        <p:spPr>
          <a:xfrm>
            <a:off x="10390632" y="7086600"/>
            <a:ext cx="3791712" cy="475488"/>
          </a:xfrm>
          <a:prstGeom prst="rect">
            <a:avLst/>
          </a:prstGeom>
          <a:noFill/>
        </p:spPr>
        <p:txBody>
          <a:bodyPr wrap="square" tIns="36576" bIns="36576" anchor="t">
            <a:spAutoFit/>
          </a:bodyPr>
          <a:lstStyle/>
          <a:p>
            <a:pPr>
              <a:lnSpc>
                <a:spcPts val="2160"/>
              </a:lnSpc>
              <a:spcBef>
                <a:spcPts val="0"/>
              </a:spcBef>
              <a:spcAft>
                <a:spcPts val="0"/>
              </a:spcAft>
              <a:defRPr sz="2000" b="0">
                <a:solidFill>
                  <a:srgbClr val="182B3A"/>
                </a:solidFill>
                <a:latin typeface="Arial"/>
              </a:defRPr>
            </a:pPr>
            <a:r>
              <a:t>£680 to hire 17 minibuses</a:t>
            </a:r>
          </a:p>
        </p:txBody>
      </p:sp>
    </p:spTree>
  </p:cSld>
  <p:clrMapOvr>
    <a:masterClrMapping/>
  </p:clrMapOvr>
</p:sld>
</file>

<file path=ppt/slides/slide52.xml><?xml version="1.0" encoding="utf-8"?>
<p:sld xmlns:a="http://schemas.openxmlformats.org/drawingml/2006/main" xmlns:p="http://schemas.openxmlformats.org/presentationml/2006/main" xmlns:r="http://schemas.openxmlformats.org/officeDocument/2006/relationships">
  <p:cSld>
    <p:bg>
      <p:bgPr>
        <a:solidFill>
          <a:srgbClr val="F7F8FA"/>
        </a:solidFill>
        <a:effectLst/>
      </p:bgPr>
    </p:bg>
    <p:spTree>
      <p:nvGrpSpPr>
        <p:cNvPr id="1" name=""/>
        <p:cNvGrpSpPr/>
        <p:nvPr/>
      </p:nvGrpSpPr>
      <p:grpSpPr/>
      <p:sp>
        <p:nvSpPr>
          <p:cNvPr id="2" name="Rectangle 1"/>
          <p:cNvSpPr/>
          <p:nvPr/>
        </p:nvSpPr>
        <p:spPr>
          <a:xfrm>
            <a:off x="0" y="0"/>
            <a:ext cx="14630400" cy="91440"/>
          </a:xfrm>
          <a:prstGeom prst="rect">
            <a:avLst/>
          </a:prstGeom>
          <a:solidFill>
            <a:srgbClr val="754B87"/>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3" name="TextBox 2"/>
          <p:cNvSpPr txBox="1"/>
          <p:nvPr/>
        </p:nvSpPr>
        <p:spPr>
          <a:xfrm>
            <a:off x="384048" y="219456"/>
            <a:ext cx="12435840" cy="448056"/>
          </a:xfrm>
          <a:prstGeom prst="rect">
            <a:avLst/>
          </a:prstGeom>
          <a:noFill/>
        </p:spPr>
        <p:txBody>
          <a:bodyPr wrap="square" tIns="36576" bIns="36576" anchor="t">
            <a:spAutoFit/>
          </a:bodyPr>
          <a:lstStyle/>
          <a:p>
            <a:pPr>
              <a:lnSpc>
                <a:spcPts val="3132"/>
              </a:lnSpc>
              <a:spcBef>
                <a:spcPts val="0"/>
              </a:spcBef>
              <a:spcAft>
                <a:spcPts val="0"/>
              </a:spcAft>
              <a:defRPr sz="2900" b="1">
                <a:solidFill>
                  <a:srgbClr val="182B3A"/>
                </a:solidFill>
                <a:latin typeface="Arial"/>
              </a:defRPr>
            </a:pPr>
            <a:r>
              <a:t>Application to Exam Problems</a:t>
            </a:r>
          </a:p>
        </p:txBody>
      </p:sp>
      <p:sp>
        <p:nvSpPr>
          <p:cNvPr id="4" name="TextBox 3"/>
          <p:cNvSpPr txBox="1"/>
          <p:nvPr/>
        </p:nvSpPr>
        <p:spPr>
          <a:xfrm>
            <a:off x="384048" y="713232"/>
            <a:ext cx="13533120" cy="274320"/>
          </a:xfrm>
          <a:prstGeom prst="rect">
            <a:avLst/>
          </a:prstGeom>
          <a:noFill/>
        </p:spPr>
        <p:txBody>
          <a:bodyPr wrap="square" tIns="36576" bIns="36576" anchor="t">
            <a:spAutoFit/>
          </a:bodyPr>
          <a:lstStyle/>
          <a:p>
            <a:pPr>
              <a:lnSpc>
                <a:spcPts val="1512"/>
              </a:lnSpc>
              <a:spcBef>
                <a:spcPts val="0"/>
              </a:spcBef>
              <a:spcAft>
                <a:spcPts val="0"/>
              </a:spcAft>
              <a:defRPr sz="1400" b="0">
                <a:solidFill>
                  <a:srgbClr val="526472"/>
                </a:solidFill>
                <a:latin typeface="Arial"/>
              </a:defRPr>
            </a:pPr>
            <a:r>
              <a:t>Step-by-step practice 1  •  Decide which calculation(s) each question needs.</a:t>
            </a:r>
          </a:p>
        </p:txBody>
      </p:sp>
      <p:sp>
        <p:nvSpPr>
          <p:cNvPr id="5" name="TextBox 4"/>
          <p:cNvSpPr txBox="1"/>
          <p:nvPr/>
        </p:nvSpPr>
        <p:spPr>
          <a:xfrm>
            <a:off x="384048" y="7882127"/>
            <a:ext cx="10058400" cy="210312"/>
          </a:xfrm>
          <a:prstGeom prst="rect">
            <a:avLst/>
          </a:prstGeom>
          <a:noFill/>
        </p:spPr>
        <p:txBody>
          <a:bodyPr wrap="square" tIns="36576" bIns="36576" anchor="t">
            <a:spAutoFit/>
          </a:bodyPr>
          <a:lstStyle/>
          <a:p>
            <a:pPr>
              <a:lnSpc>
                <a:spcPts val="1188"/>
              </a:lnSpc>
              <a:spcBef>
                <a:spcPts val="0"/>
              </a:spcBef>
              <a:spcAft>
                <a:spcPts val="0"/>
              </a:spcAft>
              <a:defRPr sz="1100" b="0">
                <a:solidFill>
                  <a:srgbClr val="526472"/>
                </a:solidFill>
                <a:latin typeface="Arial"/>
              </a:defRPr>
            </a:pPr>
            <a:r>
              <a:t>GCSE Maths revision  •  Record your working in your booklet or webapp.</a:t>
            </a:r>
          </a:p>
        </p:txBody>
      </p:sp>
      <p:sp>
        <p:nvSpPr>
          <p:cNvPr id="6" name="TextBox 5"/>
          <p:cNvSpPr txBox="1"/>
          <p:nvPr/>
        </p:nvSpPr>
        <p:spPr>
          <a:xfrm>
            <a:off x="11430000" y="7863840"/>
            <a:ext cx="2788920" cy="228600"/>
          </a:xfrm>
          <a:prstGeom prst="rect">
            <a:avLst/>
          </a:prstGeom>
          <a:noFill/>
        </p:spPr>
        <p:txBody>
          <a:bodyPr wrap="square" tIns="36576" bIns="36576" anchor="t">
            <a:spAutoFit/>
          </a:bodyPr>
          <a:lstStyle/>
          <a:p>
            <a:pPr>
              <a:lnSpc>
                <a:spcPts val="1188"/>
              </a:lnSpc>
              <a:spcBef>
                <a:spcPts val="0"/>
              </a:spcBef>
              <a:spcAft>
                <a:spcPts val="0"/>
              </a:spcAft>
              <a:defRPr sz="1100" b="0">
                <a:solidFill>
                  <a:srgbClr val="526472"/>
                </a:solidFill>
                <a:latin typeface="Arial"/>
              </a:defRPr>
            </a:pPr>
            <a:r>
              <a:t>M03-S02  •  Topic slide 3</a:t>
            </a:r>
          </a:p>
        </p:txBody>
      </p:sp>
      <p:sp>
        <p:nvSpPr>
          <p:cNvPr id="7" name="Rectangle 6"/>
          <p:cNvSpPr/>
          <p:nvPr/>
        </p:nvSpPr>
        <p:spPr>
          <a:xfrm>
            <a:off x="2487168" y="1124712"/>
            <a:ext cx="3919727" cy="438912"/>
          </a:xfrm>
          <a:prstGeom prst="rect">
            <a:avLst/>
          </a:prstGeom>
          <a:solidFill>
            <a:srgbClr val="176B73"/>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8" name="TextBox 7"/>
          <p:cNvSpPr txBox="1"/>
          <p:nvPr/>
        </p:nvSpPr>
        <p:spPr>
          <a:xfrm>
            <a:off x="2542032" y="1152144"/>
            <a:ext cx="3809999" cy="338328"/>
          </a:xfrm>
          <a:prstGeom prst="rect">
            <a:avLst/>
          </a:prstGeom>
          <a:noFill/>
        </p:spPr>
        <p:txBody>
          <a:bodyPr wrap="square" tIns="36576" bIns="36576" anchor="t">
            <a:spAutoFit/>
          </a:bodyPr>
          <a:lstStyle/>
          <a:p>
            <a:pPr>
              <a:lnSpc>
                <a:spcPts val="2160"/>
              </a:lnSpc>
              <a:spcBef>
                <a:spcPts val="0"/>
              </a:spcBef>
              <a:spcAft>
                <a:spcPts val="0"/>
              </a:spcAft>
              <a:defRPr sz="2000" b="1">
                <a:solidFill>
                  <a:srgbClr val="FFFFFF"/>
                </a:solidFill>
                <a:latin typeface="Arial"/>
              </a:defRPr>
            </a:pPr>
            <a:r>
              <a:t>Start</a:t>
            </a:r>
          </a:p>
        </p:txBody>
      </p:sp>
      <p:sp>
        <p:nvSpPr>
          <p:cNvPr id="9" name="Rectangle 8"/>
          <p:cNvSpPr/>
          <p:nvPr/>
        </p:nvSpPr>
        <p:spPr>
          <a:xfrm>
            <a:off x="6406895" y="1124712"/>
            <a:ext cx="3919727" cy="438912"/>
          </a:xfrm>
          <a:prstGeom prst="rect">
            <a:avLst/>
          </a:prstGeom>
          <a:solidFill>
            <a:srgbClr val="3559A2"/>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0" name="TextBox 9"/>
          <p:cNvSpPr txBox="1"/>
          <p:nvPr/>
        </p:nvSpPr>
        <p:spPr>
          <a:xfrm>
            <a:off x="6461759" y="1152144"/>
            <a:ext cx="3809999" cy="338328"/>
          </a:xfrm>
          <a:prstGeom prst="rect">
            <a:avLst/>
          </a:prstGeom>
          <a:noFill/>
        </p:spPr>
        <p:txBody>
          <a:bodyPr wrap="square" tIns="36576" bIns="36576" anchor="t">
            <a:spAutoFit/>
          </a:bodyPr>
          <a:lstStyle/>
          <a:p>
            <a:pPr>
              <a:lnSpc>
                <a:spcPts val="2160"/>
              </a:lnSpc>
              <a:spcBef>
                <a:spcPts val="0"/>
              </a:spcBef>
              <a:spcAft>
                <a:spcPts val="0"/>
              </a:spcAft>
              <a:defRPr sz="2000" b="1">
                <a:solidFill>
                  <a:srgbClr val="FFFFFF"/>
                </a:solidFill>
                <a:latin typeface="Arial"/>
              </a:defRPr>
            </a:pPr>
            <a:r>
              <a:t>Build</a:t>
            </a:r>
          </a:p>
        </p:txBody>
      </p:sp>
      <p:sp>
        <p:nvSpPr>
          <p:cNvPr id="11" name="Rectangle 10"/>
          <p:cNvSpPr/>
          <p:nvPr/>
        </p:nvSpPr>
        <p:spPr>
          <a:xfrm>
            <a:off x="10326624" y="1124712"/>
            <a:ext cx="3919727" cy="438912"/>
          </a:xfrm>
          <a:prstGeom prst="rect">
            <a:avLst/>
          </a:prstGeom>
          <a:solidFill>
            <a:srgbClr val="754B87"/>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2" name="TextBox 11"/>
          <p:cNvSpPr txBox="1"/>
          <p:nvPr/>
        </p:nvSpPr>
        <p:spPr>
          <a:xfrm>
            <a:off x="10381488" y="1152144"/>
            <a:ext cx="3809999" cy="338328"/>
          </a:xfrm>
          <a:prstGeom prst="rect">
            <a:avLst/>
          </a:prstGeom>
          <a:noFill/>
        </p:spPr>
        <p:txBody>
          <a:bodyPr wrap="square" tIns="36576" bIns="36576" anchor="t">
            <a:spAutoFit/>
          </a:bodyPr>
          <a:lstStyle/>
          <a:p>
            <a:pPr>
              <a:lnSpc>
                <a:spcPts val="2160"/>
              </a:lnSpc>
              <a:spcBef>
                <a:spcPts val="0"/>
              </a:spcBef>
              <a:spcAft>
                <a:spcPts val="0"/>
              </a:spcAft>
              <a:defRPr sz="2000" b="1">
                <a:solidFill>
                  <a:srgbClr val="FFFFFF"/>
                </a:solidFill>
                <a:latin typeface="Arial"/>
              </a:defRPr>
            </a:pPr>
            <a:r>
              <a:t>Confidence</a:t>
            </a:r>
          </a:p>
        </p:txBody>
      </p:sp>
      <p:sp>
        <p:nvSpPr>
          <p:cNvPr id="13" name="Rectangle 12"/>
          <p:cNvSpPr/>
          <p:nvPr/>
        </p:nvSpPr>
        <p:spPr>
          <a:xfrm>
            <a:off x="384048" y="1581912"/>
            <a:ext cx="2103120" cy="1280160"/>
          </a:xfrm>
          <a:prstGeom prst="rect">
            <a:avLst/>
          </a:prstGeom>
          <a:solidFill>
            <a:srgbClr val="E8EDF1"/>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4" name="TextBox 13"/>
          <p:cNvSpPr txBox="1"/>
          <p:nvPr/>
        </p:nvSpPr>
        <p:spPr>
          <a:xfrm>
            <a:off x="411479" y="1618488"/>
            <a:ext cx="2048255" cy="1207007"/>
          </a:xfrm>
          <a:prstGeom prst="rect">
            <a:avLst/>
          </a:prstGeom>
          <a:noFill/>
        </p:spPr>
        <p:txBody>
          <a:bodyPr wrap="square" tIns="36576" bIns="36576" anchor="ctr">
            <a:spAutoFit/>
          </a:bodyPr>
          <a:lstStyle/>
          <a:p>
            <a:pPr>
              <a:lnSpc>
                <a:spcPts val="1728"/>
              </a:lnSpc>
              <a:spcBef>
                <a:spcPts val="0"/>
              </a:spcBef>
              <a:spcAft>
                <a:spcPts val="0"/>
              </a:spcAft>
              <a:defRPr sz="1600" b="1">
                <a:solidFill>
                  <a:srgbClr val="182B3A"/>
                </a:solidFill>
                <a:latin typeface="Arial"/>
              </a:defRPr>
            </a:pPr>
            <a:r>
              <a:t>The Full Question</a:t>
            </a:r>
          </a:p>
        </p:txBody>
      </p:sp>
      <p:sp>
        <p:nvSpPr>
          <p:cNvPr id="15" name="Rectangle 14"/>
          <p:cNvSpPr/>
          <p:nvPr/>
        </p:nvSpPr>
        <p:spPr>
          <a:xfrm>
            <a:off x="2487168" y="1581912"/>
            <a:ext cx="3919727" cy="1280160"/>
          </a:xfrm>
          <a:prstGeom prst="rect">
            <a:avLst/>
          </a:prstGeom>
          <a:solidFill>
            <a:srgbClr val="EDF6F5"/>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6" name="TextBox 15"/>
          <p:cNvSpPr txBox="1"/>
          <p:nvPr/>
        </p:nvSpPr>
        <p:spPr>
          <a:xfrm>
            <a:off x="2542032" y="1636776"/>
            <a:ext cx="3809999" cy="1170431"/>
          </a:xfrm>
          <a:prstGeom prst="rect">
            <a:avLst/>
          </a:prstGeom>
          <a:noFill/>
        </p:spPr>
        <p:txBody>
          <a:bodyPr wrap="square" tIns="36576" bIns="36576" anchor="ctr">
            <a:spAutoFit/>
          </a:bodyPr>
          <a:lstStyle/>
          <a:p>
            <a:pPr>
              <a:lnSpc>
                <a:spcPts val="2052"/>
              </a:lnSpc>
              <a:spcBef>
                <a:spcPts val="0"/>
              </a:spcBef>
              <a:spcAft>
                <a:spcPts val="0"/>
              </a:spcAft>
              <a:defRPr sz="1900" b="1">
                <a:solidFill>
                  <a:srgbClr val="182B3A"/>
                </a:solidFill>
                <a:latin typeface="Arial"/>
              </a:defRPr>
            </a:pPr>
            <a:r>
              <a:t>42 packs each contain 15 pens. How many pens are there?</a:t>
            </a:r>
          </a:p>
        </p:txBody>
      </p:sp>
      <p:sp>
        <p:nvSpPr>
          <p:cNvPr id="17" name="Rectangle 16"/>
          <p:cNvSpPr/>
          <p:nvPr/>
        </p:nvSpPr>
        <p:spPr>
          <a:xfrm>
            <a:off x="6406895" y="1581912"/>
            <a:ext cx="3919727" cy="1280160"/>
          </a:xfrm>
          <a:prstGeom prst="rect">
            <a:avLst/>
          </a:prstGeom>
          <a:solidFill>
            <a:srgbClr val="EFF3FA"/>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8" name="TextBox 17"/>
          <p:cNvSpPr txBox="1"/>
          <p:nvPr/>
        </p:nvSpPr>
        <p:spPr>
          <a:xfrm>
            <a:off x="6461759" y="1636776"/>
            <a:ext cx="3809999" cy="1170431"/>
          </a:xfrm>
          <a:prstGeom prst="rect">
            <a:avLst/>
          </a:prstGeom>
          <a:noFill/>
        </p:spPr>
        <p:txBody>
          <a:bodyPr wrap="square" tIns="36576" bIns="36576" anchor="ctr">
            <a:spAutoFit/>
          </a:bodyPr>
          <a:lstStyle/>
          <a:p>
            <a:pPr>
              <a:lnSpc>
                <a:spcPts val="2052"/>
              </a:lnSpc>
              <a:spcBef>
                <a:spcPts val="0"/>
              </a:spcBef>
              <a:spcAft>
                <a:spcPts val="0"/>
              </a:spcAft>
              <a:defRPr sz="1900" b="1">
                <a:solidFill>
                  <a:srgbClr val="182B3A"/>
                </a:solidFill>
                <a:latin typeface="Arial"/>
              </a:defRPr>
            </a:pPr>
            <a:r>
              <a:t>215 apples go into bags of 6. How many completely full bags can be made?</a:t>
            </a:r>
          </a:p>
        </p:txBody>
      </p:sp>
      <p:sp>
        <p:nvSpPr>
          <p:cNvPr id="19" name="Rectangle 18"/>
          <p:cNvSpPr/>
          <p:nvPr/>
        </p:nvSpPr>
        <p:spPr>
          <a:xfrm>
            <a:off x="10326624" y="1581912"/>
            <a:ext cx="3919727" cy="1280160"/>
          </a:xfrm>
          <a:prstGeom prst="rect">
            <a:avLst/>
          </a:prstGeom>
          <a:solidFill>
            <a:srgbClr val="F5F0F7"/>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20" name="TextBox 19"/>
          <p:cNvSpPr txBox="1"/>
          <p:nvPr/>
        </p:nvSpPr>
        <p:spPr>
          <a:xfrm>
            <a:off x="10381488" y="1636776"/>
            <a:ext cx="3809999" cy="1170431"/>
          </a:xfrm>
          <a:prstGeom prst="rect">
            <a:avLst/>
          </a:prstGeom>
          <a:noFill/>
        </p:spPr>
        <p:txBody>
          <a:bodyPr wrap="square" tIns="36576" bIns="36576" anchor="ctr">
            <a:spAutoFit/>
          </a:bodyPr>
          <a:lstStyle/>
          <a:p>
            <a:pPr>
              <a:lnSpc>
                <a:spcPts val="2052"/>
              </a:lnSpc>
              <a:spcBef>
                <a:spcPts val="0"/>
              </a:spcBef>
              <a:spcAft>
                <a:spcPts val="0"/>
              </a:spcAft>
              <a:defRPr sz="1900" b="1">
                <a:solidFill>
                  <a:srgbClr val="182B3A"/>
                </a:solidFill>
                <a:latin typeface="Arial"/>
              </a:defRPr>
            </a:pPr>
            <a:r>
              <a:t>A painter charges £18 per hour for 32 hours, plus £120 for paint. Find the total bill.</a:t>
            </a:r>
          </a:p>
        </p:txBody>
      </p:sp>
      <p:sp>
        <p:nvSpPr>
          <p:cNvPr id="21" name="Rectangle 20"/>
          <p:cNvSpPr/>
          <p:nvPr/>
        </p:nvSpPr>
        <p:spPr>
          <a:xfrm>
            <a:off x="384048" y="2862072"/>
            <a:ext cx="2103120" cy="1188720"/>
          </a:xfrm>
          <a:prstGeom prst="rect">
            <a:avLst/>
          </a:prstGeom>
          <a:solidFill>
            <a:srgbClr val="E8EDF1"/>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22" name="TextBox 21"/>
          <p:cNvSpPr txBox="1"/>
          <p:nvPr/>
        </p:nvSpPr>
        <p:spPr>
          <a:xfrm>
            <a:off x="448056" y="2953512"/>
            <a:ext cx="1975103" cy="1005840"/>
          </a:xfrm>
          <a:prstGeom prst="rect">
            <a:avLst/>
          </a:prstGeom>
          <a:noFill/>
        </p:spPr>
        <p:txBody>
          <a:bodyPr wrap="square" tIns="36576" bIns="36576" anchor="t">
            <a:spAutoFit/>
          </a:bodyPr>
          <a:lstStyle/>
          <a:p>
            <a:pPr>
              <a:lnSpc>
                <a:spcPts val="1944"/>
              </a:lnSpc>
              <a:spcBef>
                <a:spcPts val="0"/>
              </a:spcBef>
              <a:spcAft>
                <a:spcPts val="0"/>
              </a:spcAft>
              <a:defRPr sz="1800" b="1">
                <a:solidFill>
                  <a:srgbClr val="182B3A"/>
                </a:solidFill>
                <a:latin typeface="Arial"/>
              </a:defRPr>
            </a:pPr>
            <a:r>
              <a:t>1. Keywords &amp; Calculation</a:t>
            </a:r>
          </a:p>
        </p:txBody>
      </p:sp>
      <p:sp>
        <p:nvSpPr>
          <p:cNvPr id="23" name="Rectangle 22"/>
          <p:cNvSpPr/>
          <p:nvPr/>
        </p:nvSpPr>
        <p:spPr>
          <a:xfrm>
            <a:off x="2487168" y="2862072"/>
            <a:ext cx="3919727" cy="118872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24" name="TextBox 23"/>
          <p:cNvSpPr txBox="1"/>
          <p:nvPr/>
        </p:nvSpPr>
        <p:spPr>
          <a:xfrm>
            <a:off x="2551175" y="2926079"/>
            <a:ext cx="3791712" cy="1024128"/>
          </a:xfrm>
          <a:prstGeom prst="rect">
            <a:avLst/>
          </a:prstGeom>
          <a:noFill/>
        </p:spPr>
        <p:txBody>
          <a:bodyPr wrap="square" tIns="36576" bIns="36576" anchor="t">
            <a:spAutoFit/>
          </a:bodyPr>
          <a:lstStyle/>
          <a:p>
            <a:pPr>
              <a:lnSpc>
                <a:spcPts val="2268"/>
              </a:lnSpc>
              <a:spcBef>
                <a:spcPts val="0"/>
              </a:spcBef>
              <a:spcAft>
                <a:spcPts val="0"/>
              </a:spcAft>
              <a:defRPr sz="2100" b="0">
                <a:solidFill>
                  <a:srgbClr val="182B3A"/>
                </a:solidFill>
                <a:latin typeface="Arial"/>
              </a:defRPr>
            </a:pPr>
            <a:r>
              <a:t>Identify the keywords. Write down the calculation(s) you need to do.</a:t>
            </a:r>
          </a:p>
        </p:txBody>
      </p:sp>
      <p:sp>
        <p:nvSpPr>
          <p:cNvPr id="25" name="Rectangle 24"/>
          <p:cNvSpPr/>
          <p:nvPr/>
        </p:nvSpPr>
        <p:spPr>
          <a:xfrm>
            <a:off x="6406895" y="2862072"/>
            <a:ext cx="3919727" cy="118872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26" name="TextBox 25"/>
          <p:cNvSpPr txBox="1"/>
          <p:nvPr/>
        </p:nvSpPr>
        <p:spPr>
          <a:xfrm>
            <a:off x="6470904" y="2926079"/>
            <a:ext cx="3791712" cy="1024128"/>
          </a:xfrm>
          <a:prstGeom prst="rect">
            <a:avLst/>
          </a:prstGeom>
          <a:noFill/>
        </p:spPr>
        <p:txBody>
          <a:bodyPr wrap="square" tIns="36576" bIns="36576" anchor="t">
            <a:spAutoFit/>
          </a:bodyPr>
          <a:lstStyle/>
          <a:p>
            <a:pPr>
              <a:lnSpc>
                <a:spcPts val="2268"/>
              </a:lnSpc>
              <a:spcBef>
                <a:spcPts val="0"/>
              </a:spcBef>
              <a:spcAft>
                <a:spcPts val="0"/>
              </a:spcAft>
              <a:defRPr sz="2100" b="0">
                <a:solidFill>
                  <a:srgbClr val="182B3A"/>
                </a:solidFill>
                <a:latin typeface="Arial"/>
              </a:defRPr>
            </a:pPr>
            <a:r>
              <a:t>Identify the keywords. Write down the calculation(s) you need to do.</a:t>
            </a:r>
          </a:p>
        </p:txBody>
      </p:sp>
      <p:sp>
        <p:nvSpPr>
          <p:cNvPr id="27" name="Rectangle 26"/>
          <p:cNvSpPr/>
          <p:nvPr/>
        </p:nvSpPr>
        <p:spPr>
          <a:xfrm>
            <a:off x="10326624" y="2862072"/>
            <a:ext cx="3919727" cy="118872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28" name="TextBox 27"/>
          <p:cNvSpPr txBox="1"/>
          <p:nvPr/>
        </p:nvSpPr>
        <p:spPr>
          <a:xfrm>
            <a:off x="10390632" y="2926079"/>
            <a:ext cx="3791712" cy="1024128"/>
          </a:xfrm>
          <a:prstGeom prst="rect">
            <a:avLst/>
          </a:prstGeom>
          <a:noFill/>
        </p:spPr>
        <p:txBody>
          <a:bodyPr wrap="square" tIns="36576" bIns="36576" anchor="t">
            <a:spAutoFit/>
          </a:bodyPr>
          <a:lstStyle/>
          <a:p>
            <a:pPr>
              <a:lnSpc>
                <a:spcPts val="2268"/>
              </a:lnSpc>
              <a:spcBef>
                <a:spcPts val="0"/>
              </a:spcBef>
              <a:spcAft>
                <a:spcPts val="0"/>
              </a:spcAft>
              <a:defRPr sz="2100" b="0">
                <a:solidFill>
                  <a:srgbClr val="182B3A"/>
                </a:solidFill>
                <a:latin typeface="Arial"/>
              </a:defRPr>
            </a:pPr>
            <a:r>
              <a:t>Identify the keywords. Write down the calculation(s) you need to do.</a:t>
            </a:r>
          </a:p>
        </p:txBody>
      </p:sp>
      <p:sp>
        <p:nvSpPr>
          <p:cNvPr id="29" name="Rectangle 28"/>
          <p:cNvSpPr/>
          <p:nvPr/>
        </p:nvSpPr>
        <p:spPr>
          <a:xfrm>
            <a:off x="384048" y="4050791"/>
            <a:ext cx="2103120" cy="1188720"/>
          </a:xfrm>
          <a:prstGeom prst="rect">
            <a:avLst/>
          </a:prstGeom>
          <a:solidFill>
            <a:srgbClr val="E8EDF1"/>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30" name="TextBox 29"/>
          <p:cNvSpPr txBox="1"/>
          <p:nvPr/>
        </p:nvSpPr>
        <p:spPr>
          <a:xfrm>
            <a:off x="448056" y="4142231"/>
            <a:ext cx="1975103" cy="1005840"/>
          </a:xfrm>
          <a:prstGeom prst="rect">
            <a:avLst/>
          </a:prstGeom>
          <a:noFill/>
        </p:spPr>
        <p:txBody>
          <a:bodyPr wrap="square" tIns="36576" bIns="36576" anchor="t">
            <a:spAutoFit/>
          </a:bodyPr>
          <a:lstStyle/>
          <a:p>
            <a:pPr>
              <a:lnSpc>
                <a:spcPts val="1944"/>
              </a:lnSpc>
              <a:spcBef>
                <a:spcPts val="0"/>
              </a:spcBef>
              <a:spcAft>
                <a:spcPts val="0"/>
              </a:spcAft>
              <a:defRPr sz="1800" b="1">
                <a:solidFill>
                  <a:srgbClr val="182B3A"/>
                </a:solidFill>
                <a:latin typeface="Arial"/>
              </a:defRPr>
            </a:pPr>
            <a:r>
              <a:t>2. Written Method</a:t>
            </a:r>
          </a:p>
        </p:txBody>
      </p:sp>
      <p:sp>
        <p:nvSpPr>
          <p:cNvPr id="31" name="Rectangle 30"/>
          <p:cNvSpPr/>
          <p:nvPr/>
        </p:nvSpPr>
        <p:spPr>
          <a:xfrm>
            <a:off x="2487168" y="4050791"/>
            <a:ext cx="3919727" cy="118872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32" name="TextBox 31"/>
          <p:cNvSpPr txBox="1"/>
          <p:nvPr/>
        </p:nvSpPr>
        <p:spPr>
          <a:xfrm>
            <a:off x="2551175" y="4114800"/>
            <a:ext cx="3791712" cy="1024128"/>
          </a:xfrm>
          <a:prstGeom prst="rect">
            <a:avLst/>
          </a:prstGeom>
          <a:noFill/>
        </p:spPr>
        <p:txBody>
          <a:bodyPr wrap="square" tIns="36576" bIns="36576" anchor="t">
            <a:spAutoFit/>
          </a:bodyPr>
          <a:lstStyle/>
          <a:p>
            <a:pPr>
              <a:lnSpc>
                <a:spcPts val="2268"/>
              </a:lnSpc>
              <a:spcBef>
                <a:spcPts val="0"/>
              </a:spcBef>
              <a:spcAft>
                <a:spcPts val="0"/>
              </a:spcAft>
              <a:defRPr sz="2100" b="0">
                <a:solidFill>
                  <a:srgbClr val="182B3A"/>
                </a:solidFill>
                <a:latin typeface="Arial"/>
              </a:defRPr>
            </a:pPr>
            <a:r>
              <a:t>Set up and use the written method for your calculation(s).</a:t>
            </a:r>
          </a:p>
        </p:txBody>
      </p:sp>
      <p:sp>
        <p:nvSpPr>
          <p:cNvPr id="33" name="Rectangle 32"/>
          <p:cNvSpPr/>
          <p:nvPr/>
        </p:nvSpPr>
        <p:spPr>
          <a:xfrm>
            <a:off x="6406895" y="4050791"/>
            <a:ext cx="3919727" cy="118872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34" name="TextBox 33"/>
          <p:cNvSpPr txBox="1"/>
          <p:nvPr/>
        </p:nvSpPr>
        <p:spPr>
          <a:xfrm>
            <a:off x="6470904" y="4114800"/>
            <a:ext cx="3791712" cy="1024128"/>
          </a:xfrm>
          <a:prstGeom prst="rect">
            <a:avLst/>
          </a:prstGeom>
          <a:noFill/>
        </p:spPr>
        <p:txBody>
          <a:bodyPr wrap="square" tIns="36576" bIns="36576" anchor="t">
            <a:spAutoFit/>
          </a:bodyPr>
          <a:lstStyle/>
          <a:p>
            <a:pPr>
              <a:lnSpc>
                <a:spcPts val="2268"/>
              </a:lnSpc>
              <a:spcBef>
                <a:spcPts val="0"/>
              </a:spcBef>
              <a:spcAft>
                <a:spcPts val="0"/>
              </a:spcAft>
              <a:defRPr sz="2100" b="0">
                <a:solidFill>
                  <a:srgbClr val="182B3A"/>
                </a:solidFill>
                <a:latin typeface="Arial"/>
              </a:defRPr>
            </a:pPr>
            <a:r>
              <a:t>Set up and use the written method for your calculation(s).</a:t>
            </a:r>
          </a:p>
        </p:txBody>
      </p:sp>
      <p:sp>
        <p:nvSpPr>
          <p:cNvPr id="35" name="Rectangle 34"/>
          <p:cNvSpPr/>
          <p:nvPr/>
        </p:nvSpPr>
        <p:spPr>
          <a:xfrm>
            <a:off x="10326624" y="4050791"/>
            <a:ext cx="3919727" cy="118872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36" name="TextBox 35"/>
          <p:cNvSpPr txBox="1"/>
          <p:nvPr/>
        </p:nvSpPr>
        <p:spPr>
          <a:xfrm>
            <a:off x="10390632" y="4114800"/>
            <a:ext cx="3791712" cy="1024128"/>
          </a:xfrm>
          <a:prstGeom prst="rect">
            <a:avLst/>
          </a:prstGeom>
          <a:noFill/>
        </p:spPr>
        <p:txBody>
          <a:bodyPr wrap="square" tIns="36576" bIns="36576" anchor="t">
            <a:spAutoFit/>
          </a:bodyPr>
          <a:lstStyle/>
          <a:p>
            <a:pPr>
              <a:lnSpc>
                <a:spcPts val="2268"/>
              </a:lnSpc>
              <a:spcBef>
                <a:spcPts val="0"/>
              </a:spcBef>
              <a:spcAft>
                <a:spcPts val="0"/>
              </a:spcAft>
              <a:defRPr sz="2100" b="0">
                <a:solidFill>
                  <a:srgbClr val="182B3A"/>
                </a:solidFill>
                <a:latin typeface="Arial"/>
              </a:defRPr>
            </a:pPr>
            <a:r>
              <a:t>Set up and use the written method for your calculation(s).</a:t>
            </a:r>
          </a:p>
        </p:txBody>
      </p:sp>
      <p:sp>
        <p:nvSpPr>
          <p:cNvPr id="37" name="Rectangle 36"/>
          <p:cNvSpPr/>
          <p:nvPr/>
        </p:nvSpPr>
        <p:spPr>
          <a:xfrm>
            <a:off x="384048" y="5239512"/>
            <a:ext cx="2103120" cy="1188720"/>
          </a:xfrm>
          <a:prstGeom prst="rect">
            <a:avLst/>
          </a:prstGeom>
          <a:solidFill>
            <a:srgbClr val="E8EDF1"/>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38" name="TextBox 37"/>
          <p:cNvSpPr txBox="1"/>
          <p:nvPr/>
        </p:nvSpPr>
        <p:spPr>
          <a:xfrm>
            <a:off x="448056" y="5330951"/>
            <a:ext cx="1975103" cy="1005840"/>
          </a:xfrm>
          <a:prstGeom prst="rect">
            <a:avLst/>
          </a:prstGeom>
          <a:noFill/>
        </p:spPr>
        <p:txBody>
          <a:bodyPr wrap="square" tIns="36576" bIns="36576" anchor="t">
            <a:spAutoFit/>
          </a:bodyPr>
          <a:lstStyle/>
          <a:p>
            <a:pPr>
              <a:lnSpc>
                <a:spcPts val="1944"/>
              </a:lnSpc>
              <a:spcBef>
                <a:spcPts val="0"/>
              </a:spcBef>
              <a:spcAft>
                <a:spcPts val="0"/>
              </a:spcAft>
              <a:defRPr sz="1800" b="1">
                <a:solidFill>
                  <a:srgbClr val="182B3A"/>
                </a:solidFill>
                <a:latin typeface="Arial"/>
              </a:defRPr>
            </a:pPr>
            <a:r>
              <a:t>3. Ballpark Check &amp; Math</a:t>
            </a:r>
          </a:p>
        </p:txBody>
      </p:sp>
      <p:sp>
        <p:nvSpPr>
          <p:cNvPr id="39" name="Rectangle 38"/>
          <p:cNvSpPr/>
          <p:nvPr/>
        </p:nvSpPr>
        <p:spPr>
          <a:xfrm>
            <a:off x="2487168" y="5239512"/>
            <a:ext cx="3919727" cy="118872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40" name="TextBox 39"/>
          <p:cNvSpPr txBox="1"/>
          <p:nvPr/>
        </p:nvSpPr>
        <p:spPr>
          <a:xfrm>
            <a:off x="2551175" y="5303520"/>
            <a:ext cx="3791712" cy="1024128"/>
          </a:xfrm>
          <a:prstGeom prst="rect">
            <a:avLst/>
          </a:prstGeom>
          <a:noFill/>
        </p:spPr>
        <p:txBody>
          <a:bodyPr wrap="square" tIns="36576" bIns="36576" anchor="t">
            <a:spAutoFit/>
          </a:bodyPr>
          <a:lstStyle/>
          <a:p>
            <a:pPr>
              <a:lnSpc>
                <a:spcPts val="2268"/>
              </a:lnSpc>
              <a:spcBef>
                <a:spcPts val="0"/>
              </a:spcBef>
              <a:spcAft>
                <a:spcPts val="0"/>
              </a:spcAft>
              <a:defRPr sz="2100" b="0">
                <a:solidFill>
                  <a:srgbClr val="182B3A"/>
                </a:solidFill>
                <a:latin typeface="Arial"/>
              </a:defRPr>
            </a:pPr>
            <a:r>
              <a:t>Check your answer using rough ballpark calculations. Does it make sense?</a:t>
            </a:r>
          </a:p>
        </p:txBody>
      </p:sp>
      <p:sp>
        <p:nvSpPr>
          <p:cNvPr id="41" name="Rectangle 40"/>
          <p:cNvSpPr/>
          <p:nvPr/>
        </p:nvSpPr>
        <p:spPr>
          <a:xfrm>
            <a:off x="6406895" y="5239512"/>
            <a:ext cx="3919727" cy="118872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42" name="TextBox 41"/>
          <p:cNvSpPr txBox="1"/>
          <p:nvPr/>
        </p:nvSpPr>
        <p:spPr>
          <a:xfrm>
            <a:off x="6470904" y="5303520"/>
            <a:ext cx="3791712" cy="1024128"/>
          </a:xfrm>
          <a:prstGeom prst="rect">
            <a:avLst/>
          </a:prstGeom>
          <a:noFill/>
        </p:spPr>
        <p:txBody>
          <a:bodyPr wrap="square" tIns="36576" bIns="36576" anchor="t">
            <a:spAutoFit/>
          </a:bodyPr>
          <a:lstStyle/>
          <a:p>
            <a:pPr>
              <a:lnSpc>
                <a:spcPts val="2268"/>
              </a:lnSpc>
              <a:spcBef>
                <a:spcPts val="0"/>
              </a:spcBef>
              <a:spcAft>
                <a:spcPts val="0"/>
              </a:spcAft>
              <a:defRPr sz="2100" b="0">
                <a:solidFill>
                  <a:srgbClr val="182B3A"/>
                </a:solidFill>
                <a:latin typeface="Arial"/>
              </a:defRPr>
            </a:pPr>
            <a:r>
              <a:t>Check your answer using rough ballpark calculations. Does it make sense?</a:t>
            </a:r>
          </a:p>
        </p:txBody>
      </p:sp>
      <p:sp>
        <p:nvSpPr>
          <p:cNvPr id="43" name="Rectangle 42"/>
          <p:cNvSpPr/>
          <p:nvPr/>
        </p:nvSpPr>
        <p:spPr>
          <a:xfrm>
            <a:off x="10326624" y="5239512"/>
            <a:ext cx="3919727" cy="118872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44" name="TextBox 43"/>
          <p:cNvSpPr txBox="1"/>
          <p:nvPr/>
        </p:nvSpPr>
        <p:spPr>
          <a:xfrm>
            <a:off x="10390632" y="5303520"/>
            <a:ext cx="3791712" cy="1024128"/>
          </a:xfrm>
          <a:prstGeom prst="rect">
            <a:avLst/>
          </a:prstGeom>
          <a:noFill/>
        </p:spPr>
        <p:txBody>
          <a:bodyPr wrap="square" tIns="36576" bIns="36576" anchor="t">
            <a:spAutoFit/>
          </a:bodyPr>
          <a:lstStyle/>
          <a:p>
            <a:pPr>
              <a:lnSpc>
                <a:spcPts val="2268"/>
              </a:lnSpc>
              <a:spcBef>
                <a:spcPts val="0"/>
              </a:spcBef>
              <a:spcAft>
                <a:spcPts val="0"/>
              </a:spcAft>
              <a:defRPr sz="2100" b="0">
                <a:solidFill>
                  <a:srgbClr val="182B3A"/>
                </a:solidFill>
                <a:latin typeface="Arial"/>
              </a:defRPr>
            </a:pPr>
            <a:r>
              <a:t>Check your answer using rough ballpark calculations. Does it make sense?</a:t>
            </a:r>
          </a:p>
        </p:txBody>
      </p:sp>
      <p:sp>
        <p:nvSpPr>
          <p:cNvPr id="45" name="Rectangle 44"/>
          <p:cNvSpPr/>
          <p:nvPr/>
        </p:nvSpPr>
        <p:spPr>
          <a:xfrm>
            <a:off x="384048" y="6428231"/>
            <a:ext cx="2103120" cy="1188720"/>
          </a:xfrm>
          <a:prstGeom prst="rect">
            <a:avLst/>
          </a:prstGeom>
          <a:solidFill>
            <a:srgbClr val="E8EDF1"/>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46" name="TextBox 45"/>
          <p:cNvSpPr txBox="1"/>
          <p:nvPr/>
        </p:nvSpPr>
        <p:spPr>
          <a:xfrm>
            <a:off x="448056" y="6519671"/>
            <a:ext cx="1975103" cy="1005840"/>
          </a:xfrm>
          <a:prstGeom prst="rect">
            <a:avLst/>
          </a:prstGeom>
          <a:noFill/>
        </p:spPr>
        <p:txBody>
          <a:bodyPr wrap="square" tIns="36576" bIns="36576" anchor="t">
            <a:spAutoFit/>
          </a:bodyPr>
          <a:lstStyle/>
          <a:p>
            <a:pPr>
              <a:lnSpc>
                <a:spcPts val="1944"/>
              </a:lnSpc>
              <a:spcBef>
                <a:spcPts val="0"/>
              </a:spcBef>
              <a:spcAft>
                <a:spcPts val="0"/>
              </a:spcAft>
              <a:defRPr sz="1800" b="1">
                <a:solidFill>
                  <a:srgbClr val="182B3A"/>
                </a:solidFill>
                <a:latin typeface="Arial"/>
              </a:defRPr>
            </a:pPr>
            <a:r>
              <a:t>4. Final Answer</a:t>
            </a:r>
          </a:p>
        </p:txBody>
      </p:sp>
      <p:sp>
        <p:nvSpPr>
          <p:cNvPr id="47" name="Rectangle 46"/>
          <p:cNvSpPr/>
          <p:nvPr/>
        </p:nvSpPr>
        <p:spPr>
          <a:xfrm>
            <a:off x="2487168" y="6428231"/>
            <a:ext cx="3919727" cy="118872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48" name="TextBox 47"/>
          <p:cNvSpPr txBox="1"/>
          <p:nvPr/>
        </p:nvSpPr>
        <p:spPr>
          <a:xfrm>
            <a:off x="2551175" y="6492240"/>
            <a:ext cx="3791712" cy="1024128"/>
          </a:xfrm>
          <a:prstGeom prst="rect">
            <a:avLst/>
          </a:prstGeom>
          <a:noFill/>
        </p:spPr>
        <p:txBody>
          <a:bodyPr wrap="square" tIns="36576" bIns="36576" anchor="t">
            <a:spAutoFit/>
          </a:bodyPr>
          <a:lstStyle/>
          <a:p>
            <a:pPr>
              <a:lnSpc>
                <a:spcPts val="2268"/>
              </a:lnSpc>
              <a:spcBef>
                <a:spcPts val="0"/>
              </a:spcBef>
              <a:spcAft>
                <a:spcPts val="0"/>
              </a:spcAft>
              <a:defRPr sz="2100" b="0">
                <a:solidFill>
                  <a:srgbClr val="182B3A"/>
                </a:solidFill>
                <a:latin typeface="Arial"/>
              </a:defRPr>
            </a:pPr>
            <a:r>
              <a:t>Write your final answer to the question. Include the correct units.</a:t>
            </a:r>
          </a:p>
        </p:txBody>
      </p:sp>
      <p:sp>
        <p:nvSpPr>
          <p:cNvPr id="49" name="Rectangle 48"/>
          <p:cNvSpPr/>
          <p:nvPr/>
        </p:nvSpPr>
        <p:spPr>
          <a:xfrm>
            <a:off x="6406895" y="6428231"/>
            <a:ext cx="3919727" cy="118872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50" name="TextBox 49"/>
          <p:cNvSpPr txBox="1"/>
          <p:nvPr/>
        </p:nvSpPr>
        <p:spPr>
          <a:xfrm>
            <a:off x="6470904" y="6492240"/>
            <a:ext cx="3791712" cy="1024128"/>
          </a:xfrm>
          <a:prstGeom prst="rect">
            <a:avLst/>
          </a:prstGeom>
          <a:noFill/>
        </p:spPr>
        <p:txBody>
          <a:bodyPr wrap="square" tIns="36576" bIns="36576" anchor="t">
            <a:spAutoFit/>
          </a:bodyPr>
          <a:lstStyle/>
          <a:p>
            <a:pPr>
              <a:lnSpc>
                <a:spcPts val="2268"/>
              </a:lnSpc>
              <a:spcBef>
                <a:spcPts val="0"/>
              </a:spcBef>
              <a:spcAft>
                <a:spcPts val="0"/>
              </a:spcAft>
              <a:defRPr sz="2100" b="0">
                <a:solidFill>
                  <a:srgbClr val="182B3A"/>
                </a:solidFill>
                <a:latin typeface="Arial"/>
              </a:defRPr>
            </a:pPr>
            <a:r>
              <a:t>Write your final answer to the question. Include the correct units.</a:t>
            </a:r>
          </a:p>
        </p:txBody>
      </p:sp>
      <p:sp>
        <p:nvSpPr>
          <p:cNvPr id="51" name="Rectangle 50"/>
          <p:cNvSpPr/>
          <p:nvPr/>
        </p:nvSpPr>
        <p:spPr>
          <a:xfrm>
            <a:off x="10326624" y="6428231"/>
            <a:ext cx="3919727" cy="118872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52" name="TextBox 51"/>
          <p:cNvSpPr txBox="1"/>
          <p:nvPr/>
        </p:nvSpPr>
        <p:spPr>
          <a:xfrm>
            <a:off x="10390632" y="6492240"/>
            <a:ext cx="3791712" cy="1024128"/>
          </a:xfrm>
          <a:prstGeom prst="rect">
            <a:avLst/>
          </a:prstGeom>
          <a:noFill/>
        </p:spPr>
        <p:txBody>
          <a:bodyPr wrap="square" tIns="36576" bIns="36576" anchor="t">
            <a:spAutoFit/>
          </a:bodyPr>
          <a:lstStyle/>
          <a:p>
            <a:pPr>
              <a:lnSpc>
                <a:spcPts val="2268"/>
              </a:lnSpc>
              <a:spcBef>
                <a:spcPts val="0"/>
              </a:spcBef>
              <a:spcAft>
                <a:spcPts val="0"/>
              </a:spcAft>
              <a:defRPr sz="2100" b="0">
                <a:solidFill>
                  <a:srgbClr val="182B3A"/>
                </a:solidFill>
                <a:latin typeface="Arial"/>
              </a:defRPr>
            </a:pPr>
            <a:r>
              <a:t>Write your final answer to the question. Include the correct units.</a:t>
            </a:r>
          </a:p>
        </p:txBody>
      </p:sp>
    </p:spTree>
  </p:cSld>
  <p:clrMapOvr>
    <a:masterClrMapping/>
  </p:clrMapOvr>
</p:sld>
</file>

<file path=ppt/slides/slide53.xml><?xml version="1.0" encoding="utf-8"?>
<p:sld xmlns:a="http://schemas.openxmlformats.org/drawingml/2006/main" xmlns:p="http://schemas.openxmlformats.org/presentationml/2006/main" xmlns:r="http://schemas.openxmlformats.org/officeDocument/2006/relationships">
  <p:cSld>
    <p:bg>
      <p:bgPr>
        <a:solidFill>
          <a:srgbClr val="F7F8FA"/>
        </a:solidFill>
        <a:effectLst/>
      </p:bgPr>
    </p:bg>
    <p:spTree>
      <p:nvGrpSpPr>
        <p:cNvPr id="1" name=""/>
        <p:cNvGrpSpPr/>
        <p:nvPr/>
      </p:nvGrpSpPr>
      <p:grpSpPr/>
      <p:sp>
        <p:nvSpPr>
          <p:cNvPr id="2" name="Rectangle 1"/>
          <p:cNvSpPr/>
          <p:nvPr/>
        </p:nvSpPr>
        <p:spPr>
          <a:xfrm>
            <a:off x="0" y="0"/>
            <a:ext cx="14630400" cy="91440"/>
          </a:xfrm>
          <a:prstGeom prst="rect">
            <a:avLst/>
          </a:prstGeom>
          <a:solidFill>
            <a:srgbClr val="754B87"/>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3" name="TextBox 2"/>
          <p:cNvSpPr txBox="1"/>
          <p:nvPr/>
        </p:nvSpPr>
        <p:spPr>
          <a:xfrm>
            <a:off x="384048" y="219456"/>
            <a:ext cx="12435840" cy="448056"/>
          </a:xfrm>
          <a:prstGeom prst="rect">
            <a:avLst/>
          </a:prstGeom>
          <a:noFill/>
        </p:spPr>
        <p:txBody>
          <a:bodyPr wrap="square" tIns="36576" bIns="36576" anchor="t">
            <a:spAutoFit/>
          </a:bodyPr>
          <a:lstStyle/>
          <a:p>
            <a:pPr>
              <a:lnSpc>
                <a:spcPts val="3132"/>
              </a:lnSpc>
              <a:spcBef>
                <a:spcPts val="0"/>
              </a:spcBef>
              <a:spcAft>
                <a:spcPts val="0"/>
              </a:spcAft>
              <a:defRPr sz="2900" b="1">
                <a:solidFill>
                  <a:srgbClr val="182B3A"/>
                </a:solidFill>
                <a:latin typeface="Arial"/>
              </a:defRPr>
            </a:pPr>
            <a:r>
              <a:t>Application to Exam Problems</a:t>
            </a:r>
          </a:p>
        </p:txBody>
      </p:sp>
      <p:sp>
        <p:nvSpPr>
          <p:cNvPr id="4" name="TextBox 3"/>
          <p:cNvSpPr txBox="1"/>
          <p:nvPr/>
        </p:nvSpPr>
        <p:spPr>
          <a:xfrm>
            <a:off x="384048" y="713232"/>
            <a:ext cx="13533120" cy="274320"/>
          </a:xfrm>
          <a:prstGeom prst="rect">
            <a:avLst/>
          </a:prstGeom>
          <a:noFill/>
        </p:spPr>
        <p:txBody>
          <a:bodyPr wrap="square" tIns="36576" bIns="36576" anchor="t">
            <a:spAutoFit/>
          </a:bodyPr>
          <a:lstStyle/>
          <a:p>
            <a:pPr>
              <a:lnSpc>
                <a:spcPts val="1512"/>
              </a:lnSpc>
              <a:spcBef>
                <a:spcPts val="0"/>
              </a:spcBef>
              <a:spcAft>
                <a:spcPts val="0"/>
              </a:spcAft>
              <a:defRPr sz="1400" b="0">
                <a:solidFill>
                  <a:srgbClr val="526472"/>
                </a:solidFill>
                <a:latin typeface="Arial"/>
              </a:defRPr>
            </a:pPr>
            <a:r>
              <a:t>Step-by-step practice 2  •  Decide which calculation(s) each question needs.</a:t>
            </a:r>
          </a:p>
        </p:txBody>
      </p:sp>
      <p:sp>
        <p:nvSpPr>
          <p:cNvPr id="5" name="TextBox 4"/>
          <p:cNvSpPr txBox="1"/>
          <p:nvPr/>
        </p:nvSpPr>
        <p:spPr>
          <a:xfrm>
            <a:off x="384048" y="7882127"/>
            <a:ext cx="10058400" cy="210312"/>
          </a:xfrm>
          <a:prstGeom prst="rect">
            <a:avLst/>
          </a:prstGeom>
          <a:noFill/>
        </p:spPr>
        <p:txBody>
          <a:bodyPr wrap="square" tIns="36576" bIns="36576" anchor="t">
            <a:spAutoFit/>
          </a:bodyPr>
          <a:lstStyle/>
          <a:p>
            <a:pPr>
              <a:lnSpc>
                <a:spcPts val="1188"/>
              </a:lnSpc>
              <a:spcBef>
                <a:spcPts val="0"/>
              </a:spcBef>
              <a:spcAft>
                <a:spcPts val="0"/>
              </a:spcAft>
              <a:defRPr sz="1100" b="0">
                <a:solidFill>
                  <a:srgbClr val="526472"/>
                </a:solidFill>
                <a:latin typeface="Arial"/>
              </a:defRPr>
            </a:pPr>
            <a:r>
              <a:t>GCSE Maths revision  •  Record your working in your booklet or webapp.</a:t>
            </a:r>
          </a:p>
        </p:txBody>
      </p:sp>
      <p:sp>
        <p:nvSpPr>
          <p:cNvPr id="6" name="TextBox 5"/>
          <p:cNvSpPr txBox="1"/>
          <p:nvPr/>
        </p:nvSpPr>
        <p:spPr>
          <a:xfrm>
            <a:off x="11430000" y="7863840"/>
            <a:ext cx="2788920" cy="228600"/>
          </a:xfrm>
          <a:prstGeom prst="rect">
            <a:avLst/>
          </a:prstGeom>
          <a:noFill/>
        </p:spPr>
        <p:txBody>
          <a:bodyPr wrap="square" tIns="36576" bIns="36576" anchor="t">
            <a:spAutoFit/>
          </a:bodyPr>
          <a:lstStyle/>
          <a:p>
            <a:pPr>
              <a:lnSpc>
                <a:spcPts val="1188"/>
              </a:lnSpc>
              <a:spcBef>
                <a:spcPts val="0"/>
              </a:spcBef>
              <a:spcAft>
                <a:spcPts val="0"/>
              </a:spcAft>
              <a:defRPr sz="1100" b="0">
                <a:solidFill>
                  <a:srgbClr val="526472"/>
                </a:solidFill>
                <a:latin typeface="Arial"/>
              </a:defRPr>
            </a:pPr>
            <a:r>
              <a:t>M03-S03  •  Topic slide 4</a:t>
            </a:r>
          </a:p>
        </p:txBody>
      </p:sp>
      <p:sp>
        <p:nvSpPr>
          <p:cNvPr id="7" name="Rectangle 6"/>
          <p:cNvSpPr/>
          <p:nvPr/>
        </p:nvSpPr>
        <p:spPr>
          <a:xfrm>
            <a:off x="2487168" y="1124712"/>
            <a:ext cx="3919727" cy="438912"/>
          </a:xfrm>
          <a:prstGeom prst="rect">
            <a:avLst/>
          </a:prstGeom>
          <a:solidFill>
            <a:srgbClr val="176B73"/>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8" name="TextBox 7"/>
          <p:cNvSpPr txBox="1"/>
          <p:nvPr/>
        </p:nvSpPr>
        <p:spPr>
          <a:xfrm>
            <a:off x="2542032" y="1152144"/>
            <a:ext cx="3809999" cy="338328"/>
          </a:xfrm>
          <a:prstGeom prst="rect">
            <a:avLst/>
          </a:prstGeom>
          <a:noFill/>
        </p:spPr>
        <p:txBody>
          <a:bodyPr wrap="square" tIns="36576" bIns="36576" anchor="t">
            <a:spAutoFit/>
          </a:bodyPr>
          <a:lstStyle/>
          <a:p>
            <a:pPr>
              <a:lnSpc>
                <a:spcPts val="2160"/>
              </a:lnSpc>
              <a:spcBef>
                <a:spcPts val="0"/>
              </a:spcBef>
              <a:spcAft>
                <a:spcPts val="0"/>
              </a:spcAft>
              <a:defRPr sz="2000" b="1">
                <a:solidFill>
                  <a:srgbClr val="FFFFFF"/>
                </a:solidFill>
                <a:latin typeface="Arial"/>
              </a:defRPr>
            </a:pPr>
            <a:r>
              <a:t>Start</a:t>
            </a:r>
          </a:p>
        </p:txBody>
      </p:sp>
      <p:sp>
        <p:nvSpPr>
          <p:cNvPr id="9" name="Rectangle 8"/>
          <p:cNvSpPr/>
          <p:nvPr/>
        </p:nvSpPr>
        <p:spPr>
          <a:xfrm>
            <a:off x="6406895" y="1124712"/>
            <a:ext cx="3919727" cy="438912"/>
          </a:xfrm>
          <a:prstGeom prst="rect">
            <a:avLst/>
          </a:prstGeom>
          <a:solidFill>
            <a:srgbClr val="3559A2"/>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0" name="TextBox 9"/>
          <p:cNvSpPr txBox="1"/>
          <p:nvPr/>
        </p:nvSpPr>
        <p:spPr>
          <a:xfrm>
            <a:off x="6461759" y="1152144"/>
            <a:ext cx="3809999" cy="338328"/>
          </a:xfrm>
          <a:prstGeom prst="rect">
            <a:avLst/>
          </a:prstGeom>
          <a:noFill/>
        </p:spPr>
        <p:txBody>
          <a:bodyPr wrap="square" tIns="36576" bIns="36576" anchor="t">
            <a:spAutoFit/>
          </a:bodyPr>
          <a:lstStyle/>
          <a:p>
            <a:pPr>
              <a:lnSpc>
                <a:spcPts val="2160"/>
              </a:lnSpc>
              <a:spcBef>
                <a:spcPts val="0"/>
              </a:spcBef>
              <a:spcAft>
                <a:spcPts val="0"/>
              </a:spcAft>
              <a:defRPr sz="2000" b="1">
                <a:solidFill>
                  <a:srgbClr val="FFFFFF"/>
                </a:solidFill>
                <a:latin typeface="Arial"/>
              </a:defRPr>
            </a:pPr>
            <a:r>
              <a:t>Build</a:t>
            </a:r>
          </a:p>
        </p:txBody>
      </p:sp>
      <p:sp>
        <p:nvSpPr>
          <p:cNvPr id="11" name="Rectangle 10"/>
          <p:cNvSpPr/>
          <p:nvPr/>
        </p:nvSpPr>
        <p:spPr>
          <a:xfrm>
            <a:off x="10326624" y="1124712"/>
            <a:ext cx="3919727" cy="438912"/>
          </a:xfrm>
          <a:prstGeom prst="rect">
            <a:avLst/>
          </a:prstGeom>
          <a:solidFill>
            <a:srgbClr val="754B87"/>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2" name="TextBox 11"/>
          <p:cNvSpPr txBox="1"/>
          <p:nvPr/>
        </p:nvSpPr>
        <p:spPr>
          <a:xfrm>
            <a:off x="10381488" y="1152144"/>
            <a:ext cx="3809999" cy="338328"/>
          </a:xfrm>
          <a:prstGeom prst="rect">
            <a:avLst/>
          </a:prstGeom>
          <a:noFill/>
        </p:spPr>
        <p:txBody>
          <a:bodyPr wrap="square" tIns="36576" bIns="36576" anchor="t">
            <a:spAutoFit/>
          </a:bodyPr>
          <a:lstStyle/>
          <a:p>
            <a:pPr>
              <a:lnSpc>
                <a:spcPts val="2160"/>
              </a:lnSpc>
              <a:spcBef>
                <a:spcPts val="0"/>
              </a:spcBef>
              <a:spcAft>
                <a:spcPts val="0"/>
              </a:spcAft>
              <a:defRPr sz="2000" b="1">
                <a:solidFill>
                  <a:srgbClr val="FFFFFF"/>
                </a:solidFill>
                <a:latin typeface="Arial"/>
              </a:defRPr>
            </a:pPr>
            <a:r>
              <a:t>Confidence</a:t>
            </a:r>
          </a:p>
        </p:txBody>
      </p:sp>
      <p:sp>
        <p:nvSpPr>
          <p:cNvPr id="13" name="Rectangle 12"/>
          <p:cNvSpPr/>
          <p:nvPr/>
        </p:nvSpPr>
        <p:spPr>
          <a:xfrm>
            <a:off x="384048" y="1581912"/>
            <a:ext cx="2103120" cy="1280160"/>
          </a:xfrm>
          <a:prstGeom prst="rect">
            <a:avLst/>
          </a:prstGeom>
          <a:solidFill>
            <a:srgbClr val="E8EDF1"/>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4" name="TextBox 13"/>
          <p:cNvSpPr txBox="1"/>
          <p:nvPr/>
        </p:nvSpPr>
        <p:spPr>
          <a:xfrm>
            <a:off x="411479" y="1618488"/>
            <a:ext cx="2048255" cy="1207007"/>
          </a:xfrm>
          <a:prstGeom prst="rect">
            <a:avLst/>
          </a:prstGeom>
          <a:noFill/>
        </p:spPr>
        <p:txBody>
          <a:bodyPr wrap="square" tIns="36576" bIns="36576" anchor="ctr">
            <a:spAutoFit/>
          </a:bodyPr>
          <a:lstStyle/>
          <a:p>
            <a:pPr>
              <a:lnSpc>
                <a:spcPts val="1728"/>
              </a:lnSpc>
              <a:spcBef>
                <a:spcPts val="0"/>
              </a:spcBef>
              <a:spcAft>
                <a:spcPts val="0"/>
              </a:spcAft>
              <a:defRPr sz="1600" b="1">
                <a:solidFill>
                  <a:srgbClr val="182B3A"/>
                </a:solidFill>
                <a:latin typeface="Arial"/>
              </a:defRPr>
            </a:pPr>
            <a:r>
              <a:t>The Full Question</a:t>
            </a:r>
          </a:p>
        </p:txBody>
      </p:sp>
      <p:sp>
        <p:nvSpPr>
          <p:cNvPr id="15" name="Rectangle 14"/>
          <p:cNvSpPr/>
          <p:nvPr/>
        </p:nvSpPr>
        <p:spPr>
          <a:xfrm>
            <a:off x="2487168" y="1581912"/>
            <a:ext cx="3919727" cy="1280160"/>
          </a:xfrm>
          <a:prstGeom prst="rect">
            <a:avLst/>
          </a:prstGeom>
          <a:solidFill>
            <a:srgbClr val="EDF6F5"/>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6" name="TextBox 15"/>
          <p:cNvSpPr txBox="1"/>
          <p:nvPr/>
        </p:nvSpPr>
        <p:spPr>
          <a:xfrm>
            <a:off x="2542032" y="1636776"/>
            <a:ext cx="3809999" cy="1170431"/>
          </a:xfrm>
          <a:prstGeom prst="rect">
            <a:avLst/>
          </a:prstGeom>
          <a:noFill/>
        </p:spPr>
        <p:txBody>
          <a:bodyPr wrap="square" tIns="36576" bIns="36576" anchor="ctr">
            <a:spAutoFit/>
          </a:bodyPr>
          <a:lstStyle/>
          <a:p>
            <a:pPr>
              <a:lnSpc>
                <a:spcPts val="2052"/>
              </a:lnSpc>
              <a:spcBef>
                <a:spcPts val="0"/>
              </a:spcBef>
              <a:spcAft>
                <a:spcPts val="0"/>
              </a:spcAft>
              <a:defRPr sz="1900" b="1">
                <a:solidFill>
                  <a:srgbClr val="182B3A"/>
                </a:solidFill>
                <a:latin typeface="Arial"/>
              </a:defRPr>
            </a:pPr>
            <a:r>
              <a:t>168 students form 7 equal groups. How many students are in each group?</a:t>
            </a:r>
          </a:p>
        </p:txBody>
      </p:sp>
      <p:sp>
        <p:nvSpPr>
          <p:cNvPr id="17" name="Rectangle 16"/>
          <p:cNvSpPr/>
          <p:nvPr/>
        </p:nvSpPr>
        <p:spPr>
          <a:xfrm>
            <a:off x="6406895" y="1581912"/>
            <a:ext cx="3919727" cy="1280160"/>
          </a:xfrm>
          <a:prstGeom prst="rect">
            <a:avLst/>
          </a:prstGeom>
          <a:solidFill>
            <a:srgbClr val="EFF3FA"/>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8" name="TextBox 17"/>
          <p:cNvSpPr txBox="1"/>
          <p:nvPr/>
        </p:nvSpPr>
        <p:spPr>
          <a:xfrm>
            <a:off x="6461759" y="1636776"/>
            <a:ext cx="3809999" cy="1170431"/>
          </a:xfrm>
          <a:prstGeom prst="rect">
            <a:avLst/>
          </a:prstGeom>
          <a:noFill/>
        </p:spPr>
        <p:txBody>
          <a:bodyPr wrap="square" tIns="36576" bIns="36576" anchor="ctr">
            <a:spAutoFit/>
          </a:bodyPr>
          <a:lstStyle/>
          <a:p>
            <a:pPr>
              <a:lnSpc>
                <a:spcPts val="2052"/>
              </a:lnSpc>
              <a:spcBef>
                <a:spcPts val="0"/>
              </a:spcBef>
              <a:spcAft>
                <a:spcPts val="0"/>
              </a:spcAft>
              <a:defRPr sz="1900" b="1">
                <a:solidFill>
                  <a:srgbClr val="182B3A"/>
                </a:solidFill>
                <a:latin typeface="Arial"/>
              </a:defRPr>
            </a:pPr>
            <a:r>
              <a:t>A worker earns £16 per hour for 27 hours. What are their total wages?</a:t>
            </a:r>
          </a:p>
        </p:txBody>
      </p:sp>
      <p:sp>
        <p:nvSpPr>
          <p:cNvPr id="19" name="Rectangle 18"/>
          <p:cNvSpPr/>
          <p:nvPr/>
        </p:nvSpPr>
        <p:spPr>
          <a:xfrm>
            <a:off x="10326624" y="1581912"/>
            <a:ext cx="3919727" cy="1280160"/>
          </a:xfrm>
          <a:prstGeom prst="rect">
            <a:avLst/>
          </a:prstGeom>
          <a:solidFill>
            <a:srgbClr val="F5F0F7"/>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20" name="TextBox 19"/>
          <p:cNvSpPr txBox="1"/>
          <p:nvPr/>
        </p:nvSpPr>
        <p:spPr>
          <a:xfrm>
            <a:off x="10381488" y="1636776"/>
            <a:ext cx="3809999" cy="1170431"/>
          </a:xfrm>
          <a:prstGeom prst="rect">
            <a:avLst/>
          </a:prstGeom>
          <a:noFill/>
        </p:spPr>
        <p:txBody>
          <a:bodyPr wrap="square" tIns="36576" bIns="36576" anchor="ctr">
            <a:spAutoFit/>
          </a:bodyPr>
          <a:lstStyle/>
          <a:p>
            <a:pPr>
              <a:lnSpc>
                <a:spcPts val="2052"/>
              </a:lnSpc>
              <a:spcBef>
                <a:spcPts val="0"/>
              </a:spcBef>
              <a:spcAft>
                <a:spcPts val="0"/>
              </a:spcAft>
              <a:defRPr sz="1900" b="1">
                <a:solidFill>
                  <a:srgbClr val="182B3A"/>
                </a:solidFill>
                <a:latin typeface="Arial"/>
              </a:defRPr>
            </a:pPr>
            <a:r>
              <a:t>157 passengers need vans with 8 passenger seats each. Hire costs £45 per van. Find the total hire cost.</a:t>
            </a:r>
          </a:p>
        </p:txBody>
      </p:sp>
      <p:sp>
        <p:nvSpPr>
          <p:cNvPr id="21" name="Rectangle 20"/>
          <p:cNvSpPr/>
          <p:nvPr/>
        </p:nvSpPr>
        <p:spPr>
          <a:xfrm>
            <a:off x="384048" y="2862072"/>
            <a:ext cx="2103120" cy="1188720"/>
          </a:xfrm>
          <a:prstGeom prst="rect">
            <a:avLst/>
          </a:prstGeom>
          <a:solidFill>
            <a:srgbClr val="E8EDF1"/>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22" name="TextBox 21"/>
          <p:cNvSpPr txBox="1"/>
          <p:nvPr/>
        </p:nvSpPr>
        <p:spPr>
          <a:xfrm>
            <a:off x="448056" y="2953512"/>
            <a:ext cx="1975103" cy="1005840"/>
          </a:xfrm>
          <a:prstGeom prst="rect">
            <a:avLst/>
          </a:prstGeom>
          <a:noFill/>
        </p:spPr>
        <p:txBody>
          <a:bodyPr wrap="square" tIns="36576" bIns="36576" anchor="t">
            <a:spAutoFit/>
          </a:bodyPr>
          <a:lstStyle/>
          <a:p>
            <a:pPr>
              <a:lnSpc>
                <a:spcPts val="1944"/>
              </a:lnSpc>
              <a:spcBef>
                <a:spcPts val="0"/>
              </a:spcBef>
              <a:spcAft>
                <a:spcPts val="0"/>
              </a:spcAft>
              <a:defRPr sz="1800" b="1">
                <a:solidFill>
                  <a:srgbClr val="182B3A"/>
                </a:solidFill>
                <a:latin typeface="Arial"/>
              </a:defRPr>
            </a:pPr>
            <a:r>
              <a:t>1. Keywords &amp; Calculation</a:t>
            </a:r>
          </a:p>
        </p:txBody>
      </p:sp>
      <p:sp>
        <p:nvSpPr>
          <p:cNvPr id="23" name="Rectangle 22"/>
          <p:cNvSpPr/>
          <p:nvPr/>
        </p:nvSpPr>
        <p:spPr>
          <a:xfrm>
            <a:off x="2487168" y="2862072"/>
            <a:ext cx="3919727" cy="118872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24" name="TextBox 23"/>
          <p:cNvSpPr txBox="1"/>
          <p:nvPr/>
        </p:nvSpPr>
        <p:spPr>
          <a:xfrm>
            <a:off x="2551175" y="2926079"/>
            <a:ext cx="3791712" cy="1024128"/>
          </a:xfrm>
          <a:prstGeom prst="rect">
            <a:avLst/>
          </a:prstGeom>
          <a:noFill/>
        </p:spPr>
        <p:txBody>
          <a:bodyPr wrap="square" tIns="36576" bIns="36576" anchor="t">
            <a:spAutoFit/>
          </a:bodyPr>
          <a:lstStyle/>
          <a:p>
            <a:pPr>
              <a:lnSpc>
                <a:spcPts val="2268"/>
              </a:lnSpc>
              <a:spcBef>
                <a:spcPts val="0"/>
              </a:spcBef>
              <a:spcAft>
                <a:spcPts val="0"/>
              </a:spcAft>
              <a:defRPr sz="2100" b="0">
                <a:solidFill>
                  <a:srgbClr val="182B3A"/>
                </a:solidFill>
                <a:latin typeface="Arial"/>
              </a:defRPr>
            </a:pPr>
            <a:r>
              <a:t>Identify the keywords. Write down the calculation(s) you need to do.</a:t>
            </a:r>
          </a:p>
        </p:txBody>
      </p:sp>
      <p:sp>
        <p:nvSpPr>
          <p:cNvPr id="25" name="Rectangle 24"/>
          <p:cNvSpPr/>
          <p:nvPr/>
        </p:nvSpPr>
        <p:spPr>
          <a:xfrm>
            <a:off x="6406895" y="2862072"/>
            <a:ext cx="3919727" cy="118872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26" name="TextBox 25"/>
          <p:cNvSpPr txBox="1"/>
          <p:nvPr/>
        </p:nvSpPr>
        <p:spPr>
          <a:xfrm>
            <a:off x="6470904" y="2926079"/>
            <a:ext cx="3791712" cy="1024128"/>
          </a:xfrm>
          <a:prstGeom prst="rect">
            <a:avLst/>
          </a:prstGeom>
          <a:noFill/>
        </p:spPr>
        <p:txBody>
          <a:bodyPr wrap="square" tIns="36576" bIns="36576" anchor="t">
            <a:spAutoFit/>
          </a:bodyPr>
          <a:lstStyle/>
          <a:p>
            <a:pPr>
              <a:lnSpc>
                <a:spcPts val="2268"/>
              </a:lnSpc>
              <a:spcBef>
                <a:spcPts val="0"/>
              </a:spcBef>
              <a:spcAft>
                <a:spcPts val="0"/>
              </a:spcAft>
              <a:defRPr sz="2100" b="0">
                <a:solidFill>
                  <a:srgbClr val="182B3A"/>
                </a:solidFill>
                <a:latin typeface="Arial"/>
              </a:defRPr>
            </a:pPr>
            <a:r>
              <a:t>Identify the keywords. Write down the calculation(s) you need to do.</a:t>
            </a:r>
          </a:p>
        </p:txBody>
      </p:sp>
      <p:sp>
        <p:nvSpPr>
          <p:cNvPr id="27" name="Rectangle 26"/>
          <p:cNvSpPr/>
          <p:nvPr/>
        </p:nvSpPr>
        <p:spPr>
          <a:xfrm>
            <a:off x="10326624" y="2862072"/>
            <a:ext cx="3919727" cy="118872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28" name="TextBox 27"/>
          <p:cNvSpPr txBox="1"/>
          <p:nvPr/>
        </p:nvSpPr>
        <p:spPr>
          <a:xfrm>
            <a:off x="10390632" y="2926079"/>
            <a:ext cx="3791712" cy="1024128"/>
          </a:xfrm>
          <a:prstGeom prst="rect">
            <a:avLst/>
          </a:prstGeom>
          <a:noFill/>
        </p:spPr>
        <p:txBody>
          <a:bodyPr wrap="square" tIns="36576" bIns="36576" anchor="t">
            <a:spAutoFit/>
          </a:bodyPr>
          <a:lstStyle/>
          <a:p>
            <a:pPr>
              <a:lnSpc>
                <a:spcPts val="2268"/>
              </a:lnSpc>
              <a:spcBef>
                <a:spcPts val="0"/>
              </a:spcBef>
              <a:spcAft>
                <a:spcPts val="0"/>
              </a:spcAft>
              <a:defRPr sz="2100" b="0">
                <a:solidFill>
                  <a:srgbClr val="182B3A"/>
                </a:solidFill>
                <a:latin typeface="Arial"/>
              </a:defRPr>
            </a:pPr>
            <a:r>
              <a:t>Identify the keywords. Write down the calculation(s) you need to do.</a:t>
            </a:r>
          </a:p>
        </p:txBody>
      </p:sp>
      <p:sp>
        <p:nvSpPr>
          <p:cNvPr id="29" name="Rectangle 28"/>
          <p:cNvSpPr/>
          <p:nvPr/>
        </p:nvSpPr>
        <p:spPr>
          <a:xfrm>
            <a:off x="384048" y="4050791"/>
            <a:ext cx="2103120" cy="1188720"/>
          </a:xfrm>
          <a:prstGeom prst="rect">
            <a:avLst/>
          </a:prstGeom>
          <a:solidFill>
            <a:srgbClr val="E8EDF1"/>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30" name="TextBox 29"/>
          <p:cNvSpPr txBox="1"/>
          <p:nvPr/>
        </p:nvSpPr>
        <p:spPr>
          <a:xfrm>
            <a:off x="448056" y="4142231"/>
            <a:ext cx="1975103" cy="1005840"/>
          </a:xfrm>
          <a:prstGeom prst="rect">
            <a:avLst/>
          </a:prstGeom>
          <a:noFill/>
        </p:spPr>
        <p:txBody>
          <a:bodyPr wrap="square" tIns="36576" bIns="36576" anchor="t">
            <a:spAutoFit/>
          </a:bodyPr>
          <a:lstStyle/>
          <a:p>
            <a:pPr>
              <a:lnSpc>
                <a:spcPts val="1944"/>
              </a:lnSpc>
              <a:spcBef>
                <a:spcPts val="0"/>
              </a:spcBef>
              <a:spcAft>
                <a:spcPts val="0"/>
              </a:spcAft>
              <a:defRPr sz="1800" b="1">
                <a:solidFill>
                  <a:srgbClr val="182B3A"/>
                </a:solidFill>
                <a:latin typeface="Arial"/>
              </a:defRPr>
            </a:pPr>
            <a:r>
              <a:t>2. Written Method</a:t>
            </a:r>
          </a:p>
        </p:txBody>
      </p:sp>
      <p:sp>
        <p:nvSpPr>
          <p:cNvPr id="31" name="Rectangle 30"/>
          <p:cNvSpPr/>
          <p:nvPr/>
        </p:nvSpPr>
        <p:spPr>
          <a:xfrm>
            <a:off x="2487168" y="4050791"/>
            <a:ext cx="3919727" cy="118872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32" name="TextBox 31"/>
          <p:cNvSpPr txBox="1"/>
          <p:nvPr/>
        </p:nvSpPr>
        <p:spPr>
          <a:xfrm>
            <a:off x="2551175" y="4114800"/>
            <a:ext cx="3791712" cy="1024128"/>
          </a:xfrm>
          <a:prstGeom prst="rect">
            <a:avLst/>
          </a:prstGeom>
          <a:noFill/>
        </p:spPr>
        <p:txBody>
          <a:bodyPr wrap="square" tIns="36576" bIns="36576" anchor="t">
            <a:spAutoFit/>
          </a:bodyPr>
          <a:lstStyle/>
          <a:p>
            <a:pPr>
              <a:lnSpc>
                <a:spcPts val="2268"/>
              </a:lnSpc>
              <a:spcBef>
                <a:spcPts val="0"/>
              </a:spcBef>
              <a:spcAft>
                <a:spcPts val="0"/>
              </a:spcAft>
              <a:defRPr sz="2100" b="0">
                <a:solidFill>
                  <a:srgbClr val="182B3A"/>
                </a:solidFill>
                <a:latin typeface="Arial"/>
              </a:defRPr>
            </a:pPr>
            <a:r>
              <a:t>Set up and use the written method for your calculation(s).</a:t>
            </a:r>
          </a:p>
        </p:txBody>
      </p:sp>
      <p:sp>
        <p:nvSpPr>
          <p:cNvPr id="33" name="Rectangle 32"/>
          <p:cNvSpPr/>
          <p:nvPr/>
        </p:nvSpPr>
        <p:spPr>
          <a:xfrm>
            <a:off x="6406895" y="4050791"/>
            <a:ext cx="3919727" cy="118872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34" name="TextBox 33"/>
          <p:cNvSpPr txBox="1"/>
          <p:nvPr/>
        </p:nvSpPr>
        <p:spPr>
          <a:xfrm>
            <a:off x="6470904" y="4114800"/>
            <a:ext cx="3791712" cy="1024128"/>
          </a:xfrm>
          <a:prstGeom prst="rect">
            <a:avLst/>
          </a:prstGeom>
          <a:noFill/>
        </p:spPr>
        <p:txBody>
          <a:bodyPr wrap="square" tIns="36576" bIns="36576" anchor="t">
            <a:spAutoFit/>
          </a:bodyPr>
          <a:lstStyle/>
          <a:p>
            <a:pPr>
              <a:lnSpc>
                <a:spcPts val="2268"/>
              </a:lnSpc>
              <a:spcBef>
                <a:spcPts val="0"/>
              </a:spcBef>
              <a:spcAft>
                <a:spcPts val="0"/>
              </a:spcAft>
              <a:defRPr sz="2100" b="0">
                <a:solidFill>
                  <a:srgbClr val="182B3A"/>
                </a:solidFill>
                <a:latin typeface="Arial"/>
              </a:defRPr>
            </a:pPr>
            <a:r>
              <a:t>Set up and use the written method for your calculation(s).</a:t>
            </a:r>
          </a:p>
        </p:txBody>
      </p:sp>
      <p:sp>
        <p:nvSpPr>
          <p:cNvPr id="35" name="Rectangle 34"/>
          <p:cNvSpPr/>
          <p:nvPr/>
        </p:nvSpPr>
        <p:spPr>
          <a:xfrm>
            <a:off x="10326624" y="4050791"/>
            <a:ext cx="3919727" cy="118872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36" name="TextBox 35"/>
          <p:cNvSpPr txBox="1"/>
          <p:nvPr/>
        </p:nvSpPr>
        <p:spPr>
          <a:xfrm>
            <a:off x="10390632" y="4114800"/>
            <a:ext cx="3791712" cy="1024128"/>
          </a:xfrm>
          <a:prstGeom prst="rect">
            <a:avLst/>
          </a:prstGeom>
          <a:noFill/>
        </p:spPr>
        <p:txBody>
          <a:bodyPr wrap="square" tIns="36576" bIns="36576" anchor="t">
            <a:spAutoFit/>
          </a:bodyPr>
          <a:lstStyle/>
          <a:p>
            <a:pPr>
              <a:lnSpc>
                <a:spcPts val="2268"/>
              </a:lnSpc>
              <a:spcBef>
                <a:spcPts val="0"/>
              </a:spcBef>
              <a:spcAft>
                <a:spcPts val="0"/>
              </a:spcAft>
              <a:defRPr sz="2100" b="0">
                <a:solidFill>
                  <a:srgbClr val="182B3A"/>
                </a:solidFill>
                <a:latin typeface="Arial"/>
              </a:defRPr>
            </a:pPr>
            <a:r>
              <a:t>Set up and use the written method for your calculation(s).</a:t>
            </a:r>
          </a:p>
        </p:txBody>
      </p:sp>
      <p:sp>
        <p:nvSpPr>
          <p:cNvPr id="37" name="Rectangle 36"/>
          <p:cNvSpPr/>
          <p:nvPr/>
        </p:nvSpPr>
        <p:spPr>
          <a:xfrm>
            <a:off x="384048" y="5239512"/>
            <a:ext cx="2103120" cy="1188720"/>
          </a:xfrm>
          <a:prstGeom prst="rect">
            <a:avLst/>
          </a:prstGeom>
          <a:solidFill>
            <a:srgbClr val="E8EDF1"/>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38" name="TextBox 37"/>
          <p:cNvSpPr txBox="1"/>
          <p:nvPr/>
        </p:nvSpPr>
        <p:spPr>
          <a:xfrm>
            <a:off x="448056" y="5330951"/>
            <a:ext cx="1975103" cy="1005840"/>
          </a:xfrm>
          <a:prstGeom prst="rect">
            <a:avLst/>
          </a:prstGeom>
          <a:noFill/>
        </p:spPr>
        <p:txBody>
          <a:bodyPr wrap="square" tIns="36576" bIns="36576" anchor="t">
            <a:spAutoFit/>
          </a:bodyPr>
          <a:lstStyle/>
          <a:p>
            <a:pPr>
              <a:lnSpc>
                <a:spcPts val="1944"/>
              </a:lnSpc>
              <a:spcBef>
                <a:spcPts val="0"/>
              </a:spcBef>
              <a:spcAft>
                <a:spcPts val="0"/>
              </a:spcAft>
              <a:defRPr sz="1800" b="1">
                <a:solidFill>
                  <a:srgbClr val="182B3A"/>
                </a:solidFill>
                <a:latin typeface="Arial"/>
              </a:defRPr>
            </a:pPr>
            <a:r>
              <a:t>3. Ballpark Check &amp; Math</a:t>
            </a:r>
          </a:p>
        </p:txBody>
      </p:sp>
      <p:sp>
        <p:nvSpPr>
          <p:cNvPr id="39" name="Rectangle 38"/>
          <p:cNvSpPr/>
          <p:nvPr/>
        </p:nvSpPr>
        <p:spPr>
          <a:xfrm>
            <a:off x="2487168" y="5239512"/>
            <a:ext cx="3919727" cy="118872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40" name="TextBox 39"/>
          <p:cNvSpPr txBox="1"/>
          <p:nvPr/>
        </p:nvSpPr>
        <p:spPr>
          <a:xfrm>
            <a:off x="2551175" y="5303520"/>
            <a:ext cx="3791712" cy="1024128"/>
          </a:xfrm>
          <a:prstGeom prst="rect">
            <a:avLst/>
          </a:prstGeom>
          <a:noFill/>
        </p:spPr>
        <p:txBody>
          <a:bodyPr wrap="square" tIns="36576" bIns="36576" anchor="t">
            <a:spAutoFit/>
          </a:bodyPr>
          <a:lstStyle/>
          <a:p>
            <a:pPr>
              <a:lnSpc>
                <a:spcPts val="2268"/>
              </a:lnSpc>
              <a:spcBef>
                <a:spcPts val="0"/>
              </a:spcBef>
              <a:spcAft>
                <a:spcPts val="0"/>
              </a:spcAft>
              <a:defRPr sz="2100" b="0">
                <a:solidFill>
                  <a:srgbClr val="182B3A"/>
                </a:solidFill>
                <a:latin typeface="Arial"/>
              </a:defRPr>
            </a:pPr>
            <a:r>
              <a:t>Check your answer using rough ballpark calculations. Does it make sense?</a:t>
            </a:r>
          </a:p>
        </p:txBody>
      </p:sp>
      <p:sp>
        <p:nvSpPr>
          <p:cNvPr id="41" name="Rectangle 40"/>
          <p:cNvSpPr/>
          <p:nvPr/>
        </p:nvSpPr>
        <p:spPr>
          <a:xfrm>
            <a:off x="6406895" y="5239512"/>
            <a:ext cx="3919727" cy="118872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42" name="TextBox 41"/>
          <p:cNvSpPr txBox="1"/>
          <p:nvPr/>
        </p:nvSpPr>
        <p:spPr>
          <a:xfrm>
            <a:off x="6470904" y="5303520"/>
            <a:ext cx="3791712" cy="1024128"/>
          </a:xfrm>
          <a:prstGeom prst="rect">
            <a:avLst/>
          </a:prstGeom>
          <a:noFill/>
        </p:spPr>
        <p:txBody>
          <a:bodyPr wrap="square" tIns="36576" bIns="36576" anchor="t">
            <a:spAutoFit/>
          </a:bodyPr>
          <a:lstStyle/>
          <a:p>
            <a:pPr>
              <a:lnSpc>
                <a:spcPts val="2268"/>
              </a:lnSpc>
              <a:spcBef>
                <a:spcPts val="0"/>
              </a:spcBef>
              <a:spcAft>
                <a:spcPts val="0"/>
              </a:spcAft>
              <a:defRPr sz="2100" b="0">
                <a:solidFill>
                  <a:srgbClr val="182B3A"/>
                </a:solidFill>
                <a:latin typeface="Arial"/>
              </a:defRPr>
            </a:pPr>
            <a:r>
              <a:t>Check your answer using rough ballpark calculations. Does it make sense?</a:t>
            </a:r>
          </a:p>
        </p:txBody>
      </p:sp>
      <p:sp>
        <p:nvSpPr>
          <p:cNvPr id="43" name="Rectangle 42"/>
          <p:cNvSpPr/>
          <p:nvPr/>
        </p:nvSpPr>
        <p:spPr>
          <a:xfrm>
            <a:off x="10326624" y="5239512"/>
            <a:ext cx="3919727" cy="118872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44" name="TextBox 43"/>
          <p:cNvSpPr txBox="1"/>
          <p:nvPr/>
        </p:nvSpPr>
        <p:spPr>
          <a:xfrm>
            <a:off x="10390632" y="5303520"/>
            <a:ext cx="3791712" cy="1024128"/>
          </a:xfrm>
          <a:prstGeom prst="rect">
            <a:avLst/>
          </a:prstGeom>
          <a:noFill/>
        </p:spPr>
        <p:txBody>
          <a:bodyPr wrap="square" tIns="36576" bIns="36576" anchor="t">
            <a:spAutoFit/>
          </a:bodyPr>
          <a:lstStyle/>
          <a:p>
            <a:pPr>
              <a:lnSpc>
                <a:spcPts val="2268"/>
              </a:lnSpc>
              <a:spcBef>
                <a:spcPts val="0"/>
              </a:spcBef>
              <a:spcAft>
                <a:spcPts val="0"/>
              </a:spcAft>
              <a:defRPr sz="2100" b="0">
                <a:solidFill>
                  <a:srgbClr val="182B3A"/>
                </a:solidFill>
                <a:latin typeface="Arial"/>
              </a:defRPr>
            </a:pPr>
            <a:r>
              <a:t>Check your answer using rough ballpark calculations. Does it make sense?</a:t>
            </a:r>
          </a:p>
        </p:txBody>
      </p:sp>
      <p:sp>
        <p:nvSpPr>
          <p:cNvPr id="45" name="Rectangle 44"/>
          <p:cNvSpPr/>
          <p:nvPr/>
        </p:nvSpPr>
        <p:spPr>
          <a:xfrm>
            <a:off x="384048" y="6428231"/>
            <a:ext cx="2103120" cy="1188720"/>
          </a:xfrm>
          <a:prstGeom prst="rect">
            <a:avLst/>
          </a:prstGeom>
          <a:solidFill>
            <a:srgbClr val="E8EDF1"/>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46" name="TextBox 45"/>
          <p:cNvSpPr txBox="1"/>
          <p:nvPr/>
        </p:nvSpPr>
        <p:spPr>
          <a:xfrm>
            <a:off x="448056" y="6519671"/>
            <a:ext cx="1975103" cy="1005840"/>
          </a:xfrm>
          <a:prstGeom prst="rect">
            <a:avLst/>
          </a:prstGeom>
          <a:noFill/>
        </p:spPr>
        <p:txBody>
          <a:bodyPr wrap="square" tIns="36576" bIns="36576" anchor="t">
            <a:spAutoFit/>
          </a:bodyPr>
          <a:lstStyle/>
          <a:p>
            <a:pPr>
              <a:lnSpc>
                <a:spcPts val="1944"/>
              </a:lnSpc>
              <a:spcBef>
                <a:spcPts val="0"/>
              </a:spcBef>
              <a:spcAft>
                <a:spcPts val="0"/>
              </a:spcAft>
              <a:defRPr sz="1800" b="1">
                <a:solidFill>
                  <a:srgbClr val="182B3A"/>
                </a:solidFill>
                <a:latin typeface="Arial"/>
              </a:defRPr>
            </a:pPr>
            <a:r>
              <a:t>4. Final Answer</a:t>
            </a:r>
          </a:p>
        </p:txBody>
      </p:sp>
      <p:sp>
        <p:nvSpPr>
          <p:cNvPr id="47" name="Rectangle 46"/>
          <p:cNvSpPr/>
          <p:nvPr/>
        </p:nvSpPr>
        <p:spPr>
          <a:xfrm>
            <a:off x="2487168" y="6428231"/>
            <a:ext cx="3919727" cy="118872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48" name="TextBox 47"/>
          <p:cNvSpPr txBox="1"/>
          <p:nvPr/>
        </p:nvSpPr>
        <p:spPr>
          <a:xfrm>
            <a:off x="2551175" y="6492240"/>
            <a:ext cx="3791712" cy="1024128"/>
          </a:xfrm>
          <a:prstGeom prst="rect">
            <a:avLst/>
          </a:prstGeom>
          <a:noFill/>
        </p:spPr>
        <p:txBody>
          <a:bodyPr wrap="square" tIns="36576" bIns="36576" anchor="t">
            <a:spAutoFit/>
          </a:bodyPr>
          <a:lstStyle/>
          <a:p>
            <a:pPr>
              <a:lnSpc>
                <a:spcPts val="2268"/>
              </a:lnSpc>
              <a:spcBef>
                <a:spcPts val="0"/>
              </a:spcBef>
              <a:spcAft>
                <a:spcPts val="0"/>
              </a:spcAft>
              <a:defRPr sz="2100" b="0">
                <a:solidFill>
                  <a:srgbClr val="182B3A"/>
                </a:solidFill>
                <a:latin typeface="Arial"/>
              </a:defRPr>
            </a:pPr>
            <a:r>
              <a:t>Write your final answer to the question. Include the correct units.</a:t>
            </a:r>
          </a:p>
        </p:txBody>
      </p:sp>
      <p:sp>
        <p:nvSpPr>
          <p:cNvPr id="49" name="Rectangle 48"/>
          <p:cNvSpPr/>
          <p:nvPr/>
        </p:nvSpPr>
        <p:spPr>
          <a:xfrm>
            <a:off x="6406895" y="6428231"/>
            <a:ext cx="3919727" cy="118872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50" name="TextBox 49"/>
          <p:cNvSpPr txBox="1"/>
          <p:nvPr/>
        </p:nvSpPr>
        <p:spPr>
          <a:xfrm>
            <a:off x="6470904" y="6492240"/>
            <a:ext cx="3791712" cy="1024128"/>
          </a:xfrm>
          <a:prstGeom prst="rect">
            <a:avLst/>
          </a:prstGeom>
          <a:noFill/>
        </p:spPr>
        <p:txBody>
          <a:bodyPr wrap="square" tIns="36576" bIns="36576" anchor="t">
            <a:spAutoFit/>
          </a:bodyPr>
          <a:lstStyle/>
          <a:p>
            <a:pPr>
              <a:lnSpc>
                <a:spcPts val="2268"/>
              </a:lnSpc>
              <a:spcBef>
                <a:spcPts val="0"/>
              </a:spcBef>
              <a:spcAft>
                <a:spcPts val="0"/>
              </a:spcAft>
              <a:defRPr sz="2100" b="0">
                <a:solidFill>
                  <a:srgbClr val="182B3A"/>
                </a:solidFill>
                <a:latin typeface="Arial"/>
              </a:defRPr>
            </a:pPr>
            <a:r>
              <a:t>Write your final answer to the question. Include the correct units.</a:t>
            </a:r>
          </a:p>
        </p:txBody>
      </p:sp>
      <p:sp>
        <p:nvSpPr>
          <p:cNvPr id="51" name="Rectangle 50"/>
          <p:cNvSpPr/>
          <p:nvPr/>
        </p:nvSpPr>
        <p:spPr>
          <a:xfrm>
            <a:off x="10326624" y="6428231"/>
            <a:ext cx="3919727" cy="118872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52" name="TextBox 51"/>
          <p:cNvSpPr txBox="1"/>
          <p:nvPr/>
        </p:nvSpPr>
        <p:spPr>
          <a:xfrm>
            <a:off x="10390632" y="6492240"/>
            <a:ext cx="3791712" cy="1024128"/>
          </a:xfrm>
          <a:prstGeom prst="rect">
            <a:avLst/>
          </a:prstGeom>
          <a:noFill/>
        </p:spPr>
        <p:txBody>
          <a:bodyPr wrap="square" tIns="36576" bIns="36576" anchor="t">
            <a:spAutoFit/>
          </a:bodyPr>
          <a:lstStyle/>
          <a:p>
            <a:pPr>
              <a:lnSpc>
                <a:spcPts val="2268"/>
              </a:lnSpc>
              <a:spcBef>
                <a:spcPts val="0"/>
              </a:spcBef>
              <a:spcAft>
                <a:spcPts val="0"/>
              </a:spcAft>
              <a:defRPr sz="2100" b="0">
                <a:solidFill>
                  <a:srgbClr val="182B3A"/>
                </a:solidFill>
                <a:latin typeface="Arial"/>
              </a:defRPr>
            </a:pPr>
            <a:r>
              <a:t>Write your final answer to the question. Include the correct units.</a:t>
            </a:r>
          </a:p>
        </p:txBody>
      </p:sp>
    </p:spTree>
  </p:cSld>
  <p:clrMapOvr>
    <a:masterClrMapping/>
  </p:clrMapOvr>
</p:sld>
</file>

<file path=ppt/slides/slide54.xml><?xml version="1.0" encoding="utf-8"?>
<p:sld xmlns:a="http://schemas.openxmlformats.org/drawingml/2006/main" xmlns:p="http://schemas.openxmlformats.org/presentationml/2006/main" xmlns:r="http://schemas.openxmlformats.org/officeDocument/2006/relationships">
  <p:cSld>
    <p:bg>
      <p:bgPr>
        <a:solidFill>
          <a:srgbClr val="F7F8FA"/>
        </a:solidFill>
        <a:effectLst/>
      </p:bgPr>
    </p:bg>
    <p:spTree>
      <p:nvGrpSpPr>
        <p:cNvPr id="1" name=""/>
        <p:cNvGrpSpPr/>
        <p:nvPr/>
      </p:nvGrpSpPr>
      <p:grpSpPr/>
      <p:sp>
        <p:nvSpPr>
          <p:cNvPr id="2" name="Rectangle 1"/>
          <p:cNvSpPr/>
          <p:nvPr/>
        </p:nvSpPr>
        <p:spPr>
          <a:xfrm>
            <a:off x="0" y="0"/>
            <a:ext cx="14630400" cy="91440"/>
          </a:xfrm>
          <a:prstGeom prst="rect">
            <a:avLst/>
          </a:prstGeom>
          <a:solidFill>
            <a:srgbClr val="176B73"/>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 name="TextBox 2"/>
          <p:cNvSpPr txBox="1"/>
          <p:nvPr/>
        </p:nvSpPr>
        <p:spPr>
          <a:xfrm>
            <a:off x="384048" y="219456"/>
            <a:ext cx="13807440" cy="457200"/>
          </a:xfrm>
          <a:prstGeom prst="rect">
            <a:avLst/>
          </a:prstGeom>
          <a:noFill/>
        </p:spPr>
        <p:txBody>
          <a:bodyPr wrap="square" tIns="36576" bIns="36576" anchor="t">
            <a:spAutoFit/>
          </a:bodyPr>
          <a:lstStyle/>
          <a:p>
            <a:pPr>
              <a:lnSpc>
                <a:spcPts val="3132"/>
              </a:lnSpc>
              <a:spcBef>
                <a:spcPts val="0"/>
              </a:spcBef>
              <a:spcAft>
                <a:spcPts val="0"/>
              </a:spcAft>
              <a:defRPr sz="2900" b="1">
                <a:solidFill>
                  <a:srgbClr val="182B3A"/>
                </a:solidFill>
                <a:latin typeface="Arial"/>
              </a:defRPr>
            </a:pPr>
            <a:r>
              <a:t>Multiplication and Division Problems — spot the errors</a:t>
            </a:r>
          </a:p>
        </p:txBody>
      </p:sp>
      <p:sp>
        <p:nvSpPr>
          <p:cNvPr id="4" name="TextBox 3"/>
          <p:cNvSpPr txBox="1"/>
          <p:nvPr/>
        </p:nvSpPr>
        <p:spPr>
          <a:xfrm>
            <a:off x="384048" y="740664"/>
            <a:ext cx="13807440" cy="411480"/>
          </a:xfrm>
          <a:prstGeom prst="rect">
            <a:avLst/>
          </a:prstGeom>
          <a:noFill/>
        </p:spPr>
        <p:txBody>
          <a:bodyPr wrap="square" tIns="36576" bIns="36576" anchor="t">
            <a:spAutoFit/>
          </a:bodyPr>
          <a:lstStyle/>
          <a:p>
            <a:pPr>
              <a:lnSpc>
                <a:spcPts val="1836"/>
              </a:lnSpc>
              <a:spcBef>
                <a:spcPts val="0"/>
              </a:spcBef>
              <a:spcAft>
                <a:spcPts val="0"/>
              </a:spcAft>
              <a:defRPr sz="1700" b="0">
                <a:solidFill>
                  <a:srgbClr val="526472"/>
                </a:solidFill>
                <a:latin typeface="Arial"/>
              </a:defRPr>
            </a:pPr>
            <a:r>
              <a:t>Each student’s working contains a mistake. Find it, correct the working and give the right answer.</a:t>
            </a:r>
          </a:p>
        </p:txBody>
      </p:sp>
      <p:sp>
        <p:nvSpPr>
          <p:cNvPr id="5" name="TextBox 4"/>
          <p:cNvSpPr txBox="1"/>
          <p:nvPr/>
        </p:nvSpPr>
        <p:spPr>
          <a:xfrm>
            <a:off x="384048" y="7863840"/>
            <a:ext cx="13716000" cy="256032"/>
          </a:xfrm>
          <a:prstGeom prst="rect">
            <a:avLst/>
          </a:prstGeom>
          <a:noFill/>
        </p:spPr>
        <p:txBody>
          <a:bodyPr wrap="square" tIns="36576" bIns="36576" anchor="t">
            <a:spAutoFit/>
          </a:bodyPr>
          <a:lstStyle/>
          <a:p>
            <a:pPr>
              <a:lnSpc>
                <a:spcPts val="1188"/>
              </a:lnSpc>
              <a:spcBef>
                <a:spcPts val="0"/>
              </a:spcBef>
              <a:spcAft>
                <a:spcPts val="0"/>
              </a:spcAft>
              <a:defRPr sz="1100" b="0">
                <a:solidFill>
                  <a:srgbClr val="526472"/>
                </a:solidFill>
                <a:latin typeface="Arial"/>
              </a:defRPr>
            </a:pPr>
            <a:r>
              <a:t>M03-SE  •  Record your working in your booklet or webapp.</a:t>
            </a:r>
          </a:p>
        </p:txBody>
      </p:sp>
      <p:sp>
        <p:nvSpPr>
          <p:cNvPr id="6" name="Rectangle 5"/>
          <p:cNvSpPr/>
          <p:nvPr/>
        </p:nvSpPr>
        <p:spPr>
          <a:xfrm>
            <a:off x="384048" y="1234440"/>
            <a:ext cx="4588764" cy="420624"/>
          </a:xfrm>
          <a:prstGeom prst="rect">
            <a:avLst/>
          </a:prstGeom>
          <a:solidFill>
            <a:srgbClr val="176B73"/>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7" name="TextBox 6"/>
          <p:cNvSpPr txBox="1"/>
          <p:nvPr/>
        </p:nvSpPr>
        <p:spPr>
          <a:xfrm>
            <a:off x="448056" y="1261872"/>
            <a:ext cx="4474464" cy="347472"/>
          </a:xfrm>
          <a:prstGeom prst="rect">
            <a:avLst/>
          </a:prstGeom>
          <a:noFill/>
        </p:spPr>
        <p:txBody>
          <a:bodyPr wrap="square" tIns="36576" bIns="36576" anchor="t">
            <a:spAutoFit/>
          </a:bodyPr>
          <a:lstStyle/>
          <a:p>
            <a:pPr>
              <a:lnSpc>
                <a:spcPts val="2160"/>
              </a:lnSpc>
              <a:spcBef>
                <a:spcPts val="0"/>
              </a:spcBef>
              <a:spcAft>
                <a:spcPts val="0"/>
              </a:spcAft>
              <a:defRPr sz="2000" b="1">
                <a:solidFill>
                  <a:srgbClr val="FFFFFF"/>
                </a:solidFill>
                <a:latin typeface="Arial"/>
              </a:defRPr>
            </a:pPr>
            <a:r>
              <a:t>Start</a:t>
            </a:r>
          </a:p>
        </p:txBody>
      </p:sp>
      <p:sp>
        <p:nvSpPr>
          <p:cNvPr id="8" name="Rectangle 7"/>
          <p:cNvSpPr/>
          <p:nvPr/>
        </p:nvSpPr>
        <p:spPr>
          <a:xfrm>
            <a:off x="384048" y="1719072"/>
            <a:ext cx="4588764" cy="1929384"/>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9" name="TextBox 8"/>
          <p:cNvSpPr txBox="1"/>
          <p:nvPr/>
        </p:nvSpPr>
        <p:spPr>
          <a:xfrm>
            <a:off x="475488" y="1755648"/>
            <a:ext cx="4392168" cy="841248"/>
          </a:xfrm>
          <a:prstGeom prst="rect">
            <a:avLst/>
          </a:prstGeom>
          <a:noFill/>
        </p:spPr>
        <p:txBody>
          <a:bodyPr wrap="square" tIns="36576" bIns="36576" anchor="t">
            <a:spAutoFit/>
          </a:bodyPr>
          <a:lstStyle/>
          <a:p>
            <a:pPr>
              <a:lnSpc>
                <a:spcPts val="1944"/>
              </a:lnSpc>
              <a:spcBef>
                <a:spcPts val="0"/>
              </a:spcBef>
              <a:spcAft>
                <a:spcPts val="0"/>
              </a:spcAft>
              <a:defRPr sz="1800" b="1">
                <a:solidFill>
                  <a:srgbClr val="182B3A"/>
                </a:solidFill>
                <a:latin typeface="Arial"/>
              </a:defRPr>
            </a:pPr>
            <a:r>
              <a:t>1.  14 boxes hold 8 pens each. How many pens altogether?</a:t>
            </a:r>
          </a:p>
        </p:txBody>
      </p:sp>
      <p:sp>
        <p:nvSpPr>
          <p:cNvPr id="10" name="TextBox 9"/>
          <p:cNvSpPr txBox="1"/>
          <p:nvPr/>
        </p:nvSpPr>
        <p:spPr>
          <a:xfrm>
            <a:off x="612647" y="2551176"/>
            <a:ext cx="4206240" cy="310896"/>
          </a:xfrm>
          <a:prstGeom prst="rect">
            <a:avLst/>
          </a:prstGeom>
          <a:noFill/>
        </p:spPr>
        <p:txBody>
          <a:bodyPr wrap="none" lIns="0" rIns="0" tIns="0" bIns="0">
            <a:spAutoFit/>
          </a:bodyPr>
          <a:lstStyle/>
          <a:p>
            <a:pPr algn="l">
              <a:lnSpc>
                <a:spcPts val="2240"/>
              </a:lnSpc>
              <a:spcBef>
                <a:spcPts val="0"/>
              </a:spcBef>
              <a:spcAft>
                <a:spcPts val="0"/>
              </a:spcAft>
              <a:defRPr sz="2000" b="0">
                <a:solidFill>
                  <a:srgbClr val="182B3A"/>
                </a:solidFill>
                <a:latin typeface="Arial"/>
              </a:defRPr>
            </a:pPr>
            <a:r>
              <a:t>14 + 8 = 22</a:t>
            </a:r>
          </a:p>
        </p:txBody>
      </p:sp>
      <p:sp>
        <p:nvSpPr>
          <p:cNvPr id="11" name="TextBox 10"/>
          <p:cNvSpPr txBox="1"/>
          <p:nvPr/>
        </p:nvSpPr>
        <p:spPr>
          <a:xfrm>
            <a:off x="612647" y="2852928"/>
            <a:ext cx="4206240" cy="310896"/>
          </a:xfrm>
          <a:prstGeom prst="rect">
            <a:avLst/>
          </a:prstGeom>
          <a:noFill/>
        </p:spPr>
        <p:txBody>
          <a:bodyPr wrap="none" lIns="0" rIns="0" tIns="0" bIns="0">
            <a:spAutoFit/>
          </a:bodyPr>
          <a:lstStyle/>
          <a:p>
            <a:pPr algn="l">
              <a:lnSpc>
                <a:spcPts val="2240"/>
              </a:lnSpc>
              <a:spcBef>
                <a:spcPts val="0"/>
              </a:spcBef>
              <a:spcAft>
                <a:spcPts val="0"/>
              </a:spcAft>
              <a:defRPr sz="2000" b="0">
                <a:solidFill>
                  <a:srgbClr val="182B3A"/>
                </a:solidFill>
                <a:latin typeface="Arial"/>
              </a:defRPr>
            </a:pPr>
            <a:r>
              <a:t>22 pens</a:t>
            </a:r>
          </a:p>
        </p:txBody>
      </p:sp>
      <p:sp>
        <p:nvSpPr>
          <p:cNvPr id="12" name="Rectangle 11"/>
          <p:cNvSpPr/>
          <p:nvPr/>
        </p:nvSpPr>
        <p:spPr>
          <a:xfrm>
            <a:off x="384048" y="3721608"/>
            <a:ext cx="4588764" cy="1929384"/>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3" name="TextBox 12"/>
          <p:cNvSpPr txBox="1"/>
          <p:nvPr/>
        </p:nvSpPr>
        <p:spPr>
          <a:xfrm>
            <a:off x="475488" y="3758184"/>
            <a:ext cx="4392168" cy="841248"/>
          </a:xfrm>
          <a:prstGeom prst="rect">
            <a:avLst/>
          </a:prstGeom>
          <a:noFill/>
        </p:spPr>
        <p:txBody>
          <a:bodyPr wrap="square" tIns="36576" bIns="36576" anchor="t">
            <a:spAutoFit/>
          </a:bodyPr>
          <a:lstStyle/>
          <a:p>
            <a:pPr>
              <a:lnSpc>
                <a:spcPts val="1944"/>
              </a:lnSpc>
              <a:spcBef>
                <a:spcPts val="0"/>
              </a:spcBef>
              <a:spcAft>
                <a:spcPts val="0"/>
              </a:spcAft>
              <a:defRPr sz="1800" b="1">
                <a:solidFill>
                  <a:srgbClr val="182B3A"/>
                </a:solidFill>
                <a:latin typeface="Arial"/>
              </a:defRPr>
            </a:pPr>
            <a:r>
              <a:t>2.  96 stickers are shared equally among 4 pupils. How many per pupil?</a:t>
            </a:r>
          </a:p>
        </p:txBody>
      </p:sp>
      <p:cxnSp>
        <p:nvCxnSpPr>
          <p:cNvPr id="14" name="Connector 13"/>
          <p:cNvCxnSpPr/>
          <p:nvPr/>
        </p:nvCxnSpPr>
        <p:spPr>
          <a:xfrm>
            <a:off x="904341" y="4877409"/>
            <a:ext cx="831190" cy="0"/>
          </a:xfrm>
          <a:prstGeom prst="line">
            <a:avLst/>
          </a:prstGeom>
          <a:ln w="16510">
            <a:solidFill>
              <a:srgbClr val="182B3A"/>
            </a:solidFill>
          </a:ln>
        </p:spPr>
        <p:style>
          <a:lnRef idx="2">
            <a:schemeClr val="accent1"/>
          </a:lnRef>
          <a:fillRef idx="0">
            <a:schemeClr val="accent1"/>
          </a:fillRef>
          <a:effectRef idx="1">
            <a:schemeClr val="accent1"/>
          </a:effectRef>
          <a:fontRef idx="minor">
            <a:schemeClr val="tx1"/>
          </a:fontRef>
        </p:style>
      </p:cxnSp>
      <p:cxnSp>
        <p:nvCxnSpPr>
          <p:cNvPr id="15" name="Connector 14"/>
          <p:cNvCxnSpPr/>
          <p:nvPr/>
        </p:nvCxnSpPr>
        <p:spPr>
          <a:xfrm>
            <a:off x="904341" y="4877409"/>
            <a:ext cx="0" cy="320955"/>
          </a:xfrm>
          <a:prstGeom prst="line">
            <a:avLst/>
          </a:prstGeom>
          <a:ln w="16510">
            <a:solidFill>
              <a:srgbClr val="182B3A"/>
            </a:solidFill>
          </a:ln>
        </p:spPr>
        <p:style>
          <a:lnRef idx="2">
            <a:schemeClr val="accent1"/>
          </a:lnRef>
          <a:fillRef idx="0">
            <a:schemeClr val="accent1"/>
          </a:fillRef>
          <a:effectRef idx="1">
            <a:schemeClr val="accent1"/>
          </a:effectRef>
          <a:fontRef idx="minor">
            <a:schemeClr val="tx1"/>
          </a:fontRef>
        </p:style>
      </p:cxnSp>
      <p:sp>
        <p:nvSpPr>
          <p:cNvPr id="16" name="TextBox 15"/>
          <p:cNvSpPr txBox="1"/>
          <p:nvPr/>
        </p:nvSpPr>
        <p:spPr>
          <a:xfrm>
            <a:off x="566928" y="4897983"/>
            <a:ext cx="296265" cy="288036"/>
          </a:xfrm>
          <a:prstGeom prst="rect">
            <a:avLst/>
          </a:prstGeom>
          <a:noFill/>
        </p:spPr>
        <p:txBody>
          <a:bodyPr wrap="none" lIns="0" rIns="0" tIns="0" bIns="0">
            <a:spAutoFit/>
          </a:bodyPr>
          <a:lstStyle/>
          <a:p>
            <a:pPr algn="r">
              <a:lnSpc>
                <a:spcPts val="2217"/>
              </a:lnSpc>
              <a:spcBef>
                <a:spcPts val="0"/>
              </a:spcBef>
              <a:spcAft>
                <a:spcPts val="0"/>
              </a:spcAft>
              <a:defRPr sz="1980" b="0">
                <a:solidFill>
                  <a:srgbClr val="182B3A"/>
                </a:solidFill>
                <a:latin typeface="Arial"/>
              </a:defRPr>
            </a:pPr>
            <a:r>
              <a:t>4</a:t>
            </a:r>
          </a:p>
        </p:txBody>
      </p:sp>
      <p:sp>
        <p:nvSpPr>
          <p:cNvPr id="17" name="TextBox 16"/>
          <p:cNvSpPr txBox="1"/>
          <p:nvPr/>
        </p:nvSpPr>
        <p:spPr>
          <a:xfrm>
            <a:off x="953719" y="4906213"/>
            <a:ext cx="378561" cy="296265"/>
          </a:xfrm>
          <a:prstGeom prst="rect">
            <a:avLst/>
          </a:prstGeom>
          <a:noFill/>
        </p:spPr>
        <p:txBody>
          <a:bodyPr wrap="none" lIns="0" rIns="0" tIns="0" bIns="0">
            <a:spAutoFit/>
          </a:bodyPr>
          <a:lstStyle/>
          <a:p>
            <a:pPr algn="ctr">
              <a:lnSpc>
                <a:spcPts val="2419"/>
              </a:lnSpc>
              <a:spcBef>
                <a:spcPts val="0"/>
              </a:spcBef>
              <a:spcAft>
                <a:spcPts val="0"/>
              </a:spcAft>
              <a:defRPr sz="2160" b="0">
                <a:solidFill>
                  <a:srgbClr val="182B3A"/>
                </a:solidFill>
                <a:latin typeface="Arial"/>
              </a:defRPr>
            </a:pPr>
            <a:r>
              <a:t>9</a:t>
            </a:r>
          </a:p>
        </p:txBody>
      </p:sp>
      <p:sp>
        <p:nvSpPr>
          <p:cNvPr id="18" name="TextBox 17"/>
          <p:cNvSpPr txBox="1"/>
          <p:nvPr/>
        </p:nvSpPr>
        <p:spPr>
          <a:xfrm>
            <a:off x="953719" y="4581144"/>
            <a:ext cx="378561" cy="279806"/>
          </a:xfrm>
          <a:prstGeom prst="rect">
            <a:avLst/>
          </a:prstGeom>
          <a:noFill/>
        </p:spPr>
        <p:txBody>
          <a:bodyPr wrap="none" lIns="0" rIns="0" tIns="0" bIns="0">
            <a:spAutoFit/>
          </a:bodyPr>
          <a:lstStyle/>
          <a:p>
            <a:pPr algn="ctr">
              <a:lnSpc>
                <a:spcPts val="2419"/>
              </a:lnSpc>
              <a:spcBef>
                <a:spcPts val="0"/>
              </a:spcBef>
              <a:spcAft>
                <a:spcPts val="0"/>
              </a:spcAft>
              <a:defRPr sz="2160" b="0">
                <a:solidFill>
                  <a:srgbClr val="182B3A"/>
                </a:solidFill>
                <a:latin typeface="Arial"/>
              </a:defRPr>
            </a:pPr>
            <a:r>
              <a:t>2</a:t>
            </a:r>
          </a:p>
        </p:txBody>
      </p:sp>
      <p:sp>
        <p:nvSpPr>
          <p:cNvPr id="19" name="TextBox 18"/>
          <p:cNvSpPr txBox="1"/>
          <p:nvPr/>
        </p:nvSpPr>
        <p:spPr>
          <a:xfrm>
            <a:off x="1332280" y="4906213"/>
            <a:ext cx="378561" cy="296265"/>
          </a:xfrm>
          <a:prstGeom prst="rect">
            <a:avLst/>
          </a:prstGeom>
          <a:noFill/>
        </p:spPr>
        <p:txBody>
          <a:bodyPr wrap="none" lIns="0" rIns="0" tIns="0" bIns="0">
            <a:spAutoFit/>
          </a:bodyPr>
          <a:lstStyle/>
          <a:p>
            <a:pPr algn="ctr">
              <a:lnSpc>
                <a:spcPts val="2419"/>
              </a:lnSpc>
              <a:spcBef>
                <a:spcPts val="0"/>
              </a:spcBef>
              <a:spcAft>
                <a:spcPts val="0"/>
              </a:spcAft>
              <a:defRPr sz="2160" b="0">
                <a:solidFill>
                  <a:srgbClr val="182B3A"/>
                </a:solidFill>
                <a:latin typeface="Arial"/>
              </a:defRPr>
            </a:pPr>
            <a:r>
              <a:t>6</a:t>
            </a:r>
          </a:p>
        </p:txBody>
      </p:sp>
      <p:sp>
        <p:nvSpPr>
          <p:cNvPr id="20" name="TextBox 19"/>
          <p:cNvSpPr txBox="1"/>
          <p:nvPr/>
        </p:nvSpPr>
        <p:spPr>
          <a:xfrm>
            <a:off x="1332280" y="4581144"/>
            <a:ext cx="378561" cy="279806"/>
          </a:xfrm>
          <a:prstGeom prst="rect">
            <a:avLst/>
          </a:prstGeom>
          <a:noFill/>
        </p:spPr>
        <p:txBody>
          <a:bodyPr wrap="none" lIns="0" rIns="0" tIns="0" bIns="0">
            <a:spAutoFit/>
          </a:bodyPr>
          <a:lstStyle/>
          <a:p>
            <a:pPr algn="ctr">
              <a:lnSpc>
                <a:spcPts val="2419"/>
              </a:lnSpc>
              <a:spcBef>
                <a:spcPts val="0"/>
              </a:spcBef>
              <a:spcAft>
                <a:spcPts val="0"/>
              </a:spcAft>
              <a:defRPr sz="2160" b="0">
                <a:solidFill>
                  <a:srgbClr val="182B3A"/>
                </a:solidFill>
                <a:latin typeface="Arial"/>
              </a:defRPr>
            </a:pPr>
            <a:r>
              <a:t>1</a:t>
            </a:r>
          </a:p>
        </p:txBody>
      </p:sp>
      <p:sp>
        <p:nvSpPr>
          <p:cNvPr id="21" name="TextBox 20"/>
          <p:cNvSpPr txBox="1"/>
          <p:nvPr/>
        </p:nvSpPr>
        <p:spPr>
          <a:xfrm>
            <a:off x="1793138" y="4605832"/>
            <a:ext cx="658368" cy="246888"/>
          </a:xfrm>
          <a:prstGeom prst="rect">
            <a:avLst/>
          </a:prstGeom>
          <a:noFill/>
        </p:spPr>
        <p:txBody>
          <a:bodyPr wrap="none" lIns="0" rIns="0" tIns="0" bIns="0">
            <a:spAutoFit/>
          </a:bodyPr>
          <a:lstStyle/>
          <a:p>
            <a:pPr algn="l">
              <a:lnSpc>
                <a:spcPts val="1814"/>
              </a:lnSpc>
              <a:spcBef>
                <a:spcPts val="0"/>
              </a:spcBef>
              <a:spcAft>
                <a:spcPts val="0"/>
              </a:spcAft>
              <a:defRPr sz="1620" b="0">
                <a:solidFill>
                  <a:srgbClr val="182B3A"/>
                </a:solidFill>
                <a:latin typeface="Arial"/>
              </a:defRPr>
            </a:pPr>
            <a:r>
              <a:t>r 2</a:t>
            </a:r>
          </a:p>
        </p:txBody>
      </p:sp>
      <p:sp>
        <p:nvSpPr>
          <p:cNvPr id="22" name="TextBox 21"/>
          <p:cNvSpPr txBox="1"/>
          <p:nvPr/>
        </p:nvSpPr>
        <p:spPr>
          <a:xfrm>
            <a:off x="594360" y="5340096"/>
            <a:ext cx="4206240" cy="274320"/>
          </a:xfrm>
          <a:prstGeom prst="rect">
            <a:avLst/>
          </a:prstGeom>
          <a:noFill/>
        </p:spPr>
        <p:txBody>
          <a:bodyPr wrap="none" lIns="0" rIns="0" tIns="0" bIns="0">
            <a:spAutoFit/>
          </a:bodyPr>
          <a:lstStyle/>
          <a:p>
            <a:pPr algn="l">
              <a:lnSpc>
                <a:spcPts val="2128"/>
              </a:lnSpc>
              <a:spcBef>
                <a:spcPts val="0"/>
              </a:spcBef>
              <a:spcAft>
                <a:spcPts val="0"/>
              </a:spcAft>
              <a:defRPr sz="1900" b="0">
                <a:solidFill>
                  <a:srgbClr val="182B3A"/>
                </a:solidFill>
                <a:latin typeface="Arial"/>
              </a:defRPr>
            </a:pPr>
            <a:r>
              <a:t>21 stickers each</a:t>
            </a:r>
          </a:p>
        </p:txBody>
      </p:sp>
      <p:sp>
        <p:nvSpPr>
          <p:cNvPr id="23" name="Rectangle 22"/>
          <p:cNvSpPr/>
          <p:nvPr/>
        </p:nvSpPr>
        <p:spPr>
          <a:xfrm>
            <a:off x="384048" y="5724144"/>
            <a:ext cx="4588764" cy="1929384"/>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4" name="TextBox 23"/>
          <p:cNvSpPr txBox="1"/>
          <p:nvPr/>
        </p:nvSpPr>
        <p:spPr>
          <a:xfrm>
            <a:off x="475488" y="5760720"/>
            <a:ext cx="4392168" cy="841248"/>
          </a:xfrm>
          <a:prstGeom prst="rect">
            <a:avLst/>
          </a:prstGeom>
          <a:noFill/>
        </p:spPr>
        <p:txBody>
          <a:bodyPr wrap="square" tIns="36576" bIns="36576" anchor="t">
            <a:spAutoFit/>
          </a:bodyPr>
          <a:lstStyle/>
          <a:p>
            <a:pPr>
              <a:lnSpc>
                <a:spcPts val="1944"/>
              </a:lnSpc>
              <a:spcBef>
                <a:spcPts val="0"/>
              </a:spcBef>
              <a:spcAft>
                <a:spcPts val="0"/>
              </a:spcAft>
              <a:defRPr sz="1800" b="1">
                <a:solidFill>
                  <a:srgbClr val="182B3A"/>
                </a:solidFill>
                <a:latin typeface="Arial"/>
              </a:defRPr>
            </a:pPr>
            <a:r>
              <a:t>3.  Cut 3 m of ribbon into 6 equal pieces. Find each length in cm.</a:t>
            </a:r>
          </a:p>
        </p:txBody>
      </p:sp>
      <p:sp>
        <p:nvSpPr>
          <p:cNvPr id="25" name="TextBox 24"/>
          <p:cNvSpPr txBox="1"/>
          <p:nvPr/>
        </p:nvSpPr>
        <p:spPr>
          <a:xfrm>
            <a:off x="612647" y="6556248"/>
            <a:ext cx="4206240" cy="310896"/>
          </a:xfrm>
          <a:prstGeom prst="rect">
            <a:avLst/>
          </a:prstGeom>
          <a:noFill/>
        </p:spPr>
        <p:txBody>
          <a:bodyPr wrap="none" lIns="0" rIns="0" tIns="0" bIns="0">
            <a:spAutoFit/>
          </a:bodyPr>
          <a:lstStyle/>
          <a:p>
            <a:pPr algn="l">
              <a:lnSpc>
                <a:spcPts val="2240"/>
              </a:lnSpc>
              <a:spcBef>
                <a:spcPts val="0"/>
              </a:spcBef>
              <a:spcAft>
                <a:spcPts val="0"/>
              </a:spcAft>
              <a:defRPr sz="2000" b="0">
                <a:solidFill>
                  <a:srgbClr val="182B3A"/>
                </a:solidFill>
                <a:latin typeface="Arial"/>
              </a:defRPr>
            </a:pPr>
            <a:r>
              <a:t>3 m = 30 cm</a:t>
            </a:r>
          </a:p>
        </p:txBody>
      </p:sp>
      <p:sp>
        <p:nvSpPr>
          <p:cNvPr id="26" name="TextBox 25"/>
          <p:cNvSpPr txBox="1"/>
          <p:nvPr/>
        </p:nvSpPr>
        <p:spPr>
          <a:xfrm>
            <a:off x="612647" y="6858000"/>
            <a:ext cx="4206240" cy="310896"/>
          </a:xfrm>
          <a:prstGeom prst="rect">
            <a:avLst/>
          </a:prstGeom>
          <a:noFill/>
        </p:spPr>
        <p:txBody>
          <a:bodyPr wrap="none" lIns="0" rIns="0" tIns="0" bIns="0">
            <a:spAutoFit/>
          </a:bodyPr>
          <a:lstStyle/>
          <a:p>
            <a:pPr algn="l">
              <a:lnSpc>
                <a:spcPts val="2240"/>
              </a:lnSpc>
              <a:spcBef>
                <a:spcPts val="0"/>
              </a:spcBef>
              <a:spcAft>
                <a:spcPts val="0"/>
              </a:spcAft>
              <a:defRPr sz="2000" b="0">
                <a:solidFill>
                  <a:srgbClr val="182B3A"/>
                </a:solidFill>
                <a:latin typeface="Arial"/>
              </a:defRPr>
            </a:pPr>
            <a:r>
              <a:t>30 ÷ 6 = 5</a:t>
            </a:r>
          </a:p>
        </p:txBody>
      </p:sp>
      <p:sp>
        <p:nvSpPr>
          <p:cNvPr id="27" name="TextBox 26"/>
          <p:cNvSpPr txBox="1"/>
          <p:nvPr/>
        </p:nvSpPr>
        <p:spPr>
          <a:xfrm>
            <a:off x="612647" y="7159752"/>
            <a:ext cx="4206240" cy="310896"/>
          </a:xfrm>
          <a:prstGeom prst="rect">
            <a:avLst/>
          </a:prstGeom>
          <a:noFill/>
        </p:spPr>
        <p:txBody>
          <a:bodyPr wrap="none" lIns="0" rIns="0" tIns="0" bIns="0">
            <a:spAutoFit/>
          </a:bodyPr>
          <a:lstStyle/>
          <a:p>
            <a:pPr algn="l">
              <a:lnSpc>
                <a:spcPts val="2240"/>
              </a:lnSpc>
              <a:spcBef>
                <a:spcPts val="0"/>
              </a:spcBef>
              <a:spcAft>
                <a:spcPts val="0"/>
              </a:spcAft>
              <a:defRPr sz="2000" b="0">
                <a:solidFill>
                  <a:srgbClr val="182B3A"/>
                </a:solidFill>
                <a:latin typeface="Arial"/>
              </a:defRPr>
            </a:pPr>
            <a:r>
              <a:t>5 cm</a:t>
            </a:r>
          </a:p>
        </p:txBody>
      </p:sp>
      <p:sp>
        <p:nvSpPr>
          <p:cNvPr id="28" name="Rectangle 27"/>
          <p:cNvSpPr/>
          <p:nvPr/>
        </p:nvSpPr>
        <p:spPr>
          <a:xfrm>
            <a:off x="5004816" y="1234440"/>
            <a:ext cx="4588764" cy="420624"/>
          </a:xfrm>
          <a:prstGeom prst="rect">
            <a:avLst/>
          </a:prstGeom>
          <a:solidFill>
            <a:srgbClr val="3559A2"/>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9" name="TextBox 28"/>
          <p:cNvSpPr txBox="1"/>
          <p:nvPr/>
        </p:nvSpPr>
        <p:spPr>
          <a:xfrm>
            <a:off x="5068824" y="1261872"/>
            <a:ext cx="4474464" cy="347472"/>
          </a:xfrm>
          <a:prstGeom prst="rect">
            <a:avLst/>
          </a:prstGeom>
          <a:noFill/>
        </p:spPr>
        <p:txBody>
          <a:bodyPr wrap="square" tIns="36576" bIns="36576" anchor="t">
            <a:spAutoFit/>
          </a:bodyPr>
          <a:lstStyle/>
          <a:p>
            <a:pPr>
              <a:lnSpc>
                <a:spcPts val="2160"/>
              </a:lnSpc>
              <a:spcBef>
                <a:spcPts val="0"/>
              </a:spcBef>
              <a:spcAft>
                <a:spcPts val="0"/>
              </a:spcAft>
              <a:defRPr sz="2000" b="1">
                <a:solidFill>
                  <a:srgbClr val="FFFFFF"/>
                </a:solidFill>
                <a:latin typeface="Arial"/>
              </a:defRPr>
            </a:pPr>
            <a:r>
              <a:t>Build</a:t>
            </a:r>
          </a:p>
        </p:txBody>
      </p:sp>
      <p:sp>
        <p:nvSpPr>
          <p:cNvPr id="30" name="Rectangle 29"/>
          <p:cNvSpPr/>
          <p:nvPr/>
        </p:nvSpPr>
        <p:spPr>
          <a:xfrm>
            <a:off x="5004816" y="1719072"/>
            <a:ext cx="4588764" cy="1929384"/>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1" name="TextBox 30"/>
          <p:cNvSpPr txBox="1"/>
          <p:nvPr/>
        </p:nvSpPr>
        <p:spPr>
          <a:xfrm>
            <a:off x="5096256" y="1755648"/>
            <a:ext cx="4392168" cy="841248"/>
          </a:xfrm>
          <a:prstGeom prst="rect">
            <a:avLst/>
          </a:prstGeom>
          <a:noFill/>
        </p:spPr>
        <p:txBody>
          <a:bodyPr wrap="square" tIns="36576" bIns="36576" anchor="t">
            <a:spAutoFit/>
          </a:bodyPr>
          <a:lstStyle/>
          <a:p>
            <a:pPr>
              <a:lnSpc>
                <a:spcPts val="1944"/>
              </a:lnSpc>
              <a:spcBef>
                <a:spcPts val="0"/>
              </a:spcBef>
              <a:spcAft>
                <a:spcPts val="0"/>
              </a:spcAft>
              <a:defRPr sz="1800" b="1">
                <a:solidFill>
                  <a:srgbClr val="182B3A"/>
                </a:solidFill>
                <a:latin typeface="Arial"/>
              </a:defRPr>
            </a:pPr>
            <a:r>
              <a:t>1.  Pack 166 eggs in boxes of 6. How many full boxes?</a:t>
            </a:r>
          </a:p>
        </p:txBody>
      </p:sp>
      <p:cxnSp>
        <p:nvCxnSpPr>
          <p:cNvPr id="32" name="Connector 31"/>
          <p:cNvCxnSpPr/>
          <p:nvPr/>
        </p:nvCxnSpPr>
        <p:spPr>
          <a:xfrm>
            <a:off x="5525109" y="2874873"/>
            <a:ext cx="1209751" cy="0"/>
          </a:xfrm>
          <a:prstGeom prst="line">
            <a:avLst/>
          </a:prstGeom>
          <a:ln w="16510">
            <a:solidFill>
              <a:srgbClr val="182B3A"/>
            </a:solidFill>
          </a:ln>
        </p:spPr>
        <p:style>
          <a:lnRef idx="2">
            <a:schemeClr val="accent1"/>
          </a:lnRef>
          <a:fillRef idx="0">
            <a:schemeClr val="accent1"/>
          </a:fillRef>
          <a:effectRef idx="1">
            <a:schemeClr val="accent1"/>
          </a:effectRef>
          <a:fontRef idx="minor">
            <a:schemeClr val="tx1"/>
          </a:fontRef>
        </p:style>
      </p:cxnSp>
      <p:cxnSp>
        <p:nvCxnSpPr>
          <p:cNvPr id="33" name="Connector 32"/>
          <p:cNvCxnSpPr/>
          <p:nvPr/>
        </p:nvCxnSpPr>
        <p:spPr>
          <a:xfrm>
            <a:off x="5525109" y="2874873"/>
            <a:ext cx="0" cy="320955"/>
          </a:xfrm>
          <a:prstGeom prst="line">
            <a:avLst/>
          </a:prstGeom>
          <a:ln w="16510">
            <a:solidFill>
              <a:srgbClr val="182B3A"/>
            </a:solidFill>
          </a:ln>
        </p:spPr>
        <p:style>
          <a:lnRef idx="2">
            <a:schemeClr val="accent1"/>
          </a:lnRef>
          <a:fillRef idx="0">
            <a:schemeClr val="accent1"/>
          </a:fillRef>
          <a:effectRef idx="1">
            <a:schemeClr val="accent1"/>
          </a:effectRef>
          <a:fontRef idx="minor">
            <a:schemeClr val="tx1"/>
          </a:fontRef>
        </p:style>
      </p:cxnSp>
      <p:sp>
        <p:nvSpPr>
          <p:cNvPr id="34" name="TextBox 33"/>
          <p:cNvSpPr txBox="1"/>
          <p:nvPr/>
        </p:nvSpPr>
        <p:spPr>
          <a:xfrm>
            <a:off x="5187696" y="2895447"/>
            <a:ext cx="296265" cy="288036"/>
          </a:xfrm>
          <a:prstGeom prst="rect">
            <a:avLst/>
          </a:prstGeom>
          <a:noFill/>
        </p:spPr>
        <p:txBody>
          <a:bodyPr wrap="none" lIns="0" rIns="0" tIns="0" bIns="0">
            <a:spAutoFit/>
          </a:bodyPr>
          <a:lstStyle/>
          <a:p>
            <a:pPr algn="r">
              <a:lnSpc>
                <a:spcPts val="2217"/>
              </a:lnSpc>
              <a:spcBef>
                <a:spcPts val="0"/>
              </a:spcBef>
              <a:spcAft>
                <a:spcPts val="0"/>
              </a:spcAft>
              <a:defRPr sz="1980" b="0">
                <a:solidFill>
                  <a:srgbClr val="182B3A"/>
                </a:solidFill>
                <a:latin typeface="Arial"/>
              </a:defRPr>
            </a:pPr>
            <a:r>
              <a:t>6</a:t>
            </a:r>
          </a:p>
        </p:txBody>
      </p:sp>
      <p:sp>
        <p:nvSpPr>
          <p:cNvPr id="35" name="TextBox 34"/>
          <p:cNvSpPr txBox="1"/>
          <p:nvPr/>
        </p:nvSpPr>
        <p:spPr>
          <a:xfrm>
            <a:off x="5574487" y="2903677"/>
            <a:ext cx="378561" cy="296265"/>
          </a:xfrm>
          <a:prstGeom prst="rect">
            <a:avLst/>
          </a:prstGeom>
          <a:noFill/>
        </p:spPr>
        <p:txBody>
          <a:bodyPr wrap="none" lIns="0" rIns="0" tIns="0" bIns="0">
            <a:spAutoFit/>
          </a:bodyPr>
          <a:lstStyle/>
          <a:p>
            <a:pPr algn="ctr">
              <a:lnSpc>
                <a:spcPts val="2419"/>
              </a:lnSpc>
              <a:spcBef>
                <a:spcPts val="0"/>
              </a:spcBef>
              <a:spcAft>
                <a:spcPts val="0"/>
              </a:spcAft>
              <a:defRPr sz="2160" b="0">
                <a:solidFill>
                  <a:srgbClr val="182B3A"/>
                </a:solidFill>
                <a:latin typeface="Arial"/>
              </a:defRPr>
            </a:pPr>
            <a:r>
              <a:t>1</a:t>
            </a:r>
          </a:p>
        </p:txBody>
      </p:sp>
      <p:sp>
        <p:nvSpPr>
          <p:cNvPr id="36" name="TextBox 35"/>
          <p:cNvSpPr txBox="1"/>
          <p:nvPr/>
        </p:nvSpPr>
        <p:spPr>
          <a:xfrm>
            <a:off x="5953048" y="2903677"/>
            <a:ext cx="378561" cy="296265"/>
          </a:xfrm>
          <a:prstGeom prst="rect">
            <a:avLst/>
          </a:prstGeom>
          <a:noFill/>
        </p:spPr>
        <p:txBody>
          <a:bodyPr wrap="none" lIns="0" rIns="0" tIns="0" bIns="0">
            <a:spAutoFit/>
          </a:bodyPr>
          <a:lstStyle/>
          <a:p>
            <a:pPr algn="ctr">
              <a:lnSpc>
                <a:spcPts val="2419"/>
              </a:lnSpc>
              <a:spcBef>
                <a:spcPts val="0"/>
              </a:spcBef>
              <a:spcAft>
                <a:spcPts val="0"/>
              </a:spcAft>
              <a:defRPr sz="2160" b="0">
                <a:solidFill>
                  <a:srgbClr val="182B3A"/>
                </a:solidFill>
                <a:latin typeface="Arial"/>
              </a:defRPr>
            </a:pPr>
            <a:r>
              <a:t>6</a:t>
            </a:r>
          </a:p>
        </p:txBody>
      </p:sp>
      <p:sp>
        <p:nvSpPr>
          <p:cNvPr id="37" name="TextBox 36"/>
          <p:cNvSpPr txBox="1"/>
          <p:nvPr/>
        </p:nvSpPr>
        <p:spPr>
          <a:xfrm>
            <a:off x="5953048" y="2578608"/>
            <a:ext cx="378561" cy="279806"/>
          </a:xfrm>
          <a:prstGeom prst="rect">
            <a:avLst/>
          </a:prstGeom>
          <a:noFill/>
        </p:spPr>
        <p:txBody>
          <a:bodyPr wrap="none" lIns="0" rIns="0" tIns="0" bIns="0">
            <a:spAutoFit/>
          </a:bodyPr>
          <a:lstStyle/>
          <a:p>
            <a:pPr algn="ctr">
              <a:lnSpc>
                <a:spcPts val="2419"/>
              </a:lnSpc>
              <a:spcBef>
                <a:spcPts val="0"/>
              </a:spcBef>
              <a:spcAft>
                <a:spcPts val="0"/>
              </a:spcAft>
              <a:defRPr sz="2160" b="0">
                <a:solidFill>
                  <a:srgbClr val="182B3A"/>
                </a:solidFill>
                <a:latin typeface="Arial"/>
              </a:defRPr>
            </a:pPr>
            <a:r>
              <a:t>2</a:t>
            </a:r>
          </a:p>
        </p:txBody>
      </p:sp>
      <p:sp>
        <p:nvSpPr>
          <p:cNvPr id="38" name="TextBox 37"/>
          <p:cNvSpPr txBox="1"/>
          <p:nvPr/>
        </p:nvSpPr>
        <p:spPr>
          <a:xfrm>
            <a:off x="5903671" y="2878988"/>
            <a:ext cx="148132" cy="164592"/>
          </a:xfrm>
          <a:prstGeom prst="rect">
            <a:avLst/>
          </a:prstGeom>
          <a:noFill/>
        </p:spPr>
        <p:txBody>
          <a:bodyPr wrap="none" lIns="0" rIns="0" tIns="0" bIns="0">
            <a:spAutoFit/>
          </a:bodyPr>
          <a:lstStyle/>
          <a:p>
            <a:pPr algn="ctr">
              <a:lnSpc>
                <a:spcPts val="1209"/>
              </a:lnSpc>
              <a:spcBef>
                <a:spcPts val="0"/>
              </a:spcBef>
              <a:spcAft>
                <a:spcPts val="0"/>
              </a:spcAft>
              <a:defRPr sz="1080" b="0">
                <a:solidFill>
                  <a:srgbClr val="182B3A"/>
                </a:solidFill>
                <a:latin typeface="Arial"/>
              </a:defRPr>
            </a:pPr>
            <a:r>
              <a:t>1</a:t>
            </a:r>
          </a:p>
        </p:txBody>
      </p:sp>
      <p:sp>
        <p:nvSpPr>
          <p:cNvPr id="39" name="TextBox 38"/>
          <p:cNvSpPr txBox="1"/>
          <p:nvPr/>
        </p:nvSpPr>
        <p:spPr>
          <a:xfrm>
            <a:off x="6331610" y="2903677"/>
            <a:ext cx="378561" cy="296265"/>
          </a:xfrm>
          <a:prstGeom prst="rect">
            <a:avLst/>
          </a:prstGeom>
          <a:noFill/>
        </p:spPr>
        <p:txBody>
          <a:bodyPr wrap="none" lIns="0" rIns="0" tIns="0" bIns="0">
            <a:spAutoFit/>
          </a:bodyPr>
          <a:lstStyle/>
          <a:p>
            <a:pPr algn="ctr">
              <a:lnSpc>
                <a:spcPts val="2419"/>
              </a:lnSpc>
              <a:spcBef>
                <a:spcPts val="0"/>
              </a:spcBef>
              <a:spcAft>
                <a:spcPts val="0"/>
              </a:spcAft>
              <a:defRPr sz="2160" b="0">
                <a:solidFill>
                  <a:srgbClr val="182B3A"/>
                </a:solidFill>
                <a:latin typeface="Arial"/>
              </a:defRPr>
            </a:pPr>
            <a:r>
              <a:t>6</a:t>
            </a:r>
          </a:p>
        </p:txBody>
      </p:sp>
      <p:sp>
        <p:nvSpPr>
          <p:cNvPr id="40" name="TextBox 39"/>
          <p:cNvSpPr txBox="1"/>
          <p:nvPr/>
        </p:nvSpPr>
        <p:spPr>
          <a:xfrm>
            <a:off x="6331610" y="2578608"/>
            <a:ext cx="378561" cy="279806"/>
          </a:xfrm>
          <a:prstGeom prst="rect">
            <a:avLst/>
          </a:prstGeom>
          <a:noFill/>
        </p:spPr>
        <p:txBody>
          <a:bodyPr wrap="none" lIns="0" rIns="0" tIns="0" bIns="0">
            <a:spAutoFit/>
          </a:bodyPr>
          <a:lstStyle/>
          <a:p>
            <a:pPr algn="ctr">
              <a:lnSpc>
                <a:spcPts val="2419"/>
              </a:lnSpc>
              <a:spcBef>
                <a:spcPts val="0"/>
              </a:spcBef>
              <a:spcAft>
                <a:spcPts val="0"/>
              </a:spcAft>
              <a:defRPr sz="2160" b="0">
                <a:solidFill>
                  <a:srgbClr val="182B3A"/>
                </a:solidFill>
                <a:latin typeface="Arial"/>
              </a:defRPr>
            </a:pPr>
            <a:r>
              <a:t>7</a:t>
            </a:r>
          </a:p>
        </p:txBody>
      </p:sp>
      <p:sp>
        <p:nvSpPr>
          <p:cNvPr id="41" name="TextBox 40"/>
          <p:cNvSpPr txBox="1"/>
          <p:nvPr/>
        </p:nvSpPr>
        <p:spPr>
          <a:xfrm>
            <a:off x="6282232" y="2878988"/>
            <a:ext cx="148132" cy="164592"/>
          </a:xfrm>
          <a:prstGeom prst="rect">
            <a:avLst/>
          </a:prstGeom>
          <a:noFill/>
        </p:spPr>
        <p:txBody>
          <a:bodyPr wrap="none" lIns="0" rIns="0" tIns="0" bIns="0">
            <a:spAutoFit/>
          </a:bodyPr>
          <a:lstStyle/>
          <a:p>
            <a:pPr algn="ctr">
              <a:lnSpc>
                <a:spcPts val="1209"/>
              </a:lnSpc>
              <a:spcBef>
                <a:spcPts val="0"/>
              </a:spcBef>
              <a:spcAft>
                <a:spcPts val="0"/>
              </a:spcAft>
              <a:defRPr sz="1080" b="0">
                <a:solidFill>
                  <a:srgbClr val="182B3A"/>
                </a:solidFill>
                <a:latin typeface="Arial"/>
              </a:defRPr>
            </a:pPr>
            <a:r>
              <a:t>4</a:t>
            </a:r>
          </a:p>
        </p:txBody>
      </p:sp>
      <p:sp>
        <p:nvSpPr>
          <p:cNvPr id="42" name="TextBox 41"/>
          <p:cNvSpPr txBox="1"/>
          <p:nvPr/>
        </p:nvSpPr>
        <p:spPr>
          <a:xfrm>
            <a:off x="6792468" y="2603296"/>
            <a:ext cx="658368" cy="246888"/>
          </a:xfrm>
          <a:prstGeom prst="rect">
            <a:avLst/>
          </a:prstGeom>
          <a:noFill/>
        </p:spPr>
        <p:txBody>
          <a:bodyPr wrap="none" lIns="0" rIns="0" tIns="0" bIns="0">
            <a:spAutoFit/>
          </a:bodyPr>
          <a:lstStyle/>
          <a:p>
            <a:pPr algn="l">
              <a:lnSpc>
                <a:spcPts val="1814"/>
              </a:lnSpc>
              <a:spcBef>
                <a:spcPts val="0"/>
              </a:spcBef>
              <a:spcAft>
                <a:spcPts val="0"/>
              </a:spcAft>
              <a:defRPr sz="1620" b="0">
                <a:solidFill>
                  <a:srgbClr val="182B3A"/>
                </a:solidFill>
                <a:latin typeface="Arial"/>
              </a:defRPr>
            </a:pPr>
            <a:r>
              <a:t>r 4</a:t>
            </a:r>
          </a:p>
        </p:txBody>
      </p:sp>
      <p:sp>
        <p:nvSpPr>
          <p:cNvPr id="43" name="TextBox 42"/>
          <p:cNvSpPr txBox="1"/>
          <p:nvPr/>
        </p:nvSpPr>
        <p:spPr>
          <a:xfrm>
            <a:off x="5215128" y="3337560"/>
            <a:ext cx="4206240" cy="274320"/>
          </a:xfrm>
          <a:prstGeom prst="rect">
            <a:avLst/>
          </a:prstGeom>
          <a:noFill/>
        </p:spPr>
        <p:txBody>
          <a:bodyPr wrap="none" lIns="0" rIns="0" tIns="0" bIns="0">
            <a:spAutoFit/>
          </a:bodyPr>
          <a:lstStyle/>
          <a:p>
            <a:pPr algn="l">
              <a:lnSpc>
                <a:spcPts val="2128"/>
              </a:lnSpc>
              <a:spcBef>
                <a:spcPts val="0"/>
              </a:spcBef>
              <a:spcAft>
                <a:spcPts val="0"/>
              </a:spcAft>
              <a:defRPr sz="1900" b="0">
                <a:solidFill>
                  <a:srgbClr val="182B3A"/>
                </a:solidFill>
                <a:latin typeface="Arial"/>
              </a:defRPr>
            </a:pPr>
            <a:r>
              <a:t>28 full boxes</a:t>
            </a:r>
          </a:p>
        </p:txBody>
      </p:sp>
      <p:sp>
        <p:nvSpPr>
          <p:cNvPr id="44" name="Rectangle 43"/>
          <p:cNvSpPr/>
          <p:nvPr/>
        </p:nvSpPr>
        <p:spPr>
          <a:xfrm>
            <a:off x="5004816" y="3721608"/>
            <a:ext cx="4588764" cy="1929384"/>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5" name="TextBox 44"/>
          <p:cNvSpPr txBox="1"/>
          <p:nvPr/>
        </p:nvSpPr>
        <p:spPr>
          <a:xfrm>
            <a:off x="5096256" y="3758184"/>
            <a:ext cx="4392168" cy="841248"/>
          </a:xfrm>
          <a:prstGeom prst="rect">
            <a:avLst/>
          </a:prstGeom>
          <a:noFill/>
        </p:spPr>
        <p:txBody>
          <a:bodyPr wrap="square" tIns="36576" bIns="36576" anchor="t">
            <a:spAutoFit/>
          </a:bodyPr>
          <a:lstStyle/>
          <a:p>
            <a:pPr>
              <a:lnSpc>
                <a:spcPts val="1944"/>
              </a:lnSpc>
              <a:spcBef>
                <a:spcPts val="0"/>
              </a:spcBef>
              <a:spcAft>
                <a:spcPts val="0"/>
              </a:spcAft>
              <a:defRPr sz="1800" b="1">
                <a:solidFill>
                  <a:srgbClr val="182B3A"/>
                </a:solidFill>
                <a:latin typeface="Arial"/>
              </a:defRPr>
            </a:pPr>
            <a:r>
              <a:t>2.  32 campers need tents. Each tent sleeps 5. How many tents are needed?</a:t>
            </a:r>
          </a:p>
        </p:txBody>
      </p:sp>
      <p:cxnSp>
        <p:nvCxnSpPr>
          <p:cNvPr id="46" name="Connector 45"/>
          <p:cNvCxnSpPr/>
          <p:nvPr/>
        </p:nvCxnSpPr>
        <p:spPr>
          <a:xfrm>
            <a:off x="5525109" y="4877409"/>
            <a:ext cx="831190" cy="0"/>
          </a:xfrm>
          <a:prstGeom prst="line">
            <a:avLst/>
          </a:prstGeom>
          <a:ln w="16510">
            <a:solidFill>
              <a:srgbClr val="182B3A"/>
            </a:solidFill>
          </a:ln>
        </p:spPr>
        <p:style>
          <a:lnRef idx="2">
            <a:schemeClr val="accent1"/>
          </a:lnRef>
          <a:fillRef idx="0">
            <a:schemeClr val="accent1"/>
          </a:fillRef>
          <a:effectRef idx="1">
            <a:schemeClr val="accent1"/>
          </a:effectRef>
          <a:fontRef idx="minor">
            <a:schemeClr val="tx1"/>
          </a:fontRef>
        </p:style>
      </p:cxnSp>
      <p:cxnSp>
        <p:nvCxnSpPr>
          <p:cNvPr id="47" name="Connector 46"/>
          <p:cNvCxnSpPr/>
          <p:nvPr/>
        </p:nvCxnSpPr>
        <p:spPr>
          <a:xfrm>
            <a:off x="5525109" y="4877409"/>
            <a:ext cx="0" cy="320955"/>
          </a:xfrm>
          <a:prstGeom prst="line">
            <a:avLst/>
          </a:prstGeom>
          <a:ln w="16510">
            <a:solidFill>
              <a:srgbClr val="182B3A"/>
            </a:solidFill>
          </a:ln>
        </p:spPr>
        <p:style>
          <a:lnRef idx="2">
            <a:schemeClr val="accent1"/>
          </a:lnRef>
          <a:fillRef idx="0">
            <a:schemeClr val="accent1"/>
          </a:fillRef>
          <a:effectRef idx="1">
            <a:schemeClr val="accent1"/>
          </a:effectRef>
          <a:fontRef idx="minor">
            <a:schemeClr val="tx1"/>
          </a:fontRef>
        </p:style>
      </p:cxnSp>
      <p:sp>
        <p:nvSpPr>
          <p:cNvPr id="48" name="TextBox 47"/>
          <p:cNvSpPr txBox="1"/>
          <p:nvPr/>
        </p:nvSpPr>
        <p:spPr>
          <a:xfrm>
            <a:off x="5187696" y="4897983"/>
            <a:ext cx="296265" cy="288036"/>
          </a:xfrm>
          <a:prstGeom prst="rect">
            <a:avLst/>
          </a:prstGeom>
          <a:noFill/>
        </p:spPr>
        <p:txBody>
          <a:bodyPr wrap="none" lIns="0" rIns="0" tIns="0" bIns="0">
            <a:spAutoFit/>
          </a:bodyPr>
          <a:lstStyle/>
          <a:p>
            <a:pPr algn="r">
              <a:lnSpc>
                <a:spcPts val="2217"/>
              </a:lnSpc>
              <a:spcBef>
                <a:spcPts val="0"/>
              </a:spcBef>
              <a:spcAft>
                <a:spcPts val="0"/>
              </a:spcAft>
              <a:defRPr sz="1980" b="0">
                <a:solidFill>
                  <a:srgbClr val="182B3A"/>
                </a:solidFill>
                <a:latin typeface="Arial"/>
              </a:defRPr>
            </a:pPr>
            <a:r>
              <a:t>5</a:t>
            </a:r>
          </a:p>
        </p:txBody>
      </p:sp>
      <p:sp>
        <p:nvSpPr>
          <p:cNvPr id="49" name="TextBox 48"/>
          <p:cNvSpPr txBox="1"/>
          <p:nvPr/>
        </p:nvSpPr>
        <p:spPr>
          <a:xfrm>
            <a:off x="5574487" y="4906213"/>
            <a:ext cx="378561" cy="296265"/>
          </a:xfrm>
          <a:prstGeom prst="rect">
            <a:avLst/>
          </a:prstGeom>
          <a:noFill/>
        </p:spPr>
        <p:txBody>
          <a:bodyPr wrap="none" lIns="0" rIns="0" tIns="0" bIns="0">
            <a:spAutoFit/>
          </a:bodyPr>
          <a:lstStyle/>
          <a:p>
            <a:pPr algn="ctr">
              <a:lnSpc>
                <a:spcPts val="2419"/>
              </a:lnSpc>
              <a:spcBef>
                <a:spcPts val="0"/>
              </a:spcBef>
              <a:spcAft>
                <a:spcPts val="0"/>
              </a:spcAft>
              <a:defRPr sz="2160" b="0">
                <a:solidFill>
                  <a:srgbClr val="182B3A"/>
                </a:solidFill>
                <a:latin typeface="Arial"/>
              </a:defRPr>
            </a:pPr>
            <a:r>
              <a:t>3</a:t>
            </a:r>
          </a:p>
        </p:txBody>
      </p:sp>
      <p:sp>
        <p:nvSpPr>
          <p:cNvPr id="50" name="TextBox 49"/>
          <p:cNvSpPr txBox="1"/>
          <p:nvPr/>
        </p:nvSpPr>
        <p:spPr>
          <a:xfrm>
            <a:off x="5953048" y="4906213"/>
            <a:ext cx="378561" cy="296265"/>
          </a:xfrm>
          <a:prstGeom prst="rect">
            <a:avLst/>
          </a:prstGeom>
          <a:noFill/>
        </p:spPr>
        <p:txBody>
          <a:bodyPr wrap="none" lIns="0" rIns="0" tIns="0" bIns="0">
            <a:spAutoFit/>
          </a:bodyPr>
          <a:lstStyle/>
          <a:p>
            <a:pPr algn="ctr">
              <a:lnSpc>
                <a:spcPts val="2419"/>
              </a:lnSpc>
              <a:spcBef>
                <a:spcPts val="0"/>
              </a:spcBef>
              <a:spcAft>
                <a:spcPts val="0"/>
              </a:spcAft>
              <a:defRPr sz="2160" b="0">
                <a:solidFill>
                  <a:srgbClr val="182B3A"/>
                </a:solidFill>
                <a:latin typeface="Arial"/>
              </a:defRPr>
            </a:pPr>
            <a:r>
              <a:t>2</a:t>
            </a:r>
          </a:p>
        </p:txBody>
      </p:sp>
      <p:sp>
        <p:nvSpPr>
          <p:cNvPr id="51" name="TextBox 50"/>
          <p:cNvSpPr txBox="1"/>
          <p:nvPr/>
        </p:nvSpPr>
        <p:spPr>
          <a:xfrm>
            <a:off x="5953048" y="4581144"/>
            <a:ext cx="378561" cy="279806"/>
          </a:xfrm>
          <a:prstGeom prst="rect">
            <a:avLst/>
          </a:prstGeom>
          <a:noFill/>
        </p:spPr>
        <p:txBody>
          <a:bodyPr wrap="none" lIns="0" rIns="0" tIns="0" bIns="0">
            <a:spAutoFit/>
          </a:bodyPr>
          <a:lstStyle/>
          <a:p>
            <a:pPr algn="ctr">
              <a:lnSpc>
                <a:spcPts val="2419"/>
              </a:lnSpc>
              <a:spcBef>
                <a:spcPts val="0"/>
              </a:spcBef>
              <a:spcAft>
                <a:spcPts val="0"/>
              </a:spcAft>
              <a:defRPr sz="2160" b="0">
                <a:solidFill>
                  <a:srgbClr val="182B3A"/>
                </a:solidFill>
                <a:latin typeface="Arial"/>
              </a:defRPr>
            </a:pPr>
            <a:r>
              <a:t>6</a:t>
            </a:r>
          </a:p>
        </p:txBody>
      </p:sp>
      <p:sp>
        <p:nvSpPr>
          <p:cNvPr id="52" name="TextBox 51"/>
          <p:cNvSpPr txBox="1"/>
          <p:nvPr/>
        </p:nvSpPr>
        <p:spPr>
          <a:xfrm>
            <a:off x="5903671" y="4881524"/>
            <a:ext cx="148132" cy="164592"/>
          </a:xfrm>
          <a:prstGeom prst="rect">
            <a:avLst/>
          </a:prstGeom>
          <a:noFill/>
        </p:spPr>
        <p:txBody>
          <a:bodyPr wrap="none" lIns="0" rIns="0" tIns="0" bIns="0">
            <a:spAutoFit/>
          </a:bodyPr>
          <a:lstStyle/>
          <a:p>
            <a:pPr algn="ctr">
              <a:lnSpc>
                <a:spcPts val="1209"/>
              </a:lnSpc>
              <a:spcBef>
                <a:spcPts val="0"/>
              </a:spcBef>
              <a:spcAft>
                <a:spcPts val="0"/>
              </a:spcAft>
              <a:defRPr sz="1080" b="0">
                <a:solidFill>
                  <a:srgbClr val="182B3A"/>
                </a:solidFill>
                <a:latin typeface="Arial"/>
              </a:defRPr>
            </a:pPr>
            <a:r>
              <a:t>3</a:t>
            </a:r>
          </a:p>
        </p:txBody>
      </p:sp>
      <p:sp>
        <p:nvSpPr>
          <p:cNvPr id="53" name="TextBox 52"/>
          <p:cNvSpPr txBox="1"/>
          <p:nvPr/>
        </p:nvSpPr>
        <p:spPr>
          <a:xfrm>
            <a:off x="6413906" y="4605832"/>
            <a:ext cx="658368" cy="246888"/>
          </a:xfrm>
          <a:prstGeom prst="rect">
            <a:avLst/>
          </a:prstGeom>
          <a:noFill/>
        </p:spPr>
        <p:txBody>
          <a:bodyPr wrap="none" lIns="0" rIns="0" tIns="0" bIns="0">
            <a:spAutoFit/>
          </a:bodyPr>
          <a:lstStyle/>
          <a:p>
            <a:pPr algn="l">
              <a:lnSpc>
                <a:spcPts val="1814"/>
              </a:lnSpc>
              <a:spcBef>
                <a:spcPts val="0"/>
              </a:spcBef>
              <a:spcAft>
                <a:spcPts val="0"/>
              </a:spcAft>
              <a:defRPr sz="1620" b="0">
                <a:solidFill>
                  <a:srgbClr val="182B3A"/>
                </a:solidFill>
                <a:latin typeface="Arial"/>
              </a:defRPr>
            </a:pPr>
            <a:r>
              <a:t>r 2</a:t>
            </a:r>
          </a:p>
        </p:txBody>
      </p:sp>
      <p:sp>
        <p:nvSpPr>
          <p:cNvPr id="54" name="TextBox 53"/>
          <p:cNvSpPr txBox="1"/>
          <p:nvPr/>
        </p:nvSpPr>
        <p:spPr>
          <a:xfrm>
            <a:off x="5215128" y="5340096"/>
            <a:ext cx="4206240" cy="274320"/>
          </a:xfrm>
          <a:prstGeom prst="rect">
            <a:avLst/>
          </a:prstGeom>
          <a:noFill/>
        </p:spPr>
        <p:txBody>
          <a:bodyPr wrap="none" lIns="0" rIns="0" tIns="0" bIns="0">
            <a:spAutoFit/>
          </a:bodyPr>
          <a:lstStyle/>
          <a:p>
            <a:pPr algn="l">
              <a:lnSpc>
                <a:spcPts val="2128"/>
              </a:lnSpc>
              <a:spcBef>
                <a:spcPts val="0"/>
              </a:spcBef>
              <a:spcAft>
                <a:spcPts val="0"/>
              </a:spcAft>
              <a:defRPr sz="1900" b="0">
                <a:solidFill>
                  <a:srgbClr val="182B3A"/>
                </a:solidFill>
                <a:latin typeface="Arial"/>
              </a:defRPr>
            </a:pPr>
            <a:r>
              <a:t>6 tents</a:t>
            </a:r>
          </a:p>
        </p:txBody>
      </p:sp>
      <p:sp>
        <p:nvSpPr>
          <p:cNvPr id="55" name="Rectangle 54"/>
          <p:cNvSpPr/>
          <p:nvPr/>
        </p:nvSpPr>
        <p:spPr>
          <a:xfrm>
            <a:off x="5004816" y="5724144"/>
            <a:ext cx="4588764" cy="1929384"/>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6" name="TextBox 55"/>
          <p:cNvSpPr txBox="1"/>
          <p:nvPr/>
        </p:nvSpPr>
        <p:spPr>
          <a:xfrm>
            <a:off x="5096256" y="5760720"/>
            <a:ext cx="4392168" cy="841248"/>
          </a:xfrm>
          <a:prstGeom prst="rect">
            <a:avLst/>
          </a:prstGeom>
          <a:noFill/>
        </p:spPr>
        <p:txBody>
          <a:bodyPr wrap="square" tIns="36576" bIns="36576" anchor="t">
            <a:spAutoFit/>
          </a:bodyPr>
          <a:lstStyle/>
          <a:p>
            <a:pPr>
              <a:lnSpc>
                <a:spcPts val="1944"/>
              </a:lnSpc>
              <a:spcBef>
                <a:spcPts val="0"/>
              </a:spcBef>
              <a:spcAft>
                <a:spcPts val="0"/>
              </a:spcAft>
              <a:defRPr sz="1800" b="1">
                <a:solidFill>
                  <a:srgbClr val="182B3A"/>
                </a:solidFill>
                <a:latin typeface="Arial"/>
              </a:defRPr>
            </a:pPr>
            <a:r>
              <a:t>3.  Share a £156 bill equally among 8 friends. How much each?</a:t>
            </a:r>
          </a:p>
        </p:txBody>
      </p:sp>
      <p:cxnSp>
        <p:nvCxnSpPr>
          <p:cNvPr id="57" name="Connector 56"/>
          <p:cNvCxnSpPr/>
          <p:nvPr/>
        </p:nvCxnSpPr>
        <p:spPr>
          <a:xfrm>
            <a:off x="5525109" y="6879945"/>
            <a:ext cx="1209751" cy="0"/>
          </a:xfrm>
          <a:prstGeom prst="line">
            <a:avLst/>
          </a:prstGeom>
          <a:ln w="16510">
            <a:solidFill>
              <a:srgbClr val="182B3A"/>
            </a:solidFill>
          </a:ln>
        </p:spPr>
        <p:style>
          <a:lnRef idx="2">
            <a:schemeClr val="accent1"/>
          </a:lnRef>
          <a:fillRef idx="0">
            <a:schemeClr val="accent1"/>
          </a:fillRef>
          <a:effectRef idx="1">
            <a:schemeClr val="accent1"/>
          </a:effectRef>
          <a:fontRef idx="minor">
            <a:schemeClr val="tx1"/>
          </a:fontRef>
        </p:style>
      </p:cxnSp>
      <p:cxnSp>
        <p:nvCxnSpPr>
          <p:cNvPr id="58" name="Connector 57"/>
          <p:cNvCxnSpPr/>
          <p:nvPr/>
        </p:nvCxnSpPr>
        <p:spPr>
          <a:xfrm>
            <a:off x="5525109" y="6879945"/>
            <a:ext cx="0" cy="320955"/>
          </a:xfrm>
          <a:prstGeom prst="line">
            <a:avLst/>
          </a:prstGeom>
          <a:ln w="16510">
            <a:solidFill>
              <a:srgbClr val="182B3A"/>
            </a:solidFill>
          </a:ln>
        </p:spPr>
        <p:style>
          <a:lnRef idx="2">
            <a:schemeClr val="accent1"/>
          </a:lnRef>
          <a:fillRef idx="0">
            <a:schemeClr val="accent1"/>
          </a:fillRef>
          <a:effectRef idx="1">
            <a:schemeClr val="accent1"/>
          </a:effectRef>
          <a:fontRef idx="minor">
            <a:schemeClr val="tx1"/>
          </a:fontRef>
        </p:style>
      </p:cxnSp>
      <p:sp>
        <p:nvSpPr>
          <p:cNvPr id="59" name="TextBox 58"/>
          <p:cNvSpPr txBox="1"/>
          <p:nvPr/>
        </p:nvSpPr>
        <p:spPr>
          <a:xfrm>
            <a:off x="5187696" y="6900519"/>
            <a:ext cx="296265" cy="288036"/>
          </a:xfrm>
          <a:prstGeom prst="rect">
            <a:avLst/>
          </a:prstGeom>
          <a:noFill/>
        </p:spPr>
        <p:txBody>
          <a:bodyPr wrap="none" lIns="0" rIns="0" tIns="0" bIns="0">
            <a:spAutoFit/>
          </a:bodyPr>
          <a:lstStyle/>
          <a:p>
            <a:pPr algn="r">
              <a:lnSpc>
                <a:spcPts val="2217"/>
              </a:lnSpc>
              <a:spcBef>
                <a:spcPts val="0"/>
              </a:spcBef>
              <a:spcAft>
                <a:spcPts val="0"/>
              </a:spcAft>
              <a:defRPr sz="1980" b="0">
                <a:solidFill>
                  <a:srgbClr val="182B3A"/>
                </a:solidFill>
                <a:latin typeface="Arial"/>
              </a:defRPr>
            </a:pPr>
            <a:r>
              <a:t>8</a:t>
            </a:r>
          </a:p>
        </p:txBody>
      </p:sp>
      <p:sp>
        <p:nvSpPr>
          <p:cNvPr id="60" name="TextBox 59"/>
          <p:cNvSpPr txBox="1"/>
          <p:nvPr/>
        </p:nvSpPr>
        <p:spPr>
          <a:xfrm>
            <a:off x="5574487" y="6908749"/>
            <a:ext cx="378561" cy="296265"/>
          </a:xfrm>
          <a:prstGeom prst="rect">
            <a:avLst/>
          </a:prstGeom>
          <a:noFill/>
        </p:spPr>
        <p:txBody>
          <a:bodyPr wrap="none" lIns="0" rIns="0" tIns="0" bIns="0">
            <a:spAutoFit/>
          </a:bodyPr>
          <a:lstStyle/>
          <a:p>
            <a:pPr algn="ctr">
              <a:lnSpc>
                <a:spcPts val="2419"/>
              </a:lnSpc>
              <a:spcBef>
                <a:spcPts val="0"/>
              </a:spcBef>
              <a:spcAft>
                <a:spcPts val="0"/>
              </a:spcAft>
              <a:defRPr sz="2160" b="0">
                <a:solidFill>
                  <a:srgbClr val="182B3A"/>
                </a:solidFill>
                <a:latin typeface="Arial"/>
              </a:defRPr>
            </a:pPr>
            <a:r>
              <a:t>1</a:t>
            </a:r>
          </a:p>
        </p:txBody>
      </p:sp>
      <p:sp>
        <p:nvSpPr>
          <p:cNvPr id="61" name="TextBox 60"/>
          <p:cNvSpPr txBox="1"/>
          <p:nvPr/>
        </p:nvSpPr>
        <p:spPr>
          <a:xfrm>
            <a:off x="5953048" y="6908749"/>
            <a:ext cx="378561" cy="296265"/>
          </a:xfrm>
          <a:prstGeom prst="rect">
            <a:avLst/>
          </a:prstGeom>
          <a:noFill/>
        </p:spPr>
        <p:txBody>
          <a:bodyPr wrap="none" lIns="0" rIns="0" tIns="0" bIns="0">
            <a:spAutoFit/>
          </a:bodyPr>
          <a:lstStyle/>
          <a:p>
            <a:pPr algn="ctr">
              <a:lnSpc>
                <a:spcPts val="2419"/>
              </a:lnSpc>
              <a:spcBef>
                <a:spcPts val="0"/>
              </a:spcBef>
              <a:spcAft>
                <a:spcPts val="0"/>
              </a:spcAft>
              <a:defRPr sz="2160" b="0">
                <a:solidFill>
                  <a:srgbClr val="182B3A"/>
                </a:solidFill>
                <a:latin typeface="Arial"/>
              </a:defRPr>
            </a:pPr>
            <a:r>
              <a:t>5</a:t>
            </a:r>
          </a:p>
        </p:txBody>
      </p:sp>
      <p:sp>
        <p:nvSpPr>
          <p:cNvPr id="62" name="TextBox 61"/>
          <p:cNvSpPr txBox="1"/>
          <p:nvPr/>
        </p:nvSpPr>
        <p:spPr>
          <a:xfrm>
            <a:off x="5953048" y="6583679"/>
            <a:ext cx="378561" cy="279806"/>
          </a:xfrm>
          <a:prstGeom prst="rect">
            <a:avLst/>
          </a:prstGeom>
          <a:noFill/>
        </p:spPr>
        <p:txBody>
          <a:bodyPr wrap="none" lIns="0" rIns="0" tIns="0" bIns="0">
            <a:spAutoFit/>
          </a:bodyPr>
          <a:lstStyle/>
          <a:p>
            <a:pPr algn="ctr">
              <a:lnSpc>
                <a:spcPts val="2419"/>
              </a:lnSpc>
              <a:spcBef>
                <a:spcPts val="0"/>
              </a:spcBef>
              <a:spcAft>
                <a:spcPts val="0"/>
              </a:spcAft>
              <a:defRPr sz="2160" b="0">
                <a:solidFill>
                  <a:srgbClr val="182B3A"/>
                </a:solidFill>
                <a:latin typeface="Arial"/>
              </a:defRPr>
            </a:pPr>
            <a:r>
              <a:t>1</a:t>
            </a:r>
          </a:p>
        </p:txBody>
      </p:sp>
      <p:sp>
        <p:nvSpPr>
          <p:cNvPr id="63" name="TextBox 62"/>
          <p:cNvSpPr txBox="1"/>
          <p:nvPr/>
        </p:nvSpPr>
        <p:spPr>
          <a:xfrm>
            <a:off x="5903671" y="6884060"/>
            <a:ext cx="148132" cy="164592"/>
          </a:xfrm>
          <a:prstGeom prst="rect">
            <a:avLst/>
          </a:prstGeom>
          <a:noFill/>
        </p:spPr>
        <p:txBody>
          <a:bodyPr wrap="none" lIns="0" rIns="0" tIns="0" bIns="0">
            <a:spAutoFit/>
          </a:bodyPr>
          <a:lstStyle/>
          <a:p>
            <a:pPr algn="ctr">
              <a:lnSpc>
                <a:spcPts val="1209"/>
              </a:lnSpc>
              <a:spcBef>
                <a:spcPts val="0"/>
              </a:spcBef>
              <a:spcAft>
                <a:spcPts val="0"/>
              </a:spcAft>
              <a:defRPr sz="1080" b="0">
                <a:solidFill>
                  <a:srgbClr val="182B3A"/>
                </a:solidFill>
                <a:latin typeface="Arial"/>
              </a:defRPr>
            </a:pPr>
            <a:r>
              <a:t>1</a:t>
            </a:r>
          </a:p>
        </p:txBody>
      </p:sp>
      <p:sp>
        <p:nvSpPr>
          <p:cNvPr id="64" name="TextBox 63"/>
          <p:cNvSpPr txBox="1"/>
          <p:nvPr/>
        </p:nvSpPr>
        <p:spPr>
          <a:xfrm>
            <a:off x="6331610" y="6908749"/>
            <a:ext cx="378561" cy="296265"/>
          </a:xfrm>
          <a:prstGeom prst="rect">
            <a:avLst/>
          </a:prstGeom>
          <a:noFill/>
        </p:spPr>
        <p:txBody>
          <a:bodyPr wrap="none" lIns="0" rIns="0" tIns="0" bIns="0">
            <a:spAutoFit/>
          </a:bodyPr>
          <a:lstStyle/>
          <a:p>
            <a:pPr algn="ctr">
              <a:lnSpc>
                <a:spcPts val="2419"/>
              </a:lnSpc>
              <a:spcBef>
                <a:spcPts val="0"/>
              </a:spcBef>
              <a:spcAft>
                <a:spcPts val="0"/>
              </a:spcAft>
              <a:defRPr sz="2160" b="0">
                <a:solidFill>
                  <a:srgbClr val="182B3A"/>
                </a:solidFill>
                <a:latin typeface="Arial"/>
              </a:defRPr>
            </a:pPr>
            <a:r>
              <a:t>6</a:t>
            </a:r>
          </a:p>
        </p:txBody>
      </p:sp>
      <p:sp>
        <p:nvSpPr>
          <p:cNvPr id="65" name="TextBox 64"/>
          <p:cNvSpPr txBox="1"/>
          <p:nvPr/>
        </p:nvSpPr>
        <p:spPr>
          <a:xfrm>
            <a:off x="6331610" y="6583679"/>
            <a:ext cx="378561" cy="279806"/>
          </a:xfrm>
          <a:prstGeom prst="rect">
            <a:avLst/>
          </a:prstGeom>
          <a:noFill/>
        </p:spPr>
        <p:txBody>
          <a:bodyPr wrap="none" lIns="0" rIns="0" tIns="0" bIns="0">
            <a:spAutoFit/>
          </a:bodyPr>
          <a:lstStyle/>
          <a:p>
            <a:pPr algn="ctr">
              <a:lnSpc>
                <a:spcPts val="2419"/>
              </a:lnSpc>
              <a:spcBef>
                <a:spcPts val="0"/>
              </a:spcBef>
              <a:spcAft>
                <a:spcPts val="0"/>
              </a:spcAft>
              <a:defRPr sz="2160" b="0">
                <a:solidFill>
                  <a:srgbClr val="182B3A"/>
                </a:solidFill>
                <a:latin typeface="Arial"/>
              </a:defRPr>
            </a:pPr>
            <a:r>
              <a:t>9</a:t>
            </a:r>
          </a:p>
        </p:txBody>
      </p:sp>
      <p:sp>
        <p:nvSpPr>
          <p:cNvPr id="66" name="TextBox 65"/>
          <p:cNvSpPr txBox="1"/>
          <p:nvPr/>
        </p:nvSpPr>
        <p:spPr>
          <a:xfrm>
            <a:off x="6282232" y="6884060"/>
            <a:ext cx="148132" cy="164592"/>
          </a:xfrm>
          <a:prstGeom prst="rect">
            <a:avLst/>
          </a:prstGeom>
          <a:noFill/>
        </p:spPr>
        <p:txBody>
          <a:bodyPr wrap="none" lIns="0" rIns="0" tIns="0" bIns="0">
            <a:spAutoFit/>
          </a:bodyPr>
          <a:lstStyle/>
          <a:p>
            <a:pPr algn="ctr">
              <a:lnSpc>
                <a:spcPts val="1209"/>
              </a:lnSpc>
              <a:spcBef>
                <a:spcPts val="0"/>
              </a:spcBef>
              <a:spcAft>
                <a:spcPts val="0"/>
              </a:spcAft>
              <a:defRPr sz="1080" b="0">
                <a:solidFill>
                  <a:srgbClr val="182B3A"/>
                </a:solidFill>
                <a:latin typeface="Arial"/>
              </a:defRPr>
            </a:pPr>
            <a:r>
              <a:t>7</a:t>
            </a:r>
          </a:p>
        </p:txBody>
      </p:sp>
      <p:sp>
        <p:nvSpPr>
          <p:cNvPr id="67" name="TextBox 66"/>
          <p:cNvSpPr txBox="1"/>
          <p:nvPr/>
        </p:nvSpPr>
        <p:spPr>
          <a:xfrm>
            <a:off x="6792468" y="6608368"/>
            <a:ext cx="658368" cy="246888"/>
          </a:xfrm>
          <a:prstGeom prst="rect">
            <a:avLst/>
          </a:prstGeom>
          <a:noFill/>
        </p:spPr>
        <p:txBody>
          <a:bodyPr wrap="none" lIns="0" rIns="0" tIns="0" bIns="0">
            <a:spAutoFit/>
          </a:bodyPr>
          <a:lstStyle/>
          <a:p>
            <a:pPr algn="l">
              <a:lnSpc>
                <a:spcPts val="1814"/>
              </a:lnSpc>
              <a:spcBef>
                <a:spcPts val="0"/>
              </a:spcBef>
              <a:spcAft>
                <a:spcPts val="0"/>
              </a:spcAft>
              <a:defRPr sz="1620" b="0">
                <a:solidFill>
                  <a:srgbClr val="182B3A"/>
                </a:solidFill>
                <a:latin typeface="Arial"/>
              </a:defRPr>
            </a:pPr>
            <a:r>
              <a:t>r 4</a:t>
            </a:r>
          </a:p>
        </p:txBody>
      </p:sp>
      <p:sp>
        <p:nvSpPr>
          <p:cNvPr id="68" name="TextBox 67"/>
          <p:cNvSpPr txBox="1"/>
          <p:nvPr/>
        </p:nvSpPr>
        <p:spPr>
          <a:xfrm>
            <a:off x="5215128" y="7342631"/>
            <a:ext cx="4206240" cy="274320"/>
          </a:xfrm>
          <a:prstGeom prst="rect">
            <a:avLst/>
          </a:prstGeom>
          <a:noFill/>
        </p:spPr>
        <p:txBody>
          <a:bodyPr wrap="none" lIns="0" rIns="0" tIns="0" bIns="0">
            <a:spAutoFit/>
          </a:bodyPr>
          <a:lstStyle/>
          <a:p>
            <a:pPr algn="l">
              <a:lnSpc>
                <a:spcPts val="2128"/>
              </a:lnSpc>
              <a:spcBef>
                <a:spcPts val="0"/>
              </a:spcBef>
              <a:spcAft>
                <a:spcPts val="0"/>
              </a:spcAft>
              <a:defRPr sz="1900" b="0">
                <a:solidFill>
                  <a:srgbClr val="182B3A"/>
                </a:solidFill>
                <a:latin typeface="Arial"/>
              </a:defRPr>
            </a:pPr>
            <a:r>
              <a:t>£19.04 each</a:t>
            </a:r>
          </a:p>
        </p:txBody>
      </p:sp>
      <p:sp>
        <p:nvSpPr>
          <p:cNvPr id="69" name="Rectangle 68"/>
          <p:cNvSpPr/>
          <p:nvPr/>
        </p:nvSpPr>
        <p:spPr>
          <a:xfrm>
            <a:off x="9625584" y="1234440"/>
            <a:ext cx="4588764" cy="420624"/>
          </a:xfrm>
          <a:prstGeom prst="rect">
            <a:avLst/>
          </a:prstGeom>
          <a:solidFill>
            <a:srgbClr val="754B87"/>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70" name="TextBox 69"/>
          <p:cNvSpPr txBox="1"/>
          <p:nvPr/>
        </p:nvSpPr>
        <p:spPr>
          <a:xfrm>
            <a:off x="9689592" y="1261872"/>
            <a:ext cx="4474464" cy="347472"/>
          </a:xfrm>
          <a:prstGeom prst="rect">
            <a:avLst/>
          </a:prstGeom>
          <a:noFill/>
        </p:spPr>
        <p:txBody>
          <a:bodyPr wrap="square" tIns="36576" bIns="36576" anchor="t">
            <a:spAutoFit/>
          </a:bodyPr>
          <a:lstStyle/>
          <a:p>
            <a:pPr>
              <a:lnSpc>
                <a:spcPts val="2160"/>
              </a:lnSpc>
              <a:spcBef>
                <a:spcPts val="0"/>
              </a:spcBef>
              <a:spcAft>
                <a:spcPts val="0"/>
              </a:spcAft>
              <a:defRPr sz="2000" b="1">
                <a:solidFill>
                  <a:srgbClr val="FFFFFF"/>
                </a:solidFill>
                <a:latin typeface="Arial"/>
              </a:defRPr>
            </a:pPr>
            <a:r>
              <a:t>Confidence</a:t>
            </a:r>
          </a:p>
        </p:txBody>
      </p:sp>
      <p:sp>
        <p:nvSpPr>
          <p:cNvPr id="71" name="Rectangle 70"/>
          <p:cNvSpPr/>
          <p:nvPr/>
        </p:nvSpPr>
        <p:spPr>
          <a:xfrm>
            <a:off x="9625584" y="1719072"/>
            <a:ext cx="4588764" cy="1929384"/>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72" name="TextBox 71"/>
          <p:cNvSpPr txBox="1"/>
          <p:nvPr/>
        </p:nvSpPr>
        <p:spPr>
          <a:xfrm>
            <a:off x="9717024" y="1755648"/>
            <a:ext cx="4392168" cy="841248"/>
          </a:xfrm>
          <a:prstGeom prst="rect">
            <a:avLst/>
          </a:prstGeom>
          <a:noFill/>
        </p:spPr>
        <p:txBody>
          <a:bodyPr wrap="square" tIns="36576" bIns="36576" anchor="t">
            <a:spAutoFit/>
          </a:bodyPr>
          <a:lstStyle/>
          <a:p>
            <a:pPr>
              <a:lnSpc>
                <a:spcPts val="1944"/>
              </a:lnSpc>
              <a:spcBef>
                <a:spcPts val="0"/>
              </a:spcBef>
              <a:spcAft>
                <a:spcPts val="0"/>
              </a:spcAft>
              <a:defRPr sz="1800" b="1">
                <a:solidFill>
                  <a:srgbClr val="182B3A"/>
                </a:solidFill>
                <a:latin typeface="Arial"/>
              </a:defRPr>
            </a:pPr>
            <a:r>
              <a:t>1.  Tables seat 6 and cost £12 to hire. Find the cost to seat 94 guests.</a:t>
            </a:r>
          </a:p>
        </p:txBody>
      </p:sp>
      <p:cxnSp>
        <p:nvCxnSpPr>
          <p:cNvPr id="73" name="Connector 72"/>
          <p:cNvCxnSpPr/>
          <p:nvPr/>
        </p:nvCxnSpPr>
        <p:spPr>
          <a:xfrm>
            <a:off x="10055626" y="2860974"/>
            <a:ext cx="766541" cy="0"/>
          </a:xfrm>
          <a:prstGeom prst="line">
            <a:avLst/>
          </a:prstGeom>
          <a:ln w="16510">
            <a:solidFill>
              <a:srgbClr val="182B3A"/>
            </a:solidFill>
          </a:ln>
        </p:spPr>
        <p:style>
          <a:lnRef idx="2">
            <a:schemeClr val="accent1"/>
          </a:lnRef>
          <a:fillRef idx="0">
            <a:schemeClr val="accent1"/>
          </a:fillRef>
          <a:effectRef idx="1">
            <a:schemeClr val="accent1"/>
          </a:effectRef>
          <a:fontRef idx="minor">
            <a:schemeClr val="tx1"/>
          </a:fontRef>
        </p:style>
      </p:cxnSp>
      <p:cxnSp>
        <p:nvCxnSpPr>
          <p:cNvPr id="74" name="Connector 73"/>
          <p:cNvCxnSpPr/>
          <p:nvPr/>
        </p:nvCxnSpPr>
        <p:spPr>
          <a:xfrm>
            <a:off x="10055626" y="2860974"/>
            <a:ext cx="0" cy="295991"/>
          </a:xfrm>
          <a:prstGeom prst="line">
            <a:avLst/>
          </a:prstGeom>
          <a:ln w="16510">
            <a:solidFill>
              <a:srgbClr val="182B3A"/>
            </a:solidFill>
          </a:ln>
        </p:spPr>
        <p:style>
          <a:lnRef idx="2">
            <a:schemeClr val="accent1"/>
          </a:lnRef>
          <a:fillRef idx="0">
            <a:schemeClr val="accent1"/>
          </a:fillRef>
          <a:effectRef idx="1">
            <a:schemeClr val="accent1"/>
          </a:effectRef>
          <a:fontRef idx="minor">
            <a:schemeClr val="tx1"/>
          </a:fontRef>
        </p:style>
      </p:cxnSp>
      <p:sp>
        <p:nvSpPr>
          <p:cNvPr id="75" name="TextBox 74"/>
          <p:cNvSpPr txBox="1"/>
          <p:nvPr/>
        </p:nvSpPr>
        <p:spPr>
          <a:xfrm>
            <a:off x="9744456" y="2879948"/>
            <a:ext cx="273222" cy="265633"/>
          </a:xfrm>
          <a:prstGeom prst="rect">
            <a:avLst/>
          </a:prstGeom>
          <a:noFill/>
        </p:spPr>
        <p:txBody>
          <a:bodyPr wrap="none" lIns="0" rIns="0" tIns="0" bIns="0">
            <a:spAutoFit/>
          </a:bodyPr>
          <a:lstStyle/>
          <a:p>
            <a:pPr algn="r">
              <a:lnSpc>
                <a:spcPts val="2045"/>
              </a:lnSpc>
              <a:spcBef>
                <a:spcPts val="0"/>
              </a:spcBef>
              <a:spcAft>
                <a:spcPts val="0"/>
              </a:spcAft>
              <a:defRPr sz="1825" b="0">
                <a:solidFill>
                  <a:srgbClr val="182B3A"/>
                </a:solidFill>
                <a:latin typeface="Arial"/>
              </a:defRPr>
            </a:pPr>
            <a:r>
              <a:t>6</a:t>
            </a:r>
          </a:p>
        </p:txBody>
      </p:sp>
      <p:sp>
        <p:nvSpPr>
          <p:cNvPr id="76" name="TextBox 75"/>
          <p:cNvSpPr txBox="1"/>
          <p:nvPr/>
        </p:nvSpPr>
        <p:spPr>
          <a:xfrm>
            <a:off x="10101163" y="2887538"/>
            <a:ext cx="349117" cy="273222"/>
          </a:xfrm>
          <a:prstGeom prst="rect">
            <a:avLst/>
          </a:prstGeom>
          <a:noFill/>
        </p:spPr>
        <p:txBody>
          <a:bodyPr wrap="none" lIns="0" rIns="0" tIns="0" bIns="0">
            <a:spAutoFit/>
          </a:bodyPr>
          <a:lstStyle/>
          <a:p>
            <a:pPr algn="ctr">
              <a:lnSpc>
                <a:spcPts val="2231"/>
              </a:lnSpc>
              <a:spcBef>
                <a:spcPts val="0"/>
              </a:spcBef>
              <a:spcAft>
                <a:spcPts val="0"/>
              </a:spcAft>
              <a:defRPr sz="1991" b="0">
                <a:solidFill>
                  <a:srgbClr val="182B3A"/>
                </a:solidFill>
                <a:latin typeface="Arial"/>
              </a:defRPr>
            </a:pPr>
            <a:r>
              <a:t>9</a:t>
            </a:r>
          </a:p>
        </p:txBody>
      </p:sp>
      <p:sp>
        <p:nvSpPr>
          <p:cNvPr id="77" name="TextBox 76"/>
          <p:cNvSpPr txBox="1"/>
          <p:nvPr/>
        </p:nvSpPr>
        <p:spPr>
          <a:xfrm>
            <a:off x="10101163" y="2587752"/>
            <a:ext cx="349117" cy="258043"/>
          </a:xfrm>
          <a:prstGeom prst="rect">
            <a:avLst/>
          </a:prstGeom>
          <a:noFill/>
        </p:spPr>
        <p:txBody>
          <a:bodyPr wrap="none" lIns="0" rIns="0" tIns="0" bIns="0">
            <a:spAutoFit/>
          </a:bodyPr>
          <a:lstStyle/>
          <a:p>
            <a:pPr algn="ctr">
              <a:lnSpc>
                <a:spcPts val="2231"/>
              </a:lnSpc>
              <a:spcBef>
                <a:spcPts val="0"/>
              </a:spcBef>
              <a:spcAft>
                <a:spcPts val="0"/>
              </a:spcAft>
              <a:defRPr sz="1991" b="0">
                <a:solidFill>
                  <a:srgbClr val="182B3A"/>
                </a:solidFill>
                <a:latin typeface="Arial"/>
              </a:defRPr>
            </a:pPr>
            <a:r>
              <a:t>1</a:t>
            </a:r>
          </a:p>
        </p:txBody>
      </p:sp>
      <p:sp>
        <p:nvSpPr>
          <p:cNvPr id="78" name="TextBox 77"/>
          <p:cNvSpPr txBox="1"/>
          <p:nvPr/>
        </p:nvSpPr>
        <p:spPr>
          <a:xfrm>
            <a:off x="10450281" y="2887538"/>
            <a:ext cx="349117" cy="273222"/>
          </a:xfrm>
          <a:prstGeom prst="rect">
            <a:avLst/>
          </a:prstGeom>
          <a:noFill/>
        </p:spPr>
        <p:txBody>
          <a:bodyPr wrap="none" lIns="0" rIns="0" tIns="0" bIns="0">
            <a:spAutoFit/>
          </a:bodyPr>
          <a:lstStyle/>
          <a:p>
            <a:pPr algn="ctr">
              <a:lnSpc>
                <a:spcPts val="2231"/>
              </a:lnSpc>
              <a:spcBef>
                <a:spcPts val="0"/>
              </a:spcBef>
              <a:spcAft>
                <a:spcPts val="0"/>
              </a:spcAft>
              <a:defRPr sz="1991" b="0">
                <a:solidFill>
                  <a:srgbClr val="182B3A"/>
                </a:solidFill>
                <a:latin typeface="Arial"/>
              </a:defRPr>
            </a:pPr>
            <a:r>
              <a:t>4</a:t>
            </a:r>
          </a:p>
        </p:txBody>
      </p:sp>
      <p:sp>
        <p:nvSpPr>
          <p:cNvPr id="79" name="TextBox 78"/>
          <p:cNvSpPr txBox="1"/>
          <p:nvPr/>
        </p:nvSpPr>
        <p:spPr>
          <a:xfrm>
            <a:off x="10450281" y="2587752"/>
            <a:ext cx="349117" cy="258043"/>
          </a:xfrm>
          <a:prstGeom prst="rect">
            <a:avLst/>
          </a:prstGeom>
          <a:noFill/>
        </p:spPr>
        <p:txBody>
          <a:bodyPr wrap="none" lIns="0" rIns="0" tIns="0" bIns="0">
            <a:spAutoFit/>
          </a:bodyPr>
          <a:lstStyle/>
          <a:p>
            <a:pPr algn="ctr">
              <a:lnSpc>
                <a:spcPts val="2231"/>
              </a:lnSpc>
              <a:spcBef>
                <a:spcPts val="0"/>
              </a:spcBef>
              <a:spcAft>
                <a:spcPts val="0"/>
              </a:spcAft>
              <a:defRPr sz="1991" b="0">
                <a:solidFill>
                  <a:srgbClr val="182B3A"/>
                </a:solidFill>
                <a:latin typeface="Arial"/>
              </a:defRPr>
            </a:pPr>
            <a:r>
              <a:t>5</a:t>
            </a:r>
          </a:p>
        </p:txBody>
      </p:sp>
      <p:sp>
        <p:nvSpPr>
          <p:cNvPr id="80" name="TextBox 79"/>
          <p:cNvSpPr txBox="1"/>
          <p:nvPr/>
        </p:nvSpPr>
        <p:spPr>
          <a:xfrm>
            <a:off x="10404744" y="2864769"/>
            <a:ext cx="136611" cy="151790"/>
          </a:xfrm>
          <a:prstGeom prst="rect">
            <a:avLst/>
          </a:prstGeom>
          <a:noFill/>
        </p:spPr>
        <p:txBody>
          <a:bodyPr wrap="none" lIns="0" rIns="0" tIns="0" bIns="0">
            <a:spAutoFit/>
          </a:bodyPr>
          <a:lstStyle/>
          <a:p>
            <a:pPr algn="ctr">
              <a:lnSpc>
                <a:spcPts val="1115"/>
              </a:lnSpc>
              <a:spcBef>
                <a:spcPts val="0"/>
              </a:spcBef>
              <a:spcAft>
                <a:spcPts val="0"/>
              </a:spcAft>
              <a:defRPr sz="995" b="0">
                <a:solidFill>
                  <a:srgbClr val="182B3A"/>
                </a:solidFill>
                <a:latin typeface="Arial"/>
              </a:defRPr>
            </a:pPr>
            <a:r>
              <a:t>3</a:t>
            </a:r>
          </a:p>
        </p:txBody>
      </p:sp>
      <p:sp>
        <p:nvSpPr>
          <p:cNvPr id="81" name="TextBox 80"/>
          <p:cNvSpPr txBox="1"/>
          <p:nvPr/>
        </p:nvSpPr>
        <p:spPr>
          <a:xfrm>
            <a:off x="10875294" y="2610520"/>
            <a:ext cx="607161" cy="227685"/>
          </a:xfrm>
          <a:prstGeom prst="rect">
            <a:avLst/>
          </a:prstGeom>
          <a:noFill/>
        </p:spPr>
        <p:txBody>
          <a:bodyPr wrap="none" lIns="0" rIns="0" tIns="0" bIns="0">
            <a:spAutoFit/>
          </a:bodyPr>
          <a:lstStyle/>
          <a:p>
            <a:pPr algn="l">
              <a:lnSpc>
                <a:spcPts val="1673"/>
              </a:lnSpc>
              <a:spcBef>
                <a:spcPts val="0"/>
              </a:spcBef>
              <a:spcAft>
                <a:spcPts val="0"/>
              </a:spcAft>
              <a:defRPr sz="1494" b="0">
                <a:solidFill>
                  <a:srgbClr val="182B3A"/>
                </a:solidFill>
                <a:latin typeface="Arial"/>
              </a:defRPr>
            </a:pPr>
            <a:r>
              <a:t>r 4</a:t>
            </a:r>
          </a:p>
        </p:txBody>
      </p:sp>
      <p:sp>
        <p:nvSpPr>
          <p:cNvPr id="82" name="TextBox 81"/>
          <p:cNvSpPr txBox="1"/>
          <p:nvPr/>
        </p:nvSpPr>
        <p:spPr>
          <a:xfrm>
            <a:off x="13008864" y="2350008"/>
            <a:ext cx="164592" cy="173736"/>
          </a:xfrm>
          <a:prstGeom prst="rect">
            <a:avLst/>
          </a:prstGeom>
          <a:noFill/>
        </p:spPr>
        <p:txBody>
          <a:bodyPr wrap="none" lIns="0" rIns="0" tIns="0" bIns="0">
            <a:spAutoFit/>
          </a:bodyPr>
          <a:lstStyle/>
          <a:p>
            <a:pPr algn="ctr">
              <a:lnSpc>
                <a:spcPts val="1120"/>
              </a:lnSpc>
              <a:spcBef>
                <a:spcPts val="0"/>
              </a:spcBef>
              <a:spcAft>
                <a:spcPts val="0"/>
              </a:spcAft>
              <a:defRPr sz="1000" b="0">
                <a:solidFill>
                  <a:srgbClr val="182B3A"/>
                </a:solidFill>
                <a:latin typeface="Arial"/>
              </a:defRPr>
            </a:pPr>
            <a:r>
              <a:t>1</a:t>
            </a:r>
          </a:p>
        </p:txBody>
      </p:sp>
      <p:sp>
        <p:nvSpPr>
          <p:cNvPr id="83" name="TextBox 82"/>
          <p:cNvSpPr txBox="1"/>
          <p:nvPr/>
        </p:nvSpPr>
        <p:spPr>
          <a:xfrm>
            <a:off x="12460224" y="2468879"/>
            <a:ext cx="914400" cy="256032"/>
          </a:xfrm>
          <a:prstGeom prst="rect">
            <a:avLst/>
          </a:prstGeom>
          <a:noFill/>
        </p:spPr>
        <p:txBody>
          <a:bodyPr wrap="none" lIns="0" rIns="0" tIns="0" bIns="0">
            <a:spAutoFit/>
          </a:bodyPr>
          <a:lstStyle/>
          <a:p>
            <a:pPr algn="r">
              <a:lnSpc>
                <a:spcPts val="2016"/>
              </a:lnSpc>
              <a:spcBef>
                <a:spcPts val="0"/>
              </a:spcBef>
              <a:spcAft>
                <a:spcPts val="0"/>
              </a:spcAft>
              <a:defRPr sz="1800" b="0">
                <a:solidFill>
                  <a:srgbClr val="182B3A"/>
                </a:solidFill>
                <a:latin typeface="Arial"/>
              </a:defRPr>
            </a:pPr>
            <a:r>
              <a:t>15</a:t>
            </a:r>
          </a:p>
        </p:txBody>
      </p:sp>
      <p:sp>
        <p:nvSpPr>
          <p:cNvPr id="84" name="TextBox 83"/>
          <p:cNvSpPr txBox="1"/>
          <p:nvPr/>
        </p:nvSpPr>
        <p:spPr>
          <a:xfrm>
            <a:off x="12460224" y="2697479"/>
            <a:ext cx="914400" cy="256032"/>
          </a:xfrm>
          <a:prstGeom prst="rect">
            <a:avLst/>
          </a:prstGeom>
          <a:noFill/>
        </p:spPr>
        <p:txBody>
          <a:bodyPr wrap="none" lIns="0" rIns="0" tIns="0" bIns="0">
            <a:spAutoFit/>
          </a:bodyPr>
          <a:lstStyle/>
          <a:p>
            <a:pPr algn="r">
              <a:lnSpc>
                <a:spcPts val="2016"/>
              </a:lnSpc>
              <a:spcBef>
                <a:spcPts val="0"/>
              </a:spcBef>
              <a:spcAft>
                <a:spcPts val="0"/>
              </a:spcAft>
              <a:defRPr sz="1800" b="0">
                <a:solidFill>
                  <a:srgbClr val="182B3A"/>
                </a:solidFill>
                <a:latin typeface="Arial"/>
              </a:defRPr>
            </a:pPr>
            <a:r>
              <a:t>× 12</a:t>
            </a:r>
          </a:p>
        </p:txBody>
      </p:sp>
      <p:cxnSp>
        <p:nvCxnSpPr>
          <p:cNvPr id="85" name="Connector 84"/>
          <p:cNvCxnSpPr/>
          <p:nvPr/>
        </p:nvCxnSpPr>
        <p:spPr>
          <a:xfrm>
            <a:off x="12460224" y="2921508"/>
            <a:ext cx="914400" cy="0"/>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sp>
        <p:nvSpPr>
          <p:cNvPr id="86" name="TextBox 85"/>
          <p:cNvSpPr txBox="1"/>
          <p:nvPr/>
        </p:nvSpPr>
        <p:spPr>
          <a:xfrm>
            <a:off x="12460224" y="2926079"/>
            <a:ext cx="914400" cy="256032"/>
          </a:xfrm>
          <a:prstGeom prst="rect">
            <a:avLst/>
          </a:prstGeom>
          <a:noFill/>
        </p:spPr>
        <p:txBody>
          <a:bodyPr wrap="none" lIns="0" rIns="0" tIns="0" bIns="0">
            <a:spAutoFit/>
          </a:bodyPr>
          <a:lstStyle/>
          <a:p>
            <a:pPr algn="r">
              <a:lnSpc>
                <a:spcPts val="2016"/>
              </a:lnSpc>
              <a:spcBef>
                <a:spcPts val="0"/>
              </a:spcBef>
              <a:spcAft>
                <a:spcPts val="0"/>
              </a:spcAft>
              <a:defRPr sz="1800" b="0">
                <a:solidFill>
                  <a:srgbClr val="182B3A"/>
                </a:solidFill>
                <a:latin typeface="Arial"/>
              </a:defRPr>
            </a:pPr>
            <a:r>
              <a:t>30</a:t>
            </a:r>
          </a:p>
        </p:txBody>
      </p:sp>
      <p:sp>
        <p:nvSpPr>
          <p:cNvPr id="87" name="TextBox 86"/>
          <p:cNvSpPr txBox="1"/>
          <p:nvPr/>
        </p:nvSpPr>
        <p:spPr>
          <a:xfrm>
            <a:off x="12460224" y="3154679"/>
            <a:ext cx="914400" cy="256032"/>
          </a:xfrm>
          <a:prstGeom prst="rect">
            <a:avLst/>
          </a:prstGeom>
          <a:noFill/>
        </p:spPr>
        <p:txBody>
          <a:bodyPr wrap="none" lIns="0" rIns="0" tIns="0" bIns="0">
            <a:spAutoFit/>
          </a:bodyPr>
          <a:lstStyle/>
          <a:p>
            <a:pPr algn="r">
              <a:lnSpc>
                <a:spcPts val="2016"/>
              </a:lnSpc>
              <a:spcBef>
                <a:spcPts val="0"/>
              </a:spcBef>
              <a:spcAft>
                <a:spcPts val="0"/>
              </a:spcAft>
              <a:defRPr sz="1800" b="0">
                <a:solidFill>
                  <a:srgbClr val="182B3A"/>
                </a:solidFill>
                <a:latin typeface="Arial"/>
              </a:defRPr>
            </a:pPr>
            <a:r>
              <a:t>150</a:t>
            </a:r>
          </a:p>
        </p:txBody>
      </p:sp>
      <p:cxnSp>
        <p:nvCxnSpPr>
          <p:cNvPr id="88" name="Connector 87"/>
          <p:cNvCxnSpPr/>
          <p:nvPr/>
        </p:nvCxnSpPr>
        <p:spPr>
          <a:xfrm>
            <a:off x="12460224" y="3378708"/>
            <a:ext cx="914400" cy="0"/>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sp>
        <p:nvSpPr>
          <p:cNvPr id="89" name="TextBox 88"/>
          <p:cNvSpPr txBox="1"/>
          <p:nvPr/>
        </p:nvSpPr>
        <p:spPr>
          <a:xfrm>
            <a:off x="12460224" y="3383279"/>
            <a:ext cx="914400" cy="256032"/>
          </a:xfrm>
          <a:prstGeom prst="rect">
            <a:avLst/>
          </a:prstGeom>
          <a:noFill/>
        </p:spPr>
        <p:txBody>
          <a:bodyPr wrap="none" lIns="0" rIns="0" tIns="0" bIns="0">
            <a:spAutoFit/>
          </a:bodyPr>
          <a:lstStyle/>
          <a:p>
            <a:pPr algn="r">
              <a:lnSpc>
                <a:spcPts val="2016"/>
              </a:lnSpc>
              <a:spcBef>
                <a:spcPts val="0"/>
              </a:spcBef>
              <a:spcAft>
                <a:spcPts val="0"/>
              </a:spcAft>
              <a:defRPr sz="1800" b="0">
                <a:solidFill>
                  <a:srgbClr val="182B3A"/>
                </a:solidFill>
                <a:latin typeface="Arial"/>
              </a:defRPr>
            </a:pPr>
            <a:r>
              <a:t>180</a:t>
            </a:r>
          </a:p>
        </p:txBody>
      </p:sp>
      <p:cxnSp>
        <p:nvCxnSpPr>
          <p:cNvPr id="90" name="Connector 89"/>
          <p:cNvCxnSpPr/>
          <p:nvPr/>
        </p:nvCxnSpPr>
        <p:spPr>
          <a:xfrm>
            <a:off x="12460224" y="3607308"/>
            <a:ext cx="914400" cy="0"/>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sp>
        <p:nvSpPr>
          <p:cNvPr id="91" name="TextBox 90"/>
          <p:cNvSpPr txBox="1"/>
          <p:nvPr/>
        </p:nvSpPr>
        <p:spPr>
          <a:xfrm>
            <a:off x="9835896" y="3346704"/>
            <a:ext cx="2468880" cy="274320"/>
          </a:xfrm>
          <a:prstGeom prst="rect">
            <a:avLst/>
          </a:prstGeom>
          <a:noFill/>
        </p:spPr>
        <p:txBody>
          <a:bodyPr wrap="none" lIns="0" rIns="0" tIns="0" bIns="0">
            <a:spAutoFit/>
          </a:bodyPr>
          <a:lstStyle/>
          <a:p>
            <a:pPr algn="l">
              <a:lnSpc>
                <a:spcPts val="2016"/>
              </a:lnSpc>
              <a:spcBef>
                <a:spcPts val="0"/>
              </a:spcBef>
              <a:spcAft>
                <a:spcPts val="0"/>
              </a:spcAft>
              <a:defRPr sz="1800" b="0">
                <a:solidFill>
                  <a:srgbClr val="182B3A"/>
                </a:solidFill>
                <a:latin typeface="Arial"/>
              </a:defRPr>
            </a:pPr>
            <a:r>
              <a:t>15 tables cost £180</a:t>
            </a:r>
          </a:p>
        </p:txBody>
      </p:sp>
      <p:sp>
        <p:nvSpPr>
          <p:cNvPr id="92" name="Rectangle 91"/>
          <p:cNvSpPr/>
          <p:nvPr/>
        </p:nvSpPr>
        <p:spPr>
          <a:xfrm>
            <a:off x="9625584" y="3721608"/>
            <a:ext cx="4588764" cy="1929384"/>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93" name="TextBox 92"/>
          <p:cNvSpPr txBox="1"/>
          <p:nvPr/>
        </p:nvSpPr>
        <p:spPr>
          <a:xfrm>
            <a:off x="9717024" y="3758184"/>
            <a:ext cx="4392168" cy="841248"/>
          </a:xfrm>
          <a:prstGeom prst="rect">
            <a:avLst/>
          </a:prstGeom>
          <a:noFill/>
        </p:spPr>
        <p:txBody>
          <a:bodyPr wrap="square" tIns="36576" bIns="36576" anchor="t">
            <a:spAutoFit/>
          </a:bodyPr>
          <a:lstStyle/>
          <a:p>
            <a:pPr>
              <a:lnSpc>
                <a:spcPts val="1944"/>
              </a:lnSpc>
              <a:spcBef>
                <a:spcPts val="0"/>
              </a:spcBef>
              <a:spcAft>
                <a:spcPts val="0"/>
              </a:spcAft>
              <a:defRPr sz="1800" b="1">
                <a:solidFill>
                  <a:srgbClr val="182B3A"/>
                </a:solidFill>
                <a:latin typeface="Arial"/>
              </a:defRPr>
            </a:pPr>
            <a:r>
              <a:t>2.  24 packs hold 15 drinks each. 87 are served. How many are left?</a:t>
            </a:r>
          </a:p>
        </p:txBody>
      </p:sp>
      <p:sp>
        <p:nvSpPr>
          <p:cNvPr id="94" name="TextBox 93"/>
          <p:cNvSpPr txBox="1"/>
          <p:nvPr/>
        </p:nvSpPr>
        <p:spPr>
          <a:xfrm>
            <a:off x="10631424" y="4352544"/>
            <a:ext cx="164592" cy="173736"/>
          </a:xfrm>
          <a:prstGeom prst="rect">
            <a:avLst/>
          </a:prstGeom>
          <a:noFill/>
        </p:spPr>
        <p:txBody>
          <a:bodyPr wrap="none" lIns="0" rIns="0" tIns="0" bIns="0">
            <a:spAutoFit/>
          </a:bodyPr>
          <a:lstStyle/>
          <a:p>
            <a:pPr algn="ctr">
              <a:lnSpc>
                <a:spcPts val="1120"/>
              </a:lnSpc>
              <a:spcBef>
                <a:spcPts val="0"/>
              </a:spcBef>
              <a:spcAft>
                <a:spcPts val="0"/>
              </a:spcAft>
              <a:defRPr sz="1000" b="0">
                <a:solidFill>
                  <a:srgbClr val="182B3A"/>
                </a:solidFill>
                <a:latin typeface="Arial"/>
              </a:defRPr>
            </a:pPr>
            <a:r>
              <a:t>2</a:t>
            </a:r>
          </a:p>
        </p:txBody>
      </p:sp>
      <p:sp>
        <p:nvSpPr>
          <p:cNvPr id="95" name="TextBox 94"/>
          <p:cNvSpPr txBox="1"/>
          <p:nvPr/>
        </p:nvSpPr>
        <p:spPr>
          <a:xfrm>
            <a:off x="10082784" y="4471416"/>
            <a:ext cx="914400" cy="256032"/>
          </a:xfrm>
          <a:prstGeom prst="rect">
            <a:avLst/>
          </a:prstGeom>
          <a:noFill/>
        </p:spPr>
        <p:txBody>
          <a:bodyPr wrap="none" lIns="0" rIns="0" tIns="0" bIns="0">
            <a:spAutoFit/>
          </a:bodyPr>
          <a:lstStyle/>
          <a:p>
            <a:pPr algn="r">
              <a:lnSpc>
                <a:spcPts val="2016"/>
              </a:lnSpc>
              <a:spcBef>
                <a:spcPts val="0"/>
              </a:spcBef>
              <a:spcAft>
                <a:spcPts val="0"/>
              </a:spcAft>
              <a:defRPr sz="1800" b="0">
                <a:solidFill>
                  <a:srgbClr val="182B3A"/>
                </a:solidFill>
                <a:latin typeface="Arial"/>
              </a:defRPr>
            </a:pPr>
            <a:r>
              <a:t>24</a:t>
            </a:r>
          </a:p>
        </p:txBody>
      </p:sp>
      <p:sp>
        <p:nvSpPr>
          <p:cNvPr id="96" name="TextBox 95"/>
          <p:cNvSpPr txBox="1"/>
          <p:nvPr/>
        </p:nvSpPr>
        <p:spPr>
          <a:xfrm>
            <a:off x="10082784" y="4700016"/>
            <a:ext cx="914400" cy="256032"/>
          </a:xfrm>
          <a:prstGeom prst="rect">
            <a:avLst/>
          </a:prstGeom>
          <a:noFill/>
        </p:spPr>
        <p:txBody>
          <a:bodyPr wrap="none" lIns="0" rIns="0" tIns="0" bIns="0">
            <a:spAutoFit/>
          </a:bodyPr>
          <a:lstStyle/>
          <a:p>
            <a:pPr algn="r">
              <a:lnSpc>
                <a:spcPts val="2016"/>
              </a:lnSpc>
              <a:spcBef>
                <a:spcPts val="0"/>
              </a:spcBef>
              <a:spcAft>
                <a:spcPts val="0"/>
              </a:spcAft>
              <a:defRPr sz="1800" b="0">
                <a:solidFill>
                  <a:srgbClr val="182B3A"/>
                </a:solidFill>
                <a:latin typeface="Arial"/>
              </a:defRPr>
            </a:pPr>
            <a:r>
              <a:t>× 15</a:t>
            </a:r>
          </a:p>
        </p:txBody>
      </p:sp>
      <p:cxnSp>
        <p:nvCxnSpPr>
          <p:cNvPr id="97" name="Connector 96"/>
          <p:cNvCxnSpPr/>
          <p:nvPr/>
        </p:nvCxnSpPr>
        <p:spPr>
          <a:xfrm>
            <a:off x="10082784" y="4924044"/>
            <a:ext cx="914400" cy="0"/>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sp>
        <p:nvSpPr>
          <p:cNvPr id="98" name="TextBox 97"/>
          <p:cNvSpPr txBox="1"/>
          <p:nvPr/>
        </p:nvSpPr>
        <p:spPr>
          <a:xfrm>
            <a:off x="10082784" y="4928616"/>
            <a:ext cx="914400" cy="256032"/>
          </a:xfrm>
          <a:prstGeom prst="rect">
            <a:avLst/>
          </a:prstGeom>
          <a:noFill/>
        </p:spPr>
        <p:txBody>
          <a:bodyPr wrap="none" lIns="0" rIns="0" tIns="0" bIns="0">
            <a:spAutoFit/>
          </a:bodyPr>
          <a:lstStyle/>
          <a:p>
            <a:pPr algn="r">
              <a:lnSpc>
                <a:spcPts val="2016"/>
              </a:lnSpc>
              <a:spcBef>
                <a:spcPts val="0"/>
              </a:spcBef>
              <a:spcAft>
                <a:spcPts val="0"/>
              </a:spcAft>
              <a:defRPr sz="1800" b="0">
                <a:solidFill>
                  <a:srgbClr val="182B3A"/>
                </a:solidFill>
                <a:latin typeface="Arial"/>
              </a:defRPr>
            </a:pPr>
            <a:r>
              <a:t>120</a:t>
            </a:r>
          </a:p>
        </p:txBody>
      </p:sp>
      <p:sp>
        <p:nvSpPr>
          <p:cNvPr id="99" name="TextBox 98"/>
          <p:cNvSpPr txBox="1"/>
          <p:nvPr/>
        </p:nvSpPr>
        <p:spPr>
          <a:xfrm>
            <a:off x="10082784" y="5157216"/>
            <a:ext cx="914400" cy="256032"/>
          </a:xfrm>
          <a:prstGeom prst="rect">
            <a:avLst/>
          </a:prstGeom>
          <a:noFill/>
        </p:spPr>
        <p:txBody>
          <a:bodyPr wrap="none" lIns="0" rIns="0" tIns="0" bIns="0">
            <a:spAutoFit/>
          </a:bodyPr>
          <a:lstStyle/>
          <a:p>
            <a:pPr algn="r">
              <a:lnSpc>
                <a:spcPts val="2016"/>
              </a:lnSpc>
              <a:spcBef>
                <a:spcPts val="0"/>
              </a:spcBef>
              <a:spcAft>
                <a:spcPts val="0"/>
              </a:spcAft>
              <a:defRPr sz="1800" b="0">
                <a:solidFill>
                  <a:srgbClr val="182B3A"/>
                </a:solidFill>
                <a:latin typeface="Arial"/>
              </a:defRPr>
            </a:pPr>
            <a:r>
              <a:t>240</a:t>
            </a:r>
          </a:p>
        </p:txBody>
      </p:sp>
      <p:cxnSp>
        <p:nvCxnSpPr>
          <p:cNvPr id="100" name="Connector 99"/>
          <p:cNvCxnSpPr/>
          <p:nvPr/>
        </p:nvCxnSpPr>
        <p:spPr>
          <a:xfrm>
            <a:off x="10082784" y="5381244"/>
            <a:ext cx="914400" cy="0"/>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sp>
        <p:nvSpPr>
          <p:cNvPr id="101" name="TextBox 100"/>
          <p:cNvSpPr txBox="1"/>
          <p:nvPr/>
        </p:nvSpPr>
        <p:spPr>
          <a:xfrm>
            <a:off x="10082784" y="5385816"/>
            <a:ext cx="914400" cy="256032"/>
          </a:xfrm>
          <a:prstGeom prst="rect">
            <a:avLst/>
          </a:prstGeom>
          <a:noFill/>
        </p:spPr>
        <p:txBody>
          <a:bodyPr wrap="none" lIns="0" rIns="0" tIns="0" bIns="0">
            <a:spAutoFit/>
          </a:bodyPr>
          <a:lstStyle/>
          <a:p>
            <a:pPr algn="r">
              <a:lnSpc>
                <a:spcPts val="2016"/>
              </a:lnSpc>
              <a:spcBef>
                <a:spcPts val="0"/>
              </a:spcBef>
              <a:spcAft>
                <a:spcPts val="0"/>
              </a:spcAft>
              <a:defRPr sz="1800" b="0">
                <a:solidFill>
                  <a:srgbClr val="182B3A"/>
                </a:solidFill>
                <a:latin typeface="Arial"/>
              </a:defRPr>
            </a:pPr>
            <a:r>
              <a:t>360</a:t>
            </a:r>
          </a:p>
        </p:txBody>
      </p:sp>
      <p:cxnSp>
        <p:nvCxnSpPr>
          <p:cNvPr id="102" name="Connector 101"/>
          <p:cNvCxnSpPr/>
          <p:nvPr/>
        </p:nvCxnSpPr>
        <p:spPr>
          <a:xfrm>
            <a:off x="10082784" y="5609844"/>
            <a:ext cx="914400" cy="0"/>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sp>
        <p:nvSpPr>
          <p:cNvPr id="103" name="TextBox 102"/>
          <p:cNvSpPr txBox="1"/>
          <p:nvPr/>
        </p:nvSpPr>
        <p:spPr>
          <a:xfrm>
            <a:off x="11911584" y="4553712"/>
            <a:ext cx="914400" cy="256032"/>
          </a:xfrm>
          <a:prstGeom prst="rect">
            <a:avLst/>
          </a:prstGeom>
          <a:noFill/>
        </p:spPr>
        <p:txBody>
          <a:bodyPr wrap="none" lIns="0" rIns="0" tIns="0" bIns="0">
            <a:spAutoFit/>
          </a:bodyPr>
          <a:lstStyle/>
          <a:p>
            <a:pPr algn="r">
              <a:lnSpc>
                <a:spcPts val="2016"/>
              </a:lnSpc>
              <a:spcBef>
                <a:spcPts val="0"/>
              </a:spcBef>
              <a:spcAft>
                <a:spcPts val="0"/>
              </a:spcAft>
              <a:defRPr sz="1800" b="0">
                <a:solidFill>
                  <a:srgbClr val="182B3A"/>
                </a:solidFill>
                <a:latin typeface="Arial"/>
              </a:defRPr>
            </a:pPr>
            <a:r>
              <a:t>360</a:t>
            </a:r>
          </a:p>
        </p:txBody>
      </p:sp>
      <p:sp>
        <p:nvSpPr>
          <p:cNvPr id="104" name="TextBox 103"/>
          <p:cNvSpPr txBox="1"/>
          <p:nvPr/>
        </p:nvSpPr>
        <p:spPr>
          <a:xfrm>
            <a:off x="11911584" y="4782312"/>
            <a:ext cx="914400" cy="256032"/>
          </a:xfrm>
          <a:prstGeom prst="rect">
            <a:avLst/>
          </a:prstGeom>
          <a:noFill/>
        </p:spPr>
        <p:txBody>
          <a:bodyPr wrap="none" lIns="0" rIns="0" tIns="0" bIns="0">
            <a:spAutoFit/>
          </a:bodyPr>
          <a:lstStyle/>
          <a:p>
            <a:pPr algn="r">
              <a:lnSpc>
                <a:spcPts val="2016"/>
              </a:lnSpc>
              <a:spcBef>
                <a:spcPts val="0"/>
              </a:spcBef>
              <a:spcAft>
                <a:spcPts val="0"/>
              </a:spcAft>
              <a:defRPr sz="1800" b="0">
                <a:solidFill>
                  <a:srgbClr val="182B3A"/>
                </a:solidFill>
                <a:latin typeface="Arial"/>
              </a:defRPr>
            </a:pPr>
            <a:r>
              <a:t>+ 87</a:t>
            </a:r>
          </a:p>
        </p:txBody>
      </p:sp>
      <p:cxnSp>
        <p:nvCxnSpPr>
          <p:cNvPr id="105" name="Connector 104"/>
          <p:cNvCxnSpPr/>
          <p:nvPr/>
        </p:nvCxnSpPr>
        <p:spPr>
          <a:xfrm>
            <a:off x="11911584" y="5006340"/>
            <a:ext cx="914400" cy="0"/>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sp>
        <p:nvSpPr>
          <p:cNvPr id="106" name="TextBox 105"/>
          <p:cNvSpPr txBox="1"/>
          <p:nvPr/>
        </p:nvSpPr>
        <p:spPr>
          <a:xfrm>
            <a:off x="11911584" y="5010912"/>
            <a:ext cx="914400" cy="256032"/>
          </a:xfrm>
          <a:prstGeom prst="rect">
            <a:avLst/>
          </a:prstGeom>
          <a:noFill/>
        </p:spPr>
        <p:txBody>
          <a:bodyPr wrap="none" lIns="0" rIns="0" tIns="0" bIns="0">
            <a:spAutoFit/>
          </a:bodyPr>
          <a:lstStyle/>
          <a:p>
            <a:pPr algn="r">
              <a:lnSpc>
                <a:spcPts val="2016"/>
              </a:lnSpc>
              <a:spcBef>
                <a:spcPts val="0"/>
              </a:spcBef>
              <a:spcAft>
                <a:spcPts val="0"/>
              </a:spcAft>
              <a:defRPr sz="1800" b="0">
                <a:solidFill>
                  <a:srgbClr val="182B3A"/>
                </a:solidFill>
                <a:latin typeface="Arial"/>
              </a:defRPr>
            </a:pPr>
            <a:r>
              <a:t>447</a:t>
            </a:r>
          </a:p>
        </p:txBody>
      </p:sp>
      <p:cxnSp>
        <p:nvCxnSpPr>
          <p:cNvPr id="107" name="Connector 106"/>
          <p:cNvCxnSpPr/>
          <p:nvPr/>
        </p:nvCxnSpPr>
        <p:spPr>
          <a:xfrm>
            <a:off x="11911584" y="5234940"/>
            <a:ext cx="914400" cy="0"/>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sp>
        <p:nvSpPr>
          <p:cNvPr id="108" name="TextBox 107"/>
          <p:cNvSpPr txBox="1"/>
          <p:nvPr/>
        </p:nvSpPr>
        <p:spPr>
          <a:xfrm>
            <a:off x="11637264" y="5349240"/>
            <a:ext cx="2468880" cy="274320"/>
          </a:xfrm>
          <a:prstGeom prst="rect">
            <a:avLst/>
          </a:prstGeom>
          <a:noFill/>
        </p:spPr>
        <p:txBody>
          <a:bodyPr wrap="none" lIns="0" rIns="0" tIns="0" bIns="0">
            <a:spAutoFit/>
          </a:bodyPr>
          <a:lstStyle/>
          <a:p>
            <a:pPr algn="l">
              <a:lnSpc>
                <a:spcPts val="2016"/>
              </a:lnSpc>
              <a:spcBef>
                <a:spcPts val="0"/>
              </a:spcBef>
              <a:spcAft>
                <a:spcPts val="0"/>
              </a:spcAft>
              <a:defRPr sz="1800" b="0">
                <a:solidFill>
                  <a:srgbClr val="182B3A"/>
                </a:solidFill>
                <a:latin typeface="Arial"/>
              </a:defRPr>
            </a:pPr>
            <a:r>
              <a:t>447 drinks left</a:t>
            </a:r>
          </a:p>
        </p:txBody>
      </p:sp>
      <p:sp>
        <p:nvSpPr>
          <p:cNvPr id="109" name="Rectangle 108"/>
          <p:cNvSpPr/>
          <p:nvPr/>
        </p:nvSpPr>
        <p:spPr>
          <a:xfrm>
            <a:off x="9625584" y="5724144"/>
            <a:ext cx="4588764" cy="1929384"/>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10" name="TextBox 109"/>
          <p:cNvSpPr txBox="1"/>
          <p:nvPr/>
        </p:nvSpPr>
        <p:spPr>
          <a:xfrm>
            <a:off x="9717024" y="5760720"/>
            <a:ext cx="4392168" cy="841248"/>
          </a:xfrm>
          <a:prstGeom prst="rect">
            <a:avLst/>
          </a:prstGeom>
          <a:noFill/>
        </p:spPr>
        <p:txBody>
          <a:bodyPr wrap="square" tIns="36576" bIns="36576" anchor="t">
            <a:spAutoFit/>
          </a:bodyPr>
          <a:lstStyle/>
          <a:p>
            <a:pPr>
              <a:lnSpc>
                <a:spcPts val="1944"/>
              </a:lnSpc>
              <a:spcBef>
                <a:spcPts val="0"/>
              </a:spcBef>
              <a:spcAft>
                <a:spcPts val="0"/>
              </a:spcAft>
              <a:defRPr sz="1800" b="1">
                <a:solidFill>
                  <a:srgbClr val="182B3A"/>
                </a:solidFill>
                <a:latin typeface="Arial"/>
              </a:defRPr>
            </a:pPr>
            <a:r>
              <a:t>3.  Four organisers split the cost of 18 prizes equally. Each prize costs £12. How much does each pay?</a:t>
            </a:r>
          </a:p>
        </p:txBody>
      </p:sp>
      <p:cxnSp>
        <p:nvCxnSpPr>
          <p:cNvPr id="111" name="Connector 110"/>
          <p:cNvCxnSpPr/>
          <p:nvPr/>
        </p:nvCxnSpPr>
        <p:spPr>
          <a:xfrm>
            <a:off x="10055626" y="6866046"/>
            <a:ext cx="766541" cy="0"/>
          </a:xfrm>
          <a:prstGeom prst="line">
            <a:avLst/>
          </a:prstGeom>
          <a:ln w="16510">
            <a:solidFill>
              <a:srgbClr val="182B3A"/>
            </a:solidFill>
          </a:ln>
        </p:spPr>
        <p:style>
          <a:lnRef idx="2">
            <a:schemeClr val="accent1"/>
          </a:lnRef>
          <a:fillRef idx="0">
            <a:schemeClr val="accent1"/>
          </a:fillRef>
          <a:effectRef idx="1">
            <a:schemeClr val="accent1"/>
          </a:effectRef>
          <a:fontRef idx="minor">
            <a:schemeClr val="tx1"/>
          </a:fontRef>
        </p:style>
      </p:cxnSp>
      <p:cxnSp>
        <p:nvCxnSpPr>
          <p:cNvPr id="112" name="Connector 111"/>
          <p:cNvCxnSpPr/>
          <p:nvPr/>
        </p:nvCxnSpPr>
        <p:spPr>
          <a:xfrm>
            <a:off x="10055626" y="6866046"/>
            <a:ext cx="0" cy="295992"/>
          </a:xfrm>
          <a:prstGeom prst="line">
            <a:avLst/>
          </a:prstGeom>
          <a:ln w="16510">
            <a:solidFill>
              <a:srgbClr val="182B3A"/>
            </a:solidFill>
          </a:ln>
        </p:spPr>
        <p:style>
          <a:lnRef idx="2">
            <a:schemeClr val="accent1"/>
          </a:lnRef>
          <a:fillRef idx="0">
            <a:schemeClr val="accent1"/>
          </a:fillRef>
          <a:effectRef idx="1">
            <a:schemeClr val="accent1"/>
          </a:effectRef>
          <a:fontRef idx="minor">
            <a:schemeClr val="tx1"/>
          </a:fontRef>
        </p:style>
      </p:cxnSp>
      <p:sp>
        <p:nvSpPr>
          <p:cNvPr id="113" name="TextBox 112"/>
          <p:cNvSpPr txBox="1"/>
          <p:nvPr/>
        </p:nvSpPr>
        <p:spPr>
          <a:xfrm>
            <a:off x="9744456" y="6885020"/>
            <a:ext cx="273222" cy="265633"/>
          </a:xfrm>
          <a:prstGeom prst="rect">
            <a:avLst/>
          </a:prstGeom>
          <a:noFill/>
        </p:spPr>
        <p:txBody>
          <a:bodyPr wrap="none" lIns="0" rIns="0" tIns="0" bIns="0">
            <a:spAutoFit/>
          </a:bodyPr>
          <a:lstStyle/>
          <a:p>
            <a:pPr algn="r">
              <a:lnSpc>
                <a:spcPts val="2045"/>
              </a:lnSpc>
              <a:spcBef>
                <a:spcPts val="0"/>
              </a:spcBef>
              <a:spcAft>
                <a:spcPts val="0"/>
              </a:spcAft>
              <a:defRPr sz="1825" b="0">
                <a:solidFill>
                  <a:srgbClr val="182B3A"/>
                </a:solidFill>
                <a:latin typeface="Arial"/>
              </a:defRPr>
            </a:pPr>
            <a:r>
              <a:t>4</a:t>
            </a:r>
          </a:p>
        </p:txBody>
      </p:sp>
      <p:sp>
        <p:nvSpPr>
          <p:cNvPr id="114" name="TextBox 113"/>
          <p:cNvSpPr txBox="1"/>
          <p:nvPr/>
        </p:nvSpPr>
        <p:spPr>
          <a:xfrm>
            <a:off x="10101163" y="6892610"/>
            <a:ext cx="349117" cy="273222"/>
          </a:xfrm>
          <a:prstGeom prst="rect">
            <a:avLst/>
          </a:prstGeom>
          <a:noFill/>
        </p:spPr>
        <p:txBody>
          <a:bodyPr wrap="none" lIns="0" rIns="0" tIns="0" bIns="0">
            <a:spAutoFit/>
          </a:bodyPr>
          <a:lstStyle/>
          <a:p>
            <a:pPr algn="ctr">
              <a:lnSpc>
                <a:spcPts val="2231"/>
              </a:lnSpc>
              <a:spcBef>
                <a:spcPts val="0"/>
              </a:spcBef>
              <a:spcAft>
                <a:spcPts val="0"/>
              </a:spcAft>
              <a:defRPr sz="1991" b="0">
                <a:solidFill>
                  <a:srgbClr val="182B3A"/>
                </a:solidFill>
                <a:latin typeface="Arial"/>
              </a:defRPr>
            </a:pPr>
            <a:r>
              <a:t>1</a:t>
            </a:r>
          </a:p>
        </p:txBody>
      </p:sp>
      <p:sp>
        <p:nvSpPr>
          <p:cNvPr id="115" name="TextBox 114"/>
          <p:cNvSpPr txBox="1"/>
          <p:nvPr/>
        </p:nvSpPr>
        <p:spPr>
          <a:xfrm>
            <a:off x="10450281" y="6892610"/>
            <a:ext cx="349117" cy="273222"/>
          </a:xfrm>
          <a:prstGeom prst="rect">
            <a:avLst/>
          </a:prstGeom>
          <a:noFill/>
        </p:spPr>
        <p:txBody>
          <a:bodyPr wrap="none" lIns="0" rIns="0" tIns="0" bIns="0">
            <a:spAutoFit/>
          </a:bodyPr>
          <a:lstStyle/>
          <a:p>
            <a:pPr algn="ctr">
              <a:lnSpc>
                <a:spcPts val="2231"/>
              </a:lnSpc>
              <a:spcBef>
                <a:spcPts val="0"/>
              </a:spcBef>
              <a:spcAft>
                <a:spcPts val="0"/>
              </a:spcAft>
              <a:defRPr sz="1991" b="0">
                <a:solidFill>
                  <a:srgbClr val="182B3A"/>
                </a:solidFill>
                <a:latin typeface="Arial"/>
              </a:defRPr>
            </a:pPr>
            <a:r>
              <a:t>8</a:t>
            </a:r>
          </a:p>
        </p:txBody>
      </p:sp>
      <p:sp>
        <p:nvSpPr>
          <p:cNvPr id="116" name="TextBox 115"/>
          <p:cNvSpPr txBox="1"/>
          <p:nvPr/>
        </p:nvSpPr>
        <p:spPr>
          <a:xfrm>
            <a:off x="10450281" y="6592824"/>
            <a:ext cx="349117" cy="258043"/>
          </a:xfrm>
          <a:prstGeom prst="rect">
            <a:avLst/>
          </a:prstGeom>
          <a:noFill/>
        </p:spPr>
        <p:txBody>
          <a:bodyPr wrap="none" lIns="0" rIns="0" tIns="0" bIns="0">
            <a:spAutoFit/>
          </a:bodyPr>
          <a:lstStyle/>
          <a:p>
            <a:pPr algn="ctr">
              <a:lnSpc>
                <a:spcPts val="2231"/>
              </a:lnSpc>
              <a:spcBef>
                <a:spcPts val="0"/>
              </a:spcBef>
              <a:spcAft>
                <a:spcPts val="0"/>
              </a:spcAft>
              <a:defRPr sz="1991" b="0">
                <a:solidFill>
                  <a:srgbClr val="182B3A"/>
                </a:solidFill>
                <a:latin typeface="Arial"/>
              </a:defRPr>
            </a:pPr>
            <a:r>
              <a:t>4</a:t>
            </a:r>
          </a:p>
        </p:txBody>
      </p:sp>
      <p:sp>
        <p:nvSpPr>
          <p:cNvPr id="117" name="TextBox 116"/>
          <p:cNvSpPr txBox="1"/>
          <p:nvPr/>
        </p:nvSpPr>
        <p:spPr>
          <a:xfrm>
            <a:off x="10404744" y="6869841"/>
            <a:ext cx="136611" cy="151790"/>
          </a:xfrm>
          <a:prstGeom prst="rect">
            <a:avLst/>
          </a:prstGeom>
          <a:noFill/>
        </p:spPr>
        <p:txBody>
          <a:bodyPr wrap="none" lIns="0" rIns="0" tIns="0" bIns="0">
            <a:spAutoFit/>
          </a:bodyPr>
          <a:lstStyle/>
          <a:p>
            <a:pPr algn="ctr">
              <a:lnSpc>
                <a:spcPts val="1115"/>
              </a:lnSpc>
              <a:spcBef>
                <a:spcPts val="0"/>
              </a:spcBef>
              <a:spcAft>
                <a:spcPts val="0"/>
              </a:spcAft>
              <a:defRPr sz="995" b="0">
                <a:solidFill>
                  <a:srgbClr val="182B3A"/>
                </a:solidFill>
                <a:latin typeface="Arial"/>
              </a:defRPr>
            </a:pPr>
            <a:r>
              <a:t>1</a:t>
            </a:r>
          </a:p>
        </p:txBody>
      </p:sp>
      <p:sp>
        <p:nvSpPr>
          <p:cNvPr id="118" name="TextBox 117"/>
          <p:cNvSpPr txBox="1"/>
          <p:nvPr/>
        </p:nvSpPr>
        <p:spPr>
          <a:xfrm>
            <a:off x="10875294" y="6615592"/>
            <a:ext cx="607161" cy="227685"/>
          </a:xfrm>
          <a:prstGeom prst="rect">
            <a:avLst/>
          </a:prstGeom>
          <a:noFill/>
        </p:spPr>
        <p:txBody>
          <a:bodyPr wrap="none" lIns="0" rIns="0" tIns="0" bIns="0">
            <a:spAutoFit/>
          </a:bodyPr>
          <a:lstStyle/>
          <a:p>
            <a:pPr algn="l">
              <a:lnSpc>
                <a:spcPts val="1673"/>
              </a:lnSpc>
              <a:spcBef>
                <a:spcPts val="0"/>
              </a:spcBef>
              <a:spcAft>
                <a:spcPts val="0"/>
              </a:spcAft>
              <a:defRPr sz="1494" b="0">
                <a:solidFill>
                  <a:srgbClr val="182B3A"/>
                </a:solidFill>
                <a:latin typeface="Arial"/>
              </a:defRPr>
            </a:pPr>
            <a:r>
              <a:t>r 2</a:t>
            </a:r>
          </a:p>
        </p:txBody>
      </p:sp>
      <p:sp>
        <p:nvSpPr>
          <p:cNvPr id="119" name="TextBox 118"/>
          <p:cNvSpPr txBox="1"/>
          <p:nvPr/>
        </p:nvSpPr>
        <p:spPr>
          <a:xfrm>
            <a:off x="12460224" y="6729983"/>
            <a:ext cx="914400" cy="256032"/>
          </a:xfrm>
          <a:prstGeom prst="rect">
            <a:avLst/>
          </a:prstGeom>
          <a:noFill/>
        </p:spPr>
        <p:txBody>
          <a:bodyPr wrap="none" lIns="0" rIns="0" tIns="0" bIns="0">
            <a:spAutoFit/>
          </a:bodyPr>
          <a:lstStyle/>
          <a:p>
            <a:pPr algn="r">
              <a:lnSpc>
                <a:spcPts val="2016"/>
              </a:lnSpc>
              <a:spcBef>
                <a:spcPts val="0"/>
              </a:spcBef>
              <a:spcAft>
                <a:spcPts val="0"/>
              </a:spcAft>
              <a:defRPr sz="1800" b="0">
                <a:solidFill>
                  <a:srgbClr val="182B3A"/>
                </a:solidFill>
                <a:latin typeface="Arial"/>
              </a:defRPr>
            </a:pPr>
            <a:r>
              <a:t>12</a:t>
            </a:r>
          </a:p>
        </p:txBody>
      </p:sp>
      <p:sp>
        <p:nvSpPr>
          <p:cNvPr id="120" name="TextBox 119"/>
          <p:cNvSpPr txBox="1"/>
          <p:nvPr/>
        </p:nvSpPr>
        <p:spPr>
          <a:xfrm>
            <a:off x="12460224" y="6958583"/>
            <a:ext cx="914400" cy="256032"/>
          </a:xfrm>
          <a:prstGeom prst="rect">
            <a:avLst/>
          </a:prstGeom>
          <a:noFill/>
        </p:spPr>
        <p:txBody>
          <a:bodyPr wrap="none" lIns="0" rIns="0" tIns="0" bIns="0">
            <a:spAutoFit/>
          </a:bodyPr>
          <a:lstStyle/>
          <a:p>
            <a:pPr algn="r">
              <a:lnSpc>
                <a:spcPts val="2016"/>
              </a:lnSpc>
              <a:spcBef>
                <a:spcPts val="0"/>
              </a:spcBef>
              <a:spcAft>
                <a:spcPts val="0"/>
              </a:spcAft>
              <a:defRPr sz="1800" b="0">
                <a:solidFill>
                  <a:srgbClr val="182B3A"/>
                </a:solidFill>
                <a:latin typeface="Arial"/>
              </a:defRPr>
            </a:pPr>
            <a:r>
              <a:t>× 4</a:t>
            </a:r>
          </a:p>
        </p:txBody>
      </p:sp>
      <p:cxnSp>
        <p:nvCxnSpPr>
          <p:cNvPr id="121" name="Connector 120"/>
          <p:cNvCxnSpPr/>
          <p:nvPr/>
        </p:nvCxnSpPr>
        <p:spPr>
          <a:xfrm>
            <a:off x="12460224" y="7182612"/>
            <a:ext cx="914400" cy="0"/>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sp>
        <p:nvSpPr>
          <p:cNvPr id="122" name="TextBox 121"/>
          <p:cNvSpPr txBox="1"/>
          <p:nvPr/>
        </p:nvSpPr>
        <p:spPr>
          <a:xfrm>
            <a:off x="12460224" y="7187183"/>
            <a:ext cx="914400" cy="256032"/>
          </a:xfrm>
          <a:prstGeom prst="rect">
            <a:avLst/>
          </a:prstGeom>
          <a:noFill/>
        </p:spPr>
        <p:txBody>
          <a:bodyPr wrap="none" lIns="0" rIns="0" tIns="0" bIns="0">
            <a:spAutoFit/>
          </a:bodyPr>
          <a:lstStyle/>
          <a:p>
            <a:pPr algn="r">
              <a:lnSpc>
                <a:spcPts val="2016"/>
              </a:lnSpc>
              <a:spcBef>
                <a:spcPts val="0"/>
              </a:spcBef>
              <a:spcAft>
                <a:spcPts val="0"/>
              </a:spcAft>
              <a:defRPr sz="1800" b="0">
                <a:solidFill>
                  <a:srgbClr val="182B3A"/>
                </a:solidFill>
                <a:latin typeface="Arial"/>
              </a:defRPr>
            </a:pPr>
            <a:r>
              <a:t>48</a:t>
            </a:r>
          </a:p>
        </p:txBody>
      </p:sp>
      <p:cxnSp>
        <p:nvCxnSpPr>
          <p:cNvPr id="123" name="Connector 122"/>
          <p:cNvCxnSpPr/>
          <p:nvPr/>
        </p:nvCxnSpPr>
        <p:spPr>
          <a:xfrm>
            <a:off x="12460224" y="7411212"/>
            <a:ext cx="914400" cy="0"/>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sp>
        <p:nvSpPr>
          <p:cNvPr id="124" name="TextBox 123"/>
          <p:cNvSpPr txBox="1"/>
          <p:nvPr/>
        </p:nvSpPr>
        <p:spPr>
          <a:xfrm>
            <a:off x="9835896" y="7351775"/>
            <a:ext cx="2468880" cy="274320"/>
          </a:xfrm>
          <a:prstGeom prst="rect">
            <a:avLst/>
          </a:prstGeom>
          <a:noFill/>
        </p:spPr>
        <p:txBody>
          <a:bodyPr wrap="none" lIns="0" rIns="0" tIns="0" bIns="0">
            <a:spAutoFit/>
          </a:bodyPr>
          <a:lstStyle/>
          <a:p>
            <a:pPr algn="l">
              <a:lnSpc>
                <a:spcPts val="2016"/>
              </a:lnSpc>
              <a:spcBef>
                <a:spcPts val="0"/>
              </a:spcBef>
              <a:spcAft>
                <a:spcPts val="0"/>
              </a:spcAft>
              <a:defRPr sz="1800" b="0">
                <a:solidFill>
                  <a:srgbClr val="182B3A"/>
                </a:solidFill>
                <a:latin typeface="Arial"/>
              </a:defRPr>
            </a:pPr>
            <a:r>
              <a:t>£48 each</a:t>
            </a:r>
          </a:p>
        </p:txBody>
      </p:sp>
    </p:spTree>
  </p:cSld>
  <p:clrMapOvr>
    <a:masterClrMapping/>
  </p:clrMapOvr>
</p:sld>
</file>

<file path=ppt/slides/slide55.xml><?xml version="1.0" encoding="utf-8"?>
<p:sld xmlns:a="http://schemas.openxmlformats.org/drawingml/2006/main" xmlns:p="http://schemas.openxmlformats.org/presentationml/2006/main" xmlns:r="http://schemas.openxmlformats.org/officeDocument/2006/relationships">
  <p:cSld>
    <p:bg>
      <p:bgPr>
        <a:solidFill>
          <a:srgbClr val="F7F8FA"/>
        </a:solidFill>
        <a:effectLst/>
      </p:bgPr>
    </p:bg>
    <p:spTree>
      <p:nvGrpSpPr>
        <p:cNvPr id="1" name=""/>
        <p:cNvGrpSpPr/>
        <p:nvPr/>
      </p:nvGrpSpPr>
      <p:grpSpPr/>
      <p:sp>
        <p:nvSpPr>
          <p:cNvPr id="2" name="Rectangle 1"/>
          <p:cNvSpPr/>
          <p:nvPr/>
        </p:nvSpPr>
        <p:spPr>
          <a:xfrm>
            <a:off x="0" y="0"/>
            <a:ext cx="14630400" cy="91440"/>
          </a:xfrm>
          <a:prstGeom prst="rect">
            <a:avLst/>
          </a:prstGeom>
          <a:solidFill>
            <a:srgbClr val="754B87"/>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3" name="TextBox 2"/>
          <p:cNvSpPr txBox="1"/>
          <p:nvPr/>
        </p:nvSpPr>
        <p:spPr>
          <a:xfrm>
            <a:off x="384048" y="219456"/>
            <a:ext cx="12435840" cy="448056"/>
          </a:xfrm>
          <a:prstGeom prst="rect">
            <a:avLst/>
          </a:prstGeom>
          <a:noFill/>
        </p:spPr>
        <p:txBody>
          <a:bodyPr wrap="square" tIns="36576" bIns="36576" anchor="t">
            <a:spAutoFit/>
          </a:bodyPr>
          <a:lstStyle/>
          <a:p>
            <a:pPr>
              <a:lnSpc>
                <a:spcPts val="3132"/>
              </a:lnSpc>
              <a:spcBef>
                <a:spcPts val="0"/>
              </a:spcBef>
              <a:spcAft>
                <a:spcPts val="0"/>
              </a:spcAft>
              <a:defRPr sz="2900" b="1">
                <a:solidFill>
                  <a:srgbClr val="182B3A"/>
                </a:solidFill>
                <a:latin typeface="Arial"/>
              </a:defRPr>
            </a:pPr>
            <a:r>
              <a:t>Application to Exam Problems</a:t>
            </a:r>
          </a:p>
        </p:txBody>
      </p:sp>
      <p:sp>
        <p:nvSpPr>
          <p:cNvPr id="4" name="TextBox 3"/>
          <p:cNvSpPr txBox="1"/>
          <p:nvPr/>
        </p:nvSpPr>
        <p:spPr>
          <a:xfrm>
            <a:off x="384048" y="713232"/>
            <a:ext cx="13533120" cy="274320"/>
          </a:xfrm>
          <a:prstGeom prst="rect">
            <a:avLst/>
          </a:prstGeom>
          <a:noFill/>
        </p:spPr>
        <p:txBody>
          <a:bodyPr wrap="square" tIns="36576" bIns="36576" anchor="t">
            <a:spAutoFit/>
          </a:bodyPr>
          <a:lstStyle/>
          <a:p>
            <a:pPr>
              <a:lnSpc>
                <a:spcPts val="1512"/>
              </a:lnSpc>
              <a:spcBef>
                <a:spcPts val="0"/>
              </a:spcBef>
              <a:spcAft>
                <a:spcPts val="0"/>
              </a:spcAft>
              <a:defRPr sz="1400" b="0">
                <a:solidFill>
                  <a:srgbClr val="526472"/>
                </a:solidFill>
                <a:latin typeface="Arial"/>
              </a:defRPr>
            </a:pPr>
            <a:r>
              <a:t>Independent practice 1  •  Choose a column. Show your working and check your answers.</a:t>
            </a:r>
          </a:p>
        </p:txBody>
      </p:sp>
      <p:sp>
        <p:nvSpPr>
          <p:cNvPr id="5" name="TextBox 4"/>
          <p:cNvSpPr txBox="1"/>
          <p:nvPr/>
        </p:nvSpPr>
        <p:spPr>
          <a:xfrm>
            <a:off x="384048" y="7882127"/>
            <a:ext cx="10058400" cy="210312"/>
          </a:xfrm>
          <a:prstGeom prst="rect">
            <a:avLst/>
          </a:prstGeom>
          <a:noFill/>
        </p:spPr>
        <p:txBody>
          <a:bodyPr wrap="square" tIns="36576" bIns="36576" anchor="t">
            <a:spAutoFit/>
          </a:bodyPr>
          <a:lstStyle/>
          <a:p>
            <a:pPr>
              <a:lnSpc>
                <a:spcPts val="1188"/>
              </a:lnSpc>
              <a:spcBef>
                <a:spcPts val="0"/>
              </a:spcBef>
              <a:spcAft>
                <a:spcPts val="0"/>
              </a:spcAft>
              <a:defRPr sz="1100" b="0">
                <a:solidFill>
                  <a:srgbClr val="526472"/>
                </a:solidFill>
                <a:latin typeface="Arial"/>
              </a:defRPr>
            </a:pPr>
            <a:r>
              <a:t>GCSE Maths revision  •  Record your working in your booklet or webapp.</a:t>
            </a:r>
          </a:p>
        </p:txBody>
      </p:sp>
      <p:sp>
        <p:nvSpPr>
          <p:cNvPr id="6" name="TextBox 5"/>
          <p:cNvSpPr txBox="1"/>
          <p:nvPr/>
        </p:nvSpPr>
        <p:spPr>
          <a:xfrm>
            <a:off x="11430000" y="7863840"/>
            <a:ext cx="2788920" cy="228600"/>
          </a:xfrm>
          <a:prstGeom prst="rect">
            <a:avLst/>
          </a:prstGeom>
          <a:noFill/>
        </p:spPr>
        <p:txBody>
          <a:bodyPr wrap="square" tIns="36576" bIns="36576" anchor="t">
            <a:spAutoFit/>
          </a:bodyPr>
          <a:lstStyle/>
          <a:p>
            <a:pPr>
              <a:lnSpc>
                <a:spcPts val="1188"/>
              </a:lnSpc>
              <a:spcBef>
                <a:spcPts val="0"/>
              </a:spcBef>
              <a:spcAft>
                <a:spcPts val="0"/>
              </a:spcAft>
              <a:defRPr sz="1100" b="0">
                <a:solidFill>
                  <a:srgbClr val="526472"/>
                </a:solidFill>
                <a:latin typeface="Arial"/>
              </a:defRPr>
            </a:pPr>
            <a:r>
              <a:t>M03-S04  •  Topic slide 6</a:t>
            </a:r>
          </a:p>
        </p:txBody>
      </p:sp>
      <p:sp>
        <p:nvSpPr>
          <p:cNvPr id="7" name="Rectangle 6"/>
          <p:cNvSpPr/>
          <p:nvPr/>
        </p:nvSpPr>
        <p:spPr>
          <a:xfrm>
            <a:off x="384048" y="1124712"/>
            <a:ext cx="4620768" cy="438912"/>
          </a:xfrm>
          <a:prstGeom prst="rect">
            <a:avLst/>
          </a:prstGeom>
          <a:solidFill>
            <a:srgbClr val="176B73"/>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8" name="TextBox 7"/>
          <p:cNvSpPr txBox="1"/>
          <p:nvPr/>
        </p:nvSpPr>
        <p:spPr>
          <a:xfrm>
            <a:off x="438912" y="1152144"/>
            <a:ext cx="4511040" cy="338328"/>
          </a:xfrm>
          <a:prstGeom prst="rect">
            <a:avLst/>
          </a:prstGeom>
          <a:noFill/>
        </p:spPr>
        <p:txBody>
          <a:bodyPr wrap="square" tIns="36576" bIns="36576" anchor="t">
            <a:spAutoFit/>
          </a:bodyPr>
          <a:lstStyle/>
          <a:p>
            <a:pPr>
              <a:lnSpc>
                <a:spcPts val="2160"/>
              </a:lnSpc>
              <a:spcBef>
                <a:spcPts val="0"/>
              </a:spcBef>
              <a:spcAft>
                <a:spcPts val="0"/>
              </a:spcAft>
              <a:defRPr sz="2000" b="1">
                <a:solidFill>
                  <a:srgbClr val="FFFFFF"/>
                </a:solidFill>
                <a:latin typeface="Arial"/>
              </a:defRPr>
            </a:pPr>
            <a:r>
              <a:t>Start</a:t>
            </a:r>
          </a:p>
        </p:txBody>
      </p:sp>
      <p:sp>
        <p:nvSpPr>
          <p:cNvPr id="9" name="Rectangle 8"/>
          <p:cNvSpPr/>
          <p:nvPr/>
        </p:nvSpPr>
        <p:spPr>
          <a:xfrm>
            <a:off x="5004816" y="1124712"/>
            <a:ext cx="4620768" cy="438912"/>
          </a:xfrm>
          <a:prstGeom prst="rect">
            <a:avLst/>
          </a:prstGeom>
          <a:solidFill>
            <a:srgbClr val="3559A2"/>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0" name="TextBox 9"/>
          <p:cNvSpPr txBox="1"/>
          <p:nvPr/>
        </p:nvSpPr>
        <p:spPr>
          <a:xfrm>
            <a:off x="5059680" y="1152144"/>
            <a:ext cx="4511040" cy="338328"/>
          </a:xfrm>
          <a:prstGeom prst="rect">
            <a:avLst/>
          </a:prstGeom>
          <a:noFill/>
        </p:spPr>
        <p:txBody>
          <a:bodyPr wrap="square" tIns="36576" bIns="36576" anchor="t">
            <a:spAutoFit/>
          </a:bodyPr>
          <a:lstStyle/>
          <a:p>
            <a:pPr>
              <a:lnSpc>
                <a:spcPts val="2160"/>
              </a:lnSpc>
              <a:spcBef>
                <a:spcPts val="0"/>
              </a:spcBef>
              <a:spcAft>
                <a:spcPts val="0"/>
              </a:spcAft>
              <a:defRPr sz="2000" b="1">
                <a:solidFill>
                  <a:srgbClr val="FFFFFF"/>
                </a:solidFill>
                <a:latin typeface="Arial"/>
              </a:defRPr>
            </a:pPr>
            <a:r>
              <a:t>Build</a:t>
            </a:r>
          </a:p>
        </p:txBody>
      </p:sp>
      <p:sp>
        <p:nvSpPr>
          <p:cNvPr id="11" name="Rectangle 10"/>
          <p:cNvSpPr/>
          <p:nvPr/>
        </p:nvSpPr>
        <p:spPr>
          <a:xfrm>
            <a:off x="9625584" y="1124712"/>
            <a:ext cx="4620768" cy="438912"/>
          </a:xfrm>
          <a:prstGeom prst="rect">
            <a:avLst/>
          </a:prstGeom>
          <a:solidFill>
            <a:srgbClr val="754B87"/>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2" name="TextBox 11"/>
          <p:cNvSpPr txBox="1"/>
          <p:nvPr/>
        </p:nvSpPr>
        <p:spPr>
          <a:xfrm>
            <a:off x="9680448" y="1152144"/>
            <a:ext cx="4511040" cy="338328"/>
          </a:xfrm>
          <a:prstGeom prst="rect">
            <a:avLst/>
          </a:prstGeom>
          <a:noFill/>
        </p:spPr>
        <p:txBody>
          <a:bodyPr wrap="square" tIns="36576" bIns="36576" anchor="t">
            <a:spAutoFit/>
          </a:bodyPr>
          <a:lstStyle/>
          <a:p>
            <a:pPr>
              <a:lnSpc>
                <a:spcPts val="2160"/>
              </a:lnSpc>
              <a:spcBef>
                <a:spcPts val="0"/>
              </a:spcBef>
              <a:spcAft>
                <a:spcPts val="0"/>
              </a:spcAft>
              <a:defRPr sz="2000" b="1">
                <a:solidFill>
                  <a:srgbClr val="FFFFFF"/>
                </a:solidFill>
                <a:latin typeface="Arial"/>
              </a:defRPr>
            </a:pPr>
            <a:r>
              <a:t>Confidence</a:t>
            </a:r>
          </a:p>
        </p:txBody>
      </p:sp>
      <p:sp>
        <p:nvSpPr>
          <p:cNvPr id="13" name="Rectangle 12"/>
          <p:cNvSpPr/>
          <p:nvPr/>
        </p:nvSpPr>
        <p:spPr>
          <a:xfrm>
            <a:off x="384048" y="1609344"/>
            <a:ext cx="4620768" cy="98298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4" name="TextBox 13"/>
          <p:cNvSpPr txBox="1"/>
          <p:nvPr/>
        </p:nvSpPr>
        <p:spPr>
          <a:xfrm>
            <a:off x="457200" y="1719072"/>
            <a:ext cx="384048" cy="347472"/>
          </a:xfrm>
          <a:prstGeom prst="rect">
            <a:avLst/>
          </a:prstGeom>
          <a:noFill/>
        </p:spPr>
        <p:txBody>
          <a:bodyPr wrap="square" tIns="36576" bIns="36576" anchor="t">
            <a:spAutoFit/>
          </a:bodyPr>
          <a:lstStyle/>
          <a:p>
            <a:pPr>
              <a:lnSpc>
                <a:spcPts val="1836"/>
              </a:lnSpc>
              <a:spcBef>
                <a:spcPts val="0"/>
              </a:spcBef>
              <a:spcAft>
                <a:spcPts val="0"/>
              </a:spcAft>
              <a:defRPr sz="1700" b="1">
                <a:solidFill>
                  <a:srgbClr val="176B73"/>
                </a:solidFill>
                <a:latin typeface="Arial"/>
              </a:defRPr>
            </a:pPr>
            <a:r>
              <a:t>1.</a:t>
            </a:r>
          </a:p>
        </p:txBody>
      </p:sp>
      <p:sp>
        <p:nvSpPr>
          <p:cNvPr id="15" name="TextBox 14"/>
          <p:cNvSpPr txBox="1"/>
          <p:nvPr/>
        </p:nvSpPr>
        <p:spPr>
          <a:xfrm>
            <a:off x="868680" y="1691640"/>
            <a:ext cx="4026408" cy="822960"/>
          </a:xfrm>
          <a:prstGeom prst="rect">
            <a:avLst/>
          </a:prstGeom>
          <a:noFill/>
        </p:spPr>
        <p:txBody>
          <a:bodyPr wrap="square" tIns="36576" bIns="36576" anchor="t">
            <a:spAutoFit/>
          </a:bodyPr>
          <a:lstStyle/>
          <a:p>
            <a:pPr>
              <a:lnSpc>
                <a:spcPts val="1944"/>
              </a:lnSpc>
              <a:spcBef>
                <a:spcPts val="0"/>
              </a:spcBef>
              <a:spcAft>
                <a:spcPts val="0"/>
              </a:spcAft>
              <a:defRPr sz="1800" b="0">
                <a:solidFill>
                  <a:srgbClr val="182B3A"/>
                </a:solidFill>
                <a:latin typeface="Arial"/>
              </a:defRPr>
            </a:pPr>
            <a:r>
              <a:t>A library has 14 shelves with 32 books on each. How many books are there?</a:t>
            </a:r>
          </a:p>
        </p:txBody>
      </p:sp>
      <p:sp>
        <p:nvSpPr>
          <p:cNvPr id="16" name="Rectangle 15"/>
          <p:cNvSpPr/>
          <p:nvPr/>
        </p:nvSpPr>
        <p:spPr>
          <a:xfrm>
            <a:off x="384048" y="2610612"/>
            <a:ext cx="4620768" cy="982980"/>
          </a:xfrm>
          <a:prstGeom prst="rect">
            <a:avLst/>
          </a:prstGeom>
          <a:solidFill>
            <a:srgbClr val="EDF6F5"/>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7" name="TextBox 16"/>
          <p:cNvSpPr txBox="1"/>
          <p:nvPr/>
        </p:nvSpPr>
        <p:spPr>
          <a:xfrm>
            <a:off x="457200" y="2720340"/>
            <a:ext cx="384048" cy="347472"/>
          </a:xfrm>
          <a:prstGeom prst="rect">
            <a:avLst/>
          </a:prstGeom>
          <a:noFill/>
        </p:spPr>
        <p:txBody>
          <a:bodyPr wrap="square" tIns="36576" bIns="36576" anchor="t">
            <a:spAutoFit/>
          </a:bodyPr>
          <a:lstStyle/>
          <a:p>
            <a:pPr>
              <a:lnSpc>
                <a:spcPts val="1836"/>
              </a:lnSpc>
              <a:spcBef>
                <a:spcPts val="0"/>
              </a:spcBef>
              <a:spcAft>
                <a:spcPts val="0"/>
              </a:spcAft>
              <a:defRPr sz="1700" b="1">
                <a:solidFill>
                  <a:srgbClr val="176B73"/>
                </a:solidFill>
                <a:latin typeface="Arial"/>
              </a:defRPr>
            </a:pPr>
            <a:r>
              <a:t>2.</a:t>
            </a:r>
          </a:p>
        </p:txBody>
      </p:sp>
      <p:sp>
        <p:nvSpPr>
          <p:cNvPr id="18" name="TextBox 17"/>
          <p:cNvSpPr txBox="1"/>
          <p:nvPr/>
        </p:nvSpPr>
        <p:spPr>
          <a:xfrm>
            <a:off x="868680" y="2692908"/>
            <a:ext cx="4026408" cy="822960"/>
          </a:xfrm>
          <a:prstGeom prst="rect">
            <a:avLst/>
          </a:prstGeom>
          <a:noFill/>
        </p:spPr>
        <p:txBody>
          <a:bodyPr wrap="square" tIns="36576" bIns="36576" anchor="t">
            <a:spAutoFit/>
          </a:bodyPr>
          <a:lstStyle/>
          <a:p>
            <a:pPr>
              <a:lnSpc>
                <a:spcPts val="1944"/>
              </a:lnSpc>
              <a:spcBef>
                <a:spcPts val="0"/>
              </a:spcBef>
              <a:spcAft>
                <a:spcPts val="0"/>
              </a:spcAft>
              <a:defRPr sz="1800" b="0">
                <a:solidFill>
                  <a:srgbClr val="182B3A"/>
                </a:solidFill>
                <a:latin typeface="Arial"/>
              </a:defRPr>
            </a:pPr>
            <a:r>
              <a:t>105 students form 7 equal groups. How many students are in each group?</a:t>
            </a:r>
          </a:p>
        </p:txBody>
      </p:sp>
      <p:sp>
        <p:nvSpPr>
          <p:cNvPr id="19" name="Rectangle 18"/>
          <p:cNvSpPr/>
          <p:nvPr/>
        </p:nvSpPr>
        <p:spPr>
          <a:xfrm>
            <a:off x="384048" y="3611880"/>
            <a:ext cx="4620768" cy="98298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20" name="TextBox 19"/>
          <p:cNvSpPr txBox="1"/>
          <p:nvPr/>
        </p:nvSpPr>
        <p:spPr>
          <a:xfrm>
            <a:off x="457200" y="3721608"/>
            <a:ext cx="384048" cy="347472"/>
          </a:xfrm>
          <a:prstGeom prst="rect">
            <a:avLst/>
          </a:prstGeom>
          <a:noFill/>
        </p:spPr>
        <p:txBody>
          <a:bodyPr wrap="square" tIns="36576" bIns="36576" anchor="t">
            <a:spAutoFit/>
          </a:bodyPr>
          <a:lstStyle/>
          <a:p>
            <a:pPr>
              <a:lnSpc>
                <a:spcPts val="1836"/>
              </a:lnSpc>
              <a:spcBef>
                <a:spcPts val="0"/>
              </a:spcBef>
              <a:spcAft>
                <a:spcPts val="0"/>
              </a:spcAft>
              <a:defRPr sz="1700" b="1">
                <a:solidFill>
                  <a:srgbClr val="176B73"/>
                </a:solidFill>
                <a:latin typeface="Arial"/>
              </a:defRPr>
            </a:pPr>
            <a:r>
              <a:t>3.</a:t>
            </a:r>
          </a:p>
        </p:txBody>
      </p:sp>
      <p:sp>
        <p:nvSpPr>
          <p:cNvPr id="21" name="TextBox 20"/>
          <p:cNvSpPr txBox="1"/>
          <p:nvPr/>
        </p:nvSpPr>
        <p:spPr>
          <a:xfrm>
            <a:off x="868680" y="3694176"/>
            <a:ext cx="4026408" cy="822960"/>
          </a:xfrm>
          <a:prstGeom prst="rect">
            <a:avLst/>
          </a:prstGeom>
          <a:noFill/>
        </p:spPr>
        <p:txBody>
          <a:bodyPr wrap="square" tIns="36576" bIns="36576" anchor="t">
            <a:spAutoFit/>
          </a:bodyPr>
          <a:lstStyle/>
          <a:p>
            <a:pPr>
              <a:lnSpc>
                <a:spcPts val="1944"/>
              </a:lnSpc>
              <a:spcBef>
                <a:spcPts val="0"/>
              </a:spcBef>
              <a:spcAft>
                <a:spcPts val="0"/>
              </a:spcAft>
              <a:defRPr sz="1800" b="0">
                <a:solidFill>
                  <a:srgbClr val="182B3A"/>
                </a:solidFill>
                <a:latin typeface="Arial"/>
              </a:defRPr>
            </a:pPr>
            <a:r>
              <a:t>A shop has 26 crates with 41 bottles in each. How many bottles are there?</a:t>
            </a:r>
          </a:p>
        </p:txBody>
      </p:sp>
      <p:sp>
        <p:nvSpPr>
          <p:cNvPr id="22" name="Rectangle 21"/>
          <p:cNvSpPr/>
          <p:nvPr/>
        </p:nvSpPr>
        <p:spPr>
          <a:xfrm>
            <a:off x="384048" y="4613148"/>
            <a:ext cx="4620768" cy="982980"/>
          </a:xfrm>
          <a:prstGeom prst="rect">
            <a:avLst/>
          </a:prstGeom>
          <a:solidFill>
            <a:srgbClr val="EDF6F5"/>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23" name="TextBox 22"/>
          <p:cNvSpPr txBox="1"/>
          <p:nvPr/>
        </p:nvSpPr>
        <p:spPr>
          <a:xfrm>
            <a:off x="457200" y="4722876"/>
            <a:ext cx="384048" cy="347472"/>
          </a:xfrm>
          <a:prstGeom prst="rect">
            <a:avLst/>
          </a:prstGeom>
          <a:noFill/>
        </p:spPr>
        <p:txBody>
          <a:bodyPr wrap="square" tIns="36576" bIns="36576" anchor="t">
            <a:spAutoFit/>
          </a:bodyPr>
          <a:lstStyle/>
          <a:p>
            <a:pPr>
              <a:lnSpc>
                <a:spcPts val="1836"/>
              </a:lnSpc>
              <a:spcBef>
                <a:spcPts val="0"/>
              </a:spcBef>
              <a:spcAft>
                <a:spcPts val="0"/>
              </a:spcAft>
              <a:defRPr sz="1700" b="1">
                <a:solidFill>
                  <a:srgbClr val="176B73"/>
                </a:solidFill>
                <a:latin typeface="Arial"/>
              </a:defRPr>
            </a:pPr>
            <a:r>
              <a:t>4.</a:t>
            </a:r>
          </a:p>
        </p:txBody>
      </p:sp>
      <p:sp>
        <p:nvSpPr>
          <p:cNvPr id="24" name="TextBox 23"/>
          <p:cNvSpPr txBox="1"/>
          <p:nvPr/>
        </p:nvSpPr>
        <p:spPr>
          <a:xfrm>
            <a:off x="868680" y="4695444"/>
            <a:ext cx="4026408" cy="822960"/>
          </a:xfrm>
          <a:prstGeom prst="rect">
            <a:avLst/>
          </a:prstGeom>
          <a:noFill/>
        </p:spPr>
        <p:txBody>
          <a:bodyPr wrap="square" tIns="36576" bIns="36576" anchor="t">
            <a:spAutoFit/>
          </a:bodyPr>
          <a:lstStyle/>
          <a:p>
            <a:pPr>
              <a:lnSpc>
                <a:spcPts val="1944"/>
              </a:lnSpc>
              <a:spcBef>
                <a:spcPts val="0"/>
              </a:spcBef>
              <a:spcAft>
                <a:spcPts val="0"/>
              </a:spcAft>
              <a:defRPr sz="1800" b="0">
                <a:solidFill>
                  <a:srgbClr val="182B3A"/>
                </a:solidFill>
                <a:latin typeface="Arial"/>
              </a:defRPr>
            </a:pPr>
            <a:r>
              <a:t>A 148 m rope is cut into 4 equal pieces. How long is each piece?</a:t>
            </a:r>
          </a:p>
        </p:txBody>
      </p:sp>
      <p:sp>
        <p:nvSpPr>
          <p:cNvPr id="25" name="Rectangle 24"/>
          <p:cNvSpPr/>
          <p:nvPr/>
        </p:nvSpPr>
        <p:spPr>
          <a:xfrm>
            <a:off x="384048" y="5614416"/>
            <a:ext cx="4620768" cy="98298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26" name="TextBox 25"/>
          <p:cNvSpPr txBox="1"/>
          <p:nvPr/>
        </p:nvSpPr>
        <p:spPr>
          <a:xfrm>
            <a:off x="457200" y="5724144"/>
            <a:ext cx="384048" cy="347472"/>
          </a:xfrm>
          <a:prstGeom prst="rect">
            <a:avLst/>
          </a:prstGeom>
          <a:noFill/>
        </p:spPr>
        <p:txBody>
          <a:bodyPr wrap="square" tIns="36576" bIns="36576" anchor="t">
            <a:spAutoFit/>
          </a:bodyPr>
          <a:lstStyle/>
          <a:p>
            <a:pPr>
              <a:lnSpc>
                <a:spcPts val="1836"/>
              </a:lnSpc>
              <a:spcBef>
                <a:spcPts val="0"/>
              </a:spcBef>
              <a:spcAft>
                <a:spcPts val="0"/>
              </a:spcAft>
              <a:defRPr sz="1700" b="1">
                <a:solidFill>
                  <a:srgbClr val="176B73"/>
                </a:solidFill>
                <a:latin typeface="Arial"/>
              </a:defRPr>
            </a:pPr>
            <a:r>
              <a:t>5.</a:t>
            </a:r>
          </a:p>
        </p:txBody>
      </p:sp>
      <p:sp>
        <p:nvSpPr>
          <p:cNvPr id="27" name="TextBox 26"/>
          <p:cNvSpPr txBox="1"/>
          <p:nvPr/>
        </p:nvSpPr>
        <p:spPr>
          <a:xfrm>
            <a:off x="868680" y="5696712"/>
            <a:ext cx="4026408" cy="822960"/>
          </a:xfrm>
          <a:prstGeom prst="rect">
            <a:avLst/>
          </a:prstGeom>
          <a:noFill/>
        </p:spPr>
        <p:txBody>
          <a:bodyPr wrap="square" tIns="36576" bIns="36576" anchor="t">
            <a:spAutoFit/>
          </a:bodyPr>
          <a:lstStyle/>
          <a:p>
            <a:pPr>
              <a:lnSpc>
                <a:spcPts val="1944"/>
              </a:lnSpc>
              <a:spcBef>
                <a:spcPts val="0"/>
              </a:spcBef>
              <a:spcAft>
                <a:spcPts val="0"/>
              </a:spcAft>
              <a:defRPr sz="1800" b="0">
                <a:solidFill>
                  <a:srgbClr val="182B3A"/>
                </a:solidFill>
                <a:latin typeface="Arial"/>
              </a:defRPr>
            </a:pPr>
            <a:r>
              <a:t>A hall has 13 rows of 85 seats. How many seats are there?</a:t>
            </a:r>
          </a:p>
        </p:txBody>
      </p:sp>
      <p:sp>
        <p:nvSpPr>
          <p:cNvPr id="28" name="Rectangle 27"/>
          <p:cNvSpPr/>
          <p:nvPr/>
        </p:nvSpPr>
        <p:spPr>
          <a:xfrm>
            <a:off x="384048" y="6615683"/>
            <a:ext cx="4620768" cy="982980"/>
          </a:xfrm>
          <a:prstGeom prst="rect">
            <a:avLst/>
          </a:prstGeom>
          <a:solidFill>
            <a:srgbClr val="EDF6F5"/>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29" name="TextBox 28"/>
          <p:cNvSpPr txBox="1"/>
          <p:nvPr/>
        </p:nvSpPr>
        <p:spPr>
          <a:xfrm>
            <a:off x="457200" y="6725412"/>
            <a:ext cx="384048" cy="347472"/>
          </a:xfrm>
          <a:prstGeom prst="rect">
            <a:avLst/>
          </a:prstGeom>
          <a:noFill/>
        </p:spPr>
        <p:txBody>
          <a:bodyPr wrap="square" tIns="36576" bIns="36576" anchor="t">
            <a:spAutoFit/>
          </a:bodyPr>
          <a:lstStyle/>
          <a:p>
            <a:pPr>
              <a:lnSpc>
                <a:spcPts val="1836"/>
              </a:lnSpc>
              <a:spcBef>
                <a:spcPts val="0"/>
              </a:spcBef>
              <a:spcAft>
                <a:spcPts val="0"/>
              </a:spcAft>
              <a:defRPr sz="1700" b="1">
                <a:solidFill>
                  <a:srgbClr val="176B73"/>
                </a:solidFill>
                <a:latin typeface="Arial"/>
              </a:defRPr>
            </a:pPr>
            <a:r>
              <a:t>6.</a:t>
            </a:r>
          </a:p>
        </p:txBody>
      </p:sp>
      <p:sp>
        <p:nvSpPr>
          <p:cNvPr id="30" name="TextBox 29"/>
          <p:cNvSpPr txBox="1"/>
          <p:nvPr/>
        </p:nvSpPr>
        <p:spPr>
          <a:xfrm>
            <a:off x="868680" y="6697979"/>
            <a:ext cx="4026408" cy="822960"/>
          </a:xfrm>
          <a:prstGeom prst="rect">
            <a:avLst/>
          </a:prstGeom>
          <a:noFill/>
        </p:spPr>
        <p:txBody>
          <a:bodyPr wrap="square" tIns="36576" bIns="36576" anchor="t">
            <a:spAutoFit/>
          </a:bodyPr>
          <a:lstStyle/>
          <a:p>
            <a:pPr>
              <a:lnSpc>
                <a:spcPts val="1944"/>
              </a:lnSpc>
              <a:spcBef>
                <a:spcPts val="0"/>
              </a:spcBef>
              <a:spcAft>
                <a:spcPts val="0"/>
              </a:spcAft>
              <a:defRPr sz="1800" b="0">
                <a:solidFill>
                  <a:srgbClr val="182B3A"/>
                </a:solidFill>
                <a:latin typeface="Arial"/>
              </a:defRPr>
            </a:pPr>
            <a:r>
              <a:t>£175 is shared equally among 5 people. How much does each person receive?</a:t>
            </a:r>
          </a:p>
        </p:txBody>
      </p:sp>
      <p:sp>
        <p:nvSpPr>
          <p:cNvPr id="31" name="Rectangle 30"/>
          <p:cNvSpPr/>
          <p:nvPr/>
        </p:nvSpPr>
        <p:spPr>
          <a:xfrm>
            <a:off x="5004816" y="1609344"/>
            <a:ext cx="4620768" cy="98298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32" name="TextBox 31"/>
          <p:cNvSpPr txBox="1"/>
          <p:nvPr/>
        </p:nvSpPr>
        <p:spPr>
          <a:xfrm>
            <a:off x="5077968" y="1719072"/>
            <a:ext cx="384048" cy="347472"/>
          </a:xfrm>
          <a:prstGeom prst="rect">
            <a:avLst/>
          </a:prstGeom>
          <a:noFill/>
        </p:spPr>
        <p:txBody>
          <a:bodyPr wrap="square" tIns="36576" bIns="36576" anchor="t">
            <a:spAutoFit/>
          </a:bodyPr>
          <a:lstStyle/>
          <a:p>
            <a:pPr>
              <a:lnSpc>
                <a:spcPts val="1836"/>
              </a:lnSpc>
              <a:spcBef>
                <a:spcPts val="0"/>
              </a:spcBef>
              <a:spcAft>
                <a:spcPts val="0"/>
              </a:spcAft>
              <a:defRPr sz="1700" b="1">
                <a:solidFill>
                  <a:srgbClr val="3559A2"/>
                </a:solidFill>
                <a:latin typeface="Arial"/>
              </a:defRPr>
            </a:pPr>
            <a:r>
              <a:t>1.</a:t>
            </a:r>
          </a:p>
        </p:txBody>
      </p:sp>
      <p:sp>
        <p:nvSpPr>
          <p:cNvPr id="33" name="TextBox 32"/>
          <p:cNvSpPr txBox="1"/>
          <p:nvPr/>
        </p:nvSpPr>
        <p:spPr>
          <a:xfrm>
            <a:off x="5489448" y="1691640"/>
            <a:ext cx="4026408" cy="822960"/>
          </a:xfrm>
          <a:prstGeom prst="rect">
            <a:avLst/>
          </a:prstGeom>
          <a:noFill/>
        </p:spPr>
        <p:txBody>
          <a:bodyPr wrap="square" tIns="36576" bIns="36576" anchor="t">
            <a:spAutoFit/>
          </a:bodyPr>
          <a:lstStyle/>
          <a:p>
            <a:pPr>
              <a:lnSpc>
                <a:spcPts val="1944"/>
              </a:lnSpc>
              <a:spcBef>
                <a:spcPts val="0"/>
              </a:spcBef>
              <a:spcAft>
                <a:spcPts val="0"/>
              </a:spcAft>
              <a:defRPr sz="1800" b="0">
                <a:solidFill>
                  <a:srgbClr val="182B3A"/>
                </a:solidFill>
                <a:latin typeface="Arial"/>
              </a:defRPr>
            </a:pPr>
            <a:r>
              <a:t>130 eggs are packed in cartons of 6. How many full cartons can be packed?</a:t>
            </a:r>
          </a:p>
        </p:txBody>
      </p:sp>
      <p:sp>
        <p:nvSpPr>
          <p:cNvPr id="34" name="Rectangle 33"/>
          <p:cNvSpPr/>
          <p:nvPr/>
        </p:nvSpPr>
        <p:spPr>
          <a:xfrm>
            <a:off x="5004816" y="2610612"/>
            <a:ext cx="4620768" cy="982980"/>
          </a:xfrm>
          <a:prstGeom prst="rect">
            <a:avLst/>
          </a:prstGeom>
          <a:solidFill>
            <a:srgbClr val="EFF3FA"/>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35" name="TextBox 34"/>
          <p:cNvSpPr txBox="1"/>
          <p:nvPr/>
        </p:nvSpPr>
        <p:spPr>
          <a:xfrm>
            <a:off x="5077968" y="2720340"/>
            <a:ext cx="384048" cy="347472"/>
          </a:xfrm>
          <a:prstGeom prst="rect">
            <a:avLst/>
          </a:prstGeom>
          <a:noFill/>
        </p:spPr>
        <p:txBody>
          <a:bodyPr wrap="square" tIns="36576" bIns="36576" anchor="t">
            <a:spAutoFit/>
          </a:bodyPr>
          <a:lstStyle/>
          <a:p>
            <a:pPr>
              <a:lnSpc>
                <a:spcPts val="1836"/>
              </a:lnSpc>
              <a:spcBef>
                <a:spcPts val="0"/>
              </a:spcBef>
              <a:spcAft>
                <a:spcPts val="0"/>
              </a:spcAft>
              <a:defRPr sz="1700" b="1">
                <a:solidFill>
                  <a:srgbClr val="3559A2"/>
                </a:solidFill>
                <a:latin typeface="Arial"/>
              </a:defRPr>
            </a:pPr>
            <a:r>
              <a:t>2.</a:t>
            </a:r>
          </a:p>
        </p:txBody>
      </p:sp>
      <p:sp>
        <p:nvSpPr>
          <p:cNvPr id="36" name="TextBox 35"/>
          <p:cNvSpPr txBox="1"/>
          <p:nvPr/>
        </p:nvSpPr>
        <p:spPr>
          <a:xfrm>
            <a:off x="5489448" y="2692908"/>
            <a:ext cx="4026408" cy="822960"/>
          </a:xfrm>
          <a:prstGeom prst="rect">
            <a:avLst/>
          </a:prstGeom>
          <a:noFill/>
        </p:spPr>
        <p:txBody>
          <a:bodyPr wrap="square" tIns="36576" bIns="36576" anchor="t">
            <a:spAutoFit/>
          </a:bodyPr>
          <a:lstStyle/>
          <a:p>
            <a:pPr>
              <a:lnSpc>
                <a:spcPts val="1944"/>
              </a:lnSpc>
              <a:spcBef>
                <a:spcPts val="0"/>
              </a:spcBef>
              <a:spcAft>
                <a:spcPts val="0"/>
              </a:spcAft>
              <a:defRPr sz="1800" b="0">
                <a:solidFill>
                  <a:srgbClr val="182B3A"/>
                </a:solidFill>
                <a:latin typeface="Arial"/>
              </a:defRPr>
            </a:pPr>
            <a:r>
              <a:t>32 passengers need cars with 5 passenger seats each. How many cars are needed?</a:t>
            </a:r>
          </a:p>
        </p:txBody>
      </p:sp>
      <p:sp>
        <p:nvSpPr>
          <p:cNvPr id="37" name="Rectangle 36"/>
          <p:cNvSpPr/>
          <p:nvPr/>
        </p:nvSpPr>
        <p:spPr>
          <a:xfrm>
            <a:off x="5004816" y="3611880"/>
            <a:ext cx="4620768" cy="98298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38" name="TextBox 37"/>
          <p:cNvSpPr txBox="1"/>
          <p:nvPr/>
        </p:nvSpPr>
        <p:spPr>
          <a:xfrm>
            <a:off x="5077968" y="3721608"/>
            <a:ext cx="384048" cy="347472"/>
          </a:xfrm>
          <a:prstGeom prst="rect">
            <a:avLst/>
          </a:prstGeom>
          <a:noFill/>
        </p:spPr>
        <p:txBody>
          <a:bodyPr wrap="square" tIns="36576" bIns="36576" anchor="t">
            <a:spAutoFit/>
          </a:bodyPr>
          <a:lstStyle/>
          <a:p>
            <a:pPr>
              <a:lnSpc>
                <a:spcPts val="1836"/>
              </a:lnSpc>
              <a:spcBef>
                <a:spcPts val="0"/>
              </a:spcBef>
              <a:spcAft>
                <a:spcPts val="0"/>
              </a:spcAft>
              <a:defRPr sz="1700" b="1">
                <a:solidFill>
                  <a:srgbClr val="3559A2"/>
                </a:solidFill>
                <a:latin typeface="Arial"/>
              </a:defRPr>
            </a:pPr>
            <a:r>
              <a:t>3.</a:t>
            </a:r>
          </a:p>
        </p:txBody>
      </p:sp>
      <p:sp>
        <p:nvSpPr>
          <p:cNvPr id="39" name="TextBox 38"/>
          <p:cNvSpPr txBox="1"/>
          <p:nvPr/>
        </p:nvSpPr>
        <p:spPr>
          <a:xfrm>
            <a:off x="5489448" y="3694176"/>
            <a:ext cx="4026408" cy="822960"/>
          </a:xfrm>
          <a:prstGeom prst="rect">
            <a:avLst/>
          </a:prstGeom>
          <a:noFill/>
        </p:spPr>
        <p:txBody>
          <a:bodyPr wrap="square" tIns="36576" bIns="36576" anchor="t">
            <a:spAutoFit/>
          </a:bodyPr>
          <a:lstStyle/>
          <a:p>
            <a:pPr>
              <a:lnSpc>
                <a:spcPts val="1944"/>
              </a:lnSpc>
              <a:spcBef>
                <a:spcPts val="0"/>
              </a:spcBef>
              <a:spcAft>
                <a:spcPts val="0"/>
              </a:spcAft>
              <a:defRPr sz="1800" b="0">
                <a:solidFill>
                  <a:srgbClr val="182B3A"/>
                </a:solidFill>
                <a:latin typeface="Arial"/>
              </a:defRPr>
            </a:pPr>
            <a:r>
              <a:t>250 chocolates are packed in boxes of 12. How many chocolates are left over?</a:t>
            </a:r>
          </a:p>
        </p:txBody>
      </p:sp>
      <p:sp>
        <p:nvSpPr>
          <p:cNvPr id="40" name="Rectangle 39"/>
          <p:cNvSpPr/>
          <p:nvPr/>
        </p:nvSpPr>
        <p:spPr>
          <a:xfrm>
            <a:off x="5004816" y="4613148"/>
            <a:ext cx="4620768" cy="982980"/>
          </a:xfrm>
          <a:prstGeom prst="rect">
            <a:avLst/>
          </a:prstGeom>
          <a:solidFill>
            <a:srgbClr val="EFF3FA"/>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41" name="TextBox 40"/>
          <p:cNvSpPr txBox="1"/>
          <p:nvPr/>
        </p:nvSpPr>
        <p:spPr>
          <a:xfrm>
            <a:off x="5077968" y="4722876"/>
            <a:ext cx="384048" cy="347472"/>
          </a:xfrm>
          <a:prstGeom prst="rect">
            <a:avLst/>
          </a:prstGeom>
          <a:noFill/>
        </p:spPr>
        <p:txBody>
          <a:bodyPr wrap="square" tIns="36576" bIns="36576" anchor="t">
            <a:spAutoFit/>
          </a:bodyPr>
          <a:lstStyle/>
          <a:p>
            <a:pPr>
              <a:lnSpc>
                <a:spcPts val="1836"/>
              </a:lnSpc>
              <a:spcBef>
                <a:spcPts val="0"/>
              </a:spcBef>
              <a:spcAft>
                <a:spcPts val="0"/>
              </a:spcAft>
              <a:defRPr sz="1700" b="1">
                <a:solidFill>
                  <a:srgbClr val="3559A2"/>
                </a:solidFill>
                <a:latin typeface="Arial"/>
              </a:defRPr>
            </a:pPr>
            <a:r>
              <a:t>4.</a:t>
            </a:r>
          </a:p>
        </p:txBody>
      </p:sp>
      <p:sp>
        <p:nvSpPr>
          <p:cNvPr id="42" name="TextBox 41"/>
          <p:cNvSpPr txBox="1"/>
          <p:nvPr/>
        </p:nvSpPr>
        <p:spPr>
          <a:xfrm>
            <a:off x="5489448" y="4695444"/>
            <a:ext cx="4026408" cy="822960"/>
          </a:xfrm>
          <a:prstGeom prst="rect">
            <a:avLst/>
          </a:prstGeom>
          <a:noFill/>
        </p:spPr>
        <p:txBody>
          <a:bodyPr wrap="square" tIns="36576" bIns="36576" anchor="t">
            <a:spAutoFit/>
          </a:bodyPr>
          <a:lstStyle/>
          <a:p>
            <a:pPr>
              <a:lnSpc>
                <a:spcPts val="1944"/>
              </a:lnSpc>
              <a:spcBef>
                <a:spcPts val="0"/>
              </a:spcBef>
              <a:spcAft>
                <a:spcPts val="0"/>
              </a:spcAft>
              <a:defRPr sz="1800" b="0">
                <a:solidFill>
                  <a:srgbClr val="182B3A"/>
                </a:solidFill>
                <a:latin typeface="Arial"/>
              </a:defRPr>
            </a:pPr>
            <a:r>
              <a:t>A worker earns £17 per hour for 28 hours. What are their total wages?</a:t>
            </a:r>
          </a:p>
        </p:txBody>
      </p:sp>
      <p:sp>
        <p:nvSpPr>
          <p:cNvPr id="43" name="Rectangle 42"/>
          <p:cNvSpPr/>
          <p:nvPr/>
        </p:nvSpPr>
        <p:spPr>
          <a:xfrm>
            <a:off x="5004816" y="5614416"/>
            <a:ext cx="4620768" cy="98298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44" name="TextBox 43"/>
          <p:cNvSpPr txBox="1"/>
          <p:nvPr/>
        </p:nvSpPr>
        <p:spPr>
          <a:xfrm>
            <a:off x="5077968" y="5724144"/>
            <a:ext cx="384048" cy="347472"/>
          </a:xfrm>
          <a:prstGeom prst="rect">
            <a:avLst/>
          </a:prstGeom>
          <a:noFill/>
        </p:spPr>
        <p:txBody>
          <a:bodyPr wrap="square" tIns="36576" bIns="36576" anchor="t">
            <a:spAutoFit/>
          </a:bodyPr>
          <a:lstStyle/>
          <a:p>
            <a:pPr>
              <a:lnSpc>
                <a:spcPts val="1836"/>
              </a:lnSpc>
              <a:spcBef>
                <a:spcPts val="0"/>
              </a:spcBef>
              <a:spcAft>
                <a:spcPts val="0"/>
              </a:spcAft>
              <a:defRPr sz="1700" b="1">
                <a:solidFill>
                  <a:srgbClr val="3559A2"/>
                </a:solidFill>
                <a:latin typeface="Arial"/>
              </a:defRPr>
            </a:pPr>
            <a:r>
              <a:t>5.</a:t>
            </a:r>
          </a:p>
        </p:txBody>
      </p:sp>
      <p:sp>
        <p:nvSpPr>
          <p:cNvPr id="45" name="TextBox 44"/>
          <p:cNvSpPr txBox="1"/>
          <p:nvPr/>
        </p:nvSpPr>
        <p:spPr>
          <a:xfrm>
            <a:off x="5489448" y="5696712"/>
            <a:ext cx="4026408" cy="822960"/>
          </a:xfrm>
          <a:prstGeom prst="rect">
            <a:avLst/>
          </a:prstGeom>
          <a:noFill/>
        </p:spPr>
        <p:txBody>
          <a:bodyPr wrap="square" tIns="36576" bIns="36576" anchor="t">
            <a:spAutoFit/>
          </a:bodyPr>
          <a:lstStyle/>
          <a:p>
            <a:pPr>
              <a:lnSpc>
                <a:spcPts val="1944"/>
              </a:lnSpc>
              <a:spcBef>
                <a:spcPts val="0"/>
              </a:spcBef>
              <a:spcAft>
                <a:spcPts val="0"/>
              </a:spcAft>
              <a:defRPr sz="1800" b="0">
                <a:solidFill>
                  <a:srgbClr val="182B3A"/>
                </a:solidFill>
                <a:latin typeface="Arial"/>
              </a:defRPr>
            </a:pPr>
            <a:r>
              <a:t>142 rolls are sold in bags of 6. How many full bags can be made?</a:t>
            </a:r>
          </a:p>
        </p:txBody>
      </p:sp>
      <p:sp>
        <p:nvSpPr>
          <p:cNvPr id="46" name="Rectangle 45"/>
          <p:cNvSpPr/>
          <p:nvPr/>
        </p:nvSpPr>
        <p:spPr>
          <a:xfrm>
            <a:off x="5004816" y="6615683"/>
            <a:ext cx="4620768" cy="982980"/>
          </a:xfrm>
          <a:prstGeom prst="rect">
            <a:avLst/>
          </a:prstGeom>
          <a:solidFill>
            <a:srgbClr val="EFF3FA"/>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47" name="TextBox 46"/>
          <p:cNvSpPr txBox="1"/>
          <p:nvPr/>
        </p:nvSpPr>
        <p:spPr>
          <a:xfrm>
            <a:off x="5077968" y="6725412"/>
            <a:ext cx="384048" cy="347472"/>
          </a:xfrm>
          <a:prstGeom prst="rect">
            <a:avLst/>
          </a:prstGeom>
          <a:noFill/>
        </p:spPr>
        <p:txBody>
          <a:bodyPr wrap="square" tIns="36576" bIns="36576" anchor="t">
            <a:spAutoFit/>
          </a:bodyPr>
          <a:lstStyle/>
          <a:p>
            <a:pPr>
              <a:lnSpc>
                <a:spcPts val="1836"/>
              </a:lnSpc>
              <a:spcBef>
                <a:spcPts val="0"/>
              </a:spcBef>
              <a:spcAft>
                <a:spcPts val="0"/>
              </a:spcAft>
              <a:defRPr sz="1700" b="1">
                <a:solidFill>
                  <a:srgbClr val="3559A2"/>
                </a:solidFill>
                <a:latin typeface="Arial"/>
              </a:defRPr>
            </a:pPr>
            <a:r>
              <a:t>6.</a:t>
            </a:r>
          </a:p>
        </p:txBody>
      </p:sp>
      <p:sp>
        <p:nvSpPr>
          <p:cNvPr id="48" name="TextBox 47"/>
          <p:cNvSpPr txBox="1"/>
          <p:nvPr/>
        </p:nvSpPr>
        <p:spPr>
          <a:xfrm>
            <a:off x="5489448" y="6697979"/>
            <a:ext cx="4026408" cy="822960"/>
          </a:xfrm>
          <a:prstGeom prst="rect">
            <a:avLst/>
          </a:prstGeom>
          <a:noFill/>
        </p:spPr>
        <p:txBody>
          <a:bodyPr wrap="square" tIns="36576" bIns="36576" anchor="t">
            <a:spAutoFit/>
          </a:bodyPr>
          <a:lstStyle/>
          <a:p>
            <a:pPr>
              <a:lnSpc>
                <a:spcPts val="1944"/>
              </a:lnSpc>
              <a:spcBef>
                <a:spcPts val="0"/>
              </a:spcBef>
              <a:spcAft>
                <a:spcPts val="0"/>
              </a:spcAft>
              <a:defRPr sz="1800" b="0">
                <a:solidFill>
                  <a:srgbClr val="182B3A"/>
                </a:solidFill>
                <a:latin typeface="Arial"/>
              </a:defRPr>
            </a:pPr>
            <a:r>
              <a:t>A £132 bill is shared equally by 8 friends. How much does each pay?</a:t>
            </a:r>
          </a:p>
        </p:txBody>
      </p:sp>
      <p:sp>
        <p:nvSpPr>
          <p:cNvPr id="49" name="Rectangle 48"/>
          <p:cNvSpPr/>
          <p:nvPr/>
        </p:nvSpPr>
        <p:spPr>
          <a:xfrm>
            <a:off x="9625584" y="1609344"/>
            <a:ext cx="4620768" cy="98298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50" name="TextBox 49"/>
          <p:cNvSpPr txBox="1"/>
          <p:nvPr/>
        </p:nvSpPr>
        <p:spPr>
          <a:xfrm>
            <a:off x="9698736" y="1719072"/>
            <a:ext cx="384048" cy="347472"/>
          </a:xfrm>
          <a:prstGeom prst="rect">
            <a:avLst/>
          </a:prstGeom>
          <a:noFill/>
        </p:spPr>
        <p:txBody>
          <a:bodyPr wrap="square" tIns="36576" bIns="36576" anchor="t">
            <a:spAutoFit/>
          </a:bodyPr>
          <a:lstStyle/>
          <a:p>
            <a:pPr>
              <a:lnSpc>
                <a:spcPts val="1836"/>
              </a:lnSpc>
              <a:spcBef>
                <a:spcPts val="0"/>
              </a:spcBef>
              <a:spcAft>
                <a:spcPts val="0"/>
              </a:spcAft>
              <a:defRPr sz="1700" b="1">
                <a:solidFill>
                  <a:srgbClr val="754B87"/>
                </a:solidFill>
                <a:latin typeface="Arial"/>
              </a:defRPr>
            </a:pPr>
            <a:r>
              <a:t>1.</a:t>
            </a:r>
          </a:p>
        </p:txBody>
      </p:sp>
      <p:sp>
        <p:nvSpPr>
          <p:cNvPr id="51" name="TextBox 50"/>
          <p:cNvSpPr txBox="1"/>
          <p:nvPr/>
        </p:nvSpPr>
        <p:spPr>
          <a:xfrm>
            <a:off x="10110216" y="1691640"/>
            <a:ext cx="4026408" cy="822960"/>
          </a:xfrm>
          <a:prstGeom prst="rect">
            <a:avLst/>
          </a:prstGeom>
          <a:noFill/>
        </p:spPr>
        <p:txBody>
          <a:bodyPr wrap="square" tIns="36576" bIns="36576" anchor="t">
            <a:spAutoFit/>
          </a:bodyPr>
          <a:lstStyle/>
          <a:p>
            <a:pPr>
              <a:lnSpc>
                <a:spcPts val="1944"/>
              </a:lnSpc>
              <a:spcBef>
                <a:spcPts val="0"/>
              </a:spcBef>
              <a:spcAft>
                <a:spcPts val="0"/>
              </a:spcAft>
              <a:defRPr sz="1800" b="0">
                <a:solidFill>
                  <a:srgbClr val="182B3A"/>
                </a:solidFill>
                <a:latin typeface="Arial"/>
              </a:defRPr>
            </a:pPr>
            <a:r>
              <a:t>45 tickets cost £16 each. A group gets £50 off the total. How much does it pay?</a:t>
            </a:r>
          </a:p>
        </p:txBody>
      </p:sp>
      <p:sp>
        <p:nvSpPr>
          <p:cNvPr id="52" name="Rectangle 51"/>
          <p:cNvSpPr/>
          <p:nvPr/>
        </p:nvSpPr>
        <p:spPr>
          <a:xfrm>
            <a:off x="9625584" y="2610612"/>
            <a:ext cx="4620768" cy="982980"/>
          </a:xfrm>
          <a:prstGeom prst="rect">
            <a:avLst/>
          </a:prstGeom>
          <a:solidFill>
            <a:srgbClr val="F5F0F7"/>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53" name="TextBox 52"/>
          <p:cNvSpPr txBox="1"/>
          <p:nvPr/>
        </p:nvSpPr>
        <p:spPr>
          <a:xfrm>
            <a:off x="9698736" y="2720340"/>
            <a:ext cx="384048" cy="347472"/>
          </a:xfrm>
          <a:prstGeom prst="rect">
            <a:avLst/>
          </a:prstGeom>
          <a:noFill/>
        </p:spPr>
        <p:txBody>
          <a:bodyPr wrap="square" tIns="36576" bIns="36576" anchor="t">
            <a:spAutoFit/>
          </a:bodyPr>
          <a:lstStyle/>
          <a:p>
            <a:pPr>
              <a:lnSpc>
                <a:spcPts val="1836"/>
              </a:lnSpc>
              <a:spcBef>
                <a:spcPts val="0"/>
              </a:spcBef>
              <a:spcAft>
                <a:spcPts val="0"/>
              </a:spcAft>
              <a:defRPr sz="1700" b="1">
                <a:solidFill>
                  <a:srgbClr val="754B87"/>
                </a:solidFill>
                <a:latin typeface="Arial"/>
              </a:defRPr>
            </a:pPr>
            <a:r>
              <a:t>2.</a:t>
            </a:r>
          </a:p>
        </p:txBody>
      </p:sp>
      <p:sp>
        <p:nvSpPr>
          <p:cNvPr id="54" name="TextBox 53"/>
          <p:cNvSpPr txBox="1"/>
          <p:nvPr/>
        </p:nvSpPr>
        <p:spPr>
          <a:xfrm>
            <a:off x="10110216" y="2692908"/>
            <a:ext cx="4026408" cy="822960"/>
          </a:xfrm>
          <a:prstGeom prst="rect">
            <a:avLst/>
          </a:prstGeom>
          <a:noFill/>
        </p:spPr>
        <p:txBody>
          <a:bodyPr wrap="square" tIns="36576" bIns="36576" anchor="t">
            <a:spAutoFit/>
          </a:bodyPr>
          <a:lstStyle/>
          <a:p>
            <a:pPr>
              <a:lnSpc>
                <a:spcPts val="1944"/>
              </a:lnSpc>
              <a:spcBef>
                <a:spcPts val="0"/>
              </a:spcBef>
              <a:spcAft>
                <a:spcPts val="0"/>
              </a:spcAft>
              <a:defRPr sz="1800" b="0">
                <a:solidFill>
                  <a:srgbClr val="182B3A"/>
                </a:solidFill>
                <a:latin typeface="Arial"/>
              </a:defRPr>
            </a:pPr>
            <a:r>
              <a:t>115 passengers need vans with 8 passenger seats each. Hire costs £65 per van. Find the total cost.</a:t>
            </a:r>
          </a:p>
        </p:txBody>
      </p:sp>
      <p:sp>
        <p:nvSpPr>
          <p:cNvPr id="55" name="Rectangle 54"/>
          <p:cNvSpPr/>
          <p:nvPr/>
        </p:nvSpPr>
        <p:spPr>
          <a:xfrm>
            <a:off x="9625584" y="3611880"/>
            <a:ext cx="4620768" cy="98298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56" name="TextBox 55"/>
          <p:cNvSpPr txBox="1"/>
          <p:nvPr/>
        </p:nvSpPr>
        <p:spPr>
          <a:xfrm>
            <a:off x="9698736" y="3721608"/>
            <a:ext cx="384048" cy="347472"/>
          </a:xfrm>
          <a:prstGeom prst="rect">
            <a:avLst/>
          </a:prstGeom>
          <a:noFill/>
        </p:spPr>
        <p:txBody>
          <a:bodyPr wrap="square" tIns="36576" bIns="36576" anchor="t">
            <a:spAutoFit/>
          </a:bodyPr>
          <a:lstStyle/>
          <a:p>
            <a:pPr>
              <a:lnSpc>
                <a:spcPts val="1836"/>
              </a:lnSpc>
              <a:spcBef>
                <a:spcPts val="0"/>
              </a:spcBef>
              <a:spcAft>
                <a:spcPts val="0"/>
              </a:spcAft>
              <a:defRPr sz="1700" b="1">
                <a:solidFill>
                  <a:srgbClr val="754B87"/>
                </a:solidFill>
                <a:latin typeface="Arial"/>
              </a:defRPr>
            </a:pPr>
            <a:r>
              <a:t>3.</a:t>
            </a:r>
          </a:p>
        </p:txBody>
      </p:sp>
      <p:sp>
        <p:nvSpPr>
          <p:cNvPr id="57" name="TextBox 56"/>
          <p:cNvSpPr txBox="1"/>
          <p:nvPr/>
        </p:nvSpPr>
        <p:spPr>
          <a:xfrm>
            <a:off x="10110216" y="3694176"/>
            <a:ext cx="4026408" cy="822960"/>
          </a:xfrm>
          <a:prstGeom prst="rect">
            <a:avLst/>
          </a:prstGeom>
          <a:noFill/>
        </p:spPr>
        <p:txBody>
          <a:bodyPr wrap="square" tIns="36576" bIns="36576" anchor="t">
            <a:spAutoFit/>
          </a:bodyPr>
          <a:lstStyle/>
          <a:p>
            <a:pPr>
              <a:lnSpc>
                <a:spcPts val="1944"/>
              </a:lnSpc>
              <a:spcBef>
                <a:spcPts val="0"/>
              </a:spcBef>
              <a:spcAft>
                <a:spcPts val="0"/>
              </a:spcAft>
              <a:defRPr sz="1800" b="0">
                <a:solidFill>
                  <a:srgbClr val="182B3A"/>
                </a:solidFill>
                <a:latin typeface="Arial"/>
              </a:defRPr>
            </a:pPr>
            <a:r>
              <a:t>A gym costs £22 per month plus a £30 joining fee. Find the cost for 14 months.</a:t>
            </a:r>
          </a:p>
        </p:txBody>
      </p:sp>
      <p:sp>
        <p:nvSpPr>
          <p:cNvPr id="58" name="Rectangle 57"/>
          <p:cNvSpPr/>
          <p:nvPr/>
        </p:nvSpPr>
        <p:spPr>
          <a:xfrm>
            <a:off x="9625584" y="4613148"/>
            <a:ext cx="4620768" cy="982980"/>
          </a:xfrm>
          <a:prstGeom prst="rect">
            <a:avLst/>
          </a:prstGeom>
          <a:solidFill>
            <a:srgbClr val="F5F0F7"/>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59" name="TextBox 58"/>
          <p:cNvSpPr txBox="1"/>
          <p:nvPr/>
        </p:nvSpPr>
        <p:spPr>
          <a:xfrm>
            <a:off x="9698736" y="4722876"/>
            <a:ext cx="384048" cy="347472"/>
          </a:xfrm>
          <a:prstGeom prst="rect">
            <a:avLst/>
          </a:prstGeom>
          <a:noFill/>
        </p:spPr>
        <p:txBody>
          <a:bodyPr wrap="square" tIns="36576" bIns="36576" anchor="t">
            <a:spAutoFit/>
          </a:bodyPr>
          <a:lstStyle/>
          <a:p>
            <a:pPr>
              <a:lnSpc>
                <a:spcPts val="1836"/>
              </a:lnSpc>
              <a:spcBef>
                <a:spcPts val="0"/>
              </a:spcBef>
              <a:spcAft>
                <a:spcPts val="0"/>
              </a:spcAft>
              <a:defRPr sz="1700" b="1">
                <a:solidFill>
                  <a:srgbClr val="754B87"/>
                </a:solidFill>
                <a:latin typeface="Arial"/>
              </a:defRPr>
            </a:pPr>
            <a:r>
              <a:t>4.</a:t>
            </a:r>
          </a:p>
        </p:txBody>
      </p:sp>
      <p:sp>
        <p:nvSpPr>
          <p:cNvPr id="60" name="TextBox 59"/>
          <p:cNvSpPr txBox="1"/>
          <p:nvPr/>
        </p:nvSpPr>
        <p:spPr>
          <a:xfrm>
            <a:off x="10110216" y="4695444"/>
            <a:ext cx="4026408" cy="822960"/>
          </a:xfrm>
          <a:prstGeom prst="rect">
            <a:avLst/>
          </a:prstGeom>
          <a:noFill/>
        </p:spPr>
        <p:txBody>
          <a:bodyPr wrap="square" tIns="36576" bIns="36576" anchor="t">
            <a:spAutoFit/>
          </a:bodyPr>
          <a:lstStyle/>
          <a:p>
            <a:pPr>
              <a:lnSpc>
                <a:spcPts val="1944"/>
              </a:lnSpc>
              <a:spcBef>
                <a:spcPts val="0"/>
              </a:spcBef>
              <a:spcAft>
                <a:spcPts val="0"/>
              </a:spcAft>
              <a:defRPr sz="1800" b="0">
                <a:solidFill>
                  <a:srgbClr val="182B3A"/>
                </a:solidFill>
                <a:latin typeface="Arial"/>
              </a:defRPr>
            </a:pPr>
            <a:r>
              <a:t>430 cases fill boxes of 12. Each full box sells for £9. Find the income from full boxes.</a:t>
            </a:r>
          </a:p>
        </p:txBody>
      </p:sp>
      <p:sp>
        <p:nvSpPr>
          <p:cNvPr id="61" name="Rectangle 60"/>
          <p:cNvSpPr/>
          <p:nvPr/>
        </p:nvSpPr>
        <p:spPr>
          <a:xfrm>
            <a:off x="9625584" y="5614416"/>
            <a:ext cx="4620768" cy="98298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62" name="TextBox 61"/>
          <p:cNvSpPr txBox="1"/>
          <p:nvPr/>
        </p:nvSpPr>
        <p:spPr>
          <a:xfrm>
            <a:off x="9698736" y="5724144"/>
            <a:ext cx="384048" cy="347472"/>
          </a:xfrm>
          <a:prstGeom prst="rect">
            <a:avLst/>
          </a:prstGeom>
          <a:noFill/>
        </p:spPr>
        <p:txBody>
          <a:bodyPr wrap="square" tIns="36576" bIns="36576" anchor="t">
            <a:spAutoFit/>
          </a:bodyPr>
          <a:lstStyle/>
          <a:p>
            <a:pPr>
              <a:lnSpc>
                <a:spcPts val="1836"/>
              </a:lnSpc>
              <a:spcBef>
                <a:spcPts val="0"/>
              </a:spcBef>
              <a:spcAft>
                <a:spcPts val="0"/>
              </a:spcAft>
              <a:defRPr sz="1700" b="1">
                <a:solidFill>
                  <a:srgbClr val="754B87"/>
                </a:solidFill>
                <a:latin typeface="Arial"/>
              </a:defRPr>
            </a:pPr>
            <a:r>
              <a:t>5.</a:t>
            </a:r>
          </a:p>
        </p:txBody>
      </p:sp>
      <p:sp>
        <p:nvSpPr>
          <p:cNvPr id="63" name="TextBox 62"/>
          <p:cNvSpPr txBox="1"/>
          <p:nvPr/>
        </p:nvSpPr>
        <p:spPr>
          <a:xfrm>
            <a:off x="10110216" y="5696712"/>
            <a:ext cx="4026408" cy="822960"/>
          </a:xfrm>
          <a:prstGeom prst="rect">
            <a:avLst/>
          </a:prstGeom>
          <a:noFill/>
        </p:spPr>
        <p:txBody>
          <a:bodyPr wrap="square" tIns="36576" bIns="36576" anchor="t">
            <a:spAutoFit/>
          </a:bodyPr>
          <a:lstStyle/>
          <a:p>
            <a:pPr>
              <a:lnSpc>
                <a:spcPts val="1944"/>
              </a:lnSpc>
              <a:spcBef>
                <a:spcPts val="0"/>
              </a:spcBef>
              <a:spcAft>
                <a:spcPts val="0"/>
              </a:spcAft>
              <a:defRPr sz="1800" b="0">
                <a:solidFill>
                  <a:srgbClr val="182B3A"/>
                </a:solidFill>
                <a:latin typeface="Arial"/>
              </a:defRPr>
            </a:pPr>
            <a:r>
              <a:t>A contractor charges £24 per hour for 15 hours, plus £45 for materials. Find the total bill.</a:t>
            </a:r>
          </a:p>
        </p:txBody>
      </p:sp>
      <p:sp>
        <p:nvSpPr>
          <p:cNvPr id="64" name="Rectangle 63"/>
          <p:cNvSpPr/>
          <p:nvPr/>
        </p:nvSpPr>
        <p:spPr>
          <a:xfrm>
            <a:off x="9625584" y="6615683"/>
            <a:ext cx="4620768" cy="982980"/>
          </a:xfrm>
          <a:prstGeom prst="rect">
            <a:avLst/>
          </a:prstGeom>
          <a:solidFill>
            <a:srgbClr val="F5F0F7"/>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65" name="TextBox 64"/>
          <p:cNvSpPr txBox="1"/>
          <p:nvPr/>
        </p:nvSpPr>
        <p:spPr>
          <a:xfrm>
            <a:off x="9698736" y="6725412"/>
            <a:ext cx="384048" cy="347472"/>
          </a:xfrm>
          <a:prstGeom prst="rect">
            <a:avLst/>
          </a:prstGeom>
          <a:noFill/>
        </p:spPr>
        <p:txBody>
          <a:bodyPr wrap="square" tIns="36576" bIns="36576" anchor="t">
            <a:spAutoFit/>
          </a:bodyPr>
          <a:lstStyle/>
          <a:p>
            <a:pPr>
              <a:lnSpc>
                <a:spcPts val="1836"/>
              </a:lnSpc>
              <a:spcBef>
                <a:spcPts val="0"/>
              </a:spcBef>
              <a:spcAft>
                <a:spcPts val="0"/>
              </a:spcAft>
              <a:defRPr sz="1700" b="1">
                <a:solidFill>
                  <a:srgbClr val="754B87"/>
                </a:solidFill>
                <a:latin typeface="Arial"/>
              </a:defRPr>
            </a:pPr>
            <a:r>
              <a:t>6.</a:t>
            </a:r>
          </a:p>
        </p:txBody>
      </p:sp>
      <p:sp>
        <p:nvSpPr>
          <p:cNvPr id="66" name="TextBox 65"/>
          <p:cNvSpPr txBox="1"/>
          <p:nvPr/>
        </p:nvSpPr>
        <p:spPr>
          <a:xfrm>
            <a:off x="10110216" y="6697979"/>
            <a:ext cx="4026408" cy="822960"/>
          </a:xfrm>
          <a:prstGeom prst="rect">
            <a:avLst/>
          </a:prstGeom>
          <a:noFill/>
        </p:spPr>
        <p:txBody>
          <a:bodyPr wrap="square" tIns="36576" bIns="36576" anchor="t">
            <a:spAutoFit/>
          </a:bodyPr>
          <a:lstStyle/>
          <a:p>
            <a:pPr>
              <a:lnSpc>
                <a:spcPts val="1944"/>
              </a:lnSpc>
              <a:spcBef>
                <a:spcPts val="0"/>
              </a:spcBef>
              <a:spcAft>
                <a:spcPts val="0"/>
              </a:spcAft>
              <a:defRPr sz="1800" b="0">
                <a:solidFill>
                  <a:srgbClr val="182B3A"/>
                </a:solidFill>
                <a:latin typeface="Arial"/>
              </a:defRPr>
            </a:pPr>
            <a:r>
              <a:t>A shop sells 15 boxes of 12 headphones at £8 per headphone. Find the total sales income.</a:t>
            </a:r>
          </a:p>
        </p:txBody>
      </p:sp>
      <p:sp>
        <p:nvSpPr>
          <p:cNvPr id="67" name="Progression curved arrow: Thread 1 to Thread 2"/>
          <p:cNvSpPr/>
          <p:nvPr/>
        </p:nvSpPr>
        <p:spPr>
          <a:xfrm>
            <a:off x="4671059" y="7534005"/>
            <a:ext cx="621792" cy="314053"/>
          </a:xfrm>
          <a:custGeom>
            <a:avLst/>
            <a:gdLst/>
            <a:ahLst/>
            <a:cxnLst/>
            <a:rect l="0" t="0" r="100000" b="100000"/>
            <a:pathLst>
              <a:path w="100000" h="100000" fill="none">
                <a:moveTo>
                  <a:pt x="6970" y="48439"/>
                </a:moveTo>
                <a:cubicBezTo>
                  <a:pt x="40678" y="114499"/>
                  <a:pt x="73026" y="88145"/>
                  <a:pt x="93030" y="13799"/>
                </a:cubicBezTo>
              </a:path>
              <a:path w="100000" h="100000" fill="none">
                <a:moveTo>
                  <a:pt x="69018" y="40431"/>
                </a:moveTo>
                <a:lnTo>
                  <a:pt x="93030" y="13799"/>
                </a:lnTo>
                <a:lnTo>
                  <a:pt x="92217" y="66207"/>
                </a:lnTo>
              </a:path>
            </a:pathLst>
          </a:custGeom>
          <a:noFill/>
          <a:ln w="64449" cap="rnd">
            <a:solidFill>
              <a:schemeClr val="accent6">
                <a:lumMod val="60000"/>
                <a:lumOff val="40000"/>
              </a:schemeClr>
            </a:solidFill>
            <a:round/>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68" name="Progression curved arrow: Thread 2 to Thread 3"/>
          <p:cNvSpPr/>
          <p:nvPr/>
        </p:nvSpPr>
        <p:spPr>
          <a:xfrm>
            <a:off x="9243991" y="7525511"/>
            <a:ext cx="621792" cy="314053"/>
          </a:xfrm>
          <a:custGeom>
            <a:avLst/>
            <a:gdLst/>
            <a:ahLst/>
            <a:cxnLst/>
            <a:rect l="0" t="0" r="100000" b="100000"/>
            <a:pathLst>
              <a:path w="100000" h="100000" fill="none">
                <a:moveTo>
                  <a:pt x="6970" y="48439"/>
                </a:moveTo>
                <a:cubicBezTo>
                  <a:pt x="40678" y="114499"/>
                  <a:pt x="73026" y="88145"/>
                  <a:pt x="93030" y="13799"/>
                </a:cubicBezTo>
              </a:path>
              <a:path w="100000" h="100000" fill="none">
                <a:moveTo>
                  <a:pt x="69018" y="40431"/>
                </a:moveTo>
                <a:lnTo>
                  <a:pt x="93030" y="13799"/>
                </a:lnTo>
                <a:lnTo>
                  <a:pt x="92217" y="66207"/>
                </a:lnTo>
              </a:path>
            </a:pathLst>
          </a:custGeom>
          <a:noFill/>
          <a:ln w="64449" cap="rnd">
            <a:solidFill>
              <a:schemeClr val="accent6">
                <a:lumMod val="60000"/>
                <a:lumOff val="40000"/>
              </a:schemeClr>
            </a:solidFill>
            <a:round/>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Tree>
  </p:cSld>
  <p:clrMapOvr>
    <a:masterClrMapping/>
  </p:clrMapOvr>
</p:sld>
</file>

<file path=ppt/slides/slide56.xml><?xml version="1.0" encoding="utf-8"?>
<p:sld xmlns:a="http://schemas.openxmlformats.org/drawingml/2006/main" xmlns:p="http://schemas.openxmlformats.org/presentationml/2006/main" xmlns:r="http://schemas.openxmlformats.org/officeDocument/2006/relationships">
  <p:cSld>
    <p:bg>
      <p:bgPr>
        <a:solidFill>
          <a:srgbClr val="F7F8FA"/>
        </a:solidFill>
        <a:effectLst/>
      </p:bgPr>
    </p:bg>
    <p:spTree>
      <p:nvGrpSpPr>
        <p:cNvPr id="1" name=""/>
        <p:cNvGrpSpPr/>
        <p:nvPr/>
      </p:nvGrpSpPr>
      <p:grpSpPr/>
      <p:sp>
        <p:nvSpPr>
          <p:cNvPr id="2" name="Rectangle 1"/>
          <p:cNvSpPr/>
          <p:nvPr/>
        </p:nvSpPr>
        <p:spPr>
          <a:xfrm>
            <a:off x="0" y="0"/>
            <a:ext cx="14630400" cy="91440"/>
          </a:xfrm>
          <a:prstGeom prst="rect">
            <a:avLst/>
          </a:prstGeom>
          <a:solidFill>
            <a:srgbClr val="754B87"/>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3" name="TextBox 2"/>
          <p:cNvSpPr txBox="1"/>
          <p:nvPr/>
        </p:nvSpPr>
        <p:spPr>
          <a:xfrm>
            <a:off x="384048" y="219456"/>
            <a:ext cx="12435840" cy="448056"/>
          </a:xfrm>
          <a:prstGeom prst="rect">
            <a:avLst/>
          </a:prstGeom>
          <a:noFill/>
        </p:spPr>
        <p:txBody>
          <a:bodyPr wrap="square" tIns="36576" bIns="36576" anchor="t">
            <a:spAutoFit/>
          </a:bodyPr>
          <a:lstStyle/>
          <a:p>
            <a:pPr>
              <a:lnSpc>
                <a:spcPts val="3132"/>
              </a:lnSpc>
              <a:spcBef>
                <a:spcPts val="0"/>
              </a:spcBef>
              <a:spcAft>
                <a:spcPts val="0"/>
              </a:spcAft>
              <a:defRPr sz="2900" b="1">
                <a:solidFill>
                  <a:srgbClr val="182B3A"/>
                </a:solidFill>
                <a:latin typeface="Arial"/>
              </a:defRPr>
            </a:pPr>
            <a:r>
              <a:t>Application to Exam Problems</a:t>
            </a:r>
          </a:p>
        </p:txBody>
      </p:sp>
      <p:sp>
        <p:nvSpPr>
          <p:cNvPr id="4" name="TextBox 3"/>
          <p:cNvSpPr txBox="1"/>
          <p:nvPr/>
        </p:nvSpPr>
        <p:spPr>
          <a:xfrm>
            <a:off x="384048" y="713232"/>
            <a:ext cx="13533120" cy="274320"/>
          </a:xfrm>
          <a:prstGeom prst="rect">
            <a:avLst/>
          </a:prstGeom>
          <a:noFill/>
        </p:spPr>
        <p:txBody>
          <a:bodyPr wrap="square" tIns="36576" bIns="36576" anchor="t">
            <a:spAutoFit/>
          </a:bodyPr>
          <a:lstStyle/>
          <a:p>
            <a:pPr>
              <a:lnSpc>
                <a:spcPts val="1512"/>
              </a:lnSpc>
              <a:spcBef>
                <a:spcPts val="0"/>
              </a:spcBef>
              <a:spcAft>
                <a:spcPts val="0"/>
              </a:spcAft>
              <a:defRPr sz="1400" b="0">
                <a:solidFill>
                  <a:srgbClr val="526472"/>
                </a:solidFill>
                <a:latin typeface="Arial"/>
              </a:defRPr>
            </a:pPr>
            <a:r>
              <a:t>Independent practice 2  •  Choose a column. Show your working and check your answers.</a:t>
            </a:r>
          </a:p>
        </p:txBody>
      </p:sp>
      <p:sp>
        <p:nvSpPr>
          <p:cNvPr id="5" name="TextBox 4"/>
          <p:cNvSpPr txBox="1"/>
          <p:nvPr/>
        </p:nvSpPr>
        <p:spPr>
          <a:xfrm>
            <a:off x="384048" y="7882127"/>
            <a:ext cx="10058400" cy="210312"/>
          </a:xfrm>
          <a:prstGeom prst="rect">
            <a:avLst/>
          </a:prstGeom>
          <a:noFill/>
        </p:spPr>
        <p:txBody>
          <a:bodyPr wrap="square" tIns="36576" bIns="36576" anchor="t">
            <a:spAutoFit/>
          </a:bodyPr>
          <a:lstStyle/>
          <a:p>
            <a:pPr>
              <a:lnSpc>
                <a:spcPts val="1188"/>
              </a:lnSpc>
              <a:spcBef>
                <a:spcPts val="0"/>
              </a:spcBef>
              <a:spcAft>
                <a:spcPts val="0"/>
              </a:spcAft>
              <a:defRPr sz="1100" b="0">
                <a:solidFill>
                  <a:srgbClr val="526472"/>
                </a:solidFill>
                <a:latin typeface="Arial"/>
              </a:defRPr>
            </a:pPr>
            <a:r>
              <a:t>GCSE Maths revision  •  Record your working in your booklet or webapp.</a:t>
            </a:r>
          </a:p>
        </p:txBody>
      </p:sp>
      <p:sp>
        <p:nvSpPr>
          <p:cNvPr id="6" name="TextBox 5"/>
          <p:cNvSpPr txBox="1"/>
          <p:nvPr/>
        </p:nvSpPr>
        <p:spPr>
          <a:xfrm>
            <a:off x="11430000" y="7863840"/>
            <a:ext cx="2788920" cy="228600"/>
          </a:xfrm>
          <a:prstGeom prst="rect">
            <a:avLst/>
          </a:prstGeom>
          <a:noFill/>
        </p:spPr>
        <p:txBody>
          <a:bodyPr wrap="square" tIns="36576" bIns="36576" anchor="t">
            <a:spAutoFit/>
          </a:bodyPr>
          <a:lstStyle/>
          <a:p>
            <a:pPr>
              <a:lnSpc>
                <a:spcPts val="1188"/>
              </a:lnSpc>
              <a:spcBef>
                <a:spcPts val="0"/>
              </a:spcBef>
              <a:spcAft>
                <a:spcPts val="0"/>
              </a:spcAft>
              <a:defRPr sz="1100" b="0">
                <a:solidFill>
                  <a:srgbClr val="526472"/>
                </a:solidFill>
                <a:latin typeface="Arial"/>
              </a:defRPr>
            </a:pPr>
            <a:r>
              <a:t>M03-S05  •  Topic slide 7</a:t>
            </a:r>
          </a:p>
        </p:txBody>
      </p:sp>
      <p:sp>
        <p:nvSpPr>
          <p:cNvPr id="7" name="Rectangle 6"/>
          <p:cNvSpPr/>
          <p:nvPr/>
        </p:nvSpPr>
        <p:spPr>
          <a:xfrm>
            <a:off x="384048" y="1124712"/>
            <a:ext cx="4620768" cy="438912"/>
          </a:xfrm>
          <a:prstGeom prst="rect">
            <a:avLst/>
          </a:prstGeom>
          <a:solidFill>
            <a:srgbClr val="176B73"/>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8" name="TextBox 7"/>
          <p:cNvSpPr txBox="1"/>
          <p:nvPr/>
        </p:nvSpPr>
        <p:spPr>
          <a:xfrm>
            <a:off x="438912" y="1152144"/>
            <a:ext cx="4511040" cy="338328"/>
          </a:xfrm>
          <a:prstGeom prst="rect">
            <a:avLst/>
          </a:prstGeom>
          <a:noFill/>
        </p:spPr>
        <p:txBody>
          <a:bodyPr wrap="square" tIns="36576" bIns="36576" anchor="t">
            <a:spAutoFit/>
          </a:bodyPr>
          <a:lstStyle/>
          <a:p>
            <a:pPr>
              <a:lnSpc>
                <a:spcPts val="2160"/>
              </a:lnSpc>
              <a:spcBef>
                <a:spcPts val="0"/>
              </a:spcBef>
              <a:spcAft>
                <a:spcPts val="0"/>
              </a:spcAft>
              <a:defRPr sz="2000" b="1">
                <a:solidFill>
                  <a:srgbClr val="FFFFFF"/>
                </a:solidFill>
                <a:latin typeface="Arial"/>
              </a:defRPr>
            </a:pPr>
            <a:r>
              <a:t>Start</a:t>
            </a:r>
          </a:p>
        </p:txBody>
      </p:sp>
      <p:sp>
        <p:nvSpPr>
          <p:cNvPr id="9" name="Rectangle 8"/>
          <p:cNvSpPr/>
          <p:nvPr/>
        </p:nvSpPr>
        <p:spPr>
          <a:xfrm>
            <a:off x="5004816" y="1124712"/>
            <a:ext cx="4620768" cy="438912"/>
          </a:xfrm>
          <a:prstGeom prst="rect">
            <a:avLst/>
          </a:prstGeom>
          <a:solidFill>
            <a:srgbClr val="3559A2"/>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0" name="TextBox 9"/>
          <p:cNvSpPr txBox="1"/>
          <p:nvPr/>
        </p:nvSpPr>
        <p:spPr>
          <a:xfrm>
            <a:off x="5059680" y="1152144"/>
            <a:ext cx="4511040" cy="338328"/>
          </a:xfrm>
          <a:prstGeom prst="rect">
            <a:avLst/>
          </a:prstGeom>
          <a:noFill/>
        </p:spPr>
        <p:txBody>
          <a:bodyPr wrap="square" tIns="36576" bIns="36576" anchor="t">
            <a:spAutoFit/>
          </a:bodyPr>
          <a:lstStyle/>
          <a:p>
            <a:pPr>
              <a:lnSpc>
                <a:spcPts val="2160"/>
              </a:lnSpc>
              <a:spcBef>
                <a:spcPts val="0"/>
              </a:spcBef>
              <a:spcAft>
                <a:spcPts val="0"/>
              </a:spcAft>
              <a:defRPr sz="2000" b="1">
                <a:solidFill>
                  <a:srgbClr val="FFFFFF"/>
                </a:solidFill>
                <a:latin typeface="Arial"/>
              </a:defRPr>
            </a:pPr>
            <a:r>
              <a:t>Build</a:t>
            </a:r>
          </a:p>
        </p:txBody>
      </p:sp>
      <p:sp>
        <p:nvSpPr>
          <p:cNvPr id="11" name="Rectangle 10"/>
          <p:cNvSpPr/>
          <p:nvPr/>
        </p:nvSpPr>
        <p:spPr>
          <a:xfrm>
            <a:off x="9625584" y="1124712"/>
            <a:ext cx="4620768" cy="438912"/>
          </a:xfrm>
          <a:prstGeom prst="rect">
            <a:avLst/>
          </a:prstGeom>
          <a:solidFill>
            <a:srgbClr val="754B87"/>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2" name="TextBox 11"/>
          <p:cNvSpPr txBox="1"/>
          <p:nvPr/>
        </p:nvSpPr>
        <p:spPr>
          <a:xfrm>
            <a:off x="9680448" y="1152144"/>
            <a:ext cx="4511040" cy="338328"/>
          </a:xfrm>
          <a:prstGeom prst="rect">
            <a:avLst/>
          </a:prstGeom>
          <a:noFill/>
        </p:spPr>
        <p:txBody>
          <a:bodyPr wrap="square" tIns="36576" bIns="36576" anchor="t">
            <a:spAutoFit/>
          </a:bodyPr>
          <a:lstStyle/>
          <a:p>
            <a:pPr>
              <a:lnSpc>
                <a:spcPts val="2160"/>
              </a:lnSpc>
              <a:spcBef>
                <a:spcPts val="0"/>
              </a:spcBef>
              <a:spcAft>
                <a:spcPts val="0"/>
              </a:spcAft>
              <a:defRPr sz="2000" b="1">
                <a:solidFill>
                  <a:srgbClr val="FFFFFF"/>
                </a:solidFill>
                <a:latin typeface="Arial"/>
              </a:defRPr>
            </a:pPr>
            <a:r>
              <a:t>Confidence</a:t>
            </a:r>
          </a:p>
        </p:txBody>
      </p:sp>
      <p:sp>
        <p:nvSpPr>
          <p:cNvPr id="13" name="Rectangle 12"/>
          <p:cNvSpPr/>
          <p:nvPr/>
        </p:nvSpPr>
        <p:spPr>
          <a:xfrm>
            <a:off x="384048" y="1609344"/>
            <a:ext cx="4620768" cy="98298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4" name="TextBox 13"/>
          <p:cNvSpPr txBox="1"/>
          <p:nvPr/>
        </p:nvSpPr>
        <p:spPr>
          <a:xfrm>
            <a:off x="457200" y="1719072"/>
            <a:ext cx="384048" cy="347472"/>
          </a:xfrm>
          <a:prstGeom prst="rect">
            <a:avLst/>
          </a:prstGeom>
          <a:noFill/>
        </p:spPr>
        <p:txBody>
          <a:bodyPr wrap="square" tIns="36576" bIns="36576" anchor="t">
            <a:spAutoFit/>
          </a:bodyPr>
          <a:lstStyle/>
          <a:p>
            <a:pPr>
              <a:lnSpc>
                <a:spcPts val="1836"/>
              </a:lnSpc>
              <a:spcBef>
                <a:spcPts val="0"/>
              </a:spcBef>
              <a:spcAft>
                <a:spcPts val="0"/>
              </a:spcAft>
              <a:defRPr sz="1700" b="1">
                <a:solidFill>
                  <a:srgbClr val="176B73"/>
                </a:solidFill>
                <a:latin typeface="Arial"/>
              </a:defRPr>
            </a:pPr>
            <a:r>
              <a:t>1.</a:t>
            </a:r>
          </a:p>
        </p:txBody>
      </p:sp>
      <p:sp>
        <p:nvSpPr>
          <p:cNvPr id="15" name="TextBox 14"/>
          <p:cNvSpPr txBox="1"/>
          <p:nvPr/>
        </p:nvSpPr>
        <p:spPr>
          <a:xfrm>
            <a:off x="868680" y="1691640"/>
            <a:ext cx="4026408" cy="822960"/>
          </a:xfrm>
          <a:prstGeom prst="rect">
            <a:avLst/>
          </a:prstGeom>
          <a:noFill/>
        </p:spPr>
        <p:txBody>
          <a:bodyPr wrap="square" tIns="36576" bIns="36576" anchor="t">
            <a:spAutoFit/>
          </a:bodyPr>
          <a:lstStyle/>
          <a:p>
            <a:pPr>
              <a:lnSpc>
                <a:spcPts val="1944"/>
              </a:lnSpc>
              <a:spcBef>
                <a:spcPts val="0"/>
              </a:spcBef>
              <a:spcAft>
                <a:spcPts val="0"/>
              </a:spcAft>
              <a:defRPr sz="1800" b="0">
                <a:solidFill>
                  <a:srgbClr val="182B3A"/>
                </a:solidFill>
                <a:latin typeface="Arial"/>
              </a:defRPr>
            </a:pPr>
            <a:r>
              <a:t>18 trays each hold 24 plants. How many plants are there?</a:t>
            </a:r>
          </a:p>
        </p:txBody>
      </p:sp>
      <p:sp>
        <p:nvSpPr>
          <p:cNvPr id="16" name="Rectangle 15"/>
          <p:cNvSpPr/>
          <p:nvPr/>
        </p:nvSpPr>
        <p:spPr>
          <a:xfrm>
            <a:off x="384048" y="2610612"/>
            <a:ext cx="4620768" cy="982980"/>
          </a:xfrm>
          <a:prstGeom prst="rect">
            <a:avLst/>
          </a:prstGeom>
          <a:solidFill>
            <a:srgbClr val="EDF6F5"/>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7" name="TextBox 16"/>
          <p:cNvSpPr txBox="1"/>
          <p:nvPr/>
        </p:nvSpPr>
        <p:spPr>
          <a:xfrm>
            <a:off x="457200" y="2720340"/>
            <a:ext cx="384048" cy="347472"/>
          </a:xfrm>
          <a:prstGeom prst="rect">
            <a:avLst/>
          </a:prstGeom>
          <a:noFill/>
        </p:spPr>
        <p:txBody>
          <a:bodyPr wrap="square" tIns="36576" bIns="36576" anchor="t">
            <a:spAutoFit/>
          </a:bodyPr>
          <a:lstStyle/>
          <a:p>
            <a:pPr>
              <a:lnSpc>
                <a:spcPts val="1836"/>
              </a:lnSpc>
              <a:spcBef>
                <a:spcPts val="0"/>
              </a:spcBef>
              <a:spcAft>
                <a:spcPts val="0"/>
              </a:spcAft>
              <a:defRPr sz="1700" b="1">
                <a:solidFill>
                  <a:srgbClr val="176B73"/>
                </a:solidFill>
                <a:latin typeface="Arial"/>
              </a:defRPr>
            </a:pPr>
            <a:r>
              <a:t>2.</a:t>
            </a:r>
          </a:p>
        </p:txBody>
      </p:sp>
      <p:sp>
        <p:nvSpPr>
          <p:cNvPr id="18" name="TextBox 17"/>
          <p:cNvSpPr txBox="1"/>
          <p:nvPr/>
        </p:nvSpPr>
        <p:spPr>
          <a:xfrm>
            <a:off x="868680" y="2692908"/>
            <a:ext cx="4026408" cy="822960"/>
          </a:xfrm>
          <a:prstGeom prst="rect">
            <a:avLst/>
          </a:prstGeom>
          <a:noFill/>
        </p:spPr>
        <p:txBody>
          <a:bodyPr wrap="square" tIns="36576" bIns="36576" anchor="t">
            <a:spAutoFit/>
          </a:bodyPr>
          <a:lstStyle/>
          <a:p>
            <a:pPr>
              <a:lnSpc>
                <a:spcPts val="1944"/>
              </a:lnSpc>
              <a:spcBef>
                <a:spcPts val="0"/>
              </a:spcBef>
              <a:spcAft>
                <a:spcPts val="0"/>
              </a:spcAft>
              <a:defRPr sz="1800" b="0">
                <a:solidFill>
                  <a:srgbClr val="182B3A"/>
                </a:solidFill>
                <a:latin typeface="Arial"/>
              </a:defRPr>
            </a:pPr>
            <a:r>
              <a:t>156 pens are shared equally among 6 classes. How many pens does each class get?</a:t>
            </a:r>
          </a:p>
        </p:txBody>
      </p:sp>
      <p:sp>
        <p:nvSpPr>
          <p:cNvPr id="19" name="Rectangle 18"/>
          <p:cNvSpPr/>
          <p:nvPr/>
        </p:nvSpPr>
        <p:spPr>
          <a:xfrm>
            <a:off x="384048" y="3611880"/>
            <a:ext cx="4620768" cy="98298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20" name="TextBox 19"/>
          <p:cNvSpPr txBox="1"/>
          <p:nvPr/>
        </p:nvSpPr>
        <p:spPr>
          <a:xfrm>
            <a:off x="457200" y="3721608"/>
            <a:ext cx="384048" cy="347472"/>
          </a:xfrm>
          <a:prstGeom prst="rect">
            <a:avLst/>
          </a:prstGeom>
          <a:noFill/>
        </p:spPr>
        <p:txBody>
          <a:bodyPr wrap="square" tIns="36576" bIns="36576" anchor="t">
            <a:spAutoFit/>
          </a:bodyPr>
          <a:lstStyle/>
          <a:p>
            <a:pPr>
              <a:lnSpc>
                <a:spcPts val="1836"/>
              </a:lnSpc>
              <a:spcBef>
                <a:spcPts val="0"/>
              </a:spcBef>
              <a:spcAft>
                <a:spcPts val="0"/>
              </a:spcAft>
              <a:defRPr sz="1700" b="1">
                <a:solidFill>
                  <a:srgbClr val="176B73"/>
                </a:solidFill>
                <a:latin typeface="Arial"/>
              </a:defRPr>
            </a:pPr>
            <a:r>
              <a:t>3.</a:t>
            </a:r>
          </a:p>
        </p:txBody>
      </p:sp>
      <p:sp>
        <p:nvSpPr>
          <p:cNvPr id="21" name="TextBox 20"/>
          <p:cNvSpPr txBox="1"/>
          <p:nvPr/>
        </p:nvSpPr>
        <p:spPr>
          <a:xfrm>
            <a:off x="868680" y="3694176"/>
            <a:ext cx="4026408" cy="822960"/>
          </a:xfrm>
          <a:prstGeom prst="rect">
            <a:avLst/>
          </a:prstGeom>
          <a:noFill/>
        </p:spPr>
        <p:txBody>
          <a:bodyPr wrap="square" tIns="36576" bIns="36576" anchor="t">
            <a:spAutoFit/>
          </a:bodyPr>
          <a:lstStyle/>
          <a:p>
            <a:pPr>
              <a:lnSpc>
                <a:spcPts val="1944"/>
              </a:lnSpc>
              <a:spcBef>
                <a:spcPts val="0"/>
              </a:spcBef>
              <a:spcAft>
                <a:spcPts val="0"/>
              </a:spcAft>
              <a:defRPr sz="1800" b="0">
                <a:solidFill>
                  <a:srgbClr val="182B3A"/>
                </a:solidFill>
                <a:latin typeface="Arial"/>
              </a:defRPr>
            </a:pPr>
            <a:r>
              <a:t>A club orders 23 packs of 16 badges. How many badges does it order?</a:t>
            </a:r>
          </a:p>
        </p:txBody>
      </p:sp>
      <p:sp>
        <p:nvSpPr>
          <p:cNvPr id="22" name="Rectangle 21"/>
          <p:cNvSpPr/>
          <p:nvPr/>
        </p:nvSpPr>
        <p:spPr>
          <a:xfrm>
            <a:off x="384048" y="4613148"/>
            <a:ext cx="4620768" cy="982980"/>
          </a:xfrm>
          <a:prstGeom prst="rect">
            <a:avLst/>
          </a:prstGeom>
          <a:solidFill>
            <a:srgbClr val="EDF6F5"/>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23" name="TextBox 22"/>
          <p:cNvSpPr txBox="1"/>
          <p:nvPr/>
        </p:nvSpPr>
        <p:spPr>
          <a:xfrm>
            <a:off x="457200" y="4722876"/>
            <a:ext cx="384048" cy="347472"/>
          </a:xfrm>
          <a:prstGeom prst="rect">
            <a:avLst/>
          </a:prstGeom>
          <a:noFill/>
        </p:spPr>
        <p:txBody>
          <a:bodyPr wrap="square" tIns="36576" bIns="36576" anchor="t">
            <a:spAutoFit/>
          </a:bodyPr>
          <a:lstStyle/>
          <a:p>
            <a:pPr>
              <a:lnSpc>
                <a:spcPts val="1836"/>
              </a:lnSpc>
              <a:spcBef>
                <a:spcPts val="0"/>
              </a:spcBef>
              <a:spcAft>
                <a:spcPts val="0"/>
              </a:spcAft>
              <a:defRPr sz="1700" b="1">
                <a:solidFill>
                  <a:srgbClr val="176B73"/>
                </a:solidFill>
                <a:latin typeface="Arial"/>
              </a:defRPr>
            </a:pPr>
            <a:r>
              <a:t>4.</a:t>
            </a:r>
          </a:p>
        </p:txBody>
      </p:sp>
      <p:sp>
        <p:nvSpPr>
          <p:cNvPr id="24" name="TextBox 23"/>
          <p:cNvSpPr txBox="1"/>
          <p:nvPr/>
        </p:nvSpPr>
        <p:spPr>
          <a:xfrm>
            <a:off x="868680" y="4695444"/>
            <a:ext cx="4026408" cy="822960"/>
          </a:xfrm>
          <a:prstGeom prst="rect">
            <a:avLst/>
          </a:prstGeom>
          <a:noFill/>
        </p:spPr>
        <p:txBody>
          <a:bodyPr wrap="square" tIns="36576" bIns="36576" anchor="t">
            <a:spAutoFit/>
          </a:bodyPr>
          <a:lstStyle/>
          <a:p>
            <a:pPr>
              <a:lnSpc>
                <a:spcPts val="1944"/>
              </a:lnSpc>
              <a:spcBef>
                <a:spcPts val="0"/>
              </a:spcBef>
              <a:spcAft>
                <a:spcPts val="0"/>
              </a:spcAft>
              <a:defRPr sz="1800" b="0">
                <a:solidFill>
                  <a:srgbClr val="182B3A"/>
                </a:solidFill>
                <a:latin typeface="Arial"/>
              </a:defRPr>
            </a:pPr>
            <a:r>
              <a:t>£248 is shared equally among 8 people. How much does each person get?</a:t>
            </a:r>
          </a:p>
        </p:txBody>
      </p:sp>
      <p:sp>
        <p:nvSpPr>
          <p:cNvPr id="25" name="Rectangle 24"/>
          <p:cNvSpPr/>
          <p:nvPr/>
        </p:nvSpPr>
        <p:spPr>
          <a:xfrm>
            <a:off x="384048" y="5614416"/>
            <a:ext cx="4620768" cy="98298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26" name="TextBox 25"/>
          <p:cNvSpPr txBox="1"/>
          <p:nvPr/>
        </p:nvSpPr>
        <p:spPr>
          <a:xfrm>
            <a:off x="457200" y="5724144"/>
            <a:ext cx="384048" cy="347472"/>
          </a:xfrm>
          <a:prstGeom prst="rect">
            <a:avLst/>
          </a:prstGeom>
          <a:noFill/>
        </p:spPr>
        <p:txBody>
          <a:bodyPr wrap="square" tIns="36576" bIns="36576" anchor="t">
            <a:spAutoFit/>
          </a:bodyPr>
          <a:lstStyle/>
          <a:p>
            <a:pPr>
              <a:lnSpc>
                <a:spcPts val="1836"/>
              </a:lnSpc>
              <a:spcBef>
                <a:spcPts val="0"/>
              </a:spcBef>
              <a:spcAft>
                <a:spcPts val="0"/>
              </a:spcAft>
              <a:defRPr sz="1700" b="1">
                <a:solidFill>
                  <a:srgbClr val="176B73"/>
                </a:solidFill>
                <a:latin typeface="Arial"/>
              </a:defRPr>
            </a:pPr>
            <a:r>
              <a:t>5.</a:t>
            </a:r>
          </a:p>
        </p:txBody>
      </p:sp>
      <p:sp>
        <p:nvSpPr>
          <p:cNvPr id="27" name="TextBox 26"/>
          <p:cNvSpPr txBox="1"/>
          <p:nvPr/>
        </p:nvSpPr>
        <p:spPr>
          <a:xfrm>
            <a:off x="868680" y="5696712"/>
            <a:ext cx="4026408" cy="822960"/>
          </a:xfrm>
          <a:prstGeom prst="rect">
            <a:avLst/>
          </a:prstGeom>
          <a:noFill/>
        </p:spPr>
        <p:txBody>
          <a:bodyPr wrap="square" tIns="36576" bIns="36576" anchor="t">
            <a:spAutoFit/>
          </a:bodyPr>
          <a:lstStyle/>
          <a:p>
            <a:pPr>
              <a:lnSpc>
                <a:spcPts val="1944"/>
              </a:lnSpc>
              <a:spcBef>
                <a:spcPts val="0"/>
              </a:spcBef>
              <a:spcAft>
                <a:spcPts val="0"/>
              </a:spcAft>
              <a:defRPr sz="1800" b="0">
                <a:solidFill>
                  <a:srgbClr val="182B3A"/>
                </a:solidFill>
                <a:latin typeface="Arial"/>
              </a:defRPr>
            </a:pPr>
            <a:r>
              <a:t>A runner covers 12 km each week for 27 weeks. How far do they run?</a:t>
            </a:r>
          </a:p>
        </p:txBody>
      </p:sp>
      <p:sp>
        <p:nvSpPr>
          <p:cNvPr id="28" name="Rectangle 27"/>
          <p:cNvSpPr/>
          <p:nvPr/>
        </p:nvSpPr>
        <p:spPr>
          <a:xfrm>
            <a:off x="384048" y="6615683"/>
            <a:ext cx="4620768" cy="982980"/>
          </a:xfrm>
          <a:prstGeom prst="rect">
            <a:avLst/>
          </a:prstGeom>
          <a:solidFill>
            <a:srgbClr val="EDF6F5"/>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29" name="TextBox 28"/>
          <p:cNvSpPr txBox="1"/>
          <p:nvPr/>
        </p:nvSpPr>
        <p:spPr>
          <a:xfrm>
            <a:off x="457200" y="6725412"/>
            <a:ext cx="384048" cy="347472"/>
          </a:xfrm>
          <a:prstGeom prst="rect">
            <a:avLst/>
          </a:prstGeom>
          <a:noFill/>
        </p:spPr>
        <p:txBody>
          <a:bodyPr wrap="square" tIns="36576" bIns="36576" anchor="t">
            <a:spAutoFit/>
          </a:bodyPr>
          <a:lstStyle/>
          <a:p>
            <a:pPr>
              <a:lnSpc>
                <a:spcPts val="1836"/>
              </a:lnSpc>
              <a:spcBef>
                <a:spcPts val="0"/>
              </a:spcBef>
              <a:spcAft>
                <a:spcPts val="0"/>
              </a:spcAft>
              <a:defRPr sz="1700" b="1">
                <a:solidFill>
                  <a:srgbClr val="176B73"/>
                </a:solidFill>
                <a:latin typeface="Arial"/>
              </a:defRPr>
            </a:pPr>
            <a:r>
              <a:t>6.</a:t>
            </a:r>
          </a:p>
        </p:txBody>
      </p:sp>
      <p:sp>
        <p:nvSpPr>
          <p:cNvPr id="30" name="TextBox 29"/>
          <p:cNvSpPr txBox="1"/>
          <p:nvPr/>
        </p:nvSpPr>
        <p:spPr>
          <a:xfrm>
            <a:off x="868680" y="6697979"/>
            <a:ext cx="4026408" cy="822960"/>
          </a:xfrm>
          <a:prstGeom prst="rect">
            <a:avLst/>
          </a:prstGeom>
          <a:noFill/>
        </p:spPr>
        <p:txBody>
          <a:bodyPr wrap="square" tIns="36576" bIns="36576" anchor="t">
            <a:spAutoFit/>
          </a:bodyPr>
          <a:lstStyle/>
          <a:p>
            <a:pPr>
              <a:lnSpc>
                <a:spcPts val="1944"/>
              </a:lnSpc>
              <a:spcBef>
                <a:spcPts val="0"/>
              </a:spcBef>
              <a:spcAft>
                <a:spcPts val="0"/>
              </a:spcAft>
              <a:defRPr sz="1800" b="0">
                <a:solidFill>
                  <a:srgbClr val="182B3A"/>
                </a:solidFill>
                <a:latin typeface="Arial"/>
              </a:defRPr>
            </a:pPr>
            <a:r>
              <a:t>A 189 cm ribbon is cut into 7 equal pieces. Find the length of each piece.</a:t>
            </a:r>
          </a:p>
        </p:txBody>
      </p:sp>
      <p:sp>
        <p:nvSpPr>
          <p:cNvPr id="31" name="Rectangle 30"/>
          <p:cNvSpPr/>
          <p:nvPr/>
        </p:nvSpPr>
        <p:spPr>
          <a:xfrm>
            <a:off x="5004816" y="1609344"/>
            <a:ext cx="4620768" cy="98298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32" name="TextBox 31"/>
          <p:cNvSpPr txBox="1"/>
          <p:nvPr/>
        </p:nvSpPr>
        <p:spPr>
          <a:xfrm>
            <a:off x="5077968" y="1719072"/>
            <a:ext cx="384048" cy="347472"/>
          </a:xfrm>
          <a:prstGeom prst="rect">
            <a:avLst/>
          </a:prstGeom>
          <a:noFill/>
        </p:spPr>
        <p:txBody>
          <a:bodyPr wrap="square" tIns="36576" bIns="36576" anchor="t">
            <a:spAutoFit/>
          </a:bodyPr>
          <a:lstStyle/>
          <a:p>
            <a:pPr>
              <a:lnSpc>
                <a:spcPts val="1836"/>
              </a:lnSpc>
              <a:spcBef>
                <a:spcPts val="0"/>
              </a:spcBef>
              <a:spcAft>
                <a:spcPts val="0"/>
              </a:spcAft>
              <a:defRPr sz="1700" b="1">
                <a:solidFill>
                  <a:srgbClr val="3559A2"/>
                </a:solidFill>
                <a:latin typeface="Arial"/>
              </a:defRPr>
            </a:pPr>
            <a:r>
              <a:t>1.</a:t>
            </a:r>
          </a:p>
        </p:txBody>
      </p:sp>
      <p:sp>
        <p:nvSpPr>
          <p:cNvPr id="33" name="TextBox 32"/>
          <p:cNvSpPr txBox="1"/>
          <p:nvPr/>
        </p:nvSpPr>
        <p:spPr>
          <a:xfrm>
            <a:off x="5489448" y="1691640"/>
            <a:ext cx="4026408" cy="822960"/>
          </a:xfrm>
          <a:prstGeom prst="rect">
            <a:avLst/>
          </a:prstGeom>
          <a:noFill/>
        </p:spPr>
        <p:txBody>
          <a:bodyPr wrap="square" tIns="36576" bIns="36576" anchor="t">
            <a:spAutoFit/>
          </a:bodyPr>
          <a:lstStyle/>
          <a:p>
            <a:pPr>
              <a:lnSpc>
                <a:spcPts val="1944"/>
              </a:lnSpc>
              <a:spcBef>
                <a:spcPts val="0"/>
              </a:spcBef>
              <a:spcAft>
                <a:spcPts val="0"/>
              </a:spcAft>
              <a:defRPr sz="1800" b="0">
                <a:solidFill>
                  <a:srgbClr val="182B3A"/>
                </a:solidFill>
                <a:latin typeface="Arial"/>
              </a:defRPr>
            </a:pPr>
            <a:r>
              <a:t>197 leaflets are bundled in groups of 8. How many complete bundles can be made?</a:t>
            </a:r>
          </a:p>
        </p:txBody>
      </p:sp>
      <p:sp>
        <p:nvSpPr>
          <p:cNvPr id="34" name="Rectangle 33"/>
          <p:cNvSpPr/>
          <p:nvPr/>
        </p:nvSpPr>
        <p:spPr>
          <a:xfrm>
            <a:off x="5004816" y="2610612"/>
            <a:ext cx="4620768" cy="982980"/>
          </a:xfrm>
          <a:prstGeom prst="rect">
            <a:avLst/>
          </a:prstGeom>
          <a:solidFill>
            <a:srgbClr val="EFF3FA"/>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35" name="TextBox 34"/>
          <p:cNvSpPr txBox="1"/>
          <p:nvPr/>
        </p:nvSpPr>
        <p:spPr>
          <a:xfrm>
            <a:off x="5077968" y="2720340"/>
            <a:ext cx="384048" cy="347472"/>
          </a:xfrm>
          <a:prstGeom prst="rect">
            <a:avLst/>
          </a:prstGeom>
          <a:noFill/>
        </p:spPr>
        <p:txBody>
          <a:bodyPr wrap="square" tIns="36576" bIns="36576" anchor="t">
            <a:spAutoFit/>
          </a:bodyPr>
          <a:lstStyle/>
          <a:p>
            <a:pPr>
              <a:lnSpc>
                <a:spcPts val="1836"/>
              </a:lnSpc>
              <a:spcBef>
                <a:spcPts val="0"/>
              </a:spcBef>
              <a:spcAft>
                <a:spcPts val="0"/>
              </a:spcAft>
              <a:defRPr sz="1700" b="1">
                <a:solidFill>
                  <a:srgbClr val="3559A2"/>
                </a:solidFill>
                <a:latin typeface="Arial"/>
              </a:defRPr>
            </a:pPr>
            <a:r>
              <a:t>2.</a:t>
            </a:r>
          </a:p>
        </p:txBody>
      </p:sp>
      <p:sp>
        <p:nvSpPr>
          <p:cNvPr id="36" name="TextBox 35"/>
          <p:cNvSpPr txBox="1"/>
          <p:nvPr/>
        </p:nvSpPr>
        <p:spPr>
          <a:xfrm>
            <a:off x="5489448" y="2692908"/>
            <a:ext cx="4026408" cy="822960"/>
          </a:xfrm>
          <a:prstGeom prst="rect">
            <a:avLst/>
          </a:prstGeom>
          <a:noFill/>
        </p:spPr>
        <p:txBody>
          <a:bodyPr wrap="square" tIns="36576" bIns="36576" anchor="t">
            <a:spAutoFit/>
          </a:bodyPr>
          <a:lstStyle/>
          <a:p>
            <a:pPr>
              <a:lnSpc>
                <a:spcPts val="1944"/>
              </a:lnSpc>
              <a:spcBef>
                <a:spcPts val="0"/>
              </a:spcBef>
              <a:spcAft>
                <a:spcPts val="0"/>
              </a:spcAft>
              <a:defRPr sz="1800" b="0">
                <a:solidFill>
                  <a:srgbClr val="182B3A"/>
                </a:solidFill>
                <a:latin typeface="Arial"/>
              </a:defRPr>
            </a:pPr>
            <a:r>
              <a:t>A camp has 83 people. Each tent sleeps 6. How many tents are needed?</a:t>
            </a:r>
          </a:p>
        </p:txBody>
      </p:sp>
      <p:sp>
        <p:nvSpPr>
          <p:cNvPr id="37" name="Rectangle 36"/>
          <p:cNvSpPr/>
          <p:nvPr/>
        </p:nvSpPr>
        <p:spPr>
          <a:xfrm>
            <a:off x="5004816" y="3611880"/>
            <a:ext cx="4620768" cy="98298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38" name="TextBox 37"/>
          <p:cNvSpPr txBox="1"/>
          <p:nvPr/>
        </p:nvSpPr>
        <p:spPr>
          <a:xfrm>
            <a:off x="5077968" y="3721608"/>
            <a:ext cx="384048" cy="347472"/>
          </a:xfrm>
          <a:prstGeom prst="rect">
            <a:avLst/>
          </a:prstGeom>
          <a:noFill/>
        </p:spPr>
        <p:txBody>
          <a:bodyPr wrap="square" tIns="36576" bIns="36576" anchor="t">
            <a:spAutoFit/>
          </a:bodyPr>
          <a:lstStyle/>
          <a:p>
            <a:pPr>
              <a:lnSpc>
                <a:spcPts val="1836"/>
              </a:lnSpc>
              <a:spcBef>
                <a:spcPts val="0"/>
              </a:spcBef>
              <a:spcAft>
                <a:spcPts val="0"/>
              </a:spcAft>
              <a:defRPr sz="1700" b="1">
                <a:solidFill>
                  <a:srgbClr val="3559A2"/>
                </a:solidFill>
                <a:latin typeface="Arial"/>
              </a:defRPr>
            </a:pPr>
            <a:r>
              <a:t>3.</a:t>
            </a:r>
          </a:p>
        </p:txBody>
      </p:sp>
      <p:sp>
        <p:nvSpPr>
          <p:cNvPr id="39" name="TextBox 38"/>
          <p:cNvSpPr txBox="1"/>
          <p:nvPr/>
        </p:nvSpPr>
        <p:spPr>
          <a:xfrm>
            <a:off x="5489448" y="3694176"/>
            <a:ext cx="4026408" cy="822960"/>
          </a:xfrm>
          <a:prstGeom prst="rect">
            <a:avLst/>
          </a:prstGeom>
          <a:noFill/>
        </p:spPr>
        <p:txBody>
          <a:bodyPr wrap="square" tIns="36576" bIns="36576" anchor="t">
            <a:spAutoFit/>
          </a:bodyPr>
          <a:lstStyle/>
          <a:p>
            <a:pPr>
              <a:lnSpc>
                <a:spcPts val="1944"/>
              </a:lnSpc>
              <a:spcBef>
                <a:spcPts val="0"/>
              </a:spcBef>
              <a:spcAft>
                <a:spcPts val="0"/>
              </a:spcAft>
              <a:defRPr sz="1800" b="0">
                <a:solidFill>
                  <a:srgbClr val="182B3A"/>
                </a:solidFill>
                <a:latin typeface="Arial"/>
              </a:defRPr>
            </a:pPr>
            <a:r>
              <a:t>A 275 cm strip is cut into 12 cm pieces. How many centimetres remain?</a:t>
            </a:r>
          </a:p>
        </p:txBody>
      </p:sp>
      <p:sp>
        <p:nvSpPr>
          <p:cNvPr id="40" name="Rectangle 39"/>
          <p:cNvSpPr/>
          <p:nvPr/>
        </p:nvSpPr>
        <p:spPr>
          <a:xfrm>
            <a:off x="5004816" y="4613148"/>
            <a:ext cx="4620768" cy="982980"/>
          </a:xfrm>
          <a:prstGeom prst="rect">
            <a:avLst/>
          </a:prstGeom>
          <a:solidFill>
            <a:srgbClr val="EFF3FA"/>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41" name="TextBox 40"/>
          <p:cNvSpPr txBox="1"/>
          <p:nvPr/>
        </p:nvSpPr>
        <p:spPr>
          <a:xfrm>
            <a:off x="5077968" y="4722876"/>
            <a:ext cx="384048" cy="347472"/>
          </a:xfrm>
          <a:prstGeom prst="rect">
            <a:avLst/>
          </a:prstGeom>
          <a:noFill/>
        </p:spPr>
        <p:txBody>
          <a:bodyPr wrap="square" tIns="36576" bIns="36576" anchor="t">
            <a:spAutoFit/>
          </a:bodyPr>
          <a:lstStyle/>
          <a:p>
            <a:pPr>
              <a:lnSpc>
                <a:spcPts val="1836"/>
              </a:lnSpc>
              <a:spcBef>
                <a:spcPts val="0"/>
              </a:spcBef>
              <a:spcAft>
                <a:spcPts val="0"/>
              </a:spcAft>
              <a:defRPr sz="1700" b="1">
                <a:solidFill>
                  <a:srgbClr val="3559A2"/>
                </a:solidFill>
                <a:latin typeface="Arial"/>
              </a:defRPr>
            </a:pPr>
            <a:r>
              <a:t>4.</a:t>
            </a:r>
          </a:p>
        </p:txBody>
      </p:sp>
      <p:sp>
        <p:nvSpPr>
          <p:cNvPr id="42" name="TextBox 41"/>
          <p:cNvSpPr txBox="1"/>
          <p:nvPr/>
        </p:nvSpPr>
        <p:spPr>
          <a:xfrm>
            <a:off x="5489448" y="4695444"/>
            <a:ext cx="4026408" cy="822960"/>
          </a:xfrm>
          <a:prstGeom prst="rect">
            <a:avLst/>
          </a:prstGeom>
          <a:noFill/>
        </p:spPr>
        <p:txBody>
          <a:bodyPr wrap="square" tIns="36576" bIns="36576" anchor="t">
            <a:spAutoFit/>
          </a:bodyPr>
          <a:lstStyle/>
          <a:p>
            <a:pPr>
              <a:lnSpc>
                <a:spcPts val="1944"/>
              </a:lnSpc>
              <a:spcBef>
                <a:spcPts val="0"/>
              </a:spcBef>
              <a:spcAft>
                <a:spcPts val="0"/>
              </a:spcAft>
              <a:defRPr sz="1800" b="0">
                <a:solidFill>
                  <a:srgbClr val="182B3A"/>
                </a:solidFill>
                <a:latin typeface="Arial"/>
              </a:defRPr>
            </a:pPr>
            <a:r>
              <a:t>A printer produces 36 pages per minute. How many pages does it produce in 14 minutes?</a:t>
            </a:r>
          </a:p>
        </p:txBody>
      </p:sp>
      <p:sp>
        <p:nvSpPr>
          <p:cNvPr id="43" name="Rectangle 42"/>
          <p:cNvSpPr/>
          <p:nvPr/>
        </p:nvSpPr>
        <p:spPr>
          <a:xfrm>
            <a:off x="5004816" y="5614416"/>
            <a:ext cx="4620768" cy="98298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44" name="TextBox 43"/>
          <p:cNvSpPr txBox="1"/>
          <p:nvPr/>
        </p:nvSpPr>
        <p:spPr>
          <a:xfrm>
            <a:off x="5077968" y="5724144"/>
            <a:ext cx="384048" cy="347472"/>
          </a:xfrm>
          <a:prstGeom prst="rect">
            <a:avLst/>
          </a:prstGeom>
          <a:noFill/>
        </p:spPr>
        <p:txBody>
          <a:bodyPr wrap="square" tIns="36576" bIns="36576" anchor="t">
            <a:spAutoFit/>
          </a:bodyPr>
          <a:lstStyle/>
          <a:p>
            <a:pPr>
              <a:lnSpc>
                <a:spcPts val="1836"/>
              </a:lnSpc>
              <a:spcBef>
                <a:spcPts val="0"/>
              </a:spcBef>
              <a:spcAft>
                <a:spcPts val="0"/>
              </a:spcAft>
              <a:defRPr sz="1700" b="1">
                <a:solidFill>
                  <a:srgbClr val="3559A2"/>
                </a:solidFill>
                <a:latin typeface="Arial"/>
              </a:defRPr>
            </a:pPr>
            <a:r>
              <a:t>5.</a:t>
            </a:r>
          </a:p>
        </p:txBody>
      </p:sp>
      <p:sp>
        <p:nvSpPr>
          <p:cNvPr id="45" name="TextBox 44"/>
          <p:cNvSpPr txBox="1"/>
          <p:nvPr/>
        </p:nvSpPr>
        <p:spPr>
          <a:xfrm>
            <a:off x="5489448" y="5696712"/>
            <a:ext cx="4026408" cy="822960"/>
          </a:xfrm>
          <a:prstGeom prst="rect">
            <a:avLst/>
          </a:prstGeom>
          <a:noFill/>
        </p:spPr>
        <p:txBody>
          <a:bodyPr wrap="square" tIns="36576" bIns="36576" anchor="t">
            <a:spAutoFit/>
          </a:bodyPr>
          <a:lstStyle/>
          <a:p>
            <a:pPr>
              <a:lnSpc>
                <a:spcPts val="1944"/>
              </a:lnSpc>
              <a:spcBef>
                <a:spcPts val="0"/>
              </a:spcBef>
              <a:spcAft>
                <a:spcPts val="0"/>
              </a:spcAft>
              <a:defRPr sz="1800" b="0">
                <a:solidFill>
                  <a:srgbClr val="182B3A"/>
                </a:solidFill>
                <a:latin typeface="Arial"/>
              </a:defRPr>
            </a:pPr>
            <a:r>
              <a:t>£154 is split equally among 4 workers. How much does each receive?</a:t>
            </a:r>
          </a:p>
        </p:txBody>
      </p:sp>
      <p:sp>
        <p:nvSpPr>
          <p:cNvPr id="46" name="Rectangle 45"/>
          <p:cNvSpPr/>
          <p:nvPr/>
        </p:nvSpPr>
        <p:spPr>
          <a:xfrm>
            <a:off x="5004816" y="6615683"/>
            <a:ext cx="4620768" cy="982980"/>
          </a:xfrm>
          <a:prstGeom prst="rect">
            <a:avLst/>
          </a:prstGeom>
          <a:solidFill>
            <a:srgbClr val="EFF3FA"/>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47" name="TextBox 46"/>
          <p:cNvSpPr txBox="1"/>
          <p:nvPr/>
        </p:nvSpPr>
        <p:spPr>
          <a:xfrm>
            <a:off x="5077968" y="6725412"/>
            <a:ext cx="384048" cy="347472"/>
          </a:xfrm>
          <a:prstGeom prst="rect">
            <a:avLst/>
          </a:prstGeom>
          <a:noFill/>
        </p:spPr>
        <p:txBody>
          <a:bodyPr wrap="square" tIns="36576" bIns="36576" anchor="t">
            <a:spAutoFit/>
          </a:bodyPr>
          <a:lstStyle/>
          <a:p>
            <a:pPr>
              <a:lnSpc>
                <a:spcPts val="1836"/>
              </a:lnSpc>
              <a:spcBef>
                <a:spcPts val="0"/>
              </a:spcBef>
              <a:spcAft>
                <a:spcPts val="0"/>
              </a:spcAft>
              <a:defRPr sz="1700" b="1">
                <a:solidFill>
                  <a:srgbClr val="3559A2"/>
                </a:solidFill>
                <a:latin typeface="Arial"/>
              </a:defRPr>
            </a:pPr>
            <a:r>
              <a:t>6.</a:t>
            </a:r>
          </a:p>
        </p:txBody>
      </p:sp>
      <p:sp>
        <p:nvSpPr>
          <p:cNvPr id="48" name="TextBox 47"/>
          <p:cNvSpPr txBox="1"/>
          <p:nvPr/>
        </p:nvSpPr>
        <p:spPr>
          <a:xfrm>
            <a:off x="5489448" y="6697979"/>
            <a:ext cx="4026408" cy="822960"/>
          </a:xfrm>
          <a:prstGeom prst="rect">
            <a:avLst/>
          </a:prstGeom>
          <a:noFill/>
        </p:spPr>
        <p:txBody>
          <a:bodyPr wrap="square" tIns="36576" bIns="36576" anchor="t">
            <a:spAutoFit/>
          </a:bodyPr>
          <a:lstStyle/>
          <a:p>
            <a:pPr>
              <a:lnSpc>
                <a:spcPts val="1944"/>
              </a:lnSpc>
              <a:spcBef>
                <a:spcPts val="0"/>
              </a:spcBef>
              <a:spcAft>
                <a:spcPts val="0"/>
              </a:spcAft>
              <a:defRPr sz="1800" b="0">
                <a:solidFill>
                  <a:srgbClr val="182B3A"/>
                </a:solidFill>
                <a:latin typeface="Arial"/>
              </a:defRPr>
            </a:pPr>
            <a:r>
              <a:t>253 photos go in albums holding 24 photos. How many albums are needed for all the photos?</a:t>
            </a:r>
          </a:p>
        </p:txBody>
      </p:sp>
      <p:sp>
        <p:nvSpPr>
          <p:cNvPr id="49" name="Rectangle 48"/>
          <p:cNvSpPr/>
          <p:nvPr/>
        </p:nvSpPr>
        <p:spPr>
          <a:xfrm>
            <a:off x="9625584" y="1609344"/>
            <a:ext cx="4620768" cy="98298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50" name="TextBox 49"/>
          <p:cNvSpPr txBox="1"/>
          <p:nvPr/>
        </p:nvSpPr>
        <p:spPr>
          <a:xfrm>
            <a:off x="9698736" y="1719072"/>
            <a:ext cx="384048" cy="347472"/>
          </a:xfrm>
          <a:prstGeom prst="rect">
            <a:avLst/>
          </a:prstGeom>
          <a:noFill/>
        </p:spPr>
        <p:txBody>
          <a:bodyPr wrap="square" tIns="36576" bIns="36576" anchor="t">
            <a:spAutoFit/>
          </a:bodyPr>
          <a:lstStyle/>
          <a:p>
            <a:pPr>
              <a:lnSpc>
                <a:spcPts val="1836"/>
              </a:lnSpc>
              <a:spcBef>
                <a:spcPts val="0"/>
              </a:spcBef>
              <a:spcAft>
                <a:spcPts val="0"/>
              </a:spcAft>
              <a:defRPr sz="1700" b="1">
                <a:solidFill>
                  <a:srgbClr val="754B87"/>
                </a:solidFill>
                <a:latin typeface="Arial"/>
              </a:defRPr>
            </a:pPr>
            <a:r>
              <a:t>1.</a:t>
            </a:r>
          </a:p>
        </p:txBody>
      </p:sp>
      <p:sp>
        <p:nvSpPr>
          <p:cNvPr id="51" name="TextBox 50"/>
          <p:cNvSpPr txBox="1"/>
          <p:nvPr/>
        </p:nvSpPr>
        <p:spPr>
          <a:xfrm>
            <a:off x="10110216" y="1691640"/>
            <a:ext cx="4026408" cy="822960"/>
          </a:xfrm>
          <a:prstGeom prst="rect">
            <a:avLst/>
          </a:prstGeom>
          <a:noFill/>
        </p:spPr>
        <p:txBody>
          <a:bodyPr wrap="square" tIns="36576" bIns="36576" anchor="t">
            <a:spAutoFit/>
          </a:bodyPr>
          <a:lstStyle/>
          <a:p>
            <a:pPr>
              <a:lnSpc>
                <a:spcPts val="1944"/>
              </a:lnSpc>
              <a:spcBef>
                <a:spcPts val="0"/>
              </a:spcBef>
              <a:spcAft>
                <a:spcPts val="0"/>
              </a:spcAft>
              <a:defRPr sz="1800" b="0">
                <a:solidFill>
                  <a:srgbClr val="182B3A"/>
                </a:solidFill>
                <a:latin typeface="Arial"/>
              </a:defRPr>
            </a:pPr>
            <a:r>
              <a:t>28 shirts cost £14 each. Delivery costs £18. Find the total cost.</a:t>
            </a:r>
          </a:p>
        </p:txBody>
      </p:sp>
      <p:sp>
        <p:nvSpPr>
          <p:cNvPr id="52" name="Rectangle 51"/>
          <p:cNvSpPr/>
          <p:nvPr/>
        </p:nvSpPr>
        <p:spPr>
          <a:xfrm>
            <a:off x="9625584" y="2610612"/>
            <a:ext cx="4620768" cy="982980"/>
          </a:xfrm>
          <a:prstGeom prst="rect">
            <a:avLst/>
          </a:prstGeom>
          <a:solidFill>
            <a:srgbClr val="F5F0F7"/>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53" name="TextBox 52"/>
          <p:cNvSpPr txBox="1"/>
          <p:nvPr/>
        </p:nvSpPr>
        <p:spPr>
          <a:xfrm>
            <a:off x="9698736" y="2720340"/>
            <a:ext cx="384048" cy="347472"/>
          </a:xfrm>
          <a:prstGeom prst="rect">
            <a:avLst/>
          </a:prstGeom>
          <a:noFill/>
        </p:spPr>
        <p:txBody>
          <a:bodyPr wrap="square" tIns="36576" bIns="36576" anchor="t">
            <a:spAutoFit/>
          </a:bodyPr>
          <a:lstStyle/>
          <a:p>
            <a:pPr>
              <a:lnSpc>
                <a:spcPts val="1836"/>
              </a:lnSpc>
              <a:spcBef>
                <a:spcPts val="0"/>
              </a:spcBef>
              <a:spcAft>
                <a:spcPts val="0"/>
              </a:spcAft>
              <a:defRPr sz="1700" b="1">
                <a:solidFill>
                  <a:srgbClr val="754B87"/>
                </a:solidFill>
                <a:latin typeface="Arial"/>
              </a:defRPr>
            </a:pPr>
            <a:r>
              <a:t>2.</a:t>
            </a:r>
          </a:p>
        </p:txBody>
      </p:sp>
      <p:sp>
        <p:nvSpPr>
          <p:cNvPr id="54" name="TextBox 53"/>
          <p:cNvSpPr txBox="1"/>
          <p:nvPr/>
        </p:nvSpPr>
        <p:spPr>
          <a:xfrm>
            <a:off x="10110216" y="2692908"/>
            <a:ext cx="4026408" cy="822960"/>
          </a:xfrm>
          <a:prstGeom prst="rect">
            <a:avLst/>
          </a:prstGeom>
          <a:noFill/>
        </p:spPr>
        <p:txBody>
          <a:bodyPr wrap="square" tIns="36576" bIns="36576" anchor="t">
            <a:spAutoFit/>
          </a:bodyPr>
          <a:lstStyle/>
          <a:p>
            <a:pPr>
              <a:lnSpc>
                <a:spcPts val="1944"/>
              </a:lnSpc>
              <a:spcBef>
                <a:spcPts val="0"/>
              </a:spcBef>
              <a:spcAft>
                <a:spcPts val="0"/>
              </a:spcAft>
              <a:defRPr sz="1800" b="0">
                <a:solidFill>
                  <a:srgbClr val="182B3A"/>
                </a:solidFill>
                <a:latin typeface="Arial"/>
              </a:defRPr>
            </a:pPr>
            <a:r>
              <a:t>94 people need tables seating 6 each. Tables cost £12 each to hire. Find the total hire cost.</a:t>
            </a:r>
          </a:p>
        </p:txBody>
      </p:sp>
      <p:sp>
        <p:nvSpPr>
          <p:cNvPr id="55" name="Rectangle 54"/>
          <p:cNvSpPr/>
          <p:nvPr/>
        </p:nvSpPr>
        <p:spPr>
          <a:xfrm>
            <a:off x="9625584" y="3611880"/>
            <a:ext cx="4620768" cy="98298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56" name="TextBox 55"/>
          <p:cNvSpPr txBox="1"/>
          <p:nvPr/>
        </p:nvSpPr>
        <p:spPr>
          <a:xfrm>
            <a:off x="9698736" y="3721608"/>
            <a:ext cx="384048" cy="347472"/>
          </a:xfrm>
          <a:prstGeom prst="rect">
            <a:avLst/>
          </a:prstGeom>
          <a:noFill/>
        </p:spPr>
        <p:txBody>
          <a:bodyPr wrap="square" tIns="36576" bIns="36576" anchor="t">
            <a:spAutoFit/>
          </a:bodyPr>
          <a:lstStyle/>
          <a:p>
            <a:pPr>
              <a:lnSpc>
                <a:spcPts val="1836"/>
              </a:lnSpc>
              <a:spcBef>
                <a:spcPts val="0"/>
              </a:spcBef>
              <a:spcAft>
                <a:spcPts val="0"/>
              </a:spcAft>
              <a:defRPr sz="1700" b="1">
                <a:solidFill>
                  <a:srgbClr val="754B87"/>
                </a:solidFill>
                <a:latin typeface="Arial"/>
              </a:defRPr>
            </a:pPr>
            <a:r>
              <a:t>3.</a:t>
            </a:r>
          </a:p>
        </p:txBody>
      </p:sp>
      <p:sp>
        <p:nvSpPr>
          <p:cNvPr id="57" name="TextBox 56"/>
          <p:cNvSpPr txBox="1"/>
          <p:nvPr/>
        </p:nvSpPr>
        <p:spPr>
          <a:xfrm>
            <a:off x="10110216" y="3694176"/>
            <a:ext cx="4026408" cy="822960"/>
          </a:xfrm>
          <a:prstGeom prst="rect">
            <a:avLst/>
          </a:prstGeom>
          <a:noFill/>
        </p:spPr>
        <p:txBody>
          <a:bodyPr wrap="square" tIns="36576" bIns="36576" anchor="t">
            <a:spAutoFit/>
          </a:bodyPr>
          <a:lstStyle/>
          <a:p>
            <a:pPr>
              <a:lnSpc>
                <a:spcPts val="1944"/>
              </a:lnSpc>
              <a:spcBef>
                <a:spcPts val="0"/>
              </a:spcBef>
              <a:spcAft>
                <a:spcPts val="0"/>
              </a:spcAft>
              <a:defRPr sz="1800" b="0">
                <a:solidFill>
                  <a:srgbClr val="182B3A"/>
                </a:solidFill>
                <a:latin typeface="Arial"/>
              </a:defRPr>
            </a:pPr>
            <a:r>
              <a:t>A club buys 24 packs of 15 drinks. It uses 87 drinks. How many remain?</a:t>
            </a:r>
          </a:p>
        </p:txBody>
      </p:sp>
      <p:sp>
        <p:nvSpPr>
          <p:cNvPr id="58" name="Rectangle 57"/>
          <p:cNvSpPr/>
          <p:nvPr/>
        </p:nvSpPr>
        <p:spPr>
          <a:xfrm>
            <a:off x="9625584" y="4613148"/>
            <a:ext cx="4620768" cy="982980"/>
          </a:xfrm>
          <a:prstGeom prst="rect">
            <a:avLst/>
          </a:prstGeom>
          <a:solidFill>
            <a:srgbClr val="F5F0F7"/>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59" name="TextBox 58"/>
          <p:cNvSpPr txBox="1"/>
          <p:nvPr/>
        </p:nvSpPr>
        <p:spPr>
          <a:xfrm>
            <a:off x="9698736" y="4722876"/>
            <a:ext cx="384048" cy="347472"/>
          </a:xfrm>
          <a:prstGeom prst="rect">
            <a:avLst/>
          </a:prstGeom>
          <a:noFill/>
        </p:spPr>
        <p:txBody>
          <a:bodyPr wrap="square" tIns="36576" bIns="36576" anchor="t">
            <a:spAutoFit/>
          </a:bodyPr>
          <a:lstStyle/>
          <a:p>
            <a:pPr>
              <a:lnSpc>
                <a:spcPts val="1836"/>
              </a:lnSpc>
              <a:spcBef>
                <a:spcPts val="0"/>
              </a:spcBef>
              <a:spcAft>
                <a:spcPts val="0"/>
              </a:spcAft>
              <a:defRPr sz="1700" b="1">
                <a:solidFill>
                  <a:srgbClr val="754B87"/>
                </a:solidFill>
                <a:latin typeface="Arial"/>
              </a:defRPr>
            </a:pPr>
            <a:r>
              <a:t>4.</a:t>
            </a:r>
          </a:p>
        </p:txBody>
      </p:sp>
      <p:sp>
        <p:nvSpPr>
          <p:cNvPr id="60" name="TextBox 59"/>
          <p:cNvSpPr txBox="1"/>
          <p:nvPr/>
        </p:nvSpPr>
        <p:spPr>
          <a:xfrm>
            <a:off x="10110216" y="4695444"/>
            <a:ext cx="4026408" cy="822960"/>
          </a:xfrm>
          <a:prstGeom prst="rect">
            <a:avLst/>
          </a:prstGeom>
          <a:noFill/>
        </p:spPr>
        <p:txBody>
          <a:bodyPr wrap="square" tIns="36576" bIns="36576" anchor="t">
            <a:spAutoFit/>
          </a:bodyPr>
          <a:lstStyle/>
          <a:p>
            <a:pPr>
              <a:lnSpc>
                <a:spcPts val="1944"/>
              </a:lnSpc>
              <a:spcBef>
                <a:spcPts val="0"/>
              </a:spcBef>
              <a:spcAft>
                <a:spcPts val="0"/>
              </a:spcAft>
              <a:defRPr sz="1800" b="0">
                <a:solidFill>
                  <a:srgbClr val="182B3A"/>
                </a:solidFill>
                <a:latin typeface="Arial"/>
              </a:defRPr>
            </a:pPr>
            <a:r>
              <a:t>A baker has 286 biscuits. Full bags hold 8 and sell for £3 each. Find the sales income.</a:t>
            </a:r>
          </a:p>
        </p:txBody>
      </p:sp>
      <p:sp>
        <p:nvSpPr>
          <p:cNvPr id="61" name="Rectangle 60"/>
          <p:cNvSpPr/>
          <p:nvPr/>
        </p:nvSpPr>
        <p:spPr>
          <a:xfrm>
            <a:off x="9625584" y="5614416"/>
            <a:ext cx="4620768" cy="98298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62" name="TextBox 61"/>
          <p:cNvSpPr txBox="1"/>
          <p:nvPr/>
        </p:nvSpPr>
        <p:spPr>
          <a:xfrm>
            <a:off x="9698736" y="5724144"/>
            <a:ext cx="384048" cy="347472"/>
          </a:xfrm>
          <a:prstGeom prst="rect">
            <a:avLst/>
          </a:prstGeom>
          <a:noFill/>
        </p:spPr>
        <p:txBody>
          <a:bodyPr wrap="square" tIns="36576" bIns="36576" anchor="t">
            <a:spAutoFit/>
          </a:bodyPr>
          <a:lstStyle/>
          <a:p>
            <a:pPr>
              <a:lnSpc>
                <a:spcPts val="1836"/>
              </a:lnSpc>
              <a:spcBef>
                <a:spcPts val="0"/>
              </a:spcBef>
              <a:spcAft>
                <a:spcPts val="0"/>
              </a:spcAft>
              <a:defRPr sz="1700" b="1">
                <a:solidFill>
                  <a:srgbClr val="754B87"/>
                </a:solidFill>
                <a:latin typeface="Arial"/>
              </a:defRPr>
            </a:pPr>
            <a:r>
              <a:t>5.</a:t>
            </a:r>
          </a:p>
        </p:txBody>
      </p:sp>
      <p:sp>
        <p:nvSpPr>
          <p:cNvPr id="63" name="TextBox 62"/>
          <p:cNvSpPr txBox="1"/>
          <p:nvPr/>
        </p:nvSpPr>
        <p:spPr>
          <a:xfrm>
            <a:off x="10110216" y="5696712"/>
            <a:ext cx="4026408" cy="822960"/>
          </a:xfrm>
          <a:prstGeom prst="rect">
            <a:avLst/>
          </a:prstGeom>
          <a:noFill/>
        </p:spPr>
        <p:txBody>
          <a:bodyPr wrap="square" tIns="36576" bIns="36576" anchor="t">
            <a:spAutoFit/>
          </a:bodyPr>
          <a:lstStyle/>
          <a:p>
            <a:pPr>
              <a:lnSpc>
                <a:spcPts val="1944"/>
              </a:lnSpc>
              <a:spcBef>
                <a:spcPts val="0"/>
              </a:spcBef>
              <a:spcAft>
                <a:spcPts val="0"/>
              </a:spcAft>
              <a:defRPr sz="1800" b="0">
                <a:solidFill>
                  <a:srgbClr val="182B3A"/>
                </a:solidFill>
                <a:latin typeface="Arial"/>
              </a:defRPr>
            </a:pPr>
            <a:r>
              <a:t>Four friends share the cost of 18 tickets at £12 each equally. How much does each friend pay?</a:t>
            </a:r>
          </a:p>
        </p:txBody>
      </p:sp>
      <p:sp>
        <p:nvSpPr>
          <p:cNvPr id="64" name="Rectangle 63"/>
          <p:cNvSpPr/>
          <p:nvPr/>
        </p:nvSpPr>
        <p:spPr>
          <a:xfrm>
            <a:off x="9625584" y="6615683"/>
            <a:ext cx="4620768" cy="982980"/>
          </a:xfrm>
          <a:prstGeom prst="rect">
            <a:avLst/>
          </a:prstGeom>
          <a:solidFill>
            <a:srgbClr val="F5F0F7"/>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65" name="TextBox 64"/>
          <p:cNvSpPr txBox="1"/>
          <p:nvPr/>
        </p:nvSpPr>
        <p:spPr>
          <a:xfrm>
            <a:off x="9698736" y="6725412"/>
            <a:ext cx="384048" cy="347472"/>
          </a:xfrm>
          <a:prstGeom prst="rect">
            <a:avLst/>
          </a:prstGeom>
          <a:noFill/>
        </p:spPr>
        <p:txBody>
          <a:bodyPr wrap="square" tIns="36576" bIns="36576" anchor="t">
            <a:spAutoFit/>
          </a:bodyPr>
          <a:lstStyle/>
          <a:p>
            <a:pPr>
              <a:lnSpc>
                <a:spcPts val="1836"/>
              </a:lnSpc>
              <a:spcBef>
                <a:spcPts val="0"/>
              </a:spcBef>
              <a:spcAft>
                <a:spcPts val="0"/>
              </a:spcAft>
              <a:defRPr sz="1700" b="1">
                <a:solidFill>
                  <a:srgbClr val="754B87"/>
                </a:solidFill>
                <a:latin typeface="Arial"/>
              </a:defRPr>
            </a:pPr>
            <a:r>
              <a:t>6.</a:t>
            </a:r>
          </a:p>
        </p:txBody>
      </p:sp>
      <p:sp>
        <p:nvSpPr>
          <p:cNvPr id="66" name="TextBox 65"/>
          <p:cNvSpPr txBox="1"/>
          <p:nvPr/>
        </p:nvSpPr>
        <p:spPr>
          <a:xfrm>
            <a:off x="10110216" y="6697979"/>
            <a:ext cx="4026408" cy="822960"/>
          </a:xfrm>
          <a:prstGeom prst="rect">
            <a:avLst/>
          </a:prstGeom>
          <a:noFill/>
        </p:spPr>
        <p:txBody>
          <a:bodyPr wrap="square" tIns="36576" bIns="36576" anchor="t">
            <a:spAutoFit/>
          </a:bodyPr>
          <a:lstStyle/>
          <a:p>
            <a:pPr>
              <a:lnSpc>
                <a:spcPts val="1944"/>
              </a:lnSpc>
              <a:spcBef>
                <a:spcPts val="0"/>
              </a:spcBef>
              <a:spcAft>
                <a:spcPts val="0"/>
              </a:spcAft>
              <a:defRPr sz="1800" b="0">
                <a:solidFill>
                  <a:srgbClr val="182B3A"/>
                </a:solidFill>
                <a:latin typeface="Arial"/>
              </a:defRPr>
            </a:pPr>
            <a:r>
              <a:t>A shop sells 17 cartons of 24 pens at £2 per pen. Find the total sales income.</a:t>
            </a:r>
          </a:p>
        </p:txBody>
      </p:sp>
      <p:sp>
        <p:nvSpPr>
          <p:cNvPr id="67" name="Progression curved arrow: Thread 1 to Thread 2"/>
          <p:cNvSpPr/>
          <p:nvPr/>
        </p:nvSpPr>
        <p:spPr>
          <a:xfrm>
            <a:off x="4671059" y="7534005"/>
            <a:ext cx="621792" cy="314053"/>
          </a:xfrm>
          <a:custGeom>
            <a:avLst/>
            <a:gdLst/>
            <a:ahLst/>
            <a:cxnLst/>
            <a:rect l="0" t="0" r="100000" b="100000"/>
            <a:pathLst>
              <a:path w="100000" h="100000" fill="none">
                <a:moveTo>
                  <a:pt x="6970" y="48439"/>
                </a:moveTo>
                <a:cubicBezTo>
                  <a:pt x="40678" y="114499"/>
                  <a:pt x="73026" y="88145"/>
                  <a:pt x="93030" y="13799"/>
                </a:cubicBezTo>
              </a:path>
              <a:path w="100000" h="100000" fill="none">
                <a:moveTo>
                  <a:pt x="69018" y="40431"/>
                </a:moveTo>
                <a:lnTo>
                  <a:pt x="93030" y="13799"/>
                </a:lnTo>
                <a:lnTo>
                  <a:pt x="92217" y="66207"/>
                </a:lnTo>
              </a:path>
            </a:pathLst>
          </a:custGeom>
          <a:noFill/>
          <a:ln w="64449" cap="rnd">
            <a:solidFill>
              <a:schemeClr val="accent6">
                <a:lumMod val="60000"/>
                <a:lumOff val="40000"/>
              </a:schemeClr>
            </a:solidFill>
            <a:round/>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68" name="Progression curved arrow: Thread 2 to Thread 3"/>
          <p:cNvSpPr/>
          <p:nvPr/>
        </p:nvSpPr>
        <p:spPr>
          <a:xfrm>
            <a:off x="9243991" y="7525511"/>
            <a:ext cx="621792" cy="314053"/>
          </a:xfrm>
          <a:custGeom>
            <a:avLst/>
            <a:gdLst/>
            <a:ahLst/>
            <a:cxnLst/>
            <a:rect l="0" t="0" r="100000" b="100000"/>
            <a:pathLst>
              <a:path w="100000" h="100000" fill="none">
                <a:moveTo>
                  <a:pt x="6970" y="48439"/>
                </a:moveTo>
                <a:cubicBezTo>
                  <a:pt x="40678" y="114499"/>
                  <a:pt x="73026" y="88145"/>
                  <a:pt x="93030" y="13799"/>
                </a:cubicBezTo>
              </a:path>
              <a:path w="100000" h="100000" fill="none">
                <a:moveTo>
                  <a:pt x="69018" y="40431"/>
                </a:moveTo>
                <a:lnTo>
                  <a:pt x="93030" y="13799"/>
                </a:lnTo>
                <a:lnTo>
                  <a:pt x="92217" y="66207"/>
                </a:lnTo>
              </a:path>
            </a:pathLst>
          </a:custGeom>
          <a:noFill/>
          <a:ln w="64449" cap="rnd">
            <a:solidFill>
              <a:schemeClr val="accent6">
                <a:lumMod val="60000"/>
                <a:lumOff val="40000"/>
              </a:schemeClr>
            </a:solidFill>
            <a:round/>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Tree>
  </p:cSld>
  <p:clrMapOvr>
    <a:masterClrMapping/>
  </p:clrMapOvr>
</p:sld>
</file>

<file path=ppt/slides/slide57.xml><?xml version="1.0" encoding="utf-8"?>
<p:sld xmlns:a="http://schemas.openxmlformats.org/drawingml/2006/main" xmlns:p="http://schemas.openxmlformats.org/presentationml/2006/main" xmlns:r="http://schemas.openxmlformats.org/officeDocument/2006/relationships">
  <p:cSld>
    <p:bg>
      <p:bgPr>
        <a:solidFill>
          <a:srgbClr val="F7F8FA"/>
        </a:solidFill>
        <a:effectLst/>
      </p:bgPr>
    </p:bg>
    <p:spTree>
      <p:nvGrpSpPr>
        <p:cNvPr id="1" name=""/>
        <p:cNvGrpSpPr/>
        <p:nvPr/>
      </p:nvGrpSpPr>
      <p:grpSpPr/>
      <p:sp>
        <p:nvSpPr>
          <p:cNvPr id="2" name="Rectangle 1"/>
          <p:cNvSpPr/>
          <p:nvPr/>
        </p:nvSpPr>
        <p:spPr>
          <a:xfrm>
            <a:off x="0" y="0"/>
            <a:ext cx="14630400" cy="91440"/>
          </a:xfrm>
          <a:prstGeom prst="rect">
            <a:avLst/>
          </a:prstGeom>
          <a:solidFill>
            <a:srgbClr val="754B87"/>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3" name="TextBox 2"/>
          <p:cNvSpPr txBox="1"/>
          <p:nvPr/>
        </p:nvSpPr>
        <p:spPr>
          <a:xfrm>
            <a:off x="384048" y="219456"/>
            <a:ext cx="12435840" cy="448056"/>
          </a:xfrm>
          <a:prstGeom prst="rect">
            <a:avLst/>
          </a:prstGeom>
          <a:noFill/>
        </p:spPr>
        <p:txBody>
          <a:bodyPr wrap="square" tIns="36576" bIns="36576" anchor="t">
            <a:spAutoFit/>
          </a:bodyPr>
          <a:lstStyle/>
          <a:p>
            <a:pPr>
              <a:lnSpc>
                <a:spcPts val="3132"/>
              </a:lnSpc>
              <a:spcBef>
                <a:spcPts val="0"/>
              </a:spcBef>
              <a:spcAft>
                <a:spcPts val="0"/>
              </a:spcAft>
              <a:defRPr sz="2900" b="1">
                <a:solidFill>
                  <a:srgbClr val="182B3A"/>
                </a:solidFill>
                <a:latin typeface="Arial"/>
              </a:defRPr>
            </a:pPr>
            <a:r>
              <a:t>Application to Exam Problems</a:t>
            </a:r>
          </a:p>
        </p:txBody>
      </p:sp>
      <p:sp>
        <p:nvSpPr>
          <p:cNvPr id="4" name="TextBox 3"/>
          <p:cNvSpPr txBox="1"/>
          <p:nvPr/>
        </p:nvSpPr>
        <p:spPr>
          <a:xfrm>
            <a:off x="384048" y="713232"/>
            <a:ext cx="13533120" cy="274320"/>
          </a:xfrm>
          <a:prstGeom prst="rect">
            <a:avLst/>
          </a:prstGeom>
          <a:noFill/>
        </p:spPr>
        <p:txBody>
          <a:bodyPr wrap="square" tIns="36576" bIns="36576" anchor="t">
            <a:spAutoFit/>
          </a:bodyPr>
          <a:lstStyle/>
          <a:p>
            <a:pPr>
              <a:lnSpc>
                <a:spcPts val="1512"/>
              </a:lnSpc>
              <a:spcBef>
                <a:spcPts val="0"/>
              </a:spcBef>
              <a:spcAft>
                <a:spcPts val="0"/>
              </a:spcAft>
              <a:defRPr sz="1400" b="0">
                <a:solidFill>
                  <a:srgbClr val="526472"/>
                </a:solidFill>
                <a:latin typeface="Arial"/>
              </a:defRPr>
            </a:pPr>
            <a:r>
              <a:t>Independent practice 3  •  Choose a column. Show your working and check your answers.</a:t>
            </a:r>
          </a:p>
        </p:txBody>
      </p:sp>
      <p:sp>
        <p:nvSpPr>
          <p:cNvPr id="5" name="TextBox 4"/>
          <p:cNvSpPr txBox="1"/>
          <p:nvPr/>
        </p:nvSpPr>
        <p:spPr>
          <a:xfrm>
            <a:off x="384048" y="7882127"/>
            <a:ext cx="10058400" cy="210312"/>
          </a:xfrm>
          <a:prstGeom prst="rect">
            <a:avLst/>
          </a:prstGeom>
          <a:noFill/>
        </p:spPr>
        <p:txBody>
          <a:bodyPr wrap="square" tIns="36576" bIns="36576" anchor="t">
            <a:spAutoFit/>
          </a:bodyPr>
          <a:lstStyle/>
          <a:p>
            <a:pPr>
              <a:lnSpc>
                <a:spcPts val="1188"/>
              </a:lnSpc>
              <a:spcBef>
                <a:spcPts val="0"/>
              </a:spcBef>
              <a:spcAft>
                <a:spcPts val="0"/>
              </a:spcAft>
              <a:defRPr sz="1100" b="0">
                <a:solidFill>
                  <a:srgbClr val="526472"/>
                </a:solidFill>
                <a:latin typeface="Arial"/>
              </a:defRPr>
            </a:pPr>
            <a:r>
              <a:t>GCSE Maths revision  •  Record your working in your booklet or webapp.</a:t>
            </a:r>
          </a:p>
        </p:txBody>
      </p:sp>
      <p:sp>
        <p:nvSpPr>
          <p:cNvPr id="6" name="TextBox 5"/>
          <p:cNvSpPr txBox="1"/>
          <p:nvPr/>
        </p:nvSpPr>
        <p:spPr>
          <a:xfrm>
            <a:off x="11430000" y="7863840"/>
            <a:ext cx="2788920" cy="228600"/>
          </a:xfrm>
          <a:prstGeom prst="rect">
            <a:avLst/>
          </a:prstGeom>
          <a:noFill/>
        </p:spPr>
        <p:txBody>
          <a:bodyPr wrap="square" tIns="36576" bIns="36576" anchor="t">
            <a:spAutoFit/>
          </a:bodyPr>
          <a:lstStyle/>
          <a:p>
            <a:pPr>
              <a:lnSpc>
                <a:spcPts val="1188"/>
              </a:lnSpc>
              <a:spcBef>
                <a:spcPts val="0"/>
              </a:spcBef>
              <a:spcAft>
                <a:spcPts val="0"/>
              </a:spcAft>
              <a:defRPr sz="1100" b="0">
                <a:solidFill>
                  <a:srgbClr val="526472"/>
                </a:solidFill>
                <a:latin typeface="Arial"/>
              </a:defRPr>
            </a:pPr>
            <a:r>
              <a:t>M03-S06  •  Topic slide 8</a:t>
            </a:r>
          </a:p>
        </p:txBody>
      </p:sp>
      <p:sp>
        <p:nvSpPr>
          <p:cNvPr id="7" name="Rectangle 6"/>
          <p:cNvSpPr/>
          <p:nvPr/>
        </p:nvSpPr>
        <p:spPr>
          <a:xfrm>
            <a:off x="384048" y="1124712"/>
            <a:ext cx="4620768" cy="438912"/>
          </a:xfrm>
          <a:prstGeom prst="rect">
            <a:avLst/>
          </a:prstGeom>
          <a:solidFill>
            <a:srgbClr val="176B73"/>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8" name="TextBox 7"/>
          <p:cNvSpPr txBox="1"/>
          <p:nvPr/>
        </p:nvSpPr>
        <p:spPr>
          <a:xfrm>
            <a:off x="438912" y="1152144"/>
            <a:ext cx="4511040" cy="338328"/>
          </a:xfrm>
          <a:prstGeom prst="rect">
            <a:avLst/>
          </a:prstGeom>
          <a:noFill/>
        </p:spPr>
        <p:txBody>
          <a:bodyPr wrap="square" tIns="36576" bIns="36576" anchor="t">
            <a:spAutoFit/>
          </a:bodyPr>
          <a:lstStyle/>
          <a:p>
            <a:pPr>
              <a:lnSpc>
                <a:spcPts val="2160"/>
              </a:lnSpc>
              <a:spcBef>
                <a:spcPts val="0"/>
              </a:spcBef>
              <a:spcAft>
                <a:spcPts val="0"/>
              </a:spcAft>
              <a:defRPr sz="2000" b="1">
                <a:solidFill>
                  <a:srgbClr val="FFFFFF"/>
                </a:solidFill>
                <a:latin typeface="Arial"/>
              </a:defRPr>
            </a:pPr>
            <a:r>
              <a:t>Start</a:t>
            </a:r>
          </a:p>
        </p:txBody>
      </p:sp>
      <p:sp>
        <p:nvSpPr>
          <p:cNvPr id="9" name="Rectangle 8"/>
          <p:cNvSpPr/>
          <p:nvPr/>
        </p:nvSpPr>
        <p:spPr>
          <a:xfrm>
            <a:off x="5004816" y="1124712"/>
            <a:ext cx="4620768" cy="438912"/>
          </a:xfrm>
          <a:prstGeom prst="rect">
            <a:avLst/>
          </a:prstGeom>
          <a:solidFill>
            <a:srgbClr val="3559A2"/>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0" name="TextBox 9"/>
          <p:cNvSpPr txBox="1"/>
          <p:nvPr/>
        </p:nvSpPr>
        <p:spPr>
          <a:xfrm>
            <a:off x="5059680" y="1152144"/>
            <a:ext cx="4511040" cy="338328"/>
          </a:xfrm>
          <a:prstGeom prst="rect">
            <a:avLst/>
          </a:prstGeom>
          <a:noFill/>
        </p:spPr>
        <p:txBody>
          <a:bodyPr wrap="square" tIns="36576" bIns="36576" anchor="t">
            <a:spAutoFit/>
          </a:bodyPr>
          <a:lstStyle/>
          <a:p>
            <a:pPr>
              <a:lnSpc>
                <a:spcPts val="2160"/>
              </a:lnSpc>
              <a:spcBef>
                <a:spcPts val="0"/>
              </a:spcBef>
              <a:spcAft>
                <a:spcPts val="0"/>
              </a:spcAft>
              <a:defRPr sz="2000" b="1">
                <a:solidFill>
                  <a:srgbClr val="FFFFFF"/>
                </a:solidFill>
                <a:latin typeface="Arial"/>
              </a:defRPr>
            </a:pPr>
            <a:r>
              <a:t>Build</a:t>
            </a:r>
          </a:p>
        </p:txBody>
      </p:sp>
      <p:sp>
        <p:nvSpPr>
          <p:cNvPr id="11" name="Rectangle 10"/>
          <p:cNvSpPr/>
          <p:nvPr/>
        </p:nvSpPr>
        <p:spPr>
          <a:xfrm>
            <a:off x="9625584" y="1124712"/>
            <a:ext cx="4620768" cy="438912"/>
          </a:xfrm>
          <a:prstGeom prst="rect">
            <a:avLst/>
          </a:prstGeom>
          <a:solidFill>
            <a:srgbClr val="754B87"/>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2" name="TextBox 11"/>
          <p:cNvSpPr txBox="1"/>
          <p:nvPr/>
        </p:nvSpPr>
        <p:spPr>
          <a:xfrm>
            <a:off x="9680448" y="1152144"/>
            <a:ext cx="4511040" cy="338328"/>
          </a:xfrm>
          <a:prstGeom prst="rect">
            <a:avLst/>
          </a:prstGeom>
          <a:noFill/>
        </p:spPr>
        <p:txBody>
          <a:bodyPr wrap="square" tIns="36576" bIns="36576" anchor="t">
            <a:spAutoFit/>
          </a:bodyPr>
          <a:lstStyle/>
          <a:p>
            <a:pPr>
              <a:lnSpc>
                <a:spcPts val="2160"/>
              </a:lnSpc>
              <a:spcBef>
                <a:spcPts val="0"/>
              </a:spcBef>
              <a:spcAft>
                <a:spcPts val="0"/>
              </a:spcAft>
              <a:defRPr sz="2000" b="1">
                <a:solidFill>
                  <a:srgbClr val="FFFFFF"/>
                </a:solidFill>
                <a:latin typeface="Arial"/>
              </a:defRPr>
            </a:pPr>
            <a:r>
              <a:t>Confidence</a:t>
            </a:r>
          </a:p>
        </p:txBody>
      </p:sp>
      <p:sp>
        <p:nvSpPr>
          <p:cNvPr id="13" name="Rectangle 12"/>
          <p:cNvSpPr/>
          <p:nvPr/>
        </p:nvSpPr>
        <p:spPr>
          <a:xfrm>
            <a:off x="384048" y="1609344"/>
            <a:ext cx="4620768" cy="98298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4" name="TextBox 13"/>
          <p:cNvSpPr txBox="1"/>
          <p:nvPr/>
        </p:nvSpPr>
        <p:spPr>
          <a:xfrm>
            <a:off x="457200" y="1719072"/>
            <a:ext cx="384048" cy="347472"/>
          </a:xfrm>
          <a:prstGeom prst="rect">
            <a:avLst/>
          </a:prstGeom>
          <a:noFill/>
        </p:spPr>
        <p:txBody>
          <a:bodyPr wrap="square" tIns="36576" bIns="36576" anchor="t">
            <a:spAutoFit/>
          </a:bodyPr>
          <a:lstStyle/>
          <a:p>
            <a:pPr>
              <a:lnSpc>
                <a:spcPts val="1836"/>
              </a:lnSpc>
              <a:spcBef>
                <a:spcPts val="0"/>
              </a:spcBef>
              <a:spcAft>
                <a:spcPts val="0"/>
              </a:spcAft>
              <a:defRPr sz="1700" b="1">
                <a:solidFill>
                  <a:srgbClr val="176B73"/>
                </a:solidFill>
                <a:latin typeface="Arial"/>
              </a:defRPr>
            </a:pPr>
            <a:r>
              <a:t>1.</a:t>
            </a:r>
          </a:p>
        </p:txBody>
      </p:sp>
      <p:sp>
        <p:nvSpPr>
          <p:cNvPr id="15" name="TextBox 14"/>
          <p:cNvSpPr txBox="1"/>
          <p:nvPr/>
        </p:nvSpPr>
        <p:spPr>
          <a:xfrm>
            <a:off x="868680" y="1691640"/>
            <a:ext cx="4026408" cy="822960"/>
          </a:xfrm>
          <a:prstGeom prst="rect">
            <a:avLst/>
          </a:prstGeom>
          <a:noFill/>
        </p:spPr>
        <p:txBody>
          <a:bodyPr wrap="square" tIns="36576" bIns="36576" anchor="t">
            <a:spAutoFit/>
          </a:bodyPr>
          <a:lstStyle/>
          <a:p>
            <a:pPr>
              <a:lnSpc>
                <a:spcPts val="1944"/>
              </a:lnSpc>
              <a:spcBef>
                <a:spcPts val="0"/>
              </a:spcBef>
              <a:spcAft>
                <a:spcPts val="0"/>
              </a:spcAft>
              <a:defRPr sz="1800" b="0">
                <a:solidFill>
                  <a:srgbClr val="182B3A"/>
                </a:solidFill>
                <a:latin typeface="Arial"/>
              </a:defRPr>
            </a:pPr>
            <a:r>
              <a:t>16 boxes each hold 35 cables. How many cables are there?</a:t>
            </a:r>
          </a:p>
        </p:txBody>
      </p:sp>
      <p:sp>
        <p:nvSpPr>
          <p:cNvPr id="16" name="Rectangle 15"/>
          <p:cNvSpPr/>
          <p:nvPr/>
        </p:nvSpPr>
        <p:spPr>
          <a:xfrm>
            <a:off x="384048" y="2610612"/>
            <a:ext cx="4620768" cy="982980"/>
          </a:xfrm>
          <a:prstGeom prst="rect">
            <a:avLst/>
          </a:prstGeom>
          <a:solidFill>
            <a:srgbClr val="EDF6F5"/>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7" name="TextBox 16"/>
          <p:cNvSpPr txBox="1"/>
          <p:nvPr/>
        </p:nvSpPr>
        <p:spPr>
          <a:xfrm>
            <a:off x="457200" y="2720340"/>
            <a:ext cx="384048" cy="347472"/>
          </a:xfrm>
          <a:prstGeom prst="rect">
            <a:avLst/>
          </a:prstGeom>
          <a:noFill/>
        </p:spPr>
        <p:txBody>
          <a:bodyPr wrap="square" tIns="36576" bIns="36576" anchor="t">
            <a:spAutoFit/>
          </a:bodyPr>
          <a:lstStyle/>
          <a:p>
            <a:pPr>
              <a:lnSpc>
                <a:spcPts val="1836"/>
              </a:lnSpc>
              <a:spcBef>
                <a:spcPts val="0"/>
              </a:spcBef>
              <a:spcAft>
                <a:spcPts val="0"/>
              </a:spcAft>
              <a:defRPr sz="1700" b="1">
                <a:solidFill>
                  <a:srgbClr val="176B73"/>
                </a:solidFill>
                <a:latin typeface="Arial"/>
              </a:defRPr>
            </a:pPr>
            <a:r>
              <a:t>2.</a:t>
            </a:r>
          </a:p>
        </p:txBody>
      </p:sp>
      <p:sp>
        <p:nvSpPr>
          <p:cNvPr id="18" name="TextBox 17"/>
          <p:cNvSpPr txBox="1"/>
          <p:nvPr/>
        </p:nvSpPr>
        <p:spPr>
          <a:xfrm>
            <a:off x="868680" y="2692908"/>
            <a:ext cx="4026408" cy="822960"/>
          </a:xfrm>
          <a:prstGeom prst="rect">
            <a:avLst/>
          </a:prstGeom>
          <a:noFill/>
        </p:spPr>
        <p:txBody>
          <a:bodyPr wrap="square" tIns="36576" bIns="36576" anchor="t">
            <a:spAutoFit/>
          </a:bodyPr>
          <a:lstStyle/>
          <a:p>
            <a:pPr>
              <a:lnSpc>
                <a:spcPts val="1944"/>
              </a:lnSpc>
              <a:spcBef>
                <a:spcPts val="0"/>
              </a:spcBef>
              <a:spcAft>
                <a:spcPts val="0"/>
              </a:spcAft>
              <a:defRPr sz="1800" b="0">
                <a:solidFill>
                  <a:srgbClr val="182B3A"/>
                </a:solidFill>
                <a:latin typeface="Arial"/>
              </a:defRPr>
            </a:pPr>
            <a:r>
              <a:t>252 stickers are shared equally among 7 students. How many does each student get?</a:t>
            </a:r>
          </a:p>
        </p:txBody>
      </p:sp>
      <p:sp>
        <p:nvSpPr>
          <p:cNvPr id="19" name="Rectangle 18"/>
          <p:cNvSpPr/>
          <p:nvPr/>
        </p:nvSpPr>
        <p:spPr>
          <a:xfrm>
            <a:off x="384048" y="3611880"/>
            <a:ext cx="4620768" cy="98298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20" name="TextBox 19"/>
          <p:cNvSpPr txBox="1"/>
          <p:nvPr/>
        </p:nvSpPr>
        <p:spPr>
          <a:xfrm>
            <a:off x="457200" y="3721608"/>
            <a:ext cx="384048" cy="347472"/>
          </a:xfrm>
          <a:prstGeom prst="rect">
            <a:avLst/>
          </a:prstGeom>
          <a:noFill/>
        </p:spPr>
        <p:txBody>
          <a:bodyPr wrap="square" tIns="36576" bIns="36576" anchor="t">
            <a:spAutoFit/>
          </a:bodyPr>
          <a:lstStyle/>
          <a:p>
            <a:pPr>
              <a:lnSpc>
                <a:spcPts val="1836"/>
              </a:lnSpc>
              <a:spcBef>
                <a:spcPts val="0"/>
              </a:spcBef>
              <a:spcAft>
                <a:spcPts val="0"/>
              </a:spcAft>
              <a:defRPr sz="1700" b="1">
                <a:solidFill>
                  <a:srgbClr val="176B73"/>
                </a:solidFill>
                <a:latin typeface="Arial"/>
              </a:defRPr>
            </a:pPr>
            <a:r>
              <a:t>3.</a:t>
            </a:r>
          </a:p>
        </p:txBody>
      </p:sp>
      <p:sp>
        <p:nvSpPr>
          <p:cNvPr id="21" name="TextBox 20"/>
          <p:cNvSpPr txBox="1"/>
          <p:nvPr/>
        </p:nvSpPr>
        <p:spPr>
          <a:xfrm>
            <a:off x="868680" y="3694176"/>
            <a:ext cx="4026408" cy="822960"/>
          </a:xfrm>
          <a:prstGeom prst="rect">
            <a:avLst/>
          </a:prstGeom>
          <a:noFill/>
        </p:spPr>
        <p:txBody>
          <a:bodyPr wrap="square" tIns="36576" bIns="36576" anchor="t">
            <a:spAutoFit/>
          </a:bodyPr>
          <a:lstStyle/>
          <a:p>
            <a:pPr>
              <a:lnSpc>
                <a:spcPts val="1944"/>
              </a:lnSpc>
              <a:spcBef>
                <a:spcPts val="0"/>
              </a:spcBef>
              <a:spcAft>
                <a:spcPts val="0"/>
              </a:spcAft>
              <a:defRPr sz="1800" b="0">
                <a:solidFill>
                  <a:srgbClr val="182B3A"/>
                </a:solidFill>
                <a:latin typeface="Arial"/>
              </a:defRPr>
            </a:pPr>
            <a:r>
              <a:t>A cinema has 28 rows of 24 seats. Find the total number of seats.</a:t>
            </a:r>
          </a:p>
        </p:txBody>
      </p:sp>
      <p:sp>
        <p:nvSpPr>
          <p:cNvPr id="22" name="Rectangle 21"/>
          <p:cNvSpPr/>
          <p:nvPr/>
        </p:nvSpPr>
        <p:spPr>
          <a:xfrm>
            <a:off x="384048" y="4613148"/>
            <a:ext cx="4620768" cy="982980"/>
          </a:xfrm>
          <a:prstGeom prst="rect">
            <a:avLst/>
          </a:prstGeom>
          <a:solidFill>
            <a:srgbClr val="EDF6F5"/>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23" name="TextBox 22"/>
          <p:cNvSpPr txBox="1"/>
          <p:nvPr/>
        </p:nvSpPr>
        <p:spPr>
          <a:xfrm>
            <a:off x="457200" y="4722876"/>
            <a:ext cx="384048" cy="347472"/>
          </a:xfrm>
          <a:prstGeom prst="rect">
            <a:avLst/>
          </a:prstGeom>
          <a:noFill/>
        </p:spPr>
        <p:txBody>
          <a:bodyPr wrap="square" tIns="36576" bIns="36576" anchor="t">
            <a:spAutoFit/>
          </a:bodyPr>
          <a:lstStyle/>
          <a:p>
            <a:pPr>
              <a:lnSpc>
                <a:spcPts val="1836"/>
              </a:lnSpc>
              <a:spcBef>
                <a:spcPts val="0"/>
              </a:spcBef>
              <a:spcAft>
                <a:spcPts val="0"/>
              </a:spcAft>
              <a:defRPr sz="1700" b="1">
                <a:solidFill>
                  <a:srgbClr val="176B73"/>
                </a:solidFill>
                <a:latin typeface="Arial"/>
              </a:defRPr>
            </a:pPr>
            <a:r>
              <a:t>4.</a:t>
            </a:r>
          </a:p>
        </p:txBody>
      </p:sp>
      <p:sp>
        <p:nvSpPr>
          <p:cNvPr id="24" name="TextBox 23"/>
          <p:cNvSpPr txBox="1"/>
          <p:nvPr/>
        </p:nvSpPr>
        <p:spPr>
          <a:xfrm>
            <a:off x="868680" y="4695444"/>
            <a:ext cx="4026408" cy="822960"/>
          </a:xfrm>
          <a:prstGeom prst="rect">
            <a:avLst/>
          </a:prstGeom>
          <a:noFill/>
        </p:spPr>
        <p:txBody>
          <a:bodyPr wrap="square" tIns="36576" bIns="36576" anchor="t">
            <a:spAutoFit/>
          </a:bodyPr>
          <a:lstStyle/>
          <a:p>
            <a:pPr>
              <a:lnSpc>
                <a:spcPts val="1944"/>
              </a:lnSpc>
              <a:spcBef>
                <a:spcPts val="0"/>
              </a:spcBef>
              <a:spcAft>
                <a:spcPts val="0"/>
              </a:spcAft>
              <a:defRPr sz="1800" b="0">
                <a:solidFill>
                  <a:srgbClr val="182B3A"/>
                </a:solidFill>
                <a:latin typeface="Arial"/>
              </a:defRPr>
            </a:pPr>
            <a:r>
              <a:t>A 336 m cable is cut into 8 equal lengths. How long is each length?</a:t>
            </a:r>
          </a:p>
        </p:txBody>
      </p:sp>
      <p:sp>
        <p:nvSpPr>
          <p:cNvPr id="25" name="Rectangle 24"/>
          <p:cNvSpPr/>
          <p:nvPr/>
        </p:nvSpPr>
        <p:spPr>
          <a:xfrm>
            <a:off x="384048" y="5614416"/>
            <a:ext cx="4620768" cy="98298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26" name="TextBox 25"/>
          <p:cNvSpPr txBox="1"/>
          <p:nvPr/>
        </p:nvSpPr>
        <p:spPr>
          <a:xfrm>
            <a:off x="457200" y="5724144"/>
            <a:ext cx="384048" cy="347472"/>
          </a:xfrm>
          <a:prstGeom prst="rect">
            <a:avLst/>
          </a:prstGeom>
          <a:noFill/>
        </p:spPr>
        <p:txBody>
          <a:bodyPr wrap="square" tIns="36576" bIns="36576" anchor="t">
            <a:spAutoFit/>
          </a:bodyPr>
          <a:lstStyle/>
          <a:p>
            <a:pPr>
              <a:lnSpc>
                <a:spcPts val="1836"/>
              </a:lnSpc>
              <a:spcBef>
                <a:spcPts val="0"/>
              </a:spcBef>
              <a:spcAft>
                <a:spcPts val="0"/>
              </a:spcAft>
              <a:defRPr sz="1700" b="1">
                <a:solidFill>
                  <a:srgbClr val="176B73"/>
                </a:solidFill>
                <a:latin typeface="Arial"/>
              </a:defRPr>
            </a:pPr>
            <a:r>
              <a:t>5.</a:t>
            </a:r>
          </a:p>
        </p:txBody>
      </p:sp>
      <p:sp>
        <p:nvSpPr>
          <p:cNvPr id="27" name="TextBox 26"/>
          <p:cNvSpPr txBox="1"/>
          <p:nvPr/>
        </p:nvSpPr>
        <p:spPr>
          <a:xfrm>
            <a:off x="868680" y="5696712"/>
            <a:ext cx="4026408" cy="822960"/>
          </a:xfrm>
          <a:prstGeom prst="rect">
            <a:avLst/>
          </a:prstGeom>
          <a:noFill/>
        </p:spPr>
        <p:txBody>
          <a:bodyPr wrap="square" tIns="36576" bIns="36576" anchor="t">
            <a:spAutoFit/>
          </a:bodyPr>
          <a:lstStyle/>
          <a:p>
            <a:pPr>
              <a:lnSpc>
                <a:spcPts val="1944"/>
              </a:lnSpc>
              <a:spcBef>
                <a:spcPts val="0"/>
              </a:spcBef>
              <a:spcAft>
                <a:spcPts val="0"/>
              </a:spcAft>
              <a:defRPr sz="1800" b="0">
                <a:solidFill>
                  <a:srgbClr val="182B3A"/>
                </a:solidFill>
                <a:latin typeface="Arial"/>
              </a:defRPr>
            </a:pPr>
            <a:r>
              <a:t>A charity buys 19 packs of 32 cards. How many cards does it buy?</a:t>
            </a:r>
          </a:p>
        </p:txBody>
      </p:sp>
      <p:sp>
        <p:nvSpPr>
          <p:cNvPr id="28" name="Rectangle 27"/>
          <p:cNvSpPr/>
          <p:nvPr/>
        </p:nvSpPr>
        <p:spPr>
          <a:xfrm>
            <a:off x="384048" y="6615683"/>
            <a:ext cx="4620768" cy="982980"/>
          </a:xfrm>
          <a:prstGeom prst="rect">
            <a:avLst/>
          </a:prstGeom>
          <a:solidFill>
            <a:srgbClr val="EDF6F5"/>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29" name="TextBox 28"/>
          <p:cNvSpPr txBox="1"/>
          <p:nvPr/>
        </p:nvSpPr>
        <p:spPr>
          <a:xfrm>
            <a:off x="457200" y="6725412"/>
            <a:ext cx="384048" cy="347472"/>
          </a:xfrm>
          <a:prstGeom prst="rect">
            <a:avLst/>
          </a:prstGeom>
          <a:noFill/>
        </p:spPr>
        <p:txBody>
          <a:bodyPr wrap="square" tIns="36576" bIns="36576" anchor="t">
            <a:spAutoFit/>
          </a:bodyPr>
          <a:lstStyle/>
          <a:p>
            <a:pPr>
              <a:lnSpc>
                <a:spcPts val="1836"/>
              </a:lnSpc>
              <a:spcBef>
                <a:spcPts val="0"/>
              </a:spcBef>
              <a:spcAft>
                <a:spcPts val="0"/>
              </a:spcAft>
              <a:defRPr sz="1700" b="1">
                <a:solidFill>
                  <a:srgbClr val="176B73"/>
                </a:solidFill>
                <a:latin typeface="Arial"/>
              </a:defRPr>
            </a:pPr>
            <a:r>
              <a:t>6.</a:t>
            </a:r>
          </a:p>
        </p:txBody>
      </p:sp>
      <p:sp>
        <p:nvSpPr>
          <p:cNvPr id="30" name="TextBox 29"/>
          <p:cNvSpPr txBox="1"/>
          <p:nvPr/>
        </p:nvSpPr>
        <p:spPr>
          <a:xfrm>
            <a:off x="868680" y="6697979"/>
            <a:ext cx="4026408" cy="822960"/>
          </a:xfrm>
          <a:prstGeom prst="rect">
            <a:avLst/>
          </a:prstGeom>
          <a:noFill/>
        </p:spPr>
        <p:txBody>
          <a:bodyPr wrap="square" tIns="36576" bIns="36576" anchor="t">
            <a:spAutoFit/>
          </a:bodyPr>
          <a:lstStyle/>
          <a:p>
            <a:pPr>
              <a:lnSpc>
                <a:spcPts val="1944"/>
              </a:lnSpc>
              <a:spcBef>
                <a:spcPts val="0"/>
              </a:spcBef>
              <a:spcAft>
                <a:spcPts val="0"/>
              </a:spcAft>
              <a:defRPr sz="1800" b="0">
                <a:solidFill>
                  <a:srgbClr val="182B3A"/>
                </a:solidFill>
                <a:latin typeface="Arial"/>
              </a:defRPr>
            </a:pPr>
            <a:r>
              <a:t>£315 is shared equally among 9 people. How much does each receive?</a:t>
            </a:r>
          </a:p>
        </p:txBody>
      </p:sp>
      <p:sp>
        <p:nvSpPr>
          <p:cNvPr id="31" name="Rectangle 30"/>
          <p:cNvSpPr/>
          <p:nvPr/>
        </p:nvSpPr>
        <p:spPr>
          <a:xfrm>
            <a:off x="5004816" y="1609344"/>
            <a:ext cx="4620768" cy="98298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32" name="TextBox 31"/>
          <p:cNvSpPr txBox="1"/>
          <p:nvPr/>
        </p:nvSpPr>
        <p:spPr>
          <a:xfrm>
            <a:off x="5077968" y="1719072"/>
            <a:ext cx="384048" cy="347472"/>
          </a:xfrm>
          <a:prstGeom prst="rect">
            <a:avLst/>
          </a:prstGeom>
          <a:noFill/>
        </p:spPr>
        <p:txBody>
          <a:bodyPr wrap="square" tIns="36576" bIns="36576" anchor="t">
            <a:spAutoFit/>
          </a:bodyPr>
          <a:lstStyle/>
          <a:p>
            <a:pPr>
              <a:lnSpc>
                <a:spcPts val="1836"/>
              </a:lnSpc>
              <a:spcBef>
                <a:spcPts val="0"/>
              </a:spcBef>
              <a:spcAft>
                <a:spcPts val="0"/>
              </a:spcAft>
              <a:defRPr sz="1700" b="1">
                <a:solidFill>
                  <a:srgbClr val="3559A2"/>
                </a:solidFill>
                <a:latin typeface="Arial"/>
              </a:defRPr>
            </a:pPr>
            <a:r>
              <a:t>1.</a:t>
            </a:r>
          </a:p>
        </p:txBody>
      </p:sp>
      <p:sp>
        <p:nvSpPr>
          <p:cNvPr id="33" name="TextBox 32"/>
          <p:cNvSpPr txBox="1"/>
          <p:nvPr/>
        </p:nvSpPr>
        <p:spPr>
          <a:xfrm>
            <a:off x="5489448" y="1691640"/>
            <a:ext cx="4026408" cy="822960"/>
          </a:xfrm>
          <a:prstGeom prst="rect">
            <a:avLst/>
          </a:prstGeom>
          <a:noFill/>
        </p:spPr>
        <p:txBody>
          <a:bodyPr wrap="square" tIns="36576" bIns="36576" anchor="t">
            <a:spAutoFit/>
          </a:bodyPr>
          <a:lstStyle/>
          <a:p>
            <a:pPr>
              <a:lnSpc>
                <a:spcPts val="1944"/>
              </a:lnSpc>
              <a:spcBef>
                <a:spcPts val="0"/>
              </a:spcBef>
              <a:spcAft>
                <a:spcPts val="0"/>
              </a:spcAft>
              <a:defRPr sz="1800" b="0">
                <a:solidFill>
                  <a:srgbClr val="182B3A"/>
                </a:solidFill>
                <a:latin typeface="Arial"/>
              </a:defRPr>
            </a:pPr>
            <a:r>
              <a:t>245 apples are packed in bags of 8. How many full bags can be made?</a:t>
            </a:r>
          </a:p>
        </p:txBody>
      </p:sp>
      <p:sp>
        <p:nvSpPr>
          <p:cNvPr id="34" name="Rectangle 33"/>
          <p:cNvSpPr/>
          <p:nvPr/>
        </p:nvSpPr>
        <p:spPr>
          <a:xfrm>
            <a:off x="5004816" y="2610612"/>
            <a:ext cx="4620768" cy="982980"/>
          </a:xfrm>
          <a:prstGeom prst="rect">
            <a:avLst/>
          </a:prstGeom>
          <a:solidFill>
            <a:srgbClr val="EFF3FA"/>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35" name="TextBox 34"/>
          <p:cNvSpPr txBox="1"/>
          <p:nvPr/>
        </p:nvSpPr>
        <p:spPr>
          <a:xfrm>
            <a:off x="5077968" y="2720340"/>
            <a:ext cx="384048" cy="347472"/>
          </a:xfrm>
          <a:prstGeom prst="rect">
            <a:avLst/>
          </a:prstGeom>
          <a:noFill/>
        </p:spPr>
        <p:txBody>
          <a:bodyPr wrap="square" tIns="36576" bIns="36576" anchor="t">
            <a:spAutoFit/>
          </a:bodyPr>
          <a:lstStyle/>
          <a:p>
            <a:pPr>
              <a:lnSpc>
                <a:spcPts val="1836"/>
              </a:lnSpc>
              <a:spcBef>
                <a:spcPts val="0"/>
              </a:spcBef>
              <a:spcAft>
                <a:spcPts val="0"/>
              </a:spcAft>
              <a:defRPr sz="1700" b="1">
                <a:solidFill>
                  <a:srgbClr val="3559A2"/>
                </a:solidFill>
                <a:latin typeface="Arial"/>
              </a:defRPr>
            </a:pPr>
            <a:r>
              <a:t>2.</a:t>
            </a:r>
          </a:p>
        </p:txBody>
      </p:sp>
      <p:sp>
        <p:nvSpPr>
          <p:cNvPr id="36" name="TextBox 35"/>
          <p:cNvSpPr txBox="1"/>
          <p:nvPr/>
        </p:nvSpPr>
        <p:spPr>
          <a:xfrm>
            <a:off x="5489448" y="2692908"/>
            <a:ext cx="4026408" cy="822960"/>
          </a:xfrm>
          <a:prstGeom prst="rect">
            <a:avLst/>
          </a:prstGeom>
          <a:noFill/>
        </p:spPr>
        <p:txBody>
          <a:bodyPr wrap="square" tIns="36576" bIns="36576" anchor="t">
            <a:spAutoFit/>
          </a:bodyPr>
          <a:lstStyle/>
          <a:p>
            <a:pPr>
              <a:lnSpc>
                <a:spcPts val="1944"/>
              </a:lnSpc>
              <a:spcBef>
                <a:spcPts val="0"/>
              </a:spcBef>
              <a:spcAft>
                <a:spcPts val="0"/>
              </a:spcAft>
              <a:defRPr sz="1800" b="0">
                <a:solidFill>
                  <a:srgbClr val="182B3A"/>
                </a:solidFill>
                <a:latin typeface="Arial"/>
              </a:defRPr>
            </a:pPr>
            <a:r>
              <a:t>A hotel has 137 guests. Each shuttle carries 9 guests. How many shuttle trips are needed?</a:t>
            </a:r>
          </a:p>
        </p:txBody>
      </p:sp>
      <p:sp>
        <p:nvSpPr>
          <p:cNvPr id="37" name="Rectangle 36"/>
          <p:cNvSpPr/>
          <p:nvPr/>
        </p:nvSpPr>
        <p:spPr>
          <a:xfrm>
            <a:off x="5004816" y="3611880"/>
            <a:ext cx="4620768" cy="98298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38" name="TextBox 37"/>
          <p:cNvSpPr txBox="1"/>
          <p:nvPr/>
        </p:nvSpPr>
        <p:spPr>
          <a:xfrm>
            <a:off x="5077968" y="3721608"/>
            <a:ext cx="384048" cy="347472"/>
          </a:xfrm>
          <a:prstGeom prst="rect">
            <a:avLst/>
          </a:prstGeom>
          <a:noFill/>
        </p:spPr>
        <p:txBody>
          <a:bodyPr wrap="square" tIns="36576" bIns="36576" anchor="t">
            <a:spAutoFit/>
          </a:bodyPr>
          <a:lstStyle/>
          <a:p>
            <a:pPr>
              <a:lnSpc>
                <a:spcPts val="1836"/>
              </a:lnSpc>
              <a:spcBef>
                <a:spcPts val="0"/>
              </a:spcBef>
              <a:spcAft>
                <a:spcPts val="0"/>
              </a:spcAft>
              <a:defRPr sz="1700" b="1">
                <a:solidFill>
                  <a:srgbClr val="3559A2"/>
                </a:solidFill>
                <a:latin typeface="Arial"/>
              </a:defRPr>
            </a:pPr>
            <a:r>
              <a:t>3.</a:t>
            </a:r>
          </a:p>
        </p:txBody>
      </p:sp>
      <p:sp>
        <p:nvSpPr>
          <p:cNvPr id="39" name="TextBox 38"/>
          <p:cNvSpPr txBox="1"/>
          <p:nvPr/>
        </p:nvSpPr>
        <p:spPr>
          <a:xfrm>
            <a:off x="5489448" y="3694176"/>
            <a:ext cx="4026408" cy="822960"/>
          </a:xfrm>
          <a:prstGeom prst="rect">
            <a:avLst/>
          </a:prstGeom>
          <a:noFill/>
        </p:spPr>
        <p:txBody>
          <a:bodyPr wrap="square" tIns="36576" bIns="36576" anchor="t">
            <a:spAutoFit/>
          </a:bodyPr>
          <a:lstStyle/>
          <a:p>
            <a:pPr>
              <a:lnSpc>
                <a:spcPts val="1944"/>
              </a:lnSpc>
              <a:spcBef>
                <a:spcPts val="0"/>
              </a:spcBef>
              <a:spcAft>
                <a:spcPts val="0"/>
              </a:spcAft>
              <a:defRPr sz="1800" b="0">
                <a:solidFill>
                  <a:srgbClr val="182B3A"/>
                </a:solidFill>
                <a:latin typeface="Arial"/>
              </a:defRPr>
            </a:pPr>
            <a:r>
              <a:t>359 beads are used in bracelets of 12 beads. How many beads remain?</a:t>
            </a:r>
          </a:p>
        </p:txBody>
      </p:sp>
      <p:sp>
        <p:nvSpPr>
          <p:cNvPr id="40" name="Rectangle 39"/>
          <p:cNvSpPr/>
          <p:nvPr/>
        </p:nvSpPr>
        <p:spPr>
          <a:xfrm>
            <a:off x="5004816" y="4613148"/>
            <a:ext cx="4620768" cy="982980"/>
          </a:xfrm>
          <a:prstGeom prst="rect">
            <a:avLst/>
          </a:prstGeom>
          <a:solidFill>
            <a:srgbClr val="EFF3FA"/>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41" name="TextBox 40"/>
          <p:cNvSpPr txBox="1"/>
          <p:nvPr/>
        </p:nvSpPr>
        <p:spPr>
          <a:xfrm>
            <a:off x="5077968" y="4722876"/>
            <a:ext cx="384048" cy="347472"/>
          </a:xfrm>
          <a:prstGeom prst="rect">
            <a:avLst/>
          </a:prstGeom>
          <a:noFill/>
        </p:spPr>
        <p:txBody>
          <a:bodyPr wrap="square" tIns="36576" bIns="36576" anchor="t">
            <a:spAutoFit/>
          </a:bodyPr>
          <a:lstStyle/>
          <a:p>
            <a:pPr>
              <a:lnSpc>
                <a:spcPts val="1836"/>
              </a:lnSpc>
              <a:spcBef>
                <a:spcPts val="0"/>
              </a:spcBef>
              <a:spcAft>
                <a:spcPts val="0"/>
              </a:spcAft>
              <a:defRPr sz="1700" b="1">
                <a:solidFill>
                  <a:srgbClr val="3559A2"/>
                </a:solidFill>
                <a:latin typeface="Arial"/>
              </a:defRPr>
            </a:pPr>
            <a:r>
              <a:t>4.</a:t>
            </a:r>
          </a:p>
        </p:txBody>
      </p:sp>
      <p:sp>
        <p:nvSpPr>
          <p:cNvPr id="42" name="TextBox 41"/>
          <p:cNvSpPr txBox="1"/>
          <p:nvPr/>
        </p:nvSpPr>
        <p:spPr>
          <a:xfrm>
            <a:off x="5489448" y="4695444"/>
            <a:ext cx="4026408" cy="822960"/>
          </a:xfrm>
          <a:prstGeom prst="rect">
            <a:avLst/>
          </a:prstGeom>
          <a:noFill/>
        </p:spPr>
        <p:txBody>
          <a:bodyPr wrap="square" tIns="36576" bIns="36576" anchor="t">
            <a:spAutoFit/>
          </a:bodyPr>
          <a:lstStyle/>
          <a:p>
            <a:pPr>
              <a:lnSpc>
                <a:spcPts val="1944"/>
              </a:lnSpc>
              <a:spcBef>
                <a:spcPts val="0"/>
              </a:spcBef>
              <a:spcAft>
                <a:spcPts val="0"/>
              </a:spcAft>
              <a:defRPr sz="1800" b="0">
                <a:solidFill>
                  <a:srgbClr val="182B3A"/>
                </a:solidFill>
                <a:latin typeface="Arial"/>
              </a:defRPr>
            </a:pPr>
            <a:r>
              <a:t>A technician earns £23 per hour for 16 hours. Find their total wages.</a:t>
            </a:r>
          </a:p>
        </p:txBody>
      </p:sp>
      <p:sp>
        <p:nvSpPr>
          <p:cNvPr id="43" name="Rectangle 42"/>
          <p:cNvSpPr/>
          <p:nvPr/>
        </p:nvSpPr>
        <p:spPr>
          <a:xfrm>
            <a:off x="5004816" y="5614416"/>
            <a:ext cx="4620768" cy="98298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44" name="TextBox 43"/>
          <p:cNvSpPr txBox="1"/>
          <p:nvPr/>
        </p:nvSpPr>
        <p:spPr>
          <a:xfrm>
            <a:off x="5077968" y="5724144"/>
            <a:ext cx="384048" cy="347472"/>
          </a:xfrm>
          <a:prstGeom prst="rect">
            <a:avLst/>
          </a:prstGeom>
          <a:noFill/>
        </p:spPr>
        <p:txBody>
          <a:bodyPr wrap="square" tIns="36576" bIns="36576" anchor="t">
            <a:spAutoFit/>
          </a:bodyPr>
          <a:lstStyle/>
          <a:p>
            <a:pPr>
              <a:lnSpc>
                <a:spcPts val="1836"/>
              </a:lnSpc>
              <a:spcBef>
                <a:spcPts val="0"/>
              </a:spcBef>
              <a:spcAft>
                <a:spcPts val="0"/>
              </a:spcAft>
              <a:defRPr sz="1700" b="1">
                <a:solidFill>
                  <a:srgbClr val="3559A2"/>
                </a:solidFill>
                <a:latin typeface="Arial"/>
              </a:defRPr>
            </a:pPr>
            <a:r>
              <a:t>5.</a:t>
            </a:r>
          </a:p>
        </p:txBody>
      </p:sp>
      <p:sp>
        <p:nvSpPr>
          <p:cNvPr id="45" name="TextBox 44"/>
          <p:cNvSpPr txBox="1"/>
          <p:nvPr/>
        </p:nvSpPr>
        <p:spPr>
          <a:xfrm>
            <a:off x="5489448" y="5696712"/>
            <a:ext cx="4026408" cy="822960"/>
          </a:xfrm>
          <a:prstGeom prst="rect">
            <a:avLst/>
          </a:prstGeom>
          <a:noFill/>
        </p:spPr>
        <p:txBody>
          <a:bodyPr wrap="square" tIns="36576" bIns="36576" anchor="t">
            <a:spAutoFit/>
          </a:bodyPr>
          <a:lstStyle/>
          <a:p>
            <a:pPr>
              <a:lnSpc>
                <a:spcPts val="1944"/>
              </a:lnSpc>
              <a:spcBef>
                <a:spcPts val="0"/>
              </a:spcBef>
              <a:spcAft>
                <a:spcPts val="0"/>
              </a:spcAft>
              <a:defRPr sz="1800" b="0">
                <a:solidFill>
                  <a:srgbClr val="182B3A"/>
                </a:solidFill>
                <a:latin typeface="Arial"/>
              </a:defRPr>
            </a:pPr>
            <a:r>
              <a:t>A £186 bill is shared equally by 8 people. How much does each person pay?</a:t>
            </a:r>
          </a:p>
        </p:txBody>
      </p:sp>
      <p:sp>
        <p:nvSpPr>
          <p:cNvPr id="46" name="Rectangle 45"/>
          <p:cNvSpPr/>
          <p:nvPr/>
        </p:nvSpPr>
        <p:spPr>
          <a:xfrm>
            <a:off x="5004816" y="6615683"/>
            <a:ext cx="4620768" cy="982980"/>
          </a:xfrm>
          <a:prstGeom prst="rect">
            <a:avLst/>
          </a:prstGeom>
          <a:solidFill>
            <a:srgbClr val="EFF3FA"/>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47" name="TextBox 46"/>
          <p:cNvSpPr txBox="1"/>
          <p:nvPr/>
        </p:nvSpPr>
        <p:spPr>
          <a:xfrm>
            <a:off x="5077968" y="6725412"/>
            <a:ext cx="384048" cy="347472"/>
          </a:xfrm>
          <a:prstGeom prst="rect">
            <a:avLst/>
          </a:prstGeom>
          <a:noFill/>
        </p:spPr>
        <p:txBody>
          <a:bodyPr wrap="square" tIns="36576" bIns="36576" anchor="t">
            <a:spAutoFit/>
          </a:bodyPr>
          <a:lstStyle/>
          <a:p>
            <a:pPr>
              <a:lnSpc>
                <a:spcPts val="1836"/>
              </a:lnSpc>
              <a:spcBef>
                <a:spcPts val="0"/>
              </a:spcBef>
              <a:spcAft>
                <a:spcPts val="0"/>
              </a:spcAft>
              <a:defRPr sz="1700" b="1">
                <a:solidFill>
                  <a:srgbClr val="3559A2"/>
                </a:solidFill>
                <a:latin typeface="Arial"/>
              </a:defRPr>
            </a:pPr>
            <a:r>
              <a:t>6.</a:t>
            </a:r>
          </a:p>
        </p:txBody>
      </p:sp>
      <p:sp>
        <p:nvSpPr>
          <p:cNvPr id="48" name="TextBox 47"/>
          <p:cNvSpPr txBox="1"/>
          <p:nvPr/>
        </p:nvSpPr>
        <p:spPr>
          <a:xfrm>
            <a:off x="5489448" y="6697979"/>
            <a:ext cx="4026408" cy="822960"/>
          </a:xfrm>
          <a:prstGeom prst="rect">
            <a:avLst/>
          </a:prstGeom>
          <a:noFill/>
        </p:spPr>
        <p:txBody>
          <a:bodyPr wrap="square" tIns="36576" bIns="36576" anchor="t">
            <a:spAutoFit/>
          </a:bodyPr>
          <a:lstStyle/>
          <a:p>
            <a:pPr>
              <a:lnSpc>
                <a:spcPts val="1944"/>
              </a:lnSpc>
              <a:spcBef>
                <a:spcPts val="0"/>
              </a:spcBef>
              <a:spcAft>
                <a:spcPts val="0"/>
              </a:spcAft>
              <a:defRPr sz="1800" b="0">
                <a:solidFill>
                  <a:srgbClr val="182B3A"/>
                </a:solidFill>
                <a:latin typeface="Arial"/>
              </a:defRPr>
            </a:pPr>
            <a:r>
              <a:t>Each floor tile covers 25 cm². What area do 48 tiles cover?</a:t>
            </a:r>
          </a:p>
        </p:txBody>
      </p:sp>
      <p:sp>
        <p:nvSpPr>
          <p:cNvPr id="49" name="Rectangle 48"/>
          <p:cNvSpPr/>
          <p:nvPr/>
        </p:nvSpPr>
        <p:spPr>
          <a:xfrm>
            <a:off x="9625584" y="1609344"/>
            <a:ext cx="4620768" cy="98298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50" name="TextBox 49"/>
          <p:cNvSpPr txBox="1"/>
          <p:nvPr/>
        </p:nvSpPr>
        <p:spPr>
          <a:xfrm>
            <a:off x="9698736" y="1719072"/>
            <a:ext cx="384048" cy="347472"/>
          </a:xfrm>
          <a:prstGeom prst="rect">
            <a:avLst/>
          </a:prstGeom>
          <a:noFill/>
        </p:spPr>
        <p:txBody>
          <a:bodyPr wrap="square" tIns="36576" bIns="36576" anchor="t">
            <a:spAutoFit/>
          </a:bodyPr>
          <a:lstStyle/>
          <a:p>
            <a:pPr>
              <a:lnSpc>
                <a:spcPts val="1836"/>
              </a:lnSpc>
              <a:spcBef>
                <a:spcPts val="0"/>
              </a:spcBef>
              <a:spcAft>
                <a:spcPts val="0"/>
              </a:spcAft>
              <a:defRPr sz="1700" b="1">
                <a:solidFill>
                  <a:srgbClr val="754B87"/>
                </a:solidFill>
                <a:latin typeface="Arial"/>
              </a:defRPr>
            </a:pPr>
            <a:r>
              <a:t>1.</a:t>
            </a:r>
          </a:p>
        </p:txBody>
      </p:sp>
      <p:sp>
        <p:nvSpPr>
          <p:cNvPr id="51" name="TextBox 50"/>
          <p:cNvSpPr txBox="1"/>
          <p:nvPr/>
        </p:nvSpPr>
        <p:spPr>
          <a:xfrm>
            <a:off x="10110216" y="1691640"/>
            <a:ext cx="4026408" cy="822960"/>
          </a:xfrm>
          <a:prstGeom prst="rect">
            <a:avLst/>
          </a:prstGeom>
          <a:noFill/>
        </p:spPr>
        <p:txBody>
          <a:bodyPr wrap="square" tIns="36576" bIns="36576" anchor="t">
            <a:spAutoFit/>
          </a:bodyPr>
          <a:lstStyle/>
          <a:p>
            <a:pPr>
              <a:lnSpc>
                <a:spcPts val="1944"/>
              </a:lnSpc>
              <a:spcBef>
                <a:spcPts val="0"/>
              </a:spcBef>
              <a:spcAft>
                <a:spcPts val="0"/>
              </a:spcAft>
              <a:defRPr sz="1800" b="0">
                <a:solidFill>
                  <a:srgbClr val="182B3A"/>
                </a:solidFill>
                <a:latin typeface="Arial"/>
              </a:defRPr>
            </a:pPr>
            <a:r>
              <a:t>A gardener charges £21 per hour for 18 hours, plus £64 for plants. Find the total bill.</a:t>
            </a:r>
          </a:p>
        </p:txBody>
      </p:sp>
      <p:sp>
        <p:nvSpPr>
          <p:cNvPr id="52" name="Rectangle 51"/>
          <p:cNvSpPr/>
          <p:nvPr/>
        </p:nvSpPr>
        <p:spPr>
          <a:xfrm>
            <a:off x="9625584" y="2610612"/>
            <a:ext cx="4620768" cy="982980"/>
          </a:xfrm>
          <a:prstGeom prst="rect">
            <a:avLst/>
          </a:prstGeom>
          <a:solidFill>
            <a:srgbClr val="F5F0F7"/>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53" name="TextBox 52"/>
          <p:cNvSpPr txBox="1"/>
          <p:nvPr/>
        </p:nvSpPr>
        <p:spPr>
          <a:xfrm>
            <a:off x="9698736" y="2720340"/>
            <a:ext cx="384048" cy="347472"/>
          </a:xfrm>
          <a:prstGeom prst="rect">
            <a:avLst/>
          </a:prstGeom>
          <a:noFill/>
        </p:spPr>
        <p:txBody>
          <a:bodyPr wrap="square" tIns="36576" bIns="36576" anchor="t">
            <a:spAutoFit/>
          </a:bodyPr>
          <a:lstStyle/>
          <a:p>
            <a:pPr>
              <a:lnSpc>
                <a:spcPts val="1836"/>
              </a:lnSpc>
              <a:spcBef>
                <a:spcPts val="0"/>
              </a:spcBef>
              <a:spcAft>
                <a:spcPts val="0"/>
              </a:spcAft>
              <a:defRPr sz="1700" b="1">
                <a:solidFill>
                  <a:srgbClr val="754B87"/>
                </a:solidFill>
                <a:latin typeface="Arial"/>
              </a:defRPr>
            </a:pPr>
            <a:r>
              <a:t>2.</a:t>
            </a:r>
          </a:p>
        </p:txBody>
      </p:sp>
      <p:sp>
        <p:nvSpPr>
          <p:cNvPr id="54" name="TextBox 53"/>
          <p:cNvSpPr txBox="1"/>
          <p:nvPr/>
        </p:nvSpPr>
        <p:spPr>
          <a:xfrm>
            <a:off x="10110216" y="2692908"/>
            <a:ext cx="4026408" cy="822960"/>
          </a:xfrm>
          <a:prstGeom prst="rect">
            <a:avLst/>
          </a:prstGeom>
          <a:noFill/>
        </p:spPr>
        <p:txBody>
          <a:bodyPr wrap="square" tIns="36576" bIns="36576" anchor="t">
            <a:spAutoFit/>
          </a:bodyPr>
          <a:lstStyle/>
          <a:p>
            <a:pPr>
              <a:lnSpc>
                <a:spcPts val="1944"/>
              </a:lnSpc>
              <a:spcBef>
                <a:spcPts val="0"/>
              </a:spcBef>
              <a:spcAft>
                <a:spcPts val="0"/>
              </a:spcAft>
              <a:defRPr sz="1800" b="0">
                <a:solidFill>
                  <a:srgbClr val="182B3A"/>
                </a:solidFill>
                <a:latin typeface="Arial"/>
              </a:defRPr>
            </a:pPr>
            <a:r>
              <a:t>167 passengers need coaches with 24 passenger seats each. Hire costs £85 per coach. Find the total cost.</a:t>
            </a:r>
          </a:p>
        </p:txBody>
      </p:sp>
      <p:sp>
        <p:nvSpPr>
          <p:cNvPr id="55" name="Rectangle 54"/>
          <p:cNvSpPr/>
          <p:nvPr/>
        </p:nvSpPr>
        <p:spPr>
          <a:xfrm>
            <a:off x="9625584" y="3611880"/>
            <a:ext cx="4620768" cy="98298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56" name="TextBox 55"/>
          <p:cNvSpPr txBox="1"/>
          <p:nvPr/>
        </p:nvSpPr>
        <p:spPr>
          <a:xfrm>
            <a:off x="9698736" y="3721608"/>
            <a:ext cx="384048" cy="347472"/>
          </a:xfrm>
          <a:prstGeom prst="rect">
            <a:avLst/>
          </a:prstGeom>
          <a:noFill/>
        </p:spPr>
        <p:txBody>
          <a:bodyPr wrap="square" tIns="36576" bIns="36576" anchor="t">
            <a:spAutoFit/>
          </a:bodyPr>
          <a:lstStyle/>
          <a:p>
            <a:pPr>
              <a:lnSpc>
                <a:spcPts val="1836"/>
              </a:lnSpc>
              <a:spcBef>
                <a:spcPts val="0"/>
              </a:spcBef>
              <a:spcAft>
                <a:spcPts val="0"/>
              </a:spcAft>
              <a:defRPr sz="1700" b="1">
                <a:solidFill>
                  <a:srgbClr val="754B87"/>
                </a:solidFill>
                <a:latin typeface="Arial"/>
              </a:defRPr>
            </a:pPr>
            <a:r>
              <a:t>3.</a:t>
            </a:r>
          </a:p>
        </p:txBody>
      </p:sp>
      <p:sp>
        <p:nvSpPr>
          <p:cNvPr id="57" name="TextBox 56"/>
          <p:cNvSpPr txBox="1"/>
          <p:nvPr/>
        </p:nvSpPr>
        <p:spPr>
          <a:xfrm>
            <a:off x="10110216" y="3694176"/>
            <a:ext cx="4026408" cy="822960"/>
          </a:xfrm>
          <a:prstGeom prst="rect">
            <a:avLst/>
          </a:prstGeom>
          <a:noFill/>
        </p:spPr>
        <p:txBody>
          <a:bodyPr wrap="square" tIns="36576" bIns="36576" anchor="t">
            <a:spAutoFit/>
          </a:bodyPr>
          <a:lstStyle/>
          <a:p>
            <a:pPr>
              <a:lnSpc>
                <a:spcPts val="1944"/>
              </a:lnSpc>
              <a:spcBef>
                <a:spcPts val="0"/>
              </a:spcBef>
              <a:spcAft>
                <a:spcPts val="0"/>
              </a:spcAft>
              <a:defRPr sz="1800" b="0">
                <a:solidFill>
                  <a:srgbClr val="182B3A"/>
                </a:solidFill>
                <a:latin typeface="Arial"/>
              </a:defRPr>
            </a:pPr>
            <a:r>
              <a:t>A club buys 32 packs of 18 cards. It gives away 145 cards. How many remain?</a:t>
            </a:r>
          </a:p>
        </p:txBody>
      </p:sp>
      <p:sp>
        <p:nvSpPr>
          <p:cNvPr id="58" name="Rectangle 57"/>
          <p:cNvSpPr/>
          <p:nvPr/>
        </p:nvSpPr>
        <p:spPr>
          <a:xfrm>
            <a:off x="9625584" y="4613148"/>
            <a:ext cx="4620768" cy="982980"/>
          </a:xfrm>
          <a:prstGeom prst="rect">
            <a:avLst/>
          </a:prstGeom>
          <a:solidFill>
            <a:srgbClr val="F5F0F7"/>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59" name="TextBox 58"/>
          <p:cNvSpPr txBox="1"/>
          <p:nvPr/>
        </p:nvSpPr>
        <p:spPr>
          <a:xfrm>
            <a:off x="9698736" y="4722876"/>
            <a:ext cx="384048" cy="347472"/>
          </a:xfrm>
          <a:prstGeom prst="rect">
            <a:avLst/>
          </a:prstGeom>
          <a:noFill/>
        </p:spPr>
        <p:txBody>
          <a:bodyPr wrap="square" tIns="36576" bIns="36576" anchor="t">
            <a:spAutoFit/>
          </a:bodyPr>
          <a:lstStyle/>
          <a:p>
            <a:pPr>
              <a:lnSpc>
                <a:spcPts val="1836"/>
              </a:lnSpc>
              <a:spcBef>
                <a:spcPts val="0"/>
              </a:spcBef>
              <a:spcAft>
                <a:spcPts val="0"/>
              </a:spcAft>
              <a:defRPr sz="1700" b="1">
                <a:solidFill>
                  <a:srgbClr val="754B87"/>
                </a:solidFill>
                <a:latin typeface="Arial"/>
              </a:defRPr>
            </a:pPr>
            <a:r>
              <a:t>4.</a:t>
            </a:r>
          </a:p>
        </p:txBody>
      </p:sp>
      <p:sp>
        <p:nvSpPr>
          <p:cNvPr id="60" name="TextBox 59"/>
          <p:cNvSpPr txBox="1"/>
          <p:nvPr/>
        </p:nvSpPr>
        <p:spPr>
          <a:xfrm>
            <a:off x="10110216" y="4695444"/>
            <a:ext cx="4026408" cy="822960"/>
          </a:xfrm>
          <a:prstGeom prst="rect">
            <a:avLst/>
          </a:prstGeom>
          <a:noFill/>
        </p:spPr>
        <p:txBody>
          <a:bodyPr wrap="square" tIns="36576" bIns="36576" anchor="t">
            <a:spAutoFit/>
          </a:bodyPr>
          <a:lstStyle/>
          <a:p>
            <a:pPr>
              <a:lnSpc>
                <a:spcPts val="1944"/>
              </a:lnSpc>
              <a:spcBef>
                <a:spcPts val="0"/>
              </a:spcBef>
              <a:spcAft>
                <a:spcPts val="0"/>
              </a:spcAft>
              <a:defRPr sz="1800" b="0">
                <a:solidFill>
                  <a:srgbClr val="182B3A"/>
                </a:solidFill>
                <a:latin typeface="Arial"/>
              </a:defRPr>
            </a:pPr>
            <a:r>
              <a:t>397 oranges fill bags of 6. Each full bag sells for £4. Find the sales income.</a:t>
            </a:r>
          </a:p>
        </p:txBody>
      </p:sp>
      <p:sp>
        <p:nvSpPr>
          <p:cNvPr id="61" name="Rectangle 60"/>
          <p:cNvSpPr/>
          <p:nvPr/>
        </p:nvSpPr>
        <p:spPr>
          <a:xfrm>
            <a:off x="9625584" y="5614416"/>
            <a:ext cx="4620768" cy="98298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62" name="TextBox 61"/>
          <p:cNvSpPr txBox="1"/>
          <p:nvPr/>
        </p:nvSpPr>
        <p:spPr>
          <a:xfrm>
            <a:off x="9698736" y="5724144"/>
            <a:ext cx="384048" cy="347472"/>
          </a:xfrm>
          <a:prstGeom prst="rect">
            <a:avLst/>
          </a:prstGeom>
          <a:noFill/>
        </p:spPr>
        <p:txBody>
          <a:bodyPr wrap="square" tIns="36576" bIns="36576" anchor="t">
            <a:spAutoFit/>
          </a:bodyPr>
          <a:lstStyle/>
          <a:p>
            <a:pPr>
              <a:lnSpc>
                <a:spcPts val="1836"/>
              </a:lnSpc>
              <a:spcBef>
                <a:spcPts val="0"/>
              </a:spcBef>
              <a:spcAft>
                <a:spcPts val="0"/>
              </a:spcAft>
              <a:defRPr sz="1700" b="1">
                <a:solidFill>
                  <a:srgbClr val="754B87"/>
                </a:solidFill>
                <a:latin typeface="Arial"/>
              </a:defRPr>
            </a:pPr>
            <a:r>
              <a:t>5.</a:t>
            </a:r>
          </a:p>
        </p:txBody>
      </p:sp>
      <p:sp>
        <p:nvSpPr>
          <p:cNvPr id="63" name="TextBox 62"/>
          <p:cNvSpPr txBox="1"/>
          <p:nvPr/>
        </p:nvSpPr>
        <p:spPr>
          <a:xfrm>
            <a:off x="10110216" y="5696712"/>
            <a:ext cx="4026408" cy="822960"/>
          </a:xfrm>
          <a:prstGeom prst="rect">
            <a:avLst/>
          </a:prstGeom>
          <a:noFill/>
        </p:spPr>
        <p:txBody>
          <a:bodyPr wrap="square" tIns="36576" bIns="36576" anchor="t">
            <a:spAutoFit/>
          </a:bodyPr>
          <a:lstStyle/>
          <a:p>
            <a:pPr>
              <a:lnSpc>
                <a:spcPts val="1944"/>
              </a:lnSpc>
              <a:spcBef>
                <a:spcPts val="0"/>
              </a:spcBef>
              <a:spcAft>
                <a:spcPts val="0"/>
              </a:spcAft>
              <a:defRPr sz="1800" b="0">
                <a:solidFill>
                  <a:srgbClr val="182B3A"/>
                </a:solidFill>
                <a:latin typeface="Arial"/>
              </a:defRPr>
            </a:pPr>
            <a:r>
              <a:t>Six people equally share the cost of 15 meals at £14 each. How much does each person pay?</a:t>
            </a:r>
          </a:p>
        </p:txBody>
      </p:sp>
      <p:sp>
        <p:nvSpPr>
          <p:cNvPr id="64" name="Rectangle 63"/>
          <p:cNvSpPr/>
          <p:nvPr/>
        </p:nvSpPr>
        <p:spPr>
          <a:xfrm>
            <a:off x="9625584" y="6615683"/>
            <a:ext cx="4620768" cy="982980"/>
          </a:xfrm>
          <a:prstGeom prst="rect">
            <a:avLst/>
          </a:prstGeom>
          <a:solidFill>
            <a:srgbClr val="F5F0F7"/>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65" name="TextBox 64"/>
          <p:cNvSpPr txBox="1"/>
          <p:nvPr/>
        </p:nvSpPr>
        <p:spPr>
          <a:xfrm>
            <a:off x="9698736" y="6725412"/>
            <a:ext cx="384048" cy="347472"/>
          </a:xfrm>
          <a:prstGeom prst="rect">
            <a:avLst/>
          </a:prstGeom>
          <a:noFill/>
        </p:spPr>
        <p:txBody>
          <a:bodyPr wrap="square" tIns="36576" bIns="36576" anchor="t">
            <a:spAutoFit/>
          </a:bodyPr>
          <a:lstStyle/>
          <a:p>
            <a:pPr>
              <a:lnSpc>
                <a:spcPts val="1836"/>
              </a:lnSpc>
              <a:spcBef>
                <a:spcPts val="0"/>
              </a:spcBef>
              <a:spcAft>
                <a:spcPts val="0"/>
              </a:spcAft>
              <a:defRPr sz="1700" b="1">
                <a:solidFill>
                  <a:srgbClr val="754B87"/>
                </a:solidFill>
                <a:latin typeface="Arial"/>
              </a:defRPr>
            </a:pPr>
            <a:r>
              <a:t>6.</a:t>
            </a:r>
          </a:p>
        </p:txBody>
      </p:sp>
      <p:sp>
        <p:nvSpPr>
          <p:cNvPr id="66" name="TextBox 65"/>
          <p:cNvSpPr txBox="1"/>
          <p:nvPr/>
        </p:nvSpPr>
        <p:spPr>
          <a:xfrm>
            <a:off x="10110216" y="6697979"/>
            <a:ext cx="4026408" cy="822960"/>
          </a:xfrm>
          <a:prstGeom prst="rect">
            <a:avLst/>
          </a:prstGeom>
          <a:noFill/>
        </p:spPr>
        <p:txBody>
          <a:bodyPr wrap="square" tIns="36576" bIns="36576" anchor="t">
            <a:spAutoFit/>
          </a:bodyPr>
          <a:lstStyle/>
          <a:p>
            <a:pPr>
              <a:lnSpc>
                <a:spcPts val="1944"/>
              </a:lnSpc>
              <a:spcBef>
                <a:spcPts val="0"/>
              </a:spcBef>
              <a:spcAft>
                <a:spcPts val="0"/>
              </a:spcAft>
              <a:defRPr sz="1800" b="0">
                <a:solidFill>
                  <a:srgbClr val="182B3A"/>
                </a:solidFill>
                <a:latin typeface="Arial"/>
              </a:defRPr>
            </a:pPr>
            <a:r>
              <a:t>A shop sells 23 boxes of 16 mugs at £5 per mug. Find the total sales income.</a:t>
            </a:r>
          </a:p>
        </p:txBody>
      </p:sp>
      <p:sp>
        <p:nvSpPr>
          <p:cNvPr id="67" name="Progression curved arrow: Thread 1 to Thread 2"/>
          <p:cNvSpPr/>
          <p:nvPr/>
        </p:nvSpPr>
        <p:spPr>
          <a:xfrm>
            <a:off x="4671059" y="7534005"/>
            <a:ext cx="621792" cy="314053"/>
          </a:xfrm>
          <a:custGeom>
            <a:avLst/>
            <a:gdLst/>
            <a:ahLst/>
            <a:cxnLst/>
            <a:rect l="0" t="0" r="100000" b="100000"/>
            <a:pathLst>
              <a:path w="100000" h="100000" fill="none">
                <a:moveTo>
                  <a:pt x="6970" y="48439"/>
                </a:moveTo>
                <a:cubicBezTo>
                  <a:pt x="40678" y="114499"/>
                  <a:pt x="73026" y="88145"/>
                  <a:pt x="93030" y="13799"/>
                </a:cubicBezTo>
              </a:path>
              <a:path w="100000" h="100000" fill="none">
                <a:moveTo>
                  <a:pt x="69018" y="40431"/>
                </a:moveTo>
                <a:lnTo>
                  <a:pt x="93030" y="13799"/>
                </a:lnTo>
                <a:lnTo>
                  <a:pt x="92217" y="66207"/>
                </a:lnTo>
              </a:path>
            </a:pathLst>
          </a:custGeom>
          <a:noFill/>
          <a:ln w="64449" cap="rnd">
            <a:solidFill>
              <a:schemeClr val="accent6">
                <a:lumMod val="60000"/>
                <a:lumOff val="40000"/>
              </a:schemeClr>
            </a:solidFill>
            <a:round/>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68" name="Progression curved arrow: Thread 2 to Thread 3"/>
          <p:cNvSpPr/>
          <p:nvPr/>
        </p:nvSpPr>
        <p:spPr>
          <a:xfrm>
            <a:off x="9243991" y="7525511"/>
            <a:ext cx="621792" cy="314053"/>
          </a:xfrm>
          <a:custGeom>
            <a:avLst/>
            <a:gdLst/>
            <a:ahLst/>
            <a:cxnLst/>
            <a:rect l="0" t="0" r="100000" b="100000"/>
            <a:pathLst>
              <a:path w="100000" h="100000" fill="none">
                <a:moveTo>
                  <a:pt x="6970" y="48439"/>
                </a:moveTo>
                <a:cubicBezTo>
                  <a:pt x="40678" y="114499"/>
                  <a:pt x="73026" y="88145"/>
                  <a:pt x="93030" y="13799"/>
                </a:cubicBezTo>
              </a:path>
              <a:path w="100000" h="100000" fill="none">
                <a:moveTo>
                  <a:pt x="69018" y="40431"/>
                </a:moveTo>
                <a:lnTo>
                  <a:pt x="93030" y="13799"/>
                </a:lnTo>
                <a:lnTo>
                  <a:pt x="92217" y="66207"/>
                </a:lnTo>
              </a:path>
            </a:pathLst>
          </a:custGeom>
          <a:noFill/>
          <a:ln w="64449" cap="rnd">
            <a:solidFill>
              <a:schemeClr val="accent6">
                <a:lumMod val="60000"/>
                <a:lumOff val="40000"/>
              </a:schemeClr>
            </a:solidFill>
            <a:round/>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Tree>
  </p:cSld>
  <p:clrMapOvr>
    <a:masterClrMapping/>
  </p:clrMapOvr>
</p:sld>
</file>

<file path=ppt/slides/slide58.xml><?xml version="1.0" encoding="utf-8"?>
<p:sld xmlns:a="http://schemas.openxmlformats.org/drawingml/2006/main" xmlns:p="http://schemas.openxmlformats.org/presentationml/2006/main" xmlns:r="http://schemas.openxmlformats.org/officeDocument/2006/relationships">
  <p:cSld>
    <p:bg>
      <p:bgPr>
        <a:solidFill>
          <a:srgbClr val="F7F8FA"/>
        </a:solidFill>
        <a:effectLst/>
      </p:bgPr>
    </p:bg>
    <p:spTree>
      <p:nvGrpSpPr>
        <p:cNvPr id="1" name=""/>
        <p:cNvGrpSpPr/>
        <p:nvPr/>
      </p:nvGrpSpPr>
      <p:grpSpPr/>
      <p:sp>
        <p:nvSpPr>
          <p:cNvPr id="2" name="Rectangle 1"/>
          <p:cNvSpPr/>
          <p:nvPr/>
        </p:nvSpPr>
        <p:spPr>
          <a:xfrm>
            <a:off x="0" y="0"/>
            <a:ext cx="14630400" cy="91440"/>
          </a:xfrm>
          <a:prstGeom prst="rect">
            <a:avLst/>
          </a:prstGeom>
          <a:solidFill>
            <a:srgbClr val="754B87"/>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3" name="TextBox 2"/>
          <p:cNvSpPr txBox="1"/>
          <p:nvPr/>
        </p:nvSpPr>
        <p:spPr>
          <a:xfrm>
            <a:off x="384048" y="219456"/>
            <a:ext cx="12435840" cy="448056"/>
          </a:xfrm>
          <a:prstGeom prst="rect">
            <a:avLst/>
          </a:prstGeom>
          <a:noFill/>
        </p:spPr>
        <p:txBody>
          <a:bodyPr wrap="square" tIns="36576" bIns="36576" anchor="t">
            <a:spAutoFit/>
          </a:bodyPr>
          <a:lstStyle/>
          <a:p>
            <a:pPr>
              <a:lnSpc>
                <a:spcPts val="3132"/>
              </a:lnSpc>
              <a:spcBef>
                <a:spcPts val="0"/>
              </a:spcBef>
              <a:spcAft>
                <a:spcPts val="0"/>
              </a:spcAft>
              <a:defRPr sz="2900" b="1">
                <a:solidFill>
                  <a:srgbClr val="182B3A"/>
                </a:solidFill>
                <a:latin typeface="Arial"/>
              </a:defRPr>
            </a:pPr>
            <a:r>
              <a:t>Application to Exam Problems</a:t>
            </a:r>
          </a:p>
        </p:txBody>
      </p:sp>
      <p:sp>
        <p:nvSpPr>
          <p:cNvPr id="4" name="TextBox 3"/>
          <p:cNvSpPr txBox="1"/>
          <p:nvPr/>
        </p:nvSpPr>
        <p:spPr>
          <a:xfrm>
            <a:off x="384048" y="713232"/>
            <a:ext cx="13533120" cy="274320"/>
          </a:xfrm>
          <a:prstGeom prst="rect">
            <a:avLst/>
          </a:prstGeom>
          <a:noFill/>
        </p:spPr>
        <p:txBody>
          <a:bodyPr wrap="square" tIns="36576" bIns="36576" anchor="t">
            <a:spAutoFit/>
          </a:bodyPr>
          <a:lstStyle/>
          <a:p>
            <a:pPr>
              <a:lnSpc>
                <a:spcPts val="1512"/>
              </a:lnSpc>
              <a:spcBef>
                <a:spcPts val="0"/>
              </a:spcBef>
              <a:spcAft>
                <a:spcPts val="0"/>
              </a:spcAft>
              <a:defRPr sz="1400" b="0">
                <a:solidFill>
                  <a:srgbClr val="526472"/>
                </a:solidFill>
                <a:latin typeface="Arial"/>
              </a:defRPr>
            </a:pPr>
            <a:r>
              <a:t>Independent practice 4  •  Choose a column. Show your working and check your answers.</a:t>
            </a:r>
          </a:p>
        </p:txBody>
      </p:sp>
      <p:sp>
        <p:nvSpPr>
          <p:cNvPr id="5" name="TextBox 4"/>
          <p:cNvSpPr txBox="1"/>
          <p:nvPr/>
        </p:nvSpPr>
        <p:spPr>
          <a:xfrm>
            <a:off x="384048" y="7882127"/>
            <a:ext cx="10058400" cy="210312"/>
          </a:xfrm>
          <a:prstGeom prst="rect">
            <a:avLst/>
          </a:prstGeom>
          <a:noFill/>
        </p:spPr>
        <p:txBody>
          <a:bodyPr wrap="square" tIns="36576" bIns="36576" anchor="t">
            <a:spAutoFit/>
          </a:bodyPr>
          <a:lstStyle/>
          <a:p>
            <a:pPr>
              <a:lnSpc>
                <a:spcPts val="1188"/>
              </a:lnSpc>
              <a:spcBef>
                <a:spcPts val="0"/>
              </a:spcBef>
              <a:spcAft>
                <a:spcPts val="0"/>
              </a:spcAft>
              <a:defRPr sz="1100" b="0">
                <a:solidFill>
                  <a:srgbClr val="526472"/>
                </a:solidFill>
                <a:latin typeface="Arial"/>
              </a:defRPr>
            </a:pPr>
            <a:r>
              <a:t>GCSE Maths revision  •  Record your working in your booklet or webapp.</a:t>
            </a:r>
          </a:p>
        </p:txBody>
      </p:sp>
      <p:sp>
        <p:nvSpPr>
          <p:cNvPr id="6" name="TextBox 5"/>
          <p:cNvSpPr txBox="1"/>
          <p:nvPr/>
        </p:nvSpPr>
        <p:spPr>
          <a:xfrm>
            <a:off x="11430000" y="7863840"/>
            <a:ext cx="2788920" cy="228600"/>
          </a:xfrm>
          <a:prstGeom prst="rect">
            <a:avLst/>
          </a:prstGeom>
          <a:noFill/>
        </p:spPr>
        <p:txBody>
          <a:bodyPr wrap="square" tIns="36576" bIns="36576" anchor="t">
            <a:spAutoFit/>
          </a:bodyPr>
          <a:lstStyle/>
          <a:p>
            <a:pPr>
              <a:lnSpc>
                <a:spcPts val="1188"/>
              </a:lnSpc>
              <a:spcBef>
                <a:spcPts val="0"/>
              </a:spcBef>
              <a:spcAft>
                <a:spcPts val="0"/>
              </a:spcAft>
              <a:defRPr sz="1100" b="0">
                <a:solidFill>
                  <a:srgbClr val="526472"/>
                </a:solidFill>
                <a:latin typeface="Arial"/>
              </a:defRPr>
            </a:pPr>
            <a:r>
              <a:t>M03-S07  •  Topic slide 9</a:t>
            </a:r>
          </a:p>
        </p:txBody>
      </p:sp>
      <p:sp>
        <p:nvSpPr>
          <p:cNvPr id="7" name="Rectangle 6"/>
          <p:cNvSpPr/>
          <p:nvPr/>
        </p:nvSpPr>
        <p:spPr>
          <a:xfrm>
            <a:off x="384048" y="1124712"/>
            <a:ext cx="4620768" cy="438912"/>
          </a:xfrm>
          <a:prstGeom prst="rect">
            <a:avLst/>
          </a:prstGeom>
          <a:solidFill>
            <a:srgbClr val="176B73"/>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8" name="TextBox 7"/>
          <p:cNvSpPr txBox="1"/>
          <p:nvPr/>
        </p:nvSpPr>
        <p:spPr>
          <a:xfrm>
            <a:off x="438912" y="1152144"/>
            <a:ext cx="4511040" cy="338328"/>
          </a:xfrm>
          <a:prstGeom prst="rect">
            <a:avLst/>
          </a:prstGeom>
          <a:noFill/>
        </p:spPr>
        <p:txBody>
          <a:bodyPr wrap="square" tIns="36576" bIns="36576" anchor="t">
            <a:spAutoFit/>
          </a:bodyPr>
          <a:lstStyle/>
          <a:p>
            <a:pPr>
              <a:lnSpc>
                <a:spcPts val="2160"/>
              </a:lnSpc>
              <a:spcBef>
                <a:spcPts val="0"/>
              </a:spcBef>
              <a:spcAft>
                <a:spcPts val="0"/>
              </a:spcAft>
              <a:defRPr sz="2000" b="1">
                <a:solidFill>
                  <a:srgbClr val="FFFFFF"/>
                </a:solidFill>
                <a:latin typeface="Arial"/>
              </a:defRPr>
            </a:pPr>
            <a:r>
              <a:t>Start</a:t>
            </a:r>
          </a:p>
        </p:txBody>
      </p:sp>
      <p:sp>
        <p:nvSpPr>
          <p:cNvPr id="9" name="Rectangle 8"/>
          <p:cNvSpPr/>
          <p:nvPr/>
        </p:nvSpPr>
        <p:spPr>
          <a:xfrm>
            <a:off x="5004816" y="1124712"/>
            <a:ext cx="4620768" cy="438912"/>
          </a:xfrm>
          <a:prstGeom prst="rect">
            <a:avLst/>
          </a:prstGeom>
          <a:solidFill>
            <a:srgbClr val="3559A2"/>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0" name="TextBox 9"/>
          <p:cNvSpPr txBox="1"/>
          <p:nvPr/>
        </p:nvSpPr>
        <p:spPr>
          <a:xfrm>
            <a:off x="5059680" y="1152144"/>
            <a:ext cx="4511040" cy="338328"/>
          </a:xfrm>
          <a:prstGeom prst="rect">
            <a:avLst/>
          </a:prstGeom>
          <a:noFill/>
        </p:spPr>
        <p:txBody>
          <a:bodyPr wrap="square" tIns="36576" bIns="36576" anchor="t">
            <a:spAutoFit/>
          </a:bodyPr>
          <a:lstStyle/>
          <a:p>
            <a:pPr>
              <a:lnSpc>
                <a:spcPts val="2160"/>
              </a:lnSpc>
              <a:spcBef>
                <a:spcPts val="0"/>
              </a:spcBef>
              <a:spcAft>
                <a:spcPts val="0"/>
              </a:spcAft>
              <a:defRPr sz="2000" b="1">
                <a:solidFill>
                  <a:srgbClr val="FFFFFF"/>
                </a:solidFill>
                <a:latin typeface="Arial"/>
              </a:defRPr>
            </a:pPr>
            <a:r>
              <a:t>Build</a:t>
            </a:r>
          </a:p>
        </p:txBody>
      </p:sp>
      <p:sp>
        <p:nvSpPr>
          <p:cNvPr id="11" name="Rectangle 10"/>
          <p:cNvSpPr/>
          <p:nvPr/>
        </p:nvSpPr>
        <p:spPr>
          <a:xfrm>
            <a:off x="9625584" y="1124712"/>
            <a:ext cx="4620768" cy="438912"/>
          </a:xfrm>
          <a:prstGeom prst="rect">
            <a:avLst/>
          </a:prstGeom>
          <a:solidFill>
            <a:srgbClr val="754B87"/>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2" name="TextBox 11"/>
          <p:cNvSpPr txBox="1"/>
          <p:nvPr/>
        </p:nvSpPr>
        <p:spPr>
          <a:xfrm>
            <a:off x="9680448" y="1152144"/>
            <a:ext cx="4511040" cy="338328"/>
          </a:xfrm>
          <a:prstGeom prst="rect">
            <a:avLst/>
          </a:prstGeom>
          <a:noFill/>
        </p:spPr>
        <p:txBody>
          <a:bodyPr wrap="square" tIns="36576" bIns="36576" anchor="t">
            <a:spAutoFit/>
          </a:bodyPr>
          <a:lstStyle/>
          <a:p>
            <a:pPr>
              <a:lnSpc>
                <a:spcPts val="2160"/>
              </a:lnSpc>
              <a:spcBef>
                <a:spcPts val="0"/>
              </a:spcBef>
              <a:spcAft>
                <a:spcPts val="0"/>
              </a:spcAft>
              <a:defRPr sz="2000" b="1">
                <a:solidFill>
                  <a:srgbClr val="FFFFFF"/>
                </a:solidFill>
                <a:latin typeface="Arial"/>
              </a:defRPr>
            </a:pPr>
            <a:r>
              <a:t>Confidence</a:t>
            </a:r>
          </a:p>
        </p:txBody>
      </p:sp>
      <p:sp>
        <p:nvSpPr>
          <p:cNvPr id="13" name="Rectangle 12"/>
          <p:cNvSpPr/>
          <p:nvPr/>
        </p:nvSpPr>
        <p:spPr>
          <a:xfrm>
            <a:off x="384048" y="1609344"/>
            <a:ext cx="4620768" cy="98298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4" name="TextBox 13"/>
          <p:cNvSpPr txBox="1"/>
          <p:nvPr/>
        </p:nvSpPr>
        <p:spPr>
          <a:xfrm>
            <a:off x="457200" y="1719072"/>
            <a:ext cx="384048" cy="347472"/>
          </a:xfrm>
          <a:prstGeom prst="rect">
            <a:avLst/>
          </a:prstGeom>
          <a:noFill/>
        </p:spPr>
        <p:txBody>
          <a:bodyPr wrap="square" tIns="36576" bIns="36576" anchor="t">
            <a:spAutoFit/>
          </a:bodyPr>
          <a:lstStyle/>
          <a:p>
            <a:pPr>
              <a:lnSpc>
                <a:spcPts val="1836"/>
              </a:lnSpc>
              <a:spcBef>
                <a:spcPts val="0"/>
              </a:spcBef>
              <a:spcAft>
                <a:spcPts val="0"/>
              </a:spcAft>
              <a:defRPr sz="1700" b="1">
                <a:solidFill>
                  <a:srgbClr val="176B73"/>
                </a:solidFill>
                <a:latin typeface="Arial"/>
              </a:defRPr>
            </a:pPr>
            <a:r>
              <a:t>1.</a:t>
            </a:r>
          </a:p>
        </p:txBody>
      </p:sp>
      <p:sp>
        <p:nvSpPr>
          <p:cNvPr id="15" name="TextBox 14"/>
          <p:cNvSpPr txBox="1"/>
          <p:nvPr/>
        </p:nvSpPr>
        <p:spPr>
          <a:xfrm>
            <a:off x="868680" y="1691640"/>
            <a:ext cx="4026408" cy="822960"/>
          </a:xfrm>
          <a:prstGeom prst="rect">
            <a:avLst/>
          </a:prstGeom>
          <a:noFill/>
        </p:spPr>
        <p:txBody>
          <a:bodyPr wrap="square" tIns="36576" bIns="36576" anchor="t">
            <a:spAutoFit/>
          </a:bodyPr>
          <a:lstStyle/>
          <a:p>
            <a:pPr>
              <a:lnSpc>
                <a:spcPts val="1944"/>
              </a:lnSpc>
              <a:spcBef>
                <a:spcPts val="0"/>
              </a:spcBef>
              <a:spcAft>
                <a:spcPts val="0"/>
              </a:spcAft>
              <a:defRPr sz="1800" b="0">
                <a:solidFill>
                  <a:srgbClr val="182B3A"/>
                </a:solidFill>
                <a:latin typeface="Arial"/>
              </a:defRPr>
            </a:pPr>
            <a:r>
              <a:t>27 packets each contain 18 labels. How many labels are there?</a:t>
            </a:r>
          </a:p>
        </p:txBody>
      </p:sp>
      <p:sp>
        <p:nvSpPr>
          <p:cNvPr id="16" name="Rectangle 15"/>
          <p:cNvSpPr/>
          <p:nvPr/>
        </p:nvSpPr>
        <p:spPr>
          <a:xfrm>
            <a:off x="384048" y="2610612"/>
            <a:ext cx="4620768" cy="982980"/>
          </a:xfrm>
          <a:prstGeom prst="rect">
            <a:avLst/>
          </a:prstGeom>
          <a:solidFill>
            <a:srgbClr val="EDF6F5"/>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7" name="TextBox 16"/>
          <p:cNvSpPr txBox="1"/>
          <p:nvPr/>
        </p:nvSpPr>
        <p:spPr>
          <a:xfrm>
            <a:off x="457200" y="2720340"/>
            <a:ext cx="384048" cy="347472"/>
          </a:xfrm>
          <a:prstGeom prst="rect">
            <a:avLst/>
          </a:prstGeom>
          <a:noFill/>
        </p:spPr>
        <p:txBody>
          <a:bodyPr wrap="square" tIns="36576" bIns="36576" anchor="t">
            <a:spAutoFit/>
          </a:bodyPr>
          <a:lstStyle/>
          <a:p>
            <a:pPr>
              <a:lnSpc>
                <a:spcPts val="1836"/>
              </a:lnSpc>
              <a:spcBef>
                <a:spcPts val="0"/>
              </a:spcBef>
              <a:spcAft>
                <a:spcPts val="0"/>
              </a:spcAft>
              <a:defRPr sz="1700" b="1">
                <a:solidFill>
                  <a:srgbClr val="176B73"/>
                </a:solidFill>
                <a:latin typeface="Arial"/>
              </a:defRPr>
            </a:pPr>
            <a:r>
              <a:t>2.</a:t>
            </a:r>
          </a:p>
        </p:txBody>
      </p:sp>
      <p:sp>
        <p:nvSpPr>
          <p:cNvPr id="18" name="TextBox 17"/>
          <p:cNvSpPr txBox="1"/>
          <p:nvPr/>
        </p:nvSpPr>
        <p:spPr>
          <a:xfrm>
            <a:off x="868680" y="2692908"/>
            <a:ext cx="4026408" cy="822960"/>
          </a:xfrm>
          <a:prstGeom prst="rect">
            <a:avLst/>
          </a:prstGeom>
          <a:noFill/>
        </p:spPr>
        <p:txBody>
          <a:bodyPr wrap="square" tIns="36576" bIns="36576" anchor="t">
            <a:spAutoFit/>
          </a:bodyPr>
          <a:lstStyle/>
          <a:p>
            <a:pPr>
              <a:lnSpc>
                <a:spcPts val="1944"/>
              </a:lnSpc>
              <a:spcBef>
                <a:spcPts val="0"/>
              </a:spcBef>
              <a:spcAft>
                <a:spcPts val="0"/>
              </a:spcAft>
              <a:defRPr sz="1800" b="0">
                <a:solidFill>
                  <a:srgbClr val="182B3A"/>
                </a:solidFill>
                <a:latin typeface="Arial"/>
              </a:defRPr>
            </a:pPr>
            <a:r>
              <a:t>384 books are shared equally among 8 shelves. How many books go on each shelf?</a:t>
            </a:r>
          </a:p>
        </p:txBody>
      </p:sp>
      <p:sp>
        <p:nvSpPr>
          <p:cNvPr id="19" name="Rectangle 18"/>
          <p:cNvSpPr/>
          <p:nvPr/>
        </p:nvSpPr>
        <p:spPr>
          <a:xfrm>
            <a:off x="384048" y="3611880"/>
            <a:ext cx="4620768" cy="98298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20" name="TextBox 19"/>
          <p:cNvSpPr txBox="1"/>
          <p:nvPr/>
        </p:nvSpPr>
        <p:spPr>
          <a:xfrm>
            <a:off x="457200" y="3721608"/>
            <a:ext cx="384048" cy="347472"/>
          </a:xfrm>
          <a:prstGeom prst="rect">
            <a:avLst/>
          </a:prstGeom>
          <a:noFill/>
        </p:spPr>
        <p:txBody>
          <a:bodyPr wrap="square" tIns="36576" bIns="36576" anchor="t">
            <a:spAutoFit/>
          </a:bodyPr>
          <a:lstStyle/>
          <a:p>
            <a:pPr>
              <a:lnSpc>
                <a:spcPts val="1836"/>
              </a:lnSpc>
              <a:spcBef>
                <a:spcPts val="0"/>
              </a:spcBef>
              <a:spcAft>
                <a:spcPts val="0"/>
              </a:spcAft>
              <a:defRPr sz="1700" b="1">
                <a:solidFill>
                  <a:srgbClr val="176B73"/>
                </a:solidFill>
                <a:latin typeface="Arial"/>
              </a:defRPr>
            </a:pPr>
            <a:r>
              <a:t>3.</a:t>
            </a:r>
          </a:p>
        </p:txBody>
      </p:sp>
      <p:sp>
        <p:nvSpPr>
          <p:cNvPr id="21" name="TextBox 20"/>
          <p:cNvSpPr txBox="1"/>
          <p:nvPr/>
        </p:nvSpPr>
        <p:spPr>
          <a:xfrm>
            <a:off x="868680" y="3694176"/>
            <a:ext cx="4026408" cy="822960"/>
          </a:xfrm>
          <a:prstGeom prst="rect">
            <a:avLst/>
          </a:prstGeom>
          <a:noFill/>
        </p:spPr>
        <p:txBody>
          <a:bodyPr wrap="square" tIns="36576" bIns="36576" anchor="t">
            <a:spAutoFit/>
          </a:bodyPr>
          <a:lstStyle/>
          <a:p>
            <a:pPr>
              <a:lnSpc>
                <a:spcPts val="1944"/>
              </a:lnSpc>
              <a:spcBef>
                <a:spcPts val="0"/>
              </a:spcBef>
              <a:spcAft>
                <a:spcPts val="0"/>
              </a:spcAft>
              <a:defRPr sz="1800" b="0">
                <a:solidFill>
                  <a:srgbClr val="182B3A"/>
                </a:solidFill>
                <a:latin typeface="Arial"/>
              </a:defRPr>
            </a:pPr>
            <a:r>
              <a:t>A nursery has 34 trays of 16 seedlings. How many seedlings are there?</a:t>
            </a:r>
          </a:p>
        </p:txBody>
      </p:sp>
      <p:sp>
        <p:nvSpPr>
          <p:cNvPr id="22" name="Rectangle 21"/>
          <p:cNvSpPr/>
          <p:nvPr/>
        </p:nvSpPr>
        <p:spPr>
          <a:xfrm>
            <a:off x="384048" y="4613148"/>
            <a:ext cx="4620768" cy="982980"/>
          </a:xfrm>
          <a:prstGeom prst="rect">
            <a:avLst/>
          </a:prstGeom>
          <a:solidFill>
            <a:srgbClr val="EDF6F5"/>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23" name="TextBox 22"/>
          <p:cNvSpPr txBox="1"/>
          <p:nvPr/>
        </p:nvSpPr>
        <p:spPr>
          <a:xfrm>
            <a:off x="457200" y="4722876"/>
            <a:ext cx="384048" cy="347472"/>
          </a:xfrm>
          <a:prstGeom prst="rect">
            <a:avLst/>
          </a:prstGeom>
          <a:noFill/>
        </p:spPr>
        <p:txBody>
          <a:bodyPr wrap="square" tIns="36576" bIns="36576" anchor="t">
            <a:spAutoFit/>
          </a:bodyPr>
          <a:lstStyle/>
          <a:p>
            <a:pPr>
              <a:lnSpc>
                <a:spcPts val="1836"/>
              </a:lnSpc>
              <a:spcBef>
                <a:spcPts val="0"/>
              </a:spcBef>
              <a:spcAft>
                <a:spcPts val="0"/>
              </a:spcAft>
              <a:defRPr sz="1700" b="1">
                <a:solidFill>
                  <a:srgbClr val="176B73"/>
                </a:solidFill>
                <a:latin typeface="Arial"/>
              </a:defRPr>
            </a:pPr>
            <a:r>
              <a:t>4.</a:t>
            </a:r>
          </a:p>
        </p:txBody>
      </p:sp>
      <p:sp>
        <p:nvSpPr>
          <p:cNvPr id="24" name="TextBox 23"/>
          <p:cNvSpPr txBox="1"/>
          <p:nvPr/>
        </p:nvSpPr>
        <p:spPr>
          <a:xfrm>
            <a:off x="868680" y="4695444"/>
            <a:ext cx="4026408" cy="822960"/>
          </a:xfrm>
          <a:prstGeom prst="rect">
            <a:avLst/>
          </a:prstGeom>
          <a:noFill/>
        </p:spPr>
        <p:txBody>
          <a:bodyPr wrap="square" tIns="36576" bIns="36576" anchor="t">
            <a:spAutoFit/>
          </a:bodyPr>
          <a:lstStyle/>
          <a:p>
            <a:pPr>
              <a:lnSpc>
                <a:spcPts val="1944"/>
              </a:lnSpc>
              <a:spcBef>
                <a:spcPts val="0"/>
              </a:spcBef>
              <a:spcAft>
                <a:spcPts val="0"/>
              </a:spcAft>
              <a:defRPr sz="1800" b="0">
                <a:solidFill>
                  <a:srgbClr val="182B3A"/>
                </a:solidFill>
                <a:latin typeface="Arial"/>
              </a:defRPr>
            </a:pPr>
            <a:r>
              <a:t>£425 is shared equally among 5 people. How much does each receive?</a:t>
            </a:r>
          </a:p>
        </p:txBody>
      </p:sp>
      <p:sp>
        <p:nvSpPr>
          <p:cNvPr id="25" name="Rectangle 24"/>
          <p:cNvSpPr/>
          <p:nvPr/>
        </p:nvSpPr>
        <p:spPr>
          <a:xfrm>
            <a:off x="384048" y="5614416"/>
            <a:ext cx="4620768" cy="98298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26" name="TextBox 25"/>
          <p:cNvSpPr txBox="1"/>
          <p:nvPr/>
        </p:nvSpPr>
        <p:spPr>
          <a:xfrm>
            <a:off x="457200" y="5724144"/>
            <a:ext cx="384048" cy="347472"/>
          </a:xfrm>
          <a:prstGeom prst="rect">
            <a:avLst/>
          </a:prstGeom>
          <a:noFill/>
        </p:spPr>
        <p:txBody>
          <a:bodyPr wrap="square" tIns="36576" bIns="36576" anchor="t">
            <a:spAutoFit/>
          </a:bodyPr>
          <a:lstStyle/>
          <a:p>
            <a:pPr>
              <a:lnSpc>
                <a:spcPts val="1836"/>
              </a:lnSpc>
              <a:spcBef>
                <a:spcPts val="0"/>
              </a:spcBef>
              <a:spcAft>
                <a:spcPts val="0"/>
              </a:spcAft>
              <a:defRPr sz="1700" b="1">
                <a:solidFill>
                  <a:srgbClr val="176B73"/>
                </a:solidFill>
                <a:latin typeface="Arial"/>
              </a:defRPr>
            </a:pPr>
            <a:r>
              <a:t>5.</a:t>
            </a:r>
          </a:p>
        </p:txBody>
      </p:sp>
      <p:sp>
        <p:nvSpPr>
          <p:cNvPr id="27" name="TextBox 26"/>
          <p:cNvSpPr txBox="1"/>
          <p:nvPr/>
        </p:nvSpPr>
        <p:spPr>
          <a:xfrm>
            <a:off x="868680" y="5696712"/>
            <a:ext cx="4026408" cy="822960"/>
          </a:xfrm>
          <a:prstGeom prst="rect">
            <a:avLst/>
          </a:prstGeom>
          <a:noFill/>
        </p:spPr>
        <p:txBody>
          <a:bodyPr wrap="square" tIns="36576" bIns="36576" anchor="t">
            <a:spAutoFit/>
          </a:bodyPr>
          <a:lstStyle/>
          <a:p>
            <a:pPr>
              <a:lnSpc>
                <a:spcPts val="1944"/>
              </a:lnSpc>
              <a:spcBef>
                <a:spcPts val="0"/>
              </a:spcBef>
              <a:spcAft>
                <a:spcPts val="0"/>
              </a:spcAft>
              <a:defRPr sz="1800" b="0">
                <a:solidFill>
                  <a:srgbClr val="182B3A"/>
                </a:solidFill>
                <a:latin typeface="Arial"/>
              </a:defRPr>
            </a:pPr>
            <a:r>
              <a:t>A hall has 26 rows of 35 seats. How many seats are there?</a:t>
            </a:r>
          </a:p>
        </p:txBody>
      </p:sp>
      <p:sp>
        <p:nvSpPr>
          <p:cNvPr id="28" name="Rectangle 27"/>
          <p:cNvSpPr/>
          <p:nvPr/>
        </p:nvSpPr>
        <p:spPr>
          <a:xfrm>
            <a:off x="384048" y="6615683"/>
            <a:ext cx="4620768" cy="982980"/>
          </a:xfrm>
          <a:prstGeom prst="rect">
            <a:avLst/>
          </a:prstGeom>
          <a:solidFill>
            <a:srgbClr val="EDF6F5"/>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29" name="TextBox 28"/>
          <p:cNvSpPr txBox="1"/>
          <p:nvPr/>
        </p:nvSpPr>
        <p:spPr>
          <a:xfrm>
            <a:off x="457200" y="6725412"/>
            <a:ext cx="384048" cy="347472"/>
          </a:xfrm>
          <a:prstGeom prst="rect">
            <a:avLst/>
          </a:prstGeom>
          <a:noFill/>
        </p:spPr>
        <p:txBody>
          <a:bodyPr wrap="square" tIns="36576" bIns="36576" anchor="t">
            <a:spAutoFit/>
          </a:bodyPr>
          <a:lstStyle/>
          <a:p>
            <a:pPr>
              <a:lnSpc>
                <a:spcPts val="1836"/>
              </a:lnSpc>
              <a:spcBef>
                <a:spcPts val="0"/>
              </a:spcBef>
              <a:spcAft>
                <a:spcPts val="0"/>
              </a:spcAft>
              <a:defRPr sz="1700" b="1">
                <a:solidFill>
                  <a:srgbClr val="176B73"/>
                </a:solidFill>
                <a:latin typeface="Arial"/>
              </a:defRPr>
            </a:pPr>
            <a:r>
              <a:t>6.</a:t>
            </a:r>
          </a:p>
        </p:txBody>
      </p:sp>
      <p:sp>
        <p:nvSpPr>
          <p:cNvPr id="30" name="TextBox 29"/>
          <p:cNvSpPr txBox="1"/>
          <p:nvPr/>
        </p:nvSpPr>
        <p:spPr>
          <a:xfrm>
            <a:off x="868680" y="6697979"/>
            <a:ext cx="4026408" cy="822960"/>
          </a:xfrm>
          <a:prstGeom prst="rect">
            <a:avLst/>
          </a:prstGeom>
          <a:noFill/>
        </p:spPr>
        <p:txBody>
          <a:bodyPr wrap="square" tIns="36576" bIns="36576" anchor="t">
            <a:spAutoFit/>
          </a:bodyPr>
          <a:lstStyle/>
          <a:p>
            <a:pPr>
              <a:lnSpc>
                <a:spcPts val="1944"/>
              </a:lnSpc>
              <a:spcBef>
                <a:spcPts val="0"/>
              </a:spcBef>
              <a:spcAft>
                <a:spcPts val="0"/>
              </a:spcAft>
              <a:defRPr sz="1800" b="0">
                <a:solidFill>
                  <a:srgbClr val="182B3A"/>
                </a:solidFill>
                <a:latin typeface="Arial"/>
              </a:defRPr>
            </a:pPr>
            <a:r>
              <a:t>A 294 cm strip is cut into 6 equal lengths. Find the length of each piece.</a:t>
            </a:r>
          </a:p>
        </p:txBody>
      </p:sp>
      <p:sp>
        <p:nvSpPr>
          <p:cNvPr id="31" name="Rectangle 30"/>
          <p:cNvSpPr/>
          <p:nvPr/>
        </p:nvSpPr>
        <p:spPr>
          <a:xfrm>
            <a:off x="5004816" y="1609344"/>
            <a:ext cx="4620768" cy="98298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32" name="TextBox 31"/>
          <p:cNvSpPr txBox="1"/>
          <p:nvPr/>
        </p:nvSpPr>
        <p:spPr>
          <a:xfrm>
            <a:off x="5077968" y="1719072"/>
            <a:ext cx="384048" cy="347472"/>
          </a:xfrm>
          <a:prstGeom prst="rect">
            <a:avLst/>
          </a:prstGeom>
          <a:noFill/>
        </p:spPr>
        <p:txBody>
          <a:bodyPr wrap="square" tIns="36576" bIns="36576" anchor="t">
            <a:spAutoFit/>
          </a:bodyPr>
          <a:lstStyle/>
          <a:p>
            <a:pPr>
              <a:lnSpc>
                <a:spcPts val="1836"/>
              </a:lnSpc>
              <a:spcBef>
                <a:spcPts val="0"/>
              </a:spcBef>
              <a:spcAft>
                <a:spcPts val="0"/>
              </a:spcAft>
              <a:defRPr sz="1700" b="1">
                <a:solidFill>
                  <a:srgbClr val="3559A2"/>
                </a:solidFill>
                <a:latin typeface="Arial"/>
              </a:defRPr>
            </a:pPr>
            <a:r>
              <a:t>1.</a:t>
            </a:r>
          </a:p>
        </p:txBody>
      </p:sp>
      <p:sp>
        <p:nvSpPr>
          <p:cNvPr id="33" name="TextBox 32"/>
          <p:cNvSpPr txBox="1"/>
          <p:nvPr/>
        </p:nvSpPr>
        <p:spPr>
          <a:xfrm>
            <a:off x="5489448" y="1691640"/>
            <a:ext cx="4026408" cy="822960"/>
          </a:xfrm>
          <a:prstGeom prst="rect">
            <a:avLst/>
          </a:prstGeom>
          <a:noFill/>
        </p:spPr>
        <p:txBody>
          <a:bodyPr wrap="square" tIns="36576" bIns="36576" anchor="t">
            <a:spAutoFit/>
          </a:bodyPr>
          <a:lstStyle/>
          <a:p>
            <a:pPr>
              <a:lnSpc>
                <a:spcPts val="1944"/>
              </a:lnSpc>
              <a:spcBef>
                <a:spcPts val="0"/>
              </a:spcBef>
              <a:spcAft>
                <a:spcPts val="0"/>
              </a:spcAft>
              <a:defRPr sz="1800" b="0">
                <a:solidFill>
                  <a:srgbClr val="182B3A"/>
                </a:solidFill>
                <a:latin typeface="Arial"/>
              </a:defRPr>
            </a:pPr>
            <a:r>
              <a:t>367 bottles are packed in boxes of 12. How many complete boxes can be packed?</a:t>
            </a:r>
          </a:p>
        </p:txBody>
      </p:sp>
      <p:sp>
        <p:nvSpPr>
          <p:cNvPr id="34" name="Rectangle 33"/>
          <p:cNvSpPr/>
          <p:nvPr/>
        </p:nvSpPr>
        <p:spPr>
          <a:xfrm>
            <a:off x="5004816" y="2610612"/>
            <a:ext cx="4620768" cy="982980"/>
          </a:xfrm>
          <a:prstGeom prst="rect">
            <a:avLst/>
          </a:prstGeom>
          <a:solidFill>
            <a:srgbClr val="EFF3FA"/>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35" name="TextBox 34"/>
          <p:cNvSpPr txBox="1"/>
          <p:nvPr/>
        </p:nvSpPr>
        <p:spPr>
          <a:xfrm>
            <a:off x="5077968" y="2720340"/>
            <a:ext cx="384048" cy="347472"/>
          </a:xfrm>
          <a:prstGeom prst="rect">
            <a:avLst/>
          </a:prstGeom>
          <a:noFill/>
        </p:spPr>
        <p:txBody>
          <a:bodyPr wrap="square" tIns="36576" bIns="36576" anchor="t">
            <a:spAutoFit/>
          </a:bodyPr>
          <a:lstStyle/>
          <a:p>
            <a:pPr>
              <a:lnSpc>
                <a:spcPts val="1836"/>
              </a:lnSpc>
              <a:spcBef>
                <a:spcPts val="0"/>
              </a:spcBef>
              <a:spcAft>
                <a:spcPts val="0"/>
              </a:spcAft>
              <a:defRPr sz="1700" b="1">
                <a:solidFill>
                  <a:srgbClr val="3559A2"/>
                </a:solidFill>
                <a:latin typeface="Arial"/>
              </a:defRPr>
            </a:pPr>
            <a:r>
              <a:t>2.</a:t>
            </a:r>
          </a:p>
        </p:txBody>
      </p:sp>
      <p:sp>
        <p:nvSpPr>
          <p:cNvPr id="36" name="TextBox 35"/>
          <p:cNvSpPr txBox="1"/>
          <p:nvPr/>
        </p:nvSpPr>
        <p:spPr>
          <a:xfrm>
            <a:off x="5489448" y="2692908"/>
            <a:ext cx="4026408" cy="822960"/>
          </a:xfrm>
          <a:prstGeom prst="rect">
            <a:avLst/>
          </a:prstGeom>
          <a:noFill/>
        </p:spPr>
        <p:txBody>
          <a:bodyPr wrap="square" tIns="36576" bIns="36576" anchor="t">
            <a:spAutoFit/>
          </a:bodyPr>
          <a:lstStyle/>
          <a:p>
            <a:pPr>
              <a:lnSpc>
                <a:spcPts val="1944"/>
              </a:lnSpc>
              <a:spcBef>
                <a:spcPts val="0"/>
              </a:spcBef>
              <a:spcAft>
                <a:spcPts val="0"/>
              </a:spcAft>
              <a:defRPr sz="1800" b="0">
                <a:solidFill>
                  <a:srgbClr val="182B3A"/>
                </a:solidFill>
                <a:latin typeface="Arial"/>
              </a:defRPr>
            </a:pPr>
            <a:r>
              <a:t>A hostel has 158 guests. Each room holds 6 guests. How many rooms are needed?</a:t>
            </a:r>
          </a:p>
        </p:txBody>
      </p:sp>
      <p:sp>
        <p:nvSpPr>
          <p:cNvPr id="37" name="Rectangle 36"/>
          <p:cNvSpPr/>
          <p:nvPr/>
        </p:nvSpPr>
        <p:spPr>
          <a:xfrm>
            <a:off x="5004816" y="3611880"/>
            <a:ext cx="4620768" cy="98298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38" name="TextBox 37"/>
          <p:cNvSpPr txBox="1"/>
          <p:nvPr/>
        </p:nvSpPr>
        <p:spPr>
          <a:xfrm>
            <a:off x="5077968" y="3721608"/>
            <a:ext cx="384048" cy="347472"/>
          </a:xfrm>
          <a:prstGeom prst="rect">
            <a:avLst/>
          </a:prstGeom>
          <a:noFill/>
        </p:spPr>
        <p:txBody>
          <a:bodyPr wrap="square" tIns="36576" bIns="36576" anchor="t">
            <a:spAutoFit/>
          </a:bodyPr>
          <a:lstStyle/>
          <a:p>
            <a:pPr>
              <a:lnSpc>
                <a:spcPts val="1836"/>
              </a:lnSpc>
              <a:spcBef>
                <a:spcPts val="0"/>
              </a:spcBef>
              <a:spcAft>
                <a:spcPts val="0"/>
              </a:spcAft>
              <a:defRPr sz="1700" b="1">
                <a:solidFill>
                  <a:srgbClr val="3559A2"/>
                </a:solidFill>
                <a:latin typeface="Arial"/>
              </a:defRPr>
            </a:pPr>
            <a:r>
              <a:t>3.</a:t>
            </a:r>
          </a:p>
        </p:txBody>
      </p:sp>
      <p:sp>
        <p:nvSpPr>
          <p:cNvPr id="39" name="TextBox 38"/>
          <p:cNvSpPr txBox="1"/>
          <p:nvPr/>
        </p:nvSpPr>
        <p:spPr>
          <a:xfrm>
            <a:off x="5489448" y="3694176"/>
            <a:ext cx="4026408" cy="822960"/>
          </a:xfrm>
          <a:prstGeom prst="rect">
            <a:avLst/>
          </a:prstGeom>
          <a:noFill/>
        </p:spPr>
        <p:txBody>
          <a:bodyPr wrap="square" lIns="91440" tIns="36576" rIns="91440" bIns="36576" anchor="t">
            <a:spAutoFit/>
          </a:bodyPr>
          <a:lstStyle/>
          <a:p>
            <a:pPr>
              <a:lnSpc>
                <a:spcPts val="1944"/>
              </a:lnSpc>
              <a:spcBef>
                <a:spcPts val="0"/>
              </a:spcBef>
              <a:spcAft>
                <a:spcPts val="0"/>
              </a:spcAft>
              <a:defRPr sz="1800" b="0">
                <a:solidFill>
                  <a:srgbClr val="182B3A"/>
                </a:solidFill>
                <a:latin typeface="Arial"/>
              </a:defRPr>
            </a:pPr>
            <a:r>
              <a:t>A 413 cm ribbon is cut into 15 cm lengths. How many </a:t>
            </a:r>
            <a:r>
              <a:rPr lang="en-GB"/>
              <a:t>centimetres</a:t>
            </a:r>
            <a:r>
              <a:t> remain?</a:t>
            </a:r>
          </a:p>
        </p:txBody>
      </p:sp>
      <p:sp>
        <p:nvSpPr>
          <p:cNvPr id="40" name="Rectangle 39"/>
          <p:cNvSpPr/>
          <p:nvPr/>
        </p:nvSpPr>
        <p:spPr>
          <a:xfrm>
            <a:off x="5004816" y="4613148"/>
            <a:ext cx="4620768" cy="982980"/>
          </a:xfrm>
          <a:prstGeom prst="rect">
            <a:avLst/>
          </a:prstGeom>
          <a:solidFill>
            <a:srgbClr val="EFF3FA"/>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41" name="TextBox 40"/>
          <p:cNvSpPr txBox="1"/>
          <p:nvPr/>
        </p:nvSpPr>
        <p:spPr>
          <a:xfrm>
            <a:off x="5077968" y="4722876"/>
            <a:ext cx="384048" cy="347472"/>
          </a:xfrm>
          <a:prstGeom prst="rect">
            <a:avLst/>
          </a:prstGeom>
          <a:noFill/>
        </p:spPr>
        <p:txBody>
          <a:bodyPr wrap="square" tIns="36576" bIns="36576" anchor="t">
            <a:spAutoFit/>
          </a:bodyPr>
          <a:lstStyle/>
          <a:p>
            <a:pPr>
              <a:lnSpc>
                <a:spcPts val="1836"/>
              </a:lnSpc>
              <a:spcBef>
                <a:spcPts val="0"/>
              </a:spcBef>
              <a:spcAft>
                <a:spcPts val="0"/>
              </a:spcAft>
              <a:defRPr sz="1700" b="1">
                <a:solidFill>
                  <a:srgbClr val="3559A2"/>
                </a:solidFill>
                <a:latin typeface="Arial"/>
              </a:defRPr>
            </a:pPr>
            <a:r>
              <a:t>4.</a:t>
            </a:r>
          </a:p>
        </p:txBody>
      </p:sp>
      <p:sp>
        <p:nvSpPr>
          <p:cNvPr id="42" name="TextBox 41"/>
          <p:cNvSpPr txBox="1"/>
          <p:nvPr/>
        </p:nvSpPr>
        <p:spPr>
          <a:xfrm>
            <a:off x="5489448" y="4695444"/>
            <a:ext cx="4026408" cy="822960"/>
          </a:xfrm>
          <a:prstGeom prst="rect">
            <a:avLst/>
          </a:prstGeom>
          <a:noFill/>
        </p:spPr>
        <p:txBody>
          <a:bodyPr wrap="square" tIns="36576" bIns="36576" anchor="t">
            <a:spAutoFit/>
          </a:bodyPr>
          <a:lstStyle/>
          <a:p>
            <a:pPr>
              <a:lnSpc>
                <a:spcPts val="1944"/>
              </a:lnSpc>
              <a:spcBef>
                <a:spcPts val="0"/>
              </a:spcBef>
              <a:spcAft>
                <a:spcPts val="0"/>
              </a:spcAft>
              <a:defRPr sz="1800" b="0">
                <a:solidFill>
                  <a:srgbClr val="182B3A"/>
                </a:solidFill>
                <a:latin typeface="Arial"/>
              </a:defRPr>
            </a:pPr>
            <a:r>
              <a:t>A machine labels 28 bottles per minute. How many does it label in 19 minutes?</a:t>
            </a:r>
          </a:p>
        </p:txBody>
      </p:sp>
      <p:sp>
        <p:nvSpPr>
          <p:cNvPr id="43" name="Rectangle 42"/>
          <p:cNvSpPr/>
          <p:nvPr/>
        </p:nvSpPr>
        <p:spPr>
          <a:xfrm>
            <a:off x="5004816" y="5614416"/>
            <a:ext cx="4620768" cy="98298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44" name="TextBox 43"/>
          <p:cNvSpPr txBox="1"/>
          <p:nvPr/>
        </p:nvSpPr>
        <p:spPr>
          <a:xfrm>
            <a:off x="5077968" y="5724144"/>
            <a:ext cx="384048" cy="347472"/>
          </a:xfrm>
          <a:prstGeom prst="rect">
            <a:avLst/>
          </a:prstGeom>
          <a:noFill/>
        </p:spPr>
        <p:txBody>
          <a:bodyPr wrap="square" tIns="36576" bIns="36576" anchor="t">
            <a:spAutoFit/>
          </a:bodyPr>
          <a:lstStyle/>
          <a:p>
            <a:pPr>
              <a:lnSpc>
                <a:spcPts val="1836"/>
              </a:lnSpc>
              <a:spcBef>
                <a:spcPts val="0"/>
              </a:spcBef>
              <a:spcAft>
                <a:spcPts val="0"/>
              </a:spcAft>
              <a:defRPr sz="1700" b="1">
                <a:solidFill>
                  <a:srgbClr val="3559A2"/>
                </a:solidFill>
                <a:latin typeface="Arial"/>
              </a:defRPr>
            </a:pPr>
            <a:r>
              <a:t>5.</a:t>
            </a:r>
          </a:p>
        </p:txBody>
      </p:sp>
      <p:sp>
        <p:nvSpPr>
          <p:cNvPr id="45" name="TextBox 44"/>
          <p:cNvSpPr txBox="1"/>
          <p:nvPr/>
        </p:nvSpPr>
        <p:spPr>
          <a:xfrm>
            <a:off x="5489448" y="5696712"/>
            <a:ext cx="4026408" cy="822960"/>
          </a:xfrm>
          <a:prstGeom prst="rect">
            <a:avLst/>
          </a:prstGeom>
          <a:noFill/>
        </p:spPr>
        <p:txBody>
          <a:bodyPr wrap="square" tIns="36576" bIns="36576" anchor="t">
            <a:spAutoFit/>
          </a:bodyPr>
          <a:lstStyle/>
          <a:p>
            <a:pPr>
              <a:lnSpc>
                <a:spcPts val="1944"/>
              </a:lnSpc>
              <a:spcBef>
                <a:spcPts val="0"/>
              </a:spcBef>
              <a:spcAft>
                <a:spcPts val="0"/>
              </a:spcAft>
              <a:defRPr sz="1800" b="0">
                <a:solidFill>
                  <a:srgbClr val="182B3A"/>
                </a:solidFill>
                <a:latin typeface="Arial"/>
              </a:defRPr>
            </a:pPr>
            <a:r>
              <a:t>A £238 bill is shared equally by 8 friends. How much does each friend pay?</a:t>
            </a:r>
          </a:p>
        </p:txBody>
      </p:sp>
      <p:sp>
        <p:nvSpPr>
          <p:cNvPr id="46" name="Rectangle 45"/>
          <p:cNvSpPr/>
          <p:nvPr/>
        </p:nvSpPr>
        <p:spPr>
          <a:xfrm>
            <a:off x="5004816" y="6615683"/>
            <a:ext cx="4620768" cy="982980"/>
          </a:xfrm>
          <a:prstGeom prst="rect">
            <a:avLst/>
          </a:prstGeom>
          <a:solidFill>
            <a:srgbClr val="EFF3FA"/>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47" name="TextBox 46"/>
          <p:cNvSpPr txBox="1"/>
          <p:nvPr/>
        </p:nvSpPr>
        <p:spPr>
          <a:xfrm>
            <a:off x="5077968" y="6725412"/>
            <a:ext cx="384048" cy="347472"/>
          </a:xfrm>
          <a:prstGeom prst="rect">
            <a:avLst/>
          </a:prstGeom>
          <a:noFill/>
        </p:spPr>
        <p:txBody>
          <a:bodyPr wrap="square" tIns="36576" bIns="36576" anchor="t">
            <a:spAutoFit/>
          </a:bodyPr>
          <a:lstStyle/>
          <a:p>
            <a:pPr>
              <a:lnSpc>
                <a:spcPts val="1836"/>
              </a:lnSpc>
              <a:spcBef>
                <a:spcPts val="0"/>
              </a:spcBef>
              <a:spcAft>
                <a:spcPts val="0"/>
              </a:spcAft>
              <a:defRPr sz="1700" b="1">
                <a:solidFill>
                  <a:srgbClr val="3559A2"/>
                </a:solidFill>
                <a:latin typeface="Arial"/>
              </a:defRPr>
            </a:pPr>
            <a:r>
              <a:t>6.</a:t>
            </a:r>
          </a:p>
        </p:txBody>
      </p:sp>
      <p:sp>
        <p:nvSpPr>
          <p:cNvPr id="48" name="TextBox 47"/>
          <p:cNvSpPr txBox="1"/>
          <p:nvPr/>
        </p:nvSpPr>
        <p:spPr>
          <a:xfrm>
            <a:off x="5489448" y="6697979"/>
            <a:ext cx="4026408" cy="822960"/>
          </a:xfrm>
          <a:prstGeom prst="rect">
            <a:avLst/>
          </a:prstGeom>
          <a:noFill/>
        </p:spPr>
        <p:txBody>
          <a:bodyPr wrap="square" tIns="36576" bIns="36576" anchor="t">
            <a:spAutoFit/>
          </a:bodyPr>
          <a:lstStyle/>
          <a:p>
            <a:pPr>
              <a:lnSpc>
                <a:spcPts val="1944"/>
              </a:lnSpc>
              <a:spcBef>
                <a:spcPts val="0"/>
              </a:spcBef>
              <a:spcAft>
                <a:spcPts val="0"/>
              </a:spcAft>
              <a:defRPr sz="1800" b="0">
                <a:solidFill>
                  <a:srgbClr val="182B3A"/>
                </a:solidFill>
                <a:latin typeface="Arial"/>
              </a:defRPr>
            </a:pPr>
            <a:r>
              <a:t>319 files fit in folders holding 24 files. How many folders are needed for all the files?</a:t>
            </a:r>
          </a:p>
        </p:txBody>
      </p:sp>
      <p:sp>
        <p:nvSpPr>
          <p:cNvPr id="49" name="Rectangle 48"/>
          <p:cNvSpPr/>
          <p:nvPr/>
        </p:nvSpPr>
        <p:spPr>
          <a:xfrm>
            <a:off x="9625584" y="1609344"/>
            <a:ext cx="4620768" cy="98298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50" name="TextBox 49"/>
          <p:cNvSpPr txBox="1"/>
          <p:nvPr/>
        </p:nvSpPr>
        <p:spPr>
          <a:xfrm>
            <a:off x="9698736" y="1719072"/>
            <a:ext cx="384048" cy="347472"/>
          </a:xfrm>
          <a:prstGeom prst="rect">
            <a:avLst/>
          </a:prstGeom>
          <a:noFill/>
        </p:spPr>
        <p:txBody>
          <a:bodyPr wrap="square" tIns="36576" bIns="36576" anchor="t">
            <a:spAutoFit/>
          </a:bodyPr>
          <a:lstStyle/>
          <a:p>
            <a:pPr>
              <a:lnSpc>
                <a:spcPts val="1836"/>
              </a:lnSpc>
              <a:spcBef>
                <a:spcPts val="0"/>
              </a:spcBef>
              <a:spcAft>
                <a:spcPts val="0"/>
              </a:spcAft>
              <a:defRPr sz="1700" b="1">
                <a:solidFill>
                  <a:srgbClr val="754B87"/>
                </a:solidFill>
                <a:latin typeface="Arial"/>
              </a:defRPr>
            </a:pPr>
            <a:r>
              <a:t>1.</a:t>
            </a:r>
          </a:p>
        </p:txBody>
      </p:sp>
      <p:sp>
        <p:nvSpPr>
          <p:cNvPr id="51" name="TextBox 50"/>
          <p:cNvSpPr txBox="1"/>
          <p:nvPr/>
        </p:nvSpPr>
        <p:spPr>
          <a:xfrm>
            <a:off x="10110216" y="1691640"/>
            <a:ext cx="4026408" cy="822960"/>
          </a:xfrm>
          <a:prstGeom prst="rect">
            <a:avLst/>
          </a:prstGeom>
          <a:noFill/>
        </p:spPr>
        <p:txBody>
          <a:bodyPr wrap="square" tIns="36576" bIns="36576" anchor="t">
            <a:spAutoFit/>
          </a:bodyPr>
          <a:lstStyle/>
          <a:p>
            <a:pPr>
              <a:lnSpc>
                <a:spcPts val="1944"/>
              </a:lnSpc>
              <a:spcBef>
                <a:spcPts val="0"/>
              </a:spcBef>
              <a:spcAft>
                <a:spcPts val="0"/>
              </a:spcAft>
              <a:defRPr sz="1800" b="0">
                <a:solidFill>
                  <a:srgbClr val="182B3A"/>
                </a:solidFill>
                <a:latin typeface="Arial"/>
              </a:defRPr>
            </a:pPr>
            <a:r>
              <a:t>36 tickets cost £17 each. A group gets £75 off the total. How much does it pay?</a:t>
            </a:r>
          </a:p>
        </p:txBody>
      </p:sp>
      <p:sp>
        <p:nvSpPr>
          <p:cNvPr id="52" name="Rectangle 51"/>
          <p:cNvSpPr/>
          <p:nvPr/>
        </p:nvSpPr>
        <p:spPr>
          <a:xfrm>
            <a:off x="9625584" y="2610612"/>
            <a:ext cx="4620768" cy="982980"/>
          </a:xfrm>
          <a:prstGeom prst="rect">
            <a:avLst/>
          </a:prstGeom>
          <a:solidFill>
            <a:srgbClr val="F5F0F7"/>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53" name="TextBox 52"/>
          <p:cNvSpPr txBox="1"/>
          <p:nvPr/>
        </p:nvSpPr>
        <p:spPr>
          <a:xfrm>
            <a:off x="9698736" y="2720340"/>
            <a:ext cx="384048" cy="347472"/>
          </a:xfrm>
          <a:prstGeom prst="rect">
            <a:avLst/>
          </a:prstGeom>
          <a:noFill/>
        </p:spPr>
        <p:txBody>
          <a:bodyPr wrap="square" tIns="36576" bIns="36576" anchor="t">
            <a:spAutoFit/>
          </a:bodyPr>
          <a:lstStyle/>
          <a:p>
            <a:pPr>
              <a:lnSpc>
                <a:spcPts val="1836"/>
              </a:lnSpc>
              <a:spcBef>
                <a:spcPts val="0"/>
              </a:spcBef>
              <a:spcAft>
                <a:spcPts val="0"/>
              </a:spcAft>
              <a:defRPr sz="1700" b="1">
                <a:solidFill>
                  <a:srgbClr val="754B87"/>
                </a:solidFill>
                <a:latin typeface="Arial"/>
              </a:defRPr>
            </a:pPr>
            <a:r>
              <a:t>2.</a:t>
            </a:r>
          </a:p>
        </p:txBody>
      </p:sp>
      <p:sp>
        <p:nvSpPr>
          <p:cNvPr id="54" name="TextBox 53"/>
          <p:cNvSpPr txBox="1"/>
          <p:nvPr/>
        </p:nvSpPr>
        <p:spPr>
          <a:xfrm>
            <a:off x="10110216" y="2692908"/>
            <a:ext cx="4026408" cy="822960"/>
          </a:xfrm>
          <a:prstGeom prst="rect">
            <a:avLst/>
          </a:prstGeom>
          <a:noFill/>
        </p:spPr>
        <p:txBody>
          <a:bodyPr wrap="square" tIns="36576" bIns="36576" anchor="t">
            <a:spAutoFit/>
          </a:bodyPr>
          <a:lstStyle/>
          <a:p>
            <a:pPr>
              <a:lnSpc>
                <a:spcPts val="1944"/>
              </a:lnSpc>
              <a:spcBef>
                <a:spcPts val="0"/>
              </a:spcBef>
              <a:spcAft>
                <a:spcPts val="0"/>
              </a:spcAft>
              <a:defRPr sz="1800" b="0">
                <a:solidFill>
                  <a:srgbClr val="182B3A"/>
                </a:solidFill>
                <a:latin typeface="Arial"/>
              </a:defRPr>
            </a:pPr>
            <a:r>
              <a:t>203 people need tables seating 8 each. Hire costs £15 per table. Find the total hire cost.</a:t>
            </a:r>
          </a:p>
        </p:txBody>
      </p:sp>
      <p:sp>
        <p:nvSpPr>
          <p:cNvPr id="55" name="Rectangle 54"/>
          <p:cNvSpPr/>
          <p:nvPr/>
        </p:nvSpPr>
        <p:spPr>
          <a:xfrm>
            <a:off x="9625584" y="3611880"/>
            <a:ext cx="4620768" cy="98298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56" name="TextBox 55"/>
          <p:cNvSpPr txBox="1"/>
          <p:nvPr/>
        </p:nvSpPr>
        <p:spPr>
          <a:xfrm>
            <a:off x="9698736" y="3721608"/>
            <a:ext cx="384048" cy="347472"/>
          </a:xfrm>
          <a:prstGeom prst="rect">
            <a:avLst/>
          </a:prstGeom>
          <a:noFill/>
        </p:spPr>
        <p:txBody>
          <a:bodyPr wrap="square" tIns="36576" bIns="36576" anchor="t">
            <a:spAutoFit/>
          </a:bodyPr>
          <a:lstStyle/>
          <a:p>
            <a:pPr>
              <a:lnSpc>
                <a:spcPts val="1836"/>
              </a:lnSpc>
              <a:spcBef>
                <a:spcPts val="0"/>
              </a:spcBef>
              <a:spcAft>
                <a:spcPts val="0"/>
              </a:spcAft>
              <a:defRPr sz="1700" b="1">
                <a:solidFill>
                  <a:srgbClr val="754B87"/>
                </a:solidFill>
                <a:latin typeface="Arial"/>
              </a:defRPr>
            </a:pPr>
            <a:r>
              <a:t>3.</a:t>
            </a:r>
          </a:p>
        </p:txBody>
      </p:sp>
      <p:sp>
        <p:nvSpPr>
          <p:cNvPr id="57" name="TextBox 56"/>
          <p:cNvSpPr txBox="1"/>
          <p:nvPr/>
        </p:nvSpPr>
        <p:spPr>
          <a:xfrm>
            <a:off x="10110216" y="3694176"/>
            <a:ext cx="4026408" cy="822960"/>
          </a:xfrm>
          <a:prstGeom prst="rect">
            <a:avLst/>
          </a:prstGeom>
          <a:noFill/>
        </p:spPr>
        <p:txBody>
          <a:bodyPr wrap="square" tIns="36576" bIns="36576" anchor="t">
            <a:spAutoFit/>
          </a:bodyPr>
          <a:lstStyle/>
          <a:p>
            <a:pPr>
              <a:lnSpc>
                <a:spcPts val="1944"/>
              </a:lnSpc>
              <a:spcBef>
                <a:spcPts val="0"/>
              </a:spcBef>
              <a:spcAft>
                <a:spcPts val="0"/>
              </a:spcAft>
              <a:defRPr sz="1800" b="0">
                <a:solidFill>
                  <a:srgbClr val="182B3A"/>
                </a:solidFill>
                <a:latin typeface="Arial"/>
              </a:defRPr>
            </a:pPr>
            <a:r>
              <a:t>A shop buys 29 boxes of 24 notebooks. It sells 187 notebooks. How many remain?</a:t>
            </a:r>
          </a:p>
        </p:txBody>
      </p:sp>
      <p:sp>
        <p:nvSpPr>
          <p:cNvPr id="58" name="Rectangle 57"/>
          <p:cNvSpPr/>
          <p:nvPr/>
        </p:nvSpPr>
        <p:spPr>
          <a:xfrm>
            <a:off x="9625584" y="4613148"/>
            <a:ext cx="4620768" cy="982980"/>
          </a:xfrm>
          <a:prstGeom prst="rect">
            <a:avLst/>
          </a:prstGeom>
          <a:solidFill>
            <a:srgbClr val="F5F0F7"/>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59" name="TextBox 58"/>
          <p:cNvSpPr txBox="1"/>
          <p:nvPr/>
        </p:nvSpPr>
        <p:spPr>
          <a:xfrm>
            <a:off x="9698736" y="4722876"/>
            <a:ext cx="384048" cy="347472"/>
          </a:xfrm>
          <a:prstGeom prst="rect">
            <a:avLst/>
          </a:prstGeom>
          <a:noFill/>
        </p:spPr>
        <p:txBody>
          <a:bodyPr wrap="square" tIns="36576" bIns="36576" anchor="t">
            <a:spAutoFit/>
          </a:bodyPr>
          <a:lstStyle/>
          <a:p>
            <a:pPr>
              <a:lnSpc>
                <a:spcPts val="1836"/>
              </a:lnSpc>
              <a:spcBef>
                <a:spcPts val="0"/>
              </a:spcBef>
              <a:spcAft>
                <a:spcPts val="0"/>
              </a:spcAft>
              <a:defRPr sz="1700" b="1">
                <a:solidFill>
                  <a:srgbClr val="754B87"/>
                </a:solidFill>
                <a:latin typeface="Arial"/>
              </a:defRPr>
            </a:pPr>
            <a:r>
              <a:t>4.</a:t>
            </a:r>
          </a:p>
        </p:txBody>
      </p:sp>
      <p:sp>
        <p:nvSpPr>
          <p:cNvPr id="60" name="TextBox 59"/>
          <p:cNvSpPr txBox="1"/>
          <p:nvPr/>
        </p:nvSpPr>
        <p:spPr>
          <a:xfrm>
            <a:off x="10110216" y="4695444"/>
            <a:ext cx="4026408" cy="822960"/>
          </a:xfrm>
          <a:prstGeom prst="rect">
            <a:avLst/>
          </a:prstGeom>
          <a:noFill/>
        </p:spPr>
        <p:txBody>
          <a:bodyPr wrap="square" tIns="36576" bIns="36576" anchor="t">
            <a:spAutoFit/>
          </a:bodyPr>
          <a:lstStyle/>
          <a:p>
            <a:pPr>
              <a:lnSpc>
                <a:spcPts val="1944"/>
              </a:lnSpc>
              <a:spcBef>
                <a:spcPts val="0"/>
              </a:spcBef>
              <a:spcAft>
                <a:spcPts val="0"/>
              </a:spcAft>
              <a:defRPr sz="1800" b="0">
                <a:solidFill>
                  <a:srgbClr val="182B3A"/>
                </a:solidFill>
                <a:latin typeface="Arial"/>
              </a:defRPr>
            </a:pPr>
            <a:r>
              <a:t>A baker has 518 rolls. Full bags hold 12 and sell for £5 each. Find the sales income.</a:t>
            </a:r>
          </a:p>
        </p:txBody>
      </p:sp>
      <p:sp>
        <p:nvSpPr>
          <p:cNvPr id="61" name="Rectangle 60"/>
          <p:cNvSpPr/>
          <p:nvPr/>
        </p:nvSpPr>
        <p:spPr>
          <a:xfrm>
            <a:off x="9625584" y="5614416"/>
            <a:ext cx="4620768" cy="98298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62" name="TextBox 61"/>
          <p:cNvSpPr txBox="1"/>
          <p:nvPr/>
        </p:nvSpPr>
        <p:spPr>
          <a:xfrm>
            <a:off x="9698736" y="5724144"/>
            <a:ext cx="384048" cy="347472"/>
          </a:xfrm>
          <a:prstGeom prst="rect">
            <a:avLst/>
          </a:prstGeom>
          <a:noFill/>
        </p:spPr>
        <p:txBody>
          <a:bodyPr wrap="square" tIns="36576" bIns="36576" anchor="t">
            <a:spAutoFit/>
          </a:bodyPr>
          <a:lstStyle/>
          <a:p>
            <a:pPr>
              <a:lnSpc>
                <a:spcPts val="1836"/>
              </a:lnSpc>
              <a:spcBef>
                <a:spcPts val="0"/>
              </a:spcBef>
              <a:spcAft>
                <a:spcPts val="0"/>
              </a:spcAft>
              <a:defRPr sz="1700" b="1">
                <a:solidFill>
                  <a:srgbClr val="754B87"/>
                </a:solidFill>
                <a:latin typeface="Arial"/>
              </a:defRPr>
            </a:pPr>
            <a:r>
              <a:t>5.</a:t>
            </a:r>
          </a:p>
        </p:txBody>
      </p:sp>
      <p:sp>
        <p:nvSpPr>
          <p:cNvPr id="63" name="TextBox 62"/>
          <p:cNvSpPr txBox="1"/>
          <p:nvPr/>
        </p:nvSpPr>
        <p:spPr>
          <a:xfrm>
            <a:off x="10110216" y="5696712"/>
            <a:ext cx="4026408" cy="822960"/>
          </a:xfrm>
          <a:prstGeom prst="rect">
            <a:avLst/>
          </a:prstGeom>
          <a:noFill/>
        </p:spPr>
        <p:txBody>
          <a:bodyPr wrap="square" tIns="36576" bIns="36576" anchor="t">
            <a:spAutoFit/>
          </a:bodyPr>
          <a:lstStyle/>
          <a:p>
            <a:pPr>
              <a:lnSpc>
                <a:spcPts val="1944"/>
              </a:lnSpc>
              <a:spcBef>
                <a:spcPts val="0"/>
              </a:spcBef>
              <a:spcAft>
                <a:spcPts val="0"/>
              </a:spcAft>
              <a:defRPr sz="1800" b="0">
                <a:solidFill>
                  <a:srgbClr val="182B3A"/>
                </a:solidFill>
                <a:latin typeface="Arial"/>
              </a:defRPr>
            </a:pPr>
            <a:r>
              <a:t>Seven people equally share the cost of 21 meals at £16 each. How much does each person pay?</a:t>
            </a:r>
          </a:p>
        </p:txBody>
      </p:sp>
      <p:sp>
        <p:nvSpPr>
          <p:cNvPr id="64" name="Rectangle 63"/>
          <p:cNvSpPr/>
          <p:nvPr/>
        </p:nvSpPr>
        <p:spPr>
          <a:xfrm>
            <a:off x="9625584" y="6615683"/>
            <a:ext cx="4620768" cy="982980"/>
          </a:xfrm>
          <a:prstGeom prst="rect">
            <a:avLst/>
          </a:prstGeom>
          <a:solidFill>
            <a:srgbClr val="F5F0F7"/>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65" name="TextBox 64"/>
          <p:cNvSpPr txBox="1"/>
          <p:nvPr/>
        </p:nvSpPr>
        <p:spPr>
          <a:xfrm>
            <a:off x="9698736" y="6725412"/>
            <a:ext cx="384048" cy="347472"/>
          </a:xfrm>
          <a:prstGeom prst="rect">
            <a:avLst/>
          </a:prstGeom>
          <a:noFill/>
        </p:spPr>
        <p:txBody>
          <a:bodyPr wrap="square" tIns="36576" bIns="36576" anchor="t">
            <a:spAutoFit/>
          </a:bodyPr>
          <a:lstStyle/>
          <a:p>
            <a:pPr>
              <a:lnSpc>
                <a:spcPts val="1836"/>
              </a:lnSpc>
              <a:spcBef>
                <a:spcPts val="0"/>
              </a:spcBef>
              <a:spcAft>
                <a:spcPts val="0"/>
              </a:spcAft>
              <a:defRPr sz="1700" b="1">
                <a:solidFill>
                  <a:srgbClr val="754B87"/>
                </a:solidFill>
                <a:latin typeface="Arial"/>
              </a:defRPr>
            </a:pPr>
            <a:r>
              <a:t>6.</a:t>
            </a:r>
          </a:p>
        </p:txBody>
      </p:sp>
      <p:sp>
        <p:nvSpPr>
          <p:cNvPr id="66" name="TextBox 65"/>
          <p:cNvSpPr txBox="1"/>
          <p:nvPr/>
        </p:nvSpPr>
        <p:spPr>
          <a:xfrm>
            <a:off x="10110216" y="6697979"/>
            <a:ext cx="4026408" cy="822960"/>
          </a:xfrm>
          <a:prstGeom prst="rect">
            <a:avLst/>
          </a:prstGeom>
          <a:noFill/>
        </p:spPr>
        <p:txBody>
          <a:bodyPr wrap="square" tIns="36576" bIns="36576" anchor="t">
            <a:spAutoFit/>
          </a:bodyPr>
          <a:lstStyle/>
          <a:p>
            <a:pPr>
              <a:lnSpc>
                <a:spcPts val="1944"/>
              </a:lnSpc>
              <a:spcBef>
                <a:spcPts val="0"/>
              </a:spcBef>
              <a:spcAft>
                <a:spcPts val="0"/>
              </a:spcAft>
              <a:defRPr sz="1800" b="0">
                <a:solidFill>
                  <a:srgbClr val="182B3A"/>
                </a:solidFill>
                <a:latin typeface="Arial"/>
              </a:defRPr>
            </a:pPr>
            <a:r>
              <a:t>A shop sells 28 boxes of 15 keyrings at £3 per keyring. Find the total sales income.</a:t>
            </a:r>
          </a:p>
        </p:txBody>
      </p:sp>
      <p:sp>
        <p:nvSpPr>
          <p:cNvPr id="67" name="Progression curved arrow: Thread 1 to Thread 2"/>
          <p:cNvSpPr/>
          <p:nvPr/>
        </p:nvSpPr>
        <p:spPr>
          <a:xfrm>
            <a:off x="4671059" y="7534005"/>
            <a:ext cx="621792" cy="314053"/>
          </a:xfrm>
          <a:custGeom>
            <a:avLst/>
            <a:gdLst/>
            <a:ahLst/>
            <a:cxnLst/>
            <a:rect l="0" t="0" r="100000" b="100000"/>
            <a:pathLst>
              <a:path w="100000" h="100000" fill="none">
                <a:moveTo>
                  <a:pt x="6970" y="48439"/>
                </a:moveTo>
                <a:cubicBezTo>
                  <a:pt x="40678" y="114499"/>
                  <a:pt x="73026" y="88145"/>
                  <a:pt x="93030" y="13799"/>
                </a:cubicBezTo>
              </a:path>
              <a:path w="100000" h="100000" fill="none">
                <a:moveTo>
                  <a:pt x="69018" y="40431"/>
                </a:moveTo>
                <a:lnTo>
                  <a:pt x="93030" y="13799"/>
                </a:lnTo>
                <a:lnTo>
                  <a:pt x="92217" y="66207"/>
                </a:lnTo>
              </a:path>
            </a:pathLst>
          </a:custGeom>
          <a:noFill/>
          <a:ln w="64449" cap="rnd">
            <a:solidFill>
              <a:schemeClr val="accent6">
                <a:lumMod val="60000"/>
                <a:lumOff val="40000"/>
              </a:schemeClr>
            </a:solidFill>
            <a:round/>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68" name="Progression curved arrow: Thread 2 to Thread 3"/>
          <p:cNvSpPr/>
          <p:nvPr/>
        </p:nvSpPr>
        <p:spPr>
          <a:xfrm>
            <a:off x="9243991" y="7525511"/>
            <a:ext cx="621792" cy="314053"/>
          </a:xfrm>
          <a:custGeom>
            <a:avLst/>
            <a:gdLst/>
            <a:ahLst/>
            <a:cxnLst/>
            <a:rect l="0" t="0" r="100000" b="100000"/>
            <a:pathLst>
              <a:path w="100000" h="100000" fill="none">
                <a:moveTo>
                  <a:pt x="6970" y="48439"/>
                </a:moveTo>
                <a:cubicBezTo>
                  <a:pt x="40678" y="114499"/>
                  <a:pt x="73026" y="88145"/>
                  <a:pt x="93030" y="13799"/>
                </a:cubicBezTo>
              </a:path>
              <a:path w="100000" h="100000" fill="none">
                <a:moveTo>
                  <a:pt x="69018" y="40431"/>
                </a:moveTo>
                <a:lnTo>
                  <a:pt x="93030" y="13799"/>
                </a:lnTo>
                <a:lnTo>
                  <a:pt x="92217" y="66207"/>
                </a:lnTo>
              </a:path>
            </a:pathLst>
          </a:custGeom>
          <a:noFill/>
          <a:ln w="64449" cap="rnd">
            <a:solidFill>
              <a:schemeClr val="accent6">
                <a:lumMod val="60000"/>
                <a:lumOff val="40000"/>
              </a:schemeClr>
            </a:solidFill>
            <a:round/>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Tree>
  </p:cSld>
  <p:clrMapOvr>
    <a:masterClrMapping/>
  </p:clrMapOvr>
</p:sld>
</file>

<file path=ppt/slides/slide59.xml><?xml version="1.0" encoding="utf-8"?>
<p:sld xmlns:a="http://schemas.openxmlformats.org/drawingml/2006/main" xmlns:p="http://schemas.openxmlformats.org/presentationml/2006/main" xmlns:r="http://schemas.openxmlformats.org/officeDocument/2006/relationships">
  <p:cSld>
    <p:bg>
      <p:bgPr>
        <a:solidFill>
          <a:srgbClr val="F7F8FA"/>
        </a:solidFill>
        <a:effectLst/>
      </p:bgPr>
    </p:bg>
    <p:spTree>
      <p:nvGrpSpPr>
        <p:cNvPr id="1" name=""/>
        <p:cNvGrpSpPr/>
        <p:nvPr/>
      </p:nvGrpSpPr>
      <p:grpSpPr/>
      <p:sp>
        <p:nvSpPr>
          <p:cNvPr id="2" name="Rectangle 1"/>
          <p:cNvSpPr/>
          <p:nvPr/>
        </p:nvSpPr>
        <p:spPr>
          <a:xfrm>
            <a:off x="0" y="0"/>
            <a:ext cx="14630400" cy="73152"/>
          </a:xfrm>
          <a:prstGeom prst="rect">
            <a:avLst/>
          </a:prstGeom>
          <a:solidFill>
            <a:srgbClr val="176B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20040" y="164592"/>
            <a:ext cx="13990320" cy="457200"/>
          </a:xfrm>
          <a:prstGeom prst="rect">
            <a:avLst/>
          </a:prstGeom>
          <a:noFill/>
        </p:spPr>
        <p:txBody>
          <a:bodyPr wrap="square" lIns="54864" rIns="54864" tIns="22860" bIns="22860">
            <a:spAutoFit/>
          </a:bodyPr>
          <a:lstStyle/>
          <a:p>
            <a:pPr>
              <a:lnSpc>
                <a:spcPts val="2940"/>
              </a:lnSpc>
              <a:spcBef>
                <a:spcPts val="0"/>
              </a:spcBef>
              <a:spcAft>
                <a:spcPts val="0"/>
              </a:spcAft>
              <a:defRPr sz="2800" b="1">
                <a:solidFill>
                  <a:srgbClr val="182B3A"/>
                </a:solidFill>
                <a:latin typeface="Arial"/>
              </a:defRPr>
            </a:pPr>
            <a:r>
              <a:t>Ratio: initial assessment</a:t>
            </a:r>
          </a:p>
        </p:txBody>
      </p:sp>
      <p:sp>
        <p:nvSpPr>
          <p:cNvPr id="4" name="TextBox 3"/>
          <p:cNvSpPr txBox="1"/>
          <p:nvPr/>
        </p:nvSpPr>
        <p:spPr>
          <a:xfrm>
            <a:off x="320040" y="704088"/>
            <a:ext cx="13990320" cy="347472"/>
          </a:xfrm>
          <a:prstGeom prst="rect">
            <a:avLst/>
          </a:prstGeom>
          <a:noFill/>
        </p:spPr>
        <p:txBody>
          <a:bodyPr wrap="square" lIns="54864" rIns="54864" tIns="22860" bIns="22860">
            <a:spAutoFit/>
          </a:bodyPr>
          <a:lstStyle/>
          <a:p>
            <a:pPr>
              <a:lnSpc>
                <a:spcPts val="1575"/>
              </a:lnSpc>
              <a:spcBef>
                <a:spcPts val="0"/>
              </a:spcBef>
              <a:spcAft>
                <a:spcPts val="0"/>
              </a:spcAft>
              <a:defRPr sz="1500" b="0">
                <a:solidFill>
                  <a:srgbClr val="526472"/>
                </a:solidFill>
                <a:latin typeface="Arial"/>
              </a:defRPr>
            </a:pPr>
            <a:r>
              <a:t>Answer all four questions. Show your working.</a:t>
            </a:r>
          </a:p>
        </p:txBody>
      </p:sp>
      <p:sp>
        <p:nvSpPr>
          <p:cNvPr id="5" name="TextBox 4"/>
          <p:cNvSpPr txBox="1"/>
          <p:nvPr/>
        </p:nvSpPr>
        <p:spPr>
          <a:xfrm>
            <a:off x="320040" y="7973568"/>
            <a:ext cx="10789920" cy="210312"/>
          </a:xfrm>
          <a:prstGeom prst="rect">
            <a:avLst/>
          </a:prstGeom>
          <a:noFill/>
        </p:spPr>
        <p:txBody>
          <a:bodyPr wrap="square" lIns="54864" rIns="54864" tIns="22860" bIns="22860">
            <a:spAutoFit/>
          </a:bodyPr>
          <a:lstStyle/>
          <a:p>
            <a:pPr>
              <a:lnSpc>
                <a:spcPts val="1155"/>
              </a:lnSpc>
              <a:spcBef>
                <a:spcPts val="0"/>
              </a:spcBef>
              <a:spcAft>
                <a:spcPts val="0"/>
              </a:spcAft>
              <a:defRPr sz="1100" b="0">
                <a:solidFill>
                  <a:srgbClr val="526472"/>
                </a:solidFill>
                <a:latin typeface="Arial"/>
              </a:defRPr>
            </a:pPr>
            <a:r>
              <a:t>GCSE Maths revision • No calculator • Show your working.</a:t>
            </a:r>
          </a:p>
        </p:txBody>
      </p:sp>
      <p:sp>
        <p:nvSpPr>
          <p:cNvPr id="6" name="TextBox 5"/>
          <p:cNvSpPr txBox="1"/>
          <p:nvPr/>
        </p:nvSpPr>
        <p:spPr>
          <a:xfrm>
            <a:off x="11155680" y="7973568"/>
            <a:ext cx="3108960" cy="210312"/>
          </a:xfrm>
          <a:prstGeom prst="rect">
            <a:avLst/>
          </a:prstGeom>
          <a:noFill/>
        </p:spPr>
        <p:txBody>
          <a:bodyPr wrap="square" lIns="54864" rIns="54864" tIns="22860" bIns="22860">
            <a:spAutoFit/>
          </a:bodyPr>
          <a:lstStyle/>
          <a:p>
            <a:pPr>
              <a:lnSpc>
                <a:spcPts val="1155"/>
              </a:lnSpc>
              <a:spcBef>
                <a:spcPts val="0"/>
              </a:spcBef>
              <a:spcAft>
                <a:spcPts val="0"/>
              </a:spcAft>
              <a:defRPr sz="1100" b="0">
                <a:solidFill>
                  <a:srgbClr val="526472"/>
                </a:solidFill>
                <a:latin typeface="Arial"/>
              </a:defRPr>
            </a:pPr>
            <a:r>
              <a:t>M04-IA</a:t>
            </a:r>
          </a:p>
        </p:txBody>
      </p:sp>
      <p:sp>
        <p:nvSpPr>
          <p:cNvPr id="7" name="Rectangle 6"/>
          <p:cNvSpPr/>
          <p:nvPr/>
        </p:nvSpPr>
        <p:spPr>
          <a:xfrm>
            <a:off x="457200" y="1691640"/>
            <a:ext cx="6720840" cy="2606040"/>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94360" y="1828800"/>
            <a:ext cx="6446520" cy="1280160"/>
          </a:xfrm>
          <a:prstGeom prst="rect">
            <a:avLst/>
          </a:prstGeom>
          <a:noFill/>
        </p:spPr>
        <p:txBody>
          <a:bodyPr wrap="square" lIns="54864" rIns="54864" tIns="22860" bIns="22860">
            <a:spAutoFit/>
          </a:bodyPr>
          <a:lstStyle/>
          <a:p>
            <a:pPr>
              <a:lnSpc>
                <a:spcPts val="2205"/>
              </a:lnSpc>
              <a:spcBef>
                <a:spcPts val="0"/>
              </a:spcBef>
              <a:spcAft>
                <a:spcPts val="0"/>
              </a:spcAft>
              <a:defRPr sz="2100" b="1">
                <a:solidFill>
                  <a:srgbClr val="182B3A"/>
                </a:solidFill>
                <a:latin typeface="Arial"/>
              </a:defRPr>
            </a:pPr>
            <a:r>
              <a:t>1.  Share £35 between A and B in the ratio 2:5. How much does A receive?</a:t>
            </a:r>
          </a:p>
        </p:txBody>
      </p:sp>
      <p:sp>
        <p:nvSpPr>
          <p:cNvPr id="9" name="Rectangle 8"/>
          <p:cNvSpPr/>
          <p:nvPr/>
        </p:nvSpPr>
        <p:spPr>
          <a:xfrm>
            <a:off x="7452360" y="1691640"/>
            <a:ext cx="6720840" cy="2606040"/>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589520" y="1828800"/>
            <a:ext cx="6446520" cy="1280160"/>
          </a:xfrm>
          <a:prstGeom prst="rect">
            <a:avLst/>
          </a:prstGeom>
          <a:noFill/>
        </p:spPr>
        <p:txBody>
          <a:bodyPr wrap="square" lIns="54864" rIns="54864" tIns="22860" bIns="22860">
            <a:spAutoFit/>
          </a:bodyPr>
          <a:lstStyle/>
          <a:p>
            <a:pPr>
              <a:lnSpc>
                <a:spcPts val="2205"/>
              </a:lnSpc>
              <a:spcBef>
                <a:spcPts val="0"/>
              </a:spcBef>
              <a:spcAft>
                <a:spcPts val="0"/>
              </a:spcAft>
              <a:defRPr sz="2100" b="1">
                <a:solidFill>
                  <a:srgbClr val="182B3A"/>
                </a:solidFill>
                <a:latin typeface="Arial"/>
              </a:defRPr>
            </a:pPr>
            <a:r>
              <a:t>2.  Red and blue counters are in the ratio 3:4. There are 12 red counters. How many blue counters are there?</a:t>
            </a:r>
          </a:p>
        </p:txBody>
      </p:sp>
      <p:sp>
        <p:nvSpPr>
          <p:cNvPr id="11" name="Rectangle 10"/>
          <p:cNvSpPr/>
          <p:nvPr/>
        </p:nvSpPr>
        <p:spPr>
          <a:xfrm>
            <a:off x="457200" y="4526280"/>
            <a:ext cx="6720840" cy="2606040"/>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594360" y="4663440"/>
            <a:ext cx="6446520" cy="1280160"/>
          </a:xfrm>
          <a:prstGeom prst="rect">
            <a:avLst/>
          </a:prstGeom>
          <a:noFill/>
        </p:spPr>
        <p:txBody>
          <a:bodyPr wrap="square" lIns="54864" rIns="54864" tIns="22860" bIns="22860">
            <a:spAutoFit/>
          </a:bodyPr>
          <a:lstStyle/>
          <a:p>
            <a:pPr>
              <a:lnSpc>
                <a:spcPts val="2205"/>
              </a:lnSpc>
              <a:spcBef>
                <a:spcPts val="0"/>
              </a:spcBef>
              <a:spcAft>
                <a:spcPts val="0"/>
              </a:spcAft>
              <a:defRPr sz="2100" b="1">
                <a:solidFill>
                  <a:srgbClr val="182B3A"/>
                </a:solidFill>
                <a:latin typeface="Arial"/>
              </a:defRPr>
            </a:pPr>
            <a:r>
              <a:t>3.  Two ribbons have lengths in the ratio 2:7. The longer is 25 cm longer than the shorter. Find the shorter length.</a:t>
            </a:r>
          </a:p>
        </p:txBody>
      </p:sp>
      <p:sp>
        <p:nvSpPr>
          <p:cNvPr id="13" name="Rectangle 12"/>
          <p:cNvSpPr/>
          <p:nvPr/>
        </p:nvSpPr>
        <p:spPr>
          <a:xfrm>
            <a:off x="7452360" y="4526280"/>
            <a:ext cx="6720840" cy="2606040"/>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589520" y="4663440"/>
            <a:ext cx="6446520" cy="1280160"/>
          </a:xfrm>
          <a:prstGeom prst="rect">
            <a:avLst/>
          </a:prstGeom>
          <a:noFill/>
        </p:spPr>
        <p:txBody>
          <a:bodyPr wrap="square" lIns="54864" rIns="54864" tIns="22860" bIns="22860">
            <a:spAutoFit/>
          </a:bodyPr>
          <a:lstStyle/>
          <a:p>
            <a:pPr>
              <a:lnSpc>
                <a:spcPts val="2205"/>
              </a:lnSpc>
              <a:spcBef>
                <a:spcPts val="0"/>
              </a:spcBef>
              <a:spcAft>
                <a:spcPts val="0"/>
              </a:spcAft>
              <a:defRPr sz="2100" b="1">
                <a:solidFill>
                  <a:srgbClr val="182B3A"/>
                </a:solidFill>
                <a:latin typeface="Arial"/>
              </a:defRPr>
            </a:pPr>
            <a:r>
              <a:t>4.  Adults and children are in the ratio 5:8. There are 39 people altogether. How many more children than adults are there?</a:t>
            </a:r>
          </a:p>
        </p:txBody>
      </p:sp>
    </p:spTree>
  </p:cSld>
  <p:clrMapOvr>
    <a:masterClrMapping/>
  </p:clrMapOvr>
</p:sld>
</file>

<file path=ppt/slides/slide60.xml><?xml version="1.0" encoding="utf-8"?>
<p:sld xmlns:a="http://schemas.openxmlformats.org/drawingml/2006/main" xmlns:p="http://schemas.openxmlformats.org/presentationml/2006/main" xmlns:r="http://schemas.openxmlformats.org/officeDocument/2006/relationships">
  <p:cSld>
    <p:bg>
      <p:bgPr>
        <a:solidFill>
          <a:srgbClr val="F7F8FA"/>
        </a:solidFill>
        <a:effectLst/>
      </p:bgPr>
    </p:bg>
    <p:spTree>
      <p:nvGrpSpPr>
        <p:cNvPr id="1" name=""/>
        <p:cNvGrpSpPr/>
        <p:nvPr/>
      </p:nvGrpSpPr>
      <p:grpSpPr/>
      <p:sp>
        <p:nvSpPr>
          <p:cNvPr id="2" name="Rectangle 1"/>
          <p:cNvSpPr/>
          <p:nvPr/>
        </p:nvSpPr>
        <p:spPr>
          <a:xfrm>
            <a:off x="0" y="0"/>
            <a:ext cx="14630400" cy="73152"/>
          </a:xfrm>
          <a:prstGeom prst="rect">
            <a:avLst/>
          </a:prstGeom>
          <a:solidFill>
            <a:srgbClr val="176B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320040" y="164592"/>
            <a:ext cx="13990320" cy="457200"/>
          </a:xfrm>
          <a:prstGeom prst="rect">
            <a:avLst/>
          </a:prstGeom>
          <a:noFill/>
        </p:spPr>
        <p:txBody>
          <a:bodyPr wrap="square" lIns="54864" tIns="22860" rIns="54864" bIns="22860">
            <a:spAutoFit/>
          </a:bodyPr>
          <a:lstStyle/>
          <a:p>
            <a:pPr>
              <a:lnSpc>
                <a:spcPts val="2940"/>
              </a:lnSpc>
              <a:spcBef>
                <a:spcPts val="0"/>
              </a:spcBef>
              <a:spcAft>
                <a:spcPts val="0"/>
              </a:spcAft>
              <a:defRPr sz="2800" b="1">
                <a:solidFill>
                  <a:srgbClr val="182B3A"/>
                </a:solidFill>
                <a:latin typeface="Arial"/>
              </a:defRPr>
            </a:pPr>
            <a:r>
              <a:t>Ratio: sharing and missing amounts</a:t>
            </a:r>
          </a:p>
        </p:txBody>
      </p:sp>
      <p:sp>
        <p:nvSpPr>
          <p:cNvPr id="4" name="TextBox 3"/>
          <p:cNvSpPr txBox="1"/>
          <p:nvPr/>
        </p:nvSpPr>
        <p:spPr>
          <a:xfrm>
            <a:off x="320040" y="704088"/>
            <a:ext cx="13990320" cy="347472"/>
          </a:xfrm>
          <a:prstGeom prst="rect">
            <a:avLst/>
          </a:prstGeom>
          <a:noFill/>
        </p:spPr>
        <p:txBody>
          <a:bodyPr wrap="square" lIns="54864" tIns="22860" rIns="54864" bIns="22860">
            <a:spAutoFit/>
          </a:bodyPr>
          <a:lstStyle/>
          <a:p>
            <a:pPr>
              <a:lnSpc>
                <a:spcPts val="1575"/>
              </a:lnSpc>
              <a:spcBef>
                <a:spcPts val="0"/>
              </a:spcBef>
              <a:spcAft>
                <a:spcPts val="0"/>
              </a:spcAft>
              <a:defRPr sz="1500" b="0">
                <a:solidFill>
                  <a:srgbClr val="526472"/>
                </a:solidFill>
                <a:latin typeface="Arial"/>
              </a:defRPr>
            </a:pPr>
            <a:r>
              <a:t>Worked demo • Follow each step down your column.</a:t>
            </a:r>
          </a:p>
        </p:txBody>
      </p:sp>
      <p:sp>
        <p:nvSpPr>
          <p:cNvPr id="5" name="TextBox 4"/>
          <p:cNvSpPr txBox="1"/>
          <p:nvPr/>
        </p:nvSpPr>
        <p:spPr>
          <a:xfrm>
            <a:off x="320040" y="7973568"/>
            <a:ext cx="10789920" cy="210312"/>
          </a:xfrm>
          <a:prstGeom prst="rect">
            <a:avLst/>
          </a:prstGeom>
          <a:noFill/>
        </p:spPr>
        <p:txBody>
          <a:bodyPr wrap="square" lIns="54864" tIns="22860" rIns="54864" bIns="22860">
            <a:spAutoFit/>
          </a:bodyPr>
          <a:lstStyle/>
          <a:p>
            <a:pPr>
              <a:lnSpc>
                <a:spcPts val="1155"/>
              </a:lnSpc>
              <a:spcBef>
                <a:spcPts val="0"/>
              </a:spcBef>
              <a:spcAft>
                <a:spcPts val="0"/>
              </a:spcAft>
              <a:defRPr sz="1100" b="0">
                <a:solidFill>
                  <a:srgbClr val="526472"/>
                </a:solidFill>
                <a:latin typeface="Arial"/>
              </a:defRPr>
            </a:pPr>
            <a:r>
              <a:t>GCSE Maths revision • No calculator • Show your working.</a:t>
            </a:r>
          </a:p>
        </p:txBody>
      </p:sp>
      <p:sp>
        <p:nvSpPr>
          <p:cNvPr id="6" name="TextBox 5"/>
          <p:cNvSpPr txBox="1"/>
          <p:nvPr/>
        </p:nvSpPr>
        <p:spPr>
          <a:xfrm>
            <a:off x="11155680" y="7973568"/>
            <a:ext cx="3108960" cy="210312"/>
          </a:xfrm>
          <a:prstGeom prst="rect">
            <a:avLst/>
          </a:prstGeom>
          <a:noFill/>
        </p:spPr>
        <p:txBody>
          <a:bodyPr wrap="square" lIns="54864" tIns="22860" rIns="54864" bIns="22860">
            <a:spAutoFit/>
          </a:bodyPr>
          <a:lstStyle/>
          <a:p>
            <a:pPr>
              <a:lnSpc>
                <a:spcPts val="1155"/>
              </a:lnSpc>
              <a:spcBef>
                <a:spcPts val="0"/>
              </a:spcBef>
              <a:spcAft>
                <a:spcPts val="0"/>
              </a:spcAft>
              <a:defRPr sz="1100" b="0">
                <a:solidFill>
                  <a:srgbClr val="526472"/>
                </a:solidFill>
                <a:latin typeface="Arial"/>
              </a:defRPr>
            </a:pPr>
            <a:r>
              <a:t>M04-S01</a:t>
            </a:r>
          </a:p>
        </p:txBody>
      </p:sp>
      <p:sp>
        <p:nvSpPr>
          <p:cNvPr id="7" name="Rectangle 6"/>
          <p:cNvSpPr/>
          <p:nvPr/>
        </p:nvSpPr>
        <p:spPr>
          <a:xfrm>
            <a:off x="2121408" y="1115568"/>
            <a:ext cx="4040123" cy="420624"/>
          </a:xfrm>
          <a:prstGeom prst="rect">
            <a:avLst/>
          </a:prstGeom>
          <a:solidFill>
            <a:srgbClr val="176B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2148839" y="1147572"/>
            <a:ext cx="3980688" cy="329184"/>
          </a:xfrm>
          <a:prstGeom prst="rect">
            <a:avLst/>
          </a:prstGeom>
          <a:noFill/>
        </p:spPr>
        <p:txBody>
          <a:bodyPr wrap="square" lIns="54864" tIns="22860" rIns="54864" bIns="22860">
            <a:spAutoFit/>
          </a:bodyPr>
          <a:lstStyle/>
          <a:p>
            <a:pPr>
              <a:lnSpc>
                <a:spcPts val="1995"/>
              </a:lnSpc>
              <a:spcBef>
                <a:spcPts val="0"/>
              </a:spcBef>
              <a:spcAft>
                <a:spcPts val="0"/>
              </a:spcAft>
              <a:defRPr sz="1900" b="1">
                <a:solidFill>
                  <a:srgbClr val="FFFFFF"/>
                </a:solidFill>
                <a:latin typeface="Arial"/>
              </a:defRPr>
            </a:pPr>
            <a:r>
              <a:t>Start</a:t>
            </a:r>
          </a:p>
        </p:txBody>
      </p:sp>
      <p:sp>
        <p:nvSpPr>
          <p:cNvPr id="9" name="Rectangle 8"/>
          <p:cNvSpPr/>
          <p:nvPr/>
        </p:nvSpPr>
        <p:spPr>
          <a:xfrm>
            <a:off x="6184392" y="1115568"/>
            <a:ext cx="4040123" cy="420624"/>
          </a:xfrm>
          <a:prstGeom prst="rect">
            <a:avLst/>
          </a:prstGeom>
          <a:solidFill>
            <a:srgbClr val="3559A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6211824" y="1147572"/>
            <a:ext cx="3980688" cy="329184"/>
          </a:xfrm>
          <a:prstGeom prst="rect">
            <a:avLst/>
          </a:prstGeom>
          <a:noFill/>
        </p:spPr>
        <p:txBody>
          <a:bodyPr wrap="square" lIns="54864" tIns="22860" rIns="54864" bIns="22860">
            <a:spAutoFit/>
          </a:bodyPr>
          <a:lstStyle/>
          <a:p>
            <a:pPr>
              <a:lnSpc>
                <a:spcPts val="1995"/>
              </a:lnSpc>
              <a:spcBef>
                <a:spcPts val="0"/>
              </a:spcBef>
              <a:spcAft>
                <a:spcPts val="0"/>
              </a:spcAft>
              <a:defRPr sz="1900" b="1">
                <a:solidFill>
                  <a:srgbClr val="FFFFFF"/>
                </a:solidFill>
                <a:latin typeface="Arial"/>
              </a:defRPr>
            </a:pPr>
            <a:r>
              <a:t>Build</a:t>
            </a:r>
          </a:p>
        </p:txBody>
      </p:sp>
      <p:sp>
        <p:nvSpPr>
          <p:cNvPr id="11" name="Rectangle 10"/>
          <p:cNvSpPr/>
          <p:nvPr/>
        </p:nvSpPr>
        <p:spPr>
          <a:xfrm>
            <a:off x="10247376" y="1115568"/>
            <a:ext cx="4040123" cy="420624"/>
          </a:xfrm>
          <a:prstGeom prst="rect">
            <a:avLst/>
          </a:prstGeom>
          <a:solidFill>
            <a:srgbClr val="754B8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10274808" y="1147572"/>
            <a:ext cx="3980688" cy="329184"/>
          </a:xfrm>
          <a:prstGeom prst="rect">
            <a:avLst/>
          </a:prstGeom>
          <a:noFill/>
        </p:spPr>
        <p:txBody>
          <a:bodyPr wrap="square" lIns="54864" tIns="22860" rIns="54864" bIns="22860">
            <a:spAutoFit/>
          </a:bodyPr>
          <a:lstStyle/>
          <a:p>
            <a:pPr>
              <a:lnSpc>
                <a:spcPts val="1995"/>
              </a:lnSpc>
              <a:spcBef>
                <a:spcPts val="0"/>
              </a:spcBef>
              <a:spcAft>
                <a:spcPts val="0"/>
              </a:spcAft>
              <a:defRPr sz="1900" b="1">
                <a:solidFill>
                  <a:srgbClr val="FFFFFF"/>
                </a:solidFill>
                <a:latin typeface="Arial"/>
              </a:defRPr>
            </a:pPr>
            <a:r>
              <a:t>Confidence</a:t>
            </a:r>
          </a:p>
        </p:txBody>
      </p:sp>
      <p:sp>
        <p:nvSpPr>
          <p:cNvPr id="13" name="Rectangle 12"/>
          <p:cNvSpPr/>
          <p:nvPr/>
        </p:nvSpPr>
        <p:spPr>
          <a:xfrm>
            <a:off x="320040" y="1563624"/>
            <a:ext cx="1801367" cy="1389888"/>
          </a:xfrm>
          <a:prstGeom prst="rect">
            <a:avLst/>
          </a:prstGeom>
          <a:solidFill>
            <a:srgbClr val="E8EDF1"/>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374904" y="1673352"/>
            <a:ext cx="1691639" cy="1207008"/>
          </a:xfrm>
          <a:prstGeom prst="rect">
            <a:avLst/>
          </a:prstGeom>
          <a:noFill/>
        </p:spPr>
        <p:txBody>
          <a:bodyPr wrap="square" lIns="54864" tIns="22860" rIns="54864" bIns="22860">
            <a:spAutoFit/>
          </a:bodyPr>
          <a:lstStyle/>
          <a:p>
            <a:pPr>
              <a:lnSpc>
                <a:spcPts val="1785"/>
              </a:lnSpc>
              <a:spcBef>
                <a:spcPts val="0"/>
              </a:spcBef>
              <a:spcAft>
                <a:spcPts val="0"/>
              </a:spcAft>
              <a:defRPr sz="1700" b="1">
                <a:solidFill>
                  <a:srgbClr val="182B3A"/>
                </a:solidFill>
                <a:latin typeface="Arial"/>
              </a:defRPr>
            </a:pPr>
            <a:r>
              <a:t>The Full Question</a:t>
            </a:r>
          </a:p>
        </p:txBody>
      </p:sp>
      <p:sp>
        <p:nvSpPr>
          <p:cNvPr id="15" name="Rectangle 14"/>
          <p:cNvSpPr/>
          <p:nvPr/>
        </p:nvSpPr>
        <p:spPr>
          <a:xfrm>
            <a:off x="2121408" y="1563624"/>
            <a:ext cx="4062984" cy="1389888"/>
          </a:xfrm>
          <a:prstGeom prst="rect">
            <a:avLst/>
          </a:prstGeom>
          <a:solidFill>
            <a:srgbClr val="EDF6F5"/>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2167127" y="1627632"/>
            <a:ext cx="3971544" cy="1261872"/>
          </a:xfrm>
          <a:prstGeom prst="rect">
            <a:avLst/>
          </a:prstGeom>
          <a:noFill/>
        </p:spPr>
        <p:txBody>
          <a:bodyPr wrap="square" lIns="54864" tIns="22860" rIns="54864" bIns="22860">
            <a:spAutoFit/>
          </a:bodyPr>
          <a:lstStyle/>
          <a:p>
            <a:pPr>
              <a:lnSpc>
                <a:spcPts val="1890"/>
              </a:lnSpc>
              <a:spcBef>
                <a:spcPts val="0"/>
              </a:spcBef>
              <a:spcAft>
                <a:spcPts val="0"/>
              </a:spcAft>
              <a:defRPr sz="1800" b="1">
                <a:solidFill>
                  <a:srgbClr val="182B3A"/>
                </a:solidFill>
                <a:latin typeface="Arial"/>
              </a:defRPr>
            </a:pPr>
            <a:r>
              <a:t>A and B share £120 in the ratio 2:3. How much does B receive?</a:t>
            </a:r>
          </a:p>
        </p:txBody>
      </p:sp>
      <p:sp>
        <p:nvSpPr>
          <p:cNvPr id="17" name="Rectangle 16"/>
          <p:cNvSpPr/>
          <p:nvPr/>
        </p:nvSpPr>
        <p:spPr>
          <a:xfrm>
            <a:off x="6184392" y="1563624"/>
            <a:ext cx="4062984" cy="1389888"/>
          </a:xfrm>
          <a:prstGeom prst="rect">
            <a:avLst/>
          </a:prstGeom>
          <a:solidFill>
            <a:srgbClr val="EFF3FA"/>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6230112" y="1627632"/>
            <a:ext cx="3971544" cy="1261872"/>
          </a:xfrm>
          <a:prstGeom prst="rect">
            <a:avLst/>
          </a:prstGeom>
          <a:noFill/>
        </p:spPr>
        <p:txBody>
          <a:bodyPr wrap="square" lIns="54864" tIns="22860" rIns="54864" bIns="22860">
            <a:spAutoFit/>
          </a:bodyPr>
          <a:lstStyle/>
          <a:p>
            <a:pPr>
              <a:lnSpc>
                <a:spcPts val="1890"/>
              </a:lnSpc>
              <a:spcBef>
                <a:spcPts val="0"/>
              </a:spcBef>
              <a:spcAft>
                <a:spcPts val="0"/>
              </a:spcAft>
              <a:defRPr sz="1800" b="1">
                <a:solidFill>
                  <a:srgbClr val="182B3A"/>
                </a:solidFill>
                <a:latin typeface="Arial"/>
              </a:defRPr>
            </a:pPr>
            <a:r>
              <a:t>Red and blue paint are mixed in the ratio 3:5. There are 18 litres of red paint. How many litres of blue paint are needed?</a:t>
            </a:r>
          </a:p>
        </p:txBody>
      </p:sp>
      <p:sp>
        <p:nvSpPr>
          <p:cNvPr id="19" name="Rectangle 18"/>
          <p:cNvSpPr/>
          <p:nvPr/>
        </p:nvSpPr>
        <p:spPr>
          <a:xfrm>
            <a:off x="10247376" y="1563624"/>
            <a:ext cx="4062984" cy="1389888"/>
          </a:xfrm>
          <a:prstGeom prst="rect">
            <a:avLst/>
          </a:prstGeom>
          <a:solidFill>
            <a:srgbClr val="F5F0F7"/>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10293096" y="1627632"/>
            <a:ext cx="3971544" cy="1261872"/>
          </a:xfrm>
          <a:prstGeom prst="rect">
            <a:avLst/>
          </a:prstGeom>
          <a:noFill/>
        </p:spPr>
        <p:txBody>
          <a:bodyPr wrap="square" lIns="54864" tIns="22860" rIns="54864" bIns="22860">
            <a:spAutoFit/>
          </a:bodyPr>
          <a:lstStyle/>
          <a:p>
            <a:pPr>
              <a:lnSpc>
                <a:spcPts val="1890"/>
              </a:lnSpc>
              <a:spcBef>
                <a:spcPts val="0"/>
              </a:spcBef>
              <a:spcAft>
                <a:spcPts val="0"/>
              </a:spcAft>
              <a:defRPr sz="1800" b="1">
                <a:solidFill>
                  <a:srgbClr val="182B3A"/>
                </a:solidFill>
                <a:latin typeface="Arial"/>
              </a:defRPr>
            </a:pPr>
            <a:r>
              <a:t>Red and blue counters are in the ratio 3:7. There are 28 more blue counters than red counters. How many counters are there altogether?</a:t>
            </a:r>
          </a:p>
        </p:txBody>
      </p:sp>
      <p:sp>
        <p:nvSpPr>
          <p:cNvPr id="21" name="Rectangle 20"/>
          <p:cNvSpPr/>
          <p:nvPr/>
        </p:nvSpPr>
        <p:spPr>
          <a:xfrm>
            <a:off x="320040" y="2953512"/>
            <a:ext cx="1801367" cy="960120"/>
          </a:xfrm>
          <a:prstGeom prst="rect">
            <a:avLst/>
          </a:prstGeom>
          <a:solidFill>
            <a:srgbClr val="E8EDF1"/>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374904" y="3026664"/>
            <a:ext cx="1691639" cy="813816"/>
          </a:xfrm>
          <a:prstGeom prst="rect">
            <a:avLst/>
          </a:prstGeom>
          <a:noFill/>
        </p:spPr>
        <p:txBody>
          <a:bodyPr wrap="square" lIns="54864" tIns="22860" rIns="54864" bIns="22860">
            <a:spAutoFit/>
          </a:bodyPr>
          <a:lstStyle/>
          <a:p>
            <a:pPr>
              <a:lnSpc>
                <a:spcPts val="1785"/>
              </a:lnSpc>
              <a:spcBef>
                <a:spcPts val="0"/>
              </a:spcBef>
              <a:spcAft>
                <a:spcPts val="0"/>
              </a:spcAft>
              <a:defRPr sz="1700" b="1">
                <a:solidFill>
                  <a:srgbClr val="182B3A"/>
                </a:solidFill>
                <a:latin typeface="Arial"/>
              </a:defRPr>
            </a:pPr>
            <a:r>
              <a:t>Keywords &amp; Calculation</a:t>
            </a:r>
          </a:p>
        </p:txBody>
      </p:sp>
      <p:sp>
        <p:nvSpPr>
          <p:cNvPr id="23" name="Rectangle 22"/>
          <p:cNvSpPr/>
          <p:nvPr/>
        </p:nvSpPr>
        <p:spPr>
          <a:xfrm>
            <a:off x="2121408" y="2953512"/>
            <a:ext cx="4062984" cy="960120"/>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TextBox 23"/>
          <p:cNvSpPr txBox="1"/>
          <p:nvPr/>
        </p:nvSpPr>
        <p:spPr>
          <a:xfrm>
            <a:off x="2167127" y="3026664"/>
            <a:ext cx="3971544" cy="813816"/>
          </a:xfrm>
          <a:prstGeom prst="rect">
            <a:avLst/>
          </a:prstGeom>
          <a:noFill/>
        </p:spPr>
        <p:txBody>
          <a:bodyPr wrap="square" lIns="54864" tIns="22860" rIns="54864" bIns="22860">
            <a:spAutoFit/>
          </a:bodyPr>
          <a:lstStyle/>
          <a:p>
            <a:pPr>
              <a:lnSpc>
                <a:spcPts val="1785"/>
              </a:lnSpc>
              <a:spcBef>
                <a:spcPts val="0"/>
              </a:spcBef>
              <a:spcAft>
                <a:spcPts val="0"/>
              </a:spcAft>
              <a:defRPr sz="1700" b="0">
                <a:solidFill>
                  <a:srgbClr val="182B3A"/>
                </a:solidFill>
                <a:latin typeface="Arial"/>
              </a:defRPr>
            </a:pPr>
            <a:r>
              <a:t>“share £120”: the total is known. 2 + 3 = 5 parts. £120 ÷ 5, then × 3.</a:t>
            </a:r>
          </a:p>
        </p:txBody>
      </p:sp>
      <p:sp>
        <p:nvSpPr>
          <p:cNvPr id="25" name="Rectangle 24"/>
          <p:cNvSpPr/>
          <p:nvPr/>
        </p:nvSpPr>
        <p:spPr>
          <a:xfrm>
            <a:off x="6184392" y="2953512"/>
            <a:ext cx="4062984" cy="960120"/>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TextBox 25"/>
          <p:cNvSpPr txBox="1"/>
          <p:nvPr/>
        </p:nvSpPr>
        <p:spPr>
          <a:xfrm>
            <a:off x="6230112" y="3026664"/>
            <a:ext cx="3971544" cy="813816"/>
          </a:xfrm>
          <a:prstGeom prst="rect">
            <a:avLst/>
          </a:prstGeom>
          <a:noFill/>
        </p:spPr>
        <p:txBody>
          <a:bodyPr wrap="square" lIns="54864" tIns="22860" rIns="54864" bIns="22860">
            <a:spAutoFit/>
          </a:bodyPr>
          <a:lstStyle/>
          <a:p>
            <a:pPr>
              <a:lnSpc>
                <a:spcPts val="1785"/>
              </a:lnSpc>
              <a:spcBef>
                <a:spcPts val="0"/>
              </a:spcBef>
              <a:spcAft>
                <a:spcPts val="0"/>
              </a:spcAft>
              <a:defRPr sz="1700" b="0">
                <a:solidFill>
                  <a:srgbClr val="182B3A"/>
                </a:solidFill>
                <a:latin typeface="Arial"/>
              </a:defRPr>
            </a:pPr>
            <a:r>
              <a:t>“18 litres of red”: 3 parts are known. 18 ÷ 3, then × 5.</a:t>
            </a:r>
          </a:p>
        </p:txBody>
      </p:sp>
      <p:sp>
        <p:nvSpPr>
          <p:cNvPr id="27" name="Rectangle 26"/>
          <p:cNvSpPr/>
          <p:nvPr/>
        </p:nvSpPr>
        <p:spPr>
          <a:xfrm>
            <a:off x="10247376" y="2953512"/>
            <a:ext cx="4062984" cy="960120"/>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TextBox 27"/>
          <p:cNvSpPr txBox="1"/>
          <p:nvPr/>
        </p:nvSpPr>
        <p:spPr>
          <a:xfrm>
            <a:off x="10293096" y="3026664"/>
            <a:ext cx="3971544" cy="813816"/>
          </a:xfrm>
          <a:prstGeom prst="rect">
            <a:avLst/>
          </a:prstGeom>
          <a:noFill/>
        </p:spPr>
        <p:txBody>
          <a:bodyPr wrap="square" lIns="54864" tIns="22860" rIns="54864" bIns="22860">
            <a:spAutoFit/>
          </a:bodyPr>
          <a:lstStyle/>
          <a:p>
            <a:pPr>
              <a:lnSpc>
                <a:spcPts val="1785"/>
              </a:lnSpc>
              <a:spcBef>
                <a:spcPts val="0"/>
              </a:spcBef>
              <a:spcAft>
                <a:spcPts val="0"/>
              </a:spcAft>
              <a:defRPr sz="1700" b="0">
                <a:solidFill>
                  <a:srgbClr val="182B3A"/>
                </a:solidFill>
                <a:latin typeface="Arial"/>
              </a:defRPr>
            </a:pPr>
            <a:r>
              <a:t>“28 more blue”: the difference is known. 7 − 3 = 4 parts. 28 ÷ 4, then × (3 + 7).</a:t>
            </a:r>
          </a:p>
        </p:txBody>
      </p:sp>
      <p:sp>
        <p:nvSpPr>
          <p:cNvPr id="29" name="Rectangle 28"/>
          <p:cNvSpPr/>
          <p:nvPr/>
        </p:nvSpPr>
        <p:spPr>
          <a:xfrm>
            <a:off x="320040" y="3913632"/>
            <a:ext cx="1801367" cy="2066543"/>
          </a:xfrm>
          <a:prstGeom prst="rect">
            <a:avLst/>
          </a:prstGeom>
          <a:solidFill>
            <a:srgbClr val="E8EDF1"/>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TextBox 29"/>
          <p:cNvSpPr txBox="1"/>
          <p:nvPr/>
        </p:nvSpPr>
        <p:spPr>
          <a:xfrm>
            <a:off x="374904" y="3986784"/>
            <a:ext cx="1691639" cy="1920239"/>
          </a:xfrm>
          <a:prstGeom prst="rect">
            <a:avLst/>
          </a:prstGeom>
          <a:noFill/>
        </p:spPr>
        <p:txBody>
          <a:bodyPr wrap="square" lIns="54864" tIns="22860" rIns="54864" bIns="22860">
            <a:spAutoFit/>
          </a:bodyPr>
          <a:lstStyle/>
          <a:p>
            <a:pPr>
              <a:lnSpc>
                <a:spcPts val="1785"/>
              </a:lnSpc>
              <a:spcBef>
                <a:spcPts val="0"/>
              </a:spcBef>
              <a:spcAft>
                <a:spcPts val="0"/>
              </a:spcAft>
              <a:defRPr sz="1700" b="1">
                <a:solidFill>
                  <a:srgbClr val="182B3A"/>
                </a:solidFill>
                <a:latin typeface="Arial"/>
              </a:defRPr>
            </a:pPr>
            <a:r>
              <a:t>Written Method</a:t>
            </a:r>
          </a:p>
        </p:txBody>
      </p:sp>
      <p:sp>
        <p:nvSpPr>
          <p:cNvPr id="31" name="Rectangle 30"/>
          <p:cNvSpPr/>
          <p:nvPr/>
        </p:nvSpPr>
        <p:spPr>
          <a:xfrm>
            <a:off x="2121408" y="3913632"/>
            <a:ext cx="4062984" cy="2066543"/>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TextBox 31"/>
          <p:cNvSpPr txBox="1"/>
          <p:nvPr/>
        </p:nvSpPr>
        <p:spPr>
          <a:xfrm>
            <a:off x="2167127" y="3968496"/>
            <a:ext cx="3971544" cy="685800"/>
          </a:xfrm>
          <a:prstGeom prst="rect">
            <a:avLst/>
          </a:prstGeom>
          <a:noFill/>
        </p:spPr>
        <p:txBody>
          <a:bodyPr wrap="square" lIns="54864" tIns="22860" rIns="54864" bIns="22860">
            <a:spAutoFit/>
          </a:bodyPr>
          <a:lstStyle/>
          <a:p>
            <a:pPr>
              <a:lnSpc>
                <a:spcPts val="1785"/>
              </a:lnSpc>
              <a:spcBef>
                <a:spcPts val="0"/>
              </a:spcBef>
              <a:spcAft>
                <a:spcPts val="0"/>
              </a:spcAft>
              <a:defRPr sz="1700" b="0">
                <a:solidFill>
                  <a:srgbClr val="182B3A"/>
                </a:solidFill>
                <a:latin typeface="Arial"/>
              </a:defRPr>
            </a:pPr>
            <a:r>
              <a:t>£120 ÷ 5 = £24 per part. £24 × 3 = £72.</a:t>
            </a:r>
          </a:p>
        </p:txBody>
      </p:sp>
      <p:grpSp>
        <p:nvGrpSpPr>
          <p:cNvPr id="33" name="Ratio bars A:B = 2:3, total"/>
          <p:cNvGrpSpPr/>
          <p:nvPr/>
        </p:nvGrpSpPr>
        <p:grpSpPr>
          <a:xfrm>
            <a:off x="2194560" y="4686300"/>
            <a:ext cx="3916680" cy="1275588"/>
            <a:chOff x="2194560" y="4686300"/>
            <a:chExt cx="3916680" cy="1275588"/>
          </a:xfrm>
        </p:grpSpPr>
        <p:sp>
          <p:nvSpPr>
            <p:cNvPr id="34" name="TextBox 33"/>
            <p:cNvSpPr txBox="1"/>
            <p:nvPr/>
          </p:nvSpPr>
          <p:spPr>
            <a:xfrm>
              <a:off x="2194560" y="4686300"/>
              <a:ext cx="914400" cy="274320"/>
            </a:xfrm>
            <a:prstGeom prst="rect">
              <a:avLst/>
            </a:prstGeom>
            <a:noFill/>
          </p:spPr>
          <p:txBody>
            <a:bodyPr wrap="square" lIns="54864" tIns="22860" rIns="54864" bIns="22860">
              <a:spAutoFit/>
            </a:bodyPr>
            <a:lstStyle/>
            <a:p>
              <a:pPr>
                <a:lnSpc>
                  <a:spcPts val="1260"/>
                </a:lnSpc>
                <a:spcBef>
                  <a:spcPts val="0"/>
                </a:spcBef>
                <a:spcAft>
                  <a:spcPts val="0"/>
                </a:spcAft>
                <a:defRPr sz="1200" b="1">
                  <a:solidFill>
                    <a:srgbClr val="182B3A"/>
                  </a:solidFill>
                  <a:latin typeface="Arial"/>
                </a:defRPr>
              </a:pPr>
              <a:r>
                <a:t>A</a:t>
              </a:r>
            </a:p>
          </p:txBody>
        </p:sp>
        <p:sp>
          <p:nvSpPr>
            <p:cNvPr id="35" name="Rectangle 34"/>
            <p:cNvSpPr/>
            <p:nvPr/>
          </p:nvSpPr>
          <p:spPr>
            <a:xfrm>
              <a:off x="3108960" y="4709160"/>
              <a:ext cx="393192" cy="210312"/>
            </a:xfrm>
            <a:prstGeom prst="rect">
              <a:avLst/>
            </a:prstGeom>
            <a:solidFill>
              <a:srgbClr val="EDF6F5"/>
            </a:solidFill>
            <a:ln w="7620">
              <a:solidFill>
                <a:srgbClr val="176B73"/>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6" name="Rectangle 35"/>
            <p:cNvSpPr/>
            <p:nvPr/>
          </p:nvSpPr>
          <p:spPr>
            <a:xfrm>
              <a:off x="3502152" y="4709160"/>
              <a:ext cx="393192" cy="210312"/>
            </a:xfrm>
            <a:prstGeom prst="rect">
              <a:avLst/>
            </a:prstGeom>
            <a:solidFill>
              <a:srgbClr val="EDF6F5"/>
            </a:solidFill>
            <a:ln w="7620">
              <a:solidFill>
                <a:srgbClr val="176B73"/>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7" name="TextBox 36"/>
            <p:cNvSpPr txBox="1"/>
            <p:nvPr/>
          </p:nvSpPr>
          <p:spPr>
            <a:xfrm>
              <a:off x="2194560" y="5061204"/>
              <a:ext cx="914400" cy="274320"/>
            </a:xfrm>
            <a:prstGeom prst="rect">
              <a:avLst/>
            </a:prstGeom>
            <a:noFill/>
          </p:spPr>
          <p:txBody>
            <a:bodyPr wrap="square" lIns="54864" tIns="22860" rIns="54864" bIns="22860">
              <a:spAutoFit/>
            </a:bodyPr>
            <a:lstStyle/>
            <a:p>
              <a:pPr>
                <a:lnSpc>
                  <a:spcPts val="1260"/>
                </a:lnSpc>
                <a:spcBef>
                  <a:spcPts val="0"/>
                </a:spcBef>
                <a:spcAft>
                  <a:spcPts val="0"/>
                </a:spcAft>
                <a:defRPr sz="1200" b="1">
                  <a:solidFill>
                    <a:srgbClr val="182B3A"/>
                  </a:solidFill>
                  <a:latin typeface="Arial"/>
                </a:defRPr>
              </a:pPr>
              <a:r>
                <a:t>B</a:t>
              </a:r>
            </a:p>
          </p:txBody>
        </p:sp>
        <p:sp>
          <p:nvSpPr>
            <p:cNvPr id="38" name="Rectangle 37"/>
            <p:cNvSpPr/>
            <p:nvPr/>
          </p:nvSpPr>
          <p:spPr>
            <a:xfrm>
              <a:off x="3108960" y="5084064"/>
              <a:ext cx="393192" cy="210312"/>
            </a:xfrm>
            <a:prstGeom prst="rect">
              <a:avLst/>
            </a:prstGeom>
            <a:solidFill>
              <a:srgbClr val="EDF6F5"/>
            </a:solidFill>
            <a:ln w="7620">
              <a:solidFill>
                <a:srgbClr val="176B73"/>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9" name="Rectangle 38"/>
            <p:cNvSpPr/>
            <p:nvPr/>
          </p:nvSpPr>
          <p:spPr>
            <a:xfrm>
              <a:off x="3502152" y="5084064"/>
              <a:ext cx="393192" cy="210312"/>
            </a:xfrm>
            <a:prstGeom prst="rect">
              <a:avLst/>
            </a:prstGeom>
            <a:solidFill>
              <a:srgbClr val="EDF6F5"/>
            </a:solidFill>
            <a:ln w="7620">
              <a:solidFill>
                <a:srgbClr val="176B73"/>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0" name="Rectangle 39"/>
            <p:cNvSpPr/>
            <p:nvPr/>
          </p:nvSpPr>
          <p:spPr>
            <a:xfrm>
              <a:off x="3895344" y="5084064"/>
              <a:ext cx="393192" cy="210312"/>
            </a:xfrm>
            <a:prstGeom prst="rect">
              <a:avLst/>
            </a:prstGeom>
            <a:solidFill>
              <a:srgbClr val="EDF6F5"/>
            </a:solidFill>
            <a:ln w="7620">
              <a:solidFill>
                <a:srgbClr val="176B73"/>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cxnSp>
          <p:nvCxnSpPr>
            <p:cNvPr id="41" name="Connector 40"/>
            <p:cNvCxnSpPr/>
            <p:nvPr/>
          </p:nvCxnSpPr>
          <p:spPr>
            <a:xfrm>
              <a:off x="4379975" y="4709160"/>
              <a:ext cx="0" cy="585216"/>
            </a:xfrm>
            <a:prstGeom prst="line">
              <a:avLst/>
            </a:prstGeom>
            <a:ln w="15240">
              <a:solidFill>
                <a:srgbClr val="176B73"/>
              </a:solidFill>
            </a:ln>
          </p:spPr>
          <p:style>
            <a:lnRef idx="2">
              <a:schemeClr val="accent1"/>
            </a:lnRef>
            <a:fillRef idx="0">
              <a:schemeClr val="accent1"/>
            </a:fillRef>
            <a:effectRef idx="1">
              <a:schemeClr val="accent1"/>
            </a:effectRef>
            <a:fontRef idx="minor">
              <a:schemeClr val="tx1"/>
            </a:fontRef>
          </p:style>
        </p:cxnSp>
        <p:cxnSp>
          <p:nvCxnSpPr>
            <p:cNvPr id="42" name="Connector 41"/>
            <p:cNvCxnSpPr/>
            <p:nvPr/>
          </p:nvCxnSpPr>
          <p:spPr>
            <a:xfrm>
              <a:off x="4334255" y="4709160"/>
              <a:ext cx="45720" cy="0"/>
            </a:xfrm>
            <a:prstGeom prst="line">
              <a:avLst/>
            </a:prstGeom>
            <a:ln w="15240">
              <a:solidFill>
                <a:srgbClr val="176B73"/>
              </a:solidFill>
            </a:ln>
          </p:spPr>
          <p:style>
            <a:lnRef idx="2">
              <a:schemeClr val="accent1"/>
            </a:lnRef>
            <a:fillRef idx="0">
              <a:schemeClr val="accent1"/>
            </a:fillRef>
            <a:effectRef idx="1">
              <a:schemeClr val="accent1"/>
            </a:effectRef>
            <a:fontRef idx="minor">
              <a:schemeClr val="tx1"/>
            </a:fontRef>
          </p:style>
        </p:cxnSp>
        <p:cxnSp>
          <p:nvCxnSpPr>
            <p:cNvPr id="43" name="Connector 42"/>
            <p:cNvCxnSpPr/>
            <p:nvPr/>
          </p:nvCxnSpPr>
          <p:spPr>
            <a:xfrm>
              <a:off x="4334255" y="5294376"/>
              <a:ext cx="45720" cy="0"/>
            </a:xfrm>
            <a:prstGeom prst="line">
              <a:avLst/>
            </a:prstGeom>
            <a:ln w="15240">
              <a:solidFill>
                <a:srgbClr val="176B73"/>
              </a:solidFill>
            </a:ln>
          </p:spPr>
          <p:style>
            <a:lnRef idx="2">
              <a:schemeClr val="accent1"/>
            </a:lnRef>
            <a:fillRef idx="0">
              <a:schemeClr val="accent1"/>
            </a:fillRef>
            <a:effectRef idx="1">
              <a:schemeClr val="accent1"/>
            </a:effectRef>
            <a:fontRef idx="minor">
              <a:schemeClr val="tx1"/>
            </a:fontRef>
          </p:style>
        </p:cxnSp>
        <p:sp>
          <p:nvSpPr>
            <p:cNvPr id="44" name="TextBox 43"/>
            <p:cNvSpPr txBox="1"/>
            <p:nvPr/>
          </p:nvSpPr>
          <p:spPr>
            <a:xfrm>
              <a:off x="3108960" y="5385816"/>
              <a:ext cx="3002280" cy="265176"/>
            </a:xfrm>
            <a:prstGeom prst="rect">
              <a:avLst/>
            </a:prstGeom>
            <a:noFill/>
          </p:spPr>
          <p:txBody>
            <a:bodyPr wrap="square" lIns="54864" tIns="22860" rIns="54864" bIns="22860">
              <a:spAutoFit/>
            </a:bodyPr>
            <a:lstStyle/>
            <a:p>
              <a:pPr>
                <a:lnSpc>
                  <a:spcPts val="1260"/>
                </a:lnSpc>
                <a:spcBef>
                  <a:spcPts val="0"/>
                </a:spcBef>
                <a:spcAft>
                  <a:spcPts val="0"/>
                </a:spcAft>
                <a:defRPr sz="1200" b="1">
                  <a:solidFill>
                    <a:srgbClr val="176B73"/>
                  </a:solidFill>
                  <a:latin typeface="Arial"/>
                </a:defRPr>
              </a:pPr>
              <a:r>
                <a:t>£120 altogether</a:t>
              </a:r>
            </a:p>
          </p:txBody>
        </p:sp>
        <p:sp>
          <p:nvSpPr>
            <p:cNvPr id="45" name="TextBox 44"/>
            <p:cNvSpPr txBox="1"/>
            <p:nvPr/>
          </p:nvSpPr>
          <p:spPr>
            <a:xfrm>
              <a:off x="3108960" y="5696712"/>
              <a:ext cx="3002280" cy="265176"/>
            </a:xfrm>
            <a:prstGeom prst="rect">
              <a:avLst/>
            </a:prstGeom>
            <a:noFill/>
          </p:spPr>
          <p:txBody>
            <a:bodyPr wrap="square" lIns="54864" tIns="22860" rIns="54864" bIns="22860">
              <a:spAutoFit/>
            </a:bodyPr>
            <a:lstStyle/>
            <a:p>
              <a:pPr>
                <a:lnSpc>
                  <a:spcPts val="1365"/>
                </a:lnSpc>
                <a:spcBef>
                  <a:spcPts val="0"/>
                </a:spcBef>
                <a:spcAft>
                  <a:spcPts val="0"/>
                </a:spcAft>
                <a:defRPr sz="1300" b="1">
                  <a:solidFill>
                    <a:srgbClr val="176B73"/>
                  </a:solidFill>
                  <a:latin typeface="Arial"/>
                </a:defRPr>
              </a:pPr>
              <a:r>
                <a:t>1 part = £24</a:t>
              </a:r>
            </a:p>
          </p:txBody>
        </p:sp>
      </p:grpSp>
      <p:sp>
        <p:nvSpPr>
          <p:cNvPr id="46" name="Rectangle 45"/>
          <p:cNvSpPr/>
          <p:nvPr/>
        </p:nvSpPr>
        <p:spPr>
          <a:xfrm>
            <a:off x="6184392" y="3913632"/>
            <a:ext cx="4062984" cy="2066543"/>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7" name="TextBox 46"/>
          <p:cNvSpPr txBox="1"/>
          <p:nvPr/>
        </p:nvSpPr>
        <p:spPr>
          <a:xfrm>
            <a:off x="6230112" y="3968496"/>
            <a:ext cx="3971544" cy="685800"/>
          </a:xfrm>
          <a:prstGeom prst="rect">
            <a:avLst/>
          </a:prstGeom>
          <a:noFill/>
        </p:spPr>
        <p:txBody>
          <a:bodyPr wrap="square" lIns="54864" tIns="22860" rIns="54864" bIns="22860">
            <a:spAutoFit/>
          </a:bodyPr>
          <a:lstStyle/>
          <a:p>
            <a:pPr>
              <a:lnSpc>
                <a:spcPts val="1785"/>
              </a:lnSpc>
              <a:spcBef>
                <a:spcPts val="0"/>
              </a:spcBef>
              <a:spcAft>
                <a:spcPts val="0"/>
              </a:spcAft>
              <a:defRPr sz="1700" b="0">
                <a:solidFill>
                  <a:srgbClr val="182B3A"/>
                </a:solidFill>
                <a:latin typeface="Arial"/>
              </a:defRPr>
            </a:pPr>
            <a:r>
              <a:t>18 ÷ 3 = 6 litres per part. 6 × 5 = 30 litres.</a:t>
            </a:r>
          </a:p>
        </p:txBody>
      </p:sp>
      <p:grpSp>
        <p:nvGrpSpPr>
          <p:cNvPr id="48" name="Ratio bars Red:Blue = 3:5, first"/>
          <p:cNvGrpSpPr/>
          <p:nvPr/>
        </p:nvGrpSpPr>
        <p:grpSpPr>
          <a:xfrm>
            <a:off x="6257544" y="4626864"/>
            <a:ext cx="3916680" cy="1335024"/>
            <a:chOff x="6257544" y="4626864"/>
            <a:chExt cx="3916680" cy="1335024"/>
          </a:xfrm>
        </p:grpSpPr>
        <p:sp>
          <p:nvSpPr>
            <p:cNvPr id="49" name="TextBox 48"/>
            <p:cNvSpPr txBox="1"/>
            <p:nvPr/>
          </p:nvSpPr>
          <p:spPr>
            <a:xfrm>
              <a:off x="6257544" y="4686300"/>
              <a:ext cx="914400" cy="274320"/>
            </a:xfrm>
            <a:prstGeom prst="rect">
              <a:avLst/>
            </a:prstGeom>
            <a:noFill/>
          </p:spPr>
          <p:txBody>
            <a:bodyPr wrap="square" lIns="54864" tIns="22860" rIns="54864" bIns="22860">
              <a:spAutoFit/>
            </a:bodyPr>
            <a:lstStyle/>
            <a:p>
              <a:pPr>
                <a:lnSpc>
                  <a:spcPts val="1260"/>
                </a:lnSpc>
                <a:spcBef>
                  <a:spcPts val="0"/>
                </a:spcBef>
                <a:spcAft>
                  <a:spcPts val="0"/>
                </a:spcAft>
                <a:defRPr sz="1200" b="1">
                  <a:solidFill>
                    <a:srgbClr val="182B3A"/>
                  </a:solidFill>
                  <a:latin typeface="Arial"/>
                </a:defRPr>
              </a:pPr>
              <a:r>
                <a:t>Red</a:t>
              </a:r>
            </a:p>
          </p:txBody>
        </p:sp>
        <p:sp>
          <p:nvSpPr>
            <p:cNvPr id="50" name="Rectangle 49"/>
            <p:cNvSpPr/>
            <p:nvPr/>
          </p:nvSpPr>
          <p:spPr>
            <a:xfrm>
              <a:off x="7171944" y="4709160"/>
              <a:ext cx="393192" cy="210312"/>
            </a:xfrm>
            <a:prstGeom prst="rect">
              <a:avLst/>
            </a:prstGeom>
            <a:solidFill>
              <a:srgbClr val="EFF3FA"/>
            </a:solidFill>
            <a:ln w="7620">
              <a:solidFill>
                <a:srgbClr val="3559A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1" name="Rectangle 50"/>
            <p:cNvSpPr/>
            <p:nvPr/>
          </p:nvSpPr>
          <p:spPr>
            <a:xfrm>
              <a:off x="7565136" y="4709160"/>
              <a:ext cx="393192" cy="210312"/>
            </a:xfrm>
            <a:prstGeom prst="rect">
              <a:avLst/>
            </a:prstGeom>
            <a:solidFill>
              <a:srgbClr val="EFF3FA"/>
            </a:solidFill>
            <a:ln w="7620">
              <a:solidFill>
                <a:srgbClr val="3559A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2" name="Rectangle 51"/>
            <p:cNvSpPr/>
            <p:nvPr/>
          </p:nvSpPr>
          <p:spPr>
            <a:xfrm>
              <a:off x="7958328" y="4709160"/>
              <a:ext cx="393192" cy="210312"/>
            </a:xfrm>
            <a:prstGeom prst="rect">
              <a:avLst/>
            </a:prstGeom>
            <a:solidFill>
              <a:srgbClr val="EFF3FA"/>
            </a:solidFill>
            <a:ln w="7620">
              <a:solidFill>
                <a:srgbClr val="3559A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3" name="TextBox 52"/>
            <p:cNvSpPr txBox="1"/>
            <p:nvPr/>
          </p:nvSpPr>
          <p:spPr>
            <a:xfrm>
              <a:off x="6257544" y="5061204"/>
              <a:ext cx="914400" cy="274320"/>
            </a:xfrm>
            <a:prstGeom prst="rect">
              <a:avLst/>
            </a:prstGeom>
            <a:noFill/>
          </p:spPr>
          <p:txBody>
            <a:bodyPr wrap="square" lIns="54864" tIns="22860" rIns="54864" bIns="22860">
              <a:spAutoFit/>
            </a:bodyPr>
            <a:lstStyle/>
            <a:p>
              <a:pPr>
                <a:lnSpc>
                  <a:spcPts val="1260"/>
                </a:lnSpc>
                <a:spcBef>
                  <a:spcPts val="0"/>
                </a:spcBef>
                <a:spcAft>
                  <a:spcPts val="0"/>
                </a:spcAft>
                <a:defRPr sz="1200" b="1">
                  <a:solidFill>
                    <a:srgbClr val="182B3A"/>
                  </a:solidFill>
                  <a:latin typeface="Arial"/>
                </a:defRPr>
              </a:pPr>
              <a:r>
                <a:t>Blue</a:t>
              </a:r>
            </a:p>
          </p:txBody>
        </p:sp>
        <p:sp>
          <p:nvSpPr>
            <p:cNvPr id="54" name="Rectangle 53"/>
            <p:cNvSpPr/>
            <p:nvPr/>
          </p:nvSpPr>
          <p:spPr>
            <a:xfrm>
              <a:off x="7171944" y="5084064"/>
              <a:ext cx="393192" cy="210312"/>
            </a:xfrm>
            <a:prstGeom prst="rect">
              <a:avLst/>
            </a:prstGeom>
            <a:solidFill>
              <a:srgbClr val="EFF3FA"/>
            </a:solidFill>
            <a:ln w="7620">
              <a:solidFill>
                <a:srgbClr val="3559A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5" name="Rectangle 54"/>
            <p:cNvSpPr/>
            <p:nvPr/>
          </p:nvSpPr>
          <p:spPr>
            <a:xfrm>
              <a:off x="7565136" y="5084064"/>
              <a:ext cx="393192" cy="210312"/>
            </a:xfrm>
            <a:prstGeom prst="rect">
              <a:avLst/>
            </a:prstGeom>
            <a:solidFill>
              <a:srgbClr val="EFF3FA"/>
            </a:solidFill>
            <a:ln w="7620">
              <a:solidFill>
                <a:srgbClr val="3559A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6" name="Rectangle 55"/>
            <p:cNvSpPr/>
            <p:nvPr/>
          </p:nvSpPr>
          <p:spPr>
            <a:xfrm>
              <a:off x="7958328" y="5084064"/>
              <a:ext cx="393192" cy="210312"/>
            </a:xfrm>
            <a:prstGeom prst="rect">
              <a:avLst/>
            </a:prstGeom>
            <a:solidFill>
              <a:srgbClr val="EFF3FA"/>
            </a:solidFill>
            <a:ln w="7620">
              <a:solidFill>
                <a:srgbClr val="3559A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7" name="Rectangle 56"/>
            <p:cNvSpPr/>
            <p:nvPr/>
          </p:nvSpPr>
          <p:spPr>
            <a:xfrm>
              <a:off x="8351520" y="5084064"/>
              <a:ext cx="393192" cy="210312"/>
            </a:xfrm>
            <a:prstGeom prst="rect">
              <a:avLst/>
            </a:prstGeom>
            <a:solidFill>
              <a:srgbClr val="EFF3FA"/>
            </a:solidFill>
            <a:ln w="7620">
              <a:solidFill>
                <a:srgbClr val="3559A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8" name="Rectangle 57"/>
            <p:cNvSpPr/>
            <p:nvPr/>
          </p:nvSpPr>
          <p:spPr>
            <a:xfrm>
              <a:off x="8744712" y="5084064"/>
              <a:ext cx="393192" cy="210312"/>
            </a:xfrm>
            <a:prstGeom prst="rect">
              <a:avLst/>
            </a:prstGeom>
            <a:solidFill>
              <a:srgbClr val="EFF3FA"/>
            </a:solidFill>
            <a:ln w="7620">
              <a:solidFill>
                <a:srgbClr val="3559A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cxnSp>
          <p:nvCxnSpPr>
            <p:cNvPr id="59" name="Connector 58"/>
            <p:cNvCxnSpPr/>
            <p:nvPr/>
          </p:nvCxnSpPr>
          <p:spPr>
            <a:xfrm>
              <a:off x="7171944" y="4626864"/>
              <a:ext cx="1179576" cy="0"/>
            </a:xfrm>
            <a:prstGeom prst="line">
              <a:avLst/>
            </a:prstGeom>
            <a:ln w="15240">
              <a:solidFill>
                <a:srgbClr val="3559A2"/>
              </a:solidFill>
            </a:ln>
          </p:spPr>
          <p:style>
            <a:lnRef idx="2">
              <a:schemeClr val="accent1"/>
            </a:lnRef>
            <a:fillRef idx="0">
              <a:schemeClr val="accent1"/>
            </a:fillRef>
            <a:effectRef idx="1">
              <a:schemeClr val="accent1"/>
            </a:effectRef>
            <a:fontRef idx="minor">
              <a:schemeClr val="tx1"/>
            </a:fontRef>
          </p:style>
        </p:cxnSp>
        <p:sp>
          <p:nvSpPr>
            <p:cNvPr id="60" name="TextBox 59"/>
            <p:cNvSpPr txBox="1"/>
            <p:nvPr/>
          </p:nvSpPr>
          <p:spPr>
            <a:xfrm>
              <a:off x="7171944" y="5385816"/>
              <a:ext cx="3002280" cy="265176"/>
            </a:xfrm>
            <a:prstGeom prst="rect">
              <a:avLst/>
            </a:prstGeom>
            <a:noFill/>
          </p:spPr>
          <p:txBody>
            <a:bodyPr wrap="square" lIns="54864" tIns="22860" rIns="54864" bIns="22860">
              <a:spAutoFit/>
            </a:bodyPr>
            <a:lstStyle/>
            <a:p>
              <a:pPr>
                <a:lnSpc>
                  <a:spcPts val="1260"/>
                </a:lnSpc>
                <a:spcBef>
                  <a:spcPts val="0"/>
                </a:spcBef>
                <a:spcAft>
                  <a:spcPts val="0"/>
                </a:spcAft>
                <a:defRPr sz="1200" b="1">
                  <a:solidFill>
                    <a:srgbClr val="3559A2"/>
                  </a:solidFill>
                  <a:latin typeface="Arial"/>
                </a:defRPr>
              </a:pPr>
              <a:r>
                <a:t>Red: 18 litres</a:t>
              </a:r>
            </a:p>
          </p:txBody>
        </p:sp>
        <p:sp>
          <p:nvSpPr>
            <p:cNvPr id="61" name="TextBox 60"/>
            <p:cNvSpPr txBox="1"/>
            <p:nvPr/>
          </p:nvSpPr>
          <p:spPr>
            <a:xfrm>
              <a:off x="7171944" y="5696712"/>
              <a:ext cx="3002280" cy="265176"/>
            </a:xfrm>
            <a:prstGeom prst="rect">
              <a:avLst/>
            </a:prstGeom>
            <a:noFill/>
          </p:spPr>
          <p:txBody>
            <a:bodyPr wrap="square" lIns="54864" tIns="22860" rIns="54864" bIns="22860">
              <a:spAutoFit/>
            </a:bodyPr>
            <a:lstStyle/>
            <a:p>
              <a:pPr>
                <a:lnSpc>
                  <a:spcPts val="1365"/>
                </a:lnSpc>
                <a:spcBef>
                  <a:spcPts val="0"/>
                </a:spcBef>
                <a:spcAft>
                  <a:spcPts val="0"/>
                </a:spcAft>
                <a:defRPr sz="1300" b="1">
                  <a:solidFill>
                    <a:srgbClr val="3559A2"/>
                  </a:solidFill>
                  <a:latin typeface="Arial"/>
                </a:defRPr>
              </a:pPr>
              <a:r>
                <a:t>1 part = 6 litres</a:t>
              </a:r>
            </a:p>
          </p:txBody>
        </p:sp>
      </p:grpSp>
      <p:sp>
        <p:nvSpPr>
          <p:cNvPr id="62" name="Rectangle 61"/>
          <p:cNvSpPr/>
          <p:nvPr/>
        </p:nvSpPr>
        <p:spPr>
          <a:xfrm>
            <a:off x="10247376" y="3913632"/>
            <a:ext cx="4062984" cy="2066543"/>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3" name="TextBox 62"/>
          <p:cNvSpPr txBox="1"/>
          <p:nvPr/>
        </p:nvSpPr>
        <p:spPr>
          <a:xfrm>
            <a:off x="10293096" y="3968496"/>
            <a:ext cx="3971544" cy="685800"/>
          </a:xfrm>
          <a:prstGeom prst="rect">
            <a:avLst/>
          </a:prstGeom>
          <a:noFill/>
        </p:spPr>
        <p:txBody>
          <a:bodyPr wrap="square" lIns="54864" tIns="22860" rIns="54864" bIns="22860">
            <a:spAutoFit/>
          </a:bodyPr>
          <a:lstStyle/>
          <a:p>
            <a:pPr>
              <a:lnSpc>
                <a:spcPts val="1785"/>
              </a:lnSpc>
              <a:spcBef>
                <a:spcPts val="0"/>
              </a:spcBef>
              <a:spcAft>
                <a:spcPts val="0"/>
              </a:spcAft>
              <a:defRPr sz="1700" b="0">
                <a:solidFill>
                  <a:srgbClr val="182B3A"/>
                </a:solidFill>
                <a:latin typeface="Arial"/>
              </a:defRPr>
            </a:pPr>
            <a:r>
              <a:t>28 ÷ 4 = 7 counters per part. 3 + 7 = 10 parts. 7 × 10 = 70 counters.</a:t>
            </a:r>
          </a:p>
        </p:txBody>
      </p:sp>
      <p:grpSp>
        <p:nvGrpSpPr>
          <p:cNvPr id="64" name="Ratio bars Red:Blue = 3:7, difference"/>
          <p:cNvGrpSpPr/>
          <p:nvPr/>
        </p:nvGrpSpPr>
        <p:grpSpPr>
          <a:xfrm>
            <a:off x="10320528" y="4686300"/>
            <a:ext cx="3916680" cy="1275588"/>
            <a:chOff x="10320528" y="4686300"/>
            <a:chExt cx="3916680" cy="1275588"/>
          </a:xfrm>
        </p:grpSpPr>
        <p:sp>
          <p:nvSpPr>
            <p:cNvPr id="65" name="TextBox 64"/>
            <p:cNvSpPr txBox="1"/>
            <p:nvPr/>
          </p:nvSpPr>
          <p:spPr>
            <a:xfrm>
              <a:off x="10320528" y="4686300"/>
              <a:ext cx="914400" cy="274320"/>
            </a:xfrm>
            <a:prstGeom prst="rect">
              <a:avLst/>
            </a:prstGeom>
            <a:noFill/>
          </p:spPr>
          <p:txBody>
            <a:bodyPr wrap="square" lIns="54864" tIns="22860" rIns="54864" bIns="22860">
              <a:spAutoFit/>
            </a:bodyPr>
            <a:lstStyle/>
            <a:p>
              <a:pPr>
                <a:lnSpc>
                  <a:spcPts val="1260"/>
                </a:lnSpc>
                <a:spcBef>
                  <a:spcPts val="0"/>
                </a:spcBef>
                <a:spcAft>
                  <a:spcPts val="0"/>
                </a:spcAft>
                <a:defRPr sz="1200" b="1">
                  <a:solidFill>
                    <a:srgbClr val="182B3A"/>
                  </a:solidFill>
                  <a:latin typeface="Arial"/>
                </a:defRPr>
              </a:pPr>
              <a:r>
                <a:t>Red</a:t>
              </a:r>
            </a:p>
          </p:txBody>
        </p:sp>
        <p:sp>
          <p:nvSpPr>
            <p:cNvPr id="66" name="Rectangle 65"/>
            <p:cNvSpPr/>
            <p:nvPr/>
          </p:nvSpPr>
          <p:spPr>
            <a:xfrm>
              <a:off x="11234928" y="4709160"/>
              <a:ext cx="393192" cy="210312"/>
            </a:xfrm>
            <a:prstGeom prst="rect">
              <a:avLst/>
            </a:prstGeom>
            <a:solidFill>
              <a:srgbClr val="F5F0F7"/>
            </a:solidFill>
            <a:ln w="7620">
              <a:solidFill>
                <a:srgbClr val="754B87"/>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7" name="Rectangle 66"/>
            <p:cNvSpPr/>
            <p:nvPr/>
          </p:nvSpPr>
          <p:spPr>
            <a:xfrm>
              <a:off x="11628120" y="4709160"/>
              <a:ext cx="393192" cy="210312"/>
            </a:xfrm>
            <a:prstGeom prst="rect">
              <a:avLst/>
            </a:prstGeom>
            <a:solidFill>
              <a:srgbClr val="F5F0F7"/>
            </a:solidFill>
            <a:ln w="7620">
              <a:solidFill>
                <a:srgbClr val="754B87"/>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8" name="Rectangle 67"/>
            <p:cNvSpPr/>
            <p:nvPr/>
          </p:nvSpPr>
          <p:spPr>
            <a:xfrm>
              <a:off x="12021312" y="4709160"/>
              <a:ext cx="393192" cy="210312"/>
            </a:xfrm>
            <a:prstGeom prst="rect">
              <a:avLst/>
            </a:prstGeom>
            <a:solidFill>
              <a:srgbClr val="F5F0F7"/>
            </a:solidFill>
            <a:ln w="7620">
              <a:solidFill>
                <a:srgbClr val="754B87"/>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9" name="TextBox 68"/>
            <p:cNvSpPr txBox="1"/>
            <p:nvPr/>
          </p:nvSpPr>
          <p:spPr>
            <a:xfrm>
              <a:off x="10320528" y="5061204"/>
              <a:ext cx="914400" cy="274320"/>
            </a:xfrm>
            <a:prstGeom prst="rect">
              <a:avLst/>
            </a:prstGeom>
            <a:noFill/>
          </p:spPr>
          <p:txBody>
            <a:bodyPr wrap="square" lIns="54864" tIns="22860" rIns="54864" bIns="22860">
              <a:spAutoFit/>
            </a:bodyPr>
            <a:lstStyle/>
            <a:p>
              <a:pPr>
                <a:lnSpc>
                  <a:spcPts val="1260"/>
                </a:lnSpc>
                <a:spcBef>
                  <a:spcPts val="0"/>
                </a:spcBef>
                <a:spcAft>
                  <a:spcPts val="0"/>
                </a:spcAft>
                <a:defRPr sz="1200" b="1">
                  <a:solidFill>
                    <a:srgbClr val="182B3A"/>
                  </a:solidFill>
                  <a:latin typeface="Arial"/>
                </a:defRPr>
              </a:pPr>
              <a:r>
                <a:t>Blue</a:t>
              </a:r>
            </a:p>
          </p:txBody>
        </p:sp>
        <p:sp>
          <p:nvSpPr>
            <p:cNvPr id="70" name="Rectangle 69"/>
            <p:cNvSpPr/>
            <p:nvPr/>
          </p:nvSpPr>
          <p:spPr>
            <a:xfrm>
              <a:off x="11234928" y="5084064"/>
              <a:ext cx="393192" cy="210312"/>
            </a:xfrm>
            <a:prstGeom prst="rect">
              <a:avLst/>
            </a:prstGeom>
            <a:solidFill>
              <a:srgbClr val="F5F0F7"/>
            </a:solidFill>
            <a:ln w="7620">
              <a:solidFill>
                <a:srgbClr val="754B87"/>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1" name="Rectangle 70"/>
            <p:cNvSpPr/>
            <p:nvPr/>
          </p:nvSpPr>
          <p:spPr>
            <a:xfrm>
              <a:off x="11628120" y="5084064"/>
              <a:ext cx="393192" cy="210312"/>
            </a:xfrm>
            <a:prstGeom prst="rect">
              <a:avLst/>
            </a:prstGeom>
            <a:solidFill>
              <a:srgbClr val="F5F0F7"/>
            </a:solidFill>
            <a:ln w="7620">
              <a:solidFill>
                <a:srgbClr val="754B87"/>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2" name="Rectangle 71"/>
            <p:cNvSpPr/>
            <p:nvPr/>
          </p:nvSpPr>
          <p:spPr>
            <a:xfrm>
              <a:off x="12021312" y="5084064"/>
              <a:ext cx="393192" cy="210312"/>
            </a:xfrm>
            <a:prstGeom prst="rect">
              <a:avLst/>
            </a:prstGeom>
            <a:solidFill>
              <a:srgbClr val="F5F0F7"/>
            </a:solidFill>
            <a:ln w="7620">
              <a:solidFill>
                <a:srgbClr val="754B87"/>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3" name="Rectangle 72"/>
            <p:cNvSpPr/>
            <p:nvPr/>
          </p:nvSpPr>
          <p:spPr>
            <a:xfrm>
              <a:off x="12414504" y="5084064"/>
              <a:ext cx="393192" cy="210312"/>
            </a:xfrm>
            <a:prstGeom prst="rect">
              <a:avLst/>
            </a:prstGeom>
            <a:solidFill>
              <a:srgbClr val="F5F0F7"/>
            </a:solidFill>
            <a:ln w="7620">
              <a:solidFill>
                <a:srgbClr val="754B87"/>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4" name="Rectangle 73"/>
            <p:cNvSpPr/>
            <p:nvPr/>
          </p:nvSpPr>
          <p:spPr>
            <a:xfrm>
              <a:off x="12807696" y="5084064"/>
              <a:ext cx="393192" cy="210312"/>
            </a:xfrm>
            <a:prstGeom prst="rect">
              <a:avLst/>
            </a:prstGeom>
            <a:solidFill>
              <a:srgbClr val="F5F0F7"/>
            </a:solidFill>
            <a:ln w="7620">
              <a:solidFill>
                <a:srgbClr val="754B87"/>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5" name="Rectangle 74"/>
            <p:cNvSpPr/>
            <p:nvPr/>
          </p:nvSpPr>
          <p:spPr>
            <a:xfrm>
              <a:off x="13200888" y="5084064"/>
              <a:ext cx="393192" cy="210312"/>
            </a:xfrm>
            <a:prstGeom prst="rect">
              <a:avLst/>
            </a:prstGeom>
            <a:solidFill>
              <a:srgbClr val="F5F0F7"/>
            </a:solidFill>
            <a:ln w="7620">
              <a:solidFill>
                <a:srgbClr val="754B87"/>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6" name="Rectangle 75"/>
            <p:cNvSpPr/>
            <p:nvPr/>
          </p:nvSpPr>
          <p:spPr>
            <a:xfrm>
              <a:off x="13594080" y="5084064"/>
              <a:ext cx="393192" cy="210312"/>
            </a:xfrm>
            <a:prstGeom prst="rect">
              <a:avLst/>
            </a:prstGeom>
            <a:solidFill>
              <a:srgbClr val="F5F0F7"/>
            </a:solidFill>
            <a:ln w="7620">
              <a:solidFill>
                <a:srgbClr val="754B87"/>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cxnSp>
          <p:nvCxnSpPr>
            <p:cNvPr id="77" name="Connector 76"/>
            <p:cNvCxnSpPr/>
            <p:nvPr/>
          </p:nvCxnSpPr>
          <p:spPr>
            <a:xfrm>
              <a:off x="12414504" y="5376672"/>
              <a:ext cx="1572768" cy="0"/>
            </a:xfrm>
            <a:prstGeom prst="line">
              <a:avLst/>
            </a:prstGeom>
            <a:ln w="15240">
              <a:solidFill>
                <a:srgbClr val="754B87"/>
              </a:solidFill>
            </a:ln>
          </p:spPr>
          <p:style>
            <a:lnRef idx="2">
              <a:schemeClr val="accent1"/>
            </a:lnRef>
            <a:fillRef idx="0">
              <a:schemeClr val="accent1"/>
            </a:fillRef>
            <a:effectRef idx="1">
              <a:schemeClr val="accent1"/>
            </a:effectRef>
            <a:fontRef idx="minor">
              <a:schemeClr val="tx1"/>
            </a:fontRef>
          </p:style>
        </p:cxnSp>
        <p:cxnSp>
          <p:nvCxnSpPr>
            <p:cNvPr id="78" name="Connector 77"/>
            <p:cNvCxnSpPr/>
            <p:nvPr/>
          </p:nvCxnSpPr>
          <p:spPr>
            <a:xfrm>
              <a:off x="12414504" y="5330952"/>
              <a:ext cx="0" cy="91440"/>
            </a:xfrm>
            <a:prstGeom prst="line">
              <a:avLst/>
            </a:prstGeom>
            <a:ln w="15240">
              <a:solidFill>
                <a:srgbClr val="754B87"/>
              </a:solidFill>
            </a:ln>
          </p:spPr>
          <p:style>
            <a:lnRef idx="2">
              <a:schemeClr val="accent1"/>
            </a:lnRef>
            <a:fillRef idx="0">
              <a:schemeClr val="accent1"/>
            </a:fillRef>
            <a:effectRef idx="1">
              <a:schemeClr val="accent1"/>
            </a:effectRef>
            <a:fontRef idx="minor">
              <a:schemeClr val="tx1"/>
            </a:fontRef>
          </p:style>
        </p:cxnSp>
        <p:cxnSp>
          <p:nvCxnSpPr>
            <p:cNvPr id="79" name="Connector 78"/>
            <p:cNvCxnSpPr/>
            <p:nvPr/>
          </p:nvCxnSpPr>
          <p:spPr>
            <a:xfrm>
              <a:off x="13987272" y="5330952"/>
              <a:ext cx="0" cy="91440"/>
            </a:xfrm>
            <a:prstGeom prst="line">
              <a:avLst/>
            </a:prstGeom>
            <a:ln w="15240">
              <a:solidFill>
                <a:srgbClr val="754B87"/>
              </a:solidFill>
            </a:ln>
          </p:spPr>
          <p:style>
            <a:lnRef idx="2">
              <a:schemeClr val="accent1"/>
            </a:lnRef>
            <a:fillRef idx="0">
              <a:schemeClr val="accent1"/>
            </a:fillRef>
            <a:effectRef idx="1">
              <a:schemeClr val="accent1"/>
            </a:effectRef>
            <a:fontRef idx="minor">
              <a:schemeClr val="tx1"/>
            </a:fontRef>
          </p:style>
        </p:cxnSp>
        <p:sp>
          <p:nvSpPr>
            <p:cNvPr id="80" name="TextBox 79"/>
            <p:cNvSpPr txBox="1"/>
            <p:nvPr/>
          </p:nvSpPr>
          <p:spPr>
            <a:xfrm>
              <a:off x="11234928" y="5413248"/>
              <a:ext cx="3002280" cy="256032"/>
            </a:xfrm>
            <a:prstGeom prst="rect">
              <a:avLst/>
            </a:prstGeom>
            <a:noFill/>
          </p:spPr>
          <p:txBody>
            <a:bodyPr wrap="square" lIns="54864" tIns="22860" rIns="54864" bIns="22860">
              <a:spAutoFit/>
            </a:bodyPr>
            <a:lstStyle/>
            <a:p>
              <a:pPr>
                <a:lnSpc>
                  <a:spcPts val="1260"/>
                </a:lnSpc>
                <a:spcBef>
                  <a:spcPts val="0"/>
                </a:spcBef>
                <a:spcAft>
                  <a:spcPts val="0"/>
                </a:spcAft>
                <a:defRPr sz="1200" b="1">
                  <a:solidFill>
                    <a:srgbClr val="754B87"/>
                  </a:solidFill>
                  <a:latin typeface="Arial"/>
                </a:defRPr>
              </a:pPr>
              <a:r>
                <a:t>4 extra parts = 28 counters</a:t>
              </a:r>
            </a:p>
          </p:txBody>
        </p:sp>
        <p:sp>
          <p:nvSpPr>
            <p:cNvPr id="81" name="TextBox 80"/>
            <p:cNvSpPr txBox="1"/>
            <p:nvPr/>
          </p:nvSpPr>
          <p:spPr>
            <a:xfrm>
              <a:off x="11234928" y="5696712"/>
              <a:ext cx="3002280" cy="265176"/>
            </a:xfrm>
            <a:prstGeom prst="rect">
              <a:avLst/>
            </a:prstGeom>
            <a:noFill/>
          </p:spPr>
          <p:txBody>
            <a:bodyPr wrap="square" lIns="54864" tIns="22860" rIns="54864" bIns="22860">
              <a:spAutoFit/>
            </a:bodyPr>
            <a:lstStyle/>
            <a:p>
              <a:pPr>
                <a:lnSpc>
                  <a:spcPts val="1365"/>
                </a:lnSpc>
                <a:spcBef>
                  <a:spcPts val="0"/>
                </a:spcBef>
                <a:spcAft>
                  <a:spcPts val="0"/>
                </a:spcAft>
                <a:defRPr sz="1300" b="1">
                  <a:solidFill>
                    <a:srgbClr val="754B87"/>
                  </a:solidFill>
                  <a:latin typeface="Arial"/>
                </a:defRPr>
              </a:pPr>
              <a:r>
                <a:t>1 part = 7 counters</a:t>
              </a:r>
            </a:p>
          </p:txBody>
        </p:sp>
      </p:grpSp>
      <p:sp>
        <p:nvSpPr>
          <p:cNvPr id="82" name="Rectangle 81"/>
          <p:cNvSpPr/>
          <p:nvPr/>
        </p:nvSpPr>
        <p:spPr>
          <a:xfrm>
            <a:off x="320040" y="5980176"/>
            <a:ext cx="1801367" cy="1307592"/>
          </a:xfrm>
          <a:prstGeom prst="rect">
            <a:avLst/>
          </a:prstGeom>
          <a:solidFill>
            <a:srgbClr val="E8EDF1"/>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3" name="TextBox 82"/>
          <p:cNvSpPr txBox="1"/>
          <p:nvPr/>
        </p:nvSpPr>
        <p:spPr>
          <a:xfrm>
            <a:off x="374904" y="6053328"/>
            <a:ext cx="1691639" cy="1161288"/>
          </a:xfrm>
          <a:prstGeom prst="rect">
            <a:avLst/>
          </a:prstGeom>
          <a:noFill/>
        </p:spPr>
        <p:txBody>
          <a:bodyPr wrap="square" lIns="54864" tIns="22860" rIns="54864" bIns="22860">
            <a:spAutoFit/>
          </a:bodyPr>
          <a:lstStyle/>
          <a:p>
            <a:pPr>
              <a:lnSpc>
                <a:spcPts val="1785"/>
              </a:lnSpc>
              <a:spcBef>
                <a:spcPts val="0"/>
              </a:spcBef>
              <a:spcAft>
                <a:spcPts val="0"/>
              </a:spcAft>
              <a:defRPr sz="1700" b="1">
                <a:solidFill>
                  <a:srgbClr val="182B3A"/>
                </a:solidFill>
                <a:latin typeface="Arial"/>
              </a:defRPr>
            </a:pPr>
            <a:r>
              <a:t>Ballpark Check &amp; Math</a:t>
            </a:r>
          </a:p>
        </p:txBody>
      </p:sp>
      <p:sp>
        <p:nvSpPr>
          <p:cNvPr id="84" name="Rectangle 83"/>
          <p:cNvSpPr/>
          <p:nvPr/>
        </p:nvSpPr>
        <p:spPr>
          <a:xfrm>
            <a:off x="2121408" y="5980176"/>
            <a:ext cx="4062984" cy="1307592"/>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5" name="TextBox 84"/>
          <p:cNvSpPr txBox="1"/>
          <p:nvPr/>
        </p:nvSpPr>
        <p:spPr>
          <a:xfrm>
            <a:off x="2167127" y="6053328"/>
            <a:ext cx="3971544" cy="1161288"/>
          </a:xfrm>
          <a:prstGeom prst="rect">
            <a:avLst/>
          </a:prstGeom>
          <a:noFill/>
        </p:spPr>
        <p:txBody>
          <a:bodyPr wrap="square" lIns="54864" tIns="22860" rIns="54864" bIns="22860">
            <a:spAutoFit/>
          </a:bodyPr>
          <a:lstStyle/>
          <a:p>
            <a:pPr>
              <a:lnSpc>
                <a:spcPts val="1785"/>
              </a:lnSpc>
              <a:spcBef>
                <a:spcPts val="0"/>
              </a:spcBef>
              <a:spcAft>
                <a:spcPts val="0"/>
              </a:spcAft>
              <a:defRPr sz="1700" b="0">
                <a:solidFill>
                  <a:srgbClr val="182B3A"/>
                </a:solidFill>
                <a:latin typeface="Arial"/>
              </a:defRPr>
            </a:pPr>
            <a:r>
              <a:t>B gets more than half of £120, so more than £60. £72 fits. Check both shares: £48 + £72 = £120.</a:t>
            </a:r>
          </a:p>
        </p:txBody>
      </p:sp>
      <p:sp>
        <p:nvSpPr>
          <p:cNvPr id="86" name="Rectangle 85"/>
          <p:cNvSpPr/>
          <p:nvPr/>
        </p:nvSpPr>
        <p:spPr>
          <a:xfrm>
            <a:off x="6184392" y="5980176"/>
            <a:ext cx="4062984" cy="1307592"/>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7" name="TextBox 86"/>
          <p:cNvSpPr txBox="1"/>
          <p:nvPr/>
        </p:nvSpPr>
        <p:spPr>
          <a:xfrm>
            <a:off x="6230112" y="6053328"/>
            <a:ext cx="3971544" cy="1161288"/>
          </a:xfrm>
          <a:prstGeom prst="rect">
            <a:avLst/>
          </a:prstGeom>
          <a:noFill/>
        </p:spPr>
        <p:txBody>
          <a:bodyPr wrap="square" lIns="54864" tIns="22860" rIns="54864" bIns="22860">
            <a:spAutoFit/>
          </a:bodyPr>
          <a:lstStyle/>
          <a:p>
            <a:pPr>
              <a:lnSpc>
                <a:spcPts val="1785"/>
              </a:lnSpc>
              <a:spcBef>
                <a:spcPts val="0"/>
              </a:spcBef>
              <a:spcAft>
                <a:spcPts val="0"/>
              </a:spcAft>
              <a:defRPr sz="1700" b="0">
                <a:solidFill>
                  <a:srgbClr val="182B3A"/>
                </a:solidFill>
                <a:latin typeface="Arial"/>
              </a:defRPr>
            </a:pPr>
            <a:r>
              <a:t>Blue is between one and two times the red amount, so between 18 and 36 litres. 30 litres fits.</a:t>
            </a:r>
          </a:p>
        </p:txBody>
      </p:sp>
      <p:sp>
        <p:nvSpPr>
          <p:cNvPr id="88" name="Rectangle 87"/>
          <p:cNvSpPr/>
          <p:nvPr/>
        </p:nvSpPr>
        <p:spPr>
          <a:xfrm>
            <a:off x="10247376" y="5980176"/>
            <a:ext cx="4062984" cy="1307592"/>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9" name="TextBox 88"/>
          <p:cNvSpPr txBox="1"/>
          <p:nvPr/>
        </p:nvSpPr>
        <p:spPr>
          <a:xfrm>
            <a:off x="10293096" y="6053328"/>
            <a:ext cx="3971544" cy="1161288"/>
          </a:xfrm>
          <a:prstGeom prst="rect">
            <a:avLst/>
          </a:prstGeom>
          <a:noFill/>
        </p:spPr>
        <p:txBody>
          <a:bodyPr wrap="square" lIns="54864" tIns="22860" rIns="54864" bIns="22860">
            <a:spAutoFit/>
          </a:bodyPr>
          <a:lstStyle/>
          <a:p>
            <a:pPr>
              <a:lnSpc>
                <a:spcPts val="1785"/>
              </a:lnSpc>
              <a:spcBef>
                <a:spcPts val="0"/>
              </a:spcBef>
              <a:spcAft>
                <a:spcPts val="0"/>
              </a:spcAft>
              <a:defRPr sz="1700" b="0">
                <a:solidFill>
                  <a:srgbClr val="182B3A"/>
                </a:solidFill>
                <a:latin typeface="Arial"/>
              </a:defRPr>
            </a:pPr>
            <a:r>
              <a:t>The total represents 10 parts and the difference 4. The total should be between 2 and 3 times 28: between 56 and 84. 70 fits.</a:t>
            </a:r>
          </a:p>
        </p:txBody>
      </p:sp>
      <p:sp>
        <p:nvSpPr>
          <p:cNvPr id="90" name="Rectangle 89"/>
          <p:cNvSpPr/>
          <p:nvPr/>
        </p:nvSpPr>
        <p:spPr>
          <a:xfrm>
            <a:off x="320040" y="7287768"/>
            <a:ext cx="1801367" cy="557784"/>
          </a:xfrm>
          <a:prstGeom prst="rect">
            <a:avLst/>
          </a:prstGeom>
          <a:solidFill>
            <a:srgbClr val="E8EDF1"/>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1" name="TextBox 90"/>
          <p:cNvSpPr txBox="1"/>
          <p:nvPr/>
        </p:nvSpPr>
        <p:spPr>
          <a:xfrm>
            <a:off x="374904" y="7360919"/>
            <a:ext cx="1691639" cy="411479"/>
          </a:xfrm>
          <a:prstGeom prst="rect">
            <a:avLst/>
          </a:prstGeom>
          <a:noFill/>
        </p:spPr>
        <p:txBody>
          <a:bodyPr wrap="square" lIns="54864" tIns="22860" rIns="54864" bIns="22860">
            <a:spAutoFit/>
          </a:bodyPr>
          <a:lstStyle/>
          <a:p>
            <a:pPr>
              <a:lnSpc>
                <a:spcPts val="1785"/>
              </a:lnSpc>
              <a:spcBef>
                <a:spcPts val="0"/>
              </a:spcBef>
              <a:spcAft>
                <a:spcPts val="0"/>
              </a:spcAft>
              <a:defRPr sz="1700" b="1">
                <a:solidFill>
                  <a:srgbClr val="182B3A"/>
                </a:solidFill>
                <a:latin typeface="Arial"/>
              </a:defRPr>
            </a:pPr>
            <a:r>
              <a:t>Final Answer</a:t>
            </a:r>
          </a:p>
        </p:txBody>
      </p:sp>
      <p:sp>
        <p:nvSpPr>
          <p:cNvPr id="92" name="Rectangle 91"/>
          <p:cNvSpPr/>
          <p:nvPr/>
        </p:nvSpPr>
        <p:spPr>
          <a:xfrm>
            <a:off x="2121408" y="7287768"/>
            <a:ext cx="4062984" cy="557784"/>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3" name="TextBox 92"/>
          <p:cNvSpPr txBox="1"/>
          <p:nvPr/>
        </p:nvSpPr>
        <p:spPr>
          <a:xfrm>
            <a:off x="2167127" y="7360919"/>
            <a:ext cx="3971544" cy="411479"/>
          </a:xfrm>
          <a:prstGeom prst="rect">
            <a:avLst/>
          </a:prstGeom>
          <a:noFill/>
        </p:spPr>
        <p:txBody>
          <a:bodyPr wrap="square" lIns="54864" tIns="22860" rIns="54864" bIns="22860">
            <a:spAutoFit/>
          </a:bodyPr>
          <a:lstStyle/>
          <a:p>
            <a:pPr>
              <a:lnSpc>
                <a:spcPts val="1785"/>
              </a:lnSpc>
              <a:spcBef>
                <a:spcPts val="0"/>
              </a:spcBef>
              <a:spcAft>
                <a:spcPts val="0"/>
              </a:spcAft>
              <a:defRPr sz="1700" b="0">
                <a:solidFill>
                  <a:srgbClr val="182B3A"/>
                </a:solidFill>
                <a:latin typeface="Arial"/>
              </a:defRPr>
            </a:pPr>
            <a:r>
              <a:t>B receives £72.</a:t>
            </a:r>
          </a:p>
        </p:txBody>
      </p:sp>
      <p:sp>
        <p:nvSpPr>
          <p:cNvPr id="94" name="Rectangle 93"/>
          <p:cNvSpPr/>
          <p:nvPr/>
        </p:nvSpPr>
        <p:spPr>
          <a:xfrm>
            <a:off x="6184392" y="7287768"/>
            <a:ext cx="4062984" cy="557784"/>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5" name="TextBox 94"/>
          <p:cNvSpPr txBox="1"/>
          <p:nvPr/>
        </p:nvSpPr>
        <p:spPr>
          <a:xfrm>
            <a:off x="6230112" y="7360919"/>
            <a:ext cx="3971544" cy="411479"/>
          </a:xfrm>
          <a:prstGeom prst="rect">
            <a:avLst/>
          </a:prstGeom>
          <a:noFill/>
        </p:spPr>
        <p:txBody>
          <a:bodyPr wrap="square" lIns="54864" tIns="22860" rIns="54864" bIns="22860">
            <a:spAutoFit/>
          </a:bodyPr>
          <a:lstStyle/>
          <a:p>
            <a:pPr>
              <a:lnSpc>
                <a:spcPts val="1785"/>
              </a:lnSpc>
              <a:spcBef>
                <a:spcPts val="0"/>
              </a:spcBef>
              <a:spcAft>
                <a:spcPts val="0"/>
              </a:spcAft>
              <a:defRPr sz="1700" b="0">
                <a:solidFill>
                  <a:srgbClr val="182B3A"/>
                </a:solidFill>
                <a:latin typeface="Arial"/>
              </a:defRPr>
            </a:pPr>
            <a:r>
              <a:t>30 litres of blue paint.</a:t>
            </a:r>
          </a:p>
        </p:txBody>
      </p:sp>
      <p:sp>
        <p:nvSpPr>
          <p:cNvPr id="96" name="Rectangle 95"/>
          <p:cNvSpPr/>
          <p:nvPr/>
        </p:nvSpPr>
        <p:spPr>
          <a:xfrm>
            <a:off x="10247376" y="7287768"/>
            <a:ext cx="4062984" cy="557784"/>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7" name="TextBox 96"/>
          <p:cNvSpPr txBox="1"/>
          <p:nvPr/>
        </p:nvSpPr>
        <p:spPr>
          <a:xfrm>
            <a:off x="10293096" y="7360919"/>
            <a:ext cx="3971544" cy="411479"/>
          </a:xfrm>
          <a:prstGeom prst="rect">
            <a:avLst/>
          </a:prstGeom>
          <a:noFill/>
        </p:spPr>
        <p:txBody>
          <a:bodyPr wrap="square" lIns="54864" tIns="22860" rIns="54864" bIns="22860">
            <a:spAutoFit/>
          </a:bodyPr>
          <a:lstStyle/>
          <a:p>
            <a:pPr>
              <a:lnSpc>
                <a:spcPts val="1785"/>
              </a:lnSpc>
              <a:spcBef>
                <a:spcPts val="0"/>
              </a:spcBef>
              <a:spcAft>
                <a:spcPts val="0"/>
              </a:spcAft>
              <a:defRPr sz="1700" b="0">
                <a:solidFill>
                  <a:srgbClr val="182B3A"/>
                </a:solidFill>
                <a:latin typeface="Arial"/>
              </a:defRPr>
            </a:pPr>
            <a:r>
              <a:t>70 counters altogether.</a:t>
            </a:r>
          </a:p>
        </p:txBody>
      </p:sp>
    </p:spTree>
  </p:cSld>
  <p:clrMapOvr>
    <a:masterClrMapping/>
  </p:clrMapOvr>
</p:sld>
</file>

<file path=ppt/slides/slide61.xml><?xml version="1.0" encoding="utf-8"?>
<p:sld xmlns:a="http://schemas.openxmlformats.org/drawingml/2006/main" xmlns:p="http://schemas.openxmlformats.org/presentationml/2006/main" xmlns:r="http://schemas.openxmlformats.org/officeDocument/2006/relationships">
  <p:cSld>
    <p:bg>
      <p:bgPr>
        <a:solidFill>
          <a:srgbClr val="F7F8FA"/>
        </a:solidFill>
        <a:effectLst/>
      </p:bgPr>
    </p:bg>
    <p:spTree>
      <p:nvGrpSpPr>
        <p:cNvPr id="1" name=""/>
        <p:cNvGrpSpPr/>
        <p:nvPr/>
      </p:nvGrpSpPr>
      <p:grpSpPr/>
      <p:sp>
        <p:nvSpPr>
          <p:cNvPr id="2" name="Rectangle 1"/>
          <p:cNvSpPr/>
          <p:nvPr/>
        </p:nvSpPr>
        <p:spPr>
          <a:xfrm>
            <a:off x="0" y="0"/>
            <a:ext cx="14630400" cy="73152"/>
          </a:xfrm>
          <a:prstGeom prst="rect">
            <a:avLst/>
          </a:prstGeom>
          <a:solidFill>
            <a:srgbClr val="176B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320040" y="164592"/>
            <a:ext cx="13990320" cy="457200"/>
          </a:xfrm>
          <a:prstGeom prst="rect">
            <a:avLst/>
          </a:prstGeom>
          <a:noFill/>
        </p:spPr>
        <p:txBody>
          <a:bodyPr wrap="square" lIns="54864" tIns="22860" rIns="54864" bIns="22860">
            <a:spAutoFit/>
          </a:bodyPr>
          <a:lstStyle/>
          <a:p>
            <a:pPr>
              <a:lnSpc>
                <a:spcPts val="2940"/>
              </a:lnSpc>
              <a:spcBef>
                <a:spcPts val="0"/>
              </a:spcBef>
              <a:spcAft>
                <a:spcPts val="0"/>
              </a:spcAft>
              <a:defRPr sz="2800" b="1">
                <a:solidFill>
                  <a:srgbClr val="182B3A"/>
                </a:solidFill>
                <a:latin typeface="Arial"/>
              </a:defRPr>
            </a:pPr>
            <a:r>
              <a:t>Ratio: sharing and missing amounts</a:t>
            </a:r>
          </a:p>
        </p:txBody>
      </p:sp>
      <p:sp>
        <p:nvSpPr>
          <p:cNvPr id="4" name="TextBox 3"/>
          <p:cNvSpPr txBox="1"/>
          <p:nvPr/>
        </p:nvSpPr>
        <p:spPr>
          <a:xfrm>
            <a:off x="320040" y="704088"/>
            <a:ext cx="13990320" cy="347472"/>
          </a:xfrm>
          <a:prstGeom prst="rect">
            <a:avLst/>
          </a:prstGeom>
          <a:noFill/>
        </p:spPr>
        <p:txBody>
          <a:bodyPr wrap="square" lIns="54864" tIns="22860" rIns="54864" bIns="22860">
            <a:spAutoFit/>
          </a:bodyPr>
          <a:lstStyle/>
          <a:p>
            <a:pPr>
              <a:lnSpc>
                <a:spcPts val="1575"/>
              </a:lnSpc>
              <a:spcBef>
                <a:spcPts val="0"/>
              </a:spcBef>
              <a:spcAft>
                <a:spcPts val="0"/>
              </a:spcAft>
              <a:defRPr sz="1500" b="0">
                <a:solidFill>
                  <a:srgbClr val="526472"/>
                </a:solidFill>
                <a:latin typeface="Arial"/>
              </a:defRPr>
            </a:pPr>
            <a:r>
              <a:t>Step-by-step practice 1 • Complete each step in your booklet or webapp.</a:t>
            </a:r>
          </a:p>
        </p:txBody>
      </p:sp>
      <p:sp>
        <p:nvSpPr>
          <p:cNvPr id="5" name="TextBox 4"/>
          <p:cNvSpPr txBox="1"/>
          <p:nvPr/>
        </p:nvSpPr>
        <p:spPr>
          <a:xfrm>
            <a:off x="320040" y="7973568"/>
            <a:ext cx="10789920" cy="210312"/>
          </a:xfrm>
          <a:prstGeom prst="rect">
            <a:avLst/>
          </a:prstGeom>
          <a:noFill/>
        </p:spPr>
        <p:txBody>
          <a:bodyPr wrap="square" lIns="54864" tIns="22860" rIns="54864" bIns="22860">
            <a:spAutoFit/>
          </a:bodyPr>
          <a:lstStyle/>
          <a:p>
            <a:pPr>
              <a:lnSpc>
                <a:spcPts val="1155"/>
              </a:lnSpc>
              <a:spcBef>
                <a:spcPts val="0"/>
              </a:spcBef>
              <a:spcAft>
                <a:spcPts val="0"/>
              </a:spcAft>
              <a:defRPr sz="1100" b="0">
                <a:solidFill>
                  <a:srgbClr val="526472"/>
                </a:solidFill>
                <a:latin typeface="Arial"/>
              </a:defRPr>
            </a:pPr>
            <a:r>
              <a:t>GCSE Maths revision • No calculator • Show your working.</a:t>
            </a:r>
          </a:p>
        </p:txBody>
      </p:sp>
      <p:sp>
        <p:nvSpPr>
          <p:cNvPr id="6" name="TextBox 5"/>
          <p:cNvSpPr txBox="1"/>
          <p:nvPr/>
        </p:nvSpPr>
        <p:spPr>
          <a:xfrm>
            <a:off x="11155680" y="7973568"/>
            <a:ext cx="3108960" cy="210312"/>
          </a:xfrm>
          <a:prstGeom prst="rect">
            <a:avLst/>
          </a:prstGeom>
          <a:noFill/>
        </p:spPr>
        <p:txBody>
          <a:bodyPr wrap="square" lIns="54864" tIns="22860" rIns="54864" bIns="22860">
            <a:spAutoFit/>
          </a:bodyPr>
          <a:lstStyle/>
          <a:p>
            <a:pPr>
              <a:lnSpc>
                <a:spcPts val="1155"/>
              </a:lnSpc>
              <a:spcBef>
                <a:spcPts val="0"/>
              </a:spcBef>
              <a:spcAft>
                <a:spcPts val="0"/>
              </a:spcAft>
              <a:defRPr sz="1100" b="0">
                <a:solidFill>
                  <a:srgbClr val="526472"/>
                </a:solidFill>
                <a:latin typeface="Arial"/>
              </a:defRPr>
            </a:pPr>
            <a:r>
              <a:t>M04-S02</a:t>
            </a:r>
          </a:p>
        </p:txBody>
      </p:sp>
      <p:sp>
        <p:nvSpPr>
          <p:cNvPr id="7" name="Rectangle 6"/>
          <p:cNvSpPr/>
          <p:nvPr/>
        </p:nvSpPr>
        <p:spPr>
          <a:xfrm>
            <a:off x="2121408" y="1115568"/>
            <a:ext cx="4040123" cy="420624"/>
          </a:xfrm>
          <a:prstGeom prst="rect">
            <a:avLst/>
          </a:prstGeom>
          <a:solidFill>
            <a:srgbClr val="176B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2148839" y="1147572"/>
            <a:ext cx="3980688" cy="329184"/>
          </a:xfrm>
          <a:prstGeom prst="rect">
            <a:avLst/>
          </a:prstGeom>
          <a:noFill/>
        </p:spPr>
        <p:txBody>
          <a:bodyPr wrap="square" lIns="54864" tIns="22860" rIns="54864" bIns="22860">
            <a:spAutoFit/>
          </a:bodyPr>
          <a:lstStyle/>
          <a:p>
            <a:pPr>
              <a:lnSpc>
                <a:spcPts val="1995"/>
              </a:lnSpc>
              <a:spcBef>
                <a:spcPts val="0"/>
              </a:spcBef>
              <a:spcAft>
                <a:spcPts val="0"/>
              </a:spcAft>
              <a:defRPr sz="1900" b="1">
                <a:solidFill>
                  <a:srgbClr val="FFFFFF"/>
                </a:solidFill>
                <a:latin typeface="Arial"/>
              </a:defRPr>
            </a:pPr>
            <a:r>
              <a:t>Start</a:t>
            </a:r>
          </a:p>
        </p:txBody>
      </p:sp>
      <p:sp>
        <p:nvSpPr>
          <p:cNvPr id="9" name="Rectangle 8"/>
          <p:cNvSpPr/>
          <p:nvPr/>
        </p:nvSpPr>
        <p:spPr>
          <a:xfrm>
            <a:off x="6184392" y="1115568"/>
            <a:ext cx="4040123" cy="420624"/>
          </a:xfrm>
          <a:prstGeom prst="rect">
            <a:avLst/>
          </a:prstGeom>
          <a:solidFill>
            <a:srgbClr val="3559A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6211824" y="1147572"/>
            <a:ext cx="3980688" cy="329184"/>
          </a:xfrm>
          <a:prstGeom prst="rect">
            <a:avLst/>
          </a:prstGeom>
          <a:noFill/>
        </p:spPr>
        <p:txBody>
          <a:bodyPr wrap="square" lIns="54864" tIns="22860" rIns="54864" bIns="22860">
            <a:spAutoFit/>
          </a:bodyPr>
          <a:lstStyle/>
          <a:p>
            <a:pPr>
              <a:lnSpc>
                <a:spcPts val="1995"/>
              </a:lnSpc>
              <a:spcBef>
                <a:spcPts val="0"/>
              </a:spcBef>
              <a:spcAft>
                <a:spcPts val="0"/>
              </a:spcAft>
              <a:defRPr sz="1900" b="1">
                <a:solidFill>
                  <a:srgbClr val="FFFFFF"/>
                </a:solidFill>
                <a:latin typeface="Arial"/>
              </a:defRPr>
            </a:pPr>
            <a:r>
              <a:t>Build</a:t>
            </a:r>
          </a:p>
        </p:txBody>
      </p:sp>
      <p:sp>
        <p:nvSpPr>
          <p:cNvPr id="11" name="Rectangle 10"/>
          <p:cNvSpPr/>
          <p:nvPr/>
        </p:nvSpPr>
        <p:spPr>
          <a:xfrm>
            <a:off x="10247376" y="1115568"/>
            <a:ext cx="4040123" cy="420624"/>
          </a:xfrm>
          <a:prstGeom prst="rect">
            <a:avLst/>
          </a:prstGeom>
          <a:solidFill>
            <a:srgbClr val="754B8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10274808" y="1147572"/>
            <a:ext cx="3980688" cy="329184"/>
          </a:xfrm>
          <a:prstGeom prst="rect">
            <a:avLst/>
          </a:prstGeom>
          <a:noFill/>
        </p:spPr>
        <p:txBody>
          <a:bodyPr wrap="square" lIns="54864" tIns="22860" rIns="54864" bIns="22860">
            <a:spAutoFit/>
          </a:bodyPr>
          <a:lstStyle/>
          <a:p>
            <a:pPr>
              <a:lnSpc>
                <a:spcPts val="1995"/>
              </a:lnSpc>
              <a:spcBef>
                <a:spcPts val="0"/>
              </a:spcBef>
              <a:spcAft>
                <a:spcPts val="0"/>
              </a:spcAft>
              <a:defRPr sz="1900" b="1">
                <a:solidFill>
                  <a:srgbClr val="FFFFFF"/>
                </a:solidFill>
                <a:latin typeface="Arial"/>
              </a:defRPr>
            </a:pPr>
            <a:r>
              <a:t>Confidence</a:t>
            </a:r>
          </a:p>
        </p:txBody>
      </p:sp>
      <p:sp>
        <p:nvSpPr>
          <p:cNvPr id="13" name="Rectangle 12"/>
          <p:cNvSpPr/>
          <p:nvPr/>
        </p:nvSpPr>
        <p:spPr>
          <a:xfrm>
            <a:off x="320040" y="1563624"/>
            <a:ext cx="1801367" cy="1389888"/>
          </a:xfrm>
          <a:prstGeom prst="rect">
            <a:avLst/>
          </a:prstGeom>
          <a:solidFill>
            <a:srgbClr val="E8EDF1"/>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374904" y="1673352"/>
            <a:ext cx="1691639" cy="1207008"/>
          </a:xfrm>
          <a:prstGeom prst="rect">
            <a:avLst/>
          </a:prstGeom>
          <a:noFill/>
        </p:spPr>
        <p:txBody>
          <a:bodyPr wrap="square" lIns="54864" tIns="22860" rIns="54864" bIns="22860">
            <a:spAutoFit/>
          </a:bodyPr>
          <a:lstStyle/>
          <a:p>
            <a:pPr>
              <a:lnSpc>
                <a:spcPts val="1785"/>
              </a:lnSpc>
              <a:spcBef>
                <a:spcPts val="0"/>
              </a:spcBef>
              <a:spcAft>
                <a:spcPts val="0"/>
              </a:spcAft>
              <a:defRPr sz="1700" b="1">
                <a:solidFill>
                  <a:srgbClr val="182B3A"/>
                </a:solidFill>
                <a:latin typeface="Arial"/>
              </a:defRPr>
            </a:pPr>
            <a:r>
              <a:t>The Full Question</a:t>
            </a:r>
          </a:p>
        </p:txBody>
      </p:sp>
      <p:sp>
        <p:nvSpPr>
          <p:cNvPr id="15" name="Rectangle 14"/>
          <p:cNvSpPr/>
          <p:nvPr/>
        </p:nvSpPr>
        <p:spPr>
          <a:xfrm>
            <a:off x="2121408" y="1563624"/>
            <a:ext cx="4062984" cy="1389888"/>
          </a:xfrm>
          <a:prstGeom prst="rect">
            <a:avLst/>
          </a:prstGeom>
          <a:solidFill>
            <a:srgbClr val="EDF6F5"/>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2167127" y="1627632"/>
            <a:ext cx="3971544" cy="1261872"/>
          </a:xfrm>
          <a:prstGeom prst="rect">
            <a:avLst/>
          </a:prstGeom>
          <a:noFill/>
        </p:spPr>
        <p:txBody>
          <a:bodyPr wrap="square" lIns="54864" tIns="22860" rIns="54864" bIns="22860">
            <a:spAutoFit/>
          </a:bodyPr>
          <a:lstStyle/>
          <a:p>
            <a:pPr>
              <a:lnSpc>
                <a:spcPts val="1890"/>
              </a:lnSpc>
              <a:spcBef>
                <a:spcPts val="0"/>
              </a:spcBef>
              <a:spcAft>
                <a:spcPts val="0"/>
              </a:spcAft>
              <a:defRPr sz="1800" b="1">
                <a:solidFill>
                  <a:srgbClr val="182B3A"/>
                </a:solidFill>
                <a:latin typeface="Arial"/>
              </a:defRPr>
            </a:pPr>
            <a:r>
              <a:t>An 84 ml paint mix contains red and white paint in the ratio 3:4. How much red paint is in the mix?</a:t>
            </a:r>
          </a:p>
        </p:txBody>
      </p:sp>
      <p:sp>
        <p:nvSpPr>
          <p:cNvPr id="17" name="Rectangle 16"/>
          <p:cNvSpPr/>
          <p:nvPr/>
        </p:nvSpPr>
        <p:spPr>
          <a:xfrm>
            <a:off x="6184392" y="1563624"/>
            <a:ext cx="4062984" cy="1389888"/>
          </a:xfrm>
          <a:prstGeom prst="rect">
            <a:avLst/>
          </a:prstGeom>
          <a:solidFill>
            <a:srgbClr val="EFF3FA"/>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6230112" y="1627632"/>
            <a:ext cx="3971544" cy="1261872"/>
          </a:xfrm>
          <a:prstGeom prst="rect">
            <a:avLst/>
          </a:prstGeom>
          <a:noFill/>
        </p:spPr>
        <p:txBody>
          <a:bodyPr wrap="square" lIns="54864" tIns="22860" rIns="54864" bIns="22860">
            <a:spAutoFit/>
          </a:bodyPr>
          <a:lstStyle/>
          <a:p>
            <a:pPr>
              <a:lnSpc>
                <a:spcPts val="1890"/>
              </a:lnSpc>
              <a:spcBef>
                <a:spcPts val="0"/>
              </a:spcBef>
              <a:spcAft>
                <a:spcPts val="0"/>
              </a:spcAft>
              <a:defRPr sz="1800" b="1">
                <a:solidFill>
                  <a:srgbClr val="182B3A"/>
                </a:solidFill>
                <a:latin typeface="Arial"/>
              </a:defRPr>
            </a:pPr>
            <a:r>
              <a:t>Notebooks and folders are in the ratio 4:7. There are 35 folders. How many notebooks are there?</a:t>
            </a:r>
          </a:p>
        </p:txBody>
      </p:sp>
      <p:sp>
        <p:nvSpPr>
          <p:cNvPr id="19" name="Rectangle 18"/>
          <p:cNvSpPr/>
          <p:nvPr/>
        </p:nvSpPr>
        <p:spPr>
          <a:xfrm>
            <a:off x="10247376" y="1563624"/>
            <a:ext cx="4062984" cy="1389888"/>
          </a:xfrm>
          <a:prstGeom prst="rect">
            <a:avLst/>
          </a:prstGeom>
          <a:solidFill>
            <a:srgbClr val="F5F0F7"/>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10293096" y="1627632"/>
            <a:ext cx="3971544" cy="1261872"/>
          </a:xfrm>
          <a:prstGeom prst="rect">
            <a:avLst/>
          </a:prstGeom>
          <a:noFill/>
        </p:spPr>
        <p:txBody>
          <a:bodyPr wrap="square" lIns="54864" tIns="22860" rIns="54864" bIns="22860">
            <a:spAutoFit/>
          </a:bodyPr>
          <a:lstStyle/>
          <a:p>
            <a:pPr>
              <a:lnSpc>
                <a:spcPts val="1890"/>
              </a:lnSpc>
              <a:spcBef>
                <a:spcPts val="0"/>
              </a:spcBef>
              <a:spcAft>
                <a:spcPts val="0"/>
              </a:spcAft>
              <a:defRPr sz="1800" b="1">
                <a:solidFill>
                  <a:srgbClr val="182B3A"/>
                </a:solidFill>
                <a:latin typeface="Arial"/>
              </a:defRPr>
            </a:pPr>
            <a:r>
              <a:t>Adults and children are in the ratio 2:5. There are 24 more children than adults. How many people are there altogether?</a:t>
            </a:r>
          </a:p>
        </p:txBody>
      </p:sp>
      <p:sp>
        <p:nvSpPr>
          <p:cNvPr id="21" name="Rectangle 20"/>
          <p:cNvSpPr/>
          <p:nvPr/>
        </p:nvSpPr>
        <p:spPr>
          <a:xfrm>
            <a:off x="320040" y="2953512"/>
            <a:ext cx="1801367" cy="1115568"/>
          </a:xfrm>
          <a:prstGeom prst="rect">
            <a:avLst/>
          </a:prstGeom>
          <a:solidFill>
            <a:srgbClr val="E8EDF1"/>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374904" y="3026664"/>
            <a:ext cx="1691639" cy="969264"/>
          </a:xfrm>
          <a:prstGeom prst="rect">
            <a:avLst/>
          </a:prstGeom>
          <a:noFill/>
        </p:spPr>
        <p:txBody>
          <a:bodyPr wrap="square" lIns="54864" tIns="22860" rIns="54864" bIns="22860">
            <a:spAutoFit/>
          </a:bodyPr>
          <a:lstStyle/>
          <a:p>
            <a:pPr>
              <a:lnSpc>
                <a:spcPts val="1785"/>
              </a:lnSpc>
              <a:spcBef>
                <a:spcPts val="0"/>
              </a:spcBef>
              <a:spcAft>
                <a:spcPts val="0"/>
              </a:spcAft>
              <a:defRPr sz="1700" b="1">
                <a:solidFill>
                  <a:srgbClr val="182B3A"/>
                </a:solidFill>
                <a:latin typeface="Arial"/>
              </a:defRPr>
            </a:pPr>
            <a:r>
              <a:t>Keywords &amp; Calculation</a:t>
            </a:r>
          </a:p>
        </p:txBody>
      </p:sp>
      <p:sp>
        <p:nvSpPr>
          <p:cNvPr id="23" name="Rectangle 22"/>
          <p:cNvSpPr/>
          <p:nvPr/>
        </p:nvSpPr>
        <p:spPr>
          <a:xfrm>
            <a:off x="2121408" y="2953512"/>
            <a:ext cx="4062984" cy="1115568"/>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TextBox 23"/>
          <p:cNvSpPr txBox="1"/>
          <p:nvPr/>
        </p:nvSpPr>
        <p:spPr>
          <a:xfrm>
            <a:off x="2167127" y="3026664"/>
            <a:ext cx="3971544" cy="969264"/>
          </a:xfrm>
          <a:prstGeom prst="rect">
            <a:avLst/>
          </a:prstGeom>
          <a:noFill/>
        </p:spPr>
        <p:txBody>
          <a:bodyPr wrap="square" lIns="54864" tIns="22860" rIns="54864" bIns="22860">
            <a:spAutoFit/>
          </a:bodyPr>
          <a:lstStyle/>
          <a:p>
            <a:pPr>
              <a:lnSpc>
                <a:spcPts val="1995"/>
              </a:lnSpc>
              <a:spcBef>
                <a:spcPts val="0"/>
              </a:spcBef>
              <a:spcAft>
                <a:spcPts val="0"/>
              </a:spcAft>
              <a:defRPr sz="1900" b="0">
                <a:solidFill>
                  <a:srgbClr val="182B3A"/>
                </a:solidFill>
                <a:latin typeface="Arial"/>
              </a:defRPr>
            </a:pPr>
            <a:r>
              <a:t>Identify the keywords. Write down the calculation(s) you need to do.</a:t>
            </a:r>
          </a:p>
        </p:txBody>
      </p:sp>
      <p:sp>
        <p:nvSpPr>
          <p:cNvPr id="25" name="Rectangle 24"/>
          <p:cNvSpPr/>
          <p:nvPr/>
        </p:nvSpPr>
        <p:spPr>
          <a:xfrm>
            <a:off x="6184392" y="2953512"/>
            <a:ext cx="4062984" cy="1115568"/>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TextBox 25"/>
          <p:cNvSpPr txBox="1"/>
          <p:nvPr/>
        </p:nvSpPr>
        <p:spPr>
          <a:xfrm>
            <a:off x="6230112" y="3026664"/>
            <a:ext cx="3971544" cy="969264"/>
          </a:xfrm>
          <a:prstGeom prst="rect">
            <a:avLst/>
          </a:prstGeom>
          <a:noFill/>
        </p:spPr>
        <p:txBody>
          <a:bodyPr wrap="square" lIns="54864" tIns="22860" rIns="54864" bIns="22860">
            <a:spAutoFit/>
          </a:bodyPr>
          <a:lstStyle/>
          <a:p>
            <a:pPr>
              <a:lnSpc>
                <a:spcPts val="1995"/>
              </a:lnSpc>
              <a:spcBef>
                <a:spcPts val="0"/>
              </a:spcBef>
              <a:spcAft>
                <a:spcPts val="0"/>
              </a:spcAft>
              <a:defRPr sz="1900" b="0">
                <a:solidFill>
                  <a:srgbClr val="182B3A"/>
                </a:solidFill>
                <a:latin typeface="Arial"/>
              </a:defRPr>
            </a:pPr>
            <a:r>
              <a:t>Identify the keywords. Write down the calculation(s) you need to do.</a:t>
            </a:r>
          </a:p>
        </p:txBody>
      </p:sp>
      <p:sp>
        <p:nvSpPr>
          <p:cNvPr id="27" name="Rectangle 26"/>
          <p:cNvSpPr/>
          <p:nvPr/>
        </p:nvSpPr>
        <p:spPr>
          <a:xfrm>
            <a:off x="10247376" y="2953512"/>
            <a:ext cx="4062984" cy="1115568"/>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TextBox 27"/>
          <p:cNvSpPr txBox="1"/>
          <p:nvPr/>
        </p:nvSpPr>
        <p:spPr>
          <a:xfrm>
            <a:off x="10293096" y="3026664"/>
            <a:ext cx="3971544" cy="969264"/>
          </a:xfrm>
          <a:prstGeom prst="rect">
            <a:avLst/>
          </a:prstGeom>
          <a:noFill/>
        </p:spPr>
        <p:txBody>
          <a:bodyPr wrap="square" lIns="54864" tIns="22860" rIns="54864" bIns="22860">
            <a:spAutoFit/>
          </a:bodyPr>
          <a:lstStyle/>
          <a:p>
            <a:pPr>
              <a:lnSpc>
                <a:spcPts val="1995"/>
              </a:lnSpc>
              <a:spcBef>
                <a:spcPts val="0"/>
              </a:spcBef>
              <a:spcAft>
                <a:spcPts val="0"/>
              </a:spcAft>
              <a:defRPr sz="1900" b="0">
                <a:solidFill>
                  <a:srgbClr val="182B3A"/>
                </a:solidFill>
                <a:latin typeface="Arial"/>
              </a:defRPr>
            </a:pPr>
            <a:r>
              <a:t>Identify the keywords. Write down the calculation(s) you need to do.</a:t>
            </a:r>
          </a:p>
        </p:txBody>
      </p:sp>
      <p:sp>
        <p:nvSpPr>
          <p:cNvPr id="29" name="Rectangle 28"/>
          <p:cNvSpPr/>
          <p:nvPr/>
        </p:nvSpPr>
        <p:spPr>
          <a:xfrm>
            <a:off x="320040" y="4069080"/>
            <a:ext cx="1801367" cy="1115568"/>
          </a:xfrm>
          <a:prstGeom prst="rect">
            <a:avLst/>
          </a:prstGeom>
          <a:solidFill>
            <a:srgbClr val="E8EDF1"/>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TextBox 29"/>
          <p:cNvSpPr txBox="1"/>
          <p:nvPr/>
        </p:nvSpPr>
        <p:spPr>
          <a:xfrm>
            <a:off x="374904" y="4142232"/>
            <a:ext cx="1691639" cy="969264"/>
          </a:xfrm>
          <a:prstGeom prst="rect">
            <a:avLst/>
          </a:prstGeom>
          <a:noFill/>
        </p:spPr>
        <p:txBody>
          <a:bodyPr wrap="square" lIns="54864" tIns="22860" rIns="54864" bIns="22860">
            <a:spAutoFit/>
          </a:bodyPr>
          <a:lstStyle/>
          <a:p>
            <a:pPr>
              <a:lnSpc>
                <a:spcPts val="1785"/>
              </a:lnSpc>
              <a:spcBef>
                <a:spcPts val="0"/>
              </a:spcBef>
              <a:spcAft>
                <a:spcPts val="0"/>
              </a:spcAft>
              <a:defRPr sz="1700" b="1">
                <a:solidFill>
                  <a:srgbClr val="182B3A"/>
                </a:solidFill>
                <a:latin typeface="Arial"/>
              </a:defRPr>
            </a:pPr>
            <a:r>
              <a:t>Written Method</a:t>
            </a:r>
          </a:p>
        </p:txBody>
      </p:sp>
      <p:sp>
        <p:nvSpPr>
          <p:cNvPr id="31" name="Rectangle 30"/>
          <p:cNvSpPr/>
          <p:nvPr/>
        </p:nvSpPr>
        <p:spPr>
          <a:xfrm>
            <a:off x="2121408" y="4069080"/>
            <a:ext cx="4062984" cy="1115568"/>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TextBox 31"/>
          <p:cNvSpPr txBox="1"/>
          <p:nvPr/>
        </p:nvSpPr>
        <p:spPr>
          <a:xfrm>
            <a:off x="2167127" y="4142232"/>
            <a:ext cx="3971544" cy="969264"/>
          </a:xfrm>
          <a:prstGeom prst="rect">
            <a:avLst/>
          </a:prstGeom>
          <a:noFill/>
        </p:spPr>
        <p:txBody>
          <a:bodyPr wrap="square" lIns="54864" tIns="22860" rIns="54864" bIns="22860">
            <a:spAutoFit/>
          </a:bodyPr>
          <a:lstStyle/>
          <a:p>
            <a:pPr>
              <a:lnSpc>
                <a:spcPts val="1995"/>
              </a:lnSpc>
              <a:spcBef>
                <a:spcPts val="0"/>
              </a:spcBef>
              <a:spcAft>
                <a:spcPts val="0"/>
              </a:spcAft>
              <a:defRPr sz="1900" b="0">
                <a:solidFill>
                  <a:srgbClr val="182B3A"/>
                </a:solidFill>
                <a:latin typeface="Arial"/>
              </a:defRPr>
            </a:pPr>
            <a:r>
              <a:t>Set up and use the written method for your calculation(s).</a:t>
            </a:r>
          </a:p>
        </p:txBody>
      </p:sp>
      <p:sp>
        <p:nvSpPr>
          <p:cNvPr id="33" name="Rectangle 32"/>
          <p:cNvSpPr/>
          <p:nvPr/>
        </p:nvSpPr>
        <p:spPr>
          <a:xfrm>
            <a:off x="6184392" y="4069080"/>
            <a:ext cx="4062984" cy="1115568"/>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4" name="TextBox 33"/>
          <p:cNvSpPr txBox="1"/>
          <p:nvPr/>
        </p:nvSpPr>
        <p:spPr>
          <a:xfrm>
            <a:off x="6230112" y="4142232"/>
            <a:ext cx="3971544" cy="969264"/>
          </a:xfrm>
          <a:prstGeom prst="rect">
            <a:avLst/>
          </a:prstGeom>
          <a:noFill/>
        </p:spPr>
        <p:txBody>
          <a:bodyPr wrap="square" lIns="54864" tIns="22860" rIns="54864" bIns="22860">
            <a:spAutoFit/>
          </a:bodyPr>
          <a:lstStyle/>
          <a:p>
            <a:pPr>
              <a:lnSpc>
                <a:spcPts val="1995"/>
              </a:lnSpc>
              <a:spcBef>
                <a:spcPts val="0"/>
              </a:spcBef>
              <a:spcAft>
                <a:spcPts val="0"/>
              </a:spcAft>
              <a:defRPr sz="1900" b="0">
                <a:solidFill>
                  <a:srgbClr val="182B3A"/>
                </a:solidFill>
                <a:latin typeface="Arial"/>
              </a:defRPr>
            </a:pPr>
            <a:r>
              <a:t>Set up and use the written method for your calculation(s).</a:t>
            </a:r>
          </a:p>
        </p:txBody>
      </p:sp>
      <p:sp>
        <p:nvSpPr>
          <p:cNvPr id="35" name="Rectangle 34"/>
          <p:cNvSpPr/>
          <p:nvPr/>
        </p:nvSpPr>
        <p:spPr>
          <a:xfrm>
            <a:off x="10247376" y="4069080"/>
            <a:ext cx="4062984" cy="1115568"/>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6" name="TextBox 35"/>
          <p:cNvSpPr txBox="1"/>
          <p:nvPr/>
        </p:nvSpPr>
        <p:spPr>
          <a:xfrm>
            <a:off x="10293096" y="4142232"/>
            <a:ext cx="3971544" cy="969264"/>
          </a:xfrm>
          <a:prstGeom prst="rect">
            <a:avLst/>
          </a:prstGeom>
          <a:noFill/>
        </p:spPr>
        <p:txBody>
          <a:bodyPr wrap="square" lIns="54864" tIns="22860" rIns="54864" bIns="22860">
            <a:spAutoFit/>
          </a:bodyPr>
          <a:lstStyle/>
          <a:p>
            <a:pPr>
              <a:lnSpc>
                <a:spcPts val="1995"/>
              </a:lnSpc>
              <a:spcBef>
                <a:spcPts val="0"/>
              </a:spcBef>
              <a:spcAft>
                <a:spcPts val="0"/>
              </a:spcAft>
              <a:defRPr sz="1900" b="0">
                <a:solidFill>
                  <a:srgbClr val="182B3A"/>
                </a:solidFill>
                <a:latin typeface="Arial"/>
              </a:defRPr>
            </a:pPr>
            <a:r>
              <a:t>Set up and use the written method for your calculation(s).</a:t>
            </a:r>
          </a:p>
        </p:txBody>
      </p:sp>
      <p:sp>
        <p:nvSpPr>
          <p:cNvPr id="37" name="Rectangle 36"/>
          <p:cNvSpPr/>
          <p:nvPr/>
        </p:nvSpPr>
        <p:spPr>
          <a:xfrm>
            <a:off x="320040" y="5184648"/>
            <a:ext cx="1801367" cy="1115568"/>
          </a:xfrm>
          <a:prstGeom prst="rect">
            <a:avLst/>
          </a:prstGeom>
          <a:solidFill>
            <a:srgbClr val="E8EDF1"/>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8" name="TextBox 37"/>
          <p:cNvSpPr txBox="1"/>
          <p:nvPr/>
        </p:nvSpPr>
        <p:spPr>
          <a:xfrm>
            <a:off x="374904" y="5257800"/>
            <a:ext cx="1691639" cy="969264"/>
          </a:xfrm>
          <a:prstGeom prst="rect">
            <a:avLst/>
          </a:prstGeom>
          <a:noFill/>
        </p:spPr>
        <p:txBody>
          <a:bodyPr wrap="square" lIns="54864" tIns="22860" rIns="54864" bIns="22860">
            <a:spAutoFit/>
          </a:bodyPr>
          <a:lstStyle/>
          <a:p>
            <a:pPr>
              <a:lnSpc>
                <a:spcPts val="1785"/>
              </a:lnSpc>
              <a:spcBef>
                <a:spcPts val="0"/>
              </a:spcBef>
              <a:spcAft>
                <a:spcPts val="0"/>
              </a:spcAft>
              <a:defRPr sz="1700" b="1">
                <a:solidFill>
                  <a:srgbClr val="182B3A"/>
                </a:solidFill>
                <a:latin typeface="Arial"/>
              </a:defRPr>
            </a:pPr>
            <a:r>
              <a:t>Ballpark Check &amp; Math</a:t>
            </a:r>
          </a:p>
        </p:txBody>
      </p:sp>
      <p:sp>
        <p:nvSpPr>
          <p:cNvPr id="39" name="Rectangle 38"/>
          <p:cNvSpPr/>
          <p:nvPr/>
        </p:nvSpPr>
        <p:spPr>
          <a:xfrm>
            <a:off x="2121408" y="5184648"/>
            <a:ext cx="4062984" cy="1115568"/>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0" name="TextBox 39"/>
          <p:cNvSpPr txBox="1"/>
          <p:nvPr/>
        </p:nvSpPr>
        <p:spPr>
          <a:xfrm>
            <a:off x="2167127" y="5257800"/>
            <a:ext cx="3971544" cy="969264"/>
          </a:xfrm>
          <a:prstGeom prst="rect">
            <a:avLst/>
          </a:prstGeom>
          <a:noFill/>
        </p:spPr>
        <p:txBody>
          <a:bodyPr wrap="square" lIns="54864" tIns="22860" rIns="54864" bIns="22860">
            <a:spAutoFit/>
          </a:bodyPr>
          <a:lstStyle/>
          <a:p>
            <a:pPr>
              <a:lnSpc>
                <a:spcPts val="1995"/>
              </a:lnSpc>
              <a:spcBef>
                <a:spcPts val="0"/>
              </a:spcBef>
              <a:spcAft>
                <a:spcPts val="0"/>
              </a:spcAft>
              <a:defRPr sz="1900" b="0">
                <a:solidFill>
                  <a:srgbClr val="182B3A"/>
                </a:solidFill>
                <a:latin typeface="Arial"/>
              </a:defRPr>
            </a:pPr>
            <a:r>
              <a:t>Check your answer using rough ballpark calculations. Does it make sense?</a:t>
            </a:r>
          </a:p>
        </p:txBody>
      </p:sp>
      <p:sp>
        <p:nvSpPr>
          <p:cNvPr id="41" name="Rectangle 40"/>
          <p:cNvSpPr/>
          <p:nvPr/>
        </p:nvSpPr>
        <p:spPr>
          <a:xfrm>
            <a:off x="6184392" y="5184648"/>
            <a:ext cx="4062984" cy="1115568"/>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2" name="TextBox 41"/>
          <p:cNvSpPr txBox="1"/>
          <p:nvPr/>
        </p:nvSpPr>
        <p:spPr>
          <a:xfrm>
            <a:off x="6230112" y="5257800"/>
            <a:ext cx="3971544" cy="969264"/>
          </a:xfrm>
          <a:prstGeom prst="rect">
            <a:avLst/>
          </a:prstGeom>
          <a:noFill/>
        </p:spPr>
        <p:txBody>
          <a:bodyPr wrap="square" lIns="54864" tIns="22860" rIns="54864" bIns="22860">
            <a:spAutoFit/>
          </a:bodyPr>
          <a:lstStyle/>
          <a:p>
            <a:pPr>
              <a:lnSpc>
                <a:spcPts val="1995"/>
              </a:lnSpc>
              <a:spcBef>
                <a:spcPts val="0"/>
              </a:spcBef>
              <a:spcAft>
                <a:spcPts val="0"/>
              </a:spcAft>
              <a:defRPr sz="1900" b="0">
                <a:solidFill>
                  <a:srgbClr val="182B3A"/>
                </a:solidFill>
                <a:latin typeface="Arial"/>
              </a:defRPr>
            </a:pPr>
            <a:r>
              <a:t>Check your answer using rough ballpark calculations. Does it make sense?</a:t>
            </a:r>
          </a:p>
        </p:txBody>
      </p:sp>
      <p:sp>
        <p:nvSpPr>
          <p:cNvPr id="43" name="Rectangle 42"/>
          <p:cNvSpPr/>
          <p:nvPr/>
        </p:nvSpPr>
        <p:spPr>
          <a:xfrm>
            <a:off x="10247376" y="5184648"/>
            <a:ext cx="4062984" cy="1115568"/>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4" name="TextBox 43"/>
          <p:cNvSpPr txBox="1"/>
          <p:nvPr/>
        </p:nvSpPr>
        <p:spPr>
          <a:xfrm>
            <a:off x="10293096" y="5257800"/>
            <a:ext cx="3971544" cy="969264"/>
          </a:xfrm>
          <a:prstGeom prst="rect">
            <a:avLst/>
          </a:prstGeom>
          <a:noFill/>
        </p:spPr>
        <p:txBody>
          <a:bodyPr wrap="square" lIns="54864" tIns="22860" rIns="54864" bIns="22860">
            <a:spAutoFit/>
          </a:bodyPr>
          <a:lstStyle/>
          <a:p>
            <a:pPr>
              <a:lnSpc>
                <a:spcPts val="1995"/>
              </a:lnSpc>
              <a:spcBef>
                <a:spcPts val="0"/>
              </a:spcBef>
              <a:spcAft>
                <a:spcPts val="0"/>
              </a:spcAft>
              <a:defRPr sz="1900" b="0">
                <a:solidFill>
                  <a:srgbClr val="182B3A"/>
                </a:solidFill>
                <a:latin typeface="Arial"/>
              </a:defRPr>
            </a:pPr>
            <a:r>
              <a:t>Check your answer using rough ballpark calculations. Does it make sense?</a:t>
            </a:r>
          </a:p>
        </p:txBody>
      </p:sp>
      <p:sp>
        <p:nvSpPr>
          <p:cNvPr id="45" name="Rectangle 44"/>
          <p:cNvSpPr/>
          <p:nvPr/>
        </p:nvSpPr>
        <p:spPr>
          <a:xfrm>
            <a:off x="320040" y="6300216"/>
            <a:ext cx="1801367" cy="1115568"/>
          </a:xfrm>
          <a:prstGeom prst="rect">
            <a:avLst/>
          </a:prstGeom>
          <a:solidFill>
            <a:srgbClr val="E8EDF1"/>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6" name="TextBox 45"/>
          <p:cNvSpPr txBox="1"/>
          <p:nvPr/>
        </p:nvSpPr>
        <p:spPr>
          <a:xfrm>
            <a:off x="374904" y="6373368"/>
            <a:ext cx="1691639" cy="969264"/>
          </a:xfrm>
          <a:prstGeom prst="rect">
            <a:avLst/>
          </a:prstGeom>
          <a:noFill/>
        </p:spPr>
        <p:txBody>
          <a:bodyPr wrap="square" lIns="54864" tIns="22860" rIns="54864" bIns="22860">
            <a:spAutoFit/>
          </a:bodyPr>
          <a:lstStyle/>
          <a:p>
            <a:pPr>
              <a:lnSpc>
                <a:spcPts val="1785"/>
              </a:lnSpc>
              <a:spcBef>
                <a:spcPts val="0"/>
              </a:spcBef>
              <a:spcAft>
                <a:spcPts val="0"/>
              </a:spcAft>
              <a:defRPr sz="1700" b="1">
                <a:solidFill>
                  <a:srgbClr val="182B3A"/>
                </a:solidFill>
                <a:latin typeface="Arial"/>
              </a:defRPr>
            </a:pPr>
            <a:r>
              <a:t>Final Answer</a:t>
            </a:r>
          </a:p>
        </p:txBody>
      </p:sp>
      <p:sp>
        <p:nvSpPr>
          <p:cNvPr id="47" name="Rectangle 46"/>
          <p:cNvSpPr/>
          <p:nvPr/>
        </p:nvSpPr>
        <p:spPr>
          <a:xfrm>
            <a:off x="2121408" y="6300216"/>
            <a:ext cx="4062984" cy="1115568"/>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8" name="TextBox 47"/>
          <p:cNvSpPr txBox="1"/>
          <p:nvPr/>
        </p:nvSpPr>
        <p:spPr>
          <a:xfrm>
            <a:off x="2167127" y="6373368"/>
            <a:ext cx="3971544" cy="969264"/>
          </a:xfrm>
          <a:prstGeom prst="rect">
            <a:avLst/>
          </a:prstGeom>
          <a:noFill/>
        </p:spPr>
        <p:txBody>
          <a:bodyPr wrap="square" lIns="54864" tIns="22860" rIns="54864" bIns="22860">
            <a:spAutoFit/>
          </a:bodyPr>
          <a:lstStyle/>
          <a:p>
            <a:pPr>
              <a:lnSpc>
                <a:spcPts val="1995"/>
              </a:lnSpc>
              <a:spcBef>
                <a:spcPts val="0"/>
              </a:spcBef>
              <a:spcAft>
                <a:spcPts val="0"/>
              </a:spcAft>
              <a:defRPr sz="1900" b="0">
                <a:solidFill>
                  <a:srgbClr val="182B3A"/>
                </a:solidFill>
                <a:latin typeface="Arial"/>
              </a:defRPr>
            </a:pPr>
            <a:r>
              <a:t>Write your final answer to the question. Include the correct units.</a:t>
            </a:r>
          </a:p>
        </p:txBody>
      </p:sp>
      <p:sp>
        <p:nvSpPr>
          <p:cNvPr id="49" name="Rectangle 48"/>
          <p:cNvSpPr/>
          <p:nvPr/>
        </p:nvSpPr>
        <p:spPr>
          <a:xfrm>
            <a:off x="6184392" y="6300216"/>
            <a:ext cx="4062984" cy="1115568"/>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0" name="TextBox 49"/>
          <p:cNvSpPr txBox="1"/>
          <p:nvPr/>
        </p:nvSpPr>
        <p:spPr>
          <a:xfrm>
            <a:off x="6230112" y="6373368"/>
            <a:ext cx="3971544" cy="969264"/>
          </a:xfrm>
          <a:prstGeom prst="rect">
            <a:avLst/>
          </a:prstGeom>
          <a:noFill/>
        </p:spPr>
        <p:txBody>
          <a:bodyPr wrap="square" lIns="54864" tIns="22860" rIns="54864" bIns="22860">
            <a:spAutoFit/>
          </a:bodyPr>
          <a:lstStyle/>
          <a:p>
            <a:pPr>
              <a:lnSpc>
                <a:spcPts val="1995"/>
              </a:lnSpc>
              <a:spcBef>
                <a:spcPts val="0"/>
              </a:spcBef>
              <a:spcAft>
                <a:spcPts val="0"/>
              </a:spcAft>
              <a:defRPr sz="1900" b="0">
                <a:solidFill>
                  <a:srgbClr val="182B3A"/>
                </a:solidFill>
                <a:latin typeface="Arial"/>
              </a:defRPr>
            </a:pPr>
            <a:r>
              <a:t>Write your final answer to the question. Include the correct units.</a:t>
            </a:r>
          </a:p>
        </p:txBody>
      </p:sp>
      <p:sp>
        <p:nvSpPr>
          <p:cNvPr id="51" name="Rectangle 50"/>
          <p:cNvSpPr/>
          <p:nvPr/>
        </p:nvSpPr>
        <p:spPr>
          <a:xfrm>
            <a:off x="10247376" y="6300216"/>
            <a:ext cx="4062984" cy="1115568"/>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2" name="TextBox 51"/>
          <p:cNvSpPr txBox="1"/>
          <p:nvPr/>
        </p:nvSpPr>
        <p:spPr>
          <a:xfrm>
            <a:off x="10293096" y="6373368"/>
            <a:ext cx="3971544" cy="969264"/>
          </a:xfrm>
          <a:prstGeom prst="rect">
            <a:avLst/>
          </a:prstGeom>
          <a:noFill/>
        </p:spPr>
        <p:txBody>
          <a:bodyPr wrap="square" lIns="54864" tIns="22860" rIns="54864" bIns="22860">
            <a:spAutoFit/>
          </a:bodyPr>
          <a:lstStyle/>
          <a:p>
            <a:pPr>
              <a:lnSpc>
                <a:spcPts val="1995"/>
              </a:lnSpc>
              <a:spcBef>
                <a:spcPts val="0"/>
              </a:spcBef>
              <a:spcAft>
                <a:spcPts val="0"/>
              </a:spcAft>
              <a:defRPr sz="1900" b="0">
                <a:solidFill>
                  <a:srgbClr val="182B3A"/>
                </a:solidFill>
                <a:latin typeface="Arial"/>
              </a:defRPr>
            </a:pPr>
            <a:r>
              <a:t>Write your final answer to the question. Include the correct units.</a:t>
            </a:r>
          </a:p>
        </p:txBody>
      </p:sp>
      <p:sp>
        <p:nvSpPr>
          <p:cNvPr id="53" name="Progression curved arrow: Thread 1 to Thread 2"/>
          <p:cNvSpPr/>
          <p:nvPr/>
        </p:nvSpPr>
        <p:spPr>
          <a:xfrm>
            <a:off x="5850635" y="7351126"/>
            <a:ext cx="621792" cy="314053"/>
          </a:xfrm>
          <a:custGeom>
            <a:avLst/>
            <a:gdLst/>
            <a:ahLst/>
            <a:cxnLst/>
            <a:rect l="0" t="0" r="100000" b="100000"/>
            <a:pathLst>
              <a:path w="100000" h="100000" fill="none">
                <a:moveTo>
                  <a:pt x="6970" y="48439"/>
                </a:moveTo>
                <a:cubicBezTo>
                  <a:pt x="40678" y="114499"/>
                  <a:pt x="73026" y="88145"/>
                  <a:pt x="93030" y="13799"/>
                </a:cubicBezTo>
              </a:path>
              <a:path w="100000" h="100000" fill="none">
                <a:moveTo>
                  <a:pt x="69018" y="40431"/>
                </a:moveTo>
                <a:lnTo>
                  <a:pt x="93030" y="13799"/>
                </a:lnTo>
                <a:lnTo>
                  <a:pt x="92217" y="66207"/>
                </a:lnTo>
              </a:path>
            </a:pathLst>
          </a:custGeom>
          <a:noFill/>
          <a:ln w="64449" cap="rnd">
            <a:solidFill>
              <a:schemeClr val="accent6">
                <a:lumMod val="60000"/>
                <a:lumOff val="40000"/>
              </a:schemeClr>
            </a:solidFill>
            <a:round/>
          </a:ln>
          <a:effectLst/>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55" name="Progression curved arrow: Thread 1 to Thread 2">
            <a:extLst>
              <a:ext uri="{FF2B5EF4-FFF2-40B4-BE49-F238E27FC236}">
                <a16:creationId xmlns:a16="http://schemas.microsoft.com/office/drawing/2014/main" id="{5C4B25E0-6F8B-5EB5-B1AB-18C9B16A520D}"/>
              </a:ext>
            </a:extLst>
          </p:cNvPr>
          <p:cNvSpPr/>
          <p:nvPr/>
        </p:nvSpPr>
        <p:spPr>
          <a:xfrm>
            <a:off x="9865783" y="7342632"/>
            <a:ext cx="621792" cy="314053"/>
          </a:xfrm>
          <a:custGeom>
            <a:avLst/>
            <a:gdLst/>
            <a:ahLst/>
            <a:cxnLst/>
            <a:rect l="0" t="0" r="100000" b="100000"/>
            <a:pathLst>
              <a:path w="100000" h="100000" fill="none">
                <a:moveTo>
                  <a:pt x="6970" y="48439"/>
                </a:moveTo>
                <a:cubicBezTo>
                  <a:pt x="40678" y="114499"/>
                  <a:pt x="73026" y="88145"/>
                  <a:pt x="93030" y="13799"/>
                </a:cubicBezTo>
              </a:path>
              <a:path w="100000" h="100000" fill="none">
                <a:moveTo>
                  <a:pt x="69018" y="40431"/>
                </a:moveTo>
                <a:lnTo>
                  <a:pt x="93030" y="13799"/>
                </a:lnTo>
                <a:lnTo>
                  <a:pt x="92217" y="66207"/>
                </a:lnTo>
              </a:path>
            </a:pathLst>
          </a:custGeom>
          <a:noFill/>
          <a:ln w="64449" cap="rnd">
            <a:solidFill>
              <a:schemeClr val="accent6">
                <a:lumMod val="60000"/>
                <a:lumOff val="40000"/>
              </a:schemeClr>
            </a:solidFill>
            <a:round/>
          </a:ln>
          <a:effectLst/>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Tree>
  </p:cSld>
  <p:clrMapOvr>
    <a:masterClrMapping/>
  </p:clrMapOvr>
</p:sld>
</file>

<file path=ppt/slides/slide62.xml><?xml version="1.0" encoding="utf-8"?>
<p:sld xmlns:a="http://schemas.openxmlformats.org/drawingml/2006/main" xmlns:p="http://schemas.openxmlformats.org/presentationml/2006/main" xmlns:r="http://schemas.openxmlformats.org/officeDocument/2006/relationships">
  <p:cSld>
    <p:bg>
      <p:bgPr>
        <a:solidFill>
          <a:srgbClr val="F7F8FA"/>
        </a:solidFill>
        <a:effectLst/>
      </p:bgPr>
    </p:bg>
    <p:spTree>
      <p:nvGrpSpPr>
        <p:cNvPr id="1" name=""/>
        <p:cNvGrpSpPr/>
        <p:nvPr/>
      </p:nvGrpSpPr>
      <p:grpSpPr/>
      <p:sp>
        <p:nvSpPr>
          <p:cNvPr id="2" name="Rectangle 1"/>
          <p:cNvSpPr/>
          <p:nvPr/>
        </p:nvSpPr>
        <p:spPr>
          <a:xfrm>
            <a:off x="0" y="0"/>
            <a:ext cx="14630400" cy="73152"/>
          </a:xfrm>
          <a:prstGeom prst="rect">
            <a:avLst/>
          </a:prstGeom>
          <a:solidFill>
            <a:srgbClr val="176B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320040" y="164592"/>
            <a:ext cx="13990320" cy="457200"/>
          </a:xfrm>
          <a:prstGeom prst="rect">
            <a:avLst/>
          </a:prstGeom>
          <a:noFill/>
        </p:spPr>
        <p:txBody>
          <a:bodyPr wrap="square" lIns="54864" tIns="22860" rIns="54864" bIns="22860">
            <a:spAutoFit/>
          </a:bodyPr>
          <a:lstStyle/>
          <a:p>
            <a:pPr>
              <a:lnSpc>
                <a:spcPts val="2940"/>
              </a:lnSpc>
              <a:spcBef>
                <a:spcPts val="0"/>
              </a:spcBef>
              <a:spcAft>
                <a:spcPts val="0"/>
              </a:spcAft>
              <a:defRPr sz="2800" b="1">
                <a:solidFill>
                  <a:srgbClr val="182B3A"/>
                </a:solidFill>
                <a:latin typeface="Arial"/>
              </a:defRPr>
            </a:pPr>
            <a:r>
              <a:t>Ratio: sharing and missing amounts</a:t>
            </a:r>
          </a:p>
        </p:txBody>
      </p:sp>
      <p:sp>
        <p:nvSpPr>
          <p:cNvPr id="4" name="TextBox 3"/>
          <p:cNvSpPr txBox="1"/>
          <p:nvPr/>
        </p:nvSpPr>
        <p:spPr>
          <a:xfrm>
            <a:off x="320040" y="704088"/>
            <a:ext cx="13990320" cy="347472"/>
          </a:xfrm>
          <a:prstGeom prst="rect">
            <a:avLst/>
          </a:prstGeom>
          <a:noFill/>
        </p:spPr>
        <p:txBody>
          <a:bodyPr wrap="square" lIns="54864" tIns="22860" rIns="54864" bIns="22860">
            <a:spAutoFit/>
          </a:bodyPr>
          <a:lstStyle/>
          <a:p>
            <a:pPr>
              <a:lnSpc>
                <a:spcPts val="1575"/>
              </a:lnSpc>
              <a:spcBef>
                <a:spcPts val="0"/>
              </a:spcBef>
              <a:spcAft>
                <a:spcPts val="0"/>
              </a:spcAft>
              <a:defRPr sz="1500" b="0">
                <a:solidFill>
                  <a:srgbClr val="526472"/>
                </a:solidFill>
                <a:latin typeface="Arial"/>
              </a:defRPr>
            </a:pPr>
            <a:r>
              <a:t>Step-by-step practice 2 • Complete each step in your booklet or webapp.</a:t>
            </a:r>
          </a:p>
        </p:txBody>
      </p:sp>
      <p:sp>
        <p:nvSpPr>
          <p:cNvPr id="5" name="TextBox 4"/>
          <p:cNvSpPr txBox="1"/>
          <p:nvPr/>
        </p:nvSpPr>
        <p:spPr>
          <a:xfrm>
            <a:off x="320040" y="7973568"/>
            <a:ext cx="10789920" cy="210312"/>
          </a:xfrm>
          <a:prstGeom prst="rect">
            <a:avLst/>
          </a:prstGeom>
          <a:noFill/>
        </p:spPr>
        <p:txBody>
          <a:bodyPr wrap="square" lIns="54864" tIns="22860" rIns="54864" bIns="22860">
            <a:spAutoFit/>
          </a:bodyPr>
          <a:lstStyle/>
          <a:p>
            <a:pPr>
              <a:lnSpc>
                <a:spcPts val="1155"/>
              </a:lnSpc>
              <a:spcBef>
                <a:spcPts val="0"/>
              </a:spcBef>
              <a:spcAft>
                <a:spcPts val="0"/>
              </a:spcAft>
              <a:defRPr sz="1100" b="0">
                <a:solidFill>
                  <a:srgbClr val="526472"/>
                </a:solidFill>
                <a:latin typeface="Arial"/>
              </a:defRPr>
            </a:pPr>
            <a:r>
              <a:t>GCSE Maths revision • No calculator • Show your working.</a:t>
            </a:r>
          </a:p>
        </p:txBody>
      </p:sp>
      <p:sp>
        <p:nvSpPr>
          <p:cNvPr id="6" name="TextBox 5"/>
          <p:cNvSpPr txBox="1"/>
          <p:nvPr/>
        </p:nvSpPr>
        <p:spPr>
          <a:xfrm>
            <a:off x="11155680" y="7973568"/>
            <a:ext cx="3108960" cy="210312"/>
          </a:xfrm>
          <a:prstGeom prst="rect">
            <a:avLst/>
          </a:prstGeom>
          <a:noFill/>
        </p:spPr>
        <p:txBody>
          <a:bodyPr wrap="square" lIns="54864" tIns="22860" rIns="54864" bIns="22860">
            <a:spAutoFit/>
          </a:bodyPr>
          <a:lstStyle/>
          <a:p>
            <a:pPr>
              <a:lnSpc>
                <a:spcPts val="1155"/>
              </a:lnSpc>
              <a:spcBef>
                <a:spcPts val="0"/>
              </a:spcBef>
              <a:spcAft>
                <a:spcPts val="0"/>
              </a:spcAft>
              <a:defRPr sz="1100" b="0">
                <a:solidFill>
                  <a:srgbClr val="526472"/>
                </a:solidFill>
                <a:latin typeface="Arial"/>
              </a:defRPr>
            </a:pPr>
            <a:r>
              <a:t>M04-S03</a:t>
            </a:r>
          </a:p>
        </p:txBody>
      </p:sp>
      <p:sp>
        <p:nvSpPr>
          <p:cNvPr id="7" name="Rectangle 6"/>
          <p:cNvSpPr/>
          <p:nvPr/>
        </p:nvSpPr>
        <p:spPr>
          <a:xfrm>
            <a:off x="2121408" y="1115568"/>
            <a:ext cx="4040123" cy="420624"/>
          </a:xfrm>
          <a:prstGeom prst="rect">
            <a:avLst/>
          </a:prstGeom>
          <a:solidFill>
            <a:srgbClr val="176B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2148839" y="1147572"/>
            <a:ext cx="3980688" cy="329184"/>
          </a:xfrm>
          <a:prstGeom prst="rect">
            <a:avLst/>
          </a:prstGeom>
          <a:noFill/>
        </p:spPr>
        <p:txBody>
          <a:bodyPr wrap="square" lIns="54864" tIns="22860" rIns="54864" bIns="22860">
            <a:spAutoFit/>
          </a:bodyPr>
          <a:lstStyle/>
          <a:p>
            <a:pPr>
              <a:lnSpc>
                <a:spcPts val="1995"/>
              </a:lnSpc>
              <a:spcBef>
                <a:spcPts val="0"/>
              </a:spcBef>
              <a:spcAft>
                <a:spcPts val="0"/>
              </a:spcAft>
              <a:defRPr sz="1900" b="1">
                <a:solidFill>
                  <a:srgbClr val="FFFFFF"/>
                </a:solidFill>
                <a:latin typeface="Arial"/>
              </a:defRPr>
            </a:pPr>
            <a:r>
              <a:t>Start</a:t>
            </a:r>
          </a:p>
        </p:txBody>
      </p:sp>
      <p:sp>
        <p:nvSpPr>
          <p:cNvPr id="9" name="Rectangle 8"/>
          <p:cNvSpPr/>
          <p:nvPr/>
        </p:nvSpPr>
        <p:spPr>
          <a:xfrm>
            <a:off x="6184392" y="1115568"/>
            <a:ext cx="4040123" cy="420624"/>
          </a:xfrm>
          <a:prstGeom prst="rect">
            <a:avLst/>
          </a:prstGeom>
          <a:solidFill>
            <a:srgbClr val="3559A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6211824" y="1147572"/>
            <a:ext cx="3980688" cy="329184"/>
          </a:xfrm>
          <a:prstGeom prst="rect">
            <a:avLst/>
          </a:prstGeom>
          <a:noFill/>
        </p:spPr>
        <p:txBody>
          <a:bodyPr wrap="square" lIns="54864" tIns="22860" rIns="54864" bIns="22860">
            <a:spAutoFit/>
          </a:bodyPr>
          <a:lstStyle/>
          <a:p>
            <a:pPr>
              <a:lnSpc>
                <a:spcPts val="1995"/>
              </a:lnSpc>
              <a:spcBef>
                <a:spcPts val="0"/>
              </a:spcBef>
              <a:spcAft>
                <a:spcPts val="0"/>
              </a:spcAft>
              <a:defRPr sz="1900" b="1">
                <a:solidFill>
                  <a:srgbClr val="FFFFFF"/>
                </a:solidFill>
                <a:latin typeface="Arial"/>
              </a:defRPr>
            </a:pPr>
            <a:r>
              <a:t>Build</a:t>
            </a:r>
          </a:p>
        </p:txBody>
      </p:sp>
      <p:sp>
        <p:nvSpPr>
          <p:cNvPr id="11" name="Rectangle 10"/>
          <p:cNvSpPr/>
          <p:nvPr/>
        </p:nvSpPr>
        <p:spPr>
          <a:xfrm>
            <a:off x="10247376" y="1115568"/>
            <a:ext cx="4040123" cy="420624"/>
          </a:xfrm>
          <a:prstGeom prst="rect">
            <a:avLst/>
          </a:prstGeom>
          <a:solidFill>
            <a:srgbClr val="754B8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10274808" y="1147572"/>
            <a:ext cx="3980688" cy="329184"/>
          </a:xfrm>
          <a:prstGeom prst="rect">
            <a:avLst/>
          </a:prstGeom>
          <a:noFill/>
        </p:spPr>
        <p:txBody>
          <a:bodyPr wrap="square" lIns="54864" tIns="22860" rIns="54864" bIns="22860">
            <a:spAutoFit/>
          </a:bodyPr>
          <a:lstStyle/>
          <a:p>
            <a:pPr>
              <a:lnSpc>
                <a:spcPts val="1995"/>
              </a:lnSpc>
              <a:spcBef>
                <a:spcPts val="0"/>
              </a:spcBef>
              <a:spcAft>
                <a:spcPts val="0"/>
              </a:spcAft>
              <a:defRPr sz="1900" b="1">
                <a:solidFill>
                  <a:srgbClr val="FFFFFF"/>
                </a:solidFill>
                <a:latin typeface="Arial"/>
              </a:defRPr>
            </a:pPr>
            <a:r>
              <a:t>Confidence</a:t>
            </a:r>
          </a:p>
        </p:txBody>
      </p:sp>
      <p:sp>
        <p:nvSpPr>
          <p:cNvPr id="13" name="Rectangle 12"/>
          <p:cNvSpPr/>
          <p:nvPr/>
        </p:nvSpPr>
        <p:spPr>
          <a:xfrm>
            <a:off x="320040" y="1563624"/>
            <a:ext cx="1801367" cy="1389888"/>
          </a:xfrm>
          <a:prstGeom prst="rect">
            <a:avLst/>
          </a:prstGeom>
          <a:solidFill>
            <a:srgbClr val="E8EDF1"/>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374904" y="1673352"/>
            <a:ext cx="1691639" cy="1207008"/>
          </a:xfrm>
          <a:prstGeom prst="rect">
            <a:avLst/>
          </a:prstGeom>
          <a:noFill/>
        </p:spPr>
        <p:txBody>
          <a:bodyPr wrap="square" lIns="54864" tIns="22860" rIns="54864" bIns="22860">
            <a:spAutoFit/>
          </a:bodyPr>
          <a:lstStyle/>
          <a:p>
            <a:pPr>
              <a:lnSpc>
                <a:spcPts val="1785"/>
              </a:lnSpc>
              <a:spcBef>
                <a:spcPts val="0"/>
              </a:spcBef>
              <a:spcAft>
                <a:spcPts val="0"/>
              </a:spcAft>
              <a:defRPr sz="1700" b="1">
                <a:solidFill>
                  <a:srgbClr val="182B3A"/>
                </a:solidFill>
                <a:latin typeface="Arial"/>
              </a:defRPr>
            </a:pPr>
            <a:r>
              <a:t>The Full Question</a:t>
            </a:r>
          </a:p>
        </p:txBody>
      </p:sp>
      <p:sp>
        <p:nvSpPr>
          <p:cNvPr id="15" name="Rectangle 14"/>
          <p:cNvSpPr/>
          <p:nvPr/>
        </p:nvSpPr>
        <p:spPr>
          <a:xfrm>
            <a:off x="2121408" y="1563624"/>
            <a:ext cx="4062984" cy="1389888"/>
          </a:xfrm>
          <a:prstGeom prst="rect">
            <a:avLst/>
          </a:prstGeom>
          <a:solidFill>
            <a:srgbClr val="EDF6F5"/>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2167127" y="1627632"/>
            <a:ext cx="3971544" cy="1261872"/>
          </a:xfrm>
          <a:prstGeom prst="rect">
            <a:avLst/>
          </a:prstGeom>
          <a:noFill/>
        </p:spPr>
        <p:txBody>
          <a:bodyPr wrap="square" lIns="54864" tIns="22860" rIns="54864" bIns="22860">
            <a:spAutoFit/>
          </a:bodyPr>
          <a:lstStyle/>
          <a:p>
            <a:pPr>
              <a:lnSpc>
                <a:spcPts val="1890"/>
              </a:lnSpc>
              <a:spcBef>
                <a:spcPts val="0"/>
              </a:spcBef>
              <a:spcAft>
                <a:spcPts val="0"/>
              </a:spcAft>
              <a:defRPr sz="1800" b="1">
                <a:solidFill>
                  <a:srgbClr val="182B3A"/>
                </a:solidFill>
                <a:latin typeface="Arial"/>
              </a:defRPr>
            </a:pPr>
            <a:r>
              <a:t>A 96 cm ribbon is cut into pieces A and B in the ratio 5:7. Find the length of B.</a:t>
            </a:r>
          </a:p>
        </p:txBody>
      </p:sp>
      <p:sp>
        <p:nvSpPr>
          <p:cNvPr id="17" name="Rectangle 16"/>
          <p:cNvSpPr/>
          <p:nvPr/>
        </p:nvSpPr>
        <p:spPr>
          <a:xfrm>
            <a:off x="6184392" y="1563624"/>
            <a:ext cx="4062984" cy="1389888"/>
          </a:xfrm>
          <a:prstGeom prst="rect">
            <a:avLst/>
          </a:prstGeom>
          <a:solidFill>
            <a:srgbClr val="EFF3FA"/>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6230112" y="1627632"/>
            <a:ext cx="3971544" cy="1261872"/>
          </a:xfrm>
          <a:prstGeom prst="rect">
            <a:avLst/>
          </a:prstGeom>
          <a:noFill/>
        </p:spPr>
        <p:txBody>
          <a:bodyPr wrap="square" lIns="54864" tIns="22860" rIns="54864" bIns="22860">
            <a:spAutoFit/>
          </a:bodyPr>
          <a:lstStyle/>
          <a:p>
            <a:pPr>
              <a:lnSpc>
                <a:spcPts val="1890"/>
              </a:lnSpc>
              <a:spcBef>
                <a:spcPts val="0"/>
              </a:spcBef>
              <a:spcAft>
                <a:spcPts val="0"/>
              </a:spcAft>
              <a:defRPr sz="1800" b="1">
                <a:solidFill>
                  <a:srgbClr val="182B3A"/>
                </a:solidFill>
                <a:latin typeface="Arial"/>
              </a:defRPr>
            </a:pPr>
            <a:r>
              <a:t>Juice and water are mixed in the ratio 2:7. There are 18 litres of juice. How many litres of water are needed?</a:t>
            </a:r>
          </a:p>
        </p:txBody>
      </p:sp>
      <p:sp>
        <p:nvSpPr>
          <p:cNvPr id="19" name="Rectangle 18"/>
          <p:cNvSpPr/>
          <p:nvPr/>
        </p:nvSpPr>
        <p:spPr>
          <a:xfrm>
            <a:off x="10247376" y="1563624"/>
            <a:ext cx="4062984" cy="1389888"/>
          </a:xfrm>
          <a:prstGeom prst="rect">
            <a:avLst/>
          </a:prstGeom>
          <a:solidFill>
            <a:srgbClr val="F5F0F7"/>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10293096" y="1627632"/>
            <a:ext cx="3971544" cy="1261872"/>
          </a:xfrm>
          <a:prstGeom prst="rect">
            <a:avLst/>
          </a:prstGeom>
          <a:noFill/>
        </p:spPr>
        <p:txBody>
          <a:bodyPr wrap="square" lIns="54864" tIns="22860" rIns="54864" bIns="22860">
            <a:spAutoFit/>
          </a:bodyPr>
          <a:lstStyle/>
          <a:p>
            <a:pPr>
              <a:lnSpc>
                <a:spcPts val="1890"/>
              </a:lnSpc>
              <a:spcBef>
                <a:spcPts val="0"/>
              </a:spcBef>
              <a:spcAft>
                <a:spcPts val="0"/>
              </a:spcAft>
              <a:defRPr sz="1800" b="1">
                <a:solidFill>
                  <a:srgbClr val="182B3A"/>
                </a:solidFill>
                <a:latin typeface="Arial"/>
              </a:defRPr>
            </a:pPr>
            <a:r>
              <a:t>Two lengths of ribbon, A and B, are in the ratio 5:8. B is 21 cm longer than A. What is their total length?</a:t>
            </a:r>
          </a:p>
        </p:txBody>
      </p:sp>
      <p:sp>
        <p:nvSpPr>
          <p:cNvPr id="21" name="Rectangle 20"/>
          <p:cNvSpPr/>
          <p:nvPr/>
        </p:nvSpPr>
        <p:spPr>
          <a:xfrm>
            <a:off x="320040" y="2953512"/>
            <a:ext cx="1801367" cy="1115568"/>
          </a:xfrm>
          <a:prstGeom prst="rect">
            <a:avLst/>
          </a:prstGeom>
          <a:solidFill>
            <a:srgbClr val="E8EDF1"/>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374904" y="3026664"/>
            <a:ext cx="1691639" cy="969264"/>
          </a:xfrm>
          <a:prstGeom prst="rect">
            <a:avLst/>
          </a:prstGeom>
          <a:noFill/>
        </p:spPr>
        <p:txBody>
          <a:bodyPr wrap="square" lIns="54864" tIns="22860" rIns="54864" bIns="22860">
            <a:spAutoFit/>
          </a:bodyPr>
          <a:lstStyle/>
          <a:p>
            <a:pPr>
              <a:lnSpc>
                <a:spcPts val="1785"/>
              </a:lnSpc>
              <a:spcBef>
                <a:spcPts val="0"/>
              </a:spcBef>
              <a:spcAft>
                <a:spcPts val="0"/>
              </a:spcAft>
              <a:defRPr sz="1700" b="1">
                <a:solidFill>
                  <a:srgbClr val="182B3A"/>
                </a:solidFill>
                <a:latin typeface="Arial"/>
              </a:defRPr>
            </a:pPr>
            <a:r>
              <a:t>Keywords &amp; Calculation</a:t>
            </a:r>
          </a:p>
        </p:txBody>
      </p:sp>
      <p:sp>
        <p:nvSpPr>
          <p:cNvPr id="23" name="Rectangle 22"/>
          <p:cNvSpPr/>
          <p:nvPr/>
        </p:nvSpPr>
        <p:spPr>
          <a:xfrm>
            <a:off x="2121408" y="2953512"/>
            <a:ext cx="4062984" cy="1115568"/>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TextBox 23"/>
          <p:cNvSpPr txBox="1"/>
          <p:nvPr/>
        </p:nvSpPr>
        <p:spPr>
          <a:xfrm>
            <a:off x="2167127" y="3026664"/>
            <a:ext cx="3971544" cy="969264"/>
          </a:xfrm>
          <a:prstGeom prst="rect">
            <a:avLst/>
          </a:prstGeom>
          <a:noFill/>
        </p:spPr>
        <p:txBody>
          <a:bodyPr wrap="square" lIns="54864" tIns="22860" rIns="54864" bIns="22860">
            <a:spAutoFit/>
          </a:bodyPr>
          <a:lstStyle/>
          <a:p>
            <a:pPr>
              <a:lnSpc>
                <a:spcPts val="1995"/>
              </a:lnSpc>
              <a:spcBef>
                <a:spcPts val="0"/>
              </a:spcBef>
              <a:spcAft>
                <a:spcPts val="0"/>
              </a:spcAft>
              <a:defRPr sz="1900" b="0">
                <a:solidFill>
                  <a:srgbClr val="182B3A"/>
                </a:solidFill>
                <a:latin typeface="Arial"/>
              </a:defRPr>
            </a:pPr>
            <a:r>
              <a:t>Identify the keywords. Write down the calculation(s) you need to do.</a:t>
            </a:r>
          </a:p>
        </p:txBody>
      </p:sp>
      <p:sp>
        <p:nvSpPr>
          <p:cNvPr id="25" name="Rectangle 24"/>
          <p:cNvSpPr/>
          <p:nvPr/>
        </p:nvSpPr>
        <p:spPr>
          <a:xfrm>
            <a:off x="6184392" y="2953512"/>
            <a:ext cx="4062984" cy="1115568"/>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TextBox 25"/>
          <p:cNvSpPr txBox="1"/>
          <p:nvPr/>
        </p:nvSpPr>
        <p:spPr>
          <a:xfrm>
            <a:off x="6230112" y="3026664"/>
            <a:ext cx="3971544" cy="969264"/>
          </a:xfrm>
          <a:prstGeom prst="rect">
            <a:avLst/>
          </a:prstGeom>
          <a:noFill/>
        </p:spPr>
        <p:txBody>
          <a:bodyPr wrap="square" lIns="54864" tIns="22860" rIns="54864" bIns="22860">
            <a:spAutoFit/>
          </a:bodyPr>
          <a:lstStyle/>
          <a:p>
            <a:pPr>
              <a:lnSpc>
                <a:spcPts val="1995"/>
              </a:lnSpc>
              <a:spcBef>
                <a:spcPts val="0"/>
              </a:spcBef>
              <a:spcAft>
                <a:spcPts val="0"/>
              </a:spcAft>
              <a:defRPr sz="1900" b="0">
                <a:solidFill>
                  <a:srgbClr val="182B3A"/>
                </a:solidFill>
                <a:latin typeface="Arial"/>
              </a:defRPr>
            </a:pPr>
            <a:r>
              <a:t>Identify the keywords. Write down the calculation(s) you need to do.</a:t>
            </a:r>
          </a:p>
        </p:txBody>
      </p:sp>
      <p:sp>
        <p:nvSpPr>
          <p:cNvPr id="27" name="Rectangle 26"/>
          <p:cNvSpPr/>
          <p:nvPr/>
        </p:nvSpPr>
        <p:spPr>
          <a:xfrm>
            <a:off x="10247376" y="2953512"/>
            <a:ext cx="4062984" cy="1115568"/>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TextBox 27"/>
          <p:cNvSpPr txBox="1"/>
          <p:nvPr/>
        </p:nvSpPr>
        <p:spPr>
          <a:xfrm>
            <a:off x="10293096" y="3026664"/>
            <a:ext cx="3971544" cy="969264"/>
          </a:xfrm>
          <a:prstGeom prst="rect">
            <a:avLst/>
          </a:prstGeom>
          <a:noFill/>
        </p:spPr>
        <p:txBody>
          <a:bodyPr wrap="square" lIns="54864" tIns="22860" rIns="54864" bIns="22860">
            <a:spAutoFit/>
          </a:bodyPr>
          <a:lstStyle/>
          <a:p>
            <a:pPr>
              <a:lnSpc>
                <a:spcPts val="1995"/>
              </a:lnSpc>
              <a:spcBef>
                <a:spcPts val="0"/>
              </a:spcBef>
              <a:spcAft>
                <a:spcPts val="0"/>
              </a:spcAft>
              <a:defRPr sz="1900" b="0">
                <a:solidFill>
                  <a:srgbClr val="182B3A"/>
                </a:solidFill>
                <a:latin typeface="Arial"/>
              </a:defRPr>
            </a:pPr>
            <a:r>
              <a:t>Identify the keywords. Write down the calculation(s) you need to do.</a:t>
            </a:r>
          </a:p>
        </p:txBody>
      </p:sp>
      <p:sp>
        <p:nvSpPr>
          <p:cNvPr id="29" name="Rectangle 28"/>
          <p:cNvSpPr/>
          <p:nvPr/>
        </p:nvSpPr>
        <p:spPr>
          <a:xfrm>
            <a:off x="320040" y="4069080"/>
            <a:ext cx="1801367" cy="1115568"/>
          </a:xfrm>
          <a:prstGeom prst="rect">
            <a:avLst/>
          </a:prstGeom>
          <a:solidFill>
            <a:srgbClr val="E8EDF1"/>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TextBox 29"/>
          <p:cNvSpPr txBox="1"/>
          <p:nvPr/>
        </p:nvSpPr>
        <p:spPr>
          <a:xfrm>
            <a:off x="374904" y="4142232"/>
            <a:ext cx="1691639" cy="969264"/>
          </a:xfrm>
          <a:prstGeom prst="rect">
            <a:avLst/>
          </a:prstGeom>
          <a:noFill/>
        </p:spPr>
        <p:txBody>
          <a:bodyPr wrap="square" lIns="54864" tIns="22860" rIns="54864" bIns="22860">
            <a:spAutoFit/>
          </a:bodyPr>
          <a:lstStyle/>
          <a:p>
            <a:pPr>
              <a:lnSpc>
                <a:spcPts val="1785"/>
              </a:lnSpc>
              <a:spcBef>
                <a:spcPts val="0"/>
              </a:spcBef>
              <a:spcAft>
                <a:spcPts val="0"/>
              </a:spcAft>
              <a:defRPr sz="1700" b="1">
                <a:solidFill>
                  <a:srgbClr val="182B3A"/>
                </a:solidFill>
                <a:latin typeface="Arial"/>
              </a:defRPr>
            </a:pPr>
            <a:r>
              <a:t>Written Method</a:t>
            </a:r>
          </a:p>
        </p:txBody>
      </p:sp>
      <p:sp>
        <p:nvSpPr>
          <p:cNvPr id="31" name="Rectangle 30"/>
          <p:cNvSpPr/>
          <p:nvPr/>
        </p:nvSpPr>
        <p:spPr>
          <a:xfrm>
            <a:off x="2121408" y="4069080"/>
            <a:ext cx="4062984" cy="1115568"/>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TextBox 31"/>
          <p:cNvSpPr txBox="1"/>
          <p:nvPr/>
        </p:nvSpPr>
        <p:spPr>
          <a:xfrm>
            <a:off x="2167127" y="4142232"/>
            <a:ext cx="3971544" cy="969264"/>
          </a:xfrm>
          <a:prstGeom prst="rect">
            <a:avLst/>
          </a:prstGeom>
          <a:noFill/>
        </p:spPr>
        <p:txBody>
          <a:bodyPr wrap="square" lIns="54864" tIns="22860" rIns="54864" bIns="22860">
            <a:spAutoFit/>
          </a:bodyPr>
          <a:lstStyle/>
          <a:p>
            <a:pPr>
              <a:lnSpc>
                <a:spcPts val="1995"/>
              </a:lnSpc>
              <a:spcBef>
                <a:spcPts val="0"/>
              </a:spcBef>
              <a:spcAft>
                <a:spcPts val="0"/>
              </a:spcAft>
              <a:defRPr sz="1900" b="0">
                <a:solidFill>
                  <a:srgbClr val="182B3A"/>
                </a:solidFill>
                <a:latin typeface="Arial"/>
              </a:defRPr>
            </a:pPr>
            <a:r>
              <a:t>Set up and use the written method for your calculation(s).</a:t>
            </a:r>
          </a:p>
        </p:txBody>
      </p:sp>
      <p:sp>
        <p:nvSpPr>
          <p:cNvPr id="33" name="Rectangle 32"/>
          <p:cNvSpPr/>
          <p:nvPr/>
        </p:nvSpPr>
        <p:spPr>
          <a:xfrm>
            <a:off x="6184392" y="4069080"/>
            <a:ext cx="4062984" cy="1115568"/>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4" name="TextBox 33"/>
          <p:cNvSpPr txBox="1"/>
          <p:nvPr/>
        </p:nvSpPr>
        <p:spPr>
          <a:xfrm>
            <a:off x="6230112" y="4142232"/>
            <a:ext cx="3971544" cy="969264"/>
          </a:xfrm>
          <a:prstGeom prst="rect">
            <a:avLst/>
          </a:prstGeom>
          <a:noFill/>
        </p:spPr>
        <p:txBody>
          <a:bodyPr wrap="square" lIns="54864" tIns="22860" rIns="54864" bIns="22860">
            <a:spAutoFit/>
          </a:bodyPr>
          <a:lstStyle/>
          <a:p>
            <a:pPr>
              <a:lnSpc>
                <a:spcPts val="1995"/>
              </a:lnSpc>
              <a:spcBef>
                <a:spcPts val="0"/>
              </a:spcBef>
              <a:spcAft>
                <a:spcPts val="0"/>
              </a:spcAft>
              <a:defRPr sz="1900" b="0">
                <a:solidFill>
                  <a:srgbClr val="182B3A"/>
                </a:solidFill>
                <a:latin typeface="Arial"/>
              </a:defRPr>
            </a:pPr>
            <a:r>
              <a:t>Set up and use the written method for your calculation(s).</a:t>
            </a:r>
          </a:p>
        </p:txBody>
      </p:sp>
      <p:sp>
        <p:nvSpPr>
          <p:cNvPr id="35" name="Rectangle 34"/>
          <p:cNvSpPr/>
          <p:nvPr/>
        </p:nvSpPr>
        <p:spPr>
          <a:xfrm>
            <a:off x="10247376" y="4069080"/>
            <a:ext cx="4062984" cy="1115568"/>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6" name="TextBox 35"/>
          <p:cNvSpPr txBox="1"/>
          <p:nvPr/>
        </p:nvSpPr>
        <p:spPr>
          <a:xfrm>
            <a:off x="10293096" y="4142232"/>
            <a:ext cx="3971544" cy="969264"/>
          </a:xfrm>
          <a:prstGeom prst="rect">
            <a:avLst/>
          </a:prstGeom>
          <a:noFill/>
        </p:spPr>
        <p:txBody>
          <a:bodyPr wrap="square" lIns="54864" tIns="22860" rIns="54864" bIns="22860">
            <a:spAutoFit/>
          </a:bodyPr>
          <a:lstStyle/>
          <a:p>
            <a:pPr>
              <a:lnSpc>
                <a:spcPts val="1995"/>
              </a:lnSpc>
              <a:spcBef>
                <a:spcPts val="0"/>
              </a:spcBef>
              <a:spcAft>
                <a:spcPts val="0"/>
              </a:spcAft>
              <a:defRPr sz="1900" b="0">
                <a:solidFill>
                  <a:srgbClr val="182B3A"/>
                </a:solidFill>
                <a:latin typeface="Arial"/>
              </a:defRPr>
            </a:pPr>
            <a:r>
              <a:t>Set up and use the written method for your calculation(s).</a:t>
            </a:r>
          </a:p>
        </p:txBody>
      </p:sp>
      <p:sp>
        <p:nvSpPr>
          <p:cNvPr id="37" name="Rectangle 36"/>
          <p:cNvSpPr/>
          <p:nvPr/>
        </p:nvSpPr>
        <p:spPr>
          <a:xfrm>
            <a:off x="320040" y="5184648"/>
            <a:ext cx="1801367" cy="1115568"/>
          </a:xfrm>
          <a:prstGeom prst="rect">
            <a:avLst/>
          </a:prstGeom>
          <a:solidFill>
            <a:srgbClr val="E8EDF1"/>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8" name="TextBox 37"/>
          <p:cNvSpPr txBox="1"/>
          <p:nvPr/>
        </p:nvSpPr>
        <p:spPr>
          <a:xfrm>
            <a:off x="374904" y="5257800"/>
            <a:ext cx="1691639" cy="969264"/>
          </a:xfrm>
          <a:prstGeom prst="rect">
            <a:avLst/>
          </a:prstGeom>
          <a:noFill/>
        </p:spPr>
        <p:txBody>
          <a:bodyPr wrap="square" lIns="54864" tIns="22860" rIns="54864" bIns="22860">
            <a:spAutoFit/>
          </a:bodyPr>
          <a:lstStyle/>
          <a:p>
            <a:pPr>
              <a:lnSpc>
                <a:spcPts val="1785"/>
              </a:lnSpc>
              <a:spcBef>
                <a:spcPts val="0"/>
              </a:spcBef>
              <a:spcAft>
                <a:spcPts val="0"/>
              </a:spcAft>
              <a:defRPr sz="1700" b="1">
                <a:solidFill>
                  <a:srgbClr val="182B3A"/>
                </a:solidFill>
                <a:latin typeface="Arial"/>
              </a:defRPr>
            </a:pPr>
            <a:r>
              <a:t>Ballpark Check &amp; Math</a:t>
            </a:r>
          </a:p>
        </p:txBody>
      </p:sp>
      <p:sp>
        <p:nvSpPr>
          <p:cNvPr id="39" name="Rectangle 38"/>
          <p:cNvSpPr/>
          <p:nvPr/>
        </p:nvSpPr>
        <p:spPr>
          <a:xfrm>
            <a:off x="2121408" y="5184648"/>
            <a:ext cx="4062984" cy="1115568"/>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0" name="TextBox 39"/>
          <p:cNvSpPr txBox="1"/>
          <p:nvPr/>
        </p:nvSpPr>
        <p:spPr>
          <a:xfrm>
            <a:off x="2167127" y="5257800"/>
            <a:ext cx="3971544" cy="969264"/>
          </a:xfrm>
          <a:prstGeom prst="rect">
            <a:avLst/>
          </a:prstGeom>
          <a:noFill/>
        </p:spPr>
        <p:txBody>
          <a:bodyPr wrap="square" lIns="54864" tIns="22860" rIns="54864" bIns="22860">
            <a:spAutoFit/>
          </a:bodyPr>
          <a:lstStyle/>
          <a:p>
            <a:pPr>
              <a:lnSpc>
                <a:spcPts val="1995"/>
              </a:lnSpc>
              <a:spcBef>
                <a:spcPts val="0"/>
              </a:spcBef>
              <a:spcAft>
                <a:spcPts val="0"/>
              </a:spcAft>
              <a:defRPr sz="1900" b="0">
                <a:solidFill>
                  <a:srgbClr val="182B3A"/>
                </a:solidFill>
                <a:latin typeface="Arial"/>
              </a:defRPr>
            </a:pPr>
            <a:r>
              <a:t>Check your answer using rough ballpark calculations. Does it make sense?</a:t>
            </a:r>
          </a:p>
        </p:txBody>
      </p:sp>
      <p:sp>
        <p:nvSpPr>
          <p:cNvPr id="41" name="Rectangle 40"/>
          <p:cNvSpPr/>
          <p:nvPr/>
        </p:nvSpPr>
        <p:spPr>
          <a:xfrm>
            <a:off x="6184392" y="5184648"/>
            <a:ext cx="4062984" cy="1115568"/>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2" name="TextBox 41"/>
          <p:cNvSpPr txBox="1"/>
          <p:nvPr/>
        </p:nvSpPr>
        <p:spPr>
          <a:xfrm>
            <a:off x="6230112" y="5257800"/>
            <a:ext cx="3971544" cy="969264"/>
          </a:xfrm>
          <a:prstGeom prst="rect">
            <a:avLst/>
          </a:prstGeom>
          <a:noFill/>
        </p:spPr>
        <p:txBody>
          <a:bodyPr wrap="square" lIns="54864" tIns="22860" rIns="54864" bIns="22860">
            <a:spAutoFit/>
          </a:bodyPr>
          <a:lstStyle/>
          <a:p>
            <a:pPr>
              <a:lnSpc>
                <a:spcPts val="1995"/>
              </a:lnSpc>
              <a:spcBef>
                <a:spcPts val="0"/>
              </a:spcBef>
              <a:spcAft>
                <a:spcPts val="0"/>
              </a:spcAft>
              <a:defRPr sz="1900" b="0">
                <a:solidFill>
                  <a:srgbClr val="182B3A"/>
                </a:solidFill>
                <a:latin typeface="Arial"/>
              </a:defRPr>
            </a:pPr>
            <a:r>
              <a:t>Check your answer using rough ballpark calculations. Does it make sense?</a:t>
            </a:r>
          </a:p>
        </p:txBody>
      </p:sp>
      <p:sp>
        <p:nvSpPr>
          <p:cNvPr id="43" name="Rectangle 42"/>
          <p:cNvSpPr/>
          <p:nvPr/>
        </p:nvSpPr>
        <p:spPr>
          <a:xfrm>
            <a:off x="10247376" y="5184648"/>
            <a:ext cx="4062984" cy="1115568"/>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4" name="TextBox 43"/>
          <p:cNvSpPr txBox="1"/>
          <p:nvPr/>
        </p:nvSpPr>
        <p:spPr>
          <a:xfrm>
            <a:off x="10293096" y="5257800"/>
            <a:ext cx="3971544" cy="969264"/>
          </a:xfrm>
          <a:prstGeom prst="rect">
            <a:avLst/>
          </a:prstGeom>
          <a:noFill/>
        </p:spPr>
        <p:txBody>
          <a:bodyPr wrap="square" lIns="54864" tIns="22860" rIns="54864" bIns="22860">
            <a:spAutoFit/>
          </a:bodyPr>
          <a:lstStyle/>
          <a:p>
            <a:pPr>
              <a:lnSpc>
                <a:spcPts val="1995"/>
              </a:lnSpc>
              <a:spcBef>
                <a:spcPts val="0"/>
              </a:spcBef>
              <a:spcAft>
                <a:spcPts val="0"/>
              </a:spcAft>
              <a:defRPr sz="1900" b="0">
                <a:solidFill>
                  <a:srgbClr val="182B3A"/>
                </a:solidFill>
                <a:latin typeface="Arial"/>
              </a:defRPr>
            </a:pPr>
            <a:r>
              <a:t>Check your answer using rough ballpark calculations. Does it make sense?</a:t>
            </a:r>
          </a:p>
        </p:txBody>
      </p:sp>
      <p:sp>
        <p:nvSpPr>
          <p:cNvPr id="45" name="Rectangle 44"/>
          <p:cNvSpPr/>
          <p:nvPr/>
        </p:nvSpPr>
        <p:spPr>
          <a:xfrm>
            <a:off x="320040" y="6300216"/>
            <a:ext cx="1801367" cy="1115568"/>
          </a:xfrm>
          <a:prstGeom prst="rect">
            <a:avLst/>
          </a:prstGeom>
          <a:solidFill>
            <a:srgbClr val="E8EDF1"/>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6" name="TextBox 45"/>
          <p:cNvSpPr txBox="1"/>
          <p:nvPr/>
        </p:nvSpPr>
        <p:spPr>
          <a:xfrm>
            <a:off x="374904" y="6373368"/>
            <a:ext cx="1691639" cy="969264"/>
          </a:xfrm>
          <a:prstGeom prst="rect">
            <a:avLst/>
          </a:prstGeom>
          <a:noFill/>
        </p:spPr>
        <p:txBody>
          <a:bodyPr wrap="square" lIns="54864" tIns="22860" rIns="54864" bIns="22860">
            <a:spAutoFit/>
          </a:bodyPr>
          <a:lstStyle/>
          <a:p>
            <a:pPr>
              <a:lnSpc>
                <a:spcPts val="1785"/>
              </a:lnSpc>
              <a:spcBef>
                <a:spcPts val="0"/>
              </a:spcBef>
              <a:spcAft>
                <a:spcPts val="0"/>
              </a:spcAft>
              <a:defRPr sz="1700" b="1">
                <a:solidFill>
                  <a:srgbClr val="182B3A"/>
                </a:solidFill>
                <a:latin typeface="Arial"/>
              </a:defRPr>
            </a:pPr>
            <a:r>
              <a:t>Final Answer</a:t>
            </a:r>
          </a:p>
        </p:txBody>
      </p:sp>
      <p:sp>
        <p:nvSpPr>
          <p:cNvPr id="47" name="Rectangle 46"/>
          <p:cNvSpPr/>
          <p:nvPr/>
        </p:nvSpPr>
        <p:spPr>
          <a:xfrm>
            <a:off x="2121408" y="6300216"/>
            <a:ext cx="4062984" cy="1115568"/>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8" name="TextBox 47"/>
          <p:cNvSpPr txBox="1"/>
          <p:nvPr/>
        </p:nvSpPr>
        <p:spPr>
          <a:xfrm>
            <a:off x="2167127" y="6373368"/>
            <a:ext cx="3971544" cy="969264"/>
          </a:xfrm>
          <a:prstGeom prst="rect">
            <a:avLst/>
          </a:prstGeom>
          <a:noFill/>
        </p:spPr>
        <p:txBody>
          <a:bodyPr wrap="square" lIns="54864" tIns="22860" rIns="54864" bIns="22860">
            <a:spAutoFit/>
          </a:bodyPr>
          <a:lstStyle/>
          <a:p>
            <a:pPr>
              <a:lnSpc>
                <a:spcPts val="1995"/>
              </a:lnSpc>
              <a:spcBef>
                <a:spcPts val="0"/>
              </a:spcBef>
              <a:spcAft>
                <a:spcPts val="0"/>
              </a:spcAft>
              <a:defRPr sz="1900" b="0">
                <a:solidFill>
                  <a:srgbClr val="182B3A"/>
                </a:solidFill>
                <a:latin typeface="Arial"/>
              </a:defRPr>
            </a:pPr>
            <a:r>
              <a:t>Write your final answer to the question. Include the correct units.</a:t>
            </a:r>
          </a:p>
        </p:txBody>
      </p:sp>
      <p:sp>
        <p:nvSpPr>
          <p:cNvPr id="49" name="Rectangle 48"/>
          <p:cNvSpPr/>
          <p:nvPr/>
        </p:nvSpPr>
        <p:spPr>
          <a:xfrm>
            <a:off x="6184392" y="6300216"/>
            <a:ext cx="4062984" cy="1115568"/>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0" name="TextBox 49"/>
          <p:cNvSpPr txBox="1"/>
          <p:nvPr/>
        </p:nvSpPr>
        <p:spPr>
          <a:xfrm>
            <a:off x="6230112" y="6373368"/>
            <a:ext cx="3971544" cy="969264"/>
          </a:xfrm>
          <a:prstGeom prst="rect">
            <a:avLst/>
          </a:prstGeom>
          <a:noFill/>
        </p:spPr>
        <p:txBody>
          <a:bodyPr wrap="square" lIns="54864" tIns="22860" rIns="54864" bIns="22860">
            <a:spAutoFit/>
          </a:bodyPr>
          <a:lstStyle/>
          <a:p>
            <a:pPr>
              <a:lnSpc>
                <a:spcPts val="1995"/>
              </a:lnSpc>
              <a:spcBef>
                <a:spcPts val="0"/>
              </a:spcBef>
              <a:spcAft>
                <a:spcPts val="0"/>
              </a:spcAft>
              <a:defRPr sz="1900" b="0">
                <a:solidFill>
                  <a:srgbClr val="182B3A"/>
                </a:solidFill>
                <a:latin typeface="Arial"/>
              </a:defRPr>
            </a:pPr>
            <a:r>
              <a:t>Write your final answer to the question. Include the correct units.</a:t>
            </a:r>
          </a:p>
        </p:txBody>
      </p:sp>
      <p:sp>
        <p:nvSpPr>
          <p:cNvPr id="51" name="Rectangle 50"/>
          <p:cNvSpPr/>
          <p:nvPr/>
        </p:nvSpPr>
        <p:spPr>
          <a:xfrm>
            <a:off x="10247376" y="6300216"/>
            <a:ext cx="4062984" cy="1115568"/>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2" name="TextBox 51"/>
          <p:cNvSpPr txBox="1"/>
          <p:nvPr/>
        </p:nvSpPr>
        <p:spPr>
          <a:xfrm>
            <a:off x="10293096" y="6373368"/>
            <a:ext cx="3971544" cy="969264"/>
          </a:xfrm>
          <a:prstGeom prst="rect">
            <a:avLst/>
          </a:prstGeom>
          <a:noFill/>
        </p:spPr>
        <p:txBody>
          <a:bodyPr wrap="square" lIns="54864" tIns="22860" rIns="54864" bIns="22860">
            <a:spAutoFit/>
          </a:bodyPr>
          <a:lstStyle/>
          <a:p>
            <a:pPr>
              <a:lnSpc>
                <a:spcPts val="1995"/>
              </a:lnSpc>
              <a:spcBef>
                <a:spcPts val="0"/>
              </a:spcBef>
              <a:spcAft>
                <a:spcPts val="0"/>
              </a:spcAft>
              <a:defRPr sz="1900" b="0">
                <a:solidFill>
                  <a:srgbClr val="182B3A"/>
                </a:solidFill>
                <a:latin typeface="Arial"/>
              </a:defRPr>
            </a:pPr>
            <a:r>
              <a:t>Write your final answer to the question. Include the correct units.</a:t>
            </a:r>
          </a:p>
        </p:txBody>
      </p:sp>
      <p:sp>
        <p:nvSpPr>
          <p:cNvPr id="53" name="Progression curved arrow: Thread 1 to Thread 2"/>
          <p:cNvSpPr/>
          <p:nvPr/>
        </p:nvSpPr>
        <p:spPr>
          <a:xfrm>
            <a:off x="5850635" y="7351126"/>
            <a:ext cx="621792" cy="314053"/>
          </a:xfrm>
          <a:custGeom>
            <a:avLst/>
            <a:gdLst/>
            <a:ahLst/>
            <a:cxnLst/>
            <a:rect l="0" t="0" r="100000" b="100000"/>
            <a:pathLst>
              <a:path w="100000" h="100000" fill="none">
                <a:moveTo>
                  <a:pt x="6970" y="48439"/>
                </a:moveTo>
                <a:cubicBezTo>
                  <a:pt x="40678" y="114499"/>
                  <a:pt x="73026" y="88145"/>
                  <a:pt x="93030" y="13799"/>
                </a:cubicBezTo>
              </a:path>
              <a:path w="100000" h="100000" fill="none">
                <a:moveTo>
                  <a:pt x="69018" y="40431"/>
                </a:moveTo>
                <a:lnTo>
                  <a:pt x="93030" y="13799"/>
                </a:lnTo>
                <a:lnTo>
                  <a:pt x="92217" y="66207"/>
                </a:lnTo>
              </a:path>
            </a:pathLst>
          </a:custGeom>
          <a:noFill/>
          <a:ln w="64449" cap="rnd">
            <a:solidFill>
              <a:schemeClr val="accent6">
                <a:lumMod val="60000"/>
                <a:lumOff val="40000"/>
              </a:schemeClr>
            </a:solidFill>
            <a:round/>
          </a:ln>
          <a:effectLst/>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54" name="Progression curved arrow: Thread 2 to Thread 3"/>
          <p:cNvSpPr/>
          <p:nvPr/>
        </p:nvSpPr>
        <p:spPr>
          <a:xfrm>
            <a:off x="9865783" y="7342632"/>
            <a:ext cx="621792" cy="314053"/>
          </a:xfrm>
          <a:custGeom>
            <a:avLst/>
            <a:gdLst/>
            <a:ahLst/>
            <a:cxnLst/>
            <a:rect l="0" t="0" r="100000" b="100000"/>
            <a:pathLst>
              <a:path w="100000" h="100000" fill="none">
                <a:moveTo>
                  <a:pt x="6970" y="48439"/>
                </a:moveTo>
                <a:cubicBezTo>
                  <a:pt x="40678" y="114499"/>
                  <a:pt x="73026" y="88145"/>
                  <a:pt x="93030" y="13799"/>
                </a:cubicBezTo>
              </a:path>
              <a:path w="100000" h="100000" fill="none">
                <a:moveTo>
                  <a:pt x="69018" y="40431"/>
                </a:moveTo>
                <a:lnTo>
                  <a:pt x="93030" y="13799"/>
                </a:lnTo>
                <a:lnTo>
                  <a:pt x="92217" y="66207"/>
                </a:lnTo>
              </a:path>
            </a:pathLst>
          </a:custGeom>
          <a:noFill/>
          <a:ln w="64449" cap="rnd">
            <a:solidFill>
              <a:schemeClr val="accent6">
                <a:lumMod val="60000"/>
                <a:lumOff val="40000"/>
              </a:schemeClr>
            </a:solidFill>
            <a:round/>
          </a:ln>
          <a:effectLst/>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Tree>
  </p:cSld>
  <p:clrMapOvr>
    <a:masterClrMapping/>
  </p:clrMapOvr>
</p:sld>
</file>

<file path=ppt/slides/slide63.xml><?xml version="1.0" encoding="utf-8"?>
<p:sld xmlns:a="http://schemas.openxmlformats.org/drawingml/2006/main" xmlns:p="http://schemas.openxmlformats.org/presentationml/2006/main" xmlns:r="http://schemas.openxmlformats.org/officeDocument/2006/relationships">
  <p:cSld>
    <p:bg>
      <p:bgPr>
        <a:solidFill>
          <a:srgbClr val="F7F8FA"/>
        </a:solidFill>
        <a:effectLst/>
      </p:bgPr>
    </p:bg>
    <p:spTree>
      <p:nvGrpSpPr>
        <p:cNvPr id="1" name=""/>
        <p:cNvGrpSpPr/>
        <p:nvPr/>
      </p:nvGrpSpPr>
      <p:grpSpPr/>
      <p:sp>
        <p:nvSpPr>
          <p:cNvPr id="2" name="Rectangle 1"/>
          <p:cNvSpPr/>
          <p:nvPr/>
        </p:nvSpPr>
        <p:spPr>
          <a:xfrm>
            <a:off x="0" y="0"/>
            <a:ext cx="14630400" cy="91440"/>
          </a:xfrm>
          <a:prstGeom prst="rect">
            <a:avLst/>
          </a:prstGeom>
          <a:solidFill>
            <a:srgbClr val="176B73"/>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 name="TextBox 2"/>
          <p:cNvSpPr txBox="1"/>
          <p:nvPr/>
        </p:nvSpPr>
        <p:spPr>
          <a:xfrm>
            <a:off x="384048" y="219456"/>
            <a:ext cx="13807440" cy="457200"/>
          </a:xfrm>
          <a:prstGeom prst="rect">
            <a:avLst/>
          </a:prstGeom>
          <a:noFill/>
        </p:spPr>
        <p:txBody>
          <a:bodyPr wrap="square" tIns="36576" bIns="36576" anchor="t">
            <a:spAutoFit/>
          </a:bodyPr>
          <a:lstStyle/>
          <a:p>
            <a:pPr>
              <a:lnSpc>
                <a:spcPts val="3132"/>
              </a:lnSpc>
              <a:spcBef>
                <a:spcPts val="0"/>
              </a:spcBef>
              <a:spcAft>
                <a:spcPts val="0"/>
              </a:spcAft>
              <a:defRPr sz="2900" b="1">
                <a:solidFill>
                  <a:srgbClr val="182B3A"/>
                </a:solidFill>
                <a:latin typeface="Arial"/>
              </a:defRPr>
            </a:pPr>
            <a:r>
              <a:t>Ratio: sharing and missing amounts — spot the errors</a:t>
            </a:r>
          </a:p>
        </p:txBody>
      </p:sp>
      <p:sp>
        <p:nvSpPr>
          <p:cNvPr id="4" name="TextBox 3"/>
          <p:cNvSpPr txBox="1"/>
          <p:nvPr/>
        </p:nvSpPr>
        <p:spPr>
          <a:xfrm>
            <a:off x="384048" y="740664"/>
            <a:ext cx="13807440" cy="411480"/>
          </a:xfrm>
          <a:prstGeom prst="rect">
            <a:avLst/>
          </a:prstGeom>
          <a:noFill/>
        </p:spPr>
        <p:txBody>
          <a:bodyPr wrap="square" tIns="36576" bIns="36576" anchor="t">
            <a:spAutoFit/>
          </a:bodyPr>
          <a:lstStyle/>
          <a:p>
            <a:pPr>
              <a:lnSpc>
                <a:spcPts val="1836"/>
              </a:lnSpc>
              <a:spcBef>
                <a:spcPts val="0"/>
              </a:spcBef>
              <a:spcAft>
                <a:spcPts val="0"/>
              </a:spcAft>
              <a:defRPr sz="1700" b="0">
                <a:solidFill>
                  <a:srgbClr val="526472"/>
                </a:solidFill>
                <a:latin typeface="Arial"/>
              </a:defRPr>
            </a:pPr>
            <a:r>
              <a:t>Each student’s working contains a mistake. Find it, correct the working and give the right answer.</a:t>
            </a:r>
          </a:p>
        </p:txBody>
      </p:sp>
      <p:sp>
        <p:nvSpPr>
          <p:cNvPr id="5" name="TextBox 4"/>
          <p:cNvSpPr txBox="1"/>
          <p:nvPr/>
        </p:nvSpPr>
        <p:spPr>
          <a:xfrm>
            <a:off x="384048" y="7863840"/>
            <a:ext cx="13716000" cy="256032"/>
          </a:xfrm>
          <a:prstGeom prst="rect">
            <a:avLst/>
          </a:prstGeom>
          <a:noFill/>
        </p:spPr>
        <p:txBody>
          <a:bodyPr wrap="square" tIns="36576" bIns="36576" anchor="t">
            <a:spAutoFit/>
          </a:bodyPr>
          <a:lstStyle/>
          <a:p>
            <a:pPr>
              <a:lnSpc>
                <a:spcPts val="1188"/>
              </a:lnSpc>
              <a:spcBef>
                <a:spcPts val="0"/>
              </a:spcBef>
              <a:spcAft>
                <a:spcPts val="0"/>
              </a:spcAft>
              <a:defRPr sz="1100" b="0">
                <a:solidFill>
                  <a:srgbClr val="526472"/>
                </a:solidFill>
                <a:latin typeface="Arial"/>
              </a:defRPr>
            </a:pPr>
            <a:r>
              <a:t>M04-SE  •  Record your working in your booklet or webapp.</a:t>
            </a:r>
          </a:p>
        </p:txBody>
      </p:sp>
      <p:sp>
        <p:nvSpPr>
          <p:cNvPr id="6" name="Rectangle 5"/>
          <p:cNvSpPr/>
          <p:nvPr/>
        </p:nvSpPr>
        <p:spPr>
          <a:xfrm>
            <a:off x="384048" y="1234440"/>
            <a:ext cx="4588764" cy="420624"/>
          </a:xfrm>
          <a:prstGeom prst="rect">
            <a:avLst/>
          </a:prstGeom>
          <a:solidFill>
            <a:srgbClr val="176B73"/>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7" name="TextBox 6"/>
          <p:cNvSpPr txBox="1"/>
          <p:nvPr/>
        </p:nvSpPr>
        <p:spPr>
          <a:xfrm>
            <a:off x="448056" y="1261872"/>
            <a:ext cx="4474464" cy="347472"/>
          </a:xfrm>
          <a:prstGeom prst="rect">
            <a:avLst/>
          </a:prstGeom>
          <a:noFill/>
        </p:spPr>
        <p:txBody>
          <a:bodyPr wrap="square" tIns="36576" bIns="36576" anchor="t">
            <a:spAutoFit/>
          </a:bodyPr>
          <a:lstStyle/>
          <a:p>
            <a:pPr>
              <a:lnSpc>
                <a:spcPts val="2160"/>
              </a:lnSpc>
              <a:spcBef>
                <a:spcPts val="0"/>
              </a:spcBef>
              <a:spcAft>
                <a:spcPts val="0"/>
              </a:spcAft>
              <a:defRPr sz="2000" b="1">
                <a:solidFill>
                  <a:srgbClr val="FFFFFF"/>
                </a:solidFill>
                <a:latin typeface="Arial"/>
              </a:defRPr>
            </a:pPr>
            <a:r>
              <a:t>Start</a:t>
            </a:r>
          </a:p>
        </p:txBody>
      </p:sp>
      <p:sp>
        <p:nvSpPr>
          <p:cNvPr id="8" name="Rectangle 7"/>
          <p:cNvSpPr/>
          <p:nvPr/>
        </p:nvSpPr>
        <p:spPr>
          <a:xfrm>
            <a:off x="384048" y="1719072"/>
            <a:ext cx="4588764" cy="1929384"/>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9" name="TextBox 8"/>
          <p:cNvSpPr txBox="1"/>
          <p:nvPr/>
        </p:nvSpPr>
        <p:spPr>
          <a:xfrm>
            <a:off x="475488" y="1755648"/>
            <a:ext cx="4392168" cy="841248"/>
          </a:xfrm>
          <a:prstGeom prst="rect">
            <a:avLst/>
          </a:prstGeom>
          <a:noFill/>
        </p:spPr>
        <p:txBody>
          <a:bodyPr wrap="square" tIns="36576" bIns="36576" anchor="t">
            <a:spAutoFit/>
          </a:bodyPr>
          <a:lstStyle/>
          <a:p>
            <a:pPr>
              <a:lnSpc>
                <a:spcPts val="1944"/>
              </a:lnSpc>
              <a:spcBef>
                <a:spcPts val="0"/>
              </a:spcBef>
              <a:spcAft>
                <a:spcPts val="0"/>
              </a:spcAft>
              <a:defRPr sz="1800" b="1">
                <a:solidFill>
                  <a:srgbClr val="182B3A"/>
                </a:solidFill>
                <a:latin typeface="Arial"/>
              </a:defRPr>
            </a:pPr>
            <a:r>
              <a:t>1.  Share £35 between A and B in ratio 2:5. How much does A get?</a:t>
            </a:r>
          </a:p>
        </p:txBody>
      </p:sp>
      <p:sp>
        <p:nvSpPr>
          <p:cNvPr id="10" name="TextBox 9"/>
          <p:cNvSpPr txBox="1"/>
          <p:nvPr/>
        </p:nvSpPr>
        <p:spPr>
          <a:xfrm>
            <a:off x="594360" y="2578608"/>
            <a:ext cx="2029968" cy="310896"/>
          </a:xfrm>
          <a:prstGeom prst="rect">
            <a:avLst/>
          </a:prstGeom>
          <a:noFill/>
        </p:spPr>
        <p:txBody>
          <a:bodyPr wrap="none" lIns="0" rIns="0" tIns="0" bIns="0">
            <a:spAutoFit/>
          </a:bodyPr>
          <a:lstStyle/>
          <a:p>
            <a:pPr algn="l">
              <a:lnSpc>
                <a:spcPts val="2128"/>
              </a:lnSpc>
              <a:spcBef>
                <a:spcPts val="0"/>
              </a:spcBef>
              <a:spcAft>
                <a:spcPts val="0"/>
              </a:spcAft>
              <a:defRPr sz="1900" b="0">
                <a:solidFill>
                  <a:srgbClr val="182B3A"/>
                </a:solidFill>
                <a:latin typeface="Arial"/>
              </a:defRPr>
            </a:pPr>
            <a:r>
              <a:t>2 + 5 = 7 parts</a:t>
            </a:r>
          </a:p>
        </p:txBody>
      </p:sp>
      <p:sp>
        <p:nvSpPr>
          <p:cNvPr id="11" name="TextBox 10"/>
          <p:cNvSpPr txBox="1"/>
          <p:nvPr/>
        </p:nvSpPr>
        <p:spPr>
          <a:xfrm>
            <a:off x="594360" y="2862072"/>
            <a:ext cx="2029968" cy="310896"/>
          </a:xfrm>
          <a:prstGeom prst="rect">
            <a:avLst/>
          </a:prstGeom>
          <a:noFill/>
        </p:spPr>
        <p:txBody>
          <a:bodyPr wrap="none" lIns="0" rIns="0" tIns="0" bIns="0">
            <a:spAutoFit/>
          </a:bodyPr>
          <a:lstStyle/>
          <a:p>
            <a:pPr algn="l">
              <a:lnSpc>
                <a:spcPts val="2128"/>
              </a:lnSpc>
              <a:spcBef>
                <a:spcPts val="0"/>
              </a:spcBef>
              <a:spcAft>
                <a:spcPts val="0"/>
              </a:spcAft>
              <a:defRPr sz="1900" b="0">
                <a:solidFill>
                  <a:srgbClr val="182B3A"/>
                </a:solidFill>
                <a:latin typeface="Arial"/>
              </a:defRPr>
            </a:pPr>
            <a:r>
              <a:t>35 ÷ 7 = 5</a:t>
            </a:r>
          </a:p>
        </p:txBody>
      </p:sp>
      <p:sp>
        <p:nvSpPr>
          <p:cNvPr id="12" name="TextBox 11"/>
          <p:cNvSpPr txBox="1"/>
          <p:nvPr/>
        </p:nvSpPr>
        <p:spPr>
          <a:xfrm>
            <a:off x="2734056" y="2578608"/>
            <a:ext cx="2029968" cy="310896"/>
          </a:xfrm>
          <a:prstGeom prst="rect">
            <a:avLst/>
          </a:prstGeom>
          <a:noFill/>
        </p:spPr>
        <p:txBody>
          <a:bodyPr wrap="none" lIns="0" rIns="0" tIns="0" bIns="0">
            <a:spAutoFit/>
          </a:bodyPr>
          <a:lstStyle/>
          <a:p>
            <a:pPr algn="l">
              <a:lnSpc>
                <a:spcPts val="2128"/>
              </a:lnSpc>
              <a:spcBef>
                <a:spcPts val="0"/>
              </a:spcBef>
              <a:spcAft>
                <a:spcPts val="0"/>
              </a:spcAft>
              <a:defRPr sz="1900" b="0">
                <a:solidFill>
                  <a:srgbClr val="182B3A"/>
                </a:solidFill>
                <a:latin typeface="Arial"/>
              </a:defRPr>
            </a:pPr>
            <a:r>
              <a:t>A = 5 × 5</a:t>
            </a:r>
          </a:p>
        </p:txBody>
      </p:sp>
      <p:sp>
        <p:nvSpPr>
          <p:cNvPr id="13" name="TextBox 12"/>
          <p:cNvSpPr txBox="1"/>
          <p:nvPr/>
        </p:nvSpPr>
        <p:spPr>
          <a:xfrm>
            <a:off x="2734056" y="2862072"/>
            <a:ext cx="2029968" cy="310896"/>
          </a:xfrm>
          <a:prstGeom prst="rect">
            <a:avLst/>
          </a:prstGeom>
          <a:noFill/>
        </p:spPr>
        <p:txBody>
          <a:bodyPr wrap="none" lIns="0" rIns="0" tIns="0" bIns="0">
            <a:spAutoFit/>
          </a:bodyPr>
          <a:lstStyle/>
          <a:p>
            <a:pPr algn="l">
              <a:lnSpc>
                <a:spcPts val="2128"/>
              </a:lnSpc>
              <a:spcBef>
                <a:spcPts val="0"/>
              </a:spcBef>
              <a:spcAft>
                <a:spcPts val="0"/>
              </a:spcAft>
              <a:defRPr sz="1900" b="0">
                <a:solidFill>
                  <a:srgbClr val="182B3A"/>
                </a:solidFill>
                <a:latin typeface="Arial"/>
              </a:defRPr>
            </a:pPr>
            <a:r>
              <a:t>A = £25</a:t>
            </a:r>
          </a:p>
        </p:txBody>
      </p:sp>
      <p:sp>
        <p:nvSpPr>
          <p:cNvPr id="14" name="TextBox 13"/>
          <p:cNvSpPr txBox="1"/>
          <p:nvPr/>
        </p:nvSpPr>
        <p:spPr>
          <a:xfrm>
            <a:off x="594360" y="3392424"/>
            <a:ext cx="4206240" cy="256032"/>
          </a:xfrm>
          <a:prstGeom prst="rect">
            <a:avLst/>
          </a:prstGeom>
          <a:noFill/>
        </p:spPr>
        <p:txBody>
          <a:bodyPr wrap="none" lIns="0" rIns="0" tIns="0" bIns="0">
            <a:spAutoFit/>
          </a:bodyPr>
          <a:lstStyle/>
          <a:p>
            <a:pPr algn="l">
              <a:lnSpc>
                <a:spcPts val="2016"/>
              </a:lnSpc>
              <a:spcBef>
                <a:spcPts val="0"/>
              </a:spcBef>
              <a:spcAft>
                <a:spcPts val="0"/>
              </a:spcAft>
              <a:defRPr sz="1800" b="0">
                <a:solidFill>
                  <a:srgbClr val="182B3A"/>
                </a:solidFill>
                <a:latin typeface="Arial"/>
              </a:defRPr>
            </a:pPr>
            <a:r>
              <a:t>A receives £25</a:t>
            </a:r>
          </a:p>
        </p:txBody>
      </p:sp>
      <p:sp>
        <p:nvSpPr>
          <p:cNvPr id="15" name="Rectangle 14"/>
          <p:cNvSpPr/>
          <p:nvPr/>
        </p:nvSpPr>
        <p:spPr>
          <a:xfrm>
            <a:off x="384048" y="3721608"/>
            <a:ext cx="4588764" cy="1929384"/>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6" name="TextBox 15"/>
          <p:cNvSpPr txBox="1"/>
          <p:nvPr/>
        </p:nvSpPr>
        <p:spPr>
          <a:xfrm>
            <a:off x="475488" y="3758184"/>
            <a:ext cx="4392168" cy="841248"/>
          </a:xfrm>
          <a:prstGeom prst="rect">
            <a:avLst/>
          </a:prstGeom>
          <a:noFill/>
        </p:spPr>
        <p:txBody>
          <a:bodyPr wrap="square" tIns="36576" bIns="36576" anchor="t">
            <a:spAutoFit/>
          </a:bodyPr>
          <a:lstStyle/>
          <a:p>
            <a:pPr>
              <a:lnSpc>
                <a:spcPts val="1944"/>
              </a:lnSpc>
              <a:spcBef>
                <a:spcPts val="0"/>
              </a:spcBef>
              <a:spcAft>
                <a:spcPts val="0"/>
              </a:spcAft>
              <a:defRPr sz="1800" b="1">
                <a:solidFill>
                  <a:srgbClr val="182B3A"/>
                </a:solidFill>
                <a:latin typeface="Arial"/>
              </a:defRPr>
            </a:pPr>
            <a:r>
              <a:t>2.  Red:blue = 3:4. There are 12 red counters. How many blue?</a:t>
            </a:r>
          </a:p>
        </p:txBody>
      </p:sp>
      <p:sp>
        <p:nvSpPr>
          <p:cNvPr id="17" name="TextBox 16"/>
          <p:cNvSpPr txBox="1"/>
          <p:nvPr/>
        </p:nvSpPr>
        <p:spPr>
          <a:xfrm>
            <a:off x="594360" y="4581144"/>
            <a:ext cx="2029968" cy="310896"/>
          </a:xfrm>
          <a:prstGeom prst="rect">
            <a:avLst/>
          </a:prstGeom>
          <a:noFill/>
        </p:spPr>
        <p:txBody>
          <a:bodyPr wrap="none" lIns="0" rIns="0" tIns="0" bIns="0">
            <a:spAutoFit/>
          </a:bodyPr>
          <a:lstStyle/>
          <a:p>
            <a:pPr algn="l">
              <a:lnSpc>
                <a:spcPts val="2128"/>
              </a:lnSpc>
              <a:spcBef>
                <a:spcPts val="0"/>
              </a:spcBef>
              <a:spcAft>
                <a:spcPts val="0"/>
              </a:spcAft>
              <a:defRPr sz="1900" b="0">
                <a:solidFill>
                  <a:srgbClr val="182B3A"/>
                </a:solidFill>
                <a:latin typeface="Arial"/>
              </a:defRPr>
            </a:pPr>
            <a:r>
              <a:t>3 + 4 = 7 parts</a:t>
            </a:r>
          </a:p>
        </p:txBody>
      </p:sp>
      <p:sp>
        <p:nvSpPr>
          <p:cNvPr id="18" name="TextBox 17"/>
          <p:cNvSpPr txBox="1"/>
          <p:nvPr/>
        </p:nvSpPr>
        <p:spPr>
          <a:xfrm>
            <a:off x="594360" y="4864608"/>
            <a:ext cx="2029968" cy="310896"/>
          </a:xfrm>
          <a:prstGeom prst="rect">
            <a:avLst/>
          </a:prstGeom>
          <a:noFill/>
        </p:spPr>
        <p:txBody>
          <a:bodyPr wrap="none" lIns="0" rIns="0" tIns="0" bIns="0">
            <a:spAutoFit/>
          </a:bodyPr>
          <a:lstStyle/>
          <a:p>
            <a:pPr algn="l">
              <a:lnSpc>
                <a:spcPts val="2128"/>
              </a:lnSpc>
              <a:spcBef>
                <a:spcPts val="0"/>
              </a:spcBef>
              <a:spcAft>
                <a:spcPts val="0"/>
              </a:spcAft>
              <a:defRPr sz="1900" b="0">
                <a:solidFill>
                  <a:srgbClr val="182B3A"/>
                </a:solidFill>
                <a:latin typeface="Arial"/>
              </a:defRPr>
            </a:pPr>
            <a:r>
              <a:t>12 ÷ 7 = 1 r 5</a:t>
            </a:r>
          </a:p>
        </p:txBody>
      </p:sp>
      <p:sp>
        <p:nvSpPr>
          <p:cNvPr id="19" name="TextBox 18"/>
          <p:cNvSpPr txBox="1"/>
          <p:nvPr/>
        </p:nvSpPr>
        <p:spPr>
          <a:xfrm>
            <a:off x="2734056" y="4581144"/>
            <a:ext cx="2029968" cy="310896"/>
          </a:xfrm>
          <a:prstGeom prst="rect">
            <a:avLst/>
          </a:prstGeom>
          <a:noFill/>
        </p:spPr>
        <p:txBody>
          <a:bodyPr wrap="none" lIns="0" rIns="0" tIns="0" bIns="0">
            <a:spAutoFit/>
          </a:bodyPr>
          <a:lstStyle/>
          <a:p>
            <a:pPr algn="l">
              <a:lnSpc>
                <a:spcPts val="2128"/>
              </a:lnSpc>
              <a:spcBef>
                <a:spcPts val="0"/>
              </a:spcBef>
              <a:spcAft>
                <a:spcPts val="0"/>
              </a:spcAft>
              <a:defRPr sz="1900" b="0">
                <a:solidFill>
                  <a:srgbClr val="182B3A"/>
                </a:solidFill>
                <a:latin typeface="Arial"/>
              </a:defRPr>
            </a:pPr>
            <a:r>
              <a:t>Blue = 4 × 1</a:t>
            </a:r>
          </a:p>
        </p:txBody>
      </p:sp>
      <p:sp>
        <p:nvSpPr>
          <p:cNvPr id="20" name="TextBox 19"/>
          <p:cNvSpPr txBox="1"/>
          <p:nvPr/>
        </p:nvSpPr>
        <p:spPr>
          <a:xfrm>
            <a:off x="2734056" y="4864608"/>
            <a:ext cx="2029968" cy="310896"/>
          </a:xfrm>
          <a:prstGeom prst="rect">
            <a:avLst/>
          </a:prstGeom>
          <a:noFill/>
        </p:spPr>
        <p:txBody>
          <a:bodyPr wrap="none" lIns="0" rIns="0" tIns="0" bIns="0">
            <a:spAutoFit/>
          </a:bodyPr>
          <a:lstStyle/>
          <a:p>
            <a:pPr algn="l">
              <a:lnSpc>
                <a:spcPts val="2128"/>
              </a:lnSpc>
              <a:spcBef>
                <a:spcPts val="0"/>
              </a:spcBef>
              <a:spcAft>
                <a:spcPts val="0"/>
              </a:spcAft>
              <a:defRPr sz="1900" b="0">
                <a:solidFill>
                  <a:srgbClr val="182B3A"/>
                </a:solidFill>
                <a:latin typeface="Arial"/>
              </a:defRPr>
            </a:pPr>
            <a:r>
              <a:t>Blue = 4</a:t>
            </a:r>
          </a:p>
        </p:txBody>
      </p:sp>
      <p:sp>
        <p:nvSpPr>
          <p:cNvPr id="21" name="TextBox 20"/>
          <p:cNvSpPr txBox="1"/>
          <p:nvPr/>
        </p:nvSpPr>
        <p:spPr>
          <a:xfrm>
            <a:off x="594360" y="5394960"/>
            <a:ext cx="4206240" cy="256032"/>
          </a:xfrm>
          <a:prstGeom prst="rect">
            <a:avLst/>
          </a:prstGeom>
          <a:noFill/>
        </p:spPr>
        <p:txBody>
          <a:bodyPr wrap="none" lIns="0" rIns="0" tIns="0" bIns="0">
            <a:spAutoFit/>
          </a:bodyPr>
          <a:lstStyle/>
          <a:p>
            <a:pPr algn="l">
              <a:lnSpc>
                <a:spcPts val="2016"/>
              </a:lnSpc>
              <a:spcBef>
                <a:spcPts val="0"/>
              </a:spcBef>
              <a:spcAft>
                <a:spcPts val="0"/>
              </a:spcAft>
              <a:defRPr sz="1800" b="0">
                <a:solidFill>
                  <a:srgbClr val="182B3A"/>
                </a:solidFill>
                <a:latin typeface="Arial"/>
              </a:defRPr>
            </a:pPr>
            <a:r>
              <a:t>4 blue counters</a:t>
            </a:r>
          </a:p>
        </p:txBody>
      </p:sp>
      <p:sp>
        <p:nvSpPr>
          <p:cNvPr id="22" name="Rectangle 21"/>
          <p:cNvSpPr/>
          <p:nvPr/>
        </p:nvSpPr>
        <p:spPr>
          <a:xfrm>
            <a:off x="384048" y="5724144"/>
            <a:ext cx="4588764" cy="1929384"/>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3" name="TextBox 22"/>
          <p:cNvSpPr txBox="1"/>
          <p:nvPr/>
        </p:nvSpPr>
        <p:spPr>
          <a:xfrm>
            <a:off x="475488" y="5760720"/>
            <a:ext cx="4392168" cy="841248"/>
          </a:xfrm>
          <a:prstGeom prst="rect">
            <a:avLst/>
          </a:prstGeom>
          <a:noFill/>
        </p:spPr>
        <p:txBody>
          <a:bodyPr wrap="square" tIns="36576" bIns="36576" anchor="t">
            <a:spAutoFit/>
          </a:bodyPr>
          <a:lstStyle/>
          <a:p>
            <a:pPr>
              <a:lnSpc>
                <a:spcPts val="1944"/>
              </a:lnSpc>
              <a:spcBef>
                <a:spcPts val="0"/>
              </a:spcBef>
              <a:spcAft>
                <a:spcPts val="0"/>
              </a:spcAft>
              <a:defRPr sz="1800" b="1">
                <a:solidFill>
                  <a:srgbClr val="182B3A"/>
                </a:solidFill>
                <a:latin typeface="Arial"/>
              </a:defRPr>
            </a:pPr>
            <a:r>
              <a:t>3.  Share 12 sweets between A and B in ratio 1:3. How many does B get?</a:t>
            </a:r>
          </a:p>
        </p:txBody>
      </p:sp>
      <p:sp>
        <p:nvSpPr>
          <p:cNvPr id="24" name="TextBox 23"/>
          <p:cNvSpPr txBox="1"/>
          <p:nvPr/>
        </p:nvSpPr>
        <p:spPr>
          <a:xfrm>
            <a:off x="594360" y="6583679"/>
            <a:ext cx="2029968" cy="310896"/>
          </a:xfrm>
          <a:prstGeom prst="rect">
            <a:avLst/>
          </a:prstGeom>
          <a:noFill/>
        </p:spPr>
        <p:txBody>
          <a:bodyPr wrap="none" lIns="0" rIns="0" tIns="0" bIns="0">
            <a:spAutoFit/>
          </a:bodyPr>
          <a:lstStyle/>
          <a:p>
            <a:pPr algn="l">
              <a:lnSpc>
                <a:spcPts val="2128"/>
              </a:lnSpc>
              <a:spcBef>
                <a:spcPts val="0"/>
              </a:spcBef>
              <a:spcAft>
                <a:spcPts val="0"/>
              </a:spcAft>
              <a:defRPr sz="1900" b="0">
                <a:solidFill>
                  <a:srgbClr val="182B3A"/>
                </a:solidFill>
                <a:latin typeface="Arial"/>
              </a:defRPr>
            </a:pPr>
            <a:r>
              <a:t>1 + 3 = 4 parts</a:t>
            </a:r>
          </a:p>
        </p:txBody>
      </p:sp>
      <p:sp>
        <p:nvSpPr>
          <p:cNvPr id="25" name="TextBox 24"/>
          <p:cNvSpPr txBox="1"/>
          <p:nvPr/>
        </p:nvSpPr>
        <p:spPr>
          <a:xfrm>
            <a:off x="594360" y="6867144"/>
            <a:ext cx="2029968" cy="310896"/>
          </a:xfrm>
          <a:prstGeom prst="rect">
            <a:avLst/>
          </a:prstGeom>
          <a:noFill/>
        </p:spPr>
        <p:txBody>
          <a:bodyPr wrap="none" lIns="0" rIns="0" tIns="0" bIns="0">
            <a:spAutoFit/>
          </a:bodyPr>
          <a:lstStyle/>
          <a:p>
            <a:pPr algn="l">
              <a:lnSpc>
                <a:spcPts val="2128"/>
              </a:lnSpc>
              <a:spcBef>
                <a:spcPts val="0"/>
              </a:spcBef>
              <a:spcAft>
                <a:spcPts val="0"/>
              </a:spcAft>
              <a:defRPr sz="1900" b="0">
                <a:solidFill>
                  <a:srgbClr val="182B3A"/>
                </a:solidFill>
                <a:latin typeface="Arial"/>
              </a:defRPr>
            </a:pPr>
            <a:r>
              <a:t>12 ÷ 4 = 3</a:t>
            </a:r>
          </a:p>
        </p:txBody>
      </p:sp>
      <p:sp>
        <p:nvSpPr>
          <p:cNvPr id="26" name="TextBox 25"/>
          <p:cNvSpPr txBox="1"/>
          <p:nvPr/>
        </p:nvSpPr>
        <p:spPr>
          <a:xfrm>
            <a:off x="2734056" y="6583679"/>
            <a:ext cx="2029968" cy="310896"/>
          </a:xfrm>
          <a:prstGeom prst="rect">
            <a:avLst/>
          </a:prstGeom>
          <a:noFill/>
        </p:spPr>
        <p:txBody>
          <a:bodyPr wrap="none" lIns="0" rIns="0" tIns="0" bIns="0">
            <a:spAutoFit/>
          </a:bodyPr>
          <a:lstStyle/>
          <a:p>
            <a:pPr algn="l">
              <a:lnSpc>
                <a:spcPts val="2128"/>
              </a:lnSpc>
              <a:spcBef>
                <a:spcPts val="0"/>
              </a:spcBef>
              <a:spcAft>
                <a:spcPts val="0"/>
              </a:spcAft>
              <a:defRPr sz="1900" b="0">
                <a:solidFill>
                  <a:srgbClr val="182B3A"/>
                </a:solidFill>
                <a:latin typeface="Arial"/>
              </a:defRPr>
            </a:pPr>
            <a:r>
              <a:t>B = 3 + 3</a:t>
            </a:r>
          </a:p>
        </p:txBody>
      </p:sp>
      <p:sp>
        <p:nvSpPr>
          <p:cNvPr id="27" name="TextBox 26"/>
          <p:cNvSpPr txBox="1"/>
          <p:nvPr/>
        </p:nvSpPr>
        <p:spPr>
          <a:xfrm>
            <a:off x="2734056" y="6867144"/>
            <a:ext cx="2029968" cy="310896"/>
          </a:xfrm>
          <a:prstGeom prst="rect">
            <a:avLst/>
          </a:prstGeom>
          <a:noFill/>
        </p:spPr>
        <p:txBody>
          <a:bodyPr wrap="none" lIns="0" rIns="0" tIns="0" bIns="0">
            <a:spAutoFit/>
          </a:bodyPr>
          <a:lstStyle/>
          <a:p>
            <a:pPr algn="l">
              <a:lnSpc>
                <a:spcPts val="2128"/>
              </a:lnSpc>
              <a:spcBef>
                <a:spcPts val="0"/>
              </a:spcBef>
              <a:spcAft>
                <a:spcPts val="0"/>
              </a:spcAft>
              <a:defRPr sz="1900" b="0">
                <a:solidFill>
                  <a:srgbClr val="182B3A"/>
                </a:solidFill>
                <a:latin typeface="Arial"/>
              </a:defRPr>
            </a:pPr>
            <a:r>
              <a:t>B = 6</a:t>
            </a:r>
          </a:p>
        </p:txBody>
      </p:sp>
      <p:sp>
        <p:nvSpPr>
          <p:cNvPr id="28" name="TextBox 27"/>
          <p:cNvSpPr txBox="1"/>
          <p:nvPr/>
        </p:nvSpPr>
        <p:spPr>
          <a:xfrm>
            <a:off x="594360" y="7397496"/>
            <a:ext cx="4206240" cy="256032"/>
          </a:xfrm>
          <a:prstGeom prst="rect">
            <a:avLst/>
          </a:prstGeom>
          <a:noFill/>
        </p:spPr>
        <p:txBody>
          <a:bodyPr wrap="none" lIns="0" rIns="0" tIns="0" bIns="0">
            <a:spAutoFit/>
          </a:bodyPr>
          <a:lstStyle/>
          <a:p>
            <a:pPr algn="l">
              <a:lnSpc>
                <a:spcPts val="2016"/>
              </a:lnSpc>
              <a:spcBef>
                <a:spcPts val="0"/>
              </a:spcBef>
              <a:spcAft>
                <a:spcPts val="0"/>
              </a:spcAft>
              <a:defRPr sz="1800" b="0">
                <a:solidFill>
                  <a:srgbClr val="182B3A"/>
                </a:solidFill>
                <a:latin typeface="Arial"/>
              </a:defRPr>
            </a:pPr>
            <a:r>
              <a:t>B receives 6 sweets</a:t>
            </a:r>
          </a:p>
        </p:txBody>
      </p:sp>
      <p:sp>
        <p:nvSpPr>
          <p:cNvPr id="29" name="Rectangle 28"/>
          <p:cNvSpPr/>
          <p:nvPr/>
        </p:nvSpPr>
        <p:spPr>
          <a:xfrm>
            <a:off x="5004816" y="1234440"/>
            <a:ext cx="4588764" cy="420624"/>
          </a:xfrm>
          <a:prstGeom prst="rect">
            <a:avLst/>
          </a:prstGeom>
          <a:solidFill>
            <a:srgbClr val="3559A2"/>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0" name="TextBox 29"/>
          <p:cNvSpPr txBox="1"/>
          <p:nvPr/>
        </p:nvSpPr>
        <p:spPr>
          <a:xfrm>
            <a:off x="5068824" y="1261872"/>
            <a:ext cx="4474464" cy="347472"/>
          </a:xfrm>
          <a:prstGeom prst="rect">
            <a:avLst/>
          </a:prstGeom>
          <a:noFill/>
        </p:spPr>
        <p:txBody>
          <a:bodyPr wrap="square" tIns="36576" bIns="36576" anchor="t">
            <a:spAutoFit/>
          </a:bodyPr>
          <a:lstStyle/>
          <a:p>
            <a:pPr>
              <a:lnSpc>
                <a:spcPts val="2160"/>
              </a:lnSpc>
              <a:spcBef>
                <a:spcPts val="0"/>
              </a:spcBef>
              <a:spcAft>
                <a:spcPts val="0"/>
              </a:spcAft>
              <a:defRPr sz="2000" b="1">
                <a:solidFill>
                  <a:srgbClr val="FFFFFF"/>
                </a:solidFill>
                <a:latin typeface="Arial"/>
              </a:defRPr>
            </a:pPr>
            <a:r>
              <a:t>Build</a:t>
            </a:r>
          </a:p>
        </p:txBody>
      </p:sp>
      <p:sp>
        <p:nvSpPr>
          <p:cNvPr id="31" name="Rectangle 30"/>
          <p:cNvSpPr/>
          <p:nvPr/>
        </p:nvSpPr>
        <p:spPr>
          <a:xfrm>
            <a:off x="5004816" y="1719072"/>
            <a:ext cx="4588764" cy="1929384"/>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2" name="TextBox 31"/>
          <p:cNvSpPr txBox="1"/>
          <p:nvPr/>
        </p:nvSpPr>
        <p:spPr>
          <a:xfrm>
            <a:off x="5096256" y="1755648"/>
            <a:ext cx="4392168" cy="841248"/>
          </a:xfrm>
          <a:prstGeom prst="rect">
            <a:avLst/>
          </a:prstGeom>
          <a:noFill/>
        </p:spPr>
        <p:txBody>
          <a:bodyPr wrap="square" tIns="36576" bIns="36576" anchor="t">
            <a:spAutoFit/>
          </a:bodyPr>
          <a:lstStyle/>
          <a:p>
            <a:pPr>
              <a:lnSpc>
                <a:spcPts val="1944"/>
              </a:lnSpc>
              <a:spcBef>
                <a:spcPts val="0"/>
              </a:spcBef>
              <a:spcAft>
                <a:spcPts val="0"/>
              </a:spcAft>
              <a:defRPr sz="1800" b="1">
                <a:solidFill>
                  <a:srgbClr val="182B3A"/>
                </a:solidFill>
                <a:latin typeface="Arial"/>
              </a:defRPr>
            </a:pPr>
            <a:r>
              <a:t>1.  A and B share counters in ratio 2:7. B has 30 more than A. How many does A have?</a:t>
            </a:r>
          </a:p>
        </p:txBody>
      </p:sp>
      <p:sp>
        <p:nvSpPr>
          <p:cNvPr id="33" name="TextBox 32"/>
          <p:cNvSpPr txBox="1"/>
          <p:nvPr/>
        </p:nvSpPr>
        <p:spPr>
          <a:xfrm>
            <a:off x="5215128" y="2578608"/>
            <a:ext cx="2029968" cy="310896"/>
          </a:xfrm>
          <a:prstGeom prst="rect">
            <a:avLst/>
          </a:prstGeom>
          <a:noFill/>
        </p:spPr>
        <p:txBody>
          <a:bodyPr wrap="none" lIns="0" rIns="0" tIns="0" bIns="0">
            <a:spAutoFit/>
          </a:bodyPr>
          <a:lstStyle/>
          <a:p>
            <a:pPr algn="l">
              <a:lnSpc>
                <a:spcPts val="2128"/>
              </a:lnSpc>
              <a:spcBef>
                <a:spcPts val="0"/>
              </a:spcBef>
              <a:spcAft>
                <a:spcPts val="0"/>
              </a:spcAft>
              <a:defRPr sz="1900" b="0">
                <a:solidFill>
                  <a:srgbClr val="182B3A"/>
                </a:solidFill>
                <a:latin typeface="Arial"/>
              </a:defRPr>
            </a:pPr>
            <a:r>
              <a:t>7 − 2 = 5 parts</a:t>
            </a:r>
          </a:p>
        </p:txBody>
      </p:sp>
      <p:sp>
        <p:nvSpPr>
          <p:cNvPr id="34" name="TextBox 33"/>
          <p:cNvSpPr txBox="1"/>
          <p:nvPr/>
        </p:nvSpPr>
        <p:spPr>
          <a:xfrm>
            <a:off x="5215128" y="2862072"/>
            <a:ext cx="2029968" cy="310896"/>
          </a:xfrm>
          <a:prstGeom prst="rect">
            <a:avLst/>
          </a:prstGeom>
          <a:noFill/>
        </p:spPr>
        <p:txBody>
          <a:bodyPr wrap="none" lIns="0" rIns="0" tIns="0" bIns="0">
            <a:spAutoFit/>
          </a:bodyPr>
          <a:lstStyle/>
          <a:p>
            <a:pPr algn="l">
              <a:lnSpc>
                <a:spcPts val="2128"/>
              </a:lnSpc>
              <a:spcBef>
                <a:spcPts val="0"/>
              </a:spcBef>
              <a:spcAft>
                <a:spcPts val="0"/>
              </a:spcAft>
              <a:defRPr sz="1900" b="0">
                <a:solidFill>
                  <a:srgbClr val="182B3A"/>
                </a:solidFill>
                <a:latin typeface="Arial"/>
              </a:defRPr>
            </a:pPr>
            <a:r>
              <a:t>30 ÷ 5 = 6</a:t>
            </a:r>
          </a:p>
        </p:txBody>
      </p:sp>
      <p:sp>
        <p:nvSpPr>
          <p:cNvPr id="35" name="TextBox 34"/>
          <p:cNvSpPr txBox="1"/>
          <p:nvPr/>
        </p:nvSpPr>
        <p:spPr>
          <a:xfrm>
            <a:off x="7354824" y="2578608"/>
            <a:ext cx="2029968" cy="310896"/>
          </a:xfrm>
          <a:prstGeom prst="rect">
            <a:avLst/>
          </a:prstGeom>
          <a:noFill/>
        </p:spPr>
        <p:txBody>
          <a:bodyPr wrap="none" lIns="0" rIns="0" tIns="0" bIns="0">
            <a:spAutoFit/>
          </a:bodyPr>
          <a:lstStyle/>
          <a:p>
            <a:pPr algn="l">
              <a:lnSpc>
                <a:spcPts val="2128"/>
              </a:lnSpc>
              <a:spcBef>
                <a:spcPts val="0"/>
              </a:spcBef>
              <a:spcAft>
                <a:spcPts val="0"/>
              </a:spcAft>
              <a:defRPr sz="1900" b="0">
                <a:solidFill>
                  <a:srgbClr val="182B3A"/>
                </a:solidFill>
                <a:latin typeface="Arial"/>
              </a:defRPr>
            </a:pPr>
            <a:r>
              <a:t>A = 2 + 6</a:t>
            </a:r>
          </a:p>
        </p:txBody>
      </p:sp>
      <p:sp>
        <p:nvSpPr>
          <p:cNvPr id="36" name="TextBox 35"/>
          <p:cNvSpPr txBox="1"/>
          <p:nvPr/>
        </p:nvSpPr>
        <p:spPr>
          <a:xfrm>
            <a:off x="7354824" y="2862072"/>
            <a:ext cx="2029968" cy="310896"/>
          </a:xfrm>
          <a:prstGeom prst="rect">
            <a:avLst/>
          </a:prstGeom>
          <a:noFill/>
        </p:spPr>
        <p:txBody>
          <a:bodyPr wrap="none" lIns="0" rIns="0" tIns="0" bIns="0">
            <a:spAutoFit/>
          </a:bodyPr>
          <a:lstStyle/>
          <a:p>
            <a:pPr algn="l">
              <a:lnSpc>
                <a:spcPts val="2128"/>
              </a:lnSpc>
              <a:spcBef>
                <a:spcPts val="0"/>
              </a:spcBef>
              <a:spcAft>
                <a:spcPts val="0"/>
              </a:spcAft>
              <a:defRPr sz="1900" b="0">
                <a:solidFill>
                  <a:srgbClr val="182B3A"/>
                </a:solidFill>
                <a:latin typeface="Arial"/>
              </a:defRPr>
            </a:pPr>
            <a:r>
              <a:t>A = 8</a:t>
            </a:r>
          </a:p>
        </p:txBody>
      </p:sp>
      <p:sp>
        <p:nvSpPr>
          <p:cNvPr id="37" name="TextBox 36"/>
          <p:cNvSpPr txBox="1"/>
          <p:nvPr/>
        </p:nvSpPr>
        <p:spPr>
          <a:xfrm>
            <a:off x="5215128" y="3392424"/>
            <a:ext cx="4206240" cy="256032"/>
          </a:xfrm>
          <a:prstGeom prst="rect">
            <a:avLst/>
          </a:prstGeom>
          <a:noFill/>
        </p:spPr>
        <p:txBody>
          <a:bodyPr wrap="none" lIns="0" rIns="0" tIns="0" bIns="0">
            <a:spAutoFit/>
          </a:bodyPr>
          <a:lstStyle/>
          <a:p>
            <a:pPr algn="l">
              <a:lnSpc>
                <a:spcPts val="2016"/>
              </a:lnSpc>
              <a:spcBef>
                <a:spcPts val="0"/>
              </a:spcBef>
              <a:spcAft>
                <a:spcPts val="0"/>
              </a:spcAft>
              <a:defRPr sz="1800" b="0">
                <a:solidFill>
                  <a:srgbClr val="182B3A"/>
                </a:solidFill>
                <a:latin typeface="Arial"/>
              </a:defRPr>
            </a:pPr>
            <a:r>
              <a:t>A has 8 counters</a:t>
            </a:r>
          </a:p>
        </p:txBody>
      </p:sp>
      <p:sp>
        <p:nvSpPr>
          <p:cNvPr id="38" name="Rectangle 37"/>
          <p:cNvSpPr/>
          <p:nvPr/>
        </p:nvSpPr>
        <p:spPr>
          <a:xfrm>
            <a:off x="5004816" y="3721608"/>
            <a:ext cx="4588764" cy="1929384"/>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9" name="TextBox 38"/>
          <p:cNvSpPr txBox="1"/>
          <p:nvPr/>
        </p:nvSpPr>
        <p:spPr>
          <a:xfrm>
            <a:off x="5096256" y="3758184"/>
            <a:ext cx="4392168" cy="841248"/>
          </a:xfrm>
          <a:prstGeom prst="rect">
            <a:avLst/>
          </a:prstGeom>
          <a:noFill/>
        </p:spPr>
        <p:txBody>
          <a:bodyPr wrap="square" tIns="36576" bIns="36576" anchor="t">
            <a:spAutoFit/>
          </a:bodyPr>
          <a:lstStyle/>
          <a:p>
            <a:pPr>
              <a:lnSpc>
                <a:spcPts val="1944"/>
              </a:lnSpc>
              <a:spcBef>
                <a:spcPts val="0"/>
              </a:spcBef>
              <a:spcAft>
                <a:spcPts val="0"/>
              </a:spcAft>
              <a:defRPr sz="1800" b="1">
                <a:solidFill>
                  <a:srgbClr val="182B3A"/>
                </a:solidFill>
                <a:latin typeface="Arial"/>
              </a:defRPr>
            </a:pPr>
            <a:r>
              <a:t>2.  Red:blue = 4:3. There are 15 blue counters. How many red counters?</a:t>
            </a:r>
          </a:p>
        </p:txBody>
      </p:sp>
      <p:sp>
        <p:nvSpPr>
          <p:cNvPr id="40" name="TextBox 39"/>
          <p:cNvSpPr txBox="1"/>
          <p:nvPr/>
        </p:nvSpPr>
        <p:spPr>
          <a:xfrm>
            <a:off x="5215128" y="4581144"/>
            <a:ext cx="2029968" cy="310896"/>
          </a:xfrm>
          <a:prstGeom prst="rect">
            <a:avLst/>
          </a:prstGeom>
          <a:noFill/>
        </p:spPr>
        <p:txBody>
          <a:bodyPr wrap="none" lIns="0" rIns="0" tIns="0" bIns="0">
            <a:spAutoFit/>
          </a:bodyPr>
          <a:lstStyle/>
          <a:p>
            <a:pPr algn="l">
              <a:lnSpc>
                <a:spcPts val="2128"/>
              </a:lnSpc>
              <a:spcBef>
                <a:spcPts val="0"/>
              </a:spcBef>
              <a:spcAft>
                <a:spcPts val="0"/>
              </a:spcAft>
              <a:defRPr sz="1900" b="0">
                <a:solidFill>
                  <a:srgbClr val="182B3A"/>
                </a:solidFill>
                <a:latin typeface="Arial"/>
              </a:defRPr>
            </a:pPr>
            <a:r>
              <a:t>15 ÷ 4 = 3.75</a:t>
            </a:r>
          </a:p>
        </p:txBody>
      </p:sp>
      <p:sp>
        <p:nvSpPr>
          <p:cNvPr id="41" name="TextBox 40"/>
          <p:cNvSpPr txBox="1"/>
          <p:nvPr/>
        </p:nvSpPr>
        <p:spPr>
          <a:xfrm>
            <a:off x="7354824" y="4581144"/>
            <a:ext cx="2029968" cy="310896"/>
          </a:xfrm>
          <a:prstGeom prst="rect">
            <a:avLst/>
          </a:prstGeom>
          <a:noFill/>
        </p:spPr>
        <p:txBody>
          <a:bodyPr wrap="none" lIns="0" rIns="0" tIns="0" bIns="0">
            <a:spAutoFit/>
          </a:bodyPr>
          <a:lstStyle/>
          <a:p>
            <a:pPr algn="l">
              <a:lnSpc>
                <a:spcPts val="2128"/>
              </a:lnSpc>
              <a:spcBef>
                <a:spcPts val="0"/>
              </a:spcBef>
              <a:spcAft>
                <a:spcPts val="0"/>
              </a:spcAft>
              <a:defRPr sz="1900" b="0">
                <a:solidFill>
                  <a:srgbClr val="182B3A"/>
                </a:solidFill>
                <a:latin typeface="Arial"/>
              </a:defRPr>
            </a:pPr>
            <a:r>
              <a:t>Red = 3 × 3.75</a:t>
            </a:r>
          </a:p>
        </p:txBody>
      </p:sp>
      <p:sp>
        <p:nvSpPr>
          <p:cNvPr id="42" name="TextBox 41"/>
          <p:cNvSpPr txBox="1"/>
          <p:nvPr/>
        </p:nvSpPr>
        <p:spPr>
          <a:xfrm>
            <a:off x="7354824" y="4864608"/>
            <a:ext cx="2029968" cy="310896"/>
          </a:xfrm>
          <a:prstGeom prst="rect">
            <a:avLst/>
          </a:prstGeom>
          <a:noFill/>
        </p:spPr>
        <p:txBody>
          <a:bodyPr wrap="none" lIns="0" rIns="0" tIns="0" bIns="0">
            <a:spAutoFit/>
          </a:bodyPr>
          <a:lstStyle/>
          <a:p>
            <a:pPr algn="l">
              <a:lnSpc>
                <a:spcPts val="2128"/>
              </a:lnSpc>
              <a:spcBef>
                <a:spcPts val="0"/>
              </a:spcBef>
              <a:spcAft>
                <a:spcPts val="0"/>
              </a:spcAft>
              <a:defRPr sz="1900" b="0">
                <a:solidFill>
                  <a:srgbClr val="182B3A"/>
                </a:solidFill>
                <a:latin typeface="Arial"/>
              </a:defRPr>
            </a:pPr>
            <a:r>
              <a:t>Red = 11.25</a:t>
            </a:r>
          </a:p>
        </p:txBody>
      </p:sp>
      <p:sp>
        <p:nvSpPr>
          <p:cNvPr id="43" name="TextBox 42"/>
          <p:cNvSpPr txBox="1"/>
          <p:nvPr/>
        </p:nvSpPr>
        <p:spPr>
          <a:xfrm>
            <a:off x="5215128" y="5394960"/>
            <a:ext cx="4206240" cy="256032"/>
          </a:xfrm>
          <a:prstGeom prst="rect">
            <a:avLst/>
          </a:prstGeom>
          <a:noFill/>
        </p:spPr>
        <p:txBody>
          <a:bodyPr wrap="none" lIns="0" rIns="0" tIns="0" bIns="0">
            <a:spAutoFit/>
          </a:bodyPr>
          <a:lstStyle/>
          <a:p>
            <a:pPr algn="l">
              <a:lnSpc>
                <a:spcPts val="2016"/>
              </a:lnSpc>
              <a:spcBef>
                <a:spcPts val="0"/>
              </a:spcBef>
              <a:spcAft>
                <a:spcPts val="0"/>
              </a:spcAft>
              <a:defRPr sz="1800" b="0">
                <a:solidFill>
                  <a:srgbClr val="182B3A"/>
                </a:solidFill>
                <a:latin typeface="Arial"/>
              </a:defRPr>
            </a:pPr>
            <a:r>
              <a:t>11.25 red counters</a:t>
            </a:r>
          </a:p>
        </p:txBody>
      </p:sp>
      <p:sp>
        <p:nvSpPr>
          <p:cNvPr id="44" name="Rectangle 43"/>
          <p:cNvSpPr/>
          <p:nvPr/>
        </p:nvSpPr>
        <p:spPr>
          <a:xfrm>
            <a:off x="5004816" y="5724144"/>
            <a:ext cx="4588764" cy="1929384"/>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5" name="TextBox 44"/>
          <p:cNvSpPr txBox="1"/>
          <p:nvPr/>
        </p:nvSpPr>
        <p:spPr>
          <a:xfrm>
            <a:off x="5096256" y="5760720"/>
            <a:ext cx="4392168" cy="841248"/>
          </a:xfrm>
          <a:prstGeom prst="rect">
            <a:avLst/>
          </a:prstGeom>
          <a:noFill/>
        </p:spPr>
        <p:txBody>
          <a:bodyPr wrap="square" tIns="36576" bIns="36576" anchor="t">
            <a:spAutoFit/>
          </a:bodyPr>
          <a:lstStyle/>
          <a:p>
            <a:pPr>
              <a:lnSpc>
                <a:spcPts val="1944"/>
              </a:lnSpc>
              <a:spcBef>
                <a:spcPts val="0"/>
              </a:spcBef>
              <a:spcAft>
                <a:spcPts val="0"/>
              </a:spcAft>
              <a:defRPr sz="1800" b="1">
                <a:solidFill>
                  <a:srgbClr val="182B3A"/>
                </a:solidFill>
                <a:latin typeface="Arial"/>
              </a:defRPr>
            </a:pPr>
            <a:r>
              <a:t>3.  A and B share 56 counters in ratio 3:5. How many more does B get than A?</a:t>
            </a:r>
          </a:p>
        </p:txBody>
      </p:sp>
      <p:sp>
        <p:nvSpPr>
          <p:cNvPr id="46" name="TextBox 45"/>
          <p:cNvSpPr txBox="1"/>
          <p:nvPr/>
        </p:nvSpPr>
        <p:spPr>
          <a:xfrm>
            <a:off x="5215128" y="6583679"/>
            <a:ext cx="2029968" cy="310896"/>
          </a:xfrm>
          <a:prstGeom prst="rect">
            <a:avLst/>
          </a:prstGeom>
          <a:noFill/>
        </p:spPr>
        <p:txBody>
          <a:bodyPr wrap="none" lIns="0" rIns="0" tIns="0" bIns="0">
            <a:spAutoFit/>
          </a:bodyPr>
          <a:lstStyle/>
          <a:p>
            <a:pPr algn="l">
              <a:lnSpc>
                <a:spcPts val="2128"/>
              </a:lnSpc>
              <a:spcBef>
                <a:spcPts val="0"/>
              </a:spcBef>
              <a:spcAft>
                <a:spcPts val="0"/>
              </a:spcAft>
              <a:defRPr sz="1900" b="0">
                <a:solidFill>
                  <a:srgbClr val="182B3A"/>
                </a:solidFill>
                <a:latin typeface="Arial"/>
              </a:defRPr>
            </a:pPr>
            <a:r>
              <a:t>3 + 5 = 8 parts</a:t>
            </a:r>
          </a:p>
        </p:txBody>
      </p:sp>
      <p:sp>
        <p:nvSpPr>
          <p:cNvPr id="47" name="TextBox 46"/>
          <p:cNvSpPr txBox="1"/>
          <p:nvPr/>
        </p:nvSpPr>
        <p:spPr>
          <a:xfrm>
            <a:off x="5215128" y="6867144"/>
            <a:ext cx="2029968" cy="310896"/>
          </a:xfrm>
          <a:prstGeom prst="rect">
            <a:avLst/>
          </a:prstGeom>
          <a:noFill/>
        </p:spPr>
        <p:txBody>
          <a:bodyPr wrap="none" lIns="0" rIns="0" tIns="0" bIns="0">
            <a:spAutoFit/>
          </a:bodyPr>
          <a:lstStyle/>
          <a:p>
            <a:pPr algn="l">
              <a:lnSpc>
                <a:spcPts val="2128"/>
              </a:lnSpc>
              <a:spcBef>
                <a:spcPts val="0"/>
              </a:spcBef>
              <a:spcAft>
                <a:spcPts val="0"/>
              </a:spcAft>
              <a:defRPr sz="1900" b="0">
                <a:solidFill>
                  <a:srgbClr val="182B3A"/>
                </a:solidFill>
                <a:latin typeface="Arial"/>
              </a:defRPr>
            </a:pPr>
            <a:r>
              <a:t>56 ÷ 8 = 7</a:t>
            </a:r>
          </a:p>
        </p:txBody>
      </p:sp>
      <p:sp>
        <p:nvSpPr>
          <p:cNvPr id="48" name="TextBox 47"/>
          <p:cNvSpPr txBox="1"/>
          <p:nvPr/>
        </p:nvSpPr>
        <p:spPr>
          <a:xfrm>
            <a:off x="5215128" y="7150608"/>
            <a:ext cx="2029968" cy="310896"/>
          </a:xfrm>
          <a:prstGeom prst="rect">
            <a:avLst/>
          </a:prstGeom>
          <a:noFill/>
        </p:spPr>
        <p:txBody>
          <a:bodyPr wrap="none" lIns="0" rIns="0" tIns="0" bIns="0">
            <a:spAutoFit/>
          </a:bodyPr>
          <a:lstStyle/>
          <a:p>
            <a:pPr algn="l">
              <a:lnSpc>
                <a:spcPts val="2128"/>
              </a:lnSpc>
              <a:spcBef>
                <a:spcPts val="0"/>
              </a:spcBef>
              <a:spcAft>
                <a:spcPts val="0"/>
              </a:spcAft>
              <a:defRPr sz="1900" b="0">
                <a:solidFill>
                  <a:srgbClr val="182B3A"/>
                </a:solidFill>
                <a:latin typeface="Arial"/>
              </a:defRPr>
            </a:pPr>
            <a:r>
              <a:t>A = 3 × 7 = 21</a:t>
            </a:r>
          </a:p>
        </p:txBody>
      </p:sp>
      <p:sp>
        <p:nvSpPr>
          <p:cNvPr id="49" name="TextBox 48"/>
          <p:cNvSpPr txBox="1"/>
          <p:nvPr/>
        </p:nvSpPr>
        <p:spPr>
          <a:xfrm>
            <a:off x="7354824" y="6583679"/>
            <a:ext cx="2029968" cy="310896"/>
          </a:xfrm>
          <a:prstGeom prst="rect">
            <a:avLst/>
          </a:prstGeom>
          <a:noFill/>
        </p:spPr>
        <p:txBody>
          <a:bodyPr wrap="none" lIns="0" rIns="0" tIns="0" bIns="0">
            <a:spAutoFit/>
          </a:bodyPr>
          <a:lstStyle/>
          <a:p>
            <a:pPr algn="l">
              <a:lnSpc>
                <a:spcPts val="2128"/>
              </a:lnSpc>
              <a:spcBef>
                <a:spcPts val="0"/>
              </a:spcBef>
              <a:spcAft>
                <a:spcPts val="0"/>
              </a:spcAft>
              <a:defRPr sz="1900" b="0">
                <a:solidFill>
                  <a:srgbClr val="182B3A"/>
                </a:solidFill>
                <a:latin typeface="Arial"/>
              </a:defRPr>
            </a:pPr>
            <a:r>
              <a:t>B = 5 × 7 = 35</a:t>
            </a:r>
          </a:p>
        </p:txBody>
      </p:sp>
      <p:sp>
        <p:nvSpPr>
          <p:cNvPr id="50" name="TextBox 49"/>
          <p:cNvSpPr txBox="1"/>
          <p:nvPr/>
        </p:nvSpPr>
        <p:spPr>
          <a:xfrm>
            <a:off x="7354824" y="6867144"/>
            <a:ext cx="2029968" cy="310896"/>
          </a:xfrm>
          <a:prstGeom prst="rect">
            <a:avLst/>
          </a:prstGeom>
          <a:noFill/>
        </p:spPr>
        <p:txBody>
          <a:bodyPr wrap="none" lIns="0" rIns="0" tIns="0" bIns="0">
            <a:spAutoFit/>
          </a:bodyPr>
          <a:lstStyle/>
          <a:p>
            <a:pPr algn="l">
              <a:lnSpc>
                <a:spcPts val="2128"/>
              </a:lnSpc>
              <a:spcBef>
                <a:spcPts val="0"/>
              </a:spcBef>
              <a:spcAft>
                <a:spcPts val="0"/>
              </a:spcAft>
              <a:defRPr sz="1900" b="0">
                <a:solidFill>
                  <a:srgbClr val="182B3A"/>
                </a:solidFill>
                <a:latin typeface="Arial"/>
              </a:defRPr>
            </a:pPr>
            <a:r>
              <a:t>21 + 35 = 56</a:t>
            </a:r>
          </a:p>
        </p:txBody>
      </p:sp>
      <p:sp>
        <p:nvSpPr>
          <p:cNvPr id="51" name="TextBox 50"/>
          <p:cNvSpPr txBox="1"/>
          <p:nvPr/>
        </p:nvSpPr>
        <p:spPr>
          <a:xfrm>
            <a:off x="5215128" y="7397496"/>
            <a:ext cx="4206240" cy="256032"/>
          </a:xfrm>
          <a:prstGeom prst="rect">
            <a:avLst/>
          </a:prstGeom>
          <a:noFill/>
        </p:spPr>
        <p:txBody>
          <a:bodyPr wrap="none" lIns="0" rIns="0" tIns="0" bIns="0">
            <a:spAutoFit/>
          </a:bodyPr>
          <a:lstStyle/>
          <a:p>
            <a:pPr algn="l">
              <a:lnSpc>
                <a:spcPts val="2016"/>
              </a:lnSpc>
              <a:spcBef>
                <a:spcPts val="0"/>
              </a:spcBef>
              <a:spcAft>
                <a:spcPts val="0"/>
              </a:spcAft>
              <a:defRPr sz="1800" b="0">
                <a:solidFill>
                  <a:srgbClr val="182B3A"/>
                </a:solidFill>
                <a:latin typeface="Arial"/>
              </a:defRPr>
            </a:pPr>
            <a:r>
              <a:t>B gets 56 more counters</a:t>
            </a:r>
          </a:p>
        </p:txBody>
      </p:sp>
      <p:sp>
        <p:nvSpPr>
          <p:cNvPr id="52" name="Rectangle 51"/>
          <p:cNvSpPr/>
          <p:nvPr/>
        </p:nvSpPr>
        <p:spPr>
          <a:xfrm>
            <a:off x="9625584" y="1234440"/>
            <a:ext cx="4588764" cy="420624"/>
          </a:xfrm>
          <a:prstGeom prst="rect">
            <a:avLst/>
          </a:prstGeom>
          <a:solidFill>
            <a:srgbClr val="754B87"/>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3" name="TextBox 52"/>
          <p:cNvSpPr txBox="1"/>
          <p:nvPr/>
        </p:nvSpPr>
        <p:spPr>
          <a:xfrm>
            <a:off x="9689592" y="1261872"/>
            <a:ext cx="4474464" cy="347472"/>
          </a:xfrm>
          <a:prstGeom prst="rect">
            <a:avLst/>
          </a:prstGeom>
          <a:noFill/>
        </p:spPr>
        <p:txBody>
          <a:bodyPr wrap="square" tIns="36576" bIns="36576" anchor="t">
            <a:spAutoFit/>
          </a:bodyPr>
          <a:lstStyle/>
          <a:p>
            <a:pPr>
              <a:lnSpc>
                <a:spcPts val="2160"/>
              </a:lnSpc>
              <a:spcBef>
                <a:spcPts val="0"/>
              </a:spcBef>
              <a:spcAft>
                <a:spcPts val="0"/>
              </a:spcAft>
              <a:defRPr sz="2000" b="1">
                <a:solidFill>
                  <a:srgbClr val="FFFFFF"/>
                </a:solidFill>
                <a:latin typeface="Arial"/>
              </a:defRPr>
            </a:pPr>
            <a:r>
              <a:t>Confidence</a:t>
            </a:r>
          </a:p>
        </p:txBody>
      </p:sp>
      <p:sp>
        <p:nvSpPr>
          <p:cNvPr id="54" name="Rectangle 53"/>
          <p:cNvSpPr/>
          <p:nvPr/>
        </p:nvSpPr>
        <p:spPr>
          <a:xfrm>
            <a:off x="9625584" y="1719072"/>
            <a:ext cx="4588764" cy="1929384"/>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5" name="TextBox 54"/>
          <p:cNvSpPr txBox="1"/>
          <p:nvPr/>
        </p:nvSpPr>
        <p:spPr>
          <a:xfrm>
            <a:off x="9717024" y="1755648"/>
            <a:ext cx="4392168" cy="841248"/>
          </a:xfrm>
          <a:prstGeom prst="rect">
            <a:avLst/>
          </a:prstGeom>
          <a:noFill/>
        </p:spPr>
        <p:txBody>
          <a:bodyPr wrap="square" tIns="36576" bIns="36576" anchor="t">
            <a:spAutoFit/>
          </a:bodyPr>
          <a:lstStyle/>
          <a:p>
            <a:pPr>
              <a:lnSpc>
                <a:spcPts val="1944"/>
              </a:lnSpc>
              <a:spcBef>
                <a:spcPts val="0"/>
              </a:spcBef>
              <a:spcAft>
                <a:spcPts val="0"/>
              </a:spcAft>
              <a:defRPr sz="1800" b="1">
                <a:solidFill>
                  <a:srgbClr val="182B3A"/>
                </a:solidFill>
                <a:latin typeface="Arial"/>
              </a:defRPr>
            </a:pPr>
            <a:r>
              <a:t>1.  A group has 65 people. Adults:children = 5:8. How many more children than adults?</a:t>
            </a:r>
          </a:p>
        </p:txBody>
      </p:sp>
      <p:sp>
        <p:nvSpPr>
          <p:cNvPr id="56" name="TextBox 55"/>
          <p:cNvSpPr txBox="1"/>
          <p:nvPr/>
        </p:nvSpPr>
        <p:spPr>
          <a:xfrm>
            <a:off x="9835896" y="2578608"/>
            <a:ext cx="2029968" cy="310896"/>
          </a:xfrm>
          <a:prstGeom prst="rect">
            <a:avLst/>
          </a:prstGeom>
          <a:noFill/>
        </p:spPr>
        <p:txBody>
          <a:bodyPr wrap="none" lIns="0" rIns="0" tIns="0" bIns="0">
            <a:spAutoFit/>
          </a:bodyPr>
          <a:lstStyle/>
          <a:p>
            <a:pPr algn="l">
              <a:lnSpc>
                <a:spcPts val="2128"/>
              </a:lnSpc>
              <a:spcBef>
                <a:spcPts val="0"/>
              </a:spcBef>
              <a:spcAft>
                <a:spcPts val="0"/>
              </a:spcAft>
              <a:defRPr sz="1900" b="0">
                <a:solidFill>
                  <a:srgbClr val="182B3A"/>
                </a:solidFill>
                <a:latin typeface="Arial"/>
              </a:defRPr>
            </a:pPr>
            <a:r>
              <a:t>5 + 8 = 13 parts</a:t>
            </a:r>
          </a:p>
        </p:txBody>
      </p:sp>
      <p:sp>
        <p:nvSpPr>
          <p:cNvPr id="57" name="TextBox 56"/>
          <p:cNvSpPr txBox="1"/>
          <p:nvPr/>
        </p:nvSpPr>
        <p:spPr>
          <a:xfrm>
            <a:off x="9835896" y="2862072"/>
            <a:ext cx="2029968" cy="310896"/>
          </a:xfrm>
          <a:prstGeom prst="rect">
            <a:avLst/>
          </a:prstGeom>
          <a:noFill/>
        </p:spPr>
        <p:txBody>
          <a:bodyPr wrap="none" lIns="0" rIns="0" tIns="0" bIns="0">
            <a:spAutoFit/>
          </a:bodyPr>
          <a:lstStyle/>
          <a:p>
            <a:pPr algn="l">
              <a:lnSpc>
                <a:spcPts val="2128"/>
              </a:lnSpc>
              <a:spcBef>
                <a:spcPts val="0"/>
              </a:spcBef>
              <a:spcAft>
                <a:spcPts val="0"/>
              </a:spcAft>
              <a:defRPr sz="1900" b="0">
                <a:solidFill>
                  <a:srgbClr val="182B3A"/>
                </a:solidFill>
                <a:latin typeface="Arial"/>
              </a:defRPr>
            </a:pPr>
            <a:r>
              <a:t>65 ÷ 13 = 5</a:t>
            </a:r>
          </a:p>
        </p:txBody>
      </p:sp>
      <p:sp>
        <p:nvSpPr>
          <p:cNvPr id="58" name="TextBox 57"/>
          <p:cNvSpPr txBox="1"/>
          <p:nvPr/>
        </p:nvSpPr>
        <p:spPr>
          <a:xfrm>
            <a:off x="9835896" y="3145536"/>
            <a:ext cx="2029968" cy="310896"/>
          </a:xfrm>
          <a:prstGeom prst="rect">
            <a:avLst/>
          </a:prstGeom>
          <a:noFill/>
        </p:spPr>
        <p:txBody>
          <a:bodyPr wrap="none" lIns="0" rIns="0" tIns="0" bIns="0">
            <a:spAutoFit/>
          </a:bodyPr>
          <a:lstStyle/>
          <a:p>
            <a:pPr algn="l">
              <a:lnSpc>
                <a:spcPts val="2128"/>
              </a:lnSpc>
              <a:spcBef>
                <a:spcPts val="0"/>
              </a:spcBef>
              <a:spcAft>
                <a:spcPts val="0"/>
              </a:spcAft>
              <a:defRPr sz="1900" b="0">
                <a:solidFill>
                  <a:srgbClr val="182B3A"/>
                </a:solidFill>
                <a:latin typeface="Arial"/>
              </a:defRPr>
            </a:pPr>
            <a:r>
              <a:t>Adults = 5 × 5 = 25</a:t>
            </a:r>
          </a:p>
        </p:txBody>
      </p:sp>
      <p:sp>
        <p:nvSpPr>
          <p:cNvPr id="59" name="TextBox 58"/>
          <p:cNvSpPr txBox="1"/>
          <p:nvPr/>
        </p:nvSpPr>
        <p:spPr>
          <a:xfrm>
            <a:off x="11975592" y="2578608"/>
            <a:ext cx="2029968" cy="310896"/>
          </a:xfrm>
          <a:prstGeom prst="rect">
            <a:avLst/>
          </a:prstGeom>
          <a:noFill/>
        </p:spPr>
        <p:txBody>
          <a:bodyPr wrap="none" lIns="0" rIns="0" tIns="0" bIns="0">
            <a:spAutoFit/>
          </a:bodyPr>
          <a:lstStyle/>
          <a:p>
            <a:pPr algn="l">
              <a:lnSpc>
                <a:spcPts val="2128"/>
              </a:lnSpc>
              <a:spcBef>
                <a:spcPts val="0"/>
              </a:spcBef>
              <a:spcAft>
                <a:spcPts val="0"/>
              </a:spcAft>
              <a:defRPr sz="1900" b="0">
                <a:solidFill>
                  <a:srgbClr val="182B3A"/>
                </a:solidFill>
                <a:latin typeface="Arial"/>
              </a:defRPr>
            </a:pPr>
            <a:r>
              <a:t>8 × 5 = 40</a:t>
            </a:r>
          </a:p>
        </p:txBody>
      </p:sp>
      <p:sp>
        <p:nvSpPr>
          <p:cNvPr id="60" name="TextBox 59"/>
          <p:cNvSpPr txBox="1"/>
          <p:nvPr/>
        </p:nvSpPr>
        <p:spPr>
          <a:xfrm>
            <a:off x="11975592" y="2862072"/>
            <a:ext cx="2029968" cy="310896"/>
          </a:xfrm>
          <a:prstGeom prst="rect">
            <a:avLst/>
          </a:prstGeom>
          <a:noFill/>
        </p:spPr>
        <p:txBody>
          <a:bodyPr wrap="none" lIns="0" rIns="0" tIns="0" bIns="0">
            <a:spAutoFit/>
          </a:bodyPr>
          <a:lstStyle/>
          <a:p>
            <a:pPr algn="l">
              <a:lnSpc>
                <a:spcPts val="2128"/>
              </a:lnSpc>
              <a:spcBef>
                <a:spcPts val="0"/>
              </a:spcBef>
              <a:spcAft>
                <a:spcPts val="0"/>
              </a:spcAft>
              <a:defRPr sz="1900" b="0">
                <a:solidFill>
                  <a:srgbClr val="182B3A"/>
                </a:solidFill>
                <a:latin typeface="Arial"/>
              </a:defRPr>
            </a:pPr>
            <a:r>
              <a:t>8 − 5 = 3</a:t>
            </a:r>
          </a:p>
        </p:txBody>
      </p:sp>
      <p:sp>
        <p:nvSpPr>
          <p:cNvPr id="61" name="TextBox 60"/>
          <p:cNvSpPr txBox="1"/>
          <p:nvPr/>
        </p:nvSpPr>
        <p:spPr>
          <a:xfrm>
            <a:off x="9835896" y="3392424"/>
            <a:ext cx="4206240" cy="256032"/>
          </a:xfrm>
          <a:prstGeom prst="rect">
            <a:avLst/>
          </a:prstGeom>
          <a:noFill/>
        </p:spPr>
        <p:txBody>
          <a:bodyPr wrap="none" lIns="0" rIns="0" tIns="0" bIns="0">
            <a:spAutoFit/>
          </a:bodyPr>
          <a:lstStyle/>
          <a:p>
            <a:pPr algn="l">
              <a:lnSpc>
                <a:spcPts val="2016"/>
              </a:lnSpc>
              <a:spcBef>
                <a:spcPts val="0"/>
              </a:spcBef>
              <a:spcAft>
                <a:spcPts val="0"/>
              </a:spcAft>
              <a:defRPr sz="1800" b="0">
                <a:solidFill>
                  <a:srgbClr val="182B3A"/>
                </a:solidFill>
                <a:latin typeface="Arial"/>
              </a:defRPr>
            </a:pPr>
            <a:r>
              <a:t>3 more children</a:t>
            </a:r>
          </a:p>
        </p:txBody>
      </p:sp>
      <p:sp>
        <p:nvSpPr>
          <p:cNvPr id="62" name="Rectangle 61"/>
          <p:cNvSpPr/>
          <p:nvPr/>
        </p:nvSpPr>
        <p:spPr>
          <a:xfrm>
            <a:off x="9625584" y="3721608"/>
            <a:ext cx="4588764" cy="1929384"/>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63" name="TextBox 62"/>
          <p:cNvSpPr txBox="1"/>
          <p:nvPr/>
        </p:nvSpPr>
        <p:spPr>
          <a:xfrm>
            <a:off x="9717024" y="3758184"/>
            <a:ext cx="4392168" cy="841248"/>
          </a:xfrm>
          <a:prstGeom prst="rect">
            <a:avLst/>
          </a:prstGeom>
          <a:noFill/>
        </p:spPr>
        <p:txBody>
          <a:bodyPr wrap="square" tIns="36576" bIns="36576" anchor="t">
            <a:spAutoFit/>
          </a:bodyPr>
          <a:lstStyle/>
          <a:p>
            <a:pPr>
              <a:lnSpc>
                <a:spcPts val="1944"/>
              </a:lnSpc>
              <a:spcBef>
                <a:spcPts val="0"/>
              </a:spcBef>
              <a:spcAft>
                <a:spcPts val="0"/>
              </a:spcAft>
              <a:defRPr sz="1800" b="1">
                <a:solidFill>
                  <a:srgbClr val="182B3A"/>
                </a:solidFill>
                <a:latin typeface="Arial"/>
              </a:defRPr>
            </a:pPr>
            <a:r>
              <a:t>2.  Two ribbon lengths are in ratio 3:8 and differ by 35 cm. Find their total length.</a:t>
            </a:r>
          </a:p>
        </p:txBody>
      </p:sp>
      <p:sp>
        <p:nvSpPr>
          <p:cNvPr id="64" name="TextBox 63"/>
          <p:cNvSpPr txBox="1"/>
          <p:nvPr/>
        </p:nvSpPr>
        <p:spPr>
          <a:xfrm>
            <a:off x="9835896" y="4581144"/>
            <a:ext cx="2029968" cy="310896"/>
          </a:xfrm>
          <a:prstGeom prst="rect">
            <a:avLst/>
          </a:prstGeom>
          <a:noFill/>
        </p:spPr>
        <p:txBody>
          <a:bodyPr wrap="none" lIns="0" rIns="0" tIns="0" bIns="0">
            <a:spAutoFit/>
          </a:bodyPr>
          <a:lstStyle/>
          <a:p>
            <a:pPr algn="l">
              <a:lnSpc>
                <a:spcPts val="2128"/>
              </a:lnSpc>
              <a:spcBef>
                <a:spcPts val="0"/>
              </a:spcBef>
              <a:spcAft>
                <a:spcPts val="0"/>
              </a:spcAft>
              <a:defRPr sz="1900" b="0">
                <a:solidFill>
                  <a:srgbClr val="182B3A"/>
                </a:solidFill>
                <a:latin typeface="Arial"/>
              </a:defRPr>
            </a:pPr>
            <a:r>
              <a:t>8 − 3 = 5 parts</a:t>
            </a:r>
          </a:p>
        </p:txBody>
      </p:sp>
      <p:sp>
        <p:nvSpPr>
          <p:cNvPr id="65" name="TextBox 64"/>
          <p:cNvSpPr txBox="1"/>
          <p:nvPr/>
        </p:nvSpPr>
        <p:spPr>
          <a:xfrm>
            <a:off x="9835896" y="4864608"/>
            <a:ext cx="2029968" cy="310896"/>
          </a:xfrm>
          <a:prstGeom prst="rect">
            <a:avLst/>
          </a:prstGeom>
          <a:noFill/>
        </p:spPr>
        <p:txBody>
          <a:bodyPr wrap="none" lIns="0" rIns="0" tIns="0" bIns="0">
            <a:spAutoFit/>
          </a:bodyPr>
          <a:lstStyle/>
          <a:p>
            <a:pPr algn="l">
              <a:lnSpc>
                <a:spcPts val="2128"/>
              </a:lnSpc>
              <a:spcBef>
                <a:spcPts val="0"/>
              </a:spcBef>
              <a:spcAft>
                <a:spcPts val="0"/>
              </a:spcAft>
              <a:defRPr sz="1900" b="0">
                <a:solidFill>
                  <a:srgbClr val="182B3A"/>
                </a:solidFill>
                <a:latin typeface="Arial"/>
              </a:defRPr>
            </a:pPr>
            <a:r>
              <a:t>35 ÷ 5 = 7</a:t>
            </a:r>
          </a:p>
        </p:txBody>
      </p:sp>
      <p:sp>
        <p:nvSpPr>
          <p:cNvPr id="66" name="TextBox 65"/>
          <p:cNvSpPr txBox="1"/>
          <p:nvPr/>
        </p:nvSpPr>
        <p:spPr>
          <a:xfrm>
            <a:off x="9835896" y="5148072"/>
            <a:ext cx="2029968" cy="310896"/>
          </a:xfrm>
          <a:prstGeom prst="rect">
            <a:avLst/>
          </a:prstGeom>
          <a:noFill/>
        </p:spPr>
        <p:txBody>
          <a:bodyPr wrap="none" lIns="0" rIns="0" tIns="0" bIns="0">
            <a:spAutoFit/>
          </a:bodyPr>
          <a:lstStyle/>
          <a:p>
            <a:pPr algn="l">
              <a:lnSpc>
                <a:spcPts val="2128"/>
              </a:lnSpc>
              <a:spcBef>
                <a:spcPts val="0"/>
              </a:spcBef>
              <a:spcAft>
                <a:spcPts val="0"/>
              </a:spcAft>
              <a:defRPr sz="1900" b="0">
                <a:solidFill>
                  <a:srgbClr val="182B3A"/>
                </a:solidFill>
                <a:latin typeface="Arial"/>
              </a:defRPr>
            </a:pPr>
            <a:r>
              <a:t>Short = 3 × 7 = 21</a:t>
            </a:r>
          </a:p>
        </p:txBody>
      </p:sp>
      <p:sp>
        <p:nvSpPr>
          <p:cNvPr id="67" name="TextBox 66"/>
          <p:cNvSpPr txBox="1"/>
          <p:nvPr/>
        </p:nvSpPr>
        <p:spPr>
          <a:xfrm>
            <a:off x="11975592" y="4581144"/>
            <a:ext cx="2029968" cy="310896"/>
          </a:xfrm>
          <a:prstGeom prst="rect">
            <a:avLst/>
          </a:prstGeom>
          <a:noFill/>
        </p:spPr>
        <p:txBody>
          <a:bodyPr wrap="none" lIns="0" rIns="0" tIns="0" bIns="0">
            <a:spAutoFit/>
          </a:bodyPr>
          <a:lstStyle/>
          <a:p>
            <a:pPr algn="l">
              <a:lnSpc>
                <a:spcPts val="2128"/>
              </a:lnSpc>
              <a:spcBef>
                <a:spcPts val="0"/>
              </a:spcBef>
              <a:spcAft>
                <a:spcPts val="0"/>
              </a:spcAft>
              <a:defRPr sz="1900" b="0">
                <a:solidFill>
                  <a:srgbClr val="182B3A"/>
                </a:solidFill>
                <a:latin typeface="Arial"/>
              </a:defRPr>
            </a:pPr>
            <a:r>
              <a:t>Long = 8 × 7 = 56</a:t>
            </a:r>
          </a:p>
        </p:txBody>
      </p:sp>
      <p:sp>
        <p:nvSpPr>
          <p:cNvPr id="68" name="TextBox 67"/>
          <p:cNvSpPr txBox="1"/>
          <p:nvPr/>
        </p:nvSpPr>
        <p:spPr>
          <a:xfrm>
            <a:off x="11975592" y="4864608"/>
            <a:ext cx="2029968" cy="310896"/>
          </a:xfrm>
          <a:prstGeom prst="rect">
            <a:avLst/>
          </a:prstGeom>
          <a:noFill/>
        </p:spPr>
        <p:txBody>
          <a:bodyPr wrap="none" lIns="0" rIns="0" tIns="0" bIns="0">
            <a:spAutoFit/>
          </a:bodyPr>
          <a:lstStyle/>
          <a:p>
            <a:pPr algn="l">
              <a:lnSpc>
                <a:spcPts val="2128"/>
              </a:lnSpc>
              <a:spcBef>
                <a:spcPts val="0"/>
              </a:spcBef>
              <a:spcAft>
                <a:spcPts val="0"/>
              </a:spcAft>
              <a:defRPr sz="1900" b="0">
                <a:solidFill>
                  <a:srgbClr val="182B3A"/>
                </a:solidFill>
                <a:latin typeface="Arial"/>
              </a:defRPr>
            </a:pPr>
            <a:r>
              <a:t>56 − 21 = 35</a:t>
            </a:r>
          </a:p>
        </p:txBody>
      </p:sp>
      <p:sp>
        <p:nvSpPr>
          <p:cNvPr id="69" name="TextBox 68"/>
          <p:cNvSpPr txBox="1"/>
          <p:nvPr/>
        </p:nvSpPr>
        <p:spPr>
          <a:xfrm>
            <a:off x="9835896" y="5394960"/>
            <a:ext cx="4206240" cy="256032"/>
          </a:xfrm>
          <a:prstGeom prst="rect">
            <a:avLst/>
          </a:prstGeom>
          <a:noFill/>
        </p:spPr>
        <p:txBody>
          <a:bodyPr wrap="none" lIns="0" rIns="0" tIns="0" bIns="0">
            <a:spAutoFit/>
          </a:bodyPr>
          <a:lstStyle/>
          <a:p>
            <a:pPr algn="l">
              <a:lnSpc>
                <a:spcPts val="2016"/>
              </a:lnSpc>
              <a:spcBef>
                <a:spcPts val="0"/>
              </a:spcBef>
              <a:spcAft>
                <a:spcPts val="0"/>
              </a:spcAft>
              <a:defRPr sz="1800" b="0">
                <a:solidFill>
                  <a:srgbClr val="182B3A"/>
                </a:solidFill>
                <a:latin typeface="Arial"/>
              </a:defRPr>
            </a:pPr>
            <a:r>
              <a:t>Total length = 35 cm</a:t>
            </a:r>
          </a:p>
        </p:txBody>
      </p:sp>
      <p:sp>
        <p:nvSpPr>
          <p:cNvPr id="70" name="Rectangle 69"/>
          <p:cNvSpPr/>
          <p:nvPr/>
        </p:nvSpPr>
        <p:spPr>
          <a:xfrm>
            <a:off x="9625584" y="5724144"/>
            <a:ext cx="4588764" cy="1929384"/>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71" name="TextBox 70"/>
          <p:cNvSpPr txBox="1"/>
          <p:nvPr/>
        </p:nvSpPr>
        <p:spPr>
          <a:xfrm>
            <a:off x="9717024" y="5760720"/>
            <a:ext cx="4392168" cy="841248"/>
          </a:xfrm>
          <a:prstGeom prst="rect">
            <a:avLst/>
          </a:prstGeom>
          <a:noFill/>
        </p:spPr>
        <p:txBody>
          <a:bodyPr wrap="square" tIns="36576" bIns="36576" anchor="t">
            <a:spAutoFit/>
          </a:bodyPr>
          <a:lstStyle/>
          <a:p>
            <a:pPr>
              <a:lnSpc>
                <a:spcPts val="1944"/>
              </a:lnSpc>
              <a:spcBef>
                <a:spcPts val="0"/>
              </a:spcBef>
              <a:spcAft>
                <a:spcPts val="0"/>
              </a:spcAft>
              <a:defRPr sz="1800" b="1">
                <a:solidFill>
                  <a:srgbClr val="182B3A"/>
                </a:solidFill>
                <a:latin typeface="Arial"/>
              </a:defRPr>
            </a:pPr>
            <a:r>
              <a:t>3.  A and B have tokens in ratio 7:4. A has 42. How many tokens in total?</a:t>
            </a:r>
          </a:p>
        </p:txBody>
      </p:sp>
      <p:sp>
        <p:nvSpPr>
          <p:cNvPr id="72" name="TextBox 71"/>
          <p:cNvSpPr txBox="1"/>
          <p:nvPr/>
        </p:nvSpPr>
        <p:spPr>
          <a:xfrm>
            <a:off x="9835896" y="6583679"/>
            <a:ext cx="2029968" cy="310896"/>
          </a:xfrm>
          <a:prstGeom prst="rect">
            <a:avLst/>
          </a:prstGeom>
          <a:noFill/>
        </p:spPr>
        <p:txBody>
          <a:bodyPr wrap="none" lIns="0" rIns="0" tIns="0" bIns="0">
            <a:spAutoFit/>
          </a:bodyPr>
          <a:lstStyle/>
          <a:p>
            <a:pPr algn="l">
              <a:lnSpc>
                <a:spcPts val="2128"/>
              </a:lnSpc>
              <a:spcBef>
                <a:spcPts val="0"/>
              </a:spcBef>
              <a:spcAft>
                <a:spcPts val="0"/>
              </a:spcAft>
              <a:defRPr sz="1900" b="0">
                <a:solidFill>
                  <a:srgbClr val="182B3A"/>
                </a:solidFill>
                <a:latin typeface="Arial"/>
              </a:defRPr>
            </a:pPr>
            <a:r>
              <a:t>42 ÷ 7 = 6</a:t>
            </a:r>
          </a:p>
        </p:txBody>
      </p:sp>
      <p:sp>
        <p:nvSpPr>
          <p:cNvPr id="73" name="TextBox 72"/>
          <p:cNvSpPr txBox="1"/>
          <p:nvPr/>
        </p:nvSpPr>
        <p:spPr>
          <a:xfrm>
            <a:off x="9835896" y="6867144"/>
            <a:ext cx="2029968" cy="310896"/>
          </a:xfrm>
          <a:prstGeom prst="rect">
            <a:avLst/>
          </a:prstGeom>
          <a:noFill/>
        </p:spPr>
        <p:txBody>
          <a:bodyPr wrap="none" lIns="0" rIns="0" tIns="0" bIns="0">
            <a:spAutoFit/>
          </a:bodyPr>
          <a:lstStyle/>
          <a:p>
            <a:pPr algn="l">
              <a:lnSpc>
                <a:spcPts val="2128"/>
              </a:lnSpc>
              <a:spcBef>
                <a:spcPts val="0"/>
              </a:spcBef>
              <a:spcAft>
                <a:spcPts val="0"/>
              </a:spcAft>
              <a:defRPr sz="1900" b="0">
                <a:solidFill>
                  <a:srgbClr val="182B3A"/>
                </a:solidFill>
                <a:latin typeface="Arial"/>
              </a:defRPr>
            </a:pPr>
            <a:r>
              <a:t>B = 4 × 6 = 24</a:t>
            </a:r>
          </a:p>
        </p:txBody>
      </p:sp>
      <p:sp>
        <p:nvSpPr>
          <p:cNvPr id="74" name="TextBox 73"/>
          <p:cNvSpPr txBox="1"/>
          <p:nvPr/>
        </p:nvSpPr>
        <p:spPr>
          <a:xfrm>
            <a:off x="11975592" y="6583679"/>
            <a:ext cx="2029968" cy="310896"/>
          </a:xfrm>
          <a:prstGeom prst="rect">
            <a:avLst/>
          </a:prstGeom>
          <a:noFill/>
        </p:spPr>
        <p:txBody>
          <a:bodyPr wrap="none" lIns="0" rIns="0" tIns="0" bIns="0">
            <a:spAutoFit/>
          </a:bodyPr>
          <a:lstStyle/>
          <a:p>
            <a:pPr algn="l">
              <a:lnSpc>
                <a:spcPts val="2128"/>
              </a:lnSpc>
              <a:spcBef>
                <a:spcPts val="0"/>
              </a:spcBef>
              <a:spcAft>
                <a:spcPts val="0"/>
              </a:spcAft>
              <a:defRPr sz="1900" b="0">
                <a:solidFill>
                  <a:srgbClr val="182B3A"/>
                </a:solidFill>
                <a:latin typeface="Arial"/>
              </a:defRPr>
            </a:pPr>
            <a:r>
              <a:t>42 + 4 = 46</a:t>
            </a:r>
          </a:p>
        </p:txBody>
      </p:sp>
      <p:sp>
        <p:nvSpPr>
          <p:cNvPr id="75" name="TextBox 74"/>
          <p:cNvSpPr txBox="1"/>
          <p:nvPr/>
        </p:nvSpPr>
        <p:spPr>
          <a:xfrm>
            <a:off x="9835896" y="7397496"/>
            <a:ext cx="4206240" cy="256032"/>
          </a:xfrm>
          <a:prstGeom prst="rect">
            <a:avLst/>
          </a:prstGeom>
          <a:noFill/>
        </p:spPr>
        <p:txBody>
          <a:bodyPr wrap="none" lIns="0" rIns="0" tIns="0" bIns="0">
            <a:spAutoFit/>
          </a:bodyPr>
          <a:lstStyle/>
          <a:p>
            <a:pPr algn="l">
              <a:lnSpc>
                <a:spcPts val="2016"/>
              </a:lnSpc>
              <a:spcBef>
                <a:spcPts val="0"/>
              </a:spcBef>
              <a:spcAft>
                <a:spcPts val="0"/>
              </a:spcAft>
              <a:defRPr sz="1800" b="0">
                <a:solidFill>
                  <a:srgbClr val="182B3A"/>
                </a:solidFill>
                <a:latin typeface="Arial"/>
              </a:defRPr>
            </a:pPr>
            <a:r>
              <a:t>Total = 46 tokens</a:t>
            </a:r>
          </a:p>
        </p:txBody>
      </p:sp>
    </p:spTree>
  </p:cSld>
  <p:clrMapOvr>
    <a:masterClrMapping/>
  </p:clrMapOvr>
</p:sld>
</file>

<file path=ppt/slides/slide64.xml><?xml version="1.0" encoding="utf-8"?>
<p:sld xmlns:a="http://schemas.openxmlformats.org/drawingml/2006/main" xmlns:p="http://schemas.openxmlformats.org/presentationml/2006/main" xmlns:r="http://schemas.openxmlformats.org/officeDocument/2006/relationships">
  <p:cSld>
    <p:bg>
      <p:bgPr>
        <a:solidFill>
          <a:srgbClr val="F7F8FA"/>
        </a:solidFill>
        <a:effectLst/>
      </p:bgPr>
    </p:bg>
    <p:spTree>
      <p:nvGrpSpPr>
        <p:cNvPr id="1" name=""/>
        <p:cNvGrpSpPr/>
        <p:nvPr/>
      </p:nvGrpSpPr>
      <p:grpSpPr/>
      <p:sp>
        <p:nvSpPr>
          <p:cNvPr id="2" name="Rectangle 1"/>
          <p:cNvSpPr/>
          <p:nvPr/>
        </p:nvSpPr>
        <p:spPr>
          <a:xfrm>
            <a:off x="0" y="0"/>
            <a:ext cx="14630400" cy="73152"/>
          </a:xfrm>
          <a:prstGeom prst="rect">
            <a:avLst/>
          </a:prstGeom>
          <a:solidFill>
            <a:srgbClr val="176B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320040" y="164592"/>
            <a:ext cx="13990320" cy="457200"/>
          </a:xfrm>
          <a:prstGeom prst="rect">
            <a:avLst/>
          </a:prstGeom>
          <a:noFill/>
        </p:spPr>
        <p:txBody>
          <a:bodyPr wrap="square" lIns="54864" tIns="22860" rIns="54864" bIns="22860">
            <a:spAutoFit/>
          </a:bodyPr>
          <a:lstStyle/>
          <a:p>
            <a:pPr>
              <a:lnSpc>
                <a:spcPts val="2940"/>
              </a:lnSpc>
              <a:spcBef>
                <a:spcPts val="0"/>
              </a:spcBef>
              <a:spcAft>
                <a:spcPts val="0"/>
              </a:spcAft>
              <a:defRPr sz="2800" b="1">
                <a:solidFill>
                  <a:srgbClr val="182B3A"/>
                </a:solidFill>
                <a:latin typeface="Arial"/>
              </a:defRPr>
            </a:pPr>
            <a:r>
              <a:t>Ratio: sharing and missing amounts</a:t>
            </a:r>
          </a:p>
        </p:txBody>
      </p:sp>
      <p:sp>
        <p:nvSpPr>
          <p:cNvPr id="4" name="TextBox 3"/>
          <p:cNvSpPr txBox="1"/>
          <p:nvPr/>
        </p:nvSpPr>
        <p:spPr>
          <a:xfrm>
            <a:off x="320040" y="704088"/>
            <a:ext cx="13990320" cy="347472"/>
          </a:xfrm>
          <a:prstGeom prst="rect">
            <a:avLst/>
          </a:prstGeom>
          <a:noFill/>
        </p:spPr>
        <p:txBody>
          <a:bodyPr wrap="square" lIns="54864" tIns="22860" rIns="54864" bIns="22860">
            <a:spAutoFit/>
          </a:bodyPr>
          <a:lstStyle/>
          <a:p>
            <a:pPr>
              <a:lnSpc>
                <a:spcPts val="1575"/>
              </a:lnSpc>
              <a:spcBef>
                <a:spcPts val="0"/>
              </a:spcBef>
              <a:spcAft>
                <a:spcPts val="0"/>
              </a:spcAft>
              <a:defRPr sz="1500" b="0">
                <a:solidFill>
                  <a:srgbClr val="526472"/>
                </a:solidFill>
                <a:latin typeface="Arial"/>
              </a:defRPr>
            </a:pPr>
            <a:r>
              <a:t>Independent practice 1 • Choose a column. Show your working and check your answers.</a:t>
            </a:r>
          </a:p>
        </p:txBody>
      </p:sp>
      <p:sp>
        <p:nvSpPr>
          <p:cNvPr id="5" name="TextBox 4"/>
          <p:cNvSpPr txBox="1"/>
          <p:nvPr/>
        </p:nvSpPr>
        <p:spPr>
          <a:xfrm>
            <a:off x="320040" y="7973568"/>
            <a:ext cx="10789920" cy="210312"/>
          </a:xfrm>
          <a:prstGeom prst="rect">
            <a:avLst/>
          </a:prstGeom>
          <a:noFill/>
        </p:spPr>
        <p:txBody>
          <a:bodyPr wrap="square" lIns="54864" tIns="22860" rIns="54864" bIns="22860">
            <a:spAutoFit/>
          </a:bodyPr>
          <a:lstStyle/>
          <a:p>
            <a:pPr>
              <a:lnSpc>
                <a:spcPts val="1155"/>
              </a:lnSpc>
              <a:spcBef>
                <a:spcPts val="0"/>
              </a:spcBef>
              <a:spcAft>
                <a:spcPts val="0"/>
              </a:spcAft>
              <a:defRPr sz="1100" b="0">
                <a:solidFill>
                  <a:srgbClr val="526472"/>
                </a:solidFill>
                <a:latin typeface="Arial"/>
              </a:defRPr>
            </a:pPr>
            <a:r>
              <a:t>GCSE Maths revision • No calculator • Show your working.</a:t>
            </a:r>
          </a:p>
        </p:txBody>
      </p:sp>
      <p:sp>
        <p:nvSpPr>
          <p:cNvPr id="6" name="TextBox 5"/>
          <p:cNvSpPr txBox="1"/>
          <p:nvPr/>
        </p:nvSpPr>
        <p:spPr>
          <a:xfrm>
            <a:off x="11155680" y="7973568"/>
            <a:ext cx="3108960" cy="210312"/>
          </a:xfrm>
          <a:prstGeom prst="rect">
            <a:avLst/>
          </a:prstGeom>
          <a:noFill/>
        </p:spPr>
        <p:txBody>
          <a:bodyPr wrap="square" lIns="54864" tIns="22860" rIns="54864" bIns="22860">
            <a:spAutoFit/>
          </a:bodyPr>
          <a:lstStyle/>
          <a:p>
            <a:pPr>
              <a:lnSpc>
                <a:spcPts val="1155"/>
              </a:lnSpc>
              <a:spcBef>
                <a:spcPts val="0"/>
              </a:spcBef>
              <a:spcAft>
                <a:spcPts val="0"/>
              </a:spcAft>
              <a:defRPr sz="1100" b="0">
                <a:solidFill>
                  <a:srgbClr val="526472"/>
                </a:solidFill>
                <a:latin typeface="Arial"/>
              </a:defRPr>
            </a:pPr>
            <a:r>
              <a:t>M04-S04</a:t>
            </a:r>
          </a:p>
        </p:txBody>
      </p:sp>
      <p:sp>
        <p:nvSpPr>
          <p:cNvPr id="7" name="Rectangle 6"/>
          <p:cNvSpPr/>
          <p:nvPr/>
        </p:nvSpPr>
        <p:spPr>
          <a:xfrm>
            <a:off x="320040" y="1115568"/>
            <a:ext cx="4640580" cy="420624"/>
          </a:xfrm>
          <a:prstGeom prst="rect">
            <a:avLst/>
          </a:prstGeom>
          <a:solidFill>
            <a:srgbClr val="176B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347472" y="1147572"/>
            <a:ext cx="4581144" cy="329184"/>
          </a:xfrm>
          <a:prstGeom prst="rect">
            <a:avLst/>
          </a:prstGeom>
          <a:noFill/>
        </p:spPr>
        <p:txBody>
          <a:bodyPr wrap="square" lIns="54864" tIns="22860" rIns="54864" bIns="22860">
            <a:spAutoFit/>
          </a:bodyPr>
          <a:lstStyle/>
          <a:p>
            <a:pPr>
              <a:lnSpc>
                <a:spcPts val="1995"/>
              </a:lnSpc>
              <a:spcBef>
                <a:spcPts val="0"/>
              </a:spcBef>
              <a:spcAft>
                <a:spcPts val="0"/>
              </a:spcAft>
              <a:defRPr sz="1900" b="1">
                <a:solidFill>
                  <a:srgbClr val="FFFFFF"/>
                </a:solidFill>
                <a:latin typeface="Arial"/>
              </a:defRPr>
            </a:pPr>
            <a:r>
              <a:t>Start</a:t>
            </a:r>
          </a:p>
        </p:txBody>
      </p:sp>
      <p:sp>
        <p:nvSpPr>
          <p:cNvPr id="9" name="Rectangle 8"/>
          <p:cNvSpPr/>
          <p:nvPr/>
        </p:nvSpPr>
        <p:spPr>
          <a:xfrm>
            <a:off x="4983480" y="1115568"/>
            <a:ext cx="4640580" cy="420624"/>
          </a:xfrm>
          <a:prstGeom prst="rect">
            <a:avLst/>
          </a:prstGeom>
          <a:solidFill>
            <a:srgbClr val="3559A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5010912" y="1147572"/>
            <a:ext cx="4581144" cy="329184"/>
          </a:xfrm>
          <a:prstGeom prst="rect">
            <a:avLst/>
          </a:prstGeom>
          <a:noFill/>
        </p:spPr>
        <p:txBody>
          <a:bodyPr wrap="square" lIns="54864" tIns="22860" rIns="54864" bIns="22860">
            <a:spAutoFit/>
          </a:bodyPr>
          <a:lstStyle/>
          <a:p>
            <a:pPr>
              <a:lnSpc>
                <a:spcPts val="1995"/>
              </a:lnSpc>
              <a:spcBef>
                <a:spcPts val="0"/>
              </a:spcBef>
              <a:spcAft>
                <a:spcPts val="0"/>
              </a:spcAft>
              <a:defRPr sz="1900" b="1">
                <a:solidFill>
                  <a:srgbClr val="FFFFFF"/>
                </a:solidFill>
                <a:latin typeface="Arial"/>
              </a:defRPr>
            </a:pPr>
            <a:r>
              <a:t>Build</a:t>
            </a:r>
          </a:p>
        </p:txBody>
      </p:sp>
      <p:sp>
        <p:nvSpPr>
          <p:cNvPr id="11" name="Rectangle 10"/>
          <p:cNvSpPr/>
          <p:nvPr/>
        </p:nvSpPr>
        <p:spPr>
          <a:xfrm>
            <a:off x="9646920" y="1115568"/>
            <a:ext cx="4640580" cy="420624"/>
          </a:xfrm>
          <a:prstGeom prst="rect">
            <a:avLst/>
          </a:prstGeom>
          <a:solidFill>
            <a:srgbClr val="754B8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9674352" y="1147572"/>
            <a:ext cx="4581144" cy="329184"/>
          </a:xfrm>
          <a:prstGeom prst="rect">
            <a:avLst/>
          </a:prstGeom>
          <a:noFill/>
        </p:spPr>
        <p:txBody>
          <a:bodyPr wrap="square" lIns="54864" tIns="22860" rIns="54864" bIns="22860">
            <a:spAutoFit/>
          </a:bodyPr>
          <a:lstStyle/>
          <a:p>
            <a:pPr>
              <a:lnSpc>
                <a:spcPts val="1995"/>
              </a:lnSpc>
              <a:spcBef>
                <a:spcPts val="0"/>
              </a:spcBef>
              <a:spcAft>
                <a:spcPts val="0"/>
              </a:spcAft>
              <a:defRPr sz="1900" b="1">
                <a:solidFill>
                  <a:srgbClr val="FFFFFF"/>
                </a:solidFill>
                <a:latin typeface="Arial"/>
              </a:defRPr>
            </a:pPr>
            <a:r>
              <a:t>Confidence</a:t>
            </a:r>
          </a:p>
        </p:txBody>
      </p:sp>
      <p:sp>
        <p:nvSpPr>
          <p:cNvPr id="13" name="Rectangle 12"/>
          <p:cNvSpPr/>
          <p:nvPr/>
        </p:nvSpPr>
        <p:spPr>
          <a:xfrm>
            <a:off x="320040" y="1581912"/>
            <a:ext cx="4640580" cy="1005840"/>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347472" y="1655064"/>
            <a:ext cx="274320" cy="365760"/>
          </a:xfrm>
          <a:prstGeom prst="rect">
            <a:avLst/>
          </a:prstGeom>
          <a:noFill/>
        </p:spPr>
        <p:txBody>
          <a:bodyPr wrap="square" lIns="54864" tIns="22860" rIns="54864" bIns="22860">
            <a:spAutoFit/>
          </a:bodyPr>
          <a:lstStyle/>
          <a:p>
            <a:pPr>
              <a:lnSpc>
                <a:spcPts val="1785"/>
              </a:lnSpc>
              <a:spcBef>
                <a:spcPts val="0"/>
              </a:spcBef>
              <a:spcAft>
                <a:spcPts val="0"/>
              </a:spcAft>
              <a:defRPr sz="1700" b="1">
                <a:solidFill>
                  <a:srgbClr val="176B73"/>
                </a:solidFill>
                <a:latin typeface="Arial"/>
              </a:defRPr>
            </a:pPr>
            <a:r>
              <a:t>1</a:t>
            </a:r>
          </a:p>
        </p:txBody>
      </p:sp>
      <p:sp>
        <p:nvSpPr>
          <p:cNvPr id="15" name="TextBox 14"/>
          <p:cNvSpPr txBox="1"/>
          <p:nvPr/>
        </p:nvSpPr>
        <p:spPr>
          <a:xfrm>
            <a:off x="649224" y="1641348"/>
            <a:ext cx="4261104" cy="886968"/>
          </a:xfrm>
          <a:prstGeom prst="rect">
            <a:avLst/>
          </a:prstGeom>
          <a:noFill/>
        </p:spPr>
        <p:txBody>
          <a:bodyPr wrap="square" lIns="54864" tIns="22860" rIns="54864" bIns="22860">
            <a:spAutoFit/>
          </a:bodyPr>
          <a:lstStyle/>
          <a:p>
            <a:pPr>
              <a:lnSpc>
                <a:spcPts val="1890"/>
              </a:lnSpc>
              <a:spcBef>
                <a:spcPts val="0"/>
              </a:spcBef>
              <a:spcAft>
                <a:spcPts val="0"/>
              </a:spcAft>
              <a:defRPr sz="1800" b="0">
                <a:solidFill>
                  <a:srgbClr val="182B3A"/>
                </a:solidFill>
                <a:latin typeface="Arial"/>
              </a:defRPr>
            </a:pPr>
            <a:r>
              <a:t>Sam and Jo share £60 in the ratio 2:3. How much does Jo receive?</a:t>
            </a:r>
          </a:p>
        </p:txBody>
      </p:sp>
      <p:sp>
        <p:nvSpPr>
          <p:cNvPr id="16" name="Rectangle 15"/>
          <p:cNvSpPr/>
          <p:nvPr/>
        </p:nvSpPr>
        <p:spPr>
          <a:xfrm>
            <a:off x="4983480" y="1581912"/>
            <a:ext cx="4640580" cy="1005840"/>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5010912" y="1655064"/>
            <a:ext cx="274320" cy="365760"/>
          </a:xfrm>
          <a:prstGeom prst="rect">
            <a:avLst/>
          </a:prstGeom>
          <a:noFill/>
        </p:spPr>
        <p:txBody>
          <a:bodyPr wrap="square" lIns="54864" tIns="22860" rIns="54864" bIns="22860">
            <a:spAutoFit/>
          </a:bodyPr>
          <a:lstStyle/>
          <a:p>
            <a:pPr>
              <a:lnSpc>
                <a:spcPts val="1785"/>
              </a:lnSpc>
              <a:spcBef>
                <a:spcPts val="0"/>
              </a:spcBef>
              <a:spcAft>
                <a:spcPts val="0"/>
              </a:spcAft>
              <a:defRPr sz="1700" b="1">
                <a:solidFill>
                  <a:srgbClr val="3559A2"/>
                </a:solidFill>
                <a:latin typeface="Arial"/>
              </a:defRPr>
            </a:pPr>
            <a:r>
              <a:t>1</a:t>
            </a:r>
          </a:p>
        </p:txBody>
      </p:sp>
      <p:sp>
        <p:nvSpPr>
          <p:cNvPr id="18" name="TextBox 17"/>
          <p:cNvSpPr txBox="1"/>
          <p:nvPr/>
        </p:nvSpPr>
        <p:spPr>
          <a:xfrm>
            <a:off x="5312664" y="1641348"/>
            <a:ext cx="4261104" cy="886968"/>
          </a:xfrm>
          <a:prstGeom prst="rect">
            <a:avLst/>
          </a:prstGeom>
          <a:noFill/>
        </p:spPr>
        <p:txBody>
          <a:bodyPr wrap="square" lIns="54864" tIns="22860" rIns="54864" bIns="22860">
            <a:spAutoFit/>
          </a:bodyPr>
          <a:lstStyle/>
          <a:p>
            <a:pPr>
              <a:lnSpc>
                <a:spcPts val="1890"/>
              </a:lnSpc>
              <a:spcBef>
                <a:spcPts val="0"/>
              </a:spcBef>
              <a:spcAft>
                <a:spcPts val="0"/>
              </a:spcAft>
              <a:defRPr sz="1800" b="0">
                <a:solidFill>
                  <a:srgbClr val="182B3A"/>
                </a:solidFill>
                <a:latin typeface="Arial"/>
              </a:defRPr>
            </a:pPr>
            <a:r>
              <a:t>Flour and sugar are mixed in the ratio 3:2. A recipe uses 180 g of flour. What is the total mass of the mixture?</a:t>
            </a:r>
          </a:p>
        </p:txBody>
      </p:sp>
      <p:sp>
        <p:nvSpPr>
          <p:cNvPr id="19" name="Rectangle 18"/>
          <p:cNvSpPr/>
          <p:nvPr/>
        </p:nvSpPr>
        <p:spPr>
          <a:xfrm>
            <a:off x="9646920" y="1581912"/>
            <a:ext cx="4640580" cy="1005840"/>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9674352" y="1655064"/>
            <a:ext cx="274320" cy="365760"/>
          </a:xfrm>
          <a:prstGeom prst="rect">
            <a:avLst/>
          </a:prstGeom>
          <a:noFill/>
        </p:spPr>
        <p:txBody>
          <a:bodyPr wrap="square" lIns="54864" tIns="22860" rIns="54864" bIns="22860">
            <a:spAutoFit/>
          </a:bodyPr>
          <a:lstStyle/>
          <a:p>
            <a:pPr>
              <a:lnSpc>
                <a:spcPts val="1785"/>
              </a:lnSpc>
              <a:spcBef>
                <a:spcPts val="0"/>
              </a:spcBef>
              <a:spcAft>
                <a:spcPts val="0"/>
              </a:spcAft>
              <a:defRPr sz="1700" b="1">
                <a:solidFill>
                  <a:srgbClr val="754B87"/>
                </a:solidFill>
                <a:latin typeface="Arial"/>
              </a:defRPr>
            </a:pPr>
            <a:r>
              <a:t>1</a:t>
            </a:r>
          </a:p>
        </p:txBody>
      </p:sp>
      <p:sp>
        <p:nvSpPr>
          <p:cNvPr id="21" name="TextBox 20"/>
          <p:cNvSpPr txBox="1"/>
          <p:nvPr/>
        </p:nvSpPr>
        <p:spPr>
          <a:xfrm>
            <a:off x="9976104" y="1641348"/>
            <a:ext cx="4261104" cy="886968"/>
          </a:xfrm>
          <a:prstGeom prst="rect">
            <a:avLst/>
          </a:prstGeom>
          <a:noFill/>
        </p:spPr>
        <p:txBody>
          <a:bodyPr wrap="square" lIns="54864" tIns="22860" rIns="54864" bIns="22860">
            <a:spAutoFit/>
          </a:bodyPr>
          <a:lstStyle/>
          <a:p>
            <a:pPr>
              <a:lnSpc>
                <a:spcPts val="1890"/>
              </a:lnSpc>
              <a:spcBef>
                <a:spcPts val="0"/>
              </a:spcBef>
              <a:spcAft>
                <a:spcPts val="0"/>
              </a:spcAft>
              <a:defRPr sz="1800" b="0">
                <a:solidFill>
                  <a:srgbClr val="182B3A"/>
                </a:solidFill>
                <a:latin typeface="Arial"/>
              </a:defRPr>
            </a:pPr>
            <a:r>
              <a:t>Two ropes have lengths in the ratio 1:3. The longer rope is 12 m longer than the shorter. Find their total length.</a:t>
            </a:r>
          </a:p>
        </p:txBody>
      </p:sp>
      <p:sp>
        <p:nvSpPr>
          <p:cNvPr id="22" name="Rectangle 21"/>
          <p:cNvSpPr/>
          <p:nvPr/>
        </p:nvSpPr>
        <p:spPr>
          <a:xfrm>
            <a:off x="320040" y="2587752"/>
            <a:ext cx="4640580" cy="1005840"/>
          </a:xfrm>
          <a:prstGeom prst="rect">
            <a:avLst/>
          </a:prstGeom>
          <a:solidFill>
            <a:srgbClr val="EDF6F5"/>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347472" y="2660904"/>
            <a:ext cx="274320" cy="365760"/>
          </a:xfrm>
          <a:prstGeom prst="rect">
            <a:avLst/>
          </a:prstGeom>
          <a:noFill/>
        </p:spPr>
        <p:txBody>
          <a:bodyPr wrap="square" lIns="54864" tIns="22860" rIns="54864" bIns="22860">
            <a:spAutoFit/>
          </a:bodyPr>
          <a:lstStyle/>
          <a:p>
            <a:pPr>
              <a:lnSpc>
                <a:spcPts val="1785"/>
              </a:lnSpc>
              <a:spcBef>
                <a:spcPts val="0"/>
              </a:spcBef>
              <a:spcAft>
                <a:spcPts val="0"/>
              </a:spcAft>
              <a:defRPr sz="1700" b="1">
                <a:solidFill>
                  <a:srgbClr val="176B73"/>
                </a:solidFill>
                <a:latin typeface="Arial"/>
              </a:defRPr>
            </a:pPr>
            <a:r>
              <a:t>2</a:t>
            </a:r>
          </a:p>
        </p:txBody>
      </p:sp>
      <p:sp>
        <p:nvSpPr>
          <p:cNvPr id="24" name="TextBox 23"/>
          <p:cNvSpPr txBox="1"/>
          <p:nvPr/>
        </p:nvSpPr>
        <p:spPr>
          <a:xfrm>
            <a:off x="649224" y="2647188"/>
            <a:ext cx="4261104" cy="886968"/>
          </a:xfrm>
          <a:prstGeom prst="rect">
            <a:avLst/>
          </a:prstGeom>
          <a:noFill/>
        </p:spPr>
        <p:txBody>
          <a:bodyPr wrap="square" lIns="54864" tIns="22860" rIns="54864" bIns="22860">
            <a:spAutoFit/>
          </a:bodyPr>
          <a:lstStyle/>
          <a:p>
            <a:pPr>
              <a:lnSpc>
                <a:spcPts val="1890"/>
              </a:lnSpc>
              <a:spcBef>
                <a:spcPts val="0"/>
              </a:spcBef>
              <a:spcAft>
                <a:spcPts val="0"/>
              </a:spcAft>
              <a:defRPr sz="1800" b="0">
                <a:solidFill>
                  <a:srgbClr val="182B3A"/>
                </a:solidFill>
                <a:latin typeface="Arial"/>
              </a:defRPr>
            </a:pPr>
            <a:r>
              <a:t>A drink contains 600 ml of juice and water in the ratio 1:4. How much juice is in the drink?</a:t>
            </a:r>
          </a:p>
        </p:txBody>
      </p:sp>
      <p:sp>
        <p:nvSpPr>
          <p:cNvPr id="25" name="Rectangle 24"/>
          <p:cNvSpPr/>
          <p:nvPr/>
        </p:nvSpPr>
        <p:spPr>
          <a:xfrm>
            <a:off x="4983480" y="2587752"/>
            <a:ext cx="4640580" cy="1005840"/>
          </a:xfrm>
          <a:prstGeom prst="rect">
            <a:avLst/>
          </a:prstGeom>
          <a:solidFill>
            <a:srgbClr val="EFF3FA"/>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TextBox 25"/>
          <p:cNvSpPr txBox="1"/>
          <p:nvPr/>
        </p:nvSpPr>
        <p:spPr>
          <a:xfrm>
            <a:off x="5010912" y="2660904"/>
            <a:ext cx="274320" cy="365760"/>
          </a:xfrm>
          <a:prstGeom prst="rect">
            <a:avLst/>
          </a:prstGeom>
          <a:noFill/>
        </p:spPr>
        <p:txBody>
          <a:bodyPr wrap="square" lIns="54864" tIns="22860" rIns="54864" bIns="22860">
            <a:spAutoFit/>
          </a:bodyPr>
          <a:lstStyle/>
          <a:p>
            <a:pPr>
              <a:lnSpc>
                <a:spcPts val="1785"/>
              </a:lnSpc>
              <a:spcBef>
                <a:spcPts val="0"/>
              </a:spcBef>
              <a:spcAft>
                <a:spcPts val="0"/>
              </a:spcAft>
              <a:defRPr sz="1700" b="1">
                <a:solidFill>
                  <a:srgbClr val="3559A2"/>
                </a:solidFill>
                <a:latin typeface="Arial"/>
              </a:defRPr>
            </a:pPr>
            <a:r>
              <a:t>2</a:t>
            </a:r>
          </a:p>
        </p:txBody>
      </p:sp>
      <p:sp>
        <p:nvSpPr>
          <p:cNvPr id="27" name="TextBox 26"/>
          <p:cNvSpPr txBox="1"/>
          <p:nvPr/>
        </p:nvSpPr>
        <p:spPr>
          <a:xfrm>
            <a:off x="5312664" y="2647188"/>
            <a:ext cx="4261104" cy="886968"/>
          </a:xfrm>
          <a:prstGeom prst="rect">
            <a:avLst/>
          </a:prstGeom>
          <a:noFill/>
        </p:spPr>
        <p:txBody>
          <a:bodyPr wrap="square" lIns="54864" tIns="22860" rIns="54864" bIns="22860">
            <a:spAutoFit/>
          </a:bodyPr>
          <a:lstStyle/>
          <a:p>
            <a:pPr>
              <a:lnSpc>
                <a:spcPts val="1890"/>
              </a:lnSpc>
              <a:spcBef>
                <a:spcPts val="0"/>
              </a:spcBef>
              <a:spcAft>
                <a:spcPts val="0"/>
              </a:spcAft>
              <a:defRPr sz="1800" b="0">
                <a:solidFill>
                  <a:srgbClr val="182B3A"/>
                </a:solidFill>
                <a:latin typeface="Arial"/>
              </a:defRPr>
            </a:pPr>
            <a:r>
              <a:t>Adult and child tickets sell in the ratio 5:3. There are 16 more adult tickets. How many child tickets are sold?</a:t>
            </a:r>
          </a:p>
        </p:txBody>
      </p:sp>
      <p:sp>
        <p:nvSpPr>
          <p:cNvPr id="28" name="Rectangle 27"/>
          <p:cNvSpPr/>
          <p:nvPr/>
        </p:nvSpPr>
        <p:spPr>
          <a:xfrm>
            <a:off x="9646920" y="2587752"/>
            <a:ext cx="4640580" cy="1005840"/>
          </a:xfrm>
          <a:prstGeom prst="rect">
            <a:avLst/>
          </a:prstGeom>
          <a:solidFill>
            <a:srgbClr val="F5F0F7"/>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TextBox 28"/>
          <p:cNvSpPr txBox="1"/>
          <p:nvPr/>
        </p:nvSpPr>
        <p:spPr>
          <a:xfrm>
            <a:off x="9674352" y="2660904"/>
            <a:ext cx="274320" cy="365760"/>
          </a:xfrm>
          <a:prstGeom prst="rect">
            <a:avLst/>
          </a:prstGeom>
          <a:noFill/>
        </p:spPr>
        <p:txBody>
          <a:bodyPr wrap="square" lIns="54864" tIns="22860" rIns="54864" bIns="22860">
            <a:spAutoFit/>
          </a:bodyPr>
          <a:lstStyle/>
          <a:p>
            <a:pPr>
              <a:lnSpc>
                <a:spcPts val="1785"/>
              </a:lnSpc>
              <a:spcBef>
                <a:spcPts val="0"/>
              </a:spcBef>
              <a:spcAft>
                <a:spcPts val="0"/>
              </a:spcAft>
              <a:defRPr sz="1700" b="1">
                <a:solidFill>
                  <a:srgbClr val="754B87"/>
                </a:solidFill>
                <a:latin typeface="Arial"/>
              </a:defRPr>
            </a:pPr>
            <a:r>
              <a:t>2</a:t>
            </a:r>
          </a:p>
        </p:txBody>
      </p:sp>
      <p:sp>
        <p:nvSpPr>
          <p:cNvPr id="30" name="TextBox 29"/>
          <p:cNvSpPr txBox="1"/>
          <p:nvPr/>
        </p:nvSpPr>
        <p:spPr>
          <a:xfrm>
            <a:off x="9976104" y="2647188"/>
            <a:ext cx="4261104" cy="886968"/>
          </a:xfrm>
          <a:prstGeom prst="rect">
            <a:avLst/>
          </a:prstGeom>
          <a:noFill/>
        </p:spPr>
        <p:txBody>
          <a:bodyPr wrap="square" lIns="54864" tIns="22860" rIns="54864" bIns="22860">
            <a:spAutoFit/>
          </a:bodyPr>
          <a:lstStyle/>
          <a:p>
            <a:pPr>
              <a:lnSpc>
                <a:spcPts val="1890"/>
              </a:lnSpc>
              <a:spcBef>
                <a:spcPts val="0"/>
              </a:spcBef>
              <a:spcAft>
                <a:spcPts val="0"/>
              </a:spcAft>
              <a:defRPr sz="1800" b="0">
                <a:solidFill>
                  <a:srgbClr val="182B3A"/>
                </a:solidFill>
                <a:latin typeface="Arial"/>
              </a:defRPr>
            </a:pPr>
            <a:r>
              <a:t>Red and blue counters are in the ratio 1:5. There are 24 fewer red than blue. Find the number of each colour.</a:t>
            </a:r>
          </a:p>
        </p:txBody>
      </p:sp>
      <p:sp>
        <p:nvSpPr>
          <p:cNvPr id="31" name="Rectangle 30"/>
          <p:cNvSpPr/>
          <p:nvPr/>
        </p:nvSpPr>
        <p:spPr>
          <a:xfrm>
            <a:off x="320040" y="3593592"/>
            <a:ext cx="4640580" cy="1005840"/>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TextBox 31"/>
          <p:cNvSpPr txBox="1"/>
          <p:nvPr/>
        </p:nvSpPr>
        <p:spPr>
          <a:xfrm>
            <a:off x="347472" y="3666744"/>
            <a:ext cx="274320" cy="365760"/>
          </a:xfrm>
          <a:prstGeom prst="rect">
            <a:avLst/>
          </a:prstGeom>
          <a:noFill/>
        </p:spPr>
        <p:txBody>
          <a:bodyPr wrap="square" lIns="54864" tIns="22860" rIns="54864" bIns="22860">
            <a:spAutoFit/>
          </a:bodyPr>
          <a:lstStyle/>
          <a:p>
            <a:pPr>
              <a:lnSpc>
                <a:spcPts val="1785"/>
              </a:lnSpc>
              <a:spcBef>
                <a:spcPts val="0"/>
              </a:spcBef>
              <a:spcAft>
                <a:spcPts val="0"/>
              </a:spcAft>
              <a:defRPr sz="1700" b="1">
                <a:solidFill>
                  <a:srgbClr val="176B73"/>
                </a:solidFill>
                <a:latin typeface="Arial"/>
              </a:defRPr>
            </a:pPr>
            <a:r>
              <a:t>3</a:t>
            </a:r>
          </a:p>
        </p:txBody>
      </p:sp>
      <p:sp>
        <p:nvSpPr>
          <p:cNvPr id="33" name="TextBox 32"/>
          <p:cNvSpPr txBox="1"/>
          <p:nvPr/>
        </p:nvSpPr>
        <p:spPr>
          <a:xfrm>
            <a:off x="649224" y="3653028"/>
            <a:ext cx="4261104" cy="886968"/>
          </a:xfrm>
          <a:prstGeom prst="rect">
            <a:avLst/>
          </a:prstGeom>
          <a:noFill/>
        </p:spPr>
        <p:txBody>
          <a:bodyPr wrap="square" lIns="54864" tIns="22860" rIns="54864" bIns="22860">
            <a:spAutoFit/>
          </a:bodyPr>
          <a:lstStyle/>
          <a:p>
            <a:pPr>
              <a:lnSpc>
                <a:spcPts val="1890"/>
              </a:lnSpc>
              <a:spcBef>
                <a:spcPts val="0"/>
              </a:spcBef>
              <a:spcAft>
                <a:spcPts val="0"/>
              </a:spcAft>
              <a:defRPr sz="1800" b="0">
                <a:solidFill>
                  <a:srgbClr val="182B3A"/>
                </a:solidFill>
                <a:latin typeface="Arial"/>
              </a:defRPr>
            </a:pPr>
            <a:r>
              <a:t>A 96 cm ribbon is cut into two pieces in the ratio 5:7. Find the length of each piece.</a:t>
            </a:r>
          </a:p>
        </p:txBody>
      </p:sp>
      <p:sp>
        <p:nvSpPr>
          <p:cNvPr id="34" name="Rectangle 33"/>
          <p:cNvSpPr/>
          <p:nvPr/>
        </p:nvSpPr>
        <p:spPr>
          <a:xfrm>
            <a:off x="4983480" y="3593592"/>
            <a:ext cx="4640580" cy="1005840"/>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 name="TextBox 34"/>
          <p:cNvSpPr txBox="1"/>
          <p:nvPr/>
        </p:nvSpPr>
        <p:spPr>
          <a:xfrm>
            <a:off x="5010912" y="3666744"/>
            <a:ext cx="274320" cy="365760"/>
          </a:xfrm>
          <a:prstGeom prst="rect">
            <a:avLst/>
          </a:prstGeom>
          <a:noFill/>
        </p:spPr>
        <p:txBody>
          <a:bodyPr wrap="square" lIns="54864" tIns="22860" rIns="54864" bIns="22860">
            <a:spAutoFit/>
          </a:bodyPr>
          <a:lstStyle/>
          <a:p>
            <a:pPr>
              <a:lnSpc>
                <a:spcPts val="1785"/>
              </a:lnSpc>
              <a:spcBef>
                <a:spcPts val="0"/>
              </a:spcBef>
              <a:spcAft>
                <a:spcPts val="0"/>
              </a:spcAft>
              <a:defRPr sz="1700" b="1">
                <a:solidFill>
                  <a:srgbClr val="3559A2"/>
                </a:solidFill>
                <a:latin typeface="Arial"/>
              </a:defRPr>
            </a:pPr>
            <a:r>
              <a:t>3</a:t>
            </a:r>
          </a:p>
        </p:txBody>
      </p:sp>
      <p:sp>
        <p:nvSpPr>
          <p:cNvPr id="36" name="TextBox 35"/>
          <p:cNvSpPr txBox="1"/>
          <p:nvPr/>
        </p:nvSpPr>
        <p:spPr>
          <a:xfrm>
            <a:off x="5312664" y="3653028"/>
            <a:ext cx="4261104" cy="886968"/>
          </a:xfrm>
          <a:prstGeom prst="rect">
            <a:avLst/>
          </a:prstGeom>
          <a:noFill/>
        </p:spPr>
        <p:txBody>
          <a:bodyPr wrap="square" lIns="54864" tIns="22860" rIns="54864" bIns="22860">
            <a:spAutoFit/>
          </a:bodyPr>
          <a:lstStyle/>
          <a:p>
            <a:pPr>
              <a:lnSpc>
                <a:spcPts val="1890"/>
              </a:lnSpc>
              <a:spcBef>
                <a:spcPts val="0"/>
              </a:spcBef>
              <a:spcAft>
                <a:spcPts val="0"/>
              </a:spcAft>
              <a:defRPr sz="1800" b="0">
                <a:solidFill>
                  <a:srgbClr val="182B3A"/>
                </a:solidFill>
                <a:latin typeface="Arial"/>
              </a:defRPr>
            </a:pPr>
            <a:r>
              <a:t>Ropes A and B have lengths in the ratio 4:7. Rope B is 15 m longer than rope A. How long is rope A?</a:t>
            </a:r>
          </a:p>
        </p:txBody>
      </p:sp>
      <p:sp>
        <p:nvSpPr>
          <p:cNvPr id="37" name="Rectangle 36"/>
          <p:cNvSpPr/>
          <p:nvPr/>
        </p:nvSpPr>
        <p:spPr>
          <a:xfrm>
            <a:off x="9646920" y="3593592"/>
            <a:ext cx="4640580" cy="1005840"/>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8" name="TextBox 37"/>
          <p:cNvSpPr txBox="1"/>
          <p:nvPr/>
        </p:nvSpPr>
        <p:spPr>
          <a:xfrm>
            <a:off x="9674352" y="3666744"/>
            <a:ext cx="274320" cy="365760"/>
          </a:xfrm>
          <a:prstGeom prst="rect">
            <a:avLst/>
          </a:prstGeom>
          <a:noFill/>
        </p:spPr>
        <p:txBody>
          <a:bodyPr wrap="square" lIns="54864" tIns="22860" rIns="54864" bIns="22860">
            <a:spAutoFit/>
          </a:bodyPr>
          <a:lstStyle/>
          <a:p>
            <a:pPr>
              <a:lnSpc>
                <a:spcPts val="1785"/>
              </a:lnSpc>
              <a:spcBef>
                <a:spcPts val="0"/>
              </a:spcBef>
              <a:spcAft>
                <a:spcPts val="0"/>
              </a:spcAft>
              <a:defRPr sz="1700" b="1">
                <a:solidFill>
                  <a:srgbClr val="754B87"/>
                </a:solidFill>
                <a:latin typeface="Arial"/>
              </a:defRPr>
            </a:pPr>
            <a:r>
              <a:t>3</a:t>
            </a:r>
          </a:p>
        </p:txBody>
      </p:sp>
      <p:sp>
        <p:nvSpPr>
          <p:cNvPr id="39" name="TextBox 38"/>
          <p:cNvSpPr txBox="1"/>
          <p:nvPr/>
        </p:nvSpPr>
        <p:spPr>
          <a:xfrm>
            <a:off x="9976104" y="3653028"/>
            <a:ext cx="4261104" cy="886968"/>
          </a:xfrm>
          <a:prstGeom prst="rect">
            <a:avLst/>
          </a:prstGeom>
          <a:noFill/>
        </p:spPr>
        <p:txBody>
          <a:bodyPr wrap="square" lIns="54864" tIns="22860" rIns="54864" bIns="22860">
            <a:spAutoFit/>
          </a:bodyPr>
          <a:lstStyle/>
          <a:p>
            <a:pPr>
              <a:lnSpc>
                <a:spcPts val="1890"/>
              </a:lnSpc>
              <a:spcBef>
                <a:spcPts val="0"/>
              </a:spcBef>
              <a:spcAft>
                <a:spcPts val="0"/>
              </a:spcAft>
              <a:defRPr sz="1800" b="0">
                <a:solidFill>
                  <a:srgbClr val="182B3A"/>
                </a:solidFill>
                <a:latin typeface="Arial"/>
              </a:defRPr>
            </a:pPr>
            <a:r>
              <a:t>Ava and Leo share £100 in the ratio 7:3. How much more does Ava receive than Leo?</a:t>
            </a:r>
          </a:p>
        </p:txBody>
      </p:sp>
      <p:sp>
        <p:nvSpPr>
          <p:cNvPr id="40" name="Rectangle 39"/>
          <p:cNvSpPr/>
          <p:nvPr/>
        </p:nvSpPr>
        <p:spPr>
          <a:xfrm>
            <a:off x="320040" y="4599432"/>
            <a:ext cx="4640580" cy="1005840"/>
          </a:xfrm>
          <a:prstGeom prst="rect">
            <a:avLst/>
          </a:prstGeom>
          <a:solidFill>
            <a:srgbClr val="EDF6F5"/>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1" name="TextBox 40"/>
          <p:cNvSpPr txBox="1"/>
          <p:nvPr/>
        </p:nvSpPr>
        <p:spPr>
          <a:xfrm>
            <a:off x="347472" y="4672584"/>
            <a:ext cx="274320" cy="365760"/>
          </a:xfrm>
          <a:prstGeom prst="rect">
            <a:avLst/>
          </a:prstGeom>
          <a:noFill/>
        </p:spPr>
        <p:txBody>
          <a:bodyPr wrap="square" lIns="54864" tIns="22860" rIns="54864" bIns="22860">
            <a:spAutoFit/>
          </a:bodyPr>
          <a:lstStyle/>
          <a:p>
            <a:pPr>
              <a:lnSpc>
                <a:spcPts val="1785"/>
              </a:lnSpc>
              <a:spcBef>
                <a:spcPts val="0"/>
              </a:spcBef>
              <a:spcAft>
                <a:spcPts val="0"/>
              </a:spcAft>
              <a:defRPr sz="1700" b="1">
                <a:solidFill>
                  <a:srgbClr val="176B73"/>
                </a:solidFill>
                <a:latin typeface="Arial"/>
              </a:defRPr>
            </a:pPr>
            <a:r>
              <a:t>4</a:t>
            </a:r>
          </a:p>
        </p:txBody>
      </p:sp>
      <p:sp>
        <p:nvSpPr>
          <p:cNvPr id="42" name="TextBox 41"/>
          <p:cNvSpPr txBox="1"/>
          <p:nvPr/>
        </p:nvSpPr>
        <p:spPr>
          <a:xfrm>
            <a:off x="649224" y="4658868"/>
            <a:ext cx="4261104" cy="886968"/>
          </a:xfrm>
          <a:prstGeom prst="rect">
            <a:avLst/>
          </a:prstGeom>
          <a:noFill/>
        </p:spPr>
        <p:txBody>
          <a:bodyPr wrap="square" lIns="54864" tIns="22860" rIns="54864" bIns="22860">
            <a:spAutoFit/>
          </a:bodyPr>
          <a:lstStyle/>
          <a:p>
            <a:pPr>
              <a:lnSpc>
                <a:spcPts val="1890"/>
              </a:lnSpc>
              <a:spcBef>
                <a:spcPts val="0"/>
              </a:spcBef>
              <a:spcAft>
                <a:spcPts val="0"/>
              </a:spcAft>
              <a:defRPr sz="1800" b="0">
                <a:solidFill>
                  <a:srgbClr val="182B3A"/>
                </a:solidFill>
                <a:latin typeface="Arial"/>
              </a:defRPr>
            </a:pPr>
            <a:r>
              <a:t>Red and blue beads are in the ratio 3:5. There are 12 more blue beads than red beads. How many blue beads are there?</a:t>
            </a:r>
          </a:p>
        </p:txBody>
      </p:sp>
      <p:sp>
        <p:nvSpPr>
          <p:cNvPr id="43" name="Rectangle 42"/>
          <p:cNvSpPr/>
          <p:nvPr/>
        </p:nvSpPr>
        <p:spPr>
          <a:xfrm>
            <a:off x="4983480" y="4599432"/>
            <a:ext cx="4640580" cy="1005840"/>
          </a:xfrm>
          <a:prstGeom prst="rect">
            <a:avLst/>
          </a:prstGeom>
          <a:solidFill>
            <a:srgbClr val="EFF3FA"/>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4" name="TextBox 43"/>
          <p:cNvSpPr txBox="1"/>
          <p:nvPr/>
        </p:nvSpPr>
        <p:spPr>
          <a:xfrm>
            <a:off x="5010912" y="4672584"/>
            <a:ext cx="274320" cy="365760"/>
          </a:xfrm>
          <a:prstGeom prst="rect">
            <a:avLst/>
          </a:prstGeom>
          <a:noFill/>
        </p:spPr>
        <p:txBody>
          <a:bodyPr wrap="square" lIns="54864" tIns="22860" rIns="54864" bIns="22860">
            <a:spAutoFit/>
          </a:bodyPr>
          <a:lstStyle/>
          <a:p>
            <a:pPr>
              <a:lnSpc>
                <a:spcPts val="1785"/>
              </a:lnSpc>
              <a:spcBef>
                <a:spcPts val="0"/>
              </a:spcBef>
              <a:spcAft>
                <a:spcPts val="0"/>
              </a:spcAft>
              <a:defRPr sz="1700" b="1">
                <a:solidFill>
                  <a:srgbClr val="3559A2"/>
                </a:solidFill>
                <a:latin typeface="Arial"/>
              </a:defRPr>
            </a:pPr>
            <a:r>
              <a:t>4</a:t>
            </a:r>
          </a:p>
        </p:txBody>
      </p:sp>
      <p:sp>
        <p:nvSpPr>
          <p:cNvPr id="45" name="TextBox 44"/>
          <p:cNvSpPr txBox="1"/>
          <p:nvPr/>
        </p:nvSpPr>
        <p:spPr>
          <a:xfrm>
            <a:off x="5312664" y="4658868"/>
            <a:ext cx="4261104" cy="886968"/>
          </a:xfrm>
          <a:prstGeom prst="rect">
            <a:avLst/>
          </a:prstGeom>
          <a:noFill/>
        </p:spPr>
        <p:txBody>
          <a:bodyPr wrap="square" lIns="54864" tIns="22860" rIns="54864" bIns="22860">
            <a:spAutoFit/>
          </a:bodyPr>
          <a:lstStyle/>
          <a:p>
            <a:pPr>
              <a:lnSpc>
                <a:spcPts val="1890"/>
              </a:lnSpc>
              <a:spcBef>
                <a:spcPts val="0"/>
              </a:spcBef>
              <a:spcAft>
                <a:spcPts val="0"/>
              </a:spcAft>
              <a:defRPr sz="1800" b="0">
                <a:solidFill>
                  <a:srgbClr val="182B3A"/>
                </a:solidFill>
                <a:latin typeface="Arial"/>
              </a:defRPr>
            </a:pPr>
            <a:r>
              <a:t>Mia and Ben receive money in the ratio 2:5. Mia receives £18. How much do they receive altogether?</a:t>
            </a:r>
          </a:p>
        </p:txBody>
      </p:sp>
      <p:sp>
        <p:nvSpPr>
          <p:cNvPr id="46" name="Rectangle 45"/>
          <p:cNvSpPr/>
          <p:nvPr/>
        </p:nvSpPr>
        <p:spPr>
          <a:xfrm>
            <a:off x="9646920" y="4599432"/>
            <a:ext cx="4640580" cy="1005840"/>
          </a:xfrm>
          <a:prstGeom prst="rect">
            <a:avLst/>
          </a:prstGeom>
          <a:solidFill>
            <a:srgbClr val="F5F0F7"/>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7" name="TextBox 46"/>
          <p:cNvSpPr txBox="1"/>
          <p:nvPr/>
        </p:nvSpPr>
        <p:spPr>
          <a:xfrm>
            <a:off x="9674352" y="4672584"/>
            <a:ext cx="274320" cy="365760"/>
          </a:xfrm>
          <a:prstGeom prst="rect">
            <a:avLst/>
          </a:prstGeom>
          <a:noFill/>
        </p:spPr>
        <p:txBody>
          <a:bodyPr wrap="square" lIns="54864" tIns="22860" rIns="54864" bIns="22860">
            <a:spAutoFit/>
          </a:bodyPr>
          <a:lstStyle/>
          <a:p>
            <a:pPr>
              <a:lnSpc>
                <a:spcPts val="1785"/>
              </a:lnSpc>
              <a:spcBef>
                <a:spcPts val="0"/>
              </a:spcBef>
              <a:spcAft>
                <a:spcPts val="0"/>
              </a:spcAft>
              <a:defRPr sz="1700" b="1">
                <a:solidFill>
                  <a:srgbClr val="754B87"/>
                </a:solidFill>
                <a:latin typeface="Arial"/>
              </a:defRPr>
            </a:pPr>
            <a:r>
              <a:t>4</a:t>
            </a:r>
          </a:p>
        </p:txBody>
      </p:sp>
      <p:sp>
        <p:nvSpPr>
          <p:cNvPr id="48" name="TextBox 47"/>
          <p:cNvSpPr txBox="1"/>
          <p:nvPr/>
        </p:nvSpPr>
        <p:spPr>
          <a:xfrm>
            <a:off x="9976104" y="4658868"/>
            <a:ext cx="4261104" cy="886968"/>
          </a:xfrm>
          <a:prstGeom prst="rect">
            <a:avLst/>
          </a:prstGeom>
          <a:noFill/>
        </p:spPr>
        <p:txBody>
          <a:bodyPr wrap="square" lIns="54864" tIns="22860" rIns="54864" bIns="22860">
            <a:spAutoFit/>
          </a:bodyPr>
          <a:lstStyle/>
          <a:p>
            <a:pPr>
              <a:lnSpc>
                <a:spcPts val="1890"/>
              </a:lnSpc>
              <a:spcBef>
                <a:spcPts val="0"/>
              </a:spcBef>
              <a:spcAft>
                <a:spcPts val="0"/>
              </a:spcAft>
              <a:defRPr sz="1800" b="0">
                <a:solidFill>
                  <a:srgbClr val="182B3A"/>
                </a:solidFill>
                <a:latin typeface="Arial"/>
              </a:defRPr>
            </a:pPr>
            <a:r>
              <a:t>Flour and sugar have masses in the ratio 5:4. There is 300 g of sugar. Find the total mass.</a:t>
            </a:r>
          </a:p>
        </p:txBody>
      </p:sp>
      <p:sp>
        <p:nvSpPr>
          <p:cNvPr id="49" name="Rectangle 48"/>
          <p:cNvSpPr/>
          <p:nvPr/>
        </p:nvSpPr>
        <p:spPr>
          <a:xfrm>
            <a:off x="320040" y="5605272"/>
            <a:ext cx="4640580" cy="1005840"/>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0" name="TextBox 49"/>
          <p:cNvSpPr txBox="1"/>
          <p:nvPr/>
        </p:nvSpPr>
        <p:spPr>
          <a:xfrm>
            <a:off x="347472" y="5678424"/>
            <a:ext cx="274320" cy="365760"/>
          </a:xfrm>
          <a:prstGeom prst="rect">
            <a:avLst/>
          </a:prstGeom>
          <a:noFill/>
        </p:spPr>
        <p:txBody>
          <a:bodyPr wrap="square" lIns="54864" tIns="22860" rIns="54864" bIns="22860">
            <a:spAutoFit/>
          </a:bodyPr>
          <a:lstStyle/>
          <a:p>
            <a:pPr>
              <a:lnSpc>
                <a:spcPts val="1785"/>
              </a:lnSpc>
              <a:spcBef>
                <a:spcPts val="0"/>
              </a:spcBef>
              <a:spcAft>
                <a:spcPts val="0"/>
              </a:spcAft>
              <a:defRPr sz="1700" b="1">
                <a:solidFill>
                  <a:srgbClr val="176B73"/>
                </a:solidFill>
                <a:latin typeface="Arial"/>
              </a:defRPr>
            </a:pPr>
            <a:r>
              <a:t>5</a:t>
            </a:r>
          </a:p>
        </p:txBody>
      </p:sp>
      <p:sp>
        <p:nvSpPr>
          <p:cNvPr id="51" name="TextBox 50"/>
          <p:cNvSpPr txBox="1"/>
          <p:nvPr/>
        </p:nvSpPr>
        <p:spPr>
          <a:xfrm>
            <a:off x="649224" y="5664708"/>
            <a:ext cx="4261104" cy="886968"/>
          </a:xfrm>
          <a:prstGeom prst="rect">
            <a:avLst/>
          </a:prstGeom>
          <a:noFill/>
        </p:spPr>
        <p:txBody>
          <a:bodyPr wrap="square" lIns="54864" tIns="22860" rIns="54864" bIns="22860">
            <a:spAutoFit/>
          </a:bodyPr>
          <a:lstStyle/>
          <a:p>
            <a:pPr>
              <a:lnSpc>
                <a:spcPts val="1890"/>
              </a:lnSpc>
              <a:spcBef>
                <a:spcPts val="0"/>
              </a:spcBef>
              <a:spcAft>
                <a:spcPts val="0"/>
              </a:spcAft>
              <a:defRPr sz="1800" b="0">
                <a:solidFill>
                  <a:srgbClr val="182B3A"/>
                </a:solidFill>
                <a:latin typeface="Arial"/>
              </a:defRPr>
            </a:pPr>
            <a:r>
              <a:t>Flour and sugar are mixed in the ratio 5:2. There is 150 g more flour than sugar. How much flour is there?</a:t>
            </a:r>
          </a:p>
        </p:txBody>
      </p:sp>
      <p:sp>
        <p:nvSpPr>
          <p:cNvPr id="52" name="Rectangle 51"/>
          <p:cNvSpPr/>
          <p:nvPr/>
        </p:nvSpPr>
        <p:spPr>
          <a:xfrm>
            <a:off x="4983480" y="5605272"/>
            <a:ext cx="4640580" cy="1005840"/>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3" name="TextBox 52"/>
          <p:cNvSpPr txBox="1"/>
          <p:nvPr/>
        </p:nvSpPr>
        <p:spPr>
          <a:xfrm>
            <a:off x="5010912" y="5678424"/>
            <a:ext cx="274320" cy="365760"/>
          </a:xfrm>
          <a:prstGeom prst="rect">
            <a:avLst/>
          </a:prstGeom>
          <a:noFill/>
        </p:spPr>
        <p:txBody>
          <a:bodyPr wrap="square" lIns="54864" tIns="22860" rIns="54864" bIns="22860">
            <a:spAutoFit/>
          </a:bodyPr>
          <a:lstStyle/>
          <a:p>
            <a:pPr>
              <a:lnSpc>
                <a:spcPts val="1785"/>
              </a:lnSpc>
              <a:spcBef>
                <a:spcPts val="0"/>
              </a:spcBef>
              <a:spcAft>
                <a:spcPts val="0"/>
              </a:spcAft>
              <a:defRPr sz="1700" b="1">
                <a:solidFill>
                  <a:srgbClr val="3559A2"/>
                </a:solidFill>
                <a:latin typeface="Arial"/>
              </a:defRPr>
            </a:pPr>
            <a:r>
              <a:t>5</a:t>
            </a:r>
          </a:p>
        </p:txBody>
      </p:sp>
      <p:sp>
        <p:nvSpPr>
          <p:cNvPr id="54" name="TextBox 53"/>
          <p:cNvSpPr txBox="1"/>
          <p:nvPr/>
        </p:nvSpPr>
        <p:spPr>
          <a:xfrm>
            <a:off x="5312664" y="5664708"/>
            <a:ext cx="4261104" cy="886968"/>
          </a:xfrm>
          <a:prstGeom prst="rect">
            <a:avLst/>
          </a:prstGeom>
          <a:noFill/>
        </p:spPr>
        <p:txBody>
          <a:bodyPr wrap="square" lIns="54864" tIns="22860" rIns="54864" bIns="22860">
            <a:spAutoFit/>
          </a:bodyPr>
          <a:lstStyle/>
          <a:p>
            <a:pPr>
              <a:lnSpc>
                <a:spcPts val="1890"/>
              </a:lnSpc>
              <a:spcBef>
                <a:spcPts val="0"/>
              </a:spcBef>
              <a:spcAft>
                <a:spcPts val="0"/>
              </a:spcAft>
              <a:defRPr sz="1800" b="0">
                <a:solidFill>
                  <a:srgbClr val="182B3A"/>
                </a:solidFill>
                <a:latin typeface="Arial"/>
              </a:defRPr>
            </a:pPr>
            <a:r>
              <a:t>Juice and water are mixed in the ratio 2:7. There are 63 litres of water. How much juice is needed?</a:t>
            </a:r>
          </a:p>
        </p:txBody>
      </p:sp>
      <p:sp>
        <p:nvSpPr>
          <p:cNvPr id="55" name="Rectangle 54"/>
          <p:cNvSpPr/>
          <p:nvPr/>
        </p:nvSpPr>
        <p:spPr>
          <a:xfrm>
            <a:off x="9646920" y="5605272"/>
            <a:ext cx="4640580" cy="1005840"/>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6" name="TextBox 55"/>
          <p:cNvSpPr txBox="1"/>
          <p:nvPr/>
        </p:nvSpPr>
        <p:spPr>
          <a:xfrm>
            <a:off x="9674352" y="5678424"/>
            <a:ext cx="274320" cy="365760"/>
          </a:xfrm>
          <a:prstGeom prst="rect">
            <a:avLst/>
          </a:prstGeom>
          <a:noFill/>
        </p:spPr>
        <p:txBody>
          <a:bodyPr wrap="square" lIns="54864" tIns="22860" rIns="54864" bIns="22860">
            <a:spAutoFit/>
          </a:bodyPr>
          <a:lstStyle/>
          <a:p>
            <a:pPr>
              <a:lnSpc>
                <a:spcPts val="1785"/>
              </a:lnSpc>
              <a:spcBef>
                <a:spcPts val="0"/>
              </a:spcBef>
              <a:spcAft>
                <a:spcPts val="0"/>
              </a:spcAft>
              <a:defRPr sz="1700" b="1">
                <a:solidFill>
                  <a:srgbClr val="754B87"/>
                </a:solidFill>
                <a:latin typeface="Arial"/>
              </a:defRPr>
            </a:pPr>
            <a:r>
              <a:t>5</a:t>
            </a:r>
          </a:p>
        </p:txBody>
      </p:sp>
      <p:sp>
        <p:nvSpPr>
          <p:cNvPr id="57" name="TextBox 56"/>
          <p:cNvSpPr txBox="1"/>
          <p:nvPr/>
        </p:nvSpPr>
        <p:spPr>
          <a:xfrm>
            <a:off x="9976104" y="5664708"/>
            <a:ext cx="4261104" cy="886968"/>
          </a:xfrm>
          <a:prstGeom prst="rect">
            <a:avLst/>
          </a:prstGeom>
          <a:noFill/>
        </p:spPr>
        <p:txBody>
          <a:bodyPr wrap="square" lIns="54864" tIns="22860" rIns="54864" bIns="22860">
            <a:spAutoFit/>
          </a:bodyPr>
          <a:lstStyle/>
          <a:p>
            <a:pPr>
              <a:lnSpc>
                <a:spcPts val="1890"/>
              </a:lnSpc>
              <a:spcBef>
                <a:spcPts val="0"/>
              </a:spcBef>
              <a:spcAft>
                <a:spcPts val="0"/>
              </a:spcAft>
              <a:defRPr sz="1800" b="0">
                <a:solidFill>
                  <a:srgbClr val="182B3A"/>
                </a:solidFill>
                <a:latin typeface="Arial"/>
              </a:defRPr>
            </a:pPr>
            <a:r>
              <a:t>A 1,400 ml drink has water and juice in the ratio 6:1. Find the volume of each ingredient.</a:t>
            </a:r>
          </a:p>
        </p:txBody>
      </p:sp>
      <p:sp>
        <p:nvSpPr>
          <p:cNvPr id="58" name="Rectangle 57"/>
          <p:cNvSpPr/>
          <p:nvPr/>
        </p:nvSpPr>
        <p:spPr>
          <a:xfrm>
            <a:off x="320040" y="6611112"/>
            <a:ext cx="4640580" cy="1005840"/>
          </a:xfrm>
          <a:prstGeom prst="rect">
            <a:avLst/>
          </a:prstGeom>
          <a:solidFill>
            <a:srgbClr val="EDF6F5"/>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9" name="TextBox 58"/>
          <p:cNvSpPr txBox="1"/>
          <p:nvPr/>
        </p:nvSpPr>
        <p:spPr>
          <a:xfrm>
            <a:off x="347472" y="6684264"/>
            <a:ext cx="274320" cy="365760"/>
          </a:xfrm>
          <a:prstGeom prst="rect">
            <a:avLst/>
          </a:prstGeom>
          <a:noFill/>
        </p:spPr>
        <p:txBody>
          <a:bodyPr wrap="square" lIns="54864" tIns="22860" rIns="54864" bIns="22860">
            <a:spAutoFit/>
          </a:bodyPr>
          <a:lstStyle/>
          <a:p>
            <a:pPr>
              <a:lnSpc>
                <a:spcPts val="1785"/>
              </a:lnSpc>
              <a:spcBef>
                <a:spcPts val="0"/>
              </a:spcBef>
              <a:spcAft>
                <a:spcPts val="0"/>
              </a:spcAft>
              <a:defRPr sz="1700" b="1">
                <a:solidFill>
                  <a:srgbClr val="176B73"/>
                </a:solidFill>
                <a:latin typeface="Arial"/>
              </a:defRPr>
            </a:pPr>
            <a:r>
              <a:t>6</a:t>
            </a:r>
          </a:p>
        </p:txBody>
      </p:sp>
      <p:sp>
        <p:nvSpPr>
          <p:cNvPr id="60" name="TextBox 59"/>
          <p:cNvSpPr txBox="1"/>
          <p:nvPr/>
        </p:nvSpPr>
        <p:spPr>
          <a:xfrm>
            <a:off x="649224" y="6670548"/>
            <a:ext cx="4261104" cy="886968"/>
          </a:xfrm>
          <a:prstGeom prst="rect">
            <a:avLst/>
          </a:prstGeom>
          <a:noFill/>
        </p:spPr>
        <p:txBody>
          <a:bodyPr wrap="square" lIns="54864" tIns="22860" rIns="54864" bIns="22860">
            <a:spAutoFit/>
          </a:bodyPr>
          <a:lstStyle/>
          <a:p>
            <a:pPr>
              <a:lnSpc>
                <a:spcPts val="1890"/>
              </a:lnSpc>
              <a:spcBef>
                <a:spcPts val="0"/>
              </a:spcBef>
              <a:spcAft>
                <a:spcPts val="0"/>
              </a:spcAft>
              <a:defRPr sz="1800" b="0">
                <a:solidFill>
                  <a:srgbClr val="182B3A"/>
                </a:solidFill>
                <a:latin typeface="Arial"/>
              </a:defRPr>
            </a:pPr>
            <a:r>
              <a:t>Practice and rest times are in the ratio 2:1. Practice lasts 36 minutes. How long is the rest?</a:t>
            </a:r>
          </a:p>
        </p:txBody>
      </p:sp>
      <p:sp>
        <p:nvSpPr>
          <p:cNvPr id="61" name="Rectangle 60"/>
          <p:cNvSpPr/>
          <p:nvPr/>
        </p:nvSpPr>
        <p:spPr>
          <a:xfrm>
            <a:off x="4983480" y="6611112"/>
            <a:ext cx="4640580" cy="1005840"/>
          </a:xfrm>
          <a:prstGeom prst="rect">
            <a:avLst/>
          </a:prstGeom>
          <a:solidFill>
            <a:srgbClr val="EFF3FA"/>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2" name="TextBox 61"/>
          <p:cNvSpPr txBox="1"/>
          <p:nvPr/>
        </p:nvSpPr>
        <p:spPr>
          <a:xfrm>
            <a:off x="5010912" y="6684264"/>
            <a:ext cx="274320" cy="365760"/>
          </a:xfrm>
          <a:prstGeom prst="rect">
            <a:avLst/>
          </a:prstGeom>
          <a:noFill/>
        </p:spPr>
        <p:txBody>
          <a:bodyPr wrap="square" lIns="54864" tIns="22860" rIns="54864" bIns="22860">
            <a:spAutoFit/>
          </a:bodyPr>
          <a:lstStyle/>
          <a:p>
            <a:pPr>
              <a:lnSpc>
                <a:spcPts val="1785"/>
              </a:lnSpc>
              <a:spcBef>
                <a:spcPts val="0"/>
              </a:spcBef>
              <a:spcAft>
                <a:spcPts val="0"/>
              </a:spcAft>
              <a:defRPr sz="1700" b="1">
                <a:solidFill>
                  <a:srgbClr val="3559A2"/>
                </a:solidFill>
                <a:latin typeface="Arial"/>
              </a:defRPr>
            </a:pPr>
            <a:r>
              <a:t>6</a:t>
            </a:r>
          </a:p>
        </p:txBody>
      </p:sp>
      <p:sp>
        <p:nvSpPr>
          <p:cNvPr id="63" name="TextBox 62"/>
          <p:cNvSpPr txBox="1"/>
          <p:nvPr/>
        </p:nvSpPr>
        <p:spPr>
          <a:xfrm>
            <a:off x="5312664" y="6670548"/>
            <a:ext cx="4261104" cy="886968"/>
          </a:xfrm>
          <a:prstGeom prst="rect">
            <a:avLst/>
          </a:prstGeom>
          <a:noFill/>
        </p:spPr>
        <p:txBody>
          <a:bodyPr wrap="square" lIns="54864" tIns="22860" rIns="54864" bIns="22860">
            <a:spAutoFit/>
          </a:bodyPr>
          <a:lstStyle/>
          <a:p>
            <a:pPr>
              <a:lnSpc>
                <a:spcPts val="1890"/>
              </a:lnSpc>
              <a:spcBef>
                <a:spcPts val="0"/>
              </a:spcBef>
              <a:spcAft>
                <a:spcPts val="0"/>
              </a:spcAft>
              <a:defRPr sz="1800" b="0">
                <a:solidFill>
                  <a:srgbClr val="182B3A"/>
                </a:solidFill>
                <a:latin typeface="Arial"/>
              </a:defRPr>
            </a:pPr>
            <a:r>
              <a:t>Travel and sightseeing take 55 minutes in total, in the ratio 3:8. How long is spent sightseeing?</a:t>
            </a:r>
          </a:p>
        </p:txBody>
      </p:sp>
      <p:sp>
        <p:nvSpPr>
          <p:cNvPr id="64" name="Rectangle 63"/>
          <p:cNvSpPr/>
          <p:nvPr/>
        </p:nvSpPr>
        <p:spPr>
          <a:xfrm>
            <a:off x="9646920" y="6611112"/>
            <a:ext cx="4640580" cy="1005840"/>
          </a:xfrm>
          <a:prstGeom prst="rect">
            <a:avLst/>
          </a:prstGeom>
          <a:solidFill>
            <a:srgbClr val="F5F0F7"/>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5" name="TextBox 64"/>
          <p:cNvSpPr txBox="1"/>
          <p:nvPr/>
        </p:nvSpPr>
        <p:spPr>
          <a:xfrm>
            <a:off x="9674352" y="6684264"/>
            <a:ext cx="274320" cy="365760"/>
          </a:xfrm>
          <a:prstGeom prst="rect">
            <a:avLst/>
          </a:prstGeom>
          <a:noFill/>
        </p:spPr>
        <p:txBody>
          <a:bodyPr wrap="square" lIns="54864" tIns="22860" rIns="54864" bIns="22860">
            <a:spAutoFit/>
          </a:bodyPr>
          <a:lstStyle/>
          <a:p>
            <a:pPr>
              <a:lnSpc>
                <a:spcPts val="1785"/>
              </a:lnSpc>
              <a:spcBef>
                <a:spcPts val="0"/>
              </a:spcBef>
              <a:spcAft>
                <a:spcPts val="0"/>
              </a:spcAft>
              <a:defRPr sz="1700" b="1">
                <a:solidFill>
                  <a:srgbClr val="754B87"/>
                </a:solidFill>
                <a:latin typeface="Arial"/>
              </a:defRPr>
            </a:pPr>
            <a:r>
              <a:t>6</a:t>
            </a:r>
          </a:p>
        </p:txBody>
      </p:sp>
      <p:sp>
        <p:nvSpPr>
          <p:cNvPr id="66" name="TextBox 65"/>
          <p:cNvSpPr txBox="1"/>
          <p:nvPr/>
        </p:nvSpPr>
        <p:spPr>
          <a:xfrm>
            <a:off x="9976104" y="6670548"/>
            <a:ext cx="4261104" cy="886968"/>
          </a:xfrm>
          <a:prstGeom prst="rect">
            <a:avLst/>
          </a:prstGeom>
          <a:noFill/>
        </p:spPr>
        <p:txBody>
          <a:bodyPr wrap="square" lIns="54864" tIns="22860" rIns="54864" bIns="22860">
            <a:spAutoFit/>
          </a:bodyPr>
          <a:lstStyle/>
          <a:p>
            <a:pPr>
              <a:lnSpc>
                <a:spcPts val="1890"/>
              </a:lnSpc>
              <a:spcBef>
                <a:spcPts val="0"/>
              </a:spcBef>
              <a:spcAft>
                <a:spcPts val="0"/>
              </a:spcAft>
              <a:defRPr sz="1800" b="0">
                <a:solidFill>
                  <a:srgbClr val="182B3A"/>
                </a:solidFill>
                <a:latin typeface="Arial"/>
              </a:defRPr>
            </a:pPr>
            <a:r>
              <a:t>Practice and rest times are in the ratio 6:5. Practice lasts 54 minutes. Find the total session time.</a:t>
            </a:r>
          </a:p>
        </p:txBody>
      </p:sp>
      <p:sp>
        <p:nvSpPr>
          <p:cNvPr id="67" name="Progression curved arrow: Thread 1 to Thread 2"/>
          <p:cNvSpPr/>
          <p:nvPr/>
        </p:nvSpPr>
        <p:spPr>
          <a:xfrm>
            <a:off x="4649723" y="7552294"/>
            <a:ext cx="621792" cy="314053"/>
          </a:xfrm>
          <a:custGeom>
            <a:avLst/>
            <a:gdLst/>
            <a:ahLst/>
            <a:cxnLst/>
            <a:rect l="0" t="0" r="100000" b="100000"/>
            <a:pathLst>
              <a:path w="100000" h="100000" fill="none">
                <a:moveTo>
                  <a:pt x="6970" y="48439"/>
                </a:moveTo>
                <a:cubicBezTo>
                  <a:pt x="40678" y="114499"/>
                  <a:pt x="73026" y="88145"/>
                  <a:pt x="93030" y="13799"/>
                </a:cubicBezTo>
              </a:path>
              <a:path w="100000" h="100000" fill="none">
                <a:moveTo>
                  <a:pt x="69018" y="40431"/>
                </a:moveTo>
                <a:lnTo>
                  <a:pt x="93030" y="13799"/>
                </a:lnTo>
                <a:lnTo>
                  <a:pt x="92217" y="66207"/>
                </a:lnTo>
              </a:path>
            </a:pathLst>
          </a:custGeom>
          <a:noFill/>
          <a:ln w="64449" cap="rnd">
            <a:solidFill>
              <a:schemeClr val="accent6">
                <a:lumMod val="60000"/>
                <a:lumOff val="40000"/>
              </a:schemeClr>
            </a:solidFill>
            <a:round/>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68" name="Progression curved arrow: Thread 2 to Thread 3"/>
          <p:cNvSpPr/>
          <p:nvPr/>
        </p:nvSpPr>
        <p:spPr>
          <a:xfrm>
            <a:off x="9265327" y="7543800"/>
            <a:ext cx="621792" cy="314053"/>
          </a:xfrm>
          <a:custGeom>
            <a:avLst/>
            <a:gdLst/>
            <a:ahLst/>
            <a:cxnLst/>
            <a:rect l="0" t="0" r="100000" b="100000"/>
            <a:pathLst>
              <a:path w="100000" h="100000" fill="none">
                <a:moveTo>
                  <a:pt x="6970" y="48439"/>
                </a:moveTo>
                <a:cubicBezTo>
                  <a:pt x="40678" y="114499"/>
                  <a:pt x="73026" y="88145"/>
                  <a:pt x="93030" y="13799"/>
                </a:cubicBezTo>
              </a:path>
              <a:path w="100000" h="100000" fill="none">
                <a:moveTo>
                  <a:pt x="69018" y="40431"/>
                </a:moveTo>
                <a:lnTo>
                  <a:pt x="93030" y="13799"/>
                </a:lnTo>
                <a:lnTo>
                  <a:pt x="92217" y="66207"/>
                </a:lnTo>
              </a:path>
            </a:pathLst>
          </a:custGeom>
          <a:noFill/>
          <a:ln w="64449" cap="rnd">
            <a:solidFill>
              <a:schemeClr val="accent6">
                <a:lumMod val="60000"/>
                <a:lumOff val="40000"/>
              </a:schemeClr>
            </a:solidFill>
            <a:round/>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Tree>
  </p:cSld>
  <p:clrMapOvr>
    <a:masterClrMapping/>
  </p:clrMapOvr>
</p:sld>
</file>

<file path=ppt/slides/slide65.xml><?xml version="1.0" encoding="utf-8"?>
<p:sld xmlns:a="http://schemas.openxmlformats.org/drawingml/2006/main" xmlns:p="http://schemas.openxmlformats.org/presentationml/2006/main" xmlns:r="http://schemas.openxmlformats.org/officeDocument/2006/relationships">
  <p:cSld>
    <p:bg>
      <p:bgPr>
        <a:solidFill>
          <a:srgbClr val="F7F8FA"/>
        </a:solidFill>
        <a:effectLst/>
      </p:bgPr>
    </p:bg>
    <p:spTree>
      <p:nvGrpSpPr>
        <p:cNvPr id="1" name=""/>
        <p:cNvGrpSpPr/>
        <p:nvPr/>
      </p:nvGrpSpPr>
      <p:grpSpPr/>
      <p:sp>
        <p:nvSpPr>
          <p:cNvPr id="2" name="Rectangle 1"/>
          <p:cNvSpPr/>
          <p:nvPr/>
        </p:nvSpPr>
        <p:spPr>
          <a:xfrm>
            <a:off x="0" y="0"/>
            <a:ext cx="14630400" cy="73152"/>
          </a:xfrm>
          <a:prstGeom prst="rect">
            <a:avLst/>
          </a:prstGeom>
          <a:solidFill>
            <a:srgbClr val="176B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320040" y="164592"/>
            <a:ext cx="13990320" cy="457200"/>
          </a:xfrm>
          <a:prstGeom prst="rect">
            <a:avLst/>
          </a:prstGeom>
          <a:noFill/>
        </p:spPr>
        <p:txBody>
          <a:bodyPr wrap="square" lIns="54864" tIns="22860" rIns="54864" bIns="22860">
            <a:spAutoFit/>
          </a:bodyPr>
          <a:lstStyle/>
          <a:p>
            <a:pPr>
              <a:lnSpc>
                <a:spcPts val="2940"/>
              </a:lnSpc>
              <a:spcBef>
                <a:spcPts val="0"/>
              </a:spcBef>
              <a:spcAft>
                <a:spcPts val="0"/>
              </a:spcAft>
              <a:defRPr sz="2800" b="1">
                <a:solidFill>
                  <a:srgbClr val="182B3A"/>
                </a:solidFill>
                <a:latin typeface="Arial"/>
              </a:defRPr>
            </a:pPr>
            <a:r>
              <a:t>Ratio: sharing and missing amounts</a:t>
            </a:r>
          </a:p>
        </p:txBody>
      </p:sp>
      <p:sp>
        <p:nvSpPr>
          <p:cNvPr id="4" name="TextBox 3"/>
          <p:cNvSpPr txBox="1"/>
          <p:nvPr/>
        </p:nvSpPr>
        <p:spPr>
          <a:xfrm>
            <a:off x="320040" y="704088"/>
            <a:ext cx="13990320" cy="347472"/>
          </a:xfrm>
          <a:prstGeom prst="rect">
            <a:avLst/>
          </a:prstGeom>
          <a:noFill/>
        </p:spPr>
        <p:txBody>
          <a:bodyPr wrap="square" lIns="54864" tIns="22860" rIns="54864" bIns="22860">
            <a:spAutoFit/>
          </a:bodyPr>
          <a:lstStyle/>
          <a:p>
            <a:pPr>
              <a:lnSpc>
                <a:spcPts val="1575"/>
              </a:lnSpc>
              <a:spcBef>
                <a:spcPts val="0"/>
              </a:spcBef>
              <a:spcAft>
                <a:spcPts val="0"/>
              </a:spcAft>
              <a:defRPr sz="1500" b="0">
                <a:solidFill>
                  <a:srgbClr val="526472"/>
                </a:solidFill>
                <a:latin typeface="Arial"/>
              </a:defRPr>
            </a:pPr>
            <a:r>
              <a:t>Independent practice 2 • Choose a column. Show your working and check your answers.</a:t>
            </a:r>
          </a:p>
        </p:txBody>
      </p:sp>
      <p:sp>
        <p:nvSpPr>
          <p:cNvPr id="5" name="TextBox 4"/>
          <p:cNvSpPr txBox="1"/>
          <p:nvPr/>
        </p:nvSpPr>
        <p:spPr>
          <a:xfrm>
            <a:off x="320040" y="7973568"/>
            <a:ext cx="10789920" cy="210312"/>
          </a:xfrm>
          <a:prstGeom prst="rect">
            <a:avLst/>
          </a:prstGeom>
          <a:noFill/>
        </p:spPr>
        <p:txBody>
          <a:bodyPr wrap="square" lIns="54864" tIns="22860" rIns="54864" bIns="22860">
            <a:spAutoFit/>
          </a:bodyPr>
          <a:lstStyle/>
          <a:p>
            <a:pPr>
              <a:lnSpc>
                <a:spcPts val="1155"/>
              </a:lnSpc>
              <a:spcBef>
                <a:spcPts val="0"/>
              </a:spcBef>
              <a:spcAft>
                <a:spcPts val="0"/>
              </a:spcAft>
              <a:defRPr sz="1100" b="0">
                <a:solidFill>
                  <a:srgbClr val="526472"/>
                </a:solidFill>
                <a:latin typeface="Arial"/>
              </a:defRPr>
            </a:pPr>
            <a:r>
              <a:t>GCSE Maths revision • No calculator • Show your working.</a:t>
            </a:r>
          </a:p>
        </p:txBody>
      </p:sp>
      <p:sp>
        <p:nvSpPr>
          <p:cNvPr id="6" name="TextBox 5"/>
          <p:cNvSpPr txBox="1"/>
          <p:nvPr/>
        </p:nvSpPr>
        <p:spPr>
          <a:xfrm>
            <a:off x="11155680" y="7973568"/>
            <a:ext cx="3108960" cy="210312"/>
          </a:xfrm>
          <a:prstGeom prst="rect">
            <a:avLst/>
          </a:prstGeom>
          <a:noFill/>
        </p:spPr>
        <p:txBody>
          <a:bodyPr wrap="square" lIns="54864" tIns="22860" rIns="54864" bIns="22860">
            <a:spAutoFit/>
          </a:bodyPr>
          <a:lstStyle/>
          <a:p>
            <a:pPr>
              <a:lnSpc>
                <a:spcPts val="1155"/>
              </a:lnSpc>
              <a:spcBef>
                <a:spcPts val="0"/>
              </a:spcBef>
              <a:spcAft>
                <a:spcPts val="0"/>
              </a:spcAft>
              <a:defRPr sz="1100" b="0">
                <a:solidFill>
                  <a:srgbClr val="526472"/>
                </a:solidFill>
                <a:latin typeface="Arial"/>
              </a:defRPr>
            </a:pPr>
            <a:r>
              <a:t>M04-S05</a:t>
            </a:r>
          </a:p>
        </p:txBody>
      </p:sp>
      <p:sp>
        <p:nvSpPr>
          <p:cNvPr id="7" name="Rectangle 6"/>
          <p:cNvSpPr/>
          <p:nvPr/>
        </p:nvSpPr>
        <p:spPr>
          <a:xfrm>
            <a:off x="320040" y="1115568"/>
            <a:ext cx="4640580" cy="420624"/>
          </a:xfrm>
          <a:prstGeom prst="rect">
            <a:avLst/>
          </a:prstGeom>
          <a:solidFill>
            <a:srgbClr val="176B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347472" y="1147572"/>
            <a:ext cx="4581144" cy="329184"/>
          </a:xfrm>
          <a:prstGeom prst="rect">
            <a:avLst/>
          </a:prstGeom>
          <a:noFill/>
        </p:spPr>
        <p:txBody>
          <a:bodyPr wrap="square" lIns="54864" tIns="22860" rIns="54864" bIns="22860">
            <a:spAutoFit/>
          </a:bodyPr>
          <a:lstStyle/>
          <a:p>
            <a:pPr>
              <a:lnSpc>
                <a:spcPts val="1995"/>
              </a:lnSpc>
              <a:spcBef>
                <a:spcPts val="0"/>
              </a:spcBef>
              <a:spcAft>
                <a:spcPts val="0"/>
              </a:spcAft>
              <a:defRPr sz="1900" b="1">
                <a:solidFill>
                  <a:srgbClr val="FFFFFF"/>
                </a:solidFill>
                <a:latin typeface="Arial"/>
              </a:defRPr>
            </a:pPr>
            <a:r>
              <a:t>Start</a:t>
            </a:r>
          </a:p>
        </p:txBody>
      </p:sp>
      <p:sp>
        <p:nvSpPr>
          <p:cNvPr id="9" name="Rectangle 8"/>
          <p:cNvSpPr/>
          <p:nvPr/>
        </p:nvSpPr>
        <p:spPr>
          <a:xfrm>
            <a:off x="4983480" y="1115568"/>
            <a:ext cx="4640580" cy="420624"/>
          </a:xfrm>
          <a:prstGeom prst="rect">
            <a:avLst/>
          </a:prstGeom>
          <a:solidFill>
            <a:srgbClr val="3559A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5010912" y="1147572"/>
            <a:ext cx="4581144" cy="329184"/>
          </a:xfrm>
          <a:prstGeom prst="rect">
            <a:avLst/>
          </a:prstGeom>
          <a:noFill/>
        </p:spPr>
        <p:txBody>
          <a:bodyPr wrap="square" lIns="54864" tIns="22860" rIns="54864" bIns="22860">
            <a:spAutoFit/>
          </a:bodyPr>
          <a:lstStyle/>
          <a:p>
            <a:pPr>
              <a:lnSpc>
                <a:spcPts val="1995"/>
              </a:lnSpc>
              <a:spcBef>
                <a:spcPts val="0"/>
              </a:spcBef>
              <a:spcAft>
                <a:spcPts val="0"/>
              </a:spcAft>
              <a:defRPr sz="1900" b="1">
                <a:solidFill>
                  <a:srgbClr val="FFFFFF"/>
                </a:solidFill>
                <a:latin typeface="Arial"/>
              </a:defRPr>
            </a:pPr>
            <a:r>
              <a:t>Build</a:t>
            </a:r>
          </a:p>
        </p:txBody>
      </p:sp>
      <p:sp>
        <p:nvSpPr>
          <p:cNvPr id="11" name="Rectangle 10"/>
          <p:cNvSpPr/>
          <p:nvPr/>
        </p:nvSpPr>
        <p:spPr>
          <a:xfrm>
            <a:off x="9646920" y="1115568"/>
            <a:ext cx="4640580" cy="420624"/>
          </a:xfrm>
          <a:prstGeom prst="rect">
            <a:avLst/>
          </a:prstGeom>
          <a:solidFill>
            <a:srgbClr val="754B8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9674352" y="1147572"/>
            <a:ext cx="4581144" cy="329184"/>
          </a:xfrm>
          <a:prstGeom prst="rect">
            <a:avLst/>
          </a:prstGeom>
          <a:noFill/>
        </p:spPr>
        <p:txBody>
          <a:bodyPr wrap="square" lIns="54864" tIns="22860" rIns="54864" bIns="22860">
            <a:spAutoFit/>
          </a:bodyPr>
          <a:lstStyle/>
          <a:p>
            <a:pPr>
              <a:lnSpc>
                <a:spcPts val="1995"/>
              </a:lnSpc>
              <a:spcBef>
                <a:spcPts val="0"/>
              </a:spcBef>
              <a:spcAft>
                <a:spcPts val="0"/>
              </a:spcAft>
              <a:defRPr sz="1900" b="1">
                <a:solidFill>
                  <a:srgbClr val="FFFFFF"/>
                </a:solidFill>
                <a:latin typeface="Arial"/>
              </a:defRPr>
            </a:pPr>
            <a:r>
              <a:t>Confidence</a:t>
            </a:r>
          </a:p>
        </p:txBody>
      </p:sp>
      <p:sp>
        <p:nvSpPr>
          <p:cNvPr id="13" name="Rectangle 12"/>
          <p:cNvSpPr/>
          <p:nvPr/>
        </p:nvSpPr>
        <p:spPr>
          <a:xfrm>
            <a:off x="320040" y="1581912"/>
            <a:ext cx="4640580" cy="1005840"/>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347472" y="1655064"/>
            <a:ext cx="274320" cy="365760"/>
          </a:xfrm>
          <a:prstGeom prst="rect">
            <a:avLst/>
          </a:prstGeom>
          <a:noFill/>
        </p:spPr>
        <p:txBody>
          <a:bodyPr wrap="square" lIns="54864" tIns="22860" rIns="54864" bIns="22860">
            <a:spAutoFit/>
          </a:bodyPr>
          <a:lstStyle/>
          <a:p>
            <a:pPr>
              <a:lnSpc>
                <a:spcPts val="1785"/>
              </a:lnSpc>
              <a:spcBef>
                <a:spcPts val="0"/>
              </a:spcBef>
              <a:spcAft>
                <a:spcPts val="0"/>
              </a:spcAft>
              <a:defRPr sz="1700" b="1">
                <a:solidFill>
                  <a:srgbClr val="176B73"/>
                </a:solidFill>
                <a:latin typeface="Arial"/>
              </a:defRPr>
            </a:pPr>
            <a:r>
              <a:t>1</a:t>
            </a:r>
          </a:p>
        </p:txBody>
      </p:sp>
      <p:sp>
        <p:nvSpPr>
          <p:cNvPr id="15" name="TextBox 14"/>
          <p:cNvSpPr txBox="1"/>
          <p:nvPr/>
        </p:nvSpPr>
        <p:spPr>
          <a:xfrm>
            <a:off x="649224" y="1641348"/>
            <a:ext cx="4261104" cy="886968"/>
          </a:xfrm>
          <a:prstGeom prst="rect">
            <a:avLst/>
          </a:prstGeom>
          <a:noFill/>
        </p:spPr>
        <p:txBody>
          <a:bodyPr wrap="square" lIns="54864" tIns="22860" rIns="54864" bIns="22860">
            <a:spAutoFit/>
          </a:bodyPr>
          <a:lstStyle/>
          <a:p>
            <a:pPr>
              <a:lnSpc>
                <a:spcPts val="1890"/>
              </a:lnSpc>
              <a:spcBef>
                <a:spcPts val="0"/>
              </a:spcBef>
              <a:spcAft>
                <a:spcPts val="0"/>
              </a:spcAft>
              <a:defRPr sz="1800" b="0">
                <a:solidFill>
                  <a:srgbClr val="182B3A"/>
                </a:solidFill>
                <a:latin typeface="Arial"/>
              </a:defRPr>
            </a:pPr>
            <a:r>
              <a:t>A 560 g snack mix contains raisins and nuts in the ratio 1:7. Find the mass of raisins.</a:t>
            </a:r>
          </a:p>
        </p:txBody>
      </p:sp>
      <p:sp>
        <p:nvSpPr>
          <p:cNvPr id="16" name="Rectangle 15"/>
          <p:cNvSpPr/>
          <p:nvPr/>
        </p:nvSpPr>
        <p:spPr>
          <a:xfrm>
            <a:off x="4983480" y="1581912"/>
            <a:ext cx="4640580" cy="1005840"/>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5010912" y="1655064"/>
            <a:ext cx="274320" cy="365760"/>
          </a:xfrm>
          <a:prstGeom prst="rect">
            <a:avLst/>
          </a:prstGeom>
          <a:noFill/>
        </p:spPr>
        <p:txBody>
          <a:bodyPr wrap="square" lIns="54864" tIns="22860" rIns="54864" bIns="22860">
            <a:spAutoFit/>
          </a:bodyPr>
          <a:lstStyle/>
          <a:p>
            <a:pPr>
              <a:lnSpc>
                <a:spcPts val="1785"/>
              </a:lnSpc>
              <a:spcBef>
                <a:spcPts val="0"/>
              </a:spcBef>
              <a:spcAft>
                <a:spcPts val="0"/>
              </a:spcAft>
              <a:defRPr sz="1700" b="1">
                <a:solidFill>
                  <a:srgbClr val="3559A2"/>
                </a:solidFill>
                <a:latin typeface="Arial"/>
              </a:defRPr>
            </a:pPr>
            <a:r>
              <a:t>1</a:t>
            </a:r>
          </a:p>
        </p:txBody>
      </p:sp>
      <p:sp>
        <p:nvSpPr>
          <p:cNvPr id="18" name="TextBox 17"/>
          <p:cNvSpPr txBox="1"/>
          <p:nvPr/>
        </p:nvSpPr>
        <p:spPr>
          <a:xfrm>
            <a:off x="5312664" y="1641348"/>
            <a:ext cx="4261104" cy="886968"/>
          </a:xfrm>
          <a:prstGeom prst="rect">
            <a:avLst/>
          </a:prstGeom>
          <a:noFill/>
        </p:spPr>
        <p:txBody>
          <a:bodyPr wrap="square" lIns="54864" tIns="22860" rIns="54864" bIns="22860">
            <a:spAutoFit/>
          </a:bodyPr>
          <a:lstStyle/>
          <a:p>
            <a:pPr>
              <a:lnSpc>
                <a:spcPts val="1890"/>
              </a:lnSpc>
              <a:spcBef>
                <a:spcPts val="0"/>
              </a:spcBef>
              <a:spcAft>
                <a:spcPts val="0"/>
              </a:spcAft>
              <a:defRPr sz="1800" b="0">
                <a:solidFill>
                  <a:srgbClr val="182B3A"/>
                </a:solidFill>
                <a:latin typeface="Arial"/>
              </a:defRPr>
            </a:pPr>
            <a:r>
              <a:t>A walk has uphill and level sections in the length ratio 1:8. The uphill section is 3 km. Find the total distance.</a:t>
            </a:r>
          </a:p>
        </p:txBody>
      </p:sp>
      <p:sp>
        <p:nvSpPr>
          <p:cNvPr id="19" name="Rectangle 18"/>
          <p:cNvSpPr/>
          <p:nvPr/>
        </p:nvSpPr>
        <p:spPr>
          <a:xfrm>
            <a:off x="9646920" y="1581912"/>
            <a:ext cx="4640580" cy="1005840"/>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9674352" y="1655064"/>
            <a:ext cx="274320" cy="365760"/>
          </a:xfrm>
          <a:prstGeom prst="rect">
            <a:avLst/>
          </a:prstGeom>
          <a:noFill/>
        </p:spPr>
        <p:txBody>
          <a:bodyPr wrap="square" lIns="54864" tIns="22860" rIns="54864" bIns="22860">
            <a:spAutoFit/>
          </a:bodyPr>
          <a:lstStyle/>
          <a:p>
            <a:pPr>
              <a:lnSpc>
                <a:spcPts val="1785"/>
              </a:lnSpc>
              <a:spcBef>
                <a:spcPts val="0"/>
              </a:spcBef>
              <a:spcAft>
                <a:spcPts val="0"/>
              </a:spcAft>
              <a:defRPr sz="1700" b="1">
                <a:solidFill>
                  <a:srgbClr val="754B87"/>
                </a:solidFill>
                <a:latin typeface="Arial"/>
              </a:defRPr>
            </a:pPr>
            <a:r>
              <a:t>1</a:t>
            </a:r>
          </a:p>
        </p:txBody>
      </p:sp>
      <p:sp>
        <p:nvSpPr>
          <p:cNvPr id="21" name="TextBox 20"/>
          <p:cNvSpPr txBox="1"/>
          <p:nvPr/>
        </p:nvSpPr>
        <p:spPr>
          <a:xfrm>
            <a:off x="9976104" y="1641348"/>
            <a:ext cx="4261104" cy="886968"/>
          </a:xfrm>
          <a:prstGeom prst="rect">
            <a:avLst/>
          </a:prstGeom>
          <a:noFill/>
        </p:spPr>
        <p:txBody>
          <a:bodyPr wrap="square" lIns="54864" tIns="22860" rIns="54864" bIns="22860">
            <a:spAutoFit/>
          </a:bodyPr>
          <a:lstStyle/>
          <a:p>
            <a:pPr>
              <a:lnSpc>
                <a:spcPts val="1890"/>
              </a:lnSpc>
              <a:spcBef>
                <a:spcPts val="0"/>
              </a:spcBef>
              <a:spcAft>
                <a:spcPts val="0"/>
              </a:spcAft>
              <a:defRPr sz="1800" b="0">
                <a:solidFill>
                  <a:srgbClr val="182B3A"/>
                </a:solidFill>
                <a:latin typeface="Arial"/>
              </a:defRPr>
            </a:pPr>
            <a:r>
              <a:t>Flour and butter have masses in the ratio 9:2. There is 280 g less butter than flour. Find the total mass.</a:t>
            </a:r>
          </a:p>
        </p:txBody>
      </p:sp>
      <p:sp>
        <p:nvSpPr>
          <p:cNvPr id="22" name="Rectangle 21"/>
          <p:cNvSpPr/>
          <p:nvPr/>
        </p:nvSpPr>
        <p:spPr>
          <a:xfrm>
            <a:off x="320040" y="2587752"/>
            <a:ext cx="4640580" cy="1005840"/>
          </a:xfrm>
          <a:prstGeom prst="rect">
            <a:avLst/>
          </a:prstGeom>
          <a:solidFill>
            <a:srgbClr val="EDF6F5"/>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347472" y="2660904"/>
            <a:ext cx="274320" cy="365760"/>
          </a:xfrm>
          <a:prstGeom prst="rect">
            <a:avLst/>
          </a:prstGeom>
          <a:noFill/>
        </p:spPr>
        <p:txBody>
          <a:bodyPr wrap="square" lIns="54864" tIns="22860" rIns="54864" bIns="22860">
            <a:spAutoFit/>
          </a:bodyPr>
          <a:lstStyle/>
          <a:p>
            <a:pPr>
              <a:lnSpc>
                <a:spcPts val="1785"/>
              </a:lnSpc>
              <a:spcBef>
                <a:spcPts val="0"/>
              </a:spcBef>
              <a:spcAft>
                <a:spcPts val="0"/>
              </a:spcAft>
              <a:defRPr sz="1700" b="1">
                <a:solidFill>
                  <a:srgbClr val="176B73"/>
                </a:solidFill>
                <a:latin typeface="Arial"/>
              </a:defRPr>
            </a:pPr>
            <a:r>
              <a:t>2</a:t>
            </a:r>
          </a:p>
        </p:txBody>
      </p:sp>
      <p:sp>
        <p:nvSpPr>
          <p:cNvPr id="24" name="TextBox 23"/>
          <p:cNvSpPr txBox="1"/>
          <p:nvPr/>
        </p:nvSpPr>
        <p:spPr>
          <a:xfrm>
            <a:off x="649224" y="2647188"/>
            <a:ext cx="4261104" cy="886968"/>
          </a:xfrm>
          <a:prstGeom prst="rect">
            <a:avLst/>
          </a:prstGeom>
          <a:noFill/>
        </p:spPr>
        <p:txBody>
          <a:bodyPr wrap="square" lIns="54864" tIns="22860" rIns="54864" bIns="22860">
            <a:spAutoFit/>
          </a:bodyPr>
          <a:lstStyle/>
          <a:p>
            <a:pPr>
              <a:lnSpc>
                <a:spcPts val="1890"/>
              </a:lnSpc>
              <a:spcBef>
                <a:spcPts val="0"/>
              </a:spcBef>
              <a:spcAft>
                <a:spcPts val="0"/>
              </a:spcAft>
              <a:defRPr sz="1800" b="0">
                <a:solidFill>
                  <a:srgbClr val="182B3A"/>
                </a:solidFill>
                <a:latin typeface="Arial"/>
              </a:defRPr>
            </a:pPr>
            <a:r>
              <a:t>Fences A and B have lengths in the ratio 7:6. Fence A is 9 m longer than fence B. How long is fence B?</a:t>
            </a:r>
          </a:p>
        </p:txBody>
      </p:sp>
      <p:sp>
        <p:nvSpPr>
          <p:cNvPr id="25" name="Rectangle 24"/>
          <p:cNvSpPr/>
          <p:nvPr/>
        </p:nvSpPr>
        <p:spPr>
          <a:xfrm>
            <a:off x="4983480" y="2587752"/>
            <a:ext cx="4640580" cy="1005840"/>
          </a:xfrm>
          <a:prstGeom prst="rect">
            <a:avLst/>
          </a:prstGeom>
          <a:solidFill>
            <a:srgbClr val="EFF3FA"/>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TextBox 25"/>
          <p:cNvSpPr txBox="1"/>
          <p:nvPr/>
        </p:nvSpPr>
        <p:spPr>
          <a:xfrm>
            <a:off x="5010912" y="2660904"/>
            <a:ext cx="274320" cy="365760"/>
          </a:xfrm>
          <a:prstGeom prst="rect">
            <a:avLst/>
          </a:prstGeom>
          <a:noFill/>
        </p:spPr>
        <p:txBody>
          <a:bodyPr wrap="square" lIns="54864" tIns="22860" rIns="54864" bIns="22860">
            <a:spAutoFit/>
          </a:bodyPr>
          <a:lstStyle/>
          <a:p>
            <a:pPr>
              <a:lnSpc>
                <a:spcPts val="1785"/>
              </a:lnSpc>
              <a:spcBef>
                <a:spcPts val="0"/>
              </a:spcBef>
              <a:spcAft>
                <a:spcPts val="0"/>
              </a:spcAft>
              <a:defRPr sz="1700" b="1">
                <a:solidFill>
                  <a:srgbClr val="3559A2"/>
                </a:solidFill>
                <a:latin typeface="Arial"/>
              </a:defRPr>
            </a:pPr>
            <a:r>
              <a:t>2</a:t>
            </a:r>
          </a:p>
        </p:txBody>
      </p:sp>
      <p:sp>
        <p:nvSpPr>
          <p:cNvPr id="27" name="TextBox 26"/>
          <p:cNvSpPr txBox="1"/>
          <p:nvPr/>
        </p:nvSpPr>
        <p:spPr>
          <a:xfrm>
            <a:off x="5312664" y="2647188"/>
            <a:ext cx="4261104" cy="886968"/>
          </a:xfrm>
          <a:prstGeom prst="rect">
            <a:avLst/>
          </a:prstGeom>
          <a:noFill/>
        </p:spPr>
        <p:txBody>
          <a:bodyPr wrap="square" lIns="54864" tIns="22860" rIns="54864" bIns="22860">
            <a:spAutoFit/>
          </a:bodyPr>
          <a:lstStyle/>
          <a:p>
            <a:pPr>
              <a:lnSpc>
                <a:spcPts val="1890"/>
              </a:lnSpc>
              <a:spcBef>
                <a:spcPts val="0"/>
              </a:spcBef>
              <a:spcAft>
                <a:spcPts val="0"/>
              </a:spcAft>
              <a:defRPr sz="1800" b="0">
                <a:solidFill>
                  <a:srgbClr val="182B3A"/>
                </a:solidFill>
                <a:latin typeface="Arial"/>
              </a:defRPr>
            </a:pPr>
            <a:r>
              <a:t>A 490 ml paint mix contains red and white paint in the ratio 3:4. Find the volume of red paint.</a:t>
            </a:r>
          </a:p>
        </p:txBody>
      </p:sp>
      <p:sp>
        <p:nvSpPr>
          <p:cNvPr id="28" name="Rectangle 27"/>
          <p:cNvSpPr/>
          <p:nvPr/>
        </p:nvSpPr>
        <p:spPr>
          <a:xfrm>
            <a:off x="9646920" y="2587752"/>
            <a:ext cx="4640580" cy="1005840"/>
          </a:xfrm>
          <a:prstGeom prst="rect">
            <a:avLst/>
          </a:prstGeom>
          <a:solidFill>
            <a:srgbClr val="F5F0F7"/>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TextBox 28"/>
          <p:cNvSpPr txBox="1"/>
          <p:nvPr/>
        </p:nvSpPr>
        <p:spPr>
          <a:xfrm>
            <a:off x="9674352" y="2660904"/>
            <a:ext cx="274320" cy="365760"/>
          </a:xfrm>
          <a:prstGeom prst="rect">
            <a:avLst/>
          </a:prstGeom>
          <a:noFill/>
        </p:spPr>
        <p:txBody>
          <a:bodyPr wrap="square" lIns="54864" tIns="22860" rIns="54864" bIns="22860">
            <a:spAutoFit/>
          </a:bodyPr>
          <a:lstStyle/>
          <a:p>
            <a:pPr>
              <a:lnSpc>
                <a:spcPts val="1785"/>
              </a:lnSpc>
              <a:spcBef>
                <a:spcPts val="0"/>
              </a:spcBef>
              <a:spcAft>
                <a:spcPts val="0"/>
              </a:spcAft>
              <a:defRPr sz="1700" b="1">
                <a:solidFill>
                  <a:srgbClr val="754B87"/>
                </a:solidFill>
                <a:latin typeface="Arial"/>
              </a:defRPr>
            </a:pPr>
            <a:r>
              <a:t>2</a:t>
            </a:r>
          </a:p>
        </p:txBody>
      </p:sp>
      <p:sp>
        <p:nvSpPr>
          <p:cNvPr id="30" name="TextBox 29"/>
          <p:cNvSpPr txBox="1"/>
          <p:nvPr/>
        </p:nvSpPr>
        <p:spPr>
          <a:xfrm>
            <a:off x="9976104" y="2647188"/>
            <a:ext cx="4261104" cy="886968"/>
          </a:xfrm>
          <a:prstGeom prst="rect">
            <a:avLst/>
          </a:prstGeom>
          <a:noFill/>
        </p:spPr>
        <p:txBody>
          <a:bodyPr wrap="square" lIns="54864" tIns="22860" rIns="54864" bIns="22860">
            <a:spAutoFit/>
          </a:bodyPr>
          <a:lstStyle/>
          <a:p>
            <a:pPr>
              <a:lnSpc>
                <a:spcPts val="1890"/>
              </a:lnSpc>
              <a:spcBef>
                <a:spcPts val="0"/>
              </a:spcBef>
              <a:spcAft>
                <a:spcPts val="0"/>
              </a:spcAft>
              <a:defRPr sz="1800" b="0">
                <a:solidFill>
                  <a:srgbClr val="182B3A"/>
                </a:solidFill>
                <a:latin typeface="Arial"/>
              </a:defRPr>
            </a:pPr>
            <a:r>
              <a:t>Tanks A and B hold water in the ratio 3:8. Tank A holds 15 litres. How much more water is in B than A?</a:t>
            </a:r>
          </a:p>
        </p:txBody>
      </p:sp>
      <p:sp>
        <p:nvSpPr>
          <p:cNvPr id="31" name="Rectangle 30"/>
          <p:cNvSpPr/>
          <p:nvPr/>
        </p:nvSpPr>
        <p:spPr>
          <a:xfrm>
            <a:off x="320040" y="3593592"/>
            <a:ext cx="4640580" cy="1005840"/>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TextBox 31"/>
          <p:cNvSpPr txBox="1"/>
          <p:nvPr/>
        </p:nvSpPr>
        <p:spPr>
          <a:xfrm>
            <a:off x="347472" y="3666744"/>
            <a:ext cx="274320" cy="365760"/>
          </a:xfrm>
          <a:prstGeom prst="rect">
            <a:avLst/>
          </a:prstGeom>
          <a:noFill/>
        </p:spPr>
        <p:txBody>
          <a:bodyPr wrap="square" lIns="54864" tIns="22860" rIns="54864" bIns="22860">
            <a:spAutoFit/>
          </a:bodyPr>
          <a:lstStyle/>
          <a:p>
            <a:pPr>
              <a:lnSpc>
                <a:spcPts val="1785"/>
              </a:lnSpc>
              <a:spcBef>
                <a:spcPts val="0"/>
              </a:spcBef>
              <a:spcAft>
                <a:spcPts val="0"/>
              </a:spcAft>
              <a:defRPr sz="1700" b="1">
                <a:solidFill>
                  <a:srgbClr val="176B73"/>
                </a:solidFill>
                <a:latin typeface="Arial"/>
              </a:defRPr>
            </a:pPr>
            <a:r>
              <a:t>3</a:t>
            </a:r>
          </a:p>
        </p:txBody>
      </p:sp>
      <p:sp>
        <p:nvSpPr>
          <p:cNvPr id="33" name="TextBox 32"/>
          <p:cNvSpPr txBox="1"/>
          <p:nvPr/>
        </p:nvSpPr>
        <p:spPr>
          <a:xfrm>
            <a:off x="649224" y="3653028"/>
            <a:ext cx="4261104" cy="886968"/>
          </a:xfrm>
          <a:prstGeom prst="rect">
            <a:avLst/>
          </a:prstGeom>
          <a:noFill/>
        </p:spPr>
        <p:txBody>
          <a:bodyPr wrap="square" lIns="54864" tIns="22860" rIns="54864" bIns="22860">
            <a:spAutoFit/>
          </a:bodyPr>
          <a:lstStyle/>
          <a:p>
            <a:pPr>
              <a:lnSpc>
                <a:spcPts val="1890"/>
              </a:lnSpc>
              <a:spcBef>
                <a:spcPts val="0"/>
              </a:spcBef>
              <a:spcAft>
                <a:spcPts val="0"/>
              </a:spcAft>
              <a:defRPr sz="1800" b="0">
                <a:solidFill>
                  <a:srgbClr val="182B3A"/>
                </a:solidFill>
                <a:latin typeface="Arial"/>
              </a:defRPr>
            </a:pPr>
            <a:r>
              <a:t>A 45-minute lesson has instruction and practice in the ratio 1:2. How long is spent practising?</a:t>
            </a:r>
          </a:p>
        </p:txBody>
      </p:sp>
      <p:sp>
        <p:nvSpPr>
          <p:cNvPr id="34" name="Rectangle 33"/>
          <p:cNvSpPr/>
          <p:nvPr/>
        </p:nvSpPr>
        <p:spPr>
          <a:xfrm>
            <a:off x="4983480" y="3593592"/>
            <a:ext cx="4640580" cy="1005840"/>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 name="TextBox 34"/>
          <p:cNvSpPr txBox="1"/>
          <p:nvPr/>
        </p:nvSpPr>
        <p:spPr>
          <a:xfrm>
            <a:off x="5010912" y="3666744"/>
            <a:ext cx="274320" cy="365760"/>
          </a:xfrm>
          <a:prstGeom prst="rect">
            <a:avLst/>
          </a:prstGeom>
          <a:noFill/>
        </p:spPr>
        <p:txBody>
          <a:bodyPr wrap="square" lIns="54864" tIns="22860" rIns="54864" bIns="22860">
            <a:spAutoFit/>
          </a:bodyPr>
          <a:lstStyle/>
          <a:p>
            <a:pPr>
              <a:lnSpc>
                <a:spcPts val="1785"/>
              </a:lnSpc>
              <a:spcBef>
                <a:spcPts val="0"/>
              </a:spcBef>
              <a:spcAft>
                <a:spcPts val="0"/>
              </a:spcAft>
              <a:defRPr sz="1700" b="1">
                <a:solidFill>
                  <a:srgbClr val="3559A2"/>
                </a:solidFill>
                <a:latin typeface="Arial"/>
              </a:defRPr>
            </a:pPr>
            <a:r>
              <a:t>3</a:t>
            </a:r>
          </a:p>
        </p:txBody>
      </p:sp>
      <p:sp>
        <p:nvSpPr>
          <p:cNvPr id="36" name="TextBox 35"/>
          <p:cNvSpPr txBox="1"/>
          <p:nvPr/>
        </p:nvSpPr>
        <p:spPr>
          <a:xfrm>
            <a:off x="5312664" y="3653028"/>
            <a:ext cx="4261104" cy="886968"/>
          </a:xfrm>
          <a:prstGeom prst="rect">
            <a:avLst/>
          </a:prstGeom>
          <a:noFill/>
        </p:spPr>
        <p:txBody>
          <a:bodyPr wrap="square" lIns="54864" tIns="22860" rIns="54864" bIns="22860">
            <a:spAutoFit/>
          </a:bodyPr>
          <a:lstStyle/>
          <a:p>
            <a:pPr>
              <a:lnSpc>
                <a:spcPts val="1890"/>
              </a:lnSpc>
              <a:spcBef>
                <a:spcPts val="0"/>
              </a:spcBef>
              <a:spcAft>
                <a:spcPts val="0"/>
              </a:spcAft>
              <a:defRPr sz="1800" b="0">
                <a:solidFill>
                  <a:srgbClr val="182B3A"/>
                </a:solidFill>
                <a:latin typeface="Arial"/>
              </a:defRPr>
            </a:pPr>
            <a:r>
              <a:t>Eve and Max share money in the ratio 8:5. Eve gets £21 more than Max. How much does Max get?</a:t>
            </a:r>
          </a:p>
        </p:txBody>
      </p:sp>
      <p:sp>
        <p:nvSpPr>
          <p:cNvPr id="37" name="Rectangle 36"/>
          <p:cNvSpPr/>
          <p:nvPr/>
        </p:nvSpPr>
        <p:spPr>
          <a:xfrm>
            <a:off x="9646920" y="3593592"/>
            <a:ext cx="4640580" cy="1005840"/>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8" name="TextBox 37"/>
          <p:cNvSpPr txBox="1"/>
          <p:nvPr/>
        </p:nvSpPr>
        <p:spPr>
          <a:xfrm>
            <a:off x="9674352" y="3666744"/>
            <a:ext cx="274320" cy="365760"/>
          </a:xfrm>
          <a:prstGeom prst="rect">
            <a:avLst/>
          </a:prstGeom>
          <a:noFill/>
        </p:spPr>
        <p:txBody>
          <a:bodyPr wrap="square" lIns="54864" tIns="22860" rIns="54864" bIns="22860">
            <a:spAutoFit/>
          </a:bodyPr>
          <a:lstStyle/>
          <a:p>
            <a:pPr>
              <a:lnSpc>
                <a:spcPts val="1785"/>
              </a:lnSpc>
              <a:spcBef>
                <a:spcPts val="0"/>
              </a:spcBef>
              <a:spcAft>
                <a:spcPts val="0"/>
              </a:spcAft>
              <a:defRPr sz="1700" b="1">
                <a:solidFill>
                  <a:srgbClr val="754B87"/>
                </a:solidFill>
                <a:latin typeface="Arial"/>
              </a:defRPr>
            </a:pPr>
            <a:r>
              <a:t>3</a:t>
            </a:r>
          </a:p>
        </p:txBody>
      </p:sp>
      <p:sp>
        <p:nvSpPr>
          <p:cNvPr id="39" name="TextBox 38"/>
          <p:cNvSpPr txBox="1"/>
          <p:nvPr/>
        </p:nvSpPr>
        <p:spPr>
          <a:xfrm>
            <a:off x="9976104" y="3653028"/>
            <a:ext cx="4261104" cy="886968"/>
          </a:xfrm>
          <a:prstGeom prst="rect">
            <a:avLst/>
          </a:prstGeom>
          <a:noFill/>
        </p:spPr>
        <p:txBody>
          <a:bodyPr wrap="square" lIns="54864" tIns="22860" rIns="54864" bIns="22860">
            <a:spAutoFit/>
          </a:bodyPr>
          <a:lstStyle/>
          <a:p>
            <a:pPr>
              <a:lnSpc>
                <a:spcPts val="1890"/>
              </a:lnSpc>
              <a:spcBef>
                <a:spcPts val="0"/>
              </a:spcBef>
              <a:spcAft>
                <a:spcPts val="0"/>
              </a:spcAft>
              <a:defRPr sz="1800" b="0">
                <a:solidFill>
                  <a:srgbClr val="182B3A"/>
                </a:solidFill>
                <a:latin typeface="Arial"/>
              </a:defRPr>
            </a:pPr>
            <a:r>
              <a:t>Reading and writing take 78 minutes in total, in the ratio 4:9. Find both times.</a:t>
            </a:r>
          </a:p>
        </p:txBody>
      </p:sp>
      <p:sp>
        <p:nvSpPr>
          <p:cNvPr id="40" name="Rectangle 39"/>
          <p:cNvSpPr/>
          <p:nvPr/>
        </p:nvSpPr>
        <p:spPr>
          <a:xfrm>
            <a:off x="320040" y="4599432"/>
            <a:ext cx="4640580" cy="1005840"/>
          </a:xfrm>
          <a:prstGeom prst="rect">
            <a:avLst/>
          </a:prstGeom>
          <a:solidFill>
            <a:srgbClr val="EDF6F5"/>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1" name="TextBox 40"/>
          <p:cNvSpPr txBox="1"/>
          <p:nvPr/>
        </p:nvSpPr>
        <p:spPr>
          <a:xfrm>
            <a:off x="347472" y="4672584"/>
            <a:ext cx="274320" cy="365760"/>
          </a:xfrm>
          <a:prstGeom prst="rect">
            <a:avLst/>
          </a:prstGeom>
          <a:noFill/>
        </p:spPr>
        <p:txBody>
          <a:bodyPr wrap="square" lIns="54864" tIns="22860" rIns="54864" bIns="22860">
            <a:spAutoFit/>
          </a:bodyPr>
          <a:lstStyle/>
          <a:p>
            <a:pPr>
              <a:lnSpc>
                <a:spcPts val="1785"/>
              </a:lnSpc>
              <a:spcBef>
                <a:spcPts val="0"/>
              </a:spcBef>
              <a:spcAft>
                <a:spcPts val="0"/>
              </a:spcAft>
              <a:defRPr sz="1700" b="1">
                <a:solidFill>
                  <a:srgbClr val="176B73"/>
                </a:solidFill>
                <a:latin typeface="Arial"/>
              </a:defRPr>
            </a:pPr>
            <a:r>
              <a:t>4</a:t>
            </a:r>
          </a:p>
        </p:txBody>
      </p:sp>
      <p:sp>
        <p:nvSpPr>
          <p:cNvPr id="42" name="TextBox 41"/>
          <p:cNvSpPr txBox="1"/>
          <p:nvPr/>
        </p:nvSpPr>
        <p:spPr>
          <a:xfrm>
            <a:off x="649224" y="4658868"/>
            <a:ext cx="4261104" cy="886968"/>
          </a:xfrm>
          <a:prstGeom prst="rect">
            <a:avLst/>
          </a:prstGeom>
          <a:noFill/>
        </p:spPr>
        <p:txBody>
          <a:bodyPr wrap="square" lIns="54864" tIns="22860" rIns="54864" bIns="22860">
            <a:spAutoFit/>
          </a:bodyPr>
          <a:lstStyle/>
          <a:p>
            <a:pPr>
              <a:lnSpc>
                <a:spcPts val="1890"/>
              </a:lnSpc>
              <a:spcBef>
                <a:spcPts val="0"/>
              </a:spcBef>
              <a:spcAft>
                <a:spcPts val="0"/>
              </a:spcAft>
              <a:defRPr sz="1800" b="0">
                <a:solidFill>
                  <a:srgbClr val="182B3A"/>
                </a:solidFill>
                <a:latin typeface="Arial"/>
              </a:defRPr>
            </a:pPr>
            <a:r>
              <a:t>Kim and Ali receive money in the ratio 7:5. Kim gets £56. How much does Ali receive?</a:t>
            </a:r>
          </a:p>
        </p:txBody>
      </p:sp>
      <p:sp>
        <p:nvSpPr>
          <p:cNvPr id="43" name="Rectangle 42"/>
          <p:cNvSpPr/>
          <p:nvPr/>
        </p:nvSpPr>
        <p:spPr>
          <a:xfrm>
            <a:off x="4983480" y="4599432"/>
            <a:ext cx="4640580" cy="1005840"/>
          </a:xfrm>
          <a:prstGeom prst="rect">
            <a:avLst/>
          </a:prstGeom>
          <a:solidFill>
            <a:srgbClr val="EFF3FA"/>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4" name="TextBox 43"/>
          <p:cNvSpPr txBox="1"/>
          <p:nvPr/>
        </p:nvSpPr>
        <p:spPr>
          <a:xfrm>
            <a:off x="5010912" y="4672584"/>
            <a:ext cx="274320" cy="365760"/>
          </a:xfrm>
          <a:prstGeom prst="rect">
            <a:avLst/>
          </a:prstGeom>
          <a:noFill/>
        </p:spPr>
        <p:txBody>
          <a:bodyPr wrap="square" lIns="54864" tIns="22860" rIns="54864" bIns="22860">
            <a:spAutoFit/>
          </a:bodyPr>
          <a:lstStyle/>
          <a:p>
            <a:pPr>
              <a:lnSpc>
                <a:spcPts val="1785"/>
              </a:lnSpc>
              <a:spcBef>
                <a:spcPts val="0"/>
              </a:spcBef>
              <a:spcAft>
                <a:spcPts val="0"/>
              </a:spcAft>
              <a:defRPr sz="1700" b="1">
                <a:solidFill>
                  <a:srgbClr val="3559A2"/>
                </a:solidFill>
                <a:latin typeface="Arial"/>
              </a:defRPr>
            </a:pPr>
            <a:r>
              <a:t>4</a:t>
            </a:r>
          </a:p>
        </p:txBody>
      </p:sp>
      <p:sp>
        <p:nvSpPr>
          <p:cNvPr id="45" name="TextBox 44"/>
          <p:cNvSpPr txBox="1"/>
          <p:nvPr/>
        </p:nvSpPr>
        <p:spPr>
          <a:xfrm>
            <a:off x="5312664" y="4658868"/>
            <a:ext cx="4261104" cy="886968"/>
          </a:xfrm>
          <a:prstGeom prst="rect">
            <a:avLst/>
          </a:prstGeom>
          <a:noFill/>
        </p:spPr>
        <p:txBody>
          <a:bodyPr wrap="square" lIns="54864" tIns="22860" rIns="54864" bIns="22860">
            <a:spAutoFit/>
          </a:bodyPr>
          <a:lstStyle/>
          <a:p>
            <a:pPr>
              <a:lnSpc>
                <a:spcPts val="1890"/>
              </a:lnSpc>
              <a:spcBef>
                <a:spcPts val="0"/>
              </a:spcBef>
              <a:spcAft>
                <a:spcPts val="0"/>
              </a:spcAft>
              <a:defRPr sz="1800" b="0">
                <a:solidFill>
                  <a:srgbClr val="182B3A"/>
                </a:solidFill>
                <a:latin typeface="Arial"/>
              </a:defRPr>
            </a:pPr>
            <a:r>
              <a:t>Study and break times are in the ratio 5:1. Studying takes 48 minutes longer than breaks. How long are the breaks?</a:t>
            </a:r>
          </a:p>
        </p:txBody>
      </p:sp>
      <p:sp>
        <p:nvSpPr>
          <p:cNvPr id="46" name="Rectangle 45"/>
          <p:cNvSpPr/>
          <p:nvPr/>
        </p:nvSpPr>
        <p:spPr>
          <a:xfrm>
            <a:off x="9646920" y="4599432"/>
            <a:ext cx="4640580" cy="1005840"/>
          </a:xfrm>
          <a:prstGeom prst="rect">
            <a:avLst/>
          </a:prstGeom>
          <a:solidFill>
            <a:srgbClr val="F5F0F7"/>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7" name="TextBox 46"/>
          <p:cNvSpPr txBox="1"/>
          <p:nvPr/>
        </p:nvSpPr>
        <p:spPr>
          <a:xfrm>
            <a:off x="9674352" y="4672584"/>
            <a:ext cx="274320" cy="365760"/>
          </a:xfrm>
          <a:prstGeom prst="rect">
            <a:avLst/>
          </a:prstGeom>
          <a:noFill/>
        </p:spPr>
        <p:txBody>
          <a:bodyPr wrap="square" lIns="54864" tIns="22860" rIns="54864" bIns="22860">
            <a:spAutoFit/>
          </a:bodyPr>
          <a:lstStyle/>
          <a:p>
            <a:pPr>
              <a:lnSpc>
                <a:spcPts val="1785"/>
              </a:lnSpc>
              <a:spcBef>
                <a:spcPts val="0"/>
              </a:spcBef>
              <a:spcAft>
                <a:spcPts val="0"/>
              </a:spcAft>
              <a:defRPr sz="1700" b="1">
                <a:solidFill>
                  <a:srgbClr val="754B87"/>
                </a:solidFill>
                <a:latin typeface="Arial"/>
              </a:defRPr>
            </a:pPr>
            <a:r>
              <a:t>4</a:t>
            </a:r>
          </a:p>
        </p:txBody>
      </p:sp>
      <p:sp>
        <p:nvSpPr>
          <p:cNvPr id="48" name="TextBox 47"/>
          <p:cNvSpPr txBox="1"/>
          <p:nvPr/>
        </p:nvSpPr>
        <p:spPr>
          <a:xfrm>
            <a:off x="9976104" y="4658868"/>
            <a:ext cx="4261104" cy="886968"/>
          </a:xfrm>
          <a:prstGeom prst="rect">
            <a:avLst/>
          </a:prstGeom>
          <a:noFill/>
        </p:spPr>
        <p:txBody>
          <a:bodyPr wrap="square" lIns="54864" tIns="22860" rIns="54864" bIns="22860">
            <a:spAutoFit/>
          </a:bodyPr>
          <a:lstStyle/>
          <a:p>
            <a:pPr>
              <a:lnSpc>
                <a:spcPts val="1890"/>
              </a:lnSpc>
              <a:spcBef>
                <a:spcPts val="0"/>
              </a:spcBef>
              <a:spcAft>
                <a:spcPts val="0"/>
              </a:spcAft>
              <a:defRPr sz="1800" b="0">
                <a:solidFill>
                  <a:srgbClr val="182B3A"/>
                </a:solidFill>
                <a:latin typeface="Arial"/>
              </a:defRPr>
            </a:pPr>
            <a:r>
              <a:t>Two pieces of wood have lengths in the ratio 5:9. The longer is 28 cm longer. Find the longer length.</a:t>
            </a:r>
          </a:p>
        </p:txBody>
      </p:sp>
      <p:sp>
        <p:nvSpPr>
          <p:cNvPr id="49" name="Rectangle 48"/>
          <p:cNvSpPr/>
          <p:nvPr/>
        </p:nvSpPr>
        <p:spPr>
          <a:xfrm>
            <a:off x="320040" y="5605272"/>
            <a:ext cx="4640580" cy="1005840"/>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0" name="TextBox 49"/>
          <p:cNvSpPr txBox="1"/>
          <p:nvPr/>
        </p:nvSpPr>
        <p:spPr>
          <a:xfrm>
            <a:off x="347472" y="5678424"/>
            <a:ext cx="274320" cy="365760"/>
          </a:xfrm>
          <a:prstGeom prst="rect">
            <a:avLst/>
          </a:prstGeom>
          <a:noFill/>
        </p:spPr>
        <p:txBody>
          <a:bodyPr wrap="square" lIns="54864" tIns="22860" rIns="54864" bIns="22860">
            <a:spAutoFit/>
          </a:bodyPr>
          <a:lstStyle/>
          <a:p>
            <a:pPr>
              <a:lnSpc>
                <a:spcPts val="1785"/>
              </a:lnSpc>
              <a:spcBef>
                <a:spcPts val="0"/>
              </a:spcBef>
              <a:spcAft>
                <a:spcPts val="0"/>
              </a:spcAft>
              <a:defRPr sz="1700" b="1">
                <a:solidFill>
                  <a:srgbClr val="176B73"/>
                </a:solidFill>
                <a:latin typeface="Arial"/>
              </a:defRPr>
            </a:pPr>
            <a:r>
              <a:t>5</a:t>
            </a:r>
          </a:p>
        </p:txBody>
      </p:sp>
      <p:sp>
        <p:nvSpPr>
          <p:cNvPr id="51" name="TextBox 50"/>
          <p:cNvSpPr txBox="1"/>
          <p:nvPr/>
        </p:nvSpPr>
        <p:spPr>
          <a:xfrm>
            <a:off x="649224" y="5664708"/>
            <a:ext cx="4261104" cy="886968"/>
          </a:xfrm>
          <a:prstGeom prst="rect">
            <a:avLst/>
          </a:prstGeom>
          <a:noFill/>
        </p:spPr>
        <p:txBody>
          <a:bodyPr wrap="square" lIns="54864" tIns="22860" rIns="54864" bIns="22860">
            <a:spAutoFit/>
          </a:bodyPr>
          <a:lstStyle/>
          <a:p>
            <a:pPr>
              <a:lnSpc>
                <a:spcPts val="1890"/>
              </a:lnSpc>
              <a:spcBef>
                <a:spcPts val="0"/>
              </a:spcBef>
              <a:spcAft>
                <a:spcPts val="0"/>
              </a:spcAft>
              <a:defRPr sz="1800" b="0">
                <a:solidFill>
                  <a:srgbClr val="182B3A"/>
                </a:solidFill>
                <a:latin typeface="Arial"/>
              </a:defRPr>
            </a:pPr>
            <a:r>
              <a:t>Red and white flowers are in the ratio 4:5. There are 7 more white than red. How many are white?</a:t>
            </a:r>
          </a:p>
        </p:txBody>
      </p:sp>
      <p:sp>
        <p:nvSpPr>
          <p:cNvPr id="52" name="Rectangle 51"/>
          <p:cNvSpPr/>
          <p:nvPr/>
        </p:nvSpPr>
        <p:spPr>
          <a:xfrm>
            <a:off x="4983480" y="5605272"/>
            <a:ext cx="4640580" cy="1005840"/>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3" name="TextBox 52"/>
          <p:cNvSpPr txBox="1"/>
          <p:nvPr/>
        </p:nvSpPr>
        <p:spPr>
          <a:xfrm>
            <a:off x="5010912" y="5678424"/>
            <a:ext cx="274320" cy="365760"/>
          </a:xfrm>
          <a:prstGeom prst="rect">
            <a:avLst/>
          </a:prstGeom>
          <a:noFill/>
        </p:spPr>
        <p:txBody>
          <a:bodyPr wrap="square" lIns="54864" tIns="22860" rIns="54864" bIns="22860">
            <a:spAutoFit/>
          </a:bodyPr>
          <a:lstStyle/>
          <a:p>
            <a:pPr>
              <a:lnSpc>
                <a:spcPts val="1785"/>
              </a:lnSpc>
              <a:spcBef>
                <a:spcPts val="0"/>
              </a:spcBef>
              <a:spcAft>
                <a:spcPts val="0"/>
              </a:spcAft>
              <a:defRPr sz="1700" b="1">
                <a:solidFill>
                  <a:srgbClr val="3559A2"/>
                </a:solidFill>
                <a:latin typeface="Arial"/>
              </a:defRPr>
            </a:pPr>
            <a:r>
              <a:t>5</a:t>
            </a:r>
          </a:p>
        </p:txBody>
      </p:sp>
      <p:sp>
        <p:nvSpPr>
          <p:cNvPr id="54" name="TextBox 53"/>
          <p:cNvSpPr txBox="1"/>
          <p:nvPr/>
        </p:nvSpPr>
        <p:spPr>
          <a:xfrm>
            <a:off x="5312664" y="5664708"/>
            <a:ext cx="4261104" cy="886968"/>
          </a:xfrm>
          <a:prstGeom prst="rect">
            <a:avLst/>
          </a:prstGeom>
          <a:noFill/>
        </p:spPr>
        <p:txBody>
          <a:bodyPr wrap="square" lIns="54864" tIns="22860" rIns="54864" bIns="22860">
            <a:spAutoFit/>
          </a:bodyPr>
          <a:lstStyle/>
          <a:p>
            <a:pPr>
              <a:lnSpc>
                <a:spcPts val="1890"/>
              </a:lnSpc>
              <a:spcBef>
                <a:spcPts val="0"/>
              </a:spcBef>
              <a:spcAft>
                <a:spcPts val="0"/>
              </a:spcAft>
              <a:defRPr sz="1800" b="0">
                <a:solidFill>
                  <a:srgbClr val="182B3A"/>
                </a:solidFill>
                <a:latin typeface="Arial"/>
              </a:defRPr>
            </a:pPr>
            <a:r>
              <a:t>A 300 g mix contains raisins and oats in the ratio 7:8. Find the mass of raisins.</a:t>
            </a:r>
          </a:p>
        </p:txBody>
      </p:sp>
      <p:sp>
        <p:nvSpPr>
          <p:cNvPr id="55" name="Rectangle 54"/>
          <p:cNvSpPr/>
          <p:nvPr/>
        </p:nvSpPr>
        <p:spPr>
          <a:xfrm>
            <a:off x="9646920" y="5605272"/>
            <a:ext cx="4640580" cy="1005840"/>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6" name="TextBox 55"/>
          <p:cNvSpPr txBox="1"/>
          <p:nvPr/>
        </p:nvSpPr>
        <p:spPr>
          <a:xfrm>
            <a:off x="9674352" y="5678424"/>
            <a:ext cx="274320" cy="365760"/>
          </a:xfrm>
          <a:prstGeom prst="rect">
            <a:avLst/>
          </a:prstGeom>
          <a:noFill/>
        </p:spPr>
        <p:txBody>
          <a:bodyPr wrap="square" lIns="54864" tIns="22860" rIns="54864" bIns="22860">
            <a:spAutoFit/>
          </a:bodyPr>
          <a:lstStyle/>
          <a:p>
            <a:pPr>
              <a:lnSpc>
                <a:spcPts val="1785"/>
              </a:lnSpc>
              <a:spcBef>
                <a:spcPts val="0"/>
              </a:spcBef>
              <a:spcAft>
                <a:spcPts val="0"/>
              </a:spcAft>
              <a:defRPr sz="1700" b="1">
                <a:solidFill>
                  <a:srgbClr val="754B87"/>
                </a:solidFill>
                <a:latin typeface="Arial"/>
              </a:defRPr>
            </a:pPr>
            <a:r>
              <a:t>5</a:t>
            </a:r>
          </a:p>
        </p:txBody>
      </p:sp>
      <p:sp>
        <p:nvSpPr>
          <p:cNvPr id="57" name="TextBox 56"/>
          <p:cNvSpPr txBox="1"/>
          <p:nvPr/>
        </p:nvSpPr>
        <p:spPr>
          <a:xfrm>
            <a:off x="9976104" y="5664708"/>
            <a:ext cx="4261104" cy="886968"/>
          </a:xfrm>
          <a:prstGeom prst="rect">
            <a:avLst/>
          </a:prstGeom>
          <a:noFill/>
        </p:spPr>
        <p:txBody>
          <a:bodyPr wrap="square" lIns="54864" tIns="22860" rIns="54864" bIns="22860">
            <a:spAutoFit/>
          </a:bodyPr>
          <a:lstStyle/>
          <a:p>
            <a:pPr>
              <a:lnSpc>
                <a:spcPts val="1890"/>
              </a:lnSpc>
              <a:spcBef>
                <a:spcPts val="0"/>
              </a:spcBef>
              <a:spcAft>
                <a:spcPts val="0"/>
              </a:spcAft>
              <a:defRPr sz="1800" b="0">
                <a:solidFill>
                  <a:srgbClr val="182B3A"/>
                </a:solidFill>
                <a:latin typeface="Arial"/>
              </a:defRPr>
            </a:pPr>
            <a:r>
              <a:t>Nia and Tom share £208 in the ratio 7:9. How much more does Tom get than Nia?</a:t>
            </a:r>
          </a:p>
        </p:txBody>
      </p:sp>
      <p:sp>
        <p:nvSpPr>
          <p:cNvPr id="58" name="Rectangle 57"/>
          <p:cNvSpPr/>
          <p:nvPr/>
        </p:nvSpPr>
        <p:spPr>
          <a:xfrm>
            <a:off x="320040" y="6611112"/>
            <a:ext cx="4640580" cy="1005840"/>
          </a:xfrm>
          <a:prstGeom prst="rect">
            <a:avLst/>
          </a:prstGeom>
          <a:solidFill>
            <a:srgbClr val="EDF6F5"/>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9" name="TextBox 58"/>
          <p:cNvSpPr txBox="1"/>
          <p:nvPr/>
        </p:nvSpPr>
        <p:spPr>
          <a:xfrm>
            <a:off x="347472" y="6684264"/>
            <a:ext cx="274320" cy="365760"/>
          </a:xfrm>
          <a:prstGeom prst="rect">
            <a:avLst/>
          </a:prstGeom>
          <a:noFill/>
        </p:spPr>
        <p:txBody>
          <a:bodyPr wrap="square" lIns="54864" tIns="22860" rIns="54864" bIns="22860">
            <a:spAutoFit/>
          </a:bodyPr>
          <a:lstStyle/>
          <a:p>
            <a:pPr>
              <a:lnSpc>
                <a:spcPts val="1785"/>
              </a:lnSpc>
              <a:spcBef>
                <a:spcPts val="0"/>
              </a:spcBef>
              <a:spcAft>
                <a:spcPts val="0"/>
              </a:spcAft>
              <a:defRPr sz="1700" b="1">
                <a:solidFill>
                  <a:srgbClr val="176B73"/>
                </a:solidFill>
                <a:latin typeface="Arial"/>
              </a:defRPr>
            </a:pPr>
            <a:r>
              <a:t>6</a:t>
            </a:r>
          </a:p>
        </p:txBody>
      </p:sp>
      <p:sp>
        <p:nvSpPr>
          <p:cNvPr id="60" name="TextBox 59"/>
          <p:cNvSpPr txBox="1"/>
          <p:nvPr/>
        </p:nvSpPr>
        <p:spPr>
          <a:xfrm>
            <a:off x="649224" y="6670548"/>
            <a:ext cx="4261104" cy="886968"/>
          </a:xfrm>
          <a:prstGeom prst="rect">
            <a:avLst/>
          </a:prstGeom>
          <a:noFill/>
        </p:spPr>
        <p:txBody>
          <a:bodyPr wrap="square" lIns="54864" tIns="22860" rIns="54864" bIns="22860">
            <a:spAutoFit/>
          </a:bodyPr>
          <a:lstStyle/>
          <a:p>
            <a:pPr>
              <a:lnSpc>
                <a:spcPts val="1890"/>
              </a:lnSpc>
              <a:spcBef>
                <a:spcPts val="0"/>
              </a:spcBef>
              <a:spcAft>
                <a:spcPts val="0"/>
              </a:spcAft>
              <a:defRPr sz="1800" b="0">
                <a:solidFill>
                  <a:srgbClr val="182B3A"/>
                </a:solidFill>
                <a:latin typeface="Arial"/>
              </a:defRPr>
            </a:pPr>
            <a:r>
              <a:t>Blue and white paint are mixed in the ratio 1:3. There is 180 ml of white paint. Find the total volume.</a:t>
            </a:r>
          </a:p>
        </p:txBody>
      </p:sp>
      <p:sp>
        <p:nvSpPr>
          <p:cNvPr id="61" name="Rectangle 60"/>
          <p:cNvSpPr/>
          <p:nvPr/>
        </p:nvSpPr>
        <p:spPr>
          <a:xfrm>
            <a:off x="4983480" y="6611112"/>
            <a:ext cx="4640580" cy="1005840"/>
          </a:xfrm>
          <a:prstGeom prst="rect">
            <a:avLst/>
          </a:prstGeom>
          <a:solidFill>
            <a:srgbClr val="EFF3FA"/>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2" name="TextBox 61"/>
          <p:cNvSpPr txBox="1"/>
          <p:nvPr/>
        </p:nvSpPr>
        <p:spPr>
          <a:xfrm>
            <a:off x="5010912" y="6684264"/>
            <a:ext cx="274320" cy="365760"/>
          </a:xfrm>
          <a:prstGeom prst="rect">
            <a:avLst/>
          </a:prstGeom>
          <a:noFill/>
        </p:spPr>
        <p:txBody>
          <a:bodyPr wrap="square" lIns="54864" tIns="22860" rIns="54864" bIns="22860">
            <a:spAutoFit/>
          </a:bodyPr>
          <a:lstStyle/>
          <a:p>
            <a:pPr>
              <a:lnSpc>
                <a:spcPts val="1785"/>
              </a:lnSpc>
              <a:spcBef>
                <a:spcPts val="0"/>
              </a:spcBef>
              <a:spcAft>
                <a:spcPts val="0"/>
              </a:spcAft>
              <a:defRPr sz="1700" b="1">
                <a:solidFill>
                  <a:srgbClr val="3559A2"/>
                </a:solidFill>
                <a:latin typeface="Arial"/>
              </a:defRPr>
            </a:pPr>
            <a:r>
              <a:t>6</a:t>
            </a:r>
          </a:p>
        </p:txBody>
      </p:sp>
      <p:sp>
        <p:nvSpPr>
          <p:cNvPr id="63" name="TextBox 62"/>
          <p:cNvSpPr txBox="1"/>
          <p:nvPr/>
        </p:nvSpPr>
        <p:spPr>
          <a:xfrm>
            <a:off x="5312664" y="6670548"/>
            <a:ext cx="4261104" cy="886968"/>
          </a:xfrm>
          <a:prstGeom prst="rect">
            <a:avLst/>
          </a:prstGeom>
          <a:noFill/>
        </p:spPr>
        <p:txBody>
          <a:bodyPr wrap="square" lIns="54864" tIns="22860" rIns="54864" bIns="22860">
            <a:spAutoFit/>
          </a:bodyPr>
          <a:lstStyle/>
          <a:p>
            <a:pPr>
              <a:lnSpc>
                <a:spcPts val="1890"/>
              </a:lnSpc>
              <a:spcBef>
                <a:spcPts val="0"/>
              </a:spcBef>
              <a:spcAft>
                <a:spcPts val="0"/>
              </a:spcAft>
              <a:defRPr sz="1800" b="0">
                <a:solidFill>
                  <a:srgbClr val="182B3A"/>
                </a:solidFill>
                <a:latin typeface="Arial"/>
              </a:defRPr>
            </a:pPr>
            <a:r>
              <a:t>A farm has sheep and goats in the ratio 9:1. There are 72 sheep. How many animals are there altogether?</a:t>
            </a:r>
          </a:p>
        </p:txBody>
      </p:sp>
      <p:sp>
        <p:nvSpPr>
          <p:cNvPr id="64" name="Rectangle 63"/>
          <p:cNvSpPr/>
          <p:nvPr/>
        </p:nvSpPr>
        <p:spPr>
          <a:xfrm>
            <a:off x="9646920" y="6611112"/>
            <a:ext cx="4640580" cy="1005840"/>
          </a:xfrm>
          <a:prstGeom prst="rect">
            <a:avLst/>
          </a:prstGeom>
          <a:solidFill>
            <a:srgbClr val="F5F0F7"/>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5" name="TextBox 64"/>
          <p:cNvSpPr txBox="1"/>
          <p:nvPr/>
        </p:nvSpPr>
        <p:spPr>
          <a:xfrm>
            <a:off x="9674352" y="6684264"/>
            <a:ext cx="274320" cy="365760"/>
          </a:xfrm>
          <a:prstGeom prst="rect">
            <a:avLst/>
          </a:prstGeom>
          <a:noFill/>
        </p:spPr>
        <p:txBody>
          <a:bodyPr wrap="square" lIns="54864" tIns="22860" rIns="54864" bIns="22860">
            <a:spAutoFit/>
          </a:bodyPr>
          <a:lstStyle/>
          <a:p>
            <a:pPr>
              <a:lnSpc>
                <a:spcPts val="1785"/>
              </a:lnSpc>
              <a:spcBef>
                <a:spcPts val="0"/>
              </a:spcBef>
              <a:spcAft>
                <a:spcPts val="0"/>
              </a:spcAft>
              <a:defRPr sz="1700" b="1">
                <a:solidFill>
                  <a:srgbClr val="754B87"/>
                </a:solidFill>
                <a:latin typeface="Arial"/>
              </a:defRPr>
            </a:pPr>
            <a:r>
              <a:t>6</a:t>
            </a:r>
          </a:p>
        </p:txBody>
      </p:sp>
      <p:sp>
        <p:nvSpPr>
          <p:cNvPr id="66" name="TextBox 65"/>
          <p:cNvSpPr txBox="1"/>
          <p:nvPr/>
        </p:nvSpPr>
        <p:spPr>
          <a:xfrm>
            <a:off x="9976104" y="6670548"/>
            <a:ext cx="4261104" cy="886968"/>
          </a:xfrm>
          <a:prstGeom prst="rect">
            <a:avLst/>
          </a:prstGeom>
          <a:noFill/>
        </p:spPr>
        <p:txBody>
          <a:bodyPr wrap="square" lIns="54864" tIns="22860" rIns="54864" bIns="22860">
            <a:spAutoFit/>
          </a:bodyPr>
          <a:lstStyle/>
          <a:p>
            <a:pPr>
              <a:lnSpc>
                <a:spcPts val="1890"/>
              </a:lnSpc>
              <a:spcBef>
                <a:spcPts val="0"/>
              </a:spcBef>
              <a:spcAft>
                <a:spcPts val="0"/>
              </a:spcAft>
              <a:defRPr sz="1800" b="0">
                <a:solidFill>
                  <a:srgbClr val="182B3A"/>
                </a:solidFill>
                <a:latin typeface="Arial"/>
              </a:defRPr>
            </a:pPr>
            <a:r>
              <a:t>Adult and child tickets sell in the ratio 9:8. There are 81 adult tickets. Find the total number of tickets.</a:t>
            </a:r>
          </a:p>
        </p:txBody>
      </p:sp>
      <p:sp>
        <p:nvSpPr>
          <p:cNvPr id="67" name="Progression curved arrow: Thread 1 to Thread 2"/>
          <p:cNvSpPr/>
          <p:nvPr/>
        </p:nvSpPr>
        <p:spPr>
          <a:xfrm>
            <a:off x="4649723" y="7552294"/>
            <a:ext cx="621792" cy="314053"/>
          </a:xfrm>
          <a:custGeom>
            <a:avLst/>
            <a:gdLst/>
            <a:ahLst/>
            <a:cxnLst/>
            <a:rect l="0" t="0" r="100000" b="100000"/>
            <a:pathLst>
              <a:path w="100000" h="100000" fill="none">
                <a:moveTo>
                  <a:pt x="6970" y="48439"/>
                </a:moveTo>
                <a:cubicBezTo>
                  <a:pt x="40678" y="114499"/>
                  <a:pt x="73026" y="88145"/>
                  <a:pt x="93030" y="13799"/>
                </a:cubicBezTo>
              </a:path>
              <a:path w="100000" h="100000" fill="none">
                <a:moveTo>
                  <a:pt x="69018" y="40431"/>
                </a:moveTo>
                <a:lnTo>
                  <a:pt x="93030" y="13799"/>
                </a:lnTo>
                <a:lnTo>
                  <a:pt x="92217" y="66207"/>
                </a:lnTo>
              </a:path>
            </a:pathLst>
          </a:custGeom>
          <a:noFill/>
          <a:ln w="64449" cap="rnd">
            <a:solidFill>
              <a:schemeClr val="accent6">
                <a:lumMod val="60000"/>
                <a:lumOff val="40000"/>
              </a:schemeClr>
            </a:solidFill>
            <a:round/>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68" name="Progression curved arrow: Thread 2 to Thread 3"/>
          <p:cNvSpPr/>
          <p:nvPr/>
        </p:nvSpPr>
        <p:spPr>
          <a:xfrm>
            <a:off x="9265327" y="7543800"/>
            <a:ext cx="621792" cy="314053"/>
          </a:xfrm>
          <a:custGeom>
            <a:avLst/>
            <a:gdLst/>
            <a:ahLst/>
            <a:cxnLst/>
            <a:rect l="0" t="0" r="100000" b="100000"/>
            <a:pathLst>
              <a:path w="100000" h="100000" fill="none">
                <a:moveTo>
                  <a:pt x="6970" y="48439"/>
                </a:moveTo>
                <a:cubicBezTo>
                  <a:pt x="40678" y="114499"/>
                  <a:pt x="73026" y="88145"/>
                  <a:pt x="93030" y="13799"/>
                </a:cubicBezTo>
              </a:path>
              <a:path w="100000" h="100000" fill="none">
                <a:moveTo>
                  <a:pt x="69018" y="40431"/>
                </a:moveTo>
                <a:lnTo>
                  <a:pt x="93030" y="13799"/>
                </a:lnTo>
                <a:lnTo>
                  <a:pt x="92217" y="66207"/>
                </a:lnTo>
              </a:path>
            </a:pathLst>
          </a:custGeom>
          <a:noFill/>
          <a:ln w="64449" cap="rnd">
            <a:solidFill>
              <a:schemeClr val="accent6">
                <a:lumMod val="60000"/>
                <a:lumOff val="40000"/>
              </a:schemeClr>
            </a:solidFill>
            <a:round/>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Tree>
  </p:cSld>
  <p:clrMapOvr>
    <a:masterClrMapping/>
  </p:clrMapOvr>
</p:sld>
</file>

<file path=ppt/slides/slide66.xml><?xml version="1.0" encoding="utf-8"?>
<p:sld xmlns:a="http://schemas.openxmlformats.org/drawingml/2006/main" xmlns:p="http://schemas.openxmlformats.org/presentationml/2006/main" xmlns:r="http://schemas.openxmlformats.org/officeDocument/2006/relationships">
  <p:cSld>
    <p:bg>
      <p:bgPr>
        <a:solidFill>
          <a:srgbClr val="F7F8FA"/>
        </a:solidFill>
        <a:effectLst/>
      </p:bgPr>
    </p:bg>
    <p:spTree>
      <p:nvGrpSpPr>
        <p:cNvPr id="1" name=""/>
        <p:cNvGrpSpPr/>
        <p:nvPr/>
      </p:nvGrpSpPr>
      <p:grpSpPr/>
      <p:sp>
        <p:nvSpPr>
          <p:cNvPr id="2" name="Rectangle 1"/>
          <p:cNvSpPr/>
          <p:nvPr/>
        </p:nvSpPr>
        <p:spPr>
          <a:xfrm>
            <a:off x="0" y="0"/>
            <a:ext cx="14630400" cy="73152"/>
          </a:xfrm>
          <a:prstGeom prst="rect">
            <a:avLst/>
          </a:prstGeom>
          <a:solidFill>
            <a:srgbClr val="176B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320040" y="164592"/>
            <a:ext cx="13990320" cy="457200"/>
          </a:xfrm>
          <a:prstGeom prst="rect">
            <a:avLst/>
          </a:prstGeom>
          <a:noFill/>
        </p:spPr>
        <p:txBody>
          <a:bodyPr wrap="square" lIns="54864" tIns="22860" rIns="54864" bIns="22860">
            <a:spAutoFit/>
          </a:bodyPr>
          <a:lstStyle/>
          <a:p>
            <a:pPr>
              <a:lnSpc>
                <a:spcPts val="2940"/>
              </a:lnSpc>
              <a:spcBef>
                <a:spcPts val="0"/>
              </a:spcBef>
              <a:spcAft>
                <a:spcPts val="0"/>
              </a:spcAft>
              <a:defRPr sz="2800" b="1">
                <a:solidFill>
                  <a:srgbClr val="182B3A"/>
                </a:solidFill>
                <a:latin typeface="Arial"/>
              </a:defRPr>
            </a:pPr>
            <a:r>
              <a:t>Ratio: sharing and missing amounts</a:t>
            </a:r>
          </a:p>
        </p:txBody>
      </p:sp>
      <p:sp>
        <p:nvSpPr>
          <p:cNvPr id="4" name="TextBox 3"/>
          <p:cNvSpPr txBox="1"/>
          <p:nvPr/>
        </p:nvSpPr>
        <p:spPr>
          <a:xfrm>
            <a:off x="320040" y="704088"/>
            <a:ext cx="13990320" cy="347472"/>
          </a:xfrm>
          <a:prstGeom prst="rect">
            <a:avLst/>
          </a:prstGeom>
          <a:noFill/>
        </p:spPr>
        <p:txBody>
          <a:bodyPr wrap="square" lIns="54864" tIns="22860" rIns="54864" bIns="22860">
            <a:spAutoFit/>
          </a:bodyPr>
          <a:lstStyle/>
          <a:p>
            <a:pPr>
              <a:lnSpc>
                <a:spcPts val="1575"/>
              </a:lnSpc>
              <a:spcBef>
                <a:spcPts val="0"/>
              </a:spcBef>
              <a:spcAft>
                <a:spcPts val="0"/>
              </a:spcAft>
              <a:defRPr sz="1500" b="0">
                <a:solidFill>
                  <a:srgbClr val="526472"/>
                </a:solidFill>
                <a:latin typeface="Arial"/>
              </a:defRPr>
            </a:pPr>
            <a:r>
              <a:t>Independent practice 3 • Choose a column. Show your working and check your answers.</a:t>
            </a:r>
          </a:p>
        </p:txBody>
      </p:sp>
      <p:sp>
        <p:nvSpPr>
          <p:cNvPr id="5" name="TextBox 4"/>
          <p:cNvSpPr txBox="1"/>
          <p:nvPr/>
        </p:nvSpPr>
        <p:spPr>
          <a:xfrm>
            <a:off x="320040" y="7973568"/>
            <a:ext cx="10789920" cy="210312"/>
          </a:xfrm>
          <a:prstGeom prst="rect">
            <a:avLst/>
          </a:prstGeom>
          <a:noFill/>
        </p:spPr>
        <p:txBody>
          <a:bodyPr wrap="square" lIns="54864" tIns="22860" rIns="54864" bIns="22860">
            <a:spAutoFit/>
          </a:bodyPr>
          <a:lstStyle/>
          <a:p>
            <a:pPr>
              <a:lnSpc>
                <a:spcPts val="1155"/>
              </a:lnSpc>
              <a:spcBef>
                <a:spcPts val="0"/>
              </a:spcBef>
              <a:spcAft>
                <a:spcPts val="0"/>
              </a:spcAft>
              <a:defRPr sz="1100" b="0">
                <a:solidFill>
                  <a:srgbClr val="526472"/>
                </a:solidFill>
                <a:latin typeface="Arial"/>
              </a:defRPr>
            </a:pPr>
            <a:r>
              <a:t>GCSE Maths revision • No calculator • Show your working.</a:t>
            </a:r>
          </a:p>
        </p:txBody>
      </p:sp>
      <p:sp>
        <p:nvSpPr>
          <p:cNvPr id="6" name="TextBox 5"/>
          <p:cNvSpPr txBox="1"/>
          <p:nvPr/>
        </p:nvSpPr>
        <p:spPr>
          <a:xfrm>
            <a:off x="11155680" y="7973568"/>
            <a:ext cx="3108960" cy="210312"/>
          </a:xfrm>
          <a:prstGeom prst="rect">
            <a:avLst/>
          </a:prstGeom>
          <a:noFill/>
        </p:spPr>
        <p:txBody>
          <a:bodyPr wrap="square" lIns="54864" tIns="22860" rIns="54864" bIns="22860">
            <a:spAutoFit/>
          </a:bodyPr>
          <a:lstStyle/>
          <a:p>
            <a:pPr>
              <a:lnSpc>
                <a:spcPts val="1155"/>
              </a:lnSpc>
              <a:spcBef>
                <a:spcPts val="0"/>
              </a:spcBef>
              <a:spcAft>
                <a:spcPts val="0"/>
              </a:spcAft>
              <a:defRPr sz="1100" b="0">
                <a:solidFill>
                  <a:srgbClr val="526472"/>
                </a:solidFill>
                <a:latin typeface="Arial"/>
              </a:defRPr>
            </a:pPr>
            <a:r>
              <a:t>M04-S06</a:t>
            </a:r>
          </a:p>
        </p:txBody>
      </p:sp>
      <p:sp>
        <p:nvSpPr>
          <p:cNvPr id="7" name="Rectangle 6"/>
          <p:cNvSpPr/>
          <p:nvPr/>
        </p:nvSpPr>
        <p:spPr>
          <a:xfrm>
            <a:off x="320040" y="1115568"/>
            <a:ext cx="4640580" cy="420624"/>
          </a:xfrm>
          <a:prstGeom prst="rect">
            <a:avLst/>
          </a:prstGeom>
          <a:solidFill>
            <a:srgbClr val="176B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347472" y="1147572"/>
            <a:ext cx="4581144" cy="329184"/>
          </a:xfrm>
          <a:prstGeom prst="rect">
            <a:avLst/>
          </a:prstGeom>
          <a:noFill/>
        </p:spPr>
        <p:txBody>
          <a:bodyPr wrap="square" lIns="54864" tIns="22860" rIns="54864" bIns="22860">
            <a:spAutoFit/>
          </a:bodyPr>
          <a:lstStyle/>
          <a:p>
            <a:pPr>
              <a:lnSpc>
                <a:spcPts val="1995"/>
              </a:lnSpc>
              <a:spcBef>
                <a:spcPts val="0"/>
              </a:spcBef>
              <a:spcAft>
                <a:spcPts val="0"/>
              </a:spcAft>
              <a:defRPr sz="1900" b="1">
                <a:solidFill>
                  <a:srgbClr val="FFFFFF"/>
                </a:solidFill>
                <a:latin typeface="Arial"/>
              </a:defRPr>
            </a:pPr>
            <a:r>
              <a:t>Start</a:t>
            </a:r>
          </a:p>
        </p:txBody>
      </p:sp>
      <p:sp>
        <p:nvSpPr>
          <p:cNvPr id="9" name="Rectangle 8"/>
          <p:cNvSpPr/>
          <p:nvPr/>
        </p:nvSpPr>
        <p:spPr>
          <a:xfrm>
            <a:off x="4983480" y="1115568"/>
            <a:ext cx="4640580" cy="420624"/>
          </a:xfrm>
          <a:prstGeom prst="rect">
            <a:avLst/>
          </a:prstGeom>
          <a:solidFill>
            <a:srgbClr val="3559A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5010912" y="1147572"/>
            <a:ext cx="4581144" cy="329184"/>
          </a:xfrm>
          <a:prstGeom prst="rect">
            <a:avLst/>
          </a:prstGeom>
          <a:noFill/>
        </p:spPr>
        <p:txBody>
          <a:bodyPr wrap="square" lIns="54864" tIns="22860" rIns="54864" bIns="22860">
            <a:spAutoFit/>
          </a:bodyPr>
          <a:lstStyle/>
          <a:p>
            <a:pPr>
              <a:lnSpc>
                <a:spcPts val="1995"/>
              </a:lnSpc>
              <a:spcBef>
                <a:spcPts val="0"/>
              </a:spcBef>
              <a:spcAft>
                <a:spcPts val="0"/>
              </a:spcAft>
              <a:defRPr sz="1900" b="1">
                <a:solidFill>
                  <a:srgbClr val="FFFFFF"/>
                </a:solidFill>
                <a:latin typeface="Arial"/>
              </a:defRPr>
            </a:pPr>
            <a:r>
              <a:t>Build</a:t>
            </a:r>
          </a:p>
        </p:txBody>
      </p:sp>
      <p:sp>
        <p:nvSpPr>
          <p:cNvPr id="11" name="Rectangle 10"/>
          <p:cNvSpPr/>
          <p:nvPr/>
        </p:nvSpPr>
        <p:spPr>
          <a:xfrm>
            <a:off x="9646920" y="1115568"/>
            <a:ext cx="4640580" cy="420624"/>
          </a:xfrm>
          <a:prstGeom prst="rect">
            <a:avLst/>
          </a:prstGeom>
          <a:solidFill>
            <a:srgbClr val="754B8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9674352" y="1147572"/>
            <a:ext cx="4581144" cy="329184"/>
          </a:xfrm>
          <a:prstGeom prst="rect">
            <a:avLst/>
          </a:prstGeom>
          <a:noFill/>
        </p:spPr>
        <p:txBody>
          <a:bodyPr wrap="square" lIns="54864" tIns="22860" rIns="54864" bIns="22860">
            <a:spAutoFit/>
          </a:bodyPr>
          <a:lstStyle/>
          <a:p>
            <a:pPr>
              <a:lnSpc>
                <a:spcPts val="1995"/>
              </a:lnSpc>
              <a:spcBef>
                <a:spcPts val="0"/>
              </a:spcBef>
              <a:spcAft>
                <a:spcPts val="0"/>
              </a:spcAft>
              <a:defRPr sz="1900" b="1">
                <a:solidFill>
                  <a:srgbClr val="FFFFFF"/>
                </a:solidFill>
                <a:latin typeface="Arial"/>
              </a:defRPr>
            </a:pPr>
            <a:r>
              <a:t>Confidence</a:t>
            </a:r>
          </a:p>
        </p:txBody>
      </p:sp>
      <p:sp>
        <p:nvSpPr>
          <p:cNvPr id="13" name="Rectangle 12"/>
          <p:cNvSpPr/>
          <p:nvPr/>
        </p:nvSpPr>
        <p:spPr>
          <a:xfrm>
            <a:off x="320040" y="1581912"/>
            <a:ext cx="4640580" cy="1005840"/>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347472" y="1655064"/>
            <a:ext cx="274320" cy="365760"/>
          </a:xfrm>
          <a:prstGeom prst="rect">
            <a:avLst/>
          </a:prstGeom>
          <a:noFill/>
        </p:spPr>
        <p:txBody>
          <a:bodyPr wrap="square" lIns="54864" tIns="22860" rIns="54864" bIns="22860">
            <a:spAutoFit/>
          </a:bodyPr>
          <a:lstStyle/>
          <a:p>
            <a:pPr>
              <a:lnSpc>
                <a:spcPts val="1785"/>
              </a:lnSpc>
              <a:spcBef>
                <a:spcPts val="0"/>
              </a:spcBef>
              <a:spcAft>
                <a:spcPts val="0"/>
              </a:spcAft>
              <a:defRPr sz="1700" b="1">
                <a:solidFill>
                  <a:srgbClr val="176B73"/>
                </a:solidFill>
                <a:latin typeface="Arial"/>
              </a:defRPr>
            </a:pPr>
            <a:r>
              <a:t>1</a:t>
            </a:r>
          </a:p>
        </p:txBody>
      </p:sp>
      <p:sp>
        <p:nvSpPr>
          <p:cNvPr id="15" name="TextBox 14"/>
          <p:cNvSpPr txBox="1"/>
          <p:nvPr/>
        </p:nvSpPr>
        <p:spPr>
          <a:xfrm>
            <a:off x="649224" y="1641348"/>
            <a:ext cx="4261104" cy="886968"/>
          </a:xfrm>
          <a:prstGeom prst="rect">
            <a:avLst/>
          </a:prstGeom>
          <a:noFill/>
        </p:spPr>
        <p:txBody>
          <a:bodyPr wrap="square" lIns="54864" tIns="22860" rIns="54864" bIns="22860">
            <a:spAutoFit/>
          </a:bodyPr>
          <a:lstStyle/>
          <a:p>
            <a:pPr>
              <a:lnSpc>
                <a:spcPts val="1890"/>
              </a:lnSpc>
              <a:spcBef>
                <a:spcPts val="0"/>
              </a:spcBef>
              <a:spcAft>
                <a:spcPts val="0"/>
              </a:spcAft>
              <a:defRPr sz="1800" b="0">
                <a:solidFill>
                  <a:srgbClr val="182B3A"/>
                </a:solidFill>
                <a:latin typeface="Arial"/>
              </a:defRPr>
            </a:pPr>
            <a:r>
              <a:t>A club has 80 junior and senior members in the ratio 7:3. How many members are seniors?</a:t>
            </a:r>
          </a:p>
        </p:txBody>
      </p:sp>
      <p:sp>
        <p:nvSpPr>
          <p:cNvPr id="16" name="Rectangle 15"/>
          <p:cNvSpPr/>
          <p:nvPr/>
        </p:nvSpPr>
        <p:spPr>
          <a:xfrm>
            <a:off x="4983480" y="1581912"/>
            <a:ext cx="4640580" cy="1005840"/>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5010912" y="1655064"/>
            <a:ext cx="274320" cy="365760"/>
          </a:xfrm>
          <a:prstGeom prst="rect">
            <a:avLst/>
          </a:prstGeom>
          <a:noFill/>
        </p:spPr>
        <p:txBody>
          <a:bodyPr wrap="square" lIns="54864" tIns="22860" rIns="54864" bIns="22860">
            <a:spAutoFit/>
          </a:bodyPr>
          <a:lstStyle/>
          <a:p>
            <a:pPr>
              <a:lnSpc>
                <a:spcPts val="1785"/>
              </a:lnSpc>
              <a:spcBef>
                <a:spcPts val="0"/>
              </a:spcBef>
              <a:spcAft>
                <a:spcPts val="0"/>
              </a:spcAft>
              <a:defRPr sz="1700" b="1">
                <a:solidFill>
                  <a:srgbClr val="3559A2"/>
                </a:solidFill>
                <a:latin typeface="Arial"/>
              </a:defRPr>
            </a:pPr>
            <a:r>
              <a:t>1</a:t>
            </a:r>
          </a:p>
        </p:txBody>
      </p:sp>
      <p:sp>
        <p:nvSpPr>
          <p:cNvPr id="18" name="TextBox 17"/>
          <p:cNvSpPr txBox="1"/>
          <p:nvPr/>
        </p:nvSpPr>
        <p:spPr>
          <a:xfrm>
            <a:off x="5312664" y="1641348"/>
            <a:ext cx="4261104" cy="886968"/>
          </a:xfrm>
          <a:prstGeom prst="rect">
            <a:avLst/>
          </a:prstGeom>
          <a:noFill/>
        </p:spPr>
        <p:txBody>
          <a:bodyPr wrap="square" lIns="54864" tIns="22860" rIns="54864" bIns="22860">
            <a:spAutoFit/>
          </a:bodyPr>
          <a:lstStyle/>
          <a:p>
            <a:pPr>
              <a:lnSpc>
                <a:spcPts val="1890"/>
              </a:lnSpc>
              <a:spcBef>
                <a:spcPts val="0"/>
              </a:spcBef>
              <a:spcAft>
                <a:spcPts val="0"/>
              </a:spcAft>
              <a:defRPr sz="1800" b="0">
                <a:solidFill>
                  <a:srgbClr val="182B3A"/>
                </a:solidFill>
                <a:latin typeface="Arial"/>
              </a:defRPr>
            </a:pPr>
            <a:r>
              <a:t>Study and break times are in the ratio 8:1. Study takes 64 minutes. Find the total time.</a:t>
            </a:r>
          </a:p>
        </p:txBody>
      </p:sp>
      <p:sp>
        <p:nvSpPr>
          <p:cNvPr id="19" name="Rectangle 18"/>
          <p:cNvSpPr/>
          <p:nvPr/>
        </p:nvSpPr>
        <p:spPr>
          <a:xfrm>
            <a:off x="9646920" y="1581912"/>
            <a:ext cx="4640580" cy="1005840"/>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9674352" y="1655064"/>
            <a:ext cx="274320" cy="365760"/>
          </a:xfrm>
          <a:prstGeom prst="rect">
            <a:avLst/>
          </a:prstGeom>
          <a:noFill/>
        </p:spPr>
        <p:txBody>
          <a:bodyPr wrap="square" lIns="54864" tIns="22860" rIns="54864" bIns="22860">
            <a:spAutoFit/>
          </a:bodyPr>
          <a:lstStyle/>
          <a:p>
            <a:pPr>
              <a:lnSpc>
                <a:spcPts val="1785"/>
              </a:lnSpc>
              <a:spcBef>
                <a:spcPts val="0"/>
              </a:spcBef>
              <a:spcAft>
                <a:spcPts val="0"/>
              </a:spcAft>
              <a:defRPr sz="1700" b="1">
                <a:solidFill>
                  <a:srgbClr val="754B87"/>
                </a:solidFill>
                <a:latin typeface="Arial"/>
              </a:defRPr>
            </a:pPr>
            <a:r>
              <a:t>1</a:t>
            </a:r>
          </a:p>
        </p:txBody>
      </p:sp>
      <p:sp>
        <p:nvSpPr>
          <p:cNvPr id="21" name="TextBox 20"/>
          <p:cNvSpPr txBox="1"/>
          <p:nvPr/>
        </p:nvSpPr>
        <p:spPr>
          <a:xfrm>
            <a:off x="9976104" y="1641348"/>
            <a:ext cx="4261104" cy="886968"/>
          </a:xfrm>
          <a:prstGeom prst="rect">
            <a:avLst/>
          </a:prstGeom>
          <a:noFill/>
        </p:spPr>
        <p:txBody>
          <a:bodyPr wrap="square" lIns="54864" tIns="22860" rIns="54864" bIns="22860">
            <a:spAutoFit/>
          </a:bodyPr>
          <a:lstStyle/>
          <a:p>
            <a:pPr>
              <a:lnSpc>
                <a:spcPts val="1890"/>
              </a:lnSpc>
              <a:spcBef>
                <a:spcPts val="0"/>
              </a:spcBef>
              <a:spcAft>
                <a:spcPts val="0"/>
              </a:spcAft>
              <a:defRPr sz="1800" b="0">
                <a:solidFill>
                  <a:srgbClr val="182B3A"/>
                </a:solidFill>
                <a:latin typeface="Arial"/>
              </a:defRPr>
            </a:pPr>
            <a:r>
              <a:t>Two sessions have durations in the ratio 1:10. The second lasts 72 minutes longer. Find the first session’s duration.</a:t>
            </a:r>
          </a:p>
        </p:txBody>
      </p:sp>
      <p:sp>
        <p:nvSpPr>
          <p:cNvPr id="22" name="Rectangle 21"/>
          <p:cNvSpPr/>
          <p:nvPr/>
        </p:nvSpPr>
        <p:spPr>
          <a:xfrm>
            <a:off x="320040" y="2587752"/>
            <a:ext cx="4640580" cy="1005840"/>
          </a:xfrm>
          <a:prstGeom prst="rect">
            <a:avLst/>
          </a:prstGeom>
          <a:solidFill>
            <a:srgbClr val="EDF6F5"/>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347472" y="2660904"/>
            <a:ext cx="274320" cy="365760"/>
          </a:xfrm>
          <a:prstGeom prst="rect">
            <a:avLst/>
          </a:prstGeom>
          <a:noFill/>
        </p:spPr>
        <p:txBody>
          <a:bodyPr wrap="square" lIns="54864" tIns="22860" rIns="54864" bIns="22860">
            <a:spAutoFit/>
          </a:bodyPr>
          <a:lstStyle/>
          <a:p>
            <a:pPr>
              <a:lnSpc>
                <a:spcPts val="1785"/>
              </a:lnSpc>
              <a:spcBef>
                <a:spcPts val="0"/>
              </a:spcBef>
              <a:spcAft>
                <a:spcPts val="0"/>
              </a:spcAft>
              <a:defRPr sz="1700" b="1">
                <a:solidFill>
                  <a:srgbClr val="176B73"/>
                </a:solidFill>
                <a:latin typeface="Arial"/>
              </a:defRPr>
            </a:pPr>
            <a:r>
              <a:t>2</a:t>
            </a:r>
          </a:p>
        </p:txBody>
      </p:sp>
      <p:sp>
        <p:nvSpPr>
          <p:cNvPr id="24" name="TextBox 23"/>
          <p:cNvSpPr txBox="1"/>
          <p:nvPr/>
        </p:nvSpPr>
        <p:spPr>
          <a:xfrm>
            <a:off x="649224" y="2647188"/>
            <a:ext cx="4261104" cy="886968"/>
          </a:xfrm>
          <a:prstGeom prst="rect">
            <a:avLst/>
          </a:prstGeom>
          <a:noFill/>
        </p:spPr>
        <p:txBody>
          <a:bodyPr wrap="square" lIns="54864" tIns="22860" rIns="54864" bIns="22860">
            <a:spAutoFit/>
          </a:bodyPr>
          <a:lstStyle/>
          <a:p>
            <a:pPr>
              <a:lnSpc>
                <a:spcPts val="1890"/>
              </a:lnSpc>
              <a:spcBef>
                <a:spcPts val="0"/>
              </a:spcBef>
              <a:spcAft>
                <a:spcPts val="0"/>
              </a:spcAft>
              <a:defRPr sz="1800" b="0">
                <a:solidFill>
                  <a:srgbClr val="182B3A"/>
                </a:solidFill>
                <a:latin typeface="Arial"/>
              </a:defRPr>
            </a:pPr>
            <a:r>
              <a:t>Milk and coffee are mixed in the ratio 4:1. There is 100 ml of coffee. Find the volume of milk.</a:t>
            </a:r>
          </a:p>
        </p:txBody>
      </p:sp>
      <p:sp>
        <p:nvSpPr>
          <p:cNvPr id="25" name="Rectangle 24"/>
          <p:cNvSpPr/>
          <p:nvPr/>
        </p:nvSpPr>
        <p:spPr>
          <a:xfrm>
            <a:off x="4983480" y="2587752"/>
            <a:ext cx="4640580" cy="1005840"/>
          </a:xfrm>
          <a:prstGeom prst="rect">
            <a:avLst/>
          </a:prstGeom>
          <a:solidFill>
            <a:srgbClr val="EFF3FA"/>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TextBox 25"/>
          <p:cNvSpPr txBox="1"/>
          <p:nvPr/>
        </p:nvSpPr>
        <p:spPr>
          <a:xfrm>
            <a:off x="5010912" y="2660904"/>
            <a:ext cx="274320" cy="365760"/>
          </a:xfrm>
          <a:prstGeom prst="rect">
            <a:avLst/>
          </a:prstGeom>
          <a:noFill/>
        </p:spPr>
        <p:txBody>
          <a:bodyPr wrap="square" lIns="54864" tIns="22860" rIns="54864" bIns="22860">
            <a:spAutoFit/>
          </a:bodyPr>
          <a:lstStyle/>
          <a:p>
            <a:pPr>
              <a:lnSpc>
                <a:spcPts val="1785"/>
              </a:lnSpc>
              <a:spcBef>
                <a:spcPts val="0"/>
              </a:spcBef>
              <a:spcAft>
                <a:spcPts val="0"/>
              </a:spcAft>
              <a:defRPr sz="1700" b="1">
                <a:solidFill>
                  <a:srgbClr val="3559A2"/>
                </a:solidFill>
                <a:latin typeface="Arial"/>
              </a:defRPr>
            </a:pPr>
            <a:r>
              <a:t>2</a:t>
            </a:r>
          </a:p>
        </p:txBody>
      </p:sp>
      <p:sp>
        <p:nvSpPr>
          <p:cNvPr id="27" name="TextBox 26"/>
          <p:cNvSpPr txBox="1"/>
          <p:nvPr/>
        </p:nvSpPr>
        <p:spPr>
          <a:xfrm>
            <a:off x="5312664" y="2647188"/>
            <a:ext cx="4261104" cy="886968"/>
          </a:xfrm>
          <a:prstGeom prst="rect">
            <a:avLst/>
          </a:prstGeom>
          <a:noFill/>
        </p:spPr>
        <p:txBody>
          <a:bodyPr wrap="square" lIns="54864" tIns="22860" rIns="54864" bIns="22860">
            <a:spAutoFit/>
          </a:bodyPr>
          <a:lstStyle/>
          <a:p>
            <a:pPr>
              <a:lnSpc>
                <a:spcPts val="1890"/>
              </a:lnSpc>
              <a:spcBef>
                <a:spcPts val="0"/>
              </a:spcBef>
              <a:spcAft>
                <a:spcPts val="0"/>
              </a:spcAft>
              <a:defRPr sz="1800" b="0">
                <a:solidFill>
                  <a:srgbClr val="182B3A"/>
                </a:solidFill>
                <a:latin typeface="Arial"/>
              </a:defRPr>
            </a:pPr>
            <a:r>
              <a:t>Rods A and B have lengths in the ratio 5:8. Rod B is 21 mm longer than rod A. How long is rod B?</a:t>
            </a:r>
          </a:p>
        </p:txBody>
      </p:sp>
      <p:sp>
        <p:nvSpPr>
          <p:cNvPr id="28" name="Rectangle 27"/>
          <p:cNvSpPr/>
          <p:nvPr/>
        </p:nvSpPr>
        <p:spPr>
          <a:xfrm>
            <a:off x="9646920" y="2587752"/>
            <a:ext cx="4640580" cy="1005840"/>
          </a:xfrm>
          <a:prstGeom prst="rect">
            <a:avLst/>
          </a:prstGeom>
          <a:solidFill>
            <a:srgbClr val="F5F0F7"/>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TextBox 28"/>
          <p:cNvSpPr txBox="1"/>
          <p:nvPr/>
        </p:nvSpPr>
        <p:spPr>
          <a:xfrm>
            <a:off x="9674352" y="2660904"/>
            <a:ext cx="274320" cy="365760"/>
          </a:xfrm>
          <a:prstGeom prst="rect">
            <a:avLst/>
          </a:prstGeom>
          <a:noFill/>
        </p:spPr>
        <p:txBody>
          <a:bodyPr wrap="square" lIns="54864" tIns="22860" rIns="54864" bIns="22860">
            <a:spAutoFit/>
          </a:bodyPr>
          <a:lstStyle/>
          <a:p>
            <a:pPr>
              <a:lnSpc>
                <a:spcPts val="1785"/>
              </a:lnSpc>
              <a:spcBef>
                <a:spcPts val="0"/>
              </a:spcBef>
              <a:spcAft>
                <a:spcPts val="0"/>
              </a:spcAft>
              <a:defRPr sz="1700" b="1">
                <a:solidFill>
                  <a:srgbClr val="754B87"/>
                </a:solidFill>
                <a:latin typeface="Arial"/>
              </a:defRPr>
            </a:pPr>
            <a:r>
              <a:t>2</a:t>
            </a:r>
          </a:p>
        </p:txBody>
      </p:sp>
      <p:sp>
        <p:nvSpPr>
          <p:cNvPr id="30" name="TextBox 29"/>
          <p:cNvSpPr txBox="1"/>
          <p:nvPr/>
        </p:nvSpPr>
        <p:spPr>
          <a:xfrm>
            <a:off x="9976104" y="2647188"/>
            <a:ext cx="4261104" cy="886968"/>
          </a:xfrm>
          <a:prstGeom prst="rect">
            <a:avLst/>
          </a:prstGeom>
          <a:noFill/>
        </p:spPr>
        <p:txBody>
          <a:bodyPr wrap="square" lIns="54864" tIns="22860" rIns="54864" bIns="22860">
            <a:spAutoFit/>
          </a:bodyPr>
          <a:lstStyle/>
          <a:p>
            <a:pPr>
              <a:lnSpc>
                <a:spcPts val="1890"/>
              </a:lnSpc>
              <a:spcBef>
                <a:spcPts val="0"/>
              </a:spcBef>
              <a:spcAft>
                <a:spcPts val="0"/>
              </a:spcAft>
              <a:defRPr sz="1800" b="0">
                <a:solidFill>
                  <a:srgbClr val="182B3A"/>
                </a:solidFill>
                <a:latin typeface="Arial"/>
              </a:defRPr>
            </a:pPr>
            <a:r>
              <a:t>Kai and May receive money in the ratio 9:5. May gets £60. Find their combined amount.</a:t>
            </a:r>
          </a:p>
        </p:txBody>
      </p:sp>
      <p:sp>
        <p:nvSpPr>
          <p:cNvPr id="31" name="Rectangle 30"/>
          <p:cNvSpPr/>
          <p:nvPr/>
        </p:nvSpPr>
        <p:spPr>
          <a:xfrm>
            <a:off x="320040" y="3593592"/>
            <a:ext cx="4640580" cy="1005840"/>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TextBox 31"/>
          <p:cNvSpPr txBox="1"/>
          <p:nvPr/>
        </p:nvSpPr>
        <p:spPr>
          <a:xfrm>
            <a:off x="347472" y="3666744"/>
            <a:ext cx="274320" cy="365760"/>
          </a:xfrm>
          <a:prstGeom prst="rect">
            <a:avLst/>
          </a:prstGeom>
          <a:noFill/>
        </p:spPr>
        <p:txBody>
          <a:bodyPr wrap="square" lIns="54864" tIns="22860" rIns="54864" bIns="22860">
            <a:spAutoFit/>
          </a:bodyPr>
          <a:lstStyle/>
          <a:p>
            <a:pPr>
              <a:lnSpc>
                <a:spcPts val="1785"/>
              </a:lnSpc>
              <a:spcBef>
                <a:spcPts val="0"/>
              </a:spcBef>
              <a:spcAft>
                <a:spcPts val="0"/>
              </a:spcAft>
              <a:defRPr sz="1700" b="1">
                <a:solidFill>
                  <a:srgbClr val="176B73"/>
                </a:solidFill>
                <a:latin typeface="Arial"/>
              </a:defRPr>
            </a:pPr>
            <a:r>
              <a:t>3</a:t>
            </a:r>
          </a:p>
        </p:txBody>
      </p:sp>
      <p:sp>
        <p:nvSpPr>
          <p:cNvPr id="33" name="TextBox 32"/>
          <p:cNvSpPr txBox="1"/>
          <p:nvPr/>
        </p:nvSpPr>
        <p:spPr>
          <a:xfrm>
            <a:off x="649224" y="3653028"/>
            <a:ext cx="4261104" cy="886968"/>
          </a:xfrm>
          <a:prstGeom prst="rect">
            <a:avLst/>
          </a:prstGeom>
          <a:noFill/>
        </p:spPr>
        <p:txBody>
          <a:bodyPr wrap="square" lIns="54864" tIns="22860" rIns="54864" bIns="22860">
            <a:spAutoFit/>
          </a:bodyPr>
          <a:lstStyle/>
          <a:p>
            <a:pPr>
              <a:lnSpc>
                <a:spcPts val="1890"/>
              </a:lnSpc>
              <a:spcBef>
                <a:spcPts val="0"/>
              </a:spcBef>
              <a:spcAft>
                <a:spcPts val="0"/>
              </a:spcAft>
              <a:defRPr sz="1800" b="0">
                <a:solidFill>
                  <a:srgbClr val="182B3A"/>
                </a:solidFill>
                <a:latin typeface="Arial"/>
              </a:defRPr>
            </a:pPr>
            <a:r>
              <a:t>Dan and Pat share money in the ratio 1:6. Pat gets £70 more than Dan. How much does Dan get?</a:t>
            </a:r>
          </a:p>
        </p:txBody>
      </p:sp>
      <p:sp>
        <p:nvSpPr>
          <p:cNvPr id="34" name="Rectangle 33"/>
          <p:cNvSpPr/>
          <p:nvPr/>
        </p:nvSpPr>
        <p:spPr>
          <a:xfrm>
            <a:off x="4983480" y="3593592"/>
            <a:ext cx="4640580" cy="1005840"/>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 name="TextBox 34"/>
          <p:cNvSpPr txBox="1"/>
          <p:nvPr/>
        </p:nvSpPr>
        <p:spPr>
          <a:xfrm>
            <a:off x="5010912" y="3666744"/>
            <a:ext cx="274320" cy="365760"/>
          </a:xfrm>
          <a:prstGeom prst="rect">
            <a:avLst/>
          </a:prstGeom>
          <a:noFill/>
        </p:spPr>
        <p:txBody>
          <a:bodyPr wrap="square" lIns="54864" tIns="22860" rIns="54864" bIns="22860">
            <a:spAutoFit/>
          </a:bodyPr>
          <a:lstStyle/>
          <a:p>
            <a:pPr>
              <a:lnSpc>
                <a:spcPts val="1785"/>
              </a:lnSpc>
              <a:spcBef>
                <a:spcPts val="0"/>
              </a:spcBef>
              <a:spcAft>
                <a:spcPts val="0"/>
              </a:spcAft>
              <a:defRPr sz="1700" b="1">
                <a:solidFill>
                  <a:srgbClr val="3559A2"/>
                </a:solidFill>
                <a:latin typeface="Arial"/>
              </a:defRPr>
            </a:pPr>
            <a:r>
              <a:t>3</a:t>
            </a:r>
          </a:p>
        </p:txBody>
      </p:sp>
      <p:sp>
        <p:nvSpPr>
          <p:cNvPr id="36" name="TextBox 35"/>
          <p:cNvSpPr txBox="1"/>
          <p:nvPr/>
        </p:nvSpPr>
        <p:spPr>
          <a:xfrm>
            <a:off x="5312664" y="3653028"/>
            <a:ext cx="4261104" cy="886968"/>
          </a:xfrm>
          <a:prstGeom prst="rect">
            <a:avLst/>
          </a:prstGeom>
          <a:noFill/>
        </p:spPr>
        <p:txBody>
          <a:bodyPr wrap="square" lIns="54864" tIns="22860" rIns="54864" bIns="22860">
            <a:spAutoFit/>
          </a:bodyPr>
          <a:lstStyle/>
          <a:p>
            <a:pPr>
              <a:lnSpc>
                <a:spcPts val="1890"/>
              </a:lnSpc>
              <a:spcBef>
                <a:spcPts val="0"/>
              </a:spcBef>
              <a:spcAft>
                <a:spcPts val="0"/>
              </a:spcAft>
              <a:defRPr sz="1800" b="0">
                <a:solidFill>
                  <a:srgbClr val="182B3A"/>
                </a:solidFill>
                <a:latin typeface="Arial"/>
              </a:defRPr>
            </a:pPr>
            <a:r>
              <a:t>A recipe uses flour and butter in the ratio 4:3 by mass. There are 90 g of butter. Find the total mass.</a:t>
            </a:r>
          </a:p>
        </p:txBody>
      </p:sp>
      <p:sp>
        <p:nvSpPr>
          <p:cNvPr id="37" name="Rectangle 36"/>
          <p:cNvSpPr/>
          <p:nvPr/>
        </p:nvSpPr>
        <p:spPr>
          <a:xfrm>
            <a:off x="9646920" y="3593592"/>
            <a:ext cx="4640580" cy="1005840"/>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8" name="TextBox 37"/>
          <p:cNvSpPr txBox="1"/>
          <p:nvPr/>
        </p:nvSpPr>
        <p:spPr>
          <a:xfrm>
            <a:off x="9674352" y="3666744"/>
            <a:ext cx="274320" cy="365760"/>
          </a:xfrm>
          <a:prstGeom prst="rect">
            <a:avLst/>
          </a:prstGeom>
          <a:noFill/>
        </p:spPr>
        <p:txBody>
          <a:bodyPr wrap="square" lIns="54864" tIns="22860" rIns="54864" bIns="22860">
            <a:spAutoFit/>
          </a:bodyPr>
          <a:lstStyle/>
          <a:p>
            <a:pPr>
              <a:lnSpc>
                <a:spcPts val="1785"/>
              </a:lnSpc>
              <a:spcBef>
                <a:spcPts val="0"/>
              </a:spcBef>
              <a:spcAft>
                <a:spcPts val="0"/>
              </a:spcAft>
              <a:defRPr sz="1700" b="1">
                <a:solidFill>
                  <a:srgbClr val="754B87"/>
                </a:solidFill>
                <a:latin typeface="Arial"/>
              </a:defRPr>
            </a:pPr>
            <a:r>
              <a:t>3</a:t>
            </a:r>
          </a:p>
        </p:txBody>
      </p:sp>
      <p:sp>
        <p:nvSpPr>
          <p:cNvPr id="39" name="TextBox 38"/>
          <p:cNvSpPr txBox="1"/>
          <p:nvPr/>
        </p:nvSpPr>
        <p:spPr>
          <a:xfrm>
            <a:off x="9976104" y="3653028"/>
            <a:ext cx="4261104" cy="886968"/>
          </a:xfrm>
          <a:prstGeom prst="rect">
            <a:avLst/>
          </a:prstGeom>
          <a:noFill/>
        </p:spPr>
        <p:txBody>
          <a:bodyPr wrap="square" lIns="54864" tIns="22860" rIns="54864" bIns="22860">
            <a:spAutoFit/>
          </a:bodyPr>
          <a:lstStyle/>
          <a:p>
            <a:pPr>
              <a:lnSpc>
                <a:spcPts val="1890"/>
              </a:lnSpc>
              <a:spcBef>
                <a:spcPts val="0"/>
              </a:spcBef>
              <a:spcAft>
                <a:spcPts val="0"/>
              </a:spcAft>
              <a:defRPr sz="1800" b="0">
                <a:solidFill>
                  <a:srgbClr val="182B3A"/>
                </a:solidFill>
                <a:latin typeface="Arial"/>
              </a:defRPr>
            </a:pPr>
            <a:r>
              <a:t>A farm has 143 sheep and goats in the ratio 10:3. How many more sheep are there than goats?</a:t>
            </a:r>
          </a:p>
        </p:txBody>
      </p:sp>
      <p:sp>
        <p:nvSpPr>
          <p:cNvPr id="40" name="Rectangle 39"/>
          <p:cNvSpPr/>
          <p:nvPr/>
        </p:nvSpPr>
        <p:spPr>
          <a:xfrm>
            <a:off x="320040" y="4599432"/>
            <a:ext cx="4640580" cy="1005840"/>
          </a:xfrm>
          <a:prstGeom prst="rect">
            <a:avLst/>
          </a:prstGeom>
          <a:solidFill>
            <a:srgbClr val="EDF6F5"/>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1" name="TextBox 40"/>
          <p:cNvSpPr txBox="1"/>
          <p:nvPr/>
        </p:nvSpPr>
        <p:spPr>
          <a:xfrm>
            <a:off x="347472" y="4672584"/>
            <a:ext cx="274320" cy="365760"/>
          </a:xfrm>
          <a:prstGeom prst="rect">
            <a:avLst/>
          </a:prstGeom>
          <a:noFill/>
        </p:spPr>
        <p:txBody>
          <a:bodyPr wrap="square" lIns="54864" tIns="22860" rIns="54864" bIns="22860">
            <a:spAutoFit/>
          </a:bodyPr>
          <a:lstStyle/>
          <a:p>
            <a:pPr>
              <a:lnSpc>
                <a:spcPts val="1785"/>
              </a:lnSpc>
              <a:spcBef>
                <a:spcPts val="0"/>
              </a:spcBef>
              <a:spcAft>
                <a:spcPts val="0"/>
              </a:spcAft>
              <a:defRPr sz="1700" b="1">
                <a:solidFill>
                  <a:srgbClr val="176B73"/>
                </a:solidFill>
                <a:latin typeface="Arial"/>
              </a:defRPr>
            </a:pPr>
            <a:r>
              <a:t>4</a:t>
            </a:r>
          </a:p>
        </p:txBody>
      </p:sp>
      <p:sp>
        <p:nvSpPr>
          <p:cNvPr id="42" name="TextBox 41"/>
          <p:cNvSpPr txBox="1"/>
          <p:nvPr/>
        </p:nvSpPr>
        <p:spPr>
          <a:xfrm>
            <a:off x="649224" y="4658868"/>
            <a:ext cx="4261104" cy="886968"/>
          </a:xfrm>
          <a:prstGeom prst="rect">
            <a:avLst/>
          </a:prstGeom>
          <a:noFill/>
        </p:spPr>
        <p:txBody>
          <a:bodyPr wrap="square" lIns="54864" tIns="22860" rIns="54864" bIns="22860">
            <a:spAutoFit/>
          </a:bodyPr>
          <a:lstStyle/>
          <a:p>
            <a:pPr>
              <a:lnSpc>
                <a:spcPts val="1890"/>
              </a:lnSpc>
              <a:spcBef>
                <a:spcPts val="0"/>
              </a:spcBef>
              <a:spcAft>
                <a:spcPts val="0"/>
              </a:spcAft>
              <a:defRPr sz="1800" b="0">
                <a:solidFill>
                  <a:srgbClr val="182B3A"/>
                </a:solidFill>
                <a:latin typeface="Arial"/>
              </a:defRPr>
            </a:pPr>
            <a:r>
              <a:t>Action and dialogue times are in the ratio 5:6. Dialogue lasts 15 minutes longer. How long is the dialogue?</a:t>
            </a:r>
          </a:p>
        </p:txBody>
      </p:sp>
      <p:sp>
        <p:nvSpPr>
          <p:cNvPr id="43" name="Rectangle 42"/>
          <p:cNvSpPr/>
          <p:nvPr/>
        </p:nvSpPr>
        <p:spPr>
          <a:xfrm>
            <a:off x="4983480" y="4599432"/>
            <a:ext cx="4640580" cy="1005840"/>
          </a:xfrm>
          <a:prstGeom prst="rect">
            <a:avLst/>
          </a:prstGeom>
          <a:solidFill>
            <a:srgbClr val="EFF3FA"/>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4" name="TextBox 43"/>
          <p:cNvSpPr txBox="1"/>
          <p:nvPr/>
        </p:nvSpPr>
        <p:spPr>
          <a:xfrm>
            <a:off x="5010912" y="4672584"/>
            <a:ext cx="274320" cy="365760"/>
          </a:xfrm>
          <a:prstGeom prst="rect">
            <a:avLst/>
          </a:prstGeom>
          <a:noFill/>
        </p:spPr>
        <p:txBody>
          <a:bodyPr wrap="square" lIns="54864" tIns="22860" rIns="54864" bIns="22860">
            <a:spAutoFit/>
          </a:bodyPr>
          <a:lstStyle/>
          <a:p>
            <a:pPr>
              <a:lnSpc>
                <a:spcPts val="1785"/>
              </a:lnSpc>
              <a:spcBef>
                <a:spcPts val="0"/>
              </a:spcBef>
              <a:spcAft>
                <a:spcPts val="0"/>
              </a:spcAft>
              <a:defRPr sz="1700" b="1">
                <a:solidFill>
                  <a:srgbClr val="3559A2"/>
                </a:solidFill>
                <a:latin typeface="Arial"/>
              </a:defRPr>
            </a:pPr>
            <a:r>
              <a:t>4</a:t>
            </a:r>
          </a:p>
        </p:txBody>
      </p:sp>
      <p:sp>
        <p:nvSpPr>
          <p:cNvPr id="45" name="TextBox 44"/>
          <p:cNvSpPr txBox="1"/>
          <p:nvPr/>
        </p:nvSpPr>
        <p:spPr>
          <a:xfrm>
            <a:off x="5312664" y="4658868"/>
            <a:ext cx="4261104" cy="886968"/>
          </a:xfrm>
          <a:prstGeom prst="rect">
            <a:avLst/>
          </a:prstGeom>
          <a:noFill/>
        </p:spPr>
        <p:txBody>
          <a:bodyPr wrap="square" lIns="54864" tIns="22860" rIns="54864" bIns="22860">
            <a:spAutoFit/>
          </a:bodyPr>
          <a:lstStyle/>
          <a:p>
            <a:pPr>
              <a:lnSpc>
                <a:spcPts val="1890"/>
              </a:lnSpc>
              <a:spcBef>
                <a:spcPts val="0"/>
              </a:spcBef>
              <a:spcAft>
                <a:spcPts val="0"/>
              </a:spcAft>
              <a:defRPr sz="1800" b="0">
                <a:solidFill>
                  <a:srgbClr val="182B3A"/>
                </a:solidFill>
                <a:latin typeface="Arial"/>
              </a:defRPr>
            </a:pPr>
            <a:r>
              <a:t>Green and yellow beads are in the ratio 7:8. There are 3 more yellow than green. How many are yellow?</a:t>
            </a:r>
          </a:p>
        </p:txBody>
      </p:sp>
      <p:sp>
        <p:nvSpPr>
          <p:cNvPr id="46" name="Rectangle 45"/>
          <p:cNvSpPr/>
          <p:nvPr/>
        </p:nvSpPr>
        <p:spPr>
          <a:xfrm>
            <a:off x="9646920" y="4599432"/>
            <a:ext cx="4640580" cy="1005840"/>
          </a:xfrm>
          <a:prstGeom prst="rect">
            <a:avLst/>
          </a:prstGeom>
          <a:solidFill>
            <a:srgbClr val="F5F0F7"/>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7" name="TextBox 46"/>
          <p:cNvSpPr txBox="1"/>
          <p:nvPr/>
        </p:nvSpPr>
        <p:spPr>
          <a:xfrm>
            <a:off x="9674352" y="4672584"/>
            <a:ext cx="274320" cy="365760"/>
          </a:xfrm>
          <a:prstGeom prst="rect">
            <a:avLst/>
          </a:prstGeom>
          <a:noFill/>
        </p:spPr>
        <p:txBody>
          <a:bodyPr wrap="square" lIns="54864" tIns="22860" rIns="54864" bIns="22860">
            <a:spAutoFit/>
          </a:bodyPr>
          <a:lstStyle/>
          <a:p>
            <a:pPr>
              <a:lnSpc>
                <a:spcPts val="1785"/>
              </a:lnSpc>
              <a:spcBef>
                <a:spcPts val="0"/>
              </a:spcBef>
              <a:spcAft>
                <a:spcPts val="0"/>
              </a:spcAft>
              <a:defRPr sz="1700" b="1">
                <a:solidFill>
                  <a:srgbClr val="754B87"/>
                </a:solidFill>
                <a:latin typeface="Arial"/>
              </a:defRPr>
            </a:pPr>
            <a:r>
              <a:t>4</a:t>
            </a:r>
          </a:p>
        </p:txBody>
      </p:sp>
      <p:sp>
        <p:nvSpPr>
          <p:cNvPr id="48" name="TextBox 47"/>
          <p:cNvSpPr txBox="1"/>
          <p:nvPr/>
        </p:nvSpPr>
        <p:spPr>
          <a:xfrm>
            <a:off x="9976104" y="4658868"/>
            <a:ext cx="4261104" cy="886968"/>
          </a:xfrm>
          <a:prstGeom prst="rect">
            <a:avLst/>
          </a:prstGeom>
          <a:noFill/>
        </p:spPr>
        <p:txBody>
          <a:bodyPr wrap="square" lIns="54864" tIns="22860" rIns="54864" bIns="22860">
            <a:spAutoFit/>
          </a:bodyPr>
          <a:lstStyle/>
          <a:p>
            <a:pPr>
              <a:lnSpc>
                <a:spcPts val="1890"/>
              </a:lnSpc>
              <a:spcBef>
                <a:spcPts val="0"/>
              </a:spcBef>
              <a:spcAft>
                <a:spcPts val="0"/>
              </a:spcAft>
              <a:defRPr sz="1800" b="0">
                <a:solidFill>
                  <a:srgbClr val="182B3A"/>
                </a:solidFill>
                <a:latin typeface="Arial"/>
              </a:defRPr>
            </a:pPr>
            <a:r>
              <a:t>Milk and water have volumes in the ratio 10:7. There is 500 ml of milk. How much less water is there than milk?</a:t>
            </a:r>
          </a:p>
        </p:txBody>
      </p:sp>
      <p:sp>
        <p:nvSpPr>
          <p:cNvPr id="49" name="Rectangle 48"/>
          <p:cNvSpPr/>
          <p:nvPr/>
        </p:nvSpPr>
        <p:spPr>
          <a:xfrm>
            <a:off x="320040" y="5605272"/>
            <a:ext cx="4640580" cy="1005840"/>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0" name="TextBox 49"/>
          <p:cNvSpPr txBox="1"/>
          <p:nvPr/>
        </p:nvSpPr>
        <p:spPr>
          <a:xfrm>
            <a:off x="347472" y="5678424"/>
            <a:ext cx="274320" cy="365760"/>
          </a:xfrm>
          <a:prstGeom prst="rect">
            <a:avLst/>
          </a:prstGeom>
          <a:noFill/>
        </p:spPr>
        <p:txBody>
          <a:bodyPr wrap="square" lIns="54864" tIns="22860" rIns="54864" bIns="22860">
            <a:spAutoFit/>
          </a:bodyPr>
          <a:lstStyle/>
          <a:p>
            <a:pPr>
              <a:lnSpc>
                <a:spcPts val="1785"/>
              </a:lnSpc>
              <a:spcBef>
                <a:spcPts val="0"/>
              </a:spcBef>
              <a:spcAft>
                <a:spcPts val="0"/>
              </a:spcAft>
              <a:defRPr sz="1700" b="1">
                <a:solidFill>
                  <a:srgbClr val="176B73"/>
                </a:solidFill>
                <a:latin typeface="Arial"/>
              </a:defRPr>
            </a:pPr>
            <a:r>
              <a:t>5</a:t>
            </a:r>
          </a:p>
        </p:txBody>
      </p:sp>
      <p:sp>
        <p:nvSpPr>
          <p:cNvPr id="51" name="TextBox 50"/>
          <p:cNvSpPr txBox="1"/>
          <p:nvPr/>
        </p:nvSpPr>
        <p:spPr>
          <a:xfrm>
            <a:off x="649224" y="5664708"/>
            <a:ext cx="4261104" cy="886968"/>
          </a:xfrm>
          <a:prstGeom prst="rect">
            <a:avLst/>
          </a:prstGeom>
          <a:noFill/>
        </p:spPr>
        <p:txBody>
          <a:bodyPr wrap="square" lIns="54864" tIns="22860" rIns="54864" bIns="22860">
            <a:spAutoFit/>
          </a:bodyPr>
          <a:lstStyle/>
          <a:p>
            <a:pPr>
              <a:lnSpc>
                <a:spcPts val="1890"/>
              </a:lnSpc>
              <a:spcBef>
                <a:spcPts val="0"/>
              </a:spcBef>
              <a:spcAft>
                <a:spcPts val="0"/>
              </a:spcAft>
              <a:defRPr sz="1800" b="0">
                <a:solidFill>
                  <a:srgbClr val="182B3A"/>
                </a:solidFill>
                <a:latin typeface="Arial"/>
              </a:defRPr>
            </a:pPr>
            <a:r>
              <a:t>A 800 g fruit mix contains apples and pears in the ratio 7:1. Find the mass of pears.</a:t>
            </a:r>
          </a:p>
        </p:txBody>
      </p:sp>
      <p:sp>
        <p:nvSpPr>
          <p:cNvPr id="52" name="Rectangle 51"/>
          <p:cNvSpPr/>
          <p:nvPr/>
        </p:nvSpPr>
        <p:spPr>
          <a:xfrm>
            <a:off x="4983480" y="5605272"/>
            <a:ext cx="4640580" cy="1005840"/>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3" name="TextBox 52"/>
          <p:cNvSpPr txBox="1"/>
          <p:nvPr/>
        </p:nvSpPr>
        <p:spPr>
          <a:xfrm>
            <a:off x="5010912" y="5678424"/>
            <a:ext cx="274320" cy="365760"/>
          </a:xfrm>
          <a:prstGeom prst="rect">
            <a:avLst/>
          </a:prstGeom>
          <a:noFill/>
        </p:spPr>
        <p:txBody>
          <a:bodyPr wrap="square" lIns="54864" tIns="22860" rIns="54864" bIns="22860">
            <a:spAutoFit/>
          </a:bodyPr>
          <a:lstStyle/>
          <a:p>
            <a:pPr>
              <a:lnSpc>
                <a:spcPts val="1785"/>
              </a:lnSpc>
              <a:spcBef>
                <a:spcPts val="0"/>
              </a:spcBef>
              <a:spcAft>
                <a:spcPts val="0"/>
              </a:spcAft>
              <a:defRPr sz="1700" b="1">
                <a:solidFill>
                  <a:srgbClr val="3559A2"/>
                </a:solidFill>
                <a:latin typeface="Arial"/>
              </a:defRPr>
            </a:pPr>
            <a:r>
              <a:t>5</a:t>
            </a:r>
          </a:p>
        </p:txBody>
      </p:sp>
      <p:sp>
        <p:nvSpPr>
          <p:cNvPr id="54" name="TextBox 53"/>
          <p:cNvSpPr txBox="1"/>
          <p:nvPr/>
        </p:nvSpPr>
        <p:spPr>
          <a:xfrm>
            <a:off x="5312664" y="5664708"/>
            <a:ext cx="4261104" cy="886968"/>
          </a:xfrm>
          <a:prstGeom prst="rect">
            <a:avLst/>
          </a:prstGeom>
          <a:noFill/>
        </p:spPr>
        <p:txBody>
          <a:bodyPr wrap="square" lIns="54864" tIns="22860" rIns="54864" bIns="22860">
            <a:spAutoFit/>
          </a:bodyPr>
          <a:lstStyle/>
          <a:p>
            <a:pPr>
              <a:lnSpc>
                <a:spcPts val="1890"/>
              </a:lnSpc>
              <a:spcBef>
                <a:spcPts val="0"/>
              </a:spcBef>
              <a:spcAft>
                <a:spcPts val="0"/>
              </a:spcAft>
              <a:defRPr sz="1800" b="0">
                <a:solidFill>
                  <a:srgbClr val="182B3A"/>
                </a:solidFill>
                <a:latin typeface="Arial"/>
              </a:defRPr>
            </a:pPr>
            <a:r>
              <a:t>Sam and Jo share £90 in the ratio 9:1. How much does Jo receive?</a:t>
            </a:r>
          </a:p>
        </p:txBody>
      </p:sp>
      <p:sp>
        <p:nvSpPr>
          <p:cNvPr id="55" name="Rectangle 54"/>
          <p:cNvSpPr/>
          <p:nvPr/>
        </p:nvSpPr>
        <p:spPr>
          <a:xfrm>
            <a:off x="9646920" y="5605272"/>
            <a:ext cx="4640580" cy="1005840"/>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6" name="TextBox 55"/>
          <p:cNvSpPr txBox="1"/>
          <p:nvPr/>
        </p:nvSpPr>
        <p:spPr>
          <a:xfrm>
            <a:off x="9674352" y="5678424"/>
            <a:ext cx="274320" cy="365760"/>
          </a:xfrm>
          <a:prstGeom prst="rect">
            <a:avLst/>
          </a:prstGeom>
          <a:noFill/>
        </p:spPr>
        <p:txBody>
          <a:bodyPr wrap="square" lIns="54864" tIns="22860" rIns="54864" bIns="22860">
            <a:spAutoFit/>
          </a:bodyPr>
          <a:lstStyle/>
          <a:p>
            <a:pPr>
              <a:lnSpc>
                <a:spcPts val="1785"/>
              </a:lnSpc>
              <a:spcBef>
                <a:spcPts val="0"/>
              </a:spcBef>
              <a:spcAft>
                <a:spcPts val="0"/>
              </a:spcAft>
              <a:defRPr sz="1700" b="1">
                <a:solidFill>
                  <a:srgbClr val="754B87"/>
                </a:solidFill>
                <a:latin typeface="Arial"/>
              </a:defRPr>
            </a:pPr>
            <a:r>
              <a:t>5</a:t>
            </a:r>
          </a:p>
        </p:txBody>
      </p:sp>
      <p:sp>
        <p:nvSpPr>
          <p:cNvPr id="57" name="TextBox 56"/>
          <p:cNvSpPr txBox="1"/>
          <p:nvPr/>
        </p:nvSpPr>
        <p:spPr>
          <a:xfrm>
            <a:off x="9976104" y="5664708"/>
            <a:ext cx="4261104" cy="886968"/>
          </a:xfrm>
          <a:prstGeom prst="rect">
            <a:avLst/>
          </a:prstGeom>
          <a:noFill/>
        </p:spPr>
        <p:txBody>
          <a:bodyPr wrap="square" lIns="54864" tIns="22860" rIns="54864" bIns="22860">
            <a:spAutoFit/>
          </a:bodyPr>
          <a:lstStyle/>
          <a:p>
            <a:pPr>
              <a:lnSpc>
                <a:spcPts val="1890"/>
              </a:lnSpc>
              <a:spcBef>
                <a:spcPts val="0"/>
              </a:spcBef>
              <a:spcAft>
                <a:spcPts val="0"/>
              </a:spcAft>
              <a:defRPr sz="1800" b="0">
                <a:solidFill>
                  <a:srgbClr val="182B3A"/>
                </a:solidFill>
                <a:latin typeface="Arial"/>
              </a:defRPr>
            </a:pPr>
            <a:r>
              <a:t>Two paths have lengths in the ratio 4:9. The longer is 35 m longer. Find their combined length.</a:t>
            </a:r>
          </a:p>
        </p:txBody>
      </p:sp>
      <p:sp>
        <p:nvSpPr>
          <p:cNvPr id="58" name="Rectangle 57"/>
          <p:cNvSpPr/>
          <p:nvPr/>
        </p:nvSpPr>
        <p:spPr>
          <a:xfrm>
            <a:off x="320040" y="6611112"/>
            <a:ext cx="4640580" cy="1005840"/>
          </a:xfrm>
          <a:prstGeom prst="rect">
            <a:avLst/>
          </a:prstGeom>
          <a:solidFill>
            <a:srgbClr val="EDF6F5"/>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9" name="TextBox 58"/>
          <p:cNvSpPr txBox="1"/>
          <p:nvPr/>
        </p:nvSpPr>
        <p:spPr>
          <a:xfrm>
            <a:off x="347472" y="6684264"/>
            <a:ext cx="274320" cy="365760"/>
          </a:xfrm>
          <a:prstGeom prst="rect">
            <a:avLst/>
          </a:prstGeom>
          <a:noFill/>
        </p:spPr>
        <p:txBody>
          <a:bodyPr wrap="square" lIns="54864" tIns="22860" rIns="54864" bIns="22860">
            <a:spAutoFit/>
          </a:bodyPr>
          <a:lstStyle/>
          <a:p>
            <a:pPr>
              <a:lnSpc>
                <a:spcPts val="1785"/>
              </a:lnSpc>
              <a:spcBef>
                <a:spcPts val="0"/>
              </a:spcBef>
              <a:spcAft>
                <a:spcPts val="0"/>
              </a:spcAft>
              <a:defRPr sz="1700" b="1">
                <a:solidFill>
                  <a:srgbClr val="176B73"/>
                </a:solidFill>
                <a:latin typeface="Arial"/>
              </a:defRPr>
            </a:pPr>
            <a:r>
              <a:t>6</a:t>
            </a:r>
          </a:p>
        </p:txBody>
      </p:sp>
      <p:sp>
        <p:nvSpPr>
          <p:cNvPr id="60" name="TextBox 59"/>
          <p:cNvSpPr txBox="1"/>
          <p:nvPr/>
        </p:nvSpPr>
        <p:spPr>
          <a:xfrm>
            <a:off x="649224" y="6670548"/>
            <a:ext cx="4261104" cy="886968"/>
          </a:xfrm>
          <a:prstGeom prst="rect">
            <a:avLst/>
          </a:prstGeom>
          <a:noFill/>
        </p:spPr>
        <p:txBody>
          <a:bodyPr wrap="square" lIns="54864" tIns="22860" rIns="54864" bIns="22860">
            <a:spAutoFit/>
          </a:bodyPr>
          <a:lstStyle/>
          <a:p>
            <a:pPr>
              <a:lnSpc>
                <a:spcPts val="1890"/>
              </a:lnSpc>
              <a:spcBef>
                <a:spcPts val="0"/>
              </a:spcBef>
              <a:spcAft>
                <a:spcPts val="0"/>
              </a:spcAft>
              <a:defRPr sz="1800" b="0">
                <a:solidFill>
                  <a:srgbClr val="182B3A"/>
                </a:solidFill>
                <a:latin typeface="Arial"/>
              </a:defRPr>
            </a:pPr>
            <a:r>
              <a:t>Wire pieces A and B have lengths in the ratio 7:6. A is 84 cm long. Find the length of B.</a:t>
            </a:r>
          </a:p>
        </p:txBody>
      </p:sp>
      <p:sp>
        <p:nvSpPr>
          <p:cNvPr id="61" name="Rectangle 60"/>
          <p:cNvSpPr/>
          <p:nvPr/>
        </p:nvSpPr>
        <p:spPr>
          <a:xfrm>
            <a:off x="4983480" y="6611112"/>
            <a:ext cx="4640580" cy="1005840"/>
          </a:xfrm>
          <a:prstGeom prst="rect">
            <a:avLst/>
          </a:prstGeom>
          <a:solidFill>
            <a:srgbClr val="EFF3FA"/>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2" name="TextBox 61"/>
          <p:cNvSpPr txBox="1"/>
          <p:nvPr/>
        </p:nvSpPr>
        <p:spPr>
          <a:xfrm>
            <a:off x="5010912" y="6684264"/>
            <a:ext cx="274320" cy="365760"/>
          </a:xfrm>
          <a:prstGeom prst="rect">
            <a:avLst/>
          </a:prstGeom>
          <a:noFill/>
        </p:spPr>
        <p:txBody>
          <a:bodyPr wrap="square" lIns="54864" tIns="22860" rIns="54864" bIns="22860">
            <a:spAutoFit/>
          </a:bodyPr>
          <a:lstStyle/>
          <a:p>
            <a:pPr>
              <a:lnSpc>
                <a:spcPts val="1785"/>
              </a:lnSpc>
              <a:spcBef>
                <a:spcPts val="0"/>
              </a:spcBef>
              <a:spcAft>
                <a:spcPts val="0"/>
              </a:spcAft>
              <a:defRPr sz="1700" b="1">
                <a:solidFill>
                  <a:srgbClr val="3559A2"/>
                </a:solidFill>
                <a:latin typeface="Arial"/>
              </a:defRPr>
            </a:pPr>
            <a:r>
              <a:t>6</a:t>
            </a:r>
          </a:p>
        </p:txBody>
      </p:sp>
      <p:sp>
        <p:nvSpPr>
          <p:cNvPr id="63" name="TextBox 62"/>
          <p:cNvSpPr txBox="1"/>
          <p:nvPr/>
        </p:nvSpPr>
        <p:spPr>
          <a:xfrm>
            <a:off x="5312664" y="6670548"/>
            <a:ext cx="4261104" cy="886968"/>
          </a:xfrm>
          <a:prstGeom prst="rect">
            <a:avLst/>
          </a:prstGeom>
          <a:noFill/>
        </p:spPr>
        <p:txBody>
          <a:bodyPr wrap="square" lIns="54864" tIns="22860" rIns="54864" bIns="22860">
            <a:spAutoFit/>
          </a:bodyPr>
          <a:lstStyle/>
          <a:p>
            <a:pPr>
              <a:lnSpc>
                <a:spcPts val="1890"/>
              </a:lnSpc>
              <a:spcBef>
                <a:spcPts val="0"/>
              </a:spcBef>
              <a:spcAft>
                <a:spcPts val="0"/>
              </a:spcAft>
              <a:defRPr sz="1800" b="0">
                <a:solidFill>
                  <a:srgbClr val="182B3A"/>
                </a:solidFill>
                <a:latin typeface="Arial"/>
              </a:defRPr>
            </a:pPr>
            <a:r>
              <a:t>Concentrate and water are mixed in the ratio 2:9. There is 675 ml of water. Find the total volume.</a:t>
            </a:r>
          </a:p>
        </p:txBody>
      </p:sp>
      <p:sp>
        <p:nvSpPr>
          <p:cNvPr id="64" name="Rectangle 63"/>
          <p:cNvSpPr/>
          <p:nvPr/>
        </p:nvSpPr>
        <p:spPr>
          <a:xfrm>
            <a:off x="9646920" y="6611112"/>
            <a:ext cx="4640580" cy="1005840"/>
          </a:xfrm>
          <a:prstGeom prst="rect">
            <a:avLst/>
          </a:prstGeom>
          <a:solidFill>
            <a:srgbClr val="F5F0F7"/>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5" name="TextBox 64"/>
          <p:cNvSpPr txBox="1"/>
          <p:nvPr/>
        </p:nvSpPr>
        <p:spPr>
          <a:xfrm>
            <a:off x="9674352" y="6684264"/>
            <a:ext cx="274320" cy="365760"/>
          </a:xfrm>
          <a:prstGeom prst="rect">
            <a:avLst/>
          </a:prstGeom>
          <a:noFill/>
        </p:spPr>
        <p:txBody>
          <a:bodyPr wrap="square" lIns="54864" tIns="22860" rIns="54864" bIns="22860">
            <a:spAutoFit/>
          </a:bodyPr>
          <a:lstStyle/>
          <a:p>
            <a:pPr>
              <a:lnSpc>
                <a:spcPts val="1785"/>
              </a:lnSpc>
              <a:spcBef>
                <a:spcPts val="0"/>
              </a:spcBef>
              <a:spcAft>
                <a:spcPts val="0"/>
              </a:spcAft>
              <a:defRPr sz="1700" b="1">
                <a:solidFill>
                  <a:srgbClr val="754B87"/>
                </a:solidFill>
                <a:latin typeface="Arial"/>
              </a:defRPr>
            </a:pPr>
            <a:r>
              <a:t>6</a:t>
            </a:r>
          </a:p>
        </p:txBody>
      </p:sp>
      <p:sp>
        <p:nvSpPr>
          <p:cNvPr id="66" name="TextBox 65"/>
          <p:cNvSpPr txBox="1"/>
          <p:nvPr/>
        </p:nvSpPr>
        <p:spPr>
          <a:xfrm>
            <a:off x="9976104" y="6670548"/>
            <a:ext cx="4261104" cy="886968"/>
          </a:xfrm>
          <a:prstGeom prst="rect">
            <a:avLst/>
          </a:prstGeom>
          <a:noFill/>
        </p:spPr>
        <p:txBody>
          <a:bodyPr wrap="square" lIns="54864" tIns="22860" rIns="54864" bIns="22860">
            <a:spAutoFit/>
          </a:bodyPr>
          <a:lstStyle/>
          <a:p>
            <a:pPr>
              <a:lnSpc>
                <a:spcPts val="1890"/>
              </a:lnSpc>
              <a:spcBef>
                <a:spcPts val="0"/>
              </a:spcBef>
              <a:spcAft>
                <a:spcPts val="0"/>
              </a:spcAft>
              <a:defRPr sz="1800" b="0">
                <a:solidFill>
                  <a:srgbClr val="182B3A"/>
                </a:solidFill>
                <a:latin typeface="Arial"/>
              </a:defRPr>
            </a:pPr>
            <a:r>
              <a:t>A 950 g mix contains oats and raisins in the ratio 10:9. Find the mass of each ingredient.</a:t>
            </a:r>
          </a:p>
        </p:txBody>
      </p:sp>
      <p:sp>
        <p:nvSpPr>
          <p:cNvPr id="67" name="Progression curved arrow: Thread 1 to Thread 2"/>
          <p:cNvSpPr/>
          <p:nvPr/>
        </p:nvSpPr>
        <p:spPr>
          <a:xfrm>
            <a:off x="4649723" y="7552294"/>
            <a:ext cx="621792" cy="314053"/>
          </a:xfrm>
          <a:custGeom>
            <a:avLst/>
            <a:gdLst/>
            <a:ahLst/>
            <a:cxnLst/>
            <a:rect l="0" t="0" r="100000" b="100000"/>
            <a:pathLst>
              <a:path w="100000" h="100000" fill="none">
                <a:moveTo>
                  <a:pt x="6970" y="48439"/>
                </a:moveTo>
                <a:cubicBezTo>
                  <a:pt x="40678" y="114499"/>
                  <a:pt x="73026" y="88145"/>
                  <a:pt x="93030" y="13799"/>
                </a:cubicBezTo>
              </a:path>
              <a:path w="100000" h="100000" fill="none">
                <a:moveTo>
                  <a:pt x="69018" y="40431"/>
                </a:moveTo>
                <a:lnTo>
                  <a:pt x="93030" y="13799"/>
                </a:lnTo>
                <a:lnTo>
                  <a:pt x="92217" y="66207"/>
                </a:lnTo>
              </a:path>
            </a:pathLst>
          </a:custGeom>
          <a:noFill/>
          <a:ln w="64449" cap="rnd">
            <a:solidFill>
              <a:schemeClr val="accent6">
                <a:lumMod val="60000"/>
                <a:lumOff val="40000"/>
              </a:schemeClr>
            </a:solidFill>
            <a:round/>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68" name="Progression curved arrow: Thread 2 to Thread 3"/>
          <p:cNvSpPr/>
          <p:nvPr/>
        </p:nvSpPr>
        <p:spPr>
          <a:xfrm>
            <a:off x="9265327" y="7543800"/>
            <a:ext cx="621792" cy="314053"/>
          </a:xfrm>
          <a:custGeom>
            <a:avLst/>
            <a:gdLst/>
            <a:ahLst/>
            <a:cxnLst/>
            <a:rect l="0" t="0" r="100000" b="100000"/>
            <a:pathLst>
              <a:path w="100000" h="100000" fill="none">
                <a:moveTo>
                  <a:pt x="6970" y="48439"/>
                </a:moveTo>
                <a:cubicBezTo>
                  <a:pt x="40678" y="114499"/>
                  <a:pt x="73026" y="88145"/>
                  <a:pt x="93030" y="13799"/>
                </a:cubicBezTo>
              </a:path>
              <a:path w="100000" h="100000" fill="none">
                <a:moveTo>
                  <a:pt x="69018" y="40431"/>
                </a:moveTo>
                <a:lnTo>
                  <a:pt x="93030" y="13799"/>
                </a:lnTo>
                <a:lnTo>
                  <a:pt x="92217" y="66207"/>
                </a:lnTo>
              </a:path>
            </a:pathLst>
          </a:custGeom>
          <a:noFill/>
          <a:ln w="64449" cap="rnd">
            <a:solidFill>
              <a:schemeClr val="accent6">
                <a:lumMod val="60000"/>
                <a:lumOff val="40000"/>
              </a:schemeClr>
            </a:solidFill>
            <a:round/>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Tree>
  </p:cSld>
  <p:clrMapOvr>
    <a:masterClrMapping/>
  </p:clrMapOvr>
</p:sld>
</file>

<file path=ppt/slides/slide67.xml><?xml version="1.0" encoding="utf-8"?>
<p:sld xmlns:a="http://schemas.openxmlformats.org/drawingml/2006/main" xmlns:p="http://schemas.openxmlformats.org/presentationml/2006/main" xmlns:r="http://schemas.openxmlformats.org/officeDocument/2006/relationships">
  <p:cSld>
    <p:bg>
      <p:bgPr>
        <a:solidFill>
          <a:srgbClr val="F7F8FA"/>
        </a:solidFill>
        <a:effectLst/>
      </p:bgPr>
    </p:bg>
    <p:spTree>
      <p:nvGrpSpPr>
        <p:cNvPr id="1" name=""/>
        <p:cNvGrpSpPr/>
        <p:nvPr/>
      </p:nvGrpSpPr>
      <p:grpSpPr/>
      <p:sp>
        <p:nvSpPr>
          <p:cNvPr id="2" name="Rectangle 1"/>
          <p:cNvSpPr/>
          <p:nvPr/>
        </p:nvSpPr>
        <p:spPr>
          <a:xfrm>
            <a:off x="0" y="0"/>
            <a:ext cx="14630400" cy="73152"/>
          </a:xfrm>
          <a:prstGeom prst="rect">
            <a:avLst/>
          </a:prstGeom>
          <a:solidFill>
            <a:srgbClr val="176B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320040" y="164592"/>
            <a:ext cx="13990320" cy="457200"/>
          </a:xfrm>
          <a:prstGeom prst="rect">
            <a:avLst/>
          </a:prstGeom>
          <a:noFill/>
        </p:spPr>
        <p:txBody>
          <a:bodyPr wrap="square" lIns="54864" tIns="22860" rIns="54864" bIns="22860">
            <a:spAutoFit/>
          </a:bodyPr>
          <a:lstStyle/>
          <a:p>
            <a:pPr>
              <a:lnSpc>
                <a:spcPts val="2940"/>
              </a:lnSpc>
              <a:spcBef>
                <a:spcPts val="0"/>
              </a:spcBef>
              <a:spcAft>
                <a:spcPts val="0"/>
              </a:spcAft>
              <a:defRPr sz="2800" b="1">
                <a:solidFill>
                  <a:srgbClr val="182B3A"/>
                </a:solidFill>
                <a:latin typeface="Arial"/>
              </a:defRPr>
            </a:pPr>
            <a:r>
              <a:t>Ratio: sharing and missing amounts</a:t>
            </a:r>
          </a:p>
        </p:txBody>
      </p:sp>
      <p:sp>
        <p:nvSpPr>
          <p:cNvPr id="4" name="TextBox 3"/>
          <p:cNvSpPr txBox="1"/>
          <p:nvPr/>
        </p:nvSpPr>
        <p:spPr>
          <a:xfrm>
            <a:off x="320040" y="704088"/>
            <a:ext cx="13990320" cy="347472"/>
          </a:xfrm>
          <a:prstGeom prst="rect">
            <a:avLst/>
          </a:prstGeom>
          <a:noFill/>
        </p:spPr>
        <p:txBody>
          <a:bodyPr wrap="square" lIns="54864" tIns="22860" rIns="54864" bIns="22860">
            <a:spAutoFit/>
          </a:bodyPr>
          <a:lstStyle/>
          <a:p>
            <a:pPr>
              <a:lnSpc>
                <a:spcPts val="1575"/>
              </a:lnSpc>
              <a:spcBef>
                <a:spcPts val="0"/>
              </a:spcBef>
              <a:spcAft>
                <a:spcPts val="0"/>
              </a:spcAft>
              <a:defRPr sz="1500" b="0">
                <a:solidFill>
                  <a:srgbClr val="526472"/>
                </a:solidFill>
                <a:latin typeface="Arial"/>
              </a:defRPr>
            </a:pPr>
            <a:r>
              <a:t>Independent practice 4 • Choose a column. Show your working and check your answers.</a:t>
            </a:r>
          </a:p>
        </p:txBody>
      </p:sp>
      <p:sp>
        <p:nvSpPr>
          <p:cNvPr id="5" name="TextBox 4"/>
          <p:cNvSpPr txBox="1"/>
          <p:nvPr/>
        </p:nvSpPr>
        <p:spPr>
          <a:xfrm>
            <a:off x="320040" y="7973568"/>
            <a:ext cx="10789920" cy="210312"/>
          </a:xfrm>
          <a:prstGeom prst="rect">
            <a:avLst/>
          </a:prstGeom>
          <a:noFill/>
        </p:spPr>
        <p:txBody>
          <a:bodyPr wrap="square" lIns="54864" tIns="22860" rIns="54864" bIns="22860">
            <a:spAutoFit/>
          </a:bodyPr>
          <a:lstStyle/>
          <a:p>
            <a:pPr>
              <a:lnSpc>
                <a:spcPts val="1155"/>
              </a:lnSpc>
              <a:spcBef>
                <a:spcPts val="0"/>
              </a:spcBef>
              <a:spcAft>
                <a:spcPts val="0"/>
              </a:spcAft>
              <a:defRPr sz="1100" b="0">
                <a:solidFill>
                  <a:srgbClr val="526472"/>
                </a:solidFill>
                <a:latin typeface="Arial"/>
              </a:defRPr>
            </a:pPr>
            <a:r>
              <a:t>GCSE Maths revision • No calculator • Show your working.</a:t>
            </a:r>
          </a:p>
        </p:txBody>
      </p:sp>
      <p:sp>
        <p:nvSpPr>
          <p:cNvPr id="6" name="TextBox 5"/>
          <p:cNvSpPr txBox="1"/>
          <p:nvPr/>
        </p:nvSpPr>
        <p:spPr>
          <a:xfrm>
            <a:off x="11155680" y="7973568"/>
            <a:ext cx="3108960" cy="210312"/>
          </a:xfrm>
          <a:prstGeom prst="rect">
            <a:avLst/>
          </a:prstGeom>
          <a:noFill/>
        </p:spPr>
        <p:txBody>
          <a:bodyPr wrap="square" lIns="54864" tIns="22860" rIns="54864" bIns="22860">
            <a:spAutoFit/>
          </a:bodyPr>
          <a:lstStyle/>
          <a:p>
            <a:pPr>
              <a:lnSpc>
                <a:spcPts val="1155"/>
              </a:lnSpc>
              <a:spcBef>
                <a:spcPts val="0"/>
              </a:spcBef>
              <a:spcAft>
                <a:spcPts val="0"/>
              </a:spcAft>
              <a:defRPr sz="1100" b="0">
                <a:solidFill>
                  <a:srgbClr val="526472"/>
                </a:solidFill>
                <a:latin typeface="Arial"/>
              </a:defRPr>
            </a:pPr>
            <a:r>
              <a:t>M04-S07</a:t>
            </a:r>
          </a:p>
        </p:txBody>
      </p:sp>
      <p:sp>
        <p:nvSpPr>
          <p:cNvPr id="7" name="Rectangle 6"/>
          <p:cNvSpPr/>
          <p:nvPr/>
        </p:nvSpPr>
        <p:spPr>
          <a:xfrm>
            <a:off x="320040" y="1115568"/>
            <a:ext cx="4640580" cy="420624"/>
          </a:xfrm>
          <a:prstGeom prst="rect">
            <a:avLst/>
          </a:prstGeom>
          <a:solidFill>
            <a:srgbClr val="176B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347472" y="1147572"/>
            <a:ext cx="4581144" cy="329184"/>
          </a:xfrm>
          <a:prstGeom prst="rect">
            <a:avLst/>
          </a:prstGeom>
          <a:noFill/>
        </p:spPr>
        <p:txBody>
          <a:bodyPr wrap="square" lIns="54864" tIns="22860" rIns="54864" bIns="22860">
            <a:spAutoFit/>
          </a:bodyPr>
          <a:lstStyle/>
          <a:p>
            <a:pPr>
              <a:lnSpc>
                <a:spcPts val="1995"/>
              </a:lnSpc>
              <a:spcBef>
                <a:spcPts val="0"/>
              </a:spcBef>
              <a:spcAft>
                <a:spcPts val="0"/>
              </a:spcAft>
              <a:defRPr sz="1900" b="1">
                <a:solidFill>
                  <a:srgbClr val="FFFFFF"/>
                </a:solidFill>
                <a:latin typeface="Arial"/>
              </a:defRPr>
            </a:pPr>
            <a:r>
              <a:t>Start</a:t>
            </a:r>
          </a:p>
        </p:txBody>
      </p:sp>
      <p:sp>
        <p:nvSpPr>
          <p:cNvPr id="9" name="Rectangle 8"/>
          <p:cNvSpPr/>
          <p:nvPr/>
        </p:nvSpPr>
        <p:spPr>
          <a:xfrm>
            <a:off x="4983480" y="1115568"/>
            <a:ext cx="4640580" cy="420624"/>
          </a:xfrm>
          <a:prstGeom prst="rect">
            <a:avLst/>
          </a:prstGeom>
          <a:solidFill>
            <a:srgbClr val="3559A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5010912" y="1147572"/>
            <a:ext cx="4581144" cy="329184"/>
          </a:xfrm>
          <a:prstGeom prst="rect">
            <a:avLst/>
          </a:prstGeom>
          <a:noFill/>
        </p:spPr>
        <p:txBody>
          <a:bodyPr wrap="square" lIns="54864" tIns="22860" rIns="54864" bIns="22860">
            <a:spAutoFit/>
          </a:bodyPr>
          <a:lstStyle/>
          <a:p>
            <a:pPr>
              <a:lnSpc>
                <a:spcPts val="1995"/>
              </a:lnSpc>
              <a:spcBef>
                <a:spcPts val="0"/>
              </a:spcBef>
              <a:spcAft>
                <a:spcPts val="0"/>
              </a:spcAft>
              <a:defRPr sz="1900" b="1">
                <a:solidFill>
                  <a:srgbClr val="FFFFFF"/>
                </a:solidFill>
                <a:latin typeface="Arial"/>
              </a:defRPr>
            </a:pPr>
            <a:r>
              <a:t>Build</a:t>
            </a:r>
          </a:p>
        </p:txBody>
      </p:sp>
      <p:sp>
        <p:nvSpPr>
          <p:cNvPr id="11" name="Rectangle 10"/>
          <p:cNvSpPr/>
          <p:nvPr/>
        </p:nvSpPr>
        <p:spPr>
          <a:xfrm>
            <a:off x="9646920" y="1115568"/>
            <a:ext cx="4640580" cy="420624"/>
          </a:xfrm>
          <a:prstGeom prst="rect">
            <a:avLst/>
          </a:prstGeom>
          <a:solidFill>
            <a:srgbClr val="754B8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9674352" y="1147572"/>
            <a:ext cx="4581144" cy="329184"/>
          </a:xfrm>
          <a:prstGeom prst="rect">
            <a:avLst/>
          </a:prstGeom>
          <a:noFill/>
        </p:spPr>
        <p:txBody>
          <a:bodyPr wrap="square" lIns="54864" tIns="22860" rIns="54864" bIns="22860">
            <a:spAutoFit/>
          </a:bodyPr>
          <a:lstStyle/>
          <a:p>
            <a:pPr>
              <a:lnSpc>
                <a:spcPts val="1995"/>
              </a:lnSpc>
              <a:spcBef>
                <a:spcPts val="0"/>
              </a:spcBef>
              <a:spcAft>
                <a:spcPts val="0"/>
              </a:spcAft>
              <a:defRPr sz="1900" b="1">
                <a:solidFill>
                  <a:srgbClr val="FFFFFF"/>
                </a:solidFill>
                <a:latin typeface="Arial"/>
              </a:defRPr>
            </a:pPr>
            <a:r>
              <a:t>Confidence</a:t>
            </a:r>
          </a:p>
        </p:txBody>
      </p:sp>
      <p:sp>
        <p:nvSpPr>
          <p:cNvPr id="13" name="Rectangle 12"/>
          <p:cNvSpPr/>
          <p:nvPr/>
        </p:nvSpPr>
        <p:spPr>
          <a:xfrm>
            <a:off x="320040" y="1581912"/>
            <a:ext cx="4640580" cy="1005840"/>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347472" y="1655064"/>
            <a:ext cx="274320" cy="365760"/>
          </a:xfrm>
          <a:prstGeom prst="rect">
            <a:avLst/>
          </a:prstGeom>
          <a:noFill/>
        </p:spPr>
        <p:txBody>
          <a:bodyPr wrap="square" lIns="54864" tIns="22860" rIns="54864" bIns="22860">
            <a:spAutoFit/>
          </a:bodyPr>
          <a:lstStyle/>
          <a:p>
            <a:pPr>
              <a:lnSpc>
                <a:spcPts val="1785"/>
              </a:lnSpc>
              <a:spcBef>
                <a:spcPts val="0"/>
              </a:spcBef>
              <a:spcAft>
                <a:spcPts val="0"/>
              </a:spcAft>
              <a:defRPr sz="1700" b="1">
                <a:solidFill>
                  <a:srgbClr val="176B73"/>
                </a:solidFill>
                <a:latin typeface="Arial"/>
              </a:defRPr>
            </a:pPr>
            <a:r>
              <a:t>1</a:t>
            </a:r>
          </a:p>
        </p:txBody>
      </p:sp>
      <p:sp>
        <p:nvSpPr>
          <p:cNvPr id="15" name="TextBox 14"/>
          <p:cNvSpPr txBox="1"/>
          <p:nvPr/>
        </p:nvSpPr>
        <p:spPr>
          <a:xfrm>
            <a:off x="649224" y="1641348"/>
            <a:ext cx="4261104" cy="886968"/>
          </a:xfrm>
          <a:prstGeom prst="rect">
            <a:avLst/>
          </a:prstGeom>
          <a:noFill/>
        </p:spPr>
        <p:txBody>
          <a:bodyPr wrap="square" lIns="54864" tIns="22860" rIns="54864" bIns="22860">
            <a:spAutoFit/>
          </a:bodyPr>
          <a:lstStyle/>
          <a:p>
            <a:pPr>
              <a:lnSpc>
                <a:spcPts val="1890"/>
              </a:lnSpc>
              <a:spcBef>
                <a:spcPts val="0"/>
              </a:spcBef>
              <a:spcAft>
                <a:spcPts val="0"/>
              </a:spcAft>
              <a:defRPr sz="1800" b="0">
                <a:solidFill>
                  <a:srgbClr val="182B3A"/>
                </a:solidFill>
                <a:latin typeface="Arial"/>
              </a:defRPr>
            </a:pPr>
            <a:r>
              <a:t>A 30-minute trip has walking and cycling times in the ratio 1:2. Find the cycling time.</a:t>
            </a:r>
          </a:p>
        </p:txBody>
      </p:sp>
      <p:sp>
        <p:nvSpPr>
          <p:cNvPr id="16" name="Rectangle 15"/>
          <p:cNvSpPr/>
          <p:nvPr/>
        </p:nvSpPr>
        <p:spPr>
          <a:xfrm>
            <a:off x="4983480" y="1581912"/>
            <a:ext cx="4640580" cy="1005840"/>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5010912" y="1655064"/>
            <a:ext cx="274320" cy="365760"/>
          </a:xfrm>
          <a:prstGeom prst="rect">
            <a:avLst/>
          </a:prstGeom>
          <a:noFill/>
        </p:spPr>
        <p:txBody>
          <a:bodyPr wrap="square" lIns="54864" tIns="22860" rIns="54864" bIns="22860">
            <a:spAutoFit/>
          </a:bodyPr>
          <a:lstStyle/>
          <a:p>
            <a:pPr>
              <a:lnSpc>
                <a:spcPts val="1785"/>
              </a:lnSpc>
              <a:spcBef>
                <a:spcPts val="0"/>
              </a:spcBef>
              <a:spcAft>
                <a:spcPts val="0"/>
              </a:spcAft>
              <a:defRPr sz="1700" b="1">
                <a:solidFill>
                  <a:srgbClr val="3559A2"/>
                </a:solidFill>
                <a:latin typeface="Arial"/>
              </a:defRPr>
            </a:pPr>
            <a:r>
              <a:t>1</a:t>
            </a:r>
          </a:p>
        </p:txBody>
      </p:sp>
      <p:sp>
        <p:nvSpPr>
          <p:cNvPr id="18" name="TextBox 17"/>
          <p:cNvSpPr txBox="1"/>
          <p:nvPr/>
        </p:nvSpPr>
        <p:spPr>
          <a:xfrm>
            <a:off x="5312664" y="1641348"/>
            <a:ext cx="4261104" cy="886968"/>
          </a:xfrm>
          <a:prstGeom prst="rect">
            <a:avLst/>
          </a:prstGeom>
          <a:noFill/>
        </p:spPr>
        <p:txBody>
          <a:bodyPr wrap="square" lIns="54864" tIns="22860" rIns="54864" bIns="22860">
            <a:spAutoFit/>
          </a:bodyPr>
          <a:lstStyle/>
          <a:p>
            <a:pPr>
              <a:lnSpc>
                <a:spcPts val="1890"/>
              </a:lnSpc>
              <a:spcBef>
                <a:spcPts val="0"/>
              </a:spcBef>
              <a:spcAft>
                <a:spcPts val="0"/>
              </a:spcAft>
              <a:defRPr sz="1800" b="0">
                <a:solidFill>
                  <a:srgbClr val="182B3A"/>
                </a:solidFill>
                <a:latin typeface="Arial"/>
              </a:defRPr>
            </a:pPr>
            <a:r>
              <a:t>Two charities receive money in the ratio 7:9. The second gets £108. How much is donated altogether?</a:t>
            </a:r>
          </a:p>
        </p:txBody>
      </p:sp>
      <p:sp>
        <p:nvSpPr>
          <p:cNvPr id="19" name="Rectangle 18"/>
          <p:cNvSpPr/>
          <p:nvPr/>
        </p:nvSpPr>
        <p:spPr>
          <a:xfrm>
            <a:off x="9646920" y="1581912"/>
            <a:ext cx="4640580" cy="1005840"/>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9674352" y="1655064"/>
            <a:ext cx="274320" cy="365760"/>
          </a:xfrm>
          <a:prstGeom prst="rect">
            <a:avLst/>
          </a:prstGeom>
          <a:noFill/>
        </p:spPr>
        <p:txBody>
          <a:bodyPr wrap="square" lIns="54864" tIns="22860" rIns="54864" bIns="22860">
            <a:spAutoFit/>
          </a:bodyPr>
          <a:lstStyle/>
          <a:p>
            <a:pPr>
              <a:lnSpc>
                <a:spcPts val="1785"/>
              </a:lnSpc>
              <a:spcBef>
                <a:spcPts val="0"/>
              </a:spcBef>
              <a:spcAft>
                <a:spcPts val="0"/>
              </a:spcAft>
              <a:defRPr sz="1700" b="1">
                <a:solidFill>
                  <a:srgbClr val="754B87"/>
                </a:solidFill>
                <a:latin typeface="Arial"/>
              </a:defRPr>
            </a:pPr>
            <a:r>
              <a:t>1</a:t>
            </a:r>
          </a:p>
        </p:txBody>
      </p:sp>
      <p:sp>
        <p:nvSpPr>
          <p:cNvPr id="21" name="TextBox 20"/>
          <p:cNvSpPr txBox="1"/>
          <p:nvPr/>
        </p:nvSpPr>
        <p:spPr>
          <a:xfrm>
            <a:off x="9976104" y="1641348"/>
            <a:ext cx="4261104" cy="886968"/>
          </a:xfrm>
          <a:prstGeom prst="rect">
            <a:avLst/>
          </a:prstGeom>
          <a:noFill/>
        </p:spPr>
        <p:txBody>
          <a:bodyPr wrap="square" lIns="54864" tIns="22860" rIns="54864" bIns="22860">
            <a:spAutoFit/>
          </a:bodyPr>
          <a:lstStyle/>
          <a:p>
            <a:pPr>
              <a:lnSpc>
                <a:spcPts val="1890"/>
              </a:lnSpc>
              <a:spcBef>
                <a:spcPts val="0"/>
              </a:spcBef>
              <a:spcAft>
                <a:spcPts val="0"/>
              </a:spcAft>
              <a:defRPr sz="1800" b="0">
                <a:solidFill>
                  <a:srgbClr val="182B3A"/>
                </a:solidFill>
                <a:latin typeface="Arial"/>
              </a:defRPr>
            </a:pPr>
            <a:r>
              <a:t>Two tanks hold water in the ratio 1:11. The second holds 90 litres more. How much water is in the first?</a:t>
            </a:r>
          </a:p>
        </p:txBody>
      </p:sp>
      <p:sp>
        <p:nvSpPr>
          <p:cNvPr id="22" name="Rectangle 21"/>
          <p:cNvSpPr/>
          <p:nvPr/>
        </p:nvSpPr>
        <p:spPr>
          <a:xfrm>
            <a:off x="320040" y="2587752"/>
            <a:ext cx="4640580" cy="1005840"/>
          </a:xfrm>
          <a:prstGeom prst="rect">
            <a:avLst/>
          </a:prstGeom>
          <a:solidFill>
            <a:srgbClr val="EDF6F5"/>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347472" y="2660904"/>
            <a:ext cx="274320" cy="365760"/>
          </a:xfrm>
          <a:prstGeom prst="rect">
            <a:avLst/>
          </a:prstGeom>
          <a:noFill/>
        </p:spPr>
        <p:txBody>
          <a:bodyPr wrap="square" lIns="54864" tIns="22860" rIns="54864" bIns="22860">
            <a:spAutoFit/>
          </a:bodyPr>
          <a:lstStyle/>
          <a:p>
            <a:pPr>
              <a:lnSpc>
                <a:spcPts val="1785"/>
              </a:lnSpc>
              <a:spcBef>
                <a:spcPts val="0"/>
              </a:spcBef>
              <a:spcAft>
                <a:spcPts val="0"/>
              </a:spcAft>
              <a:defRPr sz="1700" b="1">
                <a:solidFill>
                  <a:srgbClr val="176B73"/>
                </a:solidFill>
                <a:latin typeface="Arial"/>
              </a:defRPr>
            </a:pPr>
            <a:r>
              <a:t>2</a:t>
            </a:r>
          </a:p>
        </p:txBody>
      </p:sp>
      <p:sp>
        <p:nvSpPr>
          <p:cNvPr id="24" name="TextBox 23"/>
          <p:cNvSpPr txBox="1"/>
          <p:nvPr/>
        </p:nvSpPr>
        <p:spPr>
          <a:xfrm>
            <a:off x="649224" y="2647188"/>
            <a:ext cx="4261104" cy="886968"/>
          </a:xfrm>
          <a:prstGeom prst="rect">
            <a:avLst/>
          </a:prstGeom>
          <a:noFill/>
        </p:spPr>
        <p:txBody>
          <a:bodyPr wrap="square" lIns="54864" tIns="22860" rIns="54864" bIns="22860">
            <a:spAutoFit/>
          </a:bodyPr>
          <a:lstStyle/>
          <a:p>
            <a:pPr>
              <a:lnSpc>
                <a:spcPts val="1890"/>
              </a:lnSpc>
              <a:spcBef>
                <a:spcPts val="0"/>
              </a:spcBef>
              <a:spcAft>
                <a:spcPts val="0"/>
              </a:spcAft>
              <a:defRPr sz="1800" b="0">
                <a:solidFill>
                  <a:srgbClr val="182B3A"/>
                </a:solidFill>
                <a:latin typeface="Arial"/>
              </a:defRPr>
            </a:pPr>
            <a:r>
              <a:t>Two buckets contain 20 litres of water in total, in the ratio 1:3. Find the amount in each bucket.</a:t>
            </a:r>
          </a:p>
        </p:txBody>
      </p:sp>
      <p:sp>
        <p:nvSpPr>
          <p:cNvPr id="25" name="Rectangle 24"/>
          <p:cNvSpPr/>
          <p:nvPr/>
        </p:nvSpPr>
        <p:spPr>
          <a:xfrm>
            <a:off x="4983480" y="2587752"/>
            <a:ext cx="4640580" cy="1005840"/>
          </a:xfrm>
          <a:prstGeom prst="rect">
            <a:avLst/>
          </a:prstGeom>
          <a:solidFill>
            <a:srgbClr val="EFF3FA"/>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TextBox 25"/>
          <p:cNvSpPr txBox="1"/>
          <p:nvPr/>
        </p:nvSpPr>
        <p:spPr>
          <a:xfrm>
            <a:off x="5010912" y="2660904"/>
            <a:ext cx="274320" cy="365760"/>
          </a:xfrm>
          <a:prstGeom prst="rect">
            <a:avLst/>
          </a:prstGeom>
          <a:noFill/>
        </p:spPr>
        <p:txBody>
          <a:bodyPr wrap="square" lIns="54864" tIns="22860" rIns="54864" bIns="22860">
            <a:spAutoFit/>
          </a:bodyPr>
          <a:lstStyle/>
          <a:p>
            <a:pPr>
              <a:lnSpc>
                <a:spcPts val="1785"/>
              </a:lnSpc>
              <a:spcBef>
                <a:spcPts val="0"/>
              </a:spcBef>
              <a:spcAft>
                <a:spcPts val="0"/>
              </a:spcAft>
              <a:defRPr sz="1700" b="1">
                <a:solidFill>
                  <a:srgbClr val="3559A2"/>
                </a:solidFill>
                <a:latin typeface="Arial"/>
              </a:defRPr>
            </a:pPr>
            <a:r>
              <a:t>2</a:t>
            </a:r>
          </a:p>
        </p:txBody>
      </p:sp>
      <p:sp>
        <p:nvSpPr>
          <p:cNvPr id="27" name="TextBox 26"/>
          <p:cNvSpPr txBox="1"/>
          <p:nvPr/>
        </p:nvSpPr>
        <p:spPr>
          <a:xfrm>
            <a:off x="5312664" y="2647188"/>
            <a:ext cx="4261104" cy="886968"/>
          </a:xfrm>
          <a:prstGeom prst="rect">
            <a:avLst/>
          </a:prstGeom>
          <a:noFill/>
        </p:spPr>
        <p:txBody>
          <a:bodyPr wrap="square" lIns="54864" tIns="22860" rIns="54864" bIns="22860">
            <a:spAutoFit/>
          </a:bodyPr>
          <a:lstStyle/>
          <a:p>
            <a:pPr>
              <a:lnSpc>
                <a:spcPts val="1890"/>
              </a:lnSpc>
              <a:spcBef>
                <a:spcPts val="0"/>
              </a:spcBef>
              <a:spcAft>
                <a:spcPts val="0"/>
              </a:spcAft>
              <a:defRPr sz="1800" b="0">
                <a:solidFill>
                  <a:srgbClr val="182B3A"/>
                </a:solidFill>
                <a:latin typeface="Arial"/>
              </a:defRPr>
            </a:pPr>
            <a:r>
              <a:t>A tray has 102 red and yellow plants in the ratio 8:9. How many plants are yellow?</a:t>
            </a:r>
          </a:p>
        </p:txBody>
      </p:sp>
      <p:sp>
        <p:nvSpPr>
          <p:cNvPr id="28" name="Rectangle 27"/>
          <p:cNvSpPr/>
          <p:nvPr/>
        </p:nvSpPr>
        <p:spPr>
          <a:xfrm>
            <a:off x="9646920" y="2587752"/>
            <a:ext cx="4640580" cy="1005840"/>
          </a:xfrm>
          <a:prstGeom prst="rect">
            <a:avLst/>
          </a:prstGeom>
          <a:solidFill>
            <a:srgbClr val="F5F0F7"/>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TextBox 28"/>
          <p:cNvSpPr txBox="1"/>
          <p:nvPr/>
        </p:nvSpPr>
        <p:spPr>
          <a:xfrm>
            <a:off x="9674352" y="2660904"/>
            <a:ext cx="274320" cy="365760"/>
          </a:xfrm>
          <a:prstGeom prst="rect">
            <a:avLst/>
          </a:prstGeom>
          <a:noFill/>
        </p:spPr>
        <p:txBody>
          <a:bodyPr wrap="square" lIns="54864" tIns="22860" rIns="54864" bIns="22860">
            <a:spAutoFit/>
          </a:bodyPr>
          <a:lstStyle/>
          <a:p>
            <a:pPr>
              <a:lnSpc>
                <a:spcPts val="1785"/>
              </a:lnSpc>
              <a:spcBef>
                <a:spcPts val="0"/>
              </a:spcBef>
              <a:spcAft>
                <a:spcPts val="0"/>
              </a:spcAft>
              <a:defRPr sz="1700" b="1">
                <a:solidFill>
                  <a:srgbClr val="754B87"/>
                </a:solidFill>
                <a:latin typeface="Arial"/>
              </a:defRPr>
            </a:pPr>
            <a:r>
              <a:t>2</a:t>
            </a:r>
          </a:p>
        </p:txBody>
      </p:sp>
      <p:sp>
        <p:nvSpPr>
          <p:cNvPr id="30" name="TextBox 29"/>
          <p:cNvSpPr txBox="1"/>
          <p:nvPr/>
        </p:nvSpPr>
        <p:spPr>
          <a:xfrm>
            <a:off x="9976104" y="2647188"/>
            <a:ext cx="4261104" cy="886968"/>
          </a:xfrm>
          <a:prstGeom prst="rect">
            <a:avLst/>
          </a:prstGeom>
          <a:noFill/>
        </p:spPr>
        <p:txBody>
          <a:bodyPr wrap="square" lIns="54864" tIns="22860" rIns="54864" bIns="22860">
            <a:spAutoFit/>
          </a:bodyPr>
          <a:lstStyle/>
          <a:p>
            <a:pPr>
              <a:lnSpc>
                <a:spcPts val="1890"/>
              </a:lnSpc>
              <a:spcBef>
                <a:spcPts val="0"/>
              </a:spcBef>
              <a:spcAft>
                <a:spcPts val="0"/>
              </a:spcAft>
              <a:defRPr sz="1800" b="0">
                <a:solidFill>
                  <a:srgbClr val="182B3A"/>
                </a:solidFill>
                <a:latin typeface="Arial"/>
              </a:defRPr>
            </a:pPr>
            <a:r>
              <a:t>Nuts and raisins are mixed in the ratio 11:7 by mass. There are 210 g of raisins. Find the total mass.</a:t>
            </a:r>
          </a:p>
        </p:txBody>
      </p:sp>
      <p:sp>
        <p:nvSpPr>
          <p:cNvPr id="31" name="Rectangle 30"/>
          <p:cNvSpPr/>
          <p:nvPr/>
        </p:nvSpPr>
        <p:spPr>
          <a:xfrm>
            <a:off x="320040" y="3593592"/>
            <a:ext cx="4640580" cy="1005840"/>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TextBox 31"/>
          <p:cNvSpPr txBox="1"/>
          <p:nvPr/>
        </p:nvSpPr>
        <p:spPr>
          <a:xfrm>
            <a:off x="347472" y="3666744"/>
            <a:ext cx="274320" cy="365760"/>
          </a:xfrm>
          <a:prstGeom prst="rect">
            <a:avLst/>
          </a:prstGeom>
          <a:noFill/>
        </p:spPr>
        <p:txBody>
          <a:bodyPr wrap="square" lIns="54864" tIns="22860" rIns="54864" bIns="22860">
            <a:spAutoFit/>
          </a:bodyPr>
          <a:lstStyle/>
          <a:p>
            <a:pPr>
              <a:lnSpc>
                <a:spcPts val="1785"/>
              </a:lnSpc>
              <a:spcBef>
                <a:spcPts val="0"/>
              </a:spcBef>
              <a:spcAft>
                <a:spcPts val="0"/>
              </a:spcAft>
              <a:defRPr sz="1700" b="1">
                <a:solidFill>
                  <a:srgbClr val="176B73"/>
                </a:solidFill>
                <a:latin typeface="Arial"/>
              </a:defRPr>
            </a:pPr>
            <a:r>
              <a:t>3</a:t>
            </a:r>
          </a:p>
        </p:txBody>
      </p:sp>
      <p:sp>
        <p:nvSpPr>
          <p:cNvPr id="33" name="TextBox 32"/>
          <p:cNvSpPr txBox="1"/>
          <p:nvPr/>
        </p:nvSpPr>
        <p:spPr>
          <a:xfrm>
            <a:off x="649224" y="3653028"/>
            <a:ext cx="4261104" cy="886968"/>
          </a:xfrm>
          <a:prstGeom prst="rect">
            <a:avLst/>
          </a:prstGeom>
          <a:noFill/>
        </p:spPr>
        <p:txBody>
          <a:bodyPr wrap="square" lIns="54864" tIns="22860" rIns="54864" bIns="22860">
            <a:spAutoFit/>
          </a:bodyPr>
          <a:lstStyle/>
          <a:p>
            <a:pPr>
              <a:lnSpc>
                <a:spcPts val="1890"/>
              </a:lnSpc>
              <a:spcBef>
                <a:spcPts val="0"/>
              </a:spcBef>
              <a:spcAft>
                <a:spcPts val="0"/>
              </a:spcAft>
              <a:defRPr sz="1800" b="0">
                <a:solidFill>
                  <a:srgbClr val="182B3A"/>
                </a:solidFill>
                <a:latin typeface="Arial"/>
              </a:defRPr>
            </a:pPr>
            <a:r>
              <a:t>Ribbons A and B have lengths in the ratio 2:3. B is 12 cm longer than A. How long is ribbon B?</a:t>
            </a:r>
          </a:p>
        </p:txBody>
      </p:sp>
      <p:sp>
        <p:nvSpPr>
          <p:cNvPr id="34" name="Rectangle 33"/>
          <p:cNvSpPr/>
          <p:nvPr/>
        </p:nvSpPr>
        <p:spPr>
          <a:xfrm>
            <a:off x="4983480" y="3593592"/>
            <a:ext cx="4640580" cy="1005840"/>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 name="TextBox 34"/>
          <p:cNvSpPr txBox="1"/>
          <p:nvPr/>
        </p:nvSpPr>
        <p:spPr>
          <a:xfrm>
            <a:off x="5010912" y="3666744"/>
            <a:ext cx="274320" cy="365760"/>
          </a:xfrm>
          <a:prstGeom prst="rect">
            <a:avLst/>
          </a:prstGeom>
          <a:noFill/>
        </p:spPr>
        <p:txBody>
          <a:bodyPr wrap="square" lIns="54864" tIns="22860" rIns="54864" bIns="22860">
            <a:spAutoFit/>
          </a:bodyPr>
          <a:lstStyle/>
          <a:p>
            <a:pPr>
              <a:lnSpc>
                <a:spcPts val="1785"/>
              </a:lnSpc>
              <a:spcBef>
                <a:spcPts val="0"/>
              </a:spcBef>
              <a:spcAft>
                <a:spcPts val="0"/>
              </a:spcAft>
              <a:defRPr sz="1700" b="1">
                <a:solidFill>
                  <a:srgbClr val="3559A2"/>
                </a:solidFill>
                <a:latin typeface="Arial"/>
              </a:defRPr>
            </a:pPr>
            <a:r>
              <a:t>3</a:t>
            </a:r>
          </a:p>
        </p:txBody>
      </p:sp>
      <p:sp>
        <p:nvSpPr>
          <p:cNvPr id="36" name="TextBox 35"/>
          <p:cNvSpPr txBox="1"/>
          <p:nvPr/>
        </p:nvSpPr>
        <p:spPr>
          <a:xfrm>
            <a:off x="5312664" y="3653028"/>
            <a:ext cx="4261104" cy="886968"/>
          </a:xfrm>
          <a:prstGeom prst="rect">
            <a:avLst/>
          </a:prstGeom>
          <a:noFill/>
        </p:spPr>
        <p:txBody>
          <a:bodyPr wrap="square" lIns="54864" tIns="22860" rIns="54864" bIns="22860">
            <a:spAutoFit/>
          </a:bodyPr>
          <a:lstStyle/>
          <a:p>
            <a:pPr>
              <a:lnSpc>
                <a:spcPts val="1890"/>
              </a:lnSpc>
              <a:spcBef>
                <a:spcPts val="0"/>
              </a:spcBef>
              <a:spcAft>
                <a:spcPts val="0"/>
              </a:spcAft>
              <a:defRPr sz="1800" b="0">
                <a:solidFill>
                  <a:srgbClr val="182B3A"/>
                </a:solidFill>
                <a:latin typeface="Arial"/>
              </a:defRPr>
            </a:pPr>
            <a:r>
              <a:t>Mixing and baking times are in the ratio 1:5. Baking takes 25 minutes. How long does mixing take?</a:t>
            </a:r>
          </a:p>
        </p:txBody>
      </p:sp>
      <p:sp>
        <p:nvSpPr>
          <p:cNvPr id="37" name="Rectangle 36"/>
          <p:cNvSpPr/>
          <p:nvPr/>
        </p:nvSpPr>
        <p:spPr>
          <a:xfrm>
            <a:off x="9646920" y="3593592"/>
            <a:ext cx="4640580" cy="1005840"/>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8" name="TextBox 37"/>
          <p:cNvSpPr txBox="1"/>
          <p:nvPr/>
        </p:nvSpPr>
        <p:spPr>
          <a:xfrm>
            <a:off x="9674352" y="3666744"/>
            <a:ext cx="274320" cy="365760"/>
          </a:xfrm>
          <a:prstGeom prst="rect">
            <a:avLst/>
          </a:prstGeom>
          <a:noFill/>
        </p:spPr>
        <p:txBody>
          <a:bodyPr wrap="square" lIns="54864" tIns="22860" rIns="54864" bIns="22860">
            <a:spAutoFit/>
          </a:bodyPr>
          <a:lstStyle/>
          <a:p>
            <a:pPr>
              <a:lnSpc>
                <a:spcPts val="1785"/>
              </a:lnSpc>
              <a:spcBef>
                <a:spcPts val="0"/>
              </a:spcBef>
              <a:spcAft>
                <a:spcPts val="0"/>
              </a:spcAft>
              <a:defRPr sz="1700" b="1">
                <a:solidFill>
                  <a:srgbClr val="754B87"/>
                </a:solidFill>
                <a:latin typeface="Arial"/>
              </a:defRPr>
            </a:pPr>
            <a:r>
              <a:t>3</a:t>
            </a:r>
          </a:p>
        </p:txBody>
      </p:sp>
      <p:sp>
        <p:nvSpPr>
          <p:cNvPr id="39" name="TextBox 38"/>
          <p:cNvSpPr txBox="1"/>
          <p:nvPr/>
        </p:nvSpPr>
        <p:spPr>
          <a:xfrm>
            <a:off x="9976104" y="3653028"/>
            <a:ext cx="4261104" cy="886968"/>
          </a:xfrm>
          <a:prstGeom prst="rect">
            <a:avLst/>
          </a:prstGeom>
          <a:noFill/>
        </p:spPr>
        <p:txBody>
          <a:bodyPr wrap="square" lIns="54864" tIns="22860" rIns="54864" bIns="22860">
            <a:spAutoFit/>
          </a:bodyPr>
          <a:lstStyle/>
          <a:p>
            <a:pPr>
              <a:lnSpc>
                <a:spcPts val="1890"/>
              </a:lnSpc>
              <a:spcBef>
                <a:spcPts val="0"/>
              </a:spcBef>
              <a:spcAft>
                <a:spcPts val="0"/>
              </a:spcAft>
              <a:defRPr sz="1800" b="0">
                <a:solidFill>
                  <a:srgbClr val="182B3A"/>
                </a:solidFill>
                <a:latin typeface="Arial"/>
              </a:defRPr>
            </a:pPr>
            <a:r>
              <a:t>Two ribbons have a total length of 285 cm, in the ratio 8:11. Find the difference in their lengths.</a:t>
            </a:r>
          </a:p>
        </p:txBody>
      </p:sp>
      <p:sp>
        <p:nvSpPr>
          <p:cNvPr id="40" name="Rectangle 39"/>
          <p:cNvSpPr/>
          <p:nvPr/>
        </p:nvSpPr>
        <p:spPr>
          <a:xfrm>
            <a:off x="320040" y="4599432"/>
            <a:ext cx="4640580" cy="1005840"/>
          </a:xfrm>
          <a:prstGeom prst="rect">
            <a:avLst/>
          </a:prstGeom>
          <a:solidFill>
            <a:srgbClr val="EDF6F5"/>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1" name="TextBox 40"/>
          <p:cNvSpPr txBox="1"/>
          <p:nvPr/>
        </p:nvSpPr>
        <p:spPr>
          <a:xfrm>
            <a:off x="347472" y="4672584"/>
            <a:ext cx="274320" cy="365760"/>
          </a:xfrm>
          <a:prstGeom prst="rect">
            <a:avLst/>
          </a:prstGeom>
          <a:noFill/>
        </p:spPr>
        <p:txBody>
          <a:bodyPr wrap="square" lIns="54864" tIns="22860" rIns="54864" bIns="22860">
            <a:spAutoFit/>
          </a:bodyPr>
          <a:lstStyle/>
          <a:p>
            <a:pPr>
              <a:lnSpc>
                <a:spcPts val="1785"/>
              </a:lnSpc>
              <a:spcBef>
                <a:spcPts val="0"/>
              </a:spcBef>
              <a:spcAft>
                <a:spcPts val="0"/>
              </a:spcAft>
              <a:defRPr sz="1700" b="1">
                <a:solidFill>
                  <a:srgbClr val="176B73"/>
                </a:solidFill>
                <a:latin typeface="Arial"/>
              </a:defRPr>
            </a:pPr>
            <a:r>
              <a:t>4</a:t>
            </a:r>
          </a:p>
        </p:txBody>
      </p:sp>
      <p:sp>
        <p:nvSpPr>
          <p:cNvPr id="42" name="TextBox 41"/>
          <p:cNvSpPr txBox="1"/>
          <p:nvPr/>
        </p:nvSpPr>
        <p:spPr>
          <a:xfrm>
            <a:off x="649224" y="4658868"/>
            <a:ext cx="4261104" cy="886968"/>
          </a:xfrm>
          <a:prstGeom prst="rect">
            <a:avLst/>
          </a:prstGeom>
          <a:noFill/>
        </p:spPr>
        <p:txBody>
          <a:bodyPr wrap="square" lIns="54864" tIns="22860" rIns="54864" bIns="22860">
            <a:spAutoFit/>
          </a:bodyPr>
          <a:lstStyle/>
          <a:p>
            <a:pPr>
              <a:lnSpc>
                <a:spcPts val="1890"/>
              </a:lnSpc>
              <a:spcBef>
                <a:spcPts val="0"/>
              </a:spcBef>
              <a:spcAft>
                <a:spcPts val="0"/>
              </a:spcAft>
              <a:defRPr sz="1800" b="0">
                <a:solidFill>
                  <a:srgbClr val="182B3A"/>
                </a:solidFill>
                <a:latin typeface="Arial"/>
              </a:defRPr>
            </a:pPr>
            <a:r>
              <a:t>Noor and Will receive money in the ratio 7:4. Will gets £48. Find Noor’s share.</a:t>
            </a:r>
          </a:p>
        </p:txBody>
      </p:sp>
      <p:sp>
        <p:nvSpPr>
          <p:cNvPr id="43" name="Rectangle 42"/>
          <p:cNvSpPr/>
          <p:nvPr/>
        </p:nvSpPr>
        <p:spPr>
          <a:xfrm>
            <a:off x="4983480" y="4599432"/>
            <a:ext cx="4640580" cy="1005840"/>
          </a:xfrm>
          <a:prstGeom prst="rect">
            <a:avLst/>
          </a:prstGeom>
          <a:solidFill>
            <a:srgbClr val="EFF3FA"/>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4" name="TextBox 43"/>
          <p:cNvSpPr txBox="1"/>
          <p:nvPr/>
        </p:nvSpPr>
        <p:spPr>
          <a:xfrm>
            <a:off x="5010912" y="4672584"/>
            <a:ext cx="274320" cy="365760"/>
          </a:xfrm>
          <a:prstGeom prst="rect">
            <a:avLst/>
          </a:prstGeom>
          <a:noFill/>
        </p:spPr>
        <p:txBody>
          <a:bodyPr wrap="square" lIns="54864" tIns="22860" rIns="54864" bIns="22860">
            <a:spAutoFit/>
          </a:bodyPr>
          <a:lstStyle/>
          <a:p>
            <a:pPr>
              <a:lnSpc>
                <a:spcPts val="1785"/>
              </a:lnSpc>
              <a:spcBef>
                <a:spcPts val="0"/>
              </a:spcBef>
              <a:spcAft>
                <a:spcPts val="0"/>
              </a:spcAft>
              <a:defRPr sz="1700" b="1">
                <a:solidFill>
                  <a:srgbClr val="3559A2"/>
                </a:solidFill>
                <a:latin typeface="Arial"/>
              </a:defRPr>
            </a:pPr>
            <a:r>
              <a:t>4</a:t>
            </a:r>
          </a:p>
        </p:txBody>
      </p:sp>
      <p:sp>
        <p:nvSpPr>
          <p:cNvPr id="45" name="TextBox 44"/>
          <p:cNvSpPr txBox="1"/>
          <p:nvPr/>
        </p:nvSpPr>
        <p:spPr>
          <a:xfrm>
            <a:off x="5312664" y="4658868"/>
            <a:ext cx="4261104" cy="886968"/>
          </a:xfrm>
          <a:prstGeom prst="rect">
            <a:avLst/>
          </a:prstGeom>
          <a:noFill/>
        </p:spPr>
        <p:txBody>
          <a:bodyPr wrap="square" lIns="54864" tIns="22860" rIns="54864" bIns="22860">
            <a:spAutoFit/>
          </a:bodyPr>
          <a:lstStyle/>
          <a:p>
            <a:pPr>
              <a:lnSpc>
                <a:spcPts val="1890"/>
              </a:lnSpc>
              <a:spcBef>
                <a:spcPts val="0"/>
              </a:spcBef>
              <a:spcAft>
                <a:spcPts val="0"/>
              </a:spcAft>
              <a:defRPr sz="1800" b="0">
                <a:solidFill>
                  <a:srgbClr val="182B3A"/>
                </a:solidFill>
                <a:latin typeface="Arial"/>
              </a:defRPr>
            </a:pPr>
            <a:r>
              <a:t>Two sacks have masses in the ratio 7:3. The heavier weighs 16 kg more. How much does the lighter weigh?</a:t>
            </a:r>
          </a:p>
        </p:txBody>
      </p:sp>
      <p:sp>
        <p:nvSpPr>
          <p:cNvPr id="46" name="Rectangle 45"/>
          <p:cNvSpPr/>
          <p:nvPr/>
        </p:nvSpPr>
        <p:spPr>
          <a:xfrm>
            <a:off x="9646920" y="4599432"/>
            <a:ext cx="4640580" cy="1005840"/>
          </a:xfrm>
          <a:prstGeom prst="rect">
            <a:avLst/>
          </a:prstGeom>
          <a:solidFill>
            <a:srgbClr val="F5F0F7"/>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7" name="TextBox 46"/>
          <p:cNvSpPr txBox="1"/>
          <p:nvPr/>
        </p:nvSpPr>
        <p:spPr>
          <a:xfrm>
            <a:off x="9674352" y="4672584"/>
            <a:ext cx="274320" cy="365760"/>
          </a:xfrm>
          <a:prstGeom prst="rect">
            <a:avLst/>
          </a:prstGeom>
          <a:noFill/>
        </p:spPr>
        <p:txBody>
          <a:bodyPr wrap="square" lIns="54864" tIns="22860" rIns="54864" bIns="22860">
            <a:spAutoFit/>
          </a:bodyPr>
          <a:lstStyle/>
          <a:p>
            <a:pPr>
              <a:lnSpc>
                <a:spcPts val="1785"/>
              </a:lnSpc>
              <a:spcBef>
                <a:spcPts val="0"/>
              </a:spcBef>
              <a:spcAft>
                <a:spcPts val="0"/>
              </a:spcAft>
              <a:defRPr sz="1700" b="1">
                <a:solidFill>
                  <a:srgbClr val="754B87"/>
                </a:solidFill>
                <a:latin typeface="Arial"/>
              </a:defRPr>
            </a:pPr>
            <a:r>
              <a:t>4</a:t>
            </a:r>
          </a:p>
        </p:txBody>
      </p:sp>
      <p:sp>
        <p:nvSpPr>
          <p:cNvPr id="48" name="TextBox 47"/>
          <p:cNvSpPr txBox="1"/>
          <p:nvPr/>
        </p:nvSpPr>
        <p:spPr>
          <a:xfrm>
            <a:off x="9976104" y="4658868"/>
            <a:ext cx="4261104" cy="886968"/>
          </a:xfrm>
          <a:prstGeom prst="rect">
            <a:avLst/>
          </a:prstGeom>
          <a:noFill/>
        </p:spPr>
        <p:txBody>
          <a:bodyPr wrap="square" lIns="54864" tIns="22860" rIns="54864" bIns="22860">
            <a:spAutoFit/>
          </a:bodyPr>
          <a:lstStyle/>
          <a:p>
            <a:pPr>
              <a:lnSpc>
                <a:spcPts val="1890"/>
              </a:lnSpc>
              <a:spcBef>
                <a:spcPts val="0"/>
              </a:spcBef>
              <a:spcAft>
                <a:spcPts val="0"/>
              </a:spcAft>
              <a:defRPr sz="1800" b="0">
                <a:solidFill>
                  <a:srgbClr val="182B3A"/>
                </a:solidFill>
                <a:latin typeface="Arial"/>
              </a:defRPr>
            </a:pPr>
            <a:r>
              <a:t>Adult and child tickets sell in the ratio 11:2. There are 143 adult tickets. How many more adult tickets are sold?</a:t>
            </a:r>
          </a:p>
        </p:txBody>
      </p:sp>
      <p:sp>
        <p:nvSpPr>
          <p:cNvPr id="49" name="Rectangle 48"/>
          <p:cNvSpPr/>
          <p:nvPr/>
        </p:nvSpPr>
        <p:spPr>
          <a:xfrm>
            <a:off x="320040" y="5605272"/>
            <a:ext cx="4640580" cy="1005840"/>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0" name="TextBox 49"/>
          <p:cNvSpPr txBox="1"/>
          <p:nvPr/>
        </p:nvSpPr>
        <p:spPr>
          <a:xfrm>
            <a:off x="347472" y="5678424"/>
            <a:ext cx="274320" cy="365760"/>
          </a:xfrm>
          <a:prstGeom prst="rect">
            <a:avLst/>
          </a:prstGeom>
          <a:noFill/>
        </p:spPr>
        <p:txBody>
          <a:bodyPr wrap="square" lIns="54864" tIns="22860" rIns="54864" bIns="22860">
            <a:spAutoFit/>
          </a:bodyPr>
          <a:lstStyle/>
          <a:p>
            <a:pPr>
              <a:lnSpc>
                <a:spcPts val="1785"/>
              </a:lnSpc>
              <a:spcBef>
                <a:spcPts val="0"/>
              </a:spcBef>
              <a:spcAft>
                <a:spcPts val="0"/>
              </a:spcAft>
              <a:defRPr sz="1700" b="1">
                <a:solidFill>
                  <a:srgbClr val="176B73"/>
                </a:solidFill>
                <a:latin typeface="Arial"/>
              </a:defRPr>
            </a:pPr>
            <a:r>
              <a:t>5</a:t>
            </a:r>
          </a:p>
        </p:txBody>
      </p:sp>
      <p:sp>
        <p:nvSpPr>
          <p:cNvPr id="51" name="TextBox 50"/>
          <p:cNvSpPr txBox="1"/>
          <p:nvPr/>
        </p:nvSpPr>
        <p:spPr>
          <a:xfrm>
            <a:off x="649224" y="5664708"/>
            <a:ext cx="4261104" cy="886968"/>
          </a:xfrm>
          <a:prstGeom prst="rect">
            <a:avLst/>
          </a:prstGeom>
          <a:noFill/>
        </p:spPr>
        <p:txBody>
          <a:bodyPr wrap="square" lIns="54864" tIns="22860" rIns="54864" bIns="22860">
            <a:spAutoFit/>
          </a:bodyPr>
          <a:lstStyle/>
          <a:p>
            <a:pPr>
              <a:lnSpc>
                <a:spcPts val="1890"/>
              </a:lnSpc>
              <a:spcBef>
                <a:spcPts val="0"/>
              </a:spcBef>
              <a:spcAft>
                <a:spcPts val="0"/>
              </a:spcAft>
              <a:defRPr sz="1800" b="0">
                <a:solidFill>
                  <a:srgbClr val="182B3A"/>
                </a:solidFill>
                <a:latin typeface="Arial"/>
              </a:defRPr>
            </a:pPr>
            <a:r>
              <a:t>Dark and milk chocolates are in the ratio 1:4. There are 36 more milk than dark. How many are milk?</a:t>
            </a:r>
          </a:p>
        </p:txBody>
      </p:sp>
      <p:sp>
        <p:nvSpPr>
          <p:cNvPr id="52" name="Rectangle 51"/>
          <p:cNvSpPr/>
          <p:nvPr/>
        </p:nvSpPr>
        <p:spPr>
          <a:xfrm>
            <a:off x="4983480" y="5605272"/>
            <a:ext cx="4640580" cy="1005840"/>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3" name="TextBox 52"/>
          <p:cNvSpPr txBox="1"/>
          <p:nvPr/>
        </p:nvSpPr>
        <p:spPr>
          <a:xfrm>
            <a:off x="5010912" y="5678424"/>
            <a:ext cx="274320" cy="365760"/>
          </a:xfrm>
          <a:prstGeom prst="rect">
            <a:avLst/>
          </a:prstGeom>
          <a:noFill/>
        </p:spPr>
        <p:txBody>
          <a:bodyPr wrap="square" lIns="54864" tIns="22860" rIns="54864" bIns="22860">
            <a:spAutoFit/>
          </a:bodyPr>
          <a:lstStyle/>
          <a:p>
            <a:pPr>
              <a:lnSpc>
                <a:spcPts val="1785"/>
              </a:lnSpc>
              <a:spcBef>
                <a:spcPts val="0"/>
              </a:spcBef>
              <a:spcAft>
                <a:spcPts val="0"/>
              </a:spcAft>
              <a:defRPr sz="1700" b="1">
                <a:solidFill>
                  <a:srgbClr val="3559A2"/>
                </a:solidFill>
                <a:latin typeface="Arial"/>
              </a:defRPr>
            </a:pPr>
            <a:r>
              <a:t>5</a:t>
            </a:r>
          </a:p>
        </p:txBody>
      </p:sp>
      <p:sp>
        <p:nvSpPr>
          <p:cNvPr id="54" name="TextBox 53"/>
          <p:cNvSpPr txBox="1"/>
          <p:nvPr/>
        </p:nvSpPr>
        <p:spPr>
          <a:xfrm>
            <a:off x="5312664" y="5664708"/>
            <a:ext cx="4261104" cy="886968"/>
          </a:xfrm>
          <a:prstGeom prst="rect">
            <a:avLst/>
          </a:prstGeom>
          <a:noFill/>
        </p:spPr>
        <p:txBody>
          <a:bodyPr wrap="square" lIns="54864" tIns="22860" rIns="54864" bIns="22860">
            <a:spAutoFit/>
          </a:bodyPr>
          <a:lstStyle/>
          <a:p>
            <a:pPr>
              <a:lnSpc>
                <a:spcPts val="1890"/>
              </a:lnSpc>
              <a:spcBef>
                <a:spcPts val="0"/>
              </a:spcBef>
              <a:spcAft>
                <a:spcPts val="0"/>
              </a:spcAft>
              <a:defRPr sz="1800" b="0">
                <a:solidFill>
                  <a:srgbClr val="182B3A"/>
                </a:solidFill>
                <a:latin typeface="Arial"/>
              </a:defRPr>
            </a:pPr>
            <a:r>
              <a:t>Blue and white paint are in the ratio 2:5. There are 9 litres more white than blue. How much is blue?</a:t>
            </a:r>
          </a:p>
        </p:txBody>
      </p:sp>
      <p:sp>
        <p:nvSpPr>
          <p:cNvPr id="55" name="Rectangle 54"/>
          <p:cNvSpPr/>
          <p:nvPr/>
        </p:nvSpPr>
        <p:spPr>
          <a:xfrm>
            <a:off x="9646920" y="5605272"/>
            <a:ext cx="4640580" cy="1005840"/>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6" name="TextBox 55"/>
          <p:cNvSpPr txBox="1"/>
          <p:nvPr/>
        </p:nvSpPr>
        <p:spPr>
          <a:xfrm>
            <a:off x="9674352" y="5678424"/>
            <a:ext cx="274320" cy="365760"/>
          </a:xfrm>
          <a:prstGeom prst="rect">
            <a:avLst/>
          </a:prstGeom>
          <a:noFill/>
        </p:spPr>
        <p:txBody>
          <a:bodyPr wrap="square" lIns="54864" tIns="22860" rIns="54864" bIns="22860">
            <a:spAutoFit/>
          </a:bodyPr>
          <a:lstStyle/>
          <a:p>
            <a:pPr>
              <a:lnSpc>
                <a:spcPts val="1785"/>
              </a:lnSpc>
              <a:spcBef>
                <a:spcPts val="0"/>
              </a:spcBef>
              <a:spcAft>
                <a:spcPts val="0"/>
              </a:spcAft>
              <a:defRPr sz="1700" b="1">
                <a:solidFill>
                  <a:srgbClr val="754B87"/>
                </a:solidFill>
                <a:latin typeface="Arial"/>
              </a:defRPr>
            </a:pPr>
            <a:r>
              <a:t>5</a:t>
            </a:r>
          </a:p>
        </p:txBody>
      </p:sp>
      <p:sp>
        <p:nvSpPr>
          <p:cNvPr id="57" name="TextBox 56"/>
          <p:cNvSpPr txBox="1"/>
          <p:nvPr/>
        </p:nvSpPr>
        <p:spPr>
          <a:xfrm>
            <a:off x="9976104" y="5664708"/>
            <a:ext cx="4261104" cy="886968"/>
          </a:xfrm>
          <a:prstGeom prst="rect">
            <a:avLst/>
          </a:prstGeom>
          <a:noFill/>
        </p:spPr>
        <p:txBody>
          <a:bodyPr wrap="square" lIns="54864" tIns="22860" rIns="54864" bIns="22860">
            <a:spAutoFit/>
          </a:bodyPr>
          <a:lstStyle/>
          <a:p>
            <a:pPr>
              <a:lnSpc>
                <a:spcPts val="1890"/>
              </a:lnSpc>
              <a:spcBef>
                <a:spcPts val="0"/>
              </a:spcBef>
              <a:spcAft>
                <a:spcPts val="0"/>
              </a:spcAft>
              <a:defRPr sz="1800" b="0">
                <a:solidFill>
                  <a:srgbClr val="182B3A"/>
                </a:solidFill>
                <a:latin typeface="Arial"/>
              </a:defRPr>
            </a:pPr>
            <a:r>
              <a:t>Leah and Omar receive money in the ratio 3:11. Leah gets £64 less than Omar. How much does Omar get?</a:t>
            </a:r>
          </a:p>
        </p:txBody>
      </p:sp>
      <p:sp>
        <p:nvSpPr>
          <p:cNvPr id="58" name="Rectangle 57"/>
          <p:cNvSpPr/>
          <p:nvPr/>
        </p:nvSpPr>
        <p:spPr>
          <a:xfrm>
            <a:off x="320040" y="6611112"/>
            <a:ext cx="4640580" cy="1005840"/>
          </a:xfrm>
          <a:prstGeom prst="rect">
            <a:avLst/>
          </a:prstGeom>
          <a:solidFill>
            <a:srgbClr val="EDF6F5"/>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9" name="TextBox 58"/>
          <p:cNvSpPr txBox="1"/>
          <p:nvPr/>
        </p:nvSpPr>
        <p:spPr>
          <a:xfrm>
            <a:off x="347472" y="6684264"/>
            <a:ext cx="274320" cy="365760"/>
          </a:xfrm>
          <a:prstGeom prst="rect">
            <a:avLst/>
          </a:prstGeom>
          <a:noFill/>
        </p:spPr>
        <p:txBody>
          <a:bodyPr wrap="square" lIns="54864" tIns="22860" rIns="54864" bIns="22860">
            <a:spAutoFit/>
          </a:bodyPr>
          <a:lstStyle/>
          <a:p>
            <a:pPr>
              <a:lnSpc>
                <a:spcPts val="1785"/>
              </a:lnSpc>
              <a:spcBef>
                <a:spcPts val="0"/>
              </a:spcBef>
              <a:spcAft>
                <a:spcPts val="0"/>
              </a:spcAft>
              <a:defRPr sz="1700" b="1">
                <a:solidFill>
                  <a:srgbClr val="176B73"/>
                </a:solidFill>
                <a:latin typeface="Arial"/>
              </a:defRPr>
            </a:pPr>
            <a:r>
              <a:t>6</a:t>
            </a:r>
          </a:p>
        </p:txBody>
      </p:sp>
      <p:sp>
        <p:nvSpPr>
          <p:cNvPr id="60" name="TextBox 59"/>
          <p:cNvSpPr txBox="1"/>
          <p:nvPr/>
        </p:nvSpPr>
        <p:spPr>
          <a:xfrm>
            <a:off x="649224" y="6670548"/>
            <a:ext cx="4261104" cy="886968"/>
          </a:xfrm>
          <a:prstGeom prst="rect">
            <a:avLst/>
          </a:prstGeom>
          <a:noFill/>
        </p:spPr>
        <p:txBody>
          <a:bodyPr wrap="square" lIns="54864" tIns="22860" rIns="54864" bIns="22860">
            <a:spAutoFit/>
          </a:bodyPr>
          <a:lstStyle/>
          <a:p>
            <a:pPr>
              <a:lnSpc>
                <a:spcPts val="1890"/>
              </a:lnSpc>
              <a:spcBef>
                <a:spcPts val="0"/>
              </a:spcBef>
              <a:spcAft>
                <a:spcPts val="0"/>
              </a:spcAft>
              <a:defRPr sz="1800" b="0">
                <a:solidFill>
                  <a:srgbClr val="182B3A"/>
                </a:solidFill>
                <a:latin typeface="Arial"/>
              </a:defRPr>
            </a:pPr>
            <a:r>
              <a:t>A 560 g bread mix has white and brown flour in the ratio 4:3. Find the mass of brown flour.</a:t>
            </a:r>
          </a:p>
        </p:txBody>
      </p:sp>
      <p:sp>
        <p:nvSpPr>
          <p:cNvPr id="61" name="Rectangle 60"/>
          <p:cNvSpPr/>
          <p:nvPr/>
        </p:nvSpPr>
        <p:spPr>
          <a:xfrm>
            <a:off x="4983480" y="6611112"/>
            <a:ext cx="4640580" cy="1005840"/>
          </a:xfrm>
          <a:prstGeom prst="rect">
            <a:avLst/>
          </a:prstGeom>
          <a:solidFill>
            <a:srgbClr val="EFF3FA"/>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2" name="TextBox 61"/>
          <p:cNvSpPr txBox="1"/>
          <p:nvPr/>
        </p:nvSpPr>
        <p:spPr>
          <a:xfrm>
            <a:off x="5010912" y="6684264"/>
            <a:ext cx="274320" cy="365760"/>
          </a:xfrm>
          <a:prstGeom prst="rect">
            <a:avLst/>
          </a:prstGeom>
          <a:noFill/>
        </p:spPr>
        <p:txBody>
          <a:bodyPr wrap="square" lIns="54864" tIns="22860" rIns="54864" bIns="22860">
            <a:spAutoFit/>
          </a:bodyPr>
          <a:lstStyle/>
          <a:p>
            <a:pPr>
              <a:lnSpc>
                <a:spcPts val="1785"/>
              </a:lnSpc>
              <a:spcBef>
                <a:spcPts val="0"/>
              </a:spcBef>
              <a:spcAft>
                <a:spcPts val="0"/>
              </a:spcAft>
              <a:defRPr sz="1700" b="1">
                <a:solidFill>
                  <a:srgbClr val="3559A2"/>
                </a:solidFill>
                <a:latin typeface="Arial"/>
              </a:defRPr>
            </a:pPr>
            <a:r>
              <a:t>6</a:t>
            </a:r>
          </a:p>
        </p:txBody>
      </p:sp>
      <p:sp>
        <p:nvSpPr>
          <p:cNvPr id="63" name="TextBox 62"/>
          <p:cNvSpPr txBox="1"/>
          <p:nvPr/>
        </p:nvSpPr>
        <p:spPr>
          <a:xfrm>
            <a:off x="5312664" y="6670548"/>
            <a:ext cx="4261104" cy="886968"/>
          </a:xfrm>
          <a:prstGeom prst="rect">
            <a:avLst/>
          </a:prstGeom>
          <a:noFill/>
        </p:spPr>
        <p:txBody>
          <a:bodyPr wrap="square" lIns="54864" tIns="22860" rIns="54864" bIns="22860">
            <a:spAutoFit/>
          </a:bodyPr>
          <a:lstStyle/>
          <a:p>
            <a:pPr>
              <a:lnSpc>
                <a:spcPts val="1890"/>
              </a:lnSpc>
              <a:spcBef>
                <a:spcPts val="0"/>
              </a:spcBef>
              <a:spcAft>
                <a:spcPts val="0"/>
              </a:spcAft>
              <a:defRPr sz="1800" b="0">
                <a:solidFill>
                  <a:srgbClr val="182B3A"/>
                </a:solidFill>
                <a:latin typeface="Arial"/>
              </a:defRPr>
            </a:pPr>
            <a:r>
              <a:t>Ropes A and B total 56 m, with lengths in the ratio 5:3. Find the length of B.</a:t>
            </a:r>
          </a:p>
        </p:txBody>
      </p:sp>
      <p:sp>
        <p:nvSpPr>
          <p:cNvPr id="64" name="Rectangle 63"/>
          <p:cNvSpPr/>
          <p:nvPr/>
        </p:nvSpPr>
        <p:spPr>
          <a:xfrm>
            <a:off x="9646920" y="6611112"/>
            <a:ext cx="4640580" cy="1005840"/>
          </a:xfrm>
          <a:prstGeom prst="rect">
            <a:avLst/>
          </a:prstGeom>
          <a:solidFill>
            <a:srgbClr val="F5F0F7"/>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5" name="TextBox 64"/>
          <p:cNvSpPr txBox="1"/>
          <p:nvPr/>
        </p:nvSpPr>
        <p:spPr>
          <a:xfrm>
            <a:off x="9674352" y="6684264"/>
            <a:ext cx="274320" cy="365760"/>
          </a:xfrm>
          <a:prstGeom prst="rect">
            <a:avLst/>
          </a:prstGeom>
          <a:noFill/>
        </p:spPr>
        <p:txBody>
          <a:bodyPr wrap="square" lIns="54864" tIns="22860" rIns="54864" bIns="22860">
            <a:spAutoFit/>
          </a:bodyPr>
          <a:lstStyle/>
          <a:p>
            <a:pPr>
              <a:lnSpc>
                <a:spcPts val="1785"/>
              </a:lnSpc>
              <a:spcBef>
                <a:spcPts val="0"/>
              </a:spcBef>
              <a:spcAft>
                <a:spcPts val="0"/>
              </a:spcAft>
              <a:defRPr sz="1700" b="1">
                <a:solidFill>
                  <a:srgbClr val="754B87"/>
                </a:solidFill>
                <a:latin typeface="Arial"/>
              </a:defRPr>
            </a:pPr>
            <a:r>
              <a:t>6</a:t>
            </a:r>
          </a:p>
        </p:txBody>
      </p:sp>
      <p:sp>
        <p:nvSpPr>
          <p:cNvPr id="66" name="TextBox 65"/>
          <p:cNvSpPr txBox="1"/>
          <p:nvPr/>
        </p:nvSpPr>
        <p:spPr>
          <a:xfrm>
            <a:off x="9976104" y="6670548"/>
            <a:ext cx="4261104" cy="886968"/>
          </a:xfrm>
          <a:prstGeom prst="rect">
            <a:avLst/>
          </a:prstGeom>
          <a:noFill/>
        </p:spPr>
        <p:txBody>
          <a:bodyPr wrap="square" lIns="54864" tIns="22860" rIns="54864" bIns="22860">
            <a:spAutoFit/>
          </a:bodyPr>
          <a:lstStyle/>
          <a:p>
            <a:pPr>
              <a:lnSpc>
                <a:spcPts val="1890"/>
              </a:lnSpc>
              <a:spcBef>
                <a:spcPts val="0"/>
              </a:spcBef>
              <a:spcAft>
                <a:spcPts val="0"/>
              </a:spcAft>
              <a:defRPr sz="1800" b="0">
                <a:solidFill>
                  <a:srgbClr val="182B3A"/>
                </a:solidFill>
                <a:latin typeface="Arial"/>
              </a:defRPr>
            </a:pPr>
            <a:r>
              <a:t>Work and breaks take 90 minutes in total, in the ratio 7:2. How much longer is spent working than on breaks?</a:t>
            </a:r>
          </a:p>
        </p:txBody>
      </p:sp>
      <p:sp>
        <p:nvSpPr>
          <p:cNvPr id="67" name="Progression curved arrow: Thread 1 to Thread 2"/>
          <p:cNvSpPr/>
          <p:nvPr/>
        </p:nvSpPr>
        <p:spPr>
          <a:xfrm>
            <a:off x="4649723" y="7552294"/>
            <a:ext cx="621792" cy="314053"/>
          </a:xfrm>
          <a:custGeom>
            <a:avLst/>
            <a:gdLst/>
            <a:ahLst/>
            <a:cxnLst/>
            <a:rect l="0" t="0" r="100000" b="100000"/>
            <a:pathLst>
              <a:path w="100000" h="100000" fill="none">
                <a:moveTo>
                  <a:pt x="6970" y="48439"/>
                </a:moveTo>
                <a:cubicBezTo>
                  <a:pt x="40678" y="114499"/>
                  <a:pt x="73026" y="88145"/>
                  <a:pt x="93030" y="13799"/>
                </a:cubicBezTo>
              </a:path>
              <a:path w="100000" h="100000" fill="none">
                <a:moveTo>
                  <a:pt x="69018" y="40431"/>
                </a:moveTo>
                <a:lnTo>
                  <a:pt x="93030" y="13799"/>
                </a:lnTo>
                <a:lnTo>
                  <a:pt x="92217" y="66207"/>
                </a:lnTo>
              </a:path>
            </a:pathLst>
          </a:custGeom>
          <a:noFill/>
          <a:ln w="64449" cap="rnd">
            <a:solidFill>
              <a:schemeClr val="accent6">
                <a:lumMod val="60000"/>
                <a:lumOff val="40000"/>
              </a:schemeClr>
            </a:solidFill>
            <a:round/>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68" name="Progression curved arrow: Thread 2 to Thread 3"/>
          <p:cNvSpPr/>
          <p:nvPr/>
        </p:nvSpPr>
        <p:spPr>
          <a:xfrm>
            <a:off x="9265327" y="7543800"/>
            <a:ext cx="621792" cy="314053"/>
          </a:xfrm>
          <a:custGeom>
            <a:avLst/>
            <a:gdLst/>
            <a:ahLst/>
            <a:cxnLst/>
            <a:rect l="0" t="0" r="100000" b="100000"/>
            <a:pathLst>
              <a:path w="100000" h="100000" fill="none">
                <a:moveTo>
                  <a:pt x="6970" y="48439"/>
                </a:moveTo>
                <a:cubicBezTo>
                  <a:pt x="40678" y="114499"/>
                  <a:pt x="73026" y="88145"/>
                  <a:pt x="93030" y="13799"/>
                </a:cubicBezTo>
              </a:path>
              <a:path w="100000" h="100000" fill="none">
                <a:moveTo>
                  <a:pt x="69018" y="40431"/>
                </a:moveTo>
                <a:lnTo>
                  <a:pt x="93030" y="13799"/>
                </a:lnTo>
                <a:lnTo>
                  <a:pt x="92217" y="66207"/>
                </a:lnTo>
              </a:path>
            </a:pathLst>
          </a:custGeom>
          <a:noFill/>
          <a:ln w="64449" cap="rnd">
            <a:solidFill>
              <a:schemeClr val="accent6">
                <a:lumMod val="60000"/>
                <a:lumOff val="40000"/>
              </a:schemeClr>
            </a:solidFill>
            <a:round/>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Application>Microsoft Office PowerPoint</Application>
  <PresentationFormat>Custom</PresentationFormat>
  <Slides>22</Slides>
  <Notes>22</Notes>
  <HiddenSlides>0</HiddenSlides>
  <ScaleCrop>false</ScaleCrop>
  <HeadingPairs>
    <vt:vector size="4" baseType="variant">
      <vt:variant>
        <vt:lpstr>Theme</vt:lpstr>
      </vt:variant>
      <vt:variant>
        <vt:i4>1</vt:i4>
      </vt:variant>
      <vt:variant>
        <vt:lpstr>Slide Titles</vt:lpstr>
      </vt:variant>
      <vt:variant>
        <vt:i4>22</vt:i4>
      </vt:variant>
    </vt:vector>
  </HeadingPairs>
  <TitlesOfParts>
    <vt:vector size="23" baseType="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GCSE Maths Revision Starters</dc:title>
  <dc:subject>Lattice multiplication, bus stop division and application to exam problems</dc:subject>
  <dc:creator>Maths teaching resources</dc:creator>
  <cp:keywords/>
  <dc:description>generated using python-pptx</dc:description>
  <cp:revision>1</cp:revision>
  <dcterms:created xsi:type="dcterms:W3CDTF">2013-01-27T09:14:16Z</dcterms:created>
  <dcterms:modified xsi:type="dcterms:W3CDTF">2026-09-24T15:49:41Z</dcterms:modified>
  <cp:category/>
</cp:coreProperties>
</file>