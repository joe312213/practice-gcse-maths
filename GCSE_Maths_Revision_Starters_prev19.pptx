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8"/>
    <p:sldId id="272" r:id="rId7"/>
    <p:sldId id="273" r:id="rId6"/>
    <p:sldId id="274" r:id="rId5"/>
    <p:sldId id="275" r:id="rId4"/>
    <p:sldId id="276" r:id="rId3"/>
    <p:sldId id="277" r:id="rId2"/>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2.xml"/><Relationship Id="rId3" Type="http://schemas.openxmlformats.org/officeDocument/2006/relationships/slide" Target="slides/slide21.xml"/><Relationship Id="rId4" Type="http://schemas.openxmlformats.org/officeDocument/2006/relationships/slide" Target="slides/slide20.xml"/><Relationship Id="rId5" Type="http://schemas.openxmlformats.org/officeDocument/2006/relationships/slide" Target="slides/slide19.xml"/><Relationship Id="rId6" Type="http://schemas.openxmlformats.org/officeDocument/2006/relationships/slide" Target="slides/slide18.xml"/><Relationship Id="rId7" Type="http://schemas.openxmlformats.org/officeDocument/2006/relationships/slide" Target="slides/slide17.xml"/><Relationship Id="rId8" Type="http://schemas.openxmlformats.org/officeDocument/2006/relationships/slide" Target="slides/slide16.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assessment; no hints or answers on question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A dedicated guide slide precedes the worked demo so that the rules and examples remain readable. Existing question content and stable S01–S07 references are unchanged. This gives nine physical question-deck slides.</a:t>
            </a:r>
          </a:p>
          <a:p/>
          <a:p>
            <a:r>
              <a:t>Title: **Signed numbers: addition and subtraction**</a:t>
            </a:r>
          </a:p>
          <a:p>
            <a:r>
              <a:t>Subtitle: **Rules recap • Start at the first number.**</a:t>
            </a:r>
          </a:p>
          <a:p/>
          <a:p>
            <a:r>
              <a:t>| Rule | What to do | Example |</a:t>
            </a:r>
          </a:p>
          <a:p>
            <a:r>
              <a:t>| --- | --- | --- |</a:t>
            </a:r>
          </a:p>
          <a:p>
            <a:r>
              <a:t>| Add a positive number | Move right: the value increases. | −4 + 7 = 3 |</a:t>
            </a:r>
          </a:p>
          <a:p>
            <a:r>
              <a:t>| Add a negative number | Move left: the value decreases. | 4 + (−7) = 4 − 7 = −3 |</a:t>
            </a:r>
          </a:p>
          <a:p>
            <a:r>
              <a:t>| Subtract a positive number | Move left: the value decreases. | 3 − 8 = −5 |</a:t>
            </a:r>
          </a:p>
          <a:p>
            <a:r>
              <a:t>| Subtract a negative number | Move right: subtracting a negative is adding a positive. | 6 − (−3) = 6 + 3 = 9 |</a:t>
            </a:r>
          </a:p>
          <a:p/>
          <a:p>
            <a:r>
              <a:t>Visible explanation: **In 6 − (−3), the first − means subtract; the − inside brackets belongs to the number −3.**</a:t>
            </a:r>
          </a:p>
          <a:p/>
          <a:p>
            <a:r>
              <a:t>Visible general rule: **To subtract a number, add its opposite. Keep the first number unchanged.**</a:t>
            </a:r>
          </a:p>
          <a:p/>
          <a:p>
            <a:r>
              <a:t>Visible caution with contrast: **Two negative numbers do not automatically give a positive answer: −4 + (−3) = −7.**</a:t>
            </a:r>
          </a:p>
          <a:p/>
          <a:p>
            <a:r>
              <a:t>These are addition/subtraction rules. Do not import the multiplication/division “same signs/different signs” shortcut into this set. The next slide retains the complete worked grid and editable number lines.</a:t>
            </a:r>
          </a:p>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**Follow each calculation. Explain what each sign means.**</a:t>
            </a:r>
          </a:p>
          <a:p/>
          <a:p>
            <a:r>
              <a:t>| Step | Thread 1: Guided | Thread 2: Core | Thread 3: Depth |</a:t>
            </a:r>
          </a:p>
          <a:p>
            <a:r>
              <a:t>| --- | --- | --- | --- |</a:t>
            </a:r>
          </a:p>
          <a:p>
            <a:r>
              <a:t>| Question | −4 + 7 | 6 − (−3) | −5 + 8 − (−2) |</a:t>
            </a:r>
          </a:p>
          <a:p>
            <a:r>
              <a:t>| Read the Signs | Start at −4; add positive 7. | Start at 6; subtract negative 3. | Add positive 8, then subtract negative 2. |</a:t>
            </a:r>
          </a:p>
          <a:p>
            <a:r>
              <a:t>| Rewrite the Calculation | −4 + 7 is already an addition. | 6 − (−3) = 6 + 3. | −5 + 8 + 2. |</a:t>
            </a:r>
          </a:p>
          <a:p>
            <a:r>
              <a:t>| Calculate | Move 4 right to 0, then 3 right: 3. | 6 + 3 = 9. | −5 + 8 = 3; 3 + 2 = 5. |</a:t>
            </a:r>
          </a:p>
          <a:p>
            <a:r>
              <a:t>| Check the Answer | 3 − 7 = −4. Answer: 3. | 9 + (−3) = 6. Answer: 9. | 5 + (−2) = 3; 3 − 8 = −5. Answer: 5. |</a:t>
            </a:r>
          </a:p>
          <a:p/>
          <a:p>
            <a:r>
              <a:t>Diagram specification: Three editable number lines, one per demo column, with integer ticks and a labelled zero. Guided: range −5 to 4, start −4, rightward jumps +4 to 0 and +3 to 3; bracket the jumps as +7. Core: range 0 to 10, start 6 and a rightward jump to 9 labelled “subtract −3 = add 3”. Depth: range −6 to 6, start −5, rightward jump +8 to 3, then +2 to 5. Mark each start and endpoint. Use equal tick spacing, visible arrowheads and labels clear of ticks. These accompany the worked calculation; students need not draw a line for every question.</a:t>
            </a:r>
          </a:p>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−6 + 9 | 4 + (−7) | −8 + 5 − (−4)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3 − 8 | −5 − (−9) | 7 − (−2) + (−12)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incorrect student work. Corrections: see M13-SE in the HTML 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worked demo</a:t>
            </a:r>
          </a:p>
          <a:p>
            <a:endParaRPr/>
          </a:p>
          <a:p>
            <a:r>
              <a:t>Guided: 84 ÷ 4 = 21 tins per box. Core: 130 ÷ 6 = 21 r 4, so 21 full packs. Depth: 145 ÷ 9 = 16 r 1, so 17 minibuses; 17 × 40 = £680.</a:t>
            </a:r>
          </a:p>
          <a:p>
            <a:endParaRPr/>
          </a:p>
          <a:p>
            <a:r>
              <a:t>For Depth, 16 buses would seat only 144 students. The first answer must be interpreted before the next calculation. In the lattice for 17 × 40, top row cells are 04, 28; bottom row cells 00, 00. Diagonal totals from right: 0, 8, 6, 0 → 680. Both worked diagrams are provided as editable groups. Ballpark calculations check scale; they are not exact-answer proofs.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1</a:t>
            </a:r>
          </a:p>
          <a:p>
            <a:endParaRPr/>
          </a:p>
          <a:p>
            <a:r>
              <a:t>Thread 1: Guided: 42 × 15 = 630 pens. Estimate: 40 × 15 = 600.</a:t>
            </a:r>
          </a:p>
          <a:p>
            <a:endParaRPr/>
          </a:p>
          <a:p>
            <a:r>
              <a:t>Thread 2: Core: 215 ÷ 6 = 35 r 5 → 35 full bags. Estimate: 210 ÷ 6 = 35.</a:t>
            </a:r>
          </a:p>
          <a:p>
            <a:endParaRPr/>
          </a:p>
          <a:p>
            <a:r>
              <a:t>Thread 3: Depth: 18 × 32 = 576; 576 + 120 = £696. Estimate: 20 × 30 + 120 = 720.</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2</a:t>
            </a:r>
          </a:p>
          <a:p>
            <a:endParaRPr/>
          </a:p>
          <a:p>
            <a:r>
              <a:t>Thread 1: Guided: 168 ÷ 7 = 24 students. Estimate: 140 ÷ 7 = 20.</a:t>
            </a:r>
          </a:p>
          <a:p>
            <a:endParaRPr/>
          </a:p>
          <a:p>
            <a:r>
              <a:t>Thread 2: Core: 16 × 27 = £432. Estimate: 16 × 30 = 480.</a:t>
            </a:r>
          </a:p>
          <a:p>
            <a:endParaRPr/>
          </a:p>
          <a:p>
            <a:r>
              <a:t>Thread 3: Depth: 157 ÷ 8 = 19 r 5 → 20 vans; 20 × 45 = £900. Estimate: 160 ÷ 8 × 45 = 900.</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1</a:t>
            </a:r>
          </a:p>
          <a:p>
            <a:endParaRPr/>
          </a:p>
          <a:p>
            <a:r>
              <a:t>### Thread 1: Guided</a:t>
            </a:r>
          </a:p>
          <a:p>
            <a:endParaRPr/>
          </a:p>
          <a:p>
            <a:r>
              <a:t>1. 14 × 32 = 448 books</a:t>
            </a:r>
          </a:p>
          <a:p>
            <a:endParaRPr/>
          </a:p>
          <a:p>
            <a:r>
              <a:t>2. 105 ÷ 7 = 15 students</a:t>
            </a:r>
          </a:p>
          <a:p>
            <a:endParaRPr/>
          </a:p>
          <a:p>
            <a:r>
              <a:t>3. 26 × 41 = 1,066 bottles</a:t>
            </a:r>
          </a:p>
          <a:p>
            <a:endParaRPr/>
          </a:p>
          <a:p>
            <a:r>
              <a:t>4. 148 ÷ 4 = 37 m</a:t>
            </a:r>
          </a:p>
          <a:p>
            <a:endParaRPr/>
          </a:p>
          <a:p>
            <a:r>
              <a:t>5. 13 × 85 = 1,105 seats</a:t>
            </a:r>
          </a:p>
          <a:p>
            <a:endParaRPr/>
          </a:p>
          <a:p>
            <a:r>
              <a:t>6. 175 ÷ 5 = £35</a:t>
            </a:r>
          </a:p>
          <a:p>
            <a:endParaRPr/>
          </a:p>
          <a:p>
            <a:r>
              <a:t>### Thread 2: Core</a:t>
            </a:r>
          </a:p>
          <a:p>
            <a:endParaRPr/>
          </a:p>
          <a:p>
            <a:r>
              <a:t>1. 130 ÷ 6 = 21 r 4 → 21 full cartons</a:t>
            </a:r>
          </a:p>
          <a:p>
            <a:endParaRPr/>
          </a:p>
          <a:p>
            <a:r>
              <a:t>2. 32 ÷ 5 = 6 r 2 → 7 cars</a:t>
            </a:r>
          </a:p>
          <a:p>
            <a:endParaRPr/>
          </a:p>
          <a:p>
            <a:r>
              <a:t>3. 250 ÷ 12 = 20 r 10 → 10 chocolates</a:t>
            </a:r>
          </a:p>
          <a:p>
            <a:endParaRPr/>
          </a:p>
          <a:p>
            <a:r>
              <a:t>4. 17 × 28 = £476</a:t>
            </a:r>
          </a:p>
          <a:p>
            <a:endParaRPr/>
          </a:p>
          <a:p>
            <a:r>
              <a:t>5. 142 ÷ 6 = 23 r 4 → 23 full bags</a:t>
            </a:r>
          </a:p>
          <a:p>
            <a:endParaRPr/>
          </a:p>
          <a:p>
            <a:r>
              <a:t>6. 132 ÷ 8 = £16.50</a:t>
            </a:r>
          </a:p>
          <a:p>
            <a:endParaRPr/>
          </a:p>
          <a:p>
            <a:r>
              <a:t>### Thread 3: Depth</a:t>
            </a:r>
          </a:p>
          <a:p>
            <a:endParaRPr/>
          </a:p>
          <a:p>
            <a:r>
              <a:t>1. 45 × 16 = 720; 720 − 50 = £670</a:t>
            </a:r>
          </a:p>
          <a:p>
            <a:endParaRPr/>
          </a:p>
          <a:p>
            <a:r>
              <a:t>2. 115 ÷ 8 = 14 r 3 → 15 vans; 15 × 65 = £975</a:t>
            </a:r>
          </a:p>
          <a:p>
            <a:endParaRPr/>
          </a:p>
          <a:p>
            <a:r>
              <a:t>3. 22 × 14 = 308; 308 + 30 = £338</a:t>
            </a:r>
          </a:p>
          <a:p>
            <a:endParaRPr/>
          </a:p>
          <a:p>
            <a:r>
              <a:t>4. 430 ÷ 12 = 35 r 10; 35 × 9 = £315</a:t>
            </a:r>
          </a:p>
          <a:p>
            <a:endParaRPr/>
          </a:p>
          <a:p>
            <a:r>
              <a:t>5. 24 × 15 = 360; 360 + 45 = £405</a:t>
            </a:r>
          </a:p>
          <a:p>
            <a:endParaRPr/>
          </a:p>
          <a:p>
            <a:r>
              <a:t>6. 15 × 12 = 180; 180 × 8 = £1,440</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2</a:t>
            </a:r>
          </a:p>
          <a:p>
            <a:endParaRPr/>
          </a:p>
          <a:p>
            <a:r>
              <a:t>### Thread 1: Guided</a:t>
            </a:r>
          </a:p>
          <a:p>
            <a:endParaRPr/>
          </a:p>
          <a:p>
            <a:r>
              <a:t>1. 18 × 24 = 432 plants</a:t>
            </a:r>
          </a:p>
          <a:p>
            <a:endParaRPr/>
          </a:p>
          <a:p>
            <a:r>
              <a:t>2. 156 ÷ 6 = 26 pens</a:t>
            </a:r>
          </a:p>
          <a:p>
            <a:endParaRPr/>
          </a:p>
          <a:p>
            <a:r>
              <a:t>3. 23 × 16 = 368 badges</a:t>
            </a:r>
          </a:p>
          <a:p>
            <a:endParaRPr/>
          </a:p>
          <a:p>
            <a:r>
              <a:t>4. 248 ÷ 8 = £31</a:t>
            </a:r>
          </a:p>
          <a:p>
            <a:endParaRPr/>
          </a:p>
          <a:p>
            <a:r>
              <a:t>5. 12 × 27 = 324 km</a:t>
            </a:r>
          </a:p>
          <a:p>
            <a:endParaRPr/>
          </a:p>
          <a:p>
            <a:r>
              <a:t>6. 189 ÷ 7 = 27 cm</a:t>
            </a:r>
          </a:p>
          <a:p>
            <a:endParaRPr/>
          </a:p>
          <a:p>
            <a:r>
              <a:t>### Thread 2: Core</a:t>
            </a:r>
          </a:p>
          <a:p>
            <a:endParaRPr/>
          </a:p>
          <a:p>
            <a:r>
              <a:t>1. 197 ÷ 8 = 24 r 5 → 24 bundles</a:t>
            </a:r>
          </a:p>
          <a:p>
            <a:endParaRPr/>
          </a:p>
          <a:p>
            <a:r>
              <a:t>2. 83 ÷ 6 = 13 r 5 → 14 tents</a:t>
            </a:r>
          </a:p>
          <a:p>
            <a:endParaRPr/>
          </a:p>
          <a:p>
            <a:r>
              <a:t>3. 275 ÷ 12 = 22 r 11 → 11 cm</a:t>
            </a:r>
          </a:p>
          <a:p>
            <a:endParaRPr/>
          </a:p>
          <a:p>
            <a:r>
              <a:t>4. 36 × 14 = 504 pages</a:t>
            </a:r>
          </a:p>
          <a:p>
            <a:endParaRPr/>
          </a:p>
          <a:p>
            <a:r>
              <a:t>5. 154 ÷ 4 = £38.50</a:t>
            </a:r>
          </a:p>
          <a:p>
            <a:endParaRPr/>
          </a:p>
          <a:p>
            <a:r>
              <a:t>6. 253 ÷ 24 = 10 r 13 → 11 albums</a:t>
            </a:r>
          </a:p>
          <a:p>
            <a:endParaRPr/>
          </a:p>
          <a:p>
            <a:r>
              <a:t>### Thread 3: Depth</a:t>
            </a:r>
          </a:p>
          <a:p>
            <a:endParaRPr/>
          </a:p>
          <a:p>
            <a:r>
              <a:t>1. 28 × 14 = 392; 392 + 18 = £410</a:t>
            </a:r>
          </a:p>
          <a:p>
            <a:endParaRPr/>
          </a:p>
          <a:p>
            <a:r>
              <a:t>2. 94 ÷ 6 = 15 r 4 → 16 tables; 16 × 12 = £192</a:t>
            </a:r>
          </a:p>
          <a:p>
            <a:endParaRPr/>
          </a:p>
          <a:p>
            <a:r>
              <a:t>3. 24 × 15 = 360; 360 − 87 = 273 drinks</a:t>
            </a:r>
          </a:p>
          <a:p>
            <a:endParaRPr/>
          </a:p>
          <a:p>
            <a:r>
              <a:t>4. 286 ÷ 8 = 35 r 6; 35 × 3 = £105</a:t>
            </a:r>
          </a:p>
          <a:p>
            <a:endParaRPr/>
          </a:p>
          <a:p>
            <a:r>
              <a:t>5. 18 × 12 = 216; 216 ÷ 4 = £54</a:t>
            </a:r>
          </a:p>
          <a:p>
            <a:endParaRPr/>
          </a:p>
          <a:p>
            <a:r>
              <a:t>6. 17 × 24 = 408; 408 × 2 = £816</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3</a:t>
            </a:r>
          </a:p>
          <a:p>
            <a:endParaRPr/>
          </a:p>
          <a:p>
            <a:r>
              <a:t>### Thread 1: Guided</a:t>
            </a:r>
          </a:p>
          <a:p>
            <a:endParaRPr/>
          </a:p>
          <a:p>
            <a:r>
              <a:t>1. 16 × 35 = 560 cables</a:t>
            </a:r>
          </a:p>
          <a:p>
            <a:endParaRPr/>
          </a:p>
          <a:p>
            <a:r>
              <a:t>2. 252 ÷ 7 = 36 stickers</a:t>
            </a:r>
          </a:p>
          <a:p>
            <a:endParaRPr/>
          </a:p>
          <a:p>
            <a:r>
              <a:t>3. 28 × 24 = 672 seats</a:t>
            </a:r>
          </a:p>
          <a:p>
            <a:endParaRPr/>
          </a:p>
          <a:p>
            <a:r>
              <a:t>4. 336 ÷ 8 = 42 m</a:t>
            </a:r>
          </a:p>
          <a:p>
            <a:endParaRPr/>
          </a:p>
          <a:p>
            <a:r>
              <a:t>5. 19 × 32 = 608 cards</a:t>
            </a:r>
          </a:p>
          <a:p>
            <a:endParaRPr/>
          </a:p>
          <a:p>
            <a:r>
              <a:t>6. 315 ÷ 9 = £35</a:t>
            </a:r>
          </a:p>
          <a:p>
            <a:endParaRPr/>
          </a:p>
          <a:p>
            <a:r>
              <a:t>### Thread 2: Core</a:t>
            </a:r>
          </a:p>
          <a:p>
            <a:endParaRPr/>
          </a:p>
          <a:p>
            <a:r>
              <a:t>1. 245 ÷ 8 = 30 r 5 → 30 bags</a:t>
            </a:r>
          </a:p>
          <a:p>
            <a:endParaRPr/>
          </a:p>
          <a:p>
            <a:r>
              <a:t>2. 137 ÷ 9 = 15 r 2 → 16 trips</a:t>
            </a:r>
          </a:p>
          <a:p>
            <a:endParaRPr/>
          </a:p>
          <a:p>
            <a:r>
              <a:t>3. 359 ÷ 12 = 29 r 11 → 11 beads</a:t>
            </a:r>
          </a:p>
          <a:p>
            <a:endParaRPr/>
          </a:p>
          <a:p>
            <a:r>
              <a:t>4. 23 × 16 = £368</a:t>
            </a:r>
          </a:p>
          <a:p>
            <a:endParaRPr/>
          </a:p>
          <a:p>
            <a:r>
              <a:t>5. 186 ÷ 8 = £23.25</a:t>
            </a:r>
          </a:p>
          <a:p>
            <a:endParaRPr/>
          </a:p>
          <a:p>
            <a:r>
              <a:t>6. 25 × 48 = 1,200 cm²</a:t>
            </a:r>
          </a:p>
          <a:p>
            <a:endParaRPr/>
          </a:p>
          <a:p>
            <a:r>
              <a:t>### Thread 3: Depth</a:t>
            </a:r>
          </a:p>
          <a:p>
            <a:endParaRPr/>
          </a:p>
          <a:p>
            <a:r>
              <a:t>1. 21 × 18 = 378; 378 + 64 = £442</a:t>
            </a:r>
          </a:p>
          <a:p>
            <a:endParaRPr/>
          </a:p>
          <a:p>
            <a:r>
              <a:t>2. 167 ÷ 24 = 6 r 23 → 7 coaches; 7 × 85 = £595</a:t>
            </a:r>
          </a:p>
          <a:p>
            <a:endParaRPr/>
          </a:p>
          <a:p>
            <a:r>
              <a:t>3. 32 × 18 = 576; 576 − 145 = 431 cards</a:t>
            </a:r>
          </a:p>
          <a:p>
            <a:endParaRPr/>
          </a:p>
          <a:p>
            <a:r>
              <a:t>4. 397 ÷ 6 = 66 r 1; 66 × 4 = £264</a:t>
            </a:r>
          </a:p>
          <a:p>
            <a:endParaRPr/>
          </a:p>
          <a:p>
            <a:r>
              <a:t>5. 15 × 14 = 210; 210 ÷ 6 = £35</a:t>
            </a:r>
          </a:p>
          <a:p>
            <a:endParaRPr/>
          </a:p>
          <a:p>
            <a:r>
              <a:t>6. 23 × 16 = 368; 368 × 5 = £1,840</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4</a:t>
            </a:r>
          </a:p>
          <a:p>
            <a:endParaRPr/>
          </a:p>
          <a:p>
            <a:r>
              <a:t>### Thread 1: Guided</a:t>
            </a:r>
          </a:p>
          <a:p>
            <a:endParaRPr/>
          </a:p>
          <a:p>
            <a:r>
              <a:t>1. 27 × 18 = 486 labels</a:t>
            </a:r>
          </a:p>
          <a:p>
            <a:endParaRPr/>
          </a:p>
          <a:p>
            <a:r>
              <a:t>2. 384 ÷ 8 = 48 books</a:t>
            </a:r>
          </a:p>
          <a:p>
            <a:endParaRPr/>
          </a:p>
          <a:p>
            <a:r>
              <a:t>3. 34 × 16 = 544 seedlings</a:t>
            </a:r>
          </a:p>
          <a:p>
            <a:endParaRPr/>
          </a:p>
          <a:p>
            <a:r>
              <a:t>4. 425 ÷ 5 = £85</a:t>
            </a:r>
          </a:p>
          <a:p>
            <a:endParaRPr/>
          </a:p>
          <a:p>
            <a:r>
              <a:t>5. 26 × 35 = 910 seats</a:t>
            </a:r>
          </a:p>
          <a:p>
            <a:endParaRPr/>
          </a:p>
          <a:p>
            <a:r>
              <a:t>6. 294 ÷ 6 = 49 cm</a:t>
            </a:r>
          </a:p>
          <a:p>
            <a:endParaRPr/>
          </a:p>
          <a:p>
            <a:r>
              <a:t>### Thread 2: Core</a:t>
            </a:r>
          </a:p>
          <a:p>
            <a:endParaRPr/>
          </a:p>
          <a:p>
            <a:r>
              <a:t>1. 367 ÷ 12 = 30 r 7 → 30 boxes</a:t>
            </a:r>
          </a:p>
          <a:p>
            <a:endParaRPr/>
          </a:p>
          <a:p>
            <a:r>
              <a:t>2. 158 ÷ 6 = 26 r 2 → 27 rooms</a:t>
            </a:r>
          </a:p>
          <a:p>
            <a:endParaRPr/>
          </a:p>
          <a:p>
            <a:r>
              <a:t>3. 413 ÷ 15 = 27 r 8 → 8 cm</a:t>
            </a:r>
          </a:p>
          <a:p>
            <a:endParaRPr/>
          </a:p>
          <a:p>
            <a:r>
              <a:t>4. 28 × 19 = 532 bottles</a:t>
            </a:r>
          </a:p>
          <a:p>
            <a:endParaRPr/>
          </a:p>
          <a:p>
            <a:r>
              <a:t>5. 238 ÷ 8 = £29.75</a:t>
            </a:r>
          </a:p>
          <a:p>
            <a:endParaRPr/>
          </a:p>
          <a:p>
            <a:r>
              <a:t>6. 319 ÷ 24 = 13 r 7 → 14 folders</a:t>
            </a:r>
          </a:p>
          <a:p>
            <a:endParaRPr/>
          </a:p>
          <a:p>
            <a:r>
              <a:t>### Thread 3: Depth</a:t>
            </a:r>
          </a:p>
          <a:p>
            <a:endParaRPr/>
          </a:p>
          <a:p>
            <a:r>
              <a:t>1. 36 × 17 = 612; 612 − 75 = £537</a:t>
            </a:r>
          </a:p>
          <a:p>
            <a:endParaRPr/>
          </a:p>
          <a:p>
            <a:r>
              <a:t>2. 203 ÷ 8 = 25 r 3 → 26 tables; 26 × 15 = £390</a:t>
            </a:r>
          </a:p>
          <a:p>
            <a:endParaRPr/>
          </a:p>
          <a:p>
            <a:r>
              <a:t>3. 29 × 24 = 696; 696 − 187 = 509 notebooks</a:t>
            </a:r>
          </a:p>
          <a:p>
            <a:endParaRPr/>
          </a:p>
          <a:p>
            <a:r>
              <a:t>4. 518 ÷ 12 = 43 r 2; 43 × 5 = £215</a:t>
            </a:r>
          </a:p>
          <a:p>
            <a:endParaRPr/>
          </a:p>
          <a:p>
            <a:r>
              <a:t>5. 21 × 16 = 336; 336 ÷ 7 = £48</a:t>
            </a:r>
          </a:p>
          <a:p>
            <a:endParaRPr/>
          </a:p>
          <a:p>
            <a:r>
              <a:t>6. 28 × 15 = 420; 420 × 3 = £1,260</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1 — Worked demo</a:t>
            </a:r>
          </a:p>
          <a:p>
            <a:endParaRPr/>
          </a:p>
          <a:p>
            <a:r>
              <a:t>Title: **Ratio: sharing and missing amounts**</a:t>
            </a:r>
          </a:p>
          <a:p>
            <a:endParaRPr/>
          </a:p>
          <a:p>
            <a:r>
              <a:t>Instruction: **Follow each step down your column.**</a:t>
            </a:r>
          </a:p>
          <a:p>
            <a:endParaRPr/>
          </a:p>
          <a:p>
            <a:r>
              <a:t>| Row | Thread 1: Guided | Thread 2: Core | Thread 3: Depth |</a:t>
            </a:r>
          </a:p>
          <a:p>
            <a:r>
              <a:t>| --- | --- | --- | --- |</a:t>
            </a:r>
          </a:p>
          <a:p>
            <a:r>
              <a:t>| The Full Question | A and B share £120 in the ratio 2:3. How much does B receive? | Red and blue paint are mixed in the ratio 3:5. There are 18 litres of red paint. How many litres of blue paint are needed? | Red and blue counters are in the ratio 3:7. There are 28 more blue counters than red counters. How many counters are there altogether? |</a:t>
            </a:r>
          </a:p>
          <a:p>
            <a:r>
              <a:t>| Keywords &amp; Calculation | “share £120”: the total is known. 2 + 3 = 5 parts. £120 ÷ 5, then × 3. | “18 litres of red”: 3 parts are known. 18 ÷ 3, then × 5. | “28 more blue”: the difference is known. 7 − 3 = 4 parts. 28 ÷ 4, then × (3 + 7). |</a:t>
            </a:r>
          </a:p>
          <a:p>
            <a:r>
              <a:t>| Written Method | £120 ÷ 5 = £24 per part. £24 × 3 = £72. | 18 ÷ 3 = 6 litres per part. 6 × 5 = 30 litres. | 28 ÷ 4 = 7 counters per part. 3 + 7 = 10 parts. 7 × 10 = 70 counters. |</a:t>
            </a:r>
          </a:p>
          <a:p>
            <a:r>
              <a:t>| Ballpark Check &amp; Math | B gets more than half of £120, so more than £60. £72 fits. Check both shares: £48 + £72 = £120. | Blue is between one and two times the red amount, so between 18 and 36 litres. 30 litres fits. | The total represents 10 parts and the difference 4. The total should be between 2 and 3 times 28: between 56 and 84. 70 fits. |</a:t>
            </a:r>
          </a:p>
          <a:p>
            <a:r>
              <a:t>| Final Answer | B receives £72. | 30 litres of blue paint. | 70 counters altogether. |</a:t>
            </a:r>
          </a:p>
          <a:p>
            <a:endParaRPr/>
          </a:p>
          <a:p>
            <a:r>
              <a:t>### Diagram specification</a:t>
            </a:r>
          </a:p>
          <a:p>
            <a:endParaRPr/>
          </a:p>
          <a:p>
            <a:r>
              <a:t>Use editable, equal-sized boxes. Align the two bars at the left; each box represents one part, not one pound, litre or counter. Label both bars by name; colour is optional, not the only way to identify them.</a:t>
            </a:r>
          </a:p>
          <a:p>
            <a:endParaRPr/>
          </a:p>
          <a:p>
            <a:r>
              <a:t>- Guided: A has 2 boxes; B has 3. A bracket covering both bars is labelled “£120 altogether”. Show “1 part = £24”.</a:t>
            </a:r>
          </a:p>
          <a:p>
            <a:r>
              <a:t>- Core: red has 3 boxes labelled “18 litres”; blue has 5. Show “1 part = 6 litres”.</a:t>
            </a:r>
          </a:p>
          <a:p>
            <a:r>
              <a:t>- Depth: red has 3 boxes; blue has 7. Bracket the **four extra blue boxes** and label them “28 more”. Show “1 part = 7 counters”. Do not label the overlap as the difference.</a:t>
            </a:r>
          </a:p>
          <a:p>
            <a:endParaRPr/>
          </a:p>
          <a:p>
            <a:r>
              <a:t>Keep the complete question and all four steps on this slide. Fit the diagrams beside the concise working within the Written Method row. Do not introduce a separate step-per-slide sequence.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2 — Step-by-step practice 1</a:t>
            </a:r>
          </a:p>
          <a:p>
            <a:endParaRPr/>
          </a:p>
          <a:p>
            <a:r>
              <a:t>Instruction: **Complete each step in your booklet or webapp.** Use the four practice prompts above.</a:t>
            </a:r>
          </a:p>
          <a:p>
            <a:endParaRPr/>
          </a:p>
          <a:p>
            <a:r>
              <a:t>| Thread 1: Guided | Thread 2: Core | Thread 3: Depth |</a:t>
            </a:r>
          </a:p>
          <a:p>
            <a:r>
              <a:t>| --- | --- | --- |</a:t>
            </a:r>
          </a:p>
          <a:p>
            <a:r>
              <a:t>| An 84 ml paint mix contains red and white paint in the ratio 3:4. How much red paint is in the mix? | Notebooks and folders are in the ratio 4:7. There are 35 folders. How many notebooks are there? | Adults and children are in the ratio 2:5. There are 24 more children than adults. How many people are there altogether? |</a:t>
            </a:r>
          </a:p>
          <a:p>
            <a:endParaRPr/>
          </a:p>
          <a:p>
            <a:r>
              <a:t>Teacher working:</a:t>
            </a:r>
          </a:p>
          <a:p>
            <a:endParaRPr/>
          </a:p>
          <a:p>
            <a:r>
              <a:t>- T1: 3 + 4 = 7; 84 ÷ 7 = 12 ml; 12 × 3 = **36 ml red paint**. Less than half of 84 ml; white paint 48 ml.</a:t>
            </a:r>
          </a:p>
          <a:p>
            <a:r>
              <a:t>- T2: 35 ÷ 7 = 5; 5 × 4 = **20 notebooks**. Fewer notebooks than folders.</a:t>
            </a:r>
          </a:p>
          <a:p>
            <a:r>
              <a:t>- T3: 5 − 2 = 3; 24 ÷ 3 = 8; (2 + 5) × 8 = **56 people**. 16 adults and 40 children; difference 24.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3 — Step-by-step practice 2</a:t>
            </a:r>
          </a:p>
          <a:p>
            <a:endParaRPr/>
          </a:p>
          <a:p>
            <a:r>
              <a:t>Instruction and row prompts match Slide 2 exactly.</a:t>
            </a:r>
          </a:p>
          <a:p>
            <a:endParaRPr/>
          </a:p>
          <a:p>
            <a:r>
              <a:t>| Thread 1: Guided | Thread 2: Core | Thread 3: Depth |</a:t>
            </a:r>
          </a:p>
          <a:p>
            <a:r>
              <a:t>| --- | --- | --- |</a:t>
            </a:r>
          </a:p>
          <a:p>
            <a:r>
              <a:t>| A 96 cm ribbon is cut into pieces A and B in the ratio 5:7. Find the length of B. | Juice and water are mixed in the ratio 2:7. There are 18 litres of juice. How many litres of water are needed? | Two lengths of ribbon, A and B, are in the ratio 5:8. B is 21 cm longer than A. What is their total length? |</a:t>
            </a:r>
          </a:p>
          <a:p>
            <a:endParaRPr/>
          </a:p>
          <a:p>
            <a:r>
              <a:t>Teacher working:</a:t>
            </a:r>
          </a:p>
          <a:p>
            <a:endParaRPr/>
          </a:p>
          <a:p>
            <a:r>
              <a:t>- T1: 5 + 7 = 12; 96 ÷ 12 = 8 cm; 8 × 7 = **56 cm**. More than half of 96 cm; A is 40 cm.</a:t>
            </a:r>
          </a:p>
          <a:p>
            <a:r>
              <a:t>- T2: 18 ÷ 2 = 9; 9 × 7 = **63 litres of water**. Between 3 and 4 times the juice amount (54–72 litres).</a:t>
            </a:r>
          </a:p>
          <a:p>
            <a:r>
              <a:t>- T3: 8 − 5 = 3; 21 ÷ 3 = 7; (5 + 8) × 7 = **91 cm**. The two lengths are 35 cm and 56 cm; difference 21 cm.</a:t>
            </a:r>
          </a:p>
          <a:p>
            <a:endParaRPr/>
          </a:p>
          <a:p>
            <a:endParaRPr/>
          </a:p>
          <a:p>
            <a:endParaRPr/>
          </a:p>
          <a:p>
            <a:r>
              <a:t>## Slides 4–7 — Independent practice</a:t>
            </a:r>
          </a:p>
          <a:p>
            <a:endParaRPr/>
          </a:p>
          <a:p>
            <a:r>
              <a:t>Instruction on each slide: **Choose a column. Show your working and check your answers.**</a:t>
            </a:r>
          </a:p>
          <a:p>
            <a:endParaRPr/>
          </a:p>
          <a:p>
            <a:r>
              <a:t>Each column mixes contexts, unit types and requested quantities. “Find each” requires two labelled answers. Guided uses direct totals, known amounts and friendly given-difference questions. Core mixes totals, known amounts and simple differences. Depth mixes all three, including finding a difference from a total or a known amount. A column does not identify the required calculation.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M04-S04: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M04-S05: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M04-S06: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M04-S07: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empty grids to copy</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Size means columns × rows. Put the first number across the top and the second down the right.</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M01-TEMPLATES  •  Record your working in your booklet or webapp.</a:t>
            </a:r>
          </a:p>
        </p:txBody>
      </p:sp>
      <p:sp>
        <p:nvSpPr>
          <p:cNvPr id="6" name="TextBox 5"/>
          <p:cNvSpPr txBox="1"/>
          <p:nvPr/>
        </p:nvSpPr>
        <p:spPr>
          <a:xfrm>
            <a:off x="114300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2 × 2 grid</a:t>
            </a:r>
          </a:p>
        </p:txBody>
      </p:sp>
      <p:grpSp>
        <p:nvGrpSpPr>
          <p:cNvPr id="7" name="Empty 2 by 2 lattice template"/>
          <p:cNvGrpSpPr/>
          <p:nvPr/>
        </p:nvGrpSpPr>
        <p:grpSpPr>
          <a:xfrm>
            <a:off x="1371600" y="2011680"/>
            <a:ext cx="1060704" cy="1060704"/>
            <a:chOff x="1371600" y="2011680"/>
            <a:chExt cx="1060704" cy="1060704"/>
          </a:xfrm>
        </p:grpSpPr>
        <p:cxnSp>
          <p:nvCxnSpPr>
            <p:cNvPr id="8" name="Connector 7"/>
            <p:cNvCxnSpPr/>
            <p:nvPr/>
          </p:nvCxnSpPr>
          <p:spPr>
            <a:xfrm>
              <a:off x="137160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90195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43230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371600" y="2011680"/>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71600" y="2542032"/>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71600" y="3072384"/>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37160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90195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37160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0195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18" name="TextBox 17"/>
          <p:cNvSpPr txBox="1"/>
          <p:nvPr/>
        </p:nvSpPr>
        <p:spPr>
          <a:xfrm>
            <a:off x="566928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2 grid</a:t>
            </a:r>
          </a:p>
        </p:txBody>
      </p:sp>
      <p:grpSp>
        <p:nvGrpSpPr>
          <p:cNvPr id="19" name="Empty 3 by 2 lattice template"/>
          <p:cNvGrpSpPr/>
          <p:nvPr/>
        </p:nvGrpSpPr>
        <p:grpSpPr>
          <a:xfrm>
            <a:off x="5897880" y="2011680"/>
            <a:ext cx="1591056" cy="1060704"/>
            <a:chOff x="5897880" y="2011680"/>
            <a:chExt cx="1591056" cy="1060704"/>
          </a:xfrm>
        </p:grpSpPr>
        <p:cxnSp>
          <p:nvCxnSpPr>
            <p:cNvPr id="20" name="Connector 19"/>
            <p:cNvCxnSpPr/>
            <p:nvPr/>
          </p:nvCxnSpPr>
          <p:spPr>
            <a:xfrm>
              <a:off x="589788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42823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5858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88936"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9788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9788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89788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89788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42823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95858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89788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42823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695858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33" name="TextBox 32"/>
          <p:cNvSpPr txBox="1"/>
          <p:nvPr/>
        </p:nvSpPr>
        <p:spPr>
          <a:xfrm>
            <a:off x="1033272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3 grid</a:t>
            </a:r>
          </a:p>
        </p:txBody>
      </p:sp>
      <p:grpSp>
        <p:nvGrpSpPr>
          <p:cNvPr id="34" name="Empty 3 by 3 lattice template"/>
          <p:cNvGrpSpPr/>
          <p:nvPr/>
        </p:nvGrpSpPr>
        <p:grpSpPr>
          <a:xfrm>
            <a:off x="10561320" y="2011680"/>
            <a:ext cx="1591056" cy="1591056"/>
            <a:chOff x="10561320" y="2011680"/>
            <a:chExt cx="1591056" cy="1591056"/>
          </a:xfrm>
        </p:grpSpPr>
        <p:cxnSp>
          <p:nvCxnSpPr>
            <p:cNvPr id="35" name="Connector 34"/>
            <p:cNvCxnSpPr/>
            <p:nvPr/>
          </p:nvCxnSpPr>
          <p:spPr>
            <a:xfrm>
              <a:off x="10561320"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091672"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1622024"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2152376"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56132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56132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56132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561320" y="3602736"/>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56132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109167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162202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056132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109167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162202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0561320"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1091672"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1622024"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52" name="TextBox 51"/>
          <p:cNvSpPr txBox="1"/>
          <p:nvPr/>
        </p:nvSpPr>
        <p:spPr>
          <a:xfrm>
            <a:off x="315468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3 grid</a:t>
            </a:r>
          </a:p>
        </p:txBody>
      </p:sp>
      <p:grpSp>
        <p:nvGrpSpPr>
          <p:cNvPr id="53" name="Empty 4 by 3 lattice template"/>
          <p:cNvGrpSpPr/>
          <p:nvPr/>
        </p:nvGrpSpPr>
        <p:grpSpPr>
          <a:xfrm>
            <a:off x="3383280" y="4892040"/>
            <a:ext cx="2121408" cy="1591056"/>
            <a:chOff x="3383280" y="4892040"/>
            <a:chExt cx="2121408" cy="1591056"/>
          </a:xfrm>
        </p:grpSpPr>
        <p:cxnSp>
          <p:nvCxnSpPr>
            <p:cNvPr id="54" name="Connector 53"/>
            <p:cNvCxnSpPr/>
            <p:nvPr/>
          </p:nvCxnSpPr>
          <p:spPr>
            <a:xfrm>
              <a:off x="3383280"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913632"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443984"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974336"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04688"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38328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38328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38328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38328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38328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391363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44398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97433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338328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391363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44398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97433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338328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391363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44398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97433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75" name="TextBox 74"/>
          <p:cNvSpPr txBox="1"/>
          <p:nvPr/>
        </p:nvSpPr>
        <p:spPr>
          <a:xfrm>
            <a:off x="877824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4 grid</a:t>
            </a:r>
          </a:p>
        </p:txBody>
      </p:sp>
      <p:grpSp>
        <p:nvGrpSpPr>
          <p:cNvPr id="76" name="Empty 4 by 4 lattice template"/>
          <p:cNvGrpSpPr/>
          <p:nvPr/>
        </p:nvGrpSpPr>
        <p:grpSpPr>
          <a:xfrm>
            <a:off x="9006840" y="4892040"/>
            <a:ext cx="2121408" cy="2121408"/>
            <a:chOff x="9006840" y="4892040"/>
            <a:chExt cx="2121408" cy="2121408"/>
          </a:xfrm>
        </p:grpSpPr>
        <p:cxnSp>
          <p:nvCxnSpPr>
            <p:cNvPr id="77" name="Connector 76"/>
            <p:cNvCxnSpPr/>
            <p:nvPr/>
          </p:nvCxnSpPr>
          <p:spPr>
            <a:xfrm>
              <a:off x="9006840"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537192"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0067544"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597896"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1128248"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00684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00684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900684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900684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9006840" y="7013448"/>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900684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953719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006754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059789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900684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953719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006754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059789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900684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953719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006754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059789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9006840"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9537192"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0067544"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0597896"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sp>
        <p:nvSpPr>
          <p:cNvPr id="10" name="TextBox 9"/>
          <p:cNvSpPr txBox="1"/>
          <p:nvPr/>
        </p:nvSpPr>
        <p:spPr>
          <a:xfrm>
            <a:off x="850392"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1" name="TextBox 10"/>
          <p:cNvSpPr txBox="1"/>
          <p:nvPr/>
        </p:nvSpPr>
        <p:spPr>
          <a:xfrm>
            <a:off x="1280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2" name="TextBox 11"/>
          <p:cNvSpPr txBox="1"/>
          <p:nvPr/>
        </p:nvSpPr>
        <p:spPr>
          <a:xfrm>
            <a:off x="1773936"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3" name="Connector 12"/>
          <p:cNvCxnSpPr/>
          <p:nvPr/>
        </p:nvCxnSpPr>
        <p:spPr>
          <a:xfrm flipV="1">
            <a:off x="850392"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64108"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5" name="TextBox 14"/>
          <p:cNvSpPr txBox="1"/>
          <p:nvPr/>
        </p:nvSpPr>
        <p:spPr>
          <a:xfrm>
            <a:off x="1074420"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6" name="Connector 15"/>
          <p:cNvCxnSpPr/>
          <p:nvPr/>
        </p:nvCxnSpPr>
        <p:spPr>
          <a:xfrm flipV="1">
            <a:off x="1280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93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 name="TextBox 17"/>
          <p:cNvSpPr txBox="1"/>
          <p:nvPr/>
        </p:nvSpPr>
        <p:spPr>
          <a:xfrm>
            <a:off x="1504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 name="Connector 18"/>
          <p:cNvCxnSpPr/>
          <p:nvPr/>
        </p:nvCxnSpPr>
        <p:spPr>
          <a:xfrm>
            <a:off x="850392"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80160"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09928"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0392"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0392"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280160"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5" name="TextBox 24"/>
          <p:cNvSpPr txBox="1"/>
          <p:nvPr/>
        </p:nvSpPr>
        <p:spPr>
          <a:xfrm>
            <a:off x="850392"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26" name="TextBox 25"/>
          <p:cNvSpPr txBox="1"/>
          <p:nvPr/>
        </p:nvSpPr>
        <p:spPr>
          <a:xfrm>
            <a:off x="502920"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7" name="TextBox 26"/>
          <p:cNvSpPr txBox="1"/>
          <p:nvPr/>
        </p:nvSpPr>
        <p:spPr>
          <a:xfrm>
            <a:off x="2670048"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 name="TextBox 27"/>
          <p:cNvSpPr txBox="1"/>
          <p:nvPr/>
        </p:nvSpPr>
        <p:spPr>
          <a:xfrm>
            <a:off x="2670048"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158</a:t>
            </a:r>
          </a:p>
        </p:txBody>
      </p:sp>
      <p:sp>
        <p:nvSpPr>
          <p:cNvPr id="29" name="Rectangle 28"/>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89 × 7</a:t>
            </a:r>
          </a:p>
        </p:txBody>
      </p:sp>
      <p:sp>
        <p:nvSpPr>
          <p:cNvPr id="31" name="TextBox 30"/>
          <p:cNvSpPr txBox="1"/>
          <p:nvPr/>
        </p:nvSpPr>
        <p:spPr>
          <a:xfrm>
            <a:off x="850392"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32" name="TextBox 31"/>
          <p:cNvSpPr txBox="1"/>
          <p:nvPr/>
        </p:nvSpPr>
        <p:spPr>
          <a:xfrm>
            <a:off x="1280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sp>
        <p:nvSpPr>
          <p:cNvPr id="33" name="TextBox 32"/>
          <p:cNvSpPr txBox="1"/>
          <p:nvPr/>
        </p:nvSpPr>
        <p:spPr>
          <a:xfrm>
            <a:off x="1773936"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34" name="Connector 33"/>
          <p:cNvCxnSpPr/>
          <p:nvPr/>
        </p:nvCxnSpPr>
        <p:spPr>
          <a:xfrm flipV="1">
            <a:off x="850392"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4108"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36" name="TextBox 35"/>
          <p:cNvSpPr txBox="1"/>
          <p:nvPr/>
        </p:nvSpPr>
        <p:spPr>
          <a:xfrm>
            <a:off x="1074420"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37" name="Connector 36"/>
          <p:cNvCxnSpPr/>
          <p:nvPr/>
        </p:nvCxnSpPr>
        <p:spPr>
          <a:xfrm flipV="1">
            <a:off x="1280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293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sp>
        <p:nvSpPr>
          <p:cNvPr id="39" name="TextBox 38"/>
          <p:cNvSpPr txBox="1"/>
          <p:nvPr/>
        </p:nvSpPr>
        <p:spPr>
          <a:xfrm>
            <a:off x="1504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40" name="Connector 39"/>
          <p:cNvCxnSpPr/>
          <p:nvPr/>
        </p:nvCxnSpPr>
        <p:spPr>
          <a:xfrm>
            <a:off x="850392"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280160"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709928"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50392"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50392"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280160"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46" name="TextBox 45"/>
          <p:cNvSpPr txBox="1"/>
          <p:nvPr/>
        </p:nvSpPr>
        <p:spPr>
          <a:xfrm>
            <a:off x="850392"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47" name="TextBox 46"/>
          <p:cNvSpPr txBox="1"/>
          <p:nvPr/>
        </p:nvSpPr>
        <p:spPr>
          <a:xfrm>
            <a:off x="502920"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48" name="TextBox 47"/>
          <p:cNvSpPr txBox="1"/>
          <p:nvPr/>
        </p:nvSpPr>
        <p:spPr>
          <a:xfrm>
            <a:off x="2670048"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49" name="TextBox 48"/>
          <p:cNvSpPr txBox="1"/>
          <p:nvPr/>
        </p:nvSpPr>
        <p:spPr>
          <a:xfrm>
            <a:off x="2670048"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523</a:t>
            </a:r>
          </a:p>
        </p:txBody>
      </p:sp>
      <p:sp>
        <p:nvSpPr>
          <p:cNvPr id="50" name="Rectangle 49"/>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sp>
        <p:nvSpPr>
          <p:cNvPr id="52" name="TextBox 51"/>
          <p:cNvSpPr txBox="1"/>
          <p:nvPr/>
        </p:nvSpPr>
        <p:spPr>
          <a:xfrm>
            <a:off x="850392"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53" name="TextBox 52"/>
          <p:cNvSpPr txBox="1"/>
          <p:nvPr/>
        </p:nvSpPr>
        <p:spPr>
          <a:xfrm>
            <a:off x="1280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54" name="TextBox 53"/>
          <p:cNvSpPr txBox="1"/>
          <p:nvPr/>
        </p:nvSpPr>
        <p:spPr>
          <a:xfrm>
            <a:off x="1773936"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55" name="Connector 54"/>
          <p:cNvCxnSpPr/>
          <p:nvPr/>
        </p:nvCxnSpPr>
        <p:spPr>
          <a:xfrm flipV="1">
            <a:off x="850392"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64108"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57" name="TextBox 56"/>
          <p:cNvSpPr txBox="1"/>
          <p:nvPr/>
        </p:nvSpPr>
        <p:spPr>
          <a:xfrm>
            <a:off x="1074420"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9</a:t>
            </a:r>
          </a:p>
        </p:txBody>
      </p:sp>
      <p:cxnSp>
        <p:nvCxnSpPr>
          <p:cNvPr id="58" name="Connector 57"/>
          <p:cNvCxnSpPr/>
          <p:nvPr/>
        </p:nvCxnSpPr>
        <p:spPr>
          <a:xfrm flipV="1">
            <a:off x="1280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293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60" name="TextBox 59"/>
          <p:cNvSpPr txBox="1"/>
          <p:nvPr/>
        </p:nvSpPr>
        <p:spPr>
          <a:xfrm>
            <a:off x="1504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61" name="Connector 60"/>
          <p:cNvCxnSpPr/>
          <p:nvPr/>
        </p:nvCxnSpPr>
        <p:spPr>
          <a:xfrm>
            <a:off x="850392"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280160"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709928"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850392"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50392"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280160"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67" name="TextBox 66"/>
          <p:cNvSpPr txBox="1"/>
          <p:nvPr/>
        </p:nvSpPr>
        <p:spPr>
          <a:xfrm>
            <a:off x="850392"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68" name="TextBox 67"/>
          <p:cNvSpPr txBox="1"/>
          <p:nvPr/>
        </p:nvSpPr>
        <p:spPr>
          <a:xfrm>
            <a:off x="502920"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69" name="TextBox 68"/>
          <p:cNvSpPr txBox="1"/>
          <p:nvPr/>
        </p:nvSpPr>
        <p:spPr>
          <a:xfrm>
            <a:off x="713232" y="6501383"/>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70" name="TextBox 69"/>
          <p:cNvSpPr txBox="1"/>
          <p:nvPr/>
        </p:nvSpPr>
        <p:spPr>
          <a:xfrm>
            <a:off x="2670048"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71" name="TextBox 70"/>
          <p:cNvSpPr txBox="1"/>
          <p:nvPr/>
        </p:nvSpPr>
        <p:spPr>
          <a:xfrm>
            <a:off x="2670048"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5,132</a:t>
            </a:r>
          </a:p>
        </p:txBody>
      </p:sp>
      <p:sp>
        <p:nvSpPr>
          <p:cNvPr id="72" name="Rectangle 71"/>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74" name="Rectangle 73"/>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16</a:t>
            </a:r>
          </a:p>
        </p:txBody>
      </p:sp>
      <p:sp>
        <p:nvSpPr>
          <p:cNvPr id="76" name="TextBox 75"/>
          <p:cNvSpPr txBox="1"/>
          <p:nvPr/>
        </p:nvSpPr>
        <p:spPr>
          <a:xfrm>
            <a:off x="5471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77" name="TextBox 76"/>
          <p:cNvSpPr txBox="1"/>
          <p:nvPr/>
        </p:nvSpPr>
        <p:spPr>
          <a:xfrm>
            <a:off x="5900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78" name="TextBox 77"/>
          <p:cNvSpPr txBox="1"/>
          <p:nvPr/>
        </p:nvSpPr>
        <p:spPr>
          <a:xfrm>
            <a:off x="6394704"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1</a:t>
            </a:r>
          </a:p>
        </p:txBody>
      </p:sp>
      <p:sp>
        <p:nvSpPr>
          <p:cNvPr id="79" name="TextBox 78"/>
          <p:cNvSpPr txBox="1"/>
          <p:nvPr/>
        </p:nvSpPr>
        <p:spPr>
          <a:xfrm>
            <a:off x="6394704"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80" name="Connector 79"/>
          <p:cNvCxnSpPr/>
          <p:nvPr/>
        </p:nvCxnSpPr>
        <p:spPr>
          <a:xfrm flipV="1">
            <a:off x="5471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484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2" name="TextBox 81"/>
          <p:cNvSpPr txBox="1"/>
          <p:nvPr/>
        </p:nvSpPr>
        <p:spPr>
          <a:xfrm>
            <a:off x="5695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83" name="Connector 82"/>
          <p:cNvCxnSpPr/>
          <p:nvPr/>
        </p:nvCxnSpPr>
        <p:spPr>
          <a:xfrm flipV="1">
            <a:off x="5900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5914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5" name="TextBox 84"/>
          <p:cNvSpPr txBox="1"/>
          <p:nvPr/>
        </p:nvSpPr>
        <p:spPr>
          <a:xfrm>
            <a:off x="6124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86" name="Connector 85"/>
          <p:cNvCxnSpPr/>
          <p:nvPr/>
        </p:nvCxnSpPr>
        <p:spPr>
          <a:xfrm flipV="1">
            <a:off x="5471160"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484876"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88" name="TextBox 87"/>
          <p:cNvSpPr txBox="1"/>
          <p:nvPr/>
        </p:nvSpPr>
        <p:spPr>
          <a:xfrm>
            <a:off x="5695188"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89" name="Connector 88"/>
          <p:cNvCxnSpPr/>
          <p:nvPr/>
        </p:nvCxnSpPr>
        <p:spPr>
          <a:xfrm flipV="1">
            <a:off x="5900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914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91" name="TextBox 90"/>
          <p:cNvSpPr txBox="1"/>
          <p:nvPr/>
        </p:nvSpPr>
        <p:spPr>
          <a:xfrm>
            <a:off x="6124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92" name="Connector 91"/>
          <p:cNvCxnSpPr/>
          <p:nvPr/>
        </p:nvCxnSpPr>
        <p:spPr>
          <a:xfrm>
            <a:off x="5471160"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00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330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471160"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471160"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471160" y="3246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900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99" name="TextBox 98"/>
          <p:cNvSpPr txBox="1"/>
          <p:nvPr/>
        </p:nvSpPr>
        <p:spPr>
          <a:xfrm>
            <a:off x="5471160"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00" name="TextBox 99"/>
          <p:cNvSpPr txBox="1"/>
          <p:nvPr/>
        </p:nvSpPr>
        <p:spPr>
          <a:xfrm>
            <a:off x="5123688"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101" name="TextBox 100"/>
          <p:cNvSpPr txBox="1"/>
          <p:nvPr/>
        </p:nvSpPr>
        <p:spPr>
          <a:xfrm>
            <a:off x="5352288"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02" name="TextBox 101"/>
          <p:cNvSpPr txBox="1"/>
          <p:nvPr/>
        </p:nvSpPr>
        <p:spPr>
          <a:xfrm>
            <a:off x="7290816"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03" name="TextBox 102"/>
          <p:cNvSpPr txBox="1"/>
          <p:nvPr/>
        </p:nvSpPr>
        <p:spPr>
          <a:xfrm>
            <a:off x="7290816"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526</a:t>
            </a:r>
          </a:p>
        </p:txBody>
      </p:sp>
      <p:sp>
        <p:nvSpPr>
          <p:cNvPr id="104" name="Rectangle 10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sp>
        <p:nvSpPr>
          <p:cNvPr id="106" name="TextBox 105"/>
          <p:cNvSpPr txBox="1"/>
          <p:nvPr/>
        </p:nvSpPr>
        <p:spPr>
          <a:xfrm>
            <a:off x="5471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07" name="TextBox 106"/>
          <p:cNvSpPr txBox="1"/>
          <p:nvPr/>
        </p:nvSpPr>
        <p:spPr>
          <a:xfrm>
            <a:off x="5900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108" name="TextBox 107"/>
          <p:cNvSpPr txBox="1"/>
          <p:nvPr/>
        </p:nvSpPr>
        <p:spPr>
          <a:xfrm>
            <a:off x="6394704"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09" name="TextBox 108"/>
          <p:cNvSpPr txBox="1"/>
          <p:nvPr/>
        </p:nvSpPr>
        <p:spPr>
          <a:xfrm>
            <a:off x="6394704"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10" name="Connector 109"/>
          <p:cNvCxnSpPr/>
          <p:nvPr/>
        </p:nvCxnSpPr>
        <p:spPr>
          <a:xfrm flipV="1">
            <a:off x="5471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5484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112" name="TextBox 111"/>
          <p:cNvSpPr txBox="1"/>
          <p:nvPr/>
        </p:nvSpPr>
        <p:spPr>
          <a:xfrm>
            <a:off x="5695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13" name="Connector 112"/>
          <p:cNvCxnSpPr/>
          <p:nvPr/>
        </p:nvCxnSpPr>
        <p:spPr>
          <a:xfrm flipV="1">
            <a:off x="5900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5914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15" name="TextBox 114"/>
          <p:cNvSpPr txBox="1"/>
          <p:nvPr/>
        </p:nvSpPr>
        <p:spPr>
          <a:xfrm>
            <a:off x="6124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6" name="Connector 115"/>
          <p:cNvCxnSpPr/>
          <p:nvPr/>
        </p:nvCxnSpPr>
        <p:spPr>
          <a:xfrm flipV="1">
            <a:off x="5471160"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484876"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18" name="TextBox 117"/>
          <p:cNvSpPr txBox="1"/>
          <p:nvPr/>
        </p:nvSpPr>
        <p:spPr>
          <a:xfrm>
            <a:off x="5695188"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9" name="Connector 118"/>
          <p:cNvCxnSpPr/>
          <p:nvPr/>
        </p:nvCxnSpPr>
        <p:spPr>
          <a:xfrm flipV="1">
            <a:off x="5900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5914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121" name="TextBox 120"/>
          <p:cNvSpPr txBox="1"/>
          <p:nvPr/>
        </p:nvSpPr>
        <p:spPr>
          <a:xfrm>
            <a:off x="6124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22" name="Connector 121"/>
          <p:cNvCxnSpPr/>
          <p:nvPr/>
        </p:nvCxnSpPr>
        <p:spPr>
          <a:xfrm>
            <a:off x="5471160"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5900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6330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5471160"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471160"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471160" y="5248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5900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29" name="TextBox 128"/>
          <p:cNvSpPr txBox="1"/>
          <p:nvPr/>
        </p:nvSpPr>
        <p:spPr>
          <a:xfrm>
            <a:off x="5471160"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30" name="TextBox 129"/>
          <p:cNvSpPr txBox="1"/>
          <p:nvPr/>
        </p:nvSpPr>
        <p:spPr>
          <a:xfrm>
            <a:off x="5123688"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1" name="TextBox 130"/>
          <p:cNvSpPr txBox="1"/>
          <p:nvPr/>
        </p:nvSpPr>
        <p:spPr>
          <a:xfrm>
            <a:off x="5123688"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2" name="TextBox 131"/>
          <p:cNvSpPr txBox="1"/>
          <p:nvPr/>
        </p:nvSpPr>
        <p:spPr>
          <a:xfrm>
            <a:off x="5352288" y="4443984"/>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33" name="TextBox 132"/>
          <p:cNvSpPr txBox="1"/>
          <p:nvPr/>
        </p:nvSpPr>
        <p:spPr>
          <a:xfrm>
            <a:off x="7290816"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34" name="TextBox 133"/>
          <p:cNvSpPr txBox="1"/>
          <p:nvPr/>
        </p:nvSpPr>
        <p:spPr>
          <a:xfrm>
            <a:off x="7290816"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1,122</a:t>
            </a:r>
          </a:p>
        </p:txBody>
      </p:sp>
      <p:sp>
        <p:nvSpPr>
          <p:cNvPr id="135" name="Rectangle 1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sp>
        <p:nvSpPr>
          <p:cNvPr id="137" name="TextBox 136"/>
          <p:cNvSpPr txBox="1"/>
          <p:nvPr/>
        </p:nvSpPr>
        <p:spPr>
          <a:xfrm>
            <a:off x="5471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138" name="TextBox 137"/>
          <p:cNvSpPr txBox="1"/>
          <p:nvPr/>
        </p:nvSpPr>
        <p:spPr>
          <a:xfrm>
            <a:off x="5900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139" name="TextBox 138"/>
          <p:cNvSpPr txBox="1"/>
          <p:nvPr/>
        </p:nvSpPr>
        <p:spPr>
          <a:xfrm>
            <a:off x="6394704"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40" name="TextBox 139"/>
          <p:cNvSpPr txBox="1"/>
          <p:nvPr/>
        </p:nvSpPr>
        <p:spPr>
          <a:xfrm>
            <a:off x="6394704"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cxnSp>
        <p:nvCxnSpPr>
          <p:cNvPr id="141" name="Connector 140"/>
          <p:cNvCxnSpPr/>
          <p:nvPr/>
        </p:nvCxnSpPr>
        <p:spPr>
          <a:xfrm flipV="1">
            <a:off x="5471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5484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3" name="TextBox 142"/>
          <p:cNvSpPr txBox="1"/>
          <p:nvPr/>
        </p:nvSpPr>
        <p:spPr>
          <a:xfrm>
            <a:off x="5695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44" name="Connector 143"/>
          <p:cNvCxnSpPr/>
          <p:nvPr/>
        </p:nvCxnSpPr>
        <p:spPr>
          <a:xfrm flipV="1">
            <a:off x="5900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5914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6" name="TextBox 145"/>
          <p:cNvSpPr txBox="1"/>
          <p:nvPr/>
        </p:nvSpPr>
        <p:spPr>
          <a:xfrm>
            <a:off x="6124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147" name="Connector 146"/>
          <p:cNvCxnSpPr/>
          <p:nvPr/>
        </p:nvCxnSpPr>
        <p:spPr>
          <a:xfrm flipV="1">
            <a:off x="5471160"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5484876"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49" name="TextBox 148"/>
          <p:cNvSpPr txBox="1"/>
          <p:nvPr/>
        </p:nvSpPr>
        <p:spPr>
          <a:xfrm>
            <a:off x="5695188"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50" name="Connector 149"/>
          <p:cNvCxnSpPr/>
          <p:nvPr/>
        </p:nvCxnSpPr>
        <p:spPr>
          <a:xfrm flipV="1">
            <a:off x="5900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5914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152" name="TextBox 151"/>
          <p:cNvSpPr txBox="1"/>
          <p:nvPr/>
        </p:nvSpPr>
        <p:spPr>
          <a:xfrm>
            <a:off x="6124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53" name="Connector 152"/>
          <p:cNvCxnSpPr/>
          <p:nvPr/>
        </p:nvCxnSpPr>
        <p:spPr>
          <a:xfrm>
            <a:off x="5471160"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5900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6330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5471160"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5471160"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471160" y="725119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5900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60" name="TextBox 159"/>
          <p:cNvSpPr txBox="1"/>
          <p:nvPr/>
        </p:nvSpPr>
        <p:spPr>
          <a:xfrm>
            <a:off x="5471160"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161" name="TextBox 160"/>
          <p:cNvSpPr txBox="1"/>
          <p:nvPr/>
        </p:nvSpPr>
        <p:spPr>
          <a:xfrm>
            <a:off x="5123688"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162" name="TextBox 161"/>
          <p:cNvSpPr txBox="1"/>
          <p:nvPr/>
        </p:nvSpPr>
        <p:spPr>
          <a:xfrm>
            <a:off x="5334000" y="6931152"/>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3" name="TextBox 162"/>
          <p:cNvSpPr txBox="1"/>
          <p:nvPr/>
        </p:nvSpPr>
        <p:spPr>
          <a:xfrm>
            <a:off x="5123688"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4" name="TextBox 163"/>
          <p:cNvSpPr txBox="1"/>
          <p:nvPr/>
        </p:nvSpPr>
        <p:spPr>
          <a:xfrm>
            <a:off x="7290816"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65" name="TextBox 164"/>
          <p:cNvSpPr txBox="1"/>
          <p:nvPr/>
        </p:nvSpPr>
        <p:spPr>
          <a:xfrm>
            <a:off x="7290816"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16,132</a:t>
            </a:r>
          </a:p>
        </p:txBody>
      </p:sp>
      <p:sp>
        <p:nvSpPr>
          <p:cNvPr id="166" name="Rectangle 165"/>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TextBox 166"/>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68" name="Rectangle 167"/>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TextBox 168"/>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sp>
        <p:nvSpPr>
          <p:cNvPr id="170" name="TextBox 169"/>
          <p:cNvSpPr txBox="1"/>
          <p:nvPr/>
        </p:nvSpPr>
        <p:spPr>
          <a:xfrm>
            <a:off x="10091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71" name="TextBox 170"/>
          <p:cNvSpPr txBox="1"/>
          <p:nvPr/>
        </p:nvSpPr>
        <p:spPr>
          <a:xfrm>
            <a:off x="10521696"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72" name="TextBox 171"/>
          <p:cNvSpPr txBox="1"/>
          <p:nvPr/>
        </p:nvSpPr>
        <p:spPr>
          <a:xfrm>
            <a:off x="10951464"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73" name="TextBox 172"/>
          <p:cNvSpPr txBox="1"/>
          <p:nvPr/>
        </p:nvSpPr>
        <p:spPr>
          <a:xfrm>
            <a:off x="11445240"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174" name="TextBox 173"/>
          <p:cNvSpPr txBox="1"/>
          <p:nvPr/>
        </p:nvSpPr>
        <p:spPr>
          <a:xfrm>
            <a:off x="11445240"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75" name="Connector 174"/>
          <p:cNvCxnSpPr/>
          <p:nvPr/>
        </p:nvCxnSpPr>
        <p:spPr>
          <a:xfrm flipV="1">
            <a:off x="10091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0105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77" name="TextBox 176"/>
          <p:cNvSpPr txBox="1"/>
          <p:nvPr/>
        </p:nvSpPr>
        <p:spPr>
          <a:xfrm>
            <a:off x="10315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78" name="Connector 177"/>
          <p:cNvCxnSpPr/>
          <p:nvPr/>
        </p:nvCxnSpPr>
        <p:spPr>
          <a:xfrm flipV="1">
            <a:off x="10521696"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9" name="TextBox 178"/>
          <p:cNvSpPr txBox="1"/>
          <p:nvPr/>
        </p:nvSpPr>
        <p:spPr>
          <a:xfrm>
            <a:off x="10535412"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0" name="TextBox 179"/>
          <p:cNvSpPr txBox="1"/>
          <p:nvPr/>
        </p:nvSpPr>
        <p:spPr>
          <a:xfrm>
            <a:off x="10745724"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181" name="Connector 180"/>
          <p:cNvCxnSpPr/>
          <p:nvPr/>
        </p:nvCxnSpPr>
        <p:spPr>
          <a:xfrm flipV="1">
            <a:off x="10951464"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965180"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83" name="TextBox 182"/>
          <p:cNvSpPr txBox="1"/>
          <p:nvPr/>
        </p:nvSpPr>
        <p:spPr>
          <a:xfrm>
            <a:off x="11175492"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84" name="Connector 183"/>
          <p:cNvCxnSpPr/>
          <p:nvPr/>
        </p:nvCxnSpPr>
        <p:spPr>
          <a:xfrm flipV="1">
            <a:off x="10091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10105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6" name="TextBox 185"/>
          <p:cNvSpPr txBox="1"/>
          <p:nvPr/>
        </p:nvSpPr>
        <p:spPr>
          <a:xfrm>
            <a:off x="10315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87" name="Connector 186"/>
          <p:cNvCxnSpPr/>
          <p:nvPr/>
        </p:nvCxnSpPr>
        <p:spPr>
          <a:xfrm flipV="1">
            <a:off x="10521696"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8" name="TextBox 187"/>
          <p:cNvSpPr txBox="1"/>
          <p:nvPr/>
        </p:nvSpPr>
        <p:spPr>
          <a:xfrm>
            <a:off x="10535412"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9" name="TextBox 188"/>
          <p:cNvSpPr txBox="1"/>
          <p:nvPr/>
        </p:nvSpPr>
        <p:spPr>
          <a:xfrm>
            <a:off x="10745724"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0" name="Connector 189"/>
          <p:cNvCxnSpPr/>
          <p:nvPr/>
        </p:nvCxnSpPr>
        <p:spPr>
          <a:xfrm flipV="1">
            <a:off x="10951464"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1" name="TextBox 190"/>
          <p:cNvSpPr txBox="1"/>
          <p:nvPr/>
        </p:nvSpPr>
        <p:spPr>
          <a:xfrm>
            <a:off x="10965180"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92" name="TextBox 191"/>
          <p:cNvSpPr txBox="1"/>
          <p:nvPr/>
        </p:nvSpPr>
        <p:spPr>
          <a:xfrm>
            <a:off x="11175492"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93" name="Connector 192"/>
          <p:cNvCxnSpPr/>
          <p:nvPr/>
        </p:nvCxnSpPr>
        <p:spPr>
          <a:xfrm>
            <a:off x="10091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21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951464"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1381232"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10091928" y="238658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0091928" y="281635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0091928" y="3246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a:off x="10951464"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01" name="TextBox 200"/>
          <p:cNvSpPr txBox="1"/>
          <p:nvPr/>
        </p:nvSpPr>
        <p:spPr>
          <a:xfrm>
            <a:off x="10521696"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02" name="TextBox 201"/>
          <p:cNvSpPr txBox="1"/>
          <p:nvPr/>
        </p:nvSpPr>
        <p:spPr>
          <a:xfrm>
            <a:off x="10091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0</a:t>
            </a:r>
          </a:p>
        </p:txBody>
      </p:sp>
      <p:sp>
        <p:nvSpPr>
          <p:cNvPr id="203" name="TextBox 202"/>
          <p:cNvSpPr txBox="1"/>
          <p:nvPr/>
        </p:nvSpPr>
        <p:spPr>
          <a:xfrm>
            <a:off x="9744456"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04" name="TextBox 203"/>
          <p:cNvSpPr txBox="1"/>
          <p:nvPr/>
        </p:nvSpPr>
        <p:spPr>
          <a:xfrm>
            <a:off x="9973056"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05" name="TextBox 204"/>
          <p:cNvSpPr txBox="1"/>
          <p:nvPr/>
        </p:nvSpPr>
        <p:spPr>
          <a:xfrm>
            <a:off x="9744456"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06" name="TextBox 205"/>
          <p:cNvSpPr txBox="1"/>
          <p:nvPr/>
        </p:nvSpPr>
        <p:spPr>
          <a:xfrm>
            <a:off x="11911584"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07" name="TextBox 206"/>
          <p:cNvSpPr txBox="1"/>
          <p:nvPr/>
        </p:nvSpPr>
        <p:spPr>
          <a:xfrm>
            <a:off x="11911584"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13,086</a:t>
            </a:r>
          </a:p>
        </p:txBody>
      </p:sp>
      <p:sp>
        <p:nvSpPr>
          <p:cNvPr id="208" name="Rectangle 20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TextBox 20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sp>
        <p:nvSpPr>
          <p:cNvPr id="210" name="TextBox 209"/>
          <p:cNvSpPr txBox="1"/>
          <p:nvPr/>
        </p:nvSpPr>
        <p:spPr>
          <a:xfrm>
            <a:off x="10091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211" name="TextBox 210"/>
          <p:cNvSpPr txBox="1"/>
          <p:nvPr/>
        </p:nvSpPr>
        <p:spPr>
          <a:xfrm>
            <a:off x="10521696"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212" name="TextBox 211"/>
          <p:cNvSpPr txBox="1"/>
          <p:nvPr/>
        </p:nvSpPr>
        <p:spPr>
          <a:xfrm>
            <a:off x="10951464"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13" name="TextBox 212"/>
          <p:cNvSpPr txBox="1"/>
          <p:nvPr/>
        </p:nvSpPr>
        <p:spPr>
          <a:xfrm>
            <a:off x="11445240"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14" name="TextBox 213"/>
          <p:cNvSpPr txBox="1"/>
          <p:nvPr/>
        </p:nvSpPr>
        <p:spPr>
          <a:xfrm>
            <a:off x="11445240"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cxnSp>
        <p:nvCxnSpPr>
          <p:cNvPr id="215" name="Connector 214"/>
          <p:cNvCxnSpPr/>
          <p:nvPr/>
        </p:nvCxnSpPr>
        <p:spPr>
          <a:xfrm flipV="1">
            <a:off x="10091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10105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217" name="TextBox 216"/>
          <p:cNvSpPr txBox="1"/>
          <p:nvPr/>
        </p:nvSpPr>
        <p:spPr>
          <a:xfrm>
            <a:off x="10315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18" name="Connector 217"/>
          <p:cNvCxnSpPr/>
          <p:nvPr/>
        </p:nvCxnSpPr>
        <p:spPr>
          <a:xfrm flipV="1">
            <a:off x="10521696"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10535412"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20" name="TextBox 219"/>
          <p:cNvSpPr txBox="1"/>
          <p:nvPr/>
        </p:nvSpPr>
        <p:spPr>
          <a:xfrm>
            <a:off x="10745724"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221" name="Connector 220"/>
          <p:cNvCxnSpPr/>
          <p:nvPr/>
        </p:nvCxnSpPr>
        <p:spPr>
          <a:xfrm flipV="1">
            <a:off x="10951464"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2" name="TextBox 221"/>
          <p:cNvSpPr txBox="1"/>
          <p:nvPr/>
        </p:nvSpPr>
        <p:spPr>
          <a:xfrm>
            <a:off x="10965180"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23" name="TextBox 222"/>
          <p:cNvSpPr txBox="1"/>
          <p:nvPr/>
        </p:nvSpPr>
        <p:spPr>
          <a:xfrm>
            <a:off x="11175492"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4" name="Connector 223"/>
          <p:cNvCxnSpPr/>
          <p:nvPr/>
        </p:nvCxnSpPr>
        <p:spPr>
          <a:xfrm flipV="1">
            <a:off x="10091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5" name="TextBox 224"/>
          <p:cNvSpPr txBox="1"/>
          <p:nvPr/>
        </p:nvSpPr>
        <p:spPr>
          <a:xfrm>
            <a:off x="10105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226" name="TextBox 225"/>
          <p:cNvSpPr txBox="1"/>
          <p:nvPr/>
        </p:nvSpPr>
        <p:spPr>
          <a:xfrm>
            <a:off x="10315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7" name="Connector 226"/>
          <p:cNvCxnSpPr/>
          <p:nvPr/>
        </p:nvCxnSpPr>
        <p:spPr>
          <a:xfrm flipV="1">
            <a:off x="10521696"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10535412"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29" name="TextBox 228"/>
          <p:cNvSpPr txBox="1"/>
          <p:nvPr/>
        </p:nvSpPr>
        <p:spPr>
          <a:xfrm>
            <a:off x="10745724"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30" name="Connector 229"/>
          <p:cNvCxnSpPr/>
          <p:nvPr/>
        </p:nvCxnSpPr>
        <p:spPr>
          <a:xfrm flipV="1">
            <a:off x="10951464"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31" name="TextBox 230"/>
          <p:cNvSpPr txBox="1"/>
          <p:nvPr/>
        </p:nvSpPr>
        <p:spPr>
          <a:xfrm>
            <a:off x="10965180"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32" name="TextBox 231"/>
          <p:cNvSpPr txBox="1"/>
          <p:nvPr/>
        </p:nvSpPr>
        <p:spPr>
          <a:xfrm>
            <a:off x="11175492"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33" name="Connector 232"/>
          <p:cNvCxnSpPr/>
          <p:nvPr/>
        </p:nvCxnSpPr>
        <p:spPr>
          <a:xfrm>
            <a:off x="10091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10521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10951464"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11381232"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10091928" y="4389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10091928" y="4818888"/>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10091928" y="5248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0" name="TextBox 239"/>
          <p:cNvSpPr txBox="1"/>
          <p:nvPr/>
        </p:nvSpPr>
        <p:spPr>
          <a:xfrm>
            <a:off x="10951464"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41" name="TextBox 240"/>
          <p:cNvSpPr txBox="1"/>
          <p:nvPr/>
        </p:nvSpPr>
        <p:spPr>
          <a:xfrm>
            <a:off x="10521696"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2" name="TextBox 241"/>
          <p:cNvSpPr txBox="1"/>
          <p:nvPr/>
        </p:nvSpPr>
        <p:spPr>
          <a:xfrm>
            <a:off x="10091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9</a:t>
            </a:r>
          </a:p>
        </p:txBody>
      </p:sp>
      <p:sp>
        <p:nvSpPr>
          <p:cNvPr id="243" name="TextBox 242"/>
          <p:cNvSpPr txBox="1"/>
          <p:nvPr/>
        </p:nvSpPr>
        <p:spPr>
          <a:xfrm>
            <a:off x="9744456"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44" name="TextBox 243"/>
          <p:cNvSpPr txBox="1"/>
          <p:nvPr/>
        </p:nvSpPr>
        <p:spPr>
          <a:xfrm>
            <a:off x="9973056" y="4873752"/>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45" name="TextBox 244"/>
          <p:cNvSpPr txBox="1"/>
          <p:nvPr/>
        </p:nvSpPr>
        <p:spPr>
          <a:xfrm>
            <a:off x="9744456"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6" name="TextBox 245"/>
          <p:cNvSpPr txBox="1"/>
          <p:nvPr/>
        </p:nvSpPr>
        <p:spPr>
          <a:xfrm>
            <a:off x="11911584"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47" name="TextBox 246"/>
          <p:cNvSpPr txBox="1"/>
          <p:nvPr/>
        </p:nvSpPr>
        <p:spPr>
          <a:xfrm>
            <a:off x="11911584"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38,932</a:t>
            </a:r>
          </a:p>
        </p:txBody>
      </p:sp>
      <p:sp>
        <p:nvSpPr>
          <p:cNvPr id="248" name="Rectangle 247"/>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TextBox 248"/>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sp>
        <p:nvSpPr>
          <p:cNvPr id="250" name="TextBox 249"/>
          <p:cNvSpPr txBox="1"/>
          <p:nvPr/>
        </p:nvSpPr>
        <p:spPr>
          <a:xfrm>
            <a:off x="10091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51" name="TextBox 250"/>
          <p:cNvSpPr txBox="1"/>
          <p:nvPr/>
        </p:nvSpPr>
        <p:spPr>
          <a:xfrm>
            <a:off x="10521696"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252" name="TextBox 251"/>
          <p:cNvSpPr txBox="1"/>
          <p:nvPr/>
        </p:nvSpPr>
        <p:spPr>
          <a:xfrm>
            <a:off x="10951464"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53" name="TextBox 252"/>
          <p:cNvSpPr txBox="1"/>
          <p:nvPr/>
        </p:nvSpPr>
        <p:spPr>
          <a:xfrm>
            <a:off x="11445240"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254" name="TextBox 253"/>
          <p:cNvSpPr txBox="1"/>
          <p:nvPr/>
        </p:nvSpPr>
        <p:spPr>
          <a:xfrm>
            <a:off x="11445240"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cxnSp>
        <p:nvCxnSpPr>
          <p:cNvPr id="255" name="Connector 254"/>
          <p:cNvCxnSpPr/>
          <p:nvPr/>
        </p:nvCxnSpPr>
        <p:spPr>
          <a:xfrm flipV="1">
            <a:off x="10091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6" name="TextBox 255"/>
          <p:cNvSpPr txBox="1"/>
          <p:nvPr/>
        </p:nvSpPr>
        <p:spPr>
          <a:xfrm>
            <a:off x="10105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57" name="TextBox 256"/>
          <p:cNvSpPr txBox="1"/>
          <p:nvPr/>
        </p:nvSpPr>
        <p:spPr>
          <a:xfrm>
            <a:off x="10315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58" name="Connector 257"/>
          <p:cNvCxnSpPr/>
          <p:nvPr/>
        </p:nvCxnSpPr>
        <p:spPr>
          <a:xfrm flipV="1">
            <a:off x="10521696"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9" name="TextBox 258"/>
          <p:cNvSpPr txBox="1"/>
          <p:nvPr/>
        </p:nvSpPr>
        <p:spPr>
          <a:xfrm>
            <a:off x="10535412"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60" name="TextBox 259"/>
          <p:cNvSpPr txBox="1"/>
          <p:nvPr/>
        </p:nvSpPr>
        <p:spPr>
          <a:xfrm>
            <a:off x="10745724"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261" name="Connector 260"/>
          <p:cNvCxnSpPr/>
          <p:nvPr/>
        </p:nvCxnSpPr>
        <p:spPr>
          <a:xfrm flipV="1">
            <a:off x="10951464"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2" name="TextBox 261"/>
          <p:cNvSpPr txBox="1"/>
          <p:nvPr/>
        </p:nvSpPr>
        <p:spPr>
          <a:xfrm>
            <a:off x="10965180"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63" name="TextBox 262"/>
          <p:cNvSpPr txBox="1"/>
          <p:nvPr/>
        </p:nvSpPr>
        <p:spPr>
          <a:xfrm>
            <a:off x="11175492"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64" name="Connector 263"/>
          <p:cNvCxnSpPr/>
          <p:nvPr/>
        </p:nvCxnSpPr>
        <p:spPr>
          <a:xfrm flipV="1">
            <a:off x="10091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5" name="TextBox 264"/>
          <p:cNvSpPr txBox="1"/>
          <p:nvPr/>
        </p:nvSpPr>
        <p:spPr>
          <a:xfrm>
            <a:off x="10105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66" name="TextBox 265"/>
          <p:cNvSpPr txBox="1"/>
          <p:nvPr/>
        </p:nvSpPr>
        <p:spPr>
          <a:xfrm>
            <a:off x="10315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67" name="Connector 266"/>
          <p:cNvCxnSpPr/>
          <p:nvPr/>
        </p:nvCxnSpPr>
        <p:spPr>
          <a:xfrm flipV="1">
            <a:off x="10521696"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8" name="TextBox 267"/>
          <p:cNvSpPr txBox="1"/>
          <p:nvPr/>
        </p:nvSpPr>
        <p:spPr>
          <a:xfrm>
            <a:off x="10535412"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69" name="TextBox 268"/>
          <p:cNvSpPr txBox="1"/>
          <p:nvPr/>
        </p:nvSpPr>
        <p:spPr>
          <a:xfrm>
            <a:off x="10745724"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cxnSp>
        <p:nvCxnSpPr>
          <p:cNvPr id="270" name="Connector 269"/>
          <p:cNvCxnSpPr/>
          <p:nvPr/>
        </p:nvCxnSpPr>
        <p:spPr>
          <a:xfrm flipV="1">
            <a:off x="10951464"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71" name="TextBox 270"/>
          <p:cNvSpPr txBox="1"/>
          <p:nvPr/>
        </p:nvSpPr>
        <p:spPr>
          <a:xfrm>
            <a:off x="10965180"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sp>
        <p:nvSpPr>
          <p:cNvPr id="272" name="TextBox 271"/>
          <p:cNvSpPr txBox="1"/>
          <p:nvPr/>
        </p:nvSpPr>
        <p:spPr>
          <a:xfrm>
            <a:off x="11175492"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73" name="Connector 272"/>
          <p:cNvCxnSpPr/>
          <p:nvPr/>
        </p:nvCxnSpPr>
        <p:spPr>
          <a:xfrm>
            <a:off x="10091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0521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0951464"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1381232"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0091928" y="6391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0091928" y="682142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0091928" y="725119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80" name="TextBox 279"/>
          <p:cNvSpPr txBox="1"/>
          <p:nvPr/>
        </p:nvSpPr>
        <p:spPr>
          <a:xfrm>
            <a:off x="10951464"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1" name="TextBox 280"/>
          <p:cNvSpPr txBox="1"/>
          <p:nvPr/>
        </p:nvSpPr>
        <p:spPr>
          <a:xfrm>
            <a:off x="10521696"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4</a:t>
            </a:r>
          </a:p>
        </p:txBody>
      </p:sp>
      <p:sp>
        <p:nvSpPr>
          <p:cNvPr id="282" name="TextBox 281"/>
          <p:cNvSpPr txBox="1"/>
          <p:nvPr/>
        </p:nvSpPr>
        <p:spPr>
          <a:xfrm>
            <a:off x="10091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83" name="TextBox 282"/>
          <p:cNvSpPr txBox="1"/>
          <p:nvPr/>
        </p:nvSpPr>
        <p:spPr>
          <a:xfrm>
            <a:off x="10037064" y="7214616"/>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4" name="TextBox 283"/>
          <p:cNvSpPr txBox="1"/>
          <p:nvPr/>
        </p:nvSpPr>
        <p:spPr>
          <a:xfrm>
            <a:off x="9744456"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7</a:t>
            </a:r>
          </a:p>
        </p:txBody>
      </p:sp>
      <p:sp>
        <p:nvSpPr>
          <p:cNvPr id="285" name="TextBox 284"/>
          <p:cNvSpPr txBox="1"/>
          <p:nvPr/>
        </p:nvSpPr>
        <p:spPr>
          <a:xfrm>
            <a:off x="9973056" y="6876288"/>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6" name="TextBox 285"/>
          <p:cNvSpPr txBox="1"/>
          <p:nvPr/>
        </p:nvSpPr>
        <p:spPr>
          <a:xfrm>
            <a:off x="9744456"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7" name="TextBox 286"/>
          <p:cNvSpPr txBox="1"/>
          <p:nvPr/>
        </p:nvSpPr>
        <p:spPr>
          <a:xfrm>
            <a:off x="11911584"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8" name="TextBox 287"/>
          <p:cNvSpPr txBox="1"/>
          <p:nvPr/>
        </p:nvSpPr>
        <p:spPr>
          <a:xfrm>
            <a:off x="11911584"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27,642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Start: exact answer. Build: remainder. Confidence: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Build: give remainders. Confidence: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Build: give remainders. Confidence: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84 ÷ 4</a:t>
            </a:r>
          </a:p>
        </p:txBody>
      </p:sp>
      <p:cxnSp>
        <p:nvCxnSpPr>
          <p:cNvPr id="10" name="Connector 9"/>
          <p:cNvCxnSpPr/>
          <p:nvPr/>
        </p:nvCxnSpPr>
        <p:spPr>
          <a:xfrm>
            <a:off x="941831" y="2679191"/>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1831"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4</a:t>
            </a:r>
          </a:p>
        </p:txBody>
      </p:sp>
      <p:sp>
        <p:nvSpPr>
          <p:cNvPr id="13" name="TextBox 12"/>
          <p:cNvSpPr txBox="1"/>
          <p:nvPr/>
        </p:nvSpPr>
        <p:spPr>
          <a:xfrm>
            <a:off x="996695"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4" name="TextBox 13"/>
          <p:cNvSpPr txBox="1"/>
          <p:nvPr/>
        </p:nvSpPr>
        <p:spPr>
          <a:xfrm>
            <a:off x="996695"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5" name="TextBox 14"/>
          <p:cNvSpPr txBox="1"/>
          <p:nvPr/>
        </p:nvSpPr>
        <p:spPr>
          <a:xfrm>
            <a:off x="1417319"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6" name="TextBox 15"/>
          <p:cNvSpPr txBox="1"/>
          <p:nvPr/>
        </p:nvSpPr>
        <p:spPr>
          <a:xfrm>
            <a:off x="1417319"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7" name="TextBox 16"/>
          <p:cNvSpPr txBox="1"/>
          <p:nvPr/>
        </p:nvSpPr>
        <p:spPr>
          <a:xfrm>
            <a:off x="603503"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a:t>
            </a:r>
          </a:p>
        </p:txBody>
      </p:sp>
      <p:sp>
        <p:nvSpPr>
          <p:cNvPr id="18" name="Rectangle 17"/>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505 ÷ 5</a:t>
            </a:r>
          </a:p>
        </p:txBody>
      </p:sp>
      <p:cxnSp>
        <p:nvCxnSpPr>
          <p:cNvPr id="20" name="Connector 19"/>
          <p:cNvCxnSpPr/>
          <p:nvPr/>
        </p:nvCxnSpPr>
        <p:spPr>
          <a:xfrm>
            <a:off x="941831" y="4681728"/>
            <a:ext cx="134416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41831"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5</a:t>
            </a:r>
          </a:p>
        </p:txBody>
      </p:sp>
      <p:sp>
        <p:nvSpPr>
          <p:cNvPr id="23" name="TextBox 22"/>
          <p:cNvSpPr txBox="1"/>
          <p:nvPr/>
        </p:nvSpPr>
        <p:spPr>
          <a:xfrm>
            <a:off x="996695"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4" name="TextBox 23"/>
          <p:cNvSpPr txBox="1"/>
          <p:nvPr/>
        </p:nvSpPr>
        <p:spPr>
          <a:xfrm>
            <a:off x="996695"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5" name="TextBox 24"/>
          <p:cNvSpPr txBox="1"/>
          <p:nvPr/>
        </p:nvSpPr>
        <p:spPr>
          <a:xfrm>
            <a:off x="1417319"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26" name="TextBox 25"/>
          <p:cNvSpPr txBox="1"/>
          <p:nvPr/>
        </p:nvSpPr>
        <p:spPr>
          <a:xfrm>
            <a:off x="1837943"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7" name="TextBox 26"/>
          <p:cNvSpPr txBox="1"/>
          <p:nvPr/>
        </p:nvSpPr>
        <p:spPr>
          <a:xfrm>
            <a:off x="1837943"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8" name="TextBox 27"/>
          <p:cNvSpPr txBox="1"/>
          <p:nvPr/>
        </p:nvSpPr>
        <p:spPr>
          <a:xfrm>
            <a:off x="603503"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11</a:t>
            </a:r>
          </a:p>
        </p:txBody>
      </p:sp>
      <p:sp>
        <p:nvSpPr>
          <p:cNvPr id="29" name="Rectangle 28"/>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96 ÷ 3</a:t>
            </a:r>
          </a:p>
        </p:txBody>
      </p:sp>
      <p:cxnSp>
        <p:nvCxnSpPr>
          <p:cNvPr id="31" name="Connector 30"/>
          <p:cNvCxnSpPr/>
          <p:nvPr/>
        </p:nvCxnSpPr>
        <p:spPr>
          <a:xfrm>
            <a:off x="941831" y="6684264"/>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41831"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3</a:t>
            </a:r>
          </a:p>
        </p:txBody>
      </p:sp>
      <p:sp>
        <p:nvSpPr>
          <p:cNvPr id="34" name="TextBox 33"/>
          <p:cNvSpPr txBox="1"/>
          <p:nvPr/>
        </p:nvSpPr>
        <p:spPr>
          <a:xfrm>
            <a:off x="996695"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9</a:t>
            </a:r>
          </a:p>
        </p:txBody>
      </p:sp>
      <p:sp>
        <p:nvSpPr>
          <p:cNvPr id="35" name="TextBox 34"/>
          <p:cNvSpPr txBox="1"/>
          <p:nvPr/>
        </p:nvSpPr>
        <p:spPr>
          <a:xfrm>
            <a:off x="996695"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6" name="TextBox 35"/>
          <p:cNvSpPr txBox="1"/>
          <p:nvPr/>
        </p:nvSpPr>
        <p:spPr>
          <a:xfrm>
            <a:off x="1417319"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37" name="TextBox 36"/>
          <p:cNvSpPr txBox="1"/>
          <p:nvPr/>
        </p:nvSpPr>
        <p:spPr>
          <a:xfrm>
            <a:off x="1417319"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8" name="TextBox 37"/>
          <p:cNvSpPr txBox="1"/>
          <p:nvPr/>
        </p:nvSpPr>
        <p:spPr>
          <a:xfrm>
            <a:off x="603503"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33</a:t>
            </a:r>
          </a:p>
        </p:txBody>
      </p:sp>
      <p:sp>
        <p:nvSpPr>
          <p:cNvPr id="39" name="Rectangle 3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41" name="Rectangle 4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145 ÷ 6</a:t>
            </a:r>
          </a:p>
        </p:txBody>
      </p:sp>
      <p:cxnSp>
        <p:nvCxnSpPr>
          <p:cNvPr id="43" name="Connector 42"/>
          <p:cNvCxnSpPr/>
          <p:nvPr/>
        </p:nvCxnSpPr>
        <p:spPr>
          <a:xfrm>
            <a:off x="5562600" y="2679191"/>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62600"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187696"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46" name="TextBox 45"/>
          <p:cNvSpPr txBox="1"/>
          <p:nvPr/>
        </p:nvSpPr>
        <p:spPr>
          <a:xfrm>
            <a:off x="561746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47" name="TextBox 46"/>
          <p:cNvSpPr txBox="1"/>
          <p:nvPr/>
        </p:nvSpPr>
        <p:spPr>
          <a:xfrm>
            <a:off x="6038088"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48" name="TextBox 47"/>
          <p:cNvSpPr txBox="1"/>
          <p:nvPr/>
        </p:nvSpPr>
        <p:spPr>
          <a:xfrm>
            <a:off x="6038088"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49" name="TextBox 48"/>
          <p:cNvSpPr txBox="1"/>
          <p:nvPr/>
        </p:nvSpPr>
        <p:spPr>
          <a:xfrm>
            <a:off x="5983224"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50" name="TextBox 49"/>
          <p:cNvSpPr txBox="1"/>
          <p:nvPr/>
        </p:nvSpPr>
        <p:spPr>
          <a:xfrm>
            <a:off x="645871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51" name="TextBox 50"/>
          <p:cNvSpPr txBox="1"/>
          <p:nvPr/>
        </p:nvSpPr>
        <p:spPr>
          <a:xfrm>
            <a:off x="6458712"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52" name="TextBox 51"/>
          <p:cNvSpPr txBox="1"/>
          <p:nvPr/>
        </p:nvSpPr>
        <p:spPr>
          <a:xfrm>
            <a:off x="6970776" y="2377439"/>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53" name="TextBox 52"/>
          <p:cNvSpPr txBox="1"/>
          <p:nvPr/>
        </p:nvSpPr>
        <p:spPr>
          <a:xfrm>
            <a:off x="5224272"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 r 5</a:t>
            </a:r>
          </a:p>
        </p:txBody>
      </p:sp>
      <p:sp>
        <p:nvSpPr>
          <p:cNvPr id="54" name="Rectangle 5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132 ÷ 8 (decimal answer)</a:t>
            </a:r>
          </a:p>
        </p:txBody>
      </p:sp>
      <p:cxnSp>
        <p:nvCxnSpPr>
          <p:cNvPr id="56" name="Connector 55"/>
          <p:cNvCxnSpPr/>
          <p:nvPr/>
        </p:nvCxnSpPr>
        <p:spPr>
          <a:xfrm>
            <a:off x="5562600" y="4681728"/>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562600"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187696"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8</a:t>
            </a:r>
          </a:p>
        </p:txBody>
      </p:sp>
      <p:sp>
        <p:nvSpPr>
          <p:cNvPr id="59" name="TextBox 58"/>
          <p:cNvSpPr txBox="1"/>
          <p:nvPr/>
        </p:nvSpPr>
        <p:spPr>
          <a:xfrm>
            <a:off x="561746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0" name="TextBox 59"/>
          <p:cNvSpPr txBox="1"/>
          <p:nvPr/>
        </p:nvSpPr>
        <p:spPr>
          <a:xfrm>
            <a:off x="603808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61" name="TextBox 60"/>
          <p:cNvSpPr txBox="1"/>
          <p:nvPr/>
        </p:nvSpPr>
        <p:spPr>
          <a:xfrm>
            <a:off x="603808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2" name="TextBox 61"/>
          <p:cNvSpPr txBox="1"/>
          <p:nvPr/>
        </p:nvSpPr>
        <p:spPr>
          <a:xfrm>
            <a:off x="598322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63" name="TextBox 62"/>
          <p:cNvSpPr txBox="1"/>
          <p:nvPr/>
        </p:nvSpPr>
        <p:spPr>
          <a:xfrm>
            <a:off x="645871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64" name="TextBox 63"/>
          <p:cNvSpPr txBox="1"/>
          <p:nvPr/>
        </p:nvSpPr>
        <p:spPr>
          <a:xfrm>
            <a:off x="645871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65" name="TextBox 64"/>
          <p:cNvSpPr txBox="1"/>
          <p:nvPr/>
        </p:nvSpPr>
        <p:spPr>
          <a:xfrm>
            <a:off x="640384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5</a:t>
            </a:r>
          </a:p>
        </p:txBody>
      </p:sp>
      <p:sp>
        <p:nvSpPr>
          <p:cNvPr id="66" name="TextBox 65"/>
          <p:cNvSpPr txBox="1"/>
          <p:nvPr/>
        </p:nvSpPr>
        <p:spPr>
          <a:xfrm>
            <a:off x="6970776" y="4379976"/>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4</a:t>
            </a:r>
          </a:p>
        </p:txBody>
      </p:sp>
      <p:sp>
        <p:nvSpPr>
          <p:cNvPr id="67" name="TextBox 66"/>
          <p:cNvSpPr txBox="1"/>
          <p:nvPr/>
        </p:nvSpPr>
        <p:spPr>
          <a:xfrm>
            <a:off x="5224272"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16.4</a:t>
            </a:r>
          </a:p>
        </p:txBody>
      </p:sp>
      <p:sp>
        <p:nvSpPr>
          <p:cNvPr id="68" name="Rectangle 67"/>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245 ÷ 6</a:t>
            </a:r>
          </a:p>
        </p:txBody>
      </p:sp>
      <p:cxnSp>
        <p:nvCxnSpPr>
          <p:cNvPr id="70" name="Connector 69"/>
          <p:cNvCxnSpPr/>
          <p:nvPr/>
        </p:nvCxnSpPr>
        <p:spPr>
          <a:xfrm>
            <a:off x="5562600" y="6684264"/>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562600"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187696"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73" name="TextBox 72"/>
          <p:cNvSpPr txBox="1"/>
          <p:nvPr/>
        </p:nvSpPr>
        <p:spPr>
          <a:xfrm>
            <a:off x="561746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74" name="TextBox 73"/>
          <p:cNvSpPr txBox="1"/>
          <p:nvPr/>
        </p:nvSpPr>
        <p:spPr>
          <a:xfrm>
            <a:off x="603808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75" name="TextBox 74"/>
          <p:cNvSpPr txBox="1"/>
          <p:nvPr/>
        </p:nvSpPr>
        <p:spPr>
          <a:xfrm>
            <a:off x="603808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76" name="TextBox 75"/>
          <p:cNvSpPr txBox="1"/>
          <p:nvPr/>
        </p:nvSpPr>
        <p:spPr>
          <a:xfrm>
            <a:off x="5983224"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77" name="TextBox 76"/>
          <p:cNvSpPr txBox="1"/>
          <p:nvPr/>
        </p:nvSpPr>
        <p:spPr>
          <a:xfrm>
            <a:off x="645871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78" name="TextBox 77"/>
          <p:cNvSpPr txBox="1"/>
          <p:nvPr/>
        </p:nvSpPr>
        <p:spPr>
          <a:xfrm>
            <a:off x="645871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10</a:t>
            </a:r>
          </a:p>
        </p:txBody>
      </p:sp>
      <p:sp>
        <p:nvSpPr>
          <p:cNvPr id="79" name="TextBox 78"/>
          <p:cNvSpPr txBox="1"/>
          <p:nvPr/>
        </p:nvSpPr>
        <p:spPr>
          <a:xfrm>
            <a:off x="640384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80" name="TextBox 79"/>
          <p:cNvSpPr txBox="1"/>
          <p:nvPr/>
        </p:nvSpPr>
        <p:spPr>
          <a:xfrm>
            <a:off x="6970776" y="6382512"/>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81" name="TextBox 80"/>
          <p:cNvSpPr txBox="1"/>
          <p:nvPr/>
        </p:nvSpPr>
        <p:spPr>
          <a:xfrm>
            <a:off x="5224272"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310 r 5</a:t>
            </a:r>
          </a:p>
        </p:txBody>
      </p:sp>
      <p:sp>
        <p:nvSpPr>
          <p:cNvPr id="82" name="Rectangle 8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84" name="Rectangle 8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1,248 ÷ 12</a:t>
            </a:r>
          </a:p>
        </p:txBody>
      </p:sp>
      <p:cxnSp>
        <p:nvCxnSpPr>
          <p:cNvPr id="86" name="Connector 85"/>
          <p:cNvCxnSpPr/>
          <p:nvPr/>
        </p:nvCxnSpPr>
        <p:spPr>
          <a:xfrm>
            <a:off x="10183368" y="2679191"/>
            <a:ext cx="1764792"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183368"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808464"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89" name="TextBox 88"/>
          <p:cNvSpPr txBox="1"/>
          <p:nvPr/>
        </p:nvSpPr>
        <p:spPr>
          <a:xfrm>
            <a:off x="1023823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0" name="TextBox 89"/>
          <p:cNvSpPr txBox="1"/>
          <p:nvPr/>
        </p:nvSpPr>
        <p:spPr>
          <a:xfrm>
            <a:off x="10658856"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91" name="TextBox 90"/>
          <p:cNvSpPr txBox="1"/>
          <p:nvPr/>
        </p:nvSpPr>
        <p:spPr>
          <a:xfrm>
            <a:off x="10658856"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2" name="TextBox 91"/>
          <p:cNvSpPr txBox="1"/>
          <p:nvPr/>
        </p:nvSpPr>
        <p:spPr>
          <a:xfrm>
            <a:off x="10603992"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93" name="TextBox 92"/>
          <p:cNvSpPr txBox="1"/>
          <p:nvPr/>
        </p:nvSpPr>
        <p:spPr>
          <a:xfrm>
            <a:off x="11079480"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4" name="TextBox 93"/>
          <p:cNvSpPr txBox="1"/>
          <p:nvPr/>
        </p:nvSpPr>
        <p:spPr>
          <a:xfrm>
            <a:off x="1150010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95" name="TextBox 94"/>
          <p:cNvSpPr txBox="1"/>
          <p:nvPr/>
        </p:nvSpPr>
        <p:spPr>
          <a:xfrm>
            <a:off x="11500104"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6" name="TextBox 95"/>
          <p:cNvSpPr txBox="1"/>
          <p:nvPr/>
        </p:nvSpPr>
        <p:spPr>
          <a:xfrm>
            <a:off x="11445240"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97" name="TextBox 96"/>
          <p:cNvSpPr txBox="1"/>
          <p:nvPr/>
        </p:nvSpPr>
        <p:spPr>
          <a:xfrm>
            <a:off x="9845040"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14</a:t>
            </a:r>
          </a:p>
        </p:txBody>
      </p:sp>
      <p:sp>
        <p:nvSpPr>
          <p:cNvPr id="98" name="Rectangle 9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615 ÷ 12 (decimal answer)</a:t>
            </a:r>
          </a:p>
        </p:txBody>
      </p:sp>
      <p:cxnSp>
        <p:nvCxnSpPr>
          <p:cNvPr id="100" name="Connector 99"/>
          <p:cNvCxnSpPr/>
          <p:nvPr/>
        </p:nvCxnSpPr>
        <p:spPr>
          <a:xfrm>
            <a:off x="10183368" y="4681728"/>
            <a:ext cx="260604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183368"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9808464"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103" name="TextBox 102"/>
          <p:cNvSpPr txBox="1"/>
          <p:nvPr/>
        </p:nvSpPr>
        <p:spPr>
          <a:xfrm>
            <a:off x="1023823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104" name="TextBox 103"/>
          <p:cNvSpPr txBox="1"/>
          <p:nvPr/>
        </p:nvSpPr>
        <p:spPr>
          <a:xfrm>
            <a:off x="10658856"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5" name="TextBox 104"/>
          <p:cNvSpPr txBox="1"/>
          <p:nvPr/>
        </p:nvSpPr>
        <p:spPr>
          <a:xfrm>
            <a:off x="10658856"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6" name="TextBox 105"/>
          <p:cNvSpPr txBox="1"/>
          <p:nvPr/>
        </p:nvSpPr>
        <p:spPr>
          <a:xfrm>
            <a:off x="10603992"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07" name="TextBox 106"/>
          <p:cNvSpPr txBox="1"/>
          <p:nvPr/>
        </p:nvSpPr>
        <p:spPr>
          <a:xfrm>
            <a:off x="11079480"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8" name="TextBox 107"/>
          <p:cNvSpPr txBox="1"/>
          <p:nvPr/>
        </p:nvSpPr>
        <p:spPr>
          <a:xfrm>
            <a:off x="11079480"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9" name="TextBox 108"/>
          <p:cNvSpPr txBox="1"/>
          <p:nvPr/>
        </p:nvSpPr>
        <p:spPr>
          <a:xfrm>
            <a:off x="11024616"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110" name="TextBox 109"/>
          <p:cNvSpPr txBox="1"/>
          <p:nvPr/>
        </p:nvSpPr>
        <p:spPr>
          <a:xfrm>
            <a:off x="1150010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1" name="TextBox 110"/>
          <p:cNvSpPr txBox="1"/>
          <p:nvPr/>
        </p:nvSpPr>
        <p:spPr>
          <a:xfrm>
            <a:off x="1086916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2" name="TextBox 111"/>
          <p:cNvSpPr txBox="1"/>
          <p:nvPr/>
        </p:nvSpPr>
        <p:spPr>
          <a:xfrm>
            <a:off x="1192072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3" name="TextBox 112"/>
          <p:cNvSpPr txBox="1"/>
          <p:nvPr/>
        </p:nvSpPr>
        <p:spPr>
          <a:xfrm>
            <a:off x="1192072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14" name="TextBox 113"/>
          <p:cNvSpPr txBox="1"/>
          <p:nvPr/>
        </p:nvSpPr>
        <p:spPr>
          <a:xfrm>
            <a:off x="1186586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15" name="TextBox 114"/>
          <p:cNvSpPr txBox="1"/>
          <p:nvPr/>
        </p:nvSpPr>
        <p:spPr>
          <a:xfrm>
            <a:off x="1234135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6" name="TextBox 115"/>
          <p:cNvSpPr txBox="1"/>
          <p:nvPr/>
        </p:nvSpPr>
        <p:spPr>
          <a:xfrm>
            <a:off x="1234135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17" name="TextBox 116"/>
          <p:cNvSpPr txBox="1"/>
          <p:nvPr/>
        </p:nvSpPr>
        <p:spPr>
          <a:xfrm>
            <a:off x="1228648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18" name="TextBox 117"/>
          <p:cNvSpPr txBox="1"/>
          <p:nvPr/>
        </p:nvSpPr>
        <p:spPr>
          <a:xfrm>
            <a:off x="9845040"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5.125</a:t>
            </a:r>
          </a:p>
        </p:txBody>
      </p:sp>
      <p:sp>
        <p:nvSpPr>
          <p:cNvPr id="119" name="Rectangle 11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4,834 ÷ 16 (decimal answer)</a:t>
            </a:r>
          </a:p>
        </p:txBody>
      </p:sp>
      <p:cxnSp>
        <p:nvCxnSpPr>
          <p:cNvPr id="121" name="Connector 120"/>
          <p:cNvCxnSpPr/>
          <p:nvPr/>
        </p:nvCxnSpPr>
        <p:spPr>
          <a:xfrm>
            <a:off x="10183368" y="6684264"/>
            <a:ext cx="344728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183368"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9808464"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16</a:t>
            </a:r>
          </a:p>
        </p:txBody>
      </p:sp>
      <p:sp>
        <p:nvSpPr>
          <p:cNvPr id="124" name="TextBox 123"/>
          <p:cNvSpPr txBox="1"/>
          <p:nvPr/>
        </p:nvSpPr>
        <p:spPr>
          <a:xfrm>
            <a:off x="1023823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25" name="TextBox 124"/>
          <p:cNvSpPr txBox="1"/>
          <p:nvPr/>
        </p:nvSpPr>
        <p:spPr>
          <a:xfrm>
            <a:off x="1065885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26" name="TextBox 125"/>
          <p:cNvSpPr txBox="1"/>
          <p:nvPr/>
        </p:nvSpPr>
        <p:spPr>
          <a:xfrm>
            <a:off x="1065885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7" name="TextBox 126"/>
          <p:cNvSpPr txBox="1"/>
          <p:nvPr/>
        </p:nvSpPr>
        <p:spPr>
          <a:xfrm>
            <a:off x="1060399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28" name="TextBox 127"/>
          <p:cNvSpPr txBox="1"/>
          <p:nvPr/>
        </p:nvSpPr>
        <p:spPr>
          <a:xfrm>
            <a:off x="1107948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9" name="TextBox 128"/>
          <p:cNvSpPr txBox="1"/>
          <p:nvPr/>
        </p:nvSpPr>
        <p:spPr>
          <a:xfrm>
            <a:off x="1150010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30" name="TextBox 129"/>
          <p:cNvSpPr txBox="1"/>
          <p:nvPr/>
        </p:nvSpPr>
        <p:spPr>
          <a:xfrm>
            <a:off x="11500104"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1" name="TextBox 130"/>
          <p:cNvSpPr txBox="1"/>
          <p:nvPr/>
        </p:nvSpPr>
        <p:spPr>
          <a:xfrm>
            <a:off x="11445240"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32" name="TextBox 131"/>
          <p:cNvSpPr txBox="1"/>
          <p:nvPr/>
        </p:nvSpPr>
        <p:spPr>
          <a:xfrm>
            <a:off x="1192072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3" name="TextBox 132"/>
          <p:cNvSpPr txBox="1"/>
          <p:nvPr/>
        </p:nvSpPr>
        <p:spPr>
          <a:xfrm>
            <a:off x="1192072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4" name="TextBox 133"/>
          <p:cNvSpPr txBox="1"/>
          <p:nvPr/>
        </p:nvSpPr>
        <p:spPr>
          <a:xfrm>
            <a:off x="1234135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5" name="TextBox 134"/>
          <p:cNvSpPr txBox="1"/>
          <p:nvPr/>
        </p:nvSpPr>
        <p:spPr>
          <a:xfrm>
            <a:off x="1234135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36" name="TextBox 135"/>
          <p:cNvSpPr txBox="1"/>
          <p:nvPr/>
        </p:nvSpPr>
        <p:spPr>
          <a:xfrm>
            <a:off x="1228648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137" name="TextBox 136"/>
          <p:cNvSpPr txBox="1"/>
          <p:nvPr/>
        </p:nvSpPr>
        <p:spPr>
          <a:xfrm>
            <a:off x="1276197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8" name="TextBox 137"/>
          <p:cNvSpPr txBox="1"/>
          <p:nvPr/>
        </p:nvSpPr>
        <p:spPr>
          <a:xfrm>
            <a:off x="1276197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9" name="TextBox 138"/>
          <p:cNvSpPr txBox="1"/>
          <p:nvPr/>
        </p:nvSpPr>
        <p:spPr>
          <a:xfrm>
            <a:off x="1270711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40" name="TextBox 139"/>
          <p:cNvSpPr txBox="1"/>
          <p:nvPr/>
        </p:nvSpPr>
        <p:spPr>
          <a:xfrm>
            <a:off x="1318260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41" name="TextBox 140"/>
          <p:cNvSpPr txBox="1"/>
          <p:nvPr/>
        </p:nvSpPr>
        <p:spPr>
          <a:xfrm>
            <a:off x="13182600"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42" name="TextBox 141"/>
          <p:cNvSpPr txBox="1"/>
          <p:nvPr/>
        </p:nvSpPr>
        <p:spPr>
          <a:xfrm>
            <a:off x="13127736"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8</a:t>
            </a:r>
          </a:p>
        </p:txBody>
      </p:sp>
      <p:sp>
        <p:nvSpPr>
          <p:cNvPr id="143" name="TextBox 142"/>
          <p:cNvSpPr txBox="1"/>
          <p:nvPr/>
        </p:nvSpPr>
        <p:spPr>
          <a:xfrm>
            <a:off x="9845040"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32.125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Work out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M13-IA</a:t>
            </a:r>
          </a:p>
        </p:txBody>
      </p:sp>
      <p:sp>
        <p:nvSpPr>
          <p:cNvPr id="7" name="Rectangle 6"/>
          <p:cNvSpPr/>
          <p:nvPr/>
        </p:nvSpPr>
        <p:spPr>
          <a:xfrm>
            <a:off x="45720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1.  −2 + 9</a:t>
            </a:r>
          </a:p>
        </p:txBody>
      </p:sp>
      <p:sp>
        <p:nvSpPr>
          <p:cNvPr id="9" name="Rectangle 8"/>
          <p:cNvSpPr/>
          <p:nvPr/>
        </p:nvSpPr>
        <p:spPr>
          <a:xfrm>
            <a:off x="745236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1695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2.  6 − 11</a:t>
            </a:r>
          </a:p>
        </p:txBody>
      </p:sp>
      <p:sp>
        <p:nvSpPr>
          <p:cNvPr id="11" name="Rectangle 10"/>
          <p:cNvSpPr/>
          <p:nvPr/>
        </p:nvSpPr>
        <p:spPr>
          <a:xfrm>
            <a:off x="45720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3.  −7 − (−10)</a:t>
            </a:r>
          </a:p>
        </p:txBody>
      </p:sp>
      <p:sp>
        <p:nvSpPr>
          <p:cNvPr id="13" name="Rectangle 12"/>
          <p:cNvSpPr/>
          <p:nvPr/>
        </p:nvSpPr>
        <p:spPr>
          <a:xfrm>
            <a:off x="745236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1695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4.  5 + (−9) − (−6)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Rules recap • Start at the first number.</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M13-RULES</a:t>
            </a:r>
          </a:p>
        </p:txBody>
      </p:sp>
      <p:sp>
        <p:nvSpPr>
          <p:cNvPr id="7" name="Rectangle 6"/>
          <p:cNvSpPr/>
          <p:nvPr/>
        </p:nvSpPr>
        <p:spPr>
          <a:xfrm>
            <a:off x="365760" y="128016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Add a positive number</a:t>
            </a:r>
          </a:p>
        </p:txBody>
      </p:sp>
      <p:sp>
        <p:nvSpPr>
          <p:cNvPr id="9" name="TextBox 8"/>
          <p:cNvSpPr txBox="1"/>
          <p:nvPr/>
        </p:nvSpPr>
        <p:spPr>
          <a:xfrm>
            <a:off x="5029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the value increases.</a:t>
            </a:r>
          </a:p>
        </p:txBody>
      </p:sp>
      <p:sp>
        <p:nvSpPr>
          <p:cNvPr id="10" name="TextBox 9"/>
          <p:cNvSpPr txBox="1"/>
          <p:nvPr/>
        </p:nvSpPr>
        <p:spPr>
          <a:xfrm>
            <a:off x="5029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3</a:t>
            </a:r>
          </a:p>
        </p:txBody>
      </p:sp>
      <p:sp>
        <p:nvSpPr>
          <p:cNvPr id="11" name="Rectangle 10"/>
          <p:cNvSpPr/>
          <p:nvPr/>
        </p:nvSpPr>
        <p:spPr>
          <a:xfrm>
            <a:off x="7452360" y="128016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Add a negative number</a:t>
            </a:r>
          </a:p>
        </p:txBody>
      </p:sp>
      <p:sp>
        <p:nvSpPr>
          <p:cNvPr id="13" name="TextBox 12"/>
          <p:cNvSpPr txBox="1"/>
          <p:nvPr/>
        </p:nvSpPr>
        <p:spPr>
          <a:xfrm>
            <a:off x="75895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4" name="TextBox 13"/>
          <p:cNvSpPr txBox="1"/>
          <p:nvPr/>
        </p:nvSpPr>
        <p:spPr>
          <a:xfrm>
            <a:off x="75895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4 − 7 = −3</a:t>
            </a:r>
          </a:p>
        </p:txBody>
      </p:sp>
      <p:sp>
        <p:nvSpPr>
          <p:cNvPr id="15" name="Rectangle 14"/>
          <p:cNvSpPr/>
          <p:nvPr/>
        </p:nvSpPr>
        <p:spPr>
          <a:xfrm>
            <a:off x="365760" y="320040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Subtract a positive number</a:t>
            </a:r>
          </a:p>
        </p:txBody>
      </p:sp>
      <p:sp>
        <p:nvSpPr>
          <p:cNvPr id="17" name="TextBox 16"/>
          <p:cNvSpPr txBox="1"/>
          <p:nvPr/>
        </p:nvSpPr>
        <p:spPr>
          <a:xfrm>
            <a:off x="5029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8" name="TextBox 17"/>
          <p:cNvSpPr txBox="1"/>
          <p:nvPr/>
        </p:nvSpPr>
        <p:spPr>
          <a:xfrm>
            <a:off x="5029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3 − 8 = −5</a:t>
            </a:r>
          </a:p>
        </p:txBody>
      </p:sp>
      <p:sp>
        <p:nvSpPr>
          <p:cNvPr id="19" name="Rectangle 18"/>
          <p:cNvSpPr/>
          <p:nvPr/>
        </p:nvSpPr>
        <p:spPr>
          <a:xfrm>
            <a:off x="7452360" y="320040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Subtract a negative number</a:t>
            </a:r>
          </a:p>
        </p:txBody>
      </p:sp>
      <p:sp>
        <p:nvSpPr>
          <p:cNvPr id="21" name="TextBox 20"/>
          <p:cNvSpPr txBox="1"/>
          <p:nvPr/>
        </p:nvSpPr>
        <p:spPr>
          <a:xfrm>
            <a:off x="75895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subtracting a negative is adding a positive.</a:t>
            </a:r>
          </a:p>
        </p:txBody>
      </p:sp>
      <p:sp>
        <p:nvSpPr>
          <p:cNvPr id="22" name="TextBox 21"/>
          <p:cNvSpPr txBox="1"/>
          <p:nvPr/>
        </p:nvSpPr>
        <p:spPr>
          <a:xfrm>
            <a:off x="75895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6 − (−3) = 6 + 3 = 9</a:t>
            </a:r>
          </a:p>
        </p:txBody>
      </p:sp>
      <p:sp>
        <p:nvSpPr>
          <p:cNvPr id="23" name="TextBox 22"/>
          <p:cNvSpPr txBox="1"/>
          <p:nvPr/>
        </p:nvSpPr>
        <p:spPr>
          <a:xfrm>
            <a:off x="457200" y="5276088"/>
            <a:ext cx="13716000" cy="640080"/>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In 6 − (−3), the first − means subtract;</a:t>
            </a:r>
          </a:p>
          <a:p>
            <a:pPr>
              <a:lnSpc>
                <a:spcPts val="2310"/>
              </a:lnSpc>
              <a:spcBef>
                <a:spcPts val="0"/>
              </a:spcBef>
              <a:spcAft>
                <a:spcPts val="0"/>
              </a:spcAft>
              <a:defRPr sz="2200" b="0">
                <a:solidFill>
                  <a:srgbClr val="182B3A"/>
                </a:solidFill>
                <a:latin typeface="Arial"/>
              </a:defRPr>
            </a:pPr>
            <a:r>
              <a:t>the − inside brackets belongs to the number −3.</a:t>
            </a:r>
          </a:p>
        </p:txBody>
      </p:sp>
      <p:sp>
        <p:nvSpPr>
          <p:cNvPr id="24" name="Rectangle 23"/>
          <p:cNvSpPr/>
          <p:nvPr/>
        </p:nvSpPr>
        <p:spPr>
          <a:xfrm>
            <a:off x="365760" y="6080760"/>
            <a:ext cx="13898880" cy="7040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199632"/>
            <a:ext cx="13624560" cy="448056"/>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To subtract a number, add its opposite. Keep the first number unchanged.</a:t>
            </a:r>
          </a:p>
        </p:txBody>
      </p:sp>
      <p:sp>
        <p:nvSpPr>
          <p:cNvPr id="26" name="TextBox 25"/>
          <p:cNvSpPr txBox="1"/>
          <p:nvPr/>
        </p:nvSpPr>
        <p:spPr>
          <a:xfrm>
            <a:off x="457200" y="7022592"/>
            <a:ext cx="13716000" cy="694944"/>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Two negative numbers do not automatically give a positive answer:</a:t>
            </a:r>
          </a:p>
          <a:p>
            <a:pPr>
              <a:lnSpc>
                <a:spcPts val="2310"/>
              </a:lnSpc>
              <a:spcBef>
                <a:spcPts val="0"/>
              </a:spcBef>
              <a:spcAft>
                <a:spcPts val="0"/>
              </a:spcAft>
              <a:defRPr sz="2200" b="0">
                <a:solidFill>
                  <a:srgbClr val="182B3A"/>
                </a:solidFill>
                <a:latin typeface="Arial"/>
              </a:defRPr>
            </a:pPr>
            <a:r>
              <a:t>−4 + (−3) = −7.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each calculation.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M13-S01</a:t>
            </a:r>
          </a:p>
        </p:txBody>
      </p:sp>
      <p:sp>
        <p:nvSpPr>
          <p:cNvPr id="7" name="TextBox 6"/>
          <p:cNvSpPr txBox="1"/>
          <p:nvPr/>
        </p:nvSpPr>
        <p:spPr>
          <a:xfrm>
            <a:off x="365760" y="1069848"/>
            <a:ext cx="13807440" cy="548640"/>
          </a:xfrm>
          <a:prstGeom prst="rect">
            <a:avLst/>
          </a:prstGeom>
          <a:noFill/>
        </p:spPr>
        <p:txBody>
          <a:bodyPr wrap="square" lIns="54864" rIns="54864" tIns="22860" bIns="22860">
            <a:spAutoFit/>
          </a:bodyPr>
          <a:lstStyle/>
          <a:p>
            <a:pPr>
              <a:lnSpc>
                <a:spcPts val="1680"/>
              </a:lnSpc>
              <a:spcBef>
                <a:spcPts val="0"/>
              </a:spcBef>
              <a:spcAft>
                <a:spcPts val="0"/>
              </a:spcAft>
              <a:defRPr sz="1600" b="1">
                <a:solidFill>
                  <a:srgbClr val="182B3A"/>
                </a:solidFill>
                <a:latin typeface="Arial"/>
              </a:defRPr>
            </a:pPr>
            <a:r>
              <a:t>Adding a negative moves left: 4 + (−7) = 4 − 7 = −3.</a:t>
            </a:r>
          </a:p>
          <a:p>
            <a:pPr>
              <a:lnSpc>
                <a:spcPts val="1680"/>
              </a:lnSpc>
              <a:spcBef>
                <a:spcPts val="0"/>
              </a:spcBef>
              <a:spcAft>
                <a:spcPts val="0"/>
              </a:spcAft>
              <a:defRPr sz="1600" b="1">
                <a:solidFill>
                  <a:srgbClr val="182B3A"/>
                </a:solidFill>
                <a:latin typeface="Arial"/>
              </a:defRPr>
            </a:pPr>
            <a:r>
              <a:t>Subtracting a negative moves right: 6 − (−3) = 6 + 3 = 9.</a:t>
            </a:r>
          </a:p>
        </p:txBody>
      </p:sp>
      <p:sp>
        <p:nvSpPr>
          <p:cNvPr id="8" name="Rectangle 7"/>
          <p:cNvSpPr/>
          <p:nvPr/>
        </p:nvSpPr>
        <p:spPr>
          <a:xfrm>
            <a:off x="2121408" y="170992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48839"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10" name="Rectangle 9"/>
          <p:cNvSpPr/>
          <p:nvPr/>
        </p:nvSpPr>
        <p:spPr>
          <a:xfrm>
            <a:off x="6184392" y="170992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1824"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2" name="Rectangle 11"/>
          <p:cNvSpPr/>
          <p:nvPr/>
        </p:nvSpPr>
        <p:spPr>
          <a:xfrm>
            <a:off x="10247376" y="170992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74808"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4" name="Rectangle 13"/>
          <p:cNvSpPr/>
          <p:nvPr/>
        </p:nvSpPr>
        <p:spPr>
          <a:xfrm>
            <a:off x="320040" y="2157984"/>
            <a:ext cx="1801367" cy="68580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2249424"/>
            <a:ext cx="1691639" cy="53035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6" name="Rectangle 15"/>
          <p:cNvSpPr/>
          <p:nvPr/>
        </p:nvSpPr>
        <p:spPr>
          <a:xfrm>
            <a:off x="2121408" y="2157984"/>
            <a:ext cx="4062984" cy="68580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8" name="Rectangle 17"/>
          <p:cNvSpPr/>
          <p:nvPr/>
        </p:nvSpPr>
        <p:spPr>
          <a:xfrm>
            <a:off x="6184392" y="2157984"/>
            <a:ext cx="4062984" cy="68580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7544"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(−3)</a:t>
            </a:r>
          </a:p>
        </p:txBody>
      </p:sp>
      <p:sp>
        <p:nvSpPr>
          <p:cNvPr id="20" name="Rectangle 19"/>
          <p:cNvSpPr/>
          <p:nvPr/>
        </p:nvSpPr>
        <p:spPr>
          <a:xfrm>
            <a:off x="10247376" y="2157984"/>
            <a:ext cx="4062984" cy="68580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20528"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+ 8 − (−2)</a:t>
            </a:r>
          </a:p>
        </p:txBody>
      </p:sp>
      <p:sp>
        <p:nvSpPr>
          <p:cNvPr id="22" name="Rectangle 21"/>
          <p:cNvSpPr/>
          <p:nvPr/>
        </p:nvSpPr>
        <p:spPr>
          <a:xfrm>
            <a:off x="320040" y="284378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4" y="2935224"/>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4" name="Rectangle 23"/>
          <p:cNvSpPr/>
          <p:nvPr/>
        </p:nvSpPr>
        <p:spPr>
          <a:xfrm>
            <a:off x="2121408"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4560"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−4; add positive 7.</a:t>
            </a:r>
          </a:p>
        </p:txBody>
      </p:sp>
      <p:sp>
        <p:nvSpPr>
          <p:cNvPr id="26" name="Rectangle 25"/>
          <p:cNvSpPr/>
          <p:nvPr/>
        </p:nvSpPr>
        <p:spPr>
          <a:xfrm>
            <a:off x="6184392"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7544"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6; subtract negative 3.</a:t>
            </a:r>
          </a:p>
        </p:txBody>
      </p:sp>
      <p:sp>
        <p:nvSpPr>
          <p:cNvPr id="28" name="Rectangle 27"/>
          <p:cNvSpPr/>
          <p:nvPr/>
        </p:nvSpPr>
        <p:spPr>
          <a:xfrm>
            <a:off x="10247376"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20528"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Add positive 8, then subtract negative 2.</a:t>
            </a:r>
          </a:p>
        </p:txBody>
      </p:sp>
      <p:sp>
        <p:nvSpPr>
          <p:cNvPr id="30" name="Rectangle 29"/>
          <p:cNvSpPr/>
          <p:nvPr/>
        </p:nvSpPr>
        <p:spPr>
          <a:xfrm>
            <a:off x="320040" y="362102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4904" y="3712463"/>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2" name="Rectangle 31"/>
          <p:cNvSpPr/>
          <p:nvPr/>
        </p:nvSpPr>
        <p:spPr>
          <a:xfrm>
            <a:off x="2121408"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94560"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−4 + 7 is already an addition.</a:t>
            </a:r>
          </a:p>
        </p:txBody>
      </p:sp>
      <p:sp>
        <p:nvSpPr>
          <p:cNvPr id="34" name="Rectangle 33"/>
          <p:cNvSpPr/>
          <p:nvPr/>
        </p:nvSpPr>
        <p:spPr>
          <a:xfrm>
            <a:off x="6184392"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57544"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6 + 3.</a:t>
            </a:r>
          </a:p>
        </p:txBody>
      </p:sp>
      <p:sp>
        <p:nvSpPr>
          <p:cNvPr id="36" name="Rectangle 35"/>
          <p:cNvSpPr/>
          <p:nvPr/>
        </p:nvSpPr>
        <p:spPr>
          <a:xfrm>
            <a:off x="10247376"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20528"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+ 2.</a:t>
            </a:r>
          </a:p>
        </p:txBody>
      </p:sp>
      <p:sp>
        <p:nvSpPr>
          <p:cNvPr id="38" name="Rectangle 37"/>
          <p:cNvSpPr/>
          <p:nvPr/>
        </p:nvSpPr>
        <p:spPr>
          <a:xfrm>
            <a:off x="320040" y="4398264"/>
            <a:ext cx="1801367" cy="1920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4904" y="4489703"/>
            <a:ext cx="1691639" cy="1764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40" name="Rectangle 39"/>
          <p:cNvSpPr/>
          <p:nvPr/>
        </p:nvSpPr>
        <p:spPr>
          <a:xfrm>
            <a:off x="2121408"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4560"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Move 4 right to 0, then 3 right: 3.</a:t>
            </a:r>
          </a:p>
        </p:txBody>
      </p:sp>
      <p:cxnSp>
        <p:nvCxnSpPr>
          <p:cNvPr id="42" name="Connector 41"/>
          <p:cNvCxnSpPr/>
          <p:nvPr/>
        </p:nvCxnSpPr>
        <p:spPr>
          <a:xfrm>
            <a:off x="2395728"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39572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20319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45" name="Connector 44"/>
          <p:cNvCxnSpPr/>
          <p:nvPr/>
        </p:nvCxnSpPr>
        <p:spPr>
          <a:xfrm>
            <a:off x="278621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59367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47" name="Connector 46"/>
          <p:cNvCxnSpPr/>
          <p:nvPr/>
        </p:nvCxnSpPr>
        <p:spPr>
          <a:xfrm>
            <a:off x="317669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98416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49" name="Connector 48"/>
          <p:cNvCxnSpPr/>
          <p:nvPr/>
        </p:nvCxnSpPr>
        <p:spPr>
          <a:xfrm>
            <a:off x="356717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746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1" name="Connector 50"/>
          <p:cNvCxnSpPr/>
          <p:nvPr/>
        </p:nvCxnSpPr>
        <p:spPr>
          <a:xfrm>
            <a:off x="395765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76512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3" name="Connector 52"/>
          <p:cNvCxnSpPr/>
          <p:nvPr/>
        </p:nvCxnSpPr>
        <p:spPr>
          <a:xfrm>
            <a:off x="434814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19269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55" name="Connector 54"/>
          <p:cNvCxnSpPr/>
          <p:nvPr/>
        </p:nvCxnSpPr>
        <p:spPr>
          <a:xfrm>
            <a:off x="473862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58317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7" name="Connector 56"/>
          <p:cNvCxnSpPr/>
          <p:nvPr/>
        </p:nvCxnSpPr>
        <p:spPr>
          <a:xfrm>
            <a:off x="51291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365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9" name="Connector 58"/>
          <p:cNvCxnSpPr/>
          <p:nvPr/>
        </p:nvCxnSpPr>
        <p:spPr>
          <a:xfrm>
            <a:off x="551958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36414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61" name="Connector 60"/>
          <p:cNvCxnSpPr/>
          <p:nvPr/>
        </p:nvCxnSpPr>
        <p:spPr>
          <a:xfrm>
            <a:off x="591007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75462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63" name="Connector 62"/>
          <p:cNvCxnSpPr/>
          <p:nvPr/>
        </p:nvCxnSpPr>
        <p:spPr>
          <a:xfrm flipV="1">
            <a:off x="2786210"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786210" y="5605272"/>
            <a:ext cx="1561931"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348141"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2231136"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r>
              <a:t>+4 then +3: total +7</a:t>
            </a:r>
          </a:p>
        </p:txBody>
      </p:sp>
      <p:cxnSp>
        <p:nvCxnSpPr>
          <p:cNvPr id="67" name="Connector 66"/>
          <p:cNvCxnSpPr/>
          <p:nvPr/>
        </p:nvCxnSpPr>
        <p:spPr>
          <a:xfrm flipV="1">
            <a:off x="4348141"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348141" y="5312664"/>
            <a:ext cx="1171448"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519589"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231136"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p>
        </p:txBody>
      </p:sp>
      <p:sp>
        <p:nvSpPr>
          <p:cNvPr id="71" name="Rectangle 70"/>
          <p:cNvSpPr/>
          <p:nvPr/>
        </p:nvSpPr>
        <p:spPr>
          <a:xfrm>
            <a:off x="6184392"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57544"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9.</a:t>
            </a:r>
          </a:p>
        </p:txBody>
      </p:sp>
      <p:cxnSp>
        <p:nvCxnSpPr>
          <p:cNvPr id="73" name="Connector 72"/>
          <p:cNvCxnSpPr/>
          <p:nvPr/>
        </p:nvCxnSpPr>
        <p:spPr>
          <a:xfrm>
            <a:off x="6458712"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45871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3032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76" name="Connector 75"/>
          <p:cNvCxnSpPr/>
          <p:nvPr/>
        </p:nvCxnSpPr>
        <p:spPr>
          <a:xfrm>
            <a:off x="681014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65469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78" name="Connector 77"/>
          <p:cNvCxnSpPr/>
          <p:nvPr/>
        </p:nvCxnSpPr>
        <p:spPr>
          <a:xfrm>
            <a:off x="716158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700613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80" name="Connector 79"/>
          <p:cNvCxnSpPr/>
          <p:nvPr/>
        </p:nvCxnSpPr>
        <p:spPr>
          <a:xfrm>
            <a:off x="7513015"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357567"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82" name="Connector 81"/>
          <p:cNvCxnSpPr/>
          <p:nvPr/>
        </p:nvCxnSpPr>
        <p:spPr>
          <a:xfrm>
            <a:off x="786444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770900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84" name="Connector 83"/>
          <p:cNvCxnSpPr/>
          <p:nvPr/>
        </p:nvCxnSpPr>
        <p:spPr>
          <a:xfrm>
            <a:off x="821588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806043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86" name="Connector 85"/>
          <p:cNvCxnSpPr/>
          <p:nvPr/>
        </p:nvCxnSpPr>
        <p:spPr>
          <a:xfrm>
            <a:off x="856731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841187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88" name="Connector 87"/>
          <p:cNvCxnSpPr/>
          <p:nvPr/>
        </p:nvCxnSpPr>
        <p:spPr>
          <a:xfrm>
            <a:off x="891875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876330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7</a:t>
            </a:r>
          </a:p>
        </p:txBody>
      </p:sp>
      <p:cxnSp>
        <p:nvCxnSpPr>
          <p:cNvPr id="90" name="Connector 89"/>
          <p:cNvCxnSpPr/>
          <p:nvPr/>
        </p:nvCxnSpPr>
        <p:spPr>
          <a:xfrm>
            <a:off x="927018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11473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8</a:t>
            </a:r>
          </a:p>
        </p:txBody>
      </p:sp>
      <p:cxnSp>
        <p:nvCxnSpPr>
          <p:cNvPr id="92" name="Connector 91"/>
          <p:cNvCxnSpPr/>
          <p:nvPr/>
        </p:nvCxnSpPr>
        <p:spPr>
          <a:xfrm>
            <a:off x="962162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946617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9</a:t>
            </a:r>
          </a:p>
        </p:txBody>
      </p:sp>
      <p:cxnSp>
        <p:nvCxnSpPr>
          <p:cNvPr id="94" name="Connector 93"/>
          <p:cNvCxnSpPr/>
          <p:nvPr/>
        </p:nvCxnSpPr>
        <p:spPr>
          <a:xfrm>
            <a:off x="997305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981760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10</a:t>
            </a:r>
          </a:p>
        </p:txBody>
      </p:sp>
      <p:cxnSp>
        <p:nvCxnSpPr>
          <p:cNvPr id="96" name="Connector 95"/>
          <p:cNvCxnSpPr/>
          <p:nvPr/>
        </p:nvCxnSpPr>
        <p:spPr>
          <a:xfrm flipV="1">
            <a:off x="8567318"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67318" y="5605272"/>
            <a:ext cx="1054303" cy="0"/>
          </a:xfrm>
          <a:prstGeom prst="line">
            <a:avLst/>
          </a:prstGeom>
          <a:ln w="25400">
            <a:solidFill>
              <a:srgbClr val="3559A2"/>
            </a:solidFill>
            <a:tailEnd type="triangle"/>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621621"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6294120"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3559A2"/>
                </a:solidFill>
                <a:latin typeface="Arial"/>
              </a:defRPr>
            </a:pPr>
            <a:r>
              <a:t>subtract −3 = add 3</a:t>
            </a:r>
          </a:p>
        </p:txBody>
      </p:sp>
      <p:sp>
        <p:nvSpPr>
          <p:cNvPr id="100" name="Rectangle 99"/>
          <p:cNvSpPr/>
          <p:nvPr/>
        </p:nvSpPr>
        <p:spPr>
          <a:xfrm>
            <a:off x="10247376"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320528"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3; 3 + 2 = 5.</a:t>
            </a:r>
          </a:p>
        </p:txBody>
      </p:sp>
      <p:cxnSp>
        <p:nvCxnSpPr>
          <p:cNvPr id="102" name="Connector 101"/>
          <p:cNvCxnSpPr/>
          <p:nvPr/>
        </p:nvCxnSpPr>
        <p:spPr>
          <a:xfrm>
            <a:off x="10521696"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52169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103291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05" name="Connector 104"/>
          <p:cNvCxnSpPr/>
          <p:nvPr/>
        </p:nvCxnSpPr>
        <p:spPr>
          <a:xfrm>
            <a:off x="1081455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0622025"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07" name="Connector 106"/>
          <p:cNvCxnSpPr/>
          <p:nvPr/>
        </p:nvCxnSpPr>
        <p:spPr>
          <a:xfrm>
            <a:off x="1110742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091488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09" name="Connector 108"/>
          <p:cNvCxnSpPr/>
          <p:nvPr/>
        </p:nvCxnSpPr>
        <p:spPr>
          <a:xfrm>
            <a:off x="1140028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1120775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11" name="Connector 110"/>
          <p:cNvCxnSpPr/>
          <p:nvPr/>
        </p:nvCxnSpPr>
        <p:spPr>
          <a:xfrm>
            <a:off x="1169314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150061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13" name="Connector 112"/>
          <p:cNvCxnSpPr/>
          <p:nvPr/>
        </p:nvCxnSpPr>
        <p:spPr>
          <a:xfrm>
            <a:off x="119860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1179347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5" name="Connector 114"/>
          <p:cNvCxnSpPr/>
          <p:nvPr/>
        </p:nvCxnSpPr>
        <p:spPr>
          <a:xfrm>
            <a:off x="1227886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1212342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117" name="Connector 116"/>
          <p:cNvCxnSpPr/>
          <p:nvPr/>
        </p:nvCxnSpPr>
        <p:spPr>
          <a:xfrm>
            <a:off x="1257172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1241628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9" name="Connector 118"/>
          <p:cNvCxnSpPr/>
          <p:nvPr/>
        </p:nvCxnSpPr>
        <p:spPr>
          <a:xfrm>
            <a:off x="1286459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27091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21" name="Connector 120"/>
          <p:cNvCxnSpPr/>
          <p:nvPr/>
        </p:nvCxnSpPr>
        <p:spPr>
          <a:xfrm>
            <a:off x="1315745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300200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23" name="Connector 122"/>
          <p:cNvCxnSpPr/>
          <p:nvPr/>
        </p:nvCxnSpPr>
        <p:spPr>
          <a:xfrm>
            <a:off x="1345031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1329486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25" name="Connector 124"/>
          <p:cNvCxnSpPr/>
          <p:nvPr/>
        </p:nvCxnSpPr>
        <p:spPr>
          <a:xfrm>
            <a:off x="1374317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1358772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27" name="Connector 126"/>
          <p:cNvCxnSpPr/>
          <p:nvPr/>
        </p:nvCxnSpPr>
        <p:spPr>
          <a:xfrm>
            <a:off x="1403604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1388059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29" name="Connector 128"/>
          <p:cNvCxnSpPr/>
          <p:nvPr/>
        </p:nvCxnSpPr>
        <p:spPr>
          <a:xfrm flipV="1">
            <a:off x="10814557"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0814557" y="5605272"/>
            <a:ext cx="2342897"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13157454"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10357104"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r>
              <a:t>+8, then +2</a:t>
            </a:r>
          </a:p>
        </p:txBody>
      </p:sp>
      <p:cxnSp>
        <p:nvCxnSpPr>
          <p:cNvPr id="133" name="Connector 132"/>
          <p:cNvCxnSpPr/>
          <p:nvPr/>
        </p:nvCxnSpPr>
        <p:spPr>
          <a:xfrm flipV="1">
            <a:off x="13157454"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3157454" y="5312664"/>
            <a:ext cx="585723"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3743177"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10357104"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p>
        </p:txBody>
      </p:sp>
      <p:sp>
        <p:nvSpPr>
          <p:cNvPr id="137" name="Rectangle 136"/>
          <p:cNvSpPr/>
          <p:nvPr/>
        </p:nvSpPr>
        <p:spPr>
          <a:xfrm>
            <a:off x="320040" y="6318504"/>
            <a:ext cx="1801367" cy="11887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74904" y="6409944"/>
            <a:ext cx="1691639" cy="103327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139" name="Rectangle 138"/>
          <p:cNvSpPr/>
          <p:nvPr/>
        </p:nvSpPr>
        <p:spPr>
          <a:xfrm>
            <a:off x="2121408"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194560"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3 − 7 = −4. Answer: 3.</a:t>
            </a:r>
          </a:p>
        </p:txBody>
      </p:sp>
      <p:sp>
        <p:nvSpPr>
          <p:cNvPr id="141" name="Rectangle 140"/>
          <p:cNvSpPr/>
          <p:nvPr/>
        </p:nvSpPr>
        <p:spPr>
          <a:xfrm>
            <a:off x="6184392"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257544"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9 + (−3) = 6. Answer: 9.</a:t>
            </a:r>
          </a:p>
        </p:txBody>
      </p:sp>
      <p:sp>
        <p:nvSpPr>
          <p:cNvPr id="143" name="Rectangle 142"/>
          <p:cNvSpPr/>
          <p:nvPr/>
        </p:nvSpPr>
        <p:spPr>
          <a:xfrm>
            <a:off x="10247376"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0320528"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(−2) = 3; 3 − 8 = −5. Answer: 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+ 9</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−8 + 5 − (−4)</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3 − 8</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(−9)</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7 − (−2) + (−12)</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Signed numbers: addition and subtraction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M13-SE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 + 5</a:t>
            </a:r>
          </a:p>
        </p:txBody>
      </p:sp>
      <p:sp>
        <p:nvSpPr>
          <p:cNvPr id="10" name="TextBox 9"/>
          <p:cNvSpPr txBox="1"/>
          <p:nvPr/>
        </p:nvSpPr>
        <p:spPr>
          <a:xfrm>
            <a:off x="704088"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−3 + 5</a:t>
            </a:r>
          </a:p>
        </p:txBody>
      </p:sp>
      <p:sp>
        <p:nvSpPr>
          <p:cNvPr id="11" name="TextBox 10"/>
          <p:cNvSpPr txBox="1"/>
          <p:nvPr/>
        </p:nvSpPr>
        <p:spPr>
          <a:xfrm>
            <a:off x="704088"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−3 − 5</a:t>
            </a:r>
          </a:p>
        </p:txBody>
      </p:sp>
      <p:sp>
        <p:nvSpPr>
          <p:cNvPr id="12" name="TextBox 11"/>
          <p:cNvSpPr txBox="1"/>
          <p:nvPr/>
        </p:nvSpPr>
        <p:spPr>
          <a:xfrm>
            <a:off x="704088"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a:t>
            </a:r>
          </a:p>
        </p:txBody>
      </p:sp>
      <p:sp>
        <p:nvSpPr>
          <p:cNvPr id="13" name="Rectangle 12"/>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4 − 9</a:t>
            </a:r>
          </a:p>
        </p:txBody>
      </p:sp>
      <p:sp>
        <p:nvSpPr>
          <p:cNvPr id="15" name="TextBox 14"/>
          <p:cNvSpPr txBox="1"/>
          <p:nvPr/>
        </p:nvSpPr>
        <p:spPr>
          <a:xfrm>
            <a:off x="704088"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4 − 9</a:t>
            </a:r>
          </a:p>
        </p:txBody>
      </p:sp>
      <p:sp>
        <p:nvSpPr>
          <p:cNvPr id="16" name="TextBox 15"/>
          <p:cNvSpPr txBox="1"/>
          <p:nvPr/>
        </p:nvSpPr>
        <p:spPr>
          <a:xfrm>
            <a:off x="704088"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9 − 4</a:t>
            </a:r>
          </a:p>
        </p:txBody>
      </p:sp>
      <p:sp>
        <p:nvSpPr>
          <p:cNvPr id="17" name="TextBox 16"/>
          <p:cNvSpPr txBox="1"/>
          <p:nvPr/>
        </p:nvSpPr>
        <p:spPr>
          <a:xfrm>
            <a:off x="704088"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5</a:t>
            </a:r>
          </a:p>
        </p:txBody>
      </p:sp>
      <p:sp>
        <p:nvSpPr>
          <p:cNvPr id="18" name="Rectangle 17"/>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−4 − 6</a:t>
            </a:r>
          </a:p>
        </p:txBody>
      </p:sp>
      <p:sp>
        <p:nvSpPr>
          <p:cNvPr id="20" name="TextBox 19"/>
          <p:cNvSpPr txBox="1"/>
          <p:nvPr/>
        </p:nvSpPr>
        <p:spPr>
          <a:xfrm>
            <a:off x="704088"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−4 − 6</a:t>
            </a:r>
          </a:p>
        </p:txBody>
      </p:sp>
      <p:sp>
        <p:nvSpPr>
          <p:cNvPr id="21" name="TextBox 20"/>
          <p:cNvSpPr txBox="1"/>
          <p:nvPr/>
        </p:nvSpPr>
        <p:spPr>
          <a:xfrm>
            <a:off x="704088"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+ 6</a:t>
            </a:r>
          </a:p>
        </p:txBody>
      </p:sp>
      <p:sp>
        <p:nvSpPr>
          <p:cNvPr id="22" name="TextBox 21"/>
          <p:cNvSpPr txBox="1"/>
          <p:nvPr/>
        </p:nvSpPr>
        <p:spPr>
          <a:xfrm>
            <a:off x="704088"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10</a:t>
            </a:r>
          </a:p>
        </p:txBody>
      </p:sp>
      <p:sp>
        <p:nvSpPr>
          <p:cNvPr id="23" name="Rectangle 22"/>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25" name="Rectangle 24"/>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6 + (−10)</a:t>
            </a:r>
          </a:p>
        </p:txBody>
      </p:sp>
      <p:sp>
        <p:nvSpPr>
          <p:cNvPr id="27" name="TextBox 26"/>
          <p:cNvSpPr txBox="1"/>
          <p:nvPr/>
        </p:nvSpPr>
        <p:spPr>
          <a:xfrm>
            <a:off x="5324856"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6 + (−10)</a:t>
            </a:r>
          </a:p>
        </p:txBody>
      </p:sp>
      <p:sp>
        <p:nvSpPr>
          <p:cNvPr id="28" name="TextBox 27"/>
          <p:cNvSpPr txBox="1"/>
          <p:nvPr/>
        </p:nvSpPr>
        <p:spPr>
          <a:xfrm>
            <a:off x="5324856"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 + 10</a:t>
            </a:r>
          </a:p>
        </p:txBody>
      </p:sp>
      <p:sp>
        <p:nvSpPr>
          <p:cNvPr id="29" name="TextBox 28"/>
          <p:cNvSpPr txBox="1"/>
          <p:nvPr/>
        </p:nvSpPr>
        <p:spPr>
          <a:xfrm>
            <a:off x="5324856"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16</a:t>
            </a:r>
          </a:p>
        </p:txBody>
      </p:sp>
      <p:sp>
        <p:nvSpPr>
          <p:cNvPr id="30" name="Rectangle 29"/>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−6 − (−18)</a:t>
            </a:r>
          </a:p>
        </p:txBody>
      </p:sp>
      <p:sp>
        <p:nvSpPr>
          <p:cNvPr id="32" name="TextBox 31"/>
          <p:cNvSpPr txBox="1"/>
          <p:nvPr/>
        </p:nvSpPr>
        <p:spPr>
          <a:xfrm>
            <a:off x="5324856"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−6 − (−18)</a:t>
            </a:r>
          </a:p>
        </p:txBody>
      </p:sp>
      <p:sp>
        <p:nvSpPr>
          <p:cNvPr id="33" name="TextBox 32"/>
          <p:cNvSpPr txBox="1"/>
          <p:nvPr/>
        </p:nvSpPr>
        <p:spPr>
          <a:xfrm>
            <a:off x="5324856"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−6 − 18</a:t>
            </a:r>
          </a:p>
        </p:txBody>
      </p:sp>
      <p:sp>
        <p:nvSpPr>
          <p:cNvPr id="34" name="TextBox 33"/>
          <p:cNvSpPr txBox="1"/>
          <p:nvPr/>
        </p:nvSpPr>
        <p:spPr>
          <a:xfrm>
            <a:off x="5324856"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−24</a:t>
            </a:r>
          </a:p>
        </p:txBody>
      </p:sp>
      <p:sp>
        <p:nvSpPr>
          <p:cNvPr id="35" name="Rectangle 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 + (−4)</a:t>
            </a:r>
          </a:p>
        </p:txBody>
      </p:sp>
      <p:sp>
        <p:nvSpPr>
          <p:cNvPr id="37" name="TextBox 36"/>
          <p:cNvSpPr txBox="1"/>
          <p:nvPr/>
        </p:nvSpPr>
        <p:spPr>
          <a:xfrm>
            <a:off x="5324856"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−7 + (−4)</a:t>
            </a:r>
          </a:p>
        </p:txBody>
      </p:sp>
      <p:sp>
        <p:nvSpPr>
          <p:cNvPr id="38" name="TextBox 37"/>
          <p:cNvSpPr txBox="1"/>
          <p:nvPr/>
        </p:nvSpPr>
        <p:spPr>
          <a:xfrm>
            <a:off x="5324856"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7 + 4</a:t>
            </a:r>
          </a:p>
        </p:txBody>
      </p:sp>
      <p:sp>
        <p:nvSpPr>
          <p:cNvPr id="39" name="TextBox 38"/>
          <p:cNvSpPr txBox="1"/>
          <p:nvPr/>
        </p:nvSpPr>
        <p:spPr>
          <a:xfrm>
            <a:off x="5324856"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11</a:t>
            </a:r>
          </a:p>
        </p:txBody>
      </p:sp>
      <p:sp>
        <p:nvSpPr>
          <p:cNvPr id="40" name="Rectangle 39"/>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42" name="Rectangle 41"/>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−4 − (−7) + (−6)</a:t>
            </a:r>
          </a:p>
        </p:txBody>
      </p:sp>
      <p:sp>
        <p:nvSpPr>
          <p:cNvPr id="44" name="TextBox 43"/>
          <p:cNvSpPr txBox="1"/>
          <p:nvPr/>
        </p:nvSpPr>
        <p:spPr>
          <a:xfrm>
            <a:off x="9945624"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(−7) + (−6)</a:t>
            </a:r>
          </a:p>
        </p:txBody>
      </p:sp>
      <p:sp>
        <p:nvSpPr>
          <p:cNvPr id="45" name="TextBox 44"/>
          <p:cNvSpPr txBox="1"/>
          <p:nvPr/>
        </p:nvSpPr>
        <p:spPr>
          <a:xfrm>
            <a:off x="9945624"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+ 7 + 6</a:t>
            </a:r>
          </a:p>
        </p:txBody>
      </p:sp>
      <p:sp>
        <p:nvSpPr>
          <p:cNvPr id="46" name="TextBox 45"/>
          <p:cNvSpPr txBox="1"/>
          <p:nvPr/>
        </p:nvSpPr>
        <p:spPr>
          <a:xfrm>
            <a:off x="9945624"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+ 6</a:t>
            </a:r>
          </a:p>
        </p:txBody>
      </p:sp>
      <p:sp>
        <p:nvSpPr>
          <p:cNvPr id="47" name="TextBox 46"/>
          <p:cNvSpPr txBox="1"/>
          <p:nvPr/>
        </p:nvSpPr>
        <p:spPr>
          <a:xfrm>
            <a:off x="9945624" y="32735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48" name="Rectangle 4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 + (−12) − (−5)</a:t>
            </a:r>
          </a:p>
        </p:txBody>
      </p:sp>
      <p:sp>
        <p:nvSpPr>
          <p:cNvPr id="50" name="TextBox 49"/>
          <p:cNvSpPr txBox="1"/>
          <p:nvPr/>
        </p:nvSpPr>
        <p:spPr>
          <a:xfrm>
            <a:off x="9945624"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8 + (−12) − (−5)</a:t>
            </a:r>
          </a:p>
        </p:txBody>
      </p:sp>
      <p:sp>
        <p:nvSpPr>
          <p:cNvPr id="51" name="TextBox 50"/>
          <p:cNvSpPr txBox="1"/>
          <p:nvPr/>
        </p:nvSpPr>
        <p:spPr>
          <a:xfrm>
            <a:off x="9945624"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8 − 12 − 5</a:t>
            </a:r>
          </a:p>
        </p:txBody>
      </p:sp>
      <p:sp>
        <p:nvSpPr>
          <p:cNvPr id="52" name="TextBox 51"/>
          <p:cNvSpPr txBox="1"/>
          <p:nvPr/>
        </p:nvSpPr>
        <p:spPr>
          <a:xfrm>
            <a:off x="9945624"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−4 − 5</a:t>
            </a:r>
          </a:p>
        </p:txBody>
      </p:sp>
      <p:sp>
        <p:nvSpPr>
          <p:cNvPr id="53" name="TextBox 52"/>
          <p:cNvSpPr txBox="1"/>
          <p:nvPr/>
        </p:nvSpPr>
        <p:spPr>
          <a:xfrm>
            <a:off x="9945624" y="527608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54" name="Rectangle 53"/>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−9 − 6 + 18</a:t>
            </a:r>
          </a:p>
        </p:txBody>
      </p:sp>
      <p:sp>
        <p:nvSpPr>
          <p:cNvPr id="56" name="TextBox 55"/>
          <p:cNvSpPr txBox="1"/>
          <p:nvPr/>
        </p:nvSpPr>
        <p:spPr>
          <a:xfrm>
            <a:off x="9945624"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−9 − 6 + 18</a:t>
            </a:r>
          </a:p>
        </p:txBody>
      </p:sp>
      <p:sp>
        <p:nvSpPr>
          <p:cNvPr id="57" name="TextBox 56"/>
          <p:cNvSpPr txBox="1"/>
          <p:nvPr/>
        </p:nvSpPr>
        <p:spPr>
          <a:xfrm>
            <a:off x="9945624"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+ 18</a:t>
            </a:r>
          </a:p>
        </p:txBody>
      </p:sp>
      <p:sp>
        <p:nvSpPr>
          <p:cNvPr id="58" name="TextBox 57"/>
          <p:cNvSpPr txBox="1"/>
          <p:nvPr/>
        </p:nvSpPr>
        <p:spPr>
          <a:xfrm>
            <a:off x="9945624"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−3 + 8</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5 −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+ 7 − (−3)</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2 − 7</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7 + (−9)</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+ 4</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−4 + (−6)</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(−3) + 10</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−2 − 5</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(−3)</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− 13</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+ 9</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−5 − (−5)</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(−4) + 1</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4 − 10</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0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3 + (−8) − (−5)</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−4 − 6</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(−4)</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−6 + 9 + (−4)</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+ 11</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(−7)</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(−6) + (−10)</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6 − 15</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0 − (−9)</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7 − 10 −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+ 10</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(−8)</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+ 3</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−3 − (−8)</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+ 5 −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 + 3</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−8 + 12</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10 − 14 + (−2)</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−5 − 4</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8 − (−5)</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(−3)</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−10 + 6</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(−4)</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−2 − (−8)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6 + (−11)</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(−6) − (−4)</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7 − 16</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−4 − (−10)</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(−3)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−11 + 8 − 2</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0 − (−6)</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 + 8</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11 − 18</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(−8)</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(−5) + (−12)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−6 − 8</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(−13)</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(−9) + (−3)</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(−12)</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5 − 13 − (−2)</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−15 + 15</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12 − (−3)</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(−11) − 4</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8 − 13</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(−9)</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+ 6 − (−7)</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Solve all four.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M10-IA</a:t>
            </a:r>
          </a:p>
        </p:txBody>
      </p:sp>
      <p:sp>
        <p:nvSpPr>
          <p:cNvPr id="7" name="Rectangle 6"/>
          <p:cNvSpPr/>
          <p:nvPr/>
        </p:nvSpPr>
        <p:spPr>
          <a:xfrm>
            <a:off x="384048" y="149961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73936"/>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1.  x + 6 = 23</a:t>
            </a:r>
          </a:p>
        </p:txBody>
      </p:sp>
      <p:sp>
        <p:nvSpPr>
          <p:cNvPr id="9" name="Rectangle 8"/>
          <p:cNvSpPr/>
          <p:nvPr/>
        </p:nvSpPr>
        <p:spPr>
          <a:xfrm>
            <a:off x="7370064" y="149961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52944" y="1773936"/>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2.  5x = 35</a:t>
            </a:r>
          </a:p>
        </p:txBody>
      </p:sp>
      <p:sp>
        <p:nvSpPr>
          <p:cNvPr id="11" name="Rectangle 10"/>
          <p:cNvSpPr/>
          <p:nvPr/>
        </p:nvSpPr>
        <p:spPr>
          <a:xfrm>
            <a:off x="384048" y="451713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4791455"/>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3.  3x − 4 = 23</a:t>
            </a:r>
          </a:p>
        </p:txBody>
      </p:sp>
      <p:sp>
        <p:nvSpPr>
          <p:cNvPr id="13" name="Rectangle 12"/>
          <p:cNvSpPr/>
          <p:nvPr/>
        </p:nvSpPr>
        <p:spPr>
          <a:xfrm>
            <a:off x="7370064" y="451713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52944" y="4791455"/>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4.  2(x + 3) = x + 14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Technique recap • Simplify first, then keep both sides equal.</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M10-RECAP</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27632"/>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 y="1773936"/>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Keep the balance</a:t>
            </a:r>
          </a:p>
        </p:txBody>
      </p:sp>
      <p:cxnSp>
        <p:nvCxnSpPr>
          <p:cNvPr id="15" name="Connector 14"/>
          <p:cNvCxnSpPr/>
          <p:nvPr/>
        </p:nvCxnSpPr>
        <p:spPr>
          <a:xfrm>
            <a:off x="2633472" y="2377440"/>
            <a:ext cx="0" cy="111556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3776" y="23591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 + 7</a:t>
            </a:r>
          </a:p>
        </p:txBody>
      </p:sp>
      <p:sp>
        <p:nvSpPr>
          <p:cNvPr id="17" name="TextBox 16"/>
          <p:cNvSpPr txBox="1"/>
          <p:nvPr/>
        </p:nvSpPr>
        <p:spPr>
          <a:xfrm>
            <a:off x="2807208" y="23591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19</a:t>
            </a:r>
          </a:p>
        </p:txBody>
      </p:sp>
      <p:sp>
        <p:nvSpPr>
          <p:cNvPr id="18" name="Rectangle 17"/>
          <p:cNvSpPr/>
          <p:nvPr/>
        </p:nvSpPr>
        <p:spPr>
          <a:xfrm>
            <a:off x="2523744" y="23591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23744" y="23591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20" name="TextBox 19"/>
          <p:cNvSpPr txBox="1"/>
          <p:nvPr/>
        </p:nvSpPr>
        <p:spPr>
          <a:xfrm>
            <a:off x="493776" y="272491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− 7</a:t>
            </a:r>
          </a:p>
        </p:txBody>
      </p:sp>
      <p:sp>
        <p:nvSpPr>
          <p:cNvPr id="21" name="TextBox 20"/>
          <p:cNvSpPr txBox="1"/>
          <p:nvPr/>
        </p:nvSpPr>
        <p:spPr>
          <a:xfrm>
            <a:off x="2807208" y="272491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− 7</a:t>
            </a:r>
          </a:p>
        </p:txBody>
      </p:sp>
      <p:sp>
        <p:nvSpPr>
          <p:cNvPr id="22" name="TextBox 21"/>
          <p:cNvSpPr txBox="1"/>
          <p:nvPr/>
        </p:nvSpPr>
        <p:spPr>
          <a:xfrm>
            <a:off x="493776" y="309067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a:t>
            </a:r>
          </a:p>
        </p:txBody>
      </p:sp>
      <p:sp>
        <p:nvSpPr>
          <p:cNvPr id="23" name="TextBox 22"/>
          <p:cNvSpPr txBox="1"/>
          <p:nvPr/>
        </p:nvSpPr>
        <p:spPr>
          <a:xfrm>
            <a:off x="2807208" y="309067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12</a:t>
            </a:r>
          </a:p>
        </p:txBody>
      </p:sp>
      <p:sp>
        <p:nvSpPr>
          <p:cNvPr id="24" name="Rectangle 23"/>
          <p:cNvSpPr/>
          <p:nvPr/>
        </p:nvSpPr>
        <p:spPr>
          <a:xfrm>
            <a:off x="2523744" y="30906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23744" y="309067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26" name="TextBox 25"/>
          <p:cNvSpPr txBox="1"/>
          <p:nvPr/>
        </p:nvSpPr>
        <p:spPr>
          <a:xfrm>
            <a:off x="457200" y="4681728"/>
            <a:ext cx="4352544" cy="277063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Do the same operation to both whole sides.</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Undo addition/subtraction before a remaining multiplication or division.</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A negative divided by a positive is negative: −12 ÷ 3 = −4.</a:t>
            </a:r>
          </a:p>
        </p:txBody>
      </p:sp>
      <p:sp>
        <p:nvSpPr>
          <p:cNvPr id="27" name="Rectangle 26"/>
          <p:cNvSpPr/>
          <p:nvPr/>
        </p:nvSpPr>
        <p:spPr>
          <a:xfrm>
            <a:off x="4983480" y="1627632"/>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93208" y="1773936"/>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Simplify or factorise</a:t>
            </a:r>
          </a:p>
        </p:txBody>
      </p:sp>
      <p:cxnSp>
        <p:nvCxnSpPr>
          <p:cNvPr id="29" name="Connector 28"/>
          <p:cNvCxnSpPr/>
          <p:nvPr/>
        </p:nvCxnSpPr>
        <p:spPr>
          <a:xfrm>
            <a:off x="7296912" y="2377440"/>
            <a:ext cx="0" cy="221284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157216" y="23591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6x + 12</a:t>
            </a:r>
          </a:p>
        </p:txBody>
      </p:sp>
      <p:sp>
        <p:nvSpPr>
          <p:cNvPr id="31" name="TextBox 30"/>
          <p:cNvSpPr txBox="1"/>
          <p:nvPr/>
        </p:nvSpPr>
        <p:spPr>
          <a:xfrm>
            <a:off x="7470648" y="23591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30</a:t>
            </a:r>
          </a:p>
        </p:txBody>
      </p:sp>
      <p:sp>
        <p:nvSpPr>
          <p:cNvPr id="32" name="Rectangle 31"/>
          <p:cNvSpPr/>
          <p:nvPr/>
        </p:nvSpPr>
        <p:spPr>
          <a:xfrm>
            <a:off x="7187184" y="23591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87184" y="23591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34" name="TextBox 33"/>
          <p:cNvSpPr txBox="1"/>
          <p:nvPr/>
        </p:nvSpPr>
        <p:spPr>
          <a:xfrm>
            <a:off x="5157216" y="272491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6(x + 2)</a:t>
            </a:r>
          </a:p>
        </p:txBody>
      </p:sp>
      <p:sp>
        <p:nvSpPr>
          <p:cNvPr id="35" name="TextBox 34"/>
          <p:cNvSpPr txBox="1"/>
          <p:nvPr/>
        </p:nvSpPr>
        <p:spPr>
          <a:xfrm>
            <a:off x="7470648" y="272491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30</a:t>
            </a:r>
          </a:p>
        </p:txBody>
      </p:sp>
      <p:sp>
        <p:nvSpPr>
          <p:cNvPr id="36" name="Rectangle 35"/>
          <p:cNvSpPr/>
          <p:nvPr/>
        </p:nvSpPr>
        <p:spPr>
          <a:xfrm>
            <a:off x="7187184" y="272491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87184" y="272491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38" name="TextBox 37"/>
          <p:cNvSpPr txBox="1"/>
          <p:nvPr/>
        </p:nvSpPr>
        <p:spPr>
          <a:xfrm>
            <a:off x="5157216" y="309067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6</a:t>
            </a:r>
          </a:p>
        </p:txBody>
      </p:sp>
      <p:sp>
        <p:nvSpPr>
          <p:cNvPr id="39" name="TextBox 38"/>
          <p:cNvSpPr txBox="1"/>
          <p:nvPr/>
        </p:nvSpPr>
        <p:spPr>
          <a:xfrm>
            <a:off x="7470648" y="309067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6</a:t>
            </a:r>
          </a:p>
        </p:txBody>
      </p:sp>
      <p:sp>
        <p:nvSpPr>
          <p:cNvPr id="40" name="TextBox 39"/>
          <p:cNvSpPr txBox="1"/>
          <p:nvPr/>
        </p:nvSpPr>
        <p:spPr>
          <a:xfrm>
            <a:off x="5157216" y="345643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 + 2</a:t>
            </a:r>
          </a:p>
        </p:txBody>
      </p:sp>
      <p:sp>
        <p:nvSpPr>
          <p:cNvPr id="41" name="TextBox 40"/>
          <p:cNvSpPr txBox="1"/>
          <p:nvPr/>
        </p:nvSpPr>
        <p:spPr>
          <a:xfrm>
            <a:off x="7470648" y="345643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5</a:t>
            </a:r>
          </a:p>
        </p:txBody>
      </p:sp>
      <p:sp>
        <p:nvSpPr>
          <p:cNvPr id="42" name="Rectangle 41"/>
          <p:cNvSpPr/>
          <p:nvPr/>
        </p:nvSpPr>
        <p:spPr>
          <a:xfrm>
            <a:off x="7187184" y="345643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87184" y="345643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44" name="TextBox 43"/>
          <p:cNvSpPr txBox="1"/>
          <p:nvPr/>
        </p:nvSpPr>
        <p:spPr>
          <a:xfrm>
            <a:off x="5157216" y="3822191"/>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− 2</a:t>
            </a:r>
          </a:p>
        </p:txBody>
      </p:sp>
      <p:sp>
        <p:nvSpPr>
          <p:cNvPr id="45" name="TextBox 44"/>
          <p:cNvSpPr txBox="1"/>
          <p:nvPr/>
        </p:nvSpPr>
        <p:spPr>
          <a:xfrm>
            <a:off x="7470648" y="3822191"/>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− 2</a:t>
            </a:r>
          </a:p>
        </p:txBody>
      </p:sp>
      <p:sp>
        <p:nvSpPr>
          <p:cNvPr id="46" name="TextBox 45"/>
          <p:cNvSpPr txBox="1"/>
          <p:nvPr/>
        </p:nvSpPr>
        <p:spPr>
          <a:xfrm>
            <a:off x="5157216" y="41879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a:t>
            </a:r>
          </a:p>
        </p:txBody>
      </p:sp>
      <p:sp>
        <p:nvSpPr>
          <p:cNvPr id="47" name="TextBox 46"/>
          <p:cNvSpPr txBox="1"/>
          <p:nvPr/>
        </p:nvSpPr>
        <p:spPr>
          <a:xfrm>
            <a:off x="7470648" y="41879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3</a:t>
            </a:r>
          </a:p>
        </p:txBody>
      </p:sp>
      <p:sp>
        <p:nvSpPr>
          <p:cNvPr id="48" name="Rectangle 47"/>
          <p:cNvSpPr/>
          <p:nvPr/>
        </p:nvSpPr>
        <p:spPr>
          <a:xfrm>
            <a:off x="7187184" y="41879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187184" y="41879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50" name="TextBox 49"/>
          <p:cNvSpPr txBox="1"/>
          <p:nvPr/>
        </p:nvSpPr>
        <p:spPr>
          <a:xfrm>
            <a:off x="5120640" y="4681728"/>
            <a:ext cx="4352544" cy="277063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Collect like terms: 2x + 3x = 5x.</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A common factor belongs to every term: 6x + 12 = 6(x + 2).</a:t>
            </a:r>
          </a:p>
        </p:txBody>
      </p:sp>
      <p:sp>
        <p:nvSpPr>
          <p:cNvPr id="51" name="Rectangle 50"/>
          <p:cNvSpPr/>
          <p:nvPr/>
        </p:nvSpPr>
        <p:spPr>
          <a:xfrm>
            <a:off x="9646920" y="1627632"/>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56648" y="1773936"/>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Choose a short first step</a:t>
            </a:r>
          </a:p>
        </p:txBody>
      </p:sp>
      <p:cxnSp>
        <p:nvCxnSpPr>
          <p:cNvPr id="53" name="Connector 52"/>
          <p:cNvCxnSpPr/>
          <p:nvPr/>
        </p:nvCxnSpPr>
        <p:spPr>
          <a:xfrm>
            <a:off x="11960352" y="2377440"/>
            <a:ext cx="0" cy="184708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9820656" y="23591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3(x + 4)</a:t>
            </a:r>
          </a:p>
        </p:txBody>
      </p:sp>
      <p:sp>
        <p:nvSpPr>
          <p:cNvPr id="55" name="TextBox 54"/>
          <p:cNvSpPr txBox="1"/>
          <p:nvPr/>
        </p:nvSpPr>
        <p:spPr>
          <a:xfrm>
            <a:off x="12134088" y="23591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27</a:t>
            </a:r>
          </a:p>
        </p:txBody>
      </p:sp>
      <p:sp>
        <p:nvSpPr>
          <p:cNvPr id="56" name="Rectangle 55"/>
          <p:cNvSpPr/>
          <p:nvPr/>
        </p:nvSpPr>
        <p:spPr>
          <a:xfrm>
            <a:off x="11850624" y="23591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850624" y="23591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58" name="TextBox 57"/>
          <p:cNvSpPr txBox="1"/>
          <p:nvPr/>
        </p:nvSpPr>
        <p:spPr>
          <a:xfrm>
            <a:off x="9820656" y="272491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3</a:t>
            </a:r>
          </a:p>
        </p:txBody>
      </p:sp>
      <p:sp>
        <p:nvSpPr>
          <p:cNvPr id="59" name="TextBox 58"/>
          <p:cNvSpPr txBox="1"/>
          <p:nvPr/>
        </p:nvSpPr>
        <p:spPr>
          <a:xfrm>
            <a:off x="12134088" y="272491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3</a:t>
            </a:r>
          </a:p>
        </p:txBody>
      </p:sp>
      <p:sp>
        <p:nvSpPr>
          <p:cNvPr id="60" name="TextBox 59"/>
          <p:cNvSpPr txBox="1"/>
          <p:nvPr/>
        </p:nvSpPr>
        <p:spPr>
          <a:xfrm>
            <a:off x="9820656" y="309067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 + 4</a:t>
            </a:r>
          </a:p>
        </p:txBody>
      </p:sp>
      <p:sp>
        <p:nvSpPr>
          <p:cNvPr id="61" name="TextBox 60"/>
          <p:cNvSpPr txBox="1"/>
          <p:nvPr/>
        </p:nvSpPr>
        <p:spPr>
          <a:xfrm>
            <a:off x="12134088" y="309067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9</a:t>
            </a:r>
          </a:p>
        </p:txBody>
      </p:sp>
      <p:sp>
        <p:nvSpPr>
          <p:cNvPr id="62" name="Rectangle 61"/>
          <p:cNvSpPr/>
          <p:nvPr/>
        </p:nvSpPr>
        <p:spPr>
          <a:xfrm>
            <a:off x="11850624" y="30906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850624" y="309067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64" name="TextBox 63"/>
          <p:cNvSpPr txBox="1"/>
          <p:nvPr/>
        </p:nvSpPr>
        <p:spPr>
          <a:xfrm>
            <a:off x="9820656" y="345643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− 4</a:t>
            </a:r>
          </a:p>
        </p:txBody>
      </p:sp>
      <p:sp>
        <p:nvSpPr>
          <p:cNvPr id="65" name="TextBox 64"/>
          <p:cNvSpPr txBox="1"/>
          <p:nvPr/>
        </p:nvSpPr>
        <p:spPr>
          <a:xfrm>
            <a:off x="12134088" y="345643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− 4</a:t>
            </a:r>
          </a:p>
        </p:txBody>
      </p:sp>
      <p:sp>
        <p:nvSpPr>
          <p:cNvPr id="66" name="TextBox 65"/>
          <p:cNvSpPr txBox="1"/>
          <p:nvPr/>
        </p:nvSpPr>
        <p:spPr>
          <a:xfrm>
            <a:off x="9820656" y="3822191"/>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a:t>
            </a:r>
          </a:p>
        </p:txBody>
      </p:sp>
      <p:sp>
        <p:nvSpPr>
          <p:cNvPr id="67" name="TextBox 66"/>
          <p:cNvSpPr txBox="1"/>
          <p:nvPr/>
        </p:nvSpPr>
        <p:spPr>
          <a:xfrm>
            <a:off x="12134088" y="3822191"/>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5</a:t>
            </a:r>
          </a:p>
        </p:txBody>
      </p:sp>
      <p:sp>
        <p:nvSpPr>
          <p:cNvPr id="68" name="Rectangle 67"/>
          <p:cNvSpPr/>
          <p:nvPr/>
        </p:nvSpPr>
        <p:spPr>
          <a:xfrm>
            <a:off x="11850624" y="3822191"/>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850624" y="3822191"/>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70" name="TextBox 69"/>
          <p:cNvSpPr txBox="1"/>
          <p:nvPr/>
        </p:nvSpPr>
        <p:spPr>
          <a:xfrm>
            <a:off x="9784080" y="4681728"/>
            <a:ext cx="4352544" cy="277063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Here, divide by 3 before expanding.</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With x on both sides, subtract the smaller x-term first when convenient.</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If expanding is needed, multiply every bracket term. Check in the original equation.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the working down each side of the line.</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M10-S01</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09344"/>
            <a:ext cx="4631436" cy="6035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 y="1773936"/>
            <a:ext cx="4389120" cy="457200"/>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x − 7 = 5</a:t>
            </a:r>
          </a:p>
        </p:txBody>
      </p:sp>
      <p:cxnSp>
        <p:nvCxnSpPr>
          <p:cNvPr id="15" name="Connector 14"/>
          <p:cNvCxnSpPr/>
          <p:nvPr/>
        </p:nvCxnSpPr>
        <p:spPr>
          <a:xfrm>
            <a:off x="2624328" y="2487168"/>
            <a:ext cx="0" cy="1225296"/>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66344" y="246888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 − 7</a:t>
            </a:r>
          </a:p>
        </p:txBody>
      </p:sp>
      <p:sp>
        <p:nvSpPr>
          <p:cNvPr id="17" name="TextBox 16"/>
          <p:cNvSpPr txBox="1"/>
          <p:nvPr/>
        </p:nvSpPr>
        <p:spPr>
          <a:xfrm>
            <a:off x="2798064" y="246888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5</a:t>
            </a:r>
          </a:p>
        </p:txBody>
      </p:sp>
      <p:sp>
        <p:nvSpPr>
          <p:cNvPr id="18" name="Rectangle 17"/>
          <p:cNvSpPr/>
          <p:nvPr/>
        </p:nvSpPr>
        <p:spPr>
          <a:xfrm>
            <a:off x="2514600" y="246888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246888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20" name="TextBox 19"/>
          <p:cNvSpPr txBox="1"/>
          <p:nvPr/>
        </p:nvSpPr>
        <p:spPr>
          <a:xfrm>
            <a:off x="466344" y="2871216"/>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+ 7</a:t>
            </a:r>
          </a:p>
        </p:txBody>
      </p:sp>
      <p:sp>
        <p:nvSpPr>
          <p:cNvPr id="21" name="TextBox 20"/>
          <p:cNvSpPr txBox="1"/>
          <p:nvPr/>
        </p:nvSpPr>
        <p:spPr>
          <a:xfrm>
            <a:off x="2798064" y="2871216"/>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+ 7</a:t>
            </a:r>
          </a:p>
        </p:txBody>
      </p:sp>
      <p:sp>
        <p:nvSpPr>
          <p:cNvPr id="22" name="TextBox 21"/>
          <p:cNvSpPr txBox="1"/>
          <p:nvPr/>
        </p:nvSpPr>
        <p:spPr>
          <a:xfrm>
            <a:off x="466344" y="3273552"/>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a:t>
            </a:r>
          </a:p>
        </p:txBody>
      </p:sp>
      <p:sp>
        <p:nvSpPr>
          <p:cNvPr id="23" name="TextBox 22"/>
          <p:cNvSpPr txBox="1"/>
          <p:nvPr/>
        </p:nvSpPr>
        <p:spPr>
          <a:xfrm>
            <a:off x="2798064" y="3273552"/>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12</a:t>
            </a:r>
          </a:p>
        </p:txBody>
      </p:sp>
      <p:sp>
        <p:nvSpPr>
          <p:cNvPr id="24" name="Rectangle 23"/>
          <p:cNvSpPr/>
          <p:nvPr/>
        </p:nvSpPr>
        <p:spPr>
          <a:xfrm>
            <a:off x="2514600" y="3273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14600" y="3273552"/>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26" name="TextBox 25"/>
          <p:cNvSpPr txBox="1"/>
          <p:nvPr/>
        </p:nvSpPr>
        <p:spPr>
          <a:xfrm>
            <a:off x="429768" y="6656832"/>
            <a:ext cx="4389120" cy="868680"/>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At x = 12, left side = 5 and right side = 5.</a:t>
            </a:r>
          </a:p>
        </p:txBody>
      </p:sp>
      <p:sp>
        <p:nvSpPr>
          <p:cNvPr id="27" name="Rectangle 26"/>
          <p:cNvSpPr/>
          <p:nvPr/>
        </p:nvSpPr>
        <p:spPr>
          <a:xfrm>
            <a:off x="4983480" y="1609344"/>
            <a:ext cx="4631436" cy="6035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93208" y="1773936"/>
            <a:ext cx="4389120" cy="457200"/>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4x + 3 = 31</a:t>
            </a:r>
          </a:p>
        </p:txBody>
      </p:sp>
      <p:cxnSp>
        <p:nvCxnSpPr>
          <p:cNvPr id="29" name="Connector 28"/>
          <p:cNvCxnSpPr/>
          <p:nvPr/>
        </p:nvCxnSpPr>
        <p:spPr>
          <a:xfrm>
            <a:off x="7287768" y="2487168"/>
            <a:ext cx="0" cy="202996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129784" y="246888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4x + 3</a:t>
            </a:r>
          </a:p>
        </p:txBody>
      </p:sp>
      <p:sp>
        <p:nvSpPr>
          <p:cNvPr id="31" name="TextBox 30"/>
          <p:cNvSpPr txBox="1"/>
          <p:nvPr/>
        </p:nvSpPr>
        <p:spPr>
          <a:xfrm>
            <a:off x="7461504" y="246888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31</a:t>
            </a:r>
          </a:p>
        </p:txBody>
      </p:sp>
      <p:sp>
        <p:nvSpPr>
          <p:cNvPr id="32" name="Rectangle 31"/>
          <p:cNvSpPr/>
          <p:nvPr/>
        </p:nvSpPr>
        <p:spPr>
          <a:xfrm>
            <a:off x="7178040" y="246888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78040" y="246888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34" name="TextBox 33"/>
          <p:cNvSpPr txBox="1"/>
          <p:nvPr/>
        </p:nvSpPr>
        <p:spPr>
          <a:xfrm>
            <a:off x="5129784" y="2871216"/>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− 3</a:t>
            </a:r>
          </a:p>
        </p:txBody>
      </p:sp>
      <p:sp>
        <p:nvSpPr>
          <p:cNvPr id="35" name="TextBox 34"/>
          <p:cNvSpPr txBox="1"/>
          <p:nvPr/>
        </p:nvSpPr>
        <p:spPr>
          <a:xfrm>
            <a:off x="7461504" y="2871216"/>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− 3</a:t>
            </a:r>
          </a:p>
        </p:txBody>
      </p:sp>
      <p:sp>
        <p:nvSpPr>
          <p:cNvPr id="36" name="TextBox 35"/>
          <p:cNvSpPr txBox="1"/>
          <p:nvPr/>
        </p:nvSpPr>
        <p:spPr>
          <a:xfrm>
            <a:off x="5129784" y="3273552"/>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4x</a:t>
            </a:r>
          </a:p>
        </p:txBody>
      </p:sp>
      <p:sp>
        <p:nvSpPr>
          <p:cNvPr id="37" name="TextBox 36"/>
          <p:cNvSpPr txBox="1"/>
          <p:nvPr/>
        </p:nvSpPr>
        <p:spPr>
          <a:xfrm>
            <a:off x="7461504" y="3273552"/>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28</a:t>
            </a:r>
          </a:p>
        </p:txBody>
      </p:sp>
      <p:sp>
        <p:nvSpPr>
          <p:cNvPr id="38" name="Rectangle 37"/>
          <p:cNvSpPr/>
          <p:nvPr/>
        </p:nvSpPr>
        <p:spPr>
          <a:xfrm>
            <a:off x="7178040" y="3273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78040" y="3273552"/>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40" name="TextBox 39"/>
          <p:cNvSpPr txBox="1"/>
          <p:nvPr/>
        </p:nvSpPr>
        <p:spPr>
          <a:xfrm>
            <a:off x="5129784" y="3675888"/>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4</a:t>
            </a:r>
          </a:p>
        </p:txBody>
      </p:sp>
      <p:sp>
        <p:nvSpPr>
          <p:cNvPr id="41" name="TextBox 40"/>
          <p:cNvSpPr txBox="1"/>
          <p:nvPr/>
        </p:nvSpPr>
        <p:spPr>
          <a:xfrm>
            <a:off x="7461504" y="3675888"/>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4</a:t>
            </a:r>
          </a:p>
        </p:txBody>
      </p:sp>
      <p:sp>
        <p:nvSpPr>
          <p:cNvPr id="42" name="TextBox 41"/>
          <p:cNvSpPr txBox="1"/>
          <p:nvPr/>
        </p:nvSpPr>
        <p:spPr>
          <a:xfrm>
            <a:off x="5129784" y="4078224"/>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a:t>
            </a:r>
          </a:p>
        </p:txBody>
      </p:sp>
      <p:sp>
        <p:nvSpPr>
          <p:cNvPr id="43" name="TextBox 42"/>
          <p:cNvSpPr txBox="1"/>
          <p:nvPr/>
        </p:nvSpPr>
        <p:spPr>
          <a:xfrm>
            <a:off x="7461504" y="4078224"/>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7</a:t>
            </a:r>
          </a:p>
        </p:txBody>
      </p:sp>
      <p:sp>
        <p:nvSpPr>
          <p:cNvPr id="44" name="Rectangle 43"/>
          <p:cNvSpPr/>
          <p:nvPr/>
        </p:nvSpPr>
        <p:spPr>
          <a:xfrm>
            <a:off x="7178040" y="4078224"/>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178040" y="4078224"/>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46" name="TextBox 45"/>
          <p:cNvSpPr txBox="1"/>
          <p:nvPr/>
        </p:nvSpPr>
        <p:spPr>
          <a:xfrm>
            <a:off x="5093208" y="6656832"/>
            <a:ext cx="4389120" cy="868680"/>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At x = 7, left side = 31 and right side = 31.</a:t>
            </a:r>
          </a:p>
        </p:txBody>
      </p:sp>
      <p:sp>
        <p:nvSpPr>
          <p:cNvPr id="47" name="Rectangle 46"/>
          <p:cNvSpPr/>
          <p:nvPr/>
        </p:nvSpPr>
        <p:spPr>
          <a:xfrm>
            <a:off x="9646920" y="1609344"/>
            <a:ext cx="4631436" cy="6035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56648" y="1773936"/>
            <a:ext cx="4389120" cy="457200"/>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3(x + 2) = x + 24</a:t>
            </a:r>
          </a:p>
        </p:txBody>
      </p:sp>
      <p:cxnSp>
        <p:nvCxnSpPr>
          <p:cNvPr id="49" name="Connector 48"/>
          <p:cNvCxnSpPr/>
          <p:nvPr/>
        </p:nvCxnSpPr>
        <p:spPr>
          <a:xfrm>
            <a:off x="11951208" y="2487168"/>
            <a:ext cx="0" cy="3236976"/>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793224" y="246888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3(x + 2)</a:t>
            </a:r>
          </a:p>
        </p:txBody>
      </p:sp>
      <p:sp>
        <p:nvSpPr>
          <p:cNvPr id="51" name="TextBox 50"/>
          <p:cNvSpPr txBox="1"/>
          <p:nvPr/>
        </p:nvSpPr>
        <p:spPr>
          <a:xfrm>
            <a:off x="12124944" y="246888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x + 24</a:t>
            </a:r>
          </a:p>
        </p:txBody>
      </p:sp>
      <p:sp>
        <p:nvSpPr>
          <p:cNvPr id="52" name="Rectangle 51"/>
          <p:cNvSpPr/>
          <p:nvPr/>
        </p:nvSpPr>
        <p:spPr>
          <a:xfrm>
            <a:off x="11841480" y="246888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841480" y="246888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54" name="TextBox 53"/>
          <p:cNvSpPr txBox="1"/>
          <p:nvPr/>
        </p:nvSpPr>
        <p:spPr>
          <a:xfrm>
            <a:off x="9793224" y="2871216"/>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3x + 6</a:t>
            </a:r>
          </a:p>
        </p:txBody>
      </p:sp>
      <p:sp>
        <p:nvSpPr>
          <p:cNvPr id="55" name="TextBox 54"/>
          <p:cNvSpPr txBox="1"/>
          <p:nvPr/>
        </p:nvSpPr>
        <p:spPr>
          <a:xfrm>
            <a:off x="12124944" y="2871216"/>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x + 24</a:t>
            </a:r>
          </a:p>
        </p:txBody>
      </p:sp>
      <p:sp>
        <p:nvSpPr>
          <p:cNvPr id="56" name="Rectangle 55"/>
          <p:cNvSpPr/>
          <p:nvPr/>
        </p:nvSpPr>
        <p:spPr>
          <a:xfrm>
            <a:off x="11841480" y="287121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841480" y="2871216"/>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58" name="TextBox 57"/>
          <p:cNvSpPr txBox="1"/>
          <p:nvPr/>
        </p:nvSpPr>
        <p:spPr>
          <a:xfrm>
            <a:off x="9793224" y="3273552"/>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x</a:t>
            </a:r>
          </a:p>
        </p:txBody>
      </p:sp>
      <p:sp>
        <p:nvSpPr>
          <p:cNvPr id="59" name="TextBox 58"/>
          <p:cNvSpPr txBox="1"/>
          <p:nvPr/>
        </p:nvSpPr>
        <p:spPr>
          <a:xfrm>
            <a:off x="12124944" y="3273552"/>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x</a:t>
            </a:r>
          </a:p>
        </p:txBody>
      </p:sp>
      <p:sp>
        <p:nvSpPr>
          <p:cNvPr id="60" name="TextBox 59"/>
          <p:cNvSpPr txBox="1"/>
          <p:nvPr/>
        </p:nvSpPr>
        <p:spPr>
          <a:xfrm>
            <a:off x="9793224" y="3675888"/>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2x + 6</a:t>
            </a:r>
          </a:p>
        </p:txBody>
      </p:sp>
      <p:sp>
        <p:nvSpPr>
          <p:cNvPr id="61" name="TextBox 60"/>
          <p:cNvSpPr txBox="1"/>
          <p:nvPr/>
        </p:nvSpPr>
        <p:spPr>
          <a:xfrm>
            <a:off x="12124944" y="3675888"/>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24</a:t>
            </a:r>
          </a:p>
        </p:txBody>
      </p:sp>
      <p:sp>
        <p:nvSpPr>
          <p:cNvPr id="62" name="Rectangle 61"/>
          <p:cNvSpPr/>
          <p:nvPr/>
        </p:nvSpPr>
        <p:spPr>
          <a:xfrm>
            <a:off x="11841480" y="3675888"/>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841480" y="3675888"/>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64" name="TextBox 63"/>
          <p:cNvSpPr txBox="1"/>
          <p:nvPr/>
        </p:nvSpPr>
        <p:spPr>
          <a:xfrm>
            <a:off x="9793224" y="4078224"/>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− 6</a:t>
            </a:r>
          </a:p>
        </p:txBody>
      </p:sp>
      <p:sp>
        <p:nvSpPr>
          <p:cNvPr id="65" name="TextBox 64"/>
          <p:cNvSpPr txBox="1"/>
          <p:nvPr/>
        </p:nvSpPr>
        <p:spPr>
          <a:xfrm>
            <a:off x="12124944" y="4078224"/>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− 6</a:t>
            </a:r>
          </a:p>
        </p:txBody>
      </p:sp>
      <p:sp>
        <p:nvSpPr>
          <p:cNvPr id="66" name="TextBox 65"/>
          <p:cNvSpPr txBox="1"/>
          <p:nvPr/>
        </p:nvSpPr>
        <p:spPr>
          <a:xfrm>
            <a:off x="9793224" y="448056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2x</a:t>
            </a:r>
          </a:p>
        </p:txBody>
      </p:sp>
      <p:sp>
        <p:nvSpPr>
          <p:cNvPr id="67" name="TextBox 66"/>
          <p:cNvSpPr txBox="1"/>
          <p:nvPr/>
        </p:nvSpPr>
        <p:spPr>
          <a:xfrm>
            <a:off x="12124944" y="448056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18</a:t>
            </a:r>
          </a:p>
        </p:txBody>
      </p:sp>
      <p:sp>
        <p:nvSpPr>
          <p:cNvPr id="68" name="Rectangle 67"/>
          <p:cNvSpPr/>
          <p:nvPr/>
        </p:nvSpPr>
        <p:spPr>
          <a:xfrm>
            <a:off x="11841480" y="448056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841480" y="448056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70" name="TextBox 69"/>
          <p:cNvSpPr txBox="1"/>
          <p:nvPr/>
        </p:nvSpPr>
        <p:spPr>
          <a:xfrm>
            <a:off x="9793224" y="4882896"/>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2</a:t>
            </a:r>
          </a:p>
        </p:txBody>
      </p:sp>
      <p:sp>
        <p:nvSpPr>
          <p:cNvPr id="71" name="TextBox 70"/>
          <p:cNvSpPr txBox="1"/>
          <p:nvPr/>
        </p:nvSpPr>
        <p:spPr>
          <a:xfrm>
            <a:off x="12124944" y="4882896"/>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2</a:t>
            </a:r>
          </a:p>
        </p:txBody>
      </p:sp>
      <p:sp>
        <p:nvSpPr>
          <p:cNvPr id="72" name="TextBox 71"/>
          <p:cNvSpPr txBox="1"/>
          <p:nvPr/>
        </p:nvSpPr>
        <p:spPr>
          <a:xfrm>
            <a:off x="9793224" y="5285232"/>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a:t>
            </a:r>
          </a:p>
        </p:txBody>
      </p:sp>
      <p:sp>
        <p:nvSpPr>
          <p:cNvPr id="73" name="TextBox 72"/>
          <p:cNvSpPr txBox="1"/>
          <p:nvPr/>
        </p:nvSpPr>
        <p:spPr>
          <a:xfrm>
            <a:off x="12124944" y="5285232"/>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9</a:t>
            </a:r>
          </a:p>
        </p:txBody>
      </p:sp>
      <p:sp>
        <p:nvSpPr>
          <p:cNvPr id="74" name="Rectangle 73"/>
          <p:cNvSpPr/>
          <p:nvPr/>
        </p:nvSpPr>
        <p:spPr>
          <a:xfrm>
            <a:off x="11841480" y="528523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1841480" y="5285232"/>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76" name="TextBox 75"/>
          <p:cNvSpPr txBox="1"/>
          <p:nvPr/>
        </p:nvSpPr>
        <p:spPr>
          <a:xfrm>
            <a:off x="9756648" y="6656832"/>
            <a:ext cx="4389120" cy="868680"/>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At x = 9, left side = 33 and right side = 33.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Copy the centre line and show each operation.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1773936" cy="5943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691640"/>
            <a:ext cx="1581912" cy="4114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Equation</a:t>
            </a:r>
          </a:p>
        </p:txBody>
      </p:sp>
      <p:sp>
        <p:nvSpPr>
          <p:cNvPr id="15" name="Rectangle 14"/>
          <p:cNvSpPr/>
          <p:nvPr/>
        </p:nvSpPr>
        <p:spPr>
          <a:xfrm>
            <a:off x="2121408"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12848"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x − 8 = 15</a:t>
            </a:r>
          </a:p>
        </p:txBody>
      </p:sp>
      <p:sp>
        <p:nvSpPr>
          <p:cNvPr id="17" name="Rectangle 16"/>
          <p:cNvSpPr/>
          <p:nvPr/>
        </p:nvSpPr>
        <p:spPr>
          <a:xfrm>
            <a:off x="6184392"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5832"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5x + 7 = 37</a:t>
            </a:r>
          </a:p>
        </p:txBody>
      </p:sp>
      <p:sp>
        <p:nvSpPr>
          <p:cNvPr id="19" name="Rectangle 18"/>
          <p:cNvSpPr/>
          <p:nvPr/>
        </p:nvSpPr>
        <p:spPr>
          <a:xfrm>
            <a:off x="10247376"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8816"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3(x + 4) = x + 20</a:t>
            </a:r>
          </a:p>
        </p:txBody>
      </p:sp>
      <p:sp>
        <p:nvSpPr>
          <p:cNvPr id="21" name="Rectangle 20"/>
          <p:cNvSpPr/>
          <p:nvPr/>
        </p:nvSpPr>
        <p:spPr>
          <a:xfrm>
            <a:off x="320040" y="2176272"/>
            <a:ext cx="1773936"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2336" y="2286000"/>
            <a:ext cx="1581912" cy="77724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Simplify the Equation</a:t>
            </a:r>
          </a:p>
        </p:txBody>
      </p:sp>
      <p:sp>
        <p:nvSpPr>
          <p:cNvPr id="23" name="Rectangle 22"/>
          <p:cNvSpPr/>
          <p:nvPr/>
        </p:nvSpPr>
        <p:spPr>
          <a:xfrm>
            <a:off x="2121408"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12848"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5" name="Rectangle 24"/>
          <p:cNvSpPr/>
          <p:nvPr/>
        </p:nvSpPr>
        <p:spPr>
          <a:xfrm>
            <a:off x="6184392"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75832"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7" name="Rectangle 26"/>
          <p:cNvSpPr/>
          <p:nvPr/>
        </p:nvSpPr>
        <p:spPr>
          <a:xfrm>
            <a:off x="10247376"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8816"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9" name="Rectangle 28"/>
          <p:cNvSpPr/>
          <p:nvPr/>
        </p:nvSpPr>
        <p:spPr>
          <a:xfrm>
            <a:off x="320040" y="3136391"/>
            <a:ext cx="1773936" cy="1874519"/>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2336" y="3246120"/>
            <a:ext cx="1581912" cy="1691639"/>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Use Inverse Operations</a:t>
            </a:r>
          </a:p>
        </p:txBody>
      </p:sp>
      <p:sp>
        <p:nvSpPr>
          <p:cNvPr id="31" name="Rectangle 30"/>
          <p:cNvSpPr/>
          <p:nvPr/>
        </p:nvSpPr>
        <p:spPr>
          <a:xfrm>
            <a:off x="2121408"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12848"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3" name="Connector 32"/>
          <p:cNvCxnSpPr/>
          <p:nvPr/>
        </p:nvCxnSpPr>
        <p:spPr>
          <a:xfrm>
            <a:off x="4152899"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184392"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75832"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6" name="Connector 35"/>
          <p:cNvCxnSpPr/>
          <p:nvPr/>
        </p:nvCxnSpPr>
        <p:spPr>
          <a:xfrm>
            <a:off x="8215883"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10247376"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8816"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9" name="Connector 38"/>
          <p:cNvCxnSpPr/>
          <p:nvPr/>
        </p:nvCxnSpPr>
        <p:spPr>
          <a:xfrm>
            <a:off x="12278868"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320040" y="5010912"/>
            <a:ext cx="1773936" cy="10515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5120640"/>
            <a:ext cx="1581912" cy="8686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Find the Unknown</a:t>
            </a:r>
          </a:p>
        </p:txBody>
      </p:sp>
      <p:sp>
        <p:nvSpPr>
          <p:cNvPr id="42" name="Rectangle 41"/>
          <p:cNvSpPr/>
          <p:nvPr/>
        </p:nvSpPr>
        <p:spPr>
          <a:xfrm>
            <a:off x="2121408"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12848"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4" name="Rectangle 43"/>
          <p:cNvSpPr/>
          <p:nvPr/>
        </p:nvSpPr>
        <p:spPr>
          <a:xfrm>
            <a:off x="6184392"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75832"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6" name="Rectangle 45"/>
          <p:cNvSpPr/>
          <p:nvPr/>
        </p:nvSpPr>
        <p:spPr>
          <a:xfrm>
            <a:off x="10247376"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38816"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8" name="Rectangle 47"/>
          <p:cNvSpPr/>
          <p:nvPr/>
        </p:nvSpPr>
        <p:spPr>
          <a:xfrm>
            <a:off x="320040" y="6062471"/>
            <a:ext cx="1773936" cy="15361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6172199"/>
            <a:ext cx="1581912" cy="135331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Check by Substitution</a:t>
            </a:r>
          </a:p>
        </p:txBody>
      </p:sp>
      <p:sp>
        <p:nvSpPr>
          <p:cNvPr id="50" name="Rectangle 49"/>
          <p:cNvSpPr/>
          <p:nvPr/>
        </p:nvSpPr>
        <p:spPr>
          <a:xfrm>
            <a:off x="2121408"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12848"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2" name="Rectangle 51"/>
          <p:cNvSpPr/>
          <p:nvPr/>
        </p:nvSpPr>
        <p:spPr>
          <a:xfrm>
            <a:off x="6184392"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75832"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4" name="Rectangle 53"/>
          <p:cNvSpPr/>
          <p:nvPr/>
        </p:nvSpPr>
        <p:spPr>
          <a:xfrm>
            <a:off x="10247376"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8816"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6"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Copy the centre line and show each operation.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1773936" cy="5943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691640"/>
            <a:ext cx="1581912" cy="4114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Equation</a:t>
            </a:r>
          </a:p>
        </p:txBody>
      </p:sp>
      <p:sp>
        <p:nvSpPr>
          <p:cNvPr id="15" name="Rectangle 14"/>
          <p:cNvSpPr/>
          <p:nvPr/>
        </p:nvSpPr>
        <p:spPr>
          <a:xfrm>
            <a:off x="2121408"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12848"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6x = -18</a:t>
            </a:r>
          </a:p>
        </p:txBody>
      </p:sp>
      <p:sp>
        <p:nvSpPr>
          <p:cNvPr id="17" name="Rectangle 16"/>
          <p:cNvSpPr/>
          <p:nvPr/>
        </p:nvSpPr>
        <p:spPr>
          <a:xfrm>
            <a:off x="6184392"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5832"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4x − 9 = 23</a:t>
            </a:r>
          </a:p>
        </p:txBody>
      </p:sp>
      <p:sp>
        <p:nvSpPr>
          <p:cNvPr id="19" name="Rectangle 18"/>
          <p:cNvSpPr/>
          <p:nvPr/>
        </p:nvSpPr>
        <p:spPr>
          <a:xfrm>
            <a:off x="10247376"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8816"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5(x − 2) = 2x + 23</a:t>
            </a:r>
          </a:p>
        </p:txBody>
      </p:sp>
      <p:sp>
        <p:nvSpPr>
          <p:cNvPr id="21" name="Rectangle 20"/>
          <p:cNvSpPr/>
          <p:nvPr/>
        </p:nvSpPr>
        <p:spPr>
          <a:xfrm>
            <a:off x="320040" y="2176272"/>
            <a:ext cx="1773936"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2336" y="2286000"/>
            <a:ext cx="1581912" cy="77724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Simplify the Equation</a:t>
            </a:r>
          </a:p>
        </p:txBody>
      </p:sp>
      <p:sp>
        <p:nvSpPr>
          <p:cNvPr id="23" name="Rectangle 22"/>
          <p:cNvSpPr/>
          <p:nvPr/>
        </p:nvSpPr>
        <p:spPr>
          <a:xfrm>
            <a:off x="2121408"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12848"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5" name="Rectangle 24"/>
          <p:cNvSpPr/>
          <p:nvPr/>
        </p:nvSpPr>
        <p:spPr>
          <a:xfrm>
            <a:off x="6184392"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75832"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7" name="Rectangle 26"/>
          <p:cNvSpPr/>
          <p:nvPr/>
        </p:nvSpPr>
        <p:spPr>
          <a:xfrm>
            <a:off x="10247376"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8816"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9" name="Rectangle 28"/>
          <p:cNvSpPr/>
          <p:nvPr/>
        </p:nvSpPr>
        <p:spPr>
          <a:xfrm>
            <a:off x="320040" y="3136391"/>
            <a:ext cx="1773936" cy="1874519"/>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2336" y="3246120"/>
            <a:ext cx="1581912" cy="1691639"/>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Use Inverse Operations</a:t>
            </a:r>
          </a:p>
        </p:txBody>
      </p:sp>
      <p:sp>
        <p:nvSpPr>
          <p:cNvPr id="31" name="Rectangle 30"/>
          <p:cNvSpPr/>
          <p:nvPr/>
        </p:nvSpPr>
        <p:spPr>
          <a:xfrm>
            <a:off x="2121408"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12848"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3" name="Connector 32"/>
          <p:cNvCxnSpPr/>
          <p:nvPr/>
        </p:nvCxnSpPr>
        <p:spPr>
          <a:xfrm>
            <a:off x="4152899"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184392"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75832"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6" name="Connector 35"/>
          <p:cNvCxnSpPr/>
          <p:nvPr/>
        </p:nvCxnSpPr>
        <p:spPr>
          <a:xfrm>
            <a:off x="8215883"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10247376"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8816"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9" name="Connector 38"/>
          <p:cNvCxnSpPr/>
          <p:nvPr/>
        </p:nvCxnSpPr>
        <p:spPr>
          <a:xfrm>
            <a:off x="12278868"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320040" y="5010912"/>
            <a:ext cx="1773936" cy="10515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5120640"/>
            <a:ext cx="1581912" cy="8686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Find the Unknown</a:t>
            </a:r>
          </a:p>
        </p:txBody>
      </p:sp>
      <p:sp>
        <p:nvSpPr>
          <p:cNvPr id="42" name="Rectangle 41"/>
          <p:cNvSpPr/>
          <p:nvPr/>
        </p:nvSpPr>
        <p:spPr>
          <a:xfrm>
            <a:off x="2121408"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12848"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4" name="Rectangle 43"/>
          <p:cNvSpPr/>
          <p:nvPr/>
        </p:nvSpPr>
        <p:spPr>
          <a:xfrm>
            <a:off x="6184392"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75832"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6" name="Rectangle 45"/>
          <p:cNvSpPr/>
          <p:nvPr/>
        </p:nvSpPr>
        <p:spPr>
          <a:xfrm>
            <a:off x="10247376"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38816"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8" name="Rectangle 47"/>
          <p:cNvSpPr/>
          <p:nvPr/>
        </p:nvSpPr>
        <p:spPr>
          <a:xfrm>
            <a:off x="320040" y="6062471"/>
            <a:ext cx="1773936" cy="15361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6172199"/>
            <a:ext cx="1581912" cy="135331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Check by Substitution</a:t>
            </a:r>
          </a:p>
        </p:txBody>
      </p:sp>
      <p:sp>
        <p:nvSpPr>
          <p:cNvPr id="50" name="Rectangle 49"/>
          <p:cNvSpPr/>
          <p:nvPr/>
        </p:nvSpPr>
        <p:spPr>
          <a:xfrm>
            <a:off x="2121408"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12848"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2" name="Rectangle 51"/>
          <p:cNvSpPr/>
          <p:nvPr/>
        </p:nvSpPr>
        <p:spPr>
          <a:xfrm>
            <a:off x="6184392"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75832"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4" name="Rectangle 53"/>
          <p:cNvSpPr/>
          <p:nvPr/>
        </p:nvSpPr>
        <p:spPr>
          <a:xfrm>
            <a:off x="10247376"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8816"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6"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Spot the errors • Find the first wrong step, correct it and finish.</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M10-SE</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682496"/>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x + 8 = 19</a:t>
            </a:r>
          </a:p>
        </p:txBody>
      </p:sp>
      <p:cxnSp>
        <p:nvCxnSpPr>
          <p:cNvPr id="15" name="Connector 14"/>
          <p:cNvCxnSpPr/>
          <p:nvPr/>
        </p:nvCxnSpPr>
        <p:spPr>
          <a:xfrm>
            <a:off x="2624328" y="2148840"/>
            <a:ext cx="0" cy="56692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51560" y="213055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 + 8</a:t>
            </a:r>
          </a:p>
        </p:txBody>
      </p:sp>
      <p:sp>
        <p:nvSpPr>
          <p:cNvPr id="17" name="TextBox 16"/>
          <p:cNvSpPr txBox="1"/>
          <p:nvPr/>
        </p:nvSpPr>
        <p:spPr>
          <a:xfrm>
            <a:off x="2798064" y="213055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19</a:t>
            </a:r>
          </a:p>
        </p:txBody>
      </p:sp>
      <p:sp>
        <p:nvSpPr>
          <p:cNvPr id="18" name="Rectangle 17"/>
          <p:cNvSpPr/>
          <p:nvPr/>
        </p:nvSpPr>
        <p:spPr>
          <a:xfrm>
            <a:off x="2514600" y="2130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213055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20" name="TextBox 19"/>
          <p:cNvSpPr txBox="1"/>
          <p:nvPr/>
        </p:nvSpPr>
        <p:spPr>
          <a:xfrm>
            <a:off x="438912" y="2281428"/>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+ 8</a:t>
            </a:r>
          </a:p>
        </p:txBody>
      </p:sp>
      <p:sp>
        <p:nvSpPr>
          <p:cNvPr id="21" name="TextBox 20"/>
          <p:cNvSpPr txBox="1"/>
          <p:nvPr/>
        </p:nvSpPr>
        <p:spPr>
          <a:xfrm>
            <a:off x="4215384" y="2281428"/>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+ 8</a:t>
            </a:r>
          </a:p>
        </p:txBody>
      </p:sp>
      <p:sp>
        <p:nvSpPr>
          <p:cNvPr id="22" name="TextBox 21"/>
          <p:cNvSpPr txBox="1"/>
          <p:nvPr/>
        </p:nvSpPr>
        <p:spPr>
          <a:xfrm>
            <a:off x="1051560" y="240487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23" name="TextBox 22"/>
          <p:cNvSpPr txBox="1"/>
          <p:nvPr/>
        </p:nvSpPr>
        <p:spPr>
          <a:xfrm>
            <a:off x="2798064" y="240487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27</a:t>
            </a:r>
          </a:p>
        </p:txBody>
      </p:sp>
      <p:sp>
        <p:nvSpPr>
          <p:cNvPr id="24" name="Rectangle 23"/>
          <p:cNvSpPr/>
          <p:nvPr/>
        </p:nvSpPr>
        <p:spPr>
          <a:xfrm>
            <a:off x="2514600" y="24048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14600" y="240487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26" name="Rectangle 25"/>
          <p:cNvSpPr/>
          <p:nvPr/>
        </p:nvSpPr>
        <p:spPr>
          <a:xfrm>
            <a:off x="32004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79" y="3721607"/>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x − 5 = 8</a:t>
            </a:r>
          </a:p>
        </p:txBody>
      </p:sp>
      <p:cxnSp>
        <p:nvCxnSpPr>
          <p:cNvPr id="28" name="Connector 27"/>
          <p:cNvCxnSpPr/>
          <p:nvPr/>
        </p:nvCxnSpPr>
        <p:spPr>
          <a:xfrm>
            <a:off x="2624328" y="4187951"/>
            <a:ext cx="0" cy="56692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051560" y="416966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 − 5</a:t>
            </a:r>
          </a:p>
        </p:txBody>
      </p:sp>
      <p:sp>
        <p:nvSpPr>
          <p:cNvPr id="30" name="TextBox 29"/>
          <p:cNvSpPr txBox="1"/>
          <p:nvPr/>
        </p:nvSpPr>
        <p:spPr>
          <a:xfrm>
            <a:off x="2798064" y="416966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8</a:t>
            </a:r>
          </a:p>
        </p:txBody>
      </p:sp>
      <p:sp>
        <p:nvSpPr>
          <p:cNvPr id="31" name="Rectangle 30"/>
          <p:cNvSpPr/>
          <p:nvPr/>
        </p:nvSpPr>
        <p:spPr>
          <a:xfrm>
            <a:off x="2514600" y="416966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14600" y="416966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33" name="TextBox 32"/>
          <p:cNvSpPr txBox="1"/>
          <p:nvPr/>
        </p:nvSpPr>
        <p:spPr>
          <a:xfrm>
            <a:off x="438912" y="4320540"/>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− 5</a:t>
            </a:r>
          </a:p>
        </p:txBody>
      </p:sp>
      <p:sp>
        <p:nvSpPr>
          <p:cNvPr id="34" name="TextBox 33"/>
          <p:cNvSpPr txBox="1"/>
          <p:nvPr/>
        </p:nvSpPr>
        <p:spPr>
          <a:xfrm>
            <a:off x="4215384" y="4320540"/>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− 5</a:t>
            </a:r>
          </a:p>
        </p:txBody>
      </p:sp>
      <p:sp>
        <p:nvSpPr>
          <p:cNvPr id="35" name="TextBox 34"/>
          <p:cNvSpPr txBox="1"/>
          <p:nvPr/>
        </p:nvSpPr>
        <p:spPr>
          <a:xfrm>
            <a:off x="1051560" y="444398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36" name="TextBox 35"/>
          <p:cNvSpPr txBox="1"/>
          <p:nvPr/>
        </p:nvSpPr>
        <p:spPr>
          <a:xfrm>
            <a:off x="2798064" y="444398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a:t>
            </a:r>
          </a:p>
        </p:txBody>
      </p:sp>
      <p:sp>
        <p:nvSpPr>
          <p:cNvPr id="37" name="Rectangle 36"/>
          <p:cNvSpPr/>
          <p:nvPr/>
        </p:nvSpPr>
        <p:spPr>
          <a:xfrm>
            <a:off x="2514600" y="444398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14600" y="444398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39" name="Rectangle 38"/>
          <p:cNvSpPr/>
          <p:nvPr/>
        </p:nvSpPr>
        <p:spPr>
          <a:xfrm>
            <a:off x="32004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79" y="5760720"/>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6x = 24</a:t>
            </a:r>
          </a:p>
        </p:txBody>
      </p:sp>
      <p:cxnSp>
        <p:nvCxnSpPr>
          <p:cNvPr id="41" name="Connector 40"/>
          <p:cNvCxnSpPr/>
          <p:nvPr/>
        </p:nvCxnSpPr>
        <p:spPr>
          <a:xfrm>
            <a:off x="2624328" y="6227064"/>
            <a:ext cx="0" cy="56692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051560" y="620877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6x</a:t>
            </a:r>
          </a:p>
        </p:txBody>
      </p:sp>
      <p:sp>
        <p:nvSpPr>
          <p:cNvPr id="43" name="TextBox 42"/>
          <p:cNvSpPr txBox="1"/>
          <p:nvPr/>
        </p:nvSpPr>
        <p:spPr>
          <a:xfrm>
            <a:off x="2798064" y="620877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24</a:t>
            </a:r>
          </a:p>
        </p:txBody>
      </p:sp>
      <p:sp>
        <p:nvSpPr>
          <p:cNvPr id="44" name="Rectangle 43"/>
          <p:cNvSpPr/>
          <p:nvPr/>
        </p:nvSpPr>
        <p:spPr>
          <a:xfrm>
            <a:off x="2514600" y="620877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14600" y="620877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46" name="TextBox 45"/>
          <p:cNvSpPr txBox="1"/>
          <p:nvPr/>
        </p:nvSpPr>
        <p:spPr>
          <a:xfrm>
            <a:off x="438912" y="6359652"/>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− 6</a:t>
            </a:r>
          </a:p>
        </p:txBody>
      </p:sp>
      <p:sp>
        <p:nvSpPr>
          <p:cNvPr id="47" name="TextBox 46"/>
          <p:cNvSpPr txBox="1"/>
          <p:nvPr/>
        </p:nvSpPr>
        <p:spPr>
          <a:xfrm>
            <a:off x="4215384" y="6359652"/>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− 6</a:t>
            </a:r>
          </a:p>
        </p:txBody>
      </p:sp>
      <p:sp>
        <p:nvSpPr>
          <p:cNvPr id="48" name="TextBox 47"/>
          <p:cNvSpPr txBox="1"/>
          <p:nvPr/>
        </p:nvSpPr>
        <p:spPr>
          <a:xfrm>
            <a:off x="1051560" y="648309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49" name="TextBox 48"/>
          <p:cNvSpPr txBox="1"/>
          <p:nvPr/>
        </p:nvSpPr>
        <p:spPr>
          <a:xfrm>
            <a:off x="2798064" y="648309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18</a:t>
            </a:r>
          </a:p>
        </p:txBody>
      </p:sp>
      <p:sp>
        <p:nvSpPr>
          <p:cNvPr id="50" name="Rectangle 49"/>
          <p:cNvSpPr/>
          <p:nvPr/>
        </p:nvSpPr>
        <p:spPr>
          <a:xfrm>
            <a:off x="2514600" y="648309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14600" y="648309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52" name="Rectangle 51"/>
          <p:cNvSpPr/>
          <p:nvPr/>
        </p:nvSpPr>
        <p:spPr>
          <a:xfrm>
            <a:off x="498348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74920" y="1682496"/>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3x + 6 = 30</a:t>
            </a:r>
          </a:p>
        </p:txBody>
      </p:sp>
      <p:cxnSp>
        <p:nvCxnSpPr>
          <p:cNvPr id="54" name="Connector 53"/>
          <p:cNvCxnSpPr/>
          <p:nvPr/>
        </p:nvCxnSpPr>
        <p:spPr>
          <a:xfrm>
            <a:off x="7287768" y="2148840"/>
            <a:ext cx="0" cy="84124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715000" y="213055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 + 6</a:t>
            </a:r>
          </a:p>
        </p:txBody>
      </p:sp>
      <p:sp>
        <p:nvSpPr>
          <p:cNvPr id="56" name="TextBox 55"/>
          <p:cNvSpPr txBox="1"/>
          <p:nvPr/>
        </p:nvSpPr>
        <p:spPr>
          <a:xfrm>
            <a:off x="7461504" y="213055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57" name="Rectangle 56"/>
          <p:cNvSpPr/>
          <p:nvPr/>
        </p:nvSpPr>
        <p:spPr>
          <a:xfrm>
            <a:off x="7178040" y="2130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178040" y="213055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59" name="TextBox 58"/>
          <p:cNvSpPr txBox="1"/>
          <p:nvPr/>
        </p:nvSpPr>
        <p:spPr>
          <a:xfrm>
            <a:off x="5102352" y="2281428"/>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− 6</a:t>
            </a:r>
          </a:p>
        </p:txBody>
      </p:sp>
      <p:sp>
        <p:nvSpPr>
          <p:cNvPr id="60" name="TextBox 59"/>
          <p:cNvSpPr txBox="1"/>
          <p:nvPr/>
        </p:nvSpPr>
        <p:spPr>
          <a:xfrm>
            <a:off x="8878824" y="2281428"/>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+ 6</a:t>
            </a:r>
          </a:p>
        </p:txBody>
      </p:sp>
      <p:sp>
        <p:nvSpPr>
          <p:cNvPr id="61" name="TextBox 60"/>
          <p:cNvSpPr txBox="1"/>
          <p:nvPr/>
        </p:nvSpPr>
        <p:spPr>
          <a:xfrm>
            <a:off x="5715000" y="240487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a:t>
            </a:r>
          </a:p>
        </p:txBody>
      </p:sp>
      <p:sp>
        <p:nvSpPr>
          <p:cNvPr id="62" name="TextBox 61"/>
          <p:cNvSpPr txBox="1"/>
          <p:nvPr/>
        </p:nvSpPr>
        <p:spPr>
          <a:xfrm>
            <a:off x="7461504" y="240487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36</a:t>
            </a:r>
          </a:p>
        </p:txBody>
      </p:sp>
      <p:sp>
        <p:nvSpPr>
          <p:cNvPr id="63" name="Rectangle 62"/>
          <p:cNvSpPr/>
          <p:nvPr/>
        </p:nvSpPr>
        <p:spPr>
          <a:xfrm>
            <a:off x="7178040" y="24048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178040" y="240487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65" name="TextBox 64"/>
          <p:cNvSpPr txBox="1"/>
          <p:nvPr/>
        </p:nvSpPr>
        <p:spPr>
          <a:xfrm>
            <a:off x="5102352" y="2555748"/>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3</a:t>
            </a:r>
          </a:p>
        </p:txBody>
      </p:sp>
      <p:sp>
        <p:nvSpPr>
          <p:cNvPr id="66" name="TextBox 65"/>
          <p:cNvSpPr txBox="1"/>
          <p:nvPr/>
        </p:nvSpPr>
        <p:spPr>
          <a:xfrm>
            <a:off x="8878824" y="2555748"/>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3</a:t>
            </a:r>
          </a:p>
        </p:txBody>
      </p:sp>
      <p:sp>
        <p:nvSpPr>
          <p:cNvPr id="67" name="TextBox 66"/>
          <p:cNvSpPr txBox="1"/>
          <p:nvPr/>
        </p:nvSpPr>
        <p:spPr>
          <a:xfrm>
            <a:off x="5715000" y="267919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68" name="TextBox 67"/>
          <p:cNvSpPr txBox="1"/>
          <p:nvPr/>
        </p:nvSpPr>
        <p:spPr>
          <a:xfrm>
            <a:off x="7461504" y="267919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12</a:t>
            </a:r>
          </a:p>
        </p:txBody>
      </p:sp>
      <p:sp>
        <p:nvSpPr>
          <p:cNvPr id="69" name="Rectangle 68"/>
          <p:cNvSpPr/>
          <p:nvPr/>
        </p:nvSpPr>
        <p:spPr>
          <a:xfrm>
            <a:off x="7178040" y="267919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178040" y="267919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71" name="Rectangle 70"/>
          <p:cNvSpPr/>
          <p:nvPr/>
        </p:nvSpPr>
        <p:spPr>
          <a:xfrm>
            <a:off x="498348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074920" y="3721607"/>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4x − 8 = 16</a:t>
            </a:r>
          </a:p>
        </p:txBody>
      </p:sp>
      <p:cxnSp>
        <p:nvCxnSpPr>
          <p:cNvPr id="73" name="Connector 72"/>
          <p:cNvCxnSpPr/>
          <p:nvPr/>
        </p:nvCxnSpPr>
        <p:spPr>
          <a:xfrm>
            <a:off x="7287768" y="4187951"/>
            <a:ext cx="0" cy="841249"/>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715000" y="416966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4x − 8</a:t>
            </a:r>
          </a:p>
        </p:txBody>
      </p:sp>
      <p:sp>
        <p:nvSpPr>
          <p:cNvPr id="75" name="TextBox 74"/>
          <p:cNvSpPr txBox="1"/>
          <p:nvPr/>
        </p:nvSpPr>
        <p:spPr>
          <a:xfrm>
            <a:off x="7461504" y="416966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16</a:t>
            </a:r>
          </a:p>
        </p:txBody>
      </p:sp>
      <p:sp>
        <p:nvSpPr>
          <p:cNvPr id="76" name="Rectangle 75"/>
          <p:cNvSpPr/>
          <p:nvPr/>
        </p:nvSpPr>
        <p:spPr>
          <a:xfrm>
            <a:off x="7178040" y="416966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178040" y="416966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78" name="TextBox 77"/>
          <p:cNvSpPr txBox="1"/>
          <p:nvPr/>
        </p:nvSpPr>
        <p:spPr>
          <a:xfrm>
            <a:off x="5102352" y="4320540"/>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+ 8</a:t>
            </a:r>
          </a:p>
        </p:txBody>
      </p:sp>
      <p:sp>
        <p:nvSpPr>
          <p:cNvPr id="79" name="TextBox 78"/>
          <p:cNvSpPr txBox="1"/>
          <p:nvPr/>
        </p:nvSpPr>
        <p:spPr>
          <a:xfrm>
            <a:off x="8878824" y="4320540"/>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− 8</a:t>
            </a:r>
          </a:p>
        </p:txBody>
      </p:sp>
      <p:sp>
        <p:nvSpPr>
          <p:cNvPr id="80" name="TextBox 79"/>
          <p:cNvSpPr txBox="1"/>
          <p:nvPr/>
        </p:nvSpPr>
        <p:spPr>
          <a:xfrm>
            <a:off x="5715000" y="444398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4x</a:t>
            </a:r>
          </a:p>
        </p:txBody>
      </p:sp>
      <p:sp>
        <p:nvSpPr>
          <p:cNvPr id="81" name="TextBox 80"/>
          <p:cNvSpPr txBox="1"/>
          <p:nvPr/>
        </p:nvSpPr>
        <p:spPr>
          <a:xfrm>
            <a:off x="7461504" y="444398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8</a:t>
            </a:r>
          </a:p>
        </p:txBody>
      </p:sp>
      <p:sp>
        <p:nvSpPr>
          <p:cNvPr id="82" name="Rectangle 81"/>
          <p:cNvSpPr/>
          <p:nvPr/>
        </p:nvSpPr>
        <p:spPr>
          <a:xfrm>
            <a:off x="7178040" y="444398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178040" y="444398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84" name="TextBox 83"/>
          <p:cNvSpPr txBox="1"/>
          <p:nvPr/>
        </p:nvSpPr>
        <p:spPr>
          <a:xfrm>
            <a:off x="5102352" y="4594859"/>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4</a:t>
            </a:r>
          </a:p>
        </p:txBody>
      </p:sp>
      <p:sp>
        <p:nvSpPr>
          <p:cNvPr id="85" name="TextBox 84"/>
          <p:cNvSpPr txBox="1"/>
          <p:nvPr/>
        </p:nvSpPr>
        <p:spPr>
          <a:xfrm>
            <a:off x="8878824" y="4594859"/>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4</a:t>
            </a:r>
          </a:p>
        </p:txBody>
      </p:sp>
      <p:sp>
        <p:nvSpPr>
          <p:cNvPr id="86" name="TextBox 85"/>
          <p:cNvSpPr txBox="1"/>
          <p:nvPr/>
        </p:nvSpPr>
        <p:spPr>
          <a:xfrm>
            <a:off x="5715000" y="471830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87" name="TextBox 86"/>
          <p:cNvSpPr txBox="1"/>
          <p:nvPr/>
        </p:nvSpPr>
        <p:spPr>
          <a:xfrm>
            <a:off x="7461504" y="471830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a:t>
            </a:r>
          </a:p>
        </p:txBody>
      </p:sp>
      <p:sp>
        <p:nvSpPr>
          <p:cNvPr id="88" name="Rectangle 87"/>
          <p:cNvSpPr/>
          <p:nvPr/>
        </p:nvSpPr>
        <p:spPr>
          <a:xfrm>
            <a:off x="7178040" y="471830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178040" y="471830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90" name="Rectangle 89"/>
          <p:cNvSpPr/>
          <p:nvPr/>
        </p:nvSpPr>
        <p:spPr>
          <a:xfrm>
            <a:off x="498348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074920" y="5760720"/>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5x + 10 = 45</a:t>
            </a:r>
          </a:p>
        </p:txBody>
      </p:sp>
      <p:cxnSp>
        <p:nvCxnSpPr>
          <p:cNvPr id="92" name="Connector 91"/>
          <p:cNvCxnSpPr/>
          <p:nvPr/>
        </p:nvCxnSpPr>
        <p:spPr>
          <a:xfrm>
            <a:off x="7287768" y="6227064"/>
            <a:ext cx="0" cy="84124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715000" y="620877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5x + 10</a:t>
            </a:r>
          </a:p>
        </p:txBody>
      </p:sp>
      <p:sp>
        <p:nvSpPr>
          <p:cNvPr id="94" name="TextBox 93"/>
          <p:cNvSpPr txBox="1"/>
          <p:nvPr/>
        </p:nvSpPr>
        <p:spPr>
          <a:xfrm>
            <a:off x="7461504" y="620877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45</a:t>
            </a:r>
          </a:p>
        </p:txBody>
      </p:sp>
      <p:sp>
        <p:nvSpPr>
          <p:cNvPr id="95" name="Rectangle 94"/>
          <p:cNvSpPr/>
          <p:nvPr/>
        </p:nvSpPr>
        <p:spPr>
          <a:xfrm>
            <a:off x="7178040" y="620877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178040" y="620877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97" name="TextBox 96"/>
          <p:cNvSpPr txBox="1"/>
          <p:nvPr/>
        </p:nvSpPr>
        <p:spPr>
          <a:xfrm>
            <a:off x="5102352" y="6359652"/>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5</a:t>
            </a:r>
          </a:p>
        </p:txBody>
      </p:sp>
      <p:sp>
        <p:nvSpPr>
          <p:cNvPr id="98" name="TextBox 97"/>
          <p:cNvSpPr txBox="1"/>
          <p:nvPr/>
        </p:nvSpPr>
        <p:spPr>
          <a:xfrm>
            <a:off x="8878824" y="6359652"/>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5</a:t>
            </a:r>
          </a:p>
        </p:txBody>
      </p:sp>
      <p:sp>
        <p:nvSpPr>
          <p:cNvPr id="99" name="TextBox 98"/>
          <p:cNvSpPr txBox="1"/>
          <p:nvPr/>
        </p:nvSpPr>
        <p:spPr>
          <a:xfrm>
            <a:off x="5715000" y="648309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 + 10</a:t>
            </a:r>
          </a:p>
        </p:txBody>
      </p:sp>
      <p:sp>
        <p:nvSpPr>
          <p:cNvPr id="100" name="TextBox 99"/>
          <p:cNvSpPr txBox="1"/>
          <p:nvPr/>
        </p:nvSpPr>
        <p:spPr>
          <a:xfrm>
            <a:off x="7461504" y="648309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9</a:t>
            </a:r>
          </a:p>
        </p:txBody>
      </p:sp>
      <p:sp>
        <p:nvSpPr>
          <p:cNvPr id="101" name="Rectangle 100"/>
          <p:cNvSpPr/>
          <p:nvPr/>
        </p:nvSpPr>
        <p:spPr>
          <a:xfrm>
            <a:off x="7178040" y="648309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178040" y="648309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03" name="TextBox 102"/>
          <p:cNvSpPr txBox="1"/>
          <p:nvPr/>
        </p:nvSpPr>
        <p:spPr>
          <a:xfrm>
            <a:off x="5102352" y="6633972"/>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− 10</a:t>
            </a:r>
          </a:p>
        </p:txBody>
      </p:sp>
      <p:sp>
        <p:nvSpPr>
          <p:cNvPr id="104" name="TextBox 103"/>
          <p:cNvSpPr txBox="1"/>
          <p:nvPr/>
        </p:nvSpPr>
        <p:spPr>
          <a:xfrm>
            <a:off x="8878824" y="6633972"/>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− 10</a:t>
            </a:r>
          </a:p>
        </p:txBody>
      </p:sp>
      <p:sp>
        <p:nvSpPr>
          <p:cNvPr id="105" name="TextBox 104"/>
          <p:cNvSpPr txBox="1"/>
          <p:nvPr/>
        </p:nvSpPr>
        <p:spPr>
          <a:xfrm>
            <a:off x="5715000" y="675741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06" name="TextBox 105"/>
          <p:cNvSpPr txBox="1"/>
          <p:nvPr/>
        </p:nvSpPr>
        <p:spPr>
          <a:xfrm>
            <a:off x="7461504" y="675741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a:t>
            </a:r>
          </a:p>
        </p:txBody>
      </p:sp>
      <p:sp>
        <p:nvSpPr>
          <p:cNvPr id="107" name="Rectangle 106"/>
          <p:cNvSpPr/>
          <p:nvPr/>
        </p:nvSpPr>
        <p:spPr>
          <a:xfrm>
            <a:off x="7178040" y="675741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7178040" y="675741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09" name="Rectangle 108"/>
          <p:cNvSpPr/>
          <p:nvPr/>
        </p:nvSpPr>
        <p:spPr>
          <a:xfrm>
            <a:off x="964692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9738360" y="1682496"/>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2(x + 5) = 30</a:t>
            </a:r>
          </a:p>
        </p:txBody>
      </p:sp>
      <p:cxnSp>
        <p:nvCxnSpPr>
          <p:cNvPr id="111" name="Connector 110"/>
          <p:cNvCxnSpPr/>
          <p:nvPr/>
        </p:nvCxnSpPr>
        <p:spPr>
          <a:xfrm>
            <a:off x="11951208" y="2148840"/>
            <a:ext cx="0" cy="111556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0378440" y="213055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 + 5)</a:t>
            </a:r>
          </a:p>
        </p:txBody>
      </p:sp>
      <p:sp>
        <p:nvSpPr>
          <p:cNvPr id="113" name="TextBox 112"/>
          <p:cNvSpPr txBox="1"/>
          <p:nvPr/>
        </p:nvSpPr>
        <p:spPr>
          <a:xfrm>
            <a:off x="12124944" y="213055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114" name="Rectangle 113"/>
          <p:cNvSpPr/>
          <p:nvPr/>
        </p:nvSpPr>
        <p:spPr>
          <a:xfrm>
            <a:off x="11841480" y="2130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1841480" y="213055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16" name="TextBox 115"/>
          <p:cNvSpPr txBox="1"/>
          <p:nvPr/>
        </p:nvSpPr>
        <p:spPr>
          <a:xfrm>
            <a:off x="10378440" y="240487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 + 5</a:t>
            </a:r>
          </a:p>
        </p:txBody>
      </p:sp>
      <p:sp>
        <p:nvSpPr>
          <p:cNvPr id="117" name="TextBox 116"/>
          <p:cNvSpPr txBox="1"/>
          <p:nvPr/>
        </p:nvSpPr>
        <p:spPr>
          <a:xfrm>
            <a:off x="12124944" y="240487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118" name="Rectangle 117"/>
          <p:cNvSpPr/>
          <p:nvPr/>
        </p:nvSpPr>
        <p:spPr>
          <a:xfrm>
            <a:off x="11841480" y="24048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1841480" y="240487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20" name="TextBox 119"/>
          <p:cNvSpPr txBox="1"/>
          <p:nvPr/>
        </p:nvSpPr>
        <p:spPr>
          <a:xfrm>
            <a:off x="9765792" y="2555748"/>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− 5</a:t>
            </a:r>
          </a:p>
        </p:txBody>
      </p:sp>
      <p:sp>
        <p:nvSpPr>
          <p:cNvPr id="121" name="TextBox 120"/>
          <p:cNvSpPr txBox="1"/>
          <p:nvPr/>
        </p:nvSpPr>
        <p:spPr>
          <a:xfrm>
            <a:off x="13542264" y="2555748"/>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− 5</a:t>
            </a:r>
          </a:p>
        </p:txBody>
      </p:sp>
      <p:sp>
        <p:nvSpPr>
          <p:cNvPr id="122" name="TextBox 121"/>
          <p:cNvSpPr txBox="1"/>
          <p:nvPr/>
        </p:nvSpPr>
        <p:spPr>
          <a:xfrm>
            <a:off x="10378440" y="267919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a:t>
            </a:r>
          </a:p>
        </p:txBody>
      </p:sp>
      <p:sp>
        <p:nvSpPr>
          <p:cNvPr id="123" name="TextBox 122"/>
          <p:cNvSpPr txBox="1"/>
          <p:nvPr/>
        </p:nvSpPr>
        <p:spPr>
          <a:xfrm>
            <a:off x="12124944" y="267919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25</a:t>
            </a:r>
          </a:p>
        </p:txBody>
      </p:sp>
      <p:sp>
        <p:nvSpPr>
          <p:cNvPr id="124" name="Rectangle 123"/>
          <p:cNvSpPr/>
          <p:nvPr/>
        </p:nvSpPr>
        <p:spPr>
          <a:xfrm>
            <a:off x="11841480" y="267919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1841480" y="267919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26" name="TextBox 125"/>
          <p:cNvSpPr txBox="1"/>
          <p:nvPr/>
        </p:nvSpPr>
        <p:spPr>
          <a:xfrm>
            <a:off x="9765792" y="2830068"/>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2</a:t>
            </a:r>
          </a:p>
        </p:txBody>
      </p:sp>
      <p:sp>
        <p:nvSpPr>
          <p:cNvPr id="127" name="TextBox 126"/>
          <p:cNvSpPr txBox="1"/>
          <p:nvPr/>
        </p:nvSpPr>
        <p:spPr>
          <a:xfrm>
            <a:off x="13542264" y="2830068"/>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2</a:t>
            </a:r>
          </a:p>
        </p:txBody>
      </p:sp>
      <p:sp>
        <p:nvSpPr>
          <p:cNvPr id="128" name="TextBox 127"/>
          <p:cNvSpPr txBox="1"/>
          <p:nvPr/>
        </p:nvSpPr>
        <p:spPr>
          <a:xfrm>
            <a:off x="10378440" y="295351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29" name="TextBox 128"/>
          <p:cNvSpPr txBox="1"/>
          <p:nvPr/>
        </p:nvSpPr>
        <p:spPr>
          <a:xfrm>
            <a:off x="12124944" y="295351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12.5</a:t>
            </a:r>
          </a:p>
        </p:txBody>
      </p:sp>
      <p:sp>
        <p:nvSpPr>
          <p:cNvPr id="130" name="Rectangle 129"/>
          <p:cNvSpPr/>
          <p:nvPr/>
        </p:nvSpPr>
        <p:spPr>
          <a:xfrm>
            <a:off x="11841480" y="295351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11841480" y="295351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32" name="Rectangle 131"/>
          <p:cNvSpPr/>
          <p:nvPr/>
        </p:nvSpPr>
        <p:spPr>
          <a:xfrm>
            <a:off x="964692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738360" y="3721607"/>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4x + 3 = 2x + 33</a:t>
            </a:r>
          </a:p>
        </p:txBody>
      </p:sp>
      <p:cxnSp>
        <p:nvCxnSpPr>
          <p:cNvPr id="134" name="Connector 133"/>
          <p:cNvCxnSpPr/>
          <p:nvPr/>
        </p:nvCxnSpPr>
        <p:spPr>
          <a:xfrm>
            <a:off x="11951208" y="4187951"/>
            <a:ext cx="0" cy="1115569"/>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0378440" y="416966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4x + 3</a:t>
            </a:r>
          </a:p>
        </p:txBody>
      </p:sp>
      <p:sp>
        <p:nvSpPr>
          <p:cNvPr id="136" name="TextBox 135"/>
          <p:cNvSpPr txBox="1"/>
          <p:nvPr/>
        </p:nvSpPr>
        <p:spPr>
          <a:xfrm>
            <a:off x="12124944" y="416966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2x + 33</a:t>
            </a:r>
          </a:p>
        </p:txBody>
      </p:sp>
      <p:sp>
        <p:nvSpPr>
          <p:cNvPr id="137" name="Rectangle 136"/>
          <p:cNvSpPr/>
          <p:nvPr/>
        </p:nvSpPr>
        <p:spPr>
          <a:xfrm>
            <a:off x="11841480" y="416966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1841480" y="416966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39" name="TextBox 138"/>
          <p:cNvSpPr txBox="1"/>
          <p:nvPr/>
        </p:nvSpPr>
        <p:spPr>
          <a:xfrm>
            <a:off x="9765792" y="4320540"/>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+ 2x</a:t>
            </a:r>
          </a:p>
        </p:txBody>
      </p:sp>
      <p:sp>
        <p:nvSpPr>
          <p:cNvPr id="140" name="TextBox 139"/>
          <p:cNvSpPr txBox="1"/>
          <p:nvPr/>
        </p:nvSpPr>
        <p:spPr>
          <a:xfrm>
            <a:off x="13542264" y="4320540"/>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− 2x</a:t>
            </a:r>
          </a:p>
        </p:txBody>
      </p:sp>
      <p:sp>
        <p:nvSpPr>
          <p:cNvPr id="141" name="TextBox 140"/>
          <p:cNvSpPr txBox="1"/>
          <p:nvPr/>
        </p:nvSpPr>
        <p:spPr>
          <a:xfrm>
            <a:off x="10378440" y="444398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6x + 3</a:t>
            </a:r>
          </a:p>
        </p:txBody>
      </p:sp>
      <p:sp>
        <p:nvSpPr>
          <p:cNvPr id="142" name="TextBox 141"/>
          <p:cNvSpPr txBox="1"/>
          <p:nvPr/>
        </p:nvSpPr>
        <p:spPr>
          <a:xfrm>
            <a:off x="12124944" y="444398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33</a:t>
            </a:r>
          </a:p>
        </p:txBody>
      </p:sp>
      <p:sp>
        <p:nvSpPr>
          <p:cNvPr id="143" name="Rectangle 142"/>
          <p:cNvSpPr/>
          <p:nvPr/>
        </p:nvSpPr>
        <p:spPr>
          <a:xfrm>
            <a:off x="11841480" y="444398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1841480" y="444398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45" name="TextBox 144"/>
          <p:cNvSpPr txBox="1"/>
          <p:nvPr/>
        </p:nvSpPr>
        <p:spPr>
          <a:xfrm>
            <a:off x="9765792" y="4594859"/>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− 3</a:t>
            </a:r>
          </a:p>
        </p:txBody>
      </p:sp>
      <p:sp>
        <p:nvSpPr>
          <p:cNvPr id="146" name="TextBox 145"/>
          <p:cNvSpPr txBox="1"/>
          <p:nvPr/>
        </p:nvSpPr>
        <p:spPr>
          <a:xfrm>
            <a:off x="13542264" y="4594859"/>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− 3</a:t>
            </a:r>
          </a:p>
        </p:txBody>
      </p:sp>
      <p:sp>
        <p:nvSpPr>
          <p:cNvPr id="147" name="TextBox 146"/>
          <p:cNvSpPr txBox="1"/>
          <p:nvPr/>
        </p:nvSpPr>
        <p:spPr>
          <a:xfrm>
            <a:off x="10378440" y="471830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6x</a:t>
            </a:r>
          </a:p>
        </p:txBody>
      </p:sp>
      <p:sp>
        <p:nvSpPr>
          <p:cNvPr id="148" name="TextBox 147"/>
          <p:cNvSpPr txBox="1"/>
          <p:nvPr/>
        </p:nvSpPr>
        <p:spPr>
          <a:xfrm>
            <a:off x="12124944" y="471830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149" name="Rectangle 148"/>
          <p:cNvSpPr/>
          <p:nvPr/>
        </p:nvSpPr>
        <p:spPr>
          <a:xfrm>
            <a:off x="11841480" y="471830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1841480" y="471830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51" name="TextBox 150"/>
          <p:cNvSpPr txBox="1"/>
          <p:nvPr/>
        </p:nvSpPr>
        <p:spPr>
          <a:xfrm>
            <a:off x="9765792" y="4869179"/>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6</a:t>
            </a:r>
          </a:p>
        </p:txBody>
      </p:sp>
      <p:sp>
        <p:nvSpPr>
          <p:cNvPr id="152" name="TextBox 151"/>
          <p:cNvSpPr txBox="1"/>
          <p:nvPr/>
        </p:nvSpPr>
        <p:spPr>
          <a:xfrm>
            <a:off x="13542264" y="4869179"/>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6</a:t>
            </a:r>
          </a:p>
        </p:txBody>
      </p:sp>
      <p:sp>
        <p:nvSpPr>
          <p:cNvPr id="153" name="TextBox 152"/>
          <p:cNvSpPr txBox="1"/>
          <p:nvPr/>
        </p:nvSpPr>
        <p:spPr>
          <a:xfrm>
            <a:off x="10378440" y="499262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54" name="TextBox 153"/>
          <p:cNvSpPr txBox="1"/>
          <p:nvPr/>
        </p:nvSpPr>
        <p:spPr>
          <a:xfrm>
            <a:off x="12124944" y="499262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5</a:t>
            </a:r>
          </a:p>
        </p:txBody>
      </p:sp>
      <p:sp>
        <p:nvSpPr>
          <p:cNvPr id="155" name="Rectangle 154"/>
          <p:cNvSpPr/>
          <p:nvPr/>
        </p:nvSpPr>
        <p:spPr>
          <a:xfrm>
            <a:off x="11841480" y="499262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11841480" y="499262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57" name="Rectangle 156"/>
          <p:cNvSpPr/>
          <p:nvPr/>
        </p:nvSpPr>
        <p:spPr>
          <a:xfrm>
            <a:off x="964692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9738360" y="5760720"/>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3(x − 4) = x − 16</a:t>
            </a:r>
          </a:p>
        </p:txBody>
      </p:sp>
      <p:cxnSp>
        <p:nvCxnSpPr>
          <p:cNvPr id="159" name="Connector 158"/>
          <p:cNvCxnSpPr/>
          <p:nvPr/>
        </p:nvCxnSpPr>
        <p:spPr>
          <a:xfrm>
            <a:off x="11951208" y="6227064"/>
            <a:ext cx="0" cy="138988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10378440" y="620877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 − 4)</a:t>
            </a:r>
          </a:p>
        </p:txBody>
      </p:sp>
      <p:sp>
        <p:nvSpPr>
          <p:cNvPr id="161" name="TextBox 160"/>
          <p:cNvSpPr txBox="1"/>
          <p:nvPr/>
        </p:nvSpPr>
        <p:spPr>
          <a:xfrm>
            <a:off x="12124944" y="620877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x − 16</a:t>
            </a:r>
          </a:p>
        </p:txBody>
      </p:sp>
      <p:sp>
        <p:nvSpPr>
          <p:cNvPr id="162" name="Rectangle 161"/>
          <p:cNvSpPr/>
          <p:nvPr/>
        </p:nvSpPr>
        <p:spPr>
          <a:xfrm>
            <a:off x="11841480" y="620877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11841480" y="620877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64" name="TextBox 163"/>
          <p:cNvSpPr txBox="1"/>
          <p:nvPr/>
        </p:nvSpPr>
        <p:spPr>
          <a:xfrm>
            <a:off x="10378440" y="648309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 − 4</a:t>
            </a:r>
          </a:p>
        </p:txBody>
      </p:sp>
      <p:sp>
        <p:nvSpPr>
          <p:cNvPr id="165" name="TextBox 164"/>
          <p:cNvSpPr txBox="1"/>
          <p:nvPr/>
        </p:nvSpPr>
        <p:spPr>
          <a:xfrm>
            <a:off x="12124944" y="648309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x − 16</a:t>
            </a:r>
          </a:p>
        </p:txBody>
      </p:sp>
      <p:sp>
        <p:nvSpPr>
          <p:cNvPr id="166" name="Rectangle 165"/>
          <p:cNvSpPr/>
          <p:nvPr/>
        </p:nvSpPr>
        <p:spPr>
          <a:xfrm>
            <a:off x="11841480" y="648309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1841480" y="648309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68" name="TextBox 167"/>
          <p:cNvSpPr txBox="1"/>
          <p:nvPr/>
        </p:nvSpPr>
        <p:spPr>
          <a:xfrm>
            <a:off x="9765792" y="6633972"/>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x</a:t>
            </a:r>
          </a:p>
        </p:txBody>
      </p:sp>
      <p:sp>
        <p:nvSpPr>
          <p:cNvPr id="169" name="TextBox 168"/>
          <p:cNvSpPr txBox="1"/>
          <p:nvPr/>
        </p:nvSpPr>
        <p:spPr>
          <a:xfrm>
            <a:off x="13542264" y="6633972"/>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x</a:t>
            </a:r>
          </a:p>
        </p:txBody>
      </p:sp>
      <p:sp>
        <p:nvSpPr>
          <p:cNvPr id="170" name="TextBox 169"/>
          <p:cNvSpPr txBox="1"/>
          <p:nvPr/>
        </p:nvSpPr>
        <p:spPr>
          <a:xfrm>
            <a:off x="10378440" y="675741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 − 4</a:t>
            </a:r>
          </a:p>
        </p:txBody>
      </p:sp>
      <p:sp>
        <p:nvSpPr>
          <p:cNvPr id="171" name="TextBox 170"/>
          <p:cNvSpPr txBox="1"/>
          <p:nvPr/>
        </p:nvSpPr>
        <p:spPr>
          <a:xfrm>
            <a:off x="12124944" y="675741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−16</a:t>
            </a:r>
          </a:p>
        </p:txBody>
      </p:sp>
      <p:sp>
        <p:nvSpPr>
          <p:cNvPr id="172" name="Rectangle 171"/>
          <p:cNvSpPr/>
          <p:nvPr/>
        </p:nvSpPr>
        <p:spPr>
          <a:xfrm>
            <a:off x="11841480" y="675741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11841480" y="675741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74" name="TextBox 173"/>
          <p:cNvSpPr txBox="1"/>
          <p:nvPr/>
        </p:nvSpPr>
        <p:spPr>
          <a:xfrm>
            <a:off x="9765792" y="6908292"/>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+ 4</a:t>
            </a:r>
          </a:p>
        </p:txBody>
      </p:sp>
      <p:sp>
        <p:nvSpPr>
          <p:cNvPr id="175" name="TextBox 174"/>
          <p:cNvSpPr txBox="1"/>
          <p:nvPr/>
        </p:nvSpPr>
        <p:spPr>
          <a:xfrm>
            <a:off x="13542264" y="6908292"/>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+ 4</a:t>
            </a:r>
          </a:p>
        </p:txBody>
      </p:sp>
      <p:sp>
        <p:nvSpPr>
          <p:cNvPr id="176" name="TextBox 175"/>
          <p:cNvSpPr txBox="1"/>
          <p:nvPr/>
        </p:nvSpPr>
        <p:spPr>
          <a:xfrm>
            <a:off x="10378440" y="703173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a:t>
            </a:r>
          </a:p>
        </p:txBody>
      </p:sp>
      <p:sp>
        <p:nvSpPr>
          <p:cNvPr id="177" name="TextBox 176"/>
          <p:cNvSpPr txBox="1"/>
          <p:nvPr/>
        </p:nvSpPr>
        <p:spPr>
          <a:xfrm>
            <a:off x="12124944" y="703173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−12</a:t>
            </a:r>
          </a:p>
        </p:txBody>
      </p:sp>
      <p:sp>
        <p:nvSpPr>
          <p:cNvPr id="178" name="Rectangle 177"/>
          <p:cNvSpPr/>
          <p:nvPr/>
        </p:nvSpPr>
        <p:spPr>
          <a:xfrm>
            <a:off x="11841480" y="703173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11841480" y="703173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80" name="TextBox 179"/>
          <p:cNvSpPr txBox="1"/>
          <p:nvPr/>
        </p:nvSpPr>
        <p:spPr>
          <a:xfrm>
            <a:off x="9765792" y="7182612"/>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2</a:t>
            </a:r>
          </a:p>
        </p:txBody>
      </p:sp>
      <p:sp>
        <p:nvSpPr>
          <p:cNvPr id="181" name="TextBox 180"/>
          <p:cNvSpPr txBox="1"/>
          <p:nvPr/>
        </p:nvSpPr>
        <p:spPr>
          <a:xfrm>
            <a:off x="13542264" y="7182612"/>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2</a:t>
            </a:r>
          </a:p>
        </p:txBody>
      </p:sp>
      <p:sp>
        <p:nvSpPr>
          <p:cNvPr id="182" name="TextBox 181"/>
          <p:cNvSpPr txBox="1"/>
          <p:nvPr/>
        </p:nvSpPr>
        <p:spPr>
          <a:xfrm>
            <a:off x="10378440" y="730605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83" name="TextBox 182"/>
          <p:cNvSpPr txBox="1"/>
          <p:nvPr/>
        </p:nvSpPr>
        <p:spPr>
          <a:xfrm>
            <a:off x="12124944" y="730605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−6</a:t>
            </a:r>
          </a:p>
        </p:txBody>
      </p:sp>
      <p:sp>
        <p:nvSpPr>
          <p:cNvPr id="184" name="Rectangle 183"/>
          <p:cNvSpPr/>
          <p:nvPr/>
        </p:nvSpPr>
        <p:spPr>
          <a:xfrm>
            <a:off x="11841480" y="730605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11841480" y="730605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+ 6 = -2</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x − 6</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− 7 = 18</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− 9 = -4</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189 = 7x</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4</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− 3 = 57</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+ 7x = 71</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+ 6 = -29</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-9 + 6x = 39</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x + 8 = 8</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 + 2x = -11</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− 3) = 2x − 11</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+ 10 = 20</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+ 12 = 9</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+ 2 = x + 14</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− 3) = x + 69</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+ 12 = 126</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+ 8 = 28</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-14 = x − 8</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65</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11</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27 = x + 9</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90</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− 9 = -44</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x + 6 = 121</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+ 8 = -7</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+ 3x = 80</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 + 3x = 73</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 + 2x = 18</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− 5) = 2x + 50</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+ 2) = x + 92</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− 5) = 3x − 12</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− 9 = 2x − 3</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− 7) = 4x − 23</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+ 15 = 108</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− 8 = -10</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3 = -1</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0</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2</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28 = x + 2</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+ 8 = 16</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x − 9 = 33</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x − 9 = 21</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x + 4 = 88</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+ 6x = -22</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23 = 7x + 2</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+ 8 = 85</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+ 4 = 3x + 79</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+ 6) = 165</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− 9 = 3x + 60</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− 6 = 12</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− 3) = 90</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+ 8 = 4x + 56</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140</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11 = x − 6</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5 = 22</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2</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5</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+ 7 = 1</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− 3 = 54</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x − 5 = 100</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+ 2 = 26</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x − 3 = -11</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 + 2x = -10</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x − 9 = 69</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+ 6) = 80</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− 14 = -6</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− 3) = -24</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+ 8 = x + 40</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+ 4) = -15</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+ 6) = 91</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Calculate and simplify.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M15-IA</a:t>
            </a:r>
          </a:p>
        </p:txBody>
      </p:sp>
      <p:sp>
        <p:nvSpPr>
          <p:cNvPr id="7" name="Rectangle 6"/>
          <p:cNvSpPr/>
          <p:nvPr/>
        </p:nvSpPr>
        <p:spPr>
          <a:xfrm>
            <a:off x="384048" y="1508760"/>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7" y="1691639"/>
            <a:ext cx="365760" cy="365760"/>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1.</a:t>
            </a:r>
          </a:p>
        </p:txBody>
      </p:sp>
      <p:sp>
        <p:nvSpPr>
          <p:cNvPr id="9" name="TextBox 8"/>
          <p:cNvSpPr txBox="1"/>
          <p:nvPr/>
        </p:nvSpPr>
        <p:spPr>
          <a:xfrm>
            <a:off x="1051560" y="1783080"/>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2</a:t>
            </a:r>
          </a:p>
        </p:txBody>
      </p:sp>
      <p:cxnSp>
        <p:nvCxnSpPr>
          <p:cNvPr id="10" name="Connector 9"/>
          <p:cNvCxnSpPr/>
          <p:nvPr/>
        </p:nvCxnSpPr>
        <p:spPr>
          <a:xfrm>
            <a:off x="1051560" y="204825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51560" y="206654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7</a:t>
            </a:r>
          </a:p>
        </p:txBody>
      </p:sp>
      <p:sp>
        <p:nvSpPr>
          <p:cNvPr id="12" name="TextBox 11"/>
          <p:cNvSpPr txBox="1"/>
          <p:nvPr/>
        </p:nvSpPr>
        <p:spPr>
          <a:xfrm>
            <a:off x="1378077" y="1901952"/>
            <a:ext cx="446531" cy="347472"/>
          </a:xfrm>
          <a:prstGeom prst="rect">
            <a:avLst/>
          </a:prstGeom>
          <a:noFill/>
        </p:spPr>
        <p:txBody>
          <a:bodyPr wrap="none" lIns="0" rIns="0" tIns="0" bIns="0">
            <a:spAutoFit/>
          </a:bodyPr>
          <a:lstStyle/>
          <a:p>
            <a:pPr algn="l">
              <a:lnSpc>
                <a:spcPts val="3248"/>
              </a:lnSpc>
              <a:spcAft>
                <a:spcPts val="0"/>
              </a:spcAft>
              <a:defRPr sz="2900" b="0">
                <a:solidFill>
                  <a:srgbClr val="182B3A"/>
                </a:solidFill>
                <a:latin typeface="Arial"/>
              </a:defRPr>
            </a:pPr>
            <a:r>
              <a:t> + </a:t>
            </a:r>
          </a:p>
        </p:txBody>
      </p:sp>
      <p:sp>
        <p:nvSpPr>
          <p:cNvPr id="13" name="TextBox 12"/>
          <p:cNvSpPr txBox="1"/>
          <p:nvPr/>
        </p:nvSpPr>
        <p:spPr>
          <a:xfrm>
            <a:off x="1824609" y="1783080"/>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3</a:t>
            </a:r>
          </a:p>
        </p:txBody>
      </p:sp>
      <p:cxnSp>
        <p:nvCxnSpPr>
          <p:cNvPr id="14" name="Connector 13"/>
          <p:cNvCxnSpPr/>
          <p:nvPr/>
        </p:nvCxnSpPr>
        <p:spPr>
          <a:xfrm>
            <a:off x="1824609" y="204825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824609" y="206654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7</a:t>
            </a:r>
          </a:p>
        </p:txBody>
      </p:sp>
      <p:sp>
        <p:nvSpPr>
          <p:cNvPr id="16" name="Rectangle 15"/>
          <p:cNvSpPr/>
          <p:nvPr/>
        </p:nvSpPr>
        <p:spPr>
          <a:xfrm>
            <a:off x="7379208" y="1508760"/>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6368" y="1691639"/>
            <a:ext cx="365760" cy="365760"/>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2.</a:t>
            </a:r>
          </a:p>
        </p:txBody>
      </p:sp>
      <p:sp>
        <p:nvSpPr>
          <p:cNvPr id="18" name="TextBox 17"/>
          <p:cNvSpPr txBox="1"/>
          <p:nvPr/>
        </p:nvSpPr>
        <p:spPr>
          <a:xfrm>
            <a:off x="8046720" y="1783080"/>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7</a:t>
            </a:r>
          </a:p>
        </p:txBody>
      </p:sp>
      <p:cxnSp>
        <p:nvCxnSpPr>
          <p:cNvPr id="19" name="Connector 18"/>
          <p:cNvCxnSpPr/>
          <p:nvPr/>
        </p:nvCxnSpPr>
        <p:spPr>
          <a:xfrm>
            <a:off x="8046720" y="204825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046720" y="206654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9</a:t>
            </a:r>
          </a:p>
        </p:txBody>
      </p:sp>
      <p:sp>
        <p:nvSpPr>
          <p:cNvPr id="21" name="TextBox 20"/>
          <p:cNvSpPr txBox="1"/>
          <p:nvPr/>
        </p:nvSpPr>
        <p:spPr>
          <a:xfrm>
            <a:off x="8373237" y="1901952"/>
            <a:ext cx="446531" cy="347472"/>
          </a:xfrm>
          <a:prstGeom prst="rect">
            <a:avLst/>
          </a:prstGeom>
          <a:noFill/>
        </p:spPr>
        <p:txBody>
          <a:bodyPr wrap="none" lIns="0" rIns="0" tIns="0" bIns="0">
            <a:spAutoFit/>
          </a:bodyPr>
          <a:lstStyle/>
          <a:p>
            <a:pPr algn="l">
              <a:lnSpc>
                <a:spcPts val="3248"/>
              </a:lnSpc>
              <a:spcAft>
                <a:spcPts val="0"/>
              </a:spcAft>
              <a:defRPr sz="2900" b="0">
                <a:solidFill>
                  <a:srgbClr val="182B3A"/>
                </a:solidFill>
                <a:latin typeface="Arial"/>
              </a:defRPr>
            </a:pPr>
            <a:r>
              <a:t> − </a:t>
            </a:r>
          </a:p>
        </p:txBody>
      </p:sp>
      <p:sp>
        <p:nvSpPr>
          <p:cNvPr id="22" name="TextBox 21"/>
          <p:cNvSpPr txBox="1"/>
          <p:nvPr/>
        </p:nvSpPr>
        <p:spPr>
          <a:xfrm>
            <a:off x="8819769" y="1783080"/>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2</a:t>
            </a:r>
          </a:p>
        </p:txBody>
      </p:sp>
      <p:cxnSp>
        <p:nvCxnSpPr>
          <p:cNvPr id="23" name="Connector 22"/>
          <p:cNvCxnSpPr/>
          <p:nvPr/>
        </p:nvCxnSpPr>
        <p:spPr>
          <a:xfrm>
            <a:off x="8819769" y="204825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819769" y="206654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9</a:t>
            </a:r>
          </a:p>
        </p:txBody>
      </p:sp>
      <p:sp>
        <p:nvSpPr>
          <p:cNvPr id="25" name="Rectangle 24"/>
          <p:cNvSpPr/>
          <p:nvPr/>
        </p:nvSpPr>
        <p:spPr>
          <a:xfrm>
            <a:off x="384048" y="4526279"/>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1207" y="4709159"/>
            <a:ext cx="365760" cy="365760"/>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3.</a:t>
            </a:r>
          </a:p>
        </p:txBody>
      </p:sp>
      <p:sp>
        <p:nvSpPr>
          <p:cNvPr id="27" name="TextBox 26"/>
          <p:cNvSpPr txBox="1"/>
          <p:nvPr/>
        </p:nvSpPr>
        <p:spPr>
          <a:xfrm>
            <a:off x="1051560" y="4800599"/>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1</a:t>
            </a:r>
          </a:p>
        </p:txBody>
      </p:sp>
      <p:cxnSp>
        <p:nvCxnSpPr>
          <p:cNvPr id="28" name="Connector 27"/>
          <p:cNvCxnSpPr/>
          <p:nvPr/>
        </p:nvCxnSpPr>
        <p:spPr>
          <a:xfrm>
            <a:off x="1051560" y="506577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051560" y="508406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3</a:t>
            </a:r>
          </a:p>
        </p:txBody>
      </p:sp>
      <p:sp>
        <p:nvSpPr>
          <p:cNvPr id="30" name="TextBox 29"/>
          <p:cNvSpPr txBox="1"/>
          <p:nvPr/>
        </p:nvSpPr>
        <p:spPr>
          <a:xfrm>
            <a:off x="1378077" y="4919471"/>
            <a:ext cx="446531" cy="347472"/>
          </a:xfrm>
          <a:prstGeom prst="rect">
            <a:avLst/>
          </a:prstGeom>
          <a:noFill/>
        </p:spPr>
        <p:txBody>
          <a:bodyPr wrap="none" lIns="0" rIns="0" tIns="0" bIns="0">
            <a:spAutoFit/>
          </a:bodyPr>
          <a:lstStyle/>
          <a:p>
            <a:pPr algn="l">
              <a:lnSpc>
                <a:spcPts val="3248"/>
              </a:lnSpc>
              <a:spcAft>
                <a:spcPts val="0"/>
              </a:spcAft>
              <a:defRPr sz="2900" b="0">
                <a:solidFill>
                  <a:srgbClr val="182B3A"/>
                </a:solidFill>
                <a:latin typeface="Arial"/>
              </a:defRPr>
            </a:pPr>
            <a:r>
              <a:t> + </a:t>
            </a:r>
          </a:p>
        </p:txBody>
      </p:sp>
      <p:sp>
        <p:nvSpPr>
          <p:cNvPr id="31" name="TextBox 30"/>
          <p:cNvSpPr txBox="1"/>
          <p:nvPr/>
        </p:nvSpPr>
        <p:spPr>
          <a:xfrm>
            <a:off x="1824609" y="4800599"/>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1</a:t>
            </a:r>
          </a:p>
        </p:txBody>
      </p:sp>
      <p:cxnSp>
        <p:nvCxnSpPr>
          <p:cNvPr id="32" name="Connector 31"/>
          <p:cNvCxnSpPr/>
          <p:nvPr/>
        </p:nvCxnSpPr>
        <p:spPr>
          <a:xfrm>
            <a:off x="1824609" y="506577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824609" y="508406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6</a:t>
            </a:r>
          </a:p>
        </p:txBody>
      </p:sp>
      <p:sp>
        <p:nvSpPr>
          <p:cNvPr id="34" name="Rectangle 33"/>
          <p:cNvSpPr/>
          <p:nvPr/>
        </p:nvSpPr>
        <p:spPr>
          <a:xfrm>
            <a:off x="7379208" y="4526279"/>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16368" y="4709159"/>
            <a:ext cx="365760" cy="365760"/>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4.</a:t>
            </a:r>
          </a:p>
        </p:txBody>
      </p:sp>
      <p:sp>
        <p:nvSpPr>
          <p:cNvPr id="36" name="TextBox 35"/>
          <p:cNvSpPr txBox="1"/>
          <p:nvPr/>
        </p:nvSpPr>
        <p:spPr>
          <a:xfrm>
            <a:off x="8046720" y="4919471"/>
            <a:ext cx="335407" cy="347472"/>
          </a:xfrm>
          <a:prstGeom prst="rect">
            <a:avLst/>
          </a:prstGeom>
          <a:noFill/>
        </p:spPr>
        <p:txBody>
          <a:bodyPr wrap="none" lIns="0" rIns="0" tIns="0" bIns="0">
            <a:spAutoFit/>
          </a:bodyPr>
          <a:lstStyle/>
          <a:p>
            <a:pPr algn="l">
              <a:lnSpc>
                <a:spcPts val="3248"/>
              </a:lnSpc>
              <a:spcAft>
                <a:spcPts val="0"/>
              </a:spcAft>
              <a:defRPr sz="2900" b="0">
                <a:solidFill>
                  <a:srgbClr val="182B3A"/>
                </a:solidFill>
                <a:latin typeface="Arial"/>
              </a:defRPr>
            </a:pPr>
            <a:r>
              <a:t>1 </a:t>
            </a:r>
          </a:p>
        </p:txBody>
      </p:sp>
      <p:sp>
        <p:nvSpPr>
          <p:cNvPr id="37" name="TextBox 36"/>
          <p:cNvSpPr txBox="1"/>
          <p:nvPr/>
        </p:nvSpPr>
        <p:spPr>
          <a:xfrm>
            <a:off x="8382127" y="4800599"/>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1</a:t>
            </a:r>
          </a:p>
        </p:txBody>
      </p:sp>
      <p:cxnSp>
        <p:nvCxnSpPr>
          <p:cNvPr id="38" name="Connector 37"/>
          <p:cNvCxnSpPr/>
          <p:nvPr/>
        </p:nvCxnSpPr>
        <p:spPr>
          <a:xfrm>
            <a:off x="8382127" y="506577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382127" y="508406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3</a:t>
            </a:r>
          </a:p>
        </p:txBody>
      </p:sp>
      <p:sp>
        <p:nvSpPr>
          <p:cNvPr id="40" name="TextBox 39"/>
          <p:cNvSpPr txBox="1"/>
          <p:nvPr/>
        </p:nvSpPr>
        <p:spPr>
          <a:xfrm>
            <a:off x="8708644" y="4919471"/>
            <a:ext cx="446531" cy="347472"/>
          </a:xfrm>
          <a:prstGeom prst="rect">
            <a:avLst/>
          </a:prstGeom>
          <a:noFill/>
        </p:spPr>
        <p:txBody>
          <a:bodyPr wrap="none" lIns="0" rIns="0" tIns="0" bIns="0">
            <a:spAutoFit/>
          </a:bodyPr>
          <a:lstStyle/>
          <a:p>
            <a:pPr algn="l">
              <a:lnSpc>
                <a:spcPts val="3248"/>
              </a:lnSpc>
              <a:spcAft>
                <a:spcPts val="0"/>
              </a:spcAft>
              <a:defRPr sz="2900" b="0">
                <a:solidFill>
                  <a:srgbClr val="182B3A"/>
                </a:solidFill>
                <a:latin typeface="Arial"/>
              </a:defRPr>
            </a:pPr>
            <a:r>
              <a:t> − </a:t>
            </a:r>
          </a:p>
        </p:txBody>
      </p:sp>
      <p:sp>
        <p:nvSpPr>
          <p:cNvPr id="41" name="TextBox 40"/>
          <p:cNvSpPr txBox="1"/>
          <p:nvPr/>
        </p:nvSpPr>
        <p:spPr>
          <a:xfrm>
            <a:off x="9155176" y="4800599"/>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3</a:t>
            </a:r>
          </a:p>
        </p:txBody>
      </p:sp>
      <p:cxnSp>
        <p:nvCxnSpPr>
          <p:cNvPr id="42" name="Connector 41"/>
          <p:cNvCxnSpPr/>
          <p:nvPr/>
        </p:nvCxnSpPr>
        <p:spPr>
          <a:xfrm>
            <a:off x="9155176" y="506577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155176" y="508406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Technique recap • Equal-sized parts before adding or subtracting.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M15-RECAP</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00200"/>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983480" y="1600200"/>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46920" y="1600200"/>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 y="1783080"/>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Keep the parts the same size</a:t>
            </a:r>
          </a:p>
        </p:txBody>
      </p:sp>
      <p:sp>
        <p:nvSpPr>
          <p:cNvPr id="17" name="TextBox 16"/>
          <p:cNvSpPr txBox="1"/>
          <p:nvPr/>
        </p:nvSpPr>
        <p:spPr>
          <a:xfrm>
            <a:off x="521207" y="2423160"/>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18" name="Connector 17"/>
          <p:cNvCxnSpPr/>
          <p:nvPr/>
        </p:nvCxnSpPr>
        <p:spPr>
          <a:xfrm>
            <a:off x="521207" y="2688336"/>
            <a:ext cx="23672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21207" y="2706624"/>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20" name="TextBox 19"/>
          <p:cNvSpPr txBox="1"/>
          <p:nvPr/>
        </p:nvSpPr>
        <p:spPr>
          <a:xfrm>
            <a:off x="812800" y="2542032"/>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21" name="TextBox 20"/>
          <p:cNvSpPr txBox="1"/>
          <p:nvPr/>
        </p:nvSpPr>
        <p:spPr>
          <a:xfrm>
            <a:off x="1176782" y="2423160"/>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2</a:t>
            </a:r>
          </a:p>
        </p:txBody>
      </p:sp>
      <p:cxnSp>
        <p:nvCxnSpPr>
          <p:cNvPr id="22" name="Connector 21"/>
          <p:cNvCxnSpPr/>
          <p:nvPr/>
        </p:nvCxnSpPr>
        <p:spPr>
          <a:xfrm>
            <a:off x="1176782" y="2688336"/>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176782" y="2706624"/>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6</a:t>
            </a:r>
          </a:p>
        </p:txBody>
      </p:sp>
      <p:sp>
        <p:nvSpPr>
          <p:cNvPr id="24" name="TextBox 23"/>
          <p:cNvSpPr txBox="1"/>
          <p:nvPr/>
        </p:nvSpPr>
        <p:spPr>
          <a:xfrm>
            <a:off x="521207" y="30449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25" name="Connector 24"/>
          <p:cNvCxnSpPr/>
          <p:nvPr/>
        </p:nvCxnSpPr>
        <p:spPr>
          <a:xfrm>
            <a:off x="521207" y="3310128"/>
            <a:ext cx="23672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21207" y="3328415"/>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27" name="TextBox 26"/>
          <p:cNvSpPr txBox="1"/>
          <p:nvPr/>
        </p:nvSpPr>
        <p:spPr>
          <a:xfrm>
            <a:off x="812800" y="31638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28" name="TextBox 27"/>
          <p:cNvSpPr txBox="1"/>
          <p:nvPr/>
        </p:nvSpPr>
        <p:spPr>
          <a:xfrm>
            <a:off x="1176782" y="30449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29" name="Connector 28"/>
          <p:cNvCxnSpPr/>
          <p:nvPr/>
        </p:nvCxnSpPr>
        <p:spPr>
          <a:xfrm>
            <a:off x="1176782" y="33101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176782" y="3328415"/>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6</a:t>
            </a:r>
          </a:p>
        </p:txBody>
      </p:sp>
      <p:sp>
        <p:nvSpPr>
          <p:cNvPr id="31" name="TextBox 30"/>
          <p:cNvSpPr txBox="1"/>
          <p:nvPr/>
        </p:nvSpPr>
        <p:spPr>
          <a:xfrm>
            <a:off x="1468374" y="31638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32" name="TextBox 31"/>
          <p:cNvSpPr txBox="1"/>
          <p:nvPr/>
        </p:nvSpPr>
        <p:spPr>
          <a:xfrm>
            <a:off x="1832355" y="30449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2</a:t>
            </a:r>
          </a:p>
        </p:txBody>
      </p:sp>
      <p:cxnSp>
        <p:nvCxnSpPr>
          <p:cNvPr id="33" name="Connector 32"/>
          <p:cNvCxnSpPr/>
          <p:nvPr/>
        </p:nvCxnSpPr>
        <p:spPr>
          <a:xfrm>
            <a:off x="1832355" y="3310128"/>
            <a:ext cx="23672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832355" y="3328415"/>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6</a:t>
            </a:r>
          </a:p>
        </p:txBody>
      </p:sp>
      <p:sp>
        <p:nvSpPr>
          <p:cNvPr id="35" name="TextBox 34"/>
          <p:cNvSpPr txBox="1"/>
          <p:nvPr/>
        </p:nvSpPr>
        <p:spPr>
          <a:xfrm>
            <a:off x="2123948" y="31638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36" name="TextBox 35"/>
          <p:cNvSpPr txBox="1"/>
          <p:nvPr/>
        </p:nvSpPr>
        <p:spPr>
          <a:xfrm>
            <a:off x="2487930" y="30449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37" name="Connector 36"/>
          <p:cNvCxnSpPr/>
          <p:nvPr/>
        </p:nvCxnSpPr>
        <p:spPr>
          <a:xfrm>
            <a:off x="2487930" y="33101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487930" y="3328415"/>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6</a:t>
            </a:r>
          </a:p>
        </p:txBody>
      </p:sp>
      <p:sp>
        <p:nvSpPr>
          <p:cNvPr id="39" name="TextBox 38"/>
          <p:cNvSpPr txBox="1"/>
          <p:nvPr/>
        </p:nvSpPr>
        <p:spPr>
          <a:xfrm>
            <a:off x="521207" y="3785616"/>
            <a:ext cx="28143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a:t>
            </a:r>
          </a:p>
        </p:txBody>
      </p:sp>
      <p:sp>
        <p:nvSpPr>
          <p:cNvPr id="40" name="TextBox 39"/>
          <p:cNvSpPr txBox="1"/>
          <p:nvPr/>
        </p:nvSpPr>
        <p:spPr>
          <a:xfrm>
            <a:off x="802640" y="3666744"/>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cxnSp>
        <p:nvCxnSpPr>
          <p:cNvPr id="41" name="Connector 40"/>
          <p:cNvCxnSpPr/>
          <p:nvPr/>
        </p:nvCxnSpPr>
        <p:spPr>
          <a:xfrm>
            <a:off x="802640" y="3931920"/>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02640" y="3950208"/>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6</a:t>
            </a:r>
          </a:p>
        </p:txBody>
      </p:sp>
      <p:sp>
        <p:nvSpPr>
          <p:cNvPr id="43" name="TextBox 42"/>
          <p:cNvSpPr txBox="1"/>
          <p:nvPr/>
        </p:nvSpPr>
        <p:spPr>
          <a:xfrm>
            <a:off x="1094232" y="3785616"/>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44" name="TextBox 43"/>
          <p:cNvSpPr txBox="1"/>
          <p:nvPr/>
        </p:nvSpPr>
        <p:spPr>
          <a:xfrm>
            <a:off x="1458214" y="3666744"/>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45" name="Connector 44"/>
          <p:cNvCxnSpPr/>
          <p:nvPr/>
        </p:nvCxnSpPr>
        <p:spPr>
          <a:xfrm>
            <a:off x="1458214" y="3931920"/>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458214" y="3950208"/>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2</a:t>
            </a:r>
          </a:p>
        </p:txBody>
      </p:sp>
      <p:sp>
        <p:nvSpPr>
          <p:cNvPr id="47" name="Rectangle 46"/>
          <p:cNvSpPr/>
          <p:nvPr/>
        </p:nvSpPr>
        <p:spPr>
          <a:xfrm>
            <a:off x="448056" y="4572000"/>
            <a:ext cx="1447800" cy="365760"/>
          </a:xfrm>
          <a:prstGeom prst="rect">
            <a:avLst/>
          </a:prstGeom>
          <a:solidFill>
            <a:srgbClr val="BBDDDD"/>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895856" y="4572000"/>
            <a:ext cx="1447800" cy="365760"/>
          </a:xfrm>
          <a:prstGeom prst="rect">
            <a:avLst/>
          </a:prstGeom>
          <a:solidFill>
            <a:srgbClr val="FFFFFF"/>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343656" y="4572000"/>
            <a:ext cx="1447800" cy="365760"/>
          </a:xfrm>
          <a:prstGeom prst="rect">
            <a:avLst/>
          </a:prstGeom>
          <a:solidFill>
            <a:srgbClr val="FFFFFF"/>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48056" y="5148072"/>
            <a:ext cx="723900" cy="365760"/>
          </a:xfrm>
          <a:prstGeom prst="rect">
            <a:avLst/>
          </a:prstGeom>
          <a:solidFill>
            <a:srgbClr val="BBDDDD"/>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171956" y="5148072"/>
            <a:ext cx="723900" cy="365760"/>
          </a:xfrm>
          <a:prstGeom prst="rect">
            <a:avLst/>
          </a:prstGeom>
          <a:solidFill>
            <a:srgbClr val="BBDDDD"/>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895856" y="5148072"/>
            <a:ext cx="723900" cy="365760"/>
          </a:xfrm>
          <a:prstGeom prst="rect">
            <a:avLst/>
          </a:prstGeom>
          <a:solidFill>
            <a:srgbClr val="FFFFFF"/>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619756" y="5148072"/>
            <a:ext cx="723900" cy="365760"/>
          </a:xfrm>
          <a:prstGeom prst="rect">
            <a:avLst/>
          </a:prstGeom>
          <a:solidFill>
            <a:srgbClr val="FFFFFF"/>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343656" y="5148072"/>
            <a:ext cx="723900" cy="365760"/>
          </a:xfrm>
          <a:prstGeom prst="rect">
            <a:avLst/>
          </a:prstGeom>
          <a:solidFill>
            <a:srgbClr val="FFFFFF"/>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067556" y="5148072"/>
            <a:ext cx="723900" cy="365760"/>
          </a:xfrm>
          <a:prstGeom prst="rect">
            <a:avLst/>
          </a:prstGeom>
          <a:solidFill>
            <a:srgbClr val="FFFFFF"/>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48056" y="5815584"/>
            <a:ext cx="4389120" cy="155448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The two strips are the same whole.</a:t>
            </a:r>
          </a:p>
          <a:p>
            <a:pPr>
              <a:lnSpc>
                <a:spcPts val="1995"/>
              </a:lnSpc>
              <a:spcBef>
                <a:spcPts val="0"/>
              </a:spcBef>
              <a:spcAft>
                <a:spcPts val="0"/>
              </a:spcAft>
              <a:defRPr sz="1900" b="0">
                <a:solidFill>
                  <a:srgbClr val="182B3A"/>
                </a:solidFill>
                <a:latin typeface="Arial"/>
              </a:defRPr>
            </a:pPr>
            <a:r>
              <a:t>Multiply top and bottom by 2: the value stays the same.</a:t>
            </a:r>
          </a:p>
        </p:txBody>
      </p:sp>
      <p:sp>
        <p:nvSpPr>
          <p:cNvPr id="57" name="TextBox 56"/>
          <p:cNvSpPr txBox="1"/>
          <p:nvPr/>
        </p:nvSpPr>
        <p:spPr>
          <a:xfrm>
            <a:off x="5111496" y="1783080"/>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Use a common denominator</a:t>
            </a:r>
          </a:p>
        </p:txBody>
      </p:sp>
      <p:sp>
        <p:nvSpPr>
          <p:cNvPr id="58" name="TextBox 57"/>
          <p:cNvSpPr txBox="1"/>
          <p:nvPr/>
        </p:nvSpPr>
        <p:spPr>
          <a:xfrm>
            <a:off x="5184648" y="2423160"/>
            <a:ext cx="24307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3</a:t>
            </a:r>
          </a:p>
        </p:txBody>
      </p:sp>
      <p:cxnSp>
        <p:nvCxnSpPr>
          <p:cNvPr id="59" name="Connector 58"/>
          <p:cNvCxnSpPr/>
          <p:nvPr/>
        </p:nvCxnSpPr>
        <p:spPr>
          <a:xfrm>
            <a:off x="5184648" y="2688336"/>
            <a:ext cx="2430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184648" y="2706624"/>
            <a:ext cx="24307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4</a:t>
            </a:r>
          </a:p>
        </p:txBody>
      </p:sp>
      <p:sp>
        <p:nvSpPr>
          <p:cNvPr id="61" name="TextBox 60"/>
          <p:cNvSpPr txBox="1"/>
          <p:nvPr/>
        </p:nvSpPr>
        <p:spPr>
          <a:xfrm>
            <a:off x="5482590" y="2542032"/>
            <a:ext cx="376682" cy="347472"/>
          </a:xfrm>
          <a:prstGeom prst="rect">
            <a:avLst/>
          </a:prstGeom>
          <a:noFill/>
        </p:spPr>
        <p:txBody>
          <a:bodyPr wrap="none" lIns="0" rIns="0" tIns="0" bIns="0">
            <a:spAutoFit/>
          </a:bodyPr>
          <a:lstStyle/>
          <a:p>
            <a:pPr algn="l">
              <a:lnSpc>
                <a:spcPts val="2688"/>
              </a:lnSpc>
              <a:spcAft>
                <a:spcPts val="0"/>
              </a:spcAft>
              <a:defRPr sz="2400" b="0">
                <a:solidFill>
                  <a:srgbClr val="182B3A"/>
                </a:solidFill>
                <a:latin typeface="Arial"/>
              </a:defRPr>
            </a:pPr>
            <a:r>
              <a:t> − </a:t>
            </a:r>
          </a:p>
        </p:txBody>
      </p:sp>
      <p:sp>
        <p:nvSpPr>
          <p:cNvPr id="62" name="TextBox 61"/>
          <p:cNvSpPr txBox="1"/>
          <p:nvPr/>
        </p:nvSpPr>
        <p:spPr>
          <a:xfrm>
            <a:off x="5859272" y="2423160"/>
            <a:ext cx="24307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1</a:t>
            </a:r>
          </a:p>
        </p:txBody>
      </p:sp>
      <p:cxnSp>
        <p:nvCxnSpPr>
          <p:cNvPr id="63" name="Connector 62"/>
          <p:cNvCxnSpPr/>
          <p:nvPr/>
        </p:nvCxnSpPr>
        <p:spPr>
          <a:xfrm>
            <a:off x="5859272" y="2688336"/>
            <a:ext cx="2430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5859272" y="2706624"/>
            <a:ext cx="24307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6</a:t>
            </a:r>
          </a:p>
        </p:txBody>
      </p:sp>
      <p:sp>
        <p:nvSpPr>
          <p:cNvPr id="65" name="TextBox 64"/>
          <p:cNvSpPr txBox="1"/>
          <p:nvPr/>
        </p:nvSpPr>
        <p:spPr>
          <a:xfrm>
            <a:off x="5184648" y="3163824"/>
            <a:ext cx="290957" cy="347472"/>
          </a:xfrm>
          <a:prstGeom prst="rect">
            <a:avLst/>
          </a:prstGeom>
          <a:noFill/>
        </p:spPr>
        <p:txBody>
          <a:bodyPr wrap="none" lIns="0" rIns="0" tIns="0" bIns="0">
            <a:spAutoFit/>
          </a:bodyPr>
          <a:lstStyle/>
          <a:p>
            <a:pPr algn="l">
              <a:lnSpc>
                <a:spcPts val="2688"/>
              </a:lnSpc>
              <a:spcAft>
                <a:spcPts val="0"/>
              </a:spcAft>
              <a:defRPr sz="2400" b="0">
                <a:solidFill>
                  <a:srgbClr val="182B3A"/>
                </a:solidFill>
                <a:latin typeface="Arial"/>
              </a:defRPr>
            </a:pPr>
            <a:r>
              <a:t>= </a:t>
            </a:r>
          </a:p>
        </p:txBody>
      </p:sp>
      <p:sp>
        <p:nvSpPr>
          <p:cNvPr id="66" name="TextBox 65"/>
          <p:cNvSpPr txBox="1"/>
          <p:nvPr/>
        </p:nvSpPr>
        <p:spPr>
          <a:xfrm>
            <a:off x="5475604" y="3044952"/>
            <a:ext cx="37642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9</a:t>
            </a:r>
          </a:p>
        </p:txBody>
      </p:sp>
      <p:cxnSp>
        <p:nvCxnSpPr>
          <p:cNvPr id="67" name="Connector 66"/>
          <p:cNvCxnSpPr/>
          <p:nvPr/>
        </p:nvCxnSpPr>
        <p:spPr>
          <a:xfrm>
            <a:off x="5475604" y="3310128"/>
            <a:ext cx="37642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475604" y="3328415"/>
            <a:ext cx="37642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12</a:t>
            </a:r>
          </a:p>
        </p:txBody>
      </p:sp>
      <p:sp>
        <p:nvSpPr>
          <p:cNvPr id="69" name="TextBox 68"/>
          <p:cNvSpPr txBox="1"/>
          <p:nvPr/>
        </p:nvSpPr>
        <p:spPr>
          <a:xfrm>
            <a:off x="5906897" y="3163824"/>
            <a:ext cx="376682" cy="347472"/>
          </a:xfrm>
          <a:prstGeom prst="rect">
            <a:avLst/>
          </a:prstGeom>
          <a:noFill/>
        </p:spPr>
        <p:txBody>
          <a:bodyPr wrap="none" lIns="0" rIns="0" tIns="0" bIns="0">
            <a:spAutoFit/>
          </a:bodyPr>
          <a:lstStyle/>
          <a:p>
            <a:pPr algn="l">
              <a:lnSpc>
                <a:spcPts val="2688"/>
              </a:lnSpc>
              <a:spcAft>
                <a:spcPts val="0"/>
              </a:spcAft>
              <a:defRPr sz="2400" b="0">
                <a:solidFill>
                  <a:srgbClr val="182B3A"/>
                </a:solidFill>
                <a:latin typeface="Arial"/>
              </a:defRPr>
            </a:pPr>
            <a:r>
              <a:t> − </a:t>
            </a:r>
          </a:p>
        </p:txBody>
      </p:sp>
      <p:sp>
        <p:nvSpPr>
          <p:cNvPr id="70" name="TextBox 69"/>
          <p:cNvSpPr txBox="1"/>
          <p:nvPr/>
        </p:nvSpPr>
        <p:spPr>
          <a:xfrm>
            <a:off x="6283579" y="3044952"/>
            <a:ext cx="37642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2</a:t>
            </a:r>
          </a:p>
        </p:txBody>
      </p:sp>
      <p:cxnSp>
        <p:nvCxnSpPr>
          <p:cNvPr id="71" name="Connector 70"/>
          <p:cNvCxnSpPr/>
          <p:nvPr/>
        </p:nvCxnSpPr>
        <p:spPr>
          <a:xfrm>
            <a:off x="6283579" y="3310128"/>
            <a:ext cx="3764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6283579" y="3328415"/>
            <a:ext cx="37642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12</a:t>
            </a:r>
          </a:p>
        </p:txBody>
      </p:sp>
      <p:sp>
        <p:nvSpPr>
          <p:cNvPr id="73" name="TextBox 72"/>
          <p:cNvSpPr txBox="1"/>
          <p:nvPr/>
        </p:nvSpPr>
        <p:spPr>
          <a:xfrm>
            <a:off x="5184648" y="3785616"/>
            <a:ext cx="290957" cy="347472"/>
          </a:xfrm>
          <a:prstGeom prst="rect">
            <a:avLst/>
          </a:prstGeom>
          <a:noFill/>
        </p:spPr>
        <p:txBody>
          <a:bodyPr wrap="none" lIns="0" rIns="0" tIns="0" bIns="0">
            <a:spAutoFit/>
          </a:bodyPr>
          <a:lstStyle/>
          <a:p>
            <a:pPr algn="l">
              <a:lnSpc>
                <a:spcPts val="2688"/>
              </a:lnSpc>
              <a:spcAft>
                <a:spcPts val="0"/>
              </a:spcAft>
              <a:defRPr sz="2400" b="0">
                <a:solidFill>
                  <a:srgbClr val="182B3A"/>
                </a:solidFill>
                <a:latin typeface="Arial"/>
              </a:defRPr>
            </a:pPr>
            <a:r>
              <a:t>= </a:t>
            </a:r>
          </a:p>
        </p:txBody>
      </p:sp>
      <p:sp>
        <p:nvSpPr>
          <p:cNvPr id="74" name="TextBox 73"/>
          <p:cNvSpPr txBox="1"/>
          <p:nvPr/>
        </p:nvSpPr>
        <p:spPr>
          <a:xfrm>
            <a:off x="5475604" y="3666744"/>
            <a:ext cx="37642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7</a:t>
            </a:r>
          </a:p>
        </p:txBody>
      </p:sp>
      <p:cxnSp>
        <p:nvCxnSpPr>
          <p:cNvPr id="75" name="Connector 74"/>
          <p:cNvCxnSpPr/>
          <p:nvPr/>
        </p:nvCxnSpPr>
        <p:spPr>
          <a:xfrm>
            <a:off x="5475604" y="3931920"/>
            <a:ext cx="37642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5475604" y="3950208"/>
            <a:ext cx="37642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12</a:t>
            </a:r>
          </a:p>
        </p:txBody>
      </p:sp>
      <p:sp>
        <p:nvSpPr>
          <p:cNvPr id="77" name="TextBox 76"/>
          <p:cNvSpPr txBox="1"/>
          <p:nvPr/>
        </p:nvSpPr>
        <p:spPr>
          <a:xfrm>
            <a:off x="5111496" y="4709160"/>
            <a:ext cx="4389120" cy="265176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Choose a common multiple: 12.</a:t>
            </a:r>
          </a:p>
          <a:p>
            <a:pPr>
              <a:lnSpc>
                <a:spcPts val="1995"/>
              </a:lnSpc>
              <a:spcBef>
                <a:spcPts val="0"/>
              </a:spcBef>
              <a:spcAft>
                <a:spcPts val="0"/>
              </a:spcAft>
              <a:defRPr sz="1900" b="0">
                <a:solidFill>
                  <a:srgbClr val="182B3A"/>
                </a:solidFill>
                <a:latin typeface="Arial"/>
              </a:defRPr>
            </a:pPr>
            <a:r>
              <a:t>Multiply each numerator by the same factor as its denominator.</a:t>
            </a:r>
          </a:p>
          <a:p>
            <a:pPr>
              <a:lnSpc>
                <a:spcPts val="1995"/>
              </a:lnSpc>
              <a:spcBef>
                <a:spcPts val="0"/>
              </a:spcBef>
              <a:spcAft>
                <a:spcPts val="0"/>
              </a:spcAft>
              <a:defRPr sz="1900" b="0">
                <a:solidFill>
                  <a:srgbClr val="182B3A"/>
                </a:solidFill>
                <a:latin typeface="Arial"/>
              </a:defRPr>
            </a:pPr>
            <a:r>
              <a:t>Only add or subtract the numerators.</a:t>
            </a:r>
          </a:p>
          <a:p>
            <a:pPr>
              <a:lnSpc>
                <a:spcPts val="1995"/>
              </a:lnSpc>
              <a:spcBef>
                <a:spcPts val="0"/>
              </a:spcBef>
              <a:spcAft>
                <a:spcPts val="0"/>
              </a:spcAft>
              <a:defRPr sz="1900" b="0">
                <a:solidFill>
                  <a:srgbClr val="182B3A"/>
                </a:solidFill>
                <a:latin typeface="Arial"/>
              </a:defRPr>
            </a:pPr>
            <a:r>
              <a:t>Equal fractions subtract to zero: 3/5 − 3/5 = 0.</a:t>
            </a:r>
          </a:p>
        </p:txBody>
      </p:sp>
      <p:sp>
        <p:nvSpPr>
          <p:cNvPr id="78" name="TextBox 77"/>
          <p:cNvSpPr txBox="1"/>
          <p:nvPr/>
        </p:nvSpPr>
        <p:spPr>
          <a:xfrm>
            <a:off x="9774936" y="1783080"/>
            <a:ext cx="4389120" cy="45720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Mixed numbers and simplifying</a:t>
            </a:r>
          </a:p>
        </p:txBody>
      </p:sp>
      <p:sp>
        <p:nvSpPr>
          <p:cNvPr id="79" name="TextBox 78"/>
          <p:cNvSpPr txBox="1"/>
          <p:nvPr/>
        </p:nvSpPr>
        <p:spPr>
          <a:xfrm>
            <a:off x="9848088" y="2542032"/>
            <a:ext cx="271906"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1 </a:t>
            </a:r>
          </a:p>
        </p:txBody>
      </p:sp>
      <p:sp>
        <p:nvSpPr>
          <p:cNvPr id="80" name="TextBox 79"/>
          <p:cNvSpPr txBox="1"/>
          <p:nvPr/>
        </p:nvSpPr>
        <p:spPr>
          <a:xfrm>
            <a:off x="10119995" y="2423160"/>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81" name="Connector 80"/>
          <p:cNvCxnSpPr/>
          <p:nvPr/>
        </p:nvCxnSpPr>
        <p:spPr>
          <a:xfrm>
            <a:off x="10119995" y="2688336"/>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0119995" y="2706624"/>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83" name="TextBox 82"/>
          <p:cNvSpPr txBox="1"/>
          <p:nvPr/>
        </p:nvSpPr>
        <p:spPr>
          <a:xfrm>
            <a:off x="10411587" y="2542032"/>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84" name="TextBox 83"/>
          <p:cNvSpPr txBox="1"/>
          <p:nvPr/>
        </p:nvSpPr>
        <p:spPr>
          <a:xfrm>
            <a:off x="10775569" y="2423160"/>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4</a:t>
            </a:r>
          </a:p>
        </p:txBody>
      </p:sp>
      <p:cxnSp>
        <p:nvCxnSpPr>
          <p:cNvPr id="85" name="Connector 84"/>
          <p:cNvCxnSpPr/>
          <p:nvPr/>
        </p:nvCxnSpPr>
        <p:spPr>
          <a:xfrm>
            <a:off x="10775569" y="2688336"/>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0775569" y="2706624"/>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87" name="TextBox 86"/>
          <p:cNvSpPr txBox="1"/>
          <p:nvPr/>
        </p:nvSpPr>
        <p:spPr>
          <a:xfrm>
            <a:off x="9848088" y="30449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4</a:t>
            </a:r>
          </a:p>
        </p:txBody>
      </p:sp>
      <p:cxnSp>
        <p:nvCxnSpPr>
          <p:cNvPr id="88" name="Connector 87"/>
          <p:cNvCxnSpPr/>
          <p:nvPr/>
        </p:nvCxnSpPr>
        <p:spPr>
          <a:xfrm>
            <a:off x="9848088" y="33101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9848088" y="3328415"/>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90" name="TextBox 89"/>
          <p:cNvSpPr txBox="1"/>
          <p:nvPr/>
        </p:nvSpPr>
        <p:spPr>
          <a:xfrm>
            <a:off x="10139680" y="31638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91" name="TextBox 90"/>
          <p:cNvSpPr txBox="1"/>
          <p:nvPr/>
        </p:nvSpPr>
        <p:spPr>
          <a:xfrm>
            <a:off x="10503662" y="30449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cxnSp>
        <p:nvCxnSpPr>
          <p:cNvPr id="92" name="Connector 91"/>
          <p:cNvCxnSpPr/>
          <p:nvPr/>
        </p:nvCxnSpPr>
        <p:spPr>
          <a:xfrm>
            <a:off x="10503662" y="33101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10503662" y="3328415"/>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4</a:t>
            </a:r>
          </a:p>
        </p:txBody>
      </p:sp>
      <p:sp>
        <p:nvSpPr>
          <p:cNvPr id="94" name="TextBox 93"/>
          <p:cNvSpPr txBox="1"/>
          <p:nvPr/>
        </p:nvSpPr>
        <p:spPr>
          <a:xfrm>
            <a:off x="10795254" y="31638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95" name="TextBox 94"/>
          <p:cNvSpPr txBox="1"/>
          <p:nvPr/>
        </p:nvSpPr>
        <p:spPr>
          <a:xfrm>
            <a:off x="11159236" y="3044952"/>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16</a:t>
            </a:r>
          </a:p>
        </p:txBody>
      </p:sp>
      <p:cxnSp>
        <p:nvCxnSpPr>
          <p:cNvPr id="96" name="Connector 95"/>
          <p:cNvCxnSpPr/>
          <p:nvPr/>
        </p:nvCxnSpPr>
        <p:spPr>
          <a:xfrm>
            <a:off x="11159236" y="3310128"/>
            <a:ext cx="363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11159236" y="3328415"/>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12</a:t>
            </a:r>
          </a:p>
        </p:txBody>
      </p:sp>
      <p:sp>
        <p:nvSpPr>
          <p:cNvPr id="98" name="TextBox 97"/>
          <p:cNvSpPr txBox="1"/>
          <p:nvPr/>
        </p:nvSpPr>
        <p:spPr>
          <a:xfrm>
            <a:off x="11577828" y="31638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99" name="TextBox 98"/>
          <p:cNvSpPr txBox="1"/>
          <p:nvPr/>
        </p:nvSpPr>
        <p:spPr>
          <a:xfrm>
            <a:off x="11941810" y="3044952"/>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9</a:t>
            </a:r>
          </a:p>
        </p:txBody>
      </p:sp>
      <p:cxnSp>
        <p:nvCxnSpPr>
          <p:cNvPr id="100" name="Connector 99"/>
          <p:cNvCxnSpPr/>
          <p:nvPr/>
        </p:nvCxnSpPr>
        <p:spPr>
          <a:xfrm>
            <a:off x="11941810" y="3310128"/>
            <a:ext cx="363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1941810" y="3328415"/>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12</a:t>
            </a:r>
          </a:p>
        </p:txBody>
      </p:sp>
      <p:sp>
        <p:nvSpPr>
          <p:cNvPr id="102" name="TextBox 101"/>
          <p:cNvSpPr txBox="1"/>
          <p:nvPr/>
        </p:nvSpPr>
        <p:spPr>
          <a:xfrm>
            <a:off x="9848088" y="3785616"/>
            <a:ext cx="28143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a:t>
            </a:r>
          </a:p>
        </p:txBody>
      </p:sp>
      <p:sp>
        <p:nvSpPr>
          <p:cNvPr id="103" name="TextBox 102"/>
          <p:cNvSpPr txBox="1"/>
          <p:nvPr/>
        </p:nvSpPr>
        <p:spPr>
          <a:xfrm>
            <a:off x="10129520" y="3666744"/>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7</a:t>
            </a:r>
          </a:p>
        </p:txBody>
      </p:sp>
      <p:cxnSp>
        <p:nvCxnSpPr>
          <p:cNvPr id="104" name="Connector 103"/>
          <p:cNvCxnSpPr/>
          <p:nvPr/>
        </p:nvCxnSpPr>
        <p:spPr>
          <a:xfrm>
            <a:off x="10129520" y="3931920"/>
            <a:ext cx="363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10129520" y="3950208"/>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12</a:t>
            </a:r>
          </a:p>
        </p:txBody>
      </p:sp>
      <p:sp>
        <p:nvSpPr>
          <p:cNvPr id="106" name="TextBox 105"/>
          <p:cNvSpPr txBox="1"/>
          <p:nvPr/>
        </p:nvSpPr>
        <p:spPr>
          <a:xfrm>
            <a:off x="9848088" y="428853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8</a:t>
            </a:r>
          </a:p>
        </p:txBody>
      </p:sp>
      <p:cxnSp>
        <p:nvCxnSpPr>
          <p:cNvPr id="107" name="Connector 106"/>
          <p:cNvCxnSpPr/>
          <p:nvPr/>
        </p:nvCxnSpPr>
        <p:spPr>
          <a:xfrm>
            <a:off x="9848088" y="4553712"/>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9848088" y="4572000"/>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6</a:t>
            </a:r>
          </a:p>
        </p:txBody>
      </p:sp>
      <p:sp>
        <p:nvSpPr>
          <p:cNvPr id="109" name="TextBox 108"/>
          <p:cNvSpPr txBox="1"/>
          <p:nvPr/>
        </p:nvSpPr>
        <p:spPr>
          <a:xfrm>
            <a:off x="10139680" y="4407408"/>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110" name="TextBox 109"/>
          <p:cNvSpPr txBox="1"/>
          <p:nvPr/>
        </p:nvSpPr>
        <p:spPr>
          <a:xfrm>
            <a:off x="10503662" y="428853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4</a:t>
            </a:r>
          </a:p>
        </p:txBody>
      </p:sp>
      <p:cxnSp>
        <p:nvCxnSpPr>
          <p:cNvPr id="111" name="Connector 110"/>
          <p:cNvCxnSpPr/>
          <p:nvPr/>
        </p:nvCxnSpPr>
        <p:spPr>
          <a:xfrm>
            <a:off x="10503662" y="4553712"/>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0503662" y="4572000"/>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113" name="TextBox 112"/>
          <p:cNvSpPr txBox="1"/>
          <p:nvPr/>
        </p:nvSpPr>
        <p:spPr>
          <a:xfrm>
            <a:off x="10795254" y="4407408"/>
            <a:ext cx="608457"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1 </a:t>
            </a:r>
          </a:p>
        </p:txBody>
      </p:sp>
      <p:sp>
        <p:nvSpPr>
          <p:cNvPr id="114" name="TextBox 113"/>
          <p:cNvSpPr txBox="1"/>
          <p:nvPr/>
        </p:nvSpPr>
        <p:spPr>
          <a:xfrm>
            <a:off x="11403711" y="428853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115" name="Connector 114"/>
          <p:cNvCxnSpPr/>
          <p:nvPr/>
        </p:nvCxnSpPr>
        <p:spPr>
          <a:xfrm>
            <a:off x="11403711" y="4553712"/>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11403711" y="4572000"/>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117" name="TextBox 116"/>
          <p:cNvSpPr txBox="1"/>
          <p:nvPr/>
        </p:nvSpPr>
        <p:spPr>
          <a:xfrm>
            <a:off x="9774936" y="5303520"/>
            <a:ext cx="4389120" cy="2103120"/>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Whole × denominator + numerator gives the improper numerator.</a:t>
            </a:r>
          </a:p>
          <a:p>
            <a:pPr>
              <a:lnSpc>
                <a:spcPts val="1890"/>
              </a:lnSpc>
              <a:spcBef>
                <a:spcPts val="0"/>
              </a:spcBef>
              <a:spcAft>
                <a:spcPts val="0"/>
              </a:spcAft>
              <a:defRPr sz="1800" b="0">
                <a:solidFill>
                  <a:srgbClr val="182B3A"/>
                </a:solidFill>
                <a:latin typeface="Arial"/>
              </a:defRPr>
            </a:pPr>
            <a:r>
              <a:t>Simplify by dividing top and bottom by the same factor.</a:t>
            </a:r>
          </a:p>
          <a:p>
            <a:pPr>
              <a:lnSpc>
                <a:spcPts val="1890"/>
              </a:lnSpc>
              <a:spcBef>
                <a:spcPts val="0"/>
              </a:spcBef>
              <a:spcAft>
                <a:spcPts val="0"/>
              </a:spcAft>
              <a:defRPr sz="1800" b="0">
                <a:solidFill>
                  <a:srgbClr val="182B3A"/>
                </a:solidFill>
                <a:latin typeface="Arial"/>
              </a:defRPr>
            </a:pPr>
            <a:r>
              <a:t>For a mixed answer, divide: quotient is the whole; remainder is the numerator.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Calculate, simplify and give mixed answers where needed.</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M15-S01</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00200"/>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19" y="185623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5" name="Connector 14"/>
          <p:cNvCxnSpPr/>
          <p:nvPr/>
        </p:nvCxnSpPr>
        <p:spPr>
          <a:xfrm>
            <a:off x="502919" y="2121408"/>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2919" y="2139696"/>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17" name="TextBox 16"/>
          <p:cNvSpPr txBox="1"/>
          <p:nvPr/>
        </p:nvSpPr>
        <p:spPr>
          <a:xfrm>
            <a:off x="810387" y="1975103"/>
            <a:ext cx="405257"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 </a:t>
            </a:r>
          </a:p>
        </p:txBody>
      </p:sp>
      <p:sp>
        <p:nvSpPr>
          <p:cNvPr id="18" name="TextBox 17"/>
          <p:cNvSpPr txBox="1"/>
          <p:nvPr/>
        </p:nvSpPr>
        <p:spPr>
          <a:xfrm>
            <a:off x="1215644" y="185623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9" name="Connector 18"/>
          <p:cNvCxnSpPr/>
          <p:nvPr/>
        </p:nvCxnSpPr>
        <p:spPr>
          <a:xfrm>
            <a:off x="1215644" y="2121408"/>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215644" y="2139696"/>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21" name="TextBox 20"/>
          <p:cNvSpPr txBox="1"/>
          <p:nvPr/>
        </p:nvSpPr>
        <p:spPr>
          <a:xfrm>
            <a:off x="502919" y="2734056"/>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22" name="TextBox 21"/>
          <p:cNvSpPr txBox="1"/>
          <p:nvPr/>
        </p:nvSpPr>
        <p:spPr>
          <a:xfrm>
            <a:off x="816102" y="2615184"/>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23" name="Connector 22"/>
          <p:cNvCxnSpPr/>
          <p:nvPr/>
        </p:nvCxnSpPr>
        <p:spPr>
          <a:xfrm>
            <a:off x="816102" y="2880359"/>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6102" y="2898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25" name="TextBox 24"/>
          <p:cNvSpPr txBox="1"/>
          <p:nvPr/>
        </p:nvSpPr>
        <p:spPr>
          <a:xfrm>
            <a:off x="502919" y="3493008"/>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26" name="TextBox 25"/>
          <p:cNvSpPr txBox="1"/>
          <p:nvPr/>
        </p:nvSpPr>
        <p:spPr>
          <a:xfrm>
            <a:off x="816102" y="3374135"/>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27" name="Connector 26"/>
          <p:cNvCxnSpPr/>
          <p:nvPr/>
        </p:nvCxnSpPr>
        <p:spPr>
          <a:xfrm>
            <a:off x="816102" y="3639311"/>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16102" y="3657600"/>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sp>
        <p:nvSpPr>
          <p:cNvPr id="29" name="TextBox 28"/>
          <p:cNvSpPr txBox="1"/>
          <p:nvPr/>
        </p:nvSpPr>
        <p:spPr>
          <a:xfrm>
            <a:off x="448056" y="5961888"/>
            <a:ext cx="4370832" cy="14630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Use equal-sized parts; change numerator and denominator together, then add or subtract only the numerators. Simplify the result.</a:t>
            </a:r>
          </a:p>
        </p:txBody>
      </p:sp>
      <p:sp>
        <p:nvSpPr>
          <p:cNvPr id="30" name="Rectangle 29"/>
          <p:cNvSpPr/>
          <p:nvPr/>
        </p:nvSpPr>
        <p:spPr>
          <a:xfrm>
            <a:off x="4983480" y="1600200"/>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66360" y="185623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32" name="Connector 31"/>
          <p:cNvCxnSpPr/>
          <p:nvPr/>
        </p:nvCxnSpPr>
        <p:spPr>
          <a:xfrm>
            <a:off x="5166360" y="2121408"/>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166360" y="2139696"/>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34" name="TextBox 33"/>
          <p:cNvSpPr txBox="1"/>
          <p:nvPr/>
        </p:nvSpPr>
        <p:spPr>
          <a:xfrm>
            <a:off x="5473827" y="1975103"/>
            <a:ext cx="405257"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 </a:t>
            </a:r>
          </a:p>
        </p:txBody>
      </p:sp>
      <p:sp>
        <p:nvSpPr>
          <p:cNvPr id="35" name="TextBox 34"/>
          <p:cNvSpPr txBox="1"/>
          <p:nvPr/>
        </p:nvSpPr>
        <p:spPr>
          <a:xfrm>
            <a:off x="5879084" y="185623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36" name="Connector 35"/>
          <p:cNvCxnSpPr/>
          <p:nvPr/>
        </p:nvCxnSpPr>
        <p:spPr>
          <a:xfrm>
            <a:off x="5879084" y="2121408"/>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879084" y="2139696"/>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38" name="TextBox 37"/>
          <p:cNvSpPr txBox="1"/>
          <p:nvPr/>
        </p:nvSpPr>
        <p:spPr>
          <a:xfrm>
            <a:off x="5166360" y="2734056"/>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39" name="TextBox 38"/>
          <p:cNvSpPr txBox="1"/>
          <p:nvPr/>
        </p:nvSpPr>
        <p:spPr>
          <a:xfrm>
            <a:off x="5479542" y="2615184"/>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40" name="Connector 39"/>
          <p:cNvCxnSpPr/>
          <p:nvPr/>
        </p:nvCxnSpPr>
        <p:spPr>
          <a:xfrm>
            <a:off x="5479542" y="2880359"/>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479542" y="2898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42" name="TextBox 41"/>
          <p:cNvSpPr txBox="1"/>
          <p:nvPr/>
        </p:nvSpPr>
        <p:spPr>
          <a:xfrm>
            <a:off x="5787009" y="2734056"/>
            <a:ext cx="405257"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 </a:t>
            </a:r>
          </a:p>
        </p:txBody>
      </p:sp>
      <p:sp>
        <p:nvSpPr>
          <p:cNvPr id="43" name="TextBox 42"/>
          <p:cNvSpPr txBox="1"/>
          <p:nvPr/>
        </p:nvSpPr>
        <p:spPr>
          <a:xfrm>
            <a:off x="6192266" y="2615184"/>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44" name="Connector 43"/>
          <p:cNvCxnSpPr/>
          <p:nvPr/>
        </p:nvCxnSpPr>
        <p:spPr>
          <a:xfrm>
            <a:off x="6192266" y="2880359"/>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192266" y="2898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46" name="TextBox 45"/>
          <p:cNvSpPr txBox="1"/>
          <p:nvPr/>
        </p:nvSpPr>
        <p:spPr>
          <a:xfrm>
            <a:off x="5166360" y="3493008"/>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47" name="TextBox 46"/>
          <p:cNvSpPr txBox="1"/>
          <p:nvPr/>
        </p:nvSpPr>
        <p:spPr>
          <a:xfrm>
            <a:off x="5479542" y="3374135"/>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48" name="Connector 47"/>
          <p:cNvCxnSpPr/>
          <p:nvPr/>
        </p:nvCxnSpPr>
        <p:spPr>
          <a:xfrm>
            <a:off x="5479542" y="3639311"/>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479542" y="3657600"/>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50" name="TextBox 49"/>
          <p:cNvSpPr txBox="1"/>
          <p:nvPr/>
        </p:nvSpPr>
        <p:spPr>
          <a:xfrm>
            <a:off x="5166360" y="4251959"/>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51" name="TextBox 50"/>
          <p:cNvSpPr txBox="1"/>
          <p:nvPr/>
        </p:nvSpPr>
        <p:spPr>
          <a:xfrm>
            <a:off x="5479542" y="4133087"/>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52" name="Connector 51"/>
          <p:cNvCxnSpPr/>
          <p:nvPr/>
        </p:nvCxnSpPr>
        <p:spPr>
          <a:xfrm>
            <a:off x="5479542" y="43982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479542" y="44165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sp>
        <p:nvSpPr>
          <p:cNvPr id="54" name="TextBox 53"/>
          <p:cNvSpPr txBox="1"/>
          <p:nvPr/>
        </p:nvSpPr>
        <p:spPr>
          <a:xfrm>
            <a:off x="5111496" y="5961888"/>
            <a:ext cx="4370832" cy="14630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Use equal-sized parts; change numerator and denominator together, then add or subtract only the numerators. Simplify the result.</a:t>
            </a:r>
          </a:p>
        </p:txBody>
      </p:sp>
      <p:sp>
        <p:nvSpPr>
          <p:cNvPr id="55" name="Rectangle 54"/>
          <p:cNvSpPr/>
          <p:nvPr/>
        </p:nvSpPr>
        <p:spPr>
          <a:xfrm>
            <a:off x="9646920" y="1600200"/>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829800" y="1975103"/>
            <a:ext cx="303656"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1 </a:t>
            </a:r>
          </a:p>
        </p:txBody>
      </p:sp>
      <p:sp>
        <p:nvSpPr>
          <p:cNvPr id="57" name="TextBox 56"/>
          <p:cNvSpPr txBox="1"/>
          <p:nvPr/>
        </p:nvSpPr>
        <p:spPr>
          <a:xfrm>
            <a:off x="10133457" y="185623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58" name="Connector 57"/>
          <p:cNvCxnSpPr/>
          <p:nvPr/>
        </p:nvCxnSpPr>
        <p:spPr>
          <a:xfrm>
            <a:off x="10133457" y="2121408"/>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0133457" y="2139696"/>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60" name="TextBox 59"/>
          <p:cNvSpPr txBox="1"/>
          <p:nvPr/>
        </p:nvSpPr>
        <p:spPr>
          <a:xfrm>
            <a:off x="10440924" y="1975103"/>
            <a:ext cx="405257"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 </a:t>
            </a:r>
          </a:p>
        </p:txBody>
      </p:sp>
      <p:sp>
        <p:nvSpPr>
          <p:cNvPr id="61" name="TextBox 60"/>
          <p:cNvSpPr txBox="1"/>
          <p:nvPr/>
        </p:nvSpPr>
        <p:spPr>
          <a:xfrm>
            <a:off x="10846181" y="185623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62" name="Connector 61"/>
          <p:cNvCxnSpPr/>
          <p:nvPr/>
        </p:nvCxnSpPr>
        <p:spPr>
          <a:xfrm>
            <a:off x="10846181" y="2121408"/>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10846181" y="2139696"/>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64" name="TextBox 63"/>
          <p:cNvSpPr txBox="1"/>
          <p:nvPr/>
        </p:nvSpPr>
        <p:spPr>
          <a:xfrm>
            <a:off x="9829800" y="2734056"/>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65" name="TextBox 64"/>
          <p:cNvSpPr txBox="1"/>
          <p:nvPr/>
        </p:nvSpPr>
        <p:spPr>
          <a:xfrm>
            <a:off x="10142982" y="2615184"/>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66" name="Connector 65"/>
          <p:cNvCxnSpPr/>
          <p:nvPr/>
        </p:nvCxnSpPr>
        <p:spPr>
          <a:xfrm>
            <a:off x="10142982" y="2880359"/>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10142982" y="2898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68" name="TextBox 67"/>
          <p:cNvSpPr txBox="1"/>
          <p:nvPr/>
        </p:nvSpPr>
        <p:spPr>
          <a:xfrm>
            <a:off x="10450449" y="2734056"/>
            <a:ext cx="405257"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 </a:t>
            </a:r>
          </a:p>
        </p:txBody>
      </p:sp>
      <p:sp>
        <p:nvSpPr>
          <p:cNvPr id="69" name="TextBox 68"/>
          <p:cNvSpPr txBox="1"/>
          <p:nvPr/>
        </p:nvSpPr>
        <p:spPr>
          <a:xfrm>
            <a:off x="10855706" y="2615184"/>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70" name="Connector 69"/>
          <p:cNvCxnSpPr/>
          <p:nvPr/>
        </p:nvCxnSpPr>
        <p:spPr>
          <a:xfrm>
            <a:off x="10855706" y="2880359"/>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10855706" y="2898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72" name="TextBox 71"/>
          <p:cNvSpPr txBox="1"/>
          <p:nvPr/>
        </p:nvSpPr>
        <p:spPr>
          <a:xfrm>
            <a:off x="9829800" y="3493008"/>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73" name="TextBox 72"/>
          <p:cNvSpPr txBox="1"/>
          <p:nvPr/>
        </p:nvSpPr>
        <p:spPr>
          <a:xfrm>
            <a:off x="10142982" y="3374135"/>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16</a:t>
            </a:r>
          </a:p>
        </p:txBody>
      </p:sp>
      <p:cxnSp>
        <p:nvCxnSpPr>
          <p:cNvPr id="74" name="Connector 73"/>
          <p:cNvCxnSpPr/>
          <p:nvPr/>
        </p:nvCxnSpPr>
        <p:spPr>
          <a:xfrm>
            <a:off x="10142982" y="3639311"/>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10142982" y="3657600"/>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76" name="TextBox 75"/>
          <p:cNvSpPr txBox="1"/>
          <p:nvPr/>
        </p:nvSpPr>
        <p:spPr>
          <a:xfrm>
            <a:off x="10593324" y="3493008"/>
            <a:ext cx="405257"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 </a:t>
            </a:r>
          </a:p>
        </p:txBody>
      </p:sp>
      <p:sp>
        <p:nvSpPr>
          <p:cNvPr id="77" name="TextBox 76"/>
          <p:cNvSpPr txBox="1"/>
          <p:nvPr/>
        </p:nvSpPr>
        <p:spPr>
          <a:xfrm>
            <a:off x="10998581" y="3374135"/>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cxnSp>
        <p:nvCxnSpPr>
          <p:cNvPr id="78" name="Connector 77"/>
          <p:cNvCxnSpPr/>
          <p:nvPr/>
        </p:nvCxnSpPr>
        <p:spPr>
          <a:xfrm>
            <a:off x="10998581" y="3639311"/>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10998581" y="3657600"/>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80" name="TextBox 79"/>
          <p:cNvSpPr txBox="1"/>
          <p:nvPr/>
        </p:nvSpPr>
        <p:spPr>
          <a:xfrm>
            <a:off x="9829800" y="4251959"/>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81" name="TextBox 80"/>
          <p:cNvSpPr txBox="1"/>
          <p:nvPr/>
        </p:nvSpPr>
        <p:spPr>
          <a:xfrm>
            <a:off x="10142982" y="4133087"/>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82" name="Connector 81"/>
          <p:cNvCxnSpPr/>
          <p:nvPr/>
        </p:nvCxnSpPr>
        <p:spPr>
          <a:xfrm>
            <a:off x="10142982" y="439826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10142982" y="441655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84" name="TextBox 83"/>
          <p:cNvSpPr txBox="1"/>
          <p:nvPr/>
        </p:nvSpPr>
        <p:spPr>
          <a:xfrm>
            <a:off x="9774936" y="5961888"/>
            <a:ext cx="4370832" cy="14630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Use equal-sized parts; change numerator and denominator together, then add or subtract only the numerators. Simplify the result.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Calculate and simplify.</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1773936"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691640"/>
            <a:ext cx="1572768" cy="6400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Question</a:t>
            </a:r>
          </a:p>
        </p:txBody>
      </p:sp>
      <p:sp>
        <p:nvSpPr>
          <p:cNvPr id="15" name="Rectangle 14"/>
          <p:cNvSpPr/>
          <p:nvPr/>
        </p:nvSpPr>
        <p:spPr>
          <a:xfrm>
            <a:off x="2121408" y="1581912"/>
            <a:ext cx="4040123" cy="8229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04288"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2</a:t>
            </a:r>
          </a:p>
        </p:txBody>
      </p:sp>
      <p:cxnSp>
        <p:nvCxnSpPr>
          <p:cNvPr id="17" name="Connector 16"/>
          <p:cNvCxnSpPr/>
          <p:nvPr/>
        </p:nvCxnSpPr>
        <p:spPr>
          <a:xfrm>
            <a:off x="2304288"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304288"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9</a:t>
            </a:r>
          </a:p>
        </p:txBody>
      </p:sp>
      <p:sp>
        <p:nvSpPr>
          <p:cNvPr id="19" name="TextBox 18"/>
          <p:cNvSpPr txBox="1"/>
          <p:nvPr/>
        </p:nvSpPr>
        <p:spPr>
          <a:xfrm>
            <a:off x="2595880" y="17922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20" name="TextBox 19"/>
          <p:cNvSpPr txBox="1"/>
          <p:nvPr/>
        </p:nvSpPr>
        <p:spPr>
          <a:xfrm>
            <a:off x="2959861"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5</a:t>
            </a:r>
          </a:p>
        </p:txBody>
      </p:sp>
      <p:cxnSp>
        <p:nvCxnSpPr>
          <p:cNvPr id="21" name="Connector 20"/>
          <p:cNvCxnSpPr/>
          <p:nvPr/>
        </p:nvCxnSpPr>
        <p:spPr>
          <a:xfrm>
            <a:off x="2959861" y="1938528"/>
            <a:ext cx="23672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959861"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9</a:t>
            </a:r>
          </a:p>
        </p:txBody>
      </p:sp>
      <p:sp>
        <p:nvSpPr>
          <p:cNvPr id="23" name="Rectangle 22"/>
          <p:cNvSpPr/>
          <p:nvPr/>
        </p:nvSpPr>
        <p:spPr>
          <a:xfrm>
            <a:off x="6184392" y="1581912"/>
            <a:ext cx="4040123" cy="8229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7272"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cxnSp>
        <p:nvCxnSpPr>
          <p:cNvPr id="25" name="Connector 24"/>
          <p:cNvCxnSpPr/>
          <p:nvPr/>
        </p:nvCxnSpPr>
        <p:spPr>
          <a:xfrm>
            <a:off x="6367272"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67272"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4</a:t>
            </a:r>
          </a:p>
        </p:txBody>
      </p:sp>
      <p:sp>
        <p:nvSpPr>
          <p:cNvPr id="27" name="TextBox 26"/>
          <p:cNvSpPr txBox="1"/>
          <p:nvPr/>
        </p:nvSpPr>
        <p:spPr>
          <a:xfrm>
            <a:off x="6658864" y="17922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28" name="TextBox 27"/>
          <p:cNvSpPr txBox="1"/>
          <p:nvPr/>
        </p:nvSpPr>
        <p:spPr>
          <a:xfrm>
            <a:off x="7022846"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29" name="Connector 28"/>
          <p:cNvCxnSpPr/>
          <p:nvPr/>
        </p:nvCxnSpPr>
        <p:spPr>
          <a:xfrm>
            <a:off x="7022846"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022846"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8</a:t>
            </a:r>
          </a:p>
        </p:txBody>
      </p:sp>
      <p:sp>
        <p:nvSpPr>
          <p:cNvPr id="31" name="Rectangle 30"/>
          <p:cNvSpPr/>
          <p:nvPr/>
        </p:nvSpPr>
        <p:spPr>
          <a:xfrm>
            <a:off x="10247376" y="1581912"/>
            <a:ext cx="4040123" cy="8229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430256" y="1792224"/>
            <a:ext cx="271906"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1 </a:t>
            </a:r>
          </a:p>
        </p:txBody>
      </p:sp>
      <p:sp>
        <p:nvSpPr>
          <p:cNvPr id="33" name="TextBox 32"/>
          <p:cNvSpPr txBox="1"/>
          <p:nvPr/>
        </p:nvSpPr>
        <p:spPr>
          <a:xfrm>
            <a:off x="10702163"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2</a:t>
            </a:r>
          </a:p>
        </p:txBody>
      </p:sp>
      <p:cxnSp>
        <p:nvCxnSpPr>
          <p:cNvPr id="34" name="Connector 33"/>
          <p:cNvCxnSpPr/>
          <p:nvPr/>
        </p:nvCxnSpPr>
        <p:spPr>
          <a:xfrm>
            <a:off x="10702163"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02163"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5</a:t>
            </a:r>
          </a:p>
        </p:txBody>
      </p:sp>
      <p:sp>
        <p:nvSpPr>
          <p:cNvPr id="36" name="TextBox 35"/>
          <p:cNvSpPr txBox="1"/>
          <p:nvPr/>
        </p:nvSpPr>
        <p:spPr>
          <a:xfrm>
            <a:off x="10993755" y="17922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37" name="TextBox 36"/>
          <p:cNvSpPr txBox="1"/>
          <p:nvPr/>
        </p:nvSpPr>
        <p:spPr>
          <a:xfrm>
            <a:off x="11357737"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2</a:t>
            </a:r>
          </a:p>
        </p:txBody>
      </p:sp>
      <p:cxnSp>
        <p:nvCxnSpPr>
          <p:cNvPr id="38" name="Connector 37"/>
          <p:cNvCxnSpPr/>
          <p:nvPr/>
        </p:nvCxnSpPr>
        <p:spPr>
          <a:xfrm>
            <a:off x="11357737"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1357737"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40" name="Rectangle 39"/>
          <p:cNvSpPr/>
          <p:nvPr/>
        </p:nvSpPr>
        <p:spPr>
          <a:xfrm>
            <a:off x="320040" y="2404872"/>
            <a:ext cx="1773936" cy="114300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514600"/>
            <a:ext cx="1572768" cy="96012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Prepare the Fractions</a:t>
            </a:r>
          </a:p>
        </p:txBody>
      </p:sp>
      <p:sp>
        <p:nvSpPr>
          <p:cNvPr id="42" name="Rectangle 41"/>
          <p:cNvSpPr/>
          <p:nvPr/>
        </p:nvSpPr>
        <p:spPr>
          <a:xfrm>
            <a:off x="2121408" y="2404872"/>
            <a:ext cx="4040123" cy="11430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31136" y="2542032"/>
            <a:ext cx="3806952" cy="91440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Convert mixed numbers to improper fractions if needed.</a:t>
            </a:r>
          </a:p>
        </p:txBody>
      </p:sp>
      <p:sp>
        <p:nvSpPr>
          <p:cNvPr id="44" name="Rectangle 43"/>
          <p:cNvSpPr/>
          <p:nvPr/>
        </p:nvSpPr>
        <p:spPr>
          <a:xfrm>
            <a:off x="6184392" y="2404872"/>
            <a:ext cx="4040123" cy="11430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94120" y="2542032"/>
            <a:ext cx="3806952" cy="91440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Convert mixed numbers to improper fractions if needed.</a:t>
            </a:r>
          </a:p>
        </p:txBody>
      </p:sp>
      <p:sp>
        <p:nvSpPr>
          <p:cNvPr id="46" name="Rectangle 45"/>
          <p:cNvSpPr/>
          <p:nvPr/>
        </p:nvSpPr>
        <p:spPr>
          <a:xfrm>
            <a:off x="10247376" y="2404872"/>
            <a:ext cx="4040123" cy="11430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57104" y="2542032"/>
            <a:ext cx="3806952" cy="91440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Convert mixed numbers to improper fractions if needed.</a:t>
            </a:r>
          </a:p>
        </p:txBody>
      </p:sp>
      <p:sp>
        <p:nvSpPr>
          <p:cNvPr id="48" name="Rectangle 47"/>
          <p:cNvSpPr/>
          <p:nvPr/>
        </p:nvSpPr>
        <p:spPr>
          <a:xfrm>
            <a:off x="320040" y="3547872"/>
            <a:ext cx="1773936" cy="132588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3657600"/>
            <a:ext cx="1572768" cy="114300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Use a Common Denominator</a:t>
            </a:r>
          </a:p>
        </p:txBody>
      </p:sp>
      <p:sp>
        <p:nvSpPr>
          <p:cNvPr id="50" name="Rectangle 49"/>
          <p:cNvSpPr/>
          <p:nvPr/>
        </p:nvSpPr>
        <p:spPr>
          <a:xfrm>
            <a:off x="2121408" y="3547872"/>
            <a:ext cx="4040123" cy="132588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31136" y="3685032"/>
            <a:ext cx="3806952" cy="109728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Find a common multiple. Change top and bottom together.</a:t>
            </a:r>
          </a:p>
        </p:txBody>
      </p:sp>
      <p:sp>
        <p:nvSpPr>
          <p:cNvPr id="52" name="Rectangle 51"/>
          <p:cNvSpPr/>
          <p:nvPr/>
        </p:nvSpPr>
        <p:spPr>
          <a:xfrm>
            <a:off x="6184392" y="3547872"/>
            <a:ext cx="4040123" cy="132588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94120" y="3685032"/>
            <a:ext cx="3806952" cy="109728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Find a common multiple. Change top and bottom together.</a:t>
            </a:r>
          </a:p>
        </p:txBody>
      </p:sp>
      <p:sp>
        <p:nvSpPr>
          <p:cNvPr id="54" name="Rectangle 53"/>
          <p:cNvSpPr/>
          <p:nvPr/>
        </p:nvSpPr>
        <p:spPr>
          <a:xfrm>
            <a:off x="10247376" y="3547872"/>
            <a:ext cx="4040123" cy="132588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57104" y="3685032"/>
            <a:ext cx="3806952" cy="109728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Find a common multiple. Change top and bottom together.</a:t>
            </a:r>
          </a:p>
        </p:txBody>
      </p:sp>
      <p:sp>
        <p:nvSpPr>
          <p:cNvPr id="56" name="Rectangle 55"/>
          <p:cNvSpPr/>
          <p:nvPr/>
        </p:nvSpPr>
        <p:spPr>
          <a:xfrm>
            <a:off x="320040" y="4873752"/>
            <a:ext cx="1773936" cy="12344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02336" y="4983480"/>
            <a:ext cx="1572768" cy="105156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Add or Subtract</a:t>
            </a:r>
          </a:p>
        </p:txBody>
      </p:sp>
      <p:sp>
        <p:nvSpPr>
          <p:cNvPr id="58" name="Rectangle 57"/>
          <p:cNvSpPr/>
          <p:nvPr/>
        </p:nvSpPr>
        <p:spPr>
          <a:xfrm>
            <a:off x="2121408" y="4873752"/>
            <a:ext cx="4040123" cy="12344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231136" y="5010912"/>
            <a:ext cx="3806952" cy="10058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Work with the numerators; keep the common denominator.</a:t>
            </a:r>
          </a:p>
        </p:txBody>
      </p:sp>
      <p:sp>
        <p:nvSpPr>
          <p:cNvPr id="60" name="Rectangle 59"/>
          <p:cNvSpPr/>
          <p:nvPr/>
        </p:nvSpPr>
        <p:spPr>
          <a:xfrm>
            <a:off x="6184392" y="4873752"/>
            <a:ext cx="4040123" cy="12344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294120" y="5010912"/>
            <a:ext cx="3806952" cy="10058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Work with the numerators; keep the common denominator.</a:t>
            </a:r>
          </a:p>
        </p:txBody>
      </p:sp>
      <p:sp>
        <p:nvSpPr>
          <p:cNvPr id="62" name="Rectangle 61"/>
          <p:cNvSpPr/>
          <p:nvPr/>
        </p:nvSpPr>
        <p:spPr>
          <a:xfrm>
            <a:off x="10247376" y="4873752"/>
            <a:ext cx="4040123" cy="12344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357104" y="5010912"/>
            <a:ext cx="3806952" cy="10058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Work with the numerators; keep the common denominator.</a:t>
            </a:r>
          </a:p>
        </p:txBody>
      </p:sp>
      <p:sp>
        <p:nvSpPr>
          <p:cNvPr id="64" name="Rectangle 63"/>
          <p:cNvSpPr/>
          <p:nvPr/>
        </p:nvSpPr>
        <p:spPr>
          <a:xfrm>
            <a:off x="320040" y="6108192"/>
            <a:ext cx="1773936" cy="14904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02336" y="6217920"/>
            <a:ext cx="1572768" cy="130759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Simplify the Answer</a:t>
            </a:r>
          </a:p>
        </p:txBody>
      </p:sp>
      <p:sp>
        <p:nvSpPr>
          <p:cNvPr id="66" name="Rectangle 65"/>
          <p:cNvSpPr/>
          <p:nvPr/>
        </p:nvSpPr>
        <p:spPr>
          <a:xfrm>
            <a:off x="2121408" y="6108192"/>
            <a:ext cx="4040123" cy="14904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231136" y="6245352"/>
            <a:ext cx="3806952" cy="126187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Divide top and bottom by a common factor. Give a mixed answer if greater than 1.</a:t>
            </a:r>
          </a:p>
        </p:txBody>
      </p:sp>
      <p:sp>
        <p:nvSpPr>
          <p:cNvPr id="68" name="Rectangle 67"/>
          <p:cNvSpPr/>
          <p:nvPr/>
        </p:nvSpPr>
        <p:spPr>
          <a:xfrm>
            <a:off x="6184392" y="6108192"/>
            <a:ext cx="4040123" cy="14904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94120" y="6245352"/>
            <a:ext cx="3806952" cy="126187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Divide top and bottom by a common factor. Give a mixed answer if greater than 1.</a:t>
            </a:r>
          </a:p>
        </p:txBody>
      </p:sp>
      <p:sp>
        <p:nvSpPr>
          <p:cNvPr id="70" name="Rectangle 69"/>
          <p:cNvSpPr/>
          <p:nvPr/>
        </p:nvSpPr>
        <p:spPr>
          <a:xfrm>
            <a:off x="10247376" y="6108192"/>
            <a:ext cx="4040123" cy="14904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357104" y="6245352"/>
            <a:ext cx="3806952" cy="126187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Divide top and bottom by a common factor. Give a mixed answer if greater than 1.</a:t>
            </a:r>
          </a:p>
        </p:txBody>
      </p:sp>
      <p:sp>
        <p:nvSpPr>
          <p:cNvPr id="72"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Calculate and simplify.</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1773936"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691640"/>
            <a:ext cx="1572768" cy="6400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Question</a:t>
            </a:r>
          </a:p>
        </p:txBody>
      </p:sp>
      <p:sp>
        <p:nvSpPr>
          <p:cNvPr id="15" name="Rectangle 14"/>
          <p:cNvSpPr/>
          <p:nvPr/>
        </p:nvSpPr>
        <p:spPr>
          <a:xfrm>
            <a:off x="2121408" y="1581912"/>
            <a:ext cx="4040123" cy="8229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04288" y="1673352"/>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7</a:t>
            </a:r>
          </a:p>
        </p:txBody>
      </p:sp>
      <p:cxnSp>
        <p:nvCxnSpPr>
          <p:cNvPr id="17" name="Connector 16"/>
          <p:cNvCxnSpPr/>
          <p:nvPr/>
        </p:nvCxnSpPr>
        <p:spPr>
          <a:xfrm>
            <a:off x="2304288" y="1938528"/>
            <a:ext cx="363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304288" y="1956816"/>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10</a:t>
            </a:r>
          </a:p>
        </p:txBody>
      </p:sp>
      <p:sp>
        <p:nvSpPr>
          <p:cNvPr id="19" name="TextBox 18"/>
          <p:cNvSpPr txBox="1"/>
          <p:nvPr/>
        </p:nvSpPr>
        <p:spPr>
          <a:xfrm>
            <a:off x="2722880" y="17922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20" name="TextBox 19"/>
          <p:cNvSpPr txBox="1"/>
          <p:nvPr/>
        </p:nvSpPr>
        <p:spPr>
          <a:xfrm>
            <a:off x="3086862" y="1673352"/>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cxnSp>
        <p:nvCxnSpPr>
          <p:cNvPr id="21" name="Connector 20"/>
          <p:cNvCxnSpPr/>
          <p:nvPr/>
        </p:nvCxnSpPr>
        <p:spPr>
          <a:xfrm>
            <a:off x="3086862" y="1938528"/>
            <a:ext cx="363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086862" y="1956816"/>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10</a:t>
            </a:r>
          </a:p>
        </p:txBody>
      </p:sp>
      <p:sp>
        <p:nvSpPr>
          <p:cNvPr id="23" name="Rectangle 22"/>
          <p:cNvSpPr/>
          <p:nvPr/>
        </p:nvSpPr>
        <p:spPr>
          <a:xfrm>
            <a:off x="6184392" y="1581912"/>
            <a:ext cx="4040123" cy="8229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7272"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2</a:t>
            </a:r>
          </a:p>
        </p:txBody>
      </p:sp>
      <p:cxnSp>
        <p:nvCxnSpPr>
          <p:cNvPr id="25" name="Connector 24"/>
          <p:cNvCxnSpPr/>
          <p:nvPr/>
        </p:nvCxnSpPr>
        <p:spPr>
          <a:xfrm>
            <a:off x="6367272"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67272"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27" name="TextBox 26"/>
          <p:cNvSpPr txBox="1"/>
          <p:nvPr/>
        </p:nvSpPr>
        <p:spPr>
          <a:xfrm>
            <a:off x="6658864" y="17922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28" name="TextBox 27"/>
          <p:cNvSpPr txBox="1"/>
          <p:nvPr/>
        </p:nvSpPr>
        <p:spPr>
          <a:xfrm>
            <a:off x="7022846"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5</a:t>
            </a:r>
          </a:p>
        </p:txBody>
      </p:sp>
      <p:cxnSp>
        <p:nvCxnSpPr>
          <p:cNvPr id="29" name="Connector 28"/>
          <p:cNvCxnSpPr/>
          <p:nvPr/>
        </p:nvCxnSpPr>
        <p:spPr>
          <a:xfrm>
            <a:off x="7022846"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022846"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9</a:t>
            </a:r>
          </a:p>
        </p:txBody>
      </p:sp>
      <p:sp>
        <p:nvSpPr>
          <p:cNvPr id="31" name="Rectangle 30"/>
          <p:cNvSpPr/>
          <p:nvPr/>
        </p:nvSpPr>
        <p:spPr>
          <a:xfrm>
            <a:off x="10247376" y="1581912"/>
            <a:ext cx="4040123" cy="8229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430256" y="1792224"/>
            <a:ext cx="271906"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2 </a:t>
            </a:r>
          </a:p>
        </p:txBody>
      </p:sp>
      <p:sp>
        <p:nvSpPr>
          <p:cNvPr id="33" name="TextBox 32"/>
          <p:cNvSpPr txBox="1"/>
          <p:nvPr/>
        </p:nvSpPr>
        <p:spPr>
          <a:xfrm>
            <a:off x="10702163"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34" name="Connector 33"/>
          <p:cNvCxnSpPr/>
          <p:nvPr/>
        </p:nvCxnSpPr>
        <p:spPr>
          <a:xfrm>
            <a:off x="10702163"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02163"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4</a:t>
            </a:r>
          </a:p>
        </p:txBody>
      </p:sp>
      <p:sp>
        <p:nvSpPr>
          <p:cNvPr id="36" name="TextBox 35"/>
          <p:cNvSpPr txBox="1"/>
          <p:nvPr/>
        </p:nvSpPr>
        <p:spPr>
          <a:xfrm>
            <a:off x="10993755" y="17922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37" name="TextBox 36"/>
          <p:cNvSpPr txBox="1"/>
          <p:nvPr/>
        </p:nvSpPr>
        <p:spPr>
          <a:xfrm>
            <a:off x="11357737"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5</a:t>
            </a:r>
          </a:p>
        </p:txBody>
      </p:sp>
      <p:cxnSp>
        <p:nvCxnSpPr>
          <p:cNvPr id="38" name="Connector 37"/>
          <p:cNvCxnSpPr/>
          <p:nvPr/>
        </p:nvCxnSpPr>
        <p:spPr>
          <a:xfrm>
            <a:off x="11357737"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1357737"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6</a:t>
            </a:r>
          </a:p>
        </p:txBody>
      </p:sp>
      <p:sp>
        <p:nvSpPr>
          <p:cNvPr id="40" name="Rectangle 39"/>
          <p:cNvSpPr/>
          <p:nvPr/>
        </p:nvSpPr>
        <p:spPr>
          <a:xfrm>
            <a:off x="320040" y="2404872"/>
            <a:ext cx="1773936" cy="114300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514600"/>
            <a:ext cx="1572768" cy="96012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Prepare the Fractions</a:t>
            </a:r>
          </a:p>
        </p:txBody>
      </p:sp>
      <p:sp>
        <p:nvSpPr>
          <p:cNvPr id="42" name="Rectangle 41"/>
          <p:cNvSpPr/>
          <p:nvPr/>
        </p:nvSpPr>
        <p:spPr>
          <a:xfrm>
            <a:off x="2121408" y="2404872"/>
            <a:ext cx="4040123" cy="11430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31136" y="2542032"/>
            <a:ext cx="3806952" cy="91440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Convert mixed numbers to improper fractions if needed.</a:t>
            </a:r>
          </a:p>
        </p:txBody>
      </p:sp>
      <p:sp>
        <p:nvSpPr>
          <p:cNvPr id="44" name="Rectangle 43"/>
          <p:cNvSpPr/>
          <p:nvPr/>
        </p:nvSpPr>
        <p:spPr>
          <a:xfrm>
            <a:off x="6184392" y="2404872"/>
            <a:ext cx="4040123" cy="11430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94120" y="2542032"/>
            <a:ext cx="3806952" cy="91440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Convert mixed numbers to improper fractions if needed.</a:t>
            </a:r>
          </a:p>
        </p:txBody>
      </p:sp>
      <p:sp>
        <p:nvSpPr>
          <p:cNvPr id="46" name="Rectangle 45"/>
          <p:cNvSpPr/>
          <p:nvPr/>
        </p:nvSpPr>
        <p:spPr>
          <a:xfrm>
            <a:off x="10247376" y="2404872"/>
            <a:ext cx="4040123" cy="11430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57104" y="2542032"/>
            <a:ext cx="3806952" cy="91440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Convert mixed numbers to improper fractions if needed.</a:t>
            </a:r>
          </a:p>
        </p:txBody>
      </p:sp>
      <p:sp>
        <p:nvSpPr>
          <p:cNvPr id="48" name="Rectangle 47"/>
          <p:cNvSpPr/>
          <p:nvPr/>
        </p:nvSpPr>
        <p:spPr>
          <a:xfrm>
            <a:off x="320040" y="3547872"/>
            <a:ext cx="1773936" cy="132588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3657600"/>
            <a:ext cx="1572768" cy="114300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Use a Common Denominator</a:t>
            </a:r>
          </a:p>
        </p:txBody>
      </p:sp>
      <p:sp>
        <p:nvSpPr>
          <p:cNvPr id="50" name="Rectangle 49"/>
          <p:cNvSpPr/>
          <p:nvPr/>
        </p:nvSpPr>
        <p:spPr>
          <a:xfrm>
            <a:off x="2121408" y="3547872"/>
            <a:ext cx="4040123" cy="132588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31136" y="3685032"/>
            <a:ext cx="3806952" cy="109728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Find a common multiple. Change top and bottom together.</a:t>
            </a:r>
          </a:p>
        </p:txBody>
      </p:sp>
      <p:sp>
        <p:nvSpPr>
          <p:cNvPr id="52" name="Rectangle 51"/>
          <p:cNvSpPr/>
          <p:nvPr/>
        </p:nvSpPr>
        <p:spPr>
          <a:xfrm>
            <a:off x="6184392" y="3547872"/>
            <a:ext cx="4040123" cy="132588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94120" y="3685032"/>
            <a:ext cx="3806952" cy="109728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Find a common multiple. Change top and bottom together.</a:t>
            </a:r>
          </a:p>
        </p:txBody>
      </p:sp>
      <p:sp>
        <p:nvSpPr>
          <p:cNvPr id="54" name="Rectangle 53"/>
          <p:cNvSpPr/>
          <p:nvPr/>
        </p:nvSpPr>
        <p:spPr>
          <a:xfrm>
            <a:off x="10247376" y="3547872"/>
            <a:ext cx="4040123" cy="132588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57104" y="3685032"/>
            <a:ext cx="3806952" cy="109728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Find a common multiple. Change top and bottom together.</a:t>
            </a:r>
          </a:p>
        </p:txBody>
      </p:sp>
      <p:sp>
        <p:nvSpPr>
          <p:cNvPr id="56" name="Rectangle 55"/>
          <p:cNvSpPr/>
          <p:nvPr/>
        </p:nvSpPr>
        <p:spPr>
          <a:xfrm>
            <a:off x="320040" y="4873752"/>
            <a:ext cx="1773936" cy="12344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02336" y="4983480"/>
            <a:ext cx="1572768" cy="105156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Add or Subtract</a:t>
            </a:r>
          </a:p>
        </p:txBody>
      </p:sp>
      <p:sp>
        <p:nvSpPr>
          <p:cNvPr id="58" name="Rectangle 57"/>
          <p:cNvSpPr/>
          <p:nvPr/>
        </p:nvSpPr>
        <p:spPr>
          <a:xfrm>
            <a:off x="2121408" y="4873752"/>
            <a:ext cx="4040123" cy="12344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231136" y="5010912"/>
            <a:ext cx="3806952" cy="10058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Work with the numerators; keep the common denominator.</a:t>
            </a:r>
          </a:p>
        </p:txBody>
      </p:sp>
      <p:sp>
        <p:nvSpPr>
          <p:cNvPr id="60" name="Rectangle 59"/>
          <p:cNvSpPr/>
          <p:nvPr/>
        </p:nvSpPr>
        <p:spPr>
          <a:xfrm>
            <a:off x="6184392" y="4873752"/>
            <a:ext cx="4040123" cy="12344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294120" y="5010912"/>
            <a:ext cx="3806952" cy="10058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Work with the numerators; keep the common denominator.</a:t>
            </a:r>
          </a:p>
        </p:txBody>
      </p:sp>
      <p:sp>
        <p:nvSpPr>
          <p:cNvPr id="62" name="Rectangle 61"/>
          <p:cNvSpPr/>
          <p:nvPr/>
        </p:nvSpPr>
        <p:spPr>
          <a:xfrm>
            <a:off x="10247376" y="4873752"/>
            <a:ext cx="4040123" cy="12344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357104" y="5010912"/>
            <a:ext cx="3806952" cy="10058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Work with the numerators; keep the common denominator.</a:t>
            </a:r>
          </a:p>
        </p:txBody>
      </p:sp>
      <p:sp>
        <p:nvSpPr>
          <p:cNvPr id="64" name="Rectangle 63"/>
          <p:cNvSpPr/>
          <p:nvPr/>
        </p:nvSpPr>
        <p:spPr>
          <a:xfrm>
            <a:off x="320040" y="6108192"/>
            <a:ext cx="1773936" cy="14904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02336" y="6217920"/>
            <a:ext cx="1572768" cy="130759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Simplify the Answer</a:t>
            </a:r>
          </a:p>
        </p:txBody>
      </p:sp>
      <p:sp>
        <p:nvSpPr>
          <p:cNvPr id="66" name="Rectangle 65"/>
          <p:cNvSpPr/>
          <p:nvPr/>
        </p:nvSpPr>
        <p:spPr>
          <a:xfrm>
            <a:off x="2121408" y="6108192"/>
            <a:ext cx="4040123" cy="14904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231136" y="6245352"/>
            <a:ext cx="3806952" cy="126187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Divide top and bottom by a common factor. Give a mixed answer if greater than 1.</a:t>
            </a:r>
          </a:p>
        </p:txBody>
      </p:sp>
      <p:sp>
        <p:nvSpPr>
          <p:cNvPr id="68" name="Rectangle 67"/>
          <p:cNvSpPr/>
          <p:nvPr/>
        </p:nvSpPr>
        <p:spPr>
          <a:xfrm>
            <a:off x="6184392" y="6108192"/>
            <a:ext cx="4040123" cy="14904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94120" y="6245352"/>
            <a:ext cx="3806952" cy="126187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Divide top and bottom by a common factor. Give a mixed answer if greater than 1.</a:t>
            </a:r>
          </a:p>
        </p:txBody>
      </p:sp>
      <p:sp>
        <p:nvSpPr>
          <p:cNvPr id="70" name="Rectangle 69"/>
          <p:cNvSpPr/>
          <p:nvPr/>
        </p:nvSpPr>
        <p:spPr>
          <a:xfrm>
            <a:off x="10247376" y="6108192"/>
            <a:ext cx="4040123" cy="14904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357104" y="6245352"/>
            <a:ext cx="3806952" cy="126187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Divide top and bottom by a common factor. Give a mixed answer if greater than 1.</a:t>
            </a:r>
          </a:p>
        </p:txBody>
      </p:sp>
      <p:sp>
        <p:nvSpPr>
          <p:cNvPr id="72"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Spot the errors • Find the first wrong step and correct the full calculation.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M15-SE</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55648"/>
            <a:ext cx="301752"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15" name="TextBox 14"/>
          <p:cNvSpPr txBox="1"/>
          <p:nvPr/>
        </p:nvSpPr>
        <p:spPr>
          <a:xfrm>
            <a:off x="850392" y="169164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2</a:t>
            </a:r>
          </a:p>
        </p:txBody>
      </p:sp>
      <p:cxnSp>
        <p:nvCxnSpPr>
          <p:cNvPr id="16" name="Connector 15"/>
          <p:cNvCxnSpPr/>
          <p:nvPr/>
        </p:nvCxnSpPr>
        <p:spPr>
          <a:xfrm>
            <a:off x="850392" y="1956816"/>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50392" y="197510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7</a:t>
            </a:r>
          </a:p>
        </p:txBody>
      </p:sp>
      <p:sp>
        <p:nvSpPr>
          <p:cNvPr id="18" name="TextBox 17"/>
          <p:cNvSpPr txBox="1"/>
          <p:nvPr/>
        </p:nvSpPr>
        <p:spPr>
          <a:xfrm>
            <a:off x="1135634" y="1810512"/>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9" name="TextBox 18"/>
          <p:cNvSpPr txBox="1"/>
          <p:nvPr/>
        </p:nvSpPr>
        <p:spPr>
          <a:xfrm>
            <a:off x="1477391" y="169164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20" name="Connector 19"/>
          <p:cNvCxnSpPr/>
          <p:nvPr/>
        </p:nvCxnSpPr>
        <p:spPr>
          <a:xfrm>
            <a:off x="1477391" y="1956816"/>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477391" y="197510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7</a:t>
            </a:r>
          </a:p>
        </p:txBody>
      </p:sp>
      <p:sp>
        <p:nvSpPr>
          <p:cNvPr id="22" name="TextBox 21"/>
          <p:cNvSpPr txBox="1"/>
          <p:nvPr/>
        </p:nvSpPr>
        <p:spPr>
          <a:xfrm>
            <a:off x="850392" y="2258568"/>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23" name="TextBox 22"/>
          <p:cNvSpPr txBox="1"/>
          <p:nvPr/>
        </p:nvSpPr>
        <p:spPr>
          <a:xfrm>
            <a:off x="1115949" y="2139696"/>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5</a:t>
            </a:r>
          </a:p>
        </p:txBody>
      </p:sp>
      <p:cxnSp>
        <p:nvCxnSpPr>
          <p:cNvPr id="24" name="Connector 23"/>
          <p:cNvCxnSpPr/>
          <p:nvPr/>
        </p:nvCxnSpPr>
        <p:spPr>
          <a:xfrm>
            <a:off x="1115949" y="2404872"/>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115949" y="242316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14</a:t>
            </a:r>
          </a:p>
        </p:txBody>
      </p:sp>
      <p:sp>
        <p:nvSpPr>
          <p:cNvPr id="26" name="Rectangle 25"/>
          <p:cNvSpPr/>
          <p:nvPr/>
        </p:nvSpPr>
        <p:spPr>
          <a:xfrm>
            <a:off x="32004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79" y="3794759"/>
            <a:ext cx="301752"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28" name="TextBox 27"/>
          <p:cNvSpPr txBox="1"/>
          <p:nvPr/>
        </p:nvSpPr>
        <p:spPr>
          <a:xfrm>
            <a:off x="850392" y="3730752"/>
            <a:ext cx="350779"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9</a:t>
            </a:r>
          </a:p>
        </p:txBody>
      </p:sp>
      <p:cxnSp>
        <p:nvCxnSpPr>
          <p:cNvPr id="29" name="Connector 28"/>
          <p:cNvCxnSpPr/>
          <p:nvPr/>
        </p:nvCxnSpPr>
        <p:spPr>
          <a:xfrm>
            <a:off x="850392" y="3995928"/>
            <a:ext cx="35077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50392" y="4014215"/>
            <a:ext cx="350779"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11</a:t>
            </a:r>
          </a:p>
        </p:txBody>
      </p:sp>
      <p:sp>
        <p:nvSpPr>
          <p:cNvPr id="31" name="TextBox 30"/>
          <p:cNvSpPr txBox="1"/>
          <p:nvPr/>
        </p:nvSpPr>
        <p:spPr>
          <a:xfrm>
            <a:off x="1256035" y="3849624"/>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32" name="TextBox 31"/>
          <p:cNvSpPr txBox="1"/>
          <p:nvPr/>
        </p:nvSpPr>
        <p:spPr>
          <a:xfrm>
            <a:off x="1597792" y="3730752"/>
            <a:ext cx="350779"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2</a:t>
            </a:r>
          </a:p>
        </p:txBody>
      </p:sp>
      <p:cxnSp>
        <p:nvCxnSpPr>
          <p:cNvPr id="33" name="Connector 32"/>
          <p:cNvCxnSpPr/>
          <p:nvPr/>
        </p:nvCxnSpPr>
        <p:spPr>
          <a:xfrm>
            <a:off x="1597792" y="3995928"/>
            <a:ext cx="3507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597792" y="4014215"/>
            <a:ext cx="350779"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11</a:t>
            </a:r>
          </a:p>
        </p:txBody>
      </p:sp>
      <p:sp>
        <p:nvSpPr>
          <p:cNvPr id="35" name="TextBox 34"/>
          <p:cNvSpPr txBox="1"/>
          <p:nvPr/>
        </p:nvSpPr>
        <p:spPr>
          <a:xfrm>
            <a:off x="850392" y="4297680"/>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36" name="TextBox 35"/>
          <p:cNvSpPr txBox="1"/>
          <p:nvPr/>
        </p:nvSpPr>
        <p:spPr>
          <a:xfrm>
            <a:off x="1115949" y="4178808"/>
            <a:ext cx="350779"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11</a:t>
            </a:r>
          </a:p>
        </p:txBody>
      </p:sp>
      <p:cxnSp>
        <p:nvCxnSpPr>
          <p:cNvPr id="37" name="Connector 36"/>
          <p:cNvCxnSpPr/>
          <p:nvPr/>
        </p:nvCxnSpPr>
        <p:spPr>
          <a:xfrm>
            <a:off x="1115949" y="4443984"/>
            <a:ext cx="35077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115949" y="4462272"/>
            <a:ext cx="350779"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11</a:t>
            </a:r>
          </a:p>
        </p:txBody>
      </p:sp>
      <p:sp>
        <p:nvSpPr>
          <p:cNvPr id="39" name="TextBox 38"/>
          <p:cNvSpPr txBox="1"/>
          <p:nvPr/>
        </p:nvSpPr>
        <p:spPr>
          <a:xfrm>
            <a:off x="850392" y="4745736"/>
            <a:ext cx="421132"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1</a:t>
            </a:r>
          </a:p>
        </p:txBody>
      </p:sp>
      <p:sp>
        <p:nvSpPr>
          <p:cNvPr id="40" name="Rectangle 39"/>
          <p:cNvSpPr/>
          <p:nvPr/>
        </p:nvSpPr>
        <p:spPr>
          <a:xfrm>
            <a:off x="32004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79" y="5833872"/>
            <a:ext cx="301752"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42" name="TextBox 41"/>
          <p:cNvSpPr txBox="1"/>
          <p:nvPr/>
        </p:nvSpPr>
        <p:spPr>
          <a:xfrm>
            <a:off x="850392" y="576986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5</a:t>
            </a:r>
          </a:p>
        </p:txBody>
      </p:sp>
      <p:cxnSp>
        <p:nvCxnSpPr>
          <p:cNvPr id="43" name="Connector 42"/>
          <p:cNvCxnSpPr/>
          <p:nvPr/>
        </p:nvCxnSpPr>
        <p:spPr>
          <a:xfrm>
            <a:off x="850392" y="6035040"/>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50392" y="605332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45" name="TextBox 44"/>
          <p:cNvSpPr txBox="1"/>
          <p:nvPr/>
        </p:nvSpPr>
        <p:spPr>
          <a:xfrm>
            <a:off x="1256283" y="5888736"/>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46" name="TextBox 45"/>
          <p:cNvSpPr txBox="1"/>
          <p:nvPr/>
        </p:nvSpPr>
        <p:spPr>
          <a:xfrm>
            <a:off x="1598041" y="576986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47" name="Connector 46"/>
          <p:cNvCxnSpPr/>
          <p:nvPr/>
        </p:nvCxnSpPr>
        <p:spPr>
          <a:xfrm>
            <a:off x="1598041" y="6035040"/>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598041" y="605332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49" name="TextBox 48"/>
          <p:cNvSpPr txBox="1"/>
          <p:nvPr/>
        </p:nvSpPr>
        <p:spPr>
          <a:xfrm>
            <a:off x="850392" y="6336792"/>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50" name="TextBox 49"/>
          <p:cNvSpPr txBox="1"/>
          <p:nvPr/>
        </p:nvSpPr>
        <p:spPr>
          <a:xfrm>
            <a:off x="1115949" y="621792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8</a:t>
            </a:r>
          </a:p>
        </p:txBody>
      </p:sp>
      <p:cxnSp>
        <p:nvCxnSpPr>
          <p:cNvPr id="51" name="Connector 50"/>
          <p:cNvCxnSpPr/>
          <p:nvPr/>
        </p:nvCxnSpPr>
        <p:spPr>
          <a:xfrm>
            <a:off x="1115949" y="6483096"/>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1115949" y="650138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53" name="TextBox 52"/>
          <p:cNvSpPr txBox="1"/>
          <p:nvPr/>
        </p:nvSpPr>
        <p:spPr>
          <a:xfrm>
            <a:off x="850392" y="6784848"/>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54" name="TextBox 53"/>
          <p:cNvSpPr txBox="1"/>
          <p:nvPr/>
        </p:nvSpPr>
        <p:spPr>
          <a:xfrm>
            <a:off x="1115949" y="6665976"/>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4</a:t>
            </a:r>
          </a:p>
        </p:txBody>
      </p:sp>
      <p:cxnSp>
        <p:nvCxnSpPr>
          <p:cNvPr id="55" name="Connector 54"/>
          <p:cNvCxnSpPr/>
          <p:nvPr/>
        </p:nvCxnSpPr>
        <p:spPr>
          <a:xfrm>
            <a:off x="1115949" y="6931152"/>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1115949" y="694944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57" name="Rectangle 56"/>
          <p:cNvSpPr/>
          <p:nvPr/>
        </p:nvSpPr>
        <p:spPr>
          <a:xfrm>
            <a:off x="498348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74920" y="1755648"/>
            <a:ext cx="301752"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59" name="TextBox 58"/>
          <p:cNvSpPr txBox="1"/>
          <p:nvPr/>
        </p:nvSpPr>
        <p:spPr>
          <a:xfrm>
            <a:off x="5513832" y="169164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60" name="Connector 59"/>
          <p:cNvCxnSpPr/>
          <p:nvPr/>
        </p:nvCxnSpPr>
        <p:spPr>
          <a:xfrm>
            <a:off x="5513832" y="1956816"/>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513832" y="197510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4</a:t>
            </a:r>
          </a:p>
        </p:txBody>
      </p:sp>
      <p:sp>
        <p:nvSpPr>
          <p:cNvPr id="62" name="TextBox 61"/>
          <p:cNvSpPr txBox="1"/>
          <p:nvPr/>
        </p:nvSpPr>
        <p:spPr>
          <a:xfrm>
            <a:off x="5799074" y="1810512"/>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63" name="TextBox 62"/>
          <p:cNvSpPr txBox="1"/>
          <p:nvPr/>
        </p:nvSpPr>
        <p:spPr>
          <a:xfrm>
            <a:off x="6140831" y="169164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64" name="Connector 63"/>
          <p:cNvCxnSpPr/>
          <p:nvPr/>
        </p:nvCxnSpPr>
        <p:spPr>
          <a:xfrm>
            <a:off x="6140831" y="1956816"/>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6140831" y="197510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8</a:t>
            </a:r>
          </a:p>
        </p:txBody>
      </p:sp>
      <p:sp>
        <p:nvSpPr>
          <p:cNvPr id="66" name="TextBox 65"/>
          <p:cNvSpPr txBox="1"/>
          <p:nvPr/>
        </p:nvSpPr>
        <p:spPr>
          <a:xfrm>
            <a:off x="5513832" y="2258568"/>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67" name="TextBox 66"/>
          <p:cNvSpPr txBox="1"/>
          <p:nvPr/>
        </p:nvSpPr>
        <p:spPr>
          <a:xfrm>
            <a:off x="5779389" y="2139696"/>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68" name="Connector 67"/>
          <p:cNvCxnSpPr/>
          <p:nvPr/>
        </p:nvCxnSpPr>
        <p:spPr>
          <a:xfrm>
            <a:off x="5779389" y="2404872"/>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5779389" y="242316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8</a:t>
            </a:r>
          </a:p>
        </p:txBody>
      </p:sp>
      <p:sp>
        <p:nvSpPr>
          <p:cNvPr id="70" name="TextBox 69"/>
          <p:cNvSpPr txBox="1"/>
          <p:nvPr/>
        </p:nvSpPr>
        <p:spPr>
          <a:xfrm>
            <a:off x="6064631" y="2258568"/>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71" name="TextBox 70"/>
          <p:cNvSpPr txBox="1"/>
          <p:nvPr/>
        </p:nvSpPr>
        <p:spPr>
          <a:xfrm>
            <a:off x="6406388" y="2139696"/>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72" name="Connector 71"/>
          <p:cNvCxnSpPr/>
          <p:nvPr/>
        </p:nvCxnSpPr>
        <p:spPr>
          <a:xfrm>
            <a:off x="6406388" y="2404872"/>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06388" y="242316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8</a:t>
            </a:r>
          </a:p>
        </p:txBody>
      </p:sp>
      <p:sp>
        <p:nvSpPr>
          <p:cNvPr id="74" name="TextBox 73"/>
          <p:cNvSpPr txBox="1"/>
          <p:nvPr/>
        </p:nvSpPr>
        <p:spPr>
          <a:xfrm>
            <a:off x="5513832" y="2706624"/>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75" name="TextBox 74"/>
          <p:cNvSpPr txBox="1"/>
          <p:nvPr/>
        </p:nvSpPr>
        <p:spPr>
          <a:xfrm>
            <a:off x="5779389" y="2587752"/>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4</a:t>
            </a:r>
          </a:p>
        </p:txBody>
      </p:sp>
      <p:cxnSp>
        <p:nvCxnSpPr>
          <p:cNvPr id="76" name="Connector 75"/>
          <p:cNvCxnSpPr/>
          <p:nvPr/>
        </p:nvCxnSpPr>
        <p:spPr>
          <a:xfrm>
            <a:off x="5779389" y="2852928"/>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5779389" y="2871216"/>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8</a:t>
            </a:r>
          </a:p>
        </p:txBody>
      </p:sp>
      <p:sp>
        <p:nvSpPr>
          <p:cNvPr id="78" name="Rectangle 77"/>
          <p:cNvSpPr/>
          <p:nvPr/>
        </p:nvSpPr>
        <p:spPr>
          <a:xfrm>
            <a:off x="498348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74920" y="3794759"/>
            <a:ext cx="301752"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80" name="TextBox 79"/>
          <p:cNvSpPr txBox="1"/>
          <p:nvPr/>
        </p:nvSpPr>
        <p:spPr>
          <a:xfrm>
            <a:off x="5513832" y="3730752"/>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11</a:t>
            </a:r>
          </a:p>
        </p:txBody>
      </p:sp>
      <p:cxnSp>
        <p:nvCxnSpPr>
          <p:cNvPr id="81" name="Connector 80"/>
          <p:cNvCxnSpPr/>
          <p:nvPr/>
        </p:nvCxnSpPr>
        <p:spPr>
          <a:xfrm>
            <a:off x="5513832" y="3995928"/>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5513832" y="4014215"/>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83" name="TextBox 82"/>
          <p:cNvSpPr txBox="1"/>
          <p:nvPr/>
        </p:nvSpPr>
        <p:spPr>
          <a:xfrm>
            <a:off x="5919724" y="3849624"/>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84" name="TextBox 83"/>
          <p:cNvSpPr txBox="1"/>
          <p:nvPr/>
        </p:nvSpPr>
        <p:spPr>
          <a:xfrm>
            <a:off x="6261481" y="3730752"/>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85" name="Connector 84"/>
          <p:cNvCxnSpPr/>
          <p:nvPr/>
        </p:nvCxnSpPr>
        <p:spPr>
          <a:xfrm>
            <a:off x="6261481" y="3995928"/>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6261481" y="4014215"/>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sp>
        <p:nvSpPr>
          <p:cNvPr id="87" name="TextBox 86"/>
          <p:cNvSpPr txBox="1"/>
          <p:nvPr/>
        </p:nvSpPr>
        <p:spPr>
          <a:xfrm>
            <a:off x="5513832" y="4297680"/>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88" name="TextBox 87"/>
          <p:cNvSpPr txBox="1"/>
          <p:nvPr/>
        </p:nvSpPr>
        <p:spPr>
          <a:xfrm>
            <a:off x="5779389" y="417880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11</a:t>
            </a:r>
          </a:p>
        </p:txBody>
      </p:sp>
      <p:cxnSp>
        <p:nvCxnSpPr>
          <p:cNvPr id="89" name="Connector 88"/>
          <p:cNvCxnSpPr/>
          <p:nvPr/>
        </p:nvCxnSpPr>
        <p:spPr>
          <a:xfrm>
            <a:off x="5779389" y="4443984"/>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779389" y="4462272"/>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91" name="TextBox 90"/>
          <p:cNvSpPr txBox="1"/>
          <p:nvPr/>
        </p:nvSpPr>
        <p:spPr>
          <a:xfrm>
            <a:off x="6185281" y="4297680"/>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92" name="TextBox 91"/>
          <p:cNvSpPr txBox="1"/>
          <p:nvPr/>
        </p:nvSpPr>
        <p:spPr>
          <a:xfrm>
            <a:off x="6527038" y="417880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93" name="Connector 92"/>
          <p:cNvCxnSpPr/>
          <p:nvPr/>
        </p:nvCxnSpPr>
        <p:spPr>
          <a:xfrm>
            <a:off x="6527038" y="4443984"/>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6527038" y="4462272"/>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95" name="TextBox 94"/>
          <p:cNvSpPr txBox="1"/>
          <p:nvPr/>
        </p:nvSpPr>
        <p:spPr>
          <a:xfrm>
            <a:off x="5513832" y="4745736"/>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96" name="TextBox 95"/>
          <p:cNvSpPr txBox="1"/>
          <p:nvPr/>
        </p:nvSpPr>
        <p:spPr>
          <a:xfrm>
            <a:off x="5779389" y="462686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10</a:t>
            </a:r>
          </a:p>
        </p:txBody>
      </p:sp>
      <p:cxnSp>
        <p:nvCxnSpPr>
          <p:cNvPr id="97" name="Connector 96"/>
          <p:cNvCxnSpPr/>
          <p:nvPr/>
        </p:nvCxnSpPr>
        <p:spPr>
          <a:xfrm>
            <a:off x="5779389" y="4892040"/>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779389" y="491032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99" name="Rectangle 98"/>
          <p:cNvSpPr/>
          <p:nvPr/>
        </p:nvSpPr>
        <p:spPr>
          <a:xfrm>
            <a:off x="498348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074920" y="5833872"/>
            <a:ext cx="301752"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101" name="TextBox 100"/>
          <p:cNvSpPr txBox="1"/>
          <p:nvPr/>
        </p:nvSpPr>
        <p:spPr>
          <a:xfrm>
            <a:off x="5513832" y="576986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2</a:t>
            </a:r>
          </a:p>
        </p:txBody>
      </p:sp>
      <p:cxnSp>
        <p:nvCxnSpPr>
          <p:cNvPr id="102" name="Connector 101"/>
          <p:cNvCxnSpPr/>
          <p:nvPr/>
        </p:nvCxnSpPr>
        <p:spPr>
          <a:xfrm>
            <a:off x="5513832" y="6035040"/>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5513832" y="6053328"/>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5</a:t>
            </a:r>
          </a:p>
        </p:txBody>
      </p:sp>
      <p:sp>
        <p:nvSpPr>
          <p:cNvPr id="104" name="TextBox 103"/>
          <p:cNvSpPr txBox="1"/>
          <p:nvPr/>
        </p:nvSpPr>
        <p:spPr>
          <a:xfrm>
            <a:off x="5799074" y="5888736"/>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05" name="TextBox 104"/>
          <p:cNvSpPr txBox="1"/>
          <p:nvPr/>
        </p:nvSpPr>
        <p:spPr>
          <a:xfrm>
            <a:off x="6140831" y="576986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106" name="Connector 105"/>
          <p:cNvCxnSpPr/>
          <p:nvPr/>
        </p:nvCxnSpPr>
        <p:spPr>
          <a:xfrm>
            <a:off x="6140831" y="6035040"/>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6140831" y="605332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10</a:t>
            </a:r>
          </a:p>
        </p:txBody>
      </p:sp>
      <p:sp>
        <p:nvSpPr>
          <p:cNvPr id="108" name="TextBox 107"/>
          <p:cNvSpPr txBox="1"/>
          <p:nvPr/>
        </p:nvSpPr>
        <p:spPr>
          <a:xfrm>
            <a:off x="5513832" y="6336792"/>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109" name="TextBox 108"/>
          <p:cNvSpPr txBox="1"/>
          <p:nvPr/>
        </p:nvSpPr>
        <p:spPr>
          <a:xfrm>
            <a:off x="5779389" y="621792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4</a:t>
            </a:r>
          </a:p>
        </p:txBody>
      </p:sp>
      <p:cxnSp>
        <p:nvCxnSpPr>
          <p:cNvPr id="110" name="Connector 109"/>
          <p:cNvCxnSpPr/>
          <p:nvPr/>
        </p:nvCxnSpPr>
        <p:spPr>
          <a:xfrm>
            <a:off x="5779389" y="6483096"/>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5779389" y="650138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10</a:t>
            </a:r>
          </a:p>
        </p:txBody>
      </p:sp>
      <p:sp>
        <p:nvSpPr>
          <p:cNvPr id="112" name="TextBox 111"/>
          <p:cNvSpPr txBox="1"/>
          <p:nvPr/>
        </p:nvSpPr>
        <p:spPr>
          <a:xfrm>
            <a:off x="6185281" y="6336792"/>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13" name="TextBox 112"/>
          <p:cNvSpPr txBox="1"/>
          <p:nvPr/>
        </p:nvSpPr>
        <p:spPr>
          <a:xfrm>
            <a:off x="6527038" y="621792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114" name="Connector 113"/>
          <p:cNvCxnSpPr/>
          <p:nvPr/>
        </p:nvCxnSpPr>
        <p:spPr>
          <a:xfrm>
            <a:off x="6527038" y="6483096"/>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6527038" y="650138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10</a:t>
            </a:r>
          </a:p>
        </p:txBody>
      </p:sp>
      <p:sp>
        <p:nvSpPr>
          <p:cNvPr id="116" name="TextBox 115"/>
          <p:cNvSpPr txBox="1"/>
          <p:nvPr/>
        </p:nvSpPr>
        <p:spPr>
          <a:xfrm>
            <a:off x="5513832" y="6784848"/>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117" name="TextBox 116"/>
          <p:cNvSpPr txBox="1"/>
          <p:nvPr/>
        </p:nvSpPr>
        <p:spPr>
          <a:xfrm>
            <a:off x="5779389" y="6665976"/>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7</a:t>
            </a:r>
          </a:p>
        </p:txBody>
      </p:sp>
      <p:cxnSp>
        <p:nvCxnSpPr>
          <p:cNvPr id="118" name="Connector 117"/>
          <p:cNvCxnSpPr/>
          <p:nvPr/>
        </p:nvCxnSpPr>
        <p:spPr>
          <a:xfrm>
            <a:off x="5779389" y="6931152"/>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5779389" y="694944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20</a:t>
            </a:r>
          </a:p>
        </p:txBody>
      </p:sp>
      <p:sp>
        <p:nvSpPr>
          <p:cNvPr id="120" name="Rectangle 119"/>
          <p:cNvSpPr/>
          <p:nvPr/>
        </p:nvSpPr>
        <p:spPr>
          <a:xfrm>
            <a:off x="964692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738360" y="1755648"/>
            <a:ext cx="301752"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122" name="TextBox 121"/>
          <p:cNvSpPr txBox="1"/>
          <p:nvPr/>
        </p:nvSpPr>
        <p:spPr>
          <a:xfrm>
            <a:off x="10177272" y="1810512"/>
            <a:ext cx="25920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2 </a:t>
            </a:r>
          </a:p>
        </p:txBody>
      </p:sp>
      <p:sp>
        <p:nvSpPr>
          <p:cNvPr id="123" name="TextBox 122"/>
          <p:cNvSpPr txBox="1"/>
          <p:nvPr/>
        </p:nvSpPr>
        <p:spPr>
          <a:xfrm>
            <a:off x="10436479" y="169164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124" name="Connector 123"/>
          <p:cNvCxnSpPr/>
          <p:nvPr/>
        </p:nvCxnSpPr>
        <p:spPr>
          <a:xfrm>
            <a:off x="10436479" y="1956816"/>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0436479" y="197510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sp>
        <p:nvSpPr>
          <p:cNvPr id="126" name="TextBox 125"/>
          <p:cNvSpPr txBox="1"/>
          <p:nvPr/>
        </p:nvSpPr>
        <p:spPr>
          <a:xfrm>
            <a:off x="10721721" y="1810512"/>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27" name="TextBox 126"/>
          <p:cNvSpPr txBox="1"/>
          <p:nvPr/>
        </p:nvSpPr>
        <p:spPr>
          <a:xfrm>
            <a:off x="11063478" y="169164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128" name="Connector 127"/>
          <p:cNvCxnSpPr/>
          <p:nvPr/>
        </p:nvCxnSpPr>
        <p:spPr>
          <a:xfrm>
            <a:off x="11063478" y="1956816"/>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11063478" y="197510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4</a:t>
            </a:r>
          </a:p>
        </p:txBody>
      </p:sp>
      <p:sp>
        <p:nvSpPr>
          <p:cNvPr id="130" name="TextBox 129"/>
          <p:cNvSpPr txBox="1"/>
          <p:nvPr/>
        </p:nvSpPr>
        <p:spPr>
          <a:xfrm>
            <a:off x="10177272" y="2258568"/>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131" name="TextBox 130"/>
          <p:cNvSpPr txBox="1"/>
          <p:nvPr/>
        </p:nvSpPr>
        <p:spPr>
          <a:xfrm>
            <a:off x="10442829" y="2139696"/>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132" name="Connector 131"/>
          <p:cNvCxnSpPr/>
          <p:nvPr/>
        </p:nvCxnSpPr>
        <p:spPr>
          <a:xfrm>
            <a:off x="10442829" y="2404872"/>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3" name="TextBox 132"/>
          <p:cNvSpPr txBox="1"/>
          <p:nvPr/>
        </p:nvSpPr>
        <p:spPr>
          <a:xfrm>
            <a:off x="10442829" y="242316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sp>
        <p:nvSpPr>
          <p:cNvPr id="134" name="TextBox 133"/>
          <p:cNvSpPr txBox="1"/>
          <p:nvPr/>
        </p:nvSpPr>
        <p:spPr>
          <a:xfrm>
            <a:off x="10728071" y="2258568"/>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35" name="TextBox 134"/>
          <p:cNvSpPr txBox="1"/>
          <p:nvPr/>
        </p:nvSpPr>
        <p:spPr>
          <a:xfrm>
            <a:off x="11069828" y="2139696"/>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136" name="Connector 135"/>
          <p:cNvCxnSpPr/>
          <p:nvPr/>
        </p:nvCxnSpPr>
        <p:spPr>
          <a:xfrm>
            <a:off x="11069828" y="2404872"/>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7" name="TextBox 136"/>
          <p:cNvSpPr txBox="1"/>
          <p:nvPr/>
        </p:nvSpPr>
        <p:spPr>
          <a:xfrm>
            <a:off x="11069828" y="242316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4</a:t>
            </a:r>
          </a:p>
        </p:txBody>
      </p:sp>
      <p:sp>
        <p:nvSpPr>
          <p:cNvPr id="138" name="TextBox 137"/>
          <p:cNvSpPr txBox="1"/>
          <p:nvPr/>
        </p:nvSpPr>
        <p:spPr>
          <a:xfrm>
            <a:off x="10177272" y="2706624"/>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139" name="TextBox 138"/>
          <p:cNvSpPr txBox="1"/>
          <p:nvPr/>
        </p:nvSpPr>
        <p:spPr>
          <a:xfrm>
            <a:off x="10442829" y="2587752"/>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9</a:t>
            </a:r>
          </a:p>
        </p:txBody>
      </p:sp>
      <p:cxnSp>
        <p:nvCxnSpPr>
          <p:cNvPr id="140" name="Connector 139"/>
          <p:cNvCxnSpPr/>
          <p:nvPr/>
        </p:nvCxnSpPr>
        <p:spPr>
          <a:xfrm>
            <a:off x="10442829" y="2852928"/>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10442829" y="2871216"/>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142" name="Rectangle 141"/>
          <p:cNvSpPr/>
          <p:nvPr/>
        </p:nvSpPr>
        <p:spPr>
          <a:xfrm>
            <a:off x="964692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738360" y="3794759"/>
            <a:ext cx="301752"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144" name="TextBox 143"/>
          <p:cNvSpPr txBox="1"/>
          <p:nvPr/>
        </p:nvSpPr>
        <p:spPr>
          <a:xfrm>
            <a:off x="10177272" y="3849624"/>
            <a:ext cx="25920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1 </a:t>
            </a:r>
          </a:p>
        </p:txBody>
      </p:sp>
      <p:sp>
        <p:nvSpPr>
          <p:cNvPr id="145" name="TextBox 144"/>
          <p:cNvSpPr txBox="1"/>
          <p:nvPr/>
        </p:nvSpPr>
        <p:spPr>
          <a:xfrm>
            <a:off x="10436479" y="3730752"/>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146" name="Connector 145"/>
          <p:cNvCxnSpPr/>
          <p:nvPr/>
        </p:nvCxnSpPr>
        <p:spPr>
          <a:xfrm>
            <a:off x="10436479" y="3995928"/>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7" name="TextBox 146"/>
          <p:cNvSpPr txBox="1"/>
          <p:nvPr/>
        </p:nvSpPr>
        <p:spPr>
          <a:xfrm>
            <a:off x="10436479" y="4014215"/>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4</a:t>
            </a:r>
          </a:p>
        </p:txBody>
      </p:sp>
      <p:sp>
        <p:nvSpPr>
          <p:cNvPr id="148" name="TextBox 147"/>
          <p:cNvSpPr txBox="1"/>
          <p:nvPr/>
        </p:nvSpPr>
        <p:spPr>
          <a:xfrm>
            <a:off x="10721721" y="3849624"/>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49" name="TextBox 148"/>
          <p:cNvSpPr txBox="1"/>
          <p:nvPr/>
        </p:nvSpPr>
        <p:spPr>
          <a:xfrm>
            <a:off x="11063478" y="3730752"/>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2</a:t>
            </a:r>
          </a:p>
        </p:txBody>
      </p:sp>
      <p:cxnSp>
        <p:nvCxnSpPr>
          <p:cNvPr id="150" name="Connector 149"/>
          <p:cNvCxnSpPr/>
          <p:nvPr/>
        </p:nvCxnSpPr>
        <p:spPr>
          <a:xfrm>
            <a:off x="11063478" y="3995928"/>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11063478" y="4014215"/>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sp>
        <p:nvSpPr>
          <p:cNvPr id="152" name="TextBox 151"/>
          <p:cNvSpPr txBox="1"/>
          <p:nvPr/>
        </p:nvSpPr>
        <p:spPr>
          <a:xfrm>
            <a:off x="10177272" y="4297680"/>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153" name="TextBox 152"/>
          <p:cNvSpPr txBox="1"/>
          <p:nvPr/>
        </p:nvSpPr>
        <p:spPr>
          <a:xfrm>
            <a:off x="10442829" y="417880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9</a:t>
            </a:r>
          </a:p>
        </p:txBody>
      </p:sp>
      <p:cxnSp>
        <p:nvCxnSpPr>
          <p:cNvPr id="154" name="Connector 153"/>
          <p:cNvCxnSpPr/>
          <p:nvPr/>
        </p:nvCxnSpPr>
        <p:spPr>
          <a:xfrm>
            <a:off x="10442829" y="4443984"/>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5" name="TextBox 154"/>
          <p:cNvSpPr txBox="1"/>
          <p:nvPr/>
        </p:nvSpPr>
        <p:spPr>
          <a:xfrm>
            <a:off x="10442829" y="4462272"/>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156" name="TextBox 155"/>
          <p:cNvSpPr txBox="1"/>
          <p:nvPr/>
        </p:nvSpPr>
        <p:spPr>
          <a:xfrm>
            <a:off x="10848721" y="4297680"/>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57" name="TextBox 156"/>
          <p:cNvSpPr txBox="1"/>
          <p:nvPr/>
        </p:nvSpPr>
        <p:spPr>
          <a:xfrm>
            <a:off x="11190478" y="417880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8</a:t>
            </a:r>
          </a:p>
        </p:txBody>
      </p:sp>
      <p:cxnSp>
        <p:nvCxnSpPr>
          <p:cNvPr id="158" name="Connector 157"/>
          <p:cNvCxnSpPr/>
          <p:nvPr/>
        </p:nvCxnSpPr>
        <p:spPr>
          <a:xfrm>
            <a:off x="11190478" y="4443984"/>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11190478" y="4462272"/>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160" name="TextBox 159"/>
          <p:cNvSpPr txBox="1"/>
          <p:nvPr/>
        </p:nvSpPr>
        <p:spPr>
          <a:xfrm>
            <a:off x="10177272" y="4745736"/>
            <a:ext cx="497332"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1 </a:t>
            </a:r>
          </a:p>
        </p:txBody>
      </p:sp>
      <p:sp>
        <p:nvSpPr>
          <p:cNvPr id="161" name="TextBox 160"/>
          <p:cNvSpPr txBox="1"/>
          <p:nvPr/>
        </p:nvSpPr>
        <p:spPr>
          <a:xfrm>
            <a:off x="10674604" y="462686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5</a:t>
            </a:r>
          </a:p>
        </p:txBody>
      </p:sp>
      <p:cxnSp>
        <p:nvCxnSpPr>
          <p:cNvPr id="162" name="Connector 161"/>
          <p:cNvCxnSpPr/>
          <p:nvPr/>
        </p:nvCxnSpPr>
        <p:spPr>
          <a:xfrm>
            <a:off x="10674604" y="4892040"/>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3" name="TextBox 162"/>
          <p:cNvSpPr txBox="1"/>
          <p:nvPr/>
        </p:nvSpPr>
        <p:spPr>
          <a:xfrm>
            <a:off x="10674604" y="491032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164" name="Rectangle 163"/>
          <p:cNvSpPr/>
          <p:nvPr/>
        </p:nvSpPr>
        <p:spPr>
          <a:xfrm>
            <a:off x="964692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9738360" y="5833872"/>
            <a:ext cx="301752"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166" name="TextBox 165"/>
          <p:cNvSpPr txBox="1"/>
          <p:nvPr/>
        </p:nvSpPr>
        <p:spPr>
          <a:xfrm>
            <a:off x="10177272" y="5888736"/>
            <a:ext cx="25920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2 </a:t>
            </a:r>
          </a:p>
        </p:txBody>
      </p:sp>
      <p:sp>
        <p:nvSpPr>
          <p:cNvPr id="167" name="TextBox 166"/>
          <p:cNvSpPr txBox="1"/>
          <p:nvPr/>
        </p:nvSpPr>
        <p:spPr>
          <a:xfrm>
            <a:off x="10436479" y="576986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168" name="Connector 167"/>
          <p:cNvCxnSpPr/>
          <p:nvPr/>
        </p:nvCxnSpPr>
        <p:spPr>
          <a:xfrm>
            <a:off x="10436479" y="6035040"/>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9" name="TextBox 168"/>
          <p:cNvSpPr txBox="1"/>
          <p:nvPr/>
        </p:nvSpPr>
        <p:spPr>
          <a:xfrm>
            <a:off x="10436479" y="6053328"/>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6</a:t>
            </a:r>
          </a:p>
        </p:txBody>
      </p:sp>
      <p:sp>
        <p:nvSpPr>
          <p:cNvPr id="170" name="TextBox 169"/>
          <p:cNvSpPr txBox="1"/>
          <p:nvPr/>
        </p:nvSpPr>
        <p:spPr>
          <a:xfrm>
            <a:off x="10721721" y="5888736"/>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71" name="TextBox 170"/>
          <p:cNvSpPr txBox="1"/>
          <p:nvPr/>
        </p:nvSpPr>
        <p:spPr>
          <a:xfrm>
            <a:off x="11063478" y="576986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172" name="Connector 171"/>
          <p:cNvCxnSpPr/>
          <p:nvPr/>
        </p:nvCxnSpPr>
        <p:spPr>
          <a:xfrm>
            <a:off x="11063478" y="6035040"/>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3" name="TextBox 172"/>
          <p:cNvSpPr txBox="1"/>
          <p:nvPr/>
        </p:nvSpPr>
        <p:spPr>
          <a:xfrm>
            <a:off x="11063478" y="6053328"/>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2</a:t>
            </a:r>
          </a:p>
        </p:txBody>
      </p:sp>
      <p:sp>
        <p:nvSpPr>
          <p:cNvPr id="174" name="TextBox 173"/>
          <p:cNvSpPr txBox="1"/>
          <p:nvPr/>
        </p:nvSpPr>
        <p:spPr>
          <a:xfrm>
            <a:off x="10177272" y="6336792"/>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175" name="TextBox 174"/>
          <p:cNvSpPr txBox="1"/>
          <p:nvPr/>
        </p:nvSpPr>
        <p:spPr>
          <a:xfrm>
            <a:off x="10442829" y="621792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13</a:t>
            </a:r>
          </a:p>
        </p:txBody>
      </p:sp>
      <p:cxnSp>
        <p:nvCxnSpPr>
          <p:cNvPr id="176" name="Connector 175"/>
          <p:cNvCxnSpPr/>
          <p:nvPr/>
        </p:nvCxnSpPr>
        <p:spPr>
          <a:xfrm>
            <a:off x="10442829" y="6483096"/>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7" name="TextBox 176"/>
          <p:cNvSpPr txBox="1"/>
          <p:nvPr/>
        </p:nvSpPr>
        <p:spPr>
          <a:xfrm>
            <a:off x="10442829" y="650138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6</a:t>
            </a:r>
          </a:p>
        </p:txBody>
      </p:sp>
      <p:sp>
        <p:nvSpPr>
          <p:cNvPr id="178" name="TextBox 177"/>
          <p:cNvSpPr txBox="1"/>
          <p:nvPr/>
        </p:nvSpPr>
        <p:spPr>
          <a:xfrm>
            <a:off x="10848721" y="6336792"/>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79" name="TextBox 178"/>
          <p:cNvSpPr txBox="1"/>
          <p:nvPr/>
        </p:nvSpPr>
        <p:spPr>
          <a:xfrm>
            <a:off x="11190478" y="621792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180" name="Connector 179"/>
          <p:cNvCxnSpPr/>
          <p:nvPr/>
        </p:nvCxnSpPr>
        <p:spPr>
          <a:xfrm>
            <a:off x="11190478" y="6483096"/>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81" name="TextBox 180"/>
          <p:cNvSpPr txBox="1"/>
          <p:nvPr/>
        </p:nvSpPr>
        <p:spPr>
          <a:xfrm>
            <a:off x="11190478" y="650138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6</a:t>
            </a:r>
          </a:p>
        </p:txBody>
      </p:sp>
      <p:sp>
        <p:nvSpPr>
          <p:cNvPr id="182" name="TextBox 181"/>
          <p:cNvSpPr txBox="1"/>
          <p:nvPr/>
        </p:nvSpPr>
        <p:spPr>
          <a:xfrm>
            <a:off x="10177272" y="6784848"/>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183" name="TextBox 182"/>
          <p:cNvSpPr txBox="1"/>
          <p:nvPr/>
        </p:nvSpPr>
        <p:spPr>
          <a:xfrm>
            <a:off x="10442829" y="6665976"/>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10</a:t>
            </a:r>
          </a:p>
        </p:txBody>
      </p:sp>
      <p:cxnSp>
        <p:nvCxnSpPr>
          <p:cNvPr id="184" name="Connector 183"/>
          <p:cNvCxnSpPr/>
          <p:nvPr/>
        </p:nvCxnSpPr>
        <p:spPr>
          <a:xfrm>
            <a:off x="10442829" y="6931152"/>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10442829" y="694944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6</a:t>
            </a:r>
          </a:p>
        </p:txBody>
      </p:sp>
      <p:sp>
        <p:nvSpPr>
          <p:cNvPr id="186" name="TextBox 185"/>
          <p:cNvSpPr txBox="1"/>
          <p:nvPr/>
        </p:nvSpPr>
        <p:spPr>
          <a:xfrm>
            <a:off x="10177272" y="7232904"/>
            <a:ext cx="497332"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1 </a:t>
            </a:r>
          </a:p>
        </p:txBody>
      </p:sp>
      <p:sp>
        <p:nvSpPr>
          <p:cNvPr id="187" name="TextBox 186"/>
          <p:cNvSpPr txBox="1"/>
          <p:nvPr/>
        </p:nvSpPr>
        <p:spPr>
          <a:xfrm>
            <a:off x="10674604" y="7114032"/>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188" name="Connector 187"/>
          <p:cNvCxnSpPr/>
          <p:nvPr/>
        </p:nvCxnSpPr>
        <p:spPr>
          <a:xfrm>
            <a:off x="10674604" y="7379208"/>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89" name="TextBox 188"/>
          <p:cNvSpPr txBox="1"/>
          <p:nvPr/>
        </p:nvSpPr>
        <p:spPr>
          <a:xfrm>
            <a:off x="10674604" y="7397496"/>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Simplify; write mixed answers if greater than 1.</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15" name="TextBox 14"/>
          <p:cNvSpPr txBox="1"/>
          <p:nvPr/>
        </p:nvSpPr>
        <p:spPr>
          <a:xfrm>
            <a:off x="91439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16" name="Connector 15"/>
          <p:cNvCxnSpPr/>
          <p:nvPr/>
        </p:nvCxnSpPr>
        <p:spPr>
          <a:xfrm>
            <a:off x="914399" y="202082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39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8" name="TextBox 17"/>
          <p:cNvSpPr txBox="1"/>
          <p:nvPr/>
        </p:nvSpPr>
        <p:spPr>
          <a:xfrm>
            <a:off x="122186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9" name="TextBox 18"/>
          <p:cNvSpPr txBox="1"/>
          <p:nvPr/>
        </p:nvSpPr>
        <p:spPr>
          <a:xfrm>
            <a:off x="161124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20" name="Connector 19"/>
          <p:cNvCxnSpPr/>
          <p:nvPr/>
        </p:nvCxnSpPr>
        <p:spPr>
          <a:xfrm>
            <a:off x="1611249" y="202082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61124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24" name="TextBox 23"/>
          <p:cNvSpPr txBox="1"/>
          <p:nvPr/>
        </p:nvSpPr>
        <p:spPr>
          <a:xfrm>
            <a:off x="91439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25" name="Connector 24"/>
          <p:cNvCxnSpPr/>
          <p:nvPr/>
        </p:nvCxnSpPr>
        <p:spPr>
          <a:xfrm>
            <a:off x="914399" y="302666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1439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27" name="TextBox 26"/>
          <p:cNvSpPr txBox="1"/>
          <p:nvPr/>
        </p:nvSpPr>
        <p:spPr>
          <a:xfrm>
            <a:off x="122186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28" name="TextBox 27"/>
          <p:cNvSpPr txBox="1"/>
          <p:nvPr/>
        </p:nvSpPr>
        <p:spPr>
          <a:xfrm>
            <a:off x="161124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29" name="Connector 28"/>
          <p:cNvCxnSpPr/>
          <p:nvPr/>
        </p:nvCxnSpPr>
        <p:spPr>
          <a:xfrm>
            <a:off x="1611249" y="302666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61124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33" name="TextBox 32"/>
          <p:cNvSpPr txBox="1"/>
          <p:nvPr/>
        </p:nvSpPr>
        <p:spPr>
          <a:xfrm>
            <a:off x="914399" y="376732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34" name="Connector 33"/>
          <p:cNvCxnSpPr/>
          <p:nvPr/>
        </p:nvCxnSpPr>
        <p:spPr>
          <a:xfrm>
            <a:off x="914399" y="4032504"/>
            <a:ext cx="395181"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14399" y="4050791"/>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36" name="TextBox 35"/>
          <p:cNvSpPr txBox="1"/>
          <p:nvPr/>
        </p:nvSpPr>
        <p:spPr>
          <a:xfrm>
            <a:off x="1364444"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37" name="TextBox 36"/>
          <p:cNvSpPr txBox="1"/>
          <p:nvPr/>
        </p:nvSpPr>
        <p:spPr>
          <a:xfrm>
            <a:off x="1753826" y="376732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cxnSp>
        <p:nvCxnSpPr>
          <p:cNvPr id="38" name="Connector 37"/>
          <p:cNvCxnSpPr/>
          <p:nvPr/>
        </p:nvCxnSpPr>
        <p:spPr>
          <a:xfrm>
            <a:off x="1753826" y="403250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753826" y="4050791"/>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79"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42" name="TextBox 41"/>
          <p:cNvSpPr txBox="1"/>
          <p:nvPr/>
        </p:nvSpPr>
        <p:spPr>
          <a:xfrm>
            <a:off x="914399" y="477316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43" name="Connector 42"/>
          <p:cNvCxnSpPr/>
          <p:nvPr/>
        </p:nvCxnSpPr>
        <p:spPr>
          <a:xfrm>
            <a:off x="914399" y="5038344"/>
            <a:ext cx="395181"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14399" y="505663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45" name="TextBox 44"/>
          <p:cNvSpPr txBox="1"/>
          <p:nvPr/>
        </p:nvSpPr>
        <p:spPr>
          <a:xfrm>
            <a:off x="1364444"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46" name="TextBox 45"/>
          <p:cNvSpPr txBox="1"/>
          <p:nvPr/>
        </p:nvSpPr>
        <p:spPr>
          <a:xfrm>
            <a:off x="1753826" y="477316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cxnSp>
        <p:nvCxnSpPr>
          <p:cNvPr id="47" name="Connector 46"/>
          <p:cNvCxnSpPr/>
          <p:nvPr/>
        </p:nvCxnSpPr>
        <p:spPr>
          <a:xfrm>
            <a:off x="1753826" y="503834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753826" y="505663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1479"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51" name="TextBox 50"/>
          <p:cNvSpPr txBox="1"/>
          <p:nvPr/>
        </p:nvSpPr>
        <p:spPr>
          <a:xfrm>
            <a:off x="914399" y="577900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52" name="Connector 51"/>
          <p:cNvCxnSpPr/>
          <p:nvPr/>
        </p:nvCxnSpPr>
        <p:spPr>
          <a:xfrm>
            <a:off x="914399" y="6044184"/>
            <a:ext cx="39547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14399" y="606247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54" name="TextBox 53"/>
          <p:cNvSpPr txBox="1"/>
          <p:nvPr/>
        </p:nvSpPr>
        <p:spPr>
          <a:xfrm>
            <a:off x="1364742"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55" name="TextBox 54"/>
          <p:cNvSpPr txBox="1"/>
          <p:nvPr/>
        </p:nvSpPr>
        <p:spPr>
          <a:xfrm>
            <a:off x="1754124" y="577900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56" name="Connector 55"/>
          <p:cNvCxnSpPr/>
          <p:nvPr/>
        </p:nvCxnSpPr>
        <p:spPr>
          <a:xfrm>
            <a:off x="1754124" y="604418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754124" y="606247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1479"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60" name="TextBox 59"/>
          <p:cNvSpPr txBox="1"/>
          <p:nvPr/>
        </p:nvSpPr>
        <p:spPr>
          <a:xfrm>
            <a:off x="91439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61" name="Connector 60"/>
          <p:cNvCxnSpPr/>
          <p:nvPr/>
        </p:nvCxnSpPr>
        <p:spPr>
          <a:xfrm>
            <a:off x="914399" y="705002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91439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63" name="TextBox 62"/>
          <p:cNvSpPr txBox="1"/>
          <p:nvPr/>
        </p:nvSpPr>
        <p:spPr>
          <a:xfrm>
            <a:off x="122186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64" name="TextBox 63"/>
          <p:cNvSpPr txBox="1"/>
          <p:nvPr/>
        </p:nvSpPr>
        <p:spPr>
          <a:xfrm>
            <a:off x="161124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65" name="Connector 64"/>
          <p:cNvCxnSpPr/>
          <p:nvPr/>
        </p:nvCxnSpPr>
        <p:spPr>
          <a:xfrm>
            <a:off x="1611249" y="705002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61124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67" name="Rectangle 66"/>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074920"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69" name="TextBox 68"/>
          <p:cNvSpPr txBox="1"/>
          <p:nvPr/>
        </p:nvSpPr>
        <p:spPr>
          <a:xfrm>
            <a:off x="5577840"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70" name="Connector 69"/>
          <p:cNvCxnSpPr/>
          <p:nvPr/>
        </p:nvCxnSpPr>
        <p:spPr>
          <a:xfrm>
            <a:off x="5577840"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577840"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72" name="TextBox 71"/>
          <p:cNvSpPr txBox="1"/>
          <p:nvPr/>
        </p:nvSpPr>
        <p:spPr>
          <a:xfrm>
            <a:off x="588530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73" name="TextBox 72"/>
          <p:cNvSpPr txBox="1"/>
          <p:nvPr/>
        </p:nvSpPr>
        <p:spPr>
          <a:xfrm>
            <a:off x="6274689" y="17556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74" name="Connector 73"/>
          <p:cNvCxnSpPr/>
          <p:nvPr/>
        </p:nvCxnSpPr>
        <p:spPr>
          <a:xfrm>
            <a:off x="6274689" y="202082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274689" y="20391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76" name="Rectangle 75"/>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074920"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78" name="TextBox 77"/>
          <p:cNvSpPr txBox="1"/>
          <p:nvPr/>
        </p:nvSpPr>
        <p:spPr>
          <a:xfrm>
            <a:off x="5577840" y="276148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cxnSp>
        <p:nvCxnSpPr>
          <p:cNvPr id="79" name="Connector 78"/>
          <p:cNvCxnSpPr/>
          <p:nvPr/>
        </p:nvCxnSpPr>
        <p:spPr>
          <a:xfrm>
            <a:off x="5577840" y="302666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577840" y="304495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81" name="TextBox 80"/>
          <p:cNvSpPr txBox="1"/>
          <p:nvPr/>
        </p:nvSpPr>
        <p:spPr>
          <a:xfrm>
            <a:off x="6028182"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82" name="TextBox 81"/>
          <p:cNvSpPr txBox="1"/>
          <p:nvPr/>
        </p:nvSpPr>
        <p:spPr>
          <a:xfrm>
            <a:off x="6417564"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83" name="Connector 82"/>
          <p:cNvCxnSpPr/>
          <p:nvPr/>
        </p:nvCxnSpPr>
        <p:spPr>
          <a:xfrm>
            <a:off x="6417564"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6417564"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85" name="Rectangle 84"/>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074920"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87" name="TextBox 86"/>
          <p:cNvSpPr txBox="1"/>
          <p:nvPr/>
        </p:nvSpPr>
        <p:spPr>
          <a:xfrm>
            <a:off x="5577840"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88" name="Connector 87"/>
          <p:cNvCxnSpPr/>
          <p:nvPr/>
        </p:nvCxnSpPr>
        <p:spPr>
          <a:xfrm>
            <a:off x="5577840"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5577840"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90" name="TextBox 89"/>
          <p:cNvSpPr txBox="1"/>
          <p:nvPr/>
        </p:nvSpPr>
        <p:spPr>
          <a:xfrm>
            <a:off x="588530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91" name="TextBox 90"/>
          <p:cNvSpPr txBox="1"/>
          <p:nvPr/>
        </p:nvSpPr>
        <p:spPr>
          <a:xfrm>
            <a:off x="6274689" y="376732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92" name="Connector 91"/>
          <p:cNvCxnSpPr/>
          <p:nvPr/>
        </p:nvCxnSpPr>
        <p:spPr>
          <a:xfrm>
            <a:off x="6274689" y="403250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6274689" y="4050791"/>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94" name="Rectangle 93"/>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074920"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96" name="TextBox 95"/>
          <p:cNvSpPr txBox="1"/>
          <p:nvPr/>
        </p:nvSpPr>
        <p:spPr>
          <a:xfrm>
            <a:off x="5577840"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97" name="Connector 96"/>
          <p:cNvCxnSpPr/>
          <p:nvPr/>
        </p:nvCxnSpPr>
        <p:spPr>
          <a:xfrm>
            <a:off x="5577840"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577840"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99" name="TextBox 98"/>
          <p:cNvSpPr txBox="1"/>
          <p:nvPr/>
        </p:nvSpPr>
        <p:spPr>
          <a:xfrm>
            <a:off x="5885307"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0" name="TextBox 99"/>
          <p:cNvSpPr txBox="1"/>
          <p:nvPr/>
        </p:nvSpPr>
        <p:spPr>
          <a:xfrm>
            <a:off x="6274689" y="477316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01" name="Connector 100"/>
          <p:cNvCxnSpPr/>
          <p:nvPr/>
        </p:nvCxnSpPr>
        <p:spPr>
          <a:xfrm>
            <a:off x="6274689" y="503834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6274689" y="505663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103" name="Rectangle 10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74920"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105" name="TextBox 104"/>
          <p:cNvSpPr txBox="1"/>
          <p:nvPr/>
        </p:nvSpPr>
        <p:spPr>
          <a:xfrm>
            <a:off x="5577840"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06" name="Connector 105"/>
          <p:cNvCxnSpPr/>
          <p:nvPr/>
        </p:nvCxnSpPr>
        <p:spPr>
          <a:xfrm>
            <a:off x="5577840"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5577840"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08" name="TextBox 107"/>
          <p:cNvSpPr txBox="1"/>
          <p:nvPr/>
        </p:nvSpPr>
        <p:spPr>
          <a:xfrm>
            <a:off x="5885307"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9" name="TextBox 108"/>
          <p:cNvSpPr txBox="1"/>
          <p:nvPr/>
        </p:nvSpPr>
        <p:spPr>
          <a:xfrm>
            <a:off x="6274689"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10" name="Connector 109"/>
          <p:cNvCxnSpPr/>
          <p:nvPr/>
        </p:nvCxnSpPr>
        <p:spPr>
          <a:xfrm>
            <a:off x="6274689"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6274689"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112" name="Rectangle 111"/>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074920"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114" name="TextBox 113"/>
          <p:cNvSpPr txBox="1"/>
          <p:nvPr/>
        </p:nvSpPr>
        <p:spPr>
          <a:xfrm>
            <a:off x="5577840"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115" name="Connector 114"/>
          <p:cNvCxnSpPr/>
          <p:nvPr/>
        </p:nvCxnSpPr>
        <p:spPr>
          <a:xfrm>
            <a:off x="5577840"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5577840"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17" name="TextBox 116"/>
          <p:cNvSpPr txBox="1"/>
          <p:nvPr/>
        </p:nvSpPr>
        <p:spPr>
          <a:xfrm>
            <a:off x="588530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18" name="TextBox 117"/>
          <p:cNvSpPr txBox="1"/>
          <p:nvPr/>
        </p:nvSpPr>
        <p:spPr>
          <a:xfrm>
            <a:off x="627468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19" name="Connector 118"/>
          <p:cNvCxnSpPr/>
          <p:nvPr/>
        </p:nvCxnSpPr>
        <p:spPr>
          <a:xfrm>
            <a:off x="6274689"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627468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21" name="Rectangle 120"/>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738360"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123" name="TextBox 122"/>
          <p:cNvSpPr txBox="1"/>
          <p:nvPr/>
        </p:nvSpPr>
        <p:spPr>
          <a:xfrm>
            <a:off x="10241280" y="1874519"/>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2 </a:t>
            </a:r>
          </a:p>
        </p:txBody>
      </p:sp>
      <p:sp>
        <p:nvSpPr>
          <p:cNvPr id="124" name="TextBox 123"/>
          <p:cNvSpPr txBox="1"/>
          <p:nvPr/>
        </p:nvSpPr>
        <p:spPr>
          <a:xfrm>
            <a:off x="10535412" y="17556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125" name="Connector 124"/>
          <p:cNvCxnSpPr/>
          <p:nvPr/>
        </p:nvCxnSpPr>
        <p:spPr>
          <a:xfrm>
            <a:off x="10535412" y="202082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10535412" y="20391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127" name="TextBox 126"/>
          <p:cNvSpPr txBox="1"/>
          <p:nvPr/>
        </p:nvSpPr>
        <p:spPr>
          <a:xfrm>
            <a:off x="10985754"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28" name="TextBox 127"/>
          <p:cNvSpPr txBox="1"/>
          <p:nvPr/>
        </p:nvSpPr>
        <p:spPr>
          <a:xfrm>
            <a:off x="11375136"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29" name="Connector 128"/>
          <p:cNvCxnSpPr/>
          <p:nvPr/>
        </p:nvCxnSpPr>
        <p:spPr>
          <a:xfrm>
            <a:off x="11375136"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11375136"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131" name="Rectangle 130"/>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9738360"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133" name="TextBox 132"/>
          <p:cNvSpPr txBox="1"/>
          <p:nvPr/>
        </p:nvSpPr>
        <p:spPr>
          <a:xfrm>
            <a:off x="10241280"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34" name="Connector 133"/>
          <p:cNvCxnSpPr/>
          <p:nvPr/>
        </p:nvCxnSpPr>
        <p:spPr>
          <a:xfrm>
            <a:off x="10241280"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0241280"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36" name="TextBox 135"/>
          <p:cNvSpPr txBox="1"/>
          <p:nvPr/>
        </p:nvSpPr>
        <p:spPr>
          <a:xfrm>
            <a:off x="1054874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37" name="TextBox 136"/>
          <p:cNvSpPr txBox="1"/>
          <p:nvPr/>
        </p:nvSpPr>
        <p:spPr>
          <a:xfrm>
            <a:off x="1093812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38" name="Connector 137"/>
          <p:cNvCxnSpPr/>
          <p:nvPr/>
        </p:nvCxnSpPr>
        <p:spPr>
          <a:xfrm>
            <a:off x="10938129"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093812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40" name="Rectangle 139"/>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9738360"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142" name="TextBox 141"/>
          <p:cNvSpPr txBox="1"/>
          <p:nvPr/>
        </p:nvSpPr>
        <p:spPr>
          <a:xfrm>
            <a:off x="10241280" y="388620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43" name="TextBox 142"/>
          <p:cNvSpPr txBox="1"/>
          <p:nvPr/>
        </p:nvSpPr>
        <p:spPr>
          <a:xfrm>
            <a:off x="10535412"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44" name="Connector 143"/>
          <p:cNvCxnSpPr/>
          <p:nvPr/>
        </p:nvCxnSpPr>
        <p:spPr>
          <a:xfrm>
            <a:off x="10535412"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10535412"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46" name="TextBox 145"/>
          <p:cNvSpPr txBox="1"/>
          <p:nvPr/>
        </p:nvSpPr>
        <p:spPr>
          <a:xfrm>
            <a:off x="10842879"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47" name="TextBox 146"/>
          <p:cNvSpPr txBox="1"/>
          <p:nvPr/>
        </p:nvSpPr>
        <p:spPr>
          <a:xfrm>
            <a:off x="11232261"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48" name="Connector 147"/>
          <p:cNvCxnSpPr/>
          <p:nvPr/>
        </p:nvCxnSpPr>
        <p:spPr>
          <a:xfrm>
            <a:off x="11232261"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9" name="TextBox 148"/>
          <p:cNvSpPr txBox="1"/>
          <p:nvPr/>
        </p:nvSpPr>
        <p:spPr>
          <a:xfrm>
            <a:off x="11232261"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150" name="Rectangle 149"/>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9738360"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152" name="TextBox 151"/>
          <p:cNvSpPr txBox="1"/>
          <p:nvPr/>
        </p:nvSpPr>
        <p:spPr>
          <a:xfrm>
            <a:off x="10241280" y="489204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53" name="TextBox 152"/>
          <p:cNvSpPr txBox="1"/>
          <p:nvPr/>
        </p:nvSpPr>
        <p:spPr>
          <a:xfrm>
            <a:off x="10535412"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54" name="Connector 153"/>
          <p:cNvCxnSpPr/>
          <p:nvPr/>
        </p:nvCxnSpPr>
        <p:spPr>
          <a:xfrm>
            <a:off x="10535412"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5" name="TextBox 154"/>
          <p:cNvSpPr txBox="1"/>
          <p:nvPr/>
        </p:nvSpPr>
        <p:spPr>
          <a:xfrm>
            <a:off x="10535412"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56" name="TextBox 155"/>
          <p:cNvSpPr txBox="1"/>
          <p:nvPr/>
        </p:nvSpPr>
        <p:spPr>
          <a:xfrm>
            <a:off x="10842879"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57" name="TextBox 156"/>
          <p:cNvSpPr txBox="1"/>
          <p:nvPr/>
        </p:nvSpPr>
        <p:spPr>
          <a:xfrm>
            <a:off x="11232261"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58" name="Connector 157"/>
          <p:cNvCxnSpPr/>
          <p:nvPr/>
        </p:nvCxnSpPr>
        <p:spPr>
          <a:xfrm>
            <a:off x="11232261"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11232261"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60" name="Rectangle 159"/>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9738360"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162" name="TextBox 161"/>
          <p:cNvSpPr txBox="1"/>
          <p:nvPr/>
        </p:nvSpPr>
        <p:spPr>
          <a:xfrm>
            <a:off x="10241280"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63" name="Connector 162"/>
          <p:cNvCxnSpPr/>
          <p:nvPr/>
        </p:nvCxnSpPr>
        <p:spPr>
          <a:xfrm>
            <a:off x="10241280"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4" name="TextBox 163"/>
          <p:cNvSpPr txBox="1"/>
          <p:nvPr/>
        </p:nvSpPr>
        <p:spPr>
          <a:xfrm>
            <a:off x="10241280"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65" name="TextBox 164"/>
          <p:cNvSpPr txBox="1"/>
          <p:nvPr/>
        </p:nvSpPr>
        <p:spPr>
          <a:xfrm>
            <a:off x="10548747"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66" name="TextBox 165"/>
          <p:cNvSpPr txBox="1"/>
          <p:nvPr/>
        </p:nvSpPr>
        <p:spPr>
          <a:xfrm>
            <a:off x="10938129"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67" name="Connector 166"/>
          <p:cNvCxnSpPr/>
          <p:nvPr/>
        </p:nvCxnSpPr>
        <p:spPr>
          <a:xfrm>
            <a:off x="10938129"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8" name="TextBox 167"/>
          <p:cNvSpPr txBox="1"/>
          <p:nvPr/>
        </p:nvSpPr>
        <p:spPr>
          <a:xfrm>
            <a:off x="10938129"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169" name="Rectangle 168"/>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9738360"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171" name="TextBox 170"/>
          <p:cNvSpPr txBox="1"/>
          <p:nvPr/>
        </p:nvSpPr>
        <p:spPr>
          <a:xfrm>
            <a:off x="10241280" y="690372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72" name="TextBox 171"/>
          <p:cNvSpPr txBox="1"/>
          <p:nvPr/>
        </p:nvSpPr>
        <p:spPr>
          <a:xfrm>
            <a:off x="10535412"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73" name="Connector 172"/>
          <p:cNvCxnSpPr/>
          <p:nvPr/>
        </p:nvCxnSpPr>
        <p:spPr>
          <a:xfrm>
            <a:off x="10535412"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4" name="TextBox 173"/>
          <p:cNvSpPr txBox="1"/>
          <p:nvPr/>
        </p:nvSpPr>
        <p:spPr>
          <a:xfrm>
            <a:off x="10535412"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75" name="TextBox 174"/>
          <p:cNvSpPr txBox="1"/>
          <p:nvPr/>
        </p:nvSpPr>
        <p:spPr>
          <a:xfrm>
            <a:off x="10842879"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76" name="TextBox 175"/>
          <p:cNvSpPr txBox="1"/>
          <p:nvPr/>
        </p:nvSpPr>
        <p:spPr>
          <a:xfrm>
            <a:off x="11232261"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cxnSp>
        <p:nvCxnSpPr>
          <p:cNvPr id="177" name="Connector 176"/>
          <p:cNvCxnSpPr/>
          <p:nvPr/>
        </p:nvCxnSpPr>
        <p:spPr>
          <a:xfrm>
            <a:off x="11232261"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8" name="TextBox 177"/>
          <p:cNvSpPr txBox="1"/>
          <p:nvPr/>
        </p:nvSpPr>
        <p:spPr>
          <a:xfrm>
            <a:off x="11232261"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7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Simplify; write mixed answers if greater than 1.</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15" name="TextBox 14"/>
          <p:cNvSpPr txBox="1"/>
          <p:nvPr/>
        </p:nvSpPr>
        <p:spPr>
          <a:xfrm>
            <a:off x="914399" y="175564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16" name="Connector 15"/>
          <p:cNvCxnSpPr/>
          <p:nvPr/>
        </p:nvCxnSpPr>
        <p:spPr>
          <a:xfrm>
            <a:off x="914399" y="2020824"/>
            <a:ext cx="395181"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399" y="203911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18" name="TextBox 17"/>
          <p:cNvSpPr txBox="1"/>
          <p:nvPr/>
        </p:nvSpPr>
        <p:spPr>
          <a:xfrm>
            <a:off x="1364444"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9" name="TextBox 18"/>
          <p:cNvSpPr txBox="1"/>
          <p:nvPr/>
        </p:nvSpPr>
        <p:spPr>
          <a:xfrm>
            <a:off x="1753826" y="175564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20" name="Connector 19"/>
          <p:cNvCxnSpPr/>
          <p:nvPr/>
        </p:nvCxnSpPr>
        <p:spPr>
          <a:xfrm>
            <a:off x="1753826" y="202082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753826" y="203911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24" name="TextBox 23"/>
          <p:cNvSpPr txBox="1"/>
          <p:nvPr/>
        </p:nvSpPr>
        <p:spPr>
          <a:xfrm>
            <a:off x="91439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25" name="Connector 24"/>
          <p:cNvCxnSpPr/>
          <p:nvPr/>
        </p:nvCxnSpPr>
        <p:spPr>
          <a:xfrm>
            <a:off x="914399" y="302666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1439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27" name="TextBox 26"/>
          <p:cNvSpPr txBox="1"/>
          <p:nvPr/>
        </p:nvSpPr>
        <p:spPr>
          <a:xfrm>
            <a:off x="122186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28" name="TextBox 27"/>
          <p:cNvSpPr txBox="1"/>
          <p:nvPr/>
        </p:nvSpPr>
        <p:spPr>
          <a:xfrm>
            <a:off x="161124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29" name="Connector 28"/>
          <p:cNvCxnSpPr/>
          <p:nvPr/>
        </p:nvCxnSpPr>
        <p:spPr>
          <a:xfrm>
            <a:off x="1611249" y="302666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61124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33" name="TextBox 32"/>
          <p:cNvSpPr txBox="1"/>
          <p:nvPr/>
        </p:nvSpPr>
        <p:spPr>
          <a:xfrm>
            <a:off x="914399" y="376732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cxnSp>
        <p:nvCxnSpPr>
          <p:cNvPr id="34" name="Connector 33"/>
          <p:cNvCxnSpPr/>
          <p:nvPr/>
        </p:nvCxnSpPr>
        <p:spPr>
          <a:xfrm>
            <a:off x="914399" y="4032504"/>
            <a:ext cx="39547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14399" y="4050791"/>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36" name="TextBox 35"/>
          <p:cNvSpPr txBox="1"/>
          <p:nvPr/>
        </p:nvSpPr>
        <p:spPr>
          <a:xfrm>
            <a:off x="1364742"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37" name="TextBox 36"/>
          <p:cNvSpPr txBox="1"/>
          <p:nvPr/>
        </p:nvSpPr>
        <p:spPr>
          <a:xfrm>
            <a:off x="1754124" y="376732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38" name="Connector 37"/>
          <p:cNvCxnSpPr/>
          <p:nvPr/>
        </p:nvCxnSpPr>
        <p:spPr>
          <a:xfrm>
            <a:off x="1754124" y="403250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754124" y="4050791"/>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79"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42" name="TextBox 41"/>
          <p:cNvSpPr txBox="1"/>
          <p:nvPr/>
        </p:nvSpPr>
        <p:spPr>
          <a:xfrm>
            <a:off x="914399"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43" name="Connector 42"/>
          <p:cNvCxnSpPr/>
          <p:nvPr/>
        </p:nvCxnSpPr>
        <p:spPr>
          <a:xfrm>
            <a:off x="914399" y="503834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14399"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45" name="TextBox 44"/>
          <p:cNvSpPr txBox="1"/>
          <p:nvPr/>
        </p:nvSpPr>
        <p:spPr>
          <a:xfrm>
            <a:off x="1221867"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46" name="TextBox 45"/>
          <p:cNvSpPr txBox="1"/>
          <p:nvPr/>
        </p:nvSpPr>
        <p:spPr>
          <a:xfrm>
            <a:off x="1611249"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47" name="Connector 46"/>
          <p:cNvCxnSpPr/>
          <p:nvPr/>
        </p:nvCxnSpPr>
        <p:spPr>
          <a:xfrm>
            <a:off x="1611249" y="503834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611249"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1479"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51" name="TextBox 50"/>
          <p:cNvSpPr txBox="1"/>
          <p:nvPr/>
        </p:nvSpPr>
        <p:spPr>
          <a:xfrm>
            <a:off x="914399" y="577900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52" name="Connector 51"/>
          <p:cNvCxnSpPr/>
          <p:nvPr/>
        </p:nvCxnSpPr>
        <p:spPr>
          <a:xfrm>
            <a:off x="914399" y="6044184"/>
            <a:ext cx="395181"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14399" y="606247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54" name="TextBox 53"/>
          <p:cNvSpPr txBox="1"/>
          <p:nvPr/>
        </p:nvSpPr>
        <p:spPr>
          <a:xfrm>
            <a:off x="1364444"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55" name="TextBox 54"/>
          <p:cNvSpPr txBox="1"/>
          <p:nvPr/>
        </p:nvSpPr>
        <p:spPr>
          <a:xfrm>
            <a:off x="1753826" y="577900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56" name="Connector 55"/>
          <p:cNvCxnSpPr/>
          <p:nvPr/>
        </p:nvCxnSpPr>
        <p:spPr>
          <a:xfrm>
            <a:off x="1753826" y="604418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753826" y="606247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1479"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60" name="TextBox 59"/>
          <p:cNvSpPr txBox="1"/>
          <p:nvPr/>
        </p:nvSpPr>
        <p:spPr>
          <a:xfrm>
            <a:off x="914399" y="67848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61" name="Connector 60"/>
          <p:cNvCxnSpPr/>
          <p:nvPr/>
        </p:nvCxnSpPr>
        <p:spPr>
          <a:xfrm>
            <a:off x="914399" y="7050024"/>
            <a:ext cx="39547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914399" y="70683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63" name="TextBox 62"/>
          <p:cNvSpPr txBox="1"/>
          <p:nvPr/>
        </p:nvSpPr>
        <p:spPr>
          <a:xfrm>
            <a:off x="1364742"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64" name="TextBox 63"/>
          <p:cNvSpPr txBox="1"/>
          <p:nvPr/>
        </p:nvSpPr>
        <p:spPr>
          <a:xfrm>
            <a:off x="1754124" y="67848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cxnSp>
        <p:nvCxnSpPr>
          <p:cNvPr id="65" name="Connector 64"/>
          <p:cNvCxnSpPr/>
          <p:nvPr/>
        </p:nvCxnSpPr>
        <p:spPr>
          <a:xfrm>
            <a:off x="1754124" y="705002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754124" y="70683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67" name="Rectangle 66"/>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074920"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69" name="TextBox 68"/>
          <p:cNvSpPr txBox="1"/>
          <p:nvPr/>
        </p:nvSpPr>
        <p:spPr>
          <a:xfrm>
            <a:off x="5577840" y="17556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70" name="Connector 69"/>
          <p:cNvCxnSpPr/>
          <p:nvPr/>
        </p:nvCxnSpPr>
        <p:spPr>
          <a:xfrm>
            <a:off x="5577840" y="202082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577840" y="20391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72" name="TextBox 71"/>
          <p:cNvSpPr txBox="1"/>
          <p:nvPr/>
        </p:nvSpPr>
        <p:spPr>
          <a:xfrm>
            <a:off x="6028182"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73" name="TextBox 72"/>
          <p:cNvSpPr txBox="1"/>
          <p:nvPr/>
        </p:nvSpPr>
        <p:spPr>
          <a:xfrm>
            <a:off x="6417564"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74" name="Connector 73"/>
          <p:cNvCxnSpPr/>
          <p:nvPr/>
        </p:nvCxnSpPr>
        <p:spPr>
          <a:xfrm>
            <a:off x="6417564"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417564"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76" name="Rectangle 75"/>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074920"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78" name="TextBox 77"/>
          <p:cNvSpPr txBox="1"/>
          <p:nvPr/>
        </p:nvSpPr>
        <p:spPr>
          <a:xfrm>
            <a:off x="5577840"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79" name="Connector 78"/>
          <p:cNvCxnSpPr/>
          <p:nvPr/>
        </p:nvCxnSpPr>
        <p:spPr>
          <a:xfrm>
            <a:off x="5577840"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577840"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81" name="TextBox 80"/>
          <p:cNvSpPr txBox="1"/>
          <p:nvPr/>
        </p:nvSpPr>
        <p:spPr>
          <a:xfrm>
            <a:off x="588530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82" name="TextBox 81"/>
          <p:cNvSpPr txBox="1"/>
          <p:nvPr/>
        </p:nvSpPr>
        <p:spPr>
          <a:xfrm>
            <a:off x="627468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83" name="Connector 82"/>
          <p:cNvCxnSpPr/>
          <p:nvPr/>
        </p:nvCxnSpPr>
        <p:spPr>
          <a:xfrm>
            <a:off x="6274689"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627468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85" name="Rectangle 84"/>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074920"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87" name="TextBox 86"/>
          <p:cNvSpPr txBox="1"/>
          <p:nvPr/>
        </p:nvSpPr>
        <p:spPr>
          <a:xfrm>
            <a:off x="5577840"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88" name="Connector 87"/>
          <p:cNvCxnSpPr/>
          <p:nvPr/>
        </p:nvCxnSpPr>
        <p:spPr>
          <a:xfrm>
            <a:off x="5577840"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5577840"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90" name="TextBox 89"/>
          <p:cNvSpPr txBox="1"/>
          <p:nvPr/>
        </p:nvSpPr>
        <p:spPr>
          <a:xfrm>
            <a:off x="588530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91" name="TextBox 90"/>
          <p:cNvSpPr txBox="1"/>
          <p:nvPr/>
        </p:nvSpPr>
        <p:spPr>
          <a:xfrm>
            <a:off x="6274689"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92" name="Connector 91"/>
          <p:cNvCxnSpPr/>
          <p:nvPr/>
        </p:nvCxnSpPr>
        <p:spPr>
          <a:xfrm>
            <a:off x="6274689"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6274689"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94" name="Rectangle 93"/>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074920"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96" name="TextBox 95"/>
          <p:cNvSpPr txBox="1"/>
          <p:nvPr/>
        </p:nvSpPr>
        <p:spPr>
          <a:xfrm>
            <a:off x="5577840"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97" name="Connector 96"/>
          <p:cNvCxnSpPr/>
          <p:nvPr/>
        </p:nvCxnSpPr>
        <p:spPr>
          <a:xfrm>
            <a:off x="5577840"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577840"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99" name="TextBox 98"/>
          <p:cNvSpPr txBox="1"/>
          <p:nvPr/>
        </p:nvSpPr>
        <p:spPr>
          <a:xfrm>
            <a:off x="5885307"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0" name="TextBox 99"/>
          <p:cNvSpPr txBox="1"/>
          <p:nvPr/>
        </p:nvSpPr>
        <p:spPr>
          <a:xfrm>
            <a:off x="6274689" y="477316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01" name="Connector 100"/>
          <p:cNvCxnSpPr/>
          <p:nvPr/>
        </p:nvCxnSpPr>
        <p:spPr>
          <a:xfrm>
            <a:off x="6274689" y="503834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6274689" y="505663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103" name="Rectangle 10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74920"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105" name="TextBox 104"/>
          <p:cNvSpPr txBox="1"/>
          <p:nvPr/>
        </p:nvSpPr>
        <p:spPr>
          <a:xfrm>
            <a:off x="5577840"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06" name="Connector 105"/>
          <p:cNvCxnSpPr/>
          <p:nvPr/>
        </p:nvCxnSpPr>
        <p:spPr>
          <a:xfrm>
            <a:off x="5577840"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5577840"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08" name="TextBox 107"/>
          <p:cNvSpPr txBox="1"/>
          <p:nvPr/>
        </p:nvSpPr>
        <p:spPr>
          <a:xfrm>
            <a:off x="5885307"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9" name="TextBox 108"/>
          <p:cNvSpPr txBox="1"/>
          <p:nvPr/>
        </p:nvSpPr>
        <p:spPr>
          <a:xfrm>
            <a:off x="6274689" y="577900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cxnSp>
        <p:nvCxnSpPr>
          <p:cNvPr id="110" name="Connector 109"/>
          <p:cNvCxnSpPr/>
          <p:nvPr/>
        </p:nvCxnSpPr>
        <p:spPr>
          <a:xfrm>
            <a:off x="6274689" y="604418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6274689" y="606247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112" name="Rectangle 111"/>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074920"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114" name="TextBox 113"/>
          <p:cNvSpPr txBox="1"/>
          <p:nvPr/>
        </p:nvSpPr>
        <p:spPr>
          <a:xfrm>
            <a:off x="5577840"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15" name="Connector 114"/>
          <p:cNvCxnSpPr/>
          <p:nvPr/>
        </p:nvCxnSpPr>
        <p:spPr>
          <a:xfrm>
            <a:off x="5577840"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5577840"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17" name="TextBox 116"/>
          <p:cNvSpPr txBox="1"/>
          <p:nvPr/>
        </p:nvSpPr>
        <p:spPr>
          <a:xfrm>
            <a:off x="588530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18" name="TextBox 117"/>
          <p:cNvSpPr txBox="1"/>
          <p:nvPr/>
        </p:nvSpPr>
        <p:spPr>
          <a:xfrm>
            <a:off x="6274689" y="67848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cxnSp>
        <p:nvCxnSpPr>
          <p:cNvPr id="119" name="Connector 118"/>
          <p:cNvCxnSpPr/>
          <p:nvPr/>
        </p:nvCxnSpPr>
        <p:spPr>
          <a:xfrm>
            <a:off x="6274689" y="705002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6274689" y="70683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121" name="Rectangle 120"/>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738360"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123" name="TextBox 122"/>
          <p:cNvSpPr txBox="1"/>
          <p:nvPr/>
        </p:nvSpPr>
        <p:spPr>
          <a:xfrm>
            <a:off x="10241280"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24" name="Connector 123"/>
          <p:cNvCxnSpPr/>
          <p:nvPr/>
        </p:nvCxnSpPr>
        <p:spPr>
          <a:xfrm>
            <a:off x="10241280"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0241280"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26" name="TextBox 125"/>
          <p:cNvSpPr txBox="1"/>
          <p:nvPr/>
        </p:nvSpPr>
        <p:spPr>
          <a:xfrm>
            <a:off x="1054874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27" name="TextBox 126"/>
          <p:cNvSpPr txBox="1"/>
          <p:nvPr/>
        </p:nvSpPr>
        <p:spPr>
          <a:xfrm>
            <a:off x="1093812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28" name="Connector 127"/>
          <p:cNvCxnSpPr/>
          <p:nvPr/>
        </p:nvCxnSpPr>
        <p:spPr>
          <a:xfrm>
            <a:off x="10938129"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1093812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30" name="Rectangle 129"/>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738360"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132" name="TextBox 131"/>
          <p:cNvSpPr txBox="1"/>
          <p:nvPr/>
        </p:nvSpPr>
        <p:spPr>
          <a:xfrm>
            <a:off x="10241280"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33" name="Connector 132"/>
          <p:cNvCxnSpPr/>
          <p:nvPr/>
        </p:nvCxnSpPr>
        <p:spPr>
          <a:xfrm>
            <a:off x="10241280"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10241280"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35" name="TextBox 134"/>
          <p:cNvSpPr txBox="1"/>
          <p:nvPr/>
        </p:nvSpPr>
        <p:spPr>
          <a:xfrm>
            <a:off x="1054874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36" name="TextBox 135"/>
          <p:cNvSpPr txBox="1"/>
          <p:nvPr/>
        </p:nvSpPr>
        <p:spPr>
          <a:xfrm>
            <a:off x="1093812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37" name="Connector 136"/>
          <p:cNvCxnSpPr/>
          <p:nvPr/>
        </p:nvCxnSpPr>
        <p:spPr>
          <a:xfrm>
            <a:off x="10938129"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1093812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39" name="Rectangle 13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9738360"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141" name="TextBox 140"/>
          <p:cNvSpPr txBox="1"/>
          <p:nvPr/>
        </p:nvSpPr>
        <p:spPr>
          <a:xfrm>
            <a:off x="10241280"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42" name="Connector 141"/>
          <p:cNvCxnSpPr/>
          <p:nvPr/>
        </p:nvCxnSpPr>
        <p:spPr>
          <a:xfrm>
            <a:off x="10241280"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0241280"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44" name="TextBox 143"/>
          <p:cNvSpPr txBox="1"/>
          <p:nvPr/>
        </p:nvSpPr>
        <p:spPr>
          <a:xfrm>
            <a:off x="1054874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45" name="TextBox 144"/>
          <p:cNvSpPr txBox="1"/>
          <p:nvPr/>
        </p:nvSpPr>
        <p:spPr>
          <a:xfrm>
            <a:off x="10938129"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46" name="Connector 145"/>
          <p:cNvCxnSpPr/>
          <p:nvPr/>
        </p:nvCxnSpPr>
        <p:spPr>
          <a:xfrm>
            <a:off x="10938129"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7" name="TextBox 146"/>
          <p:cNvSpPr txBox="1"/>
          <p:nvPr/>
        </p:nvSpPr>
        <p:spPr>
          <a:xfrm>
            <a:off x="10938129"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48" name="Rectangle 14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9738360"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150" name="TextBox 149"/>
          <p:cNvSpPr txBox="1"/>
          <p:nvPr/>
        </p:nvSpPr>
        <p:spPr>
          <a:xfrm>
            <a:off x="10241280" y="489204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2 </a:t>
            </a:r>
          </a:p>
        </p:txBody>
      </p:sp>
      <p:sp>
        <p:nvSpPr>
          <p:cNvPr id="151" name="TextBox 150"/>
          <p:cNvSpPr txBox="1"/>
          <p:nvPr/>
        </p:nvSpPr>
        <p:spPr>
          <a:xfrm>
            <a:off x="10535412"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52" name="Connector 151"/>
          <p:cNvCxnSpPr/>
          <p:nvPr/>
        </p:nvCxnSpPr>
        <p:spPr>
          <a:xfrm>
            <a:off x="10535412"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3" name="TextBox 152"/>
          <p:cNvSpPr txBox="1"/>
          <p:nvPr/>
        </p:nvSpPr>
        <p:spPr>
          <a:xfrm>
            <a:off x="10535412"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54" name="TextBox 153"/>
          <p:cNvSpPr txBox="1"/>
          <p:nvPr/>
        </p:nvSpPr>
        <p:spPr>
          <a:xfrm>
            <a:off x="10842879"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55" name="TextBox 154"/>
          <p:cNvSpPr txBox="1"/>
          <p:nvPr/>
        </p:nvSpPr>
        <p:spPr>
          <a:xfrm>
            <a:off x="11232261"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56" name="Connector 155"/>
          <p:cNvCxnSpPr/>
          <p:nvPr/>
        </p:nvCxnSpPr>
        <p:spPr>
          <a:xfrm>
            <a:off x="11232261"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7" name="TextBox 156"/>
          <p:cNvSpPr txBox="1"/>
          <p:nvPr/>
        </p:nvSpPr>
        <p:spPr>
          <a:xfrm>
            <a:off x="11232261"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158" name="Rectangle 157"/>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9738360"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160" name="TextBox 159"/>
          <p:cNvSpPr txBox="1"/>
          <p:nvPr/>
        </p:nvSpPr>
        <p:spPr>
          <a:xfrm>
            <a:off x="10241280" y="589788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61" name="TextBox 160"/>
          <p:cNvSpPr txBox="1"/>
          <p:nvPr/>
        </p:nvSpPr>
        <p:spPr>
          <a:xfrm>
            <a:off x="10535412"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62" name="Connector 161"/>
          <p:cNvCxnSpPr/>
          <p:nvPr/>
        </p:nvCxnSpPr>
        <p:spPr>
          <a:xfrm>
            <a:off x="10535412"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3" name="TextBox 162"/>
          <p:cNvSpPr txBox="1"/>
          <p:nvPr/>
        </p:nvSpPr>
        <p:spPr>
          <a:xfrm>
            <a:off x="10535412"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64" name="TextBox 163"/>
          <p:cNvSpPr txBox="1"/>
          <p:nvPr/>
        </p:nvSpPr>
        <p:spPr>
          <a:xfrm>
            <a:off x="10842879"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65" name="TextBox 164"/>
          <p:cNvSpPr txBox="1"/>
          <p:nvPr/>
        </p:nvSpPr>
        <p:spPr>
          <a:xfrm>
            <a:off x="11232261"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66" name="Connector 165"/>
          <p:cNvCxnSpPr/>
          <p:nvPr/>
        </p:nvCxnSpPr>
        <p:spPr>
          <a:xfrm>
            <a:off x="11232261"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7" name="TextBox 166"/>
          <p:cNvSpPr txBox="1"/>
          <p:nvPr/>
        </p:nvSpPr>
        <p:spPr>
          <a:xfrm>
            <a:off x="11232261"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68" name="Rectangle 167"/>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9738360"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170" name="TextBox 169"/>
          <p:cNvSpPr txBox="1"/>
          <p:nvPr/>
        </p:nvSpPr>
        <p:spPr>
          <a:xfrm>
            <a:off x="10241280"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171" name="Connector 170"/>
          <p:cNvCxnSpPr/>
          <p:nvPr/>
        </p:nvCxnSpPr>
        <p:spPr>
          <a:xfrm>
            <a:off x="10241280"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2" name="TextBox 171"/>
          <p:cNvSpPr txBox="1"/>
          <p:nvPr/>
        </p:nvSpPr>
        <p:spPr>
          <a:xfrm>
            <a:off x="10241280"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73" name="TextBox 172"/>
          <p:cNvSpPr txBox="1"/>
          <p:nvPr/>
        </p:nvSpPr>
        <p:spPr>
          <a:xfrm>
            <a:off x="1054874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74" name="TextBox 173"/>
          <p:cNvSpPr txBox="1"/>
          <p:nvPr/>
        </p:nvSpPr>
        <p:spPr>
          <a:xfrm>
            <a:off x="1093812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75" name="Connector 174"/>
          <p:cNvCxnSpPr/>
          <p:nvPr/>
        </p:nvCxnSpPr>
        <p:spPr>
          <a:xfrm>
            <a:off x="10938129"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093812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7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Simplify; write mixed answers if greater than 1.</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15" name="TextBox 14"/>
          <p:cNvSpPr txBox="1"/>
          <p:nvPr/>
        </p:nvSpPr>
        <p:spPr>
          <a:xfrm>
            <a:off x="91439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6" name="Connector 15"/>
          <p:cNvCxnSpPr/>
          <p:nvPr/>
        </p:nvCxnSpPr>
        <p:spPr>
          <a:xfrm>
            <a:off x="914399" y="202082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39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8" name="TextBox 17"/>
          <p:cNvSpPr txBox="1"/>
          <p:nvPr/>
        </p:nvSpPr>
        <p:spPr>
          <a:xfrm>
            <a:off x="122186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9" name="TextBox 18"/>
          <p:cNvSpPr txBox="1"/>
          <p:nvPr/>
        </p:nvSpPr>
        <p:spPr>
          <a:xfrm>
            <a:off x="161124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20" name="Connector 19"/>
          <p:cNvCxnSpPr/>
          <p:nvPr/>
        </p:nvCxnSpPr>
        <p:spPr>
          <a:xfrm>
            <a:off x="1611249" y="202082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61124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24" name="TextBox 23"/>
          <p:cNvSpPr txBox="1"/>
          <p:nvPr/>
        </p:nvSpPr>
        <p:spPr>
          <a:xfrm>
            <a:off x="91439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25" name="Connector 24"/>
          <p:cNvCxnSpPr/>
          <p:nvPr/>
        </p:nvCxnSpPr>
        <p:spPr>
          <a:xfrm>
            <a:off x="914399" y="302666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1439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27" name="TextBox 26"/>
          <p:cNvSpPr txBox="1"/>
          <p:nvPr/>
        </p:nvSpPr>
        <p:spPr>
          <a:xfrm>
            <a:off x="122186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28" name="TextBox 27"/>
          <p:cNvSpPr txBox="1"/>
          <p:nvPr/>
        </p:nvSpPr>
        <p:spPr>
          <a:xfrm>
            <a:off x="161124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29" name="Connector 28"/>
          <p:cNvCxnSpPr/>
          <p:nvPr/>
        </p:nvCxnSpPr>
        <p:spPr>
          <a:xfrm>
            <a:off x="1611249" y="302666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61124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33" name="TextBox 32"/>
          <p:cNvSpPr txBox="1"/>
          <p:nvPr/>
        </p:nvSpPr>
        <p:spPr>
          <a:xfrm>
            <a:off x="914399"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cxnSp>
        <p:nvCxnSpPr>
          <p:cNvPr id="34" name="Connector 33"/>
          <p:cNvCxnSpPr/>
          <p:nvPr/>
        </p:nvCxnSpPr>
        <p:spPr>
          <a:xfrm>
            <a:off x="914399" y="403250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14399"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36" name="TextBox 35"/>
          <p:cNvSpPr txBox="1"/>
          <p:nvPr/>
        </p:nvSpPr>
        <p:spPr>
          <a:xfrm>
            <a:off x="122186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37" name="TextBox 36"/>
          <p:cNvSpPr txBox="1"/>
          <p:nvPr/>
        </p:nvSpPr>
        <p:spPr>
          <a:xfrm>
            <a:off x="1611249"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38" name="Connector 37"/>
          <p:cNvCxnSpPr/>
          <p:nvPr/>
        </p:nvCxnSpPr>
        <p:spPr>
          <a:xfrm>
            <a:off x="1611249" y="403250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611249"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79"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42" name="TextBox 41"/>
          <p:cNvSpPr txBox="1"/>
          <p:nvPr/>
        </p:nvSpPr>
        <p:spPr>
          <a:xfrm>
            <a:off x="914399" y="477316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cxnSp>
        <p:nvCxnSpPr>
          <p:cNvPr id="43" name="Connector 42"/>
          <p:cNvCxnSpPr/>
          <p:nvPr/>
        </p:nvCxnSpPr>
        <p:spPr>
          <a:xfrm>
            <a:off x="914399" y="5038344"/>
            <a:ext cx="39547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14399" y="505663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45" name="TextBox 44"/>
          <p:cNvSpPr txBox="1"/>
          <p:nvPr/>
        </p:nvSpPr>
        <p:spPr>
          <a:xfrm>
            <a:off x="1364742"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46" name="TextBox 45"/>
          <p:cNvSpPr txBox="1"/>
          <p:nvPr/>
        </p:nvSpPr>
        <p:spPr>
          <a:xfrm>
            <a:off x="1754124" y="477316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cxnSp>
        <p:nvCxnSpPr>
          <p:cNvPr id="47" name="Connector 46"/>
          <p:cNvCxnSpPr/>
          <p:nvPr/>
        </p:nvCxnSpPr>
        <p:spPr>
          <a:xfrm>
            <a:off x="1754124" y="503834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754124" y="505663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1479"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51" name="TextBox 50"/>
          <p:cNvSpPr txBox="1"/>
          <p:nvPr/>
        </p:nvSpPr>
        <p:spPr>
          <a:xfrm>
            <a:off x="914399" y="577900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52" name="Connector 51"/>
          <p:cNvCxnSpPr/>
          <p:nvPr/>
        </p:nvCxnSpPr>
        <p:spPr>
          <a:xfrm>
            <a:off x="914399" y="6044184"/>
            <a:ext cx="395181"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14399" y="606247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54" name="TextBox 53"/>
          <p:cNvSpPr txBox="1"/>
          <p:nvPr/>
        </p:nvSpPr>
        <p:spPr>
          <a:xfrm>
            <a:off x="1364444"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55" name="TextBox 54"/>
          <p:cNvSpPr txBox="1"/>
          <p:nvPr/>
        </p:nvSpPr>
        <p:spPr>
          <a:xfrm>
            <a:off x="1753826" y="577900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56" name="Connector 55"/>
          <p:cNvCxnSpPr/>
          <p:nvPr/>
        </p:nvCxnSpPr>
        <p:spPr>
          <a:xfrm>
            <a:off x="1753826" y="604418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753826" y="606247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1479"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60" name="TextBox 59"/>
          <p:cNvSpPr txBox="1"/>
          <p:nvPr/>
        </p:nvSpPr>
        <p:spPr>
          <a:xfrm>
            <a:off x="91439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61" name="Connector 60"/>
          <p:cNvCxnSpPr/>
          <p:nvPr/>
        </p:nvCxnSpPr>
        <p:spPr>
          <a:xfrm>
            <a:off x="914399" y="705002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91439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63" name="TextBox 62"/>
          <p:cNvSpPr txBox="1"/>
          <p:nvPr/>
        </p:nvSpPr>
        <p:spPr>
          <a:xfrm>
            <a:off x="122186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64" name="TextBox 63"/>
          <p:cNvSpPr txBox="1"/>
          <p:nvPr/>
        </p:nvSpPr>
        <p:spPr>
          <a:xfrm>
            <a:off x="161124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65" name="Connector 64"/>
          <p:cNvCxnSpPr/>
          <p:nvPr/>
        </p:nvCxnSpPr>
        <p:spPr>
          <a:xfrm>
            <a:off x="1611249" y="705002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61124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67" name="Rectangle 66"/>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074920"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69" name="TextBox 68"/>
          <p:cNvSpPr txBox="1"/>
          <p:nvPr/>
        </p:nvSpPr>
        <p:spPr>
          <a:xfrm>
            <a:off x="5577840"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70" name="Connector 69"/>
          <p:cNvCxnSpPr/>
          <p:nvPr/>
        </p:nvCxnSpPr>
        <p:spPr>
          <a:xfrm>
            <a:off x="5577840"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577840"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72" name="TextBox 71"/>
          <p:cNvSpPr txBox="1"/>
          <p:nvPr/>
        </p:nvSpPr>
        <p:spPr>
          <a:xfrm>
            <a:off x="588530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73" name="TextBox 72"/>
          <p:cNvSpPr txBox="1"/>
          <p:nvPr/>
        </p:nvSpPr>
        <p:spPr>
          <a:xfrm>
            <a:off x="627468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74" name="Connector 73"/>
          <p:cNvCxnSpPr/>
          <p:nvPr/>
        </p:nvCxnSpPr>
        <p:spPr>
          <a:xfrm>
            <a:off x="6274689"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27468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76" name="Rectangle 75"/>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074920"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78" name="TextBox 77"/>
          <p:cNvSpPr txBox="1"/>
          <p:nvPr/>
        </p:nvSpPr>
        <p:spPr>
          <a:xfrm>
            <a:off x="5577840" y="276148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79" name="Connector 78"/>
          <p:cNvCxnSpPr/>
          <p:nvPr/>
        </p:nvCxnSpPr>
        <p:spPr>
          <a:xfrm>
            <a:off x="5577840" y="302666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577840" y="304495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81" name="TextBox 80"/>
          <p:cNvSpPr txBox="1"/>
          <p:nvPr/>
        </p:nvSpPr>
        <p:spPr>
          <a:xfrm>
            <a:off x="6028182"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82" name="TextBox 81"/>
          <p:cNvSpPr txBox="1"/>
          <p:nvPr/>
        </p:nvSpPr>
        <p:spPr>
          <a:xfrm>
            <a:off x="6417564"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83" name="Connector 82"/>
          <p:cNvCxnSpPr/>
          <p:nvPr/>
        </p:nvCxnSpPr>
        <p:spPr>
          <a:xfrm>
            <a:off x="6417564"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6417564"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85" name="Rectangle 84"/>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074920"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87" name="TextBox 86"/>
          <p:cNvSpPr txBox="1"/>
          <p:nvPr/>
        </p:nvSpPr>
        <p:spPr>
          <a:xfrm>
            <a:off x="5577840"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88" name="Connector 87"/>
          <p:cNvCxnSpPr/>
          <p:nvPr/>
        </p:nvCxnSpPr>
        <p:spPr>
          <a:xfrm>
            <a:off x="5577840"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5577840"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90" name="TextBox 89"/>
          <p:cNvSpPr txBox="1"/>
          <p:nvPr/>
        </p:nvSpPr>
        <p:spPr>
          <a:xfrm>
            <a:off x="588530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91" name="TextBox 90"/>
          <p:cNvSpPr txBox="1"/>
          <p:nvPr/>
        </p:nvSpPr>
        <p:spPr>
          <a:xfrm>
            <a:off x="6274689" y="376732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92" name="Connector 91"/>
          <p:cNvCxnSpPr/>
          <p:nvPr/>
        </p:nvCxnSpPr>
        <p:spPr>
          <a:xfrm>
            <a:off x="6274689" y="403250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6274689" y="4050791"/>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94" name="Rectangle 93"/>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074920"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96" name="TextBox 95"/>
          <p:cNvSpPr txBox="1"/>
          <p:nvPr/>
        </p:nvSpPr>
        <p:spPr>
          <a:xfrm>
            <a:off x="5577840"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97" name="Connector 96"/>
          <p:cNvCxnSpPr/>
          <p:nvPr/>
        </p:nvCxnSpPr>
        <p:spPr>
          <a:xfrm>
            <a:off x="5577840"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577840"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99" name="TextBox 98"/>
          <p:cNvSpPr txBox="1"/>
          <p:nvPr/>
        </p:nvSpPr>
        <p:spPr>
          <a:xfrm>
            <a:off x="5885307"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0" name="TextBox 99"/>
          <p:cNvSpPr txBox="1"/>
          <p:nvPr/>
        </p:nvSpPr>
        <p:spPr>
          <a:xfrm>
            <a:off x="6274689"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01" name="Connector 100"/>
          <p:cNvCxnSpPr/>
          <p:nvPr/>
        </p:nvCxnSpPr>
        <p:spPr>
          <a:xfrm>
            <a:off x="6274689"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6274689"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03" name="Rectangle 10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74920"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105" name="TextBox 104"/>
          <p:cNvSpPr txBox="1"/>
          <p:nvPr/>
        </p:nvSpPr>
        <p:spPr>
          <a:xfrm>
            <a:off x="5577840"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106" name="Connector 105"/>
          <p:cNvCxnSpPr/>
          <p:nvPr/>
        </p:nvCxnSpPr>
        <p:spPr>
          <a:xfrm>
            <a:off x="5577840"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5577840"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108" name="TextBox 107"/>
          <p:cNvSpPr txBox="1"/>
          <p:nvPr/>
        </p:nvSpPr>
        <p:spPr>
          <a:xfrm>
            <a:off x="5885307"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9" name="TextBox 108"/>
          <p:cNvSpPr txBox="1"/>
          <p:nvPr/>
        </p:nvSpPr>
        <p:spPr>
          <a:xfrm>
            <a:off x="6274689"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10" name="Connector 109"/>
          <p:cNvCxnSpPr/>
          <p:nvPr/>
        </p:nvCxnSpPr>
        <p:spPr>
          <a:xfrm>
            <a:off x="6274689"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6274689"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12" name="Rectangle 111"/>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074920"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114" name="TextBox 113"/>
          <p:cNvSpPr txBox="1"/>
          <p:nvPr/>
        </p:nvSpPr>
        <p:spPr>
          <a:xfrm>
            <a:off x="5577840"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15" name="Connector 114"/>
          <p:cNvCxnSpPr/>
          <p:nvPr/>
        </p:nvCxnSpPr>
        <p:spPr>
          <a:xfrm>
            <a:off x="5577840"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5577840"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17" name="TextBox 116"/>
          <p:cNvSpPr txBox="1"/>
          <p:nvPr/>
        </p:nvSpPr>
        <p:spPr>
          <a:xfrm>
            <a:off x="588530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18" name="TextBox 117"/>
          <p:cNvSpPr txBox="1"/>
          <p:nvPr/>
        </p:nvSpPr>
        <p:spPr>
          <a:xfrm>
            <a:off x="627468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19" name="Connector 118"/>
          <p:cNvCxnSpPr/>
          <p:nvPr/>
        </p:nvCxnSpPr>
        <p:spPr>
          <a:xfrm>
            <a:off x="6274689"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627468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21" name="Rectangle 120"/>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738360"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123" name="TextBox 122"/>
          <p:cNvSpPr txBox="1"/>
          <p:nvPr/>
        </p:nvSpPr>
        <p:spPr>
          <a:xfrm>
            <a:off x="10241280" y="1874519"/>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24" name="TextBox 123"/>
          <p:cNvSpPr txBox="1"/>
          <p:nvPr/>
        </p:nvSpPr>
        <p:spPr>
          <a:xfrm>
            <a:off x="10535412"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25" name="Connector 124"/>
          <p:cNvCxnSpPr/>
          <p:nvPr/>
        </p:nvCxnSpPr>
        <p:spPr>
          <a:xfrm>
            <a:off x="10535412"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10535412"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27" name="TextBox 126"/>
          <p:cNvSpPr txBox="1"/>
          <p:nvPr/>
        </p:nvSpPr>
        <p:spPr>
          <a:xfrm>
            <a:off x="10842879"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28" name="TextBox 127"/>
          <p:cNvSpPr txBox="1"/>
          <p:nvPr/>
        </p:nvSpPr>
        <p:spPr>
          <a:xfrm>
            <a:off x="11232261"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29" name="Connector 128"/>
          <p:cNvCxnSpPr/>
          <p:nvPr/>
        </p:nvCxnSpPr>
        <p:spPr>
          <a:xfrm>
            <a:off x="11232261"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11232261"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31" name="Rectangle 130"/>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9738360"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133" name="TextBox 132"/>
          <p:cNvSpPr txBox="1"/>
          <p:nvPr/>
        </p:nvSpPr>
        <p:spPr>
          <a:xfrm>
            <a:off x="10241280" y="288036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34" name="TextBox 133"/>
          <p:cNvSpPr txBox="1"/>
          <p:nvPr/>
        </p:nvSpPr>
        <p:spPr>
          <a:xfrm>
            <a:off x="10535412"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35" name="Connector 134"/>
          <p:cNvCxnSpPr/>
          <p:nvPr/>
        </p:nvCxnSpPr>
        <p:spPr>
          <a:xfrm>
            <a:off x="10535412"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10535412"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37" name="TextBox 136"/>
          <p:cNvSpPr txBox="1"/>
          <p:nvPr/>
        </p:nvSpPr>
        <p:spPr>
          <a:xfrm>
            <a:off x="10842879"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38" name="TextBox 137"/>
          <p:cNvSpPr txBox="1"/>
          <p:nvPr/>
        </p:nvSpPr>
        <p:spPr>
          <a:xfrm>
            <a:off x="11232261"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39" name="Connector 138"/>
          <p:cNvCxnSpPr/>
          <p:nvPr/>
        </p:nvCxnSpPr>
        <p:spPr>
          <a:xfrm>
            <a:off x="11232261"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11232261"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141" name="Rectangle 140"/>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9738360"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143" name="TextBox 142"/>
          <p:cNvSpPr txBox="1"/>
          <p:nvPr/>
        </p:nvSpPr>
        <p:spPr>
          <a:xfrm>
            <a:off x="10241280" y="388620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44" name="TextBox 143"/>
          <p:cNvSpPr txBox="1"/>
          <p:nvPr/>
        </p:nvSpPr>
        <p:spPr>
          <a:xfrm>
            <a:off x="10535412"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45" name="Connector 144"/>
          <p:cNvCxnSpPr/>
          <p:nvPr/>
        </p:nvCxnSpPr>
        <p:spPr>
          <a:xfrm>
            <a:off x="10535412"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6" name="TextBox 145"/>
          <p:cNvSpPr txBox="1"/>
          <p:nvPr/>
        </p:nvSpPr>
        <p:spPr>
          <a:xfrm>
            <a:off x="10535412"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47" name="TextBox 146"/>
          <p:cNvSpPr txBox="1"/>
          <p:nvPr/>
        </p:nvSpPr>
        <p:spPr>
          <a:xfrm>
            <a:off x="10842879"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48" name="TextBox 147"/>
          <p:cNvSpPr txBox="1"/>
          <p:nvPr/>
        </p:nvSpPr>
        <p:spPr>
          <a:xfrm>
            <a:off x="11232261"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49" name="Connector 148"/>
          <p:cNvCxnSpPr/>
          <p:nvPr/>
        </p:nvCxnSpPr>
        <p:spPr>
          <a:xfrm>
            <a:off x="11232261"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0" name="TextBox 149"/>
          <p:cNvSpPr txBox="1"/>
          <p:nvPr/>
        </p:nvSpPr>
        <p:spPr>
          <a:xfrm>
            <a:off x="11232261"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51" name="Rectangle 150"/>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9738360"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153" name="TextBox 152"/>
          <p:cNvSpPr txBox="1"/>
          <p:nvPr/>
        </p:nvSpPr>
        <p:spPr>
          <a:xfrm>
            <a:off x="10241280" y="489204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2 </a:t>
            </a:r>
          </a:p>
        </p:txBody>
      </p:sp>
      <p:sp>
        <p:nvSpPr>
          <p:cNvPr id="154" name="TextBox 153"/>
          <p:cNvSpPr txBox="1"/>
          <p:nvPr/>
        </p:nvSpPr>
        <p:spPr>
          <a:xfrm>
            <a:off x="10535412"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55" name="Connector 154"/>
          <p:cNvCxnSpPr/>
          <p:nvPr/>
        </p:nvCxnSpPr>
        <p:spPr>
          <a:xfrm>
            <a:off x="10535412"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6" name="TextBox 155"/>
          <p:cNvSpPr txBox="1"/>
          <p:nvPr/>
        </p:nvSpPr>
        <p:spPr>
          <a:xfrm>
            <a:off x="10535412"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157" name="TextBox 156"/>
          <p:cNvSpPr txBox="1"/>
          <p:nvPr/>
        </p:nvSpPr>
        <p:spPr>
          <a:xfrm>
            <a:off x="10842879"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58" name="TextBox 157"/>
          <p:cNvSpPr txBox="1"/>
          <p:nvPr/>
        </p:nvSpPr>
        <p:spPr>
          <a:xfrm>
            <a:off x="11232261"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59" name="Connector 158"/>
          <p:cNvCxnSpPr/>
          <p:nvPr/>
        </p:nvCxnSpPr>
        <p:spPr>
          <a:xfrm>
            <a:off x="11232261"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11232261"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61" name="Rectangle 1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9738360"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163" name="TextBox 162"/>
          <p:cNvSpPr txBox="1"/>
          <p:nvPr/>
        </p:nvSpPr>
        <p:spPr>
          <a:xfrm>
            <a:off x="10241280"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64" name="Connector 163"/>
          <p:cNvCxnSpPr/>
          <p:nvPr/>
        </p:nvCxnSpPr>
        <p:spPr>
          <a:xfrm>
            <a:off x="10241280"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5" name="TextBox 164"/>
          <p:cNvSpPr txBox="1"/>
          <p:nvPr/>
        </p:nvSpPr>
        <p:spPr>
          <a:xfrm>
            <a:off x="10241280"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66" name="TextBox 165"/>
          <p:cNvSpPr txBox="1"/>
          <p:nvPr/>
        </p:nvSpPr>
        <p:spPr>
          <a:xfrm>
            <a:off x="10548747"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67" name="TextBox 166"/>
          <p:cNvSpPr txBox="1"/>
          <p:nvPr/>
        </p:nvSpPr>
        <p:spPr>
          <a:xfrm>
            <a:off x="10938129"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68" name="Connector 167"/>
          <p:cNvCxnSpPr/>
          <p:nvPr/>
        </p:nvCxnSpPr>
        <p:spPr>
          <a:xfrm>
            <a:off x="10938129"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9" name="TextBox 168"/>
          <p:cNvSpPr txBox="1"/>
          <p:nvPr/>
        </p:nvSpPr>
        <p:spPr>
          <a:xfrm>
            <a:off x="10938129"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70" name="Rectangle 169"/>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9738360"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172" name="TextBox 171"/>
          <p:cNvSpPr txBox="1"/>
          <p:nvPr/>
        </p:nvSpPr>
        <p:spPr>
          <a:xfrm>
            <a:off x="10241280"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73" name="Connector 172"/>
          <p:cNvCxnSpPr/>
          <p:nvPr/>
        </p:nvCxnSpPr>
        <p:spPr>
          <a:xfrm>
            <a:off x="10241280"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4" name="TextBox 173"/>
          <p:cNvSpPr txBox="1"/>
          <p:nvPr/>
        </p:nvSpPr>
        <p:spPr>
          <a:xfrm>
            <a:off x="10241280"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75" name="TextBox 174"/>
          <p:cNvSpPr txBox="1"/>
          <p:nvPr/>
        </p:nvSpPr>
        <p:spPr>
          <a:xfrm>
            <a:off x="1054874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76" name="TextBox 175"/>
          <p:cNvSpPr txBox="1"/>
          <p:nvPr/>
        </p:nvSpPr>
        <p:spPr>
          <a:xfrm>
            <a:off x="1093812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77" name="Connector 176"/>
          <p:cNvCxnSpPr/>
          <p:nvPr/>
        </p:nvCxnSpPr>
        <p:spPr>
          <a:xfrm>
            <a:off x="10938129"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8" name="TextBox 177"/>
          <p:cNvSpPr txBox="1"/>
          <p:nvPr/>
        </p:nvSpPr>
        <p:spPr>
          <a:xfrm>
            <a:off x="1093812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7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Simplify; write mixed answers if greater than 1.</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15" name="TextBox 14"/>
          <p:cNvSpPr txBox="1"/>
          <p:nvPr/>
        </p:nvSpPr>
        <p:spPr>
          <a:xfrm>
            <a:off x="91439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6" name="Connector 15"/>
          <p:cNvCxnSpPr/>
          <p:nvPr/>
        </p:nvCxnSpPr>
        <p:spPr>
          <a:xfrm>
            <a:off x="914399" y="202082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39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18" name="TextBox 17"/>
          <p:cNvSpPr txBox="1"/>
          <p:nvPr/>
        </p:nvSpPr>
        <p:spPr>
          <a:xfrm>
            <a:off x="122186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9" name="TextBox 18"/>
          <p:cNvSpPr txBox="1"/>
          <p:nvPr/>
        </p:nvSpPr>
        <p:spPr>
          <a:xfrm>
            <a:off x="161124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20" name="Connector 19"/>
          <p:cNvCxnSpPr/>
          <p:nvPr/>
        </p:nvCxnSpPr>
        <p:spPr>
          <a:xfrm>
            <a:off x="1611249" y="202082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61124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24" name="TextBox 23"/>
          <p:cNvSpPr txBox="1"/>
          <p:nvPr/>
        </p:nvSpPr>
        <p:spPr>
          <a:xfrm>
            <a:off x="914399" y="276148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cxnSp>
        <p:nvCxnSpPr>
          <p:cNvPr id="25" name="Connector 24"/>
          <p:cNvCxnSpPr/>
          <p:nvPr/>
        </p:nvCxnSpPr>
        <p:spPr>
          <a:xfrm>
            <a:off x="914399" y="3026664"/>
            <a:ext cx="395181"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14399" y="304495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27" name="TextBox 26"/>
          <p:cNvSpPr txBox="1"/>
          <p:nvPr/>
        </p:nvSpPr>
        <p:spPr>
          <a:xfrm>
            <a:off x="1364444"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28" name="TextBox 27"/>
          <p:cNvSpPr txBox="1"/>
          <p:nvPr/>
        </p:nvSpPr>
        <p:spPr>
          <a:xfrm>
            <a:off x="1753826" y="276148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29" name="Connector 28"/>
          <p:cNvCxnSpPr/>
          <p:nvPr/>
        </p:nvCxnSpPr>
        <p:spPr>
          <a:xfrm>
            <a:off x="1753826" y="302666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753826" y="304495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33" name="TextBox 32"/>
          <p:cNvSpPr txBox="1"/>
          <p:nvPr/>
        </p:nvSpPr>
        <p:spPr>
          <a:xfrm>
            <a:off x="914399"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34" name="Connector 33"/>
          <p:cNvCxnSpPr/>
          <p:nvPr/>
        </p:nvCxnSpPr>
        <p:spPr>
          <a:xfrm>
            <a:off x="914399" y="403250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14399"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36" name="TextBox 35"/>
          <p:cNvSpPr txBox="1"/>
          <p:nvPr/>
        </p:nvSpPr>
        <p:spPr>
          <a:xfrm>
            <a:off x="122186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37" name="TextBox 36"/>
          <p:cNvSpPr txBox="1"/>
          <p:nvPr/>
        </p:nvSpPr>
        <p:spPr>
          <a:xfrm>
            <a:off x="1611249"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cxnSp>
        <p:nvCxnSpPr>
          <p:cNvPr id="38" name="Connector 37"/>
          <p:cNvCxnSpPr/>
          <p:nvPr/>
        </p:nvCxnSpPr>
        <p:spPr>
          <a:xfrm>
            <a:off x="1611249" y="403250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611249"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79"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42" name="TextBox 41"/>
          <p:cNvSpPr txBox="1"/>
          <p:nvPr/>
        </p:nvSpPr>
        <p:spPr>
          <a:xfrm>
            <a:off x="914399"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43" name="Connector 42"/>
          <p:cNvCxnSpPr/>
          <p:nvPr/>
        </p:nvCxnSpPr>
        <p:spPr>
          <a:xfrm>
            <a:off x="914399" y="503834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14399"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45" name="TextBox 44"/>
          <p:cNvSpPr txBox="1"/>
          <p:nvPr/>
        </p:nvSpPr>
        <p:spPr>
          <a:xfrm>
            <a:off x="1221867"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46" name="TextBox 45"/>
          <p:cNvSpPr txBox="1"/>
          <p:nvPr/>
        </p:nvSpPr>
        <p:spPr>
          <a:xfrm>
            <a:off x="1611249"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47" name="Connector 46"/>
          <p:cNvCxnSpPr/>
          <p:nvPr/>
        </p:nvCxnSpPr>
        <p:spPr>
          <a:xfrm>
            <a:off x="1611249" y="503834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611249"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1479"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51" name="TextBox 50"/>
          <p:cNvSpPr txBox="1"/>
          <p:nvPr/>
        </p:nvSpPr>
        <p:spPr>
          <a:xfrm>
            <a:off x="914399"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cxnSp>
        <p:nvCxnSpPr>
          <p:cNvPr id="52" name="Connector 51"/>
          <p:cNvCxnSpPr/>
          <p:nvPr/>
        </p:nvCxnSpPr>
        <p:spPr>
          <a:xfrm>
            <a:off x="914399" y="604418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14399"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54" name="TextBox 53"/>
          <p:cNvSpPr txBox="1"/>
          <p:nvPr/>
        </p:nvSpPr>
        <p:spPr>
          <a:xfrm>
            <a:off x="1221867"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55" name="TextBox 54"/>
          <p:cNvSpPr txBox="1"/>
          <p:nvPr/>
        </p:nvSpPr>
        <p:spPr>
          <a:xfrm>
            <a:off x="1611249"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56" name="Connector 55"/>
          <p:cNvCxnSpPr/>
          <p:nvPr/>
        </p:nvCxnSpPr>
        <p:spPr>
          <a:xfrm>
            <a:off x="1611249" y="604418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611249"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1479"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60" name="TextBox 59"/>
          <p:cNvSpPr txBox="1"/>
          <p:nvPr/>
        </p:nvSpPr>
        <p:spPr>
          <a:xfrm>
            <a:off x="91439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61" name="Connector 60"/>
          <p:cNvCxnSpPr/>
          <p:nvPr/>
        </p:nvCxnSpPr>
        <p:spPr>
          <a:xfrm>
            <a:off x="914399" y="705002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91439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63" name="TextBox 62"/>
          <p:cNvSpPr txBox="1"/>
          <p:nvPr/>
        </p:nvSpPr>
        <p:spPr>
          <a:xfrm>
            <a:off x="122186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64" name="TextBox 63"/>
          <p:cNvSpPr txBox="1"/>
          <p:nvPr/>
        </p:nvSpPr>
        <p:spPr>
          <a:xfrm>
            <a:off x="161124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65" name="Connector 64"/>
          <p:cNvCxnSpPr/>
          <p:nvPr/>
        </p:nvCxnSpPr>
        <p:spPr>
          <a:xfrm>
            <a:off x="1611249" y="705002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61124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67" name="Rectangle 66"/>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074920"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69" name="TextBox 68"/>
          <p:cNvSpPr txBox="1"/>
          <p:nvPr/>
        </p:nvSpPr>
        <p:spPr>
          <a:xfrm>
            <a:off x="5577840"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70" name="Connector 69"/>
          <p:cNvCxnSpPr/>
          <p:nvPr/>
        </p:nvCxnSpPr>
        <p:spPr>
          <a:xfrm>
            <a:off x="5577840"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577840"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72" name="TextBox 71"/>
          <p:cNvSpPr txBox="1"/>
          <p:nvPr/>
        </p:nvSpPr>
        <p:spPr>
          <a:xfrm>
            <a:off x="588530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73" name="TextBox 72"/>
          <p:cNvSpPr txBox="1"/>
          <p:nvPr/>
        </p:nvSpPr>
        <p:spPr>
          <a:xfrm>
            <a:off x="627468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74" name="Connector 73"/>
          <p:cNvCxnSpPr/>
          <p:nvPr/>
        </p:nvCxnSpPr>
        <p:spPr>
          <a:xfrm>
            <a:off x="6274689"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27468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76" name="Rectangle 75"/>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074920"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78" name="TextBox 77"/>
          <p:cNvSpPr txBox="1"/>
          <p:nvPr/>
        </p:nvSpPr>
        <p:spPr>
          <a:xfrm>
            <a:off x="5577840"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79" name="Connector 78"/>
          <p:cNvCxnSpPr/>
          <p:nvPr/>
        </p:nvCxnSpPr>
        <p:spPr>
          <a:xfrm>
            <a:off x="5577840"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577840"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81" name="TextBox 80"/>
          <p:cNvSpPr txBox="1"/>
          <p:nvPr/>
        </p:nvSpPr>
        <p:spPr>
          <a:xfrm>
            <a:off x="588530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82" name="TextBox 81"/>
          <p:cNvSpPr txBox="1"/>
          <p:nvPr/>
        </p:nvSpPr>
        <p:spPr>
          <a:xfrm>
            <a:off x="6274689" y="276148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83" name="Connector 82"/>
          <p:cNvCxnSpPr/>
          <p:nvPr/>
        </p:nvCxnSpPr>
        <p:spPr>
          <a:xfrm>
            <a:off x="6274689" y="302666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6274689" y="304495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85" name="Rectangle 84"/>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074920"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87" name="TextBox 86"/>
          <p:cNvSpPr txBox="1"/>
          <p:nvPr/>
        </p:nvSpPr>
        <p:spPr>
          <a:xfrm>
            <a:off x="5577840"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88" name="Connector 87"/>
          <p:cNvCxnSpPr/>
          <p:nvPr/>
        </p:nvCxnSpPr>
        <p:spPr>
          <a:xfrm>
            <a:off x="5577840"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5577840"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90" name="TextBox 89"/>
          <p:cNvSpPr txBox="1"/>
          <p:nvPr/>
        </p:nvSpPr>
        <p:spPr>
          <a:xfrm>
            <a:off x="588530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91" name="TextBox 90"/>
          <p:cNvSpPr txBox="1"/>
          <p:nvPr/>
        </p:nvSpPr>
        <p:spPr>
          <a:xfrm>
            <a:off x="6274689" y="376732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92" name="Connector 91"/>
          <p:cNvCxnSpPr/>
          <p:nvPr/>
        </p:nvCxnSpPr>
        <p:spPr>
          <a:xfrm>
            <a:off x="6274689" y="403250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6274689" y="4050791"/>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94" name="Rectangle 93"/>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074920"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96" name="TextBox 95"/>
          <p:cNvSpPr txBox="1"/>
          <p:nvPr/>
        </p:nvSpPr>
        <p:spPr>
          <a:xfrm>
            <a:off x="5577840"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cxnSp>
        <p:nvCxnSpPr>
          <p:cNvPr id="97" name="Connector 96"/>
          <p:cNvCxnSpPr/>
          <p:nvPr/>
        </p:nvCxnSpPr>
        <p:spPr>
          <a:xfrm>
            <a:off x="5577840"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577840"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99" name="TextBox 98"/>
          <p:cNvSpPr txBox="1"/>
          <p:nvPr/>
        </p:nvSpPr>
        <p:spPr>
          <a:xfrm>
            <a:off x="5885307"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0" name="TextBox 99"/>
          <p:cNvSpPr txBox="1"/>
          <p:nvPr/>
        </p:nvSpPr>
        <p:spPr>
          <a:xfrm>
            <a:off x="6274689"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01" name="Connector 100"/>
          <p:cNvCxnSpPr/>
          <p:nvPr/>
        </p:nvCxnSpPr>
        <p:spPr>
          <a:xfrm>
            <a:off x="6274689"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6274689"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03" name="Rectangle 10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74920"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105" name="TextBox 104"/>
          <p:cNvSpPr txBox="1"/>
          <p:nvPr/>
        </p:nvSpPr>
        <p:spPr>
          <a:xfrm>
            <a:off x="5577840"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06" name="Connector 105"/>
          <p:cNvCxnSpPr/>
          <p:nvPr/>
        </p:nvCxnSpPr>
        <p:spPr>
          <a:xfrm>
            <a:off x="5577840"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5577840"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08" name="TextBox 107"/>
          <p:cNvSpPr txBox="1"/>
          <p:nvPr/>
        </p:nvSpPr>
        <p:spPr>
          <a:xfrm>
            <a:off x="5885307"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9" name="TextBox 108"/>
          <p:cNvSpPr txBox="1"/>
          <p:nvPr/>
        </p:nvSpPr>
        <p:spPr>
          <a:xfrm>
            <a:off x="6274689"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10" name="Connector 109"/>
          <p:cNvCxnSpPr/>
          <p:nvPr/>
        </p:nvCxnSpPr>
        <p:spPr>
          <a:xfrm>
            <a:off x="6274689"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6274689"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12" name="Rectangle 111"/>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074920"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114" name="TextBox 113"/>
          <p:cNvSpPr txBox="1"/>
          <p:nvPr/>
        </p:nvSpPr>
        <p:spPr>
          <a:xfrm>
            <a:off x="5577840" y="67848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cxnSp>
        <p:nvCxnSpPr>
          <p:cNvPr id="115" name="Connector 114"/>
          <p:cNvCxnSpPr/>
          <p:nvPr/>
        </p:nvCxnSpPr>
        <p:spPr>
          <a:xfrm>
            <a:off x="5577840" y="705002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5577840" y="70683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117" name="TextBox 116"/>
          <p:cNvSpPr txBox="1"/>
          <p:nvPr/>
        </p:nvSpPr>
        <p:spPr>
          <a:xfrm>
            <a:off x="6028182"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18" name="TextBox 117"/>
          <p:cNvSpPr txBox="1"/>
          <p:nvPr/>
        </p:nvSpPr>
        <p:spPr>
          <a:xfrm>
            <a:off x="6417564"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19" name="Connector 118"/>
          <p:cNvCxnSpPr/>
          <p:nvPr/>
        </p:nvCxnSpPr>
        <p:spPr>
          <a:xfrm>
            <a:off x="6417564"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6417564"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21" name="Rectangle 120"/>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738360" y="1837943"/>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a:t>
            </a:r>
          </a:p>
        </p:txBody>
      </p:sp>
      <p:sp>
        <p:nvSpPr>
          <p:cNvPr id="123" name="TextBox 122"/>
          <p:cNvSpPr txBox="1"/>
          <p:nvPr/>
        </p:nvSpPr>
        <p:spPr>
          <a:xfrm>
            <a:off x="10241280"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24" name="Connector 123"/>
          <p:cNvCxnSpPr/>
          <p:nvPr/>
        </p:nvCxnSpPr>
        <p:spPr>
          <a:xfrm>
            <a:off x="10241280"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0241280"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126" name="TextBox 125"/>
          <p:cNvSpPr txBox="1"/>
          <p:nvPr/>
        </p:nvSpPr>
        <p:spPr>
          <a:xfrm>
            <a:off x="1054874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27" name="TextBox 126"/>
          <p:cNvSpPr txBox="1"/>
          <p:nvPr/>
        </p:nvSpPr>
        <p:spPr>
          <a:xfrm>
            <a:off x="1093812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28" name="Connector 127"/>
          <p:cNvCxnSpPr/>
          <p:nvPr/>
        </p:nvCxnSpPr>
        <p:spPr>
          <a:xfrm>
            <a:off x="10938129"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1093812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30" name="Rectangle 129"/>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738360" y="284378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a:t>
            </a:r>
          </a:p>
        </p:txBody>
      </p:sp>
      <p:sp>
        <p:nvSpPr>
          <p:cNvPr id="132" name="TextBox 131"/>
          <p:cNvSpPr txBox="1"/>
          <p:nvPr/>
        </p:nvSpPr>
        <p:spPr>
          <a:xfrm>
            <a:off x="10241280"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33" name="Connector 132"/>
          <p:cNvCxnSpPr/>
          <p:nvPr/>
        </p:nvCxnSpPr>
        <p:spPr>
          <a:xfrm>
            <a:off x="10241280"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10241280"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35" name="TextBox 134"/>
          <p:cNvSpPr txBox="1"/>
          <p:nvPr/>
        </p:nvSpPr>
        <p:spPr>
          <a:xfrm>
            <a:off x="1054874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36" name="TextBox 135"/>
          <p:cNvSpPr txBox="1"/>
          <p:nvPr/>
        </p:nvSpPr>
        <p:spPr>
          <a:xfrm>
            <a:off x="1093812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cxnSp>
        <p:nvCxnSpPr>
          <p:cNvPr id="137" name="Connector 136"/>
          <p:cNvCxnSpPr/>
          <p:nvPr/>
        </p:nvCxnSpPr>
        <p:spPr>
          <a:xfrm>
            <a:off x="10938129"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1093812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139" name="Rectangle 13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9738360" y="384962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a:t>
            </a:r>
          </a:p>
        </p:txBody>
      </p:sp>
      <p:sp>
        <p:nvSpPr>
          <p:cNvPr id="141" name="TextBox 140"/>
          <p:cNvSpPr txBox="1"/>
          <p:nvPr/>
        </p:nvSpPr>
        <p:spPr>
          <a:xfrm>
            <a:off x="10241280"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42" name="Connector 141"/>
          <p:cNvCxnSpPr/>
          <p:nvPr/>
        </p:nvCxnSpPr>
        <p:spPr>
          <a:xfrm>
            <a:off x="10241280"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0241280"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44" name="TextBox 143"/>
          <p:cNvSpPr txBox="1"/>
          <p:nvPr/>
        </p:nvSpPr>
        <p:spPr>
          <a:xfrm>
            <a:off x="1054874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45" name="TextBox 144"/>
          <p:cNvSpPr txBox="1"/>
          <p:nvPr/>
        </p:nvSpPr>
        <p:spPr>
          <a:xfrm>
            <a:off x="10938129" y="376732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cxnSp>
        <p:nvCxnSpPr>
          <p:cNvPr id="146" name="Connector 145"/>
          <p:cNvCxnSpPr/>
          <p:nvPr/>
        </p:nvCxnSpPr>
        <p:spPr>
          <a:xfrm>
            <a:off x="10938129" y="403250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7" name="TextBox 146"/>
          <p:cNvSpPr txBox="1"/>
          <p:nvPr/>
        </p:nvSpPr>
        <p:spPr>
          <a:xfrm>
            <a:off x="10938129" y="4050791"/>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148" name="Rectangle 14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9738360" y="485546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a:t>
            </a:r>
          </a:p>
        </p:txBody>
      </p:sp>
      <p:sp>
        <p:nvSpPr>
          <p:cNvPr id="150" name="TextBox 149"/>
          <p:cNvSpPr txBox="1"/>
          <p:nvPr/>
        </p:nvSpPr>
        <p:spPr>
          <a:xfrm>
            <a:off x="10241280" y="477316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cxnSp>
        <p:nvCxnSpPr>
          <p:cNvPr id="151" name="Connector 150"/>
          <p:cNvCxnSpPr/>
          <p:nvPr/>
        </p:nvCxnSpPr>
        <p:spPr>
          <a:xfrm>
            <a:off x="10241280" y="503834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2" name="TextBox 151"/>
          <p:cNvSpPr txBox="1"/>
          <p:nvPr/>
        </p:nvSpPr>
        <p:spPr>
          <a:xfrm>
            <a:off x="10241280" y="505663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153" name="TextBox 152"/>
          <p:cNvSpPr txBox="1"/>
          <p:nvPr/>
        </p:nvSpPr>
        <p:spPr>
          <a:xfrm>
            <a:off x="10691324"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54" name="TextBox 153"/>
          <p:cNvSpPr txBox="1"/>
          <p:nvPr/>
        </p:nvSpPr>
        <p:spPr>
          <a:xfrm>
            <a:off x="11080706"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55" name="Connector 154"/>
          <p:cNvCxnSpPr/>
          <p:nvPr/>
        </p:nvCxnSpPr>
        <p:spPr>
          <a:xfrm>
            <a:off x="11080706"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6" name="TextBox 155"/>
          <p:cNvSpPr txBox="1"/>
          <p:nvPr/>
        </p:nvSpPr>
        <p:spPr>
          <a:xfrm>
            <a:off x="11080706"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57" name="Rectangle 156"/>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9738360" y="586130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a:t>
            </a:r>
          </a:p>
        </p:txBody>
      </p:sp>
      <p:sp>
        <p:nvSpPr>
          <p:cNvPr id="159" name="TextBox 158"/>
          <p:cNvSpPr txBox="1"/>
          <p:nvPr/>
        </p:nvSpPr>
        <p:spPr>
          <a:xfrm>
            <a:off x="10241280" y="589788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60" name="TextBox 159"/>
          <p:cNvSpPr txBox="1"/>
          <p:nvPr/>
        </p:nvSpPr>
        <p:spPr>
          <a:xfrm>
            <a:off x="10535412"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61" name="Connector 160"/>
          <p:cNvCxnSpPr/>
          <p:nvPr/>
        </p:nvCxnSpPr>
        <p:spPr>
          <a:xfrm>
            <a:off x="10535412"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2" name="TextBox 161"/>
          <p:cNvSpPr txBox="1"/>
          <p:nvPr/>
        </p:nvSpPr>
        <p:spPr>
          <a:xfrm>
            <a:off x="10535412"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63" name="TextBox 162"/>
          <p:cNvSpPr txBox="1"/>
          <p:nvPr/>
        </p:nvSpPr>
        <p:spPr>
          <a:xfrm>
            <a:off x="10842879"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64" name="TextBox 163"/>
          <p:cNvSpPr txBox="1"/>
          <p:nvPr/>
        </p:nvSpPr>
        <p:spPr>
          <a:xfrm>
            <a:off x="11232261"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65" name="Connector 164"/>
          <p:cNvCxnSpPr/>
          <p:nvPr/>
        </p:nvCxnSpPr>
        <p:spPr>
          <a:xfrm>
            <a:off x="11232261"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6" name="TextBox 165"/>
          <p:cNvSpPr txBox="1"/>
          <p:nvPr/>
        </p:nvSpPr>
        <p:spPr>
          <a:xfrm>
            <a:off x="11232261"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67" name="Rectangle 16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9738360" y="6867144"/>
            <a:ext cx="320040" cy="3657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a:t>
            </a:r>
          </a:p>
        </p:txBody>
      </p:sp>
      <p:sp>
        <p:nvSpPr>
          <p:cNvPr id="169" name="TextBox 168"/>
          <p:cNvSpPr txBox="1"/>
          <p:nvPr/>
        </p:nvSpPr>
        <p:spPr>
          <a:xfrm>
            <a:off x="10241280" y="690372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2 </a:t>
            </a:r>
          </a:p>
        </p:txBody>
      </p:sp>
      <p:sp>
        <p:nvSpPr>
          <p:cNvPr id="170" name="TextBox 169"/>
          <p:cNvSpPr txBox="1"/>
          <p:nvPr/>
        </p:nvSpPr>
        <p:spPr>
          <a:xfrm>
            <a:off x="10535412"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71" name="Connector 170"/>
          <p:cNvCxnSpPr/>
          <p:nvPr/>
        </p:nvCxnSpPr>
        <p:spPr>
          <a:xfrm>
            <a:off x="10535412"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2" name="TextBox 171"/>
          <p:cNvSpPr txBox="1"/>
          <p:nvPr/>
        </p:nvSpPr>
        <p:spPr>
          <a:xfrm>
            <a:off x="10535412"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173" name="TextBox 172"/>
          <p:cNvSpPr txBox="1"/>
          <p:nvPr/>
        </p:nvSpPr>
        <p:spPr>
          <a:xfrm>
            <a:off x="10842879"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74" name="TextBox 173"/>
          <p:cNvSpPr txBox="1"/>
          <p:nvPr/>
        </p:nvSpPr>
        <p:spPr>
          <a:xfrm>
            <a:off x="11232261"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75" name="Connector 174"/>
          <p:cNvCxnSpPr/>
          <p:nvPr/>
        </p:nvCxnSpPr>
        <p:spPr>
          <a:xfrm>
            <a:off x="11232261"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1232261"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7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1.  A ribbon is 144 cm long and cut into 6 equal pieces. Find the length of each piece.</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2.  A hall has 14 rows with 25 seats in each row. How many seats are there altogether?</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3.  145 eggs are packed into boxes of 6. How many full boxes can be made?</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4.  A coach hire company charges £75 per coach. 130 passengers need coaches with 24 seats each. Find the total hire cost.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Choose the calculation, use a written method, then check.</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84 tins are shared equally among 4 boxes. How many tins go in each box?</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130 biscuits are packed in packs of 6. How many completely full packs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145 students need minibuses with 9 passenger seats each. Hire costs £40 per minibus. Find the total cost.</a:t>
            </a:r>
          </a:p>
        </p:txBody>
      </p:sp>
      <p:sp>
        <p:nvSpPr>
          <p:cNvPr id="21" name="Rectangle 20"/>
          <p:cNvSpPr/>
          <p:nvPr/>
        </p:nvSpPr>
        <p:spPr>
          <a:xfrm>
            <a:off x="384048" y="28620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“shared equally” among 4 boxes</a:t>
            </a:r>
          </a:p>
          <a:p>
            <a:pPr>
              <a:lnSpc>
                <a:spcPts val="1836"/>
              </a:lnSpc>
              <a:spcBef>
                <a:spcPts val="0"/>
              </a:spcBef>
              <a:spcAft>
                <a:spcPts val="0"/>
              </a:spcAft>
              <a:defRPr sz="1700" b="0">
                <a:solidFill>
                  <a:srgbClr val="182B3A"/>
                </a:solidFill>
                <a:latin typeface="Arial"/>
              </a:defRPr>
            </a:pPr>
            <a:r>
              <a:t>84 ÷ 4</a:t>
            </a:r>
          </a:p>
        </p:txBody>
      </p:sp>
      <p:sp>
        <p:nvSpPr>
          <p:cNvPr id="25" name="Rectangle 24"/>
          <p:cNvSpPr/>
          <p:nvPr/>
        </p:nvSpPr>
        <p:spPr>
          <a:xfrm>
            <a:off x="6406895"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“packs of 6”; “completely full”</a:t>
            </a:r>
          </a:p>
          <a:p>
            <a:pPr>
              <a:lnSpc>
                <a:spcPts val="1836"/>
              </a:lnSpc>
              <a:spcBef>
                <a:spcPts val="0"/>
              </a:spcBef>
              <a:spcAft>
                <a:spcPts val="0"/>
              </a:spcAft>
              <a:defRPr sz="1700" b="0">
                <a:solidFill>
                  <a:srgbClr val="182B3A"/>
                </a:solidFill>
                <a:latin typeface="Arial"/>
              </a:defRPr>
            </a:pPr>
            <a:r>
              <a:t>130 ÷ 6</a:t>
            </a:r>
          </a:p>
        </p:txBody>
      </p:sp>
      <p:sp>
        <p:nvSpPr>
          <p:cNvPr id="27" name="Rectangle 26"/>
          <p:cNvSpPr/>
          <p:nvPr/>
        </p:nvSpPr>
        <p:spPr>
          <a:xfrm>
            <a:off x="10326624"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“9 passenger seats”; “£40 per minibus”</a:t>
            </a:r>
          </a:p>
          <a:p>
            <a:pPr>
              <a:lnSpc>
                <a:spcPts val="1836"/>
              </a:lnSpc>
              <a:spcBef>
                <a:spcPts val="0"/>
              </a:spcBef>
              <a:spcAft>
                <a:spcPts val="0"/>
              </a:spcAft>
              <a:defRPr sz="1700" b="0">
                <a:solidFill>
                  <a:srgbClr val="182B3A"/>
                </a:solidFill>
                <a:latin typeface="Arial"/>
              </a:defRPr>
            </a:pPr>
            <a:r>
              <a:t>145 ÷ 9, then buses × 40</a:t>
            </a:r>
          </a:p>
        </p:txBody>
      </p:sp>
      <p:sp>
        <p:nvSpPr>
          <p:cNvPr id="29" name="Rectangle 28"/>
          <p:cNvSpPr/>
          <p:nvPr/>
        </p:nvSpPr>
        <p:spPr>
          <a:xfrm>
            <a:off x="384048" y="3822191"/>
            <a:ext cx="2103120" cy="2240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913631"/>
            <a:ext cx="1975103" cy="2057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8 ÷ 4 = 2; 4 ÷ 4 = 1.</a:t>
            </a:r>
          </a:p>
          <a:p>
            <a:pPr>
              <a:lnSpc>
                <a:spcPts val="1836"/>
              </a:lnSpc>
              <a:spcBef>
                <a:spcPts val="0"/>
              </a:spcBef>
              <a:spcAft>
                <a:spcPts val="0"/>
              </a:spcAft>
              <a:defRPr sz="1700" b="0">
                <a:solidFill>
                  <a:srgbClr val="182B3A"/>
                </a:solidFill>
                <a:latin typeface="Arial"/>
              </a:defRPr>
            </a:pPr>
            <a:r>
              <a:t>84 ÷ 4 = 21.</a:t>
            </a:r>
          </a:p>
        </p:txBody>
      </p:sp>
      <p:grpSp>
        <p:nvGrpSpPr>
          <p:cNvPr id="33" name="Editable bus stop 84 ÷ 4"/>
          <p:cNvGrpSpPr/>
          <p:nvPr/>
        </p:nvGrpSpPr>
        <p:grpSpPr>
          <a:xfrm>
            <a:off x="3633216" y="5102352"/>
            <a:ext cx="1426463" cy="758952"/>
            <a:chOff x="3633216" y="5102352"/>
            <a:chExt cx="1426463" cy="758952"/>
          </a:xfrm>
        </p:grpSpPr>
        <p:cxnSp>
          <p:nvCxnSpPr>
            <p:cNvPr id="34" name="Connector 33"/>
            <p:cNvCxnSpPr/>
            <p:nvPr/>
          </p:nvCxnSpPr>
          <p:spPr>
            <a:xfrm>
              <a:off x="4035552" y="5477256"/>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5552"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633216" y="5495544"/>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4</a:t>
              </a:r>
            </a:p>
          </p:txBody>
        </p:sp>
        <p:sp>
          <p:nvSpPr>
            <p:cNvPr id="37" name="TextBox 36"/>
            <p:cNvSpPr txBox="1"/>
            <p:nvPr/>
          </p:nvSpPr>
          <p:spPr>
            <a:xfrm>
              <a:off x="4108704"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38" name="TextBox 37"/>
            <p:cNvSpPr txBox="1"/>
            <p:nvPr/>
          </p:nvSpPr>
          <p:spPr>
            <a:xfrm>
              <a:off x="4108704"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9" name="TextBox 38"/>
            <p:cNvSpPr txBox="1"/>
            <p:nvPr/>
          </p:nvSpPr>
          <p:spPr>
            <a:xfrm>
              <a:off x="4556760"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0" name="TextBox 39"/>
            <p:cNvSpPr txBox="1"/>
            <p:nvPr/>
          </p:nvSpPr>
          <p:spPr>
            <a:xfrm>
              <a:off x="4556760"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41" name="Rectangle 40"/>
          <p:cNvSpPr/>
          <p:nvPr/>
        </p:nvSpPr>
        <p:spPr>
          <a:xfrm>
            <a:off x="6406895"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13 ÷ 6 = 2 r 1;</a:t>
            </a:r>
          </a:p>
          <a:p>
            <a:pPr>
              <a:lnSpc>
                <a:spcPts val="1836"/>
              </a:lnSpc>
              <a:spcBef>
                <a:spcPts val="0"/>
              </a:spcBef>
              <a:spcAft>
                <a:spcPts val="0"/>
              </a:spcAft>
              <a:defRPr sz="1700" b="0">
                <a:solidFill>
                  <a:srgbClr val="182B3A"/>
                </a:solidFill>
                <a:latin typeface="Arial"/>
              </a:defRPr>
            </a:pPr>
            <a:r>
              <a:t>10 ÷ 6 = 1 r 4. So 130 ÷ 6 = 21 r 4.</a:t>
            </a:r>
          </a:p>
        </p:txBody>
      </p:sp>
      <p:grpSp>
        <p:nvGrpSpPr>
          <p:cNvPr id="43" name="Editable bus stop 130 ÷ 6"/>
          <p:cNvGrpSpPr/>
          <p:nvPr/>
        </p:nvGrpSpPr>
        <p:grpSpPr>
          <a:xfrm>
            <a:off x="7328915" y="5102352"/>
            <a:ext cx="1874521" cy="905256"/>
            <a:chOff x="7328915" y="5102352"/>
            <a:chExt cx="1874521" cy="905256"/>
          </a:xfrm>
        </p:grpSpPr>
        <p:cxnSp>
          <p:nvCxnSpPr>
            <p:cNvPr id="44" name="Connector 43"/>
            <p:cNvCxnSpPr/>
            <p:nvPr/>
          </p:nvCxnSpPr>
          <p:spPr>
            <a:xfrm>
              <a:off x="7731251" y="5477256"/>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731251"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28915" y="5495544"/>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47" name="TextBox 46"/>
            <p:cNvSpPr txBox="1"/>
            <p:nvPr/>
          </p:nvSpPr>
          <p:spPr>
            <a:xfrm>
              <a:off x="7804403"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8" name="TextBox 47"/>
            <p:cNvSpPr txBox="1"/>
            <p:nvPr/>
          </p:nvSpPr>
          <p:spPr>
            <a:xfrm>
              <a:off x="7804403"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9" name="TextBox 48"/>
            <p:cNvSpPr txBox="1"/>
            <p:nvPr/>
          </p:nvSpPr>
          <p:spPr>
            <a:xfrm>
              <a:off x="8252459"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50" name="TextBox 49"/>
            <p:cNvSpPr txBox="1"/>
            <p:nvPr/>
          </p:nvSpPr>
          <p:spPr>
            <a:xfrm>
              <a:off x="8252459"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51" name="TextBox 50"/>
            <p:cNvSpPr txBox="1"/>
            <p:nvPr/>
          </p:nvSpPr>
          <p:spPr>
            <a:xfrm>
              <a:off x="8161934"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2" name="TextBox 51"/>
            <p:cNvSpPr txBox="1"/>
            <p:nvPr/>
          </p:nvSpPr>
          <p:spPr>
            <a:xfrm>
              <a:off x="8700515"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53" name="TextBox 52"/>
            <p:cNvSpPr txBox="1"/>
            <p:nvPr/>
          </p:nvSpPr>
          <p:spPr>
            <a:xfrm>
              <a:off x="8700515"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1</a:t>
              </a:r>
            </a:p>
          </p:txBody>
        </p:sp>
        <p:sp>
          <p:nvSpPr>
            <p:cNvPr id="54" name="TextBox 53"/>
            <p:cNvSpPr txBox="1"/>
            <p:nvPr/>
          </p:nvSpPr>
          <p:spPr>
            <a:xfrm>
              <a:off x="8609990"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5" name="TextBox 54"/>
            <p:cNvSpPr txBox="1"/>
            <p:nvPr/>
          </p:nvSpPr>
          <p:spPr>
            <a:xfrm>
              <a:off x="7804403" y="5843016"/>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4</a:t>
              </a:r>
            </a:p>
          </p:txBody>
        </p:sp>
      </p:grpSp>
      <p:sp>
        <p:nvSpPr>
          <p:cNvPr id="56" name="Rectangle 55"/>
          <p:cNvSpPr/>
          <p:nvPr/>
        </p:nvSpPr>
        <p:spPr>
          <a:xfrm>
            <a:off x="10326624"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TextBox 56"/>
          <p:cNvSpPr txBox="1"/>
          <p:nvPr/>
        </p:nvSpPr>
        <p:spPr>
          <a:xfrm>
            <a:off x="10390632" y="3886200"/>
            <a:ext cx="3791712" cy="84124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14 ÷ 9 = 1 r 5;</a:t>
            </a:r>
          </a:p>
          <a:p>
            <a:pPr>
              <a:lnSpc>
                <a:spcPts val="1836"/>
              </a:lnSpc>
              <a:spcBef>
                <a:spcPts val="0"/>
              </a:spcBef>
              <a:spcAft>
                <a:spcPts val="0"/>
              </a:spcAft>
              <a:defRPr sz="1700" b="0">
                <a:solidFill>
                  <a:srgbClr val="182B3A"/>
                </a:solidFill>
                <a:latin typeface="Arial"/>
              </a:defRPr>
            </a:pPr>
            <a:r>
              <a:t>55 ÷ 9 = 6 r 1. So 16 r 1 → 17 buses.</a:t>
            </a:r>
          </a:p>
          <a:p>
            <a:pPr>
              <a:lnSpc>
                <a:spcPts val="1836"/>
              </a:lnSpc>
              <a:spcBef>
                <a:spcPts val="0"/>
              </a:spcBef>
              <a:spcAft>
                <a:spcPts val="0"/>
              </a:spcAft>
              <a:defRPr sz="1700" b="0">
                <a:solidFill>
                  <a:srgbClr val="182B3A"/>
                </a:solidFill>
                <a:latin typeface="Arial"/>
              </a:defRPr>
            </a:pPr>
            <a:r>
              <a:t>Lattice: 17 × 40 = 680.</a:t>
            </a:r>
          </a:p>
        </p:txBody>
      </p:sp>
      <p:grpSp>
        <p:nvGrpSpPr>
          <p:cNvPr id="58" name="Editable bus stop 145 ÷ 9"/>
          <p:cNvGrpSpPr/>
          <p:nvPr/>
        </p:nvGrpSpPr>
        <p:grpSpPr>
          <a:xfrm>
            <a:off x="10308336" y="5010912"/>
            <a:ext cx="1863181" cy="905256"/>
            <a:chOff x="10308336" y="5010912"/>
            <a:chExt cx="1863181" cy="905256"/>
          </a:xfrm>
        </p:grpSpPr>
        <p:cxnSp>
          <p:nvCxnSpPr>
            <p:cNvPr id="59" name="Connector 58"/>
            <p:cNvCxnSpPr/>
            <p:nvPr/>
          </p:nvCxnSpPr>
          <p:spPr>
            <a:xfrm>
              <a:off x="10710672" y="5385816"/>
              <a:ext cx="146084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10672" y="538581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308336" y="5404103"/>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9</a:t>
              </a:r>
            </a:p>
          </p:txBody>
        </p:sp>
        <p:sp>
          <p:nvSpPr>
            <p:cNvPr id="62" name="TextBox 61"/>
            <p:cNvSpPr txBox="1"/>
            <p:nvPr/>
          </p:nvSpPr>
          <p:spPr>
            <a:xfrm>
              <a:off x="10783824"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63" name="TextBox 62"/>
            <p:cNvSpPr txBox="1"/>
            <p:nvPr/>
          </p:nvSpPr>
          <p:spPr>
            <a:xfrm>
              <a:off x="10783824"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64" name="TextBox 63"/>
            <p:cNvSpPr txBox="1"/>
            <p:nvPr/>
          </p:nvSpPr>
          <p:spPr>
            <a:xfrm>
              <a:off x="11228100"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5" name="TextBox 64"/>
            <p:cNvSpPr txBox="1"/>
            <p:nvPr/>
          </p:nvSpPr>
          <p:spPr>
            <a:xfrm>
              <a:off x="11228100"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6" name="TextBox 65"/>
            <p:cNvSpPr txBox="1"/>
            <p:nvPr/>
          </p:nvSpPr>
          <p:spPr>
            <a:xfrm>
              <a:off x="11137574"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67" name="TextBox 66"/>
            <p:cNvSpPr txBox="1"/>
            <p:nvPr/>
          </p:nvSpPr>
          <p:spPr>
            <a:xfrm>
              <a:off x="11672376"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68" name="TextBox 67"/>
            <p:cNvSpPr txBox="1"/>
            <p:nvPr/>
          </p:nvSpPr>
          <p:spPr>
            <a:xfrm>
              <a:off x="11672376"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6</a:t>
              </a:r>
            </a:p>
          </p:txBody>
        </p:sp>
        <p:sp>
          <p:nvSpPr>
            <p:cNvPr id="69" name="TextBox 68"/>
            <p:cNvSpPr txBox="1"/>
            <p:nvPr/>
          </p:nvSpPr>
          <p:spPr>
            <a:xfrm>
              <a:off x="11581851"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5</a:t>
              </a:r>
            </a:p>
          </p:txBody>
        </p:sp>
        <p:sp>
          <p:nvSpPr>
            <p:cNvPr id="70" name="TextBox 69"/>
            <p:cNvSpPr txBox="1"/>
            <p:nvPr/>
          </p:nvSpPr>
          <p:spPr>
            <a:xfrm>
              <a:off x="10783824" y="5751576"/>
              <a:ext cx="1332829" cy="164592"/>
            </a:xfrm>
            <a:prstGeom prst="rect">
              <a:avLst/>
            </a:prstGeom>
            <a:noFill/>
          </p:spPr>
          <p:txBody>
            <a:bodyPr wrap="none" lIns="0" tIns="0" rIns="0" bIns="0" anchor="ctr">
              <a:spAutoFit/>
            </a:bodyPr>
            <a:lstStyle/>
            <a:p>
              <a:pPr algn="ctr">
                <a:defRPr sz="1200" b="0">
                  <a:solidFill>
                    <a:srgbClr val="754B87"/>
                  </a:solidFill>
                  <a:latin typeface="Arial"/>
                </a:defRPr>
              </a:pPr>
              <a:r>
                <a:t>remainder 1</a:t>
              </a:r>
            </a:p>
          </p:txBody>
        </p:sp>
      </p:grpSp>
      <p:grpSp>
        <p:nvGrpSpPr>
          <p:cNvPr id="71" name="Editable lattice 17 × 40"/>
          <p:cNvGrpSpPr/>
          <p:nvPr/>
        </p:nvGrpSpPr>
        <p:grpSpPr>
          <a:xfrm>
            <a:off x="12489820" y="4809743"/>
            <a:ext cx="1271016" cy="1243584"/>
            <a:chOff x="12489820" y="4809743"/>
            <a:chExt cx="1271016" cy="1243584"/>
          </a:xfrm>
        </p:grpSpPr>
        <p:sp>
          <p:nvSpPr>
            <p:cNvPr id="72" name="TextBox 71"/>
            <p:cNvSpPr txBox="1"/>
            <p:nvPr/>
          </p:nvSpPr>
          <p:spPr>
            <a:xfrm>
              <a:off x="12800716"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1</a:t>
              </a:r>
            </a:p>
          </p:txBody>
        </p:sp>
        <p:sp>
          <p:nvSpPr>
            <p:cNvPr id="73" name="TextBox 72"/>
            <p:cNvSpPr txBox="1"/>
            <p:nvPr/>
          </p:nvSpPr>
          <p:spPr>
            <a:xfrm>
              <a:off x="13134472"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7</a:t>
              </a:r>
            </a:p>
          </p:txBody>
        </p:sp>
        <p:sp>
          <p:nvSpPr>
            <p:cNvPr id="74" name="TextBox 73"/>
            <p:cNvSpPr txBox="1"/>
            <p:nvPr/>
          </p:nvSpPr>
          <p:spPr>
            <a:xfrm>
              <a:off x="13495660" y="5065775"/>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4</a:t>
              </a:r>
            </a:p>
          </p:txBody>
        </p:sp>
        <p:sp>
          <p:nvSpPr>
            <p:cNvPr id="75" name="TextBox 74"/>
            <p:cNvSpPr txBox="1"/>
            <p:nvPr/>
          </p:nvSpPr>
          <p:spPr>
            <a:xfrm>
              <a:off x="13495660" y="5399531"/>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0</a:t>
              </a:r>
            </a:p>
          </p:txBody>
        </p:sp>
        <p:sp>
          <p:nvSpPr>
            <p:cNvPr id="76" name="Rectangle 75"/>
            <p:cNvSpPr/>
            <p:nvPr/>
          </p:nvSpPr>
          <p:spPr>
            <a:xfrm>
              <a:off x="12800716"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7" name="Connector 76"/>
            <p:cNvCxnSpPr/>
            <p:nvPr/>
          </p:nvCxnSpPr>
          <p:spPr>
            <a:xfrm flipV="1">
              <a:off x="12800716"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2814066"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79" name="TextBox 78"/>
            <p:cNvSpPr txBox="1"/>
            <p:nvPr/>
          </p:nvSpPr>
          <p:spPr>
            <a:xfrm>
              <a:off x="12960918"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4</a:t>
              </a:r>
            </a:p>
          </p:txBody>
        </p:sp>
        <p:sp>
          <p:nvSpPr>
            <p:cNvPr id="80" name="Rectangle 79"/>
            <p:cNvSpPr/>
            <p:nvPr/>
          </p:nvSpPr>
          <p:spPr>
            <a:xfrm>
              <a:off x="13134472"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1" name="Connector 80"/>
            <p:cNvCxnSpPr/>
            <p:nvPr/>
          </p:nvCxnSpPr>
          <p:spPr>
            <a:xfrm flipV="1">
              <a:off x="13134472"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3147822"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2</a:t>
              </a:r>
            </a:p>
          </p:txBody>
        </p:sp>
        <p:sp>
          <p:nvSpPr>
            <p:cNvPr id="83" name="TextBox 82"/>
            <p:cNvSpPr txBox="1"/>
            <p:nvPr/>
          </p:nvSpPr>
          <p:spPr>
            <a:xfrm>
              <a:off x="13294674"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8</a:t>
              </a:r>
            </a:p>
          </p:txBody>
        </p:sp>
        <p:sp>
          <p:nvSpPr>
            <p:cNvPr id="84" name="Rectangle 83"/>
            <p:cNvSpPr/>
            <p:nvPr/>
          </p:nvSpPr>
          <p:spPr>
            <a:xfrm>
              <a:off x="12800716"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5" name="Connector 84"/>
            <p:cNvCxnSpPr/>
            <p:nvPr/>
          </p:nvCxnSpPr>
          <p:spPr>
            <a:xfrm flipV="1">
              <a:off x="12800716"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814066"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7" name="TextBox 86"/>
            <p:cNvSpPr txBox="1"/>
            <p:nvPr/>
          </p:nvSpPr>
          <p:spPr>
            <a:xfrm>
              <a:off x="12960918"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8" name="Rectangle 87"/>
            <p:cNvSpPr/>
            <p:nvPr/>
          </p:nvSpPr>
          <p:spPr>
            <a:xfrm>
              <a:off x="13134472"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9" name="Connector 88"/>
            <p:cNvCxnSpPr/>
            <p:nvPr/>
          </p:nvCxnSpPr>
          <p:spPr>
            <a:xfrm flipV="1">
              <a:off x="13134472"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13147822"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91" name="TextBox 90"/>
            <p:cNvSpPr txBox="1"/>
            <p:nvPr/>
          </p:nvSpPr>
          <p:spPr>
            <a:xfrm>
              <a:off x="13294674"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cxnSp>
          <p:nvCxnSpPr>
            <p:cNvPr id="92" name="Connector 91"/>
            <p:cNvCxnSpPr/>
            <p:nvPr/>
          </p:nvCxnSpPr>
          <p:spPr>
            <a:xfrm>
              <a:off x="12800716"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3134472"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3468228"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2800716" y="5065775"/>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2800716" y="5399531"/>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2800716" y="5733288"/>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3134472"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0</a:t>
              </a:r>
            </a:p>
          </p:txBody>
        </p:sp>
        <p:sp>
          <p:nvSpPr>
            <p:cNvPr id="99" name="TextBox 98"/>
            <p:cNvSpPr txBox="1"/>
            <p:nvPr/>
          </p:nvSpPr>
          <p:spPr>
            <a:xfrm>
              <a:off x="12800716"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8</a:t>
              </a:r>
            </a:p>
          </p:txBody>
        </p:sp>
        <p:sp>
          <p:nvSpPr>
            <p:cNvPr id="100" name="TextBox 99"/>
            <p:cNvSpPr txBox="1"/>
            <p:nvPr/>
          </p:nvSpPr>
          <p:spPr>
            <a:xfrm>
              <a:off x="12489820" y="5399531"/>
              <a:ext cx="265176" cy="333756"/>
            </a:xfrm>
            <a:prstGeom prst="rect">
              <a:avLst/>
            </a:prstGeom>
            <a:noFill/>
          </p:spPr>
          <p:txBody>
            <a:bodyPr wrap="none" lIns="0" tIns="0" rIns="0" bIns="0" anchor="ctr">
              <a:spAutoFit/>
            </a:bodyPr>
            <a:lstStyle/>
            <a:p>
              <a:pPr algn="ctr">
                <a:defRPr sz="1600" b="1">
                  <a:solidFill>
                    <a:srgbClr val="754B87"/>
                  </a:solidFill>
                  <a:latin typeface="Arial"/>
                </a:defRPr>
              </a:pPr>
              <a:r>
                <a:t>6</a:t>
              </a:r>
            </a:p>
          </p:txBody>
        </p:sp>
        <p:sp>
          <p:nvSpPr>
            <p:cNvPr id="101" name="TextBox 100"/>
            <p:cNvSpPr txBox="1"/>
            <p:nvPr/>
          </p:nvSpPr>
          <p:spPr>
            <a:xfrm>
              <a:off x="12489820" y="5065775"/>
              <a:ext cx="265176" cy="333756"/>
            </a:xfrm>
            <a:prstGeom prst="rect">
              <a:avLst/>
            </a:prstGeom>
            <a:noFill/>
          </p:spPr>
          <p:txBody>
            <a:bodyPr wrap="none" lIns="0" tIns="0" rIns="0" bIns="0" anchor="ctr">
              <a:spAutoFit/>
            </a:bodyPr>
            <a:lstStyle/>
            <a:p>
              <a:pPr algn="ctr">
                <a:defRPr sz="1600" b="1">
                  <a:solidFill>
                    <a:srgbClr val="8193A0"/>
                  </a:solidFill>
                  <a:latin typeface="Arial"/>
                </a:defRPr>
              </a:pPr>
              <a:r>
                <a:t>0</a:t>
              </a:r>
            </a:p>
          </p:txBody>
        </p:sp>
      </p:grpSp>
      <p:sp>
        <p:nvSpPr>
          <p:cNvPr id="102" name="Rectangle 101"/>
          <p:cNvSpPr/>
          <p:nvPr/>
        </p:nvSpPr>
        <p:spPr>
          <a:xfrm>
            <a:off x="384048" y="60624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3" name="TextBox 102"/>
          <p:cNvSpPr txBox="1"/>
          <p:nvPr/>
        </p:nvSpPr>
        <p:spPr>
          <a:xfrm>
            <a:off x="448056" y="61539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104" name="Rectangle 103"/>
          <p:cNvSpPr/>
          <p:nvPr/>
        </p:nvSpPr>
        <p:spPr>
          <a:xfrm>
            <a:off x="2487168"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5" name="TextBox 104"/>
          <p:cNvSpPr txBox="1"/>
          <p:nvPr/>
        </p:nvSpPr>
        <p:spPr>
          <a:xfrm>
            <a:off x="2551175"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80 ÷ 4 = 20.</a:t>
            </a:r>
          </a:p>
          <a:p>
            <a:pPr>
              <a:lnSpc>
                <a:spcPts val="1836"/>
              </a:lnSpc>
              <a:spcBef>
                <a:spcPts val="0"/>
              </a:spcBef>
              <a:spcAft>
                <a:spcPts val="0"/>
              </a:spcAft>
              <a:defRPr sz="1700" b="0">
                <a:solidFill>
                  <a:srgbClr val="182B3A"/>
                </a:solidFill>
                <a:latin typeface="Arial"/>
              </a:defRPr>
            </a:pPr>
            <a:r>
              <a:t>21 is close to 20.</a:t>
            </a:r>
          </a:p>
        </p:txBody>
      </p:sp>
      <p:sp>
        <p:nvSpPr>
          <p:cNvPr id="106" name="Rectangle 105"/>
          <p:cNvSpPr/>
          <p:nvPr/>
        </p:nvSpPr>
        <p:spPr>
          <a:xfrm>
            <a:off x="6406895"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7" name="TextBox 106"/>
          <p:cNvSpPr txBox="1"/>
          <p:nvPr/>
        </p:nvSpPr>
        <p:spPr>
          <a:xfrm>
            <a:off x="6470904"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120 ÷ 6 = 20.</a:t>
            </a:r>
          </a:p>
          <a:p>
            <a:pPr>
              <a:lnSpc>
                <a:spcPts val="1836"/>
              </a:lnSpc>
              <a:spcBef>
                <a:spcPts val="0"/>
              </a:spcBef>
              <a:spcAft>
                <a:spcPts val="0"/>
              </a:spcAft>
              <a:defRPr sz="1700" b="0">
                <a:solidFill>
                  <a:srgbClr val="182B3A"/>
                </a:solidFill>
                <a:latin typeface="Arial"/>
              </a:defRPr>
            </a:pPr>
            <a:r>
              <a:t>21 full packs is reasonable.</a:t>
            </a:r>
          </a:p>
        </p:txBody>
      </p:sp>
      <p:sp>
        <p:nvSpPr>
          <p:cNvPr id="108" name="Rectangle 107"/>
          <p:cNvSpPr/>
          <p:nvPr/>
        </p:nvSpPr>
        <p:spPr>
          <a:xfrm>
            <a:off x="10326624"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9" name="TextBox 108"/>
          <p:cNvSpPr txBox="1"/>
          <p:nvPr/>
        </p:nvSpPr>
        <p:spPr>
          <a:xfrm>
            <a:off x="10390632"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150 ÷ 10 ≈ 15; 15 × 40 = 600.</a:t>
            </a:r>
          </a:p>
          <a:p>
            <a:pPr>
              <a:lnSpc>
                <a:spcPts val="1836"/>
              </a:lnSpc>
              <a:spcBef>
                <a:spcPts val="0"/>
              </a:spcBef>
              <a:spcAft>
                <a:spcPts val="0"/>
              </a:spcAft>
              <a:defRPr sz="1700" b="0">
                <a:solidFill>
                  <a:srgbClr val="182B3A"/>
                </a:solidFill>
                <a:latin typeface="Arial"/>
              </a:defRPr>
            </a:pPr>
            <a:r>
              <a:t>£680 is reasonable: more buses are needed.</a:t>
            </a:r>
          </a:p>
        </p:txBody>
      </p:sp>
      <p:sp>
        <p:nvSpPr>
          <p:cNvPr id="110" name="Rectangle 109"/>
          <p:cNvSpPr/>
          <p:nvPr/>
        </p:nvSpPr>
        <p:spPr>
          <a:xfrm>
            <a:off x="384048" y="7022592"/>
            <a:ext cx="2103120" cy="6400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1" name="TextBox 110"/>
          <p:cNvSpPr txBox="1"/>
          <p:nvPr/>
        </p:nvSpPr>
        <p:spPr>
          <a:xfrm>
            <a:off x="448056" y="7114031"/>
            <a:ext cx="1975103" cy="45719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112" name="Rectangle 111"/>
          <p:cNvSpPr/>
          <p:nvPr/>
        </p:nvSpPr>
        <p:spPr>
          <a:xfrm>
            <a:off x="2487168"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3" name="TextBox 112"/>
          <p:cNvSpPr txBox="1"/>
          <p:nvPr/>
        </p:nvSpPr>
        <p:spPr>
          <a:xfrm>
            <a:off x="2551175"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tins per box</a:t>
            </a:r>
          </a:p>
        </p:txBody>
      </p:sp>
      <p:sp>
        <p:nvSpPr>
          <p:cNvPr id="114" name="Rectangle 113"/>
          <p:cNvSpPr/>
          <p:nvPr/>
        </p:nvSpPr>
        <p:spPr>
          <a:xfrm>
            <a:off x="6406895"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5" name="TextBox 114"/>
          <p:cNvSpPr txBox="1"/>
          <p:nvPr/>
        </p:nvSpPr>
        <p:spPr>
          <a:xfrm>
            <a:off x="6470904"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full packs; 4 biscuits left</a:t>
            </a:r>
          </a:p>
        </p:txBody>
      </p:sp>
      <p:sp>
        <p:nvSpPr>
          <p:cNvPr id="116" name="Rectangle 115"/>
          <p:cNvSpPr/>
          <p:nvPr/>
        </p:nvSpPr>
        <p:spPr>
          <a:xfrm>
            <a:off x="10326624"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7" name="TextBox 116"/>
          <p:cNvSpPr txBox="1"/>
          <p:nvPr/>
        </p:nvSpPr>
        <p:spPr>
          <a:xfrm>
            <a:off x="10390632"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£680 to hire 17 minibuses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42 packs each contain 15 pens. How many pens are there?</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215 apples go into bags of 6. How many completely full bags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painter charges £18 per hour for 32 hours, plus £120 for paint. Find the total bill.</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168 students form 7 equal groups. How many students are in each group?</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worker earns £16 per hour for 27 hours. What are their total wages?</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157 passengers need vans with 8 passenger seats each. Hire costs £45 per van. Find the total hire cost.</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14 boxes hold 8 pens each. How many pens altogether?</a:t>
            </a:r>
          </a:p>
        </p:txBody>
      </p:sp>
      <p:sp>
        <p:nvSpPr>
          <p:cNvPr id="10" name="TextBox 9"/>
          <p:cNvSpPr txBox="1"/>
          <p:nvPr/>
        </p:nvSpPr>
        <p:spPr>
          <a:xfrm>
            <a:off x="612647" y="2551176"/>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14 + 8 = 22</a:t>
            </a:r>
          </a:p>
        </p:txBody>
      </p:sp>
      <p:sp>
        <p:nvSpPr>
          <p:cNvPr id="11" name="TextBox 10"/>
          <p:cNvSpPr txBox="1"/>
          <p:nvPr/>
        </p:nvSpPr>
        <p:spPr>
          <a:xfrm>
            <a:off x="612647" y="285292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22 pens</a:t>
            </a:r>
          </a:p>
        </p:txBody>
      </p:sp>
      <p:sp>
        <p:nvSpPr>
          <p:cNvPr id="12" name="Rectangle 11"/>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75488"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96 stickers are shared equally among 4 pupils. How many per pupil?</a:t>
            </a:r>
          </a:p>
        </p:txBody>
      </p:sp>
      <p:cxnSp>
        <p:nvCxnSpPr>
          <p:cNvPr id="14" name="Connector 13"/>
          <p:cNvCxnSpPr/>
          <p:nvPr/>
        </p:nvCxnSpPr>
        <p:spPr>
          <a:xfrm>
            <a:off x="904341"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04341"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4</a:t>
            </a:r>
          </a:p>
        </p:txBody>
      </p:sp>
      <p:sp>
        <p:nvSpPr>
          <p:cNvPr id="17" name="TextBox 16"/>
          <p:cNvSpPr txBox="1"/>
          <p:nvPr/>
        </p:nvSpPr>
        <p:spPr>
          <a:xfrm>
            <a:off x="953719"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9</a:t>
            </a:r>
          </a:p>
        </p:txBody>
      </p:sp>
      <p:sp>
        <p:nvSpPr>
          <p:cNvPr id="18" name="TextBox 17"/>
          <p:cNvSpPr txBox="1"/>
          <p:nvPr/>
        </p:nvSpPr>
        <p:spPr>
          <a:xfrm>
            <a:off x="953719"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19" name="TextBox 18"/>
          <p:cNvSpPr txBox="1"/>
          <p:nvPr/>
        </p:nvSpPr>
        <p:spPr>
          <a:xfrm>
            <a:off x="1332280"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20" name="TextBox 19"/>
          <p:cNvSpPr txBox="1"/>
          <p:nvPr/>
        </p:nvSpPr>
        <p:spPr>
          <a:xfrm>
            <a:off x="1332280"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21" name="TextBox 20"/>
          <p:cNvSpPr txBox="1"/>
          <p:nvPr/>
        </p:nvSpPr>
        <p:spPr>
          <a:xfrm>
            <a:off x="1793138"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22" name="TextBox 21"/>
          <p:cNvSpPr txBox="1"/>
          <p:nvPr/>
        </p:nvSpPr>
        <p:spPr>
          <a:xfrm>
            <a:off x="594360"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21 stickers each</a:t>
            </a:r>
          </a:p>
        </p:txBody>
      </p:sp>
      <p:sp>
        <p:nvSpPr>
          <p:cNvPr id="23" name="Rectangle 22"/>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75488"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Cut 3 m of ribbon into 6 equal pieces. Find each length in cm.</a:t>
            </a:r>
          </a:p>
        </p:txBody>
      </p:sp>
      <p:sp>
        <p:nvSpPr>
          <p:cNvPr id="25" name="TextBox 24"/>
          <p:cNvSpPr txBox="1"/>
          <p:nvPr/>
        </p:nvSpPr>
        <p:spPr>
          <a:xfrm>
            <a:off x="612647" y="655624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 m = 30 cm</a:t>
            </a:r>
          </a:p>
        </p:txBody>
      </p:sp>
      <p:sp>
        <p:nvSpPr>
          <p:cNvPr id="26" name="TextBox 25"/>
          <p:cNvSpPr txBox="1"/>
          <p:nvPr/>
        </p:nvSpPr>
        <p:spPr>
          <a:xfrm>
            <a:off x="612647" y="6858000"/>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30 ÷ 6 = 5</a:t>
            </a:r>
          </a:p>
        </p:txBody>
      </p:sp>
      <p:sp>
        <p:nvSpPr>
          <p:cNvPr id="27" name="TextBox 26"/>
          <p:cNvSpPr txBox="1"/>
          <p:nvPr/>
        </p:nvSpPr>
        <p:spPr>
          <a:xfrm>
            <a:off x="612647" y="7159752"/>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5 cm</a:t>
            </a:r>
          </a:p>
        </p:txBody>
      </p:sp>
      <p:sp>
        <p:nvSpPr>
          <p:cNvPr id="28" name="Rectangle 27"/>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30" name="Rectangle 29"/>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Pack 166 eggs in boxes of 6. How many full boxes?</a:t>
            </a:r>
          </a:p>
        </p:txBody>
      </p:sp>
      <p:cxnSp>
        <p:nvCxnSpPr>
          <p:cNvPr id="32" name="Connector 31"/>
          <p:cNvCxnSpPr/>
          <p:nvPr/>
        </p:nvCxnSpPr>
        <p:spPr>
          <a:xfrm>
            <a:off x="5525109" y="2874873"/>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525109" y="2874873"/>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187696" y="2895447"/>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6</a:t>
            </a:r>
          </a:p>
        </p:txBody>
      </p:sp>
      <p:sp>
        <p:nvSpPr>
          <p:cNvPr id="35" name="TextBox 34"/>
          <p:cNvSpPr txBox="1"/>
          <p:nvPr/>
        </p:nvSpPr>
        <p:spPr>
          <a:xfrm>
            <a:off x="5574487"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36" name="TextBox 35"/>
          <p:cNvSpPr txBox="1"/>
          <p:nvPr/>
        </p:nvSpPr>
        <p:spPr>
          <a:xfrm>
            <a:off x="5953048"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37" name="TextBox 36"/>
          <p:cNvSpPr txBox="1"/>
          <p:nvPr/>
        </p:nvSpPr>
        <p:spPr>
          <a:xfrm>
            <a:off x="5953048"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38" name="TextBox 37"/>
          <p:cNvSpPr txBox="1"/>
          <p:nvPr/>
        </p:nvSpPr>
        <p:spPr>
          <a:xfrm>
            <a:off x="5903671"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39" name="TextBox 38"/>
          <p:cNvSpPr txBox="1"/>
          <p:nvPr/>
        </p:nvSpPr>
        <p:spPr>
          <a:xfrm>
            <a:off x="6331610"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40" name="TextBox 39"/>
          <p:cNvSpPr txBox="1"/>
          <p:nvPr/>
        </p:nvSpPr>
        <p:spPr>
          <a:xfrm>
            <a:off x="6331610"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7</a:t>
            </a:r>
          </a:p>
        </p:txBody>
      </p:sp>
      <p:sp>
        <p:nvSpPr>
          <p:cNvPr id="41" name="TextBox 40"/>
          <p:cNvSpPr txBox="1"/>
          <p:nvPr/>
        </p:nvSpPr>
        <p:spPr>
          <a:xfrm>
            <a:off x="6282232"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4</a:t>
            </a:r>
          </a:p>
        </p:txBody>
      </p:sp>
      <p:sp>
        <p:nvSpPr>
          <p:cNvPr id="42" name="TextBox 41"/>
          <p:cNvSpPr txBox="1"/>
          <p:nvPr/>
        </p:nvSpPr>
        <p:spPr>
          <a:xfrm>
            <a:off x="6792468" y="2603296"/>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43" name="TextBox 42"/>
          <p:cNvSpPr txBox="1"/>
          <p:nvPr/>
        </p:nvSpPr>
        <p:spPr>
          <a:xfrm>
            <a:off x="5215128" y="3337560"/>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28 full boxes</a:t>
            </a:r>
          </a:p>
        </p:txBody>
      </p:sp>
      <p:sp>
        <p:nvSpPr>
          <p:cNvPr id="44" name="Rectangle 4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32 campers need tents. Each tent sleeps 5. How many tents are needed?</a:t>
            </a:r>
          </a:p>
        </p:txBody>
      </p:sp>
      <p:cxnSp>
        <p:nvCxnSpPr>
          <p:cNvPr id="46" name="Connector 45"/>
          <p:cNvCxnSpPr/>
          <p:nvPr/>
        </p:nvCxnSpPr>
        <p:spPr>
          <a:xfrm>
            <a:off x="5525109"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525109"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187696"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5</a:t>
            </a:r>
          </a:p>
        </p:txBody>
      </p:sp>
      <p:sp>
        <p:nvSpPr>
          <p:cNvPr id="49" name="TextBox 48"/>
          <p:cNvSpPr txBox="1"/>
          <p:nvPr/>
        </p:nvSpPr>
        <p:spPr>
          <a:xfrm>
            <a:off x="5574487"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3</a:t>
            </a:r>
          </a:p>
        </p:txBody>
      </p:sp>
      <p:sp>
        <p:nvSpPr>
          <p:cNvPr id="50" name="TextBox 49"/>
          <p:cNvSpPr txBox="1"/>
          <p:nvPr/>
        </p:nvSpPr>
        <p:spPr>
          <a:xfrm>
            <a:off x="5953048"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51" name="TextBox 50"/>
          <p:cNvSpPr txBox="1"/>
          <p:nvPr/>
        </p:nvSpPr>
        <p:spPr>
          <a:xfrm>
            <a:off x="5953048"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52" name="TextBox 51"/>
          <p:cNvSpPr txBox="1"/>
          <p:nvPr/>
        </p:nvSpPr>
        <p:spPr>
          <a:xfrm>
            <a:off x="5903671" y="4881524"/>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3</a:t>
            </a:r>
          </a:p>
        </p:txBody>
      </p:sp>
      <p:sp>
        <p:nvSpPr>
          <p:cNvPr id="53" name="TextBox 52"/>
          <p:cNvSpPr txBox="1"/>
          <p:nvPr/>
        </p:nvSpPr>
        <p:spPr>
          <a:xfrm>
            <a:off x="6413906"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54" name="TextBox 53"/>
          <p:cNvSpPr txBox="1"/>
          <p:nvPr/>
        </p:nvSpPr>
        <p:spPr>
          <a:xfrm>
            <a:off x="5215128"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6 tents</a:t>
            </a:r>
          </a:p>
        </p:txBody>
      </p:sp>
      <p:sp>
        <p:nvSpPr>
          <p:cNvPr id="55" name="Rectangle 5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5096256"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a £156 bill equally among 8 friends. How much each?</a:t>
            </a:r>
          </a:p>
        </p:txBody>
      </p:sp>
      <p:cxnSp>
        <p:nvCxnSpPr>
          <p:cNvPr id="57" name="Connector 56"/>
          <p:cNvCxnSpPr/>
          <p:nvPr/>
        </p:nvCxnSpPr>
        <p:spPr>
          <a:xfrm>
            <a:off x="5525109" y="6879945"/>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25109" y="6879945"/>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187696" y="6900519"/>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8</a:t>
            </a:r>
          </a:p>
        </p:txBody>
      </p:sp>
      <p:sp>
        <p:nvSpPr>
          <p:cNvPr id="60" name="TextBox 59"/>
          <p:cNvSpPr txBox="1"/>
          <p:nvPr/>
        </p:nvSpPr>
        <p:spPr>
          <a:xfrm>
            <a:off x="5574487"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1" name="TextBox 60"/>
          <p:cNvSpPr txBox="1"/>
          <p:nvPr/>
        </p:nvSpPr>
        <p:spPr>
          <a:xfrm>
            <a:off x="5953048"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5</a:t>
            </a:r>
          </a:p>
        </p:txBody>
      </p:sp>
      <p:sp>
        <p:nvSpPr>
          <p:cNvPr id="62" name="TextBox 61"/>
          <p:cNvSpPr txBox="1"/>
          <p:nvPr/>
        </p:nvSpPr>
        <p:spPr>
          <a:xfrm>
            <a:off x="5953048"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3" name="TextBox 62"/>
          <p:cNvSpPr txBox="1"/>
          <p:nvPr/>
        </p:nvSpPr>
        <p:spPr>
          <a:xfrm>
            <a:off x="5903671"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64" name="TextBox 63"/>
          <p:cNvSpPr txBox="1"/>
          <p:nvPr/>
        </p:nvSpPr>
        <p:spPr>
          <a:xfrm>
            <a:off x="6331610"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65" name="TextBox 64"/>
          <p:cNvSpPr txBox="1"/>
          <p:nvPr/>
        </p:nvSpPr>
        <p:spPr>
          <a:xfrm>
            <a:off x="6331610"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9</a:t>
            </a:r>
          </a:p>
        </p:txBody>
      </p:sp>
      <p:sp>
        <p:nvSpPr>
          <p:cNvPr id="66" name="TextBox 65"/>
          <p:cNvSpPr txBox="1"/>
          <p:nvPr/>
        </p:nvSpPr>
        <p:spPr>
          <a:xfrm>
            <a:off x="6282232"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7</a:t>
            </a:r>
          </a:p>
        </p:txBody>
      </p:sp>
      <p:sp>
        <p:nvSpPr>
          <p:cNvPr id="67" name="TextBox 66"/>
          <p:cNvSpPr txBox="1"/>
          <p:nvPr/>
        </p:nvSpPr>
        <p:spPr>
          <a:xfrm>
            <a:off x="6792468" y="6608368"/>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68" name="TextBox 67"/>
          <p:cNvSpPr txBox="1"/>
          <p:nvPr/>
        </p:nvSpPr>
        <p:spPr>
          <a:xfrm>
            <a:off x="5215128" y="7342631"/>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£19.04 each</a:t>
            </a:r>
          </a:p>
        </p:txBody>
      </p:sp>
      <p:sp>
        <p:nvSpPr>
          <p:cNvPr id="69" name="Rectangle 68"/>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71" name="Rectangle 70"/>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9717024"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Tables seat 6 and cost £12 to hire. Find the cost to seat 94 guests.</a:t>
            </a:r>
          </a:p>
        </p:txBody>
      </p:sp>
      <p:cxnSp>
        <p:nvCxnSpPr>
          <p:cNvPr id="73" name="Connector 72"/>
          <p:cNvCxnSpPr/>
          <p:nvPr/>
        </p:nvCxnSpPr>
        <p:spPr>
          <a:xfrm>
            <a:off x="10055626" y="2860974"/>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0055626" y="2860974"/>
            <a:ext cx="0" cy="295991"/>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9744456" y="2879948"/>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6</a:t>
            </a:r>
          </a:p>
        </p:txBody>
      </p:sp>
      <p:sp>
        <p:nvSpPr>
          <p:cNvPr id="76" name="TextBox 75"/>
          <p:cNvSpPr txBox="1"/>
          <p:nvPr/>
        </p:nvSpPr>
        <p:spPr>
          <a:xfrm>
            <a:off x="10101163"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9</a:t>
            </a:r>
          </a:p>
        </p:txBody>
      </p:sp>
      <p:sp>
        <p:nvSpPr>
          <p:cNvPr id="77" name="TextBox 76"/>
          <p:cNvSpPr txBox="1"/>
          <p:nvPr/>
        </p:nvSpPr>
        <p:spPr>
          <a:xfrm>
            <a:off x="10101163"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78" name="TextBox 77"/>
          <p:cNvSpPr txBox="1"/>
          <p:nvPr/>
        </p:nvSpPr>
        <p:spPr>
          <a:xfrm>
            <a:off x="10450281"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79" name="TextBox 78"/>
          <p:cNvSpPr txBox="1"/>
          <p:nvPr/>
        </p:nvSpPr>
        <p:spPr>
          <a:xfrm>
            <a:off x="10450281"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5</a:t>
            </a:r>
          </a:p>
        </p:txBody>
      </p:sp>
      <p:sp>
        <p:nvSpPr>
          <p:cNvPr id="80" name="TextBox 79"/>
          <p:cNvSpPr txBox="1"/>
          <p:nvPr/>
        </p:nvSpPr>
        <p:spPr>
          <a:xfrm>
            <a:off x="10404744" y="2864769"/>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3</a:t>
            </a:r>
          </a:p>
        </p:txBody>
      </p:sp>
      <p:sp>
        <p:nvSpPr>
          <p:cNvPr id="81" name="TextBox 80"/>
          <p:cNvSpPr txBox="1"/>
          <p:nvPr/>
        </p:nvSpPr>
        <p:spPr>
          <a:xfrm>
            <a:off x="10875294" y="2610520"/>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4</a:t>
            </a:r>
          </a:p>
        </p:txBody>
      </p:sp>
      <p:sp>
        <p:nvSpPr>
          <p:cNvPr id="82" name="TextBox 81"/>
          <p:cNvSpPr txBox="1"/>
          <p:nvPr/>
        </p:nvSpPr>
        <p:spPr>
          <a:xfrm>
            <a:off x="13008864" y="2350008"/>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1</a:t>
            </a:r>
          </a:p>
        </p:txBody>
      </p:sp>
      <p:sp>
        <p:nvSpPr>
          <p:cNvPr id="83" name="TextBox 82"/>
          <p:cNvSpPr txBox="1"/>
          <p:nvPr/>
        </p:nvSpPr>
        <p:spPr>
          <a:xfrm>
            <a:off x="12460224" y="24688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a:t>
            </a:r>
          </a:p>
        </p:txBody>
      </p:sp>
      <p:sp>
        <p:nvSpPr>
          <p:cNvPr id="84" name="TextBox 83"/>
          <p:cNvSpPr txBox="1"/>
          <p:nvPr/>
        </p:nvSpPr>
        <p:spPr>
          <a:xfrm>
            <a:off x="12460224" y="26974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12</a:t>
            </a:r>
          </a:p>
        </p:txBody>
      </p:sp>
      <p:cxnSp>
        <p:nvCxnSpPr>
          <p:cNvPr id="85" name="Connector 84"/>
          <p:cNvCxnSpPr/>
          <p:nvPr/>
        </p:nvCxnSpPr>
        <p:spPr>
          <a:xfrm>
            <a:off x="12460224" y="29215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460224" y="29260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30</a:t>
            </a:r>
          </a:p>
        </p:txBody>
      </p:sp>
      <p:sp>
        <p:nvSpPr>
          <p:cNvPr id="87" name="TextBox 86"/>
          <p:cNvSpPr txBox="1"/>
          <p:nvPr/>
        </p:nvSpPr>
        <p:spPr>
          <a:xfrm>
            <a:off x="12460224" y="31546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150</a:t>
            </a:r>
          </a:p>
        </p:txBody>
      </p:sp>
      <p:cxnSp>
        <p:nvCxnSpPr>
          <p:cNvPr id="88" name="Connector 87"/>
          <p:cNvCxnSpPr/>
          <p:nvPr/>
        </p:nvCxnSpPr>
        <p:spPr>
          <a:xfrm>
            <a:off x="12460224" y="33787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12460224" y="33832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180</a:t>
            </a:r>
          </a:p>
        </p:txBody>
      </p:sp>
      <p:cxnSp>
        <p:nvCxnSpPr>
          <p:cNvPr id="90" name="Connector 89"/>
          <p:cNvCxnSpPr/>
          <p:nvPr/>
        </p:nvCxnSpPr>
        <p:spPr>
          <a:xfrm>
            <a:off x="12460224" y="36073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835896" y="3346704"/>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15 tables cost £180</a:t>
            </a:r>
          </a:p>
        </p:txBody>
      </p:sp>
      <p:sp>
        <p:nvSpPr>
          <p:cNvPr id="92" name="Rectangle 9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9717024"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24 packs hold 15 drinks each. 87 are served. How many are left?</a:t>
            </a:r>
          </a:p>
        </p:txBody>
      </p:sp>
      <p:sp>
        <p:nvSpPr>
          <p:cNvPr id="94" name="TextBox 93"/>
          <p:cNvSpPr txBox="1"/>
          <p:nvPr/>
        </p:nvSpPr>
        <p:spPr>
          <a:xfrm>
            <a:off x="10631424" y="4352544"/>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2</a:t>
            </a:r>
          </a:p>
        </p:txBody>
      </p:sp>
      <p:sp>
        <p:nvSpPr>
          <p:cNvPr id="95" name="TextBox 94"/>
          <p:cNvSpPr txBox="1"/>
          <p:nvPr/>
        </p:nvSpPr>
        <p:spPr>
          <a:xfrm>
            <a:off x="10082784" y="44714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a:t>
            </a:r>
          </a:p>
        </p:txBody>
      </p:sp>
      <p:sp>
        <p:nvSpPr>
          <p:cNvPr id="96" name="TextBox 95"/>
          <p:cNvSpPr txBox="1"/>
          <p:nvPr/>
        </p:nvSpPr>
        <p:spPr>
          <a:xfrm>
            <a:off x="10082784" y="47000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15</a:t>
            </a:r>
          </a:p>
        </p:txBody>
      </p:sp>
      <p:cxnSp>
        <p:nvCxnSpPr>
          <p:cNvPr id="97" name="Connector 96"/>
          <p:cNvCxnSpPr/>
          <p:nvPr/>
        </p:nvCxnSpPr>
        <p:spPr>
          <a:xfrm>
            <a:off x="10082784" y="49240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0082784" y="49286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120</a:t>
            </a:r>
          </a:p>
        </p:txBody>
      </p:sp>
      <p:sp>
        <p:nvSpPr>
          <p:cNvPr id="99" name="TextBox 98"/>
          <p:cNvSpPr txBox="1"/>
          <p:nvPr/>
        </p:nvSpPr>
        <p:spPr>
          <a:xfrm>
            <a:off x="10082784" y="51572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240</a:t>
            </a:r>
          </a:p>
        </p:txBody>
      </p:sp>
      <p:cxnSp>
        <p:nvCxnSpPr>
          <p:cNvPr id="100" name="Connector 99"/>
          <p:cNvCxnSpPr/>
          <p:nvPr/>
        </p:nvCxnSpPr>
        <p:spPr>
          <a:xfrm>
            <a:off x="10082784" y="53812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0082784" y="53858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cxnSp>
        <p:nvCxnSpPr>
          <p:cNvPr id="102" name="Connector 101"/>
          <p:cNvCxnSpPr/>
          <p:nvPr/>
        </p:nvCxnSpPr>
        <p:spPr>
          <a:xfrm>
            <a:off x="10082784" y="56098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911584" y="45537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sp>
        <p:nvSpPr>
          <p:cNvPr id="104" name="TextBox 103"/>
          <p:cNvSpPr txBox="1"/>
          <p:nvPr/>
        </p:nvSpPr>
        <p:spPr>
          <a:xfrm>
            <a:off x="11911584" y="47823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+ 87</a:t>
            </a:r>
          </a:p>
        </p:txBody>
      </p:sp>
      <p:cxnSp>
        <p:nvCxnSpPr>
          <p:cNvPr id="105" name="Connector 104"/>
          <p:cNvCxnSpPr/>
          <p:nvPr/>
        </p:nvCxnSpPr>
        <p:spPr>
          <a:xfrm>
            <a:off x="11911584" y="50063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1911584" y="50109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447</a:t>
            </a:r>
          </a:p>
        </p:txBody>
      </p:sp>
      <p:cxnSp>
        <p:nvCxnSpPr>
          <p:cNvPr id="107" name="Connector 106"/>
          <p:cNvCxnSpPr/>
          <p:nvPr/>
        </p:nvCxnSpPr>
        <p:spPr>
          <a:xfrm>
            <a:off x="11911584" y="52349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1637264" y="5349240"/>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447 drinks left</a:t>
            </a:r>
          </a:p>
        </p:txBody>
      </p:sp>
      <p:sp>
        <p:nvSpPr>
          <p:cNvPr id="109" name="Rectangle 10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TextBox 109"/>
          <p:cNvSpPr txBox="1"/>
          <p:nvPr/>
        </p:nvSpPr>
        <p:spPr>
          <a:xfrm>
            <a:off x="9717024"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Four organisers split the cost of 18 prizes equally. Each prize costs £12. How much does each pay?</a:t>
            </a:r>
          </a:p>
        </p:txBody>
      </p:sp>
      <p:cxnSp>
        <p:nvCxnSpPr>
          <p:cNvPr id="111" name="Connector 110"/>
          <p:cNvCxnSpPr/>
          <p:nvPr/>
        </p:nvCxnSpPr>
        <p:spPr>
          <a:xfrm>
            <a:off x="10055626" y="6866046"/>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10055626" y="6866046"/>
            <a:ext cx="0" cy="295992"/>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9744456" y="6885020"/>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4</a:t>
            </a:r>
          </a:p>
        </p:txBody>
      </p:sp>
      <p:sp>
        <p:nvSpPr>
          <p:cNvPr id="114" name="TextBox 113"/>
          <p:cNvSpPr txBox="1"/>
          <p:nvPr/>
        </p:nvSpPr>
        <p:spPr>
          <a:xfrm>
            <a:off x="10101163"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115" name="TextBox 114"/>
          <p:cNvSpPr txBox="1"/>
          <p:nvPr/>
        </p:nvSpPr>
        <p:spPr>
          <a:xfrm>
            <a:off x="10450281"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8</a:t>
            </a:r>
          </a:p>
        </p:txBody>
      </p:sp>
      <p:sp>
        <p:nvSpPr>
          <p:cNvPr id="116" name="TextBox 115"/>
          <p:cNvSpPr txBox="1"/>
          <p:nvPr/>
        </p:nvSpPr>
        <p:spPr>
          <a:xfrm>
            <a:off x="10450281" y="6592824"/>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117" name="TextBox 116"/>
          <p:cNvSpPr txBox="1"/>
          <p:nvPr/>
        </p:nvSpPr>
        <p:spPr>
          <a:xfrm>
            <a:off x="10404744" y="6869841"/>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1</a:t>
            </a:r>
          </a:p>
        </p:txBody>
      </p:sp>
      <p:sp>
        <p:nvSpPr>
          <p:cNvPr id="118" name="TextBox 117"/>
          <p:cNvSpPr txBox="1"/>
          <p:nvPr/>
        </p:nvSpPr>
        <p:spPr>
          <a:xfrm>
            <a:off x="10875294" y="6615592"/>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2</a:t>
            </a:r>
          </a:p>
        </p:txBody>
      </p:sp>
      <p:sp>
        <p:nvSpPr>
          <p:cNvPr id="119" name="TextBox 118"/>
          <p:cNvSpPr txBox="1"/>
          <p:nvPr/>
        </p:nvSpPr>
        <p:spPr>
          <a:xfrm>
            <a:off x="12460224" y="67299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12</a:t>
            </a:r>
          </a:p>
        </p:txBody>
      </p:sp>
      <p:sp>
        <p:nvSpPr>
          <p:cNvPr id="120" name="TextBox 119"/>
          <p:cNvSpPr txBox="1"/>
          <p:nvPr/>
        </p:nvSpPr>
        <p:spPr>
          <a:xfrm>
            <a:off x="12460224" y="69585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4</a:t>
            </a:r>
          </a:p>
        </p:txBody>
      </p:sp>
      <p:cxnSp>
        <p:nvCxnSpPr>
          <p:cNvPr id="121" name="Connector 120"/>
          <p:cNvCxnSpPr/>
          <p:nvPr/>
        </p:nvCxnSpPr>
        <p:spPr>
          <a:xfrm>
            <a:off x="12460224" y="7182612"/>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2460224" y="71871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48</a:t>
            </a:r>
          </a:p>
        </p:txBody>
      </p:sp>
      <p:cxnSp>
        <p:nvCxnSpPr>
          <p:cNvPr id="123" name="Connector 122"/>
          <p:cNvCxnSpPr/>
          <p:nvPr/>
        </p:nvCxnSpPr>
        <p:spPr>
          <a:xfrm>
            <a:off x="12460224" y="7411212"/>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9835896" y="7351775"/>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£48 each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library has 14 shelves with 32 books on each. How many books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105 students form 7 equal groups. How many students are in each group?</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has 26 crates with 41 bottles in each. How many bottles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148 m rope is cut into 4 equal pieces. How long is each piece?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13 rows of 85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£175 is shared equally among 5 people. How much does each person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130 eggs are packed in cartons of 6. How many full cartons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passengers need cars with 5 passenger seats each. How many cars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250 chocolates are packed in boxes of 12. How many chocolates are left over?</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worker earns £17 per hour for 28 hours. What are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142 rolls are sold in bags of 6. How many full bags can be made?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£132 bill is shared equally by 8 friends. How much does each pay?</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45 tickets cost £16 each. A group gets £50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115 passengers need vans with 8 passenger seats each. Hire costs £65 per van.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gym costs £22 per month plus a £30 joining fee. Find the cost for 14 months.</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430 cases fill boxes of 12. Each full box sells for £9. Find the income from full boxes.</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contractor charges £24 per hour for 15 hours, plus £45 for materials. Find the total bill.</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15 boxes of 12 headphones at £8 per headphone.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trays each hold 24 plants. How many plants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156 pens are shared equally among 6 classes. How many pens does each class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orders 23 packs of 16 badges. How many badges does it order?</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£248 is shared equally among 8 people. How much does each person get?</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runner covers 12 km each week for 27 weeks. How far do they run?</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189 cm ribbon is cut into 7 equal pieces.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197 leaflets are bundled in groups of 8. How many complete bundles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camp has 83 people. Each tent sleeps 6. How many tents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275 cm strip is cut into 12 cm pieces.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printer produces 36 pages per minute. How many pages does it produce in 14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£154 is split equally among 4 workers. How much does each receive?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253 photos go in albums holding 24 photos. How many albums are needed for all the photos?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28 shirts cost £14 each. Delivery costs £18. Find the total cost.</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people need tables seating 6 each. Tables cost £12 each to hire.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24 packs of 15 drinks. It uses 87 drinks.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286 biscuits. Full bags hold 8 and sell for £3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Four friends share the cost of 18 tickets at £12 each equally. How much does each friend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17 cartons of 24 pens at £2 per pen.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 boxes each hold 35 cables. How many cables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252 stickers are shared equally among 7 students. How many does each student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cinema has 28 rows of 24 seats. Find the total number of seats.</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336 m cable is cut into 8 equal lengths. How long is each length?</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charity buys 19 packs of 32 cards. How many cards does it buy?</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£315 is shared equally among 9 people. How much does each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245 apples are packed in bags of 8. How many full bags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hotel has 137 guests. Each shuttle carries 9 guests. How many shuttle trips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359 beads are used in bracelets of 12 beads. How many beads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technician earns £23 per hour for 16 hours. Find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£186 bill is shared equally by 8 people. How much does each person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Each floor tile covers 25 cm². What area do 48 tiles cover?</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gardener charges £21 per hour for 18 hours, plus £64 for plants. Find the total bill.</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167 passengers need coaches with 24 passenger seats each. Hire costs £85 per coach.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32 packs of 18 cards. It gives away 145 cards.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397 oranges fill bags of 6. Each full bag sells for £4.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Six people equally share the cost of 15 meals at £14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23 boxes of 16 mugs at £5 per mug.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27 packets each contain 18 labels. How many labels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384 books are shared equally among 8 shelves. How many books go on each shelf?</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nursery has 34 trays of 16 seedlings. How many seedlings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£425 is shared equally among 5 people. How much does each receive?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26 rows of 35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294 cm strip is cut into 6 equal lengths.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367 bottles are packed in boxes of 12. How many complete boxes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hostel has 158 guests. Each room holds 6 guests. How many rooms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lIns="91440" tIns="36576" rIns="91440" bIns="36576" anchor="t">
            <a:spAutoFit/>
          </a:bodyPr>
          <a:lstStyle/>
          <a:p>
            <a:pPr>
              <a:lnSpc>
                <a:spcPts val="1944"/>
              </a:lnSpc>
              <a:spcBef>
                <a:spcPts val="0"/>
              </a:spcBef>
              <a:spcAft>
                <a:spcPts val="0"/>
              </a:spcAft>
              <a:defRPr sz="1800" b="0">
                <a:solidFill>
                  <a:srgbClr val="182B3A"/>
                </a:solidFill>
                <a:latin typeface="Arial"/>
              </a:defRPr>
            </a:pPr>
            <a:r>
              <a:t>A 413 cm ribbon is cut into 15 cm lengths. How many </a:t>
            </a:r>
            <a:r>
              <a:rPr lang="en-GB"/>
              <a:t>centimetres</a:t>
            </a:r>
            <a:r>
              <a:t>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machine labels 28 bottles per minute. How many does it label in 19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£238 bill is shared equally by 8 friends. How much does each friend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319 files fit in folders holding 24 files. How many folders are needed for all the files?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 tickets cost £17 each. A group gets £75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203 people need tables seating 8 each. Hire costs £15 per table.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buys 29 boxes of 24 notebooks. It sells 187 notebooks.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518 rolls. Full bags hold 12 and sell for £5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Seven people equally share the cost of 21 meals at £16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28 boxes of 15 keyrings at £3 per keyring.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initial assessment</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Answer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M04-IA</a:t>
            </a:r>
          </a:p>
        </p:txBody>
      </p:sp>
      <p:sp>
        <p:nvSpPr>
          <p:cNvPr id="7" name="Rectangle 6"/>
          <p:cNvSpPr/>
          <p:nvPr/>
        </p:nvSpPr>
        <p:spPr>
          <a:xfrm>
            <a:off x="45720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Share £35 between A and B in the ratio 2:5. How much does A receive?</a:t>
            </a:r>
          </a:p>
        </p:txBody>
      </p:sp>
      <p:sp>
        <p:nvSpPr>
          <p:cNvPr id="9" name="Rectangle 8"/>
          <p:cNvSpPr/>
          <p:nvPr/>
        </p:nvSpPr>
        <p:spPr>
          <a:xfrm>
            <a:off x="745236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Red and blue counters are in the ratio 3:4. There are 12 red counters. How many blue counters are there?</a:t>
            </a:r>
          </a:p>
        </p:txBody>
      </p:sp>
      <p:sp>
        <p:nvSpPr>
          <p:cNvPr id="11" name="Rectangle 10"/>
          <p:cNvSpPr/>
          <p:nvPr/>
        </p:nvSpPr>
        <p:spPr>
          <a:xfrm>
            <a:off x="45720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Two ribbons have lengths in the ratio 2:7. The longer is 25 cm longer than the shorter. Find the shorter length.</a:t>
            </a:r>
          </a:p>
        </p:txBody>
      </p:sp>
      <p:sp>
        <p:nvSpPr>
          <p:cNvPr id="13" name="Rectangle 12"/>
          <p:cNvSpPr/>
          <p:nvPr/>
        </p:nvSpPr>
        <p:spPr>
          <a:xfrm>
            <a:off x="745236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  Adults and children are in the ratio 5:8. There are 39 people altogether. How many more children than adults are there?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Worked demo • Follow each step down your column.</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M04-S01</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and B share £120 in the ratio 2:3. How much does B receive?</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paint are mixed in the ratio 3:5. There are 18 litres of red paint. How many litres of blue paint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counters are in the ratio 3:7. There are 28 more blue counters than red counters. How many counters are there altogether?</a:t>
            </a:r>
          </a:p>
        </p:txBody>
      </p:sp>
      <p:sp>
        <p:nvSpPr>
          <p:cNvPr id="21" name="Rectangle 20"/>
          <p:cNvSpPr/>
          <p:nvPr/>
        </p:nvSpPr>
        <p:spPr>
          <a:xfrm>
            <a:off x="320040" y="2953512"/>
            <a:ext cx="1801367"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813816"/>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“share £120”: the total is known. 2 + 3 = 5 parts. £120 ÷ 5, then × 3.</a:t>
            </a:r>
          </a:p>
        </p:txBody>
      </p:sp>
      <p:sp>
        <p:nvSpPr>
          <p:cNvPr id="25" name="Rectangle 24"/>
          <p:cNvSpPr/>
          <p:nvPr/>
        </p:nvSpPr>
        <p:spPr>
          <a:xfrm>
            <a:off x="6184392"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litres of red”: 3 parts are known. 18 ÷ 3, then × 5.</a:t>
            </a:r>
          </a:p>
        </p:txBody>
      </p:sp>
      <p:sp>
        <p:nvSpPr>
          <p:cNvPr id="27" name="Rectangle 26"/>
          <p:cNvSpPr/>
          <p:nvPr/>
        </p:nvSpPr>
        <p:spPr>
          <a:xfrm>
            <a:off x="10247376"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more blue”: the difference is known. 7 − 3 = 4 parts. 28 ÷ 4, then × (3 + 7).</a:t>
            </a:r>
          </a:p>
        </p:txBody>
      </p:sp>
      <p:sp>
        <p:nvSpPr>
          <p:cNvPr id="29" name="Rectangle 28"/>
          <p:cNvSpPr/>
          <p:nvPr/>
        </p:nvSpPr>
        <p:spPr>
          <a:xfrm>
            <a:off x="320040" y="3913632"/>
            <a:ext cx="1801367" cy="2066543"/>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3986784"/>
            <a:ext cx="1691639" cy="192023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£120 ÷ 5 = £24 per part. £24 × 3 = £72.</a:t>
            </a:r>
          </a:p>
        </p:txBody>
      </p:sp>
      <p:grpSp>
        <p:nvGrpSpPr>
          <p:cNvPr id="33" name="Ratio bars A:B = 2:3, total"/>
          <p:cNvGrpSpPr/>
          <p:nvPr/>
        </p:nvGrpSpPr>
        <p:grpSpPr>
          <a:xfrm>
            <a:off x="2194560" y="4686300"/>
            <a:ext cx="3916680" cy="1275588"/>
            <a:chOff x="2194560" y="4686300"/>
            <a:chExt cx="3916680" cy="1275588"/>
          </a:xfrm>
        </p:grpSpPr>
        <p:sp>
          <p:nvSpPr>
            <p:cNvPr id="34" name="TextBox 33"/>
            <p:cNvSpPr txBox="1"/>
            <p:nvPr/>
          </p:nvSpPr>
          <p:spPr>
            <a:xfrm>
              <a:off x="2194560"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A</a:t>
              </a:r>
            </a:p>
          </p:txBody>
        </p:sp>
        <p:sp>
          <p:nvSpPr>
            <p:cNvPr id="35" name="Rectangle 34"/>
            <p:cNvSpPr/>
            <p:nvPr/>
          </p:nvSpPr>
          <p:spPr>
            <a:xfrm>
              <a:off x="3108960"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502152"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194560"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a:t>
              </a:r>
            </a:p>
          </p:txBody>
        </p:sp>
        <p:sp>
          <p:nvSpPr>
            <p:cNvPr id="38" name="Rectangle 37"/>
            <p:cNvSpPr/>
            <p:nvPr/>
          </p:nvSpPr>
          <p:spPr>
            <a:xfrm>
              <a:off x="3108960"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502152"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895344"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4379975" y="4709160"/>
              <a:ext cx="0" cy="585216"/>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334255" y="4709160"/>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334255" y="5294376"/>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108960"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76B73"/>
                  </a:solidFill>
                  <a:latin typeface="Arial"/>
                </a:defRPr>
              </a:pPr>
              <a:r>
                <a:t>£120 altogether</a:t>
              </a:r>
            </a:p>
          </p:txBody>
        </p:sp>
        <p:sp>
          <p:nvSpPr>
            <p:cNvPr id="45" name="TextBox 44"/>
            <p:cNvSpPr txBox="1"/>
            <p:nvPr/>
          </p:nvSpPr>
          <p:spPr>
            <a:xfrm>
              <a:off x="3108960"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176B73"/>
                  </a:solidFill>
                  <a:latin typeface="Arial"/>
                </a:defRPr>
              </a:pPr>
              <a:r>
                <a:t>1 part = £24</a:t>
              </a:r>
            </a:p>
          </p:txBody>
        </p:sp>
      </p:grpSp>
      <p:sp>
        <p:nvSpPr>
          <p:cNvPr id="46" name="Rectangle 45"/>
          <p:cNvSpPr/>
          <p:nvPr/>
        </p:nvSpPr>
        <p:spPr>
          <a:xfrm>
            <a:off x="6184392"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30112"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 3 = 6 litres per part. 6 × 5 = 30 litres.</a:t>
            </a:r>
          </a:p>
        </p:txBody>
      </p:sp>
      <p:grpSp>
        <p:nvGrpSpPr>
          <p:cNvPr id="48" name="Ratio bars Red:Blue = 3:5, first"/>
          <p:cNvGrpSpPr/>
          <p:nvPr/>
        </p:nvGrpSpPr>
        <p:grpSpPr>
          <a:xfrm>
            <a:off x="6257544" y="4626864"/>
            <a:ext cx="3916680" cy="1335024"/>
            <a:chOff x="6257544" y="4626864"/>
            <a:chExt cx="3916680" cy="1335024"/>
          </a:xfrm>
        </p:grpSpPr>
        <p:sp>
          <p:nvSpPr>
            <p:cNvPr id="49" name="TextBox 48"/>
            <p:cNvSpPr txBox="1"/>
            <p:nvPr/>
          </p:nvSpPr>
          <p:spPr>
            <a:xfrm>
              <a:off x="6257544"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50" name="Rectangle 49"/>
            <p:cNvSpPr/>
            <p:nvPr/>
          </p:nvSpPr>
          <p:spPr>
            <a:xfrm>
              <a:off x="7171944"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565136"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958328"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257544"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54" name="Rectangle 53"/>
            <p:cNvSpPr/>
            <p:nvPr/>
          </p:nvSpPr>
          <p:spPr>
            <a:xfrm>
              <a:off x="7171944"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7565136"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7958328"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351520"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744712"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a:off x="7171944" y="4626864"/>
              <a:ext cx="1179576" cy="0"/>
            </a:xfrm>
            <a:prstGeom prst="line">
              <a:avLst/>
            </a:prstGeom>
            <a:ln w="15240">
              <a:solidFill>
                <a:srgbClr val="3559A2"/>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171944"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3559A2"/>
                  </a:solidFill>
                  <a:latin typeface="Arial"/>
                </a:defRPr>
              </a:pPr>
              <a:r>
                <a:t>Red: 18 litres</a:t>
              </a:r>
            </a:p>
          </p:txBody>
        </p:sp>
        <p:sp>
          <p:nvSpPr>
            <p:cNvPr id="61" name="TextBox 60"/>
            <p:cNvSpPr txBox="1"/>
            <p:nvPr/>
          </p:nvSpPr>
          <p:spPr>
            <a:xfrm>
              <a:off x="7171944"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3559A2"/>
                  </a:solidFill>
                  <a:latin typeface="Arial"/>
                </a:defRPr>
              </a:pPr>
              <a:r>
                <a:t>1 part = 6 litres</a:t>
              </a:r>
            </a:p>
          </p:txBody>
        </p:sp>
      </p:grpSp>
      <p:sp>
        <p:nvSpPr>
          <p:cNvPr id="62" name="Rectangle 61"/>
          <p:cNvSpPr/>
          <p:nvPr/>
        </p:nvSpPr>
        <p:spPr>
          <a:xfrm>
            <a:off x="10247376"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293096"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 4 = 7 counters per part. 3 + 7 = 10 parts. 7 × 10 = 70 counters.</a:t>
            </a:r>
          </a:p>
        </p:txBody>
      </p:sp>
      <p:grpSp>
        <p:nvGrpSpPr>
          <p:cNvPr id="64" name="Ratio bars Red:Blue = 3:7, difference"/>
          <p:cNvGrpSpPr/>
          <p:nvPr/>
        </p:nvGrpSpPr>
        <p:grpSpPr>
          <a:xfrm>
            <a:off x="10320528" y="4686300"/>
            <a:ext cx="3916680" cy="1275588"/>
            <a:chOff x="10320528" y="4686300"/>
            <a:chExt cx="3916680" cy="1275588"/>
          </a:xfrm>
        </p:grpSpPr>
        <p:sp>
          <p:nvSpPr>
            <p:cNvPr id="65" name="TextBox 64"/>
            <p:cNvSpPr txBox="1"/>
            <p:nvPr/>
          </p:nvSpPr>
          <p:spPr>
            <a:xfrm>
              <a:off x="10320528"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66" name="Rectangle 65"/>
            <p:cNvSpPr/>
            <p:nvPr/>
          </p:nvSpPr>
          <p:spPr>
            <a:xfrm>
              <a:off x="11234928"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11628120"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2021312"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0320528"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70" name="Rectangle 69"/>
            <p:cNvSpPr/>
            <p:nvPr/>
          </p:nvSpPr>
          <p:spPr>
            <a:xfrm>
              <a:off x="1123492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1162812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12021312"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2414504"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2807696"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1320088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1359408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7" name="Connector 76"/>
            <p:cNvCxnSpPr/>
            <p:nvPr/>
          </p:nvCxnSpPr>
          <p:spPr>
            <a:xfrm>
              <a:off x="12414504" y="5376672"/>
              <a:ext cx="1572768" cy="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2414504"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987272"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1234928" y="5413248"/>
              <a:ext cx="3002280" cy="256032"/>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754B87"/>
                  </a:solidFill>
                  <a:latin typeface="Arial"/>
                </a:defRPr>
              </a:pPr>
              <a:r>
                <a:t>4 extra parts = 28 counters</a:t>
              </a:r>
            </a:p>
          </p:txBody>
        </p:sp>
        <p:sp>
          <p:nvSpPr>
            <p:cNvPr id="81" name="TextBox 80"/>
            <p:cNvSpPr txBox="1"/>
            <p:nvPr/>
          </p:nvSpPr>
          <p:spPr>
            <a:xfrm>
              <a:off x="11234928"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754B87"/>
                  </a:solidFill>
                  <a:latin typeface="Arial"/>
                </a:defRPr>
              </a:pPr>
              <a:r>
                <a:t>1 part = 7 counters</a:t>
              </a:r>
            </a:p>
          </p:txBody>
        </p:sp>
      </p:grpSp>
      <p:sp>
        <p:nvSpPr>
          <p:cNvPr id="82" name="Rectangle 81"/>
          <p:cNvSpPr/>
          <p:nvPr/>
        </p:nvSpPr>
        <p:spPr>
          <a:xfrm>
            <a:off x="320040" y="5980176"/>
            <a:ext cx="1801367" cy="13075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74904" y="6053328"/>
            <a:ext cx="1691639" cy="116128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84" name="Rectangle 83"/>
          <p:cNvSpPr/>
          <p:nvPr/>
        </p:nvSpPr>
        <p:spPr>
          <a:xfrm>
            <a:off x="2121408"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167127"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gets more than half of £120, so more than £60. £72 fits. Check both shares: £48 + £72 = £120.</a:t>
            </a:r>
          </a:p>
        </p:txBody>
      </p:sp>
      <p:sp>
        <p:nvSpPr>
          <p:cNvPr id="86" name="Rectangle 85"/>
          <p:cNvSpPr/>
          <p:nvPr/>
        </p:nvSpPr>
        <p:spPr>
          <a:xfrm>
            <a:off x="6184392"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230112"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Blue is between one and two times the red amount, so between 18 and 36 litres. 30 litres fits.</a:t>
            </a:r>
          </a:p>
        </p:txBody>
      </p:sp>
      <p:sp>
        <p:nvSpPr>
          <p:cNvPr id="88" name="Rectangle 87"/>
          <p:cNvSpPr/>
          <p:nvPr/>
        </p:nvSpPr>
        <p:spPr>
          <a:xfrm>
            <a:off x="10247376"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10293096"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The total represents 10 parts and the difference 4. The total should be between 2 and 3 times 28: between 56 and 84. 70 fits.</a:t>
            </a:r>
          </a:p>
        </p:txBody>
      </p:sp>
      <p:sp>
        <p:nvSpPr>
          <p:cNvPr id="90" name="Rectangle 89"/>
          <p:cNvSpPr/>
          <p:nvPr/>
        </p:nvSpPr>
        <p:spPr>
          <a:xfrm>
            <a:off x="320040" y="7287768"/>
            <a:ext cx="1801367" cy="5577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74904" y="7360919"/>
            <a:ext cx="1691639" cy="41147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92" name="Rectangle 91"/>
          <p:cNvSpPr/>
          <p:nvPr/>
        </p:nvSpPr>
        <p:spPr>
          <a:xfrm>
            <a:off x="2121408"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167127"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receives £72.</a:t>
            </a:r>
          </a:p>
        </p:txBody>
      </p:sp>
      <p:sp>
        <p:nvSpPr>
          <p:cNvPr id="94" name="Rectangle 93"/>
          <p:cNvSpPr/>
          <p:nvPr/>
        </p:nvSpPr>
        <p:spPr>
          <a:xfrm>
            <a:off x="6184392"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230112"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30 litres of blue paint.</a:t>
            </a:r>
          </a:p>
        </p:txBody>
      </p:sp>
      <p:sp>
        <p:nvSpPr>
          <p:cNvPr id="96" name="Rectangle 95"/>
          <p:cNvSpPr/>
          <p:nvPr/>
        </p:nvSpPr>
        <p:spPr>
          <a:xfrm>
            <a:off x="10247376"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10293096"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70 counters altogether.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1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An 84 ml paint mix contains red and white paint in the ratio 3:4. How much red paint is in the mix?</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Notebooks and folders are in the ratio 4:7. There are 35 folders. How many notebooks are there?</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Adults and children are in the ratio 2:5. There are 24 more children than adults. How many people are there altogether?</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5" name="Progression curved arrow: Thread 1 to Thread 2">
            <a:extLst>
              <a:ext uri="{FF2B5EF4-FFF2-40B4-BE49-F238E27FC236}">
                <a16:creationId xmlns:a16="http://schemas.microsoft.com/office/drawing/2014/main" id="{5C4B25E0-6F8B-5EB5-B1AB-18C9B16A520D}"/>
              </a:ext>
            </a:extLst>
          </p:cNvPr>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2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96 cm ribbon is cut into pieces A and B in the ratio 5:7. Find the length of B.</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Juice and water are mixed in the ratio 2:7. There are 18 litres of juice. How many litres of water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Two lengths of ribbon, A and B, are in the ratio 5:8. B is 21 cm longer than A. What is their total length?</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Progression curved arrow: Thread 2 to Thread 3"/>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Ratio: sharing and missing amounts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M04-SE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Share £35 between A and B in ratio 2:5. How much does A get?</a:t>
            </a:r>
          </a:p>
        </p:txBody>
      </p:sp>
      <p:sp>
        <p:nvSpPr>
          <p:cNvPr id="10" name="TextBox 9"/>
          <p:cNvSpPr txBox="1"/>
          <p:nvPr/>
        </p:nvSpPr>
        <p:spPr>
          <a:xfrm>
            <a:off x="594360"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 + 5 = 7 parts</a:t>
            </a:r>
          </a:p>
        </p:txBody>
      </p:sp>
      <p:sp>
        <p:nvSpPr>
          <p:cNvPr id="11" name="TextBox 10"/>
          <p:cNvSpPr txBox="1"/>
          <p:nvPr/>
        </p:nvSpPr>
        <p:spPr>
          <a:xfrm>
            <a:off x="594360"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7 = 5</a:t>
            </a:r>
          </a:p>
        </p:txBody>
      </p:sp>
      <p:sp>
        <p:nvSpPr>
          <p:cNvPr id="12" name="TextBox 11"/>
          <p:cNvSpPr txBox="1"/>
          <p:nvPr/>
        </p:nvSpPr>
        <p:spPr>
          <a:xfrm>
            <a:off x="273405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5 × 5</a:t>
            </a:r>
          </a:p>
        </p:txBody>
      </p:sp>
      <p:sp>
        <p:nvSpPr>
          <p:cNvPr id="13" name="TextBox 12"/>
          <p:cNvSpPr txBox="1"/>
          <p:nvPr/>
        </p:nvSpPr>
        <p:spPr>
          <a:xfrm>
            <a:off x="273405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£25</a:t>
            </a:r>
          </a:p>
        </p:txBody>
      </p:sp>
      <p:sp>
        <p:nvSpPr>
          <p:cNvPr id="14" name="TextBox 13"/>
          <p:cNvSpPr txBox="1"/>
          <p:nvPr/>
        </p:nvSpPr>
        <p:spPr>
          <a:xfrm>
            <a:off x="594360"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receives £25</a:t>
            </a:r>
          </a:p>
        </p:txBody>
      </p:sp>
      <p:sp>
        <p:nvSpPr>
          <p:cNvPr id="15" name="Rectangle 14"/>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75488"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3:4. There are 12 red counters. How many blue?</a:t>
            </a:r>
          </a:p>
        </p:txBody>
      </p:sp>
      <p:sp>
        <p:nvSpPr>
          <p:cNvPr id="17" name="TextBox 16"/>
          <p:cNvSpPr txBox="1"/>
          <p:nvPr/>
        </p:nvSpPr>
        <p:spPr>
          <a:xfrm>
            <a:off x="594360"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+ 4 = 7 parts</a:t>
            </a:r>
          </a:p>
        </p:txBody>
      </p:sp>
      <p:sp>
        <p:nvSpPr>
          <p:cNvPr id="18" name="TextBox 17"/>
          <p:cNvSpPr txBox="1"/>
          <p:nvPr/>
        </p:nvSpPr>
        <p:spPr>
          <a:xfrm>
            <a:off x="594360"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12 ÷ 7 = 1 r 5</a:t>
            </a:r>
          </a:p>
        </p:txBody>
      </p:sp>
      <p:sp>
        <p:nvSpPr>
          <p:cNvPr id="19" name="TextBox 18"/>
          <p:cNvSpPr txBox="1"/>
          <p:nvPr/>
        </p:nvSpPr>
        <p:spPr>
          <a:xfrm>
            <a:off x="273405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 × 1</a:t>
            </a:r>
          </a:p>
        </p:txBody>
      </p:sp>
      <p:sp>
        <p:nvSpPr>
          <p:cNvPr id="20" name="TextBox 19"/>
          <p:cNvSpPr txBox="1"/>
          <p:nvPr/>
        </p:nvSpPr>
        <p:spPr>
          <a:xfrm>
            <a:off x="273405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a:t>
            </a:r>
          </a:p>
        </p:txBody>
      </p:sp>
      <p:sp>
        <p:nvSpPr>
          <p:cNvPr id="21" name="TextBox 20"/>
          <p:cNvSpPr txBox="1"/>
          <p:nvPr/>
        </p:nvSpPr>
        <p:spPr>
          <a:xfrm>
            <a:off x="594360"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 blue counters</a:t>
            </a:r>
          </a:p>
        </p:txBody>
      </p:sp>
      <p:sp>
        <p:nvSpPr>
          <p:cNvPr id="22" name="Rectangle 21"/>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75488"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12 sweets between A and B in ratio 1:3. How many does B get?</a:t>
            </a:r>
          </a:p>
        </p:txBody>
      </p:sp>
      <p:sp>
        <p:nvSpPr>
          <p:cNvPr id="24" name="TextBox 23"/>
          <p:cNvSpPr txBox="1"/>
          <p:nvPr/>
        </p:nvSpPr>
        <p:spPr>
          <a:xfrm>
            <a:off x="594360"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 + 3 = 4 parts</a:t>
            </a:r>
          </a:p>
        </p:txBody>
      </p:sp>
      <p:sp>
        <p:nvSpPr>
          <p:cNvPr id="25" name="TextBox 24"/>
          <p:cNvSpPr txBox="1"/>
          <p:nvPr/>
        </p:nvSpPr>
        <p:spPr>
          <a:xfrm>
            <a:off x="594360"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12 ÷ 4 = 3</a:t>
            </a:r>
          </a:p>
        </p:txBody>
      </p:sp>
      <p:sp>
        <p:nvSpPr>
          <p:cNvPr id="26" name="TextBox 25"/>
          <p:cNvSpPr txBox="1"/>
          <p:nvPr/>
        </p:nvSpPr>
        <p:spPr>
          <a:xfrm>
            <a:off x="273405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3 + 3</a:t>
            </a:r>
          </a:p>
        </p:txBody>
      </p:sp>
      <p:sp>
        <p:nvSpPr>
          <p:cNvPr id="27" name="TextBox 26"/>
          <p:cNvSpPr txBox="1"/>
          <p:nvPr/>
        </p:nvSpPr>
        <p:spPr>
          <a:xfrm>
            <a:off x="273405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6</a:t>
            </a:r>
          </a:p>
        </p:txBody>
      </p:sp>
      <p:sp>
        <p:nvSpPr>
          <p:cNvPr id="28" name="TextBox 27"/>
          <p:cNvSpPr txBox="1"/>
          <p:nvPr/>
        </p:nvSpPr>
        <p:spPr>
          <a:xfrm>
            <a:off x="594360"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receives 6 sweets</a:t>
            </a:r>
          </a:p>
        </p:txBody>
      </p:sp>
      <p:sp>
        <p:nvSpPr>
          <p:cNvPr id="29" name="Rectangle 2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31" name="Rectangle 3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96256"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 and B share counters in ratio 2:7. B has 30 more than A. How many does A have?</a:t>
            </a:r>
          </a:p>
        </p:txBody>
      </p:sp>
      <p:sp>
        <p:nvSpPr>
          <p:cNvPr id="33" name="TextBox 32"/>
          <p:cNvSpPr txBox="1"/>
          <p:nvPr/>
        </p:nvSpPr>
        <p:spPr>
          <a:xfrm>
            <a:off x="5215128"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7 − 2 = 5 parts</a:t>
            </a:r>
          </a:p>
        </p:txBody>
      </p:sp>
      <p:sp>
        <p:nvSpPr>
          <p:cNvPr id="34" name="TextBox 33"/>
          <p:cNvSpPr txBox="1"/>
          <p:nvPr/>
        </p:nvSpPr>
        <p:spPr>
          <a:xfrm>
            <a:off x="5215128"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30 ÷ 5 = 6</a:t>
            </a:r>
          </a:p>
        </p:txBody>
      </p:sp>
      <p:sp>
        <p:nvSpPr>
          <p:cNvPr id="35" name="TextBox 34"/>
          <p:cNvSpPr txBox="1"/>
          <p:nvPr/>
        </p:nvSpPr>
        <p:spPr>
          <a:xfrm>
            <a:off x="7354824"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 + 6</a:t>
            </a:r>
          </a:p>
        </p:txBody>
      </p:sp>
      <p:sp>
        <p:nvSpPr>
          <p:cNvPr id="36" name="TextBox 35"/>
          <p:cNvSpPr txBox="1"/>
          <p:nvPr/>
        </p:nvSpPr>
        <p:spPr>
          <a:xfrm>
            <a:off x="7354824"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8</a:t>
            </a:r>
          </a:p>
        </p:txBody>
      </p:sp>
      <p:sp>
        <p:nvSpPr>
          <p:cNvPr id="37" name="TextBox 36"/>
          <p:cNvSpPr txBox="1"/>
          <p:nvPr/>
        </p:nvSpPr>
        <p:spPr>
          <a:xfrm>
            <a:off x="5215128"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has 8 counters</a:t>
            </a:r>
          </a:p>
        </p:txBody>
      </p:sp>
      <p:sp>
        <p:nvSpPr>
          <p:cNvPr id="38" name="Rectangle 37"/>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5096256"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4:3. There are 15 blue counters. How many red counters?</a:t>
            </a:r>
          </a:p>
        </p:txBody>
      </p:sp>
      <p:sp>
        <p:nvSpPr>
          <p:cNvPr id="40" name="TextBox 39"/>
          <p:cNvSpPr txBox="1"/>
          <p:nvPr/>
        </p:nvSpPr>
        <p:spPr>
          <a:xfrm>
            <a:off x="5215128"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15 ÷ 4 = 3.75</a:t>
            </a:r>
          </a:p>
        </p:txBody>
      </p:sp>
      <p:sp>
        <p:nvSpPr>
          <p:cNvPr id="41" name="TextBox 40"/>
          <p:cNvSpPr txBox="1"/>
          <p:nvPr/>
        </p:nvSpPr>
        <p:spPr>
          <a:xfrm>
            <a:off x="7354824"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3 × 3.75</a:t>
            </a:r>
          </a:p>
        </p:txBody>
      </p:sp>
      <p:sp>
        <p:nvSpPr>
          <p:cNvPr id="42" name="TextBox 41"/>
          <p:cNvSpPr txBox="1"/>
          <p:nvPr/>
        </p:nvSpPr>
        <p:spPr>
          <a:xfrm>
            <a:off x="7354824"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11.25</a:t>
            </a:r>
          </a:p>
        </p:txBody>
      </p:sp>
      <p:sp>
        <p:nvSpPr>
          <p:cNvPr id="43" name="TextBox 42"/>
          <p:cNvSpPr txBox="1"/>
          <p:nvPr/>
        </p:nvSpPr>
        <p:spPr>
          <a:xfrm>
            <a:off x="5215128"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11.25 red counters</a:t>
            </a:r>
          </a:p>
        </p:txBody>
      </p:sp>
      <p:sp>
        <p:nvSpPr>
          <p:cNvPr id="44" name="Rectangle 43"/>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 and B share 56 counters in ratio 3:5. How many more does B get than A?</a:t>
            </a:r>
          </a:p>
        </p:txBody>
      </p:sp>
      <p:sp>
        <p:nvSpPr>
          <p:cNvPr id="46" name="TextBox 45"/>
          <p:cNvSpPr txBox="1"/>
          <p:nvPr/>
        </p:nvSpPr>
        <p:spPr>
          <a:xfrm>
            <a:off x="5215128"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+ 5 = 8 parts</a:t>
            </a:r>
          </a:p>
        </p:txBody>
      </p:sp>
      <p:sp>
        <p:nvSpPr>
          <p:cNvPr id="47" name="TextBox 46"/>
          <p:cNvSpPr txBox="1"/>
          <p:nvPr/>
        </p:nvSpPr>
        <p:spPr>
          <a:xfrm>
            <a:off x="5215128"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56 ÷ 8 = 7</a:t>
            </a:r>
          </a:p>
        </p:txBody>
      </p:sp>
      <p:sp>
        <p:nvSpPr>
          <p:cNvPr id="48" name="TextBox 47"/>
          <p:cNvSpPr txBox="1"/>
          <p:nvPr/>
        </p:nvSpPr>
        <p:spPr>
          <a:xfrm>
            <a:off x="5215128" y="7150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3 × 7 = 21</a:t>
            </a:r>
          </a:p>
        </p:txBody>
      </p:sp>
      <p:sp>
        <p:nvSpPr>
          <p:cNvPr id="49" name="TextBox 48"/>
          <p:cNvSpPr txBox="1"/>
          <p:nvPr/>
        </p:nvSpPr>
        <p:spPr>
          <a:xfrm>
            <a:off x="7354824"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5 × 7 = 35</a:t>
            </a:r>
          </a:p>
        </p:txBody>
      </p:sp>
      <p:sp>
        <p:nvSpPr>
          <p:cNvPr id="50" name="TextBox 49"/>
          <p:cNvSpPr txBox="1"/>
          <p:nvPr/>
        </p:nvSpPr>
        <p:spPr>
          <a:xfrm>
            <a:off x="7354824"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21 + 35 = 56</a:t>
            </a:r>
          </a:p>
        </p:txBody>
      </p:sp>
      <p:sp>
        <p:nvSpPr>
          <p:cNvPr id="51" name="TextBox 50"/>
          <p:cNvSpPr txBox="1"/>
          <p:nvPr/>
        </p:nvSpPr>
        <p:spPr>
          <a:xfrm>
            <a:off x="5215128"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gets 56 more counters</a:t>
            </a:r>
          </a:p>
        </p:txBody>
      </p:sp>
      <p:sp>
        <p:nvSpPr>
          <p:cNvPr id="52" name="Rectangle 5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54" name="Rectangle 5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 group has 65 people. Adults:children = 5:8. How many more children than adults?</a:t>
            </a:r>
          </a:p>
        </p:txBody>
      </p:sp>
      <p:sp>
        <p:nvSpPr>
          <p:cNvPr id="56" name="TextBox 55"/>
          <p:cNvSpPr txBox="1"/>
          <p:nvPr/>
        </p:nvSpPr>
        <p:spPr>
          <a:xfrm>
            <a:off x="983589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 + 8 = 13 parts</a:t>
            </a:r>
          </a:p>
        </p:txBody>
      </p:sp>
      <p:sp>
        <p:nvSpPr>
          <p:cNvPr id="57" name="TextBox 56"/>
          <p:cNvSpPr txBox="1"/>
          <p:nvPr/>
        </p:nvSpPr>
        <p:spPr>
          <a:xfrm>
            <a:off x="983589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65 ÷ 13 = 5</a:t>
            </a:r>
          </a:p>
        </p:txBody>
      </p:sp>
      <p:sp>
        <p:nvSpPr>
          <p:cNvPr id="58" name="TextBox 57"/>
          <p:cNvSpPr txBox="1"/>
          <p:nvPr/>
        </p:nvSpPr>
        <p:spPr>
          <a:xfrm>
            <a:off x="9835896" y="3145536"/>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Adults = 5 × 5 = 25</a:t>
            </a:r>
          </a:p>
        </p:txBody>
      </p:sp>
      <p:sp>
        <p:nvSpPr>
          <p:cNvPr id="59" name="TextBox 58"/>
          <p:cNvSpPr txBox="1"/>
          <p:nvPr/>
        </p:nvSpPr>
        <p:spPr>
          <a:xfrm>
            <a:off x="11975592"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5 = 40</a:t>
            </a:r>
          </a:p>
        </p:txBody>
      </p:sp>
      <p:sp>
        <p:nvSpPr>
          <p:cNvPr id="60" name="TextBox 59"/>
          <p:cNvSpPr txBox="1"/>
          <p:nvPr/>
        </p:nvSpPr>
        <p:spPr>
          <a:xfrm>
            <a:off x="11975592"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8 − 5 = 3</a:t>
            </a:r>
          </a:p>
        </p:txBody>
      </p:sp>
      <p:sp>
        <p:nvSpPr>
          <p:cNvPr id="61" name="TextBox 60"/>
          <p:cNvSpPr txBox="1"/>
          <p:nvPr/>
        </p:nvSpPr>
        <p:spPr>
          <a:xfrm>
            <a:off x="9835896"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3 more children</a:t>
            </a:r>
          </a:p>
        </p:txBody>
      </p:sp>
      <p:sp>
        <p:nvSpPr>
          <p:cNvPr id="62" name="Rectangle 6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9717024"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Two ribbon lengths are in ratio 3:8 and differ by 35 cm. Find their total length.</a:t>
            </a:r>
          </a:p>
        </p:txBody>
      </p:sp>
      <p:sp>
        <p:nvSpPr>
          <p:cNvPr id="64" name="TextBox 63"/>
          <p:cNvSpPr txBox="1"/>
          <p:nvPr/>
        </p:nvSpPr>
        <p:spPr>
          <a:xfrm>
            <a:off x="983589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8 − 3 = 5 parts</a:t>
            </a:r>
          </a:p>
        </p:txBody>
      </p:sp>
      <p:sp>
        <p:nvSpPr>
          <p:cNvPr id="65" name="TextBox 64"/>
          <p:cNvSpPr txBox="1"/>
          <p:nvPr/>
        </p:nvSpPr>
        <p:spPr>
          <a:xfrm>
            <a:off x="983589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5 = 7</a:t>
            </a:r>
          </a:p>
        </p:txBody>
      </p:sp>
      <p:sp>
        <p:nvSpPr>
          <p:cNvPr id="66" name="TextBox 65"/>
          <p:cNvSpPr txBox="1"/>
          <p:nvPr/>
        </p:nvSpPr>
        <p:spPr>
          <a:xfrm>
            <a:off x="9835896" y="5148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Short = 3 × 7 = 21</a:t>
            </a:r>
          </a:p>
        </p:txBody>
      </p:sp>
      <p:sp>
        <p:nvSpPr>
          <p:cNvPr id="67" name="TextBox 66"/>
          <p:cNvSpPr txBox="1"/>
          <p:nvPr/>
        </p:nvSpPr>
        <p:spPr>
          <a:xfrm>
            <a:off x="11975592"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Long = 8 × 7 = 56</a:t>
            </a:r>
          </a:p>
        </p:txBody>
      </p:sp>
      <p:sp>
        <p:nvSpPr>
          <p:cNvPr id="68" name="TextBox 67"/>
          <p:cNvSpPr txBox="1"/>
          <p:nvPr/>
        </p:nvSpPr>
        <p:spPr>
          <a:xfrm>
            <a:off x="11975592"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56 − 21 = 35</a:t>
            </a:r>
          </a:p>
        </p:txBody>
      </p:sp>
      <p:sp>
        <p:nvSpPr>
          <p:cNvPr id="69" name="TextBox 68"/>
          <p:cNvSpPr txBox="1"/>
          <p:nvPr/>
        </p:nvSpPr>
        <p:spPr>
          <a:xfrm>
            <a:off x="9835896"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length = 35 cm</a:t>
            </a:r>
          </a:p>
        </p:txBody>
      </p:sp>
      <p:sp>
        <p:nvSpPr>
          <p:cNvPr id="70" name="Rectangle 69"/>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9717024"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 and B have tokens in ratio 7:4. A has 42. How many tokens in total?</a:t>
            </a:r>
          </a:p>
        </p:txBody>
      </p:sp>
      <p:sp>
        <p:nvSpPr>
          <p:cNvPr id="72" name="TextBox 71"/>
          <p:cNvSpPr txBox="1"/>
          <p:nvPr/>
        </p:nvSpPr>
        <p:spPr>
          <a:xfrm>
            <a:off x="983589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7 = 6</a:t>
            </a:r>
          </a:p>
        </p:txBody>
      </p:sp>
      <p:sp>
        <p:nvSpPr>
          <p:cNvPr id="73" name="TextBox 72"/>
          <p:cNvSpPr txBox="1"/>
          <p:nvPr/>
        </p:nvSpPr>
        <p:spPr>
          <a:xfrm>
            <a:off x="983589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4 × 6 = 24</a:t>
            </a:r>
          </a:p>
        </p:txBody>
      </p:sp>
      <p:sp>
        <p:nvSpPr>
          <p:cNvPr id="74" name="TextBox 73"/>
          <p:cNvSpPr txBox="1"/>
          <p:nvPr/>
        </p:nvSpPr>
        <p:spPr>
          <a:xfrm>
            <a:off x="11975592"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+ 4 = 46</a:t>
            </a:r>
          </a:p>
        </p:txBody>
      </p:sp>
      <p:sp>
        <p:nvSpPr>
          <p:cNvPr id="75" name="TextBox 74"/>
          <p:cNvSpPr txBox="1"/>
          <p:nvPr/>
        </p:nvSpPr>
        <p:spPr>
          <a:xfrm>
            <a:off x="9835896"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 46 tokens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£60 in the ratio 2:3. How much does Jo receive?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3:2. A recipe uses 180 g of flour. What is the total mass of the mixture?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ropes have lengths in the ratio 1:3. The longer rope is 12 m longer than the shorter. Find their total length.</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drink contains 600 ml of juice and water in the ratio 1:4. How much juice is in the drink?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5:3. There are 16 more adult tickets. How many child tickets are sold?</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counters are in the ratio 1:5. There are 24 fewer red than blue. Find the number of each colour.</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96 cm ribbon is cut into two pieces in the ratio 5:7. Find the length of each piece.</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have lengths in the ratio 4:7. Rope B is 15 m longer than rope A. How long is rope A?</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Ava and Leo share £100 in the ratio 7:3. How much more does Ava receive than Leo?</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beads are in the ratio 3:5. There are 12 more blue beads than red beads. How many blue beads are there?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Mia and Ben receive money in the ratio 2:5. Mia receives £18. How much do they receive altogether?</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have masses in the ratio 5:4. There is 300 g of sugar. Find the total mass.</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5:2. There is 150 g more flour than sugar. How much flour is there?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Juice and water are mixed in the ratio 2:7. There are 63 litres of water. How much juice is needed?</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1,400 ml drink has water and juice in the ratio 6:1. Find the volume of each ingredient.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2:1. Practice lasts 36 minutes. How long is the rest?</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Travel and sightseeing take 55 minutes in total, in the ratio 3:8. How long is spent sightseeing?</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6:5. Practice lasts 54 minutes. Find the total session time.</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snack mix contains raisins and nuts in the ratio 1:7. Find the mass of raisins.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walk has uphill and level sections in the length ratio 1:8. The uphill section is 3 km. Find the total distance.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butter have masses in the ratio 9:2. There is 280 g less butter than flour. Find the total mass.</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Fences A and B have lengths in the ratio 7:6. Fence A is 9 m longer than fence B. How long is fence B?</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490 ml paint mix contains red and white paint in the ratio 3:4. Find the volume of red paint.</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Tanks A and B hold water in the ratio 3:8. Tank A holds 15 litres. How much more water is in B than A?</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45-minute lesson has instruction and practice in the ratio 1:2. How long is spent practising?</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Eve and Max share money in the ratio 8:5. Eve gets £21 more than Max. How much does Max get?</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Reading and writing take 78 minutes in total, in the ratio 4:9. Find both times.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Kim and Ali receive money in the ratio 7:5. Kim gets £56. How much does Ali receive?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5:1. Studying takes 48 minutes longer than breaks. How long are the breaks?</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pieces of wood have lengths in the ratio 5:9. The longer is 28 cm longer. Find the longer length.</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white flowers are in the ratio 4:5. There are 7 more white than red. How many are white?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300 g mix contains raisins and oats in the ratio 7:8. Find the mass of raisins.</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Nia and Tom share £208 in the ratio 7:9. How much more does Tom get than Nia?</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mixed in the ratio 1:3. There is 180 ml of white paint. Find the total volume.</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sheep and goats in the ratio 9:1. There are 72 sheep. How many animals are there altogether?</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9:8. There are 81 adult tickets. Find the total number of tickets.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club has 80 junior and senior members in the ratio 7:3. How many members are seniors?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8:1. Study takes 64 minutes. Find the total time.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sessions have durations in the ratio 1:10. The second lasts 72 minutes longer. Find the first session’s duration.</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coffee are mixed in the ratio 4:1. There is 100 ml of coffee. Find the volume of milk.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Rods A and B have lengths in the ratio 5:8. Rod B is 21 mm longer than rod A. How long is rod B?</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Kai and May receive money in the ratio 9:5. May gets £60. Find their combined amount.</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Dan and Pat share money in the ratio 1:6. Pat gets £70 more than Dan. How much does Dan get?</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recipe uses flour and butter in the ratio 4:3 by mass. There are 90 g of butter. Find the total mass.</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143 sheep and goats in the ratio 10:3. How many more sheep are there than goats?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Action and dialogue times are in the ratio 5:6. Dialogue lasts 15 minutes longer. How long is the dialogue?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Green and yellow beads are in the ratio 7:8. There are 3 more yellow than green. How many are yellow?</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water have volumes in the ratio 10:7. There is 500 ml of milk. How much less water is there than milk?</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800 g fruit mix contains apples and pears in the ratio 7:1. Find the mass of pears.</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£90 in the ratio 9:1. How much does Jo receive?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paths have lengths in the ratio 4:9. The longer is 35 m longer. Find their combined length.</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Wire pieces A and B have lengths in the ratio 7:6. A is 84 cm long. Find the length of B.</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Concentrate and water are mixed in the ratio 2:9. There is 675 ml of water. Find the total volume.</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950 g mix contains oats and raisins in the ratio 10:9. Find the mass of each ingredient.</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30-minute trip has walking and cycling times in the ratio 1:2. Find the cycling time.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charities receive money in the ratio 7:9. The second gets £108. How much is donated altogether?</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tanks hold water in the ratio 1:11. The second holds 90 litres more. How much water is in the first?</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buckets contain 20 litres of water in total, in the ratio 1:3. Find the amount in each bucket.</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tray has 102 red and yellow plants in the ratio 8:9. How many plants are yellow?</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Nuts and raisins are mixed in the ratio 11:7 by mass. There are 210 g of raisins. Find the total mass.</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Ribbons A and B have lengths in the ratio 2:3. B is 12 cm longer than A. How long is ribbon B?</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Mixing and baking times are in the ratio 1:5. Baking takes 25 minutes. How long does mixing take?</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ribbons have a total length of 285 cm, in the ratio 8:11. Find the difference in their lengths.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Noor and Will receive money in the ratio 7:4. Will gets £48. Find Noor’s share.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sacks have masses in the ratio 7:3. The heavier weighs 16 kg more. How much does the lighter weigh?</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11:2. There are 143 adult tickets. How many more adult tickets are sold?</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Dark and milk chocolates are in the ratio 1:4. There are 36 more milk than dark. How many are milk?</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in the ratio 2:5. There are 9 litres more white than blue. How much is blue?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Leah and Omar receive money in the ratio 3:11. Leah gets £64 less than Omar. How much does Omar get?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bread mix has white and brown flour in the ratio 4:3. Find the mass of brown flour.</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total 56 m, with lengths in the ratio 5:3. Find the length of B.</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Work and breaks take 90 minutes in total, in the ratio 7:2. How much longer is spent working than on breaks?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