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8"/>
    <p:sldId id="272" r:id="rId7"/>
    <p:sldId id="273" r:id="rId6"/>
    <p:sldId id="274" r:id="rId5"/>
    <p:sldId id="275" r:id="rId4"/>
    <p:sldId id="276" r:id="rId3"/>
    <p:sldId id="277" r:id="rId2"/>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Lst>
  <p:sldSz cx="146304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DF5D94-B901-6206-A612-082DFF76D998}" v="4" dt="2026-09-24T15:48:54.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2.xml"/><Relationship Id="rId3" Type="http://schemas.openxmlformats.org/officeDocument/2006/relationships/slide" Target="slides/slide21.xml"/><Relationship Id="rId4" Type="http://schemas.openxmlformats.org/officeDocument/2006/relationships/slide" Target="slides/slide20.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Hudson" userId="41092641-dab8-42af-8751-810f10f62201" providerId="ADAL" clId="{2D5970AC-48F5-4BA0-8370-EBD52AA4EFA8}"/>
    <pc:docChg chg="modSld">
      <pc:chgData name="Joe Hudson" userId="41092641-dab8-42af-8751-810f10f62201" providerId="ADAL" clId="{2D5970AC-48F5-4BA0-8370-EBD52AA4EFA8}" dt="2026-09-24T12:16:27.943" v="25" actId="20577"/>
      <pc:docMkLst>
        <pc:docMk/>
      </pc:docMkLst>
      <pc:sldChg chg="modSp mod">
        <pc:chgData name="Joe Hudson" userId="41092641-dab8-42af-8751-810f10f62201" providerId="ADAL" clId="{2D5970AC-48F5-4BA0-8370-EBD52AA4EFA8}" dt="2026-09-24T12:16:27.943" v="25" actId="20577"/>
        <pc:sldMkLst>
          <pc:docMk/>
          <pc:sldMk cId="0" sldId="257"/>
        </pc:sldMkLst>
        <pc:spChg chg="mod">
          <ac:chgData name="Joe Hudson" userId="41092641-dab8-42af-8751-810f10f62201" providerId="ADAL" clId="{2D5970AC-48F5-4BA0-8370-EBD52AA4EFA8}" dt="2026-09-24T12:16:27.943" v="25" actId="20577"/>
          <ac:spMkLst>
            <pc:docMk/>
            <pc:sldMk cId="0" sldId="257"/>
            <ac:spMk id="36" creationId="{00000000-0000-0000-0000-000000000000}"/>
          </ac:spMkLst>
        </pc:spChg>
      </pc:sldChg>
      <pc:sldChg chg="modSp mod">
        <pc:chgData name="Joe Hudson" userId="41092641-dab8-42af-8751-810f10f62201" providerId="ADAL" clId="{2D5970AC-48F5-4BA0-8370-EBD52AA4EFA8}" dt="2026-09-24T12:16:16.865" v="12" actId="20577"/>
        <pc:sldMkLst>
          <pc:docMk/>
          <pc:sldMk cId="0" sldId="258"/>
        </pc:sldMkLst>
        <pc:spChg chg="mod">
          <ac:chgData name="Joe Hudson" userId="41092641-dab8-42af-8751-810f10f62201" providerId="ADAL" clId="{2D5970AC-48F5-4BA0-8370-EBD52AA4EFA8}" dt="2026-09-24T12:16:16.865" v="12" actId="20577"/>
          <ac:spMkLst>
            <pc:docMk/>
            <pc:sldMk cId="0" sldId="258"/>
            <ac:spMk id="36" creationId="{00000000-0000-0000-0000-000000000000}"/>
          </ac:spMkLst>
        </pc:spChg>
      </pc:sldChg>
    </pc:docChg>
  </pc:docChgLst>
  <pc:docChgLst>
    <pc:chgData name="Joe Hudson" userId="S::joe.hudson@shcg.ac.uk::41092641-dab8-42af-8751-810f10f62201" providerId="AD" clId="Web-{2CDF5D94-B901-6206-A612-082DFF76D998}"/>
    <pc:docChg chg="modSld">
      <pc:chgData name="Joe Hudson" userId="S::joe.hudson@shcg.ac.uk::41092641-dab8-42af-8751-810f10f62201" providerId="AD" clId="Web-{2CDF5D94-B901-6206-A612-082DFF76D998}" dt="2026-09-24T15:48:54.034" v="1" actId="20577"/>
      <pc:docMkLst>
        <pc:docMk/>
      </pc:docMkLst>
      <pc:sldChg chg="modSp">
        <pc:chgData name="Joe Hudson" userId="S::joe.hudson@shcg.ac.uk::41092641-dab8-42af-8751-810f10f62201" providerId="AD" clId="Web-{2CDF5D94-B901-6206-A612-082DFF76D998}" dt="2026-09-24T15:48:54.034" v="1" actId="20577"/>
        <pc:sldMkLst>
          <pc:docMk/>
          <pc:sldMk cId="0" sldId="276"/>
        </pc:sldMkLst>
        <pc:spChg chg="mod">
          <ac:chgData name="Joe Hudson" userId="S::joe.hudson@shcg.ac.uk::41092641-dab8-42af-8751-810f10f62201" providerId="AD" clId="Web-{2CDF5D94-B901-6206-A612-082DFF76D998}" dt="2026-09-24T15:48:54.034" v="1" actId="20577"/>
          <ac:spMkLst>
            <pc:docMk/>
            <pc:sldMk cId="0" sldId="276"/>
            <ac:spMk id="3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8366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worked demo</a:t>
            </a:r>
          </a:p>
          <a:p>
            <a:endParaRPr/>
          </a:p>
          <a:p>
            <a:r>
              <a:t>Guided: 43 × 6 = 258. Core: 34 × 12 = 408. Depth: 4,312 × 156 = 672,672.</a:t>
            </a:r>
          </a:p>
          <a:p>
            <a:endParaRPr/>
          </a:p>
          <a:p>
            <a:r>
              <a:t>The completed lattice diagrams are editable grouped PowerPoint shapes. Diagonals run from bottom left to top right. Place tens above each diagonal and units below it. Put answer digits at the ends of their diagonal tracks, down the left edge and along the bottom. Place carries at the bottom end of the NEXT diagonal in smaller text. Depth diagonal totals from right to left, including carries: 2, 7, 16, 12, 7, 6, 0. The last 1 in the fourth and fifth sums is a carry. Read the result in reverse order and omit the leading zero: 672672.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1</a:t>
            </a:r>
          </a:p>
          <a:p>
            <a:endParaRPr/>
          </a:p>
          <a:p>
            <a:r>
              <a:t>Thread 1: Guided: 53 × 7 = **371**</a:t>
            </a:r>
          </a:p>
          <a:p>
            <a:endParaRPr/>
          </a:p>
          <a:p>
            <a:r>
              <a:t>Thread 2: Core: 24 × 15 = **360**</a:t>
            </a:r>
          </a:p>
          <a:p>
            <a:endParaRPr/>
          </a:p>
          <a:p>
            <a:r>
              <a:t>Thread 3: Depth: 1,245 × 326 = **405,870**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step-by-step practice 2</a:t>
            </a:r>
          </a:p>
          <a:p>
            <a:endParaRPr/>
          </a:p>
          <a:p>
            <a:r>
              <a:t>Thread 1: Guided: 84 × 5 = **420**</a:t>
            </a:r>
          </a:p>
          <a:p>
            <a:endParaRPr/>
          </a:p>
          <a:p>
            <a:r>
              <a:t>Thread 2: Core: 63 × 28 = **1,764**</a:t>
            </a:r>
          </a:p>
          <a:p>
            <a:endParaRPr/>
          </a:p>
          <a:p>
            <a:r>
              <a:t>Thread 3: Depth: 3,142 × 2045 = **6,425,390**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1</a:t>
            </a:r>
          </a:p>
          <a:p>
            <a:endParaRPr/>
          </a:p>
          <a:p>
            <a:r>
              <a:t>### Thread 1: Guided</a:t>
            </a:r>
          </a:p>
          <a:p>
            <a:endParaRPr/>
          </a:p>
          <a:p>
            <a:r>
              <a:t>1. 32 × 4 = **128**</a:t>
            </a:r>
          </a:p>
          <a:p>
            <a:endParaRPr/>
          </a:p>
          <a:p>
            <a:r>
              <a:t>2. 61 × 8 = **488**</a:t>
            </a:r>
          </a:p>
          <a:p>
            <a:endParaRPr/>
          </a:p>
          <a:p>
            <a:r>
              <a:t>3. 45 × 3 = **135**</a:t>
            </a:r>
          </a:p>
          <a:p>
            <a:endParaRPr/>
          </a:p>
          <a:p>
            <a:r>
              <a:t>4. 72 × 6 = **432**</a:t>
            </a:r>
          </a:p>
          <a:p>
            <a:endParaRPr/>
          </a:p>
          <a:p>
            <a:r>
              <a:t>5. 83 × 7 = **581**</a:t>
            </a:r>
          </a:p>
          <a:p>
            <a:endParaRPr/>
          </a:p>
          <a:p>
            <a:r>
              <a:t>6. 95 × 9 = **855**</a:t>
            </a:r>
          </a:p>
          <a:p>
            <a:endParaRPr/>
          </a:p>
          <a:p>
            <a:r>
              <a:t>### Thread 2: Core</a:t>
            </a:r>
          </a:p>
          <a:p>
            <a:endParaRPr/>
          </a:p>
          <a:p>
            <a:r>
              <a:t>1. 42 × 13 = **546**</a:t>
            </a:r>
          </a:p>
          <a:p>
            <a:endParaRPr/>
          </a:p>
          <a:p>
            <a:r>
              <a:t>2. 26 × 34 = **884**</a:t>
            </a:r>
          </a:p>
          <a:p>
            <a:endParaRPr/>
          </a:p>
          <a:p>
            <a:r>
              <a:t>3. 51 × 22 = **1,122**</a:t>
            </a:r>
          </a:p>
          <a:p>
            <a:endParaRPr/>
          </a:p>
          <a:p>
            <a:r>
              <a:t>4. 63 × 41 = **2,583**</a:t>
            </a:r>
          </a:p>
          <a:p>
            <a:endParaRPr/>
          </a:p>
          <a:p>
            <a:r>
              <a:t>5. 75 × 16 = **1,200**</a:t>
            </a:r>
          </a:p>
          <a:p>
            <a:endParaRPr/>
          </a:p>
          <a:p>
            <a:r>
              <a:t>6. 82 × 57 = **4,674**</a:t>
            </a:r>
          </a:p>
          <a:p>
            <a:endParaRPr/>
          </a:p>
          <a:p>
            <a:r>
              <a:t>### Thread 3: Depth</a:t>
            </a:r>
          </a:p>
          <a:p>
            <a:endParaRPr/>
          </a:p>
          <a:p>
            <a:r>
              <a:t>1. 342 × 15 = **5,130**</a:t>
            </a:r>
          </a:p>
          <a:p>
            <a:endParaRPr/>
          </a:p>
          <a:p>
            <a:r>
              <a:t>2. 612 × 24 = **14,688**</a:t>
            </a:r>
          </a:p>
          <a:p>
            <a:endParaRPr/>
          </a:p>
          <a:p>
            <a:r>
              <a:t>3. 1,234 × 125 = **154,250**</a:t>
            </a:r>
          </a:p>
          <a:p>
            <a:endParaRPr/>
          </a:p>
          <a:p>
            <a:r>
              <a:t>4. 2,105 × 304 = **639,920**</a:t>
            </a:r>
          </a:p>
          <a:p>
            <a:endParaRPr/>
          </a:p>
          <a:p>
            <a:r>
              <a:t>5. 4,316 × 1,024 = **4,419,584**</a:t>
            </a:r>
          </a:p>
          <a:p>
            <a:endParaRPr/>
          </a:p>
          <a:p>
            <a:r>
              <a:t>6. 7,029 × 2,316 = **16,279,164**</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2</a:t>
            </a:r>
          </a:p>
          <a:p>
            <a:endParaRPr/>
          </a:p>
          <a:p>
            <a:r>
              <a:t>### Thread 1: Guided</a:t>
            </a:r>
          </a:p>
          <a:p>
            <a:endParaRPr/>
          </a:p>
          <a:p>
            <a:r>
              <a:t>1. 24 × 6 = **144**</a:t>
            </a:r>
          </a:p>
          <a:p>
            <a:endParaRPr/>
          </a:p>
          <a:p>
            <a:r>
              <a:t>2. 57 × 4 = **228**</a:t>
            </a:r>
          </a:p>
          <a:p>
            <a:endParaRPr/>
          </a:p>
          <a:p>
            <a:r>
              <a:t>3. 68 × 3 = **204**</a:t>
            </a:r>
          </a:p>
          <a:p>
            <a:endParaRPr/>
          </a:p>
          <a:p>
            <a:r>
              <a:t>4. 39 × 7 = **273**</a:t>
            </a:r>
          </a:p>
          <a:p>
            <a:endParaRPr/>
          </a:p>
          <a:p>
            <a:r>
              <a:t>5. 86 × 5 = **430**</a:t>
            </a:r>
          </a:p>
          <a:p>
            <a:endParaRPr/>
          </a:p>
          <a:p>
            <a:r>
              <a:t>6. 74 × 8 = **592**</a:t>
            </a:r>
          </a:p>
          <a:p>
            <a:endParaRPr/>
          </a:p>
          <a:p>
            <a:r>
              <a:t>### Thread 2: Core</a:t>
            </a:r>
          </a:p>
          <a:p>
            <a:endParaRPr/>
          </a:p>
          <a:p>
            <a:r>
              <a:t>1. 23 × 14 = **322**</a:t>
            </a:r>
          </a:p>
          <a:p>
            <a:endParaRPr/>
          </a:p>
          <a:p>
            <a:r>
              <a:t>2. 46 × 25 = **1,150**</a:t>
            </a:r>
          </a:p>
          <a:p>
            <a:endParaRPr/>
          </a:p>
          <a:p>
            <a:r>
              <a:t>3. 37 × 42 = **1,554**</a:t>
            </a:r>
          </a:p>
          <a:p>
            <a:endParaRPr/>
          </a:p>
          <a:p>
            <a:r>
              <a:t>4. 58 × 36 = **2,088**</a:t>
            </a:r>
          </a:p>
          <a:p>
            <a:endParaRPr/>
          </a:p>
          <a:p>
            <a:r>
              <a:t>5. 64 × 27 = **1,728**</a:t>
            </a:r>
          </a:p>
          <a:p>
            <a:endParaRPr/>
          </a:p>
          <a:p>
            <a:r>
              <a:t>6. 79 × 53 = **4,187**</a:t>
            </a:r>
          </a:p>
          <a:p>
            <a:endParaRPr/>
          </a:p>
          <a:p>
            <a:r>
              <a:t>### Thread 3: Depth</a:t>
            </a:r>
          </a:p>
          <a:p>
            <a:endParaRPr/>
          </a:p>
          <a:p>
            <a:r>
              <a:t>1. 425 × 23 = **9,775**</a:t>
            </a:r>
          </a:p>
          <a:p>
            <a:endParaRPr/>
          </a:p>
          <a:p>
            <a:r>
              <a:t>2. 708 × 46 = **32,568**</a:t>
            </a:r>
          </a:p>
          <a:p>
            <a:endParaRPr/>
          </a:p>
          <a:p>
            <a:r>
              <a:t>3. 1,326 × 243 = **322,218**</a:t>
            </a:r>
          </a:p>
          <a:p>
            <a:endParaRPr/>
          </a:p>
          <a:p>
            <a:r>
              <a:t>4. 3,048 × 512 = **1,560,576**</a:t>
            </a:r>
          </a:p>
          <a:p>
            <a:endParaRPr/>
          </a:p>
          <a:p>
            <a:r>
              <a:t>5. 5,607 × 1,204 = **6,750,828**</a:t>
            </a:r>
          </a:p>
          <a:p>
            <a:endParaRPr/>
          </a:p>
          <a:p>
            <a:r>
              <a:t>6. 8,214 × 3,067 = **25,192,338**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3</a:t>
            </a:r>
          </a:p>
          <a:p>
            <a:endParaRPr/>
          </a:p>
          <a:p>
            <a:r>
              <a:t>### Thread 1: Guided</a:t>
            </a:r>
          </a:p>
          <a:p>
            <a:endParaRPr/>
          </a:p>
          <a:p>
            <a:r>
              <a:t>1. 46 × 7 = **322**</a:t>
            </a:r>
          </a:p>
          <a:p>
            <a:endParaRPr/>
          </a:p>
          <a:p>
            <a:r>
              <a:t>2. 29 × 8 = **232**</a:t>
            </a:r>
          </a:p>
          <a:p>
            <a:endParaRPr/>
          </a:p>
          <a:p>
            <a:r>
              <a:t>3. 65 × 4 = **260**</a:t>
            </a:r>
          </a:p>
          <a:p>
            <a:endParaRPr/>
          </a:p>
          <a:p>
            <a:r>
              <a:t>4. 78 × 6 = **468**</a:t>
            </a:r>
          </a:p>
          <a:p>
            <a:endParaRPr/>
          </a:p>
          <a:p>
            <a:r>
              <a:t>5. 93 × 5 = **465**</a:t>
            </a:r>
          </a:p>
          <a:p>
            <a:endParaRPr/>
          </a:p>
          <a:p>
            <a:r>
              <a:t>6. 87 × 9 = **783**</a:t>
            </a:r>
          </a:p>
          <a:p>
            <a:endParaRPr/>
          </a:p>
          <a:p>
            <a:r>
              <a:t>### Thread 2: Core</a:t>
            </a:r>
          </a:p>
          <a:p>
            <a:endParaRPr/>
          </a:p>
          <a:p>
            <a:r>
              <a:t>1. 35 × 24 = **840**</a:t>
            </a:r>
          </a:p>
          <a:p>
            <a:endParaRPr/>
          </a:p>
          <a:p>
            <a:r>
              <a:t>2. 62 × 17 = **1,054**</a:t>
            </a:r>
          </a:p>
          <a:p>
            <a:endParaRPr/>
          </a:p>
          <a:p>
            <a:r>
              <a:t>3. 48 × 39 = **1,872**</a:t>
            </a:r>
          </a:p>
          <a:p>
            <a:endParaRPr/>
          </a:p>
          <a:p>
            <a:r>
              <a:t>4. 76 × 28 = **2,128**</a:t>
            </a:r>
          </a:p>
          <a:p>
            <a:endParaRPr/>
          </a:p>
          <a:p>
            <a:r>
              <a:t>5. 54 × 46 = **2,484**</a:t>
            </a:r>
          </a:p>
          <a:p>
            <a:endParaRPr/>
          </a:p>
          <a:p>
            <a:r>
              <a:t>6. 89 × 65 = **5,785**</a:t>
            </a:r>
          </a:p>
          <a:p>
            <a:endParaRPr/>
          </a:p>
          <a:p>
            <a:r>
              <a:t>### Thread 3: Depth</a:t>
            </a:r>
          </a:p>
          <a:p>
            <a:endParaRPr/>
          </a:p>
          <a:p>
            <a:r>
              <a:t>1. 536 × 34 = **18,224**</a:t>
            </a:r>
          </a:p>
          <a:p>
            <a:endParaRPr/>
          </a:p>
          <a:p>
            <a:r>
              <a:t>2. 809 × 27 = **21,843**</a:t>
            </a:r>
          </a:p>
          <a:p>
            <a:endParaRPr/>
          </a:p>
          <a:p>
            <a:r>
              <a:t>3. 2,047 × 368 = **753,296**</a:t>
            </a:r>
          </a:p>
          <a:p>
            <a:endParaRPr/>
          </a:p>
          <a:p>
            <a:r>
              <a:t>4. 4,158 × 427 = **1,775,466**</a:t>
            </a:r>
          </a:p>
          <a:p>
            <a:endParaRPr/>
          </a:p>
          <a:p>
            <a:r>
              <a:t>5. 6,309 × 2,058 = **12,983,922**</a:t>
            </a:r>
          </a:p>
          <a:p>
            <a:endParaRPr/>
          </a:p>
          <a:p>
            <a:r>
              <a:t>6. 9,274 × 4,163 = **38,607,662**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Lattice Multiplication — independent practice 4</a:t>
            </a:r>
          </a:p>
          <a:p>
            <a:endParaRPr/>
          </a:p>
          <a:p>
            <a:r>
              <a:t>### Thread 1: Guided</a:t>
            </a:r>
          </a:p>
          <a:p>
            <a:endParaRPr/>
          </a:p>
          <a:p>
            <a:r>
              <a:t>1. 38 × 5 = **190**</a:t>
            </a:r>
          </a:p>
          <a:p>
            <a:endParaRPr/>
          </a:p>
          <a:p>
            <a:r>
              <a:t>2. 56 × 9 = **504**</a:t>
            </a:r>
          </a:p>
          <a:p>
            <a:endParaRPr/>
          </a:p>
          <a:p>
            <a:r>
              <a:t>3. 67 × 8 = **536**</a:t>
            </a:r>
          </a:p>
          <a:p>
            <a:endParaRPr/>
          </a:p>
          <a:p>
            <a:r>
              <a:t>4. 49 × 6 = **294**</a:t>
            </a:r>
          </a:p>
          <a:p>
            <a:endParaRPr/>
          </a:p>
          <a:p>
            <a:r>
              <a:t>5. 82 × 4 = **328**</a:t>
            </a:r>
          </a:p>
          <a:p>
            <a:endParaRPr/>
          </a:p>
          <a:p>
            <a:r>
              <a:t>6. 97 × 7 = **679**</a:t>
            </a:r>
          </a:p>
          <a:p>
            <a:endParaRPr/>
          </a:p>
          <a:p>
            <a:r>
              <a:t>### Thread 2: Core</a:t>
            </a:r>
          </a:p>
          <a:p>
            <a:endParaRPr/>
          </a:p>
          <a:p>
            <a:r>
              <a:t>1. 27 × 35 = **945**</a:t>
            </a:r>
          </a:p>
          <a:p>
            <a:endParaRPr/>
          </a:p>
          <a:p>
            <a:r>
              <a:t>2. 43 × 26 = **1,118**</a:t>
            </a:r>
          </a:p>
          <a:p>
            <a:endParaRPr/>
          </a:p>
          <a:p>
            <a:r>
              <a:t>3. 69 × 48 = **3,312**</a:t>
            </a:r>
          </a:p>
          <a:p>
            <a:endParaRPr/>
          </a:p>
          <a:p>
            <a:r>
              <a:t>4. 85 × 37 = **3,145**</a:t>
            </a:r>
          </a:p>
          <a:p>
            <a:endParaRPr/>
          </a:p>
          <a:p>
            <a:r>
              <a:t>5. 74 × 59 = **4,366**</a:t>
            </a:r>
          </a:p>
          <a:p>
            <a:endParaRPr/>
          </a:p>
          <a:p>
            <a:r>
              <a:t>6. 96 × 68 = **6,528**</a:t>
            </a:r>
          </a:p>
          <a:p>
            <a:endParaRPr/>
          </a:p>
          <a:p>
            <a:r>
              <a:t>### Thread 3: Depth</a:t>
            </a:r>
          </a:p>
          <a:p>
            <a:endParaRPr/>
          </a:p>
          <a:p>
            <a:r>
              <a:t>1. 647 × 45 = **29,115**</a:t>
            </a:r>
          </a:p>
          <a:p>
            <a:endParaRPr/>
          </a:p>
          <a:p>
            <a:r>
              <a:t>2. 902 × 38 = **34,276**</a:t>
            </a:r>
          </a:p>
          <a:p>
            <a:endParaRPr/>
          </a:p>
          <a:p>
            <a:r>
              <a:t>3. 3,156 × 489 = **1,543,284**</a:t>
            </a:r>
          </a:p>
          <a:p>
            <a:endParaRPr/>
          </a:p>
          <a:p>
            <a:r>
              <a:t>4. 5,027 × 596 = **2,996,092**</a:t>
            </a:r>
          </a:p>
          <a:p>
            <a:endParaRPr/>
          </a:p>
          <a:p>
            <a:r>
              <a:t>5. 7,418 × 3,264 = **24,212,352**</a:t>
            </a:r>
          </a:p>
          <a:p>
            <a:endParaRPr/>
          </a:p>
          <a:p>
            <a:r>
              <a:t>6. 8,639 × 5,076 = **43,851,564**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worked demo</a:t>
            </a:r>
          </a:p>
          <a:p>
            <a:endParaRPr/>
          </a:p>
          <a:p>
            <a:r>
              <a:t>Guided: 21. Core: 24 r 1. Depth: 302.125.</a:t>
            </a:r>
          </a:p>
          <a:p>
            <a:endParaRPr/>
          </a:p>
          <a:p>
            <a:r>
              <a:t>The editable bus stop diagrams show each quotient digit above its matching dividend digit. Show carried remainders as small prefixes. Preserve internal zeros, but omit an unnecessary leading zero in the final answer. For Depth, keep the zero in the tens position of 302.125. Align decimal points and show each carried remainder. Use multiples of 16 to check each quotient digit: 16, 32, 48, 64, 80. Checks: 21 × 3 = 63; 24 × 6 + 1 = 145; 302.125 × 16 = 4,834.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1</a:t>
            </a:r>
          </a:p>
          <a:p>
            <a:endParaRPr/>
          </a:p>
          <a:p>
            <a:r>
              <a:t>Thread 1: Guided: 88 ÷ 4 = **22**</a:t>
            </a:r>
          </a:p>
          <a:p>
            <a:endParaRPr/>
          </a:p>
          <a:p>
            <a:r>
              <a:t>Thread 2: Core: 130 ÷ 4 = **32 r 2**</a:t>
            </a:r>
          </a:p>
          <a:p>
            <a:endParaRPr/>
          </a:p>
          <a:p>
            <a:r>
              <a:t>Thread 3: Depth: 5,122 ÷ 16 = **320.125**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step-by-step practice 2</a:t>
            </a:r>
          </a:p>
          <a:p>
            <a:endParaRPr/>
          </a:p>
          <a:p>
            <a:r>
              <a:t>Thread 1: Guided: 66 ÷ 3 = **22**</a:t>
            </a:r>
          </a:p>
          <a:p>
            <a:endParaRPr/>
          </a:p>
          <a:p>
            <a:r>
              <a:t>Thread 2: Core: 227 ÷ 6 = **37 r 5**</a:t>
            </a:r>
          </a:p>
          <a:p>
            <a:endParaRPr/>
          </a:p>
          <a:p>
            <a:r>
              <a:t>Thread 3: Depth: 3,827 ÷ 25 = **153.08**</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1</a:t>
            </a:r>
          </a:p>
          <a:p>
            <a:endParaRPr/>
          </a:p>
          <a:p>
            <a:r>
              <a:t>### Thread 1: Guided</a:t>
            </a:r>
          </a:p>
          <a:p>
            <a:endParaRPr/>
          </a:p>
          <a:p>
            <a:r>
              <a:t>1. 48 ÷ 4 = **12**</a:t>
            </a:r>
          </a:p>
          <a:p>
            <a:endParaRPr/>
          </a:p>
          <a:p>
            <a:r>
              <a:t>2. 69 ÷ 3 = **23**</a:t>
            </a:r>
          </a:p>
          <a:p>
            <a:endParaRPr/>
          </a:p>
          <a:p>
            <a:r>
              <a:t>3. 84 ÷ 2 = **42**</a:t>
            </a:r>
          </a:p>
          <a:p>
            <a:endParaRPr/>
          </a:p>
          <a:p>
            <a:r>
              <a:t>4. 96 ÷ 3 = **32**</a:t>
            </a:r>
          </a:p>
          <a:p>
            <a:endParaRPr/>
          </a:p>
          <a:p>
            <a:r>
              <a:t>5. 55 ÷ 5 = **11**</a:t>
            </a:r>
          </a:p>
          <a:p>
            <a:endParaRPr/>
          </a:p>
          <a:p>
            <a:r>
              <a:t>6. 88 ÷ 8 = **11**</a:t>
            </a:r>
          </a:p>
          <a:p>
            <a:endParaRPr/>
          </a:p>
          <a:p>
            <a:r>
              <a:t>### Thread 2: Core</a:t>
            </a:r>
          </a:p>
          <a:p>
            <a:endParaRPr/>
          </a:p>
          <a:p>
            <a:r>
              <a:t>1. 72 ÷ 3 = **24**</a:t>
            </a:r>
          </a:p>
          <a:p>
            <a:endParaRPr/>
          </a:p>
          <a:p>
            <a:r>
              <a:t>2. 135 ÷ 5 = **27**</a:t>
            </a:r>
          </a:p>
          <a:p>
            <a:endParaRPr/>
          </a:p>
          <a:p>
            <a:r>
              <a:t>3. 172 ÷ 4 = **43**</a:t>
            </a:r>
          </a:p>
          <a:p>
            <a:endParaRPr/>
          </a:p>
          <a:p>
            <a:r>
              <a:t>4. 218 ÷ 6 = **36 r 2**</a:t>
            </a:r>
          </a:p>
          <a:p>
            <a:endParaRPr/>
          </a:p>
          <a:p>
            <a:r>
              <a:t>5. 341 ÷ 7 = **48 r 5**</a:t>
            </a:r>
          </a:p>
          <a:p>
            <a:endParaRPr/>
          </a:p>
          <a:p>
            <a:r>
              <a:t>6. 502 ÷ 8 = **62 r 6**</a:t>
            </a:r>
          </a:p>
          <a:p>
            <a:endParaRPr/>
          </a:p>
          <a:p>
            <a:r>
              <a:t>### Thread 3: Depth</a:t>
            </a:r>
          </a:p>
          <a:p>
            <a:endParaRPr/>
          </a:p>
          <a:p>
            <a:r>
              <a:t>1. 514 ÷ 4 = **128.5**</a:t>
            </a:r>
          </a:p>
          <a:p>
            <a:endParaRPr/>
          </a:p>
          <a:p>
            <a:r>
              <a:t>2. 785 ÷ 2 = **392.5**</a:t>
            </a:r>
          </a:p>
          <a:p>
            <a:endParaRPr/>
          </a:p>
          <a:p>
            <a:r>
              <a:t>3. 1,428 ÷ 12 = **119**</a:t>
            </a:r>
          </a:p>
          <a:p>
            <a:endParaRPr/>
          </a:p>
          <a:p>
            <a:r>
              <a:t>4. 3,816 ÷ 24 = **159**</a:t>
            </a:r>
          </a:p>
          <a:p>
            <a:endParaRPr/>
          </a:p>
          <a:p>
            <a:r>
              <a:t>5. 4,516 ÷ 16 = **282.25**</a:t>
            </a:r>
          </a:p>
          <a:p>
            <a:endParaRPr/>
          </a:p>
          <a:p>
            <a:r>
              <a:t>6. 8,143 ÷ 25 = **325.72**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2</a:t>
            </a:r>
          </a:p>
          <a:p>
            <a:endParaRPr/>
          </a:p>
          <a:p>
            <a:r>
              <a:t>### Thread 1: Guided</a:t>
            </a:r>
          </a:p>
          <a:p>
            <a:endParaRPr/>
          </a:p>
          <a:p>
            <a:r>
              <a:t>1. 46 ÷ 2 = **23**</a:t>
            </a:r>
          </a:p>
          <a:p>
            <a:endParaRPr/>
          </a:p>
          <a:p>
            <a:r>
              <a:t>2. 93 ÷ 3 = **31**</a:t>
            </a:r>
          </a:p>
          <a:p>
            <a:endParaRPr/>
          </a:p>
          <a:p>
            <a:r>
              <a:t>3. 66 ÷ 6 = **11**</a:t>
            </a:r>
          </a:p>
          <a:p>
            <a:endParaRPr/>
          </a:p>
          <a:p>
            <a:r>
              <a:t>4. 884 ÷ 4 = **221**</a:t>
            </a:r>
          </a:p>
          <a:p>
            <a:endParaRPr/>
          </a:p>
          <a:p>
            <a:r>
              <a:t>5. 555 ÷ 5 = **111**</a:t>
            </a:r>
          </a:p>
          <a:p>
            <a:endParaRPr/>
          </a:p>
          <a:p>
            <a:r>
              <a:t>6. 639 ÷ 3 = **213**</a:t>
            </a:r>
          </a:p>
          <a:p>
            <a:endParaRPr/>
          </a:p>
          <a:p>
            <a:r>
              <a:t>### Thread 2: Core</a:t>
            </a:r>
          </a:p>
          <a:p>
            <a:endParaRPr/>
          </a:p>
          <a:p>
            <a:r>
              <a:t>1. 84 ÷ 3 = **28**</a:t>
            </a:r>
          </a:p>
          <a:p>
            <a:endParaRPr/>
          </a:p>
          <a:p>
            <a:r>
              <a:t>2. 156 ÷ 4 = **39**</a:t>
            </a:r>
          </a:p>
          <a:p>
            <a:endParaRPr/>
          </a:p>
          <a:p>
            <a:r>
              <a:t>3. 235 ÷ 6 = **39 r 1**</a:t>
            </a:r>
          </a:p>
          <a:p>
            <a:endParaRPr/>
          </a:p>
          <a:p>
            <a:r>
              <a:t>4. 326 ÷ 7 = **46 r 4**</a:t>
            </a:r>
          </a:p>
          <a:p>
            <a:endParaRPr/>
          </a:p>
          <a:p>
            <a:r>
              <a:t>5. 458 ÷ 8 = **57 r 2**</a:t>
            </a:r>
          </a:p>
          <a:p>
            <a:endParaRPr/>
          </a:p>
          <a:p>
            <a:r>
              <a:t>6. 617 ÷ 9 = **68 r 5**</a:t>
            </a:r>
          </a:p>
          <a:p>
            <a:endParaRPr/>
          </a:p>
          <a:p>
            <a:r>
              <a:t>### Thread 3: Depth</a:t>
            </a:r>
          </a:p>
          <a:p>
            <a:endParaRPr/>
          </a:p>
          <a:p>
            <a:r>
              <a:t>1. 627 ÷ 4 = **156.75**</a:t>
            </a:r>
          </a:p>
          <a:p>
            <a:endParaRPr/>
          </a:p>
          <a:p>
            <a:r>
              <a:t>2. 943 ÷ 2 = **471.5**</a:t>
            </a:r>
          </a:p>
          <a:p>
            <a:endParaRPr/>
          </a:p>
          <a:p>
            <a:r>
              <a:t>3. 2,136 ÷ 12 = **178**</a:t>
            </a:r>
          </a:p>
          <a:p>
            <a:endParaRPr/>
          </a:p>
          <a:p>
            <a:r>
              <a:t>4. 4,608 ÷ 32 = **144**</a:t>
            </a:r>
          </a:p>
          <a:p>
            <a:endParaRPr/>
          </a:p>
          <a:p>
            <a:r>
              <a:t>5. 5,729 ÷ 16 = **358.0625**</a:t>
            </a:r>
          </a:p>
          <a:p>
            <a:endParaRPr/>
          </a:p>
          <a:p>
            <a:r>
              <a:t>6. 9,031 ÷ 40 = **225.775**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3</a:t>
            </a:r>
          </a:p>
          <a:p>
            <a:endParaRPr/>
          </a:p>
          <a:p>
            <a:r>
              <a:t>### Thread 1: Guided</a:t>
            </a:r>
          </a:p>
          <a:p>
            <a:endParaRPr/>
          </a:p>
          <a:p>
            <a:r>
              <a:t>1. 82 ÷ 2 = **41**</a:t>
            </a:r>
          </a:p>
          <a:p>
            <a:endParaRPr/>
          </a:p>
          <a:p>
            <a:r>
              <a:t>2. 963 ÷ 3 = **321**</a:t>
            </a:r>
          </a:p>
          <a:p>
            <a:endParaRPr/>
          </a:p>
          <a:p>
            <a:r>
              <a:t>3. 848 ÷ 4 = **212**</a:t>
            </a:r>
          </a:p>
          <a:p>
            <a:endParaRPr/>
          </a:p>
          <a:p>
            <a:r>
              <a:t>4. 777 ÷ 7 = **111**</a:t>
            </a:r>
          </a:p>
          <a:p>
            <a:endParaRPr/>
          </a:p>
          <a:p>
            <a:r>
              <a:t>5. 888 ÷ 8 = **111**</a:t>
            </a:r>
          </a:p>
          <a:p>
            <a:endParaRPr/>
          </a:p>
          <a:p>
            <a:r>
              <a:t>6. 606 ÷ 3 = **202**</a:t>
            </a:r>
          </a:p>
          <a:p>
            <a:endParaRPr/>
          </a:p>
          <a:p>
            <a:r>
              <a:t>### Thread 2: Core</a:t>
            </a:r>
          </a:p>
          <a:p>
            <a:endParaRPr/>
          </a:p>
          <a:p>
            <a:r>
              <a:t>1. 95 ÷ 4 = **23 r 3**</a:t>
            </a:r>
          </a:p>
          <a:p>
            <a:endParaRPr/>
          </a:p>
          <a:p>
            <a:r>
              <a:t>2. 184 ÷ 5 = **36 r 4**</a:t>
            </a:r>
          </a:p>
          <a:p>
            <a:endParaRPr/>
          </a:p>
          <a:p>
            <a:r>
              <a:t>3. 267 ÷ 8 = **33 r 3**</a:t>
            </a:r>
          </a:p>
          <a:p>
            <a:endParaRPr/>
          </a:p>
          <a:p>
            <a:r>
              <a:t>4. 397 ÷ 6 = **66 r 1**</a:t>
            </a:r>
          </a:p>
          <a:p>
            <a:endParaRPr/>
          </a:p>
          <a:p>
            <a:r>
              <a:t>5. 523 ÷ 7 = **74 r 5**</a:t>
            </a:r>
          </a:p>
          <a:p>
            <a:endParaRPr/>
          </a:p>
          <a:p>
            <a:r>
              <a:t>6. 748 ÷ 9 = **83 r 1**</a:t>
            </a:r>
          </a:p>
          <a:p>
            <a:endParaRPr/>
          </a:p>
          <a:p>
            <a:r>
              <a:t>### Thread 3: Depth</a:t>
            </a:r>
          </a:p>
          <a:p>
            <a:endParaRPr/>
          </a:p>
          <a:p>
            <a:r>
              <a:t>1. 738 ÷ 4 = **184.5**</a:t>
            </a:r>
          </a:p>
          <a:p>
            <a:endParaRPr/>
          </a:p>
          <a:p>
            <a:r>
              <a:t>2. 859 ÷ 2 = **429.5**</a:t>
            </a:r>
          </a:p>
          <a:p>
            <a:endParaRPr/>
          </a:p>
          <a:p>
            <a:r>
              <a:t>3. 3,264 ÷ 24 = **136**</a:t>
            </a:r>
          </a:p>
          <a:p>
            <a:endParaRPr/>
          </a:p>
          <a:p>
            <a:r>
              <a:t>4. 5,175 ÷ 15 = **345**</a:t>
            </a:r>
          </a:p>
          <a:p>
            <a:endParaRPr/>
          </a:p>
          <a:p>
            <a:r>
              <a:t>5. 6,843 ÷ 25 = **273.72**</a:t>
            </a:r>
          </a:p>
          <a:p>
            <a:endParaRPr/>
          </a:p>
          <a:p>
            <a:r>
              <a:t>6. 7,249 ÷ 20 = **362.45**</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 Stop Division — independent practice 4</a:t>
            </a:r>
          </a:p>
          <a:p>
            <a:endParaRPr/>
          </a:p>
          <a:p>
            <a:r>
              <a:t>### Thread 1: Guided</a:t>
            </a:r>
          </a:p>
          <a:p>
            <a:endParaRPr/>
          </a:p>
          <a:p>
            <a:r>
              <a:t>1. 62 ÷ 2 = **31**</a:t>
            </a:r>
          </a:p>
          <a:p>
            <a:endParaRPr/>
          </a:p>
          <a:p>
            <a:r>
              <a:t>2. 936 ÷ 3 = **312**</a:t>
            </a:r>
          </a:p>
          <a:p>
            <a:endParaRPr/>
          </a:p>
          <a:p>
            <a:r>
              <a:t>3. 448 ÷ 4 = **112**</a:t>
            </a:r>
          </a:p>
          <a:p>
            <a:endParaRPr/>
          </a:p>
          <a:p>
            <a:r>
              <a:t>4. 505 ÷ 5 = **101**</a:t>
            </a:r>
          </a:p>
          <a:p>
            <a:endParaRPr/>
          </a:p>
          <a:p>
            <a:r>
              <a:t>5. 666 ÷ 6 = **111**</a:t>
            </a:r>
          </a:p>
          <a:p>
            <a:endParaRPr/>
          </a:p>
          <a:p>
            <a:r>
              <a:t>6. 999 ÷ 9 = **111**</a:t>
            </a:r>
          </a:p>
          <a:p>
            <a:endParaRPr/>
          </a:p>
          <a:p>
            <a:r>
              <a:t>### Thread 2: Core</a:t>
            </a:r>
          </a:p>
          <a:p>
            <a:endParaRPr/>
          </a:p>
          <a:p>
            <a:r>
              <a:t>1. 108 ÷ 4 = **27**</a:t>
            </a:r>
          </a:p>
          <a:p>
            <a:endParaRPr/>
          </a:p>
          <a:p>
            <a:r>
              <a:t>2. 245 ÷ 6 = **40 r 5**</a:t>
            </a:r>
          </a:p>
          <a:p>
            <a:endParaRPr/>
          </a:p>
          <a:p>
            <a:r>
              <a:t>3. 314 ÷ 7 = **44 r 6**</a:t>
            </a:r>
          </a:p>
          <a:p>
            <a:endParaRPr/>
          </a:p>
          <a:p>
            <a:r>
              <a:t>4. 467 ÷ 8 = **58 r 3**</a:t>
            </a:r>
          </a:p>
          <a:p>
            <a:endParaRPr/>
          </a:p>
          <a:p>
            <a:r>
              <a:t>5. 586 ÷ 9 = **65 r 1**</a:t>
            </a:r>
          </a:p>
          <a:p>
            <a:endParaRPr/>
          </a:p>
          <a:p>
            <a:r>
              <a:t>6. 703 ÷ 5 = **140 r 3**</a:t>
            </a:r>
          </a:p>
          <a:p>
            <a:endParaRPr/>
          </a:p>
          <a:p>
            <a:r>
              <a:t>### Thread 3: Depth</a:t>
            </a:r>
          </a:p>
          <a:p>
            <a:endParaRPr/>
          </a:p>
          <a:p>
            <a:r>
              <a:t>1. 849 ÷ 4 = **212.25**</a:t>
            </a:r>
          </a:p>
          <a:p>
            <a:endParaRPr/>
          </a:p>
          <a:p>
            <a:r>
              <a:t>2. 967 ÷ 2 = **483.5**</a:t>
            </a:r>
          </a:p>
          <a:p>
            <a:endParaRPr/>
          </a:p>
          <a:p>
            <a:r>
              <a:t>3. 4,374 ÷ 18 = **243**</a:t>
            </a:r>
          </a:p>
          <a:p>
            <a:endParaRPr/>
          </a:p>
          <a:p>
            <a:r>
              <a:t>4. 6,288 ÷ 48 = **131**</a:t>
            </a:r>
          </a:p>
          <a:p>
            <a:endParaRPr/>
          </a:p>
          <a:p>
            <a:r>
              <a:t>5. 7,957 ÷ 16 = **497.3125**</a:t>
            </a:r>
          </a:p>
          <a:p>
            <a:endParaRPr/>
          </a:p>
          <a:p>
            <a:r>
              <a:t>6. 8,623 ÷ 50 = **172.46**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assessment; no hints or answers on question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A dedicated guide slide precedes the worked demo so that the rules and examples remain readable. Existing question content and stable S01–S07 references are unchanged. This gives nine physical question-deck slides.</a:t>
            </a:r>
          </a:p>
          <a:p/>
          <a:p>
            <a:r>
              <a:t>Title: **Signed numbers: addition and subtraction**</a:t>
            </a:r>
          </a:p>
          <a:p>
            <a:r>
              <a:t>Subtitle: **Rules recap • Start at the first number.**</a:t>
            </a:r>
          </a:p>
          <a:p/>
          <a:p>
            <a:r>
              <a:t>| Rule | What to do | Example |</a:t>
            </a:r>
          </a:p>
          <a:p>
            <a:r>
              <a:t>| --- | --- | --- |</a:t>
            </a:r>
          </a:p>
          <a:p>
            <a:r>
              <a:t>| Add a positive number | Move right: the value increases. | −4 + 7 = 3 |</a:t>
            </a:r>
          </a:p>
          <a:p>
            <a:r>
              <a:t>| Add a negative number | Move left: the value decreases. | 4 + (−7) = 4 − 7 = −3 |</a:t>
            </a:r>
          </a:p>
          <a:p>
            <a:r>
              <a:t>| Subtract a positive number | Move left: the value decreases. | 3 − 8 = −5 |</a:t>
            </a:r>
          </a:p>
          <a:p>
            <a:r>
              <a:t>| Subtract a negative number | Move right: subtracting a negative is adding a positive. | 6 − (−3) = 6 + 3 = 9 |</a:t>
            </a:r>
          </a:p>
          <a:p/>
          <a:p>
            <a:r>
              <a:t>Visible explanation: **In 6 − (−3), the first − means subtract; the − inside brackets belongs to the number −3.**</a:t>
            </a:r>
          </a:p>
          <a:p/>
          <a:p>
            <a:r>
              <a:t>Visible general rule: **To subtract a number, add its opposite. Keep the first number unchanged.**</a:t>
            </a:r>
          </a:p>
          <a:p/>
          <a:p>
            <a:r>
              <a:t>Visible caution with contrast: **Two negative numbers do not automatically give a positive answer: −4 + (−3) = −7.**</a:t>
            </a:r>
          </a:p>
          <a:p/>
          <a:p>
            <a:r>
              <a:t>These are addition/subtraction rules. Do not import the multiplication/division “same signs/different signs” shortcut into this set. The next slide retains the complete worked grid and editable number lines.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**Follow each calculation. Explain what each sign means.**</a:t>
            </a:r>
          </a:p>
          <a:p/>
          <a:p>
            <a:r>
              <a:t>| Step | Thread 1: Guided | Thread 2: Core | Thread 3: Depth |</a:t>
            </a:r>
          </a:p>
          <a:p>
            <a:r>
              <a:t>| --- | --- | --- | --- |</a:t>
            </a:r>
          </a:p>
          <a:p>
            <a:r>
              <a:t>| Question | −4 + 7 | 6 − (−3) | −5 + 8 − (−2) |</a:t>
            </a:r>
          </a:p>
          <a:p>
            <a:r>
              <a:t>| Read the Signs | Start at −4; add positive 7. | Start at 6; subtract negative 3. | Add positive 8, then subtract negative 2. |</a:t>
            </a:r>
          </a:p>
          <a:p>
            <a:r>
              <a:t>| Rewrite the Calculation | −4 + 7 is already an addition. | 6 − (−3) = 6 + 3. | −5 + 8 + 2. |</a:t>
            </a:r>
          </a:p>
          <a:p>
            <a:r>
              <a:t>| Calculate | Move 4 right to 0, then 3 right: 3. | 6 + 3 = 9. | −5 + 8 = 3; 3 + 2 = 5. |</a:t>
            </a:r>
          </a:p>
          <a:p>
            <a:r>
              <a:t>| Check the Answer | 3 − 7 = −4. Answer: 3. | 9 + (−3) = 6. Answer: 9. | 5 + (−2) = 3; 3 − 8 = −5. Answer: 5. |</a:t>
            </a:r>
          </a:p>
          <a:p/>
          <a:p>
            <a:r>
              <a:t>Diagram specification: Three editable number lines, one per demo column, with integer ticks and a labelled zero. Guided: range −5 to 4, start −4, rightward jumps +4 to 0 and +3 to 3; bracket the jumps as +7. Core: range 0 to 10, start 6 and a rightward jump to 9 labelled “subtract −3 = add 3”. Depth: range −6 to 6, start −5, rightward jump +8 to 3, then +2 to 5. Mark each start and endpoint. Use equal tick spacing, visible arrowheads and labels clear of ticks. These accompany the worked calculation; students need not draw a line for every question.</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−6 + 9 | 4 + (−7) | −8 + 5 − (−4)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Student instruction: **Work out each calculation. Show your working.**</a:t>
            </a:r>
          </a:p>
          <a:p/>
          <a:p>
            <a:r>
              <a:t>| Step | Thread 1: Guided | Thread 2: Core | Thread 3: Depth |</a:t>
            </a:r>
          </a:p>
          <a:p>
            <a:r>
              <a:t>| --- | --- | --- | --- |</a:t>
            </a:r>
          </a:p>
          <a:p>
            <a:r>
              <a:t>| Question | 3 − 8 | −5 − (−9) | 7 − (−2) + (−12) |</a:t>
            </a:r>
          </a:p>
          <a:p>
            <a:r>
              <a:t>| Read the Signs | Identify the operation signs and the signs belonging to the numbers. | Identify the operation signs and the signs belonging to the numbers. | Identify the operation signs and the signs belonging to the numbers. |</a:t>
            </a:r>
          </a:p>
          <a:p>
            <a:r>
              <a:t>| Rewrite the Calculation | Replace subtraction by addition of the opposite where useful. | Replace subtraction by addition of the opposite where useful. | Replace subtraction by addition of the opposite where useful. |</a:t>
            </a:r>
          </a:p>
          <a:p>
            <a:r>
              <a:t>| Calculate | Work from left to right. Show each result. | Work from left to right. Show each result. | Work from left to right. Show each result. |</a:t>
            </a:r>
          </a:p>
          <a:p>
            <a:r>
              <a:t>| Check the Answer | Undo the last operation to check. Write the final answer. | Undo the last operation to check. Write the final answer. | Undo the last operation to check. Write the final answer. |</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incorrect student work. Corrections: see M13-SE in the HTML 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worked demo</a:t>
            </a:r>
          </a:p>
          <a:p>
            <a:endParaRPr/>
          </a:p>
          <a:p>
            <a:r>
              <a:t>Guided: 84 ÷ 4 = 21 tins per box. Core: 130 ÷ 6 = 21 r 4, so 21 full packs. Depth: 145 ÷ 9 = 16 r 1, so 17 minibuses; 17 × 40 = £680.</a:t>
            </a:r>
          </a:p>
          <a:p>
            <a:endParaRPr/>
          </a:p>
          <a:p>
            <a:r>
              <a:t>For Depth, 16 buses would seat only 144 students. The first answer must be interpreted before the next calculation. In the lattice for 17 × 40, top row cells are 04, 28; bottom row cells 00, 00. Diagonal totals from right: 0, 8, 6, 0 → 680. Both worked diagrams are provided as editable groups. Ballpark calculations check scale; they are not exact-answer proofs.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1</a:t>
            </a:r>
          </a:p>
          <a:p>
            <a:endParaRPr/>
          </a:p>
          <a:p>
            <a:r>
              <a:t>Thread 1: Guided: 42 × 15 = 630 pens. Estimate: 40 × 15 = 600.</a:t>
            </a:r>
          </a:p>
          <a:p>
            <a:endParaRPr/>
          </a:p>
          <a:p>
            <a:r>
              <a:t>Thread 2: Core: 215 ÷ 6 = 35 r 5 → 35 full bags. Estimate: 210 ÷ 6 = 35.</a:t>
            </a:r>
          </a:p>
          <a:p>
            <a:endParaRPr/>
          </a:p>
          <a:p>
            <a:r>
              <a:t>Thread 3: Depth: 18 × 32 = 576; 576 + 120 = £696. Estimate: 20 × 30 + 120 = 720.</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step-by-step practice 2</a:t>
            </a:r>
          </a:p>
          <a:p>
            <a:endParaRPr/>
          </a:p>
          <a:p>
            <a:r>
              <a:t>Thread 1: Guided: 168 ÷ 7 = 24 students. Estimate: 140 ÷ 7 = 20.</a:t>
            </a:r>
          </a:p>
          <a:p>
            <a:endParaRPr/>
          </a:p>
          <a:p>
            <a:r>
              <a:t>Thread 2: Core: 16 × 27 = £432. Estimate: 16 × 30 = 480.</a:t>
            </a:r>
          </a:p>
          <a:p>
            <a:endParaRPr/>
          </a:p>
          <a:p>
            <a:r>
              <a:t>Thread 3: Depth: 157 ÷ 8 = 19 r 5 → 20 vans; 20 × 45 = £900. Estimate: 160 ÷ 8 × 45 = 900.</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1</a:t>
            </a:r>
          </a:p>
          <a:p>
            <a:endParaRPr/>
          </a:p>
          <a:p>
            <a:r>
              <a:t>### Thread 1: Guided</a:t>
            </a:r>
          </a:p>
          <a:p>
            <a:endParaRPr/>
          </a:p>
          <a:p>
            <a:r>
              <a:t>1. 14 × 32 = 448 books</a:t>
            </a:r>
          </a:p>
          <a:p>
            <a:endParaRPr/>
          </a:p>
          <a:p>
            <a:r>
              <a:t>2. 105 ÷ 7 = 15 students</a:t>
            </a:r>
          </a:p>
          <a:p>
            <a:endParaRPr/>
          </a:p>
          <a:p>
            <a:r>
              <a:t>3. 26 × 41 = 1,066 bottles</a:t>
            </a:r>
          </a:p>
          <a:p>
            <a:endParaRPr/>
          </a:p>
          <a:p>
            <a:r>
              <a:t>4. 148 ÷ 4 = 37 m</a:t>
            </a:r>
          </a:p>
          <a:p>
            <a:endParaRPr/>
          </a:p>
          <a:p>
            <a:r>
              <a:t>5. 13 × 85 = 1,105 seats</a:t>
            </a:r>
          </a:p>
          <a:p>
            <a:endParaRPr/>
          </a:p>
          <a:p>
            <a:r>
              <a:t>6. 175 ÷ 5 = £35</a:t>
            </a:r>
          </a:p>
          <a:p>
            <a:endParaRPr/>
          </a:p>
          <a:p>
            <a:r>
              <a:t>### Thread 2: Core</a:t>
            </a:r>
          </a:p>
          <a:p>
            <a:endParaRPr/>
          </a:p>
          <a:p>
            <a:r>
              <a:t>1. 130 ÷ 6 = 21 r 4 → 21 full cartons</a:t>
            </a:r>
          </a:p>
          <a:p>
            <a:endParaRPr/>
          </a:p>
          <a:p>
            <a:r>
              <a:t>2. 32 ÷ 5 = 6 r 2 → 7 cars</a:t>
            </a:r>
          </a:p>
          <a:p>
            <a:endParaRPr/>
          </a:p>
          <a:p>
            <a:r>
              <a:t>3. 250 ÷ 12 = 20 r 10 → 10 chocolates</a:t>
            </a:r>
          </a:p>
          <a:p>
            <a:endParaRPr/>
          </a:p>
          <a:p>
            <a:r>
              <a:t>4. 17 × 28 = £476</a:t>
            </a:r>
          </a:p>
          <a:p>
            <a:endParaRPr/>
          </a:p>
          <a:p>
            <a:r>
              <a:t>5. 142 ÷ 6 = 23 r 4 → 23 full bags</a:t>
            </a:r>
          </a:p>
          <a:p>
            <a:endParaRPr/>
          </a:p>
          <a:p>
            <a:r>
              <a:t>6. 132 ÷ 8 = £16.50</a:t>
            </a:r>
          </a:p>
          <a:p>
            <a:endParaRPr/>
          </a:p>
          <a:p>
            <a:r>
              <a:t>### Thread 3: Depth</a:t>
            </a:r>
          </a:p>
          <a:p>
            <a:endParaRPr/>
          </a:p>
          <a:p>
            <a:r>
              <a:t>1. 45 × 16 = 720; 720 − 50 = £670</a:t>
            </a:r>
          </a:p>
          <a:p>
            <a:endParaRPr/>
          </a:p>
          <a:p>
            <a:r>
              <a:t>2. 115 ÷ 8 = 14 r 3 → 15 vans; 15 × 65 = £975</a:t>
            </a:r>
          </a:p>
          <a:p>
            <a:endParaRPr/>
          </a:p>
          <a:p>
            <a:r>
              <a:t>3. 22 × 14 = 308; 308 + 30 = £338</a:t>
            </a:r>
          </a:p>
          <a:p>
            <a:endParaRPr/>
          </a:p>
          <a:p>
            <a:r>
              <a:t>4. 430 ÷ 12 = 35 r 10; 35 × 9 = £315</a:t>
            </a:r>
          </a:p>
          <a:p>
            <a:endParaRPr/>
          </a:p>
          <a:p>
            <a:r>
              <a:t>5. 24 × 15 = 360; 360 + 45 = £405</a:t>
            </a:r>
          </a:p>
          <a:p>
            <a:endParaRPr/>
          </a:p>
          <a:p>
            <a:r>
              <a:t>6. 15 × 12 = 180; 180 × 8 = £1,440</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2</a:t>
            </a:r>
          </a:p>
          <a:p>
            <a:endParaRPr/>
          </a:p>
          <a:p>
            <a:r>
              <a:t>### Thread 1: Guided</a:t>
            </a:r>
          </a:p>
          <a:p>
            <a:endParaRPr/>
          </a:p>
          <a:p>
            <a:r>
              <a:t>1. 18 × 24 = 432 plants</a:t>
            </a:r>
          </a:p>
          <a:p>
            <a:endParaRPr/>
          </a:p>
          <a:p>
            <a:r>
              <a:t>2. 156 ÷ 6 = 26 pens</a:t>
            </a:r>
          </a:p>
          <a:p>
            <a:endParaRPr/>
          </a:p>
          <a:p>
            <a:r>
              <a:t>3. 23 × 16 = 368 badges</a:t>
            </a:r>
          </a:p>
          <a:p>
            <a:endParaRPr/>
          </a:p>
          <a:p>
            <a:r>
              <a:t>4. 248 ÷ 8 = £31</a:t>
            </a:r>
          </a:p>
          <a:p>
            <a:endParaRPr/>
          </a:p>
          <a:p>
            <a:r>
              <a:t>5. 12 × 27 = 324 km</a:t>
            </a:r>
          </a:p>
          <a:p>
            <a:endParaRPr/>
          </a:p>
          <a:p>
            <a:r>
              <a:t>6. 189 ÷ 7 = 27 cm</a:t>
            </a:r>
          </a:p>
          <a:p>
            <a:endParaRPr/>
          </a:p>
          <a:p>
            <a:r>
              <a:t>### Thread 2: Core</a:t>
            </a:r>
          </a:p>
          <a:p>
            <a:endParaRPr/>
          </a:p>
          <a:p>
            <a:r>
              <a:t>1. 197 ÷ 8 = 24 r 5 → 24 bundles</a:t>
            </a:r>
          </a:p>
          <a:p>
            <a:endParaRPr/>
          </a:p>
          <a:p>
            <a:r>
              <a:t>2. 83 ÷ 6 = 13 r 5 → 14 tents</a:t>
            </a:r>
          </a:p>
          <a:p>
            <a:endParaRPr/>
          </a:p>
          <a:p>
            <a:r>
              <a:t>3. 275 ÷ 12 = 22 r 11 → 11 cm</a:t>
            </a:r>
          </a:p>
          <a:p>
            <a:endParaRPr/>
          </a:p>
          <a:p>
            <a:r>
              <a:t>4. 36 × 14 = 504 pages</a:t>
            </a:r>
          </a:p>
          <a:p>
            <a:endParaRPr/>
          </a:p>
          <a:p>
            <a:r>
              <a:t>5. 154 ÷ 4 = £38.50</a:t>
            </a:r>
          </a:p>
          <a:p>
            <a:endParaRPr/>
          </a:p>
          <a:p>
            <a:r>
              <a:t>6. 253 ÷ 24 = 10 r 13 → 11 albums</a:t>
            </a:r>
          </a:p>
          <a:p>
            <a:endParaRPr/>
          </a:p>
          <a:p>
            <a:r>
              <a:t>### Thread 3: Depth</a:t>
            </a:r>
          </a:p>
          <a:p>
            <a:endParaRPr/>
          </a:p>
          <a:p>
            <a:r>
              <a:t>1. 28 × 14 = 392; 392 + 18 = £410</a:t>
            </a:r>
          </a:p>
          <a:p>
            <a:endParaRPr/>
          </a:p>
          <a:p>
            <a:r>
              <a:t>2. 94 ÷ 6 = 15 r 4 → 16 tables; 16 × 12 = £192</a:t>
            </a:r>
          </a:p>
          <a:p>
            <a:endParaRPr/>
          </a:p>
          <a:p>
            <a:r>
              <a:t>3. 24 × 15 = 360; 360 − 87 = 273 drinks</a:t>
            </a:r>
          </a:p>
          <a:p>
            <a:endParaRPr/>
          </a:p>
          <a:p>
            <a:r>
              <a:t>4. 286 ÷ 8 = 35 r 6; 35 × 3 = £105</a:t>
            </a:r>
          </a:p>
          <a:p>
            <a:endParaRPr/>
          </a:p>
          <a:p>
            <a:r>
              <a:t>5. 18 × 12 = 216; 216 ÷ 4 = £54</a:t>
            </a:r>
          </a:p>
          <a:p>
            <a:endParaRPr/>
          </a:p>
          <a:p>
            <a:r>
              <a:t>6. 17 × 24 = 408; 408 × 2 = £816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3</a:t>
            </a:r>
          </a:p>
          <a:p>
            <a:endParaRPr/>
          </a:p>
          <a:p>
            <a:r>
              <a:t>### Thread 1: Guided</a:t>
            </a:r>
          </a:p>
          <a:p>
            <a:endParaRPr/>
          </a:p>
          <a:p>
            <a:r>
              <a:t>1. 16 × 35 = 560 cables</a:t>
            </a:r>
          </a:p>
          <a:p>
            <a:endParaRPr/>
          </a:p>
          <a:p>
            <a:r>
              <a:t>2. 252 ÷ 7 = 36 stickers</a:t>
            </a:r>
          </a:p>
          <a:p>
            <a:endParaRPr/>
          </a:p>
          <a:p>
            <a:r>
              <a:t>3. 28 × 24 = 672 seats</a:t>
            </a:r>
          </a:p>
          <a:p>
            <a:endParaRPr/>
          </a:p>
          <a:p>
            <a:r>
              <a:t>4. 336 ÷ 8 = 42 m</a:t>
            </a:r>
          </a:p>
          <a:p>
            <a:endParaRPr/>
          </a:p>
          <a:p>
            <a:r>
              <a:t>5. 19 × 32 = 608 cards</a:t>
            </a:r>
          </a:p>
          <a:p>
            <a:endParaRPr/>
          </a:p>
          <a:p>
            <a:r>
              <a:t>6. 315 ÷ 9 = £35</a:t>
            </a:r>
          </a:p>
          <a:p>
            <a:endParaRPr/>
          </a:p>
          <a:p>
            <a:r>
              <a:t>### Thread 2: Core</a:t>
            </a:r>
          </a:p>
          <a:p>
            <a:endParaRPr/>
          </a:p>
          <a:p>
            <a:r>
              <a:t>1. 245 ÷ 8 = 30 r 5 → 30 bags</a:t>
            </a:r>
          </a:p>
          <a:p>
            <a:endParaRPr/>
          </a:p>
          <a:p>
            <a:r>
              <a:t>2. 137 ÷ 9 = 15 r 2 → 16 trips</a:t>
            </a:r>
          </a:p>
          <a:p>
            <a:endParaRPr/>
          </a:p>
          <a:p>
            <a:r>
              <a:t>3. 359 ÷ 12 = 29 r 11 → 11 beads</a:t>
            </a:r>
          </a:p>
          <a:p>
            <a:endParaRPr/>
          </a:p>
          <a:p>
            <a:r>
              <a:t>4. 23 × 16 = £368</a:t>
            </a:r>
          </a:p>
          <a:p>
            <a:endParaRPr/>
          </a:p>
          <a:p>
            <a:r>
              <a:t>5. 186 ÷ 8 = £23.25</a:t>
            </a:r>
          </a:p>
          <a:p>
            <a:endParaRPr/>
          </a:p>
          <a:p>
            <a:r>
              <a:t>6. 25 × 48 = 1,200 cm²</a:t>
            </a:r>
          </a:p>
          <a:p>
            <a:endParaRPr/>
          </a:p>
          <a:p>
            <a:r>
              <a:t>### Thread 3: Depth</a:t>
            </a:r>
          </a:p>
          <a:p>
            <a:endParaRPr/>
          </a:p>
          <a:p>
            <a:r>
              <a:t>1. 21 × 18 = 378; 378 + 64 = £442</a:t>
            </a:r>
          </a:p>
          <a:p>
            <a:endParaRPr/>
          </a:p>
          <a:p>
            <a:r>
              <a:t>2. 167 ÷ 24 = 6 r 23 → 7 coaches; 7 × 85 = £595</a:t>
            </a:r>
          </a:p>
          <a:p>
            <a:endParaRPr/>
          </a:p>
          <a:p>
            <a:r>
              <a:t>3. 32 × 18 = 576; 576 − 145 = 431 cards</a:t>
            </a:r>
          </a:p>
          <a:p>
            <a:endParaRPr/>
          </a:p>
          <a:p>
            <a:r>
              <a:t>4. 397 ÷ 6 = 66 r 1; 66 × 4 = £264</a:t>
            </a:r>
          </a:p>
          <a:p>
            <a:endParaRPr/>
          </a:p>
          <a:p>
            <a:r>
              <a:t>5. 15 × 14 = 210; 210 ÷ 6 = £35</a:t>
            </a:r>
          </a:p>
          <a:p>
            <a:endParaRPr/>
          </a:p>
          <a:p>
            <a:r>
              <a:t>6. 23 × 16 = 368; 368 × 5 = £1,840</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Application to Exam Problems — independent practice 4</a:t>
            </a:r>
          </a:p>
          <a:p>
            <a:endParaRPr/>
          </a:p>
          <a:p>
            <a:r>
              <a:t>### Thread 1: Guided</a:t>
            </a:r>
          </a:p>
          <a:p>
            <a:endParaRPr/>
          </a:p>
          <a:p>
            <a:r>
              <a:t>1. 27 × 18 = 486 labels</a:t>
            </a:r>
          </a:p>
          <a:p>
            <a:endParaRPr/>
          </a:p>
          <a:p>
            <a:r>
              <a:t>2. 384 ÷ 8 = 48 books</a:t>
            </a:r>
          </a:p>
          <a:p>
            <a:endParaRPr/>
          </a:p>
          <a:p>
            <a:r>
              <a:t>3. 34 × 16 = 544 seedlings</a:t>
            </a:r>
          </a:p>
          <a:p>
            <a:endParaRPr/>
          </a:p>
          <a:p>
            <a:r>
              <a:t>4. 425 ÷ 5 = £85</a:t>
            </a:r>
          </a:p>
          <a:p>
            <a:endParaRPr/>
          </a:p>
          <a:p>
            <a:r>
              <a:t>5. 26 × 35 = 910 seats</a:t>
            </a:r>
          </a:p>
          <a:p>
            <a:endParaRPr/>
          </a:p>
          <a:p>
            <a:r>
              <a:t>6. 294 ÷ 6 = 49 cm</a:t>
            </a:r>
          </a:p>
          <a:p>
            <a:endParaRPr/>
          </a:p>
          <a:p>
            <a:r>
              <a:t>### Thread 2: Core</a:t>
            </a:r>
          </a:p>
          <a:p>
            <a:endParaRPr/>
          </a:p>
          <a:p>
            <a:r>
              <a:t>1. 367 ÷ 12 = 30 r 7 → 30 boxes</a:t>
            </a:r>
          </a:p>
          <a:p>
            <a:endParaRPr/>
          </a:p>
          <a:p>
            <a:r>
              <a:t>2. 158 ÷ 6 = 26 r 2 → 27 rooms</a:t>
            </a:r>
          </a:p>
          <a:p>
            <a:endParaRPr/>
          </a:p>
          <a:p>
            <a:r>
              <a:t>3. 413 ÷ 15 = 27 r 8 → 8 cm</a:t>
            </a:r>
          </a:p>
          <a:p>
            <a:endParaRPr/>
          </a:p>
          <a:p>
            <a:r>
              <a:t>4. 28 × 19 = 532 bottles</a:t>
            </a:r>
          </a:p>
          <a:p>
            <a:endParaRPr/>
          </a:p>
          <a:p>
            <a:r>
              <a:t>5. 238 ÷ 8 = £29.75</a:t>
            </a:r>
          </a:p>
          <a:p>
            <a:endParaRPr/>
          </a:p>
          <a:p>
            <a:r>
              <a:t>6. 319 ÷ 24 = 13 r 7 → 14 folders</a:t>
            </a:r>
          </a:p>
          <a:p>
            <a:endParaRPr/>
          </a:p>
          <a:p>
            <a:r>
              <a:t>### Thread 3: Depth</a:t>
            </a:r>
          </a:p>
          <a:p>
            <a:endParaRPr/>
          </a:p>
          <a:p>
            <a:r>
              <a:t>1. 36 × 17 = 612; 612 − 75 = £537</a:t>
            </a:r>
          </a:p>
          <a:p>
            <a:endParaRPr/>
          </a:p>
          <a:p>
            <a:r>
              <a:t>2. 203 ÷ 8 = 25 r 3 → 26 tables; 26 × 15 = £390</a:t>
            </a:r>
          </a:p>
          <a:p>
            <a:endParaRPr/>
          </a:p>
          <a:p>
            <a:r>
              <a:t>3. 29 × 24 = 696; 696 − 187 = 509 notebooks</a:t>
            </a:r>
          </a:p>
          <a:p>
            <a:endParaRPr/>
          </a:p>
          <a:p>
            <a:r>
              <a:t>4. 518 ÷ 12 = 43 r 2; 43 × 5 = £215</a:t>
            </a:r>
          </a:p>
          <a:p>
            <a:endParaRPr/>
          </a:p>
          <a:p>
            <a:r>
              <a:t>5. 21 × 16 = 336; 336 ÷ 7 = £48</a:t>
            </a:r>
          </a:p>
          <a:p>
            <a:endParaRPr/>
          </a:p>
          <a:p>
            <a:r>
              <a:t>6. 28 × 15 = 420; 420 × 3 = £1,260</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1 — Worked demo</a:t>
            </a:r>
          </a:p>
          <a:p>
            <a:endParaRPr/>
          </a:p>
          <a:p>
            <a:r>
              <a:t>Title: **Ratio: sharing and missing amounts**</a:t>
            </a:r>
          </a:p>
          <a:p>
            <a:endParaRPr/>
          </a:p>
          <a:p>
            <a:r>
              <a:t>Instruction: **Follow each step down your column.**</a:t>
            </a:r>
          </a:p>
          <a:p>
            <a:endParaRPr/>
          </a:p>
          <a:p>
            <a:r>
              <a:t>| Row | Thread 1: Guided | Thread 2: Core | Thread 3: Depth |</a:t>
            </a:r>
          </a:p>
          <a:p>
            <a:r>
              <a:t>| --- | --- | --- | --- |</a:t>
            </a:r>
          </a:p>
          <a:p>
            <a:r>
              <a:t>| The Full Question | A and B share £120 in the ratio 2:3. How much does B receive? | Red and blue paint are mixed in the ratio 3:5. There are 18 litres of red paint. How many litres of blue paint are needed? | Red and blue counters are in the ratio 3:7. There are 28 more blue counters than red counters. How many counters are there altogether? |</a:t>
            </a:r>
          </a:p>
          <a:p>
            <a:r>
              <a:t>| Keywords &amp; Calculation | “share £120”: the total is known. 2 + 3 = 5 parts. £120 ÷ 5, then × 3. | “18 litres of red”: 3 parts are known. 18 ÷ 3, then × 5. | “28 more blue”: the difference is known. 7 − 3 = 4 parts. 28 ÷ 4, then × (3 + 7). |</a:t>
            </a:r>
          </a:p>
          <a:p>
            <a:r>
              <a:t>| Written Method | £120 ÷ 5 = £24 per part. £24 × 3 = £72. | 18 ÷ 3 = 6 litres per part. 6 × 5 = 30 litres. | 28 ÷ 4 = 7 counters per part. 3 + 7 = 10 parts. 7 × 10 = 70 counters. |</a:t>
            </a:r>
          </a:p>
          <a:p>
            <a:r>
              <a:t>| Ballpark Check &amp; Math | B gets more than half of £120, so more than £60. £72 fits. Check both shares: £48 + £72 = £120. | Blue is between one and two times the red amount, so between 18 and 36 litres. 30 litres fits. | The total represents 10 parts and the difference 4. The total should be between 2 and 3 times 28: between 56 and 84. 70 fits. |</a:t>
            </a:r>
          </a:p>
          <a:p>
            <a:r>
              <a:t>| Final Answer | B receives £72. | 30 litres of blue paint. | 70 counters altogether. |</a:t>
            </a:r>
          </a:p>
          <a:p>
            <a:endParaRPr/>
          </a:p>
          <a:p>
            <a:r>
              <a:t>### Diagram specification</a:t>
            </a:r>
          </a:p>
          <a:p>
            <a:endParaRPr/>
          </a:p>
          <a:p>
            <a:r>
              <a:t>Use editable, equal-sized boxes. Align the two bars at the left; each box represents one part, not one pound, litre or counter. Label both bars by name; colour is optional, not the only way to identify them.</a:t>
            </a:r>
          </a:p>
          <a:p>
            <a:endParaRPr/>
          </a:p>
          <a:p>
            <a:r>
              <a:t>- Guided: A has 2 boxes; B has 3. A bracket covering both bars is labelled “£120 altogether”. Show “1 part = £24”.</a:t>
            </a:r>
          </a:p>
          <a:p>
            <a:r>
              <a:t>- Core: red has 3 boxes labelled “18 litres”; blue has 5. Show “1 part = 6 litres”.</a:t>
            </a:r>
          </a:p>
          <a:p>
            <a:r>
              <a:t>- Depth: red has 3 boxes; blue has 7. Bracket the **four extra blue boxes** and label them “28 more”. Show “1 part = 7 counters”. Do not label the overlap as the difference.</a:t>
            </a:r>
          </a:p>
          <a:p>
            <a:endParaRPr/>
          </a:p>
          <a:p>
            <a:r>
              <a:t>Keep the complete question and all four steps on this slide. Fit the diagrams beside the concise working within the Written Method row. Do not introduce a separate step-per-slide sequence.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2 — Step-by-step practice 1</a:t>
            </a:r>
          </a:p>
          <a:p>
            <a:endParaRPr/>
          </a:p>
          <a:p>
            <a:r>
              <a:t>Instruction: **Complete each step in your booklet or webapp.** Use the four practice prompts above.</a:t>
            </a:r>
          </a:p>
          <a:p>
            <a:endParaRPr/>
          </a:p>
          <a:p>
            <a:r>
              <a:t>| Thread 1: Guided | Thread 2: Core | Thread 3: Depth |</a:t>
            </a:r>
          </a:p>
          <a:p>
            <a:r>
              <a:t>| --- | --- | --- |</a:t>
            </a:r>
          </a:p>
          <a:p>
            <a:r>
              <a:t>| An 84 ml paint mix contains red and white paint in the ratio 3:4. How much red paint is in the mix? | Notebooks and folders are in the ratio 4:7. There are 35 folders. How many notebooks are there? | Adults and children are in the ratio 2:5. There are 24 more children than adults. How many people are there altogether? |</a:t>
            </a:r>
          </a:p>
          <a:p>
            <a:endParaRPr/>
          </a:p>
          <a:p>
            <a:r>
              <a:t>Teacher working:</a:t>
            </a:r>
          </a:p>
          <a:p>
            <a:endParaRPr/>
          </a:p>
          <a:p>
            <a:r>
              <a:t>- T1: 3 + 4 = 7; 84 ÷ 7 = 12 ml; 12 × 3 = **36 ml red paint**. Less than half of 84 ml; white paint 48 ml.</a:t>
            </a:r>
          </a:p>
          <a:p>
            <a:r>
              <a:t>- T2: 35 ÷ 7 = 5; 5 × 4 = **20 notebooks**. Fewer notebooks than folders.</a:t>
            </a:r>
          </a:p>
          <a:p>
            <a:r>
              <a:t>- T3: 5 − 2 = 3; 24 ÷ 3 = 8; (2 + 5) × 8 = **56 people**. 16 adults and 40 children; difference 24.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Slide 3 — Step-by-step practice 2</a:t>
            </a:r>
          </a:p>
          <a:p>
            <a:endParaRPr/>
          </a:p>
          <a:p>
            <a:r>
              <a:t>Instruction and row prompts match Slide 2 exactly.</a:t>
            </a:r>
          </a:p>
          <a:p>
            <a:endParaRPr/>
          </a:p>
          <a:p>
            <a:r>
              <a:t>| Thread 1: Guided | Thread 2: Core | Thread 3: Depth |</a:t>
            </a:r>
          </a:p>
          <a:p>
            <a:r>
              <a:t>| --- | --- | --- |</a:t>
            </a:r>
          </a:p>
          <a:p>
            <a:r>
              <a:t>| A 96 cm ribbon is cut into pieces A and B in the ratio 5:7. Find the length of B. | Juice and water are mixed in the ratio 2:7. There are 18 litres of juice. How many litres of water are needed? | Two lengths of ribbon, A and B, are in the ratio 5:8. B is 21 cm longer than A. What is their total length? |</a:t>
            </a:r>
          </a:p>
          <a:p>
            <a:endParaRPr/>
          </a:p>
          <a:p>
            <a:r>
              <a:t>Teacher working:</a:t>
            </a:r>
          </a:p>
          <a:p>
            <a:endParaRPr/>
          </a:p>
          <a:p>
            <a:r>
              <a:t>- T1: 5 + 7 = 12; 96 ÷ 12 = 8 cm; 8 × 7 = **56 cm**. More than half of 96 cm; A is 40 cm.</a:t>
            </a:r>
          </a:p>
          <a:p>
            <a:r>
              <a:t>- T2: 18 ÷ 2 = 9; 9 × 7 = **63 litres of water**. Between 3 and 4 times the juice amount (54–72 litres).</a:t>
            </a:r>
          </a:p>
          <a:p>
            <a:r>
              <a:t>- T3: 8 − 5 = 3; 21 ÷ 3 = 7; (5 + 8) × 7 = **91 cm**. The two lengths are 35 cm and 56 cm; difference 21 cm.</a:t>
            </a:r>
          </a:p>
          <a:p>
            <a:endParaRPr/>
          </a:p>
          <a:p>
            <a:endParaRPr/>
          </a:p>
          <a:p>
            <a:endParaRPr/>
          </a:p>
          <a:p>
            <a:r>
              <a:t>## Slides 4–7 — Independent practice</a:t>
            </a:r>
          </a:p>
          <a:p>
            <a:endParaRPr/>
          </a:p>
          <a:p>
            <a:r>
              <a:t>Instruction on each slide: **Choose a column. Show your working and check your answers.**</a:t>
            </a:r>
          </a:p>
          <a:p>
            <a:endParaRPr/>
          </a:p>
          <a:p>
            <a:r>
              <a:t>Each column mixes contexts, unit types and requested quantities. “Find each” requires two labelled answers. Guided uses direct totals, known amounts and friendly given-difference questions. Core mixes totals, known amounts and simple differences. Depth mixes all three, including finding a difference from a total or a known amount. A column does not identify the required calculation.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M04-S04: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M04-S05: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M04-S06: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M04-S07: answers are in the separate ratio answer deck.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43 × 6</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68 × 4</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476 × 82</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6,038 × 591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Follow each step down your column. Small orange numbers show carries.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 × 6</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34 × 12</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4,312 × 156</a:t>
            </a:r>
          </a:p>
        </p:txBody>
      </p:sp>
      <p:sp>
        <p:nvSpPr>
          <p:cNvPr id="21" name="Rectangle 20"/>
          <p:cNvSpPr/>
          <p:nvPr/>
        </p:nvSpPr>
        <p:spPr>
          <a:xfrm>
            <a:off x="384048" y="217627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1 row.</a:t>
            </a:r>
          </a:p>
          <a:p>
            <a:pPr>
              <a:lnSpc>
                <a:spcPts val="1836"/>
              </a:lnSpc>
              <a:spcBef>
                <a:spcPts val="0"/>
              </a:spcBef>
              <a:spcAft>
                <a:spcPts val="0"/>
              </a:spcAft>
              <a:defRPr sz="1700" b="0">
                <a:solidFill>
                  <a:srgbClr val="182B3A"/>
                </a:solidFill>
                <a:latin typeface="Arial"/>
              </a:defRPr>
            </a:pPr>
            <a:r>
              <a:t>Top: 4, 3. Right: 6.</a:t>
            </a:r>
          </a:p>
        </p:txBody>
      </p:sp>
      <p:sp>
        <p:nvSpPr>
          <p:cNvPr id="25" name="Rectangle 24"/>
          <p:cNvSpPr/>
          <p:nvPr/>
        </p:nvSpPr>
        <p:spPr>
          <a:xfrm>
            <a:off x="6406895"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2 columns × 2 rows.</a:t>
            </a:r>
          </a:p>
          <a:p>
            <a:pPr>
              <a:lnSpc>
                <a:spcPts val="1836"/>
              </a:lnSpc>
              <a:spcBef>
                <a:spcPts val="0"/>
              </a:spcBef>
              <a:spcAft>
                <a:spcPts val="0"/>
              </a:spcAft>
              <a:defRPr sz="1700" b="0">
                <a:solidFill>
                  <a:srgbClr val="182B3A"/>
                </a:solidFill>
                <a:latin typeface="Arial"/>
              </a:defRPr>
            </a:pPr>
            <a:r>
              <a:t>Top: 3, 4. Right: 1, 2.</a:t>
            </a:r>
          </a:p>
        </p:txBody>
      </p:sp>
      <p:sp>
        <p:nvSpPr>
          <p:cNvPr id="27" name="Rectangle 26"/>
          <p:cNvSpPr/>
          <p:nvPr/>
        </p:nvSpPr>
        <p:spPr>
          <a:xfrm>
            <a:off x="10326624" y="217627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5669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4 columns × 3 rows.</a:t>
            </a:r>
          </a:p>
          <a:p>
            <a:pPr>
              <a:lnSpc>
                <a:spcPts val="1836"/>
              </a:lnSpc>
              <a:spcBef>
                <a:spcPts val="0"/>
              </a:spcBef>
              <a:spcAft>
                <a:spcPts val="0"/>
              </a:spcAft>
              <a:defRPr sz="1700" b="0">
                <a:solidFill>
                  <a:srgbClr val="182B3A"/>
                </a:solidFill>
                <a:latin typeface="Arial"/>
              </a:defRPr>
            </a:pPr>
            <a:r>
              <a:t>Top: 4, 3, 1, 2. Right: 1, 5, 6.</a:t>
            </a:r>
          </a:p>
        </p:txBody>
      </p:sp>
      <p:sp>
        <p:nvSpPr>
          <p:cNvPr id="29" name="Rectangle 28"/>
          <p:cNvSpPr/>
          <p:nvPr/>
        </p:nvSpPr>
        <p:spPr>
          <a:xfrm>
            <a:off x="384048" y="2907791"/>
            <a:ext cx="2103120" cy="2423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2999232"/>
            <a:ext cx="1975103" cy="224027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Cells: 24, 18.</a:t>
            </a:r>
          </a:p>
          <a:p>
            <a:pPr>
              <a:lnSpc>
                <a:spcPts val="1836"/>
              </a:lnSpc>
              <a:spcBef>
                <a:spcPts val="0"/>
              </a:spcBef>
              <a:spcAft>
                <a:spcPts val="0"/>
              </a:spcAft>
              <a:defRPr sz="1700" b="0">
                <a:solidFill>
                  <a:srgbClr val="182B3A"/>
                </a:solidFill>
                <a:latin typeface="Arial"/>
              </a:defRPr>
            </a:pPr>
            <a:r>
              <a:t>Tens above; units below.</a:t>
            </a:r>
          </a:p>
        </p:txBody>
      </p:sp>
      <p:grpSp>
        <p:nvGrpSpPr>
          <p:cNvPr id="33" name="Editable lattice 43 × 6"/>
          <p:cNvGrpSpPr/>
          <p:nvPr/>
        </p:nvGrpSpPr>
        <p:grpSpPr>
          <a:xfrm>
            <a:off x="3496055" y="3803903"/>
            <a:ext cx="1737360" cy="1143000"/>
            <a:chOff x="3496055" y="3803903"/>
            <a:chExt cx="1737360" cy="1143000"/>
          </a:xfrm>
        </p:grpSpPr>
        <p:sp>
          <p:nvSpPr>
            <p:cNvPr id="34" name="TextBox 33"/>
            <p:cNvSpPr txBox="1"/>
            <p:nvPr/>
          </p:nvSpPr>
          <p:spPr>
            <a:xfrm>
              <a:off x="3806951"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4</a:t>
              </a:r>
            </a:p>
          </p:txBody>
        </p:sp>
        <p:sp>
          <p:nvSpPr>
            <p:cNvPr id="35" name="TextBox 34"/>
            <p:cNvSpPr txBox="1"/>
            <p:nvPr/>
          </p:nvSpPr>
          <p:spPr>
            <a:xfrm>
              <a:off x="4373879" y="3803903"/>
              <a:ext cx="566928" cy="228600"/>
            </a:xfrm>
            <a:prstGeom prst="rect">
              <a:avLst/>
            </a:prstGeom>
            <a:noFill/>
          </p:spPr>
          <p:txBody>
            <a:bodyPr wrap="none" lIns="0" tIns="0" rIns="0" bIns="0" anchor="ctr">
              <a:spAutoFit/>
            </a:bodyPr>
            <a:lstStyle/>
            <a:p>
              <a:pPr algn="ctr">
                <a:defRPr sz="1800" b="1">
                  <a:solidFill>
                    <a:srgbClr val="176B73"/>
                  </a:solidFill>
                  <a:latin typeface="Arial"/>
                </a:defRPr>
              </a:pPr>
              <a:r>
                <a:t>3</a:t>
              </a:r>
            </a:p>
          </p:txBody>
        </p:sp>
        <p:sp>
          <p:nvSpPr>
            <p:cNvPr id="36" name="TextBox 35"/>
            <p:cNvSpPr txBox="1"/>
            <p:nvPr/>
          </p:nvSpPr>
          <p:spPr>
            <a:xfrm>
              <a:off x="4968239" y="4059935"/>
              <a:ext cx="265176" cy="566928"/>
            </a:xfrm>
            <a:prstGeom prst="rect">
              <a:avLst/>
            </a:prstGeom>
            <a:noFill/>
          </p:spPr>
          <p:txBody>
            <a:bodyPr wrap="none" lIns="0" tIns="0" rIns="0" bIns="0" anchor="ctr">
              <a:spAutoFit/>
            </a:bodyPr>
            <a:lstStyle/>
            <a:p>
              <a:pPr algn="ctr">
                <a:defRPr sz="1800" b="1">
                  <a:solidFill>
                    <a:srgbClr val="176B73"/>
                  </a:solidFill>
                  <a:latin typeface="Arial"/>
                </a:defRPr>
              </a:pPr>
              <a:r>
                <a:t>6</a:t>
              </a:r>
            </a:p>
          </p:txBody>
        </p:sp>
        <p:sp>
          <p:nvSpPr>
            <p:cNvPr id="37" name="Rectangle 36"/>
            <p:cNvSpPr/>
            <p:nvPr/>
          </p:nvSpPr>
          <p:spPr>
            <a:xfrm>
              <a:off x="3806951"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38" name="Connector 37"/>
            <p:cNvCxnSpPr/>
            <p:nvPr/>
          </p:nvCxnSpPr>
          <p:spPr>
            <a:xfrm flipV="1">
              <a:off x="3806951"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829629"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40" name="TextBox 39"/>
            <p:cNvSpPr txBox="1"/>
            <p:nvPr/>
          </p:nvSpPr>
          <p:spPr>
            <a:xfrm>
              <a:off x="4079077"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41" name="Rectangle 40"/>
            <p:cNvSpPr/>
            <p:nvPr/>
          </p:nvSpPr>
          <p:spPr>
            <a:xfrm>
              <a:off x="4373879" y="4059935"/>
              <a:ext cx="566928" cy="566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42" name="Connector 41"/>
            <p:cNvCxnSpPr/>
            <p:nvPr/>
          </p:nvCxnSpPr>
          <p:spPr>
            <a:xfrm flipV="1">
              <a:off x="4373879" y="4059935"/>
              <a:ext cx="566928" cy="566929"/>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396557" y="4071274"/>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44" name="TextBox 43"/>
            <p:cNvSpPr txBox="1"/>
            <p:nvPr/>
          </p:nvSpPr>
          <p:spPr>
            <a:xfrm>
              <a:off x="4646005" y="4337730"/>
              <a:ext cx="272125" cy="266456"/>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45" name="Connector 44"/>
            <p:cNvCxnSpPr/>
            <p:nvPr/>
          </p:nvCxnSpPr>
          <p:spPr>
            <a:xfrm>
              <a:off x="3806951"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373879"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940807" y="4059935"/>
              <a:ext cx="0" cy="566929"/>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806951" y="4059935"/>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806951" y="4626864"/>
              <a:ext cx="1133856"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373879"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8</a:t>
              </a:r>
            </a:p>
          </p:txBody>
        </p:sp>
        <p:sp>
          <p:nvSpPr>
            <p:cNvPr id="51" name="TextBox 50"/>
            <p:cNvSpPr txBox="1"/>
            <p:nvPr/>
          </p:nvSpPr>
          <p:spPr>
            <a:xfrm>
              <a:off x="3806951" y="4709159"/>
              <a:ext cx="566928" cy="237744"/>
            </a:xfrm>
            <a:prstGeom prst="rect">
              <a:avLst/>
            </a:prstGeom>
            <a:noFill/>
          </p:spPr>
          <p:txBody>
            <a:bodyPr wrap="none" lIns="0" tIns="0" rIns="0" bIns="0" anchor="ctr">
              <a:spAutoFit/>
            </a:bodyPr>
            <a:lstStyle/>
            <a:p>
              <a:pPr algn="ctr">
                <a:defRPr sz="1900" b="1">
                  <a:solidFill>
                    <a:srgbClr val="176B73"/>
                  </a:solidFill>
                  <a:latin typeface="Arial"/>
                </a:defRPr>
              </a:pPr>
              <a:r>
                <a:t>5</a:t>
              </a:r>
            </a:p>
          </p:txBody>
        </p:sp>
        <p:sp>
          <p:nvSpPr>
            <p:cNvPr id="52" name="TextBox 51"/>
            <p:cNvSpPr txBox="1"/>
            <p:nvPr/>
          </p:nvSpPr>
          <p:spPr>
            <a:xfrm>
              <a:off x="3496055" y="4059935"/>
              <a:ext cx="265176" cy="566928"/>
            </a:xfrm>
            <a:prstGeom prst="rect">
              <a:avLst/>
            </a:prstGeom>
            <a:noFill/>
          </p:spPr>
          <p:txBody>
            <a:bodyPr wrap="none" lIns="0" tIns="0" rIns="0" bIns="0" anchor="ctr">
              <a:spAutoFit/>
            </a:bodyPr>
            <a:lstStyle/>
            <a:p>
              <a:pPr algn="ctr">
                <a:defRPr sz="1900" b="1">
                  <a:solidFill>
                    <a:srgbClr val="176B73"/>
                  </a:solidFill>
                  <a:latin typeface="Arial"/>
                </a:defRPr>
              </a:pPr>
              <a:r>
                <a:t>2</a:t>
              </a:r>
            </a:p>
          </p:txBody>
        </p:sp>
      </p:grpSp>
      <p:sp>
        <p:nvSpPr>
          <p:cNvPr id="53" name="Rectangle 52"/>
          <p:cNvSpPr/>
          <p:nvPr/>
        </p:nvSpPr>
        <p:spPr>
          <a:xfrm>
            <a:off x="6406895"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TextBox 53"/>
          <p:cNvSpPr txBox="1"/>
          <p:nvPr/>
        </p:nvSpPr>
        <p:spPr>
          <a:xfrm>
            <a:off x="6470904" y="2971799"/>
            <a:ext cx="3791712" cy="7498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Top: 03, 04. Bottom: 06, 08.</a:t>
            </a:r>
          </a:p>
          <a:p>
            <a:pPr>
              <a:lnSpc>
                <a:spcPts val="1836"/>
              </a:lnSpc>
              <a:spcBef>
                <a:spcPts val="0"/>
              </a:spcBef>
              <a:spcAft>
                <a:spcPts val="0"/>
              </a:spcAft>
              <a:defRPr sz="1700" b="0">
                <a:solidFill>
                  <a:srgbClr val="182B3A"/>
                </a:solidFill>
                <a:latin typeface="Arial"/>
              </a:defRPr>
            </a:pPr>
            <a:r>
              <a:t>Keep the tens zeros.</a:t>
            </a:r>
          </a:p>
        </p:txBody>
      </p:sp>
      <p:grpSp>
        <p:nvGrpSpPr>
          <p:cNvPr id="55" name="Editable lattice 34 × 12"/>
          <p:cNvGrpSpPr/>
          <p:nvPr/>
        </p:nvGrpSpPr>
        <p:grpSpPr>
          <a:xfrm>
            <a:off x="7493508" y="3803903"/>
            <a:ext cx="1563623" cy="1517904"/>
            <a:chOff x="7493508" y="3803903"/>
            <a:chExt cx="1563623" cy="1517904"/>
          </a:xfrm>
        </p:grpSpPr>
        <p:sp>
          <p:nvSpPr>
            <p:cNvPr id="56" name="TextBox 55"/>
            <p:cNvSpPr txBox="1"/>
            <p:nvPr/>
          </p:nvSpPr>
          <p:spPr>
            <a:xfrm>
              <a:off x="7822692"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3</a:t>
              </a:r>
            </a:p>
          </p:txBody>
        </p:sp>
        <p:sp>
          <p:nvSpPr>
            <p:cNvPr id="57" name="TextBox 56"/>
            <p:cNvSpPr txBox="1"/>
            <p:nvPr/>
          </p:nvSpPr>
          <p:spPr>
            <a:xfrm>
              <a:off x="8293608" y="3803903"/>
              <a:ext cx="470915" cy="228600"/>
            </a:xfrm>
            <a:prstGeom prst="rect">
              <a:avLst/>
            </a:prstGeom>
            <a:noFill/>
          </p:spPr>
          <p:txBody>
            <a:bodyPr wrap="none" lIns="0" tIns="0" rIns="0" bIns="0" anchor="ctr">
              <a:spAutoFit/>
            </a:bodyPr>
            <a:lstStyle/>
            <a:p>
              <a:pPr algn="ctr">
                <a:defRPr sz="1800" b="1">
                  <a:solidFill>
                    <a:srgbClr val="3559A2"/>
                  </a:solidFill>
                  <a:latin typeface="Arial"/>
                </a:defRPr>
              </a:pPr>
              <a:r>
                <a:t>4</a:t>
              </a:r>
            </a:p>
          </p:txBody>
        </p:sp>
        <p:sp>
          <p:nvSpPr>
            <p:cNvPr id="58" name="TextBox 57"/>
            <p:cNvSpPr txBox="1"/>
            <p:nvPr/>
          </p:nvSpPr>
          <p:spPr>
            <a:xfrm>
              <a:off x="8791955" y="4059935"/>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1</a:t>
              </a:r>
            </a:p>
          </p:txBody>
        </p:sp>
        <p:sp>
          <p:nvSpPr>
            <p:cNvPr id="59" name="TextBox 58"/>
            <p:cNvSpPr txBox="1"/>
            <p:nvPr/>
          </p:nvSpPr>
          <p:spPr>
            <a:xfrm>
              <a:off x="8791955" y="4530851"/>
              <a:ext cx="265176" cy="470915"/>
            </a:xfrm>
            <a:prstGeom prst="rect">
              <a:avLst/>
            </a:prstGeom>
            <a:noFill/>
          </p:spPr>
          <p:txBody>
            <a:bodyPr wrap="none" lIns="0" tIns="0" rIns="0" bIns="0" anchor="ctr">
              <a:spAutoFit/>
            </a:bodyPr>
            <a:lstStyle/>
            <a:p>
              <a:pPr algn="ctr">
                <a:defRPr sz="1800" b="1">
                  <a:solidFill>
                    <a:srgbClr val="3559A2"/>
                  </a:solidFill>
                  <a:latin typeface="Arial"/>
                </a:defRPr>
              </a:pPr>
              <a:r>
                <a:t>2</a:t>
              </a:r>
            </a:p>
          </p:txBody>
        </p:sp>
        <p:sp>
          <p:nvSpPr>
            <p:cNvPr id="60" name="Rectangle 59"/>
            <p:cNvSpPr/>
            <p:nvPr/>
          </p:nvSpPr>
          <p:spPr>
            <a:xfrm>
              <a:off x="7822692"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1" name="Connector 60"/>
            <p:cNvCxnSpPr/>
            <p:nvPr/>
          </p:nvCxnSpPr>
          <p:spPr>
            <a:xfrm flipV="1">
              <a:off x="7822692"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841528"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3" name="TextBox 62"/>
            <p:cNvSpPr txBox="1"/>
            <p:nvPr/>
          </p:nvSpPr>
          <p:spPr>
            <a:xfrm>
              <a:off x="8048731"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64" name="Rectangle 63"/>
            <p:cNvSpPr/>
            <p:nvPr/>
          </p:nvSpPr>
          <p:spPr>
            <a:xfrm>
              <a:off x="8293608" y="4059935"/>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5" name="Connector 64"/>
            <p:cNvCxnSpPr/>
            <p:nvPr/>
          </p:nvCxnSpPr>
          <p:spPr>
            <a:xfrm flipV="1">
              <a:off x="8293608" y="4059935"/>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8312444" y="406935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67" name="TextBox 66"/>
            <p:cNvSpPr txBox="1"/>
            <p:nvPr/>
          </p:nvSpPr>
          <p:spPr>
            <a:xfrm>
              <a:off x="8519647" y="4290684"/>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68" name="Rectangle 67"/>
            <p:cNvSpPr/>
            <p:nvPr/>
          </p:nvSpPr>
          <p:spPr>
            <a:xfrm>
              <a:off x="7822692"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69" name="Connector 68"/>
            <p:cNvCxnSpPr/>
            <p:nvPr/>
          </p:nvCxnSpPr>
          <p:spPr>
            <a:xfrm flipV="1">
              <a:off x="7822692"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841528"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1" name="TextBox 70"/>
            <p:cNvSpPr txBox="1"/>
            <p:nvPr/>
          </p:nvSpPr>
          <p:spPr>
            <a:xfrm>
              <a:off x="8048731"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72" name="Rectangle 71"/>
            <p:cNvSpPr/>
            <p:nvPr/>
          </p:nvSpPr>
          <p:spPr>
            <a:xfrm>
              <a:off x="8293608" y="4530851"/>
              <a:ext cx="470915" cy="470915"/>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3" name="Connector 72"/>
            <p:cNvCxnSpPr/>
            <p:nvPr/>
          </p:nvCxnSpPr>
          <p:spPr>
            <a:xfrm flipV="1">
              <a:off x="8293608" y="4530851"/>
              <a:ext cx="470916" cy="47091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8312444" y="454027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75" name="TextBox 74"/>
            <p:cNvSpPr txBox="1"/>
            <p:nvPr/>
          </p:nvSpPr>
          <p:spPr>
            <a:xfrm>
              <a:off x="8519647" y="4761600"/>
              <a:ext cx="226039" cy="221330"/>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cxnSp>
          <p:nvCxnSpPr>
            <p:cNvPr id="76" name="Connector 75"/>
            <p:cNvCxnSpPr/>
            <p:nvPr/>
          </p:nvCxnSpPr>
          <p:spPr>
            <a:xfrm>
              <a:off x="7822692"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293608"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764524" y="4059935"/>
              <a:ext cx="0" cy="9418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822692" y="4059935"/>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2692" y="4530851"/>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822692" y="5001767"/>
              <a:ext cx="94183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293608"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8</a:t>
              </a:r>
            </a:p>
          </p:txBody>
        </p:sp>
        <p:sp>
          <p:nvSpPr>
            <p:cNvPr id="83" name="TextBox 82"/>
            <p:cNvSpPr txBox="1"/>
            <p:nvPr/>
          </p:nvSpPr>
          <p:spPr>
            <a:xfrm>
              <a:off x="7822692" y="5084063"/>
              <a:ext cx="470915" cy="237744"/>
            </a:xfrm>
            <a:prstGeom prst="rect">
              <a:avLst/>
            </a:prstGeom>
            <a:noFill/>
          </p:spPr>
          <p:txBody>
            <a:bodyPr wrap="none" lIns="0" tIns="0" rIns="0" bIns="0" anchor="ctr">
              <a:spAutoFit/>
            </a:bodyPr>
            <a:lstStyle/>
            <a:p>
              <a:pPr algn="ctr">
                <a:defRPr sz="1900" b="1">
                  <a:solidFill>
                    <a:srgbClr val="3559A2"/>
                  </a:solidFill>
                  <a:latin typeface="Arial"/>
                </a:defRPr>
              </a:pPr>
              <a:r>
                <a:t>0</a:t>
              </a:r>
            </a:p>
          </p:txBody>
        </p:sp>
        <p:sp>
          <p:nvSpPr>
            <p:cNvPr id="84" name="TextBox 83"/>
            <p:cNvSpPr txBox="1"/>
            <p:nvPr/>
          </p:nvSpPr>
          <p:spPr>
            <a:xfrm>
              <a:off x="7511796" y="4530851"/>
              <a:ext cx="265176" cy="470915"/>
            </a:xfrm>
            <a:prstGeom prst="rect">
              <a:avLst/>
            </a:prstGeom>
            <a:noFill/>
          </p:spPr>
          <p:txBody>
            <a:bodyPr wrap="none" lIns="0" tIns="0" rIns="0" bIns="0" anchor="ctr">
              <a:spAutoFit/>
            </a:bodyPr>
            <a:lstStyle/>
            <a:p>
              <a:pPr algn="ctr">
                <a:defRPr sz="1900" b="1">
                  <a:solidFill>
                    <a:srgbClr val="3559A2"/>
                  </a:solidFill>
                  <a:latin typeface="Arial"/>
                </a:defRPr>
              </a:pPr>
              <a:r>
                <a:t>4</a:t>
              </a:r>
            </a:p>
          </p:txBody>
        </p:sp>
        <p:sp>
          <p:nvSpPr>
            <p:cNvPr id="85" name="TextBox 84"/>
            <p:cNvSpPr txBox="1"/>
            <p:nvPr/>
          </p:nvSpPr>
          <p:spPr>
            <a:xfrm>
              <a:off x="7493508" y="4539995"/>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86" name="TextBox 85"/>
            <p:cNvSpPr txBox="1"/>
            <p:nvPr/>
          </p:nvSpPr>
          <p:spPr>
            <a:xfrm>
              <a:off x="7511796" y="4059935"/>
              <a:ext cx="265176" cy="470915"/>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87" name="Rectangle 86"/>
          <p:cNvSpPr/>
          <p:nvPr/>
        </p:nvSpPr>
        <p:spPr>
          <a:xfrm>
            <a:off x="10326624" y="2907791"/>
            <a:ext cx="3919727" cy="2423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10390632" y="2971799"/>
            <a:ext cx="3791712" cy="29260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Tens above; units below.</a:t>
            </a:r>
          </a:p>
        </p:txBody>
      </p:sp>
      <p:grpSp>
        <p:nvGrpSpPr>
          <p:cNvPr id="89" name="Editable lattice 4312 × 156"/>
          <p:cNvGrpSpPr/>
          <p:nvPr/>
        </p:nvGrpSpPr>
        <p:grpSpPr>
          <a:xfrm>
            <a:off x="10951464" y="3346704"/>
            <a:ext cx="2487167" cy="1975104"/>
            <a:chOff x="10951464" y="3346704"/>
            <a:chExt cx="2487167" cy="1975104"/>
          </a:xfrm>
        </p:grpSpPr>
        <p:sp>
          <p:nvSpPr>
            <p:cNvPr id="90" name="TextBox 89"/>
            <p:cNvSpPr txBox="1"/>
            <p:nvPr/>
          </p:nvSpPr>
          <p:spPr>
            <a:xfrm>
              <a:off x="11280648"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4</a:t>
              </a:r>
            </a:p>
          </p:txBody>
        </p:sp>
        <p:sp>
          <p:nvSpPr>
            <p:cNvPr id="91" name="TextBox 90"/>
            <p:cNvSpPr txBox="1"/>
            <p:nvPr/>
          </p:nvSpPr>
          <p:spPr>
            <a:xfrm>
              <a:off x="11746992"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3</a:t>
              </a:r>
            </a:p>
          </p:txBody>
        </p:sp>
        <p:sp>
          <p:nvSpPr>
            <p:cNvPr id="92" name="TextBox 91"/>
            <p:cNvSpPr txBox="1"/>
            <p:nvPr/>
          </p:nvSpPr>
          <p:spPr>
            <a:xfrm>
              <a:off x="12213335"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3" name="TextBox 92"/>
            <p:cNvSpPr txBox="1"/>
            <p:nvPr/>
          </p:nvSpPr>
          <p:spPr>
            <a:xfrm>
              <a:off x="12679679" y="3346704"/>
              <a:ext cx="466343" cy="228600"/>
            </a:xfrm>
            <a:prstGeom prst="rect">
              <a:avLst/>
            </a:prstGeom>
            <a:noFill/>
          </p:spPr>
          <p:txBody>
            <a:bodyPr wrap="none" lIns="0" tIns="0" rIns="0" bIns="0" anchor="ctr">
              <a:spAutoFit/>
            </a:bodyPr>
            <a:lstStyle/>
            <a:p>
              <a:pPr algn="ctr">
                <a:defRPr sz="1800" b="1">
                  <a:solidFill>
                    <a:srgbClr val="754B87"/>
                  </a:solidFill>
                  <a:latin typeface="Arial"/>
                </a:defRPr>
              </a:pPr>
              <a:r>
                <a:t>2</a:t>
              </a:r>
            </a:p>
          </p:txBody>
        </p:sp>
        <p:sp>
          <p:nvSpPr>
            <p:cNvPr id="94" name="TextBox 93"/>
            <p:cNvSpPr txBox="1"/>
            <p:nvPr/>
          </p:nvSpPr>
          <p:spPr>
            <a:xfrm>
              <a:off x="13173455" y="3602736"/>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1</a:t>
              </a:r>
            </a:p>
          </p:txBody>
        </p:sp>
        <p:sp>
          <p:nvSpPr>
            <p:cNvPr id="95" name="TextBox 94"/>
            <p:cNvSpPr txBox="1"/>
            <p:nvPr/>
          </p:nvSpPr>
          <p:spPr>
            <a:xfrm>
              <a:off x="13173455" y="4069080"/>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5</a:t>
              </a:r>
            </a:p>
          </p:txBody>
        </p:sp>
        <p:sp>
          <p:nvSpPr>
            <p:cNvPr id="96" name="TextBox 95"/>
            <p:cNvSpPr txBox="1"/>
            <p:nvPr/>
          </p:nvSpPr>
          <p:spPr>
            <a:xfrm>
              <a:off x="13173455" y="4535424"/>
              <a:ext cx="265176" cy="466343"/>
            </a:xfrm>
            <a:prstGeom prst="rect">
              <a:avLst/>
            </a:prstGeom>
            <a:noFill/>
          </p:spPr>
          <p:txBody>
            <a:bodyPr wrap="none" lIns="0" tIns="0" rIns="0" bIns="0" anchor="ctr">
              <a:spAutoFit/>
            </a:bodyPr>
            <a:lstStyle/>
            <a:p>
              <a:pPr algn="ctr">
                <a:defRPr sz="1800" b="1">
                  <a:solidFill>
                    <a:srgbClr val="754B87"/>
                  </a:solidFill>
                  <a:latin typeface="Arial"/>
                </a:defRPr>
              </a:pPr>
              <a:r>
                <a:t>6</a:t>
              </a:r>
            </a:p>
          </p:txBody>
        </p:sp>
        <p:sp>
          <p:nvSpPr>
            <p:cNvPr id="97" name="Rectangle 96"/>
            <p:cNvSpPr/>
            <p:nvPr/>
          </p:nvSpPr>
          <p:spPr>
            <a:xfrm>
              <a:off x="11280648"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98" name="Connector 97"/>
            <p:cNvCxnSpPr/>
            <p:nvPr/>
          </p:nvCxnSpPr>
          <p:spPr>
            <a:xfrm flipV="1">
              <a:off x="11280648"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11299301"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0" name="TextBox 99"/>
            <p:cNvSpPr txBox="1"/>
            <p:nvPr/>
          </p:nvSpPr>
          <p:spPr>
            <a:xfrm>
              <a:off x="11504493"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01" name="Rectangle 100"/>
            <p:cNvSpPr/>
            <p:nvPr/>
          </p:nvSpPr>
          <p:spPr>
            <a:xfrm>
              <a:off x="11746992"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2" name="Connector 101"/>
            <p:cNvCxnSpPr/>
            <p:nvPr/>
          </p:nvCxnSpPr>
          <p:spPr>
            <a:xfrm flipV="1">
              <a:off x="11746992" y="3602736"/>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765645"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4" name="TextBox 103"/>
            <p:cNvSpPr txBox="1"/>
            <p:nvPr/>
          </p:nvSpPr>
          <p:spPr>
            <a:xfrm>
              <a:off x="11970837"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3</a:t>
              </a:r>
            </a:p>
          </p:txBody>
        </p:sp>
        <p:sp>
          <p:nvSpPr>
            <p:cNvPr id="105" name="Rectangle 104"/>
            <p:cNvSpPr/>
            <p:nvPr/>
          </p:nvSpPr>
          <p:spPr>
            <a:xfrm>
              <a:off x="12213335"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06" name="Connector 105"/>
            <p:cNvCxnSpPr/>
            <p:nvPr/>
          </p:nvCxnSpPr>
          <p:spPr>
            <a:xfrm flipV="1">
              <a:off x="12213335"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12231989"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08" name="TextBox 107"/>
            <p:cNvSpPr txBox="1"/>
            <p:nvPr/>
          </p:nvSpPr>
          <p:spPr>
            <a:xfrm>
              <a:off x="12437181"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09" name="Rectangle 108"/>
            <p:cNvSpPr/>
            <p:nvPr/>
          </p:nvSpPr>
          <p:spPr>
            <a:xfrm>
              <a:off x="12679679" y="3602736"/>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0" name="Connector 109"/>
            <p:cNvCxnSpPr/>
            <p:nvPr/>
          </p:nvCxnSpPr>
          <p:spPr>
            <a:xfrm flipV="1">
              <a:off x="12679679" y="3602736"/>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12698333" y="361206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2" name="TextBox 111"/>
            <p:cNvSpPr txBox="1"/>
            <p:nvPr/>
          </p:nvSpPr>
          <p:spPr>
            <a:xfrm>
              <a:off x="12903525" y="3831244"/>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3" name="Rectangle 112"/>
            <p:cNvSpPr/>
            <p:nvPr/>
          </p:nvSpPr>
          <p:spPr>
            <a:xfrm>
              <a:off x="11280648"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4" name="Connector 113"/>
            <p:cNvCxnSpPr/>
            <p:nvPr/>
          </p:nvCxnSpPr>
          <p:spPr>
            <a:xfrm flipV="1">
              <a:off x="11280648"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11299301"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16" name="TextBox 115"/>
            <p:cNvSpPr txBox="1"/>
            <p:nvPr/>
          </p:nvSpPr>
          <p:spPr>
            <a:xfrm>
              <a:off x="11504493"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17" name="Rectangle 116"/>
            <p:cNvSpPr/>
            <p:nvPr/>
          </p:nvSpPr>
          <p:spPr>
            <a:xfrm>
              <a:off x="11746992"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18" name="Connector 117"/>
            <p:cNvCxnSpPr/>
            <p:nvPr/>
          </p:nvCxnSpPr>
          <p:spPr>
            <a:xfrm flipV="1">
              <a:off x="11746992" y="4069080"/>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11765645"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0" name="TextBox 119"/>
            <p:cNvSpPr txBox="1"/>
            <p:nvPr/>
          </p:nvSpPr>
          <p:spPr>
            <a:xfrm>
              <a:off x="11970837"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1" name="Rectangle 120"/>
            <p:cNvSpPr/>
            <p:nvPr/>
          </p:nvSpPr>
          <p:spPr>
            <a:xfrm>
              <a:off x="12213335"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2" name="Connector 121"/>
            <p:cNvCxnSpPr/>
            <p:nvPr/>
          </p:nvCxnSpPr>
          <p:spPr>
            <a:xfrm flipV="1">
              <a:off x="12213335"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12231989"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4" name="TextBox 123"/>
            <p:cNvSpPr txBox="1"/>
            <p:nvPr/>
          </p:nvSpPr>
          <p:spPr>
            <a:xfrm>
              <a:off x="12437181"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5</a:t>
              </a:r>
            </a:p>
          </p:txBody>
        </p:sp>
        <p:sp>
          <p:nvSpPr>
            <p:cNvPr id="125" name="Rectangle 124"/>
            <p:cNvSpPr/>
            <p:nvPr/>
          </p:nvSpPr>
          <p:spPr>
            <a:xfrm>
              <a:off x="12679679" y="4069080"/>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26" name="Connector 125"/>
            <p:cNvCxnSpPr/>
            <p:nvPr/>
          </p:nvCxnSpPr>
          <p:spPr>
            <a:xfrm flipV="1">
              <a:off x="12679679" y="4069080"/>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12698333" y="4078406"/>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28" name="TextBox 127"/>
            <p:cNvSpPr txBox="1"/>
            <p:nvPr/>
          </p:nvSpPr>
          <p:spPr>
            <a:xfrm>
              <a:off x="12903525" y="4297588"/>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29" name="Rectangle 128"/>
            <p:cNvSpPr/>
            <p:nvPr/>
          </p:nvSpPr>
          <p:spPr>
            <a:xfrm>
              <a:off x="11280648"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0" name="Connector 129"/>
            <p:cNvCxnSpPr/>
            <p:nvPr/>
          </p:nvCxnSpPr>
          <p:spPr>
            <a:xfrm flipV="1">
              <a:off x="11280648"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11299301"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sp>
          <p:nvSpPr>
            <p:cNvPr id="132" name="TextBox 131"/>
            <p:cNvSpPr txBox="1"/>
            <p:nvPr/>
          </p:nvSpPr>
          <p:spPr>
            <a:xfrm>
              <a:off x="11504493"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4</a:t>
              </a:r>
            </a:p>
          </p:txBody>
        </p:sp>
        <p:sp>
          <p:nvSpPr>
            <p:cNvPr id="133" name="Rectangle 132"/>
            <p:cNvSpPr/>
            <p:nvPr/>
          </p:nvSpPr>
          <p:spPr>
            <a:xfrm>
              <a:off x="11746992"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4" name="Connector 133"/>
            <p:cNvCxnSpPr/>
            <p:nvPr/>
          </p:nvCxnSpPr>
          <p:spPr>
            <a:xfrm flipV="1">
              <a:off x="11746992" y="4535424"/>
              <a:ext cx="466343"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1765645"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36" name="TextBox 135"/>
            <p:cNvSpPr txBox="1"/>
            <p:nvPr/>
          </p:nvSpPr>
          <p:spPr>
            <a:xfrm>
              <a:off x="11970837"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8</a:t>
              </a:r>
            </a:p>
          </p:txBody>
        </p:sp>
        <p:sp>
          <p:nvSpPr>
            <p:cNvPr id="137" name="Rectangle 136"/>
            <p:cNvSpPr/>
            <p:nvPr/>
          </p:nvSpPr>
          <p:spPr>
            <a:xfrm>
              <a:off x="12213335"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38" name="Connector 137"/>
            <p:cNvCxnSpPr/>
            <p:nvPr/>
          </p:nvCxnSpPr>
          <p:spPr>
            <a:xfrm flipV="1">
              <a:off x="12213335"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2231989"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0</a:t>
              </a:r>
            </a:p>
          </p:txBody>
        </p:sp>
        <p:sp>
          <p:nvSpPr>
            <p:cNvPr id="140" name="TextBox 139"/>
            <p:cNvSpPr txBox="1"/>
            <p:nvPr/>
          </p:nvSpPr>
          <p:spPr>
            <a:xfrm>
              <a:off x="12437181"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6</a:t>
              </a:r>
            </a:p>
          </p:txBody>
        </p:sp>
        <p:sp>
          <p:nvSpPr>
            <p:cNvPr id="141" name="Rectangle 140"/>
            <p:cNvSpPr/>
            <p:nvPr/>
          </p:nvSpPr>
          <p:spPr>
            <a:xfrm>
              <a:off x="12679679" y="4535424"/>
              <a:ext cx="466343" cy="466343"/>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142" name="Connector 141"/>
            <p:cNvCxnSpPr/>
            <p:nvPr/>
          </p:nvCxnSpPr>
          <p:spPr>
            <a:xfrm flipV="1">
              <a:off x="12679679" y="4535424"/>
              <a:ext cx="466344" cy="466344"/>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143" name="TextBox 142"/>
            <p:cNvSpPr txBox="1"/>
            <p:nvPr/>
          </p:nvSpPr>
          <p:spPr>
            <a:xfrm>
              <a:off x="12698333" y="4544750"/>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1</a:t>
              </a:r>
            </a:p>
          </p:txBody>
        </p:sp>
        <p:sp>
          <p:nvSpPr>
            <p:cNvPr id="144" name="TextBox 143"/>
            <p:cNvSpPr txBox="1"/>
            <p:nvPr/>
          </p:nvSpPr>
          <p:spPr>
            <a:xfrm>
              <a:off x="12903525" y="4763932"/>
              <a:ext cx="223845" cy="219181"/>
            </a:xfrm>
            <a:prstGeom prst="rect">
              <a:avLst/>
            </a:prstGeom>
            <a:noFill/>
          </p:spPr>
          <p:txBody>
            <a:bodyPr wrap="none" lIns="0" tIns="0" rIns="0" bIns="0" anchor="ctr">
              <a:spAutoFit/>
            </a:bodyPr>
            <a:lstStyle/>
            <a:p>
              <a:pPr algn="ctr">
                <a:defRPr sz="1800" b="0">
                  <a:solidFill>
                    <a:srgbClr val="182B3A"/>
                  </a:solidFill>
                  <a:latin typeface="Arial"/>
                </a:defRPr>
              </a:pPr>
              <a:r>
                <a:t>2</a:t>
              </a:r>
            </a:p>
          </p:txBody>
        </p:sp>
        <p:cxnSp>
          <p:nvCxnSpPr>
            <p:cNvPr id="145" name="Connector 144"/>
            <p:cNvCxnSpPr/>
            <p:nvPr/>
          </p:nvCxnSpPr>
          <p:spPr>
            <a:xfrm>
              <a:off x="11280648"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1746992"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2213335"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2679679"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13146023" y="3602736"/>
              <a:ext cx="0" cy="1399032"/>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11280648" y="3602736"/>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280648" y="4069080"/>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280648" y="4535424"/>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280648" y="5001768"/>
              <a:ext cx="1865375"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2679679"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5" name="TextBox 154"/>
            <p:cNvSpPr txBox="1"/>
            <p:nvPr/>
          </p:nvSpPr>
          <p:spPr>
            <a:xfrm>
              <a:off x="12213335"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56" name="TextBox 155"/>
            <p:cNvSpPr txBox="1"/>
            <p:nvPr/>
          </p:nvSpPr>
          <p:spPr>
            <a:xfrm>
              <a:off x="11746992"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57" name="TextBox 156"/>
            <p:cNvSpPr txBox="1"/>
            <p:nvPr/>
          </p:nvSpPr>
          <p:spPr>
            <a:xfrm>
              <a:off x="11280648" y="5084064"/>
              <a:ext cx="466343" cy="237744"/>
            </a:xfrm>
            <a:prstGeom prst="rect">
              <a:avLst/>
            </a:prstGeom>
            <a:noFill/>
          </p:spPr>
          <p:txBody>
            <a:bodyPr wrap="none" lIns="0" tIns="0" rIns="0" bIns="0" anchor="ctr">
              <a:spAutoFit/>
            </a:bodyPr>
            <a:lstStyle/>
            <a:p>
              <a:pPr algn="ctr">
                <a:defRPr sz="1900" b="1">
                  <a:solidFill>
                    <a:srgbClr val="754B87"/>
                  </a:solidFill>
                  <a:latin typeface="Arial"/>
                </a:defRPr>
              </a:pPr>
              <a:r>
                <a:t>2</a:t>
              </a:r>
            </a:p>
          </p:txBody>
        </p:sp>
        <p:sp>
          <p:nvSpPr>
            <p:cNvPr id="158" name="TextBox 157"/>
            <p:cNvSpPr txBox="1"/>
            <p:nvPr/>
          </p:nvSpPr>
          <p:spPr>
            <a:xfrm>
              <a:off x="11298935" y="4956048"/>
              <a:ext cx="233171"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59" name="TextBox 158"/>
            <p:cNvSpPr txBox="1"/>
            <p:nvPr/>
          </p:nvSpPr>
          <p:spPr>
            <a:xfrm>
              <a:off x="10969752" y="4535424"/>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7</a:t>
              </a:r>
            </a:p>
          </p:txBody>
        </p:sp>
        <p:sp>
          <p:nvSpPr>
            <p:cNvPr id="160" name="TextBox 159"/>
            <p:cNvSpPr txBox="1"/>
            <p:nvPr/>
          </p:nvSpPr>
          <p:spPr>
            <a:xfrm>
              <a:off x="10951464" y="4544568"/>
              <a:ext cx="320040" cy="155448"/>
            </a:xfrm>
            <a:prstGeom prst="rect">
              <a:avLst/>
            </a:prstGeom>
            <a:noFill/>
          </p:spPr>
          <p:txBody>
            <a:bodyPr wrap="none" lIns="0" tIns="0" rIns="0" bIns="0" anchor="ctr">
              <a:spAutoFit/>
            </a:bodyPr>
            <a:lstStyle/>
            <a:p>
              <a:pPr algn="ctr">
                <a:defRPr sz="1000" b="1">
                  <a:solidFill>
                    <a:srgbClr val="B14F00"/>
                  </a:solidFill>
                  <a:latin typeface="Arial"/>
                </a:defRPr>
              </a:pPr>
              <a:r>
                <a:t>+1</a:t>
              </a:r>
            </a:p>
          </p:txBody>
        </p:sp>
        <p:sp>
          <p:nvSpPr>
            <p:cNvPr id="161" name="TextBox 160"/>
            <p:cNvSpPr txBox="1"/>
            <p:nvPr/>
          </p:nvSpPr>
          <p:spPr>
            <a:xfrm>
              <a:off x="10969752" y="4069080"/>
              <a:ext cx="265176" cy="466343"/>
            </a:xfrm>
            <a:prstGeom prst="rect">
              <a:avLst/>
            </a:prstGeom>
            <a:noFill/>
          </p:spPr>
          <p:txBody>
            <a:bodyPr wrap="none" lIns="0" tIns="0" rIns="0" bIns="0" anchor="ctr">
              <a:spAutoFit/>
            </a:bodyPr>
            <a:lstStyle/>
            <a:p>
              <a:pPr algn="ctr">
                <a:defRPr sz="1900" b="1">
                  <a:solidFill>
                    <a:srgbClr val="754B87"/>
                  </a:solidFill>
                  <a:latin typeface="Arial"/>
                </a:defRPr>
              </a:pPr>
              <a:r>
                <a:t>6</a:t>
              </a:r>
            </a:p>
          </p:txBody>
        </p:sp>
        <p:sp>
          <p:nvSpPr>
            <p:cNvPr id="162" name="TextBox 161"/>
            <p:cNvSpPr txBox="1"/>
            <p:nvPr/>
          </p:nvSpPr>
          <p:spPr>
            <a:xfrm>
              <a:off x="10969752" y="3602736"/>
              <a:ext cx="265176" cy="466343"/>
            </a:xfrm>
            <a:prstGeom prst="rect">
              <a:avLst/>
            </a:prstGeom>
            <a:noFill/>
          </p:spPr>
          <p:txBody>
            <a:bodyPr wrap="none" lIns="0" tIns="0" rIns="0" bIns="0" anchor="ctr">
              <a:spAutoFit/>
            </a:bodyPr>
            <a:lstStyle/>
            <a:p>
              <a:pPr algn="ctr">
                <a:defRPr sz="1900" b="1">
                  <a:solidFill>
                    <a:srgbClr val="8193A0"/>
                  </a:solidFill>
                  <a:latin typeface="Arial"/>
                </a:defRPr>
              </a:pPr>
              <a:r>
                <a:t>0</a:t>
              </a:r>
            </a:p>
          </p:txBody>
        </p:sp>
      </p:grpSp>
      <p:sp>
        <p:nvSpPr>
          <p:cNvPr id="163" name="Rectangle 162"/>
          <p:cNvSpPr/>
          <p:nvPr/>
        </p:nvSpPr>
        <p:spPr>
          <a:xfrm>
            <a:off x="384048" y="5330952"/>
            <a:ext cx="2103120" cy="16916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4" name="TextBox 163"/>
          <p:cNvSpPr txBox="1"/>
          <p:nvPr/>
        </p:nvSpPr>
        <p:spPr>
          <a:xfrm>
            <a:off x="448056" y="5422392"/>
            <a:ext cx="1975103" cy="150876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165" name="Rectangle 164"/>
          <p:cNvSpPr/>
          <p:nvPr/>
        </p:nvSpPr>
        <p:spPr>
          <a:xfrm>
            <a:off x="2487168"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6" name="TextBox 165"/>
          <p:cNvSpPr txBox="1"/>
          <p:nvPr/>
        </p:nvSpPr>
        <p:spPr>
          <a:xfrm>
            <a:off x="2551175"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1 + 4 = 5 → write 5</a:t>
            </a:r>
          </a:p>
          <a:p>
            <a:pPr>
              <a:lnSpc>
                <a:spcPts val="1620"/>
              </a:lnSpc>
              <a:spcBef>
                <a:spcPts val="0"/>
              </a:spcBef>
              <a:spcAft>
                <a:spcPts val="0"/>
              </a:spcAft>
              <a:defRPr sz="1500" b="0">
                <a:solidFill>
                  <a:srgbClr val="182B3A"/>
                </a:solidFill>
                <a:latin typeface="Arial"/>
              </a:defRPr>
            </a:pPr>
            <a:r>
              <a:t>2 → write 2</a:t>
            </a:r>
          </a:p>
        </p:txBody>
      </p:sp>
      <p:sp>
        <p:nvSpPr>
          <p:cNvPr id="167" name="Rectangle 166"/>
          <p:cNvSpPr/>
          <p:nvPr/>
        </p:nvSpPr>
        <p:spPr>
          <a:xfrm>
            <a:off x="6406895"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8" name="TextBox 167"/>
          <p:cNvSpPr txBox="1"/>
          <p:nvPr/>
        </p:nvSpPr>
        <p:spPr>
          <a:xfrm>
            <a:off x="6470904"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Start at the bottom right:</a:t>
            </a:r>
          </a:p>
          <a:p>
            <a:pPr>
              <a:lnSpc>
                <a:spcPts val="1620"/>
              </a:lnSpc>
              <a:spcBef>
                <a:spcPts val="0"/>
              </a:spcBef>
              <a:spcAft>
                <a:spcPts val="0"/>
              </a:spcAft>
              <a:defRPr sz="1500" b="0">
                <a:solidFill>
                  <a:srgbClr val="182B3A"/>
                </a:solidFill>
                <a:latin typeface="Arial"/>
              </a:defRPr>
            </a:pPr>
            <a:r>
              <a:t>8 → write 8</a:t>
            </a:r>
          </a:p>
          <a:p>
            <a:pPr>
              <a:lnSpc>
                <a:spcPts val="1620"/>
              </a:lnSpc>
              <a:spcBef>
                <a:spcPts val="0"/>
              </a:spcBef>
              <a:spcAft>
                <a:spcPts val="0"/>
              </a:spcAft>
              <a:defRPr sz="1500" b="0">
                <a:solidFill>
                  <a:srgbClr val="182B3A"/>
                </a:solidFill>
                <a:latin typeface="Arial"/>
              </a:defRPr>
            </a:pPr>
            <a:r>
              <a:t>4 + 0 + 6 = 10 → write 0, carry 1</a:t>
            </a:r>
          </a:p>
          <a:p>
            <a:pPr>
              <a:lnSpc>
                <a:spcPts val="1620"/>
              </a:lnSpc>
              <a:spcBef>
                <a:spcPts val="0"/>
              </a:spcBef>
              <a:spcAft>
                <a:spcPts val="0"/>
              </a:spcAft>
              <a:defRPr sz="1500" b="0">
                <a:solidFill>
                  <a:srgbClr val="182B3A"/>
                </a:solidFill>
                <a:latin typeface="Arial"/>
              </a:defRPr>
            </a:pPr>
            <a:r>
              <a:t>0 + 3 + 0 + 1 = 4 → write 4</a:t>
            </a:r>
          </a:p>
          <a:p>
            <a:pPr>
              <a:lnSpc>
                <a:spcPts val="1620"/>
              </a:lnSpc>
              <a:spcBef>
                <a:spcPts val="0"/>
              </a:spcBef>
              <a:spcAft>
                <a:spcPts val="0"/>
              </a:spcAft>
              <a:defRPr sz="1500" b="0">
                <a:solidFill>
                  <a:srgbClr val="182B3A"/>
                </a:solidFill>
                <a:latin typeface="Arial"/>
              </a:defRPr>
            </a:pPr>
            <a:r>
              <a:t>0 → leading zero</a:t>
            </a:r>
          </a:p>
        </p:txBody>
      </p:sp>
      <p:sp>
        <p:nvSpPr>
          <p:cNvPr id="169" name="Rectangle 168"/>
          <p:cNvSpPr/>
          <p:nvPr/>
        </p:nvSpPr>
        <p:spPr>
          <a:xfrm>
            <a:off x="10326624" y="5330952"/>
            <a:ext cx="3919727" cy="16916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0" name="TextBox 169"/>
          <p:cNvSpPr txBox="1"/>
          <p:nvPr/>
        </p:nvSpPr>
        <p:spPr>
          <a:xfrm>
            <a:off x="10390632" y="5394960"/>
            <a:ext cx="3791712" cy="1527048"/>
          </a:xfrm>
          <a:prstGeom prst="rect">
            <a:avLst/>
          </a:prstGeom>
          <a:noFill/>
        </p:spPr>
        <p:txBody>
          <a:bodyPr wrap="square" tIns="36576" bIns="36576" anchor="t">
            <a:spAutoFit/>
          </a:bodyPr>
          <a:lstStyle/>
          <a:p>
            <a:pPr>
              <a:lnSpc>
                <a:spcPts val="1620"/>
              </a:lnSpc>
              <a:spcBef>
                <a:spcPts val="0"/>
              </a:spcBef>
              <a:spcAft>
                <a:spcPts val="0"/>
              </a:spcAft>
              <a:defRPr sz="1500" b="0">
                <a:solidFill>
                  <a:srgbClr val="182B3A"/>
                </a:solidFill>
                <a:latin typeface="Arial"/>
              </a:defRPr>
            </a:pPr>
            <a:r>
              <a:t>2 → write 2</a:t>
            </a:r>
          </a:p>
          <a:p>
            <a:pPr>
              <a:lnSpc>
                <a:spcPts val="1620"/>
              </a:lnSpc>
              <a:spcBef>
                <a:spcPts val="0"/>
              </a:spcBef>
              <a:spcAft>
                <a:spcPts val="0"/>
              </a:spcAft>
              <a:defRPr sz="1500" b="0">
                <a:solidFill>
                  <a:srgbClr val="182B3A"/>
                </a:solidFill>
                <a:latin typeface="Arial"/>
              </a:defRPr>
            </a:pPr>
            <a:r>
              <a:t>1+0+6 = 7 → write 7</a:t>
            </a:r>
          </a:p>
          <a:p>
            <a:pPr>
              <a:lnSpc>
                <a:spcPts val="1620"/>
              </a:lnSpc>
              <a:spcBef>
                <a:spcPts val="0"/>
              </a:spcBef>
              <a:spcAft>
                <a:spcPts val="0"/>
              </a:spcAft>
              <a:defRPr sz="1500" b="0">
                <a:solidFill>
                  <a:srgbClr val="182B3A"/>
                </a:solidFill>
                <a:latin typeface="Arial"/>
              </a:defRPr>
            </a:pPr>
            <a:r>
              <a:t>1+2+0+5+8 = 16 → 6, carry 1</a:t>
            </a:r>
          </a:p>
          <a:p>
            <a:pPr>
              <a:lnSpc>
                <a:spcPts val="1620"/>
              </a:lnSpc>
              <a:spcBef>
                <a:spcPts val="0"/>
              </a:spcBef>
              <a:spcAft>
                <a:spcPts val="0"/>
              </a:spcAft>
              <a:defRPr sz="1500" b="0">
                <a:solidFill>
                  <a:srgbClr val="182B3A"/>
                </a:solidFill>
                <a:latin typeface="Arial"/>
              </a:defRPr>
            </a:pPr>
            <a:r>
              <a:t>0+0+1+1+5+4+1 = 12 → 2, carry 1</a:t>
            </a:r>
          </a:p>
          <a:p>
            <a:pPr>
              <a:lnSpc>
                <a:spcPts val="1620"/>
              </a:lnSpc>
              <a:spcBef>
                <a:spcPts val="0"/>
              </a:spcBef>
              <a:spcAft>
                <a:spcPts val="0"/>
              </a:spcAft>
              <a:defRPr sz="1500" b="0">
                <a:solidFill>
                  <a:srgbClr val="182B3A"/>
                </a:solidFill>
                <a:latin typeface="Arial"/>
              </a:defRPr>
            </a:pPr>
            <a:r>
              <a:t>0+1+3+2+0+1 = 7 → write 7</a:t>
            </a:r>
          </a:p>
          <a:p>
            <a:pPr>
              <a:lnSpc>
                <a:spcPts val="1620"/>
              </a:lnSpc>
              <a:spcBef>
                <a:spcPts val="0"/>
              </a:spcBef>
              <a:spcAft>
                <a:spcPts val="0"/>
              </a:spcAft>
              <a:defRPr sz="1500" b="0">
                <a:solidFill>
                  <a:srgbClr val="182B3A"/>
                </a:solidFill>
                <a:latin typeface="Arial"/>
              </a:defRPr>
            </a:pPr>
            <a:r>
              <a:t>0+2+4 = 6 → write 6</a:t>
            </a:r>
          </a:p>
          <a:p>
            <a:pPr>
              <a:lnSpc>
                <a:spcPts val="1620"/>
              </a:lnSpc>
              <a:spcBef>
                <a:spcPts val="0"/>
              </a:spcBef>
              <a:spcAft>
                <a:spcPts val="0"/>
              </a:spcAft>
              <a:defRPr sz="1500" b="0">
                <a:solidFill>
                  <a:srgbClr val="182B3A"/>
                </a:solidFill>
                <a:latin typeface="Arial"/>
              </a:defRPr>
            </a:pPr>
            <a:r>
              <a:t>0 → leading zero</a:t>
            </a:r>
          </a:p>
        </p:txBody>
      </p:sp>
      <p:sp>
        <p:nvSpPr>
          <p:cNvPr id="171" name="Rectangle 170"/>
          <p:cNvSpPr/>
          <p:nvPr/>
        </p:nvSpPr>
        <p:spPr>
          <a:xfrm>
            <a:off x="384048" y="7022592"/>
            <a:ext cx="2103120" cy="7315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2" name="TextBox 171"/>
          <p:cNvSpPr txBox="1"/>
          <p:nvPr/>
        </p:nvSpPr>
        <p:spPr>
          <a:xfrm>
            <a:off x="448056" y="7114031"/>
            <a:ext cx="1975103" cy="5486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173" name="Rectangle 172"/>
          <p:cNvSpPr/>
          <p:nvPr/>
        </p:nvSpPr>
        <p:spPr>
          <a:xfrm>
            <a:off x="2487168"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4" name="TextBox 173"/>
          <p:cNvSpPr txBox="1"/>
          <p:nvPr/>
        </p:nvSpPr>
        <p:spPr>
          <a:xfrm>
            <a:off x="2551175"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 × 6 = 258</a:t>
            </a:r>
          </a:p>
        </p:txBody>
      </p:sp>
      <p:sp>
        <p:nvSpPr>
          <p:cNvPr id="175" name="Rectangle 174"/>
          <p:cNvSpPr/>
          <p:nvPr/>
        </p:nvSpPr>
        <p:spPr>
          <a:xfrm>
            <a:off x="6406895"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6" name="TextBox 175"/>
          <p:cNvSpPr txBox="1"/>
          <p:nvPr/>
        </p:nvSpPr>
        <p:spPr>
          <a:xfrm>
            <a:off x="6470904"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34 × 12 = 408</a:t>
            </a:r>
          </a:p>
        </p:txBody>
      </p:sp>
      <p:sp>
        <p:nvSpPr>
          <p:cNvPr id="177" name="Rectangle 176"/>
          <p:cNvSpPr/>
          <p:nvPr/>
        </p:nvSpPr>
        <p:spPr>
          <a:xfrm>
            <a:off x="10326624" y="7022592"/>
            <a:ext cx="3919727" cy="7315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8" name="TextBox 177"/>
          <p:cNvSpPr txBox="1"/>
          <p:nvPr/>
        </p:nvSpPr>
        <p:spPr>
          <a:xfrm>
            <a:off x="10390632" y="7086600"/>
            <a:ext cx="3791712" cy="5669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4,312 × 156 = 672,672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empty grids to copy</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Size means columns × rows. Put the first number across the top and the second down the right.</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M01-TEMPLATES  •  Record your working in your booklet or webapp.</a:t>
            </a:r>
          </a:p>
        </p:txBody>
      </p:sp>
      <p:sp>
        <p:nvSpPr>
          <p:cNvPr id="6" name="TextBox 5"/>
          <p:cNvSpPr txBox="1"/>
          <p:nvPr/>
        </p:nvSpPr>
        <p:spPr>
          <a:xfrm>
            <a:off x="114300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2 × 2 grid</a:t>
            </a:r>
          </a:p>
        </p:txBody>
      </p:sp>
      <p:grpSp>
        <p:nvGrpSpPr>
          <p:cNvPr id="7" name="Empty 2 by 2 lattice template"/>
          <p:cNvGrpSpPr/>
          <p:nvPr/>
        </p:nvGrpSpPr>
        <p:grpSpPr>
          <a:xfrm>
            <a:off x="1371600" y="2011680"/>
            <a:ext cx="1060704" cy="1060704"/>
            <a:chOff x="1371600" y="2011680"/>
            <a:chExt cx="1060704" cy="1060704"/>
          </a:xfrm>
        </p:grpSpPr>
        <p:cxnSp>
          <p:nvCxnSpPr>
            <p:cNvPr id="8" name="Connector 7"/>
            <p:cNvCxnSpPr/>
            <p:nvPr/>
          </p:nvCxnSpPr>
          <p:spPr>
            <a:xfrm>
              <a:off x="137160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90195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43230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371600" y="2011680"/>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71600" y="2542032"/>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072384"/>
              <a:ext cx="10607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37160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90195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37160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0195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18" name="TextBox 17"/>
          <p:cNvSpPr txBox="1"/>
          <p:nvPr/>
        </p:nvSpPr>
        <p:spPr>
          <a:xfrm>
            <a:off x="566928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2 grid</a:t>
            </a:r>
          </a:p>
        </p:txBody>
      </p:sp>
      <p:grpSp>
        <p:nvGrpSpPr>
          <p:cNvPr id="19" name="Empty 3 by 2 lattice template"/>
          <p:cNvGrpSpPr/>
          <p:nvPr/>
        </p:nvGrpSpPr>
        <p:grpSpPr>
          <a:xfrm>
            <a:off x="5897880" y="2011680"/>
            <a:ext cx="1591056" cy="1060704"/>
            <a:chOff x="5897880" y="2011680"/>
            <a:chExt cx="1591056" cy="1060704"/>
          </a:xfrm>
        </p:grpSpPr>
        <p:cxnSp>
          <p:nvCxnSpPr>
            <p:cNvPr id="20" name="Connector 19"/>
            <p:cNvCxnSpPr/>
            <p:nvPr/>
          </p:nvCxnSpPr>
          <p:spPr>
            <a:xfrm>
              <a:off x="5897880"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28232"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58584"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88936" y="2011680"/>
              <a:ext cx="0" cy="1060704"/>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8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9788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89788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89788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42823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95858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9788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42823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5858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33" name="TextBox 32"/>
          <p:cNvSpPr txBox="1"/>
          <p:nvPr/>
        </p:nvSpPr>
        <p:spPr>
          <a:xfrm>
            <a:off x="10332720" y="146304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3 × 3 grid</a:t>
            </a:r>
          </a:p>
        </p:txBody>
      </p:sp>
      <p:grpSp>
        <p:nvGrpSpPr>
          <p:cNvPr id="34" name="Empty 3 by 3 lattice template"/>
          <p:cNvGrpSpPr/>
          <p:nvPr/>
        </p:nvGrpSpPr>
        <p:grpSpPr>
          <a:xfrm>
            <a:off x="10561320" y="2011680"/>
            <a:ext cx="1591056" cy="1591056"/>
            <a:chOff x="10561320" y="2011680"/>
            <a:chExt cx="1591056" cy="1591056"/>
          </a:xfrm>
        </p:grpSpPr>
        <p:cxnSp>
          <p:nvCxnSpPr>
            <p:cNvPr id="35" name="Connector 34"/>
            <p:cNvCxnSpPr/>
            <p:nvPr/>
          </p:nvCxnSpPr>
          <p:spPr>
            <a:xfrm>
              <a:off x="10561320"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091672"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1622024"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2152376" y="201168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561320" y="2011680"/>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61320" y="2542032"/>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561320" y="3072384"/>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561320" y="3602736"/>
              <a:ext cx="159105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561320"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1091672"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622024" y="201168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0561320"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091672"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622024" y="254203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561320"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1091672"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1622024" y="307238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315468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3 grid</a:t>
            </a:r>
          </a:p>
        </p:txBody>
      </p:sp>
      <p:grpSp>
        <p:nvGrpSpPr>
          <p:cNvPr id="53" name="Empty 4 by 3 lattice template"/>
          <p:cNvGrpSpPr/>
          <p:nvPr/>
        </p:nvGrpSpPr>
        <p:grpSpPr>
          <a:xfrm>
            <a:off x="3383280" y="4892040"/>
            <a:ext cx="2121408" cy="1591056"/>
            <a:chOff x="3383280" y="4892040"/>
            <a:chExt cx="2121408" cy="1591056"/>
          </a:xfrm>
        </p:grpSpPr>
        <p:cxnSp>
          <p:nvCxnSpPr>
            <p:cNvPr id="54" name="Connector 53"/>
            <p:cNvCxnSpPr/>
            <p:nvPr/>
          </p:nvCxnSpPr>
          <p:spPr>
            <a:xfrm>
              <a:off x="3383280"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913632"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443984"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974336"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04688" y="4892040"/>
              <a:ext cx="0" cy="159105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38328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38328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8328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38328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338328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391363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44398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97433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338328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391363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4398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7433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38328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91363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44398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97433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
        <p:nvSpPr>
          <p:cNvPr id="75" name="TextBox 74"/>
          <p:cNvSpPr txBox="1"/>
          <p:nvPr/>
        </p:nvSpPr>
        <p:spPr>
          <a:xfrm>
            <a:off x="8778240" y="4343400"/>
            <a:ext cx="2743200" cy="365760"/>
          </a:xfrm>
          <a:prstGeom prst="rect">
            <a:avLst/>
          </a:prstGeom>
          <a:noFill/>
        </p:spPr>
        <p:txBody>
          <a:bodyPr wrap="square" tIns="36576" bIns="36576" anchor="t">
            <a:spAutoFit/>
          </a:bodyPr>
          <a:lstStyle/>
          <a:p>
            <a:pPr>
              <a:lnSpc>
                <a:spcPts val="2484"/>
              </a:lnSpc>
              <a:spcBef>
                <a:spcPts val="0"/>
              </a:spcBef>
              <a:spcAft>
                <a:spcPts val="0"/>
              </a:spcAft>
              <a:defRPr sz="2300" b="1">
                <a:solidFill>
                  <a:srgbClr val="182B3A"/>
                </a:solidFill>
                <a:latin typeface="Arial"/>
              </a:defRPr>
            </a:pPr>
            <a:r>
              <a:t>4 × 4 grid</a:t>
            </a:r>
          </a:p>
        </p:txBody>
      </p:sp>
      <p:grpSp>
        <p:nvGrpSpPr>
          <p:cNvPr id="76" name="Empty 4 by 4 lattice template"/>
          <p:cNvGrpSpPr/>
          <p:nvPr/>
        </p:nvGrpSpPr>
        <p:grpSpPr>
          <a:xfrm>
            <a:off x="9006840" y="4892040"/>
            <a:ext cx="2121408" cy="2121408"/>
            <a:chOff x="9006840" y="4892040"/>
            <a:chExt cx="2121408" cy="2121408"/>
          </a:xfrm>
        </p:grpSpPr>
        <p:cxnSp>
          <p:nvCxnSpPr>
            <p:cNvPr id="77" name="Connector 76"/>
            <p:cNvCxnSpPr/>
            <p:nvPr/>
          </p:nvCxnSpPr>
          <p:spPr>
            <a:xfrm>
              <a:off x="9006840"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537192"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67544"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597896"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128248" y="4892040"/>
              <a:ext cx="0" cy="212140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006840" y="4892040"/>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9006840" y="5422392"/>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9006840" y="5952744"/>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9006840" y="6483096"/>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9006840" y="7013448"/>
              <a:ext cx="2121408"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9006840"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9537192"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067544"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597896" y="4892040"/>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006840"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9537192"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067544"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597896" y="5422392"/>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9006840"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537192"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067544"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597896" y="5952744"/>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006840"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537192"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0067544"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10597896" y="6483096"/>
              <a:ext cx="530352" cy="530352"/>
            </a:xfrm>
            <a:prstGeom prst="line">
              <a:avLst/>
            </a:prstGeom>
            <a:ln w="11430">
              <a:solidFill>
                <a:srgbClr val="8193A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53 × 7</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24 × 15</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1,245 × 326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Complete each step in your booklet or webapp.</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84 × 5</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28</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3,142 × 2045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Grid &amp; Arrange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grid and diagonals. First number across the top; second number down the right edge.</a:t>
            </a:r>
          </a:p>
        </p:txBody>
      </p:sp>
      <p:sp>
        <p:nvSpPr>
          <p:cNvPr id="29" name="Rectangle 28"/>
          <p:cNvSpPr/>
          <p:nvPr/>
        </p:nvSpPr>
        <p:spPr>
          <a:xfrm>
            <a:off x="384048" y="3456432"/>
            <a:ext cx="2103120" cy="13716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1887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Find &amp; Fill Cell Products</a:t>
            </a:r>
          </a:p>
        </p:txBody>
      </p:sp>
      <p:sp>
        <p:nvSpPr>
          <p:cNvPr id="31" name="Rectangle 30"/>
          <p:cNvSpPr/>
          <p:nvPr/>
        </p:nvSpPr>
        <p:spPr>
          <a:xfrm>
            <a:off x="2487168"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3" name="Rectangle 32"/>
          <p:cNvSpPr/>
          <p:nvPr/>
        </p:nvSpPr>
        <p:spPr>
          <a:xfrm>
            <a:off x="6406895"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tens zero if the product is below 10.</a:t>
            </a:r>
          </a:p>
        </p:txBody>
      </p:sp>
      <p:sp>
        <p:nvSpPr>
          <p:cNvPr id="35" name="Rectangle 34"/>
          <p:cNvSpPr/>
          <p:nvPr/>
        </p:nvSpPr>
        <p:spPr>
          <a:xfrm>
            <a:off x="10326624" y="3456432"/>
            <a:ext cx="3919727" cy="13716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2070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Multiply each row and column digit. Tens above; units below. Write a zero </a:t>
            </a:r>
            <a:r>
              <a:rPr lang="en-GB"/>
              <a:t>in tens </a:t>
            </a:r>
            <a:r>
              <a:t>if the product is below 10.</a:t>
            </a:r>
          </a:p>
        </p:txBody>
      </p:sp>
      <p:sp>
        <p:nvSpPr>
          <p:cNvPr id="37" name="Rectangle 36"/>
          <p:cNvSpPr/>
          <p:nvPr/>
        </p:nvSpPr>
        <p:spPr>
          <a:xfrm>
            <a:off x="384048" y="4828031"/>
            <a:ext cx="2103120" cy="18288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4919471"/>
            <a:ext cx="1975103" cy="16459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Sum Diagonals &amp; Track Carries</a:t>
            </a:r>
          </a:p>
        </p:txBody>
      </p:sp>
      <p:sp>
        <p:nvSpPr>
          <p:cNvPr id="39" name="Rectangle 38"/>
          <p:cNvSpPr/>
          <p:nvPr/>
        </p:nvSpPr>
        <p:spPr>
          <a:xfrm>
            <a:off x="2487168"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1" name="Rectangle 40"/>
          <p:cNvSpPr/>
          <p:nvPr/>
        </p:nvSpPr>
        <p:spPr>
          <a:xfrm>
            <a:off x="6406895"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3" name="Rectangle 42"/>
          <p:cNvSpPr/>
          <p:nvPr/>
        </p:nvSpPr>
        <p:spPr>
          <a:xfrm>
            <a:off x="10326624" y="4828031"/>
            <a:ext cx="3919727" cy="18288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4892040"/>
            <a:ext cx="3791712" cy="166420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Start at the bottom right. Add each diagonal and any carry. Write its result digit at the bottom end. Put the next carry at the bottom end of the next diagonal in smaller text.</a:t>
            </a:r>
          </a:p>
        </p:txBody>
      </p:sp>
      <p:sp>
        <p:nvSpPr>
          <p:cNvPr id="45" name="Rectangle 44"/>
          <p:cNvSpPr/>
          <p:nvPr/>
        </p:nvSpPr>
        <p:spPr>
          <a:xfrm>
            <a:off x="384048" y="6656831"/>
            <a:ext cx="2103120" cy="10515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48271"/>
            <a:ext cx="1975103" cy="8686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Answer</a:t>
            </a:r>
          </a:p>
        </p:txBody>
      </p:sp>
      <p:sp>
        <p:nvSpPr>
          <p:cNvPr id="47" name="Rectangle 46"/>
          <p:cNvSpPr/>
          <p:nvPr/>
        </p:nvSpPr>
        <p:spPr>
          <a:xfrm>
            <a:off x="2487168"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49" name="Rectangle 48"/>
          <p:cNvSpPr/>
          <p:nvPr/>
        </p:nvSpPr>
        <p:spPr>
          <a:xfrm>
            <a:off x="6406895"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
        <p:nvSpPr>
          <p:cNvPr id="51" name="Rectangle 50"/>
          <p:cNvSpPr/>
          <p:nvPr/>
        </p:nvSpPr>
        <p:spPr>
          <a:xfrm>
            <a:off x="10326624" y="6656831"/>
            <a:ext cx="3919727" cy="10515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720840"/>
            <a:ext cx="3791712" cy="88696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Read down the left edge, then along the bottom. Omit leading zeros.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43 × 6</a:t>
            </a:r>
          </a:p>
        </p:txBody>
      </p:sp>
      <p:sp>
        <p:nvSpPr>
          <p:cNvPr id="10" name="TextBox 9"/>
          <p:cNvSpPr txBox="1"/>
          <p:nvPr/>
        </p:nvSpPr>
        <p:spPr>
          <a:xfrm>
            <a:off x="850392"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1" name="TextBox 10"/>
          <p:cNvSpPr txBox="1"/>
          <p:nvPr/>
        </p:nvSpPr>
        <p:spPr>
          <a:xfrm>
            <a:off x="1280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2" name="TextBox 11"/>
          <p:cNvSpPr txBox="1"/>
          <p:nvPr/>
        </p:nvSpPr>
        <p:spPr>
          <a:xfrm>
            <a:off x="1773936"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3" name="Connector 12"/>
          <p:cNvCxnSpPr/>
          <p:nvPr/>
        </p:nvCxnSpPr>
        <p:spPr>
          <a:xfrm flipV="1">
            <a:off x="850392"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64108"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5" name="TextBox 14"/>
          <p:cNvSpPr txBox="1"/>
          <p:nvPr/>
        </p:nvSpPr>
        <p:spPr>
          <a:xfrm>
            <a:off x="1074420"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6" name="Connector 15"/>
          <p:cNvCxnSpPr/>
          <p:nvPr/>
        </p:nvCxnSpPr>
        <p:spPr>
          <a:xfrm flipV="1">
            <a:off x="1280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3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 name="TextBox 17"/>
          <p:cNvSpPr txBox="1"/>
          <p:nvPr/>
        </p:nvSpPr>
        <p:spPr>
          <a:xfrm>
            <a:off x="1504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 name="Connector 18"/>
          <p:cNvCxnSpPr/>
          <p:nvPr/>
        </p:nvCxnSpPr>
        <p:spPr>
          <a:xfrm>
            <a:off x="850392"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280160"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09928" y="2386584"/>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0392"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50392"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280160"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5" name="TextBox 24"/>
          <p:cNvSpPr txBox="1"/>
          <p:nvPr/>
        </p:nvSpPr>
        <p:spPr>
          <a:xfrm>
            <a:off x="850392" y="28986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26" name="TextBox 25"/>
          <p:cNvSpPr txBox="1"/>
          <p:nvPr/>
        </p:nvSpPr>
        <p:spPr>
          <a:xfrm>
            <a:off x="502920"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7" name="TextBox 26"/>
          <p:cNvSpPr txBox="1"/>
          <p:nvPr/>
        </p:nvSpPr>
        <p:spPr>
          <a:xfrm>
            <a:off x="2670048"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 name="TextBox 27"/>
          <p:cNvSpPr txBox="1"/>
          <p:nvPr/>
        </p:nvSpPr>
        <p:spPr>
          <a:xfrm>
            <a:off x="2670048"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158</a:t>
            </a:r>
          </a:p>
        </p:txBody>
      </p:sp>
      <p:sp>
        <p:nvSpPr>
          <p:cNvPr id="29" name="Rectangle 28"/>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89 × 7</a:t>
            </a:r>
          </a:p>
        </p:txBody>
      </p:sp>
      <p:sp>
        <p:nvSpPr>
          <p:cNvPr id="31" name="TextBox 30"/>
          <p:cNvSpPr txBox="1"/>
          <p:nvPr/>
        </p:nvSpPr>
        <p:spPr>
          <a:xfrm>
            <a:off x="850392"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32" name="TextBox 31"/>
          <p:cNvSpPr txBox="1"/>
          <p:nvPr/>
        </p:nvSpPr>
        <p:spPr>
          <a:xfrm>
            <a:off x="1280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sp>
        <p:nvSpPr>
          <p:cNvPr id="33" name="TextBox 32"/>
          <p:cNvSpPr txBox="1"/>
          <p:nvPr/>
        </p:nvSpPr>
        <p:spPr>
          <a:xfrm>
            <a:off x="1773936"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34" name="Connector 33"/>
          <p:cNvCxnSpPr/>
          <p:nvPr/>
        </p:nvCxnSpPr>
        <p:spPr>
          <a:xfrm flipV="1">
            <a:off x="850392"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36" name="TextBox 35"/>
          <p:cNvSpPr txBox="1"/>
          <p:nvPr/>
        </p:nvSpPr>
        <p:spPr>
          <a:xfrm>
            <a:off x="1074420"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37" name="Connector 36"/>
          <p:cNvCxnSpPr/>
          <p:nvPr/>
        </p:nvCxnSpPr>
        <p:spPr>
          <a:xfrm flipV="1">
            <a:off x="1280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293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sp>
        <p:nvSpPr>
          <p:cNvPr id="39" name="TextBox 38"/>
          <p:cNvSpPr txBox="1"/>
          <p:nvPr/>
        </p:nvSpPr>
        <p:spPr>
          <a:xfrm>
            <a:off x="1504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40" name="Connector 39"/>
          <p:cNvCxnSpPr/>
          <p:nvPr/>
        </p:nvCxnSpPr>
        <p:spPr>
          <a:xfrm>
            <a:off x="850392"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0160"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709928" y="4389120"/>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50392"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50392"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280160"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46" name="TextBox 45"/>
          <p:cNvSpPr txBox="1"/>
          <p:nvPr/>
        </p:nvSpPr>
        <p:spPr>
          <a:xfrm>
            <a:off x="850392" y="4901184"/>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47" name="TextBox 46"/>
          <p:cNvSpPr txBox="1"/>
          <p:nvPr/>
        </p:nvSpPr>
        <p:spPr>
          <a:xfrm>
            <a:off x="502920"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48" name="TextBox 47"/>
          <p:cNvSpPr txBox="1"/>
          <p:nvPr/>
        </p:nvSpPr>
        <p:spPr>
          <a:xfrm>
            <a:off x="2670048"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49" name="TextBox 48"/>
          <p:cNvSpPr txBox="1"/>
          <p:nvPr/>
        </p:nvSpPr>
        <p:spPr>
          <a:xfrm>
            <a:off x="2670048"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523</a:t>
            </a:r>
          </a:p>
        </p:txBody>
      </p:sp>
      <p:sp>
        <p:nvSpPr>
          <p:cNvPr id="50" name="Rectangle 49"/>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76 × 7</a:t>
            </a:r>
          </a:p>
        </p:txBody>
      </p:sp>
      <p:sp>
        <p:nvSpPr>
          <p:cNvPr id="52" name="TextBox 51"/>
          <p:cNvSpPr txBox="1"/>
          <p:nvPr/>
        </p:nvSpPr>
        <p:spPr>
          <a:xfrm>
            <a:off x="850392"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53" name="TextBox 52"/>
          <p:cNvSpPr txBox="1"/>
          <p:nvPr/>
        </p:nvSpPr>
        <p:spPr>
          <a:xfrm>
            <a:off x="1280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54" name="TextBox 53"/>
          <p:cNvSpPr txBox="1"/>
          <p:nvPr/>
        </p:nvSpPr>
        <p:spPr>
          <a:xfrm>
            <a:off x="1773936"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cxnSp>
        <p:nvCxnSpPr>
          <p:cNvPr id="55" name="Connector 54"/>
          <p:cNvCxnSpPr/>
          <p:nvPr/>
        </p:nvCxnSpPr>
        <p:spPr>
          <a:xfrm flipV="1">
            <a:off x="850392"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64108"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57" name="TextBox 56"/>
          <p:cNvSpPr txBox="1"/>
          <p:nvPr/>
        </p:nvSpPr>
        <p:spPr>
          <a:xfrm>
            <a:off x="1074420"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9</a:t>
            </a:r>
          </a:p>
        </p:txBody>
      </p:sp>
      <p:cxnSp>
        <p:nvCxnSpPr>
          <p:cNvPr id="58" name="Connector 57"/>
          <p:cNvCxnSpPr/>
          <p:nvPr/>
        </p:nvCxnSpPr>
        <p:spPr>
          <a:xfrm flipV="1">
            <a:off x="1280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293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60" name="TextBox 59"/>
          <p:cNvSpPr txBox="1"/>
          <p:nvPr/>
        </p:nvSpPr>
        <p:spPr>
          <a:xfrm>
            <a:off x="1504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61" name="Connector 60"/>
          <p:cNvCxnSpPr/>
          <p:nvPr/>
        </p:nvCxnSpPr>
        <p:spPr>
          <a:xfrm>
            <a:off x="850392"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280160"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1709928" y="6391656"/>
            <a:ext cx="0"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850392"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50392"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280160"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67" name="TextBox 66"/>
          <p:cNvSpPr txBox="1"/>
          <p:nvPr/>
        </p:nvSpPr>
        <p:spPr>
          <a:xfrm>
            <a:off x="850392" y="6903720"/>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68" name="TextBox 67"/>
          <p:cNvSpPr txBox="1"/>
          <p:nvPr/>
        </p:nvSpPr>
        <p:spPr>
          <a:xfrm>
            <a:off x="502920"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69" name="TextBox 68"/>
          <p:cNvSpPr txBox="1"/>
          <p:nvPr/>
        </p:nvSpPr>
        <p:spPr>
          <a:xfrm>
            <a:off x="713232" y="6501383"/>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70" name="TextBox 69"/>
          <p:cNvSpPr txBox="1"/>
          <p:nvPr/>
        </p:nvSpPr>
        <p:spPr>
          <a:xfrm>
            <a:off x="2670048"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71" name="TextBox 70"/>
          <p:cNvSpPr txBox="1"/>
          <p:nvPr/>
        </p:nvSpPr>
        <p:spPr>
          <a:xfrm>
            <a:off x="2670048"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5,132</a:t>
            </a:r>
          </a:p>
        </p:txBody>
      </p:sp>
      <p:sp>
        <p:nvSpPr>
          <p:cNvPr id="72" name="Rectangle 71"/>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TextBox 72"/>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74" name="Rectangle 73"/>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34 × 16</a:t>
            </a:r>
          </a:p>
        </p:txBody>
      </p:sp>
      <p:sp>
        <p:nvSpPr>
          <p:cNvPr id="76" name="TextBox 75"/>
          <p:cNvSpPr txBox="1"/>
          <p:nvPr/>
        </p:nvSpPr>
        <p:spPr>
          <a:xfrm>
            <a:off x="5471160"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77" name="TextBox 76"/>
          <p:cNvSpPr txBox="1"/>
          <p:nvPr/>
        </p:nvSpPr>
        <p:spPr>
          <a:xfrm>
            <a:off x="5900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78" name="TextBox 77"/>
          <p:cNvSpPr txBox="1"/>
          <p:nvPr/>
        </p:nvSpPr>
        <p:spPr>
          <a:xfrm>
            <a:off x="6394704"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1</a:t>
            </a:r>
          </a:p>
        </p:txBody>
      </p:sp>
      <p:sp>
        <p:nvSpPr>
          <p:cNvPr id="79" name="TextBox 78"/>
          <p:cNvSpPr txBox="1"/>
          <p:nvPr/>
        </p:nvSpPr>
        <p:spPr>
          <a:xfrm>
            <a:off x="6394704"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80" name="Connector 79"/>
          <p:cNvCxnSpPr/>
          <p:nvPr/>
        </p:nvCxnSpPr>
        <p:spPr>
          <a:xfrm flipV="1">
            <a:off x="5471160"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5484876"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2" name="TextBox 81"/>
          <p:cNvSpPr txBox="1"/>
          <p:nvPr/>
        </p:nvSpPr>
        <p:spPr>
          <a:xfrm>
            <a:off x="5695188"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cxnSp>
        <p:nvCxnSpPr>
          <p:cNvPr id="83" name="Connector 82"/>
          <p:cNvCxnSpPr/>
          <p:nvPr/>
        </p:nvCxnSpPr>
        <p:spPr>
          <a:xfrm flipV="1">
            <a:off x="5900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5914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85" name="TextBox 84"/>
          <p:cNvSpPr txBox="1"/>
          <p:nvPr/>
        </p:nvSpPr>
        <p:spPr>
          <a:xfrm>
            <a:off x="6124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86" name="Connector 85"/>
          <p:cNvCxnSpPr/>
          <p:nvPr/>
        </p:nvCxnSpPr>
        <p:spPr>
          <a:xfrm flipV="1">
            <a:off x="5471160"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484876"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88" name="TextBox 87"/>
          <p:cNvSpPr txBox="1"/>
          <p:nvPr/>
        </p:nvSpPr>
        <p:spPr>
          <a:xfrm>
            <a:off x="5695188"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89" name="Connector 88"/>
          <p:cNvCxnSpPr/>
          <p:nvPr/>
        </p:nvCxnSpPr>
        <p:spPr>
          <a:xfrm flipV="1">
            <a:off x="5900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914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91" name="TextBox 90"/>
          <p:cNvSpPr txBox="1"/>
          <p:nvPr/>
        </p:nvSpPr>
        <p:spPr>
          <a:xfrm>
            <a:off x="6124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92" name="Connector 91"/>
          <p:cNvCxnSpPr/>
          <p:nvPr/>
        </p:nvCxnSpPr>
        <p:spPr>
          <a:xfrm>
            <a:off x="5471160"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00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330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71160" y="238658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471160" y="281635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471160" y="3246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900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99" name="TextBox 98"/>
          <p:cNvSpPr txBox="1"/>
          <p:nvPr/>
        </p:nvSpPr>
        <p:spPr>
          <a:xfrm>
            <a:off x="5471160"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00" name="TextBox 99"/>
          <p:cNvSpPr txBox="1"/>
          <p:nvPr/>
        </p:nvSpPr>
        <p:spPr>
          <a:xfrm>
            <a:off x="5123688"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5</a:t>
            </a:r>
          </a:p>
        </p:txBody>
      </p:sp>
      <p:sp>
        <p:nvSpPr>
          <p:cNvPr id="101" name="TextBox 100"/>
          <p:cNvSpPr txBox="1"/>
          <p:nvPr/>
        </p:nvSpPr>
        <p:spPr>
          <a:xfrm>
            <a:off x="5352288"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02" name="TextBox 101"/>
          <p:cNvSpPr txBox="1"/>
          <p:nvPr/>
        </p:nvSpPr>
        <p:spPr>
          <a:xfrm>
            <a:off x="7290816"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03" name="TextBox 102"/>
          <p:cNvSpPr txBox="1"/>
          <p:nvPr/>
        </p:nvSpPr>
        <p:spPr>
          <a:xfrm>
            <a:off x="7290816"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526</a:t>
            </a:r>
          </a:p>
        </p:txBody>
      </p:sp>
      <p:sp>
        <p:nvSpPr>
          <p:cNvPr id="104" name="Rectangle 10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 × 26</a:t>
            </a:r>
          </a:p>
        </p:txBody>
      </p:sp>
      <p:sp>
        <p:nvSpPr>
          <p:cNvPr id="106" name="TextBox 105"/>
          <p:cNvSpPr txBox="1"/>
          <p:nvPr/>
        </p:nvSpPr>
        <p:spPr>
          <a:xfrm>
            <a:off x="5471160"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07" name="TextBox 106"/>
          <p:cNvSpPr txBox="1"/>
          <p:nvPr/>
        </p:nvSpPr>
        <p:spPr>
          <a:xfrm>
            <a:off x="5900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108" name="TextBox 107"/>
          <p:cNvSpPr txBox="1"/>
          <p:nvPr/>
        </p:nvSpPr>
        <p:spPr>
          <a:xfrm>
            <a:off x="6394704"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09" name="TextBox 108"/>
          <p:cNvSpPr txBox="1"/>
          <p:nvPr/>
        </p:nvSpPr>
        <p:spPr>
          <a:xfrm>
            <a:off x="6394704"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10" name="Connector 109"/>
          <p:cNvCxnSpPr/>
          <p:nvPr/>
        </p:nvCxnSpPr>
        <p:spPr>
          <a:xfrm flipV="1">
            <a:off x="5471160"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484876"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112" name="TextBox 111"/>
          <p:cNvSpPr txBox="1"/>
          <p:nvPr/>
        </p:nvSpPr>
        <p:spPr>
          <a:xfrm>
            <a:off x="5695188"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13" name="Connector 112"/>
          <p:cNvCxnSpPr/>
          <p:nvPr/>
        </p:nvCxnSpPr>
        <p:spPr>
          <a:xfrm flipV="1">
            <a:off x="5900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5914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15" name="TextBox 114"/>
          <p:cNvSpPr txBox="1"/>
          <p:nvPr/>
        </p:nvSpPr>
        <p:spPr>
          <a:xfrm>
            <a:off x="6124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6" name="Connector 115"/>
          <p:cNvCxnSpPr/>
          <p:nvPr/>
        </p:nvCxnSpPr>
        <p:spPr>
          <a:xfrm flipV="1">
            <a:off x="5471160"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5484876"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18" name="TextBox 117"/>
          <p:cNvSpPr txBox="1"/>
          <p:nvPr/>
        </p:nvSpPr>
        <p:spPr>
          <a:xfrm>
            <a:off x="5695188"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19" name="Connector 118"/>
          <p:cNvCxnSpPr/>
          <p:nvPr/>
        </p:nvCxnSpPr>
        <p:spPr>
          <a:xfrm flipV="1">
            <a:off x="5900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5914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121" name="TextBox 120"/>
          <p:cNvSpPr txBox="1"/>
          <p:nvPr/>
        </p:nvSpPr>
        <p:spPr>
          <a:xfrm>
            <a:off x="6124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22" name="Connector 121"/>
          <p:cNvCxnSpPr/>
          <p:nvPr/>
        </p:nvCxnSpPr>
        <p:spPr>
          <a:xfrm>
            <a:off x="5471160"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900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330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5471160" y="4389120"/>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5471160" y="4818888"/>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471160" y="5248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5900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29" name="TextBox 128"/>
          <p:cNvSpPr txBox="1"/>
          <p:nvPr/>
        </p:nvSpPr>
        <p:spPr>
          <a:xfrm>
            <a:off x="5471160"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30" name="TextBox 129"/>
          <p:cNvSpPr txBox="1"/>
          <p:nvPr/>
        </p:nvSpPr>
        <p:spPr>
          <a:xfrm>
            <a:off x="5123688"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1" name="TextBox 130"/>
          <p:cNvSpPr txBox="1"/>
          <p:nvPr/>
        </p:nvSpPr>
        <p:spPr>
          <a:xfrm>
            <a:off x="5123688"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32" name="TextBox 131"/>
          <p:cNvSpPr txBox="1"/>
          <p:nvPr/>
        </p:nvSpPr>
        <p:spPr>
          <a:xfrm>
            <a:off x="5352288" y="4443984"/>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133" name="TextBox 132"/>
          <p:cNvSpPr txBox="1"/>
          <p:nvPr/>
        </p:nvSpPr>
        <p:spPr>
          <a:xfrm>
            <a:off x="7290816"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34" name="TextBox 133"/>
          <p:cNvSpPr txBox="1"/>
          <p:nvPr/>
        </p:nvSpPr>
        <p:spPr>
          <a:xfrm>
            <a:off x="7290816"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1,122</a:t>
            </a:r>
          </a:p>
        </p:txBody>
      </p:sp>
      <p:sp>
        <p:nvSpPr>
          <p:cNvPr id="135" name="Rectangle 1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68 × 24</a:t>
            </a:r>
          </a:p>
        </p:txBody>
      </p:sp>
      <p:sp>
        <p:nvSpPr>
          <p:cNvPr id="137" name="TextBox 136"/>
          <p:cNvSpPr txBox="1"/>
          <p:nvPr/>
        </p:nvSpPr>
        <p:spPr>
          <a:xfrm>
            <a:off x="5471160"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138" name="TextBox 137"/>
          <p:cNvSpPr txBox="1"/>
          <p:nvPr/>
        </p:nvSpPr>
        <p:spPr>
          <a:xfrm>
            <a:off x="5900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139" name="TextBox 138"/>
          <p:cNvSpPr txBox="1"/>
          <p:nvPr/>
        </p:nvSpPr>
        <p:spPr>
          <a:xfrm>
            <a:off x="6394704"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40" name="TextBox 139"/>
          <p:cNvSpPr txBox="1"/>
          <p:nvPr/>
        </p:nvSpPr>
        <p:spPr>
          <a:xfrm>
            <a:off x="6394704"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cxnSp>
        <p:nvCxnSpPr>
          <p:cNvPr id="141" name="Connector 140"/>
          <p:cNvCxnSpPr/>
          <p:nvPr/>
        </p:nvCxnSpPr>
        <p:spPr>
          <a:xfrm flipV="1">
            <a:off x="5471160"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5484876"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3" name="TextBox 142"/>
          <p:cNvSpPr txBox="1"/>
          <p:nvPr/>
        </p:nvSpPr>
        <p:spPr>
          <a:xfrm>
            <a:off x="5695188"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44" name="Connector 143"/>
          <p:cNvCxnSpPr/>
          <p:nvPr/>
        </p:nvCxnSpPr>
        <p:spPr>
          <a:xfrm flipV="1">
            <a:off x="5900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5914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46" name="TextBox 145"/>
          <p:cNvSpPr txBox="1"/>
          <p:nvPr/>
        </p:nvSpPr>
        <p:spPr>
          <a:xfrm>
            <a:off x="6124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147" name="Connector 146"/>
          <p:cNvCxnSpPr/>
          <p:nvPr/>
        </p:nvCxnSpPr>
        <p:spPr>
          <a:xfrm flipV="1">
            <a:off x="5471160"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5484876"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49" name="TextBox 148"/>
          <p:cNvSpPr txBox="1"/>
          <p:nvPr/>
        </p:nvSpPr>
        <p:spPr>
          <a:xfrm>
            <a:off x="5695188"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50" name="Connector 149"/>
          <p:cNvCxnSpPr/>
          <p:nvPr/>
        </p:nvCxnSpPr>
        <p:spPr>
          <a:xfrm flipV="1">
            <a:off x="5900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5914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152" name="TextBox 151"/>
          <p:cNvSpPr txBox="1"/>
          <p:nvPr/>
        </p:nvSpPr>
        <p:spPr>
          <a:xfrm>
            <a:off x="6124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53" name="Connector 152"/>
          <p:cNvCxnSpPr/>
          <p:nvPr/>
        </p:nvCxnSpPr>
        <p:spPr>
          <a:xfrm>
            <a:off x="5471160"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900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330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5471160" y="6391656"/>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5471160" y="6821424"/>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471160" y="7251192"/>
            <a:ext cx="859536"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900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160" name="TextBox 159"/>
          <p:cNvSpPr txBox="1"/>
          <p:nvPr/>
        </p:nvSpPr>
        <p:spPr>
          <a:xfrm>
            <a:off x="5471160"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161" name="TextBox 160"/>
          <p:cNvSpPr txBox="1"/>
          <p:nvPr/>
        </p:nvSpPr>
        <p:spPr>
          <a:xfrm>
            <a:off x="5123688"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162" name="TextBox 161"/>
          <p:cNvSpPr txBox="1"/>
          <p:nvPr/>
        </p:nvSpPr>
        <p:spPr>
          <a:xfrm>
            <a:off x="5334000" y="6931152"/>
            <a:ext cx="173736" cy="246888"/>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3" name="TextBox 162"/>
          <p:cNvSpPr txBox="1"/>
          <p:nvPr/>
        </p:nvSpPr>
        <p:spPr>
          <a:xfrm>
            <a:off x="5123688"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164" name="TextBox 163"/>
          <p:cNvSpPr txBox="1"/>
          <p:nvPr/>
        </p:nvSpPr>
        <p:spPr>
          <a:xfrm>
            <a:off x="7290816"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165" name="TextBox 164"/>
          <p:cNvSpPr txBox="1"/>
          <p:nvPr/>
        </p:nvSpPr>
        <p:spPr>
          <a:xfrm>
            <a:off x="7290816"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16,132</a:t>
            </a:r>
          </a:p>
        </p:txBody>
      </p:sp>
      <p:sp>
        <p:nvSpPr>
          <p:cNvPr id="166" name="Rectangle 165"/>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TextBox 166"/>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68" name="Rectangle 167"/>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9" name="TextBox 168"/>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234 × 56</a:t>
            </a:r>
          </a:p>
        </p:txBody>
      </p:sp>
      <p:sp>
        <p:nvSpPr>
          <p:cNvPr id="170" name="TextBox 169"/>
          <p:cNvSpPr txBox="1"/>
          <p:nvPr/>
        </p:nvSpPr>
        <p:spPr>
          <a:xfrm>
            <a:off x="10091928"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sp>
        <p:nvSpPr>
          <p:cNvPr id="171" name="TextBox 170"/>
          <p:cNvSpPr txBox="1"/>
          <p:nvPr/>
        </p:nvSpPr>
        <p:spPr>
          <a:xfrm>
            <a:off x="10521696"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172" name="TextBox 171"/>
          <p:cNvSpPr txBox="1"/>
          <p:nvPr/>
        </p:nvSpPr>
        <p:spPr>
          <a:xfrm>
            <a:off x="10951464" y="2121408"/>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173" name="TextBox 172"/>
          <p:cNvSpPr txBox="1"/>
          <p:nvPr/>
        </p:nvSpPr>
        <p:spPr>
          <a:xfrm>
            <a:off x="11445240" y="249631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174" name="TextBox 173"/>
          <p:cNvSpPr txBox="1"/>
          <p:nvPr/>
        </p:nvSpPr>
        <p:spPr>
          <a:xfrm>
            <a:off x="11445240" y="2926079"/>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cxnSp>
        <p:nvCxnSpPr>
          <p:cNvPr id="175" name="Connector 174"/>
          <p:cNvCxnSpPr/>
          <p:nvPr/>
        </p:nvCxnSpPr>
        <p:spPr>
          <a:xfrm flipV="1">
            <a:off x="10091928"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105644"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77" name="TextBox 176"/>
          <p:cNvSpPr txBox="1"/>
          <p:nvPr/>
        </p:nvSpPr>
        <p:spPr>
          <a:xfrm>
            <a:off x="10315956"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78" name="Connector 177"/>
          <p:cNvCxnSpPr/>
          <p:nvPr/>
        </p:nvCxnSpPr>
        <p:spPr>
          <a:xfrm flipV="1">
            <a:off x="10521696"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10535412"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0" name="TextBox 179"/>
          <p:cNvSpPr txBox="1"/>
          <p:nvPr/>
        </p:nvSpPr>
        <p:spPr>
          <a:xfrm>
            <a:off x="10745724"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181" name="Connector 180"/>
          <p:cNvCxnSpPr/>
          <p:nvPr/>
        </p:nvCxnSpPr>
        <p:spPr>
          <a:xfrm flipV="1">
            <a:off x="10951464" y="238658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10965180" y="240030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83" name="TextBox 182"/>
          <p:cNvSpPr txBox="1"/>
          <p:nvPr/>
        </p:nvSpPr>
        <p:spPr>
          <a:xfrm>
            <a:off x="11175492" y="261061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184" name="Connector 183"/>
          <p:cNvCxnSpPr/>
          <p:nvPr/>
        </p:nvCxnSpPr>
        <p:spPr>
          <a:xfrm flipV="1">
            <a:off x="10091928"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105644"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6" name="TextBox 185"/>
          <p:cNvSpPr txBox="1"/>
          <p:nvPr/>
        </p:nvSpPr>
        <p:spPr>
          <a:xfrm>
            <a:off x="10315956"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187" name="Connector 186"/>
          <p:cNvCxnSpPr/>
          <p:nvPr/>
        </p:nvCxnSpPr>
        <p:spPr>
          <a:xfrm flipV="1">
            <a:off x="10521696"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88" name="TextBox 187"/>
          <p:cNvSpPr txBox="1"/>
          <p:nvPr/>
        </p:nvSpPr>
        <p:spPr>
          <a:xfrm>
            <a:off x="10535412"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189" name="TextBox 188"/>
          <p:cNvSpPr txBox="1"/>
          <p:nvPr/>
        </p:nvSpPr>
        <p:spPr>
          <a:xfrm>
            <a:off x="10745724"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190" name="Connector 189"/>
          <p:cNvCxnSpPr/>
          <p:nvPr/>
        </p:nvCxnSpPr>
        <p:spPr>
          <a:xfrm flipV="1">
            <a:off x="10951464" y="2816352"/>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91" name="TextBox 190"/>
          <p:cNvSpPr txBox="1"/>
          <p:nvPr/>
        </p:nvSpPr>
        <p:spPr>
          <a:xfrm>
            <a:off x="10965180" y="283006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192" name="TextBox 191"/>
          <p:cNvSpPr txBox="1"/>
          <p:nvPr/>
        </p:nvSpPr>
        <p:spPr>
          <a:xfrm>
            <a:off x="11175492" y="3040379"/>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193" name="Connector 192"/>
          <p:cNvCxnSpPr/>
          <p:nvPr/>
        </p:nvCxnSpPr>
        <p:spPr>
          <a:xfrm>
            <a:off x="10091928"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1696"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951464"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1381232" y="2386584"/>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091928" y="238658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091928" y="281635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091928" y="3246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10951464"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01" name="TextBox 200"/>
          <p:cNvSpPr txBox="1"/>
          <p:nvPr/>
        </p:nvSpPr>
        <p:spPr>
          <a:xfrm>
            <a:off x="10521696"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02" name="TextBox 201"/>
          <p:cNvSpPr txBox="1"/>
          <p:nvPr/>
        </p:nvSpPr>
        <p:spPr>
          <a:xfrm>
            <a:off x="10091928" y="3328415"/>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0</a:t>
            </a:r>
          </a:p>
        </p:txBody>
      </p:sp>
      <p:sp>
        <p:nvSpPr>
          <p:cNvPr id="203" name="TextBox 202"/>
          <p:cNvSpPr txBox="1"/>
          <p:nvPr/>
        </p:nvSpPr>
        <p:spPr>
          <a:xfrm>
            <a:off x="9744456" y="2926079"/>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04" name="TextBox 203"/>
          <p:cNvSpPr txBox="1"/>
          <p:nvPr/>
        </p:nvSpPr>
        <p:spPr>
          <a:xfrm>
            <a:off x="9973056" y="2871215"/>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05" name="TextBox 204"/>
          <p:cNvSpPr txBox="1"/>
          <p:nvPr/>
        </p:nvSpPr>
        <p:spPr>
          <a:xfrm>
            <a:off x="9744456" y="249631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1</a:t>
            </a:r>
          </a:p>
        </p:txBody>
      </p:sp>
      <p:sp>
        <p:nvSpPr>
          <p:cNvPr id="206" name="TextBox 205"/>
          <p:cNvSpPr txBox="1"/>
          <p:nvPr/>
        </p:nvSpPr>
        <p:spPr>
          <a:xfrm>
            <a:off x="11911584" y="2487168"/>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07" name="TextBox 206"/>
          <p:cNvSpPr txBox="1"/>
          <p:nvPr/>
        </p:nvSpPr>
        <p:spPr>
          <a:xfrm>
            <a:off x="11911584" y="2852928"/>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13,086</a:t>
            </a:r>
          </a:p>
        </p:txBody>
      </p:sp>
      <p:sp>
        <p:nvSpPr>
          <p:cNvPr id="208" name="Rectangle 20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9" name="TextBox 20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476 × 82</a:t>
            </a:r>
          </a:p>
        </p:txBody>
      </p:sp>
      <p:sp>
        <p:nvSpPr>
          <p:cNvPr id="210" name="TextBox 209"/>
          <p:cNvSpPr txBox="1"/>
          <p:nvPr/>
        </p:nvSpPr>
        <p:spPr>
          <a:xfrm>
            <a:off x="10091928"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4</a:t>
            </a:r>
          </a:p>
        </p:txBody>
      </p:sp>
      <p:sp>
        <p:nvSpPr>
          <p:cNvPr id="211" name="TextBox 210"/>
          <p:cNvSpPr txBox="1"/>
          <p:nvPr/>
        </p:nvSpPr>
        <p:spPr>
          <a:xfrm>
            <a:off x="10521696"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7</a:t>
            </a:r>
          </a:p>
        </p:txBody>
      </p:sp>
      <p:sp>
        <p:nvSpPr>
          <p:cNvPr id="212" name="TextBox 211"/>
          <p:cNvSpPr txBox="1"/>
          <p:nvPr/>
        </p:nvSpPr>
        <p:spPr>
          <a:xfrm>
            <a:off x="10951464" y="4123944"/>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13" name="TextBox 212"/>
          <p:cNvSpPr txBox="1"/>
          <p:nvPr/>
        </p:nvSpPr>
        <p:spPr>
          <a:xfrm>
            <a:off x="11445240" y="4498848"/>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14" name="TextBox 213"/>
          <p:cNvSpPr txBox="1"/>
          <p:nvPr/>
        </p:nvSpPr>
        <p:spPr>
          <a:xfrm>
            <a:off x="11445240" y="4928616"/>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2</a:t>
            </a:r>
          </a:p>
        </p:txBody>
      </p:sp>
      <p:cxnSp>
        <p:nvCxnSpPr>
          <p:cNvPr id="215" name="Connector 214"/>
          <p:cNvCxnSpPr/>
          <p:nvPr/>
        </p:nvCxnSpPr>
        <p:spPr>
          <a:xfrm flipV="1">
            <a:off x="10091928"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10105644"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3</a:t>
            </a:r>
          </a:p>
        </p:txBody>
      </p:sp>
      <p:sp>
        <p:nvSpPr>
          <p:cNvPr id="217" name="TextBox 216"/>
          <p:cNvSpPr txBox="1"/>
          <p:nvPr/>
        </p:nvSpPr>
        <p:spPr>
          <a:xfrm>
            <a:off x="10315956"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18" name="Connector 217"/>
          <p:cNvCxnSpPr/>
          <p:nvPr/>
        </p:nvCxnSpPr>
        <p:spPr>
          <a:xfrm flipV="1">
            <a:off x="10521696"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19" name="TextBox 218"/>
          <p:cNvSpPr txBox="1"/>
          <p:nvPr/>
        </p:nvSpPr>
        <p:spPr>
          <a:xfrm>
            <a:off x="10535412"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20" name="TextBox 219"/>
          <p:cNvSpPr txBox="1"/>
          <p:nvPr/>
        </p:nvSpPr>
        <p:spPr>
          <a:xfrm>
            <a:off x="10745724"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6</a:t>
            </a:r>
          </a:p>
        </p:txBody>
      </p:sp>
      <p:cxnSp>
        <p:nvCxnSpPr>
          <p:cNvPr id="221" name="Connector 220"/>
          <p:cNvCxnSpPr/>
          <p:nvPr/>
        </p:nvCxnSpPr>
        <p:spPr>
          <a:xfrm flipV="1">
            <a:off x="10951464" y="4389120"/>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2" name="TextBox 221"/>
          <p:cNvSpPr txBox="1"/>
          <p:nvPr/>
        </p:nvSpPr>
        <p:spPr>
          <a:xfrm>
            <a:off x="10965180" y="440283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23" name="TextBox 222"/>
          <p:cNvSpPr txBox="1"/>
          <p:nvPr/>
        </p:nvSpPr>
        <p:spPr>
          <a:xfrm>
            <a:off x="11175492" y="4613148"/>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4" name="Connector 223"/>
          <p:cNvCxnSpPr/>
          <p:nvPr/>
        </p:nvCxnSpPr>
        <p:spPr>
          <a:xfrm flipV="1">
            <a:off x="10091928"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5" name="TextBox 224"/>
          <p:cNvSpPr txBox="1"/>
          <p:nvPr/>
        </p:nvSpPr>
        <p:spPr>
          <a:xfrm>
            <a:off x="10105644"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sp>
        <p:nvSpPr>
          <p:cNvPr id="226" name="TextBox 225"/>
          <p:cNvSpPr txBox="1"/>
          <p:nvPr/>
        </p:nvSpPr>
        <p:spPr>
          <a:xfrm>
            <a:off x="10315956"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8</a:t>
            </a:r>
          </a:p>
        </p:txBody>
      </p:sp>
      <p:cxnSp>
        <p:nvCxnSpPr>
          <p:cNvPr id="227" name="Connector 226"/>
          <p:cNvCxnSpPr/>
          <p:nvPr/>
        </p:nvCxnSpPr>
        <p:spPr>
          <a:xfrm flipV="1">
            <a:off x="10521696"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10535412"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29" name="TextBox 228"/>
          <p:cNvSpPr txBox="1"/>
          <p:nvPr/>
        </p:nvSpPr>
        <p:spPr>
          <a:xfrm>
            <a:off x="10745724"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30" name="Connector 229"/>
          <p:cNvCxnSpPr/>
          <p:nvPr/>
        </p:nvCxnSpPr>
        <p:spPr>
          <a:xfrm flipV="1">
            <a:off x="10951464" y="4818888"/>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31" name="TextBox 230"/>
          <p:cNvSpPr txBox="1"/>
          <p:nvPr/>
        </p:nvSpPr>
        <p:spPr>
          <a:xfrm>
            <a:off x="10965180" y="4832604"/>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32" name="TextBox 231"/>
          <p:cNvSpPr txBox="1"/>
          <p:nvPr/>
        </p:nvSpPr>
        <p:spPr>
          <a:xfrm>
            <a:off x="11175492" y="5042916"/>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33" name="Connector 232"/>
          <p:cNvCxnSpPr/>
          <p:nvPr/>
        </p:nvCxnSpPr>
        <p:spPr>
          <a:xfrm>
            <a:off x="10091928"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10521696"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0951464"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11381232" y="4389120"/>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10091928" y="4389120"/>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0091928" y="4818888"/>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10091928" y="5248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40" name="TextBox 239"/>
          <p:cNvSpPr txBox="1"/>
          <p:nvPr/>
        </p:nvSpPr>
        <p:spPr>
          <a:xfrm>
            <a:off x="10951464"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41" name="TextBox 240"/>
          <p:cNvSpPr txBox="1"/>
          <p:nvPr/>
        </p:nvSpPr>
        <p:spPr>
          <a:xfrm>
            <a:off x="10521696"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2" name="TextBox 241"/>
          <p:cNvSpPr txBox="1"/>
          <p:nvPr/>
        </p:nvSpPr>
        <p:spPr>
          <a:xfrm>
            <a:off x="10091928" y="53309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9</a:t>
            </a:r>
          </a:p>
        </p:txBody>
      </p:sp>
      <p:sp>
        <p:nvSpPr>
          <p:cNvPr id="243" name="TextBox 242"/>
          <p:cNvSpPr txBox="1"/>
          <p:nvPr/>
        </p:nvSpPr>
        <p:spPr>
          <a:xfrm>
            <a:off x="9744456" y="4928616"/>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8</a:t>
            </a:r>
          </a:p>
        </p:txBody>
      </p:sp>
      <p:sp>
        <p:nvSpPr>
          <p:cNvPr id="244" name="TextBox 243"/>
          <p:cNvSpPr txBox="1"/>
          <p:nvPr/>
        </p:nvSpPr>
        <p:spPr>
          <a:xfrm>
            <a:off x="9973056" y="4873752"/>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45" name="TextBox 244"/>
          <p:cNvSpPr txBox="1"/>
          <p:nvPr/>
        </p:nvSpPr>
        <p:spPr>
          <a:xfrm>
            <a:off x="9744456" y="449884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3</a:t>
            </a:r>
          </a:p>
        </p:txBody>
      </p:sp>
      <p:sp>
        <p:nvSpPr>
          <p:cNvPr id="246" name="TextBox 245"/>
          <p:cNvSpPr txBox="1"/>
          <p:nvPr/>
        </p:nvSpPr>
        <p:spPr>
          <a:xfrm>
            <a:off x="11911584" y="4489704"/>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47" name="TextBox 246"/>
          <p:cNvSpPr txBox="1"/>
          <p:nvPr/>
        </p:nvSpPr>
        <p:spPr>
          <a:xfrm>
            <a:off x="11911584" y="4855464"/>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38,932</a:t>
            </a:r>
          </a:p>
        </p:txBody>
      </p:sp>
      <p:sp>
        <p:nvSpPr>
          <p:cNvPr id="248" name="Rectangle 247"/>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9" name="TextBox 248"/>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638 × 59</a:t>
            </a:r>
          </a:p>
        </p:txBody>
      </p:sp>
      <p:sp>
        <p:nvSpPr>
          <p:cNvPr id="250" name="TextBox 249"/>
          <p:cNvSpPr txBox="1"/>
          <p:nvPr/>
        </p:nvSpPr>
        <p:spPr>
          <a:xfrm>
            <a:off x="10091928"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6</a:t>
            </a:r>
          </a:p>
        </p:txBody>
      </p:sp>
      <p:sp>
        <p:nvSpPr>
          <p:cNvPr id="251" name="TextBox 250"/>
          <p:cNvSpPr txBox="1"/>
          <p:nvPr/>
        </p:nvSpPr>
        <p:spPr>
          <a:xfrm>
            <a:off x="10521696"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3</a:t>
            </a:r>
          </a:p>
        </p:txBody>
      </p:sp>
      <p:sp>
        <p:nvSpPr>
          <p:cNvPr id="252" name="TextBox 251"/>
          <p:cNvSpPr txBox="1"/>
          <p:nvPr/>
        </p:nvSpPr>
        <p:spPr>
          <a:xfrm>
            <a:off x="10951464" y="6126480"/>
            <a:ext cx="429768"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8</a:t>
            </a:r>
          </a:p>
        </p:txBody>
      </p:sp>
      <p:sp>
        <p:nvSpPr>
          <p:cNvPr id="253" name="TextBox 252"/>
          <p:cNvSpPr txBox="1"/>
          <p:nvPr/>
        </p:nvSpPr>
        <p:spPr>
          <a:xfrm>
            <a:off x="11445240" y="6501383"/>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5</a:t>
            </a:r>
          </a:p>
        </p:txBody>
      </p:sp>
      <p:sp>
        <p:nvSpPr>
          <p:cNvPr id="254" name="TextBox 253"/>
          <p:cNvSpPr txBox="1"/>
          <p:nvPr/>
        </p:nvSpPr>
        <p:spPr>
          <a:xfrm>
            <a:off x="11445240" y="6931152"/>
            <a:ext cx="274320" cy="265176"/>
          </a:xfrm>
          <a:prstGeom prst="rect">
            <a:avLst/>
          </a:prstGeom>
          <a:noFill/>
        </p:spPr>
        <p:txBody>
          <a:bodyPr wrap="none" lIns="0" rIns="0" tIns="0" bIns="0">
            <a:spAutoFit/>
          </a:bodyPr>
          <a:lstStyle/>
          <a:p>
            <a:pPr algn="ctr">
              <a:lnSpc>
                <a:spcPts val="2240"/>
              </a:lnSpc>
              <a:spcBef>
                <a:spcPts val="0"/>
              </a:spcBef>
              <a:spcAft>
                <a:spcPts val="0"/>
              </a:spcAft>
              <a:defRPr sz="2000" b="0">
                <a:solidFill>
                  <a:srgbClr val="182B3A"/>
                </a:solidFill>
                <a:latin typeface="Arial"/>
              </a:defRPr>
            </a:pPr>
            <a:r>
              <a:t>9</a:t>
            </a:r>
          </a:p>
        </p:txBody>
      </p:sp>
      <p:cxnSp>
        <p:nvCxnSpPr>
          <p:cNvPr id="255" name="Connector 254"/>
          <p:cNvCxnSpPr/>
          <p:nvPr/>
        </p:nvCxnSpPr>
        <p:spPr>
          <a:xfrm flipV="1">
            <a:off x="10091928"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6" name="TextBox 255"/>
          <p:cNvSpPr txBox="1"/>
          <p:nvPr/>
        </p:nvSpPr>
        <p:spPr>
          <a:xfrm>
            <a:off x="10105644"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57" name="TextBox 256"/>
          <p:cNvSpPr txBox="1"/>
          <p:nvPr/>
        </p:nvSpPr>
        <p:spPr>
          <a:xfrm>
            <a:off x="10315956"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58" name="Connector 257"/>
          <p:cNvCxnSpPr/>
          <p:nvPr/>
        </p:nvCxnSpPr>
        <p:spPr>
          <a:xfrm flipV="1">
            <a:off x="10521696"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59" name="TextBox 258"/>
          <p:cNvSpPr txBox="1"/>
          <p:nvPr/>
        </p:nvSpPr>
        <p:spPr>
          <a:xfrm>
            <a:off x="10535412"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1</a:t>
            </a:r>
          </a:p>
        </p:txBody>
      </p:sp>
      <p:sp>
        <p:nvSpPr>
          <p:cNvPr id="260" name="TextBox 259"/>
          <p:cNvSpPr txBox="1"/>
          <p:nvPr/>
        </p:nvSpPr>
        <p:spPr>
          <a:xfrm>
            <a:off x="10745724"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cxnSp>
        <p:nvCxnSpPr>
          <p:cNvPr id="261" name="Connector 260"/>
          <p:cNvCxnSpPr/>
          <p:nvPr/>
        </p:nvCxnSpPr>
        <p:spPr>
          <a:xfrm flipV="1">
            <a:off x="10951464" y="6391656"/>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2" name="TextBox 261"/>
          <p:cNvSpPr txBox="1"/>
          <p:nvPr/>
        </p:nvSpPr>
        <p:spPr>
          <a:xfrm>
            <a:off x="10965180" y="640537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sp>
        <p:nvSpPr>
          <p:cNvPr id="263" name="TextBox 262"/>
          <p:cNvSpPr txBox="1"/>
          <p:nvPr/>
        </p:nvSpPr>
        <p:spPr>
          <a:xfrm>
            <a:off x="11175492" y="6615683"/>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0</a:t>
            </a:r>
          </a:p>
        </p:txBody>
      </p:sp>
      <p:cxnSp>
        <p:nvCxnSpPr>
          <p:cNvPr id="264" name="Connector 263"/>
          <p:cNvCxnSpPr/>
          <p:nvPr/>
        </p:nvCxnSpPr>
        <p:spPr>
          <a:xfrm flipV="1">
            <a:off x="10091928"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5" name="TextBox 264"/>
          <p:cNvSpPr txBox="1"/>
          <p:nvPr/>
        </p:nvSpPr>
        <p:spPr>
          <a:xfrm>
            <a:off x="10105644"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5</a:t>
            </a:r>
          </a:p>
        </p:txBody>
      </p:sp>
      <p:sp>
        <p:nvSpPr>
          <p:cNvPr id="266" name="TextBox 265"/>
          <p:cNvSpPr txBox="1"/>
          <p:nvPr/>
        </p:nvSpPr>
        <p:spPr>
          <a:xfrm>
            <a:off x="10315956"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4</a:t>
            </a:r>
          </a:p>
        </p:txBody>
      </p:sp>
      <p:cxnSp>
        <p:nvCxnSpPr>
          <p:cNvPr id="267" name="Connector 266"/>
          <p:cNvCxnSpPr/>
          <p:nvPr/>
        </p:nvCxnSpPr>
        <p:spPr>
          <a:xfrm flipV="1">
            <a:off x="10521696"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0535412"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sp>
        <p:nvSpPr>
          <p:cNvPr id="269" name="TextBox 268"/>
          <p:cNvSpPr txBox="1"/>
          <p:nvPr/>
        </p:nvSpPr>
        <p:spPr>
          <a:xfrm>
            <a:off x="10745724"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cxnSp>
        <p:nvCxnSpPr>
          <p:cNvPr id="270" name="Connector 269"/>
          <p:cNvCxnSpPr/>
          <p:nvPr/>
        </p:nvCxnSpPr>
        <p:spPr>
          <a:xfrm flipV="1">
            <a:off x="10951464" y="6821424"/>
            <a:ext cx="429768" cy="429768"/>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71" name="TextBox 270"/>
          <p:cNvSpPr txBox="1"/>
          <p:nvPr/>
        </p:nvSpPr>
        <p:spPr>
          <a:xfrm>
            <a:off x="10965180" y="6835140"/>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7</a:t>
            </a:r>
          </a:p>
        </p:txBody>
      </p:sp>
      <p:sp>
        <p:nvSpPr>
          <p:cNvPr id="272" name="TextBox 271"/>
          <p:cNvSpPr txBox="1"/>
          <p:nvPr/>
        </p:nvSpPr>
        <p:spPr>
          <a:xfrm>
            <a:off x="11175492" y="7045452"/>
            <a:ext cx="201168" cy="201168"/>
          </a:xfrm>
          <a:prstGeom prst="rect">
            <a:avLst/>
          </a:prstGeom>
          <a:noFill/>
        </p:spPr>
        <p:txBody>
          <a:bodyPr wrap="none" lIns="0" rIns="0" tIns="0" bIns="0">
            <a:spAutoFit/>
          </a:bodyPr>
          <a:lstStyle/>
          <a:p>
            <a:pPr algn="ctr">
              <a:lnSpc>
                <a:spcPts val="1792"/>
              </a:lnSpc>
              <a:spcBef>
                <a:spcPts val="0"/>
              </a:spcBef>
              <a:spcAft>
                <a:spcPts val="0"/>
              </a:spcAft>
              <a:defRPr sz="1600" b="0">
                <a:solidFill>
                  <a:srgbClr val="182B3A"/>
                </a:solidFill>
                <a:latin typeface="Arial"/>
              </a:defRPr>
            </a:pPr>
            <a:r>
              <a:t>2</a:t>
            </a:r>
          </a:p>
        </p:txBody>
      </p:sp>
      <p:cxnSp>
        <p:nvCxnSpPr>
          <p:cNvPr id="273" name="Connector 272"/>
          <p:cNvCxnSpPr/>
          <p:nvPr/>
        </p:nvCxnSpPr>
        <p:spPr>
          <a:xfrm>
            <a:off x="10091928"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0521696"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0951464"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1381232" y="6391656"/>
            <a:ext cx="0" cy="859536"/>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0091928" y="6391656"/>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10091928" y="6821424"/>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10091928" y="7251192"/>
            <a:ext cx="128930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280" name="TextBox 279"/>
          <p:cNvSpPr txBox="1"/>
          <p:nvPr/>
        </p:nvSpPr>
        <p:spPr>
          <a:xfrm>
            <a:off x="10951464"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1" name="TextBox 280"/>
          <p:cNvSpPr txBox="1"/>
          <p:nvPr/>
        </p:nvSpPr>
        <p:spPr>
          <a:xfrm>
            <a:off x="10521696"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4</a:t>
            </a:r>
          </a:p>
        </p:txBody>
      </p:sp>
      <p:sp>
        <p:nvSpPr>
          <p:cNvPr id="282" name="TextBox 281"/>
          <p:cNvSpPr txBox="1"/>
          <p:nvPr/>
        </p:nvSpPr>
        <p:spPr>
          <a:xfrm>
            <a:off x="10091928" y="7333488"/>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6</a:t>
            </a:r>
          </a:p>
        </p:txBody>
      </p:sp>
      <p:sp>
        <p:nvSpPr>
          <p:cNvPr id="283" name="TextBox 282"/>
          <p:cNvSpPr txBox="1"/>
          <p:nvPr/>
        </p:nvSpPr>
        <p:spPr>
          <a:xfrm>
            <a:off x="10037064" y="7214616"/>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4" name="TextBox 283"/>
          <p:cNvSpPr txBox="1"/>
          <p:nvPr/>
        </p:nvSpPr>
        <p:spPr>
          <a:xfrm>
            <a:off x="9744456" y="6931152"/>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7</a:t>
            </a:r>
          </a:p>
        </p:txBody>
      </p:sp>
      <p:sp>
        <p:nvSpPr>
          <p:cNvPr id="285" name="TextBox 284"/>
          <p:cNvSpPr txBox="1"/>
          <p:nvPr/>
        </p:nvSpPr>
        <p:spPr>
          <a:xfrm>
            <a:off x="9973056" y="6876288"/>
            <a:ext cx="173736" cy="246888"/>
          </a:xfrm>
          <a:prstGeom prst="rect">
            <a:avLst/>
          </a:prstGeom>
          <a:noFill/>
        </p:spPr>
        <p:txBody>
          <a:bodyPr wrap="none" lIns="0" rIns="0" tIns="0" bIns="0">
            <a:spAutoFit/>
          </a:bodyPr>
          <a:lstStyle/>
          <a:p>
            <a:pPr algn="ctr">
              <a:lnSpc>
                <a:spcPts val="1232"/>
              </a:lnSpc>
              <a:spcBef>
                <a:spcPts val="0"/>
              </a:spcBef>
              <a:spcAft>
                <a:spcPts val="0"/>
              </a:spcAft>
              <a:defRPr sz="1100" b="0">
                <a:solidFill>
                  <a:srgbClr val="182B3A"/>
                </a:solidFill>
                <a:latin typeface="Arial"/>
              </a:defRPr>
            </a:pPr>
            <a:r>
              <a:t>1</a:t>
            </a:r>
          </a:p>
        </p:txBody>
      </p:sp>
      <p:sp>
        <p:nvSpPr>
          <p:cNvPr id="286" name="TextBox 285"/>
          <p:cNvSpPr txBox="1"/>
          <p:nvPr/>
        </p:nvSpPr>
        <p:spPr>
          <a:xfrm>
            <a:off x="9744456" y="6501383"/>
            <a:ext cx="274320" cy="274320"/>
          </a:xfrm>
          <a:prstGeom prst="rect">
            <a:avLst/>
          </a:prstGeom>
          <a:noFill/>
        </p:spPr>
        <p:txBody>
          <a:bodyPr wrap="none" lIns="0" rIns="0" tIns="0" bIns="0">
            <a:spAutoFit/>
          </a:bodyPr>
          <a:lstStyle/>
          <a:p>
            <a:pPr algn="ctr">
              <a:lnSpc>
                <a:spcPts val="2352"/>
              </a:lnSpc>
              <a:spcBef>
                <a:spcPts val="0"/>
              </a:spcBef>
              <a:spcAft>
                <a:spcPts val="0"/>
              </a:spcAft>
              <a:defRPr sz="2100" b="0">
                <a:solidFill>
                  <a:srgbClr val="182B3A"/>
                </a:solidFill>
                <a:latin typeface="Arial"/>
              </a:defRPr>
            </a:pPr>
            <a:r>
              <a:t>2</a:t>
            </a:r>
          </a:p>
        </p:txBody>
      </p:sp>
      <p:sp>
        <p:nvSpPr>
          <p:cNvPr id="287" name="TextBox 286"/>
          <p:cNvSpPr txBox="1"/>
          <p:nvPr/>
        </p:nvSpPr>
        <p:spPr>
          <a:xfrm>
            <a:off x="11911584" y="6492240"/>
            <a:ext cx="2057400" cy="36576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Answer</a:t>
            </a:r>
          </a:p>
        </p:txBody>
      </p:sp>
      <p:sp>
        <p:nvSpPr>
          <p:cNvPr id="288" name="TextBox 287"/>
          <p:cNvSpPr txBox="1"/>
          <p:nvPr/>
        </p:nvSpPr>
        <p:spPr>
          <a:xfrm>
            <a:off x="11911584" y="6858000"/>
            <a:ext cx="2057400" cy="384048"/>
          </a:xfrm>
          <a:prstGeom prst="rect">
            <a:avLst/>
          </a:prstGeom>
          <a:noFill/>
        </p:spPr>
        <p:txBody>
          <a:bodyPr wrap="none" lIns="0" rIns="0" tIns="0" bIns="0">
            <a:spAutoFit/>
          </a:bodyPr>
          <a:lstStyle/>
          <a:p>
            <a:pPr algn="l">
              <a:lnSpc>
                <a:spcPts val="2800"/>
              </a:lnSpc>
              <a:spcBef>
                <a:spcPts val="0"/>
              </a:spcBef>
              <a:spcAft>
                <a:spcPts val="0"/>
              </a:spcAft>
              <a:defRPr sz="2500" b="0">
                <a:solidFill>
                  <a:srgbClr val="182B3A"/>
                </a:solidFill>
                <a:latin typeface="Arial"/>
              </a:defRPr>
            </a:pPr>
            <a:r>
              <a:t>27,642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83 × 7</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 × 13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 × 34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 × 22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 × 41</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75 × 16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57</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342 × 15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612 × 24</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1,234 × 125</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2,105 × 304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4,316 × 1,024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7,029 × 2,316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 × 6</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 × 4</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 × 3</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 × 14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37 × 42</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 × 36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 × 27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 × 53</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425 × 23</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708 × 46</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1,326 × 243</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3,048 × 512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5,607 × 1,204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8,214 × 3,067</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7</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29 × 8</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65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87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35 × 24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17</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39</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76 × 28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54 × 46</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89 × 65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536 × 34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809 × 27</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2,047 × 368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4,158 × 427</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6,309 × 2,058</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9,274 × 4,163</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Lattice Multiplication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M01-S07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2 digits × 1 digit</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2 digits × 2 digits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Up to 4 digits × 4 digits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 × 5</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56 × 9</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67 × 8</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49 × 6</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4</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97 × 7</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27 × 35</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 × 26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48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 × 37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 × 59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68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647 × 45</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902 × 38</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3,156 × 489</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5,027 × 596</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7,418 × 3,264</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8,639 × 5,076</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1.  864 ÷ 4</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2.  132 ÷ 8</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3.  165 ÷ 6</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3672"/>
              </a:lnSpc>
              <a:spcBef>
                <a:spcPts val="0"/>
              </a:spcBef>
              <a:spcAft>
                <a:spcPts val="0"/>
              </a:spcAft>
              <a:defRPr sz="3400" b="1">
                <a:solidFill>
                  <a:srgbClr val="182B3A"/>
                </a:solidFill>
                <a:latin typeface="Arial"/>
              </a:defRPr>
            </a:pPr>
            <a:r>
              <a:t>4.  615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Start: exact answer. Build: remainder. Confidence: decimal answer.</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63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145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4,834 ÷ 16</a:t>
            </a:r>
          </a:p>
        </p:txBody>
      </p:sp>
      <p:sp>
        <p:nvSpPr>
          <p:cNvPr id="21" name="Rectangle 20"/>
          <p:cNvSpPr/>
          <p:nvPr/>
        </p:nvSpPr>
        <p:spPr>
          <a:xfrm>
            <a:off x="384048" y="2176272"/>
            <a:ext cx="2103120" cy="1737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5544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63.</a:t>
            </a:r>
          </a:p>
          <a:p>
            <a:pPr>
              <a:lnSpc>
                <a:spcPts val="2160"/>
              </a:lnSpc>
              <a:spcBef>
                <a:spcPts val="0"/>
              </a:spcBef>
              <a:spcAft>
                <a:spcPts val="0"/>
              </a:spcAft>
              <a:defRPr sz="2000" b="0">
                <a:solidFill>
                  <a:srgbClr val="182B3A"/>
                </a:solidFill>
                <a:latin typeface="Arial"/>
              </a:defRPr>
            </a:pPr>
            <a:r>
              <a:t>Outside on the left: 3.</a:t>
            </a:r>
          </a:p>
        </p:txBody>
      </p:sp>
      <p:grpSp>
        <p:nvGrpSpPr>
          <p:cNvPr id="25" name="Editable bus stop 63 ÷ 3"/>
          <p:cNvGrpSpPr/>
          <p:nvPr/>
        </p:nvGrpSpPr>
        <p:grpSpPr>
          <a:xfrm>
            <a:off x="3633216" y="3008375"/>
            <a:ext cx="1426463" cy="758952"/>
            <a:chOff x="3633216" y="3008375"/>
            <a:chExt cx="1426463" cy="758952"/>
          </a:xfrm>
        </p:grpSpPr>
        <p:cxnSp>
          <p:nvCxnSpPr>
            <p:cNvPr id="26" name="Connector 25"/>
            <p:cNvCxnSpPr/>
            <p:nvPr/>
          </p:nvCxnSpPr>
          <p:spPr>
            <a:xfrm>
              <a:off x="4035552" y="3383279"/>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035552"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633216" y="3401567"/>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3</a:t>
              </a:r>
            </a:p>
          </p:txBody>
        </p:sp>
        <p:sp>
          <p:nvSpPr>
            <p:cNvPr id="29" name="TextBox 28"/>
            <p:cNvSpPr txBox="1"/>
            <p:nvPr/>
          </p:nvSpPr>
          <p:spPr>
            <a:xfrm>
              <a:off x="4108704"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6</a:t>
              </a:r>
            </a:p>
          </p:txBody>
        </p:sp>
        <p:sp>
          <p:nvSpPr>
            <p:cNvPr id="30" name="TextBox 29"/>
            <p:cNvSpPr txBox="1"/>
            <p:nvPr/>
          </p:nvSpPr>
          <p:spPr>
            <a:xfrm>
              <a:off x="4108704"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1" name="TextBox 30"/>
            <p:cNvSpPr txBox="1"/>
            <p:nvPr/>
          </p:nvSpPr>
          <p:spPr>
            <a:xfrm>
              <a:off x="4556760"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32" name="TextBox 31"/>
            <p:cNvSpPr txBox="1"/>
            <p:nvPr/>
          </p:nvSpPr>
          <p:spPr>
            <a:xfrm>
              <a:off x="4556760" y="3008375"/>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33" name="Rectangle 32"/>
          <p:cNvSpPr/>
          <p:nvPr/>
        </p:nvSpPr>
        <p:spPr>
          <a:xfrm>
            <a:off x="6406895"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145.</a:t>
            </a:r>
          </a:p>
          <a:p>
            <a:pPr>
              <a:lnSpc>
                <a:spcPts val="2160"/>
              </a:lnSpc>
              <a:spcBef>
                <a:spcPts val="0"/>
              </a:spcBef>
              <a:spcAft>
                <a:spcPts val="0"/>
              </a:spcAft>
              <a:defRPr sz="2000" b="0">
                <a:solidFill>
                  <a:srgbClr val="182B3A"/>
                </a:solidFill>
                <a:latin typeface="Arial"/>
              </a:defRPr>
            </a:pPr>
            <a:r>
              <a:t>Outside on the left: 6.</a:t>
            </a:r>
          </a:p>
        </p:txBody>
      </p:sp>
      <p:grpSp>
        <p:nvGrpSpPr>
          <p:cNvPr id="35" name="Editable bus stop 145 ÷ 6"/>
          <p:cNvGrpSpPr/>
          <p:nvPr/>
        </p:nvGrpSpPr>
        <p:grpSpPr>
          <a:xfrm>
            <a:off x="7328915" y="3008375"/>
            <a:ext cx="1874521" cy="905256"/>
            <a:chOff x="7328915" y="3008375"/>
            <a:chExt cx="1874521" cy="905256"/>
          </a:xfrm>
        </p:grpSpPr>
        <p:cxnSp>
          <p:nvCxnSpPr>
            <p:cNvPr id="36" name="Connector 35"/>
            <p:cNvCxnSpPr/>
            <p:nvPr/>
          </p:nvCxnSpPr>
          <p:spPr>
            <a:xfrm>
              <a:off x="7731251" y="3383279"/>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31251"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28915" y="3401567"/>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39" name="TextBox 38"/>
            <p:cNvSpPr txBox="1"/>
            <p:nvPr/>
          </p:nvSpPr>
          <p:spPr>
            <a:xfrm>
              <a:off x="7804403"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0" name="TextBox 39"/>
            <p:cNvSpPr txBox="1"/>
            <p:nvPr/>
          </p:nvSpPr>
          <p:spPr>
            <a:xfrm>
              <a:off x="7804403"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1" name="TextBox 40"/>
            <p:cNvSpPr txBox="1"/>
            <p:nvPr/>
          </p:nvSpPr>
          <p:spPr>
            <a:xfrm>
              <a:off x="8252459"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2" name="TextBox 41"/>
            <p:cNvSpPr txBox="1"/>
            <p:nvPr/>
          </p:nvSpPr>
          <p:spPr>
            <a:xfrm>
              <a:off x="8252459"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43" name="TextBox 42"/>
            <p:cNvSpPr txBox="1"/>
            <p:nvPr/>
          </p:nvSpPr>
          <p:spPr>
            <a:xfrm>
              <a:off x="816193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44" name="TextBox 43"/>
            <p:cNvSpPr txBox="1"/>
            <p:nvPr/>
          </p:nvSpPr>
          <p:spPr>
            <a:xfrm>
              <a:off x="8700515" y="3401567"/>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45" name="TextBox 44"/>
            <p:cNvSpPr txBox="1"/>
            <p:nvPr/>
          </p:nvSpPr>
          <p:spPr>
            <a:xfrm>
              <a:off x="8700515" y="3008375"/>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4</a:t>
              </a:r>
            </a:p>
          </p:txBody>
        </p:sp>
        <p:sp>
          <p:nvSpPr>
            <p:cNvPr id="46" name="TextBox 45"/>
            <p:cNvSpPr txBox="1"/>
            <p:nvPr/>
          </p:nvSpPr>
          <p:spPr>
            <a:xfrm>
              <a:off x="8609990"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47" name="TextBox 46"/>
            <p:cNvSpPr txBox="1"/>
            <p:nvPr/>
          </p:nvSpPr>
          <p:spPr>
            <a:xfrm>
              <a:off x="7804403" y="3749039"/>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1</a:t>
              </a:r>
            </a:p>
          </p:txBody>
        </p:sp>
      </p:grpSp>
      <p:sp>
        <p:nvSpPr>
          <p:cNvPr id="48" name="Rectangle 47"/>
          <p:cNvSpPr/>
          <p:nvPr/>
        </p:nvSpPr>
        <p:spPr>
          <a:xfrm>
            <a:off x="10326624" y="2176272"/>
            <a:ext cx="3919727" cy="17373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9" name="TextBox 48"/>
          <p:cNvSpPr txBox="1"/>
          <p:nvPr/>
        </p:nvSpPr>
        <p:spPr>
          <a:xfrm>
            <a:off x="10390632" y="2240279"/>
            <a:ext cx="3791712" cy="630936"/>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Inside: 4,834.</a:t>
            </a:r>
          </a:p>
          <a:p>
            <a:pPr>
              <a:lnSpc>
                <a:spcPts val="2160"/>
              </a:lnSpc>
              <a:spcBef>
                <a:spcPts val="0"/>
              </a:spcBef>
              <a:spcAft>
                <a:spcPts val="0"/>
              </a:spcAft>
              <a:defRPr sz="2000" b="0">
                <a:solidFill>
                  <a:srgbClr val="182B3A"/>
                </a:solidFill>
                <a:latin typeface="Arial"/>
              </a:defRPr>
            </a:pPr>
            <a:r>
              <a:t>Outside on the left: 16.</a:t>
            </a:r>
          </a:p>
        </p:txBody>
      </p:sp>
      <p:grpSp>
        <p:nvGrpSpPr>
          <p:cNvPr id="50" name="Editable bus stop 4834 ÷ 16"/>
          <p:cNvGrpSpPr/>
          <p:nvPr/>
        </p:nvGrpSpPr>
        <p:grpSpPr>
          <a:xfrm>
            <a:off x="10326624" y="3008375"/>
            <a:ext cx="3718560" cy="758952"/>
            <a:chOff x="10326624" y="3008375"/>
            <a:chExt cx="3718560" cy="758952"/>
          </a:xfrm>
        </p:grpSpPr>
        <p:cxnSp>
          <p:nvCxnSpPr>
            <p:cNvPr id="51" name="Connector 50"/>
            <p:cNvCxnSpPr/>
            <p:nvPr/>
          </p:nvCxnSpPr>
          <p:spPr>
            <a:xfrm>
              <a:off x="10728960" y="3383279"/>
              <a:ext cx="3316224"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728960" y="3383279"/>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326624" y="3401567"/>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16</a:t>
              </a:r>
            </a:p>
          </p:txBody>
        </p:sp>
        <p:sp>
          <p:nvSpPr>
            <p:cNvPr id="54" name="TextBox 53"/>
            <p:cNvSpPr txBox="1"/>
            <p:nvPr/>
          </p:nvSpPr>
          <p:spPr>
            <a:xfrm>
              <a:off x="1080211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55" name="TextBox 54"/>
            <p:cNvSpPr txBox="1"/>
            <p:nvPr/>
          </p:nvSpPr>
          <p:spPr>
            <a:xfrm>
              <a:off x="1080211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56" name="TextBox 55"/>
            <p:cNvSpPr txBox="1"/>
            <p:nvPr/>
          </p:nvSpPr>
          <p:spPr>
            <a:xfrm>
              <a:off x="11200638"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57" name="TextBox 56"/>
            <p:cNvSpPr txBox="1"/>
            <p:nvPr/>
          </p:nvSpPr>
          <p:spPr>
            <a:xfrm>
              <a:off x="11200638"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3</a:t>
              </a:r>
            </a:p>
          </p:txBody>
        </p:sp>
        <p:sp>
          <p:nvSpPr>
            <p:cNvPr id="58" name="TextBox 57"/>
            <p:cNvSpPr txBox="1"/>
            <p:nvPr/>
          </p:nvSpPr>
          <p:spPr>
            <a:xfrm>
              <a:off x="1111011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59" name="TextBox 58"/>
            <p:cNvSpPr txBox="1"/>
            <p:nvPr/>
          </p:nvSpPr>
          <p:spPr>
            <a:xfrm>
              <a:off x="11599163"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60" name="TextBox 59"/>
            <p:cNvSpPr txBox="1"/>
            <p:nvPr/>
          </p:nvSpPr>
          <p:spPr>
            <a:xfrm>
              <a:off x="11599163"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0</a:t>
              </a:r>
            </a:p>
          </p:txBody>
        </p:sp>
        <p:sp>
          <p:nvSpPr>
            <p:cNvPr id="61" name="TextBox 60"/>
            <p:cNvSpPr txBox="1"/>
            <p:nvPr/>
          </p:nvSpPr>
          <p:spPr>
            <a:xfrm>
              <a:off x="11997689"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2" name="TextBox 61"/>
            <p:cNvSpPr txBox="1"/>
            <p:nvPr/>
          </p:nvSpPr>
          <p:spPr>
            <a:xfrm>
              <a:off x="11997689"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63" name="TextBox 62"/>
            <p:cNvSpPr txBox="1"/>
            <p:nvPr/>
          </p:nvSpPr>
          <p:spPr>
            <a:xfrm>
              <a:off x="11907164"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3</a:t>
              </a:r>
            </a:p>
          </p:txBody>
        </p:sp>
        <p:sp>
          <p:nvSpPr>
            <p:cNvPr id="64" name="TextBox 63"/>
            <p:cNvSpPr txBox="1"/>
            <p:nvPr/>
          </p:nvSpPr>
          <p:spPr>
            <a:xfrm>
              <a:off x="12396215"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a:t>
              </a:r>
            </a:p>
          </p:txBody>
        </p:sp>
        <p:sp>
          <p:nvSpPr>
            <p:cNvPr id="65" name="TextBox 64"/>
            <p:cNvSpPr txBox="1"/>
            <p:nvPr/>
          </p:nvSpPr>
          <p:spPr>
            <a:xfrm>
              <a:off x="12396215"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a:t>
              </a:r>
            </a:p>
          </p:txBody>
        </p:sp>
        <p:sp>
          <p:nvSpPr>
            <p:cNvPr id="66" name="TextBox 65"/>
            <p:cNvSpPr txBox="1"/>
            <p:nvPr/>
          </p:nvSpPr>
          <p:spPr>
            <a:xfrm>
              <a:off x="12794742"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67" name="TextBox 66"/>
            <p:cNvSpPr txBox="1"/>
            <p:nvPr/>
          </p:nvSpPr>
          <p:spPr>
            <a:xfrm>
              <a:off x="12794742"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8" name="TextBox 67"/>
            <p:cNvSpPr txBox="1"/>
            <p:nvPr/>
          </p:nvSpPr>
          <p:spPr>
            <a:xfrm>
              <a:off x="12704216"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2</a:t>
              </a:r>
            </a:p>
          </p:txBody>
        </p:sp>
        <p:sp>
          <p:nvSpPr>
            <p:cNvPr id="69" name="TextBox 68"/>
            <p:cNvSpPr txBox="1"/>
            <p:nvPr/>
          </p:nvSpPr>
          <p:spPr>
            <a:xfrm>
              <a:off x="13193267"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0" name="TextBox 69"/>
            <p:cNvSpPr txBox="1"/>
            <p:nvPr/>
          </p:nvSpPr>
          <p:spPr>
            <a:xfrm>
              <a:off x="13193267"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2</a:t>
              </a:r>
            </a:p>
          </p:txBody>
        </p:sp>
        <p:sp>
          <p:nvSpPr>
            <p:cNvPr id="71" name="TextBox 70"/>
            <p:cNvSpPr txBox="1"/>
            <p:nvPr/>
          </p:nvSpPr>
          <p:spPr>
            <a:xfrm>
              <a:off x="13102742"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4</a:t>
              </a:r>
            </a:p>
          </p:txBody>
        </p:sp>
        <p:sp>
          <p:nvSpPr>
            <p:cNvPr id="72" name="TextBox 71"/>
            <p:cNvSpPr txBox="1"/>
            <p:nvPr/>
          </p:nvSpPr>
          <p:spPr>
            <a:xfrm>
              <a:off x="13591794" y="3401567"/>
              <a:ext cx="398525"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73" name="TextBox 72"/>
            <p:cNvSpPr txBox="1"/>
            <p:nvPr/>
          </p:nvSpPr>
          <p:spPr>
            <a:xfrm>
              <a:off x="13591794" y="3008375"/>
              <a:ext cx="398525" cy="320040"/>
            </a:xfrm>
            <a:prstGeom prst="rect">
              <a:avLst/>
            </a:prstGeom>
            <a:noFill/>
          </p:spPr>
          <p:txBody>
            <a:bodyPr wrap="none" lIns="0" tIns="0" rIns="0" bIns="0" anchor="ctr">
              <a:spAutoFit/>
            </a:bodyPr>
            <a:lstStyle/>
            <a:p>
              <a:pPr algn="ctr">
                <a:defRPr sz="2400" b="1">
                  <a:solidFill>
                    <a:srgbClr val="754B87"/>
                  </a:solidFill>
                  <a:latin typeface="Arial"/>
                </a:defRPr>
              </a:pPr>
              <a:r>
                <a:t>5</a:t>
              </a:r>
            </a:p>
          </p:txBody>
        </p:sp>
        <p:sp>
          <p:nvSpPr>
            <p:cNvPr id="74" name="TextBox 73"/>
            <p:cNvSpPr txBox="1"/>
            <p:nvPr/>
          </p:nvSpPr>
          <p:spPr>
            <a:xfrm>
              <a:off x="13501268" y="3374135"/>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8</a:t>
              </a:r>
            </a:p>
          </p:txBody>
        </p:sp>
      </p:grpSp>
      <p:sp>
        <p:nvSpPr>
          <p:cNvPr id="75" name="Rectangle 74"/>
          <p:cNvSpPr/>
          <p:nvPr/>
        </p:nvSpPr>
        <p:spPr>
          <a:xfrm>
            <a:off x="384048" y="3913631"/>
            <a:ext cx="2103120" cy="14173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6" name="TextBox 75"/>
          <p:cNvSpPr txBox="1"/>
          <p:nvPr/>
        </p:nvSpPr>
        <p:spPr>
          <a:xfrm>
            <a:off x="448056" y="4005071"/>
            <a:ext cx="1975103" cy="12344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77" name="Rectangle 76"/>
          <p:cNvSpPr/>
          <p:nvPr/>
        </p:nvSpPr>
        <p:spPr>
          <a:xfrm>
            <a:off x="2487168"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8" name="TextBox 77"/>
          <p:cNvSpPr txBox="1"/>
          <p:nvPr/>
        </p:nvSpPr>
        <p:spPr>
          <a:xfrm>
            <a:off x="2551175"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6 ÷ 3 = 2. Write 2 above 6.</a:t>
            </a:r>
          </a:p>
          <a:p>
            <a:pPr>
              <a:lnSpc>
                <a:spcPts val="1944"/>
              </a:lnSpc>
              <a:spcBef>
                <a:spcPts val="0"/>
              </a:spcBef>
              <a:spcAft>
                <a:spcPts val="0"/>
              </a:spcAft>
              <a:defRPr sz="1800" b="0">
                <a:solidFill>
                  <a:srgbClr val="182B3A"/>
                </a:solidFill>
                <a:latin typeface="Arial"/>
              </a:defRPr>
            </a:pPr>
            <a:r>
              <a:t>3 ÷ 3 = 1. Write 1 above 3.</a:t>
            </a:r>
          </a:p>
        </p:txBody>
      </p:sp>
      <p:sp>
        <p:nvSpPr>
          <p:cNvPr id="79" name="Rectangle 78"/>
          <p:cNvSpPr/>
          <p:nvPr/>
        </p:nvSpPr>
        <p:spPr>
          <a:xfrm>
            <a:off x="6406895"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0" name="TextBox 79"/>
          <p:cNvSpPr txBox="1"/>
          <p:nvPr/>
        </p:nvSpPr>
        <p:spPr>
          <a:xfrm>
            <a:off x="6470904"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 ÷ 6 = 0 r 1 → carry 1 to make 14.</a:t>
            </a:r>
          </a:p>
          <a:p>
            <a:pPr>
              <a:lnSpc>
                <a:spcPts val="1944"/>
              </a:lnSpc>
              <a:spcBef>
                <a:spcPts val="0"/>
              </a:spcBef>
              <a:spcAft>
                <a:spcPts val="0"/>
              </a:spcAft>
              <a:defRPr sz="1800" b="0">
                <a:solidFill>
                  <a:srgbClr val="182B3A"/>
                </a:solidFill>
                <a:latin typeface="Arial"/>
              </a:defRPr>
            </a:pPr>
            <a:r>
              <a:t>14 ÷ 6 = 2 r 2 → carry 2 to make 25.</a:t>
            </a:r>
          </a:p>
          <a:p>
            <a:pPr>
              <a:lnSpc>
                <a:spcPts val="1944"/>
              </a:lnSpc>
              <a:spcBef>
                <a:spcPts val="0"/>
              </a:spcBef>
              <a:spcAft>
                <a:spcPts val="0"/>
              </a:spcAft>
              <a:defRPr sz="1800" b="0">
                <a:solidFill>
                  <a:srgbClr val="182B3A"/>
                </a:solidFill>
                <a:latin typeface="Arial"/>
              </a:defRPr>
            </a:pPr>
            <a:r>
              <a:t>25 ÷ 6 = 4 r 1.</a:t>
            </a:r>
          </a:p>
        </p:txBody>
      </p:sp>
      <p:sp>
        <p:nvSpPr>
          <p:cNvPr id="81" name="Rectangle 80"/>
          <p:cNvSpPr/>
          <p:nvPr/>
        </p:nvSpPr>
        <p:spPr>
          <a:xfrm>
            <a:off x="10326624" y="3913631"/>
            <a:ext cx="3919727" cy="14173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2" name="TextBox 81"/>
          <p:cNvSpPr txBox="1"/>
          <p:nvPr/>
        </p:nvSpPr>
        <p:spPr>
          <a:xfrm>
            <a:off x="10390632" y="3977639"/>
            <a:ext cx="3791712" cy="1252728"/>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 ÷ 16 = 0 r 4 → make 48.</a:t>
            </a:r>
          </a:p>
          <a:p>
            <a:pPr>
              <a:lnSpc>
                <a:spcPts val="1944"/>
              </a:lnSpc>
              <a:spcBef>
                <a:spcPts val="0"/>
              </a:spcBef>
              <a:spcAft>
                <a:spcPts val="0"/>
              </a:spcAft>
              <a:defRPr sz="1800" b="0">
                <a:solidFill>
                  <a:srgbClr val="182B3A"/>
                </a:solidFill>
                <a:latin typeface="Arial"/>
              </a:defRPr>
            </a:pPr>
            <a:r>
              <a:t>48 ÷ 16 = 3; next digit is 3.</a:t>
            </a:r>
          </a:p>
          <a:p>
            <a:pPr>
              <a:lnSpc>
                <a:spcPts val="1944"/>
              </a:lnSpc>
              <a:spcBef>
                <a:spcPts val="0"/>
              </a:spcBef>
              <a:spcAft>
                <a:spcPts val="0"/>
              </a:spcAft>
              <a:defRPr sz="1800" b="0">
                <a:solidFill>
                  <a:srgbClr val="182B3A"/>
                </a:solidFill>
                <a:latin typeface="Arial"/>
              </a:defRPr>
            </a:pPr>
            <a:r>
              <a:t>3 ÷ 16 = 0 r 3 → make 34.</a:t>
            </a:r>
          </a:p>
          <a:p>
            <a:pPr>
              <a:lnSpc>
                <a:spcPts val="1944"/>
              </a:lnSpc>
              <a:spcBef>
                <a:spcPts val="0"/>
              </a:spcBef>
              <a:spcAft>
                <a:spcPts val="0"/>
              </a:spcAft>
              <a:defRPr sz="1800" b="0">
                <a:solidFill>
                  <a:srgbClr val="182B3A"/>
                </a:solidFill>
                <a:latin typeface="Arial"/>
              </a:defRPr>
            </a:pPr>
            <a:r>
              <a:t>34 ÷ 16 = 2 r 2.</a:t>
            </a:r>
          </a:p>
        </p:txBody>
      </p:sp>
      <p:sp>
        <p:nvSpPr>
          <p:cNvPr id="83" name="Rectangle 82"/>
          <p:cNvSpPr/>
          <p:nvPr/>
        </p:nvSpPr>
        <p:spPr>
          <a:xfrm>
            <a:off x="384048" y="533095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4" name="TextBox 83"/>
          <p:cNvSpPr txBox="1"/>
          <p:nvPr/>
        </p:nvSpPr>
        <p:spPr>
          <a:xfrm>
            <a:off x="448056" y="542239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85" name="Rectangle 84"/>
          <p:cNvSpPr/>
          <p:nvPr/>
        </p:nvSpPr>
        <p:spPr>
          <a:xfrm>
            <a:off x="2487168"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6" name="TextBox 85"/>
          <p:cNvSpPr txBox="1"/>
          <p:nvPr/>
        </p:nvSpPr>
        <p:spPr>
          <a:xfrm>
            <a:off x="2551175"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There is no final remainder.</a:t>
            </a:r>
          </a:p>
          <a:p>
            <a:pPr>
              <a:lnSpc>
                <a:spcPts val="2052"/>
              </a:lnSpc>
              <a:spcBef>
                <a:spcPts val="0"/>
              </a:spcBef>
              <a:spcAft>
                <a:spcPts val="0"/>
              </a:spcAft>
              <a:defRPr sz="1900" b="0">
                <a:solidFill>
                  <a:srgbClr val="182B3A"/>
                </a:solidFill>
                <a:latin typeface="Arial"/>
              </a:defRPr>
            </a:pPr>
            <a:r>
              <a:t>The answer is a whole number.</a:t>
            </a:r>
          </a:p>
        </p:txBody>
      </p:sp>
      <p:sp>
        <p:nvSpPr>
          <p:cNvPr id="87" name="Rectangle 86"/>
          <p:cNvSpPr/>
          <p:nvPr/>
        </p:nvSpPr>
        <p:spPr>
          <a:xfrm>
            <a:off x="6406895"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8" name="TextBox 87"/>
          <p:cNvSpPr txBox="1"/>
          <p:nvPr/>
        </p:nvSpPr>
        <p:spPr>
          <a:xfrm>
            <a:off x="6470904"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The final remainder is 1.</a:t>
            </a:r>
          </a:p>
          <a:p>
            <a:pPr>
              <a:lnSpc>
                <a:spcPts val="2052"/>
              </a:lnSpc>
              <a:spcBef>
                <a:spcPts val="0"/>
              </a:spcBef>
              <a:spcAft>
                <a:spcPts val="0"/>
              </a:spcAft>
              <a:defRPr sz="1900" b="0">
                <a:solidFill>
                  <a:srgbClr val="182B3A"/>
                </a:solidFill>
                <a:latin typeface="Arial"/>
              </a:defRPr>
            </a:pPr>
            <a:r>
              <a:t>Write r 1 after the quotient.</a:t>
            </a:r>
          </a:p>
        </p:txBody>
      </p:sp>
      <p:sp>
        <p:nvSpPr>
          <p:cNvPr id="89" name="Rectangle 88"/>
          <p:cNvSpPr/>
          <p:nvPr/>
        </p:nvSpPr>
        <p:spPr>
          <a:xfrm>
            <a:off x="10326624" y="533095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0" name="TextBox 89"/>
          <p:cNvSpPr txBox="1"/>
          <p:nvPr/>
        </p:nvSpPr>
        <p:spPr>
          <a:xfrm>
            <a:off x="10390632" y="5394959"/>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Add a decimal point and zeros.</a:t>
            </a:r>
          </a:p>
          <a:p>
            <a:pPr>
              <a:lnSpc>
                <a:spcPts val="2052"/>
              </a:lnSpc>
              <a:spcBef>
                <a:spcPts val="0"/>
              </a:spcBef>
              <a:spcAft>
                <a:spcPts val="0"/>
              </a:spcAft>
              <a:defRPr sz="1900" b="0">
                <a:solidFill>
                  <a:srgbClr val="182B3A"/>
                </a:solidFill>
                <a:latin typeface="Arial"/>
              </a:defRPr>
            </a:pPr>
            <a:r>
              <a:t>20 ÷ 16 = 1 r 4 → make 40.</a:t>
            </a:r>
          </a:p>
          <a:p>
            <a:pPr>
              <a:lnSpc>
                <a:spcPts val="2052"/>
              </a:lnSpc>
              <a:spcBef>
                <a:spcPts val="0"/>
              </a:spcBef>
              <a:spcAft>
                <a:spcPts val="0"/>
              </a:spcAft>
              <a:defRPr sz="1900" b="0">
                <a:solidFill>
                  <a:srgbClr val="182B3A"/>
                </a:solidFill>
                <a:latin typeface="Arial"/>
              </a:defRPr>
            </a:pPr>
            <a:r>
              <a:t>40 ÷ 16 = 2 r 8 → make 80.</a:t>
            </a:r>
          </a:p>
          <a:p>
            <a:pPr>
              <a:lnSpc>
                <a:spcPts val="2052"/>
              </a:lnSpc>
              <a:spcBef>
                <a:spcPts val="0"/>
              </a:spcBef>
              <a:spcAft>
                <a:spcPts val="0"/>
              </a:spcAft>
              <a:defRPr sz="1900" b="0">
                <a:solidFill>
                  <a:srgbClr val="182B3A"/>
                </a:solidFill>
                <a:latin typeface="Arial"/>
              </a:defRPr>
            </a:pPr>
            <a:r>
              <a:t>80 ÷ 16 = 5. No remainder.</a:t>
            </a:r>
          </a:p>
        </p:txBody>
      </p:sp>
      <p:sp>
        <p:nvSpPr>
          <p:cNvPr id="91" name="Rectangle 90"/>
          <p:cNvSpPr/>
          <p:nvPr/>
        </p:nvSpPr>
        <p:spPr>
          <a:xfrm>
            <a:off x="384048" y="6885431"/>
            <a:ext cx="2103120" cy="77724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2" name="TextBox 91"/>
          <p:cNvSpPr txBox="1"/>
          <p:nvPr/>
        </p:nvSpPr>
        <p:spPr>
          <a:xfrm>
            <a:off x="448056" y="6976871"/>
            <a:ext cx="1975103" cy="59435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93" name="Rectangle 92"/>
          <p:cNvSpPr/>
          <p:nvPr/>
        </p:nvSpPr>
        <p:spPr>
          <a:xfrm>
            <a:off x="2487168"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4" name="TextBox 93"/>
          <p:cNvSpPr txBox="1"/>
          <p:nvPr/>
        </p:nvSpPr>
        <p:spPr>
          <a:xfrm>
            <a:off x="2551175"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63 ÷ 3 = 21</a:t>
            </a:r>
          </a:p>
        </p:txBody>
      </p:sp>
      <p:sp>
        <p:nvSpPr>
          <p:cNvPr id="95" name="Rectangle 94"/>
          <p:cNvSpPr/>
          <p:nvPr/>
        </p:nvSpPr>
        <p:spPr>
          <a:xfrm>
            <a:off x="6406895"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6" name="TextBox 95"/>
          <p:cNvSpPr txBox="1"/>
          <p:nvPr/>
        </p:nvSpPr>
        <p:spPr>
          <a:xfrm>
            <a:off x="6470904"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145 ÷ 6 = 24 r 1</a:t>
            </a:r>
          </a:p>
        </p:txBody>
      </p:sp>
      <p:sp>
        <p:nvSpPr>
          <p:cNvPr id="97" name="Rectangle 96"/>
          <p:cNvSpPr/>
          <p:nvPr/>
        </p:nvSpPr>
        <p:spPr>
          <a:xfrm>
            <a:off x="10326624" y="6885431"/>
            <a:ext cx="3919727" cy="77724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8" name="TextBox 97"/>
          <p:cNvSpPr txBox="1"/>
          <p:nvPr/>
        </p:nvSpPr>
        <p:spPr>
          <a:xfrm>
            <a:off x="10390632" y="6949440"/>
            <a:ext cx="3791712" cy="612647"/>
          </a:xfrm>
          <a:prstGeom prst="rect">
            <a:avLst/>
          </a:prstGeom>
          <a:noFill/>
        </p:spPr>
        <p:txBody>
          <a:bodyPr wrap="square" tIns="36576" bIns="36576" anchor="t">
            <a:spAutoFit/>
          </a:bodyPr>
          <a:lstStyle/>
          <a:p>
            <a:pPr>
              <a:lnSpc>
                <a:spcPts val="2484"/>
              </a:lnSpc>
              <a:spcBef>
                <a:spcPts val="0"/>
              </a:spcBef>
              <a:spcAft>
                <a:spcPts val="0"/>
              </a:spcAft>
              <a:defRPr sz="2300" b="0">
                <a:solidFill>
                  <a:srgbClr val="182B3A"/>
                </a:solidFill>
                <a:latin typeface="Arial"/>
              </a:defRPr>
            </a:pPr>
            <a:r>
              <a:t>4,834 ÷ 16 = 302.125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88 ÷ 4</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130 ÷ 4</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5,122 ÷ 16</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Build: give remainders. Confidence: give decimal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5943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521208"/>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5943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66 ÷ 3</a:t>
            </a:r>
          </a:p>
        </p:txBody>
      </p:sp>
      <p:sp>
        <p:nvSpPr>
          <p:cNvPr id="17" name="Rectangle 16"/>
          <p:cNvSpPr/>
          <p:nvPr/>
        </p:nvSpPr>
        <p:spPr>
          <a:xfrm>
            <a:off x="6406895" y="1581912"/>
            <a:ext cx="3919727" cy="5943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227 ÷ 6</a:t>
            </a:r>
          </a:p>
        </p:txBody>
      </p:sp>
      <p:sp>
        <p:nvSpPr>
          <p:cNvPr id="19" name="Rectangle 18"/>
          <p:cNvSpPr/>
          <p:nvPr/>
        </p:nvSpPr>
        <p:spPr>
          <a:xfrm>
            <a:off x="10326624" y="1581912"/>
            <a:ext cx="3919727" cy="5943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484632"/>
          </a:xfrm>
          <a:prstGeom prst="rect">
            <a:avLst/>
          </a:prstGeom>
          <a:noFill/>
        </p:spPr>
        <p:txBody>
          <a:bodyPr wrap="square" tIns="36576" bIns="36576" anchor="ctr">
            <a:spAutoFit/>
          </a:bodyPr>
          <a:lstStyle/>
          <a:p>
            <a:pPr>
              <a:lnSpc>
                <a:spcPts val="2808"/>
              </a:lnSpc>
              <a:spcBef>
                <a:spcPts val="0"/>
              </a:spcBef>
              <a:spcAft>
                <a:spcPts val="0"/>
              </a:spcAft>
              <a:defRPr sz="2600" b="1">
                <a:solidFill>
                  <a:srgbClr val="182B3A"/>
                </a:solidFill>
                <a:latin typeface="Arial"/>
              </a:defRPr>
            </a:pPr>
            <a:r>
              <a:t>3,827 ÷ 25</a:t>
            </a:r>
          </a:p>
        </p:txBody>
      </p:sp>
      <p:sp>
        <p:nvSpPr>
          <p:cNvPr id="21" name="Rectangle 20"/>
          <p:cNvSpPr/>
          <p:nvPr/>
        </p:nvSpPr>
        <p:spPr>
          <a:xfrm>
            <a:off x="384048" y="217627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267712"/>
            <a:ext cx="1975103" cy="109728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Draw Frame &amp; Position Digits</a:t>
            </a:r>
          </a:p>
        </p:txBody>
      </p:sp>
      <p:sp>
        <p:nvSpPr>
          <p:cNvPr id="23" name="Rectangle 22"/>
          <p:cNvSpPr/>
          <p:nvPr/>
        </p:nvSpPr>
        <p:spPr>
          <a:xfrm>
            <a:off x="2487168"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5" name="Rectangle 24"/>
          <p:cNvSpPr/>
          <p:nvPr/>
        </p:nvSpPr>
        <p:spPr>
          <a:xfrm>
            <a:off x="6406895"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7" name="Rectangle 26"/>
          <p:cNvSpPr/>
          <p:nvPr/>
        </p:nvSpPr>
        <p:spPr>
          <a:xfrm>
            <a:off x="10326624" y="2176272"/>
            <a:ext cx="3919727" cy="128016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240279"/>
            <a:ext cx="3791712" cy="111556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Draw the frame. Dividend inside; divisor outside on the left. Space the digits clearly.</a:t>
            </a:r>
          </a:p>
        </p:txBody>
      </p:sp>
      <p:sp>
        <p:nvSpPr>
          <p:cNvPr id="29" name="Rectangle 28"/>
          <p:cNvSpPr/>
          <p:nvPr/>
        </p:nvSpPr>
        <p:spPr>
          <a:xfrm>
            <a:off x="384048" y="3456432"/>
            <a:ext cx="2103120" cy="160020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547872"/>
            <a:ext cx="1975103" cy="141732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Divide Left-to-Right &amp; Carry</a:t>
            </a:r>
          </a:p>
        </p:txBody>
      </p:sp>
      <p:sp>
        <p:nvSpPr>
          <p:cNvPr id="31" name="Rectangle 30"/>
          <p:cNvSpPr/>
          <p:nvPr/>
        </p:nvSpPr>
        <p:spPr>
          <a:xfrm>
            <a:off x="2487168"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3" name="Rectangle 32"/>
          <p:cNvSpPr/>
          <p:nvPr/>
        </p:nvSpPr>
        <p:spPr>
          <a:xfrm>
            <a:off x="6406895"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5" name="Rectangle 34"/>
          <p:cNvSpPr/>
          <p:nvPr/>
        </p:nvSpPr>
        <p:spPr>
          <a:xfrm>
            <a:off x="10326624" y="3456432"/>
            <a:ext cx="3919727" cy="160020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3520439"/>
            <a:ext cx="3791712" cy="143560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Work left to right. Write how many whole times the divisor fits above the matching digit. Carry the remainder as a small prefix to the next digit.</a:t>
            </a:r>
          </a:p>
        </p:txBody>
      </p:sp>
      <p:sp>
        <p:nvSpPr>
          <p:cNvPr id="37" name="Rectangle 36"/>
          <p:cNvSpPr/>
          <p:nvPr/>
        </p:nvSpPr>
        <p:spPr>
          <a:xfrm>
            <a:off x="384048" y="5056631"/>
            <a:ext cx="2103120" cy="15544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148071"/>
            <a:ext cx="1975103" cy="13716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Track Remainders or Decimals</a:t>
            </a:r>
          </a:p>
        </p:txBody>
      </p:sp>
      <p:sp>
        <p:nvSpPr>
          <p:cNvPr id="39" name="Rectangle 38"/>
          <p:cNvSpPr/>
          <p:nvPr/>
        </p:nvSpPr>
        <p:spPr>
          <a:xfrm>
            <a:off x="2487168"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1" name="Rectangle 40"/>
          <p:cNvSpPr/>
          <p:nvPr/>
        </p:nvSpPr>
        <p:spPr>
          <a:xfrm>
            <a:off x="6406895"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3" name="Rectangle 42"/>
          <p:cNvSpPr/>
          <p:nvPr/>
        </p:nvSpPr>
        <p:spPr>
          <a:xfrm>
            <a:off x="10326624" y="5056631"/>
            <a:ext cx="3919727" cy="15544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120640"/>
            <a:ext cx="3791712" cy="1389888"/>
          </a:xfrm>
          <a:prstGeom prst="rect">
            <a:avLst/>
          </a:prstGeom>
          <a:noFill/>
        </p:spPr>
        <p:txBody>
          <a:bodyPr wrap="square" tIns="36576" bIns="36576" anchor="t">
            <a:spAutoFit/>
          </a:bodyPr>
          <a:lstStyle/>
          <a:p>
            <a:pPr>
              <a:lnSpc>
                <a:spcPts val="2052"/>
              </a:lnSpc>
              <a:spcBef>
                <a:spcPts val="0"/>
              </a:spcBef>
              <a:spcAft>
                <a:spcPts val="0"/>
              </a:spcAft>
              <a:defRPr sz="1900" b="0">
                <a:solidFill>
                  <a:srgbClr val="182B3A"/>
                </a:solidFill>
                <a:latin typeface="Arial"/>
              </a:defRPr>
            </a:pPr>
            <a:r>
              <a:t>Check the final remainder. Build: write any remainder as r. Confidence: add a decimal point and zeros. Continue until the remainder is 0.</a:t>
            </a:r>
          </a:p>
        </p:txBody>
      </p:sp>
      <p:sp>
        <p:nvSpPr>
          <p:cNvPr id="45" name="Rectangle 44"/>
          <p:cNvSpPr/>
          <p:nvPr/>
        </p:nvSpPr>
        <p:spPr>
          <a:xfrm>
            <a:off x="384048" y="6611112"/>
            <a:ext cx="2103120" cy="1097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702551"/>
            <a:ext cx="1975103" cy="914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Write Final Quotient</a:t>
            </a:r>
          </a:p>
        </p:txBody>
      </p:sp>
      <p:sp>
        <p:nvSpPr>
          <p:cNvPr id="47" name="Rectangle 46"/>
          <p:cNvSpPr/>
          <p:nvPr/>
        </p:nvSpPr>
        <p:spPr>
          <a:xfrm>
            <a:off x="2487168"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49" name="Rectangle 48"/>
          <p:cNvSpPr/>
          <p:nvPr/>
        </p:nvSpPr>
        <p:spPr>
          <a:xfrm>
            <a:off x="6406895"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
        <p:nvSpPr>
          <p:cNvPr id="51" name="Rectangle 50"/>
          <p:cNvSpPr/>
          <p:nvPr/>
        </p:nvSpPr>
        <p:spPr>
          <a:xfrm>
            <a:off x="10326624" y="6611112"/>
            <a:ext cx="3919727" cy="1097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675120"/>
            <a:ext cx="3791712" cy="9326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Write the complete answer. Keep place-value zeros. Align decimal points.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84 ÷ 4</a:t>
            </a:r>
          </a:p>
        </p:txBody>
      </p:sp>
      <p:cxnSp>
        <p:nvCxnSpPr>
          <p:cNvPr id="10" name="Connector 9"/>
          <p:cNvCxnSpPr/>
          <p:nvPr/>
        </p:nvCxnSpPr>
        <p:spPr>
          <a:xfrm>
            <a:off x="941831" y="2679191"/>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1831"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4</a:t>
            </a:r>
          </a:p>
        </p:txBody>
      </p:sp>
      <p:sp>
        <p:nvSpPr>
          <p:cNvPr id="13" name="TextBox 12"/>
          <p:cNvSpPr txBox="1"/>
          <p:nvPr/>
        </p:nvSpPr>
        <p:spPr>
          <a:xfrm>
            <a:off x="996695"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4" name="TextBox 13"/>
          <p:cNvSpPr txBox="1"/>
          <p:nvPr/>
        </p:nvSpPr>
        <p:spPr>
          <a:xfrm>
            <a:off x="996695"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5" name="TextBox 14"/>
          <p:cNvSpPr txBox="1"/>
          <p:nvPr/>
        </p:nvSpPr>
        <p:spPr>
          <a:xfrm>
            <a:off x="1417319"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6" name="TextBox 15"/>
          <p:cNvSpPr txBox="1"/>
          <p:nvPr/>
        </p:nvSpPr>
        <p:spPr>
          <a:xfrm>
            <a:off x="1417319"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7" name="TextBox 16"/>
          <p:cNvSpPr txBox="1"/>
          <p:nvPr/>
        </p:nvSpPr>
        <p:spPr>
          <a:xfrm>
            <a:off x="603503"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a:t>
            </a:r>
          </a:p>
        </p:txBody>
      </p:sp>
      <p:sp>
        <p:nvSpPr>
          <p:cNvPr id="18" name="Rectangle 17"/>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505 ÷ 5</a:t>
            </a:r>
          </a:p>
        </p:txBody>
      </p:sp>
      <p:cxnSp>
        <p:nvCxnSpPr>
          <p:cNvPr id="20" name="Connector 19"/>
          <p:cNvCxnSpPr/>
          <p:nvPr/>
        </p:nvCxnSpPr>
        <p:spPr>
          <a:xfrm>
            <a:off x="941831" y="4681728"/>
            <a:ext cx="134416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41831"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5</a:t>
            </a:r>
          </a:p>
        </p:txBody>
      </p:sp>
      <p:sp>
        <p:nvSpPr>
          <p:cNvPr id="23" name="TextBox 22"/>
          <p:cNvSpPr txBox="1"/>
          <p:nvPr/>
        </p:nvSpPr>
        <p:spPr>
          <a:xfrm>
            <a:off x="996695"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4" name="TextBox 23"/>
          <p:cNvSpPr txBox="1"/>
          <p:nvPr/>
        </p:nvSpPr>
        <p:spPr>
          <a:xfrm>
            <a:off x="996695"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5" name="TextBox 24"/>
          <p:cNvSpPr txBox="1"/>
          <p:nvPr/>
        </p:nvSpPr>
        <p:spPr>
          <a:xfrm>
            <a:off x="1417319"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26" name="TextBox 25"/>
          <p:cNvSpPr txBox="1"/>
          <p:nvPr/>
        </p:nvSpPr>
        <p:spPr>
          <a:xfrm>
            <a:off x="1837943"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27" name="TextBox 26"/>
          <p:cNvSpPr txBox="1"/>
          <p:nvPr/>
        </p:nvSpPr>
        <p:spPr>
          <a:xfrm>
            <a:off x="1837943"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28" name="TextBox 27"/>
          <p:cNvSpPr txBox="1"/>
          <p:nvPr/>
        </p:nvSpPr>
        <p:spPr>
          <a:xfrm>
            <a:off x="603503"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11</a:t>
            </a:r>
          </a:p>
        </p:txBody>
      </p:sp>
      <p:sp>
        <p:nvSpPr>
          <p:cNvPr id="29" name="Rectangle 28"/>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96 ÷ 3</a:t>
            </a:r>
          </a:p>
        </p:txBody>
      </p:sp>
      <p:cxnSp>
        <p:nvCxnSpPr>
          <p:cNvPr id="31" name="Connector 30"/>
          <p:cNvCxnSpPr/>
          <p:nvPr/>
        </p:nvCxnSpPr>
        <p:spPr>
          <a:xfrm>
            <a:off x="941831" y="6684264"/>
            <a:ext cx="923545"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41831"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3</a:t>
            </a:r>
          </a:p>
        </p:txBody>
      </p:sp>
      <p:sp>
        <p:nvSpPr>
          <p:cNvPr id="34" name="TextBox 33"/>
          <p:cNvSpPr txBox="1"/>
          <p:nvPr/>
        </p:nvSpPr>
        <p:spPr>
          <a:xfrm>
            <a:off x="996695"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9</a:t>
            </a:r>
          </a:p>
        </p:txBody>
      </p:sp>
      <p:sp>
        <p:nvSpPr>
          <p:cNvPr id="35" name="TextBox 34"/>
          <p:cNvSpPr txBox="1"/>
          <p:nvPr/>
        </p:nvSpPr>
        <p:spPr>
          <a:xfrm>
            <a:off x="996695"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6" name="TextBox 35"/>
          <p:cNvSpPr txBox="1"/>
          <p:nvPr/>
        </p:nvSpPr>
        <p:spPr>
          <a:xfrm>
            <a:off x="1417319"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37" name="TextBox 36"/>
          <p:cNvSpPr txBox="1"/>
          <p:nvPr/>
        </p:nvSpPr>
        <p:spPr>
          <a:xfrm>
            <a:off x="1417319"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38" name="TextBox 37"/>
          <p:cNvSpPr txBox="1"/>
          <p:nvPr/>
        </p:nvSpPr>
        <p:spPr>
          <a:xfrm>
            <a:off x="603503"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33</a:t>
            </a:r>
          </a:p>
        </p:txBody>
      </p:sp>
      <p:sp>
        <p:nvSpPr>
          <p:cNvPr id="39" name="Rectangle 3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41" name="Rectangle 4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145 ÷ 6</a:t>
            </a:r>
          </a:p>
        </p:txBody>
      </p:sp>
      <p:cxnSp>
        <p:nvCxnSpPr>
          <p:cNvPr id="43" name="Connector 42"/>
          <p:cNvCxnSpPr/>
          <p:nvPr/>
        </p:nvCxnSpPr>
        <p:spPr>
          <a:xfrm>
            <a:off x="5562600" y="2679191"/>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562600"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187696"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46" name="TextBox 45"/>
          <p:cNvSpPr txBox="1"/>
          <p:nvPr/>
        </p:nvSpPr>
        <p:spPr>
          <a:xfrm>
            <a:off x="561746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47" name="TextBox 46"/>
          <p:cNvSpPr txBox="1"/>
          <p:nvPr/>
        </p:nvSpPr>
        <p:spPr>
          <a:xfrm>
            <a:off x="6038088"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48" name="TextBox 47"/>
          <p:cNvSpPr txBox="1"/>
          <p:nvPr/>
        </p:nvSpPr>
        <p:spPr>
          <a:xfrm>
            <a:off x="6038088"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49" name="TextBox 48"/>
          <p:cNvSpPr txBox="1"/>
          <p:nvPr/>
        </p:nvSpPr>
        <p:spPr>
          <a:xfrm>
            <a:off x="5983224"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50" name="TextBox 49"/>
          <p:cNvSpPr txBox="1"/>
          <p:nvPr/>
        </p:nvSpPr>
        <p:spPr>
          <a:xfrm>
            <a:off x="645871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51" name="TextBox 50"/>
          <p:cNvSpPr txBox="1"/>
          <p:nvPr/>
        </p:nvSpPr>
        <p:spPr>
          <a:xfrm>
            <a:off x="6458712"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52" name="TextBox 51"/>
          <p:cNvSpPr txBox="1"/>
          <p:nvPr/>
        </p:nvSpPr>
        <p:spPr>
          <a:xfrm>
            <a:off x="6970776" y="2377439"/>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53" name="TextBox 52"/>
          <p:cNvSpPr txBox="1"/>
          <p:nvPr/>
        </p:nvSpPr>
        <p:spPr>
          <a:xfrm>
            <a:off x="5224272"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20 r 5</a:t>
            </a:r>
          </a:p>
        </p:txBody>
      </p:sp>
      <p:sp>
        <p:nvSpPr>
          <p:cNvPr id="54" name="Rectangle 5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132 ÷ 8 (decimal answer)</a:t>
            </a:r>
          </a:p>
        </p:txBody>
      </p:sp>
      <p:cxnSp>
        <p:nvCxnSpPr>
          <p:cNvPr id="56" name="Connector 55"/>
          <p:cNvCxnSpPr/>
          <p:nvPr/>
        </p:nvCxnSpPr>
        <p:spPr>
          <a:xfrm>
            <a:off x="5562600" y="4681728"/>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562600"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187696"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8</a:t>
            </a:r>
          </a:p>
        </p:txBody>
      </p:sp>
      <p:sp>
        <p:nvSpPr>
          <p:cNvPr id="59" name="TextBox 58"/>
          <p:cNvSpPr txBox="1"/>
          <p:nvPr/>
        </p:nvSpPr>
        <p:spPr>
          <a:xfrm>
            <a:off x="561746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0" name="TextBox 59"/>
          <p:cNvSpPr txBox="1"/>
          <p:nvPr/>
        </p:nvSpPr>
        <p:spPr>
          <a:xfrm>
            <a:off x="603808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61" name="TextBox 60"/>
          <p:cNvSpPr txBox="1"/>
          <p:nvPr/>
        </p:nvSpPr>
        <p:spPr>
          <a:xfrm>
            <a:off x="603808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62" name="TextBox 61"/>
          <p:cNvSpPr txBox="1"/>
          <p:nvPr/>
        </p:nvSpPr>
        <p:spPr>
          <a:xfrm>
            <a:off x="598322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63" name="TextBox 62"/>
          <p:cNvSpPr txBox="1"/>
          <p:nvPr/>
        </p:nvSpPr>
        <p:spPr>
          <a:xfrm>
            <a:off x="645871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64" name="TextBox 63"/>
          <p:cNvSpPr txBox="1"/>
          <p:nvPr/>
        </p:nvSpPr>
        <p:spPr>
          <a:xfrm>
            <a:off x="645871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65" name="TextBox 64"/>
          <p:cNvSpPr txBox="1"/>
          <p:nvPr/>
        </p:nvSpPr>
        <p:spPr>
          <a:xfrm>
            <a:off x="640384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5</a:t>
            </a:r>
          </a:p>
        </p:txBody>
      </p:sp>
      <p:sp>
        <p:nvSpPr>
          <p:cNvPr id="66" name="TextBox 65"/>
          <p:cNvSpPr txBox="1"/>
          <p:nvPr/>
        </p:nvSpPr>
        <p:spPr>
          <a:xfrm>
            <a:off x="6970776" y="4379976"/>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4</a:t>
            </a:r>
          </a:p>
        </p:txBody>
      </p:sp>
      <p:sp>
        <p:nvSpPr>
          <p:cNvPr id="67" name="TextBox 66"/>
          <p:cNvSpPr txBox="1"/>
          <p:nvPr/>
        </p:nvSpPr>
        <p:spPr>
          <a:xfrm>
            <a:off x="5224272"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16.4</a:t>
            </a:r>
          </a:p>
        </p:txBody>
      </p:sp>
      <p:sp>
        <p:nvSpPr>
          <p:cNvPr id="68" name="Rectangle 67"/>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245 ÷ 6</a:t>
            </a:r>
          </a:p>
        </p:txBody>
      </p:sp>
      <p:cxnSp>
        <p:nvCxnSpPr>
          <p:cNvPr id="70" name="Connector 69"/>
          <p:cNvCxnSpPr/>
          <p:nvPr/>
        </p:nvCxnSpPr>
        <p:spPr>
          <a:xfrm>
            <a:off x="5562600" y="6684264"/>
            <a:ext cx="1344167"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62600"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187696"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6</a:t>
            </a:r>
          </a:p>
        </p:txBody>
      </p:sp>
      <p:sp>
        <p:nvSpPr>
          <p:cNvPr id="73" name="TextBox 72"/>
          <p:cNvSpPr txBox="1"/>
          <p:nvPr/>
        </p:nvSpPr>
        <p:spPr>
          <a:xfrm>
            <a:off x="561746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74" name="TextBox 73"/>
          <p:cNvSpPr txBox="1"/>
          <p:nvPr/>
        </p:nvSpPr>
        <p:spPr>
          <a:xfrm>
            <a:off x="603808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75" name="TextBox 74"/>
          <p:cNvSpPr txBox="1"/>
          <p:nvPr/>
        </p:nvSpPr>
        <p:spPr>
          <a:xfrm>
            <a:off x="603808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76" name="TextBox 75"/>
          <p:cNvSpPr txBox="1"/>
          <p:nvPr/>
        </p:nvSpPr>
        <p:spPr>
          <a:xfrm>
            <a:off x="5983224"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77" name="TextBox 76"/>
          <p:cNvSpPr txBox="1"/>
          <p:nvPr/>
        </p:nvSpPr>
        <p:spPr>
          <a:xfrm>
            <a:off x="645871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78" name="TextBox 77"/>
          <p:cNvSpPr txBox="1"/>
          <p:nvPr/>
        </p:nvSpPr>
        <p:spPr>
          <a:xfrm>
            <a:off x="645871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10</a:t>
            </a:r>
          </a:p>
        </p:txBody>
      </p:sp>
      <p:sp>
        <p:nvSpPr>
          <p:cNvPr id="79" name="TextBox 78"/>
          <p:cNvSpPr txBox="1"/>
          <p:nvPr/>
        </p:nvSpPr>
        <p:spPr>
          <a:xfrm>
            <a:off x="640384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80" name="TextBox 79"/>
          <p:cNvSpPr txBox="1"/>
          <p:nvPr/>
        </p:nvSpPr>
        <p:spPr>
          <a:xfrm>
            <a:off x="6970776" y="6382512"/>
            <a:ext cx="73152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r 5</a:t>
            </a:r>
          </a:p>
        </p:txBody>
      </p:sp>
      <p:sp>
        <p:nvSpPr>
          <p:cNvPr id="81" name="TextBox 80"/>
          <p:cNvSpPr txBox="1"/>
          <p:nvPr/>
        </p:nvSpPr>
        <p:spPr>
          <a:xfrm>
            <a:off x="5224272"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310 r 5</a:t>
            </a:r>
          </a:p>
        </p:txBody>
      </p:sp>
      <p:sp>
        <p:nvSpPr>
          <p:cNvPr id="82" name="Rectangle 8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TextBox 8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84" name="Rectangle 8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TextBox 84"/>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1,248 ÷ 12</a:t>
            </a:r>
          </a:p>
        </p:txBody>
      </p:sp>
      <p:cxnSp>
        <p:nvCxnSpPr>
          <p:cNvPr id="86" name="Connector 85"/>
          <p:cNvCxnSpPr/>
          <p:nvPr/>
        </p:nvCxnSpPr>
        <p:spPr>
          <a:xfrm>
            <a:off x="10183368" y="2679191"/>
            <a:ext cx="1764792"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183368" y="2679191"/>
            <a:ext cx="0" cy="356617"/>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9808464" y="2702051"/>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89" name="TextBox 88"/>
          <p:cNvSpPr txBox="1"/>
          <p:nvPr/>
        </p:nvSpPr>
        <p:spPr>
          <a:xfrm>
            <a:off x="10238232"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0" name="TextBox 89"/>
          <p:cNvSpPr txBox="1"/>
          <p:nvPr/>
        </p:nvSpPr>
        <p:spPr>
          <a:xfrm>
            <a:off x="10658856"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91" name="TextBox 90"/>
          <p:cNvSpPr txBox="1"/>
          <p:nvPr/>
        </p:nvSpPr>
        <p:spPr>
          <a:xfrm>
            <a:off x="10658856"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92" name="TextBox 91"/>
          <p:cNvSpPr txBox="1"/>
          <p:nvPr/>
        </p:nvSpPr>
        <p:spPr>
          <a:xfrm>
            <a:off x="10603992"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93" name="TextBox 92"/>
          <p:cNvSpPr txBox="1"/>
          <p:nvPr/>
        </p:nvSpPr>
        <p:spPr>
          <a:xfrm>
            <a:off x="11079480"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4" name="TextBox 93"/>
          <p:cNvSpPr txBox="1"/>
          <p:nvPr/>
        </p:nvSpPr>
        <p:spPr>
          <a:xfrm>
            <a:off x="11500104" y="2711196"/>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95" name="TextBox 94"/>
          <p:cNvSpPr txBox="1"/>
          <p:nvPr/>
        </p:nvSpPr>
        <p:spPr>
          <a:xfrm>
            <a:off x="11500104" y="2350008"/>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96" name="TextBox 95"/>
          <p:cNvSpPr txBox="1"/>
          <p:nvPr/>
        </p:nvSpPr>
        <p:spPr>
          <a:xfrm>
            <a:off x="11445240" y="2683763"/>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97" name="TextBox 96"/>
          <p:cNvSpPr txBox="1"/>
          <p:nvPr/>
        </p:nvSpPr>
        <p:spPr>
          <a:xfrm>
            <a:off x="9845040" y="3255263"/>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14</a:t>
            </a:r>
          </a:p>
        </p:txBody>
      </p:sp>
      <p:sp>
        <p:nvSpPr>
          <p:cNvPr id="98" name="Rectangle 9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615 ÷ 12 (decimal answer)</a:t>
            </a:r>
          </a:p>
        </p:txBody>
      </p:sp>
      <p:cxnSp>
        <p:nvCxnSpPr>
          <p:cNvPr id="100" name="Connector 99"/>
          <p:cNvCxnSpPr/>
          <p:nvPr/>
        </p:nvCxnSpPr>
        <p:spPr>
          <a:xfrm>
            <a:off x="10183368" y="4681728"/>
            <a:ext cx="260604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183368" y="4681728"/>
            <a:ext cx="0" cy="356616"/>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9808464" y="4704588"/>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12</a:t>
            </a:r>
          </a:p>
        </p:txBody>
      </p:sp>
      <p:sp>
        <p:nvSpPr>
          <p:cNvPr id="103" name="TextBox 102"/>
          <p:cNvSpPr txBox="1"/>
          <p:nvPr/>
        </p:nvSpPr>
        <p:spPr>
          <a:xfrm>
            <a:off x="1023823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6</a:t>
            </a:r>
          </a:p>
        </p:txBody>
      </p:sp>
      <p:sp>
        <p:nvSpPr>
          <p:cNvPr id="104" name="TextBox 103"/>
          <p:cNvSpPr txBox="1"/>
          <p:nvPr/>
        </p:nvSpPr>
        <p:spPr>
          <a:xfrm>
            <a:off x="10658856"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5" name="TextBox 104"/>
          <p:cNvSpPr txBox="1"/>
          <p:nvPr/>
        </p:nvSpPr>
        <p:spPr>
          <a:xfrm>
            <a:off x="10658856"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6" name="TextBox 105"/>
          <p:cNvSpPr txBox="1"/>
          <p:nvPr/>
        </p:nvSpPr>
        <p:spPr>
          <a:xfrm>
            <a:off x="10603992"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07" name="TextBox 106"/>
          <p:cNvSpPr txBox="1"/>
          <p:nvPr/>
        </p:nvSpPr>
        <p:spPr>
          <a:xfrm>
            <a:off x="11079480"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08" name="TextBox 107"/>
          <p:cNvSpPr txBox="1"/>
          <p:nvPr/>
        </p:nvSpPr>
        <p:spPr>
          <a:xfrm>
            <a:off x="11079480"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09" name="TextBox 108"/>
          <p:cNvSpPr txBox="1"/>
          <p:nvPr/>
        </p:nvSpPr>
        <p:spPr>
          <a:xfrm>
            <a:off x="11024616"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1</a:t>
            </a:r>
          </a:p>
        </p:txBody>
      </p:sp>
      <p:sp>
        <p:nvSpPr>
          <p:cNvPr id="110" name="TextBox 109"/>
          <p:cNvSpPr txBox="1"/>
          <p:nvPr/>
        </p:nvSpPr>
        <p:spPr>
          <a:xfrm>
            <a:off x="11500104"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1" name="TextBox 110"/>
          <p:cNvSpPr txBox="1"/>
          <p:nvPr/>
        </p:nvSpPr>
        <p:spPr>
          <a:xfrm>
            <a:off x="1086916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12" name="TextBox 111"/>
          <p:cNvSpPr txBox="1"/>
          <p:nvPr/>
        </p:nvSpPr>
        <p:spPr>
          <a:xfrm>
            <a:off x="11920728"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3" name="TextBox 112"/>
          <p:cNvSpPr txBox="1"/>
          <p:nvPr/>
        </p:nvSpPr>
        <p:spPr>
          <a:xfrm>
            <a:off x="11920728"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14" name="TextBox 113"/>
          <p:cNvSpPr txBox="1"/>
          <p:nvPr/>
        </p:nvSpPr>
        <p:spPr>
          <a:xfrm>
            <a:off x="11865864"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15" name="TextBox 114"/>
          <p:cNvSpPr txBox="1"/>
          <p:nvPr/>
        </p:nvSpPr>
        <p:spPr>
          <a:xfrm>
            <a:off x="12341352" y="4713732"/>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16" name="TextBox 115"/>
          <p:cNvSpPr txBox="1"/>
          <p:nvPr/>
        </p:nvSpPr>
        <p:spPr>
          <a:xfrm>
            <a:off x="12341352" y="4352544"/>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17" name="TextBox 116"/>
          <p:cNvSpPr txBox="1"/>
          <p:nvPr/>
        </p:nvSpPr>
        <p:spPr>
          <a:xfrm>
            <a:off x="12286488" y="4686300"/>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6</a:t>
            </a:r>
          </a:p>
        </p:txBody>
      </p:sp>
      <p:sp>
        <p:nvSpPr>
          <p:cNvPr id="118" name="TextBox 117"/>
          <p:cNvSpPr txBox="1"/>
          <p:nvPr/>
        </p:nvSpPr>
        <p:spPr>
          <a:xfrm>
            <a:off x="9845040" y="5257800"/>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5.125</a:t>
            </a:r>
          </a:p>
        </p:txBody>
      </p:sp>
      <p:sp>
        <p:nvSpPr>
          <p:cNvPr id="119" name="Rectangle 11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4,834 ÷ 16 (decimal answer)</a:t>
            </a:r>
          </a:p>
        </p:txBody>
      </p:sp>
      <p:cxnSp>
        <p:nvCxnSpPr>
          <p:cNvPr id="121" name="Connector 120"/>
          <p:cNvCxnSpPr/>
          <p:nvPr/>
        </p:nvCxnSpPr>
        <p:spPr>
          <a:xfrm>
            <a:off x="10183368" y="6684264"/>
            <a:ext cx="3447288"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183368" y="6684264"/>
            <a:ext cx="0" cy="35661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808464" y="6707123"/>
            <a:ext cx="329184" cy="320040"/>
          </a:xfrm>
          <a:prstGeom prst="rect">
            <a:avLst/>
          </a:prstGeom>
          <a:noFill/>
        </p:spPr>
        <p:txBody>
          <a:bodyPr wrap="none" lIns="0" rIns="0" tIns="0" bIns="0">
            <a:spAutoFit/>
          </a:bodyPr>
          <a:lstStyle/>
          <a:p>
            <a:pPr algn="r">
              <a:lnSpc>
                <a:spcPts val="2464"/>
              </a:lnSpc>
              <a:spcBef>
                <a:spcPts val="0"/>
              </a:spcBef>
              <a:spcAft>
                <a:spcPts val="0"/>
              </a:spcAft>
              <a:defRPr sz="2200" b="0">
                <a:solidFill>
                  <a:srgbClr val="182B3A"/>
                </a:solidFill>
                <a:latin typeface="Arial"/>
              </a:defRPr>
            </a:pPr>
            <a:r>
              <a:t>16</a:t>
            </a:r>
          </a:p>
        </p:txBody>
      </p:sp>
      <p:sp>
        <p:nvSpPr>
          <p:cNvPr id="124" name="TextBox 123"/>
          <p:cNvSpPr txBox="1"/>
          <p:nvPr/>
        </p:nvSpPr>
        <p:spPr>
          <a:xfrm>
            <a:off x="1023823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25" name="TextBox 124"/>
          <p:cNvSpPr txBox="1"/>
          <p:nvPr/>
        </p:nvSpPr>
        <p:spPr>
          <a:xfrm>
            <a:off x="1065885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8</a:t>
            </a:r>
          </a:p>
        </p:txBody>
      </p:sp>
      <p:sp>
        <p:nvSpPr>
          <p:cNvPr id="126" name="TextBox 125"/>
          <p:cNvSpPr txBox="1"/>
          <p:nvPr/>
        </p:nvSpPr>
        <p:spPr>
          <a:xfrm>
            <a:off x="1065885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7" name="TextBox 126"/>
          <p:cNvSpPr txBox="1"/>
          <p:nvPr/>
        </p:nvSpPr>
        <p:spPr>
          <a:xfrm>
            <a:off x="1060399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28" name="TextBox 127"/>
          <p:cNvSpPr txBox="1"/>
          <p:nvPr/>
        </p:nvSpPr>
        <p:spPr>
          <a:xfrm>
            <a:off x="1107948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3</a:t>
            </a:r>
          </a:p>
        </p:txBody>
      </p:sp>
      <p:sp>
        <p:nvSpPr>
          <p:cNvPr id="129" name="TextBox 128"/>
          <p:cNvSpPr txBox="1"/>
          <p:nvPr/>
        </p:nvSpPr>
        <p:spPr>
          <a:xfrm>
            <a:off x="11500104"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4</a:t>
            </a:r>
          </a:p>
        </p:txBody>
      </p:sp>
      <p:sp>
        <p:nvSpPr>
          <p:cNvPr id="130" name="TextBox 129"/>
          <p:cNvSpPr txBox="1"/>
          <p:nvPr/>
        </p:nvSpPr>
        <p:spPr>
          <a:xfrm>
            <a:off x="11500104"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1" name="TextBox 130"/>
          <p:cNvSpPr txBox="1"/>
          <p:nvPr/>
        </p:nvSpPr>
        <p:spPr>
          <a:xfrm>
            <a:off x="11445240"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3</a:t>
            </a:r>
          </a:p>
        </p:txBody>
      </p:sp>
      <p:sp>
        <p:nvSpPr>
          <p:cNvPr id="132" name="TextBox 131"/>
          <p:cNvSpPr txBox="1"/>
          <p:nvPr/>
        </p:nvSpPr>
        <p:spPr>
          <a:xfrm>
            <a:off x="11920728"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3" name="TextBox 132"/>
          <p:cNvSpPr txBox="1"/>
          <p:nvPr/>
        </p:nvSpPr>
        <p:spPr>
          <a:xfrm>
            <a:off x="11920728"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a:t>
            </a:r>
          </a:p>
        </p:txBody>
      </p:sp>
      <p:sp>
        <p:nvSpPr>
          <p:cNvPr id="134" name="TextBox 133"/>
          <p:cNvSpPr txBox="1"/>
          <p:nvPr/>
        </p:nvSpPr>
        <p:spPr>
          <a:xfrm>
            <a:off x="12341352"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5" name="TextBox 134"/>
          <p:cNvSpPr txBox="1"/>
          <p:nvPr/>
        </p:nvSpPr>
        <p:spPr>
          <a:xfrm>
            <a:off x="12341352"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1</a:t>
            </a:r>
          </a:p>
        </p:txBody>
      </p:sp>
      <p:sp>
        <p:nvSpPr>
          <p:cNvPr id="136" name="TextBox 135"/>
          <p:cNvSpPr txBox="1"/>
          <p:nvPr/>
        </p:nvSpPr>
        <p:spPr>
          <a:xfrm>
            <a:off x="12286488"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2</a:t>
            </a:r>
          </a:p>
        </p:txBody>
      </p:sp>
      <p:sp>
        <p:nvSpPr>
          <p:cNvPr id="137" name="TextBox 136"/>
          <p:cNvSpPr txBox="1"/>
          <p:nvPr/>
        </p:nvSpPr>
        <p:spPr>
          <a:xfrm>
            <a:off x="12761976"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38" name="TextBox 137"/>
          <p:cNvSpPr txBox="1"/>
          <p:nvPr/>
        </p:nvSpPr>
        <p:spPr>
          <a:xfrm>
            <a:off x="12761976"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2</a:t>
            </a:r>
          </a:p>
        </p:txBody>
      </p:sp>
      <p:sp>
        <p:nvSpPr>
          <p:cNvPr id="139" name="TextBox 138"/>
          <p:cNvSpPr txBox="1"/>
          <p:nvPr/>
        </p:nvSpPr>
        <p:spPr>
          <a:xfrm>
            <a:off x="12707112"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4</a:t>
            </a:r>
          </a:p>
        </p:txBody>
      </p:sp>
      <p:sp>
        <p:nvSpPr>
          <p:cNvPr id="140" name="TextBox 139"/>
          <p:cNvSpPr txBox="1"/>
          <p:nvPr/>
        </p:nvSpPr>
        <p:spPr>
          <a:xfrm>
            <a:off x="13182600" y="6716268"/>
            <a:ext cx="420624" cy="329184"/>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0</a:t>
            </a:r>
          </a:p>
        </p:txBody>
      </p:sp>
      <p:sp>
        <p:nvSpPr>
          <p:cNvPr id="141" name="TextBox 140"/>
          <p:cNvSpPr txBox="1"/>
          <p:nvPr/>
        </p:nvSpPr>
        <p:spPr>
          <a:xfrm>
            <a:off x="13182600" y="6355079"/>
            <a:ext cx="420624" cy="310896"/>
          </a:xfrm>
          <a:prstGeom prst="rect">
            <a:avLst/>
          </a:prstGeom>
          <a:noFill/>
        </p:spPr>
        <p:txBody>
          <a:bodyPr wrap="none" lIns="0" rIns="0" tIns="0" bIns="0">
            <a:spAutoFit/>
          </a:bodyPr>
          <a:lstStyle/>
          <a:p>
            <a:pPr algn="ctr">
              <a:lnSpc>
                <a:spcPts val="2688"/>
              </a:lnSpc>
              <a:spcBef>
                <a:spcPts val="0"/>
              </a:spcBef>
              <a:spcAft>
                <a:spcPts val="0"/>
              </a:spcAft>
              <a:defRPr sz="2400" b="0">
                <a:solidFill>
                  <a:srgbClr val="182B3A"/>
                </a:solidFill>
                <a:latin typeface="Arial"/>
              </a:defRPr>
            </a:pPr>
            <a:r>
              <a:t>5</a:t>
            </a:r>
          </a:p>
        </p:txBody>
      </p:sp>
      <p:sp>
        <p:nvSpPr>
          <p:cNvPr id="142" name="TextBox 141"/>
          <p:cNvSpPr txBox="1"/>
          <p:nvPr/>
        </p:nvSpPr>
        <p:spPr>
          <a:xfrm>
            <a:off x="13127736" y="6688836"/>
            <a:ext cx="164592" cy="182880"/>
          </a:xfrm>
          <a:prstGeom prst="rect">
            <a:avLst/>
          </a:prstGeom>
          <a:noFill/>
        </p:spPr>
        <p:txBody>
          <a:bodyPr wrap="none" lIns="0" rIns="0" tIns="0" bIns="0">
            <a:spAutoFit/>
          </a:bodyPr>
          <a:lstStyle/>
          <a:p>
            <a:pPr algn="ctr">
              <a:lnSpc>
                <a:spcPts val="1344"/>
              </a:lnSpc>
              <a:spcBef>
                <a:spcPts val="0"/>
              </a:spcBef>
              <a:spcAft>
                <a:spcPts val="0"/>
              </a:spcAft>
              <a:defRPr sz="1200" b="0">
                <a:solidFill>
                  <a:srgbClr val="182B3A"/>
                </a:solidFill>
                <a:latin typeface="Arial"/>
              </a:defRPr>
            </a:pPr>
            <a:r>
              <a:t>8</a:t>
            </a:r>
          </a:p>
        </p:txBody>
      </p:sp>
      <p:sp>
        <p:nvSpPr>
          <p:cNvPr id="143" name="TextBox 142"/>
          <p:cNvSpPr txBox="1"/>
          <p:nvPr/>
        </p:nvSpPr>
        <p:spPr>
          <a:xfrm>
            <a:off x="9845040" y="7260336"/>
            <a:ext cx="4206240" cy="320040"/>
          </a:xfrm>
          <a:prstGeom prst="rect">
            <a:avLst/>
          </a:prstGeom>
          <a:noFill/>
        </p:spPr>
        <p:txBody>
          <a:bodyPr wrap="none" lIns="0" rIns="0" tIns="0" bIns="0">
            <a:spAutoFit/>
          </a:bodyPr>
          <a:lstStyle/>
          <a:p>
            <a:pPr algn="l">
              <a:lnSpc>
                <a:spcPts val="2464"/>
              </a:lnSpc>
              <a:spcBef>
                <a:spcPts val="0"/>
              </a:spcBef>
              <a:spcAft>
                <a:spcPts val="0"/>
              </a:spcAft>
              <a:defRPr sz="2200" b="0">
                <a:solidFill>
                  <a:srgbClr val="182B3A"/>
                </a:solidFill>
                <a:latin typeface="Arial"/>
              </a:defRPr>
            </a:pPr>
            <a:r>
              <a:t>Answer: 32.125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48 ÷ 4</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69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2</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 ÷ 3</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 ÷ 8</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135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172 ÷ 4</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218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341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502 ÷ 8</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514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785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1,428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3,816 ÷ 24</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4,516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8,143 ÷ 25</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 ÷ 6</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884 ÷ 4</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555 ÷ 5</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639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 ÷ 3</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156 ÷ 4</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235 ÷ 6</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 ÷ 7</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458 ÷ 8</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617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627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943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2,136 ÷ 12</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4,608 ÷ 32</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5,729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9,031 ÷ 40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963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777 ÷ 7</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888 ÷ 8</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606 ÷ 3</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95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184 ÷ 5</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267 ÷ 8</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397 ÷ 6</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523 ÷ 7</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748 ÷ 9</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738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859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3,264 ÷ 24</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5,175 ÷ 15</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6,843 ÷ 25</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7,249 ÷ 20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Bus Stop Division</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the full written method.</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M02-S07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TextBox 8"/>
          <p:cNvSpPr txBox="1"/>
          <p:nvPr/>
        </p:nvSpPr>
        <p:spPr>
          <a:xfrm>
            <a:off x="420623"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176B73"/>
                </a:solidFill>
                <a:latin typeface="Arial"/>
              </a:defRPr>
            </a:pPr>
            <a:r>
              <a:t>No carrying</a:t>
            </a:r>
          </a:p>
        </p:txBody>
      </p:sp>
      <p:sp>
        <p:nvSpPr>
          <p:cNvPr id="10" name="Rectangle 9"/>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2" name="TextBox 11"/>
          <p:cNvSpPr txBox="1"/>
          <p:nvPr/>
        </p:nvSpPr>
        <p:spPr>
          <a:xfrm>
            <a:off x="5041392"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3559A2"/>
                </a:solidFill>
                <a:latin typeface="Arial"/>
              </a:defRPr>
            </a:pPr>
            <a:r>
              <a:t>Carrying; give remainders</a:t>
            </a:r>
          </a:p>
        </p:txBody>
      </p:sp>
      <p:sp>
        <p:nvSpPr>
          <p:cNvPr id="13" name="Rectangle 12"/>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5" name="TextBox 14"/>
          <p:cNvSpPr txBox="1"/>
          <p:nvPr/>
        </p:nvSpPr>
        <p:spPr>
          <a:xfrm>
            <a:off x="9662160" y="1618488"/>
            <a:ext cx="4547616" cy="329184"/>
          </a:xfrm>
          <a:prstGeom prst="rect">
            <a:avLst/>
          </a:prstGeom>
          <a:noFill/>
        </p:spPr>
        <p:txBody>
          <a:bodyPr wrap="square" tIns="36576" bIns="36576" anchor="t">
            <a:spAutoFit/>
          </a:bodyPr>
          <a:lstStyle/>
          <a:p>
            <a:pPr>
              <a:lnSpc>
                <a:spcPts val="1512"/>
              </a:lnSpc>
              <a:spcBef>
                <a:spcPts val="0"/>
              </a:spcBef>
              <a:spcAft>
                <a:spcPts val="0"/>
              </a:spcAft>
              <a:defRPr sz="1400" b="1">
                <a:solidFill>
                  <a:srgbClr val="754B87"/>
                </a:solidFill>
                <a:latin typeface="Arial"/>
              </a:defRPr>
            </a:pPr>
            <a:r>
              <a:t>Includes 2-digit divisors; give decimals</a:t>
            </a:r>
          </a:p>
        </p:txBody>
      </p:sp>
      <p:sp>
        <p:nvSpPr>
          <p:cNvPr id="16" name="Rectangle 15"/>
          <p:cNvSpPr/>
          <p:nvPr/>
        </p:nvSpPr>
        <p:spPr>
          <a:xfrm>
            <a:off x="384048"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93776"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1.</a:t>
            </a:r>
          </a:p>
        </p:txBody>
      </p:sp>
      <p:sp>
        <p:nvSpPr>
          <p:cNvPr id="18" name="TextBox 17"/>
          <p:cNvSpPr txBox="1"/>
          <p:nvPr/>
        </p:nvSpPr>
        <p:spPr>
          <a:xfrm>
            <a:off x="987552"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 ÷ 2</a:t>
            </a:r>
          </a:p>
        </p:txBody>
      </p:sp>
      <p:sp>
        <p:nvSpPr>
          <p:cNvPr id="19" name="Rectangle 18"/>
          <p:cNvSpPr/>
          <p:nvPr/>
        </p:nvSpPr>
        <p:spPr>
          <a:xfrm>
            <a:off x="384048" y="2948939"/>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93776"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2.</a:t>
            </a:r>
          </a:p>
        </p:txBody>
      </p:sp>
      <p:sp>
        <p:nvSpPr>
          <p:cNvPr id="21" name="TextBox 20"/>
          <p:cNvSpPr txBox="1"/>
          <p:nvPr/>
        </p:nvSpPr>
        <p:spPr>
          <a:xfrm>
            <a:off x="987552"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936 ÷ 3</a:t>
            </a:r>
          </a:p>
        </p:txBody>
      </p:sp>
      <p:sp>
        <p:nvSpPr>
          <p:cNvPr id="22" name="Rectangle 21"/>
          <p:cNvSpPr/>
          <p:nvPr/>
        </p:nvSpPr>
        <p:spPr>
          <a:xfrm>
            <a:off x="384048"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93776"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3.</a:t>
            </a:r>
          </a:p>
        </p:txBody>
      </p:sp>
      <p:sp>
        <p:nvSpPr>
          <p:cNvPr id="24" name="TextBox 23"/>
          <p:cNvSpPr txBox="1"/>
          <p:nvPr/>
        </p:nvSpPr>
        <p:spPr>
          <a:xfrm>
            <a:off x="987552"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448 ÷ 4</a:t>
            </a:r>
          </a:p>
        </p:txBody>
      </p:sp>
      <p:sp>
        <p:nvSpPr>
          <p:cNvPr id="25" name="Rectangle 24"/>
          <p:cNvSpPr/>
          <p:nvPr/>
        </p:nvSpPr>
        <p:spPr>
          <a:xfrm>
            <a:off x="384048" y="4805172"/>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93776"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4.</a:t>
            </a:r>
          </a:p>
        </p:txBody>
      </p:sp>
      <p:sp>
        <p:nvSpPr>
          <p:cNvPr id="27" name="TextBox 26"/>
          <p:cNvSpPr txBox="1"/>
          <p:nvPr/>
        </p:nvSpPr>
        <p:spPr>
          <a:xfrm>
            <a:off x="987552"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505 ÷ 5</a:t>
            </a:r>
          </a:p>
        </p:txBody>
      </p:sp>
      <p:sp>
        <p:nvSpPr>
          <p:cNvPr id="28" name="Rectangle 27"/>
          <p:cNvSpPr/>
          <p:nvPr/>
        </p:nvSpPr>
        <p:spPr>
          <a:xfrm>
            <a:off x="384048"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93776"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5.</a:t>
            </a:r>
          </a:p>
        </p:txBody>
      </p:sp>
      <p:sp>
        <p:nvSpPr>
          <p:cNvPr id="30" name="TextBox 29"/>
          <p:cNvSpPr txBox="1"/>
          <p:nvPr/>
        </p:nvSpPr>
        <p:spPr>
          <a:xfrm>
            <a:off x="987552"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666 ÷ 6</a:t>
            </a:r>
          </a:p>
        </p:txBody>
      </p:sp>
      <p:sp>
        <p:nvSpPr>
          <p:cNvPr id="31" name="Rectangle 30"/>
          <p:cNvSpPr/>
          <p:nvPr/>
        </p:nvSpPr>
        <p:spPr>
          <a:xfrm>
            <a:off x="384048" y="6661403"/>
            <a:ext cx="4620768" cy="909828"/>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493776"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176B73"/>
                </a:solidFill>
                <a:latin typeface="Arial"/>
              </a:defRPr>
            </a:pPr>
            <a:r>
              <a:t>6.</a:t>
            </a:r>
          </a:p>
        </p:txBody>
      </p:sp>
      <p:sp>
        <p:nvSpPr>
          <p:cNvPr id="33" name="TextBox 32"/>
          <p:cNvSpPr txBox="1"/>
          <p:nvPr/>
        </p:nvSpPr>
        <p:spPr>
          <a:xfrm>
            <a:off x="987552"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999 ÷ 9</a:t>
            </a:r>
          </a:p>
        </p:txBody>
      </p:sp>
      <p:sp>
        <p:nvSpPr>
          <p:cNvPr id="34" name="Rectangle 33"/>
          <p:cNvSpPr/>
          <p:nvPr/>
        </p:nvSpPr>
        <p:spPr>
          <a:xfrm>
            <a:off x="5004816"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114544"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1.</a:t>
            </a:r>
          </a:p>
        </p:txBody>
      </p:sp>
      <p:sp>
        <p:nvSpPr>
          <p:cNvPr id="36" name="TextBox 35"/>
          <p:cNvSpPr txBox="1"/>
          <p:nvPr/>
        </p:nvSpPr>
        <p:spPr>
          <a:xfrm>
            <a:off x="5608320"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108 ÷ 4</a:t>
            </a:r>
          </a:p>
        </p:txBody>
      </p:sp>
      <p:sp>
        <p:nvSpPr>
          <p:cNvPr id="37" name="Rectangle 36"/>
          <p:cNvSpPr/>
          <p:nvPr/>
        </p:nvSpPr>
        <p:spPr>
          <a:xfrm>
            <a:off x="5004816" y="2948939"/>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114544"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2.</a:t>
            </a:r>
          </a:p>
        </p:txBody>
      </p:sp>
      <p:sp>
        <p:nvSpPr>
          <p:cNvPr id="39" name="TextBox 38"/>
          <p:cNvSpPr txBox="1"/>
          <p:nvPr/>
        </p:nvSpPr>
        <p:spPr>
          <a:xfrm>
            <a:off x="5608320"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245 ÷ 6</a:t>
            </a:r>
          </a:p>
        </p:txBody>
      </p:sp>
      <p:sp>
        <p:nvSpPr>
          <p:cNvPr id="40" name="Rectangle 39"/>
          <p:cNvSpPr/>
          <p:nvPr/>
        </p:nvSpPr>
        <p:spPr>
          <a:xfrm>
            <a:off x="5004816"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114544"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3.</a:t>
            </a:r>
          </a:p>
        </p:txBody>
      </p:sp>
      <p:sp>
        <p:nvSpPr>
          <p:cNvPr id="42" name="TextBox 41"/>
          <p:cNvSpPr txBox="1"/>
          <p:nvPr/>
        </p:nvSpPr>
        <p:spPr>
          <a:xfrm>
            <a:off x="5608320"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314 ÷ 7</a:t>
            </a:r>
          </a:p>
        </p:txBody>
      </p:sp>
      <p:sp>
        <p:nvSpPr>
          <p:cNvPr id="43" name="Rectangle 42"/>
          <p:cNvSpPr/>
          <p:nvPr/>
        </p:nvSpPr>
        <p:spPr>
          <a:xfrm>
            <a:off x="5004816" y="4805172"/>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114544"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4.</a:t>
            </a:r>
          </a:p>
        </p:txBody>
      </p:sp>
      <p:sp>
        <p:nvSpPr>
          <p:cNvPr id="45" name="TextBox 44"/>
          <p:cNvSpPr txBox="1"/>
          <p:nvPr/>
        </p:nvSpPr>
        <p:spPr>
          <a:xfrm>
            <a:off x="5608320"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467 ÷ 8</a:t>
            </a:r>
          </a:p>
        </p:txBody>
      </p:sp>
      <p:sp>
        <p:nvSpPr>
          <p:cNvPr id="46" name="Rectangle 45"/>
          <p:cNvSpPr/>
          <p:nvPr/>
        </p:nvSpPr>
        <p:spPr>
          <a:xfrm>
            <a:off x="5004816"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114544"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5.</a:t>
            </a:r>
          </a:p>
        </p:txBody>
      </p:sp>
      <p:sp>
        <p:nvSpPr>
          <p:cNvPr id="48" name="TextBox 47"/>
          <p:cNvSpPr txBox="1"/>
          <p:nvPr/>
        </p:nvSpPr>
        <p:spPr>
          <a:xfrm>
            <a:off x="5608320"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586 ÷ 9</a:t>
            </a:r>
          </a:p>
        </p:txBody>
      </p:sp>
      <p:sp>
        <p:nvSpPr>
          <p:cNvPr id="49" name="Rectangle 48"/>
          <p:cNvSpPr/>
          <p:nvPr/>
        </p:nvSpPr>
        <p:spPr>
          <a:xfrm>
            <a:off x="5004816" y="6661403"/>
            <a:ext cx="4620768" cy="909828"/>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5114544"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3559A2"/>
                </a:solidFill>
                <a:latin typeface="Arial"/>
              </a:defRPr>
            </a:pPr>
            <a:r>
              <a:t>6.</a:t>
            </a:r>
          </a:p>
        </p:txBody>
      </p:sp>
      <p:sp>
        <p:nvSpPr>
          <p:cNvPr id="51" name="TextBox 50"/>
          <p:cNvSpPr txBox="1"/>
          <p:nvPr/>
        </p:nvSpPr>
        <p:spPr>
          <a:xfrm>
            <a:off x="5608320"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703 ÷ 5</a:t>
            </a:r>
          </a:p>
        </p:txBody>
      </p:sp>
      <p:sp>
        <p:nvSpPr>
          <p:cNvPr id="52" name="Rectangle 51"/>
          <p:cNvSpPr/>
          <p:nvPr/>
        </p:nvSpPr>
        <p:spPr>
          <a:xfrm>
            <a:off x="9625584" y="2020824"/>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735312" y="223113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1.</a:t>
            </a:r>
          </a:p>
        </p:txBody>
      </p:sp>
      <p:sp>
        <p:nvSpPr>
          <p:cNvPr id="54" name="TextBox 53"/>
          <p:cNvSpPr txBox="1"/>
          <p:nvPr/>
        </p:nvSpPr>
        <p:spPr>
          <a:xfrm>
            <a:off x="10229088" y="2203704"/>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849 ÷ 4</a:t>
            </a:r>
          </a:p>
        </p:txBody>
      </p:sp>
      <p:sp>
        <p:nvSpPr>
          <p:cNvPr id="55" name="Rectangle 54"/>
          <p:cNvSpPr/>
          <p:nvPr/>
        </p:nvSpPr>
        <p:spPr>
          <a:xfrm>
            <a:off x="9625584" y="2948939"/>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735312" y="3159251"/>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2.</a:t>
            </a:r>
          </a:p>
        </p:txBody>
      </p:sp>
      <p:sp>
        <p:nvSpPr>
          <p:cNvPr id="57" name="TextBox 56"/>
          <p:cNvSpPr txBox="1"/>
          <p:nvPr/>
        </p:nvSpPr>
        <p:spPr>
          <a:xfrm>
            <a:off x="10229088" y="3131820"/>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967 ÷ 2</a:t>
            </a:r>
          </a:p>
        </p:txBody>
      </p:sp>
      <p:sp>
        <p:nvSpPr>
          <p:cNvPr id="58" name="Rectangle 57"/>
          <p:cNvSpPr/>
          <p:nvPr/>
        </p:nvSpPr>
        <p:spPr>
          <a:xfrm>
            <a:off x="9625584" y="3877056"/>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735312" y="4087368"/>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3.</a:t>
            </a:r>
          </a:p>
        </p:txBody>
      </p:sp>
      <p:sp>
        <p:nvSpPr>
          <p:cNvPr id="60" name="TextBox 59"/>
          <p:cNvSpPr txBox="1"/>
          <p:nvPr/>
        </p:nvSpPr>
        <p:spPr>
          <a:xfrm>
            <a:off x="10229088" y="4059936"/>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4,374 ÷ 18</a:t>
            </a:r>
          </a:p>
        </p:txBody>
      </p:sp>
      <p:sp>
        <p:nvSpPr>
          <p:cNvPr id="61" name="Rectangle 60"/>
          <p:cNvSpPr/>
          <p:nvPr/>
        </p:nvSpPr>
        <p:spPr>
          <a:xfrm>
            <a:off x="9625584" y="4805172"/>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735312" y="5015484"/>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4.</a:t>
            </a:r>
          </a:p>
        </p:txBody>
      </p:sp>
      <p:sp>
        <p:nvSpPr>
          <p:cNvPr id="63" name="TextBox 62"/>
          <p:cNvSpPr txBox="1"/>
          <p:nvPr/>
        </p:nvSpPr>
        <p:spPr>
          <a:xfrm>
            <a:off x="10229088" y="4988052"/>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6,288 ÷ 48</a:t>
            </a:r>
          </a:p>
        </p:txBody>
      </p:sp>
      <p:sp>
        <p:nvSpPr>
          <p:cNvPr id="64" name="Rectangle 63"/>
          <p:cNvSpPr/>
          <p:nvPr/>
        </p:nvSpPr>
        <p:spPr>
          <a:xfrm>
            <a:off x="9625584" y="5733288"/>
            <a:ext cx="4620768" cy="9098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735312" y="5943600"/>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5.</a:t>
            </a:r>
          </a:p>
        </p:txBody>
      </p:sp>
      <p:sp>
        <p:nvSpPr>
          <p:cNvPr id="66" name="TextBox 65"/>
          <p:cNvSpPr txBox="1"/>
          <p:nvPr/>
        </p:nvSpPr>
        <p:spPr>
          <a:xfrm>
            <a:off x="10229088" y="5916168"/>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7,957 ÷ 16</a:t>
            </a:r>
          </a:p>
        </p:txBody>
      </p:sp>
      <p:sp>
        <p:nvSpPr>
          <p:cNvPr id="67" name="Rectangle 66"/>
          <p:cNvSpPr/>
          <p:nvPr/>
        </p:nvSpPr>
        <p:spPr>
          <a:xfrm>
            <a:off x="9625584" y="6661403"/>
            <a:ext cx="4620768" cy="909828"/>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8" name="TextBox 67"/>
          <p:cNvSpPr txBox="1"/>
          <p:nvPr/>
        </p:nvSpPr>
        <p:spPr>
          <a:xfrm>
            <a:off x="9735312" y="6871716"/>
            <a:ext cx="457200" cy="384048"/>
          </a:xfrm>
          <a:prstGeom prst="rect">
            <a:avLst/>
          </a:prstGeom>
          <a:noFill/>
        </p:spPr>
        <p:txBody>
          <a:bodyPr wrap="square" tIns="36576" bIns="36576" anchor="t">
            <a:spAutoFit/>
          </a:bodyPr>
          <a:lstStyle/>
          <a:p>
            <a:pPr>
              <a:lnSpc>
                <a:spcPts val="2052"/>
              </a:lnSpc>
              <a:spcBef>
                <a:spcPts val="0"/>
              </a:spcBef>
              <a:spcAft>
                <a:spcPts val="0"/>
              </a:spcAft>
              <a:defRPr sz="1900" b="1">
                <a:solidFill>
                  <a:srgbClr val="754B87"/>
                </a:solidFill>
                <a:latin typeface="Arial"/>
              </a:defRPr>
            </a:pPr>
            <a:r>
              <a:t>6.</a:t>
            </a:r>
          </a:p>
        </p:txBody>
      </p:sp>
      <p:sp>
        <p:nvSpPr>
          <p:cNvPr id="69" name="TextBox 68"/>
          <p:cNvSpPr txBox="1"/>
          <p:nvPr/>
        </p:nvSpPr>
        <p:spPr>
          <a:xfrm>
            <a:off x="10229088" y="6844283"/>
            <a:ext cx="3843528" cy="502920"/>
          </a:xfrm>
          <a:prstGeom prst="rect">
            <a:avLst/>
          </a:prstGeom>
          <a:noFill/>
        </p:spPr>
        <p:txBody>
          <a:bodyPr wrap="square" tIns="36576" bIns="36576" anchor="t">
            <a:spAutoFit/>
          </a:bodyPr>
          <a:lstStyle/>
          <a:p>
            <a:pPr>
              <a:lnSpc>
                <a:spcPts val="3240"/>
              </a:lnSpc>
              <a:spcBef>
                <a:spcPts val="0"/>
              </a:spcBef>
              <a:spcAft>
                <a:spcPts val="0"/>
              </a:spcAft>
              <a:defRPr sz="3000" b="1">
                <a:solidFill>
                  <a:srgbClr val="182B3A"/>
                </a:solidFill>
                <a:latin typeface="Arial"/>
              </a:defRPr>
            </a:pPr>
            <a:r>
              <a:t>8,623 ÷ 50</a:t>
            </a:r>
          </a:p>
        </p:txBody>
      </p:sp>
      <p:sp>
        <p:nvSpPr>
          <p:cNvPr id="70" name="Progression curved arrow: Thread 1 to Thread 2"/>
          <p:cNvSpPr/>
          <p:nvPr/>
        </p:nvSpPr>
        <p:spPr>
          <a:xfrm>
            <a:off x="4671059" y="7506573"/>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rogression curved arrow: Thread 2 to Thread 3"/>
          <p:cNvSpPr/>
          <p:nvPr/>
        </p:nvSpPr>
        <p:spPr>
          <a:xfrm>
            <a:off x="9243991" y="7498079"/>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Work out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M13-IA</a:t>
            </a:r>
          </a:p>
        </p:txBody>
      </p:sp>
      <p:sp>
        <p:nvSpPr>
          <p:cNvPr id="7" name="Rectangle 6"/>
          <p:cNvSpPr/>
          <p:nvPr/>
        </p:nvSpPr>
        <p:spPr>
          <a:xfrm>
            <a:off x="45720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1.  −2 + 9</a:t>
            </a:r>
          </a:p>
        </p:txBody>
      </p:sp>
      <p:sp>
        <p:nvSpPr>
          <p:cNvPr id="9" name="Rectangle 8"/>
          <p:cNvSpPr/>
          <p:nvPr/>
        </p:nvSpPr>
        <p:spPr>
          <a:xfrm>
            <a:off x="7452360" y="169164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16952" y="187452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2.  6 − 11</a:t>
            </a:r>
          </a:p>
        </p:txBody>
      </p:sp>
      <p:sp>
        <p:nvSpPr>
          <p:cNvPr id="11" name="Rectangle 10"/>
          <p:cNvSpPr/>
          <p:nvPr/>
        </p:nvSpPr>
        <p:spPr>
          <a:xfrm>
            <a:off x="45720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3.  −7 − (−10)</a:t>
            </a:r>
          </a:p>
        </p:txBody>
      </p:sp>
      <p:sp>
        <p:nvSpPr>
          <p:cNvPr id="13" name="Rectangle 12"/>
          <p:cNvSpPr/>
          <p:nvPr/>
        </p:nvSpPr>
        <p:spPr>
          <a:xfrm>
            <a:off x="7452360" y="4480560"/>
            <a:ext cx="6720840" cy="25146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16952" y="4663440"/>
            <a:ext cx="6309360" cy="594360"/>
          </a:xfrm>
          <a:prstGeom prst="rect">
            <a:avLst/>
          </a:prstGeom>
          <a:noFill/>
        </p:spPr>
        <p:txBody>
          <a:bodyPr wrap="square" lIns="54864" rIns="54864" tIns="22860" bIns="22860">
            <a:spAutoFit/>
          </a:bodyPr>
          <a:lstStyle/>
          <a:p>
            <a:pPr>
              <a:lnSpc>
                <a:spcPts val="3150"/>
              </a:lnSpc>
              <a:spcBef>
                <a:spcPts val="0"/>
              </a:spcBef>
              <a:spcAft>
                <a:spcPts val="0"/>
              </a:spcAft>
              <a:defRPr sz="3000" b="1">
                <a:solidFill>
                  <a:srgbClr val="182B3A"/>
                </a:solidFill>
                <a:latin typeface="Arial"/>
              </a:defRPr>
            </a:pPr>
            <a:r>
              <a:t>4.  5 + (−9) −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Rules recap • Start at the first number.</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M13-RULES</a:t>
            </a:r>
          </a:p>
        </p:txBody>
      </p:sp>
      <p:sp>
        <p:nvSpPr>
          <p:cNvPr id="7" name="Rectangle 6"/>
          <p:cNvSpPr/>
          <p:nvPr/>
        </p:nvSpPr>
        <p:spPr>
          <a:xfrm>
            <a:off x="365760" y="128016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Add a positive number</a:t>
            </a:r>
          </a:p>
        </p:txBody>
      </p:sp>
      <p:sp>
        <p:nvSpPr>
          <p:cNvPr id="9" name="TextBox 8"/>
          <p:cNvSpPr txBox="1"/>
          <p:nvPr/>
        </p:nvSpPr>
        <p:spPr>
          <a:xfrm>
            <a:off x="5029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the value increases.</a:t>
            </a:r>
          </a:p>
        </p:txBody>
      </p:sp>
      <p:sp>
        <p:nvSpPr>
          <p:cNvPr id="10" name="TextBox 9"/>
          <p:cNvSpPr txBox="1"/>
          <p:nvPr/>
        </p:nvSpPr>
        <p:spPr>
          <a:xfrm>
            <a:off x="5029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3</a:t>
            </a:r>
          </a:p>
        </p:txBody>
      </p:sp>
      <p:sp>
        <p:nvSpPr>
          <p:cNvPr id="11" name="Rectangle 10"/>
          <p:cNvSpPr/>
          <p:nvPr/>
        </p:nvSpPr>
        <p:spPr>
          <a:xfrm>
            <a:off x="7452360" y="128016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0" y="138988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Add a negative number</a:t>
            </a:r>
          </a:p>
        </p:txBody>
      </p:sp>
      <p:sp>
        <p:nvSpPr>
          <p:cNvPr id="13" name="TextBox 12"/>
          <p:cNvSpPr txBox="1"/>
          <p:nvPr/>
        </p:nvSpPr>
        <p:spPr>
          <a:xfrm>
            <a:off x="7589520" y="188366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4" name="TextBox 13"/>
          <p:cNvSpPr txBox="1"/>
          <p:nvPr/>
        </p:nvSpPr>
        <p:spPr>
          <a:xfrm>
            <a:off x="7589520" y="2450591"/>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 + (−7) = 4 − 7 = −3</a:t>
            </a:r>
          </a:p>
        </p:txBody>
      </p:sp>
      <p:sp>
        <p:nvSpPr>
          <p:cNvPr id="15" name="Rectangle 14"/>
          <p:cNvSpPr/>
          <p:nvPr/>
        </p:nvSpPr>
        <p:spPr>
          <a:xfrm>
            <a:off x="365760" y="3200400"/>
            <a:ext cx="6812280" cy="178308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76B73"/>
                </a:solidFill>
                <a:latin typeface="Arial"/>
              </a:defRPr>
            </a:pPr>
            <a:r>
              <a:t>Subtract a positive number</a:t>
            </a:r>
          </a:p>
        </p:txBody>
      </p:sp>
      <p:sp>
        <p:nvSpPr>
          <p:cNvPr id="17" name="TextBox 16"/>
          <p:cNvSpPr txBox="1"/>
          <p:nvPr/>
        </p:nvSpPr>
        <p:spPr>
          <a:xfrm>
            <a:off x="5029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left: the value decreases.</a:t>
            </a:r>
          </a:p>
        </p:txBody>
      </p:sp>
      <p:sp>
        <p:nvSpPr>
          <p:cNvPr id="18" name="TextBox 17"/>
          <p:cNvSpPr txBox="1"/>
          <p:nvPr/>
        </p:nvSpPr>
        <p:spPr>
          <a:xfrm>
            <a:off x="5029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3 − 8 = −5</a:t>
            </a:r>
          </a:p>
        </p:txBody>
      </p:sp>
      <p:sp>
        <p:nvSpPr>
          <p:cNvPr id="19" name="Rectangle 18"/>
          <p:cNvSpPr/>
          <p:nvPr/>
        </p:nvSpPr>
        <p:spPr>
          <a:xfrm>
            <a:off x="7452360" y="3200400"/>
            <a:ext cx="6812280" cy="178308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3310128"/>
            <a:ext cx="6510528" cy="393192"/>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3559A2"/>
                </a:solidFill>
                <a:latin typeface="Arial"/>
              </a:defRPr>
            </a:pPr>
            <a:r>
              <a:t>Subtract a negative number</a:t>
            </a:r>
          </a:p>
        </p:txBody>
      </p:sp>
      <p:sp>
        <p:nvSpPr>
          <p:cNvPr id="21" name="TextBox 20"/>
          <p:cNvSpPr txBox="1"/>
          <p:nvPr/>
        </p:nvSpPr>
        <p:spPr>
          <a:xfrm>
            <a:off x="7589520" y="3803904"/>
            <a:ext cx="6510528" cy="502920"/>
          </a:xfrm>
          <a:prstGeom prst="rect">
            <a:avLst/>
          </a:prstGeom>
          <a:noFill/>
        </p:spPr>
        <p:txBody>
          <a:bodyPr wrap="square" lIns="54864" rIns="54864" tIns="22860" bIns="22860">
            <a:spAutoFit/>
          </a:bodyPr>
          <a:lstStyle/>
          <a:p>
            <a:pPr>
              <a:lnSpc>
                <a:spcPts val="2100"/>
              </a:lnSpc>
              <a:spcBef>
                <a:spcPts val="0"/>
              </a:spcBef>
              <a:spcAft>
                <a:spcPts val="0"/>
              </a:spcAft>
              <a:defRPr sz="2000" b="0">
                <a:solidFill>
                  <a:srgbClr val="182B3A"/>
                </a:solidFill>
                <a:latin typeface="Arial"/>
              </a:defRPr>
            </a:pPr>
            <a:r>
              <a:t>Move right: subtracting a negative is adding a positive.</a:t>
            </a:r>
          </a:p>
        </p:txBody>
      </p:sp>
      <p:sp>
        <p:nvSpPr>
          <p:cNvPr id="22" name="TextBox 21"/>
          <p:cNvSpPr txBox="1"/>
          <p:nvPr/>
        </p:nvSpPr>
        <p:spPr>
          <a:xfrm>
            <a:off x="7589520" y="4370832"/>
            <a:ext cx="6510528" cy="438912"/>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6 − (−3) = 6 + 3 = 9</a:t>
            </a:r>
          </a:p>
        </p:txBody>
      </p:sp>
      <p:sp>
        <p:nvSpPr>
          <p:cNvPr id="23" name="TextBox 22"/>
          <p:cNvSpPr txBox="1"/>
          <p:nvPr/>
        </p:nvSpPr>
        <p:spPr>
          <a:xfrm>
            <a:off x="457200" y="5276088"/>
            <a:ext cx="13716000" cy="640080"/>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In 6 − (−3), the first − means subtract;</a:t>
            </a:r>
          </a:p>
          <a:p>
            <a:pPr>
              <a:lnSpc>
                <a:spcPts val="2310"/>
              </a:lnSpc>
              <a:spcBef>
                <a:spcPts val="0"/>
              </a:spcBef>
              <a:spcAft>
                <a:spcPts val="0"/>
              </a:spcAft>
              <a:defRPr sz="2200" b="0">
                <a:solidFill>
                  <a:srgbClr val="182B3A"/>
                </a:solidFill>
                <a:latin typeface="Arial"/>
              </a:defRPr>
            </a:pPr>
            <a:r>
              <a:t>the − inside brackets belongs to the number −3.</a:t>
            </a:r>
          </a:p>
        </p:txBody>
      </p:sp>
      <p:sp>
        <p:nvSpPr>
          <p:cNvPr id="24" name="Rectangle 23"/>
          <p:cNvSpPr/>
          <p:nvPr/>
        </p:nvSpPr>
        <p:spPr>
          <a:xfrm>
            <a:off x="365760" y="6080760"/>
            <a:ext cx="13898880" cy="7040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6199632"/>
            <a:ext cx="13624560" cy="448056"/>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To subtract a number, add its opposite. Keep the first number unchanged.</a:t>
            </a:r>
          </a:p>
        </p:txBody>
      </p:sp>
      <p:sp>
        <p:nvSpPr>
          <p:cNvPr id="26" name="TextBox 25"/>
          <p:cNvSpPr txBox="1"/>
          <p:nvPr/>
        </p:nvSpPr>
        <p:spPr>
          <a:xfrm>
            <a:off x="457200" y="7022592"/>
            <a:ext cx="13716000" cy="694944"/>
          </a:xfrm>
          <a:prstGeom prst="rect">
            <a:avLst/>
          </a:prstGeom>
          <a:noFill/>
        </p:spPr>
        <p:txBody>
          <a:bodyPr wrap="square" lIns="54864" rIns="54864" tIns="22860" bIns="22860">
            <a:spAutoFit/>
          </a:bodyPr>
          <a:lstStyle/>
          <a:p>
            <a:pPr>
              <a:lnSpc>
                <a:spcPts val="2310"/>
              </a:lnSpc>
              <a:spcBef>
                <a:spcPts val="0"/>
              </a:spcBef>
              <a:spcAft>
                <a:spcPts val="0"/>
              </a:spcAft>
              <a:defRPr sz="2200" b="0">
                <a:solidFill>
                  <a:srgbClr val="182B3A"/>
                </a:solidFill>
                <a:latin typeface="Arial"/>
              </a:defRPr>
            </a:pPr>
            <a:r>
              <a:t>Two negative numbers do not automatically give a positive answer:</a:t>
            </a:r>
          </a:p>
          <a:p>
            <a:pPr>
              <a:lnSpc>
                <a:spcPts val="2310"/>
              </a:lnSpc>
              <a:spcBef>
                <a:spcPts val="0"/>
              </a:spcBef>
              <a:spcAft>
                <a:spcPts val="0"/>
              </a:spcAft>
              <a:defRPr sz="2200" b="0">
                <a:solidFill>
                  <a:srgbClr val="182B3A"/>
                </a:solidFill>
                <a:latin typeface="Arial"/>
              </a:defRPr>
            </a:pPr>
            <a:r>
              <a:t>−4 + (−3) = −7.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each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M13-S01</a:t>
            </a:r>
          </a:p>
        </p:txBody>
      </p:sp>
      <p:sp>
        <p:nvSpPr>
          <p:cNvPr id="7" name="TextBox 6"/>
          <p:cNvSpPr txBox="1"/>
          <p:nvPr/>
        </p:nvSpPr>
        <p:spPr>
          <a:xfrm>
            <a:off x="365760" y="1069848"/>
            <a:ext cx="13807440" cy="548640"/>
          </a:xfrm>
          <a:prstGeom prst="rect">
            <a:avLst/>
          </a:prstGeom>
          <a:noFill/>
        </p:spPr>
        <p:txBody>
          <a:bodyPr wrap="square" lIns="54864" rIns="54864" tIns="22860" bIns="22860">
            <a:spAutoFit/>
          </a:bodyPr>
          <a:lstStyle/>
          <a:p>
            <a:pPr>
              <a:lnSpc>
                <a:spcPts val="1680"/>
              </a:lnSpc>
              <a:spcBef>
                <a:spcPts val="0"/>
              </a:spcBef>
              <a:spcAft>
                <a:spcPts val="0"/>
              </a:spcAft>
              <a:defRPr sz="1600" b="1">
                <a:solidFill>
                  <a:srgbClr val="182B3A"/>
                </a:solidFill>
                <a:latin typeface="Arial"/>
              </a:defRPr>
            </a:pPr>
            <a:r>
              <a:t>Adding a negative moves left: 4 + (−7) = 4 − 7 = −3.</a:t>
            </a:r>
          </a:p>
          <a:p>
            <a:pPr>
              <a:lnSpc>
                <a:spcPts val="1680"/>
              </a:lnSpc>
              <a:spcBef>
                <a:spcPts val="0"/>
              </a:spcBef>
              <a:spcAft>
                <a:spcPts val="0"/>
              </a:spcAft>
              <a:defRPr sz="1600" b="1">
                <a:solidFill>
                  <a:srgbClr val="182B3A"/>
                </a:solidFill>
                <a:latin typeface="Arial"/>
              </a:defRPr>
            </a:pPr>
            <a:r>
              <a:t>Subtracting a negative moves right: 6 − (−3) = 6 + 3 = 9.</a:t>
            </a:r>
          </a:p>
        </p:txBody>
      </p:sp>
      <p:sp>
        <p:nvSpPr>
          <p:cNvPr id="8" name="Rectangle 7"/>
          <p:cNvSpPr/>
          <p:nvPr/>
        </p:nvSpPr>
        <p:spPr>
          <a:xfrm>
            <a:off x="2121408" y="170992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48839"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10" name="Rectangle 9"/>
          <p:cNvSpPr/>
          <p:nvPr/>
        </p:nvSpPr>
        <p:spPr>
          <a:xfrm>
            <a:off x="6184392" y="170992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1824"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2" name="Rectangle 11"/>
          <p:cNvSpPr/>
          <p:nvPr/>
        </p:nvSpPr>
        <p:spPr>
          <a:xfrm>
            <a:off x="10247376" y="170992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74808" y="174193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4" name="Rectangle 13"/>
          <p:cNvSpPr/>
          <p:nvPr/>
        </p:nvSpPr>
        <p:spPr>
          <a:xfrm>
            <a:off x="320040" y="2157984"/>
            <a:ext cx="1801367" cy="6858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 y="2249424"/>
            <a:ext cx="1691639" cy="53035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6" name="Rectangle 15"/>
          <p:cNvSpPr/>
          <p:nvPr/>
        </p:nvSpPr>
        <p:spPr>
          <a:xfrm>
            <a:off x="2121408" y="2157984"/>
            <a:ext cx="4062984" cy="68580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94560"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8" name="Rectangle 17"/>
          <p:cNvSpPr/>
          <p:nvPr/>
        </p:nvSpPr>
        <p:spPr>
          <a:xfrm>
            <a:off x="6184392" y="2157984"/>
            <a:ext cx="4062984" cy="68580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7544"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(−3)</a:t>
            </a:r>
          </a:p>
        </p:txBody>
      </p:sp>
      <p:sp>
        <p:nvSpPr>
          <p:cNvPr id="20" name="Rectangle 19"/>
          <p:cNvSpPr/>
          <p:nvPr/>
        </p:nvSpPr>
        <p:spPr>
          <a:xfrm>
            <a:off x="10247376" y="2157984"/>
            <a:ext cx="4062984" cy="68580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20528" y="2240279"/>
            <a:ext cx="3916680" cy="53949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+ 8 − (−2)</a:t>
            </a:r>
          </a:p>
        </p:txBody>
      </p:sp>
      <p:sp>
        <p:nvSpPr>
          <p:cNvPr id="22" name="Rectangle 21"/>
          <p:cNvSpPr/>
          <p:nvPr/>
        </p:nvSpPr>
        <p:spPr>
          <a:xfrm>
            <a:off x="320040" y="284378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4904" y="2935224"/>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4" name="Rectangle 23"/>
          <p:cNvSpPr/>
          <p:nvPr/>
        </p:nvSpPr>
        <p:spPr>
          <a:xfrm>
            <a:off x="2121408"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−4; add positive 7.</a:t>
            </a:r>
          </a:p>
        </p:txBody>
      </p:sp>
      <p:sp>
        <p:nvSpPr>
          <p:cNvPr id="26" name="Rectangle 25"/>
          <p:cNvSpPr/>
          <p:nvPr/>
        </p:nvSpPr>
        <p:spPr>
          <a:xfrm>
            <a:off x="6184392"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57544"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Start at 6; subtract negative 3.</a:t>
            </a:r>
          </a:p>
        </p:txBody>
      </p:sp>
      <p:sp>
        <p:nvSpPr>
          <p:cNvPr id="28" name="Rectangle 27"/>
          <p:cNvSpPr/>
          <p:nvPr/>
        </p:nvSpPr>
        <p:spPr>
          <a:xfrm>
            <a:off x="10247376" y="284378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20528" y="2926079"/>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Add positive 8, then subtract negative 2.</a:t>
            </a:r>
          </a:p>
        </p:txBody>
      </p:sp>
      <p:sp>
        <p:nvSpPr>
          <p:cNvPr id="30" name="Rectangle 29"/>
          <p:cNvSpPr/>
          <p:nvPr/>
        </p:nvSpPr>
        <p:spPr>
          <a:xfrm>
            <a:off x="320040" y="3621024"/>
            <a:ext cx="1801367" cy="777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904" y="3712463"/>
            <a:ext cx="1691639" cy="621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2" name="Rectangle 31"/>
          <p:cNvSpPr/>
          <p:nvPr/>
        </p:nvSpPr>
        <p:spPr>
          <a:xfrm>
            <a:off x="2121408"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94560"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−4 + 7 is already an addition.</a:t>
            </a:r>
          </a:p>
        </p:txBody>
      </p:sp>
      <p:sp>
        <p:nvSpPr>
          <p:cNvPr id="34" name="Rectangle 33"/>
          <p:cNvSpPr/>
          <p:nvPr/>
        </p:nvSpPr>
        <p:spPr>
          <a:xfrm>
            <a:off x="6184392"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7544"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6 + 3.</a:t>
            </a:r>
          </a:p>
        </p:txBody>
      </p:sp>
      <p:sp>
        <p:nvSpPr>
          <p:cNvPr id="36" name="Rectangle 35"/>
          <p:cNvSpPr/>
          <p:nvPr/>
        </p:nvSpPr>
        <p:spPr>
          <a:xfrm>
            <a:off x="10247376" y="3621024"/>
            <a:ext cx="4062984" cy="777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20528" y="3703320"/>
            <a:ext cx="3916680" cy="63093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+ 2.</a:t>
            </a:r>
          </a:p>
        </p:txBody>
      </p:sp>
      <p:sp>
        <p:nvSpPr>
          <p:cNvPr id="38" name="Rectangle 37"/>
          <p:cNvSpPr/>
          <p:nvPr/>
        </p:nvSpPr>
        <p:spPr>
          <a:xfrm>
            <a:off x="320040" y="4398264"/>
            <a:ext cx="1801367" cy="19202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74904" y="4489703"/>
            <a:ext cx="1691639" cy="176479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40" name="Rectangle 39"/>
          <p:cNvSpPr/>
          <p:nvPr/>
        </p:nvSpPr>
        <p:spPr>
          <a:xfrm>
            <a:off x="2121408"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Move 4 right to 0, then 3 right: 3.</a:t>
            </a:r>
          </a:p>
        </p:txBody>
      </p:sp>
      <p:cxnSp>
        <p:nvCxnSpPr>
          <p:cNvPr id="42" name="Connector 41"/>
          <p:cNvCxnSpPr/>
          <p:nvPr/>
        </p:nvCxnSpPr>
        <p:spPr>
          <a:xfrm>
            <a:off x="2395728"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572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20319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45" name="Connector 44"/>
          <p:cNvCxnSpPr/>
          <p:nvPr/>
        </p:nvCxnSpPr>
        <p:spPr>
          <a:xfrm>
            <a:off x="278621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59367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47" name="Connector 46"/>
          <p:cNvCxnSpPr/>
          <p:nvPr/>
        </p:nvCxnSpPr>
        <p:spPr>
          <a:xfrm>
            <a:off x="317669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298416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49" name="Connector 48"/>
          <p:cNvCxnSpPr/>
          <p:nvPr/>
        </p:nvCxnSpPr>
        <p:spPr>
          <a:xfrm>
            <a:off x="356717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3746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1" name="Connector 50"/>
          <p:cNvCxnSpPr/>
          <p:nvPr/>
        </p:nvCxnSpPr>
        <p:spPr>
          <a:xfrm>
            <a:off x="395765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376512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3" name="Connector 52"/>
          <p:cNvCxnSpPr/>
          <p:nvPr/>
        </p:nvCxnSpPr>
        <p:spPr>
          <a:xfrm>
            <a:off x="434814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19269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55" name="Connector 54"/>
          <p:cNvCxnSpPr/>
          <p:nvPr/>
        </p:nvCxnSpPr>
        <p:spPr>
          <a:xfrm>
            <a:off x="473862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58317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57" name="Connector 56"/>
          <p:cNvCxnSpPr/>
          <p:nvPr/>
        </p:nvCxnSpPr>
        <p:spPr>
          <a:xfrm>
            <a:off x="51291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97365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59" name="Connector 58"/>
          <p:cNvCxnSpPr/>
          <p:nvPr/>
        </p:nvCxnSpPr>
        <p:spPr>
          <a:xfrm>
            <a:off x="551958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36414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61" name="Connector 60"/>
          <p:cNvCxnSpPr/>
          <p:nvPr/>
        </p:nvCxnSpPr>
        <p:spPr>
          <a:xfrm>
            <a:off x="591007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75462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63" name="Connector 62"/>
          <p:cNvCxnSpPr/>
          <p:nvPr/>
        </p:nvCxnSpPr>
        <p:spPr>
          <a:xfrm flipV="1">
            <a:off x="2786210"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786210" y="5605272"/>
            <a:ext cx="1561931"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4348141" y="5605272"/>
            <a:ext cx="0" cy="256032"/>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2231136"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r>
              <a:t>+4 then +3: total +7</a:t>
            </a:r>
          </a:p>
        </p:txBody>
      </p:sp>
      <p:cxnSp>
        <p:nvCxnSpPr>
          <p:cNvPr id="67" name="Connector 66"/>
          <p:cNvCxnSpPr/>
          <p:nvPr/>
        </p:nvCxnSpPr>
        <p:spPr>
          <a:xfrm flipV="1">
            <a:off x="4348141"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348141" y="5312664"/>
            <a:ext cx="1171448" cy="0"/>
          </a:xfrm>
          <a:prstGeom prst="line">
            <a:avLst/>
          </a:prstGeom>
          <a:ln w="25400">
            <a:solidFill>
              <a:srgbClr val="176B73"/>
            </a:solidFill>
            <a:tailEnd type="triangle"/>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5519589" y="5312664"/>
            <a:ext cx="0" cy="548640"/>
          </a:xfrm>
          <a:prstGeom prst="line">
            <a:avLst/>
          </a:prstGeom>
          <a:ln w="12700">
            <a:solidFill>
              <a:srgbClr val="176B73"/>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231136"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176B73"/>
                </a:solidFill>
                <a:latin typeface="Arial"/>
              </a:defRPr>
            </a:pPr>
          </a:p>
        </p:txBody>
      </p:sp>
      <p:sp>
        <p:nvSpPr>
          <p:cNvPr id="71" name="Rectangle 70"/>
          <p:cNvSpPr/>
          <p:nvPr/>
        </p:nvSpPr>
        <p:spPr>
          <a:xfrm>
            <a:off x="6184392"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57544"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6 + 3 = 9.</a:t>
            </a:r>
          </a:p>
        </p:txBody>
      </p:sp>
      <p:cxnSp>
        <p:nvCxnSpPr>
          <p:cNvPr id="73" name="Connector 72"/>
          <p:cNvCxnSpPr/>
          <p:nvPr/>
        </p:nvCxnSpPr>
        <p:spPr>
          <a:xfrm>
            <a:off x="6458712"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45871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3032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76" name="Connector 75"/>
          <p:cNvCxnSpPr/>
          <p:nvPr/>
        </p:nvCxnSpPr>
        <p:spPr>
          <a:xfrm>
            <a:off x="681014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65469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78" name="Connector 77"/>
          <p:cNvCxnSpPr/>
          <p:nvPr/>
        </p:nvCxnSpPr>
        <p:spPr>
          <a:xfrm>
            <a:off x="716158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00613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80" name="Connector 79"/>
          <p:cNvCxnSpPr/>
          <p:nvPr/>
        </p:nvCxnSpPr>
        <p:spPr>
          <a:xfrm>
            <a:off x="7513015"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7567"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82" name="Connector 81"/>
          <p:cNvCxnSpPr/>
          <p:nvPr/>
        </p:nvCxnSpPr>
        <p:spPr>
          <a:xfrm>
            <a:off x="786444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70900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84" name="Connector 83"/>
          <p:cNvCxnSpPr/>
          <p:nvPr/>
        </p:nvCxnSpPr>
        <p:spPr>
          <a:xfrm>
            <a:off x="821588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806043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86" name="Connector 85"/>
          <p:cNvCxnSpPr/>
          <p:nvPr/>
        </p:nvCxnSpPr>
        <p:spPr>
          <a:xfrm>
            <a:off x="856731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841187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88" name="Connector 87"/>
          <p:cNvCxnSpPr/>
          <p:nvPr/>
        </p:nvCxnSpPr>
        <p:spPr>
          <a:xfrm>
            <a:off x="891875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876330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7</a:t>
            </a:r>
          </a:p>
        </p:txBody>
      </p:sp>
      <p:cxnSp>
        <p:nvCxnSpPr>
          <p:cNvPr id="90" name="Connector 89"/>
          <p:cNvCxnSpPr/>
          <p:nvPr/>
        </p:nvCxnSpPr>
        <p:spPr>
          <a:xfrm>
            <a:off x="927018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11473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8</a:t>
            </a:r>
          </a:p>
        </p:txBody>
      </p:sp>
      <p:cxnSp>
        <p:nvCxnSpPr>
          <p:cNvPr id="92" name="Connector 91"/>
          <p:cNvCxnSpPr/>
          <p:nvPr/>
        </p:nvCxnSpPr>
        <p:spPr>
          <a:xfrm>
            <a:off x="9621621"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9466173"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9</a:t>
            </a:r>
          </a:p>
        </p:txBody>
      </p:sp>
      <p:cxnSp>
        <p:nvCxnSpPr>
          <p:cNvPr id="94" name="Connector 93"/>
          <p:cNvCxnSpPr/>
          <p:nvPr/>
        </p:nvCxnSpPr>
        <p:spPr>
          <a:xfrm>
            <a:off x="997305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81760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10</a:t>
            </a:r>
          </a:p>
        </p:txBody>
      </p:sp>
      <p:cxnSp>
        <p:nvCxnSpPr>
          <p:cNvPr id="96" name="Connector 95"/>
          <p:cNvCxnSpPr/>
          <p:nvPr/>
        </p:nvCxnSpPr>
        <p:spPr>
          <a:xfrm flipV="1">
            <a:off x="8567318"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67318" y="5605272"/>
            <a:ext cx="1054303" cy="0"/>
          </a:xfrm>
          <a:prstGeom prst="line">
            <a:avLst/>
          </a:prstGeom>
          <a:ln w="25400">
            <a:solidFill>
              <a:srgbClr val="3559A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9621621" y="5605272"/>
            <a:ext cx="0" cy="256032"/>
          </a:xfrm>
          <a:prstGeom prst="line">
            <a:avLst/>
          </a:prstGeom>
          <a:ln w="12700">
            <a:solidFill>
              <a:srgbClr val="3559A2"/>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294120"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3559A2"/>
                </a:solidFill>
                <a:latin typeface="Arial"/>
              </a:defRPr>
            </a:pPr>
            <a:r>
              <a:t>subtract −3 = add 3</a:t>
            </a:r>
          </a:p>
        </p:txBody>
      </p:sp>
      <p:sp>
        <p:nvSpPr>
          <p:cNvPr id="100" name="Rectangle 99"/>
          <p:cNvSpPr/>
          <p:nvPr/>
        </p:nvSpPr>
        <p:spPr>
          <a:xfrm>
            <a:off x="10247376" y="4398264"/>
            <a:ext cx="4062984" cy="19202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0320528" y="4480559"/>
            <a:ext cx="3916680" cy="54864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+ 8 = 3; 3 + 2 = 5.</a:t>
            </a:r>
          </a:p>
        </p:txBody>
      </p:sp>
      <p:cxnSp>
        <p:nvCxnSpPr>
          <p:cNvPr id="102" name="Connector 101"/>
          <p:cNvCxnSpPr/>
          <p:nvPr/>
        </p:nvCxnSpPr>
        <p:spPr>
          <a:xfrm>
            <a:off x="10521696" y="5916168"/>
            <a:ext cx="3514344"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52169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1032916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05" name="Connector 104"/>
          <p:cNvCxnSpPr/>
          <p:nvPr/>
        </p:nvCxnSpPr>
        <p:spPr>
          <a:xfrm>
            <a:off x="1081455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0622025"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07" name="Connector 106"/>
          <p:cNvCxnSpPr/>
          <p:nvPr/>
        </p:nvCxnSpPr>
        <p:spPr>
          <a:xfrm>
            <a:off x="1110742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091488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09" name="Connector 108"/>
          <p:cNvCxnSpPr/>
          <p:nvPr/>
        </p:nvCxnSpPr>
        <p:spPr>
          <a:xfrm>
            <a:off x="1140028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1120775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11" name="Connector 110"/>
          <p:cNvCxnSpPr/>
          <p:nvPr/>
        </p:nvCxnSpPr>
        <p:spPr>
          <a:xfrm>
            <a:off x="11693143"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150061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13" name="Connector 112"/>
          <p:cNvCxnSpPr/>
          <p:nvPr/>
        </p:nvCxnSpPr>
        <p:spPr>
          <a:xfrm>
            <a:off x="1198600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1179347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5" name="Connector 114"/>
          <p:cNvCxnSpPr/>
          <p:nvPr/>
        </p:nvCxnSpPr>
        <p:spPr>
          <a:xfrm>
            <a:off x="12278868"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2123420"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1">
                <a:solidFill>
                  <a:srgbClr val="182B3A"/>
                </a:solidFill>
                <a:latin typeface="Arial"/>
              </a:defRPr>
            </a:pPr>
            <a:r>
              <a:t>0</a:t>
            </a:r>
          </a:p>
        </p:txBody>
      </p:sp>
      <p:cxnSp>
        <p:nvCxnSpPr>
          <p:cNvPr id="117" name="Connector 116"/>
          <p:cNvCxnSpPr/>
          <p:nvPr/>
        </p:nvCxnSpPr>
        <p:spPr>
          <a:xfrm>
            <a:off x="12571729"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12416281"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1</a:t>
            </a:r>
          </a:p>
        </p:txBody>
      </p:sp>
      <p:cxnSp>
        <p:nvCxnSpPr>
          <p:cNvPr id="119" name="Connector 118"/>
          <p:cNvCxnSpPr/>
          <p:nvPr/>
        </p:nvCxnSpPr>
        <p:spPr>
          <a:xfrm>
            <a:off x="12864592"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12709144"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2</a:t>
            </a:r>
          </a:p>
        </p:txBody>
      </p:sp>
      <p:cxnSp>
        <p:nvCxnSpPr>
          <p:cNvPr id="121" name="Connector 120"/>
          <p:cNvCxnSpPr/>
          <p:nvPr/>
        </p:nvCxnSpPr>
        <p:spPr>
          <a:xfrm>
            <a:off x="13157454"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3002006"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3</a:t>
            </a:r>
          </a:p>
        </p:txBody>
      </p:sp>
      <p:cxnSp>
        <p:nvCxnSpPr>
          <p:cNvPr id="123" name="Connector 122"/>
          <p:cNvCxnSpPr/>
          <p:nvPr/>
        </p:nvCxnSpPr>
        <p:spPr>
          <a:xfrm>
            <a:off x="13450316"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3294868"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4</a:t>
            </a:r>
          </a:p>
        </p:txBody>
      </p:sp>
      <p:cxnSp>
        <p:nvCxnSpPr>
          <p:cNvPr id="125" name="Connector 124"/>
          <p:cNvCxnSpPr/>
          <p:nvPr/>
        </p:nvCxnSpPr>
        <p:spPr>
          <a:xfrm>
            <a:off x="13743177"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13587729"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5</a:t>
            </a:r>
          </a:p>
        </p:txBody>
      </p:sp>
      <p:cxnSp>
        <p:nvCxnSpPr>
          <p:cNvPr id="127" name="Connector 126"/>
          <p:cNvCxnSpPr/>
          <p:nvPr/>
        </p:nvCxnSpPr>
        <p:spPr>
          <a:xfrm>
            <a:off x="14036040" y="5879592"/>
            <a:ext cx="0" cy="73152"/>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3880592" y="5980176"/>
            <a:ext cx="310896" cy="201168"/>
          </a:xfrm>
          <a:prstGeom prst="rect">
            <a:avLst/>
          </a:prstGeom>
          <a:noFill/>
        </p:spPr>
        <p:txBody>
          <a:bodyPr wrap="square" lIns="0" rIns="0" tIns="22860" bIns="22860">
            <a:spAutoFit/>
          </a:bodyPr>
          <a:lstStyle/>
          <a:p>
            <a:pPr algn="ctr">
              <a:lnSpc>
                <a:spcPts val="1050"/>
              </a:lnSpc>
              <a:spcBef>
                <a:spcPts val="0"/>
              </a:spcBef>
              <a:spcAft>
                <a:spcPts val="0"/>
              </a:spcAft>
              <a:defRPr sz="1000" b="0">
                <a:solidFill>
                  <a:srgbClr val="182B3A"/>
                </a:solidFill>
                <a:latin typeface="Arial"/>
              </a:defRPr>
            </a:pPr>
            <a:r>
              <a:t>6</a:t>
            </a:r>
          </a:p>
        </p:txBody>
      </p:sp>
      <p:cxnSp>
        <p:nvCxnSpPr>
          <p:cNvPr id="129" name="Connector 128"/>
          <p:cNvCxnSpPr/>
          <p:nvPr/>
        </p:nvCxnSpPr>
        <p:spPr>
          <a:xfrm flipV="1">
            <a:off x="10814557"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0814557" y="5605272"/>
            <a:ext cx="2342897"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3157454" y="5605272"/>
            <a:ext cx="0" cy="256032"/>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0357104" y="5010912"/>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r>
              <a:t>+8, then +2</a:t>
            </a:r>
          </a:p>
        </p:txBody>
      </p:sp>
      <p:cxnSp>
        <p:nvCxnSpPr>
          <p:cNvPr id="133" name="Connector 132"/>
          <p:cNvCxnSpPr/>
          <p:nvPr/>
        </p:nvCxnSpPr>
        <p:spPr>
          <a:xfrm flipV="1">
            <a:off x="13157454"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157454" y="5312664"/>
            <a:ext cx="585723" cy="0"/>
          </a:xfrm>
          <a:prstGeom prst="line">
            <a:avLst/>
          </a:prstGeom>
          <a:ln w="25400">
            <a:solidFill>
              <a:srgbClr val="754B87"/>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3743177" y="5312664"/>
            <a:ext cx="0" cy="548640"/>
          </a:xfrm>
          <a:prstGeom prst="line">
            <a:avLst/>
          </a:prstGeom>
          <a:ln w="12700">
            <a:solidFill>
              <a:srgbClr val="754B87"/>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0357104" y="5276088"/>
            <a:ext cx="3843528" cy="246888"/>
          </a:xfrm>
          <a:prstGeom prst="rect">
            <a:avLst/>
          </a:prstGeom>
          <a:noFill/>
        </p:spPr>
        <p:txBody>
          <a:bodyPr wrap="square" lIns="54864" rIns="54864" tIns="22860" bIns="22860">
            <a:spAutoFit/>
          </a:bodyPr>
          <a:lstStyle/>
          <a:p>
            <a:pPr>
              <a:lnSpc>
                <a:spcPts val="1260"/>
              </a:lnSpc>
              <a:spcBef>
                <a:spcPts val="0"/>
              </a:spcBef>
              <a:spcAft>
                <a:spcPts val="0"/>
              </a:spcAft>
              <a:defRPr sz="1200" b="1">
                <a:solidFill>
                  <a:srgbClr val="754B87"/>
                </a:solidFill>
                <a:latin typeface="Arial"/>
              </a:defRPr>
            </a:pPr>
          </a:p>
        </p:txBody>
      </p:sp>
      <p:sp>
        <p:nvSpPr>
          <p:cNvPr id="137" name="Rectangle 136"/>
          <p:cNvSpPr/>
          <p:nvPr/>
        </p:nvSpPr>
        <p:spPr>
          <a:xfrm>
            <a:off x="320040" y="6318504"/>
            <a:ext cx="1801367" cy="11887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74904" y="6409944"/>
            <a:ext cx="1691639" cy="103327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139" name="Rectangle 138"/>
          <p:cNvSpPr/>
          <p:nvPr/>
        </p:nvSpPr>
        <p:spPr>
          <a:xfrm>
            <a:off x="2121408"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194560"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3 − 7 = −4. Answer: 3.</a:t>
            </a:r>
          </a:p>
        </p:txBody>
      </p:sp>
      <p:sp>
        <p:nvSpPr>
          <p:cNvPr id="141" name="Rectangle 140"/>
          <p:cNvSpPr/>
          <p:nvPr/>
        </p:nvSpPr>
        <p:spPr>
          <a:xfrm>
            <a:off x="6184392"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257544"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9 + (−3) = 6. Answer: 9.</a:t>
            </a:r>
          </a:p>
        </p:txBody>
      </p:sp>
      <p:sp>
        <p:nvSpPr>
          <p:cNvPr id="143" name="Rectangle 142"/>
          <p:cNvSpPr/>
          <p:nvPr/>
        </p:nvSpPr>
        <p:spPr>
          <a:xfrm>
            <a:off x="10247376" y="6318504"/>
            <a:ext cx="4062984" cy="11887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320528" y="6400800"/>
            <a:ext cx="3916680" cy="1042416"/>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5 + (−2) = 3; 3 − 8 = −5. Answer: 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−6 + 9</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4 + (−7)</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−8 + 5 − (−4)</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 y="1655064"/>
            <a:ext cx="1691639" cy="667512"/>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82296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94560"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3 − 8</a:t>
            </a:r>
          </a:p>
        </p:txBody>
      </p:sp>
      <p:sp>
        <p:nvSpPr>
          <p:cNvPr id="17" name="Rectangle 16"/>
          <p:cNvSpPr/>
          <p:nvPr/>
        </p:nvSpPr>
        <p:spPr>
          <a:xfrm>
            <a:off x="6184392" y="1563624"/>
            <a:ext cx="4062984" cy="82296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7544"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−5 − (−9)</a:t>
            </a:r>
          </a:p>
        </p:txBody>
      </p:sp>
      <p:sp>
        <p:nvSpPr>
          <p:cNvPr id="19" name="Rectangle 18"/>
          <p:cNvSpPr/>
          <p:nvPr/>
        </p:nvSpPr>
        <p:spPr>
          <a:xfrm>
            <a:off x="10247376" y="1563624"/>
            <a:ext cx="4062984" cy="82296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20528" y="1645920"/>
            <a:ext cx="3916680" cy="676656"/>
          </a:xfrm>
          <a:prstGeom prst="rect">
            <a:avLst/>
          </a:prstGeom>
          <a:noFill/>
        </p:spPr>
        <p:txBody>
          <a:bodyPr wrap="square" lIns="54864" rIns="54864" tIns="22860" bIns="22860">
            <a:spAutoFit/>
          </a:bodyPr>
          <a:lstStyle/>
          <a:p>
            <a:pPr>
              <a:lnSpc>
                <a:spcPts val="2520"/>
              </a:lnSpc>
              <a:spcBef>
                <a:spcPts val="0"/>
              </a:spcBef>
              <a:spcAft>
                <a:spcPts val="0"/>
              </a:spcAft>
              <a:defRPr sz="2400" b="1">
                <a:solidFill>
                  <a:srgbClr val="182B3A"/>
                </a:solidFill>
                <a:latin typeface="Arial"/>
              </a:defRPr>
            </a:pPr>
            <a:r>
              <a:t>7 − (−2) + (−12)</a:t>
            </a:r>
          </a:p>
        </p:txBody>
      </p:sp>
      <p:sp>
        <p:nvSpPr>
          <p:cNvPr id="21" name="Rectangle 20"/>
          <p:cNvSpPr/>
          <p:nvPr/>
        </p:nvSpPr>
        <p:spPr>
          <a:xfrm>
            <a:off x="320040" y="2386584"/>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4904" y="2478024"/>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Read the Signs</a:t>
            </a:r>
          </a:p>
        </p:txBody>
      </p:sp>
      <p:sp>
        <p:nvSpPr>
          <p:cNvPr id="23" name="Rectangle 22"/>
          <p:cNvSpPr/>
          <p:nvPr/>
        </p:nvSpPr>
        <p:spPr>
          <a:xfrm>
            <a:off x="2121408"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94560"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5" name="Rectangle 24"/>
          <p:cNvSpPr/>
          <p:nvPr/>
        </p:nvSpPr>
        <p:spPr>
          <a:xfrm>
            <a:off x="6184392"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7544"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7" name="Rectangle 26"/>
          <p:cNvSpPr/>
          <p:nvPr/>
        </p:nvSpPr>
        <p:spPr>
          <a:xfrm>
            <a:off x="10247376" y="2386584"/>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20528" y="2468879"/>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Identify the operation signs and the signs belonging to the numbers.</a:t>
            </a:r>
          </a:p>
        </p:txBody>
      </p:sp>
      <p:sp>
        <p:nvSpPr>
          <p:cNvPr id="29" name="Rectangle 28"/>
          <p:cNvSpPr/>
          <p:nvPr/>
        </p:nvSpPr>
        <p:spPr>
          <a:xfrm>
            <a:off x="320040" y="3648456"/>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4904" y="3739896"/>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Rewrite the Calculation</a:t>
            </a:r>
          </a:p>
        </p:txBody>
      </p:sp>
      <p:sp>
        <p:nvSpPr>
          <p:cNvPr id="31" name="Rectangle 30"/>
          <p:cNvSpPr/>
          <p:nvPr/>
        </p:nvSpPr>
        <p:spPr>
          <a:xfrm>
            <a:off x="2121408"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3" name="Rectangle 32"/>
          <p:cNvSpPr/>
          <p:nvPr/>
        </p:nvSpPr>
        <p:spPr>
          <a:xfrm>
            <a:off x="6184392"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57544"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5" name="Rectangle 34"/>
          <p:cNvSpPr/>
          <p:nvPr/>
        </p:nvSpPr>
        <p:spPr>
          <a:xfrm>
            <a:off x="10247376" y="3648456"/>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320528" y="3730752"/>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Replace subtraction by addition of the opposite where useful.</a:t>
            </a:r>
          </a:p>
        </p:txBody>
      </p:sp>
      <p:sp>
        <p:nvSpPr>
          <p:cNvPr id="37" name="Rectangle 36"/>
          <p:cNvSpPr/>
          <p:nvPr/>
        </p:nvSpPr>
        <p:spPr>
          <a:xfrm>
            <a:off x="320040" y="4910327"/>
            <a:ext cx="1801367" cy="12618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4904" y="5001767"/>
            <a:ext cx="1691639" cy="1106424"/>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Calculate</a:t>
            </a:r>
          </a:p>
        </p:txBody>
      </p:sp>
      <p:sp>
        <p:nvSpPr>
          <p:cNvPr id="39" name="Rectangle 38"/>
          <p:cNvSpPr/>
          <p:nvPr/>
        </p:nvSpPr>
        <p:spPr>
          <a:xfrm>
            <a:off x="2121408"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194560"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1" name="Rectangle 40"/>
          <p:cNvSpPr/>
          <p:nvPr/>
        </p:nvSpPr>
        <p:spPr>
          <a:xfrm>
            <a:off x="6184392"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57544"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3" name="Rectangle 42"/>
          <p:cNvSpPr/>
          <p:nvPr/>
        </p:nvSpPr>
        <p:spPr>
          <a:xfrm>
            <a:off x="10247376" y="4910327"/>
            <a:ext cx="4062984" cy="12618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20528" y="4992623"/>
            <a:ext cx="3916680" cy="1115568"/>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Work from left to right. Show each result.</a:t>
            </a:r>
          </a:p>
        </p:txBody>
      </p:sp>
      <p:sp>
        <p:nvSpPr>
          <p:cNvPr id="45" name="Rectangle 44"/>
          <p:cNvSpPr/>
          <p:nvPr/>
        </p:nvSpPr>
        <p:spPr>
          <a:xfrm>
            <a:off x="320040" y="6172199"/>
            <a:ext cx="1801367" cy="12435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4904" y="6263639"/>
            <a:ext cx="1691639" cy="1088136"/>
          </a:xfrm>
          <a:prstGeom prst="rect">
            <a:avLst/>
          </a:prstGeom>
          <a:noFill/>
        </p:spPr>
        <p:txBody>
          <a:bodyPr wrap="square" lIns="54864" rIns="54864" tIns="22860" bIns="22860">
            <a:spAutoFit/>
          </a:bodyPr>
          <a:lstStyle/>
          <a:p>
            <a:pPr>
              <a:lnSpc>
                <a:spcPts val="1785"/>
              </a:lnSpc>
              <a:spcBef>
                <a:spcPts val="0"/>
              </a:spcBef>
              <a:spcAft>
                <a:spcPts val="0"/>
              </a:spcAft>
              <a:defRPr sz="1700" b="1">
                <a:solidFill>
                  <a:srgbClr val="182B3A"/>
                </a:solidFill>
                <a:latin typeface="Arial"/>
              </a:defRPr>
            </a:pPr>
            <a:r>
              <a:t>Check the Answer</a:t>
            </a:r>
          </a:p>
        </p:txBody>
      </p:sp>
      <p:sp>
        <p:nvSpPr>
          <p:cNvPr id="47" name="Rectangle 46"/>
          <p:cNvSpPr/>
          <p:nvPr/>
        </p:nvSpPr>
        <p:spPr>
          <a:xfrm>
            <a:off x="2121408"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194560"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49" name="Rectangle 48"/>
          <p:cNvSpPr/>
          <p:nvPr/>
        </p:nvSpPr>
        <p:spPr>
          <a:xfrm>
            <a:off x="6184392"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57544"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1" name="Rectangle 50"/>
          <p:cNvSpPr/>
          <p:nvPr/>
        </p:nvSpPr>
        <p:spPr>
          <a:xfrm>
            <a:off x="10247376" y="6172199"/>
            <a:ext cx="4062984" cy="12435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20528" y="6254495"/>
            <a:ext cx="3916680" cy="1097280"/>
          </a:xfrm>
          <a:prstGeom prst="rect">
            <a:avLst/>
          </a:prstGeom>
          <a:noFill/>
        </p:spPr>
        <p:txBody>
          <a:bodyPr wrap="square" lIns="54864" rIns="54864" tIns="22860" bIns="22860">
            <a:spAutoFit/>
          </a:bodyPr>
          <a:lstStyle/>
          <a:p>
            <a:pPr>
              <a:lnSpc>
                <a:spcPts val="1785"/>
              </a:lnSpc>
              <a:spcBef>
                <a:spcPts val="0"/>
              </a:spcBef>
              <a:spcAft>
                <a:spcPts val="0"/>
              </a:spcAft>
              <a:defRPr sz="1700" b="0">
                <a:solidFill>
                  <a:srgbClr val="182B3A"/>
                </a:solidFill>
                <a:latin typeface="Arial"/>
              </a:defRPr>
            </a:pPr>
            <a:r>
              <a:t>Undo the last operation to check. Write the final answer.</a:t>
            </a:r>
          </a:p>
        </p:txBody>
      </p:sp>
      <p:sp>
        <p:nvSpPr>
          <p:cNvPr id="53"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Signed numbers: addition and subtraction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M13-SE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−3 + 5</a:t>
            </a:r>
          </a:p>
        </p:txBody>
      </p:sp>
      <p:sp>
        <p:nvSpPr>
          <p:cNvPr id="10" name="TextBox 9"/>
          <p:cNvSpPr txBox="1"/>
          <p:nvPr/>
        </p:nvSpPr>
        <p:spPr>
          <a:xfrm>
            <a:off x="704088"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−3 + 5</a:t>
            </a:r>
          </a:p>
        </p:txBody>
      </p:sp>
      <p:sp>
        <p:nvSpPr>
          <p:cNvPr id="11" name="TextBox 10"/>
          <p:cNvSpPr txBox="1"/>
          <p:nvPr/>
        </p:nvSpPr>
        <p:spPr>
          <a:xfrm>
            <a:off x="704088"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−3 − 5</a:t>
            </a:r>
          </a:p>
        </p:txBody>
      </p:sp>
      <p:sp>
        <p:nvSpPr>
          <p:cNvPr id="12" name="TextBox 11"/>
          <p:cNvSpPr txBox="1"/>
          <p:nvPr/>
        </p:nvSpPr>
        <p:spPr>
          <a:xfrm>
            <a:off x="704088"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a:t>
            </a:r>
          </a:p>
        </p:txBody>
      </p:sp>
      <p:sp>
        <p:nvSpPr>
          <p:cNvPr id="13" name="Rectangle 12"/>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5488"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4 − 9</a:t>
            </a:r>
          </a:p>
        </p:txBody>
      </p:sp>
      <p:sp>
        <p:nvSpPr>
          <p:cNvPr id="15" name="TextBox 14"/>
          <p:cNvSpPr txBox="1"/>
          <p:nvPr/>
        </p:nvSpPr>
        <p:spPr>
          <a:xfrm>
            <a:off x="704088"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4 − 9</a:t>
            </a:r>
          </a:p>
        </p:txBody>
      </p:sp>
      <p:sp>
        <p:nvSpPr>
          <p:cNvPr id="16" name="TextBox 15"/>
          <p:cNvSpPr txBox="1"/>
          <p:nvPr/>
        </p:nvSpPr>
        <p:spPr>
          <a:xfrm>
            <a:off x="704088"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9 − 4</a:t>
            </a:r>
          </a:p>
        </p:txBody>
      </p:sp>
      <p:sp>
        <p:nvSpPr>
          <p:cNvPr id="17" name="TextBox 16"/>
          <p:cNvSpPr txBox="1"/>
          <p:nvPr/>
        </p:nvSpPr>
        <p:spPr>
          <a:xfrm>
            <a:off x="704088"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5</a:t>
            </a:r>
          </a:p>
        </p:txBody>
      </p:sp>
      <p:sp>
        <p:nvSpPr>
          <p:cNvPr id="18" name="Rectangle 17"/>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75488"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−4 − 6</a:t>
            </a:r>
          </a:p>
        </p:txBody>
      </p:sp>
      <p:sp>
        <p:nvSpPr>
          <p:cNvPr id="20" name="TextBox 19"/>
          <p:cNvSpPr txBox="1"/>
          <p:nvPr/>
        </p:nvSpPr>
        <p:spPr>
          <a:xfrm>
            <a:off x="704088"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−4 − 6</a:t>
            </a:r>
          </a:p>
        </p:txBody>
      </p:sp>
      <p:sp>
        <p:nvSpPr>
          <p:cNvPr id="21" name="TextBox 20"/>
          <p:cNvSpPr txBox="1"/>
          <p:nvPr/>
        </p:nvSpPr>
        <p:spPr>
          <a:xfrm>
            <a:off x="704088"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+ 6</a:t>
            </a:r>
          </a:p>
        </p:txBody>
      </p:sp>
      <p:sp>
        <p:nvSpPr>
          <p:cNvPr id="22" name="TextBox 21"/>
          <p:cNvSpPr txBox="1"/>
          <p:nvPr/>
        </p:nvSpPr>
        <p:spPr>
          <a:xfrm>
            <a:off x="704088"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10</a:t>
            </a:r>
          </a:p>
        </p:txBody>
      </p:sp>
      <p:sp>
        <p:nvSpPr>
          <p:cNvPr id="23" name="Rectangle 22"/>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25" name="Rectangle 24"/>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96256"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6 + (−10)</a:t>
            </a:r>
          </a:p>
        </p:txBody>
      </p:sp>
      <p:sp>
        <p:nvSpPr>
          <p:cNvPr id="27" name="TextBox 26"/>
          <p:cNvSpPr txBox="1"/>
          <p:nvPr/>
        </p:nvSpPr>
        <p:spPr>
          <a:xfrm>
            <a:off x="5324856"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(−10)</a:t>
            </a:r>
          </a:p>
        </p:txBody>
      </p:sp>
      <p:sp>
        <p:nvSpPr>
          <p:cNvPr id="28" name="TextBox 27"/>
          <p:cNvSpPr txBox="1"/>
          <p:nvPr/>
        </p:nvSpPr>
        <p:spPr>
          <a:xfrm>
            <a:off x="5324856"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+ 10</a:t>
            </a:r>
          </a:p>
        </p:txBody>
      </p:sp>
      <p:sp>
        <p:nvSpPr>
          <p:cNvPr id="29" name="TextBox 28"/>
          <p:cNvSpPr txBox="1"/>
          <p:nvPr/>
        </p:nvSpPr>
        <p:spPr>
          <a:xfrm>
            <a:off x="5324856"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16</a:t>
            </a:r>
          </a:p>
        </p:txBody>
      </p:sp>
      <p:sp>
        <p:nvSpPr>
          <p:cNvPr id="30" name="Rectangle 29"/>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−6 − (−18)</a:t>
            </a:r>
          </a:p>
        </p:txBody>
      </p:sp>
      <p:sp>
        <p:nvSpPr>
          <p:cNvPr id="32" name="TextBox 31"/>
          <p:cNvSpPr txBox="1"/>
          <p:nvPr/>
        </p:nvSpPr>
        <p:spPr>
          <a:xfrm>
            <a:off x="5324856"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−6 − (−18)</a:t>
            </a:r>
          </a:p>
        </p:txBody>
      </p:sp>
      <p:sp>
        <p:nvSpPr>
          <p:cNvPr id="33" name="TextBox 32"/>
          <p:cNvSpPr txBox="1"/>
          <p:nvPr/>
        </p:nvSpPr>
        <p:spPr>
          <a:xfrm>
            <a:off x="5324856"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−6 − 18</a:t>
            </a:r>
          </a:p>
        </p:txBody>
      </p:sp>
      <p:sp>
        <p:nvSpPr>
          <p:cNvPr id="34" name="TextBox 33"/>
          <p:cNvSpPr txBox="1"/>
          <p:nvPr/>
        </p:nvSpPr>
        <p:spPr>
          <a:xfrm>
            <a:off x="5324856"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−24</a:t>
            </a:r>
          </a:p>
        </p:txBody>
      </p:sp>
      <p:sp>
        <p:nvSpPr>
          <p:cNvPr id="35" name="Rectangle 3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096256"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−7 + (−4)</a:t>
            </a:r>
          </a:p>
        </p:txBody>
      </p:sp>
      <p:sp>
        <p:nvSpPr>
          <p:cNvPr id="37" name="TextBox 36"/>
          <p:cNvSpPr txBox="1"/>
          <p:nvPr/>
        </p:nvSpPr>
        <p:spPr>
          <a:xfrm>
            <a:off x="5324856"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−7 + (−4)</a:t>
            </a:r>
          </a:p>
        </p:txBody>
      </p:sp>
      <p:sp>
        <p:nvSpPr>
          <p:cNvPr id="38" name="TextBox 37"/>
          <p:cNvSpPr txBox="1"/>
          <p:nvPr/>
        </p:nvSpPr>
        <p:spPr>
          <a:xfrm>
            <a:off x="5324856"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7 + 4</a:t>
            </a:r>
          </a:p>
        </p:txBody>
      </p:sp>
      <p:sp>
        <p:nvSpPr>
          <p:cNvPr id="39" name="TextBox 38"/>
          <p:cNvSpPr txBox="1"/>
          <p:nvPr/>
        </p:nvSpPr>
        <p:spPr>
          <a:xfrm>
            <a:off x="5324856"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11</a:t>
            </a:r>
          </a:p>
        </p:txBody>
      </p:sp>
      <p:sp>
        <p:nvSpPr>
          <p:cNvPr id="40" name="Rectangle 39"/>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42" name="Rectangle 41"/>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717024" y="1755648"/>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1.  −4 − (−7) + (−6)</a:t>
            </a:r>
          </a:p>
        </p:txBody>
      </p:sp>
      <p:sp>
        <p:nvSpPr>
          <p:cNvPr id="44" name="TextBox 43"/>
          <p:cNvSpPr txBox="1"/>
          <p:nvPr/>
        </p:nvSpPr>
        <p:spPr>
          <a:xfrm>
            <a:off x="9945624" y="223113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−4 − (−7) + (−6)</a:t>
            </a:r>
          </a:p>
        </p:txBody>
      </p:sp>
      <p:sp>
        <p:nvSpPr>
          <p:cNvPr id="45" name="TextBox 44"/>
          <p:cNvSpPr txBox="1"/>
          <p:nvPr/>
        </p:nvSpPr>
        <p:spPr>
          <a:xfrm>
            <a:off x="9945624" y="25786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+ 7 + 6</a:t>
            </a:r>
          </a:p>
        </p:txBody>
      </p:sp>
      <p:sp>
        <p:nvSpPr>
          <p:cNvPr id="46" name="TextBox 45"/>
          <p:cNvSpPr txBox="1"/>
          <p:nvPr/>
        </p:nvSpPr>
        <p:spPr>
          <a:xfrm>
            <a:off x="9945624" y="29260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+ 6</a:t>
            </a:r>
          </a:p>
        </p:txBody>
      </p:sp>
      <p:sp>
        <p:nvSpPr>
          <p:cNvPr id="47" name="TextBox 46"/>
          <p:cNvSpPr txBox="1"/>
          <p:nvPr/>
        </p:nvSpPr>
        <p:spPr>
          <a:xfrm>
            <a:off x="9945624" y="32735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48" name="Rectangle 47"/>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9717024" y="3758184"/>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2.  8 + (−12) − (−5)</a:t>
            </a:r>
          </a:p>
        </p:txBody>
      </p:sp>
      <p:sp>
        <p:nvSpPr>
          <p:cNvPr id="50" name="TextBox 49"/>
          <p:cNvSpPr txBox="1"/>
          <p:nvPr/>
        </p:nvSpPr>
        <p:spPr>
          <a:xfrm>
            <a:off x="9945624" y="423367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8 + (−12) − (−5)</a:t>
            </a:r>
          </a:p>
        </p:txBody>
      </p:sp>
      <p:sp>
        <p:nvSpPr>
          <p:cNvPr id="51" name="TextBox 50"/>
          <p:cNvSpPr txBox="1"/>
          <p:nvPr/>
        </p:nvSpPr>
        <p:spPr>
          <a:xfrm>
            <a:off x="9945624" y="4581144"/>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8 − 12 − 5</a:t>
            </a:r>
          </a:p>
        </p:txBody>
      </p:sp>
      <p:sp>
        <p:nvSpPr>
          <p:cNvPr id="52" name="TextBox 51"/>
          <p:cNvSpPr txBox="1"/>
          <p:nvPr/>
        </p:nvSpPr>
        <p:spPr>
          <a:xfrm>
            <a:off x="9945624" y="4928616"/>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−4 − 5</a:t>
            </a:r>
          </a:p>
        </p:txBody>
      </p:sp>
      <p:sp>
        <p:nvSpPr>
          <p:cNvPr id="53" name="TextBox 52"/>
          <p:cNvSpPr txBox="1"/>
          <p:nvPr/>
        </p:nvSpPr>
        <p:spPr>
          <a:xfrm>
            <a:off x="9945624" y="527608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−9</a:t>
            </a:r>
          </a:p>
        </p:txBody>
      </p:sp>
      <p:sp>
        <p:nvSpPr>
          <p:cNvPr id="54" name="Rectangle 53"/>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5760720"/>
            <a:ext cx="4392168" cy="402336"/>
          </a:xfrm>
          <a:prstGeom prst="rect">
            <a:avLst/>
          </a:prstGeom>
          <a:noFill/>
        </p:spPr>
        <p:txBody>
          <a:bodyPr wrap="square" tIns="36576" bIns="36576" anchor="t">
            <a:spAutoFit/>
          </a:bodyPr>
          <a:lstStyle/>
          <a:p>
            <a:pPr>
              <a:lnSpc>
                <a:spcPts val="2268"/>
              </a:lnSpc>
              <a:spcBef>
                <a:spcPts val="0"/>
              </a:spcBef>
              <a:spcAft>
                <a:spcPts val="0"/>
              </a:spcAft>
              <a:defRPr sz="2100" b="1">
                <a:solidFill>
                  <a:srgbClr val="182B3A"/>
                </a:solidFill>
                <a:latin typeface="Arial"/>
              </a:defRPr>
            </a:pPr>
            <a:r>
              <a:t>3.  −9 − 6 + 18</a:t>
            </a:r>
          </a:p>
        </p:txBody>
      </p:sp>
      <p:sp>
        <p:nvSpPr>
          <p:cNvPr id="56" name="TextBox 55"/>
          <p:cNvSpPr txBox="1"/>
          <p:nvPr/>
        </p:nvSpPr>
        <p:spPr>
          <a:xfrm>
            <a:off x="9945624" y="6236208"/>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−9 − 6 + 18</a:t>
            </a:r>
          </a:p>
        </p:txBody>
      </p:sp>
      <p:sp>
        <p:nvSpPr>
          <p:cNvPr id="57" name="TextBox 56"/>
          <p:cNvSpPr txBox="1"/>
          <p:nvPr/>
        </p:nvSpPr>
        <p:spPr>
          <a:xfrm>
            <a:off x="9945624" y="6583680"/>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−3 + 18</a:t>
            </a:r>
          </a:p>
        </p:txBody>
      </p:sp>
      <p:sp>
        <p:nvSpPr>
          <p:cNvPr id="58" name="TextBox 57"/>
          <p:cNvSpPr txBox="1"/>
          <p:nvPr/>
        </p:nvSpPr>
        <p:spPr>
          <a:xfrm>
            <a:off x="9945624" y="6931152"/>
            <a:ext cx="4023360" cy="310896"/>
          </a:xfrm>
          <a:prstGeom prst="rect">
            <a:avLst/>
          </a:prstGeom>
          <a:noFill/>
        </p:spPr>
        <p:txBody>
          <a:bodyPr wrap="none" lIns="0" rIns="0" tIns="0" bIns="0">
            <a:spAutoFit/>
          </a:bodyPr>
          <a:lstStyle/>
          <a:p>
            <a:pPr algn="l">
              <a:lnSpc>
                <a:spcPts val="2576"/>
              </a:lnSpc>
              <a:spcBef>
                <a:spcPts val="0"/>
              </a:spcBef>
              <a:spcAft>
                <a:spcPts val="0"/>
              </a:spcAft>
              <a:defRPr sz="2300" b="0">
                <a:solidFill>
                  <a:srgbClr val="182B3A"/>
                </a:solidFill>
                <a:latin typeface="Arial"/>
              </a:defRPr>
            </a:pPr>
            <a:r>
              <a:t>= 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−3 + 8</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5 −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+ 7 − (−3)</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2 − 7</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7 + (−9)</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+ 4</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−4 + (−6)</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(−3) + 10</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−2 − 5</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(−3)</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− 13</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+ 9</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−5 − (−5)</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(−4) + 1</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4 − 10</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0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3 + (−8) − (−5)</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−4 − 6</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(−4)</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−6 + 9 + (−4)</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+ 11</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(−7)</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(−6) + (−10)</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6 − 15</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0 − (−9)</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7 − 10 −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+ 10</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(−8)</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−8 − (−2) − 1</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+ 3</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−3 − (−8)</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+ 5 −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5 + (−12) + 3</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−8 + 12</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−9 + (−2)</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10 − 14 + (−2)</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−5 − 4</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8 − (−5)</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6 + (−9) − (−3)</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−10 + 6</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−7 − (−4)</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−2 − (−8) + 5</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6 + (−11)</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−3 + (−6) − (−4)</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7 − 16</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−4 − (−10)</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9 − (−3) + (−7)</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+ 12</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−12 − (−7)</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−11 + 8 − 2</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Signed numbers: addition and subtraction</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M13-S07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a:t>
            </a:r>
          </a:p>
        </p:txBody>
      </p:sp>
      <p:sp>
        <p:nvSpPr>
          <p:cNvPr id="15" name="Rectangle 14"/>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7492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0 − (−6)</a:t>
            </a:r>
          </a:p>
        </p:txBody>
      </p:sp>
      <p:sp>
        <p:nvSpPr>
          <p:cNvPr id="17" name="Rectangle 16"/>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38360" y="18196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1.  −12 + 7 + 8</a:t>
            </a:r>
          </a:p>
        </p:txBody>
      </p:sp>
      <p:sp>
        <p:nvSpPr>
          <p:cNvPr id="19" name="Rectangle 18"/>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11 − 18</a:t>
            </a:r>
          </a:p>
        </p:txBody>
      </p:sp>
      <p:sp>
        <p:nvSpPr>
          <p:cNvPr id="21" name="Rectangle 20"/>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7492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−11 − (−8)</a:t>
            </a:r>
          </a:p>
        </p:txBody>
      </p:sp>
      <p:sp>
        <p:nvSpPr>
          <p:cNvPr id="23" name="Rectangle 22"/>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282549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2.  4 − (−5) + (−12)</a:t>
            </a:r>
          </a:p>
        </p:txBody>
      </p:sp>
      <p:sp>
        <p:nvSpPr>
          <p:cNvPr id="25" name="Rectangle 24"/>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−6 − 8</a:t>
            </a:r>
          </a:p>
        </p:txBody>
      </p:sp>
      <p:sp>
        <p:nvSpPr>
          <p:cNvPr id="27" name="Rectangle 2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7492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5 + (−13)</a:t>
            </a:r>
          </a:p>
        </p:txBody>
      </p:sp>
      <p:sp>
        <p:nvSpPr>
          <p:cNvPr id="29" name="Rectangle 2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38360" y="383133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3.  −6 − (−9) + (−3)</a:t>
            </a:r>
          </a:p>
        </p:txBody>
      </p:sp>
      <p:sp>
        <p:nvSpPr>
          <p:cNvPr id="31" name="Rectangle 30"/>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−9 + 14</a:t>
            </a:r>
          </a:p>
        </p:txBody>
      </p:sp>
      <p:sp>
        <p:nvSpPr>
          <p:cNvPr id="33" name="Rectangle 3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7492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−7 − (−12)</a:t>
            </a:r>
          </a:p>
        </p:txBody>
      </p:sp>
      <p:sp>
        <p:nvSpPr>
          <p:cNvPr id="35" name="Rectangle 34"/>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38360" y="483717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4.  5 − 13 − (−2)</a:t>
            </a:r>
          </a:p>
        </p:txBody>
      </p:sp>
      <p:sp>
        <p:nvSpPr>
          <p:cNvPr id="37" name="Rectangle 36"/>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79"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−15 + 15</a:t>
            </a:r>
          </a:p>
        </p:txBody>
      </p:sp>
      <p:sp>
        <p:nvSpPr>
          <p:cNvPr id="39" name="Rectangle 38"/>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7492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12 − (−3)</a:t>
            </a:r>
          </a:p>
        </p:txBody>
      </p:sp>
      <p:sp>
        <p:nvSpPr>
          <p:cNvPr id="41" name="Rectangle 4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584301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5.  8 + (−11) − 4</a:t>
            </a:r>
          </a:p>
        </p:txBody>
      </p:sp>
      <p:sp>
        <p:nvSpPr>
          <p:cNvPr id="43" name="Rectangle 42"/>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79"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8 − 13</a:t>
            </a:r>
          </a:p>
        </p:txBody>
      </p:sp>
      <p:sp>
        <p:nvSpPr>
          <p:cNvPr id="45" name="Rectangle 44"/>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7492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−4 + (−9)</a:t>
            </a:r>
          </a:p>
        </p:txBody>
      </p:sp>
      <p:sp>
        <p:nvSpPr>
          <p:cNvPr id="47" name="Rectangle 4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38360" y="6848856"/>
            <a:ext cx="4453128" cy="548640"/>
          </a:xfrm>
          <a:prstGeom prst="rect">
            <a:avLst/>
          </a:prstGeom>
          <a:noFill/>
        </p:spPr>
        <p:txBody>
          <a:bodyPr wrap="square" lIns="54864" rIns="54864" tIns="22860" bIns="22860">
            <a:spAutoFit/>
          </a:bodyPr>
          <a:lstStyle/>
          <a:p>
            <a:pPr>
              <a:lnSpc>
                <a:spcPts val="2730"/>
              </a:lnSpc>
              <a:spcBef>
                <a:spcPts val="0"/>
              </a:spcBef>
              <a:spcAft>
                <a:spcPts val="0"/>
              </a:spcAft>
              <a:defRPr sz="2600" b="0">
                <a:solidFill>
                  <a:srgbClr val="182B3A"/>
                </a:solidFill>
                <a:latin typeface="Arial"/>
              </a:defRPr>
            </a:pPr>
            <a:r>
              <a:t>6.  −10 + 6 − (−7)</a:t>
            </a:r>
          </a:p>
        </p:txBody>
      </p:sp>
      <p:sp>
        <p:nvSpPr>
          <p:cNvPr id="4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Solve all four.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M10-IA</a:t>
            </a:r>
          </a:p>
        </p:txBody>
      </p:sp>
      <p:sp>
        <p:nvSpPr>
          <p:cNvPr id="7" name="Rectangle 6"/>
          <p:cNvSpPr/>
          <p:nvPr/>
        </p:nvSpPr>
        <p:spPr>
          <a:xfrm>
            <a:off x="384048"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1.  x + 6 = 23</a:t>
            </a:r>
          </a:p>
        </p:txBody>
      </p:sp>
      <p:sp>
        <p:nvSpPr>
          <p:cNvPr id="9" name="Rectangle 8"/>
          <p:cNvSpPr/>
          <p:nvPr/>
        </p:nvSpPr>
        <p:spPr>
          <a:xfrm>
            <a:off x="7370064" y="149961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52944" y="1773936"/>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2.  5x = 35</a:t>
            </a:r>
          </a:p>
        </p:txBody>
      </p:sp>
      <p:sp>
        <p:nvSpPr>
          <p:cNvPr id="11" name="Rectangle 10"/>
          <p:cNvSpPr/>
          <p:nvPr/>
        </p:nvSpPr>
        <p:spPr>
          <a:xfrm>
            <a:off x="384048"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3.  3x − 4 = 23</a:t>
            </a:r>
          </a:p>
        </p:txBody>
      </p:sp>
      <p:sp>
        <p:nvSpPr>
          <p:cNvPr id="13" name="Rectangle 12"/>
          <p:cNvSpPr/>
          <p:nvPr/>
        </p:nvSpPr>
        <p:spPr>
          <a:xfrm>
            <a:off x="7370064" y="4517136"/>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52944" y="4791455"/>
            <a:ext cx="6446520" cy="1005840"/>
          </a:xfrm>
          <a:prstGeom prst="rect">
            <a:avLst/>
          </a:prstGeom>
          <a:noFill/>
        </p:spPr>
        <p:txBody>
          <a:bodyPr wrap="square" lIns="54864" rIns="54864" tIns="22860" bIns="22860">
            <a:spAutoFit/>
          </a:bodyPr>
          <a:lstStyle/>
          <a:p>
            <a:pPr>
              <a:lnSpc>
                <a:spcPts val="3045"/>
              </a:lnSpc>
              <a:spcBef>
                <a:spcPts val="0"/>
              </a:spcBef>
              <a:spcAft>
                <a:spcPts val="0"/>
              </a:spcAft>
              <a:defRPr sz="2900" b="1">
                <a:solidFill>
                  <a:srgbClr val="182B3A"/>
                </a:solidFill>
                <a:latin typeface="Arial"/>
              </a:defRPr>
            </a:pPr>
            <a:r>
              <a:t>4.  2(x + 3) = x + 14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Simplify first, then keep both sides equal.</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balance</a:t>
            </a:r>
          </a:p>
        </p:txBody>
      </p:sp>
      <p:cxnSp>
        <p:nvCxnSpPr>
          <p:cNvPr id="15" name="Connector 14"/>
          <p:cNvCxnSpPr/>
          <p:nvPr/>
        </p:nvCxnSpPr>
        <p:spPr>
          <a:xfrm>
            <a:off x="2633472" y="23774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9377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+ 7</a:t>
            </a:r>
          </a:p>
        </p:txBody>
      </p:sp>
      <p:sp>
        <p:nvSpPr>
          <p:cNvPr id="17" name="TextBox 16"/>
          <p:cNvSpPr txBox="1"/>
          <p:nvPr/>
        </p:nvSpPr>
        <p:spPr>
          <a:xfrm>
            <a:off x="280720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19</a:t>
            </a:r>
          </a:p>
        </p:txBody>
      </p:sp>
      <p:sp>
        <p:nvSpPr>
          <p:cNvPr id="18" name="Rectangle 17"/>
          <p:cNvSpPr/>
          <p:nvPr/>
        </p:nvSpPr>
        <p:spPr>
          <a:xfrm>
            <a:off x="252374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0" name="TextBox 19"/>
          <p:cNvSpPr txBox="1"/>
          <p:nvPr/>
        </p:nvSpPr>
        <p:spPr>
          <a:xfrm>
            <a:off x="49377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− 7</a:t>
            </a:r>
          </a:p>
        </p:txBody>
      </p:sp>
      <p:sp>
        <p:nvSpPr>
          <p:cNvPr id="21" name="TextBox 20"/>
          <p:cNvSpPr txBox="1"/>
          <p:nvPr/>
        </p:nvSpPr>
        <p:spPr>
          <a:xfrm>
            <a:off x="280720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− 7</a:t>
            </a:r>
          </a:p>
        </p:txBody>
      </p:sp>
      <p:sp>
        <p:nvSpPr>
          <p:cNvPr id="22" name="TextBox 21"/>
          <p:cNvSpPr txBox="1"/>
          <p:nvPr/>
        </p:nvSpPr>
        <p:spPr>
          <a:xfrm>
            <a:off x="49377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23" name="TextBox 22"/>
          <p:cNvSpPr txBox="1"/>
          <p:nvPr/>
        </p:nvSpPr>
        <p:spPr>
          <a:xfrm>
            <a:off x="280720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12</a:t>
            </a:r>
          </a:p>
        </p:txBody>
      </p:sp>
      <p:sp>
        <p:nvSpPr>
          <p:cNvPr id="24" name="Rectangle 23"/>
          <p:cNvSpPr/>
          <p:nvPr/>
        </p:nvSpPr>
        <p:spPr>
          <a:xfrm>
            <a:off x="252374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374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26" name="TextBox 25"/>
          <p:cNvSpPr txBox="1"/>
          <p:nvPr/>
        </p:nvSpPr>
        <p:spPr>
          <a:xfrm>
            <a:off x="45720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Do the same operation to both whole sides.</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Undo addition/subtraction before a remaining multiplication or division.</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negative divided by a positive is negative: −12 ÷ 3 = −4.</a:t>
            </a:r>
          </a:p>
        </p:txBody>
      </p:sp>
      <p:sp>
        <p:nvSpPr>
          <p:cNvPr id="27" name="Rectangle 26"/>
          <p:cNvSpPr/>
          <p:nvPr/>
        </p:nvSpPr>
        <p:spPr>
          <a:xfrm>
            <a:off x="498348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Simplify or factorise</a:t>
            </a:r>
          </a:p>
        </p:txBody>
      </p:sp>
      <p:cxnSp>
        <p:nvCxnSpPr>
          <p:cNvPr id="29" name="Connector 28"/>
          <p:cNvCxnSpPr/>
          <p:nvPr/>
        </p:nvCxnSpPr>
        <p:spPr>
          <a:xfrm>
            <a:off x="7296912" y="2377440"/>
            <a:ext cx="0" cy="22128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5721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+ 12</a:t>
            </a:r>
          </a:p>
        </p:txBody>
      </p:sp>
      <p:sp>
        <p:nvSpPr>
          <p:cNvPr id="31" name="TextBox 30"/>
          <p:cNvSpPr txBox="1"/>
          <p:nvPr/>
        </p:nvSpPr>
        <p:spPr>
          <a:xfrm>
            <a:off x="747064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2" name="Rectangle 31"/>
          <p:cNvSpPr/>
          <p:nvPr/>
        </p:nvSpPr>
        <p:spPr>
          <a:xfrm>
            <a:off x="718718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8718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4" name="TextBox 33"/>
          <p:cNvSpPr txBox="1"/>
          <p:nvPr/>
        </p:nvSpPr>
        <p:spPr>
          <a:xfrm>
            <a:off x="5157216" y="272491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6(x + 2)</a:t>
            </a:r>
          </a:p>
        </p:txBody>
      </p:sp>
      <p:sp>
        <p:nvSpPr>
          <p:cNvPr id="35" name="TextBox 34"/>
          <p:cNvSpPr txBox="1"/>
          <p:nvPr/>
        </p:nvSpPr>
        <p:spPr>
          <a:xfrm>
            <a:off x="7470648" y="272491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30</a:t>
            </a:r>
          </a:p>
        </p:txBody>
      </p:sp>
      <p:sp>
        <p:nvSpPr>
          <p:cNvPr id="36" name="Rectangle 35"/>
          <p:cNvSpPr/>
          <p:nvPr/>
        </p:nvSpPr>
        <p:spPr>
          <a:xfrm>
            <a:off x="7187184" y="27249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87184" y="272491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38" name="TextBox 37"/>
          <p:cNvSpPr txBox="1"/>
          <p:nvPr/>
        </p:nvSpPr>
        <p:spPr>
          <a:xfrm>
            <a:off x="5157216" y="309067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6</a:t>
            </a:r>
          </a:p>
        </p:txBody>
      </p:sp>
      <p:sp>
        <p:nvSpPr>
          <p:cNvPr id="39" name="TextBox 38"/>
          <p:cNvSpPr txBox="1"/>
          <p:nvPr/>
        </p:nvSpPr>
        <p:spPr>
          <a:xfrm>
            <a:off x="7470648" y="309067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6</a:t>
            </a:r>
          </a:p>
        </p:txBody>
      </p:sp>
      <p:sp>
        <p:nvSpPr>
          <p:cNvPr id="40" name="TextBox 39"/>
          <p:cNvSpPr txBox="1"/>
          <p:nvPr/>
        </p:nvSpPr>
        <p:spPr>
          <a:xfrm>
            <a:off x="5157216" y="345643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+ 2</a:t>
            </a:r>
          </a:p>
        </p:txBody>
      </p:sp>
      <p:sp>
        <p:nvSpPr>
          <p:cNvPr id="41" name="TextBox 40"/>
          <p:cNvSpPr txBox="1"/>
          <p:nvPr/>
        </p:nvSpPr>
        <p:spPr>
          <a:xfrm>
            <a:off x="7470648" y="345643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42" name="Rectangle 41"/>
          <p:cNvSpPr/>
          <p:nvPr/>
        </p:nvSpPr>
        <p:spPr>
          <a:xfrm>
            <a:off x="7187184" y="34564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87184" y="345643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44" name="TextBox 43"/>
          <p:cNvSpPr txBox="1"/>
          <p:nvPr/>
        </p:nvSpPr>
        <p:spPr>
          <a:xfrm>
            <a:off x="5157216" y="3822191"/>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− 2</a:t>
            </a:r>
          </a:p>
        </p:txBody>
      </p:sp>
      <p:sp>
        <p:nvSpPr>
          <p:cNvPr id="45" name="TextBox 44"/>
          <p:cNvSpPr txBox="1"/>
          <p:nvPr/>
        </p:nvSpPr>
        <p:spPr>
          <a:xfrm>
            <a:off x="7470648" y="3822191"/>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− 2</a:t>
            </a:r>
          </a:p>
        </p:txBody>
      </p:sp>
      <p:sp>
        <p:nvSpPr>
          <p:cNvPr id="46" name="TextBox 45"/>
          <p:cNvSpPr txBox="1"/>
          <p:nvPr/>
        </p:nvSpPr>
        <p:spPr>
          <a:xfrm>
            <a:off x="5157216" y="41879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47" name="TextBox 46"/>
          <p:cNvSpPr txBox="1"/>
          <p:nvPr/>
        </p:nvSpPr>
        <p:spPr>
          <a:xfrm>
            <a:off x="7470648" y="41879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3</a:t>
            </a:r>
          </a:p>
        </p:txBody>
      </p:sp>
      <p:sp>
        <p:nvSpPr>
          <p:cNvPr id="48" name="Rectangle 47"/>
          <p:cNvSpPr/>
          <p:nvPr/>
        </p:nvSpPr>
        <p:spPr>
          <a:xfrm>
            <a:off x="7187184" y="41879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87184" y="41879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0" name="TextBox 49"/>
          <p:cNvSpPr txBox="1"/>
          <p:nvPr/>
        </p:nvSpPr>
        <p:spPr>
          <a:xfrm>
            <a:off x="512064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Collect like terms: 2x + 3x = 5x.</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A common factor belongs to every term: 6x + 12 = 6(x + 2).</a:t>
            </a:r>
          </a:p>
        </p:txBody>
      </p:sp>
      <p:sp>
        <p:nvSpPr>
          <p:cNvPr id="51" name="Rectangle 50"/>
          <p:cNvSpPr/>
          <p:nvPr/>
        </p:nvSpPr>
        <p:spPr>
          <a:xfrm>
            <a:off x="9646920" y="1627632"/>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56648" y="1773936"/>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Choose a short first step</a:t>
            </a:r>
          </a:p>
        </p:txBody>
      </p:sp>
      <p:cxnSp>
        <p:nvCxnSpPr>
          <p:cNvPr id="53" name="Connector 52"/>
          <p:cNvCxnSpPr/>
          <p:nvPr/>
        </p:nvCxnSpPr>
        <p:spPr>
          <a:xfrm>
            <a:off x="11960352" y="2377440"/>
            <a:ext cx="0" cy="18470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820656" y="235915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3(x + 4)</a:t>
            </a:r>
          </a:p>
        </p:txBody>
      </p:sp>
      <p:sp>
        <p:nvSpPr>
          <p:cNvPr id="55" name="TextBox 54"/>
          <p:cNvSpPr txBox="1"/>
          <p:nvPr/>
        </p:nvSpPr>
        <p:spPr>
          <a:xfrm>
            <a:off x="12134088" y="235915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27</a:t>
            </a:r>
          </a:p>
        </p:txBody>
      </p:sp>
      <p:sp>
        <p:nvSpPr>
          <p:cNvPr id="56" name="Rectangle 55"/>
          <p:cNvSpPr/>
          <p:nvPr/>
        </p:nvSpPr>
        <p:spPr>
          <a:xfrm>
            <a:off x="11850624" y="23591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50624" y="235915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58" name="TextBox 57"/>
          <p:cNvSpPr txBox="1"/>
          <p:nvPr/>
        </p:nvSpPr>
        <p:spPr>
          <a:xfrm>
            <a:off x="9820656" y="272491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3</a:t>
            </a:r>
          </a:p>
        </p:txBody>
      </p:sp>
      <p:sp>
        <p:nvSpPr>
          <p:cNvPr id="59" name="TextBox 58"/>
          <p:cNvSpPr txBox="1"/>
          <p:nvPr/>
        </p:nvSpPr>
        <p:spPr>
          <a:xfrm>
            <a:off x="12134088" y="272491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3</a:t>
            </a:r>
          </a:p>
        </p:txBody>
      </p:sp>
      <p:sp>
        <p:nvSpPr>
          <p:cNvPr id="60" name="TextBox 59"/>
          <p:cNvSpPr txBox="1"/>
          <p:nvPr/>
        </p:nvSpPr>
        <p:spPr>
          <a:xfrm>
            <a:off x="9820656" y="3090672"/>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 + 4</a:t>
            </a:r>
          </a:p>
        </p:txBody>
      </p:sp>
      <p:sp>
        <p:nvSpPr>
          <p:cNvPr id="61" name="TextBox 60"/>
          <p:cNvSpPr txBox="1"/>
          <p:nvPr/>
        </p:nvSpPr>
        <p:spPr>
          <a:xfrm>
            <a:off x="12134088" y="3090672"/>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9</a:t>
            </a:r>
          </a:p>
        </p:txBody>
      </p:sp>
      <p:sp>
        <p:nvSpPr>
          <p:cNvPr id="62" name="Rectangle 61"/>
          <p:cNvSpPr/>
          <p:nvPr/>
        </p:nvSpPr>
        <p:spPr>
          <a:xfrm>
            <a:off x="11850624" y="30906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50624" y="3090672"/>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64" name="TextBox 63"/>
          <p:cNvSpPr txBox="1"/>
          <p:nvPr/>
        </p:nvSpPr>
        <p:spPr>
          <a:xfrm>
            <a:off x="9820656" y="3456432"/>
            <a:ext cx="1984248" cy="320040"/>
          </a:xfrm>
          <a:prstGeom prst="rect">
            <a:avLst/>
          </a:prstGeom>
          <a:noFill/>
        </p:spPr>
        <p:txBody>
          <a:bodyPr wrap="none" lIns="0" rIns="0" tIns="0" bIns="0">
            <a:spAutoFit/>
          </a:bodyPr>
          <a:lstStyle/>
          <a:p>
            <a:pPr algn="r">
              <a:lnSpc>
                <a:spcPts val="2016"/>
              </a:lnSpc>
              <a:spcAft>
                <a:spcPts val="0"/>
              </a:spcAft>
              <a:defRPr sz="1800" b="0">
                <a:solidFill>
                  <a:srgbClr val="3559A2"/>
                </a:solidFill>
                <a:latin typeface="Arial"/>
              </a:defRPr>
            </a:pPr>
            <a:r>
              <a:t>− 4</a:t>
            </a:r>
          </a:p>
        </p:txBody>
      </p:sp>
      <p:sp>
        <p:nvSpPr>
          <p:cNvPr id="65" name="TextBox 64"/>
          <p:cNvSpPr txBox="1"/>
          <p:nvPr/>
        </p:nvSpPr>
        <p:spPr>
          <a:xfrm>
            <a:off x="12134088" y="3456432"/>
            <a:ext cx="1965960" cy="320040"/>
          </a:xfrm>
          <a:prstGeom prst="rect">
            <a:avLst/>
          </a:prstGeom>
          <a:noFill/>
        </p:spPr>
        <p:txBody>
          <a:bodyPr wrap="none" lIns="0" rIns="0" tIns="0" bIns="0">
            <a:spAutoFit/>
          </a:bodyPr>
          <a:lstStyle/>
          <a:p>
            <a:pPr algn="l">
              <a:lnSpc>
                <a:spcPts val="2016"/>
              </a:lnSpc>
              <a:spcAft>
                <a:spcPts val="0"/>
              </a:spcAft>
              <a:defRPr sz="1800" b="0">
                <a:solidFill>
                  <a:srgbClr val="3559A2"/>
                </a:solidFill>
                <a:latin typeface="Arial"/>
              </a:defRPr>
            </a:pPr>
            <a:r>
              <a:t>− 4</a:t>
            </a:r>
          </a:p>
        </p:txBody>
      </p:sp>
      <p:sp>
        <p:nvSpPr>
          <p:cNvPr id="66" name="TextBox 65"/>
          <p:cNvSpPr txBox="1"/>
          <p:nvPr/>
        </p:nvSpPr>
        <p:spPr>
          <a:xfrm>
            <a:off x="9820656" y="3822191"/>
            <a:ext cx="1984248" cy="320040"/>
          </a:xfrm>
          <a:prstGeom prst="rect">
            <a:avLst/>
          </a:prstGeom>
          <a:noFill/>
        </p:spPr>
        <p:txBody>
          <a:bodyPr wrap="none" lIns="0" rIns="0" tIns="0" bIns="0">
            <a:spAutoFit/>
          </a:bodyPr>
          <a:lstStyle/>
          <a:p>
            <a:pPr algn="r">
              <a:lnSpc>
                <a:spcPts val="2352"/>
              </a:lnSpc>
              <a:spcAft>
                <a:spcPts val="0"/>
              </a:spcAft>
              <a:defRPr sz="2100" b="0">
                <a:solidFill>
                  <a:srgbClr val="182B3A"/>
                </a:solidFill>
                <a:latin typeface="Arial"/>
              </a:defRPr>
            </a:pPr>
            <a:r>
              <a:t>x</a:t>
            </a:r>
          </a:p>
        </p:txBody>
      </p:sp>
      <p:sp>
        <p:nvSpPr>
          <p:cNvPr id="67" name="TextBox 66"/>
          <p:cNvSpPr txBox="1"/>
          <p:nvPr/>
        </p:nvSpPr>
        <p:spPr>
          <a:xfrm>
            <a:off x="12134088" y="3822191"/>
            <a:ext cx="1965960" cy="320040"/>
          </a:xfrm>
          <a:prstGeom prst="rect">
            <a:avLst/>
          </a:prstGeom>
          <a:noFill/>
        </p:spPr>
        <p:txBody>
          <a:bodyPr wrap="none" lIns="0" rIns="0" tIns="0" bIns="0">
            <a:spAutoFit/>
          </a:bodyPr>
          <a:lstStyle/>
          <a:p>
            <a:pPr algn="l">
              <a:lnSpc>
                <a:spcPts val="2352"/>
              </a:lnSpc>
              <a:spcAft>
                <a:spcPts val="0"/>
              </a:spcAft>
              <a:defRPr sz="2100" b="0">
                <a:solidFill>
                  <a:srgbClr val="182B3A"/>
                </a:solidFill>
                <a:latin typeface="Arial"/>
              </a:defRPr>
            </a:pPr>
            <a:r>
              <a:t>5</a:t>
            </a:r>
          </a:p>
        </p:txBody>
      </p:sp>
      <p:sp>
        <p:nvSpPr>
          <p:cNvPr id="68" name="Rectangle 67"/>
          <p:cNvSpPr/>
          <p:nvPr/>
        </p:nvSpPr>
        <p:spPr>
          <a:xfrm>
            <a:off x="11850624" y="3822191"/>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50624" y="3822191"/>
            <a:ext cx="219456" cy="274320"/>
          </a:xfrm>
          <a:prstGeom prst="rect">
            <a:avLst/>
          </a:prstGeom>
          <a:noFill/>
        </p:spPr>
        <p:txBody>
          <a:bodyPr wrap="none" lIns="0" rIns="0" tIns="0" bIns="0">
            <a:spAutoFit/>
          </a:bodyPr>
          <a:lstStyle/>
          <a:p>
            <a:pPr algn="ctr">
              <a:lnSpc>
                <a:spcPts val="2352"/>
              </a:lnSpc>
              <a:spcAft>
                <a:spcPts val="0"/>
              </a:spcAft>
              <a:defRPr sz="2100" b="0">
                <a:solidFill>
                  <a:srgbClr val="182B3A"/>
                </a:solidFill>
                <a:latin typeface="Arial"/>
              </a:defRPr>
            </a:pPr>
            <a:r>
              <a:t>=</a:t>
            </a:r>
          </a:p>
        </p:txBody>
      </p:sp>
      <p:sp>
        <p:nvSpPr>
          <p:cNvPr id="70" name="TextBox 69"/>
          <p:cNvSpPr txBox="1"/>
          <p:nvPr/>
        </p:nvSpPr>
        <p:spPr>
          <a:xfrm>
            <a:off x="9784080" y="4681728"/>
            <a:ext cx="4352544" cy="277063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Here, divide by 3 before expanding.</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With x on both sides, subtract the smaller x-term first when convenient.</a:t>
            </a:r>
          </a:p>
          <a:p>
            <a:pPr>
              <a:lnSpc>
                <a:spcPts val="1995"/>
              </a:lnSpc>
              <a:spcBef>
                <a:spcPts val="0"/>
              </a:spcBef>
              <a:spcAft>
                <a:spcPts val="0"/>
              </a:spcAft>
              <a:defRPr sz="1900" b="0">
                <a:solidFill>
                  <a:srgbClr val="182B3A"/>
                </a:solidFill>
                <a:latin typeface="Arial"/>
              </a:defRPr>
            </a:pPr>
          </a:p>
          <a:p>
            <a:pPr>
              <a:lnSpc>
                <a:spcPts val="1995"/>
              </a:lnSpc>
              <a:spcBef>
                <a:spcPts val="0"/>
              </a:spcBef>
              <a:spcAft>
                <a:spcPts val="0"/>
              </a:spcAft>
              <a:defRPr sz="1900" b="0">
                <a:solidFill>
                  <a:srgbClr val="182B3A"/>
                </a:solidFill>
                <a:latin typeface="Arial"/>
              </a:defRPr>
            </a:pPr>
            <a:r>
              <a:t>If expanding is needed, multiply every bracket term. Check in the original equation.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Follow the working down each side of the line.</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x − 7 = 5</a:t>
            </a:r>
          </a:p>
        </p:txBody>
      </p:sp>
      <p:cxnSp>
        <p:nvCxnSpPr>
          <p:cNvPr id="15" name="Connector 14"/>
          <p:cNvCxnSpPr/>
          <p:nvPr/>
        </p:nvCxnSpPr>
        <p:spPr>
          <a:xfrm>
            <a:off x="2624328" y="2487168"/>
            <a:ext cx="0" cy="122529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6634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 − 7</a:t>
            </a:r>
          </a:p>
        </p:txBody>
      </p:sp>
      <p:sp>
        <p:nvSpPr>
          <p:cNvPr id="17" name="TextBox 16"/>
          <p:cNvSpPr txBox="1"/>
          <p:nvPr/>
        </p:nvSpPr>
        <p:spPr>
          <a:xfrm>
            <a:off x="279806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5</a:t>
            </a:r>
          </a:p>
        </p:txBody>
      </p:sp>
      <p:sp>
        <p:nvSpPr>
          <p:cNvPr id="18" name="Rectangle 17"/>
          <p:cNvSpPr/>
          <p:nvPr/>
        </p:nvSpPr>
        <p:spPr>
          <a:xfrm>
            <a:off x="251460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0" name="TextBox 19"/>
          <p:cNvSpPr txBox="1"/>
          <p:nvPr/>
        </p:nvSpPr>
        <p:spPr>
          <a:xfrm>
            <a:off x="46634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+ 7</a:t>
            </a:r>
          </a:p>
        </p:txBody>
      </p:sp>
      <p:sp>
        <p:nvSpPr>
          <p:cNvPr id="21" name="TextBox 20"/>
          <p:cNvSpPr txBox="1"/>
          <p:nvPr/>
        </p:nvSpPr>
        <p:spPr>
          <a:xfrm>
            <a:off x="279806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+ 7</a:t>
            </a:r>
          </a:p>
        </p:txBody>
      </p:sp>
      <p:sp>
        <p:nvSpPr>
          <p:cNvPr id="22" name="TextBox 21"/>
          <p:cNvSpPr txBox="1"/>
          <p:nvPr/>
        </p:nvSpPr>
        <p:spPr>
          <a:xfrm>
            <a:off x="46634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23" name="TextBox 22"/>
          <p:cNvSpPr txBox="1"/>
          <p:nvPr/>
        </p:nvSpPr>
        <p:spPr>
          <a:xfrm>
            <a:off x="279806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12</a:t>
            </a:r>
          </a:p>
        </p:txBody>
      </p:sp>
      <p:sp>
        <p:nvSpPr>
          <p:cNvPr id="24" name="Rectangle 23"/>
          <p:cNvSpPr/>
          <p:nvPr/>
        </p:nvSpPr>
        <p:spPr>
          <a:xfrm>
            <a:off x="251460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26" name="TextBox 25"/>
          <p:cNvSpPr txBox="1"/>
          <p:nvPr/>
        </p:nvSpPr>
        <p:spPr>
          <a:xfrm>
            <a:off x="42976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12, left side = 5 and right side = 5.</a:t>
            </a:r>
          </a:p>
        </p:txBody>
      </p:sp>
      <p:sp>
        <p:nvSpPr>
          <p:cNvPr id="27" name="Rectangle 26"/>
          <p:cNvSpPr/>
          <p:nvPr/>
        </p:nvSpPr>
        <p:spPr>
          <a:xfrm>
            <a:off x="498348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9320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4x + 3 = 31</a:t>
            </a:r>
          </a:p>
        </p:txBody>
      </p:sp>
      <p:cxnSp>
        <p:nvCxnSpPr>
          <p:cNvPr id="29" name="Connector 28"/>
          <p:cNvCxnSpPr/>
          <p:nvPr/>
        </p:nvCxnSpPr>
        <p:spPr>
          <a:xfrm>
            <a:off x="7287768" y="2487168"/>
            <a:ext cx="0" cy="20299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12978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 + 3</a:t>
            </a:r>
          </a:p>
        </p:txBody>
      </p:sp>
      <p:sp>
        <p:nvSpPr>
          <p:cNvPr id="31" name="TextBox 30"/>
          <p:cNvSpPr txBox="1"/>
          <p:nvPr/>
        </p:nvSpPr>
        <p:spPr>
          <a:xfrm>
            <a:off x="746150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31</a:t>
            </a:r>
          </a:p>
        </p:txBody>
      </p:sp>
      <p:sp>
        <p:nvSpPr>
          <p:cNvPr id="32" name="Rectangle 31"/>
          <p:cNvSpPr/>
          <p:nvPr/>
        </p:nvSpPr>
        <p:spPr>
          <a:xfrm>
            <a:off x="717804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7804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34" name="TextBox 33"/>
          <p:cNvSpPr txBox="1"/>
          <p:nvPr/>
        </p:nvSpPr>
        <p:spPr>
          <a:xfrm>
            <a:off x="5129784" y="287121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− 3</a:t>
            </a:r>
          </a:p>
        </p:txBody>
      </p:sp>
      <p:sp>
        <p:nvSpPr>
          <p:cNvPr id="35" name="TextBox 34"/>
          <p:cNvSpPr txBox="1"/>
          <p:nvPr/>
        </p:nvSpPr>
        <p:spPr>
          <a:xfrm>
            <a:off x="7461504" y="287121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− 3</a:t>
            </a:r>
          </a:p>
        </p:txBody>
      </p:sp>
      <p:sp>
        <p:nvSpPr>
          <p:cNvPr id="36" name="TextBox 35"/>
          <p:cNvSpPr txBox="1"/>
          <p:nvPr/>
        </p:nvSpPr>
        <p:spPr>
          <a:xfrm>
            <a:off x="5129784" y="327355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4x</a:t>
            </a:r>
          </a:p>
        </p:txBody>
      </p:sp>
      <p:sp>
        <p:nvSpPr>
          <p:cNvPr id="37" name="TextBox 36"/>
          <p:cNvSpPr txBox="1"/>
          <p:nvPr/>
        </p:nvSpPr>
        <p:spPr>
          <a:xfrm>
            <a:off x="7461504" y="327355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28</a:t>
            </a:r>
          </a:p>
        </p:txBody>
      </p:sp>
      <p:sp>
        <p:nvSpPr>
          <p:cNvPr id="38" name="Rectangle 37"/>
          <p:cNvSpPr/>
          <p:nvPr/>
        </p:nvSpPr>
        <p:spPr>
          <a:xfrm>
            <a:off x="7178040" y="3273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78040" y="327355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0" name="TextBox 39"/>
          <p:cNvSpPr txBox="1"/>
          <p:nvPr/>
        </p:nvSpPr>
        <p:spPr>
          <a:xfrm>
            <a:off x="5129784" y="3675888"/>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4</a:t>
            </a:r>
          </a:p>
        </p:txBody>
      </p:sp>
      <p:sp>
        <p:nvSpPr>
          <p:cNvPr id="41" name="TextBox 40"/>
          <p:cNvSpPr txBox="1"/>
          <p:nvPr/>
        </p:nvSpPr>
        <p:spPr>
          <a:xfrm>
            <a:off x="7461504" y="3675888"/>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4</a:t>
            </a:r>
          </a:p>
        </p:txBody>
      </p:sp>
      <p:sp>
        <p:nvSpPr>
          <p:cNvPr id="42" name="TextBox 41"/>
          <p:cNvSpPr txBox="1"/>
          <p:nvPr/>
        </p:nvSpPr>
        <p:spPr>
          <a:xfrm>
            <a:off x="5129784" y="4078224"/>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43" name="TextBox 42"/>
          <p:cNvSpPr txBox="1"/>
          <p:nvPr/>
        </p:nvSpPr>
        <p:spPr>
          <a:xfrm>
            <a:off x="7461504" y="4078224"/>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7</a:t>
            </a:r>
          </a:p>
        </p:txBody>
      </p:sp>
      <p:sp>
        <p:nvSpPr>
          <p:cNvPr id="44" name="Rectangle 43"/>
          <p:cNvSpPr/>
          <p:nvPr/>
        </p:nvSpPr>
        <p:spPr>
          <a:xfrm>
            <a:off x="7178040" y="4078224"/>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78040" y="4078224"/>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46" name="TextBox 45"/>
          <p:cNvSpPr txBox="1"/>
          <p:nvPr/>
        </p:nvSpPr>
        <p:spPr>
          <a:xfrm>
            <a:off x="509320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7, left side = 31 and right side = 31.</a:t>
            </a:r>
          </a:p>
        </p:txBody>
      </p:sp>
      <p:sp>
        <p:nvSpPr>
          <p:cNvPr id="47" name="Rectangle 46"/>
          <p:cNvSpPr/>
          <p:nvPr/>
        </p:nvSpPr>
        <p:spPr>
          <a:xfrm>
            <a:off x="9646920" y="1609344"/>
            <a:ext cx="4631436" cy="6035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56648" y="1773936"/>
            <a:ext cx="4389120" cy="457200"/>
          </a:xfrm>
          <a:prstGeom prst="rect">
            <a:avLst/>
          </a:prstGeom>
          <a:noFill/>
        </p:spPr>
        <p:txBody>
          <a:bodyPr wrap="square" lIns="54864" rIns="54864" tIns="22860" bIns="22860">
            <a:spAutoFit/>
          </a:bodyPr>
          <a:lstStyle/>
          <a:p>
            <a:pPr>
              <a:lnSpc>
                <a:spcPts val="2625"/>
              </a:lnSpc>
              <a:spcBef>
                <a:spcPts val="0"/>
              </a:spcBef>
              <a:spcAft>
                <a:spcPts val="0"/>
              </a:spcAft>
              <a:defRPr sz="2500" b="1">
                <a:solidFill>
                  <a:srgbClr val="182B3A"/>
                </a:solidFill>
                <a:latin typeface="Arial"/>
              </a:defRPr>
            </a:pPr>
            <a:r>
              <a:t>3(x + 2) = x + 24</a:t>
            </a:r>
          </a:p>
        </p:txBody>
      </p:sp>
      <p:cxnSp>
        <p:nvCxnSpPr>
          <p:cNvPr id="49" name="Connector 48"/>
          <p:cNvCxnSpPr/>
          <p:nvPr/>
        </p:nvCxnSpPr>
        <p:spPr>
          <a:xfrm>
            <a:off x="11951208" y="2487168"/>
            <a:ext cx="0" cy="3236976"/>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793224" y="246888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+ 2)</a:t>
            </a:r>
          </a:p>
        </p:txBody>
      </p:sp>
      <p:sp>
        <p:nvSpPr>
          <p:cNvPr id="51" name="TextBox 50"/>
          <p:cNvSpPr txBox="1"/>
          <p:nvPr/>
        </p:nvSpPr>
        <p:spPr>
          <a:xfrm>
            <a:off x="12124944" y="246888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2" name="Rectangle 51"/>
          <p:cNvSpPr/>
          <p:nvPr/>
        </p:nvSpPr>
        <p:spPr>
          <a:xfrm>
            <a:off x="11841480" y="246888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841480" y="246888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4" name="TextBox 53"/>
          <p:cNvSpPr txBox="1"/>
          <p:nvPr/>
        </p:nvSpPr>
        <p:spPr>
          <a:xfrm>
            <a:off x="9793224" y="2871216"/>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3x + 6</a:t>
            </a:r>
          </a:p>
        </p:txBody>
      </p:sp>
      <p:sp>
        <p:nvSpPr>
          <p:cNvPr id="55" name="TextBox 54"/>
          <p:cNvSpPr txBox="1"/>
          <p:nvPr/>
        </p:nvSpPr>
        <p:spPr>
          <a:xfrm>
            <a:off x="12124944" y="2871216"/>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x + 24</a:t>
            </a:r>
          </a:p>
        </p:txBody>
      </p:sp>
      <p:sp>
        <p:nvSpPr>
          <p:cNvPr id="56" name="Rectangle 55"/>
          <p:cNvSpPr/>
          <p:nvPr/>
        </p:nvSpPr>
        <p:spPr>
          <a:xfrm>
            <a:off x="11841480" y="28712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841480" y="2871216"/>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58" name="TextBox 57"/>
          <p:cNvSpPr txBox="1"/>
          <p:nvPr/>
        </p:nvSpPr>
        <p:spPr>
          <a:xfrm>
            <a:off x="9793224" y="3273552"/>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x</a:t>
            </a:r>
          </a:p>
        </p:txBody>
      </p:sp>
      <p:sp>
        <p:nvSpPr>
          <p:cNvPr id="59" name="TextBox 58"/>
          <p:cNvSpPr txBox="1"/>
          <p:nvPr/>
        </p:nvSpPr>
        <p:spPr>
          <a:xfrm>
            <a:off x="12124944" y="3273552"/>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x</a:t>
            </a:r>
          </a:p>
        </p:txBody>
      </p:sp>
      <p:sp>
        <p:nvSpPr>
          <p:cNvPr id="60" name="TextBox 59"/>
          <p:cNvSpPr txBox="1"/>
          <p:nvPr/>
        </p:nvSpPr>
        <p:spPr>
          <a:xfrm>
            <a:off x="9793224" y="3675888"/>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 + 6</a:t>
            </a:r>
          </a:p>
        </p:txBody>
      </p:sp>
      <p:sp>
        <p:nvSpPr>
          <p:cNvPr id="61" name="TextBox 60"/>
          <p:cNvSpPr txBox="1"/>
          <p:nvPr/>
        </p:nvSpPr>
        <p:spPr>
          <a:xfrm>
            <a:off x="12124944" y="3675888"/>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24</a:t>
            </a:r>
          </a:p>
        </p:txBody>
      </p:sp>
      <p:sp>
        <p:nvSpPr>
          <p:cNvPr id="62" name="Rectangle 61"/>
          <p:cNvSpPr/>
          <p:nvPr/>
        </p:nvSpPr>
        <p:spPr>
          <a:xfrm>
            <a:off x="11841480" y="3675888"/>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1841480" y="3675888"/>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64" name="TextBox 63"/>
          <p:cNvSpPr txBox="1"/>
          <p:nvPr/>
        </p:nvSpPr>
        <p:spPr>
          <a:xfrm>
            <a:off x="9793224" y="4078224"/>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− 6</a:t>
            </a:r>
          </a:p>
        </p:txBody>
      </p:sp>
      <p:sp>
        <p:nvSpPr>
          <p:cNvPr id="65" name="TextBox 64"/>
          <p:cNvSpPr txBox="1"/>
          <p:nvPr/>
        </p:nvSpPr>
        <p:spPr>
          <a:xfrm>
            <a:off x="12124944" y="4078224"/>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− 6</a:t>
            </a:r>
          </a:p>
        </p:txBody>
      </p:sp>
      <p:sp>
        <p:nvSpPr>
          <p:cNvPr id="66" name="TextBox 65"/>
          <p:cNvSpPr txBox="1"/>
          <p:nvPr/>
        </p:nvSpPr>
        <p:spPr>
          <a:xfrm>
            <a:off x="9793224" y="4480560"/>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2x</a:t>
            </a:r>
          </a:p>
        </p:txBody>
      </p:sp>
      <p:sp>
        <p:nvSpPr>
          <p:cNvPr id="67" name="TextBox 66"/>
          <p:cNvSpPr txBox="1"/>
          <p:nvPr/>
        </p:nvSpPr>
        <p:spPr>
          <a:xfrm>
            <a:off x="12124944" y="4480560"/>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18</a:t>
            </a:r>
          </a:p>
        </p:txBody>
      </p:sp>
      <p:sp>
        <p:nvSpPr>
          <p:cNvPr id="68" name="Rectangle 67"/>
          <p:cNvSpPr/>
          <p:nvPr/>
        </p:nvSpPr>
        <p:spPr>
          <a:xfrm>
            <a:off x="11841480" y="4480560"/>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841480" y="4480560"/>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0" name="TextBox 69"/>
          <p:cNvSpPr txBox="1"/>
          <p:nvPr/>
        </p:nvSpPr>
        <p:spPr>
          <a:xfrm>
            <a:off x="9793224" y="4882896"/>
            <a:ext cx="2002536" cy="320040"/>
          </a:xfrm>
          <a:prstGeom prst="rect">
            <a:avLst/>
          </a:prstGeom>
          <a:noFill/>
        </p:spPr>
        <p:txBody>
          <a:bodyPr wrap="none" lIns="0" rIns="0" tIns="0" bIns="0">
            <a:spAutoFit/>
          </a:bodyPr>
          <a:lstStyle/>
          <a:p>
            <a:pPr algn="r">
              <a:lnSpc>
                <a:spcPts val="2128"/>
              </a:lnSpc>
              <a:spcAft>
                <a:spcPts val="0"/>
              </a:spcAft>
              <a:defRPr sz="1900" b="0">
                <a:solidFill>
                  <a:srgbClr val="3559A2"/>
                </a:solidFill>
                <a:latin typeface="Arial"/>
              </a:defRPr>
            </a:pPr>
            <a:r>
              <a:t>÷ 2</a:t>
            </a:r>
          </a:p>
        </p:txBody>
      </p:sp>
      <p:sp>
        <p:nvSpPr>
          <p:cNvPr id="71" name="TextBox 70"/>
          <p:cNvSpPr txBox="1"/>
          <p:nvPr/>
        </p:nvSpPr>
        <p:spPr>
          <a:xfrm>
            <a:off x="12124944" y="4882896"/>
            <a:ext cx="1984248" cy="320040"/>
          </a:xfrm>
          <a:prstGeom prst="rect">
            <a:avLst/>
          </a:prstGeom>
          <a:noFill/>
        </p:spPr>
        <p:txBody>
          <a:bodyPr wrap="none" lIns="0" rIns="0" tIns="0" bIns="0">
            <a:spAutoFit/>
          </a:bodyPr>
          <a:lstStyle/>
          <a:p>
            <a:pPr algn="l">
              <a:lnSpc>
                <a:spcPts val="2128"/>
              </a:lnSpc>
              <a:spcAft>
                <a:spcPts val="0"/>
              </a:spcAft>
              <a:defRPr sz="1900" b="0">
                <a:solidFill>
                  <a:srgbClr val="3559A2"/>
                </a:solidFill>
                <a:latin typeface="Arial"/>
              </a:defRPr>
            </a:pPr>
            <a:r>
              <a:t>÷ 2</a:t>
            </a:r>
          </a:p>
        </p:txBody>
      </p:sp>
      <p:sp>
        <p:nvSpPr>
          <p:cNvPr id="72" name="TextBox 71"/>
          <p:cNvSpPr txBox="1"/>
          <p:nvPr/>
        </p:nvSpPr>
        <p:spPr>
          <a:xfrm>
            <a:off x="9793224" y="5285232"/>
            <a:ext cx="2002536" cy="320040"/>
          </a:xfrm>
          <a:prstGeom prst="rect">
            <a:avLst/>
          </a:prstGeom>
          <a:noFill/>
        </p:spPr>
        <p:txBody>
          <a:bodyPr wrap="none" lIns="0" rIns="0" tIns="0" bIns="0">
            <a:spAutoFit/>
          </a:bodyPr>
          <a:lstStyle/>
          <a:p>
            <a:pPr algn="r">
              <a:lnSpc>
                <a:spcPts val="2464"/>
              </a:lnSpc>
              <a:spcAft>
                <a:spcPts val="0"/>
              </a:spcAft>
              <a:defRPr sz="2200" b="0">
                <a:solidFill>
                  <a:srgbClr val="182B3A"/>
                </a:solidFill>
                <a:latin typeface="Arial"/>
              </a:defRPr>
            </a:pPr>
            <a:r>
              <a:t>x</a:t>
            </a:r>
          </a:p>
        </p:txBody>
      </p:sp>
      <p:sp>
        <p:nvSpPr>
          <p:cNvPr id="73" name="TextBox 72"/>
          <p:cNvSpPr txBox="1"/>
          <p:nvPr/>
        </p:nvSpPr>
        <p:spPr>
          <a:xfrm>
            <a:off x="12124944" y="5285232"/>
            <a:ext cx="1984248" cy="320040"/>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9</a:t>
            </a:r>
          </a:p>
        </p:txBody>
      </p:sp>
      <p:sp>
        <p:nvSpPr>
          <p:cNvPr id="74" name="Rectangle 73"/>
          <p:cNvSpPr/>
          <p:nvPr/>
        </p:nvSpPr>
        <p:spPr>
          <a:xfrm>
            <a:off x="11841480" y="528523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1841480" y="5285232"/>
            <a:ext cx="219456" cy="274320"/>
          </a:xfrm>
          <a:prstGeom prst="rect">
            <a:avLst/>
          </a:prstGeom>
          <a:noFill/>
        </p:spPr>
        <p:txBody>
          <a:bodyPr wrap="none" lIns="0" rIns="0" tIns="0" bIns="0">
            <a:spAutoFit/>
          </a:bodyPr>
          <a:lstStyle/>
          <a:p>
            <a:pPr algn="ctr">
              <a:lnSpc>
                <a:spcPts val="2464"/>
              </a:lnSpc>
              <a:spcAft>
                <a:spcPts val="0"/>
              </a:spcAft>
              <a:defRPr sz="2200" b="0">
                <a:solidFill>
                  <a:srgbClr val="182B3A"/>
                </a:solidFill>
                <a:latin typeface="Arial"/>
              </a:defRPr>
            </a:pPr>
            <a:r>
              <a:t>=</a:t>
            </a:r>
          </a:p>
        </p:txBody>
      </p:sp>
      <p:sp>
        <p:nvSpPr>
          <p:cNvPr id="76" name="TextBox 75"/>
          <p:cNvSpPr txBox="1"/>
          <p:nvPr/>
        </p:nvSpPr>
        <p:spPr>
          <a:xfrm>
            <a:off x="9756648" y="6656832"/>
            <a:ext cx="4389120" cy="86868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At x = 9, left side = 33 and right side = 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x − 8 = 15</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+ 7 = 37</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3(x + 4) = x + 20</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Copy the centre line and show each operation.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5943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81912" cy="4114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Equation</a:t>
            </a:r>
          </a:p>
        </p:txBody>
      </p:sp>
      <p:sp>
        <p:nvSpPr>
          <p:cNvPr id="15" name="Rectangle 14"/>
          <p:cNvSpPr/>
          <p:nvPr/>
        </p:nvSpPr>
        <p:spPr>
          <a:xfrm>
            <a:off x="2121408"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12848"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6x = -18</a:t>
            </a:r>
          </a:p>
        </p:txBody>
      </p:sp>
      <p:sp>
        <p:nvSpPr>
          <p:cNvPr id="17" name="Rectangle 16"/>
          <p:cNvSpPr/>
          <p:nvPr/>
        </p:nvSpPr>
        <p:spPr>
          <a:xfrm>
            <a:off x="6184392"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5832"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4x − 9 = 23</a:t>
            </a:r>
          </a:p>
        </p:txBody>
      </p:sp>
      <p:sp>
        <p:nvSpPr>
          <p:cNvPr id="19" name="Rectangle 18"/>
          <p:cNvSpPr/>
          <p:nvPr/>
        </p:nvSpPr>
        <p:spPr>
          <a:xfrm>
            <a:off x="10247376" y="1581912"/>
            <a:ext cx="4040123" cy="5943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8816" y="1673352"/>
            <a:ext cx="3834384" cy="43891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5(x − 2) = 2x + 23</a:t>
            </a:r>
          </a:p>
        </p:txBody>
      </p:sp>
      <p:sp>
        <p:nvSpPr>
          <p:cNvPr id="21" name="Rectangle 20"/>
          <p:cNvSpPr/>
          <p:nvPr/>
        </p:nvSpPr>
        <p:spPr>
          <a:xfrm>
            <a:off x="320040" y="2176272"/>
            <a:ext cx="1773936"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286000"/>
            <a:ext cx="1581912" cy="77724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Equation</a:t>
            </a:r>
          </a:p>
        </p:txBody>
      </p:sp>
      <p:sp>
        <p:nvSpPr>
          <p:cNvPr id="23" name="Rectangle 22"/>
          <p:cNvSpPr/>
          <p:nvPr/>
        </p:nvSpPr>
        <p:spPr>
          <a:xfrm>
            <a:off x="2121408"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12848"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5" name="Rectangle 24"/>
          <p:cNvSpPr/>
          <p:nvPr/>
        </p:nvSpPr>
        <p:spPr>
          <a:xfrm>
            <a:off x="6184392"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75832"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7" name="Rectangle 26"/>
          <p:cNvSpPr/>
          <p:nvPr/>
        </p:nvSpPr>
        <p:spPr>
          <a:xfrm>
            <a:off x="10247376" y="2176272"/>
            <a:ext cx="4040123"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8816" y="2267712"/>
            <a:ext cx="3834384" cy="8046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Collect like terms or factorise if useful. Copy the equation with a line through the equals sign.</a:t>
            </a:r>
          </a:p>
        </p:txBody>
      </p:sp>
      <p:sp>
        <p:nvSpPr>
          <p:cNvPr id="29" name="Rectangle 28"/>
          <p:cNvSpPr/>
          <p:nvPr/>
        </p:nvSpPr>
        <p:spPr>
          <a:xfrm>
            <a:off x="320040" y="3136391"/>
            <a:ext cx="1773936" cy="1874519"/>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 y="3246120"/>
            <a:ext cx="1581912" cy="1691639"/>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Inverse Operations</a:t>
            </a:r>
          </a:p>
        </p:txBody>
      </p:sp>
      <p:sp>
        <p:nvSpPr>
          <p:cNvPr id="31" name="Rectangle 30"/>
          <p:cNvSpPr/>
          <p:nvPr/>
        </p:nvSpPr>
        <p:spPr>
          <a:xfrm>
            <a:off x="2121408"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12848"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3" name="Connector 32"/>
          <p:cNvCxnSpPr/>
          <p:nvPr/>
        </p:nvCxnSpPr>
        <p:spPr>
          <a:xfrm>
            <a:off x="4152899"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6184392"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5832"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6" name="Connector 35"/>
          <p:cNvCxnSpPr/>
          <p:nvPr/>
        </p:nvCxnSpPr>
        <p:spPr>
          <a:xfrm>
            <a:off x="8215883"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10247376" y="3136391"/>
            <a:ext cx="4040123" cy="1874519"/>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8816" y="3227832"/>
            <a:ext cx="3834384" cy="1719072"/>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Write the same operation on both sides. Choose an operation that makes the equation simpler.</a:t>
            </a:r>
          </a:p>
        </p:txBody>
      </p:sp>
      <p:cxnSp>
        <p:nvCxnSpPr>
          <p:cNvPr id="39" name="Connector 38"/>
          <p:cNvCxnSpPr/>
          <p:nvPr/>
        </p:nvCxnSpPr>
        <p:spPr>
          <a:xfrm>
            <a:off x="12278868" y="4215383"/>
            <a:ext cx="0" cy="685800"/>
          </a:xfrm>
          <a:prstGeom prst="line">
            <a:avLst/>
          </a:prstGeom>
          <a:ln w="15240">
            <a:solidFill>
              <a:srgbClr val="8193A0"/>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320040" y="5010912"/>
            <a:ext cx="1773936" cy="10515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5120640"/>
            <a:ext cx="1581912" cy="8686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Find the Unknown</a:t>
            </a:r>
          </a:p>
        </p:txBody>
      </p:sp>
      <p:sp>
        <p:nvSpPr>
          <p:cNvPr id="42" name="Rectangle 41"/>
          <p:cNvSpPr/>
          <p:nvPr/>
        </p:nvSpPr>
        <p:spPr>
          <a:xfrm>
            <a:off x="2121408"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12848"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4" name="Rectangle 43"/>
          <p:cNvSpPr/>
          <p:nvPr/>
        </p:nvSpPr>
        <p:spPr>
          <a:xfrm>
            <a:off x="6184392"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75832"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6" name="Rectangle 45"/>
          <p:cNvSpPr/>
          <p:nvPr/>
        </p:nvSpPr>
        <p:spPr>
          <a:xfrm>
            <a:off x="10247376" y="5010912"/>
            <a:ext cx="4040123" cy="10515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38816" y="5102351"/>
            <a:ext cx="3834384" cy="896111"/>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Continue until x is alone. Keep the left and right sides balanced.</a:t>
            </a:r>
          </a:p>
        </p:txBody>
      </p:sp>
      <p:sp>
        <p:nvSpPr>
          <p:cNvPr id="48" name="Rectangle 47"/>
          <p:cNvSpPr/>
          <p:nvPr/>
        </p:nvSpPr>
        <p:spPr>
          <a:xfrm>
            <a:off x="320040" y="6062471"/>
            <a:ext cx="1773936" cy="15361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6172199"/>
            <a:ext cx="1581912" cy="135331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Check by Substitution</a:t>
            </a:r>
          </a:p>
        </p:txBody>
      </p:sp>
      <p:sp>
        <p:nvSpPr>
          <p:cNvPr id="50" name="Rectangle 49"/>
          <p:cNvSpPr/>
          <p:nvPr/>
        </p:nvSpPr>
        <p:spPr>
          <a:xfrm>
            <a:off x="2121408"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12848"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2" name="Rectangle 51"/>
          <p:cNvSpPr/>
          <p:nvPr/>
        </p:nvSpPr>
        <p:spPr>
          <a:xfrm>
            <a:off x="6184392"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75832"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4" name="Rectangle 53"/>
          <p:cNvSpPr/>
          <p:nvPr/>
        </p:nvSpPr>
        <p:spPr>
          <a:xfrm>
            <a:off x="10247376" y="6062471"/>
            <a:ext cx="4040123" cy="15361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38816" y="6153911"/>
            <a:ext cx="3834384" cy="1380744"/>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Put your value into the original equation. Work out both sides and compare.</a:t>
            </a:r>
          </a:p>
        </p:txBody>
      </p:sp>
      <p:sp>
        <p:nvSpPr>
          <p:cNvPr id="56"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correct it and finish.</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x + 8 = 19</a:t>
            </a:r>
          </a:p>
        </p:txBody>
      </p:sp>
      <p:cxnSp>
        <p:nvCxnSpPr>
          <p:cNvPr id="15" name="Connector 14"/>
          <p:cNvCxnSpPr/>
          <p:nvPr/>
        </p:nvCxnSpPr>
        <p:spPr>
          <a:xfrm>
            <a:off x="2624328" y="2148840"/>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5156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+ 8</a:t>
            </a:r>
          </a:p>
        </p:txBody>
      </p:sp>
      <p:sp>
        <p:nvSpPr>
          <p:cNvPr id="17" name="TextBox 16"/>
          <p:cNvSpPr txBox="1"/>
          <p:nvPr/>
        </p:nvSpPr>
        <p:spPr>
          <a:xfrm>
            <a:off x="279806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19</a:t>
            </a:r>
          </a:p>
        </p:txBody>
      </p:sp>
      <p:sp>
        <p:nvSpPr>
          <p:cNvPr id="18" name="Rectangle 17"/>
          <p:cNvSpPr/>
          <p:nvPr/>
        </p:nvSpPr>
        <p:spPr>
          <a:xfrm>
            <a:off x="251460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0" name="TextBox 19"/>
          <p:cNvSpPr txBox="1"/>
          <p:nvPr/>
        </p:nvSpPr>
        <p:spPr>
          <a:xfrm>
            <a:off x="438912" y="228142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+ 8</a:t>
            </a:r>
          </a:p>
        </p:txBody>
      </p:sp>
      <p:sp>
        <p:nvSpPr>
          <p:cNvPr id="21" name="TextBox 20"/>
          <p:cNvSpPr txBox="1"/>
          <p:nvPr/>
        </p:nvSpPr>
        <p:spPr>
          <a:xfrm>
            <a:off x="4215384" y="228142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+ 8</a:t>
            </a:r>
          </a:p>
        </p:txBody>
      </p:sp>
      <p:sp>
        <p:nvSpPr>
          <p:cNvPr id="22" name="TextBox 21"/>
          <p:cNvSpPr txBox="1"/>
          <p:nvPr/>
        </p:nvSpPr>
        <p:spPr>
          <a:xfrm>
            <a:off x="105156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23" name="TextBox 22"/>
          <p:cNvSpPr txBox="1"/>
          <p:nvPr/>
        </p:nvSpPr>
        <p:spPr>
          <a:xfrm>
            <a:off x="279806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27</a:t>
            </a:r>
          </a:p>
        </p:txBody>
      </p:sp>
      <p:sp>
        <p:nvSpPr>
          <p:cNvPr id="24" name="Rectangle 23"/>
          <p:cNvSpPr/>
          <p:nvPr/>
        </p:nvSpPr>
        <p:spPr>
          <a:xfrm>
            <a:off x="251460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460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x − 5 = 8</a:t>
            </a:r>
          </a:p>
        </p:txBody>
      </p:sp>
      <p:cxnSp>
        <p:nvCxnSpPr>
          <p:cNvPr id="28" name="Connector 27"/>
          <p:cNvCxnSpPr/>
          <p:nvPr/>
        </p:nvCxnSpPr>
        <p:spPr>
          <a:xfrm>
            <a:off x="2624328" y="4187951"/>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− 5</a:t>
            </a:r>
          </a:p>
        </p:txBody>
      </p:sp>
      <p:sp>
        <p:nvSpPr>
          <p:cNvPr id="30" name="TextBox 29"/>
          <p:cNvSpPr txBox="1"/>
          <p:nvPr/>
        </p:nvSpPr>
        <p:spPr>
          <a:xfrm>
            <a:off x="279806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31" name="Rectangle 30"/>
          <p:cNvSpPr/>
          <p:nvPr/>
        </p:nvSpPr>
        <p:spPr>
          <a:xfrm>
            <a:off x="251460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1460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3" name="TextBox 32"/>
          <p:cNvSpPr txBox="1"/>
          <p:nvPr/>
        </p:nvSpPr>
        <p:spPr>
          <a:xfrm>
            <a:off x="43891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34" name="TextBox 33"/>
          <p:cNvSpPr txBox="1"/>
          <p:nvPr/>
        </p:nvSpPr>
        <p:spPr>
          <a:xfrm>
            <a:off x="421538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35" name="TextBox 34"/>
          <p:cNvSpPr txBox="1"/>
          <p:nvPr/>
        </p:nvSpPr>
        <p:spPr>
          <a:xfrm>
            <a:off x="105156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36" name="TextBox 35"/>
          <p:cNvSpPr txBox="1"/>
          <p:nvPr/>
        </p:nvSpPr>
        <p:spPr>
          <a:xfrm>
            <a:off x="279806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a:t>
            </a:r>
          </a:p>
        </p:txBody>
      </p:sp>
      <p:sp>
        <p:nvSpPr>
          <p:cNvPr id="37" name="Rectangle 36"/>
          <p:cNvSpPr/>
          <p:nvPr/>
        </p:nvSpPr>
        <p:spPr>
          <a:xfrm>
            <a:off x="251460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460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39" name="Rectangle 38"/>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79"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6x = 24</a:t>
            </a:r>
          </a:p>
        </p:txBody>
      </p:sp>
      <p:cxnSp>
        <p:nvCxnSpPr>
          <p:cNvPr id="41" name="Connector 40"/>
          <p:cNvCxnSpPr/>
          <p:nvPr/>
        </p:nvCxnSpPr>
        <p:spPr>
          <a:xfrm>
            <a:off x="2624328" y="6227064"/>
            <a:ext cx="0" cy="56692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05156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43" name="TextBox 42"/>
          <p:cNvSpPr txBox="1"/>
          <p:nvPr/>
        </p:nvSpPr>
        <p:spPr>
          <a:xfrm>
            <a:off x="279806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24</a:t>
            </a:r>
          </a:p>
        </p:txBody>
      </p:sp>
      <p:sp>
        <p:nvSpPr>
          <p:cNvPr id="44" name="Rectangle 43"/>
          <p:cNvSpPr/>
          <p:nvPr/>
        </p:nvSpPr>
        <p:spPr>
          <a:xfrm>
            <a:off x="251460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1460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46" name="TextBox 45"/>
          <p:cNvSpPr txBox="1"/>
          <p:nvPr/>
        </p:nvSpPr>
        <p:spPr>
          <a:xfrm>
            <a:off x="438912" y="635965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47" name="TextBox 46"/>
          <p:cNvSpPr txBox="1"/>
          <p:nvPr/>
        </p:nvSpPr>
        <p:spPr>
          <a:xfrm>
            <a:off x="4215384" y="635965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48" name="TextBox 47"/>
          <p:cNvSpPr txBox="1"/>
          <p:nvPr/>
        </p:nvSpPr>
        <p:spPr>
          <a:xfrm>
            <a:off x="105156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49" name="TextBox 48"/>
          <p:cNvSpPr txBox="1"/>
          <p:nvPr/>
        </p:nvSpPr>
        <p:spPr>
          <a:xfrm>
            <a:off x="279806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18</a:t>
            </a:r>
          </a:p>
        </p:txBody>
      </p:sp>
      <p:sp>
        <p:nvSpPr>
          <p:cNvPr id="50" name="Rectangle 49"/>
          <p:cNvSpPr/>
          <p:nvPr/>
        </p:nvSpPr>
        <p:spPr>
          <a:xfrm>
            <a:off x="251460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51460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2" name="Rectangle 51"/>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7492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3x + 6 = 30</a:t>
            </a:r>
          </a:p>
        </p:txBody>
      </p:sp>
      <p:cxnSp>
        <p:nvCxnSpPr>
          <p:cNvPr id="54" name="Connector 53"/>
          <p:cNvCxnSpPr/>
          <p:nvPr/>
        </p:nvCxnSpPr>
        <p:spPr>
          <a:xfrm>
            <a:off x="7287768" y="2148840"/>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71500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+ 6</a:t>
            </a:r>
          </a:p>
        </p:txBody>
      </p:sp>
      <p:sp>
        <p:nvSpPr>
          <p:cNvPr id="56" name="TextBox 55"/>
          <p:cNvSpPr txBox="1"/>
          <p:nvPr/>
        </p:nvSpPr>
        <p:spPr>
          <a:xfrm>
            <a:off x="746150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57" name="Rectangle 56"/>
          <p:cNvSpPr/>
          <p:nvPr/>
        </p:nvSpPr>
        <p:spPr>
          <a:xfrm>
            <a:off x="717804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7804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59" name="TextBox 58"/>
          <p:cNvSpPr txBox="1"/>
          <p:nvPr/>
        </p:nvSpPr>
        <p:spPr>
          <a:xfrm>
            <a:off x="5102352" y="228142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60" name="TextBox 59"/>
          <p:cNvSpPr txBox="1"/>
          <p:nvPr/>
        </p:nvSpPr>
        <p:spPr>
          <a:xfrm>
            <a:off x="8878824" y="228142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61" name="TextBox 60"/>
          <p:cNvSpPr txBox="1"/>
          <p:nvPr/>
        </p:nvSpPr>
        <p:spPr>
          <a:xfrm>
            <a:off x="571500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a:t>
            </a:r>
          </a:p>
        </p:txBody>
      </p:sp>
      <p:sp>
        <p:nvSpPr>
          <p:cNvPr id="62" name="TextBox 61"/>
          <p:cNvSpPr txBox="1"/>
          <p:nvPr/>
        </p:nvSpPr>
        <p:spPr>
          <a:xfrm>
            <a:off x="746150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36</a:t>
            </a:r>
          </a:p>
        </p:txBody>
      </p:sp>
      <p:sp>
        <p:nvSpPr>
          <p:cNvPr id="63" name="Rectangle 62"/>
          <p:cNvSpPr/>
          <p:nvPr/>
        </p:nvSpPr>
        <p:spPr>
          <a:xfrm>
            <a:off x="717804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7804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65" name="TextBox 64"/>
          <p:cNvSpPr txBox="1"/>
          <p:nvPr/>
        </p:nvSpPr>
        <p:spPr>
          <a:xfrm>
            <a:off x="5102352" y="255574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3</a:t>
            </a:r>
          </a:p>
        </p:txBody>
      </p:sp>
      <p:sp>
        <p:nvSpPr>
          <p:cNvPr id="66" name="TextBox 65"/>
          <p:cNvSpPr txBox="1"/>
          <p:nvPr/>
        </p:nvSpPr>
        <p:spPr>
          <a:xfrm>
            <a:off x="8878824" y="255574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3</a:t>
            </a:r>
          </a:p>
        </p:txBody>
      </p:sp>
      <p:sp>
        <p:nvSpPr>
          <p:cNvPr id="67" name="TextBox 66"/>
          <p:cNvSpPr txBox="1"/>
          <p:nvPr/>
        </p:nvSpPr>
        <p:spPr>
          <a:xfrm>
            <a:off x="571500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68" name="TextBox 67"/>
          <p:cNvSpPr txBox="1"/>
          <p:nvPr/>
        </p:nvSpPr>
        <p:spPr>
          <a:xfrm>
            <a:off x="746150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69" name="Rectangle 68"/>
          <p:cNvSpPr/>
          <p:nvPr/>
        </p:nvSpPr>
        <p:spPr>
          <a:xfrm>
            <a:off x="717804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7804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1" name="Rectangle 70"/>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07492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− 8 = 16</a:t>
            </a:r>
          </a:p>
        </p:txBody>
      </p:sp>
      <p:cxnSp>
        <p:nvCxnSpPr>
          <p:cNvPr id="73" name="Connector 72"/>
          <p:cNvCxnSpPr/>
          <p:nvPr/>
        </p:nvCxnSpPr>
        <p:spPr>
          <a:xfrm>
            <a:off x="7287768" y="4187951"/>
            <a:ext cx="0" cy="84124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71500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− 8</a:t>
            </a:r>
          </a:p>
        </p:txBody>
      </p:sp>
      <p:sp>
        <p:nvSpPr>
          <p:cNvPr id="75" name="TextBox 74"/>
          <p:cNvSpPr txBox="1"/>
          <p:nvPr/>
        </p:nvSpPr>
        <p:spPr>
          <a:xfrm>
            <a:off x="746150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76" name="Rectangle 75"/>
          <p:cNvSpPr/>
          <p:nvPr/>
        </p:nvSpPr>
        <p:spPr>
          <a:xfrm>
            <a:off x="717804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17804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78" name="TextBox 77"/>
          <p:cNvSpPr txBox="1"/>
          <p:nvPr/>
        </p:nvSpPr>
        <p:spPr>
          <a:xfrm>
            <a:off x="510235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+ 8</a:t>
            </a:r>
          </a:p>
        </p:txBody>
      </p:sp>
      <p:sp>
        <p:nvSpPr>
          <p:cNvPr id="79" name="TextBox 78"/>
          <p:cNvSpPr txBox="1"/>
          <p:nvPr/>
        </p:nvSpPr>
        <p:spPr>
          <a:xfrm>
            <a:off x="887882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− 8</a:t>
            </a:r>
          </a:p>
        </p:txBody>
      </p:sp>
      <p:sp>
        <p:nvSpPr>
          <p:cNvPr id="80" name="TextBox 79"/>
          <p:cNvSpPr txBox="1"/>
          <p:nvPr/>
        </p:nvSpPr>
        <p:spPr>
          <a:xfrm>
            <a:off x="571500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a:t>
            </a:r>
          </a:p>
        </p:txBody>
      </p:sp>
      <p:sp>
        <p:nvSpPr>
          <p:cNvPr id="81" name="TextBox 80"/>
          <p:cNvSpPr txBox="1"/>
          <p:nvPr/>
        </p:nvSpPr>
        <p:spPr>
          <a:xfrm>
            <a:off x="746150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8</a:t>
            </a:r>
          </a:p>
        </p:txBody>
      </p:sp>
      <p:sp>
        <p:nvSpPr>
          <p:cNvPr id="82" name="Rectangle 81"/>
          <p:cNvSpPr/>
          <p:nvPr/>
        </p:nvSpPr>
        <p:spPr>
          <a:xfrm>
            <a:off x="717804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17804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84" name="TextBox 83"/>
          <p:cNvSpPr txBox="1"/>
          <p:nvPr/>
        </p:nvSpPr>
        <p:spPr>
          <a:xfrm>
            <a:off x="5102352" y="459485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4</a:t>
            </a:r>
          </a:p>
        </p:txBody>
      </p:sp>
      <p:sp>
        <p:nvSpPr>
          <p:cNvPr id="85" name="TextBox 84"/>
          <p:cNvSpPr txBox="1"/>
          <p:nvPr/>
        </p:nvSpPr>
        <p:spPr>
          <a:xfrm>
            <a:off x="8878824" y="459485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4</a:t>
            </a:r>
          </a:p>
        </p:txBody>
      </p:sp>
      <p:sp>
        <p:nvSpPr>
          <p:cNvPr id="86" name="TextBox 85"/>
          <p:cNvSpPr txBox="1"/>
          <p:nvPr/>
        </p:nvSpPr>
        <p:spPr>
          <a:xfrm>
            <a:off x="571500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87" name="TextBox 86"/>
          <p:cNvSpPr txBox="1"/>
          <p:nvPr/>
        </p:nvSpPr>
        <p:spPr>
          <a:xfrm>
            <a:off x="746150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a:t>
            </a:r>
          </a:p>
        </p:txBody>
      </p:sp>
      <p:sp>
        <p:nvSpPr>
          <p:cNvPr id="88" name="Rectangle 87"/>
          <p:cNvSpPr/>
          <p:nvPr/>
        </p:nvSpPr>
        <p:spPr>
          <a:xfrm>
            <a:off x="717804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7804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0" name="Rectangle 89"/>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07492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5x + 10 = 45</a:t>
            </a:r>
          </a:p>
        </p:txBody>
      </p:sp>
      <p:cxnSp>
        <p:nvCxnSpPr>
          <p:cNvPr id="92" name="Connector 91"/>
          <p:cNvCxnSpPr/>
          <p:nvPr/>
        </p:nvCxnSpPr>
        <p:spPr>
          <a:xfrm>
            <a:off x="7287768" y="6227064"/>
            <a:ext cx="0" cy="84124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71500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5x + 10</a:t>
            </a:r>
          </a:p>
        </p:txBody>
      </p:sp>
      <p:sp>
        <p:nvSpPr>
          <p:cNvPr id="94" name="TextBox 93"/>
          <p:cNvSpPr txBox="1"/>
          <p:nvPr/>
        </p:nvSpPr>
        <p:spPr>
          <a:xfrm>
            <a:off x="746150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45</a:t>
            </a:r>
          </a:p>
        </p:txBody>
      </p:sp>
      <p:sp>
        <p:nvSpPr>
          <p:cNvPr id="95" name="Rectangle 94"/>
          <p:cNvSpPr/>
          <p:nvPr/>
        </p:nvSpPr>
        <p:spPr>
          <a:xfrm>
            <a:off x="717804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17804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97" name="TextBox 96"/>
          <p:cNvSpPr txBox="1"/>
          <p:nvPr/>
        </p:nvSpPr>
        <p:spPr>
          <a:xfrm>
            <a:off x="5102352" y="635965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98" name="TextBox 97"/>
          <p:cNvSpPr txBox="1"/>
          <p:nvPr/>
        </p:nvSpPr>
        <p:spPr>
          <a:xfrm>
            <a:off x="8878824" y="635965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99" name="TextBox 98"/>
          <p:cNvSpPr txBox="1"/>
          <p:nvPr/>
        </p:nvSpPr>
        <p:spPr>
          <a:xfrm>
            <a:off x="571500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 + 10</a:t>
            </a:r>
          </a:p>
        </p:txBody>
      </p:sp>
      <p:sp>
        <p:nvSpPr>
          <p:cNvPr id="100" name="TextBox 99"/>
          <p:cNvSpPr txBox="1"/>
          <p:nvPr/>
        </p:nvSpPr>
        <p:spPr>
          <a:xfrm>
            <a:off x="746150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9</a:t>
            </a:r>
          </a:p>
        </p:txBody>
      </p:sp>
      <p:sp>
        <p:nvSpPr>
          <p:cNvPr id="101" name="Rectangle 100"/>
          <p:cNvSpPr/>
          <p:nvPr/>
        </p:nvSpPr>
        <p:spPr>
          <a:xfrm>
            <a:off x="717804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17804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3" name="TextBox 102"/>
          <p:cNvSpPr txBox="1"/>
          <p:nvPr/>
        </p:nvSpPr>
        <p:spPr>
          <a:xfrm>
            <a:off x="5102352" y="663397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− 10</a:t>
            </a:r>
          </a:p>
        </p:txBody>
      </p:sp>
      <p:sp>
        <p:nvSpPr>
          <p:cNvPr id="104" name="TextBox 103"/>
          <p:cNvSpPr txBox="1"/>
          <p:nvPr/>
        </p:nvSpPr>
        <p:spPr>
          <a:xfrm>
            <a:off x="8878824" y="663397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− 10</a:t>
            </a:r>
          </a:p>
        </p:txBody>
      </p:sp>
      <p:sp>
        <p:nvSpPr>
          <p:cNvPr id="105" name="TextBox 104"/>
          <p:cNvSpPr txBox="1"/>
          <p:nvPr/>
        </p:nvSpPr>
        <p:spPr>
          <a:xfrm>
            <a:off x="571500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06" name="TextBox 105"/>
          <p:cNvSpPr txBox="1"/>
          <p:nvPr/>
        </p:nvSpPr>
        <p:spPr>
          <a:xfrm>
            <a:off x="746150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a:t>
            </a:r>
          </a:p>
        </p:txBody>
      </p:sp>
      <p:sp>
        <p:nvSpPr>
          <p:cNvPr id="107" name="Rectangle 106"/>
          <p:cNvSpPr/>
          <p:nvPr/>
        </p:nvSpPr>
        <p:spPr>
          <a:xfrm>
            <a:off x="717804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717804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09" name="Rectangle 108"/>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738360" y="1682496"/>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2(x + 5) = 30</a:t>
            </a:r>
          </a:p>
        </p:txBody>
      </p:sp>
      <p:cxnSp>
        <p:nvCxnSpPr>
          <p:cNvPr id="111" name="Connector 110"/>
          <p:cNvCxnSpPr/>
          <p:nvPr/>
        </p:nvCxnSpPr>
        <p:spPr>
          <a:xfrm>
            <a:off x="11951208" y="2148840"/>
            <a:ext cx="0" cy="111556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378440" y="213055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3" name="TextBox 112"/>
          <p:cNvSpPr txBox="1"/>
          <p:nvPr/>
        </p:nvSpPr>
        <p:spPr>
          <a:xfrm>
            <a:off x="12124944" y="213055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4" name="Rectangle 113"/>
          <p:cNvSpPr/>
          <p:nvPr/>
        </p:nvSpPr>
        <p:spPr>
          <a:xfrm>
            <a:off x="11841480" y="213055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1841480" y="213055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16" name="TextBox 115"/>
          <p:cNvSpPr txBox="1"/>
          <p:nvPr/>
        </p:nvSpPr>
        <p:spPr>
          <a:xfrm>
            <a:off x="10378440" y="240487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+ 5</a:t>
            </a:r>
          </a:p>
        </p:txBody>
      </p:sp>
      <p:sp>
        <p:nvSpPr>
          <p:cNvPr id="117" name="TextBox 116"/>
          <p:cNvSpPr txBox="1"/>
          <p:nvPr/>
        </p:nvSpPr>
        <p:spPr>
          <a:xfrm>
            <a:off x="12124944" y="240487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18" name="Rectangle 117"/>
          <p:cNvSpPr/>
          <p:nvPr/>
        </p:nvSpPr>
        <p:spPr>
          <a:xfrm>
            <a:off x="11841480" y="240487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841480" y="240487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0" name="TextBox 119"/>
          <p:cNvSpPr txBox="1"/>
          <p:nvPr/>
        </p:nvSpPr>
        <p:spPr>
          <a:xfrm>
            <a:off x="9765792" y="255574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− 5</a:t>
            </a:r>
          </a:p>
        </p:txBody>
      </p:sp>
      <p:sp>
        <p:nvSpPr>
          <p:cNvPr id="121" name="TextBox 120"/>
          <p:cNvSpPr txBox="1"/>
          <p:nvPr/>
        </p:nvSpPr>
        <p:spPr>
          <a:xfrm>
            <a:off x="13542264" y="255574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− 5</a:t>
            </a:r>
          </a:p>
        </p:txBody>
      </p:sp>
      <p:sp>
        <p:nvSpPr>
          <p:cNvPr id="122" name="TextBox 121"/>
          <p:cNvSpPr txBox="1"/>
          <p:nvPr/>
        </p:nvSpPr>
        <p:spPr>
          <a:xfrm>
            <a:off x="10378440" y="267919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23" name="TextBox 122"/>
          <p:cNvSpPr txBox="1"/>
          <p:nvPr/>
        </p:nvSpPr>
        <p:spPr>
          <a:xfrm>
            <a:off x="12124944" y="267919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25</a:t>
            </a:r>
          </a:p>
        </p:txBody>
      </p:sp>
      <p:sp>
        <p:nvSpPr>
          <p:cNvPr id="124" name="Rectangle 123"/>
          <p:cNvSpPr/>
          <p:nvPr/>
        </p:nvSpPr>
        <p:spPr>
          <a:xfrm>
            <a:off x="11841480" y="267919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1841480" y="267919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26" name="TextBox 125"/>
          <p:cNvSpPr txBox="1"/>
          <p:nvPr/>
        </p:nvSpPr>
        <p:spPr>
          <a:xfrm>
            <a:off x="9765792" y="2830068"/>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a:t>
            </a:r>
          </a:p>
        </p:txBody>
      </p:sp>
      <p:sp>
        <p:nvSpPr>
          <p:cNvPr id="127" name="TextBox 126"/>
          <p:cNvSpPr txBox="1"/>
          <p:nvPr/>
        </p:nvSpPr>
        <p:spPr>
          <a:xfrm>
            <a:off x="13542264" y="2830068"/>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a:t>
            </a:r>
          </a:p>
        </p:txBody>
      </p:sp>
      <p:sp>
        <p:nvSpPr>
          <p:cNvPr id="128" name="TextBox 127"/>
          <p:cNvSpPr txBox="1"/>
          <p:nvPr/>
        </p:nvSpPr>
        <p:spPr>
          <a:xfrm>
            <a:off x="10378440" y="2953512"/>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29" name="TextBox 128"/>
          <p:cNvSpPr txBox="1"/>
          <p:nvPr/>
        </p:nvSpPr>
        <p:spPr>
          <a:xfrm>
            <a:off x="12124944" y="2953512"/>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12.5</a:t>
            </a:r>
          </a:p>
        </p:txBody>
      </p:sp>
      <p:sp>
        <p:nvSpPr>
          <p:cNvPr id="130" name="Rectangle 129"/>
          <p:cNvSpPr/>
          <p:nvPr/>
        </p:nvSpPr>
        <p:spPr>
          <a:xfrm>
            <a:off x="11841480" y="2953512"/>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841480" y="2953512"/>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2" name="Rectangle 13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738360" y="3721607"/>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4x + 3 = 2x + 33</a:t>
            </a:r>
          </a:p>
        </p:txBody>
      </p:sp>
      <p:cxnSp>
        <p:nvCxnSpPr>
          <p:cNvPr id="134" name="Connector 133"/>
          <p:cNvCxnSpPr/>
          <p:nvPr/>
        </p:nvCxnSpPr>
        <p:spPr>
          <a:xfrm>
            <a:off x="11951208" y="4187951"/>
            <a:ext cx="0" cy="1115569"/>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378440" y="416966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4x + 3</a:t>
            </a:r>
          </a:p>
        </p:txBody>
      </p:sp>
      <p:sp>
        <p:nvSpPr>
          <p:cNvPr id="136" name="TextBox 135"/>
          <p:cNvSpPr txBox="1"/>
          <p:nvPr/>
        </p:nvSpPr>
        <p:spPr>
          <a:xfrm>
            <a:off x="12124944" y="416966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2x + 33</a:t>
            </a:r>
          </a:p>
        </p:txBody>
      </p:sp>
      <p:sp>
        <p:nvSpPr>
          <p:cNvPr id="137" name="Rectangle 136"/>
          <p:cNvSpPr/>
          <p:nvPr/>
        </p:nvSpPr>
        <p:spPr>
          <a:xfrm>
            <a:off x="11841480" y="416966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11841480" y="416966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39" name="TextBox 138"/>
          <p:cNvSpPr txBox="1"/>
          <p:nvPr/>
        </p:nvSpPr>
        <p:spPr>
          <a:xfrm>
            <a:off x="9765792" y="4320540"/>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+ 2x</a:t>
            </a:r>
          </a:p>
        </p:txBody>
      </p:sp>
      <p:sp>
        <p:nvSpPr>
          <p:cNvPr id="140" name="TextBox 139"/>
          <p:cNvSpPr txBox="1"/>
          <p:nvPr/>
        </p:nvSpPr>
        <p:spPr>
          <a:xfrm>
            <a:off x="13542264" y="4320540"/>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− 2x</a:t>
            </a:r>
          </a:p>
        </p:txBody>
      </p:sp>
      <p:sp>
        <p:nvSpPr>
          <p:cNvPr id="141" name="TextBox 140"/>
          <p:cNvSpPr txBox="1"/>
          <p:nvPr/>
        </p:nvSpPr>
        <p:spPr>
          <a:xfrm>
            <a:off x="10378440" y="444398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 + 3</a:t>
            </a:r>
          </a:p>
        </p:txBody>
      </p:sp>
      <p:sp>
        <p:nvSpPr>
          <p:cNvPr id="142" name="TextBox 141"/>
          <p:cNvSpPr txBox="1"/>
          <p:nvPr/>
        </p:nvSpPr>
        <p:spPr>
          <a:xfrm>
            <a:off x="12124944" y="444398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33</a:t>
            </a:r>
          </a:p>
        </p:txBody>
      </p:sp>
      <p:sp>
        <p:nvSpPr>
          <p:cNvPr id="143" name="Rectangle 142"/>
          <p:cNvSpPr/>
          <p:nvPr/>
        </p:nvSpPr>
        <p:spPr>
          <a:xfrm>
            <a:off x="11841480" y="444398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1841480" y="444398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45" name="TextBox 144"/>
          <p:cNvSpPr txBox="1"/>
          <p:nvPr/>
        </p:nvSpPr>
        <p:spPr>
          <a:xfrm>
            <a:off x="9765792" y="459485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− 3</a:t>
            </a:r>
          </a:p>
        </p:txBody>
      </p:sp>
      <p:sp>
        <p:nvSpPr>
          <p:cNvPr id="146" name="TextBox 145"/>
          <p:cNvSpPr txBox="1"/>
          <p:nvPr/>
        </p:nvSpPr>
        <p:spPr>
          <a:xfrm>
            <a:off x="13542264" y="459485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− 3</a:t>
            </a:r>
          </a:p>
        </p:txBody>
      </p:sp>
      <p:sp>
        <p:nvSpPr>
          <p:cNvPr id="147" name="TextBox 146"/>
          <p:cNvSpPr txBox="1"/>
          <p:nvPr/>
        </p:nvSpPr>
        <p:spPr>
          <a:xfrm>
            <a:off x="10378440" y="471830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6x</a:t>
            </a:r>
          </a:p>
        </p:txBody>
      </p:sp>
      <p:sp>
        <p:nvSpPr>
          <p:cNvPr id="148" name="TextBox 147"/>
          <p:cNvSpPr txBox="1"/>
          <p:nvPr/>
        </p:nvSpPr>
        <p:spPr>
          <a:xfrm>
            <a:off x="12124944" y="471830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30</a:t>
            </a:r>
          </a:p>
        </p:txBody>
      </p:sp>
      <p:sp>
        <p:nvSpPr>
          <p:cNvPr id="149" name="Rectangle 148"/>
          <p:cNvSpPr/>
          <p:nvPr/>
        </p:nvSpPr>
        <p:spPr>
          <a:xfrm>
            <a:off x="11841480" y="471830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11841480" y="471830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1" name="TextBox 150"/>
          <p:cNvSpPr txBox="1"/>
          <p:nvPr/>
        </p:nvSpPr>
        <p:spPr>
          <a:xfrm>
            <a:off x="9765792" y="4869179"/>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6</a:t>
            </a:r>
          </a:p>
        </p:txBody>
      </p:sp>
      <p:sp>
        <p:nvSpPr>
          <p:cNvPr id="152" name="TextBox 151"/>
          <p:cNvSpPr txBox="1"/>
          <p:nvPr/>
        </p:nvSpPr>
        <p:spPr>
          <a:xfrm>
            <a:off x="13542264" y="4869179"/>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6</a:t>
            </a:r>
          </a:p>
        </p:txBody>
      </p:sp>
      <p:sp>
        <p:nvSpPr>
          <p:cNvPr id="153" name="TextBox 152"/>
          <p:cNvSpPr txBox="1"/>
          <p:nvPr/>
        </p:nvSpPr>
        <p:spPr>
          <a:xfrm>
            <a:off x="10378440" y="4992623"/>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54" name="TextBox 153"/>
          <p:cNvSpPr txBox="1"/>
          <p:nvPr/>
        </p:nvSpPr>
        <p:spPr>
          <a:xfrm>
            <a:off x="12124944" y="4992623"/>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5</a:t>
            </a:r>
          </a:p>
        </p:txBody>
      </p:sp>
      <p:sp>
        <p:nvSpPr>
          <p:cNvPr id="155" name="Rectangle 154"/>
          <p:cNvSpPr/>
          <p:nvPr/>
        </p:nvSpPr>
        <p:spPr>
          <a:xfrm>
            <a:off x="11841480" y="4992623"/>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11841480" y="4992623"/>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57" name="Rectangle 156"/>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9738360" y="5760720"/>
            <a:ext cx="4434840" cy="347472"/>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3(x − 4) = x − 16</a:t>
            </a:r>
          </a:p>
        </p:txBody>
      </p:sp>
      <p:cxnSp>
        <p:nvCxnSpPr>
          <p:cNvPr id="159" name="Connector 158"/>
          <p:cNvCxnSpPr/>
          <p:nvPr/>
        </p:nvCxnSpPr>
        <p:spPr>
          <a:xfrm>
            <a:off x="11951208" y="6227064"/>
            <a:ext cx="0" cy="1389888"/>
          </a:xfrm>
          <a:prstGeom prst="line">
            <a:avLst/>
          </a:prstGeom>
          <a:ln w="15240">
            <a:solidFill>
              <a:srgbClr val="8193A0"/>
            </a:solidFill>
          </a:ln>
          <a:effectLst/>
        </p:spPr>
        <p:style>
          <a:lnRef idx="2">
            <a:schemeClr val="accent1"/>
          </a:lnRef>
          <a:fillRef idx="0">
            <a:schemeClr val="accent1"/>
          </a:fillRef>
          <a:effectRef idx="1">
            <a:schemeClr val="accent1"/>
          </a:effectRef>
          <a:fontRef idx="minor">
            <a:schemeClr val="tx1"/>
          </a:fontRef>
        </p:style>
      </p:cxnSp>
      <p:sp>
        <p:nvSpPr>
          <p:cNvPr id="160" name="TextBox 159"/>
          <p:cNvSpPr txBox="1"/>
          <p:nvPr/>
        </p:nvSpPr>
        <p:spPr>
          <a:xfrm>
            <a:off x="10378440" y="620877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1" name="TextBox 160"/>
          <p:cNvSpPr txBox="1"/>
          <p:nvPr/>
        </p:nvSpPr>
        <p:spPr>
          <a:xfrm>
            <a:off x="12124944" y="620877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2" name="Rectangle 161"/>
          <p:cNvSpPr/>
          <p:nvPr/>
        </p:nvSpPr>
        <p:spPr>
          <a:xfrm>
            <a:off x="11841480" y="620877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1841480" y="620877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4" name="TextBox 163"/>
          <p:cNvSpPr txBox="1"/>
          <p:nvPr/>
        </p:nvSpPr>
        <p:spPr>
          <a:xfrm>
            <a:off x="10378440" y="648309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3x − 4</a:t>
            </a:r>
          </a:p>
        </p:txBody>
      </p:sp>
      <p:sp>
        <p:nvSpPr>
          <p:cNvPr id="165" name="TextBox 164"/>
          <p:cNvSpPr txBox="1"/>
          <p:nvPr/>
        </p:nvSpPr>
        <p:spPr>
          <a:xfrm>
            <a:off x="12124944" y="648309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x − 16</a:t>
            </a:r>
          </a:p>
        </p:txBody>
      </p:sp>
      <p:sp>
        <p:nvSpPr>
          <p:cNvPr id="166" name="Rectangle 165"/>
          <p:cNvSpPr/>
          <p:nvPr/>
        </p:nvSpPr>
        <p:spPr>
          <a:xfrm>
            <a:off x="11841480" y="648309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1841480" y="648309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68" name="TextBox 167"/>
          <p:cNvSpPr txBox="1"/>
          <p:nvPr/>
        </p:nvSpPr>
        <p:spPr>
          <a:xfrm>
            <a:off x="9765792" y="663397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x</a:t>
            </a:r>
          </a:p>
        </p:txBody>
      </p:sp>
      <p:sp>
        <p:nvSpPr>
          <p:cNvPr id="169" name="TextBox 168"/>
          <p:cNvSpPr txBox="1"/>
          <p:nvPr/>
        </p:nvSpPr>
        <p:spPr>
          <a:xfrm>
            <a:off x="13542264" y="663397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x</a:t>
            </a:r>
          </a:p>
        </p:txBody>
      </p:sp>
      <p:sp>
        <p:nvSpPr>
          <p:cNvPr id="170" name="TextBox 169"/>
          <p:cNvSpPr txBox="1"/>
          <p:nvPr/>
        </p:nvSpPr>
        <p:spPr>
          <a:xfrm>
            <a:off x="10378440" y="675741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 − 4</a:t>
            </a:r>
          </a:p>
        </p:txBody>
      </p:sp>
      <p:sp>
        <p:nvSpPr>
          <p:cNvPr id="171" name="TextBox 170"/>
          <p:cNvSpPr txBox="1"/>
          <p:nvPr/>
        </p:nvSpPr>
        <p:spPr>
          <a:xfrm>
            <a:off x="12124944" y="675741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−16</a:t>
            </a:r>
          </a:p>
        </p:txBody>
      </p:sp>
      <p:sp>
        <p:nvSpPr>
          <p:cNvPr id="172" name="Rectangle 171"/>
          <p:cNvSpPr/>
          <p:nvPr/>
        </p:nvSpPr>
        <p:spPr>
          <a:xfrm>
            <a:off x="11841480" y="675741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1841480" y="675741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74" name="TextBox 173"/>
          <p:cNvSpPr txBox="1"/>
          <p:nvPr/>
        </p:nvSpPr>
        <p:spPr>
          <a:xfrm>
            <a:off x="9765792" y="690829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+ 4</a:t>
            </a:r>
          </a:p>
        </p:txBody>
      </p:sp>
      <p:sp>
        <p:nvSpPr>
          <p:cNvPr id="175" name="TextBox 174"/>
          <p:cNvSpPr txBox="1"/>
          <p:nvPr/>
        </p:nvSpPr>
        <p:spPr>
          <a:xfrm>
            <a:off x="13542264" y="690829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+ 4</a:t>
            </a:r>
          </a:p>
        </p:txBody>
      </p:sp>
      <p:sp>
        <p:nvSpPr>
          <p:cNvPr id="176" name="TextBox 175"/>
          <p:cNvSpPr txBox="1"/>
          <p:nvPr/>
        </p:nvSpPr>
        <p:spPr>
          <a:xfrm>
            <a:off x="10378440" y="703173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2x</a:t>
            </a:r>
          </a:p>
        </p:txBody>
      </p:sp>
      <p:sp>
        <p:nvSpPr>
          <p:cNvPr id="177" name="TextBox 176"/>
          <p:cNvSpPr txBox="1"/>
          <p:nvPr/>
        </p:nvSpPr>
        <p:spPr>
          <a:xfrm>
            <a:off x="12124944" y="703173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−12</a:t>
            </a:r>
          </a:p>
        </p:txBody>
      </p:sp>
      <p:sp>
        <p:nvSpPr>
          <p:cNvPr id="178" name="Rectangle 177"/>
          <p:cNvSpPr/>
          <p:nvPr/>
        </p:nvSpPr>
        <p:spPr>
          <a:xfrm>
            <a:off x="11841480" y="703173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1841480" y="703173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
        <p:nvSpPr>
          <p:cNvPr id="180" name="TextBox 179"/>
          <p:cNvSpPr txBox="1"/>
          <p:nvPr/>
        </p:nvSpPr>
        <p:spPr>
          <a:xfrm>
            <a:off x="9765792" y="7182612"/>
            <a:ext cx="594360" cy="219456"/>
          </a:xfrm>
          <a:prstGeom prst="rect">
            <a:avLst/>
          </a:prstGeom>
          <a:noFill/>
        </p:spPr>
        <p:txBody>
          <a:bodyPr wrap="none" lIns="0" rIns="0" tIns="0" bIns="0">
            <a:spAutoFit/>
          </a:bodyPr>
          <a:lstStyle/>
          <a:p>
            <a:pPr algn="l">
              <a:lnSpc>
                <a:spcPts val="1792"/>
              </a:lnSpc>
              <a:spcAft>
                <a:spcPts val="0"/>
              </a:spcAft>
              <a:defRPr sz="1600" b="0">
                <a:solidFill>
                  <a:srgbClr val="3559A2"/>
                </a:solidFill>
                <a:latin typeface="Arial"/>
              </a:defRPr>
            </a:pPr>
            <a:r>
              <a:t>÷ 2</a:t>
            </a:r>
          </a:p>
        </p:txBody>
      </p:sp>
      <p:sp>
        <p:nvSpPr>
          <p:cNvPr id="181" name="TextBox 180"/>
          <p:cNvSpPr txBox="1"/>
          <p:nvPr/>
        </p:nvSpPr>
        <p:spPr>
          <a:xfrm>
            <a:off x="13542264" y="7182612"/>
            <a:ext cx="594360" cy="219456"/>
          </a:xfrm>
          <a:prstGeom prst="rect">
            <a:avLst/>
          </a:prstGeom>
          <a:noFill/>
        </p:spPr>
        <p:txBody>
          <a:bodyPr wrap="none" lIns="0" rIns="0" tIns="0" bIns="0">
            <a:spAutoFit/>
          </a:bodyPr>
          <a:lstStyle/>
          <a:p>
            <a:pPr algn="r">
              <a:lnSpc>
                <a:spcPts val="1792"/>
              </a:lnSpc>
              <a:spcAft>
                <a:spcPts val="0"/>
              </a:spcAft>
              <a:defRPr sz="1600" b="0">
                <a:solidFill>
                  <a:srgbClr val="3559A2"/>
                </a:solidFill>
                <a:latin typeface="Arial"/>
              </a:defRPr>
            </a:pPr>
            <a:r>
              <a:t>÷ 2</a:t>
            </a:r>
          </a:p>
        </p:txBody>
      </p:sp>
      <p:sp>
        <p:nvSpPr>
          <p:cNvPr id="182" name="TextBox 181"/>
          <p:cNvSpPr txBox="1"/>
          <p:nvPr/>
        </p:nvSpPr>
        <p:spPr>
          <a:xfrm>
            <a:off x="10378440" y="7306056"/>
            <a:ext cx="1417320" cy="320040"/>
          </a:xfrm>
          <a:prstGeom prst="rect">
            <a:avLst/>
          </a:prstGeom>
          <a:noFill/>
        </p:spPr>
        <p:txBody>
          <a:bodyPr wrap="none" lIns="0" rIns="0" tIns="0" bIns="0">
            <a:spAutoFit/>
          </a:bodyPr>
          <a:lstStyle/>
          <a:p>
            <a:pPr algn="r">
              <a:lnSpc>
                <a:spcPts val="2240"/>
              </a:lnSpc>
              <a:spcAft>
                <a:spcPts val="0"/>
              </a:spcAft>
              <a:defRPr sz="2000" b="0">
                <a:solidFill>
                  <a:srgbClr val="182B3A"/>
                </a:solidFill>
                <a:latin typeface="Arial"/>
              </a:defRPr>
            </a:pPr>
            <a:r>
              <a:t>x</a:t>
            </a:r>
          </a:p>
        </p:txBody>
      </p:sp>
      <p:sp>
        <p:nvSpPr>
          <p:cNvPr id="183" name="TextBox 182"/>
          <p:cNvSpPr txBox="1"/>
          <p:nvPr/>
        </p:nvSpPr>
        <p:spPr>
          <a:xfrm>
            <a:off x="12124944" y="7306056"/>
            <a:ext cx="1399032" cy="320040"/>
          </a:xfrm>
          <a:prstGeom prst="rect">
            <a:avLst/>
          </a:prstGeom>
          <a:noFill/>
        </p:spPr>
        <p:txBody>
          <a:bodyPr wrap="none" lIns="0" rIns="0" tIns="0" bIns="0">
            <a:spAutoFit/>
          </a:bodyPr>
          <a:lstStyle/>
          <a:p>
            <a:pPr algn="l">
              <a:lnSpc>
                <a:spcPts val="2240"/>
              </a:lnSpc>
              <a:spcAft>
                <a:spcPts val="0"/>
              </a:spcAft>
              <a:defRPr sz="2000" b="0">
                <a:solidFill>
                  <a:srgbClr val="182B3A"/>
                </a:solidFill>
                <a:latin typeface="Arial"/>
              </a:defRPr>
            </a:pPr>
            <a:r>
              <a:t>−6</a:t>
            </a:r>
          </a:p>
        </p:txBody>
      </p:sp>
      <p:sp>
        <p:nvSpPr>
          <p:cNvPr id="184" name="Rectangle 183"/>
          <p:cNvSpPr/>
          <p:nvPr/>
        </p:nvSpPr>
        <p:spPr>
          <a:xfrm>
            <a:off x="11841480" y="7306056"/>
            <a:ext cx="219456"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11841480" y="7306056"/>
            <a:ext cx="219456" cy="274320"/>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+ 6 = -2</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18</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− 9 = -4</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189 = 7x</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4</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57</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+ 7x = 71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-29</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-9 + 6x = 39</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+ 8 = 8</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 + 2x = -11</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2x − 11</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+ 10 = 20</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+ 12 = 9</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x + 14</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− 3) = x + 69</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+ 12 = 126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28</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-14 = x − 8</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65</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11</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27 = x + 9</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90</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− 9 = -44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x + 6 = 121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+ 8 = -7</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+ 3x = 80</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 + 3x = 73</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 + 2x = 18</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− 5) = 2x + 50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+ 2) = x + 92</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− 5) = 3x − 12</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− 9 = 2x − 3</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− 7) = 4x − 23</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+ 15 = 108</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3 = -1</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0</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28 = x + 2</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+ 8 = 16</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− 9 = 33</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x − 9 = 21</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+ 4 = 88</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8 + 6x = -22</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23 = 7x + 2</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+ 8 = 85</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+ 4 = 3x + 79</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+ 6) = 165</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− 9 = 3x + 60</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− 6 = 12</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− 3) = 90</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+ 8 = 4x + 56</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Solving equations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Solve each equation and check by substitution.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M10-S07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0467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140</a:t>
            </a:r>
          </a:p>
        </p:txBody>
      </p:sp>
      <p:sp>
        <p:nvSpPr>
          <p:cNvPr id="16" name="Rectangle 15"/>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8" name="TextBox 17"/>
          <p:cNvSpPr txBox="1"/>
          <p:nvPr/>
        </p:nvSpPr>
        <p:spPr>
          <a:xfrm>
            <a:off x="80467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11 = x − 6</a:t>
            </a:r>
          </a:p>
        </p:txBody>
      </p:sp>
      <p:sp>
        <p:nvSpPr>
          <p:cNvPr id="19" name="Rectangle 18"/>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21" name="TextBox 20"/>
          <p:cNvSpPr txBox="1"/>
          <p:nvPr/>
        </p:nvSpPr>
        <p:spPr>
          <a:xfrm>
            <a:off x="80467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5 = 22</a:t>
            </a:r>
          </a:p>
        </p:txBody>
      </p:sp>
      <p:sp>
        <p:nvSpPr>
          <p:cNvPr id="22" name="Rectangle 21"/>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24" name="TextBox 23"/>
          <p:cNvSpPr txBox="1"/>
          <p:nvPr/>
        </p:nvSpPr>
        <p:spPr>
          <a:xfrm>
            <a:off x="80467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2</a:t>
            </a:r>
          </a:p>
        </p:txBody>
      </p:sp>
      <p:sp>
        <p:nvSpPr>
          <p:cNvPr id="25" name="Rectangle 24"/>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27" name="TextBox 26"/>
          <p:cNvSpPr txBox="1"/>
          <p:nvPr/>
        </p:nvSpPr>
        <p:spPr>
          <a:xfrm>
            <a:off x="80467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2 = 5</a:t>
            </a:r>
          </a:p>
        </p:txBody>
      </p:sp>
      <p:sp>
        <p:nvSpPr>
          <p:cNvPr id="28" name="Rectangle 2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30" name="TextBox 29"/>
          <p:cNvSpPr txBox="1"/>
          <p:nvPr/>
        </p:nvSpPr>
        <p:spPr>
          <a:xfrm>
            <a:off x="80467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+ 7 = 1</a:t>
            </a:r>
          </a:p>
        </p:txBody>
      </p:sp>
      <p:sp>
        <p:nvSpPr>
          <p:cNvPr id="31" name="Rectangle 30"/>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7492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33" name="TextBox 32"/>
          <p:cNvSpPr txBox="1"/>
          <p:nvPr/>
        </p:nvSpPr>
        <p:spPr>
          <a:xfrm>
            <a:off x="546811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− 3 = 54</a:t>
            </a:r>
          </a:p>
        </p:txBody>
      </p:sp>
      <p:sp>
        <p:nvSpPr>
          <p:cNvPr id="34" name="Rectangle 33"/>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36" name="TextBox 35"/>
          <p:cNvSpPr txBox="1"/>
          <p:nvPr/>
        </p:nvSpPr>
        <p:spPr>
          <a:xfrm>
            <a:off x="546811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6x + x − 5 = 100</a:t>
            </a:r>
          </a:p>
        </p:txBody>
      </p:sp>
      <p:sp>
        <p:nvSpPr>
          <p:cNvPr id="37" name="Rectangle 36"/>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9" name="TextBox 38"/>
          <p:cNvSpPr txBox="1"/>
          <p:nvPr/>
        </p:nvSpPr>
        <p:spPr>
          <a:xfrm>
            <a:off x="546811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+ 2 = 26</a:t>
            </a:r>
          </a:p>
        </p:txBody>
      </p:sp>
      <p:sp>
        <p:nvSpPr>
          <p:cNvPr id="40" name="Rectangle 39"/>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7492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546811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x + x − 3 = -11</a:t>
            </a:r>
          </a:p>
        </p:txBody>
      </p:sp>
      <p:sp>
        <p:nvSpPr>
          <p:cNvPr id="43" name="Rectangle 4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7492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45" name="TextBox 44"/>
          <p:cNvSpPr txBox="1"/>
          <p:nvPr/>
        </p:nvSpPr>
        <p:spPr>
          <a:xfrm>
            <a:off x="546811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6 + 2x = -10</a:t>
            </a:r>
          </a:p>
        </p:txBody>
      </p:sp>
      <p:sp>
        <p:nvSpPr>
          <p:cNvPr id="46" name="Rectangle 45"/>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7492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48" name="TextBox 47"/>
          <p:cNvSpPr txBox="1"/>
          <p:nvPr/>
        </p:nvSpPr>
        <p:spPr>
          <a:xfrm>
            <a:off x="546811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x − 9 = 69</a:t>
            </a:r>
          </a:p>
        </p:txBody>
      </p:sp>
      <p:sp>
        <p:nvSpPr>
          <p:cNvPr id="49" name="Rectangle 4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17830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1" name="TextBox 50"/>
          <p:cNvSpPr txBox="1"/>
          <p:nvPr/>
        </p:nvSpPr>
        <p:spPr>
          <a:xfrm>
            <a:off x="10131552" y="17830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+ 6) = 80</a:t>
            </a:r>
          </a:p>
        </p:txBody>
      </p:sp>
      <p:sp>
        <p:nvSpPr>
          <p:cNvPr id="52" name="Rectangle 51"/>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38360" y="278892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54" name="TextBox 53"/>
          <p:cNvSpPr txBox="1"/>
          <p:nvPr/>
        </p:nvSpPr>
        <p:spPr>
          <a:xfrm>
            <a:off x="10131552" y="278892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2x − 14 = -6</a:t>
            </a:r>
          </a:p>
        </p:txBody>
      </p:sp>
      <p:sp>
        <p:nvSpPr>
          <p:cNvPr id="55" name="Rectangle 54"/>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738360" y="379476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57" name="TextBox 56"/>
          <p:cNvSpPr txBox="1"/>
          <p:nvPr/>
        </p:nvSpPr>
        <p:spPr>
          <a:xfrm>
            <a:off x="10131552" y="379476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4(x − 3) = -24</a:t>
            </a:r>
          </a:p>
        </p:txBody>
      </p:sp>
      <p:sp>
        <p:nvSpPr>
          <p:cNvPr id="58" name="Rectangle 57"/>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38360" y="480060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60" name="TextBox 59"/>
          <p:cNvSpPr txBox="1"/>
          <p:nvPr/>
        </p:nvSpPr>
        <p:spPr>
          <a:xfrm>
            <a:off x="10131552" y="480060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3x + 8 = x + 40</a:t>
            </a:r>
          </a:p>
        </p:txBody>
      </p:sp>
      <p:sp>
        <p:nvSpPr>
          <p:cNvPr id="61" name="Rectangle 60"/>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738360" y="580644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63" name="TextBox 62"/>
          <p:cNvSpPr txBox="1"/>
          <p:nvPr/>
        </p:nvSpPr>
        <p:spPr>
          <a:xfrm>
            <a:off x="10131552" y="580644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5(x + 4) = -15</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738360" y="6812280"/>
            <a:ext cx="365760" cy="54864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6" name="TextBox 65"/>
          <p:cNvSpPr txBox="1"/>
          <p:nvPr/>
        </p:nvSpPr>
        <p:spPr>
          <a:xfrm>
            <a:off x="10131552" y="6812280"/>
            <a:ext cx="4059936" cy="594360"/>
          </a:xfrm>
          <a:prstGeom prst="rect">
            <a:avLst/>
          </a:prstGeom>
          <a:noFill/>
        </p:spPr>
        <p:txBody>
          <a:bodyPr wrap="square" lIns="54864" rIns="54864" tIns="22860" bIns="22860">
            <a:spAutoFit/>
          </a:bodyPr>
          <a:lstStyle/>
          <a:p>
            <a:pPr>
              <a:lnSpc>
                <a:spcPts val="2520"/>
              </a:lnSpc>
              <a:spcBef>
                <a:spcPts val="0"/>
              </a:spcBef>
              <a:spcAft>
                <a:spcPts val="0"/>
              </a:spcAft>
              <a:defRPr sz="2400" b="0">
                <a:solidFill>
                  <a:srgbClr val="182B3A"/>
                </a:solidFill>
                <a:latin typeface="Arial"/>
              </a:defRPr>
            </a:pPr>
            <a:r>
              <a:t>7(x + 6) = 91</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Initial assessment • Calculate and simplify.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M15-IA</a:t>
            </a:r>
          </a:p>
        </p:txBody>
      </p:sp>
      <p:sp>
        <p:nvSpPr>
          <p:cNvPr id="7" name="Rectangle 6"/>
          <p:cNvSpPr/>
          <p:nvPr/>
        </p:nvSpPr>
        <p:spPr>
          <a:xfrm>
            <a:off x="38404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1.</a:t>
            </a:r>
          </a:p>
        </p:txBody>
      </p:sp>
      <p:sp>
        <p:nvSpPr>
          <p:cNvPr id="9" name="TextBox 8"/>
          <p:cNvSpPr txBox="1"/>
          <p:nvPr/>
        </p:nvSpPr>
        <p:spPr>
          <a:xfrm>
            <a:off x="105156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10" name="Connector 9"/>
          <p:cNvCxnSpPr/>
          <p:nvPr/>
        </p:nvCxnSpPr>
        <p:spPr>
          <a:xfrm>
            <a:off x="105156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05156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2" name="TextBox 11"/>
          <p:cNvSpPr txBox="1"/>
          <p:nvPr/>
        </p:nvSpPr>
        <p:spPr>
          <a:xfrm>
            <a:off x="137807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13" name="TextBox 12"/>
          <p:cNvSpPr txBox="1"/>
          <p:nvPr/>
        </p:nvSpPr>
        <p:spPr>
          <a:xfrm>
            <a:off x="182460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14" name="Connector 13"/>
          <p:cNvCxnSpPr/>
          <p:nvPr/>
        </p:nvCxnSpPr>
        <p:spPr>
          <a:xfrm>
            <a:off x="182460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2460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sp>
        <p:nvSpPr>
          <p:cNvPr id="16" name="Rectangle 15"/>
          <p:cNvSpPr/>
          <p:nvPr/>
        </p:nvSpPr>
        <p:spPr>
          <a:xfrm>
            <a:off x="7379208" y="1508760"/>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16368" y="169163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2.</a:t>
            </a:r>
          </a:p>
        </p:txBody>
      </p:sp>
      <p:sp>
        <p:nvSpPr>
          <p:cNvPr id="18" name="TextBox 17"/>
          <p:cNvSpPr txBox="1"/>
          <p:nvPr/>
        </p:nvSpPr>
        <p:spPr>
          <a:xfrm>
            <a:off x="8046720"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7</a:t>
            </a:r>
          </a:p>
        </p:txBody>
      </p:sp>
      <p:cxnSp>
        <p:nvCxnSpPr>
          <p:cNvPr id="19" name="Connector 18"/>
          <p:cNvCxnSpPr/>
          <p:nvPr/>
        </p:nvCxnSpPr>
        <p:spPr>
          <a:xfrm>
            <a:off x="8046720"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46720"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1" name="TextBox 20"/>
          <p:cNvSpPr txBox="1"/>
          <p:nvPr/>
        </p:nvSpPr>
        <p:spPr>
          <a:xfrm>
            <a:off x="8373237" y="1901952"/>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22" name="TextBox 21"/>
          <p:cNvSpPr txBox="1"/>
          <p:nvPr/>
        </p:nvSpPr>
        <p:spPr>
          <a:xfrm>
            <a:off x="8819769" y="1783080"/>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2</a:t>
            </a:r>
          </a:p>
        </p:txBody>
      </p:sp>
      <p:cxnSp>
        <p:nvCxnSpPr>
          <p:cNvPr id="23" name="Connector 22"/>
          <p:cNvCxnSpPr/>
          <p:nvPr/>
        </p:nvCxnSpPr>
        <p:spPr>
          <a:xfrm>
            <a:off x="8819769" y="204825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819769" y="206654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9</a:t>
            </a:r>
          </a:p>
        </p:txBody>
      </p:sp>
      <p:sp>
        <p:nvSpPr>
          <p:cNvPr id="25" name="Rectangle 24"/>
          <p:cNvSpPr/>
          <p:nvPr/>
        </p:nvSpPr>
        <p:spPr>
          <a:xfrm>
            <a:off x="38404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21207"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3.</a:t>
            </a:r>
          </a:p>
        </p:txBody>
      </p:sp>
      <p:sp>
        <p:nvSpPr>
          <p:cNvPr id="27" name="TextBox 26"/>
          <p:cNvSpPr txBox="1"/>
          <p:nvPr/>
        </p:nvSpPr>
        <p:spPr>
          <a:xfrm>
            <a:off x="1051560"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28" name="Connector 27"/>
          <p:cNvCxnSpPr/>
          <p:nvPr/>
        </p:nvCxnSpPr>
        <p:spPr>
          <a:xfrm>
            <a:off x="1051560"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051560"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30" name="TextBox 29"/>
          <p:cNvSpPr txBox="1"/>
          <p:nvPr/>
        </p:nvSpPr>
        <p:spPr>
          <a:xfrm>
            <a:off x="1378077"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31" name="TextBox 30"/>
          <p:cNvSpPr txBox="1"/>
          <p:nvPr/>
        </p:nvSpPr>
        <p:spPr>
          <a:xfrm>
            <a:off x="1824609"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2" name="Connector 31"/>
          <p:cNvCxnSpPr/>
          <p:nvPr/>
        </p:nvCxnSpPr>
        <p:spPr>
          <a:xfrm>
            <a:off x="1824609"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824609"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6</a:t>
            </a:r>
          </a:p>
        </p:txBody>
      </p:sp>
      <p:sp>
        <p:nvSpPr>
          <p:cNvPr id="34" name="Rectangle 33"/>
          <p:cNvSpPr/>
          <p:nvPr/>
        </p:nvSpPr>
        <p:spPr>
          <a:xfrm>
            <a:off x="7379208" y="4526279"/>
            <a:ext cx="6839712" cy="281635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16368" y="4709159"/>
            <a:ext cx="365760" cy="365760"/>
          </a:xfrm>
          <a:prstGeom prst="rect">
            <a:avLst/>
          </a:prstGeom>
          <a:noFill/>
        </p:spPr>
        <p:txBody>
          <a:bodyPr wrap="square" lIns="54864" rIns="54864" tIns="22860" bIns="22860">
            <a:spAutoFit/>
          </a:bodyPr>
          <a:lstStyle/>
          <a:p>
            <a:pPr>
              <a:lnSpc>
                <a:spcPts val="2415"/>
              </a:lnSpc>
              <a:spcBef>
                <a:spcPts val="0"/>
              </a:spcBef>
              <a:spcAft>
                <a:spcPts val="0"/>
              </a:spcAft>
              <a:defRPr sz="2300" b="1">
                <a:solidFill>
                  <a:srgbClr val="182B3A"/>
                </a:solidFill>
                <a:latin typeface="Arial"/>
              </a:defRPr>
            </a:pPr>
            <a:r>
              <a:t>4.</a:t>
            </a:r>
          </a:p>
        </p:txBody>
      </p:sp>
      <p:sp>
        <p:nvSpPr>
          <p:cNvPr id="36" name="TextBox 35"/>
          <p:cNvSpPr txBox="1"/>
          <p:nvPr/>
        </p:nvSpPr>
        <p:spPr>
          <a:xfrm>
            <a:off x="8046720" y="4919471"/>
            <a:ext cx="335407"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1 </a:t>
            </a:r>
          </a:p>
        </p:txBody>
      </p:sp>
      <p:sp>
        <p:nvSpPr>
          <p:cNvPr id="37" name="TextBox 36"/>
          <p:cNvSpPr txBox="1"/>
          <p:nvPr/>
        </p:nvSpPr>
        <p:spPr>
          <a:xfrm>
            <a:off x="8382127"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1</a:t>
            </a:r>
          </a:p>
        </p:txBody>
      </p:sp>
      <p:cxnSp>
        <p:nvCxnSpPr>
          <p:cNvPr id="38" name="Connector 37"/>
          <p:cNvCxnSpPr/>
          <p:nvPr/>
        </p:nvCxnSpPr>
        <p:spPr>
          <a:xfrm>
            <a:off x="8382127"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382127"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sp>
        <p:nvSpPr>
          <p:cNvPr id="40" name="TextBox 39"/>
          <p:cNvSpPr txBox="1"/>
          <p:nvPr/>
        </p:nvSpPr>
        <p:spPr>
          <a:xfrm>
            <a:off x="8708644" y="4919471"/>
            <a:ext cx="446531" cy="347472"/>
          </a:xfrm>
          <a:prstGeom prst="rect">
            <a:avLst/>
          </a:prstGeom>
          <a:noFill/>
        </p:spPr>
        <p:txBody>
          <a:bodyPr wrap="none" lIns="0" rIns="0" tIns="0" bIns="0">
            <a:spAutoFit/>
          </a:bodyPr>
          <a:lstStyle/>
          <a:p>
            <a:pPr algn="l">
              <a:lnSpc>
                <a:spcPts val="3248"/>
              </a:lnSpc>
              <a:spcAft>
                <a:spcPts val="0"/>
              </a:spcAft>
              <a:defRPr sz="2900" b="0">
                <a:solidFill>
                  <a:srgbClr val="182B3A"/>
                </a:solidFill>
                <a:latin typeface="Arial"/>
              </a:defRPr>
            </a:pPr>
            <a:r>
              <a:t> − </a:t>
            </a:r>
          </a:p>
        </p:txBody>
      </p:sp>
      <p:sp>
        <p:nvSpPr>
          <p:cNvPr id="41" name="TextBox 40"/>
          <p:cNvSpPr txBox="1"/>
          <p:nvPr/>
        </p:nvSpPr>
        <p:spPr>
          <a:xfrm>
            <a:off x="9155176" y="4800599"/>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3</a:t>
            </a:r>
          </a:p>
        </p:txBody>
      </p:sp>
      <p:cxnSp>
        <p:nvCxnSpPr>
          <p:cNvPr id="42" name="Connector 41"/>
          <p:cNvCxnSpPr/>
          <p:nvPr/>
        </p:nvCxnSpPr>
        <p:spPr>
          <a:xfrm>
            <a:off x="9155176" y="5065775"/>
            <a:ext cx="27165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155176" y="5084063"/>
            <a:ext cx="271653" cy="256032"/>
          </a:xfrm>
          <a:prstGeom prst="rect">
            <a:avLst/>
          </a:prstGeom>
          <a:noFill/>
        </p:spPr>
        <p:txBody>
          <a:bodyPr wrap="none" lIns="0" rIns="0" tIns="0" bIns="0">
            <a:spAutoFit/>
          </a:bodyPr>
          <a:lstStyle/>
          <a:p>
            <a:pPr algn="ctr">
              <a:lnSpc>
                <a:spcPts val="2576"/>
              </a:lnSpc>
              <a:spcAft>
                <a:spcPts val="0"/>
              </a:spcAft>
              <a:defRPr sz="2300" b="0">
                <a:solidFill>
                  <a:srgbClr val="182B3A"/>
                </a:solidFill>
                <a:latin typeface="Arial"/>
              </a:defRPr>
            </a:pPr>
            <a:r>
              <a:t>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Technique recap • Equal-sized parts before adding or subtracting.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M15-RECAP</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Keep the parts the same size</a:t>
            </a:r>
          </a:p>
        </p:txBody>
      </p:sp>
      <p:sp>
        <p:nvSpPr>
          <p:cNvPr id="17" name="TextBox 16"/>
          <p:cNvSpPr txBox="1"/>
          <p:nvPr/>
        </p:nvSpPr>
        <p:spPr>
          <a:xfrm>
            <a:off x="521207"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8" name="Connector 17"/>
          <p:cNvCxnSpPr/>
          <p:nvPr/>
        </p:nvCxnSpPr>
        <p:spPr>
          <a:xfrm>
            <a:off x="521207" y="2688336"/>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7"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0" name="TextBox 19"/>
          <p:cNvSpPr txBox="1"/>
          <p:nvPr/>
        </p:nvSpPr>
        <p:spPr>
          <a:xfrm>
            <a:off x="812800"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1" name="TextBox 20"/>
          <p:cNvSpPr txBox="1"/>
          <p:nvPr/>
        </p:nvSpPr>
        <p:spPr>
          <a:xfrm>
            <a:off x="1176782"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2" name="Connector 21"/>
          <p:cNvCxnSpPr/>
          <p:nvPr/>
        </p:nvCxnSpPr>
        <p:spPr>
          <a:xfrm>
            <a:off x="1176782"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176782"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24" name="TextBox 23"/>
          <p:cNvSpPr txBox="1"/>
          <p:nvPr/>
        </p:nvSpPr>
        <p:spPr>
          <a:xfrm>
            <a:off x="521207"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5" name="Connector 24"/>
          <p:cNvCxnSpPr/>
          <p:nvPr/>
        </p:nvCxnSpPr>
        <p:spPr>
          <a:xfrm>
            <a:off x="521207"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7"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81280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117678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117678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17678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1" name="TextBox 30"/>
          <p:cNvSpPr txBox="1"/>
          <p:nvPr/>
        </p:nvSpPr>
        <p:spPr>
          <a:xfrm>
            <a:off x="146837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2" name="TextBox 31"/>
          <p:cNvSpPr txBox="1"/>
          <p:nvPr/>
        </p:nvSpPr>
        <p:spPr>
          <a:xfrm>
            <a:off x="1832355"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3" name="Connector 32"/>
          <p:cNvCxnSpPr/>
          <p:nvPr/>
        </p:nvCxnSpPr>
        <p:spPr>
          <a:xfrm>
            <a:off x="1832355" y="33101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32355"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5" name="TextBox 34"/>
          <p:cNvSpPr txBox="1"/>
          <p:nvPr/>
        </p:nvSpPr>
        <p:spPr>
          <a:xfrm>
            <a:off x="212394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6" name="TextBox 35"/>
          <p:cNvSpPr txBox="1"/>
          <p:nvPr/>
        </p:nvSpPr>
        <p:spPr>
          <a:xfrm>
            <a:off x="2487930"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7" name="Connector 36"/>
          <p:cNvCxnSpPr/>
          <p:nvPr/>
        </p:nvCxnSpPr>
        <p:spPr>
          <a:xfrm>
            <a:off x="2487930"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487930"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39" name="TextBox 38"/>
          <p:cNvSpPr txBox="1"/>
          <p:nvPr/>
        </p:nvSpPr>
        <p:spPr>
          <a:xfrm>
            <a:off x="521207"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40" name="TextBox 39"/>
          <p:cNvSpPr txBox="1"/>
          <p:nvPr/>
        </p:nvSpPr>
        <p:spPr>
          <a:xfrm>
            <a:off x="802640"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41" name="Connector 40"/>
          <p:cNvCxnSpPr/>
          <p:nvPr/>
        </p:nvCxnSpPr>
        <p:spPr>
          <a:xfrm>
            <a:off x="802640"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02640"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3" name="TextBox 42"/>
          <p:cNvSpPr txBox="1"/>
          <p:nvPr/>
        </p:nvSpPr>
        <p:spPr>
          <a:xfrm>
            <a:off x="1094232" y="3785616"/>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44" name="TextBox 43"/>
          <p:cNvSpPr txBox="1"/>
          <p:nvPr/>
        </p:nvSpPr>
        <p:spPr>
          <a:xfrm>
            <a:off x="1458214" y="366674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45" name="Connector 44"/>
          <p:cNvCxnSpPr/>
          <p:nvPr/>
        </p:nvCxnSpPr>
        <p:spPr>
          <a:xfrm>
            <a:off x="1458214" y="3931920"/>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458214" y="3950208"/>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sp>
        <p:nvSpPr>
          <p:cNvPr id="47" name="Rectangle 46"/>
          <p:cNvSpPr/>
          <p:nvPr/>
        </p:nvSpPr>
        <p:spPr>
          <a:xfrm>
            <a:off x="448056" y="4572000"/>
            <a:ext cx="14478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958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343656" y="4572000"/>
            <a:ext cx="14478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480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71956" y="5148072"/>
            <a:ext cx="723900" cy="365760"/>
          </a:xfrm>
          <a:prstGeom prst="rect">
            <a:avLst/>
          </a:prstGeom>
          <a:solidFill>
            <a:srgbClr val="BBDDDD"/>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958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6197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3436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067556" y="5148072"/>
            <a:ext cx="723900" cy="365760"/>
          </a:xfrm>
          <a:prstGeom prst="rect">
            <a:avLst/>
          </a:prstGeom>
          <a:solidFill>
            <a:srgbClr val="FFFFFF"/>
          </a:solidFill>
          <a:ln>
            <a:solidFill>
              <a:srgbClr val="3559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8056" y="5815584"/>
            <a:ext cx="4389120" cy="15544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The two strips are the same whole.</a:t>
            </a:r>
          </a:p>
          <a:p>
            <a:pPr>
              <a:lnSpc>
                <a:spcPts val="1995"/>
              </a:lnSpc>
              <a:spcBef>
                <a:spcPts val="0"/>
              </a:spcBef>
              <a:spcAft>
                <a:spcPts val="0"/>
              </a:spcAft>
              <a:defRPr sz="1900" b="0">
                <a:solidFill>
                  <a:srgbClr val="182B3A"/>
                </a:solidFill>
                <a:latin typeface="Arial"/>
              </a:defRPr>
            </a:pPr>
            <a:r>
              <a:t>Multiply top and bottom by 2: the value stays the same.</a:t>
            </a:r>
          </a:p>
        </p:txBody>
      </p:sp>
      <p:sp>
        <p:nvSpPr>
          <p:cNvPr id="57" name="TextBox 56"/>
          <p:cNvSpPr txBox="1"/>
          <p:nvPr/>
        </p:nvSpPr>
        <p:spPr>
          <a:xfrm>
            <a:off x="5111496" y="1783080"/>
            <a:ext cx="4389120" cy="457200"/>
          </a:xfrm>
          <a:prstGeom prst="rect">
            <a:avLst/>
          </a:prstGeom>
          <a:noFill/>
        </p:spPr>
        <p:txBody>
          <a:bodyPr wrap="square" lIns="54864" rIns="54864" tIns="22860" bIns="22860">
            <a:spAutoFit/>
          </a:bodyPr>
          <a:lstStyle/>
          <a:p>
            <a:pPr>
              <a:lnSpc>
                <a:spcPts val="2310"/>
              </a:lnSpc>
              <a:spcBef>
                <a:spcPts val="0"/>
              </a:spcBef>
              <a:spcAft>
                <a:spcPts val="0"/>
              </a:spcAft>
              <a:defRPr sz="2200" b="1">
                <a:solidFill>
                  <a:srgbClr val="182B3A"/>
                </a:solidFill>
                <a:latin typeface="Arial"/>
              </a:defRPr>
            </a:pPr>
            <a:r>
              <a:t>Use a common denominator</a:t>
            </a:r>
          </a:p>
        </p:txBody>
      </p:sp>
      <p:sp>
        <p:nvSpPr>
          <p:cNvPr id="58" name="TextBox 57"/>
          <p:cNvSpPr txBox="1"/>
          <p:nvPr/>
        </p:nvSpPr>
        <p:spPr>
          <a:xfrm>
            <a:off x="5184648"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3</a:t>
            </a:r>
          </a:p>
        </p:txBody>
      </p:sp>
      <p:cxnSp>
        <p:nvCxnSpPr>
          <p:cNvPr id="59" name="Connector 58"/>
          <p:cNvCxnSpPr/>
          <p:nvPr/>
        </p:nvCxnSpPr>
        <p:spPr>
          <a:xfrm>
            <a:off x="5184648"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184648"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4</a:t>
            </a:r>
          </a:p>
        </p:txBody>
      </p:sp>
      <p:sp>
        <p:nvSpPr>
          <p:cNvPr id="61" name="TextBox 60"/>
          <p:cNvSpPr txBox="1"/>
          <p:nvPr/>
        </p:nvSpPr>
        <p:spPr>
          <a:xfrm>
            <a:off x="5482590" y="2542032"/>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62" name="TextBox 61"/>
          <p:cNvSpPr txBox="1"/>
          <p:nvPr/>
        </p:nvSpPr>
        <p:spPr>
          <a:xfrm>
            <a:off x="5859272" y="2423160"/>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a:t>
            </a:r>
          </a:p>
        </p:txBody>
      </p:sp>
      <p:cxnSp>
        <p:nvCxnSpPr>
          <p:cNvPr id="63" name="Connector 62"/>
          <p:cNvCxnSpPr/>
          <p:nvPr/>
        </p:nvCxnSpPr>
        <p:spPr>
          <a:xfrm>
            <a:off x="5859272" y="2688336"/>
            <a:ext cx="2430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859272" y="2706624"/>
            <a:ext cx="24307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6</a:t>
            </a:r>
          </a:p>
        </p:txBody>
      </p:sp>
      <p:sp>
        <p:nvSpPr>
          <p:cNvPr id="65" name="TextBox 64"/>
          <p:cNvSpPr txBox="1"/>
          <p:nvPr/>
        </p:nvSpPr>
        <p:spPr>
          <a:xfrm>
            <a:off x="5184648" y="3163824"/>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66" name="TextBox 65"/>
          <p:cNvSpPr txBox="1"/>
          <p:nvPr/>
        </p:nvSpPr>
        <p:spPr>
          <a:xfrm>
            <a:off x="5475604"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9</a:t>
            </a:r>
          </a:p>
        </p:txBody>
      </p:sp>
      <p:cxnSp>
        <p:nvCxnSpPr>
          <p:cNvPr id="67" name="Connector 66"/>
          <p:cNvCxnSpPr/>
          <p:nvPr/>
        </p:nvCxnSpPr>
        <p:spPr>
          <a:xfrm>
            <a:off x="5475604" y="3310128"/>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475604"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69" name="TextBox 68"/>
          <p:cNvSpPr txBox="1"/>
          <p:nvPr/>
        </p:nvSpPr>
        <p:spPr>
          <a:xfrm>
            <a:off x="5906897" y="3163824"/>
            <a:ext cx="376682"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 </a:t>
            </a:r>
          </a:p>
        </p:txBody>
      </p:sp>
      <p:sp>
        <p:nvSpPr>
          <p:cNvPr id="70" name="TextBox 69"/>
          <p:cNvSpPr txBox="1"/>
          <p:nvPr/>
        </p:nvSpPr>
        <p:spPr>
          <a:xfrm>
            <a:off x="6283579" y="3044952"/>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2</a:t>
            </a:r>
          </a:p>
        </p:txBody>
      </p:sp>
      <p:cxnSp>
        <p:nvCxnSpPr>
          <p:cNvPr id="71" name="Connector 70"/>
          <p:cNvCxnSpPr/>
          <p:nvPr/>
        </p:nvCxnSpPr>
        <p:spPr>
          <a:xfrm>
            <a:off x="6283579" y="3310128"/>
            <a:ext cx="3764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6283579" y="3328415"/>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3" name="TextBox 72"/>
          <p:cNvSpPr txBox="1"/>
          <p:nvPr/>
        </p:nvSpPr>
        <p:spPr>
          <a:xfrm>
            <a:off x="5184648" y="3785616"/>
            <a:ext cx="290957" cy="347472"/>
          </a:xfrm>
          <a:prstGeom prst="rect">
            <a:avLst/>
          </a:prstGeom>
          <a:noFill/>
        </p:spPr>
        <p:txBody>
          <a:bodyPr wrap="none" lIns="0" rIns="0" tIns="0" bIns="0">
            <a:spAutoFit/>
          </a:bodyPr>
          <a:lstStyle/>
          <a:p>
            <a:pPr algn="l">
              <a:lnSpc>
                <a:spcPts val="2688"/>
              </a:lnSpc>
              <a:spcAft>
                <a:spcPts val="0"/>
              </a:spcAft>
              <a:defRPr sz="2400" b="0">
                <a:solidFill>
                  <a:srgbClr val="182B3A"/>
                </a:solidFill>
                <a:latin typeface="Arial"/>
              </a:defRPr>
            </a:pPr>
            <a:r>
              <a:t>= </a:t>
            </a:r>
          </a:p>
        </p:txBody>
      </p:sp>
      <p:sp>
        <p:nvSpPr>
          <p:cNvPr id="74" name="TextBox 73"/>
          <p:cNvSpPr txBox="1"/>
          <p:nvPr/>
        </p:nvSpPr>
        <p:spPr>
          <a:xfrm>
            <a:off x="5475604" y="3666744"/>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7</a:t>
            </a:r>
          </a:p>
        </p:txBody>
      </p:sp>
      <p:cxnSp>
        <p:nvCxnSpPr>
          <p:cNvPr id="75" name="Connector 74"/>
          <p:cNvCxnSpPr/>
          <p:nvPr/>
        </p:nvCxnSpPr>
        <p:spPr>
          <a:xfrm>
            <a:off x="5475604" y="3931920"/>
            <a:ext cx="3764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5475604" y="3950208"/>
            <a:ext cx="376428" cy="256032"/>
          </a:xfrm>
          <a:prstGeom prst="rect">
            <a:avLst/>
          </a:prstGeom>
          <a:noFill/>
        </p:spPr>
        <p:txBody>
          <a:bodyPr wrap="none" lIns="0" rIns="0" tIns="0" bIns="0">
            <a:spAutoFit/>
          </a:bodyPr>
          <a:lstStyle/>
          <a:p>
            <a:pPr algn="ctr">
              <a:lnSpc>
                <a:spcPts val="2128"/>
              </a:lnSpc>
              <a:spcAft>
                <a:spcPts val="0"/>
              </a:spcAft>
              <a:defRPr sz="1900" b="0">
                <a:solidFill>
                  <a:srgbClr val="182B3A"/>
                </a:solidFill>
                <a:latin typeface="Arial"/>
              </a:defRPr>
            </a:pPr>
            <a:r>
              <a:t>12</a:t>
            </a:r>
          </a:p>
        </p:txBody>
      </p:sp>
      <p:sp>
        <p:nvSpPr>
          <p:cNvPr id="77" name="TextBox 76"/>
          <p:cNvSpPr txBox="1"/>
          <p:nvPr/>
        </p:nvSpPr>
        <p:spPr>
          <a:xfrm>
            <a:off x="5111496" y="4709160"/>
            <a:ext cx="4389120" cy="265176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Choose a common multiple: 12.</a:t>
            </a:r>
          </a:p>
          <a:p>
            <a:pPr>
              <a:lnSpc>
                <a:spcPts val="1995"/>
              </a:lnSpc>
              <a:spcBef>
                <a:spcPts val="0"/>
              </a:spcBef>
              <a:spcAft>
                <a:spcPts val="0"/>
              </a:spcAft>
              <a:defRPr sz="1900" b="0">
                <a:solidFill>
                  <a:srgbClr val="182B3A"/>
                </a:solidFill>
                <a:latin typeface="Arial"/>
              </a:defRPr>
            </a:pPr>
            <a:r>
              <a:t>Multiply each numerator by the same factor as its denominator.</a:t>
            </a:r>
          </a:p>
          <a:p>
            <a:pPr>
              <a:lnSpc>
                <a:spcPts val="1995"/>
              </a:lnSpc>
              <a:spcBef>
                <a:spcPts val="0"/>
              </a:spcBef>
              <a:spcAft>
                <a:spcPts val="0"/>
              </a:spcAft>
              <a:defRPr sz="1900" b="0">
                <a:solidFill>
                  <a:srgbClr val="182B3A"/>
                </a:solidFill>
                <a:latin typeface="Arial"/>
              </a:defRPr>
            </a:pPr>
            <a:r>
              <a:t>Only add or subtract the numerators.</a:t>
            </a:r>
          </a:p>
          <a:p>
            <a:pPr>
              <a:lnSpc>
                <a:spcPts val="1995"/>
              </a:lnSpc>
              <a:spcBef>
                <a:spcPts val="0"/>
              </a:spcBef>
              <a:spcAft>
                <a:spcPts val="0"/>
              </a:spcAft>
              <a:defRPr sz="1900" b="0">
                <a:solidFill>
                  <a:srgbClr val="182B3A"/>
                </a:solidFill>
                <a:latin typeface="Arial"/>
              </a:defRPr>
            </a:pPr>
            <a:r>
              <a:t>Equal fractions subtract to zero: 3/5 − 3/5 = 0.</a:t>
            </a:r>
          </a:p>
        </p:txBody>
      </p:sp>
      <p:sp>
        <p:nvSpPr>
          <p:cNvPr id="78" name="TextBox 77"/>
          <p:cNvSpPr txBox="1"/>
          <p:nvPr/>
        </p:nvSpPr>
        <p:spPr>
          <a:xfrm>
            <a:off x="9774936" y="1783080"/>
            <a:ext cx="4389120" cy="45720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Mixed numbers and simplifying</a:t>
            </a:r>
          </a:p>
        </p:txBody>
      </p:sp>
      <p:sp>
        <p:nvSpPr>
          <p:cNvPr id="79" name="TextBox 78"/>
          <p:cNvSpPr txBox="1"/>
          <p:nvPr/>
        </p:nvSpPr>
        <p:spPr>
          <a:xfrm>
            <a:off x="9848088" y="2542032"/>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80" name="TextBox 79"/>
          <p:cNvSpPr txBox="1"/>
          <p:nvPr/>
        </p:nvSpPr>
        <p:spPr>
          <a:xfrm>
            <a:off x="10119995"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81" name="Connector 80"/>
          <p:cNvCxnSpPr/>
          <p:nvPr/>
        </p:nvCxnSpPr>
        <p:spPr>
          <a:xfrm>
            <a:off x="10119995"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0119995"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3" name="TextBox 82"/>
          <p:cNvSpPr txBox="1"/>
          <p:nvPr/>
        </p:nvSpPr>
        <p:spPr>
          <a:xfrm>
            <a:off x="10411587" y="2542032"/>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84" name="TextBox 83"/>
          <p:cNvSpPr txBox="1"/>
          <p:nvPr/>
        </p:nvSpPr>
        <p:spPr>
          <a:xfrm>
            <a:off x="10775569" y="242316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5" name="Connector 84"/>
          <p:cNvCxnSpPr/>
          <p:nvPr/>
        </p:nvCxnSpPr>
        <p:spPr>
          <a:xfrm>
            <a:off x="10775569" y="2688336"/>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0775569" y="2706624"/>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87" name="TextBox 86"/>
          <p:cNvSpPr txBox="1"/>
          <p:nvPr/>
        </p:nvSpPr>
        <p:spPr>
          <a:xfrm>
            <a:off x="9848088"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88" name="Connector 87"/>
          <p:cNvCxnSpPr/>
          <p:nvPr/>
        </p:nvCxnSpPr>
        <p:spPr>
          <a:xfrm>
            <a:off x="9848088"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9848088"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90" name="TextBox 89"/>
          <p:cNvSpPr txBox="1"/>
          <p:nvPr/>
        </p:nvSpPr>
        <p:spPr>
          <a:xfrm>
            <a:off x="10139680"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1" name="TextBox 90"/>
          <p:cNvSpPr txBox="1"/>
          <p:nvPr/>
        </p:nvSpPr>
        <p:spPr>
          <a:xfrm>
            <a:off x="10503662" y="30449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92" name="Connector 91"/>
          <p:cNvCxnSpPr/>
          <p:nvPr/>
        </p:nvCxnSpPr>
        <p:spPr>
          <a:xfrm>
            <a:off x="10503662" y="33101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10503662" y="3328415"/>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94" name="TextBox 93"/>
          <p:cNvSpPr txBox="1"/>
          <p:nvPr/>
        </p:nvSpPr>
        <p:spPr>
          <a:xfrm>
            <a:off x="10795254"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5" name="TextBox 94"/>
          <p:cNvSpPr txBox="1"/>
          <p:nvPr/>
        </p:nvSpPr>
        <p:spPr>
          <a:xfrm>
            <a:off x="11159236"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16</a:t>
            </a:r>
          </a:p>
        </p:txBody>
      </p:sp>
      <p:cxnSp>
        <p:nvCxnSpPr>
          <p:cNvPr id="96" name="Connector 95"/>
          <p:cNvCxnSpPr/>
          <p:nvPr/>
        </p:nvCxnSpPr>
        <p:spPr>
          <a:xfrm>
            <a:off x="11159236"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11159236"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98" name="TextBox 97"/>
          <p:cNvSpPr txBox="1"/>
          <p:nvPr/>
        </p:nvSpPr>
        <p:spPr>
          <a:xfrm>
            <a:off x="11577828" y="31638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99" name="TextBox 98"/>
          <p:cNvSpPr txBox="1"/>
          <p:nvPr/>
        </p:nvSpPr>
        <p:spPr>
          <a:xfrm>
            <a:off x="11941810" y="30449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cxnSp>
        <p:nvCxnSpPr>
          <p:cNvPr id="100" name="Connector 99"/>
          <p:cNvCxnSpPr/>
          <p:nvPr/>
        </p:nvCxnSpPr>
        <p:spPr>
          <a:xfrm>
            <a:off x="11941810" y="33101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1941810" y="3328415"/>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2" name="TextBox 101"/>
          <p:cNvSpPr txBox="1"/>
          <p:nvPr/>
        </p:nvSpPr>
        <p:spPr>
          <a:xfrm>
            <a:off x="9848088" y="3785616"/>
            <a:ext cx="28143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a:t>
            </a:r>
          </a:p>
        </p:txBody>
      </p:sp>
      <p:sp>
        <p:nvSpPr>
          <p:cNvPr id="103" name="TextBox 102"/>
          <p:cNvSpPr txBox="1"/>
          <p:nvPr/>
        </p:nvSpPr>
        <p:spPr>
          <a:xfrm>
            <a:off x="10129520" y="3666744"/>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04" name="Connector 103"/>
          <p:cNvCxnSpPr/>
          <p:nvPr/>
        </p:nvCxnSpPr>
        <p:spPr>
          <a:xfrm>
            <a:off x="10129520" y="3931920"/>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10129520" y="3950208"/>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12</a:t>
            </a:r>
          </a:p>
        </p:txBody>
      </p:sp>
      <p:sp>
        <p:nvSpPr>
          <p:cNvPr id="106" name="TextBox 105"/>
          <p:cNvSpPr txBox="1"/>
          <p:nvPr/>
        </p:nvSpPr>
        <p:spPr>
          <a:xfrm>
            <a:off x="9848088"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cxnSp>
        <p:nvCxnSpPr>
          <p:cNvPr id="107" name="Connector 106"/>
          <p:cNvCxnSpPr/>
          <p:nvPr/>
        </p:nvCxnSpPr>
        <p:spPr>
          <a:xfrm>
            <a:off x="9848088"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9848088"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109" name="TextBox 108"/>
          <p:cNvSpPr txBox="1"/>
          <p:nvPr/>
        </p:nvSpPr>
        <p:spPr>
          <a:xfrm>
            <a:off x="10139680" y="4407408"/>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110" name="TextBox 109"/>
          <p:cNvSpPr txBox="1"/>
          <p:nvPr/>
        </p:nvSpPr>
        <p:spPr>
          <a:xfrm>
            <a:off x="10503662"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cxnSp>
        <p:nvCxnSpPr>
          <p:cNvPr id="111" name="Connector 110"/>
          <p:cNvCxnSpPr/>
          <p:nvPr/>
        </p:nvCxnSpPr>
        <p:spPr>
          <a:xfrm>
            <a:off x="10503662"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10503662"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3" name="TextBox 112"/>
          <p:cNvSpPr txBox="1"/>
          <p:nvPr/>
        </p:nvSpPr>
        <p:spPr>
          <a:xfrm>
            <a:off x="10795254" y="4407408"/>
            <a:ext cx="608457"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1 </a:t>
            </a:r>
          </a:p>
        </p:txBody>
      </p:sp>
      <p:sp>
        <p:nvSpPr>
          <p:cNvPr id="114" name="TextBox 113"/>
          <p:cNvSpPr txBox="1"/>
          <p:nvPr/>
        </p:nvSpPr>
        <p:spPr>
          <a:xfrm>
            <a:off x="11403711" y="428853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115" name="Connector 114"/>
          <p:cNvCxnSpPr/>
          <p:nvPr/>
        </p:nvCxnSpPr>
        <p:spPr>
          <a:xfrm>
            <a:off x="11403711" y="4553712"/>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11403711" y="4572000"/>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117" name="TextBox 116"/>
          <p:cNvSpPr txBox="1"/>
          <p:nvPr/>
        </p:nvSpPr>
        <p:spPr>
          <a:xfrm>
            <a:off x="9774936" y="5303520"/>
            <a:ext cx="4389120" cy="2103120"/>
          </a:xfrm>
          <a:prstGeom prst="rect">
            <a:avLst/>
          </a:prstGeom>
          <a:noFill/>
        </p:spPr>
        <p:txBody>
          <a:bodyPr wrap="square" lIns="54864" rIns="54864" tIns="22860" bIns="22860">
            <a:spAutoFit/>
          </a:bodyPr>
          <a:lstStyle/>
          <a:p>
            <a:pPr>
              <a:lnSpc>
                <a:spcPts val="1890"/>
              </a:lnSpc>
              <a:spcBef>
                <a:spcPts val="0"/>
              </a:spcBef>
              <a:spcAft>
                <a:spcPts val="0"/>
              </a:spcAft>
              <a:defRPr sz="1800" b="0">
                <a:solidFill>
                  <a:srgbClr val="182B3A"/>
                </a:solidFill>
                <a:latin typeface="Arial"/>
              </a:defRPr>
            </a:pPr>
            <a:r>
              <a:t>Whole × denominator + numerator gives the improper numerator.</a:t>
            </a:r>
          </a:p>
          <a:p>
            <a:pPr>
              <a:lnSpc>
                <a:spcPts val="1890"/>
              </a:lnSpc>
              <a:spcBef>
                <a:spcPts val="0"/>
              </a:spcBef>
              <a:spcAft>
                <a:spcPts val="0"/>
              </a:spcAft>
              <a:defRPr sz="1800" b="0">
                <a:solidFill>
                  <a:srgbClr val="182B3A"/>
                </a:solidFill>
                <a:latin typeface="Arial"/>
              </a:defRPr>
            </a:pPr>
            <a:r>
              <a:t>Simplify by dividing top and bottom by the same factor.</a:t>
            </a:r>
          </a:p>
          <a:p>
            <a:pPr>
              <a:lnSpc>
                <a:spcPts val="1890"/>
              </a:lnSpc>
              <a:spcBef>
                <a:spcPts val="0"/>
              </a:spcBef>
              <a:spcAft>
                <a:spcPts val="0"/>
              </a:spcAft>
              <a:defRPr sz="1800" b="0">
                <a:solidFill>
                  <a:srgbClr val="182B3A"/>
                </a:solidFill>
                <a:latin typeface="Arial"/>
              </a:defRPr>
            </a:pPr>
            <a:r>
              <a:t>For a mixed answer, divide: quotient is the whole; remainder is the numerator.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Worked demo • Calculate, simplify and give mixed answers where needed.</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M15-S01</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19"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 name="Connector 14"/>
          <p:cNvCxnSpPr/>
          <p:nvPr/>
        </p:nvCxnSpPr>
        <p:spPr>
          <a:xfrm>
            <a:off x="502919"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919"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7" name="TextBox 16"/>
          <p:cNvSpPr txBox="1"/>
          <p:nvPr/>
        </p:nvSpPr>
        <p:spPr>
          <a:xfrm>
            <a:off x="81038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18" name="TextBox 17"/>
          <p:cNvSpPr txBox="1"/>
          <p:nvPr/>
        </p:nvSpPr>
        <p:spPr>
          <a:xfrm>
            <a:off x="121564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9" name="Connector 18"/>
          <p:cNvCxnSpPr/>
          <p:nvPr/>
        </p:nvCxnSpPr>
        <p:spPr>
          <a:xfrm>
            <a:off x="1215644" y="2121408"/>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21564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1" name="TextBox 20"/>
          <p:cNvSpPr txBox="1"/>
          <p:nvPr/>
        </p:nvSpPr>
        <p:spPr>
          <a:xfrm>
            <a:off x="502919"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2" name="TextBox 21"/>
          <p:cNvSpPr txBox="1"/>
          <p:nvPr/>
        </p:nvSpPr>
        <p:spPr>
          <a:xfrm>
            <a:off x="81610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3" name="Connector 22"/>
          <p:cNvCxnSpPr/>
          <p:nvPr/>
        </p:nvCxnSpPr>
        <p:spPr>
          <a:xfrm>
            <a:off x="81610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610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5" name="TextBox 24"/>
          <p:cNvSpPr txBox="1"/>
          <p:nvPr/>
        </p:nvSpPr>
        <p:spPr>
          <a:xfrm>
            <a:off x="502919"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26" name="TextBox 25"/>
          <p:cNvSpPr txBox="1"/>
          <p:nvPr/>
        </p:nvSpPr>
        <p:spPr>
          <a:xfrm>
            <a:off x="81610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7" name="Connector 26"/>
          <p:cNvCxnSpPr/>
          <p:nvPr/>
        </p:nvCxnSpPr>
        <p:spPr>
          <a:xfrm>
            <a:off x="81610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610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29" name="TextBox 28"/>
          <p:cNvSpPr txBox="1"/>
          <p:nvPr/>
        </p:nvSpPr>
        <p:spPr>
          <a:xfrm>
            <a:off x="44805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30" name="Rectangle 29"/>
          <p:cNvSpPr/>
          <p:nvPr/>
        </p:nvSpPr>
        <p:spPr>
          <a:xfrm>
            <a:off x="498348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66360"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32" name="Connector 31"/>
          <p:cNvCxnSpPr/>
          <p:nvPr/>
        </p:nvCxnSpPr>
        <p:spPr>
          <a:xfrm>
            <a:off x="5166360"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66360"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34" name="TextBox 33"/>
          <p:cNvSpPr txBox="1"/>
          <p:nvPr/>
        </p:nvSpPr>
        <p:spPr>
          <a:xfrm>
            <a:off x="5473827"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35" name="TextBox 34"/>
          <p:cNvSpPr txBox="1"/>
          <p:nvPr/>
        </p:nvSpPr>
        <p:spPr>
          <a:xfrm>
            <a:off x="5879084"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36" name="Connector 35"/>
          <p:cNvCxnSpPr/>
          <p:nvPr/>
        </p:nvCxnSpPr>
        <p:spPr>
          <a:xfrm>
            <a:off x="5879084"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879084"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38" name="TextBox 37"/>
          <p:cNvSpPr txBox="1"/>
          <p:nvPr/>
        </p:nvSpPr>
        <p:spPr>
          <a:xfrm>
            <a:off x="516636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39" name="TextBox 38"/>
          <p:cNvSpPr txBox="1"/>
          <p:nvPr/>
        </p:nvSpPr>
        <p:spPr>
          <a:xfrm>
            <a:off x="547954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0" name="Connector 39"/>
          <p:cNvCxnSpPr/>
          <p:nvPr/>
        </p:nvCxnSpPr>
        <p:spPr>
          <a:xfrm>
            <a:off x="547954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7954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2" name="TextBox 41"/>
          <p:cNvSpPr txBox="1"/>
          <p:nvPr/>
        </p:nvSpPr>
        <p:spPr>
          <a:xfrm>
            <a:off x="578700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43" name="TextBox 42"/>
          <p:cNvSpPr txBox="1"/>
          <p:nvPr/>
        </p:nvSpPr>
        <p:spPr>
          <a:xfrm>
            <a:off x="619226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44" name="Connector 43"/>
          <p:cNvCxnSpPr/>
          <p:nvPr/>
        </p:nvCxnSpPr>
        <p:spPr>
          <a:xfrm>
            <a:off x="619226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19226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6" name="TextBox 45"/>
          <p:cNvSpPr txBox="1"/>
          <p:nvPr/>
        </p:nvSpPr>
        <p:spPr>
          <a:xfrm>
            <a:off x="516636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47" name="TextBox 46"/>
          <p:cNvSpPr txBox="1"/>
          <p:nvPr/>
        </p:nvSpPr>
        <p:spPr>
          <a:xfrm>
            <a:off x="5479542" y="3374135"/>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48" name="Connector 47"/>
          <p:cNvCxnSpPr/>
          <p:nvPr/>
        </p:nvCxnSpPr>
        <p:spPr>
          <a:xfrm>
            <a:off x="5479542" y="3639311"/>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479542" y="3657600"/>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50" name="TextBox 49"/>
          <p:cNvSpPr txBox="1"/>
          <p:nvPr/>
        </p:nvSpPr>
        <p:spPr>
          <a:xfrm>
            <a:off x="516636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51" name="TextBox 50"/>
          <p:cNvSpPr txBox="1"/>
          <p:nvPr/>
        </p:nvSpPr>
        <p:spPr>
          <a:xfrm>
            <a:off x="5479542" y="4133087"/>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2" name="Connector 51"/>
          <p:cNvCxnSpPr/>
          <p:nvPr/>
        </p:nvCxnSpPr>
        <p:spPr>
          <a:xfrm>
            <a:off x="5479542" y="43982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79542" y="44165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sp>
        <p:nvSpPr>
          <p:cNvPr id="54" name="TextBox 53"/>
          <p:cNvSpPr txBox="1"/>
          <p:nvPr/>
        </p:nvSpPr>
        <p:spPr>
          <a:xfrm>
            <a:off x="511149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
        <p:nvSpPr>
          <p:cNvPr id="55" name="Rectangle 54"/>
          <p:cNvSpPr/>
          <p:nvPr/>
        </p:nvSpPr>
        <p:spPr>
          <a:xfrm>
            <a:off x="9646920" y="1600200"/>
            <a:ext cx="4626864" cy="60807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829800" y="1975103"/>
            <a:ext cx="303656"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1 </a:t>
            </a:r>
          </a:p>
        </p:txBody>
      </p:sp>
      <p:sp>
        <p:nvSpPr>
          <p:cNvPr id="57" name="TextBox 56"/>
          <p:cNvSpPr txBox="1"/>
          <p:nvPr/>
        </p:nvSpPr>
        <p:spPr>
          <a:xfrm>
            <a:off x="10133457"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58" name="Connector 57"/>
          <p:cNvCxnSpPr/>
          <p:nvPr/>
        </p:nvCxnSpPr>
        <p:spPr>
          <a:xfrm>
            <a:off x="10133457"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0133457"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0" name="TextBox 59"/>
          <p:cNvSpPr txBox="1"/>
          <p:nvPr/>
        </p:nvSpPr>
        <p:spPr>
          <a:xfrm>
            <a:off x="10440924" y="1975103"/>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1" name="TextBox 60"/>
          <p:cNvSpPr txBox="1"/>
          <p:nvPr/>
        </p:nvSpPr>
        <p:spPr>
          <a:xfrm>
            <a:off x="10846181" y="185623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2" name="Connector 61"/>
          <p:cNvCxnSpPr/>
          <p:nvPr/>
        </p:nvCxnSpPr>
        <p:spPr>
          <a:xfrm>
            <a:off x="10846181" y="2121408"/>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10846181" y="2139696"/>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64" name="TextBox 63"/>
          <p:cNvSpPr txBox="1"/>
          <p:nvPr/>
        </p:nvSpPr>
        <p:spPr>
          <a:xfrm>
            <a:off x="9829800" y="2734056"/>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65" name="TextBox 64"/>
          <p:cNvSpPr txBox="1"/>
          <p:nvPr/>
        </p:nvSpPr>
        <p:spPr>
          <a:xfrm>
            <a:off x="10142982"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6" name="Connector 65"/>
          <p:cNvCxnSpPr/>
          <p:nvPr/>
        </p:nvCxnSpPr>
        <p:spPr>
          <a:xfrm>
            <a:off x="10142982"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10142982"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68" name="TextBox 67"/>
          <p:cNvSpPr txBox="1"/>
          <p:nvPr/>
        </p:nvSpPr>
        <p:spPr>
          <a:xfrm>
            <a:off x="10450449" y="2734056"/>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69" name="TextBox 68"/>
          <p:cNvSpPr txBox="1"/>
          <p:nvPr/>
        </p:nvSpPr>
        <p:spPr>
          <a:xfrm>
            <a:off x="10855706" y="2615184"/>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70" name="Connector 69"/>
          <p:cNvCxnSpPr/>
          <p:nvPr/>
        </p:nvCxnSpPr>
        <p:spPr>
          <a:xfrm>
            <a:off x="10855706" y="2880359"/>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10855706" y="2898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9829800" y="3493008"/>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73" name="TextBox 72"/>
          <p:cNvSpPr txBox="1"/>
          <p:nvPr/>
        </p:nvSpPr>
        <p:spPr>
          <a:xfrm>
            <a:off x="10142982"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16</a:t>
            </a:r>
          </a:p>
        </p:txBody>
      </p:sp>
      <p:cxnSp>
        <p:nvCxnSpPr>
          <p:cNvPr id="74" name="Connector 73"/>
          <p:cNvCxnSpPr/>
          <p:nvPr/>
        </p:nvCxnSpPr>
        <p:spPr>
          <a:xfrm>
            <a:off x="10142982"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10142982"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6" name="TextBox 75"/>
          <p:cNvSpPr txBox="1"/>
          <p:nvPr/>
        </p:nvSpPr>
        <p:spPr>
          <a:xfrm>
            <a:off x="10593324" y="3493008"/>
            <a:ext cx="405257"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 </a:t>
            </a:r>
          </a:p>
        </p:txBody>
      </p:sp>
      <p:sp>
        <p:nvSpPr>
          <p:cNvPr id="77" name="TextBox 76"/>
          <p:cNvSpPr txBox="1"/>
          <p:nvPr/>
        </p:nvSpPr>
        <p:spPr>
          <a:xfrm>
            <a:off x="10998581" y="3374135"/>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78" name="Connector 77"/>
          <p:cNvCxnSpPr/>
          <p:nvPr/>
        </p:nvCxnSpPr>
        <p:spPr>
          <a:xfrm>
            <a:off x="10998581" y="3639311"/>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0998581" y="3657600"/>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0" name="TextBox 79"/>
          <p:cNvSpPr txBox="1"/>
          <p:nvPr/>
        </p:nvSpPr>
        <p:spPr>
          <a:xfrm>
            <a:off x="9829800" y="4251959"/>
            <a:ext cx="313182" cy="347472"/>
          </a:xfrm>
          <a:prstGeom prst="rect">
            <a:avLst/>
          </a:prstGeom>
          <a:noFill/>
        </p:spPr>
        <p:txBody>
          <a:bodyPr wrap="none" lIns="0" rIns="0" tIns="0" bIns="0">
            <a:spAutoFit/>
          </a:bodyPr>
          <a:lstStyle/>
          <a:p>
            <a:pPr algn="l">
              <a:lnSpc>
                <a:spcPts val="2912"/>
              </a:lnSpc>
              <a:spcAft>
                <a:spcPts val="0"/>
              </a:spcAft>
              <a:defRPr sz="2600" b="0">
                <a:solidFill>
                  <a:srgbClr val="182B3A"/>
                </a:solidFill>
                <a:latin typeface="Arial"/>
              </a:defRPr>
            </a:pPr>
            <a:r>
              <a:t>= </a:t>
            </a:r>
          </a:p>
        </p:txBody>
      </p:sp>
      <p:sp>
        <p:nvSpPr>
          <p:cNvPr id="81" name="TextBox 80"/>
          <p:cNvSpPr txBox="1"/>
          <p:nvPr/>
        </p:nvSpPr>
        <p:spPr>
          <a:xfrm>
            <a:off x="10142982" y="4133087"/>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82" name="Connector 81"/>
          <p:cNvCxnSpPr/>
          <p:nvPr/>
        </p:nvCxnSpPr>
        <p:spPr>
          <a:xfrm>
            <a:off x="10142982" y="43982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0142982" y="44165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4" name="TextBox 83"/>
          <p:cNvSpPr txBox="1"/>
          <p:nvPr/>
        </p:nvSpPr>
        <p:spPr>
          <a:xfrm>
            <a:off x="9774936" y="5961888"/>
            <a:ext cx="4370832" cy="14630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Use equal-sized parts; change numerator and denominator together, then add or subtract only the numerators. Simplify the result.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1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17" name="Connector 16"/>
          <p:cNvCxnSpPr/>
          <p:nvPr/>
        </p:nvCxnSpPr>
        <p:spPr>
          <a:xfrm>
            <a:off x="2304288"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19" name="TextBox 18"/>
          <p:cNvSpPr txBox="1"/>
          <p:nvPr/>
        </p:nvSpPr>
        <p:spPr>
          <a:xfrm>
            <a:off x="2595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2959861"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1" name="Connector 20"/>
          <p:cNvCxnSpPr/>
          <p:nvPr/>
        </p:nvCxnSpPr>
        <p:spPr>
          <a:xfrm>
            <a:off x="2959861" y="1938528"/>
            <a:ext cx="23672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959861"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8</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1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Step-by-step practice 2 • Calculate and simplify.</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48839"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1824"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4808" y="1147572"/>
            <a:ext cx="3980688"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1773936" cy="82296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1691640"/>
            <a:ext cx="1572768" cy="64008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Question</a:t>
            </a:r>
          </a:p>
        </p:txBody>
      </p:sp>
      <p:sp>
        <p:nvSpPr>
          <p:cNvPr id="15" name="Rectangle 14"/>
          <p:cNvSpPr/>
          <p:nvPr/>
        </p:nvSpPr>
        <p:spPr>
          <a:xfrm>
            <a:off x="2121408"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04288"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7</a:t>
            </a:r>
          </a:p>
        </p:txBody>
      </p:sp>
      <p:cxnSp>
        <p:nvCxnSpPr>
          <p:cNvPr id="17" name="Connector 16"/>
          <p:cNvCxnSpPr/>
          <p:nvPr/>
        </p:nvCxnSpPr>
        <p:spPr>
          <a:xfrm>
            <a:off x="2304288"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304288"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19" name="TextBox 18"/>
          <p:cNvSpPr txBox="1"/>
          <p:nvPr/>
        </p:nvSpPr>
        <p:spPr>
          <a:xfrm>
            <a:off x="2722880"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0" name="TextBox 19"/>
          <p:cNvSpPr txBox="1"/>
          <p:nvPr/>
        </p:nvSpPr>
        <p:spPr>
          <a:xfrm>
            <a:off x="3086862" y="1673352"/>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cxnSp>
        <p:nvCxnSpPr>
          <p:cNvPr id="21" name="Connector 20"/>
          <p:cNvCxnSpPr/>
          <p:nvPr/>
        </p:nvCxnSpPr>
        <p:spPr>
          <a:xfrm>
            <a:off x="3086862" y="1938528"/>
            <a:ext cx="363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086862" y="1956816"/>
            <a:ext cx="363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10</a:t>
            </a:r>
          </a:p>
        </p:txBody>
      </p:sp>
      <p:sp>
        <p:nvSpPr>
          <p:cNvPr id="23" name="Rectangle 22"/>
          <p:cNvSpPr/>
          <p:nvPr/>
        </p:nvSpPr>
        <p:spPr>
          <a:xfrm>
            <a:off x="6184392"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7272"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2</a:t>
            </a:r>
          </a:p>
        </p:txBody>
      </p:sp>
      <p:cxnSp>
        <p:nvCxnSpPr>
          <p:cNvPr id="25" name="Connector 24"/>
          <p:cNvCxnSpPr/>
          <p:nvPr/>
        </p:nvCxnSpPr>
        <p:spPr>
          <a:xfrm>
            <a:off x="6367272"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67272"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3</a:t>
            </a:r>
          </a:p>
        </p:txBody>
      </p:sp>
      <p:sp>
        <p:nvSpPr>
          <p:cNvPr id="27" name="TextBox 26"/>
          <p:cNvSpPr txBox="1"/>
          <p:nvPr/>
        </p:nvSpPr>
        <p:spPr>
          <a:xfrm>
            <a:off x="6658864"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28" name="TextBox 27"/>
          <p:cNvSpPr txBox="1"/>
          <p:nvPr/>
        </p:nvSpPr>
        <p:spPr>
          <a:xfrm>
            <a:off x="7022846"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29" name="Connector 28"/>
          <p:cNvCxnSpPr/>
          <p:nvPr/>
        </p:nvCxnSpPr>
        <p:spPr>
          <a:xfrm>
            <a:off x="7022846"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022846"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9</a:t>
            </a:r>
          </a:p>
        </p:txBody>
      </p:sp>
      <p:sp>
        <p:nvSpPr>
          <p:cNvPr id="31" name="Rectangle 30"/>
          <p:cNvSpPr/>
          <p:nvPr/>
        </p:nvSpPr>
        <p:spPr>
          <a:xfrm>
            <a:off x="10247376" y="1581912"/>
            <a:ext cx="4040123" cy="82296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430256" y="1792224"/>
            <a:ext cx="271906"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2 </a:t>
            </a:r>
          </a:p>
        </p:txBody>
      </p:sp>
      <p:sp>
        <p:nvSpPr>
          <p:cNvPr id="33" name="TextBox 32"/>
          <p:cNvSpPr txBox="1"/>
          <p:nvPr/>
        </p:nvSpPr>
        <p:spPr>
          <a:xfrm>
            <a:off x="10702163"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1</a:t>
            </a:r>
          </a:p>
        </p:txBody>
      </p:sp>
      <p:cxnSp>
        <p:nvCxnSpPr>
          <p:cNvPr id="34" name="Connector 33"/>
          <p:cNvCxnSpPr/>
          <p:nvPr/>
        </p:nvCxnSpPr>
        <p:spPr>
          <a:xfrm>
            <a:off x="10702163"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0702163"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4</a:t>
            </a:r>
          </a:p>
        </p:txBody>
      </p:sp>
      <p:sp>
        <p:nvSpPr>
          <p:cNvPr id="36" name="TextBox 35"/>
          <p:cNvSpPr txBox="1"/>
          <p:nvPr/>
        </p:nvSpPr>
        <p:spPr>
          <a:xfrm>
            <a:off x="10993755" y="1792224"/>
            <a:ext cx="363982" cy="347472"/>
          </a:xfrm>
          <a:prstGeom prst="rect">
            <a:avLst/>
          </a:prstGeom>
          <a:noFill/>
        </p:spPr>
        <p:txBody>
          <a:bodyPr wrap="none" lIns="0" rIns="0" tIns="0" bIns="0">
            <a:spAutoFit/>
          </a:bodyPr>
          <a:lstStyle/>
          <a:p>
            <a:pPr algn="l">
              <a:lnSpc>
                <a:spcPts val="2576"/>
              </a:lnSpc>
              <a:spcAft>
                <a:spcPts val="0"/>
              </a:spcAft>
              <a:defRPr sz="2300" b="0">
                <a:solidFill>
                  <a:srgbClr val="182B3A"/>
                </a:solidFill>
                <a:latin typeface="Arial"/>
              </a:defRPr>
            </a:pPr>
            <a:r>
              <a:t> − </a:t>
            </a:r>
          </a:p>
        </p:txBody>
      </p:sp>
      <p:sp>
        <p:nvSpPr>
          <p:cNvPr id="37" name="TextBox 36"/>
          <p:cNvSpPr txBox="1"/>
          <p:nvPr/>
        </p:nvSpPr>
        <p:spPr>
          <a:xfrm>
            <a:off x="11357737" y="1673352"/>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5</a:t>
            </a:r>
          </a:p>
        </p:txBody>
      </p:sp>
      <p:cxnSp>
        <p:nvCxnSpPr>
          <p:cNvPr id="38" name="Connector 37"/>
          <p:cNvCxnSpPr/>
          <p:nvPr/>
        </p:nvCxnSpPr>
        <p:spPr>
          <a:xfrm>
            <a:off x="11357737" y="1938528"/>
            <a:ext cx="2367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1357737" y="1956816"/>
            <a:ext cx="236728" cy="256032"/>
          </a:xfrm>
          <a:prstGeom prst="rect">
            <a:avLst/>
          </a:prstGeom>
          <a:noFill/>
        </p:spPr>
        <p:txBody>
          <a:bodyPr wrap="none" lIns="0" rIns="0" tIns="0" bIns="0">
            <a:spAutoFit/>
          </a:bodyPr>
          <a:lstStyle/>
          <a:p>
            <a:pPr algn="ctr">
              <a:lnSpc>
                <a:spcPts val="2016"/>
              </a:lnSpc>
              <a:spcAft>
                <a:spcPts val="0"/>
              </a:spcAft>
              <a:defRPr sz="1800" b="0">
                <a:solidFill>
                  <a:srgbClr val="182B3A"/>
                </a:solidFill>
                <a:latin typeface="Arial"/>
              </a:defRPr>
            </a:pPr>
            <a:r>
              <a:t>6</a:t>
            </a:r>
          </a:p>
        </p:txBody>
      </p:sp>
      <p:sp>
        <p:nvSpPr>
          <p:cNvPr id="40" name="Rectangle 39"/>
          <p:cNvSpPr/>
          <p:nvPr/>
        </p:nvSpPr>
        <p:spPr>
          <a:xfrm>
            <a:off x="320040" y="2404872"/>
            <a:ext cx="1773936" cy="114300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514600"/>
            <a:ext cx="1572768" cy="96012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Prepare the Fractions</a:t>
            </a:r>
          </a:p>
        </p:txBody>
      </p:sp>
      <p:sp>
        <p:nvSpPr>
          <p:cNvPr id="42" name="Rectangle 41"/>
          <p:cNvSpPr/>
          <p:nvPr/>
        </p:nvSpPr>
        <p:spPr>
          <a:xfrm>
            <a:off x="2121408"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31136"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4" name="Rectangle 43"/>
          <p:cNvSpPr/>
          <p:nvPr/>
        </p:nvSpPr>
        <p:spPr>
          <a:xfrm>
            <a:off x="6184392"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4120"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6" name="Rectangle 45"/>
          <p:cNvSpPr/>
          <p:nvPr/>
        </p:nvSpPr>
        <p:spPr>
          <a:xfrm>
            <a:off x="10247376" y="2404872"/>
            <a:ext cx="4040123" cy="114300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57104" y="2542032"/>
            <a:ext cx="3806952" cy="91440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Convert mixed numbers to improper fractions if needed.</a:t>
            </a:r>
          </a:p>
        </p:txBody>
      </p:sp>
      <p:sp>
        <p:nvSpPr>
          <p:cNvPr id="48" name="Rectangle 47"/>
          <p:cNvSpPr/>
          <p:nvPr/>
        </p:nvSpPr>
        <p:spPr>
          <a:xfrm>
            <a:off x="320040" y="3547872"/>
            <a:ext cx="1773936" cy="132588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02336" y="3657600"/>
            <a:ext cx="1572768" cy="114300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Use a Common Denominator</a:t>
            </a:r>
          </a:p>
        </p:txBody>
      </p:sp>
      <p:sp>
        <p:nvSpPr>
          <p:cNvPr id="50" name="Rectangle 49"/>
          <p:cNvSpPr/>
          <p:nvPr/>
        </p:nvSpPr>
        <p:spPr>
          <a:xfrm>
            <a:off x="2121408"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31136"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2" name="Rectangle 51"/>
          <p:cNvSpPr/>
          <p:nvPr/>
        </p:nvSpPr>
        <p:spPr>
          <a:xfrm>
            <a:off x="6184392"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94120"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4" name="Rectangle 53"/>
          <p:cNvSpPr/>
          <p:nvPr/>
        </p:nvSpPr>
        <p:spPr>
          <a:xfrm>
            <a:off x="10247376" y="3547872"/>
            <a:ext cx="4040123" cy="132588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57104" y="3685032"/>
            <a:ext cx="3806952" cy="109728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Find a common multiple. Change top and bottom together.</a:t>
            </a:r>
          </a:p>
        </p:txBody>
      </p:sp>
      <p:sp>
        <p:nvSpPr>
          <p:cNvPr id="56" name="Rectangle 55"/>
          <p:cNvSpPr/>
          <p:nvPr/>
        </p:nvSpPr>
        <p:spPr>
          <a:xfrm>
            <a:off x="320040" y="4873752"/>
            <a:ext cx="1773936" cy="123444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2336" y="4983480"/>
            <a:ext cx="1572768" cy="1051560"/>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Add or Subtract</a:t>
            </a:r>
          </a:p>
        </p:txBody>
      </p:sp>
      <p:sp>
        <p:nvSpPr>
          <p:cNvPr id="58" name="Rectangle 57"/>
          <p:cNvSpPr/>
          <p:nvPr/>
        </p:nvSpPr>
        <p:spPr>
          <a:xfrm>
            <a:off x="2121408"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231136"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0" name="Rectangle 59"/>
          <p:cNvSpPr/>
          <p:nvPr/>
        </p:nvSpPr>
        <p:spPr>
          <a:xfrm>
            <a:off x="6184392"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4120"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2" name="Rectangle 61"/>
          <p:cNvSpPr/>
          <p:nvPr/>
        </p:nvSpPr>
        <p:spPr>
          <a:xfrm>
            <a:off x="10247376" y="4873752"/>
            <a:ext cx="4040123" cy="12344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57104" y="5010912"/>
            <a:ext cx="3806952" cy="1005840"/>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Work with the numerators; keep the common denominator.</a:t>
            </a:r>
          </a:p>
        </p:txBody>
      </p:sp>
      <p:sp>
        <p:nvSpPr>
          <p:cNvPr id="64" name="Rectangle 63"/>
          <p:cNvSpPr/>
          <p:nvPr/>
        </p:nvSpPr>
        <p:spPr>
          <a:xfrm>
            <a:off x="320040" y="6108192"/>
            <a:ext cx="1773936" cy="149047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02336" y="6217920"/>
            <a:ext cx="1572768" cy="1307592"/>
          </a:xfrm>
          <a:prstGeom prst="rect">
            <a:avLst/>
          </a:prstGeom>
          <a:noFill/>
        </p:spPr>
        <p:txBody>
          <a:bodyPr wrap="square" lIns="54864" rIns="54864" tIns="22860" bIns="22860">
            <a:spAutoFit/>
          </a:bodyPr>
          <a:lstStyle/>
          <a:p>
            <a:pPr>
              <a:lnSpc>
                <a:spcPts val="1890"/>
              </a:lnSpc>
              <a:spcBef>
                <a:spcPts val="0"/>
              </a:spcBef>
              <a:spcAft>
                <a:spcPts val="0"/>
              </a:spcAft>
              <a:defRPr sz="1800" b="1">
                <a:solidFill>
                  <a:srgbClr val="182B3A"/>
                </a:solidFill>
                <a:latin typeface="Arial"/>
              </a:defRPr>
            </a:pPr>
            <a:r>
              <a:t>Simplify the Answer</a:t>
            </a:r>
          </a:p>
        </p:txBody>
      </p:sp>
      <p:sp>
        <p:nvSpPr>
          <p:cNvPr id="66" name="Rectangle 65"/>
          <p:cNvSpPr/>
          <p:nvPr/>
        </p:nvSpPr>
        <p:spPr>
          <a:xfrm>
            <a:off x="2121408"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231136"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68" name="Rectangle 67"/>
          <p:cNvSpPr/>
          <p:nvPr/>
        </p:nvSpPr>
        <p:spPr>
          <a:xfrm>
            <a:off x="6184392"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4120"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0" name="Rectangle 69"/>
          <p:cNvSpPr/>
          <p:nvPr/>
        </p:nvSpPr>
        <p:spPr>
          <a:xfrm>
            <a:off x="10247376" y="6108192"/>
            <a:ext cx="4040123" cy="149047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357104" y="6245352"/>
            <a:ext cx="3806952" cy="1261872"/>
          </a:xfrm>
          <a:prstGeom prst="rect">
            <a:avLst/>
          </a:prstGeom>
          <a:noFill/>
        </p:spPr>
        <p:txBody>
          <a:bodyPr wrap="square" lIns="54864" rIns="54864" tIns="22860" bIns="22860">
            <a:spAutoFit/>
          </a:bodyPr>
          <a:lstStyle/>
          <a:p>
            <a:pPr>
              <a:lnSpc>
                <a:spcPts val="1995"/>
              </a:lnSpc>
              <a:spcBef>
                <a:spcPts val="0"/>
              </a:spcBef>
              <a:spcAft>
                <a:spcPts val="0"/>
              </a:spcAft>
              <a:defRPr sz="1900" b="0">
                <a:solidFill>
                  <a:srgbClr val="182B3A"/>
                </a:solidFill>
                <a:latin typeface="Arial"/>
              </a:defRPr>
            </a:pPr>
            <a:r>
              <a:t>Divide top and bottom by a common factor. Give a mixed answer if greater than 1.</a:t>
            </a:r>
          </a:p>
        </p:txBody>
      </p:sp>
      <p:sp>
        <p:nvSpPr>
          <p:cNvPr id="72" name="Progression curved arrow: Thread 1 to Thread 2"/>
          <p:cNvSpPr/>
          <p:nvPr/>
        </p:nvSpPr>
        <p:spPr>
          <a:xfrm>
            <a:off x="5850635" y="735112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rogression curved arrow: Thread 2 to Thread 3"/>
          <p:cNvSpPr/>
          <p:nvPr/>
        </p:nvSpPr>
        <p:spPr>
          <a:xfrm>
            <a:off x="9865783" y="734263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Spot the errors • Find the first wrong step and correct the full calculation.</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M15-SE</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755648"/>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85039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6" name="Connector 15"/>
          <p:cNvCxnSpPr/>
          <p:nvPr/>
        </p:nvCxnSpPr>
        <p:spPr>
          <a:xfrm>
            <a:off x="85039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5039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18" name="TextBox 17"/>
          <p:cNvSpPr txBox="1"/>
          <p:nvPr/>
        </p:nvSpPr>
        <p:spPr>
          <a:xfrm>
            <a:off x="113563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9" name="TextBox 18"/>
          <p:cNvSpPr txBox="1"/>
          <p:nvPr/>
        </p:nvSpPr>
        <p:spPr>
          <a:xfrm>
            <a:off x="147739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20" name="Connector 19"/>
          <p:cNvCxnSpPr/>
          <p:nvPr/>
        </p:nvCxnSpPr>
        <p:spPr>
          <a:xfrm>
            <a:off x="147739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47739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sp>
        <p:nvSpPr>
          <p:cNvPr id="22" name="TextBox 21"/>
          <p:cNvSpPr txBox="1"/>
          <p:nvPr/>
        </p:nvSpPr>
        <p:spPr>
          <a:xfrm>
            <a:off x="850392" y="239572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23" name="TextBox 22"/>
          <p:cNvSpPr txBox="1"/>
          <p:nvPr/>
        </p:nvSpPr>
        <p:spPr>
          <a:xfrm>
            <a:off x="1115949" y="227685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24" name="Connector 23"/>
          <p:cNvCxnSpPr/>
          <p:nvPr/>
        </p:nvCxnSpPr>
        <p:spPr>
          <a:xfrm>
            <a:off x="1115949" y="254203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115949" y="256032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14</a:t>
            </a:r>
          </a:p>
        </p:txBody>
      </p:sp>
      <p:sp>
        <p:nvSpPr>
          <p:cNvPr id="26" name="Rectangle 25"/>
          <p:cNvSpPr/>
          <p:nvPr/>
        </p:nvSpPr>
        <p:spPr>
          <a:xfrm>
            <a:off x="32004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3794759"/>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28" name="TextBox 27"/>
          <p:cNvSpPr txBox="1"/>
          <p:nvPr/>
        </p:nvSpPr>
        <p:spPr>
          <a:xfrm>
            <a:off x="8503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29" name="Connector 28"/>
          <p:cNvCxnSpPr/>
          <p:nvPr/>
        </p:nvCxnSpPr>
        <p:spPr>
          <a:xfrm>
            <a:off x="850392" y="3995928"/>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503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1" name="TextBox 30"/>
          <p:cNvSpPr txBox="1"/>
          <p:nvPr/>
        </p:nvSpPr>
        <p:spPr>
          <a:xfrm>
            <a:off x="1256035"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32" name="TextBox 31"/>
          <p:cNvSpPr txBox="1"/>
          <p:nvPr/>
        </p:nvSpPr>
        <p:spPr>
          <a:xfrm>
            <a:off x="1597792" y="373075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33" name="Connector 32"/>
          <p:cNvCxnSpPr/>
          <p:nvPr/>
        </p:nvCxnSpPr>
        <p:spPr>
          <a:xfrm>
            <a:off x="1597792" y="3995928"/>
            <a:ext cx="3507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597792" y="4014215"/>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5" name="TextBox 34"/>
          <p:cNvSpPr txBox="1"/>
          <p:nvPr/>
        </p:nvSpPr>
        <p:spPr>
          <a:xfrm>
            <a:off x="850392" y="443484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36" name="TextBox 35"/>
          <p:cNvSpPr txBox="1"/>
          <p:nvPr/>
        </p:nvSpPr>
        <p:spPr>
          <a:xfrm>
            <a:off x="1115949" y="4315968"/>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37" name="Connector 36"/>
          <p:cNvCxnSpPr/>
          <p:nvPr/>
        </p:nvCxnSpPr>
        <p:spPr>
          <a:xfrm>
            <a:off x="1115949" y="4581144"/>
            <a:ext cx="3507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15949" y="4599432"/>
            <a:ext cx="350779"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sp>
        <p:nvSpPr>
          <p:cNvPr id="39" name="TextBox 38"/>
          <p:cNvSpPr txBox="1"/>
          <p:nvPr/>
        </p:nvSpPr>
        <p:spPr>
          <a:xfrm>
            <a:off x="850392" y="5020056"/>
            <a:ext cx="4211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a:t>
            </a:r>
          </a:p>
        </p:txBody>
      </p:sp>
      <p:sp>
        <p:nvSpPr>
          <p:cNvPr id="40" name="Rectangle 39"/>
          <p:cNvSpPr/>
          <p:nvPr/>
        </p:nvSpPr>
        <p:spPr>
          <a:xfrm>
            <a:off x="32004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5833872"/>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42" name="TextBox 41"/>
          <p:cNvSpPr txBox="1"/>
          <p:nvPr/>
        </p:nvSpPr>
        <p:spPr>
          <a:xfrm>
            <a:off x="850392"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43" name="Connector 42"/>
          <p:cNvCxnSpPr/>
          <p:nvPr/>
        </p:nvCxnSpPr>
        <p:spPr>
          <a:xfrm>
            <a:off x="850392"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50392"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5" name="TextBox 44"/>
          <p:cNvSpPr txBox="1"/>
          <p:nvPr/>
        </p:nvSpPr>
        <p:spPr>
          <a:xfrm>
            <a:off x="1256283"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46" name="TextBox 45"/>
          <p:cNvSpPr txBox="1"/>
          <p:nvPr/>
        </p:nvSpPr>
        <p:spPr>
          <a:xfrm>
            <a:off x="159804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47" name="Connector 46"/>
          <p:cNvCxnSpPr/>
          <p:nvPr/>
        </p:nvCxnSpPr>
        <p:spPr>
          <a:xfrm>
            <a:off x="159804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59804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49" name="TextBox 48"/>
          <p:cNvSpPr txBox="1"/>
          <p:nvPr/>
        </p:nvSpPr>
        <p:spPr>
          <a:xfrm>
            <a:off x="850392" y="647395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0" name="TextBox 49"/>
          <p:cNvSpPr txBox="1"/>
          <p:nvPr/>
        </p:nvSpPr>
        <p:spPr>
          <a:xfrm>
            <a:off x="1115949" y="635508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51" name="Connector 50"/>
          <p:cNvCxnSpPr/>
          <p:nvPr/>
        </p:nvCxnSpPr>
        <p:spPr>
          <a:xfrm>
            <a:off x="1115949" y="662025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115949" y="663854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3" name="TextBox 52"/>
          <p:cNvSpPr txBox="1"/>
          <p:nvPr/>
        </p:nvSpPr>
        <p:spPr>
          <a:xfrm>
            <a:off x="850392" y="70591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54" name="TextBox 53"/>
          <p:cNvSpPr txBox="1"/>
          <p:nvPr/>
        </p:nvSpPr>
        <p:spPr>
          <a:xfrm>
            <a:off x="1115949" y="694029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55" name="Connector 54"/>
          <p:cNvCxnSpPr/>
          <p:nvPr/>
        </p:nvCxnSpPr>
        <p:spPr>
          <a:xfrm>
            <a:off x="1115949" y="720547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115949" y="722376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57" name="Rectangle 56"/>
          <p:cNvSpPr/>
          <p:nvPr/>
        </p:nvSpPr>
        <p:spPr>
          <a:xfrm>
            <a:off x="498348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74920" y="1755648"/>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59" name="TextBox 58"/>
          <p:cNvSpPr txBox="1"/>
          <p:nvPr/>
        </p:nvSpPr>
        <p:spPr>
          <a:xfrm>
            <a:off x="5513832"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0" name="Connector 59"/>
          <p:cNvCxnSpPr/>
          <p:nvPr/>
        </p:nvCxnSpPr>
        <p:spPr>
          <a:xfrm>
            <a:off x="5513832"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513832"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62" name="TextBox 61"/>
          <p:cNvSpPr txBox="1"/>
          <p:nvPr/>
        </p:nvSpPr>
        <p:spPr>
          <a:xfrm>
            <a:off x="5799074"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63" name="TextBox 62"/>
          <p:cNvSpPr txBox="1"/>
          <p:nvPr/>
        </p:nvSpPr>
        <p:spPr>
          <a:xfrm>
            <a:off x="6140831"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64" name="Connector 63"/>
          <p:cNvCxnSpPr/>
          <p:nvPr/>
        </p:nvCxnSpPr>
        <p:spPr>
          <a:xfrm>
            <a:off x="6140831"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140831"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66" name="TextBox 65"/>
          <p:cNvSpPr txBox="1"/>
          <p:nvPr/>
        </p:nvSpPr>
        <p:spPr>
          <a:xfrm>
            <a:off x="5513832" y="239572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67" name="TextBox 66"/>
          <p:cNvSpPr txBox="1"/>
          <p:nvPr/>
        </p:nvSpPr>
        <p:spPr>
          <a:xfrm>
            <a:off x="5779389" y="227685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68" name="Connector 67"/>
          <p:cNvCxnSpPr/>
          <p:nvPr/>
        </p:nvCxnSpPr>
        <p:spPr>
          <a:xfrm>
            <a:off x="5779389" y="254203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779389" y="25603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0" name="TextBox 69"/>
          <p:cNvSpPr txBox="1"/>
          <p:nvPr/>
        </p:nvSpPr>
        <p:spPr>
          <a:xfrm>
            <a:off x="6064631" y="239572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71" name="TextBox 70"/>
          <p:cNvSpPr txBox="1"/>
          <p:nvPr/>
        </p:nvSpPr>
        <p:spPr>
          <a:xfrm>
            <a:off x="6406388" y="227685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72" name="Connector 71"/>
          <p:cNvCxnSpPr/>
          <p:nvPr/>
        </p:nvCxnSpPr>
        <p:spPr>
          <a:xfrm>
            <a:off x="6406388" y="254203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06388" y="25603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4" name="TextBox 73"/>
          <p:cNvSpPr txBox="1"/>
          <p:nvPr/>
        </p:nvSpPr>
        <p:spPr>
          <a:xfrm>
            <a:off x="5513832" y="298094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75" name="TextBox 74"/>
          <p:cNvSpPr txBox="1"/>
          <p:nvPr/>
        </p:nvSpPr>
        <p:spPr>
          <a:xfrm>
            <a:off x="5779389" y="286207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76" name="Connector 75"/>
          <p:cNvCxnSpPr/>
          <p:nvPr/>
        </p:nvCxnSpPr>
        <p:spPr>
          <a:xfrm>
            <a:off x="5779389" y="312724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5779389" y="314553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sp>
        <p:nvSpPr>
          <p:cNvPr id="78" name="Rectangle 77"/>
          <p:cNvSpPr/>
          <p:nvPr/>
        </p:nvSpPr>
        <p:spPr>
          <a:xfrm>
            <a:off x="498348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74920" y="3794759"/>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80" name="TextBox 79"/>
          <p:cNvSpPr txBox="1"/>
          <p:nvPr/>
        </p:nvSpPr>
        <p:spPr>
          <a:xfrm>
            <a:off x="5513832" y="373075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1" name="Connector 80"/>
          <p:cNvCxnSpPr/>
          <p:nvPr/>
        </p:nvCxnSpPr>
        <p:spPr>
          <a:xfrm>
            <a:off x="5513832" y="399592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513832" y="4014215"/>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83" name="TextBox 82"/>
          <p:cNvSpPr txBox="1"/>
          <p:nvPr/>
        </p:nvSpPr>
        <p:spPr>
          <a:xfrm>
            <a:off x="5919724"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84" name="TextBox 83"/>
          <p:cNvSpPr txBox="1"/>
          <p:nvPr/>
        </p:nvSpPr>
        <p:spPr>
          <a:xfrm>
            <a:off x="6261481"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85" name="Connector 84"/>
          <p:cNvCxnSpPr/>
          <p:nvPr/>
        </p:nvCxnSpPr>
        <p:spPr>
          <a:xfrm>
            <a:off x="6261481"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6261481"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87" name="TextBox 86"/>
          <p:cNvSpPr txBox="1"/>
          <p:nvPr/>
        </p:nvSpPr>
        <p:spPr>
          <a:xfrm>
            <a:off x="5513832" y="443484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88" name="TextBox 87"/>
          <p:cNvSpPr txBox="1"/>
          <p:nvPr/>
        </p:nvSpPr>
        <p:spPr>
          <a:xfrm>
            <a:off x="5779389" y="431596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11</a:t>
            </a:r>
          </a:p>
        </p:txBody>
      </p:sp>
      <p:cxnSp>
        <p:nvCxnSpPr>
          <p:cNvPr id="89" name="Connector 88"/>
          <p:cNvCxnSpPr/>
          <p:nvPr/>
        </p:nvCxnSpPr>
        <p:spPr>
          <a:xfrm>
            <a:off x="5779389" y="458114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779389" y="459943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1" name="TextBox 90"/>
          <p:cNvSpPr txBox="1"/>
          <p:nvPr/>
        </p:nvSpPr>
        <p:spPr>
          <a:xfrm>
            <a:off x="6185281" y="443484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92" name="TextBox 91"/>
          <p:cNvSpPr txBox="1"/>
          <p:nvPr/>
        </p:nvSpPr>
        <p:spPr>
          <a:xfrm>
            <a:off x="6527038" y="431596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93" name="Connector 92"/>
          <p:cNvCxnSpPr/>
          <p:nvPr/>
        </p:nvCxnSpPr>
        <p:spPr>
          <a:xfrm>
            <a:off x="6527038" y="458114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6527038" y="459943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5" name="TextBox 94"/>
          <p:cNvSpPr txBox="1"/>
          <p:nvPr/>
        </p:nvSpPr>
        <p:spPr>
          <a:xfrm>
            <a:off x="5513832" y="5020056"/>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96" name="TextBox 95"/>
          <p:cNvSpPr txBox="1"/>
          <p:nvPr/>
        </p:nvSpPr>
        <p:spPr>
          <a:xfrm>
            <a:off x="5779389" y="49011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97" name="Connector 96"/>
          <p:cNvCxnSpPr/>
          <p:nvPr/>
        </p:nvCxnSpPr>
        <p:spPr>
          <a:xfrm>
            <a:off x="5779389" y="516636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779389" y="518464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99" name="Rectangle 98"/>
          <p:cNvSpPr/>
          <p:nvPr/>
        </p:nvSpPr>
        <p:spPr>
          <a:xfrm>
            <a:off x="498348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5074920" y="5833872"/>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01" name="TextBox 100"/>
          <p:cNvSpPr txBox="1"/>
          <p:nvPr/>
        </p:nvSpPr>
        <p:spPr>
          <a:xfrm>
            <a:off x="5513832"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02" name="Connector 101"/>
          <p:cNvCxnSpPr/>
          <p:nvPr/>
        </p:nvCxnSpPr>
        <p:spPr>
          <a:xfrm>
            <a:off x="5513832"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5513832"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sp>
        <p:nvSpPr>
          <p:cNvPr id="104" name="TextBox 103"/>
          <p:cNvSpPr txBox="1"/>
          <p:nvPr/>
        </p:nvSpPr>
        <p:spPr>
          <a:xfrm>
            <a:off x="5799074"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05" name="TextBox 104"/>
          <p:cNvSpPr txBox="1"/>
          <p:nvPr/>
        </p:nvSpPr>
        <p:spPr>
          <a:xfrm>
            <a:off x="6140831" y="576986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06" name="Connector 105"/>
          <p:cNvCxnSpPr/>
          <p:nvPr/>
        </p:nvCxnSpPr>
        <p:spPr>
          <a:xfrm>
            <a:off x="6140831" y="603504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140831" y="605332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08" name="TextBox 107"/>
          <p:cNvSpPr txBox="1"/>
          <p:nvPr/>
        </p:nvSpPr>
        <p:spPr>
          <a:xfrm>
            <a:off x="5513832" y="647395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09" name="TextBox 108"/>
          <p:cNvSpPr txBox="1"/>
          <p:nvPr/>
        </p:nvSpPr>
        <p:spPr>
          <a:xfrm>
            <a:off x="5779389" y="635508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cxnSp>
        <p:nvCxnSpPr>
          <p:cNvPr id="110" name="Connector 109"/>
          <p:cNvCxnSpPr/>
          <p:nvPr/>
        </p:nvCxnSpPr>
        <p:spPr>
          <a:xfrm>
            <a:off x="5779389" y="662025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5779389" y="663854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2" name="TextBox 111"/>
          <p:cNvSpPr txBox="1"/>
          <p:nvPr/>
        </p:nvSpPr>
        <p:spPr>
          <a:xfrm>
            <a:off x="6185281" y="647395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13" name="TextBox 112"/>
          <p:cNvSpPr txBox="1"/>
          <p:nvPr/>
        </p:nvSpPr>
        <p:spPr>
          <a:xfrm>
            <a:off x="6527038" y="635508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14" name="Connector 113"/>
          <p:cNvCxnSpPr/>
          <p:nvPr/>
        </p:nvCxnSpPr>
        <p:spPr>
          <a:xfrm>
            <a:off x="6527038" y="662025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6527038" y="663854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sp>
        <p:nvSpPr>
          <p:cNvPr id="116" name="TextBox 115"/>
          <p:cNvSpPr txBox="1"/>
          <p:nvPr/>
        </p:nvSpPr>
        <p:spPr>
          <a:xfrm>
            <a:off x="5513832" y="70591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17" name="TextBox 116"/>
          <p:cNvSpPr txBox="1"/>
          <p:nvPr/>
        </p:nvSpPr>
        <p:spPr>
          <a:xfrm>
            <a:off x="5779389" y="694029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7</a:t>
            </a:r>
          </a:p>
        </p:txBody>
      </p:sp>
      <p:cxnSp>
        <p:nvCxnSpPr>
          <p:cNvPr id="118" name="Connector 117"/>
          <p:cNvCxnSpPr/>
          <p:nvPr/>
        </p:nvCxnSpPr>
        <p:spPr>
          <a:xfrm>
            <a:off x="5779389" y="720547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779389" y="722376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20</a:t>
            </a:r>
          </a:p>
        </p:txBody>
      </p:sp>
      <p:sp>
        <p:nvSpPr>
          <p:cNvPr id="120" name="Rectangle 119"/>
          <p:cNvSpPr/>
          <p:nvPr/>
        </p:nvSpPr>
        <p:spPr>
          <a:xfrm>
            <a:off x="9646920" y="1627632"/>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738360" y="1755648"/>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22" name="TextBox 121"/>
          <p:cNvSpPr txBox="1"/>
          <p:nvPr/>
        </p:nvSpPr>
        <p:spPr>
          <a:xfrm>
            <a:off x="10177272" y="1810512"/>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23" name="TextBox 122"/>
          <p:cNvSpPr txBox="1"/>
          <p:nvPr/>
        </p:nvSpPr>
        <p:spPr>
          <a:xfrm>
            <a:off x="10436479"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4" name="Connector 123"/>
          <p:cNvCxnSpPr/>
          <p:nvPr/>
        </p:nvCxnSpPr>
        <p:spPr>
          <a:xfrm>
            <a:off x="10436479"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436479"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26" name="TextBox 125"/>
          <p:cNvSpPr txBox="1"/>
          <p:nvPr/>
        </p:nvSpPr>
        <p:spPr>
          <a:xfrm>
            <a:off x="10721721" y="181051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27" name="TextBox 126"/>
          <p:cNvSpPr txBox="1"/>
          <p:nvPr/>
        </p:nvSpPr>
        <p:spPr>
          <a:xfrm>
            <a:off x="11063478" y="169164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28" name="Connector 127"/>
          <p:cNvCxnSpPr/>
          <p:nvPr/>
        </p:nvCxnSpPr>
        <p:spPr>
          <a:xfrm>
            <a:off x="11063478" y="195681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1063478" y="197510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0" name="TextBox 129"/>
          <p:cNvSpPr txBox="1"/>
          <p:nvPr/>
        </p:nvSpPr>
        <p:spPr>
          <a:xfrm>
            <a:off x="10177272" y="239572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1" name="TextBox 130"/>
          <p:cNvSpPr txBox="1"/>
          <p:nvPr/>
        </p:nvSpPr>
        <p:spPr>
          <a:xfrm>
            <a:off x="10442829" y="227685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32" name="Connector 131"/>
          <p:cNvCxnSpPr/>
          <p:nvPr/>
        </p:nvCxnSpPr>
        <p:spPr>
          <a:xfrm>
            <a:off x="10442829" y="254203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10442829" y="25603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34" name="TextBox 133"/>
          <p:cNvSpPr txBox="1"/>
          <p:nvPr/>
        </p:nvSpPr>
        <p:spPr>
          <a:xfrm>
            <a:off x="10728071" y="2395728"/>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35" name="TextBox 134"/>
          <p:cNvSpPr txBox="1"/>
          <p:nvPr/>
        </p:nvSpPr>
        <p:spPr>
          <a:xfrm>
            <a:off x="11069828" y="227685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36" name="Connector 135"/>
          <p:cNvCxnSpPr/>
          <p:nvPr/>
        </p:nvCxnSpPr>
        <p:spPr>
          <a:xfrm>
            <a:off x="11069828" y="254203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7" name="TextBox 136"/>
          <p:cNvSpPr txBox="1"/>
          <p:nvPr/>
        </p:nvSpPr>
        <p:spPr>
          <a:xfrm>
            <a:off x="11069828" y="256032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38" name="TextBox 137"/>
          <p:cNvSpPr txBox="1"/>
          <p:nvPr/>
        </p:nvSpPr>
        <p:spPr>
          <a:xfrm>
            <a:off x="10177272" y="2980944"/>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39" name="TextBox 138"/>
          <p:cNvSpPr txBox="1"/>
          <p:nvPr/>
        </p:nvSpPr>
        <p:spPr>
          <a:xfrm>
            <a:off x="10442829" y="286207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40" name="Connector 139"/>
          <p:cNvCxnSpPr/>
          <p:nvPr/>
        </p:nvCxnSpPr>
        <p:spPr>
          <a:xfrm>
            <a:off x="10442829" y="3127248"/>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10442829" y="314553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42" name="Rectangle 141"/>
          <p:cNvSpPr/>
          <p:nvPr/>
        </p:nvSpPr>
        <p:spPr>
          <a:xfrm>
            <a:off x="9646920" y="3666744"/>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738360" y="3794759"/>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44" name="TextBox 143"/>
          <p:cNvSpPr txBox="1"/>
          <p:nvPr/>
        </p:nvSpPr>
        <p:spPr>
          <a:xfrm>
            <a:off x="10177272" y="3849624"/>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1 </a:t>
            </a:r>
          </a:p>
        </p:txBody>
      </p:sp>
      <p:sp>
        <p:nvSpPr>
          <p:cNvPr id="145" name="TextBox 144"/>
          <p:cNvSpPr txBox="1"/>
          <p:nvPr/>
        </p:nvSpPr>
        <p:spPr>
          <a:xfrm>
            <a:off x="10436479"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46" name="Connector 145"/>
          <p:cNvCxnSpPr/>
          <p:nvPr/>
        </p:nvCxnSpPr>
        <p:spPr>
          <a:xfrm>
            <a:off x="10436479"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10436479"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4</a:t>
            </a:r>
          </a:p>
        </p:txBody>
      </p:sp>
      <p:sp>
        <p:nvSpPr>
          <p:cNvPr id="148" name="TextBox 147"/>
          <p:cNvSpPr txBox="1"/>
          <p:nvPr/>
        </p:nvSpPr>
        <p:spPr>
          <a:xfrm>
            <a:off x="10721721" y="3849624"/>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49" name="TextBox 148"/>
          <p:cNvSpPr txBox="1"/>
          <p:nvPr/>
        </p:nvSpPr>
        <p:spPr>
          <a:xfrm>
            <a:off x="11063478" y="3730752"/>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cxnSp>
        <p:nvCxnSpPr>
          <p:cNvPr id="150" name="Connector 149"/>
          <p:cNvCxnSpPr/>
          <p:nvPr/>
        </p:nvCxnSpPr>
        <p:spPr>
          <a:xfrm>
            <a:off x="11063478" y="3995928"/>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1" name="TextBox 150"/>
          <p:cNvSpPr txBox="1"/>
          <p:nvPr/>
        </p:nvSpPr>
        <p:spPr>
          <a:xfrm>
            <a:off x="11063478" y="4014215"/>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sp>
        <p:nvSpPr>
          <p:cNvPr id="152" name="TextBox 151"/>
          <p:cNvSpPr txBox="1"/>
          <p:nvPr/>
        </p:nvSpPr>
        <p:spPr>
          <a:xfrm>
            <a:off x="10177272" y="4434840"/>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53" name="TextBox 152"/>
          <p:cNvSpPr txBox="1"/>
          <p:nvPr/>
        </p:nvSpPr>
        <p:spPr>
          <a:xfrm>
            <a:off x="10442829" y="431596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9</a:t>
            </a:r>
          </a:p>
        </p:txBody>
      </p:sp>
      <p:cxnSp>
        <p:nvCxnSpPr>
          <p:cNvPr id="154" name="Connector 153"/>
          <p:cNvCxnSpPr/>
          <p:nvPr/>
        </p:nvCxnSpPr>
        <p:spPr>
          <a:xfrm>
            <a:off x="10442829" y="458114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442829" y="459943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56" name="TextBox 155"/>
          <p:cNvSpPr txBox="1"/>
          <p:nvPr/>
        </p:nvSpPr>
        <p:spPr>
          <a:xfrm>
            <a:off x="10848721" y="4434840"/>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57" name="TextBox 156"/>
          <p:cNvSpPr txBox="1"/>
          <p:nvPr/>
        </p:nvSpPr>
        <p:spPr>
          <a:xfrm>
            <a:off x="11190478" y="431596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8</a:t>
            </a:r>
          </a:p>
        </p:txBody>
      </p:sp>
      <p:cxnSp>
        <p:nvCxnSpPr>
          <p:cNvPr id="158" name="Connector 157"/>
          <p:cNvCxnSpPr/>
          <p:nvPr/>
        </p:nvCxnSpPr>
        <p:spPr>
          <a:xfrm>
            <a:off x="11190478" y="4581144"/>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190478" y="4599432"/>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0" name="TextBox 159"/>
          <p:cNvSpPr txBox="1"/>
          <p:nvPr/>
        </p:nvSpPr>
        <p:spPr>
          <a:xfrm>
            <a:off x="10177272" y="5020056"/>
            <a:ext cx="4973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1 </a:t>
            </a:r>
          </a:p>
        </p:txBody>
      </p:sp>
      <p:sp>
        <p:nvSpPr>
          <p:cNvPr id="161" name="TextBox 160"/>
          <p:cNvSpPr txBox="1"/>
          <p:nvPr/>
        </p:nvSpPr>
        <p:spPr>
          <a:xfrm>
            <a:off x="10674604" y="490118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5</a:t>
            </a:r>
          </a:p>
        </p:txBody>
      </p:sp>
      <p:cxnSp>
        <p:nvCxnSpPr>
          <p:cNvPr id="162" name="Connector 161"/>
          <p:cNvCxnSpPr/>
          <p:nvPr/>
        </p:nvCxnSpPr>
        <p:spPr>
          <a:xfrm>
            <a:off x="10674604" y="5166360"/>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674604" y="5184648"/>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12</a:t>
            </a:r>
          </a:p>
        </p:txBody>
      </p:sp>
      <p:sp>
        <p:nvSpPr>
          <p:cNvPr id="164" name="Rectangle 163"/>
          <p:cNvSpPr/>
          <p:nvPr/>
        </p:nvSpPr>
        <p:spPr>
          <a:xfrm>
            <a:off x="9646920" y="5705856"/>
            <a:ext cx="4631436" cy="197510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738360" y="5833872"/>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66" name="TextBox 165"/>
          <p:cNvSpPr txBox="1"/>
          <p:nvPr/>
        </p:nvSpPr>
        <p:spPr>
          <a:xfrm>
            <a:off x="10177272" y="5888736"/>
            <a:ext cx="25920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2 </a:t>
            </a:r>
          </a:p>
        </p:txBody>
      </p:sp>
      <p:sp>
        <p:nvSpPr>
          <p:cNvPr id="167" name="TextBox 166"/>
          <p:cNvSpPr txBox="1"/>
          <p:nvPr/>
        </p:nvSpPr>
        <p:spPr>
          <a:xfrm>
            <a:off x="10436479"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68" name="Connector 167"/>
          <p:cNvCxnSpPr/>
          <p:nvPr/>
        </p:nvCxnSpPr>
        <p:spPr>
          <a:xfrm>
            <a:off x="10436479"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0436479"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0" name="TextBox 169"/>
          <p:cNvSpPr txBox="1"/>
          <p:nvPr/>
        </p:nvSpPr>
        <p:spPr>
          <a:xfrm>
            <a:off x="10721721" y="5888736"/>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1" name="TextBox 170"/>
          <p:cNvSpPr txBox="1"/>
          <p:nvPr/>
        </p:nvSpPr>
        <p:spPr>
          <a:xfrm>
            <a:off x="11063478" y="576986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a:t>
            </a:r>
          </a:p>
        </p:txBody>
      </p:sp>
      <p:cxnSp>
        <p:nvCxnSpPr>
          <p:cNvPr id="172" name="Connector 171"/>
          <p:cNvCxnSpPr/>
          <p:nvPr/>
        </p:nvCxnSpPr>
        <p:spPr>
          <a:xfrm>
            <a:off x="11063478" y="6035040"/>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3" name="TextBox 172"/>
          <p:cNvSpPr txBox="1"/>
          <p:nvPr/>
        </p:nvSpPr>
        <p:spPr>
          <a:xfrm>
            <a:off x="11063478" y="6053328"/>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2</a:t>
            </a:r>
          </a:p>
        </p:txBody>
      </p:sp>
      <p:sp>
        <p:nvSpPr>
          <p:cNvPr id="174" name="TextBox 173"/>
          <p:cNvSpPr txBox="1"/>
          <p:nvPr/>
        </p:nvSpPr>
        <p:spPr>
          <a:xfrm>
            <a:off x="10177272" y="6473952"/>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75" name="TextBox 174"/>
          <p:cNvSpPr txBox="1"/>
          <p:nvPr/>
        </p:nvSpPr>
        <p:spPr>
          <a:xfrm>
            <a:off x="10442829" y="635508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13</a:t>
            </a:r>
          </a:p>
        </p:txBody>
      </p:sp>
      <p:cxnSp>
        <p:nvCxnSpPr>
          <p:cNvPr id="176" name="Connector 175"/>
          <p:cNvCxnSpPr/>
          <p:nvPr/>
        </p:nvCxnSpPr>
        <p:spPr>
          <a:xfrm>
            <a:off x="10442829" y="6620256"/>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10442829" y="6638544"/>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78" name="TextBox 177"/>
          <p:cNvSpPr txBox="1"/>
          <p:nvPr/>
        </p:nvSpPr>
        <p:spPr>
          <a:xfrm>
            <a:off x="10848721" y="6473952"/>
            <a:ext cx="3417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a:t>
            </a:r>
          </a:p>
        </p:txBody>
      </p:sp>
      <p:sp>
        <p:nvSpPr>
          <p:cNvPr id="179" name="TextBox 178"/>
          <p:cNvSpPr txBox="1"/>
          <p:nvPr/>
        </p:nvSpPr>
        <p:spPr>
          <a:xfrm>
            <a:off x="11190478" y="635508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0" name="Connector 179"/>
          <p:cNvCxnSpPr/>
          <p:nvPr/>
        </p:nvCxnSpPr>
        <p:spPr>
          <a:xfrm>
            <a:off x="11190478" y="6620256"/>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1" name="TextBox 180"/>
          <p:cNvSpPr txBox="1"/>
          <p:nvPr/>
        </p:nvSpPr>
        <p:spPr>
          <a:xfrm>
            <a:off x="11190478" y="6638544"/>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2" name="TextBox 181"/>
          <p:cNvSpPr txBox="1"/>
          <p:nvPr/>
        </p:nvSpPr>
        <p:spPr>
          <a:xfrm>
            <a:off x="10177272" y="7059168"/>
            <a:ext cx="265557"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a:t>
            </a:r>
          </a:p>
        </p:txBody>
      </p:sp>
      <p:sp>
        <p:nvSpPr>
          <p:cNvPr id="183" name="TextBox 182"/>
          <p:cNvSpPr txBox="1"/>
          <p:nvPr/>
        </p:nvSpPr>
        <p:spPr>
          <a:xfrm>
            <a:off x="10442829" y="6940296"/>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10</a:t>
            </a:r>
          </a:p>
        </p:txBody>
      </p:sp>
      <p:cxnSp>
        <p:nvCxnSpPr>
          <p:cNvPr id="184" name="Connector 183"/>
          <p:cNvCxnSpPr/>
          <p:nvPr/>
        </p:nvCxnSpPr>
        <p:spPr>
          <a:xfrm>
            <a:off x="10442829" y="7205472"/>
            <a:ext cx="35102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10442829" y="7223760"/>
            <a:ext cx="351028"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
        <p:nvSpPr>
          <p:cNvPr id="186" name="TextBox 185"/>
          <p:cNvSpPr txBox="1"/>
          <p:nvPr/>
        </p:nvSpPr>
        <p:spPr>
          <a:xfrm>
            <a:off x="10848721" y="7059168"/>
            <a:ext cx="573532" cy="347472"/>
          </a:xfrm>
          <a:prstGeom prst="rect">
            <a:avLst/>
          </a:prstGeom>
          <a:noFill/>
        </p:spPr>
        <p:txBody>
          <a:bodyPr wrap="none" lIns="0" rIns="0" tIns="0" bIns="0">
            <a:spAutoFit/>
          </a:bodyPr>
          <a:lstStyle/>
          <a:p>
            <a:pPr algn="l">
              <a:lnSpc>
                <a:spcPts val="2464"/>
              </a:lnSpc>
              <a:spcAft>
                <a:spcPts val="0"/>
              </a:spcAft>
              <a:defRPr sz="2200" b="0">
                <a:solidFill>
                  <a:srgbClr val="182B3A"/>
                </a:solidFill>
                <a:latin typeface="Arial"/>
              </a:defRPr>
            </a:pPr>
            <a:r>
              <a:t> = 1 </a:t>
            </a:r>
          </a:p>
        </p:txBody>
      </p:sp>
      <p:sp>
        <p:nvSpPr>
          <p:cNvPr id="187" name="TextBox 186"/>
          <p:cNvSpPr txBox="1"/>
          <p:nvPr/>
        </p:nvSpPr>
        <p:spPr>
          <a:xfrm>
            <a:off x="11422253" y="6940296"/>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3</a:t>
            </a:r>
          </a:p>
        </p:txBody>
      </p:sp>
      <p:cxnSp>
        <p:nvCxnSpPr>
          <p:cNvPr id="188" name="Connector 187"/>
          <p:cNvCxnSpPr/>
          <p:nvPr/>
        </p:nvCxnSpPr>
        <p:spPr>
          <a:xfrm>
            <a:off x="11422253" y="7205472"/>
            <a:ext cx="2303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11422253" y="7223760"/>
            <a:ext cx="230377" cy="256032"/>
          </a:xfrm>
          <a:prstGeom prst="rect">
            <a:avLst/>
          </a:prstGeom>
          <a:noFill/>
        </p:spPr>
        <p:txBody>
          <a:bodyPr wrap="none" lIns="0" rIns="0" tIns="0" bIns="0">
            <a:spAutoFit/>
          </a:bodyPr>
          <a:lstStyle/>
          <a:p>
            <a:pPr algn="ctr">
              <a:lnSpc>
                <a:spcPts val="1904"/>
              </a:lnSpc>
              <a:spcAft>
                <a:spcPts val="0"/>
              </a:spcAft>
              <a:defRPr sz="1700" b="0">
                <a:solidFill>
                  <a:srgbClr val="182B3A"/>
                </a:solidFill>
                <a:latin typeface="Arial"/>
              </a:defRPr>
            </a:pPr>
            <a:r>
              <a:t>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1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91439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 name="Connector 15"/>
          <p:cNvCxnSpPr/>
          <p:nvPr/>
        </p:nvCxnSpPr>
        <p:spPr>
          <a:xfrm>
            <a:off x="914399" y="202082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8" name="TextBox 17"/>
          <p:cNvSpPr txBox="1"/>
          <p:nvPr/>
        </p:nvSpPr>
        <p:spPr>
          <a:xfrm>
            <a:off x="136474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4124"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0" name="Connector 19"/>
          <p:cNvCxnSpPr/>
          <p:nvPr/>
        </p:nvCxnSpPr>
        <p:spPr>
          <a:xfrm>
            <a:off x="1754124"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4124"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914399"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43" name="Connector 42"/>
          <p:cNvCxnSpPr/>
          <p:nvPr/>
        </p:nvCxnSpPr>
        <p:spPr>
          <a:xfrm>
            <a:off x="914399" y="503834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5" name="TextBox 44"/>
          <p:cNvSpPr txBox="1"/>
          <p:nvPr/>
        </p:nvSpPr>
        <p:spPr>
          <a:xfrm>
            <a:off x="136444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753826"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47" name="Connector 46"/>
          <p:cNvCxnSpPr/>
          <p:nvPr/>
        </p:nvCxnSpPr>
        <p:spPr>
          <a:xfrm>
            <a:off x="1753826"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753826"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56" name="Connector 55"/>
          <p:cNvCxnSpPr/>
          <p:nvPr/>
        </p:nvCxnSpPr>
        <p:spPr>
          <a:xfrm>
            <a:off x="1753826"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274689"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3" name="Connector 82"/>
          <p:cNvCxnSpPr/>
          <p:nvPr/>
        </p:nvCxnSpPr>
        <p:spPr>
          <a:xfrm>
            <a:off x="627468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87" name="TextBox 86"/>
          <p:cNvSpPr txBox="1"/>
          <p:nvPr/>
        </p:nvSpPr>
        <p:spPr>
          <a:xfrm>
            <a:off x="5577840"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88" name="Connector 87"/>
          <p:cNvCxnSpPr/>
          <p:nvPr/>
        </p:nvCxnSpPr>
        <p:spPr>
          <a:xfrm>
            <a:off x="5577840"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0" name="TextBox 89"/>
          <p:cNvSpPr txBox="1"/>
          <p:nvPr/>
        </p:nvSpPr>
        <p:spPr>
          <a:xfrm>
            <a:off x="6028182"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417564"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2" name="Connector 91"/>
          <p:cNvCxnSpPr/>
          <p:nvPr/>
        </p:nvCxnSpPr>
        <p:spPr>
          <a:xfrm>
            <a:off x="6417564"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417564"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10" name="Connector 109"/>
          <p:cNvCxnSpPr/>
          <p:nvPr/>
        </p:nvCxnSpPr>
        <p:spPr>
          <a:xfrm>
            <a:off x="6274689"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19" name="Connector 118"/>
          <p:cNvCxnSpPr/>
          <p:nvPr/>
        </p:nvCxnSpPr>
        <p:spPr>
          <a:xfrm>
            <a:off x="6274689"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32" name="TextBox 131"/>
          <p:cNvSpPr txBox="1"/>
          <p:nvPr/>
        </p:nvSpPr>
        <p:spPr>
          <a:xfrm>
            <a:off x="10241280" y="288036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33" name="TextBox 132"/>
          <p:cNvSpPr txBox="1"/>
          <p:nvPr/>
        </p:nvSpPr>
        <p:spPr>
          <a:xfrm>
            <a:off x="10535412"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34" name="Connector 133"/>
          <p:cNvCxnSpPr/>
          <p:nvPr/>
        </p:nvCxnSpPr>
        <p:spPr>
          <a:xfrm>
            <a:off x="10535412"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535412"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36" name="TextBox 135"/>
          <p:cNvSpPr txBox="1"/>
          <p:nvPr/>
        </p:nvSpPr>
        <p:spPr>
          <a:xfrm>
            <a:off x="10985754"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7" name="TextBox 136"/>
          <p:cNvSpPr txBox="1"/>
          <p:nvPr/>
        </p:nvSpPr>
        <p:spPr>
          <a:xfrm>
            <a:off x="11375136"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38" name="Connector 137"/>
          <p:cNvCxnSpPr/>
          <p:nvPr/>
        </p:nvCxnSpPr>
        <p:spPr>
          <a:xfrm>
            <a:off x="11375136"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1375136"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40" name="Rectangle 139"/>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3836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42" name="TextBox 141"/>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43" name="TextBox 142"/>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44" name="Connector 143"/>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6" name="TextBox 145"/>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7" name="TextBox 146"/>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148" name="Connector 147"/>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9" name="TextBox 148"/>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50" name="Rectangle 149"/>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73836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152" name="TextBox 151"/>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53" name="TextBox 152"/>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4" name="Connector 153"/>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56" name="TextBox 155"/>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7" name="TextBox 156"/>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58" name="Connector 157"/>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0" name="Rectangle 159"/>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73836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62" name="TextBox 161"/>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3" name="TextBox 162"/>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4" name="Connector 163"/>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5" name="TextBox 164"/>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66" name="TextBox 165"/>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7" name="TextBox 166"/>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8" name="Connector 167"/>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70" name="Rectangle 169"/>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973836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72" name="TextBox 171"/>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3" name="Connector 172"/>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75" name="TextBox 174"/>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77" name="Connector 176"/>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2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91439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6" name="Connector 15"/>
          <p:cNvCxnSpPr/>
          <p:nvPr/>
        </p:nvCxnSpPr>
        <p:spPr>
          <a:xfrm>
            <a:off x="914399" y="202082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8" name="TextBox 17"/>
          <p:cNvSpPr txBox="1"/>
          <p:nvPr/>
        </p:nvSpPr>
        <p:spPr>
          <a:xfrm>
            <a:off x="136474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4124"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20" name="Connector 19"/>
          <p:cNvCxnSpPr/>
          <p:nvPr/>
        </p:nvCxnSpPr>
        <p:spPr>
          <a:xfrm>
            <a:off x="1754124"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4124"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3" name="TextBox 32"/>
          <p:cNvSpPr txBox="1"/>
          <p:nvPr/>
        </p:nvSpPr>
        <p:spPr>
          <a:xfrm>
            <a:off x="914399"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4" name="Connector 33"/>
          <p:cNvCxnSpPr/>
          <p:nvPr/>
        </p:nvCxnSpPr>
        <p:spPr>
          <a:xfrm>
            <a:off x="914399" y="403250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36" name="TextBox 35"/>
          <p:cNvSpPr txBox="1"/>
          <p:nvPr/>
        </p:nvSpPr>
        <p:spPr>
          <a:xfrm>
            <a:off x="1364444"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753826" y="376732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38" name="Connector 37"/>
          <p:cNvCxnSpPr/>
          <p:nvPr/>
        </p:nvCxnSpPr>
        <p:spPr>
          <a:xfrm>
            <a:off x="1753826" y="403250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753826" y="4050791"/>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51" name="TextBox 50"/>
          <p:cNvSpPr txBox="1"/>
          <p:nvPr/>
        </p:nvSpPr>
        <p:spPr>
          <a:xfrm>
            <a:off x="91439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52" name="Connector 51"/>
          <p:cNvCxnSpPr/>
          <p:nvPr/>
        </p:nvCxnSpPr>
        <p:spPr>
          <a:xfrm>
            <a:off x="914399" y="604418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54" name="TextBox 53"/>
          <p:cNvSpPr txBox="1"/>
          <p:nvPr/>
        </p:nvSpPr>
        <p:spPr>
          <a:xfrm>
            <a:off x="1364742"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4124"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56" name="Connector 55"/>
          <p:cNvCxnSpPr/>
          <p:nvPr/>
        </p:nvCxnSpPr>
        <p:spPr>
          <a:xfrm>
            <a:off x="1754124"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4124"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0" name="TextBox 59"/>
          <p:cNvSpPr txBox="1"/>
          <p:nvPr/>
        </p:nvSpPr>
        <p:spPr>
          <a:xfrm>
            <a:off x="914399" y="67848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61" name="Connector 60"/>
          <p:cNvCxnSpPr/>
          <p:nvPr/>
        </p:nvCxnSpPr>
        <p:spPr>
          <a:xfrm>
            <a:off x="914399" y="705002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63" name="TextBox 62"/>
          <p:cNvSpPr txBox="1"/>
          <p:nvPr/>
        </p:nvSpPr>
        <p:spPr>
          <a:xfrm>
            <a:off x="1364444"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753826" y="67848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65" name="Connector 64"/>
          <p:cNvCxnSpPr/>
          <p:nvPr/>
        </p:nvCxnSpPr>
        <p:spPr>
          <a:xfrm>
            <a:off x="1753826" y="70500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753826" y="70683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74" name="Connector 73"/>
          <p:cNvCxnSpPr/>
          <p:nvPr/>
        </p:nvCxnSpPr>
        <p:spPr>
          <a:xfrm>
            <a:off x="6274689"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3" name="Connector 82"/>
          <p:cNvCxnSpPr/>
          <p:nvPr/>
        </p:nvCxnSpPr>
        <p:spPr>
          <a:xfrm>
            <a:off x="627468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96" name="TextBox 95"/>
          <p:cNvSpPr txBox="1"/>
          <p:nvPr/>
        </p:nvSpPr>
        <p:spPr>
          <a:xfrm>
            <a:off x="5577840"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97" name="Connector 96"/>
          <p:cNvCxnSpPr/>
          <p:nvPr/>
        </p:nvCxnSpPr>
        <p:spPr>
          <a:xfrm>
            <a:off x="5577840"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99" name="TextBox 98"/>
          <p:cNvSpPr txBox="1"/>
          <p:nvPr/>
        </p:nvSpPr>
        <p:spPr>
          <a:xfrm>
            <a:off x="6028182"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417564"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417564"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417564"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110" name="Connector 109"/>
          <p:cNvCxnSpPr/>
          <p:nvPr/>
        </p:nvCxnSpPr>
        <p:spPr>
          <a:xfrm>
            <a:off x="6274689" y="604418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41" name="TextBox 140"/>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42" name="TextBox 141"/>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43" name="Connector 142"/>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5" name="TextBox 144"/>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6" name="TextBox 145"/>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7" name="Connector 146"/>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49" name="Rectangle 148"/>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973836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151" name="TextBox 150"/>
          <p:cNvSpPr txBox="1"/>
          <p:nvPr/>
        </p:nvSpPr>
        <p:spPr>
          <a:xfrm>
            <a:off x="1024128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152" name="Connector 151"/>
          <p:cNvCxnSpPr/>
          <p:nvPr/>
        </p:nvCxnSpPr>
        <p:spPr>
          <a:xfrm>
            <a:off x="1024128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1024128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54" name="TextBox 153"/>
          <p:cNvSpPr txBox="1"/>
          <p:nvPr/>
        </p:nvSpPr>
        <p:spPr>
          <a:xfrm>
            <a:off x="1054874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5" name="TextBox 154"/>
          <p:cNvSpPr txBox="1"/>
          <p:nvPr/>
        </p:nvSpPr>
        <p:spPr>
          <a:xfrm>
            <a:off x="1093812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6" name="Connector 155"/>
          <p:cNvCxnSpPr/>
          <p:nvPr/>
        </p:nvCxnSpPr>
        <p:spPr>
          <a:xfrm>
            <a:off x="1093812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093812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58" name="Rectangle 157"/>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73836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60" name="TextBox 159"/>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1" name="TextBox 160"/>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62" name="Connector 161"/>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64" name="TextBox 163"/>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5" name="TextBox 164"/>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6" name="Connector 165"/>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7" name="TextBox 166"/>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8" name="Rectangle 167"/>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73836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70" name="TextBox 169"/>
          <p:cNvSpPr txBox="1"/>
          <p:nvPr/>
        </p:nvSpPr>
        <p:spPr>
          <a:xfrm>
            <a:off x="1024128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71" name="Connector 170"/>
          <p:cNvCxnSpPr/>
          <p:nvPr/>
        </p:nvCxnSpPr>
        <p:spPr>
          <a:xfrm>
            <a:off x="1024128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24128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3" name="TextBox 172"/>
          <p:cNvSpPr txBox="1"/>
          <p:nvPr/>
        </p:nvSpPr>
        <p:spPr>
          <a:xfrm>
            <a:off x="1054874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093812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75" name="Connector 174"/>
          <p:cNvCxnSpPr/>
          <p:nvPr/>
        </p:nvCxnSpPr>
        <p:spPr>
          <a:xfrm>
            <a:off x="1093812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093812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3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914399"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cxnSp>
        <p:nvCxnSpPr>
          <p:cNvPr id="16" name="Connector 15"/>
          <p:cNvCxnSpPr/>
          <p:nvPr/>
        </p:nvCxnSpPr>
        <p:spPr>
          <a:xfrm>
            <a:off x="914399" y="2020824"/>
            <a:ext cx="395479"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8" name="TextBox 17"/>
          <p:cNvSpPr txBox="1"/>
          <p:nvPr/>
        </p:nvSpPr>
        <p:spPr>
          <a:xfrm>
            <a:off x="136474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4124"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20" name="Connector 19"/>
          <p:cNvCxnSpPr/>
          <p:nvPr/>
        </p:nvCxnSpPr>
        <p:spPr>
          <a:xfrm>
            <a:off x="1754124" y="20208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4124"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51" name="TextBox 50"/>
          <p:cNvSpPr txBox="1"/>
          <p:nvPr/>
        </p:nvSpPr>
        <p:spPr>
          <a:xfrm>
            <a:off x="914399"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52" name="Connector 51"/>
          <p:cNvCxnSpPr/>
          <p:nvPr/>
        </p:nvCxnSpPr>
        <p:spPr>
          <a:xfrm>
            <a:off x="914399" y="604418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4" name="TextBox 53"/>
          <p:cNvSpPr txBox="1"/>
          <p:nvPr/>
        </p:nvSpPr>
        <p:spPr>
          <a:xfrm>
            <a:off x="1364444"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753826" y="577900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56" name="Connector 55"/>
          <p:cNvCxnSpPr/>
          <p:nvPr/>
        </p:nvCxnSpPr>
        <p:spPr>
          <a:xfrm>
            <a:off x="1753826" y="604418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753826" y="606247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69" name="TextBox 68"/>
          <p:cNvSpPr txBox="1"/>
          <p:nvPr/>
        </p:nvSpPr>
        <p:spPr>
          <a:xfrm>
            <a:off x="5577840" y="17556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0" name="Connector 69"/>
          <p:cNvCxnSpPr/>
          <p:nvPr/>
        </p:nvCxnSpPr>
        <p:spPr>
          <a:xfrm>
            <a:off x="5577840" y="20208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72" name="TextBox 71"/>
          <p:cNvSpPr txBox="1"/>
          <p:nvPr/>
        </p:nvSpPr>
        <p:spPr>
          <a:xfrm>
            <a:off x="6028182"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417564"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417564"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417564"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27468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92" name="Connector 91"/>
          <p:cNvCxnSpPr/>
          <p:nvPr/>
        </p:nvCxnSpPr>
        <p:spPr>
          <a:xfrm>
            <a:off x="6274689" y="403250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96" name="TextBox 95"/>
          <p:cNvSpPr txBox="1"/>
          <p:nvPr/>
        </p:nvSpPr>
        <p:spPr>
          <a:xfrm>
            <a:off x="5577840"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7" name="Connector 96"/>
          <p:cNvCxnSpPr/>
          <p:nvPr/>
        </p:nvCxnSpPr>
        <p:spPr>
          <a:xfrm>
            <a:off x="5577840"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9" name="TextBox 98"/>
          <p:cNvSpPr txBox="1"/>
          <p:nvPr/>
        </p:nvSpPr>
        <p:spPr>
          <a:xfrm>
            <a:off x="588530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27468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01" name="Connector 100"/>
          <p:cNvCxnSpPr/>
          <p:nvPr/>
        </p:nvCxnSpPr>
        <p:spPr>
          <a:xfrm>
            <a:off x="6274689"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27468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19" name="Connector 118"/>
          <p:cNvCxnSpPr/>
          <p:nvPr/>
        </p:nvCxnSpPr>
        <p:spPr>
          <a:xfrm>
            <a:off x="6274689"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28" name="Connector 127"/>
          <p:cNvCxnSpPr/>
          <p:nvPr/>
        </p:nvCxnSpPr>
        <p:spPr>
          <a:xfrm>
            <a:off x="1093812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32" name="TextBox 131"/>
          <p:cNvSpPr txBox="1"/>
          <p:nvPr/>
        </p:nvSpPr>
        <p:spPr>
          <a:xfrm>
            <a:off x="10241280" y="288036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33" name="TextBox 132"/>
          <p:cNvSpPr txBox="1"/>
          <p:nvPr/>
        </p:nvSpPr>
        <p:spPr>
          <a:xfrm>
            <a:off x="10535412"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34" name="Connector 133"/>
          <p:cNvCxnSpPr/>
          <p:nvPr/>
        </p:nvCxnSpPr>
        <p:spPr>
          <a:xfrm>
            <a:off x="10535412"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5" name="TextBox 134"/>
          <p:cNvSpPr txBox="1"/>
          <p:nvPr/>
        </p:nvSpPr>
        <p:spPr>
          <a:xfrm>
            <a:off x="10535412"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36" name="TextBox 135"/>
          <p:cNvSpPr txBox="1"/>
          <p:nvPr/>
        </p:nvSpPr>
        <p:spPr>
          <a:xfrm>
            <a:off x="10842879"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7" name="TextBox 136"/>
          <p:cNvSpPr txBox="1"/>
          <p:nvPr/>
        </p:nvSpPr>
        <p:spPr>
          <a:xfrm>
            <a:off x="11232261"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38" name="Connector 137"/>
          <p:cNvCxnSpPr/>
          <p:nvPr/>
        </p:nvCxnSpPr>
        <p:spPr>
          <a:xfrm>
            <a:off x="11232261"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11232261"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40" name="Rectangle 139"/>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73836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42" name="TextBox 141"/>
          <p:cNvSpPr txBox="1"/>
          <p:nvPr/>
        </p:nvSpPr>
        <p:spPr>
          <a:xfrm>
            <a:off x="1024128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43" name="Connector 142"/>
          <p:cNvCxnSpPr/>
          <p:nvPr/>
        </p:nvCxnSpPr>
        <p:spPr>
          <a:xfrm>
            <a:off x="1024128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1024128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45" name="TextBox 144"/>
          <p:cNvSpPr txBox="1"/>
          <p:nvPr/>
        </p:nvSpPr>
        <p:spPr>
          <a:xfrm>
            <a:off x="1054874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6" name="TextBox 145"/>
          <p:cNvSpPr txBox="1"/>
          <p:nvPr/>
        </p:nvSpPr>
        <p:spPr>
          <a:xfrm>
            <a:off x="1093812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7" name="Connector 146"/>
          <p:cNvCxnSpPr/>
          <p:nvPr/>
        </p:nvCxnSpPr>
        <p:spPr>
          <a:xfrm>
            <a:off x="1093812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1093812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49" name="Rectangle 148"/>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973836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151" name="TextBox 150"/>
          <p:cNvSpPr txBox="1"/>
          <p:nvPr/>
        </p:nvSpPr>
        <p:spPr>
          <a:xfrm>
            <a:off x="10241280" y="489204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52" name="TextBox 151"/>
          <p:cNvSpPr txBox="1"/>
          <p:nvPr/>
        </p:nvSpPr>
        <p:spPr>
          <a:xfrm>
            <a:off x="10535412"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53" name="Connector 152"/>
          <p:cNvCxnSpPr/>
          <p:nvPr/>
        </p:nvCxnSpPr>
        <p:spPr>
          <a:xfrm>
            <a:off x="10535412"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10535412"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55" name="TextBox 154"/>
          <p:cNvSpPr txBox="1"/>
          <p:nvPr/>
        </p:nvSpPr>
        <p:spPr>
          <a:xfrm>
            <a:off x="10842879"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6" name="TextBox 155"/>
          <p:cNvSpPr txBox="1"/>
          <p:nvPr/>
        </p:nvSpPr>
        <p:spPr>
          <a:xfrm>
            <a:off x="11232261"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57" name="Connector 156"/>
          <p:cNvCxnSpPr/>
          <p:nvPr/>
        </p:nvCxnSpPr>
        <p:spPr>
          <a:xfrm>
            <a:off x="11232261"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8" name="TextBox 157"/>
          <p:cNvSpPr txBox="1"/>
          <p:nvPr/>
        </p:nvSpPr>
        <p:spPr>
          <a:xfrm>
            <a:off x="11232261"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59" name="Rectangle 158"/>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973836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61" name="TextBox 160"/>
          <p:cNvSpPr txBox="1"/>
          <p:nvPr/>
        </p:nvSpPr>
        <p:spPr>
          <a:xfrm>
            <a:off x="10241280" y="589788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62" name="TextBox 161"/>
          <p:cNvSpPr txBox="1"/>
          <p:nvPr/>
        </p:nvSpPr>
        <p:spPr>
          <a:xfrm>
            <a:off x="10535412"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63" name="Connector 162"/>
          <p:cNvCxnSpPr/>
          <p:nvPr/>
        </p:nvCxnSpPr>
        <p:spPr>
          <a:xfrm>
            <a:off x="10535412"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10535412"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65" name="TextBox 164"/>
          <p:cNvSpPr txBox="1"/>
          <p:nvPr/>
        </p:nvSpPr>
        <p:spPr>
          <a:xfrm>
            <a:off x="10842879"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6" name="TextBox 165"/>
          <p:cNvSpPr txBox="1"/>
          <p:nvPr/>
        </p:nvSpPr>
        <p:spPr>
          <a:xfrm>
            <a:off x="11232261"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67" name="Connector 166"/>
          <p:cNvCxnSpPr/>
          <p:nvPr/>
        </p:nvCxnSpPr>
        <p:spPr>
          <a:xfrm>
            <a:off x="11232261"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8" name="TextBox 167"/>
          <p:cNvSpPr txBox="1"/>
          <p:nvPr/>
        </p:nvSpPr>
        <p:spPr>
          <a:xfrm>
            <a:off x="11232261"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69" name="Rectangle 168"/>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973836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71" name="TextBox 170"/>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72" name="TextBox 171"/>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73" name="Connector 172"/>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75" name="TextBox 174"/>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6" name="TextBox 175"/>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77" name="Connector 176"/>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8" name="TextBox 177"/>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79"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Adding and subtracting fractions</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Independent practice 4 • Simplify; write mixed answers if greater than 1.</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M15-S07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1091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74352" y="1147572"/>
            <a:ext cx="4581144" cy="329184"/>
          </a:xfrm>
          <a:prstGeom prst="rect">
            <a:avLst/>
          </a:prstGeom>
          <a:noFill/>
        </p:spPr>
        <p:txBody>
          <a:bodyPr wrap="square" lIns="54864" rIns="54864" tIns="22860"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5" name="TextBox 14"/>
          <p:cNvSpPr txBox="1"/>
          <p:nvPr/>
        </p:nvSpPr>
        <p:spPr>
          <a:xfrm>
            <a:off x="914399"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6" name="Connector 15"/>
          <p:cNvCxnSpPr/>
          <p:nvPr/>
        </p:nvCxnSpPr>
        <p:spPr>
          <a:xfrm>
            <a:off x="914399" y="2020824"/>
            <a:ext cx="395181"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399"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8" name="TextBox 17"/>
          <p:cNvSpPr txBox="1"/>
          <p:nvPr/>
        </p:nvSpPr>
        <p:spPr>
          <a:xfrm>
            <a:off x="1364444"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9" name="TextBox 18"/>
          <p:cNvSpPr txBox="1"/>
          <p:nvPr/>
        </p:nvSpPr>
        <p:spPr>
          <a:xfrm>
            <a:off x="1753826"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20" name="Connector 19"/>
          <p:cNvCxnSpPr/>
          <p:nvPr/>
        </p:nvCxnSpPr>
        <p:spPr>
          <a:xfrm>
            <a:off x="1753826" y="20208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53826"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24" name="TextBox 23"/>
          <p:cNvSpPr txBox="1"/>
          <p:nvPr/>
        </p:nvSpPr>
        <p:spPr>
          <a:xfrm>
            <a:off x="91439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25" name="Connector 24"/>
          <p:cNvCxnSpPr/>
          <p:nvPr/>
        </p:nvCxnSpPr>
        <p:spPr>
          <a:xfrm>
            <a:off x="914399" y="302666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1439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27" name="TextBox 26"/>
          <p:cNvSpPr txBox="1"/>
          <p:nvPr/>
        </p:nvSpPr>
        <p:spPr>
          <a:xfrm>
            <a:off x="122186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28" name="TextBox 27"/>
          <p:cNvSpPr txBox="1"/>
          <p:nvPr/>
        </p:nvSpPr>
        <p:spPr>
          <a:xfrm>
            <a:off x="161124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29" name="Connector 28"/>
          <p:cNvCxnSpPr/>
          <p:nvPr/>
        </p:nvCxnSpPr>
        <p:spPr>
          <a:xfrm>
            <a:off x="1611249" y="302666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1124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33" name="TextBox 32"/>
          <p:cNvSpPr txBox="1"/>
          <p:nvPr/>
        </p:nvSpPr>
        <p:spPr>
          <a:xfrm>
            <a:off x="91439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34" name="Connector 33"/>
          <p:cNvCxnSpPr/>
          <p:nvPr/>
        </p:nvCxnSpPr>
        <p:spPr>
          <a:xfrm>
            <a:off x="914399" y="403250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1439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36" name="TextBox 35"/>
          <p:cNvSpPr txBox="1"/>
          <p:nvPr/>
        </p:nvSpPr>
        <p:spPr>
          <a:xfrm>
            <a:off x="122186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37" name="TextBox 36"/>
          <p:cNvSpPr txBox="1"/>
          <p:nvPr/>
        </p:nvSpPr>
        <p:spPr>
          <a:xfrm>
            <a:off x="161124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38" name="Connector 37"/>
          <p:cNvCxnSpPr/>
          <p:nvPr/>
        </p:nvCxnSpPr>
        <p:spPr>
          <a:xfrm>
            <a:off x="1611249" y="403250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61124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42" name="TextBox 41"/>
          <p:cNvSpPr txBox="1"/>
          <p:nvPr/>
        </p:nvSpPr>
        <p:spPr>
          <a:xfrm>
            <a:off x="91439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43" name="Connector 42"/>
          <p:cNvCxnSpPr/>
          <p:nvPr/>
        </p:nvCxnSpPr>
        <p:spPr>
          <a:xfrm>
            <a:off x="914399" y="503834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1439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5" name="TextBox 44"/>
          <p:cNvSpPr txBox="1"/>
          <p:nvPr/>
        </p:nvSpPr>
        <p:spPr>
          <a:xfrm>
            <a:off x="1221867"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46" name="TextBox 45"/>
          <p:cNvSpPr txBox="1"/>
          <p:nvPr/>
        </p:nvSpPr>
        <p:spPr>
          <a:xfrm>
            <a:off x="1611249"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47" name="Connector 46"/>
          <p:cNvCxnSpPr/>
          <p:nvPr/>
        </p:nvCxnSpPr>
        <p:spPr>
          <a:xfrm>
            <a:off x="1611249" y="503834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611249"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1479"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51" name="TextBox 50"/>
          <p:cNvSpPr txBox="1"/>
          <p:nvPr/>
        </p:nvSpPr>
        <p:spPr>
          <a:xfrm>
            <a:off x="91439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cxnSp>
        <p:nvCxnSpPr>
          <p:cNvPr id="52" name="Connector 51"/>
          <p:cNvCxnSpPr/>
          <p:nvPr/>
        </p:nvCxnSpPr>
        <p:spPr>
          <a:xfrm>
            <a:off x="914399" y="604418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1439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54" name="TextBox 53"/>
          <p:cNvSpPr txBox="1"/>
          <p:nvPr/>
        </p:nvSpPr>
        <p:spPr>
          <a:xfrm>
            <a:off x="122186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55" name="TextBox 54"/>
          <p:cNvSpPr txBox="1"/>
          <p:nvPr/>
        </p:nvSpPr>
        <p:spPr>
          <a:xfrm>
            <a:off x="161124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56" name="Connector 55"/>
          <p:cNvCxnSpPr/>
          <p:nvPr/>
        </p:nvCxnSpPr>
        <p:spPr>
          <a:xfrm>
            <a:off x="1611249" y="604418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61124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11479"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60" name="TextBox 59"/>
          <p:cNvSpPr txBox="1"/>
          <p:nvPr/>
        </p:nvSpPr>
        <p:spPr>
          <a:xfrm>
            <a:off x="91439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61" name="Connector 60"/>
          <p:cNvCxnSpPr/>
          <p:nvPr/>
        </p:nvCxnSpPr>
        <p:spPr>
          <a:xfrm>
            <a:off x="914399" y="7050024"/>
            <a:ext cx="252604"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1439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3" name="TextBox 62"/>
          <p:cNvSpPr txBox="1"/>
          <p:nvPr/>
        </p:nvSpPr>
        <p:spPr>
          <a:xfrm>
            <a:off x="122186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64" name="TextBox 63"/>
          <p:cNvSpPr txBox="1"/>
          <p:nvPr/>
        </p:nvSpPr>
        <p:spPr>
          <a:xfrm>
            <a:off x="1611249"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65" name="Connector 64"/>
          <p:cNvCxnSpPr/>
          <p:nvPr/>
        </p:nvCxnSpPr>
        <p:spPr>
          <a:xfrm>
            <a:off x="1611249" y="7050024"/>
            <a:ext cx="252602"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611249"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67" name="Rectangle 66"/>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7492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69" name="TextBox 68"/>
          <p:cNvSpPr txBox="1"/>
          <p:nvPr/>
        </p:nvSpPr>
        <p:spPr>
          <a:xfrm>
            <a:off x="557784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70" name="Connector 69"/>
          <p:cNvCxnSpPr/>
          <p:nvPr/>
        </p:nvCxnSpPr>
        <p:spPr>
          <a:xfrm>
            <a:off x="557784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557784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72" name="TextBox 71"/>
          <p:cNvSpPr txBox="1"/>
          <p:nvPr/>
        </p:nvSpPr>
        <p:spPr>
          <a:xfrm>
            <a:off x="588530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73" name="TextBox 72"/>
          <p:cNvSpPr txBox="1"/>
          <p:nvPr/>
        </p:nvSpPr>
        <p:spPr>
          <a:xfrm>
            <a:off x="6274689"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4" name="Connector 73"/>
          <p:cNvCxnSpPr/>
          <p:nvPr/>
        </p:nvCxnSpPr>
        <p:spPr>
          <a:xfrm>
            <a:off x="6274689"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274689"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76" name="Rectangle 75"/>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7492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78" name="TextBox 77"/>
          <p:cNvSpPr txBox="1"/>
          <p:nvPr/>
        </p:nvSpPr>
        <p:spPr>
          <a:xfrm>
            <a:off x="557784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79" name="Connector 78"/>
          <p:cNvCxnSpPr/>
          <p:nvPr/>
        </p:nvCxnSpPr>
        <p:spPr>
          <a:xfrm>
            <a:off x="557784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57784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81" name="TextBox 80"/>
          <p:cNvSpPr txBox="1"/>
          <p:nvPr/>
        </p:nvSpPr>
        <p:spPr>
          <a:xfrm>
            <a:off x="588530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82" name="TextBox 81"/>
          <p:cNvSpPr txBox="1"/>
          <p:nvPr/>
        </p:nvSpPr>
        <p:spPr>
          <a:xfrm>
            <a:off x="6274689" y="276148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83" name="Connector 82"/>
          <p:cNvCxnSpPr/>
          <p:nvPr/>
        </p:nvCxnSpPr>
        <p:spPr>
          <a:xfrm>
            <a:off x="6274689" y="302666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6274689" y="304495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85" name="Rectangle 84"/>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07492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87" name="TextBox 86"/>
          <p:cNvSpPr txBox="1"/>
          <p:nvPr/>
        </p:nvSpPr>
        <p:spPr>
          <a:xfrm>
            <a:off x="5577840"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88" name="Connector 87"/>
          <p:cNvCxnSpPr/>
          <p:nvPr/>
        </p:nvCxnSpPr>
        <p:spPr>
          <a:xfrm>
            <a:off x="5577840"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577840"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90" name="TextBox 89"/>
          <p:cNvSpPr txBox="1"/>
          <p:nvPr/>
        </p:nvSpPr>
        <p:spPr>
          <a:xfrm>
            <a:off x="5885307"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91" name="TextBox 90"/>
          <p:cNvSpPr txBox="1"/>
          <p:nvPr/>
        </p:nvSpPr>
        <p:spPr>
          <a:xfrm>
            <a:off x="6274689"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92" name="Connector 91"/>
          <p:cNvCxnSpPr/>
          <p:nvPr/>
        </p:nvCxnSpPr>
        <p:spPr>
          <a:xfrm>
            <a:off x="6274689"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6274689"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94" name="Rectangle 93"/>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07492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96" name="TextBox 95"/>
          <p:cNvSpPr txBox="1"/>
          <p:nvPr/>
        </p:nvSpPr>
        <p:spPr>
          <a:xfrm>
            <a:off x="5577840" y="477316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cxnSp>
        <p:nvCxnSpPr>
          <p:cNvPr id="97" name="Connector 96"/>
          <p:cNvCxnSpPr/>
          <p:nvPr/>
        </p:nvCxnSpPr>
        <p:spPr>
          <a:xfrm>
            <a:off x="5577840" y="503834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577840" y="505663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10</a:t>
            </a:r>
          </a:p>
        </p:txBody>
      </p:sp>
      <p:sp>
        <p:nvSpPr>
          <p:cNvPr id="99" name="TextBox 98"/>
          <p:cNvSpPr txBox="1"/>
          <p:nvPr/>
        </p:nvSpPr>
        <p:spPr>
          <a:xfrm>
            <a:off x="6028182"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0" name="TextBox 99"/>
          <p:cNvSpPr txBox="1"/>
          <p:nvPr/>
        </p:nvSpPr>
        <p:spPr>
          <a:xfrm>
            <a:off x="6417564"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01" name="Connector 100"/>
          <p:cNvCxnSpPr/>
          <p:nvPr/>
        </p:nvCxnSpPr>
        <p:spPr>
          <a:xfrm>
            <a:off x="6417564"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6417564"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03" name="Rectangle 102"/>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7492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05" name="TextBox 104"/>
          <p:cNvSpPr txBox="1"/>
          <p:nvPr/>
        </p:nvSpPr>
        <p:spPr>
          <a:xfrm>
            <a:off x="557784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cxnSp>
        <p:nvCxnSpPr>
          <p:cNvPr id="106" name="Connector 105"/>
          <p:cNvCxnSpPr/>
          <p:nvPr/>
        </p:nvCxnSpPr>
        <p:spPr>
          <a:xfrm>
            <a:off x="557784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557784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08" name="TextBox 107"/>
          <p:cNvSpPr txBox="1"/>
          <p:nvPr/>
        </p:nvSpPr>
        <p:spPr>
          <a:xfrm>
            <a:off x="588530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09" name="TextBox 108"/>
          <p:cNvSpPr txBox="1"/>
          <p:nvPr/>
        </p:nvSpPr>
        <p:spPr>
          <a:xfrm>
            <a:off x="627468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10" name="Connector 109"/>
          <p:cNvCxnSpPr/>
          <p:nvPr/>
        </p:nvCxnSpPr>
        <p:spPr>
          <a:xfrm>
            <a:off x="627468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1" name="TextBox 110"/>
          <p:cNvSpPr txBox="1"/>
          <p:nvPr/>
        </p:nvSpPr>
        <p:spPr>
          <a:xfrm>
            <a:off x="627468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12" name="Rectangle 111"/>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07492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14" name="TextBox 113"/>
          <p:cNvSpPr txBox="1"/>
          <p:nvPr/>
        </p:nvSpPr>
        <p:spPr>
          <a:xfrm>
            <a:off x="5577840"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15" name="Connector 114"/>
          <p:cNvCxnSpPr/>
          <p:nvPr/>
        </p:nvCxnSpPr>
        <p:spPr>
          <a:xfrm>
            <a:off x="5577840"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5577840"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17" name="TextBox 116"/>
          <p:cNvSpPr txBox="1"/>
          <p:nvPr/>
        </p:nvSpPr>
        <p:spPr>
          <a:xfrm>
            <a:off x="5885307"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18" name="TextBox 117"/>
          <p:cNvSpPr txBox="1"/>
          <p:nvPr/>
        </p:nvSpPr>
        <p:spPr>
          <a:xfrm>
            <a:off x="6274689" y="6784848"/>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19" name="Connector 118"/>
          <p:cNvCxnSpPr/>
          <p:nvPr/>
        </p:nvCxnSpPr>
        <p:spPr>
          <a:xfrm>
            <a:off x="6274689" y="7050024"/>
            <a:ext cx="395478"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274689" y="7068312"/>
            <a:ext cx="395478"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12</a:t>
            </a:r>
          </a:p>
        </p:txBody>
      </p:sp>
      <p:sp>
        <p:nvSpPr>
          <p:cNvPr id="121" name="Rectangle 120"/>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738360" y="1837943"/>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1.</a:t>
            </a:r>
          </a:p>
        </p:txBody>
      </p:sp>
      <p:sp>
        <p:nvSpPr>
          <p:cNvPr id="123" name="TextBox 122"/>
          <p:cNvSpPr txBox="1"/>
          <p:nvPr/>
        </p:nvSpPr>
        <p:spPr>
          <a:xfrm>
            <a:off x="10241280" y="17556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24" name="Connector 123"/>
          <p:cNvCxnSpPr/>
          <p:nvPr/>
        </p:nvCxnSpPr>
        <p:spPr>
          <a:xfrm>
            <a:off x="10241280" y="20208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5" name="TextBox 124"/>
          <p:cNvSpPr txBox="1"/>
          <p:nvPr/>
        </p:nvSpPr>
        <p:spPr>
          <a:xfrm>
            <a:off x="10241280" y="20391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26" name="TextBox 125"/>
          <p:cNvSpPr txBox="1"/>
          <p:nvPr/>
        </p:nvSpPr>
        <p:spPr>
          <a:xfrm>
            <a:off x="10548747" y="1874519"/>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27" name="TextBox 126"/>
          <p:cNvSpPr txBox="1"/>
          <p:nvPr/>
        </p:nvSpPr>
        <p:spPr>
          <a:xfrm>
            <a:off x="10938129" y="175564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28" name="Connector 127"/>
          <p:cNvCxnSpPr/>
          <p:nvPr/>
        </p:nvCxnSpPr>
        <p:spPr>
          <a:xfrm>
            <a:off x="10938129" y="202082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10938129" y="203911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30" name="Rectangle 129"/>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738360" y="284378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2.</a:t>
            </a:r>
          </a:p>
        </p:txBody>
      </p:sp>
      <p:sp>
        <p:nvSpPr>
          <p:cNvPr id="132" name="TextBox 131"/>
          <p:cNvSpPr txBox="1"/>
          <p:nvPr/>
        </p:nvSpPr>
        <p:spPr>
          <a:xfrm>
            <a:off x="10241280"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2</a:t>
            </a:r>
          </a:p>
        </p:txBody>
      </p:sp>
      <p:cxnSp>
        <p:nvCxnSpPr>
          <p:cNvPr id="133" name="Connector 132"/>
          <p:cNvCxnSpPr/>
          <p:nvPr/>
        </p:nvCxnSpPr>
        <p:spPr>
          <a:xfrm>
            <a:off x="10241280"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10241280"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35" name="TextBox 134"/>
          <p:cNvSpPr txBox="1"/>
          <p:nvPr/>
        </p:nvSpPr>
        <p:spPr>
          <a:xfrm>
            <a:off x="10548747" y="288036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36" name="TextBox 135"/>
          <p:cNvSpPr txBox="1"/>
          <p:nvPr/>
        </p:nvSpPr>
        <p:spPr>
          <a:xfrm>
            <a:off x="10938129" y="276148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37" name="Connector 136"/>
          <p:cNvCxnSpPr/>
          <p:nvPr/>
        </p:nvCxnSpPr>
        <p:spPr>
          <a:xfrm>
            <a:off x="10938129" y="302666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10938129" y="304495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39" name="Rectangle 138"/>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9738360" y="384962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3.</a:t>
            </a:r>
          </a:p>
        </p:txBody>
      </p:sp>
      <p:sp>
        <p:nvSpPr>
          <p:cNvPr id="141" name="TextBox 140"/>
          <p:cNvSpPr txBox="1"/>
          <p:nvPr/>
        </p:nvSpPr>
        <p:spPr>
          <a:xfrm>
            <a:off x="10241280" y="388620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2 </a:t>
            </a:r>
          </a:p>
        </p:txBody>
      </p:sp>
      <p:sp>
        <p:nvSpPr>
          <p:cNvPr id="142" name="TextBox 141"/>
          <p:cNvSpPr txBox="1"/>
          <p:nvPr/>
        </p:nvSpPr>
        <p:spPr>
          <a:xfrm>
            <a:off x="10535412"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43" name="Connector 142"/>
          <p:cNvCxnSpPr/>
          <p:nvPr/>
        </p:nvCxnSpPr>
        <p:spPr>
          <a:xfrm>
            <a:off x="10535412"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10535412"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7</a:t>
            </a:r>
          </a:p>
        </p:txBody>
      </p:sp>
      <p:sp>
        <p:nvSpPr>
          <p:cNvPr id="145" name="TextBox 144"/>
          <p:cNvSpPr txBox="1"/>
          <p:nvPr/>
        </p:nvSpPr>
        <p:spPr>
          <a:xfrm>
            <a:off x="10842879" y="388620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46" name="TextBox 145"/>
          <p:cNvSpPr txBox="1"/>
          <p:nvPr/>
        </p:nvSpPr>
        <p:spPr>
          <a:xfrm>
            <a:off x="11232261" y="376732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47" name="Connector 146"/>
          <p:cNvCxnSpPr/>
          <p:nvPr/>
        </p:nvCxnSpPr>
        <p:spPr>
          <a:xfrm>
            <a:off x="11232261" y="403250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11232261" y="4050791"/>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sp>
        <p:nvSpPr>
          <p:cNvPr id="149" name="Rectangle 148"/>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9738360" y="485546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4.</a:t>
            </a:r>
          </a:p>
        </p:txBody>
      </p:sp>
      <p:sp>
        <p:nvSpPr>
          <p:cNvPr id="151" name="TextBox 150"/>
          <p:cNvSpPr txBox="1"/>
          <p:nvPr/>
        </p:nvSpPr>
        <p:spPr>
          <a:xfrm>
            <a:off x="10241280" y="4773168"/>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cxnSp>
        <p:nvCxnSpPr>
          <p:cNvPr id="152" name="Connector 151"/>
          <p:cNvCxnSpPr/>
          <p:nvPr/>
        </p:nvCxnSpPr>
        <p:spPr>
          <a:xfrm>
            <a:off x="10241280" y="5038344"/>
            <a:ext cx="395180"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10241280" y="5056632"/>
            <a:ext cx="395180"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11</a:t>
            </a:r>
          </a:p>
        </p:txBody>
      </p:sp>
      <p:sp>
        <p:nvSpPr>
          <p:cNvPr id="154" name="TextBox 153"/>
          <p:cNvSpPr txBox="1"/>
          <p:nvPr/>
        </p:nvSpPr>
        <p:spPr>
          <a:xfrm>
            <a:off x="10691324" y="489204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55" name="TextBox 154"/>
          <p:cNvSpPr txBox="1"/>
          <p:nvPr/>
        </p:nvSpPr>
        <p:spPr>
          <a:xfrm>
            <a:off x="11080706" y="477316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56" name="Connector 155"/>
          <p:cNvCxnSpPr/>
          <p:nvPr/>
        </p:nvCxnSpPr>
        <p:spPr>
          <a:xfrm>
            <a:off x="11080706" y="503834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11080706" y="505663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sp>
        <p:nvSpPr>
          <p:cNvPr id="158" name="Rectangle 157"/>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9738360" y="586130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5.</a:t>
            </a:r>
          </a:p>
        </p:txBody>
      </p:sp>
      <p:sp>
        <p:nvSpPr>
          <p:cNvPr id="160" name="TextBox 159"/>
          <p:cNvSpPr txBox="1"/>
          <p:nvPr/>
        </p:nvSpPr>
        <p:spPr>
          <a:xfrm>
            <a:off x="10241280"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5</a:t>
            </a:r>
          </a:p>
        </p:txBody>
      </p:sp>
      <p:cxnSp>
        <p:nvCxnSpPr>
          <p:cNvPr id="161" name="Connector 160"/>
          <p:cNvCxnSpPr/>
          <p:nvPr/>
        </p:nvCxnSpPr>
        <p:spPr>
          <a:xfrm>
            <a:off x="10241280"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10241280"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8</a:t>
            </a:r>
          </a:p>
        </p:txBody>
      </p:sp>
      <p:sp>
        <p:nvSpPr>
          <p:cNvPr id="163" name="TextBox 162"/>
          <p:cNvSpPr txBox="1"/>
          <p:nvPr/>
        </p:nvSpPr>
        <p:spPr>
          <a:xfrm>
            <a:off x="10548747" y="589788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64" name="TextBox 163"/>
          <p:cNvSpPr txBox="1"/>
          <p:nvPr/>
        </p:nvSpPr>
        <p:spPr>
          <a:xfrm>
            <a:off x="10938129" y="577900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1</a:t>
            </a:r>
          </a:p>
        </p:txBody>
      </p:sp>
      <p:cxnSp>
        <p:nvCxnSpPr>
          <p:cNvPr id="165" name="Connector 164"/>
          <p:cNvCxnSpPr/>
          <p:nvPr/>
        </p:nvCxnSpPr>
        <p:spPr>
          <a:xfrm>
            <a:off x="10938129" y="604418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10938129" y="606247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6</a:t>
            </a:r>
          </a:p>
        </p:txBody>
      </p:sp>
      <p:sp>
        <p:nvSpPr>
          <p:cNvPr id="167" name="Rectangle 166"/>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9738360" y="6867144"/>
            <a:ext cx="457200" cy="365760"/>
          </a:xfrm>
          <a:prstGeom prst="rect">
            <a:avLst/>
          </a:prstGeom>
          <a:noFill/>
        </p:spPr>
        <p:txBody>
          <a:bodyPr wrap="square" lIns="54864" rIns="54864" tIns="22860" bIns="22860">
            <a:spAutoFit/>
          </a:bodyPr>
          <a:lstStyle/>
          <a:p>
            <a:pPr>
              <a:lnSpc>
                <a:spcPts val="2100"/>
              </a:lnSpc>
              <a:spcBef>
                <a:spcPts val="0"/>
              </a:spcBef>
              <a:spcAft>
                <a:spcPts val="0"/>
              </a:spcAft>
              <a:defRPr sz="2000" b="1">
                <a:solidFill>
                  <a:srgbClr val="182B3A"/>
                </a:solidFill>
                <a:latin typeface="Arial"/>
              </a:defRPr>
            </a:pPr>
            <a:r>
              <a:t>6.</a:t>
            </a:r>
          </a:p>
        </p:txBody>
      </p:sp>
      <p:sp>
        <p:nvSpPr>
          <p:cNvPr id="169" name="TextBox 168"/>
          <p:cNvSpPr txBox="1"/>
          <p:nvPr/>
        </p:nvSpPr>
        <p:spPr>
          <a:xfrm>
            <a:off x="10241280" y="6903720"/>
            <a:ext cx="294132"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1 </a:t>
            </a:r>
          </a:p>
        </p:txBody>
      </p:sp>
      <p:sp>
        <p:nvSpPr>
          <p:cNvPr id="170" name="TextBox 169"/>
          <p:cNvSpPr txBox="1"/>
          <p:nvPr/>
        </p:nvSpPr>
        <p:spPr>
          <a:xfrm>
            <a:off x="10535412"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3</a:t>
            </a:r>
          </a:p>
        </p:txBody>
      </p:sp>
      <p:cxnSp>
        <p:nvCxnSpPr>
          <p:cNvPr id="171" name="Connector 170"/>
          <p:cNvCxnSpPr/>
          <p:nvPr/>
        </p:nvCxnSpPr>
        <p:spPr>
          <a:xfrm>
            <a:off x="10535412"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10535412"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sp>
        <p:nvSpPr>
          <p:cNvPr id="173" name="TextBox 172"/>
          <p:cNvSpPr txBox="1"/>
          <p:nvPr/>
        </p:nvSpPr>
        <p:spPr>
          <a:xfrm>
            <a:off x="10842879" y="6903720"/>
            <a:ext cx="389381" cy="347472"/>
          </a:xfrm>
          <a:prstGeom prst="rect">
            <a:avLst/>
          </a:prstGeom>
          <a:noFill/>
        </p:spPr>
        <p:txBody>
          <a:bodyPr wrap="none" lIns="0" rIns="0" tIns="0" bIns="0">
            <a:spAutoFit/>
          </a:bodyPr>
          <a:lstStyle/>
          <a:p>
            <a:pPr algn="l">
              <a:lnSpc>
                <a:spcPts val="2800"/>
              </a:lnSpc>
              <a:spcAft>
                <a:spcPts val="0"/>
              </a:spcAft>
              <a:defRPr sz="2500" b="0">
                <a:solidFill>
                  <a:srgbClr val="182B3A"/>
                </a:solidFill>
                <a:latin typeface="Arial"/>
              </a:defRPr>
            </a:pPr>
            <a:r>
              <a:t> − </a:t>
            </a:r>
          </a:p>
        </p:txBody>
      </p:sp>
      <p:sp>
        <p:nvSpPr>
          <p:cNvPr id="174" name="TextBox 173"/>
          <p:cNvSpPr txBox="1"/>
          <p:nvPr/>
        </p:nvSpPr>
        <p:spPr>
          <a:xfrm>
            <a:off x="11232261" y="6784848"/>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4</a:t>
            </a:r>
          </a:p>
        </p:txBody>
      </p:sp>
      <p:cxnSp>
        <p:nvCxnSpPr>
          <p:cNvPr id="175" name="Connector 174"/>
          <p:cNvCxnSpPr/>
          <p:nvPr/>
        </p:nvCxnSpPr>
        <p:spPr>
          <a:xfrm>
            <a:off x="11232261" y="7050024"/>
            <a:ext cx="252603" cy="0"/>
          </a:xfrm>
          <a:prstGeom prst="line">
            <a:avLst/>
          </a:prstGeom>
          <a:ln w="12700">
            <a:solidFill>
              <a:srgbClr val="182B3A"/>
            </a:solidFill>
          </a:ln>
          <a:effectLst/>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11232261" y="7068312"/>
            <a:ext cx="252603" cy="256032"/>
          </a:xfrm>
          <a:prstGeom prst="rect">
            <a:avLst/>
          </a:prstGeom>
          <a:noFill/>
        </p:spPr>
        <p:txBody>
          <a:bodyPr wrap="none" lIns="0" rIns="0" tIns="0" bIns="0">
            <a:spAutoFit/>
          </a:bodyPr>
          <a:lstStyle/>
          <a:p>
            <a:pPr algn="ctr">
              <a:lnSpc>
                <a:spcPts val="2240"/>
              </a:lnSpc>
              <a:spcAft>
                <a:spcPts val="0"/>
              </a:spcAft>
              <a:defRPr sz="2000" b="0">
                <a:solidFill>
                  <a:srgbClr val="182B3A"/>
                </a:solidFill>
                <a:latin typeface="Arial"/>
              </a:defRPr>
            </a:pPr>
            <a:r>
              <a:t>9</a:t>
            </a:r>
          </a:p>
        </p:txBody>
      </p:sp>
      <p:sp>
        <p:nvSpPr>
          <p:cNvPr id="17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initial assessment</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Show your full written method. No calculators.</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M03-IA  •  Record your working in your booklet or webapp.</a:t>
            </a:r>
          </a:p>
        </p:txBody>
      </p:sp>
      <p:sp>
        <p:nvSpPr>
          <p:cNvPr id="6" name="Rectangle 5"/>
          <p:cNvSpPr/>
          <p:nvPr/>
        </p:nvSpPr>
        <p:spPr>
          <a:xfrm>
            <a:off x="38404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6692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1.  A ribbon is 144 cm long and cut into 6 equal pieces. Find the length of each piece.</a:t>
            </a:r>
          </a:p>
        </p:txBody>
      </p:sp>
      <p:sp>
        <p:nvSpPr>
          <p:cNvPr id="8" name="Rectangle 7"/>
          <p:cNvSpPr/>
          <p:nvPr/>
        </p:nvSpPr>
        <p:spPr>
          <a:xfrm>
            <a:off x="7379208" y="146304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62088" y="166420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2.  A hall has 14 rows with 25 seats in each row. How many seats are there altogether?</a:t>
            </a:r>
          </a:p>
        </p:txBody>
      </p:sp>
      <p:sp>
        <p:nvSpPr>
          <p:cNvPr id="10" name="Rectangle 9"/>
          <p:cNvSpPr/>
          <p:nvPr/>
        </p:nvSpPr>
        <p:spPr>
          <a:xfrm>
            <a:off x="38404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6692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3.  145 eggs are packed into boxes of 6. How many full boxes can be made?</a:t>
            </a:r>
          </a:p>
        </p:txBody>
      </p:sp>
      <p:sp>
        <p:nvSpPr>
          <p:cNvPr id="12" name="Rectangle 11"/>
          <p:cNvSpPr/>
          <p:nvPr/>
        </p:nvSpPr>
        <p:spPr>
          <a:xfrm>
            <a:off x="7379208" y="4526280"/>
            <a:ext cx="6858000" cy="2852928"/>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62088" y="4727448"/>
            <a:ext cx="6492240" cy="2468880"/>
          </a:xfrm>
          <a:prstGeom prst="rect">
            <a:avLst/>
          </a:prstGeom>
          <a:noFill/>
        </p:spPr>
        <p:txBody>
          <a:bodyPr wrap="square" tIns="36576" bIns="36576" anchor="t">
            <a:spAutoFit/>
          </a:bodyPr>
          <a:lstStyle/>
          <a:p>
            <a:pPr>
              <a:lnSpc>
                <a:spcPts val="2700"/>
              </a:lnSpc>
              <a:spcBef>
                <a:spcPts val="0"/>
              </a:spcBef>
              <a:spcAft>
                <a:spcPts val="0"/>
              </a:spcAft>
              <a:defRPr sz="2500" b="1">
                <a:solidFill>
                  <a:srgbClr val="182B3A"/>
                </a:solidFill>
                <a:latin typeface="Arial"/>
              </a:defRPr>
            </a:pPr>
            <a:r>
              <a:t>4.  A coach hire company charges £75 per coach. 130 passengers need coaches with 24 seats each. Find the total hire cost.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Worked demo  •  Choose the calculation, use a written method, then check.</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M03-S01  •  Topic slide 2</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84 tins are shared equally among 4 boxes. How many tins go in each box?</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130 biscuits are packed in packs of 6. How many completely full packs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145 students need minibuses with 9 passenger seats each. Hire costs £40 per minibus. Find the total cost.</a:t>
            </a:r>
          </a:p>
        </p:txBody>
      </p:sp>
      <p:sp>
        <p:nvSpPr>
          <p:cNvPr id="21" name="Rectangle 20"/>
          <p:cNvSpPr/>
          <p:nvPr/>
        </p:nvSpPr>
        <p:spPr>
          <a:xfrm>
            <a:off x="384048" y="28620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“shared equally” among 4 boxes</a:t>
            </a:r>
          </a:p>
          <a:p>
            <a:pPr>
              <a:lnSpc>
                <a:spcPts val="1836"/>
              </a:lnSpc>
              <a:spcBef>
                <a:spcPts val="0"/>
              </a:spcBef>
              <a:spcAft>
                <a:spcPts val="0"/>
              </a:spcAft>
              <a:defRPr sz="1700" b="0">
                <a:solidFill>
                  <a:srgbClr val="182B3A"/>
                </a:solidFill>
                <a:latin typeface="Arial"/>
              </a:defRPr>
            </a:pPr>
            <a:r>
              <a:t>84 ÷ 4</a:t>
            </a:r>
          </a:p>
        </p:txBody>
      </p:sp>
      <p:sp>
        <p:nvSpPr>
          <p:cNvPr id="25" name="Rectangle 24"/>
          <p:cNvSpPr/>
          <p:nvPr/>
        </p:nvSpPr>
        <p:spPr>
          <a:xfrm>
            <a:off x="6406895"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“packs of 6”; “completely full”</a:t>
            </a:r>
          </a:p>
          <a:p>
            <a:pPr>
              <a:lnSpc>
                <a:spcPts val="1836"/>
              </a:lnSpc>
              <a:spcBef>
                <a:spcPts val="0"/>
              </a:spcBef>
              <a:spcAft>
                <a:spcPts val="0"/>
              </a:spcAft>
              <a:defRPr sz="1700" b="0">
                <a:solidFill>
                  <a:srgbClr val="182B3A"/>
                </a:solidFill>
                <a:latin typeface="Arial"/>
              </a:defRPr>
            </a:pPr>
            <a:r>
              <a:t>130 ÷ 6</a:t>
            </a:r>
          </a:p>
        </p:txBody>
      </p:sp>
      <p:sp>
        <p:nvSpPr>
          <p:cNvPr id="27" name="Rectangle 26"/>
          <p:cNvSpPr/>
          <p:nvPr/>
        </p:nvSpPr>
        <p:spPr>
          <a:xfrm>
            <a:off x="10326624" y="28620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“9 passenger seats”; “£40 per minibus”</a:t>
            </a:r>
          </a:p>
          <a:p>
            <a:pPr>
              <a:lnSpc>
                <a:spcPts val="1836"/>
              </a:lnSpc>
              <a:spcBef>
                <a:spcPts val="0"/>
              </a:spcBef>
              <a:spcAft>
                <a:spcPts val="0"/>
              </a:spcAft>
              <a:defRPr sz="1700" b="0">
                <a:solidFill>
                  <a:srgbClr val="182B3A"/>
                </a:solidFill>
                <a:latin typeface="Arial"/>
              </a:defRPr>
            </a:pPr>
            <a:r>
              <a:t>145 ÷ 9, then buses × 40</a:t>
            </a:r>
          </a:p>
        </p:txBody>
      </p:sp>
      <p:sp>
        <p:nvSpPr>
          <p:cNvPr id="29" name="Rectangle 28"/>
          <p:cNvSpPr/>
          <p:nvPr/>
        </p:nvSpPr>
        <p:spPr>
          <a:xfrm>
            <a:off x="384048" y="3822191"/>
            <a:ext cx="2103120" cy="22402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3913631"/>
            <a:ext cx="1975103" cy="205740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8 ÷ 4 = 2; 4 ÷ 4 = 1.</a:t>
            </a:r>
          </a:p>
          <a:p>
            <a:pPr>
              <a:lnSpc>
                <a:spcPts val="1836"/>
              </a:lnSpc>
              <a:spcBef>
                <a:spcPts val="0"/>
              </a:spcBef>
              <a:spcAft>
                <a:spcPts val="0"/>
              </a:spcAft>
              <a:defRPr sz="1700" b="0">
                <a:solidFill>
                  <a:srgbClr val="182B3A"/>
                </a:solidFill>
                <a:latin typeface="Arial"/>
              </a:defRPr>
            </a:pPr>
            <a:r>
              <a:t>84 ÷ 4 = 21.</a:t>
            </a:r>
          </a:p>
        </p:txBody>
      </p:sp>
      <p:grpSp>
        <p:nvGrpSpPr>
          <p:cNvPr id="33" name="Editable bus stop 84 ÷ 4"/>
          <p:cNvGrpSpPr/>
          <p:nvPr/>
        </p:nvGrpSpPr>
        <p:grpSpPr>
          <a:xfrm>
            <a:off x="3633216" y="5102352"/>
            <a:ext cx="1426463" cy="758952"/>
            <a:chOff x="3633216" y="5102352"/>
            <a:chExt cx="1426463" cy="758952"/>
          </a:xfrm>
        </p:grpSpPr>
        <p:cxnSp>
          <p:nvCxnSpPr>
            <p:cNvPr id="34" name="Connector 33"/>
            <p:cNvCxnSpPr/>
            <p:nvPr/>
          </p:nvCxnSpPr>
          <p:spPr>
            <a:xfrm>
              <a:off x="4035552" y="5477256"/>
              <a:ext cx="1024127"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5552"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633216" y="5495544"/>
              <a:ext cx="347472" cy="347472"/>
            </a:xfrm>
            <a:prstGeom prst="rect">
              <a:avLst/>
            </a:prstGeom>
            <a:noFill/>
          </p:spPr>
          <p:txBody>
            <a:bodyPr wrap="none" lIns="0" tIns="0" rIns="0" bIns="0" anchor="ctr">
              <a:spAutoFit/>
            </a:bodyPr>
            <a:lstStyle/>
            <a:p>
              <a:pPr algn="ctr">
                <a:defRPr sz="2400" b="1">
                  <a:solidFill>
                    <a:srgbClr val="176B73"/>
                  </a:solidFill>
                  <a:latin typeface="Arial"/>
                </a:defRPr>
              </a:pPr>
              <a:r>
                <a:t>4</a:t>
              </a:r>
            </a:p>
          </p:txBody>
        </p:sp>
        <p:sp>
          <p:nvSpPr>
            <p:cNvPr id="37" name="TextBox 36"/>
            <p:cNvSpPr txBox="1"/>
            <p:nvPr/>
          </p:nvSpPr>
          <p:spPr>
            <a:xfrm>
              <a:off x="4108704"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8</a:t>
              </a:r>
            </a:p>
          </p:txBody>
        </p:sp>
        <p:sp>
          <p:nvSpPr>
            <p:cNvPr id="38" name="TextBox 37"/>
            <p:cNvSpPr txBox="1"/>
            <p:nvPr/>
          </p:nvSpPr>
          <p:spPr>
            <a:xfrm>
              <a:off x="4108704"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2</a:t>
              </a:r>
            </a:p>
          </p:txBody>
        </p:sp>
        <p:sp>
          <p:nvSpPr>
            <p:cNvPr id="39" name="TextBox 38"/>
            <p:cNvSpPr txBox="1"/>
            <p:nvPr/>
          </p:nvSpPr>
          <p:spPr>
            <a:xfrm>
              <a:off x="4556760"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40" name="TextBox 39"/>
            <p:cNvSpPr txBox="1"/>
            <p:nvPr/>
          </p:nvSpPr>
          <p:spPr>
            <a:xfrm>
              <a:off x="4556760" y="5102352"/>
              <a:ext cx="448056" cy="320040"/>
            </a:xfrm>
            <a:prstGeom prst="rect">
              <a:avLst/>
            </a:prstGeom>
            <a:noFill/>
          </p:spPr>
          <p:txBody>
            <a:bodyPr wrap="none" lIns="0" tIns="0" rIns="0" bIns="0" anchor="ctr">
              <a:spAutoFit/>
            </a:bodyPr>
            <a:lstStyle/>
            <a:p>
              <a:pPr algn="ctr">
                <a:defRPr sz="2400" b="1">
                  <a:solidFill>
                    <a:srgbClr val="176B73"/>
                  </a:solidFill>
                  <a:latin typeface="Arial"/>
                </a:defRPr>
              </a:pPr>
              <a:r>
                <a:t>1</a:t>
              </a:r>
            </a:p>
          </p:txBody>
        </p:sp>
      </p:grpSp>
      <p:sp>
        <p:nvSpPr>
          <p:cNvPr id="41" name="Rectangle 40"/>
          <p:cNvSpPr/>
          <p:nvPr/>
        </p:nvSpPr>
        <p:spPr>
          <a:xfrm>
            <a:off x="6406895"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3886200"/>
            <a:ext cx="3791712" cy="10241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13 ÷ 6 = 2 r 1;</a:t>
            </a:r>
          </a:p>
          <a:p>
            <a:pPr>
              <a:lnSpc>
                <a:spcPts val="1836"/>
              </a:lnSpc>
              <a:spcBef>
                <a:spcPts val="0"/>
              </a:spcBef>
              <a:spcAft>
                <a:spcPts val="0"/>
              </a:spcAft>
              <a:defRPr sz="1700" b="0">
                <a:solidFill>
                  <a:srgbClr val="182B3A"/>
                </a:solidFill>
                <a:latin typeface="Arial"/>
              </a:defRPr>
            </a:pPr>
            <a:r>
              <a:t>10 ÷ 6 = 1 r 4. So 130 ÷ 6 = 21 r 4.</a:t>
            </a:r>
          </a:p>
        </p:txBody>
      </p:sp>
      <p:grpSp>
        <p:nvGrpSpPr>
          <p:cNvPr id="43" name="Editable bus stop 130 ÷ 6"/>
          <p:cNvGrpSpPr/>
          <p:nvPr/>
        </p:nvGrpSpPr>
        <p:grpSpPr>
          <a:xfrm>
            <a:off x="7328915" y="5102352"/>
            <a:ext cx="1874521" cy="905256"/>
            <a:chOff x="7328915" y="5102352"/>
            <a:chExt cx="1874521" cy="905256"/>
          </a:xfrm>
        </p:grpSpPr>
        <p:cxnSp>
          <p:nvCxnSpPr>
            <p:cNvPr id="44" name="Connector 43"/>
            <p:cNvCxnSpPr/>
            <p:nvPr/>
          </p:nvCxnSpPr>
          <p:spPr>
            <a:xfrm>
              <a:off x="7731251" y="5477256"/>
              <a:ext cx="147218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7731251" y="547725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28915" y="5495544"/>
              <a:ext cx="347472" cy="347472"/>
            </a:xfrm>
            <a:prstGeom prst="rect">
              <a:avLst/>
            </a:prstGeom>
            <a:noFill/>
          </p:spPr>
          <p:txBody>
            <a:bodyPr wrap="none" lIns="0" tIns="0" rIns="0" bIns="0" anchor="ctr">
              <a:spAutoFit/>
            </a:bodyPr>
            <a:lstStyle/>
            <a:p>
              <a:pPr algn="ctr">
                <a:defRPr sz="2400" b="1">
                  <a:solidFill>
                    <a:srgbClr val="3559A2"/>
                  </a:solidFill>
                  <a:latin typeface="Arial"/>
                </a:defRPr>
              </a:pPr>
              <a:r>
                <a:t>6</a:t>
              </a:r>
            </a:p>
          </p:txBody>
        </p:sp>
        <p:sp>
          <p:nvSpPr>
            <p:cNvPr id="47" name="TextBox 46"/>
            <p:cNvSpPr txBox="1"/>
            <p:nvPr/>
          </p:nvSpPr>
          <p:spPr>
            <a:xfrm>
              <a:off x="7804403"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48" name="TextBox 47"/>
            <p:cNvSpPr txBox="1"/>
            <p:nvPr/>
          </p:nvSpPr>
          <p:spPr>
            <a:xfrm>
              <a:off x="7804403"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endParaRPr/>
            </a:p>
          </p:txBody>
        </p:sp>
        <p:sp>
          <p:nvSpPr>
            <p:cNvPr id="49" name="TextBox 48"/>
            <p:cNvSpPr txBox="1"/>
            <p:nvPr/>
          </p:nvSpPr>
          <p:spPr>
            <a:xfrm>
              <a:off x="8252459"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3</a:t>
              </a:r>
            </a:p>
          </p:txBody>
        </p:sp>
        <p:sp>
          <p:nvSpPr>
            <p:cNvPr id="50" name="TextBox 49"/>
            <p:cNvSpPr txBox="1"/>
            <p:nvPr/>
          </p:nvSpPr>
          <p:spPr>
            <a:xfrm>
              <a:off x="8252459"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2</a:t>
              </a:r>
            </a:p>
          </p:txBody>
        </p:sp>
        <p:sp>
          <p:nvSpPr>
            <p:cNvPr id="51" name="TextBox 50"/>
            <p:cNvSpPr txBox="1"/>
            <p:nvPr/>
          </p:nvSpPr>
          <p:spPr>
            <a:xfrm>
              <a:off x="8161934"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2" name="TextBox 51"/>
            <p:cNvSpPr txBox="1"/>
            <p:nvPr/>
          </p:nvSpPr>
          <p:spPr>
            <a:xfrm>
              <a:off x="8700515" y="5495544"/>
              <a:ext cx="448056" cy="347472"/>
            </a:xfrm>
            <a:prstGeom prst="rect">
              <a:avLst/>
            </a:prstGeom>
            <a:noFill/>
          </p:spPr>
          <p:txBody>
            <a:bodyPr wrap="none" lIns="0" tIns="0" rIns="0" bIns="0" anchor="ctr">
              <a:spAutoFit/>
            </a:bodyPr>
            <a:lstStyle/>
            <a:p>
              <a:pPr algn="ctr">
                <a:defRPr sz="2400" b="0">
                  <a:solidFill>
                    <a:srgbClr val="182B3A"/>
                  </a:solidFill>
                  <a:latin typeface="Arial"/>
                </a:defRPr>
              </a:pPr>
              <a:r>
                <a:t>0</a:t>
              </a:r>
            </a:p>
          </p:txBody>
        </p:sp>
        <p:sp>
          <p:nvSpPr>
            <p:cNvPr id="53" name="TextBox 52"/>
            <p:cNvSpPr txBox="1"/>
            <p:nvPr/>
          </p:nvSpPr>
          <p:spPr>
            <a:xfrm>
              <a:off x="8700515" y="5102352"/>
              <a:ext cx="448056" cy="320040"/>
            </a:xfrm>
            <a:prstGeom prst="rect">
              <a:avLst/>
            </a:prstGeom>
            <a:noFill/>
          </p:spPr>
          <p:txBody>
            <a:bodyPr wrap="none" lIns="0" tIns="0" rIns="0" bIns="0" anchor="ctr">
              <a:spAutoFit/>
            </a:bodyPr>
            <a:lstStyle/>
            <a:p>
              <a:pPr algn="ctr">
                <a:defRPr sz="2400" b="1">
                  <a:solidFill>
                    <a:srgbClr val="3559A2"/>
                  </a:solidFill>
                  <a:latin typeface="Arial"/>
                </a:defRPr>
              </a:pPr>
              <a:r>
                <a:t>1</a:t>
              </a:r>
            </a:p>
          </p:txBody>
        </p:sp>
        <p:sp>
          <p:nvSpPr>
            <p:cNvPr id="54" name="TextBox 53"/>
            <p:cNvSpPr txBox="1"/>
            <p:nvPr/>
          </p:nvSpPr>
          <p:spPr>
            <a:xfrm>
              <a:off x="8609990" y="546811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55" name="TextBox 54"/>
            <p:cNvSpPr txBox="1"/>
            <p:nvPr/>
          </p:nvSpPr>
          <p:spPr>
            <a:xfrm>
              <a:off x="7804403" y="5843016"/>
              <a:ext cx="1344168" cy="164592"/>
            </a:xfrm>
            <a:prstGeom prst="rect">
              <a:avLst/>
            </a:prstGeom>
            <a:noFill/>
          </p:spPr>
          <p:txBody>
            <a:bodyPr wrap="none" lIns="0" tIns="0" rIns="0" bIns="0" anchor="ctr">
              <a:spAutoFit/>
            </a:bodyPr>
            <a:lstStyle/>
            <a:p>
              <a:pPr algn="ctr">
                <a:defRPr sz="1200" b="0">
                  <a:solidFill>
                    <a:srgbClr val="3559A2"/>
                  </a:solidFill>
                  <a:latin typeface="Arial"/>
                </a:defRPr>
              </a:pPr>
              <a:r>
                <a:t>remainder 4</a:t>
              </a:r>
            </a:p>
          </p:txBody>
        </p:sp>
      </p:grpSp>
      <p:sp>
        <p:nvSpPr>
          <p:cNvPr id="56" name="Rectangle 55"/>
          <p:cNvSpPr/>
          <p:nvPr/>
        </p:nvSpPr>
        <p:spPr>
          <a:xfrm>
            <a:off x="10326624" y="3822191"/>
            <a:ext cx="3919727" cy="22402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7" name="TextBox 56"/>
          <p:cNvSpPr txBox="1"/>
          <p:nvPr/>
        </p:nvSpPr>
        <p:spPr>
          <a:xfrm>
            <a:off x="10390632" y="3886200"/>
            <a:ext cx="3791712" cy="841247"/>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Bus stop: 14 ÷ 9 = 1 r 5;</a:t>
            </a:r>
          </a:p>
          <a:p>
            <a:pPr>
              <a:lnSpc>
                <a:spcPts val="1836"/>
              </a:lnSpc>
              <a:spcBef>
                <a:spcPts val="0"/>
              </a:spcBef>
              <a:spcAft>
                <a:spcPts val="0"/>
              </a:spcAft>
              <a:defRPr sz="1700" b="0">
                <a:solidFill>
                  <a:srgbClr val="182B3A"/>
                </a:solidFill>
                <a:latin typeface="Arial"/>
              </a:defRPr>
            </a:pPr>
            <a:r>
              <a:t>55 ÷ 9 = 6 r 1. So 16 r 1 → 17 buses.</a:t>
            </a:r>
          </a:p>
          <a:p>
            <a:pPr>
              <a:lnSpc>
                <a:spcPts val="1836"/>
              </a:lnSpc>
              <a:spcBef>
                <a:spcPts val="0"/>
              </a:spcBef>
              <a:spcAft>
                <a:spcPts val="0"/>
              </a:spcAft>
              <a:defRPr sz="1700" b="0">
                <a:solidFill>
                  <a:srgbClr val="182B3A"/>
                </a:solidFill>
                <a:latin typeface="Arial"/>
              </a:defRPr>
            </a:pPr>
            <a:r>
              <a:t>Lattice: 17 × 40 = 680.</a:t>
            </a:r>
          </a:p>
        </p:txBody>
      </p:sp>
      <p:grpSp>
        <p:nvGrpSpPr>
          <p:cNvPr id="58" name="Editable bus stop 145 ÷ 9"/>
          <p:cNvGrpSpPr/>
          <p:nvPr/>
        </p:nvGrpSpPr>
        <p:grpSpPr>
          <a:xfrm>
            <a:off x="10308336" y="5010912"/>
            <a:ext cx="1863181" cy="905256"/>
            <a:chOff x="10308336" y="5010912"/>
            <a:chExt cx="1863181" cy="905256"/>
          </a:xfrm>
        </p:grpSpPr>
        <p:cxnSp>
          <p:nvCxnSpPr>
            <p:cNvPr id="59" name="Connector 58"/>
            <p:cNvCxnSpPr/>
            <p:nvPr/>
          </p:nvCxnSpPr>
          <p:spPr>
            <a:xfrm>
              <a:off x="10710672" y="5385816"/>
              <a:ext cx="1460845" cy="0"/>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10710672" y="5385816"/>
              <a:ext cx="0" cy="384048"/>
            </a:xfrm>
            <a:prstGeom prst="line">
              <a:avLst/>
            </a:prstGeom>
            <a:ln w="17780">
              <a:solidFill>
                <a:srgbClr val="182B3A"/>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308336" y="5404103"/>
              <a:ext cx="347472" cy="347472"/>
            </a:xfrm>
            <a:prstGeom prst="rect">
              <a:avLst/>
            </a:prstGeom>
            <a:noFill/>
          </p:spPr>
          <p:txBody>
            <a:bodyPr wrap="none" lIns="0" tIns="0" rIns="0" bIns="0" anchor="ctr">
              <a:spAutoFit/>
            </a:bodyPr>
            <a:lstStyle/>
            <a:p>
              <a:pPr algn="ctr">
                <a:defRPr sz="2400" b="1">
                  <a:solidFill>
                    <a:srgbClr val="754B87"/>
                  </a:solidFill>
                  <a:latin typeface="Arial"/>
                </a:defRPr>
              </a:pPr>
              <a:r>
                <a:t>9</a:t>
              </a:r>
            </a:p>
          </p:txBody>
        </p:sp>
        <p:sp>
          <p:nvSpPr>
            <p:cNvPr id="62" name="TextBox 61"/>
            <p:cNvSpPr txBox="1"/>
            <p:nvPr/>
          </p:nvSpPr>
          <p:spPr>
            <a:xfrm>
              <a:off x="10783824"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1</a:t>
              </a:r>
            </a:p>
          </p:txBody>
        </p:sp>
        <p:sp>
          <p:nvSpPr>
            <p:cNvPr id="63" name="TextBox 62"/>
            <p:cNvSpPr txBox="1"/>
            <p:nvPr/>
          </p:nvSpPr>
          <p:spPr>
            <a:xfrm>
              <a:off x="10783824"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endParaRPr/>
            </a:p>
          </p:txBody>
        </p:sp>
        <p:sp>
          <p:nvSpPr>
            <p:cNvPr id="64" name="TextBox 63"/>
            <p:cNvSpPr txBox="1"/>
            <p:nvPr/>
          </p:nvSpPr>
          <p:spPr>
            <a:xfrm>
              <a:off x="11228100"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4</a:t>
              </a:r>
            </a:p>
          </p:txBody>
        </p:sp>
        <p:sp>
          <p:nvSpPr>
            <p:cNvPr id="65" name="TextBox 64"/>
            <p:cNvSpPr txBox="1"/>
            <p:nvPr/>
          </p:nvSpPr>
          <p:spPr>
            <a:xfrm>
              <a:off x="11228100"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1</a:t>
              </a:r>
            </a:p>
          </p:txBody>
        </p:sp>
        <p:sp>
          <p:nvSpPr>
            <p:cNvPr id="66" name="TextBox 65"/>
            <p:cNvSpPr txBox="1"/>
            <p:nvPr/>
          </p:nvSpPr>
          <p:spPr>
            <a:xfrm>
              <a:off x="11137574"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1</a:t>
              </a:r>
            </a:p>
          </p:txBody>
        </p:sp>
        <p:sp>
          <p:nvSpPr>
            <p:cNvPr id="67" name="TextBox 66"/>
            <p:cNvSpPr txBox="1"/>
            <p:nvPr/>
          </p:nvSpPr>
          <p:spPr>
            <a:xfrm>
              <a:off x="11672376" y="5404103"/>
              <a:ext cx="444276" cy="347472"/>
            </a:xfrm>
            <a:prstGeom prst="rect">
              <a:avLst/>
            </a:prstGeom>
            <a:noFill/>
          </p:spPr>
          <p:txBody>
            <a:bodyPr wrap="none" lIns="0" tIns="0" rIns="0" bIns="0" anchor="ctr">
              <a:spAutoFit/>
            </a:bodyPr>
            <a:lstStyle/>
            <a:p>
              <a:pPr algn="ctr">
                <a:defRPr sz="2400" b="0">
                  <a:solidFill>
                    <a:srgbClr val="182B3A"/>
                  </a:solidFill>
                  <a:latin typeface="Arial"/>
                </a:defRPr>
              </a:pPr>
              <a:r>
                <a:t>5</a:t>
              </a:r>
            </a:p>
          </p:txBody>
        </p:sp>
        <p:sp>
          <p:nvSpPr>
            <p:cNvPr id="68" name="TextBox 67"/>
            <p:cNvSpPr txBox="1"/>
            <p:nvPr/>
          </p:nvSpPr>
          <p:spPr>
            <a:xfrm>
              <a:off x="11672376" y="5010912"/>
              <a:ext cx="444276" cy="320040"/>
            </a:xfrm>
            <a:prstGeom prst="rect">
              <a:avLst/>
            </a:prstGeom>
            <a:noFill/>
          </p:spPr>
          <p:txBody>
            <a:bodyPr wrap="none" lIns="0" tIns="0" rIns="0" bIns="0" anchor="ctr">
              <a:spAutoFit/>
            </a:bodyPr>
            <a:lstStyle/>
            <a:p>
              <a:pPr algn="ctr">
                <a:defRPr sz="2400" b="1">
                  <a:solidFill>
                    <a:srgbClr val="754B87"/>
                  </a:solidFill>
                  <a:latin typeface="Arial"/>
                </a:defRPr>
              </a:pPr>
              <a:r>
                <a:t>6</a:t>
              </a:r>
            </a:p>
          </p:txBody>
        </p:sp>
        <p:sp>
          <p:nvSpPr>
            <p:cNvPr id="69" name="TextBox 68"/>
            <p:cNvSpPr txBox="1"/>
            <p:nvPr/>
          </p:nvSpPr>
          <p:spPr>
            <a:xfrm>
              <a:off x="11581851" y="5376672"/>
              <a:ext cx="164592" cy="164592"/>
            </a:xfrm>
            <a:prstGeom prst="rect">
              <a:avLst/>
            </a:prstGeom>
            <a:noFill/>
          </p:spPr>
          <p:txBody>
            <a:bodyPr wrap="none" lIns="0" tIns="0" rIns="0" bIns="0" anchor="ctr">
              <a:spAutoFit/>
            </a:bodyPr>
            <a:lstStyle/>
            <a:p>
              <a:pPr algn="ctr">
                <a:defRPr sz="1100" b="1">
                  <a:solidFill>
                    <a:srgbClr val="B14F00"/>
                  </a:solidFill>
                  <a:latin typeface="Arial"/>
                </a:defRPr>
              </a:pPr>
              <a:r>
                <a:t>5</a:t>
              </a:r>
            </a:p>
          </p:txBody>
        </p:sp>
        <p:sp>
          <p:nvSpPr>
            <p:cNvPr id="70" name="TextBox 69"/>
            <p:cNvSpPr txBox="1"/>
            <p:nvPr/>
          </p:nvSpPr>
          <p:spPr>
            <a:xfrm>
              <a:off x="10783824" y="5751576"/>
              <a:ext cx="1332829" cy="164592"/>
            </a:xfrm>
            <a:prstGeom prst="rect">
              <a:avLst/>
            </a:prstGeom>
            <a:noFill/>
          </p:spPr>
          <p:txBody>
            <a:bodyPr wrap="none" lIns="0" tIns="0" rIns="0" bIns="0" anchor="ctr">
              <a:spAutoFit/>
            </a:bodyPr>
            <a:lstStyle/>
            <a:p>
              <a:pPr algn="ctr">
                <a:defRPr sz="1200" b="0">
                  <a:solidFill>
                    <a:srgbClr val="754B87"/>
                  </a:solidFill>
                  <a:latin typeface="Arial"/>
                </a:defRPr>
              </a:pPr>
              <a:r>
                <a:t>remainder 1</a:t>
              </a:r>
            </a:p>
          </p:txBody>
        </p:sp>
      </p:grpSp>
      <p:grpSp>
        <p:nvGrpSpPr>
          <p:cNvPr id="71" name="Editable lattice 17 × 40"/>
          <p:cNvGrpSpPr/>
          <p:nvPr/>
        </p:nvGrpSpPr>
        <p:grpSpPr>
          <a:xfrm>
            <a:off x="12489820" y="4809743"/>
            <a:ext cx="1271016" cy="1243584"/>
            <a:chOff x="12489820" y="4809743"/>
            <a:chExt cx="1271016" cy="1243584"/>
          </a:xfrm>
        </p:grpSpPr>
        <p:sp>
          <p:nvSpPr>
            <p:cNvPr id="72" name="TextBox 71"/>
            <p:cNvSpPr txBox="1"/>
            <p:nvPr/>
          </p:nvSpPr>
          <p:spPr>
            <a:xfrm>
              <a:off x="12800716"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1</a:t>
              </a:r>
            </a:p>
          </p:txBody>
        </p:sp>
        <p:sp>
          <p:nvSpPr>
            <p:cNvPr id="73" name="TextBox 72"/>
            <p:cNvSpPr txBox="1"/>
            <p:nvPr/>
          </p:nvSpPr>
          <p:spPr>
            <a:xfrm>
              <a:off x="13134472" y="4809743"/>
              <a:ext cx="333756" cy="228600"/>
            </a:xfrm>
            <a:prstGeom prst="rect">
              <a:avLst/>
            </a:prstGeom>
            <a:noFill/>
          </p:spPr>
          <p:txBody>
            <a:bodyPr wrap="none" lIns="0" tIns="0" rIns="0" bIns="0" anchor="ctr">
              <a:spAutoFit/>
            </a:bodyPr>
            <a:lstStyle/>
            <a:p>
              <a:pPr algn="ctr">
                <a:defRPr sz="1500" b="1">
                  <a:solidFill>
                    <a:srgbClr val="754B87"/>
                  </a:solidFill>
                  <a:latin typeface="Arial"/>
                </a:defRPr>
              </a:pPr>
              <a:r>
                <a:t>7</a:t>
              </a:r>
            </a:p>
          </p:txBody>
        </p:sp>
        <p:sp>
          <p:nvSpPr>
            <p:cNvPr id="74" name="TextBox 73"/>
            <p:cNvSpPr txBox="1"/>
            <p:nvPr/>
          </p:nvSpPr>
          <p:spPr>
            <a:xfrm>
              <a:off x="13495660" y="5065775"/>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4</a:t>
              </a:r>
            </a:p>
          </p:txBody>
        </p:sp>
        <p:sp>
          <p:nvSpPr>
            <p:cNvPr id="75" name="TextBox 74"/>
            <p:cNvSpPr txBox="1"/>
            <p:nvPr/>
          </p:nvSpPr>
          <p:spPr>
            <a:xfrm>
              <a:off x="13495660" y="5399531"/>
              <a:ext cx="265176" cy="333756"/>
            </a:xfrm>
            <a:prstGeom prst="rect">
              <a:avLst/>
            </a:prstGeom>
            <a:noFill/>
          </p:spPr>
          <p:txBody>
            <a:bodyPr wrap="none" lIns="0" tIns="0" rIns="0" bIns="0" anchor="ctr">
              <a:spAutoFit/>
            </a:bodyPr>
            <a:lstStyle/>
            <a:p>
              <a:pPr algn="ctr">
                <a:defRPr sz="1500" b="1">
                  <a:solidFill>
                    <a:srgbClr val="754B87"/>
                  </a:solidFill>
                  <a:latin typeface="Arial"/>
                </a:defRPr>
              </a:pPr>
              <a:r>
                <a:t>0</a:t>
              </a:r>
            </a:p>
          </p:txBody>
        </p:sp>
        <p:sp>
          <p:nvSpPr>
            <p:cNvPr id="76" name="Rectangle 75"/>
            <p:cNvSpPr/>
            <p:nvPr/>
          </p:nvSpPr>
          <p:spPr>
            <a:xfrm>
              <a:off x="12800716"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77" name="Connector 76"/>
            <p:cNvCxnSpPr/>
            <p:nvPr/>
          </p:nvCxnSpPr>
          <p:spPr>
            <a:xfrm flipV="1">
              <a:off x="12800716"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2814066"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79" name="TextBox 78"/>
            <p:cNvSpPr txBox="1"/>
            <p:nvPr/>
          </p:nvSpPr>
          <p:spPr>
            <a:xfrm>
              <a:off x="12960918"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4</a:t>
              </a:r>
            </a:p>
          </p:txBody>
        </p:sp>
        <p:sp>
          <p:nvSpPr>
            <p:cNvPr id="80" name="Rectangle 79"/>
            <p:cNvSpPr/>
            <p:nvPr/>
          </p:nvSpPr>
          <p:spPr>
            <a:xfrm>
              <a:off x="13134472" y="5065775"/>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1" name="Connector 80"/>
            <p:cNvCxnSpPr/>
            <p:nvPr/>
          </p:nvCxnSpPr>
          <p:spPr>
            <a:xfrm flipV="1">
              <a:off x="13134472" y="5065775"/>
              <a:ext cx="333756" cy="333756"/>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3147822" y="5072451"/>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2</a:t>
              </a:r>
            </a:p>
          </p:txBody>
        </p:sp>
        <p:sp>
          <p:nvSpPr>
            <p:cNvPr id="83" name="TextBox 82"/>
            <p:cNvSpPr txBox="1"/>
            <p:nvPr/>
          </p:nvSpPr>
          <p:spPr>
            <a:xfrm>
              <a:off x="13294674" y="5229316"/>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8</a:t>
              </a:r>
            </a:p>
          </p:txBody>
        </p:sp>
        <p:sp>
          <p:nvSpPr>
            <p:cNvPr id="84" name="Rectangle 83"/>
            <p:cNvSpPr/>
            <p:nvPr/>
          </p:nvSpPr>
          <p:spPr>
            <a:xfrm>
              <a:off x="12800716"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5" name="Connector 84"/>
            <p:cNvCxnSpPr/>
            <p:nvPr/>
          </p:nvCxnSpPr>
          <p:spPr>
            <a:xfrm flipV="1">
              <a:off x="12800716"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814066"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7" name="TextBox 86"/>
            <p:cNvSpPr txBox="1"/>
            <p:nvPr/>
          </p:nvSpPr>
          <p:spPr>
            <a:xfrm>
              <a:off x="12960918"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88" name="Rectangle 87"/>
            <p:cNvSpPr/>
            <p:nvPr/>
          </p:nvSpPr>
          <p:spPr>
            <a:xfrm>
              <a:off x="13134472" y="5399531"/>
              <a:ext cx="333756" cy="333756"/>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89" name="Connector 88"/>
            <p:cNvCxnSpPr/>
            <p:nvPr/>
          </p:nvCxnSpPr>
          <p:spPr>
            <a:xfrm flipV="1">
              <a:off x="13134472" y="5399531"/>
              <a:ext cx="333756" cy="333757"/>
            </a:xfrm>
            <a:prstGeom prst="line">
              <a:avLst/>
            </a:prstGeom>
            <a:ln w="10160">
              <a:solidFill>
                <a:srgbClr val="8193A0"/>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13147822" y="5406207"/>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sp>
          <p:nvSpPr>
            <p:cNvPr id="91" name="TextBox 90"/>
            <p:cNvSpPr txBox="1"/>
            <p:nvPr/>
          </p:nvSpPr>
          <p:spPr>
            <a:xfrm>
              <a:off x="13294674" y="5563072"/>
              <a:ext cx="160202" cy="156865"/>
            </a:xfrm>
            <a:prstGeom prst="rect">
              <a:avLst/>
            </a:prstGeom>
            <a:noFill/>
          </p:spPr>
          <p:txBody>
            <a:bodyPr wrap="none" lIns="0" tIns="0" rIns="0" bIns="0" anchor="ctr">
              <a:spAutoFit/>
            </a:bodyPr>
            <a:lstStyle/>
            <a:p>
              <a:pPr algn="ctr">
                <a:defRPr sz="1500" b="0">
                  <a:solidFill>
                    <a:srgbClr val="182B3A"/>
                  </a:solidFill>
                  <a:latin typeface="Arial"/>
                </a:defRPr>
              </a:pPr>
              <a:r>
                <a:t>0</a:t>
              </a:r>
            </a:p>
          </p:txBody>
        </p:sp>
        <p:cxnSp>
          <p:nvCxnSpPr>
            <p:cNvPr id="92" name="Connector 91"/>
            <p:cNvCxnSpPr/>
            <p:nvPr/>
          </p:nvCxnSpPr>
          <p:spPr>
            <a:xfrm>
              <a:off x="12800716"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3134472"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3468228" y="5065775"/>
              <a:ext cx="0" cy="667513"/>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2800716" y="5065775"/>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2800716" y="5399531"/>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800716" y="5733288"/>
              <a:ext cx="667512" cy="0"/>
            </a:xfrm>
            <a:prstGeom prst="line">
              <a:avLst/>
            </a:prstGeom>
            <a:ln w="1143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3134472"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0</a:t>
              </a:r>
            </a:p>
          </p:txBody>
        </p:sp>
        <p:sp>
          <p:nvSpPr>
            <p:cNvPr id="99" name="TextBox 98"/>
            <p:cNvSpPr txBox="1"/>
            <p:nvPr/>
          </p:nvSpPr>
          <p:spPr>
            <a:xfrm>
              <a:off x="12800716" y="5815583"/>
              <a:ext cx="333756" cy="237744"/>
            </a:xfrm>
            <a:prstGeom prst="rect">
              <a:avLst/>
            </a:prstGeom>
            <a:noFill/>
          </p:spPr>
          <p:txBody>
            <a:bodyPr wrap="none" lIns="0" tIns="0" rIns="0" bIns="0" anchor="ctr">
              <a:spAutoFit/>
            </a:bodyPr>
            <a:lstStyle/>
            <a:p>
              <a:pPr algn="ctr">
                <a:defRPr sz="1600" b="1">
                  <a:solidFill>
                    <a:srgbClr val="754B87"/>
                  </a:solidFill>
                  <a:latin typeface="Arial"/>
                </a:defRPr>
              </a:pPr>
              <a:r>
                <a:t>8</a:t>
              </a:r>
            </a:p>
          </p:txBody>
        </p:sp>
        <p:sp>
          <p:nvSpPr>
            <p:cNvPr id="100" name="TextBox 99"/>
            <p:cNvSpPr txBox="1"/>
            <p:nvPr/>
          </p:nvSpPr>
          <p:spPr>
            <a:xfrm>
              <a:off x="12489820" y="5399531"/>
              <a:ext cx="265176" cy="333756"/>
            </a:xfrm>
            <a:prstGeom prst="rect">
              <a:avLst/>
            </a:prstGeom>
            <a:noFill/>
          </p:spPr>
          <p:txBody>
            <a:bodyPr wrap="none" lIns="0" tIns="0" rIns="0" bIns="0" anchor="ctr">
              <a:spAutoFit/>
            </a:bodyPr>
            <a:lstStyle/>
            <a:p>
              <a:pPr algn="ctr">
                <a:defRPr sz="1600" b="1">
                  <a:solidFill>
                    <a:srgbClr val="754B87"/>
                  </a:solidFill>
                  <a:latin typeface="Arial"/>
                </a:defRPr>
              </a:pPr>
              <a:r>
                <a:t>6</a:t>
              </a:r>
            </a:p>
          </p:txBody>
        </p:sp>
        <p:sp>
          <p:nvSpPr>
            <p:cNvPr id="101" name="TextBox 100"/>
            <p:cNvSpPr txBox="1"/>
            <p:nvPr/>
          </p:nvSpPr>
          <p:spPr>
            <a:xfrm>
              <a:off x="12489820" y="5065775"/>
              <a:ext cx="265176" cy="333756"/>
            </a:xfrm>
            <a:prstGeom prst="rect">
              <a:avLst/>
            </a:prstGeom>
            <a:noFill/>
          </p:spPr>
          <p:txBody>
            <a:bodyPr wrap="none" lIns="0" tIns="0" rIns="0" bIns="0" anchor="ctr">
              <a:spAutoFit/>
            </a:bodyPr>
            <a:lstStyle/>
            <a:p>
              <a:pPr algn="ctr">
                <a:defRPr sz="1600" b="1">
                  <a:solidFill>
                    <a:srgbClr val="8193A0"/>
                  </a:solidFill>
                  <a:latin typeface="Arial"/>
                </a:defRPr>
              </a:pPr>
              <a:r>
                <a:t>0</a:t>
              </a:r>
            </a:p>
          </p:txBody>
        </p:sp>
      </p:grpSp>
      <p:sp>
        <p:nvSpPr>
          <p:cNvPr id="102" name="Rectangle 101"/>
          <p:cNvSpPr/>
          <p:nvPr/>
        </p:nvSpPr>
        <p:spPr>
          <a:xfrm>
            <a:off x="384048" y="6062472"/>
            <a:ext cx="2103120" cy="9601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3" name="TextBox 102"/>
          <p:cNvSpPr txBox="1"/>
          <p:nvPr/>
        </p:nvSpPr>
        <p:spPr>
          <a:xfrm>
            <a:off x="448056" y="6153912"/>
            <a:ext cx="1975103" cy="7772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104" name="Rectangle 103"/>
          <p:cNvSpPr/>
          <p:nvPr/>
        </p:nvSpPr>
        <p:spPr>
          <a:xfrm>
            <a:off x="2487168"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5" name="TextBox 104"/>
          <p:cNvSpPr txBox="1"/>
          <p:nvPr/>
        </p:nvSpPr>
        <p:spPr>
          <a:xfrm>
            <a:off x="2551175"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80 ÷ 4 = 20.</a:t>
            </a:r>
          </a:p>
          <a:p>
            <a:pPr>
              <a:lnSpc>
                <a:spcPts val="1836"/>
              </a:lnSpc>
              <a:spcBef>
                <a:spcPts val="0"/>
              </a:spcBef>
              <a:spcAft>
                <a:spcPts val="0"/>
              </a:spcAft>
              <a:defRPr sz="1700" b="0">
                <a:solidFill>
                  <a:srgbClr val="182B3A"/>
                </a:solidFill>
                <a:latin typeface="Arial"/>
              </a:defRPr>
            </a:pPr>
            <a:r>
              <a:t>21 is close to 20.</a:t>
            </a:r>
          </a:p>
        </p:txBody>
      </p:sp>
      <p:sp>
        <p:nvSpPr>
          <p:cNvPr id="106" name="Rectangle 105"/>
          <p:cNvSpPr/>
          <p:nvPr/>
        </p:nvSpPr>
        <p:spPr>
          <a:xfrm>
            <a:off x="6406895"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7" name="TextBox 106"/>
          <p:cNvSpPr txBox="1"/>
          <p:nvPr/>
        </p:nvSpPr>
        <p:spPr>
          <a:xfrm>
            <a:off x="6470904"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120 ÷ 6 = 20.</a:t>
            </a:r>
          </a:p>
          <a:p>
            <a:pPr>
              <a:lnSpc>
                <a:spcPts val="1836"/>
              </a:lnSpc>
              <a:spcBef>
                <a:spcPts val="0"/>
              </a:spcBef>
              <a:spcAft>
                <a:spcPts val="0"/>
              </a:spcAft>
              <a:defRPr sz="1700" b="0">
                <a:solidFill>
                  <a:srgbClr val="182B3A"/>
                </a:solidFill>
                <a:latin typeface="Arial"/>
              </a:defRPr>
            </a:pPr>
            <a:r>
              <a:t>21 full packs is reasonable.</a:t>
            </a:r>
          </a:p>
        </p:txBody>
      </p:sp>
      <p:sp>
        <p:nvSpPr>
          <p:cNvPr id="108" name="Rectangle 107"/>
          <p:cNvSpPr/>
          <p:nvPr/>
        </p:nvSpPr>
        <p:spPr>
          <a:xfrm>
            <a:off x="10326624" y="6062472"/>
            <a:ext cx="3919727" cy="9601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9" name="TextBox 108"/>
          <p:cNvSpPr txBox="1"/>
          <p:nvPr/>
        </p:nvSpPr>
        <p:spPr>
          <a:xfrm>
            <a:off x="10390632" y="6126480"/>
            <a:ext cx="3791712" cy="795528"/>
          </a:xfrm>
          <a:prstGeom prst="rect">
            <a:avLst/>
          </a:prstGeom>
          <a:noFill/>
        </p:spPr>
        <p:txBody>
          <a:bodyPr wrap="square" tIns="36576" bIns="36576" anchor="t">
            <a:spAutoFit/>
          </a:bodyPr>
          <a:lstStyle/>
          <a:p>
            <a:pPr>
              <a:lnSpc>
                <a:spcPts val="1836"/>
              </a:lnSpc>
              <a:spcBef>
                <a:spcPts val="0"/>
              </a:spcBef>
              <a:spcAft>
                <a:spcPts val="0"/>
              </a:spcAft>
              <a:defRPr sz="1700" b="0">
                <a:solidFill>
                  <a:srgbClr val="182B3A"/>
                </a:solidFill>
                <a:latin typeface="Arial"/>
              </a:defRPr>
            </a:pPr>
            <a:r>
              <a:t>150 ÷ 10 ≈ 15; 15 × 40 = 600.</a:t>
            </a:r>
          </a:p>
          <a:p>
            <a:pPr>
              <a:lnSpc>
                <a:spcPts val="1836"/>
              </a:lnSpc>
              <a:spcBef>
                <a:spcPts val="0"/>
              </a:spcBef>
              <a:spcAft>
                <a:spcPts val="0"/>
              </a:spcAft>
              <a:defRPr sz="1700" b="0">
                <a:solidFill>
                  <a:srgbClr val="182B3A"/>
                </a:solidFill>
                <a:latin typeface="Arial"/>
              </a:defRPr>
            </a:pPr>
            <a:r>
              <a:t>£680 is reasonable: more buses are needed.</a:t>
            </a:r>
          </a:p>
        </p:txBody>
      </p:sp>
      <p:sp>
        <p:nvSpPr>
          <p:cNvPr id="110" name="Rectangle 109"/>
          <p:cNvSpPr/>
          <p:nvPr/>
        </p:nvSpPr>
        <p:spPr>
          <a:xfrm>
            <a:off x="384048" y="7022592"/>
            <a:ext cx="2103120" cy="64008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1" name="TextBox 110"/>
          <p:cNvSpPr txBox="1"/>
          <p:nvPr/>
        </p:nvSpPr>
        <p:spPr>
          <a:xfrm>
            <a:off x="448056" y="7114031"/>
            <a:ext cx="1975103" cy="457199"/>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112" name="Rectangle 111"/>
          <p:cNvSpPr/>
          <p:nvPr/>
        </p:nvSpPr>
        <p:spPr>
          <a:xfrm>
            <a:off x="2487168"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3" name="TextBox 112"/>
          <p:cNvSpPr txBox="1"/>
          <p:nvPr/>
        </p:nvSpPr>
        <p:spPr>
          <a:xfrm>
            <a:off x="2551175"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tins per box</a:t>
            </a:r>
          </a:p>
        </p:txBody>
      </p:sp>
      <p:sp>
        <p:nvSpPr>
          <p:cNvPr id="114" name="Rectangle 113"/>
          <p:cNvSpPr/>
          <p:nvPr/>
        </p:nvSpPr>
        <p:spPr>
          <a:xfrm>
            <a:off x="6406895"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5" name="TextBox 114"/>
          <p:cNvSpPr txBox="1"/>
          <p:nvPr/>
        </p:nvSpPr>
        <p:spPr>
          <a:xfrm>
            <a:off x="6470904"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21 full packs; 4 biscuits left</a:t>
            </a:r>
          </a:p>
        </p:txBody>
      </p:sp>
      <p:sp>
        <p:nvSpPr>
          <p:cNvPr id="116" name="Rectangle 115"/>
          <p:cNvSpPr/>
          <p:nvPr/>
        </p:nvSpPr>
        <p:spPr>
          <a:xfrm>
            <a:off x="10326624" y="7022592"/>
            <a:ext cx="3919727" cy="6400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7" name="TextBox 116"/>
          <p:cNvSpPr txBox="1"/>
          <p:nvPr/>
        </p:nvSpPr>
        <p:spPr>
          <a:xfrm>
            <a:off x="10390632" y="7086600"/>
            <a:ext cx="3791712" cy="475488"/>
          </a:xfrm>
          <a:prstGeom prst="rect">
            <a:avLst/>
          </a:prstGeom>
          <a:noFill/>
        </p:spPr>
        <p:txBody>
          <a:bodyPr wrap="square" tIns="36576" bIns="36576" anchor="t">
            <a:spAutoFit/>
          </a:bodyPr>
          <a:lstStyle/>
          <a:p>
            <a:pPr>
              <a:lnSpc>
                <a:spcPts val="2160"/>
              </a:lnSpc>
              <a:spcBef>
                <a:spcPts val="0"/>
              </a:spcBef>
              <a:spcAft>
                <a:spcPts val="0"/>
              </a:spcAft>
              <a:defRPr sz="2000" b="0">
                <a:solidFill>
                  <a:srgbClr val="182B3A"/>
                </a:solidFill>
                <a:latin typeface="Arial"/>
              </a:defRPr>
            </a:pPr>
            <a:r>
              <a:t>£680 to hire 17 minibuses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1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M03-S02  •  Topic slide 3</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42 packs each contain 15 pens. How many pens are there?</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215 apples go into bags of 6. How many completely full bags can be made?</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painter charges £18 per hour for 32 hours, plus £120 for paint. Find the total bill.</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Step-by-step practice 2  •  Decide which calculation(s) each question needs.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M03-S03  •  Topic slide 4</a:t>
            </a:r>
          </a:p>
        </p:txBody>
      </p:sp>
      <p:sp>
        <p:nvSpPr>
          <p:cNvPr id="7" name="Rectangle 6"/>
          <p:cNvSpPr/>
          <p:nvPr/>
        </p:nvSpPr>
        <p:spPr>
          <a:xfrm>
            <a:off x="2487168" y="1124712"/>
            <a:ext cx="3919727"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542032"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6406895" y="1124712"/>
            <a:ext cx="3919727"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6461759"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10326624" y="1124712"/>
            <a:ext cx="3919727"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10381488" y="1152144"/>
            <a:ext cx="3809999"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581912"/>
            <a:ext cx="2103120" cy="128016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11479" y="1618488"/>
            <a:ext cx="2048255" cy="1207007"/>
          </a:xfrm>
          <a:prstGeom prst="rect">
            <a:avLst/>
          </a:prstGeom>
          <a:noFill/>
        </p:spPr>
        <p:txBody>
          <a:bodyPr wrap="square" tIns="36576" bIns="36576" anchor="ctr">
            <a:spAutoFit/>
          </a:bodyPr>
          <a:lstStyle/>
          <a:p>
            <a:pPr>
              <a:lnSpc>
                <a:spcPts val="1728"/>
              </a:lnSpc>
              <a:spcBef>
                <a:spcPts val="0"/>
              </a:spcBef>
              <a:spcAft>
                <a:spcPts val="0"/>
              </a:spcAft>
              <a:defRPr sz="1600" b="1">
                <a:solidFill>
                  <a:srgbClr val="182B3A"/>
                </a:solidFill>
                <a:latin typeface="Arial"/>
              </a:defRPr>
            </a:pPr>
            <a:r>
              <a:t>The Full Question</a:t>
            </a:r>
          </a:p>
        </p:txBody>
      </p:sp>
      <p:sp>
        <p:nvSpPr>
          <p:cNvPr id="15" name="Rectangle 14"/>
          <p:cNvSpPr/>
          <p:nvPr/>
        </p:nvSpPr>
        <p:spPr>
          <a:xfrm>
            <a:off x="2487168" y="1581912"/>
            <a:ext cx="3919727" cy="128016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2542032"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168 students form 7 equal groups. How many students are in each group?</a:t>
            </a:r>
          </a:p>
        </p:txBody>
      </p:sp>
      <p:sp>
        <p:nvSpPr>
          <p:cNvPr id="17" name="Rectangle 16"/>
          <p:cNvSpPr/>
          <p:nvPr/>
        </p:nvSpPr>
        <p:spPr>
          <a:xfrm>
            <a:off x="6406895" y="1581912"/>
            <a:ext cx="3919727" cy="128016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61759"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A worker earns £16 per hour for 27 hours. What are their total wages?</a:t>
            </a:r>
          </a:p>
        </p:txBody>
      </p:sp>
      <p:sp>
        <p:nvSpPr>
          <p:cNvPr id="19" name="Rectangle 18"/>
          <p:cNvSpPr/>
          <p:nvPr/>
        </p:nvSpPr>
        <p:spPr>
          <a:xfrm>
            <a:off x="10326624" y="1581912"/>
            <a:ext cx="3919727" cy="128016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10381488" y="1636776"/>
            <a:ext cx="3809999" cy="1170431"/>
          </a:xfrm>
          <a:prstGeom prst="rect">
            <a:avLst/>
          </a:prstGeom>
          <a:noFill/>
        </p:spPr>
        <p:txBody>
          <a:bodyPr wrap="square" tIns="36576" bIns="36576" anchor="ctr">
            <a:spAutoFit/>
          </a:bodyPr>
          <a:lstStyle/>
          <a:p>
            <a:pPr>
              <a:lnSpc>
                <a:spcPts val="2052"/>
              </a:lnSpc>
              <a:spcBef>
                <a:spcPts val="0"/>
              </a:spcBef>
              <a:spcAft>
                <a:spcPts val="0"/>
              </a:spcAft>
              <a:defRPr sz="1900" b="1">
                <a:solidFill>
                  <a:srgbClr val="182B3A"/>
                </a:solidFill>
                <a:latin typeface="Arial"/>
              </a:defRPr>
            </a:pPr>
            <a:r>
              <a:t>157 passengers need vans with 8 passenger seats each. Hire costs £45 per van. Find the total hire cost.</a:t>
            </a:r>
          </a:p>
        </p:txBody>
      </p:sp>
      <p:sp>
        <p:nvSpPr>
          <p:cNvPr id="21" name="Rectangle 20"/>
          <p:cNvSpPr/>
          <p:nvPr/>
        </p:nvSpPr>
        <p:spPr>
          <a:xfrm>
            <a:off x="384048" y="286207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448056" y="2953512"/>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Keywords &amp; Calculation</a:t>
            </a:r>
          </a:p>
        </p:txBody>
      </p:sp>
      <p:sp>
        <p:nvSpPr>
          <p:cNvPr id="23" name="Rectangle 22"/>
          <p:cNvSpPr/>
          <p:nvPr/>
        </p:nvSpPr>
        <p:spPr>
          <a:xfrm>
            <a:off x="2487168"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2551175"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5" name="Rectangle 24"/>
          <p:cNvSpPr/>
          <p:nvPr/>
        </p:nvSpPr>
        <p:spPr>
          <a:xfrm>
            <a:off x="6406895"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6470904"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7" name="Rectangle 26"/>
          <p:cNvSpPr/>
          <p:nvPr/>
        </p:nvSpPr>
        <p:spPr>
          <a:xfrm>
            <a:off x="10326624" y="286207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8" name="TextBox 27"/>
          <p:cNvSpPr txBox="1"/>
          <p:nvPr/>
        </p:nvSpPr>
        <p:spPr>
          <a:xfrm>
            <a:off x="10390632" y="2926079"/>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Identify the keywords. Write down the calculation(s) you need to do.</a:t>
            </a:r>
          </a:p>
        </p:txBody>
      </p:sp>
      <p:sp>
        <p:nvSpPr>
          <p:cNvPr id="29" name="Rectangle 28"/>
          <p:cNvSpPr/>
          <p:nvPr/>
        </p:nvSpPr>
        <p:spPr>
          <a:xfrm>
            <a:off x="384048" y="405079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0" name="TextBox 29"/>
          <p:cNvSpPr txBox="1"/>
          <p:nvPr/>
        </p:nvSpPr>
        <p:spPr>
          <a:xfrm>
            <a:off x="448056" y="414223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Written Method</a:t>
            </a:r>
          </a:p>
        </p:txBody>
      </p:sp>
      <p:sp>
        <p:nvSpPr>
          <p:cNvPr id="31" name="Rectangle 30"/>
          <p:cNvSpPr/>
          <p:nvPr/>
        </p:nvSpPr>
        <p:spPr>
          <a:xfrm>
            <a:off x="2487168"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2551175"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3" name="Rectangle 32"/>
          <p:cNvSpPr/>
          <p:nvPr/>
        </p:nvSpPr>
        <p:spPr>
          <a:xfrm>
            <a:off x="6406895"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4" name="TextBox 33"/>
          <p:cNvSpPr txBox="1"/>
          <p:nvPr/>
        </p:nvSpPr>
        <p:spPr>
          <a:xfrm>
            <a:off x="6470904"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5" name="Rectangle 34"/>
          <p:cNvSpPr/>
          <p:nvPr/>
        </p:nvSpPr>
        <p:spPr>
          <a:xfrm>
            <a:off x="10326624" y="405079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6" name="TextBox 35"/>
          <p:cNvSpPr txBox="1"/>
          <p:nvPr/>
        </p:nvSpPr>
        <p:spPr>
          <a:xfrm>
            <a:off x="10390632" y="411480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Set up and use the written method for your calculation(s).</a:t>
            </a:r>
          </a:p>
        </p:txBody>
      </p:sp>
      <p:sp>
        <p:nvSpPr>
          <p:cNvPr id="37" name="Rectangle 36"/>
          <p:cNvSpPr/>
          <p:nvPr/>
        </p:nvSpPr>
        <p:spPr>
          <a:xfrm>
            <a:off x="384048" y="5239512"/>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448056" y="533095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Ballpark Check &amp; Math</a:t>
            </a:r>
          </a:p>
        </p:txBody>
      </p:sp>
      <p:sp>
        <p:nvSpPr>
          <p:cNvPr id="39" name="Rectangle 38"/>
          <p:cNvSpPr/>
          <p:nvPr/>
        </p:nvSpPr>
        <p:spPr>
          <a:xfrm>
            <a:off x="2487168"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0" name="TextBox 39"/>
          <p:cNvSpPr txBox="1"/>
          <p:nvPr/>
        </p:nvSpPr>
        <p:spPr>
          <a:xfrm>
            <a:off x="2551175"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1" name="Rectangle 40"/>
          <p:cNvSpPr/>
          <p:nvPr/>
        </p:nvSpPr>
        <p:spPr>
          <a:xfrm>
            <a:off x="6406895"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2" name="TextBox 41"/>
          <p:cNvSpPr txBox="1"/>
          <p:nvPr/>
        </p:nvSpPr>
        <p:spPr>
          <a:xfrm>
            <a:off x="6470904"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3" name="Rectangle 42"/>
          <p:cNvSpPr/>
          <p:nvPr/>
        </p:nvSpPr>
        <p:spPr>
          <a:xfrm>
            <a:off x="10326624" y="5239512"/>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10390632" y="530352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Check your answer using rough ballpark calculations. Does it make sense?</a:t>
            </a:r>
          </a:p>
        </p:txBody>
      </p:sp>
      <p:sp>
        <p:nvSpPr>
          <p:cNvPr id="45" name="Rectangle 44"/>
          <p:cNvSpPr/>
          <p:nvPr/>
        </p:nvSpPr>
        <p:spPr>
          <a:xfrm>
            <a:off x="384048" y="6428231"/>
            <a:ext cx="2103120" cy="1188720"/>
          </a:xfrm>
          <a:prstGeom prst="rect">
            <a:avLst/>
          </a:prstGeom>
          <a:solidFill>
            <a:srgbClr val="E8EDF1"/>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6" name="TextBox 45"/>
          <p:cNvSpPr txBox="1"/>
          <p:nvPr/>
        </p:nvSpPr>
        <p:spPr>
          <a:xfrm>
            <a:off x="448056" y="6519671"/>
            <a:ext cx="1975103" cy="1005840"/>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4. Final Answer</a:t>
            </a:r>
          </a:p>
        </p:txBody>
      </p:sp>
      <p:sp>
        <p:nvSpPr>
          <p:cNvPr id="47" name="Rectangle 46"/>
          <p:cNvSpPr/>
          <p:nvPr/>
        </p:nvSpPr>
        <p:spPr>
          <a:xfrm>
            <a:off x="2487168"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8" name="TextBox 47"/>
          <p:cNvSpPr txBox="1"/>
          <p:nvPr/>
        </p:nvSpPr>
        <p:spPr>
          <a:xfrm>
            <a:off x="2551175"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49" name="Rectangle 48"/>
          <p:cNvSpPr/>
          <p:nvPr/>
        </p:nvSpPr>
        <p:spPr>
          <a:xfrm>
            <a:off x="6406895"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6470904"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
        <p:nvSpPr>
          <p:cNvPr id="51" name="Rectangle 50"/>
          <p:cNvSpPr/>
          <p:nvPr/>
        </p:nvSpPr>
        <p:spPr>
          <a:xfrm>
            <a:off x="10326624" y="6428231"/>
            <a:ext cx="3919727" cy="118872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2" name="TextBox 51"/>
          <p:cNvSpPr txBox="1"/>
          <p:nvPr/>
        </p:nvSpPr>
        <p:spPr>
          <a:xfrm>
            <a:off x="10390632" y="6492240"/>
            <a:ext cx="3791712" cy="1024128"/>
          </a:xfrm>
          <a:prstGeom prst="rect">
            <a:avLst/>
          </a:prstGeom>
          <a:noFill/>
        </p:spPr>
        <p:txBody>
          <a:bodyPr wrap="square" tIns="36576" bIns="36576" anchor="t">
            <a:spAutoFit/>
          </a:bodyPr>
          <a:lstStyle/>
          <a:p>
            <a:pPr>
              <a:lnSpc>
                <a:spcPts val="2268"/>
              </a:lnSpc>
              <a:spcBef>
                <a:spcPts val="0"/>
              </a:spcBef>
              <a:spcAft>
                <a:spcPts val="0"/>
              </a:spcAft>
              <a:defRPr sz="2100" b="0">
                <a:solidFill>
                  <a:srgbClr val="182B3A"/>
                </a:solidFill>
                <a:latin typeface="Arial"/>
              </a:defRPr>
            </a:pPr>
            <a:r>
              <a:t>Write your final answer to the question. Include the correct units.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Multiplication and Division Problems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14 boxes hold 8 pens each. How many pens altogether?</a:t>
            </a:r>
          </a:p>
        </p:txBody>
      </p:sp>
      <p:sp>
        <p:nvSpPr>
          <p:cNvPr id="10" name="TextBox 9"/>
          <p:cNvSpPr txBox="1"/>
          <p:nvPr/>
        </p:nvSpPr>
        <p:spPr>
          <a:xfrm>
            <a:off x="612647" y="2551176"/>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14 + 8 = 22</a:t>
            </a:r>
          </a:p>
        </p:txBody>
      </p:sp>
      <p:sp>
        <p:nvSpPr>
          <p:cNvPr id="11" name="TextBox 10"/>
          <p:cNvSpPr txBox="1"/>
          <p:nvPr/>
        </p:nvSpPr>
        <p:spPr>
          <a:xfrm>
            <a:off x="612647" y="285292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22 pens</a:t>
            </a:r>
          </a:p>
        </p:txBody>
      </p:sp>
      <p:sp>
        <p:nvSpPr>
          <p:cNvPr id="12" name="Rectangle 11"/>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96 stickers are shared equally among 4 pupils. How many per pupil?</a:t>
            </a:r>
          </a:p>
        </p:txBody>
      </p:sp>
      <p:cxnSp>
        <p:nvCxnSpPr>
          <p:cNvPr id="14" name="Connector 13"/>
          <p:cNvCxnSpPr/>
          <p:nvPr/>
        </p:nvCxnSpPr>
        <p:spPr>
          <a:xfrm>
            <a:off x="904341"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04341"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6928"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4</a:t>
            </a:r>
          </a:p>
        </p:txBody>
      </p:sp>
      <p:sp>
        <p:nvSpPr>
          <p:cNvPr id="17" name="TextBox 16"/>
          <p:cNvSpPr txBox="1"/>
          <p:nvPr/>
        </p:nvSpPr>
        <p:spPr>
          <a:xfrm>
            <a:off x="953719"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18" name="TextBox 17"/>
          <p:cNvSpPr txBox="1"/>
          <p:nvPr/>
        </p:nvSpPr>
        <p:spPr>
          <a:xfrm>
            <a:off x="953719"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19" name="TextBox 18"/>
          <p:cNvSpPr txBox="1"/>
          <p:nvPr/>
        </p:nvSpPr>
        <p:spPr>
          <a:xfrm>
            <a:off x="1332280"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20" name="TextBox 19"/>
          <p:cNvSpPr txBox="1"/>
          <p:nvPr/>
        </p:nvSpPr>
        <p:spPr>
          <a:xfrm>
            <a:off x="1332280"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21" name="TextBox 20"/>
          <p:cNvSpPr txBox="1"/>
          <p:nvPr/>
        </p:nvSpPr>
        <p:spPr>
          <a:xfrm>
            <a:off x="1793138"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22" name="TextBox 21"/>
          <p:cNvSpPr txBox="1"/>
          <p:nvPr/>
        </p:nvSpPr>
        <p:spPr>
          <a:xfrm>
            <a:off x="594360"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stickers each</a:t>
            </a:r>
          </a:p>
        </p:txBody>
      </p:sp>
      <p:sp>
        <p:nvSpPr>
          <p:cNvPr id="23" name="Rectangle 22"/>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Cut 3 m of ribbon into 6 equal pieces. Find each length in cm.</a:t>
            </a:r>
          </a:p>
        </p:txBody>
      </p:sp>
      <p:sp>
        <p:nvSpPr>
          <p:cNvPr id="25" name="TextBox 24"/>
          <p:cNvSpPr txBox="1"/>
          <p:nvPr/>
        </p:nvSpPr>
        <p:spPr>
          <a:xfrm>
            <a:off x="612647" y="6556248"/>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 m = 30 cm</a:t>
            </a:r>
          </a:p>
        </p:txBody>
      </p:sp>
      <p:sp>
        <p:nvSpPr>
          <p:cNvPr id="26" name="TextBox 25"/>
          <p:cNvSpPr txBox="1"/>
          <p:nvPr/>
        </p:nvSpPr>
        <p:spPr>
          <a:xfrm>
            <a:off x="612647" y="6858000"/>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30 ÷ 6 = 5</a:t>
            </a:r>
          </a:p>
        </p:txBody>
      </p:sp>
      <p:sp>
        <p:nvSpPr>
          <p:cNvPr id="27" name="TextBox 26"/>
          <p:cNvSpPr txBox="1"/>
          <p:nvPr/>
        </p:nvSpPr>
        <p:spPr>
          <a:xfrm>
            <a:off x="612647" y="7159752"/>
            <a:ext cx="4206240" cy="310896"/>
          </a:xfrm>
          <a:prstGeom prst="rect">
            <a:avLst/>
          </a:prstGeom>
          <a:noFill/>
        </p:spPr>
        <p:txBody>
          <a:bodyPr wrap="none" lIns="0" rIns="0" tIns="0" bIns="0">
            <a:spAutoFit/>
          </a:bodyPr>
          <a:lstStyle/>
          <a:p>
            <a:pPr algn="l">
              <a:lnSpc>
                <a:spcPts val="2240"/>
              </a:lnSpc>
              <a:spcBef>
                <a:spcPts val="0"/>
              </a:spcBef>
              <a:spcAft>
                <a:spcPts val="0"/>
              </a:spcAft>
              <a:defRPr sz="2000" b="0">
                <a:solidFill>
                  <a:srgbClr val="182B3A"/>
                </a:solidFill>
                <a:latin typeface="Arial"/>
              </a:defRPr>
            </a:pPr>
            <a:r>
              <a:t>5 cm</a:t>
            </a:r>
          </a:p>
        </p:txBody>
      </p:sp>
      <p:sp>
        <p:nvSpPr>
          <p:cNvPr id="28" name="Rectangle 27"/>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0" name="Rectangle 29"/>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Pack 166 eggs in boxes of 6. How many full boxes?</a:t>
            </a:r>
          </a:p>
        </p:txBody>
      </p:sp>
      <p:cxnSp>
        <p:nvCxnSpPr>
          <p:cNvPr id="32" name="Connector 31"/>
          <p:cNvCxnSpPr/>
          <p:nvPr/>
        </p:nvCxnSpPr>
        <p:spPr>
          <a:xfrm>
            <a:off x="5525109" y="2874873"/>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525109" y="2874873"/>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187696" y="2895447"/>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6</a:t>
            </a:r>
          </a:p>
        </p:txBody>
      </p:sp>
      <p:sp>
        <p:nvSpPr>
          <p:cNvPr id="35" name="TextBox 34"/>
          <p:cNvSpPr txBox="1"/>
          <p:nvPr/>
        </p:nvSpPr>
        <p:spPr>
          <a:xfrm>
            <a:off x="5574487"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36" name="TextBox 35"/>
          <p:cNvSpPr txBox="1"/>
          <p:nvPr/>
        </p:nvSpPr>
        <p:spPr>
          <a:xfrm>
            <a:off x="5953048"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37" name="TextBox 36"/>
          <p:cNvSpPr txBox="1"/>
          <p:nvPr/>
        </p:nvSpPr>
        <p:spPr>
          <a:xfrm>
            <a:off x="5953048"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38" name="TextBox 37"/>
          <p:cNvSpPr txBox="1"/>
          <p:nvPr/>
        </p:nvSpPr>
        <p:spPr>
          <a:xfrm>
            <a:off x="5903671"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39" name="TextBox 38"/>
          <p:cNvSpPr txBox="1"/>
          <p:nvPr/>
        </p:nvSpPr>
        <p:spPr>
          <a:xfrm>
            <a:off x="6331610" y="2903677"/>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40" name="TextBox 39"/>
          <p:cNvSpPr txBox="1"/>
          <p:nvPr/>
        </p:nvSpPr>
        <p:spPr>
          <a:xfrm>
            <a:off x="6331610" y="2578608"/>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7</a:t>
            </a:r>
          </a:p>
        </p:txBody>
      </p:sp>
      <p:sp>
        <p:nvSpPr>
          <p:cNvPr id="41" name="TextBox 40"/>
          <p:cNvSpPr txBox="1"/>
          <p:nvPr/>
        </p:nvSpPr>
        <p:spPr>
          <a:xfrm>
            <a:off x="6282232" y="2878988"/>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4</a:t>
            </a:r>
          </a:p>
        </p:txBody>
      </p:sp>
      <p:sp>
        <p:nvSpPr>
          <p:cNvPr id="42" name="TextBox 41"/>
          <p:cNvSpPr txBox="1"/>
          <p:nvPr/>
        </p:nvSpPr>
        <p:spPr>
          <a:xfrm>
            <a:off x="6792468" y="2603296"/>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43" name="TextBox 42"/>
          <p:cNvSpPr txBox="1"/>
          <p:nvPr/>
        </p:nvSpPr>
        <p:spPr>
          <a:xfrm>
            <a:off x="5215128" y="3337560"/>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28 full boxes</a:t>
            </a:r>
          </a:p>
        </p:txBody>
      </p:sp>
      <p:sp>
        <p:nvSpPr>
          <p:cNvPr id="44" name="Rectangle 43"/>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32 campers need tents. Each tent sleeps 5. How many tents are needed?</a:t>
            </a:r>
          </a:p>
        </p:txBody>
      </p:sp>
      <p:cxnSp>
        <p:nvCxnSpPr>
          <p:cNvPr id="46" name="Connector 45"/>
          <p:cNvCxnSpPr/>
          <p:nvPr/>
        </p:nvCxnSpPr>
        <p:spPr>
          <a:xfrm>
            <a:off x="5525109" y="4877409"/>
            <a:ext cx="831190"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25109" y="4877409"/>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187696" y="4897983"/>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5</a:t>
            </a:r>
          </a:p>
        </p:txBody>
      </p:sp>
      <p:sp>
        <p:nvSpPr>
          <p:cNvPr id="49" name="TextBox 48"/>
          <p:cNvSpPr txBox="1"/>
          <p:nvPr/>
        </p:nvSpPr>
        <p:spPr>
          <a:xfrm>
            <a:off x="5574487"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3</a:t>
            </a:r>
          </a:p>
        </p:txBody>
      </p:sp>
      <p:sp>
        <p:nvSpPr>
          <p:cNvPr id="50" name="TextBox 49"/>
          <p:cNvSpPr txBox="1"/>
          <p:nvPr/>
        </p:nvSpPr>
        <p:spPr>
          <a:xfrm>
            <a:off x="5953048" y="4906213"/>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2</a:t>
            </a:r>
          </a:p>
        </p:txBody>
      </p:sp>
      <p:sp>
        <p:nvSpPr>
          <p:cNvPr id="51" name="TextBox 50"/>
          <p:cNvSpPr txBox="1"/>
          <p:nvPr/>
        </p:nvSpPr>
        <p:spPr>
          <a:xfrm>
            <a:off x="5953048" y="4581144"/>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52" name="TextBox 51"/>
          <p:cNvSpPr txBox="1"/>
          <p:nvPr/>
        </p:nvSpPr>
        <p:spPr>
          <a:xfrm>
            <a:off x="5903671" y="4881524"/>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3</a:t>
            </a:r>
          </a:p>
        </p:txBody>
      </p:sp>
      <p:sp>
        <p:nvSpPr>
          <p:cNvPr id="53" name="TextBox 52"/>
          <p:cNvSpPr txBox="1"/>
          <p:nvPr/>
        </p:nvSpPr>
        <p:spPr>
          <a:xfrm>
            <a:off x="6413906" y="4605832"/>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2</a:t>
            </a:r>
          </a:p>
        </p:txBody>
      </p:sp>
      <p:sp>
        <p:nvSpPr>
          <p:cNvPr id="54" name="TextBox 53"/>
          <p:cNvSpPr txBox="1"/>
          <p:nvPr/>
        </p:nvSpPr>
        <p:spPr>
          <a:xfrm>
            <a:off x="5215128" y="5340096"/>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 tents</a:t>
            </a:r>
          </a:p>
        </p:txBody>
      </p:sp>
      <p:sp>
        <p:nvSpPr>
          <p:cNvPr id="55" name="Rectangle 54"/>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a £156 bill equally among 8 friends. How much each?</a:t>
            </a:r>
          </a:p>
        </p:txBody>
      </p:sp>
      <p:cxnSp>
        <p:nvCxnSpPr>
          <p:cNvPr id="57" name="Connector 56"/>
          <p:cNvCxnSpPr/>
          <p:nvPr/>
        </p:nvCxnSpPr>
        <p:spPr>
          <a:xfrm>
            <a:off x="5525109" y="6879945"/>
            <a:ext cx="120975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525109" y="6879945"/>
            <a:ext cx="0" cy="320955"/>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187696" y="6900519"/>
            <a:ext cx="296265" cy="288036"/>
          </a:xfrm>
          <a:prstGeom prst="rect">
            <a:avLst/>
          </a:prstGeom>
          <a:noFill/>
        </p:spPr>
        <p:txBody>
          <a:bodyPr wrap="none" lIns="0" rIns="0" tIns="0" bIns="0">
            <a:spAutoFit/>
          </a:bodyPr>
          <a:lstStyle/>
          <a:p>
            <a:pPr algn="r">
              <a:lnSpc>
                <a:spcPts val="2217"/>
              </a:lnSpc>
              <a:spcBef>
                <a:spcPts val="0"/>
              </a:spcBef>
              <a:spcAft>
                <a:spcPts val="0"/>
              </a:spcAft>
              <a:defRPr sz="1980" b="0">
                <a:solidFill>
                  <a:srgbClr val="182B3A"/>
                </a:solidFill>
                <a:latin typeface="Arial"/>
              </a:defRPr>
            </a:pPr>
            <a:r>
              <a:t>8</a:t>
            </a:r>
          </a:p>
        </p:txBody>
      </p:sp>
      <p:sp>
        <p:nvSpPr>
          <p:cNvPr id="60" name="TextBox 59"/>
          <p:cNvSpPr txBox="1"/>
          <p:nvPr/>
        </p:nvSpPr>
        <p:spPr>
          <a:xfrm>
            <a:off x="5574487"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1" name="TextBox 60"/>
          <p:cNvSpPr txBox="1"/>
          <p:nvPr/>
        </p:nvSpPr>
        <p:spPr>
          <a:xfrm>
            <a:off x="5953048"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5</a:t>
            </a:r>
          </a:p>
        </p:txBody>
      </p:sp>
      <p:sp>
        <p:nvSpPr>
          <p:cNvPr id="62" name="TextBox 61"/>
          <p:cNvSpPr txBox="1"/>
          <p:nvPr/>
        </p:nvSpPr>
        <p:spPr>
          <a:xfrm>
            <a:off x="5953048"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1</a:t>
            </a:r>
          </a:p>
        </p:txBody>
      </p:sp>
      <p:sp>
        <p:nvSpPr>
          <p:cNvPr id="63" name="TextBox 62"/>
          <p:cNvSpPr txBox="1"/>
          <p:nvPr/>
        </p:nvSpPr>
        <p:spPr>
          <a:xfrm>
            <a:off x="5903671"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1</a:t>
            </a:r>
          </a:p>
        </p:txBody>
      </p:sp>
      <p:sp>
        <p:nvSpPr>
          <p:cNvPr id="64" name="TextBox 63"/>
          <p:cNvSpPr txBox="1"/>
          <p:nvPr/>
        </p:nvSpPr>
        <p:spPr>
          <a:xfrm>
            <a:off x="6331610" y="6908749"/>
            <a:ext cx="378561" cy="296265"/>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6</a:t>
            </a:r>
          </a:p>
        </p:txBody>
      </p:sp>
      <p:sp>
        <p:nvSpPr>
          <p:cNvPr id="65" name="TextBox 64"/>
          <p:cNvSpPr txBox="1"/>
          <p:nvPr/>
        </p:nvSpPr>
        <p:spPr>
          <a:xfrm>
            <a:off x="6331610" y="6583679"/>
            <a:ext cx="378561" cy="279806"/>
          </a:xfrm>
          <a:prstGeom prst="rect">
            <a:avLst/>
          </a:prstGeom>
          <a:noFill/>
        </p:spPr>
        <p:txBody>
          <a:bodyPr wrap="none" lIns="0" rIns="0" tIns="0" bIns="0">
            <a:spAutoFit/>
          </a:bodyPr>
          <a:lstStyle/>
          <a:p>
            <a:pPr algn="ctr">
              <a:lnSpc>
                <a:spcPts val="2419"/>
              </a:lnSpc>
              <a:spcBef>
                <a:spcPts val="0"/>
              </a:spcBef>
              <a:spcAft>
                <a:spcPts val="0"/>
              </a:spcAft>
              <a:defRPr sz="2160" b="0">
                <a:solidFill>
                  <a:srgbClr val="182B3A"/>
                </a:solidFill>
                <a:latin typeface="Arial"/>
              </a:defRPr>
            </a:pPr>
            <a:r>
              <a:t>9</a:t>
            </a:r>
          </a:p>
        </p:txBody>
      </p:sp>
      <p:sp>
        <p:nvSpPr>
          <p:cNvPr id="66" name="TextBox 65"/>
          <p:cNvSpPr txBox="1"/>
          <p:nvPr/>
        </p:nvSpPr>
        <p:spPr>
          <a:xfrm>
            <a:off x="6282232" y="6884060"/>
            <a:ext cx="148132" cy="164592"/>
          </a:xfrm>
          <a:prstGeom prst="rect">
            <a:avLst/>
          </a:prstGeom>
          <a:noFill/>
        </p:spPr>
        <p:txBody>
          <a:bodyPr wrap="none" lIns="0" rIns="0" tIns="0" bIns="0">
            <a:spAutoFit/>
          </a:bodyPr>
          <a:lstStyle/>
          <a:p>
            <a:pPr algn="ctr">
              <a:lnSpc>
                <a:spcPts val="1209"/>
              </a:lnSpc>
              <a:spcBef>
                <a:spcPts val="0"/>
              </a:spcBef>
              <a:spcAft>
                <a:spcPts val="0"/>
              </a:spcAft>
              <a:defRPr sz="1080" b="0">
                <a:solidFill>
                  <a:srgbClr val="182B3A"/>
                </a:solidFill>
                <a:latin typeface="Arial"/>
              </a:defRPr>
            </a:pPr>
            <a:r>
              <a:t>7</a:t>
            </a:r>
          </a:p>
        </p:txBody>
      </p:sp>
      <p:sp>
        <p:nvSpPr>
          <p:cNvPr id="67" name="TextBox 66"/>
          <p:cNvSpPr txBox="1"/>
          <p:nvPr/>
        </p:nvSpPr>
        <p:spPr>
          <a:xfrm>
            <a:off x="6792468" y="6608368"/>
            <a:ext cx="658368" cy="246888"/>
          </a:xfrm>
          <a:prstGeom prst="rect">
            <a:avLst/>
          </a:prstGeom>
          <a:noFill/>
        </p:spPr>
        <p:txBody>
          <a:bodyPr wrap="none" lIns="0" rIns="0" tIns="0" bIns="0">
            <a:spAutoFit/>
          </a:bodyPr>
          <a:lstStyle/>
          <a:p>
            <a:pPr algn="l">
              <a:lnSpc>
                <a:spcPts val="1814"/>
              </a:lnSpc>
              <a:spcBef>
                <a:spcPts val="0"/>
              </a:spcBef>
              <a:spcAft>
                <a:spcPts val="0"/>
              </a:spcAft>
              <a:defRPr sz="1620" b="0">
                <a:solidFill>
                  <a:srgbClr val="182B3A"/>
                </a:solidFill>
                <a:latin typeface="Arial"/>
              </a:defRPr>
            </a:pPr>
            <a:r>
              <a:t>r 4</a:t>
            </a:r>
          </a:p>
        </p:txBody>
      </p:sp>
      <p:sp>
        <p:nvSpPr>
          <p:cNvPr id="68" name="TextBox 67"/>
          <p:cNvSpPr txBox="1"/>
          <p:nvPr/>
        </p:nvSpPr>
        <p:spPr>
          <a:xfrm>
            <a:off x="5215128" y="7342631"/>
            <a:ext cx="4206240" cy="274320"/>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£19.04 each</a:t>
            </a:r>
          </a:p>
        </p:txBody>
      </p:sp>
      <p:sp>
        <p:nvSpPr>
          <p:cNvPr id="69" name="Rectangle 68"/>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71" name="Rectangle 70"/>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Tables seat 6 and cost £12 to hire. Find the cost to seat 94 guests.</a:t>
            </a:r>
          </a:p>
        </p:txBody>
      </p:sp>
      <p:cxnSp>
        <p:nvCxnSpPr>
          <p:cNvPr id="73" name="Connector 72"/>
          <p:cNvCxnSpPr/>
          <p:nvPr/>
        </p:nvCxnSpPr>
        <p:spPr>
          <a:xfrm>
            <a:off x="10055626" y="2860974"/>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0055626" y="2860974"/>
            <a:ext cx="0" cy="295991"/>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9744456" y="2879948"/>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6</a:t>
            </a:r>
          </a:p>
        </p:txBody>
      </p:sp>
      <p:sp>
        <p:nvSpPr>
          <p:cNvPr id="76" name="TextBox 75"/>
          <p:cNvSpPr txBox="1"/>
          <p:nvPr/>
        </p:nvSpPr>
        <p:spPr>
          <a:xfrm>
            <a:off x="10101163"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9</a:t>
            </a:r>
          </a:p>
        </p:txBody>
      </p:sp>
      <p:sp>
        <p:nvSpPr>
          <p:cNvPr id="77" name="TextBox 76"/>
          <p:cNvSpPr txBox="1"/>
          <p:nvPr/>
        </p:nvSpPr>
        <p:spPr>
          <a:xfrm>
            <a:off x="10101163"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78" name="TextBox 77"/>
          <p:cNvSpPr txBox="1"/>
          <p:nvPr/>
        </p:nvSpPr>
        <p:spPr>
          <a:xfrm>
            <a:off x="10450281" y="2887538"/>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79" name="TextBox 78"/>
          <p:cNvSpPr txBox="1"/>
          <p:nvPr/>
        </p:nvSpPr>
        <p:spPr>
          <a:xfrm>
            <a:off x="10450281" y="2587752"/>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5</a:t>
            </a:r>
          </a:p>
        </p:txBody>
      </p:sp>
      <p:sp>
        <p:nvSpPr>
          <p:cNvPr id="80" name="TextBox 79"/>
          <p:cNvSpPr txBox="1"/>
          <p:nvPr/>
        </p:nvSpPr>
        <p:spPr>
          <a:xfrm>
            <a:off x="10404744" y="2864769"/>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3</a:t>
            </a:r>
          </a:p>
        </p:txBody>
      </p:sp>
      <p:sp>
        <p:nvSpPr>
          <p:cNvPr id="81" name="TextBox 80"/>
          <p:cNvSpPr txBox="1"/>
          <p:nvPr/>
        </p:nvSpPr>
        <p:spPr>
          <a:xfrm>
            <a:off x="10875294" y="2610520"/>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4</a:t>
            </a:r>
          </a:p>
        </p:txBody>
      </p:sp>
      <p:sp>
        <p:nvSpPr>
          <p:cNvPr id="82" name="TextBox 81"/>
          <p:cNvSpPr txBox="1"/>
          <p:nvPr/>
        </p:nvSpPr>
        <p:spPr>
          <a:xfrm>
            <a:off x="13008864" y="2350008"/>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1</a:t>
            </a:r>
          </a:p>
        </p:txBody>
      </p:sp>
      <p:sp>
        <p:nvSpPr>
          <p:cNvPr id="83" name="TextBox 82"/>
          <p:cNvSpPr txBox="1"/>
          <p:nvPr/>
        </p:nvSpPr>
        <p:spPr>
          <a:xfrm>
            <a:off x="12460224" y="24688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a:t>
            </a:r>
          </a:p>
        </p:txBody>
      </p:sp>
      <p:sp>
        <p:nvSpPr>
          <p:cNvPr id="84" name="TextBox 83"/>
          <p:cNvSpPr txBox="1"/>
          <p:nvPr/>
        </p:nvSpPr>
        <p:spPr>
          <a:xfrm>
            <a:off x="12460224" y="26974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12</a:t>
            </a:r>
          </a:p>
        </p:txBody>
      </p:sp>
      <p:cxnSp>
        <p:nvCxnSpPr>
          <p:cNvPr id="85" name="Connector 84"/>
          <p:cNvCxnSpPr/>
          <p:nvPr/>
        </p:nvCxnSpPr>
        <p:spPr>
          <a:xfrm>
            <a:off x="12460224" y="29215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12460224" y="29260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30</a:t>
            </a:r>
          </a:p>
        </p:txBody>
      </p:sp>
      <p:sp>
        <p:nvSpPr>
          <p:cNvPr id="87" name="TextBox 86"/>
          <p:cNvSpPr txBox="1"/>
          <p:nvPr/>
        </p:nvSpPr>
        <p:spPr>
          <a:xfrm>
            <a:off x="12460224" y="31546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150</a:t>
            </a:r>
          </a:p>
        </p:txBody>
      </p:sp>
      <p:cxnSp>
        <p:nvCxnSpPr>
          <p:cNvPr id="88" name="Connector 87"/>
          <p:cNvCxnSpPr/>
          <p:nvPr/>
        </p:nvCxnSpPr>
        <p:spPr>
          <a:xfrm>
            <a:off x="12460224" y="33787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12460224" y="3383279"/>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180</a:t>
            </a:r>
          </a:p>
        </p:txBody>
      </p:sp>
      <p:cxnSp>
        <p:nvCxnSpPr>
          <p:cNvPr id="90" name="Connector 89"/>
          <p:cNvCxnSpPr/>
          <p:nvPr/>
        </p:nvCxnSpPr>
        <p:spPr>
          <a:xfrm>
            <a:off x="12460224" y="3607308"/>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1" name="TextBox 90"/>
          <p:cNvSpPr txBox="1"/>
          <p:nvPr/>
        </p:nvSpPr>
        <p:spPr>
          <a:xfrm>
            <a:off x="9835896" y="3346704"/>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15 tables cost £180</a:t>
            </a:r>
          </a:p>
        </p:txBody>
      </p:sp>
      <p:sp>
        <p:nvSpPr>
          <p:cNvPr id="92" name="Rectangle 9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24 packs hold 15 drinks each. 87 are served. How many are left?</a:t>
            </a:r>
          </a:p>
        </p:txBody>
      </p:sp>
      <p:sp>
        <p:nvSpPr>
          <p:cNvPr id="94" name="TextBox 93"/>
          <p:cNvSpPr txBox="1"/>
          <p:nvPr/>
        </p:nvSpPr>
        <p:spPr>
          <a:xfrm>
            <a:off x="10631424" y="4352544"/>
            <a:ext cx="164592" cy="173736"/>
          </a:xfrm>
          <a:prstGeom prst="rect">
            <a:avLst/>
          </a:prstGeom>
          <a:noFill/>
        </p:spPr>
        <p:txBody>
          <a:bodyPr wrap="none" lIns="0" rIns="0" tIns="0" bIns="0">
            <a:spAutoFit/>
          </a:bodyPr>
          <a:lstStyle/>
          <a:p>
            <a:pPr algn="ctr">
              <a:lnSpc>
                <a:spcPts val="1120"/>
              </a:lnSpc>
              <a:spcBef>
                <a:spcPts val="0"/>
              </a:spcBef>
              <a:spcAft>
                <a:spcPts val="0"/>
              </a:spcAft>
              <a:defRPr sz="1000" b="0">
                <a:solidFill>
                  <a:srgbClr val="182B3A"/>
                </a:solidFill>
                <a:latin typeface="Arial"/>
              </a:defRPr>
            </a:pPr>
            <a:r>
              <a:t>2</a:t>
            </a:r>
          </a:p>
        </p:txBody>
      </p:sp>
      <p:sp>
        <p:nvSpPr>
          <p:cNvPr id="95" name="TextBox 94"/>
          <p:cNvSpPr txBox="1"/>
          <p:nvPr/>
        </p:nvSpPr>
        <p:spPr>
          <a:xfrm>
            <a:off x="10082784" y="44714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a:t>
            </a:r>
          </a:p>
        </p:txBody>
      </p:sp>
      <p:sp>
        <p:nvSpPr>
          <p:cNvPr id="96" name="TextBox 95"/>
          <p:cNvSpPr txBox="1"/>
          <p:nvPr/>
        </p:nvSpPr>
        <p:spPr>
          <a:xfrm>
            <a:off x="10082784" y="47000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15</a:t>
            </a:r>
          </a:p>
        </p:txBody>
      </p:sp>
      <p:cxnSp>
        <p:nvCxnSpPr>
          <p:cNvPr id="97" name="Connector 96"/>
          <p:cNvCxnSpPr/>
          <p:nvPr/>
        </p:nvCxnSpPr>
        <p:spPr>
          <a:xfrm>
            <a:off x="10082784" y="49240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10082784" y="49286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120</a:t>
            </a:r>
          </a:p>
        </p:txBody>
      </p:sp>
      <p:sp>
        <p:nvSpPr>
          <p:cNvPr id="99" name="TextBox 98"/>
          <p:cNvSpPr txBox="1"/>
          <p:nvPr/>
        </p:nvSpPr>
        <p:spPr>
          <a:xfrm>
            <a:off x="10082784" y="51572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240</a:t>
            </a:r>
          </a:p>
        </p:txBody>
      </p:sp>
      <p:cxnSp>
        <p:nvCxnSpPr>
          <p:cNvPr id="100" name="Connector 99"/>
          <p:cNvCxnSpPr/>
          <p:nvPr/>
        </p:nvCxnSpPr>
        <p:spPr>
          <a:xfrm>
            <a:off x="10082784" y="53812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082784" y="5385816"/>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cxnSp>
        <p:nvCxnSpPr>
          <p:cNvPr id="102" name="Connector 101"/>
          <p:cNvCxnSpPr/>
          <p:nvPr/>
        </p:nvCxnSpPr>
        <p:spPr>
          <a:xfrm>
            <a:off x="10082784" y="5609844"/>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11911584" y="45537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360</a:t>
            </a:r>
          </a:p>
        </p:txBody>
      </p:sp>
      <p:sp>
        <p:nvSpPr>
          <p:cNvPr id="104" name="TextBox 103"/>
          <p:cNvSpPr txBox="1"/>
          <p:nvPr/>
        </p:nvSpPr>
        <p:spPr>
          <a:xfrm>
            <a:off x="11911584" y="47823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+ 87</a:t>
            </a:r>
          </a:p>
        </p:txBody>
      </p:sp>
      <p:cxnSp>
        <p:nvCxnSpPr>
          <p:cNvPr id="105" name="Connector 104"/>
          <p:cNvCxnSpPr/>
          <p:nvPr/>
        </p:nvCxnSpPr>
        <p:spPr>
          <a:xfrm>
            <a:off x="11911584" y="50063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11911584" y="5010912"/>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447</a:t>
            </a:r>
          </a:p>
        </p:txBody>
      </p:sp>
      <p:cxnSp>
        <p:nvCxnSpPr>
          <p:cNvPr id="107" name="Connector 106"/>
          <p:cNvCxnSpPr/>
          <p:nvPr/>
        </p:nvCxnSpPr>
        <p:spPr>
          <a:xfrm>
            <a:off x="11911584" y="5234940"/>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11637264" y="5349240"/>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447 drinks left</a:t>
            </a:r>
          </a:p>
        </p:txBody>
      </p:sp>
      <p:sp>
        <p:nvSpPr>
          <p:cNvPr id="109" name="Rectangle 108"/>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Four organisers split the cost of 18 prizes equally. Each prize costs £12. How much does each pay?</a:t>
            </a:r>
          </a:p>
        </p:txBody>
      </p:sp>
      <p:cxnSp>
        <p:nvCxnSpPr>
          <p:cNvPr id="111" name="Connector 110"/>
          <p:cNvCxnSpPr/>
          <p:nvPr/>
        </p:nvCxnSpPr>
        <p:spPr>
          <a:xfrm>
            <a:off x="10055626" y="6866046"/>
            <a:ext cx="766541" cy="0"/>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0055626" y="6866046"/>
            <a:ext cx="0" cy="295992"/>
          </a:xfrm>
          <a:prstGeom prst="line">
            <a:avLst/>
          </a:prstGeom>
          <a:ln w="16510">
            <a:solidFill>
              <a:srgbClr val="182B3A"/>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9744456" y="6885020"/>
            <a:ext cx="273222" cy="265633"/>
          </a:xfrm>
          <a:prstGeom prst="rect">
            <a:avLst/>
          </a:prstGeom>
          <a:noFill/>
        </p:spPr>
        <p:txBody>
          <a:bodyPr wrap="none" lIns="0" rIns="0" tIns="0" bIns="0">
            <a:spAutoFit/>
          </a:bodyPr>
          <a:lstStyle/>
          <a:p>
            <a:pPr algn="r">
              <a:lnSpc>
                <a:spcPts val="2045"/>
              </a:lnSpc>
              <a:spcBef>
                <a:spcPts val="0"/>
              </a:spcBef>
              <a:spcAft>
                <a:spcPts val="0"/>
              </a:spcAft>
              <a:defRPr sz="1825" b="0">
                <a:solidFill>
                  <a:srgbClr val="182B3A"/>
                </a:solidFill>
                <a:latin typeface="Arial"/>
              </a:defRPr>
            </a:pPr>
            <a:r>
              <a:t>4</a:t>
            </a:r>
          </a:p>
        </p:txBody>
      </p:sp>
      <p:sp>
        <p:nvSpPr>
          <p:cNvPr id="114" name="TextBox 113"/>
          <p:cNvSpPr txBox="1"/>
          <p:nvPr/>
        </p:nvSpPr>
        <p:spPr>
          <a:xfrm>
            <a:off x="10101163"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1</a:t>
            </a:r>
          </a:p>
        </p:txBody>
      </p:sp>
      <p:sp>
        <p:nvSpPr>
          <p:cNvPr id="115" name="TextBox 114"/>
          <p:cNvSpPr txBox="1"/>
          <p:nvPr/>
        </p:nvSpPr>
        <p:spPr>
          <a:xfrm>
            <a:off x="10450281" y="6892610"/>
            <a:ext cx="349117" cy="273222"/>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8</a:t>
            </a:r>
          </a:p>
        </p:txBody>
      </p:sp>
      <p:sp>
        <p:nvSpPr>
          <p:cNvPr id="116" name="TextBox 115"/>
          <p:cNvSpPr txBox="1"/>
          <p:nvPr/>
        </p:nvSpPr>
        <p:spPr>
          <a:xfrm>
            <a:off x="10450281" y="6592824"/>
            <a:ext cx="349117" cy="258043"/>
          </a:xfrm>
          <a:prstGeom prst="rect">
            <a:avLst/>
          </a:prstGeom>
          <a:noFill/>
        </p:spPr>
        <p:txBody>
          <a:bodyPr wrap="none" lIns="0" rIns="0" tIns="0" bIns="0">
            <a:spAutoFit/>
          </a:bodyPr>
          <a:lstStyle/>
          <a:p>
            <a:pPr algn="ctr">
              <a:lnSpc>
                <a:spcPts val="2231"/>
              </a:lnSpc>
              <a:spcBef>
                <a:spcPts val="0"/>
              </a:spcBef>
              <a:spcAft>
                <a:spcPts val="0"/>
              </a:spcAft>
              <a:defRPr sz="1991" b="0">
                <a:solidFill>
                  <a:srgbClr val="182B3A"/>
                </a:solidFill>
                <a:latin typeface="Arial"/>
              </a:defRPr>
            </a:pPr>
            <a:r>
              <a:t>4</a:t>
            </a:r>
          </a:p>
        </p:txBody>
      </p:sp>
      <p:sp>
        <p:nvSpPr>
          <p:cNvPr id="117" name="TextBox 116"/>
          <p:cNvSpPr txBox="1"/>
          <p:nvPr/>
        </p:nvSpPr>
        <p:spPr>
          <a:xfrm>
            <a:off x="10404744" y="6869841"/>
            <a:ext cx="136611" cy="151790"/>
          </a:xfrm>
          <a:prstGeom prst="rect">
            <a:avLst/>
          </a:prstGeom>
          <a:noFill/>
        </p:spPr>
        <p:txBody>
          <a:bodyPr wrap="none" lIns="0" rIns="0" tIns="0" bIns="0">
            <a:spAutoFit/>
          </a:bodyPr>
          <a:lstStyle/>
          <a:p>
            <a:pPr algn="ctr">
              <a:lnSpc>
                <a:spcPts val="1115"/>
              </a:lnSpc>
              <a:spcBef>
                <a:spcPts val="0"/>
              </a:spcBef>
              <a:spcAft>
                <a:spcPts val="0"/>
              </a:spcAft>
              <a:defRPr sz="995" b="0">
                <a:solidFill>
                  <a:srgbClr val="182B3A"/>
                </a:solidFill>
                <a:latin typeface="Arial"/>
              </a:defRPr>
            </a:pPr>
            <a:r>
              <a:t>1</a:t>
            </a:r>
          </a:p>
        </p:txBody>
      </p:sp>
      <p:sp>
        <p:nvSpPr>
          <p:cNvPr id="118" name="TextBox 117"/>
          <p:cNvSpPr txBox="1"/>
          <p:nvPr/>
        </p:nvSpPr>
        <p:spPr>
          <a:xfrm>
            <a:off x="10875294" y="6615592"/>
            <a:ext cx="607161" cy="227685"/>
          </a:xfrm>
          <a:prstGeom prst="rect">
            <a:avLst/>
          </a:prstGeom>
          <a:noFill/>
        </p:spPr>
        <p:txBody>
          <a:bodyPr wrap="none" lIns="0" rIns="0" tIns="0" bIns="0">
            <a:spAutoFit/>
          </a:bodyPr>
          <a:lstStyle/>
          <a:p>
            <a:pPr algn="l">
              <a:lnSpc>
                <a:spcPts val="1673"/>
              </a:lnSpc>
              <a:spcBef>
                <a:spcPts val="0"/>
              </a:spcBef>
              <a:spcAft>
                <a:spcPts val="0"/>
              </a:spcAft>
              <a:defRPr sz="1494" b="0">
                <a:solidFill>
                  <a:srgbClr val="182B3A"/>
                </a:solidFill>
                <a:latin typeface="Arial"/>
              </a:defRPr>
            </a:pPr>
            <a:r>
              <a:t>r 2</a:t>
            </a:r>
          </a:p>
        </p:txBody>
      </p:sp>
      <p:sp>
        <p:nvSpPr>
          <p:cNvPr id="119" name="TextBox 118"/>
          <p:cNvSpPr txBox="1"/>
          <p:nvPr/>
        </p:nvSpPr>
        <p:spPr>
          <a:xfrm>
            <a:off x="12460224" y="67299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12</a:t>
            </a:r>
          </a:p>
        </p:txBody>
      </p:sp>
      <p:sp>
        <p:nvSpPr>
          <p:cNvPr id="120" name="TextBox 119"/>
          <p:cNvSpPr txBox="1"/>
          <p:nvPr/>
        </p:nvSpPr>
        <p:spPr>
          <a:xfrm>
            <a:off x="12460224" y="69585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 4</a:t>
            </a:r>
          </a:p>
        </p:txBody>
      </p:sp>
      <p:cxnSp>
        <p:nvCxnSpPr>
          <p:cNvPr id="121" name="Connector 120"/>
          <p:cNvCxnSpPr/>
          <p:nvPr/>
        </p:nvCxnSpPr>
        <p:spPr>
          <a:xfrm>
            <a:off x="12460224" y="71826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12460224" y="7187183"/>
            <a:ext cx="914400" cy="256032"/>
          </a:xfrm>
          <a:prstGeom prst="rect">
            <a:avLst/>
          </a:prstGeom>
          <a:noFill/>
        </p:spPr>
        <p:txBody>
          <a:bodyPr wrap="none" lIns="0" rIns="0" tIns="0" bIns="0">
            <a:spAutoFit/>
          </a:bodyPr>
          <a:lstStyle/>
          <a:p>
            <a:pPr algn="r">
              <a:lnSpc>
                <a:spcPts val="2016"/>
              </a:lnSpc>
              <a:spcBef>
                <a:spcPts val="0"/>
              </a:spcBef>
              <a:spcAft>
                <a:spcPts val="0"/>
              </a:spcAft>
              <a:defRPr sz="1800" b="0">
                <a:solidFill>
                  <a:srgbClr val="182B3A"/>
                </a:solidFill>
                <a:latin typeface="Arial"/>
              </a:defRPr>
            </a:pPr>
            <a:r>
              <a:t>48</a:t>
            </a:r>
          </a:p>
        </p:txBody>
      </p:sp>
      <p:cxnSp>
        <p:nvCxnSpPr>
          <p:cNvPr id="123" name="Connector 122"/>
          <p:cNvCxnSpPr/>
          <p:nvPr/>
        </p:nvCxnSpPr>
        <p:spPr>
          <a:xfrm>
            <a:off x="12460224" y="7411212"/>
            <a:ext cx="914400" cy="0"/>
          </a:xfrm>
          <a:prstGeom prst="line">
            <a:avLst/>
          </a:prstGeom>
          <a:ln w="12700">
            <a:solidFill>
              <a:srgbClr val="182B3A"/>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9835896" y="7351775"/>
            <a:ext cx="2468880" cy="274320"/>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£48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1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M03-S04  •  Topic slide 6</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library has 14 shelves with 32 books on each. How many books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105 students form 7 equal groups. How many students are in each group?</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has 26 crates with 41 bottles in each. How many bottles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148 m rope is cut into 4 equal pieces. How long is each piece?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13 rows of 85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£175 is shared equally among 5 people. How much does each person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130 eggs are packed in cartons of 6. How many full cartons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32 passengers need cars with 5 passenger seats each. How many cars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250 chocolates are packed in boxes of 12. How many chocolates are left over?</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worker earns £17 per hour for 28 hours. What are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142 rolls are sold in bags of 6. How many full bags can be made?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£132 bill is shared equally by 8 friends. How much does each pay?</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45 tickets cost £16 each. A group gets £50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115 passengers need vans with 8 passenger seats each. Hire costs £65 per van.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gym costs £22 per month plus a £30 joining fee. Find the cost for 14 months.</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430 cases fill boxes of 12. Each full box sells for £9. Find the income from full boxes.</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contractor charges £24 per hour for 15 hours, plus £45 for materials. Find the total bill.</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15 boxes of 12 headphones at £8 per headphone.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2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M03-S05  •  Topic slide 7</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18 trays each hold 24 plants. How many plants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156 pens are shared equally among 6 classes. How many pens does each class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orders 23 packs of 16 badges. How many badges does it order?</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£248 is shared equally among 8 people. How much does each person get?</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runner covers 12 km each week for 27 weeks. How far do they run?</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189 cm ribbon is cut into 7 equal pieces.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197 leaflets are bundled in groups of 8. How many complete bundles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camp has 83 people. Each tent sleeps 6. How many tents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275 cm strip is cut into 12 cm pieces. How many centimetres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printer produces 36 pages per minute. How many pages does it produce in 14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£154 is split equally among 4 workers. How much does each receive?</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253 photos go in albums holding 24 photos. How many albums are needed for all the photos?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28 shirts cost £14 each. Delivery costs £18. Find the total cost.</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94 people need tables seating 6 each. Tables cost £12 each to hire.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24 packs of 15 drinks. It uses 87 drinks.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286 biscuits. Full bags hold 8 and sell for £3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Four friends share the cost of 18 tickets at £12 each equally. How much does each friend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17 cartons of 24 pens at £2 per pen.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3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M03-S06  •  Topic slide 8</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 boxes each hold 35 cables. How many cables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252 stickers are shared equally among 7 students. How many does each student get?</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cinema has 28 rows of 24 seats. Find the total number of seats.</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336 m cable is cut into 8 equal lengths. How long is each length?</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charity buys 19 packs of 32 cards. How many cards does it buy?</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£315 is shared equally among 9 people. How much does each receive?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245 apples are packed in bags of 8. How many full bags can be made?</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hotel has 137 guests. Each shuttle carries 9 guests. How many shuttle trips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359 beads are used in bracelets of 12 beads. How many beads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technician earns £23 per hour for 16 hours. Find their total wages.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£186 bill is shared equally by 8 people. How much does each person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Each floor tile covers 25 cm². What area do 48 tiles cover?</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gardener charges £21 per hour for 18 hours, plus £64 for plants. Find the total bill.</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167 passengers need coaches with 24 passenger seats each. Hire costs £85 per coach. Find the total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club buys 32 packs of 18 cards. It gives away 145 cards.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397 oranges fill bags of 6. Each full bag sells for £4.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Six people equally share the cost of 15 meals at £14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23 boxes of 16 mugs at £5 per mug.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 name="TextBox 2"/>
          <p:cNvSpPr txBox="1"/>
          <p:nvPr/>
        </p:nvSpPr>
        <p:spPr>
          <a:xfrm>
            <a:off x="384048" y="219456"/>
            <a:ext cx="12435840" cy="448056"/>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Application to Exam Problems</a:t>
            </a:r>
          </a:p>
        </p:txBody>
      </p:sp>
      <p:sp>
        <p:nvSpPr>
          <p:cNvPr id="4" name="TextBox 3"/>
          <p:cNvSpPr txBox="1"/>
          <p:nvPr/>
        </p:nvSpPr>
        <p:spPr>
          <a:xfrm>
            <a:off x="384048" y="713232"/>
            <a:ext cx="13533120" cy="274320"/>
          </a:xfrm>
          <a:prstGeom prst="rect">
            <a:avLst/>
          </a:prstGeom>
          <a:noFill/>
        </p:spPr>
        <p:txBody>
          <a:bodyPr wrap="square" tIns="36576" bIns="36576" anchor="t">
            <a:spAutoFit/>
          </a:bodyPr>
          <a:lstStyle/>
          <a:p>
            <a:pPr>
              <a:lnSpc>
                <a:spcPts val="1512"/>
              </a:lnSpc>
              <a:spcBef>
                <a:spcPts val="0"/>
              </a:spcBef>
              <a:spcAft>
                <a:spcPts val="0"/>
              </a:spcAft>
              <a:defRPr sz="1400" b="0">
                <a:solidFill>
                  <a:srgbClr val="526472"/>
                </a:solidFill>
                <a:latin typeface="Arial"/>
              </a:defRPr>
            </a:pPr>
            <a:r>
              <a:t>Independent practice 4  •  Choose a column. Show your working and check your answers.</a:t>
            </a:r>
          </a:p>
        </p:txBody>
      </p:sp>
      <p:sp>
        <p:nvSpPr>
          <p:cNvPr id="5" name="TextBox 4"/>
          <p:cNvSpPr txBox="1"/>
          <p:nvPr/>
        </p:nvSpPr>
        <p:spPr>
          <a:xfrm>
            <a:off x="384048" y="7882127"/>
            <a:ext cx="10058400" cy="21031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GCSE Maths revision  •  Record your working in your booklet or webapp.</a:t>
            </a:r>
          </a:p>
        </p:txBody>
      </p:sp>
      <p:sp>
        <p:nvSpPr>
          <p:cNvPr id="6" name="TextBox 5"/>
          <p:cNvSpPr txBox="1"/>
          <p:nvPr/>
        </p:nvSpPr>
        <p:spPr>
          <a:xfrm>
            <a:off x="11430000" y="7863840"/>
            <a:ext cx="2788920" cy="228600"/>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M03-S07  •  Topic slide 9</a:t>
            </a:r>
          </a:p>
        </p:txBody>
      </p:sp>
      <p:sp>
        <p:nvSpPr>
          <p:cNvPr id="7" name="Rectangle 6"/>
          <p:cNvSpPr/>
          <p:nvPr/>
        </p:nvSpPr>
        <p:spPr>
          <a:xfrm>
            <a:off x="384048" y="1124712"/>
            <a:ext cx="4620768" cy="438912"/>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438912"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9" name="Rectangle 8"/>
          <p:cNvSpPr/>
          <p:nvPr/>
        </p:nvSpPr>
        <p:spPr>
          <a:xfrm>
            <a:off x="5004816" y="1124712"/>
            <a:ext cx="4620768" cy="438912"/>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5059680"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11" name="Rectangle 10"/>
          <p:cNvSpPr/>
          <p:nvPr/>
        </p:nvSpPr>
        <p:spPr>
          <a:xfrm>
            <a:off x="9625584" y="1124712"/>
            <a:ext cx="4620768" cy="438912"/>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680448" y="1152144"/>
            <a:ext cx="4511040" cy="338328"/>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13" name="Rectangle 12"/>
          <p:cNvSpPr/>
          <p:nvPr/>
        </p:nvSpPr>
        <p:spPr>
          <a:xfrm>
            <a:off x="384048"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57200"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1.</a:t>
            </a:r>
          </a:p>
        </p:txBody>
      </p:sp>
      <p:sp>
        <p:nvSpPr>
          <p:cNvPr id="15" name="TextBox 14"/>
          <p:cNvSpPr txBox="1"/>
          <p:nvPr/>
        </p:nvSpPr>
        <p:spPr>
          <a:xfrm>
            <a:off x="868680"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27 packets each contain 18 labels. How many labels are there?</a:t>
            </a:r>
          </a:p>
        </p:txBody>
      </p:sp>
      <p:sp>
        <p:nvSpPr>
          <p:cNvPr id="16" name="Rectangle 15"/>
          <p:cNvSpPr/>
          <p:nvPr/>
        </p:nvSpPr>
        <p:spPr>
          <a:xfrm>
            <a:off x="384048" y="2610612"/>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457200"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2.</a:t>
            </a:r>
          </a:p>
        </p:txBody>
      </p:sp>
      <p:sp>
        <p:nvSpPr>
          <p:cNvPr id="18" name="TextBox 17"/>
          <p:cNvSpPr txBox="1"/>
          <p:nvPr/>
        </p:nvSpPr>
        <p:spPr>
          <a:xfrm>
            <a:off x="868680"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384 books are shared equally among 8 shelves. How many books go on each shelf?</a:t>
            </a:r>
          </a:p>
        </p:txBody>
      </p:sp>
      <p:sp>
        <p:nvSpPr>
          <p:cNvPr id="19" name="Rectangle 18"/>
          <p:cNvSpPr/>
          <p:nvPr/>
        </p:nvSpPr>
        <p:spPr>
          <a:xfrm>
            <a:off x="384048"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457200"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3.</a:t>
            </a:r>
          </a:p>
        </p:txBody>
      </p:sp>
      <p:sp>
        <p:nvSpPr>
          <p:cNvPr id="21" name="TextBox 20"/>
          <p:cNvSpPr txBox="1"/>
          <p:nvPr/>
        </p:nvSpPr>
        <p:spPr>
          <a:xfrm>
            <a:off x="868680"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nursery has 34 trays of 16 seedlings. How many seedlings are there?</a:t>
            </a:r>
          </a:p>
        </p:txBody>
      </p:sp>
      <p:sp>
        <p:nvSpPr>
          <p:cNvPr id="22" name="Rectangle 21"/>
          <p:cNvSpPr/>
          <p:nvPr/>
        </p:nvSpPr>
        <p:spPr>
          <a:xfrm>
            <a:off x="384048" y="4613148"/>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TextBox 22"/>
          <p:cNvSpPr txBox="1"/>
          <p:nvPr/>
        </p:nvSpPr>
        <p:spPr>
          <a:xfrm>
            <a:off x="457200"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4.</a:t>
            </a:r>
          </a:p>
        </p:txBody>
      </p:sp>
      <p:sp>
        <p:nvSpPr>
          <p:cNvPr id="24" name="TextBox 23"/>
          <p:cNvSpPr txBox="1"/>
          <p:nvPr/>
        </p:nvSpPr>
        <p:spPr>
          <a:xfrm>
            <a:off x="868680"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£425 is shared equally among 5 people. How much does each receive?</a:t>
            </a:r>
          </a:p>
        </p:txBody>
      </p:sp>
      <p:sp>
        <p:nvSpPr>
          <p:cNvPr id="25" name="Rectangle 24"/>
          <p:cNvSpPr/>
          <p:nvPr/>
        </p:nvSpPr>
        <p:spPr>
          <a:xfrm>
            <a:off x="384048"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457200"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5.</a:t>
            </a:r>
          </a:p>
        </p:txBody>
      </p:sp>
      <p:sp>
        <p:nvSpPr>
          <p:cNvPr id="27" name="TextBox 26"/>
          <p:cNvSpPr txBox="1"/>
          <p:nvPr/>
        </p:nvSpPr>
        <p:spPr>
          <a:xfrm>
            <a:off x="868680"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hall has 26 rows of 35 seats. How many seats are there?</a:t>
            </a:r>
          </a:p>
        </p:txBody>
      </p:sp>
      <p:sp>
        <p:nvSpPr>
          <p:cNvPr id="28" name="Rectangle 27"/>
          <p:cNvSpPr/>
          <p:nvPr/>
        </p:nvSpPr>
        <p:spPr>
          <a:xfrm>
            <a:off x="384048" y="6615683"/>
            <a:ext cx="4620768" cy="982980"/>
          </a:xfrm>
          <a:prstGeom prst="rect">
            <a:avLst/>
          </a:prstGeom>
          <a:solidFill>
            <a:srgbClr val="EDF6F5"/>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9" name="TextBox 28"/>
          <p:cNvSpPr txBox="1"/>
          <p:nvPr/>
        </p:nvSpPr>
        <p:spPr>
          <a:xfrm>
            <a:off x="457200"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176B73"/>
                </a:solidFill>
                <a:latin typeface="Arial"/>
              </a:defRPr>
            </a:pPr>
            <a:r>
              <a:t>6.</a:t>
            </a:r>
          </a:p>
        </p:txBody>
      </p:sp>
      <p:sp>
        <p:nvSpPr>
          <p:cNvPr id="30" name="TextBox 29"/>
          <p:cNvSpPr txBox="1"/>
          <p:nvPr/>
        </p:nvSpPr>
        <p:spPr>
          <a:xfrm>
            <a:off x="868680"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294 cm strip is cut into 6 equal lengths. Find the length of each piece.</a:t>
            </a:r>
          </a:p>
        </p:txBody>
      </p:sp>
      <p:sp>
        <p:nvSpPr>
          <p:cNvPr id="31" name="Rectangle 30"/>
          <p:cNvSpPr/>
          <p:nvPr/>
        </p:nvSpPr>
        <p:spPr>
          <a:xfrm>
            <a:off x="5004816"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2" name="TextBox 31"/>
          <p:cNvSpPr txBox="1"/>
          <p:nvPr/>
        </p:nvSpPr>
        <p:spPr>
          <a:xfrm>
            <a:off x="5077968"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1.</a:t>
            </a:r>
          </a:p>
        </p:txBody>
      </p:sp>
      <p:sp>
        <p:nvSpPr>
          <p:cNvPr id="33" name="TextBox 32"/>
          <p:cNvSpPr txBox="1"/>
          <p:nvPr/>
        </p:nvSpPr>
        <p:spPr>
          <a:xfrm>
            <a:off x="5489448"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367 bottles are packed in boxes of 12. How many complete boxes can be packed?</a:t>
            </a:r>
          </a:p>
        </p:txBody>
      </p:sp>
      <p:sp>
        <p:nvSpPr>
          <p:cNvPr id="34" name="Rectangle 33"/>
          <p:cNvSpPr/>
          <p:nvPr/>
        </p:nvSpPr>
        <p:spPr>
          <a:xfrm>
            <a:off x="5004816" y="2610612"/>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5" name="TextBox 34"/>
          <p:cNvSpPr txBox="1"/>
          <p:nvPr/>
        </p:nvSpPr>
        <p:spPr>
          <a:xfrm>
            <a:off x="5077968"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2.</a:t>
            </a:r>
          </a:p>
        </p:txBody>
      </p:sp>
      <p:sp>
        <p:nvSpPr>
          <p:cNvPr id="36" name="TextBox 35"/>
          <p:cNvSpPr txBox="1"/>
          <p:nvPr/>
        </p:nvSpPr>
        <p:spPr>
          <a:xfrm>
            <a:off x="5489448"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hostel has 158 guests. Each room holds 6 guests. How many rooms are needed?</a:t>
            </a:r>
          </a:p>
        </p:txBody>
      </p:sp>
      <p:sp>
        <p:nvSpPr>
          <p:cNvPr id="37" name="Rectangle 36"/>
          <p:cNvSpPr/>
          <p:nvPr/>
        </p:nvSpPr>
        <p:spPr>
          <a:xfrm>
            <a:off x="5004816"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38" name="TextBox 37"/>
          <p:cNvSpPr txBox="1"/>
          <p:nvPr/>
        </p:nvSpPr>
        <p:spPr>
          <a:xfrm>
            <a:off x="5077968"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3.</a:t>
            </a:r>
          </a:p>
        </p:txBody>
      </p:sp>
      <p:sp>
        <p:nvSpPr>
          <p:cNvPr id="39" name="TextBox 38"/>
          <p:cNvSpPr txBox="1"/>
          <p:nvPr/>
        </p:nvSpPr>
        <p:spPr>
          <a:xfrm>
            <a:off x="5489448" y="3694176"/>
            <a:ext cx="4026408" cy="822960"/>
          </a:xfrm>
          <a:prstGeom prst="rect">
            <a:avLst/>
          </a:prstGeom>
          <a:noFill/>
        </p:spPr>
        <p:txBody>
          <a:bodyPr wrap="square" lIns="91440" tIns="36576" rIns="91440" bIns="36576" anchor="t">
            <a:spAutoFit/>
          </a:bodyPr>
          <a:lstStyle/>
          <a:p>
            <a:pPr>
              <a:lnSpc>
                <a:spcPts val="1944"/>
              </a:lnSpc>
              <a:spcBef>
                <a:spcPts val="0"/>
              </a:spcBef>
              <a:spcAft>
                <a:spcPts val="0"/>
              </a:spcAft>
              <a:defRPr sz="1800" b="0">
                <a:solidFill>
                  <a:srgbClr val="182B3A"/>
                </a:solidFill>
                <a:latin typeface="Arial"/>
              </a:defRPr>
            </a:pPr>
            <a:r>
              <a:t>A 413 cm ribbon is cut into 15 cm lengths. How many </a:t>
            </a:r>
            <a:r>
              <a:rPr lang="en-GB"/>
              <a:t>centimetres</a:t>
            </a:r>
            <a:r>
              <a:t> remain?</a:t>
            </a:r>
          </a:p>
        </p:txBody>
      </p:sp>
      <p:sp>
        <p:nvSpPr>
          <p:cNvPr id="40" name="Rectangle 39"/>
          <p:cNvSpPr/>
          <p:nvPr/>
        </p:nvSpPr>
        <p:spPr>
          <a:xfrm>
            <a:off x="5004816" y="4613148"/>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1" name="TextBox 40"/>
          <p:cNvSpPr txBox="1"/>
          <p:nvPr/>
        </p:nvSpPr>
        <p:spPr>
          <a:xfrm>
            <a:off x="5077968"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4.</a:t>
            </a:r>
          </a:p>
        </p:txBody>
      </p:sp>
      <p:sp>
        <p:nvSpPr>
          <p:cNvPr id="42" name="TextBox 41"/>
          <p:cNvSpPr txBox="1"/>
          <p:nvPr/>
        </p:nvSpPr>
        <p:spPr>
          <a:xfrm>
            <a:off x="5489448"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machine labels 28 bottles per minute. How many does it label in 19 minutes?</a:t>
            </a:r>
          </a:p>
        </p:txBody>
      </p:sp>
      <p:sp>
        <p:nvSpPr>
          <p:cNvPr id="43" name="Rectangle 42"/>
          <p:cNvSpPr/>
          <p:nvPr/>
        </p:nvSpPr>
        <p:spPr>
          <a:xfrm>
            <a:off x="5004816"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4" name="TextBox 43"/>
          <p:cNvSpPr txBox="1"/>
          <p:nvPr/>
        </p:nvSpPr>
        <p:spPr>
          <a:xfrm>
            <a:off x="5077968"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5.</a:t>
            </a:r>
          </a:p>
        </p:txBody>
      </p:sp>
      <p:sp>
        <p:nvSpPr>
          <p:cNvPr id="45" name="TextBox 44"/>
          <p:cNvSpPr txBox="1"/>
          <p:nvPr/>
        </p:nvSpPr>
        <p:spPr>
          <a:xfrm>
            <a:off x="5489448"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£238 bill is shared equally by 8 friends. How much does each friend pay?</a:t>
            </a:r>
          </a:p>
        </p:txBody>
      </p:sp>
      <p:sp>
        <p:nvSpPr>
          <p:cNvPr id="46" name="Rectangle 45"/>
          <p:cNvSpPr/>
          <p:nvPr/>
        </p:nvSpPr>
        <p:spPr>
          <a:xfrm>
            <a:off x="5004816" y="6615683"/>
            <a:ext cx="4620768" cy="982980"/>
          </a:xfrm>
          <a:prstGeom prst="rect">
            <a:avLst/>
          </a:prstGeom>
          <a:solidFill>
            <a:srgbClr val="EFF3FA"/>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47" name="TextBox 46"/>
          <p:cNvSpPr txBox="1"/>
          <p:nvPr/>
        </p:nvSpPr>
        <p:spPr>
          <a:xfrm>
            <a:off x="5077968"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3559A2"/>
                </a:solidFill>
                <a:latin typeface="Arial"/>
              </a:defRPr>
            </a:pPr>
            <a:r>
              <a:t>6.</a:t>
            </a:r>
          </a:p>
        </p:txBody>
      </p:sp>
      <p:sp>
        <p:nvSpPr>
          <p:cNvPr id="48" name="TextBox 47"/>
          <p:cNvSpPr txBox="1"/>
          <p:nvPr/>
        </p:nvSpPr>
        <p:spPr>
          <a:xfrm>
            <a:off x="5489448"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319 files fit in folders holding 24 files. How many folders are needed for all the files?</a:t>
            </a:r>
          </a:p>
        </p:txBody>
      </p:sp>
      <p:sp>
        <p:nvSpPr>
          <p:cNvPr id="49" name="Rectangle 48"/>
          <p:cNvSpPr/>
          <p:nvPr/>
        </p:nvSpPr>
        <p:spPr>
          <a:xfrm>
            <a:off x="9625584" y="1609344"/>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0" name="TextBox 49"/>
          <p:cNvSpPr txBox="1"/>
          <p:nvPr/>
        </p:nvSpPr>
        <p:spPr>
          <a:xfrm>
            <a:off x="9698736" y="171907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1.</a:t>
            </a:r>
          </a:p>
        </p:txBody>
      </p:sp>
      <p:sp>
        <p:nvSpPr>
          <p:cNvPr id="51" name="TextBox 50"/>
          <p:cNvSpPr txBox="1"/>
          <p:nvPr/>
        </p:nvSpPr>
        <p:spPr>
          <a:xfrm>
            <a:off x="10110216" y="1691640"/>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36 tickets cost £17 each. A group gets £75 off the total. How much does it pay?</a:t>
            </a:r>
          </a:p>
        </p:txBody>
      </p:sp>
      <p:sp>
        <p:nvSpPr>
          <p:cNvPr id="52" name="Rectangle 51"/>
          <p:cNvSpPr/>
          <p:nvPr/>
        </p:nvSpPr>
        <p:spPr>
          <a:xfrm>
            <a:off x="9625584" y="2610612"/>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3" name="TextBox 52"/>
          <p:cNvSpPr txBox="1"/>
          <p:nvPr/>
        </p:nvSpPr>
        <p:spPr>
          <a:xfrm>
            <a:off x="9698736" y="2720340"/>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2.</a:t>
            </a:r>
          </a:p>
        </p:txBody>
      </p:sp>
      <p:sp>
        <p:nvSpPr>
          <p:cNvPr id="54" name="TextBox 53"/>
          <p:cNvSpPr txBox="1"/>
          <p:nvPr/>
        </p:nvSpPr>
        <p:spPr>
          <a:xfrm>
            <a:off x="10110216" y="2692908"/>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203 people need tables seating 8 each. Hire costs £15 per table. Find the total hire cost.</a:t>
            </a:r>
          </a:p>
        </p:txBody>
      </p:sp>
      <p:sp>
        <p:nvSpPr>
          <p:cNvPr id="55" name="Rectangle 54"/>
          <p:cNvSpPr/>
          <p:nvPr/>
        </p:nvSpPr>
        <p:spPr>
          <a:xfrm>
            <a:off x="9625584" y="3611880"/>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6" name="TextBox 55"/>
          <p:cNvSpPr txBox="1"/>
          <p:nvPr/>
        </p:nvSpPr>
        <p:spPr>
          <a:xfrm>
            <a:off x="9698736" y="3721608"/>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3.</a:t>
            </a:r>
          </a:p>
        </p:txBody>
      </p:sp>
      <p:sp>
        <p:nvSpPr>
          <p:cNvPr id="57" name="TextBox 56"/>
          <p:cNvSpPr txBox="1"/>
          <p:nvPr/>
        </p:nvSpPr>
        <p:spPr>
          <a:xfrm>
            <a:off x="10110216" y="3694176"/>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buys 29 boxes of 24 notebooks. It sells 187 notebooks. How many remain?</a:t>
            </a:r>
          </a:p>
        </p:txBody>
      </p:sp>
      <p:sp>
        <p:nvSpPr>
          <p:cNvPr id="58" name="Rectangle 57"/>
          <p:cNvSpPr/>
          <p:nvPr/>
        </p:nvSpPr>
        <p:spPr>
          <a:xfrm>
            <a:off x="9625584" y="4613148"/>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9" name="TextBox 58"/>
          <p:cNvSpPr txBox="1"/>
          <p:nvPr/>
        </p:nvSpPr>
        <p:spPr>
          <a:xfrm>
            <a:off x="9698736" y="4722876"/>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4.</a:t>
            </a:r>
          </a:p>
        </p:txBody>
      </p:sp>
      <p:sp>
        <p:nvSpPr>
          <p:cNvPr id="60" name="TextBox 59"/>
          <p:cNvSpPr txBox="1"/>
          <p:nvPr/>
        </p:nvSpPr>
        <p:spPr>
          <a:xfrm>
            <a:off x="10110216" y="4695444"/>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baker has 518 rolls. Full bags hold 12 and sell for £5 each. Find the sales income.</a:t>
            </a:r>
          </a:p>
        </p:txBody>
      </p:sp>
      <p:sp>
        <p:nvSpPr>
          <p:cNvPr id="61" name="Rectangle 60"/>
          <p:cNvSpPr/>
          <p:nvPr/>
        </p:nvSpPr>
        <p:spPr>
          <a:xfrm>
            <a:off x="9625584" y="5614416"/>
            <a:ext cx="4620768" cy="982980"/>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2" name="TextBox 61"/>
          <p:cNvSpPr txBox="1"/>
          <p:nvPr/>
        </p:nvSpPr>
        <p:spPr>
          <a:xfrm>
            <a:off x="9698736" y="5724144"/>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5.</a:t>
            </a:r>
          </a:p>
        </p:txBody>
      </p:sp>
      <p:sp>
        <p:nvSpPr>
          <p:cNvPr id="63" name="TextBox 62"/>
          <p:cNvSpPr txBox="1"/>
          <p:nvPr/>
        </p:nvSpPr>
        <p:spPr>
          <a:xfrm>
            <a:off x="10110216" y="5696712"/>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Seven people equally share the cost of 21 meals at £16 each. How much does each person pay?</a:t>
            </a:r>
          </a:p>
        </p:txBody>
      </p:sp>
      <p:sp>
        <p:nvSpPr>
          <p:cNvPr id="64" name="Rectangle 63"/>
          <p:cNvSpPr/>
          <p:nvPr/>
        </p:nvSpPr>
        <p:spPr>
          <a:xfrm>
            <a:off x="9625584" y="6615683"/>
            <a:ext cx="4620768" cy="982980"/>
          </a:xfrm>
          <a:prstGeom prst="rect">
            <a:avLst/>
          </a:prstGeom>
          <a:solidFill>
            <a:srgbClr val="F5F0F7"/>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5" name="TextBox 64"/>
          <p:cNvSpPr txBox="1"/>
          <p:nvPr/>
        </p:nvSpPr>
        <p:spPr>
          <a:xfrm>
            <a:off x="9698736" y="6725412"/>
            <a:ext cx="384048" cy="347472"/>
          </a:xfrm>
          <a:prstGeom prst="rect">
            <a:avLst/>
          </a:prstGeom>
          <a:noFill/>
        </p:spPr>
        <p:txBody>
          <a:bodyPr wrap="square" tIns="36576" bIns="36576" anchor="t">
            <a:spAutoFit/>
          </a:bodyPr>
          <a:lstStyle/>
          <a:p>
            <a:pPr>
              <a:lnSpc>
                <a:spcPts val="1836"/>
              </a:lnSpc>
              <a:spcBef>
                <a:spcPts val="0"/>
              </a:spcBef>
              <a:spcAft>
                <a:spcPts val="0"/>
              </a:spcAft>
              <a:defRPr sz="1700" b="1">
                <a:solidFill>
                  <a:srgbClr val="754B87"/>
                </a:solidFill>
                <a:latin typeface="Arial"/>
              </a:defRPr>
            </a:pPr>
            <a:r>
              <a:t>6.</a:t>
            </a:r>
          </a:p>
        </p:txBody>
      </p:sp>
      <p:sp>
        <p:nvSpPr>
          <p:cNvPr id="66" name="TextBox 65"/>
          <p:cNvSpPr txBox="1"/>
          <p:nvPr/>
        </p:nvSpPr>
        <p:spPr>
          <a:xfrm>
            <a:off x="10110216" y="6697979"/>
            <a:ext cx="4026408" cy="822960"/>
          </a:xfrm>
          <a:prstGeom prst="rect">
            <a:avLst/>
          </a:prstGeom>
          <a:noFill/>
        </p:spPr>
        <p:txBody>
          <a:bodyPr wrap="square" tIns="36576" bIns="36576" anchor="t">
            <a:spAutoFit/>
          </a:bodyPr>
          <a:lstStyle/>
          <a:p>
            <a:pPr>
              <a:lnSpc>
                <a:spcPts val="1944"/>
              </a:lnSpc>
              <a:spcBef>
                <a:spcPts val="0"/>
              </a:spcBef>
              <a:spcAft>
                <a:spcPts val="0"/>
              </a:spcAft>
              <a:defRPr sz="1800" b="0">
                <a:solidFill>
                  <a:srgbClr val="182B3A"/>
                </a:solidFill>
                <a:latin typeface="Arial"/>
              </a:defRPr>
            </a:pPr>
            <a:r>
              <a:t>A shop sells 28 boxes of 15 keyrings at £3 per keyring. Find the total sales income.</a:t>
            </a:r>
          </a:p>
        </p:txBody>
      </p:sp>
      <p:sp>
        <p:nvSpPr>
          <p:cNvPr id="67" name="Progression curved arrow: Thread 1 to Thread 2"/>
          <p:cNvSpPr/>
          <p:nvPr/>
        </p:nvSpPr>
        <p:spPr>
          <a:xfrm>
            <a:off x="4671059" y="7534005"/>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43991" y="7525511"/>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164592"/>
            <a:ext cx="13990320" cy="457200"/>
          </a:xfrm>
          <a:prstGeom prst="rect">
            <a:avLst/>
          </a:prstGeom>
          <a:noFill/>
        </p:spPr>
        <p:txBody>
          <a:bodyPr wrap="square" lIns="54864" rIns="54864" tIns="22860" bIns="22860">
            <a:spAutoFit/>
          </a:bodyPr>
          <a:lstStyle/>
          <a:p>
            <a:pPr>
              <a:lnSpc>
                <a:spcPts val="2940"/>
              </a:lnSpc>
              <a:spcBef>
                <a:spcPts val="0"/>
              </a:spcBef>
              <a:spcAft>
                <a:spcPts val="0"/>
              </a:spcAft>
              <a:defRPr sz="2800" b="1">
                <a:solidFill>
                  <a:srgbClr val="182B3A"/>
                </a:solidFill>
                <a:latin typeface="Arial"/>
              </a:defRPr>
            </a:pPr>
            <a:r>
              <a:t>Ratio: initial assessment</a:t>
            </a:r>
          </a:p>
        </p:txBody>
      </p:sp>
      <p:sp>
        <p:nvSpPr>
          <p:cNvPr id="4" name="TextBox 3"/>
          <p:cNvSpPr txBox="1"/>
          <p:nvPr/>
        </p:nvSpPr>
        <p:spPr>
          <a:xfrm>
            <a:off x="320040" y="704088"/>
            <a:ext cx="13990320" cy="347472"/>
          </a:xfrm>
          <a:prstGeom prst="rect">
            <a:avLst/>
          </a:prstGeom>
          <a:noFill/>
        </p:spPr>
        <p:txBody>
          <a:bodyPr wrap="square" lIns="54864" rIns="54864" tIns="22860" bIns="22860">
            <a:spAutoFit/>
          </a:bodyPr>
          <a:lstStyle/>
          <a:p>
            <a:pPr>
              <a:lnSpc>
                <a:spcPts val="1575"/>
              </a:lnSpc>
              <a:spcBef>
                <a:spcPts val="0"/>
              </a:spcBef>
              <a:spcAft>
                <a:spcPts val="0"/>
              </a:spcAft>
              <a:defRPr sz="1500" b="0">
                <a:solidFill>
                  <a:srgbClr val="526472"/>
                </a:solidFill>
                <a:latin typeface="Arial"/>
              </a:defRPr>
            </a:pPr>
            <a:r>
              <a:t>Answer all four questions. Show your working.</a:t>
            </a:r>
          </a:p>
        </p:txBody>
      </p:sp>
      <p:sp>
        <p:nvSpPr>
          <p:cNvPr id="5" name="TextBox 4"/>
          <p:cNvSpPr txBox="1"/>
          <p:nvPr/>
        </p:nvSpPr>
        <p:spPr>
          <a:xfrm>
            <a:off x="320040" y="7973568"/>
            <a:ext cx="1078992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rIns="54864" tIns="22860" bIns="22860">
            <a:spAutoFit/>
          </a:bodyPr>
          <a:lstStyle/>
          <a:p>
            <a:pPr>
              <a:lnSpc>
                <a:spcPts val="1155"/>
              </a:lnSpc>
              <a:spcBef>
                <a:spcPts val="0"/>
              </a:spcBef>
              <a:spcAft>
                <a:spcPts val="0"/>
              </a:spcAft>
              <a:defRPr sz="1100" b="0">
                <a:solidFill>
                  <a:srgbClr val="526472"/>
                </a:solidFill>
                <a:latin typeface="Arial"/>
              </a:defRPr>
            </a:pPr>
            <a:r>
              <a:t>M04-IA</a:t>
            </a:r>
          </a:p>
        </p:txBody>
      </p:sp>
      <p:sp>
        <p:nvSpPr>
          <p:cNvPr id="7" name="Rectangle 6"/>
          <p:cNvSpPr/>
          <p:nvPr/>
        </p:nvSpPr>
        <p:spPr>
          <a:xfrm>
            <a:off x="45720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1.  Share £35 between A and B in the ratio 2:5. How much does A receive?</a:t>
            </a:r>
          </a:p>
        </p:txBody>
      </p:sp>
      <p:sp>
        <p:nvSpPr>
          <p:cNvPr id="9" name="Rectangle 8"/>
          <p:cNvSpPr/>
          <p:nvPr/>
        </p:nvSpPr>
        <p:spPr>
          <a:xfrm>
            <a:off x="7452360" y="169164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2880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2.  Red and blue counters are in the ratio 3:4. There are 12 red counters. How many blue counters are there?</a:t>
            </a:r>
          </a:p>
        </p:txBody>
      </p:sp>
      <p:sp>
        <p:nvSpPr>
          <p:cNvPr id="11" name="Rectangle 10"/>
          <p:cNvSpPr/>
          <p:nvPr/>
        </p:nvSpPr>
        <p:spPr>
          <a:xfrm>
            <a:off x="45720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3.  Two ribbons have lengths in the ratio 2:7. The longer is 25 cm longer than the shorter. Find the shorter length.</a:t>
            </a:r>
          </a:p>
        </p:txBody>
      </p:sp>
      <p:sp>
        <p:nvSpPr>
          <p:cNvPr id="13" name="Rectangle 12"/>
          <p:cNvSpPr/>
          <p:nvPr/>
        </p:nvSpPr>
        <p:spPr>
          <a:xfrm>
            <a:off x="7452360" y="4526280"/>
            <a:ext cx="6720840" cy="26060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4663440"/>
            <a:ext cx="6446520" cy="1280160"/>
          </a:xfrm>
          <a:prstGeom prst="rect">
            <a:avLst/>
          </a:prstGeom>
          <a:noFill/>
        </p:spPr>
        <p:txBody>
          <a:bodyPr wrap="square" lIns="54864" rIns="54864" tIns="22860" bIns="22860">
            <a:spAutoFit/>
          </a:bodyPr>
          <a:lstStyle/>
          <a:p>
            <a:pPr>
              <a:lnSpc>
                <a:spcPts val="2205"/>
              </a:lnSpc>
              <a:spcBef>
                <a:spcPts val="0"/>
              </a:spcBef>
              <a:spcAft>
                <a:spcPts val="0"/>
              </a:spcAft>
              <a:defRPr sz="2100" b="1">
                <a:solidFill>
                  <a:srgbClr val="182B3A"/>
                </a:solidFill>
                <a:latin typeface="Arial"/>
              </a:defRPr>
            </a:pPr>
            <a:r>
              <a:t>4.  Adults and children are in the ratio 5:8. There are 39 people altogether. How many more children than adults are there?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Worked demo • Follow each step down your column.</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M04-S01</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and B share £120 in the ratio 2:3. How much does B receive?</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paint are mixed in the ratio 3:5. There are 18 litres of red paint. How many litres of blue paint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Red and blue counters are in the ratio 3:7. There are 28 more blue counters than red counters. How many counters are there altogether?</a:t>
            </a:r>
          </a:p>
        </p:txBody>
      </p:sp>
      <p:sp>
        <p:nvSpPr>
          <p:cNvPr id="21" name="Rectangle 20"/>
          <p:cNvSpPr/>
          <p:nvPr/>
        </p:nvSpPr>
        <p:spPr>
          <a:xfrm>
            <a:off x="320040" y="2953512"/>
            <a:ext cx="1801367" cy="960120"/>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813816"/>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“share £120”: the total is known. 2 + 3 = 5 parts. £120 ÷ 5, then × 3.</a:t>
            </a:r>
          </a:p>
        </p:txBody>
      </p:sp>
      <p:sp>
        <p:nvSpPr>
          <p:cNvPr id="25" name="Rectangle 24"/>
          <p:cNvSpPr/>
          <p:nvPr/>
        </p:nvSpPr>
        <p:spPr>
          <a:xfrm>
            <a:off x="6184392"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litres of red”: 3 parts are known. 18 ÷ 3, then × 5.</a:t>
            </a:r>
          </a:p>
        </p:txBody>
      </p:sp>
      <p:sp>
        <p:nvSpPr>
          <p:cNvPr id="27" name="Rectangle 26"/>
          <p:cNvSpPr/>
          <p:nvPr/>
        </p:nvSpPr>
        <p:spPr>
          <a:xfrm>
            <a:off x="10247376" y="2953512"/>
            <a:ext cx="4062984" cy="96012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813816"/>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more blue”: the difference is known. 7 − 3 = 4 parts. 28 ÷ 4, then × (3 + 7).</a:t>
            </a:r>
          </a:p>
        </p:txBody>
      </p:sp>
      <p:sp>
        <p:nvSpPr>
          <p:cNvPr id="29" name="Rectangle 28"/>
          <p:cNvSpPr/>
          <p:nvPr/>
        </p:nvSpPr>
        <p:spPr>
          <a:xfrm>
            <a:off x="320040" y="3913632"/>
            <a:ext cx="1801367" cy="2066543"/>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3986784"/>
            <a:ext cx="1691639" cy="192023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£120 ÷ 5 = £24 per part. £24 × 3 = £72.</a:t>
            </a:r>
          </a:p>
        </p:txBody>
      </p:sp>
      <p:grpSp>
        <p:nvGrpSpPr>
          <p:cNvPr id="33" name="Ratio bars A:B = 2:3, total"/>
          <p:cNvGrpSpPr/>
          <p:nvPr/>
        </p:nvGrpSpPr>
        <p:grpSpPr>
          <a:xfrm>
            <a:off x="2194560" y="4686300"/>
            <a:ext cx="3916680" cy="1275588"/>
            <a:chOff x="2194560" y="4686300"/>
            <a:chExt cx="3916680" cy="1275588"/>
          </a:xfrm>
        </p:grpSpPr>
        <p:sp>
          <p:nvSpPr>
            <p:cNvPr id="34" name="TextBox 33"/>
            <p:cNvSpPr txBox="1"/>
            <p:nvPr/>
          </p:nvSpPr>
          <p:spPr>
            <a:xfrm>
              <a:off x="2194560"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A</a:t>
              </a:r>
            </a:p>
          </p:txBody>
        </p:sp>
        <p:sp>
          <p:nvSpPr>
            <p:cNvPr id="35" name="Rectangle 34"/>
            <p:cNvSpPr/>
            <p:nvPr/>
          </p:nvSpPr>
          <p:spPr>
            <a:xfrm>
              <a:off x="3108960"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502152" y="4709160"/>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194560"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a:t>
              </a:r>
            </a:p>
          </p:txBody>
        </p:sp>
        <p:sp>
          <p:nvSpPr>
            <p:cNvPr id="38" name="Rectangle 37"/>
            <p:cNvSpPr/>
            <p:nvPr/>
          </p:nvSpPr>
          <p:spPr>
            <a:xfrm>
              <a:off x="3108960"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502152"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3895344" y="5084064"/>
              <a:ext cx="393192" cy="210312"/>
            </a:xfrm>
            <a:prstGeom prst="rect">
              <a:avLst/>
            </a:prstGeom>
            <a:solidFill>
              <a:srgbClr val="EDF6F5"/>
            </a:solidFill>
            <a:ln w="7620">
              <a:solidFill>
                <a:srgbClr val="176B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1" name="Connector 40"/>
            <p:cNvCxnSpPr/>
            <p:nvPr/>
          </p:nvCxnSpPr>
          <p:spPr>
            <a:xfrm>
              <a:off x="4379975" y="4709160"/>
              <a:ext cx="0" cy="585216"/>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334255" y="4709160"/>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334255" y="5294376"/>
              <a:ext cx="45720" cy="0"/>
            </a:xfrm>
            <a:prstGeom prst="line">
              <a:avLst/>
            </a:prstGeom>
            <a:ln w="15240">
              <a:solidFill>
                <a:srgbClr val="176B73"/>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108960"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76B73"/>
                  </a:solidFill>
                  <a:latin typeface="Arial"/>
                </a:defRPr>
              </a:pPr>
              <a:r>
                <a:t>£120 altogether</a:t>
              </a:r>
            </a:p>
          </p:txBody>
        </p:sp>
        <p:sp>
          <p:nvSpPr>
            <p:cNvPr id="45" name="TextBox 44"/>
            <p:cNvSpPr txBox="1"/>
            <p:nvPr/>
          </p:nvSpPr>
          <p:spPr>
            <a:xfrm>
              <a:off x="3108960"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176B73"/>
                  </a:solidFill>
                  <a:latin typeface="Arial"/>
                </a:defRPr>
              </a:pPr>
              <a:r>
                <a:t>1 part = £24</a:t>
              </a:r>
            </a:p>
          </p:txBody>
        </p:sp>
      </p:grpSp>
      <p:sp>
        <p:nvSpPr>
          <p:cNvPr id="46" name="Rectangle 45"/>
          <p:cNvSpPr/>
          <p:nvPr/>
        </p:nvSpPr>
        <p:spPr>
          <a:xfrm>
            <a:off x="6184392"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30112"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18 ÷ 3 = 6 litres per part. 6 × 5 = 30 litres.</a:t>
            </a:r>
          </a:p>
        </p:txBody>
      </p:sp>
      <p:grpSp>
        <p:nvGrpSpPr>
          <p:cNvPr id="48" name="Ratio bars Red:Blue = 3:5, first"/>
          <p:cNvGrpSpPr/>
          <p:nvPr/>
        </p:nvGrpSpPr>
        <p:grpSpPr>
          <a:xfrm>
            <a:off x="6257544" y="4626864"/>
            <a:ext cx="3916680" cy="1335024"/>
            <a:chOff x="6257544" y="4626864"/>
            <a:chExt cx="3916680" cy="1335024"/>
          </a:xfrm>
        </p:grpSpPr>
        <p:sp>
          <p:nvSpPr>
            <p:cNvPr id="49" name="TextBox 48"/>
            <p:cNvSpPr txBox="1"/>
            <p:nvPr/>
          </p:nvSpPr>
          <p:spPr>
            <a:xfrm>
              <a:off x="6257544"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50" name="Rectangle 49"/>
            <p:cNvSpPr/>
            <p:nvPr/>
          </p:nvSpPr>
          <p:spPr>
            <a:xfrm>
              <a:off x="7171944"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7565136"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7958328" y="4709160"/>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257544"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54" name="Rectangle 53"/>
            <p:cNvSpPr/>
            <p:nvPr/>
          </p:nvSpPr>
          <p:spPr>
            <a:xfrm>
              <a:off x="7171944"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565136"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7958328"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8351520"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8744712" y="5084064"/>
              <a:ext cx="393192" cy="210312"/>
            </a:xfrm>
            <a:prstGeom prst="rect">
              <a:avLst/>
            </a:prstGeom>
            <a:solidFill>
              <a:srgbClr val="EFF3FA"/>
            </a:solidFill>
            <a:ln w="7620">
              <a:solidFill>
                <a:srgbClr val="3559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9" name="Connector 58"/>
            <p:cNvCxnSpPr/>
            <p:nvPr/>
          </p:nvCxnSpPr>
          <p:spPr>
            <a:xfrm>
              <a:off x="7171944" y="4626864"/>
              <a:ext cx="1179576" cy="0"/>
            </a:xfrm>
            <a:prstGeom prst="line">
              <a:avLst/>
            </a:prstGeom>
            <a:ln w="15240">
              <a:solidFill>
                <a:srgbClr val="3559A2"/>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171944" y="5385816"/>
              <a:ext cx="3002280" cy="265176"/>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3559A2"/>
                  </a:solidFill>
                  <a:latin typeface="Arial"/>
                </a:defRPr>
              </a:pPr>
              <a:r>
                <a:t>Red: 18 litres</a:t>
              </a:r>
            </a:p>
          </p:txBody>
        </p:sp>
        <p:sp>
          <p:nvSpPr>
            <p:cNvPr id="61" name="TextBox 60"/>
            <p:cNvSpPr txBox="1"/>
            <p:nvPr/>
          </p:nvSpPr>
          <p:spPr>
            <a:xfrm>
              <a:off x="7171944"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3559A2"/>
                  </a:solidFill>
                  <a:latin typeface="Arial"/>
                </a:defRPr>
              </a:pPr>
              <a:r>
                <a:t>1 part = 6 litres</a:t>
              </a:r>
            </a:p>
          </p:txBody>
        </p:sp>
      </p:grpSp>
      <p:sp>
        <p:nvSpPr>
          <p:cNvPr id="62" name="Rectangle 61"/>
          <p:cNvSpPr/>
          <p:nvPr/>
        </p:nvSpPr>
        <p:spPr>
          <a:xfrm>
            <a:off x="10247376" y="3913632"/>
            <a:ext cx="4062984" cy="2066543"/>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293096" y="3968496"/>
            <a:ext cx="3971544" cy="685800"/>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28 ÷ 4 = 7 counters per part. 3 + 7 = 10 parts. 7 × 10 = 70 counters.</a:t>
            </a:r>
          </a:p>
        </p:txBody>
      </p:sp>
      <p:grpSp>
        <p:nvGrpSpPr>
          <p:cNvPr id="64" name="Ratio bars Red:Blue = 3:7, difference"/>
          <p:cNvGrpSpPr/>
          <p:nvPr/>
        </p:nvGrpSpPr>
        <p:grpSpPr>
          <a:xfrm>
            <a:off x="10320528" y="4686300"/>
            <a:ext cx="3916680" cy="1275588"/>
            <a:chOff x="10320528" y="4686300"/>
            <a:chExt cx="3916680" cy="1275588"/>
          </a:xfrm>
        </p:grpSpPr>
        <p:sp>
          <p:nvSpPr>
            <p:cNvPr id="65" name="TextBox 64"/>
            <p:cNvSpPr txBox="1"/>
            <p:nvPr/>
          </p:nvSpPr>
          <p:spPr>
            <a:xfrm>
              <a:off x="10320528" y="4686300"/>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Red</a:t>
              </a:r>
            </a:p>
          </p:txBody>
        </p:sp>
        <p:sp>
          <p:nvSpPr>
            <p:cNvPr id="66" name="Rectangle 65"/>
            <p:cNvSpPr/>
            <p:nvPr/>
          </p:nvSpPr>
          <p:spPr>
            <a:xfrm>
              <a:off x="11234928"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11628120"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2021312" y="4709160"/>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320528" y="5061204"/>
              <a:ext cx="914400" cy="274320"/>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182B3A"/>
                  </a:solidFill>
                  <a:latin typeface="Arial"/>
                </a:defRPr>
              </a:pPr>
              <a:r>
                <a:t>Blue</a:t>
              </a:r>
            </a:p>
          </p:txBody>
        </p:sp>
        <p:sp>
          <p:nvSpPr>
            <p:cNvPr id="70" name="Rectangle 69"/>
            <p:cNvSpPr/>
            <p:nvPr/>
          </p:nvSpPr>
          <p:spPr>
            <a:xfrm>
              <a:off x="1123492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1162812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12021312"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12414504"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2807696"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13200888"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13594080" y="5084064"/>
              <a:ext cx="393192" cy="210312"/>
            </a:xfrm>
            <a:prstGeom prst="rect">
              <a:avLst/>
            </a:prstGeom>
            <a:solidFill>
              <a:srgbClr val="F5F0F7"/>
            </a:solidFill>
            <a:ln w="7620">
              <a:solidFill>
                <a:srgbClr val="754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7" name="Connector 76"/>
            <p:cNvCxnSpPr/>
            <p:nvPr/>
          </p:nvCxnSpPr>
          <p:spPr>
            <a:xfrm>
              <a:off x="12414504" y="5376672"/>
              <a:ext cx="1572768" cy="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2414504"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3987272" y="5330952"/>
              <a:ext cx="0" cy="91440"/>
            </a:xfrm>
            <a:prstGeom prst="line">
              <a:avLst/>
            </a:prstGeom>
            <a:ln w="15240">
              <a:solidFill>
                <a:srgbClr val="754B87"/>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1234928" y="5413248"/>
              <a:ext cx="3002280" cy="256032"/>
            </a:xfrm>
            <a:prstGeom prst="rect">
              <a:avLst/>
            </a:prstGeom>
            <a:noFill/>
          </p:spPr>
          <p:txBody>
            <a:bodyPr wrap="square" lIns="54864" tIns="22860" rIns="54864" bIns="22860">
              <a:spAutoFit/>
            </a:bodyPr>
            <a:lstStyle/>
            <a:p>
              <a:pPr>
                <a:lnSpc>
                  <a:spcPts val="1260"/>
                </a:lnSpc>
                <a:spcBef>
                  <a:spcPts val="0"/>
                </a:spcBef>
                <a:spcAft>
                  <a:spcPts val="0"/>
                </a:spcAft>
                <a:defRPr sz="1200" b="1">
                  <a:solidFill>
                    <a:srgbClr val="754B87"/>
                  </a:solidFill>
                  <a:latin typeface="Arial"/>
                </a:defRPr>
              </a:pPr>
              <a:r>
                <a:t>4 extra parts = 28 counters</a:t>
              </a:r>
            </a:p>
          </p:txBody>
        </p:sp>
        <p:sp>
          <p:nvSpPr>
            <p:cNvPr id="81" name="TextBox 80"/>
            <p:cNvSpPr txBox="1"/>
            <p:nvPr/>
          </p:nvSpPr>
          <p:spPr>
            <a:xfrm>
              <a:off x="11234928" y="5696712"/>
              <a:ext cx="3002280" cy="265176"/>
            </a:xfrm>
            <a:prstGeom prst="rect">
              <a:avLst/>
            </a:prstGeom>
            <a:noFill/>
          </p:spPr>
          <p:txBody>
            <a:bodyPr wrap="square" lIns="54864" tIns="22860" rIns="54864" bIns="22860">
              <a:spAutoFit/>
            </a:bodyPr>
            <a:lstStyle/>
            <a:p>
              <a:pPr>
                <a:lnSpc>
                  <a:spcPts val="1365"/>
                </a:lnSpc>
                <a:spcBef>
                  <a:spcPts val="0"/>
                </a:spcBef>
                <a:spcAft>
                  <a:spcPts val="0"/>
                </a:spcAft>
                <a:defRPr sz="1300" b="1">
                  <a:solidFill>
                    <a:srgbClr val="754B87"/>
                  </a:solidFill>
                  <a:latin typeface="Arial"/>
                </a:defRPr>
              </a:pPr>
              <a:r>
                <a:t>1 part = 7 counters</a:t>
              </a:r>
            </a:p>
          </p:txBody>
        </p:sp>
      </p:grpSp>
      <p:sp>
        <p:nvSpPr>
          <p:cNvPr id="82" name="Rectangle 81"/>
          <p:cNvSpPr/>
          <p:nvPr/>
        </p:nvSpPr>
        <p:spPr>
          <a:xfrm>
            <a:off x="320040" y="5980176"/>
            <a:ext cx="1801367" cy="1307592"/>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4904" y="6053328"/>
            <a:ext cx="1691639" cy="116128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84" name="Rectangle 83"/>
          <p:cNvSpPr/>
          <p:nvPr/>
        </p:nvSpPr>
        <p:spPr>
          <a:xfrm>
            <a:off x="2121408"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167127"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gets more than half of £120, so more than £60. £72 fits. Check both shares: £48 + £72 = £120.</a:t>
            </a:r>
          </a:p>
        </p:txBody>
      </p:sp>
      <p:sp>
        <p:nvSpPr>
          <p:cNvPr id="86" name="Rectangle 85"/>
          <p:cNvSpPr/>
          <p:nvPr/>
        </p:nvSpPr>
        <p:spPr>
          <a:xfrm>
            <a:off x="6184392"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6230112"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Blue is between one and two times the red amount, so between 18 and 36 litres. 30 litres fits.</a:t>
            </a:r>
          </a:p>
        </p:txBody>
      </p:sp>
      <p:sp>
        <p:nvSpPr>
          <p:cNvPr id="88" name="Rectangle 87"/>
          <p:cNvSpPr/>
          <p:nvPr/>
        </p:nvSpPr>
        <p:spPr>
          <a:xfrm>
            <a:off x="10247376" y="5980176"/>
            <a:ext cx="4062984" cy="1307592"/>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10293096" y="6053328"/>
            <a:ext cx="3971544" cy="1161288"/>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The total represents 10 parts and the difference 4. The total should be between 2 and 3 times 28: between 56 and 84. 70 fits.</a:t>
            </a:r>
          </a:p>
        </p:txBody>
      </p:sp>
      <p:sp>
        <p:nvSpPr>
          <p:cNvPr id="90" name="Rectangle 89"/>
          <p:cNvSpPr/>
          <p:nvPr/>
        </p:nvSpPr>
        <p:spPr>
          <a:xfrm>
            <a:off x="320040" y="7287768"/>
            <a:ext cx="1801367" cy="557784"/>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374904" y="7360919"/>
            <a:ext cx="1691639" cy="411479"/>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92" name="Rectangle 91"/>
          <p:cNvSpPr/>
          <p:nvPr/>
        </p:nvSpPr>
        <p:spPr>
          <a:xfrm>
            <a:off x="2121408"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67127"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B receives £72.</a:t>
            </a:r>
          </a:p>
        </p:txBody>
      </p:sp>
      <p:sp>
        <p:nvSpPr>
          <p:cNvPr id="94" name="Rectangle 93"/>
          <p:cNvSpPr/>
          <p:nvPr/>
        </p:nvSpPr>
        <p:spPr>
          <a:xfrm>
            <a:off x="6184392"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230112"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30 litres of blue paint.</a:t>
            </a:r>
          </a:p>
        </p:txBody>
      </p:sp>
      <p:sp>
        <p:nvSpPr>
          <p:cNvPr id="96" name="Rectangle 95"/>
          <p:cNvSpPr/>
          <p:nvPr/>
        </p:nvSpPr>
        <p:spPr>
          <a:xfrm>
            <a:off x="10247376" y="7287768"/>
            <a:ext cx="4062984" cy="557784"/>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0293096" y="7360919"/>
            <a:ext cx="3971544" cy="411479"/>
          </a:xfrm>
          <a:prstGeom prst="rect">
            <a:avLst/>
          </a:prstGeom>
          <a:noFill/>
        </p:spPr>
        <p:txBody>
          <a:bodyPr wrap="square" lIns="54864" tIns="22860" rIns="54864" bIns="22860">
            <a:spAutoFit/>
          </a:bodyPr>
          <a:lstStyle/>
          <a:p>
            <a:pPr>
              <a:lnSpc>
                <a:spcPts val="1785"/>
              </a:lnSpc>
              <a:spcBef>
                <a:spcPts val="0"/>
              </a:spcBef>
              <a:spcAft>
                <a:spcPts val="0"/>
              </a:spcAft>
              <a:defRPr sz="1700" b="0">
                <a:solidFill>
                  <a:srgbClr val="182B3A"/>
                </a:solidFill>
                <a:latin typeface="Arial"/>
              </a:defRPr>
            </a:pPr>
            <a:r>
              <a:t>70 counters altogether.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1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M04-S02</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An 84 ml paint mix contains red and white paint in the ratio 3:4. How much red paint is in the mix?</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Notebooks and folders are in the ratio 4:7. There are 35 folders. How many notebooks are there?</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Adults and children are in the ratio 2:5. There are 24 more children than adults. How many people are there altogether?</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5" name="Progression curved arrow: Thread 1 to Thread 2">
            <a:extLst>
              <a:ext uri="{FF2B5EF4-FFF2-40B4-BE49-F238E27FC236}">
                <a16:creationId xmlns:a16="http://schemas.microsoft.com/office/drawing/2014/main" id="{5C4B25E0-6F8B-5EB5-B1AB-18C9B16A520D}"/>
              </a:ext>
            </a:extLst>
          </p:cNvPr>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Step-by-step practice 2 • Complete each step in your booklet or webapp.</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M04-S03</a:t>
            </a:r>
          </a:p>
        </p:txBody>
      </p:sp>
      <p:sp>
        <p:nvSpPr>
          <p:cNvPr id="7" name="Rectangle 6"/>
          <p:cNvSpPr/>
          <p:nvPr/>
        </p:nvSpPr>
        <p:spPr>
          <a:xfrm>
            <a:off x="2121408" y="1115568"/>
            <a:ext cx="4040123"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48839"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6184392" y="1115568"/>
            <a:ext cx="4040123"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1824"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10247376" y="1115568"/>
            <a:ext cx="4040123"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74808" y="1147572"/>
            <a:ext cx="3980688"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63624"/>
            <a:ext cx="1801367" cy="138988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4904" y="1673352"/>
            <a:ext cx="1691639" cy="1207008"/>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The Full Question</a:t>
            </a:r>
          </a:p>
        </p:txBody>
      </p:sp>
      <p:sp>
        <p:nvSpPr>
          <p:cNvPr id="15" name="Rectangle 14"/>
          <p:cNvSpPr/>
          <p:nvPr/>
        </p:nvSpPr>
        <p:spPr>
          <a:xfrm>
            <a:off x="2121408" y="1563624"/>
            <a:ext cx="4062984" cy="1389888"/>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67127"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A 96 cm ribbon is cut into pieces A and B in the ratio 5:7. Find the length of B.</a:t>
            </a:r>
          </a:p>
        </p:txBody>
      </p:sp>
      <p:sp>
        <p:nvSpPr>
          <p:cNvPr id="17" name="Rectangle 16"/>
          <p:cNvSpPr/>
          <p:nvPr/>
        </p:nvSpPr>
        <p:spPr>
          <a:xfrm>
            <a:off x="6184392" y="1563624"/>
            <a:ext cx="4062984" cy="1389888"/>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30112"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Juice and water are mixed in the ratio 2:7. There are 18 litres of juice. How many litres of water are needed?</a:t>
            </a:r>
          </a:p>
        </p:txBody>
      </p:sp>
      <p:sp>
        <p:nvSpPr>
          <p:cNvPr id="19" name="Rectangle 18"/>
          <p:cNvSpPr/>
          <p:nvPr/>
        </p:nvSpPr>
        <p:spPr>
          <a:xfrm>
            <a:off x="10247376" y="1563624"/>
            <a:ext cx="4062984" cy="1389888"/>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293096" y="1627632"/>
            <a:ext cx="3971544" cy="1261872"/>
          </a:xfrm>
          <a:prstGeom prst="rect">
            <a:avLst/>
          </a:prstGeom>
          <a:noFill/>
        </p:spPr>
        <p:txBody>
          <a:bodyPr wrap="square" lIns="54864" tIns="22860" rIns="54864" bIns="22860">
            <a:spAutoFit/>
          </a:bodyPr>
          <a:lstStyle/>
          <a:p>
            <a:pPr>
              <a:lnSpc>
                <a:spcPts val="1890"/>
              </a:lnSpc>
              <a:spcBef>
                <a:spcPts val="0"/>
              </a:spcBef>
              <a:spcAft>
                <a:spcPts val="0"/>
              </a:spcAft>
              <a:defRPr sz="1800" b="1">
                <a:solidFill>
                  <a:srgbClr val="182B3A"/>
                </a:solidFill>
                <a:latin typeface="Arial"/>
              </a:defRPr>
            </a:pPr>
            <a:r>
              <a:t>Two lengths of ribbon, A and B, are in the ratio 5:8. B is 21 cm longer than A. What is their total length?</a:t>
            </a:r>
          </a:p>
        </p:txBody>
      </p:sp>
      <p:sp>
        <p:nvSpPr>
          <p:cNvPr id="21" name="Rectangle 20"/>
          <p:cNvSpPr/>
          <p:nvPr/>
        </p:nvSpPr>
        <p:spPr>
          <a:xfrm>
            <a:off x="320040" y="2953512"/>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4904" y="3026664"/>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Keywords &amp; Calculation</a:t>
            </a:r>
          </a:p>
        </p:txBody>
      </p:sp>
      <p:sp>
        <p:nvSpPr>
          <p:cNvPr id="23" name="Rectangle 22"/>
          <p:cNvSpPr/>
          <p:nvPr/>
        </p:nvSpPr>
        <p:spPr>
          <a:xfrm>
            <a:off x="2121408"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67127"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5" name="Rectangle 24"/>
          <p:cNvSpPr/>
          <p:nvPr/>
        </p:nvSpPr>
        <p:spPr>
          <a:xfrm>
            <a:off x="6184392"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0112"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7" name="Rectangle 26"/>
          <p:cNvSpPr/>
          <p:nvPr/>
        </p:nvSpPr>
        <p:spPr>
          <a:xfrm>
            <a:off x="10247376" y="2953512"/>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93096" y="3026664"/>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Identify the keywords. Write down the calculation(s) you need to do.</a:t>
            </a:r>
          </a:p>
        </p:txBody>
      </p:sp>
      <p:sp>
        <p:nvSpPr>
          <p:cNvPr id="29" name="Rectangle 28"/>
          <p:cNvSpPr/>
          <p:nvPr/>
        </p:nvSpPr>
        <p:spPr>
          <a:xfrm>
            <a:off x="320040" y="4069080"/>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74904" y="4142232"/>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Written Method</a:t>
            </a:r>
          </a:p>
        </p:txBody>
      </p:sp>
      <p:sp>
        <p:nvSpPr>
          <p:cNvPr id="31" name="Rectangle 30"/>
          <p:cNvSpPr/>
          <p:nvPr/>
        </p:nvSpPr>
        <p:spPr>
          <a:xfrm>
            <a:off x="2121408"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67127"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3" name="Rectangle 32"/>
          <p:cNvSpPr/>
          <p:nvPr/>
        </p:nvSpPr>
        <p:spPr>
          <a:xfrm>
            <a:off x="6184392"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30112"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5" name="Rectangle 34"/>
          <p:cNvSpPr/>
          <p:nvPr/>
        </p:nvSpPr>
        <p:spPr>
          <a:xfrm>
            <a:off x="10247376" y="4069080"/>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293096" y="4142232"/>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Set up and use the written method for your calculation(s).</a:t>
            </a:r>
          </a:p>
        </p:txBody>
      </p:sp>
      <p:sp>
        <p:nvSpPr>
          <p:cNvPr id="37" name="Rectangle 36"/>
          <p:cNvSpPr/>
          <p:nvPr/>
        </p:nvSpPr>
        <p:spPr>
          <a:xfrm>
            <a:off x="320040" y="5184648"/>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74904" y="5257800"/>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Ballpark Check &amp; Math</a:t>
            </a:r>
          </a:p>
        </p:txBody>
      </p:sp>
      <p:sp>
        <p:nvSpPr>
          <p:cNvPr id="39" name="Rectangle 38"/>
          <p:cNvSpPr/>
          <p:nvPr/>
        </p:nvSpPr>
        <p:spPr>
          <a:xfrm>
            <a:off x="2121408"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67127"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1" name="Rectangle 40"/>
          <p:cNvSpPr/>
          <p:nvPr/>
        </p:nvSpPr>
        <p:spPr>
          <a:xfrm>
            <a:off x="6184392"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230112"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3" name="Rectangle 42"/>
          <p:cNvSpPr/>
          <p:nvPr/>
        </p:nvSpPr>
        <p:spPr>
          <a:xfrm>
            <a:off x="10247376" y="5184648"/>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293096" y="5257800"/>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Check your answer using rough ballpark calculations. Does it make sense?</a:t>
            </a:r>
          </a:p>
        </p:txBody>
      </p:sp>
      <p:sp>
        <p:nvSpPr>
          <p:cNvPr id="45" name="Rectangle 44"/>
          <p:cNvSpPr/>
          <p:nvPr/>
        </p:nvSpPr>
        <p:spPr>
          <a:xfrm>
            <a:off x="320040" y="6300216"/>
            <a:ext cx="1801367" cy="1115568"/>
          </a:xfrm>
          <a:prstGeom prst="rect">
            <a:avLst/>
          </a:prstGeom>
          <a:solidFill>
            <a:srgbClr val="E8EDF1"/>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74904" y="6373368"/>
            <a:ext cx="1691639" cy="969264"/>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82B3A"/>
                </a:solidFill>
                <a:latin typeface="Arial"/>
              </a:defRPr>
            </a:pPr>
            <a:r>
              <a:t>Final Answer</a:t>
            </a:r>
          </a:p>
        </p:txBody>
      </p:sp>
      <p:sp>
        <p:nvSpPr>
          <p:cNvPr id="47" name="Rectangle 46"/>
          <p:cNvSpPr/>
          <p:nvPr/>
        </p:nvSpPr>
        <p:spPr>
          <a:xfrm>
            <a:off x="2121408"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167127"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49" name="Rectangle 48"/>
          <p:cNvSpPr/>
          <p:nvPr/>
        </p:nvSpPr>
        <p:spPr>
          <a:xfrm>
            <a:off x="6184392"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30112"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1" name="Rectangle 50"/>
          <p:cNvSpPr/>
          <p:nvPr/>
        </p:nvSpPr>
        <p:spPr>
          <a:xfrm>
            <a:off x="10247376" y="6300216"/>
            <a:ext cx="4062984" cy="1115568"/>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93096" y="6373368"/>
            <a:ext cx="3971544" cy="969264"/>
          </a:xfrm>
          <a:prstGeom prst="rect">
            <a:avLst/>
          </a:prstGeom>
          <a:noFill/>
        </p:spPr>
        <p:txBody>
          <a:bodyPr wrap="square" lIns="54864" tIns="22860" rIns="54864" bIns="22860">
            <a:spAutoFit/>
          </a:bodyPr>
          <a:lstStyle/>
          <a:p>
            <a:pPr>
              <a:lnSpc>
                <a:spcPts val="1995"/>
              </a:lnSpc>
              <a:spcBef>
                <a:spcPts val="0"/>
              </a:spcBef>
              <a:spcAft>
                <a:spcPts val="0"/>
              </a:spcAft>
              <a:defRPr sz="1900" b="0">
                <a:solidFill>
                  <a:srgbClr val="182B3A"/>
                </a:solidFill>
                <a:latin typeface="Arial"/>
              </a:defRPr>
            </a:pPr>
            <a:r>
              <a:t>Write your final answer to the question. Include the correct units.</a:t>
            </a:r>
          </a:p>
        </p:txBody>
      </p:sp>
      <p:sp>
        <p:nvSpPr>
          <p:cNvPr id="53" name="Progression curved arrow: Thread 1 to Thread 2"/>
          <p:cNvSpPr/>
          <p:nvPr/>
        </p:nvSpPr>
        <p:spPr>
          <a:xfrm>
            <a:off x="5850635" y="7351126"/>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54" name="Progression curved arrow: Thread 2 to Thread 3"/>
          <p:cNvSpPr/>
          <p:nvPr/>
        </p:nvSpPr>
        <p:spPr>
          <a:xfrm>
            <a:off x="9865783" y="7342632"/>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91440"/>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384048" y="219456"/>
            <a:ext cx="13807440" cy="457200"/>
          </a:xfrm>
          <a:prstGeom prst="rect">
            <a:avLst/>
          </a:prstGeom>
          <a:noFill/>
        </p:spPr>
        <p:txBody>
          <a:bodyPr wrap="square" tIns="36576" bIns="36576" anchor="t">
            <a:spAutoFit/>
          </a:bodyPr>
          <a:lstStyle/>
          <a:p>
            <a:pPr>
              <a:lnSpc>
                <a:spcPts val="3132"/>
              </a:lnSpc>
              <a:spcBef>
                <a:spcPts val="0"/>
              </a:spcBef>
              <a:spcAft>
                <a:spcPts val="0"/>
              </a:spcAft>
              <a:defRPr sz="2900" b="1">
                <a:solidFill>
                  <a:srgbClr val="182B3A"/>
                </a:solidFill>
                <a:latin typeface="Arial"/>
              </a:defRPr>
            </a:pPr>
            <a:r>
              <a:t>Ratio: sharing and missing amounts — spot the errors</a:t>
            </a:r>
          </a:p>
        </p:txBody>
      </p:sp>
      <p:sp>
        <p:nvSpPr>
          <p:cNvPr id="4" name="TextBox 3"/>
          <p:cNvSpPr txBox="1"/>
          <p:nvPr/>
        </p:nvSpPr>
        <p:spPr>
          <a:xfrm>
            <a:off x="384048" y="740664"/>
            <a:ext cx="13807440" cy="411480"/>
          </a:xfrm>
          <a:prstGeom prst="rect">
            <a:avLst/>
          </a:prstGeom>
          <a:noFill/>
        </p:spPr>
        <p:txBody>
          <a:bodyPr wrap="square" tIns="36576" bIns="36576" anchor="t">
            <a:spAutoFit/>
          </a:bodyPr>
          <a:lstStyle/>
          <a:p>
            <a:pPr>
              <a:lnSpc>
                <a:spcPts val="1836"/>
              </a:lnSpc>
              <a:spcBef>
                <a:spcPts val="0"/>
              </a:spcBef>
              <a:spcAft>
                <a:spcPts val="0"/>
              </a:spcAft>
              <a:defRPr sz="1700" b="0">
                <a:solidFill>
                  <a:srgbClr val="526472"/>
                </a:solidFill>
                <a:latin typeface="Arial"/>
              </a:defRPr>
            </a:pPr>
            <a:r>
              <a:t>Each student’s working contains a mistake. Find it, correct the working and give the right answer.</a:t>
            </a:r>
          </a:p>
        </p:txBody>
      </p:sp>
      <p:sp>
        <p:nvSpPr>
          <p:cNvPr id="5" name="TextBox 4"/>
          <p:cNvSpPr txBox="1"/>
          <p:nvPr/>
        </p:nvSpPr>
        <p:spPr>
          <a:xfrm>
            <a:off x="384048" y="7863840"/>
            <a:ext cx="13716000" cy="256032"/>
          </a:xfrm>
          <a:prstGeom prst="rect">
            <a:avLst/>
          </a:prstGeom>
          <a:noFill/>
        </p:spPr>
        <p:txBody>
          <a:bodyPr wrap="square" tIns="36576" bIns="36576" anchor="t">
            <a:spAutoFit/>
          </a:bodyPr>
          <a:lstStyle/>
          <a:p>
            <a:pPr>
              <a:lnSpc>
                <a:spcPts val="1188"/>
              </a:lnSpc>
              <a:spcBef>
                <a:spcPts val="0"/>
              </a:spcBef>
              <a:spcAft>
                <a:spcPts val="0"/>
              </a:spcAft>
              <a:defRPr sz="1100" b="0">
                <a:solidFill>
                  <a:srgbClr val="526472"/>
                </a:solidFill>
                <a:latin typeface="Arial"/>
              </a:defRPr>
            </a:pPr>
            <a:r>
              <a:t>M04-SE  •  Record your working in your booklet or webapp.</a:t>
            </a:r>
          </a:p>
        </p:txBody>
      </p:sp>
      <p:sp>
        <p:nvSpPr>
          <p:cNvPr id="6" name="Rectangle 5"/>
          <p:cNvSpPr/>
          <p:nvPr/>
        </p:nvSpPr>
        <p:spPr>
          <a:xfrm>
            <a:off x="384048" y="1234440"/>
            <a:ext cx="4588764" cy="420624"/>
          </a:xfrm>
          <a:prstGeom prst="rect">
            <a:avLst/>
          </a:prstGeom>
          <a:solidFill>
            <a:srgbClr val="176B7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48056"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Start</a:t>
            </a:r>
          </a:p>
        </p:txBody>
      </p:sp>
      <p:sp>
        <p:nvSpPr>
          <p:cNvPr id="8" name="Rectangle 7"/>
          <p:cNvSpPr/>
          <p:nvPr/>
        </p:nvSpPr>
        <p:spPr>
          <a:xfrm>
            <a:off x="384048"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Share £35 between A and B in ratio 2:5. How much does A get?</a:t>
            </a:r>
          </a:p>
        </p:txBody>
      </p:sp>
      <p:sp>
        <p:nvSpPr>
          <p:cNvPr id="10" name="TextBox 9"/>
          <p:cNvSpPr txBox="1"/>
          <p:nvPr/>
        </p:nvSpPr>
        <p:spPr>
          <a:xfrm>
            <a:off x="594360"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 + 5 = 7 parts</a:t>
            </a:r>
          </a:p>
        </p:txBody>
      </p:sp>
      <p:sp>
        <p:nvSpPr>
          <p:cNvPr id="11" name="TextBox 10"/>
          <p:cNvSpPr txBox="1"/>
          <p:nvPr/>
        </p:nvSpPr>
        <p:spPr>
          <a:xfrm>
            <a:off x="594360"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7 = 5</a:t>
            </a:r>
          </a:p>
        </p:txBody>
      </p:sp>
      <p:sp>
        <p:nvSpPr>
          <p:cNvPr id="12" name="TextBox 11"/>
          <p:cNvSpPr txBox="1"/>
          <p:nvPr/>
        </p:nvSpPr>
        <p:spPr>
          <a:xfrm>
            <a:off x="273405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5 × 5</a:t>
            </a:r>
          </a:p>
        </p:txBody>
      </p:sp>
      <p:sp>
        <p:nvSpPr>
          <p:cNvPr id="13" name="TextBox 12"/>
          <p:cNvSpPr txBox="1"/>
          <p:nvPr/>
        </p:nvSpPr>
        <p:spPr>
          <a:xfrm>
            <a:off x="273405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£25</a:t>
            </a:r>
          </a:p>
        </p:txBody>
      </p:sp>
      <p:sp>
        <p:nvSpPr>
          <p:cNvPr id="14" name="TextBox 13"/>
          <p:cNvSpPr txBox="1"/>
          <p:nvPr/>
        </p:nvSpPr>
        <p:spPr>
          <a:xfrm>
            <a:off x="594360"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receives £25</a:t>
            </a:r>
          </a:p>
        </p:txBody>
      </p:sp>
      <p:sp>
        <p:nvSpPr>
          <p:cNvPr id="15" name="Rectangle 14"/>
          <p:cNvSpPr/>
          <p:nvPr/>
        </p:nvSpPr>
        <p:spPr>
          <a:xfrm>
            <a:off x="384048"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3:4. There are 12 red counters. How many blue?</a:t>
            </a:r>
          </a:p>
        </p:txBody>
      </p:sp>
      <p:sp>
        <p:nvSpPr>
          <p:cNvPr id="17" name="TextBox 16"/>
          <p:cNvSpPr txBox="1"/>
          <p:nvPr/>
        </p:nvSpPr>
        <p:spPr>
          <a:xfrm>
            <a:off x="594360"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+ 4 = 7 parts</a:t>
            </a:r>
          </a:p>
        </p:txBody>
      </p:sp>
      <p:sp>
        <p:nvSpPr>
          <p:cNvPr id="18" name="TextBox 17"/>
          <p:cNvSpPr txBox="1"/>
          <p:nvPr/>
        </p:nvSpPr>
        <p:spPr>
          <a:xfrm>
            <a:off x="594360"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7 = 1 r 5</a:t>
            </a:r>
          </a:p>
        </p:txBody>
      </p:sp>
      <p:sp>
        <p:nvSpPr>
          <p:cNvPr id="19" name="TextBox 18"/>
          <p:cNvSpPr txBox="1"/>
          <p:nvPr/>
        </p:nvSpPr>
        <p:spPr>
          <a:xfrm>
            <a:off x="273405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 × 1</a:t>
            </a:r>
          </a:p>
        </p:txBody>
      </p:sp>
      <p:sp>
        <p:nvSpPr>
          <p:cNvPr id="20" name="TextBox 19"/>
          <p:cNvSpPr txBox="1"/>
          <p:nvPr/>
        </p:nvSpPr>
        <p:spPr>
          <a:xfrm>
            <a:off x="273405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Blue = 4</a:t>
            </a:r>
          </a:p>
        </p:txBody>
      </p:sp>
      <p:sp>
        <p:nvSpPr>
          <p:cNvPr id="21" name="TextBox 20"/>
          <p:cNvSpPr txBox="1"/>
          <p:nvPr/>
        </p:nvSpPr>
        <p:spPr>
          <a:xfrm>
            <a:off x="594360"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4 blue counters</a:t>
            </a:r>
          </a:p>
        </p:txBody>
      </p:sp>
      <p:sp>
        <p:nvSpPr>
          <p:cNvPr id="22" name="Rectangle 21"/>
          <p:cNvSpPr/>
          <p:nvPr/>
        </p:nvSpPr>
        <p:spPr>
          <a:xfrm>
            <a:off x="384048"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75488"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Share 12 sweets between A and B in ratio 1:3. How many does B get?</a:t>
            </a:r>
          </a:p>
        </p:txBody>
      </p:sp>
      <p:sp>
        <p:nvSpPr>
          <p:cNvPr id="24" name="TextBox 23"/>
          <p:cNvSpPr txBox="1"/>
          <p:nvPr/>
        </p:nvSpPr>
        <p:spPr>
          <a:xfrm>
            <a:off x="594360"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 + 3 = 4 parts</a:t>
            </a:r>
          </a:p>
        </p:txBody>
      </p:sp>
      <p:sp>
        <p:nvSpPr>
          <p:cNvPr id="25" name="TextBox 24"/>
          <p:cNvSpPr txBox="1"/>
          <p:nvPr/>
        </p:nvSpPr>
        <p:spPr>
          <a:xfrm>
            <a:off x="594360"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12 ÷ 4 = 3</a:t>
            </a:r>
          </a:p>
        </p:txBody>
      </p:sp>
      <p:sp>
        <p:nvSpPr>
          <p:cNvPr id="26" name="TextBox 25"/>
          <p:cNvSpPr txBox="1"/>
          <p:nvPr/>
        </p:nvSpPr>
        <p:spPr>
          <a:xfrm>
            <a:off x="273405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3 + 3</a:t>
            </a:r>
          </a:p>
        </p:txBody>
      </p:sp>
      <p:sp>
        <p:nvSpPr>
          <p:cNvPr id="27" name="TextBox 26"/>
          <p:cNvSpPr txBox="1"/>
          <p:nvPr/>
        </p:nvSpPr>
        <p:spPr>
          <a:xfrm>
            <a:off x="273405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6</a:t>
            </a:r>
          </a:p>
        </p:txBody>
      </p:sp>
      <p:sp>
        <p:nvSpPr>
          <p:cNvPr id="28" name="TextBox 27"/>
          <p:cNvSpPr txBox="1"/>
          <p:nvPr/>
        </p:nvSpPr>
        <p:spPr>
          <a:xfrm>
            <a:off x="594360"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receives 6 sweets</a:t>
            </a:r>
          </a:p>
        </p:txBody>
      </p:sp>
      <p:sp>
        <p:nvSpPr>
          <p:cNvPr id="29" name="Rectangle 28"/>
          <p:cNvSpPr/>
          <p:nvPr/>
        </p:nvSpPr>
        <p:spPr>
          <a:xfrm>
            <a:off x="5004816" y="1234440"/>
            <a:ext cx="4588764" cy="420624"/>
          </a:xfrm>
          <a:prstGeom prst="rect">
            <a:avLst/>
          </a:prstGeom>
          <a:solidFill>
            <a:srgbClr val="3559A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68824"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Build</a:t>
            </a:r>
          </a:p>
        </p:txBody>
      </p:sp>
      <p:sp>
        <p:nvSpPr>
          <p:cNvPr id="31" name="Rectangle 30"/>
          <p:cNvSpPr/>
          <p:nvPr/>
        </p:nvSpPr>
        <p:spPr>
          <a:xfrm>
            <a:off x="5004816"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96256"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and B share counters in ratio 2:7. B has 30 more than A. How many does A have?</a:t>
            </a:r>
          </a:p>
        </p:txBody>
      </p:sp>
      <p:sp>
        <p:nvSpPr>
          <p:cNvPr id="33" name="TextBox 32"/>
          <p:cNvSpPr txBox="1"/>
          <p:nvPr/>
        </p:nvSpPr>
        <p:spPr>
          <a:xfrm>
            <a:off x="5215128"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7 − 2 = 5 parts</a:t>
            </a:r>
          </a:p>
        </p:txBody>
      </p:sp>
      <p:sp>
        <p:nvSpPr>
          <p:cNvPr id="34" name="TextBox 33"/>
          <p:cNvSpPr txBox="1"/>
          <p:nvPr/>
        </p:nvSpPr>
        <p:spPr>
          <a:xfrm>
            <a:off x="5215128"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30 ÷ 5 = 6</a:t>
            </a:r>
          </a:p>
        </p:txBody>
      </p:sp>
      <p:sp>
        <p:nvSpPr>
          <p:cNvPr id="35" name="TextBox 34"/>
          <p:cNvSpPr txBox="1"/>
          <p:nvPr/>
        </p:nvSpPr>
        <p:spPr>
          <a:xfrm>
            <a:off x="7354824"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2 + 6</a:t>
            </a:r>
          </a:p>
        </p:txBody>
      </p:sp>
      <p:sp>
        <p:nvSpPr>
          <p:cNvPr id="36" name="TextBox 35"/>
          <p:cNvSpPr txBox="1"/>
          <p:nvPr/>
        </p:nvSpPr>
        <p:spPr>
          <a:xfrm>
            <a:off x="7354824"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8</a:t>
            </a:r>
          </a:p>
        </p:txBody>
      </p:sp>
      <p:sp>
        <p:nvSpPr>
          <p:cNvPr id="37" name="TextBox 36"/>
          <p:cNvSpPr txBox="1"/>
          <p:nvPr/>
        </p:nvSpPr>
        <p:spPr>
          <a:xfrm>
            <a:off x="5215128"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A has 8 counters</a:t>
            </a:r>
          </a:p>
        </p:txBody>
      </p:sp>
      <p:sp>
        <p:nvSpPr>
          <p:cNvPr id="38" name="Rectangle 37"/>
          <p:cNvSpPr/>
          <p:nvPr/>
        </p:nvSpPr>
        <p:spPr>
          <a:xfrm>
            <a:off x="5004816"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096256"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Red:blue = 4:3. There are 15 blue counters. How many red counters?</a:t>
            </a:r>
          </a:p>
        </p:txBody>
      </p:sp>
      <p:sp>
        <p:nvSpPr>
          <p:cNvPr id="40" name="TextBox 39"/>
          <p:cNvSpPr txBox="1"/>
          <p:nvPr/>
        </p:nvSpPr>
        <p:spPr>
          <a:xfrm>
            <a:off x="5215128"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15 ÷ 4 = 3.75</a:t>
            </a:r>
          </a:p>
        </p:txBody>
      </p:sp>
      <p:sp>
        <p:nvSpPr>
          <p:cNvPr id="41" name="TextBox 40"/>
          <p:cNvSpPr txBox="1"/>
          <p:nvPr/>
        </p:nvSpPr>
        <p:spPr>
          <a:xfrm>
            <a:off x="7354824"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3 × 3.75</a:t>
            </a:r>
          </a:p>
        </p:txBody>
      </p:sp>
      <p:sp>
        <p:nvSpPr>
          <p:cNvPr id="42" name="TextBox 41"/>
          <p:cNvSpPr txBox="1"/>
          <p:nvPr/>
        </p:nvSpPr>
        <p:spPr>
          <a:xfrm>
            <a:off x="7354824"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Red = 11.25</a:t>
            </a:r>
          </a:p>
        </p:txBody>
      </p:sp>
      <p:sp>
        <p:nvSpPr>
          <p:cNvPr id="43" name="TextBox 42"/>
          <p:cNvSpPr txBox="1"/>
          <p:nvPr/>
        </p:nvSpPr>
        <p:spPr>
          <a:xfrm>
            <a:off x="5215128"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11.25 red counters</a:t>
            </a:r>
          </a:p>
        </p:txBody>
      </p:sp>
      <p:sp>
        <p:nvSpPr>
          <p:cNvPr id="44" name="Rectangle 43"/>
          <p:cNvSpPr/>
          <p:nvPr/>
        </p:nvSpPr>
        <p:spPr>
          <a:xfrm>
            <a:off x="5004816"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5096256"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share 56 counters in ratio 3:5. How many more does B get than A?</a:t>
            </a:r>
          </a:p>
        </p:txBody>
      </p:sp>
      <p:sp>
        <p:nvSpPr>
          <p:cNvPr id="46" name="TextBox 45"/>
          <p:cNvSpPr txBox="1"/>
          <p:nvPr/>
        </p:nvSpPr>
        <p:spPr>
          <a:xfrm>
            <a:off x="5215128"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 + 5 = 8 parts</a:t>
            </a:r>
          </a:p>
        </p:txBody>
      </p:sp>
      <p:sp>
        <p:nvSpPr>
          <p:cNvPr id="47" name="TextBox 46"/>
          <p:cNvSpPr txBox="1"/>
          <p:nvPr/>
        </p:nvSpPr>
        <p:spPr>
          <a:xfrm>
            <a:off x="5215128"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8 = 7</a:t>
            </a:r>
          </a:p>
        </p:txBody>
      </p:sp>
      <p:sp>
        <p:nvSpPr>
          <p:cNvPr id="48" name="TextBox 47"/>
          <p:cNvSpPr txBox="1"/>
          <p:nvPr/>
        </p:nvSpPr>
        <p:spPr>
          <a:xfrm>
            <a:off x="5215128" y="7150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 = 3 × 7 = 21</a:t>
            </a:r>
          </a:p>
        </p:txBody>
      </p:sp>
      <p:sp>
        <p:nvSpPr>
          <p:cNvPr id="49" name="TextBox 48"/>
          <p:cNvSpPr txBox="1"/>
          <p:nvPr/>
        </p:nvSpPr>
        <p:spPr>
          <a:xfrm>
            <a:off x="7354824"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5 × 7 = 35</a:t>
            </a:r>
          </a:p>
        </p:txBody>
      </p:sp>
      <p:sp>
        <p:nvSpPr>
          <p:cNvPr id="50" name="TextBox 49"/>
          <p:cNvSpPr txBox="1"/>
          <p:nvPr/>
        </p:nvSpPr>
        <p:spPr>
          <a:xfrm>
            <a:off x="7354824"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21 + 35 = 56</a:t>
            </a:r>
          </a:p>
        </p:txBody>
      </p:sp>
      <p:sp>
        <p:nvSpPr>
          <p:cNvPr id="51" name="TextBox 50"/>
          <p:cNvSpPr txBox="1"/>
          <p:nvPr/>
        </p:nvSpPr>
        <p:spPr>
          <a:xfrm>
            <a:off x="5215128"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B gets 56 more counters</a:t>
            </a:r>
          </a:p>
        </p:txBody>
      </p:sp>
      <p:sp>
        <p:nvSpPr>
          <p:cNvPr id="52" name="Rectangle 51"/>
          <p:cNvSpPr/>
          <p:nvPr/>
        </p:nvSpPr>
        <p:spPr>
          <a:xfrm>
            <a:off x="9625584" y="1234440"/>
            <a:ext cx="4588764" cy="420624"/>
          </a:xfrm>
          <a:prstGeom prst="rect">
            <a:avLst/>
          </a:prstGeom>
          <a:solidFill>
            <a:srgbClr val="754B8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689592" y="1261872"/>
            <a:ext cx="4474464" cy="347472"/>
          </a:xfrm>
          <a:prstGeom prst="rect">
            <a:avLst/>
          </a:prstGeom>
          <a:noFill/>
        </p:spPr>
        <p:txBody>
          <a:bodyPr wrap="square" tIns="36576" bIns="36576" anchor="t">
            <a:spAutoFit/>
          </a:bodyPr>
          <a:lstStyle/>
          <a:p>
            <a:pPr>
              <a:lnSpc>
                <a:spcPts val="2160"/>
              </a:lnSpc>
              <a:spcBef>
                <a:spcPts val="0"/>
              </a:spcBef>
              <a:spcAft>
                <a:spcPts val="0"/>
              </a:spcAft>
              <a:defRPr sz="2000" b="1">
                <a:solidFill>
                  <a:srgbClr val="FFFFFF"/>
                </a:solidFill>
                <a:latin typeface="Arial"/>
              </a:defRPr>
            </a:pPr>
            <a:r>
              <a:t>Confidence</a:t>
            </a:r>
          </a:p>
        </p:txBody>
      </p:sp>
      <p:sp>
        <p:nvSpPr>
          <p:cNvPr id="54" name="Rectangle 53"/>
          <p:cNvSpPr/>
          <p:nvPr/>
        </p:nvSpPr>
        <p:spPr>
          <a:xfrm>
            <a:off x="9625584" y="1719072"/>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717024" y="1755648"/>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1.  A group has 65 people. Adults:children = 5:8. How many more children than adults?</a:t>
            </a:r>
          </a:p>
        </p:txBody>
      </p:sp>
      <p:sp>
        <p:nvSpPr>
          <p:cNvPr id="56" name="TextBox 55"/>
          <p:cNvSpPr txBox="1"/>
          <p:nvPr/>
        </p:nvSpPr>
        <p:spPr>
          <a:xfrm>
            <a:off x="9835896"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 + 8 = 13 parts</a:t>
            </a:r>
          </a:p>
        </p:txBody>
      </p:sp>
      <p:sp>
        <p:nvSpPr>
          <p:cNvPr id="57" name="TextBox 56"/>
          <p:cNvSpPr txBox="1"/>
          <p:nvPr/>
        </p:nvSpPr>
        <p:spPr>
          <a:xfrm>
            <a:off x="9835896"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65 ÷ 13 = 5</a:t>
            </a:r>
          </a:p>
        </p:txBody>
      </p:sp>
      <p:sp>
        <p:nvSpPr>
          <p:cNvPr id="58" name="TextBox 57"/>
          <p:cNvSpPr txBox="1"/>
          <p:nvPr/>
        </p:nvSpPr>
        <p:spPr>
          <a:xfrm>
            <a:off x="9835896" y="3145536"/>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Adults = 5 × 5 = 25</a:t>
            </a:r>
          </a:p>
        </p:txBody>
      </p:sp>
      <p:sp>
        <p:nvSpPr>
          <p:cNvPr id="59" name="TextBox 58"/>
          <p:cNvSpPr txBox="1"/>
          <p:nvPr/>
        </p:nvSpPr>
        <p:spPr>
          <a:xfrm>
            <a:off x="11975592" y="2578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40</a:t>
            </a:r>
          </a:p>
        </p:txBody>
      </p:sp>
      <p:sp>
        <p:nvSpPr>
          <p:cNvPr id="60" name="TextBox 59"/>
          <p:cNvSpPr txBox="1"/>
          <p:nvPr/>
        </p:nvSpPr>
        <p:spPr>
          <a:xfrm>
            <a:off x="11975592" y="2862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8 − 5 = 3</a:t>
            </a:r>
          </a:p>
        </p:txBody>
      </p:sp>
      <p:sp>
        <p:nvSpPr>
          <p:cNvPr id="61" name="TextBox 60"/>
          <p:cNvSpPr txBox="1"/>
          <p:nvPr/>
        </p:nvSpPr>
        <p:spPr>
          <a:xfrm>
            <a:off x="9835896" y="3392424"/>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3 more children</a:t>
            </a:r>
          </a:p>
        </p:txBody>
      </p:sp>
      <p:sp>
        <p:nvSpPr>
          <p:cNvPr id="62" name="Rectangle 61"/>
          <p:cNvSpPr/>
          <p:nvPr/>
        </p:nvSpPr>
        <p:spPr>
          <a:xfrm>
            <a:off x="9625584" y="3721608"/>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9717024" y="3758184"/>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2.  Two ribbon lengths are in ratio 3:8 and differ by 35 cm. Find their total length.</a:t>
            </a:r>
          </a:p>
        </p:txBody>
      </p:sp>
      <p:sp>
        <p:nvSpPr>
          <p:cNvPr id="64" name="TextBox 63"/>
          <p:cNvSpPr txBox="1"/>
          <p:nvPr/>
        </p:nvSpPr>
        <p:spPr>
          <a:xfrm>
            <a:off x="9835896"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8 − 3 = 5 parts</a:t>
            </a:r>
          </a:p>
        </p:txBody>
      </p:sp>
      <p:sp>
        <p:nvSpPr>
          <p:cNvPr id="65" name="TextBox 64"/>
          <p:cNvSpPr txBox="1"/>
          <p:nvPr/>
        </p:nvSpPr>
        <p:spPr>
          <a:xfrm>
            <a:off x="9835896"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35 ÷ 5 = 7</a:t>
            </a:r>
          </a:p>
        </p:txBody>
      </p:sp>
      <p:sp>
        <p:nvSpPr>
          <p:cNvPr id="66" name="TextBox 65"/>
          <p:cNvSpPr txBox="1"/>
          <p:nvPr/>
        </p:nvSpPr>
        <p:spPr>
          <a:xfrm>
            <a:off x="9835896" y="5148072"/>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Short = 3 × 7 = 21</a:t>
            </a:r>
          </a:p>
        </p:txBody>
      </p:sp>
      <p:sp>
        <p:nvSpPr>
          <p:cNvPr id="67" name="TextBox 66"/>
          <p:cNvSpPr txBox="1"/>
          <p:nvPr/>
        </p:nvSpPr>
        <p:spPr>
          <a:xfrm>
            <a:off x="11975592" y="4581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Long = 8 × 7 = 56</a:t>
            </a:r>
          </a:p>
        </p:txBody>
      </p:sp>
      <p:sp>
        <p:nvSpPr>
          <p:cNvPr id="68" name="TextBox 67"/>
          <p:cNvSpPr txBox="1"/>
          <p:nvPr/>
        </p:nvSpPr>
        <p:spPr>
          <a:xfrm>
            <a:off x="11975592" y="4864608"/>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56 − 21 = 35</a:t>
            </a:r>
          </a:p>
        </p:txBody>
      </p:sp>
      <p:sp>
        <p:nvSpPr>
          <p:cNvPr id="69" name="TextBox 68"/>
          <p:cNvSpPr txBox="1"/>
          <p:nvPr/>
        </p:nvSpPr>
        <p:spPr>
          <a:xfrm>
            <a:off x="9835896" y="5394960"/>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length = 35 cm</a:t>
            </a:r>
          </a:p>
        </p:txBody>
      </p:sp>
      <p:sp>
        <p:nvSpPr>
          <p:cNvPr id="70" name="Rectangle 69"/>
          <p:cNvSpPr/>
          <p:nvPr/>
        </p:nvSpPr>
        <p:spPr>
          <a:xfrm>
            <a:off x="9625584" y="5724144"/>
            <a:ext cx="4588764" cy="1929384"/>
          </a:xfrm>
          <a:prstGeom prst="rect">
            <a:avLst/>
          </a:prstGeom>
          <a:solidFill>
            <a:srgbClr val="FFFFFF"/>
          </a:solidFill>
          <a:ln w="7620">
            <a:solidFill>
              <a:srgbClr val="D8E0E6"/>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9717024" y="5760720"/>
            <a:ext cx="4392168" cy="841248"/>
          </a:xfrm>
          <a:prstGeom prst="rect">
            <a:avLst/>
          </a:prstGeom>
          <a:noFill/>
        </p:spPr>
        <p:txBody>
          <a:bodyPr wrap="square" tIns="36576" bIns="36576" anchor="t">
            <a:spAutoFit/>
          </a:bodyPr>
          <a:lstStyle/>
          <a:p>
            <a:pPr>
              <a:lnSpc>
                <a:spcPts val="1944"/>
              </a:lnSpc>
              <a:spcBef>
                <a:spcPts val="0"/>
              </a:spcBef>
              <a:spcAft>
                <a:spcPts val="0"/>
              </a:spcAft>
              <a:defRPr sz="1800" b="1">
                <a:solidFill>
                  <a:srgbClr val="182B3A"/>
                </a:solidFill>
                <a:latin typeface="Arial"/>
              </a:defRPr>
            </a:pPr>
            <a:r>
              <a:t>3.  A and B have tokens in ratio 7:4. A has 42. How many tokens in total?</a:t>
            </a:r>
          </a:p>
        </p:txBody>
      </p:sp>
      <p:sp>
        <p:nvSpPr>
          <p:cNvPr id="72" name="TextBox 71"/>
          <p:cNvSpPr txBox="1"/>
          <p:nvPr/>
        </p:nvSpPr>
        <p:spPr>
          <a:xfrm>
            <a:off x="9835896"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7 = 6</a:t>
            </a:r>
          </a:p>
        </p:txBody>
      </p:sp>
      <p:sp>
        <p:nvSpPr>
          <p:cNvPr id="73" name="TextBox 72"/>
          <p:cNvSpPr txBox="1"/>
          <p:nvPr/>
        </p:nvSpPr>
        <p:spPr>
          <a:xfrm>
            <a:off x="9835896" y="6867144"/>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B = 4 × 6 = 24</a:t>
            </a:r>
          </a:p>
        </p:txBody>
      </p:sp>
      <p:sp>
        <p:nvSpPr>
          <p:cNvPr id="74" name="TextBox 73"/>
          <p:cNvSpPr txBox="1"/>
          <p:nvPr/>
        </p:nvSpPr>
        <p:spPr>
          <a:xfrm>
            <a:off x="11975592" y="6583679"/>
            <a:ext cx="2029968" cy="310896"/>
          </a:xfrm>
          <a:prstGeom prst="rect">
            <a:avLst/>
          </a:prstGeom>
          <a:noFill/>
        </p:spPr>
        <p:txBody>
          <a:bodyPr wrap="none" lIns="0" rIns="0" tIns="0" bIns="0">
            <a:spAutoFit/>
          </a:bodyPr>
          <a:lstStyle/>
          <a:p>
            <a:pPr algn="l">
              <a:lnSpc>
                <a:spcPts val="2128"/>
              </a:lnSpc>
              <a:spcBef>
                <a:spcPts val="0"/>
              </a:spcBef>
              <a:spcAft>
                <a:spcPts val="0"/>
              </a:spcAft>
              <a:defRPr sz="1900" b="0">
                <a:solidFill>
                  <a:srgbClr val="182B3A"/>
                </a:solidFill>
                <a:latin typeface="Arial"/>
              </a:defRPr>
            </a:pPr>
            <a:r>
              <a:t>42 + 4 = 46</a:t>
            </a:r>
          </a:p>
        </p:txBody>
      </p:sp>
      <p:sp>
        <p:nvSpPr>
          <p:cNvPr id="75" name="TextBox 74"/>
          <p:cNvSpPr txBox="1"/>
          <p:nvPr/>
        </p:nvSpPr>
        <p:spPr>
          <a:xfrm>
            <a:off x="9835896" y="7397496"/>
            <a:ext cx="4206240" cy="256032"/>
          </a:xfrm>
          <a:prstGeom prst="rect">
            <a:avLst/>
          </a:prstGeom>
          <a:noFill/>
        </p:spPr>
        <p:txBody>
          <a:bodyPr wrap="none" lIns="0" rIns="0" tIns="0" bIns="0">
            <a:spAutoFit/>
          </a:bodyPr>
          <a:lstStyle/>
          <a:p>
            <a:pPr algn="l">
              <a:lnSpc>
                <a:spcPts val="2016"/>
              </a:lnSpc>
              <a:spcBef>
                <a:spcPts val="0"/>
              </a:spcBef>
              <a:spcAft>
                <a:spcPts val="0"/>
              </a:spcAft>
              <a:defRPr sz="1800" b="0">
                <a:solidFill>
                  <a:srgbClr val="182B3A"/>
                </a:solidFill>
                <a:latin typeface="Arial"/>
              </a:defRPr>
            </a:pPr>
            <a:r>
              <a:t>Total = 46 tokens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1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M04-S04</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£60 in the ratio 2:3. How much does Jo receive?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3:2. A recipe uses 180 g of flour. What is the total mass of the mixture?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ropes have lengths in the ratio 1:3. The longer rope is 12 m longer than the shorter. Find their total length.</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drink contains 600 ml of juice and water in the ratio 1:4. How much juice is in the drink?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5:3. There are 16 more adult tickets. How many child tickets are sold?</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counters are in the ratio 1:5. There are 24 fewer red than blue. Find the number of each colour.</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96 cm ribbon is cut into two pieces in the ratio 5:7. Find the length of each piece.</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have lengths in the ratio 4:7. Rope B is 15 m longer than rope A. How long is rope A?</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Ava and Leo share £100 in the ratio 7:3. How much more does Ava receive than Leo?</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blue beads are in the ratio 3:5. There are 12 more blue beads than red beads. How many blue beads are there?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Mia and Ben receive money in the ratio 2:5. Mia receives £18. How much do they receive altogether?</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have masses in the ratio 5:4. There is 300 g of sugar. Find the total mass.</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sugar are mixed in the ratio 5:2. There is 150 g more flour than sugar. How much flour is there?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Juice and water are mixed in the ratio 2:7. There are 63 litres of water. How much juice is needed?</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1,400 ml drink has water and juice in the ratio 6:1. Find the volume of each ingredient.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2:1. Practice lasts 36 minutes. How long is the rest?</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Travel and sightseeing take 55 minutes in total, in the ratio 3:8. How long is spent sightseeing?</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Practice and rest times are in the ratio 6:5. Practice lasts 54 minutes. Find the total session time.</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2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M04-S05</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snack mix contains raisins and nuts in the ratio 1:7. Find the mass of raisins.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walk has uphill and level sections in the length ratio 1:8. The uphill section is 3 km. Find the total distance.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Flour and butter have masses in the ratio 9:2. There is 280 g less butter than flour. Find the total mass.</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Fences A and B have lengths in the ratio 7:6. Fence A is 9 m longer than fence B. How long is fence B?</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490 ml paint mix contains red and white paint in the ratio 3:4. Find the volume of red paint.</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Tanks A and B hold water in the ratio 3:8. Tank A holds 15 litres. How much more water is in B than A?</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45-minute lesson has instruction and practice in the ratio 1:2. How long is spent practising?</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Eve and Max share money in the ratio 8:5. Eve gets £21 more than Max. How much does Max get?</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Reading and writing take 78 minutes in total, in the ratio 4:9. Find both times.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Kim and Ali receive money in the ratio 7:5. Kim gets £56. How much does Ali receive?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5:1. Studying takes 48 minutes longer than breaks. How long are the breaks?</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pieces of wood have lengths in the ratio 5:9. The longer is 28 cm longer. Find the longer length.</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Red and white flowers are in the ratio 4:5. There are 7 more white than red. How many are white?</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300 g mix contains raisins and oats in the ratio 7:8. Find the mass of raisins.</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Nia and Tom share £208 in the ratio 7:9. How much more does Tom get than Nia?</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mixed in the ratio 1:3. There is 180 ml of white paint. Find the total volume.</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sheep and goats in the ratio 9:1. There are 72 sheep. How many animals are there altogether?</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9:8. There are 81 adult tickets. Find the total number of tickets.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3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M04-S06</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club has 80 junior and senior members in the ratio 7:3. How many members are seniors?</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Study and break times are in the ratio 8:1. Study takes 64 minutes. Find the total time.</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sessions have durations in the ratio 1:10. The second lasts 72 minutes longer. Find the first session’s duration.</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coffee are mixed in the ratio 4:1. There is 100 ml of coffee. Find the volume of milk.</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Rods A and B have lengths in the ratio 5:8. Rod B is 21 mm longer than rod A. How long is rod B?</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Kai and May receive money in the ratio 9:5. May gets £60. Find their combined amount.</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Dan and Pat share money in the ratio 1:6. Pat gets £70 more than Dan. How much does Dan get?</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recipe uses flour and butter in the ratio 4:3 by mass. There are 90 g of butter. Find the total mass.</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farm has 143 sheep and goats in the ratio 10:3. How many more sheep are there than goats?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Action and dialogue times are in the ratio 5:6. Dialogue lasts 15 minutes longer. How long is the dialogue?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Green and yellow beads are in the ratio 7:8. There are 3 more yellow than green. How many are yellow?</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Milk and water have volumes in the ratio 10:7. There is 500 ml of milk. How much less water is there than milk?</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800 g fruit mix contains apples and pears in the ratio 7:1. Find the mass of pears.</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Sam and Jo share £90 in the ratio 9:1. How much does Jo receive?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paths have lengths in the ratio 4:9. The longer is 35 m longer. Find their combined length.</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Wire pieces A and B have lengths in the ratio 7:6. A is 84 cm long. Find the length of B.</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Concentrate and water are mixed in the ratio 2:9. There is 675 ml of water. Find the total volume.</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950 g mix contains oats and raisins in the ratio 10:9. Find the mass of each ingredient.</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4630400" cy="73152"/>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64592"/>
            <a:ext cx="13990320" cy="457200"/>
          </a:xfrm>
          <a:prstGeom prst="rect">
            <a:avLst/>
          </a:prstGeom>
          <a:noFill/>
        </p:spPr>
        <p:txBody>
          <a:bodyPr wrap="square" lIns="54864" tIns="22860" rIns="54864" bIns="22860">
            <a:spAutoFit/>
          </a:bodyPr>
          <a:lstStyle/>
          <a:p>
            <a:pPr>
              <a:lnSpc>
                <a:spcPts val="2940"/>
              </a:lnSpc>
              <a:spcBef>
                <a:spcPts val="0"/>
              </a:spcBef>
              <a:spcAft>
                <a:spcPts val="0"/>
              </a:spcAft>
              <a:defRPr sz="2800" b="1">
                <a:solidFill>
                  <a:srgbClr val="182B3A"/>
                </a:solidFill>
                <a:latin typeface="Arial"/>
              </a:defRPr>
            </a:pPr>
            <a:r>
              <a:t>Ratio: sharing and missing amounts</a:t>
            </a:r>
          </a:p>
        </p:txBody>
      </p:sp>
      <p:sp>
        <p:nvSpPr>
          <p:cNvPr id="4" name="TextBox 3"/>
          <p:cNvSpPr txBox="1"/>
          <p:nvPr/>
        </p:nvSpPr>
        <p:spPr>
          <a:xfrm>
            <a:off x="320040" y="704088"/>
            <a:ext cx="13990320" cy="347472"/>
          </a:xfrm>
          <a:prstGeom prst="rect">
            <a:avLst/>
          </a:prstGeom>
          <a:noFill/>
        </p:spPr>
        <p:txBody>
          <a:bodyPr wrap="square" lIns="54864" tIns="22860" rIns="54864" bIns="22860">
            <a:spAutoFit/>
          </a:bodyPr>
          <a:lstStyle/>
          <a:p>
            <a:pPr>
              <a:lnSpc>
                <a:spcPts val="1575"/>
              </a:lnSpc>
              <a:spcBef>
                <a:spcPts val="0"/>
              </a:spcBef>
              <a:spcAft>
                <a:spcPts val="0"/>
              </a:spcAft>
              <a:defRPr sz="1500" b="0">
                <a:solidFill>
                  <a:srgbClr val="526472"/>
                </a:solidFill>
                <a:latin typeface="Arial"/>
              </a:defRPr>
            </a:pPr>
            <a:r>
              <a:t>Independent practice 4 • Choose a column. Show your working and check your answers.</a:t>
            </a:r>
          </a:p>
        </p:txBody>
      </p:sp>
      <p:sp>
        <p:nvSpPr>
          <p:cNvPr id="5" name="TextBox 4"/>
          <p:cNvSpPr txBox="1"/>
          <p:nvPr/>
        </p:nvSpPr>
        <p:spPr>
          <a:xfrm>
            <a:off x="320040" y="7973568"/>
            <a:ext cx="1078992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GCSE Maths revision • No calculator • Show your working.</a:t>
            </a:r>
          </a:p>
        </p:txBody>
      </p:sp>
      <p:sp>
        <p:nvSpPr>
          <p:cNvPr id="6" name="TextBox 5"/>
          <p:cNvSpPr txBox="1"/>
          <p:nvPr/>
        </p:nvSpPr>
        <p:spPr>
          <a:xfrm>
            <a:off x="11155680" y="7973568"/>
            <a:ext cx="3108960" cy="210312"/>
          </a:xfrm>
          <a:prstGeom prst="rect">
            <a:avLst/>
          </a:prstGeom>
          <a:noFill/>
        </p:spPr>
        <p:txBody>
          <a:bodyPr wrap="square" lIns="54864" tIns="22860" rIns="54864" bIns="22860">
            <a:spAutoFit/>
          </a:bodyPr>
          <a:lstStyle/>
          <a:p>
            <a:pPr>
              <a:lnSpc>
                <a:spcPts val="1155"/>
              </a:lnSpc>
              <a:spcBef>
                <a:spcPts val="0"/>
              </a:spcBef>
              <a:spcAft>
                <a:spcPts val="0"/>
              </a:spcAft>
              <a:defRPr sz="1100" b="0">
                <a:solidFill>
                  <a:srgbClr val="526472"/>
                </a:solidFill>
                <a:latin typeface="Arial"/>
              </a:defRPr>
            </a:pPr>
            <a:r>
              <a:t>M04-S07</a:t>
            </a:r>
          </a:p>
        </p:txBody>
      </p:sp>
      <p:sp>
        <p:nvSpPr>
          <p:cNvPr id="7" name="Rectangle 6"/>
          <p:cNvSpPr/>
          <p:nvPr/>
        </p:nvSpPr>
        <p:spPr>
          <a:xfrm>
            <a:off x="320040" y="1115568"/>
            <a:ext cx="4640580" cy="420624"/>
          </a:xfrm>
          <a:prstGeom prst="rect">
            <a:avLst/>
          </a:prstGeom>
          <a:solidFill>
            <a:srgbClr val="17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Start</a:t>
            </a:r>
          </a:p>
        </p:txBody>
      </p:sp>
      <p:sp>
        <p:nvSpPr>
          <p:cNvPr id="9" name="Rectangle 8"/>
          <p:cNvSpPr/>
          <p:nvPr/>
        </p:nvSpPr>
        <p:spPr>
          <a:xfrm>
            <a:off x="4983480" y="1115568"/>
            <a:ext cx="4640580" cy="420624"/>
          </a:xfrm>
          <a:prstGeom prst="rect">
            <a:avLst/>
          </a:prstGeom>
          <a:solidFill>
            <a:srgbClr val="3559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1091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Build</a:t>
            </a:r>
          </a:p>
        </p:txBody>
      </p:sp>
      <p:sp>
        <p:nvSpPr>
          <p:cNvPr id="11" name="Rectangle 10"/>
          <p:cNvSpPr/>
          <p:nvPr/>
        </p:nvSpPr>
        <p:spPr>
          <a:xfrm>
            <a:off x="9646920" y="1115568"/>
            <a:ext cx="4640580" cy="420624"/>
          </a:xfrm>
          <a:prstGeom prst="rect">
            <a:avLst/>
          </a:prstGeom>
          <a:solidFill>
            <a:srgbClr val="754B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74352" y="1147572"/>
            <a:ext cx="4581144" cy="329184"/>
          </a:xfrm>
          <a:prstGeom prst="rect">
            <a:avLst/>
          </a:prstGeom>
          <a:noFill/>
        </p:spPr>
        <p:txBody>
          <a:bodyPr wrap="square" lIns="54864" tIns="22860" rIns="54864" bIns="22860">
            <a:spAutoFit/>
          </a:bodyPr>
          <a:lstStyle/>
          <a:p>
            <a:pPr>
              <a:lnSpc>
                <a:spcPts val="1995"/>
              </a:lnSpc>
              <a:spcBef>
                <a:spcPts val="0"/>
              </a:spcBef>
              <a:spcAft>
                <a:spcPts val="0"/>
              </a:spcAft>
              <a:defRPr sz="1900" b="1">
                <a:solidFill>
                  <a:srgbClr val="FFFFFF"/>
                </a:solidFill>
                <a:latin typeface="Arial"/>
              </a:defRPr>
            </a:pPr>
            <a:r>
              <a:t>Confidence</a:t>
            </a:r>
          </a:p>
        </p:txBody>
      </p:sp>
      <p:sp>
        <p:nvSpPr>
          <p:cNvPr id="13" name="Rectangle 12"/>
          <p:cNvSpPr/>
          <p:nvPr/>
        </p:nvSpPr>
        <p:spPr>
          <a:xfrm>
            <a:off x="32004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747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1</a:t>
            </a:r>
          </a:p>
        </p:txBody>
      </p:sp>
      <p:sp>
        <p:nvSpPr>
          <p:cNvPr id="15" name="TextBox 14"/>
          <p:cNvSpPr txBox="1"/>
          <p:nvPr/>
        </p:nvSpPr>
        <p:spPr>
          <a:xfrm>
            <a:off x="64922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30-minute trip has walking and cycling times in the ratio 1:2. Find the cycling time.</a:t>
            </a:r>
          </a:p>
        </p:txBody>
      </p:sp>
      <p:sp>
        <p:nvSpPr>
          <p:cNvPr id="16" name="Rectangle 15"/>
          <p:cNvSpPr/>
          <p:nvPr/>
        </p:nvSpPr>
        <p:spPr>
          <a:xfrm>
            <a:off x="498348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1091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1</a:t>
            </a:r>
          </a:p>
        </p:txBody>
      </p:sp>
      <p:sp>
        <p:nvSpPr>
          <p:cNvPr id="18" name="TextBox 17"/>
          <p:cNvSpPr txBox="1"/>
          <p:nvPr/>
        </p:nvSpPr>
        <p:spPr>
          <a:xfrm>
            <a:off x="531266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charities receive money in the ratio 7:9. The second gets £108. How much is donated altogether?</a:t>
            </a:r>
          </a:p>
        </p:txBody>
      </p:sp>
      <p:sp>
        <p:nvSpPr>
          <p:cNvPr id="19" name="Rectangle 18"/>
          <p:cNvSpPr/>
          <p:nvPr/>
        </p:nvSpPr>
        <p:spPr>
          <a:xfrm>
            <a:off x="9646920" y="158191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74352" y="16550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1</a:t>
            </a:r>
          </a:p>
        </p:txBody>
      </p:sp>
      <p:sp>
        <p:nvSpPr>
          <p:cNvPr id="21" name="TextBox 20"/>
          <p:cNvSpPr txBox="1"/>
          <p:nvPr/>
        </p:nvSpPr>
        <p:spPr>
          <a:xfrm>
            <a:off x="9976104" y="16413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tanks hold water in the ratio 1:11. The second holds 90 litres more. How much water is in the first?</a:t>
            </a:r>
          </a:p>
        </p:txBody>
      </p:sp>
      <p:sp>
        <p:nvSpPr>
          <p:cNvPr id="22" name="Rectangle 21"/>
          <p:cNvSpPr/>
          <p:nvPr/>
        </p:nvSpPr>
        <p:spPr>
          <a:xfrm>
            <a:off x="320040" y="258775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2</a:t>
            </a:r>
          </a:p>
        </p:txBody>
      </p:sp>
      <p:sp>
        <p:nvSpPr>
          <p:cNvPr id="24" name="TextBox 23"/>
          <p:cNvSpPr txBox="1"/>
          <p:nvPr/>
        </p:nvSpPr>
        <p:spPr>
          <a:xfrm>
            <a:off x="64922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buckets contain 20 litres of water in total, in the ratio 1:3. Find the amount in each bucket.</a:t>
            </a:r>
          </a:p>
        </p:txBody>
      </p:sp>
      <p:sp>
        <p:nvSpPr>
          <p:cNvPr id="25" name="Rectangle 24"/>
          <p:cNvSpPr/>
          <p:nvPr/>
        </p:nvSpPr>
        <p:spPr>
          <a:xfrm>
            <a:off x="4983480" y="258775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2</a:t>
            </a:r>
          </a:p>
        </p:txBody>
      </p:sp>
      <p:sp>
        <p:nvSpPr>
          <p:cNvPr id="27" name="TextBox 26"/>
          <p:cNvSpPr txBox="1"/>
          <p:nvPr/>
        </p:nvSpPr>
        <p:spPr>
          <a:xfrm>
            <a:off x="531266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tray has 102 red and yellow plants in the ratio 8:9. How many plants are yellow?</a:t>
            </a:r>
          </a:p>
        </p:txBody>
      </p:sp>
      <p:sp>
        <p:nvSpPr>
          <p:cNvPr id="28" name="Rectangle 27"/>
          <p:cNvSpPr/>
          <p:nvPr/>
        </p:nvSpPr>
        <p:spPr>
          <a:xfrm>
            <a:off x="9646920" y="258775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74352" y="266090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2</a:t>
            </a:r>
          </a:p>
        </p:txBody>
      </p:sp>
      <p:sp>
        <p:nvSpPr>
          <p:cNvPr id="30" name="TextBox 29"/>
          <p:cNvSpPr txBox="1"/>
          <p:nvPr/>
        </p:nvSpPr>
        <p:spPr>
          <a:xfrm>
            <a:off x="9976104" y="264718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Nuts and raisins are mixed in the ratio 11:7 by mass. There are 210 g of raisins. Find the total mass.</a:t>
            </a:r>
          </a:p>
        </p:txBody>
      </p:sp>
      <p:sp>
        <p:nvSpPr>
          <p:cNvPr id="31" name="Rectangle 30"/>
          <p:cNvSpPr/>
          <p:nvPr/>
        </p:nvSpPr>
        <p:spPr>
          <a:xfrm>
            <a:off x="32004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4747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3</a:t>
            </a:r>
          </a:p>
        </p:txBody>
      </p:sp>
      <p:sp>
        <p:nvSpPr>
          <p:cNvPr id="33" name="TextBox 32"/>
          <p:cNvSpPr txBox="1"/>
          <p:nvPr/>
        </p:nvSpPr>
        <p:spPr>
          <a:xfrm>
            <a:off x="64922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Ribbons A and B have lengths in the ratio 2:3. B is 12 cm longer than A. How long is ribbon B?</a:t>
            </a:r>
          </a:p>
        </p:txBody>
      </p:sp>
      <p:sp>
        <p:nvSpPr>
          <p:cNvPr id="34" name="Rectangle 33"/>
          <p:cNvSpPr/>
          <p:nvPr/>
        </p:nvSpPr>
        <p:spPr>
          <a:xfrm>
            <a:off x="498348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1091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3</a:t>
            </a:r>
          </a:p>
        </p:txBody>
      </p:sp>
      <p:sp>
        <p:nvSpPr>
          <p:cNvPr id="36" name="TextBox 35"/>
          <p:cNvSpPr txBox="1"/>
          <p:nvPr/>
        </p:nvSpPr>
        <p:spPr>
          <a:xfrm>
            <a:off x="531266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Mixing and baking times are in the ratio 1:5. Baking takes 25 minutes. How long does mixing take?</a:t>
            </a:r>
          </a:p>
        </p:txBody>
      </p:sp>
      <p:sp>
        <p:nvSpPr>
          <p:cNvPr id="37" name="Rectangle 36"/>
          <p:cNvSpPr/>
          <p:nvPr/>
        </p:nvSpPr>
        <p:spPr>
          <a:xfrm>
            <a:off x="9646920" y="359359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674352" y="366674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3</a:t>
            </a:r>
          </a:p>
        </p:txBody>
      </p:sp>
      <p:sp>
        <p:nvSpPr>
          <p:cNvPr id="39" name="TextBox 38"/>
          <p:cNvSpPr txBox="1"/>
          <p:nvPr/>
        </p:nvSpPr>
        <p:spPr>
          <a:xfrm>
            <a:off x="9976104" y="365302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ribbons have a total length of 285 cm, in the ratio 8:11. Find the difference in their lengths.</a:t>
            </a:r>
          </a:p>
        </p:txBody>
      </p:sp>
      <p:sp>
        <p:nvSpPr>
          <p:cNvPr id="40" name="Rectangle 39"/>
          <p:cNvSpPr/>
          <p:nvPr/>
        </p:nvSpPr>
        <p:spPr>
          <a:xfrm>
            <a:off x="320040" y="459943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747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4</a:t>
            </a:r>
          </a:p>
        </p:txBody>
      </p:sp>
      <p:sp>
        <p:nvSpPr>
          <p:cNvPr id="42" name="TextBox 41"/>
          <p:cNvSpPr txBox="1"/>
          <p:nvPr/>
        </p:nvSpPr>
        <p:spPr>
          <a:xfrm>
            <a:off x="64922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Noor and Will receive money in the ratio 7:4. Will gets £48. Find Noor’s share.</a:t>
            </a:r>
          </a:p>
        </p:txBody>
      </p:sp>
      <p:sp>
        <p:nvSpPr>
          <p:cNvPr id="43" name="Rectangle 42"/>
          <p:cNvSpPr/>
          <p:nvPr/>
        </p:nvSpPr>
        <p:spPr>
          <a:xfrm>
            <a:off x="4983480" y="459943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1091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4</a:t>
            </a:r>
          </a:p>
        </p:txBody>
      </p:sp>
      <p:sp>
        <p:nvSpPr>
          <p:cNvPr id="45" name="TextBox 44"/>
          <p:cNvSpPr txBox="1"/>
          <p:nvPr/>
        </p:nvSpPr>
        <p:spPr>
          <a:xfrm>
            <a:off x="531266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Two sacks have masses in the ratio 7:3. The heavier weighs 16 kg more. How much does the lighter weigh?</a:t>
            </a:r>
          </a:p>
        </p:txBody>
      </p:sp>
      <p:sp>
        <p:nvSpPr>
          <p:cNvPr id="46" name="Rectangle 45"/>
          <p:cNvSpPr/>
          <p:nvPr/>
        </p:nvSpPr>
        <p:spPr>
          <a:xfrm>
            <a:off x="9646920" y="459943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674352" y="467258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4</a:t>
            </a:r>
          </a:p>
        </p:txBody>
      </p:sp>
      <p:sp>
        <p:nvSpPr>
          <p:cNvPr id="48" name="TextBox 47"/>
          <p:cNvSpPr txBox="1"/>
          <p:nvPr/>
        </p:nvSpPr>
        <p:spPr>
          <a:xfrm>
            <a:off x="9976104" y="465886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Adult and child tickets sell in the ratio 11:2. There are 143 adult tickets. How many more adult tickets are sold?</a:t>
            </a:r>
          </a:p>
        </p:txBody>
      </p:sp>
      <p:sp>
        <p:nvSpPr>
          <p:cNvPr id="49" name="Rectangle 48"/>
          <p:cNvSpPr/>
          <p:nvPr/>
        </p:nvSpPr>
        <p:spPr>
          <a:xfrm>
            <a:off x="32004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5</a:t>
            </a:r>
          </a:p>
        </p:txBody>
      </p:sp>
      <p:sp>
        <p:nvSpPr>
          <p:cNvPr id="51" name="TextBox 50"/>
          <p:cNvSpPr txBox="1"/>
          <p:nvPr/>
        </p:nvSpPr>
        <p:spPr>
          <a:xfrm>
            <a:off x="64922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Dark and milk chocolates are in the ratio 1:4. There are 36 more milk than dark. How many are milk?</a:t>
            </a:r>
          </a:p>
        </p:txBody>
      </p:sp>
      <p:sp>
        <p:nvSpPr>
          <p:cNvPr id="52" name="Rectangle 51"/>
          <p:cNvSpPr/>
          <p:nvPr/>
        </p:nvSpPr>
        <p:spPr>
          <a:xfrm>
            <a:off x="498348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01091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5</a:t>
            </a:r>
          </a:p>
        </p:txBody>
      </p:sp>
      <p:sp>
        <p:nvSpPr>
          <p:cNvPr id="54" name="TextBox 53"/>
          <p:cNvSpPr txBox="1"/>
          <p:nvPr/>
        </p:nvSpPr>
        <p:spPr>
          <a:xfrm>
            <a:off x="531266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Blue and white paint are in the ratio 2:5. There are 9 litres more white than blue. How much is blue?</a:t>
            </a:r>
          </a:p>
        </p:txBody>
      </p:sp>
      <p:sp>
        <p:nvSpPr>
          <p:cNvPr id="55" name="Rectangle 54"/>
          <p:cNvSpPr/>
          <p:nvPr/>
        </p:nvSpPr>
        <p:spPr>
          <a:xfrm>
            <a:off x="9646920" y="5605272"/>
            <a:ext cx="4640580" cy="1005840"/>
          </a:xfrm>
          <a:prstGeom prst="rect">
            <a:avLst/>
          </a:prstGeom>
          <a:solidFill>
            <a:srgbClr val="FFFFFF"/>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674352" y="567842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5</a:t>
            </a:r>
          </a:p>
        </p:txBody>
      </p:sp>
      <p:sp>
        <p:nvSpPr>
          <p:cNvPr id="57" name="TextBox 56"/>
          <p:cNvSpPr txBox="1"/>
          <p:nvPr/>
        </p:nvSpPr>
        <p:spPr>
          <a:xfrm>
            <a:off x="9976104" y="566470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Leah and Omar receive money in the ratio 3:11. Leah gets £64 less than Omar. How much does Omar get?</a:t>
            </a:r>
          </a:p>
        </p:txBody>
      </p:sp>
      <p:sp>
        <p:nvSpPr>
          <p:cNvPr id="58" name="Rectangle 57"/>
          <p:cNvSpPr/>
          <p:nvPr/>
        </p:nvSpPr>
        <p:spPr>
          <a:xfrm>
            <a:off x="320040" y="6611112"/>
            <a:ext cx="4640580" cy="1005840"/>
          </a:xfrm>
          <a:prstGeom prst="rect">
            <a:avLst/>
          </a:prstGeom>
          <a:solidFill>
            <a:srgbClr val="EDF6F5"/>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747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176B73"/>
                </a:solidFill>
                <a:latin typeface="Arial"/>
              </a:defRPr>
            </a:pPr>
            <a:r>
              <a:t>6</a:t>
            </a:r>
          </a:p>
        </p:txBody>
      </p:sp>
      <p:sp>
        <p:nvSpPr>
          <p:cNvPr id="60" name="TextBox 59"/>
          <p:cNvSpPr txBox="1"/>
          <p:nvPr/>
        </p:nvSpPr>
        <p:spPr>
          <a:xfrm>
            <a:off x="64922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A 560 g bread mix has white and brown flour in the ratio 4:3. Find the mass of brown flour.</a:t>
            </a:r>
          </a:p>
        </p:txBody>
      </p:sp>
      <p:sp>
        <p:nvSpPr>
          <p:cNvPr id="61" name="Rectangle 60"/>
          <p:cNvSpPr/>
          <p:nvPr/>
        </p:nvSpPr>
        <p:spPr>
          <a:xfrm>
            <a:off x="4983480" y="6611112"/>
            <a:ext cx="4640580" cy="1005840"/>
          </a:xfrm>
          <a:prstGeom prst="rect">
            <a:avLst/>
          </a:prstGeom>
          <a:solidFill>
            <a:srgbClr val="EFF3FA"/>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01091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3559A2"/>
                </a:solidFill>
                <a:latin typeface="Arial"/>
              </a:defRPr>
            </a:pPr>
            <a:r>
              <a:t>6</a:t>
            </a:r>
          </a:p>
        </p:txBody>
      </p:sp>
      <p:sp>
        <p:nvSpPr>
          <p:cNvPr id="63" name="TextBox 62"/>
          <p:cNvSpPr txBox="1"/>
          <p:nvPr/>
        </p:nvSpPr>
        <p:spPr>
          <a:xfrm>
            <a:off x="531266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Ropes A and B total 56 m, with lengths in the ratio 5:3. Find the length of B.</a:t>
            </a:r>
          </a:p>
        </p:txBody>
      </p:sp>
      <p:sp>
        <p:nvSpPr>
          <p:cNvPr id="64" name="Rectangle 63"/>
          <p:cNvSpPr/>
          <p:nvPr/>
        </p:nvSpPr>
        <p:spPr>
          <a:xfrm>
            <a:off x="9646920" y="6611112"/>
            <a:ext cx="4640580" cy="1005840"/>
          </a:xfrm>
          <a:prstGeom prst="rect">
            <a:avLst/>
          </a:prstGeom>
          <a:solidFill>
            <a:srgbClr val="F5F0F7"/>
          </a:solidFill>
          <a:ln w="7620">
            <a:solidFill>
              <a:srgbClr val="D8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674352" y="6684264"/>
            <a:ext cx="274320" cy="365760"/>
          </a:xfrm>
          <a:prstGeom prst="rect">
            <a:avLst/>
          </a:prstGeom>
          <a:noFill/>
        </p:spPr>
        <p:txBody>
          <a:bodyPr wrap="square" lIns="54864" tIns="22860" rIns="54864" bIns="22860">
            <a:spAutoFit/>
          </a:bodyPr>
          <a:lstStyle/>
          <a:p>
            <a:pPr>
              <a:lnSpc>
                <a:spcPts val="1785"/>
              </a:lnSpc>
              <a:spcBef>
                <a:spcPts val="0"/>
              </a:spcBef>
              <a:spcAft>
                <a:spcPts val="0"/>
              </a:spcAft>
              <a:defRPr sz="1700" b="1">
                <a:solidFill>
                  <a:srgbClr val="754B87"/>
                </a:solidFill>
                <a:latin typeface="Arial"/>
              </a:defRPr>
            </a:pPr>
            <a:r>
              <a:t>6</a:t>
            </a:r>
          </a:p>
        </p:txBody>
      </p:sp>
      <p:sp>
        <p:nvSpPr>
          <p:cNvPr id="66" name="TextBox 65"/>
          <p:cNvSpPr txBox="1"/>
          <p:nvPr/>
        </p:nvSpPr>
        <p:spPr>
          <a:xfrm>
            <a:off x="9976104" y="6670548"/>
            <a:ext cx="4261104" cy="886968"/>
          </a:xfrm>
          <a:prstGeom prst="rect">
            <a:avLst/>
          </a:prstGeom>
          <a:noFill/>
        </p:spPr>
        <p:txBody>
          <a:bodyPr wrap="square" lIns="54864" tIns="22860" rIns="54864" bIns="22860">
            <a:spAutoFit/>
          </a:bodyPr>
          <a:lstStyle/>
          <a:p>
            <a:pPr>
              <a:lnSpc>
                <a:spcPts val="1890"/>
              </a:lnSpc>
              <a:spcBef>
                <a:spcPts val="0"/>
              </a:spcBef>
              <a:spcAft>
                <a:spcPts val="0"/>
              </a:spcAft>
              <a:defRPr sz="1800" b="0">
                <a:solidFill>
                  <a:srgbClr val="182B3A"/>
                </a:solidFill>
                <a:latin typeface="Arial"/>
              </a:defRPr>
            </a:pPr>
            <a:r>
              <a:t>Work and breaks take 90 minutes in total, in the ratio 7:2. How much longer is spent working than on breaks?</a:t>
            </a:r>
          </a:p>
        </p:txBody>
      </p:sp>
      <p:sp>
        <p:nvSpPr>
          <p:cNvPr id="67" name="Progression curved arrow: Thread 1 to Thread 2"/>
          <p:cNvSpPr/>
          <p:nvPr/>
        </p:nvSpPr>
        <p:spPr>
          <a:xfrm>
            <a:off x="4649723" y="7552294"/>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Progression curved arrow: Thread 2 to Thread 3"/>
          <p:cNvSpPr/>
          <p:nvPr/>
        </p:nvSpPr>
        <p:spPr>
          <a:xfrm>
            <a:off x="9265327" y="7543800"/>
            <a:ext cx="621792" cy="314053"/>
          </a:xfrm>
          <a:custGeom>
            <a:avLst/>
            <a:gdLst/>
            <a:ahLst/>
            <a:cxnLst/>
            <a:rect l="0" t="0" r="100000" b="100000"/>
            <a:pathLst>
              <a:path w="100000" h="100000" fill="none">
                <a:moveTo>
                  <a:pt x="6970" y="48439"/>
                </a:moveTo>
                <a:cubicBezTo>
                  <a:pt x="40678" y="114499"/>
                  <a:pt x="73026" y="88145"/>
                  <a:pt x="93030" y="13799"/>
                </a:cubicBezTo>
              </a:path>
              <a:path w="100000" h="100000" fill="none">
                <a:moveTo>
                  <a:pt x="69018" y="40431"/>
                </a:moveTo>
                <a:lnTo>
                  <a:pt x="93030" y="13799"/>
                </a:lnTo>
                <a:lnTo>
                  <a:pt x="92217" y="66207"/>
                </a:lnTo>
              </a:path>
            </a:pathLst>
          </a:custGeom>
          <a:noFill/>
          <a:ln w="64449" cap="rnd">
            <a:solidFill>
              <a:schemeClr val="accent6">
                <a:lumMod val="60000"/>
                <a:lumOff val="40000"/>
              </a:schemeClr>
            </a:solidFill>
            <a:roun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GCSE Maths Revision Starters</dc:title>
  <dc:subject>Lattice multiplication, bus stop division and application to exam problems</dc:subject>
  <dc:creator>Maths teaching resources</dc:creator>
  <cp:keywords/>
  <dc:description>generated using python-pptx</dc:description>
  <cp:revision>1</cp:revision>
  <dcterms:created xsi:type="dcterms:W3CDTF">2013-01-27T09:14:16Z</dcterms:created>
  <dcterms:modified xsi:type="dcterms:W3CDTF">2026-09-24T15:49:41Z</dcterms:modified>
  <cp:category/>
</cp:coreProperties>
</file>