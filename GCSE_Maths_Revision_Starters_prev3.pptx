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worked demo</a:t>
            </a:r>
          </a:p>
          <a:p/>
          <a:p>
            <a:r>
              <a:t>Guided: 43 × 6 = 258. Core: 34 × 12 = 408. Depth: 4,312 × 56 = 241,472.</a:t>
            </a:r>
          </a:p>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14, 11, 4, 2. The extra 1 in the fourth and fifth sums is a carry. Read the result in reverse order: 241472.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1</a:t>
            </a:r>
          </a:p>
          <a:p/>
          <a:p>
            <a:r>
              <a:t>Thread 1: Guided: 53 × 7 = **371**</a:t>
            </a:r>
          </a:p>
          <a:p/>
          <a:p>
            <a:r>
              <a:t>Thread 2: Core: 24 × 15 = **360**</a:t>
            </a:r>
          </a:p>
          <a:p/>
          <a:p>
            <a:r>
              <a:t>Thread 3: Depth: 1,245 × 32 = **39,840**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2</a:t>
            </a:r>
          </a:p>
          <a:p/>
          <a:p>
            <a:r>
              <a:t>Thread 1: Guided: 84 × 5 = **420**</a:t>
            </a:r>
          </a:p>
          <a:p/>
          <a:p>
            <a:r>
              <a:t>Thread 2: Core: 63 × 28 = **1,764**</a:t>
            </a:r>
          </a:p>
          <a:p/>
          <a:p>
            <a:r>
              <a:t>Thread 3: Depth: 3,142 × 45 = **141,390**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1</a:t>
            </a:r>
          </a:p>
          <a:p/>
          <a:p>
            <a:r>
              <a:t>### Thread 1: Guided</a:t>
            </a:r>
          </a:p>
          <a:p/>
          <a:p>
            <a:r>
              <a:t>1. 32 × 4 = **128**</a:t>
            </a:r>
          </a:p>
          <a:p/>
          <a:p>
            <a:r>
              <a:t>2. 61 × 8 = **488**</a:t>
            </a:r>
          </a:p>
          <a:p/>
          <a:p>
            <a:r>
              <a:t>3. 45 × 3 = **135**</a:t>
            </a:r>
          </a:p>
          <a:p/>
          <a:p>
            <a:r>
              <a:t>4. 72 × 6 = **432**</a:t>
            </a:r>
          </a:p>
          <a:p/>
          <a:p>
            <a:r>
              <a:t>5. 83 × 7 = **581**</a:t>
            </a:r>
          </a:p>
          <a:p/>
          <a:p>
            <a:r>
              <a:t>6. 95 × 9 = **855**</a:t>
            </a:r>
          </a:p>
          <a:p/>
          <a:p>
            <a:r>
              <a:t>### Thread 2: Core</a:t>
            </a:r>
          </a:p>
          <a:p/>
          <a:p>
            <a:r>
              <a:t>1. 42 × 13 = **546**</a:t>
            </a:r>
          </a:p>
          <a:p/>
          <a:p>
            <a:r>
              <a:t>2. 26 × 34 = **884**</a:t>
            </a:r>
          </a:p>
          <a:p/>
          <a:p>
            <a:r>
              <a:t>3. 51 × 22 = **1,122**</a:t>
            </a:r>
          </a:p>
          <a:p/>
          <a:p>
            <a:r>
              <a:t>4. 63 × 41 = **2,583**</a:t>
            </a:r>
          </a:p>
          <a:p/>
          <a:p>
            <a:r>
              <a:t>5. 75 × 16 = **1,200**</a:t>
            </a:r>
          </a:p>
          <a:p/>
          <a:p>
            <a:r>
              <a:t>6. 82 × 57 = **4,674**</a:t>
            </a:r>
          </a:p>
          <a:p/>
          <a:p>
            <a:r>
              <a:t>### Thread 3: Depth</a:t>
            </a:r>
          </a:p>
          <a:p/>
          <a:p>
            <a:r>
              <a:t>1. 342 × 15 = **5,130**</a:t>
            </a:r>
          </a:p>
          <a:p/>
          <a:p>
            <a:r>
              <a:t>2. 612 × 24 = **14,688**</a:t>
            </a:r>
          </a:p>
          <a:p/>
          <a:p>
            <a:r>
              <a:t>3. 1,234 × 12 = **14,808**</a:t>
            </a:r>
          </a:p>
          <a:p/>
          <a:p>
            <a:r>
              <a:t>4. 2,105 × 34 = **71,570**</a:t>
            </a:r>
          </a:p>
          <a:p/>
          <a:p>
            <a:r>
              <a:t>5. 4,316 × 52 = **224,432**</a:t>
            </a:r>
          </a:p>
          <a:p/>
          <a:p>
            <a:r>
              <a:t>6. 7,029 × 68 = **477,972**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2</a:t>
            </a:r>
          </a:p>
          <a:p/>
          <a:p>
            <a:r>
              <a:t>### Thread 1: Guided</a:t>
            </a:r>
          </a:p>
          <a:p/>
          <a:p>
            <a:r>
              <a:t>1. 24 × 6 = **144**</a:t>
            </a:r>
          </a:p>
          <a:p/>
          <a:p>
            <a:r>
              <a:t>2. 57 × 4 = **228**</a:t>
            </a:r>
          </a:p>
          <a:p/>
          <a:p>
            <a:r>
              <a:t>3. 68 × 3 = **204**</a:t>
            </a:r>
          </a:p>
          <a:p/>
          <a:p>
            <a:r>
              <a:t>4. 39 × 7 = **273**</a:t>
            </a:r>
          </a:p>
          <a:p/>
          <a:p>
            <a:r>
              <a:t>5. 86 × 5 = **430**</a:t>
            </a:r>
          </a:p>
          <a:p/>
          <a:p>
            <a:r>
              <a:t>6. 74 × 8 = **592**</a:t>
            </a:r>
          </a:p>
          <a:p/>
          <a:p>
            <a:r>
              <a:t>### Thread 2: Core</a:t>
            </a:r>
          </a:p>
          <a:p/>
          <a:p>
            <a:r>
              <a:t>1. 23 × 14 = **322**</a:t>
            </a:r>
          </a:p>
          <a:p/>
          <a:p>
            <a:r>
              <a:t>2. 46 × 25 = **1,150**</a:t>
            </a:r>
          </a:p>
          <a:p/>
          <a:p>
            <a:r>
              <a:t>3. 37 × 42 = **1,554**</a:t>
            </a:r>
          </a:p>
          <a:p/>
          <a:p>
            <a:r>
              <a:t>4. 58 × 36 = **2,088**</a:t>
            </a:r>
          </a:p>
          <a:p/>
          <a:p>
            <a:r>
              <a:t>5. 64 × 27 = **1,728**</a:t>
            </a:r>
          </a:p>
          <a:p/>
          <a:p>
            <a:r>
              <a:t>6. 79 × 53 = **4,187**</a:t>
            </a:r>
          </a:p>
          <a:p/>
          <a:p>
            <a:r>
              <a:t>### Thread 3: Depth</a:t>
            </a:r>
          </a:p>
          <a:p/>
          <a:p>
            <a:r>
              <a:t>1. 425 × 23 = **9,775**</a:t>
            </a:r>
          </a:p>
          <a:p/>
          <a:p>
            <a:r>
              <a:t>2. 708 × 46 = **32,568**</a:t>
            </a:r>
          </a:p>
          <a:p/>
          <a:p>
            <a:r>
              <a:t>3. 1,326 × 24 = **31,824**</a:t>
            </a:r>
          </a:p>
          <a:p/>
          <a:p>
            <a:r>
              <a:t>4. 3,048 × 35 = **106,680**</a:t>
            </a:r>
          </a:p>
          <a:p/>
          <a:p>
            <a:r>
              <a:t>5. 5,607 × 42 = **235,494**</a:t>
            </a:r>
          </a:p>
          <a:p/>
          <a:p>
            <a:r>
              <a:t>6. 8,214 × 67 = **550,338**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3</a:t>
            </a:r>
          </a:p>
          <a:p/>
          <a:p>
            <a:r>
              <a:t>### Thread 1: Guided</a:t>
            </a:r>
          </a:p>
          <a:p/>
          <a:p>
            <a:r>
              <a:t>1. 46 × 7 = **322**</a:t>
            </a:r>
          </a:p>
          <a:p/>
          <a:p>
            <a:r>
              <a:t>2. 29 × 8 = **232**</a:t>
            </a:r>
          </a:p>
          <a:p/>
          <a:p>
            <a:r>
              <a:t>3. 65 × 4 = **260**</a:t>
            </a:r>
          </a:p>
          <a:p/>
          <a:p>
            <a:r>
              <a:t>4. 78 × 6 = **468**</a:t>
            </a:r>
          </a:p>
          <a:p/>
          <a:p>
            <a:r>
              <a:t>5. 93 × 5 = **465**</a:t>
            </a:r>
          </a:p>
          <a:p/>
          <a:p>
            <a:r>
              <a:t>6. 87 × 9 = **783**</a:t>
            </a:r>
          </a:p>
          <a:p/>
          <a:p>
            <a:r>
              <a:t>### Thread 2: Core</a:t>
            </a:r>
          </a:p>
          <a:p/>
          <a:p>
            <a:r>
              <a:t>1. 35 × 24 = **840**</a:t>
            </a:r>
          </a:p>
          <a:p/>
          <a:p>
            <a:r>
              <a:t>2. 62 × 17 = **1,054**</a:t>
            </a:r>
          </a:p>
          <a:p/>
          <a:p>
            <a:r>
              <a:t>3. 48 × 39 = **1,872**</a:t>
            </a:r>
          </a:p>
          <a:p/>
          <a:p>
            <a:r>
              <a:t>4. 76 × 28 = **2,128**</a:t>
            </a:r>
          </a:p>
          <a:p/>
          <a:p>
            <a:r>
              <a:t>5. 54 × 46 = **2,484**</a:t>
            </a:r>
          </a:p>
          <a:p/>
          <a:p>
            <a:r>
              <a:t>6. 89 × 65 = **5,785**</a:t>
            </a:r>
          </a:p>
          <a:p/>
          <a:p>
            <a:r>
              <a:t>### Thread 3: Depth</a:t>
            </a:r>
          </a:p>
          <a:p/>
          <a:p>
            <a:r>
              <a:t>1. 536 × 34 = **18,224**</a:t>
            </a:r>
          </a:p>
          <a:p/>
          <a:p>
            <a:r>
              <a:t>2. 809 × 27 = **21,843**</a:t>
            </a:r>
          </a:p>
          <a:p/>
          <a:p>
            <a:r>
              <a:t>3. 2,047 × 36 = **73,692**</a:t>
            </a:r>
          </a:p>
          <a:p/>
          <a:p>
            <a:r>
              <a:t>4. 4,158 × 47 = **195,426**</a:t>
            </a:r>
          </a:p>
          <a:p/>
          <a:p>
            <a:r>
              <a:t>5. 6,309 × 58 = **365,922**</a:t>
            </a:r>
          </a:p>
          <a:p/>
          <a:p>
            <a:r>
              <a:t>6. 9,274 × 63 = **584,262**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4</a:t>
            </a:r>
          </a:p>
          <a:p/>
          <a:p>
            <a:r>
              <a:t>### Thread 1: Guided</a:t>
            </a:r>
          </a:p>
          <a:p/>
          <a:p>
            <a:r>
              <a:t>1. 38 × 5 = **190**</a:t>
            </a:r>
          </a:p>
          <a:p/>
          <a:p>
            <a:r>
              <a:t>2. 56 × 9 = **504**</a:t>
            </a:r>
          </a:p>
          <a:p/>
          <a:p>
            <a:r>
              <a:t>3. 67 × 8 = **536**</a:t>
            </a:r>
          </a:p>
          <a:p/>
          <a:p>
            <a:r>
              <a:t>4. 49 × 6 = **294**</a:t>
            </a:r>
          </a:p>
          <a:p/>
          <a:p>
            <a:r>
              <a:t>5. 82 × 4 = **328**</a:t>
            </a:r>
          </a:p>
          <a:p/>
          <a:p>
            <a:r>
              <a:t>6. 97 × 7 = **679**</a:t>
            </a:r>
          </a:p>
          <a:p/>
          <a:p>
            <a:r>
              <a:t>### Thread 2: Core</a:t>
            </a:r>
          </a:p>
          <a:p/>
          <a:p>
            <a:r>
              <a:t>1. 27 × 35 = **945**</a:t>
            </a:r>
          </a:p>
          <a:p/>
          <a:p>
            <a:r>
              <a:t>2. 43 × 26 = **1,118**</a:t>
            </a:r>
          </a:p>
          <a:p/>
          <a:p>
            <a:r>
              <a:t>3. 69 × 48 = **3,312**</a:t>
            </a:r>
          </a:p>
          <a:p/>
          <a:p>
            <a:r>
              <a:t>4. 85 × 37 = **3,145**</a:t>
            </a:r>
          </a:p>
          <a:p/>
          <a:p>
            <a:r>
              <a:t>5. 74 × 59 = **4,366**</a:t>
            </a:r>
          </a:p>
          <a:p/>
          <a:p>
            <a:r>
              <a:t>6. 96 × 68 = **6,528**</a:t>
            </a:r>
          </a:p>
          <a:p/>
          <a:p>
            <a:r>
              <a:t>### Thread 3: Depth</a:t>
            </a:r>
          </a:p>
          <a:p/>
          <a:p>
            <a:r>
              <a:t>1. 647 × 45 = **29,115**</a:t>
            </a:r>
          </a:p>
          <a:p/>
          <a:p>
            <a:r>
              <a:t>2. 902 × 38 = **34,276**</a:t>
            </a:r>
          </a:p>
          <a:p/>
          <a:p>
            <a:r>
              <a:t>3. 3,156 × 48 = **151,488**</a:t>
            </a:r>
          </a:p>
          <a:p/>
          <a:p>
            <a:r>
              <a:t>4. 5,027 × 59 = **296,593**</a:t>
            </a:r>
          </a:p>
          <a:p/>
          <a:p>
            <a:r>
              <a:t>5. 7,418 × 64 = **474,752**</a:t>
            </a:r>
          </a:p>
          <a:p/>
          <a:p>
            <a:r>
              <a:t>6. 8,639 × 76 = **656,564**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worked demo</a:t>
            </a:r>
          </a:p>
          <a:p/>
          <a:p>
            <a:r>
              <a:t>Guided: 21. Core: 24 r 1. Depth: 966.8.</a:t>
            </a:r>
          </a:p>
          <a:p/>
          <a:p>
            <a:r>
              <a:t>The editable bus stop diagrams show each quotient digit above its matching dividend digit. Show carried remainders as small prefixes. Preserve internal zeros, but omit an unnecessary leading zero in the final answer. For Depth, align decimal points and show the appended zero and the carried 4. Checks: 21 × 3 = 63; 24 × 6 + 1 = 145; 966.8 × 5 = 4,834.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1</a:t>
            </a:r>
          </a:p>
          <a:p/>
          <a:p>
            <a:r>
              <a:t>Thread 1: Guided: 88 ÷ 4 = **22**</a:t>
            </a:r>
          </a:p>
          <a:p/>
          <a:p>
            <a:r>
              <a:t>Thread 2: Core: 130 ÷ 4 = **32 r 2**</a:t>
            </a:r>
          </a:p>
          <a:p/>
          <a:p>
            <a:r>
              <a:t>Thread 3: Depth: 5,122 ÷ 4 = **1,280.5**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2</a:t>
            </a:r>
          </a:p>
          <a:p/>
          <a:p>
            <a:r>
              <a:t>Thread 1: Guided: 66 ÷ 3 = **22**</a:t>
            </a:r>
          </a:p>
          <a:p/>
          <a:p>
            <a:r>
              <a:t>Thread 2: Core: 227 ÷ 6 = **37 r 5**</a:t>
            </a:r>
          </a:p>
          <a:p/>
          <a:p>
            <a:r>
              <a:t>Thread 3: Depth: 3,827 ÷ 8 = **478.375**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1</a:t>
            </a:r>
          </a:p>
          <a:p/>
          <a:p>
            <a:r>
              <a:t>### Thread 1: Guided</a:t>
            </a:r>
          </a:p>
          <a:p/>
          <a:p>
            <a:r>
              <a:t>1. 48 ÷ 4 = **12**</a:t>
            </a:r>
          </a:p>
          <a:p/>
          <a:p>
            <a:r>
              <a:t>2. 69 ÷ 3 = **23**</a:t>
            </a:r>
          </a:p>
          <a:p/>
          <a:p>
            <a:r>
              <a:t>3. 84 ÷ 2 = **42**</a:t>
            </a:r>
          </a:p>
          <a:p/>
          <a:p>
            <a:r>
              <a:t>4. 96 ÷ 3 = **32**</a:t>
            </a:r>
          </a:p>
          <a:p/>
          <a:p>
            <a:r>
              <a:t>5. 55 ÷ 5 = **11**</a:t>
            </a:r>
          </a:p>
          <a:p/>
          <a:p>
            <a:r>
              <a:t>6. 88 ÷ 8 = **11**</a:t>
            </a:r>
          </a:p>
          <a:p/>
          <a:p>
            <a:r>
              <a:t>### Thread 2: Core</a:t>
            </a:r>
          </a:p>
          <a:p/>
          <a:p>
            <a:r>
              <a:t>1. 72 ÷ 3 = **24**</a:t>
            </a:r>
          </a:p>
          <a:p/>
          <a:p>
            <a:r>
              <a:t>2. 135 ÷ 5 = **27**</a:t>
            </a:r>
          </a:p>
          <a:p/>
          <a:p>
            <a:r>
              <a:t>3. 172 ÷ 4 = **43**</a:t>
            </a:r>
          </a:p>
          <a:p/>
          <a:p>
            <a:r>
              <a:t>4. 218 ÷ 6 = **36 r 2**</a:t>
            </a:r>
          </a:p>
          <a:p/>
          <a:p>
            <a:r>
              <a:t>5. 341 ÷ 7 = **48 r 5**</a:t>
            </a:r>
          </a:p>
          <a:p/>
          <a:p>
            <a:r>
              <a:t>6. 502 ÷ 8 = **62 r 6**</a:t>
            </a:r>
          </a:p>
          <a:p/>
          <a:p>
            <a:r>
              <a:t>### Thread 3: Depth</a:t>
            </a:r>
          </a:p>
          <a:p/>
          <a:p>
            <a:r>
              <a:t>1. 514 ÷ 4 = **128.5**</a:t>
            </a:r>
          </a:p>
          <a:p/>
          <a:p>
            <a:r>
              <a:t>2. 785 ÷ 2 = **392.5**</a:t>
            </a:r>
          </a:p>
          <a:p/>
          <a:p>
            <a:r>
              <a:t>3. 1,425 ÷ 5 = **285**</a:t>
            </a:r>
          </a:p>
          <a:p/>
          <a:p>
            <a:r>
              <a:t>4. 3,819 ÷ 6 = **636.5**</a:t>
            </a:r>
          </a:p>
          <a:p/>
          <a:p>
            <a:r>
              <a:t>5. 4,516 ÷ 8 = **564.5**</a:t>
            </a:r>
          </a:p>
          <a:p/>
          <a:p>
            <a:r>
              <a:t>6. 8,143 ÷ 5 = **1,628.6**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2</a:t>
            </a:r>
          </a:p>
          <a:p/>
          <a:p>
            <a:r>
              <a:t>### Thread 1: Guided</a:t>
            </a:r>
          </a:p>
          <a:p/>
          <a:p>
            <a:r>
              <a:t>1. 46 ÷ 2 = **23**</a:t>
            </a:r>
          </a:p>
          <a:p/>
          <a:p>
            <a:r>
              <a:t>2. 93 ÷ 3 = **31**</a:t>
            </a:r>
          </a:p>
          <a:p/>
          <a:p>
            <a:r>
              <a:t>3. 66 ÷ 6 = **11**</a:t>
            </a:r>
          </a:p>
          <a:p/>
          <a:p>
            <a:r>
              <a:t>4. 884 ÷ 4 = **221**</a:t>
            </a:r>
          </a:p>
          <a:p/>
          <a:p>
            <a:r>
              <a:t>5. 555 ÷ 5 = **111**</a:t>
            </a:r>
          </a:p>
          <a:p/>
          <a:p>
            <a:r>
              <a:t>6. 639 ÷ 3 = **213**</a:t>
            </a:r>
          </a:p>
          <a:p/>
          <a:p>
            <a:r>
              <a:t>### Thread 2: Core</a:t>
            </a:r>
          </a:p>
          <a:p/>
          <a:p>
            <a:r>
              <a:t>1. 84 ÷ 3 = **28**</a:t>
            </a:r>
          </a:p>
          <a:p/>
          <a:p>
            <a:r>
              <a:t>2. 156 ÷ 4 = **39**</a:t>
            </a:r>
          </a:p>
          <a:p/>
          <a:p>
            <a:r>
              <a:t>3. 235 ÷ 6 = **39 r 1**</a:t>
            </a:r>
          </a:p>
          <a:p/>
          <a:p>
            <a:r>
              <a:t>4. 326 ÷ 7 = **46 r 4**</a:t>
            </a:r>
          </a:p>
          <a:p/>
          <a:p>
            <a:r>
              <a:t>5. 458 ÷ 8 = **57 r 2**</a:t>
            </a:r>
          </a:p>
          <a:p/>
          <a:p>
            <a:r>
              <a:t>6. 617 ÷ 9 = **68 r 5**</a:t>
            </a:r>
          </a:p>
          <a:p/>
          <a:p>
            <a:r>
              <a:t>### Thread 3: Depth</a:t>
            </a:r>
          </a:p>
          <a:p/>
          <a:p>
            <a:r>
              <a:t>1. 627 ÷ 4 = **156.75**</a:t>
            </a:r>
          </a:p>
          <a:p/>
          <a:p>
            <a:r>
              <a:t>2. 943 ÷ 2 = **471.5**</a:t>
            </a:r>
          </a:p>
          <a:p/>
          <a:p>
            <a:r>
              <a:t>3. 2,137 ÷ 5 = **427.4**</a:t>
            </a:r>
          </a:p>
          <a:p/>
          <a:p>
            <a:r>
              <a:t>4. 4,606 ÷ 4 = **1,151.5**</a:t>
            </a:r>
          </a:p>
          <a:p/>
          <a:p>
            <a:r>
              <a:t>5. 5,729 ÷ 8 = **716.125**</a:t>
            </a:r>
          </a:p>
          <a:p/>
          <a:p>
            <a:r>
              <a:t>6. 9,031 ÷ 5 = **1,806.2**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3</a:t>
            </a:r>
          </a:p>
          <a:p/>
          <a:p>
            <a:r>
              <a:t>### Thread 1: Guided</a:t>
            </a:r>
          </a:p>
          <a:p/>
          <a:p>
            <a:r>
              <a:t>1. 82 ÷ 2 = **41**</a:t>
            </a:r>
          </a:p>
          <a:p/>
          <a:p>
            <a:r>
              <a:t>2. 963 ÷ 3 = **321**</a:t>
            </a:r>
          </a:p>
          <a:p/>
          <a:p>
            <a:r>
              <a:t>3. 848 ÷ 4 = **212**</a:t>
            </a:r>
          </a:p>
          <a:p/>
          <a:p>
            <a:r>
              <a:t>4. 777 ÷ 7 = **111**</a:t>
            </a:r>
          </a:p>
          <a:p/>
          <a:p>
            <a:r>
              <a:t>5. 888 ÷ 8 = **111**</a:t>
            </a:r>
          </a:p>
          <a:p/>
          <a:p>
            <a:r>
              <a:t>6. 606 ÷ 3 = **202**</a:t>
            </a:r>
          </a:p>
          <a:p/>
          <a:p>
            <a:r>
              <a:t>### Thread 2: Core</a:t>
            </a:r>
          </a:p>
          <a:p/>
          <a:p>
            <a:r>
              <a:t>1. 95 ÷ 4 = **23 r 3**</a:t>
            </a:r>
          </a:p>
          <a:p/>
          <a:p>
            <a:r>
              <a:t>2. 184 ÷ 5 = **36 r 4**</a:t>
            </a:r>
          </a:p>
          <a:p/>
          <a:p>
            <a:r>
              <a:t>3. 267 ÷ 8 = **33 r 3**</a:t>
            </a:r>
          </a:p>
          <a:p/>
          <a:p>
            <a:r>
              <a:t>4. 397 ÷ 6 = **66 r 1**</a:t>
            </a:r>
          </a:p>
          <a:p/>
          <a:p>
            <a:r>
              <a:t>5. 523 ÷ 7 = **74 r 5**</a:t>
            </a:r>
          </a:p>
          <a:p/>
          <a:p>
            <a:r>
              <a:t>6. 748 ÷ 9 = **83 r 1**</a:t>
            </a:r>
          </a:p>
          <a:p/>
          <a:p>
            <a:r>
              <a:t>### Thread 3: Depth</a:t>
            </a:r>
          </a:p>
          <a:p/>
          <a:p>
            <a:r>
              <a:t>1. 738 ÷ 4 = **184.5**</a:t>
            </a:r>
          </a:p>
          <a:p/>
          <a:p>
            <a:r>
              <a:t>2. 859 ÷ 2 = **429.5**</a:t>
            </a:r>
          </a:p>
          <a:p/>
          <a:p>
            <a:r>
              <a:t>3. 3,264 ÷ 5 = **652.8**</a:t>
            </a:r>
          </a:p>
          <a:p/>
          <a:p>
            <a:r>
              <a:t>4. 5,178 ÷ 4 = **1,294.5**</a:t>
            </a:r>
          </a:p>
          <a:p/>
          <a:p>
            <a:r>
              <a:t>5. 6,843 ÷ 8 = **855.375**</a:t>
            </a:r>
          </a:p>
          <a:p/>
          <a:p>
            <a:r>
              <a:t>6. 7,249 ÷ 5 = **1,449.8**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4</a:t>
            </a:r>
          </a:p>
          <a:p/>
          <a:p>
            <a:r>
              <a:t>### Thread 1: Guided</a:t>
            </a:r>
          </a:p>
          <a:p/>
          <a:p>
            <a:r>
              <a:t>1. 62 ÷ 2 = **31**</a:t>
            </a:r>
          </a:p>
          <a:p/>
          <a:p>
            <a:r>
              <a:t>2. 936 ÷ 3 = **312**</a:t>
            </a:r>
          </a:p>
          <a:p/>
          <a:p>
            <a:r>
              <a:t>3. 448 ÷ 4 = **112**</a:t>
            </a:r>
          </a:p>
          <a:p/>
          <a:p>
            <a:r>
              <a:t>4. 505 ÷ 5 = **101**</a:t>
            </a:r>
          </a:p>
          <a:p/>
          <a:p>
            <a:r>
              <a:t>5. 666 ÷ 6 = **111**</a:t>
            </a:r>
          </a:p>
          <a:p/>
          <a:p>
            <a:r>
              <a:t>6. 999 ÷ 9 = **111**</a:t>
            </a:r>
          </a:p>
          <a:p/>
          <a:p>
            <a:r>
              <a:t>### Thread 2: Core</a:t>
            </a:r>
          </a:p>
          <a:p/>
          <a:p>
            <a:r>
              <a:t>1. 108 ÷ 4 = **27**</a:t>
            </a:r>
          </a:p>
          <a:p/>
          <a:p>
            <a:r>
              <a:t>2. 245 ÷ 6 = **40 r 5**</a:t>
            </a:r>
          </a:p>
          <a:p/>
          <a:p>
            <a:r>
              <a:t>3. 314 ÷ 7 = **44 r 6**</a:t>
            </a:r>
          </a:p>
          <a:p/>
          <a:p>
            <a:r>
              <a:t>4. 467 ÷ 8 = **58 r 3**</a:t>
            </a:r>
          </a:p>
          <a:p/>
          <a:p>
            <a:r>
              <a:t>5. 586 ÷ 9 = **65 r 1**</a:t>
            </a:r>
          </a:p>
          <a:p/>
          <a:p>
            <a:r>
              <a:t>6. 703 ÷ 5 = **140 r 3**</a:t>
            </a:r>
          </a:p>
          <a:p/>
          <a:p>
            <a:r>
              <a:t>### Thread 3: Depth</a:t>
            </a:r>
          </a:p>
          <a:p/>
          <a:p>
            <a:r>
              <a:t>1. 849 ÷ 4 = **212.25**</a:t>
            </a:r>
          </a:p>
          <a:p/>
          <a:p>
            <a:r>
              <a:t>2. 967 ÷ 2 = **483.5**</a:t>
            </a:r>
          </a:p>
          <a:p/>
          <a:p>
            <a:r>
              <a:t>3. 4,376 ÷ 5 = **875.2**</a:t>
            </a:r>
          </a:p>
          <a:p/>
          <a:p>
            <a:r>
              <a:t>4. 6,286 ÷ 4 = **1,571.5**</a:t>
            </a:r>
          </a:p>
          <a:p/>
          <a:p>
            <a:r>
              <a:t>5. 7,957 ÷ 8 = **994.625**</a:t>
            </a:r>
          </a:p>
          <a:p/>
          <a:p>
            <a:r>
              <a:t>6. 8,623 ÷ 5 = **1,724.6**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worked demo</a:t>
            </a:r>
          </a:p>
          <a:p/>
          <a:p>
            <a:r>
              <a:t>Guided: 84 ÷ 4 = 21 tins per box. Core: 130 ÷ 6 = 21 r 4, so 21 full packs. Depth: 145 ÷ 9 = 16 r 1, so 17 minibuses; 17 × 40 = £680.</a:t>
            </a:r>
          </a:p>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1</a:t>
            </a:r>
          </a:p>
          <a:p/>
          <a:p>
            <a:r>
              <a:t>Thread 1: Guided: 42 × 15 = 630 pens. Estimate: 40 × 15 = 600.</a:t>
            </a:r>
          </a:p>
          <a:p/>
          <a:p>
            <a:r>
              <a:t>Thread 2: Core: 215 ÷ 6 = 35 r 5 → 35 full bags. Estimate: 210 ÷ 6 = 35.</a:t>
            </a:r>
          </a:p>
          <a:p/>
          <a:p>
            <a:r>
              <a:t>Thread 3: Depth: 18 × 32 = 576; 576 + 120 = £696. Estimate: 20 × 30 + 120 = 720.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2</a:t>
            </a:r>
          </a:p>
          <a:p/>
          <a:p>
            <a:r>
              <a:t>Thread 1: Guided: 168 ÷ 7 = 24 students. Estimate: 140 ÷ 7 = 20.</a:t>
            </a:r>
          </a:p>
          <a:p/>
          <a:p>
            <a:r>
              <a:t>Thread 2: Core: 16 × 27 = £432. Estimate: 16 × 30 = 480.</a:t>
            </a:r>
          </a:p>
          <a:p/>
          <a:p>
            <a:r>
              <a:t>Thread 3: Depth: 157 ÷ 8 = 19 r 5 → 20 vans; 20 × 45 = £900. Estimate: 160 ÷ 8 × 45 = 900.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1</a:t>
            </a:r>
          </a:p>
          <a:p/>
          <a:p>
            <a:r>
              <a:t>### Thread 1: Guided</a:t>
            </a:r>
          </a:p>
          <a:p/>
          <a:p>
            <a:r>
              <a:t>1. 14 × 32 = 448 books</a:t>
            </a:r>
          </a:p>
          <a:p/>
          <a:p>
            <a:r>
              <a:t>2. 105 ÷ 7 = 15 students</a:t>
            </a:r>
          </a:p>
          <a:p/>
          <a:p>
            <a:r>
              <a:t>3. 26 × 41 = 1,066 bottles</a:t>
            </a:r>
          </a:p>
          <a:p/>
          <a:p>
            <a:r>
              <a:t>4. 148 ÷ 4 = 37 m</a:t>
            </a:r>
          </a:p>
          <a:p/>
          <a:p>
            <a:r>
              <a:t>5. 13 × 85 = 1,105 seats</a:t>
            </a:r>
          </a:p>
          <a:p/>
          <a:p>
            <a:r>
              <a:t>6. 175 ÷ 5 = £35</a:t>
            </a:r>
          </a:p>
          <a:p/>
          <a:p>
            <a:r>
              <a:t>### Thread 2: Core</a:t>
            </a:r>
          </a:p>
          <a:p/>
          <a:p>
            <a:r>
              <a:t>1. 130 ÷ 6 = 21 r 4 → 21 full cartons</a:t>
            </a:r>
          </a:p>
          <a:p/>
          <a:p>
            <a:r>
              <a:t>2. 32 ÷ 5 = 6 r 2 → 7 cars</a:t>
            </a:r>
          </a:p>
          <a:p/>
          <a:p>
            <a:r>
              <a:t>3. 250 ÷ 12 = 20 r 10 → 10 chocolates</a:t>
            </a:r>
          </a:p>
          <a:p/>
          <a:p>
            <a:r>
              <a:t>4. 17 × 28 = £476</a:t>
            </a:r>
          </a:p>
          <a:p/>
          <a:p>
            <a:r>
              <a:t>5. 142 ÷ 6 = 23 r 4 → 23 full bags</a:t>
            </a:r>
          </a:p>
          <a:p/>
          <a:p>
            <a:r>
              <a:t>6. 132 ÷ 8 = £16.50</a:t>
            </a:r>
          </a:p>
          <a:p/>
          <a:p>
            <a:r>
              <a:t>### Thread 3: Depth</a:t>
            </a:r>
          </a:p>
          <a:p/>
          <a:p>
            <a:r>
              <a:t>1. 45 × 16 = 720; 720 − 50 = £670</a:t>
            </a:r>
          </a:p>
          <a:p/>
          <a:p>
            <a:r>
              <a:t>2. 115 ÷ 8 = 14 r 3 → 15 vans; 15 × 65 = £975</a:t>
            </a:r>
          </a:p>
          <a:p/>
          <a:p>
            <a:r>
              <a:t>3. 22 × 14 = 308; 308 + 30 = £338</a:t>
            </a:r>
          </a:p>
          <a:p/>
          <a:p>
            <a:r>
              <a:t>4. 430 ÷ 12 = 35 r 10; 35 × 9 = £315</a:t>
            </a:r>
          </a:p>
          <a:p/>
          <a:p>
            <a:r>
              <a:t>5. 24 × 15 = 360; 360 + 45 = £405</a:t>
            </a:r>
          </a:p>
          <a:p/>
          <a:p>
            <a:r>
              <a:t>6. 15 × 12 = 180; 180 × 8 = £1,440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2</a:t>
            </a:r>
          </a:p>
          <a:p/>
          <a:p>
            <a:r>
              <a:t>### Thread 1: Guided</a:t>
            </a:r>
          </a:p>
          <a:p/>
          <a:p>
            <a:r>
              <a:t>1. 18 × 24 = 432 plants</a:t>
            </a:r>
          </a:p>
          <a:p/>
          <a:p>
            <a:r>
              <a:t>2. 156 ÷ 6 = 26 pens</a:t>
            </a:r>
          </a:p>
          <a:p/>
          <a:p>
            <a:r>
              <a:t>3. 23 × 16 = 368 badges</a:t>
            </a:r>
          </a:p>
          <a:p/>
          <a:p>
            <a:r>
              <a:t>4. 248 ÷ 8 = £31</a:t>
            </a:r>
          </a:p>
          <a:p/>
          <a:p>
            <a:r>
              <a:t>5. 12 × 27 = 324 km</a:t>
            </a:r>
          </a:p>
          <a:p/>
          <a:p>
            <a:r>
              <a:t>6. 189 ÷ 7 = 27 cm</a:t>
            </a:r>
          </a:p>
          <a:p/>
          <a:p>
            <a:r>
              <a:t>### Thread 2: Core</a:t>
            </a:r>
          </a:p>
          <a:p/>
          <a:p>
            <a:r>
              <a:t>1. 197 ÷ 8 = 24 r 5 → 24 bundles</a:t>
            </a:r>
          </a:p>
          <a:p/>
          <a:p>
            <a:r>
              <a:t>2. 83 ÷ 6 = 13 r 5 → 14 tents</a:t>
            </a:r>
          </a:p>
          <a:p/>
          <a:p>
            <a:r>
              <a:t>3. 275 ÷ 12 = 22 r 11 → 11 cm</a:t>
            </a:r>
          </a:p>
          <a:p/>
          <a:p>
            <a:r>
              <a:t>4. 36 × 14 = 504 pages</a:t>
            </a:r>
          </a:p>
          <a:p/>
          <a:p>
            <a:r>
              <a:t>5. 154 ÷ 4 = £38.50</a:t>
            </a:r>
          </a:p>
          <a:p/>
          <a:p>
            <a:r>
              <a:t>6. 253 ÷ 24 = 10 r 13 → 11 albums</a:t>
            </a:r>
          </a:p>
          <a:p/>
          <a:p>
            <a:r>
              <a:t>### Thread 3: Depth</a:t>
            </a:r>
          </a:p>
          <a:p/>
          <a:p>
            <a:r>
              <a:t>1. 28 × 14 = 392; 392 + 18 = £410</a:t>
            </a:r>
          </a:p>
          <a:p/>
          <a:p>
            <a:r>
              <a:t>2. 94 ÷ 6 = 15 r 4 → 16 tables; 16 × 12 = £192</a:t>
            </a:r>
          </a:p>
          <a:p/>
          <a:p>
            <a:r>
              <a:t>3. 24 × 15 = 360; 360 − 87 = 273 drinks</a:t>
            </a:r>
          </a:p>
          <a:p/>
          <a:p>
            <a:r>
              <a:t>4. 286 ÷ 8 = 35 r 6; 35 × 3 = £105</a:t>
            </a:r>
          </a:p>
          <a:p/>
          <a:p>
            <a:r>
              <a:t>5. 18 × 12 = 216; 216 ÷ 4 = £54</a:t>
            </a:r>
          </a:p>
          <a:p/>
          <a:p>
            <a:r>
              <a:t>6. 17 × 24 = 408; 408 × 2 = £816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3</a:t>
            </a:r>
          </a:p>
          <a:p/>
          <a:p>
            <a:r>
              <a:t>### Thread 1: Guided</a:t>
            </a:r>
          </a:p>
          <a:p/>
          <a:p>
            <a:r>
              <a:t>1. 16 × 35 = 560 cables</a:t>
            </a:r>
          </a:p>
          <a:p/>
          <a:p>
            <a:r>
              <a:t>2. 252 ÷ 7 = 36 stickers</a:t>
            </a:r>
          </a:p>
          <a:p/>
          <a:p>
            <a:r>
              <a:t>3. 28 × 24 = 672 seats</a:t>
            </a:r>
          </a:p>
          <a:p/>
          <a:p>
            <a:r>
              <a:t>4. 336 ÷ 8 = 42 m</a:t>
            </a:r>
          </a:p>
          <a:p/>
          <a:p>
            <a:r>
              <a:t>5. 19 × 32 = 608 cards</a:t>
            </a:r>
          </a:p>
          <a:p/>
          <a:p>
            <a:r>
              <a:t>6. 315 ÷ 9 = £35</a:t>
            </a:r>
          </a:p>
          <a:p/>
          <a:p>
            <a:r>
              <a:t>### Thread 2: Core</a:t>
            </a:r>
          </a:p>
          <a:p/>
          <a:p>
            <a:r>
              <a:t>1. 245 ÷ 8 = 30 r 5 → 30 bags</a:t>
            </a:r>
          </a:p>
          <a:p/>
          <a:p>
            <a:r>
              <a:t>2. 137 ÷ 9 = 15 r 2 → 16 trips</a:t>
            </a:r>
          </a:p>
          <a:p/>
          <a:p>
            <a:r>
              <a:t>3. 359 ÷ 12 = 29 r 11 → 11 beads</a:t>
            </a:r>
          </a:p>
          <a:p/>
          <a:p>
            <a:r>
              <a:t>4. 23 × 16 = £368</a:t>
            </a:r>
          </a:p>
          <a:p/>
          <a:p>
            <a:r>
              <a:t>5. 186 ÷ 8 = £23.25</a:t>
            </a:r>
          </a:p>
          <a:p/>
          <a:p>
            <a:r>
              <a:t>6. 25 × 48 = 1,200 cm²</a:t>
            </a:r>
          </a:p>
          <a:p/>
          <a:p>
            <a:r>
              <a:t>### Thread 3: Depth</a:t>
            </a:r>
          </a:p>
          <a:p/>
          <a:p>
            <a:r>
              <a:t>1. 21 × 18 = 378; 378 + 64 = £442</a:t>
            </a:r>
          </a:p>
          <a:p/>
          <a:p>
            <a:r>
              <a:t>2. 167 ÷ 24 = 6 r 23 → 7 coaches; 7 × 85 = £595</a:t>
            </a:r>
          </a:p>
          <a:p/>
          <a:p>
            <a:r>
              <a:t>3. 32 × 18 = 576; 576 − 145 = 431 cards</a:t>
            </a:r>
          </a:p>
          <a:p/>
          <a:p>
            <a:r>
              <a:t>4. 397 ÷ 6 = 66 r 1; 66 × 4 = £264</a:t>
            </a:r>
          </a:p>
          <a:p/>
          <a:p>
            <a:r>
              <a:t>5. 15 × 14 = 210; 210 ÷ 6 = £35</a:t>
            </a:r>
          </a:p>
          <a:p/>
          <a:p>
            <a:r>
              <a:t>6. 23 × 16 = 368; 368 × 5 = £1,840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4</a:t>
            </a:r>
          </a:p>
          <a:p/>
          <a:p>
            <a:r>
              <a:t>### Thread 1: Guided</a:t>
            </a:r>
          </a:p>
          <a:p/>
          <a:p>
            <a:r>
              <a:t>1. 27 × 18 = 486 labels</a:t>
            </a:r>
          </a:p>
          <a:p/>
          <a:p>
            <a:r>
              <a:t>2. 384 ÷ 8 = 48 books</a:t>
            </a:r>
          </a:p>
          <a:p/>
          <a:p>
            <a:r>
              <a:t>3. 34 × 16 = 544 seedlings</a:t>
            </a:r>
          </a:p>
          <a:p/>
          <a:p>
            <a:r>
              <a:t>4. 425 ÷ 5 = £85</a:t>
            </a:r>
          </a:p>
          <a:p/>
          <a:p>
            <a:r>
              <a:t>5. 26 × 35 = 910 seats</a:t>
            </a:r>
          </a:p>
          <a:p/>
          <a:p>
            <a:r>
              <a:t>6. 294 ÷ 6 = 49 cm</a:t>
            </a:r>
          </a:p>
          <a:p/>
          <a:p>
            <a:r>
              <a:t>### Thread 2: Core</a:t>
            </a:r>
          </a:p>
          <a:p/>
          <a:p>
            <a:r>
              <a:t>1. 367 ÷ 12 = 30 r 7 → 30 boxes</a:t>
            </a:r>
          </a:p>
          <a:p/>
          <a:p>
            <a:r>
              <a:t>2. 158 ÷ 6 = 26 r 2 → 27 rooms</a:t>
            </a:r>
          </a:p>
          <a:p/>
          <a:p>
            <a:r>
              <a:t>3. 413 ÷ 15 = 27 r 8 → 8 cm</a:t>
            </a:r>
          </a:p>
          <a:p/>
          <a:p>
            <a:r>
              <a:t>4. 28 × 19 = 532 bottles</a:t>
            </a:r>
          </a:p>
          <a:p/>
          <a:p>
            <a:r>
              <a:t>5. 238 ÷ 8 = £29.75</a:t>
            </a:r>
          </a:p>
          <a:p/>
          <a:p>
            <a:r>
              <a:t>6. 319 ÷ 24 = 13 r 7 → 14 folders</a:t>
            </a:r>
          </a:p>
          <a:p/>
          <a:p>
            <a:r>
              <a:t>### Thread 3: Depth</a:t>
            </a:r>
          </a:p>
          <a:p/>
          <a:p>
            <a:r>
              <a:t>1. 36 × 17 = 612; 612 − 75 = £537</a:t>
            </a:r>
          </a:p>
          <a:p/>
          <a:p>
            <a:r>
              <a:t>2. 203 ÷ 8 = 25 r 3 → 26 tables; 26 × 15 = £390</a:t>
            </a:r>
          </a:p>
          <a:p/>
          <a:p>
            <a:r>
              <a:t>3. 29 × 24 = 696; 696 − 187 = 509 notebooks</a:t>
            </a:r>
          </a:p>
          <a:p/>
          <a:p>
            <a:r>
              <a:t>4. 518 ÷ 12 = 43 r 2; 43 × 5 = £215</a:t>
            </a:r>
          </a:p>
          <a:p/>
          <a:p>
            <a:r>
              <a:t>5. 21 × 16 = 336; 336 ÷ 7 = £48</a:t>
            </a:r>
          </a:p>
          <a:p/>
          <a:p>
            <a:r>
              <a:t>6. 28 × 15 = 420; 420 × 3 = £1,260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1/7  •  Slide 1</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columns × 1 row.</a:t>
            </a:r>
          </a:p>
          <a:p>
            <a:pPr>
              <a:lnSpc>
                <a:spcPts val="1944"/>
              </a:lnSpc>
              <a:spcBef>
                <a:spcPts val="0"/>
              </a:spcBef>
              <a:spcAft>
                <a:spcPts val="0"/>
              </a:spcAft>
              <a:defRPr sz="18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columns × 2 rows.</a:t>
            </a:r>
          </a:p>
          <a:p>
            <a:pPr>
              <a:lnSpc>
                <a:spcPts val="1944"/>
              </a:lnSpc>
              <a:spcBef>
                <a:spcPts val="0"/>
              </a:spcBef>
              <a:spcAft>
                <a:spcPts val="0"/>
              </a:spcAft>
              <a:defRPr sz="18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columns × 2 rows.</a:t>
            </a:r>
          </a:p>
          <a:p>
            <a:pPr>
              <a:lnSpc>
                <a:spcPts val="1944"/>
              </a:lnSpc>
              <a:spcBef>
                <a:spcPts val="0"/>
              </a:spcBef>
              <a:spcAft>
                <a:spcPts val="0"/>
              </a:spcAft>
              <a:defRPr sz="1800" b="0">
                <a:solidFill>
                  <a:srgbClr val="182B3A"/>
                </a:solidFill>
                <a:latin typeface="Arial"/>
              </a:defRPr>
            </a:pPr>
            <a:r>
              <a:t>Top: 4, 3, 1, 2. Right: 5, 6.</a:t>
            </a:r>
          </a:p>
        </p:txBody>
      </p:sp>
      <p:sp>
        <p:nvSpPr>
          <p:cNvPr id="29" name="Rectangle 28"/>
          <p:cNvSpPr/>
          <p:nvPr/>
        </p:nvSpPr>
        <p:spPr>
          <a:xfrm>
            <a:off x="384048" y="29077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2999232"/>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297179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621024"/>
            <a:ext cx="1737360" cy="1143000"/>
            <a:chOff x="3496055" y="3621024"/>
            <a:chExt cx="1737360" cy="1143000"/>
          </a:xfrm>
        </p:grpSpPr>
        <p:sp>
          <p:nvSpPr>
            <p:cNvPr id="34" name="TextBox 33"/>
            <p:cNvSpPr txBox="1"/>
            <p:nvPr/>
          </p:nvSpPr>
          <p:spPr>
            <a:xfrm>
              <a:off x="3806951" y="3621024"/>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621024"/>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3877056"/>
              <a:ext cx="265176" cy="566928"/>
            </a:xfrm>
            <a:prstGeom prst="rect">
              <a:avLst/>
            </a:prstGeom>
            <a:noFill/>
          </p:spPr>
          <p:txBody>
            <a:bodyPr wrap="none" lIns="0" rIns="0" tIns="0" bIns="0" anchor="ctr">
              <a:spAutoFit/>
            </a:bodyPr>
            <a:lstStyle/>
            <a:p>
              <a:pPr algn="ctr">
                <a:defRPr sz="1800" b="1">
                  <a:solidFill>
                    <a:srgbClr val="176B73"/>
                  </a:solidFill>
                  <a:latin typeface="Arial"/>
                </a:defRPr>
              </a:pPr>
              <a:r>
                <a:t>6</a:t>
              </a:r>
            </a:p>
          </p:txBody>
        </p:sp>
        <p:sp>
          <p:nvSpPr>
            <p:cNvPr id="37" name="Rectangle 36"/>
            <p:cNvSpPr/>
            <p:nvPr/>
          </p:nvSpPr>
          <p:spPr>
            <a:xfrm>
              <a:off x="3806951" y="3877056"/>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 name="Connector 37"/>
            <p:cNvCxnSpPr/>
            <p:nvPr/>
          </p:nvCxnSpPr>
          <p:spPr>
            <a:xfrm flipV="1">
              <a:off x="3806951" y="3877056"/>
              <a:ext cx="566928" cy="566928"/>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388839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15485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41" name="Rectangle 40"/>
            <p:cNvSpPr/>
            <p:nvPr/>
          </p:nvSpPr>
          <p:spPr>
            <a:xfrm>
              <a:off x="4373879" y="3877056"/>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flipV="1">
              <a:off x="4373879" y="3877056"/>
              <a:ext cx="566928" cy="566928"/>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388839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15485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3877056"/>
              <a:ext cx="0" cy="566928"/>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3877056"/>
              <a:ext cx="0" cy="566928"/>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3877056"/>
              <a:ext cx="0" cy="566928"/>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3877056"/>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44398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526280"/>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526280"/>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3877056"/>
              <a:ext cx="265176" cy="566928"/>
            </a:xfrm>
            <a:prstGeom prst="rect">
              <a:avLst/>
            </a:prstGeom>
            <a:noFill/>
          </p:spPr>
          <p:txBody>
            <a:bodyPr wrap="none" lIns="0" rIns="0" t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6470904" y="297179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621024"/>
            <a:ext cx="1563623" cy="1517903"/>
            <a:chOff x="7493508" y="3621024"/>
            <a:chExt cx="1563623" cy="1517903"/>
          </a:xfrm>
        </p:grpSpPr>
        <p:sp>
          <p:nvSpPr>
            <p:cNvPr id="56" name="TextBox 55"/>
            <p:cNvSpPr txBox="1"/>
            <p:nvPr/>
          </p:nvSpPr>
          <p:spPr>
            <a:xfrm>
              <a:off x="7822692" y="3621024"/>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621024"/>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3877056"/>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347972"/>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2</a:t>
              </a:r>
            </a:p>
          </p:txBody>
        </p:sp>
        <p:sp>
          <p:nvSpPr>
            <p:cNvPr id="60" name="Rectangle 59"/>
            <p:cNvSpPr/>
            <p:nvPr/>
          </p:nvSpPr>
          <p:spPr>
            <a:xfrm>
              <a:off x="7822692"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1" name="Connector 60"/>
            <p:cNvCxnSpPr/>
            <p:nvPr/>
          </p:nvCxnSpPr>
          <p:spPr>
            <a:xfrm flipV="1">
              <a:off x="7822692" y="3877056"/>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3</a:t>
              </a:r>
            </a:p>
          </p:txBody>
        </p:sp>
        <p:sp>
          <p:nvSpPr>
            <p:cNvPr id="64" name="Rectangle 63"/>
            <p:cNvSpPr/>
            <p:nvPr/>
          </p:nvSpPr>
          <p:spPr>
            <a:xfrm>
              <a:off x="8293608"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5" name="Connector 64"/>
            <p:cNvCxnSpPr/>
            <p:nvPr/>
          </p:nvCxnSpPr>
          <p:spPr>
            <a:xfrm flipV="1">
              <a:off x="8293608" y="3877056"/>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68" name="Rectangle 67"/>
            <p:cNvSpPr/>
            <p:nvPr/>
          </p:nvSpPr>
          <p:spPr>
            <a:xfrm>
              <a:off x="7822692"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flipV="1">
              <a:off x="7822692" y="4347972"/>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72" name="Rectangle 71"/>
            <p:cNvSpPr/>
            <p:nvPr/>
          </p:nvSpPr>
          <p:spPr>
            <a:xfrm>
              <a:off x="8293608"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3" name="Connector 72"/>
            <p:cNvCxnSpPr/>
            <p:nvPr/>
          </p:nvCxnSpPr>
          <p:spPr>
            <a:xfrm flipV="1">
              <a:off x="8293608" y="4347972"/>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3877056"/>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347972"/>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4818888"/>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490118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490118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347972"/>
              <a:ext cx="265176" cy="470915"/>
            </a:xfrm>
            <a:prstGeom prst="rect">
              <a:avLst/>
            </a:prstGeom>
            <a:noFill/>
          </p:spPr>
          <p:txBody>
            <a:bodyPr wrap="none" lIns="0" rIns="0" t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357116"/>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3877056"/>
              <a:ext cx="265176" cy="470915"/>
            </a:xfrm>
            <a:prstGeom prst="rect">
              <a:avLst/>
            </a:prstGeom>
            <a:noFill/>
          </p:spPr>
          <p:txBody>
            <a:bodyPr wrap="none" lIns="0" rIns="0" t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10390632" y="297179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20, 15, 05, 10.</a:t>
            </a:r>
          </a:p>
          <a:p>
            <a:pPr>
              <a:lnSpc>
                <a:spcPts val="1836"/>
              </a:lnSpc>
              <a:spcBef>
                <a:spcPts val="0"/>
              </a:spcBef>
              <a:spcAft>
                <a:spcPts val="0"/>
              </a:spcAft>
              <a:defRPr sz="1700" b="0">
                <a:solidFill>
                  <a:srgbClr val="182B3A"/>
                </a:solidFill>
                <a:latin typeface="Arial"/>
              </a:defRPr>
            </a:pPr>
            <a:r>
              <a:t>Bottom: 24, 18, 06, 12.</a:t>
            </a:r>
          </a:p>
        </p:txBody>
      </p:sp>
      <p:grpSp>
        <p:nvGrpSpPr>
          <p:cNvPr id="89" name="Editable lattice 4312 × 56"/>
          <p:cNvGrpSpPr/>
          <p:nvPr/>
        </p:nvGrpSpPr>
        <p:grpSpPr>
          <a:xfrm>
            <a:off x="10942320" y="3621024"/>
            <a:ext cx="2505456" cy="1517903"/>
            <a:chOff x="10942320" y="3621024"/>
            <a:chExt cx="2505456" cy="1517903"/>
          </a:xfrm>
        </p:grpSpPr>
        <p:sp>
          <p:nvSpPr>
            <p:cNvPr id="90" name="TextBox 89"/>
            <p:cNvSpPr txBox="1"/>
            <p:nvPr/>
          </p:nvSpPr>
          <p:spPr>
            <a:xfrm>
              <a:off x="11271504" y="3621024"/>
              <a:ext cx="470915" cy="228600"/>
            </a:xfrm>
            <a:prstGeom prst="rect">
              <a:avLst/>
            </a:prstGeom>
            <a:noFill/>
          </p:spPr>
          <p:txBody>
            <a:bodyPr wrap="none" lIns="0" rIns="0" tIns="0" bIns="0" anchor="ctr">
              <a:spAutoFit/>
            </a:bodyPr>
            <a:lstStyle/>
            <a:p>
              <a:pPr algn="ctr">
                <a:defRPr sz="1800" b="1">
                  <a:solidFill>
                    <a:srgbClr val="754B87"/>
                  </a:solidFill>
                  <a:latin typeface="Arial"/>
                </a:defRPr>
              </a:pPr>
              <a:r>
                <a:t>4</a:t>
              </a:r>
            </a:p>
          </p:txBody>
        </p:sp>
        <p:sp>
          <p:nvSpPr>
            <p:cNvPr id="91" name="TextBox 90"/>
            <p:cNvSpPr txBox="1"/>
            <p:nvPr/>
          </p:nvSpPr>
          <p:spPr>
            <a:xfrm>
              <a:off x="11742420" y="3621024"/>
              <a:ext cx="470915" cy="228600"/>
            </a:xfrm>
            <a:prstGeom prst="rect">
              <a:avLst/>
            </a:prstGeom>
            <a:noFill/>
          </p:spPr>
          <p:txBody>
            <a:bodyPr wrap="none" lIns="0" rIns="0" t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621024"/>
              <a:ext cx="470915" cy="228600"/>
            </a:xfrm>
            <a:prstGeom prst="rect">
              <a:avLst/>
            </a:prstGeom>
            <a:noFill/>
          </p:spPr>
          <p:txBody>
            <a:bodyPr wrap="none" lIns="0" rIns="0" tIns="0" bIns="0" anchor="ctr">
              <a:spAutoFit/>
            </a:bodyPr>
            <a:lstStyle/>
            <a:p>
              <a:pPr algn="ctr">
                <a:defRPr sz="1800" b="1">
                  <a:solidFill>
                    <a:srgbClr val="754B87"/>
                  </a:solidFill>
                  <a:latin typeface="Arial"/>
                </a:defRPr>
              </a:pPr>
              <a:r>
                <a:t>1</a:t>
              </a:r>
            </a:p>
          </p:txBody>
        </p:sp>
        <p:sp>
          <p:nvSpPr>
            <p:cNvPr id="93" name="TextBox 92"/>
            <p:cNvSpPr txBox="1"/>
            <p:nvPr/>
          </p:nvSpPr>
          <p:spPr>
            <a:xfrm>
              <a:off x="12684252" y="3621024"/>
              <a:ext cx="470915" cy="228600"/>
            </a:xfrm>
            <a:prstGeom prst="rect">
              <a:avLst/>
            </a:prstGeom>
            <a:noFill/>
          </p:spPr>
          <p:txBody>
            <a:bodyPr wrap="none" lIns="0" rIns="0" tIns="0" bIns="0" anchor="ctr">
              <a:spAutoFit/>
            </a:bodyPr>
            <a:lstStyle/>
            <a:p>
              <a:pPr algn="ctr">
                <a:defRPr sz="1800" b="1">
                  <a:solidFill>
                    <a:srgbClr val="754B87"/>
                  </a:solidFill>
                  <a:latin typeface="Arial"/>
                </a:defRPr>
              </a:pPr>
              <a:r>
                <a:t>2</a:t>
              </a:r>
            </a:p>
          </p:txBody>
        </p:sp>
        <p:sp>
          <p:nvSpPr>
            <p:cNvPr id="94" name="TextBox 93"/>
            <p:cNvSpPr txBox="1"/>
            <p:nvPr/>
          </p:nvSpPr>
          <p:spPr>
            <a:xfrm>
              <a:off x="13182600" y="3877056"/>
              <a:ext cx="265176" cy="470915"/>
            </a:xfrm>
            <a:prstGeom prst="rect">
              <a:avLst/>
            </a:prstGeom>
            <a:noFill/>
          </p:spPr>
          <p:txBody>
            <a:bodyPr wrap="none" lIns="0" rIns="0" tIns="0" bIns="0" anchor="ctr">
              <a:spAutoFit/>
            </a:bodyPr>
            <a:lstStyle/>
            <a:p>
              <a:pPr algn="ctr">
                <a:defRPr sz="1800" b="1">
                  <a:solidFill>
                    <a:srgbClr val="754B87"/>
                  </a:solidFill>
                  <a:latin typeface="Arial"/>
                </a:defRPr>
              </a:pPr>
              <a:r>
                <a:t>5</a:t>
              </a:r>
            </a:p>
          </p:txBody>
        </p:sp>
        <p:sp>
          <p:nvSpPr>
            <p:cNvPr id="95" name="TextBox 94"/>
            <p:cNvSpPr txBox="1"/>
            <p:nvPr/>
          </p:nvSpPr>
          <p:spPr>
            <a:xfrm>
              <a:off x="13182600" y="4347972"/>
              <a:ext cx="265176" cy="470915"/>
            </a:xfrm>
            <a:prstGeom prst="rect">
              <a:avLst/>
            </a:prstGeom>
            <a:noFill/>
          </p:spPr>
          <p:txBody>
            <a:bodyPr wrap="none" lIns="0" rIns="0" tIns="0" bIns="0" anchor="ctr">
              <a:spAutoFit/>
            </a:bodyPr>
            <a:lstStyle/>
            <a:p>
              <a:pPr algn="ctr">
                <a:defRPr sz="1800" b="1">
                  <a:solidFill>
                    <a:srgbClr val="754B87"/>
                  </a:solidFill>
                  <a:latin typeface="Arial"/>
                </a:defRPr>
              </a:pPr>
              <a:r>
                <a:t>6</a:t>
              </a:r>
            </a:p>
          </p:txBody>
        </p:sp>
        <p:sp>
          <p:nvSpPr>
            <p:cNvPr id="96" name="Rectangle 95"/>
            <p:cNvSpPr/>
            <p:nvPr/>
          </p:nvSpPr>
          <p:spPr>
            <a:xfrm>
              <a:off x="11271504"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7" name="Connector 96"/>
            <p:cNvCxnSpPr/>
            <p:nvPr/>
          </p:nvCxnSpPr>
          <p:spPr>
            <a:xfrm flipV="1">
              <a:off x="11271504" y="3877056"/>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1290340"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99" name="TextBox 98"/>
            <p:cNvSpPr txBox="1"/>
            <p:nvPr/>
          </p:nvSpPr>
          <p:spPr>
            <a:xfrm>
              <a:off x="11497543"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0" name="Rectangle 99"/>
            <p:cNvSpPr/>
            <p:nvPr/>
          </p:nvSpPr>
          <p:spPr>
            <a:xfrm>
              <a:off x="11742420"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1" name="Connector 100"/>
            <p:cNvCxnSpPr/>
            <p:nvPr/>
          </p:nvCxnSpPr>
          <p:spPr>
            <a:xfrm flipV="1">
              <a:off x="11742420" y="3877056"/>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11761256"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03" name="TextBox 102"/>
            <p:cNvSpPr txBox="1"/>
            <p:nvPr/>
          </p:nvSpPr>
          <p:spPr>
            <a:xfrm>
              <a:off x="11968459"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04" name="Rectangle 103"/>
            <p:cNvSpPr/>
            <p:nvPr/>
          </p:nvSpPr>
          <p:spPr>
            <a:xfrm>
              <a:off x="12213335"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flipV="1">
              <a:off x="12213335" y="3877056"/>
              <a:ext cx="470917"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2232172"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7" name="TextBox 106"/>
            <p:cNvSpPr txBox="1"/>
            <p:nvPr/>
          </p:nvSpPr>
          <p:spPr>
            <a:xfrm>
              <a:off x="12439375"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08" name="Rectangle 107"/>
            <p:cNvSpPr/>
            <p:nvPr/>
          </p:nvSpPr>
          <p:spPr>
            <a:xfrm>
              <a:off x="12684252" y="3877056"/>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9" name="Connector 108"/>
            <p:cNvCxnSpPr/>
            <p:nvPr/>
          </p:nvCxnSpPr>
          <p:spPr>
            <a:xfrm flipV="1">
              <a:off x="12684252" y="3877056"/>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2703088" y="388647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11" name="TextBox 110"/>
            <p:cNvSpPr txBox="1"/>
            <p:nvPr/>
          </p:nvSpPr>
          <p:spPr>
            <a:xfrm>
              <a:off x="12910291" y="410780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12" name="Rectangle 111"/>
            <p:cNvSpPr/>
            <p:nvPr/>
          </p:nvSpPr>
          <p:spPr>
            <a:xfrm>
              <a:off x="11271504"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flipV="1">
              <a:off x="11271504" y="4347972"/>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290340"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15" name="TextBox 114"/>
            <p:cNvSpPr txBox="1"/>
            <p:nvPr/>
          </p:nvSpPr>
          <p:spPr>
            <a:xfrm>
              <a:off x="11497543"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116" name="Rectangle 115"/>
            <p:cNvSpPr/>
            <p:nvPr/>
          </p:nvSpPr>
          <p:spPr>
            <a:xfrm>
              <a:off x="11742420"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7" name="Connector 116"/>
            <p:cNvCxnSpPr/>
            <p:nvPr/>
          </p:nvCxnSpPr>
          <p:spPr>
            <a:xfrm flipV="1">
              <a:off x="11742420" y="4347972"/>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1761256"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19" name="TextBox 118"/>
            <p:cNvSpPr txBox="1"/>
            <p:nvPr/>
          </p:nvSpPr>
          <p:spPr>
            <a:xfrm>
              <a:off x="11968459"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sp>
          <p:nvSpPr>
            <p:cNvPr id="120" name="Rectangle 119"/>
            <p:cNvSpPr/>
            <p:nvPr/>
          </p:nvSpPr>
          <p:spPr>
            <a:xfrm>
              <a:off x="12213335"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flipV="1">
              <a:off x="12213335" y="4347972"/>
              <a:ext cx="470917"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232172"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23" name="TextBox 122"/>
            <p:cNvSpPr txBox="1"/>
            <p:nvPr/>
          </p:nvSpPr>
          <p:spPr>
            <a:xfrm>
              <a:off x="12439375"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124" name="Rectangle 123"/>
            <p:cNvSpPr/>
            <p:nvPr/>
          </p:nvSpPr>
          <p:spPr>
            <a:xfrm>
              <a:off x="12684252" y="4347972"/>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5" name="Connector 124"/>
            <p:cNvCxnSpPr/>
            <p:nvPr/>
          </p:nvCxnSpPr>
          <p:spPr>
            <a:xfrm flipV="1">
              <a:off x="12684252" y="4347972"/>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2703088" y="435739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27" name="TextBox 126"/>
            <p:cNvSpPr txBox="1"/>
            <p:nvPr/>
          </p:nvSpPr>
          <p:spPr>
            <a:xfrm>
              <a:off x="12910291" y="457872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cxnSp>
          <p:nvCxnSpPr>
            <p:cNvPr id="128" name="Connector 127"/>
            <p:cNvCxnSpPr/>
            <p:nvPr/>
          </p:nvCxnSpPr>
          <p:spPr>
            <a:xfrm>
              <a:off x="11271504"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1742420"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2213335"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2684252"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3155168" y="3877056"/>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1271504" y="3877056"/>
              <a:ext cx="1883664"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1271504" y="4347972"/>
              <a:ext cx="1883664"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1271504" y="4818888"/>
              <a:ext cx="1883664"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2684252" y="4901183"/>
              <a:ext cx="470915" cy="237744"/>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sp>
          <p:nvSpPr>
            <p:cNvPr id="137" name="TextBox 136"/>
            <p:cNvSpPr txBox="1"/>
            <p:nvPr/>
          </p:nvSpPr>
          <p:spPr>
            <a:xfrm>
              <a:off x="12213335" y="4901183"/>
              <a:ext cx="470915" cy="237744"/>
            </a:xfrm>
            <a:prstGeom prst="rect">
              <a:avLst/>
            </a:prstGeom>
            <a:noFill/>
          </p:spPr>
          <p:txBody>
            <a:bodyPr wrap="none" lIns="0" rIns="0" tIns="0" bIns="0" anchor="ctr">
              <a:spAutoFit/>
            </a:bodyPr>
            <a:lstStyle/>
            <a:p>
              <a:pPr algn="ctr">
                <a:defRPr sz="1900" b="1">
                  <a:solidFill>
                    <a:srgbClr val="754B87"/>
                  </a:solidFill>
                  <a:latin typeface="Arial"/>
                </a:defRPr>
              </a:pPr>
              <a:r>
                <a:t>7</a:t>
              </a:r>
            </a:p>
          </p:txBody>
        </p:sp>
        <p:sp>
          <p:nvSpPr>
            <p:cNvPr id="138" name="TextBox 137"/>
            <p:cNvSpPr txBox="1"/>
            <p:nvPr/>
          </p:nvSpPr>
          <p:spPr>
            <a:xfrm>
              <a:off x="11742420" y="4901183"/>
              <a:ext cx="470915" cy="237744"/>
            </a:xfrm>
            <a:prstGeom prst="rect">
              <a:avLst/>
            </a:prstGeom>
            <a:noFill/>
          </p:spPr>
          <p:txBody>
            <a:bodyPr wrap="none" lIns="0" rIns="0" tIns="0" bIns="0" anchor="ctr">
              <a:spAutoFit/>
            </a:bodyPr>
            <a:lstStyle/>
            <a:p>
              <a:pPr algn="ctr">
                <a:defRPr sz="1900" b="1">
                  <a:solidFill>
                    <a:srgbClr val="754B87"/>
                  </a:solidFill>
                  <a:latin typeface="Arial"/>
                </a:defRPr>
              </a:pPr>
              <a:r>
                <a:t>4</a:t>
              </a:r>
            </a:p>
          </p:txBody>
        </p:sp>
        <p:sp>
          <p:nvSpPr>
            <p:cNvPr id="139" name="TextBox 138"/>
            <p:cNvSpPr txBox="1"/>
            <p:nvPr/>
          </p:nvSpPr>
          <p:spPr>
            <a:xfrm>
              <a:off x="11271504" y="4901183"/>
              <a:ext cx="470915" cy="237744"/>
            </a:xfrm>
            <a:prstGeom prst="rect">
              <a:avLst/>
            </a:prstGeom>
            <a:noFill/>
          </p:spPr>
          <p:txBody>
            <a:bodyPr wrap="none" lIns="0" rIns="0" tIns="0" bIns="0" anchor="ctr">
              <a:spAutoFit/>
            </a:bodyPr>
            <a:lstStyle/>
            <a:p>
              <a:pPr algn="ctr">
                <a:defRPr sz="1900" b="1">
                  <a:solidFill>
                    <a:srgbClr val="754B87"/>
                  </a:solidFill>
                  <a:latin typeface="Arial"/>
                </a:defRPr>
              </a:pPr>
              <a:r>
                <a:t>1</a:t>
              </a:r>
            </a:p>
          </p:txBody>
        </p:sp>
        <p:sp>
          <p:nvSpPr>
            <p:cNvPr id="140" name="TextBox 139"/>
            <p:cNvSpPr txBox="1"/>
            <p:nvPr/>
          </p:nvSpPr>
          <p:spPr>
            <a:xfrm>
              <a:off x="11289792" y="4773168"/>
              <a:ext cx="235457"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41" name="TextBox 140"/>
            <p:cNvSpPr txBox="1"/>
            <p:nvPr/>
          </p:nvSpPr>
          <p:spPr>
            <a:xfrm>
              <a:off x="10960608" y="4347972"/>
              <a:ext cx="265176" cy="470915"/>
            </a:xfrm>
            <a:prstGeom prst="rect">
              <a:avLst/>
            </a:prstGeom>
            <a:noFill/>
          </p:spPr>
          <p:txBody>
            <a:bodyPr wrap="none" lIns="0" rIns="0" tIns="0" bIns="0" anchor="ctr">
              <a:spAutoFit/>
            </a:bodyPr>
            <a:lstStyle/>
            <a:p>
              <a:pPr algn="ctr">
                <a:defRPr sz="1900" b="1">
                  <a:solidFill>
                    <a:srgbClr val="754B87"/>
                  </a:solidFill>
                  <a:latin typeface="Arial"/>
                </a:defRPr>
              </a:pPr>
              <a:r>
                <a:t>4</a:t>
              </a:r>
            </a:p>
          </p:txBody>
        </p:sp>
        <p:sp>
          <p:nvSpPr>
            <p:cNvPr id="142" name="TextBox 141"/>
            <p:cNvSpPr txBox="1"/>
            <p:nvPr/>
          </p:nvSpPr>
          <p:spPr>
            <a:xfrm>
              <a:off x="10942320" y="4357116"/>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43" name="TextBox 142"/>
            <p:cNvSpPr txBox="1"/>
            <p:nvPr/>
          </p:nvSpPr>
          <p:spPr>
            <a:xfrm>
              <a:off x="10960608" y="3877056"/>
              <a:ext cx="265176" cy="470915"/>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grpSp>
      <p:sp>
        <p:nvSpPr>
          <p:cNvPr id="144" name="Rectangle 143"/>
          <p:cNvSpPr/>
          <p:nvPr/>
        </p:nvSpPr>
        <p:spPr>
          <a:xfrm>
            <a:off x="384048" y="5148072"/>
            <a:ext cx="2103120" cy="1783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TextBox 144"/>
          <p:cNvSpPr txBox="1"/>
          <p:nvPr/>
        </p:nvSpPr>
        <p:spPr>
          <a:xfrm>
            <a:off x="448056" y="5239512"/>
            <a:ext cx="1975103" cy="16002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46" name="Rectangle 145"/>
          <p:cNvSpPr/>
          <p:nvPr/>
        </p:nvSpPr>
        <p:spPr>
          <a:xfrm>
            <a:off x="2487168" y="5148072"/>
            <a:ext cx="3919727" cy="1783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TextBox 146"/>
          <p:cNvSpPr txBox="1"/>
          <p:nvPr/>
        </p:nvSpPr>
        <p:spPr>
          <a:xfrm>
            <a:off x="2551175" y="5212080"/>
            <a:ext cx="3791712" cy="1618488"/>
          </a:xfrm>
          <a:prstGeom prst="rect">
            <a:avLst/>
          </a:prstGeom>
          <a:noFill/>
        </p:spPr>
        <p:txBody>
          <a:bodyPr wrap="square" tIns="36576" bIns="36576" anchor="t">
            <a:spAutoFit/>
          </a:bodyPr>
          <a:lstStyle/>
          <a:p>
            <a:pPr>
              <a:lnSpc>
                <a:spcPts val="1728"/>
              </a:lnSpc>
              <a:spcBef>
                <a:spcPts val="0"/>
              </a:spcBef>
              <a:spcAft>
                <a:spcPts val="0"/>
              </a:spcAft>
              <a:defRPr sz="1600" b="0">
                <a:solidFill>
                  <a:srgbClr val="182B3A"/>
                </a:solidFill>
                <a:latin typeface="Arial"/>
              </a:defRPr>
            </a:pPr>
            <a:r>
              <a:t>Start at the bottom right:</a:t>
            </a:r>
          </a:p>
          <a:p>
            <a:pPr>
              <a:lnSpc>
                <a:spcPts val="1728"/>
              </a:lnSpc>
              <a:spcBef>
                <a:spcPts val="0"/>
              </a:spcBef>
              <a:spcAft>
                <a:spcPts val="0"/>
              </a:spcAft>
              <a:defRPr sz="1600" b="0">
                <a:solidFill>
                  <a:srgbClr val="182B3A"/>
                </a:solidFill>
                <a:latin typeface="Arial"/>
              </a:defRPr>
            </a:pPr>
            <a:r>
              <a:t>8 → write 8</a:t>
            </a:r>
          </a:p>
          <a:p>
            <a:pPr>
              <a:lnSpc>
                <a:spcPts val="1728"/>
              </a:lnSpc>
              <a:spcBef>
                <a:spcPts val="0"/>
              </a:spcBef>
              <a:spcAft>
                <a:spcPts val="0"/>
              </a:spcAft>
              <a:defRPr sz="1600" b="0">
                <a:solidFill>
                  <a:srgbClr val="182B3A"/>
                </a:solidFill>
                <a:latin typeface="Arial"/>
              </a:defRPr>
            </a:pPr>
            <a:r>
              <a:t>1 + 4 = 5 → write 5</a:t>
            </a:r>
          </a:p>
          <a:p>
            <a:pPr>
              <a:lnSpc>
                <a:spcPts val="1728"/>
              </a:lnSpc>
              <a:spcBef>
                <a:spcPts val="0"/>
              </a:spcBef>
              <a:spcAft>
                <a:spcPts val="0"/>
              </a:spcAft>
              <a:defRPr sz="1600" b="0">
                <a:solidFill>
                  <a:srgbClr val="182B3A"/>
                </a:solidFill>
                <a:latin typeface="Arial"/>
              </a:defRPr>
            </a:pPr>
            <a:r>
              <a:t>2 → write 2</a:t>
            </a:r>
          </a:p>
        </p:txBody>
      </p:sp>
      <p:sp>
        <p:nvSpPr>
          <p:cNvPr id="148" name="Rectangle 147"/>
          <p:cNvSpPr/>
          <p:nvPr/>
        </p:nvSpPr>
        <p:spPr>
          <a:xfrm>
            <a:off x="6406895" y="5148072"/>
            <a:ext cx="3919727" cy="1783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TextBox 148"/>
          <p:cNvSpPr txBox="1"/>
          <p:nvPr/>
        </p:nvSpPr>
        <p:spPr>
          <a:xfrm>
            <a:off x="6470904" y="5212080"/>
            <a:ext cx="3791712" cy="1618488"/>
          </a:xfrm>
          <a:prstGeom prst="rect">
            <a:avLst/>
          </a:prstGeom>
          <a:noFill/>
        </p:spPr>
        <p:txBody>
          <a:bodyPr wrap="square" tIns="36576" bIns="36576" anchor="t">
            <a:spAutoFit/>
          </a:bodyPr>
          <a:lstStyle/>
          <a:p>
            <a:pPr>
              <a:lnSpc>
                <a:spcPts val="1728"/>
              </a:lnSpc>
              <a:spcBef>
                <a:spcPts val="0"/>
              </a:spcBef>
              <a:spcAft>
                <a:spcPts val="0"/>
              </a:spcAft>
              <a:defRPr sz="1600" b="0">
                <a:solidFill>
                  <a:srgbClr val="182B3A"/>
                </a:solidFill>
                <a:latin typeface="Arial"/>
              </a:defRPr>
            </a:pPr>
            <a:r>
              <a:t>Start at the bottom right:</a:t>
            </a:r>
          </a:p>
          <a:p>
            <a:pPr>
              <a:lnSpc>
                <a:spcPts val="1728"/>
              </a:lnSpc>
              <a:spcBef>
                <a:spcPts val="0"/>
              </a:spcBef>
              <a:spcAft>
                <a:spcPts val="0"/>
              </a:spcAft>
              <a:defRPr sz="1600" b="0">
                <a:solidFill>
                  <a:srgbClr val="182B3A"/>
                </a:solidFill>
                <a:latin typeface="Arial"/>
              </a:defRPr>
            </a:pPr>
            <a:r>
              <a:t>8 → write 8</a:t>
            </a:r>
          </a:p>
          <a:p>
            <a:pPr>
              <a:lnSpc>
                <a:spcPts val="1728"/>
              </a:lnSpc>
              <a:spcBef>
                <a:spcPts val="0"/>
              </a:spcBef>
              <a:spcAft>
                <a:spcPts val="0"/>
              </a:spcAft>
              <a:defRPr sz="1600" b="0">
                <a:solidFill>
                  <a:srgbClr val="182B3A"/>
                </a:solidFill>
                <a:latin typeface="Arial"/>
              </a:defRPr>
            </a:pPr>
            <a:r>
              <a:t>4 + 0 + 6 = 10 → write 0, carry 1</a:t>
            </a:r>
          </a:p>
          <a:p>
            <a:pPr>
              <a:lnSpc>
                <a:spcPts val="1728"/>
              </a:lnSpc>
              <a:spcBef>
                <a:spcPts val="0"/>
              </a:spcBef>
              <a:spcAft>
                <a:spcPts val="0"/>
              </a:spcAft>
              <a:defRPr sz="1600" b="0">
                <a:solidFill>
                  <a:srgbClr val="182B3A"/>
                </a:solidFill>
                <a:latin typeface="Arial"/>
              </a:defRPr>
            </a:pPr>
            <a:r>
              <a:t>0 + 3 + 0 + 1 = 4 → write 4</a:t>
            </a:r>
          </a:p>
          <a:p>
            <a:pPr>
              <a:lnSpc>
                <a:spcPts val="1728"/>
              </a:lnSpc>
              <a:spcBef>
                <a:spcPts val="0"/>
              </a:spcBef>
              <a:spcAft>
                <a:spcPts val="0"/>
              </a:spcAft>
              <a:defRPr sz="1600" b="0">
                <a:solidFill>
                  <a:srgbClr val="182B3A"/>
                </a:solidFill>
                <a:latin typeface="Arial"/>
              </a:defRPr>
            </a:pPr>
            <a:r>
              <a:t>0 → leading zero</a:t>
            </a:r>
          </a:p>
        </p:txBody>
      </p:sp>
      <p:sp>
        <p:nvSpPr>
          <p:cNvPr id="150" name="Rectangle 149"/>
          <p:cNvSpPr/>
          <p:nvPr/>
        </p:nvSpPr>
        <p:spPr>
          <a:xfrm>
            <a:off x="10326624" y="5148072"/>
            <a:ext cx="3919727" cy="1783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TextBox 150"/>
          <p:cNvSpPr txBox="1"/>
          <p:nvPr/>
        </p:nvSpPr>
        <p:spPr>
          <a:xfrm>
            <a:off x="10390632" y="5212080"/>
            <a:ext cx="3791712" cy="1618488"/>
          </a:xfrm>
          <a:prstGeom prst="rect">
            <a:avLst/>
          </a:prstGeom>
          <a:noFill/>
        </p:spPr>
        <p:txBody>
          <a:bodyPr wrap="square" tIns="36576" bIns="36576" anchor="t">
            <a:spAutoFit/>
          </a:bodyPr>
          <a:lstStyle/>
          <a:p>
            <a:pPr>
              <a:lnSpc>
                <a:spcPts val="1728"/>
              </a:lnSpc>
              <a:spcBef>
                <a:spcPts val="0"/>
              </a:spcBef>
              <a:spcAft>
                <a:spcPts val="0"/>
              </a:spcAft>
              <a:defRPr sz="1600" b="0">
                <a:solidFill>
                  <a:srgbClr val="182B3A"/>
                </a:solidFill>
                <a:latin typeface="Arial"/>
              </a:defRPr>
            </a:pPr>
            <a:r>
              <a:t>Start at the bottom right:</a:t>
            </a:r>
          </a:p>
          <a:p>
            <a:pPr>
              <a:lnSpc>
                <a:spcPts val="1728"/>
              </a:lnSpc>
              <a:spcBef>
                <a:spcPts val="0"/>
              </a:spcBef>
              <a:spcAft>
                <a:spcPts val="0"/>
              </a:spcAft>
              <a:defRPr sz="1600" b="0">
                <a:solidFill>
                  <a:srgbClr val="182B3A"/>
                </a:solidFill>
                <a:latin typeface="Arial"/>
              </a:defRPr>
            </a:pPr>
            <a:r>
              <a:t>2 → write 2</a:t>
            </a:r>
          </a:p>
          <a:p>
            <a:pPr>
              <a:lnSpc>
                <a:spcPts val="1728"/>
              </a:lnSpc>
              <a:spcBef>
                <a:spcPts val="0"/>
              </a:spcBef>
              <a:spcAft>
                <a:spcPts val="0"/>
              </a:spcAft>
              <a:defRPr sz="1600" b="0">
                <a:solidFill>
                  <a:srgbClr val="182B3A"/>
                </a:solidFill>
                <a:latin typeface="Arial"/>
              </a:defRPr>
            </a:pPr>
            <a:r>
              <a:t>1 + 6 + 0 = 7 → write 7</a:t>
            </a:r>
          </a:p>
          <a:p>
            <a:pPr>
              <a:lnSpc>
                <a:spcPts val="1728"/>
              </a:lnSpc>
              <a:spcBef>
                <a:spcPts val="0"/>
              </a:spcBef>
              <a:spcAft>
                <a:spcPts val="0"/>
              </a:spcAft>
              <a:defRPr sz="1600" b="0">
                <a:solidFill>
                  <a:srgbClr val="182B3A"/>
                </a:solidFill>
                <a:latin typeface="Arial"/>
              </a:defRPr>
            </a:pPr>
            <a:r>
              <a:t>0 + 8 + 1 + 5 = 14 → 4, carry 1</a:t>
            </a:r>
          </a:p>
          <a:p>
            <a:pPr>
              <a:lnSpc>
                <a:spcPts val="1728"/>
              </a:lnSpc>
              <a:spcBef>
                <a:spcPts val="0"/>
              </a:spcBef>
              <a:spcAft>
                <a:spcPts val="0"/>
              </a:spcAft>
              <a:defRPr sz="1600" b="0">
                <a:solidFill>
                  <a:srgbClr val="182B3A"/>
                </a:solidFill>
                <a:latin typeface="Arial"/>
              </a:defRPr>
            </a:pPr>
            <a:r>
              <a:t>1 + 4 + 0 + 5 + 1 = 11 → 1, carry 1</a:t>
            </a:r>
          </a:p>
          <a:p>
            <a:pPr>
              <a:lnSpc>
                <a:spcPts val="1728"/>
              </a:lnSpc>
              <a:spcBef>
                <a:spcPts val="0"/>
              </a:spcBef>
              <a:spcAft>
                <a:spcPts val="0"/>
              </a:spcAft>
              <a:defRPr sz="1600" b="0">
                <a:solidFill>
                  <a:srgbClr val="182B3A"/>
                </a:solidFill>
                <a:latin typeface="Arial"/>
              </a:defRPr>
            </a:pPr>
            <a:r>
              <a:t>2 + 0 + 1 + 1 = 4 → write 4</a:t>
            </a:r>
          </a:p>
          <a:p>
            <a:pPr>
              <a:lnSpc>
                <a:spcPts val="1728"/>
              </a:lnSpc>
              <a:spcBef>
                <a:spcPts val="0"/>
              </a:spcBef>
              <a:spcAft>
                <a:spcPts val="0"/>
              </a:spcAft>
              <a:defRPr sz="1600" b="0">
                <a:solidFill>
                  <a:srgbClr val="182B3A"/>
                </a:solidFill>
                <a:latin typeface="Arial"/>
              </a:defRPr>
            </a:pPr>
            <a:r>
              <a:t>2 → write 2</a:t>
            </a:r>
          </a:p>
        </p:txBody>
      </p:sp>
      <p:sp>
        <p:nvSpPr>
          <p:cNvPr id="152" name="Rectangle 151"/>
          <p:cNvSpPr/>
          <p:nvPr/>
        </p:nvSpPr>
        <p:spPr>
          <a:xfrm>
            <a:off x="384048" y="6931152"/>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TextBox 152"/>
          <p:cNvSpPr txBox="1"/>
          <p:nvPr/>
        </p:nvSpPr>
        <p:spPr>
          <a:xfrm>
            <a:off x="448056" y="7022592"/>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54" name="Rectangle 153"/>
          <p:cNvSpPr/>
          <p:nvPr/>
        </p:nvSpPr>
        <p:spPr>
          <a:xfrm>
            <a:off x="2487168" y="6931152"/>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TextBox 154"/>
          <p:cNvSpPr txBox="1"/>
          <p:nvPr/>
        </p:nvSpPr>
        <p:spPr>
          <a:xfrm>
            <a:off x="2551175" y="6995160"/>
            <a:ext cx="3791712" cy="612647"/>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56" name="Rectangle 155"/>
          <p:cNvSpPr/>
          <p:nvPr/>
        </p:nvSpPr>
        <p:spPr>
          <a:xfrm>
            <a:off x="6406895" y="6931152"/>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TextBox 156"/>
          <p:cNvSpPr txBox="1"/>
          <p:nvPr/>
        </p:nvSpPr>
        <p:spPr>
          <a:xfrm>
            <a:off x="6470904" y="6995160"/>
            <a:ext cx="3791712" cy="612647"/>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58" name="Rectangle 157"/>
          <p:cNvSpPr/>
          <p:nvPr/>
        </p:nvSpPr>
        <p:spPr>
          <a:xfrm>
            <a:off x="10326624" y="6931152"/>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TextBox 158"/>
          <p:cNvSpPr txBox="1"/>
          <p:nvPr/>
        </p:nvSpPr>
        <p:spPr>
          <a:xfrm>
            <a:off x="10390632" y="6995160"/>
            <a:ext cx="3791712" cy="612647"/>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56 = 241,472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2/7  •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3/7  •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4/7  •  Slide 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3- and 4-digit numbers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52</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5/7  •  Slide 5</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3- and 4-digit numbers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35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42</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6/7  •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3- and 4-digit numbers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7/7  •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3- and 4-digit numbers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1/7  •  Slide 8</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5</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1" name="TextBox 40"/>
            <p:cNvSpPr txBox="1"/>
            <p:nvPr/>
          </p:nvSpPr>
          <p:spPr>
            <a:xfrm>
              <a:off x="8252459"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43" name="TextBox 42"/>
            <p:cNvSpPr txBox="1"/>
            <p:nvPr/>
          </p:nvSpPr>
          <p:spPr>
            <a:xfrm>
              <a:off x="8161019"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4</a:t>
              </a:r>
            </a:p>
          </p:txBody>
        </p:sp>
        <p:sp>
          <p:nvSpPr>
            <p:cNvPr id="46" name="TextBox 45"/>
            <p:cNvSpPr txBox="1"/>
            <p:nvPr/>
          </p:nvSpPr>
          <p:spPr>
            <a:xfrm>
              <a:off x="8609076"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5.</a:t>
            </a:r>
          </a:p>
        </p:txBody>
      </p:sp>
      <p:grpSp>
        <p:nvGrpSpPr>
          <p:cNvPr id="50" name="Editable bus stop 4834 ÷ 5"/>
          <p:cNvGrpSpPr/>
          <p:nvPr/>
        </p:nvGrpSpPr>
        <p:grpSpPr>
          <a:xfrm>
            <a:off x="10576559" y="3008375"/>
            <a:ext cx="3218688" cy="758952"/>
            <a:chOff x="10576559" y="3008375"/>
            <a:chExt cx="3218688" cy="758952"/>
          </a:xfrm>
        </p:grpSpPr>
        <p:cxnSp>
          <p:nvCxnSpPr>
            <p:cNvPr id="51" name="Connector 50"/>
            <p:cNvCxnSpPr/>
            <p:nvPr/>
          </p:nvCxnSpPr>
          <p:spPr>
            <a:xfrm>
              <a:off x="10978895" y="3383279"/>
              <a:ext cx="2816352"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978895"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576559" y="3401567"/>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5</a:t>
              </a:r>
            </a:p>
          </p:txBody>
        </p:sp>
        <p:sp>
          <p:nvSpPr>
            <p:cNvPr id="54" name="TextBox 53"/>
            <p:cNvSpPr txBox="1"/>
            <p:nvPr/>
          </p:nvSpPr>
          <p:spPr>
            <a:xfrm>
              <a:off x="11052047"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55" name="TextBox 54"/>
            <p:cNvSpPr txBox="1"/>
            <p:nvPr/>
          </p:nvSpPr>
          <p:spPr>
            <a:xfrm>
              <a:off x="11052047"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56" name="TextBox 55"/>
            <p:cNvSpPr txBox="1"/>
            <p:nvPr/>
          </p:nvSpPr>
          <p:spPr>
            <a:xfrm>
              <a:off x="11500103"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57" name="TextBox 56"/>
            <p:cNvSpPr txBox="1"/>
            <p:nvPr/>
          </p:nvSpPr>
          <p:spPr>
            <a:xfrm>
              <a:off x="11500103"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r>
                <a:t>9</a:t>
              </a:r>
            </a:p>
          </p:txBody>
        </p:sp>
        <p:sp>
          <p:nvSpPr>
            <p:cNvPr id="58" name="TextBox 57"/>
            <p:cNvSpPr txBox="1"/>
            <p:nvPr/>
          </p:nvSpPr>
          <p:spPr>
            <a:xfrm>
              <a:off x="11408663"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sp>
          <p:nvSpPr>
            <p:cNvPr id="59" name="TextBox 58"/>
            <p:cNvSpPr txBox="1"/>
            <p:nvPr/>
          </p:nvSpPr>
          <p:spPr>
            <a:xfrm>
              <a:off x="11948159"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60" name="TextBox 59"/>
            <p:cNvSpPr txBox="1"/>
            <p:nvPr/>
          </p:nvSpPr>
          <p:spPr>
            <a:xfrm>
              <a:off x="11948159"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r>
                <a:t>6</a:t>
              </a:r>
            </a:p>
          </p:txBody>
        </p:sp>
        <p:sp>
          <p:nvSpPr>
            <p:cNvPr id="61" name="TextBox 60"/>
            <p:cNvSpPr txBox="1"/>
            <p:nvPr/>
          </p:nvSpPr>
          <p:spPr>
            <a:xfrm>
              <a:off x="11856719"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3</a:t>
              </a:r>
            </a:p>
          </p:txBody>
        </p:sp>
        <p:sp>
          <p:nvSpPr>
            <p:cNvPr id="62" name="TextBox 61"/>
            <p:cNvSpPr txBox="1"/>
            <p:nvPr/>
          </p:nvSpPr>
          <p:spPr>
            <a:xfrm>
              <a:off x="12396215"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3" name="TextBox 62"/>
            <p:cNvSpPr txBox="1"/>
            <p:nvPr/>
          </p:nvSpPr>
          <p:spPr>
            <a:xfrm>
              <a:off x="12396215"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r>
                <a:t>6</a:t>
              </a:r>
            </a:p>
          </p:txBody>
        </p:sp>
        <p:sp>
          <p:nvSpPr>
            <p:cNvPr id="64" name="TextBox 63"/>
            <p:cNvSpPr txBox="1"/>
            <p:nvPr/>
          </p:nvSpPr>
          <p:spPr>
            <a:xfrm>
              <a:off x="12304775"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3</a:t>
              </a:r>
            </a:p>
          </p:txBody>
        </p:sp>
        <p:sp>
          <p:nvSpPr>
            <p:cNvPr id="65" name="TextBox 64"/>
            <p:cNvSpPr txBox="1"/>
            <p:nvPr/>
          </p:nvSpPr>
          <p:spPr>
            <a:xfrm>
              <a:off x="12844271"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a:t>
              </a:r>
            </a:p>
          </p:txBody>
        </p:sp>
        <p:sp>
          <p:nvSpPr>
            <p:cNvPr id="66" name="TextBox 65"/>
            <p:cNvSpPr txBox="1"/>
            <p:nvPr/>
          </p:nvSpPr>
          <p:spPr>
            <a:xfrm>
              <a:off x="12844271"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r>
                <a:t>.</a:t>
              </a:r>
            </a:p>
          </p:txBody>
        </p:sp>
        <p:sp>
          <p:nvSpPr>
            <p:cNvPr id="67" name="TextBox 66"/>
            <p:cNvSpPr txBox="1"/>
            <p:nvPr/>
          </p:nvSpPr>
          <p:spPr>
            <a:xfrm>
              <a:off x="13292327"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68" name="TextBox 67"/>
            <p:cNvSpPr txBox="1"/>
            <p:nvPr/>
          </p:nvSpPr>
          <p:spPr>
            <a:xfrm>
              <a:off x="13292327" y="3008375"/>
              <a:ext cx="448056" cy="320040"/>
            </a:xfrm>
            <a:prstGeom prst="rect">
              <a:avLst/>
            </a:prstGeom>
            <a:noFill/>
          </p:spPr>
          <p:txBody>
            <a:bodyPr wrap="none" lIns="0" rIns="0" tIns="0" bIns="0" anchor="ctr">
              <a:spAutoFit/>
            </a:bodyPr>
            <a:lstStyle/>
            <a:p>
              <a:pPr algn="ctr">
                <a:defRPr sz="2400" b="1">
                  <a:solidFill>
                    <a:srgbClr val="754B87"/>
                  </a:solidFill>
                  <a:latin typeface="Arial"/>
                </a:defRPr>
              </a:pPr>
              <a:r>
                <a:t>8</a:t>
              </a:r>
            </a:p>
          </p:txBody>
        </p:sp>
        <p:sp>
          <p:nvSpPr>
            <p:cNvPr id="69" name="TextBox 68"/>
            <p:cNvSpPr txBox="1"/>
            <p:nvPr/>
          </p:nvSpPr>
          <p:spPr>
            <a:xfrm>
              <a:off x="13200888"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grpSp>
      <p:sp>
        <p:nvSpPr>
          <p:cNvPr id="70" name="Rectangle 69"/>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2" name="Rectangle 71"/>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4" name="Rectangle 73"/>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76" name="Rectangle 75"/>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5 = 0 r 4 → make 48.</a:t>
            </a:r>
          </a:p>
          <a:p>
            <a:pPr>
              <a:lnSpc>
                <a:spcPts val="1944"/>
              </a:lnSpc>
              <a:spcBef>
                <a:spcPts val="0"/>
              </a:spcBef>
              <a:spcAft>
                <a:spcPts val="0"/>
              </a:spcAft>
              <a:defRPr sz="1800" b="0">
                <a:solidFill>
                  <a:srgbClr val="182B3A"/>
                </a:solidFill>
                <a:latin typeface="Arial"/>
              </a:defRPr>
            </a:pPr>
            <a:r>
              <a:t>48 ÷ 5 = 9 r 3 → make 33.</a:t>
            </a:r>
          </a:p>
          <a:p>
            <a:pPr>
              <a:lnSpc>
                <a:spcPts val="1944"/>
              </a:lnSpc>
              <a:spcBef>
                <a:spcPts val="0"/>
              </a:spcBef>
              <a:spcAft>
                <a:spcPts val="0"/>
              </a:spcAft>
              <a:defRPr sz="1800" b="0">
                <a:solidFill>
                  <a:srgbClr val="182B3A"/>
                </a:solidFill>
                <a:latin typeface="Arial"/>
              </a:defRPr>
            </a:pPr>
            <a:r>
              <a:t>33 ÷ 5 = 6 r 3 → make 34.</a:t>
            </a:r>
          </a:p>
          <a:p>
            <a:pPr>
              <a:lnSpc>
                <a:spcPts val="1944"/>
              </a:lnSpc>
              <a:spcBef>
                <a:spcPts val="0"/>
              </a:spcBef>
              <a:spcAft>
                <a:spcPts val="0"/>
              </a:spcAft>
              <a:defRPr sz="1800" b="0">
                <a:solidFill>
                  <a:srgbClr val="182B3A"/>
                </a:solidFill>
                <a:latin typeface="Arial"/>
              </a:defRPr>
            </a:pPr>
            <a:r>
              <a:t>34 ÷ 5 = 6 r 4.</a:t>
            </a:r>
          </a:p>
        </p:txBody>
      </p:sp>
      <p:sp>
        <p:nvSpPr>
          <p:cNvPr id="78" name="Rectangle 77"/>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0" name="Rectangle 79"/>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2" name="Rectangle 81"/>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4" name="Rectangle 83"/>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a zero.</a:t>
            </a:r>
          </a:p>
          <a:p>
            <a:pPr>
              <a:lnSpc>
                <a:spcPts val="2052"/>
              </a:lnSpc>
              <a:spcBef>
                <a:spcPts val="0"/>
              </a:spcBef>
              <a:spcAft>
                <a:spcPts val="0"/>
              </a:spcAft>
              <a:defRPr sz="1900" b="0">
                <a:solidFill>
                  <a:srgbClr val="182B3A"/>
                </a:solidFill>
                <a:latin typeface="Arial"/>
              </a:defRPr>
            </a:pPr>
            <a:r>
              <a:t>Carry 4 to the zero to make 40.</a:t>
            </a:r>
          </a:p>
          <a:p>
            <a:pPr>
              <a:lnSpc>
                <a:spcPts val="2052"/>
              </a:lnSpc>
              <a:spcBef>
                <a:spcPts val="0"/>
              </a:spcBef>
              <a:spcAft>
                <a:spcPts val="0"/>
              </a:spcAft>
              <a:defRPr sz="1900" b="0">
                <a:solidFill>
                  <a:srgbClr val="182B3A"/>
                </a:solidFill>
                <a:latin typeface="Arial"/>
              </a:defRPr>
            </a:pPr>
            <a:r>
              <a:t>40 ÷ 5 = 8. Write 8 after the decimal point.</a:t>
            </a:r>
          </a:p>
          <a:p>
            <a:pPr>
              <a:lnSpc>
                <a:spcPts val="2052"/>
              </a:lnSpc>
              <a:spcBef>
                <a:spcPts val="0"/>
              </a:spcBef>
              <a:spcAft>
                <a:spcPts val="0"/>
              </a:spcAft>
              <a:defRPr sz="1900" b="0">
                <a:solidFill>
                  <a:srgbClr val="182B3A"/>
                </a:solidFill>
                <a:latin typeface="Arial"/>
              </a:defRPr>
            </a:pPr>
            <a:r>
              <a:t>The remainder is now 0.</a:t>
            </a:r>
          </a:p>
        </p:txBody>
      </p:sp>
      <p:sp>
        <p:nvSpPr>
          <p:cNvPr id="86" name="Rectangle 85"/>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88" name="Rectangle 87"/>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0" name="Rectangle 89"/>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2" name="Rectangle 91"/>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5 = 966.8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2/7  •  Slide 9</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4</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3/7  •  Slide 10</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8</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4/7  •  Slide 11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Larger numbers;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1,425 ÷ 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3,819 ÷ 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5/7  •  Slide 12</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Larger numbers;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2,137 ÷ 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4,606 ÷ 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6/7  •  Slide 13</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Larger numbers;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5,178 ÷ 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7/7  •  Slide 14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Larger numbers;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4,376 ÷ 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6,286 ÷ 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1/7  •  Slide 15</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9" name="TextBox 48"/>
            <p:cNvSpPr txBox="1"/>
            <p:nvPr/>
          </p:nvSpPr>
          <p:spPr>
            <a:xfrm>
              <a:off x="8252459"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51" name="TextBox 50"/>
            <p:cNvSpPr txBox="1"/>
            <p:nvPr/>
          </p:nvSpPr>
          <p:spPr>
            <a:xfrm>
              <a:off x="8161019"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1</a:t>
              </a:r>
            </a:p>
          </p:txBody>
        </p:sp>
        <p:sp>
          <p:nvSpPr>
            <p:cNvPr id="54" name="TextBox 53"/>
            <p:cNvSpPr txBox="1"/>
            <p:nvPr/>
          </p:nvSpPr>
          <p:spPr>
            <a:xfrm>
              <a:off x="8609076"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64" name="TextBox 63"/>
            <p:cNvSpPr txBox="1"/>
            <p:nvPr/>
          </p:nvSpPr>
          <p:spPr>
            <a:xfrm>
              <a:off x="11228100"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1</a:t>
              </a:r>
            </a:p>
          </p:txBody>
        </p:sp>
        <p:sp>
          <p:nvSpPr>
            <p:cNvPr id="66" name="TextBox 65"/>
            <p:cNvSpPr txBox="1"/>
            <p:nvPr/>
          </p:nvSpPr>
          <p:spPr>
            <a:xfrm>
              <a:off x="11136660"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6</a:t>
              </a:r>
            </a:p>
          </p:txBody>
        </p:sp>
        <p:sp>
          <p:nvSpPr>
            <p:cNvPr id="69" name="TextBox 68"/>
            <p:cNvSpPr txBox="1"/>
            <p:nvPr/>
          </p:nvSpPr>
          <p:spPr>
            <a:xfrm>
              <a:off x="11580936"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rIns="0" t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rIns="0" t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rIns="0" t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2/7  •  Slide 16</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3/7  •  Slide 17</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4/7  •  Slide 18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5/7  •  Slide 19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6/7  •  Slide 20</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7/7  •  Slide 21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