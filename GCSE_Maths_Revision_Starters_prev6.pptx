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8"/>
    <p:sldId id="272" r:id="rId7"/>
    <p:sldId id="273" r:id="rId6"/>
    <p:sldId id="274" r:id="rId5"/>
    <p:sldId id="275" r:id="rId4"/>
    <p:sldId id="276" r:id="rId3"/>
    <p:sldId id="277" r:id="rId2"/>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F5D94-B901-6206-A612-082DFF76D998}" v="4" dt="2026-09-24T15:48:54.0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2.xml"/><Relationship Id="rId3" Type="http://schemas.openxmlformats.org/officeDocument/2006/relationships/slide" Target="slides/slide21.xml"/><Relationship Id="rId4" Type="http://schemas.openxmlformats.org/officeDocument/2006/relationships/slide" Target="slides/slide20.xml"/><Relationship Id="rId5" Type="http://schemas.openxmlformats.org/officeDocument/2006/relationships/slide" Target="slides/slide19.xml"/><Relationship Id="rId6" Type="http://schemas.openxmlformats.org/officeDocument/2006/relationships/slide" Target="slides/slide18.xml"/><Relationship Id="rId7" Type="http://schemas.openxmlformats.org/officeDocument/2006/relationships/slide" Target="slides/slide17.xml"/><Relationship Id="rId8" Type="http://schemas.openxmlformats.org/officeDocument/2006/relationships/slide" Target="slides/slide16.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Hudson" userId="41092641-dab8-42af-8751-810f10f62201" providerId="ADAL" clId="{2D5970AC-48F5-4BA0-8370-EBD52AA4EFA8}"/>
    <pc:docChg chg="modSld">
      <pc:chgData name="Joe Hudson" userId="41092641-dab8-42af-8751-810f10f62201" providerId="ADAL" clId="{2D5970AC-48F5-4BA0-8370-EBD52AA4EFA8}" dt="2026-09-24T12:16:27.943" v="25" actId="20577"/>
      <pc:docMkLst>
        <pc:docMk/>
      </pc:docMkLst>
      <pc:sldChg chg="modSp mod">
        <pc:chgData name="Joe Hudson" userId="41092641-dab8-42af-8751-810f10f62201" providerId="ADAL" clId="{2D5970AC-48F5-4BA0-8370-EBD52AA4EFA8}" dt="2026-09-24T12:16:27.943" v="25" actId="20577"/>
        <pc:sldMkLst>
          <pc:docMk/>
          <pc:sldMk cId="0" sldId="257"/>
        </pc:sldMkLst>
        <pc:spChg chg="mod">
          <ac:chgData name="Joe Hudson" userId="41092641-dab8-42af-8751-810f10f62201" providerId="ADAL" clId="{2D5970AC-48F5-4BA0-8370-EBD52AA4EFA8}" dt="2026-09-24T12:16:27.943" v="25" actId="20577"/>
          <ac:spMkLst>
            <pc:docMk/>
            <pc:sldMk cId="0" sldId="257"/>
            <ac:spMk id="36" creationId="{00000000-0000-0000-0000-000000000000}"/>
          </ac:spMkLst>
        </pc:spChg>
      </pc:sldChg>
      <pc:sldChg chg="modSp mod">
        <pc:chgData name="Joe Hudson" userId="41092641-dab8-42af-8751-810f10f62201" providerId="ADAL" clId="{2D5970AC-48F5-4BA0-8370-EBD52AA4EFA8}" dt="2026-09-24T12:16:16.865" v="12" actId="20577"/>
        <pc:sldMkLst>
          <pc:docMk/>
          <pc:sldMk cId="0" sldId="258"/>
        </pc:sldMkLst>
        <pc:spChg chg="mod">
          <ac:chgData name="Joe Hudson" userId="41092641-dab8-42af-8751-810f10f62201" providerId="ADAL" clId="{2D5970AC-48F5-4BA0-8370-EBD52AA4EFA8}" dt="2026-09-24T12:16:16.865" v="12" actId="20577"/>
          <ac:spMkLst>
            <pc:docMk/>
            <pc:sldMk cId="0" sldId="258"/>
            <ac:spMk id="36" creationId="{00000000-0000-0000-0000-000000000000}"/>
          </ac:spMkLst>
        </pc:spChg>
      </pc:sldChg>
    </pc:docChg>
  </pc:docChgLst>
  <pc:docChgLst>
    <pc:chgData name="Joe Hudson" userId="S::joe.hudson@shcg.ac.uk::41092641-dab8-42af-8751-810f10f62201" providerId="AD" clId="Web-{2CDF5D94-B901-6206-A612-082DFF76D998}"/>
    <pc:docChg chg="modSld">
      <pc:chgData name="Joe Hudson" userId="S::joe.hudson@shcg.ac.uk::41092641-dab8-42af-8751-810f10f62201" providerId="AD" clId="Web-{2CDF5D94-B901-6206-A612-082DFF76D998}" dt="2026-09-24T15:48:54.034" v="1" actId="20577"/>
      <pc:docMkLst>
        <pc:docMk/>
      </pc:docMkLst>
      <pc:sldChg chg="modSp">
        <pc:chgData name="Joe Hudson" userId="S::joe.hudson@shcg.ac.uk::41092641-dab8-42af-8751-810f10f62201" providerId="AD" clId="Web-{2CDF5D94-B901-6206-A612-082DFF76D998}" dt="2026-09-24T15:48:54.034" v="1" actId="20577"/>
        <pc:sldMkLst>
          <pc:docMk/>
          <pc:sldMk cId="0" sldId="276"/>
        </pc:sldMkLst>
        <pc:spChg chg="mod">
          <ac:chgData name="Joe Hudson" userId="S::joe.hudson@shcg.ac.uk::41092641-dab8-42af-8751-810f10f62201" providerId="AD" clId="Web-{2CDF5D94-B901-6206-A612-082DFF76D998}" dt="2026-09-24T15:48:54.034" v="1" actId="20577"/>
          <ac:spMkLst>
            <pc:docMk/>
            <pc:sldMk cId="0" sldId="276"/>
            <ac:spMk id="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36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worked demo</a:t>
            </a:r>
          </a:p>
          <a:p>
            <a:endParaRPr/>
          </a:p>
          <a:p>
            <a:r>
              <a:t>Guided: 43 × 6 = 258. Core: 34 × 12 = 408. Depth: 4,312 × 156 = 672,672.</a:t>
            </a:r>
          </a:p>
          <a:p>
            <a:endParaRPr/>
          </a:p>
          <a:p>
            <a:r>
              <a:t>The completed lattice diagrams are editable grouped PowerPoint shapes. Diagonals run from bottom left to top right. Place tens above each diagonal and units below it. Put answer digits at the ends of their diagonal tracks, down the left edge and along the bottom. Place carries at the bottom end of the NEXT diagonal in smaller text. Depth diagonal totals from right to left, including carries: 2, 7, 16, 12, 7, 6, 0. The last 1 in the fourth and fifth sums is a carry. Read the result in reverse order and omit the leading zero: 672672.</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1</a:t>
            </a:r>
          </a:p>
          <a:p>
            <a:endParaRPr/>
          </a:p>
          <a:p>
            <a:r>
              <a:t>Thread 1: Guided: 53 × 7 = **371**</a:t>
            </a:r>
          </a:p>
          <a:p>
            <a:endParaRPr/>
          </a:p>
          <a:p>
            <a:r>
              <a:t>Thread 2: Core: 24 × 15 = **360**</a:t>
            </a:r>
          </a:p>
          <a:p>
            <a:endParaRPr/>
          </a:p>
          <a:p>
            <a:r>
              <a:t>Thread 3: Depth: 1,245 × 326 = **405,870**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2</a:t>
            </a:r>
          </a:p>
          <a:p>
            <a:endParaRPr/>
          </a:p>
          <a:p>
            <a:r>
              <a:t>Thread 1: Guided: 84 × 5 = **420**</a:t>
            </a:r>
          </a:p>
          <a:p>
            <a:endParaRPr/>
          </a:p>
          <a:p>
            <a:r>
              <a:t>Thread 2: Core: 63 × 28 = **1,764**</a:t>
            </a:r>
          </a:p>
          <a:p>
            <a:endParaRPr/>
          </a:p>
          <a:p>
            <a:r>
              <a:t>Thread 3: Depth: 3,142 × 2045 = **6,425,390**</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1</a:t>
            </a:r>
          </a:p>
          <a:p>
            <a:endParaRPr/>
          </a:p>
          <a:p>
            <a:r>
              <a:t>### Thread 1: Guided</a:t>
            </a:r>
          </a:p>
          <a:p>
            <a:endParaRPr/>
          </a:p>
          <a:p>
            <a:r>
              <a:t>1. 32 × 4 = **128**</a:t>
            </a:r>
          </a:p>
          <a:p>
            <a:endParaRPr/>
          </a:p>
          <a:p>
            <a:r>
              <a:t>2. 61 × 8 = **488**</a:t>
            </a:r>
          </a:p>
          <a:p>
            <a:endParaRPr/>
          </a:p>
          <a:p>
            <a:r>
              <a:t>3. 45 × 3 = **135**</a:t>
            </a:r>
          </a:p>
          <a:p>
            <a:endParaRPr/>
          </a:p>
          <a:p>
            <a:r>
              <a:t>4. 72 × 6 = **432**</a:t>
            </a:r>
          </a:p>
          <a:p>
            <a:endParaRPr/>
          </a:p>
          <a:p>
            <a:r>
              <a:t>5. 83 × 7 = **581**</a:t>
            </a:r>
          </a:p>
          <a:p>
            <a:endParaRPr/>
          </a:p>
          <a:p>
            <a:r>
              <a:t>6. 95 × 9 = **855**</a:t>
            </a:r>
          </a:p>
          <a:p>
            <a:endParaRPr/>
          </a:p>
          <a:p>
            <a:r>
              <a:t>### Thread 2: Core</a:t>
            </a:r>
          </a:p>
          <a:p>
            <a:endParaRPr/>
          </a:p>
          <a:p>
            <a:r>
              <a:t>1. 42 × 13 = **546**</a:t>
            </a:r>
          </a:p>
          <a:p>
            <a:endParaRPr/>
          </a:p>
          <a:p>
            <a:r>
              <a:t>2. 26 × 34 = **884**</a:t>
            </a:r>
          </a:p>
          <a:p>
            <a:endParaRPr/>
          </a:p>
          <a:p>
            <a:r>
              <a:t>3. 51 × 22 = **1,122**</a:t>
            </a:r>
          </a:p>
          <a:p>
            <a:endParaRPr/>
          </a:p>
          <a:p>
            <a:r>
              <a:t>4. 63 × 41 = **2,583**</a:t>
            </a:r>
          </a:p>
          <a:p>
            <a:endParaRPr/>
          </a:p>
          <a:p>
            <a:r>
              <a:t>5. 75 × 16 = **1,200**</a:t>
            </a:r>
          </a:p>
          <a:p>
            <a:endParaRPr/>
          </a:p>
          <a:p>
            <a:r>
              <a:t>6. 82 × 57 = **4,674**</a:t>
            </a:r>
          </a:p>
          <a:p>
            <a:endParaRPr/>
          </a:p>
          <a:p>
            <a:r>
              <a:t>### Thread 3: Depth</a:t>
            </a:r>
          </a:p>
          <a:p>
            <a:endParaRPr/>
          </a:p>
          <a:p>
            <a:r>
              <a:t>1. 342 × 15 = **5,130**</a:t>
            </a:r>
          </a:p>
          <a:p>
            <a:endParaRPr/>
          </a:p>
          <a:p>
            <a:r>
              <a:t>2. 612 × 24 = **14,688**</a:t>
            </a:r>
          </a:p>
          <a:p>
            <a:endParaRPr/>
          </a:p>
          <a:p>
            <a:r>
              <a:t>3. 1,234 × 125 = **154,250**</a:t>
            </a:r>
          </a:p>
          <a:p>
            <a:endParaRPr/>
          </a:p>
          <a:p>
            <a:r>
              <a:t>4. 2,105 × 304 = **639,920**</a:t>
            </a:r>
          </a:p>
          <a:p>
            <a:endParaRPr/>
          </a:p>
          <a:p>
            <a:r>
              <a:t>5. 4,316 × 1,024 = **4,419,584**</a:t>
            </a:r>
          </a:p>
          <a:p>
            <a:endParaRPr/>
          </a:p>
          <a:p>
            <a:r>
              <a:t>6. 7,029 × 2,316 = **16,279,164**</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2</a:t>
            </a:r>
          </a:p>
          <a:p>
            <a:endParaRPr/>
          </a:p>
          <a:p>
            <a:r>
              <a:t>### Thread 1: Guided</a:t>
            </a:r>
          </a:p>
          <a:p>
            <a:endParaRPr/>
          </a:p>
          <a:p>
            <a:r>
              <a:t>1. 24 × 6 = **144**</a:t>
            </a:r>
          </a:p>
          <a:p>
            <a:endParaRPr/>
          </a:p>
          <a:p>
            <a:r>
              <a:t>2. 57 × 4 = **228**</a:t>
            </a:r>
          </a:p>
          <a:p>
            <a:endParaRPr/>
          </a:p>
          <a:p>
            <a:r>
              <a:t>3. 68 × 3 = **204**</a:t>
            </a:r>
          </a:p>
          <a:p>
            <a:endParaRPr/>
          </a:p>
          <a:p>
            <a:r>
              <a:t>4. 39 × 7 = **273**</a:t>
            </a:r>
          </a:p>
          <a:p>
            <a:endParaRPr/>
          </a:p>
          <a:p>
            <a:r>
              <a:t>5. 86 × 5 = **430**</a:t>
            </a:r>
          </a:p>
          <a:p>
            <a:endParaRPr/>
          </a:p>
          <a:p>
            <a:r>
              <a:t>6. 74 × 8 = **592**</a:t>
            </a:r>
          </a:p>
          <a:p>
            <a:endParaRPr/>
          </a:p>
          <a:p>
            <a:r>
              <a:t>### Thread 2: Core</a:t>
            </a:r>
          </a:p>
          <a:p>
            <a:endParaRPr/>
          </a:p>
          <a:p>
            <a:r>
              <a:t>1. 23 × 14 = **322**</a:t>
            </a:r>
          </a:p>
          <a:p>
            <a:endParaRPr/>
          </a:p>
          <a:p>
            <a:r>
              <a:t>2. 46 × 25 = **1,150**</a:t>
            </a:r>
          </a:p>
          <a:p>
            <a:endParaRPr/>
          </a:p>
          <a:p>
            <a:r>
              <a:t>3. 37 × 42 = **1,554**</a:t>
            </a:r>
          </a:p>
          <a:p>
            <a:endParaRPr/>
          </a:p>
          <a:p>
            <a:r>
              <a:t>4. 58 × 36 = **2,088**</a:t>
            </a:r>
          </a:p>
          <a:p>
            <a:endParaRPr/>
          </a:p>
          <a:p>
            <a:r>
              <a:t>5. 64 × 27 = **1,728**</a:t>
            </a:r>
          </a:p>
          <a:p>
            <a:endParaRPr/>
          </a:p>
          <a:p>
            <a:r>
              <a:t>6. 79 × 53 = **4,187**</a:t>
            </a:r>
          </a:p>
          <a:p>
            <a:endParaRPr/>
          </a:p>
          <a:p>
            <a:r>
              <a:t>### Thread 3: Depth</a:t>
            </a:r>
          </a:p>
          <a:p>
            <a:endParaRPr/>
          </a:p>
          <a:p>
            <a:r>
              <a:t>1. 425 × 23 = **9,775**</a:t>
            </a:r>
          </a:p>
          <a:p>
            <a:endParaRPr/>
          </a:p>
          <a:p>
            <a:r>
              <a:t>2. 708 × 46 = **32,568**</a:t>
            </a:r>
          </a:p>
          <a:p>
            <a:endParaRPr/>
          </a:p>
          <a:p>
            <a:r>
              <a:t>3. 1,326 × 243 = **322,218**</a:t>
            </a:r>
          </a:p>
          <a:p>
            <a:endParaRPr/>
          </a:p>
          <a:p>
            <a:r>
              <a:t>4. 3,048 × 512 = **1,560,576**</a:t>
            </a:r>
          </a:p>
          <a:p>
            <a:endParaRPr/>
          </a:p>
          <a:p>
            <a:r>
              <a:t>5. 5,607 × 1,204 = **6,750,828**</a:t>
            </a:r>
          </a:p>
          <a:p>
            <a:endParaRPr/>
          </a:p>
          <a:p>
            <a:r>
              <a:t>6. 8,214 × 3,067 = **25,192,338**</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3</a:t>
            </a:r>
          </a:p>
          <a:p>
            <a:endParaRPr/>
          </a:p>
          <a:p>
            <a:r>
              <a:t>### Thread 1: Guided</a:t>
            </a:r>
          </a:p>
          <a:p>
            <a:endParaRPr/>
          </a:p>
          <a:p>
            <a:r>
              <a:t>1. 46 × 7 = **322**</a:t>
            </a:r>
          </a:p>
          <a:p>
            <a:endParaRPr/>
          </a:p>
          <a:p>
            <a:r>
              <a:t>2. 29 × 8 = **232**</a:t>
            </a:r>
          </a:p>
          <a:p>
            <a:endParaRPr/>
          </a:p>
          <a:p>
            <a:r>
              <a:t>3. 65 × 4 = **260**</a:t>
            </a:r>
          </a:p>
          <a:p>
            <a:endParaRPr/>
          </a:p>
          <a:p>
            <a:r>
              <a:t>4. 78 × 6 = **468**</a:t>
            </a:r>
          </a:p>
          <a:p>
            <a:endParaRPr/>
          </a:p>
          <a:p>
            <a:r>
              <a:t>5. 93 × 5 = **465**</a:t>
            </a:r>
          </a:p>
          <a:p>
            <a:endParaRPr/>
          </a:p>
          <a:p>
            <a:r>
              <a:t>6. 87 × 9 = **783**</a:t>
            </a:r>
          </a:p>
          <a:p>
            <a:endParaRPr/>
          </a:p>
          <a:p>
            <a:r>
              <a:t>### Thread 2: Core</a:t>
            </a:r>
          </a:p>
          <a:p>
            <a:endParaRPr/>
          </a:p>
          <a:p>
            <a:r>
              <a:t>1. 35 × 24 = **840**</a:t>
            </a:r>
          </a:p>
          <a:p>
            <a:endParaRPr/>
          </a:p>
          <a:p>
            <a:r>
              <a:t>2. 62 × 17 = **1,054**</a:t>
            </a:r>
          </a:p>
          <a:p>
            <a:endParaRPr/>
          </a:p>
          <a:p>
            <a:r>
              <a:t>3. 48 × 39 = **1,872**</a:t>
            </a:r>
          </a:p>
          <a:p>
            <a:endParaRPr/>
          </a:p>
          <a:p>
            <a:r>
              <a:t>4. 76 × 28 = **2,128**</a:t>
            </a:r>
          </a:p>
          <a:p>
            <a:endParaRPr/>
          </a:p>
          <a:p>
            <a:r>
              <a:t>5. 54 × 46 = **2,484**</a:t>
            </a:r>
          </a:p>
          <a:p>
            <a:endParaRPr/>
          </a:p>
          <a:p>
            <a:r>
              <a:t>6. 89 × 65 = **5,785**</a:t>
            </a:r>
          </a:p>
          <a:p>
            <a:endParaRPr/>
          </a:p>
          <a:p>
            <a:r>
              <a:t>### Thread 3: Depth</a:t>
            </a:r>
          </a:p>
          <a:p>
            <a:endParaRPr/>
          </a:p>
          <a:p>
            <a:r>
              <a:t>1. 536 × 34 = **18,224**</a:t>
            </a:r>
          </a:p>
          <a:p>
            <a:endParaRPr/>
          </a:p>
          <a:p>
            <a:r>
              <a:t>2. 809 × 27 = **21,843**</a:t>
            </a:r>
          </a:p>
          <a:p>
            <a:endParaRPr/>
          </a:p>
          <a:p>
            <a:r>
              <a:t>3. 2,047 × 368 = **753,296**</a:t>
            </a:r>
          </a:p>
          <a:p>
            <a:endParaRPr/>
          </a:p>
          <a:p>
            <a:r>
              <a:t>4. 4,158 × 427 = **1,775,466**</a:t>
            </a:r>
          </a:p>
          <a:p>
            <a:endParaRPr/>
          </a:p>
          <a:p>
            <a:r>
              <a:t>5. 6,309 × 2,058 = **12,983,922**</a:t>
            </a:r>
          </a:p>
          <a:p>
            <a:endParaRPr/>
          </a:p>
          <a:p>
            <a:r>
              <a:t>6. 9,274 × 4,163 = **38,607,662**</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4</a:t>
            </a:r>
          </a:p>
          <a:p>
            <a:endParaRPr/>
          </a:p>
          <a:p>
            <a:r>
              <a:t>### Thread 1: Guided</a:t>
            </a:r>
          </a:p>
          <a:p>
            <a:endParaRPr/>
          </a:p>
          <a:p>
            <a:r>
              <a:t>1. 38 × 5 = **190**</a:t>
            </a:r>
          </a:p>
          <a:p>
            <a:endParaRPr/>
          </a:p>
          <a:p>
            <a:r>
              <a:t>2. 56 × 9 = **504**</a:t>
            </a:r>
          </a:p>
          <a:p>
            <a:endParaRPr/>
          </a:p>
          <a:p>
            <a:r>
              <a:t>3. 67 × 8 = **536**</a:t>
            </a:r>
          </a:p>
          <a:p>
            <a:endParaRPr/>
          </a:p>
          <a:p>
            <a:r>
              <a:t>4. 49 × 6 = **294**</a:t>
            </a:r>
          </a:p>
          <a:p>
            <a:endParaRPr/>
          </a:p>
          <a:p>
            <a:r>
              <a:t>5. 82 × 4 = **328**</a:t>
            </a:r>
          </a:p>
          <a:p>
            <a:endParaRPr/>
          </a:p>
          <a:p>
            <a:r>
              <a:t>6. 97 × 7 = **679**</a:t>
            </a:r>
          </a:p>
          <a:p>
            <a:endParaRPr/>
          </a:p>
          <a:p>
            <a:r>
              <a:t>### Thread 2: Core</a:t>
            </a:r>
          </a:p>
          <a:p>
            <a:endParaRPr/>
          </a:p>
          <a:p>
            <a:r>
              <a:t>1. 27 × 35 = **945**</a:t>
            </a:r>
          </a:p>
          <a:p>
            <a:endParaRPr/>
          </a:p>
          <a:p>
            <a:r>
              <a:t>2. 43 × 26 = **1,118**</a:t>
            </a:r>
          </a:p>
          <a:p>
            <a:endParaRPr/>
          </a:p>
          <a:p>
            <a:r>
              <a:t>3. 69 × 48 = **3,312**</a:t>
            </a:r>
          </a:p>
          <a:p>
            <a:endParaRPr/>
          </a:p>
          <a:p>
            <a:r>
              <a:t>4. 85 × 37 = **3,145**</a:t>
            </a:r>
          </a:p>
          <a:p>
            <a:endParaRPr/>
          </a:p>
          <a:p>
            <a:r>
              <a:t>5. 74 × 59 = **4,366**</a:t>
            </a:r>
          </a:p>
          <a:p>
            <a:endParaRPr/>
          </a:p>
          <a:p>
            <a:r>
              <a:t>6. 96 × 68 = **6,528**</a:t>
            </a:r>
          </a:p>
          <a:p>
            <a:endParaRPr/>
          </a:p>
          <a:p>
            <a:r>
              <a:t>### Thread 3: Depth</a:t>
            </a:r>
          </a:p>
          <a:p>
            <a:endParaRPr/>
          </a:p>
          <a:p>
            <a:r>
              <a:t>1. 647 × 45 = **29,115**</a:t>
            </a:r>
          </a:p>
          <a:p>
            <a:endParaRPr/>
          </a:p>
          <a:p>
            <a:r>
              <a:t>2. 902 × 38 = **34,276**</a:t>
            </a:r>
          </a:p>
          <a:p>
            <a:endParaRPr/>
          </a:p>
          <a:p>
            <a:r>
              <a:t>3. 3,156 × 489 = **1,543,284**</a:t>
            </a:r>
          </a:p>
          <a:p>
            <a:endParaRPr/>
          </a:p>
          <a:p>
            <a:r>
              <a:t>4. 5,027 × 596 = **2,996,092**</a:t>
            </a:r>
          </a:p>
          <a:p>
            <a:endParaRPr/>
          </a:p>
          <a:p>
            <a:r>
              <a:t>5. 7,418 × 3,264 = **24,212,352**</a:t>
            </a:r>
          </a:p>
          <a:p>
            <a:endParaRPr/>
          </a:p>
          <a:p>
            <a:r>
              <a:t>6. 8,639 × 5,076 = **43,851,564**</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worked demo</a:t>
            </a:r>
          </a:p>
          <a:p>
            <a:endParaRPr/>
          </a:p>
          <a:p>
            <a:r>
              <a:t>Guided: 21. Core: 24 r 1. Depth: 302.125.</a:t>
            </a:r>
          </a:p>
          <a:p>
            <a:endParaRPr/>
          </a:p>
          <a:p>
            <a:r>
              <a:t>The editable bus stop diagrams show each quotient digit above its matching dividend digit. Show carried remainders as small prefixes. Preserve internal zeros, but omit an unnecessary leading zero in the final answer. For Depth, keep the zero in the tens position of 302.125. Align decimal points and show each carried remainder. Use multiples of 16 to check each quotient digit: 16, 32, 48, 64, 80. Checks: 21 × 3 = 63; 24 × 6 + 1 = 145; 302.125 × 16 = 4,834.</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1</a:t>
            </a:r>
          </a:p>
          <a:p>
            <a:endParaRPr/>
          </a:p>
          <a:p>
            <a:r>
              <a:t>Thread 1: Guided: 88 ÷ 4 = **22**</a:t>
            </a:r>
          </a:p>
          <a:p>
            <a:endParaRPr/>
          </a:p>
          <a:p>
            <a:r>
              <a:t>Thread 2: Core: 130 ÷ 4 = **32 r 2**</a:t>
            </a:r>
          </a:p>
          <a:p>
            <a:endParaRPr/>
          </a:p>
          <a:p>
            <a:r>
              <a:t>Thread 3: Depth: 5,122 ÷ 16 = **320.125**</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2</a:t>
            </a:r>
          </a:p>
          <a:p>
            <a:endParaRPr/>
          </a:p>
          <a:p>
            <a:r>
              <a:t>Thread 1: Guided: 66 ÷ 3 = **22**</a:t>
            </a:r>
          </a:p>
          <a:p>
            <a:endParaRPr/>
          </a:p>
          <a:p>
            <a:r>
              <a:t>Thread 2: Core: 227 ÷ 6 = **37 r 5**</a:t>
            </a:r>
          </a:p>
          <a:p>
            <a:endParaRPr/>
          </a:p>
          <a:p>
            <a:r>
              <a:t>Thread 3: Depth: 3,827 ÷ 25 = **153.08**</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1</a:t>
            </a:r>
          </a:p>
          <a:p>
            <a:endParaRPr/>
          </a:p>
          <a:p>
            <a:r>
              <a:t>### Thread 1: Guided</a:t>
            </a:r>
          </a:p>
          <a:p>
            <a:endParaRPr/>
          </a:p>
          <a:p>
            <a:r>
              <a:t>1. 48 ÷ 4 = **12**</a:t>
            </a:r>
          </a:p>
          <a:p>
            <a:endParaRPr/>
          </a:p>
          <a:p>
            <a:r>
              <a:t>2. 69 ÷ 3 = **23**</a:t>
            </a:r>
          </a:p>
          <a:p>
            <a:endParaRPr/>
          </a:p>
          <a:p>
            <a:r>
              <a:t>3. 84 ÷ 2 = **42**</a:t>
            </a:r>
          </a:p>
          <a:p>
            <a:endParaRPr/>
          </a:p>
          <a:p>
            <a:r>
              <a:t>4. 96 ÷ 3 = **32**</a:t>
            </a:r>
          </a:p>
          <a:p>
            <a:endParaRPr/>
          </a:p>
          <a:p>
            <a:r>
              <a:t>5. 55 ÷ 5 = **11**</a:t>
            </a:r>
          </a:p>
          <a:p>
            <a:endParaRPr/>
          </a:p>
          <a:p>
            <a:r>
              <a:t>6. 88 ÷ 8 = **11**</a:t>
            </a:r>
          </a:p>
          <a:p>
            <a:endParaRPr/>
          </a:p>
          <a:p>
            <a:r>
              <a:t>### Thread 2: Core</a:t>
            </a:r>
          </a:p>
          <a:p>
            <a:endParaRPr/>
          </a:p>
          <a:p>
            <a:r>
              <a:t>1. 72 ÷ 3 = **24**</a:t>
            </a:r>
          </a:p>
          <a:p>
            <a:endParaRPr/>
          </a:p>
          <a:p>
            <a:r>
              <a:t>2. 135 ÷ 5 = **27**</a:t>
            </a:r>
          </a:p>
          <a:p>
            <a:endParaRPr/>
          </a:p>
          <a:p>
            <a:r>
              <a:t>3. 172 ÷ 4 = **43**</a:t>
            </a:r>
          </a:p>
          <a:p>
            <a:endParaRPr/>
          </a:p>
          <a:p>
            <a:r>
              <a:t>4. 218 ÷ 6 = **36 r 2**</a:t>
            </a:r>
          </a:p>
          <a:p>
            <a:endParaRPr/>
          </a:p>
          <a:p>
            <a:r>
              <a:t>5. 341 ÷ 7 = **48 r 5**</a:t>
            </a:r>
          </a:p>
          <a:p>
            <a:endParaRPr/>
          </a:p>
          <a:p>
            <a:r>
              <a:t>6. 502 ÷ 8 = **62 r 6**</a:t>
            </a:r>
          </a:p>
          <a:p>
            <a:endParaRPr/>
          </a:p>
          <a:p>
            <a:r>
              <a:t>### Thread 3: Depth</a:t>
            </a:r>
          </a:p>
          <a:p>
            <a:endParaRPr/>
          </a:p>
          <a:p>
            <a:r>
              <a:t>1. 514 ÷ 4 = **128.5**</a:t>
            </a:r>
          </a:p>
          <a:p>
            <a:endParaRPr/>
          </a:p>
          <a:p>
            <a:r>
              <a:t>2. 785 ÷ 2 = **392.5**</a:t>
            </a:r>
          </a:p>
          <a:p>
            <a:endParaRPr/>
          </a:p>
          <a:p>
            <a:r>
              <a:t>3. 1,428 ÷ 12 = **119**</a:t>
            </a:r>
          </a:p>
          <a:p>
            <a:endParaRPr/>
          </a:p>
          <a:p>
            <a:r>
              <a:t>4. 3,816 ÷ 24 = **159**</a:t>
            </a:r>
          </a:p>
          <a:p>
            <a:endParaRPr/>
          </a:p>
          <a:p>
            <a:r>
              <a:t>5. 4,516 ÷ 16 = **282.25**</a:t>
            </a:r>
          </a:p>
          <a:p>
            <a:endParaRPr/>
          </a:p>
          <a:p>
            <a:r>
              <a:t>6. 8,143 ÷ 25 = **325.72**</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2</a:t>
            </a:r>
          </a:p>
          <a:p>
            <a:endParaRPr/>
          </a:p>
          <a:p>
            <a:r>
              <a:t>### Thread 1: Guided</a:t>
            </a:r>
          </a:p>
          <a:p>
            <a:endParaRPr/>
          </a:p>
          <a:p>
            <a:r>
              <a:t>1. 46 ÷ 2 = **23**</a:t>
            </a:r>
          </a:p>
          <a:p>
            <a:endParaRPr/>
          </a:p>
          <a:p>
            <a:r>
              <a:t>2. 93 ÷ 3 = **31**</a:t>
            </a:r>
          </a:p>
          <a:p>
            <a:endParaRPr/>
          </a:p>
          <a:p>
            <a:r>
              <a:t>3. 66 ÷ 6 = **11**</a:t>
            </a:r>
          </a:p>
          <a:p>
            <a:endParaRPr/>
          </a:p>
          <a:p>
            <a:r>
              <a:t>4. 884 ÷ 4 = **221**</a:t>
            </a:r>
          </a:p>
          <a:p>
            <a:endParaRPr/>
          </a:p>
          <a:p>
            <a:r>
              <a:t>5. 555 ÷ 5 = **111**</a:t>
            </a:r>
          </a:p>
          <a:p>
            <a:endParaRPr/>
          </a:p>
          <a:p>
            <a:r>
              <a:t>6. 639 ÷ 3 = **213**</a:t>
            </a:r>
          </a:p>
          <a:p>
            <a:endParaRPr/>
          </a:p>
          <a:p>
            <a:r>
              <a:t>### Thread 2: Core</a:t>
            </a:r>
          </a:p>
          <a:p>
            <a:endParaRPr/>
          </a:p>
          <a:p>
            <a:r>
              <a:t>1. 84 ÷ 3 = **28**</a:t>
            </a:r>
          </a:p>
          <a:p>
            <a:endParaRPr/>
          </a:p>
          <a:p>
            <a:r>
              <a:t>2. 156 ÷ 4 = **39**</a:t>
            </a:r>
          </a:p>
          <a:p>
            <a:endParaRPr/>
          </a:p>
          <a:p>
            <a:r>
              <a:t>3. 235 ÷ 6 = **39 r 1**</a:t>
            </a:r>
          </a:p>
          <a:p>
            <a:endParaRPr/>
          </a:p>
          <a:p>
            <a:r>
              <a:t>4. 326 ÷ 7 = **46 r 4**</a:t>
            </a:r>
          </a:p>
          <a:p>
            <a:endParaRPr/>
          </a:p>
          <a:p>
            <a:r>
              <a:t>5. 458 ÷ 8 = **57 r 2**</a:t>
            </a:r>
          </a:p>
          <a:p>
            <a:endParaRPr/>
          </a:p>
          <a:p>
            <a:r>
              <a:t>6. 617 ÷ 9 = **68 r 5**</a:t>
            </a:r>
          </a:p>
          <a:p>
            <a:endParaRPr/>
          </a:p>
          <a:p>
            <a:r>
              <a:t>### Thread 3: Depth</a:t>
            </a:r>
          </a:p>
          <a:p>
            <a:endParaRPr/>
          </a:p>
          <a:p>
            <a:r>
              <a:t>1. 627 ÷ 4 = **156.75**</a:t>
            </a:r>
          </a:p>
          <a:p>
            <a:endParaRPr/>
          </a:p>
          <a:p>
            <a:r>
              <a:t>2. 943 ÷ 2 = **471.5**</a:t>
            </a:r>
          </a:p>
          <a:p>
            <a:endParaRPr/>
          </a:p>
          <a:p>
            <a:r>
              <a:t>3. 2,136 ÷ 12 = **178**</a:t>
            </a:r>
          </a:p>
          <a:p>
            <a:endParaRPr/>
          </a:p>
          <a:p>
            <a:r>
              <a:t>4. 4,608 ÷ 32 = **144**</a:t>
            </a:r>
          </a:p>
          <a:p>
            <a:endParaRPr/>
          </a:p>
          <a:p>
            <a:r>
              <a:t>5. 5,729 ÷ 16 = **358.0625**</a:t>
            </a:r>
          </a:p>
          <a:p>
            <a:endParaRPr/>
          </a:p>
          <a:p>
            <a:r>
              <a:t>6. 9,031 ÷ 40 = **225.775**</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3</a:t>
            </a:r>
          </a:p>
          <a:p>
            <a:endParaRPr/>
          </a:p>
          <a:p>
            <a:r>
              <a:t>### Thread 1: Guided</a:t>
            </a:r>
          </a:p>
          <a:p>
            <a:endParaRPr/>
          </a:p>
          <a:p>
            <a:r>
              <a:t>1. 82 ÷ 2 = **41**</a:t>
            </a:r>
          </a:p>
          <a:p>
            <a:endParaRPr/>
          </a:p>
          <a:p>
            <a:r>
              <a:t>2. 963 ÷ 3 = **321**</a:t>
            </a:r>
          </a:p>
          <a:p>
            <a:endParaRPr/>
          </a:p>
          <a:p>
            <a:r>
              <a:t>3. 848 ÷ 4 = **212**</a:t>
            </a:r>
          </a:p>
          <a:p>
            <a:endParaRPr/>
          </a:p>
          <a:p>
            <a:r>
              <a:t>4. 777 ÷ 7 = **111**</a:t>
            </a:r>
          </a:p>
          <a:p>
            <a:endParaRPr/>
          </a:p>
          <a:p>
            <a:r>
              <a:t>5. 888 ÷ 8 = **111**</a:t>
            </a:r>
          </a:p>
          <a:p>
            <a:endParaRPr/>
          </a:p>
          <a:p>
            <a:r>
              <a:t>6. 606 ÷ 3 = **202**</a:t>
            </a:r>
          </a:p>
          <a:p>
            <a:endParaRPr/>
          </a:p>
          <a:p>
            <a:r>
              <a:t>### Thread 2: Core</a:t>
            </a:r>
          </a:p>
          <a:p>
            <a:endParaRPr/>
          </a:p>
          <a:p>
            <a:r>
              <a:t>1. 95 ÷ 4 = **23 r 3**</a:t>
            </a:r>
          </a:p>
          <a:p>
            <a:endParaRPr/>
          </a:p>
          <a:p>
            <a:r>
              <a:t>2. 184 ÷ 5 = **36 r 4**</a:t>
            </a:r>
          </a:p>
          <a:p>
            <a:endParaRPr/>
          </a:p>
          <a:p>
            <a:r>
              <a:t>3. 267 ÷ 8 = **33 r 3**</a:t>
            </a:r>
          </a:p>
          <a:p>
            <a:endParaRPr/>
          </a:p>
          <a:p>
            <a:r>
              <a:t>4. 397 ÷ 6 = **66 r 1**</a:t>
            </a:r>
          </a:p>
          <a:p>
            <a:endParaRPr/>
          </a:p>
          <a:p>
            <a:r>
              <a:t>5. 523 ÷ 7 = **74 r 5**</a:t>
            </a:r>
          </a:p>
          <a:p>
            <a:endParaRPr/>
          </a:p>
          <a:p>
            <a:r>
              <a:t>6. 748 ÷ 9 = **83 r 1**</a:t>
            </a:r>
          </a:p>
          <a:p>
            <a:endParaRPr/>
          </a:p>
          <a:p>
            <a:r>
              <a:t>### Thread 3: Depth</a:t>
            </a:r>
          </a:p>
          <a:p>
            <a:endParaRPr/>
          </a:p>
          <a:p>
            <a:r>
              <a:t>1. 738 ÷ 4 = **184.5**</a:t>
            </a:r>
          </a:p>
          <a:p>
            <a:endParaRPr/>
          </a:p>
          <a:p>
            <a:r>
              <a:t>2. 859 ÷ 2 = **429.5**</a:t>
            </a:r>
          </a:p>
          <a:p>
            <a:endParaRPr/>
          </a:p>
          <a:p>
            <a:r>
              <a:t>3. 3,264 ÷ 24 = **136**</a:t>
            </a:r>
          </a:p>
          <a:p>
            <a:endParaRPr/>
          </a:p>
          <a:p>
            <a:r>
              <a:t>4. 5,175 ÷ 15 = **345**</a:t>
            </a:r>
          </a:p>
          <a:p>
            <a:endParaRPr/>
          </a:p>
          <a:p>
            <a:r>
              <a:t>5. 6,843 ÷ 25 = **273.72**</a:t>
            </a:r>
          </a:p>
          <a:p>
            <a:endParaRPr/>
          </a:p>
          <a:p>
            <a:r>
              <a:t>6. 7,249 ÷ 20 = **362.45**</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4</a:t>
            </a:r>
          </a:p>
          <a:p>
            <a:endParaRPr/>
          </a:p>
          <a:p>
            <a:r>
              <a:t>### Thread 1: Guided</a:t>
            </a:r>
          </a:p>
          <a:p>
            <a:endParaRPr/>
          </a:p>
          <a:p>
            <a:r>
              <a:t>1. 62 ÷ 2 = **31**</a:t>
            </a:r>
          </a:p>
          <a:p>
            <a:endParaRPr/>
          </a:p>
          <a:p>
            <a:r>
              <a:t>2. 936 ÷ 3 = **312**</a:t>
            </a:r>
          </a:p>
          <a:p>
            <a:endParaRPr/>
          </a:p>
          <a:p>
            <a:r>
              <a:t>3. 448 ÷ 4 = **112**</a:t>
            </a:r>
          </a:p>
          <a:p>
            <a:endParaRPr/>
          </a:p>
          <a:p>
            <a:r>
              <a:t>4. 505 ÷ 5 = **101**</a:t>
            </a:r>
          </a:p>
          <a:p>
            <a:endParaRPr/>
          </a:p>
          <a:p>
            <a:r>
              <a:t>5. 666 ÷ 6 = **111**</a:t>
            </a:r>
          </a:p>
          <a:p>
            <a:endParaRPr/>
          </a:p>
          <a:p>
            <a:r>
              <a:t>6. 999 ÷ 9 = **111**</a:t>
            </a:r>
          </a:p>
          <a:p>
            <a:endParaRPr/>
          </a:p>
          <a:p>
            <a:r>
              <a:t>### Thread 2: Core</a:t>
            </a:r>
          </a:p>
          <a:p>
            <a:endParaRPr/>
          </a:p>
          <a:p>
            <a:r>
              <a:t>1. 108 ÷ 4 = **27**</a:t>
            </a:r>
          </a:p>
          <a:p>
            <a:endParaRPr/>
          </a:p>
          <a:p>
            <a:r>
              <a:t>2. 245 ÷ 6 = **40 r 5**</a:t>
            </a:r>
          </a:p>
          <a:p>
            <a:endParaRPr/>
          </a:p>
          <a:p>
            <a:r>
              <a:t>3. 314 ÷ 7 = **44 r 6**</a:t>
            </a:r>
          </a:p>
          <a:p>
            <a:endParaRPr/>
          </a:p>
          <a:p>
            <a:r>
              <a:t>4. 467 ÷ 8 = **58 r 3**</a:t>
            </a:r>
          </a:p>
          <a:p>
            <a:endParaRPr/>
          </a:p>
          <a:p>
            <a:r>
              <a:t>5. 586 ÷ 9 = **65 r 1**</a:t>
            </a:r>
          </a:p>
          <a:p>
            <a:endParaRPr/>
          </a:p>
          <a:p>
            <a:r>
              <a:t>6. 703 ÷ 5 = **140 r 3**</a:t>
            </a:r>
          </a:p>
          <a:p>
            <a:endParaRPr/>
          </a:p>
          <a:p>
            <a:r>
              <a:t>### Thread 3: Depth</a:t>
            </a:r>
          </a:p>
          <a:p>
            <a:endParaRPr/>
          </a:p>
          <a:p>
            <a:r>
              <a:t>1. 849 ÷ 4 = **212.25**</a:t>
            </a:r>
          </a:p>
          <a:p>
            <a:endParaRPr/>
          </a:p>
          <a:p>
            <a:r>
              <a:t>2. 967 ÷ 2 = **483.5**</a:t>
            </a:r>
          </a:p>
          <a:p>
            <a:endParaRPr/>
          </a:p>
          <a:p>
            <a:r>
              <a:t>3. 4,374 ÷ 18 = **243**</a:t>
            </a:r>
          </a:p>
          <a:p>
            <a:endParaRPr/>
          </a:p>
          <a:p>
            <a:r>
              <a:t>4. 6,288 ÷ 48 = **131**</a:t>
            </a:r>
          </a:p>
          <a:p>
            <a:endParaRPr/>
          </a:p>
          <a:p>
            <a:r>
              <a:t>5. 7,957 ÷ 16 = **497.3125**</a:t>
            </a:r>
          </a:p>
          <a:p>
            <a:endParaRPr/>
          </a:p>
          <a:p>
            <a:r>
              <a:t>6. 8,623 ÷ 50 = **172.46**</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Initial assessment; no hints or answers on question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A dedicated guide slide precedes the worked demo so that the rules and examples remain readable. Existing question content and stable S01–S07 references are unchanged. This gives nine physical question-deck slides.</a:t>
            </a:r>
          </a:p>
          <a:p/>
          <a:p>
            <a:r>
              <a:t>Title: **Signed numbers: addition and subtraction**</a:t>
            </a:r>
          </a:p>
          <a:p>
            <a:r>
              <a:t>Subtitle: **Rules recap • Start at the first number.**</a:t>
            </a:r>
          </a:p>
          <a:p/>
          <a:p>
            <a:r>
              <a:t>| Rule | What to do | Example |</a:t>
            </a:r>
          </a:p>
          <a:p>
            <a:r>
              <a:t>| --- | --- | --- |</a:t>
            </a:r>
          </a:p>
          <a:p>
            <a:r>
              <a:t>| Add a positive number | Move right: the value increases. | −4 + 7 = 3 |</a:t>
            </a:r>
          </a:p>
          <a:p>
            <a:r>
              <a:t>| Add a negative number | Move left: the value decreases. | 4 + (−7) = 4 − 7 = −3 |</a:t>
            </a:r>
          </a:p>
          <a:p>
            <a:r>
              <a:t>| Subtract a positive number | Move left: the value decreases. | 3 − 8 = −5 |</a:t>
            </a:r>
          </a:p>
          <a:p>
            <a:r>
              <a:t>| Subtract a negative number | Move right: subtracting a negative is adding a positive. | 6 − (−3) = 6 + 3 = 9 |</a:t>
            </a:r>
          </a:p>
          <a:p/>
          <a:p>
            <a:r>
              <a:t>Visible explanation: **In 6 − (−3), the first − means subtract; the − inside brackets belongs to the number −3.**</a:t>
            </a:r>
          </a:p>
          <a:p/>
          <a:p>
            <a:r>
              <a:t>Visible general rule: **To subtract a number, add its opposite. Keep the first number unchanged.**</a:t>
            </a:r>
          </a:p>
          <a:p/>
          <a:p>
            <a:r>
              <a:t>Visible caution with contrast: **Two negative numbers do not automatically give a positive answer: −4 + (−3) = −7.**</a:t>
            </a:r>
          </a:p>
          <a:p/>
          <a:p>
            <a:r>
              <a:t>These are addition/subtraction rules. Do not import the multiplication/division “same signs/different signs” shortcut into this set. The next slide retains the complete worked grid and editable number lines.</a:t>
            </a:r>
          </a:p>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**Follow each calculation. Explain what each sign means.**</a:t>
            </a:r>
          </a:p>
          <a:p/>
          <a:p>
            <a:r>
              <a:t>| Step | Thread 1: Guided | Thread 2: Core | Thread 3: Depth |</a:t>
            </a:r>
          </a:p>
          <a:p>
            <a:r>
              <a:t>| --- | --- | --- | --- |</a:t>
            </a:r>
          </a:p>
          <a:p>
            <a:r>
              <a:t>| Question | −4 + 7 | 6 − (−3) | −5 + 8 − (−2) |</a:t>
            </a:r>
          </a:p>
          <a:p>
            <a:r>
              <a:t>| Read the Signs | Start at −4; add positive 7. | Start at 6; subtract negative 3. | Add positive 8, then subtract negative 2. |</a:t>
            </a:r>
          </a:p>
          <a:p>
            <a:r>
              <a:t>| Rewrite the Calculation | −4 + 7 is already an addition. | 6 − (−3) = 6 + 3. | −5 + 8 + 2. |</a:t>
            </a:r>
          </a:p>
          <a:p>
            <a:r>
              <a:t>| Calculate | Move 4 right to 0, then 3 right: 3. | 6 + 3 = 9. | −5 + 8 = 3; 3 + 2 = 5. |</a:t>
            </a:r>
          </a:p>
          <a:p>
            <a:r>
              <a:t>| Check the Answer | 3 − 7 = −4. Answer: 3. | 9 + (−3) = 6. Answer: 9. | 5 + (−2) = 3; 3 − 8 = −5. Answer: 5. |</a:t>
            </a:r>
          </a:p>
          <a:p/>
          <a:p>
            <a:r>
              <a:t>Diagram specification: Three editable number lines, one per demo column, with integer ticks and a labelled zero. Guided: range −5 to 4, start −4, rightward jumps +4 to 0 and +3 to 3; bracket the jumps as +7. Core: range 0 to 10, start 6 and a rightward jump to 9 labelled “subtract −3 = add 3”. Depth: range −6 to 6, start −5, rightward jump +8 to 3, then +2 to 5. Mark each start and endpoint. Use equal tick spacing, visible arrowheads and labels clear of ticks. These accompany the worked calculation; students need not draw a line for every question.</a:t>
            </a:r>
          </a:p>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**Work out each calculation. Show your working.**</a:t>
            </a:r>
          </a:p>
          <a:p/>
          <a:p>
            <a:r>
              <a:t>| Step | Thread 1: Guided | Thread 2: Core | Thread 3: Depth |</a:t>
            </a:r>
          </a:p>
          <a:p>
            <a:r>
              <a:t>| --- | --- | --- | --- |</a:t>
            </a:r>
          </a:p>
          <a:p>
            <a:r>
              <a:t>| Question | −6 + 9 | 4 + (−7) | −8 + 5 − (−4) |</a:t>
            </a:r>
          </a:p>
          <a:p>
            <a:r>
              <a:t>| Read the Signs | Identify the operation signs and the signs belonging to the numbers. | Identify the operation signs and the signs belonging to the numbers. | Identify the operation signs and the signs belonging to the numbers. |</a:t>
            </a:r>
          </a:p>
          <a:p>
            <a:r>
              <a:t>| Rewrite the Calculation | Replace subtraction by addition of the opposite where useful. | Replace subtraction by addition of the opposite where useful. | Replace subtraction by addition of the opposite where useful. |</a:t>
            </a:r>
          </a:p>
          <a:p>
            <a:r>
              <a:t>| Calculate | Work from left to right. Show each result. | Work from left to right. Show each result. | Work from left to right. Show each result. |</a:t>
            </a:r>
          </a:p>
          <a:p>
            <a:r>
              <a:t>| Check the Answer | Undo the last operation to check. Write the final answer. | Undo the last operation to check. Write the final answer. | Undo the last operation to check. Write the final answer. |</a:t>
            </a:r>
          </a:p>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**Work out each calculation. Show your working.**</a:t>
            </a:r>
          </a:p>
          <a:p/>
          <a:p>
            <a:r>
              <a:t>| Step | Thread 1: Guided | Thread 2: Core | Thread 3: Depth |</a:t>
            </a:r>
          </a:p>
          <a:p>
            <a:r>
              <a:t>| --- | --- | --- | --- |</a:t>
            </a:r>
          </a:p>
          <a:p>
            <a:r>
              <a:t>| Question | 3 − 8 | −5 − (−9) | 7 − (−2) + (−12) |</a:t>
            </a:r>
          </a:p>
          <a:p>
            <a:r>
              <a:t>| Read the Signs | Identify the operation signs and the signs belonging to the numbers. | Identify the operation signs and the signs belonging to the numbers. | Identify the operation signs and the signs belonging to the numbers. |</a:t>
            </a:r>
          </a:p>
          <a:p>
            <a:r>
              <a:t>| Rewrite the Calculation | Replace subtraction by addition of the opposite where useful. | Replace subtraction by addition of the opposite where useful. | Replace subtraction by addition of the opposite where useful. |</a:t>
            </a:r>
          </a:p>
          <a:p>
            <a:r>
              <a:t>| Calculate | Work from left to right. Show each result. | Work from left to right. Show each result. | Work from left to right. Show each result. |</a:t>
            </a:r>
          </a:p>
          <a:p>
            <a:r>
              <a:t>| Check the Answer | Undo the last operation to check. Write the final answer. | Undo the last operation to check. Write the final answer. | Undo the last operation to check. Write the final answer. |</a:t>
            </a:r>
          </a:p>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Deliberately incorrect student work. Corrections: see M13-SE in the HTML answers.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worked demo</a:t>
            </a:r>
          </a:p>
          <a:p>
            <a:endParaRPr/>
          </a:p>
          <a:p>
            <a:r>
              <a:t>Guided: 84 ÷ 4 = 21 tins per box. Core: 130 ÷ 6 = 21 r 4, so 21 full packs. Depth: 145 ÷ 9 = 16 r 1, so 17 minibuses; 17 × 40 = £680.</a:t>
            </a:r>
          </a:p>
          <a:p>
            <a:endParaRPr/>
          </a:p>
          <a:p>
            <a:r>
              <a:t>For Depth, 16 buses would seat only 144 students. The first answer must be interpreted before the next calculation. In the lattice for 17 × 40, top row cells are 04, 28; bottom row cells 00, 00. Diagonal totals from right: 0, 8, 6, 0 → 680. Both worked diagrams are provided as editable groups. Ballpark calculations check scale; they are not exact-answer proofs.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step-by-step practice 1</a:t>
            </a:r>
          </a:p>
          <a:p>
            <a:endParaRPr/>
          </a:p>
          <a:p>
            <a:r>
              <a:t>Thread 1: Guided: 42 × 15 = 630 pens. Estimate: 40 × 15 = 600.</a:t>
            </a:r>
          </a:p>
          <a:p>
            <a:endParaRPr/>
          </a:p>
          <a:p>
            <a:r>
              <a:t>Thread 2: Core: 215 ÷ 6 = 35 r 5 → 35 full bags. Estimate: 210 ÷ 6 = 35.</a:t>
            </a:r>
          </a:p>
          <a:p>
            <a:endParaRPr/>
          </a:p>
          <a:p>
            <a:r>
              <a:t>Thread 3: Depth: 18 × 32 = 576; 576 + 120 = £696. Estimate: 20 × 30 + 120 = 720.</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step-by-step practice 2</a:t>
            </a:r>
          </a:p>
          <a:p>
            <a:endParaRPr/>
          </a:p>
          <a:p>
            <a:r>
              <a:t>Thread 1: Guided: 168 ÷ 7 = 24 students. Estimate: 140 ÷ 7 = 20.</a:t>
            </a:r>
          </a:p>
          <a:p>
            <a:endParaRPr/>
          </a:p>
          <a:p>
            <a:r>
              <a:t>Thread 2: Core: 16 × 27 = £432. Estimate: 16 × 30 = 480.</a:t>
            </a:r>
          </a:p>
          <a:p>
            <a:endParaRPr/>
          </a:p>
          <a:p>
            <a:r>
              <a:t>Thread 3: Depth: 157 ÷ 8 = 19 r 5 → 20 vans; 20 × 45 = £900. Estimate: 160 ÷ 8 × 45 = 900.</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1</a:t>
            </a:r>
          </a:p>
          <a:p>
            <a:endParaRPr/>
          </a:p>
          <a:p>
            <a:r>
              <a:t>### Thread 1: Guided</a:t>
            </a:r>
          </a:p>
          <a:p>
            <a:endParaRPr/>
          </a:p>
          <a:p>
            <a:r>
              <a:t>1. 14 × 32 = 448 books</a:t>
            </a:r>
          </a:p>
          <a:p>
            <a:endParaRPr/>
          </a:p>
          <a:p>
            <a:r>
              <a:t>2. 105 ÷ 7 = 15 students</a:t>
            </a:r>
          </a:p>
          <a:p>
            <a:endParaRPr/>
          </a:p>
          <a:p>
            <a:r>
              <a:t>3. 26 × 41 = 1,066 bottles</a:t>
            </a:r>
          </a:p>
          <a:p>
            <a:endParaRPr/>
          </a:p>
          <a:p>
            <a:r>
              <a:t>4. 148 ÷ 4 = 37 m</a:t>
            </a:r>
          </a:p>
          <a:p>
            <a:endParaRPr/>
          </a:p>
          <a:p>
            <a:r>
              <a:t>5. 13 × 85 = 1,105 seats</a:t>
            </a:r>
          </a:p>
          <a:p>
            <a:endParaRPr/>
          </a:p>
          <a:p>
            <a:r>
              <a:t>6. 175 ÷ 5 = £35</a:t>
            </a:r>
          </a:p>
          <a:p>
            <a:endParaRPr/>
          </a:p>
          <a:p>
            <a:r>
              <a:t>### Thread 2: Core</a:t>
            </a:r>
          </a:p>
          <a:p>
            <a:endParaRPr/>
          </a:p>
          <a:p>
            <a:r>
              <a:t>1. 130 ÷ 6 = 21 r 4 → 21 full cartons</a:t>
            </a:r>
          </a:p>
          <a:p>
            <a:endParaRPr/>
          </a:p>
          <a:p>
            <a:r>
              <a:t>2. 32 ÷ 5 = 6 r 2 → 7 cars</a:t>
            </a:r>
          </a:p>
          <a:p>
            <a:endParaRPr/>
          </a:p>
          <a:p>
            <a:r>
              <a:t>3. 250 ÷ 12 = 20 r 10 → 10 chocolates</a:t>
            </a:r>
          </a:p>
          <a:p>
            <a:endParaRPr/>
          </a:p>
          <a:p>
            <a:r>
              <a:t>4. 17 × 28 = £476</a:t>
            </a:r>
          </a:p>
          <a:p>
            <a:endParaRPr/>
          </a:p>
          <a:p>
            <a:r>
              <a:t>5. 142 ÷ 6 = 23 r 4 → 23 full bags</a:t>
            </a:r>
          </a:p>
          <a:p>
            <a:endParaRPr/>
          </a:p>
          <a:p>
            <a:r>
              <a:t>6. 132 ÷ 8 = £16.50</a:t>
            </a:r>
          </a:p>
          <a:p>
            <a:endParaRPr/>
          </a:p>
          <a:p>
            <a:r>
              <a:t>### Thread 3: Depth</a:t>
            </a:r>
          </a:p>
          <a:p>
            <a:endParaRPr/>
          </a:p>
          <a:p>
            <a:r>
              <a:t>1. 45 × 16 = 720; 720 − 50 = £670</a:t>
            </a:r>
          </a:p>
          <a:p>
            <a:endParaRPr/>
          </a:p>
          <a:p>
            <a:r>
              <a:t>2. 115 ÷ 8 = 14 r 3 → 15 vans; 15 × 65 = £975</a:t>
            </a:r>
          </a:p>
          <a:p>
            <a:endParaRPr/>
          </a:p>
          <a:p>
            <a:r>
              <a:t>3. 22 × 14 = 308; 308 + 30 = £338</a:t>
            </a:r>
          </a:p>
          <a:p>
            <a:endParaRPr/>
          </a:p>
          <a:p>
            <a:r>
              <a:t>4. 430 ÷ 12 = 35 r 10; 35 × 9 = £315</a:t>
            </a:r>
          </a:p>
          <a:p>
            <a:endParaRPr/>
          </a:p>
          <a:p>
            <a:r>
              <a:t>5. 24 × 15 = 360; 360 + 45 = £405</a:t>
            </a:r>
          </a:p>
          <a:p>
            <a:endParaRPr/>
          </a:p>
          <a:p>
            <a:r>
              <a:t>6. 15 × 12 = 180; 180 × 8 = £1,440</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2</a:t>
            </a:r>
          </a:p>
          <a:p>
            <a:endParaRPr/>
          </a:p>
          <a:p>
            <a:r>
              <a:t>### Thread 1: Guided</a:t>
            </a:r>
          </a:p>
          <a:p>
            <a:endParaRPr/>
          </a:p>
          <a:p>
            <a:r>
              <a:t>1. 18 × 24 = 432 plants</a:t>
            </a:r>
          </a:p>
          <a:p>
            <a:endParaRPr/>
          </a:p>
          <a:p>
            <a:r>
              <a:t>2. 156 ÷ 6 = 26 pens</a:t>
            </a:r>
          </a:p>
          <a:p>
            <a:endParaRPr/>
          </a:p>
          <a:p>
            <a:r>
              <a:t>3. 23 × 16 = 368 badges</a:t>
            </a:r>
          </a:p>
          <a:p>
            <a:endParaRPr/>
          </a:p>
          <a:p>
            <a:r>
              <a:t>4. 248 ÷ 8 = £31</a:t>
            </a:r>
          </a:p>
          <a:p>
            <a:endParaRPr/>
          </a:p>
          <a:p>
            <a:r>
              <a:t>5. 12 × 27 = 324 km</a:t>
            </a:r>
          </a:p>
          <a:p>
            <a:endParaRPr/>
          </a:p>
          <a:p>
            <a:r>
              <a:t>6. 189 ÷ 7 = 27 cm</a:t>
            </a:r>
          </a:p>
          <a:p>
            <a:endParaRPr/>
          </a:p>
          <a:p>
            <a:r>
              <a:t>### Thread 2: Core</a:t>
            </a:r>
          </a:p>
          <a:p>
            <a:endParaRPr/>
          </a:p>
          <a:p>
            <a:r>
              <a:t>1. 197 ÷ 8 = 24 r 5 → 24 bundles</a:t>
            </a:r>
          </a:p>
          <a:p>
            <a:endParaRPr/>
          </a:p>
          <a:p>
            <a:r>
              <a:t>2. 83 ÷ 6 = 13 r 5 → 14 tents</a:t>
            </a:r>
          </a:p>
          <a:p>
            <a:endParaRPr/>
          </a:p>
          <a:p>
            <a:r>
              <a:t>3. 275 ÷ 12 = 22 r 11 → 11 cm</a:t>
            </a:r>
          </a:p>
          <a:p>
            <a:endParaRPr/>
          </a:p>
          <a:p>
            <a:r>
              <a:t>4. 36 × 14 = 504 pages</a:t>
            </a:r>
          </a:p>
          <a:p>
            <a:endParaRPr/>
          </a:p>
          <a:p>
            <a:r>
              <a:t>5. 154 ÷ 4 = £38.50</a:t>
            </a:r>
          </a:p>
          <a:p>
            <a:endParaRPr/>
          </a:p>
          <a:p>
            <a:r>
              <a:t>6. 253 ÷ 24 = 10 r 13 → 11 albums</a:t>
            </a:r>
          </a:p>
          <a:p>
            <a:endParaRPr/>
          </a:p>
          <a:p>
            <a:r>
              <a:t>### Thread 3: Depth</a:t>
            </a:r>
          </a:p>
          <a:p>
            <a:endParaRPr/>
          </a:p>
          <a:p>
            <a:r>
              <a:t>1. 28 × 14 = 392; 392 + 18 = £410</a:t>
            </a:r>
          </a:p>
          <a:p>
            <a:endParaRPr/>
          </a:p>
          <a:p>
            <a:r>
              <a:t>2. 94 ÷ 6 = 15 r 4 → 16 tables; 16 × 12 = £192</a:t>
            </a:r>
          </a:p>
          <a:p>
            <a:endParaRPr/>
          </a:p>
          <a:p>
            <a:r>
              <a:t>3. 24 × 15 = 360; 360 − 87 = 273 drinks</a:t>
            </a:r>
          </a:p>
          <a:p>
            <a:endParaRPr/>
          </a:p>
          <a:p>
            <a:r>
              <a:t>4. 286 ÷ 8 = 35 r 6; 35 × 3 = £105</a:t>
            </a:r>
          </a:p>
          <a:p>
            <a:endParaRPr/>
          </a:p>
          <a:p>
            <a:r>
              <a:t>5. 18 × 12 = 216; 216 ÷ 4 = £54</a:t>
            </a:r>
          </a:p>
          <a:p>
            <a:endParaRPr/>
          </a:p>
          <a:p>
            <a:r>
              <a:t>6. 17 × 24 = 408; 408 × 2 = £816</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3</a:t>
            </a:r>
          </a:p>
          <a:p>
            <a:endParaRPr/>
          </a:p>
          <a:p>
            <a:r>
              <a:t>### Thread 1: Guided</a:t>
            </a:r>
          </a:p>
          <a:p>
            <a:endParaRPr/>
          </a:p>
          <a:p>
            <a:r>
              <a:t>1. 16 × 35 = 560 cables</a:t>
            </a:r>
          </a:p>
          <a:p>
            <a:endParaRPr/>
          </a:p>
          <a:p>
            <a:r>
              <a:t>2. 252 ÷ 7 = 36 stickers</a:t>
            </a:r>
          </a:p>
          <a:p>
            <a:endParaRPr/>
          </a:p>
          <a:p>
            <a:r>
              <a:t>3. 28 × 24 = 672 seats</a:t>
            </a:r>
          </a:p>
          <a:p>
            <a:endParaRPr/>
          </a:p>
          <a:p>
            <a:r>
              <a:t>4. 336 ÷ 8 = 42 m</a:t>
            </a:r>
          </a:p>
          <a:p>
            <a:endParaRPr/>
          </a:p>
          <a:p>
            <a:r>
              <a:t>5. 19 × 32 = 608 cards</a:t>
            </a:r>
          </a:p>
          <a:p>
            <a:endParaRPr/>
          </a:p>
          <a:p>
            <a:r>
              <a:t>6. 315 ÷ 9 = £35</a:t>
            </a:r>
          </a:p>
          <a:p>
            <a:endParaRPr/>
          </a:p>
          <a:p>
            <a:r>
              <a:t>### Thread 2: Core</a:t>
            </a:r>
          </a:p>
          <a:p>
            <a:endParaRPr/>
          </a:p>
          <a:p>
            <a:r>
              <a:t>1. 245 ÷ 8 = 30 r 5 → 30 bags</a:t>
            </a:r>
          </a:p>
          <a:p>
            <a:endParaRPr/>
          </a:p>
          <a:p>
            <a:r>
              <a:t>2. 137 ÷ 9 = 15 r 2 → 16 trips</a:t>
            </a:r>
          </a:p>
          <a:p>
            <a:endParaRPr/>
          </a:p>
          <a:p>
            <a:r>
              <a:t>3. 359 ÷ 12 = 29 r 11 → 11 beads</a:t>
            </a:r>
          </a:p>
          <a:p>
            <a:endParaRPr/>
          </a:p>
          <a:p>
            <a:r>
              <a:t>4. 23 × 16 = £368</a:t>
            </a:r>
          </a:p>
          <a:p>
            <a:endParaRPr/>
          </a:p>
          <a:p>
            <a:r>
              <a:t>5. 186 ÷ 8 = £23.25</a:t>
            </a:r>
          </a:p>
          <a:p>
            <a:endParaRPr/>
          </a:p>
          <a:p>
            <a:r>
              <a:t>6. 25 × 48 = 1,200 cm²</a:t>
            </a:r>
          </a:p>
          <a:p>
            <a:endParaRPr/>
          </a:p>
          <a:p>
            <a:r>
              <a:t>### Thread 3: Depth</a:t>
            </a:r>
          </a:p>
          <a:p>
            <a:endParaRPr/>
          </a:p>
          <a:p>
            <a:r>
              <a:t>1. 21 × 18 = 378; 378 + 64 = £442</a:t>
            </a:r>
          </a:p>
          <a:p>
            <a:endParaRPr/>
          </a:p>
          <a:p>
            <a:r>
              <a:t>2. 167 ÷ 24 = 6 r 23 → 7 coaches; 7 × 85 = £595</a:t>
            </a:r>
          </a:p>
          <a:p>
            <a:endParaRPr/>
          </a:p>
          <a:p>
            <a:r>
              <a:t>3. 32 × 18 = 576; 576 − 145 = 431 cards</a:t>
            </a:r>
          </a:p>
          <a:p>
            <a:endParaRPr/>
          </a:p>
          <a:p>
            <a:r>
              <a:t>4. 397 ÷ 6 = 66 r 1; 66 × 4 = £264</a:t>
            </a:r>
          </a:p>
          <a:p>
            <a:endParaRPr/>
          </a:p>
          <a:p>
            <a:r>
              <a:t>5. 15 × 14 = 210; 210 ÷ 6 = £35</a:t>
            </a:r>
          </a:p>
          <a:p>
            <a:endParaRPr/>
          </a:p>
          <a:p>
            <a:r>
              <a:t>6. 23 × 16 = 368; 368 × 5 = £1,840</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4</a:t>
            </a:r>
          </a:p>
          <a:p>
            <a:endParaRPr/>
          </a:p>
          <a:p>
            <a:r>
              <a:t>### Thread 1: Guided</a:t>
            </a:r>
          </a:p>
          <a:p>
            <a:endParaRPr/>
          </a:p>
          <a:p>
            <a:r>
              <a:t>1. 27 × 18 = 486 labels</a:t>
            </a:r>
          </a:p>
          <a:p>
            <a:endParaRPr/>
          </a:p>
          <a:p>
            <a:r>
              <a:t>2. 384 ÷ 8 = 48 books</a:t>
            </a:r>
          </a:p>
          <a:p>
            <a:endParaRPr/>
          </a:p>
          <a:p>
            <a:r>
              <a:t>3. 34 × 16 = 544 seedlings</a:t>
            </a:r>
          </a:p>
          <a:p>
            <a:endParaRPr/>
          </a:p>
          <a:p>
            <a:r>
              <a:t>4. 425 ÷ 5 = £85</a:t>
            </a:r>
          </a:p>
          <a:p>
            <a:endParaRPr/>
          </a:p>
          <a:p>
            <a:r>
              <a:t>5. 26 × 35 = 910 seats</a:t>
            </a:r>
          </a:p>
          <a:p>
            <a:endParaRPr/>
          </a:p>
          <a:p>
            <a:r>
              <a:t>6. 294 ÷ 6 = 49 cm</a:t>
            </a:r>
          </a:p>
          <a:p>
            <a:endParaRPr/>
          </a:p>
          <a:p>
            <a:r>
              <a:t>### Thread 2: Core</a:t>
            </a:r>
          </a:p>
          <a:p>
            <a:endParaRPr/>
          </a:p>
          <a:p>
            <a:r>
              <a:t>1. 367 ÷ 12 = 30 r 7 → 30 boxes</a:t>
            </a:r>
          </a:p>
          <a:p>
            <a:endParaRPr/>
          </a:p>
          <a:p>
            <a:r>
              <a:t>2. 158 ÷ 6 = 26 r 2 → 27 rooms</a:t>
            </a:r>
          </a:p>
          <a:p>
            <a:endParaRPr/>
          </a:p>
          <a:p>
            <a:r>
              <a:t>3. 413 ÷ 15 = 27 r 8 → 8 cm</a:t>
            </a:r>
          </a:p>
          <a:p>
            <a:endParaRPr/>
          </a:p>
          <a:p>
            <a:r>
              <a:t>4. 28 × 19 = 532 bottles</a:t>
            </a:r>
          </a:p>
          <a:p>
            <a:endParaRPr/>
          </a:p>
          <a:p>
            <a:r>
              <a:t>5. 238 ÷ 8 = £29.75</a:t>
            </a:r>
          </a:p>
          <a:p>
            <a:endParaRPr/>
          </a:p>
          <a:p>
            <a:r>
              <a:t>6. 319 ÷ 24 = 13 r 7 → 14 folders</a:t>
            </a:r>
          </a:p>
          <a:p>
            <a:endParaRPr/>
          </a:p>
          <a:p>
            <a:r>
              <a:t>### Thread 3: Depth</a:t>
            </a:r>
          </a:p>
          <a:p>
            <a:endParaRPr/>
          </a:p>
          <a:p>
            <a:r>
              <a:t>1. 36 × 17 = 612; 612 − 75 = £537</a:t>
            </a:r>
          </a:p>
          <a:p>
            <a:endParaRPr/>
          </a:p>
          <a:p>
            <a:r>
              <a:t>2. 203 ÷ 8 = 25 r 3 → 26 tables; 26 × 15 = £390</a:t>
            </a:r>
          </a:p>
          <a:p>
            <a:endParaRPr/>
          </a:p>
          <a:p>
            <a:r>
              <a:t>3. 29 × 24 = 696; 696 − 187 = 509 notebooks</a:t>
            </a:r>
          </a:p>
          <a:p>
            <a:endParaRPr/>
          </a:p>
          <a:p>
            <a:r>
              <a:t>4. 518 ÷ 12 = 43 r 2; 43 × 5 = £215</a:t>
            </a:r>
          </a:p>
          <a:p>
            <a:endParaRPr/>
          </a:p>
          <a:p>
            <a:r>
              <a:t>5. 21 × 16 = 336; 336 ÷ 7 = £48</a:t>
            </a:r>
          </a:p>
          <a:p>
            <a:endParaRPr/>
          </a:p>
          <a:p>
            <a:r>
              <a:t>6. 28 × 15 = 420; 420 × 3 = £1,260</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1 — Worked demo</a:t>
            </a:r>
          </a:p>
          <a:p>
            <a:endParaRPr/>
          </a:p>
          <a:p>
            <a:r>
              <a:t>Title: **Ratio: sharing and missing amounts**</a:t>
            </a:r>
          </a:p>
          <a:p>
            <a:endParaRPr/>
          </a:p>
          <a:p>
            <a:r>
              <a:t>Instruction: **Follow each step down your column.**</a:t>
            </a:r>
          </a:p>
          <a:p>
            <a:endParaRPr/>
          </a:p>
          <a:p>
            <a:r>
              <a:t>| Row | Thread 1: Guided | Thread 2: Core | Thread 3: Depth |</a:t>
            </a:r>
          </a:p>
          <a:p>
            <a:r>
              <a:t>| --- | --- | --- | --- |</a:t>
            </a:r>
          </a:p>
          <a:p>
            <a:r>
              <a:t>| The Full Question | A and B share £120 in the ratio 2:3. How much does B receive? | Red and blue paint are mixed in the ratio 3:5. There are 18 litres of red paint. How many litres of blue paint are needed? | Red and blue counters are in the ratio 3:7. There are 28 more blue counters than red counters. How many counters are there altogether? |</a:t>
            </a:r>
          </a:p>
          <a:p>
            <a:r>
              <a:t>| Keywords &amp; Calculation | “share £120”: the total is known. 2 + 3 = 5 parts. £120 ÷ 5, then × 3. | “18 litres of red”: 3 parts are known. 18 ÷ 3, then × 5. | “28 more blue”: the difference is known. 7 − 3 = 4 parts. 28 ÷ 4, then × (3 + 7). |</a:t>
            </a:r>
          </a:p>
          <a:p>
            <a:r>
              <a:t>| Written Method | £120 ÷ 5 = £24 per part. £24 × 3 = £72. | 18 ÷ 3 = 6 litres per part. 6 × 5 = 30 litres. | 28 ÷ 4 = 7 counters per part. 3 + 7 = 10 parts. 7 × 10 = 70 counters. |</a:t>
            </a:r>
          </a:p>
          <a:p>
            <a:r>
              <a:t>| Ballpark Check &amp; Math | B gets more than half of £120, so more than £60. £72 fits. Check both shares: £48 + £72 = £120. | Blue is between one and two times the red amount, so between 18 and 36 litres. 30 litres fits. | The total represents 10 parts and the difference 4. The total should be between 2 and 3 times 28: between 56 and 84. 70 fits. |</a:t>
            </a:r>
          </a:p>
          <a:p>
            <a:r>
              <a:t>| Final Answer | B receives £72. | 30 litres of blue paint. | 70 counters altogether. |</a:t>
            </a:r>
          </a:p>
          <a:p>
            <a:endParaRPr/>
          </a:p>
          <a:p>
            <a:r>
              <a:t>### Diagram specification</a:t>
            </a:r>
          </a:p>
          <a:p>
            <a:endParaRPr/>
          </a:p>
          <a:p>
            <a:r>
              <a:t>Use editable, equal-sized boxes. Align the two bars at the left; each box represents one part, not one pound, litre or counter. Label both bars by name; colour is optional, not the only way to identify them.</a:t>
            </a:r>
          </a:p>
          <a:p>
            <a:endParaRPr/>
          </a:p>
          <a:p>
            <a:r>
              <a:t>- Guided: A has 2 boxes; B has 3. A bracket covering both bars is labelled “£120 altogether”. Show “1 part = £24”.</a:t>
            </a:r>
          </a:p>
          <a:p>
            <a:r>
              <a:t>- Core: red has 3 boxes labelled “18 litres”; blue has 5. Show “1 part = 6 litres”.</a:t>
            </a:r>
          </a:p>
          <a:p>
            <a:r>
              <a:t>- Depth: red has 3 boxes; blue has 7. Bracket the **four extra blue boxes** and label them “28 more”. Show “1 part = 7 counters”. Do not label the overlap as the difference.</a:t>
            </a:r>
          </a:p>
          <a:p>
            <a:endParaRPr/>
          </a:p>
          <a:p>
            <a:r>
              <a:t>Keep the complete question and all four steps on this slide. Fit the diagrams beside the concise working within the Written Method row. Do not introduce a separate step-per-slide sequence.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2 — Step-by-step practice 1</a:t>
            </a:r>
          </a:p>
          <a:p>
            <a:endParaRPr/>
          </a:p>
          <a:p>
            <a:r>
              <a:t>Instruction: **Complete each step in your booklet or webapp.** Use the four practice prompts above.</a:t>
            </a:r>
          </a:p>
          <a:p>
            <a:endParaRPr/>
          </a:p>
          <a:p>
            <a:r>
              <a:t>| Thread 1: Guided | Thread 2: Core | Thread 3: Depth |</a:t>
            </a:r>
          </a:p>
          <a:p>
            <a:r>
              <a:t>| --- | --- | --- |</a:t>
            </a:r>
          </a:p>
          <a:p>
            <a:r>
              <a:t>| An 84 ml paint mix contains red and white paint in the ratio 3:4. How much red paint is in the mix? | Notebooks and folders are in the ratio 4:7. There are 35 folders. How many notebooks are there? | Adults and children are in the ratio 2:5. There are 24 more children than adults. How many people are there altogether? |</a:t>
            </a:r>
          </a:p>
          <a:p>
            <a:endParaRPr/>
          </a:p>
          <a:p>
            <a:r>
              <a:t>Teacher working:</a:t>
            </a:r>
          </a:p>
          <a:p>
            <a:endParaRPr/>
          </a:p>
          <a:p>
            <a:r>
              <a:t>- T1: 3 + 4 = 7; 84 ÷ 7 = 12 ml; 12 × 3 = **36 ml red paint**. Less than half of 84 ml; white paint 48 ml.</a:t>
            </a:r>
          </a:p>
          <a:p>
            <a:r>
              <a:t>- T2: 35 ÷ 7 = 5; 5 × 4 = **20 notebooks**. Fewer notebooks than folders.</a:t>
            </a:r>
          </a:p>
          <a:p>
            <a:r>
              <a:t>- T3: 5 − 2 = 3; 24 ÷ 3 = 8; (2 + 5) × 8 = **56 people**. 16 adults and 40 children; difference 24.</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3 — Step-by-step practice 2</a:t>
            </a:r>
          </a:p>
          <a:p>
            <a:endParaRPr/>
          </a:p>
          <a:p>
            <a:r>
              <a:t>Instruction and row prompts match Slide 2 exactly.</a:t>
            </a:r>
          </a:p>
          <a:p>
            <a:endParaRPr/>
          </a:p>
          <a:p>
            <a:r>
              <a:t>| Thread 1: Guided | Thread 2: Core | Thread 3: Depth |</a:t>
            </a:r>
          </a:p>
          <a:p>
            <a:r>
              <a:t>| --- | --- | --- |</a:t>
            </a:r>
          </a:p>
          <a:p>
            <a:r>
              <a:t>| A 96 cm ribbon is cut into pieces A and B in the ratio 5:7. Find the length of B. | Juice and water are mixed in the ratio 2:7. There are 18 litres of juice. How many litres of water are needed? | Two lengths of ribbon, A and B, are in the ratio 5:8. B is 21 cm longer than A. What is their total length? |</a:t>
            </a:r>
          </a:p>
          <a:p>
            <a:endParaRPr/>
          </a:p>
          <a:p>
            <a:r>
              <a:t>Teacher working:</a:t>
            </a:r>
          </a:p>
          <a:p>
            <a:endParaRPr/>
          </a:p>
          <a:p>
            <a:r>
              <a:t>- T1: 5 + 7 = 12; 96 ÷ 12 = 8 cm; 8 × 7 = **56 cm**. More than half of 96 cm; A is 40 cm.</a:t>
            </a:r>
          </a:p>
          <a:p>
            <a:r>
              <a:t>- T2: 18 ÷ 2 = 9; 9 × 7 = **63 litres of water**. Between 3 and 4 times the juice amount (54–72 litres).</a:t>
            </a:r>
          </a:p>
          <a:p>
            <a:r>
              <a:t>- T3: 8 − 5 = 3; 21 ÷ 3 = 7; (5 + 8) × 7 = **91 cm**. The two lengths are 35 cm and 56 cm; difference 21 cm.</a:t>
            </a:r>
          </a:p>
          <a:p>
            <a:endParaRPr/>
          </a:p>
          <a:p>
            <a:endParaRPr/>
          </a:p>
          <a:p>
            <a:endParaRPr/>
          </a:p>
          <a:p>
            <a:r>
              <a:t>## Slides 4–7 — Independent practice</a:t>
            </a:r>
          </a:p>
          <a:p>
            <a:endParaRPr/>
          </a:p>
          <a:p>
            <a:r>
              <a:t>Instruction on each slide: **Choose a column. Show your working and check your answers.**</a:t>
            </a:r>
          </a:p>
          <a:p>
            <a:endParaRPr/>
          </a:p>
          <a:p>
            <a:r>
              <a:t>Each column mixes contexts, unit types and requested quantities. “Find each” requires two labelled answers. Guided uses direct totals, known amounts and friendly given-difference questions. Core mixes totals, known amounts and simple differences. Depth mixes all three, including finding a difference from a total or a known amount. A column does not identify the required calculation.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M04-S04: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M04-S05: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M04-S06: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M04-S07: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43 × 6</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68 × 4</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476 × 82</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6,038 × 591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Follow each step down your column. Small orange numbers show carries.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 × 6</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34 × 12</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4,312 × 156</a:t>
            </a:r>
          </a:p>
        </p:txBody>
      </p:sp>
      <p:sp>
        <p:nvSpPr>
          <p:cNvPr id="21" name="Rectangle 20"/>
          <p:cNvSpPr/>
          <p:nvPr/>
        </p:nvSpPr>
        <p:spPr>
          <a:xfrm>
            <a:off x="384048" y="217627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1 row.</a:t>
            </a:r>
          </a:p>
          <a:p>
            <a:pPr>
              <a:lnSpc>
                <a:spcPts val="1836"/>
              </a:lnSpc>
              <a:spcBef>
                <a:spcPts val="0"/>
              </a:spcBef>
              <a:spcAft>
                <a:spcPts val="0"/>
              </a:spcAft>
              <a:defRPr sz="1700" b="0">
                <a:solidFill>
                  <a:srgbClr val="182B3A"/>
                </a:solidFill>
                <a:latin typeface="Arial"/>
              </a:defRPr>
            </a:pPr>
            <a:r>
              <a:t>Top: 4, 3. Right: 6.</a:t>
            </a:r>
          </a:p>
        </p:txBody>
      </p:sp>
      <p:sp>
        <p:nvSpPr>
          <p:cNvPr id="25" name="Rectangle 24"/>
          <p:cNvSpPr/>
          <p:nvPr/>
        </p:nvSpPr>
        <p:spPr>
          <a:xfrm>
            <a:off x="6406895"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2 rows.</a:t>
            </a:r>
          </a:p>
          <a:p>
            <a:pPr>
              <a:lnSpc>
                <a:spcPts val="1836"/>
              </a:lnSpc>
              <a:spcBef>
                <a:spcPts val="0"/>
              </a:spcBef>
              <a:spcAft>
                <a:spcPts val="0"/>
              </a:spcAft>
              <a:defRPr sz="1700" b="0">
                <a:solidFill>
                  <a:srgbClr val="182B3A"/>
                </a:solidFill>
                <a:latin typeface="Arial"/>
              </a:defRPr>
            </a:pPr>
            <a:r>
              <a:t>Top: 3, 4. Right: 1, 2.</a:t>
            </a:r>
          </a:p>
        </p:txBody>
      </p:sp>
      <p:sp>
        <p:nvSpPr>
          <p:cNvPr id="27" name="Rectangle 26"/>
          <p:cNvSpPr/>
          <p:nvPr/>
        </p:nvSpPr>
        <p:spPr>
          <a:xfrm>
            <a:off x="10326624"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4 columns × 3 rows.</a:t>
            </a:r>
          </a:p>
          <a:p>
            <a:pPr>
              <a:lnSpc>
                <a:spcPts val="1836"/>
              </a:lnSpc>
              <a:spcBef>
                <a:spcPts val="0"/>
              </a:spcBef>
              <a:spcAft>
                <a:spcPts val="0"/>
              </a:spcAft>
              <a:defRPr sz="1700" b="0">
                <a:solidFill>
                  <a:srgbClr val="182B3A"/>
                </a:solidFill>
                <a:latin typeface="Arial"/>
              </a:defRPr>
            </a:pPr>
            <a:r>
              <a:t>Top: 4, 3, 1, 2. Right: 1, 5, 6.</a:t>
            </a:r>
          </a:p>
        </p:txBody>
      </p:sp>
      <p:sp>
        <p:nvSpPr>
          <p:cNvPr id="29" name="Rectangle 28"/>
          <p:cNvSpPr/>
          <p:nvPr/>
        </p:nvSpPr>
        <p:spPr>
          <a:xfrm>
            <a:off x="384048" y="2907791"/>
            <a:ext cx="2103120" cy="2423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2999232"/>
            <a:ext cx="1975103" cy="224027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Cells: 24, 18.</a:t>
            </a:r>
          </a:p>
          <a:p>
            <a:pPr>
              <a:lnSpc>
                <a:spcPts val="1836"/>
              </a:lnSpc>
              <a:spcBef>
                <a:spcPts val="0"/>
              </a:spcBef>
              <a:spcAft>
                <a:spcPts val="0"/>
              </a:spcAft>
              <a:defRPr sz="1700" b="0">
                <a:solidFill>
                  <a:srgbClr val="182B3A"/>
                </a:solidFill>
                <a:latin typeface="Arial"/>
              </a:defRPr>
            </a:pPr>
            <a:r>
              <a:t>Tens above; units below.</a:t>
            </a:r>
          </a:p>
        </p:txBody>
      </p:sp>
      <p:grpSp>
        <p:nvGrpSpPr>
          <p:cNvPr id="33" name="Editable lattice 43 × 6"/>
          <p:cNvGrpSpPr/>
          <p:nvPr/>
        </p:nvGrpSpPr>
        <p:grpSpPr>
          <a:xfrm>
            <a:off x="3496055" y="3803903"/>
            <a:ext cx="1737360" cy="1143000"/>
            <a:chOff x="3496055" y="3803903"/>
            <a:chExt cx="1737360" cy="1143000"/>
          </a:xfrm>
        </p:grpSpPr>
        <p:sp>
          <p:nvSpPr>
            <p:cNvPr id="34" name="TextBox 33"/>
            <p:cNvSpPr txBox="1"/>
            <p:nvPr/>
          </p:nvSpPr>
          <p:spPr>
            <a:xfrm>
              <a:off x="3806951"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4</a:t>
              </a:r>
            </a:p>
          </p:txBody>
        </p:sp>
        <p:sp>
          <p:nvSpPr>
            <p:cNvPr id="35" name="TextBox 34"/>
            <p:cNvSpPr txBox="1"/>
            <p:nvPr/>
          </p:nvSpPr>
          <p:spPr>
            <a:xfrm>
              <a:off x="4373879"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3</a:t>
              </a:r>
            </a:p>
          </p:txBody>
        </p:sp>
        <p:sp>
          <p:nvSpPr>
            <p:cNvPr id="36" name="TextBox 35"/>
            <p:cNvSpPr txBox="1"/>
            <p:nvPr/>
          </p:nvSpPr>
          <p:spPr>
            <a:xfrm>
              <a:off x="4968239" y="4059935"/>
              <a:ext cx="265176" cy="566928"/>
            </a:xfrm>
            <a:prstGeom prst="rect">
              <a:avLst/>
            </a:prstGeom>
            <a:noFill/>
          </p:spPr>
          <p:txBody>
            <a:bodyPr wrap="none" lIns="0" tIns="0" rIns="0" bIns="0" anchor="ctr">
              <a:spAutoFit/>
            </a:bodyPr>
            <a:lstStyle/>
            <a:p>
              <a:pPr algn="ctr">
                <a:defRPr sz="1800" b="1">
                  <a:solidFill>
                    <a:srgbClr val="176B73"/>
                  </a:solidFill>
                  <a:latin typeface="Arial"/>
                </a:defRPr>
              </a:pPr>
              <a:r>
                <a:t>6</a:t>
              </a:r>
            </a:p>
          </p:txBody>
        </p:sp>
        <p:sp>
          <p:nvSpPr>
            <p:cNvPr id="37" name="Rectangle 36"/>
            <p:cNvSpPr/>
            <p:nvPr/>
          </p:nvSpPr>
          <p:spPr>
            <a:xfrm>
              <a:off x="3806951"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38" name="Connector 37"/>
            <p:cNvCxnSpPr/>
            <p:nvPr/>
          </p:nvCxnSpPr>
          <p:spPr>
            <a:xfrm flipV="1">
              <a:off x="3806951"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829629"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40" name="TextBox 39"/>
            <p:cNvSpPr txBox="1"/>
            <p:nvPr/>
          </p:nvSpPr>
          <p:spPr>
            <a:xfrm>
              <a:off x="4079077"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41" name="Rectangle 40"/>
            <p:cNvSpPr/>
            <p:nvPr/>
          </p:nvSpPr>
          <p:spPr>
            <a:xfrm>
              <a:off x="4373879"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42" name="Connector 41"/>
            <p:cNvCxnSpPr/>
            <p:nvPr/>
          </p:nvCxnSpPr>
          <p:spPr>
            <a:xfrm flipV="1">
              <a:off x="4373879"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396557"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44" name="TextBox 43"/>
            <p:cNvSpPr txBox="1"/>
            <p:nvPr/>
          </p:nvSpPr>
          <p:spPr>
            <a:xfrm>
              <a:off x="4646005"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45" name="Connector 44"/>
            <p:cNvCxnSpPr/>
            <p:nvPr/>
          </p:nvCxnSpPr>
          <p:spPr>
            <a:xfrm>
              <a:off x="3806951"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373879"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940807"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806951" y="4059935"/>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806951" y="4626864"/>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373879"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8</a:t>
              </a:r>
            </a:p>
          </p:txBody>
        </p:sp>
        <p:sp>
          <p:nvSpPr>
            <p:cNvPr id="51" name="TextBox 50"/>
            <p:cNvSpPr txBox="1"/>
            <p:nvPr/>
          </p:nvSpPr>
          <p:spPr>
            <a:xfrm>
              <a:off x="3806951"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5</a:t>
              </a:r>
            </a:p>
          </p:txBody>
        </p:sp>
        <p:sp>
          <p:nvSpPr>
            <p:cNvPr id="52" name="TextBox 51"/>
            <p:cNvSpPr txBox="1"/>
            <p:nvPr/>
          </p:nvSpPr>
          <p:spPr>
            <a:xfrm>
              <a:off x="3496055" y="4059935"/>
              <a:ext cx="265176" cy="566928"/>
            </a:xfrm>
            <a:prstGeom prst="rect">
              <a:avLst/>
            </a:prstGeom>
            <a:noFill/>
          </p:spPr>
          <p:txBody>
            <a:bodyPr wrap="none" lIns="0" tIns="0" rIns="0" bIns="0" anchor="ctr">
              <a:spAutoFit/>
            </a:bodyPr>
            <a:lstStyle/>
            <a:p>
              <a:pPr algn="ctr">
                <a:defRPr sz="1900" b="1">
                  <a:solidFill>
                    <a:srgbClr val="176B73"/>
                  </a:solidFill>
                  <a:latin typeface="Arial"/>
                </a:defRPr>
              </a:pPr>
              <a:r>
                <a:t>2</a:t>
              </a:r>
            </a:p>
          </p:txBody>
        </p:sp>
      </p:grpSp>
      <p:sp>
        <p:nvSpPr>
          <p:cNvPr id="53" name="Rectangle 52"/>
          <p:cNvSpPr/>
          <p:nvPr/>
        </p:nvSpPr>
        <p:spPr>
          <a:xfrm>
            <a:off x="6406895"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TextBox 53"/>
          <p:cNvSpPr txBox="1"/>
          <p:nvPr/>
        </p:nvSpPr>
        <p:spPr>
          <a:xfrm>
            <a:off x="6470904"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Top: 03, 04. Bottom: 06, 08.</a:t>
            </a:r>
          </a:p>
          <a:p>
            <a:pPr>
              <a:lnSpc>
                <a:spcPts val="1836"/>
              </a:lnSpc>
              <a:spcBef>
                <a:spcPts val="0"/>
              </a:spcBef>
              <a:spcAft>
                <a:spcPts val="0"/>
              </a:spcAft>
              <a:defRPr sz="1700" b="0">
                <a:solidFill>
                  <a:srgbClr val="182B3A"/>
                </a:solidFill>
                <a:latin typeface="Arial"/>
              </a:defRPr>
            </a:pPr>
            <a:r>
              <a:t>Keep the tens zeros.</a:t>
            </a:r>
          </a:p>
        </p:txBody>
      </p:sp>
      <p:grpSp>
        <p:nvGrpSpPr>
          <p:cNvPr id="55" name="Editable lattice 34 × 12"/>
          <p:cNvGrpSpPr/>
          <p:nvPr/>
        </p:nvGrpSpPr>
        <p:grpSpPr>
          <a:xfrm>
            <a:off x="7493508" y="3803903"/>
            <a:ext cx="1563623" cy="1517904"/>
            <a:chOff x="7493508" y="3803903"/>
            <a:chExt cx="1563623" cy="1517904"/>
          </a:xfrm>
        </p:grpSpPr>
        <p:sp>
          <p:nvSpPr>
            <p:cNvPr id="56" name="TextBox 55"/>
            <p:cNvSpPr txBox="1"/>
            <p:nvPr/>
          </p:nvSpPr>
          <p:spPr>
            <a:xfrm>
              <a:off x="7822692"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3</a:t>
              </a:r>
            </a:p>
          </p:txBody>
        </p:sp>
        <p:sp>
          <p:nvSpPr>
            <p:cNvPr id="57" name="TextBox 56"/>
            <p:cNvSpPr txBox="1"/>
            <p:nvPr/>
          </p:nvSpPr>
          <p:spPr>
            <a:xfrm>
              <a:off x="8293608"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4</a:t>
              </a:r>
            </a:p>
          </p:txBody>
        </p:sp>
        <p:sp>
          <p:nvSpPr>
            <p:cNvPr id="58" name="TextBox 57"/>
            <p:cNvSpPr txBox="1"/>
            <p:nvPr/>
          </p:nvSpPr>
          <p:spPr>
            <a:xfrm>
              <a:off x="8791955" y="4059935"/>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1</a:t>
              </a:r>
            </a:p>
          </p:txBody>
        </p:sp>
        <p:sp>
          <p:nvSpPr>
            <p:cNvPr id="59" name="TextBox 58"/>
            <p:cNvSpPr txBox="1"/>
            <p:nvPr/>
          </p:nvSpPr>
          <p:spPr>
            <a:xfrm>
              <a:off x="8791955" y="4530851"/>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2</a:t>
              </a:r>
            </a:p>
          </p:txBody>
        </p:sp>
        <p:sp>
          <p:nvSpPr>
            <p:cNvPr id="60" name="Rectangle 59"/>
            <p:cNvSpPr/>
            <p:nvPr/>
          </p:nvSpPr>
          <p:spPr>
            <a:xfrm>
              <a:off x="7822692"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1" name="Connector 60"/>
            <p:cNvCxnSpPr/>
            <p:nvPr/>
          </p:nvCxnSpPr>
          <p:spPr>
            <a:xfrm flipV="1">
              <a:off x="7822692"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841528"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3" name="TextBox 62"/>
            <p:cNvSpPr txBox="1"/>
            <p:nvPr/>
          </p:nvSpPr>
          <p:spPr>
            <a:xfrm>
              <a:off x="8048731"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64" name="Rectangle 63"/>
            <p:cNvSpPr/>
            <p:nvPr/>
          </p:nvSpPr>
          <p:spPr>
            <a:xfrm>
              <a:off x="8293608"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5" name="Connector 64"/>
            <p:cNvCxnSpPr/>
            <p:nvPr/>
          </p:nvCxnSpPr>
          <p:spPr>
            <a:xfrm flipV="1">
              <a:off x="8293608"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8312444"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7" name="TextBox 66"/>
            <p:cNvSpPr txBox="1"/>
            <p:nvPr/>
          </p:nvSpPr>
          <p:spPr>
            <a:xfrm>
              <a:off x="8519647"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68" name="Rectangle 67"/>
            <p:cNvSpPr/>
            <p:nvPr/>
          </p:nvSpPr>
          <p:spPr>
            <a:xfrm>
              <a:off x="7822692"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9" name="Connector 68"/>
            <p:cNvCxnSpPr/>
            <p:nvPr/>
          </p:nvCxnSpPr>
          <p:spPr>
            <a:xfrm flipV="1">
              <a:off x="7822692"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841528"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1" name="TextBox 70"/>
            <p:cNvSpPr txBox="1"/>
            <p:nvPr/>
          </p:nvSpPr>
          <p:spPr>
            <a:xfrm>
              <a:off x="8048731"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72" name="Rectangle 71"/>
            <p:cNvSpPr/>
            <p:nvPr/>
          </p:nvSpPr>
          <p:spPr>
            <a:xfrm>
              <a:off x="8293608"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3" name="Connector 72"/>
            <p:cNvCxnSpPr/>
            <p:nvPr/>
          </p:nvCxnSpPr>
          <p:spPr>
            <a:xfrm flipV="1">
              <a:off x="8293608"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8312444"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5" name="TextBox 74"/>
            <p:cNvSpPr txBox="1"/>
            <p:nvPr/>
          </p:nvSpPr>
          <p:spPr>
            <a:xfrm>
              <a:off x="8519647"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76" name="Connector 75"/>
            <p:cNvCxnSpPr/>
            <p:nvPr/>
          </p:nvCxnSpPr>
          <p:spPr>
            <a:xfrm>
              <a:off x="7822692"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293608"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764524"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822692" y="4059935"/>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822692" y="4530851"/>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822692" y="5001767"/>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293608"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8</a:t>
              </a:r>
            </a:p>
          </p:txBody>
        </p:sp>
        <p:sp>
          <p:nvSpPr>
            <p:cNvPr id="83" name="TextBox 82"/>
            <p:cNvSpPr txBox="1"/>
            <p:nvPr/>
          </p:nvSpPr>
          <p:spPr>
            <a:xfrm>
              <a:off x="7822692"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0</a:t>
              </a:r>
            </a:p>
          </p:txBody>
        </p:sp>
        <p:sp>
          <p:nvSpPr>
            <p:cNvPr id="84" name="TextBox 83"/>
            <p:cNvSpPr txBox="1"/>
            <p:nvPr/>
          </p:nvSpPr>
          <p:spPr>
            <a:xfrm>
              <a:off x="7511796" y="4530851"/>
              <a:ext cx="265176" cy="470915"/>
            </a:xfrm>
            <a:prstGeom prst="rect">
              <a:avLst/>
            </a:prstGeom>
            <a:noFill/>
          </p:spPr>
          <p:txBody>
            <a:bodyPr wrap="none" lIns="0" tIns="0" rIns="0" bIns="0" anchor="ctr">
              <a:spAutoFit/>
            </a:bodyPr>
            <a:lstStyle/>
            <a:p>
              <a:pPr algn="ctr">
                <a:defRPr sz="1900" b="1">
                  <a:solidFill>
                    <a:srgbClr val="3559A2"/>
                  </a:solidFill>
                  <a:latin typeface="Arial"/>
                </a:defRPr>
              </a:pPr>
              <a:r>
                <a:t>4</a:t>
              </a:r>
            </a:p>
          </p:txBody>
        </p:sp>
        <p:sp>
          <p:nvSpPr>
            <p:cNvPr id="85" name="TextBox 84"/>
            <p:cNvSpPr txBox="1"/>
            <p:nvPr/>
          </p:nvSpPr>
          <p:spPr>
            <a:xfrm>
              <a:off x="7493508" y="4539995"/>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86" name="TextBox 85"/>
            <p:cNvSpPr txBox="1"/>
            <p:nvPr/>
          </p:nvSpPr>
          <p:spPr>
            <a:xfrm>
              <a:off x="7511796" y="4059935"/>
              <a:ext cx="265176" cy="470915"/>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87" name="Rectangle 86"/>
          <p:cNvSpPr/>
          <p:nvPr/>
        </p:nvSpPr>
        <p:spPr>
          <a:xfrm>
            <a:off x="10326624"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10390632" y="2971799"/>
            <a:ext cx="3791712" cy="2926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Tens above; units below.</a:t>
            </a:r>
          </a:p>
        </p:txBody>
      </p:sp>
      <p:grpSp>
        <p:nvGrpSpPr>
          <p:cNvPr id="89" name="Editable lattice 4312 × 156"/>
          <p:cNvGrpSpPr/>
          <p:nvPr/>
        </p:nvGrpSpPr>
        <p:grpSpPr>
          <a:xfrm>
            <a:off x="10951464" y="3346704"/>
            <a:ext cx="2487167" cy="1975104"/>
            <a:chOff x="10951464" y="3346704"/>
            <a:chExt cx="2487167" cy="1975104"/>
          </a:xfrm>
        </p:grpSpPr>
        <p:sp>
          <p:nvSpPr>
            <p:cNvPr id="90" name="TextBox 89"/>
            <p:cNvSpPr txBox="1"/>
            <p:nvPr/>
          </p:nvSpPr>
          <p:spPr>
            <a:xfrm>
              <a:off x="11280648"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4</a:t>
              </a:r>
            </a:p>
          </p:txBody>
        </p:sp>
        <p:sp>
          <p:nvSpPr>
            <p:cNvPr id="91" name="TextBox 90"/>
            <p:cNvSpPr txBox="1"/>
            <p:nvPr/>
          </p:nvSpPr>
          <p:spPr>
            <a:xfrm>
              <a:off x="11746992"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3</a:t>
              </a:r>
            </a:p>
          </p:txBody>
        </p:sp>
        <p:sp>
          <p:nvSpPr>
            <p:cNvPr id="92" name="TextBox 91"/>
            <p:cNvSpPr txBox="1"/>
            <p:nvPr/>
          </p:nvSpPr>
          <p:spPr>
            <a:xfrm>
              <a:off x="12213335"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3" name="TextBox 92"/>
            <p:cNvSpPr txBox="1"/>
            <p:nvPr/>
          </p:nvSpPr>
          <p:spPr>
            <a:xfrm>
              <a:off x="12679679"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2</a:t>
              </a:r>
            </a:p>
          </p:txBody>
        </p:sp>
        <p:sp>
          <p:nvSpPr>
            <p:cNvPr id="94" name="TextBox 93"/>
            <p:cNvSpPr txBox="1"/>
            <p:nvPr/>
          </p:nvSpPr>
          <p:spPr>
            <a:xfrm>
              <a:off x="13173455" y="3602736"/>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5" name="TextBox 94"/>
            <p:cNvSpPr txBox="1"/>
            <p:nvPr/>
          </p:nvSpPr>
          <p:spPr>
            <a:xfrm>
              <a:off x="13173455" y="4069080"/>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5</a:t>
              </a:r>
            </a:p>
          </p:txBody>
        </p:sp>
        <p:sp>
          <p:nvSpPr>
            <p:cNvPr id="96" name="TextBox 95"/>
            <p:cNvSpPr txBox="1"/>
            <p:nvPr/>
          </p:nvSpPr>
          <p:spPr>
            <a:xfrm>
              <a:off x="13173455" y="4535424"/>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6</a:t>
              </a:r>
            </a:p>
          </p:txBody>
        </p:sp>
        <p:sp>
          <p:nvSpPr>
            <p:cNvPr id="97" name="Rectangle 96"/>
            <p:cNvSpPr/>
            <p:nvPr/>
          </p:nvSpPr>
          <p:spPr>
            <a:xfrm>
              <a:off x="11280648"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98" name="Connector 97"/>
            <p:cNvCxnSpPr/>
            <p:nvPr/>
          </p:nvCxnSpPr>
          <p:spPr>
            <a:xfrm flipV="1">
              <a:off x="11280648"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11299301"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0" name="TextBox 99"/>
            <p:cNvSpPr txBox="1"/>
            <p:nvPr/>
          </p:nvSpPr>
          <p:spPr>
            <a:xfrm>
              <a:off x="11504493"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01" name="Rectangle 100"/>
            <p:cNvSpPr/>
            <p:nvPr/>
          </p:nvSpPr>
          <p:spPr>
            <a:xfrm>
              <a:off x="11746992"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2" name="Connector 101"/>
            <p:cNvCxnSpPr/>
            <p:nvPr/>
          </p:nvCxnSpPr>
          <p:spPr>
            <a:xfrm flipV="1">
              <a:off x="11746992" y="3602736"/>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765645"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4" name="TextBox 103"/>
            <p:cNvSpPr txBox="1"/>
            <p:nvPr/>
          </p:nvSpPr>
          <p:spPr>
            <a:xfrm>
              <a:off x="11970837"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105" name="Rectangle 104"/>
            <p:cNvSpPr/>
            <p:nvPr/>
          </p:nvSpPr>
          <p:spPr>
            <a:xfrm>
              <a:off x="12213335"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6" name="Connector 105"/>
            <p:cNvCxnSpPr/>
            <p:nvPr/>
          </p:nvCxnSpPr>
          <p:spPr>
            <a:xfrm flipV="1">
              <a:off x="12213335"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12231989"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8" name="TextBox 107"/>
            <p:cNvSpPr txBox="1"/>
            <p:nvPr/>
          </p:nvSpPr>
          <p:spPr>
            <a:xfrm>
              <a:off x="12437181"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09" name="Rectangle 108"/>
            <p:cNvSpPr/>
            <p:nvPr/>
          </p:nvSpPr>
          <p:spPr>
            <a:xfrm>
              <a:off x="12679679"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0" name="Connector 109"/>
            <p:cNvCxnSpPr/>
            <p:nvPr/>
          </p:nvCxnSpPr>
          <p:spPr>
            <a:xfrm flipV="1">
              <a:off x="12679679"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12698333"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2" name="TextBox 111"/>
            <p:cNvSpPr txBox="1"/>
            <p:nvPr/>
          </p:nvSpPr>
          <p:spPr>
            <a:xfrm>
              <a:off x="12903525"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3" name="Rectangle 112"/>
            <p:cNvSpPr/>
            <p:nvPr/>
          </p:nvSpPr>
          <p:spPr>
            <a:xfrm>
              <a:off x="11280648"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4" name="Connector 113"/>
            <p:cNvCxnSpPr/>
            <p:nvPr/>
          </p:nvCxnSpPr>
          <p:spPr>
            <a:xfrm flipV="1">
              <a:off x="11280648"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11299301"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6" name="TextBox 115"/>
            <p:cNvSpPr txBox="1"/>
            <p:nvPr/>
          </p:nvSpPr>
          <p:spPr>
            <a:xfrm>
              <a:off x="11504493"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7" name="Rectangle 116"/>
            <p:cNvSpPr/>
            <p:nvPr/>
          </p:nvSpPr>
          <p:spPr>
            <a:xfrm>
              <a:off x="11746992"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8" name="Connector 117"/>
            <p:cNvCxnSpPr/>
            <p:nvPr/>
          </p:nvCxnSpPr>
          <p:spPr>
            <a:xfrm flipV="1">
              <a:off x="11746992" y="4069080"/>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11765645"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0" name="TextBox 119"/>
            <p:cNvSpPr txBox="1"/>
            <p:nvPr/>
          </p:nvSpPr>
          <p:spPr>
            <a:xfrm>
              <a:off x="11970837"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1" name="Rectangle 120"/>
            <p:cNvSpPr/>
            <p:nvPr/>
          </p:nvSpPr>
          <p:spPr>
            <a:xfrm>
              <a:off x="12213335"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2" name="Connector 121"/>
            <p:cNvCxnSpPr/>
            <p:nvPr/>
          </p:nvCxnSpPr>
          <p:spPr>
            <a:xfrm flipV="1">
              <a:off x="12213335"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12231989"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4" name="TextBox 123"/>
            <p:cNvSpPr txBox="1"/>
            <p:nvPr/>
          </p:nvSpPr>
          <p:spPr>
            <a:xfrm>
              <a:off x="12437181"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5" name="Rectangle 124"/>
            <p:cNvSpPr/>
            <p:nvPr/>
          </p:nvSpPr>
          <p:spPr>
            <a:xfrm>
              <a:off x="12679679"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6" name="Connector 125"/>
            <p:cNvCxnSpPr/>
            <p:nvPr/>
          </p:nvCxnSpPr>
          <p:spPr>
            <a:xfrm flipV="1">
              <a:off x="12679679"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2698333"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8" name="TextBox 127"/>
            <p:cNvSpPr txBox="1"/>
            <p:nvPr/>
          </p:nvSpPr>
          <p:spPr>
            <a:xfrm>
              <a:off x="12903525"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9" name="Rectangle 128"/>
            <p:cNvSpPr/>
            <p:nvPr/>
          </p:nvSpPr>
          <p:spPr>
            <a:xfrm>
              <a:off x="11280648"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0" name="Connector 129"/>
            <p:cNvCxnSpPr/>
            <p:nvPr/>
          </p:nvCxnSpPr>
          <p:spPr>
            <a:xfrm flipV="1">
              <a:off x="11280648"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11299301"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32" name="TextBox 131"/>
            <p:cNvSpPr txBox="1"/>
            <p:nvPr/>
          </p:nvSpPr>
          <p:spPr>
            <a:xfrm>
              <a:off x="11504493"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33" name="Rectangle 132"/>
            <p:cNvSpPr/>
            <p:nvPr/>
          </p:nvSpPr>
          <p:spPr>
            <a:xfrm>
              <a:off x="11746992"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4" name="Connector 133"/>
            <p:cNvCxnSpPr/>
            <p:nvPr/>
          </p:nvCxnSpPr>
          <p:spPr>
            <a:xfrm flipV="1">
              <a:off x="11746992" y="4535424"/>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1765645"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36" name="TextBox 135"/>
            <p:cNvSpPr txBox="1"/>
            <p:nvPr/>
          </p:nvSpPr>
          <p:spPr>
            <a:xfrm>
              <a:off x="11970837"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sp>
          <p:nvSpPr>
            <p:cNvPr id="137" name="Rectangle 136"/>
            <p:cNvSpPr/>
            <p:nvPr/>
          </p:nvSpPr>
          <p:spPr>
            <a:xfrm>
              <a:off x="12213335"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8" name="Connector 137"/>
            <p:cNvCxnSpPr/>
            <p:nvPr/>
          </p:nvCxnSpPr>
          <p:spPr>
            <a:xfrm flipV="1">
              <a:off x="12213335"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12231989"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40" name="TextBox 139"/>
            <p:cNvSpPr txBox="1"/>
            <p:nvPr/>
          </p:nvSpPr>
          <p:spPr>
            <a:xfrm>
              <a:off x="12437181"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141" name="Rectangle 140"/>
            <p:cNvSpPr/>
            <p:nvPr/>
          </p:nvSpPr>
          <p:spPr>
            <a:xfrm>
              <a:off x="12679679"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42" name="Connector 141"/>
            <p:cNvCxnSpPr/>
            <p:nvPr/>
          </p:nvCxnSpPr>
          <p:spPr>
            <a:xfrm flipV="1">
              <a:off x="12679679"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12698333"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44" name="TextBox 143"/>
            <p:cNvSpPr txBox="1"/>
            <p:nvPr/>
          </p:nvSpPr>
          <p:spPr>
            <a:xfrm>
              <a:off x="12903525"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cxnSp>
          <p:nvCxnSpPr>
            <p:cNvPr id="145" name="Connector 144"/>
            <p:cNvCxnSpPr/>
            <p:nvPr/>
          </p:nvCxnSpPr>
          <p:spPr>
            <a:xfrm>
              <a:off x="11280648"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1746992"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12213335"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12679679"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13146023"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11280648" y="3602736"/>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1280648" y="4069080"/>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11280648" y="4535424"/>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1280648" y="5001768"/>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154" name="TextBox 153"/>
            <p:cNvSpPr txBox="1"/>
            <p:nvPr/>
          </p:nvSpPr>
          <p:spPr>
            <a:xfrm>
              <a:off x="12679679"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5" name="TextBox 154"/>
            <p:cNvSpPr txBox="1"/>
            <p:nvPr/>
          </p:nvSpPr>
          <p:spPr>
            <a:xfrm>
              <a:off x="12213335"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56" name="TextBox 155"/>
            <p:cNvSpPr txBox="1"/>
            <p:nvPr/>
          </p:nvSpPr>
          <p:spPr>
            <a:xfrm>
              <a:off x="11746992"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57" name="TextBox 156"/>
            <p:cNvSpPr txBox="1"/>
            <p:nvPr/>
          </p:nvSpPr>
          <p:spPr>
            <a:xfrm>
              <a:off x="11280648"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8" name="TextBox 157"/>
            <p:cNvSpPr txBox="1"/>
            <p:nvPr/>
          </p:nvSpPr>
          <p:spPr>
            <a:xfrm>
              <a:off x="11298935" y="4956048"/>
              <a:ext cx="233171"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59" name="TextBox 158"/>
            <p:cNvSpPr txBox="1"/>
            <p:nvPr/>
          </p:nvSpPr>
          <p:spPr>
            <a:xfrm>
              <a:off x="10969752" y="4535424"/>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60" name="TextBox 159"/>
            <p:cNvSpPr txBox="1"/>
            <p:nvPr/>
          </p:nvSpPr>
          <p:spPr>
            <a:xfrm>
              <a:off x="10951464" y="4544568"/>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61" name="TextBox 160"/>
            <p:cNvSpPr txBox="1"/>
            <p:nvPr/>
          </p:nvSpPr>
          <p:spPr>
            <a:xfrm>
              <a:off x="10969752" y="4069080"/>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62" name="TextBox 161"/>
            <p:cNvSpPr txBox="1"/>
            <p:nvPr/>
          </p:nvSpPr>
          <p:spPr>
            <a:xfrm>
              <a:off x="10969752" y="3602736"/>
              <a:ext cx="265176" cy="466343"/>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163" name="Rectangle 162"/>
          <p:cNvSpPr/>
          <p:nvPr/>
        </p:nvSpPr>
        <p:spPr>
          <a:xfrm>
            <a:off x="384048" y="5330952"/>
            <a:ext cx="2103120" cy="16916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4" name="TextBox 163"/>
          <p:cNvSpPr txBox="1"/>
          <p:nvPr/>
        </p:nvSpPr>
        <p:spPr>
          <a:xfrm>
            <a:off x="448056" y="5422392"/>
            <a:ext cx="1975103" cy="150876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165" name="Rectangle 164"/>
          <p:cNvSpPr/>
          <p:nvPr/>
        </p:nvSpPr>
        <p:spPr>
          <a:xfrm>
            <a:off x="2487168"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6" name="TextBox 165"/>
          <p:cNvSpPr txBox="1"/>
          <p:nvPr/>
        </p:nvSpPr>
        <p:spPr>
          <a:xfrm>
            <a:off x="2551175"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1 + 4 = 5 → write 5</a:t>
            </a:r>
          </a:p>
          <a:p>
            <a:pPr>
              <a:lnSpc>
                <a:spcPts val="1620"/>
              </a:lnSpc>
              <a:spcBef>
                <a:spcPts val="0"/>
              </a:spcBef>
              <a:spcAft>
                <a:spcPts val="0"/>
              </a:spcAft>
              <a:defRPr sz="1500" b="0">
                <a:solidFill>
                  <a:srgbClr val="182B3A"/>
                </a:solidFill>
                <a:latin typeface="Arial"/>
              </a:defRPr>
            </a:pPr>
            <a:r>
              <a:t>2 → write 2</a:t>
            </a:r>
          </a:p>
        </p:txBody>
      </p:sp>
      <p:sp>
        <p:nvSpPr>
          <p:cNvPr id="167" name="Rectangle 166"/>
          <p:cNvSpPr/>
          <p:nvPr/>
        </p:nvSpPr>
        <p:spPr>
          <a:xfrm>
            <a:off x="6406895"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8" name="TextBox 167"/>
          <p:cNvSpPr txBox="1"/>
          <p:nvPr/>
        </p:nvSpPr>
        <p:spPr>
          <a:xfrm>
            <a:off x="6470904"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4 + 0 + 6 = 10 → write 0, carry 1</a:t>
            </a:r>
          </a:p>
          <a:p>
            <a:pPr>
              <a:lnSpc>
                <a:spcPts val="1620"/>
              </a:lnSpc>
              <a:spcBef>
                <a:spcPts val="0"/>
              </a:spcBef>
              <a:spcAft>
                <a:spcPts val="0"/>
              </a:spcAft>
              <a:defRPr sz="1500" b="0">
                <a:solidFill>
                  <a:srgbClr val="182B3A"/>
                </a:solidFill>
                <a:latin typeface="Arial"/>
              </a:defRPr>
            </a:pPr>
            <a:r>
              <a:t>0 + 3 + 0 + 1 = 4 → write 4</a:t>
            </a:r>
          </a:p>
          <a:p>
            <a:pPr>
              <a:lnSpc>
                <a:spcPts val="1620"/>
              </a:lnSpc>
              <a:spcBef>
                <a:spcPts val="0"/>
              </a:spcBef>
              <a:spcAft>
                <a:spcPts val="0"/>
              </a:spcAft>
              <a:defRPr sz="1500" b="0">
                <a:solidFill>
                  <a:srgbClr val="182B3A"/>
                </a:solidFill>
                <a:latin typeface="Arial"/>
              </a:defRPr>
            </a:pPr>
            <a:r>
              <a:t>0 → leading zero</a:t>
            </a:r>
          </a:p>
        </p:txBody>
      </p:sp>
      <p:sp>
        <p:nvSpPr>
          <p:cNvPr id="169" name="Rectangle 168"/>
          <p:cNvSpPr/>
          <p:nvPr/>
        </p:nvSpPr>
        <p:spPr>
          <a:xfrm>
            <a:off x="10326624"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0" name="TextBox 169"/>
          <p:cNvSpPr txBox="1"/>
          <p:nvPr/>
        </p:nvSpPr>
        <p:spPr>
          <a:xfrm>
            <a:off x="10390632"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2 → write 2</a:t>
            </a:r>
          </a:p>
          <a:p>
            <a:pPr>
              <a:lnSpc>
                <a:spcPts val="1620"/>
              </a:lnSpc>
              <a:spcBef>
                <a:spcPts val="0"/>
              </a:spcBef>
              <a:spcAft>
                <a:spcPts val="0"/>
              </a:spcAft>
              <a:defRPr sz="1500" b="0">
                <a:solidFill>
                  <a:srgbClr val="182B3A"/>
                </a:solidFill>
                <a:latin typeface="Arial"/>
              </a:defRPr>
            </a:pPr>
            <a:r>
              <a:t>1+0+6 = 7 → write 7</a:t>
            </a:r>
          </a:p>
          <a:p>
            <a:pPr>
              <a:lnSpc>
                <a:spcPts val="1620"/>
              </a:lnSpc>
              <a:spcBef>
                <a:spcPts val="0"/>
              </a:spcBef>
              <a:spcAft>
                <a:spcPts val="0"/>
              </a:spcAft>
              <a:defRPr sz="1500" b="0">
                <a:solidFill>
                  <a:srgbClr val="182B3A"/>
                </a:solidFill>
                <a:latin typeface="Arial"/>
              </a:defRPr>
            </a:pPr>
            <a:r>
              <a:t>1+2+0+5+8 = 16 → 6, carry 1</a:t>
            </a:r>
          </a:p>
          <a:p>
            <a:pPr>
              <a:lnSpc>
                <a:spcPts val="1620"/>
              </a:lnSpc>
              <a:spcBef>
                <a:spcPts val="0"/>
              </a:spcBef>
              <a:spcAft>
                <a:spcPts val="0"/>
              </a:spcAft>
              <a:defRPr sz="1500" b="0">
                <a:solidFill>
                  <a:srgbClr val="182B3A"/>
                </a:solidFill>
                <a:latin typeface="Arial"/>
              </a:defRPr>
            </a:pPr>
            <a:r>
              <a:t>0+0+1+1+5+4+1 = 12 → 2, carry 1</a:t>
            </a:r>
          </a:p>
          <a:p>
            <a:pPr>
              <a:lnSpc>
                <a:spcPts val="1620"/>
              </a:lnSpc>
              <a:spcBef>
                <a:spcPts val="0"/>
              </a:spcBef>
              <a:spcAft>
                <a:spcPts val="0"/>
              </a:spcAft>
              <a:defRPr sz="1500" b="0">
                <a:solidFill>
                  <a:srgbClr val="182B3A"/>
                </a:solidFill>
                <a:latin typeface="Arial"/>
              </a:defRPr>
            </a:pPr>
            <a:r>
              <a:t>0+1+3+2+0+1 = 7 → write 7</a:t>
            </a:r>
          </a:p>
          <a:p>
            <a:pPr>
              <a:lnSpc>
                <a:spcPts val="1620"/>
              </a:lnSpc>
              <a:spcBef>
                <a:spcPts val="0"/>
              </a:spcBef>
              <a:spcAft>
                <a:spcPts val="0"/>
              </a:spcAft>
              <a:defRPr sz="1500" b="0">
                <a:solidFill>
                  <a:srgbClr val="182B3A"/>
                </a:solidFill>
                <a:latin typeface="Arial"/>
              </a:defRPr>
            </a:pPr>
            <a:r>
              <a:t>0+2+4 = 6 → write 6</a:t>
            </a:r>
          </a:p>
          <a:p>
            <a:pPr>
              <a:lnSpc>
                <a:spcPts val="1620"/>
              </a:lnSpc>
              <a:spcBef>
                <a:spcPts val="0"/>
              </a:spcBef>
              <a:spcAft>
                <a:spcPts val="0"/>
              </a:spcAft>
              <a:defRPr sz="1500" b="0">
                <a:solidFill>
                  <a:srgbClr val="182B3A"/>
                </a:solidFill>
                <a:latin typeface="Arial"/>
              </a:defRPr>
            </a:pPr>
            <a:r>
              <a:t>0 → leading zero</a:t>
            </a:r>
          </a:p>
        </p:txBody>
      </p:sp>
      <p:sp>
        <p:nvSpPr>
          <p:cNvPr id="171" name="Rectangle 170"/>
          <p:cNvSpPr/>
          <p:nvPr/>
        </p:nvSpPr>
        <p:spPr>
          <a:xfrm>
            <a:off x="384048" y="702259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2" name="TextBox 171"/>
          <p:cNvSpPr txBox="1"/>
          <p:nvPr/>
        </p:nvSpPr>
        <p:spPr>
          <a:xfrm>
            <a:off x="448056" y="7114031"/>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173" name="Rectangle 172"/>
          <p:cNvSpPr/>
          <p:nvPr/>
        </p:nvSpPr>
        <p:spPr>
          <a:xfrm>
            <a:off x="2487168"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4" name="TextBox 173"/>
          <p:cNvSpPr txBox="1"/>
          <p:nvPr/>
        </p:nvSpPr>
        <p:spPr>
          <a:xfrm>
            <a:off x="2551175"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 × 6 = 258</a:t>
            </a:r>
          </a:p>
        </p:txBody>
      </p:sp>
      <p:sp>
        <p:nvSpPr>
          <p:cNvPr id="175" name="Rectangle 174"/>
          <p:cNvSpPr/>
          <p:nvPr/>
        </p:nvSpPr>
        <p:spPr>
          <a:xfrm>
            <a:off x="6406895"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6" name="TextBox 175"/>
          <p:cNvSpPr txBox="1"/>
          <p:nvPr/>
        </p:nvSpPr>
        <p:spPr>
          <a:xfrm>
            <a:off x="6470904"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34 × 12 = 408</a:t>
            </a:r>
          </a:p>
        </p:txBody>
      </p:sp>
      <p:sp>
        <p:nvSpPr>
          <p:cNvPr id="177" name="Rectangle 176"/>
          <p:cNvSpPr/>
          <p:nvPr/>
        </p:nvSpPr>
        <p:spPr>
          <a:xfrm>
            <a:off x="10326624"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8" name="TextBox 177"/>
          <p:cNvSpPr txBox="1"/>
          <p:nvPr/>
        </p:nvSpPr>
        <p:spPr>
          <a:xfrm>
            <a:off x="10390632"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4,312 × 156 = 672,672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53 × 7</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24 × 15</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1,245 × 326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84 × 5</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28</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3,142 × 2045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43 × 6</a:t>
            </a:r>
          </a:p>
        </p:txBody>
      </p:sp>
      <p:sp>
        <p:nvSpPr>
          <p:cNvPr id="10" name="TextBox 9"/>
          <p:cNvSpPr txBox="1"/>
          <p:nvPr/>
        </p:nvSpPr>
        <p:spPr>
          <a:xfrm>
            <a:off x="850392"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1" name="TextBox 10"/>
          <p:cNvSpPr txBox="1"/>
          <p:nvPr/>
        </p:nvSpPr>
        <p:spPr>
          <a:xfrm>
            <a:off x="1280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2" name="TextBox 11"/>
          <p:cNvSpPr txBox="1"/>
          <p:nvPr/>
        </p:nvSpPr>
        <p:spPr>
          <a:xfrm>
            <a:off x="1773936"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3" name="Connector 12"/>
          <p:cNvCxnSpPr/>
          <p:nvPr/>
        </p:nvCxnSpPr>
        <p:spPr>
          <a:xfrm flipV="1">
            <a:off x="850392"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64108"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5" name="TextBox 14"/>
          <p:cNvSpPr txBox="1"/>
          <p:nvPr/>
        </p:nvSpPr>
        <p:spPr>
          <a:xfrm>
            <a:off x="1074420"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6" name="Connector 15"/>
          <p:cNvCxnSpPr/>
          <p:nvPr/>
        </p:nvCxnSpPr>
        <p:spPr>
          <a:xfrm flipV="1">
            <a:off x="1280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293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 name="TextBox 17"/>
          <p:cNvSpPr txBox="1"/>
          <p:nvPr/>
        </p:nvSpPr>
        <p:spPr>
          <a:xfrm>
            <a:off x="1504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 name="Connector 18"/>
          <p:cNvCxnSpPr/>
          <p:nvPr/>
        </p:nvCxnSpPr>
        <p:spPr>
          <a:xfrm>
            <a:off x="850392"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280160"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709928"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50392"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50392"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280160"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5" name="TextBox 24"/>
          <p:cNvSpPr txBox="1"/>
          <p:nvPr/>
        </p:nvSpPr>
        <p:spPr>
          <a:xfrm>
            <a:off x="850392"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26" name="TextBox 25"/>
          <p:cNvSpPr txBox="1"/>
          <p:nvPr/>
        </p:nvSpPr>
        <p:spPr>
          <a:xfrm>
            <a:off x="502920"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7" name="TextBox 26"/>
          <p:cNvSpPr txBox="1"/>
          <p:nvPr/>
        </p:nvSpPr>
        <p:spPr>
          <a:xfrm>
            <a:off x="2670048"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 name="TextBox 27"/>
          <p:cNvSpPr txBox="1"/>
          <p:nvPr/>
        </p:nvSpPr>
        <p:spPr>
          <a:xfrm>
            <a:off x="2670048"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158</a:t>
            </a:r>
          </a:p>
        </p:txBody>
      </p:sp>
      <p:sp>
        <p:nvSpPr>
          <p:cNvPr id="29" name="Rectangle 28"/>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89 × 7</a:t>
            </a:r>
          </a:p>
        </p:txBody>
      </p:sp>
      <p:sp>
        <p:nvSpPr>
          <p:cNvPr id="31" name="TextBox 30"/>
          <p:cNvSpPr txBox="1"/>
          <p:nvPr/>
        </p:nvSpPr>
        <p:spPr>
          <a:xfrm>
            <a:off x="850392"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32" name="TextBox 31"/>
          <p:cNvSpPr txBox="1"/>
          <p:nvPr/>
        </p:nvSpPr>
        <p:spPr>
          <a:xfrm>
            <a:off x="1280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sp>
        <p:nvSpPr>
          <p:cNvPr id="33" name="TextBox 32"/>
          <p:cNvSpPr txBox="1"/>
          <p:nvPr/>
        </p:nvSpPr>
        <p:spPr>
          <a:xfrm>
            <a:off x="1773936"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34" name="Connector 33"/>
          <p:cNvCxnSpPr/>
          <p:nvPr/>
        </p:nvCxnSpPr>
        <p:spPr>
          <a:xfrm flipV="1">
            <a:off x="850392"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64108"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36" name="TextBox 35"/>
          <p:cNvSpPr txBox="1"/>
          <p:nvPr/>
        </p:nvSpPr>
        <p:spPr>
          <a:xfrm>
            <a:off x="1074420"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37" name="Connector 36"/>
          <p:cNvCxnSpPr/>
          <p:nvPr/>
        </p:nvCxnSpPr>
        <p:spPr>
          <a:xfrm flipV="1">
            <a:off x="1280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293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sp>
        <p:nvSpPr>
          <p:cNvPr id="39" name="TextBox 38"/>
          <p:cNvSpPr txBox="1"/>
          <p:nvPr/>
        </p:nvSpPr>
        <p:spPr>
          <a:xfrm>
            <a:off x="1504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40" name="Connector 39"/>
          <p:cNvCxnSpPr/>
          <p:nvPr/>
        </p:nvCxnSpPr>
        <p:spPr>
          <a:xfrm>
            <a:off x="850392"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280160"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709928"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50392"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50392"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280160"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46" name="TextBox 45"/>
          <p:cNvSpPr txBox="1"/>
          <p:nvPr/>
        </p:nvSpPr>
        <p:spPr>
          <a:xfrm>
            <a:off x="850392"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47" name="TextBox 46"/>
          <p:cNvSpPr txBox="1"/>
          <p:nvPr/>
        </p:nvSpPr>
        <p:spPr>
          <a:xfrm>
            <a:off x="502920"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48" name="TextBox 47"/>
          <p:cNvSpPr txBox="1"/>
          <p:nvPr/>
        </p:nvSpPr>
        <p:spPr>
          <a:xfrm>
            <a:off x="2670048"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49" name="TextBox 48"/>
          <p:cNvSpPr txBox="1"/>
          <p:nvPr/>
        </p:nvSpPr>
        <p:spPr>
          <a:xfrm>
            <a:off x="2670048"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523</a:t>
            </a:r>
          </a:p>
        </p:txBody>
      </p:sp>
      <p:sp>
        <p:nvSpPr>
          <p:cNvPr id="50" name="Rectangle 49"/>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76 × 7</a:t>
            </a:r>
          </a:p>
        </p:txBody>
      </p:sp>
      <p:sp>
        <p:nvSpPr>
          <p:cNvPr id="52" name="TextBox 51"/>
          <p:cNvSpPr txBox="1"/>
          <p:nvPr/>
        </p:nvSpPr>
        <p:spPr>
          <a:xfrm>
            <a:off x="850392"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53" name="TextBox 52"/>
          <p:cNvSpPr txBox="1"/>
          <p:nvPr/>
        </p:nvSpPr>
        <p:spPr>
          <a:xfrm>
            <a:off x="1280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54" name="TextBox 53"/>
          <p:cNvSpPr txBox="1"/>
          <p:nvPr/>
        </p:nvSpPr>
        <p:spPr>
          <a:xfrm>
            <a:off x="1773936"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55" name="Connector 54"/>
          <p:cNvCxnSpPr/>
          <p:nvPr/>
        </p:nvCxnSpPr>
        <p:spPr>
          <a:xfrm flipV="1">
            <a:off x="850392"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64108"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57" name="TextBox 56"/>
          <p:cNvSpPr txBox="1"/>
          <p:nvPr/>
        </p:nvSpPr>
        <p:spPr>
          <a:xfrm>
            <a:off x="1074420"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9</a:t>
            </a:r>
          </a:p>
        </p:txBody>
      </p:sp>
      <p:cxnSp>
        <p:nvCxnSpPr>
          <p:cNvPr id="58" name="Connector 57"/>
          <p:cNvCxnSpPr/>
          <p:nvPr/>
        </p:nvCxnSpPr>
        <p:spPr>
          <a:xfrm flipV="1">
            <a:off x="1280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293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60" name="TextBox 59"/>
          <p:cNvSpPr txBox="1"/>
          <p:nvPr/>
        </p:nvSpPr>
        <p:spPr>
          <a:xfrm>
            <a:off x="1504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61" name="Connector 60"/>
          <p:cNvCxnSpPr/>
          <p:nvPr/>
        </p:nvCxnSpPr>
        <p:spPr>
          <a:xfrm>
            <a:off x="850392"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280160"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709928"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850392"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50392"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280160"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67" name="TextBox 66"/>
          <p:cNvSpPr txBox="1"/>
          <p:nvPr/>
        </p:nvSpPr>
        <p:spPr>
          <a:xfrm>
            <a:off x="850392"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68" name="TextBox 67"/>
          <p:cNvSpPr txBox="1"/>
          <p:nvPr/>
        </p:nvSpPr>
        <p:spPr>
          <a:xfrm>
            <a:off x="502920"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69" name="TextBox 68"/>
          <p:cNvSpPr txBox="1"/>
          <p:nvPr/>
        </p:nvSpPr>
        <p:spPr>
          <a:xfrm>
            <a:off x="713232" y="6501383"/>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70" name="TextBox 69"/>
          <p:cNvSpPr txBox="1"/>
          <p:nvPr/>
        </p:nvSpPr>
        <p:spPr>
          <a:xfrm>
            <a:off x="2670048"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71" name="TextBox 70"/>
          <p:cNvSpPr txBox="1"/>
          <p:nvPr/>
        </p:nvSpPr>
        <p:spPr>
          <a:xfrm>
            <a:off x="2670048"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5,132</a:t>
            </a:r>
          </a:p>
        </p:txBody>
      </p:sp>
      <p:sp>
        <p:nvSpPr>
          <p:cNvPr id="72" name="Rectangle 71"/>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74" name="Rectangle 73"/>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34 × 16</a:t>
            </a:r>
          </a:p>
        </p:txBody>
      </p:sp>
      <p:sp>
        <p:nvSpPr>
          <p:cNvPr id="76" name="TextBox 75"/>
          <p:cNvSpPr txBox="1"/>
          <p:nvPr/>
        </p:nvSpPr>
        <p:spPr>
          <a:xfrm>
            <a:off x="5471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77" name="TextBox 76"/>
          <p:cNvSpPr txBox="1"/>
          <p:nvPr/>
        </p:nvSpPr>
        <p:spPr>
          <a:xfrm>
            <a:off x="5900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78" name="TextBox 77"/>
          <p:cNvSpPr txBox="1"/>
          <p:nvPr/>
        </p:nvSpPr>
        <p:spPr>
          <a:xfrm>
            <a:off x="6394704"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1</a:t>
            </a:r>
          </a:p>
        </p:txBody>
      </p:sp>
      <p:sp>
        <p:nvSpPr>
          <p:cNvPr id="79" name="TextBox 78"/>
          <p:cNvSpPr txBox="1"/>
          <p:nvPr/>
        </p:nvSpPr>
        <p:spPr>
          <a:xfrm>
            <a:off x="6394704"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80" name="Connector 79"/>
          <p:cNvCxnSpPr/>
          <p:nvPr/>
        </p:nvCxnSpPr>
        <p:spPr>
          <a:xfrm flipV="1">
            <a:off x="5471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5484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2" name="TextBox 81"/>
          <p:cNvSpPr txBox="1"/>
          <p:nvPr/>
        </p:nvSpPr>
        <p:spPr>
          <a:xfrm>
            <a:off x="5695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83" name="Connector 82"/>
          <p:cNvCxnSpPr/>
          <p:nvPr/>
        </p:nvCxnSpPr>
        <p:spPr>
          <a:xfrm flipV="1">
            <a:off x="5900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5914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5" name="TextBox 84"/>
          <p:cNvSpPr txBox="1"/>
          <p:nvPr/>
        </p:nvSpPr>
        <p:spPr>
          <a:xfrm>
            <a:off x="6124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86" name="Connector 85"/>
          <p:cNvCxnSpPr/>
          <p:nvPr/>
        </p:nvCxnSpPr>
        <p:spPr>
          <a:xfrm flipV="1">
            <a:off x="5471160"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5484876"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88" name="TextBox 87"/>
          <p:cNvSpPr txBox="1"/>
          <p:nvPr/>
        </p:nvSpPr>
        <p:spPr>
          <a:xfrm>
            <a:off x="5695188"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89" name="Connector 88"/>
          <p:cNvCxnSpPr/>
          <p:nvPr/>
        </p:nvCxnSpPr>
        <p:spPr>
          <a:xfrm flipV="1">
            <a:off x="5900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5914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91" name="TextBox 90"/>
          <p:cNvSpPr txBox="1"/>
          <p:nvPr/>
        </p:nvSpPr>
        <p:spPr>
          <a:xfrm>
            <a:off x="6124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92" name="Connector 91"/>
          <p:cNvCxnSpPr/>
          <p:nvPr/>
        </p:nvCxnSpPr>
        <p:spPr>
          <a:xfrm>
            <a:off x="5471160"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5900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330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5471160"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5471160"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471160" y="3246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900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99" name="TextBox 98"/>
          <p:cNvSpPr txBox="1"/>
          <p:nvPr/>
        </p:nvSpPr>
        <p:spPr>
          <a:xfrm>
            <a:off x="5471160"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00" name="TextBox 99"/>
          <p:cNvSpPr txBox="1"/>
          <p:nvPr/>
        </p:nvSpPr>
        <p:spPr>
          <a:xfrm>
            <a:off x="5123688"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101" name="TextBox 100"/>
          <p:cNvSpPr txBox="1"/>
          <p:nvPr/>
        </p:nvSpPr>
        <p:spPr>
          <a:xfrm>
            <a:off x="5352288" y="2871215"/>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02" name="TextBox 101"/>
          <p:cNvSpPr txBox="1"/>
          <p:nvPr/>
        </p:nvSpPr>
        <p:spPr>
          <a:xfrm>
            <a:off x="7290816"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03" name="TextBox 102"/>
          <p:cNvSpPr txBox="1"/>
          <p:nvPr/>
        </p:nvSpPr>
        <p:spPr>
          <a:xfrm>
            <a:off x="7290816"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526</a:t>
            </a:r>
          </a:p>
        </p:txBody>
      </p:sp>
      <p:sp>
        <p:nvSpPr>
          <p:cNvPr id="104" name="Rectangle 10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TextBox 10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 × 26</a:t>
            </a:r>
          </a:p>
        </p:txBody>
      </p:sp>
      <p:sp>
        <p:nvSpPr>
          <p:cNvPr id="106" name="TextBox 105"/>
          <p:cNvSpPr txBox="1"/>
          <p:nvPr/>
        </p:nvSpPr>
        <p:spPr>
          <a:xfrm>
            <a:off x="5471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07" name="TextBox 106"/>
          <p:cNvSpPr txBox="1"/>
          <p:nvPr/>
        </p:nvSpPr>
        <p:spPr>
          <a:xfrm>
            <a:off x="5900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108" name="TextBox 107"/>
          <p:cNvSpPr txBox="1"/>
          <p:nvPr/>
        </p:nvSpPr>
        <p:spPr>
          <a:xfrm>
            <a:off x="6394704"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09" name="TextBox 108"/>
          <p:cNvSpPr txBox="1"/>
          <p:nvPr/>
        </p:nvSpPr>
        <p:spPr>
          <a:xfrm>
            <a:off x="6394704"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10" name="Connector 109"/>
          <p:cNvCxnSpPr/>
          <p:nvPr/>
        </p:nvCxnSpPr>
        <p:spPr>
          <a:xfrm flipV="1">
            <a:off x="5471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5484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112" name="TextBox 111"/>
          <p:cNvSpPr txBox="1"/>
          <p:nvPr/>
        </p:nvSpPr>
        <p:spPr>
          <a:xfrm>
            <a:off x="5695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13" name="Connector 112"/>
          <p:cNvCxnSpPr/>
          <p:nvPr/>
        </p:nvCxnSpPr>
        <p:spPr>
          <a:xfrm flipV="1">
            <a:off x="5900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5914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15" name="TextBox 114"/>
          <p:cNvSpPr txBox="1"/>
          <p:nvPr/>
        </p:nvSpPr>
        <p:spPr>
          <a:xfrm>
            <a:off x="6124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6" name="Connector 115"/>
          <p:cNvCxnSpPr/>
          <p:nvPr/>
        </p:nvCxnSpPr>
        <p:spPr>
          <a:xfrm flipV="1">
            <a:off x="5471160"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5484876"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18" name="TextBox 117"/>
          <p:cNvSpPr txBox="1"/>
          <p:nvPr/>
        </p:nvSpPr>
        <p:spPr>
          <a:xfrm>
            <a:off x="5695188"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9" name="Connector 118"/>
          <p:cNvCxnSpPr/>
          <p:nvPr/>
        </p:nvCxnSpPr>
        <p:spPr>
          <a:xfrm flipV="1">
            <a:off x="5900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5914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121" name="TextBox 120"/>
          <p:cNvSpPr txBox="1"/>
          <p:nvPr/>
        </p:nvSpPr>
        <p:spPr>
          <a:xfrm>
            <a:off x="6124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22" name="Connector 121"/>
          <p:cNvCxnSpPr/>
          <p:nvPr/>
        </p:nvCxnSpPr>
        <p:spPr>
          <a:xfrm>
            <a:off x="5471160"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5900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6330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5471160"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5471160"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5471160" y="5248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5900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29" name="TextBox 128"/>
          <p:cNvSpPr txBox="1"/>
          <p:nvPr/>
        </p:nvSpPr>
        <p:spPr>
          <a:xfrm>
            <a:off x="5471160"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30" name="TextBox 129"/>
          <p:cNvSpPr txBox="1"/>
          <p:nvPr/>
        </p:nvSpPr>
        <p:spPr>
          <a:xfrm>
            <a:off x="5123688"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1" name="TextBox 130"/>
          <p:cNvSpPr txBox="1"/>
          <p:nvPr/>
        </p:nvSpPr>
        <p:spPr>
          <a:xfrm>
            <a:off x="5123688"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2" name="TextBox 131"/>
          <p:cNvSpPr txBox="1"/>
          <p:nvPr/>
        </p:nvSpPr>
        <p:spPr>
          <a:xfrm>
            <a:off x="5352288" y="4443984"/>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33" name="TextBox 132"/>
          <p:cNvSpPr txBox="1"/>
          <p:nvPr/>
        </p:nvSpPr>
        <p:spPr>
          <a:xfrm>
            <a:off x="7290816"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34" name="TextBox 133"/>
          <p:cNvSpPr txBox="1"/>
          <p:nvPr/>
        </p:nvSpPr>
        <p:spPr>
          <a:xfrm>
            <a:off x="7290816"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1,122</a:t>
            </a:r>
          </a:p>
        </p:txBody>
      </p:sp>
      <p:sp>
        <p:nvSpPr>
          <p:cNvPr id="135" name="Rectangle 13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TextBox 135"/>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68 × 24</a:t>
            </a:r>
          </a:p>
        </p:txBody>
      </p:sp>
      <p:sp>
        <p:nvSpPr>
          <p:cNvPr id="137" name="TextBox 136"/>
          <p:cNvSpPr txBox="1"/>
          <p:nvPr/>
        </p:nvSpPr>
        <p:spPr>
          <a:xfrm>
            <a:off x="5471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138" name="TextBox 137"/>
          <p:cNvSpPr txBox="1"/>
          <p:nvPr/>
        </p:nvSpPr>
        <p:spPr>
          <a:xfrm>
            <a:off x="5900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139" name="TextBox 138"/>
          <p:cNvSpPr txBox="1"/>
          <p:nvPr/>
        </p:nvSpPr>
        <p:spPr>
          <a:xfrm>
            <a:off x="6394704"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40" name="TextBox 139"/>
          <p:cNvSpPr txBox="1"/>
          <p:nvPr/>
        </p:nvSpPr>
        <p:spPr>
          <a:xfrm>
            <a:off x="6394704"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cxnSp>
        <p:nvCxnSpPr>
          <p:cNvPr id="141" name="Connector 140"/>
          <p:cNvCxnSpPr/>
          <p:nvPr/>
        </p:nvCxnSpPr>
        <p:spPr>
          <a:xfrm flipV="1">
            <a:off x="5471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5484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3" name="TextBox 142"/>
          <p:cNvSpPr txBox="1"/>
          <p:nvPr/>
        </p:nvSpPr>
        <p:spPr>
          <a:xfrm>
            <a:off x="5695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44" name="Connector 143"/>
          <p:cNvCxnSpPr/>
          <p:nvPr/>
        </p:nvCxnSpPr>
        <p:spPr>
          <a:xfrm flipV="1">
            <a:off x="5900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5" name="TextBox 144"/>
          <p:cNvSpPr txBox="1"/>
          <p:nvPr/>
        </p:nvSpPr>
        <p:spPr>
          <a:xfrm>
            <a:off x="5914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6" name="TextBox 145"/>
          <p:cNvSpPr txBox="1"/>
          <p:nvPr/>
        </p:nvSpPr>
        <p:spPr>
          <a:xfrm>
            <a:off x="6124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147" name="Connector 146"/>
          <p:cNvCxnSpPr/>
          <p:nvPr/>
        </p:nvCxnSpPr>
        <p:spPr>
          <a:xfrm flipV="1">
            <a:off x="5471160"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8" name="TextBox 147"/>
          <p:cNvSpPr txBox="1"/>
          <p:nvPr/>
        </p:nvSpPr>
        <p:spPr>
          <a:xfrm>
            <a:off x="5484876"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49" name="TextBox 148"/>
          <p:cNvSpPr txBox="1"/>
          <p:nvPr/>
        </p:nvSpPr>
        <p:spPr>
          <a:xfrm>
            <a:off x="5695188"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50" name="Connector 149"/>
          <p:cNvCxnSpPr/>
          <p:nvPr/>
        </p:nvCxnSpPr>
        <p:spPr>
          <a:xfrm flipV="1">
            <a:off x="5900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1" name="TextBox 150"/>
          <p:cNvSpPr txBox="1"/>
          <p:nvPr/>
        </p:nvSpPr>
        <p:spPr>
          <a:xfrm>
            <a:off x="5914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152" name="TextBox 151"/>
          <p:cNvSpPr txBox="1"/>
          <p:nvPr/>
        </p:nvSpPr>
        <p:spPr>
          <a:xfrm>
            <a:off x="6124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53" name="Connector 152"/>
          <p:cNvCxnSpPr/>
          <p:nvPr/>
        </p:nvCxnSpPr>
        <p:spPr>
          <a:xfrm>
            <a:off x="5471160"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5900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6330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5471160"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5471160"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5471160" y="725119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5900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60" name="TextBox 159"/>
          <p:cNvSpPr txBox="1"/>
          <p:nvPr/>
        </p:nvSpPr>
        <p:spPr>
          <a:xfrm>
            <a:off x="5471160"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161" name="TextBox 160"/>
          <p:cNvSpPr txBox="1"/>
          <p:nvPr/>
        </p:nvSpPr>
        <p:spPr>
          <a:xfrm>
            <a:off x="5123688"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162" name="TextBox 161"/>
          <p:cNvSpPr txBox="1"/>
          <p:nvPr/>
        </p:nvSpPr>
        <p:spPr>
          <a:xfrm>
            <a:off x="5334000" y="6931152"/>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3" name="TextBox 162"/>
          <p:cNvSpPr txBox="1"/>
          <p:nvPr/>
        </p:nvSpPr>
        <p:spPr>
          <a:xfrm>
            <a:off x="5123688"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4" name="TextBox 163"/>
          <p:cNvSpPr txBox="1"/>
          <p:nvPr/>
        </p:nvSpPr>
        <p:spPr>
          <a:xfrm>
            <a:off x="7290816"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65" name="TextBox 164"/>
          <p:cNvSpPr txBox="1"/>
          <p:nvPr/>
        </p:nvSpPr>
        <p:spPr>
          <a:xfrm>
            <a:off x="7290816"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16,132</a:t>
            </a:r>
          </a:p>
        </p:txBody>
      </p:sp>
      <p:sp>
        <p:nvSpPr>
          <p:cNvPr id="166" name="Rectangle 165"/>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7" name="TextBox 166"/>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68" name="Rectangle 167"/>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9" name="TextBox 168"/>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234 × 56</a:t>
            </a:r>
          </a:p>
        </p:txBody>
      </p:sp>
      <p:sp>
        <p:nvSpPr>
          <p:cNvPr id="170" name="TextBox 169"/>
          <p:cNvSpPr txBox="1"/>
          <p:nvPr/>
        </p:nvSpPr>
        <p:spPr>
          <a:xfrm>
            <a:off x="10091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71" name="TextBox 170"/>
          <p:cNvSpPr txBox="1"/>
          <p:nvPr/>
        </p:nvSpPr>
        <p:spPr>
          <a:xfrm>
            <a:off x="10521696"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72" name="TextBox 171"/>
          <p:cNvSpPr txBox="1"/>
          <p:nvPr/>
        </p:nvSpPr>
        <p:spPr>
          <a:xfrm>
            <a:off x="10951464"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73" name="TextBox 172"/>
          <p:cNvSpPr txBox="1"/>
          <p:nvPr/>
        </p:nvSpPr>
        <p:spPr>
          <a:xfrm>
            <a:off x="11445240"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174" name="TextBox 173"/>
          <p:cNvSpPr txBox="1"/>
          <p:nvPr/>
        </p:nvSpPr>
        <p:spPr>
          <a:xfrm>
            <a:off x="11445240"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75" name="Connector 174"/>
          <p:cNvCxnSpPr/>
          <p:nvPr/>
        </p:nvCxnSpPr>
        <p:spPr>
          <a:xfrm flipV="1">
            <a:off x="10091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10105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77" name="TextBox 176"/>
          <p:cNvSpPr txBox="1"/>
          <p:nvPr/>
        </p:nvSpPr>
        <p:spPr>
          <a:xfrm>
            <a:off x="10315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78" name="Connector 177"/>
          <p:cNvCxnSpPr/>
          <p:nvPr/>
        </p:nvCxnSpPr>
        <p:spPr>
          <a:xfrm flipV="1">
            <a:off x="10521696"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9" name="TextBox 178"/>
          <p:cNvSpPr txBox="1"/>
          <p:nvPr/>
        </p:nvSpPr>
        <p:spPr>
          <a:xfrm>
            <a:off x="10535412"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0" name="TextBox 179"/>
          <p:cNvSpPr txBox="1"/>
          <p:nvPr/>
        </p:nvSpPr>
        <p:spPr>
          <a:xfrm>
            <a:off x="10745724"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181" name="Connector 180"/>
          <p:cNvCxnSpPr/>
          <p:nvPr/>
        </p:nvCxnSpPr>
        <p:spPr>
          <a:xfrm flipV="1">
            <a:off x="10951464"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2" name="TextBox 181"/>
          <p:cNvSpPr txBox="1"/>
          <p:nvPr/>
        </p:nvSpPr>
        <p:spPr>
          <a:xfrm>
            <a:off x="10965180"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83" name="TextBox 182"/>
          <p:cNvSpPr txBox="1"/>
          <p:nvPr/>
        </p:nvSpPr>
        <p:spPr>
          <a:xfrm>
            <a:off x="11175492"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84" name="Connector 183"/>
          <p:cNvCxnSpPr/>
          <p:nvPr/>
        </p:nvCxnSpPr>
        <p:spPr>
          <a:xfrm flipV="1">
            <a:off x="10091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5" name="TextBox 184"/>
          <p:cNvSpPr txBox="1"/>
          <p:nvPr/>
        </p:nvSpPr>
        <p:spPr>
          <a:xfrm>
            <a:off x="10105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6" name="TextBox 185"/>
          <p:cNvSpPr txBox="1"/>
          <p:nvPr/>
        </p:nvSpPr>
        <p:spPr>
          <a:xfrm>
            <a:off x="10315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87" name="Connector 186"/>
          <p:cNvCxnSpPr/>
          <p:nvPr/>
        </p:nvCxnSpPr>
        <p:spPr>
          <a:xfrm flipV="1">
            <a:off x="10521696"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8" name="TextBox 187"/>
          <p:cNvSpPr txBox="1"/>
          <p:nvPr/>
        </p:nvSpPr>
        <p:spPr>
          <a:xfrm>
            <a:off x="10535412"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9" name="TextBox 188"/>
          <p:cNvSpPr txBox="1"/>
          <p:nvPr/>
        </p:nvSpPr>
        <p:spPr>
          <a:xfrm>
            <a:off x="10745724"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0" name="Connector 189"/>
          <p:cNvCxnSpPr/>
          <p:nvPr/>
        </p:nvCxnSpPr>
        <p:spPr>
          <a:xfrm flipV="1">
            <a:off x="10951464"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91" name="TextBox 190"/>
          <p:cNvSpPr txBox="1"/>
          <p:nvPr/>
        </p:nvSpPr>
        <p:spPr>
          <a:xfrm>
            <a:off x="10965180"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92" name="TextBox 191"/>
          <p:cNvSpPr txBox="1"/>
          <p:nvPr/>
        </p:nvSpPr>
        <p:spPr>
          <a:xfrm>
            <a:off x="11175492"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93" name="Connector 192"/>
          <p:cNvCxnSpPr/>
          <p:nvPr/>
        </p:nvCxnSpPr>
        <p:spPr>
          <a:xfrm>
            <a:off x="10091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10521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10951464"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11381232"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10091928" y="238658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10091928" y="281635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10091928" y="3246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00" name="TextBox 199"/>
          <p:cNvSpPr txBox="1"/>
          <p:nvPr/>
        </p:nvSpPr>
        <p:spPr>
          <a:xfrm>
            <a:off x="10951464"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01" name="TextBox 200"/>
          <p:cNvSpPr txBox="1"/>
          <p:nvPr/>
        </p:nvSpPr>
        <p:spPr>
          <a:xfrm>
            <a:off x="10521696"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02" name="TextBox 201"/>
          <p:cNvSpPr txBox="1"/>
          <p:nvPr/>
        </p:nvSpPr>
        <p:spPr>
          <a:xfrm>
            <a:off x="10091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0</a:t>
            </a:r>
          </a:p>
        </p:txBody>
      </p:sp>
      <p:sp>
        <p:nvSpPr>
          <p:cNvPr id="203" name="TextBox 202"/>
          <p:cNvSpPr txBox="1"/>
          <p:nvPr/>
        </p:nvSpPr>
        <p:spPr>
          <a:xfrm>
            <a:off x="9744456"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04" name="TextBox 203"/>
          <p:cNvSpPr txBox="1"/>
          <p:nvPr/>
        </p:nvSpPr>
        <p:spPr>
          <a:xfrm>
            <a:off x="9973056" y="2871215"/>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05" name="TextBox 204"/>
          <p:cNvSpPr txBox="1"/>
          <p:nvPr/>
        </p:nvSpPr>
        <p:spPr>
          <a:xfrm>
            <a:off x="9744456"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06" name="TextBox 205"/>
          <p:cNvSpPr txBox="1"/>
          <p:nvPr/>
        </p:nvSpPr>
        <p:spPr>
          <a:xfrm>
            <a:off x="11911584"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07" name="TextBox 206"/>
          <p:cNvSpPr txBox="1"/>
          <p:nvPr/>
        </p:nvSpPr>
        <p:spPr>
          <a:xfrm>
            <a:off x="11911584"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13,086</a:t>
            </a:r>
          </a:p>
        </p:txBody>
      </p:sp>
      <p:sp>
        <p:nvSpPr>
          <p:cNvPr id="208" name="Rectangle 20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9" name="TextBox 20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476 × 82</a:t>
            </a:r>
          </a:p>
        </p:txBody>
      </p:sp>
      <p:sp>
        <p:nvSpPr>
          <p:cNvPr id="210" name="TextBox 209"/>
          <p:cNvSpPr txBox="1"/>
          <p:nvPr/>
        </p:nvSpPr>
        <p:spPr>
          <a:xfrm>
            <a:off x="10091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211" name="TextBox 210"/>
          <p:cNvSpPr txBox="1"/>
          <p:nvPr/>
        </p:nvSpPr>
        <p:spPr>
          <a:xfrm>
            <a:off x="10521696"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212" name="TextBox 211"/>
          <p:cNvSpPr txBox="1"/>
          <p:nvPr/>
        </p:nvSpPr>
        <p:spPr>
          <a:xfrm>
            <a:off x="10951464"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13" name="TextBox 212"/>
          <p:cNvSpPr txBox="1"/>
          <p:nvPr/>
        </p:nvSpPr>
        <p:spPr>
          <a:xfrm>
            <a:off x="11445240"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14" name="TextBox 213"/>
          <p:cNvSpPr txBox="1"/>
          <p:nvPr/>
        </p:nvSpPr>
        <p:spPr>
          <a:xfrm>
            <a:off x="11445240"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cxnSp>
        <p:nvCxnSpPr>
          <p:cNvPr id="215" name="Connector 214"/>
          <p:cNvCxnSpPr/>
          <p:nvPr/>
        </p:nvCxnSpPr>
        <p:spPr>
          <a:xfrm flipV="1">
            <a:off x="10091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6" name="TextBox 215"/>
          <p:cNvSpPr txBox="1"/>
          <p:nvPr/>
        </p:nvSpPr>
        <p:spPr>
          <a:xfrm>
            <a:off x="10105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217" name="TextBox 216"/>
          <p:cNvSpPr txBox="1"/>
          <p:nvPr/>
        </p:nvSpPr>
        <p:spPr>
          <a:xfrm>
            <a:off x="10315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18" name="Connector 217"/>
          <p:cNvCxnSpPr/>
          <p:nvPr/>
        </p:nvCxnSpPr>
        <p:spPr>
          <a:xfrm flipV="1">
            <a:off x="10521696"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9" name="TextBox 218"/>
          <p:cNvSpPr txBox="1"/>
          <p:nvPr/>
        </p:nvSpPr>
        <p:spPr>
          <a:xfrm>
            <a:off x="10535412"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20" name="TextBox 219"/>
          <p:cNvSpPr txBox="1"/>
          <p:nvPr/>
        </p:nvSpPr>
        <p:spPr>
          <a:xfrm>
            <a:off x="10745724"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221" name="Connector 220"/>
          <p:cNvCxnSpPr/>
          <p:nvPr/>
        </p:nvCxnSpPr>
        <p:spPr>
          <a:xfrm flipV="1">
            <a:off x="10951464"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2" name="TextBox 221"/>
          <p:cNvSpPr txBox="1"/>
          <p:nvPr/>
        </p:nvSpPr>
        <p:spPr>
          <a:xfrm>
            <a:off x="10965180"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23" name="TextBox 222"/>
          <p:cNvSpPr txBox="1"/>
          <p:nvPr/>
        </p:nvSpPr>
        <p:spPr>
          <a:xfrm>
            <a:off x="11175492"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4" name="Connector 223"/>
          <p:cNvCxnSpPr/>
          <p:nvPr/>
        </p:nvCxnSpPr>
        <p:spPr>
          <a:xfrm flipV="1">
            <a:off x="10091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5" name="TextBox 224"/>
          <p:cNvSpPr txBox="1"/>
          <p:nvPr/>
        </p:nvSpPr>
        <p:spPr>
          <a:xfrm>
            <a:off x="10105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226" name="TextBox 225"/>
          <p:cNvSpPr txBox="1"/>
          <p:nvPr/>
        </p:nvSpPr>
        <p:spPr>
          <a:xfrm>
            <a:off x="10315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7" name="Connector 226"/>
          <p:cNvCxnSpPr/>
          <p:nvPr/>
        </p:nvCxnSpPr>
        <p:spPr>
          <a:xfrm flipV="1">
            <a:off x="10521696"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8" name="TextBox 227"/>
          <p:cNvSpPr txBox="1"/>
          <p:nvPr/>
        </p:nvSpPr>
        <p:spPr>
          <a:xfrm>
            <a:off x="10535412"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29" name="TextBox 228"/>
          <p:cNvSpPr txBox="1"/>
          <p:nvPr/>
        </p:nvSpPr>
        <p:spPr>
          <a:xfrm>
            <a:off x="10745724"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30" name="Connector 229"/>
          <p:cNvCxnSpPr/>
          <p:nvPr/>
        </p:nvCxnSpPr>
        <p:spPr>
          <a:xfrm flipV="1">
            <a:off x="10951464"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31" name="TextBox 230"/>
          <p:cNvSpPr txBox="1"/>
          <p:nvPr/>
        </p:nvSpPr>
        <p:spPr>
          <a:xfrm>
            <a:off x="10965180"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32" name="TextBox 231"/>
          <p:cNvSpPr txBox="1"/>
          <p:nvPr/>
        </p:nvSpPr>
        <p:spPr>
          <a:xfrm>
            <a:off x="11175492"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33" name="Connector 232"/>
          <p:cNvCxnSpPr/>
          <p:nvPr/>
        </p:nvCxnSpPr>
        <p:spPr>
          <a:xfrm>
            <a:off x="10091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10521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10951464"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11381232"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10091928" y="4389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10091928" y="4818888"/>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10091928" y="5248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0" name="TextBox 239"/>
          <p:cNvSpPr txBox="1"/>
          <p:nvPr/>
        </p:nvSpPr>
        <p:spPr>
          <a:xfrm>
            <a:off x="10951464"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41" name="TextBox 240"/>
          <p:cNvSpPr txBox="1"/>
          <p:nvPr/>
        </p:nvSpPr>
        <p:spPr>
          <a:xfrm>
            <a:off x="10521696"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2" name="TextBox 241"/>
          <p:cNvSpPr txBox="1"/>
          <p:nvPr/>
        </p:nvSpPr>
        <p:spPr>
          <a:xfrm>
            <a:off x="10091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9</a:t>
            </a:r>
          </a:p>
        </p:txBody>
      </p:sp>
      <p:sp>
        <p:nvSpPr>
          <p:cNvPr id="243" name="TextBox 242"/>
          <p:cNvSpPr txBox="1"/>
          <p:nvPr/>
        </p:nvSpPr>
        <p:spPr>
          <a:xfrm>
            <a:off x="9744456"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44" name="TextBox 243"/>
          <p:cNvSpPr txBox="1"/>
          <p:nvPr/>
        </p:nvSpPr>
        <p:spPr>
          <a:xfrm>
            <a:off x="9973056" y="4873752"/>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45" name="TextBox 244"/>
          <p:cNvSpPr txBox="1"/>
          <p:nvPr/>
        </p:nvSpPr>
        <p:spPr>
          <a:xfrm>
            <a:off x="9744456"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6" name="TextBox 245"/>
          <p:cNvSpPr txBox="1"/>
          <p:nvPr/>
        </p:nvSpPr>
        <p:spPr>
          <a:xfrm>
            <a:off x="11911584"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47" name="TextBox 246"/>
          <p:cNvSpPr txBox="1"/>
          <p:nvPr/>
        </p:nvSpPr>
        <p:spPr>
          <a:xfrm>
            <a:off x="11911584"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38,932</a:t>
            </a:r>
          </a:p>
        </p:txBody>
      </p:sp>
      <p:sp>
        <p:nvSpPr>
          <p:cNvPr id="248" name="Rectangle 247"/>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9" name="TextBox 248"/>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638 × 59</a:t>
            </a:r>
          </a:p>
        </p:txBody>
      </p:sp>
      <p:sp>
        <p:nvSpPr>
          <p:cNvPr id="250" name="TextBox 249"/>
          <p:cNvSpPr txBox="1"/>
          <p:nvPr/>
        </p:nvSpPr>
        <p:spPr>
          <a:xfrm>
            <a:off x="10091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51" name="TextBox 250"/>
          <p:cNvSpPr txBox="1"/>
          <p:nvPr/>
        </p:nvSpPr>
        <p:spPr>
          <a:xfrm>
            <a:off x="10521696"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252" name="TextBox 251"/>
          <p:cNvSpPr txBox="1"/>
          <p:nvPr/>
        </p:nvSpPr>
        <p:spPr>
          <a:xfrm>
            <a:off x="10951464"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53" name="TextBox 252"/>
          <p:cNvSpPr txBox="1"/>
          <p:nvPr/>
        </p:nvSpPr>
        <p:spPr>
          <a:xfrm>
            <a:off x="11445240"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254" name="TextBox 253"/>
          <p:cNvSpPr txBox="1"/>
          <p:nvPr/>
        </p:nvSpPr>
        <p:spPr>
          <a:xfrm>
            <a:off x="11445240"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cxnSp>
        <p:nvCxnSpPr>
          <p:cNvPr id="255" name="Connector 254"/>
          <p:cNvCxnSpPr/>
          <p:nvPr/>
        </p:nvCxnSpPr>
        <p:spPr>
          <a:xfrm flipV="1">
            <a:off x="10091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6" name="TextBox 255"/>
          <p:cNvSpPr txBox="1"/>
          <p:nvPr/>
        </p:nvSpPr>
        <p:spPr>
          <a:xfrm>
            <a:off x="10105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57" name="TextBox 256"/>
          <p:cNvSpPr txBox="1"/>
          <p:nvPr/>
        </p:nvSpPr>
        <p:spPr>
          <a:xfrm>
            <a:off x="10315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58" name="Connector 257"/>
          <p:cNvCxnSpPr/>
          <p:nvPr/>
        </p:nvCxnSpPr>
        <p:spPr>
          <a:xfrm flipV="1">
            <a:off x="10521696"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9" name="TextBox 258"/>
          <p:cNvSpPr txBox="1"/>
          <p:nvPr/>
        </p:nvSpPr>
        <p:spPr>
          <a:xfrm>
            <a:off x="10535412"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60" name="TextBox 259"/>
          <p:cNvSpPr txBox="1"/>
          <p:nvPr/>
        </p:nvSpPr>
        <p:spPr>
          <a:xfrm>
            <a:off x="10745724"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261" name="Connector 260"/>
          <p:cNvCxnSpPr/>
          <p:nvPr/>
        </p:nvCxnSpPr>
        <p:spPr>
          <a:xfrm flipV="1">
            <a:off x="10951464"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2" name="TextBox 261"/>
          <p:cNvSpPr txBox="1"/>
          <p:nvPr/>
        </p:nvSpPr>
        <p:spPr>
          <a:xfrm>
            <a:off x="10965180"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63" name="TextBox 262"/>
          <p:cNvSpPr txBox="1"/>
          <p:nvPr/>
        </p:nvSpPr>
        <p:spPr>
          <a:xfrm>
            <a:off x="11175492"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64" name="Connector 263"/>
          <p:cNvCxnSpPr/>
          <p:nvPr/>
        </p:nvCxnSpPr>
        <p:spPr>
          <a:xfrm flipV="1">
            <a:off x="10091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5" name="TextBox 264"/>
          <p:cNvSpPr txBox="1"/>
          <p:nvPr/>
        </p:nvSpPr>
        <p:spPr>
          <a:xfrm>
            <a:off x="10105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66" name="TextBox 265"/>
          <p:cNvSpPr txBox="1"/>
          <p:nvPr/>
        </p:nvSpPr>
        <p:spPr>
          <a:xfrm>
            <a:off x="10315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67" name="Connector 266"/>
          <p:cNvCxnSpPr/>
          <p:nvPr/>
        </p:nvCxnSpPr>
        <p:spPr>
          <a:xfrm flipV="1">
            <a:off x="10521696"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8" name="TextBox 267"/>
          <p:cNvSpPr txBox="1"/>
          <p:nvPr/>
        </p:nvSpPr>
        <p:spPr>
          <a:xfrm>
            <a:off x="10535412"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69" name="TextBox 268"/>
          <p:cNvSpPr txBox="1"/>
          <p:nvPr/>
        </p:nvSpPr>
        <p:spPr>
          <a:xfrm>
            <a:off x="10745724"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cxnSp>
        <p:nvCxnSpPr>
          <p:cNvPr id="270" name="Connector 269"/>
          <p:cNvCxnSpPr/>
          <p:nvPr/>
        </p:nvCxnSpPr>
        <p:spPr>
          <a:xfrm flipV="1">
            <a:off x="10951464"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71" name="TextBox 270"/>
          <p:cNvSpPr txBox="1"/>
          <p:nvPr/>
        </p:nvSpPr>
        <p:spPr>
          <a:xfrm>
            <a:off x="10965180"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sp>
        <p:nvSpPr>
          <p:cNvPr id="272" name="TextBox 271"/>
          <p:cNvSpPr txBox="1"/>
          <p:nvPr/>
        </p:nvSpPr>
        <p:spPr>
          <a:xfrm>
            <a:off x="11175492"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73" name="Connector 272"/>
          <p:cNvCxnSpPr/>
          <p:nvPr/>
        </p:nvCxnSpPr>
        <p:spPr>
          <a:xfrm>
            <a:off x="10091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a:off x="10521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a:off x="10951464"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11381232"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a:off x="10091928" y="6391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a:off x="10091928" y="682142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a:off x="10091928" y="725119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80" name="TextBox 279"/>
          <p:cNvSpPr txBox="1"/>
          <p:nvPr/>
        </p:nvSpPr>
        <p:spPr>
          <a:xfrm>
            <a:off x="10951464"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1" name="TextBox 280"/>
          <p:cNvSpPr txBox="1"/>
          <p:nvPr/>
        </p:nvSpPr>
        <p:spPr>
          <a:xfrm>
            <a:off x="10521696"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4</a:t>
            </a:r>
          </a:p>
        </p:txBody>
      </p:sp>
      <p:sp>
        <p:nvSpPr>
          <p:cNvPr id="282" name="TextBox 281"/>
          <p:cNvSpPr txBox="1"/>
          <p:nvPr/>
        </p:nvSpPr>
        <p:spPr>
          <a:xfrm>
            <a:off x="10091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83" name="TextBox 282"/>
          <p:cNvSpPr txBox="1"/>
          <p:nvPr/>
        </p:nvSpPr>
        <p:spPr>
          <a:xfrm>
            <a:off x="10037064" y="7214616"/>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4" name="TextBox 283"/>
          <p:cNvSpPr txBox="1"/>
          <p:nvPr/>
        </p:nvSpPr>
        <p:spPr>
          <a:xfrm>
            <a:off x="9744456"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7</a:t>
            </a:r>
          </a:p>
        </p:txBody>
      </p:sp>
      <p:sp>
        <p:nvSpPr>
          <p:cNvPr id="285" name="TextBox 284"/>
          <p:cNvSpPr txBox="1"/>
          <p:nvPr/>
        </p:nvSpPr>
        <p:spPr>
          <a:xfrm>
            <a:off x="9973056" y="6876288"/>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6" name="TextBox 285"/>
          <p:cNvSpPr txBox="1"/>
          <p:nvPr/>
        </p:nvSpPr>
        <p:spPr>
          <a:xfrm>
            <a:off x="9744456"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7" name="TextBox 286"/>
          <p:cNvSpPr txBox="1"/>
          <p:nvPr/>
        </p:nvSpPr>
        <p:spPr>
          <a:xfrm>
            <a:off x="11911584"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8" name="TextBox 287"/>
          <p:cNvSpPr txBox="1"/>
          <p:nvPr/>
        </p:nvSpPr>
        <p:spPr>
          <a:xfrm>
            <a:off x="11911584"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27,642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83 × 7</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 × 13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 × 34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 × 22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 × 41</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75 × 16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57</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342 × 15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612 × 24</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1,234 × 125</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2,105 × 304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4,316 × 1,024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7,029 × 2,316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 × 6</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 × 4</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 × 14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37 × 42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 × 36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 × 27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 × 53</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425 × 23</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708 × 46</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1,326 × 243</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3,048 × 512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5,607 × 1,204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8,214 × 3,067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7</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29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65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87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35 × 24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17</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39</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76 × 28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54 × 46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89 × 65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536 × 34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809 × 27</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2,047 × 368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4,158 × 427</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6,309 × 2,058</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9,274 × 4,163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 × 5</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 × 9</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67 × 8</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49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4</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97 × 7</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27 × 35</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 × 26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48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 × 37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59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68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647 × 45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902 × 38</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3,156 × 489</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5,027 × 596</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7,418 × 3,264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8,639 × 5,076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864 ÷ 4</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132 ÷ 8</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165 ÷ 6</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615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Guided: exact answer. Core: remainder. Depth: decimal answer.</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145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4,834 ÷ 16</a:t>
            </a:r>
          </a:p>
        </p:txBody>
      </p:sp>
      <p:sp>
        <p:nvSpPr>
          <p:cNvPr id="21" name="Rectangle 20"/>
          <p:cNvSpPr/>
          <p:nvPr/>
        </p:nvSpPr>
        <p:spPr>
          <a:xfrm>
            <a:off x="384048" y="2176272"/>
            <a:ext cx="2103120" cy="1737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5544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63.</a:t>
            </a:r>
          </a:p>
          <a:p>
            <a:pPr>
              <a:lnSpc>
                <a:spcPts val="2160"/>
              </a:lnSpc>
              <a:spcBef>
                <a:spcPts val="0"/>
              </a:spcBef>
              <a:spcAft>
                <a:spcPts val="0"/>
              </a:spcAft>
              <a:defRPr sz="2000" b="0">
                <a:solidFill>
                  <a:srgbClr val="182B3A"/>
                </a:solidFill>
                <a:latin typeface="Arial"/>
              </a:defRPr>
            </a:pPr>
            <a:r>
              <a:t>Outside on the left: 3.</a:t>
            </a:r>
          </a:p>
        </p:txBody>
      </p:sp>
      <p:grpSp>
        <p:nvGrpSpPr>
          <p:cNvPr id="25" name="Editable bus stop 63 ÷ 3"/>
          <p:cNvGrpSpPr/>
          <p:nvPr/>
        </p:nvGrpSpPr>
        <p:grpSpPr>
          <a:xfrm>
            <a:off x="3633216" y="3008375"/>
            <a:ext cx="1426463" cy="758952"/>
            <a:chOff x="3633216" y="3008375"/>
            <a:chExt cx="1426463" cy="758952"/>
          </a:xfrm>
        </p:grpSpPr>
        <p:cxnSp>
          <p:nvCxnSpPr>
            <p:cNvPr id="26" name="Connector 25"/>
            <p:cNvCxnSpPr/>
            <p:nvPr/>
          </p:nvCxnSpPr>
          <p:spPr>
            <a:xfrm>
              <a:off x="4035552" y="3383279"/>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035552"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633216" y="3401567"/>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3</a:t>
              </a:r>
            </a:p>
          </p:txBody>
        </p:sp>
        <p:sp>
          <p:nvSpPr>
            <p:cNvPr id="29" name="TextBox 28"/>
            <p:cNvSpPr txBox="1"/>
            <p:nvPr/>
          </p:nvSpPr>
          <p:spPr>
            <a:xfrm>
              <a:off x="4108704"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6</a:t>
              </a:r>
            </a:p>
          </p:txBody>
        </p:sp>
        <p:sp>
          <p:nvSpPr>
            <p:cNvPr id="30" name="TextBox 29"/>
            <p:cNvSpPr txBox="1"/>
            <p:nvPr/>
          </p:nvSpPr>
          <p:spPr>
            <a:xfrm>
              <a:off x="4108704"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1" name="TextBox 30"/>
            <p:cNvSpPr txBox="1"/>
            <p:nvPr/>
          </p:nvSpPr>
          <p:spPr>
            <a:xfrm>
              <a:off x="4556760"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32" name="TextBox 31"/>
            <p:cNvSpPr txBox="1"/>
            <p:nvPr/>
          </p:nvSpPr>
          <p:spPr>
            <a:xfrm>
              <a:off x="4556760"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33" name="Rectangle 32"/>
          <p:cNvSpPr/>
          <p:nvPr/>
        </p:nvSpPr>
        <p:spPr>
          <a:xfrm>
            <a:off x="6406895"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145.</a:t>
            </a:r>
          </a:p>
          <a:p>
            <a:pPr>
              <a:lnSpc>
                <a:spcPts val="2160"/>
              </a:lnSpc>
              <a:spcBef>
                <a:spcPts val="0"/>
              </a:spcBef>
              <a:spcAft>
                <a:spcPts val="0"/>
              </a:spcAft>
              <a:defRPr sz="2000" b="0">
                <a:solidFill>
                  <a:srgbClr val="182B3A"/>
                </a:solidFill>
                <a:latin typeface="Arial"/>
              </a:defRPr>
            </a:pPr>
            <a:r>
              <a:t>Outside on the left: 6.</a:t>
            </a:r>
          </a:p>
        </p:txBody>
      </p:sp>
      <p:grpSp>
        <p:nvGrpSpPr>
          <p:cNvPr id="35" name="Editable bus stop 145 ÷ 6"/>
          <p:cNvGrpSpPr/>
          <p:nvPr/>
        </p:nvGrpSpPr>
        <p:grpSpPr>
          <a:xfrm>
            <a:off x="7328915" y="3008375"/>
            <a:ext cx="1874521" cy="905256"/>
            <a:chOff x="7328915" y="3008375"/>
            <a:chExt cx="1874521" cy="905256"/>
          </a:xfrm>
        </p:grpSpPr>
        <p:cxnSp>
          <p:nvCxnSpPr>
            <p:cNvPr id="36" name="Connector 35"/>
            <p:cNvCxnSpPr/>
            <p:nvPr/>
          </p:nvCxnSpPr>
          <p:spPr>
            <a:xfrm>
              <a:off x="7731251" y="3383279"/>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731251"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328915" y="3401567"/>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39" name="TextBox 38"/>
            <p:cNvSpPr txBox="1"/>
            <p:nvPr/>
          </p:nvSpPr>
          <p:spPr>
            <a:xfrm>
              <a:off x="7804403"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0" name="TextBox 39"/>
            <p:cNvSpPr txBox="1"/>
            <p:nvPr/>
          </p:nvSpPr>
          <p:spPr>
            <a:xfrm>
              <a:off x="7804403"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1" name="TextBox 40"/>
            <p:cNvSpPr txBox="1"/>
            <p:nvPr/>
          </p:nvSpPr>
          <p:spPr>
            <a:xfrm>
              <a:off x="8252459"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2" name="TextBox 41"/>
            <p:cNvSpPr txBox="1"/>
            <p:nvPr/>
          </p:nvSpPr>
          <p:spPr>
            <a:xfrm>
              <a:off x="8252459"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43" name="TextBox 42"/>
            <p:cNvSpPr txBox="1"/>
            <p:nvPr/>
          </p:nvSpPr>
          <p:spPr>
            <a:xfrm>
              <a:off x="816193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44" name="TextBox 43"/>
            <p:cNvSpPr txBox="1"/>
            <p:nvPr/>
          </p:nvSpPr>
          <p:spPr>
            <a:xfrm>
              <a:off x="8700515"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45" name="TextBox 44"/>
            <p:cNvSpPr txBox="1"/>
            <p:nvPr/>
          </p:nvSpPr>
          <p:spPr>
            <a:xfrm>
              <a:off x="8700515"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4</a:t>
              </a:r>
            </a:p>
          </p:txBody>
        </p:sp>
        <p:sp>
          <p:nvSpPr>
            <p:cNvPr id="46" name="TextBox 45"/>
            <p:cNvSpPr txBox="1"/>
            <p:nvPr/>
          </p:nvSpPr>
          <p:spPr>
            <a:xfrm>
              <a:off x="8609990"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47" name="TextBox 46"/>
            <p:cNvSpPr txBox="1"/>
            <p:nvPr/>
          </p:nvSpPr>
          <p:spPr>
            <a:xfrm>
              <a:off x="7804403" y="3749039"/>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1</a:t>
              </a:r>
            </a:p>
          </p:txBody>
        </p:sp>
      </p:grpSp>
      <p:sp>
        <p:nvSpPr>
          <p:cNvPr id="48" name="Rectangle 47"/>
          <p:cNvSpPr/>
          <p:nvPr/>
        </p:nvSpPr>
        <p:spPr>
          <a:xfrm>
            <a:off x="10326624"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9" name="TextBox 48"/>
          <p:cNvSpPr txBox="1"/>
          <p:nvPr/>
        </p:nvSpPr>
        <p:spPr>
          <a:xfrm>
            <a:off x="10390632"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4,834.</a:t>
            </a:r>
          </a:p>
          <a:p>
            <a:pPr>
              <a:lnSpc>
                <a:spcPts val="2160"/>
              </a:lnSpc>
              <a:spcBef>
                <a:spcPts val="0"/>
              </a:spcBef>
              <a:spcAft>
                <a:spcPts val="0"/>
              </a:spcAft>
              <a:defRPr sz="2000" b="0">
                <a:solidFill>
                  <a:srgbClr val="182B3A"/>
                </a:solidFill>
                <a:latin typeface="Arial"/>
              </a:defRPr>
            </a:pPr>
            <a:r>
              <a:t>Outside on the left: 16.</a:t>
            </a:r>
          </a:p>
        </p:txBody>
      </p:sp>
      <p:grpSp>
        <p:nvGrpSpPr>
          <p:cNvPr id="50" name="Editable bus stop 4834 ÷ 16"/>
          <p:cNvGrpSpPr/>
          <p:nvPr/>
        </p:nvGrpSpPr>
        <p:grpSpPr>
          <a:xfrm>
            <a:off x="10326624" y="3008375"/>
            <a:ext cx="3718560" cy="758952"/>
            <a:chOff x="10326624" y="3008375"/>
            <a:chExt cx="3718560" cy="758952"/>
          </a:xfrm>
        </p:grpSpPr>
        <p:cxnSp>
          <p:nvCxnSpPr>
            <p:cNvPr id="51" name="Connector 50"/>
            <p:cNvCxnSpPr/>
            <p:nvPr/>
          </p:nvCxnSpPr>
          <p:spPr>
            <a:xfrm>
              <a:off x="10728960" y="3383279"/>
              <a:ext cx="3316224"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728960"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326624" y="3401567"/>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16</a:t>
              </a:r>
            </a:p>
          </p:txBody>
        </p:sp>
        <p:sp>
          <p:nvSpPr>
            <p:cNvPr id="54" name="TextBox 53"/>
            <p:cNvSpPr txBox="1"/>
            <p:nvPr/>
          </p:nvSpPr>
          <p:spPr>
            <a:xfrm>
              <a:off x="1080211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55" name="TextBox 54"/>
            <p:cNvSpPr txBox="1"/>
            <p:nvPr/>
          </p:nvSpPr>
          <p:spPr>
            <a:xfrm>
              <a:off x="1080211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56" name="TextBox 55"/>
            <p:cNvSpPr txBox="1"/>
            <p:nvPr/>
          </p:nvSpPr>
          <p:spPr>
            <a:xfrm>
              <a:off x="11200638"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57" name="TextBox 56"/>
            <p:cNvSpPr txBox="1"/>
            <p:nvPr/>
          </p:nvSpPr>
          <p:spPr>
            <a:xfrm>
              <a:off x="11200638"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3</a:t>
              </a:r>
            </a:p>
          </p:txBody>
        </p:sp>
        <p:sp>
          <p:nvSpPr>
            <p:cNvPr id="58" name="TextBox 57"/>
            <p:cNvSpPr txBox="1"/>
            <p:nvPr/>
          </p:nvSpPr>
          <p:spPr>
            <a:xfrm>
              <a:off x="1111011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59" name="TextBox 58"/>
            <p:cNvSpPr txBox="1"/>
            <p:nvPr/>
          </p:nvSpPr>
          <p:spPr>
            <a:xfrm>
              <a:off x="11599163"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60" name="TextBox 59"/>
            <p:cNvSpPr txBox="1"/>
            <p:nvPr/>
          </p:nvSpPr>
          <p:spPr>
            <a:xfrm>
              <a:off x="11599163"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0</a:t>
              </a:r>
            </a:p>
          </p:txBody>
        </p:sp>
        <p:sp>
          <p:nvSpPr>
            <p:cNvPr id="61" name="TextBox 60"/>
            <p:cNvSpPr txBox="1"/>
            <p:nvPr/>
          </p:nvSpPr>
          <p:spPr>
            <a:xfrm>
              <a:off x="11997689"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2" name="TextBox 61"/>
            <p:cNvSpPr txBox="1"/>
            <p:nvPr/>
          </p:nvSpPr>
          <p:spPr>
            <a:xfrm>
              <a:off x="11997689"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63" name="TextBox 62"/>
            <p:cNvSpPr txBox="1"/>
            <p:nvPr/>
          </p:nvSpPr>
          <p:spPr>
            <a:xfrm>
              <a:off x="1190716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3</a:t>
              </a:r>
            </a:p>
          </p:txBody>
        </p:sp>
        <p:sp>
          <p:nvSpPr>
            <p:cNvPr id="64" name="TextBox 63"/>
            <p:cNvSpPr txBox="1"/>
            <p:nvPr/>
          </p:nvSpPr>
          <p:spPr>
            <a:xfrm>
              <a:off x="12396215"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a:t>
              </a:r>
            </a:p>
          </p:txBody>
        </p:sp>
        <p:sp>
          <p:nvSpPr>
            <p:cNvPr id="65" name="TextBox 64"/>
            <p:cNvSpPr txBox="1"/>
            <p:nvPr/>
          </p:nvSpPr>
          <p:spPr>
            <a:xfrm>
              <a:off x="12396215"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a:t>
              </a:r>
            </a:p>
          </p:txBody>
        </p:sp>
        <p:sp>
          <p:nvSpPr>
            <p:cNvPr id="66" name="TextBox 65"/>
            <p:cNvSpPr txBox="1"/>
            <p:nvPr/>
          </p:nvSpPr>
          <p:spPr>
            <a:xfrm>
              <a:off x="1279474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67" name="TextBox 66"/>
            <p:cNvSpPr txBox="1"/>
            <p:nvPr/>
          </p:nvSpPr>
          <p:spPr>
            <a:xfrm>
              <a:off x="1279474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8" name="TextBox 67"/>
            <p:cNvSpPr txBox="1"/>
            <p:nvPr/>
          </p:nvSpPr>
          <p:spPr>
            <a:xfrm>
              <a:off x="12704216"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69" name="TextBox 68"/>
            <p:cNvSpPr txBox="1"/>
            <p:nvPr/>
          </p:nvSpPr>
          <p:spPr>
            <a:xfrm>
              <a:off x="13193267"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0" name="TextBox 69"/>
            <p:cNvSpPr txBox="1"/>
            <p:nvPr/>
          </p:nvSpPr>
          <p:spPr>
            <a:xfrm>
              <a:off x="13193267"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71" name="TextBox 70"/>
            <p:cNvSpPr txBox="1"/>
            <p:nvPr/>
          </p:nvSpPr>
          <p:spPr>
            <a:xfrm>
              <a:off x="1310274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72" name="TextBox 71"/>
            <p:cNvSpPr txBox="1"/>
            <p:nvPr/>
          </p:nvSpPr>
          <p:spPr>
            <a:xfrm>
              <a:off x="13591794"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3" name="TextBox 72"/>
            <p:cNvSpPr txBox="1"/>
            <p:nvPr/>
          </p:nvSpPr>
          <p:spPr>
            <a:xfrm>
              <a:off x="13591794"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5</a:t>
              </a:r>
            </a:p>
          </p:txBody>
        </p:sp>
        <p:sp>
          <p:nvSpPr>
            <p:cNvPr id="74" name="TextBox 73"/>
            <p:cNvSpPr txBox="1"/>
            <p:nvPr/>
          </p:nvSpPr>
          <p:spPr>
            <a:xfrm>
              <a:off x="13501268"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8</a:t>
              </a:r>
            </a:p>
          </p:txBody>
        </p:sp>
      </p:grpSp>
      <p:sp>
        <p:nvSpPr>
          <p:cNvPr id="75" name="Rectangle 74"/>
          <p:cNvSpPr/>
          <p:nvPr/>
        </p:nvSpPr>
        <p:spPr>
          <a:xfrm>
            <a:off x="384048" y="3913631"/>
            <a:ext cx="2103120" cy="14173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6" name="TextBox 75"/>
          <p:cNvSpPr txBox="1"/>
          <p:nvPr/>
        </p:nvSpPr>
        <p:spPr>
          <a:xfrm>
            <a:off x="448056" y="4005071"/>
            <a:ext cx="1975103" cy="12344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77" name="Rectangle 76"/>
          <p:cNvSpPr/>
          <p:nvPr/>
        </p:nvSpPr>
        <p:spPr>
          <a:xfrm>
            <a:off x="2487168"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8" name="TextBox 77"/>
          <p:cNvSpPr txBox="1"/>
          <p:nvPr/>
        </p:nvSpPr>
        <p:spPr>
          <a:xfrm>
            <a:off x="2551175"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6 ÷ 3 = 2. Write 2 above 6.</a:t>
            </a:r>
          </a:p>
          <a:p>
            <a:pPr>
              <a:lnSpc>
                <a:spcPts val="1944"/>
              </a:lnSpc>
              <a:spcBef>
                <a:spcPts val="0"/>
              </a:spcBef>
              <a:spcAft>
                <a:spcPts val="0"/>
              </a:spcAft>
              <a:defRPr sz="1800" b="0">
                <a:solidFill>
                  <a:srgbClr val="182B3A"/>
                </a:solidFill>
                <a:latin typeface="Arial"/>
              </a:defRPr>
            </a:pPr>
            <a:r>
              <a:t>3 ÷ 3 = 1. Write 1 above 3.</a:t>
            </a:r>
          </a:p>
        </p:txBody>
      </p:sp>
      <p:sp>
        <p:nvSpPr>
          <p:cNvPr id="79" name="Rectangle 78"/>
          <p:cNvSpPr/>
          <p:nvPr/>
        </p:nvSpPr>
        <p:spPr>
          <a:xfrm>
            <a:off x="6406895"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0" name="TextBox 79"/>
          <p:cNvSpPr txBox="1"/>
          <p:nvPr/>
        </p:nvSpPr>
        <p:spPr>
          <a:xfrm>
            <a:off x="6470904"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 ÷ 6 = 0 r 1 → carry 1 to make 14.</a:t>
            </a:r>
          </a:p>
          <a:p>
            <a:pPr>
              <a:lnSpc>
                <a:spcPts val="1944"/>
              </a:lnSpc>
              <a:spcBef>
                <a:spcPts val="0"/>
              </a:spcBef>
              <a:spcAft>
                <a:spcPts val="0"/>
              </a:spcAft>
              <a:defRPr sz="1800" b="0">
                <a:solidFill>
                  <a:srgbClr val="182B3A"/>
                </a:solidFill>
                <a:latin typeface="Arial"/>
              </a:defRPr>
            </a:pPr>
            <a:r>
              <a:t>14 ÷ 6 = 2 r 2 → carry 2 to make 25.</a:t>
            </a:r>
          </a:p>
          <a:p>
            <a:pPr>
              <a:lnSpc>
                <a:spcPts val="1944"/>
              </a:lnSpc>
              <a:spcBef>
                <a:spcPts val="0"/>
              </a:spcBef>
              <a:spcAft>
                <a:spcPts val="0"/>
              </a:spcAft>
              <a:defRPr sz="1800" b="0">
                <a:solidFill>
                  <a:srgbClr val="182B3A"/>
                </a:solidFill>
                <a:latin typeface="Arial"/>
              </a:defRPr>
            </a:pPr>
            <a:r>
              <a:t>25 ÷ 6 = 4 r 1.</a:t>
            </a:r>
          </a:p>
        </p:txBody>
      </p:sp>
      <p:sp>
        <p:nvSpPr>
          <p:cNvPr id="81" name="Rectangle 80"/>
          <p:cNvSpPr/>
          <p:nvPr/>
        </p:nvSpPr>
        <p:spPr>
          <a:xfrm>
            <a:off x="10326624"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2" name="TextBox 81"/>
          <p:cNvSpPr txBox="1"/>
          <p:nvPr/>
        </p:nvSpPr>
        <p:spPr>
          <a:xfrm>
            <a:off x="10390632"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 ÷ 16 = 0 r 4 → make 48.</a:t>
            </a:r>
          </a:p>
          <a:p>
            <a:pPr>
              <a:lnSpc>
                <a:spcPts val="1944"/>
              </a:lnSpc>
              <a:spcBef>
                <a:spcPts val="0"/>
              </a:spcBef>
              <a:spcAft>
                <a:spcPts val="0"/>
              </a:spcAft>
              <a:defRPr sz="1800" b="0">
                <a:solidFill>
                  <a:srgbClr val="182B3A"/>
                </a:solidFill>
                <a:latin typeface="Arial"/>
              </a:defRPr>
            </a:pPr>
            <a:r>
              <a:t>48 ÷ 16 = 3; next digit is 3.</a:t>
            </a:r>
          </a:p>
          <a:p>
            <a:pPr>
              <a:lnSpc>
                <a:spcPts val="1944"/>
              </a:lnSpc>
              <a:spcBef>
                <a:spcPts val="0"/>
              </a:spcBef>
              <a:spcAft>
                <a:spcPts val="0"/>
              </a:spcAft>
              <a:defRPr sz="1800" b="0">
                <a:solidFill>
                  <a:srgbClr val="182B3A"/>
                </a:solidFill>
                <a:latin typeface="Arial"/>
              </a:defRPr>
            </a:pPr>
            <a:r>
              <a:t>3 ÷ 16 = 0 r 3 → make 34.</a:t>
            </a:r>
          </a:p>
          <a:p>
            <a:pPr>
              <a:lnSpc>
                <a:spcPts val="1944"/>
              </a:lnSpc>
              <a:spcBef>
                <a:spcPts val="0"/>
              </a:spcBef>
              <a:spcAft>
                <a:spcPts val="0"/>
              </a:spcAft>
              <a:defRPr sz="1800" b="0">
                <a:solidFill>
                  <a:srgbClr val="182B3A"/>
                </a:solidFill>
                <a:latin typeface="Arial"/>
              </a:defRPr>
            </a:pPr>
            <a:r>
              <a:t>34 ÷ 16 = 2 r 2.</a:t>
            </a:r>
          </a:p>
        </p:txBody>
      </p:sp>
      <p:sp>
        <p:nvSpPr>
          <p:cNvPr id="83" name="Rectangle 82"/>
          <p:cNvSpPr/>
          <p:nvPr/>
        </p:nvSpPr>
        <p:spPr>
          <a:xfrm>
            <a:off x="384048" y="533095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4" name="TextBox 83"/>
          <p:cNvSpPr txBox="1"/>
          <p:nvPr/>
        </p:nvSpPr>
        <p:spPr>
          <a:xfrm>
            <a:off x="448056" y="542239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85" name="Rectangle 84"/>
          <p:cNvSpPr/>
          <p:nvPr/>
        </p:nvSpPr>
        <p:spPr>
          <a:xfrm>
            <a:off x="2487168"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6" name="TextBox 85"/>
          <p:cNvSpPr txBox="1"/>
          <p:nvPr/>
        </p:nvSpPr>
        <p:spPr>
          <a:xfrm>
            <a:off x="2551175"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There is no final remainder.</a:t>
            </a:r>
          </a:p>
          <a:p>
            <a:pPr>
              <a:lnSpc>
                <a:spcPts val="2052"/>
              </a:lnSpc>
              <a:spcBef>
                <a:spcPts val="0"/>
              </a:spcBef>
              <a:spcAft>
                <a:spcPts val="0"/>
              </a:spcAft>
              <a:defRPr sz="1900" b="0">
                <a:solidFill>
                  <a:srgbClr val="182B3A"/>
                </a:solidFill>
                <a:latin typeface="Arial"/>
              </a:defRPr>
            </a:pPr>
            <a:r>
              <a:t>The answer is a whole number.</a:t>
            </a:r>
          </a:p>
        </p:txBody>
      </p:sp>
      <p:sp>
        <p:nvSpPr>
          <p:cNvPr id="87" name="Rectangle 86"/>
          <p:cNvSpPr/>
          <p:nvPr/>
        </p:nvSpPr>
        <p:spPr>
          <a:xfrm>
            <a:off x="6406895"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6470904"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 final remainder is 1.</a:t>
            </a:r>
          </a:p>
          <a:p>
            <a:pPr>
              <a:lnSpc>
                <a:spcPts val="2052"/>
              </a:lnSpc>
              <a:spcBef>
                <a:spcPts val="0"/>
              </a:spcBef>
              <a:spcAft>
                <a:spcPts val="0"/>
              </a:spcAft>
              <a:defRPr sz="1900" b="0">
                <a:solidFill>
                  <a:srgbClr val="182B3A"/>
                </a:solidFill>
                <a:latin typeface="Arial"/>
              </a:defRPr>
            </a:pPr>
            <a:r>
              <a:t>Write r 1 after the quotient.</a:t>
            </a:r>
          </a:p>
        </p:txBody>
      </p:sp>
      <p:sp>
        <p:nvSpPr>
          <p:cNvPr id="89" name="Rectangle 88"/>
          <p:cNvSpPr/>
          <p:nvPr/>
        </p:nvSpPr>
        <p:spPr>
          <a:xfrm>
            <a:off x="10326624"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0" name="TextBox 89"/>
          <p:cNvSpPr txBox="1"/>
          <p:nvPr/>
        </p:nvSpPr>
        <p:spPr>
          <a:xfrm>
            <a:off x="10390632"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Add a decimal point and zeros.</a:t>
            </a:r>
          </a:p>
          <a:p>
            <a:pPr>
              <a:lnSpc>
                <a:spcPts val="2052"/>
              </a:lnSpc>
              <a:spcBef>
                <a:spcPts val="0"/>
              </a:spcBef>
              <a:spcAft>
                <a:spcPts val="0"/>
              </a:spcAft>
              <a:defRPr sz="1900" b="0">
                <a:solidFill>
                  <a:srgbClr val="182B3A"/>
                </a:solidFill>
                <a:latin typeface="Arial"/>
              </a:defRPr>
            </a:pPr>
            <a:r>
              <a:t>20 ÷ 16 = 1 r 4 → make 40.</a:t>
            </a:r>
          </a:p>
          <a:p>
            <a:pPr>
              <a:lnSpc>
                <a:spcPts val="2052"/>
              </a:lnSpc>
              <a:spcBef>
                <a:spcPts val="0"/>
              </a:spcBef>
              <a:spcAft>
                <a:spcPts val="0"/>
              </a:spcAft>
              <a:defRPr sz="1900" b="0">
                <a:solidFill>
                  <a:srgbClr val="182B3A"/>
                </a:solidFill>
                <a:latin typeface="Arial"/>
              </a:defRPr>
            </a:pPr>
            <a:r>
              <a:t>40 ÷ 16 = 2 r 8 → make 80.</a:t>
            </a:r>
          </a:p>
          <a:p>
            <a:pPr>
              <a:lnSpc>
                <a:spcPts val="2052"/>
              </a:lnSpc>
              <a:spcBef>
                <a:spcPts val="0"/>
              </a:spcBef>
              <a:spcAft>
                <a:spcPts val="0"/>
              </a:spcAft>
              <a:defRPr sz="1900" b="0">
                <a:solidFill>
                  <a:srgbClr val="182B3A"/>
                </a:solidFill>
                <a:latin typeface="Arial"/>
              </a:defRPr>
            </a:pPr>
            <a:r>
              <a:t>80 ÷ 16 = 5. No remainder.</a:t>
            </a:r>
          </a:p>
        </p:txBody>
      </p:sp>
      <p:sp>
        <p:nvSpPr>
          <p:cNvPr id="91" name="Rectangle 90"/>
          <p:cNvSpPr/>
          <p:nvPr/>
        </p:nvSpPr>
        <p:spPr>
          <a:xfrm>
            <a:off x="384048" y="6885431"/>
            <a:ext cx="2103120" cy="7772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2" name="TextBox 91"/>
          <p:cNvSpPr txBox="1"/>
          <p:nvPr/>
        </p:nvSpPr>
        <p:spPr>
          <a:xfrm>
            <a:off x="448056" y="6976871"/>
            <a:ext cx="1975103" cy="59435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93" name="Rectangle 92"/>
          <p:cNvSpPr/>
          <p:nvPr/>
        </p:nvSpPr>
        <p:spPr>
          <a:xfrm>
            <a:off x="2487168"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4" name="TextBox 93"/>
          <p:cNvSpPr txBox="1"/>
          <p:nvPr/>
        </p:nvSpPr>
        <p:spPr>
          <a:xfrm>
            <a:off x="2551175"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63 ÷ 3 = 21</a:t>
            </a:r>
          </a:p>
        </p:txBody>
      </p:sp>
      <p:sp>
        <p:nvSpPr>
          <p:cNvPr id="95" name="Rectangle 94"/>
          <p:cNvSpPr/>
          <p:nvPr/>
        </p:nvSpPr>
        <p:spPr>
          <a:xfrm>
            <a:off x="6406895"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6" name="TextBox 95"/>
          <p:cNvSpPr txBox="1"/>
          <p:nvPr/>
        </p:nvSpPr>
        <p:spPr>
          <a:xfrm>
            <a:off x="6470904"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145 ÷ 6 = 24 r 1</a:t>
            </a:r>
          </a:p>
        </p:txBody>
      </p:sp>
      <p:sp>
        <p:nvSpPr>
          <p:cNvPr id="97" name="Rectangle 96"/>
          <p:cNvSpPr/>
          <p:nvPr/>
        </p:nvSpPr>
        <p:spPr>
          <a:xfrm>
            <a:off x="10326624"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8" name="TextBox 97"/>
          <p:cNvSpPr txBox="1"/>
          <p:nvPr/>
        </p:nvSpPr>
        <p:spPr>
          <a:xfrm>
            <a:off x="10390632"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4,834 ÷ 16 = 302.125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88 ÷ 4</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130 ÷ 4</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5,122 ÷ 16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Core: give remainders. Depth: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66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227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3,827 ÷ 25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Core: write any remainder as r. Depth: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84 ÷ 4</a:t>
            </a:r>
          </a:p>
        </p:txBody>
      </p:sp>
      <p:cxnSp>
        <p:nvCxnSpPr>
          <p:cNvPr id="10" name="Connector 9"/>
          <p:cNvCxnSpPr/>
          <p:nvPr/>
        </p:nvCxnSpPr>
        <p:spPr>
          <a:xfrm>
            <a:off x="941831" y="2679191"/>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41831"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4</a:t>
            </a:r>
          </a:p>
        </p:txBody>
      </p:sp>
      <p:sp>
        <p:nvSpPr>
          <p:cNvPr id="13" name="TextBox 12"/>
          <p:cNvSpPr txBox="1"/>
          <p:nvPr/>
        </p:nvSpPr>
        <p:spPr>
          <a:xfrm>
            <a:off x="996695"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4" name="TextBox 13"/>
          <p:cNvSpPr txBox="1"/>
          <p:nvPr/>
        </p:nvSpPr>
        <p:spPr>
          <a:xfrm>
            <a:off x="996695"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5" name="TextBox 14"/>
          <p:cNvSpPr txBox="1"/>
          <p:nvPr/>
        </p:nvSpPr>
        <p:spPr>
          <a:xfrm>
            <a:off x="1417319"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6" name="TextBox 15"/>
          <p:cNvSpPr txBox="1"/>
          <p:nvPr/>
        </p:nvSpPr>
        <p:spPr>
          <a:xfrm>
            <a:off x="1417319"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7" name="TextBox 16"/>
          <p:cNvSpPr txBox="1"/>
          <p:nvPr/>
        </p:nvSpPr>
        <p:spPr>
          <a:xfrm>
            <a:off x="603503"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a:t>
            </a:r>
          </a:p>
        </p:txBody>
      </p:sp>
      <p:sp>
        <p:nvSpPr>
          <p:cNvPr id="18" name="Rectangle 17"/>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505 ÷ 5</a:t>
            </a:r>
          </a:p>
        </p:txBody>
      </p:sp>
      <p:cxnSp>
        <p:nvCxnSpPr>
          <p:cNvPr id="20" name="Connector 19"/>
          <p:cNvCxnSpPr/>
          <p:nvPr/>
        </p:nvCxnSpPr>
        <p:spPr>
          <a:xfrm>
            <a:off x="941831" y="4681728"/>
            <a:ext cx="134416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41831"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66928"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5</a:t>
            </a:r>
          </a:p>
        </p:txBody>
      </p:sp>
      <p:sp>
        <p:nvSpPr>
          <p:cNvPr id="23" name="TextBox 22"/>
          <p:cNvSpPr txBox="1"/>
          <p:nvPr/>
        </p:nvSpPr>
        <p:spPr>
          <a:xfrm>
            <a:off x="996695"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4" name="TextBox 23"/>
          <p:cNvSpPr txBox="1"/>
          <p:nvPr/>
        </p:nvSpPr>
        <p:spPr>
          <a:xfrm>
            <a:off x="996695"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5" name="TextBox 24"/>
          <p:cNvSpPr txBox="1"/>
          <p:nvPr/>
        </p:nvSpPr>
        <p:spPr>
          <a:xfrm>
            <a:off x="1417319"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26" name="TextBox 25"/>
          <p:cNvSpPr txBox="1"/>
          <p:nvPr/>
        </p:nvSpPr>
        <p:spPr>
          <a:xfrm>
            <a:off x="1837943"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7" name="TextBox 26"/>
          <p:cNvSpPr txBox="1"/>
          <p:nvPr/>
        </p:nvSpPr>
        <p:spPr>
          <a:xfrm>
            <a:off x="1837943"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8" name="TextBox 27"/>
          <p:cNvSpPr txBox="1"/>
          <p:nvPr/>
        </p:nvSpPr>
        <p:spPr>
          <a:xfrm>
            <a:off x="603503"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11</a:t>
            </a:r>
          </a:p>
        </p:txBody>
      </p:sp>
      <p:sp>
        <p:nvSpPr>
          <p:cNvPr id="29" name="Rectangle 28"/>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96 ÷ 3</a:t>
            </a:r>
          </a:p>
        </p:txBody>
      </p:sp>
      <p:cxnSp>
        <p:nvCxnSpPr>
          <p:cNvPr id="31" name="Connector 30"/>
          <p:cNvCxnSpPr/>
          <p:nvPr/>
        </p:nvCxnSpPr>
        <p:spPr>
          <a:xfrm>
            <a:off x="941831" y="6684264"/>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41831"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3</a:t>
            </a:r>
          </a:p>
        </p:txBody>
      </p:sp>
      <p:sp>
        <p:nvSpPr>
          <p:cNvPr id="34" name="TextBox 33"/>
          <p:cNvSpPr txBox="1"/>
          <p:nvPr/>
        </p:nvSpPr>
        <p:spPr>
          <a:xfrm>
            <a:off x="996695"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9</a:t>
            </a:r>
          </a:p>
        </p:txBody>
      </p:sp>
      <p:sp>
        <p:nvSpPr>
          <p:cNvPr id="35" name="TextBox 34"/>
          <p:cNvSpPr txBox="1"/>
          <p:nvPr/>
        </p:nvSpPr>
        <p:spPr>
          <a:xfrm>
            <a:off x="996695"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6" name="TextBox 35"/>
          <p:cNvSpPr txBox="1"/>
          <p:nvPr/>
        </p:nvSpPr>
        <p:spPr>
          <a:xfrm>
            <a:off x="1417319"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37" name="TextBox 36"/>
          <p:cNvSpPr txBox="1"/>
          <p:nvPr/>
        </p:nvSpPr>
        <p:spPr>
          <a:xfrm>
            <a:off x="1417319"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8" name="TextBox 37"/>
          <p:cNvSpPr txBox="1"/>
          <p:nvPr/>
        </p:nvSpPr>
        <p:spPr>
          <a:xfrm>
            <a:off x="603503"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33</a:t>
            </a:r>
          </a:p>
        </p:txBody>
      </p:sp>
      <p:sp>
        <p:nvSpPr>
          <p:cNvPr id="39" name="Rectangle 38"/>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41" name="Rectangle 40"/>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145 ÷ 6</a:t>
            </a:r>
          </a:p>
        </p:txBody>
      </p:sp>
      <p:cxnSp>
        <p:nvCxnSpPr>
          <p:cNvPr id="43" name="Connector 42"/>
          <p:cNvCxnSpPr/>
          <p:nvPr/>
        </p:nvCxnSpPr>
        <p:spPr>
          <a:xfrm>
            <a:off x="5562600" y="2679191"/>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562600"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187696"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46" name="TextBox 45"/>
          <p:cNvSpPr txBox="1"/>
          <p:nvPr/>
        </p:nvSpPr>
        <p:spPr>
          <a:xfrm>
            <a:off x="561746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47" name="TextBox 46"/>
          <p:cNvSpPr txBox="1"/>
          <p:nvPr/>
        </p:nvSpPr>
        <p:spPr>
          <a:xfrm>
            <a:off x="6038088"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48" name="TextBox 47"/>
          <p:cNvSpPr txBox="1"/>
          <p:nvPr/>
        </p:nvSpPr>
        <p:spPr>
          <a:xfrm>
            <a:off x="6038088"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49" name="TextBox 48"/>
          <p:cNvSpPr txBox="1"/>
          <p:nvPr/>
        </p:nvSpPr>
        <p:spPr>
          <a:xfrm>
            <a:off x="5983224"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50" name="TextBox 49"/>
          <p:cNvSpPr txBox="1"/>
          <p:nvPr/>
        </p:nvSpPr>
        <p:spPr>
          <a:xfrm>
            <a:off x="645871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51" name="TextBox 50"/>
          <p:cNvSpPr txBox="1"/>
          <p:nvPr/>
        </p:nvSpPr>
        <p:spPr>
          <a:xfrm>
            <a:off x="6458712"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52" name="TextBox 51"/>
          <p:cNvSpPr txBox="1"/>
          <p:nvPr/>
        </p:nvSpPr>
        <p:spPr>
          <a:xfrm>
            <a:off x="6970776" y="2377439"/>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53" name="TextBox 52"/>
          <p:cNvSpPr txBox="1"/>
          <p:nvPr/>
        </p:nvSpPr>
        <p:spPr>
          <a:xfrm>
            <a:off x="5224272"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 r 5</a:t>
            </a:r>
          </a:p>
        </p:txBody>
      </p:sp>
      <p:sp>
        <p:nvSpPr>
          <p:cNvPr id="54" name="Rectangle 5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132 ÷ 8 (decimal answer)</a:t>
            </a:r>
          </a:p>
        </p:txBody>
      </p:sp>
      <p:cxnSp>
        <p:nvCxnSpPr>
          <p:cNvPr id="56" name="Connector 55"/>
          <p:cNvCxnSpPr/>
          <p:nvPr/>
        </p:nvCxnSpPr>
        <p:spPr>
          <a:xfrm>
            <a:off x="5562600" y="4681728"/>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562600"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187696"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8</a:t>
            </a:r>
          </a:p>
        </p:txBody>
      </p:sp>
      <p:sp>
        <p:nvSpPr>
          <p:cNvPr id="59" name="TextBox 58"/>
          <p:cNvSpPr txBox="1"/>
          <p:nvPr/>
        </p:nvSpPr>
        <p:spPr>
          <a:xfrm>
            <a:off x="561746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0" name="TextBox 59"/>
          <p:cNvSpPr txBox="1"/>
          <p:nvPr/>
        </p:nvSpPr>
        <p:spPr>
          <a:xfrm>
            <a:off x="603808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61" name="TextBox 60"/>
          <p:cNvSpPr txBox="1"/>
          <p:nvPr/>
        </p:nvSpPr>
        <p:spPr>
          <a:xfrm>
            <a:off x="603808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2" name="TextBox 61"/>
          <p:cNvSpPr txBox="1"/>
          <p:nvPr/>
        </p:nvSpPr>
        <p:spPr>
          <a:xfrm>
            <a:off x="598322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63" name="TextBox 62"/>
          <p:cNvSpPr txBox="1"/>
          <p:nvPr/>
        </p:nvSpPr>
        <p:spPr>
          <a:xfrm>
            <a:off x="645871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64" name="TextBox 63"/>
          <p:cNvSpPr txBox="1"/>
          <p:nvPr/>
        </p:nvSpPr>
        <p:spPr>
          <a:xfrm>
            <a:off x="645871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65" name="TextBox 64"/>
          <p:cNvSpPr txBox="1"/>
          <p:nvPr/>
        </p:nvSpPr>
        <p:spPr>
          <a:xfrm>
            <a:off x="640384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5</a:t>
            </a:r>
          </a:p>
        </p:txBody>
      </p:sp>
      <p:sp>
        <p:nvSpPr>
          <p:cNvPr id="66" name="TextBox 65"/>
          <p:cNvSpPr txBox="1"/>
          <p:nvPr/>
        </p:nvSpPr>
        <p:spPr>
          <a:xfrm>
            <a:off x="6970776" y="4379976"/>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4</a:t>
            </a:r>
          </a:p>
        </p:txBody>
      </p:sp>
      <p:sp>
        <p:nvSpPr>
          <p:cNvPr id="67" name="TextBox 66"/>
          <p:cNvSpPr txBox="1"/>
          <p:nvPr/>
        </p:nvSpPr>
        <p:spPr>
          <a:xfrm>
            <a:off x="5224272"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16.4</a:t>
            </a:r>
          </a:p>
        </p:txBody>
      </p:sp>
      <p:sp>
        <p:nvSpPr>
          <p:cNvPr id="68" name="Rectangle 67"/>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245 ÷ 6</a:t>
            </a:r>
          </a:p>
        </p:txBody>
      </p:sp>
      <p:cxnSp>
        <p:nvCxnSpPr>
          <p:cNvPr id="70" name="Connector 69"/>
          <p:cNvCxnSpPr/>
          <p:nvPr/>
        </p:nvCxnSpPr>
        <p:spPr>
          <a:xfrm>
            <a:off x="5562600" y="6684264"/>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562600"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187696"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73" name="TextBox 72"/>
          <p:cNvSpPr txBox="1"/>
          <p:nvPr/>
        </p:nvSpPr>
        <p:spPr>
          <a:xfrm>
            <a:off x="561746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74" name="TextBox 73"/>
          <p:cNvSpPr txBox="1"/>
          <p:nvPr/>
        </p:nvSpPr>
        <p:spPr>
          <a:xfrm>
            <a:off x="603808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75" name="TextBox 74"/>
          <p:cNvSpPr txBox="1"/>
          <p:nvPr/>
        </p:nvSpPr>
        <p:spPr>
          <a:xfrm>
            <a:off x="603808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76" name="TextBox 75"/>
          <p:cNvSpPr txBox="1"/>
          <p:nvPr/>
        </p:nvSpPr>
        <p:spPr>
          <a:xfrm>
            <a:off x="5983224"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77" name="TextBox 76"/>
          <p:cNvSpPr txBox="1"/>
          <p:nvPr/>
        </p:nvSpPr>
        <p:spPr>
          <a:xfrm>
            <a:off x="645871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78" name="TextBox 77"/>
          <p:cNvSpPr txBox="1"/>
          <p:nvPr/>
        </p:nvSpPr>
        <p:spPr>
          <a:xfrm>
            <a:off x="645871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10</a:t>
            </a:r>
          </a:p>
        </p:txBody>
      </p:sp>
      <p:sp>
        <p:nvSpPr>
          <p:cNvPr id="79" name="TextBox 78"/>
          <p:cNvSpPr txBox="1"/>
          <p:nvPr/>
        </p:nvSpPr>
        <p:spPr>
          <a:xfrm>
            <a:off x="640384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80" name="TextBox 79"/>
          <p:cNvSpPr txBox="1"/>
          <p:nvPr/>
        </p:nvSpPr>
        <p:spPr>
          <a:xfrm>
            <a:off x="6970776" y="6382512"/>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81" name="TextBox 80"/>
          <p:cNvSpPr txBox="1"/>
          <p:nvPr/>
        </p:nvSpPr>
        <p:spPr>
          <a:xfrm>
            <a:off x="5224272"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310 r 5</a:t>
            </a:r>
          </a:p>
        </p:txBody>
      </p:sp>
      <p:sp>
        <p:nvSpPr>
          <p:cNvPr id="82" name="Rectangle 81"/>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TextBox 82"/>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84" name="Rectangle 83"/>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TextBox 84"/>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1,248 ÷ 12</a:t>
            </a:r>
          </a:p>
        </p:txBody>
      </p:sp>
      <p:cxnSp>
        <p:nvCxnSpPr>
          <p:cNvPr id="86" name="Connector 85"/>
          <p:cNvCxnSpPr/>
          <p:nvPr/>
        </p:nvCxnSpPr>
        <p:spPr>
          <a:xfrm>
            <a:off x="10183368" y="2679191"/>
            <a:ext cx="1764792"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0183368"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9808464"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89" name="TextBox 88"/>
          <p:cNvSpPr txBox="1"/>
          <p:nvPr/>
        </p:nvSpPr>
        <p:spPr>
          <a:xfrm>
            <a:off x="1023823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0" name="TextBox 89"/>
          <p:cNvSpPr txBox="1"/>
          <p:nvPr/>
        </p:nvSpPr>
        <p:spPr>
          <a:xfrm>
            <a:off x="10658856"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91" name="TextBox 90"/>
          <p:cNvSpPr txBox="1"/>
          <p:nvPr/>
        </p:nvSpPr>
        <p:spPr>
          <a:xfrm>
            <a:off x="10658856"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2" name="TextBox 91"/>
          <p:cNvSpPr txBox="1"/>
          <p:nvPr/>
        </p:nvSpPr>
        <p:spPr>
          <a:xfrm>
            <a:off x="10603992"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93" name="TextBox 92"/>
          <p:cNvSpPr txBox="1"/>
          <p:nvPr/>
        </p:nvSpPr>
        <p:spPr>
          <a:xfrm>
            <a:off x="11079480"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4" name="TextBox 93"/>
          <p:cNvSpPr txBox="1"/>
          <p:nvPr/>
        </p:nvSpPr>
        <p:spPr>
          <a:xfrm>
            <a:off x="1150010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95" name="TextBox 94"/>
          <p:cNvSpPr txBox="1"/>
          <p:nvPr/>
        </p:nvSpPr>
        <p:spPr>
          <a:xfrm>
            <a:off x="11500104"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6" name="TextBox 95"/>
          <p:cNvSpPr txBox="1"/>
          <p:nvPr/>
        </p:nvSpPr>
        <p:spPr>
          <a:xfrm>
            <a:off x="11445240"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97" name="TextBox 96"/>
          <p:cNvSpPr txBox="1"/>
          <p:nvPr/>
        </p:nvSpPr>
        <p:spPr>
          <a:xfrm>
            <a:off x="9845040"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14</a:t>
            </a:r>
          </a:p>
        </p:txBody>
      </p:sp>
      <p:sp>
        <p:nvSpPr>
          <p:cNvPr id="98" name="Rectangle 9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TextBox 9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615 ÷ 12 (decimal answer)</a:t>
            </a:r>
          </a:p>
        </p:txBody>
      </p:sp>
      <p:cxnSp>
        <p:nvCxnSpPr>
          <p:cNvPr id="100" name="Connector 99"/>
          <p:cNvCxnSpPr/>
          <p:nvPr/>
        </p:nvCxnSpPr>
        <p:spPr>
          <a:xfrm>
            <a:off x="10183368" y="4681728"/>
            <a:ext cx="260604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0183368"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9808464"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103" name="TextBox 102"/>
          <p:cNvSpPr txBox="1"/>
          <p:nvPr/>
        </p:nvSpPr>
        <p:spPr>
          <a:xfrm>
            <a:off x="1023823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104" name="TextBox 103"/>
          <p:cNvSpPr txBox="1"/>
          <p:nvPr/>
        </p:nvSpPr>
        <p:spPr>
          <a:xfrm>
            <a:off x="10658856"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5" name="TextBox 104"/>
          <p:cNvSpPr txBox="1"/>
          <p:nvPr/>
        </p:nvSpPr>
        <p:spPr>
          <a:xfrm>
            <a:off x="10658856"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6" name="TextBox 105"/>
          <p:cNvSpPr txBox="1"/>
          <p:nvPr/>
        </p:nvSpPr>
        <p:spPr>
          <a:xfrm>
            <a:off x="10603992"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07" name="TextBox 106"/>
          <p:cNvSpPr txBox="1"/>
          <p:nvPr/>
        </p:nvSpPr>
        <p:spPr>
          <a:xfrm>
            <a:off x="11079480"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8" name="TextBox 107"/>
          <p:cNvSpPr txBox="1"/>
          <p:nvPr/>
        </p:nvSpPr>
        <p:spPr>
          <a:xfrm>
            <a:off x="11079480"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9" name="TextBox 108"/>
          <p:cNvSpPr txBox="1"/>
          <p:nvPr/>
        </p:nvSpPr>
        <p:spPr>
          <a:xfrm>
            <a:off x="11024616"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110" name="TextBox 109"/>
          <p:cNvSpPr txBox="1"/>
          <p:nvPr/>
        </p:nvSpPr>
        <p:spPr>
          <a:xfrm>
            <a:off x="1150010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1" name="TextBox 110"/>
          <p:cNvSpPr txBox="1"/>
          <p:nvPr/>
        </p:nvSpPr>
        <p:spPr>
          <a:xfrm>
            <a:off x="11142573"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2" name="TextBox 111"/>
          <p:cNvSpPr txBox="1"/>
          <p:nvPr/>
        </p:nvSpPr>
        <p:spPr>
          <a:xfrm>
            <a:off x="1192072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3" name="TextBox 112"/>
          <p:cNvSpPr txBox="1"/>
          <p:nvPr/>
        </p:nvSpPr>
        <p:spPr>
          <a:xfrm>
            <a:off x="1192072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14" name="TextBox 113"/>
          <p:cNvSpPr txBox="1"/>
          <p:nvPr/>
        </p:nvSpPr>
        <p:spPr>
          <a:xfrm>
            <a:off x="1186586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15" name="TextBox 114"/>
          <p:cNvSpPr txBox="1"/>
          <p:nvPr/>
        </p:nvSpPr>
        <p:spPr>
          <a:xfrm>
            <a:off x="1234135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6" name="TextBox 115"/>
          <p:cNvSpPr txBox="1"/>
          <p:nvPr/>
        </p:nvSpPr>
        <p:spPr>
          <a:xfrm>
            <a:off x="1234135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17" name="TextBox 116"/>
          <p:cNvSpPr txBox="1"/>
          <p:nvPr/>
        </p:nvSpPr>
        <p:spPr>
          <a:xfrm>
            <a:off x="1228648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18" name="TextBox 117"/>
          <p:cNvSpPr txBox="1"/>
          <p:nvPr/>
        </p:nvSpPr>
        <p:spPr>
          <a:xfrm>
            <a:off x="9845040"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5.125</a:t>
            </a:r>
          </a:p>
        </p:txBody>
      </p:sp>
      <p:sp>
        <p:nvSpPr>
          <p:cNvPr id="119" name="Rectangle 118"/>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TextBox 119"/>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4,834 ÷ 16 (decimal answer)</a:t>
            </a:r>
          </a:p>
        </p:txBody>
      </p:sp>
      <p:cxnSp>
        <p:nvCxnSpPr>
          <p:cNvPr id="121" name="Connector 120"/>
          <p:cNvCxnSpPr/>
          <p:nvPr/>
        </p:nvCxnSpPr>
        <p:spPr>
          <a:xfrm>
            <a:off x="10183368" y="6684264"/>
            <a:ext cx="344728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0183368"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9808464"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16</a:t>
            </a:r>
          </a:p>
        </p:txBody>
      </p:sp>
      <p:sp>
        <p:nvSpPr>
          <p:cNvPr id="124" name="TextBox 123"/>
          <p:cNvSpPr txBox="1"/>
          <p:nvPr/>
        </p:nvSpPr>
        <p:spPr>
          <a:xfrm>
            <a:off x="1023823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25" name="TextBox 124"/>
          <p:cNvSpPr txBox="1"/>
          <p:nvPr/>
        </p:nvSpPr>
        <p:spPr>
          <a:xfrm>
            <a:off x="1065885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26" name="TextBox 125"/>
          <p:cNvSpPr txBox="1"/>
          <p:nvPr/>
        </p:nvSpPr>
        <p:spPr>
          <a:xfrm>
            <a:off x="1065885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7" name="TextBox 126"/>
          <p:cNvSpPr txBox="1"/>
          <p:nvPr/>
        </p:nvSpPr>
        <p:spPr>
          <a:xfrm>
            <a:off x="1060399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28" name="TextBox 127"/>
          <p:cNvSpPr txBox="1"/>
          <p:nvPr/>
        </p:nvSpPr>
        <p:spPr>
          <a:xfrm>
            <a:off x="1107948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9" name="TextBox 128"/>
          <p:cNvSpPr txBox="1"/>
          <p:nvPr/>
        </p:nvSpPr>
        <p:spPr>
          <a:xfrm>
            <a:off x="1150010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30" name="TextBox 129"/>
          <p:cNvSpPr txBox="1"/>
          <p:nvPr/>
        </p:nvSpPr>
        <p:spPr>
          <a:xfrm>
            <a:off x="11500104"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1" name="TextBox 130"/>
          <p:cNvSpPr txBox="1"/>
          <p:nvPr/>
        </p:nvSpPr>
        <p:spPr>
          <a:xfrm>
            <a:off x="11445240"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32" name="TextBox 131"/>
          <p:cNvSpPr txBox="1"/>
          <p:nvPr/>
        </p:nvSpPr>
        <p:spPr>
          <a:xfrm>
            <a:off x="1192072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3" name="TextBox 132"/>
          <p:cNvSpPr txBox="1"/>
          <p:nvPr/>
        </p:nvSpPr>
        <p:spPr>
          <a:xfrm>
            <a:off x="1192072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4" name="TextBox 133"/>
          <p:cNvSpPr txBox="1"/>
          <p:nvPr/>
        </p:nvSpPr>
        <p:spPr>
          <a:xfrm>
            <a:off x="1234135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5" name="TextBox 134"/>
          <p:cNvSpPr txBox="1"/>
          <p:nvPr/>
        </p:nvSpPr>
        <p:spPr>
          <a:xfrm>
            <a:off x="1234135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36" name="TextBox 135"/>
          <p:cNvSpPr txBox="1"/>
          <p:nvPr/>
        </p:nvSpPr>
        <p:spPr>
          <a:xfrm>
            <a:off x="1228648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137" name="TextBox 136"/>
          <p:cNvSpPr txBox="1"/>
          <p:nvPr/>
        </p:nvSpPr>
        <p:spPr>
          <a:xfrm>
            <a:off x="1276197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8" name="TextBox 137"/>
          <p:cNvSpPr txBox="1"/>
          <p:nvPr/>
        </p:nvSpPr>
        <p:spPr>
          <a:xfrm>
            <a:off x="1276197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9" name="TextBox 138"/>
          <p:cNvSpPr txBox="1"/>
          <p:nvPr/>
        </p:nvSpPr>
        <p:spPr>
          <a:xfrm>
            <a:off x="1270711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40" name="TextBox 139"/>
          <p:cNvSpPr txBox="1"/>
          <p:nvPr/>
        </p:nvSpPr>
        <p:spPr>
          <a:xfrm>
            <a:off x="1318260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41" name="TextBox 140"/>
          <p:cNvSpPr txBox="1"/>
          <p:nvPr/>
        </p:nvSpPr>
        <p:spPr>
          <a:xfrm>
            <a:off x="13182600"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42" name="TextBox 141"/>
          <p:cNvSpPr txBox="1"/>
          <p:nvPr/>
        </p:nvSpPr>
        <p:spPr>
          <a:xfrm>
            <a:off x="13127736"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8</a:t>
            </a:r>
          </a:p>
        </p:txBody>
      </p:sp>
      <p:sp>
        <p:nvSpPr>
          <p:cNvPr id="143" name="TextBox 142"/>
          <p:cNvSpPr txBox="1"/>
          <p:nvPr/>
        </p:nvSpPr>
        <p:spPr>
          <a:xfrm>
            <a:off x="9845040"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32.125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2</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3</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135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172 ÷ 4</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218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341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 ÷ 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514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785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1,428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3,816 ÷ 24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4,516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8,143 ÷ 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 ÷ 6</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884 ÷ 4</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639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156 ÷ 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235 ÷ 6</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 ÷ 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458 ÷ 8</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617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627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943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2,136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4,608 ÷ 32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5,729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9,031 ÷ 40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777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888 ÷ 8</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606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184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267 ÷ 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397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523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748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738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859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3,264 ÷ 24</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5,175 ÷ 15</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6,843 ÷ 25</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7,249 ÷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936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505 ÷ 5</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666 ÷ 6</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999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108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245 ÷ 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314 ÷ 7</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467 ÷ 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586 ÷ 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703 ÷ 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849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967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4,374 ÷ 18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6,288 ÷ 48</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7,957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8,623 ÷ 50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Initial assessment • Work out all four questions.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M13-IA</a:t>
            </a:r>
          </a:p>
        </p:txBody>
      </p:sp>
      <p:sp>
        <p:nvSpPr>
          <p:cNvPr id="7" name="Rectangle 6"/>
          <p:cNvSpPr/>
          <p:nvPr/>
        </p:nvSpPr>
        <p:spPr>
          <a:xfrm>
            <a:off x="457200" y="169164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87452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1.  −2 + 9</a:t>
            </a:r>
          </a:p>
        </p:txBody>
      </p:sp>
      <p:sp>
        <p:nvSpPr>
          <p:cNvPr id="9" name="Rectangle 8"/>
          <p:cNvSpPr/>
          <p:nvPr/>
        </p:nvSpPr>
        <p:spPr>
          <a:xfrm>
            <a:off x="7452360" y="169164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16952" y="187452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2.  6 − 11</a:t>
            </a:r>
          </a:p>
        </p:txBody>
      </p:sp>
      <p:sp>
        <p:nvSpPr>
          <p:cNvPr id="11" name="Rectangle 10"/>
          <p:cNvSpPr/>
          <p:nvPr/>
        </p:nvSpPr>
        <p:spPr>
          <a:xfrm>
            <a:off x="457200" y="448056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466344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3.  −7 − (−10)</a:t>
            </a:r>
          </a:p>
        </p:txBody>
      </p:sp>
      <p:sp>
        <p:nvSpPr>
          <p:cNvPr id="13" name="Rectangle 12"/>
          <p:cNvSpPr/>
          <p:nvPr/>
        </p:nvSpPr>
        <p:spPr>
          <a:xfrm>
            <a:off x="7452360" y="448056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16952" y="466344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4.  5 + (−9) − (−6)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Rules recap • Start at the first number.</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M13-RULES</a:t>
            </a:r>
          </a:p>
        </p:txBody>
      </p:sp>
      <p:sp>
        <p:nvSpPr>
          <p:cNvPr id="7" name="Rectangle 6"/>
          <p:cNvSpPr/>
          <p:nvPr/>
        </p:nvSpPr>
        <p:spPr>
          <a:xfrm>
            <a:off x="365760" y="1280160"/>
            <a:ext cx="6812280" cy="178308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8988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76B73"/>
                </a:solidFill>
                <a:latin typeface="Arial"/>
              </a:defRPr>
            </a:pPr>
            <a:r>
              <a:t>Add a positive number</a:t>
            </a:r>
          </a:p>
        </p:txBody>
      </p:sp>
      <p:sp>
        <p:nvSpPr>
          <p:cNvPr id="9" name="TextBox 8"/>
          <p:cNvSpPr txBox="1"/>
          <p:nvPr/>
        </p:nvSpPr>
        <p:spPr>
          <a:xfrm>
            <a:off x="502920" y="188366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right: the value increases.</a:t>
            </a:r>
          </a:p>
        </p:txBody>
      </p:sp>
      <p:sp>
        <p:nvSpPr>
          <p:cNvPr id="10" name="TextBox 9"/>
          <p:cNvSpPr txBox="1"/>
          <p:nvPr/>
        </p:nvSpPr>
        <p:spPr>
          <a:xfrm>
            <a:off x="502920" y="2450591"/>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 + 7 = 3</a:t>
            </a:r>
          </a:p>
        </p:txBody>
      </p:sp>
      <p:sp>
        <p:nvSpPr>
          <p:cNvPr id="11" name="Rectangle 10"/>
          <p:cNvSpPr/>
          <p:nvPr/>
        </p:nvSpPr>
        <p:spPr>
          <a:xfrm>
            <a:off x="7452360" y="1280160"/>
            <a:ext cx="6812280" cy="178308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0" y="138988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3559A2"/>
                </a:solidFill>
                <a:latin typeface="Arial"/>
              </a:defRPr>
            </a:pPr>
            <a:r>
              <a:t>Add a negative number</a:t>
            </a:r>
          </a:p>
        </p:txBody>
      </p:sp>
      <p:sp>
        <p:nvSpPr>
          <p:cNvPr id="13" name="TextBox 12"/>
          <p:cNvSpPr txBox="1"/>
          <p:nvPr/>
        </p:nvSpPr>
        <p:spPr>
          <a:xfrm>
            <a:off x="7589520" y="188366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left: the value decreases.</a:t>
            </a:r>
          </a:p>
        </p:txBody>
      </p:sp>
      <p:sp>
        <p:nvSpPr>
          <p:cNvPr id="14" name="TextBox 13"/>
          <p:cNvSpPr txBox="1"/>
          <p:nvPr/>
        </p:nvSpPr>
        <p:spPr>
          <a:xfrm>
            <a:off x="7589520" y="2450591"/>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 + (−7) = 4 − 7 = −3</a:t>
            </a:r>
          </a:p>
        </p:txBody>
      </p:sp>
      <p:sp>
        <p:nvSpPr>
          <p:cNvPr id="15" name="Rectangle 14"/>
          <p:cNvSpPr/>
          <p:nvPr/>
        </p:nvSpPr>
        <p:spPr>
          <a:xfrm>
            <a:off x="365760" y="3200400"/>
            <a:ext cx="6812280" cy="178308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31012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76B73"/>
                </a:solidFill>
                <a:latin typeface="Arial"/>
              </a:defRPr>
            </a:pPr>
            <a:r>
              <a:t>Subtract a positive number</a:t>
            </a:r>
          </a:p>
        </p:txBody>
      </p:sp>
      <p:sp>
        <p:nvSpPr>
          <p:cNvPr id="17" name="TextBox 16"/>
          <p:cNvSpPr txBox="1"/>
          <p:nvPr/>
        </p:nvSpPr>
        <p:spPr>
          <a:xfrm>
            <a:off x="502920" y="380390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left: the value decreases.</a:t>
            </a:r>
          </a:p>
        </p:txBody>
      </p:sp>
      <p:sp>
        <p:nvSpPr>
          <p:cNvPr id="18" name="TextBox 17"/>
          <p:cNvSpPr txBox="1"/>
          <p:nvPr/>
        </p:nvSpPr>
        <p:spPr>
          <a:xfrm>
            <a:off x="502920" y="4370832"/>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3 − 8 = −5</a:t>
            </a:r>
          </a:p>
        </p:txBody>
      </p:sp>
      <p:sp>
        <p:nvSpPr>
          <p:cNvPr id="19" name="Rectangle 18"/>
          <p:cNvSpPr/>
          <p:nvPr/>
        </p:nvSpPr>
        <p:spPr>
          <a:xfrm>
            <a:off x="7452360" y="3200400"/>
            <a:ext cx="6812280" cy="178308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331012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3559A2"/>
                </a:solidFill>
                <a:latin typeface="Arial"/>
              </a:defRPr>
            </a:pPr>
            <a:r>
              <a:t>Subtract a negative number</a:t>
            </a:r>
          </a:p>
        </p:txBody>
      </p:sp>
      <p:sp>
        <p:nvSpPr>
          <p:cNvPr id="21" name="TextBox 20"/>
          <p:cNvSpPr txBox="1"/>
          <p:nvPr/>
        </p:nvSpPr>
        <p:spPr>
          <a:xfrm>
            <a:off x="7589520" y="380390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right: subtracting a negative is adding a positive.</a:t>
            </a:r>
          </a:p>
        </p:txBody>
      </p:sp>
      <p:sp>
        <p:nvSpPr>
          <p:cNvPr id="22" name="TextBox 21"/>
          <p:cNvSpPr txBox="1"/>
          <p:nvPr/>
        </p:nvSpPr>
        <p:spPr>
          <a:xfrm>
            <a:off x="7589520" y="4370832"/>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6 − (−3) = 6 + 3 = 9</a:t>
            </a:r>
          </a:p>
        </p:txBody>
      </p:sp>
      <p:sp>
        <p:nvSpPr>
          <p:cNvPr id="23" name="TextBox 22"/>
          <p:cNvSpPr txBox="1"/>
          <p:nvPr/>
        </p:nvSpPr>
        <p:spPr>
          <a:xfrm>
            <a:off x="457200" y="5276088"/>
            <a:ext cx="13716000" cy="640080"/>
          </a:xfrm>
          <a:prstGeom prst="rect">
            <a:avLst/>
          </a:prstGeom>
          <a:noFill/>
        </p:spPr>
        <p:txBody>
          <a:bodyPr wrap="square" lIns="54864" rIns="54864" tIns="22860" bIns="22860">
            <a:spAutoFit/>
          </a:bodyPr>
          <a:lstStyle/>
          <a:p>
            <a:pPr>
              <a:lnSpc>
                <a:spcPts val="2310"/>
              </a:lnSpc>
              <a:spcBef>
                <a:spcPts val="0"/>
              </a:spcBef>
              <a:spcAft>
                <a:spcPts val="0"/>
              </a:spcAft>
              <a:defRPr sz="2200" b="0">
                <a:solidFill>
                  <a:srgbClr val="182B3A"/>
                </a:solidFill>
                <a:latin typeface="Arial"/>
              </a:defRPr>
            </a:pPr>
            <a:r>
              <a:t>In 6 − (−3), the first − means subtract;</a:t>
            </a:r>
          </a:p>
          <a:p>
            <a:pPr>
              <a:lnSpc>
                <a:spcPts val="2310"/>
              </a:lnSpc>
              <a:spcBef>
                <a:spcPts val="0"/>
              </a:spcBef>
              <a:spcAft>
                <a:spcPts val="0"/>
              </a:spcAft>
              <a:defRPr sz="2200" b="0">
                <a:solidFill>
                  <a:srgbClr val="182B3A"/>
                </a:solidFill>
                <a:latin typeface="Arial"/>
              </a:defRPr>
            </a:pPr>
            <a:r>
              <a:t>the − inside brackets belongs to the number −3.</a:t>
            </a:r>
          </a:p>
        </p:txBody>
      </p:sp>
      <p:sp>
        <p:nvSpPr>
          <p:cNvPr id="24" name="Rectangle 23"/>
          <p:cNvSpPr/>
          <p:nvPr/>
        </p:nvSpPr>
        <p:spPr>
          <a:xfrm>
            <a:off x="365760" y="6080760"/>
            <a:ext cx="13898880" cy="7040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6199632"/>
            <a:ext cx="13624560" cy="448056"/>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82B3A"/>
                </a:solidFill>
                <a:latin typeface="Arial"/>
              </a:defRPr>
            </a:pPr>
            <a:r>
              <a:t>To subtract a number, add its opposite. Keep the first number unchanged.</a:t>
            </a:r>
          </a:p>
        </p:txBody>
      </p:sp>
      <p:sp>
        <p:nvSpPr>
          <p:cNvPr id="26" name="TextBox 25"/>
          <p:cNvSpPr txBox="1"/>
          <p:nvPr/>
        </p:nvSpPr>
        <p:spPr>
          <a:xfrm>
            <a:off x="457200" y="7022592"/>
            <a:ext cx="13716000" cy="694944"/>
          </a:xfrm>
          <a:prstGeom prst="rect">
            <a:avLst/>
          </a:prstGeom>
          <a:noFill/>
        </p:spPr>
        <p:txBody>
          <a:bodyPr wrap="square" lIns="54864" rIns="54864" tIns="22860" bIns="22860">
            <a:spAutoFit/>
          </a:bodyPr>
          <a:lstStyle/>
          <a:p>
            <a:pPr>
              <a:lnSpc>
                <a:spcPts val="2310"/>
              </a:lnSpc>
              <a:spcBef>
                <a:spcPts val="0"/>
              </a:spcBef>
              <a:spcAft>
                <a:spcPts val="0"/>
              </a:spcAft>
              <a:defRPr sz="2200" b="0">
                <a:solidFill>
                  <a:srgbClr val="182B3A"/>
                </a:solidFill>
                <a:latin typeface="Arial"/>
              </a:defRPr>
            </a:pPr>
            <a:r>
              <a:t>Two negative numbers do not automatically give a positive answer:</a:t>
            </a:r>
          </a:p>
          <a:p>
            <a:pPr>
              <a:lnSpc>
                <a:spcPts val="2310"/>
              </a:lnSpc>
              <a:spcBef>
                <a:spcPts val="0"/>
              </a:spcBef>
              <a:spcAft>
                <a:spcPts val="0"/>
              </a:spcAft>
              <a:defRPr sz="2200" b="0">
                <a:solidFill>
                  <a:srgbClr val="182B3A"/>
                </a:solidFill>
                <a:latin typeface="Arial"/>
              </a:defRPr>
            </a:pPr>
            <a:r>
              <a:t>−4 + (−3) = −7.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Worked demo • Follow each calculation.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M13-S01</a:t>
            </a:r>
          </a:p>
        </p:txBody>
      </p:sp>
      <p:sp>
        <p:nvSpPr>
          <p:cNvPr id="7" name="TextBox 6"/>
          <p:cNvSpPr txBox="1"/>
          <p:nvPr/>
        </p:nvSpPr>
        <p:spPr>
          <a:xfrm>
            <a:off x="365760" y="1069848"/>
            <a:ext cx="13807440" cy="548640"/>
          </a:xfrm>
          <a:prstGeom prst="rect">
            <a:avLst/>
          </a:prstGeom>
          <a:noFill/>
        </p:spPr>
        <p:txBody>
          <a:bodyPr wrap="square" lIns="54864" rIns="54864" tIns="22860" bIns="22860">
            <a:spAutoFit/>
          </a:bodyPr>
          <a:lstStyle/>
          <a:p>
            <a:pPr>
              <a:lnSpc>
                <a:spcPts val="1680"/>
              </a:lnSpc>
              <a:spcBef>
                <a:spcPts val="0"/>
              </a:spcBef>
              <a:spcAft>
                <a:spcPts val="0"/>
              </a:spcAft>
              <a:defRPr sz="1600" b="1">
                <a:solidFill>
                  <a:srgbClr val="182B3A"/>
                </a:solidFill>
                <a:latin typeface="Arial"/>
              </a:defRPr>
            </a:pPr>
            <a:r>
              <a:t>Adding a negative moves left: 4 + (−7) = 4 − 7 = −3.</a:t>
            </a:r>
          </a:p>
          <a:p>
            <a:pPr>
              <a:lnSpc>
                <a:spcPts val="1680"/>
              </a:lnSpc>
              <a:spcBef>
                <a:spcPts val="0"/>
              </a:spcBef>
              <a:spcAft>
                <a:spcPts val="0"/>
              </a:spcAft>
              <a:defRPr sz="1600" b="1">
                <a:solidFill>
                  <a:srgbClr val="182B3A"/>
                </a:solidFill>
                <a:latin typeface="Arial"/>
              </a:defRPr>
            </a:pPr>
            <a:r>
              <a:t>Subtracting a negative moves right: 6 − (−3) = 6 + 3 = 9.</a:t>
            </a:r>
          </a:p>
        </p:txBody>
      </p:sp>
      <p:sp>
        <p:nvSpPr>
          <p:cNvPr id="8" name="Rectangle 7"/>
          <p:cNvSpPr/>
          <p:nvPr/>
        </p:nvSpPr>
        <p:spPr>
          <a:xfrm>
            <a:off x="2121408" y="170992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48839"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10" name="Rectangle 9"/>
          <p:cNvSpPr/>
          <p:nvPr/>
        </p:nvSpPr>
        <p:spPr>
          <a:xfrm>
            <a:off x="6184392" y="170992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1824"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2" name="Rectangle 11"/>
          <p:cNvSpPr/>
          <p:nvPr/>
        </p:nvSpPr>
        <p:spPr>
          <a:xfrm>
            <a:off x="10247376" y="170992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74808"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4" name="Rectangle 13"/>
          <p:cNvSpPr/>
          <p:nvPr/>
        </p:nvSpPr>
        <p:spPr>
          <a:xfrm>
            <a:off x="320040" y="2157984"/>
            <a:ext cx="1801367" cy="68580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2249424"/>
            <a:ext cx="1691639" cy="53035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6" name="Rectangle 15"/>
          <p:cNvSpPr/>
          <p:nvPr/>
        </p:nvSpPr>
        <p:spPr>
          <a:xfrm>
            <a:off x="2121408" y="2157984"/>
            <a:ext cx="4062984" cy="68580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94560"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−4 + 7</a:t>
            </a:r>
          </a:p>
        </p:txBody>
      </p:sp>
      <p:sp>
        <p:nvSpPr>
          <p:cNvPr id="18" name="Rectangle 17"/>
          <p:cNvSpPr/>
          <p:nvPr/>
        </p:nvSpPr>
        <p:spPr>
          <a:xfrm>
            <a:off x="6184392" y="2157984"/>
            <a:ext cx="4062984" cy="68580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57544"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6 − (−3)</a:t>
            </a:r>
          </a:p>
        </p:txBody>
      </p:sp>
      <p:sp>
        <p:nvSpPr>
          <p:cNvPr id="20" name="Rectangle 19"/>
          <p:cNvSpPr/>
          <p:nvPr/>
        </p:nvSpPr>
        <p:spPr>
          <a:xfrm>
            <a:off x="10247376" y="2157984"/>
            <a:ext cx="4062984" cy="68580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320528"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−5 + 8 − (−2)</a:t>
            </a:r>
          </a:p>
        </p:txBody>
      </p:sp>
      <p:sp>
        <p:nvSpPr>
          <p:cNvPr id="22" name="Rectangle 21"/>
          <p:cNvSpPr/>
          <p:nvPr/>
        </p:nvSpPr>
        <p:spPr>
          <a:xfrm>
            <a:off x="320040" y="2843784"/>
            <a:ext cx="1801367" cy="777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4904" y="2935224"/>
            <a:ext cx="1691639" cy="621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4" name="Rectangle 23"/>
          <p:cNvSpPr/>
          <p:nvPr/>
        </p:nvSpPr>
        <p:spPr>
          <a:xfrm>
            <a:off x="2121408"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94560"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Start at −4; add positive 7.</a:t>
            </a:r>
          </a:p>
        </p:txBody>
      </p:sp>
      <p:sp>
        <p:nvSpPr>
          <p:cNvPr id="26" name="Rectangle 25"/>
          <p:cNvSpPr/>
          <p:nvPr/>
        </p:nvSpPr>
        <p:spPr>
          <a:xfrm>
            <a:off x="6184392"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57544"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Start at 6; subtract negative 3.</a:t>
            </a:r>
          </a:p>
        </p:txBody>
      </p:sp>
      <p:sp>
        <p:nvSpPr>
          <p:cNvPr id="28" name="Rectangle 27"/>
          <p:cNvSpPr/>
          <p:nvPr/>
        </p:nvSpPr>
        <p:spPr>
          <a:xfrm>
            <a:off x="10247376"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20528"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Add positive 8, then subtract negative 2.</a:t>
            </a:r>
          </a:p>
        </p:txBody>
      </p:sp>
      <p:sp>
        <p:nvSpPr>
          <p:cNvPr id="30" name="Rectangle 29"/>
          <p:cNvSpPr/>
          <p:nvPr/>
        </p:nvSpPr>
        <p:spPr>
          <a:xfrm>
            <a:off x="320040" y="3621024"/>
            <a:ext cx="1801367" cy="777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4904" y="3712463"/>
            <a:ext cx="1691639" cy="621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2" name="Rectangle 31"/>
          <p:cNvSpPr/>
          <p:nvPr/>
        </p:nvSpPr>
        <p:spPr>
          <a:xfrm>
            <a:off x="2121408"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194560"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−4 + 7 is already an addition.</a:t>
            </a:r>
          </a:p>
        </p:txBody>
      </p:sp>
      <p:sp>
        <p:nvSpPr>
          <p:cNvPr id="34" name="Rectangle 33"/>
          <p:cNvSpPr/>
          <p:nvPr/>
        </p:nvSpPr>
        <p:spPr>
          <a:xfrm>
            <a:off x="6184392"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57544"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6 − (−3) = 6 + 3.</a:t>
            </a:r>
          </a:p>
        </p:txBody>
      </p:sp>
      <p:sp>
        <p:nvSpPr>
          <p:cNvPr id="36" name="Rectangle 35"/>
          <p:cNvSpPr/>
          <p:nvPr/>
        </p:nvSpPr>
        <p:spPr>
          <a:xfrm>
            <a:off x="10247376"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320528"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+ 8 + 2.</a:t>
            </a:r>
          </a:p>
        </p:txBody>
      </p:sp>
      <p:sp>
        <p:nvSpPr>
          <p:cNvPr id="38" name="Rectangle 37"/>
          <p:cNvSpPr/>
          <p:nvPr/>
        </p:nvSpPr>
        <p:spPr>
          <a:xfrm>
            <a:off x="320040" y="4398264"/>
            <a:ext cx="1801367" cy="1920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74904" y="4489703"/>
            <a:ext cx="1691639" cy="1764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40" name="Rectangle 39"/>
          <p:cNvSpPr/>
          <p:nvPr/>
        </p:nvSpPr>
        <p:spPr>
          <a:xfrm>
            <a:off x="2121408"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194560"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Move 4 right to 0, then 3 right: 3.</a:t>
            </a:r>
          </a:p>
        </p:txBody>
      </p:sp>
      <p:cxnSp>
        <p:nvCxnSpPr>
          <p:cNvPr id="42" name="Connector 41"/>
          <p:cNvCxnSpPr/>
          <p:nvPr/>
        </p:nvCxnSpPr>
        <p:spPr>
          <a:xfrm>
            <a:off x="2395728"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39572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220319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45" name="Connector 44"/>
          <p:cNvCxnSpPr/>
          <p:nvPr/>
        </p:nvCxnSpPr>
        <p:spPr>
          <a:xfrm>
            <a:off x="278621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59367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47" name="Connector 46"/>
          <p:cNvCxnSpPr/>
          <p:nvPr/>
        </p:nvCxnSpPr>
        <p:spPr>
          <a:xfrm>
            <a:off x="317669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98416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49" name="Connector 48"/>
          <p:cNvCxnSpPr/>
          <p:nvPr/>
        </p:nvCxnSpPr>
        <p:spPr>
          <a:xfrm>
            <a:off x="356717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37464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51" name="Connector 50"/>
          <p:cNvCxnSpPr/>
          <p:nvPr/>
        </p:nvCxnSpPr>
        <p:spPr>
          <a:xfrm>
            <a:off x="395765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376512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53" name="Connector 52"/>
          <p:cNvCxnSpPr/>
          <p:nvPr/>
        </p:nvCxnSpPr>
        <p:spPr>
          <a:xfrm>
            <a:off x="4348141"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4192693"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55" name="Connector 54"/>
          <p:cNvCxnSpPr/>
          <p:nvPr/>
        </p:nvCxnSpPr>
        <p:spPr>
          <a:xfrm>
            <a:off x="4738624"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458317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57" name="Connector 56"/>
          <p:cNvCxnSpPr/>
          <p:nvPr/>
        </p:nvCxnSpPr>
        <p:spPr>
          <a:xfrm>
            <a:off x="512910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497365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59" name="Connector 58"/>
          <p:cNvCxnSpPr/>
          <p:nvPr/>
        </p:nvCxnSpPr>
        <p:spPr>
          <a:xfrm>
            <a:off x="551958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36414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61" name="Connector 60"/>
          <p:cNvCxnSpPr/>
          <p:nvPr/>
        </p:nvCxnSpPr>
        <p:spPr>
          <a:xfrm>
            <a:off x="591007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575462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63" name="Connector 62"/>
          <p:cNvCxnSpPr/>
          <p:nvPr/>
        </p:nvCxnSpPr>
        <p:spPr>
          <a:xfrm flipV="1">
            <a:off x="2786210" y="5605272"/>
            <a:ext cx="0" cy="256032"/>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2786210" y="5605272"/>
            <a:ext cx="1561931" cy="0"/>
          </a:xfrm>
          <a:prstGeom prst="line">
            <a:avLst/>
          </a:prstGeom>
          <a:ln w="25400">
            <a:solidFill>
              <a:srgbClr val="176B73"/>
            </a:solidFill>
            <a:tailEnd type="triangle"/>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4348141" y="5605272"/>
            <a:ext cx="0" cy="256032"/>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2231136"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76B73"/>
                </a:solidFill>
                <a:latin typeface="Arial"/>
              </a:defRPr>
            </a:pPr>
            <a:r>
              <a:t>+4 then +3: total +7</a:t>
            </a:r>
          </a:p>
        </p:txBody>
      </p:sp>
      <p:cxnSp>
        <p:nvCxnSpPr>
          <p:cNvPr id="67" name="Connector 66"/>
          <p:cNvCxnSpPr/>
          <p:nvPr/>
        </p:nvCxnSpPr>
        <p:spPr>
          <a:xfrm flipV="1">
            <a:off x="4348141" y="5312664"/>
            <a:ext cx="0" cy="548640"/>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4348141" y="5312664"/>
            <a:ext cx="1171448" cy="0"/>
          </a:xfrm>
          <a:prstGeom prst="line">
            <a:avLst/>
          </a:prstGeom>
          <a:ln w="25400">
            <a:solidFill>
              <a:srgbClr val="176B73"/>
            </a:solidFill>
            <a:tailEnd type="triangle"/>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5519589" y="5312664"/>
            <a:ext cx="0" cy="548640"/>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2231136" y="5276088"/>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76B73"/>
                </a:solidFill>
                <a:latin typeface="Arial"/>
              </a:defRPr>
            </a:pPr>
          </a:p>
        </p:txBody>
      </p:sp>
      <p:sp>
        <p:nvSpPr>
          <p:cNvPr id="71" name="Rectangle 70"/>
          <p:cNvSpPr/>
          <p:nvPr/>
        </p:nvSpPr>
        <p:spPr>
          <a:xfrm>
            <a:off x="6184392"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257544"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6 + 3 = 9.</a:t>
            </a:r>
          </a:p>
        </p:txBody>
      </p:sp>
      <p:cxnSp>
        <p:nvCxnSpPr>
          <p:cNvPr id="73" name="Connector 72"/>
          <p:cNvCxnSpPr/>
          <p:nvPr/>
        </p:nvCxnSpPr>
        <p:spPr>
          <a:xfrm>
            <a:off x="6458712"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45871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30326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76" name="Connector 75"/>
          <p:cNvCxnSpPr/>
          <p:nvPr/>
        </p:nvCxnSpPr>
        <p:spPr>
          <a:xfrm>
            <a:off x="681014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665469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78" name="Connector 77"/>
          <p:cNvCxnSpPr/>
          <p:nvPr/>
        </p:nvCxnSpPr>
        <p:spPr>
          <a:xfrm>
            <a:off x="716158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7006132"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80" name="Connector 79"/>
          <p:cNvCxnSpPr/>
          <p:nvPr/>
        </p:nvCxnSpPr>
        <p:spPr>
          <a:xfrm>
            <a:off x="7513015"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357567"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82" name="Connector 81"/>
          <p:cNvCxnSpPr/>
          <p:nvPr/>
        </p:nvCxnSpPr>
        <p:spPr>
          <a:xfrm>
            <a:off x="786444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770900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84" name="Connector 83"/>
          <p:cNvCxnSpPr/>
          <p:nvPr/>
        </p:nvCxnSpPr>
        <p:spPr>
          <a:xfrm>
            <a:off x="821588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806043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86" name="Connector 85"/>
          <p:cNvCxnSpPr/>
          <p:nvPr/>
        </p:nvCxnSpPr>
        <p:spPr>
          <a:xfrm>
            <a:off x="856731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841187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88" name="Connector 87"/>
          <p:cNvCxnSpPr/>
          <p:nvPr/>
        </p:nvCxnSpPr>
        <p:spPr>
          <a:xfrm>
            <a:off x="891875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876330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7</a:t>
            </a:r>
          </a:p>
        </p:txBody>
      </p:sp>
      <p:cxnSp>
        <p:nvCxnSpPr>
          <p:cNvPr id="90" name="Connector 89"/>
          <p:cNvCxnSpPr/>
          <p:nvPr/>
        </p:nvCxnSpPr>
        <p:spPr>
          <a:xfrm>
            <a:off x="927018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114739"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8</a:t>
            </a:r>
          </a:p>
        </p:txBody>
      </p:sp>
      <p:cxnSp>
        <p:nvCxnSpPr>
          <p:cNvPr id="92" name="Connector 91"/>
          <p:cNvCxnSpPr/>
          <p:nvPr/>
        </p:nvCxnSpPr>
        <p:spPr>
          <a:xfrm>
            <a:off x="9621621"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9466173"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9</a:t>
            </a:r>
          </a:p>
        </p:txBody>
      </p:sp>
      <p:cxnSp>
        <p:nvCxnSpPr>
          <p:cNvPr id="94" name="Connector 93"/>
          <p:cNvCxnSpPr/>
          <p:nvPr/>
        </p:nvCxnSpPr>
        <p:spPr>
          <a:xfrm>
            <a:off x="997305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981760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10</a:t>
            </a:r>
          </a:p>
        </p:txBody>
      </p:sp>
      <p:cxnSp>
        <p:nvCxnSpPr>
          <p:cNvPr id="96" name="Connector 95"/>
          <p:cNvCxnSpPr/>
          <p:nvPr/>
        </p:nvCxnSpPr>
        <p:spPr>
          <a:xfrm flipV="1">
            <a:off x="8567318" y="5605272"/>
            <a:ext cx="0" cy="256032"/>
          </a:xfrm>
          <a:prstGeom prst="line">
            <a:avLst/>
          </a:prstGeom>
          <a:ln w="12700">
            <a:solidFill>
              <a:srgbClr val="3559A2"/>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567318" y="5605272"/>
            <a:ext cx="1054303" cy="0"/>
          </a:xfrm>
          <a:prstGeom prst="line">
            <a:avLst/>
          </a:prstGeom>
          <a:ln w="25400">
            <a:solidFill>
              <a:srgbClr val="3559A2"/>
            </a:solidFill>
            <a:tailEnd type="triangle"/>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9621621" y="5605272"/>
            <a:ext cx="0" cy="256032"/>
          </a:xfrm>
          <a:prstGeom prst="line">
            <a:avLst/>
          </a:prstGeom>
          <a:ln w="12700">
            <a:solidFill>
              <a:srgbClr val="3559A2"/>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6294120"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3559A2"/>
                </a:solidFill>
                <a:latin typeface="Arial"/>
              </a:defRPr>
            </a:pPr>
            <a:r>
              <a:t>subtract −3 = add 3</a:t>
            </a:r>
          </a:p>
        </p:txBody>
      </p:sp>
      <p:sp>
        <p:nvSpPr>
          <p:cNvPr id="100" name="Rectangle 99"/>
          <p:cNvSpPr/>
          <p:nvPr/>
        </p:nvSpPr>
        <p:spPr>
          <a:xfrm>
            <a:off x="10247376"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320528"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+ 8 = 3; 3 + 2 = 5.</a:t>
            </a:r>
          </a:p>
        </p:txBody>
      </p:sp>
      <p:cxnSp>
        <p:nvCxnSpPr>
          <p:cNvPr id="102" name="Connector 101"/>
          <p:cNvCxnSpPr/>
          <p:nvPr/>
        </p:nvCxnSpPr>
        <p:spPr>
          <a:xfrm>
            <a:off x="10521696"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1052169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1032916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105" name="Connector 104"/>
          <p:cNvCxnSpPr/>
          <p:nvPr/>
        </p:nvCxnSpPr>
        <p:spPr>
          <a:xfrm>
            <a:off x="1081455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10622025"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107" name="Connector 106"/>
          <p:cNvCxnSpPr/>
          <p:nvPr/>
        </p:nvCxnSpPr>
        <p:spPr>
          <a:xfrm>
            <a:off x="1110742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1091488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109" name="Connector 108"/>
          <p:cNvCxnSpPr/>
          <p:nvPr/>
        </p:nvCxnSpPr>
        <p:spPr>
          <a:xfrm>
            <a:off x="1140028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1120775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111" name="Connector 110"/>
          <p:cNvCxnSpPr/>
          <p:nvPr/>
        </p:nvCxnSpPr>
        <p:spPr>
          <a:xfrm>
            <a:off x="1169314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1150061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113" name="Connector 112"/>
          <p:cNvCxnSpPr/>
          <p:nvPr/>
        </p:nvCxnSpPr>
        <p:spPr>
          <a:xfrm>
            <a:off x="1198600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1179347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115" name="Connector 114"/>
          <p:cNvCxnSpPr/>
          <p:nvPr/>
        </p:nvCxnSpPr>
        <p:spPr>
          <a:xfrm>
            <a:off x="1227886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1212342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117" name="Connector 116"/>
          <p:cNvCxnSpPr/>
          <p:nvPr/>
        </p:nvCxnSpPr>
        <p:spPr>
          <a:xfrm>
            <a:off x="1257172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1241628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119" name="Connector 118"/>
          <p:cNvCxnSpPr/>
          <p:nvPr/>
        </p:nvCxnSpPr>
        <p:spPr>
          <a:xfrm>
            <a:off x="1286459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1270914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121" name="Connector 120"/>
          <p:cNvCxnSpPr/>
          <p:nvPr/>
        </p:nvCxnSpPr>
        <p:spPr>
          <a:xfrm>
            <a:off x="13157454"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1300200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123" name="Connector 122"/>
          <p:cNvCxnSpPr/>
          <p:nvPr/>
        </p:nvCxnSpPr>
        <p:spPr>
          <a:xfrm>
            <a:off x="1345031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1329486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125" name="Connector 124"/>
          <p:cNvCxnSpPr/>
          <p:nvPr/>
        </p:nvCxnSpPr>
        <p:spPr>
          <a:xfrm>
            <a:off x="1374317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13587729"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127" name="Connector 126"/>
          <p:cNvCxnSpPr/>
          <p:nvPr/>
        </p:nvCxnSpPr>
        <p:spPr>
          <a:xfrm>
            <a:off x="1403604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13880592"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129" name="Connector 128"/>
          <p:cNvCxnSpPr/>
          <p:nvPr/>
        </p:nvCxnSpPr>
        <p:spPr>
          <a:xfrm flipV="1">
            <a:off x="10814557" y="5605272"/>
            <a:ext cx="0" cy="256032"/>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10814557" y="5605272"/>
            <a:ext cx="2342897" cy="0"/>
          </a:xfrm>
          <a:prstGeom prst="line">
            <a:avLst/>
          </a:prstGeom>
          <a:ln w="25400">
            <a:solidFill>
              <a:srgbClr val="754B87"/>
            </a:solidFill>
            <a:tailEnd type="triangle"/>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13157454" y="5605272"/>
            <a:ext cx="0" cy="256032"/>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10357104"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754B87"/>
                </a:solidFill>
                <a:latin typeface="Arial"/>
              </a:defRPr>
            </a:pPr>
            <a:r>
              <a:t>+8, then +2</a:t>
            </a:r>
          </a:p>
        </p:txBody>
      </p:sp>
      <p:cxnSp>
        <p:nvCxnSpPr>
          <p:cNvPr id="133" name="Connector 132"/>
          <p:cNvCxnSpPr/>
          <p:nvPr/>
        </p:nvCxnSpPr>
        <p:spPr>
          <a:xfrm flipV="1">
            <a:off x="13157454" y="5312664"/>
            <a:ext cx="0" cy="548640"/>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13157454" y="5312664"/>
            <a:ext cx="585723" cy="0"/>
          </a:xfrm>
          <a:prstGeom prst="line">
            <a:avLst/>
          </a:prstGeom>
          <a:ln w="25400">
            <a:solidFill>
              <a:srgbClr val="754B87"/>
            </a:solidFill>
            <a:tailEnd type="triangle"/>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13743177" y="5312664"/>
            <a:ext cx="0" cy="548640"/>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10357104" y="5276088"/>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754B87"/>
                </a:solidFill>
                <a:latin typeface="Arial"/>
              </a:defRPr>
            </a:pPr>
          </a:p>
        </p:txBody>
      </p:sp>
      <p:sp>
        <p:nvSpPr>
          <p:cNvPr id="137" name="Rectangle 136"/>
          <p:cNvSpPr/>
          <p:nvPr/>
        </p:nvSpPr>
        <p:spPr>
          <a:xfrm>
            <a:off x="320040" y="6318504"/>
            <a:ext cx="1801367" cy="11887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74904" y="6409944"/>
            <a:ext cx="1691639" cy="103327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139" name="Rectangle 138"/>
          <p:cNvSpPr/>
          <p:nvPr/>
        </p:nvSpPr>
        <p:spPr>
          <a:xfrm>
            <a:off x="2121408"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2194560"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3 − 7 = −4. Answer: 3.</a:t>
            </a:r>
          </a:p>
        </p:txBody>
      </p:sp>
      <p:sp>
        <p:nvSpPr>
          <p:cNvPr id="141" name="Rectangle 140"/>
          <p:cNvSpPr/>
          <p:nvPr/>
        </p:nvSpPr>
        <p:spPr>
          <a:xfrm>
            <a:off x="6184392"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6257544"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9 + (−3) = 6. Answer: 9.</a:t>
            </a:r>
          </a:p>
        </p:txBody>
      </p:sp>
      <p:sp>
        <p:nvSpPr>
          <p:cNvPr id="143" name="Rectangle 142"/>
          <p:cNvSpPr/>
          <p:nvPr/>
        </p:nvSpPr>
        <p:spPr>
          <a:xfrm>
            <a:off x="10247376"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0320528"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(−2) = 3; 3 − 8 = −5. Answer: 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1 •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55064"/>
            <a:ext cx="1691639" cy="66751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82296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−6 + 9</a:t>
            </a:r>
          </a:p>
        </p:txBody>
      </p:sp>
      <p:sp>
        <p:nvSpPr>
          <p:cNvPr id="17" name="Rectangle 16"/>
          <p:cNvSpPr/>
          <p:nvPr/>
        </p:nvSpPr>
        <p:spPr>
          <a:xfrm>
            <a:off x="6184392" y="1563624"/>
            <a:ext cx="4062984" cy="82296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7544"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4 + (−7)</a:t>
            </a:r>
          </a:p>
        </p:txBody>
      </p:sp>
      <p:sp>
        <p:nvSpPr>
          <p:cNvPr id="19" name="Rectangle 18"/>
          <p:cNvSpPr/>
          <p:nvPr/>
        </p:nvSpPr>
        <p:spPr>
          <a:xfrm>
            <a:off x="10247376" y="1563624"/>
            <a:ext cx="4062984" cy="82296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20528"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−8 + 5 − (−4)</a:t>
            </a:r>
          </a:p>
        </p:txBody>
      </p:sp>
      <p:sp>
        <p:nvSpPr>
          <p:cNvPr id="21" name="Rectangle 20"/>
          <p:cNvSpPr/>
          <p:nvPr/>
        </p:nvSpPr>
        <p:spPr>
          <a:xfrm>
            <a:off x="320040" y="2386584"/>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2478024"/>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3" name="Rectangle 22"/>
          <p:cNvSpPr/>
          <p:nvPr/>
        </p:nvSpPr>
        <p:spPr>
          <a:xfrm>
            <a:off x="2121408"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5" name="Rectangle 24"/>
          <p:cNvSpPr/>
          <p:nvPr/>
        </p:nvSpPr>
        <p:spPr>
          <a:xfrm>
            <a:off x="6184392"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7544"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7" name="Rectangle 26"/>
          <p:cNvSpPr/>
          <p:nvPr/>
        </p:nvSpPr>
        <p:spPr>
          <a:xfrm>
            <a:off x="10247376"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20528"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9" name="Rectangle 28"/>
          <p:cNvSpPr/>
          <p:nvPr/>
        </p:nvSpPr>
        <p:spPr>
          <a:xfrm>
            <a:off x="320040" y="3648456"/>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3739896"/>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1" name="Rectangle 30"/>
          <p:cNvSpPr/>
          <p:nvPr/>
        </p:nvSpPr>
        <p:spPr>
          <a:xfrm>
            <a:off x="2121408"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0"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3" name="Rectangle 32"/>
          <p:cNvSpPr/>
          <p:nvPr/>
        </p:nvSpPr>
        <p:spPr>
          <a:xfrm>
            <a:off x="6184392"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7544"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5" name="Rectangle 34"/>
          <p:cNvSpPr/>
          <p:nvPr/>
        </p:nvSpPr>
        <p:spPr>
          <a:xfrm>
            <a:off x="10247376"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20528"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7" name="Rectangle 36"/>
          <p:cNvSpPr/>
          <p:nvPr/>
        </p:nvSpPr>
        <p:spPr>
          <a:xfrm>
            <a:off x="320040" y="4910327"/>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001767"/>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39" name="Rectangle 38"/>
          <p:cNvSpPr/>
          <p:nvPr/>
        </p:nvSpPr>
        <p:spPr>
          <a:xfrm>
            <a:off x="2121408"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94560"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1" name="Rectangle 40"/>
          <p:cNvSpPr/>
          <p:nvPr/>
        </p:nvSpPr>
        <p:spPr>
          <a:xfrm>
            <a:off x="6184392"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57544"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3" name="Rectangle 42"/>
          <p:cNvSpPr/>
          <p:nvPr/>
        </p:nvSpPr>
        <p:spPr>
          <a:xfrm>
            <a:off x="10247376"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20528"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5" name="Rectangle 44"/>
          <p:cNvSpPr/>
          <p:nvPr/>
        </p:nvSpPr>
        <p:spPr>
          <a:xfrm>
            <a:off x="320040" y="6172199"/>
            <a:ext cx="1801367" cy="12435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263639"/>
            <a:ext cx="1691639" cy="1088136"/>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47" name="Rectangle 46"/>
          <p:cNvSpPr/>
          <p:nvPr/>
        </p:nvSpPr>
        <p:spPr>
          <a:xfrm>
            <a:off x="2121408"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94560"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49" name="Rectangle 48"/>
          <p:cNvSpPr/>
          <p:nvPr/>
        </p:nvSpPr>
        <p:spPr>
          <a:xfrm>
            <a:off x="6184392"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57544"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1" name="Rectangle 50"/>
          <p:cNvSpPr/>
          <p:nvPr/>
        </p:nvSpPr>
        <p:spPr>
          <a:xfrm>
            <a:off x="10247376"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320528"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3"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2 •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55064"/>
            <a:ext cx="1691639" cy="66751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82296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3 − 8</a:t>
            </a:r>
          </a:p>
        </p:txBody>
      </p:sp>
      <p:sp>
        <p:nvSpPr>
          <p:cNvPr id="17" name="Rectangle 16"/>
          <p:cNvSpPr/>
          <p:nvPr/>
        </p:nvSpPr>
        <p:spPr>
          <a:xfrm>
            <a:off x="6184392" y="1563624"/>
            <a:ext cx="4062984" cy="82296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7544"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−5 − (−9)</a:t>
            </a:r>
          </a:p>
        </p:txBody>
      </p:sp>
      <p:sp>
        <p:nvSpPr>
          <p:cNvPr id="19" name="Rectangle 18"/>
          <p:cNvSpPr/>
          <p:nvPr/>
        </p:nvSpPr>
        <p:spPr>
          <a:xfrm>
            <a:off x="10247376" y="1563624"/>
            <a:ext cx="4062984" cy="82296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20528"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7 − (−2) + (−12)</a:t>
            </a:r>
          </a:p>
        </p:txBody>
      </p:sp>
      <p:sp>
        <p:nvSpPr>
          <p:cNvPr id="21" name="Rectangle 20"/>
          <p:cNvSpPr/>
          <p:nvPr/>
        </p:nvSpPr>
        <p:spPr>
          <a:xfrm>
            <a:off x="320040" y="2386584"/>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2478024"/>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3" name="Rectangle 22"/>
          <p:cNvSpPr/>
          <p:nvPr/>
        </p:nvSpPr>
        <p:spPr>
          <a:xfrm>
            <a:off x="2121408"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5" name="Rectangle 24"/>
          <p:cNvSpPr/>
          <p:nvPr/>
        </p:nvSpPr>
        <p:spPr>
          <a:xfrm>
            <a:off x="6184392"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7544"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7" name="Rectangle 26"/>
          <p:cNvSpPr/>
          <p:nvPr/>
        </p:nvSpPr>
        <p:spPr>
          <a:xfrm>
            <a:off x="10247376"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20528"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9" name="Rectangle 28"/>
          <p:cNvSpPr/>
          <p:nvPr/>
        </p:nvSpPr>
        <p:spPr>
          <a:xfrm>
            <a:off x="320040" y="3648456"/>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3739896"/>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1" name="Rectangle 30"/>
          <p:cNvSpPr/>
          <p:nvPr/>
        </p:nvSpPr>
        <p:spPr>
          <a:xfrm>
            <a:off x="2121408"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0"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3" name="Rectangle 32"/>
          <p:cNvSpPr/>
          <p:nvPr/>
        </p:nvSpPr>
        <p:spPr>
          <a:xfrm>
            <a:off x="6184392"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7544"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5" name="Rectangle 34"/>
          <p:cNvSpPr/>
          <p:nvPr/>
        </p:nvSpPr>
        <p:spPr>
          <a:xfrm>
            <a:off x="10247376"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20528"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7" name="Rectangle 36"/>
          <p:cNvSpPr/>
          <p:nvPr/>
        </p:nvSpPr>
        <p:spPr>
          <a:xfrm>
            <a:off x="320040" y="4910327"/>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001767"/>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39" name="Rectangle 38"/>
          <p:cNvSpPr/>
          <p:nvPr/>
        </p:nvSpPr>
        <p:spPr>
          <a:xfrm>
            <a:off x="2121408"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94560"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1" name="Rectangle 40"/>
          <p:cNvSpPr/>
          <p:nvPr/>
        </p:nvSpPr>
        <p:spPr>
          <a:xfrm>
            <a:off x="6184392"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57544"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3" name="Rectangle 42"/>
          <p:cNvSpPr/>
          <p:nvPr/>
        </p:nvSpPr>
        <p:spPr>
          <a:xfrm>
            <a:off x="10247376"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20528"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5" name="Rectangle 44"/>
          <p:cNvSpPr/>
          <p:nvPr/>
        </p:nvSpPr>
        <p:spPr>
          <a:xfrm>
            <a:off x="320040" y="6172199"/>
            <a:ext cx="1801367" cy="12435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263639"/>
            <a:ext cx="1691639" cy="1088136"/>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47" name="Rectangle 46"/>
          <p:cNvSpPr/>
          <p:nvPr/>
        </p:nvSpPr>
        <p:spPr>
          <a:xfrm>
            <a:off x="2121408"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94560"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49" name="Rectangle 48"/>
          <p:cNvSpPr/>
          <p:nvPr/>
        </p:nvSpPr>
        <p:spPr>
          <a:xfrm>
            <a:off x="6184392"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57544"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1" name="Rectangle 50"/>
          <p:cNvSpPr/>
          <p:nvPr/>
        </p:nvSpPr>
        <p:spPr>
          <a:xfrm>
            <a:off x="10247376"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320528"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3"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Signed numbers: addition and subtraction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M13-SE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 + 5</a:t>
            </a:r>
          </a:p>
        </p:txBody>
      </p:sp>
      <p:sp>
        <p:nvSpPr>
          <p:cNvPr id="10" name="TextBox 9"/>
          <p:cNvSpPr txBox="1"/>
          <p:nvPr/>
        </p:nvSpPr>
        <p:spPr>
          <a:xfrm>
            <a:off x="704088"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−3 + 5</a:t>
            </a:r>
          </a:p>
        </p:txBody>
      </p:sp>
      <p:sp>
        <p:nvSpPr>
          <p:cNvPr id="11" name="TextBox 10"/>
          <p:cNvSpPr txBox="1"/>
          <p:nvPr/>
        </p:nvSpPr>
        <p:spPr>
          <a:xfrm>
            <a:off x="704088"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−3 − 5</a:t>
            </a:r>
          </a:p>
        </p:txBody>
      </p:sp>
      <p:sp>
        <p:nvSpPr>
          <p:cNvPr id="12" name="TextBox 11"/>
          <p:cNvSpPr txBox="1"/>
          <p:nvPr/>
        </p:nvSpPr>
        <p:spPr>
          <a:xfrm>
            <a:off x="704088"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−8</a:t>
            </a:r>
          </a:p>
        </p:txBody>
      </p:sp>
      <p:sp>
        <p:nvSpPr>
          <p:cNvPr id="13" name="Rectangle 12"/>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4 − 7</a:t>
            </a:r>
          </a:p>
        </p:txBody>
      </p:sp>
      <p:sp>
        <p:nvSpPr>
          <p:cNvPr id="15" name="TextBox 14"/>
          <p:cNvSpPr txBox="1"/>
          <p:nvPr/>
        </p:nvSpPr>
        <p:spPr>
          <a:xfrm>
            <a:off x="704088"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4 − 7</a:t>
            </a:r>
          </a:p>
        </p:txBody>
      </p:sp>
      <p:sp>
        <p:nvSpPr>
          <p:cNvPr id="16" name="TextBox 15"/>
          <p:cNvSpPr txBox="1"/>
          <p:nvPr/>
        </p:nvSpPr>
        <p:spPr>
          <a:xfrm>
            <a:off x="704088"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7 − 4</a:t>
            </a:r>
          </a:p>
        </p:txBody>
      </p:sp>
      <p:sp>
        <p:nvSpPr>
          <p:cNvPr id="17" name="TextBox 16"/>
          <p:cNvSpPr txBox="1"/>
          <p:nvPr/>
        </p:nvSpPr>
        <p:spPr>
          <a:xfrm>
            <a:off x="704088"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a:t>
            </a:r>
          </a:p>
        </p:txBody>
      </p:sp>
      <p:sp>
        <p:nvSpPr>
          <p:cNvPr id="18" name="Rectangle 17"/>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−2 − 4</a:t>
            </a:r>
          </a:p>
        </p:txBody>
      </p:sp>
      <p:sp>
        <p:nvSpPr>
          <p:cNvPr id="20" name="TextBox 19"/>
          <p:cNvSpPr txBox="1"/>
          <p:nvPr/>
        </p:nvSpPr>
        <p:spPr>
          <a:xfrm>
            <a:off x="704088"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−2 − 4</a:t>
            </a:r>
          </a:p>
        </p:txBody>
      </p:sp>
      <p:sp>
        <p:nvSpPr>
          <p:cNvPr id="21" name="TextBox 20"/>
          <p:cNvSpPr txBox="1"/>
          <p:nvPr/>
        </p:nvSpPr>
        <p:spPr>
          <a:xfrm>
            <a:off x="704088"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2 + 4</a:t>
            </a:r>
          </a:p>
        </p:txBody>
      </p:sp>
      <p:sp>
        <p:nvSpPr>
          <p:cNvPr id="22" name="TextBox 21"/>
          <p:cNvSpPr txBox="1"/>
          <p:nvPr/>
        </p:nvSpPr>
        <p:spPr>
          <a:xfrm>
            <a:off x="704088"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6</a:t>
            </a:r>
          </a:p>
        </p:txBody>
      </p:sp>
      <p:sp>
        <p:nvSpPr>
          <p:cNvPr id="23" name="Rectangle 22"/>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25" name="Rectangle 24"/>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6 + (−9)</a:t>
            </a:r>
          </a:p>
        </p:txBody>
      </p:sp>
      <p:sp>
        <p:nvSpPr>
          <p:cNvPr id="27" name="TextBox 26"/>
          <p:cNvSpPr txBox="1"/>
          <p:nvPr/>
        </p:nvSpPr>
        <p:spPr>
          <a:xfrm>
            <a:off x="5324856"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6 + (−9)</a:t>
            </a:r>
          </a:p>
        </p:txBody>
      </p:sp>
      <p:sp>
        <p:nvSpPr>
          <p:cNvPr id="28" name="TextBox 27"/>
          <p:cNvSpPr txBox="1"/>
          <p:nvPr/>
        </p:nvSpPr>
        <p:spPr>
          <a:xfrm>
            <a:off x="5324856"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6 + 9</a:t>
            </a:r>
          </a:p>
        </p:txBody>
      </p:sp>
      <p:sp>
        <p:nvSpPr>
          <p:cNvPr id="29" name="TextBox 28"/>
          <p:cNvSpPr txBox="1"/>
          <p:nvPr/>
        </p:nvSpPr>
        <p:spPr>
          <a:xfrm>
            <a:off x="5324856"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15</a:t>
            </a:r>
          </a:p>
        </p:txBody>
      </p:sp>
      <p:sp>
        <p:nvSpPr>
          <p:cNvPr id="30" name="Rectangle 29"/>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−5 − (−3)</a:t>
            </a:r>
          </a:p>
        </p:txBody>
      </p:sp>
      <p:sp>
        <p:nvSpPr>
          <p:cNvPr id="32" name="TextBox 31"/>
          <p:cNvSpPr txBox="1"/>
          <p:nvPr/>
        </p:nvSpPr>
        <p:spPr>
          <a:xfrm>
            <a:off x="5324856"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−5 − (−3)</a:t>
            </a:r>
          </a:p>
        </p:txBody>
      </p:sp>
      <p:sp>
        <p:nvSpPr>
          <p:cNvPr id="33" name="TextBox 32"/>
          <p:cNvSpPr txBox="1"/>
          <p:nvPr/>
        </p:nvSpPr>
        <p:spPr>
          <a:xfrm>
            <a:off x="5324856"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−5 − 3</a:t>
            </a:r>
          </a:p>
        </p:txBody>
      </p:sp>
      <p:sp>
        <p:nvSpPr>
          <p:cNvPr id="34" name="TextBox 33"/>
          <p:cNvSpPr txBox="1"/>
          <p:nvPr/>
        </p:nvSpPr>
        <p:spPr>
          <a:xfrm>
            <a:off x="5324856"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−8</a:t>
            </a:r>
          </a:p>
        </p:txBody>
      </p:sp>
      <p:sp>
        <p:nvSpPr>
          <p:cNvPr id="35" name="Rectangle 3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 + (−4)</a:t>
            </a:r>
          </a:p>
        </p:txBody>
      </p:sp>
      <p:sp>
        <p:nvSpPr>
          <p:cNvPr id="37" name="TextBox 36"/>
          <p:cNvSpPr txBox="1"/>
          <p:nvPr/>
        </p:nvSpPr>
        <p:spPr>
          <a:xfrm>
            <a:off x="5324856"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−7 + (−4)</a:t>
            </a:r>
          </a:p>
        </p:txBody>
      </p:sp>
      <p:sp>
        <p:nvSpPr>
          <p:cNvPr id="38" name="TextBox 37"/>
          <p:cNvSpPr txBox="1"/>
          <p:nvPr/>
        </p:nvSpPr>
        <p:spPr>
          <a:xfrm>
            <a:off x="5324856"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7 + 4</a:t>
            </a:r>
          </a:p>
        </p:txBody>
      </p:sp>
      <p:sp>
        <p:nvSpPr>
          <p:cNvPr id="39" name="TextBox 38"/>
          <p:cNvSpPr txBox="1"/>
          <p:nvPr/>
        </p:nvSpPr>
        <p:spPr>
          <a:xfrm>
            <a:off x="5324856"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11</a:t>
            </a:r>
          </a:p>
        </p:txBody>
      </p:sp>
      <p:sp>
        <p:nvSpPr>
          <p:cNvPr id="40" name="Rectangle 39"/>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42" name="Rectangle 41"/>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−4 − (−7) + (−6)</a:t>
            </a:r>
          </a:p>
        </p:txBody>
      </p:sp>
      <p:sp>
        <p:nvSpPr>
          <p:cNvPr id="44" name="TextBox 43"/>
          <p:cNvSpPr txBox="1"/>
          <p:nvPr/>
        </p:nvSpPr>
        <p:spPr>
          <a:xfrm>
            <a:off x="9945624"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−4 − (−7) + (−6)</a:t>
            </a:r>
          </a:p>
        </p:txBody>
      </p:sp>
      <p:sp>
        <p:nvSpPr>
          <p:cNvPr id="45" name="TextBox 44"/>
          <p:cNvSpPr txBox="1"/>
          <p:nvPr/>
        </p:nvSpPr>
        <p:spPr>
          <a:xfrm>
            <a:off x="9945624"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−4 + 7 + 6</a:t>
            </a:r>
          </a:p>
        </p:txBody>
      </p:sp>
      <p:sp>
        <p:nvSpPr>
          <p:cNvPr id="46" name="TextBox 45"/>
          <p:cNvSpPr txBox="1"/>
          <p:nvPr/>
        </p:nvSpPr>
        <p:spPr>
          <a:xfrm>
            <a:off x="9945624"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 + 6</a:t>
            </a:r>
          </a:p>
        </p:txBody>
      </p:sp>
      <p:sp>
        <p:nvSpPr>
          <p:cNvPr id="47" name="TextBox 46"/>
          <p:cNvSpPr txBox="1"/>
          <p:nvPr/>
        </p:nvSpPr>
        <p:spPr>
          <a:xfrm>
            <a:off x="9945624" y="32735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9</a:t>
            </a:r>
          </a:p>
        </p:txBody>
      </p:sp>
      <p:sp>
        <p:nvSpPr>
          <p:cNvPr id="48" name="Rectangle 4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8 + (−12) − (−5)</a:t>
            </a:r>
          </a:p>
        </p:txBody>
      </p:sp>
      <p:sp>
        <p:nvSpPr>
          <p:cNvPr id="50" name="TextBox 49"/>
          <p:cNvSpPr txBox="1"/>
          <p:nvPr/>
        </p:nvSpPr>
        <p:spPr>
          <a:xfrm>
            <a:off x="9945624"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8 + (−12) − (−5)</a:t>
            </a:r>
          </a:p>
        </p:txBody>
      </p:sp>
      <p:sp>
        <p:nvSpPr>
          <p:cNvPr id="51" name="TextBox 50"/>
          <p:cNvSpPr txBox="1"/>
          <p:nvPr/>
        </p:nvSpPr>
        <p:spPr>
          <a:xfrm>
            <a:off x="9945624"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8 − 12 − 5</a:t>
            </a:r>
          </a:p>
        </p:txBody>
      </p:sp>
      <p:sp>
        <p:nvSpPr>
          <p:cNvPr id="52" name="TextBox 51"/>
          <p:cNvSpPr txBox="1"/>
          <p:nvPr/>
        </p:nvSpPr>
        <p:spPr>
          <a:xfrm>
            <a:off x="9945624"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−4 − 5</a:t>
            </a:r>
          </a:p>
        </p:txBody>
      </p:sp>
      <p:sp>
        <p:nvSpPr>
          <p:cNvPr id="53" name="TextBox 52"/>
          <p:cNvSpPr txBox="1"/>
          <p:nvPr/>
        </p:nvSpPr>
        <p:spPr>
          <a:xfrm>
            <a:off x="9945624" y="527608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−9</a:t>
            </a:r>
          </a:p>
        </p:txBody>
      </p:sp>
      <p:sp>
        <p:nvSpPr>
          <p:cNvPr id="54" name="Rectangle 53"/>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−9 − 4 + 10</a:t>
            </a:r>
          </a:p>
        </p:txBody>
      </p:sp>
      <p:sp>
        <p:nvSpPr>
          <p:cNvPr id="56" name="TextBox 55"/>
          <p:cNvSpPr txBox="1"/>
          <p:nvPr/>
        </p:nvSpPr>
        <p:spPr>
          <a:xfrm>
            <a:off x="9945624"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−9 − 4 + 10</a:t>
            </a:r>
          </a:p>
        </p:txBody>
      </p:sp>
      <p:sp>
        <p:nvSpPr>
          <p:cNvPr id="57" name="TextBox 56"/>
          <p:cNvSpPr txBox="1"/>
          <p:nvPr/>
        </p:nvSpPr>
        <p:spPr>
          <a:xfrm>
            <a:off x="9945624"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−5 + 10</a:t>
            </a:r>
          </a:p>
        </p:txBody>
      </p:sp>
      <p:sp>
        <p:nvSpPr>
          <p:cNvPr id="58" name="TextBox 57"/>
          <p:cNvSpPr txBox="1"/>
          <p:nvPr/>
        </p:nvSpPr>
        <p:spPr>
          <a:xfrm>
            <a:off x="9945624"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1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−3 + 8</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5 − (−2)</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−4 + 7 − (−3)</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2 − 7</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7 + (−9)</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6 − 9 + 2</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+ 4</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−4 + (−6)</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−5 + (−3) + 10</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−2 − 5</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(−3)</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(−2) − 13</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+ 9</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−5 − (−5)</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−7 − (−4) + 1</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4 − 10</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0 + (−7)</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3 + (−8) − (−5)</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2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−4 − 6</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9 − (−4)</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−6 + 9 + (−4)</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+ 11</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(−7)</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4 − (−6) + (−10)</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6 − 15</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0 − (−9)</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7 − 10 − (−5)</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−7 + 10</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3 + (−8)</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(−2) − 1</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−8 + 3</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−3 − (−8)</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+ 5 − (−7)</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5 − 12</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−10 − (−6)</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5 + (−12) + 3</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3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−8 + 12</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−9 + (−2)</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10 − 14 + (−2)</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−5 − 4</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8 − (−5)</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(−9) − (−3)</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−10 + 6</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−7 − (−4)</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−2 − (−8) + 5</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9 − 14</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6 + (−11)</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−3 + (−6) − (−4)</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7 − 16</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−4 − (−10)</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(−3) + (−7)</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−12 + 12</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−12 − (−7)</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−11 + 8 − 2</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4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−12 + 7</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0 − (−6)</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−12 + 7 + 8</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11 − 18</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(−8)</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4 − (−5) + (−12)</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−6 − 8</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5 + (−13)</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(−9) + (−3)</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−9 + 14</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−7 − (−12)</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5 − 13 − (−2)</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−15 + 15</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12 − (−3)</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8 + (−11) − 4</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8 − 13</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−4 + (−9)</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−10 + 6 − (−7)</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Multiplication and Division Problems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1.  A ribbon is 144 cm long and cut into 6 equal pieces. Find the length of each piece.</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2.  A hall has 14 rows with 25 seats in each row. How many seats are there altogether?</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3.  145 eggs are packed into boxes of 6. How many full boxes can be made?</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4.  A coach hire company charges £75 per coach. 130 passengers need coaches with 24 seats each. Find the total hire cost.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Choose the calculation, use a written method, then check.</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84 tins are shared equally among 4 boxes. How many tins go in each box?</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130 biscuits are packed in packs of 6. How many completely full packs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145 students need minibuses with 9 passenger seats each. Hire costs £40 per minibus. Find the total cost.</a:t>
            </a:r>
          </a:p>
        </p:txBody>
      </p:sp>
      <p:sp>
        <p:nvSpPr>
          <p:cNvPr id="21" name="Rectangle 20"/>
          <p:cNvSpPr/>
          <p:nvPr/>
        </p:nvSpPr>
        <p:spPr>
          <a:xfrm>
            <a:off x="384048" y="28620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“shared equally” among 4 boxes</a:t>
            </a:r>
          </a:p>
          <a:p>
            <a:pPr>
              <a:lnSpc>
                <a:spcPts val="1836"/>
              </a:lnSpc>
              <a:spcBef>
                <a:spcPts val="0"/>
              </a:spcBef>
              <a:spcAft>
                <a:spcPts val="0"/>
              </a:spcAft>
              <a:defRPr sz="1700" b="0">
                <a:solidFill>
                  <a:srgbClr val="182B3A"/>
                </a:solidFill>
                <a:latin typeface="Arial"/>
              </a:defRPr>
            </a:pPr>
            <a:r>
              <a:t>84 ÷ 4</a:t>
            </a:r>
          </a:p>
        </p:txBody>
      </p:sp>
      <p:sp>
        <p:nvSpPr>
          <p:cNvPr id="25" name="Rectangle 24"/>
          <p:cNvSpPr/>
          <p:nvPr/>
        </p:nvSpPr>
        <p:spPr>
          <a:xfrm>
            <a:off x="6406895"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“packs of 6”; “completely full”</a:t>
            </a:r>
          </a:p>
          <a:p>
            <a:pPr>
              <a:lnSpc>
                <a:spcPts val="1836"/>
              </a:lnSpc>
              <a:spcBef>
                <a:spcPts val="0"/>
              </a:spcBef>
              <a:spcAft>
                <a:spcPts val="0"/>
              </a:spcAft>
              <a:defRPr sz="1700" b="0">
                <a:solidFill>
                  <a:srgbClr val="182B3A"/>
                </a:solidFill>
                <a:latin typeface="Arial"/>
              </a:defRPr>
            </a:pPr>
            <a:r>
              <a:t>130 ÷ 6</a:t>
            </a:r>
          </a:p>
        </p:txBody>
      </p:sp>
      <p:sp>
        <p:nvSpPr>
          <p:cNvPr id="27" name="Rectangle 26"/>
          <p:cNvSpPr/>
          <p:nvPr/>
        </p:nvSpPr>
        <p:spPr>
          <a:xfrm>
            <a:off x="10326624"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“9 passenger seats”; “£40 per minibus”</a:t>
            </a:r>
          </a:p>
          <a:p>
            <a:pPr>
              <a:lnSpc>
                <a:spcPts val="1836"/>
              </a:lnSpc>
              <a:spcBef>
                <a:spcPts val="0"/>
              </a:spcBef>
              <a:spcAft>
                <a:spcPts val="0"/>
              </a:spcAft>
              <a:defRPr sz="1700" b="0">
                <a:solidFill>
                  <a:srgbClr val="182B3A"/>
                </a:solidFill>
                <a:latin typeface="Arial"/>
              </a:defRPr>
            </a:pPr>
            <a:r>
              <a:t>145 ÷ 9, then buses × 40</a:t>
            </a:r>
          </a:p>
        </p:txBody>
      </p:sp>
      <p:sp>
        <p:nvSpPr>
          <p:cNvPr id="29" name="Rectangle 28"/>
          <p:cNvSpPr/>
          <p:nvPr/>
        </p:nvSpPr>
        <p:spPr>
          <a:xfrm>
            <a:off x="384048" y="3822191"/>
            <a:ext cx="2103120" cy="2240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913631"/>
            <a:ext cx="1975103" cy="2057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8 ÷ 4 = 2; 4 ÷ 4 = 1.</a:t>
            </a:r>
          </a:p>
          <a:p>
            <a:pPr>
              <a:lnSpc>
                <a:spcPts val="1836"/>
              </a:lnSpc>
              <a:spcBef>
                <a:spcPts val="0"/>
              </a:spcBef>
              <a:spcAft>
                <a:spcPts val="0"/>
              </a:spcAft>
              <a:defRPr sz="1700" b="0">
                <a:solidFill>
                  <a:srgbClr val="182B3A"/>
                </a:solidFill>
                <a:latin typeface="Arial"/>
              </a:defRPr>
            </a:pPr>
            <a:r>
              <a:t>84 ÷ 4 = 21.</a:t>
            </a:r>
          </a:p>
        </p:txBody>
      </p:sp>
      <p:grpSp>
        <p:nvGrpSpPr>
          <p:cNvPr id="33" name="Editable bus stop 84 ÷ 4"/>
          <p:cNvGrpSpPr/>
          <p:nvPr/>
        </p:nvGrpSpPr>
        <p:grpSpPr>
          <a:xfrm>
            <a:off x="3633216" y="5102352"/>
            <a:ext cx="1426463" cy="758952"/>
            <a:chOff x="3633216" y="5102352"/>
            <a:chExt cx="1426463" cy="758952"/>
          </a:xfrm>
        </p:grpSpPr>
        <p:cxnSp>
          <p:nvCxnSpPr>
            <p:cNvPr id="34" name="Connector 33"/>
            <p:cNvCxnSpPr/>
            <p:nvPr/>
          </p:nvCxnSpPr>
          <p:spPr>
            <a:xfrm>
              <a:off x="4035552" y="5477256"/>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035552"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633216" y="5495544"/>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4</a:t>
              </a:r>
            </a:p>
          </p:txBody>
        </p:sp>
        <p:sp>
          <p:nvSpPr>
            <p:cNvPr id="37" name="TextBox 36"/>
            <p:cNvSpPr txBox="1"/>
            <p:nvPr/>
          </p:nvSpPr>
          <p:spPr>
            <a:xfrm>
              <a:off x="4108704"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38" name="TextBox 37"/>
            <p:cNvSpPr txBox="1"/>
            <p:nvPr/>
          </p:nvSpPr>
          <p:spPr>
            <a:xfrm>
              <a:off x="4108704" y="5102352"/>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9" name="TextBox 38"/>
            <p:cNvSpPr txBox="1"/>
            <p:nvPr/>
          </p:nvSpPr>
          <p:spPr>
            <a:xfrm>
              <a:off x="4556760"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0" name="TextBox 39"/>
            <p:cNvSpPr txBox="1"/>
            <p:nvPr/>
          </p:nvSpPr>
          <p:spPr>
            <a:xfrm>
              <a:off x="4556760" y="5102352"/>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41" name="Rectangle 40"/>
          <p:cNvSpPr/>
          <p:nvPr/>
        </p:nvSpPr>
        <p:spPr>
          <a:xfrm>
            <a:off x="6406895"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13 ÷ 6 = 2 r 1;</a:t>
            </a:r>
          </a:p>
          <a:p>
            <a:pPr>
              <a:lnSpc>
                <a:spcPts val="1836"/>
              </a:lnSpc>
              <a:spcBef>
                <a:spcPts val="0"/>
              </a:spcBef>
              <a:spcAft>
                <a:spcPts val="0"/>
              </a:spcAft>
              <a:defRPr sz="1700" b="0">
                <a:solidFill>
                  <a:srgbClr val="182B3A"/>
                </a:solidFill>
                <a:latin typeface="Arial"/>
              </a:defRPr>
            </a:pPr>
            <a:r>
              <a:t>10 ÷ 6 = 1 r 4. So 130 ÷ 6 = 21 r 4.</a:t>
            </a:r>
          </a:p>
        </p:txBody>
      </p:sp>
      <p:grpSp>
        <p:nvGrpSpPr>
          <p:cNvPr id="43" name="Editable bus stop 130 ÷ 6"/>
          <p:cNvGrpSpPr/>
          <p:nvPr/>
        </p:nvGrpSpPr>
        <p:grpSpPr>
          <a:xfrm>
            <a:off x="7328915" y="5102352"/>
            <a:ext cx="1874521" cy="905256"/>
            <a:chOff x="7328915" y="5102352"/>
            <a:chExt cx="1874521" cy="905256"/>
          </a:xfrm>
        </p:grpSpPr>
        <p:cxnSp>
          <p:nvCxnSpPr>
            <p:cNvPr id="44" name="Connector 43"/>
            <p:cNvCxnSpPr/>
            <p:nvPr/>
          </p:nvCxnSpPr>
          <p:spPr>
            <a:xfrm>
              <a:off x="7731251" y="5477256"/>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7731251"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328915" y="5495544"/>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47" name="TextBox 46"/>
            <p:cNvSpPr txBox="1"/>
            <p:nvPr/>
          </p:nvSpPr>
          <p:spPr>
            <a:xfrm>
              <a:off x="7804403"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8" name="TextBox 47"/>
            <p:cNvSpPr txBox="1"/>
            <p:nvPr/>
          </p:nvSpPr>
          <p:spPr>
            <a:xfrm>
              <a:off x="7804403"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9" name="TextBox 48"/>
            <p:cNvSpPr txBox="1"/>
            <p:nvPr/>
          </p:nvSpPr>
          <p:spPr>
            <a:xfrm>
              <a:off x="8252459"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50" name="TextBox 49"/>
            <p:cNvSpPr txBox="1"/>
            <p:nvPr/>
          </p:nvSpPr>
          <p:spPr>
            <a:xfrm>
              <a:off x="8252459"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51" name="TextBox 50"/>
            <p:cNvSpPr txBox="1"/>
            <p:nvPr/>
          </p:nvSpPr>
          <p:spPr>
            <a:xfrm>
              <a:off x="8161934" y="546811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52" name="TextBox 51"/>
            <p:cNvSpPr txBox="1"/>
            <p:nvPr/>
          </p:nvSpPr>
          <p:spPr>
            <a:xfrm>
              <a:off x="8700515"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53" name="TextBox 52"/>
            <p:cNvSpPr txBox="1"/>
            <p:nvPr/>
          </p:nvSpPr>
          <p:spPr>
            <a:xfrm>
              <a:off x="8700515"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1</a:t>
              </a:r>
            </a:p>
          </p:txBody>
        </p:sp>
        <p:sp>
          <p:nvSpPr>
            <p:cNvPr id="54" name="TextBox 53"/>
            <p:cNvSpPr txBox="1"/>
            <p:nvPr/>
          </p:nvSpPr>
          <p:spPr>
            <a:xfrm>
              <a:off x="8609990" y="546811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55" name="TextBox 54"/>
            <p:cNvSpPr txBox="1"/>
            <p:nvPr/>
          </p:nvSpPr>
          <p:spPr>
            <a:xfrm>
              <a:off x="7804403" y="5843016"/>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4</a:t>
              </a:r>
            </a:p>
          </p:txBody>
        </p:sp>
      </p:grpSp>
      <p:sp>
        <p:nvSpPr>
          <p:cNvPr id="56" name="Rectangle 55"/>
          <p:cNvSpPr/>
          <p:nvPr/>
        </p:nvSpPr>
        <p:spPr>
          <a:xfrm>
            <a:off x="10326624"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7" name="TextBox 56"/>
          <p:cNvSpPr txBox="1"/>
          <p:nvPr/>
        </p:nvSpPr>
        <p:spPr>
          <a:xfrm>
            <a:off x="10390632" y="3886200"/>
            <a:ext cx="3791712" cy="84124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14 ÷ 9 = 1 r 5;</a:t>
            </a:r>
          </a:p>
          <a:p>
            <a:pPr>
              <a:lnSpc>
                <a:spcPts val="1836"/>
              </a:lnSpc>
              <a:spcBef>
                <a:spcPts val="0"/>
              </a:spcBef>
              <a:spcAft>
                <a:spcPts val="0"/>
              </a:spcAft>
              <a:defRPr sz="1700" b="0">
                <a:solidFill>
                  <a:srgbClr val="182B3A"/>
                </a:solidFill>
                <a:latin typeface="Arial"/>
              </a:defRPr>
            </a:pPr>
            <a:r>
              <a:t>55 ÷ 9 = 6 r 1. So 16 r 1 → 17 buses.</a:t>
            </a:r>
          </a:p>
          <a:p>
            <a:pPr>
              <a:lnSpc>
                <a:spcPts val="1836"/>
              </a:lnSpc>
              <a:spcBef>
                <a:spcPts val="0"/>
              </a:spcBef>
              <a:spcAft>
                <a:spcPts val="0"/>
              </a:spcAft>
              <a:defRPr sz="1700" b="0">
                <a:solidFill>
                  <a:srgbClr val="182B3A"/>
                </a:solidFill>
                <a:latin typeface="Arial"/>
              </a:defRPr>
            </a:pPr>
            <a:r>
              <a:t>Lattice: 17 × 40 = 680.</a:t>
            </a:r>
          </a:p>
        </p:txBody>
      </p:sp>
      <p:grpSp>
        <p:nvGrpSpPr>
          <p:cNvPr id="58" name="Editable bus stop 145 ÷ 9"/>
          <p:cNvGrpSpPr/>
          <p:nvPr/>
        </p:nvGrpSpPr>
        <p:grpSpPr>
          <a:xfrm>
            <a:off x="10308336" y="5010912"/>
            <a:ext cx="1863181" cy="905256"/>
            <a:chOff x="10308336" y="5010912"/>
            <a:chExt cx="1863181" cy="905256"/>
          </a:xfrm>
        </p:grpSpPr>
        <p:cxnSp>
          <p:nvCxnSpPr>
            <p:cNvPr id="59" name="Connector 58"/>
            <p:cNvCxnSpPr/>
            <p:nvPr/>
          </p:nvCxnSpPr>
          <p:spPr>
            <a:xfrm>
              <a:off x="10710672" y="5385816"/>
              <a:ext cx="146084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710672" y="538581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308336" y="5404103"/>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9</a:t>
              </a:r>
            </a:p>
          </p:txBody>
        </p:sp>
        <p:sp>
          <p:nvSpPr>
            <p:cNvPr id="62" name="TextBox 61"/>
            <p:cNvSpPr txBox="1"/>
            <p:nvPr/>
          </p:nvSpPr>
          <p:spPr>
            <a:xfrm>
              <a:off x="10783824"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63" name="TextBox 62"/>
            <p:cNvSpPr txBox="1"/>
            <p:nvPr/>
          </p:nvSpPr>
          <p:spPr>
            <a:xfrm>
              <a:off x="10783824"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64" name="TextBox 63"/>
            <p:cNvSpPr txBox="1"/>
            <p:nvPr/>
          </p:nvSpPr>
          <p:spPr>
            <a:xfrm>
              <a:off x="11228100"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5" name="TextBox 64"/>
            <p:cNvSpPr txBox="1"/>
            <p:nvPr/>
          </p:nvSpPr>
          <p:spPr>
            <a:xfrm>
              <a:off x="11228100"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6" name="TextBox 65"/>
            <p:cNvSpPr txBox="1"/>
            <p:nvPr/>
          </p:nvSpPr>
          <p:spPr>
            <a:xfrm>
              <a:off x="11137574" y="537667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67" name="TextBox 66"/>
            <p:cNvSpPr txBox="1"/>
            <p:nvPr/>
          </p:nvSpPr>
          <p:spPr>
            <a:xfrm>
              <a:off x="11672376"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68" name="TextBox 67"/>
            <p:cNvSpPr txBox="1"/>
            <p:nvPr/>
          </p:nvSpPr>
          <p:spPr>
            <a:xfrm>
              <a:off x="11672376"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r>
                <a:t>6</a:t>
              </a:r>
            </a:p>
          </p:txBody>
        </p:sp>
        <p:sp>
          <p:nvSpPr>
            <p:cNvPr id="69" name="TextBox 68"/>
            <p:cNvSpPr txBox="1"/>
            <p:nvPr/>
          </p:nvSpPr>
          <p:spPr>
            <a:xfrm>
              <a:off x="11581851" y="537667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5</a:t>
              </a:r>
            </a:p>
          </p:txBody>
        </p:sp>
        <p:sp>
          <p:nvSpPr>
            <p:cNvPr id="70" name="TextBox 69"/>
            <p:cNvSpPr txBox="1"/>
            <p:nvPr/>
          </p:nvSpPr>
          <p:spPr>
            <a:xfrm>
              <a:off x="10783824" y="5751576"/>
              <a:ext cx="1332829" cy="164592"/>
            </a:xfrm>
            <a:prstGeom prst="rect">
              <a:avLst/>
            </a:prstGeom>
            <a:noFill/>
          </p:spPr>
          <p:txBody>
            <a:bodyPr wrap="none" lIns="0" tIns="0" rIns="0" bIns="0" anchor="ctr">
              <a:spAutoFit/>
            </a:bodyPr>
            <a:lstStyle/>
            <a:p>
              <a:pPr algn="ctr">
                <a:defRPr sz="1200" b="0">
                  <a:solidFill>
                    <a:srgbClr val="754B87"/>
                  </a:solidFill>
                  <a:latin typeface="Arial"/>
                </a:defRPr>
              </a:pPr>
              <a:r>
                <a:t>remainder 1</a:t>
              </a:r>
            </a:p>
          </p:txBody>
        </p:sp>
      </p:grpSp>
      <p:grpSp>
        <p:nvGrpSpPr>
          <p:cNvPr id="71" name="Editable lattice 17 × 40"/>
          <p:cNvGrpSpPr/>
          <p:nvPr/>
        </p:nvGrpSpPr>
        <p:grpSpPr>
          <a:xfrm>
            <a:off x="12489820" y="4809743"/>
            <a:ext cx="1271016" cy="1243584"/>
            <a:chOff x="12489820" y="4809743"/>
            <a:chExt cx="1271016" cy="1243584"/>
          </a:xfrm>
        </p:grpSpPr>
        <p:sp>
          <p:nvSpPr>
            <p:cNvPr id="72" name="TextBox 71"/>
            <p:cNvSpPr txBox="1"/>
            <p:nvPr/>
          </p:nvSpPr>
          <p:spPr>
            <a:xfrm>
              <a:off x="12800716" y="4809743"/>
              <a:ext cx="333756" cy="228600"/>
            </a:xfrm>
            <a:prstGeom prst="rect">
              <a:avLst/>
            </a:prstGeom>
            <a:noFill/>
          </p:spPr>
          <p:txBody>
            <a:bodyPr wrap="none" lIns="0" tIns="0" rIns="0" bIns="0" anchor="ctr">
              <a:spAutoFit/>
            </a:bodyPr>
            <a:lstStyle/>
            <a:p>
              <a:pPr algn="ctr">
                <a:defRPr sz="1500" b="1">
                  <a:solidFill>
                    <a:srgbClr val="754B87"/>
                  </a:solidFill>
                  <a:latin typeface="Arial"/>
                </a:defRPr>
              </a:pPr>
              <a:r>
                <a:t>1</a:t>
              </a:r>
            </a:p>
          </p:txBody>
        </p:sp>
        <p:sp>
          <p:nvSpPr>
            <p:cNvPr id="73" name="TextBox 72"/>
            <p:cNvSpPr txBox="1"/>
            <p:nvPr/>
          </p:nvSpPr>
          <p:spPr>
            <a:xfrm>
              <a:off x="13134472" y="4809743"/>
              <a:ext cx="333756" cy="228600"/>
            </a:xfrm>
            <a:prstGeom prst="rect">
              <a:avLst/>
            </a:prstGeom>
            <a:noFill/>
          </p:spPr>
          <p:txBody>
            <a:bodyPr wrap="none" lIns="0" tIns="0" rIns="0" bIns="0" anchor="ctr">
              <a:spAutoFit/>
            </a:bodyPr>
            <a:lstStyle/>
            <a:p>
              <a:pPr algn="ctr">
                <a:defRPr sz="1500" b="1">
                  <a:solidFill>
                    <a:srgbClr val="754B87"/>
                  </a:solidFill>
                  <a:latin typeface="Arial"/>
                </a:defRPr>
              </a:pPr>
              <a:r>
                <a:t>7</a:t>
              </a:r>
            </a:p>
          </p:txBody>
        </p:sp>
        <p:sp>
          <p:nvSpPr>
            <p:cNvPr id="74" name="TextBox 73"/>
            <p:cNvSpPr txBox="1"/>
            <p:nvPr/>
          </p:nvSpPr>
          <p:spPr>
            <a:xfrm>
              <a:off x="13495660" y="5065775"/>
              <a:ext cx="265176" cy="333756"/>
            </a:xfrm>
            <a:prstGeom prst="rect">
              <a:avLst/>
            </a:prstGeom>
            <a:noFill/>
          </p:spPr>
          <p:txBody>
            <a:bodyPr wrap="none" lIns="0" tIns="0" rIns="0" bIns="0" anchor="ctr">
              <a:spAutoFit/>
            </a:bodyPr>
            <a:lstStyle/>
            <a:p>
              <a:pPr algn="ctr">
                <a:defRPr sz="1500" b="1">
                  <a:solidFill>
                    <a:srgbClr val="754B87"/>
                  </a:solidFill>
                  <a:latin typeface="Arial"/>
                </a:defRPr>
              </a:pPr>
              <a:r>
                <a:t>4</a:t>
              </a:r>
            </a:p>
          </p:txBody>
        </p:sp>
        <p:sp>
          <p:nvSpPr>
            <p:cNvPr id="75" name="TextBox 74"/>
            <p:cNvSpPr txBox="1"/>
            <p:nvPr/>
          </p:nvSpPr>
          <p:spPr>
            <a:xfrm>
              <a:off x="13495660" y="5399531"/>
              <a:ext cx="265176" cy="333756"/>
            </a:xfrm>
            <a:prstGeom prst="rect">
              <a:avLst/>
            </a:prstGeom>
            <a:noFill/>
          </p:spPr>
          <p:txBody>
            <a:bodyPr wrap="none" lIns="0" tIns="0" rIns="0" bIns="0" anchor="ctr">
              <a:spAutoFit/>
            </a:bodyPr>
            <a:lstStyle/>
            <a:p>
              <a:pPr algn="ctr">
                <a:defRPr sz="1500" b="1">
                  <a:solidFill>
                    <a:srgbClr val="754B87"/>
                  </a:solidFill>
                  <a:latin typeface="Arial"/>
                </a:defRPr>
              </a:pPr>
              <a:r>
                <a:t>0</a:t>
              </a:r>
            </a:p>
          </p:txBody>
        </p:sp>
        <p:sp>
          <p:nvSpPr>
            <p:cNvPr id="76" name="Rectangle 75"/>
            <p:cNvSpPr/>
            <p:nvPr/>
          </p:nvSpPr>
          <p:spPr>
            <a:xfrm>
              <a:off x="12800716"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7" name="Connector 76"/>
            <p:cNvCxnSpPr/>
            <p:nvPr/>
          </p:nvCxnSpPr>
          <p:spPr>
            <a:xfrm flipV="1">
              <a:off x="12800716"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12814066" y="5072451"/>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79" name="TextBox 78"/>
            <p:cNvSpPr txBox="1"/>
            <p:nvPr/>
          </p:nvSpPr>
          <p:spPr>
            <a:xfrm>
              <a:off x="12960918" y="5229316"/>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4</a:t>
              </a:r>
            </a:p>
          </p:txBody>
        </p:sp>
        <p:sp>
          <p:nvSpPr>
            <p:cNvPr id="80" name="Rectangle 79"/>
            <p:cNvSpPr/>
            <p:nvPr/>
          </p:nvSpPr>
          <p:spPr>
            <a:xfrm>
              <a:off x="13134472"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1" name="Connector 80"/>
            <p:cNvCxnSpPr/>
            <p:nvPr/>
          </p:nvCxnSpPr>
          <p:spPr>
            <a:xfrm flipV="1">
              <a:off x="13134472"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3147822" y="5072451"/>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2</a:t>
              </a:r>
            </a:p>
          </p:txBody>
        </p:sp>
        <p:sp>
          <p:nvSpPr>
            <p:cNvPr id="83" name="TextBox 82"/>
            <p:cNvSpPr txBox="1"/>
            <p:nvPr/>
          </p:nvSpPr>
          <p:spPr>
            <a:xfrm>
              <a:off x="13294674" y="5229316"/>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8</a:t>
              </a:r>
            </a:p>
          </p:txBody>
        </p:sp>
        <p:sp>
          <p:nvSpPr>
            <p:cNvPr id="84" name="Rectangle 83"/>
            <p:cNvSpPr/>
            <p:nvPr/>
          </p:nvSpPr>
          <p:spPr>
            <a:xfrm>
              <a:off x="12800716"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5" name="Connector 84"/>
            <p:cNvCxnSpPr/>
            <p:nvPr/>
          </p:nvCxnSpPr>
          <p:spPr>
            <a:xfrm flipV="1">
              <a:off x="12800716"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2814066" y="5406207"/>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87" name="TextBox 86"/>
            <p:cNvSpPr txBox="1"/>
            <p:nvPr/>
          </p:nvSpPr>
          <p:spPr>
            <a:xfrm>
              <a:off x="12960918" y="5563072"/>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88" name="Rectangle 87"/>
            <p:cNvSpPr/>
            <p:nvPr/>
          </p:nvSpPr>
          <p:spPr>
            <a:xfrm>
              <a:off x="13134472"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9" name="Connector 88"/>
            <p:cNvCxnSpPr/>
            <p:nvPr/>
          </p:nvCxnSpPr>
          <p:spPr>
            <a:xfrm flipV="1">
              <a:off x="13134472"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13147822" y="5406207"/>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91" name="TextBox 90"/>
            <p:cNvSpPr txBox="1"/>
            <p:nvPr/>
          </p:nvSpPr>
          <p:spPr>
            <a:xfrm>
              <a:off x="13294674" y="5563072"/>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cxnSp>
          <p:nvCxnSpPr>
            <p:cNvPr id="92" name="Connector 91"/>
            <p:cNvCxnSpPr/>
            <p:nvPr/>
          </p:nvCxnSpPr>
          <p:spPr>
            <a:xfrm>
              <a:off x="12800716"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3134472"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3468228"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12800716" y="5065775"/>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12800716" y="5399531"/>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12800716" y="5733288"/>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13134472" y="5815583"/>
              <a:ext cx="333756" cy="237744"/>
            </a:xfrm>
            <a:prstGeom prst="rect">
              <a:avLst/>
            </a:prstGeom>
            <a:noFill/>
          </p:spPr>
          <p:txBody>
            <a:bodyPr wrap="none" lIns="0" tIns="0" rIns="0" bIns="0" anchor="ctr">
              <a:spAutoFit/>
            </a:bodyPr>
            <a:lstStyle/>
            <a:p>
              <a:pPr algn="ctr">
                <a:defRPr sz="1600" b="1">
                  <a:solidFill>
                    <a:srgbClr val="754B87"/>
                  </a:solidFill>
                  <a:latin typeface="Arial"/>
                </a:defRPr>
              </a:pPr>
              <a:r>
                <a:t>0</a:t>
              </a:r>
            </a:p>
          </p:txBody>
        </p:sp>
        <p:sp>
          <p:nvSpPr>
            <p:cNvPr id="99" name="TextBox 98"/>
            <p:cNvSpPr txBox="1"/>
            <p:nvPr/>
          </p:nvSpPr>
          <p:spPr>
            <a:xfrm>
              <a:off x="12800716" y="5815583"/>
              <a:ext cx="333756" cy="237744"/>
            </a:xfrm>
            <a:prstGeom prst="rect">
              <a:avLst/>
            </a:prstGeom>
            <a:noFill/>
          </p:spPr>
          <p:txBody>
            <a:bodyPr wrap="none" lIns="0" tIns="0" rIns="0" bIns="0" anchor="ctr">
              <a:spAutoFit/>
            </a:bodyPr>
            <a:lstStyle/>
            <a:p>
              <a:pPr algn="ctr">
                <a:defRPr sz="1600" b="1">
                  <a:solidFill>
                    <a:srgbClr val="754B87"/>
                  </a:solidFill>
                  <a:latin typeface="Arial"/>
                </a:defRPr>
              </a:pPr>
              <a:r>
                <a:t>8</a:t>
              </a:r>
            </a:p>
          </p:txBody>
        </p:sp>
        <p:sp>
          <p:nvSpPr>
            <p:cNvPr id="100" name="TextBox 99"/>
            <p:cNvSpPr txBox="1"/>
            <p:nvPr/>
          </p:nvSpPr>
          <p:spPr>
            <a:xfrm>
              <a:off x="12489820" y="5399531"/>
              <a:ext cx="265176" cy="333756"/>
            </a:xfrm>
            <a:prstGeom prst="rect">
              <a:avLst/>
            </a:prstGeom>
            <a:noFill/>
          </p:spPr>
          <p:txBody>
            <a:bodyPr wrap="none" lIns="0" tIns="0" rIns="0" bIns="0" anchor="ctr">
              <a:spAutoFit/>
            </a:bodyPr>
            <a:lstStyle/>
            <a:p>
              <a:pPr algn="ctr">
                <a:defRPr sz="1600" b="1">
                  <a:solidFill>
                    <a:srgbClr val="754B87"/>
                  </a:solidFill>
                  <a:latin typeface="Arial"/>
                </a:defRPr>
              </a:pPr>
              <a:r>
                <a:t>6</a:t>
              </a:r>
            </a:p>
          </p:txBody>
        </p:sp>
        <p:sp>
          <p:nvSpPr>
            <p:cNvPr id="101" name="TextBox 100"/>
            <p:cNvSpPr txBox="1"/>
            <p:nvPr/>
          </p:nvSpPr>
          <p:spPr>
            <a:xfrm>
              <a:off x="12489820" y="5065775"/>
              <a:ext cx="265176" cy="333756"/>
            </a:xfrm>
            <a:prstGeom prst="rect">
              <a:avLst/>
            </a:prstGeom>
            <a:noFill/>
          </p:spPr>
          <p:txBody>
            <a:bodyPr wrap="none" lIns="0" tIns="0" rIns="0" bIns="0" anchor="ctr">
              <a:spAutoFit/>
            </a:bodyPr>
            <a:lstStyle/>
            <a:p>
              <a:pPr algn="ctr">
                <a:defRPr sz="1600" b="1">
                  <a:solidFill>
                    <a:srgbClr val="8193A0"/>
                  </a:solidFill>
                  <a:latin typeface="Arial"/>
                </a:defRPr>
              </a:pPr>
              <a:r>
                <a:t>0</a:t>
              </a:r>
            </a:p>
          </p:txBody>
        </p:sp>
      </p:grpSp>
      <p:sp>
        <p:nvSpPr>
          <p:cNvPr id="102" name="Rectangle 101"/>
          <p:cNvSpPr/>
          <p:nvPr/>
        </p:nvSpPr>
        <p:spPr>
          <a:xfrm>
            <a:off x="384048" y="60624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3" name="TextBox 102"/>
          <p:cNvSpPr txBox="1"/>
          <p:nvPr/>
        </p:nvSpPr>
        <p:spPr>
          <a:xfrm>
            <a:off x="448056" y="61539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104" name="Rectangle 103"/>
          <p:cNvSpPr/>
          <p:nvPr/>
        </p:nvSpPr>
        <p:spPr>
          <a:xfrm>
            <a:off x="2487168"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5" name="TextBox 104"/>
          <p:cNvSpPr txBox="1"/>
          <p:nvPr/>
        </p:nvSpPr>
        <p:spPr>
          <a:xfrm>
            <a:off x="2551175"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80 ÷ 4 = 20.</a:t>
            </a:r>
          </a:p>
          <a:p>
            <a:pPr>
              <a:lnSpc>
                <a:spcPts val="1836"/>
              </a:lnSpc>
              <a:spcBef>
                <a:spcPts val="0"/>
              </a:spcBef>
              <a:spcAft>
                <a:spcPts val="0"/>
              </a:spcAft>
              <a:defRPr sz="1700" b="0">
                <a:solidFill>
                  <a:srgbClr val="182B3A"/>
                </a:solidFill>
                <a:latin typeface="Arial"/>
              </a:defRPr>
            </a:pPr>
            <a:r>
              <a:t>21 is close to 20.</a:t>
            </a:r>
          </a:p>
        </p:txBody>
      </p:sp>
      <p:sp>
        <p:nvSpPr>
          <p:cNvPr id="106" name="Rectangle 105"/>
          <p:cNvSpPr/>
          <p:nvPr/>
        </p:nvSpPr>
        <p:spPr>
          <a:xfrm>
            <a:off x="6406895"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7" name="TextBox 106"/>
          <p:cNvSpPr txBox="1"/>
          <p:nvPr/>
        </p:nvSpPr>
        <p:spPr>
          <a:xfrm>
            <a:off x="6470904"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120 ÷ 6 = 20.</a:t>
            </a:r>
          </a:p>
          <a:p>
            <a:pPr>
              <a:lnSpc>
                <a:spcPts val="1836"/>
              </a:lnSpc>
              <a:spcBef>
                <a:spcPts val="0"/>
              </a:spcBef>
              <a:spcAft>
                <a:spcPts val="0"/>
              </a:spcAft>
              <a:defRPr sz="1700" b="0">
                <a:solidFill>
                  <a:srgbClr val="182B3A"/>
                </a:solidFill>
                <a:latin typeface="Arial"/>
              </a:defRPr>
            </a:pPr>
            <a:r>
              <a:t>21 full packs is reasonable.</a:t>
            </a:r>
          </a:p>
        </p:txBody>
      </p:sp>
      <p:sp>
        <p:nvSpPr>
          <p:cNvPr id="108" name="Rectangle 107"/>
          <p:cNvSpPr/>
          <p:nvPr/>
        </p:nvSpPr>
        <p:spPr>
          <a:xfrm>
            <a:off x="10326624"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9" name="TextBox 108"/>
          <p:cNvSpPr txBox="1"/>
          <p:nvPr/>
        </p:nvSpPr>
        <p:spPr>
          <a:xfrm>
            <a:off x="10390632"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150 ÷ 10 ≈ 15; 15 × 40 = 600.</a:t>
            </a:r>
          </a:p>
          <a:p>
            <a:pPr>
              <a:lnSpc>
                <a:spcPts val="1836"/>
              </a:lnSpc>
              <a:spcBef>
                <a:spcPts val="0"/>
              </a:spcBef>
              <a:spcAft>
                <a:spcPts val="0"/>
              </a:spcAft>
              <a:defRPr sz="1700" b="0">
                <a:solidFill>
                  <a:srgbClr val="182B3A"/>
                </a:solidFill>
                <a:latin typeface="Arial"/>
              </a:defRPr>
            </a:pPr>
            <a:r>
              <a:t>£680 is reasonable: more buses are needed.</a:t>
            </a:r>
          </a:p>
        </p:txBody>
      </p:sp>
      <p:sp>
        <p:nvSpPr>
          <p:cNvPr id="110" name="Rectangle 109"/>
          <p:cNvSpPr/>
          <p:nvPr/>
        </p:nvSpPr>
        <p:spPr>
          <a:xfrm>
            <a:off x="384048" y="7022592"/>
            <a:ext cx="2103120" cy="6400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1" name="TextBox 110"/>
          <p:cNvSpPr txBox="1"/>
          <p:nvPr/>
        </p:nvSpPr>
        <p:spPr>
          <a:xfrm>
            <a:off x="448056" y="7114031"/>
            <a:ext cx="1975103" cy="45719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112" name="Rectangle 111"/>
          <p:cNvSpPr/>
          <p:nvPr/>
        </p:nvSpPr>
        <p:spPr>
          <a:xfrm>
            <a:off x="2487168"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3" name="TextBox 112"/>
          <p:cNvSpPr txBox="1"/>
          <p:nvPr/>
        </p:nvSpPr>
        <p:spPr>
          <a:xfrm>
            <a:off x="2551175"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tins per box</a:t>
            </a:r>
          </a:p>
        </p:txBody>
      </p:sp>
      <p:sp>
        <p:nvSpPr>
          <p:cNvPr id="114" name="Rectangle 113"/>
          <p:cNvSpPr/>
          <p:nvPr/>
        </p:nvSpPr>
        <p:spPr>
          <a:xfrm>
            <a:off x="6406895"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5" name="TextBox 114"/>
          <p:cNvSpPr txBox="1"/>
          <p:nvPr/>
        </p:nvSpPr>
        <p:spPr>
          <a:xfrm>
            <a:off x="6470904"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full packs; 4 biscuits left</a:t>
            </a:r>
          </a:p>
        </p:txBody>
      </p:sp>
      <p:sp>
        <p:nvSpPr>
          <p:cNvPr id="116" name="Rectangle 115"/>
          <p:cNvSpPr/>
          <p:nvPr/>
        </p:nvSpPr>
        <p:spPr>
          <a:xfrm>
            <a:off x="10326624"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7" name="TextBox 116"/>
          <p:cNvSpPr txBox="1"/>
          <p:nvPr/>
        </p:nvSpPr>
        <p:spPr>
          <a:xfrm>
            <a:off x="10390632"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£680 to hire 17 minibuses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42 packs each contain 15 pens. How many pens are there?</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215 apples go into bags of 6. How many completely full bags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painter charges £18 per hour for 32 hours, plus £120 for paint. Find the total bill.</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168 students form 7 equal groups. How many students are in each group?</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worker earns £16 per hour for 27 hours. What are their total wages?</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157 passengers need vans with 8 passenger seats each. Hire costs £45 per van. Find the total hire cost.</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Multiplication and Division Problems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12 boxes hold 8 pens each. How many pens?</a:t>
            </a:r>
          </a:p>
        </p:txBody>
      </p:sp>
      <p:sp>
        <p:nvSpPr>
          <p:cNvPr id="10" name="TextBox 9"/>
          <p:cNvSpPr txBox="1"/>
          <p:nvPr/>
        </p:nvSpPr>
        <p:spPr>
          <a:xfrm>
            <a:off x="612647" y="2551176"/>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12 + 8 = 20</a:t>
            </a:r>
          </a:p>
        </p:txBody>
      </p:sp>
      <p:sp>
        <p:nvSpPr>
          <p:cNvPr id="11" name="TextBox 10"/>
          <p:cNvSpPr txBox="1"/>
          <p:nvPr/>
        </p:nvSpPr>
        <p:spPr>
          <a:xfrm>
            <a:off x="612647" y="2852928"/>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20 pens</a:t>
            </a:r>
          </a:p>
        </p:txBody>
      </p:sp>
      <p:sp>
        <p:nvSpPr>
          <p:cNvPr id="12" name="Rectangle 11"/>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75488" y="3758184"/>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96 stickers are shared equally among 4 pupils. How many each?</a:t>
            </a:r>
          </a:p>
        </p:txBody>
      </p:sp>
      <p:cxnSp>
        <p:nvCxnSpPr>
          <p:cNvPr id="14" name="Connector 13"/>
          <p:cNvCxnSpPr/>
          <p:nvPr/>
        </p:nvCxnSpPr>
        <p:spPr>
          <a:xfrm>
            <a:off x="904341" y="4877409"/>
            <a:ext cx="83119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04341" y="4877409"/>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4897983"/>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4</a:t>
            </a:r>
          </a:p>
        </p:txBody>
      </p:sp>
      <p:sp>
        <p:nvSpPr>
          <p:cNvPr id="17" name="TextBox 16"/>
          <p:cNvSpPr txBox="1"/>
          <p:nvPr/>
        </p:nvSpPr>
        <p:spPr>
          <a:xfrm>
            <a:off x="953719"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9</a:t>
            </a:r>
          </a:p>
        </p:txBody>
      </p:sp>
      <p:sp>
        <p:nvSpPr>
          <p:cNvPr id="18" name="TextBox 17"/>
          <p:cNvSpPr txBox="1"/>
          <p:nvPr/>
        </p:nvSpPr>
        <p:spPr>
          <a:xfrm>
            <a:off x="953719"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19" name="TextBox 18"/>
          <p:cNvSpPr txBox="1"/>
          <p:nvPr/>
        </p:nvSpPr>
        <p:spPr>
          <a:xfrm>
            <a:off x="1332280"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20" name="TextBox 19"/>
          <p:cNvSpPr txBox="1"/>
          <p:nvPr/>
        </p:nvSpPr>
        <p:spPr>
          <a:xfrm>
            <a:off x="1332280"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21" name="TextBox 20"/>
          <p:cNvSpPr txBox="1"/>
          <p:nvPr/>
        </p:nvSpPr>
        <p:spPr>
          <a:xfrm>
            <a:off x="1793138" y="4605832"/>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2</a:t>
            </a:r>
          </a:p>
        </p:txBody>
      </p:sp>
      <p:sp>
        <p:nvSpPr>
          <p:cNvPr id="22" name="TextBox 21"/>
          <p:cNvSpPr txBox="1"/>
          <p:nvPr/>
        </p:nvSpPr>
        <p:spPr>
          <a:xfrm>
            <a:off x="594360" y="5340096"/>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21 stickers each</a:t>
            </a:r>
          </a:p>
        </p:txBody>
      </p:sp>
      <p:sp>
        <p:nvSpPr>
          <p:cNvPr id="23" name="Rectangle 22"/>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75488" y="5760720"/>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Cut 3 m of ribbon into 6 equal pieces. Find each length in cm.</a:t>
            </a:r>
          </a:p>
        </p:txBody>
      </p:sp>
      <p:sp>
        <p:nvSpPr>
          <p:cNvPr id="25" name="TextBox 24"/>
          <p:cNvSpPr txBox="1"/>
          <p:nvPr/>
        </p:nvSpPr>
        <p:spPr>
          <a:xfrm>
            <a:off x="612647" y="6556248"/>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3 m = 30 cm</a:t>
            </a:r>
          </a:p>
        </p:txBody>
      </p:sp>
      <p:sp>
        <p:nvSpPr>
          <p:cNvPr id="26" name="TextBox 25"/>
          <p:cNvSpPr txBox="1"/>
          <p:nvPr/>
        </p:nvSpPr>
        <p:spPr>
          <a:xfrm>
            <a:off x="612647" y="6858000"/>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30 ÷ 6 = 5</a:t>
            </a:r>
          </a:p>
        </p:txBody>
      </p:sp>
      <p:sp>
        <p:nvSpPr>
          <p:cNvPr id="27" name="TextBox 26"/>
          <p:cNvSpPr txBox="1"/>
          <p:nvPr/>
        </p:nvSpPr>
        <p:spPr>
          <a:xfrm>
            <a:off x="612647" y="7159752"/>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5 cm</a:t>
            </a:r>
          </a:p>
        </p:txBody>
      </p:sp>
      <p:sp>
        <p:nvSpPr>
          <p:cNvPr id="28" name="Rectangle 27"/>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30" name="Rectangle 29"/>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5096256" y="1755648"/>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Pack 130 eggs in boxes of 6. How many full boxes?</a:t>
            </a:r>
          </a:p>
        </p:txBody>
      </p:sp>
      <p:cxnSp>
        <p:nvCxnSpPr>
          <p:cNvPr id="32" name="Connector 31"/>
          <p:cNvCxnSpPr/>
          <p:nvPr/>
        </p:nvCxnSpPr>
        <p:spPr>
          <a:xfrm>
            <a:off x="5525109" y="2874873"/>
            <a:ext cx="120975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525109" y="2874873"/>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187696" y="2895447"/>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6</a:t>
            </a:r>
          </a:p>
        </p:txBody>
      </p:sp>
      <p:sp>
        <p:nvSpPr>
          <p:cNvPr id="35" name="TextBox 34"/>
          <p:cNvSpPr txBox="1"/>
          <p:nvPr/>
        </p:nvSpPr>
        <p:spPr>
          <a:xfrm>
            <a:off x="5574487"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36" name="TextBox 35"/>
          <p:cNvSpPr txBox="1"/>
          <p:nvPr/>
        </p:nvSpPr>
        <p:spPr>
          <a:xfrm>
            <a:off x="5953048"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3</a:t>
            </a:r>
          </a:p>
        </p:txBody>
      </p:sp>
      <p:sp>
        <p:nvSpPr>
          <p:cNvPr id="37" name="TextBox 36"/>
          <p:cNvSpPr txBox="1"/>
          <p:nvPr/>
        </p:nvSpPr>
        <p:spPr>
          <a:xfrm>
            <a:off x="5953048" y="2578608"/>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38" name="TextBox 37"/>
          <p:cNvSpPr txBox="1"/>
          <p:nvPr/>
        </p:nvSpPr>
        <p:spPr>
          <a:xfrm>
            <a:off x="5903671" y="2878988"/>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1</a:t>
            </a:r>
          </a:p>
        </p:txBody>
      </p:sp>
      <p:sp>
        <p:nvSpPr>
          <p:cNvPr id="39" name="TextBox 38"/>
          <p:cNvSpPr txBox="1"/>
          <p:nvPr/>
        </p:nvSpPr>
        <p:spPr>
          <a:xfrm>
            <a:off x="6331610"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0</a:t>
            </a:r>
          </a:p>
        </p:txBody>
      </p:sp>
      <p:sp>
        <p:nvSpPr>
          <p:cNvPr id="40" name="TextBox 39"/>
          <p:cNvSpPr txBox="1"/>
          <p:nvPr/>
        </p:nvSpPr>
        <p:spPr>
          <a:xfrm>
            <a:off x="6331610" y="2578608"/>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41" name="TextBox 40"/>
          <p:cNvSpPr txBox="1"/>
          <p:nvPr/>
        </p:nvSpPr>
        <p:spPr>
          <a:xfrm>
            <a:off x="6282232" y="2878988"/>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1</a:t>
            </a:r>
          </a:p>
        </p:txBody>
      </p:sp>
      <p:sp>
        <p:nvSpPr>
          <p:cNvPr id="42" name="TextBox 41"/>
          <p:cNvSpPr txBox="1"/>
          <p:nvPr/>
        </p:nvSpPr>
        <p:spPr>
          <a:xfrm>
            <a:off x="6792468" y="2603296"/>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4</a:t>
            </a:r>
          </a:p>
        </p:txBody>
      </p:sp>
      <p:sp>
        <p:nvSpPr>
          <p:cNvPr id="43" name="TextBox 42"/>
          <p:cNvSpPr txBox="1"/>
          <p:nvPr/>
        </p:nvSpPr>
        <p:spPr>
          <a:xfrm>
            <a:off x="5215128" y="3337560"/>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22 full boxes</a:t>
            </a:r>
          </a:p>
        </p:txBody>
      </p:sp>
      <p:sp>
        <p:nvSpPr>
          <p:cNvPr id="44" name="Rectangle 4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5096256" y="3758184"/>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32 people need cars with 5 seats each. How many cars?</a:t>
            </a:r>
          </a:p>
        </p:txBody>
      </p:sp>
      <p:cxnSp>
        <p:nvCxnSpPr>
          <p:cNvPr id="46" name="Connector 45"/>
          <p:cNvCxnSpPr/>
          <p:nvPr/>
        </p:nvCxnSpPr>
        <p:spPr>
          <a:xfrm>
            <a:off x="5525109" y="4877409"/>
            <a:ext cx="83119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525109" y="4877409"/>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187696" y="4897983"/>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5</a:t>
            </a:r>
          </a:p>
        </p:txBody>
      </p:sp>
      <p:sp>
        <p:nvSpPr>
          <p:cNvPr id="49" name="TextBox 48"/>
          <p:cNvSpPr txBox="1"/>
          <p:nvPr/>
        </p:nvSpPr>
        <p:spPr>
          <a:xfrm>
            <a:off x="5574487"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3</a:t>
            </a:r>
          </a:p>
        </p:txBody>
      </p:sp>
      <p:sp>
        <p:nvSpPr>
          <p:cNvPr id="50" name="TextBox 49"/>
          <p:cNvSpPr txBox="1"/>
          <p:nvPr/>
        </p:nvSpPr>
        <p:spPr>
          <a:xfrm>
            <a:off x="5953048"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51" name="TextBox 50"/>
          <p:cNvSpPr txBox="1"/>
          <p:nvPr/>
        </p:nvSpPr>
        <p:spPr>
          <a:xfrm>
            <a:off x="5953048"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52" name="TextBox 51"/>
          <p:cNvSpPr txBox="1"/>
          <p:nvPr/>
        </p:nvSpPr>
        <p:spPr>
          <a:xfrm>
            <a:off x="5903671" y="4881524"/>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3</a:t>
            </a:r>
          </a:p>
        </p:txBody>
      </p:sp>
      <p:sp>
        <p:nvSpPr>
          <p:cNvPr id="53" name="TextBox 52"/>
          <p:cNvSpPr txBox="1"/>
          <p:nvPr/>
        </p:nvSpPr>
        <p:spPr>
          <a:xfrm>
            <a:off x="6413906" y="4605832"/>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2</a:t>
            </a:r>
          </a:p>
        </p:txBody>
      </p:sp>
      <p:sp>
        <p:nvSpPr>
          <p:cNvPr id="54" name="TextBox 53"/>
          <p:cNvSpPr txBox="1"/>
          <p:nvPr/>
        </p:nvSpPr>
        <p:spPr>
          <a:xfrm>
            <a:off x="5215128" y="5340096"/>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6 cars</a:t>
            </a:r>
          </a:p>
        </p:txBody>
      </p:sp>
      <p:sp>
        <p:nvSpPr>
          <p:cNvPr id="55" name="Rectangle 5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5096256" y="5760720"/>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Share a £132 bill equally among 8 friends. How much each?</a:t>
            </a:r>
          </a:p>
        </p:txBody>
      </p:sp>
      <p:cxnSp>
        <p:nvCxnSpPr>
          <p:cNvPr id="57" name="Connector 56"/>
          <p:cNvCxnSpPr/>
          <p:nvPr/>
        </p:nvCxnSpPr>
        <p:spPr>
          <a:xfrm>
            <a:off x="5525109" y="6879945"/>
            <a:ext cx="120975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525109" y="6879945"/>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5187696" y="6900519"/>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8</a:t>
            </a:r>
          </a:p>
        </p:txBody>
      </p:sp>
      <p:sp>
        <p:nvSpPr>
          <p:cNvPr id="60" name="TextBox 59"/>
          <p:cNvSpPr txBox="1"/>
          <p:nvPr/>
        </p:nvSpPr>
        <p:spPr>
          <a:xfrm>
            <a:off x="5574487"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61" name="TextBox 60"/>
          <p:cNvSpPr txBox="1"/>
          <p:nvPr/>
        </p:nvSpPr>
        <p:spPr>
          <a:xfrm>
            <a:off x="5953048"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3</a:t>
            </a:r>
          </a:p>
        </p:txBody>
      </p:sp>
      <p:sp>
        <p:nvSpPr>
          <p:cNvPr id="62" name="TextBox 61"/>
          <p:cNvSpPr txBox="1"/>
          <p:nvPr/>
        </p:nvSpPr>
        <p:spPr>
          <a:xfrm>
            <a:off x="5953048" y="6583679"/>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63" name="TextBox 62"/>
          <p:cNvSpPr txBox="1"/>
          <p:nvPr/>
        </p:nvSpPr>
        <p:spPr>
          <a:xfrm>
            <a:off x="5903671" y="6884060"/>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1</a:t>
            </a:r>
          </a:p>
        </p:txBody>
      </p:sp>
      <p:sp>
        <p:nvSpPr>
          <p:cNvPr id="64" name="TextBox 63"/>
          <p:cNvSpPr txBox="1"/>
          <p:nvPr/>
        </p:nvSpPr>
        <p:spPr>
          <a:xfrm>
            <a:off x="6331610"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65" name="TextBox 64"/>
          <p:cNvSpPr txBox="1"/>
          <p:nvPr/>
        </p:nvSpPr>
        <p:spPr>
          <a:xfrm>
            <a:off x="6331610" y="6583679"/>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66" name="TextBox 65"/>
          <p:cNvSpPr txBox="1"/>
          <p:nvPr/>
        </p:nvSpPr>
        <p:spPr>
          <a:xfrm>
            <a:off x="6282232" y="6884060"/>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5</a:t>
            </a:r>
          </a:p>
        </p:txBody>
      </p:sp>
      <p:sp>
        <p:nvSpPr>
          <p:cNvPr id="67" name="TextBox 66"/>
          <p:cNvSpPr txBox="1"/>
          <p:nvPr/>
        </p:nvSpPr>
        <p:spPr>
          <a:xfrm>
            <a:off x="6792468" y="6608368"/>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4</a:t>
            </a:r>
          </a:p>
        </p:txBody>
      </p:sp>
      <p:sp>
        <p:nvSpPr>
          <p:cNvPr id="68" name="TextBox 67"/>
          <p:cNvSpPr txBox="1"/>
          <p:nvPr/>
        </p:nvSpPr>
        <p:spPr>
          <a:xfrm>
            <a:off x="5215128" y="7342631"/>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£16.04 each</a:t>
            </a:r>
          </a:p>
        </p:txBody>
      </p:sp>
      <p:sp>
        <p:nvSpPr>
          <p:cNvPr id="69" name="Rectangle 68"/>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TextBox 69"/>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71" name="Rectangle 70"/>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TextBox 71"/>
          <p:cNvSpPr txBox="1"/>
          <p:nvPr/>
        </p:nvSpPr>
        <p:spPr>
          <a:xfrm>
            <a:off x="9717024" y="1755648"/>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94 people. Tables seat 6 and cost £12 each. Find the cost.</a:t>
            </a:r>
          </a:p>
        </p:txBody>
      </p:sp>
      <p:cxnSp>
        <p:nvCxnSpPr>
          <p:cNvPr id="73" name="Connector 72"/>
          <p:cNvCxnSpPr/>
          <p:nvPr/>
        </p:nvCxnSpPr>
        <p:spPr>
          <a:xfrm>
            <a:off x="10055626" y="2860974"/>
            <a:ext cx="76654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0055626" y="2860974"/>
            <a:ext cx="0" cy="295991"/>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9744456" y="2879948"/>
            <a:ext cx="273222" cy="265633"/>
          </a:xfrm>
          <a:prstGeom prst="rect">
            <a:avLst/>
          </a:prstGeom>
          <a:noFill/>
        </p:spPr>
        <p:txBody>
          <a:bodyPr wrap="none" lIns="0" rIns="0" tIns="0" bIns="0">
            <a:spAutoFit/>
          </a:bodyPr>
          <a:lstStyle/>
          <a:p>
            <a:pPr algn="r">
              <a:lnSpc>
                <a:spcPts val="2045"/>
              </a:lnSpc>
              <a:spcBef>
                <a:spcPts val="0"/>
              </a:spcBef>
              <a:spcAft>
                <a:spcPts val="0"/>
              </a:spcAft>
              <a:defRPr sz="1825" b="0">
                <a:solidFill>
                  <a:srgbClr val="182B3A"/>
                </a:solidFill>
                <a:latin typeface="Arial"/>
              </a:defRPr>
            </a:pPr>
            <a:r>
              <a:t>6</a:t>
            </a:r>
          </a:p>
        </p:txBody>
      </p:sp>
      <p:sp>
        <p:nvSpPr>
          <p:cNvPr id="76" name="TextBox 75"/>
          <p:cNvSpPr txBox="1"/>
          <p:nvPr/>
        </p:nvSpPr>
        <p:spPr>
          <a:xfrm>
            <a:off x="10101163" y="2887538"/>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9</a:t>
            </a:r>
          </a:p>
        </p:txBody>
      </p:sp>
      <p:sp>
        <p:nvSpPr>
          <p:cNvPr id="77" name="TextBox 76"/>
          <p:cNvSpPr txBox="1"/>
          <p:nvPr/>
        </p:nvSpPr>
        <p:spPr>
          <a:xfrm>
            <a:off x="10101163" y="2587752"/>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1</a:t>
            </a:r>
          </a:p>
        </p:txBody>
      </p:sp>
      <p:sp>
        <p:nvSpPr>
          <p:cNvPr id="78" name="TextBox 77"/>
          <p:cNvSpPr txBox="1"/>
          <p:nvPr/>
        </p:nvSpPr>
        <p:spPr>
          <a:xfrm>
            <a:off x="10450281" y="2887538"/>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4</a:t>
            </a:r>
          </a:p>
        </p:txBody>
      </p:sp>
      <p:sp>
        <p:nvSpPr>
          <p:cNvPr id="79" name="TextBox 78"/>
          <p:cNvSpPr txBox="1"/>
          <p:nvPr/>
        </p:nvSpPr>
        <p:spPr>
          <a:xfrm>
            <a:off x="10450281" y="2587752"/>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5</a:t>
            </a:r>
          </a:p>
        </p:txBody>
      </p:sp>
      <p:sp>
        <p:nvSpPr>
          <p:cNvPr id="80" name="TextBox 79"/>
          <p:cNvSpPr txBox="1"/>
          <p:nvPr/>
        </p:nvSpPr>
        <p:spPr>
          <a:xfrm>
            <a:off x="10404744" y="2864769"/>
            <a:ext cx="136611" cy="151790"/>
          </a:xfrm>
          <a:prstGeom prst="rect">
            <a:avLst/>
          </a:prstGeom>
          <a:noFill/>
        </p:spPr>
        <p:txBody>
          <a:bodyPr wrap="none" lIns="0" rIns="0" tIns="0" bIns="0">
            <a:spAutoFit/>
          </a:bodyPr>
          <a:lstStyle/>
          <a:p>
            <a:pPr algn="ctr">
              <a:lnSpc>
                <a:spcPts val="1115"/>
              </a:lnSpc>
              <a:spcBef>
                <a:spcPts val="0"/>
              </a:spcBef>
              <a:spcAft>
                <a:spcPts val="0"/>
              </a:spcAft>
              <a:defRPr sz="995" b="0">
                <a:solidFill>
                  <a:srgbClr val="182B3A"/>
                </a:solidFill>
                <a:latin typeface="Arial"/>
              </a:defRPr>
            </a:pPr>
            <a:r>
              <a:t>3</a:t>
            </a:r>
          </a:p>
        </p:txBody>
      </p:sp>
      <p:sp>
        <p:nvSpPr>
          <p:cNvPr id="81" name="TextBox 80"/>
          <p:cNvSpPr txBox="1"/>
          <p:nvPr/>
        </p:nvSpPr>
        <p:spPr>
          <a:xfrm>
            <a:off x="10875294" y="2610520"/>
            <a:ext cx="607161" cy="227685"/>
          </a:xfrm>
          <a:prstGeom prst="rect">
            <a:avLst/>
          </a:prstGeom>
          <a:noFill/>
        </p:spPr>
        <p:txBody>
          <a:bodyPr wrap="none" lIns="0" rIns="0" tIns="0" bIns="0">
            <a:spAutoFit/>
          </a:bodyPr>
          <a:lstStyle/>
          <a:p>
            <a:pPr algn="l">
              <a:lnSpc>
                <a:spcPts val="1673"/>
              </a:lnSpc>
              <a:spcBef>
                <a:spcPts val="0"/>
              </a:spcBef>
              <a:spcAft>
                <a:spcPts val="0"/>
              </a:spcAft>
              <a:defRPr sz="1494" b="0">
                <a:solidFill>
                  <a:srgbClr val="182B3A"/>
                </a:solidFill>
                <a:latin typeface="Arial"/>
              </a:defRPr>
            </a:pPr>
            <a:r>
              <a:t>r 4</a:t>
            </a:r>
          </a:p>
        </p:txBody>
      </p:sp>
      <p:sp>
        <p:nvSpPr>
          <p:cNvPr id="82" name="TextBox 81"/>
          <p:cNvSpPr txBox="1"/>
          <p:nvPr/>
        </p:nvSpPr>
        <p:spPr>
          <a:xfrm>
            <a:off x="12460224" y="2395728"/>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15</a:t>
            </a:r>
          </a:p>
        </p:txBody>
      </p:sp>
      <p:sp>
        <p:nvSpPr>
          <p:cNvPr id="83" name="TextBox 82"/>
          <p:cNvSpPr txBox="1"/>
          <p:nvPr/>
        </p:nvSpPr>
        <p:spPr>
          <a:xfrm>
            <a:off x="12460224" y="2624328"/>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12</a:t>
            </a:r>
          </a:p>
        </p:txBody>
      </p:sp>
      <p:cxnSp>
        <p:nvCxnSpPr>
          <p:cNvPr id="84" name="Connector 83"/>
          <p:cNvCxnSpPr/>
          <p:nvPr/>
        </p:nvCxnSpPr>
        <p:spPr>
          <a:xfrm>
            <a:off x="12460224" y="2848356"/>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12460224" y="2852928"/>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30</a:t>
            </a:r>
          </a:p>
        </p:txBody>
      </p:sp>
      <p:sp>
        <p:nvSpPr>
          <p:cNvPr id="86" name="TextBox 85"/>
          <p:cNvSpPr txBox="1"/>
          <p:nvPr/>
        </p:nvSpPr>
        <p:spPr>
          <a:xfrm>
            <a:off x="12460224" y="3081528"/>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150</a:t>
            </a:r>
          </a:p>
        </p:txBody>
      </p:sp>
      <p:sp>
        <p:nvSpPr>
          <p:cNvPr id="87" name="TextBox 86"/>
          <p:cNvSpPr txBox="1"/>
          <p:nvPr/>
        </p:nvSpPr>
        <p:spPr>
          <a:xfrm>
            <a:off x="12460224" y="3310128"/>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180</a:t>
            </a:r>
          </a:p>
        </p:txBody>
      </p:sp>
      <p:cxnSp>
        <p:nvCxnSpPr>
          <p:cNvPr id="88" name="Connector 87"/>
          <p:cNvCxnSpPr/>
          <p:nvPr/>
        </p:nvCxnSpPr>
        <p:spPr>
          <a:xfrm>
            <a:off x="12460224" y="3534156"/>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9835896" y="3346704"/>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15 tables cost £180</a:t>
            </a:r>
          </a:p>
        </p:txBody>
      </p:sp>
      <p:sp>
        <p:nvSpPr>
          <p:cNvPr id="90" name="Rectangle 89"/>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TextBox 90"/>
          <p:cNvSpPr txBox="1"/>
          <p:nvPr/>
        </p:nvSpPr>
        <p:spPr>
          <a:xfrm>
            <a:off x="9717024" y="3758184"/>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24 packs hold 15 drinks each. 87 are used. How many are left?</a:t>
            </a:r>
          </a:p>
        </p:txBody>
      </p:sp>
      <p:sp>
        <p:nvSpPr>
          <p:cNvPr id="92" name="TextBox 91"/>
          <p:cNvSpPr txBox="1"/>
          <p:nvPr/>
        </p:nvSpPr>
        <p:spPr>
          <a:xfrm>
            <a:off x="10082784" y="4398264"/>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24</a:t>
            </a:r>
          </a:p>
        </p:txBody>
      </p:sp>
      <p:sp>
        <p:nvSpPr>
          <p:cNvPr id="93" name="TextBox 92"/>
          <p:cNvSpPr txBox="1"/>
          <p:nvPr/>
        </p:nvSpPr>
        <p:spPr>
          <a:xfrm>
            <a:off x="10082784" y="4626864"/>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15</a:t>
            </a:r>
          </a:p>
        </p:txBody>
      </p:sp>
      <p:cxnSp>
        <p:nvCxnSpPr>
          <p:cNvPr id="94" name="Connector 93"/>
          <p:cNvCxnSpPr/>
          <p:nvPr/>
        </p:nvCxnSpPr>
        <p:spPr>
          <a:xfrm>
            <a:off x="10082784" y="4850892"/>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10082784" y="4855464"/>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120</a:t>
            </a:r>
          </a:p>
        </p:txBody>
      </p:sp>
      <p:sp>
        <p:nvSpPr>
          <p:cNvPr id="96" name="TextBox 95"/>
          <p:cNvSpPr txBox="1"/>
          <p:nvPr/>
        </p:nvSpPr>
        <p:spPr>
          <a:xfrm>
            <a:off x="10082784" y="5084064"/>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240</a:t>
            </a:r>
          </a:p>
        </p:txBody>
      </p:sp>
      <p:sp>
        <p:nvSpPr>
          <p:cNvPr id="97" name="TextBox 96"/>
          <p:cNvSpPr txBox="1"/>
          <p:nvPr/>
        </p:nvSpPr>
        <p:spPr>
          <a:xfrm>
            <a:off x="10082784" y="5312664"/>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360</a:t>
            </a:r>
          </a:p>
        </p:txBody>
      </p:sp>
      <p:cxnSp>
        <p:nvCxnSpPr>
          <p:cNvPr id="98" name="Connector 97"/>
          <p:cNvCxnSpPr/>
          <p:nvPr/>
        </p:nvCxnSpPr>
        <p:spPr>
          <a:xfrm>
            <a:off x="10082784" y="5536692"/>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11911584" y="45537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360</a:t>
            </a:r>
          </a:p>
        </p:txBody>
      </p:sp>
      <p:sp>
        <p:nvSpPr>
          <p:cNvPr id="100" name="TextBox 99"/>
          <p:cNvSpPr txBox="1"/>
          <p:nvPr/>
        </p:nvSpPr>
        <p:spPr>
          <a:xfrm>
            <a:off x="11911584" y="47823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+ 87</a:t>
            </a:r>
          </a:p>
        </p:txBody>
      </p:sp>
      <p:cxnSp>
        <p:nvCxnSpPr>
          <p:cNvPr id="101" name="Connector 100"/>
          <p:cNvCxnSpPr/>
          <p:nvPr/>
        </p:nvCxnSpPr>
        <p:spPr>
          <a:xfrm>
            <a:off x="11911584" y="5006340"/>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11911584" y="50109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447</a:t>
            </a:r>
          </a:p>
        </p:txBody>
      </p:sp>
      <p:cxnSp>
        <p:nvCxnSpPr>
          <p:cNvPr id="103" name="Connector 102"/>
          <p:cNvCxnSpPr/>
          <p:nvPr/>
        </p:nvCxnSpPr>
        <p:spPr>
          <a:xfrm>
            <a:off x="11911584" y="5234940"/>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11637264" y="5349240"/>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447 drinks left</a:t>
            </a:r>
          </a:p>
        </p:txBody>
      </p:sp>
      <p:sp>
        <p:nvSpPr>
          <p:cNvPr id="105" name="Rectangle 104"/>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6" name="TextBox 105"/>
          <p:cNvSpPr txBox="1"/>
          <p:nvPr/>
        </p:nvSpPr>
        <p:spPr>
          <a:xfrm>
            <a:off x="9717024" y="5760720"/>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Four people share 18 tickets at £12 each. Cost per person?</a:t>
            </a:r>
          </a:p>
        </p:txBody>
      </p:sp>
      <p:cxnSp>
        <p:nvCxnSpPr>
          <p:cNvPr id="107" name="Connector 106"/>
          <p:cNvCxnSpPr/>
          <p:nvPr/>
        </p:nvCxnSpPr>
        <p:spPr>
          <a:xfrm>
            <a:off x="10055626" y="6866046"/>
            <a:ext cx="76654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10055626" y="6866046"/>
            <a:ext cx="0" cy="295992"/>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9744456" y="6885020"/>
            <a:ext cx="273222" cy="265633"/>
          </a:xfrm>
          <a:prstGeom prst="rect">
            <a:avLst/>
          </a:prstGeom>
          <a:noFill/>
        </p:spPr>
        <p:txBody>
          <a:bodyPr wrap="none" lIns="0" rIns="0" tIns="0" bIns="0">
            <a:spAutoFit/>
          </a:bodyPr>
          <a:lstStyle/>
          <a:p>
            <a:pPr algn="r">
              <a:lnSpc>
                <a:spcPts val="2045"/>
              </a:lnSpc>
              <a:spcBef>
                <a:spcPts val="0"/>
              </a:spcBef>
              <a:spcAft>
                <a:spcPts val="0"/>
              </a:spcAft>
              <a:defRPr sz="1825" b="0">
                <a:solidFill>
                  <a:srgbClr val="182B3A"/>
                </a:solidFill>
                <a:latin typeface="Arial"/>
              </a:defRPr>
            </a:pPr>
            <a:r>
              <a:t>4</a:t>
            </a:r>
          </a:p>
        </p:txBody>
      </p:sp>
      <p:sp>
        <p:nvSpPr>
          <p:cNvPr id="110" name="TextBox 109"/>
          <p:cNvSpPr txBox="1"/>
          <p:nvPr/>
        </p:nvSpPr>
        <p:spPr>
          <a:xfrm>
            <a:off x="10101163" y="6892610"/>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1</a:t>
            </a:r>
          </a:p>
        </p:txBody>
      </p:sp>
      <p:sp>
        <p:nvSpPr>
          <p:cNvPr id="111" name="TextBox 110"/>
          <p:cNvSpPr txBox="1"/>
          <p:nvPr/>
        </p:nvSpPr>
        <p:spPr>
          <a:xfrm>
            <a:off x="10450281" y="6892610"/>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8</a:t>
            </a:r>
          </a:p>
        </p:txBody>
      </p:sp>
      <p:sp>
        <p:nvSpPr>
          <p:cNvPr id="112" name="TextBox 111"/>
          <p:cNvSpPr txBox="1"/>
          <p:nvPr/>
        </p:nvSpPr>
        <p:spPr>
          <a:xfrm>
            <a:off x="10450281" y="6592824"/>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4</a:t>
            </a:r>
          </a:p>
        </p:txBody>
      </p:sp>
      <p:sp>
        <p:nvSpPr>
          <p:cNvPr id="113" name="TextBox 112"/>
          <p:cNvSpPr txBox="1"/>
          <p:nvPr/>
        </p:nvSpPr>
        <p:spPr>
          <a:xfrm>
            <a:off x="10404744" y="6869841"/>
            <a:ext cx="136611" cy="151790"/>
          </a:xfrm>
          <a:prstGeom prst="rect">
            <a:avLst/>
          </a:prstGeom>
          <a:noFill/>
        </p:spPr>
        <p:txBody>
          <a:bodyPr wrap="none" lIns="0" rIns="0" tIns="0" bIns="0">
            <a:spAutoFit/>
          </a:bodyPr>
          <a:lstStyle/>
          <a:p>
            <a:pPr algn="ctr">
              <a:lnSpc>
                <a:spcPts val="1115"/>
              </a:lnSpc>
              <a:spcBef>
                <a:spcPts val="0"/>
              </a:spcBef>
              <a:spcAft>
                <a:spcPts val="0"/>
              </a:spcAft>
              <a:defRPr sz="995" b="0">
                <a:solidFill>
                  <a:srgbClr val="182B3A"/>
                </a:solidFill>
                <a:latin typeface="Arial"/>
              </a:defRPr>
            </a:pPr>
            <a:r>
              <a:t>1</a:t>
            </a:r>
          </a:p>
        </p:txBody>
      </p:sp>
      <p:sp>
        <p:nvSpPr>
          <p:cNvPr id="114" name="TextBox 113"/>
          <p:cNvSpPr txBox="1"/>
          <p:nvPr/>
        </p:nvSpPr>
        <p:spPr>
          <a:xfrm>
            <a:off x="10875294" y="6615592"/>
            <a:ext cx="607161" cy="227685"/>
          </a:xfrm>
          <a:prstGeom prst="rect">
            <a:avLst/>
          </a:prstGeom>
          <a:noFill/>
        </p:spPr>
        <p:txBody>
          <a:bodyPr wrap="none" lIns="0" rIns="0" tIns="0" bIns="0">
            <a:spAutoFit/>
          </a:bodyPr>
          <a:lstStyle/>
          <a:p>
            <a:pPr algn="l">
              <a:lnSpc>
                <a:spcPts val="1673"/>
              </a:lnSpc>
              <a:spcBef>
                <a:spcPts val="0"/>
              </a:spcBef>
              <a:spcAft>
                <a:spcPts val="0"/>
              </a:spcAft>
              <a:defRPr sz="1494" b="0">
                <a:solidFill>
                  <a:srgbClr val="182B3A"/>
                </a:solidFill>
                <a:latin typeface="Arial"/>
              </a:defRPr>
            </a:pPr>
            <a:r>
              <a:t>r 2</a:t>
            </a:r>
          </a:p>
        </p:txBody>
      </p:sp>
      <p:sp>
        <p:nvSpPr>
          <p:cNvPr id="115" name="TextBox 114"/>
          <p:cNvSpPr txBox="1"/>
          <p:nvPr/>
        </p:nvSpPr>
        <p:spPr>
          <a:xfrm>
            <a:off x="12460224" y="6400800"/>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4</a:t>
            </a:r>
          </a:p>
        </p:txBody>
      </p:sp>
      <p:sp>
        <p:nvSpPr>
          <p:cNvPr id="116" name="TextBox 115"/>
          <p:cNvSpPr txBox="1"/>
          <p:nvPr/>
        </p:nvSpPr>
        <p:spPr>
          <a:xfrm>
            <a:off x="12460224" y="6629400"/>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12</a:t>
            </a:r>
          </a:p>
        </p:txBody>
      </p:sp>
      <p:cxnSp>
        <p:nvCxnSpPr>
          <p:cNvPr id="117" name="Connector 116"/>
          <p:cNvCxnSpPr/>
          <p:nvPr/>
        </p:nvCxnSpPr>
        <p:spPr>
          <a:xfrm>
            <a:off x="12460224" y="685342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12460224" y="6858000"/>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8</a:t>
            </a:r>
          </a:p>
        </p:txBody>
      </p:sp>
      <p:sp>
        <p:nvSpPr>
          <p:cNvPr id="119" name="TextBox 118"/>
          <p:cNvSpPr txBox="1"/>
          <p:nvPr/>
        </p:nvSpPr>
        <p:spPr>
          <a:xfrm>
            <a:off x="12460224" y="7086600"/>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40</a:t>
            </a:r>
          </a:p>
        </p:txBody>
      </p:sp>
      <p:sp>
        <p:nvSpPr>
          <p:cNvPr id="120" name="TextBox 119"/>
          <p:cNvSpPr txBox="1"/>
          <p:nvPr/>
        </p:nvSpPr>
        <p:spPr>
          <a:xfrm>
            <a:off x="12460224" y="7315200"/>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48</a:t>
            </a:r>
          </a:p>
        </p:txBody>
      </p:sp>
      <p:cxnSp>
        <p:nvCxnSpPr>
          <p:cNvPr id="121" name="Connector 120"/>
          <p:cNvCxnSpPr/>
          <p:nvPr/>
        </p:nvCxnSpPr>
        <p:spPr>
          <a:xfrm>
            <a:off x="12460224" y="7539227"/>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9835896" y="7351775"/>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£48 each</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library has 14 shelves with 32 books on each. How many books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105 students form 7 equal groups. How many students are in each group?</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has 26 crates with 41 bottles in each. How many bottles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148 m rope is cut into 4 equal pieces. How long is each piece?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13 rows of 85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£175 is shared equally among 5 people. How much does each person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130 eggs are packed in cartons of 6. How many full cartons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32 passengers need cars with 5 passenger seats each. How many cars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250 chocolates are packed in boxes of 12. How many chocolates are left over?</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worker earns £17 per hour for 28 hours. What are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142 rolls are sold in bags of 6. How many full bags can be made?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£132 bill is shared equally by 8 friends. How much does each pay?</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45 tickets cost £16 each. A group gets £50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115 passengers need vans with 8 passenger seats each. Hire costs £65 per van.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gym costs £22 per month plus a £30 joining fee. Find the cost for 14 months.</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430 cases fill boxes of 12. Each full box sells for £9. Find the income from full boxes.</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contractor charges £24 per hour for 15 hours, plus £45 for materials. Find the total bill.</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15 boxes of 12 headphones at £8 per headphone. Find the total sales income.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18 trays each hold 24 plants. How many plants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156 pens are shared equally among 6 classes. How many pens does each class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orders 23 packs of 16 badges. How many badges does it order?</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£248 is shared equally among 8 people. How much does each person get?</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runner covers 12 km each week for 27 weeks. How far do they run?</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189 cm ribbon is cut into 7 equal pieces.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197 leaflets are bundled in groups of 8. How many complete bundles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camp has 83 people. Each tent sleeps 6. How many tents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275 cm strip is cut into 12 cm pieces. How many centimetres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printer produces 36 pages per minute. How many pages does it produce in 14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£154 is split equally among 4 workers. How much does each receive?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253 photos go in albums holding 24 photos. How many albums are needed for all the photos?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28 shirts cost £14 each. Delivery costs £18. Find the total cost.</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94 people need tables seating 6 each. Tables cost £12 each to hire.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24 packs of 15 drinks. It uses 87 drinks.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286 biscuits. Full bags hold 8 and sell for £3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Four friends share the cost of 18 tickets at £12 each equally. How much does each friend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17 cartons of 24 pens at £2 per pen. Find the total sales income.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 boxes each hold 35 cables. How many cables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252 stickers are shared equally among 7 students. How many does each student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cinema has 28 rows of 24 seats. Find the total number of seats.</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336 m cable is cut into 8 equal lengths. How long is each length?</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charity buys 19 packs of 32 cards. How many cards does it buy?</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£315 is shared equally among 9 people. How much does each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245 apples are packed in bags of 8. How many full bags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hotel has 137 guests. Each shuttle carries 9 guests. How many shuttle trips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359 beads are used in bracelets of 12 beads. How many beads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technician earns £23 per hour for 16 hours. Find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£186 bill is shared equally by 8 people. How much does each person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Each floor tile covers 25 cm². What area do 48 tiles cover?</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gardener charges £21 per hour for 18 hours, plus £64 for plants. Find the total bill.</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167 passengers need coaches with 24 passenger seats each. Hire costs £85 per coach.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32 packs of 18 cards. It gives away 145 cards.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397 oranges fill bags of 6. Each full bag sells for £4.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Six people equally share the cost of 15 meals at £14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23 boxes of 16 mugs at £5 per mug. Find the total sales income.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27 packets each contain 18 labels. How many labels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384 books are shared equally among 8 shelves. How many books go on each shelf?</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nursery has 34 trays of 16 seedlings. How many seedlings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£425 is shared equally among 5 people. How much does each receive?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26 rows of 35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294 cm strip is cut into 6 equal lengths.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367 bottles are packed in boxes of 12. How many complete boxes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hostel has 158 guests. Each room holds 6 guests. How many rooms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lIns="91440" tIns="36576" rIns="91440" bIns="36576" anchor="t">
            <a:spAutoFit/>
          </a:bodyPr>
          <a:lstStyle/>
          <a:p>
            <a:pPr>
              <a:lnSpc>
                <a:spcPts val="1944"/>
              </a:lnSpc>
              <a:spcBef>
                <a:spcPts val="0"/>
              </a:spcBef>
              <a:spcAft>
                <a:spcPts val="0"/>
              </a:spcAft>
              <a:defRPr sz="1800" b="0">
                <a:solidFill>
                  <a:srgbClr val="182B3A"/>
                </a:solidFill>
                <a:latin typeface="Arial"/>
              </a:defRPr>
            </a:pPr>
            <a:r>
              <a:t>A 413 cm ribbon is cut into 15 cm lengths. How many </a:t>
            </a:r>
            <a:r>
              <a:rPr lang="en-GB"/>
              <a:t>centimetres</a:t>
            </a:r>
            <a:r>
              <a:t>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machine labels 28 bottles per minute. How many does it label in 19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£238 bill is shared equally by 8 friends. How much does each friend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319 files fit in folders holding 24 files. How many folders are needed for all the files?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 tickets cost £17 each. A group gets £75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203 people need tables seating 8 each. Hire costs £15 per table.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buys 29 boxes of 24 notebooks. It sells 187 notebooks.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518 rolls. Full bags hold 12 and sell for £5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Seven people equally share the cost of 21 meals at £16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28 boxes of 15 keyrings at £3 per keyring. Find the total sales income.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Ratio: initial assessment</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Answer all four questions.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M04-IA</a:t>
            </a:r>
          </a:p>
        </p:txBody>
      </p:sp>
      <p:sp>
        <p:nvSpPr>
          <p:cNvPr id="7" name="Rectangle 6"/>
          <p:cNvSpPr/>
          <p:nvPr/>
        </p:nvSpPr>
        <p:spPr>
          <a:xfrm>
            <a:off x="457200" y="169164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2880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  Share £35 between A and B in the ratio 2:5. How much does A receive?</a:t>
            </a:r>
          </a:p>
        </p:txBody>
      </p:sp>
      <p:sp>
        <p:nvSpPr>
          <p:cNvPr id="9" name="Rectangle 8"/>
          <p:cNvSpPr/>
          <p:nvPr/>
        </p:nvSpPr>
        <p:spPr>
          <a:xfrm>
            <a:off x="7452360" y="169164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0" y="182880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  Red and blue counters are in the ratio 3:4. There are 12 red counters. How many blue counters are there?</a:t>
            </a:r>
          </a:p>
        </p:txBody>
      </p:sp>
      <p:sp>
        <p:nvSpPr>
          <p:cNvPr id="11" name="Rectangle 10"/>
          <p:cNvSpPr/>
          <p:nvPr/>
        </p:nvSpPr>
        <p:spPr>
          <a:xfrm>
            <a:off x="457200" y="452628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466344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  Two ribbons have lengths in the ratio 2:7. The longer is 25 cm longer than the shorter. Find the shorter length.</a:t>
            </a:r>
          </a:p>
        </p:txBody>
      </p:sp>
      <p:sp>
        <p:nvSpPr>
          <p:cNvPr id="13" name="Rectangle 12"/>
          <p:cNvSpPr/>
          <p:nvPr/>
        </p:nvSpPr>
        <p:spPr>
          <a:xfrm>
            <a:off x="7452360" y="452628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466344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  Adults and children are in the ratio 5:8. There are 39 people altogether. How many more children than adults are there?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Worked demo • Follow each step down your column.</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M04-S01</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 and B share £120 in the ratio 2:3. How much does B receive?</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Red and blue paint are mixed in the ratio 3:5. There are 18 litres of red paint. How many litres of blue paint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Red and blue counters are in the ratio 3:7. There are 28 more blue counters than red counters. How many counters are there altogether?</a:t>
            </a:r>
          </a:p>
        </p:txBody>
      </p:sp>
      <p:sp>
        <p:nvSpPr>
          <p:cNvPr id="21" name="Rectangle 20"/>
          <p:cNvSpPr/>
          <p:nvPr/>
        </p:nvSpPr>
        <p:spPr>
          <a:xfrm>
            <a:off x="320040" y="2953512"/>
            <a:ext cx="1801367" cy="9601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813816"/>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“share £120”: the total is known. 2 + 3 = 5 parts. £120 ÷ 5, then × 3.</a:t>
            </a:r>
          </a:p>
        </p:txBody>
      </p:sp>
      <p:sp>
        <p:nvSpPr>
          <p:cNvPr id="25" name="Rectangle 24"/>
          <p:cNvSpPr/>
          <p:nvPr/>
        </p:nvSpPr>
        <p:spPr>
          <a:xfrm>
            <a:off x="6184392"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“18 litres of red”: 3 parts are known. 18 ÷ 3, then × 5.</a:t>
            </a:r>
          </a:p>
        </p:txBody>
      </p:sp>
      <p:sp>
        <p:nvSpPr>
          <p:cNvPr id="27" name="Rectangle 26"/>
          <p:cNvSpPr/>
          <p:nvPr/>
        </p:nvSpPr>
        <p:spPr>
          <a:xfrm>
            <a:off x="10247376"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“28 more blue”: the difference is known. 7 − 3 = 4 parts. 28 ÷ 4, then × (3 + 7).</a:t>
            </a:r>
          </a:p>
        </p:txBody>
      </p:sp>
      <p:sp>
        <p:nvSpPr>
          <p:cNvPr id="29" name="Rectangle 28"/>
          <p:cNvSpPr/>
          <p:nvPr/>
        </p:nvSpPr>
        <p:spPr>
          <a:xfrm>
            <a:off x="320040" y="3913632"/>
            <a:ext cx="1801367" cy="2066543"/>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3986784"/>
            <a:ext cx="1691639" cy="1920239"/>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£120 ÷ 5 = £24 per part. £24 × 3 = £72.</a:t>
            </a:r>
          </a:p>
        </p:txBody>
      </p:sp>
      <p:grpSp>
        <p:nvGrpSpPr>
          <p:cNvPr id="33" name="Ratio bars A:B = 2:3, total"/>
          <p:cNvGrpSpPr/>
          <p:nvPr/>
        </p:nvGrpSpPr>
        <p:grpSpPr>
          <a:xfrm>
            <a:off x="2194560" y="4686300"/>
            <a:ext cx="3916680" cy="1275588"/>
            <a:chOff x="2194560" y="4686300"/>
            <a:chExt cx="3916680" cy="1275588"/>
          </a:xfrm>
        </p:grpSpPr>
        <p:sp>
          <p:nvSpPr>
            <p:cNvPr id="34" name="TextBox 33"/>
            <p:cNvSpPr txBox="1"/>
            <p:nvPr/>
          </p:nvSpPr>
          <p:spPr>
            <a:xfrm>
              <a:off x="2194560"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A</a:t>
              </a:r>
            </a:p>
          </p:txBody>
        </p:sp>
        <p:sp>
          <p:nvSpPr>
            <p:cNvPr id="35" name="Rectangle 34"/>
            <p:cNvSpPr/>
            <p:nvPr/>
          </p:nvSpPr>
          <p:spPr>
            <a:xfrm>
              <a:off x="3108960"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502152"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194560"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a:t>
              </a:r>
            </a:p>
          </p:txBody>
        </p:sp>
        <p:sp>
          <p:nvSpPr>
            <p:cNvPr id="38" name="Rectangle 37"/>
            <p:cNvSpPr/>
            <p:nvPr/>
          </p:nvSpPr>
          <p:spPr>
            <a:xfrm>
              <a:off x="3108960"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502152"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3895344"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1" name="Connector 40"/>
            <p:cNvCxnSpPr/>
            <p:nvPr/>
          </p:nvCxnSpPr>
          <p:spPr>
            <a:xfrm>
              <a:off x="4379975" y="4709160"/>
              <a:ext cx="0" cy="585216"/>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334255" y="4709160"/>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334255" y="5294376"/>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108960" y="5385816"/>
              <a:ext cx="3002280" cy="265176"/>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76B73"/>
                  </a:solidFill>
                  <a:latin typeface="Arial"/>
                </a:defRPr>
              </a:pPr>
              <a:r>
                <a:t>£120 altogether</a:t>
              </a:r>
            </a:p>
          </p:txBody>
        </p:sp>
        <p:sp>
          <p:nvSpPr>
            <p:cNvPr id="45" name="TextBox 44"/>
            <p:cNvSpPr txBox="1"/>
            <p:nvPr/>
          </p:nvSpPr>
          <p:spPr>
            <a:xfrm>
              <a:off x="3108960"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176B73"/>
                  </a:solidFill>
                  <a:latin typeface="Arial"/>
                </a:defRPr>
              </a:pPr>
              <a:r>
                <a:t>1 part = £24</a:t>
              </a:r>
            </a:p>
          </p:txBody>
        </p:sp>
      </p:grpSp>
      <p:sp>
        <p:nvSpPr>
          <p:cNvPr id="46" name="Rectangle 45"/>
          <p:cNvSpPr/>
          <p:nvPr/>
        </p:nvSpPr>
        <p:spPr>
          <a:xfrm>
            <a:off x="6184392"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30112"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18 ÷ 3 = 6 litres per part. 6 × 5 = 30 litres.</a:t>
            </a:r>
          </a:p>
        </p:txBody>
      </p:sp>
      <p:grpSp>
        <p:nvGrpSpPr>
          <p:cNvPr id="48" name="Ratio bars Red:Blue = 3:5, first"/>
          <p:cNvGrpSpPr/>
          <p:nvPr/>
        </p:nvGrpSpPr>
        <p:grpSpPr>
          <a:xfrm>
            <a:off x="6257544" y="4626864"/>
            <a:ext cx="3916680" cy="1335024"/>
            <a:chOff x="6257544" y="4626864"/>
            <a:chExt cx="3916680" cy="1335024"/>
          </a:xfrm>
        </p:grpSpPr>
        <p:sp>
          <p:nvSpPr>
            <p:cNvPr id="49" name="TextBox 48"/>
            <p:cNvSpPr txBox="1"/>
            <p:nvPr/>
          </p:nvSpPr>
          <p:spPr>
            <a:xfrm>
              <a:off x="6257544"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Red</a:t>
              </a:r>
            </a:p>
          </p:txBody>
        </p:sp>
        <p:sp>
          <p:nvSpPr>
            <p:cNvPr id="50" name="Rectangle 49"/>
            <p:cNvSpPr/>
            <p:nvPr/>
          </p:nvSpPr>
          <p:spPr>
            <a:xfrm>
              <a:off x="7171944"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7565136"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7958328"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257544"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54" name="Rectangle 53"/>
            <p:cNvSpPr/>
            <p:nvPr/>
          </p:nvSpPr>
          <p:spPr>
            <a:xfrm>
              <a:off x="7171944"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7565136"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7958328"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8351520"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8744712"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9" name="Connector 58"/>
            <p:cNvCxnSpPr/>
            <p:nvPr/>
          </p:nvCxnSpPr>
          <p:spPr>
            <a:xfrm>
              <a:off x="7171944" y="4626864"/>
              <a:ext cx="1179576" cy="0"/>
            </a:xfrm>
            <a:prstGeom prst="line">
              <a:avLst/>
            </a:prstGeom>
            <a:ln w="15240">
              <a:solidFill>
                <a:srgbClr val="3559A2"/>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7171944" y="5385816"/>
              <a:ext cx="3002280" cy="265176"/>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3559A2"/>
                  </a:solidFill>
                  <a:latin typeface="Arial"/>
                </a:defRPr>
              </a:pPr>
              <a:r>
                <a:t>Red: 18 litres</a:t>
              </a:r>
            </a:p>
          </p:txBody>
        </p:sp>
        <p:sp>
          <p:nvSpPr>
            <p:cNvPr id="61" name="TextBox 60"/>
            <p:cNvSpPr txBox="1"/>
            <p:nvPr/>
          </p:nvSpPr>
          <p:spPr>
            <a:xfrm>
              <a:off x="7171944"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3559A2"/>
                  </a:solidFill>
                  <a:latin typeface="Arial"/>
                </a:defRPr>
              </a:pPr>
              <a:r>
                <a:t>1 part = 6 litres</a:t>
              </a:r>
            </a:p>
          </p:txBody>
        </p:sp>
      </p:grpSp>
      <p:sp>
        <p:nvSpPr>
          <p:cNvPr id="62" name="Rectangle 61"/>
          <p:cNvSpPr/>
          <p:nvPr/>
        </p:nvSpPr>
        <p:spPr>
          <a:xfrm>
            <a:off x="10247376"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293096"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28 ÷ 4 = 7 counters per part. 3 + 7 = 10 parts. 7 × 10 = 70 counters.</a:t>
            </a:r>
          </a:p>
        </p:txBody>
      </p:sp>
      <p:grpSp>
        <p:nvGrpSpPr>
          <p:cNvPr id="64" name="Ratio bars Red:Blue = 3:7, difference"/>
          <p:cNvGrpSpPr/>
          <p:nvPr/>
        </p:nvGrpSpPr>
        <p:grpSpPr>
          <a:xfrm>
            <a:off x="10320528" y="4686300"/>
            <a:ext cx="3916680" cy="1275588"/>
            <a:chOff x="10320528" y="4686300"/>
            <a:chExt cx="3916680" cy="1275588"/>
          </a:xfrm>
        </p:grpSpPr>
        <p:sp>
          <p:nvSpPr>
            <p:cNvPr id="65" name="TextBox 64"/>
            <p:cNvSpPr txBox="1"/>
            <p:nvPr/>
          </p:nvSpPr>
          <p:spPr>
            <a:xfrm>
              <a:off x="10320528"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Red</a:t>
              </a:r>
            </a:p>
          </p:txBody>
        </p:sp>
        <p:sp>
          <p:nvSpPr>
            <p:cNvPr id="66" name="Rectangle 65"/>
            <p:cNvSpPr/>
            <p:nvPr/>
          </p:nvSpPr>
          <p:spPr>
            <a:xfrm>
              <a:off x="11234928"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11628120"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12021312"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0320528"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70" name="Rectangle 69"/>
            <p:cNvSpPr/>
            <p:nvPr/>
          </p:nvSpPr>
          <p:spPr>
            <a:xfrm>
              <a:off x="1123492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1162812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12021312"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12414504"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12807696"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1320088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1359408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7" name="Connector 76"/>
            <p:cNvCxnSpPr/>
            <p:nvPr/>
          </p:nvCxnSpPr>
          <p:spPr>
            <a:xfrm>
              <a:off x="12414504" y="5376672"/>
              <a:ext cx="1572768" cy="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2414504"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3987272"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11234928" y="5413248"/>
              <a:ext cx="3002280" cy="256032"/>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754B87"/>
                  </a:solidFill>
                  <a:latin typeface="Arial"/>
                </a:defRPr>
              </a:pPr>
              <a:r>
                <a:t>4 extra parts = 28 counters</a:t>
              </a:r>
            </a:p>
          </p:txBody>
        </p:sp>
        <p:sp>
          <p:nvSpPr>
            <p:cNvPr id="81" name="TextBox 80"/>
            <p:cNvSpPr txBox="1"/>
            <p:nvPr/>
          </p:nvSpPr>
          <p:spPr>
            <a:xfrm>
              <a:off x="11234928"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754B87"/>
                  </a:solidFill>
                  <a:latin typeface="Arial"/>
                </a:defRPr>
              </a:pPr>
              <a:r>
                <a:t>1 part = 7 counters</a:t>
              </a:r>
            </a:p>
          </p:txBody>
        </p:sp>
      </p:grpSp>
      <p:sp>
        <p:nvSpPr>
          <p:cNvPr id="82" name="Rectangle 81"/>
          <p:cNvSpPr/>
          <p:nvPr/>
        </p:nvSpPr>
        <p:spPr>
          <a:xfrm>
            <a:off x="320040" y="5980176"/>
            <a:ext cx="1801367" cy="130759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374904" y="6053328"/>
            <a:ext cx="1691639" cy="116128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84" name="Rectangle 83"/>
          <p:cNvSpPr/>
          <p:nvPr/>
        </p:nvSpPr>
        <p:spPr>
          <a:xfrm>
            <a:off x="2121408"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2167127"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 gets more than half of £120, so more than £60. £72 fits. Check both shares: £48 + £72 = £120.</a:t>
            </a:r>
          </a:p>
        </p:txBody>
      </p:sp>
      <p:sp>
        <p:nvSpPr>
          <p:cNvPr id="86" name="Rectangle 85"/>
          <p:cNvSpPr/>
          <p:nvPr/>
        </p:nvSpPr>
        <p:spPr>
          <a:xfrm>
            <a:off x="6184392"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230112"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Blue is between one and two times the red amount, so between 18 and 36 litres. 30 litres fits.</a:t>
            </a:r>
          </a:p>
        </p:txBody>
      </p:sp>
      <p:sp>
        <p:nvSpPr>
          <p:cNvPr id="88" name="Rectangle 87"/>
          <p:cNvSpPr/>
          <p:nvPr/>
        </p:nvSpPr>
        <p:spPr>
          <a:xfrm>
            <a:off x="10247376"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10293096"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The total represents 10 parts and the difference 4. The total should be between 2 and 3 times 28: between 56 and 84. 70 fits.</a:t>
            </a:r>
          </a:p>
        </p:txBody>
      </p:sp>
      <p:sp>
        <p:nvSpPr>
          <p:cNvPr id="90" name="Rectangle 89"/>
          <p:cNvSpPr/>
          <p:nvPr/>
        </p:nvSpPr>
        <p:spPr>
          <a:xfrm>
            <a:off x="320040" y="7287768"/>
            <a:ext cx="1801367" cy="5577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374904" y="7360919"/>
            <a:ext cx="1691639" cy="411479"/>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92" name="Rectangle 91"/>
          <p:cNvSpPr/>
          <p:nvPr/>
        </p:nvSpPr>
        <p:spPr>
          <a:xfrm>
            <a:off x="2121408"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2167127"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 receives £72.</a:t>
            </a:r>
          </a:p>
        </p:txBody>
      </p:sp>
      <p:sp>
        <p:nvSpPr>
          <p:cNvPr id="94" name="Rectangle 93"/>
          <p:cNvSpPr/>
          <p:nvPr/>
        </p:nvSpPr>
        <p:spPr>
          <a:xfrm>
            <a:off x="6184392"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6230112"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30 litres of blue paint.</a:t>
            </a:r>
          </a:p>
        </p:txBody>
      </p:sp>
      <p:sp>
        <p:nvSpPr>
          <p:cNvPr id="96" name="Rectangle 95"/>
          <p:cNvSpPr/>
          <p:nvPr/>
        </p:nvSpPr>
        <p:spPr>
          <a:xfrm>
            <a:off x="10247376"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10293096"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70 counters altogether.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Step-by-step practice 1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An 84 ml paint mix contains red and white paint in the ratio 3:4. How much red paint is in the mix?</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Notebooks and folders are in the ratio 4:7. There are 35 folders. How many notebooks are there?</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Adults and children are in the ratio 2:5. There are 24 more children than adults. How many people are there altogether?</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4142232"/>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30112"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93096"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4904" y="5257800"/>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67127"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30112"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93096"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74904" y="6373368"/>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67127"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30112"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93096"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3" name="Progression curved arrow: Thread 1 to Thread 2"/>
          <p:cNvSpPr/>
          <p:nvPr/>
        </p:nvSpPr>
        <p:spPr>
          <a:xfrm>
            <a:off x="5850635" y="7351126"/>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5" name="Progression curved arrow: Thread 1 to Thread 2">
            <a:extLst>
              <a:ext uri="{FF2B5EF4-FFF2-40B4-BE49-F238E27FC236}">
                <a16:creationId xmlns:a16="http://schemas.microsoft.com/office/drawing/2014/main" id="{5C4B25E0-6F8B-5EB5-B1AB-18C9B16A520D}"/>
              </a:ext>
            </a:extLst>
          </p:cNvPr>
          <p:cNvSpPr/>
          <p:nvPr/>
        </p:nvSpPr>
        <p:spPr>
          <a:xfrm>
            <a:off x="9865783" y="7342632"/>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Step-by-step practice 2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 96 cm ribbon is cut into pieces A and B in the ratio 5:7. Find the length of B.</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Juice and water are mixed in the ratio 2:7. There are 18 litres of juice. How many litres of water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Two lengths of ribbon, A and B, are in the ratio 5:8. B is 21 cm longer than A. What is their total length?</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4142232"/>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30112"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93096"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4904" y="5257800"/>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67127"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30112"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93096"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74904" y="6373368"/>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67127"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30112"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93096"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3" name="Progression curved arrow: Thread 1 to Thread 2"/>
          <p:cNvSpPr/>
          <p:nvPr/>
        </p:nvSpPr>
        <p:spPr>
          <a:xfrm>
            <a:off x="5850635" y="7351126"/>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Progression curved arrow: Thread 2 to Thread 3"/>
          <p:cNvSpPr/>
          <p:nvPr/>
        </p:nvSpPr>
        <p:spPr>
          <a:xfrm>
            <a:off x="9865783" y="7342632"/>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Ratio: sharing and missing amounts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M04-SE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1: Guided</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Share £35 in ratio A:B = 2:5. Find A’s share.</a:t>
            </a:r>
          </a:p>
        </p:txBody>
      </p:sp>
      <p:sp>
        <p:nvSpPr>
          <p:cNvPr id="10" name="TextBox 9"/>
          <p:cNvSpPr txBox="1"/>
          <p:nvPr/>
        </p:nvSpPr>
        <p:spPr>
          <a:xfrm>
            <a:off x="594360"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 + 5 = 7 parts</a:t>
            </a:r>
          </a:p>
        </p:txBody>
      </p:sp>
      <p:sp>
        <p:nvSpPr>
          <p:cNvPr id="11" name="TextBox 10"/>
          <p:cNvSpPr txBox="1"/>
          <p:nvPr/>
        </p:nvSpPr>
        <p:spPr>
          <a:xfrm>
            <a:off x="594360"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35 ÷ 7 = 5</a:t>
            </a:r>
          </a:p>
        </p:txBody>
      </p:sp>
      <p:sp>
        <p:nvSpPr>
          <p:cNvPr id="12" name="TextBox 11"/>
          <p:cNvSpPr txBox="1"/>
          <p:nvPr/>
        </p:nvSpPr>
        <p:spPr>
          <a:xfrm>
            <a:off x="2734056"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5 × 5</a:t>
            </a:r>
          </a:p>
        </p:txBody>
      </p:sp>
      <p:sp>
        <p:nvSpPr>
          <p:cNvPr id="13" name="TextBox 12"/>
          <p:cNvSpPr txBox="1"/>
          <p:nvPr/>
        </p:nvSpPr>
        <p:spPr>
          <a:xfrm>
            <a:off x="2734056"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£25</a:t>
            </a:r>
          </a:p>
        </p:txBody>
      </p:sp>
      <p:sp>
        <p:nvSpPr>
          <p:cNvPr id="14" name="TextBox 13"/>
          <p:cNvSpPr txBox="1"/>
          <p:nvPr/>
        </p:nvSpPr>
        <p:spPr>
          <a:xfrm>
            <a:off x="594360"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A receives £25</a:t>
            </a:r>
          </a:p>
        </p:txBody>
      </p:sp>
      <p:sp>
        <p:nvSpPr>
          <p:cNvPr id="15" name="Rectangle 14"/>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75488" y="3758184"/>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Red:blue = 3:4. There are 12 red counters. How many blue?</a:t>
            </a:r>
          </a:p>
        </p:txBody>
      </p:sp>
      <p:sp>
        <p:nvSpPr>
          <p:cNvPr id="17" name="TextBox 16"/>
          <p:cNvSpPr txBox="1"/>
          <p:nvPr/>
        </p:nvSpPr>
        <p:spPr>
          <a:xfrm>
            <a:off x="594360"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 + 4 = 7 parts</a:t>
            </a:r>
          </a:p>
        </p:txBody>
      </p:sp>
      <p:sp>
        <p:nvSpPr>
          <p:cNvPr id="18" name="TextBox 17"/>
          <p:cNvSpPr txBox="1"/>
          <p:nvPr/>
        </p:nvSpPr>
        <p:spPr>
          <a:xfrm>
            <a:off x="594360"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12 ÷ 7 = 1 r 5</a:t>
            </a:r>
          </a:p>
        </p:txBody>
      </p:sp>
      <p:sp>
        <p:nvSpPr>
          <p:cNvPr id="19" name="TextBox 18"/>
          <p:cNvSpPr txBox="1"/>
          <p:nvPr/>
        </p:nvSpPr>
        <p:spPr>
          <a:xfrm>
            <a:off x="2734056"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Blue = 4 × 1</a:t>
            </a:r>
          </a:p>
        </p:txBody>
      </p:sp>
      <p:sp>
        <p:nvSpPr>
          <p:cNvPr id="20" name="TextBox 19"/>
          <p:cNvSpPr txBox="1"/>
          <p:nvPr/>
        </p:nvSpPr>
        <p:spPr>
          <a:xfrm>
            <a:off x="2734056"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Blue = 4</a:t>
            </a:r>
          </a:p>
        </p:txBody>
      </p:sp>
      <p:sp>
        <p:nvSpPr>
          <p:cNvPr id="21" name="TextBox 20"/>
          <p:cNvSpPr txBox="1"/>
          <p:nvPr/>
        </p:nvSpPr>
        <p:spPr>
          <a:xfrm>
            <a:off x="594360"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 blue counters</a:t>
            </a:r>
          </a:p>
        </p:txBody>
      </p:sp>
      <p:sp>
        <p:nvSpPr>
          <p:cNvPr id="22" name="Rectangle 21"/>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75488" y="5760720"/>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Share 24 sweets in ratio A:B = 1:3. Find B’s share.</a:t>
            </a:r>
          </a:p>
        </p:txBody>
      </p:sp>
      <p:sp>
        <p:nvSpPr>
          <p:cNvPr id="24" name="TextBox 23"/>
          <p:cNvSpPr txBox="1"/>
          <p:nvPr/>
        </p:nvSpPr>
        <p:spPr>
          <a:xfrm>
            <a:off x="594360"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 + 3 = 4 parts</a:t>
            </a:r>
          </a:p>
        </p:txBody>
      </p:sp>
      <p:sp>
        <p:nvSpPr>
          <p:cNvPr id="25" name="TextBox 24"/>
          <p:cNvSpPr txBox="1"/>
          <p:nvPr/>
        </p:nvSpPr>
        <p:spPr>
          <a:xfrm>
            <a:off x="594360"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24 ÷ 4 = 6</a:t>
            </a:r>
          </a:p>
        </p:txBody>
      </p:sp>
      <p:sp>
        <p:nvSpPr>
          <p:cNvPr id="26" name="TextBox 25"/>
          <p:cNvSpPr txBox="1"/>
          <p:nvPr/>
        </p:nvSpPr>
        <p:spPr>
          <a:xfrm>
            <a:off x="2734056"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6 + 3</a:t>
            </a:r>
          </a:p>
        </p:txBody>
      </p:sp>
      <p:sp>
        <p:nvSpPr>
          <p:cNvPr id="27" name="TextBox 26"/>
          <p:cNvSpPr txBox="1"/>
          <p:nvPr/>
        </p:nvSpPr>
        <p:spPr>
          <a:xfrm>
            <a:off x="2734056"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9</a:t>
            </a:r>
          </a:p>
        </p:txBody>
      </p:sp>
      <p:sp>
        <p:nvSpPr>
          <p:cNvPr id="28" name="TextBox 27"/>
          <p:cNvSpPr txBox="1"/>
          <p:nvPr/>
        </p:nvSpPr>
        <p:spPr>
          <a:xfrm>
            <a:off x="594360"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B receives 9 sweets</a:t>
            </a:r>
          </a:p>
        </p:txBody>
      </p:sp>
      <p:sp>
        <p:nvSpPr>
          <p:cNvPr id="29" name="Rectangle 28"/>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2: Core</a:t>
            </a:r>
          </a:p>
        </p:txBody>
      </p:sp>
      <p:sp>
        <p:nvSpPr>
          <p:cNvPr id="31" name="Rectangle 30"/>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96256" y="1755648"/>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A:B = 2:7. B has 25 more than A. Find A.</a:t>
            </a:r>
          </a:p>
        </p:txBody>
      </p:sp>
      <p:sp>
        <p:nvSpPr>
          <p:cNvPr id="33" name="TextBox 32"/>
          <p:cNvSpPr txBox="1"/>
          <p:nvPr/>
        </p:nvSpPr>
        <p:spPr>
          <a:xfrm>
            <a:off x="5215128"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7 − 2 = 5 parts</a:t>
            </a:r>
          </a:p>
        </p:txBody>
      </p:sp>
      <p:sp>
        <p:nvSpPr>
          <p:cNvPr id="34" name="TextBox 33"/>
          <p:cNvSpPr txBox="1"/>
          <p:nvPr/>
        </p:nvSpPr>
        <p:spPr>
          <a:xfrm>
            <a:off x="5215128"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25 ÷ 5 = 5</a:t>
            </a:r>
          </a:p>
        </p:txBody>
      </p:sp>
      <p:sp>
        <p:nvSpPr>
          <p:cNvPr id="35" name="TextBox 34"/>
          <p:cNvSpPr txBox="1"/>
          <p:nvPr/>
        </p:nvSpPr>
        <p:spPr>
          <a:xfrm>
            <a:off x="7354824"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2 + 5</a:t>
            </a:r>
          </a:p>
        </p:txBody>
      </p:sp>
      <p:sp>
        <p:nvSpPr>
          <p:cNvPr id="36" name="TextBox 35"/>
          <p:cNvSpPr txBox="1"/>
          <p:nvPr/>
        </p:nvSpPr>
        <p:spPr>
          <a:xfrm>
            <a:off x="7354824"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7</a:t>
            </a:r>
          </a:p>
        </p:txBody>
      </p:sp>
      <p:sp>
        <p:nvSpPr>
          <p:cNvPr id="37" name="TextBox 36"/>
          <p:cNvSpPr txBox="1"/>
          <p:nvPr/>
        </p:nvSpPr>
        <p:spPr>
          <a:xfrm>
            <a:off x="5215128"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A has 7</a:t>
            </a:r>
          </a:p>
        </p:txBody>
      </p:sp>
      <p:sp>
        <p:nvSpPr>
          <p:cNvPr id="38" name="Rectangle 37"/>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5096256" y="3758184"/>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Red:blue = 4:3. There are 15 blue counters. Find red.</a:t>
            </a:r>
          </a:p>
        </p:txBody>
      </p:sp>
      <p:sp>
        <p:nvSpPr>
          <p:cNvPr id="40" name="TextBox 39"/>
          <p:cNvSpPr txBox="1"/>
          <p:nvPr/>
        </p:nvSpPr>
        <p:spPr>
          <a:xfrm>
            <a:off x="5215128"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15 ÷ 4 = 3.75</a:t>
            </a:r>
          </a:p>
        </p:txBody>
      </p:sp>
      <p:sp>
        <p:nvSpPr>
          <p:cNvPr id="41" name="TextBox 40"/>
          <p:cNvSpPr txBox="1"/>
          <p:nvPr/>
        </p:nvSpPr>
        <p:spPr>
          <a:xfrm>
            <a:off x="7354824"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Red = 3 × 3.75</a:t>
            </a:r>
          </a:p>
        </p:txBody>
      </p:sp>
      <p:sp>
        <p:nvSpPr>
          <p:cNvPr id="42" name="TextBox 41"/>
          <p:cNvSpPr txBox="1"/>
          <p:nvPr/>
        </p:nvSpPr>
        <p:spPr>
          <a:xfrm>
            <a:off x="7354824"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Red = 11.25</a:t>
            </a:r>
          </a:p>
        </p:txBody>
      </p:sp>
      <p:sp>
        <p:nvSpPr>
          <p:cNvPr id="43" name="TextBox 42"/>
          <p:cNvSpPr txBox="1"/>
          <p:nvPr/>
        </p:nvSpPr>
        <p:spPr>
          <a:xfrm>
            <a:off x="5215128"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11.25 red counters</a:t>
            </a:r>
          </a:p>
        </p:txBody>
      </p:sp>
      <p:sp>
        <p:nvSpPr>
          <p:cNvPr id="44" name="Rectangle 43"/>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5096256" y="5760720"/>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A:B = 3:5, total 40. How many more does B have?</a:t>
            </a:r>
          </a:p>
        </p:txBody>
      </p:sp>
      <p:sp>
        <p:nvSpPr>
          <p:cNvPr id="46" name="TextBox 45"/>
          <p:cNvSpPr txBox="1"/>
          <p:nvPr/>
        </p:nvSpPr>
        <p:spPr>
          <a:xfrm>
            <a:off x="5215128"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 + 5 = 8 parts</a:t>
            </a:r>
          </a:p>
        </p:txBody>
      </p:sp>
      <p:sp>
        <p:nvSpPr>
          <p:cNvPr id="47" name="TextBox 46"/>
          <p:cNvSpPr txBox="1"/>
          <p:nvPr/>
        </p:nvSpPr>
        <p:spPr>
          <a:xfrm>
            <a:off x="5215128"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40 ÷ 8 = 5</a:t>
            </a:r>
          </a:p>
        </p:txBody>
      </p:sp>
      <p:sp>
        <p:nvSpPr>
          <p:cNvPr id="48" name="TextBox 47"/>
          <p:cNvSpPr txBox="1"/>
          <p:nvPr/>
        </p:nvSpPr>
        <p:spPr>
          <a:xfrm>
            <a:off x="5215128" y="7150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3 × 5 = 15</a:t>
            </a:r>
          </a:p>
        </p:txBody>
      </p:sp>
      <p:sp>
        <p:nvSpPr>
          <p:cNvPr id="49" name="TextBox 48"/>
          <p:cNvSpPr txBox="1"/>
          <p:nvPr/>
        </p:nvSpPr>
        <p:spPr>
          <a:xfrm>
            <a:off x="7354824"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5 × 5 = 25</a:t>
            </a:r>
          </a:p>
        </p:txBody>
      </p:sp>
      <p:sp>
        <p:nvSpPr>
          <p:cNvPr id="50" name="TextBox 49"/>
          <p:cNvSpPr txBox="1"/>
          <p:nvPr/>
        </p:nvSpPr>
        <p:spPr>
          <a:xfrm>
            <a:off x="7354824"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15 + 25 = 40</a:t>
            </a:r>
          </a:p>
        </p:txBody>
      </p:sp>
      <p:sp>
        <p:nvSpPr>
          <p:cNvPr id="51" name="TextBox 50"/>
          <p:cNvSpPr txBox="1"/>
          <p:nvPr/>
        </p:nvSpPr>
        <p:spPr>
          <a:xfrm>
            <a:off x="5215128"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B has 40 more</a:t>
            </a:r>
          </a:p>
        </p:txBody>
      </p:sp>
      <p:sp>
        <p:nvSpPr>
          <p:cNvPr id="52" name="Rectangle 51"/>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Thread 3: Depth</a:t>
            </a:r>
          </a:p>
        </p:txBody>
      </p:sp>
      <p:sp>
        <p:nvSpPr>
          <p:cNvPr id="54" name="Rectangle 53"/>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9717024" y="1755648"/>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Adults:children = 5:8, total 39. How many more children?</a:t>
            </a:r>
          </a:p>
        </p:txBody>
      </p:sp>
      <p:sp>
        <p:nvSpPr>
          <p:cNvPr id="56" name="TextBox 55"/>
          <p:cNvSpPr txBox="1"/>
          <p:nvPr/>
        </p:nvSpPr>
        <p:spPr>
          <a:xfrm>
            <a:off x="9835896"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5 + 8 = 13 parts</a:t>
            </a:r>
          </a:p>
        </p:txBody>
      </p:sp>
      <p:sp>
        <p:nvSpPr>
          <p:cNvPr id="57" name="TextBox 56"/>
          <p:cNvSpPr txBox="1"/>
          <p:nvPr/>
        </p:nvSpPr>
        <p:spPr>
          <a:xfrm>
            <a:off x="9835896"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39 ÷ 13 = 3</a:t>
            </a:r>
          </a:p>
        </p:txBody>
      </p:sp>
      <p:sp>
        <p:nvSpPr>
          <p:cNvPr id="58" name="TextBox 57"/>
          <p:cNvSpPr txBox="1"/>
          <p:nvPr/>
        </p:nvSpPr>
        <p:spPr>
          <a:xfrm>
            <a:off x="9835896" y="3145536"/>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Adults = 5 × 3 = 15</a:t>
            </a:r>
          </a:p>
        </p:txBody>
      </p:sp>
      <p:sp>
        <p:nvSpPr>
          <p:cNvPr id="59" name="TextBox 58"/>
          <p:cNvSpPr txBox="1"/>
          <p:nvPr/>
        </p:nvSpPr>
        <p:spPr>
          <a:xfrm>
            <a:off x="11975592"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Children = 8 × 3 = 24</a:t>
            </a:r>
          </a:p>
        </p:txBody>
      </p:sp>
      <p:sp>
        <p:nvSpPr>
          <p:cNvPr id="60" name="TextBox 59"/>
          <p:cNvSpPr txBox="1"/>
          <p:nvPr/>
        </p:nvSpPr>
        <p:spPr>
          <a:xfrm>
            <a:off x="11975592"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8 − 5 = 3</a:t>
            </a:r>
          </a:p>
        </p:txBody>
      </p:sp>
      <p:sp>
        <p:nvSpPr>
          <p:cNvPr id="61" name="TextBox 60"/>
          <p:cNvSpPr txBox="1"/>
          <p:nvPr/>
        </p:nvSpPr>
        <p:spPr>
          <a:xfrm>
            <a:off x="9835896"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3 more children</a:t>
            </a:r>
          </a:p>
        </p:txBody>
      </p:sp>
      <p:sp>
        <p:nvSpPr>
          <p:cNvPr id="62" name="Rectangle 61"/>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9717024" y="3758184"/>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Short:long ribbon = 3:8. Long is 35 cm longer. Total length?</a:t>
            </a:r>
          </a:p>
        </p:txBody>
      </p:sp>
      <p:sp>
        <p:nvSpPr>
          <p:cNvPr id="64" name="TextBox 63"/>
          <p:cNvSpPr txBox="1"/>
          <p:nvPr/>
        </p:nvSpPr>
        <p:spPr>
          <a:xfrm>
            <a:off x="9835896"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8 − 3 = 5 parts</a:t>
            </a:r>
          </a:p>
        </p:txBody>
      </p:sp>
      <p:sp>
        <p:nvSpPr>
          <p:cNvPr id="65" name="TextBox 64"/>
          <p:cNvSpPr txBox="1"/>
          <p:nvPr/>
        </p:nvSpPr>
        <p:spPr>
          <a:xfrm>
            <a:off x="9835896"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35 ÷ 5 = 7</a:t>
            </a:r>
          </a:p>
        </p:txBody>
      </p:sp>
      <p:sp>
        <p:nvSpPr>
          <p:cNvPr id="66" name="TextBox 65"/>
          <p:cNvSpPr txBox="1"/>
          <p:nvPr/>
        </p:nvSpPr>
        <p:spPr>
          <a:xfrm>
            <a:off x="9835896" y="5148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Short = 3 × 7 = 21</a:t>
            </a:r>
          </a:p>
        </p:txBody>
      </p:sp>
      <p:sp>
        <p:nvSpPr>
          <p:cNvPr id="67" name="TextBox 66"/>
          <p:cNvSpPr txBox="1"/>
          <p:nvPr/>
        </p:nvSpPr>
        <p:spPr>
          <a:xfrm>
            <a:off x="11975592"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Long = 8 × 7 = 56</a:t>
            </a:r>
          </a:p>
        </p:txBody>
      </p:sp>
      <p:sp>
        <p:nvSpPr>
          <p:cNvPr id="68" name="TextBox 67"/>
          <p:cNvSpPr txBox="1"/>
          <p:nvPr/>
        </p:nvSpPr>
        <p:spPr>
          <a:xfrm>
            <a:off x="11975592"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56 − 21 = 35</a:t>
            </a:r>
          </a:p>
        </p:txBody>
      </p:sp>
      <p:sp>
        <p:nvSpPr>
          <p:cNvPr id="69" name="TextBox 68"/>
          <p:cNvSpPr txBox="1"/>
          <p:nvPr/>
        </p:nvSpPr>
        <p:spPr>
          <a:xfrm>
            <a:off x="9835896"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Total length = 35 cm</a:t>
            </a:r>
          </a:p>
        </p:txBody>
      </p:sp>
      <p:sp>
        <p:nvSpPr>
          <p:cNvPr id="70" name="Rectangle 69"/>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9717024" y="5760720"/>
            <a:ext cx="4392168" cy="79552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A:B = 7:4. A has 42 tokens. How many tokens altogether?</a:t>
            </a:r>
          </a:p>
        </p:txBody>
      </p:sp>
      <p:sp>
        <p:nvSpPr>
          <p:cNvPr id="72" name="TextBox 71"/>
          <p:cNvSpPr txBox="1"/>
          <p:nvPr/>
        </p:nvSpPr>
        <p:spPr>
          <a:xfrm>
            <a:off x="9835896"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42 ÷ 7 = 6</a:t>
            </a:r>
          </a:p>
        </p:txBody>
      </p:sp>
      <p:sp>
        <p:nvSpPr>
          <p:cNvPr id="73" name="TextBox 72"/>
          <p:cNvSpPr txBox="1"/>
          <p:nvPr/>
        </p:nvSpPr>
        <p:spPr>
          <a:xfrm>
            <a:off x="9835896"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4 × 6 = 24</a:t>
            </a:r>
          </a:p>
        </p:txBody>
      </p:sp>
      <p:sp>
        <p:nvSpPr>
          <p:cNvPr id="74" name="TextBox 73"/>
          <p:cNvSpPr txBox="1"/>
          <p:nvPr/>
        </p:nvSpPr>
        <p:spPr>
          <a:xfrm>
            <a:off x="11975592"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42 + 4 = 46</a:t>
            </a:r>
          </a:p>
        </p:txBody>
      </p:sp>
      <p:sp>
        <p:nvSpPr>
          <p:cNvPr id="75" name="TextBox 74"/>
          <p:cNvSpPr txBox="1"/>
          <p:nvPr/>
        </p:nvSpPr>
        <p:spPr>
          <a:xfrm>
            <a:off x="9835896"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Total = 46 tokens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1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Sam and Jo share £60 in the ratio 2:3. How much does Jo receive?</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are mixed in the ratio 3:2. A recipe uses 180 g of flour. What is the total mass of the mixture?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ropes have lengths in the ratio 1:3. The longer rope is 12 m longer than the shorter. Find their total length.</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drink contains 600 ml of juice and water in the ratio 1:4. How much juice is in the drink?</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5:3. There are 16 more adult tickets. How many child tickets are sold?</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blue counters are in the ratio 1:5. There are 24 fewer red than blue. Find the number of each colour.</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96 cm ribbon is cut into two pieces in the ratio 5:7. Find the length of each piece.</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Ropes A and B have lengths in the ratio 4:7. Rope B is 15 m longer than rope A. How long is rope A?</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Ava and Leo share £100 in the ratio 7:3. How much more does Ava receive than Leo?</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blue beads are in the ratio 3:5. There are 12 more blue beads than red beads. How many blue beads are there?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Mia and Ben receive money in the ratio 2:5. Mia receives £18. How much do they receive altogether?</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have masses in the ratio 5:4. There is 300 g of sugar. Find the total mass.</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are mixed in the ratio 5:2. There is 150 g more flour than sugar. How much flour is there?</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Juice and water are mixed in the ratio 2:7. There are 63 litres of water. How much juice is needed?</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1,400 ml drink has water and juice in the ratio 6:1. Find the volume of each ingredient.</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Practice and rest times are in the ratio 2:1. Practice lasts 36 minutes. How long is the rest?</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Travel and sightseeing take 55 minutes in total, in the ratio 3:8. How long is spent sightseeing?</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Practice and rest times are in the ratio 6:5. Practice lasts 54 minutes. Find the total session time.</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2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560 g snack mix contains raisins and nuts in the ratio 1:7. Find the mass of raisins.</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walk has uphill and level sections in the length ratio 1:8. The uphill section is 3 km. Find the total distance.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butter have masses in the ratio 9:2. There is 280 g less butter than flour. Find the total mass.</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Fences A and B have lengths in the ratio 7:6. Fence A is 9 m longer than fence B. How long is fence B?</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490 ml paint mix contains red and white paint in the ratio 3:4. Find the volume of red paint.</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Tanks A and B hold water in the ratio 3:8. Tank A holds 15 litres. How much more water is in B than A?</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45-minute lesson has instruction and practice in the ratio 1:2. How long is spent practising?</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Eve and Max share money in the ratio 8:5. Eve gets £21 more than Max. How much does Max get?</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Reading and writing take 78 minutes in total, in the ratio 4:9. Find both times.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Kim and Ali receive money in the ratio 7:5. Kim gets £56. How much does Ali receive?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Study and break times are in the ratio 5:1. Studying takes 48 minutes longer than breaks. How long are the breaks?</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pieces of wood have lengths in the ratio 5:9. The longer is 28 cm longer. Find the longer length.</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white flowers are in the ratio 4:5. There are 7 more white than red. How many are white?</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300 g mix contains raisins and oats in the ratio 7:8. Find the mass of raisins.</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Nia and Tom share £208 in the ratio 7:9. How much more does Tom get than Nia?</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Blue and white paint are mixed in the ratio 1:3. There is 180 ml of white paint. Find the total volume.</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farm has sheep and goats in the ratio 9:1. There are 72 sheep. How many animals are there altogether?</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9:8. There are 81 adult tickets. Find the total number of tickets.</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3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club has 80 junior and senior members in the ratio 7:3. How many members are seniors?</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Study and break times are in the ratio 8:1. Study takes 64 minutes. Find the total time.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sessions have durations in the ratio 1:10. The second lasts 72 minutes longer. Find the first session’s duration.</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Milk and coffee are mixed in the ratio 4:1. There is 100 ml of coffee. Find the volume of milk.</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Rods A and B have lengths in the ratio 5:8. Rod B is 21 mm longer than rod A. How long is rod B?</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Kai and May receive money in the ratio 9:5. May gets £60. Find their combined amount.</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Dan and Pat share money in the ratio 1:6. Pat gets £70 more than Dan. How much does Dan get?</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recipe uses flour and butter in the ratio 4:3 by mass. There are 90 g of butter. Find the total mass.</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farm has 143 sheep and goats in the ratio 10:3. How many more sheep are there than goats?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Action and dialogue times are in the ratio 5:6. Dialogue lasts 15 minutes longer. How long is the dialogue?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Green and yellow beads are in the ratio 7:8. There are 3 more yellow than green. How many are yellow?</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Milk and water have volumes in the ratio 10:7. There is 500 ml of milk. How much less water is there than milk?</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800 g fruit mix contains apples and pears in the ratio 7:1. Find the mass of pears.</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Sam and Jo share £90 in the ratio 9:1. How much does Jo receive?</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paths have lengths in the ratio 4:9. The longer is 35 m longer. Find their combined length.</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Wire pieces A and B have lengths in the ratio 7:6. A is 84 cm long. Find the length of B.</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Concentrate and water are mixed in the ratio 2:9. There is 675 ml of water. Find the total volume.</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950 g mix contains oats and raisins in the ratio 10:9. Find the mass of each ingredient.</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4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1: Guided</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2: Core</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Thread 3: Depth</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30-minute trip has walking and cycling times in the ratio 1:2. Find the cycling time.</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charities receive money in the ratio 7:9. The second gets £108. How much is donated altogether?</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tanks hold water in the ratio 1:11. The second holds 90 litres more. How much water is in the first?</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buckets contain 20 litres of water in total, in the ratio 1:3. Find the amount in each bucket.</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tray has 102 red and yellow plants in the ratio 8:9. How many plants are yellow?</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Nuts and raisins are mixed in the ratio 11:7 by mass. There are 210 g of raisins. Find the total mass.</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Ribbons A and B have lengths in the ratio 2:3. B is 12 cm longer than A. How long is ribbon B?</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Mixing and baking times are in the ratio 1:5. Baking takes 25 minutes. How long does mixing take?</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ribbons have a total length of 285 cm, in the ratio 8:11. Find the difference in their lengths.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Noor and Will receive money in the ratio 7:4. Will gets £48. Find Noor’s share.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sacks have masses in the ratio 7:3. The heavier weighs 16 kg more. How much does the lighter weigh?</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11:2. There are 143 adult tickets. How many more adult tickets are sold?</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Dark and milk chocolates are in the ratio 1:4. There are 36 more milk than dark. How many are milk?</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Blue and white paint are in the ratio 2:5. There are 9 litres more white than blue. How much is blue?</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Leah and Omar receive money in the ratio 3:11. Leah gets £64 less than Omar. How much does Omar get?</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560 g bread mix has white and brown flour in the ratio 4:3. Find the mass of brown flour.</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Ropes A and B total 56 m, with lengths in the ratio 5:3. Find the length of B.</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Work and breaks take 90 minutes in total, in the ratio 7:2. How much longer is spent working than on breaks?</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Maths Revision Starters</dc:title>
  <dc:subject>Lattice multiplication, bus stop division and application to exam problems</dc:subject>
  <dc:creator>Maths teaching resources</dc:creator>
  <cp:keywords/>
  <dc:description>generated using python-pptx</dc:description>
  <cp:revision>1</cp:revision>
  <dcterms:created xsi:type="dcterms:W3CDTF">2013-01-27T09:14:16Z</dcterms:created>
  <dcterms:modified xsi:type="dcterms:W3CDTF">2026-09-24T15:49:41Z</dcterms:modified>
  <cp:category/>
</cp:coreProperties>
</file>