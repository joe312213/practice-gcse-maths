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7" r:id="rId29"/>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worked demo</a:t>
            </a:r>
          </a:p>
          <a:p/>
          <a:p>
            <a:r>
              <a:t>Guided: 43 × 6 = 258. Core: 34 × 12 = 408. Depth: 4,312 × 156 = 672,672.</a:t>
            </a:r>
          </a:p>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step-by-step practice 1</a:t>
            </a:r>
          </a:p>
          <a:p/>
          <a:p>
            <a:r>
              <a:t>Thread 1: Guided: 53 × 7 = **371**</a:t>
            </a:r>
          </a:p>
          <a:p/>
          <a:p>
            <a:r>
              <a:t>Thread 2: Core: 24 × 15 = **360**</a:t>
            </a:r>
          </a:p>
          <a:p/>
          <a:p>
            <a:r>
              <a:t>Thread 3: Depth: 1,245 × 326 = **405,870**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step-by-step practice 2</a:t>
            </a:r>
          </a:p>
          <a:p/>
          <a:p>
            <a:r>
              <a:t>Thread 1: Guided: 84 × 5 = **420**</a:t>
            </a:r>
          </a:p>
          <a:p/>
          <a:p>
            <a:r>
              <a:t>Thread 2: Core: 63 × 28 = **1,764**</a:t>
            </a:r>
          </a:p>
          <a:p/>
          <a:p>
            <a:r>
              <a:t>Thread 3: Depth: 3,142 × 2045 = **6,425,390**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1</a:t>
            </a:r>
          </a:p>
          <a:p/>
          <a:p>
            <a:r>
              <a:t>### Thread 1: Guided</a:t>
            </a:r>
          </a:p>
          <a:p/>
          <a:p>
            <a:r>
              <a:t>1. 32 × 4 = **128**</a:t>
            </a:r>
          </a:p>
          <a:p/>
          <a:p>
            <a:r>
              <a:t>2. 61 × 8 = **488**</a:t>
            </a:r>
          </a:p>
          <a:p/>
          <a:p>
            <a:r>
              <a:t>3. 45 × 3 = **135**</a:t>
            </a:r>
          </a:p>
          <a:p/>
          <a:p>
            <a:r>
              <a:t>4. 72 × 6 = **432**</a:t>
            </a:r>
          </a:p>
          <a:p/>
          <a:p>
            <a:r>
              <a:t>5. 83 × 7 = **581**</a:t>
            </a:r>
          </a:p>
          <a:p/>
          <a:p>
            <a:r>
              <a:t>6. 95 × 9 = **855**</a:t>
            </a:r>
          </a:p>
          <a:p/>
          <a:p>
            <a:r>
              <a:t>### Thread 2: Core</a:t>
            </a:r>
          </a:p>
          <a:p/>
          <a:p>
            <a:r>
              <a:t>1. 42 × 13 = **546**</a:t>
            </a:r>
          </a:p>
          <a:p/>
          <a:p>
            <a:r>
              <a:t>2. 26 × 34 = **884**</a:t>
            </a:r>
          </a:p>
          <a:p/>
          <a:p>
            <a:r>
              <a:t>3. 51 × 22 = **1,122**</a:t>
            </a:r>
          </a:p>
          <a:p/>
          <a:p>
            <a:r>
              <a:t>4. 63 × 41 = **2,583**</a:t>
            </a:r>
          </a:p>
          <a:p/>
          <a:p>
            <a:r>
              <a:t>5. 75 × 16 = **1,200**</a:t>
            </a:r>
          </a:p>
          <a:p/>
          <a:p>
            <a:r>
              <a:t>6. 82 × 57 = **4,674**</a:t>
            </a:r>
          </a:p>
          <a:p/>
          <a:p>
            <a:r>
              <a:t>### Thread 3: Depth</a:t>
            </a:r>
          </a:p>
          <a:p/>
          <a:p>
            <a:r>
              <a:t>1. 342 × 15 = **5,130**</a:t>
            </a:r>
          </a:p>
          <a:p/>
          <a:p>
            <a:r>
              <a:t>2. 612 × 24 = **14,688**</a:t>
            </a:r>
          </a:p>
          <a:p/>
          <a:p>
            <a:r>
              <a:t>3. 1,234 × 125 = **154,250**</a:t>
            </a:r>
          </a:p>
          <a:p/>
          <a:p>
            <a:r>
              <a:t>4. 2,105 × 304 = **639,920**</a:t>
            </a:r>
          </a:p>
          <a:p/>
          <a:p>
            <a:r>
              <a:t>5. 4,316 × 1,024 = **4,419,584**</a:t>
            </a:r>
          </a:p>
          <a:p/>
          <a:p>
            <a:r>
              <a:t>6. 7,029 × 2,316 = **16,279,164**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2</a:t>
            </a:r>
          </a:p>
          <a:p/>
          <a:p>
            <a:r>
              <a:t>### Thread 1: Guided</a:t>
            </a:r>
          </a:p>
          <a:p/>
          <a:p>
            <a:r>
              <a:t>1. 24 × 6 = **144**</a:t>
            </a:r>
          </a:p>
          <a:p/>
          <a:p>
            <a:r>
              <a:t>2. 57 × 4 = **228**</a:t>
            </a:r>
          </a:p>
          <a:p/>
          <a:p>
            <a:r>
              <a:t>3. 68 × 3 = **204**</a:t>
            </a:r>
          </a:p>
          <a:p/>
          <a:p>
            <a:r>
              <a:t>4. 39 × 7 = **273**</a:t>
            </a:r>
          </a:p>
          <a:p/>
          <a:p>
            <a:r>
              <a:t>5. 86 × 5 = **430**</a:t>
            </a:r>
          </a:p>
          <a:p/>
          <a:p>
            <a:r>
              <a:t>6. 74 × 8 = **592**</a:t>
            </a:r>
          </a:p>
          <a:p/>
          <a:p>
            <a:r>
              <a:t>### Thread 2: Core</a:t>
            </a:r>
          </a:p>
          <a:p/>
          <a:p>
            <a:r>
              <a:t>1. 23 × 14 = **322**</a:t>
            </a:r>
          </a:p>
          <a:p/>
          <a:p>
            <a:r>
              <a:t>2. 46 × 25 = **1,150**</a:t>
            </a:r>
          </a:p>
          <a:p/>
          <a:p>
            <a:r>
              <a:t>3. 37 × 42 = **1,554**</a:t>
            </a:r>
          </a:p>
          <a:p/>
          <a:p>
            <a:r>
              <a:t>4. 58 × 36 = **2,088**</a:t>
            </a:r>
          </a:p>
          <a:p/>
          <a:p>
            <a:r>
              <a:t>5. 64 × 27 = **1,728**</a:t>
            </a:r>
          </a:p>
          <a:p/>
          <a:p>
            <a:r>
              <a:t>6. 79 × 53 = **4,187**</a:t>
            </a:r>
          </a:p>
          <a:p/>
          <a:p>
            <a:r>
              <a:t>### Thread 3: Depth</a:t>
            </a:r>
          </a:p>
          <a:p/>
          <a:p>
            <a:r>
              <a:t>1. 425 × 23 = **9,775**</a:t>
            </a:r>
          </a:p>
          <a:p/>
          <a:p>
            <a:r>
              <a:t>2. 708 × 46 = **32,568**</a:t>
            </a:r>
          </a:p>
          <a:p/>
          <a:p>
            <a:r>
              <a:t>3. 1,326 × 243 = **322,218**</a:t>
            </a:r>
          </a:p>
          <a:p/>
          <a:p>
            <a:r>
              <a:t>4. 3,048 × 512 = **1,560,576**</a:t>
            </a:r>
          </a:p>
          <a:p/>
          <a:p>
            <a:r>
              <a:t>5. 5,607 × 1,204 = **6,750,828**</a:t>
            </a:r>
          </a:p>
          <a:p/>
          <a:p>
            <a:r>
              <a:t>6. 8,214 × 3,067 = **25,192,338**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3</a:t>
            </a:r>
          </a:p>
          <a:p/>
          <a:p>
            <a:r>
              <a:t>### Thread 1: Guided</a:t>
            </a:r>
          </a:p>
          <a:p/>
          <a:p>
            <a:r>
              <a:t>1. 46 × 7 = **322**</a:t>
            </a:r>
          </a:p>
          <a:p/>
          <a:p>
            <a:r>
              <a:t>2. 29 × 8 = **232**</a:t>
            </a:r>
          </a:p>
          <a:p/>
          <a:p>
            <a:r>
              <a:t>3. 65 × 4 = **260**</a:t>
            </a:r>
          </a:p>
          <a:p/>
          <a:p>
            <a:r>
              <a:t>4. 78 × 6 = **468**</a:t>
            </a:r>
          </a:p>
          <a:p/>
          <a:p>
            <a:r>
              <a:t>5. 93 × 5 = **465**</a:t>
            </a:r>
          </a:p>
          <a:p/>
          <a:p>
            <a:r>
              <a:t>6. 87 × 9 = **783**</a:t>
            </a:r>
          </a:p>
          <a:p/>
          <a:p>
            <a:r>
              <a:t>### Thread 2: Core</a:t>
            </a:r>
          </a:p>
          <a:p/>
          <a:p>
            <a:r>
              <a:t>1. 35 × 24 = **840**</a:t>
            </a:r>
          </a:p>
          <a:p/>
          <a:p>
            <a:r>
              <a:t>2. 62 × 17 = **1,054**</a:t>
            </a:r>
          </a:p>
          <a:p/>
          <a:p>
            <a:r>
              <a:t>3. 48 × 39 = **1,872**</a:t>
            </a:r>
          </a:p>
          <a:p/>
          <a:p>
            <a:r>
              <a:t>4. 76 × 28 = **2,128**</a:t>
            </a:r>
          </a:p>
          <a:p/>
          <a:p>
            <a:r>
              <a:t>5. 54 × 46 = **2,484**</a:t>
            </a:r>
          </a:p>
          <a:p/>
          <a:p>
            <a:r>
              <a:t>6. 89 × 65 = **5,785**</a:t>
            </a:r>
          </a:p>
          <a:p/>
          <a:p>
            <a:r>
              <a:t>### Thread 3: Depth</a:t>
            </a:r>
          </a:p>
          <a:p/>
          <a:p>
            <a:r>
              <a:t>1. 536 × 34 = **18,224**</a:t>
            </a:r>
          </a:p>
          <a:p/>
          <a:p>
            <a:r>
              <a:t>2. 809 × 27 = **21,843**</a:t>
            </a:r>
          </a:p>
          <a:p/>
          <a:p>
            <a:r>
              <a:t>3. 2,047 × 368 = **753,296**</a:t>
            </a:r>
          </a:p>
          <a:p/>
          <a:p>
            <a:r>
              <a:t>4. 4,158 × 427 = **1,775,466**</a:t>
            </a:r>
          </a:p>
          <a:p/>
          <a:p>
            <a:r>
              <a:t>5. 6,309 × 2,058 = **12,983,922**</a:t>
            </a:r>
          </a:p>
          <a:p/>
          <a:p>
            <a:r>
              <a:t>6. 9,274 × 4,163 = **38,607,662**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Lattice Multiplication — independent practice 4</a:t>
            </a:r>
          </a:p>
          <a:p/>
          <a:p>
            <a:r>
              <a:t>### Thread 1: Guided</a:t>
            </a:r>
          </a:p>
          <a:p/>
          <a:p>
            <a:r>
              <a:t>1. 38 × 5 = **190**</a:t>
            </a:r>
          </a:p>
          <a:p/>
          <a:p>
            <a:r>
              <a:t>2. 56 × 9 = **504**</a:t>
            </a:r>
          </a:p>
          <a:p/>
          <a:p>
            <a:r>
              <a:t>3. 67 × 8 = **536**</a:t>
            </a:r>
          </a:p>
          <a:p/>
          <a:p>
            <a:r>
              <a:t>4. 49 × 6 = **294**</a:t>
            </a:r>
          </a:p>
          <a:p/>
          <a:p>
            <a:r>
              <a:t>5. 82 × 4 = **328**</a:t>
            </a:r>
          </a:p>
          <a:p/>
          <a:p>
            <a:r>
              <a:t>6. 97 × 7 = **679**</a:t>
            </a:r>
          </a:p>
          <a:p/>
          <a:p>
            <a:r>
              <a:t>### Thread 2: Core</a:t>
            </a:r>
          </a:p>
          <a:p/>
          <a:p>
            <a:r>
              <a:t>1. 27 × 35 = **945**</a:t>
            </a:r>
          </a:p>
          <a:p/>
          <a:p>
            <a:r>
              <a:t>2. 43 × 26 = **1,118**</a:t>
            </a:r>
          </a:p>
          <a:p/>
          <a:p>
            <a:r>
              <a:t>3. 69 × 48 = **3,312**</a:t>
            </a:r>
          </a:p>
          <a:p/>
          <a:p>
            <a:r>
              <a:t>4. 85 × 37 = **3,145**</a:t>
            </a:r>
          </a:p>
          <a:p/>
          <a:p>
            <a:r>
              <a:t>5. 74 × 59 = **4,366**</a:t>
            </a:r>
          </a:p>
          <a:p/>
          <a:p>
            <a:r>
              <a:t>6. 96 × 68 = **6,528**</a:t>
            </a:r>
          </a:p>
          <a:p/>
          <a:p>
            <a:r>
              <a:t>### Thread 3: Depth</a:t>
            </a:r>
          </a:p>
          <a:p/>
          <a:p>
            <a:r>
              <a:t>1. 647 × 45 = **29,115**</a:t>
            </a:r>
          </a:p>
          <a:p/>
          <a:p>
            <a:r>
              <a:t>2. 902 × 38 = **34,276**</a:t>
            </a:r>
          </a:p>
          <a:p/>
          <a:p>
            <a:r>
              <a:t>3. 3,156 × 489 = **1,543,284**</a:t>
            </a:r>
          </a:p>
          <a:p/>
          <a:p>
            <a:r>
              <a:t>4. 5,027 × 596 = **2,996,092**</a:t>
            </a:r>
          </a:p>
          <a:p/>
          <a:p>
            <a:r>
              <a:t>5. 7,418 × 3,264 = **24,212,352**</a:t>
            </a:r>
          </a:p>
          <a:p/>
          <a:p>
            <a:r>
              <a:t>6. 8,639 × 5,076 = **43,851,564**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worked demo</a:t>
            </a:r>
          </a:p>
          <a:p/>
          <a:p>
            <a:r>
              <a:t>Guided: 21. Core: 24 r 1. Depth: 302.125.</a:t>
            </a:r>
          </a:p>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step-by-step practice 1</a:t>
            </a:r>
          </a:p>
          <a:p/>
          <a:p>
            <a:r>
              <a:t>Thread 1: Guided: 88 ÷ 4 = **22**</a:t>
            </a:r>
          </a:p>
          <a:p/>
          <a:p>
            <a:r>
              <a:t>Thread 2: Core: 130 ÷ 4 = **32 r 2**</a:t>
            </a:r>
          </a:p>
          <a:p/>
          <a:p>
            <a:r>
              <a:t>Thread 3: Depth: 5,122 ÷ 16 = **320.125**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step-by-step practice 2</a:t>
            </a:r>
          </a:p>
          <a:p/>
          <a:p>
            <a:r>
              <a:t>Thread 1: Guided: 66 ÷ 3 = **22**</a:t>
            </a:r>
          </a:p>
          <a:p/>
          <a:p>
            <a:r>
              <a:t>Thread 2: Core: 227 ÷ 6 = **37 r 5**</a:t>
            </a:r>
          </a:p>
          <a:p/>
          <a:p>
            <a:r>
              <a:t>Thread 3: Depth: 3,827 ÷ 25 = **153.08**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1</a:t>
            </a:r>
          </a:p>
          <a:p/>
          <a:p>
            <a:r>
              <a:t>### Thread 1: Guided</a:t>
            </a:r>
          </a:p>
          <a:p/>
          <a:p>
            <a:r>
              <a:t>1. 48 ÷ 4 = **12**</a:t>
            </a:r>
          </a:p>
          <a:p/>
          <a:p>
            <a:r>
              <a:t>2. 69 ÷ 3 = **23**</a:t>
            </a:r>
          </a:p>
          <a:p/>
          <a:p>
            <a:r>
              <a:t>3. 84 ÷ 2 = **42**</a:t>
            </a:r>
          </a:p>
          <a:p/>
          <a:p>
            <a:r>
              <a:t>4. 96 ÷ 3 = **32**</a:t>
            </a:r>
          </a:p>
          <a:p/>
          <a:p>
            <a:r>
              <a:t>5. 55 ÷ 5 = **11**</a:t>
            </a:r>
          </a:p>
          <a:p/>
          <a:p>
            <a:r>
              <a:t>6. 88 ÷ 8 = **11**</a:t>
            </a:r>
          </a:p>
          <a:p/>
          <a:p>
            <a:r>
              <a:t>### Thread 2: Core</a:t>
            </a:r>
          </a:p>
          <a:p/>
          <a:p>
            <a:r>
              <a:t>1. 72 ÷ 3 = **24**</a:t>
            </a:r>
          </a:p>
          <a:p/>
          <a:p>
            <a:r>
              <a:t>2. 135 ÷ 5 = **27**</a:t>
            </a:r>
          </a:p>
          <a:p/>
          <a:p>
            <a:r>
              <a:t>3. 172 ÷ 4 = **43**</a:t>
            </a:r>
          </a:p>
          <a:p/>
          <a:p>
            <a:r>
              <a:t>4. 218 ÷ 6 = **36 r 2**</a:t>
            </a:r>
          </a:p>
          <a:p/>
          <a:p>
            <a:r>
              <a:t>5. 341 ÷ 7 = **48 r 5**</a:t>
            </a:r>
          </a:p>
          <a:p/>
          <a:p>
            <a:r>
              <a:t>6. 502 ÷ 8 = **62 r 6**</a:t>
            </a:r>
          </a:p>
          <a:p/>
          <a:p>
            <a:r>
              <a:t>### Thread 3: Depth</a:t>
            </a:r>
          </a:p>
          <a:p/>
          <a:p>
            <a:r>
              <a:t>1. 514 ÷ 4 = **128.5**</a:t>
            </a:r>
          </a:p>
          <a:p/>
          <a:p>
            <a:r>
              <a:t>2. 785 ÷ 2 = **392.5**</a:t>
            </a:r>
          </a:p>
          <a:p/>
          <a:p>
            <a:r>
              <a:t>3. 1,428 ÷ 12 = **119**</a:t>
            </a:r>
          </a:p>
          <a:p/>
          <a:p>
            <a:r>
              <a:t>4. 3,816 ÷ 24 = **159**</a:t>
            </a:r>
          </a:p>
          <a:p/>
          <a:p>
            <a:r>
              <a:t>5. 4,516 ÷ 16 = **282.25**</a:t>
            </a:r>
          </a:p>
          <a:p/>
          <a:p>
            <a:r>
              <a:t>6. 8,143 ÷ 25 = **325.72**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2</a:t>
            </a:r>
          </a:p>
          <a:p/>
          <a:p>
            <a:r>
              <a:t>### Thread 1: Guided</a:t>
            </a:r>
          </a:p>
          <a:p/>
          <a:p>
            <a:r>
              <a:t>1. 46 ÷ 2 = **23**</a:t>
            </a:r>
          </a:p>
          <a:p/>
          <a:p>
            <a:r>
              <a:t>2. 93 ÷ 3 = **31**</a:t>
            </a:r>
          </a:p>
          <a:p/>
          <a:p>
            <a:r>
              <a:t>3. 66 ÷ 6 = **11**</a:t>
            </a:r>
          </a:p>
          <a:p/>
          <a:p>
            <a:r>
              <a:t>4. 884 ÷ 4 = **221**</a:t>
            </a:r>
          </a:p>
          <a:p/>
          <a:p>
            <a:r>
              <a:t>5. 555 ÷ 5 = **111**</a:t>
            </a:r>
          </a:p>
          <a:p/>
          <a:p>
            <a:r>
              <a:t>6. 639 ÷ 3 = **213**</a:t>
            </a:r>
          </a:p>
          <a:p/>
          <a:p>
            <a:r>
              <a:t>### Thread 2: Core</a:t>
            </a:r>
          </a:p>
          <a:p/>
          <a:p>
            <a:r>
              <a:t>1. 84 ÷ 3 = **28**</a:t>
            </a:r>
          </a:p>
          <a:p/>
          <a:p>
            <a:r>
              <a:t>2. 156 ÷ 4 = **39**</a:t>
            </a:r>
          </a:p>
          <a:p/>
          <a:p>
            <a:r>
              <a:t>3. 235 ÷ 6 = **39 r 1**</a:t>
            </a:r>
          </a:p>
          <a:p/>
          <a:p>
            <a:r>
              <a:t>4. 326 ÷ 7 = **46 r 4**</a:t>
            </a:r>
          </a:p>
          <a:p/>
          <a:p>
            <a:r>
              <a:t>5. 458 ÷ 8 = **57 r 2**</a:t>
            </a:r>
          </a:p>
          <a:p/>
          <a:p>
            <a:r>
              <a:t>6. 617 ÷ 9 = **68 r 5**</a:t>
            </a:r>
          </a:p>
          <a:p/>
          <a:p>
            <a:r>
              <a:t>### Thread 3: Depth</a:t>
            </a:r>
          </a:p>
          <a:p/>
          <a:p>
            <a:r>
              <a:t>1. 627 ÷ 4 = **156.75**</a:t>
            </a:r>
          </a:p>
          <a:p/>
          <a:p>
            <a:r>
              <a:t>2. 943 ÷ 2 = **471.5**</a:t>
            </a:r>
          </a:p>
          <a:p/>
          <a:p>
            <a:r>
              <a:t>3. 2,136 ÷ 12 = **178**</a:t>
            </a:r>
          </a:p>
          <a:p/>
          <a:p>
            <a:r>
              <a:t>4. 4,608 ÷ 32 = **144**</a:t>
            </a:r>
          </a:p>
          <a:p/>
          <a:p>
            <a:r>
              <a:t>5. 5,729 ÷ 16 = **358.0625**</a:t>
            </a:r>
          </a:p>
          <a:p/>
          <a:p>
            <a:r>
              <a:t>6. 9,031 ÷ 40 = **225.775**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3</a:t>
            </a:r>
          </a:p>
          <a:p/>
          <a:p>
            <a:r>
              <a:t>### Thread 1: Guided</a:t>
            </a:r>
          </a:p>
          <a:p/>
          <a:p>
            <a:r>
              <a:t>1. 82 ÷ 2 = **41**</a:t>
            </a:r>
          </a:p>
          <a:p/>
          <a:p>
            <a:r>
              <a:t>2. 963 ÷ 3 = **321**</a:t>
            </a:r>
          </a:p>
          <a:p/>
          <a:p>
            <a:r>
              <a:t>3. 848 ÷ 4 = **212**</a:t>
            </a:r>
          </a:p>
          <a:p/>
          <a:p>
            <a:r>
              <a:t>4. 777 ÷ 7 = **111**</a:t>
            </a:r>
          </a:p>
          <a:p/>
          <a:p>
            <a:r>
              <a:t>5. 888 ÷ 8 = **111**</a:t>
            </a:r>
          </a:p>
          <a:p/>
          <a:p>
            <a:r>
              <a:t>6. 606 ÷ 3 = **202**</a:t>
            </a:r>
          </a:p>
          <a:p/>
          <a:p>
            <a:r>
              <a:t>### Thread 2: Core</a:t>
            </a:r>
          </a:p>
          <a:p/>
          <a:p>
            <a:r>
              <a:t>1. 95 ÷ 4 = **23 r 3**</a:t>
            </a:r>
          </a:p>
          <a:p/>
          <a:p>
            <a:r>
              <a:t>2. 184 ÷ 5 = **36 r 4**</a:t>
            </a:r>
          </a:p>
          <a:p/>
          <a:p>
            <a:r>
              <a:t>3. 267 ÷ 8 = **33 r 3**</a:t>
            </a:r>
          </a:p>
          <a:p/>
          <a:p>
            <a:r>
              <a:t>4. 397 ÷ 6 = **66 r 1**</a:t>
            </a:r>
          </a:p>
          <a:p/>
          <a:p>
            <a:r>
              <a:t>5. 523 ÷ 7 = **74 r 5**</a:t>
            </a:r>
          </a:p>
          <a:p/>
          <a:p>
            <a:r>
              <a:t>6. 748 ÷ 9 = **83 r 1**</a:t>
            </a:r>
          </a:p>
          <a:p/>
          <a:p>
            <a:r>
              <a:t>### Thread 3: Depth</a:t>
            </a:r>
          </a:p>
          <a:p/>
          <a:p>
            <a:r>
              <a:t>1. 738 ÷ 4 = **184.5**</a:t>
            </a:r>
          </a:p>
          <a:p/>
          <a:p>
            <a:r>
              <a:t>2. 859 ÷ 2 = **429.5**</a:t>
            </a:r>
          </a:p>
          <a:p/>
          <a:p>
            <a:r>
              <a:t>3. 3,264 ÷ 24 = **136**</a:t>
            </a:r>
          </a:p>
          <a:p/>
          <a:p>
            <a:r>
              <a:t>4. 5,175 ÷ 15 = **345**</a:t>
            </a:r>
          </a:p>
          <a:p/>
          <a:p>
            <a:r>
              <a:t>5. 6,843 ÷ 25 = **273.72**</a:t>
            </a:r>
          </a:p>
          <a:p/>
          <a:p>
            <a:r>
              <a:t>6. 7,249 ÷ 20 = **362.45**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 Stop Division — independent practice 4</a:t>
            </a:r>
          </a:p>
          <a:p/>
          <a:p>
            <a:r>
              <a:t>### Thread 1: Guided</a:t>
            </a:r>
          </a:p>
          <a:p/>
          <a:p>
            <a:r>
              <a:t>1. 62 ÷ 2 = **31**</a:t>
            </a:r>
          </a:p>
          <a:p/>
          <a:p>
            <a:r>
              <a:t>2. 936 ÷ 3 = **312**</a:t>
            </a:r>
          </a:p>
          <a:p/>
          <a:p>
            <a:r>
              <a:t>3. 448 ÷ 4 = **112**</a:t>
            </a:r>
          </a:p>
          <a:p/>
          <a:p>
            <a:r>
              <a:t>4. 505 ÷ 5 = **101**</a:t>
            </a:r>
          </a:p>
          <a:p/>
          <a:p>
            <a:r>
              <a:t>5. 666 ÷ 6 = **111**</a:t>
            </a:r>
          </a:p>
          <a:p/>
          <a:p>
            <a:r>
              <a:t>6. 999 ÷ 9 = **111**</a:t>
            </a:r>
          </a:p>
          <a:p/>
          <a:p>
            <a:r>
              <a:t>### Thread 2: Core</a:t>
            </a:r>
          </a:p>
          <a:p/>
          <a:p>
            <a:r>
              <a:t>1. 108 ÷ 4 = **27**</a:t>
            </a:r>
          </a:p>
          <a:p/>
          <a:p>
            <a:r>
              <a:t>2. 245 ÷ 6 = **40 r 5**</a:t>
            </a:r>
          </a:p>
          <a:p/>
          <a:p>
            <a:r>
              <a:t>3. 314 ÷ 7 = **44 r 6**</a:t>
            </a:r>
          </a:p>
          <a:p/>
          <a:p>
            <a:r>
              <a:t>4. 467 ÷ 8 = **58 r 3**</a:t>
            </a:r>
          </a:p>
          <a:p/>
          <a:p>
            <a:r>
              <a:t>5. 586 ÷ 9 = **65 r 1**</a:t>
            </a:r>
          </a:p>
          <a:p/>
          <a:p>
            <a:r>
              <a:t>6. 703 ÷ 5 = **140 r 3**</a:t>
            </a:r>
          </a:p>
          <a:p/>
          <a:p>
            <a:r>
              <a:t>### Thread 3: Depth</a:t>
            </a:r>
          </a:p>
          <a:p/>
          <a:p>
            <a:r>
              <a:t>1. 849 ÷ 4 = **212.25**</a:t>
            </a:r>
          </a:p>
          <a:p/>
          <a:p>
            <a:r>
              <a:t>2. 967 ÷ 2 = **483.5**</a:t>
            </a:r>
          </a:p>
          <a:p/>
          <a:p>
            <a:r>
              <a:t>3. 4,374 ÷ 18 = **243**</a:t>
            </a:r>
          </a:p>
          <a:p/>
          <a:p>
            <a:r>
              <a:t>4. 6,288 ÷ 48 = **131**</a:t>
            </a:r>
          </a:p>
          <a:p/>
          <a:p>
            <a:r>
              <a:t>5. 7,957 ÷ 16 = **497.3125**</a:t>
            </a:r>
          </a:p>
          <a:p/>
          <a:p>
            <a:r>
              <a:t>6. 8,623 ÷ 50 = **172.46**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worked demo</a:t>
            </a:r>
          </a:p>
          <a:p/>
          <a:p>
            <a:r>
              <a:t>Guided: 84 ÷ 4 = 21 tins per box. Core: 130 ÷ 6 = 21 r 4, so 21 full packs. Depth: 145 ÷ 9 = 16 r 1, so 17 minibuses; 17 × 40 = £680.</a:t>
            </a:r>
          </a:p>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step-by-step practice 1</a:t>
            </a:r>
          </a:p>
          <a:p/>
          <a:p>
            <a:r>
              <a:t>Thread 1: Guided: 42 × 15 = 630 pens. Estimate: 40 × 15 = 600.</a:t>
            </a:r>
          </a:p>
          <a:p/>
          <a:p>
            <a:r>
              <a:t>Thread 2: Core: 215 ÷ 6 = 35 r 5 → 35 full bags. Estimate: 210 ÷ 6 = 35.</a:t>
            </a:r>
          </a:p>
          <a:p/>
          <a:p>
            <a:r>
              <a:t>Thread 3: Depth: 18 × 32 = 576; 576 + 120 = £696. Estimate: 20 × 30 + 120 = 720.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step-by-step practice 2</a:t>
            </a:r>
          </a:p>
          <a:p/>
          <a:p>
            <a:r>
              <a:t>Thread 1: Guided: 168 ÷ 7 = 24 students. Estimate: 140 ÷ 7 = 20.</a:t>
            </a:r>
          </a:p>
          <a:p/>
          <a:p>
            <a:r>
              <a:t>Thread 2: Core: 16 × 27 = £432. Estimate: 16 × 30 = 480.</a:t>
            </a:r>
          </a:p>
          <a:p/>
          <a:p>
            <a:r>
              <a:t>Thread 3: Depth: 157 ÷ 8 = 19 r 5 → 20 vans; 20 × 45 = £900. Estimate: 160 ÷ 8 × 45 = 900.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1</a:t>
            </a:r>
          </a:p>
          <a:p/>
          <a:p>
            <a:r>
              <a:t>### Thread 1: Guided</a:t>
            </a:r>
          </a:p>
          <a:p/>
          <a:p>
            <a:r>
              <a:t>1. 14 × 32 = 448 books</a:t>
            </a:r>
          </a:p>
          <a:p/>
          <a:p>
            <a:r>
              <a:t>2. 105 ÷ 7 = 15 students</a:t>
            </a:r>
          </a:p>
          <a:p/>
          <a:p>
            <a:r>
              <a:t>3. 26 × 41 = 1,066 bottles</a:t>
            </a:r>
          </a:p>
          <a:p/>
          <a:p>
            <a:r>
              <a:t>4. 148 ÷ 4 = 37 m</a:t>
            </a:r>
          </a:p>
          <a:p/>
          <a:p>
            <a:r>
              <a:t>5. 13 × 85 = 1,105 seats</a:t>
            </a:r>
          </a:p>
          <a:p/>
          <a:p>
            <a:r>
              <a:t>6. 175 ÷ 5 = £35</a:t>
            </a:r>
          </a:p>
          <a:p/>
          <a:p>
            <a:r>
              <a:t>### Thread 2: Core</a:t>
            </a:r>
          </a:p>
          <a:p/>
          <a:p>
            <a:r>
              <a:t>1. 130 ÷ 6 = 21 r 4 → 21 full cartons</a:t>
            </a:r>
          </a:p>
          <a:p/>
          <a:p>
            <a:r>
              <a:t>2. 32 ÷ 5 = 6 r 2 → 7 cars</a:t>
            </a:r>
          </a:p>
          <a:p/>
          <a:p>
            <a:r>
              <a:t>3. 250 ÷ 12 = 20 r 10 → 10 chocolates</a:t>
            </a:r>
          </a:p>
          <a:p/>
          <a:p>
            <a:r>
              <a:t>4. 17 × 28 = £476</a:t>
            </a:r>
          </a:p>
          <a:p/>
          <a:p>
            <a:r>
              <a:t>5. 142 ÷ 6 = 23 r 4 → 23 full bags</a:t>
            </a:r>
          </a:p>
          <a:p/>
          <a:p>
            <a:r>
              <a:t>6. 132 ÷ 8 = £16.50</a:t>
            </a:r>
          </a:p>
          <a:p/>
          <a:p>
            <a:r>
              <a:t>### Thread 3: Depth</a:t>
            </a:r>
          </a:p>
          <a:p/>
          <a:p>
            <a:r>
              <a:t>1. 45 × 16 = 720; 720 − 50 = £670</a:t>
            </a:r>
          </a:p>
          <a:p/>
          <a:p>
            <a:r>
              <a:t>2. 115 ÷ 8 = 14 r 3 → 15 vans; 15 × 65 = £975</a:t>
            </a:r>
          </a:p>
          <a:p/>
          <a:p>
            <a:r>
              <a:t>3. 22 × 14 = 308; 308 + 30 = £338</a:t>
            </a:r>
          </a:p>
          <a:p/>
          <a:p>
            <a:r>
              <a:t>4. 430 ÷ 12 = 35 r 10; 35 × 9 = £315</a:t>
            </a:r>
          </a:p>
          <a:p/>
          <a:p>
            <a:r>
              <a:t>5. 24 × 15 = 360; 360 + 45 = £405</a:t>
            </a:r>
          </a:p>
          <a:p/>
          <a:p>
            <a:r>
              <a:t>6. 15 × 12 = 180; 180 × 8 = £1,440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2</a:t>
            </a:r>
          </a:p>
          <a:p/>
          <a:p>
            <a:r>
              <a:t>### Thread 1: Guided</a:t>
            </a:r>
          </a:p>
          <a:p/>
          <a:p>
            <a:r>
              <a:t>1. 18 × 24 = 432 plants</a:t>
            </a:r>
          </a:p>
          <a:p/>
          <a:p>
            <a:r>
              <a:t>2. 156 ÷ 6 = 26 pens</a:t>
            </a:r>
          </a:p>
          <a:p/>
          <a:p>
            <a:r>
              <a:t>3. 23 × 16 = 368 badges</a:t>
            </a:r>
          </a:p>
          <a:p/>
          <a:p>
            <a:r>
              <a:t>4. 248 ÷ 8 = £31</a:t>
            </a:r>
          </a:p>
          <a:p/>
          <a:p>
            <a:r>
              <a:t>5. 12 × 27 = 324 km</a:t>
            </a:r>
          </a:p>
          <a:p/>
          <a:p>
            <a:r>
              <a:t>6. 189 ÷ 7 = 27 cm</a:t>
            </a:r>
          </a:p>
          <a:p/>
          <a:p>
            <a:r>
              <a:t>### Thread 2: Core</a:t>
            </a:r>
          </a:p>
          <a:p/>
          <a:p>
            <a:r>
              <a:t>1. 197 ÷ 8 = 24 r 5 → 24 bundles</a:t>
            </a:r>
          </a:p>
          <a:p/>
          <a:p>
            <a:r>
              <a:t>2. 83 ÷ 6 = 13 r 5 → 14 tents</a:t>
            </a:r>
          </a:p>
          <a:p/>
          <a:p>
            <a:r>
              <a:t>3. 275 ÷ 12 = 22 r 11 → 11 cm</a:t>
            </a:r>
          </a:p>
          <a:p/>
          <a:p>
            <a:r>
              <a:t>4. 36 × 14 = 504 pages</a:t>
            </a:r>
          </a:p>
          <a:p/>
          <a:p>
            <a:r>
              <a:t>5. 154 ÷ 4 = £38.50</a:t>
            </a:r>
          </a:p>
          <a:p/>
          <a:p>
            <a:r>
              <a:t>6. 253 ÷ 24 = 10 r 13 → 11 albums</a:t>
            </a:r>
          </a:p>
          <a:p/>
          <a:p>
            <a:r>
              <a:t>### Thread 3: Depth</a:t>
            </a:r>
          </a:p>
          <a:p/>
          <a:p>
            <a:r>
              <a:t>1. 28 × 14 = 392; 392 + 18 = £410</a:t>
            </a:r>
          </a:p>
          <a:p/>
          <a:p>
            <a:r>
              <a:t>2. 94 ÷ 6 = 15 r 4 → 16 tables; 16 × 12 = £192</a:t>
            </a:r>
          </a:p>
          <a:p/>
          <a:p>
            <a:r>
              <a:t>3. 24 × 15 = 360; 360 − 87 = 273 drinks</a:t>
            </a:r>
          </a:p>
          <a:p/>
          <a:p>
            <a:r>
              <a:t>4. 286 ÷ 8 = 35 r 6; 35 × 3 = £105</a:t>
            </a:r>
          </a:p>
          <a:p/>
          <a:p>
            <a:r>
              <a:t>5. 18 × 12 = 216; 216 ÷ 4 = £54</a:t>
            </a:r>
          </a:p>
          <a:p/>
          <a:p>
            <a:r>
              <a:t>6. 17 × 24 = 408; 408 × 2 = £816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3</a:t>
            </a:r>
          </a:p>
          <a:p/>
          <a:p>
            <a:r>
              <a:t>### Thread 1: Guided</a:t>
            </a:r>
          </a:p>
          <a:p/>
          <a:p>
            <a:r>
              <a:t>1. 16 × 35 = 560 cables</a:t>
            </a:r>
          </a:p>
          <a:p/>
          <a:p>
            <a:r>
              <a:t>2. 252 ÷ 7 = 36 stickers</a:t>
            </a:r>
          </a:p>
          <a:p/>
          <a:p>
            <a:r>
              <a:t>3. 28 × 24 = 672 seats</a:t>
            </a:r>
          </a:p>
          <a:p/>
          <a:p>
            <a:r>
              <a:t>4. 336 ÷ 8 = 42 m</a:t>
            </a:r>
          </a:p>
          <a:p/>
          <a:p>
            <a:r>
              <a:t>5. 19 × 32 = 608 cards</a:t>
            </a:r>
          </a:p>
          <a:p/>
          <a:p>
            <a:r>
              <a:t>6. 315 ÷ 9 = £35</a:t>
            </a:r>
          </a:p>
          <a:p/>
          <a:p>
            <a:r>
              <a:t>### Thread 2: Core</a:t>
            </a:r>
          </a:p>
          <a:p/>
          <a:p>
            <a:r>
              <a:t>1. 245 ÷ 8 = 30 r 5 → 30 bags</a:t>
            </a:r>
          </a:p>
          <a:p/>
          <a:p>
            <a:r>
              <a:t>2. 137 ÷ 9 = 15 r 2 → 16 trips</a:t>
            </a:r>
          </a:p>
          <a:p/>
          <a:p>
            <a:r>
              <a:t>3. 359 ÷ 12 = 29 r 11 → 11 beads</a:t>
            </a:r>
          </a:p>
          <a:p/>
          <a:p>
            <a:r>
              <a:t>4. 23 × 16 = £368</a:t>
            </a:r>
          </a:p>
          <a:p/>
          <a:p>
            <a:r>
              <a:t>5. 186 ÷ 8 = £23.25</a:t>
            </a:r>
          </a:p>
          <a:p/>
          <a:p>
            <a:r>
              <a:t>6. 25 × 48 = 1,200 cm²</a:t>
            </a:r>
          </a:p>
          <a:p/>
          <a:p>
            <a:r>
              <a:t>### Thread 3: Depth</a:t>
            </a:r>
          </a:p>
          <a:p/>
          <a:p>
            <a:r>
              <a:t>1. 21 × 18 = 378; 378 + 64 = £442</a:t>
            </a:r>
          </a:p>
          <a:p/>
          <a:p>
            <a:r>
              <a:t>2. 167 ÷ 24 = 6 r 23 → 7 coaches; 7 × 85 = £595</a:t>
            </a:r>
          </a:p>
          <a:p/>
          <a:p>
            <a:r>
              <a:t>3. 32 × 18 = 576; 576 − 145 = 431 cards</a:t>
            </a:r>
          </a:p>
          <a:p/>
          <a:p>
            <a:r>
              <a:t>4. 397 ÷ 6 = 66 r 1; 66 × 4 = £264</a:t>
            </a:r>
          </a:p>
          <a:p/>
          <a:p>
            <a:r>
              <a:t>5. 15 × 14 = 210; 210 ÷ 6 = £35</a:t>
            </a:r>
          </a:p>
          <a:p/>
          <a:p>
            <a:r>
              <a:t>6. 23 × 16 = 368; 368 × 5 = £1,840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to Exam Problems — independent practice 4</a:t>
            </a:r>
          </a:p>
          <a:p/>
          <a:p>
            <a:r>
              <a:t>### Thread 1: Guided</a:t>
            </a:r>
          </a:p>
          <a:p/>
          <a:p>
            <a:r>
              <a:t>1. 27 × 18 = 486 labels</a:t>
            </a:r>
          </a:p>
          <a:p/>
          <a:p>
            <a:r>
              <a:t>2. 384 ÷ 8 = 48 books</a:t>
            </a:r>
          </a:p>
          <a:p/>
          <a:p>
            <a:r>
              <a:t>3. 34 × 16 = 544 seedlings</a:t>
            </a:r>
          </a:p>
          <a:p/>
          <a:p>
            <a:r>
              <a:t>4. 425 ÷ 5 = £85</a:t>
            </a:r>
          </a:p>
          <a:p/>
          <a:p>
            <a:r>
              <a:t>5. 26 × 35 = 910 seats</a:t>
            </a:r>
          </a:p>
          <a:p/>
          <a:p>
            <a:r>
              <a:t>6. 294 ÷ 6 = 49 cm</a:t>
            </a:r>
          </a:p>
          <a:p/>
          <a:p>
            <a:r>
              <a:t>### Thread 2: Core</a:t>
            </a:r>
          </a:p>
          <a:p/>
          <a:p>
            <a:r>
              <a:t>1. 367 ÷ 12 = 30 r 7 → 30 boxes</a:t>
            </a:r>
          </a:p>
          <a:p/>
          <a:p>
            <a:r>
              <a:t>2. 158 ÷ 6 = 26 r 2 → 27 rooms</a:t>
            </a:r>
          </a:p>
          <a:p/>
          <a:p>
            <a:r>
              <a:t>3. 413 ÷ 15 = 27 r 8 → 8 cm</a:t>
            </a:r>
          </a:p>
          <a:p/>
          <a:p>
            <a:r>
              <a:t>4. 28 × 19 = 532 bottles</a:t>
            </a:r>
          </a:p>
          <a:p/>
          <a:p>
            <a:r>
              <a:t>5. 238 ÷ 8 = £29.75</a:t>
            </a:r>
          </a:p>
          <a:p/>
          <a:p>
            <a:r>
              <a:t>6. 319 ÷ 24 = 13 r 7 → 14 folders</a:t>
            </a:r>
          </a:p>
          <a:p/>
          <a:p>
            <a:r>
              <a:t>### Thread 3: Depth</a:t>
            </a:r>
          </a:p>
          <a:p/>
          <a:p>
            <a:r>
              <a:t>1. 36 × 17 = 612; 612 − 75 = £537</a:t>
            </a:r>
          </a:p>
          <a:p/>
          <a:p>
            <a:r>
              <a:t>2. 203 ÷ 8 = 25 r 3 → 26 tables; 26 × 15 = £390</a:t>
            </a:r>
          </a:p>
          <a:p/>
          <a:p>
            <a:r>
              <a:t>3. 29 × 24 = 696; 696 − 187 = 509 notebooks</a:t>
            </a:r>
          </a:p>
          <a:p/>
          <a:p>
            <a:r>
              <a:t>4. 518 ÷ 12 = 43 r 2; 43 × 5 = £215</a:t>
            </a:r>
          </a:p>
          <a:p/>
          <a:p>
            <a:r>
              <a:t>5. 21 × 16 = 336; 336 ÷ 7 = £48</a:t>
            </a:r>
          </a:p>
          <a:p/>
          <a:p>
            <a:r>
              <a:t>6. 28 × 15 = 420; 420 × 3 = £1,260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 Teacher Answers</a:t>
            </a:r>
          </a:p>
          <a:p/>
          <a:p>
            <a:r>
              <a:t>### Multiplication</a:t>
            </a:r>
          </a:p>
          <a:p>
            <a:r>
              <a:t>1. 43 × 6 = 258</a:t>
            </a:r>
          </a:p>
          <a:p>
            <a:r>
              <a:t>2. 68 × 4 = 272</a:t>
            </a:r>
          </a:p>
          <a:p>
            <a:r>
              <a:t>3. 476 × 82 = 39,032</a:t>
            </a:r>
          </a:p>
          <a:p>
            <a:r>
              <a:t>4. 6,038 × 591 = 3,568,458</a:t>
            </a:r>
          </a:p>
          <a:p/>
          <a:p>
            <a:r>
              <a:t>### Division</a:t>
            </a:r>
          </a:p>
          <a:p>
            <a:r>
              <a:t>1. 864 ÷ 4 = 216</a:t>
            </a:r>
          </a:p>
          <a:p>
            <a:r>
              <a:t>2. 132 ÷ 8 = 16 r 4 (or 16.5)</a:t>
            </a:r>
          </a:p>
          <a:p>
            <a:r>
              <a:t>3. 165 ÷ 6 = 27 r 3 (or 27.5)</a:t>
            </a:r>
          </a:p>
          <a:p>
            <a:r>
              <a:t>4. 615 ÷ 12 = 51.25 (or 51 r 3)</a:t>
            </a:r>
          </a:p>
          <a:p/>
          <a:p>
            <a:r>
              <a:t>### Application in Exam Questions</a:t>
            </a:r>
          </a:p>
          <a:p>
            <a:r>
              <a:t>1. 144 ÷ 6 = 24 cm</a:t>
            </a:r>
          </a:p>
          <a:p>
            <a:r>
              <a:t>2. 14 × 25 = 350 seats</a:t>
            </a:r>
          </a:p>
          <a:p>
            <a:r>
              <a:t>3. 145 ÷ 6 = 24 r 1 → 24 full boxes (1 egg left over)</a:t>
            </a:r>
          </a:p>
          <a:p>
            <a:r>
              <a:t>4. 130 ÷ 24 = 5 r 10 → 6 coaches needed; 6 × £75 = £450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1/7  •  Slide 1</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rIns="0" t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rIns="0" t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rIns="0" t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rIns="0" t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rIns="0" t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rIns="0" t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rIns="0" t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rIns="0" t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rIns="0" t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rIns="0" t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rIns="0" t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rIns="0" t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rIns="0" t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rIns="0" t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rIns="0" t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rIns="0" t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rIns="0" t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rIns="0" t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rIns="0" t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rIns="0" t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rIns="0" t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rIns="0" t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rIns="0" t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rIns="0" t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2/7  •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3/7  •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4/7  •  Slide 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5/7  •  Slide 5</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6/7  •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1  •  7/7  •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1/7  •  Slide 8</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rIns="0" t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rIns="0" t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p>
          </p:txBody>
        </p:sp>
        <p:sp>
          <p:nvSpPr>
            <p:cNvPr id="41" name="TextBox 40"/>
            <p:cNvSpPr txBox="1"/>
            <p:nvPr/>
          </p:nvSpPr>
          <p:spPr>
            <a:xfrm>
              <a:off x="8252459"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rIns="0" t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rIns="0" t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p>
          </p:txBody>
        </p:sp>
        <p:sp>
          <p:nvSpPr>
            <p:cNvPr id="56" name="TextBox 55"/>
            <p:cNvSpPr txBox="1"/>
            <p:nvPr/>
          </p:nvSpPr>
          <p:spPr>
            <a:xfrm>
              <a:off x="11200638"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rIns="0" t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2/7  •  Slide 9</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3/7  •  Slide 10</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4/7  •  Slide 11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5/7  •  Slide 12</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6/7  •  Slide 13</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2  •  7/7  •  Slide 14</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1/7  •  Slide 15</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rIns="0" t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rIns="0" t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rIns="0" t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p>
          </p:txBody>
        </p:sp>
        <p:sp>
          <p:nvSpPr>
            <p:cNvPr id="49" name="TextBox 48"/>
            <p:cNvSpPr txBox="1"/>
            <p:nvPr/>
          </p:nvSpPr>
          <p:spPr>
            <a:xfrm>
              <a:off x="8252459"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rIns="0" t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rIns="0" t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rIns="0" t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rIns="0" t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p>
          </p:txBody>
        </p:sp>
        <p:sp>
          <p:nvSpPr>
            <p:cNvPr id="64" name="TextBox 63"/>
            <p:cNvSpPr txBox="1"/>
            <p:nvPr/>
          </p:nvSpPr>
          <p:spPr>
            <a:xfrm>
              <a:off x="11228100"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rIns="0" t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rIns="0" t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rIns="0" t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rIns="0" t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rIns="0" t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rIns="0" t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rIns="0" t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rIns="0" t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rIns="0" t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rIns="0" t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rIns="0" t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rIns="0" t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2/7  •  Slide 16</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3/7  •  Slide 17</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4/7  •  Slide 18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5/7  •  Slide 19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6/7  •  Slide 20</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Module 3  •  7/7  •  Slide 21</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48768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4876800" y="0"/>
            <a:ext cx="48768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9753600" y="0"/>
            <a:ext cx="48768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384048" y="219456"/>
            <a:ext cx="12435840" cy="448056"/>
          </a:xfrm>
          <a:prstGeom prst="rect">
            <a:avLst/>
          </a:prstGeom>
          <a:noFill/>
        </p:spPr>
        <p:txBody>
          <a:bodyPr wrap="square" tIns="36576" bIns="36576" anchor="t">
            <a:spAutoFit/>
          </a:bodyPr>
          <a:lstStyle/>
          <a:p>
            <a:pPr algn="l">
              <a:lnSpc>
                <a:spcPts val="3132"/>
              </a:lnSpc>
              <a:spcBef>
                <a:spcPts val="0"/>
              </a:spcBef>
              <a:spcAft>
                <a:spcPts val="0"/>
              </a:spcAft>
              <a:defRPr sz="2900" b="1">
                <a:solidFill>
                  <a:srgbClr val="182B3A"/>
                </a:solidFill>
                <a:latin typeface="Arial"/>
              </a:defRPr>
            </a:pPr>
            <a:r>
              <a:t>Initial Assessment</a:t>
            </a:r>
          </a:p>
        </p:txBody>
      </p:sp>
      <p:sp>
        <p:nvSpPr>
          <p:cNvPr id="6" name="TextBox 5"/>
          <p:cNvSpPr txBox="1"/>
          <p:nvPr/>
        </p:nvSpPr>
        <p:spPr>
          <a:xfrm>
            <a:off x="384048" y="713232"/>
            <a:ext cx="13533120" cy="274320"/>
          </a:xfrm>
          <a:prstGeom prst="rect">
            <a:avLst/>
          </a:prstGeom>
          <a:noFill/>
        </p:spPr>
        <p:txBody>
          <a:bodyPr wrap="square" tIns="36576" bIns="36576" anchor="t">
            <a:spAutoFit/>
          </a:bodyPr>
          <a:lstStyle/>
          <a:p>
            <a:pPr algn="l">
              <a:lnSpc>
                <a:spcPts val="1512"/>
              </a:lnSpc>
              <a:spcBef>
                <a:spcPts val="0"/>
              </a:spcBef>
              <a:spcAft>
                <a:spcPts val="0"/>
              </a:spcAft>
              <a:defRPr sz="1400" b="0">
                <a:solidFill>
                  <a:srgbClr val="526472"/>
                </a:solidFill>
                <a:latin typeface="Arial"/>
              </a:defRPr>
            </a:pPr>
            <a:r>
              <a:t>Work through each question showing your full written method. No calculators.</a:t>
            </a:r>
          </a:p>
        </p:txBody>
      </p:sp>
      <p:sp>
        <p:nvSpPr>
          <p:cNvPr id="7" name="TextBox 6"/>
          <p:cNvSpPr txBox="1"/>
          <p:nvPr/>
        </p:nvSpPr>
        <p:spPr>
          <a:xfrm>
            <a:off x="384048" y="7882127"/>
            <a:ext cx="10058400" cy="210312"/>
          </a:xfrm>
          <a:prstGeom prst="rect">
            <a:avLst/>
          </a:prstGeom>
          <a:noFill/>
        </p:spPr>
        <p:txBody>
          <a:bodyPr wrap="square" tIns="36576" bIns="36576" anchor="t">
            <a:spAutoFit/>
          </a:bodyPr>
          <a:lstStyle/>
          <a:p>
            <a:pPr algn="l">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8" name="TextBox 7"/>
          <p:cNvSpPr txBox="1"/>
          <p:nvPr/>
        </p:nvSpPr>
        <p:spPr>
          <a:xfrm>
            <a:off x="11430000" y="7863840"/>
            <a:ext cx="2788920" cy="228600"/>
          </a:xfrm>
          <a:prstGeom prst="rect">
            <a:avLst/>
          </a:prstGeom>
          <a:noFill/>
        </p:spPr>
        <p:txBody>
          <a:bodyPr wrap="square" tIns="36576" bIns="36576" anchor="t">
            <a:spAutoFit/>
          </a:bodyPr>
          <a:lstStyle/>
          <a:p>
            <a:pPr algn="l">
              <a:lnSpc>
                <a:spcPts val="1188"/>
              </a:lnSpc>
              <a:spcBef>
                <a:spcPts val="0"/>
              </a:spcBef>
              <a:spcAft>
                <a:spcPts val="0"/>
              </a:spcAft>
              <a:defRPr sz="1100" b="0">
                <a:solidFill>
                  <a:srgbClr val="526472"/>
                </a:solidFill>
                <a:latin typeface="Arial"/>
              </a:defRPr>
            </a:pPr>
            <a:r>
              <a:t>Initial Assessment  •  12 Questions</a:t>
            </a:r>
          </a:p>
        </p:txBody>
      </p:sp>
      <p:sp>
        <p:nvSpPr>
          <p:cNvPr id="9" name="Rectangle 8"/>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38912" y="1152144"/>
            <a:ext cx="4511040" cy="338328"/>
          </a:xfrm>
          <a:prstGeom prst="rect">
            <a:avLst/>
          </a:prstGeom>
          <a:noFill/>
        </p:spPr>
        <p:txBody>
          <a:bodyPr wrap="square" tIns="36576" bIns="36576" anchor="ctr">
            <a:spAutoFit/>
          </a:bodyPr>
          <a:lstStyle/>
          <a:p>
            <a:pPr algn="ctr">
              <a:lnSpc>
                <a:spcPts val="2160"/>
              </a:lnSpc>
              <a:spcBef>
                <a:spcPts val="0"/>
              </a:spcBef>
              <a:spcAft>
                <a:spcPts val="0"/>
              </a:spcAft>
              <a:defRPr sz="2000" b="1">
                <a:solidFill>
                  <a:srgbClr val="FFFFFF"/>
                </a:solidFill>
                <a:latin typeface="Arial"/>
              </a:defRPr>
            </a:pPr>
            <a:r>
              <a:t>Multiplication</a:t>
            </a:r>
          </a:p>
        </p:txBody>
      </p:sp>
      <p:sp>
        <p:nvSpPr>
          <p:cNvPr id="11" name="Rectangle 10"/>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059680" y="1152144"/>
            <a:ext cx="4511040" cy="338328"/>
          </a:xfrm>
          <a:prstGeom prst="rect">
            <a:avLst/>
          </a:prstGeom>
          <a:noFill/>
        </p:spPr>
        <p:txBody>
          <a:bodyPr wrap="square" tIns="36576" bIns="36576" anchor="ctr">
            <a:spAutoFit/>
          </a:bodyPr>
          <a:lstStyle/>
          <a:p>
            <a:pPr algn="ctr">
              <a:lnSpc>
                <a:spcPts val="2160"/>
              </a:lnSpc>
              <a:spcBef>
                <a:spcPts val="0"/>
              </a:spcBef>
              <a:spcAft>
                <a:spcPts val="0"/>
              </a:spcAft>
              <a:defRPr sz="2000" b="1">
                <a:solidFill>
                  <a:srgbClr val="FFFFFF"/>
                </a:solidFill>
                <a:latin typeface="Arial"/>
              </a:defRPr>
            </a:pPr>
            <a:r>
              <a:t>Division</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680448" y="1152144"/>
            <a:ext cx="4511040" cy="338328"/>
          </a:xfrm>
          <a:prstGeom prst="rect">
            <a:avLst/>
          </a:prstGeom>
          <a:noFill/>
        </p:spPr>
        <p:txBody>
          <a:bodyPr wrap="square" tIns="36576" bIns="36576" anchor="ctr">
            <a:spAutoFit/>
          </a:bodyPr>
          <a:lstStyle/>
          <a:p>
            <a:pPr algn="ctr">
              <a:lnSpc>
                <a:spcPts val="2160"/>
              </a:lnSpc>
              <a:spcBef>
                <a:spcPts val="0"/>
              </a:spcBef>
              <a:spcAft>
                <a:spcPts val="0"/>
              </a:spcAft>
              <a:defRPr sz="2000" b="1">
                <a:solidFill>
                  <a:srgbClr val="FFFFFF"/>
                </a:solidFill>
                <a:latin typeface="Arial"/>
              </a:defRPr>
            </a:pPr>
            <a:r>
              <a:t>Application in Exam Questions</a:t>
            </a:r>
          </a:p>
        </p:txBody>
      </p:sp>
      <p:sp>
        <p:nvSpPr>
          <p:cNvPr id="15" name="Rectangle 14"/>
          <p:cNvSpPr/>
          <p:nvPr/>
        </p:nvSpPr>
        <p:spPr>
          <a:xfrm>
            <a:off x="384048" y="1691640"/>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93776" y="1819656"/>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1.</a:t>
            </a:r>
          </a:p>
        </p:txBody>
      </p:sp>
      <p:sp>
        <p:nvSpPr>
          <p:cNvPr id="17" name="TextBox 16"/>
          <p:cNvSpPr txBox="1"/>
          <p:nvPr/>
        </p:nvSpPr>
        <p:spPr>
          <a:xfrm>
            <a:off x="978408" y="2039112"/>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43 × 6</a:t>
            </a:r>
          </a:p>
        </p:txBody>
      </p:sp>
      <p:sp>
        <p:nvSpPr>
          <p:cNvPr id="18" name="Rectangle 17"/>
          <p:cNvSpPr/>
          <p:nvPr/>
        </p:nvSpPr>
        <p:spPr>
          <a:xfrm>
            <a:off x="384048" y="3172968"/>
            <a:ext cx="4620768" cy="1353312"/>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93776" y="3300984"/>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2.</a:t>
            </a:r>
          </a:p>
        </p:txBody>
      </p:sp>
      <p:sp>
        <p:nvSpPr>
          <p:cNvPr id="20" name="TextBox 19"/>
          <p:cNvSpPr txBox="1"/>
          <p:nvPr/>
        </p:nvSpPr>
        <p:spPr>
          <a:xfrm>
            <a:off x="978408" y="3520440"/>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68 × 4</a:t>
            </a:r>
          </a:p>
        </p:txBody>
      </p:sp>
      <p:sp>
        <p:nvSpPr>
          <p:cNvPr id="21" name="Rectangle 20"/>
          <p:cNvSpPr/>
          <p:nvPr/>
        </p:nvSpPr>
        <p:spPr>
          <a:xfrm>
            <a:off x="384048" y="4654296"/>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93776" y="4782312"/>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3.</a:t>
            </a:r>
          </a:p>
        </p:txBody>
      </p:sp>
      <p:sp>
        <p:nvSpPr>
          <p:cNvPr id="23" name="TextBox 22"/>
          <p:cNvSpPr txBox="1"/>
          <p:nvPr/>
        </p:nvSpPr>
        <p:spPr>
          <a:xfrm>
            <a:off x="978408" y="5001768"/>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476 × 82</a:t>
            </a:r>
          </a:p>
        </p:txBody>
      </p:sp>
      <p:sp>
        <p:nvSpPr>
          <p:cNvPr id="24" name="Rectangle 23"/>
          <p:cNvSpPr/>
          <p:nvPr/>
        </p:nvSpPr>
        <p:spPr>
          <a:xfrm>
            <a:off x="384048" y="6135624"/>
            <a:ext cx="4620768" cy="1353312"/>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93776" y="6263640"/>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176B73"/>
                </a:solidFill>
                <a:latin typeface="Arial"/>
              </a:defRPr>
            </a:pPr>
            <a:r>
              <a:t>4.</a:t>
            </a:r>
          </a:p>
        </p:txBody>
      </p:sp>
      <p:sp>
        <p:nvSpPr>
          <p:cNvPr id="26" name="TextBox 25"/>
          <p:cNvSpPr txBox="1"/>
          <p:nvPr/>
        </p:nvSpPr>
        <p:spPr>
          <a:xfrm>
            <a:off x="978408" y="6483096"/>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6,038 × 591</a:t>
            </a:r>
          </a:p>
        </p:txBody>
      </p:sp>
      <p:sp>
        <p:nvSpPr>
          <p:cNvPr id="27" name="Rectangle 26"/>
          <p:cNvSpPr/>
          <p:nvPr/>
        </p:nvSpPr>
        <p:spPr>
          <a:xfrm>
            <a:off x="5004816" y="1691640"/>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114544" y="1819656"/>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1.</a:t>
            </a:r>
          </a:p>
        </p:txBody>
      </p:sp>
      <p:sp>
        <p:nvSpPr>
          <p:cNvPr id="29" name="TextBox 28"/>
          <p:cNvSpPr txBox="1"/>
          <p:nvPr/>
        </p:nvSpPr>
        <p:spPr>
          <a:xfrm>
            <a:off x="5599176" y="2039112"/>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864 ÷ 4</a:t>
            </a:r>
          </a:p>
        </p:txBody>
      </p:sp>
      <p:sp>
        <p:nvSpPr>
          <p:cNvPr id="30" name="Rectangle 29"/>
          <p:cNvSpPr/>
          <p:nvPr/>
        </p:nvSpPr>
        <p:spPr>
          <a:xfrm>
            <a:off x="5004816" y="3172968"/>
            <a:ext cx="4620768" cy="1353312"/>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114544" y="3300984"/>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2.</a:t>
            </a:r>
          </a:p>
        </p:txBody>
      </p:sp>
      <p:sp>
        <p:nvSpPr>
          <p:cNvPr id="32" name="TextBox 31"/>
          <p:cNvSpPr txBox="1"/>
          <p:nvPr/>
        </p:nvSpPr>
        <p:spPr>
          <a:xfrm>
            <a:off x="5599176" y="3520440"/>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132 ÷ 8</a:t>
            </a:r>
          </a:p>
        </p:txBody>
      </p:sp>
      <p:sp>
        <p:nvSpPr>
          <p:cNvPr id="33" name="Rectangle 32"/>
          <p:cNvSpPr/>
          <p:nvPr/>
        </p:nvSpPr>
        <p:spPr>
          <a:xfrm>
            <a:off x="5004816" y="4654296"/>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114544" y="4782312"/>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3.</a:t>
            </a:r>
          </a:p>
        </p:txBody>
      </p:sp>
      <p:sp>
        <p:nvSpPr>
          <p:cNvPr id="35" name="TextBox 34"/>
          <p:cNvSpPr txBox="1"/>
          <p:nvPr/>
        </p:nvSpPr>
        <p:spPr>
          <a:xfrm>
            <a:off x="5599176" y="5001768"/>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165 ÷ 6</a:t>
            </a:r>
          </a:p>
        </p:txBody>
      </p:sp>
      <p:sp>
        <p:nvSpPr>
          <p:cNvPr id="36" name="Rectangle 35"/>
          <p:cNvSpPr/>
          <p:nvPr/>
        </p:nvSpPr>
        <p:spPr>
          <a:xfrm>
            <a:off x="5004816" y="6135624"/>
            <a:ext cx="4620768" cy="1353312"/>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114544" y="6263640"/>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3559A2"/>
                </a:solidFill>
                <a:latin typeface="Arial"/>
              </a:defRPr>
            </a:pPr>
            <a:r>
              <a:t>4.</a:t>
            </a:r>
          </a:p>
        </p:txBody>
      </p:sp>
      <p:sp>
        <p:nvSpPr>
          <p:cNvPr id="38" name="TextBox 37"/>
          <p:cNvSpPr txBox="1"/>
          <p:nvPr/>
        </p:nvSpPr>
        <p:spPr>
          <a:xfrm>
            <a:off x="5599176" y="6483096"/>
            <a:ext cx="3843528" cy="640080"/>
          </a:xfrm>
          <a:prstGeom prst="rect">
            <a:avLst/>
          </a:prstGeom>
          <a:noFill/>
        </p:spPr>
        <p:txBody>
          <a:bodyPr wrap="square" tIns="36576" bIns="36576" anchor="ctr">
            <a:spAutoFit/>
          </a:bodyPr>
          <a:lstStyle/>
          <a:p>
            <a:pPr algn="l">
              <a:lnSpc>
                <a:spcPts val="3240"/>
              </a:lnSpc>
              <a:spcBef>
                <a:spcPts val="0"/>
              </a:spcBef>
              <a:spcAft>
                <a:spcPts val="0"/>
              </a:spcAft>
              <a:defRPr sz="3000" b="1">
                <a:solidFill>
                  <a:srgbClr val="182B3A"/>
                </a:solidFill>
                <a:latin typeface="Arial"/>
              </a:defRPr>
            </a:pPr>
            <a:r>
              <a:t>615 ÷ 12</a:t>
            </a:r>
          </a:p>
        </p:txBody>
      </p:sp>
      <p:sp>
        <p:nvSpPr>
          <p:cNvPr id="39" name="Rectangle 38"/>
          <p:cNvSpPr/>
          <p:nvPr/>
        </p:nvSpPr>
        <p:spPr>
          <a:xfrm>
            <a:off x="9625584" y="1691640"/>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9735312" y="1819656"/>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1.</a:t>
            </a:r>
          </a:p>
        </p:txBody>
      </p:sp>
      <p:sp>
        <p:nvSpPr>
          <p:cNvPr id="41" name="TextBox 40"/>
          <p:cNvSpPr txBox="1"/>
          <p:nvPr/>
        </p:nvSpPr>
        <p:spPr>
          <a:xfrm>
            <a:off x="10155936" y="1783080"/>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A ribbon is 144 cm long and cut into 6 equal pieces. Find the length of each piece.</a:t>
            </a:r>
          </a:p>
        </p:txBody>
      </p:sp>
      <p:sp>
        <p:nvSpPr>
          <p:cNvPr id="42" name="Rectangle 41"/>
          <p:cNvSpPr/>
          <p:nvPr/>
        </p:nvSpPr>
        <p:spPr>
          <a:xfrm>
            <a:off x="9625584" y="3172968"/>
            <a:ext cx="4620768" cy="1353312"/>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35312" y="3300984"/>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2.</a:t>
            </a:r>
          </a:p>
        </p:txBody>
      </p:sp>
      <p:sp>
        <p:nvSpPr>
          <p:cNvPr id="44" name="TextBox 43"/>
          <p:cNvSpPr txBox="1"/>
          <p:nvPr/>
        </p:nvSpPr>
        <p:spPr>
          <a:xfrm>
            <a:off x="10155936" y="3264408"/>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A hall has 14 rows with 25 seats in each row. How many seats are there altogether?</a:t>
            </a:r>
          </a:p>
        </p:txBody>
      </p:sp>
      <p:sp>
        <p:nvSpPr>
          <p:cNvPr id="45" name="Rectangle 44"/>
          <p:cNvSpPr/>
          <p:nvPr/>
        </p:nvSpPr>
        <p:spPr>
          <a:xfrm>
            <a:off x="9625584" y="4654296"/>
            <a:ext cx="4620768" cy="135331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9735312" y="4782312"/>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3.</a:t>
            </a:r>
          </a:p>
        </p:txBody>
      </p:sp>
      <p:sp>
        <p:nvSpPr>
          <p:cNvPr id="47" name="TextBox 46"/>
          <p:cNvSpPr txBox="1"/>
          <p:nvPr/>
        </p:nvSpPr>
        <p:spPr>
          <a:xfrm>
            <a:off x="10155936" y="4745736"/>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145 eggs are packed into boxes of 6. How many full boxes can be made?</a:t>
            </a:r>
          </a:p>
        </p:txBody>
      </p:sp>
      <p:sp>
        <p:nvSpPr>
          <p:cNvPr id="48" name="Rectangle 47"/>
          <p:cNvSpPr/>
          <p:nvPr/>
        </p:nvSpPr>
        <p:spPr>
          <a:xfrm>
            <a:off x="9625584" y="6135624"/>
            <a:ext cx="4620768" cy="1353312"/>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35312" y="6263640"/>
            <a:ext cx="411480" cy="347472"/>
          </a:xfrm>
          <a:prstGeom prst="rect">
            <a:avLst/>
          </a:prstGeom>
          <a:noFill/>
        </p:spPr>
        <p:txBody>
          <a:bodyPr wrap="square" tIns="36576" bIns="36576" anchor="t">
            <a:spAutoFit/>
          </a:bodyPr>
          <a:lstStyle/>
          <a:p>
            <a:pPr algn="l">
              <a:lnSpc>
                <a:spcPts val="2052"/>
              </a:lnSpc>
              <a:spcBef>
                <a:spcPts val="0"/>
              </a:spcBef>
              <a:spcAft>
                <a:spcPts val="0"/>
              </a:spcAft>
              <a:defRPr sz="1900" b="1">
                <a:solidFill>
                  <a:srgbClr val="754B87"/>
                </a:solidFill>
                <a:latin typeface="Arial"/>
              </a:defRPr>
            </a:pPr>
            <a:r>
              <a:t>4.</a:t>
            </a:r>
          </a:p>
        </p:txBody>
      </p:sp>
      <p:sp>
        <p:nvSpPr>
          <p:cNvPr id="50" name="TextBox 49"/>
          <p:cNvSpPr txBox="1"/>
          <p:nvPr/>
        </p:nvSpPr>
        <p:spPr>
          <a:xfrm>
            <a:off x="10155936" y="6227064"/>
            <a:ext cx="3962400" cy="1170432"/>
          </a:xfrm>
          <a:prstGeom prst="rect">
            <a:avLst/>
          </a:prstGeom>
          <a:noFill/>
        </p:spPr>
        <p:txBody>
          <a:bodyPr wrap="square" tIns="36576" bIns="36576" anchor="ctr">
            <a:spAutoFit/>
          </a:bodyPr>
          <a:lstStyle/>
          <a:p>
            <a:pPr algn="l">
              <a:lnSpc>
                <a:spcPts val="1728"/>
              </a:lnSpc>
              <a:spcBef>
                <a:spcPts val="0"/>
              </a:spcBef>
              <a:spcAft>
                <a:spcPts val="0"/>
              </a:spcAft>
              <a:defRPr sz="1600" b="0">
                <a:solidFill>
                  <a:srgbClr val="182B3A"/>
                </a:solidFill>
                <a:latin typeface="Arial"/>
              </a:defRPr>
            </a:pPr>
            <a:r>
              <a:t>A coach hire company charges £75 per coach. 130 passengers need coaches with 24 seats each. Find the total hire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