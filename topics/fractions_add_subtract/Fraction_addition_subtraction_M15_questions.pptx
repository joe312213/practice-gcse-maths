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Calculate and simplify.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508760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69163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8077" y="1901952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4609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4609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24609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9208" y="1508760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169163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46720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3237" y="1901952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9769" y="1783080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9769" y="204825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819769" y="206654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526279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70915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1560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8077" y="4919471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4609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4609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24609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9208" y="4526279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4709159"/>
            <a:ext cx="36576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41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919471"/>
            <a:ext cx="3354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127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382127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382127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8644" y="4919471"/>
            <a:ext cx="44653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48"/>
              </a:lnSpc>
              <a:spcAft>
                <a:spcPts val="0"/>
              </a:spcAft>
              <a:defRPr sz="29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5176" y="4800599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55176" y="5065775"/>
            <a:ext cx="27165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55176" y="5084063"/>
            <a:ext cx="271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Technique recap • Equal-sized parts before adding or subtracting.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M15-RECAP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348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4692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" y="1783080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Keep the parts the same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7" y="2688336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1207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2542032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6782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76782" y="2688336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76782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207" y="3310128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1207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6782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76782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76782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8374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32355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32355" y="3310128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32355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3948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930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87930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487930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" y="3785616"/>
            <a:ext cx="2814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640" y="366674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2640" y="3931920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02640" y="3950208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4232" y="3785616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58214" y="366674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58214" y="3931920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58214" y="3950208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" y="4572000"/>
            <a:ext cx="1447800" cy="365760"/>
          </a:xfrm>
          <a:prstGeom prst="rect">
            <a:avLst/>
          </a:prstGeom>
          <a:solidFill>
            <a:srgbClr val="BBDDDD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95856" y="4572000"/>
            <a:ext cx="1447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3656" y="4572000"/>
            <a:ext cx="14478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" y="5148072"/>
            <a:ext cx="723900" cy="365760"/>
          </a:xfrm>
          <a:prstGeom prst="rect">
            <a:avLst/>
          </a:prstGeom>
          <a:solidFill>
            <a:srgbClr val="BBDDDD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71956" y="5148072"/>
            <a:ext cx="723900" cy="365760"/>
          </a:xfrm>
          <a:prstGeom prst="rect">
            <a:avLst/>
          </a:prstGeom>
          <a:solidFill>
            <a:srgbClr val="BBDDDD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958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197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436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67556" y="5148072"/>
            <a:ext cx="7239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3559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" y="5815584"/>
            <a:ext cx="4389120" cy="1554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The two strips are the same whole.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Multiply top and bottom by 2: the value stays the same.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11496" y="1783080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Use a common denominator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84648" y="2423160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84648" y="2688336"/>
            <a:ext cx="2430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184648" y="2706624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2590" y="2542032"/>
            <a:ext cx="3766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59272" y="2423160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859272" y="2688336"/>
            <a:ext cx="2430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59272" y="2706624"/>
            <a:ext cx="2430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4648" y="3163824"/>
            <a:ext cx="2909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75604" y="3044952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475604" y="3310128"/>
            <a:ext cx="3764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75604" y="3328415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6897" y="3163824"/>
            <a:ext cx="3766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83579" y="3044952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83579" y="3310128"/>
            <a:ext cx="3764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83579" y="3328415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84648" y="3785616"/>
            <a:ext cx="2909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88"/>
              </a:lnSpc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75604" y="3666744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475604" y="3931920"/>
            <a:ext cx="3764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475604" y="3950208"/>
            <a:ext cx="3764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11496" y="4709160"/>
            <a:ext cx="4389120" cy="2651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Choose a common multiple: 12.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Multiply each numerator by the same factor as its denominator.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Only add or subtract the numerators.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Equal fractions subtract to zero: 3/5 − 3/5 = 0.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74936" y="1783080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Mixed numbers and simplifying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48088" y="2542032"/>
            <a:ext cx="27190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19995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119995" y="2688336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119995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11587" y="2542032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75569" y="242316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0775569" y="2688336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0775569" y="2706624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48088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848088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848088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39680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03662" y="30449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503662" y="33101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0503662" y="3328415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95254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59236" y="30449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1159236" y="33101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1159236" y="3328415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577828" y="31638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941810" y="30449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1941810" y="33101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1941810" y="3328415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48088" y="3785616"/>
            <a:ext cx="2814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29520" y="3666744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129520" y="3931920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129520" y="3950208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48088" y="428853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848088" y="4553712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848088" y="457200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39680" y="4407408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03662" y="428853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503662" y="4553712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0503662" y="457200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95254" y="4407408"/>
            <a:ext cx="6084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= 1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403711" y="428853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1403711" y="4553712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1403711" y="4572000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774936" y="5303520"/>
            <a:ext cx="4389120" cy="21031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Whole × denominator + numerator gives the improper numerator.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Simplify by dividing top and bottom by the same factor.</a:t>
            </a:r>
          </a:p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For a mixed answer, divide: quotient is the whole; remainder is the numerator.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Calculate, simplify and give mixed answers where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19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19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387" y="1975103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5644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5644" y="2121408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5644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" y="2734056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02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6102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6102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" y="3493008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02" y="3374135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6102" y="3639311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6102" y="3657600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5961888"/>
            <a:ext cx="4370832" cy="14630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Use equal-sized parts; change numerator and denominator together, then add or subtract only the numerators. Simplify the result.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66360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66360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3827" y="1975103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9084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79084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79084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2734056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79542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79542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79542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87009" y="2734056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2266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92266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192266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3493008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79542" y="3374135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479542" y="3639311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79542" y="3657600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4251959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79542" y="4133087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79542" y="43982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479542" y="44165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5961888"/>
            <a:ext cx="4370832" cy="14630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Use equal-sized parts; change numerator and denominator together, then add or subtract only the numerators. Simplify the result.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1600200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9800" y="1975103"/>
            <a:ext cx="30365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3457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133457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0133457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40924" y="1975103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46181" y="185623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846181" y="2121408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846181" y="2139696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800" y="2734056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2982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142982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142982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50449" y="2734056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5706" y="2615184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855706" y="2880359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0855706" y="2898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29800" y="3493008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2982" y="3374135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142982" y="3639311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142982" y="3657600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93324" y="3493008"/>
            <a:ext cx="4052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8581" y="3374135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998581" y="3639311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0998581" y="3657600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29800" y="4251959"/>
            <a:ext cx="3131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12"/>
              </a:lnSpc>
              <a:spcAft>
                <a:spcPts val="0"/>
              </a:spcAft>
              <a:defRPr sz="26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42982" y="4133087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142982" y="439826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142982" y="441655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74936" y="5961888"/>
            <a:ext cx="4370832" cy="14630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Use equal-sized parts; change numerator and denominator together, then add or subtract only the numerators. Simplify the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Calculate and simplify.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72768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04288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5880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9861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59861" y="1938528"/>
            <a:ext cx="23672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959861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4392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7272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67272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67272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8864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846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22846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2846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7376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30256" y="1792224"/>
            <a:ext cx="27190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2163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02163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02163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3755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57737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357737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357737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04872"/>
            <a:ext cx="1773936" cy="11430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2514600"/>
            <a:ext cx="1572768" cy="9601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Prepare the Fractions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31136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4120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57104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547872"/>
            <a:ext cx="1773936" cy="13258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3657600"/>
            <a:ext cx="1572768" cy="11430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a Common Denominator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31136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4120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57104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873752"/>
            <a:ext cx="1773936" cy="12344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" y="4983480"/>
            <a:ext cx="1572768" cy="10515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Add or Subtract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21408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31136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84392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4120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7376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57104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108192"/>
            <a:ext cx="1773936" cy="14904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" y="6217920"/>
            <a:ext cx="1572768" cy="13075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Answer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21408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31136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84392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4120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7376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57104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2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Calculate and simplify.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8229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72768" cy="6400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16733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04288" y="19385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04288" y="1956816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2880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6862" y="1673352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86862" y="1938528"/>
            <a:ext cx="363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86862" y="1956816"/>
            <a:ext cx="363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4392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7272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67272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67272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8864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846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22846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2846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7376" y="1581912"/>
            <a:ext cx="4040123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30256" y="1792224"/>
            <a:ext cx="271906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2163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702163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02163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3755" y="1792224"/>
            <a:ext cx="36398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76"/>
              </a:lnSpc>
              <a:spcAft>
                <a:spcPts val="0"/>
              </a:spcAft>
              <a:defRPr sz="23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57737" y="1673352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357737" y="1938528"/>
            <a:ext cx="2367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357737" y="1956816"/>
            <a:ext cx="2367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04872"/>
            <a:ext cx="1773936" cy="114300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2514600"/>
            <a:ext cx="1572768" cy="96012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Prepare the Fractions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31136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4120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2404872"/>
            <a:ext cx="4040123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57104" y="2542032"/>
            <a:ext cx="3806952" cy="9144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Convert mixed numbers to improper fractions if needed.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547872"/>
            <a:ext cx="1773936" cy="13258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3657600"/>
            <a:ext cx="1572768" cy="11430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a Common Denominator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31136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4120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3547872"/>
            <a:ext cx="4040123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57104" y="3685032"/>
            <a:ext cx="3806952" cy="10972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Find a common multiple. Change top and bottom together.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873752"/>
            <a:ext cx="1773936" cy="123444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2336" y="4983480"/>
            <a:ext cx="1572768" cy="10515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Add or Subtract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21408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31136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84392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4120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7376" y="4873752"/>
            <a:ext cx="4040123" cy="12344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57104" y="5010912"/>
            <a:ext cx="3806952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Work with the numerators; keep the common denominator.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108192"/>
            <a:ext cx="1773936" cy="149047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2336" y="6217920"/>
            <a:ext cx="1572768" cy="130759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Answer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21408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31136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84392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4120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7376" y="6108192"/>
            <a:ext cx="4040123" cy="14904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57104" y="6245352"/>
            <a:ext cx="3806952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Divide top and bottom by a common factor. Give a mixed answer if greater than 1.</a:t>
            </a:r>
          </a:p>
        </p:txBody>
      </p:sp>
      <p:sp>
        <p:nvSpPr>
          <p:cNvPr id="72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Spot the errors • Find the first wrong step and correct the full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55648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0392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0392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34" y="181051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7391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77391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77391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239572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949" y="227685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15949" y="254203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15949" y="256032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794759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730752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0392" y="3995928"/>
            <a:ext cx="3507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0392" y="4014215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6035" y="3849624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7792" y="3730752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97792" y="3995928"/>
            <a:ext cx="3507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597792" y="4014215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4434840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949" y="4315968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15949" y="4581144"/>
            <a:ext cx="3507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15949" y="4599432"/>
            <a:ext cx="3507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5020056"/>
            <a:ext cx="421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5833872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5769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0392" y="6035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50392" y="6053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6283" y="5888736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8041" y="5769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98041" y="6035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98041" y="6053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6473952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949" y="635508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15949" y="662025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15949" y="663854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" y="705916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949" y="694029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15949" y="720547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15949" y="722376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8348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1755648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13832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513832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513832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99074" y="181051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40831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140831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140831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13832" y="239572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79389" y="227685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779389" y="254203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779389" y="256032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64631" y="2395728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6388" y="227685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406388" y="254203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406388" y="256032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13832" y="2980944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79389" y="286207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779389" y="312724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779389" y="314553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8348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74920" y="3794759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13832" y="373075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513832" y="3995928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13832" y="4014215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19724" y="3849624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1481" y="373075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261481" y="399592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261481" y="4014215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13832" y="4434840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79389" y="431596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779389" y="458114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779389" y="459943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85281" y="4434840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27038" y="431596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527038" y="458114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527038" y="459943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13832" y="5020056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79389" y="490118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779389" y="516636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779389" y="518464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98348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74920" y="5833872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13832" y="576986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5513832" y="6035040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5513832" y="6053328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99074" y="5888736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40831" y="576986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6140831" y="603504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140831" y="605332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13832" y="6473952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79389" y="635508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5779389" y="662025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779389" y="663854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85281" y="647395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27038" y="635508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527038" y="662025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527038" y="663854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13832" y="705916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79389" y="694029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5779389" y="720547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779389" y="722376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64692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738360" y="1755648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177272" y="1810512"/>
            <a:ext cx="2592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436479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436479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436479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721721" y="181051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063478" y="169164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1063478" y="195681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1063478" y="197510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77272" y="239572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442829" y="227685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0442829" y="254203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0442829" y="256032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728071" y="2395728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069828" y="227685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1069828" y="254203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069828" y="256032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77272" y="2980944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42829" y="286207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0442829" y="3127248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0442829" y="314553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64692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738360" y="3794759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77272" y="3849624"/>
            <a:ext cx="2592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436479" y="373075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0436479" y="399592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0436479" y="4014215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721721" y="3849624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063478" y="3730752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11063478" y="3995928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11063478" y="4014215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177272" y="4434840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442829" y="431596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442829" y="458114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0442829" y="459943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48721" y="4434840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190478" y="431596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11190478" y="4581144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1190478" y="4599432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177272" y="5020056"/>
            <a:ext cx="4973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1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674604" y="490118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10674604" y="5166360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10674604" y="5184648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64692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738360" y="5833872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177272" y="5888736"/>
            <a:ext cx="25920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436479" y="576986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0436479" y="6035040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10436479" y="6053328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21721" y="5888736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3478" y="576986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11063478" y="6035040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1063478" y="6053328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177272" y="6473952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442829" y="635508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0442829" y="6620256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10442829" y="6638544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848721" y="6473952"/>
            <a:ext cx="3417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190478" y="635508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11190478" y="6620256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11190478" y="6638544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177272" y="7059168"/>
            <a:ext cx="265557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442829" y="6940296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10442829" y="7205472"/>
            <a:ext cx="35102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10442829" y="7223760"/>
            <a:ext cx="35102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848721" y="7059168"/>
            <a:ext cx="5735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 = 1 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422253" y="6940296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1422253" y="7205472"/>
            <a:ext cx="2303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1422253" y="7223760"/>
            <a:ext cx="23037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904"/>
              </a:lnSpc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4742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4124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54124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54124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86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124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1249" y="302666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124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86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124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1249" y="403250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1124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64444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53826" y="477316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753826" y="503834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53826" y="505663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4444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3826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53826" y="604418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53826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186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1124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11249" y="70500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1124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530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4689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274689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274689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8530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468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27468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7468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28182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17564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417564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417564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8530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468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274689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27468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8530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74689" y="67848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274689" y="70500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689" y="70683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24128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24128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4874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3812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93812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093812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3836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288036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535412" y="276148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0535412" y="302666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535412" y="304495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985754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375136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1375136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1375136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3836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41280" y="388620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535412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10535412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0535412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42879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232261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11232261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11232261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73836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41280" y="489204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535412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0535412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0535412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842879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232261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11232261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1232261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73836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41280" y="589788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35412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10535412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10535412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842879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232261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1232261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11232261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73836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24128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024128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024128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54874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3812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1093812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093812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7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4742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4124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54124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54124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86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124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1249" y="302666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124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4444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53826" y="376732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53826" y="403250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53826" y="4050791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86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124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11249" y="503834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1124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4742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4124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54124" y="604418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54124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64444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53826" y="67848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753826" y="705002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753826" y="70683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530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4689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274689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274689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8530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468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27468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7468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530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4689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74689" y="403250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274689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28182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17564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417564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417564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8530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7468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27468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68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24128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24128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4874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3812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93812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093812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3836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24128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024128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54874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93812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093812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093812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3836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241280" y="388620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535412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0535412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0535412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842879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32261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1232261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11232261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3836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10241280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10241280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54874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93812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0938129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093812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73836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241280" y="589788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535412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10535412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10535412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842879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32261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11232261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11232261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73836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4128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1024128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1024128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54874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93812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1093812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1093812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395479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4742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4124" y="17556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54124" y="202082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54124" y="20391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86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124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1249" y="302666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124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86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124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1249" y="403250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1124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86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124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11249" y="503834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1124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64444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3826" y="577900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753826" y="604418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53826" y="606247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186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1124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11249" y="70500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1124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28182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17564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417564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417564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8530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468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27468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7468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530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4689" y="376732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74689" y="403250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274689" y="4050791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8530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7468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274689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27468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8530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7468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274689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68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24128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24128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4874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3812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93812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093812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3836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288036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535412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0535412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535412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842879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232261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1232261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1232261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3836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4128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024128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024128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54874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93812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0938129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1093812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3836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489204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35412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10535412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0535412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842879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232261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11232261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11232261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73836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241280" y="589788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535412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10535412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10535412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842879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232261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1232261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11232261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73836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241280" y="690372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535412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10535412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0535412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842879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232261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11232261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11232261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9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Adding and subtracting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Simplify; write mixed answers if greater than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M15-S07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99" y="17556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399" y="2020824"/>
            <a:ext cx="395181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399" y="20391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4444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3826" y="17556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53826" y="202082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53826" y="20391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399" y="302666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39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186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124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11249" y="302666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1124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39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4399" y="403250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1439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186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124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1249" y="403250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1124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39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14399" y="503834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39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1867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11249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11249" y="503834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11249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39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399" y="604418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1439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186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124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611249" y="604418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61124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39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14399" y="7050024"/>
            <a:ext cx="252604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1439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186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11249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11249" y="7050024"/>
            <a:ext cx="252602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11249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7492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784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7784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57784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530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4689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274689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274689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492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784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557784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57784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8530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74689" y="276148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274689" y="302666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74689" y="304495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77840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577840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577840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85307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74689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74689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274689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7492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77840" y="477316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577840" y="503834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5577840" y="505663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28182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17564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417564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417564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7492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7784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57784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57784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8530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7468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27468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27468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7492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77840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577840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77840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85307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74689" y="6784848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274689" y="7050024"/>
            <a:ext cx="395478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274689" y="7068312"/>
            <a:ext cx="39547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38360" y="1837943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41280" y="17556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241280" y="20208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241280" y="20391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48747" y="1874519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38129" y="175564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10938129" y="202082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10938129" y="203911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738360" y="284378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241280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241280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0241280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548747" y="288036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938129" y="276148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0938129" y="302666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10938129" y="304495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738360" y="384962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241280" y="388620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2 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535412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0535412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0535412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842879" y="388620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32261" y="376732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11232261" y="403250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11232261" y="4050791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738360" y="485546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4773168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10241280" y="5038344"/>
            <a:ext cx="395180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10241280" y="5056632"/>
            <a:ext cx="3951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691324" y="489204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80706" y="477316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1080706" y="503834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1080706" y="505663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738360" y="586130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241280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10241280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10241280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48747" y="589788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+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938129" y="577900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10938129" y="604418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10938129" y="606247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738360" y="6867144"/>
            <a:ext cx="457200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6903720"/>
            <a:ext cx="294132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1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535412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10535412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10535412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842879" y="6903720"/>
            <a:ext cx="389381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00"/>
              </a:lnSpc>
              <a:spcAft>
                <a:spcPts val="0"/>
              </a:spcAft>
              <a:defRPr sz="2500" b="0">
                <a:solidFill>
                  <a:srgbClr val="182B3A"/>
                </a:solidFill>
                <a:latin typeface="Arial"/>
              </a:defRPr>
            </a:pPr>
            <a:r>
              <a:t> −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232261" y="6784848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11232261" y="7050024"/>
            <a:ext cx="252603" cy="0"/>
          </a:xfrm>
          <a:prstGeom prst="line">
            <a:avLst/>
          </a:prstGeom>
          <a:ln w="12700">
            <a:solidFill>
              <a:srgbClr val="182B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11232261" y="7068312"/>
            <a:ext cx="25260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7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