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00.xml" ContentType="application/vnd.openxmlformats-officedocument.presentationml.slide+xml"/>
  <Override PartName="/ppt/slides/slide1001.xml" ContentType="application/vnd.openxmlformats-officedocument.presentationml.slide+xml"/>
  <Override PartName="/ppt/slides/slide1002.xml" ContentType="application/vnd.openxmlformats-officedocument.presentationml.slide+xml"/>
  <Override PartName="/ppt/slides/slide1003.xml" ContentType="application/vnd.openxmlformats-officedocument.presentationml.slide+xml"/>
  <Override PartName="/ppt/slides/slide1004.xml" ContentType="application/vnd.openxmlformats-officedocument.presentationml.slide+xml"/>
  <Override PartName="/ppt/slides/slide1005.xml" ContentType="application/vnd.openxmlformats-officedocument.presentationml.slide+xml"/>
  <Override PartName="/ppt/slides/slide1006.xml" ContentType="application/vnd.openxmlformats-officedocument.presentationml.slide+xml"/>
  <Override PartName="/ppt/slides/slide100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63" r:id="rId16"/>
    <p:sldId id="256" r:id="rId3"/>
    <p:sldId id="257" r:id="rId4"/>
    <p:sldId id="258" r:id="rId5"/>
    <p:sldId id="264" r:id="rId17"/>
    <p:sldId id="259" r:id="rId6"/>
    <p:sldId id="260" r:id="rId7"/>
    <p:sldId id="261" r:id="rId8"/>
    <p:sldId id="262" r:id="rId9"/>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F5D94-B901-6206-A612-082DFF76D998}" v="4" dt="2026-09-24T15:48:54.0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slide" Target="slides/slide1001.xml"/><Relationship Id="rId4" Type="http://schemas.openxmlformats.org/officeDocument/2006/relationships/slide" Target="slides/slide1002.xml"/><Relationship Id="rId5" Type="http://schemas.openxmlformats.org/officeDocument/2006/relationships/slide" Target="slides/slide1003.xml"/><Relationship Id="rId6" Type="http://schemas.openxmlformats.org/officeDocument/2006/relationships/slide" Target="slides/slide1004.xml"/><Relationship Id="rId7" Type="http://schemas.openxmlformats.org/officeDocument/2006/relationships/slide" Target="slides/slide1005.xml"/><Relationship Id="rId8" Type="http://schemas.openxmlformats.org/officeDocument/2006/relationships/slide" Target="slides/slide1006.xml"/><Relationship Id="rId9" Type="http://schemas.openxmlformats.org/officeDocument/2006/relationships/slide" Target="slides/slide1007.xml"/><Relationship Id="rId16" Type="http://schemas.openxmlformats.org/officeDocument/2006/relationships/slide" Target="slides/slide1000.xml"/><Relationship Id="rId17" Type="http://schemas.openxmlformats.org/officeDocument/2006/relationships/slide" Target="slides/slide9.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Hudson" userId="41092641-dab8-42af-8751-810f10f62201" providerId="ADAL" clId="{2D5970AC-48F5-4BA0-8370-EBD52AA4EFA8}"/>
    <pc:docChg chg="modSld">
      <pc:chgData name="Joe Hudson" userId="41092641-dab8-42af-8751-810f10f62201" providerId="ADAL" clId="{2D5970AC-48F5-4BA0-8370-EBD52AA4EFA8}" dt="2026-09-24T12:16:27.943" v="25" actId="20577"/>
      <pc:docMkLst>
        <pc:docMk/>
      </pc:docMkLst>
      <pc:sldChg chg="modSp mod">
        <pc:chgData name="Joe Hudson" userId="41092641-dab8-42af-8751-810f10f62201" providerId="ADAL" clId="{2D5970AC-48F5-4BA0-8370-EBD52AA4EFA8}" dt="2026-09-24T12:16:27.943" v="25" actId="20577"/>
        <pc:sldMkLst>
          <pc:docMk/>
          <pc:sldMk cId="0" sldId="257"/>
        </pc:sldMkLst>
        <pc:spChg chg="mod">
          <ac:chgData name="Joe Hudson" userId="41092641-dab8-42af-8751-810f10f62201" providerId="ADAL" clId="{2D5970AC-48F5-4BA0-8370-EBD52AA4EFA8}" dt="2026-09-24T12:16:27.943" v="25" actId="20577"/>
          <ac:spMkLst>
            <pc:docMk/>
            <pc:sldMk cId="0" sldId="257"/>
            <ac:spMk id="36" creationId="{00000000-0000-0000-0000-000000000000}"/>
          </ac:spMkLst>
        </pc:spChg>
      </pc:sldChg>
      <pc:sldChg chg="modSp mod">
        <pc:chgData name="Joe Hudson" userId="41092641-dab8-42af-8751-810f10f62201" providerId="ADAL" clId="{2D5970AC-48F5-4BA0-8370-EBD52AA4EFA8}" dt="2026-09-24T12:16:16.865" v="12" actId="20577"/>
        <pc:sldMkLst>
          <pc:docMk/>
          <pc:sldMk cId="0" sldId="258"/>
        </pc:sldMkLst>
        <pc:spChg chg="mod">
          <ac:chgData name="Joe Hudson" userId="41092641-dab8-42af-8751-810f10f62201" providerId="ADAL" clId="{2D5970AC-48F5-4BA0-8370-EBD52AA4EFA8}" dt="2026-09-24T12:16:16.865" v="12" actId="20577"/>
          <ac:spMkLst>
            <pc:docMk/>
            <pc:sldMk cId="0" sldId="258"/>
            <ac:spMk id="36" creationId="{00000000-0000-0000-0000-000000000000}"/>
          </ac:spMkLst>
        </pc:spChg>
      </pc:sldChg>
    </pc:docChg>
  </pc:docChgLst>
  <pc:docChgLst>
    <pc:chgData name="Joe Hudson" userId="S::joe.hudson@shcg.ac.uk::41092641-dab8-42af-8751-810f10f62201" providerId="AD" clId="Web-{2CDF5D94-B901-6206-A612-082DFF76D998}"/>
    <pc:docChg chg="modSld">
      <pc:chgData name="Joe Hudson" userId="S::joe.hudson@shcg.ac.uk::41092641-dab8-42af-8751-810f10f62201" providerId="AD" clId="Web-{2CDF5D94-B901-6206-A612-082DFF76D998}" dt="2026-09-24T15:48:54.034" v="1" actId="20577"/>
      <pc:docMkLst>
        <pc:docMk/>
      </pc:docMkLst>
      <pc:sldChg chg="modSp">
        <pc:chgData name="Joe Hudson" userId="S::joe.hudson@shcg.ac.uk::41092641-dab8-42af-8751-810f10f62201" providerId="AD" clId="Web-{2CDF5D94-B901-6206-A612-082DFF76D998}" dt="2026-09-24T15:48:54.034" v="1" actId="20577"/>
        <pc:sldMkLst>
          <pc:docMk/>
          <pc:sldMk cId="0" sldId="276"/>
        </pc:sldMkLst>
        <pc:spChg chg="mod">
          <ac:chgData name="Joe Hudson" userId="S::joe.hudson@shcg.ac.uk::41092641-dab8-42af-8751-810f10f62201" providerId="AD" clId="Web-{2CDF5D94-B901-6206-A612-082DFF76D998}" dt="2026-09-24T15:48:54.034" v="1" actId="20577"/>
          <ac:spMkLst>
            <pc:docMk/>
            <pc:sldMk cId="0" sldId="276"/>
            <ac:spMk id="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36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worked demo</a:t>
            </a:r>
          </a:p>
          <a:p>
            <a:endParaRPr/>
          </a:p>
          <a:p>
            <a:r>
              <a:t>Guided: 43 × 6 = 258. Core: 34 × 12 = 408. Depth: 4,312 × 156 = 672,672.</a:t>
            </a:r>
          </a:p>
          <a:p>
            <a:endParaRPr/>
          </a:p>
          <a:p>
            <a:r>
              <a:t>The completed lattice diagrams are editable grouped PowerPoint shapes. Diagonals run from bottom left to top right. Place tens above each diagonal and units below it. Put answer digits at the ends of their diagonal tracks, down the left edge and along the bottom. Place carries at the bottom end of the NEXT diagonal in smaller text. Depth diagonal totals from right to left, including carries: 2, 7, 16, 12, 7, 6, 0. The last 1 in the fourth and fifth sums is a carry. Read the result in reverse order and omit the leading zero: 672672.</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1</a:t>
            </a:r>
          </a:p>
          <a:p>
            <a:endParaRPr/>
          </a:p>
          <a:p>
            <a:r>
              <a:t>Thread 1: Guided: 53 × 7 = **371**</a:t>
            </a:r>
          </a:p>
          <a:p>
            <a:endParaRPr/>
          </a:p>
          <a:p>
            <a:r>
              <a:t>Thread 2: Core: 24 × 15 = **360**</a:t>
            </a:r>
          </a:p>
          <a:p>
            <a:endParaRPr/>
          </a:p>
          <a:p>
            <a:r>
              <a:t>Thread 3: Depth: 1,245 × 326 = **405,870**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2</a:t>
            </a:r>
          </a:p>
          <a:p>
            <a:endParaRPr/>
          </a:p>
          <a:p>
            <a:r>
              <a:t>Thread 1: Guided: 84 × 5 = **420**</a:t>
            </a:r>
          </a:p>
          <a:p>
            <a:endParaRPr/>
          </a:p>
          <a:p>
            <a:r>
              <a:t>Thread 2: Core: 63 × 28 = **1,764**</a:t>
            </a:r>
          </a:p>
          <a:p>
            <a:endParaRPr/>
          </a:p>
          <a:p>
            <a:r>
              <a:t>Thread 3: Depth: 3,142 × 2045 = **6,425,390**</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1</a:t>
            </a:r>
          </a:p>
          <a:p>
            <a:endParaRPr/>
          </a:p>
          <a:p>
            <a:r>
              <a:t>### Thread 1: Guided</a:t>
            </a:r>
          </a:p>
          <a:p>
            <a:endParaRPr/>
          </a:p>
          <a:p>
            <a:r>
              <a:t>1. 32 × 4 = **128**</a:t>
            </a:r>
          </a:p>
          <a:p>
            <a:endParaRPr/>
          </a:p>
          <a:p>
            <a:r>
              <a:t>2. 61 × 8 = **488**</a:t>
            </a:r>
          </a:p>
          <a:p>
            <a:endParaRPr/>
          </a:p>
          <a:p>
            <a:r>
              <a:t>3. 45 × 3 = **135**</a:t>
            </a:r>
          </a:p>
          <a:p>
            <a:endParaRPr/>
          </a:p>
          <a:p>
            <a:r>
              <a:t>4. 72 × 6 = **432**</a:t>
            </a:r>
          </a:p>
          <a:p>
            <a:endParaRPr/>
          </a:p>
          <a:p>
            <a:r>
              <a:t>5. 83 × 7 = **581**</a:t>
            </a:r>
          </a:p>
          <a:p>
            <a:endParaRPr/>
          </a:p>
          <a:p>
            <a:r>
              <a:t>6. 95 × 9 = **855**</a:t>
            </a:r>
          </a:p>
          <a:p>
            <a:endParaRPr/>
          </a:p>
          <a:p>
            <a:r>
              <a:t>### Thread 2: Core</a:t>
            </a:r>
          </a:p>
          <a:p>
            <a:endParaRPr/>
          </a:p>
          <a:p>
            <a:r>
              <a:t>1. 42 × 13 = **546**</a:t>
            </a:r>
          </a:p>
          <a:p>
            <a:endParaRPr/>
          </a:p>
          <a:p>
            <a:r>
              <a:t>2. 26 × 34 = **884**</a:t>
            </a:r>
          </a:p>
          <a:p>
            <a:endParaRPr/>
          </a:p>
          <a:p>
            <a:r>
              <a:t>3. 51 × 22 = **1,122**</a:t>
            </a:r>
          </a:p>
          <a:p>
            <a:endParaRPr/>
          </a:p>
          <a:p>
            <a:r>
              <a:t>4. 63 × 41 = **2,583**</a:t>
            </a:r>
          </a:p>
          <a:p>
            <a:endParaRPr/>
          </a:p>
          <a:p>
            <a:r>
              <a:t>5. 75 × 16 = **1,200**</a:t>
            </a:r>
          </a:p>
          <a:p>
            <a:endParaRPr/>
          </a:p>
          <a:p>
            <a:r>
              <a:t>6. 82 × 57 = **4,674**</a:t>
            </a:r>
          </a:p>
          <a:p>
            <a:endParaRPr/>
          </a:p>
          <a:p>
            <a:r>
              <a:t>### Thread 3: Depth</a:t>
            </a:r>
          </a:p>
          <a:p>
            <a:endParaRPr/>
          </a:p>
          <a:p>
            <a:r>
              <a:t>1. 342 × 15 = **5,130**</a:t>
            </a:r>
          </a:p>
          <a:p>
            <a:endParaRPr/>
          </a:p>
          <a:p>
            <a:r>
              <a:t>2. 612 × 24 = **14,688**</a:t>
            </a:r>
          </a:p>
          <a:p>
            <a:endParaRPr/>
          </a:p>
          <a:p>
            <a:r>
              <a:t>3. 1,234 × 125 = **154,250**</a:t>
            </a:r>
          </a:p>
          <a:p>
            <a:endParaRPr/>
          </a:p>
          <a:p>
            <a:r>
              <a:t>4. 2,105 × 304 = **639,920**</a:t>
            </a:r>
          </a:p>
          <a:p>
            <a:endParaRPr/>
          </a:p>
          <a:p>
            <a:r>
              <a:t>5. 4,316 × 1,024 = **4,419,584**</a:t>
            </a:r>
          </a:p>
          <a:p>
            <a:endParaRPr/>
          </a:p>
          <a:p>
            <a:r>
              <a:t>6. 7,029 × 2,316 = **16,279,164**</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2</a:t>
            </a:r>
          </a:p>
          <a:p>
            <a:endParaRPr/>
          </a:p>
          <a:p>
            <a:r>
              <a:t>### Thread 1: Guided</a:t>
            </a:r>
          </a:p>
          <a:p>
            <a:endParaRPr/>
          </a:p>
          <a:p>
            <a:r>
              <a:t>1. 24 × 6 = **144**</a:t>
            </a:r>
          </a:p>
          <a:p>
            <a:endParaRPr/>
          </a:p>
          <a:p>
            <a:r>
              <a:t>2. 57 × 4 = **228**</a:t>
            </a:r>
          </a:p>
          <a:p>
            <a:endParaRPr/>
          </a:p>
          <a:p>
            <a:r>
              <a:t>3. 68 × 3 = **204**</a:t>
            </a:r>
          </a:p>
          <a:p>
            <a:endParaRPr/>
          </a:p>
          <a:p>
            <a:r>
              <a:t>4. 39 × 7 = **273**</a:t>
            </a:r>
          </a:p>
          <a:p>
            <a:endParaRPr/>
          </a:p>
          <a:p>
            <a:r>
              <a:t>5. 86 × 5 = **430**</a:t>
            </a:r>
          </a:p>
          <a:p>
            <a:endParaRPr/>
          </a:p>
          <a:p>
            <a:r>
              <a:t>6. 74 × 8 = **592**</a:t>
            </a:r>
          </a:p>
          <a:p>
            <a:endParaRPr/>
          </a:p>
          <a:p>
            <a:r>
              <a:t>### Thread 2: Core</a:t>
            </a:r>
          </a:p>
          <a:p>
            <a:endParaRPr/>
          </a:p>
          <a:p>
            <a:r>
              <a:t>1. 23 × 14 = **322**</a:t>
            </a:r>
          </a:p>
          <a:p>
            <a:endParaRPr/>
          </a:p>
          <a:p>
            <a:r>
              <a:t>2. 46 × 25 = **1,150**</a:t>
            </a:r>
          </a:p>
          <a:p>
            <a:endParaRPr/>
          </a:p>
          <a:p>
            <a:r>
              <a:t>3. 37 × 42 = **1,554**</a:t>
            </a:r>
          </a:p>
          <a:p>
            <a:endParaRPr/>
          </a:p>
          <a:p>
            <a:r>
              <a:t>4. 58 × 36 = **2,088**</a:t>
            </a:r>
          </a:p>
          <a:p>
            <a:endParaRPr/>
          </a:p>
          <a:p>
            <a:r>
              <a:t>5. 64 × 27 = **1,728**</a:t>
            </a:r>
          </a:p>
          <a:p>
            <a:endParaRPr/>
          </a:p>
          <a:p>
            <a:r>
              <a:t>6. 79 × 53 = **4,187**</a:t>
            </a:r>
          </a:p>
          <a:p>
            <a:endParaRPr/>
          </a:p>
          <a:p>
            <a:r>
              <a:t>### Thread 3: Depth</a:t>
            </a:r>
          </a:p>
          <a:p>
            <a:endParaRPr/>
          </a:p>
          <a:p>
            <a:r>
              <a:t>1. 425 × 23 = **9,775**</a:t>
            </a:r>
          </a:p>
          <a:p>
            <a:endParaRPr/>
          </a:p>
          <a:p>
            <a:r>
              <a:t>2. 708 × 46 = **32,568**</a:t>
            </a:r>
          </a:p>
          <a:p>
            <a:endParaRPr/>
          </a:p>
          <a:p>
            <a:r>
              <a:t>3. 1,326 × 243 = **322,218**</a:t>
            </a:r>
          </a:p>
          <a:p>
            <a:endParaRPr/>
          </a:p>
          <a:p>
            <a:r>
              <a:t>4. 3,048 × 512 = **1,560,576**</a:t>
            </a:r>
          </a:p>
          <a:p>
            <a:endParaRPr/>
          </a:p>
          <a:p>
            <a:r>
              <a:t>5. 5,607 × 1,204 = **6,750,828**</a:t>
            </a:r>
          </a:p>
          <a:p>
            <a:endParaRPr/>
          </a:p>
          <a:p>
            <a:r>
              <a:t>6. 8,214 × 3,067 = **25,192,338**</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3</a:t>
            </a:r>
          </a:p>
          <a:p>
            <a:endParaRPr/>
          </a:p>
          <a:p>
            <a:r>
              <a:t>### Thread 1: Guided</a:t>
            </a:r>
          </a:p>
          <a:p>
            <a:endParaRPr/>
          </a:p>
          <a:p>
            <a:r>
              <a:t>1. 46 × 7 = **322**</a:t>
            </a:r>
          </a:p>
          <a:p>
            <a:endParaRPr/>
          </a:p>
          <a:p>
            <a:r>
              <a:t>2. 29 × 8 = **232**</a:t>
            </a:r>
          </a:p>
          <a:p>
            <a:endParaRPr/>
          </a:p>
          <a:p>
            <a:r>
              <a:t>3. 65 × 4 = **260**</a:t>
            </a:r>
          </a:p>
          <a:p>
            <a:endParaRPr/>
          </a:p>
          <a:p>
            <a:r>
              <a:t>4. 78 × 6 = **468**</a:t>
            </a:r>
          </a:p>
          <a:p>
            <a:endParaRPr/>
          </a:p>
          <a:p>
            <a:r>
              <a:t>5. 93 × 5 = **465**</a:t>
            </a:r>
          </a:p>
          <a:p>
            <a:endParaRPr/>
          </a:p>
          <a:p>
            <a:r>
              <a:t>6. 87 × 9 = **783**</a:t>
            </a:r>
          </a:p>
          <a:p>
            <a:endParaRPr/>
          </a:p>
          <a:p>
            <a:r>
              <a:t>### Thread 2: Core</a:t>
            </a:r>
          </a:p>
          <a:p>
            <a:endParaRPr/>
          </a:p>
          <a:p>
            <a:r>
              <a:t>1. 35 × 24 = **840**</a:t>
            </a:r>
          </a:p>
          <a:p>
            <a:endParaRPr/>
          </a:p>
          <a:p>
            <a:r>
              <a:t>2. 62 × 17 = **1,054**</a:t>
            </a:r>
          </a:p>
          <a:p>
            <a:endParaRPr/>
          </a:p>
          <a:p>
            <a:r>
              <a:t>3. 48 × 39 = **1,872**</a:t>
            </a:r>
          </a:p>
          <a:p>
            <a:endParaRPr/>
          </a:p>
          <a:p>
            <a:r>
              <a:t>4. 76 × 28 = **2,128**</a:t>
            </a:r>
          </a:p>
          <a:p>
            <a:endParaRPr/>
          </a:p>
          <a:p>
            <a:r>
              <a:t>5. 54 × 46 = **2,484**</a:t>
            </a:r>
          </a:p>
          <a:p>
            <a:endParaRPr/>
          </a:p>
          <a:p>
            <a:r>
              <a:t>6. 89 × 65 = **5,785**</a:t>
            </a:r>
          </a:p>
          <a:p>
            <a:endParaRPr/>
          </a:p>
          <a:p>
            <a:r>
              <a:t>### Thread 3: Depth</a:t>
            </a:r>
          </a:p>
          <a:p>
            <a:endParaRPr/>
          </a:p>
          <a:p>
            <a:r>
              <a:t>1. 536 × 34 = **18,224**</a:t>
            </a:r>
          </a:p>
          <a:p>
            <a:endParaRPr/>
          </a:p>
          <a:p>
            <a:r>
              <a:t>2. 809 × 27 = **21,843**</a:t>
            </a:r>
          </a:p>
          <a:p>
            <a:endParaRPr/>
          </a:p>
          <a:p>
            <a:r>
              <a:t>3. 2,047 × 368 = **753,296**</a:t>
            </a:r>
          </a:p>
          <a:p>
            <a:endParaRPr/>
          </a:p>
          <a:p>
            <a:r>
              <a:t>4. 4,158 × 427 = **1,775,466**</a:t>
            </a:r>
          </a:p>
          <a:p>
            <a:endParaRPr/>
          </a:p>
          <a:p>
            <a:r>
              <a:t>5. 6,309 × 2,058 = **12,983,922**</a:t>
            </a:r>
          </a:p>
          <a:p>
            <a:endParaRPr/>
          </a:p>
          <a:p>
            <a:r>
              <a:t>6. 9,274 × 4,163 = **38,607,662**</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4</a:t>
            </a:r>
          </a:p>
          <a:p>
            <a:endParaRPr/>
          </a:p>
          <a:p>
            <a:r>
              <a:t>### Thread 1: Guided</a:t>
            </a:r>
          </a:p>
          <a:p>
            <a:endParaRPr/>
          </a:p>
          <a:p>
            <a:r>
              <a:t>1. 38 × 5 = **190**</a:t>
            </a:r>
          </a:p>
          <a:p>
            <a:endParaRPr/>
          </a:p>
          <a:p>
            <a:r>
              <a:t>2. 56 × 9 = **504**</a:t>
            </a:r>
          </a:p>
          <a:p>
            <a:endParaRPr/>
          </a:p>
          <a:p>
            <a:r>
              <a:t>3. 67 × 8 = **536**</a:t>
            </a:r>
          </a:p>
          <a:p>
            <a:endParaRPr/>
          </a:p>
          <a:p>
            <a:r>
              <a:t>4. 49 × 6 = **294**</a:t>
            </a:r>
          </a:p>
          <a:p>
            <a:endParaRPr/>
          </a:p>
          <a:p>
            <a:r>
              <a:t>5. 82 × 4 = **328**</a:t>
            </a:r>
          </a:p>
          <a:p>
            <a:endParaRPr/>
          </a:p>
          <a:p>
            <a:r>
              <a:t>6. 97 × 7 = **679**</a:t>
            </a:r>
          </a:p>
          <a:p>
            <a:endParaRPr/>
          </a:p>
          <a:p>
            <a:r>
              <a:t>### Thread 2: Core</a:t>
            </a:r>
          </a:p>
          <a:p>
            <a:endParaRPr/>
          </a:p>
          <a:p>
            <a:r>
              <a:t>1. 27 × 35 = **945**</a:t>
            </a:r>
          </a:p>
          <a:p>
            <a:endParaRPr/>
          </a:p>
          <a:p>
            <a:r>
              <a:t>2. 43 × 26 = **1,118**</a:t>
            </a:r>
          </a:p>
          <a:p>
            <a:endParaRPr/>
          </a:p>
          <a:p>
            <a:r>
              <a:t>3. 69 × 48 = **3,312**</a:t>
            </a:r>
          </a:p>
          <a:p>
            <a:endParaRPr/>
          </a:p>
          <a:p>
            <a:r>
              <a:t>4. 85 × 37 = **3,145**</a:t>
            </a:r>
          </a:p>
          <a:p>
            <a:endParaRPr/>
          </a:p>
          <a:p>
            <a:r>
              <a:t>5. 74 × 59 = **4,366**</a:t>
            </a:r>
          </a:p>
          <a:p>
            <a:endParaRPr/>
          </a:p>
          <a:p>
            <a:r>
              <a:t>6. 96 × 68 = **6,528**</a:t>
            </a:r>
          </a:p>
          <a:p>
            <a:endParaRPr/>
          </a:p>
          <a:p>
            <a:r>
              <a:t>### Thread 3: Depth</a:t>
            </a:r>
          </a:p>
          <a:p>
            <a:endParaRPr/>
          </a:p>
          <a:p>
            <a:r>
              <a:t>1. 647 × 45 = **29,115**</a:t>
            </a:r>
          </a:p>
          <a:p>
            <a:endParaRPr/>
          </a:p>
          <a:p>
            <a:r>
              <a:t>2. 902 × 38 = **34,276**</a:t>
            </a:r>
          </a:p>
          <a:p>
            <a:endParaRPr/>
          </a:p>
          <a:p>
            <a:r>
              <a:t>3. 3,156 × 489 = **1,543,284**</a:t>
            </a:r>
          </a:p>
          <a:p>
            <a:endParaRPr/>
          </a:p>
          <a:p>
            <a:r>
              <a:t>4. 5,027 × 596 = **2,996,092**</a:t>
            </a:r>
          </a:p>
          <a:p>
            <a:endParaRPr/>
          </a:p>
          <a:p>
            <a:r>
              <a:t>5. 7,418 × 3,264 = **24,212,352**</a:t>
            </a:r>
          </a:p>
          <a:p>
            <a:endParaRPr/>
          </a:p>
          <a:p>
            <a:r>
              <a:t>6. 8,639 × 5,076 = **43,851,564**</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0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0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0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worked solution has a mistake. Find the first error, correct it and finish the calculation.</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73936"/>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43 × 6</a:t>
            </a:r>
          </a:p>
        </p:txBody>
      </p:sp>
      <p:grpSp>
        <p:nvGrpSpPr>
          <p:cNvPr id="10" name="Student lattice with deliberate error"/>
          <p:cNvGrpSpPr/>
          <p:nvPr/>
        </p:nvGrpSpPr>
        <p:grpSpPr>
          <a:xfrm>
            <a:off x="548640" y="2130552"/>
            <a:ext cx="1033272" cy="649224"/>
            <a:chOff x="548640" y="2130552"/>
            <a:chExt cx="1033272" cy="649224"/>
          </a:xfrm>
        </p:grpSpPr>
        <p:sp>
          <p:nvSpPr>
            <p:cNvPr id="11" name="TextBox 10"/>
            <p:cNvSpPr txBox="1"/>
            <p:nvPr/>
          </p:nvSpPr>
          <p:spPr>
            <a:xfrm>
              <a:off x="548640"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4</a:t>
              </a:r>
            </a:p>
          </p:txBody>
        </p:sp>
        <p:sp>
          <p:nvSpPr>
            <p:cNvPr id="12" name="TextBox 11"/>
            <p:cNvSpPr txBox="1"/>
            <p:nvPr/>
          </p:nvSpPr>
          <p:spPr>
            <a:xfrm>
              <a:off x="941832"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3</a:t>
              </a:r>
            </a:p>
          </p:txBody>
        </p:sp>
        <p:sp>
          <p:nvSpPr>
            <p:cNvPr id="13" name="TextBox 12"/>
            <p:cNvSpPr txBox="1"/>
            <p:nvPr/>
          </p:nvSpPr>
          <p:spPr>
            <a:xfrm>
              <a:off x="1353312" y="2386584"/>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14" name="Rectangle 13"/>
            <p:cNvSpPr/>
            <p:nvPr/>
          </p:nvSpPr>
          <p:spPr>
            <a:xfrm>
              <a:off x="548640"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flipV="1">
              <a:off x="548640" y="2386584"/>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48640"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7" name="TextBox 16"/>
            <p:cNvSpPr txBox="1"/>
            <p:nvPr/>
          </p:nvSpPr>
          <p:spPr>
            <a:xfrm>
              <a:off x="731520"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18" name="Rectangle 17"/>
            <p:cNvSpPr/>
            <p:nvPr/>
          </p:nvSpPr>
          <p:spPr>
            <a:xfrm>
              <a:off x="941832"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9" name="Connector 18"/>
            <p:cNvCxnSpPr/>
            <p:nvPr/>
          </p:nvCxnSpPr>
          <p:spPr>
            <a:xfrm flipV="1">
              <a:off x="941832" y="2386584"/>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41832"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21" name="TextBox 20"/>
            <p:cNvSpPr txBox="1"/>
            <p:nvPr/>
          </p:nvSpPr>
          <p:spPr>
            <a:xfrm>
              <a:off x="1124712"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8</a:t>
              </a:r>
            </a:p>
          </p:txBody>
        </p:sp>
      </p:grpSp>
      <p:sp>
        <p:nvSpPr>
          <p:cNvPr id="22" name="TextBox 21"/>
          <p:cNvSpPr txBox="1"/>
          <p:nvPr/>
        </p:nvSpPr>
        <p:spPr>
          <a:xfrm>
            <a:off x="2221991" y="2157984"/>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8=8; 5=5; 1=1</a:t>
            </a:r>
          </a:p>
          <a:p>
            <a:pPr>
              <a:lnSpc>
                <a:spcPts val="1836"/>
              </a:lnSpc>
              <a:spcBef>
                <a:spcPts val="0"/>
              </a:spcBef>
              <a:spcAft>
                <a:spcPts val="0"/>
              </a:spcAft>
              <a:defRPr sz="1700" b="0">
                <a:solidFill>
                  <a:srgbClr val="182B3A"/>
                </a:solidFill>
                <a:latin typeface="Arial"/>
              </a:defRPr>
            </a:pPr>
            <a:r>
              <a:t>Answer: 158</a:t>
            </a:r>
          </a:p>
        </p:txBody>
      </p:sp>
      <p:sp>
        <p:nvSpPr>
          <p:cNvPr id="23" name="Rectangle 22"/>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75488" y="3776472"/>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68 × 4</a:t>
            </a:r>
          </a:p>
        </p:txBody>
      </p:sp>
      <p:grpSp>
        <p:nvGrpSpPr>
          <p:cNvPr id="25" name="Student lattice with deliberate error"/>
          <p:cNvGrpSpPr/>
          <p:nvPr/>
        </p:nvGrpSpPr>
        <p:grpSpPr>
          <a:xfrm>
            <a:off x="548640" y="4133088"/>
            <a:ext cx="1033272" cy="649224"/>
            <a:chOff x="548640" y="4133088"/>
            <a:chExt cx="1033272" cy="649224"/>
          </a:xfrm>
        </p:grpSpPr>
        <p:sp>
          <p:nvSpPr>
            <p:cNvPr id="26" name="TextBox 25"/>
            <p:cNvSpPr txBox="1"/>
            <p:nvPr/>
          </p:nvSpPr>
          <p:spPr>
            <a:xfrm>
              <a:off x="548640"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27" name="TextBox 26"/>
            <p:cNvSpPr txBox="1"/>
            <p:nvPr/>
          </p:nvSpPr>
          <p:spPr>
            <a:xfrm>
              <a:off x="941832"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8</a:t>
              </a:r>
            </a:p>
          </p:txBody>
        </p:sp>
        <p:sp>
          <p:nvSpPr>
            <p:cNvPr id="28" name="TextBox 27"/>
            <p:cNvSpPr txBox="1"/>
            <p:nvPr/>
          </p:nvSpPr>
          <p:spPr>
            <a:xfrm>
              <a:off x="1353312" y="4389120"/>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4</a:t>
              </a:r>
            </a:p>
          </p:txBody>
        </p:sp>
        <p:sp>
          <p:nvSpPr>
            <p:cNvPr id="29" name="Rectangle 28"/>
            <p:cNvSpPr/>
            <p:nvPr/>
          </p:nvSpPr>
          <p:spPr>
            <a:xfrm>
              <a:off x="548640"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0" name="Connector 29"/>
            <p:cNvCxnSpPr/>
            <p:nvPr/>
          </p:nvCxnSpPr>
          <p:spPr>
            <a:xfrm flipV="1">
              <a:off x="548640" y="4389120"/>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48640"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32" name="TextBox 31"/>
            <p:cNvSpPr txBox="1"/>
            <p:nvPr/>
          </p:nvSpPr>
          <p:spPr>
            <a:xfrm>
              <a:off x="731520"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33" name="Rectangle 32"/>
            <p:cNvSpPr/>
            <p:nvPr/>
          </p:nvSpPr>
          <p:spPr>
            <a:xfrm>
              <a:off x="941832"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4" name="Connector 33"/>
            <p:cNvCxnSpPr/>
            <p:nvPr/>
          </p:nvCxnSpPr>
          <p:spPr>
            <a:xfrm flipV="1">
              <a:off x="941832" y="4389120"/>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41832"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3</a:t>
              </a:r>
            </a:p>
          </p:txBody>
        </p:sp>
        <p:sp>
          <p:nvSpPr>
            <p:cNvPr id="36" name="TextBox 35"/>
            <p:cNvSpPr txBox="1"/>
            <p:nvPr/>
          </p:nvSpPr>
          <p:spPr>
            <a:xfrm>
              <a:off x="1124712"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grpSp>
      <p:sp>
        <p:nvSpPr>
          <p:cNvPr id="37" name="TextBox 36"/>
          <p:cNvSpPr txBox="1"/>
          <p:nvPr/>
        </p:nvSpPr>
        <p:spPr>
          <a:xfrm>
            <a:off x="2221991" y="4160520"/>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2=2; 7=7; 2=2</a:t>
            </a:r>
          </a:p>
          <a:p>
            <a:pPr>
              <a:lnSpc>
                <a:spcPts val="1836"/>
              </a:lnSpc>
              <a:spcBef>
                <a:spcPts val="0"/>
              </a:spcBef>
              <a:spcAft>
                <a:spcPts val="0"/>
              </a:spcAft>
              <a:defRPr sz="1700" b="0">
                <a:solidFill>
                  <a:srgbClr val="182B3A"/>
                </a:solidFill>
                <a:latin typeface="Arial"/>
              </a:defRPr>
            </a:pPr>
            <a:r>
              <a:t>Answer: 272</a:t>
            </a:r>
          </a:p>
        </p:txBody>
      </p:sp>
      <p:sp>
        <p:nvSpPr>
          <p:cNvPr id="38" name="Rectangle 37"/>
          <p:cNvSpPr/>
          <p:nvPr/>
        </p:nvSpPr>
        <p:spPr>
          <a:xfrm>
            <a:off x="384048" y="5724144"/>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475488" y="5779007"/>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76 × 7</a:t>
            </a:r>
          </a:p>
        </p:txBody>
      </p:sp>
      <p:grpSp>
        <p:nvGrpSpPr>
          <p:cNvPr id="40" name="Student lattice with deliberate error"/>
          <p:cNvGrpSpPr/>
          <p:nvPr/>
        </p:nvGrpSpPr>
        <p:grpSpPr>
          <a:xfrm>
            <a:off x="548640" y="6135624"/>
            <a:ext cx="1033272" cy="941832"/>
            <a:chOff x="548640" y="6135624"/>
            <a:chExt cx="1033272" cy="941832"/>
          </a:xfrm>
        </p:grpSpPr>
        <p:sp>
          <p:nvSpPr>
            <p:cNvPr id="41" name="TextBox 40"/>
            <p:cNvSpPr txBox="1"/>
            <p:nvPr/>
          </p:nvSpPr>
          <p:spPr>
            <a:xfrm>
              <a:off x="548640"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7</a:t>
              </a:r>
            </a:p>
          </p:txBody>
        </p:sp>
        <p:sp>
          <p:nvSpPr>
            <p:cNvPr id="42" name="TextBox 41"/>
            <p:cNvSpPr txBox="1"/>
            <p:nvPr/>
          </p:nvSpPr>
          <p:spPr>
            <a:xfrm>
              <a:off x="941832"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43" name="TextBox 42"/>
            <p:cNvSpPr txBox="1"/>
            <p:nvPr/>
          </p:nvSpPr>
          <p:spPr>
            <a:xfrm>
              <a:off x="1353312" y="6391656"/>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7</a:t>
              </a:r>
            </a:p>
          </p:txBody>
        </p:sp>
        <p:sp>
          <p:nvSpPr>
            <p:cNvPr id="44" name="Rectangle 43"/>
            <p:cNvSpPr/>
            <p:nvPr/>
          </p:nvSpPr>
          <p:spPr>
            <a:xfrm>
              <a:off x="548640"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 name="Connector 44"/>
            <p:cNvCxnSpPr/>
            <p:nvPr/>
          </p:nvCxnSpPr>
          <p:spPr>
            <a:xfrm flipV="1">
              <a:off x="548640" y="639165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48640"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47" name="TextBox 46"/>
            <p:cNvSpPr txBox="1"/>
            <p:nvPr/>
          </p:nvSpPr>
          <p:spPr>
            <a:xfrm>
              <a:off x="731520"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9</a:t>
              </a:r>
            </a:p>
          </p:txBody>
        </p:sp>
        <p:sp>
          <p:nvSpPr>
            <p:cNvPr id="48" name="Rectangle 47"/>
            <p:cNvSpPr/>
            <p:nvPr/>
          </p:nvSpPr>
          <p:spPr>
            <a:xfrm>
              <a:off x="941832"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9" name="Connector 48"/>
            <p:cNvCxnSpPr/>
            <p:nvPr/>
          </p:nvCxnSpPr>
          <p:spPr>
            <a:xfrm flipV="1">
              <a:off x="941832" y="639165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941832"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51" name="TextBox 50"/>
            <p:cNvSpPr txBox="1"/>
            <p:nvPr/>
          </p:nvSpPr>
          <p:spPr>
            <a:xfrm>
              <a:off x="1124712"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52" name="TextBox 51"/>
            <p:cNvSpPr txBox="1"/>
            <p:nvPr/>
          </p:nvSpPr>
          <p:spPr>
            <a:xfrm>
              <a:off x="548640" y="6821424"/>
              <a:ext cx="274320" cy="256032"/>
            </a:xfrm>
            <a:prstGeom prst="rect">
              <a:avLst/>
            </a:prstGeom>
            <a:noFill/>
          </p:spPr>
          <p:txBody>
            <a:bodyPr wrap="none" lIns="0" rIns="0" tIns="0" bIns="0" anchor="ctr">
              <a:spAutoFit/>
            </a:bodyPr>
            <a:lstStyle/>
            <a:p>
              <a:pPr algn="ctr">
                <a:defRPr sz="1900" b="1">
                  <a:solidFill>
                    <a:srgbClr val="182B3A"/>
                  </a:solidFill>
                  <a:latin typeface="Arial"/>
                </a:defRPr>
              </a:pPr>
              <a:r>
                <a:t>1</a:t>
              </a:r>
            </a:p>
          </p:txBody>
        </p:sp>
      </p:grpSp>
      <p:sp>
        <p:nvSpPr>
          <p:cNvPr id="53" name="TextBox 52"/>
          <p:cNvSpPr txBox="1"/>
          <p:nvPr/>
        </p:nvSpPr>
        <p:spPr>
          <a:xfrm>
            <a:off x="2221991" y="6163056"/>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2=2; 13=13 → 3, c1; 4+1=5</a:t>
            </a:r>
          </a:p>
          <a:p>
            <a:pPr>
              <a:lnSpc>
                <a:spcPts val="1836"/>
              </a:lnSpc>
              <a:spcBef>
                <a:spcPts val="0"/>
              </a:spcBef>
              <a:spcAft>
                <a:spcPts val="0"/>
              </a:spcAft>
              <a:defRPr sz="1700" b="0">
                <a:solidFill>
                  <a:srgbClr val="182B3A"/>
                </a:solidFill>
                <a:latin typeface="Arial"/>
              </a:defRPr>
            </a:pPr>
            <a:r>
              <a:t>Answer: 5132</a:t>
            </a:r>
          </a:p>
        </p:txBody>
      </p:sp>
      <p:sp>
        <p:nvSpPr>
          <p:cNvPr id="54" name="Rectangle 53"/>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56" name="Rectangle 55"/>
          <p:cNvSpPr/>
          <p:nvPr/>
        </p:nvSpPr>
        <p:spPr>
          <a:xfrm>
            <a:off x="5004816" y="1719072"/>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5096256" y="1773936"/>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34 × 12</a:t>
            </a:r>
          </a:p>
        </p:txBody>
      </p:sp>
      <p:grpSp>
        <p:nvGrpSpPr>
          <p:cNvPr id="58" name="Student lattice with deliberate error"/>
          <p:cNvGrpSpPr/>
          <p:nvPr/>
        </p:nvGrpSpPr>
        <p:grpSpPr>
          <a:xfrm>
            <a:off x="5169408" y="2130552"/>
            <a:ext cx="1033272" cy="1042416"/>
            <a:chOff x="5169408" y="2130552"/>
            <a:chExt cx="1033272" cy="1042416"/>
          </a:xfrm>
        </p:grpSpPr>
        <p:sp>
          <p:nvSpPr>
            <p:cNvPr id="59" name="TextBox 58"/>
            <p:cNvSpPr txBox="1"/>
            <p:nvPr/>
          </p:nvSpPr>
          <p:spPr>
            <a:xfrm>
              <a:off x="5169408"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3</a:t>
              </a:r>
            </a:p>
          </p:txBody>
        </p:sp>
        <p:sp>
          <p:nvSpPr>
            <p:cNvPr id="60" name="TextBox 59"/>
            <p:cNvSpPr txBox="1"/>
            <p:nvPr/>
          </p:nvSpPr>
          <p:spPr>
            <a:xfrm>
              <a:off x="5562600"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4</a:t>
              </a:r>
            </a:p>
          </p:txBody>
        </p:sp>
        <p:sp>
          <p:nvSpPr>
            <p:cNvPr id="61" name="TextBox 60"/>
            <p:cNvSpPr txBox="1"/>
            <p:nvPr/>
          </p:nvSpPr>
          <p:spPr>
            <a:xfrm>
              <a:off x="5974080" y="2386584"/>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1</a:t>
              </a:r>
            </a:p>
          </p:txBody>
        </p:sp>
        <p:sp>
          <p:nvSpPr>
            <p:cNvPr id="62" name="TextBox 61"/>
            <p:cNvSpPr txBox="1"/>
            <p:nvPr/>
          </p:nvSpPr>
          <p:spPr>
            <a:xfrm>
              <a:off x="5974080" y="2779776"/>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2</a:t>
              </a:r>
            </a:p>
          </p:txBody>
        </p:sp>
        <p:sp>
          <p:nvSpPr>
            <p:cNvPr id="63" name="Rectangle 62"/>
            <p:cNvSpPr/>
            <p:nvPr/>
          </p:nvSpPr>
          <p:spPr>
            <a:xfrm>
              <a:off x="5169408"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4" name="Connector 63"/>
            <p:cNvCxnSpPr/>
            <p:nvPr/>
          </p:nvCxnSpPr>
          <p:spPr>
            <a:xfrm flipV="1">
              <a:off x="5169408" y="2386584"/>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5169408"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66" name="TextBox 65"/>
            <p:cNvSpPr txBox="1"/>
            <p:nvPr/>
          </p:nvSpPr>
          <p:spPr>
            <a:xfrm>
              <a:off x="5352288"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3</a:t>
              </a:r>
            </a:p>
          </p:txBody>
        </p:sp>
        <p:sp>
          <p:nvSpPr>
            <p:cNvPr id="67" name="Rectangle 66"/>
            <p:cNvSpPr/>
            <p:nvPr/>
          </p:nvSpPr>
          <p:spPr>
            <a:xfrm>
              <a:off x="5562600"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8" name="Connector 67"/>
            <p:cNvCxnSpPr/>
            <p:nvPr/>
          </p:nvCxnSpPr>
          <p:spPr>
            <a:xfrm flipV="1">
              <a:off x="5562600" y="2386584"/>
              <a:ext cx="393191"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5562600"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70" name="TextBox 69"/>
            <p:cNvSpPr txBox="1"/>
            <p:nvPr/>
          </p:nvSpPr>
          <p:spPr>
            <a:xfrm>
              <a:off x="5745480"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71" name="Rectangle 70"/>
            <p:cNvSpPr/>
            <p:nvPr/>
          </p:nvSpPr>
          <p:spPr>
            <a:xfrm>
              <a:off x="5169408" y="277977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72" name="Connector 71"/>
            <p:cNvCxnSpPr/>
            <p:nvPr/>
          </p:nvCxnSpPr>
          <p:spPr>
            <a:xfrm flipV="1">
              <a:off x="5169408" y="277977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5169408" y="277977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74" name="TextBox 73"/>
            <p:cNvSpPr txBox="1"/>
            <p:nvPr/>
          </p:nvSpPr>
          <p:spPr>
            <a:xfrm>
              <a:off x="5352288" y="297180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6</a:t>
              </a:r>
            </a:p>
          </p:txBody>
        </p:sp>
        <p:sp>
          <p:nvSpPr>
            <p:cNvPr id="75" name="Rectangle 74"/>
            <p:cNvSpPr/>
            <p:nvPr/>
          </p:nvSpPr>
          <p:spPr>
            <a:xfrm>
              <a:off x="5562600" y="277977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76" name="Connector 75"/>
            <p:cNvCxnSpPr/>
            <p:nvPr/>
          </p:nvCxnSpPr>
          <p:spPr>
            <a:xfrm flipV="1">
              <a:off x="5562600" y="2779776"/>
              <a:ext cx="393191"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5562600" y="277977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78" name="TextBox 77"/>
            <p:cNvSpPr txBox="1"/>
            <p:nvPr/>
          </p:nvSpPr>
          <p:spPr>
            <a:xfrm>
              <a:off x="5745480" y="297180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8</a:t>
              </a:r>
            </a:p>
          </p:txBody>
        </p:sp>
      </p:grpSp>
      <p:sp>
        <p:nvSpPr>
          <p:cNvPr id="79" name="TextBox 78"/>
          <p:cNvSpPr txBox="1"/>
          <p:nvPr/>
        </p:nvSpPr>
        <p:spPr>
          <a:xfrm>
            <a:off x="6842760" y="2157984"/>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8=8; 10=10 → 0, c1; 3+1=4; 0=0</a:t>
            </a:r>
          </a:p>
          <a:p>
            <a:pPr>
              <a:lnSpc>
                <a:spcPts val="1836"/>
              </a:lnSpc>
              <a:spcBef>
                <a:spcPts val="0"/>
              </a:spcBef>
              <a:spcAft>
                <a:spcPts val="0"/>
              </a:spcAft>
              <a:defRPr sz="1700" b="0">
                <a:solidFill>
                  <a:srgbClr val="182B3A"/>
                </a:solidFill>
                <a:latin typeface="Arial"/>
              </a:defRPr>
            </a:pPr>
            <a:r>
              <a:t>Answer: 408</a:t>
            </a:r>
          </a:p>
        </p:txBody>
      </p:sp>
      <p:sp>
        <p:nvSpPr>
          <p:cNvPr id="80" name="Rectangle 79"/>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TextBox 80"/>
          <p:cNvSpPr txBox="1"/>
          <p:nvPr/>
        </p:nvSpPr>
        <p:spPr>
          <a:xfrm>
            <a:off x="5096256" y="3776472"/>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 × 26</a:t>
            </a:r>
          </a:p>
        </p:txBody>
      </p:sp>
      <p:grpSp>
        <p:nvGrpSpPr>
          <p:cNvPr id="82" name="Student lattice with deliberate error"/>
          <p:cNvGrpSpPr/>
          <p:nvPr/>
        </p:nvGrpSpPr>
        <p:grpSpPr>
          <a:xfrm>
            <a:off x="5169408" y="4133088"/>
            <a:ext cx="1033272" cy="1042416"/>
            <a:chOff x="5169408" y="4133088"/>
            <a:chExt cx="1033272" cy="1042416"/>
          </a:xfrm>
        </p:grpSpPr>
        <p:sp>
          <p:nvSpPr>
            <p:cNvPr id="83" name="TextBox 82"/>
            <p:cNvSpPr txBox="1"/>
            <p:nvPr/>
          </p:nvSpPr>
          <p:spPr>
            <a:xfrm>
              <a:off x="5169408"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4</a:t>
              </a:r>
            </a:p>
          </p:txBody>
        </p:sp>
        <p:sp>
          <p:nvSpPr>
            <p:cNvPr id="84" name="TextBox 83"/>
            <p:cNvSpPr txBox="1"/>
            <p:nvPr/>
          </p:nvSpPr>
          <p:spPr>
            <a:xfrm>
              <a:off x="5562600"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7</a:t>
              </a:r>
            </a:p>
          </p:txBody>
        </p:sp>
        <p:sp>
          <p:nvSpPr>
            <p:cNvPr id="85" name="TextBox 84"/>
            <p:cNvSpPr txBox="1"/>
            <p:nvPr/>
          </p:nvSpPr>
          <p:spPr>
            <a:xfrm>
              <a:off x="5974080" y="4389120"/>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2</a:t>
              </a:r>
            </a:p>
          </p:txBody>
        </p:sp>
        <p:sp>
          <p:nvSpPr>
            <p:cNvPr id="86" name="TextBox 85"/>
            <p:cNvSpPr txBox="1"/>
            <p:nvPr/>
          </p:nvSpPr>
          <p:spPr>
            <a:xfrm>
              <a:off x="5974080" y="4782312"/>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87" name="Rectangle 86"/>
            <p:cNvSpPr/>
            <p:nvPr/>
          </p:nvSpPr>
          <p:spPr>
            <a:xfrm>
              <a:off x="5169408"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8" name="Connector 87"/>
            <p:cNvCxnSpPr/>
            <p:nvPr/>
          </p:nvCxnSpPr>
          <p:spPr>
            <a:xfrm flipV="1">
              <a:off x="5169408" y="4389120"/>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5169408"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90" name="TextBox 89"/>
            <p:cNvSpPr txBox="1"/>
            <p:nvPr/>
          </p:nvSpPr>
          <p:spPr>
            <a:xfrm>
              <a:off x="5352288"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8</a:t>
              </a:r>
            </a:p>
          </p:txBody>
        </p:sp>
        <p:sp>
          <p:nvSpPr>
            <p:cNvPr id="91" name="Rectangle 90"/>
            <p:cNvSpPr/>
            <p:nvPr/>
          </p:nvSpPr>
          <p:spPr>
            <a:xfrm>
              <a:off x="5562600"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2" name="Connector 91"/>
            <p:cNvCxnSpPr/>
            <p:nvPr/>
          </p:nvCxnSpPr>
          <p:spPr>
            <a:xfrm flipV="1">
              <a:off x="5562600" y="4389120"/>
              <a:ext cx="393191"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5562600"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94" name="TextBox 93"/>
            <p:cNvSpPr txBox="1"/>
            <p:nvPr/>
          </p:nvSpPr>
          <p:spPr>
            <a:xfrm>
              <a:off x="5745480"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95" name="Rectangle 94"/>
            <p:cNvSpPr/>
            <p:nvPr/>
          </p:nvSpPr>
          <p:spPr>
            <a:xfrm>
              <a:off x="5169408" y="4782312"/>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6" name="Connector 95"/>
            <p:cNvCxnSpPr/>
            <p:nvPr/>
          </p:nvCxnSpPr>
          <p:spPr>
            <a:xfrm flipV="1">
              <a:off x="5169408" y="4782312"/>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5169408" y="4782312"/>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98" name="TextBox 97"/>
            <p:cNvSpPr txBox="1"/>
            <p:nvPr/>
          </p:nvSpPr>
          <p:spPr>
            <a:xfrm>
              <a:off x="5352288" y="4974336"/>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99" name="Rectangle 98"/>
            <p:cNvSpPr/>
            <p:nvPr/>
          </p:nvSpPr>
          <p:spPr>
            <a:xfrm>
              <a:off x="5562600" y="4782312"/>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0" name="Connector 99"/>
            <p:cNvCxnSpPr/>
            <p:nvPr/>
          </p:nvCxnSpPr>
          <p:spPr>
            <a:xfrm flipV="1">
              <a:off x="5562600" y="4782312"/>
              <a:ext cx="393191"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5562600" y="4782312"/>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102" name="TextBox 101"/>
            <p:cNvSpPr txBox="1"/>
            <p:nvPr/>
          </p:nvSpPr>
          <p:spPr>
            <a:xfrm>
              <a:off x="5745480" y="4974336"/>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grpSp>
      <p:sp>
        <p:nvSpPr>
          <p:cNvPr id="103" name="TextBox 102"/>
          <p:cNvSpPr txBox="1"/>
          <p:nvPr/>
        </p:nvSpPr>
        <p:spPr>
          <a:xfrm>
            <a:off x="6842760" y="4160520"/>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2=2; 12=12 → 2, c1; 11=11 → 1, c1; 0+1=1</a:t>
            </a:r>
          </a:p>
          <a:p>
            <a:pPr>
              <a:lnSpc>
                <a:spcPts val="1836"/>
              </a:lnSpc>
              <a:spcBef>
                <a:spcPts val="0"/>
              </a:spcBef>
              <a:spcAft>
                <a:spcPts val="0"/>
              </a:spcAft>
              <a:defRPr sz="1700" b="0">
                <a:solidFill>
                  <a:srgbClr val="182B3A"/>
                </a:solidFill>
                <a:latin typeface="Arial"/>
              </a:defRPr>
            </a:pPr>
            <a:r>
              <a:t>Answer: 1122</a:t>
            </a:r>
          </a:p>
        </p:txBody>
      </p:sp>
      <p:sp>
        <p:nvSpPr>
          <p:cNvPr id="104" name="Rectangle 103"/>
          <p:cNvSpPr/>
          <p:nvPr/>
        </p:nvSpPr>
        <p:spPr>
          <a:xfrm>
            <a:off x="5004816" y="5724144"/>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TextBox 104"/>
          <p:cNvSpPr txBox="1"/>
          <p:nvPr/>
        </p:nvSpPr>
        <p:spPr>
          <a:xfrm>
            <a:off x="5096256" y="5779007"/>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68 × 24</a:t>
            </a:r>
          </a:p>
        </p:txBody>
      </p:sp>
      <p:grpSp>
        <p:nvGrpSpPr>
          <p:cNvPr id="106" name="Student lattice with deliberate error"/>
          <p:cNvGrpSpPr/>
          <p:nvPr/>
        </p:nvGrpSpPr>
        <p:grpSpPr>
          <a:xfrm>
            <a:off x="5169408" y="6135624"/>
            <a:ext cx="1033272" cy="1335024"/>
            <a:chOff x="5169408" y="6135624"/>
            <a:chExt cx="1033272" cy="1335024"/>
          </a:xfrm>
        </p:grpSpPr>
        <p:sp>
          <p:nvSpPr>
            <p:cNvPr id="107" name="TextBox 106"/>
            <p:cNvSpPr txBox="1"/>
            <p:nvPr/>
          </p:nvSpPr>
          <p:spPr>
            <a:xfrm>
              <a:off x="5169408"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108" name="TextBox 107"/>
            <p:cNvSpPr txBox="1"/>
            <p:nvPr/>
          </p:nvSpPr>
          <p:spPr>
            <a:xfrm>
              <a:off x="5562600"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8</a:t>
              </a:r>
            </a:p>
          </p:txBody>
        </p:sp>
        <p:sp>
          <p:nvSpPr>
            <p:cNvPr id="109" name="TextBox 108"/>
            <p:cNvSpPr txBox="1"/>
            <p:nvPr/>
          </p:nvSpPr>
          <p:spPr>
            <a:xfrm>
              <a:off x="5974080" y="6391656"/>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2</a:t>
              </a:r>
            </a:p>
          </p:txBody>
        </p:sp>
        <p:sp>
          <p:nvSpPr>
            <p:cNvPr id="110" name="TextBox 109"/>
            <p:cNvSpPr txBox="1"/>
            <p:nvPr/>
          </p:nvSpPr>
          <p:spPr>
            <a:xfrm>
              <a:off x="5974080" y="6784848"/>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4</a:t>
              </a:r>
            </a:p>
          </p:txBody>
        </p:sp>
        <p:sp>
          <p:nvSpPr>
            <p:cNvPr id="111" name="Rectangle 110"/>
            <p:cNvSpPr/>
            <p:nvPr/>
          </p:nvSpPr>
          <p:spPr>
            <a:xfrm>
              <a:off x="5169408"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2" name="Connector 111"/>
            <p:cNvCxnSpPr/>
            <p:nvPr/>
          </p:nvCxnSpPr>
          <p:spPr>
            <a:xfrm flipV="1">
              <a:off x="5169408" y="639165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5169408"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14" name="TextBox 113"/>
            <p:cNvSpPr txBox="1"/>
            <p:nvPr/>
          </p:nvSpPr>
          <p:spPr>
            <a:xfrm>
              <a:off x="5352288"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15" name="Rectangle 114"/>
            <p:cNvSpPr/>
            <p:nvPr/>
          </p:nvSpPr>
          <p:spPr>
            <a:xfrm>
              <a:off x="5562600"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6" name="Connector 115"/>
            <p:cNvCxnSpPr/>
            <p:nvPr/>
          </p:nvCxnSpPr>
          <p:spPr>
            <a:xfrm flipV="1">
              <a:off x="5562600" y="6391656"/>
              <a:ext cx="393191"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5562600"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18" name="TextBox 117"/>
            <p:cNvSpPr txBox="1"/>
            <p:nvPr/>
          </p:nvSpPr>
          <p:spPr>
            <a:xfrm>
              <a:off x="5745480"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6</a:t>
              </a:r>
            </a:p>
          </p:txBody>
        </p:sp>
        <p:sp>
          <p:nvSpPr>
            <p:cNvPr id="119" name="Rectangle 118"/>
            <p:cNvSpPr/>
            <p:nvPr/>
          </p:nvSpPr>
          <p:spPr>
            <a:xfrm>
              <a:off x="5169408" y="6784848"/>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0" name="Connector 119"/>
            <p:cNvCxnSpPr/>
            <p:nvPr/>
          </p:nvCxnSpPr>
          <p:spPr>
            <a:xfrm flipV="1">
              <a:off x="5169408" y="6784848"/>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1" name="TextBox 120"/>
            <p:cNvSpPr txBox="1"/>
            <p:nvPr/>
          </p:nvSpPr>
          <p:spPr>
            <a:xfrm>
              <a:off x="5169408" y="6784848"/>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22" name="TextBox 121"/>
            <p:cNvSpPr txBox="1"/>
            <p:nvPr/>
          </p:nvSpPr>
          <p:spPr>
            <a:xfrm>
              <a:off x="5352288" y="6976872"/>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123" name="Rectangle 122"/>
            <p:cNvSpPr/>
            <p:nvPr/>
          </p:nvSpPr>
          <p:spPr>
            <a:xfrm>
              <a:off x="5562600" y="6784848"/>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4" name="Connector 123"/>
            <p:cNvCxnSpPr/>
            <p:nvPr/>
          </p:nvCxnSpPr>
          <p:spPr>
            <a:xfrm flipV="1">
              <a:off x="5562600" y="6784848"/>
              <a:ext cx="393191"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5562600" y="6784848"/>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3</a:t>
              </a:r>
            </a:p>
          </p:txBody>
        </p:sp>
        <p:sp>
          <p:nvSpPr>
            <p:cNvPr id="126" name="TextBox 125"/>
            <p:cNvSpPr txBox="1"/>
            <p:nvPr/>
          </p:nvSpPr>
          <p:spPr>
            <a:xfrm>
              <a:off x="5745480" y="6976872"/>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27" name="TextBox 126"/>
            <p:cNvSpPr txBox="1"/>
            <p:nvPr/>
          </p:nvSpPr>
          <p:spPr>
            <a:xfrm>
              <a:off x="5169408" y="7214616"/>
              <a:ext cx="274320" cy="256032"/>
            </a:xfrm>
            <a:prstGeom prst="rect">
              <a:avLst/>
            </a:prstGeom>
            <a:noFill/>
          </p:spPr>
          <p:txBody>
            <a:bodyPr wrap="none" lIns="0" rIns="0" tIns="0" bIns="0" anchor="ctr">
              <a:spAutoFit/>
            </a:bodyPr>
            <a:lstStyle/>
            <a:p>
              <a:pPr algn="ctr">
                <a:defRPr sz="1900" b="1">
                  <a:solidFill>
                    <a:srgbClr val="182B3A"/>
                  </a:solidFill>
                  <a:latin typeface="Arial"/>
                </a:defRPr>
              </a:pPr>
              <a:r>
                <a:t>1</a:t>
              </a:r>
            </a:p>
          </p:txBody>
        </p:sp>
      </p:grpSp>
      <p:sp>
        <p:nvSpPr>
          <p:cNvPr id="128" name="TextBox 127"/>
          <p:cNvSpPr txBox="1"/>
          <p:nvPr/>
        </p:nvSpPr>
        <p:spPr>
          <a:xfrm>
            <a:off x="6842760" y="6163056"/>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2=2; 13=13 → 3, c1; 5+1=6; 1=1</a:t>
            </a:r>
          </a:p>
          <a:p>
            <a:pPr>
              <a:lnSpc>
                <a:spcPts val="1836"/>
              </a:lnSpc>
              <a:spcBef>
                <a:spcPts val="0"/>
              </a:spcBef>
              <a:spcAft>
                <a:spcPts val="0"/>
              </a:spcAft>
              <a:defRPr sz="1700" b="0">
                <a:solidFill>
                  <a:srgbClr val="182B3A"/>
                </a:solidFill>
                <a:latin typeface="Arial"/>
              </a:defRPr>
            </a:pPr>
            <a:r>
              <a:t>Answer: 16132</a:t>
            </a:r>
          </a:p>
        </p:txBody>
      </p:sp>
      <p:sp>
        <p:nvSpPr>
          <p:cNvPr id="129" name="Rectangle 128"/>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0" name="TextBox 129"/>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1" name="Rectangle 130"/>
          <p:cNvSpPr/>
          <p:nvPr/>
        </p:nvSpPr>
        <p:spPr>
          <a:xfrm>
            <a:off x="9625584" y="1719072"/>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2" name="TextBox 131"/>
          <p:cNvSpPr txBox="1"/>
          <p:nvPr/>
        </p:nvSpPr>
        <p:spPr>
          <a:xfrm>
            <a:off x="9717024" y="1773936"/>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234 × 56</a:t>
            </a:r>
          </a:p>
        </p:txBody>
      </p:sp>
      <p:grpSp>
        <p:nvGrpSpPr>
          <p:cNvPr id="133" name="Student lattice with deliberate error"/>
          <p:cNvGrpSpPr/>
          <p:nvPr/>
        </p:nvGrpSpPr>
        <p:grpSpPr>
          <a:xfrm>
            <a:off x="9790176" y="2130552"/>
            <a:ext cx="1426464" cy="1042416"/>
            <a:chOff x="9790176" y="2130552"/>
            <a:chExt cx="1426464" cy="1042416"/>
          </a:xfrm>
        </p:grpSpPr>
        <p:sp>
          <p:nvSpPr>
            <p:cNvPr id="134" name="TextBox 133"/>
            <p:cNvSpPr txBox="1"/>
            <p:nvPr/>
          </p:nvSpPr>
          <p:spPr>
            <a:xfrm>
              <a:off x="9790176"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2</a:t>
              </a:r>
            </a:p>
          </p:txBody>
        </p:sp>
        <p:sp>
          <p:nvSpPr>
            <p:cNvPr id="135" name="TextBox 134"/>
            <p:cNvSpPr txBox="1"/>
            <p:nvPr/>
          </p:nvSpPr>
          <p:spPr>
            <a:xfrm>
              <a:off x="10183368"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3</a:t>
              </a:r>
            </a:p>
          </p:txBody>
        </p:sp>
        <p:sp>
          <p:nvSpPr>
            <p:cNvPr id="136" name="TextBox 135"/>
            <p:cNvSpPr txBox="1"/>
            <p:nvPr/>
          </p:nvSpPr>
          <p:spPr>
            <a:xfrm>
              <a:off x="10576560"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4</a:t>
              </a:r>
            </a:p>
          </p:txBody>
        </p:sp>
        <p:sp>
          <p:nvSpPr>
            <p:cNvPr id="137" name="TextBox 136"/>
            <p:cNvSpPr txBox="1"/>
            <p:nvPr/>
          </p:nvSpPr>
          <p:spPr>
            <a:xfrm>
              <a:off x="10988040" y="2386584"/>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5</a:t>
              </a:r>
            </a:p>
          </p:txBody>
        </p:sp>
        <p:sp>
          <p:nvSpPr>
            <p:cNvPr id="138" name="TextBox 137"/>
            <p:cNvSpPr txBox="1"/>
            <p:nvPr/>
          </p:nvSpPr>
          <p:spPr>
            <a:xfrm>
              <a:off x="10988040" y="2779776"/>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139" name="Rectangle 138"/>
            <p:cNvSpPr/>
            <p:nvPr/>
          </p:nvSpPr>
          <p:spPr>
            <a:xfrm>
              <a:off x="9790176"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0" name="Connector 139"/>
            <p:cNvCxnSpPr/>
            <p:nvPr/>
          </p:nvCxnSpPr>
          <p:spPr>
            <a:xfrm flipV="1">
              <a:off x="9790176" y="2386584"/>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1" name="TextBox 140"/>
            <p:cNvSpPr txBox="1"/>
            <p:nvPr/>
          </p:nvSpPr>
          <p:spPr>
            <a:xfrm>
              <a:off x="9790176"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42" name="TextBox 141"/>
            <p:cNvSpPr txBox="1"/>
            <p:nvPr/>
          </p:nvSpPr>
          <p:spPr>
            <a:xfrm>
              <a:off x="9973056"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143" name="Rectangle 142"/>
            <p:cNvSpPr/>
            <p:nvPr/>
          </p:nvSpPr>
          <p:spPr>
            <a:xfrm>
              <a:off x="10183368"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4" name="Connector 143"/>
            <p:cNvCxnSpPr/>
            <p:nvPr/>
          </p:nvCxnSpPr>
          <p:spPr>
            <a:xfrm flipV="1">
              <a:off x="10183368" y="2386584"/>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5" name="TextBox 144"/>
            <p:cNvSpPr txBox="1"/>
            <p:nvPr/>
          </p:nvSpPr>
          <p:spPr>
            <a:xfrm>
              <a:off x="10183368"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46" name="TextBox 145"/>
            <p:cNvSpPr txBox="1"/>
            <p:nvPr/>
          </p:nvSpPr>
          <p:spPr>
            <a:xfrm>
              <a:off x="10366248"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5</a:t>
              </a:r>
            </a:p>
          </p:txBody>
        </p:sp>
        <p:sp>
          <p:nvSpPr>
            <p:cNvPr id="147" name="Rectangle 146"/>
            <p:cNvSpPr/>
            <p:nvPr/>
          </p:nvSpPr>
          <p:spPr>
            <a:xfrm>
              <a:off x="10576560"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8" name="Connector 147"/>
            <p:cNvCxnSpPr/>
            <p:nvPr/>
          </p:nvCxnSpPr>
          <p:spPr>
            <a:xfrm flipV="1">
              <a:off x="10576560" y="2386584"/>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9" name="TextBox 148"/>
            <p:cNvSpPr txBox="1"/>
            <p:nvPr/>
          </p:nvSpPr>
          <p:spPr>
            <a:xfrm>
              <a:off x="10576560"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50" name="TextBox 149"/>
            <p:cNvSpPr txBox="1"/>
            <p:nvPr/>
          </p:nvSpPr>
          <p:spPr>
            <a:xfrm>
              <a:off x="10759440"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151" name="Rectangle 150"/>
            <p:cNvSpPr/>
            <p:nvPr/>
          </p:nvSpPr>
          <p:spPr>
            <a:xfrm>
              <a:off x="9790176" y="277977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2" name="Connector 151"/>
            <p:cNvCxnSpPr/>
            <p:nvPr/>
          </p:nvCxnSpPr>
          <p:spPr>
            <a:xfrm flipV="1">
              <a:off x="9790176" y="277977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3" name="TextBox 152"/>
            <p:cNvSpPr txBox="1"/>
            <p:nvPr/>
          </p:nvSpPr>
          <p:spPr>
            <a:xfrm>
              <a:off x="9790176" y="277977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54" name="TextBox 153"/>
            <p:cNvSpPr txBox="1"/>
            <p:nvPr/>
          </p:nvSpPr>
          <p:spPr>
            <a:xfrm>
              <a:off x="9973056" y="297180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55" name="Rectangle 154"/>
            <p:cNvSpPr/>
            <p:nvPr/>
          </p:nvSpPr>
          <p:spPr>
            <a:xfrm>
              <a:off x="10183368" y="277977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6" name="Connector 155"/>
            <p:cNvCxnSpPr/>
            <p:nvPr/>
          </p:nvCxnSpPr>
          <p:spPr>
            <a:xfrm flipV="1">
              <a:off x="10183368" y="277977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7" name="TextBox 156"/>
            <p:cNvSpPr txBox="1"/>
            <p:nvPr/>
          </p:nvSpPr>
          <p:spPr>
            <a:xfrm>
              <a:off x="10183368" y="277977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58" name="TextBox 157"/>
            <p:cNvSpPr txBox="1"/>
            <p:nvPr/>
          </p:nvSpPr>
          <p:spPr>
            <a:xfrm>
              <a:off x="10366248" y="297180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8</a:t>
              </a:r>
            </a:p>
          </p:txBody>
        </p:sp>
        <p:sp>
          <p:nvSpPr>
            <p:cNvPr id="159" name="Rectangle 158"/>
            <p:cNvSpPr/>
            <p:nvPr/>
          </p:nvSpPr>
          <p:spPr>
            <a:xfrm>
              <a:off x="10576560" y="277977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60" name="Connector 159"/>
            <p:cNvCxnSpPr/>
            <p:nvPr/>
          </p:nvCxnSpPr>
          <p:spPr>
            <a:xfrm flipV="1">
              <a:off x="10576560" y="277977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61" name="TextBox 160"/>
            <p:cNvSpPr txBox="1"/>
            <p:nvPr/>
          </p:nvSpPr>
          <p:spPr>
            <a:xfrm>
              <a:off x="10576560" y="277977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62" name="TextBox 161"/>
            <p:cNvSpPr txBox="1"/>
            <p:nvPr/>
          </p:nvSpPr>
          <p:spPr>
            <a:xfrm>
              <a:off x="10759440" y="297180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grpSp>
      <p:sp>
        <p:nvSpPr>
          <p:cNvPr id="163" name="TextBox 162"/>
          <p:cNvSpPr txBox="1"/>
          <p:nvPr/>
        </p:nvSpPr>
        <p:spPr>
          <a:xfrm>
            <a:off x="11463528" y="2157984"/>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6=6; 8=8; 10=10 → 0, c1; 2+1=3; 1=1</a:t>
            </a:r>
          </a:p>
          <a:p>
            <a:pPr>
              <a:lnSpc>
                <a:spcPts val="1836"/>
              </a:lnSpc>
              <a:spcBef>
                <a:spcPts val="0"/>
              </a:spcBef>
              <a:spcAft>
                <a:spcPts val="0"/>
              </a:spcAft>
              <a:defRPr sz="1700" b="0">
                <a:solidFill>
                  <a:srgbClr val="182B3A"/>
                </a:solidFill>
                <a:latin typeface="Arial"/>
              </a:defRPr>
            </a:pPr>
            <a:r>
              <a:t>Answer: 13086</a:t>
            </a:r>
          </a:p>
        </p:txBody>
      </p:sp>
      <p:sp>
        <p:nvSpPr>
          <p:cNvPr id="164" name="Rectangle 163"/>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5" name="TextBox 164"/>
          <p:cNvSpPr txBox="1"/>
          <p:nvPr/>
        </p:nvSpPr>
        <p:spPr>
          <a:xfrm>
            <a:off x="9717024" y="3776472"/>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476 × 82</a:t>
            </a:r>
          </a:p>
        </p:txBody>
      </p:sp>
      <p:grpSp>
        <p:nvGrpSpPr>
          <p:cNvPr id="166" name="Student lattice with deliberate error"/>
          <p:cNvGrpSpPr/>
          <p:nvPr/>
        </p:nvGrpSpPr>
        <p:grpSpPr>
          <a:xfrm>
            <a:off x="9790176" y="4133088"/>
            <a:ext cx="1426464" cy="1042416"/>
            <a:chOff x="9790176" y="4133088"/>
            <a:chExt cx="1426464" cy="1042416"/>
          </a:xfrm>
        </p:grpSpPr>
        <p:sp>
          <p:nvSpPr>
            <p:cNvPr id="167" name="TextBox 166"/>
            <p:cNvSpPr txBox="1"/>
            <p:nvPr/>
          </p:nvSpPr>
          <p:spPr>
            <a:xfrm>
              <a:off x="9790176"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4</a:t>
              </a:r>
            </a:p>
          </p:txBody>
        </p:sp>
        <p:sp>
          <p:nvSpPr>
            <p:cNvPr id="168" name="TextBox 167"/>
            <p:cNvSpPr txBox="1"/>
            <p:nvPr/>
          </p:nvSpPr>
          <p:spPr>
            <a:xfrm>
              <a:off x="10183368"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7</a:t>
              </a:r>
            </a:p>
          </p:txBody>
        </p:sp>
        <p:sp>
          <p:nvSpPr>
            <p:cNvPr id="169" name="TextBox 168"/>
            <p:cNvSpPr txBox="1"/>
            <p:nvPr/>
          </p:nvSpPr>
          <p:spPr>
            <a:xfrm>
              <a:off x="10576560"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170" name="TextBox 169"/>
            <p:cNvSpPr txBox="1"/>
            <p:nvPr/>
          </p:nvSpPr>
          <p:spPr>
            <a:xfrm>
              <a:off x="10988040" y="4389120"/>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8</a:t>
              </a:r>
            </a:p>
          </p:txBody>
        </p:sp>
        <p:sp>
          <p:nvSpPr>
            <p:cNvPr id="171" name="TextBox 170"/>
            <p:cNvSpPr txBox="1"/>
            <p:nvPr/>
          </p:nvSpPr>
          <p:spPr>
            <a:xfrm>
              <a:off x="10988040" y="4782312"/>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2</a:t>
              </a:r>
            </a:p>
          </p:txBody>
        </p:sp>
        <p:sp>
          <p:nvSpPr>
            <p:cNvPr id="172" name="Rectangle 171"/>
            <p:cNvSpPr/>
            <p:nvPr/>
          </p:nvSpPr>
          <p:spPr>
            <a:xfrm>
              <a:off x="9790176"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3" name="Connector 172"/>
            <p:cNvCxnSpPr/>
            <p:nvPr/>
          </p:nvCxnSpPr>
          <p:spPr>
            <a:xfrm flipV="1">
              <a:off x="9790176" y="4389120"/>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4" name="TextBox 173"/>
            <p:cNvSpPr txBox="1"/>
            <p:nvPr/>
          </p:nvSpPr>
          <p:spPr>
            <a:xfrm>
              <a:off x="9790176"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3</a:t>
              </a:r>
            </a:p>
          </p:txBody>
        </p:sp>
        <p:sp>
          <p:nvSpPr>
            <p:cNvPr id="175" name="TextBox 174"/>
            <p:cNvSpPr txBox="1"/>
            <p:nvPr/>
          </p:nvSpPr>
          <p:spPr>
            <a:xfrm>
              <a:off x="9973056"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76" name="Rectangle 175"/>
            <p:cNvSpPr/>
            <p:nvPr/>
          </p:nvSpPr>
          <p:spPr>
            <a:xfrm>
              <a:off x="10183368"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7" name="Connector 176"/>
            <p:cNvCxnSpPr/>
            <p:nvPr/>
          </p:nvCxnSpPr>
          <p:spPr>
            <a:xfrm flipV="1">
              <a:off x="10183368" y="4389120"/>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8" name="TextBox 177"/>
            <p:cNvSpPr txBox="1"/>
            <p:nvPr/>
          </p:nvSpPr>
          <p:spPr>
            <a:xfrm>
              <a:off x="10183368"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5</a:t>
              </a:r>
            </a:p>
          </p:txBody>
        </p:sp>
        <p:sp>
          <p:nvSpPr>
            <p:cNvPr id="179" name="TextBox 178"/>
            <p:cNvSpPr txBox="1"/>
            <p:nvPr/>
          </p:nvSpPr>
          <p:spPr>
            <a:xfrm>
              <a:off x="10366248"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6</a:t>
              </a:r>
            </a:p>
          </p:txBody>
        </p:sp>
        <p:sp>
          <p:nvSpPr>
            <p:cNvPr id="180" name="Rectangle 179"/>
            <p:cNvSpPr/>
            <p:nvPr/>
          </p:nvSpPr>
          <p:spPr>
            <a:xfrm>
              <a:off x="10576560"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1" name="Connector 180"/>
            <p:cNvCxnSpPr/>
            <p:nvPr/>
          </p:nvCxnSpPr>
          <p:spPr>
            <a:xfrm flipV="1">
              <a:off x="10576560" y="4389120"/>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2" name="TextBox 181"/>
            <p:cNvSpPr txBox="1"/>
            <p:nvPr/>
          </p:nvSpPr>
          <p:spPr>
            <a:xfrm>
              <a:off x="10576560"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183" name="TextBox 182"/>
            <p:cNvSpPr txBox="1"/>
            <p:nvPr/>
          </p:nvSpPr>
          <p:spPr>
            <a:xfrm>
              <a:off x="10759440"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8</a:t>
              </a:r>
            </a:p>
          </p:txBody>
        </p:sp>
        <p:sp>
          <p:nvSpPr>
            <p:cNvPr id="184" name="Rectangle 183"/>
            <p:cNvSpPr/>
            <p:nvPr/>
          </p:nvSpPr>
          <p:spPr>
            <a:xfrm>
              <a:off x="9790176" y="4782312"/>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5" name="Connector 184"/>
            <p:cNvCxnSpPr/>
            <p:nvPr/>
          </p:nvCxnSpPr>
          <p:spPr>
            <a:xfrm flipV="1">
              <a:off x="9790176" y="4782312"/>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6" name="TextBox 185"/>
            <p:cNvSpPr txBox="1"/>
            <p:nvPr/>
          </p:nvSpPr>
          <p:spPr>
            <a:xfrm>
              <a:off x="9790176" y="4782312"/>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187" name="TextBox 186"/>
            <p:cNvSpPr txBox="1"/>
            <p:nvPr/>
          </p:nvSpPr>
          <p:spPr>
            <a:xfrm>
              <a:off x="9973056" y="4974336"/>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8</a:t>
              </a:r>
            </a:p>
          </p:txBody>
        </p:sp>
        <p:sp>
          <p:nvSpPr>
            <p:cNvPr id="188" name="Rectangle 187"/>
            <p:cNvSpPr/>
            <p:nvPr/>
          </p:nvSpPr>
          <p:spPr>
            <a:xfrm>
              <a:off x="10183368" y="4782312"/>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9" name="Connector 188"/>
            <p:cNvCxnSpPr/>
            <p:nvPr/>
          </p:nvCxnSpPr>
          <p:spPr>
            <a:xfrm flipV="1">
              <a:off x="10183368" y="4782312"/>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90" name="TextBox 189"/>
            <p:cNvSpPr txBox="1"/>
            <p:nvPr/>
          </p:nvSpPr>
          <p:spPr>
            <a:xfrm>
              <a:off x="10183368" y="4782312"/>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91" name="TextBox 190"/>
            <p:cNvSpPr txBox="1"/>
            <p:nvPr/>
          </p:nvSpPr>
          <p:spPr>
            <a:xfrm>
              <a:off x="10366248" y="4974336"/>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192" name="Rectangle 191"/>
            <p:cNvSpPr/>
            <p:nvPr/>
          </p:nvSpPr>
          <p:spPr>
            <a:xfrm>
              <a:off x="10576560" y="4782312"/>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93" name="Connector 192"/>
            <p:cNvCxnSpPr/>
            <p:nvPr/>
          </p:nvCxnSpPr>
          <p:spPr>
            <a:xfrm flipV="1">
              <a:off x="10576560" y="4782312"/>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94" name="TextBox 193"/>
            <p:cNvSpPr txBox="1"/>
            <p:nvPr/>
          </p:nvSpPr>
          <p:spPr>
            <a:xfrm>
              <a:off x="10576560" y="4782312"/>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95" name="TextBox 194"/>
            <p:cNvSpPr txBox="1"/>
            <p:nvPr/>
          </p:nvSpPr>
          <p:spPr>
            <a:xfrm>
              <a:off x="10759440" y="4974336"/>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grpSp>
      <p:sp>
        <p:nvSpPr>
          <p:cNvPr id="196" name="TextBox 195"/>
          <p:cNvSpPr txBox="1"/>
          <p:nvPr/>
        </p:nvSpPr>
        <p:spPr>
          <a:xfrm>
            <a:off x="11463528" y="4160520"/>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2=2; 13=13 → 3, c1; 19=19 → 9, c1; 7+1=8; 3=3</a:t>
            </a:r>
          </a:p>
          <a:p>
            <a:pPr>
              <a:lnSpc>
                <a:spcPts val="1836"/>
              </a:lnSpc>
              <a:spcBef>
                <a:spcPts val="0"/>
              </a:spcBef>
              <a:spcAft>
                <a:spcPts val="0"/>
              </a:spcAft>
              <a:defRPr sz="1700" b="0">
                <a:solidFill>
                  <a:srgbClr val="182B3A"/>
                </a:solidFill>
                <a:latin typeface="Arial"/>
              </a:defRPr>
            </a:pPr>
            <a:r>
              <a:t>Answer: 38932</a:t>
            </a:r>
          </a:p>
        </p:txBody>
      </p:sp>
      <p:sp>
        <p:nvSpPr>
          <p:cNvPr id="197" name="Rectangle 196"/>
          <p:cNvSpPr/>
          <p:nvPr/>
        </p:nvSpPr>
        <p:spPr>
          <a:xfrm>
            <a:off x="9625584" y="5724144"/>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8" name="TextBox 197"/>
          <p:cNvSpPr txBox="1"/>
          <p:nvPr/>
        </p:nvSpPr>
        <p:spPr>
          <a:xfrm>
            <a:off x="9717024" y="5779007"/>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638 × 59</a:t>
            </a:r>
          </a:p>
        </p:txBody>
      </p:sp>
      <p:grpSp>
        <p:nvGrpSpPr>
          <p:cNvPr id="199" name="Student lattice with deliberate error"/>
          <p:cNvGrpSpPr/>
          <p:nvPr/>
        </p:nvGrpSpPr>
        <p:grpSpPr>
          <a:xfrm>
            <a:off x="9790176" y="6135624"/>
            <a:ext cx="1426464" cy="1042416"/>
            <a:chOff x="9790176" y="6135624"/>
            <a:chExt cx="1426464" cy="1042416"/>
          </a:xfrm>
        </p:grpSpPr>
        <p:sp>
          <p:nvSpPr>
            <p:cNvPr id="200" name="TextBox 199"/>
            <p:cNvSpPr txBox="1"/>
            <p:nvPr/>
          </p:nvSpPr>
          <p:spPr>
            <a:xfrm>
              <a:off x="9790176"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201" name="TextBox 200"/>
            <p:cNvSpPr txBox="1"/>
            <p:nvPr/>
          </p:nvSpPr>
          <p:spPr>
            <a:xfrm>
              <a:off x="10183368"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3</a:t>
              </a:r>
            </a:p>
          </p:txBody>
        </p:sp>
        <p:sp>
          <p:nvSpPr>
            <p:cNvPr id="202" name="TextBox 201"/>
            <p:cNvSpPr txBox="1"/>
            <p:nvPr/>
          </p:nvSpPr>
          <p:spPr>
            <a:xfrm>
              <a:off x="10576560"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8</a:t>
              </a:r>
            </a:p>
          </p:txBody>
        </p:sp>
        <p:sp>
          <p:nvSpPr>
            <p:cNvPr id="203" name="TextBox 202"/>
            <p:cNvSpPr txBox="1"/>
            <p:nvPr/>
          </p:nvSpPr>
          <p:spPr>
            <a:xfrm>
              <a:off x="10988040" y="6391656"/>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5</a:t>
              </a:r>
            </a:p>
          </p:txBody>
        </p:sp>
        <p:sp>
          <p:nvSpPr>
            <p:cNvPr id="204" name="TextBox 203"/>
            <p:cNvSpPr txBox="1"/>
            <p:nvPr/>
          </p:nvSpPr>
          <p:spPr>
            <a:xfrm>
              <a:off x="10988040" y="6784848"/>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9</a:t>
              </a:r>
            </a:p>
          </p:txBody>
        </p:sp>
        <p:sp>
          <p:nvSpPr>
            <p:cNvPr id="205" name="Rectangle 204"/>
            <p:cNvSpPr/>
            <p:nvPr/>
          </p:nvSpPr>
          <p:spPr>
            <a:xfrm>
              <a:off x="9790176"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06" name="Connector 205"/>
            <p:cNvCxnSpPr/>
            <p:nvPr/>
          </p:nvCxnSpPr>
          <p:spPr>
            <a:xfrm flipV="1">
              <a:off x="9790176" y="639165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07" name="TextBox 206"/>
            <p:cNvSpPr txBox="1"/>
            <p:nvPr/>
          </p:nvSpPr>
          <p:spPr>
            <a:xfrm>
              <a:off x="9790176"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208" name="TextBox 207"/>
            <p:cNvSpPr txBox="1"/>
            <p:nvPr/>
          </p:nvSpPr>
          <p:spPr>
            <a:xfrm>
              <a:off x="9973056"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209" name="Rectangle 208"/>
            <p:cNvSpPr/>
            <p:nvPr/>
          </p:nvSpPr>
          <p:spPr>
            <a:xfrm>
              <a:off x="10183368"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0" name="Connector 209"/>
            <p:cNvCxnSpPr/>
            <p:nvPr/>
          </p:nvCxnSpPr>
          <p:spPr>
            <a:xfrm flipV="1">
              <a:off x="10183368" y="639165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1" name="TextBox 210"/>
            <p:cNvSpPr txBox="1"/>
            <p:nvPr/>
          </p:nvSpPr>
          <p:spPr>
            <a:xfrm>
              <a:off x="10183368"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212" name="TextBox 211"/>
            <p:cNvSpPr txBox="1"/>
            <p:nvPr/>
          </p:nvSpPr>
          <p:spPr>
            <a:xfrm>
              <a:off x="10366248"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5</a:t>
              </a:r>
            </a:p>
          </p:txBody>
        </p:sp>
        <p:sp>
          <p:nvSpPr>
            <p:cNvPr id="213" name="Rectangle 212"/>
            <p:cNvSpPr/>
            <p:nvPr/>
          </p:nvSpPr>
          <p:spPr>
            <a:xfrm>
              <a:off x="10576560"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4" name="Connector 213"/>
            <p:cNvCxnSpPr/>
            <p:nvPr/>
          </p:nvCxnSpPr>
          <p:spPr>
            <a:xfrm flipV="1">
              <a:off x="10576560" y="639165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5" name="TextBox 214"/>
            <p:cNvSpPr txBox="1"/>
            <p:nvPr/>
          </p:nvSpPr>
          <p:spPr>
            <a:xfrm>
              <a:off x="10576560"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216" name="TextBox 215"/>
            <p:cNvSpPr txBox="1"/>
            <p:nvPr/>
          </p:nvSpPr>
          <p:spPr>
            <a:xfrm>
              <a:off x="10759440"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217" name="Rectangle 216"/>
            <p:cNvSpPr/>
            <p:nvPr/>
          </p:nvSpPr>
          <p:spPr>
            <a:xfrm>
              <a:off x="9790176" y="6784848"/>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8" name="Connector 217"/>
            <p:cNvCxnSpPr/>
            <p:nvPr/>
          </p:nvCxnSpPr>
          <p:spPr>
            <a:xfrm flipV="1">
              <a:off x="9790176" y="6784848"/>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9" name="TextBox 218"/>
            <p:cNvSpPr txBox="1"/>
            <p:nvPr/>
          </p:nvSpPr>
          <p:spPr>
            <a:xfrm>
              <a:off x="9790176" y="6784848"/>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5</a:t>
              </a:r>
            </a:p>
          </p:txBody>
        </p:sp>
        <p:sp>
          <p:nvSpPr>
            <p:cNvPr id="220" name="TextBox 219"/>
            <p:cNvSpPr txBox="1"/>
            <p:nvPr/>
          </p:nvSpPr>
          <p:spPr>
            <a:xfrm>
              <a:off x="9973056" y="6976872"/>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221" name="Rectangle 220"/>
            <p:cNvSpPr/>
            <p:nvPr/>
          </p:nvSpPr>
          <p:spPr>
            <a:xfrm>
              <a:off x="10183368" y="6784848"/>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2" name="Connector 221"/>
            <p:cNvCxnSpPr/>
            <p:nvPr/>
          </p:nvCxnSpPr>
          <p:spPr>
            <a:xfrm flipV="1">
              <a:off x="10183368" y="6784848"/>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3" name="TextBox 222"/>
            <p:cNvSpPr txBox="1"/>
            <p:nvPr/>
          </p:nvSpPr>
          <p:spPr>
            <a:xfrm>
              <a:off x="10183368" y="6784848"/>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224" name="TextBox 223"/>
            <p:cNvSpPr txBox="1"/>
            <p:nvPr/>
          </p:nvSpPr>
          <p:spPr>
            <a:xfrm>
              <a:off x="10366248" y="6976872"/>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7</a:t>
              </a:r>
            </a:p>
          </p:txBody>
        </p:sp>
        <p:sp>
          <p:nvSpPr>
            <p:cNvPr id="225" name="Rectangle 224"/>
            <p:cNvSpPr/>
            <p:nvPr/>
          </p:nvSpPr>
          <p:spPr>
            <a:xfrm>
              <a:off x="10576560" y="6784848"/>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6" name="Connector 225"/>
            <p:cNvCxnSpPr/>
            <p:nvPr/>
          </p:nvCxnSpPr>
          <p:spPr>
            <a:xfrm flipV="1">
              <a:off x="10576560" y="6784848"/>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7" name="TextBox 226"/>
            <p:cNvSpPr txBox="1"/>
            <p:nvPr/>
          </p:nvSpPr>
          <p:spPr>
            <a:xfrm>
              <a:off x="10576560" y="6784848"/>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7</a:t>
              </a:r>
            </a:p>
          </p:txBody>
        </p:sp>
        <p:sp>
          <p:nvSpPr>
            <p:cNvPr id="228" name="TextBox 227"/>
            <p:cNvSpPr txBox="1"/>
            <p:nvPr/>
          </p:nvSpPr>
          <p:spPr>
            <a:xfrm>
              <a:off x="10759440" y="6976872"/>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grpSp>
      <p:sp>
        <p:nvSpPr>
          <p:cNvPr id="229" name="TextBox 228"/>
          <p:cNvSpPr txBox="1"/>
          <p:nvPr/>
        </p:nvSpPr>
        <p:spPr>
          <a:xfrm>
            <a:off x="11463528" y="6163056"/>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2=2; 14=14 → 4, c1; 15+1=16 → 6, c1; 6+1=7; 2=2</a:t>
            </a:r>
          </a:p>
          <a:p>
            <a:pPr>
              <a:lnSpc>
                <a:spcPts val="1836"/>
              </a:lnSpc>
              <a:spcBef>
                <a:spcPts val="0"/>
              </a:spcBef>
              <a:spcAft>
                <a:spcPts val="0"/>
              </a:spcAft>
              <a:defRPr sz="1700" b="0">
                <a:solidFill>
                  <a:srgbClr val="182B3A"/>
                </a:solidFill>
                <a:latin typeface="Arial"/>
              </a:defRPr>
            </a:pPr>
            <a:r>
              <a:t>Answer: 27642</a:t>
            </a:r>
          </a:p>
        </p:txBody>
      </p:sp>
    </p:spTree>
  </p:cSld>
  <p:clrMapOvr>
    <a:masterClrMapping/>
  </p:clrMapOvr>
</p:sld>
</file>

<file path=ppt/slides/slide100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43 × 6</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68 × 4</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476 × 82</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6,038 × 591</a:t>
            </a:r>
          </a:p>
        </p:txBody>
      </p:sp>
    </p:spTree>
  </p:cSld>
  <p:clrMapOvr>
    <a:masterClrMapping/>
  </p:clrMapOvr>
</p:sld>
</file>

<file path=ppt/slides/slide100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Follow each step down your column. Small orange numbers show carries.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 × 6</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34 × 12</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4,312 × 156</a:t>
            </a:r>
          </a:p>
        </p:txBody>
      </p:sp>
      <p:sp>
        <p:nvSpPr>
          <p:cNvPr id="21" name="Rectangle 20"/>
          <p:cNvSpPr/>
          <p:nvPr/>
        </p:nvSpPr>
        <p:spPr>
          <a:xfrm>
            <a:off x="384048" y="217627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1 row.</a:t>
            </a:r>
          </a:p>
          <a:p>
            <a:pPr>
              <a:lnSpc>
                <a:spcPts val="1836"/>
              </a:lnSpc>
              <a:spcBef>
                <a:spcPts val="0"/>
              </a:spcBef>
              <a:spcAft>
                <a:spcPts val="0"/>
              </a:spcAft>
              <a:defRPr sz="1700" b="0">
                <a:solidFill>
                  <a:srgbClr val="182B3A"/>
                </a:solidFill>
                <a:latin typeface="Arial"/>
              </a:defRPr>
            </a:pPr>
            <a:r>
              <a:t>Top: 4, 3. Right: 6.</a:t>
            </a:r>
          </a:p>
        </p:txBody>
      </p:sp>
      <p:sp>
        <p:nvSpPr>
          <p:cNvPr id="25" name="Rectangle 24"/>
          <p:cNvSpPr/>
          <p:nvPr/>
        </p:nvSpPr>
        <p:spPr>
          <a:xfrm>
            <a:off x="6406895"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2 rows.</a:t>
            </a:r>
          </a:p>
          <a:p>
            <a:pPr>
              <a:lnSpc>
                <a:spcPts val="1836"/>
              </a:lnSpc>
              <a:spcBef>
                <a:spcPts val="0"/>
              </a:spcBef>
              <a:spcAft>
                <a:spcPts val="0"/>
              </a:spcAft>
              <a:defRPr sz="1700" b="0">
                <a:solidFill>
                  <a:srgbClr val="182B3A"/>
                </a:solidFill>
                <a:latin typeface="Arial"/>
              </a:defRPr>
            </a:pPr>
            <a:r>
              <a:t>Top: 3, 4. Right: 1, 2.</a:t>
            </a:r>
          </a:p>
        </p:txBody>
      </p:sp>
      <p:sp>
        <p:nvSpPr>
          <p:cNvPr id="27" name="Rectangle 26"/>
          <p:cNvSpPr/>
          <p:nvPr/>
        </p:nvSpPr>
        <p:spPr>
          <a:xfrm>
            <a:off x="10326624"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4 columns × 3 rows.</a:t>
            </a:r>
          </a:p>
          <a:p>
            <a:pPr>
              <a:lnSpc>
                <a:spcPts val="1836"/>
              </a:lnSpc>
              <a:spcBef>
                <a:spcPts val="0"/>
              </a:spcBef>
              <a:spcAft>
                <a:spcPts val="0"/>
              </a:spcAft>
              <a:defRPr sz="1700" b="0">
                <a:solidFill>
                  <a:srgbClr val="182B3A"/>
                </a:solidFill>
                <a:latin typeface="Arial"/>
              </a:defRPr>
            </a:pPr>
            <a:r>
              <a:t>Top: 4, 3, 1, 2. Right: 1, 5, 6.</a:t>
            </a:r>
          </a:p>
        </p:txBody>
      </p:sp>
      <p:sp>
        <p:nvSpPr>
          <p:cNvPr id="29" name="Rectangle 28"/>
          <p:cNvSpPr/>
          <p:nvPr/>
        </p:nvSpPr>
        <p:spPr>
          <a:xfrm>
            <a:off x="384048" y="2907791"/>
            <a:ext cx="2103120" cy="2423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2999232"/>
            <a:ext cx="1975103" cy="224027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Cells: 24, 18.</a:t>
            </a:r>
          </a:p>
          <a:p>
            <a:pPr>
              <a:lnSpc>
                <a:spcPts val="1836"/>
              </a:lnSpc>
              <a:spcBef>
                <a:spcPts val="0"/>
              </a:spcBef>
              <a:spcAft>
                <a:spcPts val="0"/>
              </a:spcAft>
              <a:defRPr sz="1700" b="0">
                <a:solidFill>
                  <a:srgbClr val="182B3A"/>
                </a:solidFill>
                <a:latin typeface="Arial"/>
              </a:defRPr>
            </a:pPr>
            <a:r>
              <a:t>Tens above; units below.</a:t>
            </a:r>
          </a:p>
        </p:txBody>
      </p:sp>
      <p:grpSp>
        <p:nvGrpSpPr>
          <p:cNvPr id="33" name="Editable lattice 43 × 6"/>
          <p:cNvGrpSpPr/>
          <p:nvPr/>
        </p:nvGrpSpPr>
        <p:grpSpPr>
          <a:xfrm>
            <a:off x="3496055" y="3803903"/>
            <a:ext cx="1737360" cy="1143000"/>
            <a:chOff x="3496055" y="3803903"/>
            <a:chExt cx="1737360" cy="1143000"/>
          </a:xfrm>
        </p:grpSpPr>
        <p:sp>
          <p:nvSpPr>
            <p:cNvPr id="34" name="TextBox 33"/>
            <p:cNvSpPr txBox="1"/>
            <p:nvPr/>
          </p:nvSpPr>
          <p:spPr>
            <a:xfrm>
              <a:off x="3806951"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4</a:t>
              </a:r>
            </a:p>
          </p:txBody>
        </p:sp>
        <p:sp>
          <p:nvSpPr>
            <p:cNvPr id="35" name="TextBox 34"/>
            <p:cNvSpPr txBox="1"/>
            <p:nvPr/>
          </p:nvSpPr>
          <p:spPr>
            <a:xfrm>
              <a:off x="4373879"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3</a:t>
              </a:r>
            </a:p>
          </p:txBody>
        </p:sp>
        <p:sp>
          <p:nvSpPr>
            <p:cNvPr id="36" name="TextBox 35"/>
            <p:cNvSpPr txBox="1"/>
            <p:nvPr/>
          </p:nvSpPr>
          <p:spPr>
            <a:xfrm>
              <a:off x="4968239" y="4059935"/>
              <a:ext cx="265176" cy="566928"/>
            </a:xfrm>
            <a:prstGeom prst="rect">
              <a:avLst/>
            </a:prstGeom>
            <a:noFill/>
          </p:spPr>
          <p:txBody>
            <a:bodyPr wrap="none" lIns="0" tIns="0" rIns="0" bIns="0" anchor="ctr">
              <a:spAutoFit/>
            </a:bodyPr>
            <a:lstStyle/>
            <a:p>
              <a:pPr algn="ctr">
                <a:defRPr sz="1800" b="1">
                  <a:solidFill>
                    <a:srgbClr val="176B73"/>
                  </a:solidFill>
                  <a:latin typeface="Arial"/>
                </a:defRPr>
              </a:pPr>
              <a:r>
                <a:t>6</a:t>
              </a:r>
            </a:p>
          </p:txBody>
        </p:sp>
        <p:sp>
          <p:nvSpPr>
            <p:cNvPr id="37" name="Rectangle 36"/>
            <p:cNvSpPr/>
            <p:nvPr/>
          </p:nvSpPr>
          <p:spPr>
            <a:xfrm>
              <a:off x="3806951"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38" name="Connector 37"/>
            <p:cNvCxnSpPr/>
            <p:nvPr/>
          </p:nvCxnSpPr>
          <p:spPr>
            <a:xfrm flipV="1">
              <a:off x="3806951"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829629"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40" name="TextBox 39"/>
            <p:cNvSpPr txBox="1"/>
            <p:nvPr/>
          </p:nvSpPr>
          <p:spPr>
            <a:xfrm>
              <a:off x="4079077"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41" name="Rectangle 40"/>
            <p:cNvSpPr/>
            <p:nvPr/>
          </p:nvSpPr>
          <p:spPr>
            <a:xfrm>
              <a:off x="4373879"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42" name="Connector 41"/>
            <p:cNvCxnSpPr/>
            <p:nvPr/>
          </p:nvCxnSpPr>
          <p:spPr>
            <a:xfrm flipV="1">
              <a:off x="4373879"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396557"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44" name="TextBox 43"/>
            <p:cNvSpPr txBox="1"/>
            <p:nvPr/>
          </p:nvSpPr>
          <p:spPr>
            <a:xfrm>
              <a:off x="4646005"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45" name="Connector 44"/>
            <p:cNvCxnSpPr/>
            <p:nvPr/>
          </p:nvCxnSpPr>
          <p:spPr>
            <a:xfrm>
              <a:off x="3806951"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373879"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940807"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806951" y="4059935"/>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806951" y="4626864"/>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373879"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8</a:t>
              </a:r>
            </a:p>
          </p:txBody>
        </p:sp>
        <p:sp>
          <p:nvSpPr>
            <p:cNvPr id="51" name="TextBox 50"/>
            <p:cNvSpPr txBox="1"/>
            <p:nvPr/>
          </p:nvSpPr>
          <p:spPr>
            <a:xfrm>
              <a:off x="3806951"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5</a:t>
              </a:r>
            </a:p>
          </p:txBody>
        </p:sp>
        <p:sp>
          <p:nvSpPr>
            <p:cNvPr id="52" name="TextBox 51"/>
            <p:cNvSpPr txBox="1"/>
            <p:nvPr/>
          </p:nvSpPr>
          <p:spPr>
            <a:xfrm>
              <a:off x="3496055" y="4059935"/>
              <a:ext cx="265176" cy="566928"/>
            </a:xfrm>
            <a:prstGeom prst="rect">
              <a:avLst/>
            </a:prstGeom>
            <a:noFill/>
          </p:spPr>
          <p:txBody>
            <a:bodyPr wrap="none" lIns="0" tIns="0" rIns="0" bIns="0" anchor="ctr">
              <a:spAutoFit/>
            </a:bodyPr>
            <a:lstStyle/>
            <a:p>
              <a:pPr algn="ctr">
                <a:defRPr sz="1900" b="1">
                  <a:solidFill>
                    <a:srgbClr val="176B73"/>
                  </a:solidFill>
                  <a:latin typeface="Arial"/>
                </a:defRPr>
              </a:pPr>
              <a:r>
                <a:t>2</a:t>
              </a:r>
            </a:p>
          </p:txBody>
        </p:sp>
      </p:grpSp>
      <p:sp>
        <p:nvSpPr>
          <p:cNvPr id="53" name="Rectangle 52"/>
          <p:cNvSpPr/>
          <p:nvPr/>
        </p:nvSpPr>
        <p:spPr>
          <a:xfrm>
            <a:off x="6406895"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TextBox 53"/>
          <p:cNvSpPr txBox="1"/>
          <p:nvPr/>
        </p:nvSpPr>
        <p:spPr>
          <a:xfrm>
            <a:off x="6470904"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Top: 03, 04. Bottom: 06, 08.</a:t>
            </a:r>
          </a:p>
          <a:p>
            <a:pPr>
              <a:lnSpc>
                <a:spcPts val="1836"/>
              </a:lnSpc>
              <a:spcBef>
                <a:spcPts val="0"/>
              </a:spcBef>
              <a:spcAft>
                <a:spcPts val="0"/>
              </a:spcAft>
              <a:defRPr sz="1700" b="0">
                <a:solidFill>
                  <a:srgbClr val="182B3A"/>
                </a:solidFill>
                <a:latin typeface="Arial"/>
              </a:defRPr>
            </a:pPr>
            <a:r>
              <a:t>Keep the tens zeros.</a:t>
            </a:r>
          </a:p>
        </p:txBody>
      </p:sp>
      <p:grpSp>
        <p:nvGrpSpPr>
          <p:cNvPr id="55" name="Editable lattice 34 × 12"/>
          <p:cNvGrpSpPr/>
          <p:nvPr/>
        </p:nvGrpSpPr>
        <p:grpSpPr>
          <a:xfrm>
            <a:off x="7493508" y="3803903"/>
            <a:ext cx="1563623" cy="1517904"/>
            <a:chOff x="7493508" y="3803903"/>
            <a:chExt cx="1563623" cy="1517904"/>
          </a:xfrm>
        </p:grpSpPr>
        <p:sp>
          <p:nvSpPr>
            <p:cNvPr id="56" name="TextBox 55"/>
            <p:cNvSpPr txBox="1"/>
            <p:nvPr/>
          </p:nvSpPr>
          <p:spPr>
            <a:xfrm>
              <a:off x="7822692"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3</a:t>
              </a:r>
            </a:p>
          </p:txBody>
        </p:sp>
        <p:sp>
          <p:nvSpPr>
            <p:cNvPr id="57" name="TextBox 56"/>
            <p:cNvSpPr txBox="1"/>
            <p:nvPr/>
          </p:nvSpPr>
          <p:spPr>
            <a:xfrm>
              <a:off x="8293608"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4</a:t>
              </a:r>
            </a:p>
          </p:txBody>
        </p:sp>
        <p:sp>
          <p:nvSpPr>
            <p:cNvPr id="58" name="TextBox 57"/>
            <p:cNvSpPr txBox="1"/>
            <p:nvPr/>
          </p:nvSpPr>
          <p:spPr>
            <a:xfrm>
              <a:off x="8791955" y="4059935"/>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1</a:t>
              </a:r>
            </a:p>
          </p:txBody>
        </p:sp>
        <p:sp>
          <p:nvSpPr>
            <p:cNvPr id="59" name="TextBox 58"/>
            <p:cNvSpPr txBox="1"/>
            <p:nvPr/>
          </p:nvSpPr>
          <p:spPr>
            <a:xfrm>
              <a:off x="8791955" y="4530851"/>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2</a:t>
              </a:r>
            </a:p>
          </p:txBody>
        </p:sp>
        <p:sp>
          <p:nvSpPr>
            <p:cNvPr id="60" name="Rectangle 59"/>
            <p:cNvSpPr/>
            <p:nvPr/>
          </p:nvSpPr>
          <p:spPr>
            <a:xfrm>
              <a:off x="7822692"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1" name="Connector 60"/>
            <p:cNvCxnSpPr/>
            <p:nvPr/>
          </p:nvCxnSpPr>
          <p:spPr>
            <a:xfrm flipV="1">
              <a:off x="7822692"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841528"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3" name="TextBox 62"/>
            <p:cNvSpPr txBox="1"/>
            <p:nvPr/>
          </p:nvSpPr>
          <p:spPr>
            <a:xfrm>
              <a:off x="8048731"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64" name="Rectangle 63"/>
            <p:cNvSpPr/>
            <p:nvPr/>
          </p:nvSpPr>
          <p:spPr>
            <a:xfrm>
              <a:off x="8293608"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5" name="Connector 64"/>
            <p:cNvCxnSpPr/>
            <p:nvPr/>
          </p:nvCxnSpPr>
          <p:spPr>
            <a:xfrm flipV="1">
              <a:off x="8293608"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8312444"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7" name="TextBox 66"/>
            <p:cNvSpPr txBox="1"/>
            <p:nvPr/>
          </p:nvSpPr>
          <p:spPr>
            <a:xfrm>
              <a:off x="8519647"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68" name="Rectangle 67"/>
            <p:cNvSpPr/>
            <p:nvPr/>
          </p:nvSpPr>
          <p:spPr>
            <a:xfrm>
              <a:off x="7822692"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9" name="Connector 68"/>
            <p:cNvCxnSpPr/>
            <p:nvPr/>
          </p:nvCxnSpPr>
          <p:spPr>
            <a:xfrm flipV="1">
              <a:off x="7822692"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841528"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1" name="TextBox 70"/>
            <p:cNvSpPr txBox="1"/>
            <p:nvPr/>
          </p:nvSpPr>
          <p:spPr>
            <a:xfrm>
              <a:off x="8048731"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72" name="Rectangle 71"/>
            <p:cNvSpPr/>
            <p:nvPr/>
          </p:nvSpPr>
          <p:spPr>
            <a:xfrm>
              <a:off x="8293608"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3" name="Connector 72"/>
            <p:cNvCxnSpPr/>
            <p:nvPr/>
          </p:nvCxnSpPr>
          <p:spPr>
            <a:xfrm flipV="1">
              <a:off x="8293608"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8312444"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5" name="TextBox 74"/>
            <p:cNvSpPr txBox="1"/>
            <p:nvPr/>
          </p:nvSpPr>
          <p:spPr>
            <a:xfrm>
              <a:off x="8519647"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76" name="Connector 75"/>
            <p:cNvCxnSpPr/>
            <p:nvPr/>
          </p:nvCxnSpPr>
          <p:spPr>
            <a:xfrm>
              <a:off x="7822692"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293608"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764524"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822692" y="4059935"/>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822692" y="4530851"/>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822692" y="5001767"/>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293608"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8</a:t>
              </a:r>
            </a:p>
          </p:txBody>
        </p:sp>
        <p:sp>
          <p:nvSpPr>
            <p:cNvPr id="83" name="TextBox 82"/>
            <p:cNvSpPr txBox="1"/>
            <p:nvPr/>
          </p:nvSpPr>
          <p:spPr>
            <a:xfrm>
              <a:off x="7822692"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0</a:t>
              </a:r>
            </a:p>
          </p:txBody>
        </p:sp>
        <p:sp>
          <p:nvSpPr>
            <p:cNvPr id="84" name="TextBox 83"/>
            <p:cNvSpPr txBox="1"/>
            <p:nvPr/>
          </p:nvSpPr>
          <p:spPr>
            <a:xfrm>
              <a:off x="7511796" y="4530851"/>
              <a:ext cx="265176" cy="470915"/>
            </a:xfrm>
            <a:prstGeom prst="rect">
              <a:avLst/>
            </a:prstGeom>
            <a:noFill/>
          </p:spPr>
          <p:txBody>
            <a:bodyPr wrap="none" lIns="0" tIns="0" rIns="0" bIns="0" anchor="ctr">
              <a:spAutoFit/>
            </a:bodyPr>
            <a:lstStyle/>
            <a:p>
              <a:pPr algn="ctr">
                <a:defRPr sz="1900" b="1">
                  <a:solidFill>
                    <a:srgbClr val="3559A2"/>
                  </a:solidFill>
                  <a:latin typeface="Arial"/>
                </a:defRPr>
              </a:pPr>
              <a:r>
                <a:t>4</a:t>
              </a:r>
            </a:p>
          </p:txBody>
        </p:sp>
        <p:sp>
          <p:nvSpPr>
            <p:cNvPr id="85" name="TextBox 84"/>
            <p:cNvSpPr txBox="1"/>
            <p:nvPr/>
          </p:nvSpPr>
          <p:spPr>
            <a:xfrm>
              <a:off x="7493508" y="4539995"/>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86" name="TextBox 85"/>
            <p:cNvSpPr txBox="1"/>
            <p:nvPr/>
          </p:nvSpPr>
          <p:spPr>
            <a:xfrm>
              <a:off x="7511796" y="4059935"/>
              <a:ext cx="265176" cy="470915"/>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87" name="Rectangle 86"/>
          <p:cNvSpPr/>
          <p:nvPr/>
        </p:nvSpPr>
        <p:spPr>
          <a:xfrm>
            <a:off x="10326624"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10390632" y="2971799"/>
            <a:ext cx="3791712" cy="2926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Tens above; units below.</a:t>
            </a:r>
          </a:p>
        </p:txBody>
      </p:sp>
      <p:grpSp>
        <p:nvGrpSpPr>
          <p:cNvPr id="89" name="Editable lattice 4312 × 156"/>
          <p:cNvGrpSpPr/>
          <p:nvPr/>
        </p:nvGrpSpPr>
        <p:grpSpPr>
          <a:xfrm>
            <a:off x="10951464" y="3346704"/>
            <a:ext cx="2487167" cy="1975104"/>
            <a:chOff x="10951464" y="3346704"/>
            <a:chExt cx="2487167" cy="1975104"/>
          </a:xfrm>
        </p:grpSpPr>
        <p:sp>
          <p:nvSpPr>
            <p:cNvPr id="90" name="TextBox 89"/>
            <p:cNvSpPr txBox="1"/>
            <p:nvPr/>
          </p:nvSpPr>
          <p:spPr>
            <a:xfrm>
              <a:off x="11280648"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4</a:t>
              </a:r>
            </a:p>
          </p:txBody>
        </p:sp>
        <p:sp>
          <p:nvSpPr>
            <p:cNvPr id="91" name="TextBox 90"/>
            <p:cNvSpPr txBox="1"/>
            <p:nvPr/>
          </p:nvSpPr>
          <p:spPr>
            <a:xfrm>
              <a:off x="11746992"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3</a:t>
              </a:r>
            </a:p>
          </p:txBody>
        </p:sp>
        <p:sp>
          <p:nvSpPr>
            <p:cNvPr id="92" name="TextBox 91"/>
            <p:cNvSpPr txBox="1"/>
            <p:nvPr/>
          </p:nvSpPr>
          <p:spPr>
            <a:xfrm>
              <a:off x="12213335"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3" name="TextBox 92"/>
            <p:cNvSpPr txBox="1"/>
            <p:nvPr/>
          </p:nvSpPr>
          <p:spPr>
            <a:xfrm>
              <a:off x="12679679"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2</a:t>
              </a:r>
            </a:p>
          </p:txBody>
        </p:sp>
        <p:sp>
          <p:nvSpPr>
            <p:cNvPr id="94" name="TextBox 93"/>
            <p:cNvSpPr txBox="1"/>
            <p:nvPr/>
          </p:nvSpPr>
          <p:spPr>
            <a:xfrm>
              <a:off x="13173455" y="3602736"/>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5" name="TextBox 94"/>
            <p:cNvSpPr txBox="1"/>
            <p:nvPr/>
          </p:nvSpPr>
          <p:spPr>
            <a:xfrm>
              <a:off x="13173455" y="4069080"/>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5</a:t>
              </a:r>
            </a:p>
          </p:txBody>
        </p:sp>
        <p:sp>
          <p:nvSpPr>
            <p:cNvPr id="96" name="TextBox 95"/>
            <p:cNvSpPr txBox="1"/>
            <p:nvPr/>
          </p:nvSpPr>
          <p:spPr>
            <a:xfrm>
              <a:off x="13173455" y="4535424"/>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6</a:t>
              </a:r>
            </a:p>
          </p:txBody>
        </p:sp>
        <p:sp>
          <p:nvSpPr>
            <p:cNvPr id="97" name="Rectangle 96"/>
            <p:cNvSpPr/>
            <p:nvPr/>
          </p:nvSpPr>
          <p:spPr>
            <a:xfrm>
              <a:off x="11280648"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98" name="Connector 97"/>
            <p:cNvCxnSpPr/>
            <p:nvPr/>
          </p:nvCxnSpPr>
          <p:spPr>
            <a:xfrm flipV="1">
              <a:off x="11280648"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11299301"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0" name="TextBox 99"/>
            <p:cNvSpPr txBox="1"/>
            <p:nvPr/>
          </p:nvSpPr>
          <p:spPr>
            <a:xfrm>
              <a:off x="11504493"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01" name="Rectangle 100"/>
            <p:cNvSpPr/>
            <p:nvPr/>
          </p:nvSpPr>
          <p:spPr>
            <a:xfrm>
              <a:off x="11746992"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2" name="Connector 101"/>
            <p:cNvCxnSpPr/>
            <p:nvPr/>
          </p:nvCxnSpPr>
          <p:spPr>
            <a:xfrm flipV="1">
              <a:off x="11746992" y="3602736"/>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765645"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4" name="TextBox 103"/>
            <p:cNvSpPr txBox="1"/>
            <p:nvPr/>
          </p:nvSpPr>
          <p:spPr>
            <a:xfrm>
              <a:off x="11970837"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105" name="Rectangle 104"/>
            <p:cNvSpPr/>
            <p:nvPr/>
          </p:nvSpPr>
          <p:spPr>
            <a:xfrm>
              <a:off x="12213335"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6" name="Connector 105"/>
            <p:cNvCxnSpPr/>
            <p:nvPr/>
          </p:nvCxnSpPr>
          <p:spPr>
            <a:xfrm flipV="1">
              <a:off x="12213335"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12231989"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8" name="TextBox 107"/>
            <p:cNvSpPr txBox="1"/>
            <p:nvPr/>
          </p:nvSpPr>
          <p:spPr>
            <a:xfrm>
              <a:off x="12437181"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09" name="Rectangle 108"/>
            <p:cNvSpPr/>
            <p:nvPr/>
          </p:nvSpPr>
          <p:spPr>
            <a:xfrm>
              <a:off x="12679679"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0" name="Connector 109"/>
            <p:cNvCxnSpPr/>
            <p:nvPr/>
          </p:nvCxnSpPr>
          <p:spPr>
            <a:xfrm flipV="1">
              <a:off x="12679679"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12698333"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2" name="TextBox 111"/>
            <p:cNvSpPr txBox="1"/>
            <p:nvPr/>
          </p:nvSpPr>
          <p:spPr>
            <a:xfrm>
              <a:off x="12903525"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3" name="Rectangle 112"/>
            <p:cNvSpPr/>
            <p:nvPr/>
          </p:nvSpPr>
          <p:spPr>
            <a:xfrm>
              <a:off x="11280648"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4" name="Connector 113"/>
            <p:cNvCxnSpPr/>
            <p:nvPr/>
          </p:nvCxnSpPr>
          <p:spPr>
            <a:xfrm flipV="1">
              <a:off x="11280648"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11299301"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6" name="TextBox 115"/>
            <p:cNvSpPr txBox="1"/>
            <p:nvPr/>
          </p:nvSpPr>
          <p:spPr>
            <a:xfrm>
              <a:off x="11504493"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7" name="Rectangle 116"/>
            <p:cNvSpPr/>
            <p:nvPr/>
          </p:nvSpPr>
          <p:spPr>
            <a:xfrm>
              <a:off x="11746992"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8" name="Connector 117"/>
            <p:cNvCxnSpPr/>
            <p:nvPr/>
          </p:nvCxnSpPr>
          <p:spPr>
            <a:xfrm flipV="1">
              <a:off x="11746992" y="4069080"/>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11765645"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0" name="TextBox 119"/>
            <p:cNvSpPr txBox="1"/>
            <p:nvPr/>
          </p:nvSpPr>
          <p:spPr>
            <a:xfrm>
              <a:off x="11970837"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1" name="Rectangle 120"/>
            <p:cNvSpPr/>
            <p:nvPr/>
          </p:nvSpPr>
          <p:spPr>
            <a:xfrm>
              <a:off x="12213335"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2" name="Connector 121"/>
            <p:cNvCxnSpPr/>
            <p:nvPr/>
          </p:nvCxnSpPr>
          <p:spPr>
            <a:xfrm flipV="1">
              <a:off x="12213335"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12231989"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4" name="TextBox 123"/>
            <p:cNvSpPr txBox="1"/>
            <p:nvPr/>
          </p:nvSpPr>
          <p:spPr>
            <a:xfrm>
              <a:off x="12437181"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5" name="Rectangle 124"/>
            <p:cNvSpPr/>
            <p:nvPr/>
          </p:nvSpPr>
          <p:spPr>
            <a:xfrm>
              <a:off x="12679679"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6" name="Connector 125"/>
            <p:cNvCxnSpPr/>
            <p:nvPr/>
          </p:nvCxnSpPr>
          <p:spPr>
            <a:xfrm flipV="1">
              <a:off x="12679679"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2698333"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8" name="TextBox 127"/>
            <p:cNvSpPr txBox="1"/>
            <p:nvPr/>
          </p:nvSpPr>
          <p:spPr>
            <a:xfrm>
              <a:off x="12903525"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9" name="Rectangle 128"/>
            <p:cNvSpPr/>
            <p:nvPr/>
          </p:nvSpPr>
          <p:spPr>
            <a:xfrm>
              <a:off x="11280648"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0" name="Connector 129"/>
            <p:cNvCxnSpPr/>
            <p:nvPr/>
          </p:nvCxnSpPr>
          <p:spPr>
            <a:xfrm flipV="1">
              <a:off x="11280648"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11299301"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32" name="TextBox 131"/>
            <p:cNvSpPr txBox="1"/>
            <p:nvPr/>
          </p:nvSpPr>
          <p:spPr>
            <a:xfrm>
              <a:off x="11504493"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33" name="Rectangle 132"/>
            <p:cNvSpPr/>
            <p:nvPr/>
          </p:nvSpPr>
          <p:spPr>
            <a:xfrm>
              <a:off x="11746992"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4" name="Connector 133"/>
            <p:cNvCxnSpPr/>
            <p:nvPr/>
          </p:nvCxnSpPr>
          <p:spPr>
            <a:xfrm flipV="1">
              <a:off x="11746992" y="4535424"/>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1765645"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36" name="TextBox 135"/>
            <p:cNvSpPr txBox="1"/>
            <p:nvPr/>
          </p:nvSpPr>
          <p:spPr>
            <a:xfrm>
              <a:off x="11970837"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sp>
          <p:nvSpPr>
            <p:cNvPr id="137" name="Rectangle 136"/>
            <p:cNvSpPr/>
            <p:nvPr/>
          </p:nvSpPr>
          <p:spPr>
            <a:xfrm>
              <a:off x="12213335"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8" name="Connector 137"/>
            <p:cNvCxnSpPr/>
            <p:nvPr/>
          </p:nvCxnSpPr>
          <p:spPr>
            <a:xfrm flipV="1">
              <a:off x="12213335"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12231989"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40" name="TextBox 139"/>
            <p:cNvSpPr txBox="1"/>
            <p:nvPr/>
          </p:nvSpPr>
          <p:spPr>
            <a:xfrm>
              <a:off x="12437181"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141" name="Rectangle 140"/>
            <p:cNvSpPr/>
            <p:nvPr/>
          </p:nvSpPr>
          <p:spPr>
            <a:xfrm>
              <a:off x="12679679"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42" name="Connector 141"/>
            <p:cNvCxnSpPr/>
            <p:nvPr/>
          </p:nvCxnSpPr>
          <p:spPr>
            <a:xfrm flipV="1">
              <a:off x="12679679"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12698333"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44" name="TextBox 143"/>
            <p:cNvSpPr txBox="1"/>
            <p:nvPr/>
          </p:nvSpPr>
          <p:spPr>
            <a:xfrm>
              <a:off x="12903525"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cxnSp>
          <p:nvCxnSpPr>
            <p:cNvPr id="145" name="Connector 144"/>
            <p:cNvCxnSpPr/>
            <p:nvPr/>
          </p:nvCxnSpPr>
          <p:spPr>
            <a:xfrm>
              <a:off x="11280648"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1746992"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12213335"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12679679"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13146023"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11280648" y="3602736"/>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1280648" y="4069080"/>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11280648" y="4535424"/>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1280648" y="5001768"/>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154" name="TextBox 153"/>
            <p:cNvSpPr txBox="1"/>
            <p:nvPr/>
          </p:nvSpPr>
          <p:spPr>
            <a:xfrm>
              <a:off x="12679679"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5" name="TextBox 154"/>
            <p:cNvSpPr txBox="1"/>
            <p:nvPr/>
          </p:nvSpPr>
          <p:spPr>
            <a:xfrm>
              <a:off x="12213335"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56" name="TextBox 155"/>
            <p:cNvSpPr txBox="1"/>
            <p:nvPr/>
          </p:nvSpPr>
          <p:spPr>
            <a:xfrm>
              <a:off x="11746992"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57" name="TextBox 156"/>
            <p:cNvSpPr txBox="1"/>
            <p:nvPr/>
          </p:nvSpPr>
          <p:spPr>
            <a:xfrm>
              <a:off x="11280648"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8" name="TextBox 157"/>
            <p:cNvSpPr txBox="1"/>
            <p:nvPr/>
          </p:nvSpPr>
          <p:spPr>
            <a:xfrm>
              <a:off x="11298935" y="4956048"/>
              <a:ext cx="233171"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59" name="TextBox 158"/>
            <p:cNvSpPr txBox="1"/>
            <p:nvPr/>
          </p:nvSpPr>
          <p:spPr>
            <a:xfrm>
              <a:off x="10969752" y="4535424"/>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60" name="TextBox 159"/>
            <p:cNvSpPr txBox="1"/>
            <p:nvPr/>
          </p:nvSpPr>
          <p:spPr>
            <a:xfrm>
              <a:off x="10951464" y="4544568"/>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61" name="TextBox 160"/>
            <p:cNvSpPr txBox="1"/>
            <p:nvPr/>
          </p:nvSpPr>
          <p:spPr>
            <a:xfrm>
              <a:off x="10969752" y="4069080"/>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62" name="TextBox 161"/>
            <p:cNvSpPr txBox="1"/>
            <p:nvPr/>
          </p:nvSpPr>
          <p:spPr>
            <a:xfrm>
              <a:off x="10969752" y="3602736"/>
              <a:ext cx="265176" cy="466343"/>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163" name="Rectangle 162"/>
          <p:cNvSpPr/>
          <p:nvPr/>
        </p:nvSpPr>
        <p:spPr>
          <a:xfrm>
            <a:off x="384048" y="5330952"/>
            <a:ext cx="2103120" cy="16916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4" name="TextBox 163"/>
          <p:cNvSpPr txBox="1"/>
          <p:nvPr/>
        </p:nvSpPr>
        <p:spPr>
          <a:xfrm>
            <a:off x="448056" y="5422392"/>
            <a:ext cx="1975103" cy="150876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165" name="Rectangle 164"/>
          <p:cNvSpPr/>
          <p:nvPr/>
        </p:nvSpPr>
        <p:spPr>
          <a:xfrm>
            <a:off x="2487168"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6" name="TextBox 165"/>
          <p:cNvSpPr txBox="1"/>
          <p:nvPr/>
        </p:nvSpPr>
        <p:spPr>
          <a:xfrm>
            <a:off x="2551175"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1 + 4 = 5 → write 5</a:t>
            </a:r>
          </a:p>
          <a:p>
            <a:pPr>
              <a:lnSpc>
                <a:spcPts val="1620"/>
              </a:lnSpc>
              <a:spcBef>
                <a:spcPts val="0"/>
              </a:spcBef>
              <a:spcAft>
                <a:spcPts val="0"/>
              </a:spcAft>
              <a:defRPr sz="1500" b="0">
                <a:solidFill>
                  <a:srgbClr val="182B3A"/>
                </a:solidFill>
                <a:latin typeface="Arial"/>
              </a:defRPr>
            </a:pPr>
            <a:r>
              <a:t>2 → write 2</a:t>
            </a:r>
          </a:p>
        </p:txBody>
      </p:sp>
      <p:sp>
        <p:nvSpPr>
          <p:cNvPr id="167" name="Rectangle 166"/>
          <p:cNvSpPr/>
          <p:nvPr/>
        </p:nvSpPr>
        <p:spPr>
          <a:xfrm>
            <a:off x="6406895"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8" name="TextBox 167"/>
          <p:cNvSpPr txBox="1"/>
          <p:nvPr/>
        </p:nvSpPr>
        <p:spPr>
          <a:xfrm>
            <a:off x="6470904"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4 + 0 + 6 = 10 → write 0, carry 1</a:t>
            </a:r>
          </a:p>
          <a:p>
            <a:pPr>
              <a:lnSpc>
                <a:spcPts val="1620"/>
              </a:lnSpc>
              <a:spcBef>
                <a:spcPts val="0"/>
              </a:spcBef>
              <a:spcAft>
                <a:spcPts val="0"/>
              </a:spcAft>
              <a:defRPr sz="1500" b="0">
                <a:solidFill>
                  <a:srgbClr val="182B3A"/>
                </a:solidFill>
                <a:latin typeface="Arial"/>
              </a:defRPr>
            </a:pPr>
            <a:r>
              <a:t>0 + 3 + 0 + 1 = 4 → write 4</a:t>
            </a:r>
          </a:p>
          <a:p>
            <a:pPr>
              <a:lnSpc>
                <a:spcPts val="1620"/>
              </a:lnSpc>
              <a:spcBef>
                <a:spcPts val="0"/>
              </a:spcBef>
              <a:spcAft>
                <a:spcPts val="0"/>
              </a:spcAft>
              <a:defRPr sz="1500" b="0">
                <a:solidFill>
                  <a:srgbClr val="182B3A"/>
                </a:solidFill>
                <a:latin typeface="Arial"/>
              </a:defRPr>
            </a:pPr>
            <a:r>
              <a:t>0 → leading zero</a:t>
            </a:r>
          </a:p>
        </p:txBody>
      </p:sp>
      <p:sp>
        <p:nvSpPr>
          <p:cNvPr id="169" name="Rectangle 168"/>
          <p:cNvSpPr/>
          <p:nvPr/>
        </p:nvSpPr>
        <p:spPr>
          <a:xfrm>
            <a:off x="10326624"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0" name="TextBox 169"/>
          <p:cNvSpPr txBox="1"/>
          <p:nvPr/>
        </p:nvSpPr>
        <p:spPr>
          <a:xfrm>
            <a:off x="10390632"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2 → write 2</a:t>
            </a:r>
          </a:p>
          <a:p>
            <a:pPr>
              <a:lnSpc>
                <a:spcPts val="1620"/>
              </a:lnSpc>
              <a:spcBef>
                <a:spcPts val="0"/>
              </a:spcBef>
              <a:spcAft>
                <a:spcPts val="0"/>
              </a:spcAft>
              <a:defRPr sz="1500" b="0">
                <a:solidFill>
                  <a:srgbClr val="182B3A"/>
                </a:solidFill>
                <a:latin typeface="Arial"/>
              </a:defRPr>
            </a:pPr>
            <a:r>
              <a:t>1+0+6 = 7 → write 7</a:t>
            </a:r>
          </a:p>
          <a:p>
            <a:pPr>
              <a:lnSpc>
                <a:spcPts val="1620"/>
              </a:lnSpc>
              <a:spcBef>
                <a:spcPts val="0"/>
              </a:spcBef>
              <a:spcAft>
                <a:spcPts val="0"/>
              </a:spcAft>
              <a:defRPr sz="1500" b="0">
                <a:solidFill>
                  <a:srgbClr val="182B3A"/>
                </a:solidFill>
                <a:latin typeface="Arial"/>
              </a:defRPr>
            </a:pPr>
            <a:r>
              <a:t>1+2+0+5+8 = 16 → 6, carry 1</a:t>
            </a:r>
          </a:p>
          <a:p>
            <a:pPr>
              <a:lnSpc>
                <a:spcPts val="1620"/>
              </a:lnSpc>
              <a:spcBef>
                <a:spcPts val="0"/>
              </a:spcBef>
              <a:spcAft>
                <a:spcPts val="0"/>
              </a:spcAft>
              <a:defRPr sz="1500" b="0">
                <a:solidFill>
                  <a:srgbClr val="182B3A"/>
                </a:solidFill>
                <a:latin typeface="Arial"/>
              </a:defRPr>
            </a:pPr>
            <a:r>
              <a:t>0+0+1+1+5+4+1 = 12 → 2, carry 1</a:t>
            </a:r>
          </a:p>
          <a:p>
            <a:pPr>
              <a:lnSpc>
                <a:spcPts val="1620"/>
              </a:lnSpc>
              <a:spcBef>
                <a:spcPts val="0"/>
              </a:spcBef>
              <a:spcAft>
                <a:spcPts val="0"/>
              </a:spcAft>
              <a:defRPr sz="1500" b="0">
                <a:solidFill>
                  <a:srgbClr val="182B3A"/>
                </a:solidFill>
                <a:latin typeface="Arial"/>
              </a:defRPr>
            </a:pPr>
            <a:r>
              <a:t>0+1+3+2+0+1 = 7 → write 7</a:t>
            </a:r>
          </a:p>
          <a:p>
            <a:pPr>
              <a:lnSpc>
                <a:spcPts val="1620"/>
              </a:lnSpc>
              <a:spcBef>
                <a:spcPts val="0"/>
              </a:spcBef>
              <a:spcAft>
                <a:spcPts val="0"/>
              </a:spcAft>
              <a:defRPr sz="1500" b="0">
                <a:solidFill>
                  <a:srgbClr val="182B3A"/>
                </a:solidFill>
                <a:latin typeface="Arial"/>
              </a:defRPr>
            </a:pPr>
            <a:r>
              <a:t>0+2+4 = 6 → write 6</a:t>
            </a:r>
          </a:p>
          <a:p>
            <a:pPr>
              <a:lnSpc>
                <a:spcPts val="1620"/>
              </a:lnSpc>
              <a:spcBef>
                <a:spcPts val="0"/>
              </a:spcBef>
              <a:spcAft>
                <a:spcPts val="0"/>
              </a:spcAft>
              <a:defRPr sz="1500" b="0">
                <a:solidFill>
                  <a:srgbClr val="182B3A"/>
                </a:solidFill>
                <a:latin typeface="Arial"/>
              </a:defRPr>
            </a:pPr>
            <a:r>
              <a:t>0 → leading zero</a:t>
            </a:r>
          </a:p>
        </p:txBody>
      </p:sp>
      <p:sp>
        <p:nvSpPr>
          <p:cNvPr id="171" name="Rectangle 170"/>
          <p:cNvSpPr/>
          <p:nvPr/>
        </p:nvSpPr>
        <p:spPr>
          <a:xfrm>
            <a:off x="384048" y="702259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2" name="TextBox 171"/>
          <p:cNvSpPr txBox="1"/>
          <p:nvPr/>
        </p:nvSpPr>
        <p:spPr>
          <a:xfrm>
            <a:off x="448056" y="7114031"/>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173" name="Rectangle 172"/>
          <p:cNvSpPr/>
          <p:nvPr/>
        </p:nvSpPr>
        <p:spPr>
          <a:xfrm>
            <a:off x="2487168"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4" name="TextBox 173"/>
          <p:cNvSpPr txBox="1"/>
          <p:nvPr/>
        </p:nvSpPr>
        <p:spPr>
          <a:xfrm>
            <a:off x="2551175"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 × 6 = 258</a:t>
            </a:r>
          </a:p>
        </p:txBody>
      </p:sp>
      <p:sp>
        <p:nvSpPr>
          <p:cNvPr id="175" name="Rectangle 174"/>
          <p:cNvSpPr/>
          <p:nvPr/>
        </p:nvSpPr>
        <p:spPr>
          <a:xfrm>
            <a:off x="6406895"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6" name="TextBox 175"/>
          <p:cNvSpPr txBox="1"/>
          <p:nvPr/>
        </p:nvSpPr>
        <p:spPr>
          <a:xfrm>
            <a:off x="6470904"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34 × 12 = 408</a:t>
            </a:r>
          </a:p>
        </p:txBody>
      </p:sp>
      <p:sp>
        <p:nvSpPr>
          <p:cNvPr id="177" name="Rectangle 176"/>
          <p:cNvSpPr/>
          <p:nvPr/>
        </p:nvSpPr>
        <p:spPr>
          <a:xfrm>
            <a:off x="10326624"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8" name="TextBox 177"/>
          <p:cNvSpPr txBox="1"/>
          <p:nvPr/>
        </p:nvSpPr>
        <p:spPr>
          <a:xfrm>
            <a:off x="10390632"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4,312 × 156 = 672,672</a:t>
            </a:r>
          </a:p>
        </p:txBody>
      </p:sp>
    </p:spTree>
  </p:cSld>
  <p:clrMapOvr>
    <a:masterClrMapping/>
  </p:clrMapOvr>
</p:sld>
</file>

<file path=ppt/slides/slide100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53 × 7</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24 × 15</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1,245 × 326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100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84 × 5</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28</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3,142 × 2045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100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83 × 7</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 × 13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 × 34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 × 22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 × 41</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75 × 16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57</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342 × 15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612 × 24</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1,234 × 125</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2,105 × 304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4,316 × 1,024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7,029 × 2,316</a:t>
            </a:r>
          </a:p>
        </p:txBody>
      </p:sp>
    </p:spTree>
  </p:cSld>
  <p:clrMapOvr>
    <a:masterClrMapping/>
  </p:clrMapOvr>
</p:sld>
</file>

<file path=ppt/slides/slide100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 × 6</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 × 4</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 × 14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37 × 42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 × 36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 × 27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 × 53</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425 × 23</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708 × 46</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1,326 × 243</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3,048 × 512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5,607 × 1,204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8,214 × 3,067</a:t>
            </a:r>
          </a:p>
        </p:txBody>
      </p:sp>
    </p:spTree>
  </p:cSld>
  <p:clrMapOvr>
    <a:masterClrMapping/>
  </p:clrMapOvr>
</p:sld>
</file>

<file path=ppt/slides/slide100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7</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29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65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87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35 × 24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17</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39</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76 × 28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54 × 46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89 × 65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536 × 34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809 × 27</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2,047 × 368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4,158 × 427</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6,309 × 2,058</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9,274 × 4,163</a:t>
            </a:r>
          </a:p>
        </p:txBody>
      </p:sp>
    </p:spTree>
  </p:cSld>
  <p:clrMapOvr>
    <a:masterClrMapping/>
  </p:clrMapOvr>
</p:sld>
</file>

<file path=ppt/slides/slide100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 × 5</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 × 9</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67 × 8</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49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4</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97 × 7</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27 × 35</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 × 26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48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 × 37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59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68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647 × 45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902 × 38</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3,156 × 489</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5,027 × 596</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7,418 × 3,264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8,639 × 5,076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Maths Revision Starters</dc:title>
  <dc:subject>Lattice multiplication, bus stop division and application to exam problems</dc:subject>
  <dc:creator>Maths teaching resources</dc:creator>
  <cp:keywords/>
  <dc:description>generated using python-pptx</dc:description>
  <cp:revision>1</cp:revision>
  <dcterms:created xsi:type="dcterms:W3CDTF">2013-01-27T09:14:16Z</dcterms:created>
  <dcterms:modified xsi:type="dcterms:W3CDTF">2026-09-24T15:49:41Z</dcterms:modified>
  <cp:category/>
</cp:coreProperties>
</file>