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000.xml" ContentType="application/vnd.openxmlformats-officedocument.presentationml.slide+xml"/>
  <Override PartName="/ppt/slides/slide1001.xml" ContentType="application/vnd.openxmlformats-officedocument.presentationml.slide+xml"/>
  <Override PartName="/ppt/slides/slide1002.xml" ContentType="application/vnd.openxmlformats-officedocument.presentationml.slide+xml"/>
  <Override PartName="/ppt/slides/slide1003.xml" ContentType="application/vnd.openxmlformats-officedocument.presentationml.slide+xml"/>
  <Override PartName="/ppt/slides/slide1004.xml" ContentType="application/vnd.openxmlformats-officedocument.presentationml.slide+xml"/>
  <Override PartName="/ppt/slides/slide1005.xml" ContentType="application/vnd.openxmlformats-officedocument.presentationml.slide+xml"/>
  <Override PartName="/ppt/slides/slide1006.xml" ContentType="application/vnd.openxmlformats-officedocument.presentationml.slide+xml"/>
  <Override PartName="/ppt/slides/slide1007.xml" ContentType="application/vnd.openxmlformats-officedocument.presentationml.slide+xml"/>
  <Override PartName="/ppt/slides/slide100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63" r:id="rId16"/>
    <p:sldId id="256" r:id="rId3"/>
    <p:sldId id="265" r:id="rId18"/>
    <p:sldId id="257" r:id="rId4"/>
    <p:sldId id="258" r:id="rId5"/>
    <p:sldId id="266" r:id="rId17"/>
    <p:sldId id="259" r:id="rId6"/>
    <p:sldId id="260" r:id="rId7"/>
    <p:sldId id="261" r:id="rId8"/>
    <p:sldId id="262" r:id="rId9"/>
  </p:sldIdLst>
  <p:sldSz cx="14630400" cy="8229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DF5D94-B901-6206-A612-082DFF76D998}" v="4" dt="2026-09-24T15:48:54.0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 Type="http://schemas.openxmlformats.org/officeDocument/2006/relationships/slide" Target="slides/slide1001.xml"/><Relationship Id="rId4" Type="http://schemas.openxmlformats.org/officeDocument/2006/relationships/slide" Target="slides/slide1003.xml"/><Relationship Id="rId5" Type="http://schemas.openxmlformats.org/officeDocument/2006/relationships/slide" Target="slides/slide1004.xml"/><Relationship Id="rId6" Type="http://schemas.openxmlformats.org/officeDocument/2006/relationships/slide" Target="slides/slide1005.xml"/><Relationship Id="rId7" Type="http://schemas.openxmlformats.org/officeDocument/2006/relationships/slide" Target="slides/slide1006.xml"/><Relationship Id="rId8" Type="http://schemas.openxmlformats.org/officeDocument/2006/relationships/slide" Target="slides/slide1007.xml"/><Relationship Id="rId9" Type="http://schemas.openxmlformats.org/officeDocument/2006/relationships/slide" Target="slides/slide1008.xml"/><Relationship Id="rId16" Type="http://schemas.openxmlformats.org/officeDocument/2006/relationships/slide" Target="slides/slide1000.xml"/><Relationship Id="rId17" Type="http://schemas.openxmlformats.org/officeDocument/2006/relationships/slide" Target="slides/slide10.xml"/><Relationship Id="rId18" Type="http://schemas.openxmlformats.org/officeDocument/2006/relationships/slide" Target="slides/slide100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microsoft.com/office/2016/11/relationships/changesInfo" Target="changesInfos/changesInfo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e Hudson" userId="41092641-dab8-42af-8751-810f10f62201" providerId="ADAL" clId="{2D5970AC-48F5-4BA0-8370-EBD52AA4EFA8}"/>
    <pc:docChg chg="modSld">
      <pc:chgData name="Joe Hudson" userId="41092641-dab8-42af-8751-810f10f62201" providerId="ADAL" clId="{2D5970AC-48F5-4BA0-8370-EBD52AA4EFA8}" dt="2026-09-24T12:16:27.943" v="25" actId="20577"/>
      <pc:docMkLst>
        <pc:docMk/>
      </pc:docMkLst>
      <pc:sldChg chg="modSp mod">
        <pc:chgData name="Joe Hudson" userId="41092641-dab8-42af-8751-810f10f62201" providerId="ADAL" clId="{2D5970AC-48F5-4BA0-8370-EBD52AA4EFA8}" dt="2026-09-24T12:16:27.943" v="25" actId="20577"/>
        <pc:sldMkLst>
          <pc:docMk/>
          <pc:sldMk cId="0" sldId="257"/>
        </pc:sldMkLst>
        <pc:spChg chg="mod">
          <ac:chgData name="Joe Hudson" userId="41092641-dab8-42af-8751-810f10f62201" providerId="ADAL" clId="{2D5970AC-48F5-4BA0-8370-EBD52AA4EFA8}" dt="2026-09-24T12:16:27.943" v="25" actId="20577"/>
          <ac:spMkLst>
            <pc:docMk/>
            <pc:sldMk cId="0" sldId="257"/>
            <ac:spMk id="36" creationId="{00000000-0000-0000-0000-000000000000}"/>
          </ac:spMkLst>
        </pc:spChg>
      </pc:sldChg>
      <pc:sldChg chg="modSp mod">
        <pc:chgData name="Joe Hudson" userId="41092641-dab8-42af-8751-810f10f62201" providerId="ADAL" clId="{2D5970AC-48F5-4BA0-8370-EBD52AA4EFA8}" dt="2026-09-24T12:16:16.865" v="12" actId="20577"/>
        <pc:sldMkLst>
          <pc:docMk/>
          <pc:sldMk cId="0" sldId="258"/>
        </pc:sldMkLst>
        <pc:spChg chg="mod">
          <ac:chgData name="Joe Hudson" userId="41092641-dab8-42af-8751-810f10f62201" providerId="ADAL" clId="{2D5970AC-48F5-4BA0-8370-EBD52AA4EFA8}" dt="2026-09-24T12:16:16.865" v="12" actId="20577"/>
          <ac:spMkLst>
            <pc:docMk/>
            <pc:sldMk cId="0" sldId="258"/>
            <ac:spMk id="36" creationId="{00000000-0000-0000-0000-000000000000}"/>
          </ac:spMkLst>
        </pc:spChg>
      </pc:sldChg>
    </pc:docChg>
  </pc:docChgLst>
  <pc:docChgLst>
    <pc:chgData name="Joe Hudson" userId="S::joe.hudson@shcg.ac.uk::41092641-dab8-42af-8751-810f10f62201" providerId="AD" clId="Web-{2CDF5D94-B901-6206-A612-082DFF76D998}"/>
    <pc:docChg chg="modSld">
      <pc:chgData name="Joe Hudson" userId="S::joe.hudson@shcg.ac.uk::41092641-dab8-42af-8751-810f10f62201" providerId="AD" clId="Web-{2CDF5D94-B901-6206-A612-082DFF76D998}" dt="2026-09-24T15:48:54.034" v="1" actId="20577"/>
      <pc:docMkLst>
        <pc:docMk/>
      </pc:docMkLst>
      <pc:sldChg chg="modSp">
        <pc:chgData name="Joe Hudson" userId="S::joe.hudson@shcg.ac.uk::41092641-dab8-42af-8751-810f10f62201" providerId="AD" clId="Web-{2CDF5D94-B901-6206-A612-082DFF76D998}" dt="2026-09-24T15:48:54.034" v="1" actId="20577"/>
        <pc:sldMkLst>
          <pc:docMk/>
          <pc:sldMk cId="0" sldId="276"/>
        </pc:sldMkLst>
        <pc:spChg chg="mod">
          <ac:chgData name="Joe Hudson" userId="S::joe.hudson@shcg.ac.uk::41092641-dab8-42af-8751-810f10f62201" providerId="AD" clId="Web-{2CDF5D94-B901-6206-A612-082DFF76D998}" dt="2026-09-24T15:48:54.034" v="1" actId="20577"/>
          <ac:spMkLst>
            <pc:docMk/>
            <pc:sldMk cId="0" sldId="276"/>
            <ac:spMk id="3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8366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0.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worked demo</a:t>
            </a:r>
          </a:p>
          <a:p>
            <a:endParaRPr/>
          </a:p>
          <a:p>
            <a:r>
              <a:t>Guided: 43 × 6 = 258. Core: 34 × 12 = 408. Depth: 4,312 × 156 = 672,672.</a:t>
            </a:r>
          </a:p>
          <a:p>
            <a:endParaRPr/>
          </a:p>
          <a:p>
            <a:r>
              <a:t>The completed lattice diagrams are editable grouped PowerPoint shapes. Diagonals run from bottom left to top right. Place tens above each diagonal and units below it. Put answer digits at the ends of their diagonal tracks, down the left edge and along the bottom. Place carries at the bottom end of the NEXT diagonal in smaller text. Depth diagonal totals from right to left, including carries: 2, 7, 16, 12, 7, 6, 0. The last 1 in the fourth and fifth sums is a carry. Read the result in reverse order and omit the leading zero: 672672.</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step-by-step practice 1</a:t>
            </a:r>
          </a:p>
          <a:p>
            <a:endParaRPr/>
          </a:p>
          <a:p>
            <a:r>
              <a:t>Thread 1: Guided: 53 × 7 = **371**</a:t>
            </a:r>
          </a:p>
          <a:p>
            <a:endParaRPr/>
          </a:p>
          <a:p>
            <a:r>
              <a:t>Thread 2: Core: 24 × 15 = **360**</a:t>
            </a:r>
          </a:p>
          <a:p>
            <a:endParaRPr/>
          </a:p>
          <a:p>
            <a:r>
              <a:t>Thread 3: Depth: 1,245 × 326 = **405,870**</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step-by-step practice 2</a:t>
            </a:r>
          </a:p>
          <a:p>
            <a:endParaRPr/>
          </a:p>
          <a:p>
            <a:r>
              <a:t>Thread 1: Guided: 84 × 5 = **420**</a:t>
            </a:r>
          </a:p>
          <a:p>
            <a:endParaRPr/>
          </a:p>
          <a:p>
            <a:r>
              <a:t>Thread 2: Core: 63 × 28 = **1,764**</a:t>
            </a:r>
          </a:p>
          <a:p>
            <a:endParaRPr/>
          </a:p>
          <a:p>
            <a:r>
              <a:t>Thread 3: Depth: 3,142 × 2045 = **6,425,390**</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1</a:t>
            </a:r>
          </a:p>
          <a:p>
            <a:endParaRPr/>
          </a:p>
          <a:p>
            <a:r>
              <a:t>### Thread 1: Guided</a:t>
            </a:r>
          </a:p>
          <a:p>
            <a:endParaRPr/>
          </a:p>
          <a:p>
            <a:r>
              <a:t>1. 32 × 4 = **128**</a:t>
            </a:r>
          </a:p>
          <a:p>
            <a:endParaRPr/>
          </a:p>
          <a:p>
            <a:r>
              <a:t>2. 61 × 8 = **488**</a:t>
            </a:r>
          </a:p>
          <a:p>
            <a:endParaRPr/>
          </a:p>
          <a:p>
            <a:r>
              <a:t>3. 45 × 3 = **135**</a:t>
            </a:r>
          </a:p>
          <a:p>
            <a:endParaRPr/>
          </a:p>
          <a:p>
            <a:r>
              <a:t>4. 72 × 6 = **432**</a:t>
            </a:r>
          </a:p>
          <a:p>
            <a:endParaRPr/>
          </a:p>
          <a:p>
            <a:r>
              <a:t>5. 83 × 7 = **581**</a:t>
            </a:r>
          </a:p>
          <a:p>
            <a:endParaRPr/>
          </a:p>
          <a:p>
            <a:r>
              <a:t>6. 95 × 9 = **855**</a:t>
            </a:r>
          </a:p>
          <a:p>
            <a:endParaRPr/>
          </a:p>
          <a:p>
            <a:r>
              <a:t>### Thread 2: Core</a:t>
            </a:r>
          </a:p>
          <a:p>
            <a:endParaRPr/>
          </a:p>
          <a:p>
            <a:r>
              <a:t>1. 42 × 13 = **546**</a:t>
            </a:r>
          </a:p>
          <a:p>
            <a:endParaRPr/>
          </a:p>
          <a:p>
            <a:r>
              <a:t>2. 26 × 34 = **884**</a:t>
            </a:r>
          </a:p>
          <a:p>
            <a:endParaRPr/>
          </a:p>
          <a:p>
            <a:r>
              <a:t>3. 51 × 22 = **1,122**</a:t>
            </a:r>
          </a:p>
          <a:p>
            <a:endParaRPr/>
          </a:p>
          <a:p>
            <a:r>
              <a:t>4. 63 × 41 = **2,583**</a:t>
            </a:r>
          </a:p>
          <a:p>
            <a:endParaRPr/>
          </a:p>
          <a:p>
            <a:r>
              <a:t>5. 75 × 16 = **1,200**</a:t>
            </a:r>
          </a:p>
          <a:p>
            <a:endParaRPr/>
          </a:p>
          <a:p>
            <a:r>
              <a:t>6. 82 × 57 = **4,674**</a:t>
            </a:r>
          </a:p>
          <a:p>
            <a:endParaRPr/>
          </a:p>
          <a:p>
            <a:r>
              <a:t>### Thread 3: Depth</a:t>
            </a:r>
          </a:p>
          <a:p>
            <a:endParaRPr/>
          </a:p>
          <a:p>
            <a:r>
              <a:t>1. 342 × 15 = **5,130**</a:t>
            </a:r>
          </a:p>
          <a:p>
            <a:endParaRPr/>
          </a:p>
          <a:p>
            <a:r>
              <a:t>2. 612 × 24 = **14,688**</a:t>
            </a:r>
          </a:p>
          <a:p>
            <a:endParaRPr/>
          </a:p>
          <a:p>
            <a:r>
              <a:t>3. 1,234 × 125 = **154,250**</a:t>
            </a:r>
          </a:p>
          <a:p>
            <a:endParaRPr/>
          </a:p>
          <a:p>
            <a:r>
              <a:t>4. 2,105 × 304 = **639,920**</a:t>
            </a:r>
          </a:p>
          <a:p>
            <a:endParaRPr/>
          </a:p>
          <a:p>
            <a:r>
              <a:t>5. 4,316 × 1,024 = **4,419,584**</a:t>
            </a:r>
          </a:p>
          <a:p>
            <a:endParaRPr/>
          </a:p>
          <a:p>
            <a:r>
              <a:t>6. 7,029 × 2,316 = **16,279,164**</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2</a:t>
            </a:r>
          </a:p>
          <a:p>
            <a:endParaRPr/>
          </a:p>
          <a:p>
            <a:r>
              <a:t>### Thread 1: Guided</a:t>
            </a:r>
          </a:p>
          <a:p>
            <a:endParaRPr/>
          </a:p>
          <a:p>
            <a:r>
              <a:t>1. 24 × 6 = **144**</a:t>
            </a:r>
          </a:p>
          <a:p>
            <a:endParaRPr/>
          </a:p>
          <a:p>
            <a:r>
              <a:t>2. 57 × 4 = **228**</a:t>
            </a:r>
          </a:p>
          <a:p>
            <a:endParaRPr/>
          </a:p>
          <a:p>
            <a:r>
              <a:t>3. 68 × 3 = **204**</a:t>
            </a:r>
          </a:p>
          <a:p>
            <a:endParaRPr/>
          </a:p>
          <a:p>
            <a:r>
              <a:t>4. 39 × 7 = **273**</a:t>
            </a:r>
          </a:p>
          <a:p>
            <a:endParaRPr/>
          </a:p>
          <a:p>
            <a:r>
              <a:t>5. 86 × 5 = **430**</a:t>
            </a:r>
          </a:p>
          <a:p>
            <a:endParaRPr/>
          </a:p>
          <a:p>
            <a:r>
              <a:t>6. 74 × 8 = **592**</a:t>
            </a:r>
          </a:p>
          <a:p>
            <a:endParaRPr/>
          </a:p>
          <a:p>
            <a:r>
              <a:t>### Thread 2: Core</a:t>
            </a:r>
          </a:p>
          <a:p>
            <a:endParaRPr/>
          </a:p>
          <a:p>
            <a:r>
              <a:t>1. 23 × 14 = **322**</a:t>
            </a:r>
          </a:p>
          <a:p>
            <a:endParaRPr/>
          </a:p>
          <a:p>
            <a:r>
              <a:t>2. 46 × 25 = **1,150**</a:t>
            </a:r>
          </a:p>
          <a:p>
            <a:endParaRPr/>
          </a:p>
          <a:p>
            <a:r>
              <a:t>3. 37 × 42 = **1,554**</a:t>
            </a:r>
          </a:p>
          <a:p>
            <a:endParaRPr/>
          </a:p>
          <a:p>
            <a:r>
              <a:t>4. 58 × 36 = **2,088**</a:t>
            </a:r>
          </a:p>
          <a:p>
            <a:endParaRPr/>
          </a:p>
          <a:p>
            <a:r>
              <a:t>5. 64 × 27 = **1,728**</a:t>
            </a:r>
          </a:p>
          <a:p>
            <a:endParaRPr/>
          </a:p>
          <a:p>
            <a:r>
              <a:t>6. 79 × 53 = **4,187**</a:t>
            </a:r>
          </a:p>
          <a:p>
            <a:endParaRPr/>
          </a:p>
          <a:p>
            <a:r>
              <a:t>### Thread 3: Depth</a:t>
            </a:r>
          </a:p>
          <a:p>
            <a:endParaRPr/>
          </a:p>
          <a:p>
            <a:r>
              <a:t>1. 425 × 23 = **9,775**</a:t>
            </a:r>
          </a:p>
          <a:p>
            <a:endParaRPr/>
          </a:p>
          <a:p>
            <a:r>
              <a:t>2. 708 × 46 = **32,568**</a:t>
            </a:r>
          </a:p>
          <a:p>
            <a:endParaRPr/>
          </a:p>
          <a:p>
            <a:r>
              <a:t>3. 1,326 × 243 = **322,218**</a:t>
            </a:r>
          </a:p>
          <a:p>
            <a:endParaRPr/>
          </a:p>
          <a:p>
            <a:r>
              <a:t>4. 3,048 × 512 = **1,560,576**</a:t>
            </a:r>
          </a:p>
          <a:p>
            <a:endParaRPr/>
          </a:p>
          <a:p>
            <a:r>
              <a:t>5. 5,607 × 1,204 = **6,750,828**</a:t>
            </a:r>
          </a:p>
          <a:p>
            <a:endParaRPr/>
          </a:p>
          <a:p>
            <a:r>
              <a:t>6. 8,214 × 3,067 = **25,192,338**</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3</a:t>
            </a:r>
          </a:p>
          <a:p>
            <a:endParaRPr/>
          </a:p>
          <a:p>
            <a:r>
              <a:t>### Thread 1: Guided</a:t>
            </a:r>
          </a:p>
          <a:p>
            <a:endParaRPr/>
          </a:p>
          <a:p>
            <a:r>
              <a:t>1. 46 × 7 = **322**</a:t>
            </a:r>
          </a:p>
          <a:p>
            <a:endParaRPr/>
          </a:p>
          <a:p>
            <a:r>
              <a:t>2. 29 × 8 = **232**</a:t>
            </a:r>
          </a:p>
          <a:p>
            <a:endParaRPr/>
          </a:p>
          <a:p>
            <a:r>
              <a:t>3. 65 × 4 = **260**</a:t>
            </a:r>
          </a:p>
          <a:p>
            <a:endParaRPr/>
          </a:p>
          <a:p>
            <a:r>
              <a:t>4. 78 × 6 = **468**</a:t>
            </a:r>
          </a:p>
          <a:p>
            <a:endParaRPr/>
          </a:p>
          <a:p>
            <a:r>
              <a:t>5. 93 × 5 = **465**</a:t>
            </a:r>
          </a:p>
          <a:p>
            <a:endParaRPr/>
          </a:p>
          <a:p>
            <a:r>
              <a:t>6. 87 × 9 = **783**</a:t>
            </a:r>
          </a:p>
          <a:p>
            <a:endParaRPr/>
          </a:p>
          <a:p>
            <a:r>
              <a:t>### Thread 2: Core</a:t>
            </a:r>
          </a:p>
          <a:p>
            <a:endParaRPr/>
          </a:p>
          <a:p>
            <a:r>
              <a:t>1. 35 × 24 = **840**</a:t>
            </a:r>
          </a:p>
          <a:p>
            <a:endParaRPr/>
          </a:p>
          <a:p>
            <a:r>
              <a:t>2. 62 × 17 = **1,054**</a:t>
            </a:r>
          </a:p>
          <a:p>
            <a:endParaRPr/>
          </a:p>
          <a:p>
            <a:r>
              <a:t>3. 48 × 39 = **1,872**</a:t>
            </a:r>
          </a:p>
          <a:p>
            <a:endParaRPr/>
          </a:p>
          <a:p>
            <a:r>
              <a:t>4. 76 × 28 = **2,128**</a:t>
            </a:r>
          </a:p>
          <a:p>
            <a:endParaRPr/>
          </a:p>
          <a:p>
            <a:r>
              <a:t>5. 54 × 46 = **2,484**</a:t>
            </a:r>
          </a:p>
          <a:p>
            <a:endParaRPr/>
          </a:p>
          <a:p>
            <a:r>
              <a:t>6. 89 × 65 = **5,785**</a:t>
            </a:r>
          </a:p>
          <a:p>
            <a:endParaRPr/>
          </a:p>
          <a:p>
            <a:r>
              <a:t>### Thread 3: Depth</a:t>
            </a:r>
          </a:p>
          <a:p>
            <a:endParaRPr/>
          </a:p>
          <a:p>
            <a:r>
              <a:t>1. 536 × 34 = **18,224**</a:t>
            </a:r>
          </a:p>
          <a:p>
            <a:endParaRPr/>
          </a:p>
          <a:p>
            <a:r>
              <a:t>2. 809 × 27 = **21,843**</a:t>
            </a:r>
          </a:p>
          <a:p>
            <a:endParaRPr/>
          </a:p>
          <a:p>
            <a:r>
              <a:t>3. 2,047 × 368 = **753,296**</a:t>
            </a:r>
          </a:p>
          <a:p>
            <a:endParaRPr/>
          </a:p>
          <a:p>
            <a:r>
              <a:t>4. 4,158 × 427 = **1,775,466**</a:t>
            </a:r>
          </a:p>
          <a:p>
            <a:endParaRPr/>
          </a:p>
          <a:p>
            <a:r>
              <a:t>5. 6,309 × 2,058 = **12,983,922**</a:t>
            </a:r>
          </a:p>
          <a:p>
            <a:endParaRPr/>
          </a:p>
          <a:p>
            <a:r>
              <a:t>6. 9,274 × 4,163 = **38,607,662**</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4</a:t>
            </a:r>
          </a:p>
          <a:p>
            <a:endParaRPr/>
          </a:p>
          <a:p>
            <a:r>
              <a:t>### Thread 1: Guided</a:t>
            </a:r>
          </a:p>
          <a:p>
            <a:endParaRPr/>
          </a:p>
          <a:p>
            <a:r>
              <a:t>1. 38 × 5 = **190**</a:t>
            </a:r>
          </a:p>
          <a:p>
            <a:endParaRPr/>
          </a:p>
          <a:p>
            <a:r>
              <a:t>2. 56 × 9 = **504**</a:t>
            </a:r>
          </a:p>
          <a:p>
            <a:endParaRPr/>
          </a:p>
          <a:p>
            <a:r>
              <a:t>3. 67 × 8 = **536**</a:t>
            </a:r>
          </a:p>
          <a:p>
            <a:endParaRPr/>
          </a:p>
          <a:p>
            <a:r>
              <a:t>4. 49 × 6 = **294**</a:t>
            </a:r>
          </a:p>
          <a:p>
            <a:endParaRPr/>
          </a:p>
          <a:p>
            <a:r>
              <a:t>5. 82 × 4 = **328**</a:t>
            </a:r>
          </a:p>
          <a:p>
            <a:endParaRPr/>
          </a:p>
          <a:p>
            <a:r>
              <a:t>6. 97 × 7 = **679**</a:t>
            </a:r>
          </a:p>
          <a:p>
            <a:endParaRPr/>
          </a:p>
          <a:p>
            <a:r>
              <a:t>### Thread 2: Core</a:t>
            </a:r>
          </a:p>
          <a:p>
            <a:endParaRPr/>
          </a:p>
          <a:p>
            <a:r>
              <a:t>1. 27 × 35 = **945**</a:t>
            </a:r>
          </a:p>
          <a:p>
            <a:endParaRPr/>
          </a:p>
          <a:p>
            <a:r>
              <a:t>2. 43 × 26 = **1,118**</a:t>
            </a:r>
          </a:p>
          <a:p>
            <a:endParaRPr/>
          </a:p>
          <a:p>
            <a:r>
              <a:t>3. 69 × 48 = **3,312**</a:t>
            </a:r>
          </a:p>
          <a:p>
            <a:endParaRPr/>
          </a:p>
          <a:p>
            <a:r>
              <a:t>4. 85 × 37 = **3,145**</a:t>
            </a:r>
          </a:p>
          <a:p>
            <a:endParaRPr/>
          </a:p>
          <a:p>
            <a:r>
              <a:t>5. 74 × 59 = **4,366**</a:t>
            </a:r>
          </a:p>
          <a:p>
            <a:endParaRPr/>
          </a:p>
          <a:p>
            <a:r>
              <a:t>6. 96 × 68 = **6,528**</a:t>
            </a:r>
          </a:p>
          <a:p>
            <a:endParaRPr/>
          </a:p>
          <a:p>
            <a:r>
              <a:t>### Thread 3: Depth</a:t>
            </a:r>
          </a:p>
          <a:p>
            <a:endParaRPr/>
          </a:p>
          <a:p>
            <a:r>
              <a:t>1. 647 × 45 = **29,115**</a:t>
            </a:r>
          </a:p>
          <a:p>
            <a:endParaRPr/>
          </a:p>
          <a:p>
            <a:r>
              <a:t>2. 902 × 38 = **34,276**</a:t>
            </a:r>
          </a:p>
          <a:p>
            <a:endParaRPr/>
          </a:p>
          <a:p>
            <a:r>
              <a:t>3. 3,156 × 489 = **1,543,284**</a:t>
            </a:r>
          </a:p>
          <a:p>
            <a:endParaRPr/>
          </a:p>
          <a:p>
            <a:r>
              <a:t>4. 5,027 × 596 = **2,996,092**</a:t>
            </a:r>
          </a:p>
          <a:p>
            <a:endParaRPr/>
          </a:p>
          <a:p>
            <a:r>
              <a:t>5. 7,418 × 3,264 = **24,212,352**</a:t>
            </a:r>
          </a:p>
          <a:p>
            <a:endParaRPr/>
          </a:p>
          <a:p>
            <a:r>
              <a:t>6. 8,639 × 5,076 = **43,851,564**</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0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0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0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0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43 × 6</a:t>
            </a:r>
          </a:p>
        </p:txBody>
      </p:sp>
      <p:sp>
        <p:nvSpPr>
          <p:cNvPr id="10" name="TextBox 9"/>
          <p:cNvSpPr txBox="1"/>
          <p:nvPr/>
        </p:nvSpPr>
        <p:spPr>
          <a:xfrm>
            <a:off x="850392"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11" name="TextBox 10"/>
          <p:cNvSpPr txBox="1"/>
          <p:nvPr/>
        </p:nvSpPr>
        <p:spPr>
          <a:xfrm>
            <a:off x="1280160"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3</a:t>
            </a:r>
          </a:p>
        </p:txBody>
      </p:sp>
      <p:sp>
        <p:nvSpPr>
          <p:cNvPr id="12" name="TextBox 11"/>
          <p:cNvSpPr txBox="1"/>
          <p:nvPr/>
        </p:nvSpPr>
        <p:spPr>
          <a:xfrm>
            <a:off x="1773936" y="249631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cxnSp>
        <p:nvCxnSpPr>
          <p:cNvPr id="13" name="Connector 12"/>
          <p:cNvCxnSpPr/>
          <p:nvPr/>
        </p:nvCxnSpPr>
        <p:spPr>
          <a:xfrm flipV="1">
            <a:off x="850392"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64108"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5" name="TextBox 14"/>
          <p:cNvSpPr txBox="1"/>
          <p:nvPr/>
        </p:nvSpPr>
        <p:spPr>
          <a:xfrm>
            <a:off x="1074420"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6" name="Connector 15"/>
          <p:cNvCxnSpPr/>
          <p:nvPr/>
        </p:nvCxnSpPr>
        <p:spPr>
          <a:xfrm flipV="1">
            <a:off x="1280160"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293876"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8" name="TextBox 17"/>
          <p:cNvSpPr txBox="1"/>
          <p:nvPr/>
        </p:nvSpPr>
        <p:spPr>
          <a:xfrm>
            <a:off x="1504188"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19" name="Connector 18"/>
          <p:cNvCxnSpPr/>
          <p:nvPr/>
        </p:nvCxnSpPr>
        <p:spPr>
          <a:xfrm>
            <a:off x="850392" y="2386584"/>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280160" y="2386584"/>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709928" y="2386584"/>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50392" y="2386584"/>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50392" y="2816352"/>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280160" y="28986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8</a:t>
            </a:r>
          </a:p>
        </p:txBody>
      </p:sp>
      <p:sp>
        <p:nvSpPr>
          <p:cNvPr id="25" name="TextBox 24"/>
          <p:cNvSpPr txBox="1"/>
          <p:nvPr/>
        </p:nvSpPr>
        <p:spPr>
          <a:xfrm>
            <a:off x="850392" y="28986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5</a:t>
            </a:r>
          </a:p>
        </p:txBody>
      </p:sp>
      <p:sp>
        <p:nvSpPr>
          <p:cNvPr id="26" name="TextBox 25"/>
          <p:cNvSpPr txBox="1"/>
          <p:nvPr/>
        </p:nvSpPr>
        <p:spPr>
          <a:xfrm>
            <a:off x="502920" y="249631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27" name="TextBox 26"/>
          <p:cNvSpPr txBox="1"/>
          <p:nvPr/>
        </p:nvSpPr>
        <p:spPr>
          <a:xfrm>
            <a:off x="2670048" y="2487168"/>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28" name="TextBox 27"/>
          <p:cNvSpPr txBox="1"/>
          <p:nvPr/>
        </p:nvSpPr>
        <p:spPr>
          <a:xfrm>
            <a:off x="2670048" y="2852928"/>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158</a:t>
            </a:r>
          </a:p>
        </p:txBody>
      </p:sp>
      <p:sp>
        <p:nvSpPr>
          <p:cNvPr id="29" name="Rectangle 28"/>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75488"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89 × 7</a:t>
            </a:r>
          </a:p>
        </p:txBody>
      </p:sp>
      <p:sp>
        <p:nvSpPr>
          <p:cNvPr id="31" name="TextBox 30"/>
          <p:cNvSpPr txBox="1"/>
          <p:nvPr/>
        </p:nvSpPr>
        <p:spPr>
          <a:xfrm>
            <a:off x="850392"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8</a:t>
            </a:r>
          </a:p>
        </p:txBody>
      </p:sp>
      <p:sp>
        <p:nvSpPr>
          <p:cNvPr id="32" name="TextBox 31"/>
          <p:cNvSpPr txBox="1"/>
          <p:nvPr/>
        </p:nvSpPr>
        <p:spPr>
          <a:xfrm>
            <a:off x="1280160"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9</a:t>
            </a:r>
          </a:p>
        </p:txBody>
      </p:sp>
      <p:sp>
        <p:nvSpPr>
          <p:cNvPr id="33" name="TextBox 32"/>
          <p:cNvSpPr txBox="1"/>
          <p:nvPr/>
        </p:nvSpPr>
        <p:spPr>
          <a:xfrm>
            <a:off x="1773936" y="4498848"/>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cxnSp>
        <p:nvCxnSpPr>
          <p:cNvPr id="34" name="Connector 33"/>
          <p:cNvCxnSpPr/>
          <p:nvPr/>
        </p:nvCxnSpPr>
        <p:spPr>
          <a:xfrm flipV="1">
            <a:off x="850392"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864108"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sp>
        <p:nvSpPr>
          <p:cNvPr id="36" name="TextBox 35"/>
          <p:cNvSpPr txBox="1"/>
          <p:nvPr/>
        </p:nvSpPr>
        <p:spPr>
          <a:xfrm>
            <a:off x="1074420"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6</a:t>
            </a:r>
          </a:p>
        </p:txBody>
      </p:sp>
      <p:cxnSp>
        <p:nvCxnSpPr>
          <p:cNvPr id="37" name="Connector 36"/>
          <p:cNvCxnSpPr/>
          <p:nvPr/>
        </p:nvCxnSpPr>
        <p:spPr>
          <a:xfrm flipV="1">
            <a:off x="1280160"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1293876"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6</a:t>
            </a:r>
          </a:p>
        </p:txBody>
      </p:sp>
      <p:sp>
        <p:nvSpPr>
          <p:cNvPr id="39" name="TextBox 38"/>
          <p:cNvSpPr txBox="1"/>
          <p:nvPr/>
        </p:nvSpPr>
        <p:spPr>
          <a:xfrm>
            <a:off x="1504188"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3</a:t>
            </a:r>
          </a:p>
        </p:txBody>
      </p:sp>
      <p:cxnSp>
        <p:nvCxnSpPr>
          <p:cNvPr id="40" name="Connector 39"/>
          <p:cNvCxnSpPr/>
          <p:nvPr/>
        </p:nvCxnSpPr>
        <p:spPr>
          <a:xfrm>
            <a:off x="850392" y="4389120"/>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280160" y="4389120"/>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709928" y="4389120"/>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850392" y="4389120"/>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850392" y="4818888"/>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1280160" y="4901184"/>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46" name="TextBox 45"/>
          <p:cNvSpPr txBox="1"/>
          <p:nvPr/>
        </p:nvSpPr>
        <p:spPr>
          <a:xfrm>
            <a:off x="850392" y="4901184"/>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47" name="TextBox 46"/>
          <p:cNvSpPr txBox="1"/>
          <p:nvPr/>
        </p:nvSpPr>
        <p:spPr>
          <a:xfrm>
            <a:off x="502920" y="44988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5</a:t>
            </a:r>
          </a:p>
        </p:txBody>
      </p:sp>
      <p:sp>
        <p:nvSpPr>
          <p:cNvPr id="48" name="TextBox 47"/>
          <p:cNvSpPr txBox="1"/>
          <p:nvPr/>
        </p:nvSpPr>
        <p:spPr>
          <a:xfrm>
            <a:off x="2670048" y="4489704"/>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49" name="TextBox 48"/>
          <p:cNvSpPr txBox="1"/>
          <p:nvPr/>
        </p:nvSpPr>
        <p:spPr>
          <a:xfrm>
            <a:off x="2670048" y="4855464"/>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523</a:t>
            </a:r>
          </a:p>
        </p:txBody>
      </p:sp>
      <p:sp>
        <p:nvSpPr>
          <p:cNvPr id="50" name="Rectangle 49"/>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TextBox 50"/>
          <p:cNvSpPr txBox="1"/>
          <p:nvPr/>
        </p:nvSpPr>
        <p:spPr>
          <a:xfrm>
            <a:off x="475488"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76 × 7</a:t>
            </a:r>
          </a:p>
        </p:txBody>
      </p:sp>
      <p:sp>
        <p:nvSpPr>
          <p:cNvPr id="52" name="TextBox 51"/>
          <p:cNvSpPr txBox="1"/>
          <p:nvPr/>
        </p:nvSpPr>
        <p:spPr>
          <a:xfrm>
            <a:off x="850392"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sp>
        <p:nvSpPr>
          <p:cNvPr id="53" name="TextBox 52"/>
          <p:cNvSpPr txBox="1"/>
          <p:nvPr/>
        </p:nvSpPr>
        <p:spPr>
          <a:xfrm>
            <a:off x="1280160"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sp>
        <p:nvSpPr>
          <p:cNvPr id="54" name="TextBox 53"/>
          <p:cNvSpPr txBox="1"/>
          <p:nvPr/>
        </p:nvSpPr>
        <p:spPr>
          <a:xfrm>
            <a:off x="1773936" y="6501383"/>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cxnSp>
        <p:nvCxnSpPr>
          <p:cNvPr id="55" name="Connector 54"/>
          <p:cNvCxnSpPr/>
          <p:nvPr/>
        </p:nvCxnSpPr>
        <p:spPr>
          <a:xfrm flipV="1">
            <a:off x="850392"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864108"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57" name="TextBox 56"/>
          <p:cNvSpPr txBox="1"/>
          <p:nvPr/>
        </p:nvSpPr>
        <p:spPr>
          <a:xfrm>
            <a:off x="1074420"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9</a:t>
            </a:r>
          </a:p>
        </p:txBody>
      </p:sp>
      <p:cxnSp>
        <p:nvCxnSpPr>
          <p:cNvPr id="58" name="Connector 57"/>
          <p:cNvCxnSpPr/>
          <p:nvPr/>
        </p:nvCxnSpPr>
        <p:spPr>
          <a:xfrm flipV="1">
            <a:off x="1280160"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1293876"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60" name="TextBox 59"/>
          <p:cNvSpPr txBox="1"/>
          <p:nvPr/>
        </p:nvSpPr>
        <p:spPr>
          <a:xfrm>
            <a:off x="1504188"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61" name="Connector 60"/>
          <p:cNvCxnSpPr/>
          <p:nvPr/>
        </p:nvCxnSpPr>
        <p:spPr>
          <a:xfrm>
            <a:off x="850392" y="6391656"/>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1280160" y="6391656"/>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1709928" y="6391656"/>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850392" y="6391656"/>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850392" y="6821424"/>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1280160" y="6903720"/>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67" name="TextBox 66"/>
          <p:cNvSpPr txBox="1"/>
          <p:nvPr/>
        </p:nvSpPr>
        <p:spPr>
          <a:xfrm>
            <a:off x="850392" y="6903720"/>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68" name="TextBox 67"/>
          <p:cNvSpPr txBox="1"/>
          <p:nvPr/>
        </p:nvSpPr>
        <p:spPr>
          <a:xfrm>
            <a:off x="502920" y="6501383"/>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5</a:t>
            </a:r>
          </a:p>
        </p:txBody>
      </p:sp>
      <p:sp>
        <p:nvSpPr>
          <p:cNvPr id="69" name="TextBox 68"/>
          <p:cNvSpPr txBox="1"/>
          <p:nvPr/>
        </p:nvSpPr>
        <p:spPr>
          <a:xfrm>
            <a:off x="713232" y="6501383"/>
            <a:ext cx="173736" cy="246888"/>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70" name="TextBox 69"/>
          <p:cNvSpPr txBox="1"/>
          <p:nvPr/>
        </p:nvSpPr>
        <p:spPr>
          <a:xfrm>
            <a:off x="2670048" y="6492240"/>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71" name="TextBox 70"/>
          <p:cNvSpPr txBox="1"/>
          <p:nvPr/>
        </p:nvSpPr>
        <p:spPr>
          <a:xfrm>
            <a:off x="2670048" y="6858000"/>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5,132</a:t>
            </a:r>
          </a:p>
        </p:txBody>
      </p:sp>
      <p:sp>
        <p:nvSpPr>
          <p:cNvPr id="72" name="Rectangle 71"/>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TextBox 72"/>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74" name="Rectangle 73"/>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TextBox 74"/>
          <p:cNvSpPr txBox="1"/>
          <p:nvPr/>
        </p:nvSpPr>
        <p:spPr>
          <a:xfrm>
            <a:off x="5096256"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34 × 16</a:t>
            </a:r>
          </a:p>
        </p:txBody>
      </p:sp>
      <p:sp>
        <p:nvSpPr>
          <p:cNvPr id="76" name="TextBox 75"/>
          <p:cNvSpPr txBox="1"/>
          <p:nvPr/>
        </p:nvSpPr>
        <p:spPr>
          <a:xfrm>
            <a:off x="5471160"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3</a:t>
            </a:r>
          </a:p>
        </p:txBody>
      </p:sp>
      <p:sp>
        <p:nvSpPr>
          <p:cNvPr id="77" name="TextBox 76"/>
          <p:cNvSpPr txBox="1"/>
          <p:nvPr/>
        </p:nvSpPr>
        <p:spPr>
          <a:xfrm>
            <a:off x="5900928"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78" name="TextBox 77"/>
          <p:cNvSpPr txBox="1"/>
          <p:nvPr/>
        </p:nvSpPr>
        <p:spPr>
          <a:xfrm>
            <a:off x="6394704" y="249631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1</a:t>
            </a:r>
          </a:p>
        </p:txBody>
      </p:sp>
      <p:sp>
        <p:nvSpPr>
          <p:cNvPr id="79" name="TextBox 78"/>
          <p:cNvSpPr txBox="1"/>
          <p:nvPr/>
        </p:nvSpPr>
        <p:spPr>
          <a:xfrm>
            <a:off x="6394704" y="2926079"/>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cxnSp>
        <p:nvCxnSpPr>
          <p:cNvPr id="80" name="Connector 79"/>
          <p:cNvCxnSpPr/>
          <p:nvPr/>
        </p:nvCxnSpPr>
        <p:spPr>
          <a:xfrm flipV="1">
            <a:off x="5471160"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5484876"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sp>
        <p:nvSpPr>
          <p:cNvPr id="82" name="TextBox 81"/>
          <p:cNvSpPr txBox="1"/>
          <p:nvPr/>
        </p:nvSpPr>
        <p:spPr>
          <a:xfrm>
            <a:off x="5695188"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3</a:t>
            </a:r>
          </a:p>
        </p:txBody>
      </p:sp>
      <p:cxnSp>
        <p:nvCxnSpPr>
          <p:cNvPr id="83" name="Connector 82"/>
          <p:cNvCxnSpPr/>
          <p:nvPr/>
        </p:nvCxnSpPr>
        <p:spPr>
          <a:xfrm flipV="1">
            <a:off x="5900928"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5914644"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sp>
        <p:nvSpPr>
          <p:cNvPr id="85" name="TextBox 84"/>
          <p:cNvSpPr txBox="1"/>
          <p:nvPr/>
        </p:nvSpPr>
        <p:spPr>
          <a:xfrm>
            <a:off x="6124956"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86" name="Connector 85"/>
          <p:cNvCxnSpPr/>
          <p:nvPr/>
        </p:nvCxnSpPr>
        <p:spPr>
          <a:xfrm flipV="1">
            <a:off x="5471160"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5484876"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88" name="TextBox 87"/>
          <p:cNvSpPr txBox="1"/>
          <p:nvPr/>
        </p:nvSpPr>
        <p:spPr>
          <a:xfrm>
            <a:off x="5695188"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89" name="Connector 88"/>
          <p:cNvCxnSpPr/>
          <p:nvPr/>
        </p:nvCxnSpPr>
        <p:spPr>
          <a:xfrm flipV="1">
            <a:off x="5900928"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5914644"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91" name="TextBox 90"/>
          <p:cNvSpPr txBox="1"/>
          <p:nvPr/>
        </p:nvSpPr>
        <p:spPr>
          <a:xfrm>
            <a:off x="6124956"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92" name="Connector 91"/>
          <p:cNvCxnSpPr/>
          <p:nvPr/>
        </p:nvCxnSpPr>
        <p:spPr>
          <a:xfrm>
            <a:off x="5471160"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5900928"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6330696"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5471160" y="2386584"/>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5471160" y="2816352"/>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5471160" y="3246120"/>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5900928"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6</a:t>
            </a:r>
          </a:p>
        </p:txBody>
      </p:sp>
      <p:sp>
        <p:nvSpPr>
          <p:cNvPr id="99" name="TextBox 98"/>
          <p:cNvSpPr txBox="1"/>
          <p:nvPr/>
        </p:nvSpPr>
        <p:spPr>
          <a:xfrm>
            <a:off x="5471160"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100" name="TextBox 99"/>
          <p:cNvSpPr txBox="1"/>
          <p:nvPr/>
        </p:nvSpPr>
        <p:spPr>
          <a:xfrm>
            <a:off x="5123688" y="2926079"/>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5</a:t>
            </a:r>
          </a:p>
        </p:txBody>
      </p:sp>
      <p:sp>
        <p:nvSpPr>
          <p:cNvPr id="101" name="TextBox 100"/>
          <p:cNvSpPr txBox="1"/>
          <p:nvPr/>
        </p:nvSpPr>
        <p:spPr>
          <a:xfrm>
            <a:off x="5352288" y="2871215"/>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102" name="TextBox 101"/>
          <p:cNvSpPr txBox="1"/>
          <p:nvPr/>
        </p:nvSpPr>
        <p:spPr>
          <a:xfrm>
            <a:off x="7290816" y="2487168"/>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103" name="TextBox 102"/>
          <p:cNvSpPr txBox="1"/>
          <p:nvPr/>
        </p:nvSpPr>
        <p:spPr>
          <a:xfrm>
            <a:off x="7290816" y="2852928"/>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526</a:t>
            </a:r>
          </a:p>
        </p:txBody>
      </p:sp>
      <p:sp>
        <p:nvSpPr>
          <p:cNvPr id="104" name="Rectangle 103"/>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5" name="TextBox 104"/>
          <p:cNvSpPr txBox="1"/>
          <p:nvPr/>
        </p:nvSpPr>
        <p:spPr>
          <a:xfrm>
            <a:off x="5096256"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47 × 26</a:t>
            </a:r>
          </a:p>
        </p:txBody>
      </p:sp>
      <p:sp>
        <p:nvSpPr>
          <p:cNvPr id="106" name="TextBox 105"/>
          <p:cNvSpPr txBox="1"/>
          <p:nvPr/>
        </p:nvSpPr>
        <p:spPr>
          <a:xfrm>
            <a:off x="5471160"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107" name="TextBox 106"/>
          <p:cNvSpPr txBox="1"/>
          <p:nvPr/>
        </p:nvSpPr>
        <p:spPr>
          <a:xfrm>
            <a:off x="5900928"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sp>
        <p:nvSpPr>
          <p:cNvPr id="108" name="TextBox 107"/>
          <p:cNvSpPr txBox="1"/>
          <p:nvPr/>
        </p:nvSpPr>
        <p:spPr>
          <a:xfrm>
            <a:off x="6394704" y="4498848"/>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2</a:t>
            </a:r>
          </a:p>
        </p:txBody>
      </p:sp>
      <p:sp>
        <p:nvSpPr>
          <p:cNvPr id="109" name="TextBox 108"/>
          <p:cNvSpPr txBox="1"/>
          <p:nvPr/>
        </p:nvSpPr>
        <p:spPr>
          <a:xfrm>
            <a:off x="6394704" y="4928616"/>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cxnSp>
        <p:nvCxnSpPr>
          <p:cNvPr id="110" name="Connector 109"/>
          <p:cNvCxnSpPr/>
          <p:nvPr/>
        </p:nvCxnSpPr>
        <p:spPr>
          <a:xfrm flipV="1">
            <a:off x="5471160"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5484876"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sp>
        <p:nvSpPr>
          <p:cNvPr id="112" name="TextBox 111"/>
          <p:cNvSpPr txBox="1"/>
          <p:nvPr/>
        </p:nvSpPr>
        <p:spPr>
          <a:xfrm>
            <a:off x="5695188"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113" name="Connector 112"/>
          <p:cNvCxnSpPr/>
          <p:nvPr/>
        </p:nvCxnSpPr>
        <p:spPr>
          <a:xfrm flipV="1">
            <a:off x="5900928"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4" name="TextBox 113"/>
          <p:cNvSpPr txBox="1"/>
          <p:nvPr/>
        </p:nvSpPr>
        <p:spPr>
          <a:xfrm>
            <a:off x="5914644"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15" name="TextBox 114"/>
          <p:cNvSpPr txBox="1"/>
          <p:nvPr/>
        </p:nvSpPr>
        <p:spPr>
          <a:xfrm>
            <a:off x="6124956"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16" name="Connector 115"/>
          <p:cNvCxnSpPr/>
          <p:nvPr/>
        </p:nvCxnSpPr>
        <p:spPr>
          <a:xfrm flipV="1">
            <a:off x="5471160"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7" name="TextBox 116"/>
          <p:cNvSpPr txBox="1"/>
          <p:nvPr/>
        </p:nvSpPr>
        <p:spPr>
          <a:xfrm>
            <a:off x="5484876"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118" name="TextBox 117"/>
          <p:cNvSpPr txBox="1"/>
          <p:nvPr/>
        </p:nvSpPr>
        <p:spPr>
          <a:xfrm>
            <a:off x="5695188"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19" name="Connector 118"/>
          <p:cNvCxnSpPr/>
          <p:nvPr/>
        </p:nvCxnSpPr>
        <p:spPr>
          <a:xfrm flipV="1">
            <a:off x="5900928"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5914644"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121" name="TextBox 120"/>
          <p:cNvSpPr txBox="1"/>
          <p:nvPr/>
        </p:nvSpPr>
        <p:spPr>
          <a:xfrm>
            <a:off x="6124956"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122" name="Connector 121"/>
          <p:cNvCxnSpPr/>
          <p:nvPr/>
        </p:nvCxnSpPr>
        <p:spPr>
          <a:xfrm>
            <a:off x="5471160"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5900928"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6330696"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5471160" y="4389120"/>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5471160" y="4818888"/>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a:off x="5471160" y="5248656"/>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8" name="TextBox 127"/>
          <p:cNvSpPr txBox="1"/>
          <p:nvPr/>
        </p:nvSpPr>
        <p:spPr>
          <a:xfrm>
            <a:off x="5900928"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129" name="TextBox 128"/>
          <p:cNvSpPr txBox="1"/>
          <p:nvPr/>
        </p:nvSpPr>
        <p:spPr>
          <a:xfrm>
            <a:off x="5471160"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130" name="TextBox 129"/>
          <p:cNvSpPr txBox="1"/>
          <p:nvPr/>
        </p:nvSpPr>
        <p:spPr>
          <a:xfrm>
            <a:off x="5123688" y="4928616"/>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131" name="TextBox 130"/>
          <p:cNvSpPr txBox="1"/>
          <p:nvPr/>
        </p:nvSpPr>
        <p:spPr>
          <a:xfrm>
            <a:off x="5123688" y="44988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132" name="TextBox 131"/>
          <p:cNvSpPr txBox="1"/>
          <p:nvPr/>
        </p:nvSpPr>
        <p:spPr>
          <a:xfrm>
            <a:off x="5352288" y="4443984"/>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133" name="TextBox 132"/>
          <p:cNvSpPr txBox="1"/>
          <p:nvPr/>
        </p:nvSpPr>
        <p:spPr>
          <a:xfrm>
            <a:off x="7290816" y="4489704"/>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134" name="TextBox 133"/>
          <p:cNvSpPr txBox="1"/>
          <p:nvPr/>
        </p:nvSpPr>
        <p:spPr>
          <a:xfrm>
            <a:off x="7290816" y="4855464"/>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1,122</a:t>
            </a:r>
          </a:p>
        </p:txBody>
      </p:sp>
      <p:sp>
        <p:nvSpPr>
          <p:cNvPr id="135" name="Rectangle 134"/>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6" name="TextBox 135"/>
          <p:cNvSpPr txBox="1"/>
          <p:nvPr/>
        </p:nvSpPr>
        <p:spPr>
          <a:xfrm>
            <a:off x="5096256"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68 × 24</a:t>
            </a:r>
          </a:p>
        </p:txBody>
      </p:sp>
      <p:sp>
        <p:nvSpPr>
          <p:cNvPr id="137" name="TextBox 136"/>
          <p:cNvSpPr txBox="1"/>
          <p:nvPr/>
        </p:nvSpPr>
        <p:spPr>
          <a:xfrm>
            <a:off x="5471160"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sp>
        <p:nvSpPr>
          <p:cNvPr id="138" name="TextBox 137"/>
          <p:cNvSpPr txBox="1"/>
          <p:nvPr/>
        </p:nvSpPr>
        <p:spPr>
          <a:xfrm>
            <a:off x="5900928"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8</a:t>
            </a:r>
          </a:p>
        </p:txBody>
      </p:sp>
      <p:sp>
        <p:nvSpPr>
          <p:cNvPr id="139" name="TextBox 138"/>
          <p:cNvSpPr txBox="1"/>
          <p:nvPr/>
        </p:nvSpPr>
        <p:spPr>
          <a:xfrm>
            <a:off x="6394704" y="6501383"/>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2</a:t>
            </a:r>
          </a:p>
        </p:txBody>
      </p:sp>
      <p:sp>
        <p:nvSpPr>
          <p:cNvPr id="140" name="TextBox 139"/>
          <p:cNvSpPr txBox="1"/>
          <p:nvPr/>
        </p:nvSpPr>
        <p:spPr>
          <a:xfrm>
            <a:off x="6394704" y="693115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cxnSp>
        <p:nvCxnSpPr>
          <p:cNvPr id="141" name="Connector 140"/>
          <p:cNvCxnSpPr/>
          <p:nvPr/>
        </p:nvCxnSpPr>
        <p:spPr>
          <a:xfrm flipV="1">
            <a:off x="5471160"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2" name="TextBox 141"/>
          <p:cNvSpPr txBox="1"/>
          <p:nvPr/>
        </p:nvSpPr>
        <p:spPr>
          <a:xfrm>
            <a:off x="5484876"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43" name="TextBox 142"/>
          <p:cNvSpPr txBox="1"/>
          <p:nvPr/>
        </p:nvSpPr>
        <p:spPr>
          <a:xfrm>
            <a:off x="5695188"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144" name="Connector 143"/>
          <p:cNvCxnSpPr/>
          <p:nvPr/>
        </p:nvCxnSpPr>
        <p:spPr>
          <a:xfrm flipV="1">
            <a:off x="5900928"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5" name="TextBox 144"/>
          <p:cNvSpPr txBox="1"/>
          <p:nvPr/>
        </p:nvSpPr>
        <p:spPr>
          <a:xfrm>
            <a:off x="5914644"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46" name="TextBox 145"/>
          <p:cNvSpPr txBox="1"/>
          <p:nvPr/>
        </p:nvSpPr>
        <p:spPr>
          <a:xfrm>
            <a:off x="6124956"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6</a:t>
            </a:r>
          </a:p>
        </p:txBody>
      </p:sp>
      <p:cxnSp>
        <p:nvCxnSpPr>
          <p:cNvPr id="147" name="Connector 146"/>
          <p:cNvCxnSpPr/>
          <p:nvPr/>
        </p:nvCxnSpPr>
        <p:spPr>
          <a:xfrm flipV="1">
            <a:off x="5471160"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8" name="TextBox 147"/>
          <p:cNvSpPr txBox="1"/>
          <p:nvPr/>
        </p:nvSpPr>
        <p:spPr>
          <a:xfrm>
            <a:off x="5484876"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149" name="TextBox 148"/>
          <p:cNvSpPr txBox="1"/>
          <p:nvPr/>
        </p:nvSpPr>
        <p:spPr>
          <a:xfrm>
            <a:off x="5695188"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50" name="Connector 149"/>
          <p:cNvCxnSpPr/>
          <p:nvPr/>
        </p:nvCxnSpPr>
        <p:spPr>
          <a:xfrm flipV="1">
            <a:off x="5900928"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51" name="TextBox 150"/>
          <p:cNvSpPr txBox="1"/>
          <p:nvPr/>
        </p:nvSpPr>
        <p:spPr>
          <a:xfrm>
            <a:off x="5914644"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3</a:t>
            </a:r>
          </a:p>
        </p:txBody>
      </p:sp>
      <p:sp>
        <p:nvSpPr>
          <p:cNvPr id="152" name="TextBox 151"/>
          <p:cNvSpPr txBox="1"/>
          <p:nvPr/>
        </p:nvSpPr>
        <p:spPr>
          <a:xfrm>
            <a:off x="6124956"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153" name="Connector 152"/>
          <p:cNvCxnSpPr/>
          <p:nvPr/>
        </p:nvCxnSpPr>
        <p:spPr>
          <a:xfrm>
            <a:off x="5471160"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a:off x="5900928"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a:off x="6330696"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a:off x="5471160" y="6391656"/>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a:off x="5471160" y="6821424"/>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a:off x="5471160" y="7251192"/>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59" name="TextBox 158"/>
          <p:cNvSpPr txBox="1"/>
          <p:nvPr/>
        </p:nvSpPr>
        <p:spPr>
          <a:xfrm>
            <a:off x="5900928"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160" name="TextBox 159"/>
          <p:cNvSpPr txBox="1"/>
          <p:nvPr/>
        </p:nvSpPr>
        <p:spPr>
          <a:xfrm>
            <a:off x="5471160"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161" name="TextBox 160"/>
          <p:cNvSpPr txBox="1"/>
          <p:nvPr/>
        </p:nvSpPr>
        <p:spPr>
          <a:xfrm>
            <a:off x="5123688" y="69311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6</a:t>
            </a:r>
          </a:p>
        </p:txBody>
      </p:sp>
      <p:sp>
        <p:nvSpPr>
          <p:cNvPr id="162" name="TextBox 161"/>
          <p:cNvSpPr txBox="1"/>
          <p:nvPr/>
        </p:nvSpPr>
        <p:spPr>
          <a:xfrm>
            <a:off x="5334000" y="6931152"/>
            <a:ext cx="173736" cy="246888"/>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163" name="TextBox 162"/>
          <p:cNvSpPr txBox="1"/>
          <p:nvPr/>
        </p:nvSpPr>
        <p:spPr>
          <a:xfrm>
            <a:off x="5123688" y="6501383"/>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164" name="TextBox 163"/>
          <p:cNvSpPr txBox="1"/>
          <p:nvPr/>
        </p:nvSpPr>
        <p:spPr>
          <a:xfrm>
            <a:off x="7290816" y="6492240"/>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165" name="TextBox 164"/>
          <p:cNvSpPr txBox="1"/>
          <p:nvPr/>
        </p:nvSpPr>
        <p:spPr>
          <a:xfrm>
            <a:off x="7290816" y="6858000"/>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16,132</a:t>
            </a:r>
          </a:p>
        </p:txBody>
      </p:sp>
      <p:sp>
        <p:nvSpPr>
          <p:cNvPr id="166" name="Rectangle 165"/>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7" name="TextBox 166"/>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68" name="Rectangle 167"/>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9" name="TextBox 168"/>
          <p:cNvSpPr txBox="1"/>
          <p:nvPr/>
        </p:nvSpPr>
        <p:spPr>
          <a:xfrm>
            <a:off x="9717024"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234 × 56</a:t>
            </a:r>
          </a:p>
        </p:txBody>
      </p:sp>
      <p:sp>
        <p:nvSpPr>
          <p:cNvPr id="170" name="TextBox 169"/>
          <p:cNvSpPr txBox="1"/>
          <p:nvPr/>
        </p:nvSpPr>
        <p:spPr>
          <a:xfrm>
            <a:off x="10091928"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2</a:t>
            </a:r>
          </a:p>
        </p:txBody>
      </p:sp>
      <p:sp>
        <p:nvSpPr>
          <p:cNvPr id="171" name="TextBox 170"/>
          <p:cNvSpPr txBox="1"/>
          <p:nvPr/>
        </p:nvSpPr>
        <p:spPr>
          <a:xfrm>
            <a:off x="10521696"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3</a:t>
            </a:r>
          </a:p>
        </p:txBody>
      </p:sp>
      <p:sp>
        <p:nvSpPr>
          <p:cNvPr id="172" name="TextBox 171"/>
          <p:cNvSpPr txBox="1"/>
          <p:nvPr/>
        </p:nvSpPr>
        <p:spPr>
          <a:xfrm>
            <a:off x="10951464"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173" name="TextBox 172"/>
          <p:cNvSpPr txBox="1"/>
          <p:nvPr/>
        </p:nvSpPr>
        <p:spPr>
          <a:xfrm>
            <a:off x="11445240" y="249631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5</a:t>
            </a:r>
          </a:p>
        </p:txBody>
      </p:sp>
      <p:sp>
        <p:nvSpPr>
          <p:cNvPr id="174" name="TextBox 173"/>
          <p:cNvSpPr txBox="1"/>
          <p:nvPr/>
        </p:nvSpPr>
        <p:spPr>
          <a:xfrm>
            <a:off x="11445240" y="2926079"/>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cxnSp>
        <p:nvCxnSpPr>
          <p:cNvPr id="175" name="Connector 174"/>
          <p:cNvCxnSpPr/>
          <p:nvPr/>
        </p:nvCxnSpPr>
        <p:spPr>
          <a:xfrm flipV="1">
            <a:off x="10091928"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76" name="TextBox 175"/>
          <p:cNvSpPr txBox="1"/>
          <p:nvPr/>
        </p:nvSpPr>
        <p:spPr>
          <a:xfrm>
            <a:off x="10105644"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77" name="TextBox 176"/>
          <p:cNvSpPr txBox="1"/>
          <p:nvPr/>
        </p:nvSpPr>
        <p:spPr>
          <a:xfrm>
            <a:off x="10315956"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cxnSp>
        <p:nvCxnSpPr>
          <p:cNvPr id="178" name="Connector 177"/>
          <p:cNvCxnSpPr/>
          <p:nvPr/>
        </p:nvCxnSpPr>
        <p:spPr>
          <a:xfrm flipV="1">
            <a:off x="10521696"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79" name="TextBox 178"/>
          <p:cNvSpPr txBox="1"/>
          <p:nvPr/>
        </p:nvSpPr>
        <p:spPr>
          <a:xfrm>
            <a:off x="10535412"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80" name="TextBox 179"/>
          <p:cNvSpPr txBox="1"/>
          <p:nvPr/>
        </p:nvSpPr>
        <p:spPr>
          <a:xfrm>
            <a:off x="10745724"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cxnSp>
        <p:nvCxnSpPr>
          <p:cNvPr id="181" name="Connector 180"/>
          <p:cNvCxnSpPr/>
          <p:nvPr/>
        </p:nvCxnSpPr>
        <p:spPr>
          <a:xfrm flipV="1">
            <a:off x="10951464"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82" name="TextBox 181"/>
          <p:cNvSpPr txBox="1"/>
          <p:nvPr/>
        </p:nvSpPr>
        <p:spPr>
          <a:xfrm>
            <a:off x="10965180"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183" name="TextBox 182"/>
          <p:cNvSpPr txBox="1"/>
          <p:nvPr/>
        </p:nvSpPr>
        <p:spPr>
          <a:xfrm>
            <a:off x="11175492"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cxnSp>
        <p:nvCxnSpPr>
          <p:cNvPr id="184" name="Connector 183"/>
          <p:cNvCxnSpPr/>
          <p:nvPr/>
        </p:nvCxnSpPr>
        <p:spPr>
          <a:xfrm flipV="1">
            <a:off x="10091928"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85" name="TextBox 184"/>
          <p:cNvSpPr txBox="1"/>
          <p:nvPr/>
        </p:nvSpPr>
        <p:spPr>
          <a:xfrm>
            <a:off x="10105644"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86" name="TextBox 185"/>
          <p:cNvSpPr txBox="1"/>
          <p:nvPr/>
        </p:nvSpPr>
        <p:spPr>
          <a:xfrm>
            <a:off x="10315956"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187" name="Connector 186"/>
          <p:cNvCxnSpPr/>
          <p:nvPr/>
        </p:nvCxnSpPr>
        <p:spPr>
          <a:xfrm flipV="1">
            <a:off x="10521696"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88" name="TextBox 187"/>
          <p:cNvSpPr txBox="1"/>
          <p:nvPr/>
        </p:nvSpPr>
        <p:spPr>
          <a:xfrm>
            <a:off x="10535412"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89" name="TextBox 188"/>
          <p:cNvSpPr txBox="1"/>
          <p:nvPr/>
        </p:nvSpPr>
        <p:spPr>
          <a:xfrm>
            <a:off x="10745724"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190" name="Connector 189"/>
          <p:cNvCxnSpPr/>
          <p:nvPr/>
        </p:nvCxnSpPr>
        <p:spPr>
          <a:xfrm flipV="1">
            <a:off x="10951464"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91" name="TextBox 190"/>
          <p:cNvSpPr txBox="1"/>
          <p:nvPr/>
        </p:nvSpPr>
        <p:spPr>
          <a:xfrm>
            <a:off x="10965180"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192" name="TextBox 191"/>
          <p:cNvSpPr txBox="1"/>
          <p:nvPr/>
        </p:nvSpPr>
        <p:spPr>
          <a:xfrm>
            <a:off x="11175492"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93" name="Connector 192"/>
          <p:cNvCxnSpPr/>
          <p:nvPr/>
        </p:nvCxnSpPr>
        <p:spPr>
          <a:xfrm>
            <a:off x="10091928"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a:off x="10521696"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a:off x="10951464"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a:off x="11381232"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a:off x="10091928" y="2386584"/>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a:off x="10091928" y="2816352"/>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a:off x="10091928" y="3246120"/>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00" name="TextBox 199"/>
          <p:cNvSpPr txBox="1"/>
          <p:nvPr/>
        </p:nvSpPr>
        <p:spPr>
          <a:xfrm>
            <a:off x="10951464"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6</a:t>
            </a:r>
          </a:p>
        </p:txBody>
      </p:sp>
      <p:sp>
        <p:nvSpPr>
          <p:cNvPr id="201" name="TextBox 200"/>
          <p:cNvSpPr txBox="1"/>
          <p:nvPr/>
        </p:nvSpPr>
        <p:spPr>
          <a:xfrm>
            <a:off x="10521696"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8</a:t>
            </a:r>
          </a:p>
        </p:txBody>
      </p:sp>
      <p:sp>
        <p:nvSpPr>
          <p:cNvPr id="202" name="TextBox 201"/>
          <p:cNvSpPr txBox="1"/>
          <p:nvPr/>
        </p:nvSpPr>
        <p:spPr>
          <a:xfrm>
            <a:off x="10091928"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0</a:t>
            </a:r>
          </a:p>
        </p:txBody>
      </p:sp>
      <p:sp>
        <p:nvSpPr>
          <p:cNvPr id="203" name="TextBox 202"/>
          <p:cNvSpPr txBox="1"/>
          <p:nvPr/>
        </p:nvSpPr>
        <p:spPr>
          <a:xfrm>
            <a:off x="9744456" y="2926079"/>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204" name="TextBox 203"/>
          <p:cNvSpPr txBox="1"/>
          <p:nvPr/>
        </p:nvSpPr>
        <p:spPr>
          <a:xfrm>
            <a:off x="9973056" y="2871215"/>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205" name="TextBox 204"/>
          <p:cNvSpPr txBox="1"/>
          <p:nvPr/>
        </p:nvSpPr>
        <p:spPr>
          <a:xfrm>
            <a:off x="9744456" y="249631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206" name="TextBox 205"/>
          <p:cNvSpPr txBox="1"/>
          <p:nvPr/>
        </p:nvSpPr>
        <p:spPr>
          <a:xfrm>
            <a:off x="11911584" y="2487168"/>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207" name="TextBox 206"/>
          <p:cNvSpPr txBox="1"/>
          <p:nvPr/>
        </p:nvSpPr>
        <p:spPr>
          <a:xfrm>
            <a:off x="11911584" y="2852928"/>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13,086</a:t>
            </a:r>
          </a:p>
        </p:txBody>
      </p:sp>
      <p:sp>
        <p:nvSpPr>
          <p:cNvPr id="208" name="Rectangle 207"/>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9" name="TextBox 208"/>
          <p:cNvSpPr txBox="1"/>
          <p:nvPr/>
        </p:nvSpPr>
        <p:spPr>
          <a:xfrm>
            <a:off x="9717024"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476 × 82</a:t>
            </a:r>
          </a:p>
        </p:txBody>
      </p:sp>
      <p:sp>
        <p:nvSpPr>
          <p:cNvPr id="210" name="TextBox 209"/>
          <p:cNvSpPr txBox="1"/>
          <p:nvPr/>
        </p:nvSpPr>
        <p:spPr>
          <a:xfrm>
            <a:off x="10091928"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211" name="TextBox 210"/>
          <p:cNvSpPr txBox="1"/>
          <p:nvPr/>
        </p:nvSpPr>
        <p:spPr>
          <a:xfrm>
            <a:off x="10521696"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sp>
        <p:nvSpPr>
          <p:cNvPr id="212" name="TextBox 211"/>
          <p:cNvSpPr txBox="1"/>
          <p:nvPr/>
        </p:nvSpPr>
        <p:spPr>
          <a:xfrm>
            <a:off x="10951464"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sp>
        <p:nvSpPr>
          <p:cNvPr id="213" name="TextBox 212"/>
          <p:cNvSpPr txBox="1"/>
          <p:nvPr/>
        </p:nvSpPr>
        <p:spPr>
          <a:xfrm>
            <a:off x="11445240" y="4498848"/>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8</a:t>
            </a:r>
          </a:p>
        </p:txBody>
      </p:sp>
      <p:sp>
        <p:nvSpPr>
          <p:cNvPr id="214" name="TextBox 213"/>
          <p:cNvSpPr txBox="1"/>
          <p:nvPr/>
        </p:nvSpPr>
        <p:spPr>
          <a:xfrm>
            <a:off x="11445240" y="4928616"/>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2</a:t>
            </a:r>
          </a:p>
        </p:txBody>
      </p:sp>
      <p:cxnSp>
        <p:nvCxnSpPr>
          <p:cNvPr id="215" name="Connector 214"/>
          <p:cNvCxnSpPr/>
          <p:nvPr/>
        </p:nvCxnSpPr>
        <p:spPr>
          <a:xfrm flipV="1">
            <a:off x="10091928"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16" name="TextBox 215"/>
          <p:cNvSpPr txBox="1"/>
          <p:nvPr/>
        </p:nvSpPr>
        <p:spPr>
          <a:xfrm>
            <a:off x="10105644"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3</a:t>
            </a:r>
          </a:p>
        </p:txBody>
      </p:sp>
      <p:sp>
        <p:nvSpPr>
          <p:cNvPr id="217" name="TextBox 216"/>
          <p:cNvSpPr txBox="1"/>
          <p:nvPr/>
        </p:nvSpPr>
        <p:spPr>
          <a:xfrm>
            <a:off x="10315956"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218" name="Connector 217"/>
          <p:cNvCxnSpPr/>
          <p:nvPr/>
        </p:nvCxnSpPr>
        <p:spPr>
          <a:xfrm flipV="1">
            <a:off x="10521696"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19" name="TextBox 218"/>
          <p:cNvSpPr txBox="1"/>
          <p:nvPr/>
        </p:nvSpPr>
        <p:spPr>
          <a:xfrm>
            <a:off x="10535412"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sp>
        <p:nvSpPr>
          <p:cNvPr id="220" name="TextBox 219"/>
          <p:cNvSpPr txBox="1"/>
          <p:nvPr/>
        </p:nvSpPr>
        <p:spPr>
          <a:xfrm>
            <a:off x="10745724"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6</a:t>
            </a:r>
          </a:p>
        </p:txBody>
      </p:sp>
      <p:cxnSp>
        <p:nvCxnSpPr>
          <p:cNvPr id="221" name="Connector 220"/>
          <p:cNvCxnSpPr/>
          <p:nvPr/>
        </p:nvCxnSpPr>
        <p:spPr>
          <a:xfrm flipV="1">
            <a:off x="10951464"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22" name="TextBox 221"/>
          <p:cNvSpPr txBox="1"/>
          <p:nvPr/>
        </p:nvSpPr>
        <p:spPr>
          <a:xfrm>
            <a:off x="10965180"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223" name="TextBox 222"/>
          <p:cNvSpPr txBox="1"/>
          <p:nvPr/>
        </p:nvSpPr>
        <p:spPr>
          <a:xfrm>
            <a:off x="11175492"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224" name="Connector 223"/>
          <p:cNvCxnSpPr/>
          <p:nvPr/>
        </p:nvCxnSpPr>
        <p:spPr>
          <a:xfrm flipV="1">
            <a:off x="10091928"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25" name="TextBox 224"/>
          <p:cNvSpPr txBox="1"/>
          <p:nvPr/>
        </p:nvSpPr>
        <p:spPr>
          <a:xfrm>
            <a:off x="10105644"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sp>
        <p:nvSpPr>
          <p:cNvPr id="226" name="TextBox 225"/>
          <p:cNvSpPr txBox="1"/>
          <p:nvPr/>
        </p:nvSpPr>
        <p:spPr>
          <a:xfrm>
            <a:off x="10315956"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227" name="Connector 226"/>
          <p:cNvCxnSpPr/>
          <p:nvPr/>
        </p:nvCxnSpPr>
        <p:spPr>
          <a:xfrm flipV="1">
            <a:off x="10521696"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28" name="TextBox 227"/>
          <p:cNvSpPr txBox="1"/>
          <p:nvPr/>
        </p:nvSpPr>
        <p:spPr>
          <a:xfrm>
            <a:off x="10535412"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229" name="TextBox 228"/>
          <p:cNvSpPr txBox="1"/>
          <p:nvPr/>
        </p:nvSpPr>
        <p:spPr>
          <a:xfrm>
            <a:off x="10745724"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230" name="Connector 229"/>
          <p:cNvCxnSpPr/>
          <p:nvPr/>
        </p:nvCxnSpPr>
        <p:spPr>
          <a:xfrm flipV="1">
            <a:off x="10951464"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31" name="TextBox 230"/>
          <p:cNvSpPr txBox="1"/>
          <p:nvPr/>
        </p:nvSpPr>
        <p:spPr>
          <a:xfrm>
            <a:off x="10965180"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232" name="TextBox 231"/>
          <p:cNvSpPr txBox="1"/>
          <p:nvPr/>
        </p:nvSpPr>
        <p:spPr>
          <a:xfrm>
            <a:off x="11175492"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233" name="Connector 232"/>
          <p:cNvCxnSpPr/>
          <p:nvPr/>
        </p:nvCxnSpPr>
        <p:spPr>
          <a:xfrm>
            <a:off x="10091928"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10521696"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10951464"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11381232"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10091928" y="4389120"/>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10091928" y="4818888"/>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10091928" y="5248656"/>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40" name="TextBox 239"/>
          <p:cNvSpPr txBox="1"/>
          <p:nvPr/>
        </p:nvSpPr>
        <p:spPr>
          <a:xfrm>
            <a:off x="10951464"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241" name="TextBox 240"/>
          <p:cNvSpPr txBox="1"/>
          <p:nvPr/>
        </p:nvSpPr>
        <p:spPr>
          <a:xfrm>
            <a:off x="10521696"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242" name="TextBox 241"/>
          <p:cNvSpPr txBox="1"/>
          <p:nvPr/>
        </p:nvSpPr>
        <p:spPr>
          <a:xfrm>
            <a:off x="10091928"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9</a:t>
            </a:r>
          </a:p>
        </p:txBody>
      </p:sp>
      <p:sp>
        <p:nvSpPr>
          <p:cNvPr id="243" name="TextBox 242"/>
          <p:cNvSpPr txBox="1"/>
          <p:nvPr/>
        </p:nvSpPr>
        <p:spPr>
          <a:xfrm>
            <a:off x="9744456" y="4928616"/>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8</a:t>
            </a:r>
          </a:p>
        </p:txBody>
      </p:sp>
      <p:sp>
        <p:nvSpPr>
          <p:cNvPr id="244" name="TextBox 243"/>
          <p:cNvSpPr txBox="1"/>
          <p:nvPr/>
        </p:nvSpPr>
        <p:spPr>
          <a:xfrm>
            <a:off x="9973056" y="4873752"/>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245" name="TextBox 244"/>
          <p:cNvSpPr txBox="1"/>
          <p:nvPr/>
        </p:nvSpPr>
        <p:spPr>
          <a:xfrm>
            <a:off x="9744456" y="44988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246" name="TextBox 245"/>
          <p:cNvSpPr txBox="1"/>
          <p:nvPr/>
        </p:nvSpPr>
        <p:spPr>
          <a:xfrm>
            <a:off x="11911584" y="4489704"/>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247" name="TextBox 246"/>
          <p:cNvSpPr txBox="1"/>
          <p:nvPr/>
        </p:nvSpPr>
        <p:spPr>
          <a:xfrm>
            <a:off x="11911584" y="4855464"/>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38,932</a:t>
            </a:r>
          </a:p>
        </p:txBody>
      </p:sp>
      <p:sp>
        <p:nvSpPr>
          <p:cNvPr id="248" name="Rectangle 247"/>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9" name="TextBox 248"/>
          <p:cNvSpPr txBox="1"/>
          <p:nvPr/>
        </p:nvSpPr>
        <p:spPr>
          <a:xfrm>
            <a:off x="9717024"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638 × 59</a:t>
            </a:r>
          </a:p>
        </p:txBody>
      </p:sp>
      <p:sp>
        <p:nvSpPr>
          <p:cNvPr id="250" name="TextBox 249"/>
          <p:cNvSpPr txBox="1"/>
          <p:nvPr/>
        </p:nvSpPr>
        <p:spPr>
          <a:xfrm>
            <a:off x="10091928"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sp>
        <p:nvSpPr>
          <p:cNvPr id="251" name="TextBox 250"/>
          <p:cNvSpPr txBox="1"/>
          <p:nvPr/>
        </p:nvSpPr>
        <p:spPr>
          <a:xfrm>
            <a:off x="10521696"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3</a:t>
            </a:r>
          </a:p>
        </p:txBody>
      </p:sp>
      <p:sp>
        <p:nvSpPr>
          <p:cNvPr id="252" name="TextBox 251"/>
          <p:cNvSpPr txBox="1"/>
          <p:nvPr/>
        </p:nvSpPr>
        <p:spPr>
          <a:xfrm>
            <a:off x="10951464"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8</a:t>
            </a:r>
          </a:p>
        </p:txBody>
      </p:sp>
      <p:sp>
        <p:nvSpPr>
          <p:cNvPr id="253" name="TextBox 252"/>
          <p:cNvSpPr txBox="1"/>
          <p:nvPr/>
        </p:nvSpPr>
        <p:spPr>
          <a:xfrm>
            <a:off x="11445240" y="6501383"/>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5</a:t>
            </a:r>
          </a:p>
        </p:txBody>
      </p:sp>
      <p:sp>
        <p:nvSpPr>
          <p:cNvPr id="254" name="TextBox 253"/>
          <p:cNvSpPr txBox="1"/>
          <p:nvPr/>
        </p:nvSpPr>
        <p:spPr>
          <a:xfrm>
            <a:off x="11445240" y="693115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9</a:t>
            </a:r>
          </a:p>
        </p:txBody>
      </p:sp>
      <p:cxnSp>
        <p:nvCxnSpPr>
          <p:cNvPr id="255" name="Connector 254"/>
          <p:cNvCxnSpPr/>
          <p:nvPr/>
        </p:nvCxnSpPr>
        <p:spPr>
          <a:xfrm flipV="1">
            <a:off x="10091928"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56" name="TextBox 255"/>
          <p:cNvSpPr txBox="1"/>
          <p:nvPr/>
        </p:nvSpPr>
        <p:spPr>
          <a:xfrm>
            <a:off x="10105644"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257" name="TextBox 256"/>
          <p:cNvSpPr txBox="1"/>
          <p:nvPr/>
        </p:nvSpPr>
        <p:spPr>
          <a:xfrm>
            <a:off x="10315956"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cxnSp>
        <p:nvCxnSpPr>
          <p:cNvPr id="258" name="Connector 257"/>
          <p:cNvCxnSpPr/>
          <p:nvPr/>
        </p:nvCxnSpPr>
        <p:spPr>
          <a:xfrm flipV="1">
            <a:off x="10521696"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59" name="TextBox 258"/>
          <p:cNvSpPr txBox="1"/>
          <p:nvPr/>
        </p:nvSpPr>
        <p:spPr>
          <a:xfrm>
            <a:off x="10535412"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260" name="TextBox 259"/>
          <p:cNvSpPr txBox="1"/>
          <p:nvPr/>
        </p:nvSpPr>
        <p:spPr>
          <a:xfrm>
            <a:off x="10745724"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cxnSp>
        <p:nvCxnSpPr>
          <p:cNvPr id="261" name="Connector 260"/>
          <p:cNvCxnSpPr/>
          <p:nvPr/>
        </p:nvCxnSpPr>
        <p:spPr>
          <a:xfrm flipV="1">
            <a:off x="10951464"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62" name="TextBox 261"/>
          <p:cNvSpPr txBox="1"/>
          <p:nvPr/>
        </p:nvSpPr>
        <p:spPr>
          <a:xfrm>
            <a:off x="10965180"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263" name="TextBox 262"/>
          <p:cNvSpPr txBox="1"/>
          <p:nvPr/>
        </p:nvSpPr>
        <p:spPr>
          <a:xfrm>
            <a:off x="11175492"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cxnSp>
        <p:nvCxnSpPr>
          <p:cNvPr id="264" name="Connector 263"/>
          <p:cNvCxnSpPr/>
          <p:nvPr/>
        </p:nvCxnSpPr>
        <p:spPr>
          <a:xfrm flipV="1">
            <a:off x="10091928"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65" name="TextBox 264"/>
          <p:cNvSpPr txBox="1"/>
          <p:nvPr/>
        </p:nvSpPr>
        <p:spPr>
          <a:xfrm>
            <a:off x="10105644"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sp>
        <p:nvSpPr>
          <p:cNvPr id="266" name="TextBox 265"/>
          <p:cNvSpPr txBox="1"/>
          <p:nvPr/>
        </p:nvSpPr>
        <p:spPr>
          <a:xfrm>
            <a:off x="10315956"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267" name="Connector 266"/>
          <p:cNvCxnSpPr/>
          <p:nvPr/>
        </p:nvCxnSpPr>
        <p:spPr>
          <a:xfrm flipV="1">
            <a:off x="10521696"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68" name="TextBox 267"/>
          <p:cNvSpPr txBox="1"/>
          <p:nvPr/>
        </p:nvSpPr>
        <p:spPr>
          <a:xfrm>
            <a:off x="10535412"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269" name="TextBox 268"/>
          <p:cNvSpPr txBox="1"/>
          <p:nvPr/>
        </p:nvSpPr>
        <p:spPr>
          <a:xfrm>
            <a:off x="10745724"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7</a:t>
            </a:r>
          </a:p>
        </p:txBody>
      </p:sp>
      <p:cxnSp>
        <p:nvCxnSpPr>
          <p:cNvPr id="270" name="Connector 269"/>
          <p:cNvCxnSpPr/>
          <p:nvPr/>
        </p:nvCxnSpPr>
        <p:spPr>
          <a:xfrm flipV="1">
            <a:off x="10951464"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71" name="TextBox 270"/>
          <p:cNvSpPr txBox="1"/>
          <p:nvPr/>
        </p:nvSpPr>
        <p:spPr>
          <a:xfrm>
            <a:off x="10965180"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7</a:t>
            </a:r>
          </a:p>
        </p:txBody>
      </p:sp>
      <p:sp>
        <p:nvSpPr>
          <p:cNvPr id="272" name="TextBox 271"/>
          <p:cNvSpPr txBox="1"/>
          <p:nvPr/>
        </p:nvSpPr>
        <p:spPr>
          <a:xfrm>
            <a:off x="11175492"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273" name="Connector 272"/>
          <p:cNvCxnSpPr/>
          <p:nvPr/>
        </p:nvCxnSpPr>
        <p:spPr>
          <a:xfrm>
            <a:off x="10091928"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a:off x="10521696"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a:off x="10951464"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a:off x="11381232"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a:off x="10091928" y="6391656"/>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a:off x="10091928" y="6821424"/>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a:off x="10091928" y="7251192"/>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80" name="TextBox 279"/>
          <p:cNvSpPr txBox="1"/>
          <p:nvPr/>
        </p:nvSpPr>
        <p:spPr>
          <a:xfrm>
            <a:off x="10951464"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281" name="TextBox 280"/>
          <p:cNvSpPr txBox="1"/>
          <p:nvPr/>
        </p:nvSpPr>
        <p:spPr>
          <a:xfrm>
            <a:off x="10521696"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4</a:t>
            </a:r>
          </a:p>
        </p:txBody>
      </p:sp>
      <p:sp>
        <p:nvSpPr>
          <p:cNvPr id="282" name="TextBox 281"/>
          <p:cNvSpPr txBox="1"/>
          <p:nvPr/>
        </p:nvSpPr>
        <p:spPr>
          <a:xfrm>
            <a:off x="10091928"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6</a:t>
            </a:r>
          </a:p>
        </p:txBody>
      </p:sp>
      <p:sp>
        <p:nvSpPr>
          <p:cNvPr id="283" name="TextBox 282"/>
          <p:cNvSpPr txBox="1"/>
          <p:nvPr/>
        </p:nvSpPr>
        <p:spPr>
          <a:xfrm>
            <a:off x="10037064" y="7214616"/>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284" name="TextBox 283"/>
          <p:cNvSpPr txBox="1"/>
          <p:nvPr/>
        </p:nvSpPr>
        <p:spPr>
          <a:xfrm>
            <a:off x="9744456" y="69311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7</a:t>
            </a:r>
          </a:p>
        </p:txBody>
      </p:sp>
      <p:sp>
        <p:nvSpPr>
          <p:cNvPr id="285" name="TextBox 284"/>
          <p:cNvSpPr txBox="1"/>
          <p:nvPr/>
        </p:nvSpPr>
        <p:spPr>
          <a:xfrm>
            <a:off x="9973056" y="6876288"/>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286" name="TextBox 285"/>
          <p:cNvSpPr txBox="1"/>
          <p:nvPr/>
        </p:nvSpPr>
        <p:spPr>
          <a:xfrm>
            <a:off x="9744456" y="6501383"/>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287" name="TextBox 286"/>
          <p:cNvSpPr txBox="1"/>
          <p:nvPr/>
        </p:nvSpPr>
        <p:spPr>
          <a:xfrm>
            <a:off x="11911584" y="6492240"/>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288" name="TextBox 287"/>
          <p:cNvSpPr txBox="1"/>
          <p:nvPr/>
        </p:nvSpPr>
        <p:spPr>
          <a:xfrm>
            <a:off x="11911584" y="6858000"/>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27,642</a:t>
            </a:r>
          </a:p>
        </p:txBody>
      </p:sp>
    </p:spTree>
  </p:cSld>
  <p:clrMapOvr>
    <a:masterClrMapping/>
  </p:clrMapOvr>
</p:sld>
</file>

<file path=ppt/slides/slide100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 — initial assessment</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Show your full written method. No calculators.</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M01-IA  •  Record your working in your booklet or webapp.</a:t>
            </a:r>
          </a:p>
        </p:txBody>
      </p:sp>
      <p:sp>
        <p:nvSpPr>
          <p:cNvPr id="6" name="Rectangle 5"/>
          <p:cNvSpPr/>
          <p:nvPr/>
        </p:nvSpPr>
        <p:spPr>
          <a:xfrm>
            <a:off x="38404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6692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1.  43 × 6</a:t>
            </a:r>
          </a:p>
        </p:txBody>
      </p:sp>
      <p:sp>
        <p:nvSpPr>
          <p:cNvPr id="8" name="Rectangle 7"/>
          <p:cNvSpPr/>
          <p:nvPr/>
        </p:nvSpPr>
        <p:spPr>
          <a:xfrm>
            <a:off x="737920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6208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2.  68 × 4</a:t>
            </a:r>
          </a:p>
        </p:txBody>
      </p:sp>
      <p:sp>
        <p:nvSpPr>
          <p:cNvPr id="10" name="Rectangle 9"/>
          <p:cNvSpPr/>
          <p:nvPr/>
        </p:nvSpPr>
        <p:spPr>
          <a:xfrm>
            <a:off x="38404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6692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3.  476 × 82</a:t>
            </a:r>
          </a:p>
        </p:txBody>
      </p:sp>
      <p:sp>
        <p:nvSpPr>
          <p:cNvPr id="12" name="Rectangle 11"/>
          <p:cNvSpPr/>
          <p:nvPr/>
        </p:nvSpPr>
        <p:spPr>
          <a:xfrm>
            <a:off x="737920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56208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4.  6,038 × 591</a:t>
            </a:r>
          </a:p>
        </p:txBody>
      </p:sp>
    </p:spTree>
  </p:cSld>
  <p:clrMapOvr>
    <a:masterClrMapping/>
  </p:clrMapOvr>
</p:sld>
</file>

<file path=ppt/slides/slide1001.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Follow each step down your column. Small orange numbers show carries.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M01-S01  •  Topic slide 2</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43 × 6</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34 × 12</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4,312 × 156</a:t>
            </a:r>
          </a:p>
        </p:txBody>
      </p:sp>
      <p:sp>
        <p:nvSpPr>
          <p:cNvPr id="21" name="Rectangle 20"/>
          <p:cNvSpPr/>
          <p:nvPr/>
        </p:nvSpPr>
        <p:spPr>
          <a:xfrm>
            <a:off x="384048" y="2176272"/>
            <a:ext cx="2103120" cy="7315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5486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2 columns × 1 row.</a:t>
            </a:r>
          </a:p>
          <a:p>
            <a:pPr>
              <a:lnSpc>
                <a:spcPts val="1836"/>
              </a:lnSpc>
              <a:spcBef>
                <a:spcPts val="0"/>
              </a:spcBef>
              <a:spcAft>
                <a:spcPts val="0"/>
              </a:spcAft>
              <a:defRPr sz="1700" b="0">
                <a:solidFill>
                  <a:srgbClr val="182B3A"/>
                </a:solidFill>
                <a:latin typeface="Arial"/>
              </a:defRPr>
            </a:pPr>
            <a:r>
              <a:t>Top: 4, 3. Right: 6.</a:t>
            </a:r>
          </a:p>
        </p:txBody>
      </p:sp>
      <p:sp>
        <p:nvSpPr>
          <p:cNvPr id="25" name="Rectangle 24"/>
          <p:cNvSpPr/>
          <p:nvPr/>
        </p:nvSpPr>
        <p:spPr>
          <a:xfrm>
            <a:off x="6406895"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2 columns × 2 rows.</a:t>
            </a:r>
          </a:p>
          <a:p>
            <a:pPr>
              <a:lnSpc>
                <a:spcPts val="1836"/>
              </a:lnSpc>
              <a:spcBef>
                <a:spcPts val="0"/>
              </a:spcBef>
              <a:spcAft>
                <a:spcPts val="0"/>
              </a:spcAft>
              <a:defRPr sz="1700" b="0">
                <a:solidFill>
                  <a:srgbClr val="182B3A"/>
                </a:solidFill>
                <a:latin typeface="Arial"/>
              </a:defRPr>
            </a:pPr>
            <a:r>
              <a:t>Top: 3, 4. Right: 1, 2.</a:t>
            </a:r>
          </a:p>
        </p:txBody>
      </p:sp>
      <p:sp>
        <p:nvSpPr>
          <p:cNvPr id="27" name="Rectangle 26"/>
          <p:cNvSpPr/>
          <p:nvPr/>
        </p:nvSpPr>
        <p:spPr>
          <a:xfrm>
            <a:off x="10326624"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4 columns × 3 rows.</a:t>
            </a:r>
          </a:p>
          <a:p>
            <a:pPr>
              <a:lnSpc>
                <a:spcPts val="1836"/>
              </a:lnSpc>
              <a:spcBef>
                <a:spcPts val="0"/>
              </a:spcBef>
              <a:spcAft>
                <a:spcPts val="0"/>
              </a:spcAft>
              <a:defRPr sz="1700" b="0">
                <a:solidFill>
                  <a:srgbClr val="182B3A"/>
                </a:solidFill>
                <a:latin typeface="Arial"/>
              </a:defRPr>
            </a:pPr>
            <a:r>
              <a:t>Top: 4, 3, 1, 2. Right: 1, 5, 6.</a:t>
            </a:r>
          </a:p>
        </p:txBody>
      </p:sp>
      <p:sp>
        <p:nvSpPr>
          <p:cNvPr id="29" name="Rectangle 28"/>
          <p:cNvSpPr/>
          <p:nvPr/>
        </p:nvSpPr>
        <p:spPr>
          <a:xfrm>
            <a:off x="384048" y="2907791"/>
            <a:ext cx="2103120" cy="2423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2999232"/>
            <a:ext cx="1975103" cy="224027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2971799"/>
            <a:ext cx="3791712" cy="7498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Cells: 24, 18.</a:t>
            </a:r>
          </a:p>
          <a:p>
            <a:pPr>
              <a:lnSpc>
                <a:spcPts val="1836"/>
              </a:lnSpc>
              <a:spcBef>
                <a:spcPts val="0"/>
              </a:spcBef>
              <a:spcAft>
                <a:spcPts val="0"/>
              </a:spcAft>
              <a:defRPr sz="1700" b="0">
                <a:solidFill>
                  <a:srgbClr val="182B3A"/>
                </a:solidFill>
                <a:latin typeface="Arial"/>
              </a:defRPr>
            </a:pPr>
            <a:r>
              <a:t>Tens above; units below.</a:t>
            </a:r>
          </a:p>
        </p:txBody>
      </p:sp>
      <p:grpSp>
        <p:nvGrpSpPr>
          <p:cNvPr id="33" name="Editable lattice 43 × 6"/>
          <p:cNvGrpSpPr/>
          <p:nvPr/>
        </p:nvGrpSpPr>
        <p:grpSpPr>
          <a:xfrm>
            <a:off x="3496055" y="3803903"/>
            <a:ext cx="1737360" cy="1143000"/>
            <a:chOff x="3496055" y="3803903"/>
            <a:chExt cx="1737360" cy="1143000"/>
          </a:xfrm>
        </p:grpSpPr>
        <p:sp>
          <p:nvSpPr>
            <p:cNvPr id="34" name="TextBox 33"/>
            <p:cNvSpPr txBox="1"/>
            <p:nvPr/>
          </p:nvSpPr>
          <p:spPr>
            <a:xfrm>
              <a:off x="3806951" y="3803903"/>
              <a:ext cx="566928" cy="228600"/>
            </a:xfrm>
            <a:prstGeom prst="rect">
              <a:avLst/>
            </a:prstGeom>
            <a:noFill/>
          </p:spPr>
          <p:txBody>
            <a:bodyPr wrap="none" lIns="0" tIns="0" rIns="0" bIns="0" anchor="ctr">
              <a:spAutoFit/>
            </a:bodyPr>
            <a:lstStyle/>
            <a:p>
              <a:pPr algn="ctr">
                <a:defRPr sz="1800" b="1">
                  <a:solidFill>
                    <a:srgbClr val="176B73"/>
                  </a:solidFill>
                  <a:latin typeface="Arial"/>
                </a:defRPr>
              </a:pPr>
              <a:r>
                <a:t>4</a:t>
              </a:r>
            </a:p>
          </p:txBody>
        </p:sp>
        <p:sp>
          <p:nvSpPr>
            <p:cNvPr id="35" name="TextBox 34"/>
            <p:cNvSpPr txBox="1"/>
            <p:nvPr/>
          </p:nvSpPr>
          <p:spPr>
            <a:xfrm>
              <a:off x="4373879" y="3803903"/>
              <a:ext cx="566928" cy="228600"/>
            </a:xfrm>
            <a:prstGeom prst="rect">
              <a:avLst/>
            </a:prstGeom>
            <a:noFill/>
          </p:spPr>
          <p:txBody>
            <a:bodyPr wrap="none" lIns="0" tIns="0" rIns="0" bIns="0" anchor="ctr">
              <a:spAutoFit/>
            </a:bodyPr>
            <a:lstStyle/>
            <a:p>
              <a:pPr algn="ctr">
                <a:defRPr sz="1800" b="1">
                  <a:solidFill>
                    <a:srgbClr val="176B73"/>
                  </a:solidFill>
                  <a:latin typeface="Arial"/>
                </a:defRPr>
              </a:pPr>
              <a:r>
                <a:t>3</a:t>
              </a:r>
            </a:p>
          </p:txBody>
        </p:sp>
        <p:sp>
          <p:nvSpPr>
            <p:cNvPr id="36" name="TextBox 35"/>
            <p:cNvSpPr txBox="1"/>
            <p:nvPr/>
          </p:nvSpPr>
          <p:spPr>
            <a:xfrm>
              <a:off x="4968239" y="4059935"/>
              <a:ext cx="265176" cy="566928"/>
            </a:xfrm>
            <a:prstGeom prst="rect">
              <a:avLst/>
            </a:prstGeom>
            <a:noFill/>
          </p:spPr>
          <p:txBody>
            <a:bodyPr wrap="none" lIns="0" tIns="0" rIns="0" bIns="0" anchor="ctr">
              <a:spAutoFit/>
            </a:bodyPr>
            <a:lstStyle/>
            <a:p>
              <a:pPr algn="ctr">
                <a:defRPr sz="1800" b="1">
                  <a:solidFill>
                    <a:srgbClr val="176B73"/>
                  </a:solidFill>
                  <a:latin typeface="Arial"/>
                </a:defRPr>
              </a:pPr>
              <a:r>
                <a:t>6</a:t>
              </a:r>
            </a:p>
          </p:txBody>
        </p:sp>
        <p:sp>
          <p:nvSpPr>
            <p:cNvPr id="37" name="Rectangle 36"/>
            <p:cNvSpPr/>
            <p:nvPr/>
          </p:nvSpPr>
          <p:spPr>
            <a:xfrm>
              <a:off x="3806951" y="4059935"/>
              <a:ext cx="566928" cy="566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38" name="Connector 37"/>
            <p:cNvCxnSpPr/>
            <p:nvPr/>
          </p:nvCxnSpPr>
          <p:spPr>
            <a:xfrm flipV="1">
              <a:off x="3806951" y="4059935"/>
              <a:ext cx="566928" cy="566929"/>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3829629" y="4071274"/>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40" name="TextBox 39"/>
            <p:cNvSpPr txBox="1"/>
            <p:nvPr/>
          </p:nvSpPr>
          <p:spPr>
            <a:xfrm>
              <a:off x="4079077" y="4337730"/>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41" name="Rectangle 40"/>
            <p:cNvSpPr/>
            <p:nvPr/>
          </p:nvSpPr>
          <p:spPr>
            <a:xfrm>
              <a:off x="4373879" y="4059935"/>
              <a:ext cx="566928" cy="566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42" name="Connector 41"/>
            <p:cNvCxnSpPr/>
            <p:nvPr/>
          </p:nvCxnSpPr>
          <p:spPr>
            <a:xfrm flipV="1">
              <a:off x="4373879" y="4059935"/>
              <a:ext cx="566928" cy="566929"/>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4396557" y="4071274"/>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44" name="TextBox 43"/>
            <p:cNvSpPr txBox="1"/>
            <p:nvPr/>
          </p:nvSpPr>
          <p:spPr>
            <a:xfrm>
              <a:off x="4646005" y="4337730"/>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8</a:t>
              </a:r>
            </a:p>
          </p:txBody>
        </p:sp>
        <p:cxnSp>
          <p:nvCxnSpPr>
            <p:cNvPr id="45" name="Connector 44"/>
            <p:cNvCxnSpPr/>
            <p:nvPr/>
          </p:nvCxnSpPr>
          <p:spPr>
            <a:xfrm>
              <a:off x="3806951"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373879"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4940807"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3806951" y="4059935"/>
              <a:ext cx="1133856"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3806951" y="4626864"/>
              <a:ext cx="1133856"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4373879" y="4709159"/>
              <a:ext cx="566928" cy="237744"/>
            </a:xfrm>
            <a:prstGeom prst="rect">
              <a:avLst/>
            </a:prstGeom>
            <a:noFill/>
          </p:spPr>
          <p:txBody>
            <a:bodyPr wrap="none" lIns="0" tIns="0" rIns="0" bIns="0" anchor="ctr">
              <a:spAutoFit/>
            </a:bodyPr>
            <a:lstStyle/>
            <a:p>
              <a:pPr algn="ctr">
                <a:defRPr sz="1900" b="1">
                  <a:solidFill>
                    <a:srgbClr val="176B73"/>
                  </a:solidFill>
                  <a:latin typeface="Arial"/>
                </a:defRPr>
              </a:pPr>
              <a:r>
                <a:t>8</a:t>
              </a:r>
            </a:p>
          </p:txBody>
        </p:sp>
        <p:sp>
          <p:nvSpPr>
            <p:cNvPr id="51" name="TextBox 50"/>
            <p:cNvSpPr txBox="1"/>
            <p:nvPr/>
          </p:nvSpPr>
          <p:spPr>
            <a:xfrm>
              <a:off x="3806951" y="4709159"/>
              <a:ext cx="566928" cy="237744"/>
            </a:xfrm>
            <a:prstGeom prst="rect">
              <a:avLst/>
            </a:prstGeom>
            <a:noFill/>
          </p:spPr>
          <p:txBody>
            <a:bodyPr wrap="none" lIns="0" tIns="0" rIns="0" bIns="0" anchor="ctr">
              <a:spAutoFit/>
            </a:bodyPr>
            <a:lstStyle/>
            <a:p>
              <a:pPr algn="ctr">
                <a:defRPr sz="1900" b="1">
                  <a:solidFill>
                    <a:srgbClr val="176B73"/>
                  </a:solidFill>
                  <a:latin typeface="Arial"/>
                </a:defRPr>
              </a:pPr>
              <a:r>
                <a:t>5</a:t>
              </a:r>
            </a:p>
          </p:txBody>
        </p:sp>
        <p:sp>
          <p:nvSpPr>
            <p:cNvPr id="52" name="TextBox 51"/>
            <p:cNvSpPr txBox="1"/>
            <p:nvPr/>
          </p:nvSpPr>
          <p:spPr>
            <a:xfrm>
              <a:off x="3496055" y="4059935"/>
              <a:ext cx="265176" cy="566928"/>
            </a:xfrm>
            <a:prstGeom prst="rect">
              <a:avLst/>
            </a:prstGeom>
            <a:noFill/>
          </p:spPr>
          <p:txBody>
            <a:bodyPr wrap="none" lIns="0" tIns="0" rIns="0" bIns="0" anchor="ctr">
              <a:spAutoFit/>
            </a:bodyPr>
            <a:lstStyle/>
            <a:p>
              <a:pPr algn="ctr">
                <a:defRPr sz="1900" b="1">
                  <a:solidFill>
                    <a:srgbClr val="176B73"/>
                  </a:solidFill>
                  <a:latin typeface="Arial"/>
                </a:defRPr>
              </a:pPr>
              <a:r>
                <a:t>2</a:t>
              </a:r>
            </a:p>
          </p:txBody>
        </p:sp>
      </p:grpSp>
      <p:sp>
        <p:nvSpPr>
          <p:cNvPr id="53" name="Rectangle 52"/>
          <p:cNvSpPr/>
          <p:nvPr/>
        </p:nvSpPr>
        <p:spPr>
          <a:xfrm>
            <a:off x="6406895"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4" name="TextBox 53"/>
          <p:cNvSpPr txBox="1"/>
          <p:nvPr/>
        </p:nvSpPr>
        <p:spPr>
          <a:xfrm>
            <a:off x="6470904" y="2971799"/>
            <a:ext cx="3791712" cy="7498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Top: 03, 04. Bottom: 06, 08.</a:t>
            </a:r>
          </a:p>
          <a:p>
            <a:pPr>
              <a:lnSpc>
                <a:spcPts val="1836"/>
              </a:lnSpc>
              <a:spcBef>
                <a:spcPts val="0"/>
              </a:spcBef>
              <a:spcAft>
                <a:spcPts val="0"/>
              </a:spcAft>
              <a:defRPr sz="1700" b="0">
                <a:solidFill>
                  <a:srgbClr val="182B3A"/>
                </a:solidFill>
                <a:latin typeface="Arial"/>
              </a:defRPr>
            </a:pPr>
            <a:r>
              <a:t>Keep the tens zeros.</a:t>
            </a:r>
          </a:p>
        </p:txBody>
      </p:sp>
      <p:grpSp>
        <p:nvGrpSpPr>
          <p:cNvPr id="55" name="Editable lattice 34 × 12"/>
          <p:cNvGrpSpPr/>
          <p:nvPr/>
        </p:nvGrpSpPr>
        <p:grpSpPr>
          <a:xfrm>
            <a:off x="7493508" y="3803903"/>
            <a:ext cx="1563623" cy="1517904"/>
            <a:chOff x="7493508" y="3803903"/>
            <a:chExt cx="1563623" cy="1517904"/>
          </a:xfrm>
        </p:grpSpPr>
        <p:sp>
          <p:nvSpPr>
            <p:cNvPr id="56" name="TextBox 55"/>
            <p:cNvSpPr txBox="1"/>
            <p:nvPr/>
          </p:nvSpPr>
          <p:spPr>
            <a:xfrm>
              <a:off x="7822692" y="3803903"/>
              <a:ext cx="470915" cy="228600"/>
            </a:xfrm>
            <a:prstGeom prst="rect">
              <a:avLst/>
            </a:prstGeom>
            <a:noFill/>
          </p:spPr>
          <p:txBody>
            <a:bodyPr wrap="none" lIns="0" tIns="0" rIns="0" bIns="0" anchor="ctr">
              <a:spAutoFit/>
            </a:bodyPr>
            <a:lstStyle/>
            <a:p>
              <a:pPr algn="ctr">
                <a:defRPr sz="1800" b="1">
                  <a:solidFill>
                    <a:srgbClr val="3559A2"/>
                  </a:solidFill>
                  <a:latin typeface="Arial"/>
                </a:defRPr>
              </a:pPr>
              <a:r>
                <a:t>3</a:t>
              </a:r>
            </a:p>
          </p:txBody>
        </p:sp>
        <p:sp>
          <p:nvSpPr>
            <p:cNvPr id="57" name="TextBox 56"/>
            <p:cNvSpPr txBox="1"/>
            <p:nvPr/>
          </p:nvSpPr>
          <p:spPr>
            <a:xfrm>
              <a:off x="8293608" y="3803903"/>
              <a:ext cx="470915" cy="228600"/>
            </a:xfrm>
            <a:prstGeom prst="rect">
              <a:avLst/>
            </a:prstGeom>
            <a:noFill/>
          </p:spPr>
          <p:txBody>
            <a:bodyPr wrap="none" lIns="0" tIns="0" rIns="0" bIns="0" anchor="ctr">
              <a:spAutoFit/>
            </a:bodyPr>
            <a:lstStyle/>
            <a:p>
              <a:pPr algn="ctr">
                <a:defRPr sz="1800" b="1">
                  <a:solidFill>
                    <a:srgbClr val="3559A2"/>
                  </a:solidFill>
                  <a:latin typeface="Arial"/>
                </a:defRPr>
              </a:pPr>
              <a:r>
                <a:t>4</a:t>
              </a:r>
            </a:p>
          </p:txBody>
        </p:sp>
        <p:sp>
          <p:nvSpPr>
            <p:cNvPr id="58" name="TextBox 57"/>
            <p:cNvSpPr txBox="1"/>
            <p:nvPr/>
          </p:nvSpPr>
          <p:spPr>
            <a:xfrm>
              <a:off x="8791955" y="4059935"/>
              <a:ext cx="265176" cy="470915"/>
            </a:xfrm>
            <a:prstGeom prst="rect">
              <a:avLst/>
            </a:prstGeom>
            <a:noFill/>
          </p:spPr>
          <p:txBody>
            <a:bodyPr wrap="none" lIns="0" tIns="0" rIns="0" bIns="0" anchor="ctr">
              <a:spAutoFit/>
            </a:bodyPr>
            <a:lstStyle/>
            <a:p>
              <a:pPr algn="ctr">
                <a:defRPr sz="1800" b="1">
                  <a:solidFill>
                    <a:srgbClr val="3559A2"/>
                  </a:solidFill>
                  <a:latin typeface="Arial"/>
                </a:defRPr>
              </a:pPr>
              <a:r>
                <a:t>1</a:t>
              </a:r>
            </a:p>
          </p:txBody>
        </p:sp>
        <p:sp>
          <p:nvSpPr>
            <p:cNvPr id="59" name="TextBox 58"/>
            <p:cNvSpPr txBox="1"/>
            <p:nvPr/>
          </p:nvSpPr>
          <p:spPr>
            <a:xfrm>
              <a:off x="8791955" y="4530851"/>
              <a:ext cx="265176" cy="470915"/>
            </a:xfrm>
            <a:prstGeom prst="rect">
              <a:avLst/>
            </a:prstGeom>
            <a:noFill/>
          </p:spPr>
          <p:txBody>
            <a:bodyPr wrap="none" lIns="0" tIns="0" rIns="0" bIns="0" anchor="ctr">
              <a:spAutoFit/>
            </a:bodyPr>
            <a:lstStyle/>
            <a:p>
              <a:pPr algn="ctr">
                <a:defRPr sz="1800" b="1">
                  <a:solidFill>
                    <a:srgbClr val="3559A2"/>
                  </a:solidFill>
                  <a:latin typeface="Arial"/>
                </a:defRPr>
              </a:pPr>
              <a:r>
                <a:t>2</a:t>
              </a:r>
            </a:p>
          </p:txBody>
        </p:sp>
        <p:sp>
          <p:nvSpPr>
            <p:cNvPr id="60" name="Rectangle 59"/>
            <p:cNvSpPr/>
            <p:nvPr/>
          </p:nvSpPr>
          <p:spPr>
            <a:xfrm>
              <a:off x="7822692" y="4059935"/>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61" name="Connector 60"/>
            <p:cNvCxnSpPr/>
            <p:nvPr/>
          </p:nvCxnSpPr>
          <p:spPr>
            <a:xfrm flipV="1">
              <a:off x="7822692" y="4059935"/>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7841528" y="406935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63" name="TextBox 62"/>
            <p:cNvSpPr txBox="1"/>
            <p:nvPr/>
          </p:nvSpPr>
          <p:spPr>
            <a:xfrm>
              <a:off x="8048731" y="429068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3</a:t>
              </a:r>
            </a:p>
          </p:txBody>
        </p:sp>
        <p:sp>
          <p:nvSpPr>
            <p:cNvPr id="64" name="Rectangle 63"/>
            <p:cNvSpPr/>
            <p:nvPr/>
          </p:nvSpPr>
          <p:spPr>
            <a:xfrm>
              <a:off x="8293608" y="4059935"/>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65" name="Connector 64"/>
            <p:cNvCxnSpPr/>
            <p:nvPr/>
          </p:nvCxnSpPr>
          <p:spPr>
            <a:xfrm flipV="1">
              <a:off x="8293608" y="4059935"/>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8312444" y="406935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67" name="TextBox 66"/>
            <p:cNvSpPr txBox="1"/>
            <p:nvPr/>
          </p:nvSpPr>
          <p:spPr>
            <a:xfrm>
              <a:off x="8519647" y="429068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68" name="Rectangle 67"/>
            <p:cNvSpPr/>
            <p:nvPr/>
          </p:nvSpPr>
          <p:spPr>
            <a:xfrm>
              <a:off x="7822692" y="4530851"/>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69" name="Connector 68"/>
            <p:cNvCxnSpPr/>
            <p:nvPr/>
          </p:nvCxnSpPr>
          <p:spPr>
            <a:xfrm flipV="1">
              <a:off x="7822692" y="4530851"/>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7841528" y="454027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71" name="TextBox 70"/>
            <p:cNvSpPr txBox="1"/>
            <p:nvPr/>
          </p:nvSpPr>
          <p:spPr>
            <a:xfrm>
              <a:off x="8048731" y="476160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6</a:t>
              </a:r>
            </a:p>
          </p:txBody>
        </p:sp>
        <p:sp>
          <p:nvSpPr>
            <p:cNvPr id="72" name="Rectangle 71"/>
            <p:cNvSpPr/>
            <p:nvPr/>
          </p:nvSpPr>
          <p:spPr>
            <a:xfrm>
              <a:off x="8293608" y="4530851"/>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73" name="Connector 72"/>
            <p:cNvCxnSpPr/>
            <p:nvPr/>
          </p:nvCxnSpPr>
          <p:spPr>
            <a:xfrm flipV="1">
              <a:off x="8293608" y="4530851"/>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8312444" y="454027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75" name="TextBox 74"/>
            <p:cNvSpPr txBox="1"/>
            <p:nvPr/>
          </p:nvSpPr>
          <p:spPr>
            <a:xfrm>
              <a:off x="8519647" y="476160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8</a:t>
              </a:r>
            </a:p>
          </p:txBody>
        </p:sp>
        <p:cxnSp>
          <p:nvCxnSpPr>
            <p:cNvPr id="76" name="Connector 75"/>
            <p:cNvCxnSpPr/>
            <p:nvPr/>
          </p:nvCxnSpPr>
          <p:spPr>
            <a:xfrm>
              <a:off x="7822692"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8293608"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8764524"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7822692" y="4059935"/>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7822692" y="4530851"/>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7822692" y="5001767"/>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8293608" y="5084063"/>
              <a:ext cx="470915" cy="237744"/>
            </a:xfrm>
            <a:prstGeom prst="rect">
              <a:avLst/>
            </a:prstGeom>
            <a:noFill/>
          </p:spPr>
          <p:txBody>
            <a:bodyPr wrap="none" lIns="0" tIns="0" rIns="0" bIns="0" anchor="ctr">
              <a:spAutoFit/>
            </a:bodyPr>
            <a:lstStyle/>
            <a:p>
              <a:pPr algn="ctr">
                <a:defRPr sz="1900" b="1">
                  <a:solidFill>
                    <a:srgbClr val="3559A2"/>
                  </a:solidFill>
                  <a:latin typeface="Arial"/>
                </a:defRPr>
              </a:pPr>
              <a:r>
                <a:t>8</a:t>
              </a:r>
            </a:p>
          </p:txBody>
        </p:sp>
        <p:sp>
          <p:nvSpPr>
            <p:cNvPr id="83" name="TextBox 82"/>
            <p:cNvSpPr txBox="1"/>
            <p:nvPr/>
          </p:nvSpPr>
          <p:spPr>
            <a:xfrm>
              <a:off x="7822692" y="5084063"/>
              <a:ext cx="470915" cy="237744"/>
            </a:xfrm>
            <a:prstGeom prst="rect">
              <a:avLst/>
            </a:prstGeom>
            <a:noFill/>
          </p:spPr>
          <p:txBody>
            <a:bodyPr wrap="none" lIns="0" tIns="0" rIns="0" bIns="0" anchor="ctr">
              <a:spAutoFit/>
            </a:bodyPr>
            <a:lstStyle/>
            <a:p>
              <a:pPr algn="ctr">
                <a:defRPr sz="1900" b="1">
                  <a:solidFill>
                    <a:srgbClr val="3559A2"/>
                  </a:solidFill>
                  <a:latin typeface="Arial"/>
                </a:defRPr>
              </a:pPr>
              <a:r>
                <a:t>0</a:t>
              </a:r>
            </a:p>
          </p:txBody>
        </p:sp>
        <p:sp>
          <p:nvSpPr>
            <p:cNvPr id="84" name="TextBox 83"/>
            <p:cNvSpPr txBox="1"/>
            <p:nvPr/>
          </p:nvSpPr>
          <p:spPr>
            <a:xfrm>
              <a:off x="7511796" y="4530851"/>
              <a:ext cx="265176" cy="470915"/>
            </a:xfrm>
            <a:prstGeom prst="rect">
              <a:avLst/>
            </a:prstGeom>
            <a:noFill/>
          </p:spPr>
          <p:txBody>
            <a:bodyPr wrap="none" lIns="0" tIns="0" rIns="0" bIns="0" anchor="ctr">
              <a:spAutoFit/>
            </a:bodyPr>
            <a:lstStyle/>
            <a:p>
              <a:pPr algn="ctr">
                <a:defRPr sz="1900" b="1">
                  <a:solidFill>
                    <a:srgbClr val="3559A2"/>
                  </a:solidFill>
                  <a:latin typeface="Arial"/>
                </a:defRPr>
              </a:pPr>
              <a:r>
                <a:t>4</a:t>
              </a:r>
            </a:p>
          </p:txBody>
        </p:sp>
        <p:sp>
          <p:nvSpPr>
            <p:cNvPr id="85" name="TextBox 84"/>
            <p:cNvSpPr txBox="1"/>
            <p:nvPr/>
          </p:nvSpPr>
          <p:spPr>
            <a:xfrm>
              <a:off x="7493508" y="4539995"/>
              <a:ext cx="320040" cy="155448"/>
            </a:xfrm>
            <a:prstGeom prst="rect">
              <a:avLst/>
            </a:prstGeom>
            <a:noFill/>
          </p:spPr>
          <p:txBody>
            <a:bodyPr wrap="none" lIns="0" tIns="0" rIns="0" bIns="0" anchor="ctr">
              <a:spAutoFit/>
            </a:bodyPr>
            <a:lstStyle/>
            <a:p>
              <a:pPr algn="ctr">
                <a:defRPr sz="1000" b="1">
                  <a:solidFill>
                    <a:srgbClr val="B14F00"/>
                  </a:solidFill>
                  <a:latin typeface="Arial"/>
                </a:defRPr>
              </a:pPr>
              <a:r>
                <a:t>+1</a:t>
              </a:r>
            </a:p>
          </p:txBody>
        </p:sp>
        <p:sp>
          <p:nvSpPr>
            <p:cNvPr id="86" name="TextBox 85"/>
            <p:cNvSpPr txBox="1"/>
            <p:nvPr/>
          </p:nvSpPr>
          <p:spPr>
            <a:xfrm>
              <a:off x="7511796" y="4059935"/>
              <a:ext cx="265176" cy="470915"/>
            </a:xfrm>
            <a:prstGeom prst="rect">
              <a:avLst/>
            </a:prstGeom>
            <a:noFill/>
          </p:spPr>
          <p:txBody>
            <a:bodyPr wrap="none" lIns="0" tIns="0" rIns="0" bIns="0" anchor="ctr">
              <a:spAutoFit/>
            </a:bodyPr>
            <a:lstStyle/>
            <a:p>
              <a:pPr algn="ctr">
                <a:defRPr sz="1900" b="1">
                  <a:solidFill>
                    <a:srgbClr val="8193A0"/>
                  </a:solidFill>
                  <a:latin typeface="Arial"/>
                </a:defRPr>
              </a:pPr>
              <a:r>
                <a:t>0</a:t>
              </a:r>
            </a:p>
          </p:txBody>
        </p:sp>
      </p:grpSp>
      <p:sp>
        <p:nvSpPr>
          <p:cNvPr id="87" name="Rectangle 86"/>
          <p:cNvSpPr/>
          <p:nvPr/>
        </p:nvSpPr>
        <p:spPr>
          <a:xfrm>
            <a:off x="10326624"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8" name="TextBox 87"/>
          <p:cNvSpPr txBox="1"/>
          <p:nvPr/>
        </p:nvSpPr>
        <p:spPr>
          <a:xfrm>
            <a:off x="10390632" y="2971799"/>
            <a:ext cx="3791712" cy="2926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Tens above; units below.</a:t>
            </a:r>
          </a:p>
        </p:txBody>
      </p:sp>
      <p:grpSp>
        <p:nvGrpSpPr>
          <p:cNvPr id="89" name="Editable lattice 4312 × 156"/>
          <p:cNvGrpSpPr/>
          <p:nvPr/>
        </p:nvGrpSpPr>
        <p:grpSpPr>
          <a:xfrm>
            <a:off x="10951464" y="3346704"/>
            <a:ext cx="2487167" cy="1975104"/>
            <a:chOff x="10951464" y="3346704"/>
            <a:chExt cx="2487167" cy="1975104"/>
          </a:xfrm>
        </p:grpSpPr>
        <p:sp>
          <p:nvSpPr>
            <p:cNvPr id="90" name="TextBox 89"/>
            <p:cNvSpPr txBox="1"/>
            <p:nvPr/>
          </p:nvSpPr>
          <p:spPr>
            <a:xfrm>
              <a:off x="11280648"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4</a:t>
              </a:r>
            </a:p>
          </p:txBody>
        </p:sp>
        <p:sp>
          <p:nvSpPr>
            <p:cNvPr id="91" name="TextBox 90"/>
            <p:cNvSpPr txBox="1"/>
            <p:nvPr/>
          </p:nvSpPr>
          <p:spPr>
            <a:xfrm>
              <a:off x="11746992"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3</a:t>
              </a:r>
            </a:p>
          </p:txBody>
        </p:sp>
        <p:sp>
          <p:nvSpPr>
            <p:cNvPr id="92" name="TextBox 91"/>
            <p:cNvSpPr txBox="1"/>
            <p:nvPr/>
          </p:nvSpPr>
          <p:spPr>
            <a:xfrm>
              <a:off x="12213335"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1</a:t>
              </a:r>
            </a:p>
          </p:txBody>
        </p:sp>
        <p:sp>
          <p:nvSpPr>
            <p:cNvPr id="93" name="TextBox 92"/>
            <p:cNvSpPr txBox="1"/>
            <p:nvPr/>
          </p:nvSpPr>
          <p:spPr>
            <a:xfrm>
              <a:off x="12679679"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2</a:t>
              </a:r>
            </a:p>
          </p:txBody>
        </p:sp>
        <p:sp>
          <p:nvSpPr>
            <p:cNvPr id="94" name="TextBox 93"/>
            <p:cNvSpPr txBox="1"/>
            <p:nvPr/>
          </p:nvSpPr>
          <p:spPr>
            <a:xfrm>
              <a:off x="13173455" y="3602736"/>
              <a:ext cx="265176" cy="466343"/>
            </a:xfrm>
            <a:prstGeom prst="rect">
              <a:avLst/>
            </a:prstGeom>
            <a:noFill/>
          </p:spPr>
          <p:txBody>
            <a:bodyPr wrap="none" lIns="0" tIns="0" rIns="0" bIns="0" anchor="ctr">
              <a:spAutoFit/>
            </a:bodyPr>
            <a:lstStyle/>
            <a:p>
              <a:pPr algn="ctr">
                <a:defRPr sz="1800" b="1">
                  <a:solidFill>
                    <a:srgbClr val="754B87"/>
                  </a:solidFill>
                  <a:latin typeface="Arial"/>
                </a:defRPr>
              </a:pPr>
              <a:r>
                <a:t>1</a:t>
              </a:r>
            </a:p>
          </p:txBody>
        </p:sp>
        <p:sp>
          <p:nvSpPr>
            <p:cNvPr id="95" name="TextBox 94"/>
            <p:cNvSpPr txBox="1"/>
            <p:nvPr/>
          </p:nvSpPr>
          <p:spPr>
            <a:xfrm>
              <a:off x="13173455" y="4069080"/>
              <a:ext cx="265176" cy="466343"/>
            </a:xfrm>
            <a:prstGeom prst="rect">
              <a:avLst/>
            </a:prstGeom>
            <a:noFill/>
          </p:spPr>
          <p:txBody>
            <a:bodyPr wrap="none" lIns="0" tIns="0" rIns="0" bIns="0" anchor="ctr">
              <a:spAutoFit/>
            </a:bodyPr>
            <a:lstStyle/>
            <a:p>
              <a:pPr algn="ctr">
                <a:defRPr sz="1800" b="1">
                  <a:solidFill>
                    <a:srgbClr val="754B87"/>
                  </a:solidFill>
                  <a:latin typeface="Arial"/>
                </a:defRPr>
              </a:pPr>
              <a:r>
                <a:t>5</a:t>
              </a:r>
            </a:p>
          </p:txBody>
        </p:sp>
        <p:sp>
          <p:nvSpPr>
            <p:cNvPr id="96" name="TextBox 95"/>
            <p:cNvSpPr txBox="1"/>
            <p:nvPr/>
          </p:nvSpPr>
          <p:spPr>
            <a:xfrm>
              <a:off x="13173455" y="4535424"/>
              <a:ext cx="265176" cy="466343"/>
            </a:xfrm>
            <a:prstGeom prst="rect">
              <a:avLst/>
            </a:prstGeom>
            <a:noFill/>
          </p:spPr>
          <p:txBody>
            <a:bodyPr wrap="none" lIns="0" tIns="0" rIns="0" bIns="0" anchor="ctr">
              <a:spAutoFit/>
            </a:bodyPr>
            <a:lstStyle/>
            <a:p>
              <a:pPr algn="ctr">
                <a:defRPr sz="1800" b="1">
                  <a:solidFill>
                    <a:srgbClr val="754B87"/>
                  </a:solidFill>
                  <a:latin typeface="Arial"/>
                </a:defRPr>
              </a:pPr>
              <a:r>
                <a:t>6</a:t>
              </a:r>
            </a:p>
          </p:txBody>
        </p:sp>
        <p:sp>
          <p:nvSpPr>
            <p:cNvPr id="97" name="Rectangle 96"/>
            <p:cNvSpPr/>
            <p:nvPr/>
          </p:nvSpPr>
          <p:spPr>
            <a:xfrm>
              <a:off x="11280648"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98" name="Connector 97"/>
            <p:cNvCxnSpPr/>
            <p:nvPr/>
          </p:nvCxnSpPr>
          <p:spPr>
            <a:xfrm flipV="1">
              <a:off x="11280648"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11299301"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00" name="TextBox 99"/>
            <p:cNvSpPr txBox="1"/>
            <p:nvPr/>
          </p:nvSpPr>
          <p:spPr>
            <a:xfrm>
              <a:off x="11504493"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101" name="Rectangle 100"/>
            <p:cNvSpPr/>
            <p:nvPr/>
          </p:nvSpPr>
          <p:spPr>
            <a:xfrm>
              <a:off x="11746992"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02" name="Connector 101"/>
            <p:cNvCxnSpPr/>
            <p:nvPr/>
          </p:nvCxnSpPr>
          <p:spPr>
            <a:xfrm flipV="1">
              <a:off x="11746992" y="3602736"/>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11765645"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04" name="TextBox 103"/>
            <p:cNvSpPr txBox="1"/>
            <p:nvPr/>
          </p:nvSpPr>
          <p:spPr>
            <a:xfrm>
              <a:off x="11970837"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3</a:t>
              </a:r>
            </a:p>
          </p:txBody>
        </p:sp>
        <p:sp>
          <p:nvSpPr>
            <p:cNvPr id="105" name="Rectangle 104"/>
            <p:cNvSpPr/>
            <p:nvPr/>
          </p:nvSpPr>
          <p:spPr>
            <a:xfrm>
              <a:off x="12213335"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06" name="Connector 105"/>
            <p:cNvCxnSpPr/>
            <p:nvPr/>
          </p:nvCxnSpPr>
          <p:spPr>
            <a:xfrm flipV="1">
              <a:off x="12213335"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12231989"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08" name="TextBox 107"/>
            <p:cNvSpPr txBox="1"/>
            <p:nvPr/>
          </p:nvSpPr>
          <p:spPr>
            <a:xfrm>
              <a:off x="12437181"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09" name="Rectangle 108"/>
            <p:cNvSpPr/>
            <p:nvPr/>
          </p:nvSpPr>
          <p:spPr>
            <a:xfrm>
              <a:off x="12679679"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10" name="Connector 109"/>
            <p:cNvCxnSpPr/>
            <p:nvPr/>
          </p:nvCxnSpPr>
          <p:spPr>
            <a:xfrm flipV="1">
              <a:off x="12679679"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12698333"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12" name="TextBox 111"/>
            <p:cNvSpPr txBox="1"/>
            <p:nvPr/>
          </p:nvSpPr>
          <p:spPr>
            <a:xfrm>
              <a:off x="12903525"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113" name="Rectangle 112"/>
            <p:cNvSpPr/>
            <p:nvPr/>
          </p:nvSpPr>
          <p:spPr>
            <a:xfrm>
              <a:off x="11280648"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14" name="Connector 113"/>
            <p:cNvCxnSpPr/>
            <p:nvPr/>
          </p:nvCxnSpPr>
          <p:spPr>
            <a:xfrm flipV="1">
              <a:off x="11280648"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5" name="TextBox 114"/>
            <p:cNvSpPr txBox="1"/>
            <p:nvPr/>
          </p:nvSpPr>
          <p:spPr>
            <a:xfrm>
              <a:off x="11299301"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116" name="TextBox 115"/>
            <p:cNvSpPr txBox="1"/>
            <p:nvPr/>
          </p:nvSpPr>
          <p:spPr>
            <a:xfrm>
              <a:off x="11504493"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17" name="Rectangle 116"/>
            <p:cNvSpPr/>
            <p:nvPr/>
          </p:nvSpPr>
          <p:spPr>
            <a:xfrm>
              <a:off x="11746992"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18" name="Connector 117"/>
            <p:cNvCxnSpPr/>
            <p:nvPr/>
          </p:nvCxnSpPr>
          <p:spPr>
            <a:xfrm flipV="1">
              <a:off x="11746992" y="4069080"/>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9" name="TextBox 118"/>
            <p:cNvSpPr txBox="1"/>
            <p:nvPr/>
          </p:nvSpPr>
          <p:spPr>
            <a:xfrm>
              <a:off x="11765645"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20" name="TextBox 119"/>
            <p:cNvSpPr txBox="1"/>
            <p:nvPr/>
          </p:nvSpPr>
          <p:spPr>
            <a:xfrm>
              <a:off x="11970837"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5</a:t>
              </a:r>
            </a:p>
          </p:txBody>
        </p:sp>
        <p:sp>
          <p:nvSpPr>
            <p:cNvPr id="121" name="Rectangle 120"/>
            <p:cNvSpPr/>
            <p:nvPr/>
          </p:nvSpPr>
          <p:spPr>
            <a:xfrm>
              <a:off x="12213335"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22" name="Connector 121"/>
            <p:cNvCxnSpPr/>
            <p:nvPr/>
          </p:nvCxnSpPr>
          <p:spPr>
            <a:xfrm flipV="1">
              <a:off x="12213335"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23" name="TextBox 122"/>
            <p:cNvSpPr txBox="1"/>
            <p:nvPr/>
          </p:nvSpPr>
          <p:spPr>
            <a:xfrm>
              <a:off x="12231989"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24" name="TextBox 123"/>
            <p:cNvSpPr txBox="1"/>
            <p:nvPr/>
          </p:nvSpPr>
          <p:spPr>
            <a:xfrm>
              <a:off x="12437181"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5</a:t>
              </a:r>
            </a:p>
          </p:txBody>
        </p:sp>
        <p:sp>
          <p:nvSpPr>
            <p:cNvPr id="125" name="Rectangle 124"/>
            <p:cNvSpPr/>
            <p:nvPr/>
          </p:nvSpPr>
          <p:spPr>
            <a:xfrm>
              <a:off x="12679679"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26" name="Connector 125"/>
            <p:cNvCxnSpPr/>
            <p:nvPr/>
          </p:nvCxnSpPr>
          <p:spPr>
            <a:xfrm flipV="1">
              <a:off x="12679679"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12698333"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28" name="TextBox 127"/>
            <p:cNvSpPr txBox="1"/>
            <p:nvPr/>
          </p:nvSpPr>
          <p:spPr>
            <a:xfrm>
              <a:off x="12903525"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29" name="Rectangle 128"/>
            <p:cNvSpPr/>
            <p:nvPr/>
          </p:nvSpPr>
          <p:spPr>
            <a:xfrm>
              <a:off x="11280648"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30" name="Connector 129"/>
            <p:cNvCxnSpPr/>
            <p:nvPr/>
          </p:nvCxnSpPr>
          <p:spPr>
            <a:xfrm flipV="1">
              <a:off x="11280648"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1" name="TextBox 130"/>
            <p:cNvSpPr txBox="1"/>
            <p:nvPr/>
          </p:nvSpPr>
          <p:spPr>
            <a:xfrm>
              <a:off x="11299301"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132" name="TextBox 131"/>
            <p:cNvSpPr txBox="1"/>
            <p:nvPr/>
          </p:nvSpPr>
          <p:spPr>
            <a:xfrm>
              <a:off x="11504493"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133" name="Rectangle 132"/>
            <p:cNvSpPr/>
            <p:nvPr/>
          </p:nvSpPr>
          <p:spPr>
            <a:xfrm>
              <a:off x="11746992"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34" name="Connector 133"/>
            <p:cNvCxnSpPr/>
            <p:nvPr/>
          </p:nvCxnSpPr>
          <p:spPr>
            <a:xfrm flipV="1">
              <a:off x="11746992" y="4535424"/>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5" name="TextBox 134"/>
            <p:cNvSpPr txBox="1"/>
            <p:nvPr/>
          </p:nvSpPr>
          <p:spPr>
            <a:xfrm>
              <a:off x="11765645"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36" name="TextBox 135"/>
            <p:cNvSpPr txBox="1"/>
            <p:nvPr/>
          </p:nvSpPr>
          <p:spPr>
            <a:xfrm>
              <a:off x="11970837"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8</a:t>
              </a:r>
            </a:p>
          </p:txBody>
        </p:sp>
        <p:sp>
          <p:nvSpPr>
            <p:cNvPr id="137" name="Rectangle 136"/>
            <p:cNvSpPr/>
            <p:nvPr/>
          </p:nvSpPr>
          <p:spPr>
            <a:xfrm>
              <a:off x="12213335"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38" name="Connector 137"/>
            <p:cNvCxnSpPr/>
            <p:nvPr/>
          </p:nvCxnSpPr>
          <p:spPr>
            <a:xfrm flipV="1">
              <a:off x="12213335"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9" name="TextBox 138"/>
            <p:cNvSpPr txBox="1"/>
            <p:nvPr/>
          </p:nvSpPr>
          <p:spPr>
            <a:xfrm>
              <a:off x="12231989"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40" name="TextBox 139"/>
            <p:cNvSpPr txBox="1"/>
            <p:nvPr/>
          </p:nvSpPr>
          <p:spPr>
            <a:xfrm>
              <a:off x="12437181"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6</a:t>
              </a:r>
            </a:p>
          </p:txBody>
        </p:sp>
        <p:sp>
          <p:nvSpPr>
            <p:cNvPr id="141" name="Rectangle 140"/>
            <p:cNvSpPr/>
            <p:nvPr/>
          </p:nvSpPr>
          <p:spPr>
            <a:xfrm>
              <a:off x="12679679"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42" name="Connector 141"/>
            <p:cNvCxnSpPr/>
            <p:nvPr/>
          </p:nvCxnSpPr>
          <p:spPr>
            <a:xfrm flipV="1">
              <a:off x="12679679"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43" name="TextBox 142"/>
            <p:cNvSpPr txBox="1"/>
            <p:nvPr/>
          </p:nvSpPr>
          <p:spPr>
            <a:xfrm>
              <a:off x="12698333"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44" name="TextBox 143"/>
            <p:cNvSpPr txBox="1"/>
            <p:nvPr/>
          </p:nvSpPr>
          <p:spPr>
            <a:xfrm>
              <a:off x="12903525"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cxnSp>
          <p:nvCxnSpPr>
            <p:cNvPr id="145" name="Connector 144"/>
            <p:cNvCxnSpPr/>
            <p:nvPr/>
          </p:nvCxnSpPr>
          <p:spPr>
            <a:xfrm>
              <a:off x="11280648"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a:off x="11746992"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a:off x="12213335"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a:off x="12679679"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a:off x="13146023"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a:off x="11280648" y="3602736"/>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11280648" y="4069080"/>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a:off x="11280648" y="4535424"/>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a:off x="11280648" y="5001768"/>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154" name="TextBox 153"/>
            <p:cNvSpPr txBox="1"/>
            <p:nvPr/>
          </p:nvSpPr>
          <p:spPr>
            <a:xfrm>
              <a:off x="12679679"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2</a:t>
              </a:r>
            </a:p>
          </p:txBody>
        </p:sp>
        <p:sp>
          <p:nvSpPr>
            <p:cNvPr id="155" name="TextBox 154"/>
            <p:cNvSpPr txBox="1"/>
            <p:nvPr/>
          </p:nvSpPr>
          <p:spPr>
            <a:xfrm>
              <a:off x="12213335"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7</a:t>
              </a:r>
            </a:p>
          </p:txBody>
        </p:sp>
        <p:sp>
          <p:nvSpPr>
            <p:cNvPr id="156" name="TextBox 155"/>
            <p:cNvSpPr txBox="1"/>
            <p:nvPr/>
          </p:nvSpPr>
          <p:spPr>
            <a:xfrm>
              <a:off x="11746992"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6</a:t>
              </a:r>
            </a:p>
          </p:txBody>
        </p:sp>
        <p:sp>
          <p:nvSpPr>
            <p:cNvPr id="157" name="TextBox 156"/>
            <p:cNvSpPr txBox="1"/>
            <p:nvPr/>
          </p:nvSpPr>
          <p:spPr>
            <a:xfrm>
              <a:off x="11280648"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2</a:t>
              </a:r>
            </a:p>
          </p:txBody>
        </p:sp>
        <p:sp>
          <p:nvSpPr>
            <p:cNvPr id="158" name="TextBox 157"/>
            <p:cNvSpPr txBox="1"/>
            <p:nvPr/>
          </p:nvSpPr>
          <p:spPr>
            <a:xfrm>
              <a:off x="11298935" y="4956048"/>
              <a:ext cx="233171" cy="155448"/>
            </a:xfrm>
            <a:prstGeom prst="rect">
              <a:avLst/>
            </a:prstGeom>
            <a:noFill/>
          </p:spPr>
          <p:txBody>
            <a:bodyPr wrap="none" lIns="0" tIns="0" rIns="0" bIns="0" anchor="ctr">
              <a:spAutoFit/>
            </a:bodyPr>
            <a:lstStyle/>
            <a:p>
              <a:pPr algn="ctr">
                <a:defRPr sz="1000" b="1">
                  <a:solidFill>
                    <a:srgbClr val="B14F00"/>
                  </a:solidFill>
                  <a:latin typeface="Arial"/>
                </a:defRPr>
              </a:pPr>
              <a:r>
                <a:t>+1</a:t>
              </a:r>
            </a:p>
          </p:txBody>
        </p:sp>
        <p:sp>
          <p:nvSpPr>
            <p:cNvPr id="159" name="TextBox 158"/>
            <p:cNvSpPr txBox="1"/>
            <p:nvPr/>
          </p:nvSpPr>
          <p:spPr>
            <a:xfrm>
              <a:off x="10969752" y="4535424"/>
              <a:ext cx="265176" cy="466343"/>
            </a:xfrm>
            <a:prstGeom prst="rect">
              <a:avLst/>
            </a:prstGeom>
            <a:noFill/>
          </p:spPr>
          <p:txBody>
            <a:bodyPr wrap="none" lIns="0" tIns="0" rIns="0" bIns="0" anchor="ctr">
              <a:spAutoFit/>
            </a:bodyPr>
            <a:lstStyle/>
            <a:p>
              <a:pPr algn="ctr">
                <a:defRPr sz="1900" b="1">
                  <a:solidFill>
                    <a:srgbClr val="754B87"/>
                  </a:solidFill>
                  <a:latin typeface="Arial"/>
                </a:defRPr>
              </a:pPr>
              <a:r>
                <a:t>7</a:t>
              </a:r>
            </a:p>
          </p:txBody>
        </p:sp>
        <p:sp>
          <p:nvSpPr>
            <p:cNvPr id="160" name="TextBox 159"/>
            <p:cNvSpPr txBox="1"/>
            <p:nvPr/>
          </p:nvSpPr>
          <p:spPr>
            <a:xfrm>
              <a:off x="10951464" y="4544568"/>
              <a:ext cx="320040" cy="155448"/>
            </a:xfrm>
            <a:prstGeom prst="rect">
              <a:avLst/>
            </a:prstGeom>
            <a:noFill/>
          </p:spPr>
          <p:txBody>
            <a:bodyPr wrap="none" lIns="0" tIns="0" rIns="0" bIns="0" anchor="ctr">
              <a:spAutoFit/>
            </a:bodyPr>
            <a:lstStyle/>
            <a:p>
              <a:pPr algn="ctr">
                <a:defRPr sz="1000" b="1">
                  <a:solidFill>
                    <a:srgbClr val="B14F00"/>
                  </a:solidFill>
                  <a:latin typeface="Arial"/>
                </a:defRPr>
              </a:pPr>
              <a:r>
                <a:t>+1</a:t>
              </a:r>
            </a:p>
          </p:txBody>
        </p:sp>
        <p:sp>
          <p:nvSpPr>
            <p:cNvPr id="161" name="TextBox 160"/>
            <p:cNvSpPr txBox="1"/>
            <p:nvPr/>
          </p:nvSpPr>
          <p:spPr>
            <a:xfrm>
              <a:off x="10969752" y="4069080"/>
              <a:ext cx="265176" cy="466343"/>
            </a:xfrm>
            <a:prstGeom prst="rect">
              <a:avLst/>
            </a:prstGeom>
            <a:noFill/>
          </p:spPr>
          <p:txBody>
            <a:bodyPr wrap="none" lIns="0" tIns="0" rIns="0" bIns="0" anchor="ctr">
              <a:spAutoFit/>
            </a:bodyPr>
            <a:lstStyle/>
            <a:p>
              <a:pPr algn="ctr">
                <a:defRPr sz="1900" b="1">
                  <a:solidFill>
                    <a:srgbClr val="754B87"/>
                  </a:solidFill>
                  <a:latin typeface="Arial"/>
                </a:defRPr>
              </a:pPr>
              <a:r>
                <a:t>6</a:t>
              </a:r>
            </a:p>
          </p:txBody>
        </p:sp>
        <p:sp>
          <p:nvSpPr>
            <p:cNvPr id="162" name="TextBox 161"/>
            <p:cNvSpPr txBox="1"/>
            <p:nvPr/>
          </p:nvSpPr>
          <p:spPr>
            <a:xfrm>
              <a:off x="10969752" y="3602736"/>
              <a:ext cx="265176" cy="466343"/>
            </a:xfrm>
            <a:prstGeom prst="rect">
              <a:avLst/>
            </a:prstGeom>
            <a:noFill/>
          </p:spPr>
          <p:txBody>
            <a:bodyPr wrap="none" lIns="0" tIns="0" rIns="0" bIns="0" anchor="ctr">
              <a:spAutoFit/>
            </a:bodyPr>
            <a:lstStyle/>
            <a:p>
              <a:pPr algn="ctr">
                <a:defRPr sz="1900" b="1">
                  <a:solidFill>
                    <a:srgbClr val="8193A0"/>
                  </a:solidFill>
                  <a:latin typeface="Arial"/>
                </a:defRPr>
              </a:pPr>
              <a:r>
                <a:t>0</a:t>
              </a:r>
            </a:p>
          </p:txBody>
        </p:sp>
      </p:grpSp>
      <p:sp>
        <p:nvSpPr>
          <p:cNvPr id="163" name="Rectangle 162"/>
          <p:cNvSpPr/>
          <p:nvPr/>
        </p:nvSpPr>
        <p:spPr>
          <a:xfrm>
            <a:off x="384048" y="5330952"/>
            <a:ext cx="2103120" cy="169164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4" name="TextBox 163"/>
          <p:cNvSpPr txBox="1"/>
          <p:nvPr/>
        </p:nvSpPr>
        <p:spPr>
          <a:xfrm>
            <a:off x="448056" y="5422392"/>
            <a:ext cx="1975103" cy="150876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165" name="Rectangle 164"/>
          <p:cNvSpPr/>
          <p:nvPr/>
        </p:nvSpPr>
        <p:spPr>
          <a:xfrm>
            <a:off x="2487168"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6" name="TextBox 165"/>
          <p:cNvSpPr txBox="1"/>
          <p:nvPr/>
        </p:nvSpPr>
        <p:spPr>
          <a:xfrm>
            <a:off x="2551175"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Start at the bottom right:</a:t>
            </a:r>
          </a:p>
          <a:p>
            <a:pPr>
              <a:lnSpc>
                <a:spcPts val="1620"/>
              </a:lnSpc>
              <a:spcBef>
                <a:spcPts val="0"/>
              </a:spcBef>
              <a:spcAft>
                <a:spcPts val="0"/>
              </a:spcAft>
              <a:defRPr sz="1500" b="0">
                <a:solidFill>
                  <a:srgbClr val="182B3A"/>
                </a:solidFill>
                <a:latin typeface="Arial"/>
              </a:defRPr>
            </a:pPr>
            <a:r>
              <a:t>8 → write 8</a:t>
            </a:r>
          </a:p>
          <a:p>
            <a:pPr>
              <a:lnSpc>
                <a:spcPts val="1620"/>
              </a:lnSpc>
              <a:spcBef>
                <a:spcPts val="0"/>
              </a:spcBef>
              <a:spcAft>
                <a:spcPts val="0"/>
              </a:spcAft>
              <a:defRPr sz="1500" b="0">
                <a:solidFill>
                  <a:srgbClr val="182B3A"/>
                </a:solidFill>
                <a:latin typeface="Arial"/>
              </a:defRPr>
            </a:pPr>
            <a:r>
              <a:t>1 + 4 = 5 → write 5</a:t>
            </a:r>
          </a:p>
          <a:p>
            <a:pPr>
              <a:lnSpc>
                <a:spcPts val="1620"/>
              </a:lnSpc>
              <a:spcBef>
                <a:spcPts val="0"/>
              </a:spcBef>
              <a:spcAft>
                <a:spcPts val="0"/>
              </a:spcAft>
              <a:defRPr sz="1500" b="0">
                <a:solidFill>
                  <a:srgbClr val="182B3A"/>
                </a:solidFill>
                <a:latin typeface="Arial"/>
              </a:defRPr>
            </a:pPr>
            <a:r>
              <a:t>2 → write 2</a:t>
            </a:r>
          </a:p>
        </p:txBody>
      </p:sp>
      <p:sp>
        <p:nvSpPr>
          <p:cNvPr id="167" name="Rectangle 166"/>
          <p:cNvSpPr/>
          <p:nvPr/>
        </p:nvSpPr>
        <p:spPr>
          <a:xfrm>
            <a:off x="6406895"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8" name="TextBox 167"/>
          <p:cNvSpPr txBox="1"/>
          <p:nvPr/>
        </p:nvSpPr>
        <p:spPr>
          <a:xfrm>
            <a:off x="6470904"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Start at the bottom right:</a:t>
            </a:r>
          </a:p>
          <a:p>
            <a:pPr>
              <a:lnSpc>
                <a:spcPts val="1620"/>
              </a:lnSpc>
              <a:spcBef>
                <a:spcPts val="0"/>
              </a:spcBef>
              <a:spcAft>
                <a:spcPts val="0"/>
              </a:spcAft>
              <a:defRPr sz="1500" b="0">
                <a:solidFill>
                  <a:srgbClr val="182B3A"/>
                </a:solidFill>
                <a:latin typeface="Arial"/>
              </a:defRPr>
            </a:pPr>
            <a:r>
              <a:t>8 → write 8</a:t>
            </a:r>
          </a:p>
          <a:p>
            <a:pPr>
              <a:lnSpc>
                <a:spcPts val="1620"/>
              </a:lnSpc>
              <a:spcBef>
                <a:spcPts val="0"/>
              </a:spcBef>
              <a:spcAft>
                <a:spcPts val="0"/>
              </a:spcAft>
              <a:defRPr sz="1500" b="0">
                <a:solidFill>
                  <a:srgbClr val="182B3A"/>
                </a:solidFill>
                <a:latin typeface="Arial"/>
              </a:defRPr>
            </a:pPr>
            <a:r>
              <a:t>4 + 0 + 6 = 10 → write 0, carry 1</a:t>
            </a:r>
          </a:p>
          <a:p>
            <a:pPr>
              <a:lnSpc>
                <a:spcPts val="1620"/>
              </a:lnSpc>
              <a:spcBef>
                <a:spcPts val="0"/>
              </a:spcBef>
              <a:spcAft>
                <a:spcPts val="0"/>
              </a:spcAft>
              <a:defRPr sz="1500" b="0">
                <a:solidFill>
                  <a:srgbClr val="182B3A"/>
                </a:solidFill>
                <a:latin typeface="Arial"/>
              </a:defRPr>
            </a:pPr>
            <a:r>
              <a:t>0 + 3 + 0 + 1 = 4 → write 4</a:t>
            </a:r>
          </a:p>
          <a:p>
            <a:pPr>
              <a:lnSpc>
                <a:spcPts val="1620"/>
              </a:lnSpc>
              <a:spcBef>
                <a:spcPts val="0"/>
              </a:spcBef>
              <a:spcAft>
                <a:spcPts val="0"/>
              </a:spcAft>
              <a:defRPr sz="1500" b="0">
                <a:solidFill>
                  <a:srgbClr val="182B3A"/>
                </a:solidFill>
                <a:latin typeface="Arial"/>
              </a:defRPr>
            </a:pPr>
            <a:r>
              <a:t>0 → leading zero</a:t>
            </a:r>
          </a:p>
        </p:txBody>
      </p:sp>
      <p:sp>
        <p:nvSpPr>
          <p:cNvPr id="169" name="Rectangle 168"/>
          <p:cNvSpPr/>
          <p:nvPr/>
        </p:nvSpPr>
        <p:spPr>
          <a:xfrm>
            <a:off x="10326624"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0" name="TextBox 169"/>
          <p:cNvSpPr txBox="1"/>
          <p:nvPr/>
        </p:nvSpPr>
        <p:spPr>
          <a:xfrm>
            <a:off x="10390632"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2 → write 2</a:t>
            </a:r>
          </a:p>
          <a:p>
            <a:pPr>
              <a:lnSpc>
                <a:spcPts val="1620"/>
              </a:lnSpc>
              <a:spcBef>
                <a:spcPts val="0"/>
              </a:spcBef>
              <a:spcAft>
                <a:spcPts val="0"/>
              </a:spcAft>
              <a:defRPr sz="1500" b="0">
                <a:solidFill>
                  <a:srgbClr val="182B3A"/>
                </a:solidFill>
                <a:latin typeface="Arial"/>
              </a:defRPr>
            </a:pPr>
            <a:r>
              <a:t>1+0+6 = 7 → write 7</a:t>
            </a:r>
          </a:p>
          <a:p>
            <a:pPr>
              <a:lnSpc>
                <a:spcPts val="1620"/>
              </a:lnSpc>
              <a:spcBef>
                <a:spcPts val="0"/>
              </a:spcBef>
              <a:spcAft>
                <a:spcPts val="0"/>
              </a:spcAft>
              <a:defRPr sz="1500" b="0">
                <a:solidFill>
                  <a:srgbClr val="182B3A"/>
                </a:solidFill>
                <a:latin typeface="Arial"/>
              </a:defRPr>
            </a:pPr>
            <a:r>
              <a:t>1+2+0+5+8 = 16 → 6, carry 1</a:t>
            </a:r>
          </a:p>
          <a:p>
            <a:pPr>
              <a:lnSpc>
                <a:spcPts val="1620"/>
              </a:lnSpc>
              <a:spcBef>
                <a:spcPts val="0"/>
              </a:spcBef>
              <a:spcAft>
                <a:spcPts val="0"/>
              </a:spcAft>
              <a:defRPr sz="1500" b="0">
                <a:solidFill>
                  <a:srgbClr val="182B3A"/>
                </a:solidFill>
                <a:latin typeface="Arial"/>
              </a:defRPr>
            </a:pPr>
            <a:r>
              <a:t>0+0+1+1+5+4+1 = 12 → 2, carry 1</a:t>
            </a:r>
          </a:p>
          <a:p>
            <a:pPr>
              <a:lnSpc>
                <a:spcPts val="1620"/>
              </a:lnSpc>
              <a:spcBef>
                <a:spcPts val="0"/>
              </a:spcBef>
              <a:spcAft>
                <a:spcPts val="0"/>
              </a:spcAft>
              <a:defRPr sz="1500" b="0">
                <a:solidFill>
                  <a:srgbClr val="182B3A"/>
                </a:solidFill>
                <a:latin typeface="Arial"/>
              </a:defRPr>
            </a:pPr>
            <a:r>
              <a:t>0+1+3+2+0+1 = 7 → write 7</a:t>
            </a:r>
          </a:p>
          <a:p>
            <a:pPr>
              <a:lnSpc>
                <a:spcPts val="1620"/>
              </a:lnSpc>
              <a:spcBef>
                <a:spcPts val="0"/>
              </a:spcBef>
              <a:spcAft>
                <a:spcPts val="0"/>
              </a:spcAft>
              <a:defRPr sz="1500" b="0">
                <a:solidFill>
                  <a:srgbClr val="182B3A"/>
                </a:solidFill>
                <a:latin typeface="Arial"/>
              </a:defRPr>
            </a:pPr>
            <a:r>
              <a:t>0+2+4 = 6 → write 6</a:t>
            </a:r>
          </a:p>
          <a:p>
            <a:pPr>
              <a:lnSpc>
                <a:spcPts val="1620"/>
              </a:lnSpc>
              <a:spcBef>
                <a:spcPts val="0"/>
              </a:spcBef>
              <a:spcAft>
                <a:spcPts val="0"/>
              </a:spcAft>
              <a:defRPr sz="1500" b="0">
                <a:solidFill>
                  <a:srgbClr val="182B3A"/>
                </a:solidFill>
                <a:latin typeface="Arial"/>
              </a:defRPr>
            </a:pPr>
            <a:r>
              <a:t>0 → leading zero</a:t>
            </a:r>
          </a:p>
        </p:txBody>
      </p:sp>
      <p:sp>
        <p:nvSpPr>
          <p:cNvPr id="171" name="Rectangle 170"/>
          <p:cNvSpPr/>
          <p:nvPr/>
        </p:nvSpPr>
        <p:spPr>
          <a:xfrm>
            <a:off x="384048" y="7022592"/>
            <a:ext cx="2103120" cy="7315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2" name="TextBox 171"/>
          <p:cNvSpPr txBox="1"/>
          <p:nvPr/>
        </p:nvSpPr>
        <p:spPr>
          <a:xfrm>
            <a:off x="448056" y="7114031"/>
            <a:ext cx="1975103" cy="5486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173" name="Rectangle 172"/>
          <p:cNvSpPr/>
          <p:nvPr/>
        </p:nvSpPr>
        <p:spPr>
          <a:xfrm>
            <a:off x="2487168"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4" name="TextBox 173"/>
          <p:cNvSpPr txBox="1"/>
          <p:nvPr/>
        </p:nvSpPr>
        <p:spPr>
          <a:xfrm>
            <a:off x="2551175"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43 × 6 = 258</a:t>
            </a:r>
          </a:p>
        </p:txBody>
      </p:sp>
      <p:sp>
        <p:nvSpPr>
          <p:cNvPr id="175" name="Rectangle 174"/>
          <p:cNvSpPr/>
          <p:nvPr/>
        </p:nvSpPr>
        <p:spPr>
          <a:xfrm>
            <a:off x="6406895"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6" name="TextBox 175"/>
          <p:cNvSpPr txBox="1"/>
          <p:nvPr/>
        </p:nvSpPr>
        <p:spPr>
          <a:xfrm>
            <a:off x="6470904"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34 × 12 = 408</a:t>
            </a:r>
          </a:p>
        </p:txBody>
      </p:sp>
      <p:sp>
        <p:nvSpPr>
          <p:cNvPr id="177" name="Rectangle 176"/>
          <p:cNvSpPr/>
          <p:nvPr/>
        </p:nvSpPr>
        <p:spPr>
          <a:xfrm>
            <a:off x="10326624"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8" name="TextBox 177"/>
          <p:cNvSpPr txBox="1"/>
          <p:nvPr/>
        </p:nvSpPr>
        <p:spPr>
          <a:xfrm>
            <a:off x="10390632"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4,312 × 156 = 672,672</a:t>
            </a:r>
          </a:p>
        </p:txBody>
      </p:sp>
    </p:spTree>
  </p:cSld>
  <p:clrMapOvr>
    <a:masterClrMapping/>
  </p:clrMapOvr>
</p:sld>
</file>

<file path=ppt/slides/slide100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 — empty grids to copy</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Size means columns × rows. Put the first number across the top and the second down the right.</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M01-TEMPLATES  •  Record your working in your booklet or webapp.</a:t>
            </a:r>
          </a:p>
        </p:txBody>
      </p:sp>
      <p:sp>
        <p:nvSpPr>
          <p:cNvPr id="6" name="TextBox 5"/>
          <p:cNvSpPr txBox="1"/>
          <p:nvPr/>
        </p:nvSpPr>
        <p:spPr>
          <a:xfrm>
            <a:off x="1143000" y="1463040"/>
            <a:ext cx="2743200" cy="365760"/>
          </a:xfrm>
          <a:prstGeom prst="rect">
            <a:avLst/>
          </a:prstGeom>
          <a:noFill/>
        </p:spPr>
        <p:txBody>
          <a:bodyPr wrap="square" tIns="36576" bIns="36576" anchor="t">
            <a:spAutoFit/>
          </a:bodyPr>
          <a:lstStyle/>
          <a:p>
            <a:pPr>
              <a:lnSpc>
                <a:spcPts val="2484"/>
              </a:lnSpc>
              <a:spcBef>
                <a:spcPts val="0"/>
              </a:spcBef>
              <a:spcAft>
                <a:spcPts val="0"/>
              </a:spcAft>
              <a:defRPr sz="2300" b="1">
                <a:solidFill>
                  <a:srgbClr val="182B3A"/>
                </a:solidFill>
                <a:latin typeface="Arial"/>
              </a:defRPr>
            </a:pPr>
            <a:r>
              <a:t>2 × 2 grid</a:t>
            </a:r>
          </a:p>
        </p:txBody>
      </p:sp>
      <p:grpSp>
        <p:nvGrpSpPr>
          <p:cNvPr id="7" name="Empty 2 by 2 lattice template"/>
          <p:cNvGrpSpPr/>
          <p:nvPr/>
        </p:nvGrpSpPr>
        <p:grpSpPr>
          <a:xfrm>
            <a:off x="1371600" y="2011680"/>
            <a:ext cx="1060704" cy="1060704"/>
            <a:chOff x="1371600" y="2011680"/>
            <a:chExt cx="1060704" cy="1060704"/>
          </a:xfrm>
        </p:grpSpPr>
        <p:cxnSp>
          <p:nvCxnSpPr>
            <p:cNvPr id="8" name="Connector 7"/>
            <p:cNvCxnSpPr/>
            <p:nvPr/>
          </p:nvCxnSpPr>
          <p:spPr>
            <a:xfrm>
              <a:off x="1371600"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901952"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432304"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371600" y="2011680"/>
              <a:ext cx="10607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371600" y="2542032"/>
              <a:ext cx="10607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371600" y="3072384"/>
              <a:ext cx="10607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371600"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1901952"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1371600"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1901952"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grpSp>
      <p:sp>
        <p:nvSpPr>
          <p:cNvPr id="18" name="TextBox 17"/>
          <p:cNvSpPr txBox="1"/>
          <p:nvPr/>
        </p:nvSpPr>
        <p:spPr>
          <a:xfrm>
            <a:off x="5669280" y="1463040"/>
            <a:ext cx="2743200" cy="365760"/>
          </a:xfrm>
          <a:prstGeom prst="rect">
            <a:avLst/>
          </a:prstGeom>
          <a:noFill/>
        </p:spPr>
        <p:txBody>
          <a:bodyPr wrap="square" tIns="36576" bIns="36576" anchor="t">
            <a:spAutoFit/>
          </a:bodyPr>
          <a:lstStyle/>
          <a:p>
            <a:pPr>
              <a:lnSpc>
                <a:spcPts val="2484"/>
              </a:lnSpc>
              <a:spcBef>
                <a:spcPts val="0"/>
              </a:spcBef>
              <a:spcAft>
                <a:spcPts val="0"/>
              </a:spcAft>
              <a:defRPr sz="2300" b="1">
                <a:solidFill>
                  <a:srgbClr val="182B3A"/>
                </a:solidFill>
                <a:latin typeface="Arial"/>
              </a:defRPr>
            </a:pPr>
            <a:r>
              <a:t>3 × 2 grid</a:t>
            </a:r>
          </a:p>
        </p:txBody>
      </p:sp>
      <p:grpSp>
        <p:nvGrpSpPr>
          <p:cNvPr id="19" name="Empty 3 by 2 lattice template"/>
          <p:cNvGrpSpPr/>
          <p:nvPr/>
        </p:nvGrpSpPr>
        <p:grpSpPr>
          <a:xfrm>
            <a:off x="5897880" y="2011680"/>
            <a:ext cx="1591056" cy="1060704"/>
            <a:chOff x="5897880" y="2011680"/>
            <a:chExt cx="1591056" cy="1060704"/>
          </a:xfrm>
        </p:grpSpPr>
        <p:cxnSp>
          <p:nvCxnSpPr>
            <p:cNvPr id="20" name="Connector 19"/>
            <p:cNvCxnSpPr/>
            <p:nvPr/>
          </p:nvCxnSpPr>
          <p:spPr>
            <a:xfrm>
              <a:off x="5897880"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428232"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958584"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488936"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897880" y="2011680"/>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897880" y="2542032"/>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897880" y="3072384"/>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5897880"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6428232"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6958584"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5897880"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6428232"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6958584"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grpSp>
      <p:sp>
        <p:nvSpPr>
          <p:cNvPr id="33" name="TextBox 32"/>
          <p:cNvSpPr txBox="1"/>
          <p:nvPr/>
        </p:nvSpPr>
        <p:spPr>
          <a:xfrm>
            <a:off x="10332720" y="1463040"/>
            <a:ext cx="2743200" cy="365760"/>
          </a:xfrm>
          <a:prstGeom prst="rect">
            <a:avLst/>
          </a:prstGeom>
          <a:noFill/>
        </p:spPr>
        <p:txBody>
          <a:bodyPr wrap="square" tIns="36576" bIns="36576" anchor="t">
            <a:spAutoFit/>
          </a:bodyPr>
          <a:lstStyle/>
          <a:p>
            <a:pPr>
              <a:lnSpc>
                <a:spcPts val="2484"/>
              </a:lnSpc>
              <a:spcBef>
                <a:spcPts val="0"/>
              </a:spcBef>
              <a:spcAft>
                <a:spcPts val="0"/>
              </a:spcAft>
              <a:defRPr sz="2300" b="1">
                <a:solidFill>
                  <a:srgbClr val="182B3A"/>
                </a:solidFill>
                <a:latin typeface="Arial"/>
              </a:defRPr>
            </a:pPr>
            <a:r>
              <a:t>3 × 3 grid</a:t>
            </a:r>
          </a:p>
        </p:txBody>
      </p:sp>
      <p:grpSp>
        <p:nvGrpSpPr>
          <p:cNvPr id="34" name="Empty 3 by 3 lattice template"/>
          <p:cNvGrpSpPr/>
          <p:nvPr/>
        </p:nvGrpSpPr>
        <p:grpSpPr>
          <a:xfrm>
            <a:off x="10561320" y="2011680"/>
            <a:ext cx="1591056" cy="1591056"/>
            <a:chOff x="10561320" y="2011680"/>
            <a:chExt cx="1591056" cy="1591056"/>
          </a:xfrm>
        </p:grpSpPr>
        <p:cxnSp>
          <p:nvCxnSpPr>
            <p:cNvPr id="35" name="Connector 34"/>
            <p:cNvCxnSpPr/>
            <p:nvPr/>
          </p:nvCxnSpPr>
          <p:spPr>
            <a:xfrm>
              <a:off x="10561320" y="201168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1091672" y="201168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1622024" y="201168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2152376" y="201168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0561320" y="2011680"/>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0561320" y="2542032"/>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0561320" y="3072384"/>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0561320" y="3602736"/>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10561320"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11091672"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11622024"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10561320"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11091672"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11622024"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10561320" y="307238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11091672" y="307238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11622024" y="307238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grpSp>
      <p:sp>
        <p:nvSpPr>
          <p:cNvPr id="52" name="TextBox 51"/>
          <p:cNvSpPr txBox="1"/>
          <p:nvPr/>
        </p:nvSpPr>
        <p:spPr>
          <a:xfrm>
            <a:off x="3154680" y="4343400"/>
            <a:ext cx="2743200" cy="365760"/>
          </a:xfrm>
          <a:prstGeom prst="rect">
            <a:avLst/>
          </a:prstGeom>
          <a:noFill/>
        </p:spPr>
        <p:txBody>
          <a:bodyPr wrap="square" tIns="36576" bIns="36576" anchor="t">
            <a:spAutoFit/>
          </a:bodyPr>
          <a:lstStyle/>
          <a:p>
            <a:pPr>
              <a:lnSpc>
                <a:spcPts val="2484"/>
              </a:lnSpc>
              <a:spcBef>
                <a:spcPts val="0"/>
              </a:spcBef>
              <a:spcAft>
                <a:spcPts val="0"/>
              </a:spcAft>
              <a:defRPr sz="2300" b="1">
                <a:solidFill>
                  <a:srgbClr val="182B3A"/>
                </a:solidFill>
                <a:latin typeface="Arial"/>
              </a:defRPr>
            </a:pPr>
            <a:r>
              <a:t>4 × 3 grid</a:t>
            </a:r>
          </a:p>
        </p:txBody>
      </p:sp>
      <p:grpSp>
        <p:nvGrpSpPr>
          <p:cNvPr id="53" name="Empty 4 by 3 lattice template"/>
          <p:cNvGrpSpPr/>
          <p:nvPr/>
        </p:nvGrpSpPr>
        <p:grpSpPr>
          <a:xfrm>
            <a:off x="3383280" y="4892040"/>
            <a:ext cx="2121408" cy="1591056"/>
            <a:chOff x="3383280" y="4892040"/>
            <a:chExt cx="2121408" cy="1591056"/>
          </a:xfrm>
        </p:grpSpPr>
        <p:cxnSp>
          <p:nvCxnSpPr>
            <p:cNvPr id="54" name="Connector 53"/>
            <p:cNvCxnSpPr/>
            <p:nvPr/>
          </p:nvCxnSpPr>
          <p:spPr>
            <a:xfrm>
              <a:off x="3383280" y="489204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3913632" y="489204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4443984" y="489204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4974336" y="489204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5504688" y="489204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3383280" y="4892040"/>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3383280" y="5422392"/>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3383280" y="5952744"/>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3383280" y="6483096"/>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3383280"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3913632"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4443984"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4974336"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3383280"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3913632"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4443984"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4974336"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3383280"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3913632"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4443984"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4974336"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grpSp>
      <p:sp>
        <p:nvSpPr>
          <p:cNvPr id="75" name="TextBox 74"/>
          <p:cNvSpPr txBox="1"/>
          <p:nvPr/>
        </p:nvSpPr>
        <p:spPr>
          <a:xfrm>
            <a:off x="8778240" y="4343400"/>
            <a:ext cx="2743200" cy="365760"/>
          </a:xfrm>
          <a:prstGeom prst="rect">
            <a:avLst/>
          </a:prstGeom>
          <a:noFill/>
        </p:spPr>
        <p:txBody>
          <a:bodyPr wrap="square" tIns="36576" bIns="36576" anchor="t">
            <a:spAutoFit/>
          </a:bodyPr>
          <a:lstStyle/>
          <a:p>
            <a:pPr>
              <a:lnSpc>
                <a:spcPts val="2484"/>
              </a:lnSpc>
              <a:spcBef>
                <a:spcPts val="0"/>
              </a:spcBef>
              <a:spcAft>
                <a:spcPts val="0"/>
              </a:spcAft>
              <a:defRPr sz="2300" b="1">
                <a:solidFill>
                  <a:srgbClr val="182B3A"/>
                </a:solidFill>
                <a:latin typeface="Arial"/>
              </a:defRPr>
            </a:pPr>
            <a:r>
              <a:t>4 × 4 grid</a:t>
            </a:r>
          </a:p>
        </p:txBody>
      </p:sp>
      <p:grpSp>
        <p:nvGrpSpPr>
          <p:cNvPr id="76" name="Empty 4 by 4 lattice template"/>
          <p:cNvGrpSpPr/>
          <p:nvPr/>
        </p:nvGrpSpPr>
        <p:grpSpPr>
          <a:xfrm>
            <a:off x="9006840" y="4892040"/>
            <a:ext cx="2121408" cy="2121408"/>
            <a:chOff x="9006840" y="4892040"/>
            <a:chExt cx="2121408" cy="2121408"/>
          </a:xfrm>
        </p:grpSpPr>
        <p:cxnSp>
          <p:nvCxnSpPr>
            <p:cNvPr id="77" name="Connector 76"/>
            <p:cNvCxnSpPr/>
            <p:nvPr/>
          </p:nvCxnSpPr>
          <p:spPr>
            <a:xfrm>
              <a:off x="9006840" y="4892040"/>
              <a:ext cx="0" cy="212140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9537192" y="4892040"/>
              <a:ext cx="0" cy="212140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10067544" y="4892040"/>
              <a:ext cx="0" cy="212140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10597896" y="4892040"/>
              <a:ext cx="0" cy="212140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11128248" y="4892040"/>
              <a:ext cx="0" cy="212140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9006840" y="4892040"/>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9006840" y="5422392"/>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9006840" y="5952744"/>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9006840" y="6483096"/>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9006840" y="7013448"/>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9006840"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9537192"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10067544"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10597896"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9006840"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9537192"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10067544"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10597896"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9006840"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9537192"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10067544"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10597896"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9006840" y="6483096"/>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9537192" y="6483096"/>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10067544" y="6483096"/>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10597896" y="6483096"/>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grpSp>
    </p:spTree>
  </p:cSld>
  <p:clrMapOvr>
    <a:masterClrMapping/>
  </p:clrMapOvr>
</p:sld>
</file>

<file path=ppt/slides/slide1003.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Complete each step in your booklet or webapp.</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M01-S02  •  Topic slide 3</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53 × 7</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24 × 15</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1,245 × 326</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9" name="Rectangle 28"/>
          <p:cNvSpPr/>
          <p:nvPr/>
        </p:nvSpPr>
        <p:spPr>
          <a:xfrm>
            <a:off x="384048" y="3456432"/>
            <a:ext cx="2103120" cy="13716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1887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3" name="Rectangle 32"/>
          <p:cNvSpPr/>
          <p:nvPr/>
        </p:nvSpPr>
        <p:spPr>
          <a:xfrm>
            <a:off x="6406895"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5" name="Rectangle 34"/>
          <p:cNvSpPr/>
          <p:nvPr/>
        </p:nvSpPr>
        <p:spPr>
          <a:xfrm>
            <a:off x="10326624"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zero </a:t>
            </a:r>
            <a:r>
              <a:rPr lang="en-GB"/>
              <a:t>in tens </a:t>
            </a:r>
            <a:r>
              <a:t>if the product is below 10.</a:t>
            </a:r>
          </a:p>
        </p:txBody>
      </p:sp>
      <p:sp>
        <p:nvSpPr>
          <p:cNvPr id="37" name="Rectangle 36"/>
          <p:cNvSpPr/>
          <p:nvPr/>
        </p:nvSpPr>
        <p:spPr>
          <a:xfrm>
            <a:off x="384048" y="4828031"/>
            <a:ext cx="2103120" cy="18288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4919471"/>
            <a:ext cx="1975103" cy="16459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39" name="Rectangle 38"/>
          <p:cNvSpPr/>
          <p:nvPr/>
        </p:nvSpPr>
        <p:spPr>
          <a:xfrm>
            <a:off x="2487168"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1" name="Rectangle 40"/>
          <p:cNvSpPr/>
          <p:nvPr/>
        </p:nvSpPr>
        <p:spPr>
          <a:xfrm>
            <a:off x="6406895"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3" name="Rectangle 42"/>
          <p:cNvSpPr/>
          <p:nvPr/>
        </p:nvSpPr>
        <p:spPr>
          <a:xfrm>
            <a:off x="10326624"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5" name="Rectangle 44"/>
          <p:cNvSpPr/>
          <p:nvPr/>
        </p:nvSpPr>
        <p:spPr>
          <a:xfrm>
            <a:off x="384048" y="6656831"/>
            <a:ext cx="2103120" cy="10515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48271"/>
            <a:ext cx="1975103" cy="8686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47" name="Rectangle 46"/>
          <p:cNvSpPr/>
          <p:nvPr/>
        </p:nvSpPr>
        <p:spPr>
          <a:xfrm>
            <a:off x="2487168"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49" name="Rectangle 48"/>
          <p:cNvSpPr/>
          <p:nvPr/>
        </p:nvSpPr>
        <p:spPr>
          <a:xfrm>
            <a:off x="6406895"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51" name="Rectangle 50"/>
          <p:cNvSpPr/>
          <p:nvPr/>
        </p:nvSpPr>
        <p:spPr>
          <a:xfrm>
            <a:off x="10326624"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Tree>
  </p:cSld>
  <p:clrMapOvr>
    <a:masterClrMapping/>
  </p:clrMapOvr>
</p:sld>
</file>

<file path=ppt/slides/slide100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Complete each step in your booklet or webapp.</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M01-S03  •  Topic slide 4</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84 × 5</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63 × 28</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3,142 × 2045</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9" name="Rectangle 28"/>
          <p:cNvSpPr/>
          <p:nvPr/>
        </p:nvSpPr>
        <p:spPr>
          <a:xfrm>
            <a:off x="384048" y="3456432"/>
            <a:ext cx="2103120" cy="13716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1887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3" name="Rectangle 32"/>
          <p:cNvSpPr/>
          <p:nvPr/>
        </p:nvSpPr>
        <p:spPr>
          <a:xfrm>
            <a:off x="6406895"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5" name="Rectangle 34"/>
          <p:cNvSpPr/>
          <p:nvPr/>
        </p:nvSpPr>
        <p:spPr>
          <a:xfrm>
            <a:off x="10326624"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zero </a:t>
            </a:r>
            <a:r>
              <a:rPr lang="en-GB"/>
              <a:t>in tens </a:t>
            </a:r>
            <a:r>
              <a:t>if the product is below 10.</a:t>
            </a:r>
          </a:p>
        </p:txBody>
      </p:sp>
      <p:sp>
        <p:nvSpPr>
          <p:cNvPr id="37" name="Rectangle 36"/>
          <p:cNvSpPr/>
          <p:nvPr/>
        </p:nvSpPr>
        <p:spPr>
          <a:xfrm>
            <a:off x="384048" y="4828031"/>
            <a:ext cx="2103120" cy="18288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4919471"/>
            <a:ext cx="1975103" cy="16459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39" name="Rectangle 38"/>
          <p:cNvSpPr/>
          <p:nvPr/>
        </p:nvSpPr>
        <p:spPr>
          <a:xfrm>
            <a:off x="2487168"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1" name="Rectangle 40"/>
          <p:cNvSpPr/>
          <p:nvPr/>
        </p:nvSpPr>
        <p:spPr>
          <a:xfrm>
            <a:off x="6406895"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3" name="Rectangle 42"/>
          <p:cNvSpPr/>
          <p:nvPr/>
        </p:nvSpPr>
        <p:spPr>
          <a:xfrm>
            <a:off x="10326624"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5" name="Rectangle 44"/>
          <p:cNvSpPr/>
          <p:nvPr/>
        </p:nvSpPr>
        <p:spPr>
          <a:xfrm>
            <a:off x="384048" y="6656831"/>
            <a:ext cx="2103120" cy="10515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48271"/>
            <a:ext cx="1975103" cy="8686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47" name="Rectangle 46"/>
          <p:cNvSpPr/>
          <p:nvPr/>
        </p:nvSpPr>
        <p:spPr>
          <a:xfrm>
            <a:off x="2487168"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49" name="Rectangle 48"/>
          <p:cNvSpPr/>
          <p:nvPr/>
        </p:nvSpPr>
        <p:spPr>
          <a:xfrm>
            <a:off x="6406895"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51" name="Rectangle 50"/>
          <p:cNvSpPr/>
          <p:nvPr/>
        </p:nvSpPr>
        <p:spPr>
          <a:xfrm>
            <a:off x="10326624"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Tree>
  </p:cSld>
  <p:clrMapOvr>
    <a:masterClrMapping/>
  </p:clrMapOvr>
</p:sld>
</file>

<file path=ppt/slides/slide1005.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M01-S04  •  Topic slide 6</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 × 4</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 × 8</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 × 3</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83 × 7</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95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42 × 13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26 × 34</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 × 22</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 × 41</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75 × 16</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57</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342 × 15</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612 × 24</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1,234 × 125</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2,105 × 304</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4,316 × 1,024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7,029 × 2,316</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006.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M01-S05  •  Topic slide 7</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24 × 6</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57 × 4</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68 × 3</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39 × 7</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 × 8</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23 × 14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25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37 × 42</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58 × 36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64 × 27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79 × 53</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425 × 23</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708 × 46</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1,326 × 243</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3,048 × 512</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5,607 × 1,204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8,214 × 3,067</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007.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M01-S06  •  Topic slide 8</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7</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29 × 8</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65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78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87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35 × 24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 × 17</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48 × 39</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76 × 28</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54 × 46</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89 × 65</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536 × 34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809 × 27</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2,047 × 368</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4,158 × 427</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6,309 × 2,058</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9,274 × 4,163</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008.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M01-S07  •  Topic slide 9</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38 × 5</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56 × 9</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67 × 8</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49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4</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97 × 7</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27 × 35</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 × 26</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69 × 48</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85 × 37</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 × 59</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 × 68</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647 × 45</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902 × 38</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3,156 × 489</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5,027 × 596</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7,418 × 3,264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8,639 × 5,076</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22</Slides>
  <Notes>22</Notes>
  <HiddenSlides>0</HiddenSlide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GCSE Maths Revision Starters</dc:title>
  <dc:subject>Lattice multiplication, bus stop division and application to exam problems</dc:subject>
  <dc:creator>Maths teaching resources</dc:creator>
  <cp:keywords/>
  <dc:description>generated using python-pptx</dc:description>
  <cp:revision>1</cp:revision>
  <dcterms:created xsi:type="dcterms:W3CDTF">2013-01-27T09:14:16Z</dcterms:created>
  <dcterms:modified xsi:type="dcterms:W3CDTF">2026-09-24T15:49:41Z</dcterms:modified>
  <cp:category/>
</cp:coreProperties>
</file>