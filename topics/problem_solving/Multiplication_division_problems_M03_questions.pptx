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77" r:id="rId16"/>
    <p:sldId id="270" r:id="rId17"/>
    <p:sldId id="271" r:id="rId18"/>
    <p:sldId id="272" r:id="rId19"/>
    <p:sldId id="278" r:id="rId15"/>
    <p:sldId id="273" r:id="rId20"/>
    <p:sldId id="274" r:id="rId21"/>
    <p:sldId id="275" r:id="rId22"/>
    <p:sldId id="276" r:id="rId23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DF5D94-B901-6206-A612-082DFF76D998}" v="4" dt="2026-09-24T15:48:54.0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5" Type="http://schemas.openxmlformats.org/officeDocument/2006/relationships/slide" Target="slides/slide5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microsoft.com/office/2016/11/relationships/changesInfo" Target="changesInfos/changesInfo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e Hudson" userId="41092641-dab8-42af-8751-810f10f62201" providerId="ADAL" clId="{2D5970AC-48F5-4BA0-8370-EBD52AA4EFA8}"/>
    <pc:docChg chg="modSld">
      <pc:chgData name="Joe Hudson" userId="41092641-dab8-42af-8751-810f10f62201" providerId="ADAL" clId="{2D5970AC-48F5-4BA0-8370-EBD52AA4EFA8}" dt="2026-09-24T12:16:27.943" v="25" actId="20577"/>
      <pc:docMkLst>
        <pc:docMk/>
      </pc:docMkLst>
      <pc:sldChg chg="modSp mod">
        <pc:chgData name="Joe Hudson" userId="41092641-dab8-42af-8751-810f10f62201" providerId="ADAL" clId="{2D5970AC-48F5-4BA0-8370-EBD52AA4EFA8}" dt="2026-09-24T12:16:27.943" v="25" actId="20577"/>
        <pc:sldMkLst>
          <pc:docMk/>
          <pc:sldMk cId="0" sldId="257"/>
        </pc:sldMkLst>
        <pc:spChg chg="mod">
          <ac:chgData name="Joe Hudson" userId="41092641-dab8-42af-8751-810f10f62201" providerId="ADAL" clId="{2D5970AC-48F5-4BA0-8370-EBD52AA4EFA8}" dt="2026-09-24T12:16:27.943" v="25" actId="20577"/>
          <ac:spMkLst>
            <pc:docMk/>
            <pc:sldMk cId="0" sldId="257"/>
            <ac:spMk id="36" creationId="{00000000-0000-0000-0000-000000000000}"/>
          </ac:spMkLst>
        </pc:spChg>
      </pc:sldChg>
      <pc:sldChg chg="modSp mod">
        <pc:chgData name="Joe Hudson" userId="41092641-dab8-42af-8751-810f10f62201" providerId="ADAL" clId="{2D5970AC-48F5-4BA0-8370-EBD52AA4EFA8}" dt="2026-09-24T12:16:16.865" v="12" actId="20577"/>
        <pc:sldMkLst>
          <pc:docMk/>
          <pc:sldMk cId="0" sldId="258"/>
        </pc:sldMkLst>
        <pc:spChg chg="mod">
          <ac:chgData name="Joe Hudson" userId="41092641-dab8-42af-8751-810f10f62201" providerId="ADAL" clId="{2D5970AC-48F5-4BA0-8370-EBD52AA4EFA8}" dt="2026-09-24T12:16:16.865" v="12" actId="20577"/>
          <ac:spMkLst>
            <pc:docMk/>
            <pc:sldMk cId="0" sldId="258"/>
            <ac:spMk id="36" creationId="{00000000-0000-0000-0000-000000000000}"/>
          </ac:spMkLst>
        </pc:spChg>
      </pc:sldChg>
    </pc:docChg>
  </pc:docChgLst>
  <pc:docChgLst>
    <pc:chgData name="Joe Hudson" userId="S::joe.hudson@shcg.ac.uk::41092641-dab8-42af-8751-810f10f62201" providerId="AD" clId="Web-{2CDF5D94-B901-6206-A612-082DFF76D998}"/>
    <pc:docChg chg="modSld">
      <pc:chgData name="Joe Hudson" userId="S::joe.hudson@shcg.ac.uk::41092641-dab8-42af-8751-810f10f62201" providerId="AD" clId="Web-{2CDF5D94-B901-6206-A612-082DFF76D998}" dt="2026-09-24T15:48:54.034" v="1" actId="20577"/>
      <pc:docMkLst>
        <pc:docMk/>
      </pc:docMkLst>
      <pc:sldChg chg="modSp">
        <pc:chgData name="Joe Hudson" userId="S::joe.hudson@shcg.ac.uk::41092641-dab8-42af-8751-810f10f62201" providerId="AD" clId="Web-{2CDF5D94-B901-6206-A612-082DFF76D998}" dt="2026-09-24T15:48:54.034" v="1" actId="20577"/>
        <pc:sldMkLst>
          <pc:docMk/>
          <pc:sldMk cId="0" sldId="276"/>
        </pc:sldMkLst>
        <pc:spChg chg="mod">
          <ac:chgData name="Joe Hudson" userId="S::joe.hudson@shcg.ac.uk::41092641-dab8-42af-8751-810f10f62201" providerId="AD" clId="Web-{2CDF5D94-B901-6206-A612-082DFF76D998}" dt="2026-09-24T15:48:54.034" v="1" actId="20577"/>
          <ac:spMkLst>
            <pc:docMk/>
            <pc:sldMk cId="0" sldId="276"/>
            <ac:spMk id="39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8366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Application to Exam Problems — worked demo</a:t>
            </a:r>
          </a:p>
          <a:p>
            <a:endParaRPr/>
          </a:p>
          <a:p>
            <a:r>
              <a:t>Guided: 84 ÷ 4 = 21 tins per box. Core: 130 ÷ 6 = 21 r 4, so 21 full packs. Depth: 145 ÷ 9 = 16 r 1, so 17 minibuses; 17 × 40 = £680.</a:t>
            </a:r>
          </a:p>
          <a:p>
            <a:endParaRPr/>
          </a:p>
          <a:p>
            <a:r>
              <a:t>For Depth, 16 buses would seat only 144 students. The first answer must be interpreted before the next calculation. In the lattice for 17 × 40, top row cells are 04, 28; bottom row cells 00, 00. Diagonal totals from right: 0, 8, 6, 0 → 680. Both worked diagrams are provided as editable groups. Ballpark calculations check scale; they are not exact-answer proofs.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Application to Exam Problems — step-by-step practice 1</a:t>
            </a:r>
          </a:p>
          <a:p>
            <a:endParaRPr/>
          </a:p>
          <a:p>
            <a:r>
              <a:t>Thread 1: Guided: 42 × 15 = 630 pens. Estimate: 40 × 15 = 600.</a:t>
            </a:r>
          </a:p>
          <a:p>
            <a:endParaRPr/>
          </a:p>
          <a:p>
            <a:r>
              <a:t>Thread 2: Core: 215 ÷ 6 = 35 r 5 → 35 full bags. Estimate: 210 ÷ 6 = 35.</a:t>
            </a:r>
          </a:p>
          <a:p>
            <a:endParaRPr/>
          </a:p>
          <a:p>
            <a:r>
              <a:t>Thread 3: Depth: 18 × 32 = 576; 576 + 120 = £696. Estimate: 20 × 30 + 120 = 720.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Application to Exam Problems — step-by-step practice 2</a:t>
            </a:r>
          </a:p>
          <a:p>
            <a:endParaRPr/>
          </a:p>
          <a:p>
            <a:r>
              <a:t>Thread 1: Guided: 168 ÷ 7 = 24 students. Estimate: 140 ÷ 7 = 20.</a:t>
            </a:r>
          </a:p>
          <a:p>
            <a:endParaRPr/>
          </a:p>
          <a:p>
            <a:r>
              <a:t>Thread 2: Core: 16 × 27 = £432. Estimate: 16 × 30 = 480.</a:t>
            </a:r>
          </a:p>
          <a:p>
            <a:endParaRPr/>
          </a:p>
          <a:p>
            <a:r>
              <a:t>Thread 3: Depth: 157 ÷ 8 = 19 r 5 → 20 vans; 20 × 45 = £900. Estimate: 160 ÷ 8 × 45 = 900.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Application to Exam Problems — independent practice 1</a:t>
            </a:r>
          </a:p>
          <a:p>
            <a:endParaRPr/>
          </a:p>
          <a:p>
            <a:r>
              <a:t>### Thread 1: Guided</a:t>
            </a:r>
          </a:p>
          <a:p>
            <a:endParaRPr/>
          </a:p>
          <a:p>
            <a:r>
              <a:t>1. 14 × 32 = 448 books</a:t>
            </a:r>
          </a:p>
          <a:p>
            <a:endParaRPr/>
          </a:p>
          <a:p>
            <a:r>
              <a:t>2. 105 ÷ 7 = 15 students</a:t>
            </a:r>
          </a:p>
          <a:p>
            <a:endParaRPr/>
          </a:p>
          <a:p>
            <a:r>
              <a:t>3. 26 × 41 = 1,066 bottles</a:t>
            </a:r>
          </a:p>
          <a:p>
            <a:endParaRPr/>
          </a:p>
          <a:p>
            <a:r>
              <a:t>4. 148 ÷ 4 = 37 m</a:t>
            </a:r>
          </a:p>
          <a:p>
            <a:endParaRPr/>
          </a:p>
          <a:p>
            <a:r>
              <a:t>5. 13 × 85 = 1,105 seats</a:t>
            </a:r>
          </a:p>
          <a:p>
            <a:endParaRPr/>
          </a:p>
          <a:p>
            <a:r>
              <a:t>6. 175 ÷ 5 = £35</a:t>
            </a:r>
          </a:p>
          <a:p>
            <a:endParaRPr/>
          </a:p>
          <a:p>
            <a:r>
              <a:t>### Thread 2: Core</a:t>
            </a:r>
          </a:p>
          <a:p>
            <a:endParaRPr/>
          </a:p>
          <a:p>
            <a:r>
              <a:t>1. 130 ÷ 6 = 21 r 4 → 21 full cartons</a:t>
            </a:r>
          </a:p>
          <a:p>
            <a:endParaRPr/>
          </a:p>
          <a:p>
            <a:r>
              <a:t>2. 32 ÷ 5 = 6 r 2 → 7 cars</a:t>
            </a:r>
          </a:p>
          <a:p>
            <a:endParaRPr/>
          </a:p>
          <a:p>
            <a:r>
              <a:t>3. 250 ÷ 12 = 20 r 10 → 10 chocolates</a:t>
            </a:r>
          </a:p>
          <a:p>
            <a:endParaRPr/>
          </a:p>
          <a:p>
            <a:r>
              <a:t>4. 17 × 28 = £476</a:t>
            </a:r>
          </a:p>
          <a:p>
            <a:endParaRPr/>
          </a:p>
          <a:p>
            <a:r>
              <a:t>5. 142 ÷ 6 = 23 r 4 → 23 full bags</a:t>
            </a:r>
          </a:p>
          <a:p>
            <a:endParaRPr/>
          </a:p>
          <a:p>
            <a:r>
              <a:t>6. 132 ÷ 8 = £16.50</a:t>
            </a:r>
          </a:p>
          <a:p>
            <a:endParaRPr/>
          </a:p>
          <a:p>
            <a:r>
              <a:t>### Thread 3: Depth</a:t>
            </a:r>
          </a:p>
          <a:p>
            <a:endParaRPr/>
          </a:p>
          <a:p>
            <a:r>
              <a:t>1. 45 × 16 = 720; 720 − 50 = £670</a:t>
            </a:r>
          </a:p>
          <a:p>
            <a:endParaRPr/>
          </a:p>
          <a:p>
            <a:r>
              <a:t>2. 115 ÷ 8 = 14 r 3 → 15 vans; 15 × 65 = £975</a:t>
            </a:r>
          </a:p>
          <a:p>
            <a:endParaRPr/>
          </a:p>
          <a:p>
            <a:r>
              <a:t>3. 22 × 14 = 308; 308 + 30 = £338</a:t>
            </a:r>
          </a:p>
          <a:p>
            <a:endParaRPr/>
          </a:p>
          <a:p>
            <a:r>
              <a:t>4. 430 ÷ 12 = 35 r 10; 35 × 9 = £315</a:t>
            </a:r>
          </a:p>
          <a:p>
            <a:endParaRPr/>
          </a:p>
          <a:p>
            <a:r>
              <a:t>5. 24 × 15 = 360; 360 + 45 = £405</a:t>
            </a:r>
          </a:p>
          <a:p>
            <a:endParaRPr/>
          </a:p>
          <a:p>
            <a:r>
              <a:t>6. 15 × 12 = 180; 180 × 8 = £1,440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Application to Exam Problems — independent practice 2</a:t>
            </a:r>
          </a:p>
          <a:p>
            <a:endParaRPr/>
          </a:p>
          <a:p>
            <a:r>
              <a:t>### Thread 1: Guided</a:t>
            </a:r>
          </a:p>
          <a:p>
            <a:endParaRPr/>
          </a:p>
          <a:p>
            <a:r>
              <a:t>1. 18 × 24 = 432 plants</a:t>
            </a:r>
          </a:p>
          <a:p>
            <a:endParaRPr/>
          </a:p>
          <a:p>
            <a:r>
              <a:t>2. 156 ÷ 6 = 26 pens</a:t>
            </a:r>
          </a:p>
          <a:p>
            <a:endParaRPr/>
          </a:p>
          <a:p>
            <a:r>
              <a:t>3. 23 × 16 = 368 badges</a:t>
            </a:r>
          </a:p>
          <a:p>
            <a:endParaRPr/>
          </a:p>
          <a:p>
            <a:r>
              <a:t>4. 248 ÷ 8 = £31</a:t>
            </a:r>
          </a:p>
          <a:p>
            <a:endParaRPr/>
          </a:p>
          <a:p>
            <a:r>
              <a:t>5. 12 × 27 = 324 km</a:t>
            </a:r>
          </a:p>
          <a:p>
            <a:endParaRPr/>
          </a:p>
          <a:p>
            <a:r>
              <a:t>6. 189 ÷ 7 = 27 cm</a:t>
            </a:r>
          </a:p>
          <a:p>
            <a:endParaRPr/>
          </a:p>
          <a:p>
            <a:r>
              <a:t>### Thread 2: Core</a:t>
            </a:r>
          </a:p>
          <a:p>
            <a:endParaRPr/>
          </a:p>
          <a:p>
            <a:r>
              <a:t>1. 197 ÷ 8 = 24 r 5 → 24 bundles</a:t>
            </a:r>
          </a:p>
          <a:p>
            <a:endParaRPr/>
          </a:p>
          <a:p>
            <a:r>
              <a:t>2. 83 ÷ 6 = 13 r 5 → 14 tents</a:t>
            </a:r>
          </a:p>
          <a:p>
            <a:endParaRPr/>
          </a:p>
          <a:p>
            <a:r>
              <a:t>3. 275 ÷ 12 = 22 r 11 → 11 cm</a:t>
            </a:r>
          </a:p>
          <a:p>
            <a:endParaRPr/>
          </a:p>
          <a:p>
            <a:r>
              <a:t>4. 36 × 14 = 504 pages</a:t>
            </a:r>
          </a:p>
          <a:p>
            <a:endParaRPr/>
          </a:p>
          <a:p>
            <a:r>
              <a:t>5. 154 ÷ 4 = £38.50</a:t>
            </a:r>
          </a:p>
          <a:p>
            <a:endParaRPr/>
          </a:p>
          <a:p>
            <a:r>
              <a:t>6. 253 ÷ 24 = 10 r 13 → 11 albums</a:t>
            </a:r>
          </a:p>
          <a:p>
            <a:endParaRPr/>
          </a:p>
          <a:p>
            <a:r>
              <a:t>### Thread 3: Depth</a:t>
            </a:r>
          </a:p>
          <a:p>
            <a:endParaRPr/>
          </a:p>
          <a:p>
            <a:r>
              <a:t>1. 28 × 14 = 392; 392 + 18 = £410</a:t>
            </a:r>
          </a:p>
          <a:p>
            <a:endParaRPr/>
          </a:p>
          <a:p>
            <a:r>
              <a:t>2. 94 ÷ 6 = 15 r 4 → 16 tables; 16 × 12 = £192</a:t>
            </a:r>
          </a:p>
          <a:p>
            <a:endParaRPr/>
          </a:p>
          <a:p>
            <a:r>
              <a:t>3. 24 × 15 = 360; 360 − 87 = 273 drinks</a:t>
            </a:r>
          </a:p>
          <a:p>
            <a:endParaRPr/>
          </a:p>
          <a:p>
            <a:r>
              <a:t>4. 286 ÷ 8 = 35 r 6; 35 × 3 = £105</a:t>
            </a:r>
          </a:p>
          <a:p>
            <a:endParaRPr/>
          </a:p>
          <a:p>
            <a:r>
              <a:t>5. 18 × 12 = 216; 216 ÷ 4 = £54</a:t>
            </a:r>
          </a:p>
          <a:p>
            <a:endParaRPr/>
          </a:p>
          <a:p>
            <a:r>
              <a:t>6. 17 × 24 = 408; 408 × 2 = £816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Application to Exam Problems — independent practice 3</a:t>
            </a:r>
          </a:p>
          <a:p>
            <a:endParaRPr/>
          </a:p>
          <a:p>
            <a:r>
              <a:t>### Thread 1: Guided</a:t>
            </a:r>
          </a:p>
          <a:p>
            <a:endParaRPr/>
          </a:p>
          <a:p>
            <a:r>
              <a:t>1. 16 × 35 = 560 cables</a:t>
            </a:r>
          </a:p>
          <a:p>
            <a:endParaRPr/>
          </a:p>
          <a:p>
            <a:r>
              <a:t>2. 252 ÷ 7 = 36 stickers</a:t>
            </a:r>
          </a:p>
          <a:p>
            <a:endParaRPr/>
          </a:p>
          <a:p>
            <a:r>
              <a:t>3. 28 × 24 = 672 seats</a:t>
            </a:r>
          </a:p>
          <a:p>
            <a:endParaRPr/>
          </a:p>
          <a:p>
            <a:r>
              <a:t>4. 336 ÷ 8 = 42 m</a:t>
            </a:r>
          </a:p>
          <a:p>
            <a:endParaRPr/>
          </a:p>
          <a:p>
            <a:r>
              <a:t>5. 19 × 32 = 608 cards</a:t>
            </a:r>
          </a:p>
          <a:p>
            <a:endParaRPr/>
          </a:p>
          <a:p>
            <a:r>
              <a:t>6. 315 ÷ 9 = £35</a:t>
            </a:r>
          </a:p>
          <a:p>
            <a:endParaRPr/>
          </a:p>
          <a:p>
            <a:r>
              <a:t>### Thread 2: Core</a:t>
            </a:r>
          </a:p>
          <a:p>
            <a:endParaRPr/>
          </a:p>
          <a:p>
            <a:r>
              <a:t>1. 245 ÷ 8 = 30 r 5 → 30 bags</a:t>
            </a:r>
          </a:p>
          <a:p>
            <a:endParaRPr/>
          </a:p>
          <a:p>
            <a:r>
              <a:t>2. 137 ÷ 9 = 15 r 2 → 16 trips</a:t>
            </a:r>
          </a:p>
          <a:p>
            <a:endParaRPr/>
          </a:p>
          <a:p>
            <a:r>
              <a:t>3. 359 ÷ 12 = 29 r 11 → 11 beads</a:t>
            </a:r>
          </a:p>
          <a:p>
            <a:endParaRPr/>
          </a:p>
          <a:p>
            <a:r>
              <a:t>4. 23 × 16 = £368</a:t>
            </a:r>
          </a:p>
          <a:p>
            <a:endParaRPr/>
          </a:p>
          <a:p>
            <a:r>
              <a:t>5. 186 ÷ 8 = £23.25</a:t>
            </a:r>
          </a:p>
          <a:p>
            <a:endParaRPr/>
          </a:p>
          <a:p>
            <a:r>
              <a:t>6. 25 × 48 = 1,200 cm²</a:t>
            </a:r>
          </a:p>
          <a:p>
            <a:endParaRPr/>
          </a:p>
          <a:p>
            <a:r>
              <a:t>### Thread 3: Depth</a:t>
            </a:r>
          </a:p>
          <a:p>
            <a:endParaRPr/>
          </a:p>
          <a:p>
            <a:r>
              <a:t>1. 21 × 18 = 378; 378 + 64 = £442</a:t>
            </a:r>
          </a:p>
          <a:p>
            <a:endParaRPr/>
          </a:p>
          <a:p>
            <a:r>
              <a:t>2. 167 ÷ 24 = 6 r 23 → 7 coaches; 7 × 85 = £595</a:t>
            </a:r>
          </a:p>
          <a:p>
            <a:endParaRPr/>
          </a:p>
          <a:p>
            <a:r>
              <a:t>3. 32 × 18 = 576; 576 − 145 = 431 cards</a:t>
            </a:r>
          </a:p>
          <a:p>
            <a:endParaRPr/>
          </a:p>
          <a:p>
            <a:r>
              <a:t>4. 397 ÷ 6 = 66 r 1; 66 × 4 = £264</a:t>
            </a:r>
          </a:p>
          <a:p>
            <a:endParaRPr/>
          </a:p>
          <a:p>
            <a:r>
              <a:t>5. 15 × 14 = 210; 210 ÷ 6 = £35</a:t>
            </a:r>
          </a:p>
          <a:p>
            <a:endParaRPr/>
          </a:p>
          <a:p>
            <a:r>
              <a:t>6. 23 × 16 = 368; 368 × 5 = £1,840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Application to Exam Problems — independent practice 4</a:t>
            </a:r>
          </a:p>
          <a:p>
            <a:endParaRPr/>
          </a:p>
          <a:p>
            <a:r>
              <a:t>### Thread 1: Guided</a:t>
            </a:r>
          </a:p>
          <a:p>
            <a:endParaRPr/>
          </a:p>
          <a:p>
            <a:r>
              <a:t>1. 27 × 18 = 486 labels</a:t>
            </a:r>
          </a:p>
          <a:p>
            <a:endParaRPr/>
          </a:p>
          <a:p>
            <a:r>
              <a:t>2. 384 ÷ 8 = 48 books</a:t>
            </a:r>
          </a:p>
          <a:p>
            <a:endParaRPr/>
          </a:p>
          <a:p>
            <a:r>
              <a:t>3. 34 × 16 = 544 seedlings</a:t>
            </a:r>
          </a:p>
          <a:p>
            <a:endParaRPr/>
          </a:p>
          <a:p>
            <a:r>
              <a:t>4. 425 ÷ 5 = £85</a:t>
            </a:r>
          </a:p>
          <a:p>
            <a:endParaRPr/>
          </a:p>
          <a:p>
            <a:r>
              <a:t>5. 26 × 35 = 910 seats</a:t>
            </a:r>
          </a:p>
          <a:p>
            <a:endParaRPr/>
          </a:p>
          <a:p>
            <a:r>
              <a:t>6. 294 ÷ 6 = 49 cm</a:t>
            </a:r>
          </a:p>
          <a:p>
            <a:endParaRPr/>
          </a:p>
          <a:p>
            <a:r>
              <a:t>### Thread 2: Core</a:t>
            </a:r>
          </a:p>
          <a:p>
            <a:endParaRPr/>
          </a:p>
          <a:p>
            <a:r>
              <a:t>1. 367 ÷ 12 = 30 r 7 → 30 boxes</a:t>
            </a:r>
          </a:p>
          <a:p>
            <a:endParaRPr/>
          </a:p>
          <a:p>
            <a:r>
              <a:t>2. 158 ÷ 6 = 26 r 2 → 27 rooms</a:t>
            </a:r>
          </a:p>
          <a:p>
            <a:endParaRPr/>
          </a:p>
          <a:p>
            <a:r>
              <a:t>3. 413 ÷ 15 = 27 r 8 → 8 cm</a:t>
            </a:r>
          </a:p>
          <a:p>
            <a:endParaRPr/>
          </a:p>
          <a:p>
            <a:r>
              <a:t>4. 28 × 19 = 532 bottles</a:t>
            </a:r>
          </a:p>
          <a:p>
            <a:endParaRPr/>
          </a:p>
          <a:p>
            <a:r>
              <a:t>5. 238 ÷ 8 = £29.75</a:t>
            </a:r>
          </a:p>
          <a:p>
            <a:endParaRPr/>
          </a:p>
          <a:p>
            <a:r>
              <a:t>6. 319 ÷ 24 = 13 r 7 → 14 folders</a:t>
            </a:r>
          </a:p>
          <a:p>
            <a:endParaRPr/>
          </a:p>
          <a:p>
            <a:r>
              <a:t>### Thread 3: Depth</a:t>
            </a:r>
          </a:p>
          <a:p>
            <a:endParaRPr/>
          </a:p>
          <a:p>
            <a:r>
              <a:t>1. 36 × 17 = 612; 612 − 75 = £537</a:t>
            </a:r>
          </a:p>
          <a:p>
            <a:endParaRPr/>
          </a:p>
          <a:p>
            <a:r>
              <a:t>2. 203 ÷ 8 = 25 r 3 → 26 tables; 26 × 15 = £390</a:t>
            </a:r>
          </a:p>
          <a:p>
            <a:endParaRPr/>
          </a:p>
          <a:p>
            <a:r>
              <a:t>3. 29 × 24 = 696; 696 − 187 = 509 notebooks</a:t>
            </a:r>
          </a:p>
          <a:p>
            <a:endParaRPr/>
          </a:p>
          <a:p>
            <a:r>
              <a:t>4. 518 ÷ 12 = 43 r 2; 43 × 5 = £215</a:t>
            </a:r>
          </a:p>
          <a:p>
            <a:endParaRPr/>
          </a:p>
          <a:p>
            <a:r>
              <a:t>5. 21 × 16 = 336; 336 ÷ 7 = £48</a:t>
            </a:r>
          </a:p>
          <a:p>
            <a:endParaRPr/>
          </a:p>
          <a:p>
            <a:r>
              <a:t>6. 28 × 15 = 420; 420 × 3 = £1,260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3807440" cy="4572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Multiplication and Division Problems — initial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40664"/>
            <a:ext cx="13807440" cy="41148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472"/>
                </a:solidFill>
                <a:latin typeface="Arial"/>
              </a:defRPr>
            </a:pPr>
            <a:r>
              <a:t>Show your full written method. No calculators.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63840"/>
            <a:ext cx="13716000" cy="25603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M03-IA  •  Record your working in your booklet or webapp.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463040"/>
            <a:ext cx="6858000" cy="285292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664208"/>
            <a:ext cx="6492240" cy="246888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1.  A ribbon is 144 cm long and cut into 6 equal pieces. Find the length of each piece.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79208" y="1463040"/>
            <a:ext cx="6858000" cy="285292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62088" y="1664208"/>
            <a:ext cx="6492240" cy="246888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2.  A hall has 14 rows with 25 seats in each row. How many seats are there altogether?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4526280"/>
            <a:ext cx="6858000" cy="285292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4727448"/>
            <a:ext cx="6492240" cy="246888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3.  145 eggs are packed into boxes of 6. How many full boxes can be made?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4526280"/>
            <a:ext cx="6858000" cy="285292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62088" y="4727448"/>
            <a:ext cx="6492240" cy="246888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4.  A coach hire company charges £75 per coach. 130 passengers need coaches with 24 seats each. Find the total hire cost.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2435840" cy="44805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Application to Exam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13232"/>
            <a:ext cx="135331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472"/>
                </a:solidFill>
                <a:latin typeface="Arial"/>
              </a:defRPr>
            </a:pPr>
            <a:r>
              <a:t>Worked demo  •  Choose the calculation, use a written method, then check.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82127"/>
            <a:ext cx="10058400" cy="21031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 •  Record your working in your booklet or webapp.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7863840"/>
            <a:ext cx="2788920" cy="2286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M03-S01  •  Topic slide 2</a:t>
            </a:r>
          </a:p>
        </p:txBody>
      </p:sp>
      <p:sp>
        <p:nvSpPr>
          <p:cNvPr id="7" name="Rectangle 6"/>
          <p:cNvSpPr/>
          <p:nvPr/>
        </p:nvSpPr>
        <p:spPr>
          <a:xfrm>
            <a:off x="2487168" y="1124712"/>
            <a:ext cx="3919727" cy="43891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42032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6895" y="1124712"/>
            <a:ext cx="3919727" cy="438912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61759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326624" y="1124712"/>
            <a:ext cx="3919727" cy="438912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381488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1581912"/>
            <a:ext cx="2103120" cy="128016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79" y="1618488"/>
            <a:ext cx="2048255" cy="1207007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1728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87168" y="1581912"/>
            <a:ext cx="3919727" cy="128016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42032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84 tins are shared equally among 4 boxes. How many tins go in each box?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6895" y="1581912"/>
            <a:ext cx="3919727" cy="128016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61759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130 biscuits are packed in packs of 6. How many completely full packs can be made?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326624" y="1581912"/>
            <a:ext cx="3919727" cy="128016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81488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145 students need minibuses with 9 passenger seats each. Hire costs £40 per minibus. Find the total cost.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2862072"/>
            <a:ext cx="2103120" cy="9601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8056" y="2953512"/>
            <a:ext cx="1975103" cy="7772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1. Keywords &amp; Calculation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7168" y="2862072"/>
            <a:ext cx="3919727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551175" y="2926079"/>
            <a:ext cx="3791712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“shared equally” among 4 boxes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84 ÷ 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6895" y="2862072"/>
            <a:ext cx="3919727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70904" y="2926079"/>
            <a:ext cx="3791712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“packs of 6”; “completely full”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130 ÷ 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326624" y="2862072"/>
            <a:ext cx="3919727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390632" y="2926079"/>
            <a:ext cx="3791712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“9 passenger seats”; “£40 per minibus”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145 ÷ 9, then buses × 40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048" y="3822191"/>
            <a:ext cx="2103120" cy="224028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8056" y="3913631"/>
            <a:ext cx="1975103" cy="20574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2. Written Method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87168" y="3822191"/>
            <a:ext cx="3919727" cy="22402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551175" y="388620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Bus stop: 8 ÷ 4 = 2; 4 ÷ 4 = 1.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84 ÷ 4 = 21.</a:t>
            </a:r>
          </a:p>
        </p:txBody>
      </p:sp>
      <p:grpSp>
        <p:nvGrpSpPr>
          <p:cNvPr id="33" name="Editable bus stop 84 ÷ 4"/>
          <p:cNvGrpSpPr/>
          <p:nvPr/>
        </p:nvGrpSpPr>
        <p:grpSpPr>
          <a:xfrm>
            <a:off x="3633216" y="5102352"/>
            <a:ext cx="1426463" cy="758952"/>
            <a:chOff x="3633216" y="5102352"/>
            <a:chExt cx="1426463" cy="758952"/>
          </a:xfrm>
        </p:grpSpPr>
        <p:cxnSp>
          <p:nvCxnSpPr>
            <p:cNvPr id="34" name="Connector 33"/>
            <p:cNvCxnSpPr/>
            <p:nvPr/>
          </p:nvCxnSpPr>
          <p:spPr>
            <a:xfrm>
              <a:off x="4035552" y="5477256"/>
              <a:ext cx="1024127" cy="0"/>
            </a:xfrm>
            <a:prstGeom prst="line">
              <a:avLst/>
            </a:prstGeom>
            <a:ln w="1778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or 34"/>
            <p:cNvCxnSpPr/>
            <p:nvPr/>
          </p:nvCxnSpPr>
          <p:spPr>
            <a:xfrm>
              <a:off x="4035552" y="5477256"/>
              <a:ext cx="0" cy="384048"/>
            </a:xfrm>
            <a:prstGeom prst="line">
              <a:avLst/>
            </a:prstGeom>
            <a:ln w="1778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/>
            <p:cNvSpPr txBox="1"/>
            <p:nvPr/>
          </p:nvSpPr>
          <p:spPr>
            <a:xfrm>
              <a:off x="3633216" y="5495544"/>
              <a:ext cx="347472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176B73"/>
                  </a:solidFill>
                  <a:latin typeface="Arial"/>
                </a:defRPr>
              </a:pPr>
              <a:r>
                <a:t>4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4108704" y="5495544"/>
              <a:ext cx="448056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0">
                  <a:solidFill>
                    <a:srgbClr val="182B3A"/>
                  </a:solidFill>
                  <a:latin typeface="Arial"/>
                </a:defRPr>
              </a:pPr>
              <a:r>
                <a:t>8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4108704" y="5102352"/>
              <a:ext cx="448056" cy="3200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176B73"/>
                  </a:solidFill>
                  <a:latin typeface="Arial"/>
                </a:defRPr>
              </a:pPr>
              <a:r>
                <a:t>2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556760" y="5495544"/>
              <a:ext cx="448056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0">
                  <a:solidFill>
                    <a:srgbClr val="182B3A"/>
                  </a:solidFill>
                  <a:latin typeface="Arial"/>
                </a:defRPr>
              </a:pPr>
              <a:r>
                <a:t>4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4556760" y="5102352"/>
              <a:ext cx="448056" cy="3200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176B73"/>
                  </a:solidFill>
                  <a:latin typeface="Arial"/>
                </a:defRPr>
              </a:pPr>
              <a:r>
                <a:t>1</a:t>
              </a:r>
            </a:p>
          </p:txBody>
        </p:sp>
      </p:grpSp>
      <p:sp>
        <p:nvSpPr>
          <p:cNvPr id="41" name="Rectangle 40"/>
          <p:cNvSpPr/>
          <p:nvPr/>
        </p:nvSpPr>
        <p:spPr>
          <a:xfrm>
            <a:off x="6406895" y="3822191"/>
            <a:ext cx="3919727" cy="22402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70904" y="388620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Bus stop: 13 ÷ 6 = 2 r 1;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10 ÷ 6 = 1 r 4. So 130 ÷ 6 = 21 r 4.</a:t>
            </a:r>
          </a:p>
        </p:txBody>
      </p:sp>
      <p:grpSp>
        <p:nvGrpSpPr>
          <p:cNvPr id="43" name="Editable bus stop 130 ÷ 6"/>
          <p:cNvGrpSpPr/>
          <p:nvPr/>
        </p:nvGrpSpPr>
        <p:grpSpPr>
          <a:xfrm>
            <a:off x="7328915" y="5102352"/>
            <a:ext cx="1874521" cy="905256"/>
            <a:chOff x="7328915" y="5102352"/>
            <a:chExt cx="1874521" cy="905256"/>
          </a:xfrm>
        </p:grpSpPr>
        <p:cxnSp>
          <p:nvCxnSpPr>
            <p:cNvPr id="44" name="Connector 43"/>
            <p:cNvCxnSpPr/>
            <p:nvPr/>
          </p:nvCxnSpPr>
          <p:spPr>
            <a:xfrm>
              <a:off x="7731251" y="5477256"/>
              <a:ext cx="1472185" cy="0"/>
            </a:xfrm>
            <a:prstGeom prst="line">
              <a:avLst/>
            </a:prstGeom>
            <a:ln w="1778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ctor 44"/>
            <p:cNvCxnSpPr/>
            <p:nvPr/>
          </p:nvCxnSpPr>
          <p:spPr>
            <a:xfrm>
              <a:off x="7731251" y="5477256"/>
              <a:ext cx="0" cy="384048"/>
            </a:xfrm>
            <a:prstGeom prst="line">
              <a:avLst/>
            </a:prstGeom>
            <a:ln w="1778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/>
            <p:cNvSpPr txBox="1"/>
            <p:nvPr/>
          </p:nvSpPr>
          <p:spPr>
            <a:xfrm>
              <a:off x="7328915" y="5495544"/>
              <a:ext cx="347472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3559A2"/>
                  </a:solidFill>
                  <a:latin typeface="Arial"/>
                </a:defRPr>
              </a:pPr>
              <a:r>
                <a:t>6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7804403" y="5495544"/>
              <a:ext cx="448056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0">
                  <a:solidFill>
                    <a:srgbClr val="182B3A"/>
                  </a:solidFill>
                  <a:latin typeface="Arial"/>
                </a:defRPr>
              </a:pPr>
              <a:r>
                <a:t>1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7804403" y="5102352"/>
              <a:ext cx="448056" cy="3200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3559A2"/>
                  </a:solidFill>
                  <a:latin typeface="Arial"/>
                </a:defRPr>
              </a:pPr>
              <a:endParaRPr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8252459" y="5495544"/>
              <a:ext cx="448056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0">
                  <a:solidFill>
                    <a:srgbClr val="182B3A"/>
                  </a:solidFill>
                  <a:latin typeface="Arial"/>
                </a:defRPr>
              </a:pPr>
              <a:r>
                <a:t>3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8252459" y="5102352"/>
              <a:ext cx="448056" cy="3200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3559A2"/>
                  </a:solidFill>
                  <a:latin typeface="Arial"/>
                </a:defRPr>
              </a:pPr>
              <a:r>
                <a:t>2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8161934" y="5468112"/>
              <a:ext cx="164592" cy="16459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100" b="1">
                  <a:solidFill>
                    <a:srgbClr val="B14F00"/>
                  </a:solidFill>
                  <a:latin typeface="Arial"/>
                </a:defRPr>
              </a:pPr>
              <a:r>
                <a:t>1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8700515" y="5495544"/>
              <a:ext cx="448056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0">
                  <a:solidFill>
                    <a:srgbClr val="182B3A"/>
                  </a:solidFill>
                  <a:latin typeface="Arial"/>
                </a:defRPr>
              </a:pPr>
              <a:r>
                <a:t>0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8700515" y="5102352"/>
              <a:ext cx="448056" cy="3200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3559A2"/>
                  </a:solidFill>
                  <a:latin typeface="Arial"/>
                </a:defRPr>
              </a:pPr>
              <a:r>
                <a:t>1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8609990" y="5468112"/>
              <a:ext cx="164592" cy="16459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100" b="1">
                  <a:solidFill>
                    <a:srgbClr val="B14F00"/>
                  </a:solidFill>
                  <a:latin typeface="Arial"/>
                </a:defRPr>
              </a:pPr>
              <a:r>
                <a:t>1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7804403" y="5843016"/>
              <a:ext cx="1344168" cy="16459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200" b="0">
                  <a:solidFill>
                    <a:srgbClr val="3559A2"/>
                  </a:solidFill>
                  <a:latin typeface="Arial"/>
                </a:defRPr>
              </a:pPr>
              <a:r>
                <a:t>remainder 4</a:t>
              </a:r>
            </a:p>
          </p:txBody>
        </p:sp>
      </p:grpSp>
      <p:sp>
        <p:nvSpPr>
          <p:cNvPr id="56" name="Rectangle 55"/>
          <p:cNvSpPr/>
          <p:nvPr/>
        </p:nvSpPr>
        <p:spPr>
          <a:xfrm>
            <a:off x="10326624" y="3822191"/>
            <a:ext cx="3919727" cy="22402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0390632" y="3886200"/>
            <a:ext cx="3791712" cy="841247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Bus stop: 14 ÷ 9 = 1 r 5;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55 ÷ 9 = 6 r 1. So 16 r 1 → 17 buses.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Lattice: 17 × 40 = 680.</a:t>
            </a:r>
          </a:p>
        </p:txBody>
      </p:sp>
      <p:grpSp>
        <p:nvGrpSpPr>
          <p:cNvPr id="58" name="Editable bus stop 145 ÷ 9"/>
          <p:cNvGrpSpPr/>
          <p:nvPr/>
        </p:nvGrpSpPr>
        <p:grpSpPr>
          <a:xfrm>
            <a:off x="10308336" y="5010912"/>
            <a:ext cx="1863181" cy="905256"/>
            <a:chOff x="10308336" y="5010912"/>
            <a:chExt cx="1863181" cy="905256"/>
          </a:xfrm>
        </p:grpSpPr>
        <p:cxnSp>
          <p:nvCxnSpPr>
            <p:cNvPr id="59" name="Connector 58"/>
            <p:cNvCxnSpPr/>
            <p:nvPr/>
          </p:nvCxnSpPr>
          <p:spPr>
            <a:xfrm>
              <a:off x="10710672" y="5385816"/>
              <a:ext cx="1460845" cy="0"/>
            </a:xfrm>
            <a:prstGeom prst="line">
              <a:avLst/>
            </a:prstGeom>
            <a:ln w="1778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or 59"/>
            <p:cNvCxnSpPr/>
            <p:nvPr/>
          </p:nvCxnSpPr>
          <p:spPr>
            <a:xfrm>
              <a:off x="10710672" y="5385816"/>
              <a:ext cx="0" cy="384048"/>
            </a:xfrm>
            <a:prstGeom prst="line">
              <a:avLst/>
            </a:prstGeom>
            <a:ln w="1778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Box 60"/>
            <p:cNvSpPr txBox="1"/>
            <p:nvPr/>
          </p:nvSpPr>
          <p:spPr>
            <a:xfrm>
              <a:off x="10308336" y="5404103"/>
              <a:ext cx="347472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754B87"/>
                  </a:solidFill>
                  <a:latin typeface="Arial"/>
                </a:defRPr>
              </a:pPr>
              <a:r>
                <a:t>9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10783824" y="5404103"/>
              <a:ext cx="444276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0">
                  <a:solidFill>
                    <a:srgbClr val="182B3A"/>
                  </a:solidFill>
                  <a:latin typeface="Arial"/>
                </a:defRPr>
              </a:pPr>
              <a:r>
                <a:t>1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10783824" y="5010912"/>
              <a:ext cx="444276" cy="3200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754B87"/>
                  </a:solidFill>
                  <a:latin typeface="Arial"/>
                </a:defRPr>
              </a:pPr>
              <a:endParaRPr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11228100" y="5404103"/>
              <a:ext cx="444276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0">
                  <a:solidFill>
                    <a:srgbClr val="182B3A"/>
                  </a:solidFill>
                  <a:latin typeface="Arial"/>
                </a:defRPr>
              </a:pPr>
              <a:r>
                <a:t>4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11228100" y="5010912"/>
              <a:ext cx="444276" cy="3200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754B87"/>
                  </a:solidFill>
                  <a:latin typeface="Arial"/>
                </a:defRPr>
              </a:pPr>
              <a:r>
                <a:t>1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11137574" y="5376672"/>
              <a:ext cx="164592" cy="16459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100" b="1">
                  <a:solidFill>
                    <a:srgbClr val="B14F00"/>
                  </a:solidFill>
                  <a:latin typeface="Arial"/>
                </a:defRPr>
              </a:pPr>
              <a:r>
                <a:t>1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11672376" y="5404103"/>
              <a:ext cx="444276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0">
                  <a:solidFill>
                    <a:srgbClr val="182B3A"/>
                  </a:solidFill>
                  <a:latin typeface="Arial"/>
                </a:defRPr>
              </a:pPr>
              <a:r>
                <a:t>5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11672376" y="5010912"/>
              <a:ext cx="444276" cy="3200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754B87"/>
                  </a:solidFill>
                  <a:latin typeface="Arial"/>
                </a:defRPr>
              </a:pPr>
              <a:r>
                <a:t>6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11581851" y="5376672"/>
              <a:ext cx="164592" cy="16459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100" b="1">
                  <a:solidFill>
                    <a:srgbClr val="B14F00"/>
                  </a:solidFill>
                  <a:latin typeface="Arial"/>
                </a:defRPr>
              </a:pPr>
              <a:r>
                <a:t>5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10783824" y="5751576"/>
              <a:ext cx="1332829" cy="16459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200" b="0">
                  <a:solidFill>
                    <a:srgbClr val="754B87"/>
                  </a:solidFill>
                  <a:latin typeface="Arial"/>
                </a:defRPr>
              </a:pPr>
              <a:r>
                <a:t>remainder 1</a:t>
              </a:r>
            </a:p>
          </p:txBody>
        </p:sp>
      </p:grpSp>
      <p:grpSp>
        <p:nvGrpSpPr>
          <p:cNvPr id="71" name="Editable lattice 17 × 40"/>
          <p:cNvGrpSpPr/>
          <p:nvPr/>
        </p:nvGrpSpPr>
        <p:grpSpPr>
          <a:xfrm>
            <a:off x="12489820" y="4809743"/>
            <a:ext cx="1271016" cy="1243584"/>
            <a:chOff x="12489820" y="4809743"/>
            <a:chExt cx="1271016" cy="1243584"/>
          </a:xfrm>
        </p:grpSpPr>
        <p:sp>
          <p:nvSpPr>
            <p:cNvPr id="72" name="TextBox 71"/>
            <p:cNvSpPr txBox="1"/>
            <p:nvPr/>
          </p:nvSpPr>
          <p:spPr>
            <a:xfrm>
              <a:off x="12800716" y="4809743"/>
              <a:ext cx="333756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1">
                  <a:solidFill>
                    <a:srgbClr val="754B87"/>
                  </a:solidFill>
                  <a:latin typeface="Arial"/>
                </a:defRPr>
              </a:pPr>
              <a:r>
                <a:t>1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13134472" y="4809743"/>
              <a:ext cx="333756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1">
                  <a:solidFill>
                    <a:srgbClr val="754B87"/>
                  </a:solidFill>
                  <a:latin typeface="Arial"/>
                </a:defRPr>
              </a:pPr>
              <a:r>
                <a:t>7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13495660" y="5065775"/>
              <a:ext cx="265176" cy="33375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1">
                  <a:solidFill>
                    <a:srgbClr val="754B87"/>
                  </a:solidFill>
                  <a:latin typeface="Arial"/>
                </a:defRPr>
              </a:pPr>
              <a:r>
                <a:t>4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13495660" y="5399531"/>
              <a:ext cx="265176" cy="33375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1">
                  <a:solidFill>
                    <a:srgbClr val="754B87"/>
                  </a:solidFill>
                  <a:latin typeface="Arial"/>
                </a:defRPr>
              </a:pPr>
              <a:r>
                <a:t>0</a:t>
              </a:r>
            </a:p>
          </p:txBody>
        </p:sp>
        <p:sp>
          <p:nvSpPr>
            <p:cNvPr id="76" name="Rectangle 75"/>
            <p:cNvSpPr/>
            <p:nvPr/>
          </p:nvSpPr>
          <p:spPr>
            <a:xfrm>
              <a:off x="12800716" y="5065775"/>
              <a:ext cx="333756" cy="333756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8E0E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77" name="Connector 76"/>
            <p:cNvCxnSpPr/>
            <p:nvPr/>
          </p:nvCxnSpPr>
          <p:spPr>
            <a:xfrm flipV="1">
              <a:off x="12800716" y="5065775"/>
              <a:ext cx="333756" cy="333756"/>
            </a:xfrm>
            <a:prstGeom prst="line">
              <a:avLst/>
            </a:prstGeom>
            <a:ln w="10160">
              <a:solidFill>
                <a:srgbClr val="8193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TextBox 77"/>
            <p:cNvSpPr txBox="1"/>
            <p:nvPr/>
          </p:nvSpPr>
          <p:spPr>
            <a:xfrm>
              <a:off x="12814066" y="5072451"/>
              <a:ext cx="160202" cy="15686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0">
                  <a:solidFill>
                    <a:srgbClr val="182B3A"/>
                  </a:solidFill>
                  <a:latin typeface="Arial"/>
                </a:defRPr>
              </a:pPr>
              <a:r>
                <a:t>0</a:t>
              </a: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12960918" y="5229316"/>
              <a:ext cx="160202" cy="15686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0">
                  <a:solidFill>
                    <a:srgbClr val="182B3A"/>
                  </a:solidFill>
                  <a:latin typeface="Arial"/>
                </a:defRPr>
              </a:pPr>
              <a:r>
                <a:t>4</a:t>
              </a:r>
            </a:p>
          </p:txBody>
        </p:sp>
        <p:sp>
          <p:nvSpPr>
            <p:cNvPr id="80" name="Rectangle 79"/>
            <p:cNvSpPr/>
            <p:nvPr/>
          </p:nvSpPr>
          <p:spPr>
            <a:xfrm>
              <a:off x="13134472" y="5065775"/>
              <a:ext cx="333756" cy="333756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8E0E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81" name="Connector 80"/>
            <p:cNvCxnSpPr/>
            <p:nvPr/>
          </p:nvCxnSpPr>
          <p:spPr>
            <a:xfrm flipV="1">
              <a:off x="13134472" y="5065775"/>
              <a:ext cx="333756" cy="333756"/>
            </a:xfrm>
            <a:prstGeom prst="line">
              <a:avLst/>
            </a:prstGeom>
            <a:ln w="10160">
              <a:solidFill>
                <a:srgbClr val="8193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Box 81"/>
            <p:cNvSpPr txBox="1"/>
            <p:nvPr/>
          </p:nvSpPr>
          <p:spPr>
            <a:xfrm>
              <a:off x="13147822" y="5072451"/>
              <a:ext cx="160202" cy="15686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0">
                  <a:solidFill>
                    <a:srgbClr val="182B3A"/>
                  </a:solidFill>
                  <a:latin typeface="Arial"/>
                </a:defRPr>
              </a:pPr>
              <a:r>
                <a:t>2</a:t>
              </a: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13294674" y="5229316"/>
              <a:ext cx="160202" cy="15686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0">
                  <a:solidFill>
                    <a:srgbClr val="182B3A"/>
                  </a:solidFill>
                  <a:latin typeface="Arial"/>
                </a:defRPr>
              </a:pPr>
              <a:r>
                <a:t>8</a:t>
              </a:r>
            </a:p>
          </p:txBody>
        </p:sp>
        <p:sp>
          <p:nvSpPr>
            <p:cNvPr id="84" name="Rectangle 83"/>
            <p:cNvSpPr/>
            <p:nvPr/>
          </p:nvSpPr>
          <p:spPr>
            <a:xfrm>
              <a:off x="12800716" y="5399531"/>
              <a:ext cx="333756" cy="333756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8E0E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85" name="Connector 84"/>
            <p:cNvCxnSpPr/>
            <p:nvPr/>
          </p:nvCxnSpPr>
          <p:spPr>
            <a:xfrm flipV="1">
              <a:off x="12800716" y="5399531"/>
              <a:ext cx="333756" cy="333757"/>
            </a:xfrm>
            <a:prstGeom prst="line">
              <a:avLst/>
            </a:prstGeom>
            <a:ln w="10160">
              <a:solidFill>
                <a:srgbClr val="8193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85"/>
            <p:cNvSpPr txBox="1"/>
            <p:nvPr/>
          </p:nvSpPr>
          <p:spPr>
            <a:xfrm>
              <a:off x="12814066" y="5406207"/>
              <a:ext cx="160202" cy="15686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0">
                  <a:solidFill>
                    <a:srgbClr val="182B3A"/>
                  </a:solidFill>
                  <a:latin typeface="Arial"/>
                </a:defRPr>
              </a:pPr>
              <a:r>
                <a:t>0</a:t>
              </a: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12960918" y="5563072"/>
              <a:ext cx="160202" cy="15686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0">
                  <a:solidFill>
                    <a:srgbClr val="182B3A"/>
                  </a:solidFill>
                  <a:latin typeface="Arial"/>
                </a:defRPr>
              </a:pPr>
              <a:r>
                <a:t>0</a:t>
              </a:r>
            </a:p>
          </p:txBody>
        </p:sp>
        <p:sp>
          <p:nvSpPr>
            <p:cNvPr id="88" name="Rectangle 87"/>
            <p:cNvSpPr/>
            <p:nvPr/>
          </p:nvSpPr>
          <p:spPr>
            <a:xfrm>
              <a:off x="13134472" y="5399531"/>
              <a:ext cx="333756" cy="333756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8E0E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89" name="Connector 88"/>
            <p:cNvCxnSpPr/>
            <p:nvPr/>
          </p:nvCxnSpPr>
          <p:spPr>
            <a:xfrm flipV="1">
              <a:off x="13134472" y="5399531"/>
              <a:ext cx="333756" cy="333757"/>
            </a:xfrm>
            <a:prstGeom prst="line">
              <a:avLst/>
            </a:prstGeom>
            <a:ln w="10160">
              <a:solidFill>
                <a:srgbClr val="8193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Box 89"/>
            <p:cNvSpPr txBox="1"/>
            <p:nvPr/>
          </p:nvSpPr>
          <p:spPr>
            <a:xfrm>
              <a:off x="13147822" y="5406207"/>
              <a:ext cx="160202" cy="15686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0">
                  <a:solidFill>
                    <a:srgbClr val="182B3A"/>
                  </a:solidFill>
                  <a:latin typeface="Arial"/>
                </a:defRPr>
              </a:pPr>
              <a:r>
                <a:t>0</a:t>
              </a: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13294674" y="5563072"/>
              <a:ext cx="160202" cy="15686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0">
                  <a:solidFill>
                    <a:srgbClr val="182B3A"/>
                  </a:solidFill>
                  <a:latin typeface="Arial"/>
                </a:defRPr>
              </a:pPr>
              <a:r>
                <a:t>0</a:t>
              </a:r>
            </a:p>
          </p:txBody>
        </p:sp>
        <p:cxnSp>
          <p:nvCxnSpPr>
            <p:cNvPr id="92" name="Connector 91"/>
            <p:cNvCxnSpPr/>
            <p:nvPr/>
          </p:nvCxnSpPr>
          <p:spPr>
            <a:xfrm>
              <a:off x="12800716" y="5065775"/>
              <a:ext cx="0" cy="667513"/>
            </a:xfrm>
            <a:prstGeom prst="line">
              <a:avLst/>
            </a:prstGeom>
            <a:ln w="1143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or 92"/>
            <p:cNvCxnSpPr/>
            <p:nvPr/>
          </p:nvCxnSpPr>
          <p:spPr>
            <a:xfrm>
              <a:off x="13134472" y="5065775"/>
              <a:ext cx="0" cy="667513"/>
            </a:xfrm>
            <a:prstGeom prst="line">
              <a:avLst/>
            </a:prstGeom>
            <a:ln w="1143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nector 93"/>
            <p:cNvCxnSpPr/>
            <p:nvPr/>
          </p:nvCxnSpPr>
          <p:spPr>
            <a:xfrm>
              <a:off x="13468228" y="5065775"/>
              <a:ext cx="0" cy="667513"/>
            </a:xfrm>
            <a:prstGeom prst="line">
              <a:avLst/>
            </a:prstGeom>
            <a:ln w="1143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Connector 94"/>
            <p:cNvCxnSpPr/>
            <p:nvPr/>
          </p:nvCxnSpPr>
          <p:spPr>
            <a:xfrm>
              <a:off x="12800716" y="5065775"/>
              <a:ext cx="667512" cy="0"/>
            </a:xfrm>
            <a:prstGeom prst="line">
              <a:avLst/>
            </a:prstGeom>
            <a:ln w="1143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nector 95"/>
            <p:cNvCxnSpPr/>
            <p:nvPr/>
          </p:nvCxnSpPr>
          <p:spPr>
            <a:xfrm>
              <a:off x="12800716" y="5399531"/>
              <a:ext cx="667512" cy="0"/>
            </a:xfrm>
            <a:prstGeom prst="line">
              <a:avLst/>
            </a:prstGeom>
            <a:ln w="1143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nector 96"/>
            <p:cNvCxnSpPr/>
            <p:nvPr/>
          </p:nvCxnSpPr>
          <p:spPr>
            <a:xfrm>
              <a:off x="12800716" y="5733288"/>
              <a:ext cx="667512" cy="0"/>
            </a:xfrm>
            <a:prstGeom prst="line">
              <a:avLst/>
            </a:prstGeom>
            <a:ln w="1143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TextBox 97"/>
            <p:cNvSpPr txBox="1"/>
            <p:nvPr/>
          </p:nvSpPr>
          <p:spPr>
            <a:xfrm>
              <a:off x="13134472" y="5815583"/>
              <a:ext cx="333756" cy="23774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600" b="1">
                  <a:solidFill>
                    <a:srgbClr val="754B87"/>
                  </a:solidFill>
                  <a:latin typeface="Arial"/>
                </a:defRPr>
              </a:pPr>
              <a:r>
                <a:t>0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12800716" y="5815583"/>
              <a:ext cx="333756" cy="23774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600" b="1">
                  <a:solidFill>
                    <a:srgbClr val="754B87"/>
                  </a:solidFill>
                  <a:latin typeface="Arial"/>
                </a:defRPr>
              </a:pPr>
              <a:r>
                <a:t>8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12489820" y="5399531"/>
              <a:ext cx="265176" cy="33375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600" b="1">
                  <a:solidFill>
                    <a:srgbClr val="754B87"/>
                  </a:solidFill>
                  <a:latin typeface="Arial"/>
                </a:defRPr>
              </a:pPr>
              <a:r>
                <a:t>6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12489820" y="5065775"/>
              <a:ext cx="265176" cy="33375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600" b="1">
                  <a:solidFill>
                    <a:srgbClr val="8193A0"/>
                  </a:solidFill>
                  <a:latin typeface="Arial"/>
                </a:defRPr>
              </a:pPr>
              <a:r>
                <a:t>0</a:t>
              </a:r>
            </a:p>
          </p:txBody>
        </p:sp>
      </p:grpSp>
      <p:sp>
        <p:nvSpPr>
          <p:cNvPr id="102" name="Rectangle 101"/>
          <p:cNvSpPr/>
          <p:nvPr/>
        </p:nvSpPr>
        <p:spPr>
          <a:xfrm>
            <a:off x="384048" y="6062472"/>
            <a:ext cx="2103120" cy="9601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448056" y="6153912"/>
            <a:ext cx="1975103" cy="7772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3. Ballpark Check &amp; Math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487168" y="6062472"/>
            <a:ext cx="3919727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2551175" y="6126480"/>
            <a:ext cx="3791712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80 ÷ 4 = 20.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21 is close to 20.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406895" y="6062472"/>
            <a:ext cx="3919727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6470904" y="6126480"/>
            <a:ext cx="3791712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120 ÷ 6 = 20.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21 full packs is reasonable.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0326624" y="6062472"/>
            <a:ext cx="3919727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10390632" y="6126480"/>
            <a:ext cx="3791712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150 ÷ 10 ≈ 15; 15 × 40 = 600.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£680 is reasonable: more buses are needed.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84048" y="7022592"/>
            <a:ext cx="2103120" cy="64008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448056" y="7114031"/>
            <a:ext cx="1975103" cy="457199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4. Final Answer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2487168" y="7022592"/>
            <a:ext cx="3919727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2551175" y="7086600"/>
            <a:ext cx="3791712" cy="47548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21 tins per box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406895" y="7022592"/>
            <a:ext cx="3919727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6470904" y="7086600"/>
            <a:ext cx="3791712" cy="47548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21 full packs; 4 biscuits left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0326624" y="7022592"/>
            <a:ext cx="3919727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10390632" y="7086600"/>
            <a:ext cx="3791712" cy="47548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£680 to hire 17 minibuses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2435840" cy="44805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Application to Exam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13232"/>
            <a:ext cx="135331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472"/>
                </a:solidFill>
                <a:latin typeface="Arial"/>
              </a:defRPr>
            </a:pPr>
            <a:r>
              <a:t>Step-by-step practice 1  •  Decide which calculation(s) each question needs.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82127"/>
            <a:ext cx="10058400" cy="21031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 •  Record your working in your booklet or webapp.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7863840"/>
            <a:ext cx="2788920" cy="2286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M03-S02  •  Topic slide 3</a:t>
            </a:r>
          </a:p>
        </p:txBody>
      </p:sp>
      <p:sp>
        <p:nvSpPr>
          <p:cNvPr id="7" name="Rectangle 6"/>
          <p:cNvSpPr/>
          <p:nvPr/>
        </p:nvSpPr>
        <p:spPr>
          <a:xfrm>
            <a:off x="2487168" y="1124712"/>
            <a:ext cx="3919727" cy="43891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42032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6895" y="1124712"/>
            <a:ext cx="3919727" cy="438912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61759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326624" y="1124712"/>
            <a:ext cx="3919727" cy="438912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381488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1581912"/>
            <a:ext cx="2103120" cy="128016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79" y="1618488"/>
            <a:ext cx="2048255" cy="1207007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1728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87168" y="1581912"/>
            <a:ext cx="3919727" cy="128016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42032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42 packs each contain 15 pens. How many pens are there?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6895" y="1581912"/>
            <a:ext cx="3919727" cy="128016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61759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215 apples go into bags of 6. How many completely full bags can be made?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326624" y="1581912"/>
            <a:ext cx="3919727" cy="128016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81488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A painter charges £18 per hour for 32 hours, plus £120 for paint. Find the total bill.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2862072"/>
            <a:ext cx="2103120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8056" y="2953512"/>
            <a:ext cx="1975103" cy="10058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1. Keywords &amp; Calculation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7168" y="286207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551175" y="2926079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6895" y="286207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70904" y="2926079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326624" y="286207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390632" y="2926079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048" y="4050791"/>
            <a:ext cx="2103120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8056" y="4142231"/>
            <a:ext cx="1975103" cy="10058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2. Written Method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87168" y="405079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551175" y="411480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6895" y="405079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70904" y="411480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326624" y="405079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390632" y="411480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5239512"/>
            <a:ext cx="2103120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48056" y="5330951"/>
            <a:ext cx="1975103" cy="10058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3. Ballpark Check &amp; Math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87168" y="523951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551175" y="530352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6895" y="523951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70904" y="530352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326624" y="523951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390632" y="530352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4048" y="6428231"/>
            <a:ext cx="2103120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48056" y="6519671"/>
            <a:ext cx="1975103" cy="10058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4. Final Answer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87168" y="642823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551175" y="649224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6895" y="642823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70904" y="649224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326624" y="642823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390632" y="649224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2435840" cy="44805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Application to Exam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13232"/>
            <a:ext cx="135331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472"/>
                </a:solidFill>
                <a:latin typeface="Arial"/>
              </a:defRPr>
            </a:pPr>
            <a:r>
              <a:t>Step-by-step practice 2  •  Decide which calculation(s) each question needs.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82127"/>
            <a:ext cx="10058400" cy="21031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 •  Record your working in your booklet or webapp.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7863840"/>
            <a:ext cx="2788920" cy="2286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M03-S03  •  Topic slide 4</a:t>
            </a:r>
          </a:p>
        </p:txBody>
      </p:sp>
      <p:sp>
        <p:nvSpPr>
          <p:cNvPr id="7" name="Rectangle 6"/>
          <p:cNvSpPr/>
          <p:nvPr/>
        </p:nvSpPr>
        <p:spPr>
          <a:xfrm>
            <a:off x="2487168" y="1124712"/>
            <a:ext cx="3919727" cy="43891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42032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6895" y="1124712"/>
            <a:ext cx="3919727" cy="438912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61759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326624" y="1124712"/>
            <a:ext cx="3919727" cy="438912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381488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1581912"/>
            <a:ext cx="2103120" cy="128016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79" y="1618488"/>
            <a:ext cx="2048255" cy="1207007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1728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87168" y="1581912"/>
            <a:ext cx="3919727" cy="128016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42032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168 students form 7 equal groups. How many students are in each group?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6895" y="1581912"/>
            <a:ext cx="3919727" cy="128016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61759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A worker earns £16 per hour for 27 hours. What are their total wages?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326624" y="1581912"/>
            <a:ext cx="3919727" cy="128016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81488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157 passengers need vans with 8 passenger seats each. Hire costs £45 per van. Find the total hire cost.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2862072"/>
            <a:ext cx="2103120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8056" y="2953512"/>
            <a:ext cx="1975103" cy="10058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1. Keywords &amp; Calculation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7168" y="286207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551175" y="2926079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6895" y="286207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70904" y="2926079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326624" y="286207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390632" y="2926079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048" y="4050791"/>
            <a:ext cx="2103120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8056" y="4142231"/>
            <a:ext cx="1975103" cy="10058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2. Written Method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87168" y="405079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551175" y="411480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6895" y="405079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70904" y="411480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326624" y="405079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390632" y="411480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5239512"/>
            <a:ext cx="2103120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48056" y="5330951"/>
            <a:ext cx="1975103" cy="10058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3. Ballpark Check &amp; Math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87168" y="523951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551175" y="530352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6895" y="523951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70904" y="530352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326624" y="523951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390632" y="530352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4048" y="6428231"/>
            <a:ext cx="2103120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48056" y="6519671"/>
            <a:ext cx="1975103" cy="10058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4. Final Answer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87168" y="642823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551175" y="649224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6895" y="642823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70904" y="649224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326624" y="642823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390632" y="649224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3807440" cy="4572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Multiplication and Division Problems — spot the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40664"/>
            <a:ext cx="13807440" cy="41148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472"/>
                </a:solidFill>
                <a:latin typeface="Arial"/>
              </a:defRPr>
            </a:pPr>
            <a:r>
              <a:t>Each student’s working contains a mistake. Find it, correct the working and give the right answer.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63840"/>
            <a:ext cx="13716000" cy="25603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M03-SE  •  Record your working in your booklet or webapp.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234440"/>
            <a:ext cx="4588764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" y="1261872"/>
            <a:ext cx="4474464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719072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755648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1.  14 boxes hold 8 pens each. How many pens altogether?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7" y="2551176"/>
            <a:ext cx="420624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14 + 8 = 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7" y="2852928"/>
            <a:ext cx="420624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22 pens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3721608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3758184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2.  96 stickers are shared equally among 4 pupils. How many per pupil?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04341" y="4877409"/>
            <a:ext cx="831190" cy="0"/>
          </a:xfrm>
          <a:prstGeom prst="line">
            <a:avLst/>
          </a:prstGeom>
          <a:ln w="1651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04341" y="4877409"/>
            <a:ext cx="0" cy="320955"/>
          </a:xfrm>
          <a:prstGeom prst="line">
            <a:avLst/>
          </a:prstGeom>
          <a:ln w="1651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66928" y="4897983"/>
            <a:ext cx="296265" cy="2880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17"/>
              </a:lnSpc>
              <a:spcBef>
                <a:spcPts val="0"/>
              </a:spcBef>
              <a:spcAft>
                <a:spcPts val="0"/>
              </a:spcAft>
              <a:defRPr sz="198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3719" y="4906213"/>
            <a:ext cx="378561" cy="2962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3719" y="4581144"/>
            <a:ext cx="378561" cy="2798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2280" y="4906213"/>
            <a:ext cx="378561" cy="2962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2280" y="4581144"/>
            <a:ext cx="378561" cy="2798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93138" y="4605832"/>
            <a:ext cx="658368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814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2B3A"/>
                </a:solidFill>
                <a:latin typeface="Arial"/>
              </a:defRPr>
            </a:pPr>
            <a:r>
              <a:t>r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340096"/>
            <a:ext cx="4206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21 stickers each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" y="5724144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5760720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3.  Cut 3 m of ribbon into 6 equal pieces. Find each length in cm.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7" y="6556248"/>
            <a:ext cx="420624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 m = 30 cm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7" y="6858000"/>
            <a:ext cx="420624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30 ÷ 6 =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7" y="7159752"/>
            <a:ext cx="420624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5 cm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4816" y="1234440"/>
            <a:ext cx="4588764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68824" y="1261872"/>
            <a:ext cx="4474464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4816" y="1719072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96256" y="1755648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1.  Pack 166 eggs in boxes of 6. How many full boxes?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525109" y="2874873"/>
            <a:ext cx="1209751" cy="0"/>
          </a:xfrm>
          <a:prstGeom prst="line">
            <a:avLst/>
          </a:prstGeom>
          <a:ln w="1651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25109" y="2874873"/>
            <a:ext cx="0" cy="320955"/>
          </a:xfrm>
          <a:prstGeom prst="line">
            <a:avLst/>
          </a:prstGeom>
          <a:ln w="1651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187696" y="2895447"/>
            <a:ext cx="296265" cy="2880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17"/>
              </a:lnSpc>
              <a:spcBef>
                <a:spcPts val="0"/>
              </a:spcBef>
              <a:spcAft>
                <a:spcPts val="0"/>
              </a:spcAft>
              <a:defRPr sz="198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74487" y="2903677"/>
            <a:ext cx="378561" cy="2962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53048" y="2903677"/>
            <a:ext cx="378561" cy="2962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53048" y="2578608"/>
            <a:ext cx="378561" cy="2798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03671" y="2878988"/>
            <a:ext cx="148132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209"/>
              </a:lnSpc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31610" y="2903677"/>
            <a:ext cx="378561" cy="2962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31610" y="2578608"/>
            <a:ext cx="378561" cy="2798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82232" y="2878988"/>
            <a:ext cx="148132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209"/>
              </a:lnSpc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92468" y="2603296"/>
            <a:ext cx="658368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814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2B3A"/>
                </a:solidFill>
                <a:latin typeface="Arial"/>
              </a:defRPr>
            </a:pPr>
            <a:r>
              <a:t>r 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15128" y="3337560"/>
            <a:ext cx="4206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28 full boxes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04816" y="3721608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96256" y="3758184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2.  32 campers need tents. Each tent sleeps 5. How many tents are needed?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525109" y="4877409"/>
            <a:ext cx="831190" cy="0"/>
          </a:xfrm>
          <a:prstGeom prst="line">
            <a:avLst/>
          </a:prstGeom>
          <a:ln w="1651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525109" y="4877409"/>
            <a:ext cx="0" cy="320955"/>
          </a:xfrm>
          <a:prstGeom prst="line">
            <a:avLst/>
          </a:prstGeom>
          <a:ln w="1651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187696" y="4897983"/>
            <a:ext cx="296265" cy="2880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17"/>
              </a:lnSpc>
              <a:spcBef>
                <a:spcPts val="0"/>
              </a:spcBef>
              <a:spcAft>
                <a:spcPts val="0"/>
              </a:spcAft>
              <a:defRPr sz="198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74487" y="4906213"/>
            <a:ext cx="378561" cy="2962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53048" y="4906213"/>
            <a:ext cx="378561" cy="2962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53048" y="4581144"/>
            <a:ext cx="378561" cy="2798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03671" y="4881524"/>
            <a:ext cx="148132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209"/>
              </a:lnSpc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13906" y="4605832"/>
            <a:ext cx="658368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814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2B3A"/>
                </a:solidFill>
                <a:latin typeface="Arial"/>
              </a:defRPr>
            </a:pPr>
            <a:r>
              <a:t>r 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15128" y="5340096"/>
            <a:ext cx="4206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6 tents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04816" y="5724144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96256" y="5760720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3.  Share a £156 bill equally among 8 friends. How much each?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5525109" y="6879945"/>
            <a:ext cx="1209751" cy="0"/>
          </a:xfrm>
          <a:prstGeom prst="line">
            <a:avLst/>
          </a:prstGeom>
          <a:ln w="1651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525109" y="6879945"/>
            <a:ext cx="0" cy="320955"/>
          </a:xfrm>
          <a:prstGeom prst="line">
            <a:avLst/>
          </a:prstGeom>
          <a:ln w="1651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5187696" y="6900519"/>
            <a:ext cx="296265" cy="2880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17"/>
              </a:lnSpc>
              <a:spcBef>
                <a:spcPts val="0"/>
              </a:spcBef>
              <a:spcAft>
                <a:spcPts val="0"/>
              </a:spcAft>
              <a:defRPr sz="1980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574487" y="6908749"/>
            <a:ext cx="378561" cy="2962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53048" y="6908749"/>
            <a:ext cx="378561" cy="2962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53048" y="6583679"/>
            <a:ext cx="378561" cy="2798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03671" y="6884060"/>
            <a:ext cx="148132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209"/>
              </a:lnSpc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31610" y="6908749"/>
            <a:ext cx="378561" cy="2962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31610" y="6583679"/>
            <a:ext cx="378561" cy="2798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82232" y="6884060"/>
            <a:ext cx="148132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209"/>
              </a:lnSpc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92468" y="6608368"/>
            <a:ext cx="658368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814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2B3A"/>
                </a:solidFill>
                <a:latin typeface="Arial"/>
              </a:defRPr>
            </a:pPr>
            <a:r>
              <a:t>r 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215128" y="7342631"/>
            <a:ext cx="4206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£19.04 each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625584" y="1234440"/>
            <a:ext cx="4588764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689592" y="1261872"/>
            <a:ext cx="4474464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625584" y="1719072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717024" y="1755648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1.  Tables seat 6 and cost £12 to hire. Find the cost to seat 94 guests.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10055626" y="2860974"/>
            <a:ext cx="766541" cy="0"/>
          </a:xfrm>
          <a:prstGeom prst="line">
            <a:avLst/>
          </a:prstGeom>
          <a:ln w="1651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10055626" y="2860974"/>
            <a:ext cx="0" cy="295991"/>
          </a:xfrm>
          <a:prstGeom prst="line">
            <a:avLst/>
          </a:prstGeom>
          <a:ln w="1651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9744456" y="2879948"/>
            <a:ext cx="273222" cy="265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45"/>
              </a:lnSpc>
              <a:spcBef>
                <a:spcPts val="0"/>
              </a:spcBef>
              <a:spcAft>
                <a:spcPts val="0"/>
              </a:spcAft>
              <a:defRPr sz="1825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101163" y="2887538"/>
            <a:ext cx="349117" cy="2732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31"/>
              </a:lnSpc>
              <a:spcBef>
                <a:spcPts val="0"/>
              </a:spcBef>
              <a:spcAft>
                <a:spcPts val="0"/>
              </a:spcAft>
              <a:defRPr sz="1991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101163" y="2587752"/>
            <a:ext cx="349117" cy="2580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31"/>
              </a:lnSpc>
              <a:spcBef>
                <a:spcPts val="0"/>
              </a:spcBef>
              <a:spcAft>
                <a:spcPts val="0"/>
              </a:spcAft>
              <a:defRPr sz="1991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450281" y="2887538"/>
            <a:ext cx="349117" cy="2732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31"/>
              </a:lnSpc>
              <a:spcBef>
                <a:spcPts val="0"/>
              </a:spcBef>
              <a:spcAft>
                <a:spcPts val="0"/>
              </a:spcAft>
              <a:defRPr sz="1991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450281" y="2587752"/>
            <a:ext cx="349117" cy="2580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31"/>
              </a:lnSpc>
              <a:spcBef>
                <a:spcPts val="0"/>
              </a:spcBef>
              <a:spcAft>
                <a:spcPts val="0"/>
              </a:spcAft>
              <a:defRPr sz="1991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404744" y="2864769"/>
            <a:ext cx="136611" cy="1517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115"/>
              </a:lnSpc>
              <a:spcBef>
                <a:spcPts val="0"/>
              </a:spcBef>
              <a:spcAft>
                <a:spcPts val="0"/>
              </a:spcAft>
              <a:defRPr sz="995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875294" y="2610520"/>
            <a:ext cx="607161" cy="2276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73"/>
              </a:lnSpc>
              <a:spcBef>
                <a:spcPts val="0"/>
              </a:spcBef>
              <a:spcAft>
                <a:spcPts val="0"/>
              </a:spcAft>
              <a:defRPr sz="1494" b="0">
                <a:solidFill>
                  <a:srgbClr val="182B3A"/>
                </a:solidFill>
                <a:latin typeface="Arial"/>
              </a:defRPr>
            </a:pPr>
            <a:r>
              <a:t>r 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3008864" y="2350008"/>
            <a:ext cx="164592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2460224" y="2468879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2460224" y="2697479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× 12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12460224" y="2921508"/>
            <a:ext cx="914400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12460224" y="2926079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2460224" y="3154679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150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12460224" y="3378708"/>
            <a:ext cx="914400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12460224" y="3383279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180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12460224" y="3607308"/>
            <a:ext cx="914400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9835896" y="3346704"/>
            <a:ext cx="24688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15 tables cost £180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625584" y="3721608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717024" y="3758184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2.  24 packs hold 15 drinks each. 87 are served. How many are left?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631424" y="4352544"/>
            <a:ext cx="164592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082784" y="4471416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82784" y="4700016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× 15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10082784" y="4924044"/>
            <a:ext cx="914400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10082784" y="4928616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120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082784" y="5157216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240</a:t>
            </a:r>
          </a:p>
        </p:txBody>
      </p:sp>
      <p:cxnSp>
        <p:nvCxnSpPr>
          <p:cNvPr id="100" name="Connector 99"/>
          <p:cNvCxnSpPr/>
          <p:nvPr/>
        </p:nvCxnSpPr>
        <p:spPr>
          <a:xfrm>
            <a:off x="10082784" y="5381244"/>
            <a:ext cx="914400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10082784" y="5385816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360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10082784" y="5609844"/>
            <a:ext cx="914400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11911584" y="4553712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360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1911584" y="4782312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+ 87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11911584" y="5006340"/>
            <a:ext cx="914400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11911584" y="5010912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447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11911584" y="5234940"/>
            <a:ext cx="914400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>
            <a:off x="11637264" y="5349240"/>
            <a:ext cx="24688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447 drinks left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625584" y="5724144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9717024" y="5760720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3.  Four organisers split the cost of 18 prizes equally. Each prize costs £12. How much does each pay?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10055626" y="6866046"/>
            <a:ext cx="766541" cy="0"/>
          </a:xfrm>
          <a:prstGeom prst="line">
            <a:avLst/>
          </a:prstGeom>
          <a:ln w="1651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10055626" y="6866046"/>
            <a:ext cx="0" cy="295992"/>
          </a:xfrm>
          <a:prstGeom prst="line">
            <a:avLst/>
          </a:prstGeom>
          <a:ln w="1651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9744456" y="6885020"/>
            <a:ext cx="273222" cy="265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45"/>
              </a:lnSpc>
              <a:spcBef>
                <a:spcPts val="0"/>
              </a:spcBef>
              <a:spcAft>
                <a:spcPts val="0"/>
              </a:spcAft>
              <a:defRPr sz="1825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101163" y="6892610"/>
            <a:ext cx="349117" cy="2732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31"/>
              </a:lnSpc>
              <a:spcBef>
                <a:spcPts val="0"/>
              </a:spcBef>
              <a:spcAft>
                <a:spcPts val="0"/>
              </a:spcAft>
              <a:defRPr sz="1991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450281" y="6892610"/>
            <a:ext cx="349117" cy="2732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31"/>
              </a:lnSpc>
              <a:spcBef>
                <a:spcPts val="0"/>
              </a:spcBef>
              <a:spcAft>
                <a:spcPts val="0"/>
              </a:spcAft>
              <a:defRPr sz="1991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450281" y="6592824"/>
            <a:ext cx="349117" cy="2580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31"/>
              </a:lnSpc>
              <a:spcBef>
                <a:spcPts val="0"/>
              </a:spcBef>
              <a:spcAft>
                <a:spcPts val="0"/>
              </a:spcAft>
              <a:defRPr sz="1991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404744" y="6869841"/>
            <a:ext cx="136611" cy="1517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115"/>
              </a:lnSpc>
              <a:spcBef>
                <a:spcPts val="0"/>
              </a:spcBef>
              <a:spcAft>
                <a:spcPts val="0"/>
              </a:spcAft>
              <a:defRPr sz="995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875294" y="6615592"/>
            <a:ext cx="607161" cy="2276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73"/>
              </a:lnSpc>
              <a:spcBef>
                <a:spcPts val="0"/>
              </a:spcBef>
              <a:spcAft>
                <a:spcPts val="0"/>
              </a:spcAft>
              <a:defRPr sz="1494" b="0">
                <a:solidFill>
                  <a:srgbClr val="182B3A"/>
                </a:solidFill>
                <a:latin typeface="Arial"/>
              </a:defRPr>
            </a:pPr>
            <a:r>
              <a:t>r 2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2460224" y="6729983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2460224" y="6958583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× 4</a:t>
            </a:r>
          </a:p>
        </p:txBody>
      </p:sp>
      <p:cxnSp>
        <p:nvCxnSpPr>
          <p:cNvPr id="121" name="Connector 120"/>
          <p:cNvCxnSpPr/>
          <p:nvPr/>
        </p:nvCxnSpPr>
        <p:spPr>
          <a:xfrm>
            <a:off x="12460224" y="7182612"/>
            <a:ext cx="914400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12460224" y="7187183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48</a:t>
            </a:r>
          </a:p>
        </p:txBody>
      </p:sp>
      <p:cxnSp>
        <p:nvCxnSpPr>
          <p:cNvPr id="123" name="Connector 122"/>
          <p:cNvCxnSpPr/>
          <p:nvPr/>
        </p:nvCxnSpPr>
        <p:spPr>
          <a:xfrm>
            <a:off x="12460224" y="7411212"/>
            <a:ext cx="914400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TextBox 123"/>
          <p:cNvSpPr txBox="1"/>
          <p:nvPr/>
        </p:nvSpPr>
        <p:spPr>
          <a:xfrm>
            <a:off x="9835896" y="7351775"/>
            <a:ext cx="24688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£48 each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2435840" cy="44805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Application to Exam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13232"/>
            <a:ext cx="135331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472"/>
                </a:solidFill>
                <a:latin typeface="Arial"/>
              </a:defRPr>
            </a:pPr>
            <a:r>
              <a:t>Independent practice 1  • 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82127"/>
            <a:ext cx="10058400" cy="21031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 •  Record your working in your booklet or webapp.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7863840"/>
            <a:ext cx="2788920" cy="2286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M03-S04  •  Topic slide 6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124712"/>
            <a:ext cx="4620768" cy="43891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4816" y="1124712"/>
            <a:ext cx="4620768" cy="438912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59680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25584" y="1124712"/>
            <a:ext cx="4620768" cy="438912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80448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library has 14 shelves with 32 books on each. How many books are there?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2610612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105 students form 7 equal groups. How many students are in each group?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shop has 26 crates with 41 bottles in each. How many bottles are there?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4613148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148 m rope is cut into 4 equal pieces. How long is each piece?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hall has 13 rows of 85 seats. How many seats are there?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" y="6615683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£175 is shared equally among 5 people. How much does each person receive?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4816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77968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9448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130 eggs are packed in cartons of 6. How many full cartons can be packed?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04816" y="2610612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77968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9448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32 passengers need cars with 5 passenger seats each. How many cars are needed?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04816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77968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9448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250 chocolates are packed in boxes of 12. How many chocolates are left over?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04816" y="4613148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77968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9448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worker earns £17 per hour for 28 hours. What are their total wages?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04816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77968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9448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142 rolls are sold in bags of 6. How many full bags can be made?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4816" y="6615683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77968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9448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£132 bill is shared equally by 8 friends. How much does each pay?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25584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698736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10216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45 tickets cost £16 each. A group gets £50 off the total. How much does it pay?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25584" y="2610612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698736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10216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115 passengers need vans with 8 passenger seats each. Hire costs £65 per van. Find the total cost.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25584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98736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10216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gym costs £22 per month plus a £30 joining fee. Find the cost for 14 months.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25584" y="4613148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698736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10216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430 cases fill boxes of 12. Each full box sells for £9. Find the income from full boxes.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25584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698736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10216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contractor charges £24 per hour for 15 hours, plus £45 for materials. Find the total bill.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25584" y="6615683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98736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10216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shop sells 15 boxes of 12 headphones at £8 per headphone. Find the total sales income.</a:t>
            </a:r>
          </a:p>
        </p:txBody>
      </p:sp>
      <p:sp>
        <p:nvSpPr>
          <p:cNvPr id="67" name="Progression curved arrow: Thread 1 to Thread 2"/>
          <p:cNvSpPr/>
          <p:nvPr/>
        </p:nvSpPr>
        <p:spPr>
          <a:xfrm>
            <a:off x="4671059" y="7534005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rogression curved arrow: Thread 2 to Thread 3"/>
          <p:cNvSpPr/>
          <p:nvPr/>
        </p:nvSpPr>
        <p:spPr>
          <a:xfrm>
            <a:off x="9243991" y="7525511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2435840" cy="44805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Application to Exam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13232"/>
            <a:ext cx="135331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472"/>
                </a:solidFill>
                <a:latin typeface="Arial"/>
              </a:defRPr>
            </a:pPr>
            <a:r>
              <a:t>Independent practice 2  • 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82127"/>
            <a:ext cx="10058400" cy="21031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 •  Record your working in your booklet or webapp.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7863840"/>
            <a:ext cx="2788920" cy="2286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M03-S05  •  Topic slide 7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124712"/>
            <a:ext cx="4620768" cy="43891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4816" y="1124712"/>
            <a:ext cx="4620768" cy="438912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59680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25584" y="1124712"/>
            <a:ext cx="4620768" cy="438912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80448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18 trays each hold 24 plants. How many plants are there?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2610612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156 pens are shared equally among 6 classes. How many pens does each class get?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club orders 23 packs of 16 badges. How many badges does it order?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4613148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£248 is shared equally among 8 people. How much does each person get?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runner covers 12 km each week for 27 weeks. How far do they run?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" y="6615683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189 cm ribbon is cut into 7 equal pieces. Find the length of each piece.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4816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77968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9448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197 leaflets are bundled in groups of 8. How many complete bundles can be made?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04816" y="2610612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77968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9448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camp has 83 people. Each tent sleeps 6. How many tents are needed?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04816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77968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9448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275 cm strip is cut into 12 cm pieces. How many centimetres remain?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04816" y="4613148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77968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9448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printer produces 36 pages per minute. How many pages does it produce in 14 minutes?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04816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77968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9448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£154 is split equally among 4 workers. How much does each receive?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4816" y="6615683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77968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9448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253 photos go in albums holding 24 photos. How many albums are needed for all the photos?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25584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698736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10216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28 shirts cost £14 each. Delivery costs £18. Find the total cost.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25584" y="2610612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698736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10216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94 people need tables seating 6 each. Tables cost £12 each to hire. Find the total hire cost.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25584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98736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10216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club buys 24 packs of 15 drinks. It uses 87 drinks. How many remain?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25584" y="4613148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698736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10216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baker has 286 biscuits. Full bags hold 8 and sell for £3 each. Find the sales income.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25584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698736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10216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Four friends share the cost of 18 tickets at £12 each equally. How much does each friend pay?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25584" y="6615683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98736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10216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shop sells 17 cartons of 24 pens at £2 per pen. Find the total sales income.</a:t>
            </a:r>
          </a:p>
        </p:txBody>
      </p:sp>
      <p:sp>
        <p:nvSpPr>
          <p:cNvPr id="67" name="Progression curved arrow: Thread 1 to Thread 2"/>
          <p:cNvSpPr/>
          <p:nvPr/>
        </p:nvSpPr>
        <p:spPr>
          <a:xfrm>
            <a:off x="4671059" y="7534005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rogression curved arrow: Thread 2 to Thread 3"/>
          <p:cNvSpPr/>
          <p:nvPr/>
        </p:nvSpPr>
        <p:spPr>
          <a:xfrm>
            <a:off x="9243991" y="7525511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2435840" cy="44805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Application to Exam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13232"/>
            <a:ext cx="135331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472"/>
                </a:solidFill>
                <a:latin typeface="Arial"/>
              </a:defRPr>
            </a:pPr>
            <a:r>
              <a:t>Independent practice 3  • 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82127"/>
            <a:ext cx="10058400" cy="21031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 •  Record your working in your booklet or webapp.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7863840"/>
            <a:ext cx="2788920" cy="2286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M03-S06  •  Topic slide 8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124712"/>
            <a:ext cx="4620768" cy="43891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4816" y="1124712"/>
            <a:ext cx="4620768" cy="438912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59680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25584" y="1124712"/>
            <a:ext cx="4620768" cy="438912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80448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16 boxes each hold 35 cables. How many cables are there?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2610612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252 stickers are shared equally among 7 students. How many does each student get?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cinema has 28 rows of 24 seats. Find the total number of seats.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4613148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336 m cable is cut into 8 equal lengths. How long is each length?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charity buys 19 packs of 32 cards. How many cards does it buy?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" y="6615683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£315 is shared equally among 9 people. How much does each receive?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4816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77968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9448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245 apples are packed in bags of 8. How many full bags can be made?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04816" y="2610612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77968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9448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hotel has 137 guests. Each shuttle carries 9 guests. How many shuttle trips are needed?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04816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77968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9448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359 beads are used in bracelets of 12 beads. How many beads remain?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04816" y="4613148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77968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9448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technician earns £23 per hour for 16 hours. Find their total wages.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04816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77968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9448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£186 bill is shared equally by 8 people. How much does each person pay?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4816" y="6615683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77968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9448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Each floor tile covers 25 cm². What area do 48 tiles cover?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25584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698736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10216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gardener charges £21 per hour for 18 hours, plus £64 for plants. Find the total bill.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25584" y="2610612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698736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10216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167 passengers need coaches with 24 passenger seats each. Hire costs £85 per coach. Find the total cost.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25584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98736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10216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club buys 32 packs of 18 cards. It gives away 145 cards. How many remain?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25584" y="4613148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698736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10216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397 oranges fill bags of 6. Each full bag sells for £4. Find the sales income.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25584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698736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10216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Six people equally share the cost of 15 meals at £14 each. How much does each person pay?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25584" y="6615683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98736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10216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shop sells 23 boxes of 16 mugs at £5 per mug. Find the total sales income.</a:t>
            </a:r>
          </a:p>
        </p:txBody>
      </p:sp>
      <p:sp>
        <p:nvSpPr>
          <p:cNvPr id="67" name="Progression curved arrow: Thread 1 to Thread 2"/>
          <p:cNvSpPr/>
          <p:nvPr/>
        </p:nvSpPr>
        <p:spPr>
          <a:xfrm>
            <a:off x="4671059" y="7534005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rogression curved arrow: Thread 2 to Thread 3"/>
          <p:cNvSpPr/>
          <p:nvPr/>
        </p:nvSpPr>
        <p:spPr>
          <a:xfrm>
            <a:off x="9243991" y="7525511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2435840" cy="44805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Application to Exam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13232"/>
            <a:ext cx="135331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472"/>
                </a:solidFill>
                <a:latin typeface="Arial"/>
              </a:defRPr>
            </a:pPr>
            <a:r>
              <a:t>Independent practice 4  • 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82127"/>
            <a:ext cx="10058400" cy="21031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 •  Record your working in your booklet or webapp.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7863840"/>
            <a:ext cx="2788920" cy="2286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M03-S07  •  Topic slide 9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124712"/>
            <a:ext cx="4620768" cy="43891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4816" y="1124712"/>
            <a:ext cx="4620768" cy="438912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59680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25584" y="1124712"/>
            <a:ext cx="4620768" cy="438912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80448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27 packets each contain 18 labels. How many labels are there?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2610612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384 books are shared equally among 8 shelves. How many books go on each shelf?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nursery has 34 trays of 16 seedlings. How many seedlings are there?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4613148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£425 is shared equally among 5 people. How much does each receive?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hall has 26 rows of 35 seats. How many seats are there?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" y="6615683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294 cm strip is cut into 6 equal lengths. Find the length of each piece.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4816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77968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9448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367 bottles are packed in boxes of 12. How many complete boxes can be packed?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04816" y="2610612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77968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9448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hostel has 158 guests. Each room holds 6 guests. How many rooms are needed?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04816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77968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9448" y="3694176"/>
            <a:ext cx="4026408" cy="822960"/>
          </a:xfrm>
          <a:prstGeom prst="rect">
            <a:avLst/>
          </a:prstGeom>
          <a:noFill/>
        </p:spPr>
        <p:txBody>
          <a:bodyPr wrap="square" lIns="91440" tIns="36576" rIns="91440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413 cm ribbon is cut into 15 cm lengths. How many </a:t>
            </a:r>
            <a:r>
              <a:rPr lang="en-GB"/>
              <a:t>centimetres</a:t>
            </a:r>
            <a:r>
              <a:t> remain?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04816" y="4613148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77968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9448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machine labels 28 bottles per minute. How many does it label in 19 minutes?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04816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77968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9448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£238 bill is shared equally by 8 friends. How much does each friend pay?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4816" y="6615683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77968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9448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319 files fit in folders holding 24 files. How many folders are needed for all the files?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25584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698736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10216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36 tickets cost £17 each. A group gets £75 off the total. How much does it pay?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25584" y="2610612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698736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10216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203 people need tables seating 8 each. Hire costs £15 per table. Find the total hire cost.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25584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98736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10216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shop buys 29 boxes of 24 notebooks. It sells 187 notebooks. How many remain?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25584" y="4613148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698736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10216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baker has 518 rolls. Full bags hold 12 and sell for £5 each. Find the sales income.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25584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698736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10216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Seven people equally share the cost of 21 meals at £16 each. How much does each person pay?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25584" y="6615683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98736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10216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shop sells 28 boxes of 15 keyrings at £3 per keyring. Find the total sales income.</a:t>
            </a:r>
          </a:p>
        </p:txBody>
      </p:sp>
      <p:sp>
        <p:nvSpPr>
          <p:cNvPr id="67" name="Progression curved arrow: Thread 1 to Thread 2"/>
          <p:cNvSpPr/>
          <p:nvPr/>
        </p:nvSpPr>
        <p:spPr>
          <a:xfrm>
            <a:off x="4671059" y="7534005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rogression curved arrow: Thread 2 to Thread 3"/>
          <p:cNvSpPr/>
          <p:nvPr/>
        </p:nvSpPr>
        <p:spPr>
          <a:xfrm>
            <a:off x="9243991" y="7525511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22</Slides>
  <Notes>22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GCSE Maths Revision Starters</dc:title>
  <dc:subject>Lattice multiplication, bus stop division and application to exam problems</dc:subject>
  <dc:creator>Maths teaching resources</dc:creator>
  <cp:keywords/>
  <dc:description>generated using python-pptx</dc:description>
  <cp:revision>1</cp:revision>
  <dcterms:created xsi:type="dcterms:W3CDTF">2013-01-27T09:14:16Z</dcterms:created>
  <dcterms:modified xsi:type="dcterms:W3CDTF">2026-09-24T15:49:41Z</dcterms:modified>
  <cp:category/>
</cp:coreProperties>
</file>