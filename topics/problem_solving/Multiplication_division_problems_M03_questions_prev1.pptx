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00.xml" ContentType="application/vnd.openxmlformats-officedocument.presentationml.slide+xml"/>
  <Override PartName="/ppt/slides/slide1001.xml" ContentType="application/vnd.openxmlformats-officedocument.presentationml.slide+xml"/>
  <Override PartName="/ppt/slides/slide1002.xml" ContentType="application/vnd.openxmlformats-officedocument.presentationml.slide+xml"/>
  <Override PartName="/ppt/slides/slide1003.xml" ContentType="application/vnd.openxmlformats-officedocument.presentationml.slide+xml"/>
  <Override PartName="/ppt/slides/slide1004.xml" ContentType="application/vnd.openxmlformats-officedocument.presentationml.slide+xml"/>
  <Override PartName="/ppt/slides/slide1005.xml" ContentType="application/vnd.openxmlformats-officedocument.presentationml.slide+xml"/>
  <Override PartName="/ppt/slides/slide1006.xml" ContentType="application/vnd.openxmlformats-officedocument.presentationml.slide+xml"/>
  <Override PartName="/ppt/slides/slide100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77" r:id="rId16"/>
    <p:sldId id="270" r:id="rId17"/>
    <p:sldId id="271" r:id="rId18"/>
    <p:sldId id="272" r:id="rId19"/>
    <p:sldId id="278" r:id="rId15"/>
    <p:sldId id="273" r:id="rId20"/>
    <p:sldId id="274" r:id="rId21"/>
    <p:sldId id="275" r:id="rId22"/>
    <p:sldId id="276" r:id="rId23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DF5D94-B901-6206-A612-082DFF76D998}" v="4" dt="2026-09-24T15:48:54.0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16" Type="http://schemas.openxmlformats.org/officeDocument/2006/relationships/slide" Target="slides/slide1000.xml"/><Relationship Id="rId17" Type="http://schemas.openxmlformats.org/officeDocument/2006/relationships/slide" Target="slides/slide1001.xml"/><Relationship Id="rId18" Type="http://schemas.openxmlformats.org/officeDocument/2006/relationships/slide" Target="slides/slide1002.xml"/><Relationship Id="rId19" Type="http://schemas.openxmlformats.org/officeDocument/2006/relationships/slide" Target="slides/slide1003.xml"/><Relationship Id="rId20" Type="http://schemas.openxmlformats.org/officeDocument/2006/relationships/slide" Target="slides/slide1004.xml"/><Relationship Id="rId21" Type="http://schemas.openxmlformats.org/officeDocument/2006/relationships/slide" Target="slides/slide1005.xml"/><Relationship Id="rId22" Type="http://schemas.openxmlformats.org/officeDocument/2006/relationships/slide" Target="slides/slide1006.xml"/><Relationship Id="rId23" Type="http://schemas.openxmlformats.org/officeDocument/2006/relationships/slide" Target="slides/slide1007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Hudson" userId="41092641-dab8-42af-8751-810f10f62201" providerId="ADAL" clId="{2D5970AC-48F5-4BA0-8370-EBD52AA4EFA8}"/>
    <pc:docChg chg="modSld">
      <pc:chgData name="Joe Hudson" userId="41092641-dab8-42af-8751-810f10f62201" providerId="ADAL" clId="{2D5970AC-48F5-4BA0-8370-EBD52AA4EFA8}" dt="2026-09-24T12:16:27.943" v="25" actId="20577"/>
      <pc:docMkLst>
        <pc:docMk/>
      </pc:docMkLst>
      <pc:sldChg chg="modSp mod">
        <pc:chgData name="Joe Hudson" userId="41092641-dab8-42af-8751-810f10f62201" providerId="ADAL" clId="{2D5970AC-48F5-4BA0-8370-EBD52AA4EFA8}" dt="2026-09-24T12:16:27.943" v="25" actId="20577"/>
        <pc:sldMkLst>
          <pc:docMk/>
          <pc:sldMk cId="0" sldId="257"/>
        </pc:sldMkLst>
        <pc:spChg chg="mod">
          <ac:chgData name="Joe Hudson" userId="41092641-dab8-42af-8751-810f10f62201" providerId="ADAL" clId="{2D5970AC-48F5-4BA0-8370-EBD52AA4EFA8}" dt="2026-09-24T12:16:27.943" v="25" actId="20577"/>
          <ac:spMkLst>
            <pc:docMk/>
            <pc:sldMk cId="0" sldId="257"/>
            <ac:spMk id="36" creationId="{00000000-0000-0000-0000-000000000000}"/>
          </ac:spMkLst>
        </pc:spChg>
      </pc:sldChg>
      <pc:sldChg chg="modSp mod">
        <pc:chgData name="Joe Hudson" userId="41092641-dab8-42af-8751-810f10f62201" providerId="ADAL" clId="{2D5970AC-48F5-4BA0-8370-EBD52AA4EFA8}" dt="2026-09-24T12:16:16.865" v="12" actId="20577"/>
        <pc:sldMkLst>
          <pc:docMk/>
          <pc:sldMk cId="0" sldId="258"/>
        </pc:sldMkLst>
        <pc:spChg chg="mod">
          <ac:chgData name="Joe Hudson" userId="41092641-dab8-42af-8751-810f10f62201" providerId="ADAL" clId="{2D5970AC-48F5-4BA0-8370-EBD52AA4EFA8}" dt="2026-09-24T12:16:16.865" v="12" actId="20577"/>
          <ac:spMkLst>
            <pc:docMk/>
            <pc:sldMk cId="0" sldId="258"/>
            <ac:spMk id="36" creationId="{00000000-0000-0000-0000-000000000000}"/>
          </ac:spMkLst>
        </pc:spChg>
      </pc:sldChg>
    </pc:docChg>
  </pc:docChgLst>
  <pc:docChgLst>
    <pc:chgData name="Joe Hudson" userId="S::joe.hudson@shcg.ac.uk::41092641-dab8-42af-8751-810f10f62201" providerId="AD" clId="Web-{2CDF5D94-B901-6206-A612-082DFF76D998}"/>
    <pc:docChg chg="modSld">
      <pc:chgData name="Joe Hudson" userId="S::joe.hudson@shcg.ac.uk::41092641-dab8-42af-8751-810f10f62201" providerId="AD" clId="Web-{2CDF5D94-B901-6206-A612-082DFF76D998}" dt="2026-09-24T15:48:54.034" v="1" actId="20577"/>
      <pc:docMkLst>
        <pc:docMk/>
      </pc:docMkLst>
      <pc:sldChg chg="modSp">
        <pc:chgData name="Joe Hudson" userId="S::joe.hudson@shcg.ac.uk::41092641-dab8-42af-8751-810f10f62201" providerId="AD" clId="Web-{2CDF5D94-B901-6206-A612-082DFF76D998}" dt="2026-09-24T15:48:54.034" v="1" actId="20577"/>
        <pc:sldMkLst>
          <pc:docMk/>
          <pc:sldMk cId="0" sldId="276"/>
        </pc:sldMkLst>
        <pc:spChg chg="mod">
          <ac:chgData name="Joe Hudson" userId="S::joe.hudson@shcg.ac.uk::41092641-dab8-42af-8751-810f10f62201" providerId="AD" clId="Web-{2CDF5D94-B901-6206-A612-082DFF76D998}" dt="2026-09-24T15:48:54.034" v="1" actId="20577"/>
          <ac:spMkLst>
            <pc:docMk/>
            <pc:sldMk cId="0" sldId="276"/>
            <ac:spMk id="39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366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7.xml"/>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worked demo</a:t>
            </a:r>
          </a:p>
          <a:p>
            <a:endParaRPr/>
          </a:p>
          <a:p>
            <a:r>
              <a:t>Guided: 84 ÷ 4 = 21 tins per box. Core: 130 ÷ 6 = 21 r 4, so 21 full packs. Depth: 145 ÷ 9 = 16 r 1, so 17 minibuses; 17 × 40 = £680.</a:t>
            </a:r>
          </a:p>
          <a:p>
            <a:endParaRPr/>
          </a:p>
          <a:p>
            <a:r>
              <a:t>For Depth, 16 buses would seat only 144 students. The first answer must be interpreted before the next calculation. In the lattice for 17 × 40, top row cells are 04, 28; bottom row cells 00, 00. Diagonal totals from right: 0, 8, 6, 0 → 680. Both worked diagrams are provided as editable groups. Ballpark calculations check scale; they are not exact-answer proofs.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step-by-step practice 1</a:t>
            </a:r>
          </a:p>
          <a:p>
            <a:endParaRPr/>
          </a:p>
          <a:p>
            <a:r>
              <a:t>Thread 1: Guided: 42 × 15 = 630 pens. Estimate: 40 × 15 = 600.</a:t>
            </a:r>
          </a:p>
          <a:p>
            <a:endParaRPr/>
          </a:p>
          <a:p>
            <a:r>
              <a:t>Thread 2: Core: 215 ÷ 6 = 35 r 5 → 35 full bags. Estimate: 210 ÷ 6 = 35.</a:t>
            </a:r>
          </a:p>
          <a:p>
            <a:endParaRPr/>
          </a:p>
          <a:p>
            <a:r>
              <a:t>Thread 3: Depth: 18 × 32 = 576; 576 + 120 = £696. Estimate: 20 × 30 + 120 = 720.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step-by-step practice 2</a:t>
            </a:r>
          </a:p>
          <a:p>
            <a:endParaRPr/>
          </a:p>
          <a:p>
            <a:r>
              <a:t>Thread 1: Guided: 168 ÷ 7 = 24 students. Estimate: 140 ÷ 7 = 20.</a:t>
            </a:r>
          </a:p>
          <a:p>
            <a:endParaRPr/>
          </a:p>
          <a:p>
            <a:r>
              <a:t>Thread 2: Core: 16 × 27 = £432. Estimate: 16 × 30 = 480.</a:t>
            </a:r>
          </a:p>
          <a:p>
            <a:endParaRPr/>
          </a:p>
          <a:p>
            <a:r>
              <a:t>Thread 3: Depth: 157 ÷ 8 = 19 r 5 → 20 vans; 20 × 45 = £900. Estimate: 160 ÷ 8 × 45 = 900.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1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14 × 32 = 448 books</a:t>
            </a:r>
          </a:p>
          <a:p>
            <a:endParaRPr/>
          </a:p>
          <a:p>
            <a:r>
              <a:t>2. 105 ÷ 7 = 15 students</a:t>
            </a:r>
          </a:p>
          <a:p>
            <a:endParaRPr/>
          </a:p>
          <a:p>
            <a:r>
              <a:t>3. 26 × 41 = 1,066 bottles</a:t>
            </a:r>
          </a:p>
          <a:p>
            <a:endParaRPr/>
          </a:p>
          <a:p>
            <a:r>
              <a:t>4. 148 ÷ 4 = 37 m</a:t>
            </a:r>
          </a:p>
          <a:p>
            <a:endParaRPr/>
          </a:p>
          <a:p>
            <a:r>
              <a:t>5. 13 × 85 = 1,105 seats</a:t>
            </a:r>
          </a:p>
          <a:p>
            <a:endParaRPr/>
          </a:p>
          <a:p>
            <a:r>
              <a:t>6. 175 ÷ 5 = £35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130 ÷ 6 = 21 r 4 → 21 full cartons</a:t>
            </a:r>
          </a:p>
          <a:p>
            <a:endParaRPr/>
          </a:p>
          <a:p>
            <a:r>
              <a:t>2. 32 ÷ 5 = 6 r 2 → 7 cars</a:t>
            </a:r>
          </a:p>
          <a:p>
            <a:endParaRPr/>
          </a:p>
          <a:p>
            <a:r>
              <a:t>3. 250 ÷ 12 = 20 r 10 → 10 chocolates</a:t>
            </a:r>
          </a:p>
          <a:p>
            <a:endParaRPr/>
          </a:p>
          <a:p>
            <a:r>
              <a:t>4. 17 × 28 = £476</a:t>
            </a:r>
          </a:p>
          <a:p>
            <a:endParaRPr/>
          </a:p>
          <a:p>
            <a:r>
              <a:t>5. 142 ÷ 6 = 23 r 4 → 23 full bags</a:t>
            </a:r>
          </a:p>
          <a:p>
            <a:endParaRPr/>
          </a:p>
          <a:p>
            <a:r>
              <a:t>6. 132 ÷ 8 = £16.50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45 × 16 = 720; 720 − 50 = £670</a:t>
            </a:r>
          </a:p>
          <a:p>
            <a:endParaRPr/>
          </a:p>
          <a:p>
            <a:r>
              <a:t>2. 115 ÷ 8 = 14 r 3 → 15 vans; 15 × 65 = £975</a:t>
            </a:r>
          </a:p>
          <a:p>
            <a:endParaRPr/>
          </a:p>
          <a:p>
            <a:r>
              <a:t>3. 22 × 14 = 308; 308 + 30 = £338</a:t>
            </a:r>
          </a:p>
          <a:p>
            <a:endParaRPr/>
          </a:p>
          <a:p>
            <a:r>
              <a:t>4. 430 ÷ 12 = 35 r 10; 35 × 9 = £315</a:t>
            </a:r>
          </a:p>
          <a:p>
            <a:endParaRPr/>
          </a:p>
          <a:p>
            <a:r>
              <a:t>5. 24 × 15 = 360; 360 + 45 = £405</a:t>
            </a:r>
          </a:p>
          <a:p>
            <a:endParaRPr/>
          </a:p>
          <a:p>
            <a:r>
              <a:t>6. 15 × 12 = 180; 180 × 8 = £1,440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2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18 × 24 = 432 plants</a:t>
            </a:r>
          </a:p>
          <a:p>
            <a:endParaRPr/>
          </a:p>
          <a:p>
            <a:r>
              <a:t>2. 156 ÷ 6 = 26 pens</a:t>
            </a:r>
          </a:p>
          <a:p>
            <a:endParaRPr/>
          </a:p>
          <a:p>
            <a:r>
              <a:t>3. 23 × 16 = 368 badges</a:t>
            </a:r>
          </a:p>
          <a:p>
            <a:endParaRPr/>
          </a:p>
          <a:p>
            <a:r>
              <a:t>4. 248 ÷ 8 = £31</a:t>
            </a:r>
          </a:p>
          <a:p>
            <a:endParaRPr/>
          </a:p>
          <a:p>
            <a:r>
              <a:t>5. 12 × 27 = 324 km</a:t>
            </a:r>
          </a:p>
          <a:p>
            <a:endParaRPr/>
          </a:p>
          <a:p>
            <a:r>
              <a:t>6. 189 ÷ 7 = 27 cm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197 ÷ 8 = 24 r 5 → 24 bundles</a:t>
            </a:r>
          </a:p>
          <a:p>
            <a:endParaRPr/>
          </a:p>
          <a:p>
            <a:r>
              <a:t>2. 83 ÷ 6 = 13 r 5 → 14 tents</a:t>
            </a:r>
          </a:p>
          <a:p>
            <a:endParaRPr/>
          </a:p>
          <a:p>
            <a:r>
              <a:t>3. 275 ÷ 12 = 22 r 11 → 11 cm</a:t>
            </a:r>
          </a:p>
          <a:p>
            <a:endParaRPr/>
          </a:p>
          <a:p>
            <a:r>
              <a:t>4. 36 × 14 = 504 pages</a:t>
            </a:r>
          </a:p>
          <a:p>
            <a:endParaRPr/>
          </a:p>
          <a:p>
            <a:r>
              <a:t>5. 154 ÷ 4 = £38.50</a:t>
            </a:r>
          </a:p>
          <a:p>
            <a:endParaRPr/>
          </a:p>
          <a:p>
            <a:r>
              <a:t>6. 253 ÷ 24 = 10 r 13 → 11 albums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28 × 14 = 392; 392 + 18 = £410</a:t>
            </a:r>
          </a:p>
          <a:p>
            <a:endParaRPr/>
          </a:p>
          <a:p>
            <a:r>
              <a:t>2. 94 ÷ 6 = 15 r 4 → 16 tables; 16 × 12 = £192</a:t>
            </a:r>
          </a:p>
          <a:p>
            <a:endParaRPr/>
          </a:p>
          <a:p>
            <a:r>
              <a:t>3. 24 × 15 = 360; 360 − 87 = 273 drinks</a:t>
            </a:r>
          </a:p>
          <a:p>
            <a:endParaRPr/>
          </a:p>
          <a:p>
            <a:r>
              <a:t>4. 286 ÷ 8 = 35 r 6; 35 × 3 = £105</a:t>
            </a:r>
          </a:p>
          <a:p>
            <a:endParaRPr/>
          </a:p>
          <a:p>
            <a:r>
              <a:t>5. 18 × 12 = 216; 216 ÷ 4 = £54</a:t>
            </a:r>
          </a:p>
          <a:p>
            <a:endParaRPr/>
          </a:p>
          <a:p>
            <a:r>
              <a:t>6. 17 × 24 = 408; 408 × 2 = £816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3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16 × 35 = 560 cables</a:t>
            </a:r>
          </a:p>
          <a:p>
            <a:endParaRPr/>
          </a:p>
          <a:p>
            <a:r>
              <a:t>2. 252 ÷ 7 = 36 stickers</a:t>
            </a:r>
          </a:p>
          <a:p>
            <a:endParaRPr/>
          </a:p>
          <a:p>
            <a:r>
              <a:t>3. 28 × 24 = 672 seats</a:t>
            </a:r>
          </a:p>
          <a:p>
            <a:endParaRPr/>
          </a:p>
          <a:p>
            <a:r>
              <a:t>4. 336 ÷ 8 = 42 m</a:t>
            </a:r>
          </a:p>
          <a:p>
            <a:endParaRPr/>
          </a:p>
          <a:p>
            <a:r>
              <a:t>5. 19 × 32 = 608 cards</a:t>
            </a:r>
          </a:p>
          <a:p>
            <a:endParaRPr/>
          </a:p>
          <a:p>
            <a:r>
              <a:t>6. 315 ÷ 9 = £35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245 ÷ 8 = 30 r 5 → 30 bags</a:t>
            </a:r>
          </a:p>
          <a:p>
            <a:endParaRPr/>
          </a:p>
          <a:p>
            <a:r>
              <a:t>2. 137 ÷ 9 = 15 r 2 → 16 trips</a:t>
            </a:r>
          </a:p>
          <a:p>
            <a:endParaRPr/>
          </a:p>
          <a:p>
            <a:r>
              <a:t>3. 359 ÷ 12 = 29 r 11 → 11 beads</a:t>
            </a:r>
          </a:p>
          <a:p>
            <a:endParaRPr/>
          </a:p>
          <a:p>
            <a:r>
              <a:t>4. 23 × 16 = £368</a:t>
            </a:r>
          </a:p>
          <a:p>
            <a:endParaRPr/>
          </a:p>
          <a:p>
            <a:r>
              <a:t>5. 186 ÷ 8 = £23.25</a:t>
            </a:r>
          </a:p>
          <a:p>
            <a:endParaRPr/>
          </a:p>
          <a:p>
            <a:r>
              <a:t>6. 25 × 48 = 1,200 cm²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21 × 18 = 378; 378 + 64 = £442</a:t>
            </a:r>
          </a:p>
          <a:p>
            <a:endParaRPr/>
          </a:p>
          <a:p>
            <a:r>
              <a:t>2. 167 ÷ 24 = 6 r 23 → 7 coaches; 7 × 85 = £595</a:t>
            </a:r>
          </a:p>
          <a:p>
            <a:endParaRPr/>
          </a:p>
          <a:p>
            <a:r>
              <a:t>3. 32 × 18 = 576; 576 − 145 = 431 cards</a:t>
            </a:r>
          </a:p>
          <a:p>
            <a:endParaRPr/>
          </a:p>
          <a:p>
            <a:r>
              <a:t>4. 397 ÷ 6 = 66 r 1; 66 × 4 = £264</a:t>
            </a:r>
          </a:p>
          <a:p>
            <a:endParaRPr/>
          </a:p>
          <a:p>
            <a:r>
              <a:t>5. 15 × 14 = 210; 210 ÷ 6 = £35</a:t>
            </a:r>
          </a:p>
          <a:p>
            <a:endParaRPr/>
          </a:p>
          <a:p>
            <a:r>
              <a:t>6. 23 × 16 = 368; 368 × 5 = £1,840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4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27 × 18 = 486 labels</a:t>
            </a:r>
          </a:p>
          <a:p>
            <a:endParaRPr/>
          </a:p>
          <a:p>
            <a:r>
              <a:t>2. 384 ÷ 8 = 48 books</a:t>
            </a:r>
          </a:p>
          <a:p>
            <a:endParaRPr/>
          </a:p>
          <a:p>
            <a:r>
              <a:t>3. 34 × 16 = 544 seedlings</a:t>
            </a:r>
          </a:p>
          <a:p>
            <a:endParaRPr/>
          </a:p>
          <a:p>
            <a:r>
              <a:t>4. 425 ÷ 5 = £85</a:t>
            </a:r>
          </a:p>
          <a:p>
            <a:endParaRPr/>
          </a:p>
          <a:p>
            <a:r>
              <a:t>5. 26 × 35 = 910 seats</a:t>
            </a:r>
          </a:p>
          <a:p>
            <a:endParaRPr/>
          </a:p>
          <a:p>
            <a:r>
              <a:t>6. 294 ÷ 6 = 49 cm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367 ÷ 12 = 30 r 7 → 30 boxes</a:t>
            </a:r>
          </a:p>
          <a:p>
            <a:endParaRPr/>
          </a:p>
          <a:p>
            <a:r>
              <a:t>2. 158 ÷ 6 = 26 r 2 → 27 rooms</a:t>
            </a:r>
          </a:p>
          <a:p>
            <a:endParaRPr/>
          </a:p>
          <a:p>
            <a:r>
              <a:t>3. 413 ÷ 15 = 27 r 8 → 8 cm</a:t>
            </a:r>
          </a:p>
          <a:p>
            <a:endParaRPr/>
          </a:p>
          <a:p>
            <a:r>
              <a:t>4. 28 × 19 = 532 bottles</a:t>
            </a:r>
          </a:p>
          <a:p>
            <a:endParaRPr/>
          </a:p>
          <a:p>
            <a:r>
              <a:t>5. 238 ÷ 8 = £29.75</a:t>
            </a:r>
          </a:p>
          <a:p>
            <a:endParaRPr/>
          </a:p>
          <a:p>
            <a:r>
              <a:t>6. 319 ÷ 24 = 13 r 7 → 14 folders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36 × 17 = 612; 612 − 75 = £537</a:t>
            </a:r>
          </a:p>
          <a:p>
            <a:endParaRPr/>
          </a:p>
          <a:p>
            <a:r>
              <a:t>2. 203 ÷ 8 = 25 r 3 → 26 tables; 26 × 15 = £390</a:t>
            </a:r>
          </a:p>
          <a:p>
            <a:endParaRPr/>
          </a:p>
          <a:p>
            <a:r>
              <a:t>3. 29 × 24 = 696; 696 − 187 = 509 notebooks</a:t>
            </a:r>
          </a:p>
          <a:p>
            <a:endParaRPr/>
          </a:p>
          <a:p>
            <a:r>
              <a:t>4. 518 ÷ 12 = 43 r 2; 43 × 5 = £215</a:t>
            </a:r>
          </a:p>
          <a:p>
            <a:endParaRPr/>
          </a:p>
          <a:p>
            <a:r>
              <a:t>5. 21 × 16 = 336; 336 ÷ 7 = £48</a:t>
            </a:r>
          </a:p>
          <a:p>
            <a:endParaRPr/>
          </a:p>
          <a:p>
            <a:r>
              <a:t>6. 28 × 15 = 420; 420 × 3 = £1,260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0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0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0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Multiplication and Division Problems — spot the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Each worked solution has a mistake. Find the first error, correct it and finish the calculation.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M03-SE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4588764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719072"/>
            <a:ext cx="4588764" cy="1929384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64792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1.  12 boxes hold 8 pens each. How many pens?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596896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12 + 8 = 20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20 pens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3767328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2.  Share 96 stickers equally among 4 pupils. How many each?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599432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9 ÷ 4 = 2 r 1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6 ÷ 4 = 1 r 2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21 stickers each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5724144"/>
            <a:ext cx="4588764" cy="1929384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5769864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3.  A 3 m ribbon is cut into 6 equal pieces. Find each length in cm.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6601968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 m = 30 cm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30 ÷ 6 = 5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5 cm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4816" y="1234440"/>
            <a:ext cx="4588764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68824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4816" y="1719072"/>
            <a:ext cx="4588764" cy="1929384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6256" y="1764792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1.  Pack 130 eggs in boxes of 6. How many full boxes?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6256" y="2596896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13 ÷ 6 = 2 r 1; 10 ÷ 6 = 1 r 4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21 r 4 → round up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22 full boxes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4816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96256" y="3767328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2.  32 people need cars with 5 seats each. How many cars?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96256" y="4599432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32 ÷ 5 = 6 r 2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Ignore the remainder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6 cars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4816" y="5724144"/>
            <a:ext cx="4588764" cy="1929384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96256" y="5769864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3.  Share a £132 bill equally among 8 friends. How much each?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6256" y="6601968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13 ÷ 8 = 1 r 5; 52 ÷ 8 = 6 r 4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£16.04 each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25584" y="1234440"/>
            <a:ext cx="4588764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89592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25584" y="1719072"/>
            <a:ext cx="4588764" cy="1929384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17024" y="1764792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1.  94 people need tables seating 6. Hire is £12 per table. Total cost?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7024" y="2596896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94 ÷ 6 = 15 r 4 → 15 tables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 × 12 = 150 + 30 = 180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£180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25584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17024" y="3767328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2.  Buy 24 packs of 15 drinks. Use 87 drinks. How many remain?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7024" y="4599432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24 × 15 = 240 + 120 = 360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360 + 87 = 447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447 drinks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25584" y="5724144"/>
            <a:ext cx="4588764" cy="1929384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17024" y="5769864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3.  18 tickets cost £12 each. Four friends share the total. How much each?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17024" y="6601968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18 ÷ 4 = 4 r 2 → 4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 × 12 = 48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£48 each</a:t>
            </a:r>
          </a:p>
        </p:txBody>
      </p:sp>
    </p:spTree>
  </p:cSld>
  <p:clrMapOvr>
    <a:masterClrMapping/>
  </p:clrMapOvr>
</p:sld>
</file>

<file path=ppt/slides/slide10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Multiplication and Division Problems — initial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Show your full written method. No calculators.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M03-IA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6304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1.  A ribbon is 144 cm long and cut into 6 equal pieces. Find the length of each piece.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79208" y="146304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2088" y="166420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2.  A hall has 14 rows with 25 seats in each row. How many seats are there altogether?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452628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72744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3.  145 eggs are packed into boxes of 6. How many full boxes can be made?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452628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472744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4.  A coach hire company charges £75 per coach. 130 passengers need coaches with 24 seats each. Find the total hire cost.</a:t>
            </a:r>
          </a:p>
        </p:txBody>
      </p:sp>
    </p:spTree>
  </p:cSld>
  <p:clrMapOvr>
    <a:masterClrMapping/>
  </p:clrMapOvr>
</p:sld>
</file>

<file path=ppt/slides/slide10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Worked demo  •  Choose the calculation, use a written method, then check.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M03-S01  •  Topic slide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124712"/>
            <a:ext cx="3919727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6895" y="1124712"/>
            <a:ext cx="3919727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1759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26624" y="1124712"/>
            <a:ext cx="3919727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1488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81912"/>
            <a:ext cx="2103120" cy="12801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618488"/>
            <a:ext cx="2048255" cy="1207007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1581912"/>
            <a:ext cx="3919727" cy="12801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84 tins are shared equally among 4 boxes. How many tins go in each box?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6895" y="1581912"/>
            <a:ext cx="3919727" cy="12801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759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130 biscuits are packed in packs of 6. How many completely full packs can be made?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6624" y="1581912"/>
            <a:ext cx="3919727" cy="12801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81488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145 students need minibuses with 9 passenger seats each. Hire costs £40 per minibus. Find the total cost.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862072"/>
            <a:ext cx="2103120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2953512"/>
            <a:ext cx="1975103" cy="7772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8620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51175" y="2926079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“shared equally” among 4 boxes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84 ÷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6895" y="28620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0904" y="2926079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“packs of 6”; “completely full”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130 ÷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6624" y="28620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90632" y="2926079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“9 passenger seats”; “£40 per minibus”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145 ÷ 9, then buses × 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3822191"/>
            <a:ext cx="2103120" cy="224028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3913631"/>
            <a:ext cx="1975103" cy="20574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3822191"/>
            <a:ext cx="3919727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51175" y="38862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Bus stop: 8 ÷ 4 = 2; 4 ÷ 4 = 1.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84 ÷ 4 = 21.</a:t>
            </a:r>
          </a:p>
        </p:txBody>
      </p:sp>
      <p:grpSp>
        <p:nvGrpSpPr>
          <p:cNvPr id="33" name="Editable bus stop 84 ÷ 4"/>
          <p:cNvGrpSpPr/>
          <p:nvPr/>
        </p:nvGrpSpPr>
        <p:grpSpPr>
          <a:xfrm>
            <a:off x="3633216" y="5102352"/>
            <a:ext cx="1426463" cy="758952"/>
            <a:chOff x="3633216" y="5102352"/>
            <a:chExt cx="1426463" cy="758952"/>
          </a:xfrm>
        </p:grpSpPr>
        <p:cxnSp>
          <p:nvCxnSpPr>
            <p:cNvPr id="34" name="Connector 33"/>
            <p:cNvCxnSpPr/>
            <p:nvPr/>
          </p:nvCxnSpPr>
          <p:spPr>
            <a:xfrm>
              <a:off x="4035552" y="5477256"/>
              <a:ext cx="1024127" cy="0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34"/>
            <p:cNvCxnSpPr/>
            <p:nvPr/>
          </p:nvCxnSpPr>
          <p:spPr>
            <a:xfrm>
              <a:off x="4035552" y="5477256"/>
              <a:ext cx="0" cy="384048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3633216" y="5495544"/>
              <a:ext cx="347472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176B73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108704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8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108704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176B73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556760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556760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176B73"/>
                  </a:solidFill>
                  <a:latin typeface="Arial"/>
                </a:defRPr>
              </a:pPr>
              <a:r>
                <a:t>1</a:t>
              </a:r>
            </a:p>
          </p:txBody>
        </p:sp>
      </p:grpSp>
      <p:sp>
        <p:nvSpPr>
          <p:cNvPr id="41" name="Rectangle 40"/>
          <p:cNvSpPr/>
          <p:nvPr/>
        </p:nvSpPr>
        <p:spPr>
          <a:xfrm>
            <a:off x="6406895" y="3822191"/>
            <a:ext cx="3919727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0904" y="38862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Bus stop: 13 ÷ 6 = 2 r 1;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10 ÷ 6 = 1 r 4. So 130 ÷ 6 = 21 r 4.</a:t>
            </a:r>
          </a:p>
        </p:txBody>
      </p:sp>
      <p:grpSp>
        <p:nvGrpSpPr>
          <p:cNvPr id="43" name="Editable bus stop 130 ÷ 6"/>
          <p:cNvGrpSpPr/>
          <p:nvPr/>
        </p:nvGrpSpPr>
        <p:grpSpPr>
          <a:xfrm>
            <a:off x="7328915" y="5102352"/>
            <a:ext cx="1874521" cy="905256"/>
            <a:chOff x="7328915" y="5102352"/>
            <a:chExt cx="1874521" cy="905256"/>
          </a:xfrm>
        </p:grpSpPr>
        <p:cxnSp>
          <p:nvCxnSpPr>
            <p:cNvPr id="44" name="Connector 43"/>
            <p:cNvCxnSpPr/>
            <p:nvPr/>
          </p:nvCxnSpPr>
          <p:spPr>
            <a:xfrm>
              <a:off x="7731251" y="5477256"/>
              <a:ext cx="1472185" cy="0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7731251" y="5477256"/>
              <a:ext cx="0" cy="384048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7328915" y="5495544"/>
              <a:ext cx="347472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804403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804403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endParaRPr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252459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3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252459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161934" y="546811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700515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700515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609990" y="546811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804403" y="5843016"/>
              <a:ext cx="1344168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200" b="0">
                  <a:solidFill>
                    <a:srgbClr val="3559A2"/>
                  </a:solidFill>
                  <a:latin typeface="Arial"/>
                </a:defRPr>
              </a:pPr>
              <a:r>
                <a:t>remainder 4</a:t>
              </a:r>
            </a:p>
          </p:txBody>
        </p:sp>
      </p:grpSp>
      <p:sp>
        <p:nvSpPr>
          <p:cNvPr id="56" name="Rectangle 55"/>
          <p:cNvSpPr/>
          <p:nvPr/>
        </p:nvSpPr>
        <p:spPr>
          <a:xfrm>
            <a:off x="10326624" y="3822191"/>
            <a:ext cx="3919727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390632" y="3886200"/>
            <a:ext cx="3791712" cy="841247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Bus stop: 14 ÷ 9 = 1 r 5;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55 ÷ 9 = 6 r 1. So 16 r 1 → 17 buses.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Lattice: 17 × 40 = 680.</a:t>
            </a:r>
          </a:p>
        </p:txBody>
      </p:sp>
      <p:grpSp>
        <p:nvGrpSpPr>
          <p:cNvPr id="58" name="Editable bus stop 145 ÷ 9"/>
          <p:cNvGrpSpPr/>
          <p:nvPr/>
        </p:nvGrpSpPr>
        <p:grpSpPr>
          <a:xfrm>
            <a:off x="10308336" y="5010912"/>
            <a:ext cx="1863181" cy="905256"/>
            <a:chOff x="10308336" y="5010912"/>
            <a:chExt cx="1863181" cy="905256"/>
          </a:xfrm>
        </p:grpSpPr>
        <p:cxnSp>
          <p:nvCxnSpPr>
            <p:cNvPr id="59" name="Connector 58"/>
            <p:cNvCxnSpPr/>
            <p:nvPr/>
          </p:nvCxnSpPr>
          <p:spPr>
            <a:xfrm>
              <a:off x="10710672" y="5385816"/>
              <a:ext cx="1460845" cy="0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9"/>
            <p:cNvCxnSpPr/>
            <p:nvPr/>
          </p:nvCxnSpPr>
          <p:spPr>
            <a:xfrm>
              <a:off x="10710672" y="5385816"/>
              <a:ext cx="0" cy="384048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/>
            <p:cNvSpPr txBox="1"/>
            <p:nvPr/>
          </p:nvSpPr>
          <p:spPr>
            <a:xfrm>
              <a:off x="10308336" y="5404103"/>
              <a:ext cx="347472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r>
                <a:t>9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783824" y="5404103"/>
              <a:ext cx="44427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0783824" y="5010912"/>
              <a:ext cx="44427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endParaRPr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1228100" y="5404103"/>
              <a:ext cx="44427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1228100" y="5010912"/>
              <a:ext cx="44427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1137574" y="537667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1672376" y="5404103"/>
              <a:ext cx="44427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5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1672376" y="5010912"/>
              <a:ext cx="44427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1581851" y="537667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5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0783824" y="5751576"/>
              <a:ext cx="1332829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200" b="0">
                  <a:solidFill>
                    <a:srgbClr val="754B87"/>
                  </a:solidFill>
                  <a:latin typeface="Arial"/>
                </a:defRPr>
              </a:pPr>
              <a:r>
                <a:t>remainder 1</a:t>
              </a:r>
            </a:p>
          </p:txBody>
        </p:sp>
      </p:grpSp>
      <p:grpSp>
        <p:nvGrpSpPr>
          <p:cNvPr id="71" name="Editable lattice 17 × 40"/>
          <p:cNvGrpSpPr/>
          <p:nvPr/>
        </p:nvGrpSpPr>
        <p:grpSpPr>
          <a:xfrm>
            <a:off x="12489820" y="4809743"/>
            <a:ext cx="1271016" cy="1243584"/>
            <a:chOff x="12489820" y="4809743"/>
            <a:chExt cx="1271016" cy="1243584"/>
          </a:xfrm>
        </p:grpSpPr>
        <p:sp>
          <p:nvSpPr>
            <p:cNvPr id="72" name="TextBox 71"/>
            <p:cNvSpPr txBox="1"/>
            <p:nvPr/>
          </p:nvSpPr>
          <p:spPr>
            <a:xfrm>
              <a:off x="12800716" y="4809743"/>
              <a:ext cx="333756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3134472" y="4809743"/>
              <a:ext cx="333756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7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3495660" y="5065775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3495660" y="5399531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2800716" y="5065775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7" name="Connector 76"/>
            <p:cNvCxnSpPr/>
            <p:nvPr/>
          </p:nvCxnSpPr>
          <p:spPr>
            <a:xfrm flipV="1">
              <a:off x="12800716" y="5065775"/>
              <a:ext cx="333756" cy="333756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/>
            <p:cNvSpPr txBox="1"/>
            <p:nvPr/>
          </p:nvSpPr>
          <p:spPr>
            <a:xfrm>
              <a:off x="12814066" y="5072451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2960918" y="5229316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13134472" y="5065775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1" name="Connector 80"/>
            <p:cNvCxnSpPr/>
            <p:nvPr/>
          </p:nvCxnSpPr>
          <p:spPr>
            <a:xfrm flipV="1">
              <a:off x="13134472" y="5065775"/>
              <a:ext cx="333756" cy="333756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13147822" y="5072451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3294674" y="5229316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8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2800716" y="5399531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5" name="Connector 84"/>
            <p:cNvCxnSpPr/>
            <p:nvPr/>
          </p:nvCxnSpPr>
          <p:spPr>
            <a:xfrm flipV="1">
              <a:off x="12800716" y="5399531"/>
              <a:ext cx="333756" cy="333757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/>
            <p:cNvSpPr txBox="1"/>
            <p:nvPr/>
          </p:nvSpPr>
          <p:spPr>
            <a:xfrm>
              <a:off x="12814066" y="5406207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2960918" y="5563072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13134472" y="5399531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9" name="Connector 88"/>
            <p:cNvCxnSpPr/>
            <p:nvPr/>
          </p:nvCxnSpPr>
          <p:spPr>
            <a:xfrm flipV="1">
              <a:off x="13134472" y="5399531"/>
              <a:ext cx="333756" cy="333757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/>
            <p:cNvSpPr txBox="1"/>
            <p:nvPr/>
          </p:nvSpPr>
          <p:spPr>
            <a:xfrm>
              <a:off x="13147822" y="5406207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3294674" y="5563072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cxnSp>
          <p:nvCxnSpPr>
            <p:cNvPr id="92" name="Connector 91"/>
            <p:cNvCxnSpPr/>
            <p:nvPr/>
          </p:nvCxnSpPr>
          <p:spPr>
            <a:xfrm>
              <a:off x="12800716" y="5065775"/>
              <a:ext cx="0" cy="667513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 92"/>
            <p:cNvCxnSpPr/>
            <p:nvPr/>
          </p:nvCxnSpPr>
          <p:spPr>
            <a:xfrm>
              <a:off x="13134472" y="5065775"/>
              <a:ext cx="0" cy="667513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 93"/>
            <p:cNvCxnSpPr/>
            <p:nvPr/>
          </p:nvCxnSpPr>
          <p:spPr>
            <a:xfrm>
              <a:off x="13468228" y="5065775"/>
              <a:ext cx="0" cy="667513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ctor 94"/>
            <p:cNvCxnSpPr/>
            <p:nvPr/>
          </p:nvCxnSpPr>
          <p:spPr>
            <a:xfrm>
              <a:off x="12800716" y="5065775"/>
              <a:ext cx="667512" cy="0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 95"/>
            <p:cNvCxnSpPr/>
            <p:nvPr/>
          </p:nvCxnSpPr>
          <p:spPr>
            <a:xfrm>
              <a:off x="12800716" y="5399531"/>
              <a:ext cx="667512" cy="0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or 96"/>
            <p:cNvCxnSpPr/>
            <p:nvPr/>
          </p:nvCxnSpPr>
          <p:spPr>
            <a:xfrm>
              <a:off x="12800716" y="5733288"/>
              <a:ext cx="667512" cy="0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/>
            <p:cNvSpPr txBox="1"/>
            <p:nvPr/>
          </p:nvSpPr>
          <p:spPr>
            <a:xfrm>
              <a:off x="13134472" y="5815583"/>
              <a:ext cx="333756" cy="2377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754B87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2800716" y="5815583"/>
              <a:ext cx="333756" cy="2377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754B87"/>
                  </a:solidFill>
                  <a:latin typeface="Arial"/>
                </a:defRPr>
              </a:pPr>
              <a:r>
                <a:t>8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2489820" y="5399531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754B87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12489820" y="5065775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8193A0"/>
                  </a:solidFill>
                  <a:latin typeface="Arial"/>
                </a:defRPr>
              </a:pPr>
              <a:r>
                <a:t>0</a:t>
              </a:r>
            </a:p>
          </p:txBody>
        </p:sp>
      </p:grpSp>
      <p:sp>
        <p:nvSpPr>
          <p:cNvPr id="102" name="Rectangle 101"/>
          <p:cNvSpPr/>
          <p:nvPr/>
        </p:nvSpPr>
        <p:spPr>
          <a:xfrm>
            <a:off x="384048" y="6062472"/>
            <a:ext cx="2103120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48056" y="6153912"/>
            <a:ext cx="1975103" cy="7772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Ballpark Check &amp; Math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487168" y="60624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2551175" y="6126480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80 ÷ 4 = 20.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21 is close to 20.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406895" y="60624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470904" y="6126480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120 ÷ 6 = 20.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21 full packs is reasonable.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326624" y="60624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0390632" y="6126480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150 ÷ 10 ≈ 15; 15 × 40 = 600.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£680 is reasonable: more buses are needed.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84048" y="7022592"/>
            <a:ext cx="2103120" cy="64008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48056" y="7114031"/>
            <a:ext cx="1975103" cy="457199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4. Final Answer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487168" y="7022592"/>
            <a:ext cx="391972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2551175" y="7086600"/>
            <a:ext cx="3791712" cy="47548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21 tins per box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6895" y="7022592"/>
            <a:ext cx="391972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470904" y="7086600"/>
            <a:ext cx="3791712" cy="47548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21 full packs; 4 biscuits left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326624" y="7022592"/>
            <a:ext cx="391972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0390632" y="7086600"/>
            <a:ext cx="3791712" cy="47548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£680 to hire 17 minibuses</a:t>
            </a:r>
          </a:p>
        </p:txBody>
      </p:sp>
    </p:spTree>
  </p:cSld>
  <p:clrMapOvr>
    <a:masterClrMapping/>
  </p:clrMapOvr>
</p:sld>
</file>

<file path=ppt/slides/slide10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Step-by-step practice 1  •  Decide which calculation(s) each question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M03-S02  •  Topic slide 3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124712"/>
            <a:ext cx="3919727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6895" y="1124712"/>
            <a:ext cx="3919727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1759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26624" y="1124712"/>
            <a:ext cx="3919727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1488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81912"/>
            <a:ext cx="2103120" cy="12801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618488"/>
            <a:ext cx="2048255" cy="1207007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1581912"/>
            <a:ext cx="3919727" cy="12801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42 packs each contain 15 pens. How many pens are there?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6895" y="1581912"/>
            <a:ext cx="3919727" cy="12801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759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215 apples go into bags of 6. How many completely full bags can be made?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6624" y="1581912"/>
            <a:ext cx="3919727" cy="12801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81488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A painter charges £18 per hour for 32 hours, plus £120 for paint. Find the total bill.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86207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2953512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51175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6895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0904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6624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90632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405079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414223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51175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6895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0904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26624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390632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523951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8056" y="533095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87168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551175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6895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0904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26624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390632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642823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8056" y="651967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4. 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87168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551175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6895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70904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26624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390632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</p:spTree>
  </p:cSld>
  <p:clrMapOvr>
    <a:masterClrMapping/>
  </p:clrMapOvr>
</p:sld>
</file>

<file path=ppt/slides/slide10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Step-by-step practice 2  •  Decide which calculation(s) each question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M03-S03  •  Topic slide 4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124712"/>
            <a:ext cx="3919727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6895" y="1124712"/>
            <a:ext cx="3919727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1759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26624" y="1124712"/>
            <a:ext cx="3919727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1488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81912"/>
            <a:ext cx="2103120" cy="12801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618488"/>
            <a:ext cx="2048255" cy="1207007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1581912"/>
            <a:ext cx="3919727" cy="12801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168 students form 7 equal groups. How many students are in each group?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6895" y="1581912"/>
            <a:ext cx="3919727" cy="12801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759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A worker earns £16 per hour for 27 hours. What are their total wages?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6624" y="1581912"/>
            <a:ext cx="3919727" cy="12801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81488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157 passengers need vans with 8 passenger seats each. Hire costs £45 per van. Find the total hire cost.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86207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2953512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51175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6895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0904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6624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90632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405079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414223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51175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6895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0904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26624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390632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523951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8056" y="533095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87168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551175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6895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0904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26624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390632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642823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8056" y="651967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4. 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87168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551175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6895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70904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26624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390632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</p:spTree>
  </p:cSld>
  <p:clrMapOvr>
    <a:masterClrMapping/>
  </p:clrMapOvr>
</p:sld>
</file>

<file path=ppt/slides/slide10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1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M03-S04  •  Topic slide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library has 14 shelves with 32 books on each. How many books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105 students form 7 equal groups. How many students are in each group?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has 26 crates with 41 bottles in each. How many bottles are there?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148 m rope is cut into 4 equal pieces. How long is each piece?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hall has 13 rows of 85 seats. How many seats are there?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£175 is shared equally among 5 people. How much does each person receive?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130 eggs are packed in cartons of 6. How many full cartons can be packed?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32 passengers need cars with 5 passenger seats each. How many cars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250 chocolates are packed in boxes of 12. How many chocolates are left over?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worker earns £17 per hour for 28 hours. What are their total wages?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142 rolls are sold in bags of 6. How many full bags can be made?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£132 bill is shared equally by 8 friends. How much does each pay?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45 tickets cost £16 each. A group gets £50 off the total. How much does it pay?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115 passengers need vans with 8 passenger seats each. Hire costs £65 per van. Find the total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gym costs £22 per month plus a £30 joining fee. Find the cost for 14 months.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430 cases fill boxes of 12. Each full box sells for £9. Find the income from full boxes.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contractor charges £24 per hour for 15 hours, plus £45 for materials. Find the total bill.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15 boxes of 12 headphones at £8 per headphone. Find the total sales income.</a:t>
            </a:r>
          </a:p>
        </p:txBody>
      </p:sp>
    </p:spTree>
  </p:cSld>
  <p:clrMapOvr>
    <a:masterClrMapping/>
  </p:clrMapOvr>
</p:sld>
</file>

<file path=ppt/slides/slide10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2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M03-S05  •  Topic slide 7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18 trays each hold 24 plants. How many plants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156 pens are shared equally among 6 classes. How many pens does each class get?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orders 23 packs of 16 badges. How many badges does it order?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£248 is shared equally among 8 people. How much does each person get?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runner covers 12 km each week for 27 weeks. How far do they run?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189 cm ribbon is cut into 7 equal pieces. Find the length of each piece.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197 leaflets are bundled in groups of 8. How many complete bundles can be made?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camp has 83 people. Each tent sleeps 6. How many tents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275 cm strip is cut into 12 cm pieces. How many centimetres remain?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printer produces 36 pages per minute. How many pages does it produce in 14 minutes?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£154 is split equally among 4 workers. How much does each receive?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253 photos go in albums holding 24 photos. How many albums are needed for all the photos?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28 shirts cost £14 each. Delivery costs £18. Find the total cost.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94 people need tables seating 6 each. Tables cost £12 each to hire. Find the total hire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buys 24 packs of 15 drinks. It uses 87 drinks. How many remain?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baker has 286 biscuits. Full bags hold 8 and sell for £3 each. Find the sales income.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Four friends share the cost of 18 tickets at £12 each equally. How much does each friend pay?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17 cartons of 24 pens at £2 per pen. Find the total sales income.</a:t>
            </a:r>
          </a:p>
        </p:txBody>
      </p:sp>
    </p:spTree>
  </p:cSld>
  <p:clrMapOvr>
    <a:masterClrMapping/>
  </p:clrMapOvr>
</p:sld>
</file>

<file path=ppt/slides/slide10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3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M03-S06  •  Topic slide 8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16 boxes each hold 35 cables. How many cables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252 stickers are shared equally among 7 students. How many does each student get?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cinema has 28 rows of 24 seats. Find the total number of seats.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336 m cable is cut into 8 equal lengths. How long is each length?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charity buys 19 packs of 32 cards. How many cards does it buy?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£315 is shared equally among 9 people. How much does each receive?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245 apples are packed in bags of 8. How many full bags can be made?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hotel has 137 guests. Each shuttle carries 9 guests. How many shuttle trips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359 beads are used in bracelets of 12 beads. How many beads remain?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technician earns £23 per hour for 16 hours. Find their total wages.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£186 bill is shared equally by 8 people. How much does each person pay?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Each floor tile covers 25 cm². What area do 48 tiles cover?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gardener charges £21 per hour for 18 hours, plus £64 for plants. Find the total bill.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167 passengers need coaches with 24 passenger seats each. Hire costs £85 per coach. Find the total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buys 32 packs of 18 cards. It gives away 145 cards. How many remain?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397 oranges fill bags of 6. Each full bag sells for £4. Find the sales income.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Six people equally share the cost of 15 meals at £14 each. How much does each person pay?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23 boxes of 16 mugs at £5 per mug. Find the total sales income.</a:t>
            </a:r>
          </a:p>
        </p:txBody>
      </p:sp>
    </p:spTree>
  </p:cSld>
  <p:clrMapOvr>
    <a:masterClrMapping/>
  </p:clrMapOvr>
</p:sld>
</file>

<file path=ppt/slides/slide10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4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M03-S07  •  Topic slide 9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27 packets each contain 18 labels. How many labels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384 books are shared equally among 8 shelves. How many books go on each shelf?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nursery has 34 trays of 16 seedlings. How many seedlings are there?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£425 is shared equally among 5 people. How much does each receive?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hall has 26 rows of 35 seats. How many seats are there?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294 cm strip is cut into 6 equal lengths. Find the length of each piece.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367 bottles are packed in boxes of 12. How many complete boxes can be packed?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hostel has 158 guests. Each room holds 6 guests. How many rooms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lIns="91440" tIns="36576" rIns="91440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413 cm ribbon is cut into 15 cm lengths. How many </a:t>
            </a:r>
            <a:r>
              <a:rPr lang="en-GB"/>
              <a:t>centimetres</a:t>
            </a:r>
            <a:r>
              <a:t> remain?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machine labels 28 bottles per minute. How many does it label in 19 minutes?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£238 bill is shared equally by 8 friends. How much does each friend pay?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319 files fit in folders holding 24 files. How many folders are needed for all the files?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 tickets cost £17 each. A group gets £75 off the total. How much does it pay?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203 people need tables seating 8 each. Hire costs £15 per table. Find the total hire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buys 29 boxes of 24 notebooks. It sells 187 notebooks. How many remain?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baker has 518 rolls. Full bags hold 12 and sell for £5 each. Find the sales income.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Seven people equally share the cost of 21 meals at £16 each. How much does each person pay?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28 boxes of 15 keyrings at £3 per keyring. Find the total sales income.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22</Slides>
  <Notes>22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GCSE Maths Revision Starters</dc:title>
  <dc:subject>Lattice multiplication, bus stop division and application to exam problems</dc:subject>
  <dc:creator>Maths teaching resources</dc:creator>
  <cp:keywords/>
  <dc:description>generated using python-pptx</dc:description>
  <cp:revision>1</cp:revision>
  <dcterms:created xsi:type="dcterms:W3CDTF">2013-01-27T09:14:16Z</dcterms:created>
  <dcterms:modified xsi:type="dcterms:W3CDTF">2026-09-24T15:49:41Z</dcterms:modified>
  <cp:category/>
</cp:coreProperties>
</file>