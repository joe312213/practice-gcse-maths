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([['£36', '20 notebooks', '56 people']], {'Method': ['7 parts; £84 ÷ 7 = £12 per part; £12 × 3 = £36 for A.', '35 folders represent 7 parts. 35 ÷ 7 = 5 per part; 5 × 4 = 20 notebooks.', 'The difference is 5 − 2 = 3 parts. 24 ÷ 3 = 8 per part; 8 × 7 = 56 people.'], 'If you got…': ['£48: check whether you used £12 × 4. That is B’s share; A has 3 parts.', '32 notebooks: check whether you used 35 − (7 − 4). The difference of 3 is in parts, not individual items.', '168 people: check whether you used 24 × 7. The 24 represents 3 parts, not 1; divide by 3 first.'], 'Check': ['A: £36; B: £48. £36 + £48 = £84, and 36:48 simplifies to 3:4.', '20:35 simplifies to 4:7. There should be fewer notebooks than folders.', 'Adults: 16; children: 40. 40 − 16 = 24; 16 + 40 = 56.']})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([['£56', '63 litres of water', '91 cm']], {'Method': ['12 parts; £96 ÷ 12 = £8 per part; £8 × 7 = £56 for B.', '18 litres represent 2 parts. 18 ÷ 2 = 9 per part; 9 × 7 = 63 litres of water.', 'The difference is 8 − 5 = 3 parts. 21 ÷ 3 = 7 cm per part; 7 × 13 = 91 cm.'], 'If you got…': ['£40: check whether you used £8 × 5. That is A’s share; the question asks for B.', '23 litres: check whether you used 18 + (7 − 2). Five extra parts do not mean five extra litres.', '273 cm: check whether you used 21 × 13. The 21 cm represents 3 parts, not 1.'], 'Check': ['£40 + £56 = £96. B gets more than half of £96.', '18:63 simplifies to 2:7. Water is between 3 and 4 times the juice: 54 to 72 litres.', 'Lengths: 35 cm and 56 cm. Difference: 21 cm. Total: 91 cm.']})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 and worked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Answers to step-by-step practice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M04-S02-A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and B share £84 in the ratio 3:4. How much does A receive?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Notebooks and folders are in the ratio 4:7. There are 35 folders. How many notebooks are there?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Adults and children are in the ratio 2:5. There are 24 more children than adults. How many people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Total known: 3 + 4 = 7 parts. Find 1 part, then A’s 3 parts.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35 folders is 7 parts. Find 1 part, then 4 parts for notebooks.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24 more children is 5 − 2 = 3 parts. Find 1 part, then 7 parts altogether.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£84 ÷ 7 = £12 per part. £12 × 3 = £36.</a:t>
            </a:r>
          </a:p>
        </p:txBody>
      </p:sp>
      <p:grpSp>
        <p:nvGrpSpPr>
          <p:cNvPr id="33" name="Ratio bars A:B = 3:4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895344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288536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3" name="Connector 42"/>
            <p:cNvCxnSpPr/>
            <p:nvPr/>
          </p:nvCxnSpPr>
          <p:spPr>
            <a:xfrm>
              <a:off x="4773168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43"/>
            <p:cNvCxnSpPr/>
            <p:nvPr/>
          </p:nvCxnSpPr>
          <p:spPr>
            <a:xfrm>
              <a:off x="4727448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4727448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£84 altogether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£12</a:t>
              </a:r>
            </a:p>
          </p:txBody>
        </p:sp>
      </p:grpSp>
      <p:sp>
        <p:nvSpPr>
          <p:cNvPr id="48" name="Rectangle 47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35 ÷ 7 = 5 per part. 5 × 4 = 20 notebooks.</a:t>
            </a:r>
          </a:p>
        </p:txBody>
      </p:sp>
      <p:grpSp>
        <p:nvGrpSpPr>
          <p:cNvPr id="50" name="Ratio bars Notebooks:Folders = 4:7, second"/>
          <p:cNvGrpSpPr/>
          <p:nvPr/>
        </p:nvGrpSpPr>
        <p:grpSpPr>
          <a:xfrm>
            <a:off x="6257544" y="4686300"/>
            <a:ext cx="3916680" cy="1275588"/>
            <a:chOff x="6257544" y="4686300"/>
            <a:chExt cx="3916680" cy="1275588"/>
          </a:xfrm>
        </p:grpSpPr>
        <p:sp>
          <p:nvSpPr>
            <p:cNvPr id="51" name="TextBox 50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Notebooks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958328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8351520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Folders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913790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953109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4" name="Connector 63"/>
            <p:cNvCxnSpPr/>
            <p:nvPr/>
          </p:nvCxnSpPr>
          <p:spPr>
            <a:xfrm>
              <a:off x="7171944" y="5001768"/>
              <a:ext cx="2752344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Folders: 35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5 items</a:t>
              </a:r>
            </a:p>
          </p:txBody>
        </p:sp>
      </p:grpSp>
      <p:sp>
        <p:nvSpPr>
          <p:cNvPr id="67" name="Rectangle 66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24 ÷ 3 = 8 per part. 8 × 7 = 56 people.</a:t>
            </a:r>
          </a:p>
        </p:txBody>
      </p:sp>
      <p:grpSp>
        <p:nvGrpSpPr>
          <p:cNvPr id="69" name="Ratio bars Adults:Children = 2:5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70" name="TextBox 69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Adults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1234928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1628120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Children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123492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162812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2021312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12414504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12807696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9" name="Connector 78"/>
            <p:cNvCxnSpPr/>
            <p:nvPr/>
          </p:nvCxnSpPr>
          <p:spPr>
            <a:xfrm>
              <a:off x="12021312" y="5376672"/>
              <a:ext cx="1179576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 79"/>
            <p:cNvCxnSpPr/>
            <p:nvPr/>
          </p:nvCxnSpPr>
          <p:spPr>
            <a:xfrm>
              <a:off x="12021312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>
              <a:off x="13200888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3 extra parts = 24 people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8 people</a:t>
              </a:r>
            </a:p>
          </p:txBody>
        </p:sp>
      </p:grpSp>
      <p:sp>
        <p:nvSpPr>
          <p:cNvPr id="84" name="Rectangle 83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£36 is less than half of £84. The other share is £48; together they make £84.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4 parts is just over half of 7 parts, so expect just over half of 35. 20 fits.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is 7 parts, the difference 3. Expect between 2 × 24 and 3 × 24: 48 to 72. 56 fits.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A receives £36.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20 notebooks.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56 people altogether.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 parts; £84 ÷ 7 = £12 per part; £12 × 3 = £36 for 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£48: check whether you used £12 × 4. That is B’s share; A has 3 parts.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A: £36; B: £48. £36 + £48 = £84, and 36:48 simplifies to 3:4.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35 folders represent 7 parts. 35 ÷ 7 = 5 per part; 5 × 4 = 20 notebooks.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32 notebooks: check whether you used 35 − (7 − 4). The difference of 3 is in parts, not individual items.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20:35 simplifies to 4:7. There should be fewer notebooks than folders.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The difference is 5 − 2 = 3 parts. 24 ÷ 3 = 8 per part; 8 × 7 = 56 people.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168 people: check whether you used 24 × 7. The 24 represents 3 parts, not 1; divide by 3 first.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Adults: 16; children: 40. 40 − 16 = 24; 16 + 40 = 56.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 and worked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Answers to step-by-step practice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M04-S03-A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and B share £96 in the ratio 5:7. How much does B receive?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18 litres of juice. How many litres of water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Two lengths of ribbon, A and B, are in the ratio 5:8. B is 21 cm longer than A. What is their total length?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Total known: 5 + 7 = 12 parts. Find 1 part, then B’s 7 parts.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litres of juice is 2 parts. Find 1 part, then 7 parts of water.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cm is 8 − 5 = 3 parts. Find 1 part, then 13 parts altogether.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£96 ÷ 12 = £8 per part. £8 × 7 = £56.</a:t>
            </a:r>
          </a:p>
        </p:txBody>
      </p:sp>
      <p:grpSp>
        <p:nvGrpSpPr>
          <p:cNvPr id="33" name="Ratio bars A:B = 5:7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895344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288536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681728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288536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681728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07492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46811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8" name="Connector 47"/>
            <p:cNvCxnSpPr/>
            <p:nvPr/>
          </p:nvCxnSpPr>
          <p:spPr>
            <a:xfrm>
              <a:off x="5952744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 48"/>
            <p:cNvCxnSpPr/>
            <p:nvPr/>
          </p:nvCxnSpPr>
          <p:spPr>
            <a:xfrm>
              <a:off x="5907024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49"/>
            <p:cNvCxnSpPr/>
            <p:nvPr/>
          </p:nvCxnSpPr>
          <p:spPr>
            <a:xfrm>
              <a:off x="5907024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£96 altogether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£8</a:t>
              </a:r>
            </a:p>
          </p:txBody>
        </p:sp>
      </p:grpSp>
      <p:sp>
        <p:nvSpPr>
          <p:cNvPr id="53" name="Rectangle 52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÷ 2 = 9 litres per part. 9 × 7 = 63 litres.</a:t>
            </a:r>
          </a:p>
        </p:txBody>
      </p:sp>
      <p:grpSp>
        <p:nvGrpSpPr>
          <p:cNvPr id="55" name="Ratio bars Juice:Water = 2:7, first"/>
          <p:cNvGrpSpPr/>
          <p:nvPr/>
        </p:nvGrpSpPr>
        <p:grpSpPr>
          <a:xfrm>
            <a:off x="6257544" y="4626864"/>
            <a:ext cx="3916680" cy="1335024"/>
            <a:chOff x="6257544" y="4626864"/>
            <a:chExt cx="3916680" cy="1335024"/>
          </a:xfrm>
        </p:grpSpPr>
        <p:sp>
          <p:nvSpPr>
            <p:cNvPr id="56" name="TextBox 55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Juice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Water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913790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953109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7" name="Connector 66"/>
            <p:cNvCxnSpPr/>
            <p:nvPr/>
          </p:nvCxnSpPr>
          <p:spPr>
            <a:xfrm>
              <a:off x="7171944" y="4626864"/>
              <a:ext cx="786384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Juice: 18 litres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9 litres</a:t>
              </a:r>
            </a:p>
          </p:txBody>
        </p:sp>
      </p:grpSp>
      <p:sp>
        <p:nvSpPr>
          <p:cNvPr id="70" name="Rectangle 69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÷ 3 = 7 cm per part. 7 × 13 = 91 cm.</a:t>
            </a:r>
          </a:p>
        </p:txBody>
      </p:sp>
      <p:grpSp>
        <p:nvGrpSpPr>
          <p:cNvPr id="72" name="Ratio bars A:B = 5:8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73" name="TextBox 72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1234928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1587353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1939778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12292203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12644628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1234928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11587353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11939778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12292203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2644628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12997053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13349478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13701903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8" name="Connector 87"/>
            <p:cNvCxnSpPr/>
            <p:nvPr/>
          </p:nvCxnSpPr>
          <p:spPr>
            <a:xfrm>
              <a:off x="12997053" y="5376672"/>
              <a:ext cx="1057275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12997053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14054328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3 extra parts = 21 cm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7 cm</a:t>
              </a:r>
            </a:p>
          </p:txBody>
        </p:sp>
      </p:grpSp>
      <p:sp>
        <p:nvSpPr>
          <p:cNvPr id="93" name="Rectangle 92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gets more than half of £96. £56 fits; £40 + £56 = £96.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Water is between 3 and 4 times the juice: between 54 and 72 litres. 63 fits.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is just over 4 times the 21 cm difference. 4 × 21 = 84; 91 is reasonable.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receives £56.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63 litres of water.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91 cm altogether.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 parts; £96 ÷ 12 = £8 per part; £8 × 7 = £56 for B.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£40: check whether you used £8 × 5. That is A’s share; the question asks for 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£40 + £56 = £96. B gets more than half of £96.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18 litres represent 2 parts. 18 ÷ 2 = 9 per part; 9 × 7 = 63 litres of water.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23 litres: check whether you used 18 + (7 − 2). Five extra parts do not mean five extra litres.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18:63 simplifies to 2:7. Water is between 3 and 4 times the juice: 54 to 72 litres.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The difference is 8 − 5 = 3 parts. 21 ÷ 3 = 7 cm per part; 7 × 13 = 91 cm.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273 cm: check whether you used 21 × 13. The 21 cm represents 3 parts, not 1.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Lengths: 35 cm and 56 cm. Difference: 21 cm. Total: 91 cm.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Match the thread and question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1.  £10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1.  30 counters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1.  £22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2.  £36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414016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2.  24 counters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414016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2.  £91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3.  £24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663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3.  64 counters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3.  £117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23360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4.  £30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023360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4.  24 counters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023360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4.  £35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5.  £18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663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5.  63 counters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5.  £30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32704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6.  £49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5632704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5663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6.  84 counters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5632704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007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6.  £104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656832"/>
            <a:ext cx="1380744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Check the amount requested: one share, the other share, or the total.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7315200"/>
            <a:ext cx="13807440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2"/>
                </a:solidFill>
                <a:latin typeface="Arial"/>
              </a:defRPr>
            </a:pPr>
            <a:r>
              <a:t>The next slide checks a method and a possible error in each thread.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1 + 3 = 4 parts. £40 ÷ 4 = £10 per part. A gets £10 × 1 = £10.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 — £30: check whether you used £10 × 3. That finds B’s share, not A’s.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A £10 + B £30 = £40. The shares have ratio 1:3.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10 red counters represent 1 part. Blue has 3 parts: 10 × 3 = 30 counters.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 — 12: check whether you used 10 + (3 − 1). Two extra parts mean 20 extra counters here.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10:30 = 1:3. Blue has three times as many counters as red.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5 − 2 = 3 parts. £33 ÷ 3 = £11 per part. A gets £11 × 2 = £22.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 — £66: check whether you used £33 × 2. £33 represents 3 parts; divide by 3 first.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B gets £55; £55 − £22 = £33.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Match the thread and question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1.  £60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1.  24 counters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1.  £65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2.  £42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414016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2.  56 counters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414016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2.  £135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3.  £60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663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3.  110 counters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3.  £55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23360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4.  £24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023360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4.  64 counters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023360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4.  £36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5.  £22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663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5.  77 counters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5.  £168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32704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6.  £63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5632704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5663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6.  108 counters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5632704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007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6.  £80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656832"/>
            <a:ext cx="1380744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Check the amount requested: one share, the other share, or the total.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7315200"/>
            <a:ext cx="13807440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2"/>
                </a:solidFill>
                <a:latin typeface="Arial"/>
              </a:defRPr>
            </a:pPr>
            <a:r>
              <a:t>The next slide checks a method and a possible error in each thread.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2 + 5 = 7 parts. £84 ÷ 7 = £12 per part. B gets £12 × 5 = £60.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 — £24: check whether you used £12 × 2. That is A’s share; B has 5 parts.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£24 + £60 = £84, with ratio 2:5.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60 blue counters represent 5 parts. 60 ÷ 5 = 12; red has 12 × 2 = 24.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 — 57: check whether you used 60 − (5 − 2). Three fewer parts do not mean three fewer counters.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24:60 = 2:5. Red has fewer counters than blue.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5 − 3 = 2 parts. £26 ÷ 2 = £13 per part. B gets £13 × 5 = £65.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 — £130: check whether you used £26 × 5. The £26 difference represents 2 parts.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A gets £39. £65 − £39 = £26.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Match the thread and question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1.  £56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1.  98 counters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1.  £165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2.  £48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414016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2.  80 counters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414016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2.  £51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3.  £24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663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3.  132 counters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3.  £117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23360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4.  £80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023360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4.  70 counters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023360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4.  £143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5.  £117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663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5.  52 counters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5.  £126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32704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6.  £99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5632704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5663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6.  154 counters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5632704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007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6.  £132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656832"/>
            <a:ext cx="1380744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Check the amount requested: one share, the other share, or the total.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7315200"/>
            <a:ext cx="13807440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2"/>
                </a:solidFill>
                <a:latin typeface="Arial"/>
              </a:defRPr>
            </a:pPr>
            <a:r>
              <a:t>The next slide checks a method and a possible error in each thread.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4 + 7 = 11 parts. £154 ÷ 11 = £14 per part. A gets £14 × 4 = £56.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 — £98: check whether you used £14 × 7. That finds B’s share, not A’s.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£56 + £98 = £154, with ratio 4:7.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56 red counters represent 4 parts. 56 ÷ 4 = 14; blue has 14 × 7 = 98.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 — 59: check whether you used 56 + (7 − 4). Three extra parts represent 42 counters here.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56:98 = 4:7. Both amounts give 14 counters per part.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7 − 4 = 3 parts. £45 ÷ 3 = £15 per part. Total: £15 × 11 = £165.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 — £495: check whether you used £45 × 11. £45 is the difference of 3 parts, not 1 part.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Shares £60 and £105; difference £45, total £165.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Match the thread and question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1.  £112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1.  48 counters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1.  £85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2.  £108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414016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2.  90 counters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414016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2.  £171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3.  £126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663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3.  182 counters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3.  £285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23360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4.  £84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023360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4.  36 counters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023360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4.  £117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5.  £75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663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5.  120 counters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5.  £112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32704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6.  £117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5632704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5663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6.  208 counters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5632704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007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6.  £238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656832"/>
            <a:ext cx="1380744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Check the amount requested: one share, the other share, or the total.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7315200"/>
            <a:ext cx="13807440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2"/>
                </a:solidFill>
                <a:latin typeface="Arial"/>
              </a:defRPr>
            </a:pPr>
            <a:r>
              <a:t>The next slide checks a method and a possible error in each thread.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3 + 7 = 10 parts. £160 ÷ 10 = £16 per part. B gets £16 × 7 = £112.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 — £48: check whether you used £16 × 3. That is A’s share; the question asks for 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£48 + £112 = £160, with ratio 3:7.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112 blue counters represent 7 parts. 112 ÷ 7 = 16; red has 16 × 3 = 48.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 — 108: check whether you used 112 − (7 − 3). Four fewer parts do not mean four fewer counters.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48:112 = 3:7. Red is less than half of blue.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7 − 5 = 2 parts. £34 ÷ 2 = £17 per part. A gets £17 × 5 = £85.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 — £170: check whether you used £34 × 5. £34 represents 2 parts; divide by 2 first.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B gets £119. £119 − £85 = £34.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— answers and method checks</dc:title>
  <dc:subject/>
  <dc:creator>Maths teaching resources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