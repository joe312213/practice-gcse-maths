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([['36 ml', '20 notebooks', '56 people']], {'Method': ['7 parts; 84 ml ÷ 7 = 12 ml per part; 12 ml × 3 = 36 ml of red paint.', '35 folders represent 7 parts. 35 ÷ 7 = 5 per part; 5 × 4 = 20 notebooks.', 'The difference is 5 − 2 = 3 parts. 24 ÷ 3 = 8 per part; 8 × 7 = 56 people.'], 'If you got…': ['48 ml: check whether you used 12 ml × 4. That is white paint; red has 3 parts.', '32 notebooks: check whether you used 35 − (7 − 4). The difference of 3 is in parts, not individual items.', '168 people: check whether you used 24 × 7. The 24 represents 3 parts, not 1; divide by 3 first.'], 'Check': ['Red: 36 ml; White: 48 ml. 36 ml + 48 ml = 84 ml, and 36:48 simplifies to 3:4.', '20:35 simplifies to 4:7. There should be fewer notebooks than folders.', 'Adults: 16; children: 40. 40 − 16 = 24; 16 + 40 = 56.']})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 and notes from content/answers/M04_answers.md; source M04-S02.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([['56 cm', '63 litres of water', '91 cm']], {'Method': ['12 parts; 96 cm ÷ 12 = 8 cm per part; 8 cm × 7 = 56 cm for B.', '18 litres represent 2 parts. 18 ÷ 2 = 9 per part; 9 × 7 = 63 litres of water.', 'The difference is 8 − 5 = 3 parts. 21 ÷ 3 = 7 cm per part; 7 × 13 = 91 cm.'], 'If you got…': ['40 cm: check whether you used 8 cm × 5. That is piece A; the question asks for B.', '23 litres: check whether you used 18 + (7 − 2). Five extra parts do not mean five extra litres.', '273 cm: check whether you used 21 × 13. The 21 cm represents 3 parts, not 1.'], 'Check': ['40 cm + 56 cm = 96 cm. B is more than half of 96 cm.', '18:63 simplifies to 2:7. Water is between 3 and 4 times the juice: 54 to 72 litres.', 'Lengths: 35 cm and 56 cm. Difference: 21 cm. Total: 91 cm.']})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 and notes from content/answers/M04_answers.md; source M04-S03.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 and notes from content/answers/M04_answers.md; source M04-S04.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 and notes from content/answers/M04_answers.md; source M04-S05.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 and notes from content/answers/M04_answers.md; source M04-S06.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 and notes from content/answers/M04_answers.md; source M04-S07.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answers and worked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Answers to step-by-step practice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M04-S02-A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138988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" y="1673352"/>
            <a:ext cx="1691639" cy="120700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1389888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67127" y="1627632"/>
            <a:ext cx="3971544" cy="12618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An 84 ml paint mix contains red and white paint in the ratio 3:4. How much red paint is in the mix?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1389888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0112" y="1627632"/>
            <a:ext cx="3971544" cy="12618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Notebooks and folders are in the ratio 4:7. There are 35 folders. How many notebooks are there?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1389888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93096" y="1627632"/>
            <a:ext cx="3971544" cy="12618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Adults and children are in the ratio 2:5. There are 24 more children than adults. How many people are there altogether?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953512"/>
            <a:ext cx="1801367" cy="9601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4" y="3026664"/>
            <a:ext cx="1691639" cy="8138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67127" y="3026664"/>
            <a:ext cx="3971544" cy="8138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Total known: 3 + 4 = 7 parts. Find 1 part, then red paint’s 3 parts.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30112" y="3026664"/>
            <a:ext cx="3971544" cy="8138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35 folders is 7 parts. Find 1 part, then 4 parts for notebooks.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93096" y="3026664"/>
            <a:ext cx="3971544" cy="8138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24 more children is 5 − 2 = 3 parts. Find 1 part, then 7 parts altogether.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913632"/>
            <a:ext cx="1801367" cy="2066543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4" y="3986784"/>
            <a:ext cx="1691639" cy="1920239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67127" y="3968496"/>
            <a:ext cx="3971544" cy="6858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84 ml ÷ 7 = 12 ml per part. 12 ml × 3 = 36 ml.</a:t>
            </a:r>
          </a:p>
        </p:txBody>
      </p:sp>
      <p:grpSp>
        <p:nvGrpSpPr>
          <p:cNvPr id="33" name="Ratio bars Red:White = 3:4, total"/>
          <p:cNvGrpSpPr/>
          <p:nvPr/>
        </p:nvGrpSpPr>
        <p:grpSpPr>
          <a:xfrm>
            <a:off x="2194560" y="4686300"/>
            <a:ext cx="3916680" cy="1275588"/>
            <a:chOff x="2194560" y="4686300"/>
            <a:chExt cx="3916680" cy="1275588"/>
          </a:xfrm>
        </p:grpSpPr>
        <p:sp>
          <p:nvSpPr>
            <p:cNvPr id="34" name="TextBox 33"/>
            <p:cNvSpPr txBox="1"/>
            <p:nvPr/>
          </p:nvSpPr>
          <p:spPr>
            <a:xfrm>
              <a:off x="2194560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Red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108960" y="4709160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502152" y="4709160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3895344" y="4709160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194560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White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108960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502152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895344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4288536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3" name="Connector 42"/>
            <p:cNvCxnSpPr/>
            <p:nvPr/>
          </p:nvCxnSpPr>
          <p:spPr>
            <a:xfrm>
              <a:off x="4773168" y="4709160"/>
              <a:ext cx="0" cy="585216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ctor 43"/>
            <p:cNvCxnSpPr/>
            <p:nvPr/>
          </p:nvCxnSpPr>
          <p:spPr>
            <a:xfrm>
              <a:off x="4727448" y="4709160"/>
              <a:ext cx="45720" cy="0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or 44"/>
            <p:cNvCxnSpPr/>
            <p:nvPr/>
          </p:nvCxnSpPr>
          <p:spPr>
            <a:xfrm>
              <a:off x="4727448" y="5294376"/>
              <a:ext cx="45720" cy="0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/>
            <p:cNvSpPr txBox="1"/>
            <p:nvPr/>
          </p:nvSpPr>
          <p:spPr>
            <a:xfrm>
              <a:off x="3108960" y="5385816"/>
              <a:ext cx="3002280" cy="265176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76B73"/>
                  </a:solidFill>
                  <a:latin typeface="Arial"/>
                </a:defRPr>
              </a:pPr>
              <a:r>
                <a:t>84 ml altogether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3108960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176B73"/>
                  </a:solidFill>
                  <a:latin typeface="Arial"/>
                </a:defRPr>
              </a:pPr>
              <a:r>
                <a:t>1 part = 12 ml</a:t>
              </a:r>
            </a:p>
          </p:txBody>
        </p:sp>
      </p:grpSp>
      <p:sp>
        <p:nvSpPr>
          <p:cNvPr id="48" name="Rectangle 47"/>
          <p:cNvSpPr/>
          <p:nvPr/>
        </p:nvSpPr>
        <p:spPr>
          <a:xfrm>
            <a:off x="6184392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30112" y="3968496"/>
            <a:ext cx="3971544" cy="6858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35 ÷ 7 = 5 per part. 5 × 4 = 20 notebooks.</a:t>
            </a:r>
          </a:p>
        </p:txBody>
      </p:sp>
      <p:grpSp>
        <p:nvGrpSpPr>
          <p:cNvPr id="50" name="Ratio bars Notebooks:Folders = 4:7, second"/>
          <p:cNvGrpSpPr/>
          <p:nvPr/>
        </p:nvGrpSpPr>
        <p:grpSpPr>
          <a:xfrm>
            <a:off x="6257544" y="4686300"/>
            <a:ext cx="3916680" cy="1275588"/>
            <a:chOff x="6257544" y="4686300"/>
            <a:chExt cx="3916680" cy="1275588"/>
          </a:xfrm>
        </p:grpSpPr>
        <p:sp>
          <p:nvSpPr>
            <p:cNvPr id="51" name="TextBox 50"/>
            <p:cNvSpPr txBox="1"/>
            <p:nvPr/>
          </p:nvSpPr>
          <p:spPr>
            <a:xfrm>
              <a:off x="6257544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Notebooks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7171944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7565136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7958328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8351520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6257544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Folders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7171944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7565136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7958328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8351520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8744712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9137904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9531096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4" name="Connector 63"/>
            <p:cNvCxnSpPr/>
            <p:nvPr/>
          </p:nvCxnSpPr>
          <p:spPr>
            <a:xfrm>
              <a:off x="7171944" y="5001768"/>
              <a:ext cx="2752344" cy="0"/>
            </a:xfrm>
            <a:prstGeom prst="line">
              <a:avLst/>
            </a:prstGeom>
            <a:ln w="15240">
              <a:solidFill>
                <a:srgbClr val="3559A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/>
            <p:cNvSpPr txBox="1"/>
            <p:nvPr/>
          </p:nvSpPr>
          <p:spPr>
            <a:xfrm>
              <a:off x="7171944" y="5385816"/>
              <a:ext cx="3002280" cy="265176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3559A2"/>
                  </a:solidFill>
                  <a:latin typeface="Arial"/>
                </a:defRPr>
              </a:pPr>
              <a:r>
                <a:t>Folders: 35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7171944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3559A2"/>
                  </a:solidFill>
                  <a:latin typeface="Arial"/>
                </a:defRPr>
              </a:pPr>
              <a:r>
                <a:t>1 part = 5 items</a:t>
              </a:r>
            </a:p>
          </p:txBody>
        </p:sp>
      </p:grpSp>
      <p:sp>
        <p:nvSpPr>
          <p:cNvPr id="67" name="Rectangle 66"/>
          <p:cNvSpPr/>
          <p:nvPr/>
        </p:nvSpPr>
        <p:spPr>
          <a:xfrm>
            <a:off x="10247376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293096" y="3968496"/>
            <a:ext cx="3971544" cy="6858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24 ÷ 3 = 8 per part. 8 × 7 = 56 people.</a:t>
            </a:r>
          </a:p>
        </p:txBody>
      </p:sp>
      <p:grpSp>
        <p:nvGrpSpPr>
          <p:cNvPr id="69" name="Ratio bars Adults:Children = 2:5, difference"/>
          <p:cNvGrpSpPr/>
          <p:nvPr/>
        </p:nvGrpSpPr>
        <p:grpSpPr>
          <a:xfrm>
            <a:off x="10320528" y="4686300"/>
            <a:ext cx="3916680" cy="1275588"/>
            <a:chOff x="10320528" y="4686300"/>
            <a:chExt cx="3916680" cy="1275588"/>
          </a:xfrm>
        </p:grpSpPr>
        <p:sp>
          <p:nvSpPr>
            <p:cNvPr id="70" name="TextBox 69"/>
            <p:cNvSpPr txBox="1"/>
            <p:nvPr/>
          </p:nvSpPr>
          <p:spPr>
            <a:xfrm>
              <a:off x="10320528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Adults</a:t>
              </a: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11234928" y="4709160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11628120" y="4709160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10320528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Children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11234928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11628120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12021312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12414504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Rectangle 77"/>
            <p:cNvSpPr/>
            <p:nvPr/>
          </p:nvSpPr>
          <p:spPr>
            <a:xfrm>
              <a:off x="12807696" y="5084064"/>
              <a:ext cx="393192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9" name="Connector 78"/>
            <p:cNvCxnSpPr/>
            <p:nvPr/>
          </p:nvCxnSpPr>
          <p:spPr>
            <a:xfrm>
              <a:off x="12021312" y="5376672"/>
              <a:ext cx="1179576" cy="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ctor 79"/>
            <p:cNvCxnSpPr/>
            <p:nvPr/>
          </p:nvCxnSpPr>
          <p:spPr>
            <a:xfrm>
              <a:off x="12021312" y="5330952"/>
              <a:ext cx="0" cy="9144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nector 80"/>
            <p:cNvCxnSpPr/>
            <p:nvPr/>
          </p:nvCxnSpPr>
          <p:spPr>
            <a:xfrm>
              <a:off x="13200888" y="5330952"/>
              <a:ext cx="0" cy="9144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Box 81"/>
            <p:cNvSpPr txBox="1"/>
            <p:nvPr/>
          </p:nvSpPr>
          <p:spPr>
            <a:xfrm>
              <a:off x="11234928" y="5413248"/>
              <a:ext cx="3002280" cy="256032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754B87"/>
                  </a:solidFill>
                  <a:latin typeface="Arial"/>
                </a:defRPr>
              </a:pPr>
              <a:r>
                <a:t>3 extra parts = 24 people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11234928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754B87"/>
                  </a:solidFill>
                  <a:latin typeface="Arial"/>
                </a:defRPr>
              </a:pPr>
              <a:r>
                <a:t>1 part = 8 people</a:t>
              </a:r>
            </a:p>
          </p:txBody>
        </p:sp>
      </p:grpSp>
      <p:sp>
        <p:nvSpPr>
          <p:cNvPr id="84" name="Rectangle 83"/>
          <p:cNvSpPr/>
          <p:nvPr/>
        </p:nvSpPr>
        <p:spPr>
          <a:xfrm>
            <a:off x="320040" y="5980176"/>
            <a:ext cx="1801367" cy="130759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74904" y="6053328"/>
            <a:ext cx="1691639" cy="11612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Ballpark Check &amp; Math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121408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167127" y="6053328"/>
            <a:ext cx="3971544" cy="11612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36 ml is less than half of 84 ml. The other share is 48 ml; together they make 84 ml.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184392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230112" y="6053328"/>
            <a:ext cx="3971544" cy="11612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4 parts is just over half of 7 parts, so expect just over half of 35. 20 fits.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247376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293096" y="6053328"/>
            <a:ext cx="3971544" cy="11612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The total is 7 parts, the difference 3. Expect between 2 × 24 and 3 × 24: 48 to 72. 56 fits.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20040" y="7287768"/>
            <a:ext cx="1801367" cy="557784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74904" y="7360919"/>
            <a:ext cx="1691639" cy="411479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Final Answer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121408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167127" y="7360919"/>
            <a:ext cx="3971544" cy="411479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Red paint: 36 ml.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84392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230112" y="7360919"/>
            <a:ext cx="3971544" cy="411479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20 notebooks.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247376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293096" y="7360919"/>
            <a:ext cx="3971544" cy="411479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56 people altogether.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check your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1 • Compare your working; correct the first wrong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M04-S02-B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45920"/>
            <a:ext cx="4631436" cy="182880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7 parts; 84 ml ÷ 7 = 12 ml per part; 12 ml × 3 = 36 ml of red paint.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48 ml: check whether you used 12 ml × 4. That is white paint; red has 3 parts.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971032"/>
            <a:ext cx="4631436" cy="16916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Red: 36 ml; White: 48 ml. 36 ml + 48 ml = 84 ml, and 36:48 simplifies to 3:4.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80" y="1645920"/>
            <a:ext cx="4631436" cy="182880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35 folders represent 7 parts. 35 ÷ 7 = 5 per part; 5 × 4 = 20 notebooks.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32 notebooks: check whether you used 35 − (7 − 4). The difference of 3 is in parts, not individual items.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5971032"/>
            <a:ext cx="4631436" cy="16916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492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20:35 simplifies to 4:7. There should be fewer notebooks than folders.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46920" y="1645920"/>
            <a:ext cx="4631436" cy="182880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3836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The difference is 5 − 2 = 3 parts. 24 ÷ 3 = 8 per part; 8 × 7 = 56 people.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4692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6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168 people: check whether you used 24 × 7. The 24 represents 3 parts, not 1; divide by 3 first.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5971032"/>
            <a:ext cx="4631436" cy="16916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3836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Adults: 16; children: 40. 40 − 16 = 24; 16 + 40 = 56.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answers and worked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Answers to step-by-step practice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M04-S03-A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63624"/>
            <a:ext cx="1801367" cy="1389888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" y="1673352"/>
            <a:ext cx="1691639" cy="120700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63624"/>
            <a:ext cx="4062984" cy="1389888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67127" y="1627632"/>
            <a:ext cx="3971544" cy="12618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A 96 cm ribbon is cut into pieces A and B in the ratio 5:7. Find the length of B.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63624"/>
            <a:ext cx="4062984" cy="1389888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0112" y="1627632"/>
            <a:ext cx="3971544" cy="12618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Juice and water are mixed in the ratio 2:7. There are 18 litres of juice. How many litres of water are needed?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63624"/>
            <a:ext cx="4062984" cy="1389888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93096" y="1627632"/>
            <a:ext cx="3971544" cy="12618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Two lengths of ribbon, A and B, are in the ratio 5:8. B is 21 cm longer than A. What is their total length?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953512"/>
            <a:ext cx="1801367" cy="9601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4" y="3026664"/>
            <a:ext cx="1691639" cy="8138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67127" y="3026664"/>
            <a:ext cx="3971544" cy="8138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Total known: 5 + 7 = 12 parts. Find 1 part, then B’s 7 parts.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30112" y="3026664"/>
            <a:ext cx="3971544" cy="8138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18 litres of juice is 2 parts. Find 1 part, then 7 parts of water.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953512"/>
            <a:ext cx="4062984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93096" y="3026664"/>
            <a:ext cx="3971544" cy="81381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21 cm is 8 − 5 = 3 parts. Find 1 part, then 13 parts altogether.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913632"/>
            <a:ext cx="1801367" cy="2066543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4" y="3986784"/>
            <a:ext cx="1691639" cy="1920239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67127" y="3968496"/>
            <a:ext cx="3971544" cy="6858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96 cm ÷ 12 = 8 cm per part. 8 cm × 7 = 56 cm.</a:t>
            </a:r>
          </a:p>
        </p:txBody>
      </p:sp>
      <p:grpSp>
        <p:nvGrpSpPr>
          <p:cNvPr id="33" name="Ratio bars A:B = 5:7, total"/>
          <p:cNvGrpSpPr/>
          <p:nvPr/>
        </p:nvGrpSpPr>
        <p:grpSpPr>
          <a:xfrm>
            <a:off x="2194560" y="4686300"/>
            <a:ext cx="3916680" cy="1275588"/>
            <a:chOff x="2194560" y="4686300"/>
            <a:chExt cx="3916680" cy="1275588"/>
          </a:xfrm>
        </p:grpSpPr>
        <p:sp>
          <p:nvSpPr>
            <p:cNvPr id="34" name="TextBox 33"/>
            <p:cNvSpPr txBox="1"/>
            <p:nvPr/>
          </p:nvSpPr>
          <p:spPr>
            <a:xfrm>
              <a:off x="2194560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A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108960" y="4709160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502152" y="4709160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3895344" y="4709160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288536" y="4709160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4681728" y="4709160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2194560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B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108960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3502152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3895344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4288536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4681728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5074920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5468112" y="5084064"/>
              <a:ext cx="393192" cy="210312"/>
            </a:xfrm>
            <a:prstGeom prst="rect">
              <a:avLst/>
            </a:prstGeom>
            <a:solidFill>
              <a:srgbClr val="EDF6F5"/>
            </a:solidFill>
            <a:ln w="7620">
              <a:solidFill>
                <a:srgbClr val="176B7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8" name="Connector 47"/>
            <p:cNvCxnSpPr/>
            <p:nvPr/>
          </p:nvCxnSpPr>
          <p:spPr>
            <a:xfrm>
              <a:off x="5952744" y="4709160"/>
              <a:ext cx="0" cy="585216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ctor 48"/>
            <p:cNvCxnSpPr/>
            <p:nvPr/>
          </p:nvCxnSpPr>
          <p:spPr>
            <a:xfrm>
              <a:off x="5907024" y="4709160"/>
              <a:ext cx="45720" cy="0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or 49"/>
            <p:cNvCxnSpPr/>
            <p:nvPr/>
          </p:nvCxnSpPr>
          <p:spPr>
            <a:xfrm>
              <a:off x="5907024" y="5294376"/>
              <a:ext cx="45720" cy="0"/>
            </a:xfrm>
            <a:prstGeom prst="line">
              <a:avLst/>
            </a:prstGeom>
            <a:ln w="15240">
              <a:solidFill>
                <a:srgbClr val="176B7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/>
          </p:nvSpPr>
          <p:spPr>
            <a:xfrm>
              <a:off x="3108960" y="5385816"/>
              <a:ext cx="3002280" cy="265176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76B73"/>
                  </a:solidFill>
                  <a:latin typeface="Arial"/>
                </a:defRPr>
              </a:pPr>
              <a:r>
                <a:t>96 cm altogether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108960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176B73"/>
                  </a:solidFill>
                  <a:latin typeface="Arial"/>
                </a:defRPr>
              </a:pPr>
              <a:r>
                <a:t>1 part = 8 cm</a:t>
              </a:r>
            </a:p>
          </p:txBody>
        </p:sp>
      </p:grpSp>
      <p:sp>
        <p:nvSpPr>
          <p:cNvPr id="53" name="Rectangle 52"/>
          <p:cNvSpPr/>
          <p:nvPr/>
        </p:nvSpPr>
        <p:spPr>
          <a:xfrm>
            <a:off x="6184392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30112" y="3968496"/>
            <a:ext cx="3971544" cy="6858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18 ÷ 2 = 9 litres per part. 9 × 7 = 63 litres.</a:t>
            </a:r>
          </a:p>
        </p:txBody>
      </p:sp>
      <p:grpSp>
        <p:nvGrpSpPr>
          <p:cNvPr id="55" name="Ratio bars Juice:Water = 2:7, first"/>
          <p:cNvGrpSpPr/>
          <p:nvPr/>
        </p:nvGrpSpPr>
        <p:grpSpPr>
          <a:xfrm>
            <a:off x="6257544" y="4626864"/>
            <a:ext cx="3916680" cy="1335024"/>
            <a:chOff x="6257544" y="4626864"/>
            <a:chExt cx="3916680" cy="1335024"/>
          </a:xfrm>
        </p:grpSpPr>
        <p:sp>
          <p:nvSpPr>
            <p:cNvPr id="56" name="TextBox 55"/>
            <p:cNvSpPr txBox="1"/>
            <p:nvPr/>
          </p:nvSpPr>
          <p:spPr>
            <a:xfrm>
              <a:off x="6257544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Juice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7171944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7565136" y="4709160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6257544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Water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7171944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7565136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7958328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8351520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8744712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9137904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9531096" y="5084064"/>
              <a:ext cx="393192" cy="210312"/>
            </a:xfrm>
            <a:prstGeom prst="rect">
              <a:avLst/>
            </a:prstGeom>
            <a:solidFill>
              <a:srgbClr val="EFF3FA"/>
            </a:solidFill>
            <a:ln w="7620">
              <a:solidFill>
                <a:srgbClr val="3559A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7" name="Connector 66"/>
            <p:cNvCxnSpPr/>
            <p:nvPr/>
          </p:nvCxnSpPr>
          <p:spPr>
            <a:xfrm>
              <a:off x="7171944" y="4626864"/>
              <a:ext cx="786384" cy="0"/>
            </a:xfrm>
            <a:prstGeom prst="line">
              <a:avLst/>
            </a:prstGeom>
            <a:ln w="15240">
              <a:solidFill>
                <a:srgbClr val="3559A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67"/>
            <p:cNvSpPr txBox="1"/>
            <p:nvPr/>
          </p:nvSpPr>
          <p:spPr>
            <a:xfrm>
              <a:off x="7171944" y="5385816"/>
              <a:ext cx="3002280" cy="265176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3559A2"/>
                  </a:solidFill>
                  <a:latin typeface="Arial"/>
                </a:defRPr>
              </a:pPr>
              <a:r>
                <a:t>Juice: 18 litres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7171944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3559A2"/>
                  </a:solidFill>
                  <a:latin typeface="Arial"/>
                </a:defRPr>
              </a:pPr>
              <a:r>
                <a:t>1 part = 9 litres</a:t>
              </a:r>
            </a:p>
          </p:txBody>
        </p:sp>
      </p:grpSp>
      <p:sp>
        <p:nvSpPr>
          <p:cNvPr id="70" name="Rectangle 69"/>
          <p:cNvSpPr/>
          <p:nvPr/>
        </p:nvSpPr>
        <p:spPr>
          <a:xfrm>
            <a:off x="10247376" y="3913632"/>
            <a:ext cx="4062984" cy="2066543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293096" y="3968496"/>
            <a:ext cx="3971544" cy="6858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21 ÷ 3 = 7 cm per part. 7 × 13 = 91 cm.</a:t>
            </a:r>
          </a:p>
        </p:txBody>
      </p:sp>
      <p:grpSp>
        <p:nvGrpSpPr>
          <p:cNvPr id="72" name="Ratio bars A:B = 5:8, difference"/>
          <p:cNvGrpSpPr/>
          <p:nvPr/>
        </p:nvGrpSpPr>
        <p:grpSpPr>
          <a:xfrm>
            <a:off x="10320528" y="4686300"/>
            <a:ext cx="3916680" cy="1275588"/>
            <a:chOff x="10320528" y="4686300"/>
            <a:chExt cx="3916680" cy="1275588"/>
          </a:xfrm>
        </p:grpSpPr>
        <p:sp>
          <p:nvSpPr>
            <p:cNvPr id="73" name="TextBox 72"/>
            <p:cNvSpPr txBox="1"/>
            <p:nvPr/>
          </p:nvSpPr>
          <p:spPr>
            <a:xfrm>
              <a:off x="10320528" y="4686300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A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11234928" y="4709160"/>
              <a:ext cx="352424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11587353" y="4709160"/>
              <a:ext cx="352424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11939778" y="4709160"/>
              <a:ext cx="352424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12292203" y="4709160"/>
              <a:ext cx="352424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Rectangle 77"/>
            <p:cNvSpPr/>
            <p:nvPr/>
          </p:nvSpPr>
          <p:spPr>
            <a:xfrm>
              <a:off x="12644628" y="4709160"/>
              <a:ext cx="352424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10320528" y="5061204"/>
              <a:ext cx="914400" cy="274320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182B3A"/>
                  </a:solidFill>
                  <a:latin typeface="Arial"/>
                </a:defRPr>
              </a:pPr>
              <a:r>
                <a:t>B</a:t>
              </a: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11234928" y="5084064"/>
              <a:ext cx="352424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11587353" y="5084064"/>
              <a:ext cx="352424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11939778" y="5084064"/>
              <a:ext cx="352424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12292203" y="5084064"/>
              <a:ext cx="352424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12644628" y="5084064"/>
              <a:ext cx="352424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12997053" y="5084064"/>
              <a:ext cx="352424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Rectangle 85"/>
            <p:cNvSpPr/>
            <p:nvPr/>
          </p:nvSpPr>
          <p:spPr>
            <a:xfrm>
              <a:off x="13349478" y="5084064"/>
              <a:ext cx="352424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Rectangle 86"/>
            <p:cNvSpPr/>
            <p:nvPr/>
          </p:nvSpPr>
          <p:spPr>
            <a:xfrm>
              <a:off x="13701903" y="5084064"/>
              <a:ext cx="352424" cy="210312"/>
            </a:xfrm>
            <a:prstGeom prst="rect">
              <a:avLst/>
            </a:prstGeom>
            <a:solidFill>
              <a:srgbClr val="F5F0F7"/>
            </a:solidFill>
            <a:ln w="7620">
              <a:solidFill>
                <a:srgbClr val="754B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8" name="Connector 87"/>
            <p:cNvCxnSpPr/>
            <p:nvPr/>
          </p:nvCxnSpPr>
          <p:spPr>
            <a:xfrm>
              <a:off x="12997053" y="5376672"/>
              <a:ext cx="1057275" cy="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or 88"/>
            <p:cNvCxnSpPr/>
            <p:nvPr/>
          </p:nvCxnSpPr>
          <p:spPr>
            <a:xfrm>
              <a:off x="12997053" y="5330952"/>
              <a:ext cx="0" cy="9144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nector 89"/>
            <p:cNvCxnSpPr/>
            <p:nvPr/>
          </p:nvCxnSpPr>
          <p:spPr>
            <a:xfrm>
              <a:off x="14054328" y="5330952"/>
              <a:ext cx="0" cy="91440"/>
            </a:xfrm>
            <a:prstGeom prst="line">
              <a:avLst/>
            </a:prstGeom>
            <a:ln w="15240">
              <a:solidFill>
                <a:srgbClr val="754B8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Box 90"/>
            <p:cNvSpPr txBox="1"/>
            <p:nvPr/>
          </p:nvSpPr>
          <p:spPr>
            <a:xfrm>
              <a:off x="11234928" y="5413248"/>
              <a:ext cx="3002280" cy="256032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defRPr sz="1200" b="1">
                  <a:solidFill>
                    <a:srgbClr val="754B87"/>
                  </a:solidFill>
                  <a:latin typeface="Arial"/>
                </a:defRPr>
              </a:pPr>
              <a:r>
                <a:t>3 extra parts = 21 cm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11234928" y="5696712"/>
              <a:ext cx="3002280" cy="265176"/>
            </a:xfrm>
            <a:prstGeom prst="rect">
              <a:avLst/>
            </a:prstGeom>
            <a:noFill/>
          </p:spPr>
          <p:txBody>
            <a:bodyPr wrap="square" lIns="54864" rIns="54864" tIns="22860" bIns="22860">
              <a:spAutoFit/>
            </a:bodyPr>
            <a:lstStyle/>
            <a:p>
              <a:pPr>
                <a:lnSpc>
                  <a:spcPts val="1365"/>
                </a:lnSpc>
                <a:spcBef>
                  <a:spcPts val="0"/>
                </a:spcBef>
                <a:spcAft>
                  <a:spcPts val="0"/>
                </a:spcAft>
                <a:defRPr sz="1300" b="1">
                  <a:solidFill>
                    <a:srgbClr val="754B87"/>
                  </a:solidFill>
                  <a:latin typeface="Arial"/>
                </a:defRPr>
              </a:pPr>
              <a:r>
                <a:t>1 part = 7 cm</a:t>
              </a:r>
            </a:p>
          </p:txBody>
        </p:sp>
      </p:grpSp>
      <p:sp>
        <p:nvSpPr>
          <p:cNvPr id="93" name="Rectangle 92"/>
          <p:cNvSpPr/>
          <p:nvPr/>
        </p:nvSpPr>
        <p:spPr>
          <a:xfrm>
            <a:off x="320040" y="5980176"/>
            <a:ext cx="1801367" cy="130759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74904" y="6053328"/>
            <a:ext cx="1691639" cy="11612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Ballpark Check &amp; Math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121408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167127" y="6053328"/>
            <a:ext cx="3971544" cy="11612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 is more than half of 96 cm. 56 cm fits; 40 cm + 56 cm = 96 cm.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184392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230112" y="6053328"/>
            <a:ext cx="3971544" cy="11612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Water is between 3 and 4 times the juice: between 54 and 72 litres. 63 fits.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247376" y="5980176"/>
            <a:ext cx="4062984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293096" y="6053328"/>
            <a:ext cx="3971544" cy="11612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The total is just over 4 times the 21 cm difference. 4 × 21 = 84; 91 is reasonable.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20040" y="7287768"/>
            <a:ext cx="1801367" cy="557784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74904" y="7360919"/>
            <a:ext cx="1691639" cy="411479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B3A"/>
                </a:solidFill>
                <a:latin typeface="Arial"/>
              </a:defRPr>
            </a:pPr>
            <a:r>
              <a:t>Final Answer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121408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167127" y="7360919"/>
            <a:ext cx="3971544" cy="411479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 is 56 cm.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184392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230112" y="7360919"/>
            <a:ext cx="3971544" cy="411479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63 litres of water.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247376" y="7287768"/>
            <a:ext cx="4062984" cy="5577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293096" y="7360919"/>
            <a:ext cx="3971544" cy="411479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78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91 cm altogether.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check your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2 • Compare your working; correct the first wrong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M04-S03-B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45920"/>
            <a:ext cx="4631436" cy="182880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12 parts; 96 cm ÷ 12 = 8 cm per part; 8 cm × 7 = 56 cm for B.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40 cm: check whether you used 8 cm × 5. That is piece A; the question asks for B.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971032"/>
            <a:ext cx="4631436" cy="16916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40 cm + 56 cm = 96 cm. B is more than half of 96 cm.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80" y="1645920"/>
            <a:ext cx="4631436" cy="182880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18 litres represent 2 parts. 18 ÷ 2 = 9 per part; 9 × 7 = 63 litres of water.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23 litres: check whether you used 18 + (7 − 2). Five extra parts do not mean five extra litres.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5971032"/>
            <a:ext cx="4631436" cy="16916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492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18:63 simplifies to 2:7. Water is between 3 and 4 times the juice: 54 to 72 litres.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46920" y="1645920"/>
            <a:ext cx="4631436" cy="182880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3836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The difference is 8 − 5 = 3 parts. 21 ÷ 3 = 7 cm per part; 7 × 13 = 91 cm.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4692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6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273 cm: check whether you used 21 × 13. The 21 cm represents 3 parts, not 1.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5971032"/>
            <a:ext cx="4631436" cy="16916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3836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Lengths: 35 cm and 56 cm. Difference: 21 cm. Total: 91 cm.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1 • Match the thread and question number.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M04-S04-A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09344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179222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1.  £36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609344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56632" y="179222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1.  300 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609344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20072" y="179222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1.  60 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414016"/>
            <a:ext cx="4640580" cy="80467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" y="2596896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2.  120 ml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414016"/>
            <a:ext cx="4640580" cy="80467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56632" y="2596896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2.  24 tickets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414016"/>
            <a:ext cx="4640580" cy="80467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20072" y="2478024"/>
            <a:ext cx="4517136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2.  Red: 12 counters</a:t>
            </a:r>
          </a:p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    Blue: 30 counters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218688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" y="3282696"/>
            <a:ext cx="4517136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3.  Shorter: 40 cm</a:t>
            </a:r>
          </a:p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    Longer: 56 cm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218688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56632" y="3401568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3.  20 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218688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20072" y="3401568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3.  £40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023360"/>
            <a:ext cx="4640580" cy="80467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" y="4206240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4.  30 beads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023360"/>
            <a:ext cx="4640580" cy="80467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56632" y="4206240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4.  £63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023360"/>
            <a:ext cx="4640580" cy="80467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20072" y="4206240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4.  525 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828032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" y="5010912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5.  250 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4828032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56632" y="5010912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5.  18 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4828032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20072" y="4892040"/>
            <a:ext cx="4517136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5.  Water: 1000 ml</a:t>
            </a:r>
          </a:p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    Juice: 400 ml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5632704"/>
            <a:ext cx="4640580" cy="80467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3192" y="581558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6.  18 min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5632704"/>
            <a:ext cx="4640580" cy="80467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56632" y="581558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6.  40 min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5632704"/>
            <a:ext cx="4640580" cy="80467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20072" y="581558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6.  63 min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656832"/>
            <a:ext cx="1380744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82B3A"/>
                </a:solidFill>
                <a:latin typeface="Arial"/>
              </a:defRPr>
            </a:pPr>
            <a:r>
              <a:t>Check what is requested: one amount, both amounts, a total or a difference.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7315200"/>
            <a:ext cx="13807440" cy="4114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472"/>
                </a:solidFill>
                <a:latin typeface="Arial"/>
              </a:defRPr>
            </a:pPr>
            <a:r>
              <a:t>The next slide checks a method and a possible error in each thread.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check your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1 • Compare your working; correct the first wrong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M04-S04-B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45920"/>
            <a:ext cx="4631436" cy="182880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Q1: 2 + 3 = 5 parts. £60 ÷ 5 = £12 per part. Jo gets £12 × 3 = £36.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Q1 — £24: check whether you used £12 × 2. That is Sam’s share; Jo has 3 parts.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971032"/>
            <a:ext cx="4631436" cy="16916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Q1: £24 + £36 = £60; 24:36 = 2:3.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80" y="1645920"/>
            <a:ext cx="4631436" cy="182880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Q3: 7 − 4 = 3 parts. 15 ÷ 3 = 5 m per part. Rope A: 5 × 4 = 20 m.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Q3 — 60 m: check whether you used 15 × 4. The 15 m difference represents 3 parts, not 1.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5971032"/>
            <a:ext cx="4631436" cy="16916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492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Q3: A is 20 m; B is 35 m. Difference 15 m; ratio 4:7.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46920" y="1645920"/>
            <a:ext cx="4631436" cy="182880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3836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Q3: 7 + 3 = 10 parts. £100 ÷ 10 = £10 per part. Shares £70 and £30; difference £40.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4692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6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Q3 — £70: check whether you stopped at £10 × 7. That is Ava’s share; subtract Leo’s £30.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5971032"/>
            <a:ext cx="4631436" cy="16916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3836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Q3: £70 + £30 = £100; £70 − £30 = £40.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2 • Match the thread and question number.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M04-S05-A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09344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179222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1.  210 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609344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56632" y="179222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1.  21 km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609344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20072" y="179222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1.  400 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414016"/>
            <a:ext cx="4640580" cy="80467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" y="2478024"/>
            <a:ext cx="4517136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2.  A: 45 m</a:t>
            </a:r>
          </a:p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    B: 27 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414016"/>
            <a:ext cx="4640580" cy="80467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56632" y="2596896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2.  210 ml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414016"/>
            <a:ext cx="4640580" cy="80467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20072" y="2596896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2.  25 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218688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" y="3401568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3.  45 min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218688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56632" y="3401568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3.  £14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218688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20072" y="3282696"/>
            <a:ext cx="4517136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3.  Reading: 24 min</a:t>
            </a:r>
          </a:p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    Writing: 42 min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023360"/>
            <a:ext cx="4640580" cy="80467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" y="4206240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4.  £40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023360"/>
            <a:ext cx="4640580" cy="80467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56632" y="4206240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4.  72 min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023360"/>
            <a:ext cx="4640580" cy="80467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20072" y="4206240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4.  63 cm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828032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" y="5010912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5.  35 flowers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4828032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56632" y="5010912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5.  40 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4828032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20072" y="5010912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5.  £26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5632704"/>
            <a:ext cx="4640580" cy="80467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3192" y="581558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6.  480 ml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5632704"/>
            <a:ext cx="4640580" cy="80467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56632" y="581558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6.  56 animals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5632704"/>
            <a:ext cx="4640580" cy="80467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20072" y="581558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6.  99 tickets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656832"/>
            <a:ext cx="1380744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82B3A"/>
                </a:solidFill>
                <a:latin typeface="Arial"/>
              </a:defRPr>
            </a:pPr>
            <a:r>
              <a:t>Check what is requested: one amount, both amounts, a total or a difference.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7315200"/>
            <a:ext cx="13807440" cy="4114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472"/>
                </a:solidFill>
                <a:latin typeface="Arial"/>
              </a:defRPr>
            </a:pPr>
            <a:r>
              <a:t>The next slide checks a method and a possible error in each thread.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check your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2 • Compare your working; correct the first wrong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M04-S05-B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45920"/>
            <a:ext cx="4631436" cy="182880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Q4: Kim’s £56 represents 7 parts. £56 ÷ 7 = £8 per part. Ali gets £8 × 5 = £40.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Q4 — £54: check whether you used 56 − (7 − 5). Two fewer parts mean £16 less, not £2 less.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971032"/>
            <a:ext cx="4631436" cy="16916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Q4: £56:£40 = 7:5. Both shares give £8 per part.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80" y="1645920"/>
            <a:ext cx="4631436" cy="182880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Q2: 3 + 4 = 7 parts. 490 ÷ 7 = 70 ml per part. Red paint: 70 × 3 = 210 ml.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Q2 — 70 ml: check whether you stopped after 490 ÷ 7. That is one part; red paint needs 3 parts.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5971032"/>
            <a:ext cx="4631436" cy="16916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492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Q2: Red 210 ml + white 280 ml = 490 ml; ratio 3:4.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46920" y="1645920"/>
            <a:ext cx="4631436" cy="182880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3836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Q2: Tank A’s 15 litres is 3 parts. 15 ÷ 3 = 5 per part. Tank B: 5 × 8 = 40 litres. Difference: 40 − 15 = 25 litres.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4692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6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Q2 — 40 litres: check whether you stopped at 5 × 8. The question asks how much more, so subtract A’s 15 litres.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5971032"/>
            <a:ext cx="4631436" cy="16916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3836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Q2: 15:40 = 3:8, and 15 + 25 = 40 litres.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3 • Match the thread and question number.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M04-S06-A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09344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179222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1.  24 members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609344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56632" y="179222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1.  72 min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609344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20072" y="179222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1.  40 min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414016"/>
            <a:ext cx="4640580" cy="80467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" y="2596896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2.  500 ml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414016"/>
            <a:ext cx="4640580" cy="80467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56632" y="2596896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2.  56 mm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414016"/>
            <a:ext cx="4640580" cy="80467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20072" y="2596896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2.  £168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218688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" y="3282696"/>
            <a:ext cx="4517136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3.  Dan: £56</a:t>
            </a:r>
          </a:p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    Pat: £98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218688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56632" y="3401568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3.  210 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218688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20072" y="3401568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3.  33 animals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023360"/>
            <a:ext cx="4640580" cy="80467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" y="4206240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4.  75 min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023360"/>
            <a:ext cx="4640580" cy="80467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56632" y="4206240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4.  24 beads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023360"/>
            <a:ext cx="4640580" cy="80467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20072" y="4206240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4.  200 ml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828032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" y="5010912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5.  400 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4828032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56632" y="5010912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5.  £36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4828032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20072" y="5010912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5.  91 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5632704"/>
            <a:ext cx="4640580" cy="80467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3192" y="581558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6.  48 cm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5632704"/>
            <a:ext cx="4640580" cy="80467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56632" y="581558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6.  525 ml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5632704"/>
            <a:ext cx="4640580" cy="80467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20072" y="5696712"/>
            <a:ext cx="4517136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6.  Oats: 450 g</a:t>
            </a:r>
          </a:p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    Raisins: 200 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656832"/>
            <a:ext cx="1380744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82B3A"/>
                </a:solidFill>
                <a:latin typeface="Arial"/>
              </a:defRPr>
            </a:pPr>
            <a:r>
              <a:t>Check what is requested: one amount, both amounts, a total or a difference.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7315200"/>
            <a:ext cx="13807440" cy="4114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472"/>
                </a:solidFill>
                <a:latin typeface="Arial"/>
              </a:defRPr>
            </a:pPr>
            <a:r>
              <a:t>The next slide checks a method and a possible error in each thread.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check your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3 • Compare your working; correct the first wrong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M04-S06-B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45920"/>
            <a:ext cx="4631436" cy="182880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Q1: 7 + 3 = 10 parts. 80 ÷ 10 = 8 per part. Seniors: 8 × 3 = 24 members.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Q1 — 56: check whether you used 8 × 7. That counts junior members, not seniors.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971032"/>
            <a:ext cx="4631436" cy="16916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Q1: 56 juniors + 24 seniors = 80 members, with ratio 7:3.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80" y="1645920"/>
            <a:ext cx="4631436" cy="182880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Q3: Butter’s 90 g is 3 parts. 90 ÷ 3 = 30 g per part. Total: 30 × (4 + 3) = 210 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Q3 — 120 g: check whether you stopped at 30 × 4. That is flour only; include 90 g of butter.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5971032"/>
            <a:ext cx="4631436" cy="16916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492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Q3: Flour 120 g + butter 90 g = 210 g; ratio 4:3.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46920" y="1645920"/>
            <a:ext cx="4631436" cy="182880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3836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Q2: May’s £60 is 5 parts. £60 ÷ 5 = £12 per part. Total: £12 × (9 + 5) = £168.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4692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6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Q2 — £108: check whether you stopped at £12 × 9. That is Kai’s share; add May’s £60.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5971032"/>
            <a:ext cx="4631436" cy="16916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3836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Q2: £108 + £60 = £168; 108:60 = 9:5.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4 • Match the thread and question number.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M04-S07-A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09344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179222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1.  70 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80" y="1609344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56632" y="179222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1.  £120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609344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20072" y="179222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1.  45 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414016"/>
            <a:ext cx="4640580" cy="80467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" y="2478024"/>
            <a:ext cx="4517136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2.  First: 20 L</a:t>
            </a:r>
          </a:p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    Second: 25 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414016"/>
            <a:ext cx="4640580" cy="80467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56632" y="2596896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2.  36 plants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414016"/>
            <a:ext cx="4640580" cy="80467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20072" y="2596896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2.  540 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218688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" y="3401568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3.  84 cm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3218688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56632" y="3401568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3.  10 min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3218688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20072" y="3401568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3.  45 cm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023360"/>
            <a:ext cx="4640580" cy="80467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" y="4206240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4.  £84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83480" y="4023360"/>
            <a:ext cx="4640580" cy="80467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56632" y="4206240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4.  12 kg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4023360"/>
            <a:ext cx="4640580" cy="80467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20072" y="4206240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4.  52 tickets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828032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" y="4892040"/>
            <a:ext cx="4517136" cy="676656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5.  Dark: 24 chocolates</a:t>
            </a:r>
          </a:p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    Milk: 60 chocolates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3480" y="4828032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56632" y="5010912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5.  39 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4828032"/>
            <a:ext cx="4640580" cy="80467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20072" y="5010912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5.  £72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5632704"/>
            <a:ext cx="4640580" cy="804672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3192" y="581558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6B73"/>
                </a:solidFill>
                <a:latin typeface="Arial"/>
              </a:defRPr>
            </a:pPr>
            <a:r>
              <a:t>6.  240 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83480" y="5632704"/>
            <a:ext cx="4640580" cy="804672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56632" y="581558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559A2"/>
                </a:solidFill>
                <a:latin typeface="Arial"/>
              </a:defRPr>
            </a:pPr>
            <a:r>
              <a:t>6.  28 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5632704"/>
            <a:ext cx="4640580" cy="804672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20072" y="5815584"/>
            <a:ext cx="4517136" cy="475488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4B87"/>
                </a:solidFill>
                <a:latin typeface="Arial"/>
              </a:defRPr>
            </a:pPr>
            <a:r>
              <a:t>6.  50 min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656832"/>
            <a:ext cx="13807440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82B3A"/>
                </a:solidFill>
                <a:latin typeface="Arial"/>
              </a:defRPr>
            </a:pPr>
            <a:r>
              <a:t>Check what is requested: one amount, both amounts, a total or a difference.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7315200"/>
            <a:ext cx="13807440" cy="4114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472"/>
                </a:solidFill>
                <a:latin typeface="Arial"/>
              </a:defRPr>
            </a:pPr>
            <a:r>
              <a:t>The next slide checks a method and a possible error in each thread.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Ratio: check your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4 • Compare your working; correct the first wrong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M04-S07-B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45920"/>
            <a:ext cx="4631436" cy="182880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Q4: Will’s £48 is 4 parts. £48 ÷ 4 = £12 per part. Noor gets £12 × 7 = £84.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Q4 — £12: check whether you stopped after £48 ÷ 4. Noor receives 7 parts, not 1.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971032"/>
            <a:ext cx="4631436" cy="16916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6B73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Q4: £84:£48 = 7:4. Both shares give £12 per part.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80" y="1645920"/>
            <a:ext cx="4631436" cy="182880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Q4: 7 − 3 = 4 parts. 16 ÷ 4 = 4 kg per part. Lighter sack: 4 × 3 = 12 kg.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Q4 — 48 kg: check whether you used 16 × 3. The 16 kg difference represents 4 parts, not 1.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5971032"/>
            <a:ext cx="4631436" cy="16916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492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559A2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Q4: Heavier sack 28 kg; lighter 12 kg. Difference 16 kg; ratio 7:3.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46920" y="1645920"/>
            <a:ext cx="4631436" cy="182880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38360" y="1737360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2176272"/>
            <a:ext cx="4453128" cy="119786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Q6: 7 + 2 = 9 parts. 90 ÷ 9 = 10 minutes per part. Work 70; breaks 20. Difference: 50 minutes.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46920" y="3593592"/>
            <a:ext cx="4631436" cy="225856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60" y="368503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If you got…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4123944"/>
            <a:ext cx="4453128" cy="1627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Q6 — 70 minutes: check whether you stopped at 10 × 7. Subtract 20 minutes of breaks to find how much longer.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20" y="5971032"/>
            <a:ext cx="4631436" cy="16916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38360" y="6062472"/>
            <a:ext cx="4453128" cy="3657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B87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6501384"/>
            <a:ext cx="4453128" cy="106070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Q6: 70 + 20 = 90 minutes; 70 − 20 = 50 minutes.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Ratio — answers and method checks</dc:title>
  <dc:subject/>
  <dc:creator>Maths teaching resources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