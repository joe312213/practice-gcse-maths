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8" r:id="rId20"/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([['36 ml', '20 notebooks', '56 people']], {'Method': ['7 parts; 84 ml ÷ 7 = 12 ml per part; 12 ml × 3 = 36 ml of red paint.', '35 folders represent 7 parts. 35 ÷ 7 = 5 per part; 5 × 4 = 20 notebooks.', 'The difference is 5 − 2 = 3 parts. 24 ÷ 3 = 8 per part; 8 × 7 = 56 people.'], 'If you got…': ['48 ml: check whether you used 12 ml × 4. That is white paint; red has 3 parts.', '32 notebooks: check whether you used 35 − (7 − 4). The difference of 3 is in parts, not individual items.', '168 people: check whether you used 24 × 7. The 24 represents 3 parts, not 1; divide by 3 first.'], 'Check': ['Red: 36 ml; White: 48 ml. 36 ml + 48 ml = 84 ml, and 36:48 simplifies to 3:4.', '20:35 simplifies to 4:7. There should be fewer notebooks than folders.', 'Adults: 16; children: 40. 40 − 16 = 24; 16 + 40 = 56.']})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Answers and notes from content/answers/M04_answers.md; source M04-S02.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([['56 cm', '63 litres of water', '91 cm']], {'Method': ['12 parts; 96 cm ÷ 12 = 8 cm per part; 8 cm × 7 = 56 cm for B.', '18 litres represent 2 parts. 18 ÷ 2 = 9 per part; 9 × 7 = 63 litres of water.', 'The difference is 8 − 5 = 3 parts. 21 ÷ 3 = 7 cm per part; 7 × 13 = 91 cm.'], 'If you got…': ['40 cm: check whether you used 8 cm × 5. That is piece A; the question asks for B.', '23 litres: check whether you used 18 + (7 − 2). Five extra parts do not mean five extra litres.', '273 cm: check whether you used 21 × 13. The 21 cm represents 3 parts, not 1.'], 'Check': ['40 cm + 56 cm = 96 cm. B is more than half of 96 cm.', '18:63 simplifies to 2:7. Water is between 3 and 4 times the juice: 54 to 72 litres.', 'Lengths: 35 cm and 56 cm. Difference: 21 cm. Total: 91 cm.']})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Answers and notes from content/answers/M04_answers.md; source M04-S03.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Answers and notes from content/answers/M04_answers.md; source M04-S04.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Answers and notes from content/answers/M04_answers.md; source M04-S05.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Answers and notes from content/answers/M04_answers.md; source M04-S06.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Answers and notes from content/answers/M04_answers.md; source M04-S07.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73152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13990320" cy="45720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94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182B3A"/>
                </a:solidFill>
                <a:latin typeface="Arial"/>
              </a:defRPr>
            </a:pPr>
            <a:r>
              <a:t>Ratio: answers and worked method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04088"/>
            <a:ext cx="13990320" cy="34747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575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526472"/>
                </a:solidFill>
                <a:latin typeface="Arial"/>
              </a:defRPr>
            </a:pPr>
            <a:r>
              <a:t>Answers to step-by-step practice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973568"/>
            <a:ext cx="10789920" cy="21031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GCSE Maths revision • No calculator • Show your working.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7973568"/>
            <a:ext cx="3108960" cy="21031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M04-S02-A</a:t>
            </a:r>
          </a:p>
        </p:txBody>
      </p:sp>
      <p:sp>
        <p:nvSpPr>
          <p:cNvPr id="7" name="Rectangle 6"/>
          <p:cNvSpPr/>
          <p:nvPr/>
        </p:nvSpPr>
        <p:spPr>
          <a:xfrm>
            <a:off x="2121408" y="1115568"/>
            <a:ext cx="4040123" cy="420624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148839" y="1147572"/>
            <a:ext cx="3980688" cy="32918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Thread 1: Guided</a:t>
            </a:r>
          </a:p>
        </p:txBody>
      </p:sp>
      <p:sp>
        <p:nvSpPr>
          <p:cNvPr id="9" name="Rectangle 8"/>
          <p:cNvSpPr/>
          <p:nvPr/>
        </p:nvSpPr>
        <p:spPr>
          <a:xfrm>
            <a:off x="6184392" y="1115568"/>
            <a:ext cx="4040123" cy="420624"/>
          </a:xfrm>
          <a:prstGeom prst="rect">
            <a:avLst/>
          </a:prstGeom>
          <a:solidFill>
            <a:srgbClr val="3559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1824" y="1147572"/>
            <a:ext cx="3980688" cy="32918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Thread 2: Core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247376" y="1115568"/>
            <a:ext cx="4040123" cy="420624"/>
          </a:xfrm>
          <a:prstGeom prst="rect">
            <a:avLst/>
          </a:prstGeom>
          <a:solidFill>
            <a:srgbClr val="754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274808" y="1147572"/>
            <a:ext cx="3980688" cy="32918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Thread 3: Depth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1563624"/>
            <a:ext cx="1801367" cy="1389888"/>
          </a:xfrm>
          <a:prstGeom prst="rect">
            <a:avLst/>
          </a:prstGeom>
          <a:solidFill>
            <a:srgbClr val="E8EDF1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74904" y="1673352"/>
            <a:ext cx="1691639" cy="120700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82B3A"/>
                </a:solidFill>
                <a:latin typeface="Arial"/>
              </a:defRPr>
            </a:pPr>
            <a:r>
              <a:t>The Full Question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121408" y="1563624"/>
            <a:ext cx="4062984" cy="1389888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167127" y="1627632"/>
            <a:ext cx="3971544" cy="126187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82B3A"/>
                </a:solidFill>
                <a:latin typeface="Arial"/>
              </a:defRPr>
            </a:pPr>
            <a:r>
              <a:t>An 84 ml paint mix contains red and white paint in the ratio 3:4. How much red paint is in the mix?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84392" y="1563624"/>
            <a:ext cx="4062984" cy="1389888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30112" y="1627632"/>
            <a:ext cx="3971544" cy="126187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82B3A"/>
                </a:solidFill>
                <a:latin typeface="Arial"/>
              </a:defRPr>
            </a:pPr>
            <a:r>
              <a:t>Notebooks and folders are in the ratio 4:7. There are 35 folders. How many notebooks are there?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247376" y="1563624"/>
            <a:ext cx="4062984" cy="1389888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293096" y="1627632"/>
            <a:ext cx="3971544" cy="126187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82B3A"/>
                </a:solidFill>
                <a:latin typeface="Arial"/>
              </a:defRPr>
            </a:pPr>
            <a:r>
              <a:t>Adults and children are in the ratio 2:5. There are 24 more children than adults. How many people are there altogether?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040" y="2953512"/>
            <a:ext cx="1801367" cy="960120"/>
          </a:xfrm>
          <a:prstGeom prst="rect">
            <a:avLst/>
          </a:prstGeom>
          <a:solidFill>
            <a:srgbClr val="E8EDF1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74904" y="3026664"/>
            <a:ext cx="1691639" cy="813816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82B3A"/>
                </a:solidFill>
                <a:latin typeface="Arial"/>
              </a:defRPr>
            </a:pPr>
            <a:r>
              <a:t>Keywords &amp; Calculation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121408" y="2953512"/>
            <a:ext cx="4062984" cy="96012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167127" y="3026664"/>
            <a:ext cx="3971544" cy="813816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Total known: 3 + 4 = 7 parts. Find 1 part, then red paint’s 3 parts.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84392" y="2953512"/>
            <a:ext cx="4062984" cy="96012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30112" y="3026664"/>
            <a:ext cx="3971544" cy="813816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35 folders is 7 parts. Find 1 part, then 4 parts for notebooks.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0247376" y="2953512"/>
            <a:ext cx="4062984" cy="96012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293096" y="3026664"/>
            <a:ext cx="3971544" cy="813816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24 more children is 5 − 2 = 3 parts. Find 1 part, then 7 parts altogether.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0040" y="3913632"/>
            <a:ext cx="1801367" cy="2066543"/>
          </a:xfrm>
          <a:prstGeom prst="rect">
            <a:avLst/>
          </a:prstGeom>
          <a:solidFill>
            <a:srgbClr val="E8EDF1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74904" y="3986784"/>
            <a:ext cx="1691639" cy="1920239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82B3A"/>
                </a:solidFill>
                <a:latin typeface="Arial"/>
              </a:defRPr>
            </a:pPr>
            <a:r>
              <a:t>Written Method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121408" y="3913632"/>
            <a:ext cx="4062984" cy="2066543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167127" y="3968496"/>
            <a:ext cx="3971544" cy="68580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84 ml ÷ 7 = 12 ml per part. 12 ml × 3 = 36 ml.</a:t>
            </a:r>
          </a:p>
        </p:txBody>
      </p:sp>
      <p:grpSp>
        <p:nvGrpSpPr>
          <p:cNvPr id="33" name="Ratio bars Red:White = 3:4, total"/>
          <p:cNvGrpSpPr/>
          <p:nvPr/>
        </p:nvGrpSpPr>
        <p:grpSpPr>
          <a:xfrm>
            <a:off x="2194560" y="4686300"/>
            <a:ext cx="3916680" cy="1275588"/>
            <a:chOff x="2194560" y="4686300"/>
            <a:chExt cx="3916680" cy="1275588"/>
          </a:xfrm>
        </p:grpSpPr>
        <p:sp>
          <p:nvSpPr>
            <p:cNvPr id="34" name="TextBox 33"/>
            <p:cNvSpPr txBox="1"/>
            <p:nvPr/>
          </p:nvSpPr>
          <p:spPr>
            <a:xfrm>
              <a:off x="2194560" y="4686300"/>
              <a:ext cx="914400" cy="274320"/>
            </a:xfrm>
            <a:prstGeom prst="rect">
              <a:avLst/>
            </a:prstGeom>
            <a:noFill/>
          </p:spPr>
          <p:txBody>
            <a:bodyPr wrap="square" lIns="54864" rIns="54864" tIns="22860" bIns="22860">
              <a:spAutoFit/>
            </a:bodyPr>
            <a:lstStyle/>
            <a:p>
              <a:pPr>
                <a:lnSpc>
                  <a:spcPts val="1260"/>
                </a:lnSpc>
                <a:spcBef>
                  <a:spcPts val="0"/>
                </a:spcBef>
                <a:spcAft>
                  <a:spcPts val="0"/>
                </a:spcAft>
                <a:defRPr sz="1200" b="1">
                  <a:solidFill>
                    <a:srgbClr val="182B3A"/>
                  </a:solidFill>
                  <a:latin typeface="Arial"/>
                </a:defRPr>
              </a:pPr>
              <a:r>
                <a:t>Red</a:t>
              </a:r>
            </a:p>
          </p:txBody>
        </p:sp>
        <p:sp>
          <p:nvSpPr>
            <p:cNvPr id="35" name="Rectangle 34"/>
            <p:cNvSpPr/>
            <p:nvPr/>
          </p:nvSpPr>
          <p:spPr>
            <a:xfrm>
              <a:off x="3108960" y="4709160"/>
              <a:ext cx="393192" cy="210312"/>
            </a:xfrm>
            <a:prstGeom prst="rect">
              <a:avLst/>
            </a:prstGeom>
            <a:solidFill>
              <a:srgbClr val="EDF6F5"/>
            </a:solidFill>
            <a:ln w="7620">
              <a:solidFill>
                <a:srgbClr val="176B7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6" name="Rectangle 35"/>
            <p:cNvSpPr/>
            <p:nvPr/>
          </p:nvSpPr>
          <p:spPr>
            <a:xfrm>
              <a:off x="3502152" y="4709160"/>
              <a:ext cx="393192" cy="210312"/>
            </a:xfrm>
            <a:prstGeom prst="rect">
              <a:avLst/>
            </a:prstGeom>
            <a:solidFill>
              <a:srgbClr val="EDF6F5"/>
            </a:solidFill>
            <a:ln w="7620">
              <a:solidFill>
                <a:srgbClr val="176B7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7" name="Rectangle 36"/>
            <p:cNvSpPr/>
            <p:nvPr/>
          </p:nvSpPr>
          <p:spPr>
            <a:xfrm>
              <a:off x="3895344" y="4709160"/>
              <a:ext cx="393192" cy="210312"/>
            </a:xfrm>
            <a:prstGeom prst="rect">
              <a:avLst/>
            </a:prstGeom>
            <a:solidFill>
              <a:srgbClr val="EDF6F5"/>
            </a:solidFill>
            <a:ln w="7620">
              <a:solidFill>
                <a:srgbClr val="176B7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2194560" y="5061204"/>
              <a:ext cx="914400" cy="274320"/>
            </a:xfrm>
            <a:prstGeom prst="rect">
              <a:avLst/>
            </a:prstGeom>
            <a:noFill/>
          </p:spPr>
          <p:txBody>
            <a:bodyPr wrap="square" lIns="54864" rIns="54864" tIns="22860" bIns="22860">
              <a:spAutoFit/>
            </a:bodyPr>
            <a:lstStyle/>
            <a:p>
              <a:pPr>
                <a:lnSpc>
                  <a:spcPts val="1260"/>
                </a:lnSpc>
                <a:spcBef>
                  <a:spcPts val="0"/>
                </a:spcBef>
                <a:spcAft>
                  <a:spcPts val="0"/>
                </a:spcAft>
                <a:defRPr sz="1200" b="1">
                  <a:solidFill>
                    <a:srgbClr val="182B3A"/>
                  </a:solidFill>
                  <a:latin typeface="Arial"/>
                </a:defRPr>
              </a:pPr>
              <a:r>
                <a:t>White</a:t>
              </a:r>
            </a:p>
          </p:txBody>
        </p:sp>
        <p:sp>
          <p:nvSpPr>
            <p:cNvPr id="39" name="Rectangle 38"/>
            <p:cNvSpPr/>
            <p:nvPr/>
          </p:nvSpPr>
          <p:spPr>
            <a:xfrm>
              <a:off x="3108960" y="5084064"/>
              <a:ext cx="393192" cy="210312"/>
            </a:xfrm>
            <a:prstGeom prst="rect">
              <a:avLst/>
            </a:prstGeom>
            <a:solidFill>
              <a:srgbClr val="EDF6F5"/>
            </a:solidFill>
            <a:ln w="7620">
              <a:solidFill>
                <a:srgbClr val="176B7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0" name="Rectangle 39"/>
            <p:cNvSpPr/>
            <p:nvPr/>
          </p:nvSpPr>
          <p:spPr>
            <a:xfrm>
              <a:off x="3502152" y="5084064"/>
              <a:ext cx="393192" cy="210312"/>
            </a:xfrm>
            <a:prstGeom prst="rect">
              <a:avLst/>
            </a:prstGeom>
            <a:solidFill>
              <a:srgbClr val="EDF6F5"/>
            </a:solidFill>
            <a:ln w="7620">
              <a:solidFill>
                <a:srgbClr val="176B7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1" name="Rectangle 40"/>
            <p:cNvSpPr/>
            <p:nvPr/>
          </p:nvSpPr>
          <p:spPr>
            <a:xfrm>
              <a:off x="3895344" y="5084064"/>
              <a:ext cx="393192" cy="210312"/>
            </a:xfrm>
            <a:prstGeom prst="rect">
              <a:avLst/>
            </a:prstGeom>
            <a:solidFill>
              <a:srgbClr val="EDF6F5"/>
            </a:solidFill>
            <a:ln w="7620">
              <a:solidFill>
                <a:srgbClr val="176B7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2" name="Rectangle 41"/>
            <p:cNvSpPr/>
            <p:nvPr/>
          </p:nvSpPr>
          <p:spPr>
            <a:xfrm>
              <a:off x="4288536" y="5084064"/>
              <a:ext cx="393192" cy="210312"/>
            </a:xfrm>
            <a:prstGeom prst="rect">
              <a:avLst/>
            </a:prstGeom>
            <a:solidFill>
              <a:srgbClr val="EDF6F5"/>
            </a:solidFill>
            <a:ln w="7620">
              <a:solidFill>
                <a:srgbClr val="176B7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43" name="Connector 42"/>
            <p:cNvCxnSpPr/>
            <p:nvPr/>
          </p:nvCxnSpPr>
          <p:spPr>
            <a:xfrm>
              <a:off x="4773168" y="4709160"/>
              <a:ext cx="0" cy="585216"/>
            </a:xfrm>
            <a:prstGeom prst="line">
              <a:avLst/>
            </a:prstGeom>
            <a:ln w="15240">
              <a:solidFill>
                <a:srgbClr val="176B7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Connector 43"/>
            <p:cNvCxnSpPr/>
            <p:nvPr/>
          </p:nvCxnSpPr>
          <p:spPr>
            <a:xfrm>
              <a:off x="4727448" y="4709160"/>
              <a:ext cx="45720" cy="0"/>
            </a:xfrm>
            <a:prstGeom prst="line">
              <a:avLst/>
            </a:prstGeom>
            <a:ln w="15240">
              <a:solidFill>
                <a:srgbClr val="176B7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Connector 44"/>
            <p:cNvCxnSpPr/>
            <p:nvPr/>
          </p:nvCxnSpPr>
          <p:spPr>
            <a:xfrm>
              <a:off x="4727448" y="5294376"/>
              <a:ext cx="45720" cy="0"/>
            </a:xfrm>
            <a:prstGeom prst="line">
              <a:avLst/>
            </a:prstGeom>
            <a:ln w="15240">
              <a:solidFill>
                <a:srgbClr val="176B7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6" name="TextBox 45"/>
            <p:cNvSpPr txBox="1"/>
            <p:nvPr/>
          </p:nvSpPr>
          <p:spPr>
            <a:xfrm>
              <a:off x="3108960" y="5385816"/>
              <a:ext cx="3002280" cy="265176"/>
            </a:xfrm>
            <a:prstGeom prst="rect">
              <a:avLst/>
            </a:prstGeom>
            <a:noFill/>
          </p:spPr>
          <p:txBody>
            <a:bodyPr wrap="square" lIns="54864" rIns="54864" tIns="22860" bIns="22860">
              <a:spAutoFit/>
            </a:bodyPr>
            <a:lstStyle/>
            <a:p>
              <a:pPr>
                <a:lnSpc>
                  <a:spcPts val="1260"/>
                </a:lnSpc>
                <a:spcBef>
                  <a:spcPts val="0"/>
                </a:spcBef>
                <a:spcAft>
                  <a:spcPts val="0"/>
                </a:spcAft>
                <a:defRPr sz="1200" b="1">
                  <a:solidFill>
                    <a:srgbClr val="176B73"/>
                  </a:solidFill>
                  <a:latin typeface="Arial"/>
                </a:defRPr>
              </a:pPr>
              <a:r>
                <a:t>84 ml altogether</a:t>
              </a:r>
            </a:p>
          </p:txBody>
        </p:sp>
        <p:sp>
          <p:nvSpPr>
            <p:cNvPr id="47" name="TextBox 46"/>
            <p:cNvSpPr txBox="1"/>
            <p:nvPr/>
          </p:nvSpPr>
          <p:spPr>
            <a:xfrm>
              <a:off x="3108960" y="5696712"/>
              <a:ext cx="3002280" cy="265176"/>
            </a:xfrm>
            <a:prstGeom prst="rect">
              <a:avLst/>
            </a:prstGeom>
            <a:noFill/>
          </p:spPr>
          <p:txBody>
            <a:bodyPr wrap="square" lIns="54864" rIns="54864" tIns="22860" bIns="22860">
              <a:spAutoFit/>
            </a:bodyPr>
            <a:lstStyle/>
            <a:p>
              <a:pPr>
                <a:lnSpc>
                  <a:spcPts val="1365"/>
                </a:lnSpc>
                <a:spcBef>
                  <a:spcPts val="0"/>
                </a:spcBef>
                <a:spcAft>
                  <a:spcPts val="0"/>
                </a:spcAft>
                <a:defRPr sz="1300" b="1">
                  <a:solidFill>
                    <a:srgbClr val="176B73"/>
                  </a:solidFill>
                  <a:latin typeface="Arial"/>
                </a:defRPr>
              </a:pPr>
              <a:r>
                <a:t>1 part = 12 ml</a:t>
              </a:r>
            </a:p>
          </p:txBody>
        </p:sp>
      </p:grpSp>
      <p:sp>
        <p:nvSpPr>
          <p:cNvPr id="48" name="Rectangle 47"/>
          <p:cNvSpPr/>
          <p:nvPr/>
        </p:nvSpPr>
        <p:spPr>
          <a:xfrm>
            <a:off x="6184392" y="3913632"/>
            <a:ext cx="4062984" cy="2066543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230112" y="3968496"/>
            <a:ext cx="3971544" cy="68580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35 ÷ 7 = 5 per part. 5 × 4 = 20 notebooks.</a:t>
            </a:r>
          </a:p>
        </p:txBody>
      </p:sp>
      <p:grpSp>
        <p:nvGrpSpPr>
          <p:cNvPr id="50" name="Ratio bars Notebooks:Folders = 4:7, second"/>
          <p:cNvGrpSpPr/>
          <p:nvPr/>
        </p:nvGrpSpPr>
        <p:grpSpPr>
          <a:xfrm>
            <a:off x="6257544" y="4686300"/>
            <a:ext cx="3916680" cy="1275588"/>
            <a:chOff x="6257544" y="4686300"/>
            <a:chExt cx="3916680" cy="1275588"/>
          </a:xfrm>
        </p:grpSpPr>
        <p:sp>
          <p:nvSpPr>
            <p:cNvPr id="51" name="TextBox 50"/>
            <p:cNvSpPr txBox="1"/>
            <p:nvPr/>
          </p:nvSpPr>
          <p:spPr>
            <a:xfrm>
              <a:off x="6257544" y="4686300"/>
              <a:ext cx="914400" cy="274320"/>
            </a:xfrm>
            <a:prstGeom prst="rect">
              <a:avLst/>
            </a:prstGeom>
            <a:noFill/>
          </p:spPr>
          <p:txBody>
            <a:bodyPr wrap="square" lIns="54864" rIns="54864" tIns="22860" bIns="22860">
              <a:spAutoFit/>
            </a:bodyPr>
            <a:lstStyle/>
            <a:p>
              <a:pPr>
                <a:lnSpc>
                  <a:spcPts val="1260"/>
                </a:lnSpc>
                <a:spcBef>
                  <a:spcPts val="0"/>
                </a:spcBef>
                <a:spcAft>
                  <a:spcPts val="0"/>
                </a:spcAft>
                <a:defRPr sz="1200" b="1">
                  <a:solidFill>
                    <a:srgbClr val="182B3A"/>
                  </a:solidFill>
                  <a:latin typeface="Arial"/>
                </a:defRPr>
              </a:pPr>
              <a:r>
                <a:t>Notebooks</a:t>
              </a:r>
            </a:p>
          </p:txBody>
        </p:sp>
        <p:sp>
          <p:nvSpPr>
            <p:cNvPr id="52" name="Rectangle 51"/>
            <p:cNvSpPr/>
            <p:nvPr/>
          </p:nvSpPr>
          <p:spPr>
            <a:xfrm>
              <a:off x="7171944" y="4709160"/>
              <a:ext cx="393192" cy="210312"/>
            </a:xfrm>
            <a:prstGeom prst="rect">
              <a:avLst/>
            </a:prstGeom>
            <a:solidFill>
              <a:srgbClr val="EFF3FA"/>
            </a:solidFill>
            <a:ln w="7620">
              <a:solidFill>
                <a:srgbClr val="3559A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3" name="Rectangle 52"/>
            <p:cNvSpPr/>
            <p:nvPr/>
          </p:nvSpPr>
          <p:spPr>
            <a:xfrm>
              <a:off x="7565136" y="4709160"/>
              <a:ext cx="393192" cy="210312"/>
            </a:xfrm>
            <a:prstGeom prst="rect">
              <a:avLst/>
            </a:prstGeom>
            <a:solidFill>
              <a:srgbClr val="EFF3FA"/>
            </a:solidFill>
            <a:ln w="7620">
              <a:solidFill>
                <a:srgbClr val="3559A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4" name="Rectangle 53"/>
            <p:cNvSpPr/>
            <p:nvPr/>
          </p:nvSpPr>
          <p:spPr>
            <a:xfrm>
              <a:off x="7958328" y="4709160"/>
              <a:ext cx="393192" cy="210312"/>
            </a:xfrm>
            <a:prstGeom prst="rect">
              <a:avLst/>
            </a:prstGeom>
            <a:solidFill>
              <a:srgbClr val="EFF3FA"/>
            </a:solidFill>
            <a:ln w="7620">
              <a:solidFill>
                <a:srgbClr val="3559A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5" name="Rectangle 54"/>
            <p:cNvSpPr/>
            <p:nvPr/>
          </p:nvSpPr>
          <p:spPr>
            <a:xfrm>
              <a:off x="8351520" y="4709160"/>
              <a:ext cx="393192" cy="210312"/>
            </a:xfrm>
            <a:prstGeom prst="rect">
              <a:avLst/>
            </a:prstGeom>
            <a:solidFill>
              <a:srgbClr val="EFF3FA"/>
            </a:solidFill>
            <a:ln w="7620">
              <a:solidFill>
                <a:srgbClr val="3559A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6" name="TextBox 55"/>
            <p:cNvSpPr txBox="1"/>
            <p:nvPr/>
          </p:nvSpPr>
          <p:spPr>
            <a:xfrm>
              <a:off x="6257544" y="5061204"/>
              <a:ext cx="914400" cy="274320"/>
            </a:xfrm>
            <a:prstGeom prst="rect">
              <a:avLst/>
            </a:prstGeom>
            <a:noFill/>
          </p:spPr>
          <p:txBody>
            <a:bodyPr wrap="square" lIns="54864" rIns="54864" tIns="22860" bIns="22860">
              <a:spAutoFit/>
            </a:bodyPr>
            <a:lstStyle/>
            <a:p>
              <a:pPr>
                <a:lnSpc>
                  <a:spcPts val="1260"/>
                </a:lnSpc>
                <a:spcBef>
                  <a:spcPts val="0"/>
                </a:spcBef>
                <a:spcAft>
                  <a:spcPts val="0"/>
                </a:spcAft>
                <a:defRPr sz="1200" b="1">
                  <a:solidFill>
                    <a:srgbClr val="182B3A"/>
                  </a:solidFill>
                  <a:latin typeface="Arial"/>
                </a:defRPr>
              </a:pPr>
              <a:r>
                <a:t>Folders</a:t>
              </a:r>
            </a:p>
          </p:txBody>
        </p:sp>
        <p:sp>
          <p:nvSpPr>
            <p:cNvPr id="57" name="Rectangle 56"/>
            <p:cNvSpPr/>
            <p:nvPr/>
          </p:nvSpPr>
          <p:spPr>
            <a:xfrm>
              <a:off x="7171944" y="5084064"/>
              <a:ext cx="393192" cy="210312"/>
            </a:xfrm>
            <a:prstGeom prst="rect">
              <a:avLst/>
            </a:prstGeom>
            <a:solidFill>
              <a:srgbClr val="EFF3FA"/>
            </a:solidFill>
            <a:ln w="7620">
              <a:solidFill>
                <a:srgbClr val="3559A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8" name="Rectangle 57"/>
            <p:cNvSpPr/>
            <p:nvPr/>
          </p:nvSpPr>
          <p:spPr>
            <a:xfrm>
              <a:off x="7565136" y="5084064"/>
              <a:ext cx="393192" cy="210312"/>
            </a:xfrm>
            <a:prstGeom prst="rect">
              <a:avLst/>
            </a:prstGeom>
            <a:solidFill>
              <a:srgbClr val="EFF3FA"/>
            </a:solidFill>
            <a:ln w="7620">
              <a:solidFill>
                <a:srgbClr val="3559A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9" name="Rectangle 58"/>
            <p:cNvSpPr/>
            <p:nvPr/>
          </p:nvSpPr>
          <p:spPr>
            <a:xfrm>
              <a:off x="7958328" y="5084064"/>
              <a:ext cx="393192" cy="210312"/>
            </a:xfrm>
            <a:prstGeom prst="rect">
              <a:avLst/>
            </a:prstGeom>
            <a:solidFill>
              <a:srgbClr val="EFF3FA"/>
            </a:solidFill>
            <a:ln w="7620">
              <a:solidFill>
                <a:srgbClr val="3559A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0" name="Rectangle 59"/>
            <p:cNvSpPr/>
            <p:nvPr/>
          </p:nvSpPr>
          <p:spPr>
            <a:xfrm>
              <a:off x="8351520" y="5084064"/>
              <a:ext cx="393192" cy="210312"/>
            </a:xfrm>
            <a:prstGeom prst="rect">
              <a:avLst/>
            </a:prstGeom>
            <a:solidFill>
              <a:srgbClr val="EFF3FA"/>
            </a:solidFill>
            <a:ln w="7620">
              <a:solidFill>
                <a:srgbClr val="3559A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1" name="Rectangle 60"/>
            <p:cNvSpPr/>
            <p:nvPr/>
          </p:nvSpPr>
          <p:spPr>
            <a:xfrm>
              <a:off x="8744712" y="5084064"/>
              <a:ext cx="393192" cy="210312"/>
            </a:xfrm>
            <a:prstGeom prst="rect">
              <a:avLst/>
            </a:prstGeom>
            <a:solidFill>
              <a:srgbClr val="EFF3FA"/>
            </a:solidFill>
            <a:ln w="7620">
              <a:solidFill>
                <a:srgbClr val="3559A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2" name="Rectangle 61"/>
            <p:cNvSpPr/>
            <p:nvPr/>
          </p:nvSpPr>
          <p:spPr>
            <a:xfrm>
              <a:off x="9137904" y="5084064"/>
              <a:ext cx="393192" cy="210312"/>
            </a:xfrm>
            <a:prstGeom prst="rect">
              <a:avLst/>
            </a:prstGeom>
            <a:solidFill>
              <a:srgbClr val="EFF3FA"/>
            </a:solidFill>
            <a:ln w="7620">
              <a:solidFill>
                <a:srgbClr val="3559A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3" name="Rectangle 62"/>
            <p:cNvSpPr/>
            <p:nvPr/>
          </p:nvSpPr>
          <p:spPr>
            <a:xfrm>
              <a:off x="9531096" y="5084064"/>
              <a:ext cx="393192" cy="210312"/>
            </a:xfrm>
            <a:prstGeom prst="rect">
              <a:avLst/>
            </a:prstGeom>
            <a:solidFill>
              <a:srgbClr val="EFF3FA"/>
            </a:solidFill>
            <a:ln w="7620">
              <a:solidFill>
                <a:srgbClr val="3559A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64" name="Connector 63"/>
            <p:cNvCxnSpPr/>
            <p:nvPr/>
          </p:nvCxnSpPr>
          <p:spPr>
            <a:xfrm>
              <a:off x="7171944" y="5001768"/>
              <a:ext cx="2752344" cy="0"/>
            </a:xfrm>
            <a:prstGeom prst="line">
              <a:avLst/>
            </a:prstGeom>
            <a:ln w="15240">
              <a:solidFill>
                <a:srgbClr val="3559A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5" name="TextBox 64"/>
            <p:cNvSpPr txBox="1"/>
            <p:nvPr/>
          </p:nvSpPr>
          <p:spPr>
            <a:xfrm>
              <a:off x="7171944" y="5385816"/>
              <a:ext cx="3002280" cy="265176"/>
            </a:xfrm>
            <a:prstGeom prst="rect">
              <a:avLst/>
            </a:prstGeom>
            <a:noFill/>
          </p:spPr>
          <p:txBody>
            <a:bodyPr wrap="square" lIns="54864" rIns="54864" tIns="22860" bIns="22860">
              <a:spAutoFit/>
            </a:bodyPr>
            <a:lstStyle/>
            <a:p>
              <a:pPr>
                <a:lnSpc>
                  <a:spcPts val="1260"/>
                </a:lnSpc>
                <a:spcBef>
                  <a:spcPts val="0"/>
                </a:spcBef>
                <a:spcAft>
                  <a:spcPts val="0"/>
                </a:spcAft>
                <a:defRPr sz="1200" b="1">
                  <a:solidFill>
                    <a:srgbClr val="3559A2"/>
                  </a:solidFill>
                  <a:latin typeface="Arial"/>
                </a:defRPr>
              </a:pPr>
              <a:r>
                <a:t>Folders: 35</a:t>
              </a:r>
            </a:p>
          </p:txBody>
        </p:sp>
        <p:sp>
          <p:nvSpPr>
            <p:cNvPr id="66" name="TextBox 65"/>
            <p:cNvSpPr txBox="1"/>
            <p:nvPr/>
          </p:nvSpPr>
          <p:spPr>
            <a:xfrm>
              <a:off x="7171944" y="5696712"/>
              <a:ext cx="3002280" cy="265176"/>
            </a:xfrm>
            <a:prstGeom prst="rect">
              <a:avLst/>
            </a:prstGeom>
            <a:noFill/>
          </p:spPr>
          <p:txBody>
            <a:bodyPr wrap="square" lIns="54864" rIns="54864" tIns="22860" bIns="22860">
              <a:spAutoFit/>
            </a:bodyPr>
            <a:lstStyle/>
            <a:p>
              <a:pPr>
                <a:lnSpc>
                  <a:spcPts val="1365"/>
                </a:lnSpc>
                <a:spcBef>
                  <a:spcPts val="0"/>
                </a:spcBef>
                <a:spcAft>
                  <a:spcPts val="0"/>
                </a:spcAft>
                <a:defRPr sz="1300" b="1">
                  <a:solidFill>
                    <a:srgbClr val="3559A2"/>
                  </a:solidFill>
                  <a:latin typeface="Arial"/>
                </a:defRPr>
              </a:pPr>
              <a:r>
                <a:t>1 part = 5 items</a:t>
              </a:r>
            </a:p>
          </p:txBody>
        </p:sp>
      </p:grpSp>
      <p:sp>
        <p:nvSpPr>
          <p:cNvPr id="67" name="Rectangle 66"/>
          <p:cNvSpPr/>
          <p:nvPr/>
        </p:nvSpPr>
        <p:spPr>
          <a:xfrm>
            <a:off x="10247376" y="3913632"/>
            <a:ext cx="4062984" cy="2066543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10293096" y="3968496"/>
            <a:ext cx="3971544" cy="68580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24 ÷ 3 = 8 per part. 8 × 7 = 56 people.</a:t>
            </a:r>
          </a:p>
        </p:txBody>
      </p:sp>
      <p:grpSp>
        <p:nvGrpSpPr>
          <p:cNvPr id="69" name="Ratio bars Adults:Children = 2:5, difference"/>
          <p:cNvGrpSpPr/>
          <p:nvPr/>
        </p:nvGrpSpPr>
        <p:grpSpPr>
          <a:xfrm>
            <a:off x="10320528" y="4686300"/>
            <a:ext cx="3916680" cy="1275588"/>
            <a:chOff x="10320528" y="4686300"/>
            <a:chExt cx="3916680" cy="1275588"/>
          </a:xfrm>
        </p:grpSpPr>
        <p:sp>
          <p:nvSpPr>
            <p:cNvPr id="70" name="TextBox 69"/>
            <p:cNvSpPr txBox="1"/>
            <p:nvPr/>
          </p:nvSpPr>
          <p:spPr>
            <a:xfrm>
              <a:off x="10320528" y="4686300"/>
              <a:ext cx="914400" cy="274320"/>
            </a:xfrm>
            <a:prstGeom prst="rect">
              <a:avLst/>
            </a:prstGeom>
            <a:noFill/>
          </p:spPr>
          <p:txBody>
            <a:bodyPr wrap="square" lIns="54864" rIns="54864" tIns="22860" bIns="22860">
              <a:spAutoFit/>
            </a:bodyPr>
            <a:lstStyle/>
            <a:p>
              <a:pPr>
                <a:lnSpc>
                  <a:spcPts val="1260"/>
                </a:lnSpc>
                <a:spcBef>
                  <a:spcPts val="0"/>
                </a:spcBef>
                <a:spcAft>
                  <a:spcPts val="0"/>
                </a:spcAft>
                <a:defRPr sz="1200" b="1">
                  <a:solidFill>
                    <a:srgbClr val="182B3A"/>
                  </a:solidFill>
                  <a:latin typeface="Arial"/>
                </a:defRPr>
              </a:pPr>
              <a:r>
                <a:t>Adults</a:t>
              </a:r>
            </a:p>
          </p:txBody>
        </p:sp>
        <p:sp>
          <p:nvSpPr>
            <p:cNvPr id="71" name="Rectangle 70"/>
            <p:cNvSpPr/>
            <p:nvPr/>
          </p:nvSpPr>
          <p:spPr>
            <a:xfrm>
              <a:off x="11234928" y="4709160"/>
              <a:ext cx="393192" cy="210312"/>
            </a:xfrm>
            <a:prstGeom prst="rect">
              <a:avLst/>
            </a:prstGeom>
            <a:solidFill>
              <a:srgbClr val="F5F0F7"/>
            </a:solidFill>
            <a:ln w="7620">
              <a:solidFill>
                <a:srgbClr val="754B87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2" name="Rectangle 71"/>
            <p:cNvSpPr/>
            <p:nvPr/>
          </p:nvSpPr>
          <p:spPr>
            <a:xfrm>
              <a:off x="11628120" y="4709160"/>
              <a:ext cx="393192" cy="210312"/>
            </a:xfrm>
            <a:prstGeom prst="rect">
              <a:avLst/>
            </a:prstGeom>
            <a:solidFill>
              <a:srgbClr val="F5F0F7"/>
            </a:solidFill>
            <a:ln w="7620">
              <a:solidFill>
                <a:srgbClr val="754B87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3" name="TextBox 72"/>
            <p:cNvSpPr txBox="1"/>
            <p:nvPr/>
          </p:nvSpPr>
          <p:spPr>
            <a:xfrm>
              <a:off x="10320528" y="5061204"/>
              <a:ext cx="914400" cy="274320"/>
            </a:xfrm>
            <a:prstGeom prst="rect">
              <a:avLst/>
            </a:prstGeom>
            <a:noFill/>
          </p:spPr>
          <p:txBody>
            <a:bodyPr wrap="square" lIns="54864" rIns="54864" tIns="22860" bIns="22860">
              <a:spAutoFit/>
            </a:bodyPr>
            <a:lstStyle/>
            <a:p>
              <a:pPr>
                <a:lnSpc>
                  <a:spcPts val="1260"/>
                </a:lnSpc>
                <a:spcBef>
                  <a:spcPts val="0"/>
                </a:spcBef>
                <a:spcAft>
                  <a:spcPts val="0"/>
                </a:spcAft>
                <a:defRPr sz="1200" b="1">
                  <a:solidFill>
                    <a:srgbClr val="182B3A"/>
                  </a:solidFill>
                  <a:latin typeface="Arial"/>
                </a:defRPr>
              </a:pPr>
              <a:r>
                <a:t>Children</a:t>
              </a:r>
            </a:p>
          </p:txBody>
        </p:sp>
        <p:sp>
          <p:nvSpPr>
            <p:cNvPr id="74" name="Rectangle 73"/>
            <p:cNvSpPr/>
            <p:nvPr/>
          </p:nvSpPr>
          <p:spPr>
            <a:xfrm>
              <a:off x="11234928" y="5084064"/>
              <a:ext cx="393192" cy="210312"/>
            </a:xfrm>
            <a:prstGeom prst="rect">
              <a:avLst/>
            </a:prstGeom>
            <a:solidFill>
              <a:srgbClr val="F5F0F7"/>
            </a:solidFill>
            <a:ln w="7620">
              <a:solidFill>
                <a:srgbClr val="754B87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5" name="Rectangle 74"/>
            <p:cNvSpPr/>
            <p:nvPr/>
          </p:nvSpPr>
          <p:spPr>
            <a:xfrm>
              <a:off x="11628120" y="5084064"/>
              <a:ext cx="393192" cy="210312"/>
            </a:xfrm>
            <a:prstGeom prst="rect">
              <a:avLst/>
            </a:prstGeom>
            <a:solidFill>
              <a:srgbClr val="F5F0F7"/>
            </a:solidFill>
            <a:ln w="7620">
              <a:solidFill>
                <a:srgbClr val="754B87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6" name="Rectangle 75"/>
            <p:cNvSpPr/>
            <p:nvPr/>
          </p:nvSpPr>
          <p:spPr>
            <a:xfrm>
              <a:off x="12021312" y="5084064"/>
              <a:ext cx="393192" cy="210312"/>
            </a:xfrm>
            <a:prstGeom prst="rect">
              <a:avLst/>
            </a:prstGeom>
            <a:solidFill>
              <a:srgbClr val="F5F0F7"/>
            </a:solidFill>
            <a:ln w="7620">
              <a:solidFill>
                <a:srgbClr val="754B87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7" name="Rectangle 76"/>
            <p:cNvSpPr/>
            <p:nvPr/>
          </p:nvSpPr>
          <p:spPr>
            <a:xfrm>
              <a:off x="12414504" y="5084064"/>
              <a:ext cx="393192" cy="210312"/>
            </a:xfrm>
            <a:prstGeom prst="rect">
              <a:avLst/>
            </a:prstGeom>
            <a:solidFill>
              <a:srgbClr val="F5F0F7"/>
            </a:solidFill>
            <a:ln w="7620">
              <a:solidFill>
                <a:srgbClr val="754B87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8" name="Rectangle 77"/>
            <p:cNvSpPr/>
            <p:nvPr/>
          </p:nvSpPr>
          <p:spPr>
            <a:xfrm>
              <a:off x="12807696" y="5084064"/>
              <a:ext cx="393192" cy="210312"/>
            </a:xfrm>
            <a:prstGeom prst="rect">
              <a:avLst/>
            </a:prstGeom>
            <a:solidFill>
              <a:srgbClr val="F5F0F7"/>
            </a:solidFill>
            <a:ln w="7620">
              <a:solidFill>
                <a:srgbClr val="754B87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79" name="Connector 78"/>
            <p:cNvCxnSpPr/>
            <p:nvPr/>
          </p:nvCxnSpPr>
          <p:spPr>
            <a:xfrm>
              <a:off x="12021312" y="5376672"/>
              <a:ext cx="1179576" cy="0"/>
            </a:xfrm>
            <a:prstGeom prst="line">
              <a:avLst/>
            </a:prstGeom>
            <a:ln w="15240">
              <a:solidFill>
                <a:srgbClr val="754B8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Connector 79"/>
            <p:cNvCxnSpPr/>
            <p:nvPr/>
          </p:nvCxnSpPr>
          <p:spPr>
            <a:xfrm>
              <a:off x="12021312" y="5330952"/>
              <a:ext cx="0" cy="91440"/>
            </a:xfrm>
            <a:prstGeom prst="line">
              <a:avLst/>
            </a:prstGeom>
            <a:ln w="15240">
              <a:solidFill>
                <a:srgbClr val="754B8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Connector 80"/>
            <p:cNvCxnSpPr/>
            <p:nvPr/>
          </p:nvCxnSpPr>
          <p:spPr>
            <a:xfrm>
              <a:off x="13200888" y="5330952"/>
              <a:ext cx="0" cy="91440"/>
            </a:xfrm>
            <a:prstGeom prst="line">
              <a:avLst/>
            </a:prstGeom>
            <a:ln w="15240">
              <a:solidFill>
                <a:srgbClr val="754B8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2" name="TextBox 81"/>
            <p:cNvSpPr txBox="1"/>
            <p:nvPr/>
          </p:nvSpPr>
          <p:spPr>
            <a:xfrm>
              <a:off x="11234928" y="5413248"/>
              <a:ext cx="3002280" cy="256032"/>
            </a:xfrm>
            <a:prstGeom prst="rect">
              <a:avLst/>
            </a:prstGeom>
            <a:noFill/>
          </p:spPr>
          <p:txBody>
            <a:bodyPr wrap="square" lIns="54864" rIns="54864" tIns="22860" bIns="22860">
              <a:spAutoFit/>
            </a:bodyPr>
            <a:lstStyle/>
            <a:p>
              <a:pPr>
                <a:lnSpc>
                  <a:spcPts val="1260"/>
                </a:lnSpc>
                <a:spcBef>
                  <a:spcPts val="0"/>
                </a:spcBef>
                <a:spcAft>
                  <a:spcPts val="0"/>
                </a:spcAft>
                <a:defRPr sz="1200" b="1">
                  <a:solidFill>
                    <a:srgbClr val="754B87"/>
                  </a:solidFill>
                  <a:latin typeface="Arial"/>
                </a:defRPr>
              </a:pPr>
              <a:r>
                <a:t>3 extra parts = 24 people</a:t>
              </a:r>
            </a:p>
          </p:txBody>
        </p:sp>
        <p:sp>
          <p:nvSpPr>
            <p:cNvPr id="83" name="TextBox 82"/>
            <p:cNvSpPr txBox="1"/>
            <p:nvPr/>
          </p:nvSpPr>
          <p:spPr>
            <a:xfrm>
              <a:off x="11234928" y="5696712"/>
              <a:ext cx="3002280" cy="265176"/>
            </a:xfrm>
            <a:prstGeom prst="rect">
              <a:avLst/>
            </a:prstGeom>
            <a:noFill/>
          </p:spPr>
          <p:txBody>
            <a:bodyPr wrap="square" lIns="54864" rIns="54864" tIns="22860" bIns="22860">
              <a:spAutoFit/>
            </a:bodyPr>
            <a:lstStyle/>
            <a:p>
              <a:pPr>
                <a:lnSpc>
                  <a:spcPts val="1365"/>
                </a:lnSpc>
                <a:spcBef>
                  <a:spcPts val="0"/>
                </a:spcBef>
                <a:spcAft>
                  <a:spcPts val="0"/>
                </a:spcAft>
                <a:defRPr sz="1300" b="1">
                  <a:solidFill>
                    <a:srgbClr val="754B87"/>
                  </a:solidFill>
                  <a:latin typeface="Arial"/>
                </a:defRPr>
              </a:pPr>
              <a:r>
                <a:t>1 part = 8 people</a:t>
              </a:r>
            </a:p>
          </p:txBody>
        </p:sp>
      </p:grpSp>
      <p:sp>
        <p:nvSpPr>
          <p:cNvPr id="84" name="Rectangle 83"/>
          <p:cNvSpPr/>
          <p:nvPr/>
        </p:nvSpPr>
        <p:spPr>
          <a:xfrm>
            <a:off x="320040" y="5980176"/>
            <a:ext cx="1801367" cy="1307592"/>
          </a:xfrm>
          <a:prstGeom prst="rect">
            <a:avLst/>
          </a:prstGeom>
          <a:solidFill>
            <a:srgbClr val="E8EDF1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374904" y="6053328"/>
            <a:ext cx="1691639" cy="116128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82B3A"/>
                </a:solidFill>
                <a:latin typeface="Arial"/>
              </a:defRPr>
            </a:pPr>
            <a:r>
              <a:t>Ballpark Check &amp; Math</a:t>
            </a:r>
          </a:p>
        </p:txBody>
      </p:sp>
      <p:sp>
        <p:nvSpPr>
          <p:cNvPr id="86" name="Rectangle 85"/>
          <p:cNvSpPr/>
          <p:nvPr/>
        </p:nvSpPr>
        <p:spPr>
          <a:xfrm>
            <a:off x="2121408" y="5980176"/>
            <a:ext cx="4062984" cy="1307592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2167127" y="6053328"/>
            <a:ext cx="3971544" cy="116128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36 ml is less than half of 84 ml. The other share is 48 ml; together they make 84 ml.</a:t>
            </a:r>
          </a:p>
        </p:txBody>
      </p:sp>
      <p:sp>
        <p:nvSpPr>
          <p:cNvPr id="88" name="Rectangle 87"/>
          <p:cNvSpPr/>
          <p:nvPr/>
        </p:nvSpPr>
        <p:spPr>
          <a:xfrm>
            <a:off x="6184392" y="5980176"/>
            <a:ext cx="4062984" cy="1307592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6230112" y="6053328"/>
            <a:ext cx="3971544" cy="116128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4 parts is just over half of 7 parts, so expect just over half of 35. 20 fits.</a:t>
            </a:r>
          </a:p>
        </p:txBody>
      </p:sp>
      <p:sp>
        <p:nvSpPr>
          <p:cNvPr id="90" name="Rectangle 89"/>
          <p:cNvSpPr/>
          <p:nvPr/>
        </p:nvSpPr>
        <p:spPr>
          <a:xfrm>
            <a:off x="10247376" y="5980176"/>
            <a:ext cx="4062984" cy="1307592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10293096" y="6053328"/>
            <a:ext cx="3971544" cy="116128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The total is 7 parts, the difference 3. Expect between 2 × 24 and 3 × 24: 48 to 72. 56 fits.</a:t>
            </a:r>
          </a:p>
        </p:txBody>
      </p:sp>
      <p:sp>
        <p:nvSpPr>
          <p:cNvPr id="92" name="Rectangle 91"/>
          <p:cNvSpPr/>
          <p:nvPr/>
        </p:nvSpPr>
        <p:spPr>
          <a:xfrm>
            <a:off x="320040" y="7287768"/>
            <a:ext cx="1801367" cy="557784"/>
          </a:xfrm>
          <a:prstGeom prst="rect">
            <a:avLst/>
          </a:prstGeom>
          <a:solidFill>
            <a:srgbClr val="E8EDF1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374904" y="7360919"/>
            <a:ext cx="1691639" cy="411479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82B3A"/>
                </a:solidFill>
                <a:latin typeface="Arial"/>
              </a:defRPr>
            </a:pPr>
            <a:r>
              <a:t>Final Answer</a:t>
            </a:r>
          </a:p>
        </p:txBody>
      </p:sp>
      <p:sp>
        <p:nvSpPr>
          <p:cNvPr id="94" name="Rectangle 93"/>
          <p:cNvSpPr/>
          <p:nvPr/>
        </p:nvSpPr>
        <p:spPr>
          <a:xfrm>
            <a:off x="2121408" y="7287768"/>
            <a:ext cx="4062984" cy="557784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2167127" y="7360919"/>
            <a:ext cx="3971544" cy="411479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Red paint: 36 ml.</a:t>
            </a:r>
          </a:p>
        </p:txBody>
      </p:sp>
      <p:sp>
        <p:nvSpPr>
          <p:cNvPr id="96" name="Rectangle 95"/>
          <p:cNvSpPr/>
          <p:nvPr/>
        </p:nvSpPr>
        <p:spPr>
          <a:xfrm>
            <a:off x="6184392" y="7287768"/>
            <a:ext cx="4062984" cy="557784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6230112" y="7360919"/>
            <a:ext cx="3971544" cy="411479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20 notebooks.</a:t>
            </a:r>
          </a:p>
        </p:txBody>
      </p:sp>
      <p:sp>
        <p:nvSpPr>
          <p:cNvPr id="98" name="Rectangle 97"/>
          <p:cNvSpPr/>
          <p:nvPr/>
        </p:nvSpPr>
        <p:spPr>
          <a:xfrm>
            <a:off x="10247376" y="7287768"/>
            <a:ext cx="4062984" cy="557784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10293096" y="7360919"/>
            <a:ext cx="3971544" cy="411479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56 people altogether.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73152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13990320" cy="45720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94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182B3A"/>
                </a:solidFill>
                <a:latin typeface="Arial"/>
              </a:defRPr>
            </a:pPr>
            <a:r>
              <a:t>Ratio: check your method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04088"/>
            <a:ext cx="13990320" cy="34747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575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526472"/>
                </a:solidFill>
                <a:latin typeface="Arial"/>
              </a:defRPr>
            </a:pPr>
            <a:r>
              <a:t>Step-by-step practice 1 • Compare your working; correct the first wrong step.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973568"/>
            <a:ext cx="10789920" cy="21031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GCSE Maths revision • No calculator • Show your working.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7973568"/>
            <a:ext cx="3108960" cy="21031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M04-S02-B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115568"/>
            <a:ext cx="4640580" cy="420624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7472" y="1147572"/>
            <a:ext cx="4581144" cy="32918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Thread 1: Guided</a:t>
            </a:r>
          </a:p>
        </p:txBody>
      </p:sp>
      <p:sp>
        <p:nvSpPr>
          <p:cNvPr id="9" name="Rectangle 8"/>
          <p:cNvSpPr/>
          <p:nvPr/>
        </p:nvSpPr>
        <p:spPr>
          <a:xfrm>
            <a:off x="4983480" y="1115568"/>
            <a:ext cx="4640580" cy="420624"/>
          </a:xfrm>
          <a:prstGeom prst="rect">
            <a:avLst/>
          </a:prstGeom>
          <a:solidFill>
            <a:srgbClr val="3559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10912" y="1147572"/>
            <a:ext cx="4581144" cy="32918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Thread 2: Core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646920" y="1115568"/>
            <a:ext cx="4640580" cy="420624"/>
          </a:xfrm>
          <a:prstGeom prst="rect">
            <a:avLst/>
          </a:prstGeom>
          <a:solidFill>
            <a:srgbClr val="754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74352" y="1147572"/>
            <a:ext cx="4581144" cy="32918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Thread 3: Depth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1645920"/>
            <a:ext cx="4631436" cy="1828800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79" y="1737360"/>
            <a:ext cx="4453128" cy="3657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76B73"/>
                </a:solidFill>
                <a:latin typeface="Arial"/>
              </a:defRPr>
            </a:pPr>
            <a:r>
              <a:t>Method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79" y="2176272"/>
            <a:ext cx="4453128" cy="119786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7 parts; 84 ml ÷ 7 = 12 ml per part; 12 ml × 3 = 36 ml of red paint.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3593592"/>
            <a:ext cx="4631436" cy="2258568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1479" y="3685032"/>
            <a:ext cx="4453128" cy="3657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76B73"/>
                </a:solidFill>
                <a:latin typeface="Arial"/>
              </a:defRPr>
            </a:pPr>
            <a:r>
              <a:t>If you got…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79" y="4123944"/>
            <a:ext cx="4453128" cy="162763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48 ml: check whether you used 12 ml × 4. That is white paint; red has 3 parts.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5971032"/>
            <a:ext cx="4631436" cy="1691640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1479" y="6062472"/>
            <a:ext cx="4453128" cy="3657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76B73"/>
                </a:solidFill>
                <a:latin typeface="Arial"/>
              </a:defRPr>
            </a:pPr>
            <a:r>
              <a:t>Check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79" y="6501384"/>
            <a:ext cx="4453128" cy="106070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Red: 36 ml; White: 48 ml. 36 ml + 48 ml = 84 ml, and 36:48 simplifies to 3:4.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983480" y="1645920"/>
            <a:ext cx="4631436" cy="1828800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74920" y="1737360"/>
            <a:ext cx="4453128" cy="3657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3559A2"/>
                </a:solidFill>
                <a:latin typeface="Arial"/>
              </a:defRPr>
            </a:pPr>
            <a:r>
              <a:t>Method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74920" y="2176272"/>
            <a:ext cx="4453128" cy="119786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35 folders represent 7 parts. 35 ÷ 7 = 5 per part; 5 × 4 = 20 notebooks.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983480" y="3593592"/>
            <a:ext cx="4631436" cy="2258568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74920" y="3685032"/>
            <a:ext cx="4453128" cy="3657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3559A2"/>
                </a:solidFill>
                <a:latin typeface="Arial"/>
              </a:defRPr>
            </a:pPr>
            <a:r>
              <a:t>If you got…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74920" y="4123944"/>
            <a:ext cx="4453128" cy="162763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32 notebooks: check whether you used 35 − (7 − 4). The difference of 3 is in parts, not individual items.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983480" y="5971032"/>
            <a:ext cx="4631436" cy="1691640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74920" y="6062472"/>
            <a:ext cx="4453128" cy="3657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3559A2"/>
                </a:solidFill>
                <a:latin typeface="Arial"/>
              </a:defRPr>
            </a:pPr>
            <a:r>
              <a:t>Check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74920" y="6501384"/>
            <a:ext cx="4453128" cy="106070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20:35 simplifies to 4:7. There should be fewer notebooks than folders.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646920" y="1645920"/>
            <a:ext cx="4631436" cy="1828800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738360" y="1737360"/>
            <a:ext cx="4453128" cy="3657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754B87"/>
                </a:solidFill>
                <a:latin typeface="Arial"/>
              </a:defRPr>
            </a:pPr>
            <a:r>
              <a:t>Method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738360" y="2176272"/>
            <a:ext cx="4453128" cy="119786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The difference is 5 − 2 = 3 parts. 24 ÷ 3 = 8 per part; 8 × 7 = 56 people.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646920" y="3593592"/>
            <a:ext cx="4631436" cy="2258568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738360" y="3685032"/>
            <a:ext cx="4453128" cy="3657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754B87"/>
                </a:solidFill>
                <a:latin typeface="Arial"/>
              </a:defRPr>
            </a:pPr>
            <a:r>
              <a:t>If you got…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738360" y="4123944"/>
            <a:ext cx="4453128" cy="162763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168 people: check whether you used 24 × 7. The 24 represents 3 parts, not 1; divide by 3 first.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646920" y="5971032"/>
            <a:ext cx="4631436" cy="1691640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738360" y="6062472"/>
            <a:ext cx="4453128" cy="3657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754B87"/>
                </a:solidFill>
                <a:latin typeface="Arial"/>
              </a:defRPr>
            </a:pPr>
            <a:r>
              <a:t>Check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738360" y="6501384"/>
            <a:ext cx="4453128" cy="106070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Adults: 16; children: 40. 40 − 16 = 24; 16 + 40 = 56.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73152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13990320" cy="45720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94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182B3A"/>
                </a:solidFill>
                <a:latin typeface="Arial"/>
              </a:defRPr>
            </a:pPr>
            <a:r>
              <a:t>Ratio: answers and worked method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04088"/>
            <a:ext cx="13990320" cy="34747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575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526472"/>
                </a:solidFill>
                <a:latin typeface="Arial"/>
              </a:defRPr>
            </a:pPr>
            <a:r>
              <a:t>Answers to step-by-step practice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973568"/>
            <a:ext cx="10789920" cy="21031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GCSE Maths revision • No calculator • Show your working.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7973568"/>
            <a:ext cx="3108960" cy="21031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M04-S03-A</a:t>
            </a:r>
          </a:p>
        </p:txBody>
      </p:sp>
      <p:sp>
        <p:nvSpPr>
          <p:cNvPr id="7" name="Rectangle 6"/>
          <p:cNvSpPr/>
          <p:nvPr/>
        </p:nvSpPr>
        <p:spPr>
          <a:xfrm>
            <a:off x="2121408" y="1115568"/>
            <a:ext cx="4040123" cy="420624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148839" y="1147572"/>
            <a:ext cx="3980688" cy="32918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Thread 1: Guided</a:t>
            </a:r>
          </a:p>
        </p:txBody>
      </p:sp>
      <p:sp>
        <p:nvSpPr>
          <p:cNvPr id="9" name="Rectangle 8"/>
          <p:cNvSpPr/>
          <p:nvPr/>
        </p:nvSpPr>
        <p:spPr>
          <a:xfrm>
            <a:off x="6184392" y="1115568"/>
            <a:ext cx="4040123" cy="420624"/>
          </a:xfrm>
          <a:prstGeom prst="rect">
            <a:avLst/>
          </a:prstGeom>
          <a:solidFill>
            <a:srgbClr val="3559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1824" y="1147572"/>
            <a:ext cx="3980688" cy="32918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Thread 2: Core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247376" y="1115568"/>
            <a:ext cx="4040123" cy="420624"/>
          </a:xfrm>
          <a:prstGeom prst="rect">
            <a:avLst/>
          </a:prstGeom>
          <a:solidFill>
            <a:srgbClr val="754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274808" y="1147572"/>
            <a:ext cx="3980688" cy="32918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Thread 3: Depth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1563624"/>
            <a:ext cx="1801367" cy="1389888"/>
          </a:xfrm>
          <a:prstGeom prst="rect">
            <a:avLst/>
          </a:prstGeom>
          <a:solidFill>
            <a:srgbClr val="E8EDF1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74904" y="1673352"/>
            <a:ext cx="1691639" cy="120700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82B3A"/>
                </a:solidFill>
                <a:latin typeface="Arial"/>
              </a:defRPr>
            </a:pPr>
            <a:r>
              <a:t>The Full Question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121408" y="1563624"/>
            <a:ext cx="4062984" cy="1389888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167127" y="1627632"/>
            <a:ext cx="3971544" cy="126187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82B3A"/>
                </a:solidFill>
                <a:latin typeface="Arial"/>
              </a:defRPr>
            </a:pPr>
            <a:r>
              <a:t>A 96 cm ribbon is cut into pieces A and B in the ratio 5:7. Find the length of B.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84392" y="1563624"/>
            <a:ext cx="4062984" cy="1389888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30112" y="1627632"/>
            <a:ext cx="3971544" cy="126187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82B3A"/>
                </a:solidFill>
                <a:latin typeface="Arial"/>
              </a:defRPr>
            </a:pPr>
            <a:r>
              <a:t>Juice and water are mixed in the ratio 2:7. There are 18 litres of juice. How many litres of water are needed?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247376" y="1563624"/>
            <a:ext cx="4062984" cy="1389888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293096" y="1627632"/>
            <a:ext cx="3971544" cy="126187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82B3A"/>
                </a:solidFill>
                <a:latin typeface="Arial"/>
              </a:defRPr>
            </a:pPr>
            <a:r>
              <a:t>Two lengths of ribbon, A and B, are in the ratio 5:8. B is 21 cm longer than A. What is their total length?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040" y="2953512"/>
            <a:ext cx="1801367" cy="960120"/>
          </a:xfrm>
          <a:prstGeom prst="rect">
            <a:avLst/>
          </a:prstGeom>
          <a:solidFill>
            <a:srgbClr val="E8EDF1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74904" y="3026664"/>
            <a:ext cx="1691639" cy="813816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82B3A"/>
                </a:solidFill>
                <a:latin typeface="Arial"/>
              </a:defRPr>
            </a:pPr>
            <a:r>
              <a:t>Keywords &amp; Calculation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121408" y="2953512"/>
            <a:ext cx="4062984" cy="96012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167127" y="3026664"/>
            <a:ext cx="3971544" cy="813816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Total known: 5 + 7 = 12 parts. Find 1 part, then B’s 7 parts.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84392" y="2953512"/>
            <a:ext cx="4062984" cy="96012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30112" y="3026664"/>
            <a:ext cx="3971544" cy="813816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18 litres of juice is 2 parts. Find 1 part, then 7 parts of water.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0247376" y="2953512"/>
            <a:ext cx="4062984" cy="96012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293096" y="3026664"/>
            <a:ext cx="3971544" cy="813816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21 cm is 8 − 5 = 3 parts. Find 1 part, then 13 parts altogether.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0040" y="3913632"/>
            <a:ext cx="1801367" cy="2066543"/>
          </a:xfrm>
          <a:prstGeom prst="rect">
            <a:avLst/>
          </a:prstGeom>
          <a:solidFill>
            <a:srgbClr val="E8EDF1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74904" y="3986784"/>
            <a:ext cx="1691639" cy="1920239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82B3A"/>
                </a:solidFill>
                <a:latin typeface="Arial"/>
              </a:defRPr>
            </a:pPr>
            <a:r>
              <a:t>Written Method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121408" y="3913632"/>
            <a:ext cx="4062984" cy="2066543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167127" y="3968496"/>
            <a:ext cx="3971544" cy="68580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96 cm ÷ 12 = 8 cm per part. 8 cm × 7 = 56 cm.</a:t>
            </a:r>
          </a:p>
        </p:txBody>
      </p:sp>
      <p:grpSp>
        <p:nvGrpSpPr>
          <p:cNvPr id="33" name="Ratio bars A:B = 5:7, total"/>
          <p:cNvGrpSpPr/>
          <p:nvPr/>
        </p:nvGrpSpPr>
        <p:grpSpPr>
          <a:xfrm>
            <a:off x="2194560" y="4686300"/>
            <a:ext cx="3916680" cy="1275588"/>
            <a:chOff x="2194560" y="4686300"/>
            <a:chExt cx="3916680" cy="1275588"/>
          </a:xfrm>
        </p:grpSpPr>
        <p:sp>
          <p:nvSpPr>
            <p:cNvPr id="34" name="TextBox 33"/>
            <p:cNvSpPr txBox="1"/>
            <p:nvPr/>
          </p:nvSpPr>
          <p:spPr>
            <a:xfrm>
              <a:off x="2194560" y="4686300"/>
              <a:ext cx="914400" cy="274320"/>
            </a:xfrm>
            <a:prstGeom prst="rect">
              <a:avLst/>
            </a:prstGeom>
            <a:noFill/>
          </p:spPr>
          <p:txBody>
            <a:bodyPr wrap="square" lIns="54864" rIns="54864" tIns="22860" bIns="22860">
              <a:spAutoFit/>
            </a:bodyPr>
            <a:lstStyle/>
            <a:p>
              <a:pPr>
                <a:lnSpc>
                  <a:spcPts val="1260"/>
                </a:lnSpc>
                <a:spcBef>
                  <a:spcPts val="0"/>
                </a:spcBef>
                <a:spcAft>
                  <a:spcPts val="0"/>
                </a:spcAft>
                <a:defRPr sz="1200" b="1">
                  <a:solidFill>
                    <a:srgbClr val="182B3A"/>
                  </a:solidFill>
                  <a:latin typeface="Arial"/>
                </a:defRPr>
              </a:pPr>
              <a:r>
                <a:t>A</a:t>
              </a:r>
            </a:p>
          </p:txBody>
        </p:sp>
        <p:sp>
          <p:nvSpPr>
            <p:cNvPr id="35" name="Rectangle 34"/>
            <p:cNvSpPr/>
            <p:nvPr/>
          </p:nvSpPr>
          <p:spPr>
            <a:xfrm>
              <a:off x="3108960" y="4709160"/>
              <a:ext cx="393192" cy="210312"/>
            </a:xfrm>
            <a:prstGeom prst="rect">
              <a:avLst/>
            </a:prstGeom>
            <a:solidFill>
              <a:srgbClr val="EDF6F5"/>
            </a:solidFill>
            <a:ln w="7620">
              <a:solidFill>
                <a:srgbClr val="176B7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6" name="Rectangle 35"/>
            <p:cNvSpPr/>
            <p:nvPr/>
          </p:nvSpPr>
          <p:spPr>
            <a:xfrm>
              <a:off x="3502152" y="4709160"/>
              <a:ext cx="393192" cy="210312"/>
            </a:xfrm>
            <a:prstGeom prst="rect">
              <a:avLst/>
            </a:prstGeom>
            <a:solidFill>
              <a:srgbClr val="EDF6F5"/>
            </a:solidFill>
            <a:ln w="7620">
              <a:solidFill>
                <a:srgbClr val="176B7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7" name="Rectangle 36"/>
            <p:cNvSpPr/>
            <p:nvPr/>
          </p:nvSpPr>
          <p:spPr>
            <a:xfrm>
              <a:off x="3895344" y="4709160"/>
              <a:ext cx="393192" cy="210312"/>
            </a:xfrm>
            <a:prstGeom prst="rect">
              <a:avLst/>
            </a:prstGeom>
            <a:solidFill>
              <a:srgbClr val="EDF6F5"/>
            </a:solidFill>
            <a:ln w="7620">
              <a:solidFill>
                <a:srgbClr val="176B7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8" name="Rectangle 37"/>
            <p:cNvSpPr/>
            <p:nvPr/>
          </p:nvSpPr>
          <p:spPr>
            <a:xfrm>
              <a:off x="4288536" y="4709160"/>
              <a:ext cx="393192" cy="210312"/>
            </a:xfrm>
            <a:prstGeom prst="rect">
              <a:avLst/>
            </a:prstGeom>
            <a:solidFill>
              <a:srgbClr val="EDF6F5"/>
            </a:solidFill>
            <a:ln w="7620">
              <a:solidFill>
                <a:srgbClr val="176B7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9" name="Rectangle 38"/>
            <p:cNvSpPr/>
            <p:nvPr/>
          </p:nvSpPr>
          <p:spPr>
            <a:xfrm>
              <a:off x="4681728" y="4709160"/>
              <a:ext cx="393192" cy="210312"/>
            </a:xfrm>
            <a:prstGeom prst="rect">
              <a:avLst/>
            </a:prstGeom>
            <a:solidFill>
              <a:srgbClr val="EDF6F5"/>
            </a:solidFill>
            <a:ln w="7620">
              <a:solidFill>
                <a:srgbClr val="176B7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0" name="TextBox 39"/>
            <p:cNvSpPr txBox="1"/>
            <p:nvPr/>
          </p:nvSpPr>
          <p:spPr>
            <a:xfrm>
              <a:off x="2194560" y="5061204"/>
              <a:ext cx="914400" cy="274320"/>
            </a:xfrm>
            <a:prstGeom prst="rect">
              <a:avLst/>
            </a:prstGeom>
            <a:noFill/>
          </p:spPr>
          <p:txBody>
            <a:bodyPr wrap="square" lIns="54864" rIns="54864" tIns="22860" bIns="22860">
              <a:spAutoFit/>
            </a:bodyPr>
            <a:lstStyle/>
            <a:p>
              <a:pPr>
                <a:lnSpc>
                  <a:spcPts val="1260"/>
                </a:lnSpc>
                <a:spcBef>
                  <a:spcPts val="0"/>
                </a:spcBef>
                <a:spcAft>
                  <a:spcPts val="0"/>
                </a:spcAft>
                <a:defRPr sz="1200" b="1">
                  <a:solidFill>
                    <a:srgbClr val="182B3A"/>
                  </a:solidFill>
                  <a:latin typeface="Arial"/>
                </a:defRPr>
              </a:pPr>
              <a:r>
                <a:t>B</a:t>
              </a:r>
            </a:p>
          </p:txBody>
        </p:sp>
        <p:sp>
          <p:nvSpPr>
            <p:cNvPr id="41" name="Rectangle 40"/>
            <p:cNvSpPr/>
            <p:nvPr/>
          </p:nvSpPr>
          <p:spPr>
            <a:xfrm>
              <a:off x="3108960" y="5084064"/>
              <a:ext cx="393192" cy="210312"/>
            </a:xfrm>
            <a:prstGeom prst="rect">
              <a:avLst/>
            </a:prstGeom>
            <a:solidFill>
              <a:srgbClr val="EDF6F5"/>
            </a:solidFill>
            <a:ln w="7620">
              <a:solidFill>
                <a:srgbClr val="176B7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2" name="Rectangle 41"/>
            <p:cNvSpPr/>
            <p:nvPr/>
          </p:nvSpPr>
          <p:spPr>
            <a:xfrm>
              <a:off x="3502152" y="5084064"/>
              <a:ext cx="393192" cy="210312"/>
            </a:xfrm>
            <a:prstGeom prst="rect">
              <a:avLst/>
            </a:prstGeom>
            <a:solidFill>
              <a:srgbClr val="EDF6F5"/>
            </a:solidFill>
            <a:ln w="7620">
              <a:solidFill>
                <a:srgbClr val="176B7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3" name="Rectangle 42"/>
            <p:cNvSpPr/>
            <p:nvPr/>
          </p:nvSpPr>
          <p:spPr>
            <a:xfrm>
              <a:off x="3895344" y="5084064"/>
              <a:ext cx="393192" cy="210312"/>
            </a:xfrm>
            <a:prstGeom prst="rect">
              <a:avLst/>
            </a:prstGeom>
            <a:solidFill>
              <a:srgbClr val="EDF6F5"/>
            </a:solidFill>
            <a:ln w="7620">
              <a:solidFill>
                <a:srgbClr val="176B7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4" name="Rectangle 43"/>
            <p:cNvSpPr/>
            <p:nvPr/>
          </p:nvSpPr>
          <p:spPr>
            <a:xfrm>
              <a:off x="4288536" y="5084064"/>
              <a:ext cx="393192" cy="210312"/>
            </a:xfrm>
            <a:prstGeom prst="rect">
              <a:avLst/>
            </a:prstGeom>
            <a:solidFill>
              <a:srgbClr val="EDF6F5"/>
            </a:solidFill>
            <a:ln w="7620">
              <a:solidFill>
                <a:srgbClr val="176B7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5" name="Rectangle 44"/>
            <p:cNvSpPr/>
            <p:nvPr/>
          </p:nvSpPr>
          <p:spPr>
            <a:xfrm>
              <a:off x="4681728" y="5084064"/>
              <a:ext cx="393192" cy="210312"/>
            </a:xfrm>
            <a:prstGeom prst="rect">
              <a:avLst/>
            </a:prstGeom>
            <a:solidFill>
              <a:srgbClr val="EDF6F5"/>
            </a:solidFill>
            <a:ln w="7620">
              <a:solidFill>
                <a:srgbClr val="176B7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6" name="Rectangle 45"/>
            <p:cNvSpPr/>
            <p:nvPr/>
          </p:nvSpPr>
          <p:spPr>
            <a:xfrm>
              <a:off x="5074920" y="5084064"/>
              <a:ext cx="393192" cy="210312"/>
            </a:xfrm>
            <a:prstGeom prst="rect">
              <a:avLst/>
            </a:prstGeom>
            <a:solidFill>
              <a:srgbClr val="EDF6F5"/>
            </a:solidFill>
            <a:ln w="7620">
              <a:solidFill>
                <a:srgbClr val="176B7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7" name="Rectangle 46"/>
            <p:cNvSpPr/>
            <p:nvPr/>
          </p:nvSpPr>
          <p:spPr>
            <a:xfrm>
              <a:off x="5468112" y="5084064"/>
              <a:ext cx="393192" cy="210312"/>
            </a:xfrm>
            <a:prstGeom prst="rect">
              <a:avLst/>
            </a:prstGeom>
            <a:solidFill>
              <a:srgbClr val="EDF6F5"/>
            </a:solidFill>
            <a:ln w="7620">
              <a:solidFill>
                <a:srgbClr val="176B7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48" name="Connector 47"/>
            <p:cNvCxnSpPr/>
            <p:nvPr/>
          </p:nvCxnSpPr>
          <p:spPr>
            <a:xfrm>
              <a:off x="5952744" y="4709160"/>
              <a:ext cx="0" cy="585216"/>
            </a:xfrm>
            <a:prstGeom prst="line">
              <a:avLst/>
            </a:prstGeom>
            <a:ln w="15240">
              <a:solidFill>
                <a:srgbClr val="176B7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Connector 48"/>
            <p:cNvCxnSpPr/>
            <p:nvPr/>
          </p:nvCxnSpPr>
          <p:spPr>
            <a:xfrm>
              <a:off x="5907024" y="4709160"/>
              <a:ext cx="45720" cy="0"/>
            </a:xfrm>
            <a:prstGeom prst="line">
              <a:avLst/>
            </a:prstGeom>
            <a:ln w="15240">
              <a:solidFill>
                <a:srgbClr val="176B7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Connector 49"/>
            <p:cNvCxnSpPr/>
            <p:nvPr/>
          </p:nvCxnSpPr>
          <p:spPr>
            <a:xfrm>
              <a:off x="5907024" y="5294376"/>
              <a:ext cx="45720" cy="0"/>
            </a:xfrm>
            <a:prstGeom prst="line">
              <a:avLst/>
            </a:prstGeom>
            <a:ln w="15240">
              <a:solidFill>
                <a:srgbClr val="176B7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1" name="TextBox 50"/>
            <p:cNvSpPr txBox="1"/>
            <p:nvPr/>
          </p:nvSpPr>
          <p:spPr>
            <a:xfrm>
              <a:off x="3108960" y="5385816"/>
              <a:ext cx="3002280" cy="265176"/>
            </a:xfrm>
            <a:prstGeom prst="rect">
              <a:avLst/>
            </a:prstGeom>
            <a:noFill/>
          </p:spPr>
          <p:txBody>
            <a:bodyPr wrap="square" lIns="54864" rIns="54864" tIns="22860" bIns="22860">
              <a:spAutoFit/>
            </a:bodyPr>
            <a:lstStyle/>
            <a:p>
              <a:pPr>
                <a:lnSpc>
                  <a:spcPts val="1260"/>
                </a:lnSpc>
                <a:spcBef>
                  <a:spcPts val="0"/>
                </a:spcBef>
                <a:spcAft>
                  <a:spcPts val="0"/>
                </a:spcAft>
                <a:defRPr sz="1200" b="1">
                  <a:solidFill>
                    <a:srgbClr val="176B73"/>
                  </a:solidFill>
                  <a:latin typeface="Arial"/>
                </a:defRPr>
              </a:pPr>
              <a:r>
                <a:t>96 cm altogether</a:t>
              </a:r>
            </a:p>
          </p:txBody>
        </p:sp>
        <p:sp>
          <p:nvSpPr>
            <p:cNvPr id="52" name="TextBox 51"/>
            <p:cNvSpPr txBox="1"/>
            <p:nvPr/>
          </p:nvSpPr>
          <p:spPr>
            <a:xfrm>
              <a:off x="3108960" y="5696712"/>
              <a:ext cx="3002280" cy="265176"/>
            </a:xfrm>
            <a:prstGeom prst="rect">
              <a:avLst/>
            </a:prstGeom>
            <a:noFill/>
          </p:spPr>
          <p:txBody>
            <a:bodyPr wrap="square" lIns="54864" rIns="54864" tIns="22860" bIns="22860">
              <a:spAutoFit/>
            </a:bodyPr>
            <a:lstStyle/>
            <a:p>
              <a:pPr>
                <a:lnSpc>
                  <a:spcPts val="1365"/>
                </a:lnSpc>
                <a:spcBef>
                  <a:spcPts val="0"/>
                </a:spcBef>
                <a:spcAft>
                  <a:spcPts val="0"/>
                </a:spcAft>
                <a:defRPr sz="1300" b="1">
                  <a:solidFill>
                    <a:srgbClr val="176B73"/>
                  </a:solidFill>
                  <a:latin typeface="Arial"/>
                </a:defRPr>
              </a:pPr>
              <a:r>
                <a:t>1 part = 8 cm</a:t>
              </a:r>
            </a:p>
          </p:txBody>
        </p:sp>
      </p:grpSp>
      <p:sp>
        <p:nvSpPr>
          <p:cNvPr id="53" name="Rectangle 52"/>
          <p:cNvSpPr/>
          <p:nvPr/>
        </p:nvSpPr>
        <p:spPr>
          <a:xfrm>
            <a:off x="6184392" y="3913632"/>
            <a:ext cx="4062984" cy="2066543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230112" y="3968496"/>
            <a:ext cx="3971544" cy="68580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18 ÷ 2 = 9 litres per part. 9 × 7 = 63 litres.</a:t>
            </a:r>
          </a:p>
        </p:txBody>
      </p:sp>
      <p:grpSp>
        <p:nvGrpSpPr>
          <p:cNvPr id="55" name="Ratio bars Juice:Water = 2:7, first"/>
          <p:cNvGrpSpPr/>
          <p:nvPr/>
        </p:nvGrpSpPr>
        <p:grpSpPr>
          <a:xfrm>
            <a:off x="6257544" y="4626864"/>
            <a:ext cx="3916680" cy="1335024"/>
            <a:chOff x="6257544" y="4626864"/>
            <a:chExt cx="3916680" cy="1335024"/>
          </a:xfrm>
        </p:grpSpPr>
        <p:sp>
          <p:nvSpPr>
            <p:cNvPr id="56" name="TextBox 55"/>
            <p:cNvSpPr txBox="1"/>
            <p:nvPr/>
          </p:nvSpPr>
          <p:spPr>
            <a:xfrm>
              <a:off x="6257544" y="4686300"/>
              <a:ext cx="914400" cy="274320"/>
            </a:xfrm>
            <a:prstGeom prst="rect">
              <a:avLst/>
            </a:prstGeom>
            <a:noFill/>
          </p:spPr>
          <p:txBody>
            <a:bodyPr wrap="square" lIns="54864" rIns="54864" tIns="22860" bIns="22860">
              <a:spAutoFit/>
            </a:bodyPr>
            <a:lstStyle/>
            <a:p>
              <a:pPr>
                <a:lnSpc>
                  <a:spcPts val="1260"/>
                </a:lnSpc>
                <a:spcBef>
                  <a:spcPts val="0"/>
                </a:spcBef>
                <a:spcAft>
                  <a:spcPts val="0"/>
                </a:spcAft>
                <a:defRPr sz="1200" b="1">
                  <a:solidFill>
                    <a:srgbClr val="182B3A"/>
                  </a:solidFill>
                  <a:latin typeface="Arial"/>
                </a:defRPr>
              </a:pPr>
              <a:r>
                <a:t>Juice</a:t>
              </a:r>
            </a:p>
          </p:txBody>
        </p:sp>
        <p:sp>
          <p:nvSpPr>
            <p:cNvPr id="57" name="Rectangle 56"/>
            <p:cNvSpPr/>
            <p:nvPr/>
          </p:nvSpPr>
          <p:spPr>
            <a:xfrm>
              <a:off x="7171944" y="4709160"/>
              <a:ext cx="393192" cy="210312"/>
            </a:xfrm>
            <a:prstGeom prst="rect">
              <a:avLst/>
            </a:prstGeom>
            <a:solidFill>
              <a:srgbClr val="EFF3FA"/>
            </a:solidFill>
            <a:ln w="7620">
              <a:solidFill>
                <a:srgbClr val="3559A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8" name="Rectangle 57"/>
            <p:cNvSpPr/>
            <p:nvPr/>
          </p:nvSpPr>
          <p:spPr>
            <a:xfrm>
              <a:off x="7565136" y="4709160"/>
              <a:ext cx="393192" cy="210312"/>
            </a:xfrm>
            <a:prstGeom prst="rect">
              <a:avLst/>
            </a:prstGeom>
            <a:solidFill>
              <a:srgbClr val="EFF3FA"/>
            </a:solidFill>
            <a:ln w="7620">
              <a:solidFill>
                <a:srgbClr val="3559A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9" name="TextBox 58"/>
            <p:cNvSpPr txBox="1"/>
            <p:nvPr/>
          </p:nvSpPr>
          <p:spPr>
            <a:xfrm>
              <a:off x="6257544" y="5061204"/>
              <a:ext cx="914400" cy="274320"/>
            </a:xfrm>
            <a:prstGeom prst="rect">
              <a:avLst/>
            </a:prstGeom>
            <a:noFill/>
          </p:spPr>
          <p:txBody>
            <a:bodyPr wrap="square" lIns="54864" rIns="54864" tIns="22860" bIns="22860">
              <a:spAutoFit/>
            </a:bodyPr>
            <a:lstStyle/>
            <a:p>
              <a:pPr>
                <a:lnSpc>
                  <a:spcPts val="1260"/>
                </a:lnSpc>
                <a:spcBef>
                  <a:spcPts val="0"/>
                </a:spcBef>
                <a:spcAft>
                  <a:spcPts val="0"/>
                </a:spcAft>
                <a:defRPr sz="1200" b="1">
                  <a:solidFill>
                    <a:srgbClr val="182B3A"/>
                  </a:solidFill>
                  <a:latin typeface="Arial"/>
                </a:defRPr>
              </a:pPr>
              <a:r>
                <a:t>Water</a:t>
              </a:r>
            </a:p>
          </p:txBody>
        </p:sp>
        <p:sp>
          <p:nvSpPr>
            <p:cNvPr id="60" name="Rectangle 59"/>
            <p:cNvSpPr/>
            <p:nvPr/>
          </p:nvSpPr>
          <p:spPr>
            <a:xfrm>
              <a:off x="7171944" y="5084064"/>
              <a:ext cx="393192" cy="210312"/>
            </a:xfrm>
            <a:prstGeom prst="rect">
              <a:avLst/>
            </a:prstGeom>
            <a:solidFill>
              <a:srgbClr val="EFF3FA"/>
            </a:solidFill>
            <a:ln w="7620">
              <a:solidFill>
                <a:srgbClr val="3559A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1" name="Rectangle 60"/>
            <p:cNvSpPr/>
            <p:nvPr/>
          </p:nvSpPr>
          <p:spPr>
            <a:xfrm>
              <a:off x="7565136" y="5084064"/>
              <a:ext cx="393192" cy="210312"/>
            </a:xfrm>
            <a:prstGeom prst="rect">
              <a:avLst/>
            </a:prstGeom>
            <a:solidFill>
              <a:srgbClr val="EFF3FA"/>
            </a:solidFill>
            <a:ln w="7620">
              <a:solidFill>
                <a:srgbClr val="3559A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2" name="Rectangle 61"/>
            <p:cNvSpPr/>
            <p:nvPr/>
          </p:nvSpPr>
          <p:spPr>
            <a:xfrm>
              <a:off x="7958328" y="5084064"/>
              <a:ext cx="393192" cy="210312"/>
            </a:xfrm>
            <a:prstGeom prst="rect">
              <a:avLst/>
            </a:prstGeom>
            <a:solidFill>
              <a:srgbClr val="EFF3FA"/>
            </a:solidFill>
            <a:ln w="7620">
              <a:solidFill>
                <a:srgbClr val="3559A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3" name="Rectangle 62"/>
            <p:cNvSpPr/>
            <p:nvPr/>
          </p:nvSpPr>
          <p:spPr>
            <a:xfrm>
              <a:off x="8351520" y="5084064"/>
              <a:ext cx="393192" cy="210312"/>
            </a:xfrm>
            <a:prstGeom prst="rect">
              <a:avLst/>
            </a:prstGeom>
            <a:solidFill>
              <a:srgbClr val="EFF3FA"/>
            </a:solidFill>
            <a:ln w="7620">
              <a:solidFill>
                <a:srgbClr val="3559A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4" name="Rectangle 63"/>
            <p:cNvSpPr/>
            <p:nvPr/>
          </p:nvSpPr>
          <p:spPr>
            <a:xfrm>
              <a:off x="8744712" y="5084064"/>
              <a:ext cx="393192" cy="210312"/>
            </a:xfrm>
            <a:prstGeom prst="rect">
              <a:avLst/>
            </a:prstGeom>
            <a:solidFill>
              <a:srgbClr val="EFF3FA"/>
            </a:solidFill>
            <a:ln w="7620">
              <a:solidFill>
                <a:srgbClr val="3559A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5" name="Rectangle 64"/>
            <p:cNvSpPr/>
            <p:nvPr/>
          </p:nvSpPr>
          <p:spPr>
            <a:xfrm>
              <a:off x="9137904" y="5084064"/>
              <a:ext cx="393192" cy="210312"/>
            </a:xfrm>
            <a:prstGeom prst="rect">
              <a:avLst/>
            </a:prstGeom>
            <a:solidFill>
              <a:srgbClr val="EFF3FA"/>
            </a:solidFill>
            <a:ln w="7620">
              <a:solidFill>
                <a:srgbClr val="3559A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6" name="Rectangle 65"/>
            <p:cNvSpPr/>
            <p:nvPr/>
          </p:nvSpPr>
          <p:spPr>
            <a:xfrm>
              <a:off x="9531096" y="5084064"/>
              <a:ext cx="393192" cy="210312"/>
            </a:xfrm>
            <a:prstGeom prst="rect">
              <a:avLst/>
            </a:prstGeom>
            <a:solidFill>
              <a:srgbClr val="EFF3FA"/>
            </a:solidFill>
            <a:ln w="7620">
              <a:solidFill>
                <a:srgbClr val="3559A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67" name="Connector 66"/>
            <p:cNvCxnSpPr/>
            <p:nvPr/>
          </p:nvCxnSpPr>
          <p:spPr>
            <a:xfrm>
              <a:off x="7171944" y="4626864"/>
              <a:ext cx="786384" cy="0"/>
            </a:xfrm>
            <a:prstGeom prst="line">
              <a:avLst/>
            </a:prstGeom>
            <a:ln w="15240">
              <a:solidFill>
                <a:srgbClr val="3559A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8" name="TextBox 67"/>
            <p:cNvSpPr txBox="1"/>
            <p:nvPr/>
          </p:nvSpPr>
          <p:spPr>
            <a:xfrm>
              <a:off x="7171944" y="5385816"/>
              <a:ext cx="3002280" cy="265176"/>
            </a:xfrm>
            <a:prstGeom prst="rect">
              <a:avLst/>
            </a:prstGeom>
            <a:noFill/>
          </p:spPr>
          <p:txBody>
            <a:bodyPr wrap="square" lIns="54864" rIns="54864" tIns="22860" bIns="22860">
              <a:spAutoFit/>
            </a:bodyPr>
            <a:lstStyle/>
            <a:p>
              <a:pPr>
                <a:lnSpc>
                  <a:spcPts val="1260"/>
                </a:lnSpc>
                <a:spcBef>
                  <a:spcPts val="0"/>
                </a:spcBef>
                <a:spcAft>
                  <a:spcPts val="0"/>
                </a:spcAft>
                <a:defRPr sz="1200" b="1">
                  <a:solidFill>
                    <a:srgbClr val="3559A2"/>
                  </a:solidFill>
                  <a:latin typeface="Arial"/>
                </a:defRPr>
              </a:pPr>
              <a:r>
                <a:t>Juice: 18 litres</a:t>
              </a:r>
            </a:p>
          </p:txBody>
        </p:sp>
        <p:sp>
          <p:nvSpPr>
            <p:cNvPr id="69" name="TextBox 68"/>
            <p:cNvSpPr txBox="1"/>
            <p:nvPr/>
          </p:nvSpPr>
          <p:spPr>
            <a:xfrm>
              <a:off x="7171944" y="5696712"/>
              <a:ext cx="3002280" cy="265176"/>
            </a:xfrm>
            <a:prstGeom prst="rect">
              <a:avLst/>
            </a:prstGeom>
            <a:noFill/>
          </p:spPr>
          <p:txBody>
            <a:bodyPr wrap="square" lIns="54864" rIns="54864" tIns="22860" bIns="22860">
              <a:spAutoFit/>
            </a:bodyPr>
            <a:lstStyle/>
            <a:p>
              <a:pPr>
                <a:lnSpc>
                  <a:spcPts val="1365"/>
                </a:lnSpc>
                <a:spcBef>
                  <a:spcPts val="0"/>
                </a:spcBef>
                <a:spcAft>
                  <a:spcPts val="0"/>
                </a:spcAft>
                <a:defRPr sz="1300" b="1">
                  <a:solidFill>
                    <a:srgbClr val="3559A2"/>
                  </a:solidFill>
                  <a:latin typeface="Arial"/>
                </a:defRPr>
              </a:pPr>
              <a:r>
                <a:t>1 part = 9 litres</a:t>
              </a:r>
            </a:p>
          </p:txBody>
        </p:sp>
      </p:grpSp>
      <p:sp>
        <p:nvSpPr>
          <p:cNvPr id="70" name="Rectangle 69"/>
          <p:cNvSpPr/>
          <p:nvPr/>
        </p:nvSpPr>
        <p:spPr>
          <a:xfrm>
            <a:off x="10247376" y="3913632"/>
            <a:ext cx="4062984" cy="2066543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10293096" y="3968496"/>
            <a:ext cx="3971544" cy="68580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21 ÷ 3 = 7 cm per part. 7 × 13 = 91 cm.</a:t>
            </a:r>
          </a:p>
        </p:txBody>
      </p:sp>
      <p:grpSp>
        <p:nvGrpSpPr>
          <p:cNvPr id="72" name="Ratio bars A:B = 5:8, difference"/>
          <p:cNvGrpSpPr/>
          <p:nvPr/>
        </p:nvGrpSpPr>
        <p:grpSpPr>
          <a:xfrm>
            <a:off x="10320528" y="4686300"/>
            <a:ext cx="3916680" cy="1275588"/>
            <a:chOff x="10320528" y="4686300"/>
            <a:chExt cx="3916680" cy="1275588"/>
          </a:xfrm>
        </p:grpSpPr>
        <p:sp>
          <p:nvSpPr>
            <p:cNvPr id="73" name="TextBox 72"/>
            <p:cNvSpPr txBox="1"/>
            <p:nvPr/>
          </p:nvSpPr>
          <p:spPr>
            <a:xfrm>
              <a:off x="10320528" y="4686300"/>
              <a:ext cx="914400" cy="274320"/>
            </a:xfrm>
            <a:prstGeom prst="rect">
              <a:avLst/>
            </a:prstGeom>
            <a:noFill/>
          </p:spPr>
          <p:txBody>
            <a:bodyPr wrap="square" lIns="54864" rIns="54864" tIns="22860" bIns="22860">
              <a:spAutoFit/>
            </a:bodyPr>
            <a:lstStyle/>
            <a:p>
              <a:pPr>
                <a:lnSpc>
                  <a:spcPts val="1260"/>
                </a:lnSpc>
                <a:spcBef>
                  <a:spcPts val="0"/>
                </a:spcBef>
                <a:spcAft>
                  <a:spcPts val="0"/>
                </a:spcAft>
                <a:defRPr sz="1200" b="1">
                  <a:solidFill>
                    <a:srgbClr val="182B3A"/>
                  </a:solidFill>
                  <a:latin typeface="Arial"/>
                </a:defRPr>
              </a:pPr>
              <a:r>
                <a:t>A</a:t>
              </a:r>
            </a:p>
          </p:txBody>
        </p:sp>
        <p:sp>
          <p:nvSpPr>
            <p:cNvPr id="74" name="Rectangle 73"/>
            <p:cNvSpPr/>
            <p:nvPr/>
          </p:nvSpPr>
          <p:spPr>
            <a:xfrm>
              <a:off x="11234928" y="4709160"/>
              <a:ext cx="352424" cy="210312"/>
            </a:xfrm>
            <a:prstGeom prst="rect">
              <a:avLst/>
            </a:prstGeom>
            <a:solidFill>
              <a:srgbClr val="F5F0F7"/>
            </a:solidFill>
            <a:ln w="7620">
              <a:solidFill>
                <a:srgbClr val="754B87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5" name="Rectangle 74"/>
            <p:cNvSpPr/>
            <p:nvPr/>
          </p:nvSpPr>
          <p:spPr>
            <a:xfrm>
              <a:off x="11587353" y="4709160"/>
              <a:ext cx="352424" cy="210312"/>
            </a:xfrm>
            <a:prstGeom prst="rect">
              <a:avLst/>
            </a:prstGeom>
            <a:solidFill>
              <a:srgbClr val="F5F0F7"/>
            </a:solidFill>
            <a:ln w="7620">
              <a:solidFill>
                <a:srgbClr val="754B87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6" name="Rectangle 75"/>
            <p:cNvSpPr/>
            <p:nvPr/>
          </p:nvSpPr>
          <p:spPr>
            <a:xfrm>
              <a:off x="11939778" y="4709160"/>
              <a:ext cx="352424" cy="210312"/>
            </a:xfrm>
            <a:prstGeom prst="rect">
              <a:avLst/>
            </a:prstGeom>
            <a:solidFill>
              <a:srgbClr val="F5F0F7"/>
            </a:solidFill>
            <a:ln w="7620">
              <a:solidFill>
                <a:srgbClr val="754B87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7" name="Rectangle 76"/>
            <p:cNvSpPr/>
            <p:nvPr/>
          </p:nvSpPr>
          <p:spPr>
            <a:xfrm>
              <a:off x="12292203" y="4709160"/>
              <a:ext cx="352424" cy="210312"/>
            </a:xfrm>
            <a:prstGeom prst="rect">
              <a:avLst/>
            </a:prstGeom>
            <a:solidFill>
              <a:srgbClr val="F5F0F7"/>
            </a:solidFill>
            <a:ln w="7620">
              <a:solidFill>
                <a:srgbClr val="754B87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8" name="Rectangle 77"/>
            <p:cNvSpPr/>
            <p:nvPr/>
          </p:nvSpPr>
          <p:spPr>
            <a:xfrm>
              <a:off x="12644628" y="4709160"/>
              <a:ext cx="352424" cy="210312"/>
            </a:xfrm>
            <a:prstGeom prst="rect">
              <a:avLst/>
            </a:prstGeom>
            <a:solidFill>
              <a:srgbClr val="F5F0F7"/>
            </a:solidFill>
            <a:ln w="7620">
              <a:solidFill>
                <a:srgbClr val="754B87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9" name="TextBox 78"/>
            <p:cNvSpPr txBox="1"/>
            <p:nvPr/>
          </p:nvSpPr>
          <p:spPr>
            <a:xfrm>
              <a:off x="10320528" y="5061204"/>
              <a:ext cx="914400" cy="274320"/>
            </a:xfrm>
            <a:prstGeom prst="rect">
              <a:avLst/>
            </a:prstGeom>
            <a:noFill/>
          </p:spPr>
          <p:txBody>
            <a:bodyPr wrap="square" lIns="54864" rIns="54864" tIns="22860" bIns="22860">
              <a:spAutoFit/>
            </a:bodyPr>
            <a:lstStyle/>
            <a:p>
              <a:pPr>
                <a:lnSpc>
                  <a:spcPts val="1260"/>
                </a:lnSpc>
                <a:spcBef>
                  <a:spcPts val="0"/>
                </a:spcBef>
                <a:spcAft>
                  <a:spcPts val="0"/>
                </a:spcAft>
                <a:defRPr sz="1200" b="1">
                  <a:solidFill>
                    <a:srgbClr val="182B3A"/>
                  </a:solidFill>
                  <a:latin typeface="Arial"/>
                </a:defRPr>
              </a:pPr>
              <a:r>
                <a:t>B</a:t>
              </a:r>
            </a:p>
          </p:txBody>
        </p:sp>
        <p:sp>
          <p:nvSpPr>
            <p:cNvPr id="80" name="Rectangle 79"/>
            <p:cNvSpPr/>
            <p:nvPr/>
          </p:nvSpPr>
          <p:spPr>
            <a:xfrm>
              <a:off x="11234928" y="5084064"/>
              <a:ext cx="352424" cy="210312"/>
            </a:xfrm>
            <a:prstGeom prst="rect">
              <a:avLst/>
            </a:prstGeom>
            <a:solidFill>
              <a:srgbClr val="F5F0F7"/>
            </a:solidFill>
            <a:ln w="7620">
              <a:solidFill>
                <a:srgbClr val="754B87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1" name="Rectangle 80"/>
            <p:cNvSpPr/>
            <p:nvPr/>
          </p:nvSpPr>
          <p:spPr>
            <a:xfrm>
              <a:off x="11587353" y="5084064"/>
              <a:ext cx="352424" cy="210312"/>
            </a:xfrm>
            <a:prstGeom prst="rect">
              <a:avLst/>
            </a:prstGeom>
            <a:solidFill>
              <a:srgbClr val="F5F0F7"/>
            </a:solidFill>
            <a:ln w="7620">
              <a:solidFill>
                <a:srgbClr val="754B87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2" name="Rectangle 81"/>
            <p:cNvSpPr/>
            <p:nvPr/>
          </p:nvSpPr>
          <p:spPr>
            <a:xfrm>
              <a:off x="11939778" y="5084064"/>
              <a:ext cx="352424" cy="210312"/>
            </a:xfrm>
            <a:prstGeom prst="rect">
              <a:avLst/>
            </a:prstGeom>
            <a:solidFill>
              <a:srgbClr val="F5F0F7"/>
            </a:solidFill>
            <a:ln w="7620">
              <a:solidFill>
                <a:srgbClr val="754B87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3" name="Rectangle 82"/>
            <p:cNvSpPr/>
            <p:nvPr/>
          </p:nvSpPr>
          <p:spPr>
            <a:xfrm>
              <a:off x="12292203" y="5084064"/>
              <a:ext cx="352424" cy="210312"/>
            </a:xfrm>
            <a:prstGeom prst="rect">
              <a:avLst/>
            </a:prstGeom>
            <a:solidFill>
              <a:srgbClr val="F5F0F7"/>
            </a:solidFill>
            <a:ln w="7620">
              <a:solidFill>
                <a:srgbClr val="754B87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4" name="Rectangle 83"/>
            <p:cNvSpPr/>
            <p:nvPr/>
          </p:nvSpPr>
          <p:spPr>
            <a:xfrm>
              <a:off x="12644628" y="5084064"/>
              <a:ext cx="352424" cy="210312"/>
            </a:xfrm>
            <a:prstGeom prst="rect">
              <a:avLst/>
            </a:prstGeom>
            <a:solidFill>
              <a:srgbClr val="F5F0F7"/>
            </a:solidFill>
            <a:ln w="7620">
              <a:solidFill>
                <a:srgbClr val="754B87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5" name="Rectangle 84"/>
            <p:cNvSpPr/>
            <p:nvPr/>
          </p:nvSpPr>
          <p:spPr>
            <a:xfrm>
              <a:off x="12997053" y="5084064"/>
              <a:ext cx="352424" cy="210312"/>
            </a:xfrm>
            <a:prstGeom prst="rect">
              <a:avLst/>
            </a:prstGeom>
            <a:solidFill>
              <a:srgbClr val="F5F0F7"/>
            </a:solidFill>
            <a:ln w="7620">
              <a:solidFill>
                <a:srgbClr val="754B87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6" name="Rectangle 85"/>
            <p:cNvSpPr/>
            <p:nvPr/>
          </p:nvSpPr>
          <p:spPr>
            <a:xfrm>
              <a:off x="13349478" y="5084064"/>
              <a:ext cx="352424" cy="210312"/>
            </a:xfrm>
            <a:prstGeom prst="rect">
              <a:avLst/>
            </a:prstGeom>
            <a:solidFill>
              <a:srgbClr val="F5F0F7"/>
            </a:solidFill>
            <a:ln w="7620">
              <a:solidFill>
                <a:srgbClr val="754B87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7" name="Rectangle 86"/>
            <p:cNvSpPr/>
            <p:nvPr/>
          </p:nvSpPr>
          <p:spPr>
            <a:xfrm>
              <a:off x="13701903" y="5084064"/>
              <a:ext cx="352424" cy="210312"/>
            </a:xfrm>
            <a:prstGeom prst="rect">
              <a:avLst/>
            </a:prstGeom>
            <a:solidFill>
              <a:srgbClr val="F5F0F7"/>
            </a:solidFill>
            <a:ln w="7620">
              <a:solidFill>
                <a:srgbClr val="754B87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88" name="Connector 87"/>
            <p:cNvCxnSpPr/>
            <p:nvPr/>
          </p:nvCxnSpPr>
          <p:spPr>
            <a:xfrm>
              <a:off x="12997053" y="5376672"/>
              <a:ext cx="1057275" cy="0"/>
            </a:xfrm>
            <a:prstGeom prst="line">
              <a:avLst/>
            </a:prstGeom>
            <a:ln w="15240">
              <a:solidFill>
                <a:srgbClr val="754B8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Connector 88"/>
            <p:cNvCxnSpPr/>
            <p:nvPr/>
          </p:nvCxnSpPr>
          <p:spPr>
            <a:xfrm>
              <a:off x="12997053" y="5330952"/>
              <a:ext cx="0" cy="91440"/>
            </a:xfrm>
            <a:prstGeom prst="line">
              <a:avLst/>
            </a:prstGeom>
            <a:ln w="15240">
              <a:solidFill>
                <a:srgbClr val="754B8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Connector 89"/>
            <p:cNvCxnSpPr/>
            <p:nvPr/>
          </p:nvCxnSpPr>
          <p:spPr>
            <a:xfrm>
              <a:off x="14054328" y="5330952"/>
              <a:ext cx="0" cy="91440"/>
            </a:xfrm>
            <a:prstGeom prst="line">
              <a:avLst/>
            </a:prstGeom>
            <a:ln w="15240">
              <a:solidFill>
                <a:srgbClr val="754B8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1" name="TextBox 90"/>
            <p:cNvSpPr txBox="1"/>
            <p:nvPr/>
          </p:nvSpPr>
          <p:spPr>
            <a:xfrm>
              <a:off x="11234928" y="5413248"/>
              <a:ext cx="3002280" cy="256032"/>
            </a:xfrm>
            <a:prstGeom prst="rect">
              <a:avLst/>
            </a:prstGeom>
            <a:noFill/>
          </p:spPr>
          <p:txBody>
            <a:bodyPr wrap="square" lIns="54864" rIns="54864" tIns="22860" bIns="22860">
              <a:spAutoFit/>
            </a:bodyPr>
            <a:lstStyle/>
            <a:p>
              <a:pPr>
                <a:lnSpc>
                  <a:spcPts val="1260"/>
                </a:lnSpc>
                <a:spcBef>
                  <a:spcPts val="0"/>
                </a:spcBef>
                <a:spcAft>
                  <a:spcPts val="0"/>
                </a:spcAft>
                <a:defRPr sz="1200" b="1">
                  <a:solidFill>
                    <a:srgbClr val="754B87"/>
                  </a:solidFill>
                  <a:latin typeface="Arial"/>
                </a:defRPr>
              </a:pPr>
              <a:r>
                <a:t>3 extra parts = 21 cm</a:t>
              </a:r>
            </a:p>
          </p:txBody>
        </p:sp>
        <p:sp>
          <p:nvSpPr>
            <p:cNvPr id="92" name="TextBox 91"/>
            <p:cNvSpPr txBox="1"/>
            <p:nvPr/>
          </p:nvSpPr>
          <p:spPr>
            <a:xfrm>
              <a:off x="11234928" y="5696712"/>
              <a:ext cx="3002280" cy="265176"/>
            </a:xfrm>
            <a:prstGeom prst="rect">
              <a:avLst/>
            </a:prstGeom>
            <a:noFill/>
          </p:spPr>
          <p:txBody>
            <a:bodyPr wrap="square" lIns="54864" rIns="54864" tIns="22860" bIns="22860">
              <a:spAutoFit/>
            </a:bodyPr>
            <a:lstStyle/>
            <a:p>
              <a:pPr>
                <a:lnSpc>
                  <a:spcPts val="1365"/>
                </a:lnSpc>
                <a:spcBef>
                  <a:spcPts val="0"/>
                </a:spcBef>
                <a:spcAft>
                  <a:spcPts val="0"/>
                </a:spcAft>
                <a:defRPr sz="1300" b="1">
                  <a:solidFill>
                    <a:srgbClr val="754B87"/>
                  </a:solidFill>
                  <a:latin typeface="Arial"/>
                </a:defRPr>
              </a:pPr>
              <a:r>
                <a:t>1 part = 7 cm</a:t>
              </a:r>
            </a:p>
          </p:txBody>
        </p:sp>
      </p:grpSp>
      <p:sp>
        <p:nvSpPr>
          <p:cNvPr id="93" name="Rectangle 92"/>
          <p:cNvSpPr/>
          <p:nvPr/>
        </p:nvSpPr>
        <p:spPr>
          <a:xfrm>
            <a:off x="320040" y="5980176"/>
            <a:ext cx="1801367" cy="1307592"/>
          </a:xfrm>
          <a:prstGeom prst="rect">
            <a:avLst/>
          </a:prstGeom>
          <a:solidFill>
            <a:srgbClr val="E8EDF1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374904" y="6053328"/>
            <a:ext cx="1691639" cy="116128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82B3A"/>
                </a:solidFill>
                <a:latin typeface="Arial"/>
              </a:defRPr>
            </a:pPr>
            <a:r>
              <a:t>Ballpark Check &amp; Math</a:t>
            </a:r>
          </a:p>
        </p:txBody>
      </p:sp>
      <p:sp>
        <p:nvSpPr>
          <p:cNvPr id="95" name="Rectangle 94"/>
          <p:cNvSpPr/>
          <p:nvPr/>
        </p:nvSpPr>
        <p:spPr>
          <a:xfrm>
            <a:off x="2121408" y="5980176"/>
            <a:ext cx="4062984" cy="1307592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2167127" y="6053328"/>
            <a:ext cx="3971544" cy="116128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B is more than half of 96 cm. 56 cm fits; 40 cm + 56 cm = 96 cm.</a:t>
            </a:r>
          </a:p>
        </p:txBody>
      </p:sp>
      <p:sp>
        <p:nvSpPr>
          <p:cNvPr id="97" name="Rectangle 96"/>
          <p:cNvSpPr/>
          <p:nvPr/>
        </p:nvSpPr>
        <p:spPr>
          <a:xfrm>
            <a:off x="6184392" y="5980176"/>
            <a:ext cx="4062984" cy="1307592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6230112" y="6053328"/>
            <a:ext cx="3971544" cy="116128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Water is between 3 and 4 times the juice: between 54 and 72 litres. 63 fits.</a:t>
            </a:r>
          </a:p>
        </p:txBody>
      </p:sp>
      <p:sp>
        <p:nvSpPr>
          <p:cNvPr id="99" name="Rectangle 98"/>
          <p:cNvSpPr/>
          <p:nvPr/>
        </p:nvSpPr>
        <p:spPr>
          <a:xfrm>
            <a:off x="10247376" y="5980176"/>
            <a:ext cx="4062984" cy="1307592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10293096" y="6053328"/>
            <a:ext cx="3971544" cy="116128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The total is just over 4 times the 21 cm difference. 4 × 21 = 84; 91 is reasonable.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320040" y="7287768"/>
            <a:ext cx="1801367" cy="557784"/>
          </a:xfrm>
          <a:prstGeom prst="rect">
            <a:avLst/>
          </a:prstGeom>
          <a:solidFill>
            <a:srgbClr val="E8EDF1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374904" y="7360919"/>
            <a:ext cx="1691639" cy="411479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82B3A"/>
                </a:solidFill>
                <a:latin typeface="Arial"/>
              </a:defRPr>
            </a:pPr>
            <a:r>
              <a:t>Final Answer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2121408" y="7287768"/>
            <a:ext cx="4062984" cy="557784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2167127" y="7360919"/>
            <a:ext cx="3971544" cy="411479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B is 56 cm.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6184392" y="7287768"/>
            <a:ext cx="4062984" cy="557784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6230112" y="7360919"/>
            <a:ext cx="3971544" cy="411479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63 litres of water.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10247376" y="7287768"/>
            <a:ext cx="4062984" cy="557784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10293096" y="7360919"/>
            <a:ext cx="3971544" cy="411479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91 cm altogether.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73152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13990320" cy="45720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94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182B3A"/>
                </a:solidFill>
                <a:latin typeface="Arial"/>
              </a:defRPr>
            </a:pPr>
            <a:r>
              <a:t>Ratio: check your method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04088"/>
            <a:ext cx="13990320" cy="34747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575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526472"/>
                </a:solidFill>
                <a:latin typeface="Arial"/>
              </a:defRPr>
            </a:pPr>
            <a:r>
              <a:t>Step-by-step practice 2 • Compare your working; correct the first wrong step.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973568"/>
            <a:ext cx="10789920" cy="21031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GCSE Maths revision • No calculator • Show your working.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7973568"/>
            <a:ext cx="3108960" cy="21031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M04-S03-B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115568"/>
            <a:ext cx="4640580" cy="420624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7472" y="1147572"/>
            <a:ext cx="4581144" cy="32918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Thread 1: Guided</a:t>
            </a:r>
          </a:p>
        </p:txBody>
      </p:sp>
      <p:sp>
        <p:nvSpPr>
          <p:cNvPr id="9" name="Rectangle 8"/>
          <p:cNvSpPr/>
          <p:nvPr/>
        </p:nvSpPr>
        <p:spPr>
          <a:xfrm>
            <a:off x="4983480" y="1115568"/>
            <a:ext cx="4640580" cy="420624"/>
          </a:xfrm>
          <a:prstGeom prst="rect">
            <a:avLst/>
          </a:prstGeom>
          <a:solidFill>
            <a:srgbClr val="3559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10912" y="1147572"/>
            <a:ext cx="4581144" cy="32918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Thread 2: Core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646920" y="1115568"/>
            <a:ext cx="4640580" cy="420624"/>
          </a:xfrm>
          <a:prstGeom prst="rect">
            <a:avLst/>
          </a:prstGeom>
          <a:solidFill>
            <a:srgbClr val="754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74352" y="1147572"/>
            <a:ext cx="4581144" cy="32918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Thread 3: Depth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1645920"/>
            <a:ext cx="4631436" cy="1828800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79" y="1737360"/>
            <a:ext cx="4453128" cy="3657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76B73"/>
                </a:solidFill>
                <a:latin typeface="Arial"/>
              </a:defRPr>
            </a:pPr>
            <a:r>
              <a:t>Method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79" y="2176272"/>
            <a:ext cx="4453128" cy="119786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12 parts; 96 cm ÷ 12 = 8 cm per part; 8 cm × 7 = 56 cm for B.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3593592"/>
            <a:ext cx="4631436" cy="2258568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1479" y="3685032"/>
            <a:ext cx="4453128" cy="3657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76B73"/>
                </a:solidFill>
                <a:latin typeface="Arial"/>
              </a:defRPr>
            </a:pPr>
            <a:r>
              <a:t>If you got…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79" y="4123944"/>
            <a:ext cx="4453128" cy="162763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40 cm: check whether you used 8 cm × 5. That is piece A; the question asks for B.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5971032"/>
            <a:ext cx="4631436" cy="1691640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1479" y="6062472"/>
            <a:ext cx="4453128" cy="3657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76B73"/>
                </a:solidFill>
                <a:latin typeface="Arial"/>
              </a:defRPr>
            </a:pPr>
            <a:r>
              <a:t>Check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79" y="6501384"/>
            <a:ext cx="4453128" cy="106070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40 cm + 56 cm = 96 cm. B is more than half of 96 cm.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983480" y="1645920"/>
            <a:ext cx="4631436" cy="1828800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74920" y="1737360"/>
            <a:ext cx="4453128" cy="3657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3559A2"/>
                </a:solidFill>
                <a:latin typeface="Arial"/>
              </a:defRPr>
            </a:pPr>
            <a:r>
              <a:t>Method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74920" y="2176272"/>
            <a:ext cx="4453128" cy="119786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18 litres represent 2 parts. 18 ÷ 2 = 9 per part; 9 × 7 = 63 litres of water.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983480" y="3593592"/>
            <a:ext cx="4631436" cy="2258568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74920" y="3685032"/>
            <a:ext cx="4453128" cy="3657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3559A2"/>
                </a:solidFill>
                <a:latin typeface="Arial"/>
              </a:defRPr>
            </a:pPr>
            <a:r>
              <a:t>If you got…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74920" y="4123944"/>
            <a:ext cx="4453128" cy="162763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23 litres: check whether you used 18 + (7 − 2). Five extra parts do not mean five extra litres.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983480" y="5971032"/>
            <a:ext cx="4631436" cy="1691640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74920" y="6062472"/>
            <a:ext cx="4453128" cy="3657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3559A2"/>
                </a:solidFill>
                <a:latin typeface="Arial"/>
              </a:defRPr>
            </a:pPr>
            <a:r>
              <a:t>Check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74920" y="6501384"/>
            <a:ext cx="4453128" cy="106070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18:63 simplifies to 2:7. Water is between 3 and 4 times the juice: 54 to 72 litres.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646920" y="1645920"/>
            <a:ext cx="4631436" cy="1828800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738360" y="1737360"/>
            <a:ext cx="4453128" cy="3657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754B87"/>
                </a:solidFill>
                <a:latin typeface="Arial"/>
              </a:defRPr>
            </a:pPr>
            <a:r>
              <a:t>Method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738360" y="2176272"/>
            <a:ext cx="4453128" cy="119786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The difference is 8 − 5 = 3 parts. 21 ÷ 3 = 7 cm per part; 7 × 13 = 91 cm.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646920" y="3593592"/>
            <a:ext cx="4631436" cy="2258568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738360" y="3685032"/>
            <a:ext cx="4453128" cy="3657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754B87"/>
                </a:solidFill>
                <a:latin typeface="Arial"/>
              </a:defRPr>
            </a:pPr>
            <a:r>
              <a:t>If you got…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738360" y="4123944"/>
            <a:ext cx="4453128" cy="162763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273 cm: check whether you used 21 × 13. The 21 cm represents 3 parts, not 1.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646920" y="5971032"/>
            <a:ext cx="4631436" cy="1691640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738360" y="6062472"/>
            <a:ext cx="4453128" cy="3657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754B87"/>
                </a:solidFill>
                <a:latin typeface="Arial"/>
              </a:defRPr>
            </a:pPr>
            <a:r>
              <a:t>Check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738360" y="6501384"/>
            <a:ext cx="4453128" cy="106070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Lengths: 35 cm and 56 cm. Difference: 21 cm. Total: 91 cm.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73152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13990320" cy="45720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94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182B3A"/>
                </a:solidFill>
                <a:latin typeface="Arial"/>
              </a:defRPr>
            </a:pPr>
            <a:r>
              <a:t>Ratio: answers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04088"/>
            <a:ext cx="13990320" cy="34747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575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526472"/>
                </a:solidFill>
                <a:latin typeface="Arial"/>
              </a:defRPr>
            </a:pPr>
            <a:r>
              <a:t>Independent practice 1 • Match the thread and question number.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973568"/>
            <a:ext cx="10789920" cy="21031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GCSE Maths revision • No calculator • Show your working.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7973568"/>
            <a:ext cx="3108960" cy="21031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M04-S04-A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115568"/>
            <a:ext cx="4640580" cy="420624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7472" y="1147572"/>
            <a:ext cx="4581144" cy="32918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Thread 1: Guided</a:t>
            </a:r>
          </a:p>
        </p:txBody>
      </p:sp>
      <p:sp>
        <p:nvSpPr>
          <p:cNvPr id="9" name="Rectangle 8"/>
          <p:cNvSpPr/>
          <p:nvPr/>
        </p:nvSpPr>
        <p:spPr>
          <a:xfrm>
            <a:off x="4983480" y="1115568"/>
            <a:ext cx="4640580" cy="420624"/>
          </a:xfrm>
          <a:prstGeom prst="rect">
            <a:avLst/>
          </a:prstGeom>
          <a:solidFill>
            <a:srgbClr val="3559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10912" y="1147572"/>
            <a:ext cx="4581144" cy="32918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Thread 2: Core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646920" y="1115568"/>
            <a:ext cx="4640580" cy="420624"/>
          </a:xfrm>
          <a:prstGeom prst="rect">
            <a:avLst/>
          </a:prstGeom>
          <a:solidFill>
            <a:srgbClr val="754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74352" y="1147572"/>
            <a:ext cx="4581144" cy="32918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Thread 3: Depth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1609344"/>
            <a:ext cx="4640580" cy="804672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93192" y="1792224"/>
            <a:ext cx="4517136" cy="47548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176B73"/>
                </a:solidFill>
                <a:latin typeface="Arial"/>
              </a:defRPr>
            </a:pPr>
            <a:r>
              <a:t>1.  £36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983480" y="1609344"/>
            <a:ext cx="4640580" cy="804672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56632" y="1792224"/>
            <a:ext cx="4517136" cy="47548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3559A2"/>
                </a:solidFill>
                <a:latin typeface="Arial"/>
              </a:defRPr>
            </a:pPr>
            <a:r>
              <a:t>1.  300 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646920" y="1609344"/>
            <a:ext cx="4640580" cy="804672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720072" y="1792224"/>
            <a:ext cx="4517136" cy="47548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754B87"/>
                </a:solidFill>
                <a:latin typeface="Arial"/>
              </a:defRPr>
            </a:pPr>
            <a:r>
              <a:t>1.  24 m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2414016"/>
            <a:ext cx="4640580" cy="804672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93192" y="2596896"/>
            <a:ext cx="4517136" cy="47548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176B73"/>
                </a:solidFill>
                <a:latin typeface="Arial"/>
              </a:defRPr>
            </a:pPr>
            <a:r>
              <a:t>2.  120 ml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983480" y="2414016"/>
            <a:ext cx="4640580" cy="804672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56632" y="2596896"/>
            <a:ext cx="4517136" cy="47548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3559A2"/>
                </a:solidFill>
                <a:latin typeface="Arial"/>
              </a:defRPr>
            </a:pPr>
            <a:r>
              <a:t>2.  24 tickets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646920" y="2414016"/>
            <a:ext cx="4640580" cy="804672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720072" y="2478024"/>
            <a:ext cx="4517136" cy="676656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754B87"/>
                </a:solidFill>
                <a:latin typeface="Arial"/>
              </a:defRPr>
            </a:pPr>
            <a:r>
              <a:t>2.  Red: 6 counters</a:t>
            </a:r>
          </a:p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754B87"/>
                </a:solidFill>
                <a:latin typeface="Arial"/>
              </a:defRPr>
            </a:pPr>
            <a:r>
              <a:t>    Blue: 30 counters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0040" y="3218688"/>
            <a:ext cx="4640580" cy="804672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93192" y="3282696"/>
            <a:ext cx="4517136" cy="676656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76B73"/>
                </a:solidFill>
                <a:latin typeface="Arial"/>
              </a:defRPr>
            </a:pPr>
            <a:r>
              <a:t>3.  Shorter: 40 cm</a:t>
            </a:r>
          </a:p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76B73"/>
                </a:solidFill>
                <a:latin typeface="Arial"/>
              </a:defRPr>
            </a:pPr>
            <a:r>
              <a:t>    Longer: 56 cm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983480" y="3218688"/>
            <a:ext cx="4640580" cy="804672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56632" y="3401568"/>
            <a:ext cx="4517136" cy="47548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3559A2"/>
                </a:solidFill>
                <a:latin typeface="Arial"/>
              </a:defRPr>
            </a:pPr>
            <a:r>
              <a:t>3.  20 m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646920" y="3218688"/>
            <a:ext cx="4640580" cy="804672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720072" y="3401568"/>
            <a:ext cx="4517136" cy="47548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754B87"/>
                </a:solidFill>
                <a:latin typeface="Arial"/>
              </a:defRPr>
            </a:pPr>
            <a:r>
              <a:t>3.  £40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0040" y="4023360"/>
            <a:ext cx="4640580" cy="804672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93192" y="4206240"/>
            <a:ext cx="4517136" cy="47548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176B73"/>
                </a:solidFill>
                <a:latin typeface="Arial"/>
              </a:defRPr>
            </a:pPr>
            <a:r>
              <a:t>4.  30 beads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983480" y="4023360"/>
            <a:ext cx="4640580" cy="804672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56632" y="4206240"/>
            <a:ext cx="4517136" cy="47548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3559A2"/>
                </a:solidFill>
                <a:latin typeface="Arial"/>
              </a:defRPr>
            </a:pPr>
            <a:r>
              <a:t>4.  £63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646920" y="4023360"/>
            <a:ext cx="4640580" cy="804672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720072" y="4206240"/>
            <a:ext cx="4517136" cy="47548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754B87"/>
                </a:solidFill>
                <a:latin typeface="Arial"/>
              </a:defRPr>
            </a:pPr>
            <a:r>
              <a:t>4.  675 g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20040" y="4828032"/>
            <a:ext cx="4640580" cy="804672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93192" y="5010912"/>
            <a:ext cx="4517136" cy="47548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176B73"/>
                </a:solidFill>
                <a:latin typeface="Arial"/>
              </a:defRPr>
            </a:pPr>
            <a:r>
              <a:t>5.  250 g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983480" y="4828032"/>
            <a:ext cx="4640580" cy="804672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056632" y="5010912"/>
            <a:ext cx="4517136" cy="47548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3559A2"/>
                </a:solidFill>
                <a:latin typeface="Arial"/>
              </a:defRPr>
            </a:pPr>
            <a:r>
              <a:t>5.  18 L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646920" y="4828032"/>
            <a:ext cx="4640580" cy="804672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720072" y="4892040"/>
            <a:ext cx="4517136" cy="676656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754B87"/>
                </a:solidFill>
                <a:latin typeface="Arial"/>
              </a:defRPr>
            </a:pPr>
            <a:r>
              <a:t>5.  Water: 1200 ml</a:t>
            </a:r>
          </a:p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754B87"/>
                </a:solidFill>
                <a:latin typeface="Arial"/>
              </a:defRPr>
            </a:pPr>
            <a:r>
              <a:t>    Juice: 200 ml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20040" y="5632704"/>
            <a:ext cx="4640580" cy="804672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93192" y="5815584"/>
            <a:ext cx="4517136" cy="47548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176B73"/>
                </a:solidFill>
                <a:latin typeface="Arial"/>
              </a:defRPr>
            </a:pPr>
            <a:r>
              <a:t>6.  18 min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983480" y="5632704"/>
            <a:ext cx="4640580" cy="804672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056632" y="5815584"/>
            <a:ext cx="4517136" cy="47548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3559A2"/>
                </a:solidFill>
                <a:latin typeface="Arial"/>
              </a:defRPr>
            </a:pPr>
            <a:r>
              <a:t>6.  40 min</a:t>
            </a:r>
          </a:p>
        </p:txBody>
      </p:sp>
      <p:sp>
        <p:nvSpPr>
          <p:cNvPr id="47" name="Rectangle 46"/>
          <p:cNvSpPr/>
          <p:nvPr/>
        </p:nvSpPr>
        <p:spPr>
          <a:xfrm>
            <a:off x="9646920" y="5632704"/>
            <a:ext cx="4640580" cy="804672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720072" y="5815584"/>
            <a:ext cx="4517136" cy="47548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754B87"/>
                </a:solidFill>
                <a:latin typeface="Arial"/>
              </a:defRPr>
            </a:pPr>
            <a:r>
              <a:t>6.  99 min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65760" y="6656832"/>
            <a:ext cx="13807440" cy="5943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31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182B3A"/>
                </a:solidFill>
                <a:latin typeface="Arial"/>
              </a:defRPr>
            </a:pPr>
            <a:r>
              <a:t>Check what is requested: one amount, both amounts, a total or a difference.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65760" y="7315200"/>
            <a:ext cx="13807440" cy="41148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526472"/>
                </a:solidFill>
                <a:latin typeface="Arial"/>
              </a:defRPr>
            </a:pPr>
            <a:r>
              <a:t>The next slide checks a method and a possible error in each thread.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73152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13990320" cy="45720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94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182B3A"/>
                </a:solidFill>
                <a:latin typeface="Arial"/>
              </a:defRPr>
            </a:pPr>
            <a:r>
              <a:t>Ratio: check your method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04088"/>
            <a:ext cx="13990320" cy="34747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575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526472"/>
                </a:solidFill>
                <a:latin typeface="Arial"/>
              </a:defRPr>
            </a:pPr>
            <a:r>
              <a:t>Independent practice 1 • Compare your working; correct the first wrong step.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973568"/>
            <a:ext cx="10789920" cy="21031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GCSE Maths revision • No calculator • Show your working.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7973568"/>
            <a:ext cx="3108960" cy="21031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M04-S04-B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115568"/>
            <a:ext cx="4640580" cy="420624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7472" y="1147572"/>
            <a:ext cx="4581144" cy="32918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Thread 1: Guided</a:t>
            </a:r>
          </a:p>
        </p:txBody>
      </p:sp>
      <p:sp>
        <p:nvSpPr>
          <p:cNvPr id="9" name="Rectangle 8"/>
          <p:cNvSpPr/>
          <p:nvPr/>
        </p:nvSpPr>
        <p:spPr>
          <a:xfrm>
            <a:off x="4983480" y="1115568"/>
            <a:ext cx="4640580" cy="420624"/>
          </a:xfrm>
          <a:prstGeom prst="rect">
            <a:avLst/>
          </a:prstGeom>
          <a:solidFill>
            <a:srgbClr val="3559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10912" y="1147572"/>
            <a:ext cx="4581144" cy="32918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Thread 2: Core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646920" y="1115568"/>
            <a:ext cx="4640580" cy="420624"/>
          </a:xfrm>
          <a:prstGeom prst="rect">
            <a:avLst/>
          </a:prstGeom>
          <a:solidFill>
            <a:srgbClr val="754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74352" y="1147572"/>
            <a:ext cx="4581144" cy="32918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Thread 3: Depth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1645920"/>
            <a:ext cx="4631436" cy="1828800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79" y="1737360"/>
            <a:ext cx="4453128" cy="3657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76B73"/>
                </a:solidFill>
                <a:latin typeface="Arial"/>
              </a:defRPr>
            </a:pPr>
            <a:r>
              <a:t>Method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79" y="2176272"/>
            <a:ext cx="4453128" cy="119786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Q4: 5 − 3 = 2 parts. 12 ÷ 2 = 6 beads per part. Blue: 6 × 5 = 30 beads.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3593592"/>
            <a:ext cx="4631436" cy="2258568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1479" y="3685032"/>
            <a:ext cx="4453128" cy="3657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76B73"/>
                </a:solidFill>
                <a:latin typeface="Arial"/>
              </a:defRPr>
            </a:pPr>
            <a:r>
              <a:t>If you got…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79" y="4123944"/>
            <a:ext cx="4453128" cy="162763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Q4 — 60 beads: check whether you used 12 × 5. The 12 extra beads are 2 parts, not 1.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5971032"/>
            <a:ext cx="4631436" cy="1691640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1479" y="6062472"/>
            <a:ext cx="4453128" cy="3657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76B73"/>
                </a:solidFill>
                <a:latin typeface="Arial"/>
              </a:defRPr>
            </a:pPr>
            <a:r>
              <a:t>Check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79" y="6501384"/>
            <a:ext cx="4453128" cy="106070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Q4: Red 18, blue 30. 30 − 18 = 12; 18:30 = 3:5.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983480" y="1645920"/>
            <a:ext cx="4631436" cy="1828800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74920" y="1737360"/>
            <a:ext cx="4453128" cy="3657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3559A2"/>
                </a:solidFill>
                <a:latin typeface="Arial"/>
              </a:defRPr>
            </a:pPr>
            <a:r>
              <a:t>Method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74920" y="2176272"/>
            <a:ext cx="4453128" cy="119786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Q3: 7 − 4 = 3 parts. 15 ÷ 3 = 5 m per part. Rope A: 5 × 4 = 20 m.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983480" y="3593592"/>
            <a:ext cx="4631436" cy="2258568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74920" y="3685032"/>
            <a:ext cx="4453128" cy="3657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3559A2"/>
                </a:solidFill>
                <a:latin typeface="Arial"/>
              </a:defRPr>
            </a:pPr>
            <a:r>
              <a:t>If you got…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74920" y="4123944"/>
            <a:ext cx="4453128" cy="162763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Q3 — 60 m: check whether you used 15 × 4. The 15 m difference represents 3 parts, not 1.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983480" y="5971032"/>
            <a:ext cx="4631436" cy="1691640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74920" y="6062472"/>
            <a:ext cx="4453128" cy="3657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3559A2"/>
                </a:solidFill>
                <a:latin typeface="Arial"/>
              </a:defRPr>
            </a:pPr>
            <a:r>
              <a:t>Check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74920" y="6501384"/>
            <a:ext cx="4453128" cy="106070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Q3: A is 20 m; B is 35 m. Difference 15 m; ratio 4:7.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646920" y="1645920"/>
            <a:ext cx="4631436" cy="1828800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738360" y="1737360"/>
            <a:ext cx="4453128" cy="3657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754B87"/>
                </a:solidFill>
                <a:latin typeface="Arial"/>
              </a:defRPr>
            </a:pPr>
            <a:r>
              <a:t>Method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738360" y="2176272"/>
            <a:ext cx="4453128" cy="119786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Q3: 7 + 3 = 10 parts. £100 ÷ 10 = £10 per part. Shares £70 and £30; difference £40.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646920" y="3593592"/>
            <a:ext cx="4631436" cy="2258568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738360" y="3685032"/>
            <a:ext cx="4453128" cy="3657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754B87"/>
                </a:solidFill>
                <a:latin typeface="Arial"/>
              </a:defRPr>
            </a:pPr>
            <a:r>
              <a:t>If you got…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738360" y="4123944"/>
            <a:ext cx="4453128" cy="162763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Q3 — £70: check whether you stopped at £10 × 7. That is Ava’s share; subtract Leo’s £30.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646920" y="5971032"/>
            <a:ext cx="4631436" cy="1691640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738360" y="6062472"/>
            <a:ext cx="4453128" cy="3657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754B87"/>
                </a:solidFill>
                <a:latin typeface="Arial"/>
              </a:defRPr>
            </a:pPr>
            <a:r>
              <a:t>Check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738360" y="6501384"/>
            <a:ext cx="4453128" cy="106070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Q3: £70 + £30 = £100; £70 − £30 = £40.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73152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13990320" cy="45720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94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182B3A"/>
                </a:solidFill>
                <a:latin typeface="Arial"/>
              </a:defRPr>
            </a:pPr>
            <a:r>
              <a:t>Ratio: answers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04088"/>
            <a:ext cx="13990320" cy="34747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575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526472"/>
                </a:solidFill>
                <a:latin typeface="Arial"/>
              </a:defRPr>
            </a:pPr>
            <a:r>
              <a:t>Independent practice 2 • Match the thread and question number.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973568"/>
            <a:ext cx="10789920" cy="21031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GCSE Maths revision • No calculator • Show your working.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7973568"/>
            <a:ext cx="3108960" cy="21031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M04-S05-A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115568"/>
            <a:ext cx="4640580" cy="420624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7472" y="1147572"/>
            <a:ext cx="4581144" cy="32918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Thread 1: Guided</a:t>
            </a:r>
          </a:p>
        </p:txBody>
      </p:sp>
      <p:sp>
        <p:nvSpPr>
          <p:cNvPr id="9" name="Rectangle 8"/>
          <p:cNvSpPr/>
          <p:nvPr/>
        </p:nvSpPr>
        <p:spPr>
          <a:xfrm>
            <a:off x="4983480" y="1115568"/>
            <a:ext cx="4640580" cy="420624"/>
          </a:xfrm>
          <a:prstGeom prst="rect">
            <a:avLst/>
          </a:prstGeom>
          <a:solidFill>
            <a:srgbClr val="3559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10912" y="1147572"/>
            <a:ext cx="4581144" cy="32918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Thread 2: Core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646920" y="1115568"/>
            <a:ext cx="4640580" cy="420624"/>
          </a:xfrm>
          <a:prstGeom prst="rect">
            <a:avLst/>
          </a:prstGeom>
          <a:solidFill>
            <a:srgbClr val="754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74352" y="1147572"/>
            <a:ext cx="4581144" cy="32918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Thread 3: Depth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1609344"/>
            <a:ext cx="4640580" cy="804672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93192" y="1792224"/>
            <a:ext cx="4517136" cy="47548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176B73"/>
                </a:solidFill>
                <a:latin typeface="Arial"/>
              </a:defRPr>
            </a:pPr>
            <a:r>
              <a:t>1.  70 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983480" y="1609344"/>
            <a:ext cx="4640580" cy="804672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56632" y="1792224"/>
            <a:ext cx="4517136" cy="47548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3559A2"/>
                </a:solidFill>
                <a:latin typeface="Arial"/>
              </a:defRPr>
            </a:pPr>
            <a:r>
              <a:t>1.  27 km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646920" y="1609344"/>
            <a:ext cx="4640580" cy="804672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720072" y="1792224"/>
            <a:ext cx="4517136" cy="47548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754B87"/>
                </a:solidFill>
                <a:latin typeface="Arial"/>
              </a:defRPr>
            </a:pPr>
            <a:r>
              <a:t>1.  440 g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2414016"/>
            <a:ext cx="4640580" cy="804672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93192" y="2596896"/>
            <a:ext cx="4517136" cy="47548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176B73"/>
                </a:solidFill>
                <a:latin typeface="Arial"/>
              </a:defRPr>
            </a:pPr>
            <a:r>
              <a:t>2.  54 m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983480" y="2414016"/>
            <a:ext cx="4640580" cy="804672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56632" y="2596896"/>
            <a:ext cx="4517136" cy="47548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3559A2"/>
                </a:solidFill>
                <a:latin typeface="Arial"/>
              </a:defRPr>
            </a:pPr>
            <a:r>
              <a:t>2.  210 ml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646920" y="2414016"/>
            <a:ext cx="4640580" cy="804672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720072" y="2596896"/>
            <a:ext cx="4517136" cy="47548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754B87"/>
                </a:solidFill>
                <a:latin typeface="Arial"/>
              </a:defRPr>
            </a:pPr>
            <a:r>
              <a:t>2.  25 L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0040" y="3218688"/>
            <a:ext cx="4640580" cy="804672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93192" y="3401568"/>
            <a:ext cx="4517136" cy="47548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176B73"/>
                </a:solidFill>
                <a:latin typeface="Arial"/>
              </a:defRPr>
            </a:pPr>
            <a:r>
              <a:t>3.  30 min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983480" y="3218688"/>
            <a:ext cx="4640580" cy="804672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56632" y="3401568"/>
            <a:ext cx="4517136" cy="47548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3559A2"/>
                </a:solidFill>
                <a:latin typeface="Arial"/>
              </a:defRPr>
            </a:pPr>
            <a:r>
              <a:t>3.  £35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646920" y="3218688"/>
            <a:ext cx="4640580" cy="804672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720072" y="3282696"/>
            <a:ext cx="4517136" cy="676656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754B87"/>
                </a:solidFill>
                <a:latin typeface="Arial"/>
              </a:defRPr>
            </a:pPr>
            <a:r>
              <a:t>3.  Reading: 24 min</a:t>
            </a:r>
          </a:p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754B87"/>
                </a:solidFill>
                <a:latin typeface="Arial"/>
              </a:defRPr>
            </a:pPr>
            <a:r>
              <a:t>    Writing: 54 min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0040" y="4023360"/>
            <a:ext cx="4640580" cy="804672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93192" y="4206240"/>
            <a:ext cx="4517136" cy="47548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176B73"/>
                </a:solidFill>
                <a:latin typeface="Arial"/>
              </a:defRPr>
            </a:pPr>
            <a:r>
              <a:t>4.  £40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983480" y="4023360"/>
            <a:ext cx="4640580" cy="804672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56632" y="4206240"/>
            <a:ext cx="4517136" cy="47548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3559A2"/>
                </a:solidFill>
                <a:latin typeface="Arial"/>
              </a:defRPr>
            </a:pPr>
            <a:r>
              <a:t>4.  12 min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646920" y="4023360"/>
            <a:ext cx="4640580" cy="804672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720072" y="4206240"/>
            <a:ext cx="4517136" cy="47548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754B87"/>
                </a:solidFill>
                <a:latin typeface="Arial"/>
              </a:defRPr>
            </a:pPr>
            <a:r>
              <a:t>4.  63 cm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20040" y="4828032"/>
            <a:ext cx="4640580" cy="804672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93192" y="5010912"/>
            <a:ext cx="4517136" cy="47548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176B73"/>
                </a:solidFill>
                <a:latin typeface="Arial"/>
              </a:defRPr>
            </a:pPr>
            <a:r>
              <a:t>5.  35 flowers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983480" y="4828032"/>
            <a:ext cx="4640580" cy="804672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056632" y="5010912"/>
            <a:ext cx="4517136" cy="47548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3559A2"/>
                </a:solidFill>
                <a:latin typeface="Arial"/>
              </a:defRPr>
            </a:pPr>
            <a:r>
              <a:t>5.  140 g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646920" y="4828032"/>
            <a:ext cx="4640580" cy="804672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720072" y="5010912"/>
            <a:ext cx="4517136" cy="47548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754B87"/>
                </a:solidFill>
                <a:latin typeface="Arial"/>
              </a:defRPr>
            </a:pPr>
            <a:r>
              <a:t>5.  £26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20040" y="5632704"/>
            <a:ext cx="4640580" cy="804672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93192" y="5815584"/>
            <a:ext cx="4517136" cy="47548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176B73"/>
                </a:solidFill>
                <a:latin typeface="Arial"/>
              </a:defRPr>
            </a:pPr>
            <a:r>
              <a:t>6.  240 ml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983480" y="5632704"/>
            <a:ext cx="4640580" cy="804672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056632" y="5815584"/>
            <a:ext cx="4517136" cy="47548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3559A2"/>
                </a:solidFill>
                <a:latin typeface="Arial"/>
              </a:defRPr>
            </a:pPr>
            <a:r>
              <a:t>6.  80 animals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9646920" y="5632704"/>
            <a:ext cx="4640580" cy="804672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720072" y="5815584"/>
            <a:ext cx="4517136" cy="47548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754B87"/>
                </a:solidFill>
                <a:latin typeface="Arial"/>
              </a:defRPr>
            </a:pPr>
            <a:r>
              <a:t>6.  153 tickets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65760" y="6656832"/>
            <a:ext cx="13807440" cy="5943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31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182B3A"/>
                </a:solidFill>
                <a:latin typeface="Arial"/>
              </a:defRPr>
            </a:pPr>
            <a:r>
              <a:t>Check what is requested: one amount, both amounts, a total or a difference.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65760" y="7315200"/>
            <a:ext cx="13807440" cy="41148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526472"/>
                </a:solidFill>
                <a:latin typeface="Arial"/>
              </a:defRPr>
            </a:pPr>
            <a:r>
              <a:t>The next slide checks a method and a possible error in each thread.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73152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13990320" cy="45720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94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182B3A"/>
                </a:solidFill>
                <a:latin typeface="Arial"/>
              </a:defRPr>
            </a:pPr>
            <a:r>
              <a:t>Ratio: check your method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04088"/>
            <a:ext cx="13990320" cy="34747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575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526472"/>
                </a:solidFill>
                <a:latin typeface="Arial"/>
              </a:defRPr>
            </a:pPr>
            <a:r>
              <a:t>Independent practice 2 • Compare your working; correct the first wrong step.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973568"/>
            <a:ext cx="10789920" cy="21031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GCSE Maths revision • No calculator • Show your working.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7973568"/>
            <a:ext cx="3108960" cy="21031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M04-S05-B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115568"/>
            <a:ext cx="4640580" cy="420624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7472" y="1147572"/>
            <a:ext cx="4581144" cy="32918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Thread 1: Guided</a:t>
            </a:r>
          </a:p>
        </p:txBody>
      </p:sp>
      <p:sp>
        <p:nvSpPr>
          <p:cNvPr id="9" name="Rectangle 8"/>
          <p:cNvSpPr/>
          <p:nvPr/>
        </p:nvSpPr>
        <p:spPr>
          <a:xfrm>
            <a:off x="4983480" y="1115568"/>
            <a:ext cx="4640580" cy="420624"/>
          </a:xfrm>
          <a:prstGeom prst="rect">
            <a:avLst/>
          </a:prstGeom>
          <a:solidFill>
            <a:srgbClr val="3559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10912" y="1147572"/>
            <a:ext cx="4581144" cy="32918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Thread 2: Core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646920" y="1115568"/>
            <a:ext cx="4640580" cy="420624"/>
          </a:xfrm>
          <a:prstGeom prst="rect">
            <a:avLst/>
          </a:prstGeom>
          <a:solidFill>
            <a:srgbClr val="754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74352" y="1147572"/>
            <a:ext cx="4581144" cy="32918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Thread 3: Depth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1645920"/>
            <a:ext cx="4631436" cy="1828800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79" y="1737360"/>
            <a:ext cx="4453128" cy="3657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76B73"/>
                </a:solidFill>
                <a:latin typeface="Arial"/>
              </a:defRPr>
            </a:pPr>
            <a:r>
              <a:t>Method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79" y="2176272"/>
            <a:ext cx="4453128" cy="119786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Q5: 5 − 4 = 1 part. The 7 extra flowers are 1 part. White: 7 × 5 = 35 flowers.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3593592"/>
            <a:ext cx="4631436" cy="2258568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1479" y="3685032"/>
            <a:ext cx="4453128" cy="3657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76B73"/>
                </a:solidFill>
                <a:latin typeface="Arial"/>
              </a:defRPr>
            </a:pPr>
            <a:r>
              <a:t>If you got…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79" y="4123944"/>
            <a:ext cx="4453128" cy="162763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Q5 — 28 flowers: check whether you used 7 × 4. That counts red flowers; white has 5 parts.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5971032"/>
            <a:ext cx="4631436" cy="1691640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1479" y="6062472"/>
            <a:ext cx="4453128" cy="3657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76B73"/>
                </a:solidFill>
                <a:latin typeface="Arial"/>
              </a:defRPr>
            </a:pPr>
            <a:r>
              <a:t>Check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79" y="6501384"/>
            <a:ext cx="4453128" cy="106070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Q5: Red 28, white 35. 35 − 28 = 7; 28:35 = 4:5.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983480" y="1645920"/>
            <a:ext cx="4631436" cy="1828800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74920" y="1737360"/>
            <a:ext cx="4453128" cy="3657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3559A2"/>
                </a:solidFill>
                <a:latin typeface="Arial"/>
              </a:defRPr>
            </a:pPr>
            <a:r>
              <a:t>Method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74920" y="2176272"/>
            <a:ext cx="4453128" cy="119786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Q2: 3 + 4 = 7 parts. 490 ÷ 7 = 70 ml per part. Red paint: 70 × 3 = 210 ml.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983480" y="3593592"/>
            <a:ext cx="4631436" cy="2258568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74920" y="3685032"/>
            <a:ext cx="4453128" cy="3657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3559A2"/>
                </a:solidFill>
                <a:latin typeface="Arial"/>
              </a:defRPr>
            </a:pPr>
            <a:r>
              <a:t>If you got…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74920" y="4123944"/>
            <a:ext cx="4453128" cy="162763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Q2 — 70 ml: check whether you stopped after 490 ÷ 7. That is one part; red paint needs 3 parts.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983480" y="5971032"/>
            <a:ext cx="4631436" cy="1691640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74920" y="6062472"/>
            <a:ext cx="4453128" cy="3657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3559A2"/>
                </a:solidFill>
                <a:latin typeface="Arial"/>
              </a:defRPr>
            </a:pPr>
            <a:r>
              <a:t>Check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74920" y="6501384"/>
            <a:ext cx="4453128" cy="106070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Q2: Red 210 ml + white 280 ml = 490 ml; ratio 3:4.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646920" y="1645920"/>
            <a:ext cx="4631436" cy="1828800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738360" y="1737360"/>
            <a:ext cx="4453128" cy="3657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754B87"/>
                </a:solidFill>
                <a:latin typeface="Arial"/>
              </a:defRPr>
            </a:pPr>
            <a:r>
              <a:t>Method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738360" y="2176272"/>
            <a:ext cx="4453128" cy="119786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Q2: Tank A’s 15 litres is 3 parts. 15 ÷ 3 = 5 per part. Tank B: 5 × 8 = 40 litres. Difference: 40 − 15 = 25 litres.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646920" y="3593592"/>
            <a:ext cx="4631436" cy="2258568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738360" y="3685032"/>
            <a:ext cx="4453128" cy="3657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754B87"/>
                </a:solidFill>
                <a:latin typeface="Arial"/>
              </a:defRPr>
            </a:pPr>
            <a:r>
              <a:t>If you got…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738360" y="4123944"/>
            <a:ext cx="4453128" cy="162763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Q2 — 40 litres: check whether you stopped at 5 × 8. The question asks how much more, so subtract A’s 15 litres.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646920" y="5971032"/>
            <a:ext cx="4631436" cy="1691640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738360" y="6062472"/>
            <a:ext cx="4453128" cy="3657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754B87"/>
                </a:solidFill>
                <a:latin typeface="Arial"/>
              </a:defRPr>
            </a:pPr>
            <a:r>
              <a:t>Check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738360" y="6501384"/>
            <a:ext cx="4453128" cy="106070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Q2: 15:40 = 3:8, and 15 + 25 = 40 litres.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73152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13990320" cy="45720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94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182B3A"/>
                </a:solidFill>
                <a:latin typeface="Arial"/>
              </a:defRPr>
            </a:pPr>
            <a:r>
              <a:t>Ratio: answers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04088"/>
            <a:ext cx="13990320" cy="34747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575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526472"/>
                </a:solidFill>
                <a:latin typeface="Arial"/>
              </a:defRPr>
            </a:pPr>
            <a:r>
              <a:t>Independent practice 3 • Match the thread and question number.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973568"/>
            <a:ext cx="10789920" cy="21031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GCSE Maths revision • No calculator • Show your working.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7973568"/>
            <a:ext cx="3108960" cy="21031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M04-S06-A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115568"/>
            <a:ext cx="4640580" cy="420624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7472" y="1147572"/>
            <a:ext cx="4581144" cy="32918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Thread 1: Guided</a:t>
            </a:r>
          </a:p>
        </p:txBody>
      </p:sp>
      <p:sp>
        <p:nvSpPr>
          <p:cNvPr id="9" name="Rectangle 8"/>
          <p:cNvSpPr/>
          <p:nvPr/>
        </p:nvSpPr>
        <p:spPr>
          <a:xfrm>
            <a:off x="4983480" y="1115568"/>
            <a:ext cx="4640580" cy="420624"/>
          </a:xfrm>
          <a:prstGeom prst="rect">
            <a:avLst/>
          </a:prstGeom>
          <a:solidFill>
            <a:srgbClr val="3559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10912" y="1147572"/>
            <a:ext cx="4581144" cy="32918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Thread 2: Core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646920" y="1115568"/>
            <a:ext cx="4640580" cy="420624"/>
          </a:xfrm>
          <a:prstGeom prst="rect">
            <a:avLst/>
          </a:prstGeom>
          <a:solidFill>
            <a:srgbClr val="754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74352" y="1147572"/>
            <a:ext cx="4581144" cy="32918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Thread 3: Depth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1609344"/>
            <a:ext cx="4640580" cy="804672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93192" y="1792224"/>
            <a:ext cx="4517136" cy="47548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176B73"/>
                </a:solidFill>
                <a:latin typeface="Arial"/>
              </a:defRPr>
            </a:pPr>
            <a:r>
              <a:t>1.  24 members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983480" y="1609344"/>
            <a:ext cx="4640580" cy="804672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56632" y="1792224"/>
            <a:ext cx="4517136" cy="47548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3559A2"/>
                </a:solidFill>
                <a:latin typeface="Arial"/>
              </a:defRPr>
            </a:pPr>
            <a:r>
              <a:t>1.  72 min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646920" y="1609344"/>
            <a:ext cx="4640580" cy="804672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720072" y="1792224"/>
            <a:ext cx="4517136" cy="47548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754B87"/>
                </a:solidFill>
                <a:latin typeface="Arial"/>
              </a:defRPr>
            </a:pPr>
            <a:r>
              <a:t>1.  8 min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2414016"/>
            <a:ext cx="4640580" cy="804672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93192" y="2596896"/>
            <a:ext cx="4517136" cy="47548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176B73"/>
                </a:solidFill>
                <a:latin typeface="Arial"/>
              </a:defRPr>
            </a:pPr>
            <a:r>
              <a:t>2.  400 ml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983480" y="2414016"/>
            <a:ext cx="4640580" cy="804672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56632" y="2596896"/>
            <a:ext cx="4517136" cy="47548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3559A2"/>
                </a:solidFill>
                <a:latin typeface="Arial"/>
              </a:defRPr>
            </a:pPr>
            <a:r>
              <a:t>2.  56 mm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646920" y="2414016"/>
            <a:ext cx="4640580" cy="804672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720072" y="2596896"/>
            <a:ext cx="4517136" cy="47548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754B87"/>
                </a:solidFill>
                <a:latin typeface="Arial"/>
              </a:defRPr>
            </a:pPr>
            <a:r>
              <a:t>2.  £168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0040" y="3218688"/>
            <a:ext cx="4640580" cy="804672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93192" y="3401568"/>
            <a:ext cx="4517136" cy="47548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176B73"/>
                </a:solidFill>
                <a:latin typeface="Arial"/>
              </a:defRPr>
            </a:pPr>
            <a:r>
              <a:t>3.  £14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983480" y="3218688"/>
            <a:ext cx="4640580" cy="804672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56632" y="3401568"/>
            <a:ext cx="4517136" cy="47548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3559A2"/>
                </a:solidFill>
                <a:latin typeface="Arial"/>
              </a:defRPr>
            </a:pPr>
            <a:r>
              <a:t>3.  210 g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646920" y="3218688"/>
            <a:ext cx="4640580" cy="804672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720072" y="3401568"/>
            <a:ext cx="4517136" cy="47548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754B87"/>
                </a:solidFill>
                <a:latin typeface="Arial"/>
              </a:defRPr>
            </a:pPr>
            <a:r>
              <a:t>3.  77 animals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0040" y="4023360"/>
            <a:ext cx="4640580" cy="804672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93192" y="4206240"/>
            <a:ext cx="4517136" cy="47548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176B73"/>
                </a:solidFill>
                <a:latin typeface="Arial"/>
              </a:defRPr>
            </a:pPr>
            <a:r>
              <a:t>4.  90 min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983480" y="4023360"/>
            <a:ext cx="4640580" cy="804672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56632" y="4206240"/>
            <a:ext cx="4517136" cy="47548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3559A2"/>
                </a:solidFill>
                <a:latin typeface="Arial"/>
              </a:defRPr>
            </a:pPr>
            <a:r>
              <a:t>4.  24 beads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646920" y="4023360"/>
            <a:ext cx="4640580" cy="804672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720072" y="4206240"/>
            <a:ext cx="4517136" cy="47548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754B87"/>
                </a:solidFill>
                <a:latin typeface="Arial"/>
              </a:defRPr>
            </a:pPr>
            <a:r>
              <a:t>4.  150 ml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20040" y="4828032"/>
            <a:ext cx="4640580" cy="804672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93192" y="5010912"/>
            <a:ext cx="4517136" cy="47548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176B73"/>
                </a:solidFill>
                <a:latin typeface="Arial"/>
              </a:defRPr>
            </a:pPr>
            <a:r>
              <a:t>5.  100 g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983480" y="4828032"/>
            <a:ext cx="4640580" cy="804672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056632" y="5010912"/>
            <a:ext cx="4517136" cy="47548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3559A2"/>
                </a:solidFill>
                <a:latin typeface="Arial"/>
              </a:defRPr>
            </a:pPr>
            <a:r>
              <a:t>5.  £9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646920" y="4828032"/>
            <a:ext cx="4640580" cy="804672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720072" y="5010912"/>
            <a:ext cx="4517136" cy="47548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754B87"/>
                </a:solidFill>
                <a:latin typeface="Arial"/>
              </a:defRPr>
            </a:pPr>
            <a:r>
              <a:t>5.  91 m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20040" y="5632704"/>
            <a:ext cx="4640580" cy="804672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93192" y="5815584"/>
            <a:ext cx="4517136" cy="47548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176B73"/>
                </a:solidFill>
                <a:latin typeface="Arial"/>
              </a:defRPr>
            </a:pPr>
            <a:r>
              <a:t>6.  72 cm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983480" y="5632704"/>
            <a:ext cx="4640580" cy="804672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056632" y="5815584"/>
            <a:ext cx="4517136" cy="47548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3559A2"/>
                </a:solidFill>
                <a:latin typeface="Arial"/>
              </a:defRPr>
            </a:pPr>
            <a:r>
              <a:t>6.  825 ml</a:t>
            </a:r>
          </a:p>
        </p:txBody>
      </p:sp>
      <p:sp>
        <p:nvSpPr>
          <p:cNvPr id="47" name="Rectangle 46"/>
          <p:cNvSpPr/>
          <p:nvPr/>
        </p:nvSpPr>
        <p:spPr>
          <a:xfrm>
            <a:off x="9646920" y="5632704"/>
            <a:ext cx="4640580" cy="804672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720072" y="5696712"/>
            <a:ext cx="4517136" cy="676656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754B87"/>
                </a:solidFill>
                <a:latin typeface="Arial"/>
              </a:defRPr>
            </a:pPr>
            <a:r>
              <a:t>6.  Oats: 500 g</a:t>
            </a:r>
          </a:p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754B87"/>
                </a:solidFill>
                <a:latin typeface="Arial"/>
              </a:defRPr>
            </a:pPr>
            <a:r>
              <a:t>    Raisins: 450 g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65760" y="6656832"/>
            <a:ext cx="13807440" cy="5943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31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182B3A"/>
                </a:solidFill>
                <a:latin typeface="Arial"/>
              </a:defRPr>
            </a:pPr>
            <a:r>
              <a:t>Check what is requested: one amount, both amounts, a total or a difference.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65760" y="7315200"/>
            <a:ext cx="13807440" cy="41148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526472"/>
                </a:solidFill>
                <a:latin typeface="Arial"/>
              </a:defRPr>
            </a:pPr>
            <a:r>
              <a:t>The next slide checks a method and a possible error in each thread.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73152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13990320" cy="45720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94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182B3A"/>
                </a:solidFill>
                <a:latin typeface="Arial"/>
              </a:defRPr>
            </a:pPr>
            <a:r>
              <a:t>Ratio: check your method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04088"/>
            <a:ext cx="13990320" cy="34747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575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526472"/>
                </a:solidFill>
                <a:latin typeface="Arial"/>
              </a:defRPr>
            </a:pPr>
            <a:r>
              <a:t>Independent practice 3 • Compare your working; correct the first wrong step.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973568"/>
            <a:ext cx="10789920" cy="21031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GCSE Maths revision • No calculator • Show your working.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7973568"/>
            <a:ext cx="3108960" cy="21031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M04-S06-B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115568"/>
            <a:ext cx="4640580" cy="420624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7472" y="1147572"/>
            <a:ext cx="4581144" cy="32918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Thread 1: Guided</a:t>
            </a:r>
          </a:p>
        </p:txBody>
      </p:sp>
      <p:sp>
        <p:nvSpPr>
          <p:cNvPr id="9" name="Rectangle 8"/>
          <p:cNvSpPr/>
          <p:nvPr/>
        </p:nvSpPr>
        <p:spPr>
          <a:xfrm>
            <a:off x="4983480" y="1115568"/>
            <a:ext cx="4640580" cy="420624"/>
          </a:xfrm>
          <a:prstGeom prst="rect">
            <a:avLst/>
          </a:prstGeom>
          <a:solidFill>
            <a:srgbClr val="3559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10912" y="1147572"/>
            <a:ext cx="4581144" cy="32918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Thread 2: Core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646920" y="1115568"/>
            <a:ext cx="4640580" cy="420624"/>
          </a:xfrm>
          <a:prstGeom prst="rect">
            <a:avLst/>
          </a:prstGeom>
          <a:solidFill>
            <a:srgbClr val="754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74352" y="1147572"/>
            <a:ext cx="4581144" cy="32918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Thread 3: Depth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1645920"/>
            <a:ext cx="4631436" cy="1828800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79" y="1737360"/>
            <a:ext cx="4453128" cy="3657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76B73"/>
                </a:solidFill>
                <a:latin typeface="Arial"/>
              </a:defRPr>
            </a:pPr>
            <a:r>
              <a:t>Method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79" y="2176272"/>
            <a:ext cx="4453128" cy="119786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Q3: 6 − 1 = 5 parts. £70 ÷ 5 = £14 per part. Dan gets 1 part: £14.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3593592"/>
            <a:ext cx="4631436" cy="2258568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1479" y="3685032"/>
            <a:ext cx="4453128" cy="3657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76B73"/>
                </a:solidFill>
                <a:latin typeface="Arial"/>
              </a:defRPr>
            </a:pPr>
            <a:r>
              <a:t>If you got…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79" y="4123944"/>
            <a:ext cx="4453128" cy="162763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Q3 — £70: check whether you treated the £70 difference as 1 part. It represents 5 parts, so divide by 5.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5971032"/>
            <a:ext cx="4631436" cy="1691640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1479" y="6062472"/>
            <a:ext cx="4453128" cy="3657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76B73"/>
                </a:solidFill>
                <a:latin typeface="Arial"/>
              </a:defRPr>
            </a:pPr>
            <a:r>
              <a:t>Check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79" y="6501384"/>
            <a:ext cx="4453128" cy="106070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Q3: Dan £14, Pat £84. £84 − £14 = £70; 14:84 = 1:6.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983480" y="1645920"/>
            <a:ext cx="4631436" cy="1828800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74920" y="1737360"/>
            <a:ext cx="4453128" cy="3657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3559A2"/>
                </a:solidFill>
                <a:latin typeface="Arial"/>
              </a:defRPr>
            </a:pPr>
            <a:r>
              <a:t>Method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74920" y="2176272"/>
            <a:ext cx="4453128" cy="119786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Q3: Butter’s 90 g is 3 parts. 90 ÷ 3 = 30 g per part. Total: 30 × (4 + 3) = 210 g.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983480" y="3593592"/>
            <a:ext cx="4631436" cy="2258568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74920" y="3685032"/>
            <a:ext cx="4453128" cy="3657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3559A2"/>
                </a:solidFill>
                <a:latin typeface="Arial"/>
              </a:defRPr>
            </a:pPr>
            <a:r>
              <a:t>If you got…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74920" y="4123944"/>
            <a:ext cx="4453128" cy="162763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Q3 — 120 g: check whether you stopped at 30 × 4. That is flour only; include 90 g of butter.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983480" y="5971032"/>
            <a:ext cx="4631436" cy="1691640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74920" y="6062472"/>
            <a:ext cx="4453128" cy="3657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3559A2"/>
                </a:solidFill>
                <a:latin typeface="Arial"/>
              </a:defRPr>
            </a:pPr>
            <a:r>
              <a:t>Check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74920" y="6501384"/>
            <a:ext cx="4453128" cy="106070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Q3: Flour 120 g + butter 90 g = 210 g; ratio 4:3.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646920" y="1645920"/>
            <a:ext cx="4631436" cy="1828800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738360" y="1737360"/>
            <a:ext cx="4453128" cy="3657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754B87"/>
                </a:solidFill>
                <a:latin typeface="Arial"/>
              </a:defRPr>
            </a:pPr>
            <a:r>
              <a:t>Method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738360" y="2176272"/>
            <a:ext cx="4453128" cy="119786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Q2: May’s £60 is 5 parts. £60 ÷ 5 = £12 per part. Total: £12 × (9 + 5) = £168.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646920" y="3593592"/>
            <a:ext cx="4631436" cy="2258568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738360" y="3685032"/>
            <a:ext cx="4453128" cy="3657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754B87"/>
                </a:solidFill>
                <a:latin typeface="Arial"/>
              </a:defRPr>
            </a:pPr>
            <a:r>
              <a:t>If you got…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738360" y="4123944"/>
            <a:ext cx="4453128" cy="162763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Q2 — £108: check whether you stopped at £12 × 9. That is Kai’s share; add May’s £60.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646920" y="5971032"/>
            <a:ext cx="4631436" cy="1691640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738360" y="6062472"/>
            <a:ext cx="4453128" cy="3657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754B87"/>
                </a:solidFill>
                <a:latin typeface="Arial"/>
              </a:defRPr>
            </a:pPr>
            <a:r>
              <a:t>Check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738360" y="6501384"/>
            <a:ext cx="4453128" cy="106070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Q2: £108 + £60 = £168; 108:60 = 9:5.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73152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13990320" cy="45720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94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182B3A"/>
                </a:solidFill>
                <a:latin typeface="Arial"/>
              </a:defRPr>
            </a:pPr>
            <a:r>
              <a:t>Ratio: answers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04088"/>
            <a:ext cx="13990320" cy="34747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575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526472"/>
                </a:solidFill>
                <a:latin typeface="Arial"/>
              </a:defRPr>
            </a:pPr>
            <a:r>
              <a:t>Independent practice 4 • Match the thread and question number.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973568"/>
            <a:ext cx="10789920" cy="21031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GCSE Maths revision • No calculator • Show your working.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7973568"/>
            <a:ext cx="3108960" cy="21031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M04-S07-A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115568"/>
            <a:ext cx="4640580" cy="420624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7472" y="1147572"/>
            <a:ext cx="4581144" cy="32918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Thread 1: Guided</a:t>
            </a:r>
          </a:p>
        </p:txBody>
      </p:sp>
      <p:sp>
        <p:nvSpPr>
          <p:cNvPr id="9" name="Rectangle 8"/>
          <p:cNvSpPr/>
          <p:nvPr/>
        </p:nvSpPr>
        <p:spPr>
          <a:xfrm>
            <a:off x="4983480" y="1115568"/>
            <a:ext cx="4640580" cy="420624"/>
          </a:xfrm>
          <a:prstGeom prst="rect">
            <a:avLst/>
          </a:prstGeom>
          <a:solidFill>
            <a:srgbClr val="3559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10912" y="1147572"/>
            <a:ext cx="4581144" cy="32918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Thread 2: Core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646920" y="1115568"/>
            <a:ext cx="4640580" cy="420624"/>
          </a:xfrm>
          <a:prstGeom prst="rect">
            <a:avLst/>
          </a:prstGeom>
          <a:solidFill>
            <a:srgbClr val="754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74352" y="1147572"/>
            <a:ext cx="4581144" cy="32918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Thread 3: Depth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1609344"/>
            <a:ext cx="4640580" cy="804672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93192" y="1792224"/>
            <a:ext cx="4517136" cy="47548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176B73"/>
                </a:solidFill>
                <a:latin typeface="Arial"/>
              </a:defRPr>
            </a:pPr>
            <a:r>
              <a:t>1.  20 min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983480" y="1609344"/>
            <a:ext cx="4640580" cy="804672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56632" y="1792224"/>
            <a:ext cx="4517136" cy="47548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3559A2"/>
                </a:solidFill>
                <a:latin typeface="Arial"/>
              </a:defRPr>
            </a:pPr>
            <a:r>
              <a:t>1.  £192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646920" y="1609344"/>
            <a:ext cx="4640580" cy="804672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720072" y="1792224"/>
            <a:ext cx="4517136" cy="47548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754B87"/>
                </a:solidFill>
                <a:latin typeface="Arial"/>
              </a:defRPr>
            </a:pPr>
            <a:r>
              <a:t>1.  9 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2414016"/>
            <a:ext cx="4640580" cy="804672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93192" y="2478024"/>
            <a:ext cx="4517136" cy="676656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76B73"/>
                </a:solidFill>
                <a:latin typeface="Arial"/>
              </a:defRPr>
            </a:pPr>
            <a:r>
              <a:t>2.  First: 5 L</a:t>
            </a:r>
          </a:p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76B73"/>
                </a:solidFill>
                <a:latin typeface="Arial"/>
              </a:defRPr>
            </a:pPr>
            <a:r>
              <a:t>    Second: 15 L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983480" y="2414016"/>
            <a:ext cx="4640580" cy="804672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56632" y="2596896"/>
            <a:ext cx="4517136" cy="47548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3559A2"/>
                </a:solidFill>
                <a:latin typeface="Arial"/>
              </a:defRPr>
            </a:pPr>
            <a:r>
              <a:t>2.  54 plants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646920" y="2414016"/>
            <a:ext cx="4640580" cy="804672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720072" y="2596896"/>
            <a:ext cx="4517136" cy="47548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754B87"/>
                </a:solidFill>
                <a:latin typeface="Arial"/>
              </a:defRPr>
            </a:pPr>
            <a:r>
              <a:t>2.  540 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0040" y="3218688"/>
            <a:ext cx="4640580" cy="804672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93192" y="3401568"/>
            <a:ext cx="4517136" cy="47548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176B73"/>
                </a:solidFill>
                <a:latin typeface="Arial"/>
              </a:defRPr>
            </a:pPr>
            <a:r>
              <a:t>3.  36 cm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983480" y="3218688"/>
            <a:ext cx="4640580" cy="804672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56632" y="3401568"/>
            <a:ext cx="4517136" cy="47548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3559A2"/>
                </a:solidFill>
                <a:latin typeface="Arial"/>
              </a:defRPr>
            </a:pPr>
            <a:r>
              <a:t>3.  5 min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646920" y="3218688"/>
            <a:ext cx="4640580" cy="804672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720072" y="3401568"/>
            <a:ext cx="4517136" cy="47548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754B87"/>
                </a:solidFill>
                <a:latin typeface="Arial"/>
              </a:defRPr>
            </a:pPr>
            <a:r>
              <a:t>3.  45 cm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0040" y="4023360"/>
            <a:ext cx="4640580" cy="804672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93192" y="4206240"/>
            <a:ext cx="4517136" cy="47548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176B73"/>
                </a:solidFill>
                <a:latin typeface="Arial"/>
              </a:defRPr>
            </a:pPr>
            <a:r>
              <a:t>4.  £84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983480" y="4023360"/>
            <a:ext cx="4640580" cy="804672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56632" y="4206240"/>
            <a:ext cx="4517136" cy="47548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3559A2"/>
                </a:solidFill>
                <a:latin typeface="Arial"/>
              </a:defRPr>
            </a:pPr>
            <a:r>
              <a:t>4.  12 kg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646920" y="4023360"/>
            <a:ext cx="4640580" cy="804672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720072" y="4206240"/>
            <a:ext cx="4517136" cy="47548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754B87"/>
                </a:solidFill>
                <a:latin typeface="Arial"/>
              </a:defRPr>
            </a:pPr>
            <a:r>
              <a:t>4.  117 tickets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20040" y="4828032"/>
            <a:ext cx="4640580" cy="804672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93192" y="5010912"/>
            <a:ext cx="4517136" cy="47548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176B73"/>
                </a:solidFill>
                <a:latin typeface="Arial"/>
              </a:defRPr>
            </a:pPr>
            <a:r>
              <a:t>5.  48 chocolates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983480" y="4828032"/>
            <a:ext cx="4640580" cy="804672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056632" y="5010912"/>
            <a:ext cx="4517136" cy="47548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3559A2"/>
                </a:solidFill>
                <a:latin typeface="Arial"/>
              </a:defRPr>
            </a:pPr>
            <a:r>
              <a:t>5.  6 L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646920" y="4828032"/>
            <a:ext cx="4640580" cy="804672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720072" y="5010912"/>
            <a:ext cx="4517136" cy="47548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754B87"/>
                </a:solidFill>
                <a:latin typeface="Arial"/>
              </a:defRPr>
            </a:pPr>
            <a:r>
              <a:t>5.  £88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20040" y="5632704"/>
            <a:ext cx="4640580" cy="804672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93192" y="5815584"/>
            <a:ext cx="4517136" cy="47548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176B73"/>
                </a:solidFill>
                <a:latin typeface="Arial"/>
              </a:defRPr>
            </a:pPr>
            <a:r>
              <a:t>6.  240 g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983480" y="5632704"/>
            <a:ext cx="4640580" cy="804672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056632" y="5815584"/>
            <a:ext cx="4517136" cy="47548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3559A2"/>
                </a:solidFill>
                <a:latin typeface="Arial"/>
              </a:defRPr>
            </a:pPr>
            <a:r>
              <a:t>6.  21 m</a:t>
            </a:r>
          </a:p>
        </p:txBody>
      </p:sp>
      <p:sp>
        <p:nvSpPr>
          <p:cNvPr id="47" name="Rectangle 46"/>
          <p:cNvSpPr/>
          <p:nvPr/>
        </p:nvSpPr>
        <p:spPr>
          <a:xfrm>
            <a:off x="9646920" y="5632704"/>
            <a:ext cx="4640580" cy="804672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720072" y="5815584"/>
            <a:ext cx="4517136" cy="47548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754B87"/>
                </a:solidFill>
                <a:latin typeface="Arial"/>
              </a:defRPr>
            </a:pPr>
            <a:r>
              <a:t>6.  50 min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65760" y="6656832"/>
            <a:ext cx="13807440" cy="5943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31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182B3A"/>
                </a:solidFill>
                <a:latin typeface="Arial"/>
              </a:defRPr>
            </a:pPr>
            <a:r>
              <a:t>Check what is requested: one amount, both amounts, a total or a difference.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65760" y="7315200"/>
            <a:ext cx="13807440" cy="41148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526472"/>
                </a:solidFill>
                <a:latin typeface="Arial"/>
              </a:defRPr>
            </a:pPr>
            <a:r>
              <a:t>The next slide checks a method and a possible error in each thread.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73152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13990320" cy="45720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94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182B3A"/>
                </a:solidFill>
                <a:latin typeface="Arial"/>
              </a:defRPr>
            </a:pPr>
            <a:r>
              <a:t>Ratio: check your method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04088"/>
            <a:ext cx="13990320" cy="34747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575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526472"/>
                </a:solidFill>
                <a:latin typeface="Arial"/>
              </a:defRPr>
            </a:pPr>
            <a:r>
              <a:t>Independent practice 4 • Compare your working; correct the first wrong step.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973568"/>
            <a:ext cx="10789920" cy="21031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GCSE Maths revision • No calculator • Show your working.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7973568"/>
            <a:ext cx="3108960" cy="21031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M04-S07-B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115568"/>
            <a:ext cx="4640580" cy="420624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7472" y="1147572"/>
            <a:ext cx="4581144" cy="32918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Thread 1: Guided</a:t>
            </a:r>
          </a:p>
        </p:txBody>
      </p:sp>
      <p:sp>
        <p:nvSpPr>
          <p:cNvPr id="9" name="Rectangle 8"/>
          <p:cNvSpPr/>
          <p:nvPr/>
        </p:nvSpPr>
        <p:spPr>
          <a:xfrm>
            <a:off x="4983480" y="1115568"/>
            <a:ext cx="4640580" cy="420624"/>
          </a:xfrm>
          <a:prstGeom prst="rect">
            <a:avLst/>
          </a:prstGeom>
          <a:solidFill>
            <a:srgbClr val="3559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10912" y="1147572"/>
            <a:ext cx="4581144" cy="32918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Thread 2: Core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646920" y="1115568"/>
            <a:ext cx="4640580" cy="420624"/>
          </a:xfrm>
          <a:prstGeom prst="rect">
            <a:avLst/>
          </a:prstGeom>
          <a:solidFill>
            <a:srgbClr val="754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74352" y="1147572"/>
            <a:ext cx="4581144" cy="32918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Thread 3: Depth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1645920"/>
            <a:ext cx="4631436" cy="1828800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79" y="1737360"/>
            <a:ext cx="4453128" cy="3657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76B73"/>
                </a:solidFill>
                <a:latin typeface="Arial"/>
              </a:defRPr>
            </a:pPr>
            <a:r>
              <a:t>Method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79" y="2176272"/>
            <a:ext cx="4453128" cy="119786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Q3: 3 − 2 = 1 part. The extra 12 cm is 1 part. Ribbon B: 12 × 3 = 36 cm.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3593592"/>
            <a:ext cx="4631436" cy="2258568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1479" y="3685032"/>
            <a:ext cx="4453128" cy="3657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76B73"/>
                </a:solidFill>
                <a:latin typeface="Arial"/>
              </a:defRPr>
            </a:pPr>
            <a:r>
              <a:t>If you got…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79" y="4123944"/>
            <a:ext cx="4453128" cy="162763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Q3 — 24 cm: check whether you used 12 × 2. That is ribbon A; B has 3 parts.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5971032"/>
            <a:ext cx="4631436" cy="1691640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1479" y="6062472"/>
            <a:ext cx="4453128" cy="3657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76B73"/>
                </a:solidFill>
                <a:latin typeface="Arial"/>
              </a:defRPr>
            </a:pPr>
            <a:r>
              <a:t>Check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79" y="6501384"/>
            <a:ext cx="4453128" cy="106070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Q3: A is 24 cm; B is 36 cm. Difference 12 cm; ratio 2:3.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983480" y="1645920"/>
            <a:ext cx="4631436" cy="1828800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74920" y="1737360"/>
            <a:ext cx="4453128" cy="3657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3559A2"/>
                </a:solidFill>
                <a:latin typeface="Arial"/>
              </a:defRPr>
            </a:pPr>
            <a:r>
              <a:t>Method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74920" y="2176272"/>
            <a:ext cx="4453128" cy="119786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Q4: 7 − 3 = 4 parts. 16 ÷ 4 = 4 kg per part. Lighter sack: 4 × 3 = 12 kg.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983480" y="3593592"/>
            <a:ext cx="4631436" cy="2258568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74920" y="3685032"/>
            <a:ext cx="4453128" cy="3657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3559A2"/>
                </a:solidFill>
                <a:latin typeface="Arial"/>
              </a:defRPr>
            </a:pPr>
            <a:r>
              <a:t>If you got…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74920" y="4123944"/>
            <a:ext cx="4453128" cy="162763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Q4 — 48 kg: check whether you used 16 × 3. The 16 kg difference represents 4 parts, not 1.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983480" y="5971032"/>
            <a:ext cx="4631436" cy="1691640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74920" y="6062472"/>
            <a:ext cx="4453128" cy="3657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3559A2"/>
                </a:solidFill>
                <a:latin typeface="Arial"/>
              </a:defRPr>
            </a:pPr>
            <a:r>
              <a:t>Check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74920" y="6501384"/>
            <a:ext cx="4453128" cy="106070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Q4: Heavier sack 28 kg; lighter 12 kg. Difference 16 kg; ratio 7:3.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646920" y="1645920"/>
            <a:ext cx="4631436" cy="1828800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738360" y="1737360"/>
            <a:ext cx="4453128" cy="3657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754B87"/>
                </a:solidFill>
                <a:latin typeface="Arial"/>
              </a:defRPr>
            </a:pPr>
            <a:r>
              <a:t>Method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738360" y="2176272"/>
            <a:ext cx="4453128" cy="119786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Q6: 7 + 2 = 9 parts. 90 ÷ 9 = 10 minutes per part. Work 70; breaks 20. Difference: 50 minutes.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646920" y="3593592"/>
            <a:ext cx="4631436" cy="2258568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738360" y="3685032"/>
            <a:ext cx="4453128" cy="3657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754B87"/>
                </a:solidFill>
                <a:latin typeface="Arial"/>
              </a:defRPr>
            </a:pPr>
            <a:r>
              <a:t>If you got…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738360" y="4123944"/>
            <a:ext cx="4453128" cy="162763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Q6 — 70 minutes: check whether you stopped at 10 × 7. Subtract 20 minutes of breaks to find how much longer.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646920" y="5971032"/>
            <a:ext cx="4631436" cy="1691640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738360" y="6062472"/>
            <a:ext cx="4453128" cy="3657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754B87"/>
                </a:solidFill>
                <a:latin typeface="Arial"/>
              </a:defRPr>
            </a:pPr>
            <a:r>
              <a:t>Check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738360" y="6501384"/>
            <a:ext cx="4453128" cy="106070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Q6: 70 + 20 = 90 minutes; 70 − 20 = 50 minutes.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73152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13990320" cy="45720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94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182B3A"/>
                </a:solidFill>
                <a:latin typeface="Arial"/>
              </a:defRPr>
            </a:pPr>
            <a:r>
              <a:t>Ratio: initial assessment — answers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04088"/>
            <a:ext cx="13990320" cy="34747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575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526472"/>
                </a:solidFill>
                <a:latin typeface="Arial"/>
              </a:defRPr>
            </a:pPr>
            <a:r>
              <a:t>Match each answer to its question.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973568"/>
            <a:ext cx="10789920" cy="21031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GCSE Maths revision • No calculator • Show your working.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7973568"/>
            <a:ext cx="3108960" cy="21031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M04-IA-A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691640"/>
            <a:ext cx="6720840" cy="26060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828800"/>
            <a:ext cx="6446520" cy="12801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205"/>
              </a:lnSpc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182B3A"/>
                </a:solidFill>
                <a:latin typeface="Arial"/>
              </a:defRPr>
            </a:pPr>
            <a:r>
              <a:t>1.  Share £35 between A and B in the ratio 2:5. How much does A receive?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3154680"/>
            <a:ext cx="6446520" cy="102412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Answer: £10</a:t>
            </a:r>
          </a:p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7 parts = £35; 1 part = £5; A receives 2 × £5.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452360" y="1691640"/>
            <a:ext cx="6720840" cy="26060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89520" y="1828800"/>
            <a:ext cx="6446520" cy="12801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205"/>
              </a:lnSpc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182B3A"/>
                </a:solidFill>
                <a:latin typeface="Arial"/>
              </a:defRPr>
            </a:pPr>
            <a:r>
              <a:t>2.  Red and blue counters are in the ratio 3:4. There are 12 red counters. How many blue counters are there?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89520" y="3154680"/>
            <a:ext cx="6446520" cy="102412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Answer: 16 blue counters</a:t>
            </a:r>
          </a:p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3 parts = 12; 1 part = 4; blue = 4 × 4.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4526280"/>
            <a:ext cx="6720840" cy="26060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4663440"/>
            <a:ext cx="6446520" cy="12801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205"/>
              </a:lnSpc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182B3A"/>
                </a:solidFill>
                <a:latin typeface="Arial"/>
              </a:defRPr>
            </a:pPr>
            <a:r>
              <a:t>3.  Two ribbons have lengths in the ratio 2:7. The longer is 25 cm longer than the shorter. Find the shorter length.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5989320"/>
            <a:ext cx="6446520" cy="102412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Answer: 10 cm</a:t>
            </a:r>
          </a:p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5 extra parts = 25 cm; 1 part = 5 cm; shorter = 2 × 5 cm.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452360" y="4526280"/>
            <a:ext cx="6720840" cy="26060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89520" y="4663440"/>
            <a:ext cx="6446520" cy="12801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205"/>
              </a:lnSpc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182B3A"/>
                </a:solidFill>
                <a:latin typeface="Arial"/>
              </a:defRPr>
            </a:pPr>
            <a:r>
              <a:t>4.  Adults and children are in the ratio 5:8. There are 39 people altogether. How many more children than adults are there?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89520" y="5989320"/>
            <a:ext cx="6446520" cy="102412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Answer: 9 more children</a:t>
            </a:r>
          </a:p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13 parts = 39; 1 part = 3; difference = (8 − 5) × 3.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Ratio — answers and method checks</dc:title>
  <dc:subject/>
  <dc:creator>Maths teaching resources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