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([['36 ml', '20 notebooks', '56 people']], {'Method': ['7 parts; 84 ml ÷ 7 = 12 ml per part; 12 ml × 3 = 36 ml of red paint.', '35 folders represent 7 parts. 35 ÷ 7 = 5 per part; 5 × 4 = 20 notebooks.', 'The difference is 5 − 2 = 3 parts. 24 ÷ 3 = 8 per part; 8 × 7 = 56 people.'], 'If you got…': ['48 ml: check whether you used 12 ml × 4. That is white paint; red has 3 parts.', '32 notebooks: check whether you used 35 − (7 − 4). The difference of 3 is in parts, not individual items.', '168 people: check whether you used 24 × 7. The 24 represents 3 parts, not 1; divide by 3 first.'], 'Check': ['Red: 36 ml; White: 48 ml. 36 ml + 48 ml = 84 ml, and 36:48 simplifies to 3:4.', '20:35 simplifies to 4:7. There should be fewer notebooks than folders.', 'Adults: 16; children: 40. 40 − 16 = 24; 16 + 40 = 56.']})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([['56 cm', '63 litres of water', '91 cm']], {'Method': ['12 parts; 96 cm ÷ 12 = 8 cm per part; 8 cm × 7 = 56 cm for B.', '18 litres represent 2 parts. 18 ÷ 2 = 9 per part; 9 × 7 = 63 litres of water.', 'The difference is 8 − 5 = 3 parts. 21 ÷ 3 = 7 cm per part; 7 × 13 = 91 cm.'], 'If you got…': ['40 cm: check whether you used 8 cm × 5. That is piece A; the question asks for B.', '23 litres: check whether you used 18 + (7 − 2). Five extra parts do not mean five extra litres.', '273 cm: check whether you used 21 × 13. The 21 cm represents 3 parts, not 1.'], 'Check': ['40 cm + 56 cm = 96 cm. B is more than half of 96 cm.', '18:63 simplifies to 2:7. Water is between 3 and 4 times the juice: 54 to 72 litres.', 'Lengths: 35 cm and 56 cm. Difference: 21 cm. Total: 91 cm.']})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3 + 4 = 7 parts. Find 1 part, then red paint’s 3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folders is 7 parts. Find 1 part, then 4 parts for notebooks.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more children is 5 − 2 = 3 parts. Find 1 part, then 7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ml ÷ 7 = 12 ml per part. 12 ml × 3 = 36 ml.</a:t>
            </a:r>
          </a:p>
        </p:txBody>
      </p:sp>
      <p:grpSp>
        <p:nvGrpSpPr>
          <p:cNvPr id="33" name="Ratio bars Red:White = 3:4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White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4773168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4727448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4727448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84 ml altogether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12 ml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÷ 7 = 5 per part. 5 × 4 = 20 notebooks.</a:t>
            </a:r>
          </a:p>
        </p:txBody>
      </p:sp>
      <p:grpSp>
        <p:nvGrpSpPr>
          <p:cNvPr id="50" name="Ratio bars Notebooks:Folders = 4:7, second"/>
          <p:cNvGrpSpPr/>
          <p:nvPr/>
        </p:nvGrpSpPr>
        <p:grpSpPr>
          <a:xfrm>
            <a:off x="6257544" y="4686300"/>
            <a:ext cx="3916680" cy="1275588"/>
            <a:chOff x="6257544" y="4686300"/>
            <a:chExt cx="3916680" cy="1275588"/>
          </a:xfrm>
        </p:grpSpPr>
        <p:sp>
          <p:nvSpPr>
            <p:cNvPr id="51" name="TextBox 50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Notebooks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51520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Folders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63"/>
            <p:cNvCxnSpPr/>
            <p:nvPr/>
          </p:nvCxnSpPr>
          <p:spPr>
            <a:xfrm>
              <a:off x="7171944" y="5001768"/>
              <a:ext cx="275234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Folders: 35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5 items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÷ 3 = 8 per part. 8 × 7 = 56 people.</a:t>
            </a:r>
          </a:p>
        </p:txBody>
      </p:sp>
      <p:grpSp>
        <p:nvGrpSpPr>
          <p:cNvPr id="69" name="Ratio bars Adults:Children = 2:5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0" name="TextBox 69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Adults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Children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12021312" y="5376672"/>
              <a:ext cx="1179576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1202131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320088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24 people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8 people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36 ml is less than half of 84 ml. The other share is 48 ml; together they make 84 ml.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 parts is just over half of 7 parts, so expect just over half of 35. 20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7 parts, the difference 3. Expect between 2 × 24 and 3 × 24: 48 to 72. 56 fits.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Red paint: 36 ml.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20 notebooks.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56 people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 parts; 84 ml ÷ 7 = 12 ml per part; 12 ml × 3 = 36 ml of red paint.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48 ml: check whether you used 12 ml × 4. That is white paint; red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Red: 36 ml; White: 48 ml. 36 ml + 48 ml = 84 ml, and 36:48 simplifies to 3:4.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35 folders represent 7 parts. 35 ÷ 7 = 5 per part; 5 × 4 = 20 notebooks.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32 notebooks: check whether you used 35 − (7 − 4). The difference of 3 is in parts, not individual items.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20:35 simplifies to 4:7. There should be fewer notebooks than folders.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5 − 2 = 3 parts. 24 ÷ 3 = 8 per part; 8 × 7 = 56 people.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168 people: check whether you used 24 × 7. The 24 represents 3 parts, not 1; divide by 3 first.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Adults: 16; children: 40. 40 − 16 = 24; 16 + 40 = 56.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5 + 7 = 12 parts. Find 1 part, then B’s 7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litres of juice is 2 parts. Find 1 part, then 7 parts of water.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cm is 8 − 5 = 3 parts. Find 1 part, then 13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96 cm ÷ 12 = 8 cm per part. 8 cm × 7 = 56 cm.</a:t>
            </a:r>
          </a:p>
        </p:txBody>
      </p:sp>
      <p:grpSp>
        <p:nvGrpSpPr>
          <p:cNvPr id="33" name="Ratio bars A:B = 5:7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88536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681728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81728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07492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46811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5952744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>
              <a:off x="5907024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5907024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96 cm altogether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8 cm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2 = 9 litres per part. 9 × 7 = 63 litres.</a:t>
            </a:r>
          </a:p>
        </p:txBody>
      </p:sp>
      <p:grpSp>
        <p:nvGrpSpPr>
          <p:cNvPr id="55" name="Ratio bars Juice:Water = 2:7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56" name="TextBox 55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Juice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Water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7171944" y="4626864"/>
              <a:ext cx="78638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Juice: 18 litres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9 litres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÷ 3 = 7 cm per part. 7 × 13 = 91 cm.</a:t>
            </a:r>
          </a:p>
        </p:txBody>
      </p:sp>
      <p:grpSp>
        <p:nvGrpSpPr>
          <p:cNvPr id="72" name="Ratio bars A:B = 5:8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3" name="TextBox 72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58735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93977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29220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6446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12349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15873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19397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22922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6446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29970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33494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37019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12997053" y="5376672"/>
              <a:ext cx="1057275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2997053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1405432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21 cm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cm</a:t>
              </a:r>
            </a:p>
          </p:txBody>
        </p:sp>
      </p:grpSp>
      <p:sp>
        <p:nvSpPr>
          <p:cNvPr id="93" name="Rectangle 92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is more than half of 96 cm. 56 cm fits; 40 cm + 56 cm = 96 cm.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Water is between 3 and 4 times the juice: between 54 and 72 litres. 63 fits.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just over 4 times the 21 cm difference. 4 × 21 = 84; 91 is reasonable.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is 56 cm.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63 litres of water.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91 cm altogether.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 parts; 96 cm ÷ 12 = 8 cm per part; 8 cm × 7 = 56 cm for 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40 cm: check whether you used 8 cm × 5. That is piece A; the question asks for 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40 cm + 56 cm = 96 cm. B is more than half of 96 cm.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 litres represent 2 parts. 18 ÷ 2 = 9 per part; 9 × 7 = 63 litres of water.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23 litres: check whether you used 18 + (7 − 2). Five extra parts do not mean five extra litres.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18:63 simplifies to 2:7. Water is between 3 and 4 times the juice: 54 to 72 litres.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8 − 5 = 3 parts. 21 ÷ 3 = 7 cm per part; 7 × 13 = 91 cm.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273 cm: check whether you used 21 × 13. The 21 cm represents 3 parts, not 1.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Lengths: 35 cm and 56 cm. Difference: 21 cm. Total: 91 cm.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£36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300 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24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120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24 tickets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2.  Red: 6 counters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Blue: 30 counters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3.  Shorter: 40 cm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Longer: 56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20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£40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30 beads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£63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675 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250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18 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4892040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5.  Water: 1200 ml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Juice: 200 ml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18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40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99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5 − 3 = 2 parts. 12 ÷ 2 = 6 beads per part. Blue: 6 × 5 = 30 beads.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60 beads: check whether you used 12 × 5. The 12 extra beads are 2 parts, not 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Red 18, blue 30. 30 − 18 = 12; 18:30 = 3:5.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7 − 4 = 3 parts. 15 ÷ 3 = 5 m per part. Rope A: 5 × 4 = 20 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60 m: check whether you used 15 × 4. The 15 m difference represents 3 parts, not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A is 20 m; B is 35 m. Difference 15 m; ratio 4:7.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7 + 3 = 10 parts. £100 ÷ 10 = £10 per part. Shares £70 and £30; difference £40.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£70: check whether you stopped at £10 × 7. That is Ava’s share; subtract Leo’s £30.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£70 + £30 = £100; £70 − £30 = £40.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70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27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440 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54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210 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25 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30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£35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3.  Reading: 24 min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Writing: 54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12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63 cm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35 flowers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140 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240 ml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80 animals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153 tickets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Q5: 5 − 4 = 1 part. The 7 extra flowers are 1 part. White: 7 × 5 = 35 flowers.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Q5 — 28 flowers: check whether you used 7 × 4. That counts red flowers; white has 5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Q5: Red 28, white 35. 35 − 28 = 7; 28:35 = 4:5.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3 + 4 = 7 parts. 490 ÷ 7 = 70 ml per part. Red paint: 70 × 3 = 210 ml.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70 ml: check whether you stopped after 490 ÷ 7. That is one part; red paint needs 3 parts.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Red 210 ml + white 280 ml = 490 ml; ratio 3:4.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Tank A’s 15 litres is 3 parts. 15 ÷ 3 = 5 per part. Tank B: 5 × 8 = 40 litres. Difference: 40 − 15 = 25 litres.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40 litres: check whether you stopped at 5 × 8. The question asks how much more, so subtract A’s 15 litres.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15:40 = 3:8, and 15 + 25 = 40 litres.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24 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72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8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400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56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£168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£14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210 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77 animals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90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24 beads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150 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100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£9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91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72 cm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825 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696712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6.  Oats: 500 g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Raisins: 450 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6 − 1 = 5 parts. £70 ÷ 5 = £14 per part. Dan gets 1 part: £14.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£70: check whether you treated the £70 difference as 1 part. It represents 5 parts, so divide by 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Dan £14, Pat £84. £84 − £14 = £70; 14:84 = 1:6.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Butter’s 90 g is 3 parts. 90 ÷ 3 = 30 g per part. Total: 30 × (4 + 3) = 210 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120 g: check whether you stopped at 30 × 4. That is flour only; include 90 g of butter.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Flour 120 g + butter 90 g = 210 g; ratio 4:3.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May’s £60 is 5 parts. £60 ÷ 5 = £12 per part. Total: £12 × (9 + 5) = £168.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£108: check whether you stopped at £12 × 9. That is Kai’s share; add May’s £60.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£108 + £60 = £168; 108:60 = 9:5.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20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£192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9 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2.  First: 5 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Second: 15 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54 plants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540 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36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5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45 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12 kg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117 tickets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48 chocolates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6 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240 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21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50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3 − 2 = 1 part. The extra 12 cm is 1 part. Ribbon B: 12 × 3 = 36 cm.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24 cm: check whether you used 12 × 2. That is ribbon A; B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A is 24 cm; B is 36 cm. Difference 12 cm; ratio 2:3.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7 − 3 = 4 parts. 16 ÷ 4 = 4 kg per part. Lighter sack: 4 × 3 = 12 kg.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48 kg: check whether you used 16 × 3. The 16 kg difference represents 4 parts, not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Heavier sack 28 kg; lighter 12 kg. Difference 16 kg; ratio 7:3.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Q6: 7 + 2 = 9 parts. 90 ÷ 9 = 10 minutes per part. Work 70; breaks 20. Difference: 50 minutes.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 — 70 minutes: check whether you stopped at 10 × 7. Subtract 20 minutes of breaks to find how much longer.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Q6: 70 + 20 = 90 minutes; 70 − 20 = 50 minutes.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answers and method checks</dc:title>
  <dc:subject/>
  <dc:creator>Maths teaching resources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