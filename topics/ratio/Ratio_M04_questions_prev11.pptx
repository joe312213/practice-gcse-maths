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ngesInfos/changesInfo1.xml" ContentType="application/vnd.ms-powerpoint.changesinfo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000.xml" ContentType="application/vnd.openxmlformats-officedocument.presentationml.slide+xml"/>
  <Override PartName="/ppt/slides/slide1001.xml" ContentType="application/vnd.openxmlformats-officedocument.presentationml.slide+xml"/>
  <Override PartName="/ppt/slides/slide1002.xml" ContentType="application/vnd.openxmlformats-officedocument.presentationml.slide+xml"/>
  <Override PartName="/ppt/slides/slide1003.xml" ContentType="application/vnd.openxmlformats-officedocument.presentationml.slide+xml"/>
  <Override PartName="/ppt/slides/slide1004.xml" ContentType="application/vnd.openxmlformats-officedocument.presentationml.slide+xml"/>
  <Override PartName="/ppt/slides/slide1005.xml" ContentType="application/vnd.openxmlformats-officedocument.presentationml.slide+xml"/>
  <Override PartName="/ppt/slides/slide1006.xml" ContentType="application/vnd.openxmlformats-officedocument.presentationml.slide+xml"/>
  <Override PartName="/ppt/slides/slide1007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63" r:id="rId16"/>
    <p:sldId id="256" r:id="rId2"/>
    <p:sldId id="257" r:id="rId3"/>
    <p:sldId id="258" r:id="rId4"/>
    <p:sldId id="264" r:id="rId17"/>
    <p:sldId id="259" r:id="rId5"/>
    <p:sldId id="260" r:id="rId6"/>
    <p:sldId id="261" r:id="rId7"/>
    <p:sldId id="262" r:id="rId8"/>
  </p:sldIdLst>
  <p:sldSz cx="14630400" cy="82296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3EA330E-DB53-414D-9D29-FC315F4425BE}" v="1" dt="2026-09-20T02:01:02.79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75"/>
  </p:normalViewPr>
  <p:slideViewPr>
    <p:cSldViewPr snapToGrid="0" snapToObjects="1">
      <p:cViewPr varScale="1">
        <p:scale>
          <a:sx n="87" d="100"/>
          <a:sy n="87" d="100"/>
        </p:scale>
        <p:origin x="208" y="50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001.xml"/><Relationship Id="rId3" Type="http://schemas.openxmlformats.org/officeDocument/2006/relationships/slide" Target="slides/slide1002.xml"/><Relationship Id="rId4" Type="http://schemas.openxmlformats.org/officeDocument/2006/relationships/slide" Target="slides/slide1003.xml"/><Relationship Id="rId5" Type="http://schemas.openxmlformats.org/officeDocument/2006/relationships/slide" Target="slides/slide1004.xml"/><Relationship Id="rId6" Type="http://schemas.openxmlformats.org/officeDocument/2006/relationships/slide" Target="slides/slide1005.xml"/><Relationship Id="rId7" Type="http://schemas.openxmlformats.org/officeDocument/2006/relationships/slide" Target="slides/slide1006.xml"/><Relationship Id="rId8" Type="http://schemas.openxmlformats.org/officeDocument/2006/relationships/slide" Target="slides/slide100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Relationship Id="rId14" Type="http://schemas.microsoft.com/office/2016/11/relationships/changesInfo" Target="changesInfos/changesInfo1.xml"/><Relationship Id="rId15" Type="http://schemas.microsoft.com/office/2015/10/relationships/revisionInfo" Target="revisionInfo.xml"/><Relationship Id="rId16" Type="http://schemas.openxmlformats.org/officeDocument/2006/relationships/slide" Target="slides/slide1000.xml"/><Relationship Id="rId17" Type="http://schemas.openxmlformats.org/officeDocument/2006/relationships/slide" Target="slides/slide9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oe Hudson" userId="41092641-dab8-42af-8751-810f10f62201" providerId="ADAL" clId="{CB2FFBA8-21C8-53A2-A2C7-EBED40DEE922}"/>
    <pc:docChg chg="undo custSel mod modSld">
      <pc:chgData name="Joe Hudson" userId="41092641-dab8-42af-8751-810f10f62201" providerId="ADAL" clId="{CB2FFBA8-21C8-53A2-A2C7-EBED40DEE922}" dt="2026-09-20T02:02:25.490" v="291" actId="1035"/>
      <pc:docMkLst>
        <pc:docMk/>
      </pc:docMkLst>
      <pc:sldChg chg="addSp delSp modSp mod">
        <pc:chgData name="Joe Hudson" userId="41092641-dab8-42af-8751-810f10f62201" providerId="ADAL" clId="{CB2FFBA8-21C8-53A2-A2C7-EBED40DEE922}" dt="2026-09-20T02:02:25.490" v="291" actId="1035"/>
        <pc:sldMkLst>
          <pc:docMk/>
          <pc:sldMk cId="0" sldId="257"/>
        </pc:sldMkLst>
        <pc:spChg chg="mod">
          <ac:chgData name="Joe Hudson" userId="41092641-dab8-42af-8751-810f10f62201" providerId="ADAL" clId="{CB2FFBA8-21C8-53A2-A2C7-EBED40DEE922}" dt="2026-09-20T02:02:25.490" v="291" actId="1035"/>
          <ac:spMkLst>
            <pc:docMk/>
            <pc:sldMk cId="0" sldId="257"/>
            <ac:spMk id="53" creationId="{00000000-0000-0000-0000-000000000000}"/>
          </ac:spMkLst>
        </pc:spChg>
        <pc:spChg chg="del">
          <ac:chgData name="Joe Hudson" userId="41092641-dab8-42af-8751-810f10f62201" providerId="ADAL" clId="{CB2FFBA8-21C8-53A2-A2C7-EBED40DEE922}" dt="2026-09-20T02:00:57.104" v="281" actId="478"/>
          <ac:spMkLst>
            <pc:docMk/>
            <pc:sldMk cId="0" sldId="257"/>
            <ac:spMk id="54" creationId="{00000000-0000-0000-0000-000000000000}"/>
          </ac:spMkLst>
        </pc:spChg>
        <pc:spChg chg="add mod">
          <ac:chgData name="Joe Hudson" userId="41092641-dab8-42af-8751-810f10f62201" providerId="ADAL" clId="{CB2FFBA8-21C8-53A2-A2C7-EBED40DEE922}" dt="2026-09-20T02:02:25.490" v="291" actId="1035"/>
          <ac:spMkLst>
            <pc:docMk/>
            <pc:sldMk cId="0" sldId="257"/>
            <ac:spMk id="55" creationId="{5C4B25E0-6F8B-5EB5-B1AB-18C9B16A520D}"/>
          </ac:spMkLst>
        </pc:spChg>
      </pc:sldChg>
      <pc:sldChg chg="modSp mod">
        <pc:chgData name="Joe Hudson" userId="41092641-dab8-42af-8751-810f10f62201" providerId="ADAL" clId="{CB2FFBA8-21C8-53A2-A2C7-EBED40DEE922}" dt="2026-09-20T01:59:21.505" v="0" actId="1076"/>
        <pc:sldMkLst>
          <pc:docMk/>
          <pc:sldMk cId="0" sldId="258"/>
        </pc:sldMkLst>
        <pc:spChg chg="mod">
          <ac:chgData name="Joe Hudson" userId="41092641-dab8-42af-8751-810f10f62201" providerId="ADAL" clId="{CB2FFBA8-21C8-53A2-A2C7-EBED40DEE922}" dt="2026-09-20T01:59:21.505" v="0" actId="1076"/>
          <ac:spMkLst>
            <pc:docMk/>
            <pc:sldMk cId="0" sldId="258"/>
            <ac:spMk id="53" creationId="{00000000-0000-0000-0000-000000000000}"/>
          </ac:spMkLst>
        </pc:spChg>
      </pc:sld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422323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0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0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0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0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0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0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0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## Slide 1 — Worked demo</a:t>
            </a:r>
          </a:p>
          <a:p>
            <a:endParaRPr/>
          </a:p>
          <a:p>
            <a:r>
              <a:t>Title: **Ratio: sharing and missing amounts**</a:t>
            </a:r>
          </a:p>
          <a:p>
            <a:endParaRPr/>
          </a:p>
          <a:p>
            <a:r>
              <a:t>Instruction: **Follow each step down your column.**</a:t>
            </a:r>
          </a:p>
          <a:p>
            <a:endParaRPr/>
          </a:p>
          <a:p>
            <a:r>
              <a:t>| Row | Thread 1: Guided | Thread 2: Core | Thread 3: Depth |</a:t>
            </a:r>
          </a:p>
          <a:p>
            <a:r>
              <a:t>| --- | --- | --- | --- |</a:t>
            </a:r>
          </a:p>
          <a:p>
            <a:r>
              <a:t>| The Full Question | A and B share £120 in the ratio 2:3. How much does B receive? | Red and blue paint are mixed in the ratio 3:5. There are 18 litres of red paint. How many litres of blue paint are needed? | Red and blue counters are in the ratio 3:7. There are 28 more blue counters than red counters. How many counters are there altogether? |</a:t>
            </a:r>
          </a:p>
          <a:p>
            <a:r>
              <a:t>| Keywords &amp; Calculation | “share £120”: the total is known. 2 + 3 = 5 parts. £120 ÷ 5, then × 3. | “18 litres of red”: 3 parts are known. 18 ÷ 3, then × 5. | “28 more blue”: the difference is known. 7 − 3 = 4 parts. 28 ÷ 4, then × (3 + 7). |</a:t>
            </a:r>
          </a:p>
          <a:p>
            <a:r>
              <a:t>| Written Method | £120 ÷ 5 = £24 per part. £24 × 3 = £72. | 18 ÷ 3 = 6 litres per part. 6 × 5 = 30 litres. | 28 ÷ 4 = 7 counters per part. 3 + 7 = 10 parts. 7 × 10 = 70 counters. |</a:t>
            </a:r>
          </a:p>
          <a:p>
            <a:r>
              <a:t>| Ballpark Check &amp; Math | B gets more than half of £120, so more than £60. £72 fits. Check both shares: £48 + £72 = £120. | Blue is between one and two times the red amount, so between 18 and 36 litres. 30 litres fits. | The total represents 10 parts and the difference 4. The total should be between 2 and 3 times 28: between 56 and 84. 70 fits. |</a:t>
            </a:r>
          </a:p>
          <a:p>
            <a:r>
              <a:t>| Final Answer | B receives £72. | 30 litres of blue paint. | 70 counters altogether. |</a:t>
            </a:r>
          </a:p>
          <a:p>
            <a:endParaRPr/>
          </a:p>
          <a:p>
            <a:r>
              <a:t>### Diagram specification</a:t>
            </a:r>
          </a:p>
          <a:p>
            <a:endParaRPr/>
          </a:p>
          <a:p>
            <a:r>
              <a:t>Use editable, equal-sized boxes. Align the two bars at the left; each box represents one part, not one pound, litre or counter. Label both bars by name; colour is optional, not the only way to identify them.</a:t>
            </a:r>
          </a:p>
          <a:p>
            <a:endParaRPr/>
          </a:p>
          <a:p>
            <a:r>
              <a:t>- Guided: A has 2 boxes; B has 3. A bracket covering both bars is labelled “£120 altogether”. Show “1 part = £24”.</a:t>
            </a:r>
          </a:p>
          <a:p>
            <a:r>
              <a:t>- Core: red has 3 boxes labelled “18 litres”; blue has 5. Show “1 part = 6 litres”.</a:t>
            </a:r>
          </a:p>
          <a:p>
            <a:r>
              <a:t>- Depth: red has 3 boxes; blue has 7. Bracket the **four extra blue boxes** and label them “28 more”. Show “1 part = 7 counters”. Do not label the overlap as the difference.</a:t>
            </a:r>
          </a:p>
          <a:p>
            <a:endParaRPr/>
          </a:p>
          <a:p>
            <a:r>
              <a:t>Keep the complete question and all four steps on this slide. Fit the diagrams beside the concise working within the Written Method row. Do not introduce a separate step-per-slide sequence.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## Slide 2 — Step-by-step practice 1</a:t>
            </a:r>
          </a:p>
          <a:p>
            <a:endParaRPr/>
          </a:p>
          <a:p>
            <a:r>
              <a:t>Instruction: **Complete each step in your booklet or webapp.** Use the four practice prompts above.</a:t>
            </a:r>
          </a:p>
          <a:p>
            <a:endParaRPr/>
          </a:p>
          <a:p>
            <a:r>
              <a:t>| Thread 1: Guided | Thread 2: Core | Thread 3: Depth |</a:t>
            </a:r>
          </a:p>
          <a:p>
            <a:r>
              <a:t>| --- | --- | --- |</a:t>
            </a:r>
          </a:p>
          <a:p>
            <a:r>
              <a:t>| An 84 ml paint mix contains red and white paint in the ratio 3:4. How much red paint is in the mix? | Notebooks and folders are in the ratio 4:7. There are 35 folders. How many notebooks are there? | Adults and children are in the ratio 2:5. There are 24 more children than adults. How many people are there altogether? |</a:t>
            </a:r>
          </a:p>
          <a:p>
            <a:endParaRPr/>
          </a:p>
          <a:p>
            <a:r>
              <a:t>Teacher working:</a:t>
            </a:r>
          </a:p>
          <a:p>
            <a:endParaRPr/>
          </a:p>
          <a:p>
            <a:r>
              <a:t>- T1: 3 + 4 = 7; 84 ÷ 7 = 12 ml; 12 × 3 = **36 ml red paint**. Less than half of 84 ml; white paint 48 ml.</a:t>
            </a:r>
          </a:p>
          <a:p>
            <a:r>
              <a:t>- T2: 35 ÷ 7 = 5; 5 × 4 = **20 notebooks**. Fewer notebooks than folders.</a:t>
            </a:r>
          </a:p>
          <a:p>
            <a:r>
              <a:t>- T3: 5 − 2 = 3; 24 ÷ 3 = 8; (2 + 5) × 8 = **56 people**. 16 adults and 40 children; difference 24.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## Slide 3 — Step-by-step practice 2</a:t>
            </a:r>
          </a:p>
          <a:p>
            <a:endParaRPr/>
          </a:p>
          <a:p>
            <a:r>
              <a:t>Instruction and row prompts match Slide 2 exactly.</a:t>
            </a:r>
          </a:p>
          <a:p>
            <a:endParaRPr/>
          </a:p>
          <a:p>
            <a:r>
              <a:t>| Thread 1: Guided | Thread 2: Core | Thread 3: Depth |</a:t>
            </a:r>
          </a:p>
          <a:p>
            <a:r>
              <a:t>| --- | --- | --- |</a:t>
            </a:r>
          </a:p>
          <a:p>
            <a:r>
              <a:t>| A 96 cm ribbon is cut into pieces A and B in the ratio 5:7. Find the length of B. | Juice and water are mixed in the ratio 2:7. There are 18 litres of juice. How many litres of water are needed? | Two lengths of ribbon, A and B, are in the ratio 5:8. B is 21 cm longer than A. What is their total length? |</a:t>
            </a:r>
          </a:p>
          <a:p>
            <a:endParaRPr/>
          </a:p>
          <a:p>
            <a:r>
              <a:t>Teacher working:</a:t>
            </a:r>
          </a:p>
          <a:p>
            <a:endParaRPr/>
          </a:p>
          <a:p>
            <a:r>
              <a:t>- T1: 5 + 7 = 12; 96 ÷ 12 = 8 cm; 8 × 7 = **56 cm**. More than half of 96 cm; A is 40 cm.</a:t>
            </a:r>
          </a:p>
          <a:p>
            <a:r>
              <a:t>- T2: 18 ÷ 2 = 9; 9 × 7 = **63 litres of water**. Between 3 and 4 times the juice amount (54–72 litres).</a:t>
            </a:r>
          </a:p>
          <a:p>
            <a:r>
              <a:t>- T3: 8 − 5 = 3; 21 ÷ 3 = 7; (5 + 8) × 7 = **91 cm**. The two lengths are 35 cm and 56 cm; difference 21 cm.</a:t>
            </a:r>
          </a:p>
          <a:p>
            <a:endParaRPr/>
          </a:p>
          <a:p>
            <a:endParaRPr/>
          </a:p>
          <a:p>
            <a:endParaRPr/>
          </a:p>
          <a:p>
            <a:r>
              <a:t>## Slides 4–7 — Independent practice</a:t>
            </a:r>
          </a:p>
          <a:p>
            <a:endParaRPr/>
          </a:p>
          <a:p>
            <a:r>
              <a:t>Instruction on each slide: **Choose a column. Show your working and check your answers.**</a:t>
            </a:r>
          </a:p>
          <a:p>
            <a:endParaRPr/>
          </a:p>
          <a:p>
            <a:r>
              <a:t>Each column mixes contexts, unit types and requested quantities. “Find each” requires two labelled answers. Guided uses direct totals, known amounts and friendly given-difference questions. Core mixes totals, known amounts and simple differences. Depth mixes all three, including finding a difference from a total or a known amount. A column does not identify the required calculation.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M04-S04: answers are in the separate ratio answer deck.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M04-S05: answers are in the separate ratio answer deck.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M04-S06: answers are in the separate ratio answer deck.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M04-S07: answers are in the separate ratio answer deck.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0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10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10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10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10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10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10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91440"/>
          </a:xfrm>
          <a:prstGeom prst="rect">
            <a:avLst/>
          </a:prstGeom>
          <a:solidFill>
            <a:srgbClr val="176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84048" y="219456"/>
            <a:ext cx="13807440" cy="45720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3132"/>
              </a:lnSpc>
              <a:spcBef>
                <a:spcPts val="0"/>
              </a:spcBef>
              <a:spcAft>
                <a:spcPts val="0"/>
              </a:spcAft>
              <a:defRPr sz="2900" b="1">
                <a:solidFill>
                  <a:srgbClr val="182B3A"/>
                </a:solidFill>
                <a:latin typeface="Arial"/>
              </a:defRPr>
            </a:pPr>
            <a:r>
              <a:t>Ratio: sharing and missing amounts — spot the errors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740664"/>
            <a:ext cx="13807440" cy="41148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526472"/>
                </a:solidFill>
                <a:latin typeface="Arial"/>
              </a:defRPr>
            </a:pPr>
            <a:r>
              <a:t>Each student’s working contains a mistake. Find it, correct the working and give the right answer.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7863840"/>
            <a:ext cx="13716000" cy="25603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188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6472"/>
                </a:solidFill>
                <a:latin typeface="Arial"/>
              </a:defRPr>
            </a:pPr>
            <a:r>
              <a:t>M04-SE  •  Record your working in your booklet or webapp.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048" y="1234440"/>
            <a:ext cx="4588764" cy="420624"/>
          </a:xfrm>
          <a:prstGeom prst="rect">
            <a:avLst/>
          </a:prstGeom>
          <a:solidFill>
            <a:srgbClr val="176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48056" y="1261872"/>
            <a:ext cx="4474464" cy="34747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  <a:latin typeface="Arial"/>
              </a:defRPr>
            </a:pPr>
            <a:r>
              <a:t>Thread 1: Guided</a:t>
            </a:r>
          </a:p>
        </p:txBody>
      </p:sp>
      <p:sp>
        <p:nvSpPr>
          <p:cNvPr id="8" name="Rectangle 7"/>
          <p:cNvSpPr/>
          <p:nvPr/>
        </p:nvSpPr>
        <p:spPr>
          <a:xfrm>
            <a:off x="384048" y="1719072"/>
            <a:ext cx="4588764" cy="1929384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5488" y="1755648"/>
            <a:ext cx="4392168" cy="795528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82B3A"/>
                </a:solidFill>
                <a:latin typeface="Arial"/>
              </a:defRPr>
            </a:pPr>
            <a:r>
              <a:t>1.  Share £35 in ratio A:B = 2:5. Find A’s share.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578608"/>
            <a:ext cx="2029968" cy="3108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128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82B3A"/>
                </a:solidFill>
                <a:latin typeface="Arial"/>
              </a:defRPr>
            </a:pPr>
            <a:r>
              <a:t>2 + 5 = 7 parts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862072"/>
            <a:ext cx="2029968" cy="3108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128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82B3A"/>
                </a:solidFill>
                <a:latin typeface="Arial"/>
              </a:defRPr>
            </a:pPr>
            <a:r>
              <a:t>35 ÷ 7 = 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34056" y="2578608"/>
            <a:ext cx="2029968" cy="3108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128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82B3A"/>
                </a:solidFill>
                <a:latin typeface="Arial"/>
              </a:defRPr>
            </a:pPr>
            <a:r>
              <a:t>A = 5 × 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34056" y="2862072"/>
            <a:ext cx="2029968" cy="3108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128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82B3A"/>
                </a:solidFill>
                <a:latin typeface="Arial"/>
              </a:defRPr>
            </a:pPr>
            <a:r>
              <a:t>A = £25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3392424"/>
            <a:ext cx="420624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016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A receives £25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84048" y="3721608"/>
            <a:ext cx="4588764" cy="1929384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75488" y="3758184"/>
            <a:ext cx="4392168" cy="795528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82B3A"/>
                </a:solidFill>
                <a:latin typeface="Arial"/>
              </a:defRPr>
            </a:pPr>
            <a:r>
              <a:t>2.  Red:blue = 3:4. There are 12 red counters. How many blue?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4581144"/>
            <a:ext cx="2029968" cy="3108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128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82B3A"/>
                </a:solidFill>
                <a:latin typeface="Arial"/>
              </a:defRPr>
            </a:pPr>
            <a:r>
              <a:t>3 + 4 = 7 parts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4864608"/>
            <a:ext cx="2029968" cy="3108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128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82B3A"/>
                </a:solidFill>
                <a:latin typeface="Arial"/>
              </a:defRPr>
            </a:pPr>
            <a:r>
              <a:t>12 ÷ 7 = 1 r 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34056" y="4581144"/>
            <a:ext cx="2029968" cy="3108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128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82B3A"/>
                </a:solidFill>
                <a:latin typeface="Arial"/>
              </a:defRPr>
            </a:pPr>
            <a:r>
              <a:t>Blue = 4 × 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734056" y="4864608"/>
            <a:ext cx="2029968" cy="3108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128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82B3A"/>
                </a:solidFill>
                <a:latin typeface="Arial"/>
              </a:defRPr>
            </a:pPr>
            <a:r>
              <a:t>Blue = 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5394960"/>
            <a:ext cx="420624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016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4 blue counters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84048" y="5724144"/>
            <a:ext cx="4588764" cy="1929384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75488" y="5760720"/>
            <a:ext cx="4392168" cy="795528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82B3A"/>
                </a:solidFill>
                <a:latin typeface="Arial"/>
              </a:defRPr>
            </a:pPr>
            <a:r>
              <a:t>3.  Share 24 sweets in ratio A:B = 1:3. Find B’s share.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" y="6583679"/>
            <a:ext cx="2029968" cy="3108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128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82B3A"/>
                </a:solidFill>
                <a:latin typeface="Arial"/>
              </a:defRPr>
            </a:pPr>
            <a:r>
              <a:t>1 + 3 = 4 parts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360" y="6867144"/>
            <a:ext cx="2029968" cy="3108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128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82B3A"/>
                </a:solidFill>
                <a:latin typeface="Arial"/>
              </a:defRPr>
            </a:pPr>
            <a:r>
              <a:t>24 ÷ 4 = 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734056" y="6583679"/>
            <a:ext cx="2029968" cy="3108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128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82B3A"/>
                </a:solidFill>
                <a:latin typeface="Arial"/>
              </a:defRPr>
            </a:pPr>
            <a:r>
              <a:t>B = 6 + 3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734056" y="6867144"/>
            <a:ext cx="2029968" cy="3108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128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82B3A"/>
                </a:solidFill>
                <a:latin typeface="Arial"/>
              </a:defRPr>
            </a:pPr>
            <a:r>
              <a:t>B = 9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4360" y="7397496"/>
            <a:ext cx="420624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016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B receives 9 sweets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004816" y="1234440"/>
            <a:ext cx="4588764" cy="420624"/>
          </a:xfrm>
          <a:prstGeom prst="rect">
            <a:avLst/>
          </a:prstGeom>
          <a:solidFill>
            <a:srgbClr val="3559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068824" y="1261872"/>
            <a:ext cx="4474464" cy="34747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  <a:latin typeface="Arial"/>
              </a:defRPr>
            </a:pPr>
            <a:r>
              <a:t>Thread 2: Core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004816" y="1719072"/>
            <a:ext cx="4588764" cy="1929384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096256" y="1755648"/>
            <a:ext cx="4392168" cy="795528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82B3A"/>
                </a:solidFill>
                <a:latin typeface="Arial"/>
              </a:defRPr>
            </a:pPr>
            <a:r>
              <a:t>1.  A:B = 2:7. B has 25 more than A. Find A.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215128" y="2578608"/>
            <a:ext cx="2029968" cy="3108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128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82B3A"/>
                </a:solidFill>
                <a:latin typeface="Arial"/>
              </a:defRPr>
            </a:pPr>
            <a:r>
              <a:t>7 − 2 = 5 parts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215128" y="2862072"/>
            <a:ext cx="2029968" cy="3108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128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82B3A"/>
                </a:solidFill>
                <a:latin typeface="Arial"/>
              </a:defRPr>
            </a:pPr>
            <a:r>
              <a:t>25 ÷ 5 = 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54824" y="2578608"/>
            <a:ext cx="2029968" cy="3108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128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82B3A"/>
                </a:solidFill>
                <a:latin typeface="Arial"/>
              </a:defRPr>
            </a:pPr>
            <a:r>
              <a:t>A = 2 + 5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354824" y="2862072"/>
            <a:ext cx="2029968" cy="3108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128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82B3A"/>
                </a:solidFill>
                <a:latin typeface="Arial"/>
              </a:defRPr>
            </a:pPr>
            <a:r>
              <a:t>A = 7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215128" y="3392424"/>
            <a:ext cx="420624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016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A has 7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004816" y="3721608"/>
            <a:ext cx="4588764" cy="1929384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096256" y="3758184"/>
            <a:ext cx="4392168" cy="795528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82B3A"/>
                </a:solidFill>
                <a:latin typeface="Arial"/>
              </a:defRPr>
            </a:pPr>
            <a:r>
              <a:t>2.  Red:blue = 4:3. There are 15 blue counters. Find red.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215128" y="4581144"/>
            <a:ext cx="2029968" cy="3108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128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82B3A"/>
                </a:solidFill>
                <a:latin typeface="Arial"/>
              </a:defRPr>
            </a:pPr>
            <a:r>
              <a:t>15 ÷ 4 = 3.75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354824" y="4581144"/>
            <a:ext cx="2029968" cy="3108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128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82B3A"/>
                </a:solidFill>
                <a:latin typeface="Arial"/>
              </a:defRPr>
            </a:pPr>
            <a:r>
              <a:t>Red = 3 × 3.75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354824" y="4864608"/>
            <a:ext cx="2029968" cy="3108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128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82B3A"/>
                </a:solidFill>
                <a:latin typeface="Arial"/>
              </a:defRPr>
            </a:pPr>
            <a:r>
              <a:t>Red = 11.25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215128" y="5394960"/>
            <a:ext cx="420624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016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11.25 red counters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004816" y="5724144"/>
            <a:ext cx="4588764" cy="1929384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096256" y="5760720"/>
            <a:ext cx="4392168" cy="795528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82B3A"/>
                </a:solidFill>
                <a:latin typeface="Arial"/>
              </a:defRPr>
            </a:pPr>
            <a:r>
              <a:t>3.  A:B = 3:5, total 40. How many more does B have?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215128" y="6583679"/>
            <a:ext cx="2029968" cy="3108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128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82B3A"/>
                </a:solidFill>
                <a:latin typeface="Arial"/>
              </a:defRPr>
            </a:pPr>
            <a:r>
              <a:t>3 + 5 = 8 parts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215128" y="6867144"/>
            <a:ext cx="2029968" cy="3108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128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82B3A"/>
                </a:solidFill>
                <a:latin typeface="Arial"/>
              </a:defRPr>
            </a:pPr>
            <a:r>
              <a:t>40 ÷ 8 = 5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215128" y="7150608"/>
            <a:ext cx="2029968" cy="3108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128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82B3A"/>
                </a:solidFill>
                <a:latin typeface="Arial"/>
              </a:defRPr>
            </a:pPr>
            <a:r>
              <a:t>A = 3 × 5 = 15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354824" y="6583679"/>
            <a:ext cx="2029968" cy="3108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128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82B3A"/>
                </a:solidFill>
                <a:latin typeface="Arial"/>
              </a:defRPr>
            </a:pPr>
            <a:r>
              <a:t>B = 5 × 5 = 25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354824" y="6867144"/>
            <a:ext cx="2029968" cy="3108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128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82B3A"/>
                </a:solidFill>
                <a:latin typeface="Arial"/>
              </a:defRPr>
            </a:pPr>
            <a:r>
              <a:t>15 + 25 = 40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215128" y="7397496"/>
            <a:ext cx="420624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016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B has 40 more</a:t>
            </a:r>
          </a:p>
        </p:txBody>
      </p:sp>
      <p:sp>
        <p:nvSpPr>
          <p:cNvPr id="52" name="Rectangle 51"/>
          <p:cNvSpPr/>
          <p:nvPr/>
        </p:nvSpPr>
        <p:spPr>
          <a:xfrm>
            <a:off x="9625584" y="1234440"/>
            <a:ext cx="4588764" cy="420624"/>
          </a:xfrm>
          <a:prstGeom prst="rect">
            <a:avLst/>
          </a:prstGeom>
          <a:solidFill>
            <a:srgbClr val="754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9689592" y="1261872"/>
            <a:ext cx="4474464" cy="34747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  <a:latin typeface="Arial"/>
              </a:defRPr>
            </a:pPr>
            <a:r>
              <a:t>Thread 3: Depth</a:t>
            </a:r>
          </a:p>
        </p:txBody>
      </p:sp>
      <p:sp>
        <p:nvSpPr>
          <p:cNvPr id="54" name="Rectangle 53"/>
          <p:cNvSpPr/>
          <p:nvPr/>
        </p:nvSpPr>
        <p:spPr>
          <a:xfrm>
            <a:off x="9625584" y="1719072"/>
            <a:ext cx="4588764" cy="1929384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9717024" y="1755648"/>
            <a:ext cx="4392168" cy="795528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82B3A"/>
                </a:solidFill>
                <a:latin typeface="Arial"/>
              </a:defRPr>
            </a:pPr>
            <a:r>
              <a:t>1.  Adults:children = 5:8, total 39. How many more children?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835896" y="2578608"/>
            <a:ext cx="2029968" cy="3108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128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82B3A"/>
                </a:solidFill>
                <a:latin typeface="Arial"/>
              </a:defRPr>
            </a:pPr>
            <a:r>
              <a:t>5 + 8 = 13 parts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835896" y="2862072"/>
            <a:ext cx="2029968" cy="3108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128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82B3A"/>
                </a:solidFill>
                <a:latin typeface="Arial"/>
              </a:defRPr>
            </a:pPr>
            <a:r>
              <a:t>39 ÷ 13 = 3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835896" y="3145536"/>
            <a:ext cx="2029968" cy="3108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128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82B3A"/>
                </a:solidFill>
                <a:latin typeface="Arial"/>
              </a:defRPr>
            </a:pPr>
            <a:r>
              <a:t>Adults = 5 × 3 = 15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1975592" y="2578608"/>
            <a:ext cx="2029968" cy="3108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128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82B3A"/>
                </a:solidFill>
                <a:latin typeface="Arial"/>
              </a:defRPr>
            </a:pPr>
            <a:r>
              <a:t>Children = 8 × 3 = 24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1975592" y="2862072"/>
            <a:ext cx="2029968" cy="3108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128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82B3A"/>
                </a:solidFill>
                <a:latin typeface="Arial"/>
              </a:defRPr>
            </a:pPr>
            <a:r>
              <a:t>8 − 5 = 3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835896" y="3392424"/>
            <a:ext cx="420624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016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3 more children</a:t>
            </a:r>
          </a:p>
        </p:txBody>
      </p:sp>
      <p:sp>
        <p:nvSpPr>
          <p:cNvPr id="62" name="Rectangle 61"/>
          <p:cNvSpPr/>
          <p:nvPr/>
        </p:nvSpPr>
        <p:spPr>
          <a:xfrm>
            <a:off x="9625584" y="3721608"/>
            <a:ext cx="4588764" cy="1929384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9717024" y="3758184"/>
            <a:ext cx="4392168" cy="795528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82B3A"/>
                </a:solidFill>
                <a:latin typeface="Arial"/>
              </a:defRPr>
            </a:pPr>
            <a:r>
              <a:t>2.  Short:long ribbon = 3:8. Long is 35 cm longer. Total length?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9835896" y="4581144"/>
            <a:ext cx="2029968" cy="3108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128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82B3A"/>
                </a:solidFill>
                <a:latin typeface="Arial"/>
              </a:defRPr>
            </a:pPr>
            <a:r>
              <a:t>8 − 3 = 5 parts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9835896" y="4864608"/>
            <a:ext cx="2029968" cy="3108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128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82B3A"/>
                </a:solidFill>
                <a:latin typeface="Arial"/>
              </a:defRPr>
            </a:pPr>
            <a:r>
              <a:t>35 ÷ 5 = 7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9835896" y="5148072"/>
            <a:ext cx="2029968" cy="3108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128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82B3A"/>
                </a:solidFill>
                <a:latin typeface="Arial"/>
              </a:defRPr>
            </a:pPr>
            <a:r>
              <a:t>Short = 3 × 7 = 21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1975592" y="4581144"/>
            <a:ext cx="2029968" cy="3108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128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82B3A"/>
                </a:solidFill>
                <a:latin typeface="Arial"/>
              </a:defRPr>
            </a:pPr>
            <a:r>
              <a:t>Long = 8 × 7 = 56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1975592" y="4864608"/>
            <a:ext cx="2029968" cy="3108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128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82B3A"/>
                </a:solidFill>
                <a:latin typeface="Arial"/>
              </a:defRPr>
            </a:pPr>
            <a:r>
              <a:t>56 − 21 = 35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9835896" y="5394960"/>
            <a:ext cx="420624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016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Total length = 35 cm</a:t>
            </a:r>
          </a:p>
        </p:txBody>
      </p:sp>
      <p:sp>
        <p:nvSpPr>
          <p:cNvPr id="70" name="Rectangle 69"/>
          <p:cNvSpPr/>
          <p:nvPr/>
        </p:nvSpPr>
        <p:spPr>
          <a:xfrm>
            <a:off x="9625584" y="5724144"/>
            <a:ext cx="4588764" cy="1929384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9717024" y="5760720"/>
            <a:ext cx="4392168" cy="795528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82B3A"/>
                </a:solidFill>
                <a:latin typeface="Arial"/>
              </a:defRPr>
            </a:pPr>
            <a:r>
              <a:t>3.  A:B = 7:4. A has 42 tokens. How many tokens altogether?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9835896" y="6583679"/>
            <a:ext cx="2029968" cy="3108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128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82B3A"/>
                </a:solidFill>
                <a:latin typeface="Arial"/>
              </a:defRPr>
            </a:pPr>
            <a:r>
              <a:t>42 ÷ 7 = 6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9835896" y="6867144"/>
            <a:ext cx="2029968" cy="3108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128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82B3A"/>
                </a:solidFill>
                <a:latin typeface="Arial"/>
              </a:defRPr>
            </a:pPr>
            <a:r>
              <a:t>B = 4 × 6 = 24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11975592" y="6583679"/>
            <a:ext cx="2029968" cy="3108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128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82B3A"/>
                </a:solidFill>
                <a:latin typeface="Arial"/>
              </a:defRPr>
            </a:pPr>
            <a:r>
              <a:t>42 + 4 = 46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9835896" y="7397496"/>
            <a:ext cx="420624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016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Total = 46 tokens</a:t>
            </a:r>
          </a:p>
        </p:txBody>
      </p:sp>
    </p:spTree>
  </p:cSld>
  <p:clrMapOvr>
    <a:masterClrMapping/>
  </p:clrMapOvr>
</p:sld>
</file>

<file path=ppt/slides/slide10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73152"/>
          </a:xfrm>
          <a:prstGeom prst="rect">
            <a:avLst/>
          </a:prstGeom>
          <a:solidFill>
            <a:srgbClr val="176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64592"/>
            <a:ext cx="13990320" cy="45720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940"/>
              </a:lnSpc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182B3A"/>
                </a:solidFill>
                <a:latin typeface="Arial"/>
              </a:defRPr>
            </a:pPr>
            <a:r>
              <a:t>Ratio: initial assessment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704088"/>
            <a:ext cx="13990320" cy="34747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575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526472"/>
                </a:solidFill>
                <a:latin typeface="Arial"/>
              </a:defRPr>
            </a:pPr>
            <a:r>
              <a:t>Answer all four questions. Show your working.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7973568"/>
            <a:ext cx="10789920" cy="21031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155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6472"/>
                </a:solidFill>
                <a:latin typeface="Arial"/>
              </a:defRPr>
            </a:pPr>
            <a:r>
              <a:t>GCSE Maths revision • No calculator • Show your working.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7973568"/>
            <a:ext cx="3108960" cy="21031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155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6472"/>
                </a:solidFill>
                <a:latin typeface="Arial"/>
              </a:defRPr>
            </a:pPr>
            <a:r>
              <a:t>M04-IA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691640"/>
            <a:ext cx="6720840" cy="26060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828800"/>
            <a:ext cx="6446520" cy="12801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205"/>
              </a:lnSpc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182B3A"/>
                </a:solidFill>
                <a:latin typeface="Arial"/>
              </a:defRPr>
            </a:pPr>
            <a:r>
              <a:t>1.  Share £35 between A and B in the ratio 2:5. How much does A receive?</a:t>
            </a:r>
          </a:p>
        </p:txBody>
      </p:sp>
      <p:sp>
        <p:nvSpPr>
          <p:cNvPr id="9" name="Rectangle 8"/>
          <p:cNvSpPr/>
          <p:nvPr/>
        </p:nvSpPr>
        <p:spPr>
          <a:xfrm>
            <a:off x="7452360" y="1691640"/>
            <a:ext cx="6720840" cy="26060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89520" y="1828800"/>
            <a:ext cx="6446520" cy="12801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205"/>
              </a:lnSpc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182B3A"/>
                </a:solidFill>
                <a:latin typeface="Arial"/>
              </a:defRPr>
            </a:pPr>
            <a:r>
              <a:t>2.  Red and blue counters are in the ratio 3:4. There are 12 red counters. How many blue counters are there?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4526280"/>
            <a:ext cx="6720840" cy="26060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4663440"/>
            <a:ext cx="6446520" cy="12801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205"/>
              </a:lnSpc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182B3A"/>
                </a:solidFill>
                <a:latin typeface="Arial"/>
              </a:defRPr>
            </a:pPr>
            <a:r>
              <a:t>3.  Two ribbons have lengths in the ratio 2:7. The longer is 25 cm longer than the shorter. Find the shorter length.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52360" y="4526280"/>
            <a:ext cx="6720840" cy="26060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589520" y="4663440"/>
            <a:ext cx="6446520" cy="12801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205"/>
              </a:lnSpc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182B3A"/>
                </a:solidFill>
                <a:latin typeface="Arial"/>
              </a:defRPr>
            </a:pPr>
            <a:r>
              <a:t>4.  Adults and children are in the ratio 5:8. There are 39 people altogether. How many more children than adults are there?</a:t>
            </a:r>
          </a:p>
        </p:txBody>
      </p:sp>
    </p:spTree>
  </p:cSld>
  <p:clrMapOvr>
    <a:masterClrMapping/>
  </p:clrMapOvr>
</p:sld>
</file>

<file path=ppt/slides/slide10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00" cy="73152"/>
          </a:xfrm>
          <a:prstGeom prst="rect">
            <a:avLst/>
          </a:prstGeom>
          <a:solidFill>
            <a:srgbClr val="176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164592"/>
            <a:ext cx="13990320" cy="457200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2940"/>
              </a:lnSpc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182B3A"/>
                </a:solidFill>
                <a:latin typeface="Arial"/>
              </a:defRPr>
            </a:pPr>
            <a:r>
              <a:t>Ratio: sharing and missing amounts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704088"/>
            <a:ext cx="13990320" cy="347472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575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526472"/>
                </a:solidFill>
                <a:latin typeface="Arial"/>
              </a:defRPr>
            </a:pPr>
            <a:r>
              <a:t>Worked demo • Follow each step down your column.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7973568"/>
            <a:ext cx="10789920" cy="210312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155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6472"/>
                </a:solidFill>
                <a:latin typeface="Arial"/>
              </a:defRPr>
            </a:pPr>
            <a:r>
              <a:t>GCSE Maths revision • No calculator • Show your working.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7973568"/>
            <a:ext cx="3108960" cy="210312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155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6472"/>
                </a:solidFill>
                <a:latin typeface="Arial"/>
              </a:defRPr>
            </a:pPr>
            <a:r>
              <a:t>M04-S01</a:t>
            </a:r>
          </a:p>
        </p:txBody>
      </p:sp>
      <p:sp>
        <p:nvSpPr>
          <p:cNvPr id="7" name="Rectangle 6"/>
          <p:cNvSpPr/>
          <p:nvPr/>
        </p:nvSpPr>
        <p:spPr>
          <a:xfrm>
            <a:off x="2121408" y="1115568"/>
            <a:ext cx="4040123" cy="420624"/>
          </a:xfrm>
          <a:prstGeom prst="rect">
            <a:avLst/>
          </a:prstGeom>
          <a:solidFill>
            <a:srgbClr val="176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148839" y="1147572"/>
            <a:ext cx="3980688" cy="329184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Thread 1: Guided</a:t>
            </a:r>
          </a:p>
        </p:txBody>
      </p:sp>
      <p:sp>
        <p:nvSpPr>
          <p:cNvPr id="9" name="Rectangle 8"/>
          <p:cNvSpPr/>
          <p:nvPr/>
        </p:nvSpPr>
        <p:spPr>
          <a:xfrm>
            <a:off x="6184392" y="1115568"/>
            <a:ext cx="4040123" cy="420624"/>
          </a:xfrm>
          <a:prstGeom prst="rect">
            <a:avLst/>
          </a:prstGeom>
          <a:solidFill>
            <a:srgbClr val="3559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211824" y="1147572"/>
            <a:ext cx="3980688" cy="329184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Thread 2: Core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247376" y="1115568"/>
            <a:ext cx="4040123" cy="420624"/>
          </a:xfrm>
          <a:prstGeom prst="rect">
            <a:avLst/>
          </a:prstGeom>
          <a:solidFill>
            <a:srgbClr val="754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274808" y="1147572"/>
            <a:ext cx="3980688" cy="329184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Thread 3: Depth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1563624"/>
            <a:ext cx="1801367" cy="1389888"/>
          </a:xfrm>
          <a:prstGeom prst="rect">
            <a:avLst/>
          </a:prstGeom>
          <a:solidFill>
            <a:srgbClr val="E8EDF1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74904" y="1673352"/>
            <a:ext cx="1691639" cy="1207008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82B3A"/>
                </a:solidFill>
                <a:latin typeface="Arial"/>
              </a:defRPr>
            </a:pPr>
            <a:r>
              <a:t>The Full Question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121408" y="1563624"/>
            <a:ext cx="4062984" cy="1389888"/>
          </a:xfrm>
          <a:prstGeom prst="rect">
            <a:avLst/>
          </a:prstGeom>
          <a:solidFill>
            <a:srgbClr val="EDF6F5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2167127" y="1627632"/>
            <a:ext cx="3971544" cy="1261872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82B3A"/>
                </a:solidFill>
                <a:latin typeface="Arial"/>
              </a:defRPr>
            </a:pPr>
            <a:r>
              <a:t>A and B share £120 in the ratio 2:3. How much does B receive?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84392" y="1563624"/>
            <a:ext cx="4062984" cy="1389888"/>
          </a:xfrm>
          <a:prstGeom prst="rect">
            <a:avLst/>
          </a:prstGeom>
          <a:solidFill>
            <a:srgbClr val="EFF3FA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230112" y="1627632"/>
            <a:ext cx="3971544" cy="1261872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82B3A"/>
                </a:solidFill>
                <a:latin typeface="Arial"/>
              </a:defRPr>
            </a:pPr>
            <a:r>
              <a:t>Red and blue paint are mixed in the ratio 3:5. There are 18 litres of red paint. How many litres of blue paint are needed?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0247376" y="1563624"/>
            <a:ext cx="4062984" cy="1389888"/>
          </a:xfrm>
          <a:prstGeom prst="rect">
            <a:avLst/>
          </a:prstGeom>
          <a:solidFill>
            <a:srgbClr val="F5F0F7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0293096" y="1627632"/>
            <a:ext cx="3971544" cy="1261872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82B3A"/>
                </a:solidFill>
                <a:latin typeface="Arial"/>
              </a:defRPr>
            </a:pPr>
            <a:r>
              <a:t>Red and blue counters are in the ratio 3:7. There are 28 more blue counters than red counters. How many counters are there altogether?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20040" y="2953512"/>
            <a:ext cx="1801367" cy="960120"/>
          </a:xfrm>
          <a:prstGeom prst="rect">
            <a:avLst/>
          </a:prstGeom>
          <a:solidFill>
            <a:srgbClr val="E8EDF1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374904" y="3026664"/>
            <a:ext cx="1691639" cy="813816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82B3A"/>
                </a:solidFill>
                <a:latin typeface="Arial"/>
              </a:defRPr>
            </a:pPr>
            <a:r>
              <a:t>Keywords &amp; Calculation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121408" y="2953512"/>
            <a:ext cx="4062984" cy="96012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2167127" y="3026664"/>
            <a:ext cx="3971544" cy="813816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“share £120”: the total is known. 2 + 3 = 5 parts. £120 ÷ 5, then × 3.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84392" y="2953512"/>
            <a:ext cx="4062984" cy="96012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230112" y="3026664"/>
            <a:ext cx="3971544" cy="813816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“18 litres of red”: 3 parts are known. 18 ÷ 3, then × 5.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0247376" y="2953512"/>
            <a:ext cx="4062984" cy="96012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10293096" y="3026664"/>
            <a:ext cx="3971544" cy="813816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“28 more blue”: the difference is known. 7 − 3 = 4 parts. 28 ÷ 4, then × (3 + 7).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20040" y="3913632"/>
            <a:ext cx="1801367" cy="2066543"/>
          </a:xfrm>
          <a:prstGeom prst="rect">
            <a:avLst/>
          </a:prstGeom>
          <a:solidFill>
            <a:srgbClr val="E8EDF1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374904" y="3986784"/>
            <a:ext cx="1691639" cy="1920239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82B3A"/>
                </a:solidFill>
                <a:latin typeface="Arial"/>
              </a:defRPr>
            </a:pPr>
            <a:r>
              <a:t>Written Method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121408" y="3913632"/>
            <a:ext cx="4062984" cy="2066543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2167127" y="3968496"/>
            <a:ext cx="3971544" cy="685800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£120 ÷ 5 = £24 per part. £24 × 3 = £72.</a:t>
            </a:r>
          </a:p>
        </p:txBody>
      </p:sp>
      <p:grpSp>
        <p:nvGrpSpPr>
          <p:cNvPr id="33" name="Ratio bars A:B = 2:3, total"/>
          <p:cNvGrpSpPr/>
          <p:nvPr/>
        </p:nvGrpSpPr>
        <p:grpSpPr>
          <a:xfrm>
            <a:off x="2194560" y="4686300"/>
            <a:ext cx="3916680" cy="1275588"/>
            <a:chOff x="2194560" y="4686300"/>
            <a:chExt cx="3916680" cy="1275588"/>
          </a:xfrm>
        </p:grpSpPr>
        <p:sp>
          <p:nvSpPr>
            <p:cNvPr id="34" name="TextBox 33"/>
            <p:cNvSpPr txBox="1"/>
            <p:nvPr/>
          </p:nvSpPr>
          <p:spPr>
            <a:xfrm>
              <a:off x="2194560" y="4686300"/>
              <a:ext cx="914400" cy="274320"/>
            </a:xfrm>
            <a:prstGeom prst="rect">
              <a:avLst/>
            </a:prstGeom>
            <a:noFill/>
          </p:spPr>
          <p:txBody>
            <a:bodyPr wrap="square" lIns="54864" tIns="22860" rIns="54864" bIns="22860">
              <a:spAutoFit/>
            </a:bodyPr>
            <a:lstStyle/>
            <a:p>
              <a:pPr>
                <a:lnSpc>
                  <a:spcPts val="1260"/>
                </a:lnSpc>
                <a:spcBef>
                  <a:spcPts val="0"/>
                </a:spcBef>
                <a:spcAft>
                  <a:spcPts val="0"/>
                </a:spcAft>
                <a:defRPr sz="1200" b="1">
                  <a:solidFill>
                    <a:srgbClr val="182B3A"/>
                  </a:solidFill>
                  <a:latin typeface="Arial"/>
                </a:defRPr>
              </a:pPr>
              <a:r>
                <a:t>A</a:t>
              </a:r>
            </a:p>
          </p:txBody>
        </p:sp>
        <p:sp>
          <p:nvSpPr>
            <p:cNvPr id="35" name="Rectangle 34"/>
            <p:cNvSpPr/>
            <p:nvPr/>
          </p:nvSpPr>
          <p:spPr>
            <a:xfrm>
              <a:off x="3108960" y="4709160"/>
              <a:ext cx="393192" cy="210312"/>
            </a:xfrm>
            <a:prstGeom prst="rect">
              <a:avLst/>
            </a:prstGeom>
            <a:solidFill>
              <a:srgbClr val="EDF6F5"/>
            </a:solidFill>
            <a:ln w="7620">
              <a:solidFill>
                <a:srgbClr val="176B73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6" name="Rectangle 35"/>
            <p:cNvSpPr/>
            <p:nvPr/>
          </p:nvSpPr>
          <p:spPr>
            <a:xfrm>
              <a:off x="3502152" y="4709160"/>
              <a:ext cx="393192" cy="210312"/>
            </a:xfrm>
            <a:prstGeom prst="rect">
              <a:avLst/>
            </a:prstGeom>
            <a:solidFill>
              <a:srgbClr val="EDF6F5"/>
            </a:solidFill>
            <a:ln w="7620">
              <a:solidFill>
                <a:srgbClr val="176B73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7" name="TextBox 36"/>
            <p:cNvSpPr txBox="1"/>
            <p:nvPr/>
          </p:nvSpPr>
          <p:spPr>
            <a:xfrm>
              <a:off x="2194560" y="5061204"/>
              <a:ext cx="914400" cy="274320"/>
            </a:xfrm>
            <a:prstGeom prst="rect">
              <a:avLst/>
            </a:prstGeom>
            <a:noFill/>
          </p:spPr>
          <p:txBody>
            <a:bodyPr wrap="square" lIns="54864" tIns="22860" rIns="54864" bIns="22860">
              <a:spAutoFit/>
            </a:bodyPr>
            <a:lstStyle/>
            <a:p>
              <a:pPr>
                <a:lnSpc>
                  <a:spcPts val="1260"/>
                </a:lnSpc>
                <a:spcBef>
                  <a:spcPts val="0"/>
                </a:spcBef>
                <a:spcAft>
                  <a:spcPts val="0"/>
                </a:spcAft>
                <a:defRPr sz="1200" b="1">
                  <a:solidFill>
                    <a:srgbClr val="182B3A"/>
                  </a:solidFill>
                  <a:latin typeface="Arial"/>
                </a:defRPr>
              </a:pPr>
              <a:r>
                <a:t>B</a:t>
              </a:r>
            </a:p>
          </p:txBody>
        </p:sp>
        <p:sp>
          <p:nvSpPr>
            <p:cNvPr id="38" name="Rectangle 37"/>
            <p:cNvSpPr/>
            <p:nvPr/>
          </p:nvSpPr>
          <p:spPr>
            <a:xfrm>
              <a:off x="3108960" y="5084064"/>
              <a:ext cx="393192" cy="210312"/>
            </a:xfrm>
            <a:prstGeom prst="rect">
              <a:avLst/>
            </a:prstGeom>
            <a:solidFill>
              <a:srgbClr val="EDF6F5"/>
            </a:solidFill>
            <a:ln w="7620">
              <a:solidFill>
                <a:srgbClr val="176B73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9" name="Rectangle 38"/>
            <p:cNvSpPr/>
            <p:nvPr/>
          </p:nvSpPr>
          <p:spPr>
            <a:xfrm>
              <a:off x="3502152" y="5084064"/>
              <a:ext cx="393192" cy="210312"/>
            </a:xfrm>
            <a:prstGeom prst="rect">
              <a:avLst/>
            </a:prstGeom>
            <a:solidFill>
              <a:srgbClr val="EDF6F5"/>
            </a:solidFill>
            <a:ln w="7620">
              <a:solidFill>
                <a:srgbClr val="176B73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0" name="Rectangle 39"/>
            <p:cNvSpPr/>
            <p:nvPr/>
          </p:nvSpPr>
          <p:spPr>
            <a:xfrm>
              <a:off x="3895344" y="5084064"/>
              <a:ext cx="393192" cy="210312"/>
            </a:xfrm>
            <a:prstGeom prst="rect">
              <a:avLst/>
            </a:prstGeom>
            <a:solidFill>
              <a:srgbClr val="EDF6F5"/>
            </a:solidFill>
            <a:ln w="7620">
              <a:solidFill>
                <a:srgbClr val="176B73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cxnSp>
          <p:nvCxnSpPr>
            <p:cNvPr id="41" name="Connector 40"/>
            <p:cNvCxnSpPr/>
            <p:nvPr/>
          </p:nvCxnSpPr>
          <p:spPr>
            <a:xfrm>
              <a:off x="4379975" y="4709160"/>
              <a:ext cx="0" cy="585216"/>
            </a:xfrm>
            <a:prstGeom prst="line">
              <a:avLst/>
            </a:prstGeom>
            <a:ln w="15240">
              <a:solidFill>
                <a:srgbClr val="176B73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Connector 41"/>
            <p:cNvCxnSpPr/>
            <p:nvPr/>
          </p:nvCxnSpPr>
          <p:spPr>
            <a:xfrm>
              <a:off x="4334255" y="4709160"/>
              <a:ext cx="45720" cy="0"/>
            </a:xfrm>
            <a:prstGeom prst="line">
              <a:avLst/>
            </a:prstGeom>
            <a:ln w="15240">
              <a:solidFill>
                <a:srgbClr val="176B73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Connector 42"/>
            <p:cNvCxnSpPr/>
            <p:nvPr/>
          </p:nvCxnSpPr>
          <p:spPr>
            <a:xfrm>
              <a:off x="4334255" y="5294376"/>
              <a:ext cx="45720" cy="0"/>
            </a:xfrm>
            <a:prstGeom prst="line">
              <a:avLst/>
            </a:prstGeom>
            <a:ln w="15240">
              <a:solidFill>
                <a:srgbClr val="176B73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4" name="TextBox 43"/>
            <p:cNvSpPr txBox="1"/>
            <p:nvPr/>
          </p:nvSpPr>
          <p:spPr>
            <a:xfrm>
              <a:off x="3108960" y="5385816"/>
              <a:ext cx="3002280" cy="265176"/>
            </a:xfrm>
            <a:prstGeom prst="rect">
              <a:avLst/>
            </a:prstGeom>
            <a:noFill/>
          </p:spPr>
          <p:txBody>
            <a:bodyPr wrap="square" lIns="54864" tIns="22860" rIns="54864" bIns="22860">
              <a:spAutoFit/>
            </a:bodyPr>
            <a:lstStyle/>
            <a:p>
              <a:pPr>
                <a:lnSpc>
                  <a:spcPts val="1260"/>
                </a:lnSpc>
                <a:spcBef>
                  <a:spcPts val="0"/>
                </a:spcBef>
                <a:spcAft>
                  <a:spcPts val="0"/>
                </a:spcAft>
                <a:defRPr sz="1200" b="1">
                  <a:solidFill>
                    <a:srgbClr val="176B73"/>
                  </a:solidFill>
                  <a:latin typeface="Arial"/>
                </a:defRPr>
              </a:pPr>
              <a:r>
                <a:t>£120 altogether</a:t>
              </a:r>
            </a:p>
          </p:txBody>
        </p:sp>
        <p:sp>
          <p:nvSpPr>
            <p:cNvPr id="45" name="TextBox 44"/>
            <p:cNvSpPr txBox="1"/>
            <p:nvPr/>
          </p:nvSpPr>
          <p:spPr>
            <a:xfrm>
              <a:off x="3108960" y="5696712"/>
              <a:ext cx="3002280" cy="265176"/>
            </a:xfrm>
            <a:prstGeom prst="rect">
              <a:avLst/>
            </a:prstGeom>
            <a:noFill/>
          </p:spPr>
          <p:txBody>
            <a:bodyPr wrap="square" lIns="54864" tIns="22860" rIns="54864" bIns="22860">
              <a:spAutoFit/>
            </a:bodyPr>
            <a:lstStyle/>
            <a:p>
              <a:pPr>
                <a:lnSpc>
                  <a:spcPts val="1365"/>
                </a:lnSpc>
                <a:spcBef>
                  <a:spcPts val="0"/>
                </a:spcBef>
                <a:spcAft>
                  <a:spcPts val="0"/>
                </a:spcAft>
                <a:defRPr sz="1300" b="1">
                  <a:solidFill>
                    <a:srgbClr val="176B73"/>
                  </a:solidFill>
                  <a:latin typeface="Arial"/>
                </a:defRPr>
              </a:pPr>
              <a:r>
                <a:t>1 part = £24</a:t>
              </a:r>
            </a:p>
          </p:txBody>
        </p:sp>
      </p:grpSp>
      <p:sp>
        <p:nvSpPr>
          <p:cNvPr id="46" name="Rectangle 45"/>
          <p:cNvSpPr/>
          <p:nvPr/>
        </p:nvSpPr>
        <p:spPr>
          <a:xfrm>
            <a:off x="6184392" y="3913632"/>
            <a:ext cx="4062984" cy="2066543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6230112" y="3968496"/>
            <a:ext cx="3971544" cy="685800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18 ÷ 3 = 6 litres per part. 6 × 5 = 30 litres.</a:t>
            </a:r>
          </a:p>
        </p:txBody>
      </p:sp>
      <p:grpSp>
        <p:nvGrpSpPr>
          <p:cNvPr id="48" name="Ratio bars Red:Blue = 3:5, first"/>
          <p:cNvGrpSpPr/>
          <p:nvPr/>
        </p:nvGrpSpPr>
        <p:grpSpPr>
          <a:xfrm>
            <a:off x="6257544" y="4626864"/>
            <a:ext cx="3916680" cy="1335024"/>
            <a:chOff x="6257544" y="4626864"/>
            <a:chExt cx="3916680" cy="1335024"/>
          </a:xfrm>
        </p:grpSpPr>
        <p:sp>
          <p:nvSpPr>
            <p:cNvPr id="49" name="TextBox 48"/>
            <p:cNvSpPr txBox="1"/>
            <p:nvPr/>
          </p:nvSpPr>
          <p:spPr>
            <a:xfrm>
              <a:off x="6257544" y="4686300"/>
              <a:ext cx="914400" cy="274320"/>
            </a:xfrm>
            <a:prstGeom prst="rect">
              <a:avLst/>
            </a:prstGeom>
            <a:noFill/>
          </p:spPr>
          <p:txBody>
            <a:bodyPr wrap="square" lIns="54864" tIns="22860" rIns="54864" bIns="22860">
              <a:spAutoFit/>
            </a:bodyPr>
            <a:lstStyle/>
            <a:p>
              <a:pPr>
                <a:lnSpc>
                  <a:spcPts val="1260"/>
                </a:lnSpc>
                <a:spcBef>
                  <a:spcPts val="0"/>
                </a:spcBef>
                <a:spcAft>
                  <a:spcPts val="0"/>
                </a:spcAft>
                <a:defRPr sz="1200" b="1">
                  <a:solidFill>
                    <a:srgbClr val="182B3A"/>
                  </a:solidFill>
                  <a:latin typeface="Arial"/>
                </a:defRPr>
              </a:pPr>
              <a:r>
                <a:t>Red</a:t>
              </a:r>
            </a:p>
          </p:txBody>
        </p:sp>
        <p:sp>
          <p:nvSpPr>
            <p:cNvPr id="50" name="Rectangle 49"/>
            <p:cNvSpPr/>
            <p:nvPr/>
          </p:nvSpPr>
          <p:spPr>
            <a:xfrm>
              <a:off x="7171944" y="4709160"/>
              <a:ext cx="393192" cy="210312"/>
            </a:xfrm>
            <a:prstGeom prst="rect">
              <a:avLst/>
            </a:prstGeom>
            <a:solidFill>
              <a:srgbClr val="EFF3FA"/>
            </a:solidFill>
            <a:ln w="7620">
              <a:solidFill>
                <a:srgbClr val="3559A2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1" name="Rectangle 50"/>
            <p:cNvSpPr/>
            <p:nvPr/>
          </p:nvSpPr>
          <p:spPr>
            <a:xfrm>
              <a:off x="7565136" y="4709160"/>
              <a:ext cx="393192" cy="210312"/>
            </a:xfrm>
            <a:prstGeom prst="rect">
              <a:avLst/>
            </a:prstGeom>
            <a:solidFill>
              <a:srgbClr val="EFF3FA"/>
            </a:solidFill>
            <a:ln w="7620">
              <a:solidFill>
                <a:srgbClr val="3559A2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2" name="Rectangle 51"/>
            <p:cNvSpPr/>
            <p:nvPr/>
          </p:nvSpPr>
          <p:spPr>
            <a:xfrm>
              <a:off x="7958328" y="4709160"/>
              <a:ext cx="393192" cy="210312"/>
            </a:xfrm>
            <a:prstGeom prst="rect">
              <a:avLst/>
            </a:prstGeom>
            <a:solidFill>
              <a:srgbClr val="EFF3FA"/>
            </a:solidFill>
            <a:ln w="7620">
              <a:solidFill>
                <a:srgbClr val="3559A2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3" name="TextBox 52"/>
            <p:cNvSpPr txBox="1"/>
            <p:nvPr/>
          </p:nvSpPr>
          <p:spPr>
            <a:xfrm>
              <a:off x="6257544" y="5061204"/>
              <a:ext cx="914400" cy="274320"/>
            </a:xfrm>
            <a:prstGeom prst="rect">
              <a:avLst/>
            </a:prstGeom>
            <a:noFill/>
          </p:spPr>
          <p:txBody>
            <a:bodyPr wrap="square" lIns="54864" tIns="22860" rIns="54864" bIns="22860">
              <a:spAutoFit/>
            </a:bodyPr>
            <a:lstStyle/>
            <a:p>
              <a:pPr>
                <a:lnSpc>
                  <a:spcPts val="1260"/>
                </a:lnSpc>
                <a:spcBef>
                  <a:spcPts val="0"/>
                </a:spcBef>
                <a:spcAft>
                  <a:spcPts val="0"/>
                </a:spcAft>
                <a:defRPr sz="1200" b="1">
                  <a:solidFill>
                    <a:srgbClr val="182B3A"/>
                  </a:solidFill>
                  <a:latin typeface="Arial"/>
                </a:defRPr>
              </a:pPr>
              <a:r>
                <a:t>Blue</a:t>
              </a:r>
            </a:p>
          </p:txBody>
        </p:sp>
        <p:sp>
          <p:nvSpPr>
            <p:cNvPr id="54" name="Rectangle 53"/>
            <p:cNvSpPr/>
            <p:nvPr/>
          </p:nvSpPr>
          <p:spPr>
            <a:xfrm>
              <a:off x="7171944" y="5084064"/>
              <a:ext cx="393192" cy="210312"/>
            </a:xfrm>
            <a:prstGeom prst="rect">
              <a:avLst/>
            </a:prstGeom>
            <a:solidFill>
              <a:srgbClr val="EFF3FA"/>
            </a:solidFill>
            <a:ln w="7620">
              <a:solidFill>
                <a:srgbClr val="3559A2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5" name="Rectangle 54"/>
            <p:cNvSpPr/>
            <p:nvPr/>
          </p:nvSpPr>
          <p:spPr>
            <a:xfrm>
              <a:off x="7565136" y="5084064"/>
              <a:ext cx="393192" cy="210312"/>
            </a:xfrm>
            <a:prstGeom prst="rect">
              <a:avLst/>
            </a:prstGeom>
            <a:solidFill>
              <a:srgbClr val="EFF3FA"/>
            </a:solidFill>
            <a:ln w="7620">
              <a:solidFill>
                <a:srgbClr val="3559A2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6" name="Rectangle 55"/>
            <p:cNvSpPr/>
            <p:nvPr/>
          </p:nvSpPr>
          <p:spPr>
            <a:xfrm>
              <a:off x="7958328" y="5084064"/>
              <a:ext cx="393192" cy="210312"/>
            </a:xfrm>
            <a:prstGeom prst="rect">
              <a:avLst/>
            </a:prstGeom>
            <a:solidFill>
              <a:srgbClr val="EFF3FA"/>
            </a:solidFill>
            <a:ln w="7620">
              <a:solidFill>
                <a:srgbClr val="3559A2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7" name="Rectangle 56"/>
            <p:cNvSpPr/>
            <p:nvPr/>
          </p:nvSpPr>
          <p:spPr>
            <a:xfrm>
              <a:off x="8351520" y="5084064"/>
              <a:ext cx="393192" cy="210312"/>
            </a:xfrm>
            <a:prstGeom prst="rect">
              <a:avLst/>
            </a:prstGeom>
            <a:solidFill>
              <a:srgbClr val="EFF3FA"/>
            </a:solidFill>
            <a:ln w="7620">
              <a:solidFill>
                <a:srgbClr val="3559A2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8" name="Rectangle 57"/>
            <p:cNvSpPr/>
            <p:nvPr/>
          </p:nvSpPr>
          <p:spPr>
            <a:xfrm>
              <a:off x="8744712" y="5084064"/>
              <a:ext cx="393192" cy="210312"/>
            </a:xfrm>
            <a:prstGeom prst="rect">
              <a:avLst/>
            </a:prstGeom>
            <a:solidFill>
              <a:srgbClr val="EFF3FA"/>
            </a:solidFill>
            <a:ln w="7620">
              <a:solidFill>
                <a:srgbClr val="3559A2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cxnSp>
          <p:nvCxnSpPr>
            <p:cNvPr id="59" name="Connector 58"/>
            <p:cNvCxnSpPr/>
            <p:nvPr/>
          </p:nvCxnSpPr>
          <p:spPr>
            <a:xfrm>
              <a:off x="7171944" y="4626864"/>
              <a:ext cx="1179576" cy="0"/>
            </a:xfrm>
            <a:prstGeom prst="line">
              <a:avLst/>
            </a:prstGeom>
            <a:ln w="15240">
              <a:solidFill>
                <a:srgbClr val="3559A2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0" name="TextBox 59"/>
            <p:cNvSpPr txBox="1"/>
            <p:nvPr/>
          </p:nvSpPr>
          <p:spPr>
            <a:xfrm>
              <a:off x="7171944" y="5385816"/>
              <a:ext cx="3002280" cy="265176"/>
            </a:xfrm>
            <a:prstGeom prst="rect">
              <a:avLst/>
            </a:prstGeom>
            <a:noFill/>
          </p:spPr>
          <p:txBody>
            <a:bodyPr wrap="square" lIns="54864" tIns="22860" rIns="54864" bIns="22860">
              <a:spAutoFit/>
            </a:bodyPr>
            <a:lstStyle/>
            <a:p>
              <a:pPr>
                <a:lnSpc>
                  <a:spcPts val="1260"/>
                </a:lnSpc>
                <a:spcBef>
                  <a:spcPts val="0"/>
                </a:spcBef>
                <a:spcAft>
                  <a:spcPts val="0"/>
                </a:spcAft>
                <a:defRPr sz="1200" b="1">
                  <a:solidFill>
                    <a:srgbClr val="3559A2"/>
                  </a:solidFill>
                  <a:latin typeface="Arial"/>
                </a:defRPr>
              </a:pPr>
              <a:r>
                <a:t>Red: 18 litres</a:t>
              </a:r>
            </a:p>
          </p:txBody>
        </p:sp>
        <p:sp>
          <p:nvSpPr>
            <p:cNvPr id="61" name="TextBox 60"/>
            <p:cNvSpPr txBox="1"/>
            <p:nvPr/>
          </p:nvSpPr>
          <p:spPr>
            <a:xfrm>
              <a:off x="7171944" y="5696712"/>
              <a:ext cx="3002280" cy="265176"/>
            </a:xfrm>
            <a:prstGeom prst="rect">
              <a:avLst/>
            </a:prstGeom>
            <a:noFill/>
          </p:spPr>
          <p:txBody>
            <a:bodyPr wrap="square" lIns="54864" tIns="22860" rIns="54864" bIns="22860">
              <a:spAutoFit/>
            </a:bodyPr>
            <a:lstStyle/>
            <a:p>
              <a:pPr>
                <a:lnSpc>
                  <a:spcPts val="1365"/>
                </a:lnSpc>
                <a:spcBef>
                  <a:spcPts val="0"/>
                </a:spcBef>
                <a:spcAft>
                  <a:spcPts val="0"/>
                </a:spcAft>
                <a:defRPr sz="1300" b="1">
                  <a:solidFill>
                    <a:srgbClr val="3559A2"/>
                  </a:solidFill>
                  <a:latin typeface="Arial"/>
                </a:defRPr>
              </a:pPr>
              <a:r>
                <a:t>1 part = 6 litres</a:t>
              </a:r>
            </a:p>
          </p:txBody>
        </p:sp>
      </p:grpSp>
      <p:sp>
        <p:nvSpPr>
          <p:cNvPr id="62" name="Rectangle 61"/>
          <p:cNvSpPr/>
          <p:nvPr/>
        </p:nvSpPr>
        <p:spPr>
          <a:xfrm>
            <a:off x="10247376" y="3913632"/>
            <a:ext cx="4062984" cy="2066543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10293096" y="3968496"/>
            <a:ext cx="3971544" cy="685800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28 ÷ 4 = 7 counters per part. 3 + 7 = 10 parts. 7 × 10 = 70 counters.</a:t>
            </a:r>
          </a:p>
        </p:txBody>
      </p:sp>
      <p:grpSp>
        <p:nvGrpSpPr>
          <p:cNvPr id="64" name="Ratio bars Red:Blue = 3:7, difference"/>
          <p:cNvGrpSpPr/>
          <p:nvPr/>
        </p:nvGrpSpPr>
        <p:grpSpPr>
          <a:xfrm>
            <a:off x="10320528" y="4686300"/>
            <a:ext cx="3916680" cy="1275588"/>
            <a:chOff x="10320528" y="4686300"/>
            <a:chExt cx="3916680" cy="1275588"/>
          </a:xfrm>
        </p:grpSpPr>
        <p:sp>
          <p:nvSpPr>
            <p:cNvPr id="65" name="TextBox 64"/>
            <p:cNvSpPr txBox="1"/>
            <p:nvPr/>
          </p:nvSpPr>
          <p:spPr>
            <a:xfrm>
              <a:off x="10320528" y="4686300"/>
              <a:ext cx="914400" cy="274320"/>
            </a:xfrm>
            <a:prstGeom prst="rect">
              <a:avLst/>
            </a:prstGeom>
            <a:noFill/>
          </p:spPr>
          <p:txBody>
            <a:bodyPr wrap="square" lIns="54864" tIns="22860" rIns="54864" bIns="22860">
              <a:spAutoFit/>
            </a:bodyPr>
            <a:lstStyle/>
            <a:p>
              <a:pPr>
                <a:lnSpc>
                  <a:spcPts val="1260"/>
                </a:lnSpc>
                <a:spcBef>
                  <a:spcPts val="0"/>
                </a:spcBef>
                <a:spcAft>
                  <a:spcPts val="0"/>
                </a:spcAft>
                <a:defRPr sz="1200" b="1">
                  <a:solidFill>
                    <a:srgbClr val="182B3A"/>
                  </a:solidFill>
                  <a:latin typeface="Arial"/>
                </a:defRPr>
              </a:pPr>
              <a:r>
                <a:t>Red</a:t>
              </a:r>
            </a:p>
          </p:txBody>
        </p:sp>
        <p:sp>
          <p:nvSpPr>
            <p:cNvPr id="66" name="Rectangle 65"/>
            <p:cNvSpPr/>
            <p:nvPr/>
          </p:nvSpPr>
          <p:spPr>
            <a:xfrm>
              <a:off x="11234928" y="4709160"/>
              <a:ext cx="393192" cy="210312"/>
            </a:xfrm>
            <a:prstGeom prst="rect">
              <a:avLst/>
            </a:prstGeom>
            <a:solidFill>
              <a:srgbClr val="F5F0F7"/>
            </a:solidFill>
            <a:ln w="7620">
              <a:solidFill>
                <a:srgbClr val="754B87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7" name="Rectangle 66"/>
            <p:cNvSpPr/>
            <p:nvPr/>
          </p:nvSpPr>
          <p:spPr>
            <a:xfrm>
              <a:off x="11628120" y="4709160"/>
              <a:ext cx="393192" cy="210312"/>
            </a:xfrm>
            <a:prstGeom prst="rect">
              <a:avLst/>
            </a:prstGeom>
            <a:solidFill>
              <a:srgbClr val="F5F0F7"/>
            </a:solidFill>
            <a:ln w="7620">
              <a:solidFill>
                <a:srgbClr val="754B87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8" name="Rectangle 67"/>
            <p:cNvSpPr/>
            <p:nvPr/>
          </p:nvSpPr>
          <p:spPr>
            <a:xfrm>
              <a:off x="12021312" y="4709160"/>
              <a:ext cx="393192" cy="210312"/>
            </a:xfrm>
            <a:prstGeom prst="rect">
              <a:avLst/>
            </a:prstGeom>
            <a:solidFill>
              <a:srgbClr val="F5F0F7"/>
            </a:solidFill>
            <a:ln w="7620">
              <a:solidFill>
                <a:srgbClr val="754B87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9" name="TextBox 68"/>
            <p:cNvSpPr txBox="1"/>
            <p:nvPr/>
          </p:nvSpPr>
          <p:spPr>
            <a:xfrm>
              <a:off x="10320528" y="5061204"/>
              <a:ext cx="914400" cy="274320"/>
            </a:xfrm>
            <a:prstGeom prst="rect">
              <a:avLst/>
            </a:prstGeom>
            <a:noFill/>
          </p:spPr>
          <p:txBody>
            <a:bodyPr wrap="square" lIns="54864" tIns="22860" rIns="54864" bIns="22860">
              <a:spAutoFit/>
            </a:bodyPr>
            <a:lstStyle/>
            <a:p>
              <a:pPr>
                <a:lnSpc>
                  <a:spcPts val="1260"/>
                </a:lnSpc>
                <a:spcBef>
                  <a:spcPts val="0"/>
                </a:spcBef>
                <a:spcAft>
                  <a:spcPts val="0"/>
                </a:spcAft>
                <a:defRPr sz="1200" b="1">
                  <a:solidFill>
                    <a:srgbClr val="182B3A"/>
                  </a:solidFill>
                  <a:latin typeface="Arial"/>
                </a:defRPr>
              </a:pPr>
              <a:r>
                <a:t>Blue</a:t>
              </a:r>
            </a:p>
          </p:txBody>
        </p:sp>
        <p:sp>
          <p:nvSpPr>
            <p:cNvPr id="70" name="Rectangle 69"/>
            <p:cNvSpPr/>
            <p:nvPr/>
          </p:nvSpPr>
          <p:spPr>
            <a:xfrm>
              <a:off x="11234928" y="5084064"/>
              <a:ext cx="393192" cy="210312"/>
            </a:xfrm>
            <a:prstGeom prst="rect">
              <a:avLst/>
            </a:prstGeom>
            <a:solidFill>
              <a:srgbClr val="F5F0F7"/>
            </a:solidFill>
            <a:ln w="7620">
              <a:solidFill>
                <a:srgbClr val="754B87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1" name="Rectangle 70"/>
            <p:cNvSpPr/>
            <p:nvPr/>
          </p:nvSpPr>
          <p:spPr>
            <a:xfrm>
              <a:off x="11628120" y="5084064"/>
              <a:ext cx="393192" cy="210312"/>
            </a:xfrm>
            <a:prstGeom prst="rect">
              <a:avLst/>
            </a:prstGeom>
            <a:solidFill>
              <a:srgbClr val="F5F0F7"/>
            </a:solidFill>
            <a:ln w="7620">
              <a:solidFill>
                <a:srgbClr val="754B87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2" name="Rectangle 71"/>
            <p:cNvSpPr/>
            <p:nvPr/>
          </p:nvSpPr>
          <p:spPr>
            <a:xfrm>
              <a:off x="12021312" y="5084064"/>
              <a:ext cx="393192" cy="210312"/>
            </a:xfrm>
            <a:prstGeom prst="rect">
              <a:avLst/>
            </a:prstGeom>
            <a:solidFill>
              <a:srgbClr val="F5F0F7"/>
            </a:solidFill>
            <a:ln w="7620">
              <a:solidFill>
                <a:srgbClr val="754B87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3" name="Rectangle 72"/>
            <p:cNvSpPr/>
            <p:nvPr/>
          </p:nvSpPr>
          <p:spPr>
            <a:xfrm>
              <a:off x="12414504" y="5084064"/>
              <a:ext cx="393192" cy="210312"/>
            </a:xfrm>
            <a:prstGeom prst="rect">
              <a:avLst/>
            </a:prstGeom>
            <a:solidFill>
              <a:srgbClr val="F5F0F7"/>
            </a:solidFill>
            <a:ln w="7620">
              <a:solidFill>
                <a:srgbClr val="754B87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4" name="Rectangle 73"/>
            <p:cNvSpPr/>
            <p:nvPr/>
          </p:nvSpPr>
          <p:spPr>
            <a:xfrm>
              <a:off x="12807696" y="5084064"/>
              <a:ext cx="393192" cy="210312"/>
            </a:xfrm>
            <a:prstGeom prst="rect">
              <a:avLst/>
            </a:prstGeom>
            <a:solidFill>
              <a:srgbClr val="F5F0F7"/>
            </a:solidFill>
            <a:ln w="7620">
              <a:solidFill>
                <a:srgbClr val="754B87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5" name="Rectangle 74"/>
            <p:cNvSpPr/>
            <p:nvPr/>
          </p:nvSpPr>
          <p:spPr>
            <a:xfrm>
              <a:off x="13200888" y="5084064"/>
              <a:ext cx="393192" cy="210312"/>
            </a:xfrm>
            <a:prstGeom prst="rect">
              <a:avLst/>
            </a:prstGeom>
            <a:solidFill>
              <a:srgbClr val="F5F0F7"/>
            </a:solidFill>
            <a:ln w="7620">
              <a:solidFill>
                <a:srgbClr val="754B87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6" name="Rectangle 75"/>
            <p:cNvSpPr/>
            <p:nvPr/>
          </p:nvSpPr>
          <p:spPr>
            <a:xfrm>
              <a:off x="13594080" y="5084064"/>
              <a:ext cx="393192" cy="210312"/>
            </a:xfrm>
            <a:prstGeom prst="rect">
              <a:avLst/>
            </a:prstGeom>
            <a:solidFill>
              <a:srgbClr val="F5F0F7"/>
            </a:solidFill>
            <a:ln w="7620">
              <a:solidFill>
                <a:srgbClr val="754B87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cxnSp>
          <p:nvCxnSpPr>
            <p:cNvPr id="77" name="Connector 76"/>
            <p:cNvCxnSpPr/>
            <p:nvPr/>
          </p:nvCxnSpPr>
          <p:spPr>
            <a:xfrm>
              <a:off x="12414504" y="5376672"/>
              <a:ext cx="1572768" cy="0"/>
            </a:xfrm>
            <a:prstGeom prst="line">
              <a:avLst/>
            </a:prstGeom>
            <a:ln w="15240">
              <a:solidFill>
                <a:srgbClr val="754B8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Connector 77"/>
            <p:cNvCxnSpPr/>
            <p:nvPr/>
          </p:nvCxnSpPr>
          <p:spPr>
            <a:xfrm>
              <a:off x="12414504" y="5330952"/>
              <a:ext cx="0" cy="91440"/>
            </a:xfrm>
            <a:prstGeom prst="line">
              <a:avLst/>
            </a:prstGeom>
            <a:ln w="15240">
              <a:solidFill>
                <a:srgbClr val="754B8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Connector 78"/>
            <p:cNvCxnSpPr/>
            <p:nvPr/>
          </p:nvCxnSpPr>
          <p:spPr>
            <a:xfrm>
              <a:off x="13987272" y="5330952"/>
              <a:ext cx="0" cy="91440"/>
            </a:xfrm>
            <a:prstGeom prst="line">
              <a:avLst/>
            </a:prstGeom>
            <a:ln w="15240">
              <a:solidFill>
                <a:srgbClr val="754B8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80" name="TextBox 79"/>
            <p:cNvSpPr txBox="1"/>
            <p:nvPr/>
          </p:nvSpPr>
          <p:spPr>
            <a:xfrm>
              <a:off x="11234928" y="5413248"/>
              <a:ext cx="3002280" cy="256032"/>
            </a:xfrm>
            <a:prstGeom prst="rect">
              <a:avLst/>
            </a:prstGeom>
            <a:noFill/>
          </p:spPr>
          <p:txBody>
            <a:bodyPr wrap="square" lIns="54864" tIns="22860" rIns="54864" bIns="22860">
              <a:spAutoFit/>
            </a:bodyPr>
            <a:lstStyle/>
            <a:p>
              <a:pPr>
                <a:lnSpc>
                  <a:spcPts val="1260"/>
                </a:lnSpc>
                <a:spcBef>
                  <a:spcPts val="0"/>
                </a:spcBef>
                <a:spcAft>
                  <a:spcPts val="0"/>
                </a:spcAft>
                <a:defRPr sz="1200" b="1">
                  <a:solidFill>
                    <a:srgbClr val="754B87"/>
                  </a:solidFill>
                  <a:latin typeface="Arial"/>
                </a:defRPr>
              </a:pPr>
              <a:r>
                <a:t>4 extra parts = 28 counters</a:t>
              </a:r>
            </a:p>
          </p:txBody>
        </p:sp>
        <p:sp>
          <p:nvSpPr>
            <p:cNvPr id="81" name="TextBox 80"/>
            <p:cNvSpPr txBox="1"/>
            <p:nvPr/>
          </p:nvSpPr>
          <p:spPr>
            <a:xfrm>
              <a:off x="11234928" y="5696712"/>
              <a:ext cx="3002280" cy="265176"/>
            </a:xfrm>
            <a:prstGeom prst="rect">
              <a:avLst/>
            </a:prstGeom>
            <a:noFill/>
          </p:spPr>
          <p:txBody>
            <a:bodyPr wrap="square" lIns="54864" tIns="22860" rIns="54864" bIns="22860">
              <a:spAutoFit/>
            </a:bodyPr>
            <a:lstStyle/>
            <a:p>
              <a:pPr>
                <a:lnSpc>
                  <a:spcPts val="1365"/>
                </a:lnSpc>
                <a:spcBef>
                  <a:spcPts val="0"/>
                </a:spcBef>
                <a:spcAft>
                  <a:spcPts val="0"/>
                </a:spcAft>
                <a:defRPr sz="1300" b="1">
                  <a:solidFill>
                    <a:srgbClr val="754B87"/>
                  </a:solidFill>
                  <a:latin typeface="Arial"/>
                </a:defRPr>
              </a:pPr>
              <a:r>
                <a:t>1 part = 7 counters</a:t>
              </a:r>
            </a:p>
          </p:txBody>
        </p:sp>
      </p:grpSp>
      <p:sp>
        <p:nvSpPr>
          <p:cNvPr id="82" name="Rectangle 81"/>
          <p:cNvSpPr/>
          <p:nvPr/>
        </p:nvSpPr>
        <p:spPr>
          <a:xfrm>
            <a:off x="320040" y="5980176"/>
            <a:ext cx="1801367" cy="1307592"/>
          </a:xfrm>
          <a:prstGeom prst="rect">
            <a:avLst/>
          </a:prstGeom>
          <a:solidFill>
            <a:srgbClr val="E8EDF1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TextBox 82"/>
          <p:cNvSpPr txBox="1"/>
          <p:nvPr/>
        </p:nvSpPr>
        <p:spPr>
          <a:xfrm>
            <a:off x="374904" y="6053328"/>
            <a:ext cx="1691639" cy="1161288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82B3A"/>
                </a:solidFill>
                <a:latin typeface="Arial"/>
              </a:defRPr>
            </a:pPr>
            <a:r>
              <a:t>Ballpark Check &amp; Math</a:t>
            </a:r>
          </a:p>
        </p:txBody>
      </p:sp>
      <p:sp>
        <p:nvSpPr>
          <p:cNvPr id="84" name="Rectangle 83"/>
          <p:cNvSpPr/>
          <p:nvPr/>
        </p:nvSpPr>
        <p:spPr>
          <a:xfrm>
            <a:off x="2121408" y="5980176"/>
            <a:ext cx="4062984" cy="1307592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TextBox 84"/>
          <p:cNvSpPr txBox="1"/>
          <p:nvPr/>
        </p:nvSpPr>
        <p:spPr>
          <a:xfrm>
            <a:off x="2167127" y="6053328"/>
            <a:ext cx="3971544" cy="1161288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B gets more than half of £120, so more than £60. £72 fits. Check both shares: £48 + £72 = £120.</a:t>
            </a:r>
          </a:p>
        </p:txBody>
      </p:sp>
      <p:sp>
        <p:nvSpPr>
          <p:cNvPr id="86" name="Rectangle 85"/>
          <p:cNvSpPr/>
          <p:nvPr/>
        </p:nvSpPr>
        <p:spPr>
          <a:xfrm>
            <a:off x="6184392" y="5980176"/>
            <a:ext cx="4062984" cy="1307592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TextBox 86"/>
          <p:cNvSpPr txBox="1"/>
          <p:nvPr/>
        </p:nvSpPr>
        <p:spPr>
          <a:xfrm>
            <a:off x="6230112" y="6053328"/>
            <a:ext cx="3971544" cy="1161288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Blue is between one and two times the red amount, so between 18 and 36 litres. 30 litres fits.</a:t>
            </a:r>
          </a:p>
        </p:txBody>
      </p:sp>
      <p:sp>
        <p:nvSpPr>
          <p:cNvPr id="88" name="Rectangle 87"/>
          <p:cNvSpPr/>
          <p:nvPr/>
        </p:nvSpPr>
        <p:spPr>
          <a:xfrm>
            <a:off x="10247376" y="5980176"/>
            <a:ext cx="4062984" cy="1307592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" name="TextBox 88"/>
          <p:cNvSpPr txBox="1"/>
          <p:nvPr/>
        </p:nvSpPr>
        <p:spPr>
          <a:xfrm>
            <a:off x="10293096" y="6053328"/>
            <a:ext cx="3971544" cy="1161288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The total represents 10 parts and the difference 4. The total should be between 2 and 3 times 28: between 56 and 84. 70 fits.</a:t>
            </a:r>
          </a:p>
        </p:txBody>
      </p:sp>
      <p:sp>
        <p:nvSpPr>
          <p:cNvPr id="90" name="Rectangle 89"/>
          <p:cNvSpPr/>
          <p:nvPr/>
        </p:nvSpPr>
        <p:spPr>
          <a:xfrm>
            <a:off x="320040" y="7287768"/>
            <a:ext cx="1801367" cy="557784"/>
          </a:xfrm>
          <a:prstGeom prst="rect">
            <a:avLst/>
          </a:prstGeom>
          <a:solidFill>
            <a:srgbClr val="E8EDF1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" name="TextBox 90"/>
          <p:cNvSpPr txBox="1"/>
          <p:nvPr/>
        </p:nvSpPr>
        <p:spPr>
          <a:xfrm>
            <a:off x="374904" y="7360919"/>
            <a:ext cx="1691639" cy="411479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82B3A"/>
                </a:solidFill>
                <a:latin typeface="Arial"/>
              </a:defRPr>
            </a:pPr>
            <a:r>
              <a:t>Final Answer</a:t>
            </a:r>
          </a:p>
        </p:txBody>
      </p:sp>
      <p:sp>
        <p:nvSpPr>
          <p:cNvPr id="92" name="Rectangle 91"/>
          <p:cNvSpPr/>
          <p:nvPr/>
        </p:nvSpPr>
        <p:spPr>
          <a:xfrm>
            <a:off x="2121408" y="7287768"/>
            <a:ext cx="4062984" cy="557784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3" name="TextBox 92"/>
          <p:cNvSpPr txBox="1"/>
          <p:nvPr/>
        </p:nvSpPr>
        <p:spPr>
          <a:xfrm>
            <a:off x="2167127" y="7360919"/>
            <a:ext cx="3971544" cy="411479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B receives £72.</a:t>
            </a:r>
          </a:p>
        </p:txBody>
      </p:sp>
      <p:sp>
        <p:nvSpPr>
          <p:cNvPr id="94" name="Rectangle 93"/>
          <p:cNvSpPr/>
          <p:nvPr/>
        </p:nvSpPr>
        <p:spPr>
          <a:xfrm>
            <a:off x="6184392" y="7287768"/>
            <a:ext cx="4062984" cy="557784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5" name="TextBox 94"/>
          <p:cNvSpPr txBox="1"/>
          <p:nvPr/>
        </p:nvSpPr>
        <p:spPr>
          <a:xfrm>
            <a:off x="6230112" y="7360919"/>
            <a:ext cx="3971544" cy="411479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30 litres of blue paint.</a:t>
            </a:r>
          </a:p>
        </p:txBody>
      </p:sp>
      <p:sp>
        <p:nvSpPr>
          <p:cNvPr id="96" name="Rectangle 95"/>
          <p:cNvSpPr/>
          <p:nvPr/>
        </p:nvSpPr>
        <p:spPr>
          <a:xfrm>
            <a:off x="10247376" y="7287768"/>
            <a:ext cx="4062984" cy="557784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7" name="TextBox 96"/>
          <p:cNvSpPr txBox="1"/>
          <p:nvPr/>
        </p:nvSpPr>
        <p:spPr>
          <a:xfrm>
            <a:off x="10293096" y="7360919"/>
            <a:ext cx="3971544" cy="411479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70 counters altogether.</a:t>
            </a:r>
          </a:p>
        </p:txBody>
      </p:sp>
    </p:spTree>
  </p:cSld>
  <p:clrMapOvr>
    <a:masterClrMapping/>
  </p:clrMapOvr>
</p:sld>
</file>

<file path=ppt/slides/slide10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00" cy="73152"/>
          </a:xfrm>
          <a:prstGeom prst="rect">
            <a:avLst/>
          </a:prstGeom>
          <a:solidFill>
            <a:srgbClr val="176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164592"/>
            <a:ext cx="13990320" cy="457200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2940"/>
              </a:lnSpc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182B3A"/>
                </a:solidFill>
                <a:latin typeface="Arial"/>
              </a:defRPr>
            </a:pPr>
            <a:r>
              <a:t>Ratio: sharing and missing amounts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704088"/>
            <a:ext cx="13990320" cy="347472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575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526472"/>
                </a:solidFill>
                <a:latin typeface="Arial"/>
              </a:defRPr>
            </a:pPr>
            <a:r>
              <a:t>Step-by-step practice 1 • Complete each step in your booklet or webapp.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7973568"/>
            <a:ext cx="10789920" cy="210312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155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6472"/>
                </a:solidFill>
                <a:latin typeface="Arial"/>
              </a:defRPr>
            </a:pPr>
            <a:r>
              <a:t>GCSE Maths revision • No calculator • Show your working.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7973568"/>
            <a:ext cx="3108960" cy="210312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155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6472"/>
                </a:solidFill>
                <a:latin typeface="Arial"/>
              </a:defRPr>
            </a:pPr>
            <a:r>
              <a:t>M04-S02</a:t>
            </a:r>
          </a:p>
        </p:txBody>
      </p:sp>
      <p:sp>
        <p:nvSpPr>
          <p:cNvPr id="7" name="Rectangle 6"/>
          <p:cNvSpPr/>
          <p:nvPr/>
        </p:nvSpPr>
        <p:spPr>
          <a:xfrm>
            <a:off x="2121408" y="1115568"/>
            <a:ext cx="4040123" cy="420624"/>
          </a:xfrm>
          <a:prstGeom prst="rect">
            <a:avLst/>
          </a:prstGeom>
          <a:solidFill>
            <a:srgbClr val="176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148839" y="1147572"/>
            <a:ext cx="3980688" cy="329184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Thread 1: Guided</a:t>
            </a:r>
          </a:p>
        </p:txBody>
      </p:sp>
      <p:sp>
        <p:nvSpPr>
          <p:cNvPr id="9" name="Rectangle 8"/>
          <p:cNvSpPr/>
          <p:nvPr/>
        </p:nvSpPr>
        <p:spPr>
          <a:xfrm>
            <a:off x="6184392" y="1115568"/>
            <a:ext cx="4040123" cy="420624"/>
          </a:xfrm>
          <a:prstGeom prst="rect">
            <a:avLst/>
          </a:prstGeom>
          <a:solidFill>
            <a:srgbClr val="3559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211824" y="1147572"/>
            <a:ext cx="3980688" cy="329184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Thread 2: Core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247376" y="1115568"/>
            <a:ext cx="4040123" cy="420624"/>
          </a:xfrm>
          <a:prstGeom prst="rect">
            <a:avLst/>
          </a:prstGeom>
          <a:solidFill>
            <a:srgbClr val="754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274808" y="1147572"/>
            <a:ext cx="3980688" cy="329184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Thread 3: Depth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1563624"/>
            <a:ext cx="1801367" cy="1389888"/>
          </a:xfrm>
          <a:prstGeom prst="rect">
            <a:avLst/>
          </a:prstGeom>
          <a:solidFill>
            <a:srgbClr val="E8EDF1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74904" y="1673352"/>
            <a:ext cx="1691639" cy="1207008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82B3A"/>
                </a:solidFill>
                <a:latin typeface="Arial"/>
              </a:defRPr>
            </a:pPr>
            <a:r>
              <a:t>The Full Question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121408" y="1563624"/>
            <a:ext cx="4062984" cy="1389888"/>
          </a:xfrm>
          <a:prstGeom prst="rect">
            <a:avLst/>
          </a:prstGeom>
          <a:solidFill>
            <a:srgbClr val="EDF6F5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2167127" y="1627632"/>
            <a:ext cx="3971544" cy="1261872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82B3A"/>
                </a:solidFill>
                <a:latin typeface="Arial"/>
              </a:defRPr>
            </a:pPr>
            <a:r>
              <a:t>An 84 ml paint mix contains red and white paint in the ratio 3:4. How much red paint is in the mix?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84392" y="1563624"/>
            <a:ext cx="4062984" cy="1389888"/>
          </a:xfrm>
          <a:prstGeom prst="rect">
            <a:avLst/>
          </a:prstGeom>
          <a:solidFill>
            <a:srgbClr val="EFF3FA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230112" y="1627632"/>
            <a:ext cx="3971544" cy="1261872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82B3A"/>
                </a:solidFill>
                <a:latin typeface="Arial"/>
              </a:defRPr>
            </a:pPr>
            <a:r>
              <a:t>Notebooks and folders are in the ratio 4:7. There are 35 folders. How many notebooks are there?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0247376" y="1563624"/>
            <a:ext cx="4062984" cy="1389888"/>
          </a:xfrm>
          <a:prstGeom prst="rect">
            <a:avLst/>
          </a:prstGeom>
          <a:solidFill>
            <a:srgbClr val="F5F0F7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0293096" y="1627632"/>
            <a:ext cx="3971544" cy="1261872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82B3A"/>
                </a:solidFill>
                <a:latin typeface="Arial"/>
              </a:defRPr>
            </a:pPr>
            <a:r>
              <a:t>Adults and children are in the ratio 2:5. There are 24 more children than adults. How many people are there altogether?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20040" y="2953512"/>
            <a:ext cx="1801367" cy="1115568"/>
          </a:xfrm>
          <a:prstGeom prst="rect">
            <a:avLst/>
          </a:prstGeom>
          <a:solidFill>
            <a:srgbClr val="E8EDF1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374904" y="3026664"/>
            <a:ext cx="1691639" cy="969264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82B3A"/>
                </a:solidFill>
                <a:latin typeface="Arial"/>
              </a:defRPr>
            </a:pPr>
            <a:r>
              <a:t>Keywords &amp; Calculation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121408" y="2953512"/>
            <a:ext cx="4062984" cy="1115568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2167127" y="3026664"/>
            <a:ext cx="3971544" cy="969264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82B3A"/>
                </a:solidFill>
                <a:latin typeface="Arial"/>
              </a:defRPr>
            </a:pPr>
            <a:r>
              <a:t>Identify the keywords. Write down the calculation(s) you need to do.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84392" y="2953512"/>
            <a:ext cx="4062984" cy="1115568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230112" y="3026664"/>
            <a:ext cx="3971544" cy="969264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82B3A"/>
                </a:solidFill>
                <a:latin typeface="Arial"/>
              </a:defRPr>
            </a:pPr>
            <a:r>
              <a:t>Identify the keywords. Write down the calculation(s) you need to do.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0247376" y="2953512"/>
            <a:ext cx="4062984" cy="1115568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10293096" y="3026664"/>
            <a:ext cx="3971544" cy="969264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82B3A"/>
                </a:solidFill>
                <a:latin typeface="Arial"/>
              </a:defRPr>
            </a:pPr>
            <a:r>
              <a:t>Identify the keywords. Write down the calculation(s) you need to do.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20040" y="4069080"/>
            <a:ext cx="1801367" cy="1115568"/>
          </a:xfrm>
          <a:prstGeom prst="rect">
            <a:avLst/>
          </a:prstGeom>
          <a:solidFill>
            <a:srgbClr val="E8EDF1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374904" y="4142232"/>
            <a:ext cx="1691639" cy="969264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82B3A"/>
                </a:solidFill>
                <a:latin typeface="Arial"/>
              </a:defRPr>
            </a:pPr>
            <a:r>
              <a:t>Written Method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121408" y="4069080"/>
            <a:ext cx="4062984" cy="1115568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2167127" y="4142232"/>
            <a:ext cx="3971544" cy="969264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82B3A"/>
                </a:solidFill>
                <a:latin typeface="Arial"/>
              </a:defRPr>
            </a:pPr>
            <a:r>
              <a:t>Set up and use the written method for your calculation(s).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184392" y="4069080"/>
            <a:ext cx="4062984" cy="1115568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230112" y="4142232"/>
            <a:ext cx="3971544" cy="969264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82B3A"/>
                </a:solidFill>
                <a:latin typeface="Arial"/>
              </a:defRPr>
            </a:pPr>
            <a:r>
              <a:t>Set up and use the written method for your calculation(s).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0247376" y="4069080"/>
            <a:ext cx="4062984" cy="1115568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10293096" y="4142232"/>
            <a:ext cx="3971544" cy="969264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82B3A"/>
                </a:solidFill>
                <a:latin typeface="Arial"/>
              </a:defRPr>
            </a:pPr>
            <a:r>
              <a:t>Set up and use the written method for your calculation(s).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20040" y="5184648"/>
            <a:ext cx="1801367" cy="1115568"/>
          </a:xfrm>
          <a:prstGeom prst="rect">
            <a:avLst/>
          </a:prstGeom>
          <a:solidFill>
            <a:srgbClr val="E8EDF1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374904" y="5257800"/>
            <a:ext cx="1691639" cy="969264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82B3A"/>
                </a:solidFill>
                <a:latin typeface="Arial"/>
              </a:defRPr>
            </a:pPr>
            <a:r>
              <a:t>Ballpark Check &amp; Math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121408" y="5184648"/>
            <a:ext cx="4062984" cy="1115568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2167127" y="5257800"/>
            <a:ext cx="3971544" cy="969264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82B3A"/>
                </a:solidFill>
                <a:latin typeface="Arial"/>
              </a:defRPr>
            </a:pPr>
            <a:r>
              <a:t>Check your answer using rough ballpark calculations. Does it make sense?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184392" y="5184648"/>
            <a:ext cx="4062984" cy="1115568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6230112" y="5257800"/>
            <a:ext cx="3971544" cy="969264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82B3A"/>
                </a:solidFill>
                <a:latin typeface="Arial"/>
              </a:defRPr>
            </a:pPr>
            <a:r>
              <a:t>Check your answer using rough ballpark calculations. Does it make sense?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0247376" y="5184648"/>
            <a:ext cx="4062984" cy="1115568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10293096" y="5257800"/>
            <a:ext cx="3971544" cy="969264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82B3A"/>
                </a:solidFill>
                <a:latin typeface="Arial"/>
              </a:defRPr>
            </a:pPr>
            <a:r>
              <a:t>Check your answer using rough ballpark calculations. Does it make sense?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20040" y="6300216"/>
            <a:ext cx="1801367" cy="1115568"/>
          </a:xfrm>
          <a:prstGeom prst="rect">
            <a:avLst/>
          </a:prstGeom>
          <a:solidFill>
            <a:srgbClr val="E8EDF1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374904" y="6373368"/>
            <a:ext cx="1691639" cy="969264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82B3A"/>
                </a:solidFill>
                <a:latin typeface="Arial"/>
              </a:defRPr>
            </a:pPr>
            <a:r>
              <a:t>Final Answer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121408" y="6300216"/>
            <a:ext cx="4062984" cy="1115568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2167127" y="6373368"/>
            <a:ext cx="3971544" cy="969264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82B3A"/>
                </a:solidFill>
                <a:latin typeface="Arial"/>
              </a:defRPr>
            </a:pPr>
            <a:r>
              <a:t>Write your final answer to the question. Include the correct units.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184392" y="6300216"/>
            <a:ext cx="4062984" cy="1115568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6230112" y="6373368"/>
            <a:ext cx="3971544" cy="969264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82B3A"/>
                </a:solidFill>
                <a:latin typeface="Arial"/>
              </a:defRPr>
            </a:pPr>
            <a:r>
              <a:t>Write your final answer to the question. Include the correct units.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0247376" y="6300216"/>
            <a:ext cx="4062984" cy="1115568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10293096" y="6373368"/>
            <a:ext cx="3971544" cy="969264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82B3A"/>
                </a:solidFill>
                <a:latin typeface="Arial"/>
              </a:defRPr>
            </a:pPr>
            <a:r>
              <a:t>Write your final answer to the question. Include the correct units.</a:t>
            </a:r>
          </a:p>
        </p:txBody>
      </p:sp>
      <p:sp>
        <p:nvSpPr>
          <p:cNvPr id="53" name="Progression curved arrow: Thread 1 to Thread 2"/>
          <p:cNvSpPr/>
          <p:nvPr/>
        </p:nvSpPr>
        <p:spPr>
          <a:xfrm>
            <a:off x="5850635" y="7351126"/>
            <a:ext cx="621792" cy="314053"/>
          </a:xfrm>
          <a:custGeom>
            <a:avLst/>
            <a:gdLst/>
            <a:ahLst/>
            <a:cxnLst/>
            <a:rect l="0" t="0" r="100000" b="100000"/>
            <a:pathLst>
              <a:path w="100000" h="100000" fill="none">
                <a:moveTo>
                  <a:pt x="6970" y="48439"/>
                </a:moveTo>
                <a:cubicBezTo>
                  <a:pt x="40678" y="114499"/>
                  <a:pt x="73026" y="88145"/>
                  <a:pt x="93030" y="13799"/>
                </a:cubicBezTo>
              </a:path>
              <a:path w="100000" h="100000" fill="none">
                <a:moveTo>
                  <a:pt x="69018" y="40431"/>
                </a:moveTo>
                <a:lnTo>
                  <a:pt x="93030" y="13799"/>
                </a:lnTo>
                <a:lnTo>
                  <a:pt x="92217" y="66207"/>
                </a:lnTo>
              </a:path>
            </a:pathLst>
          </a:custGeom>
          <a:noFill/>
          <a:ln w="64449" cap="rnd">
            <a:solidFill>
              <a:schemeClr val="accent6">
                <a:lumMod val="60000"/>
                <a:lumOff val="40000"/>
              </a:schemeClr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Progression curved arrow: Thread 1 to Thread 2">
            <a:extLst>
              <a:ext uri="{FF2B5EF4-FFF2-40B4-BE49-F238E27FC236}">
                <a16:creationId xmlns:a16="http://schemas.microsoft.com/office/drawing/2014/main" id="{5C4B25E0-6F8B-5EB5-B1AB-18C9B16A520D}"/>
              </a:ext>
            </a:extLst>
          </p:cNvPr>
          <p:cNvSpPr/>
          <p:nvPr/>
        </p:nvSpPr>
        <p:spPr>
          <a:xfrm>
            <a:off x="9865783" y="7342632"/>
            <a:ext cx="621792" cy="314053"/>
          </a:xfrm>
          <a:custGeom>
            <a:avLst/>
            <a:gdLst/>
            <a:ahLst/>
            <a:cxnLst/>
            <a:rect l="0" t="0" r="100000" b="100000"/>
            <a:pathLst>
              <a:path w="100000" h="100000" fill="none">
                <a:moveTo>
                  <a:pt x="6970" y="48439"/>
                </a:moveTo>
                <a:cubicBezTo>
                  <a:pt x="40678" y="114499"/>
                  <a:pt x="73026" y="88145"/>
                  <a:pt x="93030" y="13799"/>
                </a:cubicBezTo>
              </a:path>
              <a:path w="100000" h="100000" fill="none">
                <a:moveTo>
                  <a:pt x="69018" y="40431"/>
                </a:moveTo>
                <a:lnTo>
                  <a:pt x="93030" y="13799"/>
                </a:lnTo>
                <a:lnTo>
                  <a:pt x="92217" y="66207"/>
                </a:lnTo>
              </a:path>
            </a:pathLst>
          </a:custGeom>
          <a:noFill/>
          <a:ln w="64449" cap="rnd">
            <a:solidFill>
              <a:schemeClr val="accent6">
                <a:lumMod val="60000"/>
                <a:lumOff val="40000"/>
              </a:schemeClr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0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00" cy="73152"/>
          </a:xfrm>
          <a:prstGeom prst="rect">
            <a:avLst/>
          </a:prstGeom>
          <a:solidFill>
            <a:srgbClr val="176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164592"/>
            <a:ext cx="13990320" cy="457200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2940"/>
              </a:lnSpc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182B3A"/>
                </a:solidFill>
                <a:latin typeface="Arial"/>
              </a:defRPr>
            </a:pPr>
            <a:r>
              <a:t>Ratio: sharing and missing amounts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704088"/>
            <a:ext cx="13990320" cy="347472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575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526472"/>
                </a:solidFill>
                <a:latin typeface="Arial"/>
              </a:defRPr>
            </a:pPr>
            <a:r>
              <a:t>Step-by-step practice 2 • Complete each step in your booklet or webapp.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7973568"/>
            <a:ext cx="10789920" cy="210312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155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6472"/>
                </a:solidFill>
                <a:latin typeface="Arial"/>
              </a:defRPr>
            </a:pPr>
            <a:r>
              <a:t>GCSE Maths revision • No calculator • Show your working.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7973568"/>
            <a:ext cx="3108960" cy="210312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155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6472"/>
                </a:solidFill>
                <a:latin typeface="Arial"/>
              </a:defRPr>
            </a:pPr>
            <a:r>
              <a:t>M04-S03</a:t>
            </a:r>
          </a:p>
        </p:txBody>
      </p:sp>
      <p:sp>
        <p:nvSpPr>
          <p:cNvPr id="7" name="Rectangle 6"/>
          <p:cNvSpPr/>
          <p:nvPr/>
        </p:nvSpPr>
        <p:spPr>
          <a:xfrm>
            <a:off x="2121408" y="1115568"/>
            <a:ext cx="4040123" cy="420624"/>
          </a:xfrm>
          <a:prstGeom prst="rect">
            <a:avLst/>
          </a:prstGeom>
          <a:solidFill>
            <a:srgbClr val="176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148839" y="1147572"/>
            <a:ext cx="3980688" cy="329184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Thread 1: Guided</a:t>
            </a:r>
          </a:p>
        </p:txBody>
      </p:sp>
      <p:sp>
        <p:nvSpPr>
          <p:cNvPr id="9" name="Rectangle 8"/>
          <p:cNvSpPr/>
          <p:nvPr/>
        </p:nvSpPr>
        <p:spPr>
          <a:xfrm>
            <a:off x="6184392" y="1115568"/>
            <a:ext cx="4040123" cy="420624"/>
          </a:xfrm>
          <a:prstGeom prst="rect">
            <a:avLst/>
          </a:prstGeom>
          <a:solidFill>
            <a:srgbClr val="3559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211824" y="1147572"/>
            <a:ext cx="3980688" cy="329184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Thread 2: Core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247376" y="1115568"/>
            <a:ext cx="4040123" cy="420624"/>
          </a:xfrm>
          <a:prstGeom prst="rect">
            <a:avLst/>
          </a:prstGeom>
          <a:solidFill>
            <a:srgbClr val="754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274808" y="1147572"/>
            <a:ext cx="3980688" cy="329184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Thread 3: Depth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1563624"/>
            <a:ext cx="1801367" cy="1389888"/>
          </a:xfrm>
          <a:prstGeom prst="rect">
            <a:avLst/>
          </a:prstGeom>
          <a:solidFill>
            <a:srgbClr val="E8EDF1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74904" y="1673352"/>
            <a:ext cx="1691639" cy="1207008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82B3A"/>
                </a:solidFill>
                <a:latin typeface="Arial"/>
              </a:defRPr>
            </a:pPr>
            <a:r>
              <a:t>The Full Question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121408" y="1563624"/>
            <a:ext cx="4062984" cy="1389888"/>
          </a:xfrm>
          <a:prstGeom prst="rect">
            <a:avLst/>
          </a:prstGeom>
          <a:solidFill>
            <a:srgbClr val="EDF6F5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2167127" y="1627632"/>
            <a:ext cx="3971544" cy="1261872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82B3A"/>
                </a:solidFill>
                <a:latin typeface="Arial"/>
              </a:defRPr>
            </a:pPr>
            <a:r>
              <a:t>A 96 cm ribbon is cut into pieces A and B in the ratio 5:7. Find the length of B.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84392" y="1563624"/>
            <a:ext cx="4062984" cy="1389888"/>
          </a:xfrm>
          <a:prstGeom prst="rect">
            <a:avLst/>
          </a:prstGeom>
          <a:solidFill>
            <a:srgbClr val="EFF3FA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230112" y="1627632"/>
            <a:ext cx="3971544" cy="1261872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82B3A"/>
                </a:solidFill>
                <a:latin typeface="Arial"/>
              </a:defRPr>
            </a:pPr>
            <a:r>
              <a:t>Juice and water are mixed in the ratio 2:7. There are 18 litres of juice. How many litres of water are needed?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0247376" y="1563624"/>
            <a:ext cx="4062984" cy="1389888"/>
          </a:xfrm>
          <a:prstGeom prst="rect">
            <a:avLst/>
          </a:prstGeom>
          <a:solidFill>
            <a:srgbClr val="F5F0F7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0293096" y="1627632"/>
            <a:ext cx="3971544" cy="1261872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82B3A"/>
                </a:solidFill>
                <a:latin typeface="Arial"/>
              </a:defRPr>
            </a:pPr>
            <a:r>
              <a:t>Two lengths of ribbon, A and B, are in the ratio 5:8. B is 21 cm longer than A. What is their total length?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20040" y="2953512"/>
            <a:ext cx="1801367" cy="1115568"/>
          </a:xfrm>
          <a:prstGeom prst="rect">
            <a:avLst/>
          </a:prstGeom>
          <a:solidFill>
            <a:srgbClr val="E8EDF1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374904" y="3026664"/>
            <a:ext cx="1691639" cy="969264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82B3A"/>
                </a:solidFill>
                <a:latin typeface="Arial"/>
              </a:defRPr>
            </a:pPr>
            <a:r>
              <a:t>Keywords &amp; Calculation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121408" y="2953512"/>
            <a:ext cx="4062984" cy="1115568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2167127" y="3026664"/>
            <a:ext cx="3971544" cy="969264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82B3A"/>
                </a:solidFill>
                <a:latin typeface="Arial"/>
              </a:defRPr>
            </a:pPr>
            <a:r>
              <a:t>Identify the keywords. Write down the calculation(s) you need to do.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84392" y="2953512"/>
            <a:ext cx="4062984" cy="1115568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230112" y="3026664"/>
            <a:ext cx="3971544" cy="969264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82B3A"/>
                </a:solidFill>
                <a:latin typeface="Arial"/>
              </a:defRPr>
            </a:pPr>
            <a:r>
              <a:t>Identify the keywords. Write down the calculation(s) you need to do.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0247376" y="2953512"/>
            <a:ext cx="4062984" cy="1115568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10293096" y="3026664"/>
            <a:ext cx="3971544" cy="969264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82B3A"/>
                </a:solidFill>
                <a:latin typeface="Arial"/>
              </a:defRPr>
            </a:pPr>
            <a:r>
              <a:t>Identify the keywords. Write down the calculation(s) you need to do.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20040" y="4069080"/>
            <a:ext cx="1801367" cy="1115568"/>
          </a:xfrm>
          <a:prstGeom prst="rect">
            <a:avLst/>
          </a:prstGeom>
          <a:solidFill>
            <a:srgbClr val="E8EDF1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374904" y="4142232"/>
            <a:ext cx="1691639" cy="969264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82B3A"/>
                </a:solidFill>
                <a:latin typeface="Arial"/>
              </a:defRPr>
            </a:pPr>
            <a:r>
              <a:t>Written Method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121408" y="4069080"/>
            <a:ext cx="4062984" cy="1115568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2167127" y="4142232"/>
            <a:ext cx="3971544" cy="969264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82B3A"/>
                </a:solidFill>
                <a:latin typeface="Arial"/>
              </a:defRPr>
            </a:pPr>
            <a:r>
              <a:t>Set up and use the written method for your calculation(s).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184392" y="4069080"/>
            <a:ext cx="4062984" cy="1115568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230112" y="4142232"/>
            <a:ext cx="3971544" cy="969264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82B3A"/>
                </a:solidFill>
                <a:latin typeface="Arial"/>
              </a:defRPr>
            </a:pPr>
            <a:r>
              <a:t>Set up and use the written method for your calculation(s).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0247376" y="4069080"/>
            <a:ext cx="4062984" cy="1115568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10293096" y="4142232"/>
            <a:ext cx="3971544" cy="969264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82B3A"/>
                </a:solidFill>
                <a:latin typeface="Arial"/>
              </a:defRPr>
            </a:pPr>
            <a:r>
              <a:t>Set up and use the written method for your calculation(s).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20040" y="5184648"/>
            <a:ext cx="1801367" cy="1115568"/>
          </a:xfrm>
          <a:prstGeom prst="rect">
            <a:avLst/>
          </a:prstGeom>
          <a:solidFill>
            <a:srgbClr val="E8EDF1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374904" y="5257800"/>
            <a:ext cx="1691639" cy="969264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82B3A"/>
                </a:solidFill>
                <a:latin typeface="Arial"/>
              </a:defRPr>
            </a:pPr>
            <a:r>
              <a:t>Ballpark Check &amp; Math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121408" y="5184648"/>
            <a:ext cx="4062984" cy="1115568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2167127" y="5257800"/>
            <a:ext cx="3971544" cy="969264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82B3A"/>
                </a:solidFill>
                <a:latin typeface="Arial"/>
              </a:defRPr>
            </a:pPr>
            <a:r>
              <a:t>Check your answer using rough ballpark calculations. Does it make sense?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184392" y="5184648"/>
            <a:ext cx="4062984" cy="1115568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6230112" y="5257800"/>
            <a:ext cx="3971544" cy="969264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82B3A"/>
                </a:solidFill>
                <a:latin typeface="Arial"/>
              </a:defRPr>
            </a:pPr>
            <a:r>
              <a:t>Check your answer using rough ballpark calculations. Does it make sense?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0247376" y="5184648"/>
            <a:ext cx="4062984" cy="1115568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10293096" y="5257800"/>
            <a:ext cx="3971544" cy="969264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82B3A"/>
                </a:solidFill>
                <a:latin typeface="Arial"/>
              </a:defRPr>
            </a:pPr>
            <a:r>
              <a:t>Check your answer using rough ballpark calculations. Does it make sense?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20040" y="6300216"/>
            <a:ext cx="1801367" cy="1115568"/>
          </a:xfrm>
          <a:prstGeom prst="rect">
            <a:avLst/>
          </a:prstGeom>
          <a:solidFill>
            <a:srgbClr val="E8EDF1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374904" y="6373368"/>
            <a:ext cx="1691639" cy="969264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82B3A"/>
                </a:solidFill>
                <a:latin typeface="Arial"/>
              </a:defRPr>
            </a:pPr>
            <a:r>
              <a:t>Final Answer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121408" y="6300216"/>
            <a:ext cx="4062984" cy="1115568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2167127" y="6373368"/>
            <a:ext cx="3971544" cy="969264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82B3A"/>
                </a:solidFill>
                <a:latin typeface="Arial"/>
              </a:defRPr>
            </a:pPr>
            <a:r>
              <a:t>Write your final answer to the question. Include the correct units.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184392" y="6300216"/>
            <a:ext cx="4062984" cy="1115568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6230112" y="6373368"/>
            <a:ext cx="3971544" cy="969264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82B3A"/>
                </a:solidFill>
                <a:latin typeface="Arial"/>
              </a:defRPr>
            </a:pPr>
            <a:r>
              <a:t>Write your final answer to the question. Include the correct units.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0247376" y="6300216"/>
            <a:ext cx="4062984" cy="1115568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10293096" y="6373368"/>
            <a:ext cx="3971544" cy="969264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82B3A"/>
                </a:solidFill>
                <a:latin typeface="Arial"/>
              </a:defRPr>
            </a:pPr>
            <a:r>
              <a:t>Write your final answer to the question. Include the correct units.</a:t>
            </a:r>
          </a:p>
        </p:txBody>
      </p:sp>
      <p:sp>
        <p:nvSpPr>
          <p:cNvPr id="53" name="Progression curved arrow: Thread 1 to Thread 2"/>
          <p:cNvSpPr/>
          <p:nvPr/>
        </p:nvSpPr>
        <p:spPr>
          <a:xfrm>
            <a:off x="5850635" y="7351126"/>
            <a:ext cx="621792" cy="314053"/>
          </a:xfrm>
          <a:custGeom>
            <a:avLst/>
            <a:gdLst/>
            <a:ahLst/>
            <a:cxnLst/>
            <a:rect l="0" t="0" r="100000" b="100000"/>
            <a:pathLst>
              <a:path w="100000" h="100000" fill="none">
                <a:moveTo>
                  <a:pt x="6970" y="48439"/>
                </a:moveTo>
                <a:cubicBezTo>
                  <a:pt x="40678" y="114499"/>
                  <a:pt x="73026" y="88145"/>
                  <a:pt x="93030" y="13799"/>
                </a:cubicBezTo>
              </a:path>
              <a:path w="100000" h="100000" fill="none">
                <a:moveTo>
                  <a:pt x="69018" y="40431"/>
                </a:moveTo>
                <a:lnTo>
                  <a:pt x="93030" y="13799"/>
                </a:lnTo>
                <a:lnTo>
                  <a:pt x="92217" y="66207"/>
                </a:lnTo>
              </a:path>
            </a:pathLst>
          </a:custGeom>
          <a:noFill/>
          <a:ln w="64449" cap="rnd">
            <a:solidFill>
              <a:schemeClr val="accent6">
                <a:lumMod val="60000"/>
                <a:lumOff val="40000"/>
              </a:schemeClr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Progression curved arrow: Thread 2 to Thread 3"/>
          <p:cNvSpPr/>
          <p:nvPr/>
        </p:nvSpPr>
        <p:spPr>
          <a:xfrm>
            <a:off x="9865783" y="7342632"/>
            <a:ext cx="621792" cy="314053"/>
          </a:xfrm>
          <a:custGeom>
            <a:avLst/>
            <a:gdLst/>
            <a:ahLst/>
            <a:cxnLst/>
            <a:rect l="0" t="0" r="100000" b="100000"/>
            <a:pathLst>
              <a:path w="100000" h="100000" fill="none">
                <a:moveTo>
                  <a:pt x="6970" y="48439"/>
                </a:moveTo>
                <a:cubicBezTo>
                  <a:pt x="40678" y="114499"/>
                  <a:pt x="73026" y="88145"/>
                  <a:pt x="93030" y="13799"/>
                </a:cubicBezTo>
              </a:path>
              <a:path w="100000" h="100000" fill="none">
                <a:moveTo>
                  <a:pt x="69018" y="40431"/>
                </a:moveTo>
                <a:lnTo>
                  <a:pt x="93030" y="13799"/>
                </a:lnTo>
                <a:lnTo>
                  <a:pt x="92217" y="66207"/>
                </a:lnTo>
              </a:path>
            </a:pathLst>
          </a:custGeom>
          <a:noFill/>
          <a:ln w="64449" cap="rnd">
            <a:solidFill>
              <a:schemeClr val="accent6">
                <a:lumMod val="60000"/>
                <a:lumOff val="40000"/>
              </a:schemeClr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0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00" cy="73152"/>
          </a:xfrm>
          <a:prstGeom prst="rect">
            <a:avLst/>
          </a:prstGeom>
          <a:solidFill>
            <a:srgbClr val="176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164592"/>
            <a:ext cx="13990320" cy="457200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2940"/>
              </a:lnSpc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182B3A"/>
                </a:solidFill>
                <a:latin typeface="Arial"/>
              </a:defRPr>
            </a:pPr>
            <a:r>
              <a:t>Ratio: sharing and missing amounts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704088"/>
            <a:ext cx="13990320" cy="347472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575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526472"/>
                </a:solidFill>
                <a:latin typeface="Arial"/>
              </a:defRPr>
            </a:pPr>
            <a:r>
              <a:t>Independent practice 1 • Choose a column. Show your working and check your answers.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7973568"/>
            <a:ext cx="10789920" cy="210312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155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6472"/>
                </a:solidFill>
                <a:latin typeface="Arial"/>
              </a:defRPr>
            </a:pPr>
            <a:r>
              <a:t>GCSE Maths revision • No calculator • Show your working.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7973568"/>
            <a:ext cx="3108960" cy="210312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155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6472"/>
                </a:solidFill>
                <a:latin typeface="Arial"/>
              </a:defRPr>
            </a:pPr>
            <a:r>
              <a:t>M04-S04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115568"/>
            <a:ext cx="4640580" cy="420624"/>
          </a:xfrm>
          <a:prstGeom prst="rect">
            <a:avLst/>
          </a:prstGeom>
          <a:solidFill>
            <a:srgbClr val="176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47472" y="1147572"/>
            <a:ext cx="4581144" cy="329184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Thread 1: Guided</a:t>
            </a:r>
          </a:p>
        </p:txBody>
      </p:sp>
      <p:sp>
        <p:nvSpPr>
          <p:cNvPr id="9" name="Rectangle 8"/>
          <p:cNvSpPr/>
          <p:nvPr/>
        </p:nvSpPr>
        <p:spPr>
          <a:xfrm>
            <a:off x="4983480" y="1115568"/>
            <a:ext cx="4640580" cy="420624"/>
          </a:xfrm>
          <a:prstGeom prst="rect">
            <a:avLst/>
          </a:prstGeom>
          <a:solidFill>
            <a:srgbClr val="3559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010912" y="1147572"/>
            <a:ext cx="4581144" cy="329184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Thread 2: Core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646920" y="1115568"/>
            <a:ext cx="4640580" cy="420624"/>
          </a:xfrm>
          <a:prstGeom prst="rect">
            <a:avLst/>
          </a:prstGeom>
          <a:solidFill>
            <a:srgbClr val="754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674352" y="1147572"/>
            <a:ext cx="4581144" cy="329184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Thread 3: Depth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158191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47472" y="1655064"/>
            <a:ext cx="274320" cy="365760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76B73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" y="1641348"/>
            <a:ext cx="4261104" cy="886968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Sam and Jo share £60 in the ratio 2:3. How much does Jo receive?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983480" y="158191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010912" y="1655064"/>
            <a:ext cx="274320" cy="365760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3559A2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12664" y="1641348"/>
            <a:ext cx="4261104" cy="886968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Flour and sugar are mixed in the ratio 3:2. A recipe uses 180 g of flour. What is the total mass of the mixture?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646920" y="158191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674352" y="1655064"/>
            <a:ext cx="274320" cy="365760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754B87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976104" y="1641348"/>
            <a:ext cx="4261104" cy="886968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Two ropes have lengths in the ratio 1:3. The longer rope is 12 m longer than the shorter. Find their total length.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20040" y="2587752"/>
            <a:ext cx="4640580" cy="1005840"/>
          </a:xfrm>
          <a:prstGeom prst="rect">
            <a:avLst/>
          </a:prstGeom>
          <a:solidFill>
            <a:srgbClr val="EDF6F5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347472" y="2660904"/>
            <a:ext cx="274320" cy="365760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76B73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9224" y="2647188"/>
            <a:ext cx="4261104" cy="886968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A drink contains 600 ml of juice and water in the ratio 1:4. How much juice is in the drink?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983480" y="2587752"/>
            <a:ext cx="4640580" cy="1005840"/>
          </a:xfrm>
          <a:prstGeom prst="rect">
            <a:avLst/>
          </a:prstGeom>
          <a:solidFill>
            <a:srgbClr val="EFF3FA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010912" y="2660904"/>
            <a:ext cx="274320" cy="365760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3559A2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12664" y="2647188"/>
            <a:ext cx="4261104" cy="886968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Adult and child tickets sell in the ratio 5:3. There are 16 more adult tickets. How many child tickets are sold?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646920" y="2587752"/>
            <a:ext cx="4640580" cy="1005840"/>
          </a:xfrm>
          <a:prstGeom prst="rect">
            <a:avLst/>
          </a:prstGeom>
          <a:solidFill>
            <a:srgbClr val="F5F0F7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9674352" y="2660904"/>
            <a:ext cx="274320" cy="365760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754B87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976104" y="2647188"/>
            <a:ext cx="4261104" cy="886968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Red and blue counters are in the ratio 1:5. There are 24 fewer red than blue. Find the number of each colour.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20040" y="359359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347472" y="3666744"/>
            <a:ext cx="274320" cy="365760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76B73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9224" y="3653028"/>
            <a:ext cx="4261104" cy="886968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A 96 cm ribbon is cut into two pieces in the ratio 5:7. Find the length of each piece.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983480" y="359359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5010912" y="3666744"/>
            <a:ext cx="274320" cy="365760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3559A2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312664" y="3653028"/>
            <a:ext cx="4261104" cy="886968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Ropes A and B have lengths in the ratio 4:7. Rope B is 15 m longer than rope A. How long is rope A?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646920" y="359359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9674352" y="3666744"/>
            <a:ext cx="274320" cy="365760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754B87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976104" y="3653028"/>
            <a:ext cx="4261104" cy="886968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Ava and Leo share £100 in the ratio 7:3. How much more does Ava receive than Leo?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20040" y="4599432"/>
            <a:ext cx="4640580" cy="1005840"/>
          </a:xfrm>
          <a:prstGeom prst="rect">
            <a:avLst/>
          </a:prstGeom>
          <a:solidFill>
            <a:srgbClr val="EDF6F5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347472" y="4672584"/>
            <a:ext cx="274320" cy="365760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76B73"/>
                </a:solidFill>
                <a:latin typeface="Arial"/>
              </a:defRPr>
            </a:pPr>
            <a:r>
              <a:t>4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9224" y="4658868"/>
            <a:ext cx="4261104" cy="886968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Red and blue beads are in the ratio 3:5. There are 12 more blue beads than red beads. How many blue beads are there?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983480" y="4599432"/>
            <a:ext cx="4640580" cy="1005840"/>
          </a:xfrm>
          <a:prstGeom prst="rect">
            <a:avLst/>
          </a:prstGeom>
          <a:solidFill>
            <a:srgbClr val="EFF3FA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5010912" y="4672584"/>
            <a:ext cx="274320" cy="365760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3559A2"/>
                </a:solidFill>
                <a:latin typeface="Arial"/>
              </a:defRPr>
            </a:pPr>
            <a:r>
              <a:t>4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312664" y="4658868"/>
            <a:ext cx="4261104" cy="886968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Mia and Ben receive money in the ratio 2:5. Mia receives £18. How much do they receive altogether?</a:t>
            </a:r>
          </a:p>
        </p:txBody>
      </p:sp>
      <p:sp>
        <p:nvSpPr>
          <p:cNvPr id="46" name="Rectangle 45"/>
          <p:cNvSpPr/>
          <p:nvPr/>
        </p:nvSpPr>
        <p:spPr>
          <a:xfrm>
            <a:off x="9646920" y="4599432"/>
            <a:ext cx="4640580" cy="1005840"/>
          </a:xfrm>
          <a:prstGeom prst="rect">
            <a:avLst/>
          </a:prstGeom>
          <a:solidFill>
            <a:srgbClr val="F5F0F7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9674352" y="4672584"/>
            <a:ext cx="274320" cy="365760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754B87"/>
                </a:solidFill>
                <a:latin typeface="Arial"/>
              </a:defRPr>
            </a:pPr>
            <a:r>
              <a:t>4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976104" y="4658868"/>
            <a:ext cx="4261104" cy="886968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Flour and sugar have masses in the ratio 5:4. There is 300 g of sugar. Find the total mass.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20040" y="560527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347472" y="5678424"/>
            <a:ext cx="274320" cy="365760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76B73"/>
                </a:solidFill>
                <a:latin typeface="Arial"/>
              </a:defRPr>
            </a:pPr>
            <a:r>
              <a:t>5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49224" y="5664708"/>
            <a:ext cx="4261104" cy="886968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Flour and sugar are mixed in the ratio 5:2. There is 150 g more flour than sugar. How much flour is there?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983480" y="560527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5010912" y="5678424"/>
            <a:ext cx="274320" cy="365760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3559A2"/>
                </a:solidFill>
                <a:latin typeface="Arial"/>
              </a:defRPr>
            </a:pPr>
            <a:r>
              <a:t>5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312664" y="5664708"/>
            <a:ext cx="4261104" cy="886968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Juice and water are mixed in the ratio 2:7. There are 63 litres of water. How much juice is needed?</a:t>
            </a:r>
          </a:p>
        </p:txBody>
      </p:sp>
      <p:sp>
        <p:nvSpPr>
          <p:cNvPr id="55" name="Rectangle 54"/>
          <p:cNvSpPr/>
          <p:nvPr/>
        </p:nvSpPr>
        <p:spPr>
          <a:xfrm>
            <a:off x="9646920" y="560527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9674352" y="5678424"/>
            <a:ext cx="274320" cy="365760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754B87"/>
                </a:solidFill>
                <a:latin typeface="Arial"/>
              </a:defRPr>
            </a:pPr>
            <a:r>
              <a:t>5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976104" y="5664708"/>
            <a:ext cx="4261104" cy="886968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A 1,400 ml drink has water and juice in the ratio 6:1. Find the volume of each ingredient.</a:t>
            </a:r>
          </a:p>
        </p:txBody>
      </p:sp>
      <p:sp>
        <p:nvSpPr>
          <p:cNvPr id="58" name="Rectangle 57"/>
          <p:cNvSpPr/>
          <p:nvPr/>
        </p:nvSpPr>
        <p:spPr>
          <a:xfrm>
            <a:off x="320040" y="6611112"/>
            <a:ext cx="4640580" cy="1005840"/>
          </a:xfrm>
          <a:prstGeom prst="rect">
            <a:avLst/>
          </a:prstGeom>
          <a:solidFill>
            <a:srgbClr val="EDF6F5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347472" y="6684264"/>
            <a:ext cx="274320" cy="365760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76B73"/>
                </a:solidFill>
                <a:latin typeface="Arial"/>
              </a:defRPr>
            </a:pPr>
            <a:r>
              <a:t>6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49224" y="6670548"/>
            <a:ext cx="4261104" cy="886968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Practice and rest times are in the ratio 2:1. Practice lasts 36 minutes. How long is the rest?</a:t>
            </a:r>
          </a:p>
        </p:txBody>
      </p:sp>
      <p:sp>
        <p:nvSpPr>
          <p:cNvPr id="61" name="Rectangle 60"/>
          <p:cNvSpPr/>
          <p:nvPr/>
        </p:nvSpPr>
        <p:spPr>
          <a:xfrm>
            <a:off x="4983480" y="6611112"/>
            <a:ext cx="4640580" cy="1005840"/>
          </a:xfrm>
          <a:prstGeom prst="rect">
            <a:avLst/>
          </a:prstGeom>
          <a:solidFill>
            <a:srgbClr val="EFF3FA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5010912" y="6684264"/>
            <a:ext cx="274320" cy="365760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3559A2"/>
                </a:solidFill>
                <a:latin typeface="Arial"/>
              </a:defRPr>
            </a:pPr>
            <a:r>
              <a:t>6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312664" y="6670548"/>
            <a:ext cx="4261104" cy="886968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Travel and sightseeing take 55 minutes in total, in the ratio 3:8. How long is spent sightseeing?</a:t>
            </a:r>
          </a:p>
        </p:txBody>
      </p:sp>
      <p:sp>
        <p:nvSpPr>
          <p:cNvPr id="64" name="Rectangle 63"/>
          <p:cNvSpPr/>
          <p:nvPr/>
        </p:nvSpPr>
        <p:spPr>
          <a:xfrm>
            <a:off x="9646920" y="6611112"/>
            <a:ext cx="4640580" cy="1005840"/>
          </a:xfrm>
          <a:prstGeom prst="rect">
            <a:avLst/>
          </a:prstGeom>
          <a:solidFill>
            <a:srgbClr val="F5F0F7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9674352" y="6684264"/>
            <a:ext cx="274320" cy="365760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754B87"/>
                </a:solidFill>
                <a:latin typeface="Arial"/>
              </a:defRPr>
            </a:pPr>
            <a:r>
              <a:t>6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9976104" y="6670548"/>
            <a:ext cx="4261104" cy="886968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Practice and rest times are in the ratio 6:5. Practice lasts 54 minutes. Find the total session time.</a:t>
            </a:r>
          </a:p>
        </p:txBody>
      </p:sp>
      <p:sp>
        <p:nvSpPr>
          <p:cNvPr id="67" name="Progression curved arrow: Thread 1 to Thread 2"/>
          <p:cNvSpPr/>
          <p:nvPr/>
        </p:nvSpPr>
        <p:spPr>
          <a:xfrm>
            <a:off x="4649723" y="7552294"/>
            <a:ext cx="621792" cy="314053"/>
          </a:xfrm>
          <a:custGeom>
            <a:avLst/>
            <a:gdLst/>
            <a:ahLst/>
            <a:cxnLst/>
            <a:rect l="0" t="0" r="100000" b="100000"/>
            <a:pathLst>
              <a:path w="100000" h="100000" fill="none">
                <a:moveTo>
                  <a:pt x="6970" y="48439"/>
                </a:moveTo>
                <a:cubicBezTo>
                  <a:pt x="40678" y="114499"/>
                  <a:pt x="73026" y="88145"/>
                  <a:pt x="93030" y="13799"/>
                </a:cubicBezTo>
              </a:path>
              <a:path w="100000" h="100000" fill="none">
                <a:moveTo>
                  <a:pt x="69018" y="40431"/>
                </a:moveTo>
                <a:lnTo>
                  <a:pt x="93030" y="13799"/>
                </a:lnTo>
                <a:lnTo>
                  <a:pt x="92217" y="66207"/>
                </a:lnTo>
              </a:path>
            </a:pathLst>
          </a:custGeom>
          <a:noFill/>
          <a:ln w="64449" cap="rnd">
            <a:solidFill>
              <a:schemeClr val="accent6">
                <a:lumMod val="60000"/>
                <a:lumOff val="40000"/>
              </a:schemeClr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Progression curved arrow: Thread 2 to Thread 3"/>
          <p:cNvSpPr/>
          <p:nvPr/>
        </p:nvSpPr>
        <p:spPr>
          <a:xfrm>
            <a:off x="9265327" y="7543800"/>
            <a:ext cx="621792" cy="314053"/>
          </a:xfrm>
          <a:custGeom>
            <a:avLst/>
            <a:gdLst/>
            <a:ahLst/>
            <a:cxnLst/>
            <a:rect l="0" t="0" r="100000" b="100000"/>
            <a:pathLst>
              <a:path w="100000" h="100000" fill="none">
                <a:moveTo>
                  <a:pt x="6970" y="48439"/>
                </a:moveTo>
                <a:cubicBezTo>
                  <a:pt x="40678" y="114499"/>
                  <a:pt x="73026" y="88145"/>
                  <a:pt x="93030" y="13799"/>
                </a:cubicBezTo>
              </a:path>
              <a:path w="100000" h="100000" fill="none">
                <a:moveTo>
                  <a:pt x="69018" y="40431"/>
                </a:moveTo>
                <a:lnTo>
                  <a:pt x="93030" y="13799"/>
                </a:lnTo>
                <a:lnTo>
                  <a:pt x="92217" y="66207"/>
                </a:lnTo>
              </a:path>
            </a:pathLst>
          </a:custGeom>
          <a:noFill/>
          <a:ln w="64449" cap="rnd">
            <a:solidFill>
              <a:schemeClr val="accent6">
                <a:lumMod val="60000"/>
                <a:lumOff val="40000"/>
              </a:schemeClr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0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00" cy="73152"/>
          </a:xfrm>
          <a:prstGeom prst="rect">
            <a:avLst/>
          </a:prstGeom>
          <a:solidFill>
            <a:srgbClr val="176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164592"/>
            <a:ext cx="13990320" cy="457200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2940"/>
              </a:lnSpc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182B3A"/>
                </a:solidFill>
                <a:latin typeface="Arial"/>
              </a:defRPr>
            </a:pPr>
            <a:r>
              <a:t>Ratio: sharing and missing amounts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704088"/>
            <a:ext cx="13990320" cy="347472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575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526472"/>
                </a:solidFill>
                <a:latin typeface="Arial"/>
              </a:defRPr>
            </a:pPr>
            <a:r>
              <a:t>Independent practice 2 • Choose a column. Show your working and check your answers.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7973568"/>
            <a:ext cx="10789920" cy="210312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155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6472"/>
                </a:solidFill>
                <a:latin typeface="Arial"/>
              </a:defRPr>
            </a:pPr>
            <a:r>
              <a:t>GCSE Maths revision • No calculator • Show your working.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7973568"/>
            <a:ext cx="3108960" cy="210312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155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6472"/>
                </a:solidFill>
                <a:latin typeface="Arial"/>
              </a:defRPr>
            </a:pPr>
            <a:r>
              <a:t>M04-S05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115568"/>
            <a:ext cx="4640580" cy="420624"/>
          </a:xfrm>
          <a:prstGeom prst="rect">
            <a:avLst/>
          </a:prstGeom>
          <a:solidFill>
            <a:srgbClr val="176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47472" y="1147572"/>
            <a:ext cx="4581144" cy="329184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Thread 1: Guided</a:t>
            </a:r>
          </a:p>
        </p:txBody>
      </p:sp>
      <p:sp>
        <p:nvSpPr>
          <p:cNvPr id="9" name="Rectangle 8"/>
          <p:cNvSpPr/>
          <p:nvPr/>
        </p:nvSpPr>
        <p:spPr>
          <a:xfrm>
            <a:off x="4983480" y="1115568"/>
            <a:ext cx="4640580" cy="420624"/>
          </a:xfrm>
          <a:prstGeom prst="rect">
            <a:avLst/>
          </a:prstGeom>
          <a:solidFill>
            <a:srgbClr val="3559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010912" y="1147572"/>
            <a:ext cx="4581144" cy="329184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Thread 2: Core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646920" y="1115568"/>
            <a:ext cx="4640580" cy="420624"/>
          </a:xfrm>
          <a:prstGeom prst="rect">
            <a:avLst/>
          </a:prstGeom>
          <a:solidFill>
            <a:srgbClr val="754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674352" y="1147572"/>
            <a:ext cx="4581144" cy="329184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Thread 3: Depth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158191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47472" y="1655064"/>
            <a:ext cx="274320" cy="365760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76B73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" y="1641348"/>
            <a:ext cx="4261104" cy="886968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A 560 g snack mix contains raisins and nuts in the ratio 1:7. Find the mass of raisins.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983480" y="158191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010912" y="1655064"/>
            <a:ext cx="274320" cy="365760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3559A2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12664" y="1641348"/>
            <a:ext cx="4261104" cy="886968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A walk has uphill and level sections in the length ratio 1:8. The uphill section is 3 km. Find the total distance.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646920" y="158191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674352" y="1655064"/>
            <a:ext cx="274320" cy="365760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754B87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976104" y="1641348"/>
            <a:ext cx="4261104" cy="886968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Flour and butter have masses in the ratio 9:2. There is 280 g less butter than flour. Find the total mass.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20040" y="2587752"/>
            <a:ext cx="4640580" cy="1005840"/>
          </a:xfrm>
          <a:prstGeom prst="rect">
            <a:avLst/>
          </a:prstGeom>
          <a:solidFill>
            <a:srgbClr val="EDF6F5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347472" y="2660904"/>
            <a:ext cx="274320" cy="365760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76B73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9224" y="2647188"/>
            <a:ext cx="4261104" cy="886968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Fences A and B have lengths in the ratio 7:6. Fence A is 9 m longer than fence B. How long is fence B?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983480" y="2587752"/>
            <a:ext cx="4640580" cy="1005840"/>
          </a:xfrm>
          <a:prstGeom prst="rect">
            <a:avLst/>
          </a:prstGeom>
          <a:solidFill>
            <a:srgbClr val="EFF3FA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010912" y="2660904"/>
            <a:ext cx="274320" cy="365760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3559A2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12664" y="2647188"/>
            <a:ext cx="4261104" cy="886968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A 490 ml paint mix contains red and white paint in the ratio 3:4. Find the volume of red paint.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646920" y="2587752"/>
            <a:ext cx="4640580" cy="1005840"/>
          </a:xfrm>
          <a:prstGeom prst="rect">
            <a:avLst/>
          </a:prstGeom>
          <a:solidFill>
            <a:srgbClr val="F5F0F7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9674352" y="2660904"/>
            <a:ext cx="274320" cy="365760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754B87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976104" y="2647188"/>
            <a:ext cx="4261104" cy="886968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Tanks A and B hold water in the ratio 3:8. Tank A holds 15 litres. How much more water is in B than A?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20040" y="359359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347472" y="3666744"/>
            <a:ext cx="274320" cy="365760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76B73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9224" y="3653028"/>
            <a:ext cx="4261104" cy="886968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A 45-minute lesson has instruction and practice in the ratio 1:2. How long is spent practising?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983480" y="359359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5010912" y="3666744"/>
            <a:ext cx="274320" cy="365760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3559A2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312664" y="3653028"/>
            <a:ext cx="4261104" cy="886968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Eve and Max share money in the ratio 8:5. Eve gets £21 more than Max. How much does Max get?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646920" y="359359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9674352" y="3666744"/>
            <a:ext cx="274320" cy="365760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754B87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976104" y="3653028"/>
            <a:ext cx="4261104" cy="886968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Reading and writing take 78 minutes in total, in the ratio 4:9. Find both times.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20040" y="4599432"/>
            <a:ext cx="4640580" cy="1005840"/>
          </a:xfrm>
          <a:prstGeom prst="rect">
            <a:avLst/>
          </a:prstGeom>
          <a:solidFill>
            <a:srgbClr val="EDF6F5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347472" y="4672584"/>
            <a:ext cx="274320" cy="365760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76B73"/>
                </a:solidFill>
                <a:latin typeface="Arial"/>
              </a:defRPr>
            </a:pPr>
            <a:r>
              <a:t>4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9224" y="4658868"/>
            <a:ext cx="4261104" cy="886968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Kim and Ali receive money in the ratio 7:5. Kim gets £56. How much does Ali receive?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983480" y="4599432"/>
            <a:ext cx="4640580" cy="1005840"/>
          </a:xfrm>
          <a:prstGeom prst="rect">
            <a:avLst/>
          </a:prstGeom>
          <a:solidFill>
            <a:srgbClr val="EFF3FA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5010912" y="4672584"/>
            <a:ext cx="274320" cy="365760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3559A2"/>
                </a:solidFill>
                <a:latin typeface="Arial"/>
              </a:defRPr>
            </a:pPr>
            <a:r>
              <a:t>4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312664" y="4658868"/>
            <a:ext cx="4261104" cy="886968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Study and break times are in the ratio 5:1. Studying takes 48 minutes longer than breaks. How long are the breaks?</a:t>
            </a:r>
          </a:p>
        </p:txBody>
      </p:sp>
      <p:sp>
        <p:nvSpPr>
          <p:cNvPr id="46" name="Rectangle 45"/>
          <p:cNvSpPr/>
          <p:nvPr/>
        </p:nvSpPr>
        <p:spPr>
          <a:xfrm>
            <a:off x="9646920" y="4599432"/>
            <a:ext cx="4640580" cy="1005840"/>
          </a:xfrm>
          <a:prstGeom prst="rect">
            <a:avLst/>
          </a:prstGeom>
          <a:solidFill>
            <a:srgbClr val="F5F0F7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9674352" y="4672584"/>
            <a:ext cx="274320" cy="365760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754B87"/>
                </a:solidFill>
                <a:latin typeface="Arial"/>
              </a:defRPr>
            </a:pPr>
            <a:r>
              <a:t>4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976104" y="4658868"/>
            <a:ext cx="4261104" cy="886968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Two pieces of wood have lengths in the ratio 5:9. The longer is 28 cm longer. Find the longer length.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20040" y="560527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347472" y="5678424"/>
            <a:ext cx="274320" cy="365760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76B73"/>
                </a:solidFill>
                <a:latin typeface="Arial"/>
              </a:defRPr>
            </a:pPr>
            <a:r>
              <a:t>5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49224" y="5664708"/>
            <a:ext cx="4261104" cy="886968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Red and white flowers are in the ratio 4:5. There are 7 more white than red. How many are white?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983480" y="560527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5010912" y="5678424"/>
            <a:ext cx="274320" cy="365760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3559A2"/>
                </a:solidFill>
                <a:latin typeface="Arial"/>
              </a:defRPr>
            </a:pPr>
            <a:r>
              <a:t>5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312664" y="5664708"/>
            <a:ext cx="4261104" cy="886968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A 300 g mix contains raisins and oats in the ratio 7:8. Find the mass of raisins.</a:t>
            </a:r>
          </a:p>
        </p:txBody>
      </p:sp>
      <p:sp>
        <p:nvSpPr>
          <p:cNvPr id="55" name="Rectangle 54"/>
          <p:cNvSpPr/>
          <p:nvPr/>
        </p:nvSpPr>
        <p:spPr>
          <a:xfrm>
            <a:off x="9646920" y="560527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9674352" y="5678424"/>
            <a:ext cx="274320" cy="365760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754B87"/>
                </a:solidFill>
                <a:latin typeface="Arial"/>
              </a:defRPr>
            </a:pPr>
            <a:r>
              <a:t>5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976104" y="5664708"/>
            <a:ext cx="4261104" cy="886968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Nia and Tom share £208 in the ratio 7:9. How much more does Tom get than Nia?</a:t>
            </a:r>
          </a:p>
        </p:txBody>
      </p:sp>
      <p:sp>
        <p:nvSpPr>
          <p:cNvPr id="58" name="Rectangle 57"/>
          <p:cNvSpPr/>
          <p:nvPr/>
        </p:nvSpPr>
        <p:spPr>
          <a:xfrm>
            <a:off x="320040" y="6611112"/>
            <a:ext cx="4640580" cy="1005840"/>
          </a:xfrm>
          <a:prstGeom prst="rect">
            <a:avLst/>
          </a:prstGeom>
          <a:solidFill>
            <a:srgbClr val="EDF6F5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347472" y="6684264"/>
            <a:ext cx="274320" cy="365760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76B73"/>
                </a:solidFill>
                <a:latin typeface="Arial"/>
              </a:defRPr>
            </a:pPr>
            <a:r>
              <a:t>6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49224" y="6670548"/>
            <a:ext cx="4261104" cy="886968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Blue and white paint are mixed in the ratio 1:3. There is 180 ml of white paint. Find the total volume.</a:t>
            </a:r>
          </a:p>
        </p:txBody>
      </p:sp>
      <p:sp>
        <p:nvSpPr>
          <p:cNvPr id="61" name="Rectangle 60"/>
          <p:cNvSpPr/>
          <p:nvPr/>
        </p:nvSpPr>
        <p:spPr>
          <a:xfrm>
            <a:off x="4983480" y="6611112"/>
            <a:ext cx="4640580" cy="1005840"/>
          </a:xfrm>
          <a:prstGeom prst="rect">
            <a:avLst/>
          </a:prstGeom>
          <a:solidFill>
            <a:srgbClr val="EFF3FA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5010912" y="6684264"/>
            <a:ext cx="274320" cy="365760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3559A2"/>
                </a:solidFill>
                <a:latin typeface="Arial"/>
              </a:defRPr>
            </a:pPr>
            <a:r>
              <a:t>6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312664" y="6670548"/>
            <a:ext cx="4261104" cy="886968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A farm has sheep and goats in the ratio 9:1. There are 72 sheep. How many animals are there altogether?</a:t>
            </a:r>
          </a:p>
        </p:txBody>
      </p:sp>
      <p:sp>
        <p:nvSpPr>
          <p:cNvPr id="64" name="Rectangle 63"/>
          <p:cNvSpPr/>
          <p:nvPr/>
        </p:nvSpPr>
        <p:spPr>
          <a:xfrm>
            <a:off x="9646920" y="6611112"/>
            <a:ext cx="4640580" cy="1005840"/>
          </a:xfrm>
          <a:prstGeom prst="rect">
            <a:avLst/>
          </a:prstGeom>
          <a:solidFill>
            <a:srgbClr val="F5F0F7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9674352" y="6684264"/>
            <a:ext cx="274320" cy="365760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754B87"/>
                </a:solidFill>
                <a:latin typeface="Arial"/>
              </a:defRPr>
            </a:pPr>
            <a:r>
              <a:t>6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9976104" y="6670548"/>
            <a:ext cx="4261104" cy="886968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Adult and child tickets sell in the ratio 9:8. There are 81 adult tickets. Find the total number of tickets.</a:t>
            </a:r>
          </a:p>
        </p:txBody>
      </p:sp>
      <p:sp>
        <p:nvSpPr>
          <p:cNvPr id="67" name="Progression curved arrow: Thread 1 to Thread 2"/>
          <p:cNvSpPr/>
          <p:nvPr/>
        </p:nvSpPr>
        <p:spPr>
          <a:xfrm>
            <a:off x="4649723" y="7552294"/>
            <a:ext cx="621792" cy="314053"/>
          </a:xfrm>
          <a:custGeom>
            <a:avLst/>
            <a:gdLst/>
            <a:ahLst/>
            <a:cxnLst/>
            <a:rect l="0" t="0" r="100000" b="100000"/>
            <a:pathLst>
              <a:path w="100000" h="100000" fill="none">
                <a:moveTo>
                  <a:pt x="6970" y="48439"/>
                </a:moveTo>
                <a:cubicBezTo>
                  <a:pt x="40678" y="114499"/>
                  <a:pt x="73026" y="88145"/>
                  <a:pt x="93030" y="13799"/>
                </a:cubicBezTo>
              </a:path>
              <a:path w="100000" h="100000" fill="none">
                <a:moveTo>
                  <a:pt x="69018" y="40431"/>
                </a:moveTo>
                <a:lnTo>
                  <a:pt x="93030" y="13799"/>
                </a:lnTo>
                <a:lnTo>
                  <a:pt x="92217" y="66207"/>
                </a:lnTo>
              </a:path>
            </a:pathLst>
          </a:custGeom>
          <a:noFill/>
          <a:ln w="64449" cap="rnd">
            <a:solidFill>
              <a:schemeClr val="accent6">
                <a:lumMod val="60000"/>
                <a:lumOff val="40000"/>
              </a:schemeClr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Progression curved arrow: Thread 2 to Thread 3"/>
          <p:cNvSpPr/>
          <p:nvPr/>
        </p:nvSpPr>
        <p:spPr>
          <a:xfrm>
            <a:off x="9265327" y="7543800"/>
            <a:ext cx="621792" cy="314053"/>
          </a:xfrm>
          <a:custGeom>
            <a:avLst/>
            <a:gdLst/>
            <a:ahLst/>
            <a:cxnLst/>
            <a:rect l="0" t="0" r="100000" b="100000"/>
            <a:pathLst>
              <a:path w="100000" h="100000" fill="none">
                <a:moveTo>
                  <a:pt x="6970" y="48439"/>
                </a:moveTo>
                <a:cubicBezTo>
                  <a:pt x="40678" y="114499"/>
                  <a:pt x="73026" y="88145"/>
                  <a:pt x="93030" y="13799"/>
                </a:cubicBezTo>
              </a:path>
              <a:path w="100000" h="100000" fill="none">
                <a:moveTo>
                  <a:pt x="69018" y="40431"/>
                </a:moveTo>
                <a:lnTo>
                  <a:pt x="93030" y="13799"/>
                </a:lnTo>
                <a:lnTo>
                  <a:pt x="92217" y="66207"/>
                </a:lnTo>
              </a:path>
            </a:pathLst>
          </a:custGeom>
          <a:noFill/>
          <a:ln w="64449" cap="rnd">
            <a:solidFill>
              <a:schemeClr val="accent6">
                <a:lumMod val="60000"/>
                <a:lumOff val="40000"/>
              </a:schemeClr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0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00" cy="73152"/>
          </a:xfrm>
          <a:prstGeom prst="rect">
            <a:avLst/>
          </a:prstGeom>
          <a:solidFill>
            <a:srgbClr val="176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164592"/>
            <a:ext cx="13990320" cy="457200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2940"/>
              </a:lnSpc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182B3A"/>
                </a:solidFill>
                <a:latin typeface="Arial"/>
              </a:defRPr>
            </a:pPr>
            <a:r>
              <a:t>Ratio: sharing and missing amounts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704088"/>
            <a:ext cx="13990320" cy="347472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575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526472"/>
                </a:solidFill>
                <a:latin typeface="Arial"/>
              </a:defRPr>
            </a:pPr>
            <a:r>
              <a:t>Independent practice 3 • Choose a column. Show your working and check your answers.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7973568"/>
            <a:ext cx="10789920" cy="210312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155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6472"/>
                </a:solidFill>
                <a:latin typeface="Arial"/>
              </a:defRPr>
            </a:pPr>
            <a:r>
              <a:t>GCSE Maths revision • No calculator • Show your working.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7973568"/>
            <a:ext cx="3108960" cy="210312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155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6472"/>
                </a:solidFill>
                <a:latin typeface="Arial"/>
              </a:defRPr>
            </a:pPr>
            <a:r>
              <a:t>M04-S06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115568"/>
            <a:ext cx="4640580" cy="420624"/>
          </a:xfrm>
          <a:prstGeom prst="rect">
            <a:avLst/>
          </a:prstGeom>
          <a:solidFill>
            <a:srgbClr val="176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47472" y="1147572"/>
            <a:ext cx="4581144" cy="329184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Thread 1: Guided</a:t>
            </a:r>
          </a:p>
        </p:txBody>
      </p:sp>
      <p:sp>
        <p:nvSpPr>
          <p:cNvPr id="9" name="Rectangle 8"/>
          <p:cNvSpPr/>
          <p:nvPr/>
        </p:nvSpPr>
        <p:spPr>
          <a:xfrm>
            <a:off x="4983480" y="1115568"/>
            <a:ext cx="4640580" cy="420624"/>
          </a:xfrm>
          <a:prstGeom prst="rect">
            <a:avLst/>
          </a:prstGeom>
          <a:solidFill>
            <a:srgbClr val="3559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010912" y="1147572"/>
            <a:ext cx="4581144" cy="329184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Thread 2: Core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646920" y="1115568"/>
            <a:ext cx="4640580" cy="420624"/>
          </a:xfrm>
          <a:prstGeom prst="rect">
            <a:avLst/>
          </a:prstGeom>
          <a:solidFill>
            <a:srgbClr val="754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674352" y="1147572"/>
            <a:ext cx="4581144" cy="329184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Thread 3: Depth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158191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47472" y="1655064"/>
            <a:ext cx="274320" cy="365760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76B73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" y="1641348"/>
            <a:ext cx="4261104" cy="886968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A club has 80 junior and senior members in the ratio 7:3. How many members are seniors?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983480" y="158191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010912" y="1655064"/>
            <a:ext cx="274320" cy="365760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3559A2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12664" y="1641348"/>
            <a:ext cx="4261104" cy="886968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Study and break times are in the ratio 8:1. Study takes 64 minutes. Find the total time.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646920" y="158191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674352" y="1655064"/>
            <a:ext cx="274320" cy="365760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754B87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976104" y="1641348"/>
            <a:ext cx="4261104" cy="886968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Two sessions have durations in the ratio 1:10. The second lasts 72 minutes longer. Find the first session’s duration.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20040" y="2587752"/>
            <a:ext cx="4640580" cy="1005840"/>
          </a:xfrm>
          <a:prstGeom prst="rect">
            <a:avLst/>
          </a:prstGeom>
          <a:solidFill>
            <a:srgbClr val="EDF6F5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347472" y="2660904"/>
            <a:ext cx="274320" cy="365760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76B73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9224" y="2647188"/>
            <a:ext cx="4261104" cy="886968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Milk and coffee are mixed in the ratio 4:1. There is 100 ml of coffee. Find the volume of milk.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983480" y="2587752"/>
            <a:ext cx="4640580" cy="1005840"/>
          </a:xfrm>
          <a:prstGeom prst="rect">
            <a:avLst/>
          </a:prstGeom>
          <a:solidFill>
            <a:srgbClr val="EFF3FA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010912" y="2660904"/>
            <a:ext cx="274320" cy="365760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3559A2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12664" y="2647188"/>
            <a:ext cx="4261104" cy="886968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Rods A and B have lengths in the ratio 5:8. Rod B is 21 mm longer than rod A. How long is rod B?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646920" y="2587752"/>
            <a:ext cx="4640580" cy="1005840"/>
          </a:xfrm>
          <a:prstGeom prst="rect">
            <a:avLst/>
          </a:prstGeom>
          <a:solidFill>
            <a:srgbClr val="F5F0F7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9674352" y="2660904"/>
            <a:ext cx="274320" cy="365760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754B87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976104" y="2647188"/>
            <a:ext cx="4261104" cy="886968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Kai and May receive money in the ratio 9:5. May gets £60. Find their combined amount.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20040" y="359359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347472" y="3666744"/>
            <a:ext cx="274320" cy="365760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76B73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9224" y="3653028"/>
            <a:ext cx="4261104" cy="886968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Dan and Pat share money in the ratio 1:6. Pat gets £70 more than Dan. How much does Dan get?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983480" y="359359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5010912" y="3666744"/>
            <a:ext cx="274320" cy="365760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3559A2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312664" y="3653028"/>
            <a:ext cx="4261104" cy="886968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A recipe uses flour and butter in the ratio 4:3 by mass. There are 90 g of butter. Find the total mass.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646920" y="359359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9674352" y="3666744"/>
            <a:ext cx="274320" cy="365760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754B87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976104" y="3653028"/>
            <a:ext cx="4261104" cy="886968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A farm has 143 sheep and goats in the ratio 10:3. How many more sheep are there than goats?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20040" y="4599432"/>
            <a:ext cx="4640580" cy="1005840"/>
          </a:xfrm>
          <a:prstGeom prst="rect">
            <a:avLst/>
          </a:prstGeom>
          <a:solidFill>
            <a:srgbClr val="EDF6F5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347472" y="4672584"/>
            <a:ext cx="274320" cy="365760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76B73"/>
                </a:solidFill>
                <a:latin typeface="Arial"/>
              </a:defRPr>
            </a:pPr>
            <a:r>
              <a:t>4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9224" y="4658868"/>
            <a:ext cx="4261104" cy="886968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Action and dialogue times are in the ratio 5:6. Dialogue lasts 15 minutes longer. How long is the dialogue?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983480" y="4599432"/>
            <a:ext cx="4640580" cy="1005840"/>
          </a:xfrm>
          <a:prstGeom prst="rect">
            <a:avLst/>
          </a:prstGeom>
          <a:solidFill>
            <a:srgbClr val="EFF3FA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5010912" y="4672584"/>
            <a:ext cx="274320" cy="365760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3559A2"/>
                </a:solidFill>
                <a:latin typeface="Arial"/>
              </a:defRPr>
            </a:pPr>
            <a:r>
              <a:t>4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312664" y="4658868"/>
            <a:ext cx="4261104" cy="886968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Green and yellow beads are in the ratio 7:8. There are 3 more yellow than green. How many are yellow?</a:t>
            </a:r>
          </a:p>
        </p:txBody>
      </p:sp>
      <p:sp>
        <p:nvSpPr>
          <p:cNvPr id="46" name="Rectangle 45"/>
          <p:cNvSpPr/>
          <p:nvPr/>
        </p:nvSpPr>
        <p:spPr>
          <a:xfrm>
            <a:off x="9646920" y="4599432"/>
            <a:ext cx="4640580" cy="1005840"/>
          </a:xfrm>
          <a:prstGeom prst="rect">
            <a:avLst/>
          </a:prstGeom>
          <a:solidFill>
            <a:srgbClr val="F5F0F7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9674352" y="4672584"/>
            <a:ext cx="274320" cy="365760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754B87"/>
                </a:solidFill>
                <a:latin typeface="Arial"/>
              </a:defRPr>
            </a:pPr>
            <a:r>
              <a:t>4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976104" y="4658868"/>
            <a:ext cx="4261104" cy="886968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Milk and water have volumes in the ratio 10:7. There is 500 ml of milk. How much less water is there than milk?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20040" y="560527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347472" y="5678424"/>
            <a:ext cx="274320" cy="365760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76B73"/>
                </a:solidFill>
                <a:latin typeface="Arial"/>
              </a:defRPr>
            </a:pPr>
            <a:r>
              <a:t>5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49224" y="5664708"/>
            <a:ext cx="4261104" cy="886968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A 800 g fruit mix contains apples and pears in the ratio 7:1. Find the mass of pears.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983480" y="560527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5010912" y="5678424"/>
            <a:ext cx="274320" cy="365760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3559A2"/>
                </a:solidFill>
                <a:latin typeface="Arial"/>
              </a:defRPr>
            </a:pPr>
            <a:r>
              <a:t>5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312664" y="5664708"/>
            <a:ext cx="4261104" cy="886968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Sam and Jo share £90 in the ratio 9:1. How much does Jo receive?</a:t>
            </a:r>
          </a:p>
        </p:txBody>
      </p:sp>
      <p:sp>
        <p:nvSpPr>
          <p:cNvPr id="55" name="Rectangle 54"/>
          <p:cNvSpPr/>
          <p:nvPr/>
        </p:nvSpPr>
        <p:spPr>
          <a:xfrm>
            <a:off x="9646920" y="560527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9674352" y="5678424"/>
            <a:ext cx="274320" cy="365760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754B87"/>
                </a:solidFill>
                <a:latin typeface="Arial"/>
              </a:defRPr>
            </a:pPr>
            <a:r>
              <a:t>5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976104" y="5664708"/>
            <a:ext cx="4261104" cy="886968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Two paths have lengths in the ratio 4:9. The longer is 35 m longer. Find their combined length.</a:t>
            </a:r>
          </a:p>
        </p:txBody>
      </p:sp>
      <p:sp>
        <p:nvSpPr>
          <p:cNvPr id="58" name="Rectangle 57"/>
          <p:cNvSpPr/>
          <p:nvPr/>
        </p:nvSpPr>
        <p:spPr>
          <a:xfrm>
            <a:off x="320040" y="6611112"/>
            <a:ext cx="4640580" cy="1005840"/>
          </a:xfrm>
          <a:prstGeom prst="rect">
            <a:avLst/>
          </a:prstGeom>
          <a:solidFill>
            <a:srgbClr val="EDF6F5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347472" y="6684264"/>
            <a:ext cx="274320" cy="365760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76B73"/>
                </a:solidFill>
                <a:latin typeface="Arial"/>
              </a:defRPr>
            </a:pPr>
            <a:r>
              <a:t>6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49224" y="6670548"/>
            <a:ext cx="4261104" cy="886968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Wire pieces A and B have lengths in the ratio 7:6. A is 84 cm long. Find the length of B.</a:t>
            </a:r>
          </a:p>
        </p:txBody>
      </p:sp>
      <p:sp>
        <p:nvSpPr>
          <p:cNvPr id="61" name="Rectangle 60"/>
          <p:cNvSpPr/>
          <p:nvPr/>
        </p:nvSpPr>
        <p:spPr>
          <a:xfrm>
            <a:off x="4983480" y="6611112"/>
            <a:ext cx="4640580" cy="1005840"/>
          </a:xfrm>
          <a:prstGeom prst="rect">
            <a:avLst/>
          </a:prstGeom>
          <a:solidFill>
            <a:srgbClr val="EFF3FA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5010912" y="6684264"/>
            <a:ext cx="274320" cy="365760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3559A2"/>
                </a:solidFill>
                <a:latin typeface="Arial"/>
              </a:defRPr>
            </a:pPr>
            <a:r>
              <a:t>6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312664" y="6670548"/>
            <a:ext cx="4261104" cy="886968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Concentrate and water are mixed in the ratio 2:9. There is 675 ml of water. Find the total volume.</a:t>
            </a:r>
          </a:p>
        </p:txBody>
      </p:sp>
      <p:sp>
        <p:nvSpPr>
          <p:cNvPr id="64" name="Rectangle 63"/>
          <p:cNvSpPr/>
          <p:nvPr/>
        </p:nvSpPr>
        <p:spPr>
          <a:xfrm>
            <a:off x="9646920" y="6611112"/>
            <a:ext cx="4640580" cy="1005840"/>
          </a:xfrm>
          <a:prstGeom prst="rect">
            <a:avLst/>
          </a:prstGeom>
          <a:solidFill>
            <a:srgbClr val="F5F0F7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9674352" y="6684264"/>
            <a:ext cx="274320" cy="365760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754B87"/>
                </a:solidFill>
                <a:latin typeface="Arial"/>
              </a:defRPr>
            </a:pPr>
            <a:r>
              <a:t>6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9976104" y="6670548"/>
            <a:ext cx="4261104" cy="886968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A 950 g mix contains oats and raisins in the ratio 10:9. Find the mass of each ingredient.</a:t>
            </a:r>
          </a:p>
        </p:txBody>
      </p:sp>
      <p:sp>
        <p:nvSpPr>
          <p:cNvPr id="67" name="Progression curved arrow: Thread 1 to Thread 2"/>
          <p:cNvSpPr/>
          <p:nvPr/>
        </p:nvSpPr>
        <p:spPr>
          <a:xfrm>
            <a:off x="4649723" y="7552294"/>
            <a:ext cx="621792" cy="314053"/>
          </a:xfrm>
          <a:custGeom>
            <a:avLst/>
            <a:gdLst/>
            <a:ahLst/>
            <a:cxnLst/>
            <a:rect l="0" t="0" r="100000" b="100000"/>
            <a:pathLst>
              <a:path w="100000" h="100000" fill="none">
                <a:moveTo>
                  <a:pt x="6970" y="48439"/>
                </a:moveTo>
                <a:cubicBezTo>
                  <a:pt x="40678" y="114499"/>
                  <a:pt x="73026" y="88145"/>
                  <a:pt x="93030" y="13799"/>
                </a:cubicBezTo>
              </a:path>
              <a:path w="100000" h="100000" fill="none">
                <a:moveTo>
                  <a:pt x="69018" y="40431"/>
                </a:moveTo>
                <a:lnTo>
                  <a:pt x="93030" y="13799"/>
                </a:lnTo>
                <a:lnTo>
                  <a:pt x="92217" y="66207"/>
                </a:lnTo>
              </a:path>
            </a:pathLst>
          </a:custGeom>
          <a:noFill/>
          <a:ln w="64449" cap="rnd">
            <a:solidFill>
              <a:schemeClr val="accent6">
                <a:lumMod val="60000"/>
                <a:lumOff val="40000"/>
              </a:schemeClr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Progression curved arrow: Thread 2 to Thread 3"/>
          <p:cNvSpPr/>
          <p:nvPr/>
        </p:nvSpPr>
        <p:spPr>
          <a:xfrm>
            <a:off x="9265327" y="7543800"/>
            <a:ext cx="621792" cy="314053"/>
          </a:xfrm>
          <a:custGeom>
            <a:avLst/>
            <a:gdLst/>
            <a:ahLst/>
            <a:cxnLst/>
            <a:rect l="0" t="0" r="100000" b="100000"/>
            <a:pathLst>
              <a:path w="100000" h="100000" fill="none">
                <a:moveTo>
                  <a:pt x="6970" y="48439"/>
                </a:moveTo>
                <a:cubicBezTo>
                  <a:pt x="40678" y="114499"/>
                  <a:pt x="73026" y="88145"/>
                  <a:pt x="93030" y="13799"/>
                </a:cubicBezTo>
              </a:path>
              <a:path w="100000" h="100000" fill="none">
                <a:moveTo>
                  <a:pt x="69018" y="40431"/>
                </a:moveTo>
                <a:lnTo>
                  <a:pt x="93030" y="13799"/>
                </a:lnTo>
                <a:lnTo>
                  <a:pt x="92217" y="66207"/>
                </a:lnTo>
              </a:path>
            </a:pathLst>
          </a:custGeom>
          <a:noFill/>
          <a:ln w="64449" cap="rnd">
            <a:solidFill>
              <a:schemeClr val="accent6">
                <a:lumMod val="60000"/>
                <a:lumOff val="40000"/>
              </a:schemeClr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0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00" cy="73152"/>
          </a:xfrm>
          <a:prstGeom prst="rect">
            <a:avLst/>
          </a:prstGeom>
          <a:solidFill>
            <a:srgbClr val="176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164592"/>
            <a:ext cx="13990320" cy="457200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2940"/>
              </a:lnSpc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182B3A"/>
                </a:solidFill>
                <a:latin typeface="Arial"/>
              </a:defRPr>
            </a:pPr>
            <a:r>
              <a:t>Ratio: sharing and missing amounts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704088"/>
            <a:ext cx="13990320" cy="347472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575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526472"/>
                </a:solidFill>
                <a:latin typeface="Arial"/>
              </a:defRPr>
            </a:pPr>
            <a:r>
              <a:t>Independent practice 4 • Choose a column. Show your working and check your answers.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7973568"/>
            <a:ext cx="10789920" cy="210312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155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6472"/>
                </a:solidFill>
                <a:latin typeface="Arial"/>
              </a:defRPr>
            </a:pPr>
            <a:r>
              <a:t>GCSE Maths revision • No calculator • Show your working.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7973568"/>
            <a:ext cx="3108960" cy="210312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155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6472"/>
                </a:solidFill>
                <a:latin typeface="Arial"/>
              </a:defRPr>
            </a:pPr>
            <a:r>
              <a:t>M04-S07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115568"/>
            <a:ext cx="4640580" cy="420624"/>
          </a:xfrm>
          <a:prstGeom prst="rect">
            <a:avLst/>
          </a:prstGeom>
          <a:solidFill>
            <a:srgbClr val="176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47472" y="1147572"/>
            <a:ext cx="4581144" cy="329184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Thread 1: Guided</a:t>
            </a:r>
          </a:p>
        </p:txBody>
      </p:sp>
      <p:sp>
        <p:nvSpPr>
          <p:cNvPr id="9" name="Rectangle 8"/>
          <p:cNvSpPr/>
          <p:nvPr/>
        </p:nvSpPr>
        <p:spPr>
          <a:xfrm>
            <a:off x="4983480" y="1115568"/>
            <a:ext cx="4640580" cy="420624"/>
          </a:xfrm>
          <a:prstGeom prst="rect">
            <a:avLst/>
          </a:prstGeom>
          <a:solidFill>
            <a:srgbClr val="3559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010912" y="1147572"/>
            <a:ext cx="4581144" cy="329184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Thread 2: Core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646920" y="1115568"/>
            <a:ext cx="4640580" cy="420624"/>
          </a:xfrm>
          <a:prstGeom prst="rect">
            <a:avLst/>
          </a:prstGeom>
          <a:solidFill>
            <a:srgbClr val="754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674352" y="1147572"/>
            <a:ext cx="4581144" cy="329184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Thread 3: Depth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158191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47472" y="1655064"/>
            <a:ext cx="274320" cy="365760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76B73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" y="1641348"/>
            <a:ext cx="4261104" cy="886968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A 30-minute trip has walking and cycling times in the ratio 1:2. Find the cycling time.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983480" y="158191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010912" y="1655064"/>
            <a:ext cx="274320" cy="365760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3559A2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12664" y="1641348"/>
            <a:ext cx="4261104" cy="886968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Two charities receive money in the ratio 7:9. The second gets £108. How much is donated altogether?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646920" y="158191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674352" y="1655064"/>
            <a:ext cx="274320" cy="365760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754B87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976104" y="1641348"/>
            <a:ext cx="4261104" cy="886968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Two tanks hold water in the ratio 1:11. The second holds 90 litres more. How much water is in the first?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20040" y="2587752"/>
            <a:ext cx="4640580" cy="1005840"/>
          </a:xfrm>
          <a:prstGeom prst="rect">
            <a:avLst/>
          </a:prstGeom>
          <a:solidFill>
            <a:srgbClr val="EDF6F5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347472" y="2660904"/>
            <a:ext cx="274320" cy="365760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76B73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9224" y="2647188"/>
            <a:ext cx="4261104" cy="886968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Two buckets contain 20 litres of water in total, in the ratio 1:3. Find the amount in each bucket.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983480" y="2587752"/>
            <a:ext cx="4640580" cy="1005840"/>
          </a:xfrm>
          <a:prstGeom prst="rect">
            <a:avLst/>
          </a:prstGeom>
          <a:solidFill>
            <a:srgbClr val="EFF3FA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010912" y="2660904"/>
            <a:ext cx="274320" cy="365760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3559A2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12664" y="2647188"/>
            <a:ext cx="4261104" cy="886968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A tray has 102 red and yellow plants in the ratio 8:9. How many plants are yellow?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646920" y="2587752"/>
            <a:ext cx="4640580" cy="1005840"/>
          </a:xfrm>
          <a:prstGeom prst="rect">
            <a:avLst/>
          </a:prstGeom>
          <a:solidFill>
            <a:srgbClr val="F5F0F7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9674352" y="2660904"/>
            <a:ext cx="274320" cy="365760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754B87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976104" y="2647188"/>
            <a:ext cx="4261104" cy="886968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Nuts and raisins are mixed in the ratio 11:7 by mass. There are 210 g of raisins. Find the total mass.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20040" y="359359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347472" y="3666744"/>
            <a:ext cx="274320" cy="365760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76B73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9224" y="3653028"/>
            <a:ext cx="4261104" cy="886968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Ribbons A and B have lengths in the ratio 2:3. B is 12 cm longer than A. How long is ribbon B?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983480" y="359359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5010912" y="3666744"/>
            <a:ext cx="274320" cy="365760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3559A2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312664" y="3653028"/>
            <a:ext cx="4261104" cy="886968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Mixing and baking times are in the ratio 1:5. Baking takes 25 minutes. How long does mixing take?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646920" y="359359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9674352" y="3666744"/>
            <a:ext cx="274320" cy="365760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754B87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976104" y="3653028"/>
            <a:ext cx="4261104" cy="886968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Two ribbons have a total length of 285 cm, in the ratio 8:11. Find the difference in their lengths.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20040" y="4599432"/>
            <a:ext cx="4640580" cy="1005840"/>
          </a:xfrm>
          <a:prstGeom prst="rect">
            <a:avLst/>
          </a:prstGeom>
          <a:solidFill>
            <a:srgbClr val="EDF6F5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347472" y="4672584"/>
            <a:ext cx="274320" cy="365760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76B73"/>
                </a:solidFill>
                <a:latin typeface="Arial"/>
              </a:defRPr>
            </a:pPr>
            <a:r>
              <a:t>4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9224" y="4658868"/>
            <a:ext cx="4261104" cy="886968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Noor and Will receive money in the ratio 7:4. Will gets £48. Find Noor’s share.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983480" y="4599432"/>
            <a:ext cx="4640580" cy="1005840"/>
          </a:xfrm>
          <a:prstGeom prst="rect">
            <a:avLst/>
          </a:prstGeom>
          <a:solidFill>
            <a:srgbClr val="EFF3FA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5010912" y="4672584"/>
            <a:ext cx="274320" cy="365760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3559A2"/>
                </a:solidFill>
                <a:latin typeface="Arial"/>
              </a:defRPr>
            </a:pPr>
            <a:r>
              <a:t>4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312664" y="4658868"/>
            <a:ext cx="4261104" cy="886968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Two sacks have masses in the ratio 7:3. The heavier weighs 16 kg more. How much does the lighter weigh?</a:t>
            </a:r>
          </a:p>
        </p:txBody>
      </p:sp>
      <p:sp>
        <p:nvSpPr>
          <p:cNvPr id="46" name="Rectangle 45"/>
          <p:cNvSpPr/>
          <p:nvPr/>
        </p:nvSpPr>
        <p:spPr>
          <a:xfrm>
            <a:off x="9646920" y="4599432"/>
            <a:ext cx="4640580" cy="1005840"/>
          </a:xfrm>
          <a:prstGeom prst="rect">
            <a:avLst/>
          </a:prstGeom>
          <a:solidFill>
            <a:srgbClr val="F5F0F7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9674352" y="4672584"/>
            <a:ext cx="274320" cy="365760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754B87"/>
                </a:solidFill>
                <a:latin typeface="Arial"/>
              </a:defRPr>
            </a:pPr>
            <a:r>
              <a:t>4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976104" y="4658868"/>
            <a:ext cx="4261104" cy="886968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Adult and child tickets sell in the ratio 11:2. There are 143 adult tickets. How many more adult tickets are sold?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20040" y="560527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347472" y="5678424"/>
            <a:ext cx="274320" cy="365760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76B73"/>
                </a:solidFill>
                <a:latin typeface="Arial"/>
              </a:defRPr>
            </a:pPr>
            <a:r>
              <a:t>5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49224" y="5664708"/>
            <a:ext cx="4261104" cy="886968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Dark and milk chocolates are in the ratio 1:4. There are 36 more milk than dark. How many are milk?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983480" y="560527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5010912" y="5678424"/>
            <a:ext cx="274320" cy="365760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3559A2"/>
                </a:solidFill>
                <a:latin typeface="Arial"/>
              </a:defRPr>
            </a:pPr>
            <a:r>
              <a:t>5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312664" y="5664708"/>
            <a:ext cx="4261104" cy="886968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Blue and white paint are in the ratio 2:5. There are 9 litres more white than blue. How much is blue?</a:t>
            </a:r>
          </a:p>
        </p:txBody>
      </p:sp>
      <p:sp>
        <p:nvSpPr>
          <p:cNvPr id="55" name="Rectangle 54"/>
          <p:cNvSpPr/>
          <p:nvPr/>
        </p:nvSpPr>
        <p:spPr>
          <a:xfrm>
            <a:off x="9646920" y="560527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9674352" y="5678424"/>
            <a:ext cx="274320" cy="365760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754B87"/>
                </a:solidFill>
                <a:latin typeface="Arial"/>
              </a:defRPr>
            </a:pPr>
            <a:r>
              <a:t>5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976104" y="5664708"/>
            <a:ext cx="4261104" cy="886968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Leah and Omar receive money in the ratio 3:11. Leah gets £64 less than Omar. How much does Omar get?</a:t>
            </a:r>
          </a:p>
        </p:txBody>
      </p:sp>
      <p:sp>
        <p:nvSpPr>
          <p:cNvPr id="58" name="Rectangle 57"/>
          <p:cNvSpPr/>
          <p:nvPr/>
        </p:nvSpPr>
        <p:spPr>
          <a:xfrm>
            <a:off x="320040" y="6611112"/>
            <a:ext cx="4640580" cy="1005840"/>
          </a:xfrm>
          <a:prstGeom prst="rect">
            <a:avLst/>
          </a:prstGeom>
          <a:solidFill>
            <a:srgbClr val="EDF6F5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347472" y="6684264"/>
            <a:ext cx="274320" cy="365760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76B73"/>
                </a:solidFill>
                <a:latin typeface="Arial"/>
              </a:defRPr>
            </a:pPr>
            <a:r>
              <a:t>6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49224" y="6670548"/>
            <a:ext cx="4261104" cy="886968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A 560 g bread mix has white and brown flour in the ratio 4:3. Find the mass of brown flour.</a:t>
            </a:r>
          </a:p>
        </p:txBody>
      </p:sp>
      <p:sp>
        <p:nvSpPr>
          <p:cNvPr id="61" name="Rectangle 60"/>
          <p:cNvSpPr/>
          <p:nvPr/>
        </p:nvSpPr>
        <p:spPr>
          <a:xfrm>
            <a:off x="4983480" y="6611112"/>
            <a:ext cx="4640580" cy="1005840"/>
          </a:xfrm>
          <a:prstGeom prst="rect">
            <a:avLst/>
          </a:prstGeom>
          <a:solidFill>
            <a:srgbClr val="EFF3FA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5010912" y="6684264"/>
            <a:ext cx="274320" cy="365760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3559A2"/>
                </a:solidFill>
                <a:latin typeface="Arial"/>
              </a:defRPr>
            </a:pPr>
            <a:r>
              <a:t>6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312664" y="6670548"/>
            <a:ext cx="4261104" cy="886968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Ropes A and B total 56 m, with lengths in the ratio 5:3. Find the length of B.</a:t>
            </a:r>
          </a:p>
        </p:txBody>
      </p:sp>
      <p:sp>
        <p:nvSpPr>
          <p:cNvPr id="64" name="Rectangle 63"/>
          <p:cNvSpPr/>
          <p:nvPr/>
        </p:nvSpPr>
        <p:spPr>
          <a:xfrm>
            <a:off x="9646920" y="6611112"/>
            <a:ext cx="4640580" cy="1005840"/>
          </a:xfrm>
          <a:prstGeom prst="rect">
            <a:avLst/>
          </a:prstGeom>
          <a:solidFill>
            <a:srgbClr val="F5F0F7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9674352" y="6684264"/>
            <a:ext cx="274320" cy="365760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754B87"/>
                </a:solidFill>
                <a:latin typeface="Arial"/>
              </a:defRPr>
            </a:pPr>
            <a:r>
              <a:t>6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9976104" y="6670548"/>
            <a:ext cx="4261104" cy="886968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Work and breaks take 90 minutes in total, in the ratio 7:2. How much longer is spent working than on breaks?</a:t>
            </a:r>
          </a:p>
        </p:txBody>
      </p:sp>
      <p:sp>
        <p:nvSpPr>
          <p:cNvPr id="67" name="Progression curved arrow: Thread 1 to Thread 2"/>
          <p:cNvSpPr/>
          <p:nvPr/>
        </p:nvSpPr>
        <p:spPr>
          <a:xfrm>
            <a:off x="4649723" y="7552294"/>
            <a:ext cx="621792" cy="314053"/>
          </a:xfrm>
          <a:custGeom>
            <a:avLst/>
            <a:gdLst/>
            <a:ahLst/>
            <a:cxnLst/>
            <a:rect l="0" t="0" r="100000" b="100000"/>
            <a:pathLst>
              <a:path w="100000" h="100000" fill="none">
                <a:moveTo>
                  <a:pt x="6970" y="48439"/>
                </a:moveTo>
                <a:cubicBezTo>
                  <a:pt x="40678" y="114499"/>
                  <a:pt x="73026" y="88145"/>
                  <a:pt x="93030" y="13799"/>
                </a:cubicBezTo>
              </a:path>
              <a:path w="100000" h="100000" fill="none">
                <a:moveTo>
                  <a:pt x="69018" y="40431"/>
                </a:moveTo>
                <a:lnTo>
                  <a:pt x="93030" y="13799"/>
                </a:lnTo>
                <a:lnTo>
                  <a:pt x="92217" y="66207"/>
                </a:lnTo>
              </a:path>
            </a:pathLst>
          </a:custGeom>
          <a:noFill/>
          <a:ln w="64449" cap="rnd">
            <a:solidFill>
              <a:schemeClr val="accent6">
                <a:lumMod val="60000"/>
                <a:lumOff val="40000"/>
              </a:schemeClr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Progression curved arrow: Thread 2 to Thread 3"/>
          <p:cNvSpPr/>
          <p:nvPr/>
        </p:nvSpPr>
        <p:spPr>
          <a:xfrm>
            <a:off x="9265327" y="7543800"/>
            <a:ext cx="621792" cy="314053"/>
          </a:xfrm>
          <a:custGeom>
            <a:avLst/>
            <a:gdLst/>
            <a:ahLst/>
            <a:cxnLst/>
            <a:rect l="0" t="0" r="100000" b="100000"/>
            <a:pathLst>
              <a:path w="100000" h="100000" fill="none">
                <a:moveTo>
                  <a:pt x="6970" y="48439"/>
                </a:moveTo>
                <a:cubicBezTo>
                  <a:pt x="40678" y="114499"/>
                  <a:pt x="73026" y="88145"/>
                  <a:pt x="93030" y="13799"/>
                </a:cubicBezTo>
              </a:path>
              <a:path w="100000" h="100000" fill="none">
                <a:moveTo>
                  <a:pt x="69018" y="40431"/>
                </a:moveTo>
                <a:lnTo>
                  <a:pt x="93030" y="13799"/>
                </a:lnTo>
                <a:lnTo>
                  <a:pt x="92217" y="66207"/>
                </a:lnTo>
              </a:path>
            </a:pathLst>
          </a:custGeom>
          <a:noFill/>
          <a:ln w="64449" cap="rnd">
            <a:solidFill>
              <a:schemeClr val="accent6">
                <a:lumMod val="60000"/>
                <a:lumOff val="40000"/>
              </a:schemeClr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4001</Words>
  <Application>Microsoft Macintosh PowerPoint</Application>
  <PresentationFormat>Custom</PresentationFormat>
  <Paragraphs>326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Ratio — sharing and missing amounts</dc:title>
  <dc:subject/>
  <dc:creator>Maths teaching resources</dc:creator>
  <cp:keywords/>
  <dc:description>generated using python-pptx</dc:description>
  <cp:lastModifiedBy>Joe Hudson</cp:lastModifiedBy>
  <cp:revision>1</cp:revision>
  <dcterms:created xsi:type="dcterms:W3CDTF">2013-01-27T09:14:16Z</dcterms:created>
  <dcterms:modified xsi:type="dcterms:W3CDTF">2026-09-20T02:02:34Z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defa4170-0d19-0005-0004-bc88714345d2_Enabled">
    <vt:lpwstr>true</vt:lpwstr>
  </property>
  <property fmtid="{D5CDD505-2E9C-101B-9397-08002B2CF9AE}" pid="3" name="MSIP_Label_defa4170-0d19-0005-0004-bc88714345d2_SetDate">
    <vt:lpwstr>2026-09-20T01:59:31Z</vt:lpwstr>
  </property>
  <property fmtid="{D5CDD505-2E9C-101B-9397-08002B2CF9AE}" pid="4" name="MSIP_Label_defa4170-0d19-0005-0004-bc88714345d2_Method">
    <vt:lpwstr>Standard</vt:lpwstr>
  </property>
  <property fmtid="{D5CDD505-2E9C-101B-9397-08002B2CF9AE}" pid="5" name="MSIP_Label_defa4170-0d19-0005-0004-bc88714345d2_Name">
    <vt:lpwstr>defa4170-0d19-0005-0004-bc88714345d2</vt:lpwstr>
  </property>
  <property fmtid="{D5CDD505-2E9C-101B-9397-08002B2CF9AE}" pid="6" name="MSIP_Label_defa4170-0d19-0005-0004-bc88714345d2_SiteId">
    <vt:lpwstr>704f3b09-8035-4d3c-a215-dce5c0002471</vt:lpwstr>
  </property>
  <property fmtid="{D5CDD505-2E9C-101B-9397-08002B2CF9AE}" pid="7" name="MSIP_Label_defa4170-0d19-0005-0004-bc88714345d2_ActionId">
    <vt:lpwstr>83360be9-475b-47d6-8409-8696c0036af6</vt:lpwstr>
  </property>
  <property fmtid="{D5CDD505-2E9C-101B-9397-08002B2CF9AE}" pid="8" name="MSIP_Label_defa4170-0d19-0005-0004-bc88714345d2_ContentBits">
    <vt:lpwstr>0</vt:lpwstr>
  </property>
  <property fmtid="{D5CDD505-2E9C-101B-9397-08002B2CF9AE}" pid="9" name="MSIP_Label_defa4170-0d19-0005-0004-bc88714345d2_Tag">
    <vt:lpwstr>50, 3, 0, 1</vt:lpwstr>
  </property>
</Properties>
</file>