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3" r:id="rId16"/>
    <p:sldId id="256" r:id="rId2"/>
    <p:sldId id="257" r:id="rId3"/>
    <p:sldId id="258" r:id="rId4"/>
    <p:sldId id="264" r:id="rId17"/>
    <p:sldId id="259" r:id="rId5"/>
    <p:sldId id="260" r:id="rId6"/>
    <p:sldId id="261" r:id="rId7"/>
    <p:sldId id="262" r:id="rId8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A330E-DB53-414D-9D29-FC315F4425BE}" v="1" dt="2026-09-20T02:01:02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5"/>
  </p:normalViewPr>
  <p:slideViewPr>
    <p:cSldViewPr snapToGrid="0" snapToObjects="1">
      <p:cViewPr varScale="1">
        <p:scale>
          <a:sx n="87" d="100"/>
          <a:sy n="87" d="100"/>
        </p:scale>
        <p:origin x="208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Relationship Id="rId16" Type="http://schemas.openxmlformats.org/officeDocument/2006/relationships/slide" Target="slides/slide1.xml"/><Relationship Id="rId17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Hudson" userId="41092641-dab8-42af-8751-810f10f62201" providerId="ADAL" clId="{CB2FFBA8-21C8-53A2-A2C7-EBED40DEE922}"/>
    <pc:docChg chg="undo custSel mod modSld">
      <pc:chgData name="Joe Hudson" userId="41092641-dab8-42af-8751-810f10f62201" providerId="ADAL" clId="{CB2FFBA8-21C8-53A2-A2C7-EBED40DEE922}" dt="2026-09-20T02:02:25.490" v="291" actId="1035"/>
      <pc:docMkLst>
        <pc:docMk/>
      </pc:docMkLst>
      <pc:sldChg chg="addSp delSp modSp mod">
        <pc:chgData name="Joe Hudson" userId="41092641-dab8-42af-8751-810f10f62201" providerId="ADAL" clId="{CB2FFBA8-21C8-53A2-A2C7-EBED40DEE922}" dt="2026-09-20T02:02:25.490" v="291" actId="1035"/>
        <pc:sldMkLst>
          <pc:docMk/>
          <pc:sldMk cId="0" sldId="257"/>
        </pc:sldMkLst>
        <pc:spChg chg="mod">
          <ac:chgData name="Joe Hudson" userId="41092641-dab8-42af-8751-810f10f62201" providerId="ADAL" clId="{CB2FFBA8-21C8-53A2-A2C7-EBED40DEE922}" dt="2026-09-20T02:02:25.490" v="291" actId="1035"/>
          <ac:spMkLst>
            <pc:docMk/>
            <pc:sldMk cId="0" sldId="257"/>
            <ac:spMk id="53" creationId="{00000000-0000-0000-0000-000000000000}"/>
          </ac:spMkLst>
        </pc:spChg>
        <pc:spChg chg="del">
          <ac:chgData name="Joe Hudson" userId="41092641-dab8-42af-8751-810f10f62201" providerId="ADAL" clId="{CB2FFBA8-21C8-53A2-A2C7-EBED40DEE922}" dt="2026-09-20T02:00:57.104" v="281" actId="478"/>
          <ac:spMkLst>
            <pc:docMk/>
            <pc:sldMk cId="0" sldId="257"/>
            <ac:spMk id="54" creationId="{00000000-0000-0000-0000-000000000000}"/>
          </ac:spMkLst>
        </pc:spChg>
        <pc:spChg chg="add mod">
          <ac:chgData name="Joe Hudson" userId="41092641-dab8-42af-8751-810f10f62201" providerId="ADAL" clId="{CB2FFBA8-21C8-53A2-A2C7-EBED40DEE922}" dt="2026-09-20T02:02:25.490" v="291" actId="1035"/>
          <ac:spMkLst>
            <pc:docMk/>
            <pc:sldMk cId="0" sldId="257"/>
            <ac:spMk id="55" creationId="{5C4B25E0-6F8B-5EB5-B1AB-18C9B16A520D}"/>
          </ac:spMkLst>
        </pc:spChg>
      </pc:sldChg>
      <pc:sldChg chg="modSp mod">
        <pc:chgData name="Joe Hudson" userId="41092641-dab8-42af-8751-810f10f62201" providerId="ADAL" clId="{CB2FFBA8-21C8-53A2-A2C7-EBED40DEE922}" dt="2026-09-20T01:59:21.505" v="0" actId="1076"/>
        <pc:sldMkLst>
          <pc:docMk/>
          <pc:sldMk cId="0" sldId="258"/>
        </pc:sldMkLst>
        <pc:spChg chg="mod">
          <ac:chgData name="Joe Hudson" userId="41092641-dab8-42af-8751-810f10f62201" providerId="ADAL" clId="{CB2FFBA8-21C8-53A2-A2C7-EBED40DEE922}" dt="2026-09-20T01:59:21.505" v="0" actId="1076"/>
          <ac:spMkLst>
            <pc:docMk/>
            <pc:sldMk cId="0" sldId="258"/>
            <ac:spMk id="5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2232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1 — Worked demo</a:t>
            </a:r>
          </a:p>
          <a:p>
            <a:endParaRPr/>
          </a:p>
          <a:p>
            <a:r>
              <a:t>Title: **Ratio: sharing and missing amounts**</a:t>
            </a:r>
          </a:p>
          <a:p>
            <a:endParaRPr/>
          </a:p>
          <a:p>
            <a:r>
              <a:t>Instruction: **Follow each step down your column.**</a:t>
            </a:r>
          </a:p>
          <a:p>
            <a:endParaRPr/>
          </a:p>
          <a:p>
            <a:r>
              <a:t>| Row | Thread 1: Guided | Thread 2: Core | Thread 3: Depth |</a:t>
            </a:r>
          </a:p>
          <a:p>
            <a:r>
              <a:t>| --- | --- | --- | --- |</a:t>
            </a:r>
          </a:p>
          <a:p>
            <a:r>
              <a:t>| The Full Question | A and B share £120 in the ratio 2:3. How much does B receive? | Red and blue paint are mixed in the ratio 3:5. There are 18 litres of red paint. How many litres of blue paint are needed? | Red and blue counters are in the ratio 3:7. There are 28 more blue counters than red counters. How many counters are there altogether? |</a:t>
            </a:r>
          </a:p>
          <a:p>
            <a:r>
              <a:t>| Keywords &amp; Calculation | “share £120”: the total is known. 2 + 3 = 5 parts. £120 ÷ 5, then × 3. | “18 litres of red”: 3 parts are known. 18 ÷ 3, then × 5. | “28 more blue”: the difference is known. 7 − 3 = 4 parts. 28 ÷ 4, then × (3 + 7). |</a:t>
            </a:r>
          </a:p>
          <a:p>
            <a:r>
              <a:t>| Written Method | £120 ÷ 5 = £24 per part. £24 × 3 = £72. | 18 ÷ 3 = 6 litres per part. 6 × 5 = 30 litres. | 28 ÷ 4 = 7 counters per part. 3 + 7 = 10 parts. 7 × 10 = 70 counters. |</a:t>
            </a:r>
          </a:p>
          <a:p>
            <a:r>
              <a:t>| Ballpark Check &amp; Math | B gets more than half of £120, so more than £60. £72 fits. Check both shares: £48 + £72 = £120. | Blue is between one and two times the red amount, so between 18 and 36 litres. 30 litres fits. | The total represents 10 parts and the difference 4. The total should be between 2 and 3 times 28: between 56 and 84. 70 fits. |</a:t>
            </a:r>
          </a:p>
          <a:p>
            <a:r>
              <a:t>| Final Answer | B receives £72. | 30 litres of blue paint. | 70 counters altogether. |</a:t>
            </a:r>
          </a:p>
          <a:p>
            <a:endParaRPr/>
          </a:p>
          <a:p>
            <a:r>
              <a:t>### Diagram specification</a:t>
            </a:r>
          </a:p>
          <a:p>
            <a:endParaRPr/>
          </a:p>
          <a:p>
            <a:r>
              <a:t>Use editable, equal-sized boxes. Align the two bars at the left; each box represents one part, not one pound, litre or counter. Label both bars by name; colour is optional, not the only way to identify them.</a:t>
            </a:r>
          </a:p>
          <a:p>
            <a:endParaRPr/>
          </a:p>
          <a:p>
            <a:r>
              <a:t>- Guided: A has 2 boxes; B has 3. A bracket covering both bars is labelled “£120 altogether”. Show “1 part = £24”.</a:t>
            </a:r>
          </a:p>
          <a:p>
            <a:r>
              <a:t>- Core: red has 3 boxes labelled “18 litres”; blue has 5. Show “1 part = 6 litres”.</a:t>
            </a:r>
          </a:p>
          <a:p>
            <a:r>
              <a:t>- Depth: red has 3 boxes; blue has 7. Bracket the **four extra blue boxes** and label them “28 more”. Show “1 part = 7 counters”. Do not label the overlap as the difference.</a:t>
            </a:r>
          </a:p>
          <a:p>
            <a:endParaRPr/>
          </a:p>
          <a:p>
            <a:r>
              <a:t>Keep the complete question and all four steps on this slide. Fit the diagrams beside the concise working within the Written Method row. Do not introduce a separate step-per-slide sequence.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2 — Step-by-step practice 1</a:t>
            </a:r>
          </a:p>
          <a:p>
            <a:endParaRPr/>
          </a:p>
          <a:p>
            <a:r>
              <a:t>Instruction: **Complete each step in your booklet or webapp.** Use the four practice prompts above.</a:t>
            </a:r>
          </a:p>
          <a:p>
            <a:endParaRPr/>
          </a:p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An 84 ml paint mix contains red and white paint in the ratio 3:4. How much red paint is in the mix? | Notebooks and folders are in the ratio 4:7. There are 35 folders. How many notebooks are there? | Adults and children are in the ratio 2:5. There are 24 more children than adults. How many people are there altogether? |</a:t>
            </a:r>
          </a:p>
          <a:p>
            <a:endParaRPr/>
          </a:p>
          <a:p>
            <a:r>
              <a:t>Teacher working:</a:t>
            </a:r>
          </a:p>
          <a:p>
            <a:endParaRPr/>
          </a:p>
          <a:p>
            <a:r>
              <a:t>- T1: 3 + 4 = 7; 84 ÷ 7 = 12 ml; 12 × 3 = **36 ml red paint**. Less than half of 84 ml; white paint 48 ml.</a:t>
            </a:r>
          </a:p>
          <a:p>
            <a:r>
              <a:t>- T2: 35 ÷ 7 = 5; 5 × 4 = **20 notebooks**. Fewer notebooks than folders.</a:t>
            </a:r>
          </a:p>
          <a:p>
            <a:r>
              <a:t>- T3: 5 − 2 = 3; 24 ÷ 3 = 8; (2 + 5) × 8 = **56 people**. 16 adults and 40 children; difference 24.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3 — Step-by-step practice 2</a:t>
            </a:r>
          </a:p>
          <a:p>
            <a:endParaRPr/>
          </a:p>
          <a:p>
            <a:r>
              <a:t>Instruction and row prompts match Slide 2 exactly.</a:t>
            </a:r>
          </a:p>
          <a:p>
            <a:endParaRPr/>
          </a:p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 96 cm ribbon is cut into pieces A and B in the ratio 5:7. Find the length of B. | Juice and water are mixed in the ratio 2:7. There are 18 litres of juice. How many litres of water are needed? | Two lengths of ribbon, A and B, are in the ratio 5:8. B is 21 cm longer than A. What is their total length? |</a:t>
            </a:r>
          </a:p>
          <a:p>
            <a:endParaRPr/>
          </a:p>
          <a:p>
            <a:r>
              <a:t>Teacher working:</a:t>
            </a:r>
          </a:p>
          <a:p>
            <a:endParaRPr/>
          </a:p>
          <a:p>
            <a:r>
              <a:t>- T1: 5 + 7 = 12; 96 ÷ 12 = 8 cm; 8 × 7 = **56 cm**. More than half of 96 cm; A is 40 cm.</a:t>
            </a:r>
          </a:p>
          <a:p>
            <a:r>
              <a:t>- T2: 18 ÷ 2 = 9; 9 × 7 = **63 litres of water**. Between 3 and 4 times the juice amount (54–72 litres).</a:t>
            </a:r>
          </a:p>
          <a:p>
            <a:r>
              <a:t>- T3: 8 − 5 = 3; 21 ÷ 3 = 7; (5 + 8) × 7 = **91 cm**. The two lengths are 35 cm and 56 cm; difference 21 cm.</a:t>
            </a:r>
          </a:p>
          <a:p>
            <a:endParaRPr/>
          </a:p>
          <a:p>
            <a:endParaRPr/>
          </a:p>
          <a:p>
            <a:endParaRPr/>
          </a:p>
          <a:p>
            <a:r>
              <a:t>## Slides 4–7 — Independent practice</a:t>
            </a:r>
          </a:p>
          <a:p>
            <a:endParaRPr/>
          </a:p>
          <a:p>
            <a:r>
              <a:t>Instruction on each slide: **Choose a column. Show your working and check your answers.**</a:t>
            </a:r>
          </a:p>
          <a:p>
            <a:endParaRPr/>
          </a:p>
          <a:p>
            <a:r>
              <a:t>Each column mixes contexts, unit types and requested quantities. “Find each” requires two labelled answers. Guided uses direct totals, known amounts and friendly given-difference questions. Core mixes totals, known amounts and simple differences. Depth mixes all three, including finding a difference from a total or a known amount. A column does not identify the required calculation.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M04-S04: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M04-S05: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M04-S06: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M04-S07: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initial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 all four questions.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Share £35 between A and B in the ratio 2:5. How much does A receive?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69164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82880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Red and blue counters are in the ratio 3:4. There are 12 red counters. How many blue counters are there?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2628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66344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Two ribbons have lengths in the ratio 2:7. The longer is 25 cm longer than the shorter. Find the shorter length.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52628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466344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4.  Adults and children are in the ratio 5:8. There are 39 people altogether. How many more children than adults are there?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each step down your column.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and B share £120 in the ratio 2:3. How much does B receive?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paint are mixed in the ratio 3:5. There are 18 litres of red paint. How many litres of blue paint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counters are in the ratio 3:7. There are 28 more blue counters than red counters. How many counters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“share £120”: the total is known. 2 + 3 = 5 parts. £120 ÷ 5, then × 3.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“18 litres of red”: 3 parts are known. 18 ÷ 3, then × 5.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“28 more blue”: the difference is known. 7 − 3 = 4 parts. 28 ÷ 4, then × (3 + 7).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1801367" cy="2066543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3986784"/>
            <a:ext cx="1691639" cy="192023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£120 ÷ 5 = £24 per part. £24 × 3 = £72.</a:t>
            </a:r>
          </a:p>
        </p:txBody>
      </p:sp>
      <p:grpSp>
        <p:nvGrpSpPr>
          <p:cNvPr id="33" name="Ratio bars A:B = 2:3, total"/>
          <p:cNvGrpSpPr/>
          <p:nvPr/>
        </p:nvGrpSpPr>
        <p:grpSpPr>
          <a:xfrm>
            <a:off x="2194560" y="4686300"/>
            <a:ext cx="3916680" cy="1275588"/>
            <a:chOff x="2194560" y="4686300"/>
            <a:chExt cx="3916680" cy="1275588"/>
          </a:xfrm>
        </p:grpSpPr>
        <p:sp>
          <p:nvSpPr>
            <p:cNvPr id="34" name="TextBox 33"/>
            <p:cNvSpPr txBox="1"/>
            <p:nvPr/>
          </p:nvSpPr>
          <p:spPr>
            <a:xfrm>
              <a:off x="2194560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8960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02152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194560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10896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50215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895344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1" name="Connector 40"/>
            <p:cNvCxnSpPr/>
            <p:nvPr/>
          </p:nvCxnSpPr>
          <p:spPr>
            <a:xfrm>
              <a:off x="4379975" y="4709160"/>
              <a:ext cx="0" cy="585216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>
              <a:off x="4334255" y="4709160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42"/>
            <p:cNvCxnSpPr/>
            <p:nvPr/>
          </p:nvCxnSpPr>
          <p:spPr>
            <a:xfrm>
              <a:off x="4334255" y="5294376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3108960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76B73"/>
                  </a:solidFill>
                  <a:latin typeface="Arial"/>
                </a:defRPr>
              </a:pPr>
              <a:r>
                <a:t>£120 altogether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108960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176B73"/>
                  </a:solidFill>
                  <a:latin typeface="Arial"/>
                </a:defRPr>
              </a:pPr>
              <a:r>
                <a:t>1 part = £24</a:t>
              </a:r>
            </a:p>
          </p:txBody>
        </p:sp>
      </p:grpSp>
      <p:sp>
        <p:nvSpPr>
          <p:cNvPr id="46" name="Rectangle 45"/>
          <p:cNvSpPr/>
          <p:nvPr/>
        </p:nvSpPr>
        <p:spPr>
          <a:xfrm>
            <a:off x="6184392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30112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18 ÷ 3 = 6 litres per part. 6 × 5 = 30 litres.</a:t>
            </a:r>
          </a:p>
        </p:txBody>
      </p:sp>
      <p:grpSp>
        <p:nvGrpSpPr>
          <p:cNvPr id="48" name="Ratio bars Red:Blue = 3:5, first"/>
          <p:cNvGrpSpPr/>
          <p:nvPr/>
        </p:nvGrpSpPr>
        <p:grpSpPr>
          <a:xfrm>
            <a:off x="6257544" y="4626864"/>
            <a:ext cx="3916680" cy="1335024"/>
            <a:chOff x="6257544" y="4626864"/>
            <a:chExt cx="3916680" cy="1335024"/>
          </a:xfrm>
        </p:grpSpPr>
        <p:sp>
          <p:nvSpPr>
            <p:cNvPr id="49" name="TextBox 48"/>
            <p:cNvSpPr txBox="1"/>
            <p:nvPr/>
          </p:nvSpPr>
          <p:spPr>
            <a:xfrm>
              <a:off x="6257544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171944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565136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958328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257544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17194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56513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958328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351520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744712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" name="Connector 58"/>
            <p:cNvCxnSpPr/>
            <p:nvPr/>
          </p:nvCxnSpPr>
          <p:spPr>
            <a:xfrm>
              <a:off x="7171944" y="4626864"/>
              <a:ext cx="1179576" cy="0"/>
            </a:xfrm>
            <a:prstGeom prst="line">
              <a:avLst/>
            </a:prstGeom>
            <a:ln w="15240">
              <a:solidFill>
                <a:srgbClr val="3559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7171944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3559A2"/>
                  </a:solidFill>
                  <a:latin typeface="Arial"/>
                </a:defRPr>
              </a:pPr>
              <a:r>
                <a:t>Red: 18 litres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171944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3559A2"/>
                  </a:solidFill>
                  <a:latin typeface="Arial"/>
                </a:defRPr>
              </a:pPr>
              <a:r>
                <a:t>1 part = 6 litres</a:t>
              </a:r>
            </a:p>
          </p:txBody>
        </p:sp>
      </p:grpSp>
      <p:sp>
        <p:nvSpPr>
          <p:cNvPr id="62" name="Rectangle 61"/>
          <p:cNvSpPr/>
          <p:nvPr/>
        </p:nvSpPr>
        <p:spPr>
          <a:xfrm>
            <a:off x="10247376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293096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28 ÷ 4 = 7 counters per part. 3 + 7 = 10 parts. 7 × 10 = 70 counters.</a:t>
            </a:r>
          </a:p>
        </p:txBody>
      </p:sp>
      <p:grpSp>
        <p:nvGrpSpPr>
          <p:cNvPr id="64" name="Ratio bars Red:Blue = 3:7, difference"/>
          <p:cNvGrpSpPr/>
          <p:nvPr/>
        </p:nvGrpSpPr>
        <p:grpSpPr>
          <a:xfrm>
            <a:off x="10320528" y="4686300"/>
            <a:ext cx="3916680" cy="1275588"/>
            <a:chOff x="10320528" y="4686300"/>
            <a:chExt cx="3916680" cy="1275588"/>
          </a:xfrm>
        </p:grpSpPr>
        <p:sp>
          <p:nvSpPr>
            <p:cNvPr id="65" name="TextBox 64"/>
            <p:cNvSpPr txBox="1"/>
            <p:nvPr/>
          </p:nvSpPr>
          <p:spPr>
            <a:xfrm>
              <a:off x="10320528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1234928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1628120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2021312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0320528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123492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162812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2021312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2414504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2807696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320088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359408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7" name="Connector 76"/>
            <p:cNvCxnSpPr/>
            <p:nvPr/>
          </p:nvCxnSpPr>
          <p:spPr>
            <a:xfrm>
              <a:off x="12414504" y="5376672"/>
              <a:ext cx="1572768" cy="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>
              <a:off x="12414504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78"/>
            <p:cNvCxnSpPr/>
            <p:nvPr/>
          </p:nvCxnSpPr>
          <p:spPr>
            <a:xfrm>
              <a:off x="13987272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11234928" y="5413248"/>
              <a:ext cx="3002280" cy="256032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754B87"/>
                  </a:solidFill>
                  <a:latin typeface="Arial"/>
                </a:defRPr>
              </a:pPr>
              <a:r>
                <a:t>4 extra parts = 28 counters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1234928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754B87"/>
                  </a:solidFill>
                  <a:latin typeface="Arial"/>
                </a:defRPr>
              </a:pPr>
              <a:r>
                <a:t>1 part = 7 counters</a:t>
              </a:r>
            </a:p>
          </p:txBody>
        </p:sp>
      </p:grpSp>
      <p:sp>
        <p:nvSpPr>
          <p:cNvPr id="82" name="Rectangle 81"/>
          <p:cNvSpPr/>
          <p:nvPr/>
        </p:nvSpPr>
        <p:spPr>
          <a:xfrm>
            <a:off x="320040" y="5980176"/>
            <a:ext cx="1801367" cy="13075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74904" y="6053328"/>
            <a:ext cx="1691639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21408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167127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gets more than half of £120, so more than £60. £72 fits. Check both shares: £48 + £72 = £120.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84392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230112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Blue is between one and two times the red amount, so between 18 and 36 litres. 30 litres fits.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247376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293096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The total represents 10 parts and the difference 4. The total should be between 2 and 3 times 28: between 56 and 84. 70 fits.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7287768"/>
            <a:ext cx="1801367" cy="5577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74904" y="7360919"/>
            <a:ext cx="1691639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21408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167127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receives £72.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84392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230112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30 litres of blue paint.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247376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293096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70 counters altogether.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An 84 ml paint mix contains red and white paint in the ratio 3:4. How much red paint is in the mix?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Notebooks and folders are in the ratio 4:7. There are 35 folders. How many notebooks are there?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Adults and children are in the ratio 2:5. There are 24 more children than adults. How many people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6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Progression curved arrow: Thread 1 to Thread 2">
            <a:extLst>
              <a:ext uri="{FF2B5EF4-FFF2-40B4-BE49-F238E27FC236}">
                <a16:creationId xmlns:a16="http://schemas.microsoft.com/office/drawing/2014/main" id="{5C4B25E0-6F8B-5EB5-B1AB-18C9B16A520D}"/>
              </a:ext>
            </a:extLst>
          </p:cNvPr>
          <p:cNvSpPr/>
          <p:nvPr/>
        </p:nvSpPr>
        <p:spPr>
          <a:xfrm>
            <a:off x="9865783" y="7342632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96 cm ribbon is cut into pieces A and B in the ratio 5:7. Find the length of 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18 litres of juice. How many litres of water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Two lengths of ribbon, A and B, are in the ratio 5:8. B is 21 cm longer than A. What is their total length?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6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2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Ratio: sharing and missing amounts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student’s working contains a mistake. Find it, correct the working and give the right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Share £35 between A and B in ratio 2:5. How much does A get?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 + 5 = 7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35 ÷ 7 =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4056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5 ×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4056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£25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92424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receives £25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Red:blue = 3:4. There are 12 red counters. How many blue?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 + 4 = 7 parts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12 ÷ 7 = 1 r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4056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Blue = 4 ×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4056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Blue =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94960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 blue counters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Share 12 sweets between A and B in ratio 1:3. How many does B get?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 + 3 = 4 parts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12 ÷ 4 =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34056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3 + 3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4056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7397496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 receives 6 sweets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96256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A and B share counters in ratio 2:7. B has 30 more than A. How many does A have?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5128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7 − 2 = 5 parts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5128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30 ÷ 5 =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4824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2 + 6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54824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5128" y="3392424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has 8 counters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96256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Red:blue = 4:3. There are 15 blue counters. How many red counters?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5128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15 ÷ 4 = 3.75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54824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Red = 3 × 3.75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54824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Red = 11.25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5128" y="5394960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11.25 red counters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96256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A and B share 56 counters in ratio 3:5. How many more does B get than A?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5128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 + 5 = 8 parts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5128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56 ÷ 8 = 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5128" y="7150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3 × 7 = 21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54824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5 × 7 = 35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54824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21 + 35 = 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5128" y="7397496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 gets 56 more counters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17024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A group has 65 people. Adults:children = 5:8. How many more children than adults?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35896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5 + 8 = 13 parts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35896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65 ÷ 13 = 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35896" y="3145536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Adults = 5 × 5 = 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975592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8 × 5 = 40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975592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8 − 5 = 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35896" y="3392424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 more children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7024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Two ribbon lengths are in ratio 3:8 and differ by 35 cm. Find their total length.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35896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8 − 3 = 5 parts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35896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35 ÷ 5 = 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35896" y="5148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Short = 3 × 7 = 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975592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Long = 8 × 7 = 56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975592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56 − 21 = 35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35896" y="5394960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Total length = 35 cm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717024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A and B have tokens in ratio 7:4. A has 42. How many tokens in total?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35896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42 ÷ 7 = 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35896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4 × 6 = 24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975592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42 + 4 = 46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35896" y="7397496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Total = 46 tokens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Sam and Jo share £60 in the ratio 2:3. How much does Jo receive?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are mixed in the ratio 3:2. A recipe uses 180 g of flour. What is the total mass of the mixture?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ropes have lengths in the ratio 1:3. The longer rope is 12 m longer than the shorter. Find their total length.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drink contains 600 ml of juice and water in the ratio 1:4. How much juice is in the drink?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5:3. There are 16 more adult tickets. How many child tickets are sold?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1:5. There are 24 fewer red than blue. Find the number of each colour.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96 cm ribbon is cut into two pieces in the ratio 5:7. Find the length of each piece.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Ropes A and B have lengths in the ratio 4:7. Rope B is 15 m longer than rope A. How long is rope A?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Ava and Leo share £100 in the ratio 7:3. How much more does Ava receive than Leo?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beads are in the ratio 3:5. There are 12 more blue beads than red beads. How many blue beads are there?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Mia and Ben receive money in the ratio 2:5. Mia receives £18. How much do they receive altogether?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have masses in the ratio 5:4. There is 300 g of sugar. Find the total mass.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are mixed in the ratio 5:2. There is 150 g more flour than sugar. How much flour is there?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63 litres of water. How much juice is needed?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1,400 ml drink has water and juice in the ratio 6:1. Find the volume of each ingredient.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Practice and rest times are in the ratio 2:1. Practice lasts 36 minutes. How long is the rest?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Travel and sightseeing take 55 minutes in total, in the ratio 3:8. How long is spent sightseeing?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Practice and rest times are in the ratio 6:5. Practice lasts 54 minutes. Find the total session time.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560 g snack mix contains raisins and nuts in the ratio 1:7. Find the mass of raisins.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walk has uphill and level sections in the length ratio 1:8. The uphill section is 3 km. Find the total distance.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butter have masses in the ratio 9:2. There is 280 g less butter than flour. Find the total mass.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Fences A and B have lengths in the ratio 7:6. Fence A is 9 m longer than fence B. How long is fence B?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490 ml paint mix contains red and white paint in the ratio 3:4. Find the volume of red paint.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Tanks A and B hold water in the ratio 3:8. Tank A holds 15 litres. How much more water is in B than A?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45-minute lesson has instruction and practice in the ratio 1:2. How long is spent practising?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Eve and Max share money in the ratio 8:5. Eve gets £21 more than Max. How much does Max get?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Reading and writing take 78 minutes in total, in the ratio 4:9. Find both times.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Kim and Ali receive money in the ratio 7:5. Kim gets £56. How much does Ali receive?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Study and break times are in the ratio 5:1. Studying takes 48 minutes longer than breaks. How long are the breaks?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pieces of wood have lengths in the ratio 5:9. The longer is 28 cm longer. Find the longer length.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white flowers are in the ratio 4:5. There are 7 more white than red. How many are white?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300 g mix contains raisins and oats in the ratio 7:8. Find the mass of raisins.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Nia and Tom share £208 in the ratio 7:9. How much more does Tom get than Nia?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and white paint are mixed in the ratio 1:3. There is 180 ml of white paint. Find the total volume.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farm has sheep and goats in the ratio 9:1. There are 72 sheep. How many animals are there altogether?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9:8. There are 81 adult tickets. Find the total number of tickets.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has 80 junior and senior members in the ratio 7:3. How many members are seniors?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Study and break times are in the ratio 8:1. Study takes 64 minutes. Find the total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sessions have durations in the ratio 1:10. The second lasts 72 minutes longer. Find the first session’s duration.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Milk and coffee are mixed in the ratio 4:1. There is 100 ml of coffee. Find the volume of milk.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Rods A and B have lengths in the ratio 5:8. Rod B is 21 mm longer than rod A. How long is rod B?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Kai and May receive money in the ratio 9:5. May gets £60. Find their combined amount.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Dan and Pat share money in the ratio 1:6. Pat gets £70 more than Dan. How much does Dan get?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recipe uses flour and butter in the ratio 4:3 by mass. There are 90 g of butter. Find the total mass.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farm has 143 sheep and goats in the ratio 10:3. How many more sheep are there than goats?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Action and dialogue times are in the ratio 5:6. Dialogue lasts 15 minutes longer. How long is the dialogue?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Green and yellow beads are in the ratio 7:8. There are 3 more yellow than green. How many are yellow?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Milk and water have volumes in the ratio 10:7. There is 500 ml of milk. How much less water is there than milk?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800 g fruit mix contains apples and pears in the ratio 7:1. Find the mass of pears.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Sam and Jo share £90 in the ratio 9:1. How much does Jo receive?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paths have lengths in the ratio 4:9. The longer is 35 m longer. Find their combined length.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Wire pieces A and B have lengths in the ratio 7:6. A is 84 cm long. Find the length of B.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Concentrate and water are mixed in the ratio 2:9. There is 675 ml of water. Find the total volume.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950 g mix contains oats and raisins in the ratio 10:9. Find the mass of each ingredient.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30-minute trip has walking and cycling times in the ratio 1:2. Find the cycling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charities receive money in the ratio 7:9. The second gets £108. How much is donated altogether?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tanks hold water in the ratio 1:11. The second holds 90 litres more. How much water is in the first?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buckets contain 20 litres of water in total, in the ratio 1:3. Find the amount in each bucket.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tray has 102 red and yellow plants in the ratio 8:9. How many plants are yellow?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Nuts and raisins are mixed in the ratio 11:7 by mass. There are 210 g of raisins. Find the total mass.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Ribbons A and B have lengths in the ratio 2:3. B is 12 cm longer than A. How long is ribbon B?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Mixing and baking times are in the ratio 1:5. Baking takes 25 minutes. How long does mixing take?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ribbons have a total length of 285 cm, in the ratio 8:11. Find the difference in their lengths.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Noor and Will receive money in the ratio 7:4. Will gets £48. Find Noor’s share.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sacks have masses in the ratio 7:3. The heavier weighs 16 kg more. How much does the lighter weigh?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11:2. There are 143 adult tickets. How many more adult tickets are sold?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Dark and milk chocolates are in the ratio 1:4. There are 36 more milk than dark. How many are milk?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and white paint are in the ratio 2:5. There are 9 litres more white than blue. How much is blue?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Leah and Omar receive money in the ratio 3:11. Leah gets £64 less than Omar. How much does Omar get?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560 g bread mix has white and brown flour in the ratio 4:3. Find the mass of brown flour.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Ropes A and B total 56 m, with lengths in the ratio 5:3. Find the length of B.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Work and breaks take 90 minutes in total, in the ratio 7:2. How much longer is spent working than on breaks?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4001</Words>
  <Application>Microsoft Macintosh PowerPoint</Application>
  <PresentationFormat>Custom</PresentationFormat>
  <Paragraphs>326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 — sharing and missing amounts</dc:title>
  <dc:subject/>
  <dc:creator>Maths teaching resources</dc:creator>
  <cp:keywords/>
  <dc:description>generated using python-pptx</dc:description>
  <cp:lastModifiedBy>Joe Hudson</cp:lastModifiedBy>
  <cp:revision>1</cp:revision>
  <dcterms:created xsi:type="dcterms:W3CDTF">2013-01-27T09:14:16Z</dcterms:created>
  <dcterms:modified xsi:type="dcterms:W3CDTF">2026-09-20T02:02:34Z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2026-09-20T01:59:31Z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704f3b09-8035-4d3c-a215-dce5c0002471</vt:lpwstr>
  </property>
  <property fmtid="{D5CDD505-2E9C-101B-9397-08002B2CF9AE}" pid="7" name="MSIP_Label_defa4170-0d19-0005-0004-bc88714345d2_ActionId">
    <vt:lpwstr>83360be9-475b-47d6-8409-8696c0036af6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