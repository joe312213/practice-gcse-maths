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 — Worked demo</a:t>
            </a:r>
          </a:p>
          <a:p/>
          <a:p>
            <a:r>
              <a:t>Title: **Ratio: sharing and missing amounts**</a:t>
            </a:r>
          </a:p>
          <a:p/>
          <a:p>
            <a:r>
              <a:t>Instruction: **Follow each step down your column.**</a:t>
            </a:r>
          </a:p>
          <a:p/>
          <a:p>
            <a:r>
              <a:t>| Row | Thread 1: Guided | Thread 2: Core | Thread 3: Depth |</a:t>
            </a:r>
          </a:p>
          <a:p>
            <a:r>
              <a:t>| --- | --- | --- | --- |</a:t>
            </a:r>
          </a:p>
          <a:p>
            <a:r>
              <a:t>| The Full Question | A and B share £120 in the ratio 2:3. How much does B receive? | Red and blue paint are mixed in the ratio 3:5. There are 18 litres of red paint. How many litres of blue paint are needed? | Red and blue counters are in the ratio 3:7. There are 28 more blue counters than red counters. How many counters are there altogether? |</a:t>
            </a:r>
          </a:p>
          <a:p>
            <a:r>
              <a:t>| Keywords &amp; Calculation | “share £120”: the total is known. 2 + 3 = 5 parts. £120 ÷ 5, then × 3. | “18 litres of red”: 3 parts are known. 18 ÷ 3, then × 5. | “28 more blue”: the difference is known. 7 − 3 = 4 parts. 28 ÷ 4, then × (3 + 7). |</a:t>
            </a:r>
          </a:p>
          <a:p>
            <a:r>
              <a:t>| Written Method | £120 ÷ 5 = £24 per part. £24 × 3 = £72. | 18 ÷ 3 = 6 litres per part. 6 × 5 = 30 litres. | 28 ÷ 4 = 7 counters per part. 3 + 7 = 10 parts. 7 × 10 = 70 counters. |</a:t>
            </a:r>
          </a:p>
          <a:p>
            <a:r>
              <a:t>| Ballpark Check &amp; Math | B gets more than half of £120, so more than £60. £72 fits. Check both shares: £48 + £72 = £120. | Blue is between one and two times the red amount, so between 18 and 36 litres. 30 litres fits. | The total represents 10 parts and the difference 4. The total should be between 2 and 3 times 28: between 56 and 84. 70 fits. |</a:t>
            </a:r>
          </a:p>
          <a:p>
            <a:r>
              <a:t>| Final Answer | B receives £72. | 30 litres of blue paint. | 70 counters altogether. |</a:t>
            </a:r>
          </a:p>
          <a:p/>
          <a:p>
            <a:r>
              <a:t>### Diagram specification</a:t>
            </a:r>
          </a:p>
          <a:p/>
          <a:p>
            <a:r>
              <a:t>Use editable, equal-sized boxes. Align the two bars at the left; each box represents one part, not one pound, litre or counter. Label both bars by name; colour is optional, not the only way to identify them.</a:t>
            </a:r>
          </a:p>
          <a:p/>
          <a:p>
            <a:r>
              <a:t>- Guided: A has 2 boxes; B has 3. A bracket covering both bars is labelled “£120 altogether”. Show “1 part = £24”.</a:t>
            </a:r>
          </a:p>
          <a:p>
            <a:r>
              <a:t>- Core: red has 3 boxes labelled “18 litres”; blue has 5. Show “1 part = 6 litres”.</a:t>
            </a:r>
          </a:p>
          <a:p>
            <a:r>
              <a:t>- Depth: red has 3 boxes; blue has 7. Bracket the **four extra blue boxes** and label them “28 more”. Show “1 part = 7 counters”. Do not label the overlap as the difference.</a:t>
            </a:r>
          </a:p>
          <a:p/>
          <a:p>
            <a:r>
              <a:t>Keep the complete question and all four steps on this slide. Fit the diagrams beside the concise working within the Written Method row. Do not introduce a separate step-per-slide sequence.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 — Step-by-step practice 1</a:t>
            </a:r>
          </a:p>
          <a:p/>
          <a:p>
            <a:r>
              <a:t>Instruction: **Complete each step in your booklet or webapp.** Use the four practice prompts above.</a:t>
            </a:r>
          </a:p>
          <a:p/>
          <a:p>
            <a:r>
              <a:t>| Thread 1: Guided | Thread 2: Core | Thread 3: Depth |</a:t>
            </a:r>
          </a:p>
          <a:p>
            <a:r>
              <a:t>| --- | --- | --- |</a:t>
            </a:r>
          </a:p>
          <a:p>
            <a:r>
              <a:t>| An 84 ml paint mix contains red and white paint in the ratio 3:4. How much red paint is in the mix? | Notebooks and folders are in the ratio 4:7. There are 35 folders. How many notebooks are there? | Adults and children are in the ratio 2:5. There are 24 more children than adults. How many people are there altogether? |</a:t>
            </a:r>
          </a:p>
          <a:p/>
          <a:p>
            <a:r>
              <a:t>Teacher working:</a:t>
            </a:r>
          </a:p>
          <a:p/>
          <a:p>
            <a:r>
              <a:t>- T1: 3 + 4 = 7; 84 ÷ 7 = 12 ml; 12 × 3 = **36 ml red paint**. Less than half of 84 ml; white paint 48 ml.</a:t>
            </a:r>
          </a:p>
          <a:p>
            <a:r>
              <a:t>- T2: 35 ÷ 7 = 5; 5 × 4 = **20 notebooks**. Fewer notebooks than folders.</a:t>
            </a:r>
          </a:p>
          <a:p>
            <a:r>
              <a:t>- T3: 5 − 2 = 3; 24 ÷ 3 = 8; (2 + 5) × 8 = **56 people**. 16 adults and 40 children; difference 24.</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 — Step-by-step practice 2</a:t>
            </a:r>
          </a:p>
          <a:p/>
          <a:p>
            <a:r>
              <a:t>Instruction and row prompts match Slide 2 exactly.</a:t>
            </a:r>
          </a:p>
          <a:p/>
          <a:p>
            <a:r>
              <a:t>| Thread 1: Guided | Thread 2: Core | Thread 3: Depth |</a:t>
            </a:r>
          </a:p>
          <a:p>
            <a:r>
              <a:t>| --- | --- | --- |</a:t>
            </a:r>
          </a:p>
          <a:p>
            <a:r>
              <a:t>| A 96 cm ribbon is cut into pieces A and B in the ratio 5:7. Find the length of B. | Juice and water are mixed in the ratio 2:7. There are 18 litres of juice. How many litres of water are needed? | Two lengths of ribbon, A and B, are in the ratio 5:8. B is 21 cm longer than A. What is their total length? |</a:t>
            </a:r>
          </a:p>
          <a:p/>
          <a:p>
            <a:r>
              <a:t>Teacher working:</a:t>
            </a:r>
          </a:p>
          <a:p/>
          <a:p>
            <a:r>
              <a:t>- T1: 5 + 7 = 12; 96 ÷ 12 = 8 cm; 8 × 7 = **56 cm**. More than half of 96 cm; A is 40 cm.</a:t>
            </a:r>
          </a:p>
          <a:p>
            <a:r>
              <a:t>- T2: 18 ÷ 2 = 9; 9 × 7 = **63 litres of water**. Between 3 and 4 times the juice amount (54–72 litres).</a:t>
            </a:r>
          </a:p>
          <a:p>
            <a:r>
              <a:t>- T3: 8 − 5 = 3; 21 ÷ 3 = 7; (5 + 8) × 7 = **91 cm**. The two lengths are 35 cm and 56 cm; difference 21 cm.</a:t>
            </a:r>
          </a:p>
          <a:p/>
          <a:p/>
          <a:p/>
          <a:p>
            <a:r>
              <a:t>## Slides 4–7 — Independent practice</a:t>
            </a:r>
          </a:p>
          <a:p/>
          <a:p>
            <a:r>
              <a:t>Instruction on each slide: **Choose a column. Show your working and check your answers.**</a:t>
            </a:r>
          </a:p>
          <a:p/>
          <a:p>
            <a:r>
              <a:t>Each column mixes contexts, unit types and requested quantities. “Find each” requires two labelled answers. Guided uses direct totals and known amounts. Core mixes totals, known amounts and simple differences. Depth mixes all three, including finding a difference from a total or a known amount. A column does not identify the required calculation.</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M04-S04: answers are in the separate ratio answer deck.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M04-S05: answers are in the separate ratio answer deck.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M04-S06: answers are in the separate ratio answer deck.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M04-S07: answers are in the separate ratio answer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each step down your column.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M04-S01</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73352"/>
            <a:ext cx="1691639" cy="1207008"/>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7127" y="1627632"/>
            <a:ext cx="3971544" cy="126187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A and B share £120 in the ratio 2:3. How much does B receive?</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0112" y="1627632"/>
            <a:ext cx="3971544" cy="126187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Red and blue paint are mixed in the ratio 3:5. There are 18 litres of red paint. How many litres of blue paint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93096" y="1627632"/>
            <a:ext cx="3971544" cy="126187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Red and blue counters are in the ratio 3:7. There are 28 more blue counters than red counters. How many counters are there altogether?</a:t>
            </a:r>
          </a:p>
        </p:txBody>
      </p:sp>
      <p:sp>
        <p:nvSpPr>
          <p:cNvPr id="21" name="Rectangle 20"/>
          <p:cNvSpPr/>
          <p:nvPr/>
        </p:nvSpPr>
        <p:spPr>
          <a:xfrm>
            <a:off x="320040" y="2953512"/>
            <a:ext cx="1801367"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3026664"/>
            <a:ext cx="1691639" cy="81381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67127" y="3026664"/>
            <a:ext cx="3971544" cy="8138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“share £120”: the total is known. 2 + 3 = 5 parts. £120 ÷ 5, then × 3.</a:t>
            </a:r>
          </a:p>
        </p:txBody>
      </p:sp>
      <p:sp>
        <p:nvSpPr>
          <p:cNvPr id="25" name="Rectangle 24"/>
          <p:cNvSpPr/>
          <p:nvPr/>
        </p:nvSpPr>
        <p:spPr>
          <a:xfrm>
            <a:off x="6184392"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30112" y="3026664"/>
            <a:ext cx="3971544" cy="8138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“18 litres of red”: 3 parts are known. 18 ÷ 3, then × 5.</a:t>
            </a:r>
          </a:p>
        </p:txBody>
      </p:sp>
      <p:sp>
        <p:nvSpPr>
          <p:cNvPr id="27" name="Rectangle 26"/>
          <p:cNvSpPr/>
          <p:nvPr/>
        </p:nvSpPr>
        <p:spPr>
          <a:xfrm>
            <a:off x="10247376"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93096" y="3026664"/>
            <a:ext cx="3971544" cy="8138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“28 more blue”: the difference is known. 7 − 3 = 4 parts. 28 ÷ 4, then × (3 + 7).</a:t>
            </a:r>
          </a:p>
        </p:txBody>
      </p:sp>
      <p:sp>
        <p:nvSpPr>
          <p:cNvPr id="29" name="Rectangle 28"/>
          <p:cNvSpPr/>
          <p:nvPr/>
        </p:nvSpPr>
        <p:spPr>
          <a:xfrm>
            <a:off x="320040" y="3913632"/>
            <a:ext cx="1801367" cy="2066543"/>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986784"/>
            <a:ext cx="1691639" cy="1920239"/>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67127" y="3968496"/>
            <a:ext cx="3971544" cy="68580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£120 ÷ 5 = £24 per part. £24 × 3 = £72.</a:t>
            </a:r>
          </a:p>
        </p:txBody>
      </p:sp>
      <p:grpSp>
        <p:nvGrpSpPr>
          <p:cNvPr id="33" name="Ratio bars A:B = 2:3, total"/>
          <p:cNvGrpSpPr/>
          <p:nvPr/>
        </p:nvGrpSpPr>
        <p:grpSpPr>
          <a:xfrm>
            <a:off x="2194560" y="4686300"/>
            <a:ext cx="3916680" cy="1275588"/>
            <a:chOff x="2194560" y="4686300"/>
            <a:chExt cx="3916680" cy="1275588"/>
          </a:xfrm>
        </p:grpSpPr>
        <p:sp>
          <p:nvSpPr>
            <p:cNvPr id="34" name="TextBox 33"/>
            <p:cNvSpPr txBox="1"/>
            <p:nvPr/>
          </p:nvSpPr>
          <p:spPr>
            <a:xfrm>
              <a:off x="2194560" y="4686300"/>
              <a:ext cx="914400" cy="274320"/>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82B3A"/>
                  </a:solidFill>
                  <a:latin typeface="Arial"/>
                </a:defRPr>
              </a:pPr>
              <a:r>
                <a:t>A</a:t>
              </a:r>
            </a:p>
          </p:txBody>
        </p:sp>
        <p:sp>
          <p:nvSpPr>
            <p:cNvPr id="35" name="Rectangle 34"/>
            <p:cNvSpPr/>
            <p:nvPr/>
          </p:nvSpPr>
          <p:spPr>
            <a:xfrm>
              <a:off x="3108960"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502152"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194560" y="5061204"/>
              <a:ext cx="914400" cy="274320"/>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82B3A"/>
                  </a:solidFill>
                  <a:latin typeface="Arial"/>
                </a:defRPr>
              </a:pPr>
              <a:r>
                <a:t>B</a:t>
              </a:r>
            </a:p>
          </p:txBody>
        </p:sp>
        <p:sp>
          <p:nvSpPr>
            <p:cNvPr id="38" name="Rectangle 37"/>
            <p:cNvSpPr/>
            <p:nvPr/>
          </p:nvSpPr>
          <p:spPr>
            <a:xfrm>
              <a:off x="3108960"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502152"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95344"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4379975" y="4709160"/>
              <a:ext cx="0" cy="585216"/>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334255" y="4709160"/>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334255" y="5294376"/>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108960" y="5385816"/>
              <a:ext cx="3002280" cy="265176"/>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r>
                <a:t>£120 altogether</a:t>
              </a:r>
            </a:p>
          </p:txBody>
        </p:sp>
        <p:sp>
          <p:nvSpPr>
            <p:cNvPr id="45" name="TextBox 44"/>
            <p:cNvSpPr txBox="1"/>
            <p:nvPr/>
          </p:nvSpPr>
          <p:spPr>
            <a:xfrm>
              <a:off x="3108960" y="5696712"/>
              <a:ext cx="3002280" cy="265176"/>
            </a:xfrm>
            <a:prstGeom prst="rect">
              <a:avLst/>
            </a:prstGeom>
            <a:noFill/>
          </p:spPr>
          <p:txBody>
            <a:bodyPr wrap="square" lIns="54864" rIns="54864" tIns="22860" bIns="22860">
              <a:spAutoFit/>
            </a:bodyPr>
            <a:lstStyle/>
            <a:p>
              <a:pPr>
                <a:lnSpc>
                  <a:spcPts val="1365"/>
                </a:lnSpc>
                <a:spcBef>
                  <a:spcPts val="0"/>
                </a:spcBef>
                <a:spcAft>
                  <a:spcPts val="0"/>
                </a:spcAft>
                <a:defRPr sz="1300" b="1">
                  <a:solidFill>
                    <a:srgbClr val="176B73"/>
                  </a:solidFill>
                  <a:latin typeface="Arial"/>
                </a:defRPr>
              </a:pPr>
              <a:r>
                <a:t>1 part = £24</a:t>
              </a:r>
            </a:p>
          </p:txBody>
        </p:sp>
      </p:grpSp>
      <p:sp>
        <p:nvSpPr>
          <p:cNvPr id="46" name="Rectangle 45"/>
          <p:cNvSpPr/>
          <p:nvPr/>
        </p:nvSpPr>
        <p:spPr>
          <a:xfrm>
            <a:off x="6184392"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30112" y="3968496"/>
            <a:ext cx="3971544" cy="68580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18 ÷ 3 = 6 litres per part. 6 × 5 = 30 litres.</a:t>
            </a:r>
          </a:p>
        </p:txBody>
      </p:sp>
      <p:grpSp>
        <p:nvGrpSpPr>
          <p:cNvPr id="48" name="Ratio bars Red:Blue = 3:5, first"/>
          <p:cNvGrpSpPr/>
          <p:nvPr/>
        </p:nvGrpSpPr>
        <p:grpSpPr>
          <a:xfrm>
            <a:off x="6257544" y="4626864"/>
            <a:ext cx="3916680" cy="1335024"/>
            <a:chOff x="6257544" y="4626864"/>
            <a:chExt cx="3916680" cy="1335024"/>
          </a:xfrm>
        </p:grpSpPr>
        <p:sp>
          <p:nvSpPr>
            <p:cNvPr id="49" name="TextBox 48"/>
            <p:cNvSpPr txBox="1"/>
            <p:nvPr/>
          </p:nvSpPr>
          <p:spPr>
            <a:xfrm>
              <a:off x="6257544" y="4686300"/>
              <a:ext cx="914400" cy="274320"/>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82B3A"/>
                  </a:solidFill>
                  <a:latin typeface="Arial"/>
                </a:defRPr>
              </a:pPr>
              <a:r>
                <a:t>Red</a:t>
              </a:r>
            </a:p>
          </p:txBody>
        </p:sp>
        <p:sp>
          <p:nvSpPr>
            <p:cNvPr id="50" name="Rectangle 49"/>
            <p:cNvSpPr/>
            <p:nvPr/>
          </p:nvSpPr>
          <p:spPr>
            <a:xfrm>
              <a:off x="7171944"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565136"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958328"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57544" y="5061204"/>
              <a:ext cx="914400" cy="274320"/>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54" name="Rectangle 53"/>
            <p:cNvSpPr/>
            <p:nvPr/>
          </p:nvSpPr>
          <p:spPr>
            <a:xfrm>
              <a:off x="7171944"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565136"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958328"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351520"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744712"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Connector 58"/>
            <p:cNvCxnSpPr/>
            <p:nvPr/>
          </p:nvCxnSpPr>
          <p:spPr>
            <a:xfrm>
              <a:off x="7171944" y="4626864"/>
              <a:ext cx="1179576" cy="0"/>
            </a:xfrm>
            <a:prstGeom prst="line">
              <a:avLst/>
            </a:prstGeom>
            <a:ln w="15240">
              <a:solidFill>
                <a:srgbClr val="3559A2"/>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171944" y="5385816"/>
              <a:ext cx="3002280" cy="265176"/>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3559A2"/>
                  </a:solidFill>
                  <a:latin typeface="Arial"/>
                </a:defRPr>
              </a:pPr>
              <a:r>
                <a:t>Red: 18 litres</a:t>
              </a:r>
            </a:p>
          </p:txBody>
        </p:sp>
        <p:sp>
          <p:nvSpPr>
            <p:cNvPr id="61" name="TextBox 60"/>
            <p:cNvSpPr txBox="1"/>
            <p:nvPr/>
          </p:nvSpPr>
          <p:spPr>
            <a:xfrm>
              <a:off x="7171944" y="5696712"/>
              <a:ext cx="3002280" cy="265176"/>
            </a:xfrm>
            <a:prstGeom prst="rect">
              <a:avLst/>
            </a:prstGeom>
            <a:noFill/>
          </p:spPr>
          <p:txBody>
            <a:bodyPr wrap="square" lIns="54864" rIns="54864" tIns="22860" bIns="22860">
              <a:spAutoFit/>
            </a:bodyPr>
            <a:lstStyle/>
            <a:p>
              <a:pPr>
                <a:lnSpc>
                  <a:spcPts val="1365"/>
                </a:lnSpc>
                <a:spcBef>
                  <a:spcPts val="0"/>
                </a:spcBef>
                <a:spcAft>
                  <a:spcPts val="0"/>
                </a:spcAft>
                <a:defRPr sz="1300" b="1">
                  <a:solidFill>
                    <a:srgbClr val="3559A2"/>
                  </a:solidFill>
                  <a:latin typeface="Arial"/>
                </a:defRPr>
              </a:pPr>
              <a:r>
                <a:t>1 part = 6 litres</a:t>
              </a:r>
            </a:p>
          </p:txBody>
        </p:sp>
      </p:grpSp>
      <p:sp>
        <p:nvSpPr>
          <p:cNvPr id="62" name="Rectangle 61"/>
          <p:cNvSpPr/>
          <p:nvPr/>
        </p:nvSpPr>
        <p:spPr>
          <a:xfrm>
            <a:off x="10247376"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293096" y="3968496"/>
            <a:ext cx="3971544" cy="68580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28 ÷ 4 = 7 counters per part. 3 + 7 = 10 parts. 7 × 10 = 70 counters.</a:t>
            </a:r>
          </a:p>
        </p:txBody>
      </p:sp>
      <p:grpSp>
        <p:nvGrpSpPr>
          <p:cNvPr id="64" name="Ratio bars Red:Blue = 3:7, difference"/>
          <p:cNvGrpSpPr/>
          <p:nvPr/>
        </p:nvGrpSpPr>
        <p:grpSpPr>
          <a:xfrm>
            <a:off x="10320528" y="4686300"/>
            <a:ext cx="3916680" cy="1275588"/>
            <a:chOff x="10320528" y="4686300"/>
            <a:chExt cx="3916680" cy="1275588"/>
          </a:xfrm>
        </p:grpSpPr>
        <p:sp>
          <p:nvSpPr>
            <p:cNvPr id="65" name="TextBox 64"/>
            <p:cNvSpPr txBox="1"/>
            <p:nvPr/>
          </p:nvSpPr>
          <p:spPr>
            <a:xfrm>
              <a:off x="10320528" y="4686300"/>
              <a:ext cx="914400" cy="274320"/>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82B3A"/>
                  </a:solidFill>
                  <a:latin typeface="Arial"/>
                </a:defRPr>
              </a:pPr>
              <a:r>
                <a:t>Red</a:t>
              </a:r>
            </a:p>
          </p:txBody>
        </p:sp>
        <p:sp>
          <p:nvSpPr>
            <p:cNvPr id="66" name="Rectangle 65"/>
            <p:cNvSpPr/>
            <p:nvPr/>
          </p:nvSpPr>
          <p:spPr>
            <a:xfrm>
              <a:off x="11234928"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1628120"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2021312"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320528" y="5061204"/>
              <a:ext cx="914400" cy="274320"/>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70" name="Rectangle 69"/>
            <p:cNvSpPr/>
            <p:nvPr/>
          </p:nvSpPr>
          <p:spPr>
            <a:xfrm>
              <a:off x="1123492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162812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2021312"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2414504"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2807696"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320088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359408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7" name="Connector 76"/>
            <p:cNvCxnSpPr/>
            <p:nvPr/>
          </p:nvCxnSpPr>
          <p:spPr>
            <a:xfrm>
              <a:off x="12414504" y="5376672"/>
              <a:ext cx="1572768" cy="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2414504"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987272"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11234928" y="5413248"/>
              <a:ext cx="3002280" cy="256032"/>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r>
                <a:t>4 extra parts = 28 counters</a:t>
              </a:r>
            </a:p>
          </p:txBody>
        </p:sp>
        <p:sp>
          <p:nvSpPr>
            <p:cNvPr id="81" name="TextBox 80"/>
            <p:cNvSpPr txBox="1"/>
            <p:nvPr/>
          </p:nvSpPr>
          <p:spPr>
            <a:xfrm>
              <a:off x="11234928" y="5696712"/>
              <a:ext cx="3002280" cy="265176"/>
            </a:xfrm>
            <a:prstGeom prst="rect">
              <a:avLst/>
            </a:prstGeom>
            <a:noFill/>
          </p:spPr>
          <p:txBody>
            <a:bodyPr wrap="square" lIns="54864" rIns="54864" tIns="22860" bIns="22860">
              <a:spAutoFit/>
            </a:bodyPr>
            <a:lstStyle/>
            <a:p>
              <a:pPr>
                <a:lnSpc>
                  <a:spcPts val="1365"/>
                </a:lnSpc>
                <a:spcBef>
                  <a:spcPts val="0"/>
                </a:spcBef>
                <a:spcAft>
                  <a:spcPts val="0"/>
                </a:spcAft>
                <a:defRPr sz="1300" b="1">
                  <a:solidFill>
                    <a:srgbClr val="754B87"/>
                  </a:solidFill>
                  <a:latin typeface="Arial"/>
                </a:defRPr>
              </a:pPr>
              <a:r>
                <a:t>1 part = 7 counters</a:t>
              </a:r>
            </a:p>
          </p:txBody>
        </p:sp>
      </p:grpSp>
      <p:sp>
        <p:nvSpPr>
          <p:cNvPr id="82" name="Rectangle 81"/>
          <p:cNvSpPr/>
          <p:nvPr/>
        </p:nvSpPr>
        <p:spPr>
          <a:xfrm>
            <a:off x="320040" y="5980176"/>
            <a:ext cx="1801367" cy="13075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74904" y="6053328"/>
            <a:ext cx="1691639" cy="1161288"/>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84" name="Rectangle 83"/>
          <p:cNvSpPr/>
          <p:nvPr/>
        </p:nvSpPr>
        <p:spPr>
          <a:xfrm>
            <a:off x="2121408"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167127" y="6053328"/>
            <a:ext cx="3971544" cy="116128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B gets more than half of £120, so more than £60. £72 fits. Check both shares: £48 + £72 = £120.</a:t>
            </a:r>
          </a:p>
        </p:txBody>
      </p:sp>
      <p:sp>
        <p:nvSpPr>
          <p:cNvPr id="86" name="Rectangle 85"/>
          <p:cNvSpPr/>
          <p:nvPr/>
        </p:nvSpPr>
        <p:spPr>
          <a:xfrm>
            <a:off x="6184392"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230112" y="6053328"/>
            <a:ext cx="3971544" cy="116128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Blue is between one and two times the red amount, so between 18 and 36 litres. 30 litres fits.</a:t>
            </a:r>
          </a:p>
        </p:txBody>
      </p:sp>
      <p:sp>
        <p:nvSpPr>
          <p:cNvPr id="88" name="Rectangle 87"/>
          <p:cNvSpPr/>
          <p:nvPr/>
        </p:nvSpPr>
        <p:spPr>
          <a:xfrm>
            <a:off x="10247376"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0293096" y="6053328"/>
            <a:ext cx="3971544" cy="116128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The total represents 10 parts and the difference 4. The total should be between 2 and 3 times 28: between 56 and 84. 70 fits.</a:t>
            </a:r>
          </a:p>
        </p:txBody>
      </p:sp>
      <p:sp>
        <p:nvSpPr>
          <p:cNvPr id="90" name="Rectangle 89"/>
          <p:cNvSpPr/>
          <p:nvPr/>
        </p:nvSpPr>
        <p:spPr>
          <a:xfrm>
            <a:off x="320040" y="7287768"/>
            <a:ext cx="1801367" cy="5577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74904" y="7360919"/>
            <a:ext cx="1691639" cy="411479"/>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92" name="Rectangle 91"/>
          <p:cNvSpPr/>
          <p:nvPr/>
        </p:nvSpPr>
        <p:spPr>
          <a:xfrm>
            <a:off x="2121408"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167127" y="7360919"/>
            <a:ext cx="3971544" cy="411479"/>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B receives £72.</a:t>
            </a:r>
          </a:p>
        </p:txBody>
      </p:sp>
      <p:sp>
        <p:nvSpPr>
          <p:cNvPr id="94" name="Rectangle 93"/>
          <p:cNvSpPr/>
          <p:nvPr/>
        </p:nvSpPr>
        <p:spPr>
          <a:xfrm>
            <a:off x="6184392"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230112" y="7360919"/>
            <a:ext cx="3971544" cy="411479"/>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30 litres of blue paint.</a:t>
            </a:r>
          </a:p>
        </p:txBody>
      </p:sp>
      <p:sp>
        <p:nvSpPr>
          <p:cNvPr id="96" name="Rectangle 95"/>
          <p:cNvSpPr/>
          <p:nvPr/>
        </p:nvSpPr>
        <p:spPr>
          <a:xfrm>
            <a:off x="10247376"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0293096" y="7360919"/>
            <a:ext cx="3971544" cy="411479"/>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70 counters altogether.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73352"/>
            <a:ext cx="1691639" cy="1207008"/>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7127" y="1627632"/>
            <a:ext cx="3971544" cy="126187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An 84 ml paint mix contains red and white paint in the ratio 3:4. How much red paint is in the mix?</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0112" y="1627632"/>
            <a:ext cx="3971544" cy="126187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Notebooks and folders are in the ratio 4:7. There are 35 folders. How many notebooks are there?</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93096" y="1627632"/>
            <a:ext cx="3971544" cy="126187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Adults and children are in the ratio 2:5. There are 24 more children than adults. How many people are there altogether?</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3026664"/>
            <a:ext cx="1691639" cy="96926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67127" y="3026664"/>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30112" y="3026664"/>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93096" y="3026664"/>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4142232"/>
            <a:ext cx="1691639" cy="96926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67127" y="4142232"/>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30112" y="4142232"/>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3096" y="4142232"/>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257800"/>
            <a:ext cx="1691639" cy="96926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67127" y="5257800"/>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30112" y="5257800"/>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93096" y="5257800"/>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373368"/>
            <a:ext cx="1691639" cy="96926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67127" y="6373368"/>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30112" y="6373368"/>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293096" y="6373368"/>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73352"/>
            <a:ext cx="1691639" cy="1207008"/>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7127" y="1627632"/>
            <a:ext cx="3971544" cy="126187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A 96 cm ribbon is cut into pieces A and B in the ratio 5:7. Find the length of B.</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0112" y="1627632"/>
            <a:ext cx="3971544" cy="126187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Juice and water are mixed in the ratio 2:7. There are 18 litres of juice. How many litres of water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93096" y="1627632"/>
            <a:ext cx="3971544" cy="126187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Two lengths of ribbon, A and B, are in the ratio 5:8. B is 21 cm longer than A. What is their total length?</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3026664"/>
            <a:ext cx="1691639" cy="96926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67127" y="3026664"/>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30112" y="3026664"/>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93096" y="3026664"/>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4142232"/>
            <a:ext cx="1691639" cy="96926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67127" y="4142232"/>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30112" y="4142232"/>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3096" y="4142232"/>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257800"/>
            <a:ext cx="1691639" cy="96926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67127" y="5257800"/>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30112" y="5257800"/>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93096" y="5257800"/>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373368"/>
            <a:ext cx="1691639" cy="96926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67127" y="6373368"/>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30112" y="6373368"/>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293096" y="6373368"/>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Sam and Jo share £60 in the ratio 2:3. How much does Jo receive?</a:t>
            </a:r>
          </a:p>
        </p:txBody>
      </p:sp>
      <p:sp>
        <p:nvSpPr>
          <p:cNvPr id="16" name="Rectangle 15"/>
          <p:cNvSpPr/>
          <p:nvPr/>
        </p:nvSpPr>
        <p:spPr>
          <a:xfrm>
            <a:off x="498348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91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Flour and sugar are mixed in the ratio 3:2. A recipe uses 180 g of flour. What is the total mass of the mixture?</a:t>
            </a:r>
          </a:p>
        </p:txBody>
      </p:sp>
      <p:sp>
        <p:nvSpPr>
          <p:cNvPr id="19" name="Rectangle 18"/>
          <p:cNvSpPr/>
          <p:nvPr/>
        </p:nvSpPr>
        <p:spPr>
          <a:xfrm>
            <a:off x="964692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7435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Two ropes have lengths in the ratio 3:7. The longer rope is 24 m longer than the shorter. Find their total length.</a:t>
            </a:r>
          </a:p>
        </p:txBody>
      </p:sp>
      <p:sp>
        <p:nvSpPr>
          <p:cNvPr id="22" name="Rectangle 21"/>
          <p:cNvSpPr/>
          <p:nvPr/>
        </p:nvSpPr>
        <p:spPr>
          <a:xfrm>
            <a:off x="320040" y="2628900"/>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drink contains 600 ml of juice and water in the ratio 1:4. How much juice is in the drink?</a:t>
            </a:r>
          </a:p>
        </p:txBody>
      </p:sp>
      <p:sp>
        <p:nvSpPr>
          <p:cNvPr id="25" name="Rectangle 24"/>
          <p:cNvSpPr/>
          <p:nvPr/>
        </p:nvSpPr>
        <p:spPr>
          <a:xfrm>
            <a:off x="4983480" y="2628900"/>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1091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There are 64 adult and child tickets in the ratio 5:3. How many tickets are for children?</a:t>
            </a:r>
          </a:p>
        </p:txBody>
      </p:sp>
      <p:sp>
        <p:nvSpPr>
          <p:cNvPr id="28" name="Rectangle 27"/>
          <p:cNvSpPr/>
          <p:nvPr/>
        </p:nvSpPr>
        <p:spPr>
          <a:xfrm>
            <a:off x="9646920" y="2628900"/>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7435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Red and blue counters are in the ratio 2:5. There are 18 fewer red than blue. Find the number of each colour.</a:t>
            </a:r>
          </a:p>
        </p:txBody>
      </p:sp>
      <p:sp>
        <p:nvSpPr>
          <p:cNvPr id="31" name="Rectangle 30"/>
          <p:cNvSpPr/>
          <p:nvPr/>
        </p:nvSpPr>
        <p:spPr>
          <a:xfrm>
            <a:off x="32004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747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96 cm ribbon is cut into two pieces in the ratio 5:7. Find the length of each piece.</a:t>
            </a:r>
          </a:p>
        </p:txBody>
      </p:sp>
      <p:sp>
        <p:nvSpPr>
          <p:cNvPr id="34" name="Rectangle 33"/>
          <p:cNvSpPr/>
          <p:nvPr/>
        </p:nvSpPr>
        <p:spPr>
          <a:xfrm>
            <a:off x="498348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1091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Ropes A and B have lengths in the ratio 4:7. B is 15 m longer than A. Find the length of A.</a:t>
            </a:r>
          </a:p>
        </p:txBody>
      </p:sp>
      <p:sp>
        <p:nvSpPr>
          <p:cNvPr id="37" name="Rectangle 36"/>
          <p:cNvSpPr/>
          <p:nvPr/>
        </p:nvSpPr>
        <p:spPr>
          <a:xfrm>
            <a:off x="964692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7435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Ava and Leo share £100 in the ratio 7:3. How much more does Ava receive than Leo?</a:t>
            </a:r>
          </a:p>
        </p:txBody>
      </p:sp>
      <p:sp>
        <p:nvSpPr>
          <p:cNvPr id="40" name="Rectangle 39"/>
          <p:cNvSpPr/>
          <p:nvPr/>
        </p:nvSpPr>
        <p:spPr>
          <a:xfrm>
            <a:off x="320040" y="4722876"/>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47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bag has 48 red and blue beads in the ratio 3:5. How many blue beads are in the bag?</a:t>
            </a:r>
          </a:p>
        </p:txBody>
      </p:sp>
      <p:sp>
        <p:nvSpPr>
          <p:cNvPr id="43" name="Rectangle 42"/>
          <p:cNvSpPr/>
          <p:nvPr/>
        </p:nvSpPr>
        <p:spPr>
          <a:xfrm>
            <a:off x="4983480" y="4722876"/>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1091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Mia and Ben receive money in the ratio 2:5. Mia receives £18. How much do they receive altogether?</a:t>
            </a:r>
          </a:p>
        </p:txBody>
      </p:sp>
      <p:sp>
        <p:nvSpPr>
          <p:cNvPr id="46" name="Rectangle 45"/>
          <p:cNvSpPr/>
          <p:nvPr/>
        </p:nvSpPr>
        <p:spPr>
          <a:xfrm>
            <a:off x="9646920" y="4722876"/>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7435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Flour and sugar have masses in the ratio 5:2. There is 150 g of sugar. Find the total mass.</a:t>
            </a:r>
          </a:p>
        </p:txBody>
      </p:sp>
      <p:sp>
        <p:nvSpPr>
          <p:cNvPr id="49" name="Rectangle 48"/>
          <p:cNvSpPr/>
          <p:nvPr/>
        </p:nvSpPr>
        <p:spPr>
          <a:xfrm>
            <a:off x="32004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747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Flour and sugar are mixed in the ratio 5:2. A recipe uses 100 g of sugar. Find the mass of flour.</a:t>
            </a:r>
          </a:p>
        </p:txBody>
      </p:sp>
      <p:sp>
        <p:nvSpPr>
          <p:cNvPr id="52" name="Rectangle 51"/>
          <p:cNvSpPr/>
          <p:nvPr/>
        </p:nvSpPr>
        <p:spPr>
          <a:xfrm>
            <a:off x="498348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1091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Juice and water are mixed in the ratio 2:7. There are 63 litres of water. How much juice is needed?</a:t>
            </a:r>
          </a:p>
        </p:txBody>
      </p:sp>
      <p:sp>
        <p:nvSpPr>
          <p:cNvPr id="55" name="Rectangle 54"/>
          <p:cNvSpPr/>
          <p:nvPr/>
        </p:nvSpPr>
        <p:spPr>
          <a:xfrm>
            <a:off x="964692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67435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1,400 ml drink has water and juice in the ratio 5:2. Find the volume of each ingredient.</a:t>
            </a:r>
          </a:p>
        </p:txBody>
      </p:sp>
      <p:sp>
        <p:nvSpPr>
          <p:cNvPr id="58" name="Rectangle 57"/>
          <p:cNvSpPr/>
          <p:nvPr/>
        </p:nvSpPr>
        <p:spPr>
          <a:xfrm>
            <a:off x="320040" y="6816852"/>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4747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Practice and rest times are in the ratio 4:1. Practice lasts 72 minutes. How long is the rest?</a:t>
            </a:r>
          </a:p>
        </p:txBody>
      </p:sp>
      <p:sp>
        <p:nvSpPr>
          <p:cNvPr id="61" name="Rectangle 60"/>
          <p:cNvSpPr/>
          <p:nvPr/>
        </p:nvSpPr>
        <p:spPr>
          <a:xfrm>
            <a:off x="4983480" y="6816852"/>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1091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Travel and sightseeing take 55 minutes in total, in the ratio 3:8. How long is spent sightseeing?</a:t>
            </a:r>
          </a:p>
        </p:txBody>
      </p:sp>
      <p:sp>
        <p:nvSpPr>
          <p:cNvPr id="64" name="Rectangle 63"/>
          <p:cNvSpPr/>
          <p:nvPr/>
        </p:nvSpPr>
        <p:spPr>
          <a:xfrm>
            <a:off x="9646920" y="6816852"/>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67435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Practice and rest times are in the ratio 5:2. Practice lasts 45 minutes. Find the total session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560 g snack mix contains raisins and nuts in the ratio 3:5. Find the mass of raisins.</a:t>
            </a:r>
          </a:p>
        </p:txBody>
      </p:sp>
      <p:sp>
        <p:nvSpPr>
          <p:cNvPr id="16" name="Rectangle 15"/>
          <p:cNvSpPr/>
          <p:nvPr/>
        </p:nvSpPr>
        <p:spPr>
          <a:xfrm>
            <a:off x="498348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91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walk has uphill and level sections in the length ratio 2:5. The uphill section is 6 km. Find the total distance.</a:t>
            </a:r>
          </a:p>
        </p:txBody>
      </p:sp>
      <p:sp>
        <p:nvSpPr>
          <p:cNvPr id="19" name="Rectangle 18"/>
          <p:cNvSpPr/>
          <p:nvPr/>
        </p:nvSpPr>
        <p:spPr>
          <a:xfrm>
            <a:off x="964692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7435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Flour and butter have masses in the ratio 7:3. There is 160 g less butter than flour. Find the total mass.</a:t>
            </a:r>
          </a:p>
        </p:txBody>
      </p:sp>
      <p:sp>
        <p:nvSpPr>
          <p:cNvPr id="22" name="Rectangle 21"/>
          <p:cNvSpPr/>
          <p:nvPr/>
        </p:nvSpPr>
        <p:spPr>
          <a:xfrm>
            <a:off x="320040" y="2628900"/>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72 m fence is split between gardens A and B in the ratio 5:3. Find the length for each garden.</a:t>
            </a:r>
          </a:p>
        </p:txBody>
      </p:sp>
      <p:sp>
        <p:nvSpPr>
          <p:cNvPr id="25" name="Rectangle 24"/>
          <p:cNvSpPr/>
          <p:nvPr/>
        </p:nvSpPr>
        <p:spPr>
          <a:xfrm>
            <a:off x="4983480" y="2628900"/>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1091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490 ml paint mix contains red and white paint in the ratio 3:4. Find the volume of red paint.</a:t>
            </a:r>
          </a:p>
        </p:txBody>
      </p:sp>
      <p:sp>
        <p:nvSpPr>
          <p:cNvPr id="28" name="Rectangle 27"/>
          <p:cNvSpPr/>
          <p:nvPr/>
        </p:nvSpPr>
        <p:spPr>
          <a:xfrm>
            <a:off x="9646920" y="2628900"/>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7435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Tanks A and B hold water in the ratio 3:8. Tank A holds 15 litres. How much more water is in B than A?</a:t>
            </a:r>
          </a:p>
        </p:txBody>
      </p:sp>
      <p:sp>
        <p:nvSpPr>
          <p:cNvPr id="31" name="Rectangle 30"/>
          <p:cNvSpPr/>
          <p:nvPr/>
        </p:nvSpPr>
        <p:spPr>
          <a:xfrm>
            <a:off x="32004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747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75-minute lesson has instruction and practice in the ratio 2:3. How long is spent practising?</a:t>
            </a:r>
          </a:p>
        </p:txBody>
      </p:sp>
      <p:sp>
        <p:nvSpPr>
          <p:cNvPr id="34" name="Rectangle 33"/>
          <p:cNvSpPr/>
          <p:nvPr/>
        </p:nvSpPr>
        <p:spPr>
          <a:xfrm>
            <a:off x="498348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1091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Eve and Max receive money in the ratio 5:2. Eve gets £21 more than Max. Find Max’s share.</a:t>
            </a:r>
          </a:p>
        </p:txBody>
      </p:sp>
      <p:sp>
        <p:nvSpPr>
          <p:cNvPr id="37" name="Rectangle 36"/>
          <p:cNvSpPr/>
          <p:nvPr/>
        </p:nvSpPr>
        <p:spPr>
          <a:xfrm>
            <a:off x="964692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7435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Reading and writing take 66 minutes in total, in the ratio 4:7. Find both times.</a:t>
            </a:r>
          </a:p>
        </p:txBody>
      </p:sp>
      <p:sp>
        <p:nvSpPr>
          <p:cNvPr id="40" name="Rectangle 39"/>
          <p:cNvSpPr/>
          <p:nvPr/>
        </p:nvSpPr>
        <p:spPr>
          <a:xfrm>
            <a:off x="320040" y="4722876"/>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47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Kim and Ali receive money in the ratio 7:5. Kim gets £56. How much does Ali receive?</a:t>
            </a:r>
          </a:p>
        </p:txBody>
      </p:sp>
      <p:sp>
        <p:nvSpPr>
          <p:cNvPr id="43" name="Rectangle 42"/>
          <p:cNvSpPr/>
          <p:nvPr/>
        </p:nvSpPr>
        <p:spPr>
          <a:xfrm>
            <a:off x="4983480" y="4722876"/>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1091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Study and break times are in the ratio 5:1. Breaks total 12 minutes. Find the total study and break time.</a:t>
            </a:r>
          </a:p>
        </p:txBody>
      </p:sp>
      <p:sp>
        <p:nvSpPr>
          <p:cNvPr id="46" name="Rectangle 45"/>
          <p:cNvSpPr/>
          <p:nvPr/>
        </p:nvSpPr>
        <p:spPr>
          <a:xfrm>
            <a:off x="9646920" y="4722876"/>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7435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Two pieces of wood have lengths in the ratio 5:9. The longer is 28 cm longer. Find the longer length.</a:t>
            </a:r>
          </a:p>
        </p:txBody>
      </p:sp>
      <p:sp>
        <p:nvSpPr>
          <p:cNvPr id="49" name="Rectangle 48"/>
          <p:cNvSpPr/>
          <p:nvPr/>
        </p:nvSpPr>
        <p:spPr>
          <a:xfrm>
            <a:off x="32004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747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planter has 63 red and white flowers in the ratio 4:5. How many flowers are white?</a:t>
            </a:r>
          </a:p>
        </p:txBody>
      </p:sp>
      <p:sp>
        <p:nvSpPr>
          <p:cNvPr id="52" name="Rectangle 51"/>
          <p:cNvSpPr/>
          <p:nvPr/>
        </p:nvSpPr>
        <p:spPr>
          <a:xfrm>
            <a:off x="498348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1091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180 g mix contains raisins and oats in the ratio 2:7. Find the mass of raisins.</a:t>
            </a:r>
          </a:p>
        </p:txBody>
      </p:sp>
      <p:sp>
        <p:nvSpPr>
          <p:cNvPr id="55" name="Rectangle 54"/>
          <p:cNvSpPr/>
          <p:nvPr/>
        </p:nvSpPr>
        <p:spPr>
          <a:xfrm>
            <a:off x="964692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67435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Nia and Tom share £104 in the ratio 3:5. How much more does Tom get than Nia?</a:t>
            </a:r>
          </a:p>
        </p:txBody>
      </p:sp>
      <p:sp>
        <p:nvSpPr>
          <p:cNvPr id="58" name="Rectangle 57"/>
          <p:cNvSpPr/>
          <p:nvPr/>
        </p:nvSpPr>
        <p:spPr>
          <a:xfrm>
            <a:off x="320040" y="6816852"/>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4747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Blue and white paint are mixed in the ratio 3:5. There is 300 ml of white paint. Find the total volume.</a:t>
            </a:r>
          </a:p>
        </p:txBody>
      </p:sp>
      <p:sp>
        <p:nvSpPr>
          <p:cNvPr id="61" name="Rectangle 60"/>
          <p:cNvSpPr/>
          <p:nvPr/>
        </p:nvSpPr>
        <p:spPr>
          <a:xfrm>
            <a:off x="4983480" y="6816852"/>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1091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farm has sheep and goats in the ratio 4:3. There are 32 sheep. How many animals are there altogether?</a:t>
            </a:r>
          </a:p>
        </p:txBody>
      </p:sp>
      <p:sp>
        <p:nvSpPr>
          <p:cNvPr id="64" name="Rectangle 63"/>
          <p:cNvSpPr/>
          <p:nvPr/>
        </p:nvSpPr>
        <p:spPr>
          <a:xfrm>
            <a:off x="9646920" y="6816852"/>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67435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Adult and child tickets sell in the ratio 7:4. There are 63 adult tickets. Find the total number of tickets.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club has 80 junior and senior members in the ratio 7:3. How many members are seniors?</a:t>
            </a:r>
          </a:p>
        </p:txBody>
      </p:sp>
      <p:sp>
        <p:nvSpPr>
          <p:cNvPr id="16" name="Rectangle 15"/>
          <p:cNvSpPr/>
          <p:nvPr/>
        </p:nvSpPr>
        <p:spPr>
          <a:xfrm>
            <a:off x="498348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91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Study and break times are in the ratio 7:2. Study takes 56 minutes. Find the total time.</a:t>
            </a:r>
          </a:p>
        </p:txBody>
      </p:sp>
      <p:sp>
        <p:nvSpPr>
          <p:cNvPr id="19" name="Rectangle 18"/>
          <p:cNvSpPr/>
          <p:nvPr/>
        </p:nvSpPr>
        <p:spPr>
          <a:xfrm>
            <a:off x="964692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7435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Two sessions have durations in the ratio 5:8. The second lasts 24 minutes longer. Find the first session’s duration.</a:t>
            </a:r>
          </a:p>
        </p:txBody>
      </p:sp>
      <p:sp>
        <p:nvSpPr>
          <p:cNvPr id="22" name="Rectangle 21"/>
          <p:cNvSpPr/>
          <p:nvPr/>
        </p:nvSpPr>
        <p:spPr>
          <a:xfrm>
            <a:off x="320040" y="2628900"/>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Milk and coffee are mixed in the ratio 5:2. There is 200 ml of coffee. Find the volume of milk.</a:t>
            </a:r>
          </a:p>
        </p:txBody>
      </p:sp>
      <p:sp>
        <p:nvSpPr>
          <p:cNvPr id="25" name="Rectangle 24"/>
          <p:cNvSpPr/>
          <p:nvPr/>
        </p:nvSpPr>
        <p:spPr>
          <a:xfrm>
            <a:off x="4983480" y="2628900"/>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1091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Metal rods A and B have lengths in the ratio 5:8 and total 91 mm. Find the length of B.</a:t>
            </a:r>
          </a:p>
        </p:txBody>
      </p:sp>
      <p:sp>
        <p:nvSpPr>
          <p:cNvPr id="28" name="Rectangle 27"/>
          <p:cNvSpPr/>
          <p:nvPr/>
        </p:nvSpPr>
        <p:spPr>
          <a:xfrm>
            <a:off x="9646920" y="2628900"/>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7435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Kai and May receive money in the ratio 9:5. May gets £60. Find their combined amount.</a:t>
            </a:r>
          </a:p>
        </p:txBody>
      </p:sp>
      <p:sp>
        <p:nvSpPr>
          <p:cNvPr id="31" name="Rectangle 30"/>
          <p:cNvSpPr/>
          <p:nvPr/>
        </p:nvSpPr>
        <p:spPr>
          <a:xfrm>
            <a:off x="32004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747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Dan and Pat share £154 in the ratio 4:7. Find each person’s share.</a:t>
            </a:r>
          </a:p>
        </p:txBody>
      </p:sp>
      <p:sp>
        <p:nvSpPr>
          <p:cNvPr id="34" name="Rectangle 33"/>
          <p:cNvSpPr/>
          <p:nvPr/>
        </p:nvSpPr>
        <p:spPr>
          <a:xfrm>
            <a:off x="498348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1091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recipe uses flour and butter in the ratio 4:3 by mass. There are 90 g of butter. Find the total mass.</a:t>
            </a:r>
          </a:p>
        </p:txBody>
      </p:sp>
      <p:sp>
        <p:nvSpPr>
          <p:cNvPr id="37" name="Rectangle 36"/>
          <p:cNvSpPr/>
          <p:nvPr/>
        </p:nvSpPr>
        <p:spPr>
          <a:xfrm>
            <a:off x="964692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7435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farm has 143 sheep and goats in the ratio 8:5. How many more sheep are there than goats?</a:t>
            </a:r>
          </a:p>
        </p:txBody>
      </p:sp>
      <p:sp>
        <p:nvSpPr>
          <p:cNvPr id="40" name="Rectangle 39"/>
          <p:cNvSpPr/>
          <p:nvPr/>
        </p:nvSpPr>
        <p:spPr>
          <a:xfrm>
            <a:off x="320040" y="4722876"/>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47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120-minute film has action and dialogue in the ratio 3:5. How many minutes are dialogue?</a:t>
            </a:r>
          </a:p>
        </p:txBody>
      </p:sp>
      <p:sp>
        <p:nvSpPr>
          <p:cNvPr id="43" name="Rectangle 42"/>
          <p:cNvSpPr/>
          <p:nvPr/>
        </p:nvSpPr>
        <p:spPr>
          <a:xfrm>
            <a:off x="4983480" y="4722876"/>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1091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Green and yellow beads are in the ratio 3:8. There are 15 fewer green beads. Find the number of yellow beads.</a:t>
            </a:r>
          </a:p>
        </p:txBody>
      </p:sp>
      <p:sp>
        <p:nvSpPr>
          <p:cNvPr id="46" name="Rectangle 45"/>
          <p:cNvSpPr/>
          <p:nvPr/>
        </p:nvSpPr>
        <p:spPr>
          <a:xfrm>
            <a:off x="9646920" y="4722876"/>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7435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Milk and water have volumes in the ratio 7:3. There is 350 ml of milk. How much less water is there than milk?</a:t>
            </a:r>
          </a:p>
        </p:txBody>
      </p:sp>
      <p:sp>
        <p:nvSpPr>
          <p:cNvPr id="49" name="Rectangle 48"/>
          <p:cNvSpPr/>
          <p:nvPr/>
        </p:nvSpPr>
        <p:spPr>
          <a:xfrm>
            <a:off x="32004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747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900 g fruit mix contains apples and pears in the ratio 5:4. Find the mass of pears.</a:t>
            </a:r>
          </a:p>
        </p:txBody>
      </p:sp>
      <p:sp>
        <p:nvSpPr>
          <p:cNvPr id="52" name="Rectangle 51"/>
          <p:cNvSpPr/>
          <p:nvPr/>
        </p:nvSpPr>
        <p:spPr>
          <a:xfrm>
            <a:off x="498348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1091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Sam and Jo share £99 in the ratio 7:4. How much does Jo receive?</a:t>
            </a:r>
          </a:p>
        </p:txBody>
      </p:sp>
      <p:sp>
        <p:nvSpPr>
          <p:cNvPr id="55" name="Rectangle 54"/>
          <p:cNvSpPr/>
          <p:nvPr/>
        </p:nvSpPr>
        <p:spPr>
          <a:xfrm>
            <a:off x="964692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67435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Two paths have lengths in the ratio 4:9. The longer is 35 m longer. Find their combined length.</a:t>
            </a:r>
          </a:p>
        </p:txBody>
      </p:sp>
      <p:sp>
        <p:nvSpPr>
          <p:cNvPr id="58" name="Rectangle 57"/>
          <p:cNvSpPr/>
          <p:nvPr/>
        </p:nvSpPr>
        <p:spPr>
          <a:xfrm>
            <a:off x="320040" y="6816852"/>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4747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Wire pieces A and B have lengths in the ratio 7:4. A is 84 cm long. Find the length of B.</a:t>
            </a:r>
          </a:p>
        </p:txBody>
      </p:sp>
      <p:sp>
        <p:nvSpPr>
          <p:cNvPr id="61" name="Rectangle 60"/>
          <p:cNvSpPr/>
          <p:nvPr/>
        </p:nvSpPr>
        <p:spPr>
          <a:xfrm>
            <a:off x="4983480" y="6816852"/>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1091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Concentrate and water are mixed in the ratio 1:6. There is 450 ml of water. Find the total volume.</a:t>
            </a:r>
          </a:p>
        </p:txBody>
      </p:sp>
      <p:sp>
        <p:nvSpPr>
          <p:cNvPr id="64" name="Rectangle 63"/>
          <p:cNvSpPr/>
          <p:nvPr/>
        </p:nvSpPr>
        <p:spPr>
          <a:xfrm>
            <a:off x="9646920" y="6816852"/>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67435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650 g mix contains oats and raisins in the ratio 9:4. Find the mass of each ingredient.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100-minute trip has walking and cycling times in the ratio 3:7. Find the cycling time.</a:t>
            </a:r>
          </a:p>
        </p:txBody>
      </p:sp>
      <p:sp>
        <p:nvSpPr>
          <p:cNvPr id="16" name="Rectangle 15"/>
          <p:cNvSpPr/>
          <p:nvPr/>
        </p:nvSpPr>
        <p:spPr>
          <a:xfrm>
            <a:off x="498348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91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Two charities receive money in the ratio 3:7. The second gets £84. How much is donated altogether?</a:t>
            </a:r>
          </a:p>
        </p:txBody>
      </p:sp>
      <p:sp>
        <p:nvSpPr>
          <p:cNvPr id="19" name="Rectangle 18"/>
          <p:cNvSpPr/>
          <p:nvPr/>
        </p:nvSpPr>
        <p:spPr>
          <a:xfrm>
            <a:off x="964692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7435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Two tanks hold water in the ratio 5:7. The second holds 18 litres more. How much water is in the first?</a:t>
            </a:r>
          </a:p>
        </p:txBody>
      </p:sp>
      <p:sp>
        <p:nvSpPr>
          <p:cNvPr id="22" name="Rectangle 21"/>
          <p:cNvSpPr/>
          <p:nvPr/>
        </p:nvSpPr>
        <p:spPr>
          <a:xfrm>
            <a:off x="320040" y="2628900"/>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Two buckets contain 45 litres of water in total, in the ratio 4:5. Find the amount in each bucket.</a:t>
            </a:r>
          </a:p>
        </p:txBody>
      </p:sp>
      <p:sp>
        <p:nvSpPr>
          <p:cNvPr id="25" name="Rectangle 24"/>
          <p:cNvSpPr/>
          <p:nvPr/>
        </p:nvSpPr>
        <p:spPr>
          <a:xfrm>
            <a:off x="4983480" y="2628900"/>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1091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tray has 66 red and yellow plants in the ratio 5:6. How many plants are yellow?</a:t>
            </a:r>
          </a:p>
        </p:txBody>
      </p:sp>
      <p:sp>
        <p:nvSpPr>
          <p:cNvPr id="28" name="Rectangle 27"/>
          <p:cNvSpPr/>
          <p:nvPr/>
        </p:nvSpPr>
        <p:spPr>
          <a:xfrm>
            <a:off x="9646920" y="2628900"/>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7435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Nuts and raisins are mixed in the ratio 11:7 by mass. There are 210 g of raisins. Find the total mass.</a:t>
            </a:r>
          </a:p>
        </p:txBody>
      </p:sp>
      <p:sp>
        <p:nvSpPr>
          <p:cNvPr id="31" name="Rectangle 30"/>
          <p:cNvSpPr/>
          <p:nvPr/>
        </p:nvSpPr>
        <p:spPr>
          <a:xfrm>
            <a:off x="32004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747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Ribbon pieces A and B have lengths in the ratio 5:7. A is 60 cm long. Find the length of B.</a:t>
            </a:r>
          </a:p>
        </p:txBody>
      </p:sp>
      <p:sp>
        <p:nvSpPr>
          <p:cNvPr id="34" name="Rectangle 33"/>
          <p:cNvSpPr/>
          <p:nvPr/>
        </p:nvSpPr>
        <p:spPr>
          <a:xfrm>
            <a:off x="498348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1091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Mixing and baking times are in the ratio 2:9. Baking takes 45 minutes. How long does mixing take?</a:t>
            </a:r>
          </a:p>
        </p:txBody>
      </p:sp>
      <p:sp>
        <p:nvSpPr>
          <p:cNvPr id="37" name="Rectangle 36"/>
          <p:cNvSpPr/>
          <p:nvPr/>
        </p:nvSpPr>
        <p:spPr>
          <a:xfrm>
            <a:off x="964692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7435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Two ribbons have a total length of 285 cm, in the ratio 8:11. Find the difference in their lengths.</a:t>
            </a:r>
          </a:p>
        </p:txBody>
      </p:sp>
      <p:sp>
        <p:nvSpPr>
          <p:cNvPr id="40" name="Rectangle 39"/>
          <p:cNvSpPr/>
          <p:nvPr/>
        </p:nvSpPr>
        <p:spPr>
          <a:xfrm>
            <a:off x="320040" y="4722876"/>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47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Noor and Will receive money in the ratio 7:4. Will gets £48. Find Noor’s share.</a:t>
            </a:r>
          </a:p>
        </p:txBody>
      </p:sp>
      <p:sp>
        <p:nvSpPr>
          <p:cNvPr id="43" name="Rectangle 42"/>
          <p:cNvSpPr/>
          <p:nvPr/>
        </p:nvSpPr>
        <p:spPr>
          <a:xfrm>
            <a:off x="4983480" y="4722876"/>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1091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Two sacks have masses in the ratio 7:3. The heavier is 16 kg heavier. Find the lighter sack’s mass.</a:t>
            </a:r>
          </a:p>
        </p:txBody>
      </p:sp>
      <p:sp>
        <p:nvSpPr>
          <p:cNvPr id="46" name="Rectangle 45"/>
          <p:cNvSpPr/>
          <p:nvPr/>
        </p:nvSpPr>
        <p:spPr>
          <a:xfrm>
            <a:off x="9646920" y="4722876"/>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7435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Adult and child tickets sell in the ratio 9:5. There are 117 adult tickets. How many more adult tickets are sold?</a:t>
            </a:r>
          </a:p>
        </p:txBody>
      </p:sp>
      <p:sp>
        <p:nvSpPr>
          <p:cNvPr id="49" name="Rectangle 48"/>
          <p:cNvSpPr/>
          <p:nvPr/>
        </p:nvSpPr>
        <p:spPr>
          <a:xfrm>
            <a:off x="32004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747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box has 84 dark and milk chocolates in the ratio 2:5. Find the number of each type.</a:t>
            </a:r>
          </a:p>
        </p:txBody>
      </p:sp>
      <p:sp>
        <p:nvSpPr>
          <p:cNvPr id="52" name="Rectangle 51"/>
          <p:cNvSpPr/>
          <p:nvPr/>
        </p:nvSpPr>
        <p:spPr>
          <a:xfrm>
            <a:off x="498348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1091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Blue and white paint are mixed in the ratio 5:8. There are 24 litres of white paint. Find the total volume.</a:t>
            </a:r>
          </a:p>
        </p:txBody>
      </p:sp>
      <p:sp>
        <p:nvSpPr>
          <p:cNvPr id="55" name="Rectangle 54"/>
          <p:cNvSpPr/>
          <p:nvPr/>
        </p:nvSpPr>
        <p:spPr>
          <a:xfrm>
            <a:off x="964692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67435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Leah and Omar receive money in the ratio 5:9. Leah gets £32 less than Omar. How much does Omar get?</a:t>
            </a:r>
          </a:p>
        </p:txBody>
      </p:sp>
      <p:sp>
        <p:nvSpPr>
          <p:cNvPr id="58" name="Rectangle 57"/>
          <p:cNvSpPr/>
          <p:nvPr/>
        </p:nvSpPr>
        <p:spPr>
          <a:xfrm>
            <a:off x="320040" y="6816852"/>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4747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640 g bread mix has white and brown flour in the ratio 5:3. Find the mass of brown flour.</a:t>
            </a:r>
          </a:p>
        </p:txBody>
      </p:sp>
      <p:sp>
        <p:nvSpPr>
          <p:cNvPr id="61" name="Rectangle 60"/>
          <p:cNvSpPr/>
          <p:nvPr/>
        </p:nvSpPr>
        <p:spPr>
          <a:xfrm>
            <a:off x="4983480" y="6816852"/>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1091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Ropes A and B total 91 m, with lengths in the ratio 9:4. Find the length of B.</a:t>
            </a:r>
          </a:p>
        </p:txBody>
      </p:sp>
      <p:sp>
        <p:nvSpPr>
          <p:cNvPr id="64" name="Rectangle 63"/>
          <p:cNvSpPr/>
          <p:nvPr/>
        </p:nvSpPr>
        <p:spPr>
          <a:xfrm>
            <a:off x="9646920" y="6816852"/>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67435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Work and breaks take 90 minutes in total, in the ratio 7:2. How much longer is spent working than on breaks?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Ratio — sharing and missing amounts</dc:title>
  <dc:subject/>
  <dc:creator>Maths teaching resources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