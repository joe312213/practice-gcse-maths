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 Worked demo</a:t>
            </a:r>
          </a:p>
          <a:p/>
          <a:p>
            <a:r>
              <a:t>Title: **Ratio: sharing and missing amounts**</a:t>
            </a:r>
          </a:p>
          <a:p/>
          <a:p>
            <a:r>
              <a:t>Instruction: **Follow each step down your column.**</a:t>
            </a:r>
          </a:p>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p>
            <a:r>
              <a:t>### Diagram specification</a:t>
            </a:r>
          </a:p>
          <a:p/>
          <a:p>
            <a:r>
              <a:t>Use editable, equal-sized boxes. Align the two bars at the left; each box represents one part, not one pound, litre or counter. Label both bars by name; colour is optional, not the only way to identify them.</a:t>
            </a:r>
          </a:p>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p>
            <a:r>
              <a:t>Keep the complete question and all four steps on this slide. Fit the diagrams beside the concise working within the Written Method row. Do not introduce a separate step-per-slide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 Step-by-step practice 1</a:t>
            </a:r>
          </a:p>
          <a:p/>
          <a:p>
            <a:r>
              <a:t>Instruction: **Complete each step in your booklet or webapp.** Use the four practice prompts above.</a:t>
            </a:r>
          </a:p>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p>
            <a:r>
              <a:t>Teacher working:</a:t>
            </a:r>
          </a:p>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 Step-by-step practice 2</a:t>
            </a:r>
          </a:p>
          <a:p/>
          <a:p>
            <a:r>
              <a:t>Instruction and row prompts match Slide 2 exactly.</a:t>
            </a:r>
          </a:p>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p>
            <a:r>
              <a:t>Teacher working:</a:t>
            </a:r>
          </a:p>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p/>
          <a:p/>
          <a:p>
            <a:r>
              <a:t>## Slides 4–7 — Independent practice</a:t>
            </a:r>
          </a:p>
          <a:p/>
          <a:p>
            <a:r>
              <a:t>Instruction on each slide: **Choose a column. Show your working and check your answers.**</a:t>
            </a:r>
          </a:p>
          <a:p/>
          <a:p>
            <a:r>
              <a:t>Each column mixes contexts, unit types and requested quantities. “Find each” requires two labelled answers. Guided uses direct totals and known amounts. Core mixes totals, known amounts and simple differences. Depth mixes all three, including finding a difference from a total or a known amount. A column does not identify the required calculation.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M04-S04: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M04-S05: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M04-S06: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M04-S07: answers are in the separate ratio answer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73352"/>
            <a:ext cx="1691639" cy="120700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7127"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0112"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93096"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3026664"/>
            <a:ext cx="1691639" cy="81381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7127" y="3026664"/>
            <a:ext cx="3971544" cy="8138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0112" y="3026664"/>
            <a:ext cx="3971544" cy="8138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93096" y="3026664"/>
            <a:ext cx="3971544" cy="8138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986784"/>
            <a:ext cx="1691639" cy="1920239"/>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67127" y="3968496"/>
            <a:ext cx="3971544" cy="68580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94560" y="5061204"/>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rIns="54864" tIns="22860"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30112" y="3968496"/>
            <a:ext cx="3971544" cy="68580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57544" y="5061204"/>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rIns="54864" tIns="22860"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93096" y="3968496"/>
            <a:ext cx="3971544" cy="68580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320528" y="5061204"/>
              <a:ext cx="914400" cy="274320"/>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rIns="54864" tIns="22860"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74904" y="6053328"/>
            <a:ext cx="1691639" cy="116128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167127" y="6053328"/>
            <a:ext cx="3971544" cy="116128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30112" y="6053328"/>
            <a:ext cx="3971544" cy="116128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293096" y="6053328"/>
            <a:ext cx="3971544" cy="116128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74904" y="7360919"/>
            <a:ext cx="1691639" cy="411479"/>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67127" y="7360919"/>
            <a:ext cx="3971544" cy="411479"/>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230112" y="7360919"/>
            <a:ext cx="3971544" cy="411479"/>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293096" y="7360919"/>
            <a:ext cx="3971544" cy="411479"/>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73352"/>
            <a:ext cx="1691639" cy="120700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7127"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0112"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93096"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3026664"/>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7127"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0112"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93096"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4142232"/>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67127"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0112"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3096"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257800"/>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67127"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0112"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93096"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373368"/>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67127"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30112"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93096"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73352"/>
            <a:ext cx="1691639" cy="1207008"/>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7127"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0112"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93096" y="1627632"/>
            <a:ext cx="3971544" cy="126187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3026664"/>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7127"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0112"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93096" y="3026664"/>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4142232"/>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67127"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0112"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3096" y="4142232"/>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257800"/>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67127"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0112"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93096" y="5257800"/>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373368"/>
            <a:ext cx="1691639" cy="96926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67127"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30112"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93096" y="6373368"/>
            <a:ext cx="3971544" cy="969264"/>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There are 64 adult and child tickets in the ratio 5:3. How many tickets are for children?</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Ropes A and B have lengths in the ratio 4:7. B is 15 m longer than A. Find the length of A.</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bag has 48 red and blue beads in the ratio 3:5. How many blue beads are in the bag?</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sugar are mixed in the ratio 5:2. A recipe uses 100 g of sugar. Find the mass of flour.</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117 m fence is split between gardens A and B in the ratio 7:6. Find the length for each garden.</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Eve and Max receive money in the ratio 8:5. Eve gets £21 more than Max. Find Max’s share.</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Study and break times are in the ratio 5:1. Breaks total 12 minutes. Find the total study and break time.</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planter has 63 red and white flowers in the ratio 4:5. How many flowers are white?</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Metal rods A and B have lengths in the ratio 5:8 and total 91 mm. Find the length of B.</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Dan and Pat share £98 in the ratio 1:6. Find each person’s share.</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165-minute film has action and dialogue in the ratio 5:6. How many minutes are dialogue?</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fewer green beads. Find the number of yellow beads.</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165506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628900"/>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628900"/>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628900"/>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702052"/>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88336"/>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Ribbon pieces A and B have lengths in the ratio 2:3. A is 24 cm long. Find the length of B.</a:t>
            </a:r>
          </a:p>
        </p:txBody>
      </p:sp>
      <p:sp>
        <p:nvSpPr>
          <p:cNvPr id="34" name="Rectangle 33"/>
          <p:cNvSpPr/>
          <p:nvPr/>
        </p:nvSpPr>
        <p:spPr>
          <a:xfrm>
            <a:off x="498348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1091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675887"/>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3749039"/>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735324"/>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722876"/>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722876"/>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1091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is 16 kg heavier. Find the lighter sack’s mass.</a:t>
            </a:r>
          </a:p>
        </p:txBody>
      </p:sp>
      <p:sp>
        <p:nvSpPr>
          <p:cNvPr id="46" name="Rectangle 45"/>
          <p:cNvSpPr/>
          <p:nvPr/>
        </p:nvSpPr>
        <p:spPr>
          <a:xfrm>
            <a:off x="9646920" y="4722876"/>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74352" y="4796028"/>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782312"/>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box has 60 dark and milk chocolates in the ratio 1:4. Find the number of each type.</a:t>
            </a:r>
          </a:p>
        </p:txBody>
      </p:sp>
      <p:sp>
        <p:nvSpPr>
          <p:cNvPr id="52" name="Rectangle 51"/>
          <p:cNvSpPr/>
          <p:nvPr/>
        </p:nvSpPr>
        <p:spPr>
          <a:xfrm>
            <a:off x="498348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1091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Blue and white paint are mixed in the ratio 2:5. There are 15 litres of white paint. Find the total volume.</a:t>
            </a:r>
          </a:p>
        </p:txBody>
      </p:sp>
      <p:sp>
        <p:nvSpPr>
          <p:cNvPr id="55" name="Rectangle 54"/>
          <p:cNvSpPr/>
          <p:nvPr/>
        </p:nvSpPr>
        <p:spPr>
          <a:xfrm>
            <a:off x="9646920" y="5769864"/>
            <a:ext cx="4640580" cy="104698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74352" y="5843016"/>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829300"/>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816852"/>
            <a:ext cx="4640580" cy="10469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816852"/>
            <a:ext cx="4640580" cy="10469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816852"/>
            <a:ext cx="4640580" cy="10469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74352" y="6890004"/>
            <a:ext cx="274320" cy="365760"/>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876288"/>
            <a:ext cx="4261104" cy="928115"/>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Ratio — sharing and missing amounts</dc:title>
  <dc:subject/>
  <dc:creator>Maths teaching resources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