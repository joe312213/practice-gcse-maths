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Slide 1 — Worked demo</a:t>
            </a:r>
          </a:p>
          <a:p/>
          <a:p>
            <a:r>
              <a:t>Title: **Ratio: sharing and missing amounts**</a:t>
            </a:r>
          </a:p>
          <a:p/>
          <a:p>
            <a:r>
              <a:t>Instruction: **Follow each step down your column.**</a:t>
            </a:r>
          </a:p>
          <a:p/>
          <a:p>
            <a:r>
              <a:t>| Row | Thread 1: Guided | Thread 2: Core | Thread 3: Depth |</a:t>
            </a:r>
          </a:p>
          <a:p>
            <a:r>
              <a:t>| --- | --- | --- | --- |</a:t>
            </a:r>
          </a:p>
          <a:p>
            <a:r>
              <a:t>| The Full Question | A and B share £120 in the ratio 2:3. How much does B receive? | Red and blue paint are mixed in the ratio 3:5. There are 18 litres of red paint. How many litres of blue paint are needed? | Red and blue counters are in the ratio 3:7. There are 28 more blue counters than red counters. How many counters are there altogether? |</a:t>
            </a:r>
          </a:p>
          <a:p>
            <a:r>
              <a:t>| Keywords &amp; Calculation | “share £120”: the total is known. 2 + 3 = 5 parts. £120 ÷ 5, then × 3. | “18 litres of red”: 3 parts are known. 18 ÷ 3, then × 5. | “28 more blue”: the difference is known. 7 − 3 = 4 parts. 28 ÷ 4, then × (3 + 7). |</a:t>
            </a:r>
          </a:p>
          <a:p>
            <a:r>
              <a:t>| Written Method | £120 ÷ 5 = £24 per part. £24 × 3 = £72. | 18 ÷ 3 = 6 litres per part. 6 × 5 = 30 litres. | 28 ÷ 4 = 7 counters per part. 3 + 7 = 10 parts. 7 × 10 = 70 counters. |</a:t>
            </a:r>
          </a:p>
          <a:p>
            <a:r>
              <a:t>| Ballpark Check &amp; Math | B gets more than half of £120, so more than £60. £72 fits. Check both shares: £48 + £72 = £120. | Blue is between one and two times the red amount, so between 18 and 36 litres. 30 litres fits. | The total represents 10 parts and the difference 4. The total should be between 2 and 3 times 28: between 56 and 84. 70 fits. |</a:t>
            </a:r>
          </a:p>
          <a:p>
            <a:r>
              <a:t>| Final Answer | B receives £72. | 30 litres of blue paint. | 70 counters altogether. |</a:t>
            </a:r>
          </a:p>
          <a:p/>
          <a:p>
            <a:r>
              <a:t>### Diagram specification</a:t>
            </a:r>
          </a:p>
          <a:p/>
          <a:p>
            <a:r>
              <a:t>Use editable, equal-sized boxes. Align the two bars at the left; each box represents one part, not one pound, litre or counter. Label both bars by name; colour is optional, not the only way to identify them.</a:t>
            </a:r>
          </a:p>
          <a:p/>
          <a:p>
            <a:r>
              <a:t>- Guided: A has 2 boxes; B has 3. A bracket covering both bars is labelled “£120 altogether”. Show “1 part = £24”.</a:t>
            </a:r>
          </a:p>
          <a:p>
            <a:r>
              <a:t>- Core: red has 3 boxes labelled “18 litres”; blue has 5. Show “1 part = 6 litres”.</a:t>
            </a:r>
          </a:p>
          <a:p>
            <a:r>
              <a:t>- Depth: red has 3 boxes; blue has 7. Bracket the **four extra blue boxes** and label them “28 more”. Show “1 part = 7 counters”. Do not label the overlap as the difference.</a:t>
            </a:r>
          </a:p>
          <a:p/>
          <a:p>
            <a:r>
              <a:t>Keep the complete question and all four steps on this slide. Fit the diagrams beside the concise working within the Written Method row. Do not introduce a separate step-per-slide sequence.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Slide 2 — Step-by-step practice 1</a:t>
            </a:r>
          </a:p>
          <a:p/>
          <a:p>
            <a:r>
              <a:t>Instruction: **Complete each step in your booklet or webapp.** Use the four practice prompts above.</a:t>
            </a:r>
          </a:p>
          <a:p/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An 84 ml paint mix contains red and white paint in the ratio 3:4. How much red paint is in the mix? | Notebooks and folders are in the ratio 4:7. There are 35 folders. How many notebooks are there? | Adults and children are in the ratio 2:5. There are 24 more children than adults. How many people are there altogether? |</a:t>
            </a:r>
          </a:p>
          <a:p/>
          <a:p>
            <a:r>
              <a:t>Teacher working:</a:t>
            </a:r>
          </a:p>
          <a:p/>
          <a:p>
            <a:r>
              <a:t>- T1: 3 + 4 = 7; 84 ÷ 7 = 12 ml; 12 × 3 = **36 ml red paint**. Less than half of 84 ml; white paint 48 ml.</a:t>
            </a:r>
          </a:p>
          <a:p>
            <a:r>
              <a:t>- T2: 35 ÷ 7 = 5; 5 × 4 = **20 notebooks**. Fewer notebooks than folders.</a:t>
            </a:r>
          </a:p>
          <a:p>
            <a:r>
              <a:t>- T3: 5 − 2 = 3; 24 ÷ 3 = 8; (2 + 5) × 8 = **56 people**. 16 adults and 40 children; difference 24.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Slide 3 — Step-by-step practice 2</a:t>
            </a:r>
          </a:p>
          <a:p/>
          <a:p>
            <a:r>
              <a:t>Instruction and row prompts match Slide 2 exactly.</a:t>
            </a:r>
          </a:p>
          <a:p/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 96 cm ribbon is cut into pieces A and B in the ratio 5:7. Find the length of B. | Juice and water are mixed in the ratio 2:7. There are 18 litres of juice. How many litres of water are needed? | Two lengths of ribbon, A and B, are in the ratio 5:8. B is 21 cm longer than A. What is their total length? |</a:t>
            </a:r>
          </a:p>
          <a:p/>
          <a:p>
            <a:r>
              <a:t>Teacher working:</a:t>
            </a:r>
          </a:p>
          <a:p/>
          <a:p>
            <a:r>
              <a:t>- T1: 5 + 7 = 12; 96 ÷ 12 = 8 cm; 8 × 7 = **56 cm**. More than half of 96 cm; A is 40 cm.</a:t>
            </a:r>
          </a:p>
          <a:p>
            <a:r>
              <a:t>- T2: 18 ÷ 2 = 9; 9 × 7 = **63 litres of water**. Between 3 and 4 times the juice amount (54–72 litres).</a:t>
            </a:r>
          </a:p>
          <a:p>
            <a:r>
              <a:t>- T3: 8 − 5 = 3; 21 ÷ 3 = 7; (5 + 8) × 7 = **91 cm**. The two lengths are 35 cm and 56 cm; difference 21 cm.</a:t>
            </a:r>
          </a:p>
          <a:p/>
          <a:p/>
          <a:p/>
          <a:p>
            <a:r>
              <a:t>## Slides 4–7 — Independent practice</a:t>
            </a:r>
          </a:p>
          <a:p/>
          <a:p>
            <a:r>
              <a:t>Instruction on each slide: **Choose a column. Show your working and check your answers.**</a:t>
            </a:r>
          </a:p>
          <a:p/>
          <a:p>
            <a:r>
              <a:t>Each column mixes contexts, unit types and requested quantities. “Find each” requires two labelled answers. Guided uses direct totals, known amounts and friendly given-difference questions. Core mixes totals, known amounts and simple differences. Depth mixes all three, including finding a difference from a total or a known amount. A column does not identify the required calculation.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M04-S04: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M04-S05: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M04-S06: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M04-S07: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step down your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£120 in the ratio 2:3.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paint are mixed in the ratio 3:5. There are 18 litres of red paint. How many litres of blue paint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counters are in the ratio 3:7. There are 28 more blue counters than red counters. How many counters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 £120”: the total is known. 2 + 3 = 5 parts. £120 ÷ 5, then ×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“18 litres of red”: 3 parts are known. 18 ÷ 3, then ×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“28 more blue”: the difference is known. 7 − 3 = 4 parts. 28 ÷ 4, then × (3 + 7).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£120 ÷ 5 = £24 per part. £24 × 3 = £72.</a:t>
            </a:r>
          </a:p>
        </p:txBody>
      </p:sp>
      <p:grpSp>
        <p:nvGrpSpPr>
          <p:cNvPr id="33" name="Ratio bars A:B = 2:3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379975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4334255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4334255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£120 altogether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£24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3 = 6 litres per part. 6 × 5 = 30 litres.</a:t>
            </a:r>
          </a:p>
        </p:txBody>
      </p:sp>
      <p:grpSp>
        <p:nvGrpSpPr>
          <p:cNvPr id="48" name="Ratio bars Red:Blue = 3:5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49" name="TextBox 48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Connector 58"/>
            <p:cNvCxnSpPr/>
            <p:nvPr/>
          </p:nvCxnSpPr>
          <p:spPr>
            <a:xfrm>
              <a:off x="7171944" y="4626864"/>
              <a:ext cx="1179576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Red: 18 litres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6 litres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28 ÷ 4 = 7 counters per part. 3 + 7 = 10 parts. 7 × 10 = 70 counters.</a:t>
            </a:r>
          </a:p>
        </p:txBody>
      </p:sp>
      <p:grpSp>
        <p:nvGrpSpPr>
          <p:cNvPr id="64" name="Ratio bars Red:Blue = 3:7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65" name="TextBox 64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021312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320088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59408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12414504" y="5376672"/>
              <a:ext cx="1572768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2414504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398727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4 extra parts = 28 counters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counters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gets more than half of £120, so more than £60. £72 fits. Check both shares: £48 + £72 = £120.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Blue is between one and two times the red amount, so between 18 and 36 litres. 30 litres fits.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represents 10 parts and the difference 4. The total should be between 2 and 3 times 28: between 56 and 84. 70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receives £72.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30 litres of blue paint.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70 counters altogether.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98392" y="7662672"/>
            <a:ext cx="1554480" cy="2743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3559A2"/>
                </a:solidFill>
                <a:latin typeface="Arial"/>
              </a:defRPr>
            </a:pPr>
            <a:r>
              <a:t>Try the next thread</a:t>
            </a:r>
          </a:p>
        </p:txBody>
      </p:sp>
      <p:sp>
        <p:nvSpPr>
          <p:cNvPr id="54" name="Progression curved arrow: Thread 1 to Thread 2"/>
          <p:cNvSpPr/>
          <p:nvPr/>
        </p:nvSpPr>
        <p:spPr>
          <a:xfrm>
            <a:off x="5498592" y="7680960"/>
            <a:ext cx="914400" cy="201168"/>
          </a:xfrm>
          <a:custGeom>
            <a:avLst/>
            <a:gdLst/>
            <a:ahLst/>
            <a:cxnLst/>
            <a:rect l="0" t="0" r="1000" b="240"/>
            <a:pathLst>
              <a:path w="1000" h="240" fill="none">
                <a:moveTo>
                  <a:pt x="0" y="210"/>
                </a:moveTo>
                <a:cubicBezTo>
                  <a:pt x="300" y="10"/>
                  <a:pt x="700" y="10"/>
                  <a:pt x="1000" y="160"/>
                </a:cubicBezTo>
              </a:path>
            </a:pathLst>
          </a:custGeom>
          <a:noFill/>
          <a:ln w="22860">
            <a:solidFill>
              <a:srgbClr val="3559A2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61376" y="7662672"/>
            <a:ext cx="1554480" cy="2743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754B87"/>
                </a:solidFill>
                <a:latin typeface="Arial"/>
              </a:defRPr>
            </a:pPr>
            <a:r>
              <a:t>Try the next thread</a:t>
            </a:r>
          </a:p>
        </p:txBody>
      </p:sp>
      <p:sp>
        <p:nvSpPr>
          <p:cNvPr id="56" name="Progression curved arrow: Thread 2 to Thread 3"/>
          <p:cNvSpPr/>
          <p:nvPr/>
        </p:nvSpPr>
        <p:spPr>
          <a:xfrm>
            <a:off x="9561576" y="7680960"/>
            <a:ext cx="914400" cy="201168"/>
          </a:xfrm>
          <a:custGeom>
            <a:avLst/>
            <a:gdLst/>
            <a:ahLst/>
            <a:cxnLst/>
            <a:rect l="0" t="0" r="1000" b="240"/>
            <a:pathLst>
              <a:path w="1000" h="240" fill="none">
                <a:moveTo>
                  <a:pt x="0" y="210"/>
                </a:moveTo>
                <a:cubicBezTo>
                  <a:pt x="300" y="10"/>
                  <a:pt x="700" y="10"/>
                  <a:pt x="1000" y="160"/>
                </a:cubicBezTo>
              </a:path>
            </a:pathLst>
          </a:custGeom>
          <a:noFill/>
          <a:ln w="22860">
            <a:solidFill>
              <a:srgbClr val="754B8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98392" y="7662672"/>
            <a:ext cx="1554480" cy="2743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3559A2"/>
                </a:solidFill>
                <a:latin typeface="Arial"/>
              </a:defRPr>
            </a:pPr>
            <a:r>
              <a:t>Try the next thread</a:t>
            </a:r>
          </a:p>
        </p:txBody>
      </p:sp>
      <p:sp>
        <p:nvSpPr>
          <p:cNvPr id="54" name="Progression curved arrow: Thread 1 to Thread 2"/>
          <p:cNvSpPr/>
          <p:nvPr/>
        </p:nvSpPr>
        <p:spPr>
          <a:xfrm>
            <a:off x="5498592" y="7680960"/>
            <a:ext cx="914400" cy="201168"/>
          </a:xfrm>
          <a:custGeom>
            <a:avLst/>
            <a:gdLst/>
            <a:ahLst/>
            <a:cxnLst/>
            <a:rect l="0" t="0" r="1000" b="240"/>
            <a:pathLst>
              <a:path w="1000" h="240" fill="none">
                <a:moveTo>
                  <a:pt x="0" y="210"/>
                </a:moveTo>
                <a:cubicBezTo>
                  <a:pt x="300" y="10"/>
                  <a:pt x="700" y="10"/>
                  <a:pt x="1000" y="160"/>
                </a:cubicBezTo>
              </a:path>
            </a:pathLst>
          </a:custGeom>
          <a:noFill/>
          <a:ln w="22860">
            <a:solidFill>
              <a:srgbClr val="3559A2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61376" y="7662672"/>
            <a:ext cx="1554480" cy="2743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754B87"/>
                </a:solidFill>
                <a:latin typeface="Arial"/>
              </a:defRPr>
            </a:pPr>
            <a:r>
              <a:t>Try the next thread</a:t>
            </a:r>
          </a:p>
        </p:txBody>
      </p:sp>
      <p:sp>
        <p:nvSpPr>
          <p:cNvPr id="56" name="Progression curved arrow: Thread 2 to Thread 3"/>
          <p:cNvSpPr/>
          <p:nvPr/>
        </p:nvSpPr>
        <p:spPr>
          <a:xfrm>
            <a:off x="9561576" y="7680960"/>
            <a:ext cx="914400" cy="201168"/>
          </a:xfrm>
          <a:custGeom>
            <a:avLst/>
            <a:gdLst/>
            <a:ahLst/>
            <a:cxnLst/>
            <a:rect l="0" t="0" r="1000" b="240"/>
            <a:pathLst>
              <a:path w="1000" h="240" fill="none">
                <a:moveTo>
                  <a:pt x="0" y="210"/>
                </a:moveTo>
                <a:cubicBezTo>
                  <a:pt x="300" y="10"/>
                  <a:pt x="700" y="10"/>
                  <a:pt x="1000" y="160"/>
                </a:cubicBezTo>
              </a:path>
            </a:pathLst>
          </a:custGeom>
          <a:noFill/>
          <a:ln w="22860">
            <a:solidFill>
              <a:srgbClr val="754B8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£60 in the ratio 2:3. How much does Jo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3:2. A recipe uses 180 g of flour. What is the total mass of the mixture?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ropes have lengths in the ratio 1:3. The longer rope is 12 m longer than the shorter. Find their total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drink contains 600 ml of juice and water in the ratio 1:4. How much juice is in the drink?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5:3. There are 16 more adult tickets. How many child tickets are sold?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1:5. There are 24 fewer red than blue. Find the number of each colour.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96 cm ribbon is cut into two pieces in the ratio 5:7. Find the length of each piece.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have lengths in the ratio 4:7. Rope B is 15 m longer than rope A. How long is rope A?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Ava and Leo share £100 in the ratio 7:3. How much more does Ava receive than Leo?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beads are in the ratio 3:5. There are 12 more blue beads than red beads. How many blue beads are there?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Mia and Ben receive money in the ratio 2:5. Mia receives £18. How much do they receive altogether?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have masses in the ratio 5:4. There is 300 g of sugar. Find the total mass.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5:2. There is 150 g more flour than sugar. How much flour is there?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63 litres of water. How much juice is needed?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1,400 ml drink has water and juice in the ratio 6:1. Find the volume of each ingredient.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2:1. Practice lasts 36 minutes. How long is the rest?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Travel and sightseeing take 55 minutes in total, in the ratio 3:8. How long is spent sightseeing?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6:5. Practice lasts 54 minutes. Find the total session time.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97480" y="7662672"/>
            <a:ext cx="1554480" cy="2743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3559A2"/>
                </a:solidFill>
                <a:latin typeface="Arial"/>
              </a:defRPr>
            </a:pPr>
            <a:r>
              <a:t>Try the next thread</a:t>
            </a:r>
          </a:p>
        </p:txBody>
      </p:sp>
      <p:sp>
        <p:nvSpPr>
          <p:cNvPr id="68" name="Progression curved arrow: Thread 1 to Thread 2"/>
          <p:cNvSpPr/>
          <p:nvPr/>
        </p:nvSpPr>
        <p:spPr>
          <a:xfrm>
            <a:off x="4297680" y="7680960"/>
            <a:ext cx="914400" cy="201168"/>
          </a:xfrm>
          <a:custGeom>
            <a:avLst/>
            <a:gdLst/>
            <a:ahLst/>
            <a:cxnLst/>
            <a:rect l="0" t="0" r="1000" b="240"/>
            <a:pathLst>
              <a:path w="1000" h="240" fill="none">
                <a:moveTo>
                  <a:pt x="0" y="210"/>
                </a:moveTo>
                <a:cubicBezTo>
                  <a:pt x="300" y="10"/>
                  <a:pt x="700" y="10"/>
                  <a:pt x="1000" y="160"/>
                </a:cubicBezTo>
              </a:path>
            </a:pathLst>
          </a:custGeom>
          <a:noFill/>
          <a:ln w="22860">
            <a:solidFill>
              <a:srgbClr val="3559A2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60920" y="7662672"/>
            <a:ext cx="1554480" cy="2743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754B87"/>
                </a:solidFill>
                <a:latin typeface="Arial"/>
              </a:defRPr>
            </a:pPr>
            <a:r>
              <a:t>Try the next thread</a:t>
            </a:r>
          </a:p>
        </p:txBody>
      </p:sp>
      <p:sp>
        <p:nvSpPr>
          <p:cNvPr id="70" name="Progression curved arrow: Thread 2 to Thread 3"/>
          <p:cNvSpPr/>
          <p:nvPr/>
        </p:nvSpPr>
        <p:spPr>
          <a:xfrm>
            <a:off x="8961120" y="7680960"/>
            <a:ext cx="914400" cy="201168"/>
          </a:xfrm>
          <a:custGeom>
            <a:avLst/>
            <a:gdLst/>
            <a:ahLst/>
            <a:cxnLst/>
            <a:rect l="0" t="0" r="1000" b="240"/>
            <a:pathLst>
              <a:path w="1000" h="240" fill="none">
                <a:moveTo>
                  <a:pt x="0" y="210"/>
                </a:moveTo>
                <a:cubicBezTo>
                  <a:pt x="300" y="10"/>
                  <a:pt x="700" y="10"/>
                  <a:pt x="1000" y="160"/>
                </a:cubicBezTo>
              </a:path>
            </a:pathLst>
          </a:custGeom>
          <a:noFill/>
          <a:ln w="22860">
            <a:solidFill>
              <a:srgbClr val="754B8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snack mix contains raisins and nuts in the ratio 1:7. Find the mass of raisins.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walk has uphill and level sections in the length ratio 1:8. The uphill section is 3 km. Find the total distance.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butter have masses in the ratio 9:2. There is 280 g less butter than flour. Find the total mass.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Fences A and B have lengths in the ratio 7:6. Fence A is 9 m longer than fence B. How long is fence B?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490 ml paint mix contains red and white paint in the ratio 3:4. Find the volume of red paint.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Tanks A and B hold water in the ratio 3:8. Tank A holds 15 litres. How much more water is in B than A?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45-minute lesson has instruction and practice in the ratio 1:2. How long is spent practising?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Eve and Max share money in the ratio 8:5. Eve gets £21 more than Max. How much does Max get?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Reading and writing take 78 minutes in total, in the ratio 4:9. Find both times.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Kim and Ali receive money in the ratio 7:5. Kim gets £56. How much does Ali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5:1. Studying takes 48 minutes longer than breaks. How long are the breaks?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pieces of wood have lengths in the ratio 5:9. The longer is 28 cm longer. Find the longer length.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white flowers are in the ratio 4:5. There are 7 more white than red. How many are white?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300 g mix contains raisins and oats in the ratio 7:8. Find the mass of raisins.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Nia and Tom share £208 in the ratio 7:9. How much more does Tom get than Nia?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mixed in the ratio 1:3. There is 180 ml of white paint. Find the total volume.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sheep and goats in the ratio 9:1. There are 72 sheep. How many animals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9:8. There are 81 adult tickets. Find the total number of tickets.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97480" y="7662672"/>
            <a:ext cx="1554480" cy="2743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3559A2"/>
                </a:solidFill>
                <a:latin typeface="Arial"/>
              </a:defRPr>
            </a:pPr>
            <a:r>
              <a:t>Try the next thread</a:t>
            </a:r>
          </a:p>
        </p:txBody>
      </p:sp>
      <p:sp>
        <p:nvSpPr>
          <p:cNvPr id="68" name="Progression curved arrow: Thread 1 to Thread 2"/>
          <p:cNvSpPr/>
          <p:nvPr/>
        </p:nvSpPr>
        <p:spPr>
          <a:xfrm>
            <a:off x="4297680" y="7680960"/>
            <a:ext cx="914400" cy="201168"/>
          </a:xfrm>
          <a:custGeom>
            <a:avLst/>
            <a:gdLst/>
            <a:ahLst/>
            <a:cxnLst/>
            <a:rect l="0" t="0" r="1000" b="240"/>
            <a:pathLst>
              <a:path w="1000" h="240" fill="none">
                <a:moveTo>
                  <a:pt x="0" y="210"/>
                </a:moveTo>
                <a:cubicBezTo>
                  <a:pt x="300" y="10"/>
                  <a:pt x="700" y="10"/>
                  <a:pt x="1000" y="160"/>
                </a:cubicBezTo>
              </a:path>
            </a:pathLst>
          </a:custGeom>
          <a:noFill/>
          <a:ln w="22860">
            <a:solidFill>
              <a:srgbClr val="3559A2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60920" y="7662672"/>
            <a:ext cx="1554480" cy="2743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754B87"/>
                </a:solidFill>
                <a:latin typeface="Arial"/>
              </a:defRPr>
            </a:pPr>
            <a:r>
              <a:t>Try the next thread</a:t>
            </a:r>
          </a:p>
        </p:txBody>
      </p:sp>
      <p:sp>
        <p:nvSpPr>
          <p:cNvPr id="70" name="Progression curved arrow: Thread 2 to Thread 3"/>
          <p:cNvSpPr/>
          <p:nvPr/>
        </p:nvSpPr>
        <p:spPr>
          <a:xfrm>
            <a:off x="8961120" y="7680960"/>
            <a:ext cx="914400" cy="201168"/>
          </a:xfrm>
          <a:custGeom>
            <a:avLst/>
            <a:gdLst/>
            <a:ahLst/>
            <a:cxnLst/>
            <a:rect l="0" t="0" r="1000" b="240"/>
            <a:pathLst>
              <a:path w="1000" h="240" fill="none">
                <a:moveTo>
                  <a:pt x="0" y="210"/>
                </a:moveTo>
                <a:cubicBezTo>
                  <a:pt x="300" y="10"/>
                  <a:pt x="700" y="10"/>
                  <a:pt x="1000" y="160"/>
                </a:cubicBezTo>
              </a:path>
            </a:pathLst>
          </a:custGeom>
          <a:noFill/>
          <a:ln w="22860">
            <a:solidFill>
              <a:srgbClr val="754B8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has 80 junior and senior members in the ratio 7:3. How many members are seniors?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8:1. Study takes 64 minutes. Find the total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sessions have durations in the ratio 1:10. The second lasts 72 minutes longer. Find the first session’s duration.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coffee are mixed in the ratio 4:1. There is 100 ml of coffee. Find the volume of milk.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Rods A and B have lengths in the ratio 5:8. Rod B is 21 mm longer than rod A. How long is rod B?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Kai and May receive money in the ratio 9:5. May gets £60. Find their combined amount.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Dan and Pat share money in the ratio 1:6. Pat gets £70 more than Dan. How much does Dan get?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recipe uses flour and butter in the ratio 4:3 by mass. There are 90 g of butter. Find the total mass.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143 sheep and goats in the ratio 10:3. How many more sheep are there than goats?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Action and dialogue times are in the ratio 5:6. Dialogue lasts 15 minutes longer. How long is the dialogue?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Green and yellow beads are in the ratio 7:8. There are 3 more yellow than green. How many are yellow?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water have volumes in the ratio 10:7. There is 500 ml of milk. How much less water is there than milk?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800 g fruit mix contains apples and pears in the ratio 7:1. Find the mass of pears.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£90 in the ratio 9:1. How much does Jo receive?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paths have lengths in the ratio 4:9. The longer is 35 m longer. Find their combined length.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Wire pieces A and B have lengths in the ratio 7:6. A is 84 cm long. Find the length of B.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Concentrate and water are mixed in the ratio 2:9. There is 675 ml of water. Find the total volume.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950 g mix contains oats and raisins in the ratio 10:9. Find the mass of each ingredient.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97480" y="7662672"/>
            <a:ext cx="1554480" cy="2743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3559A2"/>
                </a:solidFill>
                <a:latin typeface="Arial"/>
              </a:defRPr>
            </a:pPr>
            <a:r>
              <a:t>Try the next thread</a:t>
            </a:r>
          </a:p>
        </p:txBody>
      </p:sp>
      <p:sp>
        <p:nvSpPr>
          <p:cNvPr id="68" name="Progression curved arrow: Thread 1 to Thread 2"/>
          <p:cNvSpPr/>
          <p:nvPr/>
        </p:nvSpPr>
        <p:spPr>
          <a:xfrm>
            <a:off x="4297680" y="7680960"/>
            <a:ext cx="914400" cy="201168"/>
          </a:xfrm>
          <a:custGeom>
            <a:avLst/>
            <a:gdLst/>
            <a:ahLst/>
            <a:cxnLst/>
            <a:rect l="0" t="0" r="1000" b="240"/>
            <a:pathLst>
              <a:path w="1000" h="240" fill="none">
                <a:moveTo>
                  <a:pt x="0" y="210"/>
                </a:moveTo>
                <a:cubicBezTo>
                  <a:pt x="300" y="10"/>
                  <a:pt x="700" y="10"/>
                  <a:pt x="1000" y="160"/>
                </a:cubicBezTo>
              </a:path>
            </a:pathLst>
          </a:custGeom>
          <a:noFill/>
          <a:ln w="22860">
            <a:solidFill>
              <a:srgbClr val="3559A2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60920" y="7662672"/>
            <a:ext cx="1554480" cy="2743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754B87"/>
                </a:solidFill>
                <a:latin typeface="Arial"/>
              </a:defRPr>
            </a:pPr>
            <a:r>
              <a:t>Try the next thread</a:t>
            </a:r>
          </a:p>
        </p:txBody>
      </p:sp>
      <p:sp>
        <p:nvSpPr>
          <p:cNvPr id="70" name="Progression curved arrow: Thread 2 to Thread 3"/>
          <p:cNvSpPr/>
          <p:nvPr/>
        </p:nvSpPr>
        <p:spPr>
          <a:xfrm>
            <a:off x="8961120" y="7680960"/>
            <a:ext cx="914400" cy="201168"/>
          </a:xfrm>
          <a:custGeom>
            <a:avLst/>
            <a:gdLst/>
            <a:ahLst/>
            <a:cxnLst/>
            <a:rect l="0" t="0" r="1000" b="240"/>
            <a:pathLst>
              <a:path w="1000" h="240" fill="none">
                <a:moveTo>
                  <a:pt x="0" y="210"/>
                </a:moveTo>
                <a:cubicBezTo>
                  <a:pt x="300" y="10"/>
                  <a:pt x="700" y="10"/>
                  <a:pt x="1000" y="160"/>
                </a:cubicBezTo>
              </a:path>
            </a:pathLst>
          </a:custGeom>
          <a:noFill/>
          <a:ln w="22860">
            <a:solidFill>
              <a:srgbClr val="754B8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30-minute trip has walking and cycling times in the ratio 1:2. Find the cycling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charities receive money in the ratio 7:9. The second gets £108. How much is donated altogether?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tanks hold water in the ratio 1:11. The second holds 90 litres more. How much water is in the first?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buckets contain 20 litres of water in total, in the ratio 1:3. Find the amount in each bucket.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tray has 102 red and yellow plants in the ratio 8:9. How many plants are yellow?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Nuts and raisins are mixed in the ratio 11:7 by mass. There are 210 g of raisins. Find the total mass.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Ribbons A and B have lengths in the ratio 2:3. B is 12 cm longer than A. How long is ribbon B?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Mixing and baking times are in the ratio 1:5. Baking takes 25 minutes. How long does mixing take?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ribbons have a total length of 285 cm, in the ratio 8:11. Find the difference in their lengths.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Noor and Will receive money in the ratio 7:4. Will gets £48. Find Noor’s share.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sacks have masses in the ratio 7:3. The heavier weighs 16 kg more. How much does the lighter weigh?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11:2. There are 143 adult tickets. How many more adult tickets are sold?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Dark and milk chocolates are in the ratio 1:4. There are 36 more milk than dark. How many are milk?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in the ratio 2:5. There are 9 litres more white than blue. How much is blue?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Leah and Omar receive money in the ratio 3:11. Leah gets £64 less than Omar. How much does Omar get?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bread mix has white and brown flour in the ratio 4:3. Find the mass of brown flour.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total 56 m, with lengths in the ratio 5:3. Find the length of B.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Work and breaks take 90 minutes in total, in the ratio 7:2. How much longer is spent working than on breaks?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97480" y="7662672"/>
            <a:ext cx="1554480" cy="2743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3559A2"/>
                </a:solidFill>
                <a:latin typeface="Arial"/>
              </a:defRPr>
            </a:pPr>
            <a:r>
              <a:t>Try the next thread</a:t>
            </a:r>
          </a:p>
        </p:txBody>
      </p:sp>
      <p:sp>
        <p:nvSpPr>
          <p:cNvPr id="68" name="Progression curved arrow: Thread 1 to Thread 2"/>
          <p:cNvSpPr/>
          <p:nvPr/>
        </p:nvSpPr>
        <p:spPr>
          <a:xfrm>
            <a:off x="4297680" y="7680960"/>
            <a:ext cx="914400" cy="201168"/>
          </a:xfrm>
          <a:custGeom>
            <a:avLst/>
            <a:gdLst/>
            <a:ahLst/>
            <a:cxnLst/>
            <a:rect l="0" t="0" r="1000" b="240"/>
            <a:pathLst>
              <a:path w="1000" h="240" fill="none">
                <a:moveTo>
                  <a:pt x="0" y="210"/>
                </a:moveTo>
                <a:cubicBezTo>
                  <a:pt x="300" y="10"/>
                  <a:pt x="700" y="10"/>
                  <a:pt x="1000" y="160"/>
                </a:cubicBezTo>
              </a:path>
            </a:pathLst>
          </a:custGeom>
          <a:noFill/>
          <a:ln w="22860">
            <a:solidFill>
              <a:srgbClr val="3559A2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60920" y="7662672"/>
            <a:ext cx="1554480" cy="2743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754B87"/>
                </a:solidFill>
                <a:latin typeface="Arial"/>
              </a:defRPr>
            </a:pPr>
            <a:r>
              <a:t>Try the next thread</a:t>
            </a:r>
          </a:p>
        </p:txBody>
      </p:sp>
      <p:sp>
        <p:nvSpPr>
          <p:cNvPr id="70" name="Progression curved arrow: Thread 2 to Thread 3"/>
          <p:cNvSpPr/>
          <p:nvPr/>
        </p:nvSpPr>
        <p:spPr>
          <a:xfrm>
            <a:off x="8961120" y="7680960"/>
            <a:ext cx="914400" cy="201168"/>
          </a:xfrm>
          <a:custGeom>
            <a:avLst/>
            <a:gdLst/>
            <a:ahLst/>
            <a:cxnLst/>
            <a:rect l="0" t="0" r="1000" b="240"/>
            <a:pathLst>
              <a:path w="1000" h="240" fill="none">
                <a:moveTo>
                  <a:pt x="0" y="210"/>
                </a:moveTo>
                <a:cubicBezTo>
                  <a:pt x="300" y="10"/>
                  <a:pt x="700" y="10"/>
                  <a:pt x="1000" y="160"/>
                </a:cubicBezTo>
              </a:path>
            </a:pathLst>
          </a:custGeom>
          <a:noFill/>
          <a:ln w="22860">
            <a:solidFill>
              <a:srgbClr val="754B8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sharing and missing amounts</dc:title>
  <dc:subject/>
  <dc:creator>Maths teaching resources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