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000.xml" ContentType="application/vnd.openxmlformats-officedocument.presentationml.slide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4" r:id="rId16"/>
    <p:sldId id="257" r:id="rId9"/>
    <p:sldId id="258" r:id="rId10"/>
    <p:sldId id="259" r:id="rId11"/>
    <p:sldId id="265" r:id="rId17"/>
    <p:sldId id="260" r:id="rId12"/>
    <p:sldId id="261" r:id="rId13"/>
    <p:sldId id="262" r:id="rId14"/>
    <p:sldId id="263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000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002.xml"/><Relationship Id="rId10" Type="http://schemas.openxmlformats.org/officeDocument/2006/relationships/slide" Target="slides/slide1003.xml"/><Relationship Id="rId11" Type="http://schemas.openxmlformats.org/officeDocument/2006/relationships/slide" Target="slides/slide1004.xml"/><Relationship Id="rId12" Type="http://schemas.openxmlformats.org/officeDocument/2006/relationships/slide" Target="slides/slide1005.xml"/><Relationship Id="rId13" Type="http://schemas.openxmlformats.org/officeDocument/2006/relationships/slide" Target="slides/slide1006.xml"/><Relationship Id="rId14" Type="http://schemas.openxmlformats.org/officeDocument/2006/relationships/slide" Target="slides/slide1007.xml"/><Relationship Id="rId15" Type="http://schemas.openxmlformats.org/officeDocument/2006/relationships/slide" Target="slides/slide1008.xml"/><Relationship Id="rId16" Type="http://schemas.openxmlformats.org/officeDocument/2006/relationships/slide" Target="slides/slide1001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Initial assessment; no hints or answers on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Student instruction: **Follow each calculation. Explain what each sign means.**</a:t>
            </a:r>
          </a:p>
          <a:p/>
          <a:p>
            <a:r>
              <a:t>| Step | Thread 1: Guided | Thread 2: Core | Thread 3: Depth |</a:t>
            </a:r>
          </a:p>
          <a:p>
            <a:r>
              <a:t>| --- | --- | --- | --- |</a:t>
            </a:r>
          </a:p>
          <a:p>
            <a:r>
              <a:t>| Question | −4 + 7 | 6 − (−3) | −5 + 8 − (−2) |</a:t>
            </a:r>
          </a:p>
          <a:p>
            <a:r>
              <a:t>| Read the Signs | Start at −4; add positive 7. | Start at 6; subtract negative 3. | Add positive 8, then subtract negative 2. |</a:t>
            </a:r>
          </a:p>
          <a:p>
            <a:r>
              <a:t>| Rewrite the Calculation | −4 + 7 is already an addition. | 6 − (−3) = 6 + 3. | −5 + 8 + 2. |</a:t>
            </a:r>
          </a:p>
          <a:p>
            <a:r>
              <a:t>| Calculate | Move 4 right to 0, then 3 right: 3. | 6 + 3 = 9. | −5 + 8 = 3; 3 + 2 = 5. |</a:t>
            </a:r>
          </a:p>
          <a:p>
            <a:r>
              <a:t>| Check the Answer | 3 − 7 = −4. Answer: 3. | 9 + (−3) = 6. Answer: 9. | 5 + (−2) = 3; 3 − 8 = −5. Answer: 5. |</a:t>
            </a:r>
          </a:p>
          <a:p/>
          <a:p>
            <a:r>
              <a:t>Diagram specification: Three editable number lines, one per demo column, with integer ticks and a labelled zero. Guided: range −5 to 4, start −4, rightward jumps +4 to 0 and +3 to 3; bracket the jumps as +7. Core: range 0 to 10, start 6 and a rightward jump to 9 labelled “subtract −3 = add 3”. Depth: range −6 to 6, start −5, rightward jump +8 to 3, then +2 to 5. Mark each start and endpoint. Use equal tick spacing, visible arrowheads and labels clear of ticks. These accompany the worked calculation; students need not draw a line for every question.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Student instruction: **Work out each calculation. Show your working.**</a:t>
            </a:r>
          </a:p>
          <a:p/>
          <a:p>
            <a:r>
              <a:t>| Step | Thread 1: Guided | Thread 2: Core | Thread 3: Depth |</a:t>
            </a:r>
          </a:p>
          <a:p>
            <a:r>
              <a:t>| --- | --- | --- | --- |</a:t>
            </a:r>
          </a:p>
          <a:p>
            <a:r>
              <a:t>| Question | −6 + 9 | 4 + (−7) | −8 + 5 − (−4) |</a:t>
            </a:r>
          </a:p>
          <a:p>
            <a:r>
              <a:t>| Read the Signs | Identify the operation signs and the signs belonging to the numbers. | Identify the operation signs and the signs belonging to the numbers. | Identify the operation signs and the signs belonging to the numbers. |</a:t>
            </a:r>
          </a:p>
          <a:p>
            <a:r>
              <a:t>| Rewrite the Calculation | Replace subtraction by addition of the opposite where useful. | Replace subtraction by addition of the opposite where useful. | Replace subtraction by addition of the opposite where useful. |</a:t>
            </a:r>
          </a:p>
          <a:p>
            <a:r>
              <a:t>| Calculate | Work from left to right. Show each result. | Work from left to right. Show each result. | Work from left to right. Show each result. |</a:t>
            </a:r>
          </a:p>
          <a:p>
            <a:r>
              <a:t>| Check the Answer | Undo the last operation to check. Write the final answer. | Undo the last operation to check. Write the final answer. | Undo the last operation to check. Write the final answer. |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Student instruction: **Work out each calculation. Show your working.**</a:t>
            </a:r>
          </a:p>
          <a:p/>
          <a:p>
            <a:r>
              <a:t>| Step | Thread 1: Guided | Thread 2: Core | Thread 3: Depth |</a:t>
            </a:r>
          </a:p>
          <a:p>
            <a:r>
              <a:t>| --- | --- | --- | --- |</a:t>
            </a:r>
          </a:p>
          <a:p>
            <a:r>
              <a:t>| Question | 3 − 8 | −5 − (−9) | 7 − (−2) + (−12) |</a:t>
            </a:r>
          </a:p>
          <a:p>
            <a:r>
              <a:t>| Read the Signs | Identify the operation signs and the signs belonging to the numbers. | Identify the operation signs and the signs belonging to the numbers. | Identify the operation signs and the signs belonging to the numbers. |</a:t>
            </a:r>
          </a:p>
          <a:p>
            <a:r>
              <a:t>| Rewrite the Calculation | Replace subtraction by addition of the opposite where useful. | Replace subtraction by addition of the opposite where useful. | Replace subtraction by addition of the opposite where useful. |</a:t>
            </a:r>
          </a:p>
          <a:p>
            <a:r>
              <a:t>| Calculate | Work from left to right. Show each result. | Work from left to right. Show each result. | Work from left to right. Show each result. |</a:t>
            </a:r>
          </a:p>
          <a:p>
            <a:r>
              <a:t>| Check the Answer | Undo the last operation to check. Write the final answer. | Undo the last operation to check. Write the final answer. | Undo the last operation to check. Write the final answer. |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dedicated guide slide precedes the worked demo so that the rules and examples remain readable. Existing question content and stable S01–S07 references are unchanged. This gives nine physical question-deck slides.</a:t>
            </a:r>
          </a:p>
          <a:p/>
          <a:p>
            <a:r>
              <a:t>Title: **Signed numbers: addition and subtraction**</a:t>
            </a:r>
          </a:p>
          <a:p>
            <a:r>
              <a:t>Subtitle: **Rules recap • Start at the first number.**</a:t>
            </a:r>
          </a:p>
          <a:p/>
          <a:p>
            <a:r>
              <a:t>| Rule | What to do | Example |</a:t>
            </a:r>
          </a:p>
          <a:p>
            <a:r>
              <a:t>| --- | --- | --- |</a:t>
            </a:r>
          </a:p>
          <a:p>
            <a:r>
              <a:t>| Add a positive number | Move right: the value increases. | −4 + 7 = 3 |</a:t>
            </a:r>
          </a:p>
          <a:p>
            <a:r>
              <a:t>| Add a negative number | Move left: the value decreases. | 4 + (−7) = 4 − 7 = −3 |</a:t>
            </a:r>
          </a:p>
          <a:p>
            <a:r>
              <a:t>| Subtract a positive number | Move left: the value decreases. | 3 − 8 = −5 |</a:t>
            </a:r>
          </a:p>
          <a:p>
            <a:r>
              <a:t>| Subtract a negative number | Move right: subtracting a negative is adding a positive. | 6 − (−3) = 6 + 3 = 9 |</a:t>
            </a:r>
          </a:p>
          <a:p/>
          <a:p>
            <a:r>
              <a:t>Visible explanation: **In 6 − (−3), the first − means subtract; the − inside brackets belongs to the number −3.**</a:t>
            </a:r>
          </a:p>
          <a:p/>
          <a:p>
            <a:r>
              <a:t>Visible general rule: **To subtract a number, add its opposite. Keep the first number unchanged.**</a:t>
            </a:r>
          </a:p>
          <a:p/>
          <a:p>
            <a:r>
              <a:t>Visible caution with contrast: **Two negative numbers do not automatically give a positive answer: −4 + (−3) = −7.**</a:t>
            </a:r>
          </a:p>
          <a:p/>
          <a:p>
            <a:r>
              <a:t>These are addition/subtraction rules. Do not import the multiplication/division “same signs/different signs” shortcut into this set. The next slide retains the complete worked grid and editable number lines.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incorrect student work. Corrections: see M13-SE in the HTML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19456"/>
            <a:ext cx="13807440" cy="45720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3132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 — spot the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0664"/>
            <a:ext cx="13807440" cy="411480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1836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26472"/>
                </a:solidFill>
                <a:latin typeface="Arial"/>
              </a:defRPr>
            </a:pPr>
            <a:r>
              <a:t>Each student’s working contains a mistake. Find it, correct the working and give the right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863840"/>
            <a:ext cx="13716000" cy="256032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1188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M13-SE  •  Record your working in your booklet or webapp.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234440"/>
            <a:ext cx="4588764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261872"/>
            <a:ext cx="4474464" cy="347472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719072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755648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1.  −3 + 5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31136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−3 + 5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−3 − 5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26080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3721608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758184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2.  4 − 9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23367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4 − 9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581144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9 − 4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928616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724144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5760720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3.  −4 − 6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623620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−4 − 6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6583680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4 + 6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693115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4816" y="1234440"/>
            <a:ext cx="4588764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8824" y="1261872"/>
            <a:ext cx="4474464" cy="347472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4816" y="1719072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6256" y="1755648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1.  6 + (−10)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4856" y="2231136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6 + (−10)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24856" y="257860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6 + 10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4856" y="2926080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16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4816" y="3721608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96256" y="3758184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2.  −6 − (−18)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4856" y="423367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−6 − (−18)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4856" y="4581144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−6 − 18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4856" y="4928616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−24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4816" y="5724144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96256" y="5760720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3.  −7 + (−4)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4856" y="623620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−7 + (−4)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4856" y="6583680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7 + 4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4856" y="693115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25584" y="1234440"/>
            <a:ext cx="4588764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89592" y="1261872"/>
            <a:ext cx="4474464" cy="347472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5584" y="1719072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7024" y="1755648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1.  −4 − (−7) + (−6)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5624" y="2231136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−4 − (−7) + (−6)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45624" y="257860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−4 + 7 + 6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45624" y="2926080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3 + 6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45624" y="327355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25584" y="3721608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17024" y="3758184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2.  8 + (−12) − (−5)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45624" y="423367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8 + (−12) − (−5)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45624" y="4581144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8 − 12 − 5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5624" y="4928616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−4 − 5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45624" y="527608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25584" y="5724144"/>
            <a:ext cx="4588764" cy="19293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17024" y="5760720"/>
            <a:ext cx="4392168" cy="402336"/>
          </a:xfrm>
          <a:prstGeom prst="rect">
            <a:avLst/>
          </a:prstGeom>
          <a:noFill/>
        </p:spPr>
        <p:txBody>
          <a:bodyPr wrap="square" tIns="36576" bIns="36576" anchor="t">
            <a:sp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A"/>
                </a:solidFill>
                <a:latin typeface="Arial"/>
              </a:defRPr>
            </a:pPr>
            <a:r>
              <a:t>3.  −9 − 6 + 18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5624" y="6236208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−9 − 6 + 18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45624" y="6583680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−3 + 18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5624" y="6931152"/>
            <a:ext cx="40233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A"/>
                </a:solidFill>
                <a:latin typeface="Arial"/>
              </a:defRPr>
            </a:pPr>
            <a:r>
              <a:t>= 15</a:t>
            </a:r>
          </a:p>
        </p:txBody>
      </p:sp>
    </p:spTree>
  </p:cSld>
  <p:clrMapOvr>
    <a:masterClrMapping/>
  </p:clrMapOvr>
</p:sld>
</file>

<file path=ppt/slides/slide10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Initial assessment • Work out all four questions. Show your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67208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74520"/>
            <a:ext cx="6309360" cy="59436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31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82B3A"/>
                </a:solidFill>
                <a:latin typeface="Arial"/>
              </a:defRPr>
            </a:pPr>
            <a:r>
              <a:t>1.  −2 + 9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691640"/>
            <a:ext cx="67208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16952" y="1874520"/>
            <a:ext cx="6309360" cy="59436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31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82B3A"/>
                </a:solidFill>
                <a:latin typeface="Arial"/>
              </a:defRPr>
            </a:pPr>
            <a:r>
              <a:t>2.  6 − 11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80560"/>
            <a:ext cx="67208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4663440"/>
            <a:ext cx="6309360" cy="59436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31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82B3A"/>
                </a:solidFill>
                <a:latin typeface="Arial"/>
              </a:defRPr>
            </a:pPr>
            <a:r>
              <a:t>3.  −7 − (−10)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4480560"/>
            <a:ext cx="67208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16952" y="4663440"/>
            <a:ext cx="6309360" cy="59436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31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82B3A"/>
                </a:solidFill>
                <a:latin typeface="Arial"/>
              </a:defRPr>
            </a:pPr>
            <a:r>
              <a:t>4.  5 + (−9) − (−6)</a:t>
            </a:r>
          </a:p>
        </p:txBody>
      </p:sp>
    </p:spTree>
  </p:cSld>
  <p:clrMapOvr>
    <a:masterClrMapping/>
  </p:clrMapOvr>
</p:sld>
</file>

<file path=ppt/slides/slide1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Rules recap • Start at the first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812280" cy="178308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6510528" cy="3931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6B73"/>
                </a:solidFill>
                <a:latin typeface="Arial"/>
              </a:defRPr>
            </a:pPr>
            <a:r>
              <a:t>Add a positive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6510528" cy="50292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B3A"/>
                </a:solidFill>
                <a:latin typeface="Arial"/>
              </a:defRPr>
            </a:pPr>
            <a:r>
              <a:t>Move right: the value increases.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50591"/>
            <a:ext cx="6510528" cy="4389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A"/>
                </a:solidFill>
                <a:latin typeface="Arial"/>
              </a:defRPr>
            </a:pPr>
            <a:r>
              <a:t>−4 + 7 =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1280160"/>
            <a:ext cx="6812280" cy="178308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389888"/>
            <a:ext cx="6510528" cy="3931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3559A2"/>
                </a:solidFill>
                <a:latin typeface="Arial"/>
              </a:defRPr>
            </a:pPr>
            <a:r>
              <a:t>Add a negative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883664"/>
            <a:ext cx="6510528" cy="50292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B3A"/>
                </a:solidFill>
                <a:latin typeface="Arial"/>
              </a:defRPr>
            </a:pPr>
            <a:r>
              <a:t>Move left: the value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450591"/>
            <a:ext cx="6510528" cy="4389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A"/>
                </a:solidFill>
                <a:latin typeface="Arial"/>
              </a:defRPr>
            </a:pPr>
            <a:r>
              <a:t>4 + (−7) = 4 − 7 = −3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6812280" cy="178308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10128"/>
            <a:ext cx="6510528" cy="3931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6B73"/>
                </a:solidFill>
                <a:latin typeface="Arial"/>
              </a:defRPr>
            </a:pPr>
            <a:r>
              <a:t>Subtract a positive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803904"/>
            <a:ext cx="6510528" cy="50292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B3A"/>
                </a:solidFill>
                <a:latin typeface="Arial"/>
              </a:defRPr>
            </a:pPr>
            <a:r>
              <a:t>Move left: the value decreases.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70832"/>
            <a:ext cx="6510528" cy="4389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A"/>
                </a:solidFill>
                <a:latin typeface="Arial"/>
              </a:defRPr>
            </a:pPr>
            <a:r>
              <a:t>3 − 8 = −5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3200400"/>
            <a:ext cx="6812280" cy="178308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3310128"/>
            <a:ext cx="6510528" cy="3931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3559A2"/>
                </a:solidFill>
                <a:latin typeface="Arial"/>
              </a:defRPr>
            </a:pPr>
            <a:r>
              <a:t>Subtract a negative number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803904"/>
            <a:ext cx="6510528" cy="50292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2B3A"/>
                </a:solidFill>
                <a:latin typeface="Arial"/>
              </a:defRPr>
            </a:pPr>
            <a:r>
              <a:t>Move right: subtracting a negative is adding a positive.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370832"/>
            <a:ext cx="6510528" cy="4389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A"/>
                </a:solidFill>
                <a:latin typeface="Arial"/>
              </a:defRPr>
            </a:pPr>
            <a:r>
              <a:t>6 − (−3) = 6 + 3 =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276088"/>
            <a:ext cx="13716000" cy="6400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A"/>
                </a:solidFill>
                <a:latin typeface="Arial"/>
              </a:defRPr>
            </a:pPr>
            <a:r>
              <a:t>In 6 − (−3), the first − means subtract;</a:t>
            </a:r>
          </a:p>
          <a:p>
            <a:pPr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A"/>
                </a:solidFill>
                <a:latin typeface="Arial"/>
              </a:defRPr>
            </a:pPr>
            <a:r>
              <a:t>the − inside brackets belongs to the number −3.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080760"/>
            <a:ext cx="13898880" cy="704088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199632"/>
            <a:ext cx="13624560" cy="4480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82B3A"/>
                </a:solidFill>
                <a:latin typeface="Arial"/>
              </a:defRPr>
            </a:pPr>
            <a:r>
              <a:t>To subtract a number, add its opposite. Keep the first number unchanged.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7022592"/>
            <a:ext cx="13716000" cy="69494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A"/>
                </a:solidFill>
                <a:latin typeface="Arial"/>
              </a:defRPr>
            </a:pPr>
            <a:r>
              <a:t>Two negative numbers do not automatically give a positive answer:</a:t>
            </a:r>
          </a:p>
          <a:p>
            <a:pPr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2B3A"/>
                </a:solidFill>
                <a:latin typeface="Arial"/>
              </a:defRPr>
            </a:pPr>
            <a:r>
              <a:t>−4 + (−3) = −7.</a:t>
            </a:r>
          </a:p>
        </p:txBody>
      </p:sp>
    </p:spTree>
  </p:cSld>
  <p:clrMapOvr>
    <a:masterClrMapping/>
  </p:clrMapOvr>
</p:sld>
</file>

<file path=ppt/slides/slide1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Worked demo • Follow each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13807440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82B3A"/>
                </a:solidFill>
                <a:latin typeface="Arial"/>
              </a:defRPr>
            </a:pPr>
            <a:r>
              <a:t>Adding a negative moves left: 4 + (−7) = 4 − 7 = −3.</a:t>
            </a:r>
          </a:p>
          <a:p>
            <a:pPr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82B3A"/>
                </a:solidFill>
                <a:latin typeface="Arial"/>
              </a:defRPr>
            </a:pPr>
            <a:r>
              <a:t>Subtracting a negative moves right: 6 − (−3) = 6 + 3 = 9.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21408" y="1709928"/>
            <a:ext cx="4040123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39" y="174193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4392" y="1709928"/>
            <a:ext cx="4040123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1824" y="174193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7376" y="1709928"/>
            <a:ext cx="4040123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74808" y="174193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157984"/>
            <a:ext cx="1801367" cy="68580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249424"/>
            <a:ext cx="1691639" cy="53035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The Full Question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21408" y="2157984"/>
            <a:ext cx="4062984" cy="68580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240279"/>
            <a:ext cx="3916680" cy="53949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−4 + 7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4392" y="2157984"/>
            <a:ext cx="4062984" cy="68580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7544" y="2240279"/>
            <a:ext cx="3916680" cy="53949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6 − (−3)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7376" y="2157984"/>
            <a:ext cx="4062984" cy="68580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20528" y="2240279"/>
            <a:ext cx="3916680" cy="53949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−5 + 8 − (−2)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843784"/>
            <a:ext cx="1801367" cy="77724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" y="2935224"/>
            <a:ext cx="1691639" cy="6217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Read the Signs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08" y="2843784"/>
            <a:ext cx="4062984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926079"/>
            <a:ext cx="3916680" cy="6309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Start at −4; add positive 7.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4392" y="2843784"/>
            <a:ext cx="4062984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7544" y="2926079"/>
            <a:ext cx="3916680" cy="6309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Start at 6; subtract negative 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47376" y="2843784"/>
            <a:ext cx="4062984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20528" y="2926079"/>
            <a:ext cx="3916680" cy="6309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Add positive 8, then subtract negative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621024"/>
            <a:ext cx="1801367" cy="77724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3712463"/>
            <a:ext cx="1691639" cy="6217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Rewrite the Calculation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21408" y="3621024"/>
            <a:ext cx="4062984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94560" y="3703320"/>
            <a:ext cx="3916680" cy="6309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−4 + 7 is already an addition.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4392" y="3621024"/>
            <a:ext cx="4062984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7544" y="3703320"/>
            <a:ext cx="3916680" cy="6309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6 − (−3) = 6 + 3.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47376" y="3621024"/>
            <a:ext cx="4062984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20528" y="3703320"/>
            <a:ext cx="3916680" cy="6309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−5 + 8 + 2.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398264"/>
            <a:ext cx="1801367" cy="192024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4" y="4489703"/>
            <a:ext cx="1691639" cy="176479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Calculate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4398264"/>
            <a:ext cx="4062984" cy="1920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94560" y="4480559"/>
            <a:ext cx="3916680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Move 4 right to 0, then 3 right: 3.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95728" y="5916168"/>
            <a:ext cx="3514344" cy="0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95728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203196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786210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93678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−4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176693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84161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−3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56717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37464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−2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57658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765126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−1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348141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192693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82B3A"/>
                </a:solidFill>
                <a:latin typeface="Arial"/>
              </a:defRPr>
            </a:pPr>
            <a:r>
              <a:t>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738624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583176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12910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973658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2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519589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64141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3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910072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75462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4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2786210" y="5605272"/>
            <a:ext cx="0" cy="256032"/>
          </a:xfrm>
          <a:prstGeom prst="line">
            <a:avLst/>
          </a:prstGeom>
          <a:ln w="12700">
            <a:solidFill>
              <a:srgbClr val="17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786210" y="5605272"/>
            <a:ext cx="1561931" cy="0"/>
          </a:xfrm>
          <a:prstGeom prst="line">
            <a:avLst/>
          </a:prstGeom>
          <a:ln w="25400">
            <a:solidFill>
              <a:srgbClr val="176B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48141" y="5605272"/>
            <a:ext cx="0" cy="256032"/>
          </a:xfrm>
          <a:prstGeom prst="line">
            <a:avLst/>
          </a:prstGeom>
          <a:ln w="12700">
            <a:solidFill>
              <a:srgbClr val="17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231136" y="5010912"/>
            <a:ext cx="3843528" cy="24688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6B73"/>
                </a:solidFill>
                <a:latin typeface="Arial"/>
              </a:defRPr>
            </a:pPr>
            <a:r>
              <a:t>+4 then +3: total +7</a:t>
            </a:r>
          </a:p>
        </p:txBody>
      </p:sp>
      <p:cxnSp>
        <p:nvCxnSpPr>
          <p:cNvPr id="67" name="Connector 66"/>
          <p:cNvCxnSpPr/>
          <p:nvPr/>
        </p:nvCxnSpPr>
        <p:spPr>
          <a:xfrm flipV="1">
            <a:off x="4348141" y="5312664"/>
            <a:ext cx="0" cy="548640"/>
          </a:xfrm>
          <a:prstGeom prst="line">
            <a:avLst/>
          </a:prstGeom>
          <a:ln w="12700">
            <a:solidFill>
              <a:srgbClr val="17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348141" y="5312664"/>
            <a:ext cx="1171448" cy="0"/>
          </a:xfrm>
          <a:prstGeom prst="line">
            <a:avLst/>
          </a:prstGeom>
          <a:ln w="25400">
            <a:solidFill>
              <a:srgbClr val="176B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519589" y="5312664"/>
            <a:ext cx="0" cy="548640"/>
          </a:xfrm>
          <a:prstGeom prst="line">
            <a:avLst/>
          </a:prstGeom>
          <a:ln w="12700">
            <a:solidFill>
              <a:srgbClr val="17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231136" y="5276088"/>
            <a:ext cx="3843528" cy="24688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6B73"/>
                </a:solidFill>
                <a:latin typeface="Arial"/>
              </a:defRPr>
            </a:pPr>
          </a:p>
        </p:txBody>
      </p:sp>
      <p:sp>
        <p:nvSpPr>
          <p:cNvPr id="71" name="Rectangle 70"/>
          <p:cNvSpPr/>
          <p:nvPr/>
        </p:nvSpPr>
        <p:spPr>
          <a:xfrm>
            <a:off x="6184392" y="4398264"/>
            <a:ext cx="4062984" cy="1920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57544" y="4480559"/>
            <a:ext cx="3916680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6 + 3 = 9.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58712" y="5916168"/>
            <a:ext cx="3514344" cy="0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458712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30326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82B3A"/>
                </a:solidFill>
                <a:latin typeface="Arial"/>
              </a:defRPr>
            </a:pPr>
            <a:r>
              <a:t>0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81014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654698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1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161580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006132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2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513015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7357567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3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64449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709001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4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8215883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8060436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5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567318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8411870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6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8918752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876330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7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270187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114739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8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621621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466173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9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7305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817608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10</a:t>
            </a:r>
          </a:p>
        </p:txBody>
      </p:sp>
      <p:cxnSp>
        <p:nvCxnSpPr>
          <p:cNvPr id="96" name="Connector 95"/>
          <p:cNvCxnSpPr/>
          <p:nvPr/>
        </p:nvCxnSpPr>
        <p:spPr>
          <a:xfrm flipV="1">
            <a:off x="8567318" y="5605272"/>
            <a:ext cx="0" cy="256032"/>
          </a:xfrm>
          <a:prstGeom prst="line">
            <a:avLst/>
          </a:prstGeom>
          <a:ln w="12700">
            <a:solidFill>
              <a:srgbClr val="3559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567318" y="5605272"/>
            <a:ext cx="1054303" cy="0"/>
          </a:xfrm>
          <a:prstGeom prst="line">
            <a:avLst/>
          </a:prstGeom>
          <a:ln w="25400">
            <a:solidFill>
              <a:srgbClr val="3559A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621621" y="5605272"/>
            <a:ext cx="0" cy="256032"/>
          </a:xfrm>
          <a:prstGeom prst="line">
            <a:avLst/>
          </a:prstGeom>
          <a:ln w="12700">
            <a:solidFill>
              <a:srgbClr val="3559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6294120" y="5010912"/>
            <a:ext cx="3843528" cy="24688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559A2"/>
                </a:solidFill>
                <a:latin typeface="Arial"/>
              </a:defRPr>
            </a:pPr>
            <a:r>
              <a:t>subtract −3 = add 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47376" y="4398264"/>
            <a:ext cx="4062984" cy="19202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320528" y="4480559"/>
            <a:ext cx="3916680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−5 + 8 = 3; 3 + 2 = 5.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0521696" y="5916168"/>
            <a:ext cx="3514344" cy="0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052169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1032916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−6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0814557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10622025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−5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11107420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0914888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−4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11400282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11207750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−3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11693143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11500611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−2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1198600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1179347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−1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2278868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12123420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82B3A"/>
                </a:solidFill>
                <a:latin typeface="Arial"/>
              </a:defRPr>
            </a:pPr>
            <a:r>
              <a:t>0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2571729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12416281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1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12864592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12709144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2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3157454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13002006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3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13450316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13294868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4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3743177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3587729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5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4036040" y="5879592"/>
            <a:ext cx="0" cy="73152"/>
          </a:xfrm>
          <a:prstGeom prst="line">
            <a:avLst/>
          </a:prstGeom>
          <a:ln w="12700">
            <a:solidFill>
              <a:srgbClr val="182B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13880592" y="5980176"/>
            <a:ext cx="310896" cy="201168"/>
          </a:xfrm>
          <a:prstGeom prst="rect">
            <a:avLst/>
          </a:prstGeom>
          <a:noFill/>
        </p:spPr>
        <p:txBody>
          <a:bodyPr wrap="square" lIns="0" rIns="0" tIns="22860" bIns="22860">
            <a:spAutoFit/>
          </a:bodyPr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82B3A"/>
                </a:solidFill>
                <a:latin typeface="Arial"/>
              </a:defRPr>
            </a:pPr>
            <a:r>
              <a:t>6</a:t>
            </a:r>
          </a:p>
        </p:txBody>
      </p:sp>
      <p:cxnSp>
        <p:nvCxnSpPr>
          <p:cNvPr id="129" name="Connector 128"/>
          <p:cNvCxnSpPr/>
          <p:nvPr/>
        </p:nvCxnSpPr>
        <p:spPr>
          <a:xfrm flipV="1">
            <a:off x="10814557" y="5605272"/>
            <a:ext cx="0" cy="256032"/>
          </a:xfrm>
          <a:prstGeom prst="line">
            <a:avLst/>
          </a:prstGeom>
          <a:ln w="12700">
            <a:solidFill>
              <a:srgbClr val="754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0814557" y="5605272"/>
            <a:ext cx="2342897" cy="0"/>
          </a:xfrm>
          <a:prstGeom prst="line">
            <a:avLst/>
          </a:prstGeom>
          <a:ln w="25400">
            <a:solidFill>
              <a:srgbClr val="754B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3157454" y="5605272"/>
            <a:ext cx="0" cy="256032"/>
          </a:xfrm>
          <a:prstGeom prst="line">
            <a:avLst/>
          </a:prstGeom>
          <a:ln w="12700">
            <a:solidFill>
              <a:srgbClr val="754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0357104" y="5010912"/>
            <a:ext cx="3843528" cy="24688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54B87"/>
                </a:solidFill>
                <a:latin typeface="Arial"/>
              </a:defRPr>
            </a:pPr>
            <a:r>
              <a:t>+8, then +2</a:t>
            </a:r>
          </a:p>
        </p:txBody>
      </p:sp>
      <p:cxnSp>
        <p:nvCxnSpPr>
          <p:cNvPr id="133" name="Connector 132"/>
          <p:cNvCxnSpPr/>
          <p:nvPr/>
        </p:nvCxnSpPr>
        <p:spPr>
          <a:xfrm flipV="1">
            <a:off x="13157454" y="5312664"/>
            <a:ext cx="0" cy="548640"/>
          </a:xfrm>
          <a:prstGeom prst="line">
            <a:avLst/>
          </a:prstGeom>
          <a:ln w="12700">
            <a:solidFill>
              <a:srgbClr val="754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3157454" y="5312664"/>
            <a:ext cx="585723" cy="0"/>
          </a:xfrm>
          <a:prstGeom prst="line">
            <a:avLst/>
          </a:prstGeom>
          <a:ln w="25400">
            <a:solidFill>
              <a:srgbClr val="754B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3743177" y="5312664"/>
            <a:ext cx="0" cy="548640"/>
          </a:xfrm>
          <a:prstGeom prst="line">
            <a:avLst/>
          </a:prstGeom>
          <a:ln w="12700">
            <a:solidFill>
              <a:srgbClr val="754B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10357104" y="5276088"/>
            <a:ext cx="3843528" cy="24688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54B87"/>
                </a:solidFill>
                <a:latin typeface="Arial"/>
              </a:defRPr>
            </a:pPr>
          </a:p>
        </p:txBody>
      </p:sp>
      <p:sp>
        <p:nvSpPr>
          <p:cNvPr id="137" name="Rectangle 136"/>
          <p:cNvSpPr/>
          <p:nvPr/>
        </p:nvSpPr>
        <p:spPr>
          <a:xfrm>
            <a:off x="320040" y="6318504"/>
            <a:ext cx="1801367" cy="118872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74904" y="6409944"/>
            <a:ext cx="1691639" cy="10332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Check the Answer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21408" y="6318504"/>
            <a:ext cx="4062984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194560" y="6400800"/>
            <a:ext cx="3916680" cy="104241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3 − 7 = −4. Answer: 3.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184392" y="6318504"/>
            <a:ext cx="4062984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257544" y="6400800"/>
            <a:ext cx="3916680" cy="104241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9 + (−3) = 6. Answer: 9.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247376" y="6318504"/>
            <a:ext cx="4062984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320528" y="6400800"/>
            <a:ext cx="3916680" cy="104241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5 + (−2) = 3; 3 − 8 = −5. Answer: 5.</a:t>
            </a:r>
          </a:p>
        </p:txBody>
      </p:sp>
    </p:spTree>
  </p:cSld>
  <p:clrMapOvr>
    <a:masterClrMapping/>
  </p:clrMapOvr>
</p:sld>
</file>

<file path=ppt/slides/slide1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Step-by-step practice 1 • Show your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1408" y="1115568"/>
            <a:ext cx="4040123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39" y="114757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4392" y="1115568"/>
            <a:ext cx="4040123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1824" y="114757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7376" y="1115568"/>
            <a:ext cx="4040123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74808" y="114757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63624"/>
            <a:ext cx="1801367" cy="82296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" y="1655064"/>
            <a:ext cx="1691639" cy="6675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The Full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1408" y="1563624"/>
            <a:ext cx="4062984" cy="82296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1645920"/>
            <a:ext cx="3916680" cy="6766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−6 + 9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4392" y="1563624"/>
            <a:ext cx="4062984" cy="82296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7544" y="1645920"/>
            <a:ext cx="3916680" cy="6766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4 + (−7)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7376" y="1563624"/>
            <a:ext cx="4062984" cy="82296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20528" y="1645920"/>
            <a:ext cx="3916680" cy="6766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−8 + 5 − (−4)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386584"/>
            <a:ext cx="1801367" cy="1261872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" y="2478024"/>
            <a:ext cx="1691639" cy="110642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Read the Signs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1408" y="2386584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468879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Identify the operation signs and the signs belonging to the numbers.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4392" y="2386584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7544" y="2468879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Identify the operation signs and the signs belonging to the numbers.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47376" y="2386584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0528" y="2468879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Identify the operation signs and the signs belonging to the numbers.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648456"/>
            <a:ext cx="1801367" cy="1261872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" y="3739896"/>
            <a:ext cx="1691639" cy="110642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Rewrite the Calculation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21408" y="3648456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730752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Replace subtraction by addition of the opposite where useful.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4392" y="3648456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7544" y="3730752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Replace subtraction by addition of the opposite where useful.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7376" y="3648456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20528" y="3730752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Replace subtraction by addition of the opposite where useful.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910327"/>
            <a:ext cx="1801367" cy="1261872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" y="5001767"/>
            <a:ext cx="1691639" cy="110642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Calculate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21408" y="4910327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94560" y="4992623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Work from left to right. Show each result.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4392" y="4910327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7544" y="4992623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Work from left to right. Show each result.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47376" y="4910327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20528" y="4992623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Work from left to right. Show each result.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6172199"/>
            <a:ext cx="1801367" cy="1243584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4" y="6263639"/>
            <a:ext cx="1691639" cy="10881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Check the Answer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21408" y="6172199"/>
            <a:ext cx="4062984" cy="12435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94560" y="6254495"/>
            <a:ext cx="3916680" cy="10972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Undo the last operation to check. Write the final answer.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84392" y="6172199"/>
            <a:ext cx="4062984" cy="12435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57544" y="6254495"/>
            <a:ext cx="3916680" cy="10972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Undo the last operation to check. Write the final answer.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47376" y="6172199"/>
            <a:ext cx="4062984" cy="12435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20528" y="6254495"/>
            <a:ext cx="3916680" cy="10972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Undo the last operation to check. Write the final answer.</a:t>
            </a:r>
          </a:p>
        </p:txBody>
      </p:sp>
      <p:sp>
        <p:nvSpPr>
          <p:cNvPr id="53" name="Progression curved arrow: Thread 1 to Thread 2"/>
          <p:cNvSpPr/>
          <p:nvPr/>
        </p:nvSpPr>
        <p:spPr>
          <a:xfrm>
            <a:off x="5850635" y="7351125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rogression curved arrow: Thread 2 to Thread 3"/>
          <p:cNvSpPr/>
          <p:nvPr/>
        </p:nvSpPr>
        <p:spPr>
          <a:xfrm>
            <a:off x="9865783" y="7342631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Step-by-step practice 2 • Show your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M13-S03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1408" y="1115568"/>
            <a:ext cx="4040123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39" y="114757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4392" y="1115568"/>
            <a:ext cx="4040123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1824" y="114757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7376" y="1115568"/>
            <a:ext cx="4040123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74808" y="1147572"/>
            <a:ext cx="3980688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63624"/>
            <a:ext cx="1801367" cy="822960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" y="1655064"/>
            <a:ext cx="1691639" cy="6675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The Full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1408" y="1563624"/>
            <a:ext cx="4062984" cy="82296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1645920"/>
            <a:ext cx="3916680" cy="6766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3 − 8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4392" y="1563624"/>
            <a:ext cx="4062984" cy="82296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7544" y="1645920"/>
            <a:ext cx="3916680" cy="6766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−5 − (−9)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7376" y="1563624"/>
            <a:ext cx="4062984" cy="82296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20528" y="1645920"/>
            <a:ext cx="3916680" cy="67665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2B3A"/>
                </a:solidFill>
                <a:latin typeface="Arial"/>
              </a:defRPr>
            </a:pPr>
            <a:r>
              <a:t>7 − (−2) + (−12)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386584"/>
            <a:ext cx="1801367" cy="1261872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" y="2478024"/>
            <a:ext cx="1691639" cy="110642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Read the Signs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1408" y="2386584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468879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Identify the operation signs and the signs belonging to the numbers.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4392" y="2386584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7544" y="2468879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Identify the operation signs and the signs belonging to the numbers.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47376" y="2386584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0528" y="2468879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Identify the operation signs and the signs belonging to the numbers.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648456"/>
            <a:ext cx="1801367" cy="1261872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" y="3739896"/>
            <a:ext cx="1691639" cy="110642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Rewrite the Calculation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21408" y="3648456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730752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Replace subtraction by addition of the opposite where useful.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4392" y="3648456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7544" y="3730752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Replace subtraction by addition of the opposite where useful.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7376" y="3648456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20528" y="3730752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Replace subtraction by addition of the opposite where useful.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910327"/>
            <a:ext cx="1801367" cy="1261872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" y="5001767"/>
            <a:ext cx="1691639" cy="110642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Calculate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21408" y="4910327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94560" y="4992623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Work from left to right. Show each result.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4392" y="4910327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7544" y="4992623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Work from left to right. Show each result.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47376" y="4910327"/>
            <a:ext cx="4062984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20528" y="4992623"/>
            <a:ext cx="3916680" cy="1115568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Work from left to right. Show each result.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6172199"/>
            <a:ext cx="1801367" cy="1243584"/>
          </a:xfrm>
          <a:prstGeom prst="rect">
            <a:avLst/>
          </a:prstGeom>
          <a:solidFill>
            <a:srgbClr val="E8EDF1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4" y="6263639"/>
            <a:ext cx="1691639" cy="1088136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2B3A"/>
                </a:solidFill>
                <a:latin typeface="Arial"/>
              </a:defRPr>
            </a:pPr>
            <a:r>
              <a:t>Check the Answer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21408" y="6172199"/>
            <a:ext cx="4062984" cy="12435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94560" y="6254495"/>
            <a:ext cx="3916680" cy="10972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Undo the last operation to check. Write the final answer.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84392" y="6172199"/>
            <a:ext cx="4062984" cy="12435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57544" y="6254495"/>
            <a:ext cx="3916680" cy="10972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Undo the last operation to check. Write the final answer.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47376" y="6172199"/>
            <a:ext cx="4062984" cy="1243584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20528" y="6254495"/>
            <a:ext cx="3916680" cy="109728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78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A"/>
                </a:solidFill>
                <a:latin typeface="Arial"/>
              </a:defRPr>
            </a:pPr>
            <a:r>
              <a:t>Undo the last operation to check. Write the final answer.</a:t>
            </a:r>
          </a:p>
        </p:txBody>
      </p:sp>
      <p:sp>
        <p:nvSpPr>
          <p:cNvPr id="53" name="Progression curved arrow: Thread 1 to Thread 2"/>
          <p:cNvSpPr/>
          <p:nvPr/>
        </p:nvSpPr>
        <p:spPr>
          <a:xfrm>
            <a:off x="5850635" y="7351125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rogression curved arrow: Thread 2 to Thread 3"/>
          <p:cNvSpPr/>
          <p:nvPr/>
        </p:nvSpPr>
        <p:spPr>
          <a:xfrm>
            <a:off x="9865783" y="7342631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Independent practice 1 • Choose a column. Show your working and check your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4640580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115568"/>
            <a:ext cx="4640580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1091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115568"/>
            <a:ext cx="4640580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435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−3 + 8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5 − (−2)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−4 + 7 − (−3)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58775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2 − 7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3480" y="258775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7 + (−9)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258775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6 − 9 + 2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−6 + 4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−4 + (−6)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−5 + (−3) + 10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59943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−2 − 5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0" y="459943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7492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−8 − (−3)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459943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8 − (−2) − 13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−9 + 9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48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492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−5 − (−5)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6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−7 − (−4) + 1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661111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4 − 10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83480" y="661111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7492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0 + (−7)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6920" y="661111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3 + (−8) − (−5)</a:t>
            </a:r>
          </a:p>
        </p:txBody>
      </p:sp>
      <p:sp>
        <p:nvSpPr>
          <p:cNvPr id="49" name="Progression curved arrow: Thread 1 to Thread 2"/>
          <p:cNvSpPr/>
          <p:nvPr/>
        </p:nvSpPr>
        <p:spPr>
          <a:xfrm>
            <a:off x="4649723" y="7552294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rogression curved arrow: Thread 2 to Thread 3"/>
          <p:cNvSpPr/>
          <p:nvPr/>
        </p:nvSpPr>
        <p:spPr>
          <a:xfrm>
            <a:off x="9265327" y="7543800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Independent practice 2 • Choose a column. Show your working and check your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M13-S05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4640580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115568"/>
            <a:ext cx="4640580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1091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115568"/>
            <a:ext cx="4640580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435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−4 − 6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9 − (−4)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−6 + 9 + (−4)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58775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−11 + 11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3480" y="258775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−6 + (−7)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258775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4 − (−6) + (−10)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6 − 15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0 − (−9)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7 − 10 − (−5)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59943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−7 + 10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0" y="459943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7492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3 + (−8)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459943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−8 − (−2) − 1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−8 + 3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48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492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−3 − (−8)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6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−9 + 5 − (−7)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661111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5 − 12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83480" y="661111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7492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−10 − (−6)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6920" y="661111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5 + (−12) + 3</a:t>
            </a:r>
          </a:p>
        </p:txBody>
      </p:sp>
      <p:sp>
        <p:nvSpPr>
          <p:cNvPr id="49" name="Progression curved arrow: Thread 1 to Thread 2"/>
          <p:cNvSpPr/>
          <p:nvPr/>
        </p:nvSpPr>
        <p:spPr>
          <a:xfrm>
            <a:off x="4649723" y="7552294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rogression curved arrow: Thread 2 to Thread 3"/>
          <p:cNvSpPr/>
          <p:nvPr/>
        </p:nvSpPr>
        <p:spPr>
          <a:xfrm>
            <a:off x="9265327" y="7543800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Independent practice 3 • Choose a column. Show your working and check your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4640580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115568"/>
            <a:ext cx="4640580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1091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115568"/>
            <a:ext cx="4640580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435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−8 + 12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−9 + (−2)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10 − 14 + (−2)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58775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−5 − 4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3480" y="258775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8 − (−5)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258775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6 + (−9) − (−3)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−10 + 6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−7 − (−4)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−2 − (−8) + 5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59943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9 − 14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0" y="459943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7492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6 + (−11)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459943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−3 + (−6) − (−4)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7 − 16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48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492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−4 − (−10)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6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9 − (−3) + (−7)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661111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−12 + 12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83480" y="661111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7492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−12 − (−7)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6920" y="661111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−11 + 8 − 2</a:t>
            </a:r>
          </a:p>
        </p:txBody>
      </p:sp>
      <p:sp>
        <p:nvSpPr>
          <p:cNvPr id="49" name="Progression curved arrow: Thread 1 to Thread 2"/>
          <p:cNvSpPr/>
          <p:nvPr/>
        </p:nvSpPr>
        <p:spPr>
          <a:xfrm>
            <a:off x="4649723" y="7552294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rogression curved arrow: Thread 2 to Thread 3"/>
          <p:cNvSpPr/>
          <p:nvPr/>
        </p:nvSpPr>
        <p:spPr>
          <a:xfrm>
            <a:off x="9265327" y="7543800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3152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3990320" cy="45720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A"/>
                </a:solidFill>
                <a:latin typeface="Arial"/>
              </a:defRPr>
            </a:pPr>
            <a:r>
              <a:t>Signed numbers: addition and subtraction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04088"/>
            <a:ext cx="13990320" cy="34747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5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26472"/>
                </a:solidFill>
                <a:latin typeface="Arial"/>
              </a:defRPr>
            </a:pPr>
            <a:r>
              <a:t>Independent practice 4 • Choose a column. Show your working and check your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973568"/>
            <a:ext cx="1078992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GCSE Maths revision • No calculator • Show your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973568"/>
            <a:ext cx="3108960" cy="210312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155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26472"/>
                </a:solidFill>
                <a:latin typeface="Arial"/>
              </a:defRPr>
            </a:pPr>
            <a:r>
              <a:t>M13-S07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4640580" cy="420624"/>
          </a:xfrm>
          <a:prstGeom prst="rect">
            <a:avLst/>
          </a:prstGeom>
          <a:solidFill>
            <a:srgbClr val="17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1115568"/>
            <a:ext cx="4640580" cy="420624"/>
          </a:xfrm>
          <a:prstGeom prst="rect">
            <a:avLst/>
          </a:prstGeom>
          <a:solidFill>
            <a:srgbClr val="3559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1091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115568"/>
            <a:ext cx="4640580" cy="420624"/>
          </a:xfrm>
          <a:prstGeom prst="rect">
            <a:avLst/>
          </a:prstGeom>
          <a:solidFill>
            <a:srgbClr val="754B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4352" y="1147572"/>
            <a:ext cx="4581144" cy="329184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Confidence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−12 + 7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0 − (−6)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158191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196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1.  −12 + 7 + 8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58775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11 − 18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3480" y="258775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−11 − (−8)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258775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282549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2.  4 − (−5) + (−12)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−6 − 8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5 + (−13)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20" y="359359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383133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3.  −6 − (−9) + (−3)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59943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−9 + 14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0" y="459943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7492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−7 − (−12)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459943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83717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4.  5 − 13 − (−2)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−15 + 15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48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492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12 − (−3)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5605272"/>
            <a:ext cx="4640580" cy="1005840"/>
          </a:xfrm>
          <a:prstGeom prst="rect">
            <a:avLst/>
          </a:prstGeom>
          <a:solidFill>
            <a:srgbClr val="FFFFFF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60" y="584301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5.  8 + (−11) − 4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6611112"/>
            <a:ext cx="4640580" cy="1005840"/>
          </a:xfrm>
          <a:prstGeom prst="rect">
            <a:avLst/>
          </a:prstGeom>
          <a:solidFill>
            <a:srgbClr val="EDF6F5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8 − 13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83480" y="6611112"/>
            <a:ext cx="4640580" cy="1005840"/>
          </a:xfrm>
          <a:prstGeom prst="rect">
            <a:avLst/>
          </a:prstGeom>
          <a:solidFill>
            <a:srgbClr val="EFF3FA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7492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−4 + (−9)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46920" y="6611112"/>
            <a:ext cx="4640580" cy="1005840"/>
          </a:xfrm>
          <a:prstGeom prst="rect">
            <a:avLst/>
          </a:prstGeom>
          <a:solidFill>
            <a:srgbClr val="F5F0F7"/>
          </a:solidFill>
          <a:ln w="7620">
            <a:solidFill>
              <a:srgbClr val="D8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6848856"/>
            <a:ext cx="4453128" cy="548640"/>
          </a:xfrm>
          <a:prstGeom prst="rect">
            <a:avLst/>
          </a:prstGeom>
          <a:noFill/>
        </p:spPr>
        <p:txBody>
          <a:bodyPr wrap="square" lIns="54864" rIns="54864" tIns="22860" bIns="2286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2B3A"/>
                </a:solidFill>
                <a:latin typeface="Arial"/>
              </a:defRPr>
            </a:pPr>
            <a:r>
              <a:t>6.  −10 + 6 − (−7)</a:t>
            </a:r>
          </a:p>
        </p:txBody>
      </p:sp>
      <p:sp>
        <p:nvSpPr>
          <p:cNvPr id="49" name="Progression curved arrow: Thread 1 to Thread 2"/>
          <p:cNvSpPr/>
          <p:nvPr/>
        </p:nvSpPr>
        <p:spPr>
          <a:xfrm>
            <a:off x="4649723" y="7552294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rogression curved arrow: Thread 2 to Thread 3"/>
          <p:cNvSpPr/>
          <p:nvPr/>
        </p:nvSpPr>
        <p:spPr>
          <a:xfrm>
            <a:off x="9265327" y="7543800"/>
            <a:ext cx="621792" cy="314053"/>
          </a:xfrm>
          <a:custGeom>
            <a:avLst/>
            <a:gdLst/>
            <a:ahLst/>
            <a:cxnLst/>
            <a:rect l="0" t="0" r="100000" b="100000"/>
            <a:pathLst>
              <a:path w="100000" h="100000" fill="none">
                <a:moveTo>
                  <a:pt x="6970" y="48439"/>
                </a:moveTo>
                <a:cubicBezTo>
                  <a:pt x="40678" y="114499"/>
                  <a:pt x="73026" y="88145"/>
                  <a:pt x="93030" y="13799"/>
                </a:cubicBezTo>
              </a:path>
              <a:path w="100000" h="100000" fill="none">
                <a:moveTo>
                  <a:pt x="69018" y="40431"/>
                </a:moveTo>
                <a:lnTo>
                  <a:pt x="93030" y="13799"/>
                </a:lnTo>
                <a:lnTo>
                  <a:pt x="92217" y="66207"/>
                </a:lnTo>
              </a:path>
            </a:pathLst>
          </a:custGeom>
          <a:noFill/>
          <a:ln w="64449" cap="rnd">
            <a:solidFill>
              <a:schemeClr val="accent6">
                <a:lumMod val="60000"/>
                <a:lumOff val="40000"/>
              </a:schemeClr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