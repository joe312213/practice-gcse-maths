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6"/>
    <p:sldId id="257" r:id="rId9"/>
    <p:sldId id="258" r:id="rId10"/>
    <p:sldId id="259" r:id="rId11"/>
    <p:sldId id="265" r:id="rId17"/>
    <p:sldId id="260" r:id="rId12"/>
    <p:sldId id="261" r:id="rId13"/>
    <p:sldId id="262" r:id="rId14"/>
    <p:sldId id="263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assessment; no hints or answers on question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**Follow each calculation. Explain what each sign means.**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−4 + 7 | 6 − (−3) | −5 + 8 − (−2) |</a:t>
            </a:r>
          </a:p>
          <a:p>
            <a:r>
              <a:t>| Read the Signs | Start at −4; add positive 7. | Start at 6; subtract negative 3. | Add positive 8, then subtract negative 2. |</a:t>
            </a:r>
          </a:p>
          <a:p>
            <a:r>
              <a:t>| Rewrite the Calculation | −4 + 7 is already an addition. | 6 − (−3) = 6 + 3. | −5 + 8 + 2. |</a:t>
            </a:r>
          </a:p>
          <a:p>
            <a:r>
              <a:t>| Calculate | Move 4 right to 0, then 3 right: 3. | 6 + 3 = 9. | −5 + 8 = 3; 3 + 2 = 5. |</a:t>
            </a:r>
          </a:p>
          <a:p>
            <a:r>
              <a:t>| Check the Answer | 3 − 7 = −4. Answer: 3. | 9 + (−3) = 6. Answer: 9. | 5 + (−2) = 3; 3 − 8 = −5. Answer: 5. |</a:t>
            </a:r>
          </a:p>
          <a:p/>
          <a:p>
            <a:r>
              <a:t>Diagram specification: Three editable number lines, one per demo column, with integer ticks and a labelled zero. Guided: range −5 to 4, start −4, rightward jumps +4 to 0 and +3 to 3; bracket the jumps as +7. Core: range 0 to 10, start 6 and a rightward jump to 9 labelled “subtract −3 = add 3”. Depth: range −6 to 6, start −5, rightward jump +8 to 3, then +2 to 5. Mark each start and endpoint. Use equal tick spacing, visible arrowheads and labels clear of ticks. These accompany the worked calculation; students need not draw a line for every question.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−6 + 9 | 4 + (−7) | −8 + 5 − (−4)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Student instruction: **Work out each calculation. Show your working.**</a:t>
            </a:r>
          </a:p>
          <a:p/>
          <a:p>
            <a:r>
              <a:t>| Step | Thread 1: Guided | Thread 2: Core | Thread 3: Depth |</a:t>
            </a:r>
          </a:p>
          <a:p>
            <a:r>
              <a:t>| --- | --- | --- | --- |</a:t>
            </a:r>
          </a:p>
          <a:p>
            <a:r>
              <a:t>| Question | 3 − 8 | −5 − (−9) | 7 − (−2) + (−12) |</a:t>
            </a:r>
          </a:p>
          <a:p>
            <a:r>
              <a:t>| Read the Signs | Identify the operation signs and the signs belonging to the numbers. | Identify the operation signs and the signs belonging to the numbers. | Identify the operation signs and the signs belonging to the numbers. |</a:t>
            </a:r>
          </a:p>
          <a:p>
            <a:r>
              <a:t>| Rewrite the Calculation | Replace subtraction by addition of the opposite where useful. | Replace subtraction by addition of the opposite where useful. | Replace subtraction by addition of the opposite where useful. |</a:t>
            </a:r>
          </a:p>
          <a:p>
            <a:r>
              <a:t>| Calculate | Work from left to right. Show each result. | Work from left to right. Show each result. | Work from left to right. Show each result. |</a:t>
            </a:r>
          </a:p>
          <a:p>
            <a:r>
              <a:t>| Check the Answer | Undo the last operation to check. Write the final answer. | Undo the last operation to check. Write the final answer. | Undo the last operation to check. Write the final answer. |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dedicated guide slide precedes the worked demo so that the rules and examples remain readable. Existing question content and stable S01–S07 references are unchanged. This gives nine physical question-deck slides.</a:t>
            </a:r>
          </a:p>
          <a:p/>
          <a:p>
            <a:r>
              <a:t>Title: **Signed numbers: addition and subtraction**</a:t>
            </a:r>
          </a:p>
          <a:p>
            <a:r>
              <a:t>Subtitle: **Rules recap • Start at the first number.**</a:t>
            </a:r>
          </a:p>
          <a:p/>
          <a:p>
            <a:r>
              <a:t>| Rule | What to do | Example |</a:t>
            </a:r>
          </a:p>
          <a:p>
            <a:r>
              <a:t>| --- | --- | --- |</a:t>
            </a:r>
          </a:p>
          <a:p>
            <a:r>
              <a:t>| Add a positive number | Move right: the value increases. | −4 + 7 = 3 |</a:t>
            </a:r>
          </a:p>
          <a:p>
            <a:r>
              <a:t>| Add a negative number | Move left: the value decreases. | 4 + (−7) = 4 − 7 = −3 |</a:t>
            </a:r>
          </a:p>
          <a:p>
            <a:r>
              <a:t>| Subtract a positive number | Move left: the value decreases. | 3 − 8 = −5 |</a:t>
            </a:r>
          </a:p>
          <a:p>
            <a:r>
              <a:t>| Subtract a negative number | Move right: subtracting a negative is adding a positive. | 6 − (−3) = 6 + 3 = 9 |</a:t>
            </a:r>
          </a:p>
          <a:p/>
          <a:p>
            <a:r>
              <a:t>Visible explanation: **In 6 − (−3), the first − means subtract; the − inside brackets belongs to the number −3.**</a:t>
            </a:r>
          </a:p>
          <a:p/>
          <a:p>
            <a:r>
              <a:t>Visible general rule: **To subtract a number, add its opposite. Keep the first number unchanged.**</a:t>
            </a:r>
          </a:p>
          <a:p/>
          <a:p>
            <a:r>
              <a:t>Visible caution with contrast: **Two negative numbers do not automatically give a positive answer: −4 + (−3) = −7.**</a:t>
            </a:r>
          </a:p>
          <a:p/>
          <a:p>
            <a:r>
              <a:t>These are addition/subtraction rules. Do not import the multiplication/division “same signs/different signs” shortcut into this set. The next slide retains the complete worked grid and editable number lines.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incorrect student work. Corrections: see M13-SE in the HTML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Work out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1.  −2 + 9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2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2.  6 − 11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3.  −7 − (−10)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480560"/>
            <a:ext cx="67208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663440"/>
            <a:ext cx="630936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2B3A"/>
                </a:solidFill>
                <a:latin typeface="Arial"/>
              </a:defRPr>
            </a:pPr>
            <a:r>
              <a:t>4.  5 + (−9) − (−6)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Rules recap • Start at the first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Add a positive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the value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−4 + 7 =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28016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38988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Add a negative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88366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50591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 + (−7) = 4 − 7 = 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812280" cy="17830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B73"/>
                </a:solidFill>
                <a:latin typeface="Arial"/>
              </a:defRPr>
            </a:pPr>
            <a:r>
              <a:t>Subtract a positive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left: the value decreases.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3 − 8 = −5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200400"/>
            <a:ext cx="6812280" cy="17830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6510528" cy="3931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559A2"/>
                </a:solidFill>
                <a:latin typeface="Arial"/>
              </a:defRPr>
            </a:pPr>
            <a:r>
              <a:t>Subtract a negative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03904"/>
            <a:ext cx="6510528" cy="5029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Move right: subtracting a negative is adding a positive.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70832"/>
            <a:ext cx="6510528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6 − (−3) = 6 + 3 =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76088"/>
            <a:ext cx="13716000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In 6 − (−3), the first − means subtract;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the − inside brackets belongs to the number −3.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0760"/>
            <a:ext cx="13898880" cy="7040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99632"/>
            <a:ext cx="13624560" cy="4480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To subtract a number, add its opposite. Keep the first number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022592"/>
            <a:ext cx="13716000" cy="6949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Two negative numbers do not automatically give a positive answer:</a:t>
            </a:r>
          </a:p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−4 + (−3) = −7.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69848"/>
            <a:ext cx="1380744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Adding a negative moves left: 4 + (−7) = 4 − 7 = −3.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Subtracting a negative moves right: 6 − (−3) = 6 + 3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70992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4392" y="170992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1824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7376" y="170992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4808" y="174193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57984"/>
            <a:ext cx="1801367" cy="6858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249424"/>
            <a:ext cx="1691639" cy="53035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157984"/>
            <a:ext cx="4062984" cy="685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−4 + 7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4392" y="2157984"/>
            <a:ext cx="4062984" cy="685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7544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6 − (−3)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7376" y="2157984"/>
            <a:ext cx="4062984" cy="685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0528" y="2240279"/>
            <a:ext cx="3916680" cy="53949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+ 8 − (−2)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4378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935224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1408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−4; add positive 7.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4392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7544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Start at 6; subtract negative 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7376" y="284378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0528" y="2926079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Add positive 8, then subtract negative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21024"/>
            <a:ext cx="1801367" cy="777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3712463"/>
            <a:ext cx="1691639" cy="621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1408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−4 + 7 is already an addition.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4392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7544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6 − (−3) = 6 + 3.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7376" y="3621024"/>
            <a:ext cx="4062984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20528" y="3703320"/>
            <a:ext cx="3916680" cy="6309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+ 2.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1801367" cy="19202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4" y="4489703"/>
            <a:ext cx="1691639" cy="17647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Move 4 right to 0, then 3 right: 3.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95728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9572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20319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621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9367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17669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8416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6717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3746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765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6512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34814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9269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3862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8317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291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97365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51958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6414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1007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5462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786210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86210" y="5605272"/>
            <a:ext cx="1561931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48141" y="5605272"/>
            <a:ext cx="0" cy="256032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231136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  <a:r>
              <a:t>+4 then +3: total +7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48141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348141" y="5312664"/>
            <a:ext cx="1171448" cy="0"/>
          </a:xfrm>
          <a:prstGeom prst="line">
            <a:avLst/>
          </a:prstGeom>
          <a:ln w="25400">
            <a:solidFill>
              <a:srgbClr val="176B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19589" y="5312664"/>
            <a:ext cx="0" cy="548640"/>
          </a:xfrm>
          <a:prstGeom prst="line">
            <a:avLst/>
          </a:prstGeom>
          <a:ln w="12700">
            <a:solidFill>
              <a:srgbClr val="17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31136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B73"/>
                </a:solidFill>
                <a:latin typeface="Arial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6184392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7544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 + 3 = 9.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458712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871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032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81014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5469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6158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00613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13015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357567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6444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0900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1588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06043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6731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41187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91875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76330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27018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1473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621621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466173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97305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1760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567318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7318" y="5605272"/>
            <a:ext cx="1054303" cy="0"/>
          </a:xfrm>
          <a:prstGeom prst="line">
            <a:avLst/>
          </a:prstGeom>
          <a:ln w="25400">
            <a:solidFill>
              <a:srgbClr val="3559A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621621" y="5605272"/>
            <a:ext cx="0" cy="256032"/>
          </a:xfrm>
          <a:prstGeom prst="line">
            <a:avLst/>
          </a:prstGeom>
          <a:ln w="12700">
            <a:solidFill>
              <a:srgbClr val="3559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294120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59A2"/>
                </a:solidFill>
                <a:latin typeface="Arial"/>
              </a:defRPr>
            </a:pPr>
            <a:r>
              <a:t>subtract −3 = add 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7376" y="4398264"/>
            <a:ext cx="4062984" cy="19202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20528" y="4480559"/>
            <a:ext cx="391668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−5 + 8 = 3; 3 + 2 = 5.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521696" y="5916168"/>
            <a:ext cx="3514344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2169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32916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81455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0622025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−5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10742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91488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40028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20775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−3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93143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50061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−2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98600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79347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2278868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2123420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2571729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416281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2864592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2709144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157454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3002006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450316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3294868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3743177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3587729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036040" y="5879592"/>
            <a:ext cx="0" cy="73152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3880592" y="5980176"/>
            <a:ext cx="310896" cy="201168"/>
          </a:xfrm>
          <a:prstGeom prst="rect">
            <a:avLst/>
          </a:prstGeom>
          <a:noFill/>
        </p:spPr>
        <p:txBody>
          <a:bodyPr wrap="square" lIns="0" rIns="0" tIns="22860" bIns="22860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9" name="Connector 128"/>
          <p:cNvCxnSpPr/>
          <p:nvPr/>
        </p:nvCxnSpPr>
        <p:spPr>
          <a:xfrm flipV="1">
            <a:off x="10814557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814557" y="5605272"/>
            <a:ext cx="2342897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157454" y="5605272"/>
            <a:ext cx="0" cy="256032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10357104" y="5010912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  <a:r>
              <a:t>+8, then +2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157454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157454" y="5312664"/>
            <a:ext cx="585723" cy="0"/>
          </a:xfrm>
          <a:prstGeom prst="line">
            <a:avLst/>
          </a:prstGeom>
          <a:ln w="25400">
            <a:solidFill>
              <a:srgbClr val="754B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743177" y="5312664"/>
            <a:ext cx="0" cy="548640"/>
          </a:xfrm>
          <a:prstGeom prst="line">
            <a:avLst/>
          </a:prstGeom>
          <a:ln w="12700">
            <a:solidFill>
              <a:srgbClr val="754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357104" y="5276088"/>
            <a:ext cx="3843528" cy="2468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4B87"/>
                </a:solidFill>
                <a:latin typeface="Arial"/>
              </a:defRPr>
            </a:pPr>
          </a:p>
        </p:txBody>
      </p:sp>
      <p:sp>
        <p:nvSpPr>
          <p:cNvPr id="137" name="Rectangle 136"/>
          <p:cNvSpPr/>
          <p:nvPr/>
        </p:nvSpPr>
        <p:spPr>
          <a:xfrm>
            <a:off x="320040" y="6318504"/>
            <a:ext cx="1801367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4904" y="6409944"/>
            <a:ext cx="1691639" cy="10332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21408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94560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3 − 7 = −4. Answer: 3.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184392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57544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 + (−3) = 6. Answer: 9.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7376" y="6318504"/>
            <a:ext cx="4062984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320528" y="6400800"/>
            <a:ext cx="3916680" cy="10424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 + (−2) = 3; 3 − 8 = −5. Answer: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−6 + 9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4 + (−7)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−8 + 5 − (−4)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55064"/>
            <a:ext cx="1691639" cy="6675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8229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3 − 8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8229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7544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−5 − (−9)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8229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528" y="1645920"/>
            <a:ext cx="3916680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A"/>
                </a:solidFill>
                <a:latin typeface="Arial"/>
              </a:defRPr>
            </a:pPr>
            <a:r>
              <a:t>7 − (−2) + (−12)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86584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2478024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Read the Signs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7544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386584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0528" y="2468879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Identify the operation signs and the signs belonging to the numbers.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739896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Rewrite the Calculation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7544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3648456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20528" y="3730752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Replace subtraction by addition of the opposite where useful.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10327"/>
            <a:ext cx="1801367" cy="12618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01767"/>
            <a:ext cx="1691639" cy="110642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7544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4910327"/>
            <a:ext cx="4062984" cy="12618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20528" y="4992623"/>
            <a:ext cx="3916680" cy="111556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Work from left to right. Show each result.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172199"/>
            <a:ext cx="1801367" cy="12435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6263639"/>
            <a:ext cx="1691639" cy="108813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Check the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7544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172199"/>
            <a:ext cx="4062984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20528" y="6254495"/>
            <a:ext cx="3916680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Undo the last operation to check. Write the final answer.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−3 + 5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−3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4 − 9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4 − 9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−4 − 6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4 + 6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6 + (−10)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4856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 + (−10)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856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6 + 10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4856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−6 − (−18)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856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−6 − (−18)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856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−6 − 18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4856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6256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−7 + (−4)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856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−7 + (−4)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856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7 + 4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4856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7024" y="1755648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−4 − (−7) + (−6)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5624" y="223113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−4 − (−7) + (−6)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5624" y="25786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+ 7 + 6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5624" y="29260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3 + 6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5624" y="32735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7024" y="3758184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8 + (−12) − (−5)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5624" y="423367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8 + (−12) − (−5)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45624" y="4581144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8 − 12 − 5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5624" y="4928616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−4 − 5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5624" y="527608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5760720"/>
            <a:ext cx="4392168" cy="40233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−9 − 6 + 18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5624" y="6236208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−9 − 6 + 18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5624" y="6583680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−3 + 18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624" y="6931152"/>
            <a:ext cx="40233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−3 + 8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5 −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+ 7 − (−3)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2 − 7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7 + (−9)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6 − 9 + 2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+ 4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−4 + (−6)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−5 + (−3) + 10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−2 − 5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8 − (−2) − 13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−5 − (−5)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−7 − (−4) + 1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4 − 10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0 +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3 + (−8) − (−5)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−4 − 6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9 − (−4)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−6 + 9 + (−4)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+ 11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−6 + (−7)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(−6) + (−10)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6 − 15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0 − (−9)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7 − 10 − (−5)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+ 10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3 + (−8)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−8 − (−2) 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−8 + 3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−3 − (−8)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−9 + 5 −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5 − 12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−10 − (−6)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5 + (−12) + 3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−8 + 12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−9 + (−2)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10 − 14 + (−2)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−5 − 4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8 − (−5)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6 + (−9) − (−3)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−10 + 6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−7 − (−4)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−2 − (−8) + 5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9 − 14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6 + (−11)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−3 + (−6) − (−4)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7 − 16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−4 − (−10)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9 − (−3) + (−7)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+ 12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−12 − (−7)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−11 + 8 − 2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Signed numbers: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M13-S07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0 − (−6)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196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1.  −12 + 7 + 8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11 − 18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−11 − (−8)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82549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2.  4 − (−5) + (−12)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5 + (−13)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383133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3.  −6 − (−9) + (−3)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−9 + 14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−7 − (−12)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83717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4.  5 − 13 − (−2)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−15 + 15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12 − (−3)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84301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5.  8 + (−11) − 4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8 − 13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−4 + (−9)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6848856"/>
            <a:ext cx="4453128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6.  −10 + 6 − (−7)</a:t>
            </a:r>
          </a:p>
        </p:txBody>
      </p:sp>
      <p:sp>
        <p:nvSpPr>
          <p:cNvPr id="4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