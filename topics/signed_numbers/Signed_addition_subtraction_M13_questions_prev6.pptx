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6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 assessment; no hints or answers on question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**Follow each calculation. Explain what each sign means.**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−4 + 7 | 6 − (−3) | −5 + 8 − (−2) |</a:t>
            </a:r>
          </a:p>
          <a:p>
            <a:r>
              <a:t>| Read the Signs | Start at −4; add positive 7. | Start at 6; subtract negative 3. | Add positive 8, then subtract negative 2. |</a:t>
            </a:r>
          </a:p>
          <a:p>
            <a:r>
              <a:t>| Rewrite the Calculation | −4 + 7 is already an addition. | 6 − (−3) = 6 + 3. | −5 + 8 + 2. |</a:t>
            </a:r>
          </a:p>
          <a:p>
            <a:r>
              <a:t>| Calculate | Move 4 right to 0, then 3 right: 3. | 6 + 3 = 9. | −5 + 8 = 3; 3 + 2 = 5. |</a:t>
            </a:r>
          </a:p>
          <a:p>
            <a:r>
              <a:t>| Check the Answer | 3 − 7 = −4. Answer: 3. | 9 + (−3) = 6. Answer: 9. | 5 + (−2) = 3; 3 − 8 = −5. Answer: 5. |</a:t>
            </a:r>
          </a:p>
          <a:p/>
          <a:p>
            <a:r>
              <a:t>Diagram specification: Three editable number lines, one per demo column, with integer ticks and a labelled zero. Guided: range −5 to 4, start −4, rightward jumps +4 to 0 and +3 to 3; bracket the jumps as +7. Core: range 0 to 10, start 6 and a rightward jump to 9 labelled “subtract −3 = add 3”. Depth: range −6 to 6, start −5, rightward jump +8 to 3, then +2 to 5. Mark each start and endpoint. Use equal tick spacing, visible arrowheads and labels clear of ticks. These accompany the worked calculation; students need not draw a line for every question.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−6 + 9 | 4 + (−7) | −8 + 5 − (−4)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3 − 8 | −5 − (−9) | 7 − (−2) + (−12)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dedicated guide slide precedes the worked demo so that the rules and examples remain readable. Existing question content and stable S01–S07 references are unchanged. This gives nine physical question-deck slides.</a:t>
            </a:r>
          </a:p>
          <a:p/>
          <a:p>
            <a:r>
              <a:t>Title: **Signed numbers: addition and subtraction**</a:t>
            </a:r>
          </a:p>
          <a:p>
            <a:r>
              <a:t>Subtitle: **Rules recap • Start at the first number.**</a:t>
            </a:r>
          </a:p>
          <a:p/>
          <a:p>
            <a:r>
              <a:t>| Rule | What to do | Example |</a:t>
            </a:r>
          </a:p>
          <a:p>
            <a:r>
              <a:t>| --- | --- | --- |</a:t>
            </a:r>
          </a:p>
          <a:p>
            <a:r>
              <a:t>| Add a positive number | Move right: the value increases. | −4 + 7 = 3 |</a:t>
            </a:r>
          </a:p>
          <a:p>
            <a:r>
              <a:t>| Add a negative number | Move left: the value decreases. | 4 + (−7) = 4 − 7 = −3 |</a:t>
            </a:r>
          </a:p>
          <a:p>
            <a:r>
              <a:t>| Subtract a positive number | Move left: the value decreases. | 3 − 8 = −5 |</a:t>
            </a:r>
          </a:p>
          <a:p>
            <a:r>
              <a:t>| Subtract a negative number | Move right: subtracting a negative is adding a positive. | 6 − (−3) = 6 + 3 = 9 |</a:t>
            </a:r>
          </a:p>
          <a:p/>
          <a:p>
            <a:r>
              <a:t>Visible explanation: **In 6 − (−3), the first − means subtract; the − inside brackets belongs to the number −3.**</a:t>
            </a:r>
          </a:p>
          <a:p/>
          <a:p>
            <a:r>
              <a:t>Visible general rule: **To subtract a number, add its opposite. Keep the first number unchanged.**</a:t>
            </a:r>
          </a:p>
          <a:p/>
          <a:p>
            <a:r>
              <a:t>Visible caution with contrast: **Two negative numbers do not automatically give a positive answer: −4 + (−3) = −7.**</a:t>
            </a:r>
          </a:p>
          <a:p/>
          <a:p>
            <a:r>
              <a:t>These are addition/subtraction rules. Do not import the multiplication/division “same signs/different signs” shortcut into this set. The next slide retains the complete worked grid and editable number lines.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Work out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1.  −2 + 9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2.  6 − 11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3.  −7 − (−10)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4.  5 + (−9) − (−6)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Rules recap • Start at the first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Add a positive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the value increases.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−4 + 7 =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28016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Add a negative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 + (−7) = 4 − 7 = −3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Subtract a positive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3 − 8 = −5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20040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Subtract a negative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subtracting a negative is adding a positive.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6 − (−3) = 6 + 3 =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76088"/>
            <a:ext cx="13716000" cy="6400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In 6 − (−3), the first − means subtract;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the − inside brackets belongs to the number −3.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80760"/>
            <a:ext cx="13898880" cy="7040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199632"/>
            <a:ext cx="13624560" cy="4480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To subtract a number, add its opposite. Keep the first number unchanged.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022592"/>
            <a:ext cx="13716000" cy="6949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Two negative numbers do not automatically give a positive answer: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−4 + (−3) = −7.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1380744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Adding a negative moves left: 4 + (−7) = 4 − 7 = −3.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Subtracting a negative moves right: 6 − (−3) = 6 + 3 = 9.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70992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39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4392" y="170992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1824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7376" y="170992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4808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57984"/>
            <a:ext cx="1801367" cy="6858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249424"/>
            <a:ext cx="1691639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1408" y="2157984"/>
            <a:ext cx="4062984" cy="685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−4 + 7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4392" y="2157984"/>
            <a:ext cx="4062984" cy="685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7544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6 − (−3)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7376" y="2157984"/>
            <a:ext cx="4062984" cy="685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20528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+ 8 − (−2)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4378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2935224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1408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−4; add positive 7.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4392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7544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6; subtract negative 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7376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0528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Add positive 8, then subtract negative 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2102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3712463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1408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−4 + 7 is already an addition.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4392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7544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6 − (−3) = 6 + 3.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7376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0528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+ 2.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1801367" cy="1920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" y="4489703"/>
            <a:ext cx="1691639" cy="1764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1408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Move 4 right to 0, then 3 right: 3.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95728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9572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0319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8621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9367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17669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8416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6717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3746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5765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76512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4814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9269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73862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8317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1291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97365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51958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6414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91007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5462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2786210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786210" y="5605272"/>
            <a:ext cx="1561931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48141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231136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  <a:r>
              <a:t>+4 then +3: total +7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4348141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348141" y="5312664"/>
            <a:ext cx="1171448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19589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231136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6184392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7544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+ 3 = 9.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58712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5871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3032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81014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5469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16158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00613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513015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357567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86444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70900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21588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06043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6731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41187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91875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76330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27018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11473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62162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46617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97305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81760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8567318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67318" y="5605272"/>
            <a:ext cx="1054303" cy="0"/>
          </a:xfrm>
          <a:prstGeom prst="line">
            <a:avLst/>
          </a:prstGeom>
          <a:ln w="25400">
            <a:solidFill>
              <a:srgbClr val="3559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621621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294120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559A2"/>
                </a:solidFill>
                <a:latin typeface="Arial"/>
              </a:defRPr>
            </a:pPr>
            <a:r>
              <a:t>subtract −3 = add 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247376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320528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= 3; 3 + 2 = 5.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521696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52169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03291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−6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81455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0622025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10742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91488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140028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120775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69314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150061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19860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179347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227886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1212342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257172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241628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286459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27091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315745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300200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345031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329486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374317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358772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403604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388059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29" name="Connector 128"/>
          <p:cNvCxnSpPr/>
          <p:nvPr/>
        </p:nvCxnSpPr>
        <p:spPr>
          <a:xfrm flipV="1">
            <a:off x="10814557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814557" y="5605272"/>
            <a:ext cx="2342897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157454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0357104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  <a:r>
              <a:t>+8, then +2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13157454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3157454" y="5312664"/>
            <a:ext cx="585723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743177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0357104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</a:p>
        </p:txBody>
      </p:sp>
      <p:sp>
        <p:nvSpPr>
          <p:cNvPr id="137" name="Rectangle 136"/>
          <p:cNvSpPr/>
          <p:nvPr/>
        </p:nvSpPr>
        <p:spPr>
          <a:xfrm>
            <a:off x="320040" y="6318504"/>
            <a:ext cx="1801367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4904" y="6409944"/>
            <a:ext cx="1691639" cy="10332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21408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194560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3 − 7 = −4. Answer: 3.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84392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57544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 + (−3) = 6. Answer: 9.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247376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320528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 + (−2) = 3; 3 − 8 = −5. Answer: 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−6 + 9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4 + (−7)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−8 + 5 − (−4)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3 − 8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−5 − (−9)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7 − (−2) + (−12)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−3 + 8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5 −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+ 7 − (−3)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2 − 7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7 + (−9)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6 − 9 + 2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+ 4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−4 + (−6)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−5 + (−3) + 10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−2 − 5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8 − (−2) − 13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−5 − (−5)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−7 − (−4) + 1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4 − 10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0 +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3 + (−8) − (−5)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−4 − 6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9 − (−4)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−6 + 9 + (−4)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+ 11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−6 + (−7)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(−6) + (−10)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6 − 15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0 − (−9)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7 − 10 − (−5)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+ 10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3 + (−8)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(−2) − 1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−8 + 3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−3 − (−8)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+ 5 −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5 − 12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−10 − (−6)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+ (−12) + 3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−8 + 12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−9 +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10 − 14 + (−2)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−5 − 4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8 − (−5)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+ (−9) − (−3)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−10 + 6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−7 − (−4)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−2 − (−8) + 5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9 − 14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6 + (−11)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−3 + (−6) − (−4)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7 − 16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−4 − (−10)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9 − (−3) +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+ 12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−12 −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−11 + 8 − 2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0 − (−6)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 + 8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11 − 18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−11 − (−8)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(−5) + (−12)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5 + (−13)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(−9) + (−3)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−9 + 14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−7 − (−12)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5 − 13 − (−2)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−15 + 15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12 − (−3)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8 + (−11) − 4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8 − 13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−4 + (−9)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+ 6 − (−7)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