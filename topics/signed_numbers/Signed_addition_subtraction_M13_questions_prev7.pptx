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0.xml" ContentType="application/vnd.openxmlformats-officedocument.presentationml.slide+xml"/>
  <Override PartName="/ppt/slides/slide1000.xml" ContentType="application/vnd.openxmlformats-officedocument.presentationml.slide+xml"/>
  <Override PartName="/ppt/slides/slide1001.xml" ContentType="application/vnd.openxmlformats-officedocument.presentationml.slide+xml"/>
  <Override PartName="/ppt/slides/slide1002.xml" ContentType="application/vnd.openxmlformats-officedocument.presentationml.slide+xml"/>
  <Override PartName="/ppt/slides/slide1003.xml" ContentType="application/vnd.openxmlformats-officedocument.presentationml.slide+xml"/>
  <Override PartName="/ppt/slides/slide1004.xml" ContentType="application/vnd.openxmlformats-officedocument.presentationml.slide+xml"/>
  <Override PartName="/ppt/slides/slide1005.xml" ContentType="application/vnd.openxmlformats-officedocument.presentationml.slide+xml"/>
  <Override PartName="/ppt/slides/slide1006.xml" ContentType="application/vnd.openxmlformats-officedocument.presentationml.slide+xml"/>
  <Override PartName="/ppt/slides/slide1007.xml" ContentType="application/vnd.openxmlformats-officedocument.presentationml.slide+xml"/>
  <Override PartName="/ppt/slides/slide1008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64" r:id="rId16"/>
    <p:sldId id="257" r:id="rId9"/>
    <p:sldId id="258" r:id="rId10"/>
    <p:sldId id="259" r:id="rId11"/>
    <p:sldId id="265" r:id="rId17"/>
    <p:sldId id="260" r:id="rId12"/>
    <p:sldId id="261" r:id="rId13"/>
    <p:sldId id="262" r:id="rId14"/>
    <p:sldId id="263" r:id="rId15"/>
  </p:sldIdLst>
  <p:sldSz cx="14630400" cy="82296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000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1002.xml"/><Relationship Id="rId10" Type="http://schemas.openxmlformats.org/officeDocument/2006/relationships/slide" Target="slides/slide1003.xml"/><Relationship Id="rId11" Type="http://schemas.openxmlformats.org/officeDocument/2006/relationships/slide" Target="slides/slide1004.xml"/><Relationship Id="rId12" Type="http://schemas.openxmlformats.org/officeDocument/2006/relationships/slide" Target="slides/slide1005.xml"/><Relationship Id="rId13" Type="http://schemas.openxmlformats.org/officeDocument/2006/relationships/slide" Target="slides/slide1006.xml"/><Relationship Id="rId14" Type="http://schemas.openxmlformats.org/officeDocument/2006/relationships/slide" Target="slides/slide1007.xml"/><Relationship Id="rId15" Type="http://schemas.openxmlformats.org/officeDocument/2006/relationships/slide" Target="slides/slide1008.xml"/><Relationship Id="rId16" Type="http://schemas.openxmlformats.org/officeDocument/2006/relationships/slide" Target="slides/slide1001.xml"/><Relationship Id="rId17" Type="http://schemas.openxmlformats.org/officeDocument/2006/relationships/slide" Target="slides/slide10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00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0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0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0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01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Initial assessment; no hints or answers on question slide.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/>
          <a:p>
            <a:r>
              <a:t>Student instruction: **Follow each calculation. Explain what each sign means.**</a:t>
            </a:r>
          </a:p>
          <a:p/>
          <a:p>
            <a:r>
              <a:t>| Step | Thread 1: Guided | Thread 2: Core | Thread 3: Depth |</a:t>
            </a:r>
          </a:p>
          <a:p>
            <a:r>
              <a:t>| --- | --- | --- | --- |</a:t>
            </a:r>
          </a:p>
          <a:p>
            <a:r>
              <a:t>| Question | −4 + 7 | 6 − (−3) | −5 + 8 − (−2) |</a:t>
            </a:r>
          </a:p>
          <a:p>
            <a:r>
              <a:t>| Read the Signs | Start at −4; add positive 7. | Start at 6; subtract negative 3. | Add positive 8, then subtract negative 2. |</a:t>
            </a:r>
          </a:p>
          <a:p>
            <a:r>
              <a:t>| Rewrite the Calculation | −4 + 7 is already an addition. | 6 − (−3) = 6 + 3. | −5 + 8 + 2. |</a:t>
            </a:r>
          </a:p>
          <a:p>
            <a:r>
              <a:t>| Calculate | Move 4 right to 0, then 3 right: 3. | 6 + 3 = 9. | −5 + 8 = 3; 3 + 2 = 5. |</a:t>
            </a:r>
          </a:p>
          <a:p>
            <a:r>
              <a:t>| Check the Answer | 3 − 7 = −4. Answer: 3. | 9 + (−3) = 6. Answer: 9. | 5 + (−2) = 3; 3 − 8 = −5. Answer: 5. |</a:t>
            </a:r>
          </a:p>
          <a:p/>
          <a:p>
            <a:r>
              <a:t>Diagram specification: Three editable number lines, one per demo column, with integer ticks and a labelled zero. Guided: range −5 to 4, start −4, rightward jumps +4 to 0 and +3 to 3; bracket the jumps as +7. Core: range 0 to 10, start 6 and a rightward jump to 9 labelled “subtract −3 = add 3”. Depth: range −6 to 6, start −5, rightward jump +8 to 3, then +2 to 5. Mark each start and endpoint. Use equal tick spacing, visible arrowheads and labels clear of ticks. These accompany the worked calculation; students need not draw a line for every question.</a:t>
            </a:r>
          </a:p>
          <a:p/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/>
          <a:p>
            <a:r>
              <a:t>Student instruction: **Work out each calculation. Show your working.**</a:t>
            </a:r>
          </a:p>
          <a:p/>
          <a:p>
            <a:r>
              <a:t>| Step | Thread 1: Guided | Thread 2: Core | Thread 3: Depth |</a:t>
            </a:r>
          </a:p>
          <a:p>
            <a:r>
              <a:t>| --- | --- | --- | --- |</a:t>
            </a:r>
          </a:p>
          <a:p>
            <a:r>
              <a:t>| Question | −6 + 9 | 4 + (−7) | −8 + 5 − (−4) |</a:t>
            </a:r>
          </a:p>
          <a:p>
            <a:r>
              <a:t>| Read the Signs | Identify the operation signs and the signs belonging to the numbers. | Identify the operation signs and the signs belonging to the numbers. | Identify the operation signs and the signs belonging to the numbers. |</a:t>
            </a:r>
          </a:p>
          <a:p>
            <a:r>
              <a:t>| Rewrite the Calculation | Replace subtraction by addition of the opposite where useful. | Replace subtraction by addition of the opposite where useful. | Replace subtraction by addition of the opposite where useful. |</a:t>
            </a:r>
          </a:p>
          <a:p>
            <a:r>
              <a:t>| Calculate | Work from left to right. Show each result. | Work from left to right. Show each result. | Work from left to right. Show each result. |</a:t>
            </a:r>
          </a:p>
          <a:p>
            <a:r>
              <a:t>| Check the Answer | Undo the last operation to check. Write the final answer. | Undo the last operation to check. Write the final answer. | Undo the last operation to check. Write the final answer. |</a:t>
            </a:r>
          </a:p>
          <a:p/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/>
          <a:p>
            <a:r>
              <a:t>Student instruction: **Work out each calculation. Show your working.**</a:t>
            </a:r>
          </a:p>
          <a:p/>
          <a:p>
            <a:r>
              <a:t>| Step | Thread 1: Guided | Thread 2: Core | Thread 3: Depth |</a:t>
            </a:r>
          </a:p>
          <a:p>
            <a:r>
              <a:t>| --- | --- | --- | --- |</a:t>
            </a:r>
          </a:p>
          <a:p>
            <a:r>
              <a:t>| Question | 3 − 8 | −5 − (−9) | 7 − (−2) + (−12) |</a:t>
            </a:r>
          </a:p>
          <a:p>
            <a:r>
              <a:t>| Read the Signs | Identify the operation signs and the signs belonging to the numbers. | Identify the operation signs and the signs belonging to the numbers. | Identify the operation signs and the signs belonging to the numbers. |</a:t>
            </a:r>
          </a:p>
          <a:p>
            <a:r>
              <a:t>| Rewrite the Calculation | Replace subtraction by addition of the opposite where useful. | Replace subtraction by addition of the opposite where useful. | Replace subtraction by addition of the opposite where useful. |</a:t>
            </a:r>
          </a:p>
          <a:p>
            <a:r>
              <a:t>| Calculate | Work from left to right. Show each result. | Work from left to right. Show each result. | Work from left to right. Show each result. |</a:t>
            </a:r>
          </a:p>
          <a:p>
            <a:r>
              <a:t>| Check the Answer | Undo the last operation to check. Write the final answer. | Undo the last operation to check. Write the final answer. | Undo the last operation to check. Write the final answer. |</a:t>
            </a:r>
          </a:p>
          <a:p/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/>
          <a:p>
            <a:r>
              <a:t>A dedicated guide slide precedes the worked demo so that the rules and examples remain readable. Existing question content and stable S01–S07 references are unchanged. This gives nine physical question-deck slides.</a:t>
            </a:r>
          </a:p>
          <a:p/>
          <a:p>
            <a:r>
              <a:t>Title: **Signed numbers: addition and subtraction**</a:t>
            </a:r>
          </a:p>
          <a:p>
            <a:r>
              <a:t>Subtitle: **Rules recap • Start at the first number.**</a:t>
            </a:r>
          </a:p>
          <a:p/>
          <a:p>
            <a:r>
              <a:t>| Rule | What to do | Example |</a:t>
            </a:r>
          </a:p>
          <a:p>
            <a:r>
              <a:t>| --- | --- | --- |</a:t>
            </a:r>
          </a:p>
          <a:p>
            <a:r>
              <a:t>| Add a positive number | Move right: the value increases. | −4 + 7 = 3 |</a:t>
            </a:r>
          </a:p>
          <a:p>
            <a:r>
              <a:t>| Add a negative number | Move left: the value decreases. | 4 + (−7) = 4 − 7 = −3 |</a:t>
            </a:r>
          </a:p>
          <a:p>
            <a:r>
              <a:t>| Subtract a positive number | Move left: the value decreases. | 3 − 8 = −5 |</a:t>
            </a:r>
          </a:p>
          <a:p>
            <a:r>
              <a:t>| Subtract a negative number | Move right: subtracting a negative is adding a positive. | 6 − (−3) = 6 + 3 = 9 |</a:t>
            </a:r>
          </a:p>
          <a:p/>
          <a:p>
            <a:r>
              <a:t>Visible explanation: **In 6 − (−3), the first − means subtract; the − inside brackets belongs to the number −3.**</a:t>
            </a:r>
          </a:p>
          <a:p/>
          <a:p>
            <a:r>
              <a:t>Visible general rule: **To subtract a number, add its opposite. Keep the first number unchanged.**</a:t>
            </a:r>
          </a:p>
          <a:p/>
          <a:p>
            <a:r>
              <a:t>Visible caution with contrast: **Two negative numbers do not automatically give a positive answer: −4 + (−3) = −7.**</a:t>
            </a:r>
          </a:p>
          <a:p/>
          <a:p>
            <a:r>
              <a:t>These are addition/subtraction rules. Do not import the multiplication/division “same signs/different signs” shortcut into this set. The next slide retains the complete worked grid and editable number lines.</a:t>
            </a:r>
          </a:p>
          <a:p/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Deliberately incorrect student work. Corrections: see M13-SE in the HTML answers.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100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100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100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100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100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100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0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0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0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8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4630400" cy="91440"/>
          </a:xfrm>
          <a:prstGeom prst="rect">
            <a:avLst/>
          </a:prstGeom>
          <a:solidFill>
            <a:srgbClr val="176B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84048" y="219456"/>
            <a:ext cx="13807440" cy="457200"/>
          </a:xfrm>
          <a:prstGeom prst="rect">
            <a:avLst/>
          </a:prstGeom>
          <a:noFill/>
        </p:spPr>
        <p:txBody>
          <a:bodyPr wrap="square" tIns="36576" bIns="36576" anchor="t">
            <a:spAutoFit/>
          </a:bodyPr>
          <a:lstStyle/>
          <a:p>
            <a:pPr>
              <a:lnSpc>
                <a:spcPts val="3132"/>
              </a:lnSpc>
              <a:spcBef>
                <a:spcPts val="0"/>
              </a:spcBef>
              <a:spcAft>
                <a:spcPts val="0"/>
              </a:spcAft>
              <a:defRPr sz="2900" b="1">
                <a:solidFill>
                  <a:srgbClr val="182B3A"/>
                </a:solidFill>
                <a:latin typeface="Arial"/>
              </a:defRPr>
            </a:pPr>
            <a:r>
              <a:t>Signed numbers: addition and subtraction — spot the errors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84048" y="740664"/>
            <a:ext cx="13807440" cy="411480"/>
          </a:xfrm>
          <a:prstGeom prst="rect">
            <a:avLst/>
          </a:prstGeom>
          <a:noFill/>
        </p:spPr>
        <p:txBody>
          <a:bodyPr wrap="square" tIns="36576" bIns="36576" anchor="t">
            <a:spAutoFit/>
          </a:bodyPr>
          <a:lstStyle/>
          <a:p>
            <a:pPr>
              <a:lnSpc>
                <a:spcPts val="1836"/>
              </a:lnSpc>
              <a:spcBef>
                <a:spcPts val="0"/>
              </a:spcBef>
              <a:spcAft>
                <a:spcPts val="0"/>
              </a:spcAft>
              <a:defRPr sz="1700" b="0">
                <a:solidFill>
                  <a:srgbClr val="526472"/>
                </a:solidFill>
                <a:latin typeface="Arial"/>
              </a:defRPr>
            </a:pPr>
            <a:r>
              <a:t>Each worked solution has a mistake. Find the first error, correct it and finish the calculation.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84048" y="7863840"/>
            <a:ext cx="13716000" cy="256032"/>
          </a:xfrm>
          <a:prstGeom prst="rect">
            <a:avLst/>
          </a:prstGeom>
          <a:noFill/>
        </p:spPr>
        <p:txBody>
          <a:bodyPr wrap="square" tIns="36576" bIns="36576" anchor="t">
            <a:spAutoFit/>
          </a:bodyPr>
          <a:lstStyle/>
          <a:p>
            <a:pPr>
              <a:lnSpc>
                <a:spcPts val="1188"/>
              </a:lnSpc>
              <a:spcBef>
                <a:spcPts val="0"/>
              </a:spcBef>
              <a:spcAft>
                <a:spcPts val="0"/>
              </a:spcAft>
              <a:defRPr sz="1100" b="0">
                <a:solidFill>
                  <a:srgbClr val="526472"/>
                </a:solidFill>
                <a:latin typeface="Arial"/>
              </a:defRPr>
            </a:pPr>
            <a:r>
              <a:t>M13-SE  •  Record your working in your booklet or webapp.</a:t>
            </a:r>
          </a:p>
        </p:txBody>
      </p:sp>
      <p:sp>
        <p:nvSpPr>
          <p:cNvPr id="6" name="Rectangle 5"/>
          <p:cNvSpPr/>
          <p:nvPr/>
        </p:nvSpPr>
        <p:spPr>
          <a:xfrm>
            <a:off x="384048" y="1234440"/>
            <a:ext cx="4588764" cy="420624"/>
          </a:xfrm>
          <a:prstGeom prst="rect">
            <a:avLst/>
          </a:prstGeom>
          <a:solidFill>
            <a:srgbClr val="176B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48056" y="1261872"/>
            <a:ext cx="4474464" cy="347472"/>
          </a:xfrm>
          <a:prstGeom prst="rect">
            <a:avLst/>
          </a:prstGeom>
          <a:noFill/>
        </p:spPr>
        <p:txBody>
          <a:bodyPr wrap="square" tIns="36576" bIns="36576" anchor="t">
            <a:spAutoFit/>
          </a:bodyPr>
          <a:lstStyle/>
          <a:p>
            <a:pPr>
              <a:lnSpc>
                <a:spcPts val="2160"/>
              </a:lnSpc>
              <a:spcBef>
                <a:spcPts val="0"/>
              </a:spcBef>
              <a:spcAft>
                <a:spcPts val="0"/>
              </a:spcAft>
              <a:defRPr sz="2000" b="1">
                <a:solidFill>
                  <a:srgbClr val="FFFFFF"/>
                </a:solidFill>
                <a:latin typeface="Arial"/>
              </a:defRPr>
            </a:pPr>
            <a:r>
              <a:t>Thread 1: Guided</a:t>
            </a:r>
          </a:p>
        </p:txBody>
      </p:sp>
      <p:sp>
        <p:nvSpPr>
          <p:cNvPr id="8" name="Rectangle 7"/>
          <p:cNvSpPr/>
          <p:nvPr/>
        </p:nvSpPr>
        <p:spPr>
          <a:xfrm>
            <a:off x="384048" y="1719072"/>
            <a:ext cx="4588764" cy="1929384"/>
          </a:xfrm>
          <a:prstGeom prst="rect">
            <a:avLst/>
          </a:prstGeom>
          <a:solidFill>
            <a:srgbClr val="EDF6F5"/>
          </a:solidFill>
          <a:ln w="7620">
            <a:solidFill>
              <a:srgbClr val="D8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75488" y="1764792"/>
            <a:ext cx="4383024" cy="822960"/>
          </a:xfrm>
          <a:prstGeom prst="rect">
            <a:avLst/>
          </a:prstGeom>
          <a:noFill/>
        </p:spPr>
        <p:txBody>
          <a:bodyPr wrap="square" tIns="36576" bIns="36576" anchor="t">
            <a:spAutoFit/>
          </a:bodyPr>
          <a:lstStyle/>
          <a:p>
            <a:pPr>
              <a:lnSpc>
                <a:spcPts val="2052"/>
              </a:lnSpc>
              <a:spcBef>
                <a:spcPts val="0"/>
              </a:spcBef>
              <a:spcAft>
                <a:spcPts val="0"/>
              </a:spcAft>
              <a:defRPr sz="1900" b="1">
                <a:solidFill>
                  <a:srgbClr val="182B3A"/>
                </a:solidFill>
                <a:latin typeface="Arial"/>
              </a:defRPr>
            </a:pPr>
            <a:r>
              <a:t>1.  −3 + 5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75488" y="2496312"/>
            <a:ext cx="4383024" cy="1124712"/>
          </a:xfrm>
          <a:prstGeom prst="rect">
            <a:avLst/>
          </a:prstGeom>
          <a:noFill/>
        </p:spPr>
        <p:txBody>
          <a:bodyPr wrap="square" tIns="36576" bIns="36576" anchor="t">
            <a:spAutoFit/>
          </a:bodyPr>
          <a:lstStyle/>
          <a:p>
            <a:pPr>
              <a:lnSpc>
                <a:spcPts val="1944"/>
              </a:lnSpc>
              <a:spcBef>
                <a:spcPts val="0"/>
              </a:spcBef>
              <a:spcAft>
                <a:spcPts val="0"/>
              </a:spcAft>
              <a:defRPr sz="1800" b="0">
                <a:solidFill>
                  <a:srgbClr val="182B3A"/>
                </a:solidFill>
                <a:latin typeface="Arial"/>
              </a:defRPr>
            </a:pPr>
            <a:r>
              <a:t>Start at −3; move 5 left</a:t>
            </a:r>
          </a:p>
          <a:p>
            <a:pPr>
              <a:lnSpc>
                <a:spcPts val="1944"/>
              </a:lnSpc>
              <a:spcBef>
                <a:spcPts val="0"/>
              </a:spcBef>
              <a:spcAft>
                <a:spcPts val="0"/>
              </a:spcAft>
              <a:defRPr sz="1800" b="0">
                <a:solidFill>
                  <a:srgbClr val="182B3A"/>
                </a:solidFill>
                <a:latin typeface="Arial"/>
              </a:defRPr>
            </a:pPr>
            <a:r>
              <a:t>−3 − 5 = −8</a:t>
            </a:r>
          </a:p>
          <a:p>
            <a:pPr>
              <a:lnSpc>
                <a:spcPts val="1944"/>
              </a:lnSpc>
              <a:spcBef>
                <a:spcPts val="0"/>
              </a:spcBef>
              <a:spcAft>
                <a:spcPts val="0"/>
              </a:spcAft>
              <a:defRPr sz="1800" b="0">
                <a:solidFill>
                  <a:srgbClr val="182B3A"/>
                </a:solidFill>
                <a:latin typeface="Arial"/>
              </a:defRPr>
            </a:pPr>
            <a:r>
              <a:t>Answer: −8</a:t>
            </a:r>
          </a:p>
        </p:txBody>
      </p:sp>
      <p:sp>
        <p:nvSpPr>
          <p:cNvPr id="11" name="Rectangle 10"/>
          <p:cNvSpPr/>
          <p:nvPr/>
        </p:nvSpPr>
        <p:spPr>
          <a:xfrm>
            <a:off x="384048" y="3721608"/>
            <a:ext cx="4588764" cy="1929384"/>
          </a:xfrm>
          <a:prstGeom prst="rect">
            <a:avLst/>
          </a:prstGeom>
          <a:solidFill>
            <a:srgbClr val="FFFFFF"/>
          </a:solidFill>
          <a:ln w="7620">
            <a:solidFill>
              <a:srgbClr val="D8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75488" y="3767328"/>
            <a:ext cx="4383024" cy="822960"/>
          </a:xfrm>
          <a:prstGeom prst="rect">
            <a:avLst/>
          </a:prstGeom>
          <a:noFill/>
        </p:spPr>
        <p:txBody>
          <a:bodyPr wrap="square" tIns="36576" bIns="36576" anchor="t">
            <a:spAutoFit/>
          </a:bodyPr>
          <a:lstStyle/>
          <a:p>
            <a:pPr>
              <a:lnSpc>
                <a:spcPts val="2052"/>
              </a:lnSpc>
              <a:spcBef>
                <a:spcPts val="0"/>
              </a:spcBef>
              <a:spcAft>
                <a:spcPts val="0"/>
              </a:spcAft>
              <a:defRPr sz="1900" b="1">
                <a:solidFill>
                  <a:srgbClr val="182B3A"/>
                </a:solidFill>
                <a:latin typeface="Arial"/>
              </a:defRPr>
            </a:pPr>
            <a:r>
              <a:t>2.  4 − 7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75488" y="4498848"/>
            <a:ext cx="4383024" cy="1124712"/>
          </a:xfrm>
          <a:prstGeom prst="rect">
            <a:avLst/>
          </a:prstGeom>
          <a:noFill/>
        </p:spPr>
        <p:txBody>
          <a:bodyPr wrap="square" tIns="36576" bIns="36576" anchor="t">
            <a:spAutoFit/>
          </a:bodyPr>
          <a:lstStyle/>
          <a:p>
            <a:pPr>
              <a:lnSpc>
                <a:spcPts val="1944"/>
              </a:lnSpc>
              <a:spcBef>
                <a:spcPts val="0"/>
              </a:spcBef>
              <a:spcAft>
                <a:spcPts val="0"/>
              </a:spcAft>
              <a:defRPr sz="1800" b="0">
                <a:solidFill>
                  <a:srgbClr val="182B3A"/>
                </a:solidFill>
                <a:latin typeface="Arial"/>
              </a:defRPr>
            </a:pPr>
            <a:r>
              <a:t>Larger minus smaller: 7 − 4 = 3</a:t>
            </a:r>
          </a:p>
          <a:p>
            <a:pPr>
              <a:lnSpc>
                <a:spcPts val="1944"/>
              </a:lnSpc>
              <a:spcBef>
                <a:spcPts val="0"/>
              </a:spcBef>
              <a:spcAft>
                <a:spcPts val="0"/>
              </a:spcAft>
              <a:defRPr sz="1800" b="0">
                <a:solidFill>
                  <a:srgbClr val="182B3A"/>
                </a:solidFill>
                <a:latin typeface="Arial"/>
              </a:defRPr>
            </a:pPr>
            <a:r>
              <a:t>Answer: 3</a:t>
            </a:r>
          </a:p>
        </p:txBody>
      </p:sp>
      <p:sp>
        <p:nvSpPr>
          <p:cNvPr id="14" name="Rectangle 13"/>
          <p:cNvSpPr/>
          <p:nvPr/>
        </p:nvSpPr>
        <p:spPr>
          <a:xfrm>
            <a:off x="384048" y="5724144"/>
            <a:ext cx="4588764" cy="1929384"/>
          </a:xfrm>
          <a:prstGeom prst="rect">
            <a:avLst/>
          </a:prstGeom>
          <a:solidFill>
            <a:srgbClr val="EDF6F5"/>
          </a:solidFill>
          <a:ln w="7620">
            <a:solidFill>
              <a:srgbClr val="D8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75488" y="5769864"/>
            <a:ext cx="4383024" cy="822960"/>
          </a:xfrm>
          <a:prstGeom prst="rect">
            <a:avLst/>
          </a:prstGeom>
          <a:noFill/>
        </p:spPr>
        <p:txBody>
          <a:bodyPr wrap="square" tIns="36576" bIns="36576" anchor="t">
            <a:spAutoFit/>
          </a:bodyPr>
          <a:lstStyle/>
          <a:p>
            <a:pPr>
              <a:lnSpc>
                <a:spcPts val="2052"/>
              </a:lnSpc>
              <a:spcBef>
                <a:spcPts val="0"/>
              </a:spcBef>
              <a:spcAft>
                <a:spcPts val="0"/>
              </a:spcAft>
              <a:defRPr sz="1900" b="1">
                <a:solidFill>
                  <a:srgbClr val="182B3A"/>
                </a:solidFill>
                <a:latin typeface="Arial"/>
              </a:defRPr>
            </a:pPr>
            <a:r>
              <a:t>3.  −2 − 4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75488" y="6501383"/>
            <a:ext cx="4383024" cy="1124712"/>
          </a:xfrm>
          <a:prstGeom prst="rect">
            <a:avLst/>
          </a:prstGeom>
          <a:noFill/>
        </p:spPr>
        <p:txBody>
          <a:bodyPr wrap="square" tIns="36576" bIns="36576" anchor="t">
            <a:spAutoFit/>
          </a:bodyPr>
          <a:lstStyle/>
          <a:p>
            <a:pPr>
              <a:lnSpc>
                <a:spcPts val="1944"/>
              </a:lnSpc>
              <a:spcBef>
                <a:spcPts val="0"/>
              </a:spcBef>
              <a:spcAft>
                <a:spcPts val="0"/>
              </a:spcAft>
              <a:defRPr sz="1800" b="0">
                <a:solidFill>
                  <a:srgbClr val="182B3A"/>
                </a:solidFill>
                <a:latin typeface="Arial"/>
              </a:defRPr>
            </a:pPr>
            <a:r>
              <a:t>Two minus signs make plus</a:t>
            </a:r>
          </a:p>
          <a:p>
            <a:pPr>
              <a:lnSpc>
                <a:spcPts val="1944"/>
              </a:lnSpc>
              <a:spcBef>
                <a:spcPts val="0"/>
              </a:spcBef>
              <a:spcAft>
                <a:spcPts val="0"/>
              </a:spcAft>
              <a:defRPr sz="1800" b="0">
                <a:solidFill>
                  <a:srgbClr val="182B3A"/>
                </a:solidFill>
                <a:latin typeface="Arial"/>
              </a:defRPr>
            </a:pPr>
            <a:r>
              <a:t>2 + 4 = 6</a:t>
            </a:r>
          </a:p>
          <a:p>
            <a:pPr>
              <a:lnSpc>
                <a:spcPts val="1944"/>
              </a:lnSpc>
              <a:spcBef>
                <a:spcPts val="0"/>
              </a:spcBef>
              <a:spcAft>
                <a:spcPts val="0"/>
              </a:spcAft>
              <a:defRPr sz="1800" b="0">
                <a:solidFill>
                  <a:srgbClr val="182B3A"/>
                </a:solidFill>
                <a:latin typeface="Arial"/>
              </a:defRPr>
            </a:pPr>
            <a:r>
              <a:t>Answer: 6</a:t>
            </a:r>
          </a:p>
        </p:txBody>
      </p:sp>
      <p:sp>
        <p:nvSpPr>
          <p:cNvPr id="17" name="Rectangle 16"/>
          <p:cNvSpPr/>
          <p:nvPr/>
        </p:nvSpPr>
        <p:spPr>
          <a:xfrm>
            <a:off x="5004816" y="1234440"/>
            <a:ext cx="4588764" cy="420624"/>
          </a:xfrm>
          <a:prstGeom prst="rect">
            <a:avLst/>
          </a:prstGeom>
          <a:solidFill>
            <a:srgbClr val="3559A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5068824" y="1261872"/>
            <a:ext cx="4474464" cy="347472"/>
          </a:xfrm>
          <a:prstGeom prst="rect">
            <a:avLst/>
          </a:prstGeom>
          <a:noFill/>
        </p:spPr>
        <p:txBody>
          <a:bodyPr wrap="square" tIns="36576" bIns="36576" anchor="t">
            <a:spAutoFit/>
          </a:bodyPr>
          <a:lstStyle/>
          <a:p>
            <a:pPr>
              <a:lnSpc>
                <a:spcPts val="2160"/>
              </a:lnSpc>
              <a:spcBef>
                <a:spcPts val="0"/>
              </a:spcBef>
              <a:spcAft>
                <a:spcPts val="0"/>
              </a:spcAft>
              <a:defRPr sz="2000" b="1">
                <a:solidFill>
                  <a:srgbClr val="FFFFFF"/>
                </a:solidFill>
                <a:latin typeface="Arial"/>
              </a:defRPr>
            </a:pPr>
            <a:r>
              <a:t>Thread 2: Core</a:t>
            </a:r>
          </a:p>
        </p:txBody>
      </p:sp>
      <p:sp>
        <p:nvSpPr>
          <p:cNvPr id="19" name="Rectangle 18"/>
          <p:cNvSpPr/>
          <p:nvPr/>
        </p:nvSpPr>
        <p:spPr>
          <a:xfrm>
            <a:off x="5004816" y="1719072"/>
            <a:ext cx="4588764" cy="1929384"/>
          </a:xfrm>
          <a:prstGeom prst="rect">
            <a:avLst/>
          </a:prstGeom>
          <a:solidFill>
            <a:srgbClr val="EFF3FA"/>
          </a:solidFill>
          <a:ln w="7620">
            <a:solidFill>
              <a:srgbClr val="D8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5096256" y="1764792"/>
            <a:ext cx="4383024" cy="822960"/>
          </a:xfrm>
          <a:prstGeom prst="rect">
            <a:avLst/>
          </a:prstGeom>
          <a:noFill/>
        </p:spPr>
        <p:txBody>
          <a:bodyPr wrap="square" tIns="36576" bIns="36576" anchor="t">
            <a:spAutoFit/>
          </a:bodyPr>
          <a:lstStyle/>
          <a:p>
            <a:pPr>
              <a:lnSpc>
                <a:spcPts val="2052"/>
              </a:lnSpc>
              <a:spcBef>
                <a:spcPts val="0"/>
              </a:spcBef>
              <a:spcAft>
                <a:spcPts val="0"/>
              </a:spcAft>
              <a:defRPr sz="1900" b="1">
                <a:solidFill>
                  <a:srgbClr val="182B3A"/>
                </a:solidFill>
                <a:latin typeface="Arial"/>
              </a:defRPr>
            </a:pPr>
            <a:r>
              <a:t>1.  6 + (−9)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096256" y="2496312"/>
            <a:ext cx="4383024" cy="1124712"/>
          </a:xfrm>
          <a:prstGeom prst="rect">
            <a:avLst/>
          </a:prstGeom>
          <a:noFill/>
        </p:spPr>
        <p:txBody>
          <a:bodyPr wrap="square" tIns="36576" bIns="36576" anchor="t">
            <a:spAutoFit/>
          </a:bodyPr>
          <a:lstStyle/>
          <a:p>
            <a:pPr>
              <a:lnSpc>
                <a:spcPts val="1944"/>
              </a:lnSpc>
              <a:spcBef>
                <a:spcPts val="0"/>
              </a:spcBef>
              <a:spcAft>
                <a:spcPts val="0"/>
              </a:spcAft>
              <a:defRPr sz="1800" b="0">
                <a:solidFill>
                  <a:srgbClr val="182B3A"/>
                </a:solidFill>
                <a:latin typeface="Arial"/>
              </a:defRPr>
            </a:pPr>
            <a:r>
              <a:t>Adding means move right</a:t>
            </a:r>
          </a:p>
          <a:p>
            <a:pPr>
              <a:lnSpc>
                <a:spcPts val="1944"/>
              </a:lnSpc>
              <a:spcBef>
                <a:spcPts val="0"/>
              </a:spcBef>
              <a:spcAft>
                <a:spcPts val="0"/>
              </a:spcAft>
              <a:defRPr sz="1800" b="0">
                <a:solidFill>
                  <a:srgbClr val="182B3A"/>
                </a:solidFill>
                <a:latin typeface="Arial"/>
              </a:defRPr>
            </a:pPr>
            <a:r>
              <a:t>6 + 9 = 15</a:t>
            </a:r>
          </a:p>
          <a:p>
            <a:pPr>
              <a:lnSpc>
                <a:spcPts val="1944"/>
              </a:lnSpc>
              <a:spcBef>
                <a:spcPts val="0"/>
              </a:spcBef>
              <a:spcAft>
                <a:spcPts val="0"/>
              </a:spcAft>
              <a:defRPr sz="1800" b="0">
                <a:solidFill>
                  <a:srgbClr val="182B3A"/>
                </a:solidFill>
                <a:latin typeface="Arial"/>
              </a:defRPr>
            </a:pPr>
            <a:r>
              <a:t>Answer: 15</a:t>
            </a:r>
          </a:p>
        </p:txBody>
      </p:sp>
      <p:sp>
        <p:nvSpPr>
          <p:cNvPr id="22" name="Rectangle 21"/>
          <p:cNvSpPr/>
          <p:nvPr/>
        </p:nvSpPr>
        <p:spPr>
          <a:xfrm>
            <a:off x="5004816" y="3721608"/>
            <a:ext cx="4588764" cy="1929384"/>
          </a:xfrm>
          <a:prstGeom prst="rect">
            <a:avLst/>
          </a:prstGeom>
          <a:solidFill>
            <a:srgbClr val="FFFFFF"/>
          </a:solidFill>
          <a:ln w="7620">
            <a:solidFill>
              <a:srgbClr val="D8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5096256" y="3767328"/>
            <a:ext cx="4383024" cy="822960"/>
          </a:xfrm>
          <a:prstGeom prst="rect">
            <a:avLst/>
          </a:prstGeom>
          <a:noFill/>
        </p:spPr>
        <p:txBody>
          <a:bodyPr wrap="square" tIns="36576" bIns="36576" anchor="t">
            <a:spAutoFit/>
          </a:bodyPr>
          <a:lstStyle/>
          <a:p>
            <a:pPr>
              <a:lnSpc>
                <a:spcPts val="2052"/>
              </a:lnSpc>
              <a:spcBef>
                <a:spcPts val="0"/>
              </a:spcBef>
              <a:spcAft>
                <a:spcPts val="0"/>
              </a:spcAft>
              <a:defRPr sz="1900" b="1">
                <a:solidFill>
                  <a:srgbClr val="182B3A"/>
                </a:solidFill>
                <a:latin typeface="Arial"/>
              </a:defRPr>
            </a:pPr>
            <a:r>
              <a:t>2.  −5 − (−3)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096256" y="4498848"/>
            <a:ext cx="4383024" cy="1124712"/>
          </a:xfrm>
          <a:prstGeom prst="rect">
            <a:avLst/>
          </a:prstGeom>
          <a:noFill/>
        </p:spPr>
        <p:txBody>
          <a:bodyPr wrap="square" tIns="36576" bIns="36576" anchor="t">
            <a:spAutoFit/>
          </a:bodyPr>
          <a:lstStyle/>
          <a:p>
            <a:pPr>
              <a:lnSpc>
                <a:spcPts val="1944"/>
              </a:lnSpc>
              <a:spcBef>
                <a:spcPts val="0"/>
              </a:spcBef>
              <a:spcAft>
                <a:spcPts val="0"/>
              </a:spcAft>
              <a:defRPr sz="1800" b="0">
                <a:solidFill>
                  <a:srgbClr val="182B3A"/>
                </a:solidFill>
                <a:latin typeface="Arial"/>
              </a:defRPr>
            </a:pPr>
            <a:r>
              <a:t>Remove the brackets</a:t>
            </a:r>
          </a:p>
          <a:p>
            <a:pPr>
              <a:lnSpc>
                <a:spcPts val="1944"/>
              </a:lnSpc>
              <a:spcBef>
                <a:spcPts val="0"/>
              </a:spcBef>
              <a:spcAft>
                <a:spcPts val="0"/>
              </a:spcAft>
              <a:defRPr sz="1800" b="0">
                <a:solidFill>
                  <a:srgbClr val="182B3A"/>
                </a:solidFill>
                <a:latin typeface="Arial"/>
              </a:defRPr>
            </a:pPr>
            <a:r>
              <a:t>−5 − 3 = −8</a:t>
            </a:r>
          </a:p>
          <a:p>
            <a:pPr>
              <a:lnSpc>
                <a:spcPts val="1944"/>
              </a:lnSpc>
              <a:spcBef>
                <a:spcPts val="0"/>
              </a:spcBef>
              <a:spcAft>
                <a:spcPts val="0"/>
              </a:spcAft>
              <a:defRPr sz="1800" b="0">
                <a:solidFill>
                  <a:srgbClr val="182B3A"/>
                </a:solidFill>
                <a:latin typeface="Arial"/>
              </a:defRPr>
            </a:pPr>
            <a:r>
              <a:t>Answer: −8</a:t>
            </a:r>
          </a:p>
        </p:txBody>
      </p:sp>
      <p:sp>
        <p:nvSpPr>
          <p:cNvPr id="25" name="Rectangle 24"/>
          <p:cNvSpPr/>
          <p:nvPr/>
        </p:nvSpPr>
        <p:spPr>
          <a:xfrm>
            <a:off x="5004816" y="5724144"/>
            <a:ext cx="4588764" cy="1929384"/>
          </a:xfrm>
          <a:prstGeom prst="rect">
            <a:avLst/>
          </a:prstGeom>
          <a:solidFill>
            <a:srgbClr val="EFF3FA"/>
          </a:solidFill>
          <a:ln w="7620">
            <a:solidFill>
              <a:srgbClr val="D8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5096256" y="5769864"/>
            <a:ext cx="4383024" cy="822960"/>
          </a:xfrm>
          <a:prstGeom prst="rect">
            <a:avLst/>
          </a:prstGeom>
          <a:noFill/>
        </p:spPr>
        <p:txBody>
          <a:bodyPr wrap="square" tIns="36576" bIns="36576" anchor="t">
            <a:spAutoFit/>
          </a:bodyPr>
          <a:lstStyle/>
          <a:p>
            <a:pPr>
              <a:lnSpc>
                <a:spcPts val="2052"/>
              </a:lnSpc>
              <a:spcBef>
                <a:spcPts val="0"/>
              </a:spcBef>
              <a:spcAft>
                <a:spcPts val="0"/>
              </a:spcAft>
              <a:defRPr sz="1900" b="1">
                <a:solidFill>
                  <a:srgbClr val="182B3A"/>
                </a:solidFill>
                <a:latin typeface="Arial"/>
              </a:defRPr>
            </a:pPr>
            <a:r>
              <a:t>3.  −7 + (−4)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5096256" y="6501383"/>
            <a:ext cx="4383024" cy="1124712"/>
          </a:xfrm>
          <a:prstGeom prst="rect">
            <a:avLst/>
          </a:prstGeom>
          <a:noFill/>
        </p:spPr>
        <p:txBody>
          <a:bodyPr wrap="square" tIns="36576" bIns="36576" anchor="t">
            <a:spAutoFit/>
          </a:bodyPr>
          <a:lstStyle/>
          <a:p>
            <a:pPr>
              <a:lnSpc>
                <a:spcPts val="1944"/>
              </a:lnSpc>
              <a:spcBef>
                <a:spcPts val="0"/>
              </a:spcBef>
              <a:spcAft>
                <a:spcPts val="0"/>
              </a:spcAft>
              <a:defRPr sz="1800" b="0">
                <a:solidFill>
                  <a:srgbClr val="182B3A"/>
                </a:solidFill>
                <a:latin typeface="Arial"/>
              </a:defRPr>
            </a:pPr>
            <a:r>
              <a:t>Two negatives make positive</a:t>
            </a:r>
          </a:p>
          <a:p>
            <a:pPr>
              <a:lnSpc>
                <a:spcPts val="1944"/>
              </a:lnSpc>
              <a:spcBef>
                <a:spcPts val="0"/>
              </a:spcBef>
              <a:spcAft>
                <a:spcPts val="0"/>
              </a:spcAft>
              <a:defRPr sz="1800" b="0">
                <a:solidFill>
                  <a:srgbClr val="182B3A"/>
                </a:solidFill>
                <a:latin typeface="Arial"/>
              </a:defRPr>
            </a:pPr>
            <a:r>
              <a:t>7 + 4 = 11</a:t>
            </a:r>
          </a:p>
          <a:p>
            <a:pPr>
              <a:lnSpc>
                <a:spcPts val="1944"/>
              </a:lnSpc>
              <a:spcBef>
                <a:spcPts val="0"/>
              </a:spcBef>
              <a:spcAft>
                <a:spcPts val="0"/>
              </a:spcAft>
              <a:defRPr sz="1800" b="0">
                <a:solidFill>
                  <a:srgbClr val="182B3A"/>
                </a:solidFill>
                <a:latin typeface="Arial"/>
              </a:defRPr>
            </a:pPr>
            <a:r>
              <a:t>Answer: 11</a:t>
            </a:r>
          </a:p>
        </p:txBody>
      </p:sp>
      <p:sp>
        <p:nvSpPr>
          <p:cNvPr id="28" name="Rectangle 27"/>
          <p:cNvSpPr/>
          <p:nvPr/>
        </p:nvSpPr>
        <p:spPr>
          <a:xfrm>
            <a:off x="9625584" y="1234440"/>
            <a:ext cx="4588764" cy="420624"/>
          </a:xfrm>
          <a:prstGeom prst="rect">
            <a:avLst/>
          </a:prstGeom>
          <a:solidFill>
            <a:srgbClr val="754B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9689592" y="1261872"/>
            <a:ext cx="4474464" cy="347472"/>
          </a:xfrm>
          <a:prstGeom prst="rect">
            <a:avLst/>
          </a:prstGeom>
          <a:noFill/>
        </p:spPr>
        <p:txBody>
          <a:bodyPr wrap="square" tIns="36576" bIns="36576" anchor="t">
            <a:spAutoFit/>
          </a:bodyPr>
          <a:lstStyle/>
          <a:p>
            <a:pPr>
              <a:lnSpc>
                <a:spcPts val="2160"/>
              </a:lnSpc>
              <a:spcBef>
                <a:spcPts val="0"/>
              </a:spcBef>
              <a:spcAft>
                <a:spcPts val="0"/>
              </a:spcAft>
              <a:defRPr sz="2000" b="1">
                <a:solidFill>
                  <a:srgbClr val="FFFFFF"/>
                </a:solidFill>
                <a:latin typeface="Arial"/>
              </a:defRPr>
            </a:pPr>
            <a:r>
              <a:t>Thread 3: Depth</a:t>
            </a:r>
          </a:p>
        </p:txBody>
      </p:sp>
      <p:sp>
        <p:nvSpPr>
          <p:cNvPr id="30" name="Rectangle 29"/>
          <p:cNvSpPr/>
          <p:nvPr/>
        </p:nvSpPr>
        <p:spPr>
          <a:xfrm>
            <a:off x="9625584" y="1719072"/>
            <a:ext cx="4588764" cy="1929384"/>
          </a:xfrm>
          <a:prstGeom prst="rect">
            <a:avLst/>
          </a:prstGeom>
          <a:solidFill>
            <a:srgbClr val="F5F0F7"/>
          </a:solidFill>
          <a:ln w="7620">
            <a:solidFill>
              <a:srgbClr val="D8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9717024" y="1764792"/>
            <a:ext cx="4383024" cy="822960"/>
          </a:xfrm>
          <a:prstGeom prst="rect">
            <a:avLst/>
          </a:prstGeom>
          <a:noFill/>
        </p:spPr>
        <p:txBody>
          <a:bodyPr wrap="square" tIns="36576" bIns="36576" anchor="t">
            <a:spAutoFit/>
          </a:bodyPr>
          <a:lstStyle/>
          <a:p>
            <a:pPr>
              <a:lnSpc>
                <a:spcPts val="2052"/>
              </a:lnSpc>
              <a:spcBef>
                <a:spcPts val="0"/>
              </a:spcBef>
              <a:spcAft>
                <a:spcPts val="0"/>
              </a:spcAft>
              <a:defRPr sz="1900" b="1">
                <a:solidFill>
                  <a:srgbClr val="182B3A"/>
                </a:solidFill>
                <a:latin typeface="Arial"/>
              </a:defRPr>
            </a:pPr>
            <a:r>
              <a:t>1.  −4 − (−7) + (−6)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9717024" y="2496312"/>
            <a:ext cx="4383024" cy="1124712"/>
          </a:xfrm>
          <a:prstGeom prst="rect">
            <a:avLst/>
          </a:prstGeom>
          <a:noFill/>
        </p:spPr>
        <p:txBody>
          <a:bodyPr wrap="square" tIns="36576" bIns="36576" anchor="t">
            <a:spAutoFit/>
          </a:bodyPr>
          <a:lstStyle/>
          <a:p>
            <a:pPr>
              <a:lnSpc>
                <a:spcPts val="1944"/>
              </a:lnSpc>
              <a:spcBef>
                <a:spcPts val="0"/>
              </a:spcBef>
              <a:spcAft>
                <a:spcPts val="0"/>
              </a:spcAft>
              <a:defRPr sz="1800" b="0">
                <a:solidFill>
                  <a:srgbClr val="182B3A"/>
                </a:solidFill>
                <a:latin typeface="Arial"/>
              </a:defRPr>
            </a:pPr>
            <a:r>
              <a:t>−4 + 7 + 6</a:t>
            </a:r>
          </a:p>
          <a:p>
            <a:pPr>
              <a:lnSpc>
                <a:spcPts val="1944"/>
              </a:lnSpc>
              <a:spcBef>
                <a:spcPts val="0"/>
              </a:spcBef>
              <a:spcAft>
                <a:spcPts val="0"/>
              </a:spcAft>
              <a:defRPr sz="1800" b="0">
                <a:solidFill>
                  <a:srgbClr val="182B3A"/>
                </a:solidFill>
                <a:latin typeface="Arial"/>
              </a:defRPr>
            </a:pPr>
            <a:r>
              <a:t>3 + 6 = 9</a:t>
            </a:r>
          </a:p>
          <a:p>
            <a:pPr>
              <a:lnSpc>
                <a:spcPts val="1944"/>
              </a:lnSpc>
              <a:spcBef>
                <a:spcPts val="0"/>
              </a:spcBef>
              <a:spcAft>
                <a:spcPts val="0"/>
              </a:spcAft>
              <a:defRPr sz="1800" b="0">
                <a:solidFill>
                  <a:srgbClr val="182B3A"/>
                </a:solidFill>
                <a:latin typeface="Arial"/>
              </a:defRPr>
            </a:pPr>
            <a:r>
              <a:t>Answer: 9</a:t>
            </a:r>
          </a:p>
        </p:txBody>
      </p:sp>
      <p:sp>
        <p:nvSpPr>
          <p:cNvPr id="33" name="Rectangle 32"/>
          <p:cNvSpPr/>
          <p:nvPr/>
        </p:nvSpPr>
        <p:spPr>
          <a:xfrm>
            <a:off x="9625584" y="3721608"/>
            <a:ext cx="4588764" cy="1929384"/>
          </a:xfrm>
          <a:prstGeom prst="rect">
            <a:avLst/>
          </a:prstGeom>
          <a:solidFill>
            <a:srgbClr val="FFFFFF"/>
          </a:solidFill>
          <a:ln w="7620">
            <a:solidFill>
              <a:srgbClr val="D8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9717024" y="3767328"/>
            <a:ext cx="4383024" cy="822960"/>
          </a:xfrm>
          <a:prstGeom prst="rect">
            <a:avLst/>
          </a:prstGeom>
          <a:noFill/>
        </p:spPr>
        <p:txBody>
          <a:bodyPr wrap="square" tIns="36576" bIns="36576" anchor="t">
            <a:spAutoFit/>
          </a:bodyPr>
          <a:lstStyle/>
          <a:p>
            <a:pPr>
              <a:lnSpc>
                <a:spcPts val="2052"/>
              </a:lnSpc>
              <a:spcBef>
                <a:spcPts val="0"/>
              </a:spcBef>
              <a:spcAft>
                <a:spcPts val="0"/>
              </a:spcAft>
              <a:defRPr sz="1900" b="1">
                <a:solidFill>
                  <a:srgbClr val="182B3A"/>
                </a:solidFill>
                <a:latin typeface="Arial"/>
              </a:defRPr>
            </a:pPr>
            <a:r>
              <a:t>2.  8 + (−12) − (−5)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9717024" y="4498848"/>
            <a:ext cx="4383024" cy="1124712"/>
          </a:xfrm>
          <a:prstGeom prst="rect">
            <a:avLst/>
          </a:prstGeom>
          <a:noFill/>
        </p:spPr>
        <p:txBody>
          <a:bodyPr wrap="square" tIns="36576" bIns="36576" anchor="t">
            <a:spAutoFit/>
          </a:bodyPr>
          <a:lstStyle/>
          <a:p>
            <a:pPr>
              <a:lnSpc>
                <a:spcPts val="1944"/>
              </a:lnSpc>
              <a:spcBef>
                <a:spcPts val="0"/>
              </a:spcBef>
              <a:spcAft>
                <a:spcPts val="0"/>
              </a:spcAft>
              <a:defRPr sz="1800" b="0">
                <a:solidFill>
                  <a:srgbClr val="182B3A"/>
                </a:solidFill>
                <a:latin typeface="Arial"/>
              </a:defRPr>
            </a:pPr>
            <a:r>
              <a:t>8 − 12 − 5</a:t>
            </a:r>
          </a:p>
          <a:p>
            <a:pPr>
              <a:lnSpc>
                <a:spcPts val="1944"/>
              </a:lnSpc>
              <a:spcBef>
                <a:spcPts val="0"/>
              </a:spcBef>
              <a:spcAft>
                <a:spcPts val="0"/>
              </a:spcAft>
              <a:defRPr sz="1800" b="0">
                <a:solidFill>
                  <a:srgbClr val="182B3A"/>
                </a:solidFill>
                <a:latin typeface="Arial"/>
              </a:defRPr>
            </a:pPr>
            <a:r>
              <a:t>−4 − 5 = −9</a:t>
            </a:r>
          </a:p>
          <a:p>
            <a:pPr>
              <a:lnSpc>
                <a:spcPts val="1944"/>
              </a:lnSpc>
              <a:spcBef>
                <a:spcPts val="0"/>
              </a:spcBef>
              <a:spcAft>
                <a:spcPts val="0"/>
              </a:spcAft>
              <a:defRPr sz="1800" b="0">
                <a:solidFill>
                  <a:srgbClr val="182B3A"/>
                </a:solidFill>
                <a:latin typeface="Arial"/>
              </a:defRPr>
            </a:pPr>
            <a:r>
              <a:t>Answer: −9</a:t>
            </a:r>
          </a:p>
        </p:txBody>
      </p:sp>
      <p:sp>
        <p:nvSpPr>
          <p:cNvPr id="36" name="Rectangle 35"/>
          <p:cNvSpPr/>
          <p:nvPr/>
        </p:nvSpPr>
        <p:spPr>
          <a:xfrm>
            <a:off x="9625584" y="5724144"/>
            <a:ext cx="4588764" cy="1929384"/>
          </a:xfrm>
          <a:prstGeom prst="rect">
            <a:avLst/>
          </a:prstGeom>
          <a:solidFill>
            <a:srgbClr val="F5F0F7"/>
          </a:solidFill>
          <a:ln w="7620">
            <a:solidFill>
              <a:srgbClr val="D8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9717024" y="5769864"/>
            <a:ext cx="4383024" cy="822960"/>
          </a:xfrm>
          <a:prstGeom prst="rect">
            <a:avLst/>
          </a:prstGeom>
          <a:noFill/>
        </p:spPr>
        <p:txBody>
          <a:bodyPr wrap="square" tIns="36576" bIns="36576" anchor="t">
            <a:spAutoFit/>
          </a:bodyPr>
          <a:lstStyle/>
          <a:p>
            <a:pPr>
              <a:lnSpc>
                <a:spcPts val="2052"/>
              </a:lnSpc>
              <a:spcBef>
                <a:spcPts val="0"/>
              </a:spcBef>
              <a:spcAft>
                <a:spcPts val="0"/>
              </a:spcAft>
              <a:defRPr sz="1900" b="1">
                <a:solidFill>
                  <a:srgbClr val="182B3A"/>
                </a:solidFill>
                <a:latin typeface="Arial"/>
              </a:defRPr>
            </a:pPr>
            <a:r>
              <a:t>3.  −9 − 4 + 10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9717024" y="6501383"/>
            <a:ext cx="4383024" cy="1124712"/>
          </a:xfrm>
          <a:prstGeom prst="rect">
            <a:avLst/>
          </a:prstGeom>
          <a:noFill/>
        </p:spPr>
        <p:txBody>
          <a:bodyPr wrap="square" tIns="36576" bIns="36576" anchor="t">
            <a:spAutoFit/>
          </a:bodyPr>
          <a:lstStyle/>
          <a:p>
            <a:pPr>
              <a:lnSpc>
                <a:spcPts val="1944"/>
              </a:lnSpc>
              <a:spcBef>
                <a:spcPts val="0"/>
              </a:spcBef>
              <a:spcAft>
                <a:spcPts val="0"/>
              </a:spcAft>
              <a:defRPr sz="1800" b="0">
                <a:solidFill>
                  <a:srgbClr val="182B3A"/>
                </a:solidFill>
                <a:latin typeface="Arial"/>
              </a:defRPr>
            </a:pPr>
            <a:r>
              <a:t>−9 − 4 = −5</a:t>
            </a:r>
          </a:p>
          <a:p>
            <a:pPr>
              <a:lnSpc>
                <a:spcPts val="1944"/>
              </a:lnSpc>
              <a:spcBef>
                <a:spcPts val="0"/>
              </a:spcBef>
              <a:spcAft>
                <a:spcPts val="0"/>
              </a:spcAft>
              <a:defRPr sz="1800" b="0">
                <a:solidFill>
                  <a:srgbClr val="182B3A"/>
                </a:solidFill>
                <a:latin typeface="Arial"/>
              </a:defRPr>
            </a:pPr>
            <a:r>
              <a:t>−5 + 10 = 5</a:t>
            </a:r>
          </a:p>
          <a:p>
            <a:pPr>
              <a:lnSpc>
                <a:spcPts val="1944"/>
              </a:lnSpc>
              <a:spcBef>
                <a:spcPts val="0"/>
              </a:spcBef>
              <a:spcAft>
                <a:spcPts val="0"/>
              </a:spcAft>
              <a:defRPr sz="1800" b="0">
                <a:solidFill>
                  <a:srgbClr val="182B3A"/>
                </a:solidFill>
                <a:latin typeface="Arial"/>
              </a:defRPr>
            </a:pPr>
            <a:r>
              <a:t>Answer: 5</a:t>
            </a:r>
          </a:p>
        </p:txBody>
      </p:sp>
    </p:spTree>
  </p:cSld>
  <p:clrMapOvr>
    <a:masterClrMapping/>
  </p:clrMapOvr>
</p:sld>
</file>

<file path=ppt/slides/slide100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8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4630400" cy="73152"/>
          </a:xfrm>
          <a:prstGeom prst="rect">
            <a:avLst/>
          </a:prstGeom>
          <a:solidFill>
            <a:srgbClr val="176B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20040" y="164592"/>
            <a:ext cx="13990320" cy="457200"/>
          </a:xfrm>
          <a:prstGeom prst="rect">
            <a:avLst/>
          </a:prstGeom>
          <a:noFill/>
        </p:spPr>
        <p:txBody>
          <a:bodyPr wrap="square" lIns="54864" rIns="54864" tIns="22860" bIns="22860">
            <a:spAutoFit/>
          </a:bodyPr>
          <a:lstStyle/>
          <a:p>
            <a:pPr>
              <a:lnSpc>
                <a:spcPts val="2940"/>
              </a:lnSpc>
              <a:spcBef>
                <a:spcPts val="0"/>
              </a:spcBef>
              <a:spcAft>
                <a:spcPts val="0"/>
              </a:spcAft>
              <a:defRPr sz="2800" b="1">
                <a:solidFill>
                  <a:srgbClr val="182B3A"/>
                </a:solidFill>
                <a:latin typeface="Arial"/>
              </a:defRPr>
            </a:pPr>
            <a:r>
              <a:t>Signed numbers: addition and subtraction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20040" y="704088"/>
            <a:ext cx="13990320" cy="347472"/>
          </a:xfrm>
          <a:prstGeom prst="rect">
            <a:avLst/>
          </a:prstGeom>
          <a:noFill/>
        </p:spPr>
        <p:txBody>
          <a:bodyPr wrap="square" lIns="54864" rIns="54864" tIns="22860" bIns="22860">
            <a:spAutoFit/>
          </a:bodyPr>
          <a:lstStyle/>
          <a:p>
            <a:pPr>
              <a:lnSpc>
                <a:spcPts val="1575"/>
              </a:lnSpc>
              <a:spcBef>
                <a:spcPts val="0"/>
              </a:spcBef>
              <a:spcAft>
                <a:spcPts val="0"/>
              </a:spcAft>
              <a:defRPr sz="1500" b="0">
                <a:solidFill>
                  <a:srgbClr val="526472"/>
                </a:solidFill>
                <a:latin typeface="Arial"/>
              </a:defRPr>
            </a:pPr>
            <a:r>
              <a:t>Initial assessment • Work out all four questions. Show your working.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20040" y="7973568"/>
            <a:ext cx="10789920" cy="210312"/>
          </a:xfrm>
          <a:prstGeom prst="rect">
            <a:avLst/>
          </a:prstGeom>
          <a:noFill/>
        </p:spPr>
        <p:txBody>
          <a:bodyPr wrap="square" lIns="54864" rIns="54864" tIns="22860" bIns="22860">
            <a:spAutoFit/>
          </a:bodyPr>
          <a:lstStyle/>
          <a:p>
            <a:pPr>
              <a:lnSpc>
                <a:spcPts val="1155"/>
              </a:lnSpc>
              <a:spcBef>
                <a:spcPts val="0"/>
              </a:spcBef>
              <a:spcAft>
                <a:spcPts val="0"/>
              </a:spcAft>
              <a:defRPr sz="1100" b="0">
                <a:solidFill>
                  <a:srgbClr val="526472"/>
                </a:solidFill>
                <a:latin typeface="Arial"/>
              </a:defRPr>
            </a:pPr>
            <a:r>
              <a:t>GCSE Maths revision • No calculator • Show your working.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155680" y="7973568"/>
            <a:ext cx="3108960" cy="210312"/>
          </a:xfrm>
          <a:prstGeom prst="rect">
            <a:avLst/>
          </a:prstGeom>
          <a:noFill/>
        </p:spPr>
        <p:txBody>
          <a:bodyPr wrap="square" lIns="54864" rIns="54864" tIns="22860" bIns="22860">
            <a:spAutoFit/>
          </a:bodyPr>
          <a:lstStyle/>
          <a:p>
            <a:pPr>
              <a:lnSpc>
                <a:spcPts val="1155"/>
              </a:lnSpc>
              <a:spcBef>
                <a:spcPts val="0"/>
              </a:spcBef>
              <a:spcAft>
                <a:spcPts val="0"/>
              </a:spcAft>
              <a:defRPr sz="1100" b="0">
                <a:solidFill>
                  <a:srgbClr val="526472"/>
                </a:solidFill>
                <a:latin typeface="Arial"/>
              </a:defRPr>
            </a:pPr>
            <a:r>
              <a:t>M13-IA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1691640"/>
            <a:ext cx="6720840" cy="2514600"/>
          </a:xfrm>
          <a:prstGeom prst="rect">
            <a:avLst/>
          </a:prstGeom>
          <a:solidFill>
            <a:srgbClr val="FFFFFF"/>
          </a:solidFill>
          <a:ln w="7620">
            <a:solidFill>
              <a:srgbClr val="D8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21792" y="1874520"/>
            <a:ext cx="6309360" cy="594360"/>
          </a:xfrm>
          <a:prstGeom prst="rect">
            <a:avLst/>
          </a:prstGeom>
          <a:noFill/>
        </p:spPr>
        <p:txBody>
          <a:bodyPr wrap="square" lIns="54864" rIns="54864" tIns="22860" bIns="22860">
            <a:spAutoFit/>
          </a:bodyPr>
          <a:lstStyle/>
          <a:p>
            <a:pPr>
              <a:lnSpc>
                <a:spcPts val="3150"/>
              </a:lnSpc>
              <a:spcBef>
                <a:spcPts val="0"/>
              </a:spcBef>
              <a:spcAft>
                <a:spcPts val="0"/>
              </a:spcAft>
              <a:defRPr sz="3000" b="1">
                <a:solidFill>
                  <a:srgbClr val="182B3A"/>
                </a:solidFill>
                <a:latin typeface="Arial"/>
              </a:defRPr>
            </a:pPr>
            <a:r>
              <a:t>1.  −2 + 9</a:t>
            </a:r>
          </a:p>
        </p:txBody>
      </p:sp>
      <p:sp>
        <p:nvSpPr>
          <p:cNvPr id="9" name="Rectangle 8"/>
          <p:cNvSpPr/>
          <p:nvPr/>
        </p:nvSpPr>
        <p:spPr>
          <a:xfrm>
            <a:off x="7452360" y="1691640"/>
            <a:ext cx="6720840" cy="2514600"/>
          </a:xfrm>
          <a:prstGeom prst="rect">
            <a:avLst/>
          </a:prstGeom>
          <a:solidFill>
            <a:srgbClr val="FFFFFF"/>
          </a:solidFill>
          <a:ln w="7620">
            <a:solidFill>
              <a:srgbClr val="D8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616952" y="1874520"/>
            <a:ext cx="6309360" cy="594360"/>
          </a:xfrm>
          <a:prstGeom prst="rect">
            <a:avLst/>
          </a:prstGeom>
          <a:noFill/>
        </p:spPr>
        <p:txBody>
          <a:bodyPr wrap="square" lIns="54864" rIns="54864" tIns="22860" bIns="22860">
            <a:spAutoFit/>
          </a:bodyPr>
          <a:lstStyle/>
          <a:p>
            <a:pPr>
              <a:lnSpc>
                <a:spcPts val="3150"/>
              </a:lnSpc>
              <a:spcBef>
                <a:spcPts val="0"/>
              </a:spcBef>
              <a:spcAft>
                <a:spcPts val="0"/>
              </a:spcAft>
              <a:defRPr sz="3000" b="1">
                <a:solidFill>
                  <a:srgbClr val="182B3A"/>
                </a:solidFill>
                <a:latin typeface="Arial"/>
              </a:defRPr>
            </a:pPr>
            <a:r>
              <a:t>2.  6 − 11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57200" y="4480560"/>
            <a:ext cx="6720840" cy="2514600"/>
          </a:xfrm>
          <a:prstGeom prst="rect">
            <a:avLst/>
          </a:prstGeom>
          <a:solidFill>
            <a:srgbClr val="FFFFFF"/>
          </a:solidFill>
          <a:ln w="7620">
            <a:solidFill>
              <a:srgbClr val="D8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21792" y="4663440"/>
            <a:ext cx="6309360" cy="594360"/>
          </a:xfrm>
          <a:prstGeom prst="rect">
            <a:avLst/>
          </a:prstGeom>
          <a:noFill/>
        </p:spPr>
        <p:txBody>
          <a:bodyPr wrap="square" lIns="54864" rIns="54864" tIns="22860" bIns="22860">
            <a:spAutoFit/>
          </a:bodyPr>
          <a:lstStyle/>
          <a:p>
            <a:pPr>
              <a:lnSpc>
                <a:spcPts val="3150"/>
              </a:lnSpc>
              <a:spcBef>
                <a:spcPts val="0"/>
              </a:spcBef>
              <a:spcAft>
                <a:spcPts val="0"/>
              </a:spcAft>
              <a:defRPr sz="3000" b="1">
                <a:solidFill>
                  <a:srgbClr val="182B3A"/>
                </a:solidFill>
                <a:latin typeface="Arial"/>
              </a:defRPr>
            </a:pPr>
            <a:r>
              <a:t>3.  −7 − (−10)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452360" y="4480560"/>
            <a:ext cx="6720840" cy="2514600"/>
          </a:xfrm>
          <a:prstGeom prst="rect">
            <a:avLst/>
          </a:prstGeom>
          <a:solidFill>
            <a:srgbClr val="FFFFFF"/>
          </a:solidFill>
          <a:ln w="7620">
            <a:solidFill>
              <a:srgbClr val="D8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616952" y="4663440"/>
            <a:ext cx="6309360" cy="594360"/>
          </a:xfrm>
          <a:prstGeom prst="rect">
            <a:avLst/>
          </a:prstGeom>
          <a:noFill/>
        </p:spPr>
        <p:txBody>
          <a:bodyPr wrap="square" lIns="54864" rIns="54864" tIns="22860" bIns="22860">
            <a:spAutoFit/>
          </a:bodyPr>
          <a:lstStyle/>
          <a:p>
            <a:pPr>
              <a:lnSpc>
                <a:spcPts val="3150"/>
              </a:lnSpc>
              <a:spcBef>
                <a:spcPts val="0"/>
              </a:spcBef>
              <a:spcAft>
                <a:spcPts val="0"/>
              </a:spcAft>
              <a:defRPr sz="3000" b="1">
                <a:solidFill>
                  <a:srgbClr val="182B3A"/>
                </a:solidFill>
                <a:latin typeface="Arial"/>
              </a:defRPr>
            </a:pPr>
            <a:r>
              <a:t>4.  5 + (−9) − (−6)</a:t>
            </a:r>
          </a:p>
        </p:txBody>
      </p:sp>
    </p:spTree>
  </p:cSld>
  <p:clrMapOvr>
    <a:masterClrMapping/>
  </p:clrMapOvr>
</p:sld>
</file>

<file path=ppt/slides/slide100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8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4630400" cy="73152"/>
          </a:xfrm>
          <a:prstGeom prst="rect">
            <a:avLst/>
          </a:prstGeom>
          <a:solidFill>
            <a:srgbClr val="176B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20040" y="164592"/>
            <a:ext cx="13990320" cy="457200"/>
          </a:xfrm>
          <a:prstGeom prst="rect">
            <a:avLst/>
          </a:prstGeom>
          <a:noFill/>
        </p:spPr>
        <p:txBody>
          <a:bodyPr wrap="square" lIns="54864" rIns="54864" tIns="22860" bIns="22860">
            <a:spAutoFit/>
          </a:bodyPr>
          <a:lstStyle/>
          <a:p>
            <a:pPr>
              <a:lnSpc>
                <a:spcPts val="2940"/>
              </a:lnSpc>
              <a:spcBef>
                <a:spcPts val="0"/>
              </a:spcBef>
              <a:spcAft>
                <a:spcPts val="0"/>
              </a:spcAft>
              <a:defRPr sz="2800" b="1">
                <a:solidFill>
                  <a:srgbClr val="182B3A"/>
                </a:solidFill>
                <a:latin typeface="Arial"/>
              </a:defRPr>
            </a:pPr>
            <a:r>
              <a:t>Signed numbers: addition and subtraction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20040" y="704088"/>
            <a:ext cx="13990320" cy="347472"/>
          </a:xfrm>
          <a:prstGeom prst="rect">
            <a:avLst/>
          </a:prstGeom>
          <a:noFill/>
        </p:spPr>
        <p:txBody>
          <a:bodyPr wrap="square" lIns="54864" rIns="54864" tIns="22860" bIns="22860">
            <a:spAutoFit/>
          </a:bodyPr>
          <a:lstStyle/>
          <a:p>
            <a:pPr>
              <a:lnSpc>
                <a:spcPts val="1575"/>
              </a:lnSpc>
              <a:spcBef>
                <a:spcPts val="0"/>
              </a:spcBef>
              <a:spcAft>
                <a:spcPts val="0"/>
              </a:spcAft>
              <a:defRPr sz="1500" b="0">
                <a:solidFill>
                  <a:srgbClr val="526472"/>
                </a:solidFill>
                <a:latin typeface="Arial"/>
              </a:defRPr>
            </a:pPr>
            <a:r>
              <a:t>Rules recap • Start at the first number.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20040" y="7973568"/>
            <a:ext cx="10789920" cy="210312"/>
          </a:xfrm>
          <a:prstGeom prst="rect">
            <a:avLst/>
          </a:prstGeom>
          <a:noFill/>
        </p:spPr>
        <p:txBody>
          <a:bodyPr wrap="square" lIns="54864" rIns="54864" tIns="22860" bIns="22860">
            <a:spAutoFit/>
          </a:bodyPr>
          <a:lstStyle/>
          <a:p>
            <a:pPr>
              <a:lnSpc>
                <a:spcPts val="1155"/>
              </a:lnSpc>
              <a:spcBef>
                <a:spcPts val="0"/>
              </a:spcBef>
              <a:spcAft>
                <a:spcPts val="0"/>
              </a:spcAft>
              <a:defRPr sz="1100" b="0">
                <a:solidFill>
                  <a:srgbClr val="526472"/>
                </a:solidFill>
                <a:latin typeface="Arial"/>
              </a:defRPr>
            </a:pPr>
            <a:r>
              <a:t>GCSE Maths revision • No calculator • Show your working.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155680" y="7973568"/>
            <a:ext cx="3108960" cy="210312"/>
          </a:xfrm>
          <a:prstGeom prst="rect">
            <a:avLst/>
          </a:prstGeom>
          <a:noFill/>
        </p:spPr>
        <p:txBody>
          <a:bodyPr wrap="square" lIns="54864" rIns="54864" tIns="22860" bIns="22860">
            <a:spAutoFit/>
          </a:bodyPr>
          <a:lstStyle/>
          <a:p>
            <a:pPr>
              <a:lnSpc>
                <a:spcPts val="1155"/>
              </a:lnSpc>
              <a:spcBef>
                <a:spcPts val="0"/>
              </a:spcBef>
              <a:spcAft>
                <a:spcPts val="0"/>
              </a:spcAft>
              <a:defRPr sz="1100" b="0">
                <a:solidFill>
                  <a:srgbClr val="526472"/>
                </a:solidFill>
                <a:latin typeface="Arial"/>
              </a:defRPr>
            </a:pPr>
            <a:r>
              <a:t>M13-RULES</a:t>
            </a:r>
          </a:p>
        </p:txBody>
      </p:sp>
      <p:sp>
        <p:nvSpPr>
          <p:cNvPr id="7" name="Rectangle 6"/>
          <p:cNvSpPr/>
          <p:nvPr/>
        </p:nvSpPr>
        <p:spPr>
          <a:xfrm>
            <a:off x="365760" y="1280160"/>
            <a:ext cx="6812280" cy="1783080"/>
          </a:xfrm>
          <a:prstGeom prst="rect">
            <a:avLst/>
          </a:prstGeom>
          <a:solidFill>
            <a:srgbClr val="EDF6F5"/>
          </a:solidFill>
          <a:ln w="7620">
            <a:solidFill>
              <a:srgbClr val="D8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02920" y="1389888"/>
            <a:ext cx="6510528" cy="393192"/>
          </a:xfrm>
          <a:prstGeom prst="rect">
            <a:avLst/>
          </a:prstGeom>
          <a:noFill/>
        </p:spPr>
        <p:txBody>
          <a:bodyPr wrap="square" lIns="54864" rIns="54864" tIns="22860" bIns="22860">
            <a:spAutoFit/>
          </a:bodyPr>
          <a:lstStyle/>
          <a:p>
            <a:pPr>
              <a:lnSpc>
                <a:spcPts val="2415"/>
              </a:lnSpc>
              <a:spcBef>
                <a:spcPts val="0"/>
              </a:spcBef>
              <a:spcAft>
                <a:spcPts val="0"/>
              </a:spcAft>
              <a:defRPr sz="2300" b="1">
                <a:solidFill>
                  <a:srgbClr val="176B73"/>
                </a:solidFill>
                <a:latin typeface="Arial"/>
              </a:defRPr>
            </a:pPr>
            <a:r>
              <a:t>Add a positive number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02920" y="1883664"/>
            <a:ext cx="6510528" cy="502920"/>
          </a:xfrm>
          <a:prstGeom prst="rect">
            <a:avLst/>
          </a:prstGeom>
          <a:noFill/>
        </p:spPr>
        <p:txBody>
          <a:bodyPr wrap="square" lIns="54864" rIns="54864" tIns="22860" bIns="22860">
            <a:spAutoFit/>
          </a:bodyPr>
          <a:lstStyle/>
          <a:p>
            <a:pPr>
              <a:lnSpc>
                <a:spcPts val="2100"/>
              </a:lnSpc>
              <a:spcBef>
                <a:spcPts val="0"/>
              </a:spcBef>
              <a:spcAft>
                <a:spcPts val="0"/>
              </a:spcAft>
              <a:defRPr sz="2000" b="0">
                <a:solidFill>
                  <a:srgbClr val="182B3A"/>
                </a:solidFill>
                <a:latin typeface="Arial"/>
              </a:defRPr>
            </a:pPr>
            <a:r>
              <a:t>Move right: the value increases.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02920" y="2450591"/>
            <a:ext cx="6510528" cy="438912"/>
          </a:xfrm>
          <a:prstGeom prst="rect">
            <a:avLst/>
          </a:prstGeom>
          <a:noFill/>
        </p:spPr>
        <p:txBody>
          <a:bodyPr wrap="square" lIns="54864" rIns="54864" tIns="22860" bIns="22860">
            <a:spAutoFit/>
          </a:bodyPr>
          <a:lstStyle/>
          <a:p>
            <a:pPr>
              <a:lnSpc>
                <a:spcPts val="2625"/>
              </a:lnSpc>
              <a:spcBef>
                <a:spcPts val="0"/>
              </a:spcBef>
              <a:spcAft>
                <a:spcPts val="0"/>
              </a:spcAft>
              <a:defRPr sz="2500" b="1">
                <a:solidFill>
                  <a:srgbClr val="182B3A"/>
                </a:solidFill>
                <a:latin typeface="Arial"/>
              </a:defRPr>
            </a:pPr>
            <a:r>
              <a:t>−4 + 7 = 3</a:t>
            </a:r>
          </a:p>
        </p:txBody>
      </p:sp>
      <p:sp>
        <p:nvSpPr>
          <p:cNvPr id="11" name="Rectangle 10"/>
          <p:cNvSpPr/>
          <p:nvPr/>
        </p:nvSpPr>
        <p:spPr>
          <a:xfrm>
            <a:off x="7452360" y="1280160"/>
            <a:ext cx="6812280" cy="1783080"/>
          </a:xfrm>
          <a:prstGeom prst="rect">
            <a:avLst/>
          </a:prstGeom>
          <a:solidFill>
            <a:srgbClr val="EFF3FA"/>
          </a:solidFill>
          <a:ln w="7620">
            <a:solidFill>
              <a:srgbClr val="D8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589520" y="1389888"/>
            <a:ext cx="6510528" cy="393192"/>
          </a:xfrm>
          <a:prstGeom prst="rect">
            <a:avLst/>
          </a:prstGeom>
          <a:noFill/>
        </p:spPr>
        <p:txBody>
          <a:bodyPr wrap="square" lIns="54864" rIns="54864" tIns="22860" bIns="22860">
            <a:spAutoFit/>
          </a:bodyPr>
          <a:lstStyle/>
          <a:p>
            <a:pPr>
              <a:lnSpc>
                <a:spcPts val="2415"/>
              </a:lnSpc>
              <a:spcBef>
                <a:spcPts val="0"/>
              </a:spcBef>
              <a:spcAft>
                <a:spcPts val="0"/>
              </a:spcAft>
              <a:defRPr sz="2300" b="1">
                <a:solidFill>
                  <a:srgbClr val="3559A2"/>
                </a:solidFill>
                <a:latin typeface="Arial"/>
              </a:defRPr>
            </a:pPr>
            <a:r>
              <a:t>Add a negative number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589520" y="1883664"/>
            <a:ext cx="6510528" cy="502920"/>
          </a:xfrm>
          <a:prstGeom prst="rect">
            <a:avLst/>
          </a:prstGeom>
          <a:noFill/>
        </p:spPr>
        <p:txBody>
          <a:bodyPr wrap="square" lIns="54864" rIns="54864" tIns="22860" bIns="22860">
            <a:spAutoFit/>
          </a:bodyPr>
          <a:lstStyle/>
          <a:p>
            <a:pPr>
              <a:lnSpc>
                <a:spcPts val="2100"/>
              </a:lnSpc>
              <a:spcBef>
                <a:spcPts val="0"/>
              </a:spcBef>
              <a:spcAft>
                <a:spcPts val="0"/>
              </a:spcAft>
              <a:defRPr sz="2000" b="0">
                <a:solidFill>
                  <a:srgbClr val="182B3A"/>
                </a:solidFill>
                <a:latin typeface="Arial"/>
              </a:defRPr>
            </a:pPr>
            <a:r>
              <a:t>Move left: the value decreases.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589520" y="2450591"/>
            <a:ext cx="6510528" cy="438912"/>
          </a:xfrm>
          <a:prstGeom prst="rect">
            <a:avLst/>
          </a:prstGeom>
          <a:noFill/>
        </p:spPr>
        <p:txBody>
          <a:bodyPr wrap="square" lIns="54864" rIns="54864" tIns="22860" bIns="22860">
            <a:spAutoFit/>
          </a:bodyPr>
          <a:lstStyle/>
          <a:p>
            <a:pPr>
              <a:lnSpc>
                <a:spcPts val="2625"/>
              </a:lnSpc>
              <a:spcBef>
                <a:spcPts val="0"/>
              </a:spcBef>
              <a:spcAft>
                <a:spcPts val="0"/>
              </a:spcAft>
              <a:defRPr sz="2500" b="1">
                <a:solidFill>
                  <a:srgbClr val="182B3A"/>
                </a:solidFill>
                <a:latin typeface="Arial"/>
              </a:defRPr>
            </a:pPr>
            <a:r>
              <a:t>4 + (−7) = 4 − 7 = −3</a:t>
            </a:r>
          </a:p>
        </p:txBody>
      </p:sp>
      <p:sp>
        <p:nvSpPr>
          <p:cNvPr id="15" name="Rectangle 14"/>
          <p:cNvSpPr/>
          <p:nvPr/>
        </p:nvSpPr>
        <p:spPr>
          <a:xfrm>
            <a:off x="365760" y="3200400"/>
            <a:ext cx="6812280" cy="1783080"/>
          </a:xfrm>
          <a:prstGeom prst="rect">
            <a:avLst/>
          </a:prstGeom>
          <a:solidFill>
            <a:srgbClr val="EDF6F5"/>
          </a:solidFill>
          <a:ln w="7620">
            <a:solidFill>
              <a:srgbClr val="D8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02920" y="3310128"/>
            <a:ext cx="6510528" cy="393192"/>
          </a:xfrm>
          <a:prstGeom prst="rect">
            <a:avLst/>
          </a:prstGeom>
          <a:noFill/>
        </p:spPr>
        <p:txBody>
          <a:bodyPr wrap="square" lIns="54864" rIns="54864" tIns="22860" bIns="22860">
            <a:spAutoFit/>
          </a:bodyPr>
          <a:lstStyle/>
          <a:p>
            <a:pPr>
              <a:lnSpc>
                <a:spcPts val="2415"/>
              </a:lnSpc>
              <a:spcBef>
                <a:spcPts val="0"/>
              </a:spcBef>
              <a:spcAft>
                <a:spcPts val="0"/>
              </a:spcAft>
              <a:defRPr sz="2300" b="1">
                <a:solidFill>
                  <a:srgbClr val="176B73"/>
                </a:solidFill>
                <a:latin typeface="Arial"/>
              </a:defRPr>
            </a:pPr>
            <a:r>
              <a:t>Subtract a positive number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02920" y="3803904"/>
            <a:ext cx="6510528" cy="502920"/>
          </a:xfrm>
          <a:prstGeom prst="rect">
            <a:avLst/>
          </a:prstGeom>
          <a:noFill/>
        </p:spPr>
        <p:txBody>
          <a:bodyPr wrap="square" lIns="54864" rIns="54864" tIns="22860" bIns="22860">
            <a:spAutoFit/>
          </a:bodyPr>
          <a:lstStyle/>
          <a:p>
            <a:pPr>
              <a:lnSpc>
                <a:spcPts val="2100"/>
              </a:lnSpc>
              <a:spcBef>
                <a:spcPts val="0"/>
              </a:spcBef>
              <a:spcAft>
                <a:spcPts val="0"/>
              </a:spcAft>
              <a:defRPr sz="2000" b="0">
                <a:solidFill>
                  <a:srgbClr val="182B3A"/>
                </a:solidFill>
                <a:latin typeface="Arial"/>
              </a:defRPr>
            </a:pPr>
            <a:r>
              <a:t>Move left: the value decreases.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02920" y="4370832"/>
            <a:ext cx="6510528" cy="438912"/>
          </a:xfrm>
          <a:prstGeom prst="rect">
            <a:avLst/>
          </a:prstGeom>
          <a:noFill/>
        </p:spPr>
        <p:txBody>
          <a:bodyPr wrap="square" lIns="54864" rIns="54864" tIns="22860" bIns="22860">
            <a:spAutoFit/>
          </a:bodyPr>
          <a:lstStyle/>
          <a:p>
            <a:pPr>
              <a:lnSpc>
                <a:spcPts val="2625"/>
              </a:lnSpc>
              <a:spcBef>
                <a:spcPts val="0"/>
              </a:spcBef>
              <a:spcAft>
                <a:spcPts val="0"/>
              </a:spcAft>
              <a:defRPr sz="2500" b="1">
                <a:solidFill>
                  <a:srgbClr val="182B3A"/>
                </a:solidFill>
                <a:latin typeface="Arial"/>
              </a:defRPr>
            </a:pPr>
            <a:r>
              <a:t>3 − 8 = −5</a:t>
            </a:r>
          </a:p>
        </p:txBody>
      </p:sp>
      <p:sp>
        <p:nvSpPr>
          <p:cNvPr id="19" name="Rectangle 18"/>
          <p:cNvSpPr/>
          <p:nvPr/>
        </p:nvSpPr>
        <p:spPr>
          <a:xfrm>
            <a:off x="7452360" y="3200400"/>
            <a:ext cx="6812280" cy="1783080"/>
          </a:xfrm>
          <a:prstGeom prst="rect">
            <a:avLst/>
          </a:prstGeom>
          <a:solidFill>
            <a:srgbClr val="EFF3FA"/>
          </a:solidFill>
          <a:ln w="7620">
            <a:solidFill>
              <a:srgbClr val="D8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7589520" y="3310128"/>
            <a:ext cx="6510528" cy="393192"/>
          </a:xfrm>
          <a:prstGeom prst="rect">
            <a:avLst/>
          </a:prstGeom>
          <a:noFill/>
        </p:spPr>
        <p:txBody>
          <a:bodyPr wrap="square" lIns="54864" rIns="54864" tIns="22860" bIns="22860">
            <a:spAutoFit/>
          </a:bodyPr>
          <a:lstStyle/>
          <a:p>
            <a:pPr>
              <a:lnSpc>
                <a:spcPts val="2415"/>
              </a:lnSpc>
              <a:spcBef>
                <a:spcPts val="0"/>
              </a:spcBef>
              <a:spcAft>
                <a:spcPts val="0"/>
              </a:spcAft>
              <a:defRPr sz="2300" b="1">
                <a:solidFill>
                  <a:srgbClr val="3559A2"/>
                </a:solidFill>
                <a:latin typeface="Arial"/>
              </a:defRPr>
            </a:pPr>
            <a:r>
              <a:t>Subtract a negative number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589520" y="3803904"/>
            <a:ext cx="6510528" cy="502920"/>
          </a:xfrm>
          <a:prstGeom prst="rect">
            <a:avLst/>
          </a:prstGeom>
          <a:noFill/>
        </p:spPr>
        <p:txBody>
          <a:bodyPr wrap="square" lIns="54864" rIns="54864" tIns="22860" bIns="22860">
            <a:spAutoFit/>
          </a:bodyPr>
          <a:lstStyle/>
          <a:p>
            <a:pPr>
              <a:lnSpc>
                <a:spcPts val="2100"/>
              </a:lnSpc>
              <a:spcBef>
                <a:spcPts val="0"/>
              </a:spcBef>
              <a:spcAft>
                <a:spcPts val="0"/>
              </a:spcAft>
              <a:defRPr sz="2000" b="0">
                <a:solidFill>
                  <a:srgbClr val="182B3A"/>
                </a:solidFill>
                <a:latin typeface="Arial"/>
              </a:defRPr>
            </a:pPr>
            <a:r>
              <a:t>Move right: subtracting a negative is adding a positive.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589520" y="4370832"/>
            <a:ext cx="6510528" cy="438912"/>
          </a:xfrm>
          <a:prstGeom prst="rect">
            <a:avLst/>
          </a:prstGeom>
          <a:noFill/>
        </p:spPr>
        <p:txBody>
          <a:bodyPr wrap="square" lIns="54864" rIns="54864" tIns="22860" bIns="22860">
            <a:spAutoFit/>
          </a:bodyPr>
          <a:lstStyle/>
          <a:p>
            <a:pPr>
              <a:lnSpc>
                <a:spcPts val="2625"/>
              </a:lnSpc>
              <a:spcBef>
                <a:spcPts val="0"/>
              </a:spcBef>
              <a:spcAft>
                <a:spcPts val="0"/>
              </a:spcAft>
              <a:defRPr sz="2500" b="1">
                <a:solidFill>
                  <a:srgbClr val="182B3A"/>
                </a:solidFill>
                <a:latin typeface="Arial"/>
              </a:defRPr>
            </a:pPr>
            <a:r>
              <a:t>6 − (−3) = 6 + 3 = 9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57200" y="5276088"/>
            <a:ext cx="13716000" cy="640080"/>
          </a:xfrm>
          <a:prstGeom prst="rect">
            <a:avLst/>
          </a:prstGeom>
          <a:noFill/>
        </p:spPr>
        <p:txBody>
          <a:bodyPr wrap="square" lIns="54864" rIns="54864" tIns="22860" bIns="22860">
            <a:spAutoFit/>
          </a:bodyPr>
          <a:lstStyle/>
          <a:p>
            <a:pPr>
              <a:lnSpc>
                <a:spcPts val="2310"/>
              </a:lnSpc>
              <a:spcBef>
                <a:spcPts val="0"/>
              </a:spcBef>
              <a:spcAft>
                <a:spcPts val="0"/>
              </a:spcAft>
              <a:defRPr sz="2200" b="0">
                <a:solidFill>
                  <a:srgbClr val="182B3A"/>
                </a:solidFill>
                <a:latin typeface="Arial"/>
              </a:defRPr>
            </a:pPr>
            <a:r>
              <a:t>In 6 − (−3), the first − means subtract;</a:t>
            </a:r>
          </a:p>
          <a:p>
            <a:pPr>
              <a:lnSpc>
                <a:spcPts val="2310"/>
              </a:lnSpc>
              <a:spcBef>
                <a:spcPts val="0"/>
              </a:spcBef>
              <a:spcAft>
                <a:spcPts val="0"/>
              </a:spcAft>
              <a:defRPr sz="2200" b="0">
                <a:solidFill>
                  <a:srgbClr val="182B3A"/>
                </a:solidFill>
                <a:latin typeface="Arial"/>
              </a:defRPr>
            </a:pPr>
            <a:r>
              <a:t>the − inside brackets belongs to the number −3.</a:t>
            </a:r>
          </a:p>
        </p:txBody>
      </p:sp>
      <p:sp>
        <p:nvSpPr>
          <p:cNvPr id="24" name="Rectangle 23"/>
          <p:cNvSpPr/>
          <p:nvPr/>
        </p:nvSpPr>
        <p:spPr>
          <a:xfrm>
            <a:off x="365760" y="6080760"/>
            <a:ext cx="13898880" cy="704088"/>
          </a:xfrm>
          <a:prstGeom prst="rect">
            <a:avLst/>
          </a:prstGeom>
          <a:solidFill>
            <a:srgbClr val="E8EDF1"/>
          </a:solidFill>
          <a:ln w="7620">
            <a:solidFill>
              <a:srgbClr val="D8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502920" y="6199632"/>
            <a:ext cx="13624560" cy="448056"/>
          </a:xfrm>
          <a:prstGeom prst="rect">
            <a:avLst/>
          </a:prstGeom>
          <a:noFill/>
        </p:spPr>
        <p:txBody>
          <a:bodyPr wrap="square" lIns="54864" rIns="54864" tIns="22860" bIns="22860">
            <a:spAutoFit/>
          </a:bodyPr>
          <a:lstStyle/>
          <a:p>
            <a:pPr>
              <a:lnSpc>
                <a:spcPts val="2415"/>
              </a:lnSpc>
              <a:spcBef>
                <a:spcPts val="0"/>
              </a:spcBef>
              <a:spcAft>
                <a:spcPts val="0"/>
              </a:spcAft>
              <a:defRPr sz="2300" b="1">
                <a:solidFill>
                  <a:srgbClr val="182B3A"/>
                </a:solidFill>
                <a:latin typeface="Arial"/>
              </a:defRPr>
            </a:pPr>
            <a:r>
              <a:t>To subtract a number, add its opposite. Keep the first number unchanged.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57200" y="7022592"/>
            <a:ext cx="13716000" cy="694944"/>
          </a:xfrm>
          <a:prstGeom prst="rect">
            <a:avLst/>
          </a:prstGeom>
          <a:noFill/>
        </p:spPr>
        <p:txBody>
          <a:bodyPr wrap="square" lIns="54864" rIns="54864" tIns="22860" bIns="22860">
            <a:spAutoFit/>
          </a:bodyPr>
          <a:lstStyle/>
          <a:p>
            <a:pPr>
              <a:lnSpc>
                <a:spcPts val="2310"/>
              </a:lnSpc>
              <a:spcBef>
                <a:spcPts val="0"/>
              </a:spcBef>
              <a:spcAft>
                <a:spcPts val="0"/>
              </a:spcAft>
              <a:defRPr sz="2200" b="0">
                <a:solidFill>
                  <a:srgbClr val="182B3A"/>
                </a:solidFill>
                <a:latin typeface="Arial"/>
              </a:defRPr>
            </a:pPr>
            <a:r>
              <a:t>Two negative numbers do not automatically give a positive answer:</a:t>
            </a:r>
          </a:p>
          <a:p>
            <a:pPr>
              <a:lnSpc>
                <a:spcPts val="2310"/>
              </a:lnSpc>
              <a:spcBef>
                <a:spcPts val="0"/>
              </a:spcBef>
              <a:spcAft>
                <a:spcPts val="0"/>
              </a:spcAft>
              <a:defRPr sz="2200" b="0">
                <a:solidFill>
                  <a:srgbClr val="182B3A"/>
                </a:solidFill>
                <a:latin typeface="Arial"/>
              </a:defRPr>
            </a:pPr>
            <a:r>
              <a:t>−4 + (−3) = −7.</a:t>
            </a:r>
          </a:p>
        </p:txBody>
      </p:sp>
    </p:spTree>
  </p:cSld>
  <p:clrMapOvr>
    <a:masterClrMapping/>
  </p:clrMapOvr>
</p:sld>
</file>

<file path=ppt/slides/slide100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8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4630400" cy="73152"/>
          </a:xfrm>
          <a:prstGeom prst="rect">
            <a:avLst/>
          </a:prstGeom>
          <a:solidFill>
            <a:srgbClr val="176B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20040" y="164592"/>
            <a:ext cx="13990320" cy="457200"/>
          </a:xfrm>
          <a:prstGeom prst="rect">
            <a:avLst/>
          </a:prstGeom>
          <a:noFill/>
        </p:spPr>
        <p:txBody>
          <a:bodyPr wrap="square" lIns="54864" rIns="54864" tIns="22860" bIns="22860">
            <a:spAutoFit/>
          </a:bodyPr>
          <a:lstStyle/>
          <a:p>
            <a:pPr>
              <a:lnSpc>
                <a:spcPts val="2940"/>
              </a:lnSpc>
              <a:spcBef>
                <a:spcPts val="0"/>
              </a:spcBef>
              <a:spcAft>
                <a:spcPts val="0"/>
              </a:spcAft>
              <a:defRPr sz="2800" b="1">
                <a:solidFill>
                  <a:srgbClr val="182B3A"/>
                </a:solidFill>
                <a:latin typeface="Arial"/>
              </a:defRPr>
            </a:pPr>
            <a:r>
              <a:t>Signed numbers: addition and subtraction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20040" y="704088"/>
            <a:ext cx="13990320" cy="347472"/>
          </a:xfrm>
          <a:prstGeom prst="rect">
            <a:avLst/>
          </a:prstGeom>
          <a:noFill/>
        </p:spPr>
        <p:txBody>
          <a:bodyPr wrap="square" lIns="54864" rIns="54864" tIns="22860" bIns="22860">
            <a:spAutoFit/>
          </a:bodyPr>
          <a:lstStyle/>
          <a:p>
            <a:pPr>
              <a:lnSpc>
                <a:spcPts val="1575"/>
              </a:lnSpc>
              <a:spcBef>
                <a:spcPts val="0"/>
              </a:spcBef>
              <a:spcAft>
                <a:spcPts val="0"/>
              </a:spcAft>
              <a:defRPr sz="1500" b="0">
                <a:solidFill>
                  <a:srgbClr val="526472"/>
                </a:solidFill>
                <a:latin typeface="Arial"/>
              </a:defRPr>
            </a:pPr>
            <a:r>
              <a:t>Worked demo • Follow each calculation.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20040" y="7973568"/>
            <a:ext cx="10789920" cy="210312"/>
          </a:xfrm>
          <a:prstGeom prst="rect">
            <a:avLst/>
          </a:prstGeom>
          <a:noFill/>
        </p:spPr>
        <p:txBody>
          <a:bodyPr wrap="square" lIns="54864" rIns="54864" tIns="22860" bIns="22860">
            <a:spAutoFit/>
          </a:bodyPr>
          <a:lstStyle/>
          <a:p>
            <a:pPr>
              <a:lnSpc>
                <a:spcPts val="1155"/>
              </a:lnSpc>
              <a:spcBef>
                <a:spcPts val="0"/>
              </a:spcBef>
              <a:spcAft>
                <a:spcPts val="0"/>
              </a:spcAft>
              <a:defRPr sz="1100" b="0">
                <a:solidFill>
                  <a:srgbClr val="526472"/>
                </a:solidFill>
                <a:latin typeface="Arial"/>
              </a:defRPr>
            </a:pPr>
            <a:r>
              <a:t>GCSE Maths revision • No calculator • Show your working.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155680" y="7973568"/>
            <a:ext cx="3108960" cy="210312"/>
          </a:xfrm>
          <a:prstGeom prst="rect">
            <a:avLst/>
          </a:prstGeom>
          <a:noFill/>
        </p:spPr>
        <p:txBody>
          <a:bodyPr wrap="square" lIns="54864" rIns="54864" tIns="22860" bIns="22860">
            <a:spAutoFit/>
          </a:bodyPr>
          <a:lstStyle/>
          <a:p>
            <a:pPr>
              <a:lnSpc>
                <a:spcPts val="1155"/>
              </a:lnSpc>
              <a:spcBef>
                <a:spcPts val="0"/>
              </a:spcBef>
              <a:spcAft>
                <a:spcPts val="0"/>
              </a:spcAft>
              <a:defRPr sz="1100" b="0">
                <a:solidFill>
                  <a:srgbClr val="526472"/>
                </a:solidFill>
                <a:latin typeface="Arial"/>
              </a:defRPr>
            </a:pPr>
            <a:r>
              <a:t>M13-S01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65760" y="1069848"/>
            <a:ext cx="13807440" cy="548640"/>
          </a:xfrm>
          <a:prstGeom prst="rect">
            <a:avLst/>
          </a:prstGeom>
          <a:noFill/>
        </p:spPr>
        <p:txBody>
          <a:bodyPr wrap="square" lIns="54864" rIns="54864" tIns="22860" bIns="22860">
            <a:spAutoFit/>
          </a:bodyPr>
          <a:lstStyle/>
          <a:p>
            <a:pPr>
              <a:lnSpc>
                <a:spcPts val="1680"/>
              </a:lnSpc>
              <a:spcBef>
                <a:spcPts val="0"/>
              </a:spcBef>
              <a:spcAft>
                <a:spcPts val="0"/>
              </a:spcAft>
              <a:defRPr sz="1600" b="1">
                <a:solidFill>
                  <a:srgbClr val="182B3A"/>
                </a:solidFill>
                <a:latin typeface="Arial"/>
              </a:defRPr>
            </a:pPr>
            <a:r>
              <a:t>Adding a negative moves left: 4 + (−7) = 4 − 7 = −3.</a:t>
            </a:r>
          </a:p>
          <a:p>
            <a:pPr>
              <a:lnSpc>
                <a:spcPts val="1680"/>
              </a:lnSpc>
              <a:spcBef>
                <a:spcPts val="0"/>
              </a:spcBef>
              <a:spcAft>
                <a:spcPts val="0"/>
              </a:spcAft>
              <a:defRPr sz="1600" b="1">
                <a:solidFill>
                  <a:srgbClr val="182B3A"/>
                </a:solidFill>
                <a:latin typeface="Arial"/>
              </a:defRPr>
            </a:pPr>
            <a:r>
              <a:t>Subtracting a negative moves right: 6 − (−3) = 6 + 3 = 9.</a:t>
            </a:r>
          </a:p>
        </p:txBody>
      </p:sp>
      <p:sp>
        <p:nvSpPr>
          <p:cNvPr id="8" name="Rectangle 7"/>
          <p:cNvSpPr/>
          <p:nvPr/>
        </p:nvSpPr>
        <p:spPr>
          <a:xfrm>
            <a:off x="2121408" y="1709928"/>
            <a:ext cx="4040123" cy="420624"/>
          </a:xfrm>
          <a:prstGeom prst="rect">
            <a:avLst/>
          </a:prstGeom>
          <a:solidFill>
            <a:srgbClr val="176B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2148839" y="1741932"/>
            <a:ext cx="3980688" cy="329184"/>
          </a:xfrm>
          <a:prstGeom prst="rect">
            <a:avLst/>
          </a:prstGeom>
          <a:noFill/>
        </p:spPr>
        <p:txBody>
          <a:bodyPr wrap="square" lIns="54864" rIns="54864" tIns="22860" bIns="22860">
            <a:spAutoFit/>
          </a:bodyPr>
          <a:lstStyle/>
          <a:p>
            <a:pPr>
              <a:lnSpc>
                <a:spcPts val="1995"/>
              </a:lnSpc>
              <a:spcBef>
                <a:spcPts val="0"/>
              </a:spcBef>
              <a:spcAft>
                <a:spcPts val="0"/>
              </a:spcAft>
              <a:defRPr sz="1900" b="1">
                <a:solidFill>
                  <a:srgbClr val="FFFFFF"/>
                </a:solidFill>
                <a:latin typeface="Arial"/>
              </a:defRPr>
            </a:pPr>
            <a:r>
              <a:t>Thread 1: Guided</a:t>
            </a:r>
          </a:p>
        </p:txBody>
      </p:sp>
      <p:sp>
        <p:nvSpPr>
          <p:cNvPr id="10" name="Rectangle 9"/>
          <p:cNvSpPr/>
          <p:nvPr/>
        </p:nvSpPr>
        <p:spPr>
          <a:xfrm>
            <a:off x="6184392" y="1709928"/>
            <a:ext cx="4040123" cy="420624"/>
          </a:xfrm>
          <a:prstGeom prst="rect">
            <a:avLst/>
          </a:prstGeom>
          <a:solidFill>
            <a:srgbClr val="3559A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211824" y="1741932"/>
            <a:ext cx="3980688" cy="329184"/>
          </a:xfrm>
          <a:prstGeom prst="rect">
            <a:avLst/>
          </a:prstGeom>
          <a:noFill/>
        </p:spPr>
        <p:txBody>
          <a:bodyPr wrap="square" lIns="54864" rIns="54864" tIns="22860" bIns="22860">
            <a:spAutoFit/>
          </a:bodyPr>
          <a:lstStyle/>
          <a:p>
            <a:pPr>
              <a:lnSpc>
                <a:spcPts val="1995"/>
              </a:lnSpc>
              <a:spcBef>
                <a:spcPts val="0"/>
              </a:spcBef>
              <a:spcAft>
                <a:spcPts val="0"/>
              </a:spcAft>
              <a:defRPr sz="1900" b="1">
                <a:solidFill>
                  <a:srgbClr val="FFFFFF"/>
                </a:solidFill>
                <a:latin typeface="Arial"/>
              </a:defRPr>
            </a:pPr>
            <a:r>
              <a:t>Thread 2: Core</a:t>
            </a:r>
          </a:p>
        </p:txBody>
      </p:sp>
      <p:sp>
        <p:nvSpPr>
          <p:cNvPr id="12" name="Rectangle 11"/>
          <p:cNvSpPr/>
          <p:nvPr/>
        </p:nvSpPr>
        <p:spPr>
          <a:xfrm>
            <a:off x="10247376" y="1709928"/>
            <a:ext cx="4040123" cy="420624"/>
          </a:xfrm>
          <a:prstGeom prst="rect">
            <a:avLst/>
          </a:prstGeom>
          <a:solidFill>
            <a:srgbClr val="754B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0274808" y="1741932"/>
            <a:ext cx="3980688" cy="329184"/>
          </a:xfrm>
          <a:prstGeom prst="rect">
            <a:avLst/>
          </a:prstGeom>
          <a:noFill/>
        </p:spPr>
        <p:txBody>
          <a:bodyPr wrap="square" lIns="54864" rIns="54864" tIns="22860" bIns="22860">
            <a:spAutoFit/>
          </a:bodyPr>
          <a:lstStyle/>
          <a:p>
            <a:pPr>
              <a:lnSpc>
                <a:spcPts val="1995"/>
              </a:lnSpc>
              <a:spcBef>
                <a:spcPts val="0"/>
              </a:spcBef>
              <a:spcAft>
                <a:spcPts val="0"/>
              </a:spcAft>
              <a:defRPr sz="1900" b="1">
                <a:solidFill>
                  <a:srgbClr val="FFFFFF"/>
                </a:solidFill>
                <a:latin typeface="Arial"/>
              </a:defRPr>
            </a:pPr>
            <a:r>
              <a:t>Thread 3: Depth</a:t>
            </a:r>
          </a:p>
        </p:txBody>
      </p:sp>
      <p:sp>
        <p:nvSpPr>
          <p:cNvPr id="14" name="Rectangle 13"/>
          <p:cNvSpPr/>
          <p:nvPr/>
        </p:nvSpPr>
        <p:spPr>
          <a:xfrm>
            <a:off x="320040" y="2157984"/>
            <a:ext cx="1801367" cy="685800"/>
          </a:xfrm>
          <a:prstGeom prst="rect">
            <a:avLst/>
          </a:prstGeom>
          <a:solidFill>
            <a:srgbClr val="E8EDF1"/>
          </a:solidFill>
          <a:ln w="7620">
            <a:solidFill>
              <a:srgbClr val="D8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374904" y="2249424"/>
            <a:ext cx="1691639" cy="530352"/>
          </a:xfrm>
          <a:prstGeom prst="rect">
            <a:avLst/>
          </a:prstGeom>
          <a:noFill/>
        </p:spPr>
        <p:txBody>
          <a:bodyPr wrap="square" lIns="54864" rIns="54864" tIns="22860" bIns="22860">
            <a:spAutoFit/>
          </a:bodyPr>
          <a:lstStyle/>
          <a:p>
            <a:pPr>
              <a:lnSpc>
                <a:spcPts val="1785"/>
              </a:lnSpc>
              <a:spcBef>
                <a:spcPts val="0"/>
              </a:spcBef>
              <a:spcAft>
                <a:spcPts val="0"/>
              </a:spcAft>
              <a:defRPr sz="1700" b="1">
                <a:solidFill>
                  <a:srgbClr val="182B3A"/>
                </a:solidFill>
                <a:latin typeface="Arial"/>
              </a:defRPr>
            </a:pPr>
            <a:r>
              <a:t>The Full Question</a:t>
            </a:r>
          </a:p>
        </p:txBody>
      </p:sp>
      <p:sp>
        <p:nvSpPr>
          <p:cNvPr id="16" name="Rectangle 15"/>
          <p:cNvSpPr/>
          <p:nvPr/>
        </p:nvSpPr>
        <p:spPr>
          <a:xfrm>
            <a:off x="2121408" y="2157984"/>
            <a:ext cx="4062984" cy="685800"/>
          </a:xfrm>
          <a:prstGeom prst="rect">
            <a:avLst/>
          </a:prstGeom>
          <a:solidFill>
            <a:srgbClr val="EDF6F5"/>
          </a:solidFill>
          <a:ln w="7620">
            <a:solidFill>
              <a:srgbClr val="D8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2194560" y="2240279"/>
            <a:ext cx="3916680" cy="539496"/>
          </a:xfrm>
          <a:prstGeom prst="rect">
            <a:avLst/>
          </a:prstGeom>
          <a:noFill/>
        </p:spPr>
        <p:txBody>
          <a:bodyPr wrap="square" lIns="54864" rIns="54864" tIns="22860" bIns="22860">
            <a:spAutoFit/>
          </a:bodyPr>
          <a:lstStyle/>
          <a:p>
            <a:pPr>
              <a:lnSpc>
                <a:spcPts val="2520"/>
              </a:lnSpc>
              <a:spcBef>
                <a:spcPts val="0"/>
              </a:spcBef>
              <a:spcAft>
                <a:spcPts val="0"/>
              </a:spcAft>
              <a:defRPr sz="2400" b="1">
                <a:solidFill>
                  <a:srgbClr val="182B3A"/>
                </a:solidFill>
                <a:latin typeface="Arial"/>
              </a:defRPr>
            </a:pPr>
            <a:r>
              <a:t>−4 + 7</a:t>
            </a:r>
          </a:p>
        </p:txBody>
      </p:sp>
      <p:sp>
        <p:nvSpPr>
          <p:cNvPr id="18" name="Rectangle 17"/>
          <p:cNvSpPr/>
          <p:nvPr/>
        </p:nvSpPr>
        <p:spPr>
          <a:xfrm>
            <a:off x="6184392" y="2157984"/>
            <a:ext cx="4062984" cy="685800"/>
          </a:xfrm>
          <a:prstGeom prst="rect">
            <a:avLst/>
          </a:prstGeom>
          <a:solidFill>
            <a:srgbClr val="EFF3FA"/>
          </a:solidFill>
          <a:ln w="7620">
            <a:solidFill>
              <a:srgbClr val="D8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257544" y="2240279"/>
            <a:ext cx="3916680" cy="539496"/>
          </a:xfrm>
          <a:prstGeom prst="rect">
            <a:avLst/>
          </a:prstGeom>
          <a:noFill/>
        </p:spPr>
        <p:txBody>
          <a:bodyPr wrap="square" lIns="54864" rIns="54864" tIns="22860" bIns="22860">
            <a:spAutoFit/>
          </a:bodyPr>
          <a:lstStyle/>
          <a:p>
            <a:pPr>
              <a:lnSpc>
                <a:spcPts val="2520"/>
              </a:lnSpc>
              <a:spcBef>
                <a:spcPts val="0"/>
              </a:spcBef>
              <a:spcAft>
                <a:spcPts val="0"/>
              </a:spcAft>
              <a:defRPr sz="2400" b="1">
                <a:solidFill>
                  <a:srgbClr val="182B3A"/>
                </a:solidFill>
                <a:latin typeface="Arial"/>
              </a:defRPr>
            </a:pPr>
            <a:r>
              <a:t>6 − (−3)</a:t>
            </a:r>
          </a:p>
        </p:txBody>
      </p:sp>
      <p:sp>
        <p:nvSpPr>
          <p:cNvPr id="20" name="Rectangle 19"/>
          <p:cNvSpPr/>
          <p:nvPr/>
        </p:nvSpPr>
        <p:spPr>
          <a:xfrm>
            <a:off x="10247376" y="2157984"/>
            <a:ext cx="4062984" cy="685800"/>
          </a:xfrm>
          <a:prstGeom prst="rect">
            <a:avLst/>
          </a:prstGeom>
          <a:solidFill>
            <a:srgbClr val="F5F0F7"/>
          </a:solidFill>
          <a:ln w="7620">
            <a:solidFill>
              <a:srgbClr val="D8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10320528" y="2240279"/>
            <a:ext cx="3916680" cy="539496"/>
          </a:xfrm>
          <a:prstGeom prst="rect">
            <a:avLst/>
          </a:prstGeom>
          <a:noFill/>
        </p:spPr>
        <p:txBody>
          <a:bodyPr wrap="square" lIns="54864" rIns="54864" tIns="22860" bIns="22860">
            <a:spAutoFit/>
          </a:bodyPr>
          <a:lstStyle/>
          <a:p>
            <a:pPr>
              <a:lnSpc>
                <a:spcPts val="2520"/>
              </a:lnSpc>
              <a:spcBef>
                <a:spcPts val="0"/>
              </a:spcBef>
              <a:spcAft>
                <a:spcPts val="0"/>
              </a:spcAft>
              <a:defRPr sz="2400" b="1">
                <a:solidFill>
                  <a:srgbClr val="182B3A"/>
                </a:solidFill>
                <a:latin typeface="Arial"/>
              </a:defRPr>
            </a:pPr>
            <a:r>
              <a:t>−5 + 8 − (−2)</a:t>
            </a:r>
          </a:p>
        </p:txBody>
      </p:sp>
      <p:sp>
        <p:nvSpPr>
          <p:cNvPr id="22" name="Rectangle 21"/>
          <p:cNvSpPr/>
          <p:nvPr/>
        </p:nvSpPr>
        <p:spPr>
          <a:xfrm>
            <a:off x="320040" y="2843784"/>
            <a:ext cx="1801367" cy="777240"/>
          </a:xfrm>
          <a:prstGeom prst="rect">
            <a:avLst/>
          </a:prstGeom>
          <a:solidFill>
            <a:srgbClr val="E8EDF1"/>
          </a:solidFill>
          <a:ln w="7620">
            <a:solidFill>
              <a:srgbClr val="D8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374904" y="2935224"/>
            <a:ext cx="1691639" cy="621792"/>
          </a:xfrm>
          <a:prstGeom prst="rect">
            <a:avLst/>
          </a:prstGeom>
          <a:noFill/>
        </p:spPr>
        <p:txBody>
          <a:bodyPr wrap="square" lIns="54864" rIns="54864" tIns="22860" bIns="22860">
            <a:spAutoFit/>
          </a:bodyPr>
          <a:lstStyle/>
          <a:p>
            <a:pPr>
              <a:lnSpc>
                <a:spcPts val="1785"/>
              </a:lnSpc>
              <a:spcBef>
                <a:spcPts val="0"/>
              </a:spcBef>
              <a:spcAft>
                <a:spcPts val="0"/>
              </a:spcAft>
              <a:defRPr sz="1700" b="1">
                <a:solidFill>
                  <a:srgbClr val="182B3A"/>
                </a:solidFill>
                <a:latin typeface="Arial"/>
              </a:defRPr>
            </a:pPr>
            <a:r>
              <a:t>Read the Signs</a:t>
            </a:r>
          </a:p>
        </p:txBody>
      </p:sp>
      <p:sp>
        <p:nvSpPr>
          <p:cNvPr id="24" name="Rectangle 23"/>
          <p:cNvSpPr/>
          <p:nvPr/>
        </p:nvSpPr>
        <p:spPr>
          <a:xfrm>
            <a:off x="2121408" y="2843784"/>
            <a:ext cx="4062984" cy="777240"/>
          </a:xfrm>
          <a:prstGeom prst="rect">
            <a:avLst/>
          </a:prstGeom>
          <a:solidFill>
            <a:srgbClr val="FFFFFF"/>
          </a:solidFill>
          <a:ln w="7620">
            <a:solidFill>
              <a:srgbClr val="D8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2194560" y="2926079"/>
            <a:ext cx="3916680" cy="630936"/>
          </a:xfrm>
          <a:prstGeom prst="rect">
            <a:avLst/>
          </a:prstGeom>
          <a:noFill/>
        </p:spPr>
        <p:txBody>
          <a:bodyPr wrap="square" lIns="54864" rIns="54864" tIns="22860" bIns="22860">
            <a:spAutoFit/>
          </a:bodyPr>
          <a:lstStyle/>
          <a:p>
            <a:pPr>
              <a:lnSpc>
                <a:spcPts val="1785"/>
              </a:lnSpc>
              <a:spcBef>
                <a:spcPts val="0"/>
              </a:spcBef>
              <a:spcAft>
                <a:spcPts val="0"/>
              </a:spcAft>
              <a:defRPr sz="1700" b="0">
                <a:solidFill>
                  <a:srgbClr val="182B3A"/>
                </a:solidFill>
                <a:latin typeface="Arial"/>
              </a:defRPr>
            </a:pPr>
            <a:r>
              <a:t>Start at −4; add positive 7.</a:t>
            </a:r>
          </a:p>
        </p:txBody>
      </p:sp>
      <p:sp>
        <p:nvSpPr>
          <p:cNvPr id="26" name="Rectangle 25"/>
          <p:cNvSpPr/>
          <p:nvPr/>
        </p:nvSpPr>
        <p:spPr>
          <a:xfrm>
            <a:off x="6184392" y="2843784"/>
            <a:ext cx="4062984" cy="777240"/>
          </a:xfrm>
          <a:prstGeom prst="rect">
            <a:avLst/>
          </a:prstGeom>
          <a:solidFill>
            <a:srgbClr val="FFFFFF"/>
          </a:solidFill>
          <a:ln w="7620">
            <a:solidFill>
              <a:srgbClr val="D8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6257544" y="2926079"/>
            <a:ext cx="3916680" cy="630936"/>
          </a:xfrm>
          <a:prstGeom prst="rect">
            <a:avLst/>
          </a:prstGeom>
          <a:noFill/>
        </p:spPr>
        <p:txBody>
          <a:bodyPr wrap="square" lIns="54864" rIns="54864" tIns="22860" bIns="22860">
            <a:spAutoFit/>
          </a:bodyPr>
          <a:lstStyle/>
          <a:p>
            <a:pPr>
              <a:lnSpc>
                <a:spcPts val="1785"/>
              </a:lnSpc>
              <a:spcBef>
                <a:spcPts val="0"/>
              </a:spcBef>
              <a:spcAft>
                <a:spcPts val="0"/>
              </a:spcAft>
              <a:defRPr sz="1700" b="0">
                <a:solidFill>
                  <a:srgbClr val="182B3A"/>
                </a:solidFill>
                <a:latin typeface="Arial"/>
              </a:defRPr>
            </a:pPr>
            <a:r>
              <a:t>Start at 6; subtract negative 3.</a:t>
            </a:r>
          </a:p>
        </p:txBody>
      </p:sp>
      <p:sp>
        <p:nvSpPr>
          <p:cNvPr id="28" name="Rectangle 27"/>
          <p:cNvSpPr/>
          <p:nvPr/>
        </p:nvSpPr>
        <p:spPr>
          <a:xfrm>
            <a:off x="10247376" y="2843784"/>
            <a:ext cx="4062984" cy="777240"/>
          </a:xfrm>
          <a:prstGeom prst="rect">
            <a:avLst/>
          </a:prstGeom>
          <a:solidFill>
            <a:srgbClr val="FFFFFF"/>
          </a:solidFill>
          <a:ln w="7620">
            <a:solidFill>
              <a:srgbClr val="D8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10320528" y="2926079"/>
            <a:ext cx="3916680" cy="630936"/>
          </a:xfrm>
          <a:prstGeom prst="rect">
            <a:avLst/>
          </a:prstGeom>
          <a:noFill/>
        </p:spPr>
        <p:txBody>
          <a:bodyPr wrap="square" lIns="54864" rIns="54864" tIns="22860" bIns="22860">
            <a:spAutoFit/>
          </a:bodyPr>
          <a:lstStyle/>
          <a:p>
            <a:pPr>
              <a:lnSpc>
                <a:spcPts val="1785"/>
              </a:lnSpc>
              <a:spcBef>
                <a:spcPts val="0"/>
              </a:spcBef>
              <a:spcAft>
                <a:spcPts val="0"/>
              </a:spcAft>
              <a:defRPr sz="1700" b="0">
                <a:solidFill>
                  <a:srgbClr val="182B3A"/>
                </a:solidFill>
                <a:latin typeface="Arial"/>
              </a:defRPr>
            </a:pPr>
            <a:r>
              <a:t>Add positive 8, then subtract negative 2.</a:t>
            </a:r>
          </a:p>
        </p:txBody>
      </p:sp>
      <p:sp>
        <p:nvSpPr>
          <p:cNvPr id="30" name="Rectangle 29"/>
          <p:cNvSpPr/>
          <p:nvPr/>
        </p:nvSpPr>
        <p:spPr>
          <a:xfrm>
            <a:off x="320040" y="3621024"/>
            <a:ext cx="1801367" cy="777240"/>
          </a:xfrm>
          <a:prstGeom prst="rect">
            <a:avLst/>
          </a:prstGeom>
          <a:solidFill>
            <a:srgbClr val="E8EDF1"/>
          </a:solidFill>
          <a:ln w="7620">
            <a:solidFill>
              <a:srgbClr val="D8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374904" y="3712463"/>
            <a:ext cx="1691639" cy="621792"/>
          </a:xfrm>
          <a:prstGeom prst="rect">
            <a:avLst/>
          </a:prstGeom>
          <a:noFill/>
        </p:spPr>
        <p:txBody>
          <a:bodyPr wrap="square" lIns="54864" rIns="54864" tIns="22860" bIns="22860">
            <a:spAutoFit/>
          </a:bodyPr>
          <a:lstStyle/>
          <a:p>
            <a:pPr>
              <a:lnSpc>
                <a:spcPts val="1785"/>
              </a:lnSpc>
              <a:spcBef>
                <a:spcPts val="0"/>
              </a:spcBef>
              <a:spcAft>
                <a:spcPts val="0"/>
              </a:spcAft>
              <a:defRPr sz="1700" b="1">
                <a:solidFill>
                  <a:srgbClr val="182B3A"/>
                </a:solidFill>
                <a:latin typeface="Arial"/>
              </a:defRPr>
            </a:pPr>
            <a:r>
              <a:t>Rewrite the Calculation</a:t>
            </a:r>
          </a:p>
        </p:txBody>
      </p:sp>
      <p:sp>
        <p:nvSpPr>
          <p:cNvPr id="32" name="Rectangle 31"/>
          <p:cNvSpPr/>
          <p:nvPr/>
        </p:nvSpPr>
        <p:spPr>
          <a:xfrm>
            <a:off x="2121408" y="3621024"/>
            <a:ext cx="4062984" cy="777240"/>
          </a:xfrm>
          <a:prstGeom prst="rect">
            <a:avLst/>
          </a:prstGeom>
          <a:solidFill>
            <a:srgbClr val="FFFFFF"/>
          </a:solidFill>
          <a:ln w="7620">
            <a:solidFill>
              <a:srgbClr val="D8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2194560" y="3703320"/>
            <a:ext cx="3916680" cy="630936"/>
          </a:xfrm>
          <a:prstGeom prst="rect">
            <a:avLst/>
          </a:prstGeom>
          <a:noFill/>
        </p:spPr>
        <p:txBody>
          <a:bodyPr wrap="square" lIns="54864" rIns="54864" tIns="22860" bIns="22860">
            <a:spAutoFit/>
          </a:bodyPr>
          <a:lstStyle/>
          <a:p>
            <a:pPr>
              <a:lnSpc>
                <a:spcPts val="1785"/>
              </a:lnSpc>
              <a:spcBef>
                <a:spcPts val="0"/>
              </a:spcBef>
              <a:spcAft>
                <a:spcPts val="0"/>
              </a:spcAft>
              <a:defRPr sz="1700" b="0">
                <a:solidFill>
                  <a:srgbClr val="182B3A"/>
                </a:solidFill>
                <a:latin typeface="Arial"/>
              </a:defRPr>
            </a:pPr>
            <a:r>
              <a:t>−4 + 7 is already an addition.</a:t>
            </a:r>
          </a:p>
        </p:txBody>
      </p:sp>
      <p:sp>
        <p:nvSpPr>
          <p:cNvPr id="34" name="Rectangle 33"/>
          <p:cNvSpPr/>
          <p:nvPr/>
        </p:nvSpPr>
        <p:spPr>
          <a:xfrm>
            <a:off x="6184392" y="3621024"/>
            <a:ext cx="4062984" cy="777240"/>
          </a:xfrm>
          <a:prstGeom prst="rect">
            <a:avLst/>
          </a:prstGeom>
          <a:solidFill>
            <a:srgbClr val="FFFFFF"/>
          </a:solidFill>
          <a:ln w="7620">
            <a:solidFill>
              <a:srgbClr val="D8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6257544" y="3703320"/>
            <a:ext cx="3916680" cy="630936"/>
          </a:xfrm>
          <a:prstGeom prst="rect">
            <a:avLst/>
          </a:prstGeom>
          <a:noFill/>
        </p:spPr>
        <p:txBody>
          <a:bodyPr wrap="square" lIns="54864" rIns="54864" tIns="22860" bIns="22860">
            <a:spAutoFit/>
          </a:bodyPr>
          <a:lstStyle/>
          <a:p>
            <a:pPr>
              <a:lnSpc>
                <a:spcPts val="1785"/>
              </a:lnSpc>
              <a:spcBef>
                <a:spcPts val="0"/>
              </a:spcBef>
              <a:spcAft>
                <a:spcPts val="0"/>
              </a:spcAft>
              <a:defRPr sz="1700" b="0">
                <a:solidFill>
                  <a:srgbClr val="182B3A"/>
                </a:solidFill>
                <a:latin typeface="Arial"/>
              </a:defRPr>
            </a:pPr>
            <a:r>
              <a:t>6 − (−3) = 6 + 3.</a:t>
            </a:r>
          </a:p>
        </p:txBody>
      </p:sp>
      <p:sp>
        <p:nvSpPr>
          <p:cNvPr id="36" name="Rectangle 35"/>
          <p:cNvSpPr/>
          <p:nvPr/>
        </p:nvSpPr>
        <p:spPr>
          <a:xfrm>
            <a:off x="10247376" y="3621024"/>
            <a:ext cx="4062984" cy="777240"/>
          </a:xfrm>
          <a:prstGeom prst="rect">
            <a:avLst/>
          </a:prstGeom>
          <a:solidFill>
            <a:srgbClr val="FFFFFF"/>
          </a:solidFill>
          <a:ln w="7620">
            <a:solidFill>
              <a:srgbClr val="D8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10320528" y="3703320"/>
            <a:ext cx="3916680" cy="630936"/>
          </a:xfrm>
          <a:prstGeom prst="rect">
            <a:avLst/>
          </a:prstGeom>
          <a:noFill/>
        </p:spPr>
        <p:txBody>
          <a:bodyPr wrap="square" lIns="54864" rIns="54864" tIns="22860" bIns="22860">
            <a:spAutoFit/>
          </a:bodyPr>
          <a:lstStyle/>
          <a:p>
            <a:pPr>
              <a:lnSpc>
                <a:spcPts val="1785"/>
              </a:lnSpc>
              <a:spcBef>
                <a:spcPts val="0"/>
              </a:spcBef>
              <a:spcAft>
                <a:spcPts val="0"/>
              </a:spcAft>
              <a:defRPr sz="1700" b="0">
                <a:solidFill>
                  <a:srgbClr val="182B3A"/>
                </a:solidFill>
                <a:latin typeface="Arial"/>
              </a:defRPr>
            </a:pPr>
            <a:r>
              <a:t>−5 + 8 + 2.</a:t>
            </a:r>
          </a:p>
        </p:txBody>
      </p:sp>
      <p:sp>
        <p:nvSpPr>
          <p:cNvPr id="38" name="Rectangle 37"/>
          <p:cNvSpPr/>
          <p:nvPr/>
        </p:nvSpPr>
        <p:spPr>
          <a:xfrm>
            <a:off x="320040" y="4398264"/>
            <a:ext cx="1801367" cy="1920240"/>
          </a:xfrm>
          <a:prstGeom prst="rect">
            <a:avLst/>
          </a:prstGeom>
          <a:solidFill>
            <a:srgbClr val="E8EDF1"/>
          </a:solidFill>
          <a:ln w="7620">
            <a:solidFill>
              <a:srgbClr val="D8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374904" y="4489703"/>
            <a:ext cx="1691639" cy="1764792"/>
          </a:xfrm>
          <a:prstGeom prst="rect">
            <a:avLst/>
          </a:prstGeom>
          <a:noFill/>
        </p:spPr>
        <p:txBody>
          <a:bodyPr wrap="square" lIns="54864" rIns="54864" tIns="22860" bIns="22860">
            <a:spAutoFit/>
          </a:bodyPr>
          <a:lstStyle/>
          <a:p>
            <a:pPr>
              <a:lnSpc>
                <a:spcPts val="1785"/>
              </a:lnSpc>
              <a:spcBef>
                <a:spcPts val="0"/>
              </a:spcBef>
              <a:spcAft>
                <a:spcPts val="0"/>
              </a:spcAft>
              <a:defRPr sz="1700" b="1">
                <a:solidFill>
                  <a:srgbClr val="182B3A"/>
                </a:solidFill>
                <a:latin typeface="Arial"/>
              </a:defRPr>
            </a:pPr>
            <a:r>
              <a:t>Calculate</a:t>
            </a:r>
          </a:p>
        </p:txBody>
      </p:sp>
      <p:sp>
        <p:nvSpPr>
          <p:cNvPr id="40" name="Rectangle 39"/>
          <p:cNvSpPr/>
          <p:nvPr/>
        </p:nvSpPr>
        <p:spPr>
          <a:xfrm>
            <a:off x="2121408" y="4398264"/>
            <a:ext cx="4062984" cy="1920240"/>
          </a:xfrm>
          <a:prstGeom prst="rect">
            <a:avLst/>
          </a:prstGeom>
          <a:solidFill>
            <a:srgbClr val="FFFFFF"/>
          </a:solidFill>
          <a:ln w="7620">
            <a:solidFill>
              <a:srgbClr val="D8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2194560" y="4480559"/>
            <a:ext cx="3916680" cy="548640"/>
          </a:xfrm>
          <a:prstGeom prst="rect">
            <a:avLst/>
          </a:prstGeom>
          <a:noFill/>
        </p:spPr>
        <p:txBody>
          <a:bodyPr wrap="square" lIns="54864" rIns="54864" tIns="22860" bIns="22860">
            <a:spAutoFit/>
          </a:bodyPr>
          <a:lstStyle/>
          <a:p>
            <a:pPr>
              <a:lnSpc>
                <a:spcPts val="1785"/>
              </a:lnSpc>
              <a:spcBef>
                <a:spcPts val="0"/>
              </a:spcBef>
              <a:spcAft>
                <a:spcPts val="0"/>
              </a:spcAft>
              <a:defRPr sz="1700" b="0">
                <a:solidFill>
                  <a:srgbClr val="182B3A"/>
                </a:solidFill>
                <a:latin typeface="Arial"/>
              </a:defRPr>
            </a:pPr>
            <a:r>
              <a:t>Move 4 right to 0, then 3 right: 3.</a:t>
            </a:r>
          </a:p>
        </p:txBody>
      </p:sp>
      <p:cxnSp>
        <p:nvCxnSpPr>
          <p:cNvPr id="42" name="Connector 41"/>
          <p:cNvCxnSpPr/>
          <p:nvPr/>
        </p:nvCxnSpPr>
        <p:spPr>
          <a:xfrm>
            <a:off x="2395728" y="5916168"/>
            <a:ext cx="3514344" cy="0"/>
          </a:xfrm>
          <a:prstGeom prst="line">
            <a:avLst/>
          </a:prstGeom>
          <a:ln w="12700">
            <a:solidFill>
              <a:srgbClr val="182B3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3" name="Connector 42"/>
          <p:cNvCxnSpPr/>
          <p:nvPr/>
        </p:nvCxnSpPr>
        <p:spPr>
          <a:xfrm>
            <a:off x="2395728" y="5879592"/>
            <a:ext cx="0" cy="73152"/>
          </a:xfrm>
          <a:prstGeom prst="line">
            <a:avLst/>
          </a:prstGeom>
          <a:ln w="12700">
            <a:solidFill>
              <a:srgbClr val="182B3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4" name="TextBox 43"/>
          <p:cNvSpPr txBox="1"/>
          <p:nvPr/>
        </p:nvSpPr>
        <p:spPr>
          <a:xfrm>
            <a:off x="2203196" y="5980176"/>
            <a:ext cx="310896" cy="201168"/>
          </a:xfrm>
          <a:prstGeom prst="rect">
            <a:avLst/>
          </a:prstGeom>
          <a:noFill/>
        </p:spPr>
        <p:txBody>
          <a:bodyPr wrap="square" lIns="0" rIns="0" tIns="22860" bIns="22860">
            <a:spAutoFit/>
          </a:bodyPr>
          <a:lstStyle/>
          <a:p>
            <a:pPr algn="ctr">
              <a:lnSpc>
                <a:spcPts val="1050"/>
              </a:lnSpc>
              <a:spcBef>
                <a:spcPts val="0"/>
              </a:spcBef>
              <a:spcAft>
                <a:spcPts val="0"/>
              </a:spcAft>
              <a:defRPr sz="1000" b="0">
                <a:solidFill>
                  <a:srgbClr val="182B3A"/>
                </a:solidFill>
                <a:latin typeface="Arial"/>
              </a:defRPr>
            </a:pPr>
            <a:r>
              <a:t>−5</a:t>
            </a:r>
          </a:p>
        </p:txBody>
      </p:sp>
      <p:cxnSp>
        <p:nvCxnSpPr>
          <p:cNvPr id="45" name="Connector 44"/>
          <p:cNvCxnSpPr/>
          <p:nvPr/>
        </p:nvCxnSpPr>
        <p:spPr>
          <a:xfrm>
            <a:off x="2786210" y="5879592"/>
            <a:ext cx="0" cy="73152"/>
          </a:xfrm>
          <a:prstGeom prst="line">
            <a:avLst/>
          </a:prstGeom>
          <a:ln w="12700">
            <a:solidFill>
              <a:srgbClr val="182B3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6" name="TextBox 45"/>
          <p:cNvSpPr txBox="1"/>
          <p:nvPr/>
        </p:nvSpPr>
        <p:spPr>
          <a:xfrm>
            <a:off x="2593678" y="5980176"/>
            <a:ext cx="310896" cy="201168"/>
          </a:xfrm>
          <a:prstGeom prst="rect">
            <a:avLst/>
          </a:prstGeom>
          <a:noFill/>
        </p:spPr>
        <p:txBody>
          <a:bodyPr wrap="square" lIns="0" rIns="0" tIns="22860" bIns="22860">
            <a:spAutoFit/>
          </a:bodyPr>
          <a:lstStyle/>
          <a:p>
            <a:pPr algn="ctr">
              <a:lnSpc>
                <a:spcPts val="1050"/>
              </a:lnSpc>
              <a:spcBef>
                <a:spcPts val="0"/>
              </a:spcBef>
              <a:spcAft>
                <a:spcPts val="0"/>
              </a:spcAft>
              <a:defRPr sz="1000" b="0">
                <a:solidFill>
                  <a:srgbClr val="182B3A"/>
                </a:solidFill>
                <a:latin typeface="Arial"/>
              </a:defRPr>
            </a:pPr>
            <a:r>
              <a:t>−4</a:t>
            </a:r>
          </a:p>
        </p:txBody>
      </p:sp>
      <p:cxnSp>
        <p:nvCxnSpPr>
          <p:cNvPr id="47" name="Connector 46"/>
          <p:cNvCxnSpPr/>
          <p:nvPr/>
        </p:nvCxnSpPr>
        <p:spPr>
          <a:xfrm>
            <a:off x="3176693" y="5879592"/>
            <a:ext cx="0" cy="73152"/>
          </a:xfrm>
          <a:prstGeom prst="line">
            <a:avLst/>
          </a:prstGeom>
          <a:ln w="12700">
            <a:solidFill>
              <a:srgbClr val="182B3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8" name="TextBox 47"/>
          <p:cNvSpPr txBox="1"/>
          <p:nvPr/>
        </p:nvSpPr>
        <p:spPr>
          <a:xfrm>
            <a:off x="2984161" y="5980176"/>
            <a:ext cx="310896" cy="201168"/>
          </a:xfrm>
          <a:prstGeom prst="rect">
            <a:avLst/>
          </a:prstGeom>
          <a:noFill/>
        </p:spPr>
        <p:txBody>
          <a:bodyPr wrap="square" lIns="0" rIns="0" tIns="22860" bIns="22860">
            <a:spAutoFit/>
          </a:bodyPr>
          <a:lstStyle/>
          <a:p>
            <a:pPr algn="ctr">
              <a:lnSpc>
                <a:spcPts val="1050"/>
              </a:lnSpc>
              <a:spcBef>
                <a:spcPts val="0"/>
              </a:spcBef>
              <a:spcAft>
                <a:spcPts val="0"/>
              </a:spcAft>
              <a:defRPr sz="1000" b="0">
                <a:solidFill>
                  <a:srgbClr val="182B3A"/>
                </a:solidFill>
                <a:latin typeface="Arial"/>
              </a:defRPr>
            </a:pPr>
            <a:r>
              <a:t>−3</a:t>
            </a:r>
          </a:p>
        </p:txBody>
      </p:sp>
      <p:cxnSp>
        <p:nvCxnSpPr>
          <p:cNvPr id="49" name="Connector 48"/>
          <p:cNvCxnSpPr/>
          <p:nvPr/>
        </p:nvCxnSpPr>
        <p:spPr>
          <a:xfrm>
            <a:off x="3567176" y="5879592"/>
            <a:ext cx="0" cy="73152"/>
          </a:xfrm>
          <a:prstGeom prst="line">
            <a:avLst/>
          </a:prstGeom>
          <a:ln w="12700">
            <a:solidFill>
              <a:srgbClr val="182B3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0" name="TextBox 49"/>
          <p:cNvSpPr txBox="1"/>
          <p:nvPr/>
        </p:nvSpPr>
        <p:spPr>
          <a:xfrm>
            <a:off x="3374644" y="5980176"/>
            <a:ext cx="310896" cy="201168"/>
          </a:xfrm>
          <a:prstGeom prst="rect">
            <a:avLst/>
          </a:prstGeom>
          <a:noFill/>
        </p:spPr>
        <p:txBody>
          <a:bodyPr wrap="square" lIns="0" rIns="0" tIns="22860" bIns="22860">
            <a:spAutoFit/>
          </a:bodyPr>
          <a:lstStyle/>
          <a:p>
            <a:pPr algn="ctr">
              <a:lnSpc>
                <a:spcPts val="1050"/>
              </a:lnSpc>
              <a:spcBef>
                <a:spcPts val="0"/>
              </a:spcBef>
              <a:spcAft>
                <a:spcPts val="0"/>
              </a:spcAft>
              <a:defRPr sz="1000" b="0">
                <a:solidFill>
                  <a:srgbClr val="182B3A"/>
                </a:solidFill>
                <a:latin typeface="Arial"/>
              </a:defRPr>
            </a:pPr>
            <a:r>
              <a:t>−2</a:t>
            </a:r>
          </a:p>
        </p:txBody>
      </p:sp>
      <p:cxnSp>
        <p:nvCxnSpPr>
          <p:cNvPr id="51" name="Connector 50"/>
          <p:cNvCxnSpPr/>
          <p:nvPr/>
        </p:nvCxnSpPr>
        <p:spPr>
          <a:xfrm>
            <a:off x="3957658" y="5879592"/>
            <a:ext cx="0" cy="73152"/>
          </a:xfrm>
          <a:prstGeom prst="line">
            <a:avLst/>
          </a:prstGeom>
          <a:ln w="12700">
            <a:solidFill>
              <a:srgbClr val="182B3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2" name="TextBox 51"/>
          <p:cNvSpPr txBox="1"/>
          <p:nvPr/>
        </p:nvSpPr>
        <p:spPr>
          <a:xfrm>
            <a:off x="3765126" y="5980176"/>
            <a:ext cx="310896" cy="201168"/>
          </a:xfrm>
          <a:prstGeom prst="rect">
            <a:avLst/>
          </a:prstGeom>
          <a:noFill/>
        </p:spPr>
        <p:txBody>
          <a:bodyPr wrap="square" lIns="0" rIns="0" tIns="22860" bIns="22860">
            <a:spAutoFit/>
          </a:bodyPr>
          <a:lstStyle/>
          <a:p>
            <a:pPr algn="ctr">
              <a:lnSpc>
                <a:spcPts val="1050"/>
              </a:lnSpc>
              <a:spcBef>
                <a:spcPts val="0"/>
              </a:spcBef>
              <a:spcAft>
                <a:spcPts val="0"/>
              </a:spcAft>
              <a:defRPr sz="1000" b="0">
                <a:solidFill>
                  <a:srgbClr val="182B3A"/>
                </a:solidFill>
                <a:latin typeface="Arial"/>
              </a:defRPr>
            </a:pPr>
            <a:r>
              <a:t>−1</a:t>
            </a:r>
          </a:p>
        </p:txBody>
      </p:sp>
      <p:cxnSp>
        <p:nvCxnSpPr>
          <p:cNvPr id="53" name="Connector 52"/>
          <p:cNvCxnSpPr/>
          <p:nvPr/>
        </p:nvCxnSpPr>
        <p:spPr>
          <a:xfrm>
            <a:off x="4348141" y="5879592"/>
            <a:ext cx="0" cy="73152"/>
          </a:xfrm>
          <a:prstGeom prst="line">
            <a:avLst/>
          </a:prstGeom>
          <a:ln w="12700">
            <a:solidFill>
              <a:srgbClr val="182B3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4" name="TextBox 53"/>
          <p:cNvSpPr txBox="1"/>
          <p:nvPr/>
        </p:nvSpPr>
        <p:spPr>
          <a:xfrm>
            <a:off x="4192693" y="5980176"/>
            <a:ext cx="310896" cy="201168"/>
          </a:xfrm>
          <a:prstGeom prst="rect">
            <a:avLst/>
          </a:prstGeom>
          <a:noFill/>
        </p:spPr>
        <p:txBody>
          <a:bodyPr wrap="square" lIns="0" rIns="0" tIns="22860" bIns="22860">
            <a:spAutoFit/>
          </a:bodyPr>
          <a:lstStyle/>
          <a:p>
            <a:pPr algn="ctr">
              <a:lnSpc>
                <a:spcPts val="1050"/>
              </a:lnSpc>
              <a:spcBef>
                <a:spcPts val="0"/>
              </a:spcBef>
              <a:spcAft>
                <a:spcPts val="0"/>
              </a:spcAft>
              <a:defRPr sz="1000" b="1">
                <a:solidFill>
                  <a:srgbClr val="182B3A"/>
                </a:solidFill>
                <a:latin typeface="Arial"/>
              </a:defRPr>
            </a:pPr>
            <a:r>
              <a:t>0</a:t>
            </a:r>
          </a:p>
        </p:txBody>
      </p:sp>
      <p:cxnSp>
        <p:nvCxnSpPr>
          <p:cNvPr id="55" name="Connector 54"/>
          <p:cNvCxnSpPr/>
          <p:nvPr/>
        </p:nvCxnSpPr>
        <p:spPr>
          <a:xfrm>
            <a:off x="4738624" y="5879592"/>
            <a:ext cx="0" cy="73152"/>
          </a:xfrm>
          <a:prstGeom prst="line">
            <a:avLst/>
          </a:prstGeom>
          <a:ln w="12700">
            <a:solidFill>
              <a:srgbClr val="182B3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6" name="TextBox 55"/>
          <p:cNvSpPr txBox="1"/>
          <p:nvPr/>
        </p:nvSpPr>
        <p:spPr>
          <a:xfrm>
            <a:off x="4583176" y="5980176"/>
            <a:ext cx="310896" cy="201168"/>
          </a:xfrm>
          <a:prstGeom prst="rect">
            <a:avLst/>
          </a:prstGeom>
          <a:noFill/>
        </p:spPr>
        <p:txBody>
          <a:bodyPr wrap="square" lIns="0" rIns="0" tIns="22860" bIns="22860">
            <a:spAutoFit/>
          </a:bodyPr>
          <a:lstStyle/>
          <a:p>
            <a:pPr algn="ctr">
              <a:lnSpc>
                <a:spcPts val="1050"/>
              </a:lnSpc>
              <a:spcBef>
                <a:spcPts val="0"/>
              </a:spcBef>
              <a:spcAft>
                <a:spcPts val="0"/>
              </a:spcAft>
              <a:defRPr sz="1000" b="0">
                <a:solidFill>
                  <a:srgbClr val="182B3A"/>
                </a:solidFill>
                <a:latin typeface="Arial"/>
              </a:defRPr>
            </a:pPr>
            <a:r>
              <a:t>1</a:t>
            </a:r>
          </a:p>
        </p:txBody>
      </p:sp>
      <p:cxnSp>
        <p:nvCxnSpPr>
          <p:cNvPr id="57" name="Connector 56"/>
          <p:cNvCxnSpPr/>
          <p:nvPr/>
        </p:nvCxnSpPr>
        <p:spPr>
          <a:xfrm>
            <a:off x="5129106" y="5879592"/>
            <a:ext cx="0" cy="73152"/>
          </a:xfrm>
          <a:prstGeom prst="line">
            <a:avLst/>
          </a:prstGeom>
          <a:ln w="12700">
            <a:solidFill>
              <a:srgbClr val="182B3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8" name="TextBox 57"/>
          <p:cNvSpPr txBox="1"/>
          <p:nvPr/>
        </p:nvSpPr>
        <p:spPr>
          <a:xfrm>
            <a:off x="4973658" y="5980176"/>
            <a:ext cx="310896" cy="201168"/>
          </a:xfrm>
          <a:prstGeom prst="rect">
            <a:avLst/>
          </a:prstGeom>
          <a:noFill/>
        </p:spPr>
        <p:txBody>
          <a:bodyPr wrap="square" lIns="0" rIns="0" tIns="22860" bIns="22860">
            <a:spAutoFit/>
          </a:bodyPr>
          <a:lstStyle/>
          <a:p>
            <a:pPr algn="ctr">
              <a:lnSpc>
                <a:spcPts val="1050"/>
              </a:lnSpc>
              <a:spcBef>
                <a:spcPts val="0"/>
              </a:spcBef>
              <a:spcAft>
                <a:spcPts val="0"/>
              </a:spcAft>
              <a:defRPr sz="1000" b="0">
                <a:solidFill>
                  <a:srgbClr val="182B3A"/>
                </a:solidFill>
                <a:latin typeface="Arial"/>
              </a:defRPr>
            </a:pPr>
            <a:r>
              <a:t>2</a:t>
            </a:r>
          </a:p>
        </p:txBody>
      </p:sp>
      <p:cxnSp>
        <p:nvCxnSpPr>
          <p:cNvPr id="59" name="Connector 58"/>
          <p:cNvCxnSpPr/>
          <p:nvPr/>
        </p:nvCxnSpPr>
        <p:spPr>
          <a:xfrm>
            <a:off x="5519589" y="5879592"/>
            <a:ext cx="0" cy="73152"/>
          </a:xfrm>
          <a:prstGeom prst="line">
            <a:avLst/>
          </a:prstGeom>
          <a:ln w="12700">
            <a:solidFill>
              <a:srgbClr val="182B3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0" name="TextBox 59"/>
          <p:cNvSpPr txBox="1"/>
          <p:nvPr/>
        </p:nvSpPr>
        <p:spPr>
          <a:xfrm>
            <a:off x="5364141" y="5980176"/>
            <a:ext cx="310896" cy="201168"/>
          </a:xfrm>
          <a:prstGeom prst="rect">
            <a:avLst/>
          </a:prstGeom>
          <a:noFill/>
        </p:spPr>
        <p:txBody>
          <a:bodyPr wrap="square" lIns="0" rIns="0" tIns="22860" bIns="22860">
            <a:spAutoFit/>
          </a:bodyPr>
          <a:lstStyle/>
          <a:p>
            <a:pPr algn="ctr">
              <a:lnSpc>
                <a:spcPts val="1050"/>
              </a:lnSpc>
              <a:spcBef>
                <a:spcPts val="0"/>
              </a:spcBef>
              <a:spcAft>
                <a:spcPts val="0"/>
              </a:spcAft>
              <a:defRPr sz="1000" b="0">
                <a:solidFill>
                  <a:srgbClr val="182B3A"/>
                </a:solidFill>
                <a:latin typeface="Arial"/>
              </a:defRPr>
            </a:pPr>
            <a:r>
              <a:t>3</a:t>
            </a:r>
          </a:p>
        </p:txBody>
      </p:sp>
      <p:cxnSp>
        <p:nvCxnSpPr>
          <p:cNvPr id="61" name="Connector 60"/>
          <p:cNvCxnSpPr/>
          <p:nvPr/>
        </p:nvCxnSpPr>
        <p:spPr>
          <a:xfrm>
            <a:off x="5910072" y="5879592"/>
            <a:ext cx="0" cy="73152"/>
          </a:xfrm>
          <a:prstGeom prst="line">
            <a:avLst/>
          </a:prstGeom>
          <a:ln w="12700">
            <a:solidFill>
              <a:srgbClr val="182B3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2" name="TextBox 61"/>
          <p:cNvSpPr txBox="1"/>
          <p:nvPr/>
        </p:nvSpPr>
        <p:spPr>
          <a:xfrm>
            <a:off x="5754624" y="5980176"/>
            <a:ext cx="310896" cy="201168"/>
          </a:xfrm>
          <a:prstGeom prst="rect">
            <a:avLst/>
          </a:prstGeom>
          <a:noFill/>
        </p:spPr>
        <p:txBody>
          <a:bodyPr wrap="square" lIns="0" rIns="0" tIns="22860" bIns="22860">
            <a:spAutoFit/>
          </a:bodyPr>
          <a:lstStyle/>
          <a:p>
            <a:pPr algn="ctr">
              <a:lnSpc>
                <a:spcPts val="1050"/>
              </a:lnSpc>
              <a:spcBef>
                <a:spcPts val="0"/>
              </a:spcBef>
              <a:spcAft>
                <a:spcPts val="0"/>
              </a:spcAft>
              <a:defRPr sz="1000" b="0">
                <a:solidFill>
                  <a:srgbClr val="182B3A"/>
                </a:solidFill>
                <a:latin typeface="Arial"/>
              </a:defRPr>
            </a:pPr>
            <a:r>
              <a:t>4</a:t>
            </a:r>
          </a:p>
        </p:txBody>
      </p:sp>
      <p:cxnSp>
        <p:nvCxnSpPr>
          <p:cNvPr id="63" name="Connector 62"/>
          <p:cNvCxnSpPr/>
          <p:nvPr/>
        </p:nvCxnSpPr>
        <p:spPr>
          <a:xfrm flipV="1">
            <a:off x="2786210" y="5605272"/>
            <a:ext cx="0" cy="256032"/>
          </a:xfrm>
          <a:prstGeom prst="line">
            <a:avLst/>
          </a:prstGeom>
          <a:ln w="12700">
            <a:solidFill>
              <a:srgbClr val="176B7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4" name="Connector 63"/>
          <p:cNvCxnSpPr/>
          <p:nvPr/>
        </p:nvCxnSpPr>
        <p:spPr>
          <a:xfrm>
            <a:off x="2786210" y="5605272"/>
            <a:ext cx="1561931" cy="0"/>
          </a:xfrm>
          <a:prstGeom prst="line">
            <a:avLst/>
          </a:prstGeom>
          <a:ln w="25400">
            <a:solidFill>
              <a:srgbClr val="176B73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5" name="Connector 64"/>
          <p:cNvCxnSpPr/>
          <p:nvPr/>
        </p:nvCxnSpPr>
        <p:spPr>
          <a:xfrm>
            <a:off x="4348141" y="5605272"/>
            <a:ext cx="0" cy="256032"/>
          </a:xfrm>
          <a:prstGeom prst="line">
            <a:avLst/>
          </a:prstGeom>
          <a:ln w="12700">
            <a:solidFill>
              <a:srgbClr val="176B7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6" name="TextBox 65"/>
          <p:cNvSpPr txBox="1"/>
          <p:nvPr/>
        </p:nvSpPr>
        <p:spPr>
          <a:xfrm>
            <a:off x="2231136" y="5010912"/>
            <a:ext cx="3843528" cy="246888"/>
          </a:xfrm>
          <a:prstGeom prst="rect">
            <a:avLst/>
          </a:prstGeom>
          <a:noFill/>
        </p:spPr>
        <p:txBody>
          <a:bodyPr wrap="square" lIns="54864" rIns="54864" tIns="22860" bIns="22860">
            <a:spAutoFit/>
          </a:bodyPr>
          <a:lstStyle/>
          <a:p>
            <a:pPr>
              <a:lnSpc>
                <a:spcPts val="1260"/>
              </a:lnSpc>
              <a:spcBef>
                <a:spcPts val="0"/>
              </a:spcBef>
              <a:spcAft>
                <a:spcPts val="0"/>
              </a:spcAft>
              <a:defRPr sz="1200" b="1">
                <a:solidFill>
                  <a:srgbClr val="176B73"/>
                </a:solidFill>
                <a:latin typeface="Arial"/>
              </a:defRPr>
            </a:pPr>
            <a:r>
              <a:t>+4 then +3: total +7</a:t>
            </a:r>
          </a:p>
        </p:txBody>
      </p:sp>
      <p:cxnSp>
        <p:nvCxnSpPr>
          <p:cNvPr id="67" name="Connector 66"/>
          <p:cNvCxnSpPr/>
          <p:nvPr/>
        </p:nvCxnSpPr>
        <p:spPr>
          <a:xfrm flipV="1">
            <a:off x="4348141" y="5312664"/>
            <a:ext cx="0" cy="548640"/>
          </a:xfrm>
          <a:prstGeom prst="line">
            <a:avLst/>
          </a:prstGeom>
          <a:ln w="12700">
            <a:solidFill>
              <a:srgbClr val="176B7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8" name="Connector 67"/>
          <p:cNvCxnSpPr/>
          <p:nvPr/>
        </p:nvCxnSpPr>
        <p:spPr>
          <a:xfrm>
            <a:off x="4348141" y="5312664"/>
            <a:ext cx="1171448" cy="0"/>
          </a:xfrm>
          <a:prstGeom prst="line">
            <a:avLst/>
          </a:prstGeom>
          <a:ln w="25400">
            <a:solidFill>
              <a:srgbClr val="176B73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9" name="Connector 68"/>
          <p:cNvCxnSpPr/>
          <p:nvPr/>
        </p:nvCxnSpPr>
        <p:spPr>
          <a:xfrm>
            <a:off x="5519589" y="5312664"/>
            <a:ext cx="0" cy="548640"/>
          </a:xfrm>
          <a:prstGeom prst="line">
            <a:avLst/>
          </a:prstGeom>
          <a:ln w="12700">
            <a:solidFill>
              <a:srgbClr val="176B7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0" name="TextBox 69"/>
          <p:cNvSpPr txBox="1"/>
          <p:nvPr/>
        </p:nvSpPr>
        <p:spPr>
          <a:xfrm>
            <a:off x="2231136" y="5276088"/>
            <a:ext cx="3843528" cy="246888"/>
          </a:xfrm>
          <a:prstGeom prst="rect">
            <a:avLst/>
          </a:prstGeom>
          <a:noFill/>
        </p:spPr>
        <p:txBody>
          <a:bodyPr wrap="square" lIns="54864" rIns="54864" tIns="22860" bIns="22860">
            <a:spAutoFit/>
          </a:bodyPr>
          <a:lstStyle/>
          <a:p>
            <a:pPr>
              <a:lnSpc>
                <a:spcPts val="1260"/>
              </a:lnSpc>
              <a:spcBef>
                <a:spcPts val="0"/>
              </a:spcBef>
              <a:spcAft>
                <a:spcPts val="0"/>
              </a:spcAft>
              <a:defRPr sz="1200" b="1">
                <a:solidFill>
                  <a:srgbClr val="176B73"/>
                </a:solidFill>
                <a:latin typeface="Arial"/>
              </a:defRPr>
            </a:pPr>
          </a:p>
        </p:txBody>
      </p:sp>
      <p:sp>
        <p:nvSpPr>
          <p:cNvPr id="71" name="Rectangle 70"/>
          <p:cNvSpPr/>
          <p:nvPr/>
        </p:nvSpPr>
        <p:spPr>
          <a:xfrm>
            <a:off x="6184392" y="4398264"/>
            <a:ext cx="4062984" cy="1920240"/>
          </a:xfrm>
          <a:prstGeom prst="rect">
            <a:avLst/>
          </a:prstGeom>
          <a:solidFill>
            <a:srgbClr val="FFFFFF"/>
          </a:solidFill>
          <a:ln w="7620">
            <a:solidFill>
              <a:srgbClr val="D8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2" name="TextBox 71"/>
          <p:cNvSpPr txBox="1"/>
          <p:nvPr/>
        </p:nvSpPr>
        <p:spPr>
          <a:xfrm>
            <a:off x="6257544" y="4480559"/>
            <a:ext cx="3916680" cy="548640"/>
          </a:xfrm>
          <a:prstGeom prst="rect">
            <a:avLst/>
          </a:prstGeom>
          <a:noFill/>
        </p:spPr>
        <p:txBody>
          <a:bodyPr wrap="square" lIns="54864" rIns="54864" tIns="22860" bIns="22860">
            <a:spAutoFit/>
          </a:bodyPr>
          <a:lstStyle/>
          <a:p>
            <a:pPr>
              <a:lnSpc>
                <a:spcPts val="1785"/>
              </a:lnSpc>
              <a:spcBef>
                <a:spcPts val="0"/>
              </a:spcBef>
              <a:spcAft>
                <a:spcPts val="0"/>
              </a:spcAft>
              <a:defRPr sz="1700" b="0">
                <a:solidFill>
                  <a:srgbClr val="182B3A"/>
                </a:solidFill>
                <a:latin typeface="Arial"/>
              </a:defRPr>
            </a:pPr>
            <a:r>
              <a:t>6 + 3 = 9.</a:t>
            </a:r>
          </a:p>
        </p:txBody>
      </p:sp>
      <p:cxnSp>
        <p:nvCxnSpPr>
          <p:cNvPr id="73" name="Connector 72"/>
          <p:cNvCxnSpPr/>
          <p:nvPr/>
        </p:nvCxnSpPr>
        <p:spPr>
          <a:xfrm>
            <a:off x="6458712" y="5916168"/>
            <a:ext cx="3514344" cy="0"/>
          </a:xfrm>
          <a:prstGeom prst="line">
            <a:avLst/>
          </a:prstGeom>
          <a:ln w="12700">
            <a:solidFill>
              <a:srgbClr val="182B3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4" name="Connector 73"/>
          <p:cNvCxnSpPr/>
          <p:nvPr/>
        </p:nvCxnSpPr>
        <p:spPr>
          <a:xfrm>
            <a:off x="6458712" y="5879592"/>
            <a:ext cx="0" cy="73152"/>
          </a:xfrm>
          <a:prstGeom prst="line">
            <a:avLst/>
          </a:prstGeom>
          <a:ln w="12700">
            <a:solidFill>
              <a:srgbClr val="182B3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5" name="TextBox 74"/>
          <p:cNvSpPr txBox="1"/>
          <p:nvPr/>
        </p:nvSpPr>
        <p:spPr>
          <a:xfrm>
            <a:off x="6303264" y="5980176"/>
            <a:ext cx="310896" cy="201168"/>
          </a:xfrm>
          <a:prstGeom prst="rect">
            <a:avLst/>
          </a:prstGeom>
          <a:noFill/>
        </p:spPr>
        <p:txBody>
          <a:bodyPr wrap="square" lIns="0" rIns="0" tIns="22860" bIns="22860">
            <a:spAutoFit/>
          </a:bodyPr>
          <a:lstStyle/>
          <a:p>
            <a:pPr algn="ctr">
              <a:lnSpc>
                <a:spcPts val="1050"/>
              </a:lnSpc>
              <a:spcBef>
                <a:spcPts val="0"/>
              </a:spcBef>
              <a:spcAft>
                <a:spcPts val="0"/>
              </a:spcAft>
              <a:defRPr sz="1000" b="1">
                <a:solidFill>
                  <a:srgbClr val="182B3A"/>
                </a:solidFill>
                <a:latin typeface="Arial"/>
              </a:defRPr>
            </a:pPr>
            <a:r>
              <a:t>0</a:t>
            </a:r>
          </a:p>
        </p:txBody>
      </p:sp>
      <p:cxnSp>
        <p:nvCxnSpPr>
          <p:cNvPr id="76" name="Connector 75"/>
          <p:cNvCxnSpPr/>
          <p:nvPr/>
        </p:nvCxnSpPr>
        <p:spPr>
          <a:xfrm>
            <a:off x="6810146" y="5879592"/>
            <a:ext cx="0" cy="73152"/>
          </a:xfrm>
          <a:prstGeom prst="line">
            <a:avLst/>
          </a:prstGeom>
          <a:ln w="12700">
            <a:solidFill>
              <a:srgbClr val="182B3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7" name="TextBox 76"/>
          <p:cNvSpPr txBox="1"/>
          <p:nvPr/>
        </p:nvSpPr>
        <p:spPr>
          <a:xfrm>
            <a:off x="6654698" y="5980176"/>
            <a:ext cx="310896" cy="201168"/>
          </a:xfrm>
          <a:prstGeom prst="rect">
            <a:avLst/>
          </a:prstGeom>
          <a:noFill/>
        </p:spPr>
        <p:txBody>
          <a:bodyPr wrap="square" lIns="0" rIns="0" tIns="22860" bIns="22860">
            <a:spAutoFit/>
          </a:bodyPr>
          <a:lstStyle/>
          <a:p>
            <a:pPr algn="ctr">
              <a:lnSpc>
                <a:spcPts val="1050"/>
              </a:lnSpc>
              <a:spcBef>
                <a:spcPts val="0"/>
              </a:spcBef>
              <a:spcAft>
                <a:spcPts val="0"/>
              </a:spcAft>
              <a:defRPr sz="1000" b="0">
                <a:solidFill>
                  <a:srgbClr val="182B3A"/>
                </a:solidFill>
                <a:latin typeface="Arial"/>
              </a:defRPr>
            </a:pPr>
            <a:r>
              <a:t>1</a:t>
            </a:r>
          </a:p>
        </p:txBody>
      </p:sp>
      <p:cxnSp>
        <p:nvCxnSpPr>
          <p:cNvPr id="78" name="Connector 77"/>
          <p:cNvCxnSpPr/>
          <p:nvPr/>
        </p:nvCxnSpPr>
        <p:spPr>
          <a:xfrm>
            <a:off x="7161580" y="5879592"/>
            <a:ext cx="0" cy="73152"/>
          </a:xfrm>
          <a:prstGeom prst="line">
            <a:avLst/>
          </a:prstGeom>
          <a:ln w="12700">
            <a:solidFill>
              <a:srgbClr val="182B3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9" name="TextBox 78"/>
          <p:cNvSpPr txBox="1"/>
          <p:nvPr/>
        </p:nvSpPr>
        <p:spPr>
          <a:xfrm>
            <a:off x="7006132" y="5980176"/>
            <a:ext cx="310896" cy="201168"/>
          </a:xfrm>
          <a:prstGeom prst="rect">
            <a:avLst/>
          </a:prstGeom>
          <a:noFill/>
        </p:spPr>
        <p:txBody>
          <a:bodyPr wrap="square" lIns="0" rIns="0" tIns="22860" bIns="22860">
            <a:spAutoFit/>
          </a:bodyPr>
          <a:lstStyle/>
          <a:p>
            <a:pPr algn="ctr">
              <a:lnSpc>
                <a:spcPts val="1050"/>
              </a:lnSpc>
              <a:spcBef>
                <a:spcPts val="0"/>
              </a:spcBef>
              <a:spcAft>
                <a:spcPts val="0"/>
              </a:spcAft>
              <a:defRPr sz="1000" b="0">
                <a:solidFill>
                  <a:srgbClr val="182B3A"/>
                </a:solidFill>
                <a:latin typeface="Arial"/>
              </a:defRPr>
            </a:pPr>
            <a:r>
              <a:t>2</a:t>
            </a:r>
          </a:p>
        </p:txBody>
      </p:sp>
      <p:cxnSp>
        <p:nvCxnSpPr>
          <p:cNvPr id="80" name="Connector 79"/>
          <p:cNvCxnSpPr/>
          <p:nvPr/>
        </p:nvCxnSpPr>
        <p:spPr>
          <a:xfrm>
            <a:off x="7513015" y="5879592"/>
            <a:ext cx="0" cy="73152"/>
          </a:xfrm>
          <a:prstGeom prst="line">
            <a:avLst/>
          </a:prstGeom>
          <a:ln w="12700">
            <a:solidFill>
              <a:srgbClr val="182B3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1" name="TextBox 80"/>
          <p:cNvSpPr txBox="1"/>
          <p:nvPr/>
        </p:nvSpPr>
        <p:spPr>
          <a:xfrm>
            <a:off x="7357567" y="5980176"/>
            <a:ext cx="310896" cy="201168"/>
          </a:xfrm>
          <a:prstGeom prst="rect">
            <a:avLst/>
          </a:prstGeom>
          <a:noFill/>
        </p:spPr>
        <p:txBody>
          <a:bodyPr wrap="square" lIns="0" rIns="0" tIns="22860" bIns="22860">
            <a:spAutoFit/>
          </a:bodyPr>
          <a:lstStyle/>
          <a:p>
            <a:pPr algn="ctr">
              <a:lnSpc>
                <a:spcPts val="1050"/>
              </a:lnSpc>
              <a:spcBef>
                <a:spcPts val="0"/>
              </a:spcBef>
              <a:spcAft>
                <a:spcPts val="0"/>
              </a:spcAft>
              <a:defRPr sz="1000" b="0">
                <a:solidFill>
                  <a:srgbClr val="182B3A"/>
                </a:solidFill>
                <a:latin typeface="Arial"/>
              </a:defRPr>
            </a:pPr>
            <a:r>
              <a:t>3</a:t>
            </a:r>
          </a:p>
        </p:txBody>
      </p:sp>
      <p:cxnSp>
        <p:nvCxnSpPr>
          <p:cNvPr id="82" name="Connector 81"/>
          <p:cNvCxnSpPr/>
          <p:nvPr/>
        </p:nvCxnSpPr>
        <p:spPr>
          <a:xfrm>
            <a:off x="7864449" y="5879592"/>
            <a:ext cx="0" cy="73152"/>
          </a:xfrm>
          <a:prstGeom prst="line">
            <a:avLst/>
          </a:prstGeom>
          <a:ln w="12700">
            <a:solidFill>
              <a:srgbClr val="182B3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3" name="TextBox 82"/>
          <p:cNvSpPr txBox="1"/>
          <p:nvPr/>
        </p:nvSpPr>
        <p:spPr>
          <a:xfrm>
            <a:off x="7709001" y="5980176"/>
            <a:ext cx="310896" cy="201168"/>
          </a:xfrm>
          <a:prstGeom prst="rect">
            <a:avLst/>
          </a:prstGeom>
          <a:noFill/>
        </p:spPr>
        <p:txBody>
          <a:bodyPr wrap="square" lIns="0" rIns="0" tIns="22860" bIns="22860">
            <a:spAutoFit/>
          </a:bodyPr>
          <a:lstStyle/>
          <a:p>
            <a:pPr algn="ctr">
              <a:lnSpc>
                <a:spcPts val="1050"/>
              </a:lnSpc>
              <a:spcBef>
                <a:spcPts val="0"/>
              </a:spcBef>
              <a:spcAft>
                <a:spcPts val="0"/>
              </a:spcAft>
              <a:defRPr sz="1000" b="0">
                <a:solidFill>
                  <a:srgbClr val="182B3A"/>
                </a:solidFill>
                <a:latin typeface="Arial"/>
              </a:defRPr>
            </a:pPr>
            <a:r>
              <a:t>4</a:t>
            </a:r>
          </a:p>
        </p:txBody>
      </p:sp>
      <p:cxnSp>
        <p:nvCxnSpPr>
          <p:cNvPr id="84" name="Connector 83"/>
          <p:cNvCxnSpPr/>
          <p:nvPr/>
        </p:nvCxnSpPr>
        <p:spPr>
          <a:xfrm>
            <a:off x="8215883" y="5879592"/>
            <a:ext cx="0" cy="73152"/>
          </a:xfrm>
          <a:prstGeom prst="line">
            <a:avLst/>
          </a:prstGeom>
          <a:ln w="12700">
            <a:solidFill>
              <a:srgbClr val="182B3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5" name="TextBox 84"/>
          <p:cNvSpPr txBox="1"/>
          <p:nvPr/>
        </p:nvSpPr>
        <p:spPr>
          <a:xfrm>
            <a:off x="8060436" y="5980176"/>
            <a:ext cx="310896" cy="201168"/>
          </a:xfrm>
          <a:prstGeom prst="rect">
            <a:avLst/>
          </a:prstGeom>
          <a:noFill/>
        </p:spPr>
        <p:txBody>
          <a:bodyPr wrap="square" lIns="0" rIns="0" tIns="22860" bIns="22860">
            <a:spAutoFit/>
          </a:bodyPr>
          <a:lstStyle/>
          <a:p>
            <a:pPr algn="ctr">
              <a:lnSpc>
                <a:spcPts val="1050"/>
              </a:lnSpc>
              <a:spcBef>
                <a:spcPts val="0"/>
              </a:spcBef>
              <a:spcAft>
                <a:spcPts val="0"/>
              </a:spcAft>
              <a:defRPr sz="1000" b="0">
                <a:solidFill>
                  <a:srgbClr val="182B3A"/>
                </a:solidFill>
                <a:latin typeface="Arial"/>
              </a:defRPr>
            </a:pPr>
            <a:r>
              <a:t>5</a:t>
            </a:r>
          </a:p>
        </p:txBody>
      </p:sp>
      <p:cxnSp>
        <p:nvCxnSpPr>
          <p:cNvPr id="86" name="Connector 85"/>
          <p:cNvCxnSpPr/>
          <p:nvPr/>
        </p:nvCxnSpPr>
        <p:spPr>
          <a:xfrm>
            <a:off x="8567318" y="5879592"/>
            <a:ext cx="0" cy="73152"/>
          </a:xfrm>
          <a:prstGeom prst="line">
            <a:avLst/>
          </a:prstGeom>
          <a:ln w="12700">
            <a:solidFill>
              <a:srgbClr val="182B3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7" name="TextBox 86"/>
          <p:cNvSpPr txBox="1"/>
          <p:nvPr/>
        </p:nvSpPr>
        <p:spPr>
          <a:xfrm>
            <a:off x="8411870" y="5980176"/>
            <a:ext cx="310896" cy="201168"/>
          </a:xfrm>
          <a:prstGeom prst="rect">
            <a:avLst/>
          </a:prstGeom>
          <a:noFill/>
        </p:spPr>
        <p:txBody>
          <a:bodyPr wrap="square" lIns="0" rIns="0" tIns="22860" bIns="22860">
            <a:spAutoFit/>
          </a:bodyPr>
          <a:lstStyle/>
          <a:p>
            <a:pPr algn="ctr">
              <a:lnSpc>
                <a:spcPts val="1050"/>
              </a:lnSpc>
              <a:spcBef>
                <a:spcPts val="0"/>
              </a:spcBef>
              <a:spcAft>
                <a:spcPts val="0"/>
              </a:spcAft>
              <a:defRPr sz="1000" b="0">
                <a:solidFill>
                  <a:srgbClr val="182B3A"/>
                </a:solidFill>
                <a:latin typeface="Arial"/>
              </a:defRPr>
            </a:pPr>
            <a:r>
              <a:t>6</a:t>
            </a:r>
          </a:p>
        </p:txBody>
      </p:sp>
      <p:cxnSp>
        <p:nvCxnSpPr>
          <p:cNvPr id="88" name="Connector 87"/>
          <p:cNvCxnSpPr/>
          <p:nvPr/>
        </p:nvCxnSpPr>
        <p:spPr>
          <a:xfrm>
            <a:off x="8918752" y="5879592"/>
            <a:ext cx="0" cy="73152"/>
          </a:xfrm>
          <a:prstGeom prst="line">
            <a:avLst/>
          </a:prstGeom>
          <a:ln w="12700">
            <a:solidFill>
              <a:srgbClr val="182B3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9" name="TextBox 88"/>
          <p:cNvSpPr txBox="1"/>
          <p:nvPr/>
        </p:nvSpPr>
        <p:spPr>
          <a:xfrm>
            <a:off x="8763304" y="5980176"/>
            <a:ext cx="310896" cy="201168"/>
          </a:xfrm>
          <a:prstGeom prst="rect">
            <a:avLst/>
          </a:prstGeom>
          <a:noFill/>
        </p:spPr>
        <p:txBody>
          <a:bodyPr wrap="square" lIns="0" rIns="0" tIns="22860" bIns="22860">
            <a:spAutoFit/>
          </a:bodyPr>
          <a:lstStyle/>
          <a:p>
            <a:pPr algn="ctr">
              <a:lnSpc>
                <a:spcPts val="1050"/>
              </a:lnSpc>
              <a:spcBef>
                <a:spcPts val="0"/>
              </a:spcBef>
              <a:spcAft>
                <a:spcPts val="0"/>
              </a:spcAft>
              <a:defRPr sz="1000" b="0">
                <a:solidFill>
                  <a:srgbClr val="182B3A"/>
                </a:solidFill>
                <a:latin typeface="Arial"/>
              </a:defRPr>
            </a:pPr>
            <a:r>
              <a:t>7</a:t>
            </a:r>
          </a:p>
        </p:txBody>
      </p:sp>
      <p:cxnSp>
        <p:nvCxnSpPr>
          <p:cNvPr id="90" name="Connector 89"/>
          <p:cNvCxnSpPr/>
          <p:nvPr/>
        </p:nvCxnSpPr>
        <p:spPr>
          <a:xfrm>
            <a:off x="9270187" y="5879592"/>
            <a:ext cx="0" cy="73152"/>
          </a:xfrm>
          <a:prstGeom prst="line">
            <a:avLst/>
          </a:prstGeom>
          <a:ln w="12700">
            <a:solidFill>
              <a:srgbClr val="182B3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1" name="TextBox 90"/>
          <p:cNvSpPr txBox="1"/>
          <p:nvPr/>
        </p:nvSpPr>
        <p:spPr>
          <a:xfrm>
            <a:off x="9114739" y="5980176"/>
            <a:ext cx="310896" cy="201168"/>
          </a:xfrm>
          <a:prstGeom prst="rect">
            <a:avLst/>
          </a:prstGeom>
          <a:noFill/>
        </p:spPr>
        <p:txBody>
          <a:bodyPr wrap="square" lIns="0" rIns="0" tIns="22860" bIns="22860">
            <a:spAutoFit/>
          </a:bodyPr>
          <a:lstStyle/>
          <a:p>
            <a:pPr algn="ctr">
              <a:lnSpc>
                <a:spcPts val="1050"/>
              </a:lnSpc>
              <a:spcBef>
                <a:spcPts val="0"/>
              </a:spcBef>
              <a:spcAft>
                <a:spcPts val="0"/>
              </a:spcAft>
              <a:defRPr sz="1000" b="0">
                <a:solidFill>
                  <a:srgbClr val="182B3A"/>
                </a:solidFill>
                <a:latin typeface="Arial"/>
              </a:defRPr>
            </a:pPr>
            <a:r>
              <a:t>8</a:t>
            </a:r>
          </a:p>
        </p:txBody>
      </p:sp>
      <p:cxnSp>
        <p:nvCxnSpPr>
          <p:cNvPr id="92" name="Connector 91"/>
          <p:cNvCxnSpPr/>
          <p:nvPr/>
        </p:nvCxnSpPr>
        <p:spPr>
          <a:xfrm>
            <a:off x="9621621" y="5879592"/>
            <a:ext cx="0" cy="73152"/>
          </a:xfrm>
          <a:prstGeom prst="line">
            <a:avLst/>
          </a:prstGeom>
          <a:ln w="12700">
            <a:solidFill>
              <a:srgbClr val="182B3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3" name="TextBox 92"/>
          <p:cNvSpPr txBox="1"/>
          <p:nvPr/>
        </p:nvSpPr>
        <p:spPr>
          <a:xfrm>
            <a:off x="9466173" y="5980176"/>
            <a:ext cx="310896" cy="201168"/>
          </a:xfrm>
          <a:prstGeom prst="rect">
            <a:avLst/>
          </a:prstGeom>
          <a:noFill/>
        </p:spPr>
        <p:txBody>
          <a:bodyPr wrap="square" lIns="0" rIns="0" tIns="22860" bIns="22860">
            <a:spAutoFit/>
          </a:bodyPr>
          <a:lstStyle/>
          <a:p>
            <a:pPr algn="ctr">
              <a:lnSpc>
                <a:spcPts val="1050"/>
              </a:lnSpc>
              <a:spcBef>
                <a:spcPts val="0"/>
              </a:spcBef>
              <a:spcAft>
                <a:spcPts val="0"/>
              </a:spcAft>
              <a:defRPr sz="1000" b="0">
                <a:solidFill>
                  <a:srgbClr val="182B3A"/>
                </a:solidFill>
                <a:latin typeface="Arial"/>
              </a:defRPr>
            </a:pPr>
            <a:r>
              <a:t>9</a:t>
            </a:r>
          </a:p>
        </p:txBody>
      </p:sp>
      <p:cxnSp>
        <p:nvCxnSpPr>
          <p:cNvPr id="94" name="Connector 93"/>
          <p:cNvCxnSpPr/>
          <p:nvPr/>
        </p:nvCxnSpPr>
        <p:spPr>
          <a:xfrm>
            <a:off x="9973056" y="5879592"/>
            <a:ext cx="0" cy="73152"/>
          </a:xfrm>
          <a:prstGeom prst="line">
            <a:avLst/>
          </a:prstGeom>
          <a:ln w="12700">
            <a:solidFill>
              <a:srgbClr val="182B3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5" name="TextBox 94"/>
          <p:cNvSpPr txBox="1"/>
          <p:nvPr/>
        </p:nvSpPr>
        <p:spPr>
          <a:xfrm>
            <a:off x="9817608" y="5980176"/>
            <a:ext cx="310896" cy="201168"/>
          </a:xfrm>
          <a:prstGeom prst="rect">
            <a:avLst/>
          </a:prstGeom>
          <a:noFill/>
        </p:spPr>
        <p:txBody>
          <a:bodyPr wrap="square" lIns="0" rIns="0" tIns="22860" bIns="22860">
            <a:spAutoFit/>
          </a:bodyPr>
          <a:lstStyle/>
          <a:p>
            <a:pPr algn="ctr">
              <a:lnSpc>
                <a:spcPts val="1050"/>
              </a:lnSpc>
              <a:spcBef>
                <a:spcPts val="0"/>
              </a:spcBef>
              <a:spcAft>
                <a:spcPts val="0"/>
              </a:spcAft>
              <a:defRPr sz="1000" b="0">
                <a:solidFill>
                  <a:srgbClr val="182B3A"/>
                </a:solidFill>
                <a:latin typeface="Arial"/>
              </a:defRPr>
            </a:pPr>
            <a:r>
              <a:t>10</a:t>
            </a:r>
          </a:p>
        </p:txBody>
      </p:sp>
      <p:cxnSp>
        <p:nvCxnSpPr>
          <p:cNvPr id="96" name="Connector 95"/>
          <p:cNvCxnSpPr/>
          <p:nvPr/>
        </p:nvCxnSpPr>
        <p:spPr>
          <a:xfrm flipV="1">
            <a:off x="8567318" y="5605272"/>
            <a:ext cx="0" cy="256032"/>
          </a:xfrm>
          <a:prstGeom prst="line">
            <a:avLst/>
          </a:prstGeom>
          <a:ln w="12700">
            <a:solidFill>
              <a:srgbClr val="3559A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7" name="Connector 96"/>
          <p:cNvCxnSpPr/>
          <p:nvPr/>
        </p:nvCxnSpPr>
        <p:spPr>
          <a:xfrm>
            <a:off x="8567318" y="5605272"/>
            <a:ext cx="1054303" cy="0"/>
          </a:xfrm>
          <a:prstGeom prst="line">
            <a:avLst/>
          </a:prstGeom>
          <a:ln w="25400">
            <a:solidFill>
              <a:srgbClr val="3559A2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8" name="Connector 97"/>
          <p:cNvCxnSpPr/>
          <p:nvPr/>
        </p:nvCxnSpPr>
        <p:spPr>
          <a:xfrm>
            <a:off x="9621621" y="5605272"/>
            <a:ext cx="0" cy="256032"/>
          </a:xfrm>
          <a:prstGeom prst="line">
            <a:avLst/>
          </a:prstGeom>
          <a:ln w="12700">
            <a:solidFill>
              <a:srgbClr val="3559A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9" name="TextBox 98"/>
          <p:cNvSpPr txBox="1"/>
          <p:nvPr/>
        </p:nvSpPr>
        <p:spPr>
          <a:xfrm>
            <a:off x="6294120" y="5010912"/>
            <a:ext cx="3843528" cy="246888"/>
          </a:xfrm>
          <a:prstGeom prst="rect">
            <a:avLst/>
          </a:prstGeom>
          <a:noFill/>
        </p:spPr>
        <p:txBody>
          <a:bodyPr wrap="square" lIns="54864" rIns="54864" tIns="22860" bIns="22860">
            <a:spAutoFit/>
          </a:bodyPr>
          <a:lstStyle/>
          <a:p>
            <a:pPr>
              <a:lnSpc>
                <a:spcPts val="1260"/>
              </a:lnSpc>
              <a:spcBef>
                <a:spcPts val="0"/>
              </a:spcBef>
              <a:spcAft>
                <a:spcPts val="0"/>
              </a:spcAft>
              <a:defRPr sz="1200" b="1">
                <a:solidFill>
                  <a:srgbClr val="3559A2"/>
                </a:solidFill>
                <a:latin typeface="Arial"/>
              </a:defRPr>
            </a:pPr>
            <a:r>
              <a:t>subtract −3 = add 3</a:t>
            </a:r>
          </a:p>
        </p:txBody>
      </p:sp>
      <p:sp>
        <p:nvSpPr>
          <p:cNvPr id="100" name="Rectangle 99"/>
          <p:cNvSpPr/>
          <p:nvPr/>
        </p:nvSpPr>
        <p:spPr>
          <a:xfrm>
            <a:off x="10247376" y="4398264"/>
            <a:ext cx="4062984" cy="1920240"/>
          </a:xfrm>
          <a:prstGeom prst="rect">
            <a:avLst/>
          </a:prstGeom>
          <a:solidFill>
            <a:srgbClr val="FFFFFF"/>
          </a:solidFill>
          <a:ln w="7620">
            <a:solidFill>
              <a:srgbClr val="D8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1" name="TextBox 100"/>
          <p:cNvSpPr txBox="1"/>
          <p:nvPr/>
        </p:nvSpPr>
        <p:spPr>
          <a:xfrm>
            <a:off x="10320528" y="4480559"/>
            <a:ext cx="3916680" cy="548640"/>
          </a:xfrm>
          <a:prstGeom prst="rect">
            <a:avLst/>
          </a:prstGeom>
          <a:noFill/>
        </p:spPr>
        <p:txBody>
          <a:bodyPr wrap="square" lIns="54864" rIns="54864" tIns="22860" bIns="22860">
            <a:spAutoFit/>
          </a:bodyPr>
          <a:lstStyle/>
          <a:p>
            <a:pPr>
              <a:lnSpc>
                <a:spcPts val="1785"/>
              </a:lnSpc>
              <a:spcBef>
                <a:spcPts val="0"/>
              </a:spcBef>
              <a:spcAft>
                <a:spcPts val="0"/>
              </a:spcAft>
              <a:defRPr sz="1700" b="0">
                <a:solidFill>
                  <a:srgbClr val="182B3A"/>
                </a:solidFill>
                <a:latin typeface="Arial"/>
              </a:defRPr>
            </a:pPr>
            <a:r>
              <a:t>−5 + 8 = 3; 3 + 2 = 5.</a:t>
            </a:r>
          </a:p>
        </p:txBody>
      </p:sp>
      <p:cxnSp>
        <p:nvCxnSpPr>
          <p:cNvPr id="102" name="Connector 101"/>
          <p:cNvCxnSpPr/>
          <p:nvPr/>
        </p:nvCxnSpPr>
        <p:spPr>
          <a:xfrm>
            <a:off x="10521696" y="5916168"/>
            <a:ext cx="3514344" cy="0"/>
          </a:xfrm>
          <a:prstGeom prst="line">
            <a:avLst/>
          </a:prstGeom>
          <a:ln w="12700">
            <a:solidFill>
              <a:srgbClr val="182B3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3" name="Connector 102"/>
          <p:cNvCxnSpPr/>
          <p:nvPr/>
        </p:nvCxnSpPr>
        <p:spPr>
          <a:xfrm>
            <a:off x="10521696" y="5879592"/>
            <a:ext cx="0" cy="73152"/>
          </a:xfrm>
          <a:prstGeom prst="line">
            <a:avLst/>
          </a:prstGeom>
          <a:ln w="12700">
            <a:solidFill>
              <a:srgbClr val="182B3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4" name="TextBox 103"/>
          <p:cNvSpPr txBox="1"/>
          <p:nvPr/>
        </p:nvSpPr>
        <p:spPr>
          <a:xfrm>
            <a:off x="10329164" y="5980176"/>
            <a:ext cx="310896" cy="201168"/>
          </a:xfrm>
          <a:prstGeom prst="rect">
            <a:avLst/>
          </a:prstGeom>
          <a:noFill/>
        </p:spPr>
        <p:txBody>
          <a:bodyPr wrap="square" lIns="0" rIns="0" tIns="22860" bIns="22860">
            <a:spAutoFit/>
          </a:bodyPr>
          <a:lstStyle/>
          <a:p>
            <a:pPr algn="ctr">
              <a:lnSpc>
                <a:spcPts val="1050"/>
              </a:lnSpc>
              <a:spcBef>
                <a:spcPts val="0"/>
              </a:spcBef>
              <a:spcAft>
                <a:spcPts val="0"/>
              </a:spcAft>
              <a:defRPr sz="1000" b="0">
                <a:solidFill>
                  <a:srgbClr val="182B3A"/>
                </a:solidFill>
                <a:latin typeface="Arial"/>
              </a:defRPr>
            </a:pPr>
            <a:r>
              <a:t>−6</a:t>
            </a:r>
          </a:p>
        </p:txBody>
      </p:sp>
      <p:cxnSp>
        <p:nvCxnSpPr>
          <p:cNvPr id="105" name="Connector 104"/>
          <p:cNvCxnSpPr/>
          <p:nvPr/>
        </p:nvCxnSpPr>
        <p:spPr>
          <a:xfrm>
            <a:off x="10814557" y="5879592"/>
            <a:ext cx="0" cy="73152"/>
          </a:xfrm>
          <a:prstGeom prst="line">
            <a:avLst/>
          </a:prstGeom>
          <a:ln w="12700">
            <a:solidFill>
              <a:srgbClr val="182B3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6" name="TextBox 105"/>
          <p:cNvSpPr txBox="1"/>
          <p:nvPr/>
        </p:nvSpPr>
        <p:spPr>
          <a:xfrm>
            <a:off x="10622025" y="5980176"/>
            <a:ext cx="310896" cy="201168"/>
          </a:xfrm>
          <a:prstGeom prst="rect">
            <a:avLst/>
          </a:prstGeom>
          <a:noFill/>
        </p:spPr>
        <p:txBody>
          <a:bodyPr wrap="square" lIns="0" rIns="0" tIns="22860" bIns="22860">
            <a:spAutoFit/>
          </a:bodyPr>
          <a:lstStyle/>
          <a:p>
            <a:pPr algn="ctr">
              <a:lnSpc>
                <a:spcPts val="1050"/>
              </a:lnSpc>
              <a:spcBef>
                <a:spcPts val="0"/>
              </a:spcBef>
              <a:spcAft>
                <a:spcPts val="0"/>
              </a:spcAft>
              <a:defRPr sz="1000" b="0">
                <a:solidFill>
                  <a:srgbClr val="182B3A"/>
                </a:solidFill>
                <a:latin typeface="Arial"/>
              </a:defRPr>
            </a:pPr>
            <a:r>
              <a:t>−5</a:t>
            </a:r>
          </a:p>
        </p:txBody>
      </p:sp>
      <p:cxnSp>
        <p:nvCxnSpPr>
          <p:cNvPr id="107" name="Connector 106"/>
          <p:cNvCxnSpPr/>
          <p:nvPr/>
        </p:nvCxnSpPr>
        <p:spPr>
          <a:xfrm>
            <a:off x="11107420" y="5879592"/>
            <a:ext cx="0" cy="73152"/>
          </a:xfrm>
          <a:prstGeom prst="line">
            <a:avLst/>
          </a:prstGeom>
          <a:ln w="12700">
            <a:solidFill>
              <a:srgbClr val="182B3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8" name="TextBox 107"/>
          <p:cNvSpPr txBox="1"/>
          <p:nvPr/>
        </p:nvSpPr>
        <p:spPr>
          <a:xfrm>
            <a:off x="10914888" y="5980176"/>
            <a:ext cx="310896" cy="201168"/>
          </a:xfrm>
          <a:prstGeom prst="rect">
            <a:avLst/>
          </a:prstGeom>
          <a:noFill/>
        </p:spPr>
        <p:txBody>
          <a:bodyPr wrap="square" lIns="0" rIns="0" tIns="22860" bIns="22860">
            <a:spAutoFit/>
          </a:bodyPr>
          <a:lstStyle/>
          <a:p>
            <a:pPr algn="ctr">
              <a:lnSpc>
                <a:spcPts val="1050"/>
              </a:lnSpc>
              <a:spcBef>
                <a:spcPts val="0"/>
              </a:spcBef>
              <a:spcAft>
                <a:spcPts val="0"/>
              </a:spcAft>
              <a:defRPr sz="1000" b="0">
                <a:solidFill>
                  <a:srgbClr val="182B3A"/>
                </a:solidFill>
                <a:latin typeface="Arial"/>
              </a:defRPr>
            </a:pPr>
            <a:r>
              <a:t>−4</a:t>
            </a:r>
          </a:p>
        </p:txBody>
      </p:sp>
      <p:cxnSp>
        <p:nvCxnSpPr>
          <p:cNvPr id="109" name="Connector 108"/>
          <p:cNvCxnSpPr/>
          <p:nvPr/>
        </p:nvCxnSpPr>
        <p:spPr>
          <a:xfrm>
            <a:off x="11400282" y="5879592"/>
            <a:ext cx="0" cy="73152"/>
          </a:xfrm>
          <a:prstGeom prst="line">
            <a:avLst/>
          </a:prstGeom>
          <a:ln w="12700">
            <a:solidFill>
              <a:srgbClr val="182B3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0" name="TextBox 109"/>
          <p:cNvSpPr txBox="1"/>
          <p:nvPr/>
        </p:nvSpPr>
        <p:spPr>
          <a:xfrm>
            <a:off x="11207750" y="5980176"/>
            <a:ext cx="310896" cy="201168"/>
          </a:xfrm>
          <a:prstGeom prst="rect">
            <a:avLst/>
          </a:prstGeom>
          <a:noFill/>
        </p:spPr>
        <p:txBody>
          <a:bodyPr wrap="square" lIns="0" rIns="0" tIns="22860" bIns="22860">
            <a:spAutoFit/>
          </a:bodyPr>
          <a:lstStyle/>
          <a:p>
            <a:pPr algn="ctr">
              <a:lnSpc>
                <a:spcPts val="1050"/>
              </a:lnSpc>
              <a:spcBef>
                <a:spcPts val="0"/>
              </a:spcBef>
              <a:spcAft>
                <a:spcPts val="0"/>
              </a:spcAft>
              <a:defRPr sz="1000" b="0">
                <a:solidFill>
                  <a:srgbClr val="182B3A"/>
                </a:solidFill>
                <a:latin typeface="Arial"/>
              </a:defRPr>
            </a:pPr>
            <a:r>
              <a:t>−3</a:t>
            </a:r>
          </a:p>
        </p:txBody>
      </p:sp>
      <p:cxnSp>
        <p:nvCxnSpPr>
          <p:cNvPr id="111" name="Connector 110"/>
          <p:cNvCxnSpPr/>
          <p:nvPr/>
        </p:nvCxnSpPr>
        <p:spPr>
          <a:xfrm>
            <a:off x="11693143" y="5879592"/>
            <a:ext cx="0" cy="73152"/>
          </a:xfrm>
          <a:prstGeom prst="line">
            <a:avLst/>
          </a:prstGeom>
          <a:ln w="12700">
            <a:solidFill>
              <a:srgbClr val="182B3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2" name="TextBox 111"/>
          <p:cNvSpPr txBox="1"/>
          <p:nvPr/>
        </p:nvSpPr>
        <p:spPr>
          <a:xfrm>
            <a:off x="11500611" y="5980176"/>
            <a:ext cx="310896" cy="201168"/>
          </a:xfrm>
          <a:prstGeom prst="rect">
            <a:avLst/>
          </a:prstGeom>
          <a:noFill/>
        </p:spPr>
        <p:txBody>
          <a:bodyPr wrap="square" lIns="0" rIns="0" tIns="22860" bIns="22860">
            <a:spAutoFit/>
          </a:bodyPr>
          <a:lstStyle/>
          <a:p>
            <a:pPr algn="ctr">
              <a:lnSpc>
                <a:spcPts val="1050"/>
              </a:lnSpc>
              <a:spcBef>
                <a:spcPts val="0"/>
              </a:spcBef>
              <a:spcAft>
                <a:spcPts val="0"/>
              </a:spcAft>
              <a:defRPr sz="1000" b="0">
                <a:solidFill>
                  <a:srgbClr val="182B3A"/>
                </a:solidFill>
                <a:latin typeface="Arial"/>
              </a:defRPr>
            </a:pPr>
            <a:r>
              <a:t>−2</a:t>
            </a:r>
          </a:p>
        </p:txBody>
      </p:sp>
      <p:cxnSp>
        <p:nvCxnSpPr>
          <p:cNvPr id="113" name="Connector 112"/>
          <p:cNvCxnSpPr/>
          <p:nvPr/>
        </p:nvCxnSpPr>
        <p:spPr>
          <a:xfrm>
            <a:off x="11986006" y="5879592"/>
            <a:ext cx="0" cy="73152"/>
          </a:xfrm>
          <a:prstGeom prst="line">
            <a:avLst/>
          </a:prstGeom>
          <a:ln w="12700">
            <a:solidFill>
              <a:srgbClr val="182B3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4" name="TextBox 113"/>
          <p:cNvSpPr txBox="1"/>
          <p:nvPr/>
        </p:nvSpPr>
        <p:spPr>
          <a:xfrm>
            <a:off x="11793474" y="5980176"/>
            <a:ext cx="310896" cy="201168"/>
          </a:xfrm>
          <a:prstGeom prst="rect">
            <a:avLst/>
          </a:prstGeom>
          <a:noFill/>
        </p:spPr>
        <p:txBody>
          <a:bodyPr wrap="square" lIns="0" rIns="0" tIns="22860" bIns="22860">
            <a:spAutoFit/>
          </a:bodyPr>
          <a:lstStyle/>
          <a:p>
            <a:pPr algn="ctr">
              <a:lnSpc>
                <a:spcPts val="1050"/>
              </a:lnSpc>
              <a:spcBef>
                <a:spcPts val="0"/>
              </a:spcBef>
              <a:spcAft>
                <a:spcPts val="0"/>
              </a:spcAft>
              <a:defRPr sz="1000" b="0">
                <a:solidFill>
                  <a:srgbClr val="182B3A"/>
                </a:solidFill>
                <a:latin typeface="Arial"/>
              </a:defRPr>
            </a:pPr>
            <a:r>
              <a:t>−1</a:t>
            </a:r>
          </a:p>
        </p:txBody>
      </p:sp>
      <p:cxnSp>
        <p:nvCxnSpPr>
          <p:cNvPr id="115" name="Connector 114"/>
          <p:cNvCxnSpPr/>
          <p:nvPr/>
        </p:nvCxnSpPr>
        <p:spPr>
          <a:xfrm>
            <a:off x="12278868" y="5879592"/>
            <a:ext cx="0" cy="73152"/>
          </a:xfrm>
          <a:prstGeom prst="line">
            <a:avLst/>
          </a:prstGeom>
          <a:ln w="12700">
            <a:solidFill>
              <a:srgbClr val="182B3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6" name="TextBox 115"/>
          <p:cNvSpPr txBox="1"/>
          <p:nvPr/>
        </p:nvSpPr>
        <p:spPr>
          <a:xfrm>
            <a:off x="12123420" y="5980176"/>
            <a:ext cx="310896" cy="201168"/>
          </a:xfrm>
          <a:prstGeom prst="rect">
            <a:avLst/>
          </a:prstGeom>
          <a:noFill/>
        </p:spPr>
        <p:txBody>
          <a:bodyPr wrap="square" lIns="0" rIns="0" tIns="22860" bIns="22860">
            <a:spAutoFit/>
          </a:bodyPr>
          <a:lstStyle/>
          <a:p>
            <a:pPr algn="ctr">
              <a:lnSpc>
                <a:spcPts val="1050"/>
              </a:lnSpc>
              <a:spcBef>
                <a:spcPts val="0"/>
              </a:spcBef>
              <a:spcAft>
                <a:spcPts val="0"/>
              </a:spcAft>
              <a:defRPr sz="1000" b="1">
                <a:solidFill>
                  <a:srgbClr val="182B3A"/>
                </a:solidFill>
                <a:latin typeface="Arial"/>
              </a:defRPr>
            </a:pPr>
            <a:r>
              <a:t>0</a:t>
            </a:r>
          </a:p>
        </p:txBody>
      </p:sp>
      <p:cxnSp>
        <p:nvCxnSpPr>
          <p:cNvPr id="117" name="Connector 116"/>
          <p:cNvCxnSpPr/>
          <p:nvPr/>
        </p:nvCxnSpPr>
        <p:spPr>
          <a:xfrm>
            <a:off x="12571729" y="5879592"/>
            <a:ext cx="0" cy="73152"/>
          </a:xfrm>
          <a:prstGeom prst="line">
            <a:avLst/>
          </a:prstGeom>
          <a:ln w="12700">
            <a:solidFill>
              <a:srgbClr val="182B3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8" name="TextBox 117"/>
          <p:cNvSpPr txBox="1"/>
          <p:nvPr/>
        </p:nvSpPr>
        <p:spPr>
          <a:xfrm>
            <a:off x="12416281" y="5980176"/>
            <a:ext cx="310896" cy="201168"/>
          </a:xfrm>
          <a:prstGeom prst="rect">
            <a:avLst/>
          </a:prstGeom>
          <a:noFill/>
        </p:spPr>
        <p:txBody>
          <a:bodyPr wrap="square" lIns="0" rIns="0" tIns="22860" bIns="22860">
            <a:spAutoFit/>
          </a:bodyPr>
          <a:lstStyle/>
          <a:p>
            <a:pPr algn="ctr">
              <a:lnSpc>
                <a:spcPts val="1050"/>
              </a:lnSpc>
              <a:spcBef>
                <a:spcPts val="0"/>
              </a:spcBef>
              <a:spcAft>
                <a:spcPts val="0"/>
              </a:spcAft>
              <a:defRPr sz="1000" b="0">
                <a:solidFill>
                  <a:srgbClr val="182B3A"/>
                </a:solidFill>
                <a:latin typeface="Arial"/>
              </a:defRPr>
            </a:pPr>
            <a:r>
              <a:t>1</a:t>
            </a:r>
          </a:p>
        </p:txBody>
      </p:sp>
      <p:cxnSp>
        <p:nvCxnSpPr>
          <p:cNvPr id="119" name="Connector 118"/>
          <p:cNvCxnSpPr/>
          <p:nvPr/>
        </p:nvCxnSpPr>
        <p:spPr>
          <a:xfrm>
            <a:off x="12864592" y="5879592"/>
            <a:ext cx="0" cy="73152"/>
          </a:xfrm>
          <a:prstGeom prst="line">
            <a:avLst/>
          </a:prstGeom>
          <a:ln w="12700">
            <a:solidFill>
              <a:srgbClr val="182B3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0" name="TextBox 119"/>
          <p:cNvSpPr txBox="1"/>
          <p:nvPr/>
        </p:nvSpPr>
        <p:spPr>
          <a:xfrm>
            <a:off x="12709144" y="5980176"/>
            <a:ext cx="310896" cy="201168"/>
          </a:xfrm>
          <a:prstGeom prst="rect">
            <a:avLst/>
          </a:prstGeom>
          <a:noFill/>
        </p:spPr>
        <p:txBody>
          <a:bodyPr wrap="square" lIns="0" rIns="0" tIns="22860" bIns="22860">
            <a:spAutoFit/>
          </a:bodyPr>
          <a:lstStyle/>
          <a:p>
            <a:pPr algn="ctr">
              <a:lnSpc>
                <a:spcPts val="1050"/>
              </a:lnSpc>
              <a:spcBef>
                <a:spcPts val="0"/>
              </a:spcBef>
              <a:spcAft>
                <a:spcPts val="0"/>
              </a:spcAft>
              <a:defRPr sz="1000" b="0">
                <a:solidFill>
                  <a:srgbClr val="182B3A"/>
                </a:solidFill>
                <a:latin typeface="Arial"/>
              </a:defRPr>
            </a:pPr>
            <a:r>
              <a:t>2</a:t>
            </a:r>
          </a:p>
        </p:txBody>
      </p:sp>
      <p:cxnSp>
        <p:nvCxnSpPr>
          <p:cNvPr id="121" name="Connector 120"/>
          <p:cNvCxnSpPr/>
          <p:nvPr/>
        </p:nvCxnSpPr>
        <p:spPr>
          <a:xfrm>
            <a:off x="13157454" y="5879592"/>
            <a:ext cx="0" cy="73152"/>
          </a:xfrm>
          <a:prstGeom prst="line">
            <a:avLst/>
          </a:prstGeom>
          <a:ln w="12700">
            <a:solidFill>
              <a:srgbClr val="182B3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2" name="TextBox 121"/>
          <p:cNvSpPr txBox="1"/>
          <p:nvPr/>
        </p:nvSpPr>
        <p:spPr>
          <a:xfrm>
            <a:off x="13002006" y="5980176"/>
            <a:ext cx="310896" cy="201168"/>
          </a:xfrm>
          <a:prstGeom prst="rect">
            <a:avLst/>
          </a:prstGeom>
          <a:noFill/>
        </p:spPr>
        <p:txBody>
          <a:bodyPr wrap="square" lIns="0" rIns="0" tIns="22860" bIns="22860">
            <a:spAutoFit/>
          </a:bodyPr>
          <a:lstStyle/>
          <a:p>
            <a:pPr algn="ctr">
              <a:lnSpc>
                <a:spcPts val="1050"/>
              </a:lnSpc>
              <a:spcBef>
                <a:spcPts val="0"/>
              </a:spcBef>
              <a:spcAft>
                <a:spcPts val="0"/>
              </a:spcAft>
              <a:defRPr sz="1000" b="0">
                <a:solidFill>
                  <a:srgbClr val="182B3A"/>
                </a:solidFill>
                <a:latin typeface="Arial"/>
              </a:defRPr>
            </a:pPr>
            <a:r>
              <a:t>3</a:t>
            </a:r>
          </a:p>
        </p:txBody>
      </p:sp>
      <p:cxnSp>
        <p:nvCxnSpPr>
          <p:cNvPr id="123" name="Connector 122"/>
          <p:cNvCxnSpPr/>
          <p:nvPr/>
        </p:nvCxnSpPr>
        <p:spPr>
          <a:xfrm>
            <a:off x="13450316" y="5879592"/>
            <a:ext cx="0" cy="73152"/>
          </a:xfrm>
          <a:prstGeom prst="line">
            <a:avLst/>
          </a:prstGeom>
          <a:ln w="12700">
            <a:solidFill>
              <a:srgbClr val="182B3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4" name="TextBox 123"/>
          <p:cNvSpPr txBox="1"/>
          <p:nvPr/>
        </p:nvSpPr>
        <p:spPr>
          <a:xfrm>
            <a:off x="13294868" y="5980176"/>
            <a:ext cx="310896" cy="201168"/>
          </a:xfrm>
          <a:prstGeom prst="rect">
            <a:avLst/>
          </a:prstGeom>
          <a:noFill/>
        </p:spPr>
        <p:txBody>
          <a:bodyPr wrap="square" lIns="0" rIns="0" tIns="22860" bIns="22860">
            <a:spAutoFit/>
          </a:bodyPr>
          <a:lstStyle/>
          <a:p>
            <a:pPr algn="ctr">
              <a:lnSpc>
                <a:spcPts val="1050"/>
              </a:lnSpc>
              <a:spcBef>
                <a:spcPts val="0"/>
              </a:spcBef>
              <a:spcAft>
                <a:spcPts val="0"/>
              </a:spcAft>
              <a:defRPr sz="1000" b="0">
                <a:solidFill>
                  <a:srgbClr val="182B3A"/>
                </a:solidFill>
                <a:latin typeface="Arial"/>
              </a:defRPr>
            </a:pPr>
            <a:r>
              <a:t>4</a:t>
            </a:r>
          </a:p>
        </p:txBody>
      </p:sp>
      <p:cxnSp>
        <p:nvCxnSpPr>
          <p:cNvPr id="125" name="Connector 124"/>
          <p:cNvCxnSpPr/>
          <p:nvPr/>
        </p:nvCxnSpPr>
        <p:spPr>
          <a:xfrm>
            <a:off x="13743177" y="5879592"/>
            <a:ext cx="0" cy="73152"/>
          </a:xfrm>
          <a:prstGeom prst="line">
            <a:avLst/>
          </a:prstGeom>
          <a:ln w="12700">
            <a:solidFill>
              <a:srgbClr val="182B3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6" name="TextBox 125"/>
          <p:cNvSpPr txBox="1"/>
          <p:nvPr/>
        </p:nvSpPr>
        <p:spPr>
          <a:xfrm>
            <a:off x="13587729" y="5980176"/>
            <a:ext cx="310896" cy="201168"/>
          </a:xfrm>
          <a:prstGeom prst="rect">
            <a:avLst/>
          </a:prstGeom>
          <a:noFill/>
        </p:spPr>
        <p:txBody>
          <a:bodyPr wrap="square" lIns="0" rIns="0" tIns="22860" bIns="22860">
            <a:spAutoFit/>
          </a:bodyPr>
          <a:lstStyle/>
          <a:p>
            <a:pPr algn="ctr">
              <a:lnSpc>
                <a:spcPts val="1050"/>
              </a:lnSpc>
              <a:spcBef>
                <a:spcPts val="0"/>
              </a:spcBef>
              <a:spcAft>
                <a:spcPts val="0"/>
              </a:spcAft>
              <a:defRPr sz="1000" b="0">
                <a:solidFill>
                  <a:srgbClr val="182B3A"/>
                </a:solidFill>
                <a:latin typeface="Arial"/>
              </a:defRPr>
            </a:pPr>
            <a:r>
              <a:t>5</a:t>
            </a:r>
          </a:p>
        </p:txBody>
      </p:sp>
      <p:cxnSp>
        <p:nvCxnSpPr>
          <p:cNvPr id="127" name="Connector 126"/>
          <p:cNvCxnSpPr/>
          <p:nvPr/>
        </p:nvCxnSpPr>
        <p:spPr>
          <a:xfrm>
            <a:off x="14036040" y="5879592"/>
            <a:ext cx="0" cy="73152"/>
          </a:xfrm>
          <a:prstGeom prst="line">
            <a:avLst/>
          </a:prstGeom>
          <a:ln w="12700">
            <a:solidFill>
              <a:srgbClr val="182B3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8" name="TextBox 127"/>
          <p:cNvSpPr txBox="1"/>
          <p:nvPr/>
        </p:nvSpPr>
        <p:spPr>
          <a:xfrm>
            <a:off x="13880592" y="5980176"/>
            <a:ext cx="310896" cy="201168"/>
          </a:xfrm>
          <a:prstGeom prst="rect">
            <a:avLst/>
          </a:prstGeom>
          <a:noFill/>
        </p:spPr>
        <p:txBody>
          <a:bodyPr wrap="square" lIns="0" rIns="0" tIns="22860" bIns="22860">
            <a:spAutoFit/>
          </a:bodyPr>
          <a:lstStyle/>
          <a:p>
            <a:pPr algn="ctr">
              <a:lnSpc>
                <a:spcPts val="1050"/>
              </a:lnSpc>
              <a:spcBef>
                <a:spcPts val="0"/>
              </a:spcBef>
              <a:spcAft>
                <a:spcPts val="0"/>
              </a:spcAft>
              <a:defRPr sz="1000" b="0">
                <a:solidFill>
                  <a:srgbClr val="182B3A"/>
                </a:solidFill>
                <a:latin typeface="Arial"/>
              </a:defRPr>
            </a:pPr>
            <a:r>
              <a:t>6</a:t>
            </a:r>
          </a:p>
        </p:txBody>
      </p:sp>
      <p:cxnSp>
        <p:nvCxnSpPr>
          <p:cNvPr id="129" name="Connector 128"/>
          <p:cNvCxnSpPr/>
          <p:nvPr/>
        </p:nvCxnSpPr>
        <p:spPr>
          <a:xfrm flipV="1">
            <a:off x="10814557" y="5605272"/>
            <a:ext cx="0" cy="256032"/>
          </a:xfrm>
          <a:prstGeom prst="line">
            <a:avLst/>
          </a:prstGeom>
          <a:ln w="12700">
            <a:solidFill>
              <a:srgbClr val="754B8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0" name="Connector 129"/>
          <p:cNvCxnSpPr/>
          <p:nvPr/>
        </p:nvCxnSpPr>
        <p:spPr>
          <a:xfrm>
            <a:off x="10814557" y="5605272"/>
            <a:ext cx="2342897" cy="0"/>
          </a:xfrm>
          <a:prstGeom prst="line">
            <a:avLst/>
          </a:prstGeom>
          <a:ln w="25400">
            <a:solidFill>
              <a:srgbClr val="754B87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1" name="Connector 130"/>
          <p:cNvCxnSpPr/>
          <p:nvPr/>
        </p:nvCxnSpPr>
        <p:spPr>
          <a:xfrm>
            <a:off x="13157454" y="5605272"/>
            <a:ext cx="0" cy="256032"/>
          </a:xfrm>
          <a:prstGeom prst="line">
            <a:avLst/>
          </a:prstGeom>
          <a:ln w="12700">
            <a:solidFill>
              <a:srgbClr val="754B8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2" name="TextBox 131"/>
          <p:cNvSpPr txBox="1"/>
          <p:nvPr/>
        </p:nvSpPr>
        <p:spPr>
          <a:xfrm>
            <a:off x="10357104" y="5010912"/>
            <a:ext cx="3843528" cy="246888"/>
          </a:xfrm>
          <a:prstGeom prst="rect">
            <a:avLst/>
          </a:prstGeom>
          <a:noFill/>
        </p:spPr>
        <p:txBody>
          <a:bodyPr wrap="square" lIns="54864" rIns="54864" tIns="22860" bIns="22860">
            <a:spAutoFit/>
          </a:bodyPr>
          <a:lstStyle/>
          <a:p>
            <a:pPr>
              <a:lnSpc>
                <a:spcPts val="1260"/>
              </a:lnSpc>
              <a:spcBef>
                <a:spcPts val="0"/>
              </a:spcBef>
              <a:spcAft>
                <a:spcPts val="0"/>
              </a:spcAft>
              <a:defRPr sz="1200" b="1">
                <a:solidFill>
                  <a:srgbClr val="754B87"/>
                </a:solidFill>
                <a:latin typeface="Arial"/>
              </a:defRPr>
            </a:pPr>
            <a:r>
              <a:t>+8, then +2</a:t>
            </a:r>
          </a:p>
        </p:txBody>
      </p:sp>
      <p:cxnSp>
        <p:nvCxnSpPr>
          <p:cNvPr id="133" name="Connector 132"/>
          <p:cNvCxnSpPr/>
          <p:nvPr/>
        </p:nvCxnSpPr>
        <p:spPr>
          <a:xfrm flipV="1">
            <a:off x="13157454" y="5312664"/>
            <a:ext cx="0" cy="548640"/>
          </a:xfrm>
          <a:prstGeom prst="line">
            <a:avLst/>
          </a:prstGeom>
          <a:ln w="12700">
            <a:solidFill>
              <a:srgbClr val="754B8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4" name="Connector 133"/>
          <p:cNvCxnSpPr/>
          <p:nvPr/>
        </p:nvCxnSpPr>
        <p:spPr>
          <a:xfrm>
            <a:off x="13157454" y="5312664"/>
            <a:ext cx="585723" cy="0"/>
          </a:xfrm>
          <a:prstGeom prst="line">
            <a:avLst/>
          </a:prstGeom>
          <a:ln w="25400">
            <a:solidFill>
              <a:srgbClr val="754B87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5" name="Connector 134"/>
          <p:cNvCxnSpPr/>
          <p:nvPr/>
        </p:nvCxnSpPr>
        <p:spPr>
          <a:xfrm>
            <a:off x="13743177" y="5312664"/>
            <a:ext cx="0" cy="548640"/>
          </a:xfrm>
          <a:prstGeom prst="line">
            <a:avLst/>
          </a:prstGeom>
          <a:ln w="12700">
            <a:solidFill>
              <a:srgbClr val="754B8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6" name="TextBox 135"/>
          <p:cNvSpPr txBox="1"/>
          <p:nvPr/>
        </p:nvSpPr>
        <p:spPr>
          <a:xfrm>
            <a:off x="10357104" y="5276088"/>
            <a:ext cx="3843528" cy="246888"/>
          </a:xfrm>
          <a:prstGeom prst="rect">
            <a:avLst/>
          </a:prstGeom>
          <a:noFill/>
        </p:spPr>
        <p:txBody>
          <a:bodyPr wrap="square" lIns="54864" rIns="54864" tIns="22860" bIns="22860">
            <a:spAutoFit/>
          </a:bodyPr>
          <a:lstStyle/>
          <a:p>
            <a:pPr>
              <a:lnSpc>
                <a:spcPts val="1260"/>
              </a:lnSpc>
              <a:spcBef>
                <a:spcPts val="0"/>
              </a:spcBef>
              <a:spcAft>
                <a:spcPts val="0"/>
              </a:spcAft>
              <a:defRPr sz="1200" b="1">
                <a:solidFill>
                  <a:srgbClr val="754B87"/>
                </a:solidFill>
                <a:latin typeface="Arial"/>
              </a:defRPr>
            </a:pPr>
          </a:p>
        </p:txBody>
      </p:sp>
      <p:sp>
        <p:nvSpPr>
          <p:cNvPr id="137" name="Rectangle 136"/>
          <p:cNvSpPr/>
          <p:nvPr/>
        </p:nvSpPr>
        <p:spPr>
          <a:xfrm>
            <a:off x="320040" y="6318504"/>
            <a:ext cx="1801367" cy="1188720"/>
          </a:xfrm>
          <a:prstGeom prst="rect">
            <a:avLst/>
          </a:prstGeom>
          <a:solidFill>
            <a:srgbClr val="E8EDF1"/>
          </a:solidFill>
          <a:ln w="7620">
            <a:solidFill>
              <a:srgbClr val="D8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8" name="TextBox 137"/>
          <p:cNvSpPr txBox="1"/>
          <p:nvPr/>
        </p:nvSpPr>
        <p:spPr>
          <a:xfrm>
            <a:off x="374904" y="6409944"/>
            <a:ext cx="1691639" cy="1033272"/>
          </a:xfrm>
          <a:prstGeom prst="rect">
            <a:avLst/>
          </a:prstGeom>
          <a:noFill/>
        </p:spPr>
        <p:txBody>
          <a:bodyPr wrap="square" lIns="54864" rIns="54864" tIns="22860" bIns="22860">
            <a:spAutoFit/>
          </a:bodyPr>
          <a:lstStyle/>
          <a:p>
            <a:pPr>
              <a:lnSpc>
                <a:spcPts val="1785"/>
              </a:lnSpc>
              <a:spcBef>
                <a:spcPts val="0"/>
              </a:spcBef>
              <a:spcAft>
                <a:spcPts val="0"/>
              </a:spcAft>
              <a:defRPr sz="1700" b="1">
                <a:solidFill>
                  <a:srgbClr val="182B3A"/>
                </a:solidFill>
                <a:latin typeface="Arial"/>
              </a:defRPr>
            </a:pPr>
            <a:r>
              <a:t>Check the Answer</a:t>
            </a:r>
          </a:p>
        </p:txBody>
      </p:sp>
      <p:sp>
        <p:nvSpPr>
          <p:cNvPr id="139" name="Rectangle 138"/>
          <p:cNvSpPr/>
          <p:nvPr/>
        </p:nvSpPr>
        <p:spPr>
          <a:xfrm>
            <a:off x="2121408" y="6318504"/>
            <a:ext cx="4062984" cy="1188720"/>
          </a:xfrm>
          <a:prstGeom prst="rect">
            <a:avLst/>
          </a:prstGeom>
          <a:solidFill>
            <a:srgbClr val="FFFFFF"/>
          </a:solidFill>
          <a:ln w="7620">
            <a:solidFill>
              <a:srgbClr val="D8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0" name="TextBox 139"/>
          <p:cNvSpPr txBox="1"/>
          <p:nvPr/>
        </p:nvSpPr>
        <p:spPr>
          <a:xfrm>
            <a:off x="2194560" y="6400800"/>
            <a:ext cx="3916680" cy="1042416"/>
          </a:xfrm>
          <a:prstGeom prst="rect">
            <a:avLst/>
          </a:prstGeom>
          <a:noFill/>
        </p:spPr>
        <p:txBody>
          <a:bodyPr wrap="square" lIns="54864" rIns="54864" tIns="22860" bIns="22860">
            <a:spAutoFit/>
          </a:bodyPr>
          <a:lstStyle/>
          <a:p>
            <a:pPr>
              <a:lnSpc>
                <a:spcPts val="1785"/>
              </a:lnSpc>
              <a:spcBef>
                <a:spcPts val="0"/>
              </a:spcBef>
              <a:spcAft>
                <a:spcPts val="0"/>
              </a:spcAft>
              <a:defRPr sz="1700" b="0">
                <a:solidFill>
                  <a:srgbClr val="182B3A"/>
                </a:solidFill>
                <a:latin typeface="Arial"/>
              </a:defRPr>
            </a:pPr>
            <a:r>
              <a:t>3 − 7 = −4. Answer: 3.</a:t>
            </a:r>
          </a:p>
        </p:txBody>
      </p:sp>
      <p:sp>
        <p:nvSpPr>
          <p:cNvPr id="141" name="Rectangle 140"/>
          <p:cNvSpPr/>
          <p:nvPr/>
        </p:nvSpPr>
        <p:spPr>
          <a:xfrm>
            <a:off x="6184392" y="6318504"/>
            <a:ext cx="4062984" cy="1188720"/>
          </a:xfrm>
          <a:prstGeom prst="rect">
            <a:avLst/>
          </a:prstGeom>
          <a:solidFill>
            <a:srgbClr val="FFFFFF"/>
          </a:solidFill>
          <a:ln w="7620">
            <a:solidFill>
              <a:srgbClr val="D8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2" name="TextBox 141"/>
          <p:cNvSpPr txBox="1"/>
          <p:nvPr/>
        </p:nvSpPr>
        <p:spPr>
          <a:xfrm>
            <a:off x="6257544" y="6400800"/>
            <a:ext cx="3916680" cy="1042416"/>
          </a:xfrm>
          <a:prstGeom prst="rect">
            <a:avLst/>
          </a:prstGeom>
          <a:noFill/>
        </p:spPr>
        <p:txBody>
          <a:bodyPr wrap="square" lIns="54864" rIns="54864" tIns="22860" bIns="22860">
            <a:spAutoFit/>
          </a:bodyPr>
          <a:lstStyle/>
          <a:p>
            <a:pPr>
              <a:lnSpc>
                <a:spcPts val="1785"/>
              </a:lnSpc>
              <a:spcBef>
                <a:spcPts val="0"/>
              </a:spcBef>
              <a:spcAft>
                <a:spcPts val="0"/>
              </a:spcAft>
              <a:defRPr sz="1700" b="0">
                <a:solidFill>
                  <a:srgbClr val="182B3A"/>
                </a:solidFill>
                <a:latin typeface="Arial"/>
              </a:defRPr>
            </a:pPr>
            <a:r>
              <a:t>9 + (−3) = 6. Answer: 9.</a:t>
            </a:r>
          </a:p>
        </p:txBody>
      </p:sp>
      <p:sp>
        <p:nvSpPr>
          <p:cNvPr id="143" name="Rectangle 142"/>
          <p:cNvSpPr/>
          <p:nvPr/>
        </p:nvSpPr>
        <p:spPr>
          <a:xfrm>
            <a:off x="10247376" y="6318504"/>
            <a:ext cx="4062984" cy="1188720"/>
          </a:xfrm>
          <a:prstGeom prst="rect">
            <a:avLst/>
          </a:prstGeom>
          <a:solidFill>
            <a:srgbClr val="FFFFFF"/>
          </a:solidFill>
          <a:ln w="7620">
            <a:solidFill>
              <a:srgbClr val="D8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4" name="TextBox 143"/>
          <p:cNvSpPr txBox="1"/>
          <p:nvPr/>
        </p:nvSpPr>
        <p:spPr>
          <a:xfrm>
            <a:off x="10320528" y="6400800"/>
            <a:ext cx="3916680" cy="1042416"/>
          </a:xfrm>
          <a:prstGeom prst="rect">
            <a:avLst/>
          </a:prstGeom>
          <a:noFill/>
        </p:spPr>
        <p:txBody>
          <a:bodyPr wrap="square" lIns="54864" rIns="54864" tIns="22860" bIns="22860">
            <a:spAutoFit/>
          </a:bodyPr>
          <a:lstStyle/>
          <a:p>
            <a:pPr>
              <a:lnSpc>
                <a:spcPts val="1785"/>
              </a:lnSpc>
              <a:spcBef>
                <a:spcPts val="0"/>
              </a:spcBef>
              <a:spcAft>
                <a:spcPts val="0"/>
              </a:spcAft>
              <a:defRPr sz="1700" b="0">
                <a:solidFill>
                  <a:srgbClr val="182B3A"/>
                </a:solidFill>
                <a:latin typeface="Arial"/>
              </a:defRPr>
            </a:pPr>
            <a:r>
              <a:t>5 + (−2) = 3; 3 − 8 = −5. Answer: 5.</a:t>
            </a:r>
          </a:p>
        </p:txBody>
      </p:sp>
    </p:spTree>
  </p:cSld>
  <p:clrMapOvr>
    <a:masterClrMapping/>
  </p:clrMapOvr>
</p:sld>
</file>

<file path=ppt/slides/slide100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8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4630400" cy="73152"/>
          </a:xfrm>
          <a:prstGeom prst="rect">
            <a:avLst/>
          </a:prstGeom>
          <a:solidFill>
            <a:srgbClr val="176B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20040" y="164592"/>
            <a:ext cx="13990320" cy="457200"/>
          </a:xfrm>
          <a:prstGeom prst="rect">
            <a:avLst/>
          </a:prstGeom>
          <a:noFill/>
        </p:spPr>
        <p:txBody>
          <a:bodyPr wrap="square" lIns="54864" rIns="54864" tIns="22860" bIns="22860">
            <a:spAutoFit/>
          </a:bodyPr>
          <a:lstStyle/>
          <a:p>
            <a:pPr>
              <a:lnSpc>
                <a:spcPts val="2940"/>
              </a:lnSpc>
              <a:spcBef>
                <a:spcPts val="0"/>
              </a:spcBef>
              <a:spcAft>
                <a:spcPts val="0"/>
              </a:spcAft>
              <a:defRPr sz="2800" b="1">
                <a:solidFill>
                  <a:srgbClr val="182B3A"/>
                </a:solidFill>
                <a:latin typeface="Arial"/>
              </a:defRPr>
            </a:pPr>
            <a:r>
              <a:t>Signed numbers: addition and subtraction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20040" y="704088"/>
            <a:ext cx="13990320" cy="347472"/>
          </a:xfrm>
          <a:prstGeom prst="rect">
            <a:avLst/>
          </a:prstGeom>
          <a:noFill/>
        </p:spPr>
        <p:txBody>
          <a:bodyPr wrap="square" lIns="54864" rIns="54864" tIns="22860" bIns="22860">
            <a:spAutoFit/>
          </a:bodyPr>
          <a:lstStyle/>
          <a:p>
            <a:pPr>
              <a:lnSpc>
                <a:spcPts val="1575"/>
              </a:lnSpc>
              <a:spcBef>
                <a:spcPts val="0"/>
              </a:spcBef>
              <a:spcAft>
                <a:spcPts val="0"/>
              </a:spcAft>
              <a:defRPr sz="1500" b="0">
                <a:solidFill>
                  <a:srgbClr val="526472"/>
                </a:solidFill>
                <a:latin typeface="Arial"/>
              </a:defRPr>
            </a:pPr>
            <a:r>
              <a:t>Step-by-step practice 1 • Show your working.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20040" y="7973568"/>
            <a:ext cx="10789920" cy="210312"/>
          </a:xfrm>
          <a:prstGeom prst="rect">
            <a:avLst/>
          </a:prstGeom>
          <a:noFill/>
        </p:spPr>
        <p:txBody>
          <a:bodyPr wrap="square" lIns="54864" rIns="54864" tIns="22860" bIns="22860">
            <a:spAutoFit/>
          </a:bodyPr>
          <a:lstStyle/>
          <a:p>
            <a:pPr>
              <a:lnSpc>
                <a:spcPts val="1155"/>
              </a:lnSpc>
              <a:spcBef>
                <a:spcPts val="0"/>
              </a:spcBef>
              <a:spcAft>
                <a:spcPts val="0"/>
              </a:spcAft>
              <a:defRPr sz="1100" b="0">
                <a:solidFill>
                  <a:srgbClr val="526472"/>
                </a:solidFill>
                <a:latin typeface="Arial"/>
              </a:defRPr>
            </a:pPr>
            <a:r>
              <a:t>GCSE Maths revision • No calculator • Show your working.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155680" y="7973568"/>
            <a:ext cx="3108960" cy="210312"/>
          </a:xfrm>
          <a:prstGeom prst="rect">
            <a:avLst/>
          </a:prstGeom>
          <a:noFill/>
        </p:spPr>
        <p:txBody>
          <a:bodyPr wrap="square" lIns="54864" rIns="54864" tIns="22860" bIns="22860">
            <a:spAutoFit/>
          </a:bodyPr>
          <a:lstStyle/>
          <a:p>
            <a:pPr>
              <a:lnSpc>
                <a:spcPts val="1155"/>
              </a:lnSpc>
              <a:spcBef>
                <a:spcPts val="0"/>
              </a:spcBef>
              <a:spcAft>
                <a:spcPts val="0"/>
              </a:spcAft>
              <a:defRPr sz="1100" b="0">
                <a:solidFill>
                  <a:srgbClr val="526472"/>
                </a:solidFill>
                <a:latin typeface="Arial"/>
              </a:defRPr>
            </a:pPr>
            <a:r>
              <a:t>M13-S02</a:t>
            </a:r>
          </a:p>
        </p:txBody>
      </p:sp>
      <p:sp>
        <p:nvSpPr>
          <p:cNvPr id="7" name="Rectangle 6"/>
          <p:cNvSpPr/>
          <p:nvPr/>
        </p:nvSpPr>
        <p:spPr>
          <a:xfrm>
            <a:off x="2121408" y="1115568"/>
            <a:ext cx="4040123" cy="420624"/>
          </a:xfrm>
          <a:prstGeom prst="rect">
            <a:avLst/>
          </a:prstGeom>
          <a:solidFill>
            <a:srgbClr val="176B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2148839" y="1147572"/>
            <a:ext cx="3980688" cy="329184"/>
          </a:xfrm>
          <a:prstGeom prst="rect">
            <a:avLst/>
          </a:prstGeom>
          <a:noFill/>
        </p:spPr>
        <p:txBody>
          <a:bodyPr wrap="square" lIns="54864" rIns="54864" tIns="22860" bIns="22860">
            <a:spAutoFit/>
          </a:bodyPr>
          <a:lstStyle/>
          <a:p>
            <a:pPr>
              <a:lnSpc>
                <a:spcPts val="1995"/>
              </a:lnSpc>
              <a:spcBef>
                <a:spcPts val="0"/>
              </a:spcBef>
              <a:spcAft>
                <a:spcPts val="0"/>
              </a:spcAft>
              <a:defRPr sz="1900" b="1">
                <a:solidFill>
                  <a:srgbClr val="FFFFFF"/>
                </a:solidFill>
                <a:latin typeface="Arial"/>
              </a:defRPr>
            </a:pPr>
            <a:r>
              <a:t>Thread 1: Guided</a:t>
            </a:r>
          </a:p>
        </p:txBody>
      </p:sp>
      <p:sp>
        <p:nvSpPr>
          <p:cNvPr id="9" name="Rectangle 8"/>
          <p:cNvSpPr/>
          <p:nvPr/>
        </p:nvSpPr>
        <p:spPr>
          <a:xfrm>
            <a:off x="6184392" y="1115568"/>
            <a:ext cx="4040123" cy="420624"/>
          </a:xfrm>
          <a:prstGeom prst="rect">
            <a:avLst/>
          </a:prstGeom>
          <a:solidFill>
            <a:srgbClr val="3559A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211824" y="1147572"/>
            <a:ext cx="3980688" cy="329184"/>
          </a:xfrm>
          <a:prstGeom prst="rect">
            <a:avLst/>
          </a:prstGeom>
          <a:noFill/>
        </p:spPr>
        <p:txBody>
          <a:bodyPr wrap="square" lIns="54864" rIns="54864" tIns="22860" bIns="22860">
            <a:spAutoFit/>
          </a:bodyPr>
          <a:lstStyle/>
          <a:p>
            <a:pPr>
              <a:lnSpc>
                <a:spcPts val="1995"/>
              </a:lnSpc>
              <a:spcBef>
                <a:spcPts val="0"/>
              </a:spcBef>
              <a:spcAft>
                <a:spcPts val="0"/>
              </a:spcAft>
              <a:defRPr sz="1900" b="1">
                <a:solidFill>
                  <a:srgbClr val="FFFFFF"/>
                </a:solidFill>
                <a:latin typeface="Arial"/>
              </a:defRPr>
            </a:pPr>
            <a:r>
              <a:t>Thread 2: Core</a:t>
            </a:r>
          </a:p>
        </p:txBody>
      </p:sp>
      <p:sp>
        <p:nvSpPr>
          <p:cNvPr id="11" name="Rectangle 10"/>
          <p:cNvSpPr/>
          <p:nvPr/>
        </p:nvSpPr>
        <p:spPr>
          <a:xfrm>
            <a:off x="10247376" y="1115568"/>
            <a:ext cx="4040123" cy="420624"/>
          </a:xfrm>
          <a:prstGeom prst="rect">
            <a:avLst/>
          </a:prstGeom>
          <a:solidFill>
            <a:srgbClr val="754B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0274808" y="1147572"/>
            <a:ext cx="3980688" cy="329184"/>
          </a:xfrm>
          <a:prstGeom prst="rect">
            <a:avLst/>
          </a:prstGeom>
          <a:noFill/>
        </p:spPr>
        <p:txBody>
          <a:bodyPr wrap="square" lIns="54864" rIns="54864" tIns="22860" bIns="22860">
            <a:spAutoFit/>
          </a:bodyPr>
          <a:lstStyle/>
          <a:p>
            <a:pPr>
              <a:lnSpc>
                <a:spcPts val="1995"/>
              </a:lnSpc>
              <a:spcBef>
                <a:spcPts val="0"/>
              </a:spcBef>
              <a:spcAft>
                <a:spcPts val="0"/>
              </a:spcAft>
              <a:defRPr sz="1900" b="1">
                <a:solidFill>
                  <a:srgbClr val="FFFFFF"/>
                </a:solidFill>
                <a:latin typeface="Arial"/>
              </a:defRPr>
            </a:pPr>
            <a:r>
              <a:t>Thread 3: Depth</a:t>
            </a:r>
          </a:p>
        </p:txBody>
      </p:sp>
      <p:sp>
        <p:nvSpPr>
          <p:cNvPr id="13" name="Rectangle 12"/>
          <p:cNvSpPr/>
          <p:nvPr/>
        </p:nvSpPr>
        <p:spPr>
          <a:xfrm>
            <a:off x="320040" y="1563624"/>
            <a:ext cx="1801367" cy="822960"/>
          </a:xfrm>
          <a:prstGeom prst="rect">
            <a:avLst/>
          </a:prstGeom>
          <a:solidFill>
            <a:srgbClr val="E8EDF1"/>
          </a:solidFill>
          <a:ln w="7620">
            <a:solidFill>
              <a:srgbClr val="D8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374904" y="1655064"/>
            <a:ext cx="1691639" cy="667512"/>
          </a:xfrm>
          <a:prstGeom prst="rect">
            <a:avLst/>
          </a:prstGeom>
          <a:noFill/>
        </p:spPr>
        <p:txBody>
          <a:bodyPr wrap="square" lIns="54864" rIns="54864" tIns="22860" bIns="22860">
            <a:spAutoFit/>
          </a:bodyPr>
          <a:lstStyle/>
          <a:p>
            <a:pPr>
              <a:lnSpc>
                <a:spcPts val="1785"/>
              </a:lnSpc>
              <a:spcBef>
                <a:spcPts val="0"/>
              </a:spcBef>
              <a:spcAft>
                <a:spcPts val="0"/>
              </a:spcAft>
              <a:defRPr sz="1700" b="1">
                <a:solidFill>
                  <a:srgbClr val="182B3A"/>
                </a:solidFill>
                <a:latin typeface="Arial"/>
              </a:defRPr>
            </a:pPr>
            <a:r>
              <a:t>The Full Question</a:t>
            </a:r>
          </a:p>
        </p:txBody>
      </p:sp>
      <p:sp>
        <p:nvSpPr>
          <p:cNvPr id="15" name="Rectangle 14"/>
          <p:cNvSpPr/>
          <p:nvPr/>
        </p:nvSpPr>
        <p:spPr>
          <a:xfrm>
            <a:off x="2121408" y="1563624"/>
            <a:ext cx="4062984" cy="822960"/>
          </a:xfrm>
          <a:prstGeom prst="rect">
            <a:avLst/>
          </a:prstGeom>
          <a:solidFill>
            <a:srgbClr val="EDF6F5"/>
          </a:solidFill>
          <a:ln w="7620">
            <a:solidFill>
              <a:srgbClr val="D8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2194560" y="1645920"/>
            <a:ext cx="3916680" cy="676656"/>
          </a:xfrm>
          <a:prstGeom prst="rect">
            <a:avLst/>
          </a:prstGeom>
          <a:noFill/>
        </p:spPr>
        <p:txBody>
          <a:bodyPr wrap="square" lIns="54864" rIns="54864" tIns="22860" bIns="22860">
            <a:spAutoFit/>
          </a:bodyPr>
          <a:lstStyle/>
          <a:p>
            <a:pPr>
              <a:lnSpc>
                <a:spcPts val="2520"/>
              </a:lnSpc>
              <a:spcBef>
                <a:spcPts val="0"/>
              </a:spcBef>
              <a:spcAft>
                <a:spcPts val="0"/>
              </a:spcAft>
              <a:defRPr sz="2400" b="1">
                <a:solidFill>
                  <a:srgbClr val="182B3A"/>
                </a:solidFill>
                <a:latin typeface="Arial"/>
              </a:defRPr>
            </a:pPr>
            <a:r>
              <a:t>−6 + 9</a:t>
            </a:r>
          </a:p>
        </p:txBody>
      </p:sp>
      <p:sp>
        <p:nvSpPr>
          <p:cNvPr id="17" name="Rectangle 16"/>
          <p:cNvSpPr/>
          <p:nvPr/>
        </p:nvSpPr>
        <p:spPr>
          <a:xfrm>
            <a:off x="6184392" y="1563624"/>
            <a:ext cx="4062984" cy="822960"/>
          </a:xfrm>
          <a:prstGeom prst="rect">
            <a:avLst/>
          </a:prstGeom>
          <a:solidFill>
            <a:srgbClr val="EFF3FA"/>
          </a:solidFill>
          <a:ln w="7620">
            <a:solidFill>
              <a:srgbClr val="D8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257544" y="1645920"/>
            <a:ext cx="3916680" cy="676656"/>
          </a:xfrm>
          <a:prstGeom prst="rect">
            <a:avLst/>
          </a:prstGeom>
          <a:noFill/>
        </p:spPr>
        <p:txBody>
          <a:bodyPr wrap="square" lIns="54864" rIns="54864" tIns="22860" bIns="22860">
            <a:spAutoFit/>
          </a:bodyPr>
          <a:lstStyle/>
          <a:p>
            <a:pPr>
              <a:lnSpc>
                <a:spcPts val="2520"/>
              </a:lnSpc>
              <a:spcBef>
                <a:spcPts val="0"/>
              </a:spcBef>
              <a:spcAft>
                <a:spcPts val="0"/>
              </a:spcAft>
              <a:defRPr sz="2400" b="1">
                <a:solidFill>
                  <a:srgbClr val="182B3A"/>
                </a:solidFill>
                <a:latin typeface="Arial"/>
              </a:defRPr>
            </a:pPr>
            <a:r>
              <a:t>4 + (−7)</a:t>
            </a:r>
          </a:p>
        </p:txBody>
      </p:sp>
      <p:sp>
        <p:nvSpPr>
          <p:cNvPr id="19" name="Rectangle 18"/>
          <p:cNvSpPr/>
          <p:nvPr/>
        </p:nvSpPr>
        <p:spPr>
          <a:xfrm>
            <a:off x="10247376" y="1563624"/>
            <a:ext cx="4062984" cy="822960"/>
          </a:xfrm>
          <a:prstGeom prst="rect">
            <a:avLst/>
          </a:prstGeom>
          <a:solidFill>
            <a:srgbClr val="F5F0F7"/>
          </a:solidFill>
          <a:ln w="7620">
            <a:solidFill>
              <a:srgbClr val="D8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10320528" y="1645920"/>
            <a:ext cx="3916680" cy="676656"/>
          </a:xfrm>
          <a:prstGeom prst="rect">
            <a:avLst/>
          </a:prstGeom>
          <a:noFill/>
        </p:spPr>
        <p:txBody>
          <a:bodyPr wrap="square" lIns="54864" rIns="54864" tIns="22860" bIns="22860">
            <a:spAutoFit/>
          </a:bodyPr>
          <a:lstStyle/>
          <a:p>
            <a:pPr>
              <a:lnSpc>
                <a:spcPts val="2520"/>
              </a:lnSpc>
              <a:spcBef>
                <a:spcPts val="0"/>
              </a:spcBef>
              <a:spcAft>
                <a:spcPts val="0"/>
              </a:spcAft>
              <a:defRPr sz="2400" b="1">
                <a:solidFill>
                  <a:srgbClr val="182B3A"/>
                </a:solidFill>
                <a:latin typeface="Arial"/>
              </a:defRPr>
            </a:pPr>
            <a:r>
              <a:t>−8 + 5 − (−4)</a:t>
            </a:r>
          </a:p>
        </p:txBody>
      </p:sp>
      <p:sp>
        <p:nvSpPr>
          <p:cNvPr id="21" name="Rectangle 20"/>
          <p:cNvSpPr/>
          <p:nvPr/>
        </p:nvSpPr>
        <p:spPr>
          <a:xfrm>
            <a:off x="320040" y="2386584"/>
            <a:ext cx="1801367" cy="1261872"/>
          </a:xfrm>
          <a:prstGeom prst="rect">
            <a:avLst/>
          </a:prstGeom>
          <a:solidFill>
            <a:srgbClr val="E8EDF1"/>
          </a:solidFill>
          <a:ln w="7620">
            <a:solidFill>
              <a:srgbClr val="D8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374904" y="2478024"/>
            <a:ext cx="1691639" cy="1106424"/>
          </a:xfrm>
          <a:prstGeom prst="rect">
            <a:avLst/>
          </a:prstGeom>
          <a:noFill/>
        </p:spPr>
        <p:txBody>
          <a:bodyPr wrap="square" lIns="54864" rIns="54864" tIns="22860" bIns="22860">
            <a:spAutoFit/>
          </a:bodyPr>
          <a:lstStyle/>
          <a:p>
            <a:pPr>
              <a:lnSpc>
                <a:spcPts val="1785"/>
              </a:lnSpc>
              <a:spcBef>
                <a:spcPts val="0"/>
              </a:spcBef>
              <a:spcAft>
                <a:spcPts val="0"/>
              </a:spcAft>
              <a:defRPr sz="1700" b="1">
                <a:solidFill>
                  <a:srgbClr val="182B3A"/>
                </a:solidFill>
                <a:latin typeface="Arial"/>
              </a:defRPr>
            </a:pPr>
            <a:r>
              <a:t>Read the Signs</a:t>
            </a:r>
          </a:p>
        </p:txBody>
      </p:sp>
      <p:sp>
        <p:nvSpPr>
          <p:cNvPr id="23" name="Rectangle 22"/>
          <p:cNvSpPr/>
          <p:nvPr/>
        </p:nvSpPr>
        <p:spPr>
          <a:xfrm>
            <a:off x="2121408" y="2386584"/>
            <a:ext cx="4062984" cy="1261872"/>
          </a:xfrm>
          <a:prstGeom prst="rect">
            <a:avLst/>
          </a:prstGeom>
          <a:solidFill>
            <a:srgbClr val="FFFFFF"/>
          </a:solidFill>
          <a:ln w="7620">
            <a:solidFill>
              <a:srgbClr val="D8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2194560" y="2468879"/>
            <a:ext cx="3916680" cy="1115568"/>
          </a:xfrm>
          <a:prstGeom prst="rect">
            <a:avLst/>
          </a:prstGeom>
          <a:noFill/>
        </p:spPr>
        <p:txBody>
          <a:bodyPr wrap="square" lIns="54864" rIns="54864" tIns="22860" bIns="22860">
            <a:spAutoFit/>
          </a:bodyPr>
          <a:lstStyle/>
          <a:p>
            <a:pPr>
              <a:lnSpc>
                <a:spcPts val="1785"/>
              </a:lnSpc>
              <a:spcBef>
                <a:spcPts val="0"/>
              </a:spcBef>
              <a:spcAft>
                <a:spcPts val="0"/>
              </a:spcAft>
              <a:defRPr sz="1700" b="0">
                <a:solidFill>
                  <a:srgbClr val="182B3A"/>
                </a:solidFill>
                <a:latin typeface="Arial"/>
              </a:defRPr>
            </a:pPr>
            <a:r>
              <a:t>Identify the operation signs and the signs belonging to the numbers.</a:t>
            </a:r>
          </a:p>
        </p:txBody>
      </p:sp>
      <p:sp>
        <p:nvSpPr>
          <p:cNvPr id="25" name="Rectangle 24"/>
          <p:cNvSpPr/>
          <p:nvPr/>
        </p:nvSpPr>
        <p:spPr>
          <a:xfrm>
            <a:off x="6184392" y="2386584"/>
            <a:ext cx="4062984" cy="1261872"/>
          </a:xfrm>
          <a:prstGeom prst="rect">
            <a:avLst/>
          </a:prstGeom>
          <a:solidFill>
            <a:srgbClr val="FFFFFF"/>
          </a:solidFill>
          <a:ln w="7620">
            <a:solidFill>
              <a:srgbClr val="D8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6257544" y="2468879"/>
            <a:ext cx="3916680" cy="1115568"/>
          </a:xfrm>
          <a:prstGeom prst="rect">
            <a:avLst/>
          </a:prstGeom>
          <a:noFill/>
        </p:spPr>
        <p:txBody>
          <a:bodyPr wrap="square" lIns="54864" rIns="54864" tIns="22860" bIns="22860">
            <a:spAutoFit/>
          </a:bodyPr>
          <a:lstStyle/>
          <a:p>
            <a:pPr>
              <a:lnSpc>
                <a:spcPts val="1785"/>
              </a:lnSpc>
              <a:spcBef>
                <a:spcPts val="0"/>
              </a:spcBef>
              <a:spcAft>
                <a:spcPts val="0"/>
              </a:spcAft>
              <a:defRPr sz="1700" b="0">
                <a:solidFill>
                  <a:srgbClr val="182B3A"/>
                </a:solidFill>
                <a:latin typeface="Arial"/>
              </a:defRPr>
            </a:pPr>
            <a:r>
              <a:t>Identify the operation signs and the signs belonging to the numbers.</a:t>
            </a:r>
          </a:p>
        </p:txBody>
      </p:sp>
      <p:sp>
        <p:nvSpPr>
          <p:cNvPr id="27" name="Rectangle 26"/>
          <p:cNvSpPr/>
          <p:nvPr/>
        </p:nvSpPr>
        <p:spPr>
          <a:xfrm>
            <a:off x="10247376" y="2386584"/>
            <a:ext cx="4062984" cy="1261872"/>
          </a:xfrm>
          <a:prstGeom prst="rect">
            <a:avLst/>
          </a:prstGeom>
          <a:solidFill>
            <a:srgbClr val="FFFFFF"/>
          </a:solidFill>
          <a:ln w="7620">
            <a:solidFill>
              <a:srgbClr val="D8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10320528" y="2468879"/>
            <a:ext cx="3916680" cy="1115568"/>
          </a:xfrm>
          <a:prstGeom prst="rect">
            <a:avLst/>
          </a:prstGeom>
          <a:noFill/>
        </p:spPr>
        <p:txBody>
          <a:bodyPr wrap="square" lIns="54864" rIns="54864" tIns="22860" bIns="22860">
            <a:spAutoFit/>
          </a:bodyPr>
          <a:lstStyle/>
          <a:p>
            <a:pPr>
              <a:lnSpc>
                <a:spcPts val="1785"/>
              </a:lnSpc>
              <a:spcBef>
                <a:spcPts val="0"/>
              </a:spcBef>
              <a:spcAft>
                <a:spcPts val="0"/>
              </a:spcAft>
              <a:defRPr sz="1700" b="0">
                <a:solidFill>
                  <a:srgbClr val="182B3A"/>
                </a:solidFill>
                <a:latin typeface="Arial"/>
              </a:defRPr>
            </a:pPr>
            <a:r>
              <a:t>Identify the operation signs and the signs belonging to the numbers.</a:t>
            </a:r>
          </a:p>
        </p:txBody>
      </p:sp>
      <p:sp>
        <p:nvSpPr>
          <p:cNvPr id="29" name="Rectangle 28"/>
          <p:cNvSpPr/>
          <p:nvPr/>
        </p:nvSpPr>
        <p:spPr>
          <a:xfrm>
            <a:off x="320040" y="3648456"/>
            <a:ext cx="1801367" cy="1261872"/>
          </a:xfrm>
          <a:prstGeom prst="rect">
            <a:avLst/>
          </a:prstGeom>
          <a:solidFill>
            <a:srgbClr val="E8EDF1"/>
          </a:solidFill>
          <a:ln w="7620">
            <a:solidFill>
              <a:srgbClr val="D8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374904" y="3739896"/>
            <a:ext cx="1691639" cy="1106424"/>
          </a:xfrm>
          <a:prstGeom prst="rect">
            <a:avLst/>
          </a:prstGeom>
          <a:noFill/>
        </p:spPr>
        <p:txBody>
          <a:bodyPr wrap="square" lIns="54864" rIns="54864" tIns="22860" bIns="22860">
            <a:spAutoFit/>
          </a:bodyPr>
          <a:lstStyle/>
          <a:p>
            <a:pPr>
              <a:lnSpc>
                <a:spcPts val="1785"/>
              </a:lnSpc>
              <a:spcBef>
                <a:spcPts val="0"/>
              </a:spcBef>
              <a:spcAft>
                <a:spcPts val="0"/>
              </a:spcAft>
              <a:defRPr sz="1700" b="1">
                <a:solidFill>
                  <a:srgbClr val="182B3A"/>
                </a:solidFill>
                <a:latin typeface="Arial"/>
              </a:defRPr>
            </a:pPr>
            <a:r>
              <a:t>Rewrite the Calculation</a:t>
            </a:r>
          </a:p>
        </p:txBody>
      </p:sp>
      <p:sp>
        <p:nvSpPr>
          <p:cNvPr id="31" name="Rectangle 30"/>
          <p:cNvSpPr/>
          <p:nvPr/>
        </p:nvSpPr>
        <p:spPr>
          <a:xfrm>
            <a:off x="2121408" y="3648456"/>
            <a:ext cx="4062984" cy="1261872"/>
          </a:xfrm>
          <a:prstGeom prst="rect">
            <a:avLst/>
          </a:prstGeom>
          <a:solidFill>
            <a:srgbClr val="FFFFFF"/>
          </a:solidFill>
          <a:ln w="7620">
            <a:solidFill>
              <a:srgbClr val="D8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2194560" y="3730752"/>
            <a:ext cx="3916680" cy="1115568"/>
          </a:xfrm>
          <a:prstGeom prst="rect">
            <a:avLst/>
          </a:prstGeom>
          <a:noFill/>
        </p:spPr>
        <p:txBody>
          <a:bodyPr wrap="square" lIns="54864" rIns="54864" tIns="22860" bIns="22860">
            <a:spAutoFit/>
          </a:bodyPr>
          <a:lstStyle/>
          <a:p>
            <a:pPr>
              <a:lnSpc>
                <a:spcPts val="1785"/>
              </a:lnSpc>
              <a:spcBef>
                <a:spcPts val="0"/>
              </a:spcBef>
              <a:spcAft>
                <a:spcPts val="0"/>
              </a:spcAft>
              <a:defRPr sz="1700" b="0">
                <a:solidFill>
                  <a:srgbClr val="182B3A"/>
                </a:solidFill>
                <a:latin typeface="Arial"/>
              </a:defRPr>
            </a:pPr>
            <a:r>
              <a:t>Replace subtraction by addition of the opposite where useful.</a:t>
            </a:r>
          </a:p>
        </p:txBody>
      </p:sp>
      <p:sp>
        <p:nvSpPr>
          <p:cNvPr id="33" name="Rectangle 32"/>
          <p:cNvSpPr/>
          <p:nvPr/>
        </p:nvSpPr>
        <p:spPr>
          <a:xfrm>
            <a:off x="6184392" y="3648456"/>
            <a:ext cx="4062984" cy="1261872"/>
          </a:xfrm>
          <a:prstGeom prst="rect">
            <a:avLst/>
          </a:prstGeom>
          <a:solidFill>
            <a:srgbClr val="FFFFFF"/>
          </a:solidFill>
          <a:ln w="7620">
            <a:solidFill>
              <a:srgbClr val="D8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6257544" y="3730752"/>
            <a:ext cx="3916680" cy="1115568"/>
          </a:xfrm>
          <a:prstGeom prst="rect">
            <a:avLst/>
          </a:prstGeom>
          <a:noFill/>
        </p:spPr>
        <p:txBody>
          <a:bodyPr wrap="square" lIns="54864" rIns="54864" tIns="22860" bIns="22860">
            <a:spAutoFit/>
          </a:bodyPr>
          <a:lstStyle/>
          <a:p>
            <a:pPr>
              <a:lnSpc>
                <a:spcPts val="1785"/>
              </a:lnSpc>
              <a:spcBef>
                <a:spcPts val="0"/>
              </a:spcBef>
              <a:spcAft>
                <a:spcPts val="0"/>
              </a:spcAft>
              <a:defRPr sz="1700" b="0">
                <a:solidFill>
                  <a:srgbClr val="182B3A"/>
                </a:solidFill>
                <a:latin typeface="Arial"/>
              </a:defRPr>
            </a:pPr>
            <a:r>
              <a:t>Replace subtraction by addition of the opposite where useful.</a:t>
            </a:r>
          </a:p>
        </p:txBody>
      </p:sp>
      <p:sp>
        <p:nvSpPr>
          <p:cNvPr id="35" name="Rectangle 34"/>
          <p:cNvSpPr/>
          <p:nvPr/>
        </p:nvSpPr>
        <p:spPr>
          <a:xfrm>
            <a:off x="10247376" y="3648456"/>
            <a:ext cx="4062984" cy="1261872"/>
          </a:xfrm>
          <a:prstGeom prst="rect">
            <a:avLst/>
          </a:prstGeom>
          <a:solidFill>
            <a:srgbClr val="FFFFFF"/>
          </a:solidFill>
          <a:ln w="7620">
            <a:solidFill>
              <a:srgbClr val="D8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10320528" y="3730752"/>
            <a:ext cx="3916680" cy="1115568"/>
          </a:xfrm>
          <a:prstGeom prst="rect">
            <a:avLst/>
          </a:prstGeom>
          <a:noFill/>
        </p:spPr>
        <p:txBody>
          <a:bodyPr wrap="square" lIns="54864" rIns="54864" tIns="22860" bIns="22860">
            <a:spAutoFit/>
          </a:bodyPr>
          <a:lstStyle/>
          <a:p>
            <a:pPr>
              <a:lnSpc>
                <a:spcPts val="1785"/>
              </a:lnSpc>
              <a:spcBef>
                <a:spcPts val="0"/>
              </a:spcBef>
              <a:spcAft>
                <a:spcPts val="0"/>
              </a:spcAft>
              <a:defRPr sz="1700" b="0">
                <a:solidFill>
                  <a:srgbClr val="182B3A"/>
                </a:solidFill>
                <a:latin typeface="Arial"/>
              </a:defRPr>
            </a:pPr>
            <a:r>
              <a:t>Replace subtraction by addition of the opposite where useful.</a:t>
            </a:r>
          </a:p>
        </p:txBody>
      </p:sp>
      <p:sp>
        <p:nvSpPr>
          <p:cNvPr id="37" name="Rectangle 36"/>
          <p:cNvSpPr/>
          <p:nvPr/>
        </p:nvSpPr>
        <p:spPr>
          <a:xfrm>
            <a:off x="320040" y="4910327"/>
            <a:ext cx="1801367" cy="1261872"/>
          </a:xfrm>
          <a:prstGeom prst="rect">
            <a:avLst/>
          </a:prstGeom>
          <a:solidFill>
            <a:srgbClr val="E8EDF1"/>
          </a:solidFill>
          <a:ln w="7620">
            <a:solidFill>
              <a:srgbClr val="D8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374904" y="5001767"/>
            <a:ext cx="1691639" cy="1106424"/>
          </a:xfrm>
          <a:prstGeom prst="rect">
            <a:avLst/>
          </a:prstGeom>
          <a:noFill/>
        </p:spPr>
        <p:txBody>
          <a:bodyPr wrap="square" lIns="54864" rIns="54864" tIns="22860" bIns="22860">
            <a:spAutoFit/>
          </a:bodyPr>
          <a:lstStyle/>
          <a:p>
            <a:pPr>
              <a:lnSpc>
                <a:spcPts val="1785"/>
              </a:lnSpc>
              <a:spcBef>
                <a:spcPts val="0"/>
              </a:spcBef>
              <a:spcAft>
                <a:spcPts val="0"/>
              </a:spcAft>
              <a:defRPr sz="1700" b="1">
                <a:solidFill>
                  <a:srgbClr val="182B3A"/>
                </a:solidFill>
                <a:latin typeface="Arial"/>
              </a:defRPr>
            </a:pPr>
            <a:r>
              <a:t>Calculate</a:t>
            </a:r>
          </a:p>
        </p:txBody>
      </p:sp>
      <p:sp>
        <p:nvSpPr>
          <p:cNvPr id="39" name="Rectangle 38"/>
          <p:cNvSpPr/>
          <p:nvPr/>
        </p:nvSpPr>
        <p:spPr>
          <a:xfrm>
            <a:off x="2121408" y="4910327"/>
            <a:ext cx="4062984" cy="1261872"/>
          </a:xfrm>
          <a:prstGeom prst="rect">
            <a:avLst/>
          </a:prstGeom>
          <a:solidFill>
            <a:srgbClr val="FFFFFF"/>
          </a:solidFill>
          <a:ln w="7620">
            <a:solidFill>
              <a:srgbClr val="D8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2194560" y="4992623"/>
            <a:ext cx="3916680" cy="1115568"/>
          </a:xfrm>
          <a:prstGeom prst="rect">
            <a:avLst/>
          </a:prstGeom>
          <a:noFill/>
        </p:spPr>
        <p:txBody>
          <a:bodyPr wrap="square" lIns="54864" rIns="54864" tIns="22860" bIns="22860">
            <a:spAutoFit/>
          </a:bodyPr>
          <a:lstStyle/>
          <a:p>
            <a:pPr>
              <a:lnSpc>
                <a:spcPts val="1785"/>
              </a:lnSpc>
              <a:spcBef>
                <a:spcPts val="0"/>
              </a:spcBef>
              <a:spcAft>
                <a:spcPts val="0"/>
              </a:spcAft>
              <a:defRPr sz="1700" b="0">
                <a:solidFill>
                  <a:srgbClr val="182B3A"/>
                </a:solidFill>
                <a:latin typeface="Arial"/>
              </a:defRPr>
            </a:pPr>
            <a:r>
              <a:t>Work from left to right. Show each result.</a:t>
            </a:r>
          </a:p>
        </p:txBody>
      </p:sp>
      <p:sp>
        <p:nvSpPr>
          <p:cNvPr id="41" name="Rectangle 40"/>
          <p:cNvSpPr/>
          <p:nvPr/>
        </p:nvSpPr>
        <p:spPr>
          <a:xfrm>
            <a:off x="6184392" y="4910327"/>
            <a:ext cx="4062984" cy="1261872"/>
          </a:xfrm>
          <a:prstGeom prst="rect">
            <a:avLst/>
          </a:prstGeom>
          <a:solidFill>
            <a:srgbClr val="FFFFFF"/>
          </a:solidFill>
          <a:ln w="7620">
            <a:solidFill>
              <a:srgbClr val="D8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6257544" y="4992623"/>
            <a:ext cx="3916680" cy="1115568"/>
          </a:xfrm>
          <a:prstGeom prst="rect">
            <a:avLst/>
          </a:prstGeom>
          <a:noFill/>
        </p:spPr>
        <p:txBody>
          <a:bodyPr wrap="square" lIns="54864" rIns="54864" tIns="22860" bIns="22860">
            <a:spAutoFit/>
          </a:bodyPr>
          <a:lstStyle/>
          <a:p>
            <a:pPr>
              <a:lnSpc>
                <a:spcPts val="1785"/>
              </a:lnSpc>
              <a:spcBef>
                <a:spcPts val="0"/>
              </a:spcBef>
              <a:spcAft>
                <a:spcPts val="0"/>
              </a:spcAft>
              <a:defRPr sz="1700" b="0">
                <a:solidFill>
                  <a:srgbClr val="182B3A"/>
                </a:solidFill>
                <a:latin typeface="Arial"/>
              </a:defRPr>
            </a:pPr>
            <a:r>
              <a:t>Work from left to right. Show each result.</a:t>
            </a:r>
          </a:p>
        </p:txBody>
      </p:sp>
      <p:sp>
        <p:nvSpPr>
          <p:cNvPr id="43" name="Rectangle 42"/>
          <p:cNvSpPr/>
          <p:nvPr/>
        </p:nvSpPr>
        <p:spPr>
          <a:xfrm>
            <a:off x="10247376" y="4910327"/>
            <a:ext cx="4062984" cy="1261872"/>
          </a:xfrm>
          <a:prstGeom prst="rect">
            <a:avLst/>
          </a:prstGeom>
          <a:solidFill>
            <a:srgbClr val="FFFFFF"/>
          </a:solidFill>
          <a:ln w="7620">
            <a:solidFill>
              <a:srgbClr val="D8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10320528" y="4992623"/>
            <a:ext cx="3916680" cy="1115568"/>
          </a:xfrm>
          <a:prstGeom prst="rect">
            <a:avLst/>
          </a:prstGeom>
          <a:noFill/>
        </p:spPr>
        <p:txBody>
          <a:bodyPr wrap="square" lIns="54864" rIns="54864" tIns="22860" bIns="22860">
            <a:spAutoFit/>
          </a:bodyPr>
          <a:lstStyle/>
          <a:p>
            <a:pPr>
              <a:lnSpc>
                <a:spcPts val="1785"/>
              </a:lnSpc>
              <a:spcBef>
                <a:spcPts val="0"/>
              </a:spcBef>
              <a:spcAft>
                <a:spcPts val="0"/>
              </a:spcAft>
              <a:defRPr sz="1700" b="0">
                <a:solidFill>
                  <a:srgbClr val="182B3A"/>
                </a:solidFill>
                <a:latin typeface="Arial"/>
              </a:defRPr>
            </a:pPr>
            <a:r>
              <a:t>Work from left to right. Show each result.</a:t>
            </a:r>
          </a:p>
        </p:txBody>
      </p:sp>
      <p:sp>
        <p:nvSpPr>
          <p:cNvPr id="45" name="Rectangle 44"/>
          <p:cNvSpPr/>
          <p:nvPr/>
        </p:nvSpPr>
        <p:spPr>
          <a:xfrm>
            <a:off x="320040" y="6172199"/>
            <a:ext cx="1801367" cy="1243584"/>
          </a:xfrm>
          <a:prstGeom prst="rect">
            <a:avLst/>
          </a:prstGeom>
          <a:solidFill>
            <a:srgbClr val="E8EDF1"/>
          </a:solidFill>
          <a:ln w="7620">
            <a:solidFill>
              <a:srgbClr val="D8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374904" y="6263639"/>
            <a:ext cx="1691639" cy="1088136"/>
          </a:xfrm>
          <a:prstGeom prst="rect">
            <a:avLst/>
          </a:prstGeom>
          <a:noFill/>
        </p:spPr>
        <p:txBody>
          <a:bodyPr wrap="square" lIns="54864" rIns="54864" tIns="22860" bIns="22860">
            <a:spAutoFit/>
          </a:bodyPr>
          <a:lstStyle/>
          <a:p>
            <a:pPr>
              <a:lnSpc>
                <a:spcPts val="1785"/>
              </a:lnSpc>
              <a:spcBef>
                <a:spcPts val="0"/>
              </a:spcBef>
              <a:spcAft>
                <a:spcPts val="0"/>
              </a:spcAft>
              <a:defRPr sz="1700" b="1">
                <a:solidFill>
                  <a:srgbClr val="182B3A"/>
                </a:solidFill>
                <a:latin typeface="Arial"/>
              </a:defRPr>
            </a:pPr>
            <a:r>
              <a:t>Check the Answer</a:t>
            </a:r>
          </a:p>
        </p:txBody>
      </p:sp>
      <p:sp>
        <p:nvSpPr>
          <p:cNvPr id="47" name="Rectangle 46"/>
          <p:cNvSpPr/>
          <p:nvPr/>
        </p:nvSpPr>
        <p:spPr>
          <a:xfrm>
            <a:off x="2121408" y="6172199"/>
            <a:ext cx="4062984" cy="1243584"/>
          </a:xfrm>
          <a:prstGeom prst="rect">
            <a:avLst/>
          </a:prstGeom>
          <a:solidFill>
            <a:srgbClr val="FFFFFF"/>
          </a:solidFill>
          <a:ln w="7620">
            <a:solidFill>
              <a:srgbClr val="D8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2194560" y="6254495"/>
            <a:ext cx="3916680" cy="1097280"/>
          </a:xfrm>
          <a:prstGeom prst="rect">
            <a:avLst/>
          </a:prstGeom>
          <a:noFill/>
        </p:spPr>
        <p:txBody>
          <a:bodyPr wrap="square" lIns="54864" rIns="54864" tIns="22860" bIns="22860">
            <a:spAutoFit/>
          </a:bodyPr>
          <a:lstStyle/>
          <a:p>
            <a:pPr>
              <a:lnSpc>
                <a:spcPts val="1785"/>
              </a:lnSpc>
              <a:spcBef>
                <a:spcPts val="0"/>
              </a:spcBef>
              <a:spcAft>
                <a:spcPts val="0"/>
              </a:spcAft>
              <a:defRPr sz="1700" b="0">
                <a:solidFill>
                  <a:srgbClr val="182B3A"/>
                </a:solidFill>
                <a:latin typeface="Arial"/>
              </a:defRPr>
            </a:pPr>
            <a:r>
              <a:t>Undo the last operation to check. Write the final answer.</a:t>
            </a:r>
          </a:p>
        </p:txBody>
      </p:sp>
      <p:sp>
        <p:nvSpPr>
          <p:cNvPr id="49" name="Rectangle 48"/>
          <p:cNvSpPr/>
          <p:nvPr/>
        </p:nvSpPr>
        <p:spPr>
          <a:xfrm>
            <a:off x="6184392" y="6172199"/>
            <a:ext cx="4062984" cy="1243584"/>
          </a:xfrm>
          <a:prstGeom prst="rect">
            <a:avLst/>
          </a:prstGeom>
          <a:solidFill>
            <a:srgbClr val="FFFFFF"/>
          </a:solidFill>
          <a:ln w="7620">
            <a:solidFill>
              <a:srgbClr val="D8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6257544" y="6254495"/>
            <a:ext cx="3916680" cy="1097280"/>
          </a:xfrm>
          <a:prstGeom prst="rect">
            <a:avLst/>
          </a:prstGeom>
          <a:noFill/>
        </p:spPr>
        <p:txBody>
          <a:bodyPr wrap="square" lIns="54864" rIns="54864" tIns="22860" bIns="22860">
            <a:spAutoFit/>
          </a:bodyPr>
          <a:lstStyle/>
          <a:p>
            <a:pPr>
              <a:lnSpc>
                <a:spcPts val="1785"/>
              </a:lnSpc>
              <a:spcBef>
                <a:spcPts val="0"/>
              </a:spcBef>
              <a:spcAft>
                <a:spcPts val="0"/>
              </a:spcAft>
              <a:defRPr sz="1700" b="0">
                <a:solidFill>
                  <a:srgbClr val="182B3A"/>
                </a:solidFill>
                <a:latin typeface="Arial"/>
              </a:defRPr>
            </a:pPr>
            <a:r>
              <a:t>Undo the last operation to check. Write the final answer.</a:t>
            </a:r>
          </a:p>
        </p:txBody>
      </p:sp>
      <p:sp>
        <p:nvSpPr>
          <p:cNvPr id="51" name="Rectangle 50"/>
          <p:cNvSpPr/>
          <p:nvPr/>
        </p:nvSpPr>
        <p:spPr>
          <a:xfrm>
            <a:off x="10247376" y="6172199"/>
            <a:ext cx="4062984" cy="1243584"/>
          </a:xfrm>
          <a:prstGeom prst="rect">
            <a:avLst/>
          </a:prstGeom>
          <a:solidFill>
            <a:srgbClr val="FFFFFF"/>
          </a:solidFill>
          <a:ln w="7620">
            <a:solidFill>
              <a:srgbClr val="D8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TextBox 51"/>
          <p:cNvSpPr txBox="1"/>
          <p:nvPr/>
        </p:nvSpPr>
        <p:spPr>
          <a:xfrm>
            <a:off x="10320528" y="6254495"/>
            <a:ext cx="3916680" cy="1097280"/>
          </a:xfrm>
          <a:prstGeom prst="rect">
            <a:avLst/>
          </a:prstGeom>
          <a:noFill/>
        </p:spPr>
        <p:txBody>
          <a:bodyPr wrap="square" lIns="54864" rIns="54864" tIns="22860" bIns="22860">
            <a:spAutoFit/>
          </a:bodyPr>
          <a:lstStyle/>
          <a:p>
            <a:pPr>
              <a:lnSpc>
                <a:spcPts val="1785"/>
              </a:lnSpc>
              <a:spcBef>
                <a:spcPts val="0"/>
              </a:spcBef>
              <a:spcAft>
                <a:spcPts val="0"/>
              </a:spcAft>
              <a:defRPr sz="1700" b="0">
                <a:solidFill>
                  <a:srgbClr val="182B3A"/>
                </a:solidFill>
                <a:latin typeface="Arial"/>
              </a:defRPr>
            </a:pPr>
            <a:r>
              <a:t>Undo the last operation to check. Write the final answer.</a:t>
            </a:r>
          </a:p>
        </p:txBody>
      </p:sp>
      <p:sp>
        <p:nvSpPr>
          <p:cNvPr id="53" name="Progression curved arrow: Thread 1 to Thread 2"/>
          <p:cNvSpPr/>
          <p:nvPr/>
        </p:nvSpPr>
        <p:spPr>
          <a:xfrm>
            <a:off x="5850635" y="7351125"/>
            <a:ext cx="621792" cy="314053"/>
          </a:xfrm>
          <a:custGeom>
            <a:avLst/>
            <a:gdLst/>
            <a:ahLst/>
            <a:cxnLst/>
            <a:rect l="0" t="0" r="100000" b="100000"/>
            <a:pathLst>
              <a:path w="100000" h="100000" fill="none">
                <a:moveTo>
                  <a:pt x="6970" y="48439"/>
                </a:moveTo>
                <a:cubicBezTo>
                  <a:pt x="40678" y="114499"/>
                  <a:pt x="73026" y="88145"/>
                  <a:pt x="93030" y="13799"/>
                </a:cubicBezTo>
              </a:path>
              <a:path w="100000" h="100000" fill="none">
                <a:moveTo>
                  <a:pt x="69018" y="40431"/>
                </a:moveTo>
                <a:lnTo>
                  <a:pt x="93030" y="13799"/>
                </a:lnTo>
                <a:lnTo>
                  <a:pt x="92217" y="66207"/>
                </a:lnTo>
              </a:path>
            </a:pathLst>
          </a:custGeom>
          <a:noFill/>
          <a:ln w="64449" cap="rnd">
            <a:solidFill>
              <a:schemeClr val="accent6">
                <a:lumMod val="60000"/>
                <a:lumOff val="40000"/>
              </a:schemeClr>
            </a:solidFill>
            <a:round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Progression curved arrow: Thread 2 to Thread 3"/>
          <p:cNvSpPr/>
          <p:nvPr/>
        </p:nvSpPr>
        <p:spPr>
          <a:xfrm>
            <a:off x="9865783" y="7342631"/>
            <a:ext cx="621792" cy="314053"/>
          </a:xfrm>
          <a:custGeom>
            <a:avLst/>
            <a:gdLst/>
            <a:ahLst/>
            <a:cxnLst/>
            <a:rect l="0" t="0" r="100000" b="100000"/>
            <a:pathLst>
              <a:path w="100000" h="100000" fill="none">
                <a:moveTo>
                  <a:pt x="6970" y="48439"/>
                </a:moveTo>
                <a:cubicBezTo>
                  <a:pt x="40678" y="114499"/>
                  <a:pt x="73026" y="88145"/>
                  <a:pt x="93030" y="13799"/>
                </a:cubicBezTo>
              </a:path>
              <a:path w="100000" h="100000" fill="none">
                <a:moveTo>
                  <a:pt x="69018" y="40431"/>
                </a:moveTo>
                <a:lnTo>
                  <a:pt x="93030" y="13799"/>
                </a:lnTo>
                <a:lnTo>
                  <a:pt x="92217" y="66207"/>
                </a:lnTo>
              </a:path>
            </a:pathLst>
          </a:custGeom>
          <a:noFill/>
          <a:ln w="64449" cap="rnd">
            <a:solidFill>
              <a:schemeClr val="accent6">
                <a:lumMod val="60000"/>
                <a:lumOff val="40000"/>
              </a:schemeClr>
            </a:solidFill>
            <a:round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100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8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4630400" cy="73152"/>
          </a:xfrm>
          <a:prstGeom prst="rect">
            <a:avLst/>
          </a:prstGeom>
          <a:solidFill>
            <a:srgbClr val="176B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20040" y="164592"/>
            <a:ext cx="13990320" cy="457200"/>
          </a:xfrm>
          <a:prstGeom prst="rect">
            <a:avLst/>
          </a:prstGeom>
          <a:noFill/>
        </p:spPr>
        <p:txBody>
          <a:bodyPr wrap="square" lIns="54864" rIns="54864" tIns="22860" bIns="22860">
            <a:spAutoFit/>
          </a:bodyPr>
          <a:lstStyle/>
          <a:p>
            <a:pPr>
              <a:lnSpc>
                <a:spcPts val="2940"/>
              </a:lnSpc>
              <a:spcBef>
                <a:spcPts val="0"/>
              </a:spcBef>
              <a:spcAft>
                <a:spcPts val="0"/>
              </a:spcAft>
              <a:defRPr sz="2800" b="1">
                <a:solidFill>
                  <a:srgbClr val="182B3A"/>
                </a:solidFill>
                <a:latin typeface="Arial"/>
              </a:defRPr>
            </a:pPr>
            <a:r>
              <a:t>Signed numbers: addition and subtraction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20040" y="704088"/>
            <a:ext cx="13990320" cy="347472"/>
          </a:xfrm>
          <a:prstGeom prst="rect">
            <a:avLst/>
          </a:prstGeom>
          <a:noFill/>
        </p:spPr>
        <p:txBody>
          <a:bodyPr wrap="square" lIns="54864" rIns="54864" tIns="22860" bIns="22860">
            <a:spAutoFit/>
          </a:bodyPr>
          <a:lstStyle/>
          <a:p>
            <a:pPr>
              <a:lnSpc>
                <a:spcPts val="1575"/>
              </a:lnSpc>
              <a:spcBef>
                <a:spcPts val="0"/>
              </a:spcBef>
              <a:spcAft>
                <a:spcPts val="0"/>
              </a:spcAft>
              <a:defRPr sz="1500" b="0">
                <a:solidFill>
                  <a:srgbClr val="526472"/>
                </a:solidFill>
                <a:latin typeface="Arial"/>
              </a:defRPr>
            </a:pPr>
            <a:r>
              <a:t>Step-by-step practice 2 • Show your working.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20040" y="7973568"/>
            <a:ext cx="10789920" cy="210312"/>
          </a:xfrm>
          <a:prstGeom prst="rect">
            <a:avLst/>
          </a:prstGeom>
          <a:noFill/>
        </p:spPr>
        <p:txBody>
          <a:bodyPr wrap="square" lIns="54864" rIns="54864" tIns="22860" bIns="22860">
            <a:spAutoFit/>
          </a:bodyPr>
          <a:lstStyle/>
          <a:p>
            <a:pPr>
              <a:lnSpc>
                <a:spcPts val="1155"/>
              </a:lnSpc>
              <a:spcBef>
                <a:spcPts val="0"/>
              </a:spcBef>
              <a:spcAft>
                <a:spcPts val="0"/>
              </a:spcAft>
              <a:defRPr sz="1100" b="0">
                <a:solidFill>
                  <a:srgbClr val="526472"/>
                </a:solidFill>
                <a:latin typeface="Arial"/>
              </a:defRPr>
            </a:pPr>
            <a:r>
              <a:t>GCSE Maths revision • No calculator • Show your working.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155680" y="7973568"/>
            <a:ext cx="3108960" cy="210312"/>
          </a:xfrm>
          <a:prstGeom prst="rect">
            <a:avLst/>
          </a:prstGeom>
          <a:noFill/>
        </p:spPr>
        <p:txBody>
          <a:bodyPr wrap="square" lIns="54864" rIns="54864" tIns="22860" bIns="22860">
            <a:spAutoFit/>
          </a:bodyPr>
          <a:lstStyle/>
          <a:p>
            <a:pPr>
              <a:lnSpc>
                <a:spcPts val="1155"/>
              </a:lnSpc>
              <a:spcBef>
                <a:spcPts val="0"/>
              </a:spcBef>
              <a:spcAft>
                <a:spcPts val="0"/>
              </a:spcAft>
              <a:defRPr sz="1100" b="0">
                <a:solidFill>
                  <a:srgbClr val="526472"/>
                </a:solidFill>
                <a:latin typeface="Arial"/>
              </a:defRPr>
            </a:pPr>
            <a:r>
              <a:t>M13-S03</a:t>
            </a:r>
          </a:p>
        </p:txBody>
      </p:sp>
      <p:sp>
        <p:nvSpPr>
          <p:cNvPr id="7" name="Rectangle 6"/>
          <p:cNvSpPr/>
          <p:nvPr/>
        </p:nvSpPr>
        <p:spPr>
          <a:xfrm>
            <a:off x="2121408" y="1115568"/>
            <a:ext cx="4040123" cy="420624"/>
          </a:xfrm>
          <a:prstGeom prst="rect">
            <a:avLst/>
          </a:prstGeom>
          <a:solidFill>
            <a:srgbClr val="176B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2148839" y="1147572"/>
            <a:ext cx="3980688" cy="329184"/>
          </a:xfrm>
          <a:prstGeom prst="rect">
            <a:avLst/>
          </a:prstGeom>
          <a:noFill/>
        </p:spPr>
        <p:txBody>
          <a:bodyPr wrap="square" lIns="54864" rIns="54864" tIns="22860" bIns="22860">
            <a:spAutoFit/>
          </a:bodyPr>
          <a:lstStyle/>
          <a:p>
            <a:pPr>
              <a:lnSpc>
                <a:spcPts val="1995"/>
              </a:lnSpc>
              <a:spcBef>
                <a:spcPts val="0"/>
              </a:spcBef>
              <a:spcAft>
                <a:spcPts val="0"/>
              </a:spcAft>
              <a:defRPr sz="1900" b="1">
                <a:solidFill>
                  <a:srgbClr val="FFFFFF"/>
                </a:solidFill>
                <a:latin typeface="Arial"/>
              </a:defRPr>
            </a:pPr>
            <a:r>
              <a:t>Thread 1: Guided</a:t>
            </a:r>
          </a:p>
        </p:txBody>
      </p:sp>
      <p:sp>
        <p:nvSpPr>
          <p:cNvPr id="9" name="Rectangle 8"/>
          <p:cNvSpPr/>
          <p:nvPr/>
        </p:nvSpPr>
        <p:spPr>
          <a:xfrm>
            <a:off x="6184392" y="1115568"/>
            <a:ext cx="4040123" cy="420624"/>
          </a:xfrm>
          <a:prstGeom prst="rect">
            <a:avLst/>
          </a:prstGeom>
          <a:solidFill>
            <a:srgbClr val="3559A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211824" y="1147572"/>
            <a:ext cx="3980688" cy="329184"/>
          </a:xfrm>
          <a:prstGeom prst="rect">
            <a:avLst/>
          </a:prstGeom>
          <a:noFill/>
        </p:spPr>
        <p:txBody>
          <a:bodyPr wrap="square" lIns="54864" rIns="54864" tIns="22860" bIns="22860">
            <a:spAutoFit/>
          </a:bodyPr>
          <a:lstStyle/>
          <a:p>
            <a:pPr>
              <a:lnSpc>
                <a:spcPts val="1995"/>
              </a:lnSpc>
              <a:spcBef>
                <a:spcPts val="0"/>
              </a:spcBef>
              <a:spcAft>
                <a:spcPts val="0"/>
              </a:spcAft>
              <a:defRPr sz="1900" b="1">
                <a:solidFill>
                  <a:srgbClr val="FFFFFF"/>
                </a:solidFill>
                <a:latin typeface="Arial"/>
              </a:defRPr>
            </a:pPr>
            <a:r>
              <a:t>Thread 2: Core</a:t>
            </a:r>
          </a:p>
        </p:txBody>
      </p:sp>
      <p:sp>
        <p:nvSpPr>
          <p:cNvPr id="11" name="Rectangle 10"/>
          <p:cNvSpPr/>
          <p:nvPr/>
        </p:nvSpPr>
        <p:spPr>
          <a:xfrm>
            <a:off x="10247376" y="1115568"/>
            <a:ext cx="4040123" cy="420624"/>
          </a:xfrm>
          <a:prstGeom prst="rect">
            <a:avLst/>
          </a:prstGeom>
          <a:solidFill>
            <a:srgbClr val="754B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0274808" y="1147572"/>
            <a:ext cx="3980688" cy="329184"/>
          </a:xfrm>
          <a:prstGeom prst="rect">
            <a:avLst/>
          </a:prstGeom>
          <a:noFill/>
        </p:spPr>
        <p:txBody>
          <a:bodyPr wrap="square" lIns="54864" rIns="54864" tIns="22860" bIns="22860">
            <a:spAutoFit/>
          </a:bodyPr>
          <a:lstStyle/>
          <a:p>
            <a:pPr>
              <a:lnSpc>
                <a:spcPts val="1995"/>
              </a:lnSpc>
              <a:spcBef>
                <a:spcPts val="0"/>
              </a:spcBef>
              <a:spcAft>
                <a:spcPts val="0"/>
              </a:spcAft>
              <a:defRPr sz="1900" b="1">
                <a:solidFill>
                  <a:srgbClr val="FFFFFF"/>
                </a:solidFill>
                <a:latin typeface="Arial"/>
              </a:defRPr>
            </a:pPr>
            <a:r>
              <a:t>Thread 3: Depth</a:t>
            </a:r>
          </a:p>
        </p:txBody>
      </p:sp>
      <p:sp>
        <p:nvSpPr>
          <p:cNvPr id="13" name="Rectangle 12"/>
          <p:cNvSpPr/>
          <p:nvPr/>
        </p:nvSpPr>
        <p:spPr>
          <a:xfrm>
            <a:off x="320040" y="1563624"/>
            <a:ext cx="1801367" cy="822960"/>
          </a:xfrm>
          <a:prstGeom prst="rect">
            <a:avLst/>
          </a:prstGeom>
          <a:solidFill>
            <a:srgbClr val="E8EDF1"/>
          </a:solidFill>
          <a:ln w="7620">
            <a:solidFill>
              <a:srgbClr val="D8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374904" y="1655064"/>
            <a:ext cx="1691639" cy="667512"/>
          </a:xfrm>
          <a:prstGeom prst="rect">
            <a:avLst/>
          </a:prstGeom>
          <a:noFill/>
        </p:spPr>
        <p:txBody>
          <a:bodyPr wrap="square" lIns="54864" rIns="54864" tIns="22860" bIns="22860">
            <a:spAutoFit/>
          </a:bodyPr>
          <a:lstStyle/>
          <a:p>
            <a:pPr>
              <a:lnSpc>
                <a:spcPts val="1785"/>
              </a:lnSpc>
              <a:spcBef>
                <a:spcPts val="0"/>
              </a:spcBef>
              <a:spcAft>
                <a:spcPts val="0"/>
              </a:spcAft>
              <a:defRPr sz="1700" b="1">
                <a:solidFill>
                  <a:srgbClr val="182B3A"/>
                </a:solidFill>
                <a:latin typeface="Arial"/>
              </a:defRPr>
            </a:pPr>
            <a:r>
              <a:t>The Full Question</a:t>
            </a:r>
          </a:p>
        </p:txBody>
      </p:sp>
      <p:sp>
        <p:nvSpPr>
          <p:cNvPr id="15" name="Rectangle 14"/>
          <p:cNvSpPr/>
          <p:nvPr/>
        </p:nvSpPr>
        <p:spPr>
          <a:xfrm>
            <a:off x="2121408" y="1563624"/>
            <a:ext cx="4062984" cy="822960"/>
          </a:xfrm>
          <a:prstGeom prst="rect">
            <a:avLst/>
          </a:prstGeom>
          <a:solidFill>
            <a:srgbClr val="EDF6F5"/>
          </a:solidFill>
          <a:ln w="7620">
            <a:solidFill>
              <a:srgbClr val="D8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2194560" y="1645920"/>
            <a:ext cx="3916680" cy="676656"/>
          </a:xfrm>
          <a:prstGeom prst="rect">
            <a:avLst/>
          </a:prstGeom>
          <a:noFill/>
        </p:spPr>
        <p:txBody>
          <a:bodyPr wrap="square" lIns="54864" rIns="54864" tIns="22860" bIns="22860">
            <a:spAutoFit/>
          </a:bodyPr>
          <a:lstStyle/>
          <a:p>
            <a:pPr>
              <a:lnSpc>
                <a:spcPts val="2520"/>
              </a:lnSpc>
              <a:spcBef>
                <a:spcPts val="0"/>
              </a:spcBef>
              <a:spcAft>
                <a:spcPts val="0"/>
              </a:spcAft>
              <a:defRPr sz="2400" b="1">
                <a:solidFill>
                  <a:srgbClr val="182B3A"/>
                </a:solidFill>
                <a:latin typeface="Arial"/>
              </a:defRPr>
            </a:pPr>
            <a:r>
              <a:t>3 − 8</a:t>
            </a:r>
          </a:p>
        </p:txBody>
      </p:sp>
      <p:sp>
        <p:nvSpPr>
          <p:cNvPr id="17" name="Rectangle 16"/>
          <p:cNvSpPr/>
          <p:nvPr/>
        </p:nvSpPr>
        <p:spPr>
          <a:xfrm>
            <a:off x="6184392" y="1563624"/>
            <a:ext cx="4062984" cy="822960"/>
          </a:xfrm>
          <a:prstGeom prst="rect">
            <a:avLst/>
          </a:prstGeom>
          <a:solidFill>
            <a:srgbClr val="EFF3FA"/>
          </a:solidFill>
          <a:ln w="7620">
            <a:solidFill>
              <a:srgbClr val="D8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257544" y="1645920"/>
            <a:ext cx="3916680" cy="676656"/>
          </a:xfrm>
          <a:prstGeom prst="rect">
            <a:avLst/>
          </a:prstGeom>
          <a:noFill/>
        </p:spPr>
        <p:txBody>
          <a:bodyPr wrap="square" lIns="54864" rIns="54864" tIns="22860" bIns="22860">
            <a:spAutoFit/>
          </a:bodyPr>
          <a:lstStyle/>
          <a:p>
            <a:pPr>
              <a:lnSpc>
                <a:spcPts val="2520"/>
              </a:lnSpc>
              <a:spcBef>
                <a:spcPts val="0"/>
              </a:spcBef>
              <a:spcAft>
                <a:spcPts val="0"/>
              </a:spcAft>
              <a:defRPr sz="2400" b="1">
                <a:solidFill>
                  <a:srgbClr val="182B3A"/>
                </a:solidFill>
                <a:latin typeface="Arial"/>
              </a:defRPr>
            </a:pPr>
            <a:r>
              <a:t>−5 − (−9)</a:t>
            </a:r>
          </a:p>
        </p:txBody>
      </p:sp>
      <p:sp>
        <p:nvSpPr>
          <p:cNvPr id="19" name="Rectangle 18"/>
          <p:cNvSpPr/>
          <p:nvPr/>
        </p:nvSpPr>
        <p:spPr>
          <a:xfrm>
            <a:off x="10247376" y="1563624"/>
            <a:ext cx="4062984" cy="822960"/>
          </a:xfrm>
          <a:prstGeom prst="rect">
            <a:avLst/>
          </a:prstGeom>
          <a:solidFill>
            <a:srgbClr val="F5F0F7"/>
          </a:solidFill>
          <a:ln w="7620">
            <a:solidFill>
              <a:srgbClr val="D8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10320528" y="1645920"/>
            <a:ext cx="3916680" cy="676656"/>
          </a:xfrm>
          <a:prstGeom prst="rect">
            <a:avLst/>
          </a:prstGeom>
          <a:noFill/>
        </p:spPr>
        <p:txBody>
          <a:bodyPr wrap="square" lIns="54864" rIns="54864" tIns="22860" bIns="22860">
            <a:spAutoFit/>
          </a:bodyPr>
          <a:lstStyle/>
          <a:p>
            <a:pPr>
              <a:lnSpc>
                <a:spcPts val="2520"/>
              </a:lnSpc>
              <a:spcBef>
                <a:spcPts val="0"/>
              </a:spcBef>
              <a:spcAft>
                <a:spcPts val="0"/>
              </a:spcAft>
              <a:defRPr sz="2400" b="1">
                <a:solidFill>
                  <a:srgbClr val="182B3A"/>
                </a:solidFill>
                <a:latin typeface="Arial"/>
              </a:defRPr>
            </a:pPr>
            <a:r>
              <a:t>7 − (−2) + (−12)</a:t>
            </a:r>
          </a:p>
        </p:txBody>
      </p:sp>
      <p:sp>
        <p:nvSpPr>
          <p:cNvPr id="21" name="Rectangle 20"/>
          <p:cNvSpPr/>
          <p:nvPr/>
        </p:nvSpPr>
        <p:spPr>
          <a:xfrm>
            <a:off x="320040" y="2386584"/>
            <a:ext cx="1801367" cy="1261872"/>
          </a:xfrm>
          <a:prstGeom prst="rect">
            <a:avLst/>
          </a:prstGeom>
          <a:solidFill>
            <a:srgbClr val="E8EDF1"/>
          </a:solidFill>
          <a:ln w="7620">
            <a:solidFill>
              <a:srgbClr val="D8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374904" y="2478024"/>
            <a:ext cx="1691639" cy="1106424"/>
          </a:xfrm>
          <a:prstGeom prst="rect">
            <a:avLst/>
          </a:prstGeom>
          <a:noFill/>
        </p:spPr>
        <p:txBody>
          <a:bodyPr wrap="square" lIns="54864" rIns="54864" tIns="22860" bIns="22860">
            <a:spAutoFit/>
          </a:bodyPr>
          <a:lstStyle/>
          <a:p>
            <a:pPr>
              <a:lnSpc>
                <a:spcPts val="1785"/>
              </a:lnSpc>
              <a:spcBef>
                <a:spcPts val="0"/>
              </a:spcBef>
              <a:spcAft>
                <a:spcPts val="0"/>
              </a:spcAft>
              <a:defRPr sz="1700" b="1">
                <a:solidFill>
                  <a:srgbClr val="182B3A"/>
                </a:solidFill>
                <a:latin typeface="Arial"/>
              </a:defRPr>
            </a:pPr>
            <a:r>
              <a:t>Read the Signs</a:t>
            </a:r>
          </a:p>
        </p:txBody>
      </p:sp>
      <p:sp>
        <p:nvSpPr>
          <p:cNvPr id="23" name="Rectangle 22"/>
          <p:cNvSpPr/>
          <p:nvPr/>
        </p:nvSpPr>
        <p:spPr>
          <a:xfrm>
            <a:off x="2121408" y="2386584"/>
            <a:ext cx="4062984" cy="1261872"/>
          </a:xfrm>
          <a:prstGeom prst="rect">
            <a:avLst/>
          </a:prstGeom>
          <a:solidFill>
            <a:srgbClr val="FFFFFF"/>
          </a:solidFill>
          <a:ln w="7620">
            <a:solidFill>
              <a:srgbClr val="D8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2194560" y="2468879"/>
            <a:ext cx="3916680" cy="1115568"/>
          </a:xfrm>
          <a:prstGeom prst="rect">
            <a:avLst/>
          </a:prstGeom>
          <a:noFill/>
        </p:spPr>
        <p:txBody>
          <a:bodyPr wrap="square" lIns="54864" rIns="54864" tIns="22860" bIns="22860">
            <a:spAutoFit/>
          </a:bodyPr>
          <a:lstStyle/>
          <a:p>
            <a:pPr>
              <a:lnSpc>
                <a:spcPts val="1785"/>
              </a:lnSpc>
              <a:spcBef>
                <a:spcPts val="0"/>
              </a:spcBef>
              <a:spcAft>
                <a:spcPts val="0"/>
              </a:spcAft>
              <a:defRPr sz="1700" b="0">
                <a:solidFill>
                  <a:srgbClr val="182B3A"/>
                </a:solidFill>
                <a:latin typeface="Arial"/>
              </a:defRPr>
            </a:pPr>
            <a:r>
              <a:t>Identify the operation signs and the signs belonging to the numbers.</a:t>
            </a:r>
          </a:p>
        </p:txBody>
      </p:sp>
      <p:sp>
        <p:nvSpPr>
          <p:cNvPr id="25" name="Rectangle 24"/>
          <p:cNvSpPr/>
          <p:nvPr/>
        </p:nvSpPr>
        <p:spPr>
          <a:xfrm>
            <a:off x="6184392" y="2386584"/>
            <a:ext cx="4062984" cy="1261872"/>
          </a:xfrm>
          <a:prstGeom prst="rect">
            <a:avLst/>
          </a:prstGeom>
          <a:solidFill>
            <a:srgbClr val="FFFFFF"/>
          </a:solidFill>
          <a:ln w="7620">
            <a:solidFill>
              <a:srgbClr val="D8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6257544" y="2468879"/>
            <a:ext cx="3916680" cy="1115568"/>
          </a:xfrm>
          <a:prstGeom prst="rect">
            <a:avLst/>
          </a:prstGeom>
          <a:noFill/>
        </p:spPr>
        <p:txBody>
          <a:bodyPr wrap="square" lIns="54864" rIns="54864" tIns="22860" bIns="22860">
            <a:spAutoFit/>
          </a:bodyPr>
          <a:lstStyle/>
          <a:p>
            <a:pPr>
              <a:lnSpc>
                <a:spcPts val="1785"/>
              </a:lnSpc>
              <a:spcBef>
                <a:spcPts val="0"/>
              </a:spcBef>
              <a:spcAft>
                <a:spcPts val="0"/>
              </a:spcAft>
              <a:defRPr sz="1700" b="0">
                <a:solidFill>
                  <a:srgbClr val="182B3A"/>
                </a:solidFill>
                <a:latin typeface="Arial"/>
              </a:defRPr>
            </a:pPr>
            <a:r>
              <a:t>Identify the operation signs and the signs belonging to the numbers.</a:t>
            </a:r>
          </a:p>
        </p:txBody>
      </p:sp>
      <p:sp>
        <p:nvSpPr>
          <p:cNvPr id="27" name="Rectangle 26"/>
          <p:cNvSpPr/>
          <p:nvPr/>
        </p:nvSpPr>
        <p:spPr>
          <a:xfrm>
            <a:off x="10247376" y="2386584"/>
            <a:ext cx="4062984" cy="1261872"/>
          </a:xfrm>
          <a:prstGeom prst="rect">
            <a:avLst/>
          </a:prstGeom>
          <a:solidFill>
            <a:srgbClr val="FFFFFF"/>
          </a:solidFill>
          <a:ln w="7620">
            <a:solidFill>
              <a:srgbClr val="D8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10320528" y="2468879"/>
            <a:ext cx="3916680" cy="1115568"/>
          </a:xfrm>
          <a:prstGeom prst="rect">
            <a:avLst/>
          </a:prstGeom>
          <a:noFill/>
        </p:spPr>
        <p:txBody>
          <a:bodyPr wrap="square" lIns="54864" rIns="54864" tIns="22860" bIns="22860">
            <a:spAutoFit/>
          </a:bodyPr>
          <a:lstStyle/>
          <a:p>
            <a:pPr>
              <a:lnSpc>
                <a:spcPts val="1785"/>
              </a:lnSpc>
              <a:spcBef>
                <a:spcPts val="0"/>
              </a:spcBef>
              <a:spcAft>
                <a:spcPts val="0"/>
              </a:spcAft>
              <a:defRPr sz="1700" b="0">
                <a:solidFill>
                  <a:srgbClr val="182B3A"/>
                </a:solidFill>
                <a:latin typeface="Arial"/>
              </a:defRPr>
            </a:pPr>
            <a:r>
              <a:t>Identify the operation signs and the signs belonging to the numbers.</a:t>
            </a:r>
          </a:p>
        </p:txBody>
      </p:sp>
      <p:sp>
        <p:nvSpPr>
          <p:cNvPr id="29" name="Rectangle 28"/>
          <p:cNvSpPr/>
          <p:nvPr/>
        </p:nvSpPr>
        <p:spPr>
          <a:xfrm>
            <a:off x="320040" y="3648456"/>
            <a:ext cx="1801367" cy="1261872"/>
          </a:xfrm>
          <a:prstGeom prst="rect">
            <a:avLst/>
          </a:prstGeom>
          <a:solidFill>
            <a:srgbClr val="E8EDF1"/>
          </a:solidFill>
          <a:ln w="7620">
            <a:solidFill>
              <a:srgbClr val="D8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374904" y="3739896"/>
            <a:ext cx="1691639" cy="1106424"/>
          </a:xfrm>
          <a:prstGeom prst="rect">
            <a:avLst/>
          </a:prstGeom>
          <a:noFill/>
        </p:spPr>
        <p:txBody>
          <a:bodyPr wrap="square" lIns="54864" rIns="54864" tIns="22860" bIns="22860">
            <a:spAutoFit/>
          </a:bodyPr>
          <a:lstStyle/>
          <a:p>
            <a:pPr>
              <a:lnSpc>
                <a:spcPts val="1785"/>
              </a:lnSpc>
              <a:spcBef>
                <a:spcPts val="0"/>
              </a:spcBef>
              <a:spcAft>
                <a:spcPts val="0"/>
              </a:spcAft>
              <a:defRPr sz="1700" b="1">
                <a:solidFill>
                  <a:srgbClr val="182B3A"/>
                </a:solidFill>
                <a:latin typeface="Arial"/>
              </a:defRPr>
            </a:pPr>
            <a:r>
              <a:t>Rewrite the Calculation</a:t>
            </a:r>
          </a:p>
        </p:txBody>
      </p:sp>
      <p:sp>
        <p:nvSpPr>
          <p:cNvPr id="31" name="Rectangle 30"/>
          <p:cNvSpPr/>
          <p:nvPr/>
        </p:nvSpPr>
        <p:spPr>
          <a:xfrm>
            <a:off x="2121408" y="3648456"/>
            <a:ext cx="4062984" cy="1261872"/>
          </a:xfrm>
          <a:prstGeom prst="rect">
            <a:avLst/>
          </a:prstGeom>
          <a:solidFill>
            <a:srgbClr val="FFFFFF"/>
          </a:solidFill>
          <a:ln w="7620">
            <a:solidFill>
              <a:srgbClr val="D8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2194560" y="3730752"/>
            <a:ext cx="3916680" cy="1115568"/>
          </a:xfrm>
          <a:prstGeom prst="rect">
            <a:avLst/>
          </a:prstGeom>
          <a:noFill/>
        </p:spPr>
        <p:txBody>
          <a:bodyPr wrap="square" lIns="54864" rIns="54864" tIns="22860" bIns="22860">
            <a:spAutoFit/>
          </a:bodyPr>
          <a:lstStyle/>
          <a:p>
            <a:pPr>
              <a:lnSpc>
                <a:spcPts val="1785"/>
              </a:lnSpc>
              <a:spcBef>
                <a:spcPts val="0"/>
              </a:spcBef>
              <a:spcAft>
                <a:spcPts val="0"/>
              </a:spcAft>
              <a:defRPr sz="1700" b="0">
                <a:solidFill>
                  <a:srgbClr val="182B3A"/>
                </a:solidFill>
                <a:latin typeface="Arial"/>
              </a:defRPr>
            </a:pPr>
            <a:r>
              <a:t>Replace subtraction by addition of the opposite where useful.</a:t>
            </a:r>
          </a:p>
        </p:txBody>
      </p:sp>
      <p:sp>
        <p:nvSpPr>
          <p:cNvPr id="33" name="Rectangle 32"/>
          <p:cNvSpPr/>
          <p:nvPr/>
        </p:nvSpPr>
        <p:spPr>
          <a:xfrm>
            <a:off x="6184392" y="3648456"/>
            <a:ext cx="4062984" cy="1261872"/>
          </a:xfrm>
          <a:prstGeom prst="rect">
            <a:avLst/>
          </a:prstGeom>
          <a:solidFill>
            <a:srgbClr val="FFFFFF"/>
          </a:solidFill>
          <a:ln w="7620">
            <a:solidFill>
              <a:srgbClr val="D8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6257544" y="3730752"/>
            <a:ext cx="3916680" cy="1115568"/>
          </a:xfrm>
          <a:prstGeom prst="rect">
            <a:avLst/>
          </a:prstGeom>
          <a:noFill/>
        </p:spPr>
        <p:txBody>
          <a:bodyPr wrap="square" lIns="54864" rIns="54864" tIns="22860" bIns="22860">
            <a:spAutoFit/>
          </a:bodyPr>
          <a:lstStyle/>
          <a:p>
            <a:pPr>
              <a:lnSpc>
                <a:spcPts val="1785"/>
              </a:lnSpc>
              <a:spcBef>
                <a:spcPts val="0"/>
              </a:spcBef>
              <a:spcAft>
                <a:spcPts val="0"/>
              </a:spcAft>
              <a:defRPr sz="1700" b="0">
                <a:solidFill>
                  <a:srgbClr val="182B3A"/>
                </a:solidFill>
                <a:latin typeface="Arial"/>
              </a:defRPr>
            </a:pPr>
            <a:r>
              <a:t>Replace subtraction by addition of the opposite where useful.</a:t>
            </a:r>
          </a:p>
        </p:txBody>
      </p:sp>
      <p:sp>
        <p:nvSpPr>
          <p:cNvPr id="35" name="Rectangle 34"/>
          <p:cNvSpPr/>
          <p:nvPr/>
        </p:nvSpPr>
        <p:spPr>
          <a:xfrm>
            <a:off x="10247376" y="3648456"/>
            <a:ext cx="4062984" cy="1261872"/>
          </a:xfrm>
          <a:prstGeom prst="rect">
            <a:avLst/>
          </a:prstGeom>
          <a:solidFill>
            <a:srgbClr val="FFFFFF"/>
          </a:solidFill>
          <a:ln w="7620">
            <a:solidFill>
              <a:srgbClr val="D8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10320528" y="3730752"/>
            <a:ext cx="3916680" cy="1115568"/>
          </a:xfrm>
          <a:prstGeom prst="rect">
            <a:avLst/>
          </a:prstGeom>
          <a:noFill/>
        </p:spPr>
        <p:txBody>
          <a:bodyPr wrap="square" lIns="54864" rIns="54864" tIns="22860" bIns="22860">
            <a:spAutoFit/>
          </a:bodyPr>
          <a:lstStyle/>
          <a:p>
            <a:pPr>
              <a:lnSpc>
                <a:spcPts val="1785"/>
              </a:lnSpc>
              <a:spcBef>
                <a:spcPts val="0"/>
              </a:spcBef>
              <a:spcAft>
                <a:spcPts val="0"/>
              </a:spcAft>
              <a:defRPr sz="1700" b="0">
                <a:solidFill>
                  <a:srgbClr val="182B3A"/>
                </a:solidFill>
                <a:latin typeface="Arial"/>
              </a:defRPr>
            </a:pPr>
            <a:r>
              <a:t>Replace subtraction by addition of the opposite where useful.</a:t>
            </a:r>
          </a:p>
        </p:txBody>
      </p:sp>
      <p:sp>
        <p:nvSpPr>
          <p:cNvPr id="37" name="Rectangle 36"/>
          <p:cNvSpPr/>
          <p:nvPr/>
        </p:nvSpPr>
        <p:spPr>
          <a:xfrm>
            <a:off x="320040" y="4910327"/>
            <a:ext cx="1801367" cy="1261872"/>
          </a:xfrm>
          <a:prstGeom prst="rect">
            <a:avLst/>
          </a:prstGeom>
          <a:solidFill>
            <a:srgbClr val="E8EDF1"/>
          </a:solidFill>
          <a:ln w="7620">
            <a:solidFill>
              <a:srgbClr val="D8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374904" y="5001767"/>
            <a:ext cx="1691639" cy="1106424"/>
          </a:xfrm>
          <a:prstGeom prst="rect">
            <a:avLst/>
          </a:prstGeom>
          <a:noFill/>
        </p:spPr>
        <p:txBody>
          <a:bodyPr wrap="square" lIns="54864" rIns="54864" tIns="22860" bIns="22860">
            <a:spAutoFit/>
          </a:bodyPr>
          <a:lstStyle/>
          <a:p>
            <a:pPr>
              <a:lnSpc>
                <a:spcPts val="1785"/>
              </a:lnSpc>
              <a:spcBef>
                <a:spcPts val="0"/>
              </a:spcBef>
              <a:spcAft>
                <a:spcPts val="0"/>
              </a:spcAft>
              <a:defRPr sz="1700" b="1">
                <a:solidFill>
                  <a:srgbClr val="182B3A"/>
                </a:solidFill>
                <a:latin typeface="Arial"/>
              </a:defRPr>
            </a:pPr>
            <a:r>
              <a:t>Calculate</a:t>
            </a:r>
          </a:p>
        </p:txBody>
      </p:sp>
      <p:sp>
        <p:nvSpPr>
          <p:cNvPr id="39" name="Rectangle 38"/>
          <p:cNvSpPr/>
          <p:nvPr/>
        </p:nvSpPr>
        <p:spPr>
          <a:xfrm>
            <a:off x="2121408" y="4910327"/>
            <a:ext cx="4062984" cy="1261872"/>
          </a:xfrm>
          <a:prstGeom prst="rect">
            <a:avLst/>
          </a:prstGeom>
          <a:solidFill>
            <a:srgbClr val="FFFFFF"/>
          </a:solidFill>
          <a:ln w="7620">
            <a:solidFill>
              <a:srgbClr val="D8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2194560" y="4992623"/>
            <a:ext cx="3916680" cy="1115568"/>
          </a:xfrm>
          <a:prstGeom prst="rect">
            <a:avLst/>
          </a:prstGeom>
          <a:noFill/>
        </p:spPr>
        <p:txBody>
          <a:bodyPr wrap="square" lIns="54864" rIns="54864" tIns="22860" bIns="22860">
            <a:spAutoFit/>
          </a:bodyPr>
          <a:lstStyle/>
          <a:p>
            <a:pPr>
              <a:lnSpc>
                <a:spcPts val="1785"/>
              </a:lnSpc>
              <a:spcBef>
                <a:spcPts val="0"/>
              </a:spcBef>
              <a:spcAft>
                <a:spcPts val="0"/>
              </a:spcAft>
              <a:defRPr sz="1700" b="0">
                <a:solidFill>
                  <a:srgbClr val="182B3A"/>
                </a:solidFill>
                <a:latin typeface="Arial"/>
              </a:defRPr>
            </a:pPr>
            <a:r>
              <a:t>Work from left to right. Show each result.</a:t>
            </a:r>
          </a:p>
        </p:txBody>
      </p:sp>
      <p:sp>
        <p:nvSpPr>
          <p:cNvPr id="41" name="Rectangle 40"/>
          <p:cNvSpPr/>
          <p:nvPr/>
        </p:nvSpPr>
        <p:spPr>
          <a:xfrm>
            <a:off x="6184392" y="4910327"/>
            <a:ext cx="4062984" cy="1261872"/>
          </a:xfrm>
          <a:prstGeom prst="rect">
            <a:avLst/>
          </a:prstGeom>
          <a:solidFill>
            <a:srgbClr val="FFFFFF"/>
          </a:solidFill>
          <a:ln w="7620">
            <a:solidFill>
              <a:srgbClr val="D8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6257544" y="4992623"/>
            <a:ext cx="3916680" cy="1115568"/>
          </a:xfrm>
          <a:prstGeom prst="rect">
            <a:avLst/>
          </a:prstGeom>
          <a:noFill/>
        </p:spPr>
        <p:txBody>
          <a:bodyPr wrap="square" lIns="54864" rIns="54864" tIns="22860" bIns="22860">
            <a:spAutoFit/>
          </a:bodyPr>
          <a:lstStyle/>
          <a:p>
            <a:pPr>
              <a:lnSpc>
                <a:spcPts val="1785"/>
              </a:lnSpc>
              <a:spcBef>
                <a:spcPts val="0"/>
              </a:spcBef>
              <a:spcAft>
                <a:spcPts val="0"/>
              </a:spcAft>
              <a:defRPr sz="1700" b="0">
                <a:solidFill>
                  <a:srgbClr val="182B3A"/>
                </a:solidFill>
                <a:latin typeface="Arial"/>
              </a:defRPr>
            </a:pPr>
            <a:r>
              <a:t>Work from left to right. Show each result.</a:t>
            </a:r>
          </a:p>
        </p:txBody>
      </p:sp>
      <p:sp>
        <p:nvSpPr>
          <p:cNvPr id="43" name="Rectangle 42"/>
          <p:cNvSpPr/>
          <p:nvPr/>
        </p:nvSpPr>
        <p:spPr>
          <a:xfrm>
            <a:off x="10247376" y="4910327"/>
            <a:ext cx="4062984" cy="1261872"/>
          </a:xfrm>
          <a:prstGeom prst="rect">
            <a:avLst/>
          </a:prstGeom>
          <a:solidFill>
            <a:srgbClr val="FFFFFF"/>
          </a:solidFill>
          <a:ln w="7620">
            <a:solidFill>
              <a:srgbClr val="D8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10320528" y="4992623"/>
            <a:ext cx="3916680" cy="1115568"/>
          </a:xfrm>
          <a:prstGeom prst="rect">
            <a:avLst/>
          </a:prstGeom>
          <a:noFill/>
        </p:spPr>
        <p:txBody>
          <a:bodyPr wrap="square" lIns="54864" rIns="54864" tIns="22860" bIns="22860">
            <a:spAutoFit/>
          </a:bodyPr>
          <a:lstStyle/>
          <a:p>
            <a:pPr>
              <a:lnSpc>
                <a:spcPts val="1785"/>
              </a:lnSpc>
              <a:spcBef>
                <a:spcPts val="0"/>
              </a:spcBef>
              <a:spcAft>
                <a:spcPts val="0"/>
              </a:spcAft>
              <a:defRPr sz="1700" b="0">
                <a:solidFill>
                  <a:srgbClr val="182B3A"/>
                </a:solidFill>
                <a:latin typeface="Arial"/>
              </a:defRPr>
            </a:pPr>
            <a:r>
              <a:t>Work from left to right. Show each result.</a:t>
            </a:r>
          </a:p>
        </p:txBody>
      </p:sp>
      <p:sp>
        <p:nvSpPr>
          <p:cNvPr id="45" name="Rectangle 44"/>
          <p:cNvSpPr/>
          <p:nvPr/>
        </p:nvSpPr>
        <p:spPr>
          <a:xfrm>
            <a:off x="320040" y="6172199"/>
            <a:ext cx="1801367" cy="1243584"/>
          </a:xfrm>
          <a:prstGeom prst="rect">
            <a:avLst/>
          </a:prstGeom>
          <a:solidFill>
            <a:srgbClr val="E8EDF1"/>
          </a:solidFill>
          <a:ln w="7620">
            <a:solidFill>
              <a:srgbClr val="D8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374904" y="6263639"/>
            <a:ext cx="1691639" cy="1088136"/>
          </a:xfrm>
          <a:prstGeom prst="rect">
            <a:avLst/>
          </a:prstGeom>
          <a:noFill/>
        </p:spPr>
        <p:txBody>
          <a:bodyPr wrap="square" lIns="54864" rIns="54864" tIns="22860" bIns="22860">
            <a:spAutoFit/>
          </a:bodyPr>
          <a:lstStyle/>
          <a:p>
            <a:pPr>
              <a:lnSpc>
                <a:spcPts val="1785"/>
              </a:lnSpc>
              <a:spcBef>
                <a:spcPts val="0"/>
              </a:spcBef>
              <a:spcAft>
                <a:spcPts val="0"/>
              </a:spcAft>
              <a:defRPr sz="1700" b="1">
                <a:solidFill>
                  <a:srgbClr val="182B3A"/>
                </a:solidFill>
                <a:latin typeface="Arial"/>
              </a:defRPr>
            </a:pPr>
            <a:r>
              <a:t>Check the Answer</a:t>
            </a:r>
          </a:p>
        </p:txBody>
      </p:sp>
      <p:sp>
        <p:nvSpPr>
          <p:cNvPr id="47" name="Rectangle 46"/>
          <p:cNvSpPr/>
          <p:nvPr/>
        </p:nvSpPr>
        <p:spPr>
          <a:xfrm>
            <a:off x="2121408" y="6172199"/>
            <a:ext cx="4062984" cy="1243584"/>
          </a:xfrm>
          <a:prstGeom prst="rect">
            <a:avLst/>
          </a:prstGeom>
          <a:solidFill>
            <a:srgbClr val="FFFFFF"/>
          </a:solidFill>
          <a:ln w="7620">
            <a:solidFill>
              <a:srgbClr val="D8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2194560" y="6254495"/>
            <a:ext cx="3916680" cy="1097280"/>
          </a:xfrm>
          <a:prstGeom prst="rect">
            <a:avLst/>
          </a:prstGeom>
          <a:noFill/>
        </p:spPr>
        <p:txBody>
          <a:bodyPr wrap="square" lIns="54864" rIns="54864" tIns="22860" bIns="22860">
            <a:spAutoFit/>
          </a:bodyPr>
          <a:lstStyle/>
          <a:p>
            <a:pPr>
              <a:lnSpc>
                <a:spcPts val="1785"/>
              </a:lnSpc>
              <a:spcBef>
                <a:spcPts val="0"/>
              </a:spcBef>
              <a:spcAft>
                <a:spcPts val="0"/>
              </a:spcAft>
              <a:defRPr sz="1700" b="0">
                <a:solidFill>
                  <a:srgbClr val="182B3A"/>
                </a:solidFill>
                <a:latin typeface="Arial"/>
              </a:defRPr>
            </a:pPr>
            <a:r>
              <a:t>Undo the last operation to check. Write the final answer.</a:t>
            </a:r>
          </a:p>
        </p:txBody>
      </p:sp>
      <p:sp>
        <p:nvSpPr>
          <p:cNvPr id="49" name="Rectangle 48"/>
          <p:cNvSpPr/>
          <p:nvPr/>
        </p:nvSpPr>
        <p:spPr>
          <a:xfrm>
            <a:off x="6184392" y="6172199"/>
            <a:ext cx="4062984" cy="1243584"/>
          </a:xfrm>
          <a:prstGeom prst="rect">
            <a:avLst/>
          </a:prstGeom>
          <a:solidFill>
            <a:srgbClr val="FFFFFF"/>
          </a:solidFill>
          <a:ln w="7620">
            <a:solidFill>
              <a:srgbClr val="D8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6257544" y="6254495"/>
            <a:ext cx="3916680" cy="1097280"/>
          </a:xfrm>
          <a:prstGeom prst="rect">
            <a:avLst/>
          </a:prstGeom>
          <a:noFill/>
        </p:spPr>
        <p:txBody>
          <a:bodyPr wrap="square" lIns="54864" rIns="54864" tIns="22860" bIns="22860">
            <a:spAutoFit/>
          </a:bodyPr>
          <a:lstStyle/>
          <a:p>
            <a:pPr>
              <a:lnSpc>
                <a:spcPts val="1785"/>
              </a:lnSpc>
              <a:spcBef>
                <a:spcPts val="0"/>
              </a:spcBef>
              <a:spcAft>
                <a:spcPts val="0"/>
              </a:spcAft>
              <a:defRPr sz="1700" b="0">
                <a:solidFill>
                  <a:srgbClr val="182B3A"/>
                </a:solidFill>
                <a:latin typeface="Arial"/>
              </a:defRPr>
            </a:pPr>
            <a:r>
              <a:t>Undo the last operation to check. Write the final answer.</a:t>
            </a:r>
          </a:p>
        </p:txBody>
      </p:sp>
      <p:sp>
        <p:nvSpPr>
          <p:cNvPr id="51" name="Rectangle 50"/>
          <p:cNvSpPr/>
          <p:nvPr/>
        </p:nvSpPr>
        <p:spPr>
          <a:xfrm>
            <a:off x="10247376" y="6172199"/>
            <a:ext cx="4062984" cy="1243584"/>
          </a:xfrm>
          <a:prstGeom prst="rect">
            <a:avLst/>
          </a:prstGeom>
          <a:solidFill>
            <a:srgbClr val="FFFFFF"/>
          </a:solidFill>
          <a:ln w="7620">
            <a:solidFill>
              <a:srgbClr val="D8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TextBox 51"/>
          <p:cNvSpPr txBox="1"/>
          <p:nvPr/>
        </p:nvSpPr>
        <p:spPr>
          <a:xfrm>
            <a:off x="10320528" y="6254495"/>
            <a:ext cx="3916680" cy="1097280"/>
          </a:xfrm>
          <a:prstGeom prst="rect">
            <a:avLst/>
          </a:prstGeom>
          <a:noFill/>
        </p:spPr>
        <p:txBody>
          <a:bodyPr wrap="square" lIns="54864" rIns="54864" tIns="22860" bIns="22860">
            <a:spAutoFit/>
          </a:bodyPr>
          <a:lstStyle/>
          <a:p>
            <a:pPr>
              <a:lnSpc>
                <a:spcPts val="1785"/>
              </a:lnSpc>
              <a:spcBef>
                <a:spcPts val="0"/>
              </a:spcBef>
              <a:spcAft>
                <a:spcPts val="0"/>
              </a:spcAft>
              <a:defRPr sz="1700" b="0">
                <a:solidFill>
                  <a:srgbClr val="182B3A"/>
                </a:solidFill>
                <a:latin typeface="Arial"/>
              </a:defRPr>
            </a:pPr>
            <a:r>
              <a:t>Undo the last operation to check. Write the final answer.</a:t>
            </a:r>
          </a:p>
        </p:txBody>
      </p:sp>
      <p:sp>
        <p:nvSpPr>
          <p:cNvPr id="53" name="Progression curved arrow: Thread 1 to Thread 2"/>
          <p:cNvSpPr/>
          <p:nvPr/>
        </p:nvSpPr>
        <p:spPr>
          <a:xfrm>
            <a:off x="5850635" y="7351125"/>
            <a:ext cx="621792" cy="314053"/>
          </a:xfrm>
          <a:custGeom>
            <a:avLst/>
            <a:gdLst/>
            <a:ahLst/>
            <a:cxnLst/>
            <a:rect l="0" t="0" r="100000" b="100000"/>
            <a:pathLst>
              <a:path w="100000" h="100000" fill="none">
                <a:moveTo>
                  <a:pt x="6970" y="48439"/>
                </a:moveTo>
                <a:cubicBezTo>
                  <a:pt x="40678" y="114499"/>
                  <a:pt x="73026" y="88145"/>
                  <a:pt x="93030" y="13799"/>
                </a:cubicBezTo>
              </a:path>
              <a:path w="100000" h="100000" fill="none">
                <a:moveTo>
                  <a:pt x="69018" y="40431"/>
                </a:moveTo>
                <a:lnTo>
                  <a:pt x="93030" y="13799"/>
                </a:lnTo>
                <a:lnTo>
                  <a:pt x="92217" y="66207"/>
                </a:lnTo>
              </a:path>
            </a:pathLst>
          </a:custGeom>
          <a:noFill/>
          <a:ln w="64449" cap="rnd">
            <a:solidFill>
              <a:schemeClr val="accent6">
                <a:lumMod val="60000"/>
                <a:lumOff val="40000"/>
              </a:schemeClr>
            </a:solidFill>
            <a:round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Progression curved arrow: Thread 2 to Thread 3"/>
          <p:cNvSpPr/>
          <p:nvPr/>
        </p:nvSpPr>
        <p:spPr>
          <a:xfrm>
            <a:off x="9865783" y="7342631"/>
            <a:ext cx="621792" cy="314053"/>
          </a:xfrm>
          <a:custGeom>
            <a:avLst/>
            <a:gdLst/>
            <a:ahLst/>
            <a:cxnLst/>
            <a:rect l="0" t="0" r="100000" b="100000"/>
            <a:pathLst>
              <a:path w="100000" h="100000" fill="none">
                <a:moveTo>
                  <a:pt x="6970" y="48439"/>
                </a:moveTo>
                <a:cubicBezTo>
                  <a:pt x="40678" y="114499"/>
                  <a:pt x="73026" y="88145"/>
                  <a:pt x="93030" y="13799"/>
                </a:cubicBezTo>
              </a:path>
              <a:path w="100000" h="100000" fill="none">
                <a:moveTo>
                  <a:pt x="69018" y="40431"/>
                </a:moveTo>
                <a:lnTo>
                  <a:pt x="93030" y="13799"/>
                </a:lnTo>
                <a:lnTo>
                  <a:pt x="92217" y="66207"/>
                </a:lnTo>
              </a:path>
            </a:pathLst>
          </a:custGeom>
          <a:noFill/>
          <a:ln w="64449" cap="rnd">
            <a:solidFill>
              <a:schemeClr val="accent6">
                <a:lumMod val="60000"/>
                <a:lumOff val="40000"/>
              </a:schemeClr>
            </a:solidFill>
            <a:round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100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8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4630400" cy="73152"/>
          </a:xfrm>
          <a:prstGeom prst="rect">
            <a:avLst/>
          </a:prstGeom>
          <a:solidFill>
            <a:srgbClr val="176B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20040" y="164592"/>
            <a:ext cx="13990320" cy="457200"/>
          </a:xfrm>
          <a:prstGeom prst="rect">
            <a:avLst/>
          </a:prstGeom>
          <a:noFill/>
        </p:spPr>
        <p:txBody>
          <a:bodyPr wrap="square" lIns="54864" rIns="54864" tIns="22860" bIns="22860">
            <a:spAutoFit/>
          </a:bodyPr>
          <a:lstStyle/>
          <a:p>
            <a:pPr>
              <a:lnSpc>
                <a:spcPts val="2940"/>
              </a:lnSpc>
              <a:spcBef>
                <a:spcPts val="0"/>
              </a:spcBef>
              <a:spcAft>
                <a:spcPts val="0"/>
              </a:spcAft>
              <a:defRPr sz="2800" b="1">
                <a:solidFill>
                  <a:srgbClr val="182B3A"/>
                </a:solidFill>
                <a:latin typeface="Arial"/>
              </a:defRPr>
            </a:pPr>
            <a:r>
              <a:t>Signed numbers: addition and subtraction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20040" y="704088"/>
            <a:ext cx="13990320" cy="347472"/>
          </a:xfrm>
          <a:prstGeom prst="rect">
            <a:avLst/>
          </a:prstGeom>
          <a:noFill/>
        </p:spPr>
        <p:txBody>
          <a:bodyPr wrap="square" lIns="54864" rIns="54864" tIns="22860" bIns="22860">
            <a:spAutoFit/>
          </a:bodyPr>
          <a:lstStyle/>
          <a:p>
            <a:pPr>
              <a:lnSpc>
                <a:spcPts val="1575"/>
              </a:lnSpc>
              <a:spcBef>
                <a:spcPts val="0"/>
              </a:spcBef>
              <a:spcAft>
                <a:spcPts val="0"/>
              </a:spcAft>
              <a:defRPr sz="1500" b="0">
                <a:solidFill>
                  <a:srgbClr val="526472"/>
                </a:solidFill>
                <a:latin typeface="Arial"/>
              </a:defRPr>
            </a:pPr>
            <a:r>
              <a:t>Independent practice 1 • Choose a column. Show your working and check your answers.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20040" y="7973568"/>
            <a:ext cx="10789920" cy="210312"/>
          </a:xfrm>
          <a:prstGeom prst="rect">
            <a:avLst/>
          </a:prstGeom>
          <a:noFill/>
        </p:spPr>
        <p:txBody>
          <a:bodyPr wrap="square" lIns="54864" rIns="54864" tIns="22860" bIns="22860">
            <a:spAutoFit/>
          </a:bodyPr>
          <a:lstStyle/>
          <a:p>
            <a:pPr>
              <a:lnSpc>
                <a:spcPts val="1155"/>
              </a:lnSpc>
              <a:spcBef>
                <a:spcPts val="0"/>
              </a:spcBef>
              <a:spcAft>
                <a:spcPts val="0"/>
              </a:spcAft>
              <a:defRPr sz="1100" b="0">
                <a:solidFill>
                  <a:srgbClr val="526472"/>
                </a:solidFill>
                <a:latin typeface="Arial"/>
              </a:defRPr>
            </a:pPr>
            <a:r>
              <a:t>GCSE Maths revision • No calculator • Show your working.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155680" y="7973568"/>
            <a:ext cx="3108960" cy="210312"/>
          </a:xfrm>
          <a:prstGeom prst="rect">
            <a:avLst/>
          </a:prstGeom>
          <a:noFill/>
        </p:spPr>
        <p:txBody>
          <a:bodyPr wrap="square" lIns="54864" rIns="54864" tIns="22860" bIns="22860">
            <a:spAutoFit/>
          </a:bodyPr>
          <a:lstStyle/>
          <a:p>
            <a:pPr>
              <a:lnSpc>
                <a:spcPts val="1155"/>
              </a:lnSpc>
              <a:spcBef>
                <a:spcPts val="0"/>
              </a:spcBef>
              <a:spcAft>
                <a:spcPts val="0"/>
              </a:spcAft>
              <a:defRPr sz="1100" b="0">
                <a:solidFill>
                  <a:srgbClr val="526472"/>
                </a:solidFill>
                <a:latin typeface="Arial"/>
              </a:defRPr>
            </a:pPr>
            <a:r>
              <a:t>M13-S04</a:t>
            </a:r>
          </a:p>
        </p:txBody>
      </p:sp>
      <p:sp>
        <p:nvSpPr>
          <p:cNvPr id="7" name="Rectangle 6"/>
          <p:cNvSpPr/>
          <p:nvPr/>
        </p:nvSpPr>
        <p:spPr>
          <a:xfrm>
            <a:off x="320040" y="1115568"/>
            <a:ext cx="4640580" cy="420624"/>
          </a:xfrm>
          <a:prstGeom prst="rect">
            <a:avLst/>
          </a:prstGeom>
          <a:solidFill>
            <a:srgbClr val="176B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47472" y="1147572"/>
            <a:ext cx="4581144" cy="329184"/>
          </a:xfrm>
          <a:prstGeom prst="rect">
            <a:avLst/>
          </a:prstGeom>
          <a:noFill/>
        </p:spPr>
        <p:txBody>
          <a:bodyPr wrap="square" lIns="54864" rIns="54864" tIns="22860" bIns="22860">
            <a:spAutoFit/>
          </a:bodyPr>
          <a:lstStyle/>
          <a:p>
            <a:pPr>
              <a:lnSpc>
                <a:spcPts val="1995"/>
              </a:lnSpc>
              <a:spcBef>
                <a:spcPts val="0"/>
              </a:spcBef>
              <a:spcAft>
                <a:spcPts val="0"/>
              </a:spcAft>
              <a:defRPr sz="1900" b="1">
                <a:solidFill>
                  <a:srgbClr val="FFFFFF"/>
                </a:solidFill>
                <a:latin typeface="Arial"/>
              </a:defRPr>
            </a:pPr>
            <a:r>
              <a:t>Thread 1: Guided</a:t>
            </a:r>
          </a:p>
        </p:txBody>
      </p:sp>
      <p:sp>
        <p:nvSpPr>
          <p:cNvPr id="9" name="Rectangle 8"/>
          <p:cNvSpPr/>
          <p:nvPr/>
        </p:nvSpPr>
        <p:spPr>
          <a:xfrm>
            <a:off x="4983480" y="1115568"/>
            <a:ext cx="4640580" cy="420624"/>
          </a:xfrm>
          <a:prstGeom prst="rect">
            <a:avLst/>
          </a:prstGeom>
          <a:solidFill>
            <a:srgbClr val="3559A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010912" y="1147572"/>
            <a:ext cx="4581144" cy="329184"/>
          </a:xfrm>
          <a:prstGeom prst="rect">
            <a:avLst/>
          </a:prstGeom>
          <a:noFill/>
        </p:spPr>
        <p:txBody>
          <a:bodyPr wrap="square" lIns="54864" rIns="54864" tIns="22860" bIns="22860">
            <a:spAutoFit/>
          </a:bodyPr>
          <a:lstStyle/>
          <a:p>
            <a:pPr>
              <a:lnSpc>
                <a:spcPts val="1995"/>
              </a:lnSpc>
              <a:spcBef>
                <a:spcPts val="0"/>
              </a:spcBef>
              <a:spcAft>
                <a:spcPts val="0"/>
              </a:spcAft>
              <a:defRPr sz="1900" b="1">
                <a:solidFill>
                  <a:srgbClr val="FFFFFF"/>
                </a:solidFill>
                <a:latin typeface="Arial"/>
              </a:defRPr>
            </a:pPr>
            <a:r>
              <a:t>Thread 2: Core</a:t>
            </a:r>
          </a:p>
        </p:txBody>
      </p:sp>
      <p:sp>
        <p:nvSpPr>
          <p:cNvPr id="11" name="Rectangle 10"/>
          <p:cNvSpPr/>
          <p:nvPr/>
        </p:nvSpPr>
        <p:spPr>
          <a:xfrm>
            <a:off x="9646920" y="1115568"/>
            <a:ext cx="4640580" cy="420624"/>
          </a:xfrm>
          <a:prstGeom prst="rect">
            <a:avLst/>
          </a:prstGeom>
          <a:solidFill>
            <a:srgbClr val="754B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674352" y="1147572"/>
            <a:ext cx="4581144" cy="329184"/>
          </a:xfrm>
          <a:prstGeom prst="rect">
            <a:avLst/>
          </a:prstGeom>
          <a:noFill/>
        </p:spPr>
        <p:txBody>
          <a:bodyPr wrap="square" lIns="54864" rIns="54864" tIns="22860" bIns="22860">
            <a:spAutoFit/>
          </a:bodyPr>
          <a:lstStyle/>
          <a:p>
            <a:pPr>
              <a:lnSpc>
                <a:spcPts val="1995"/>
              </a:lnSpc>
              <a:spcBef>
                <a:spcPts val="0"/>
              </a:spcBef>
              <a:spcAft>
                <a:spcPts val="0"/>
              </a:spcAft>
              <a:defRPr sz="1900" b="1">
                <a:solidFill>
                  <a:srgbClr val="FFFFFF"/>
                </a:solidFill>
                <a:latin typeface="Arial"/>
              </a:defRPr>
            </a:pPr>
            <a:r>
              <a:t>Thread 3: Depth</a:t>
            </a:r>
          </a:p>
        </p:txBody>
      </p:sp>
      <p:sp>
        <p:nvSpPr>
          <p:cNvPr id="13" name="Rectangle 12"/>
          <p:cNvSpPr/>
          <p:nvPr/>
        </p:nvSpPr>
        <p:spPr>
          <a:xfrm>
            <a:off x="320040" y="1581912"/>
            <a:ext cx="4640580" cy="1005840"/>
          </a:xfrm>
          <a:prstGeom prst="rect">
            <a:avLst/>
          </a:prstGeom>
          <a:solidFill>
            <a:srgbClr val="FFFFFF"/>
          </a:solidFill>
          <a:ln w="7620">
            <a:solidFill>
              <a:srgbClr val="D8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11479" y="1819656"/>
            <a:ext cx="4453128" cy="548640"/>
          </a:xfrm>
          <a:prstGeom prst="rect">
            <a:avLst/>
          </a:prstGeom>
          <a:noFill/>
        </p:spPr>
        <p:txBody>
          <a:bodyPr wrap="square" lIns="54864" rIns="54864" tIns="22860" bIns="22860">
            <a:spAutoFit/>
          </a:bodyPr>
          <a:lstStyle/>
          <a:p>
            <a:pPr>
              <a:lnSpc>
                <a:spcPts val="2730"/>
              </a:lnSpc>
              <a:spcBef>
                <a:spcPts val="0"/>
              </a:spcBef>
              <a:spcAft>
                <a:spcPts val="0"/>
              </a:spcAft>
              <a:defRPr sz="2600" b="0">
                <a:solidFill>
                  <a:srgbClr val="182B3A"/>
                </a:solidFill>
                <a:latin typeface="Arial"/>
              </a:defRPr>
            </a:pPr>
            <a:r>
              <a:t>1.  −3 + 8</a:t>
            </a:r>
          </a:p>
        </p:txBody>
      </p:sp>
      <p:sp>
        <p:nvSpPr>
          <p:cNvPr id="15" name="Rectangle 14"/>
          <p:cNvSpPr/>
          <p:nvPr/>
        </p:nvSpPr>
        <p:spPr>
          <a:xfrm>
            <a:off x="4983480" y="1581912"/>
            <a:ext cx="4640580" cy="1005840"/>
          </a:xfrm>
          <a:prstGeom prst="rect">
            <a:avLst/>
          </a:prstGeom>
          <a:solidFill>
            <a:srgbClr val="FFFFFF"/>
          </a:solidFill>
          <a:ln w="7620">
            <a:solidFill>
              <a:srgbClr val="D8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074920" y="1819656"/>
            <a:ext cx="4453128" cy="548640"/>
          </a:xfrm>
          <a:prstGeom prst="rect">
            <a:avLst/>
          </a:prstGeom>
          <a:noFill/>
        </p:spPr>
        <p:txBody>
          <a:bodyPr wrap="square" lIns="54864" rIns="54864" tIns="22860" bIns="22860">
            <a:spAutoFit/>
          </a:bodyPr>
          <a:lstStyle/>
          <a:p>
            <a:pPr>
              <a:lnSpc>
                <a:spcPts val="2730"/>
              </a:lnSpc>
              <a:spcBef>
                <a:spcPts val="0"/>
              </a:spcBef>
              <a:spcAft>
                <a:spcPts val="0"/>
              </a:spcAft>
              <a:defRPr sz="2600" b="0">
                <a:solidFill>
                  <a:srgbClr val="182B3A"/>
                </a:solidFill>
                <a:latin typeface="Arial"/>
              </a:defRPr>
            </a:pPr>
            <a:r>
              <a:t>1.  5 − (−2)</a:t>
            </a:r>
          </a:p>
        </p:txBody>
      </p:sp>
      <p:sp>
        <p:nvSpPr>
          <p:cNvPr id="17" name="Rectangle 16"/>
          <p:cNvSpPr/>
          <p:nvPr/>
        </p:nvSpPr>
        <p:spPr>
          <a:xfrm>
            <a:off x="9646920" y="1581912"/>
            <a:ext cx="4640580" cy="1005840"/>
          </a:xfrm>
          <a:prstGeom prst="rect">
            <a:avLst/>
          </a:prstGeom>
          <a:solidFill>
            <a:srgbClr val="FFFFFF"/>
          </a:solidFill>
          <a:ln w="7620">
            <a:solidFill>
              <a:srgbClr val="D8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9738360" y="1819656"/>
            <a:ext cx="4453128" cy="548640"/>
          </a:xfrm>
          <a:prstGeom prst="rect">
            <a:avLst/>
          </a:prstGeom>
          <a:noFill/>
        </p:spPr>
        <p:txBody>
          <a:bodyPr wrap="square" lIns="54864" rIns="54864" tIns="22860" bIns="22860">
            <a:spAutoFit/>
          </a:bodyPr>
          <a:lstStyle/>
          <a:p>
            <a:pPr>
              <a:lnSpc>
                <a:spcPts val="2730"/>
              </a:lnSpc>
              <a:spcBef>
                <a:spcPts val="0"/>
              </a:spcBef>
              <a:spcAft>
                <a:spcPts val="0"/>
              </a:spcAft>
              <a:defRPr sz="2600" b="0">
                <a:solidFill>
                  <a:srgbClr val="182B3A"/>
                </a:solidFill>
                <a:latin typeface="Arial"/>
              </a:defRPr>
            </a:pPr>
            <a:r>
              <a:t>1.  −4 + 7 − (−3)</a:t>
            </a:r>
          </a:p>
        </p:txBody>
      </p:sp>
      <p:sp>
        <p:nvSpPr>
          <p:cNvPr id="19" name="Rectangle 18"/>
          <p:cNvSpPr/>
          <p:nvPr/>
        </p:nvSpPr>
        <p:spPr>
          <a:xfrm>
            <a:off x="320040" y="2587752"/>
            <a:ext cx="4640580" cy="1005840"/>
          </a:xfrm>
          <a:prstGeom prst="rect">
            <a:avLst/>
          </a:prstGeom>
          <a:solidFill>
            <a:srgbClr val="EDF6F5"/>
          </a:solidFill>
          <a:ln w="7620">
            <a:solidFill>
              <a:srgbClr val="D8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411479" y="2825496"/>
            <a:ext cx="4453128" cy="548640"/>
          </a:xfrm>
          <a:prstGeom prst="rect">
            <a:avLst/>
          </a:prstGeom>
          <a:noFill/>
        </p:spPr>
        <p:txBody>
          <a:bodyPr wrap="square" lIns="54864" rIns="54864" tIns="22860" bIns="22860">
            <a:spAutoFit/>
          </a:bodyPr>
          <a:lstStyle/>
          <a:p>
            <a:pPr>
              <a:lnSpc>
                <a:spcPts val="2730"/>
              </a:lnSpc>
              <a:spcBef>
                <a:spcPts val="0"/>
              </a:spcBef>
              <a:spcAft>
                <a:spcPts val="0"/>
              </a:spcAft>
              <a:defRPr sz="2600" b="0">
                <a:solidFill>
                  <a:srgbClr val="182B3A"/>
                </a:solidFill>
                <a:latin typeface="Arial"/>
              </a:defRPr>
            </a:pPr>
            <a:r>
              <a:t>2.  2 − 7</a:t>
            </a:r>
          </a:p>
        </p:txBody>
      </p:sp>
      <p:sp>
        <p:nvSpPr>
          <p:cNvPr id="21" name="Rectangle 20"/>
          <p:cNvSpPr/>
          <p:nvPr/>
        </p:nvSpPr>
        <p:spPr>
          <a:xfrm>
            <a:off x="4983480" y="2587752"/>
            <a:ext cx="4640580" cy="1005840"/>
          </a:xfrm>
          <a:prstGeom prst="rect">
            <a:avLst/>
          </a:prstGeom>
          <a:solidFill>
            <a:srgbClr val="EFF3FA"/>
          </a:solidFill>
          <a:ln w="7620">
            <a:solidFill>
              <a:srgbClr val="D8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5074920" y="2825496"/>
            <a:ext cx="4453128" cy="548640"/>
          </a:xfrm>
          <a:prstGeom prst="rect">
            <a:avLst/>
          </a:prstGeom>
          <a:noFill/>
        </p:spPr>
        <p:txBody>
          <a:bodyPr wrap="square" lIns="54864" rIns="54864" tIns="22860" bIns="22860">
            <a:spAutoFit/>
          </a:bodyPr>
          <a:lstStyle/>
          <a:p>
            <a:pPr>
              <a:lnSpc>
                <a:spcPts val="2730"/>
              </a:lnSpc>
              <a:spcBef>
                <a:spcPts val="0"/>
              </a:spcBef>
              <a:spcAft>
                <a:spcPts val="0"/>
              </a:spcAft>
              <a:defRPr sz="2600" b="0">
                <a:solidFill>
                  <a:srgbClr val="182B3A"/>
                </a:solidFill>
                <a:latin typeface="Arial"/>
              </a:defRPr>
            </a:pPr>
            <a:r>
              <a:t>2.  7 + (−9)</a:t>
            </a:r>
          </a:p>
        </p:txBody>
      </p:sp>
      <p:sp>
        <p:nvSpPr>
          <p:cNvPr id="23" name="Rectangle 22"/>
          <p:cNvSpPr/>
          <p:nvPr/>
        </p:nvSpPr>
        <p:spPr>
          <a:xfrm>
            <a:off x="9646920" y="2587752"/>
            <a:ext cx="4640580" cy="1005840"/>
          </a:xfrm>
          <a:prstGeom prst="rect">
            <a:avLst/>
          </a:prstGeom>
          <a:solidFill>
            <a:srgbClr val="F5F0F7"/>
          </a:solidFill>
          <a:ln w="7620">
            <a:solidFill>
              <a:srgbClr val="D8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9738360" y="2825496"/>
            <a:ext cx="4453128" cy="548640"/>
          </a:xfrm>
          <a:prstGeom prst="rect">
            <a:avLst/>
          </a:prstGeom>
          <a:noFill/>
        </p:spPr>
        <p:txBody>
          <a:bodyPr wrap="square" lIns="54864" rIns="54864" tIns="22860" bIns="22860">
            <a:spAutoFit/>
          </a:bodyPr>
          <a:lstStyle/>
          <a:p>
            <a:pPr>
              <a:lnSpc>
                <a:spcPts val="2730"/>
              </a:lnSpc>
              <a:spcBef>
                <a:spcPts val="0"/>
              </a:spcBef>
              <a:spcAft>
                <a:spcPts val="0"/>
              </a:spcAft>
              <a:defRPr sz="2600" b="0">
                <a:solidFill>
                  <a:srgbClr val="182B3A"/>
                </a:solidFill>
                <a:latin typeface="Arial"/>
              </a:defRPr>
            </a:pPr>
            <a:r>
              <a:t>2.  6 − 9 + 2</a:t>
            </a:r>
          </a:p>
        </p:txBody>
      </p:sp>
      <p:sp>
        <p:nvSpPr>
          <p:cNvPr id="25" name="Rectangle 24"/>
          <p:cNvSpPr/>
          <p:nvPr/>
        </p:nvSpPr>
        <p:spPr>
          <a:xfrm>
            <a:off x="320040" y="3593592"/>
            <a:ext cx="4640580" cy="1005840"/>
          </a:xfrm>
          <a:prstGeom prst="rect">
            <a:avLst/>
          </a:prstGeom>
          <a:solidFill>
            <a:srgbClr val="FFFFFF"/>
          </a:solidFill>
          <a:ln w="7620">
            <a:solidFill>
              <a:srgbClr val="D8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411479" y="3831336"/>
            <a:ext cx="4453128" cy="548640"/>
          </a:xfrm>
          <a:prstGeom prst="rect">
            <a:avLst/>
          </a:prstGeom>
          <a:noFill/>
        </p:spPr>
        <p:txBody>
          <a:bodyPr wrap="square" lIns="54864" rIns="54864" tIns="22860" bIns="22860">
            <a:spAutoFit/>
          </a:bodyPr>
          <a:lstStyle/>
          <a:p>
            <a:pPr>
              <a:lnSpc>
                <a:spcPts val="2730"/>
              </a:lnSpc>
              <a:spcBef>
                <a:spcPts val="0"/>
              </a:spcBef>
              <a:spcAft>
                <a:spcPts val="0"/>
              </a:spcAft>
              <a:defRPr sz="2600" b="0">
                <a:solidFill>
                  <a:srgbClr val="182B3A"/>
                </a:solidFill>
                <a:latin typeface="Arial"/>
              </a:defRPr>
            </a:pPr>
            <a:r>
              <a:t>3.  −6 + 4</a:t>
            </a:r>
          </a:p>
        </p:txBody>
      </p:sp>
      <p:sp>
        <p:nvSpPr>
          <p:cNvPr id="27" name="Rectangle 26"/>
          <p:cNvSpPr/>
          <p:nvPr/>
        </p:nvSpPr>
        <p:spPr>
          <a:xfrm>
            <a:off x="4983480" y="3593592"/>
            <a:ext cx="4640580" cy="1005840"/>
          </a:xfrm>
          <a:prstGeom prst="rect">
            <a:avLst/>
          </a:prstGeom>
          <a:solidFill>
            <a:srgbClr val="FFFFFF"/>
          </a:solidFill>
          <a:ln w="7620">
            <a:solidFill>
              <a:srgbClr val="D8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5074920" y="3831336"/>
            <a:ext cx="4453128" cy="548640"/>
          </a:xfrm>
          <a:prstGeom prst="rect">
            <a:avLst/>
          </a:prstGeom>
          <a:noFill/>
        </p:spPr>
        <p:txBody>
          <a:bodyPr wrap="square" lIns="54864" rIns="54864" tIns="22860" bIns="22860">
            <a:spAutoFit/>
          </a:bodyPr>
          <a:lstStyle/>
          <a:p>
            <a:pPr>
              <a:lnSpc>
                <a:spcPts val="2730"/>
              </a:lnSpc>
              <a:spcBef>
                <a:spcPts val="0"/>
              </a:spcBef>
              <a:spcAft>
                <a:spcPts val="0"/>
              </a:spcAft>
              <a:defRPr sz="2600" b="0">
                <a:solidFill>
                  <a:srgbClr val="182B3A"/>
                </a:solidFill>
                <a:latin typeface="Arial"/>
              </a:defRPr>
            </a:pPr>
            <a:r>
              <a:t>3.  −4 + (−6)</a:t>
            </a:r>
          </a:p>
        </p:txBody>
      </p:sp>
      <p:sp>
        <p:nvSpPr>
          <p:cNvPr id="29" name="Rectangle 28"/>
          <p:cNvSpPr/>
          <p:nvPr/>
        </p:nvSpPr>
        <p:spPr>
          <a:xfrm>
            <a:off x="9646920" y="3593592"/>
            <a:ext cx="4640580" cy="1005840"/>
          </a:xfrm>
          <a:prstGeom prst="rect">
            <a:avLst/>
          </a:prstGeom>
          <a:solidFill>
            <a:srgbClr val="FFFFFF"/>
          </a:solidFill>
          <a:ln w="7620">
            <a:solidFill>
              <a:srgbClr val="D8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9738360" y="3831336"/>
            <a:ext cx="4453128" cy="548640"/>
          </a:xfrm>
          <a:prstGeom prst="rect">
            <a:avLst/>
          </a:prstGeom>
          <a:noFill/>
        </p:spPr>
        <p:txBody>
          <a:bodyPr wrap="square" lIns="54864" rIns="54864" tIns="22860" bIns="22860">
            <a:spAutoFit/>
          </a:bodyPr>
          <a:lstStyle/>
          <a:p>
            <a:pPr>
              <a:lnSpc>
                <a:spcPts val="2730"/>
              </a:lnSpc>
              <a:spcBef>
                <a:spcPts val="0"/>
              </a:spcBef>
              <a:spcAft>
                <a:spcPts val="0"/>
              </a:spcAft>
              <a:defRPr sz="2600" b="0">
                <a:solidFill>
                  <a:srgbClr val="182B3A"/>
                </a:solidFill>
                <a:latin typeface="Arial"/>
              </a:defRPr>
            </a:pPr>
            <a:r>
              <a:t>3.  −5 + (−3) + 10</a:t>
            </a:r>
          </a:p>
        </p:txBody>
      </p:sp>
      <p:sp>
        <p:nvSpPr>
          <p:cNvPr id="31" name="Rectangle 30"/>
          <p:cNvSpPr/>
          <p:nvPr/>
        </p:nvSpPr>
        <p:spPr>
          <a:xfrm>
            <a:off x="320040" y="4599432"/>
            <a:ext cx="4640580" cy="1005840"/>
          </a:xfrm>
          <a:prstGeom prst="rect">
            <a:avLst/>
          </a:prstGeom>
          <a:solidFill>
            <a:srgbClr val="EDF6F5"/>
          </a:solidFill>
          <a:ln w="7620">
            <a:solidFill>
              <a:srgbClr val="D8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411479" y="4837176"/>
            <a:ext cx="4453128" cy="548640"/>
          </a:xfrm>
          <a:prstGeom prst="rect">
            <a:avLst/>
          </a:prstGeom>
          <a:noFill/>
        </p:spPr>
        <p:txBody>
          <a:bodyPr wrap="square" lIns="54864" rIns="54864" tIns="22860" bIns="22860">
            <a:spAutoFit/>
          </a:bodyPr>
          <a:lstStyle/>
          <a:p>
            <a:pPr>
              <a:lnSpc>
                <a:spcPts val="2730"/>
              </a:lnSpc>
              <a:spcBef>
                <a:spcPts val="0"/>
              </a:spcBef>
              <a:spcAft>
                <a:spcPts val="0"/>
              </a:spcAft>
              <a:defRPr sz="2600" b="0">
                <a:solidFill>
                  <a:srgbClr val="182B3A"/>
                </a:solidFill>
                <a:latin typeface="Arial"/>
              </a:defRPr>
            </a:pPr>
            <a:r>
              <a:t>4.  −2 − 5</a:t>
            </a:r>
          </a:p>
        </p:txBody>
      </p:sp>
      <p:sp>
        <p:nvSpPr>
          <p:cNvPr id="33" name="Rectangle 32"/>
          <p:cNvSpPr/>
          <p:nvPr/>
        </p:nvSpPr>
        <p:spPr>
          <a:xfrm>
            <a:off x="4983480" y="4599432"/>
            <a:ext cx="4640580" cy="1005840"/>
          </a:xfrm>
          <a:prstGeom prst="rect">
            <a:avLst/>
          </a:prstGeom>
          <a:solidFill>
            <a:srgbClr val="EFF3FA"/>
          </a:solidFill>
          <a:ln w="7620">
            <a:solidFill>
              <a:srgbClr val="D8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5074920" y="4837176"/>
            <a:ext cx="4453128" cy="548640"/>
          </a:xfrm>
          <a:prstGeom prst="rect">
            <a:avLst/>
          </a:prstGeom>
          <a:noFill/>
        </p:spPr>
        <p:txBody>
          <a:bodyPr wrap="square" lIns="54864" rIns="54864" tIns="22860" bIns="22860">
            <a:spAutoFit/>
          </a:bodyPr>
          <a:lstStyle/>
          <a:p>
            <a:pPr>
              <a:lnSpc>
                <a:spcPts val="2730"/>
              </a:lnSpc>
              <a:spcBef>
                <a:spcPts val="0"/>
              </a:spcBef>
              <a:spcAft>
                <a:spcPts val="0"/>
              </a:spcAft>
              <a:defRPr sz="2600" b="0">
                <a:solidFill>
                  <a:srgbClr val="182B3A"/>
                </a:solidFill>
                <a:latin typeface="Arial"/>
              </a:defRPr>
            </a:pPr>
            <a:r>
              <a:t>4.  −8 − (−3)</a:t>
            </a:r>
          </a:p>
        </p:txBody>
      </p:sp>
      <p:sp>
        <p:nvSpPr>
          <p:cNvPr id="35" name="Rectangle 34"/>
          <p:cNvSpPr/>
          <p:nvPr/>
        </p:nvSpPr>
        <p:spPr>
          <a:xfrm>
            <a:off x="9646920" y="4599432"/>
            <a:ext cx="4640580" cy="1005840"/>
          </a:xfrm>
          <a:prstGeom prst="rect">
            <a:avLst/>
          </a:prstGeom>
          <a:solidFill>
            <a:srgbClr val="F5F0F7"/>
          </a:solidFill>
          <a:ln w="7620">
            <a:solidFill>
              <a:srgbClr val="D8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9738360" y="4837176"/>
            <a:ext cx="4453128" cy="548640"/>
          </a:xfrm>
          <a:prstGeom prst="rect">
            <a:avLst/>
          </a:prstGeom>
          <a:noFill/>
        </p:spPr>
        <p:txBody>
          <a:bodyPr wrap="square" lIns="54864" rIns="54864" tIns="22860" bIns="22860">
            <a:spAutoFit/>
          </a:bodyPr>
          <a:lstStyle/>
          <a:p>
            <a:pPr>
              <a:lnSpc>
                <a:spcPts val="2730"/>
              </a:lnSpc>
              <a:spcBef>
                <a:spcPts val="0"/>
              </a:spcBef>
              <a:spcAft>
                <a:spcPts val="0"/>
              </a:spcAft>
              <a:defRPr sz="2600" b="0">
                <a:solidFill>
                  <a:srgbClr val="182B3A"/>
                </a:solidFill>
                <a:latin typeface="Arial"/>
              </a:defRPr>
            </a:pPr>
            <a:r>
              <a:t>4.  8 − (−2) − 13</a:t>
            </a:r>
          </a:p>
        </p:txBody>
      </p:sp>
      <p:sp>
        <p:nvSpPr>
          <p:cNvPr id="37" name="Rectangle 36"/>
          <p:cNvSpPr/>
          <p:nvPr/>
        </p:nvSpPr>
        <p:spPr>
          <a:xfrm>
            <a:off x="320040" y="5605272"/>
            <a:ext cx="4640580" cy="1005840"/>
          </a:xfrm>
          <a:prstGeom prst="rect">
            <a:avLst/>
          </a:prstGeom>
          <a:solidFill>
            <a:srgbClr val="FFFFFF"/>
          </a:solidFill>
          <a:ln w="7620">
            <a:solidFill>
              <a:srgbClr val="D8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411479" y="5843016"/>
            <a:ext cx="4453128" cy="548640"/>
          </a:xfrm>
          <a:prstGeom prst="rect">
            <a:avLst/>
          </a:prstGeom>
          <a:noFill/>
        </p:spPr>
        <p:txBody>
          <a:bodyPr wrap="square" lIns="54864" rIns="54864" tIns="22860" bIns="22860">
            <a:spAutoFit/>
          </a:bodyPr>
          <a:lstStyle/>
          <a:p>
            <a:pPr>
              <a:lnSpc>
                <a:spcPts val="2730"/>
              </a:lnSpc>
              <a:spcBef>
                <a:spcPts val="0"/>
              </a:spcBef>
              <a:spcAft>
                <a:spcPts val="0"/>
              </a:spcAft>
              <a:defRPr sz="2600" b="0">
                <a:solidFill>
                  <a:srgbClr val="182B3A"/>
                </a:solidFill>
                <a:latin typeface="Arial"/>
              </a:defRPr>
            </a:pPr>
            <a:r>
              <a:t>5.  −9 + 9</a:t>
            </a:r>
          </a:p>
        </p:txBody>
      </p:sp>
      <p:sp>
        <p:nvSpPr>
          <p:cNvPr id="39" name="Rectangle 38"/>
          <p:cNvSpPr/>
          <p:nvPr/>
        </p:nvSpPr>
        <p:spPr>
          <a:xfrm>
            <a:off x="4983480" y="5605272"/>
            <a:ext cx="4640580" cy="1005840"/>
          </a:xfrm>
          <a:prstGeom prst="rect">
            <a:avLst/>
          </a:prstGeom>
          <a:solidFill>
            <a:srgbClr val="FFFFFF"/>
          </a:solidFill>
          <a:ln w="7620">
            <a:solidFill>
              <a:srgbClr val="D8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5074920" y="5843016"/>
            <a:ext cx="4453128" cy="548640"/>
          </a:xfrm>
          <a:prstGeom prst="rect">
            <a:avLst/>
          </a:prstGeom>
          <a:noFill/>
        </p:spPr>
        <p:txBody>
          <a:bodyPr wrap="square" lIns="54864" rIns="54864" tIns="22860" bIns="22860">
            <a:spAutoFit/>
          </a:bodyPr>
          <a:lstStyle/>
          <a:p>
            <a:pPr>
              <a:lnSpc>
                <a:spcPts val="2730"/>
              </a:lnSpc>
              <a:spcBef>
                <a:spcPts val="0"/>
              </a:spcBef>
              <a:spcAft>
                <a:spcPts val="0"/>
              </a:spcAft>
              <a:defRPr sz="2600" b="0">
                <a:solidFill>
                  <a:srgbClr val="182B3A"/>
                </a:solidFill>
                <a:latin typeface="Arial"/>
              </a:defRPr>
            </a:pPr>
            <a:r>
              <a:t>5.  −5 − (−5)</a:t>
            </a:r>
          </a:p>
        </p:txBody>
      </p:sp>
      <p:sp>
        <p:nvSpPr>
          <p:cNvPr id="41" name="Rectangle 40"/>
          <p:cNvSpPr/>
          <p:nvPr/>
        </p:nvSpPr>
        <p:spPr>
          <a:xfrm>
            <a:off x="9646920" y="5605272"/>
            <a:ext cx="4640580" cy="1005840"/>
          </a:xfrm>
          <a:prstGeom prst="rect">
            <a:avLst/>
          </a:prstGeom>
          <a:solidFill>
            <a:srgbClr val="FFFFFF"/>
          </a:solidFill>
          <a:ln w="7620">
            <a:solidFill>
              <a:srgbClr val="D8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9738360" y="5843016"/>
            <a:ext cx="4453128" cy="548640"/>
          </a:xfrm>
          <a:prstGeom prst="rect">
            <a:avLst/>
          </a:prstGeom>
          <a:noFill/>
        </p:spPr>
        <p:txBody>
          <a:bodyPr wrap="square" lIns="54864" rIns="54864" tIns="22860" bIns="22860">
            <a:spAutoFit/>
          </a:bodyPr>
          <a:lstStyle/>
          <a:p>
            <a:pPr>
              <a:lnSpc>
                <a:spcPts val="2730"/>
              </a:lnSpc>
              <a:spcBef>
                <a:spcPts val="0"/>
              </a:spcBef>
              <a:spcAft>
                <a:spcPts val="0"/>
              </a:spcAft>
              <a:defRPr sz="2600" b="0">
                <a:solidFill>
                  <a:srgbClr val="182B3A"/>
                </a:solidFill>
                <a:latin typeface="Arial"/>
              </a:defRPr>
            </a:pPr>
            <a:r>
              <a:t>5.  −7 − (−4) + 1</a:t>
            </a:r>
          </a:p>
        </p:txBody>
      </p:sp>
      <p:sp>
        <p:nvSpPr>
          <p:cNvPr id="43" name="Rectangle 42"/>
          <p:cNvSpPr/>
          <p:nvPr/>
        </p:nvSpPr>
        <p:spPr>
          <a:xfrm>
            <a:off x="320040" y="6611112"/>
            <a:ext cx="4640580" cy="1005840"/>
          </a:xfrm>
          <a:prstGeom prst="rect">
            <a:avLst/>
          </a:prstGeom>
          <a:solidFill>
            <a:srgbClr val="EDF6F5"/>
          </a:solidFill>
          <a:ln w="7620">
            <a:solidFill>
              <a:srgbClr val="D8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411479" y="6848856"/>
            <a:ext cx="4453128" cy="548640"/>
          </a:xfrm>
          <a:prstGeom prst="rect">
            <a:avLst/>
          </a:prstGeom>
          <a:noFill/>
        </p:spPr>
        <p:txBody>
          <a:bodyPr wrap="square" lIns="54864" rIns="54864" tIns="22860" bIns="22860">
            <a:spAutoFit/>
          </a:bodyPr>
          <a:lstStyle/>
          <a:p>
            <a:pPr>
              <a:lnSpc>
                <a:spcPts val="2730"/>
              </a:lnSpc>
              <a:spcBef>
                <a:spcPts val="0"/>
              </a:spcBef>
              <a:spcAft>
                <a:spcPts val="0"/>
              </a:spcAft>
              <a:defRPr sz="2600" b="0">
                <a:solidFill>
                  <a:srgbClr val="182B3A"/>
                </a:solidFill>
                <a:latin typeface="Arial"/>
              </a:defRPr>
            </a:pPr>
            <a:r>
              <a:t>6.  4 − 10</a:t>
            </a:r>
          </a:p>
        </p:txBody>
      </p:sp>
      <p:sp>
        <p:nvSpPr>
          <p:cNvPr id="45" name="Rectangle 44"/>
          <p:cNvSpPr/>
          <p:nvPr/>
        </p:nvSpPr>
        <p:spPr>
          <a:xfrm>
            <a:off x="4983480" y="6611112"/>
            <a:ext cx="4640580" cy="1005840"/>
          </a:xfrm>
          <a:prstGeom prst="rect">
            <a:avLst/>
          </a:prstGeom>
          <a:solidFill>
            <a:srgbClr val="EFF3FA"/>
          </a:solidFill>
          <a:ln w="7620">
            <a:solidFill>
              <a:srgbClr val="D8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5074920" y="6848856"/>
            <a:ext cx="4453128" cy="548640"/>
          </a:xfrm>
          <a:prstGeom prst="rect">
            <a:avLst/>
          </a:prstGeom>
          <a:noFill/>
        </p:spPr>
        <p:txBody>
          <a:bodyPr wrap="square" lIns="54864" rIns="54864" tIns="22860" bIns="22860">
            <a:spAutoFit/>
          </a:bodyPr>
          <a:lstStyle/>
          <a:p>
            <a:pPr>
              <a:lnSpc>
                <a:spcPts val="2730"/>
              </a:lnSpc>
              <a:spcBef>
                <a:spcPts val="0"/>
              </a:spcBef>
              <a:spcAft>
                <a:spcPts val="0"/>
              </a:spcAft>
              <a:defRPr sz="2600" b="0">
                <a:solidFill>
                  <a:srgbClr val="182B3A"/>
                </a:solidFill>
                <a:latin typeface="Arial"/>
              </a:defRPr>
            </a:pPr>
            <a:r>
              <a:t>6.  0 + (−7)</a:t>
            </a:r>
          </a:p>
        </p:txBody>
      </p:sp>
      <p:sp>
        <p:nvSpPr>
          <p:cNvPr id="47" name="Rectangle 46"/>
          <p:cNvSpPr/>
          <p:nvPr/>
        </p:nvSpPr>
        <p:spPr>
          <a:xfrm>
            <a:off x="9646920" y="6611112"/>
            <a:ext cx="4640580" cy="1005840"/>
          </a:xfrm>
          <a:prstGeom prst="rect">
            <a:avLst/>
          </a:prstGeom>
          <a:solidFill>
            <a:srgbClr val="F5F0F7"/>
          </a:solidFill>
          <a:ln w="7620">
            <a:solidFill>
              <a:srgbClr val="D8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9738360" y="6848856"/>
            <a:ext cx="4453128" cy="548640"/>
          </a:xfrm>
          <a:prstGeom prst="rect">
            <a:avLst/>
          </a:prstGeom>
          <a:noFill/>
        </p:spPr>
        <p:txBody>
          <a:bodyPr wrap="square" lIns="54864" rIns="54864" tIns="22860" bIns="22860">
            <a:spAutoFit/>
          </a:bodyPr>
          <a:lstStyle/>
          <a:p>
            <a:pPr>
              <a:lnSpc>
                <a:spcPts val="2730"/>
              </a:lnSpc>
              <a:spcBef>
                <a:spcPts val="0"/>
              </a:spcBef>
              <a:spcAft>
                <a:spcPts val="0"/>
              </a:spcAft>
              <a:defRPr sz="2600" b="0">
                <a:solidFill>
                  <a:srgbClr val="182B3A"/>
                </a:solidFill>
                <a:latin typeface="Arial"/>
              </a:defRPr>
            </a:pPr>
            <a:r>
              <a:t>6.  3 + (−8) − (−5)</a:t>
            </a:r>
          </a:p>
        </p:txBody>
      </p:sp>
      <p:sp>
        <p:nvSpPr>
          <p:cNvPr id="49" name="Progression curved arrow: Thread 1 to Thread 2"/>
          <p:cNvSpPr/>
          <p:nvPr/>
        </p:nvSpPr>
        <p:spPr>
          <a:xfrm>
            <a:off x="4649723" y="7552294"/>
            <a:ext cx="621792" cy="314053"/>
          </a:xfrm>
          <a:custGeom>
            <a:avLst/>
            <a:gdLst/>
            <a:ahLst/>
            <a:cxnLst/>
            <a:rect l="0" t="0" r="100000" b="100000"/>
            <a:pathLst>
              <a:path w="100000" h="100000" fill="none">
                <a:moveTo>
                  <a:pt x="6970" y="48439"/>
                </a:moveTo>
                <a:cubicBezTo>
                  <a:pt x="40678" y="114499"/>
                  <a:pt x="73026" y="88145"/>
                  <a:pt x="93030" y="13799"/>
                </a:cubicBezTo>
              </a:path>
              <a:path w="100000" h="100000" fill="none">
                <a:moveTo>
                  <a:pt x="69018" y="40431"/>
                </a:moveTo>
                <a:lnTo>
                  <a:pt x="93030" y="13799"/>
                </a:lnTo>
                <a:lnTo>
                  <a:pt x="92217" y="66207"/>
                </a:lnTo>
              </a:path>
            </a:pathLst>
          </a:custGeom>
          <a:noFill/>
          <a:ln w="64449" cap="rnd">
            <a:solidFill>
              <a:schemeClr val="accent6">
                <a:lumMod val="60000"/>
                <a:lumOff val="40000"/>
              </a:schemeClr>
            </a:solidFill>
            <a:round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Progression curved arrow: Thread 2 to Thread 3"/>
          <p:cNvSpPr/>
          <p:nvPr/>
        </p:nvSpPr>
        <p:spPr>
          <a:xfrm>
            <a:off x="9265327" y="7543800"/>
            <a:ext cx="621792" cy="314053"/>
          </a:xfrm>
          <a:custGeom>
            <a:avLst/>
            <a:gdLst/>
            <a:ahLst/>
            <a:cxnLst/>
            <a:rect l="0" t="0" r="100000" b="100000"/>
            <a:pathLst>
              <a:path w="100000" h="100000" fill="none">
                <a:moveTo>
                  <a:pt x="6970" y="48439"/>
                </a:moveTo>
                <a:cubicBezTo>
                  <a:pt x="40678" y="114499"/>
                  <a:pt x="73026" y="88145"/>
                  <a:pt x="93030" y="13799"/>
                </a:cubicBezTo>
              </a:path>
              <a:path w="100000" h="100000" fill="none">
                <a:moveTo>
                  <a:pt x="69018" y="40431"/>
                </a:moveTo>
                <a:lnTo>
                  <a:pt x="93030" y="13799"/>
                </a:lnTo>
                <a:lnTo>
                  <a:pt x="92217" y="66207"/>
                </a:lnTo>
              </a:path>
            </a:pathLst>
          </a:custGeom>
          <a:noFill/>
          <a:ln w="64449" cap="rnd">
            <a:solidFill>
              <a:schemeClr val="accent6">
                <a:lumMod val="60000"/>
                <a:lumOff val="40000"/>
              </a:schemeClr>
            </a:solidFill>
            <a:round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100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8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4630400" cy="73152"/>
          </a:xfrm>
          <a:prstGeom prst="rect">
            <a:avLst/>
          </a:prstGeom>
          <a:solidFill>
            <a:srgbClr val="176B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20040" y="164592"/>
            <a:ext cx="13990320" cy="457200"/>
          </a:xfrm>
          <a:prstGeom prst="rect">
            <a:avLst/>
          </a:prstGeom>
          <a:noFill/>
        </p:spPr>
        <p:txBody>
          <a:bodyPr wrap="square" lIns="54864" rIns="54864" tIns="22860" bIns="22860">
            <a:spAutoFit/>
          </a:bodyPr>
          <a:lstStyle/>
          <a:p>
            <a:pPr>
              <a:lnSpc>
                <a:spcPts val="2940"/>
              </a:lnSpc>
              <a:spcBef>
                <a:spcPts val="0"/>
              </a:spcBef>
              <a:spcAft>
                <a:spcPts val="0"/>
              </a:spcAft>
              <a:defRPr sz="2800" b="1">
                <a:solidFill>
                  <a:srgbClr val="182B3A"/>
                </a:solidFill>
                <a:latin typeface="Arial"/>
              </a:defRPr>
            </a:pPr>
            <a:r>
              <a:t>Signed numbers: addition and subtraction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20040" y="704088"/>
            <a:ext cx="13990320" cy="347472"/>
          </a:xfrm>
          <a:prstGeom prst="rect">
            <a:avLst/>
          </a:prstGeom>
          <a:noFill/>
        </p:spPr>
        <p:txBody>
          <a:bodyPr wrap="square" lIns="54864" rIns="54864" tIns="22860" bIns="22860">
            <a:spAutoFit/>
          </a:bodyPr>
          <a:lstStyle/>
          <a:p>
            <a:pPr>
              <a:lnSpc>
                <a:spcPts val="1575"/>
              </a:lnSpc>
              <a:spcBef>
                <a:spcPts val="0"/>
              </a:spcBef>
              <a:spcAft>
                <a:spcPts val="0"/>
              </a:spcAft>
              <a:defRPr sz="1500" b="0">
                <a:solidFill>
                  <a:srgbClr val="526472"/>
                </a:solidFill>
                <a:latin typeface="Arial"/>
              </a:defRPr>
            </a:pPr>
            <a:r>
              <a:t>Independent practice 2 • Choose a column. Show your working and check your answers.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20040" y="7973568"/>
            <a:ext cx="10789920" cy="210312"/>
          </a:xfrm>
          <a:prstGeom prst="rect">
            <a:avLst/>
          </a:prstGeom>
          <a:noFill/>
        </p:spPr>
        <p:txBody>
          <a:bodyPr wrap="square" lIns="54864" rIns="54864" tIns="22860" bIns="22860">
            <a:spAutoFit/>
          </a:bodyPr>
          <a:lstStyle/>
          <a:p>
            <a:pPr>
              <a:lnSpc>
                <a:spcPts val="1155"/>
              </a:lnSpc>
              <a:spcBef>
                <a:spcPts val="0"/>
              </a:spcBef>
              <a:spcAft>
                <a:spcPts val="0"/>
              </a:spcAft>
              <a:defRPr sz="1100" b="0">
                <a:solidFill>
                  <a:srgbClr val="526472"/>
                </a:solidFill>
                <a:latin typeface="Arial"/>
              </a:defRPr>
            </a:pPr>
            <a:r>
              <a:t>GCSE Maths revision • No calculator • Show your working.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155680" y="7973568"/>
            <a:ext cx="3108960" cy="210312"/>
          </a:xfrm>
          <a:prstGeom prst="rect">
            <a:avLst/>
          </a:prstGeom>
          <a:noFill/>
        </p:spPr>
        <p:txBody>
          <a:bodyPr wrap="square" lIns="54864" rIns="54864" tIns="22860" bIns="22860">
            <a:spAutoFit/>
          </a:bodyPr>
          <a:lstStyle/>
          <a:p>
            <a:pPr>
              <a:lnSpc>
                <a:spcPts val="1155"/>
              </a:lnSpc>
              <a:spcBef>
                <a:spcPts val="0"/>
              </a:spcBef>
              <a:spcAft>
                <a:spcPts val="0"/>
              </a:spcAft>
              <a:defRPr sz="1100" b="0">
                <a:solidFill>
                  <a:srgbClr val="526472"/>
                </a:solidFill>
                <a:latin typeface="Arial"/>
              </a:defRPr>
            </a:pPr>
            <a:r>
              <a:t>M13-S05</a:t>
            </a:r>
          </a:p>
        </p:txBody>
      </p:sp>
      <p:sp>
        <p:nvSpPr>
          <p:cNvPr id="7" name="Rectangle 6"/>
          <p:cNvSpPr/>
          <p:nvPr/>
        </p:nvSpPr>
        <p:spPr>
          <a:xfrm>
            <a:off x="320040" y="1115568"/>
            <a:ext cx="4640580" cy="420624"/>
          </a:xfrm>
          <a:prstGeom prst="rect">
            <a:avLst/>
          </a:prstGeom>
          <a:solidFill>
            <a:srgbClr val="176B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47472" y="1147572"/>
            <a:ext cx="4581144" cy="329184"/>
          </a:xfrm>
          <a:prstGeom prst="rect">
            <a:avLst/>
          </a:prstGeom>
          <a:noFill/>
        </p:spPr>
        <p:txBody>
          <a:bodyPr wrap="square" lIns="54864" rIns="54864" tIns="22860" bIns="22860">
            <a:spAutoFit/>
          </a:bodyPr>
          <a:lstStyle/>
          <a:p>
            <a:pPr>
              <a:lnSpc>
                <a:spcPts val="1995"/>
              </a:lnSpc>
              <a:spcBef>
                <a:spcPts val="0"/>
              </a:spcBef>
              <a:spcAft>
                <a:spcPts val="0"/>
              </a:spcAft>
              <a:defRPr sz="1900" b="1">
                <a:solidFill>
                  <a:srgbClr val="FFFFFF"/>
                </a:solidFill>
                <a:latin typeface="Arial"/>
              </a:defRPr>
            </a:pPr>
            <a:r>
              <a:t>Thread 1: Guided</a:t>
            </a:r>
          </a:p>
        </p:txBody>
      </p:sp>
      <p:sp>
        <p:nvSpPr>
          <p:cNvPr id="9" name="Rectangle 8"/>
          <p:cNvSpPr/>
          <p:nvPr/>
        </p:nvSpPr>
        <p:spPr>
          <a:xfrm>
            <a:off x="4983480" y="1115568"/>
            <a:ext cx="4640580" cy="420624"/>
          </a:xfrm>
          <a:prstGeom prst="rect">
            <a:avLst/>
          </a:prstGeom>
          <a:solidFill>
            <a:srgbClr val="3559A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010912" y="1147572"/>
            <a:ext cx="4581144" cy="329184"/>
          </a:xfrm>
          <a:prstGeom prst="rect">
            <a:avLst/>
          </a:prstGeom>
          <a:noFill/>
        </p:spPr>
        <p:txBody>
          <a:bodyPr wrap="square" lIns="54864" rIns="54864" tIns="22860" bIns="22860">
            <a:spAutoFit/>
          </a:bodyPr>
          <a:lstStyle/>
          <a:p>
            <a:pPr>
              <a:lnSpc>
                <a:spcPts val="1995"/>
              </a:lnSpc>
              <a:spcBef>
                <a:spcPts val="0"/>
              </a:spcBef>
              <a:spcAft>
                <a:spcPts val="0"/>
              </a:spcAft>
              <a:defRPr sz="1900" b="1">
                <a:solidFill>
                  <a:srgbClr val="FFFFFF"/>
                </a:solidFill>
                <a:latin typeface="Arial"/>
              </a:defRPr>
            </a:pPr>
            <a:r>
              <a:t>Thread 2: Core</a:t>
            </a:r>
          </a:p>
        </p:txBody>
      </p:sp>
      <p:sp>
        <p:nvSpPr>
          <p:cNvPr id="11" name="Rectangle 10"/>
          <p:cNvSpPr/>
          <p:nvPr/>
        </p:nvSpPr>
        <p:spPr>
          <a:xfrm>
            <a:off x="9646920" y="1115568"/>
            <a:ext cx="4640580" cy="420624"/>
          </a:xfrm>
          <a:prstGeom prst="rect">
            <a:avLst/>
          </a:prstGeom>
          <a:solidFill>
            <a:srgbClr val="754B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674352" y="1147572"/>
            <a:ext cx="4581144" cy="329184"/>
          </a:xfrm>
          <a:prstGeom prst="rect">
            <a:avLst/>
          </a:prstGeom>
          <a:noFill/>
        </p:spPr>
        <p:txBody>
          <a:bodyPr wrap="square" lIns="54864" rIns="54864" tIns="22860" bIns="22860">
            <a:spAutoFit/>
          </a:bodyPr>
          <a:lstStyle/>
          <a:p>
            <a:pPr>
              <a:lnSpc>
                <a:spcPts val="1995"/>
              </a:lnSpc>
              <a:spcBef>
                <a:spcPts val="0"/>
              </a:spcBef>
              <a:spcAft>
                <a:spcPts val="0"/>
              </a:spcAft>
              <a:defRPr sz="1900" b="1">
                <a:solidFill>
                  <a:srgbClr val="FFFFFF"/>
                </a:solidFill>
                <a:latin typeface="Arial"/>
              </a:defRPr>
            </a:pPr>
            <a:r>
              <a:t>Thread 3: Depth</a:t>
            </a:r>
          </a:p>
        </p:txBody>
      </p:sp>
      <p:sp>
        <p:nvSpPr>
          <p:cNvPr id="13" name="Rectangle 12"/>
          <p:cNvSpPr/>
          <p:nvPr/>
        </p:nvSpPr>
        <p:spPr>
          <a:xfrm>
            <a:off x="320040" y="1581912"/>
            <a:ext cx="4640580" cy="1005840"/>
          </a:xfrm>
          <a:prstGeom prst="rect">
            <a:avLst/>
          </a:prstGeom>
          <a:solidFill>
            <a:srgbClr val="FFFFFF"/>
          </a:solidFill>
          <a:ln w="7620">
            <a:solidFill>
              <a:srgbClr val="D8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11479" y="1819656"/>
            <a:ext cx="4453128" cy="548640"/>
          </a:xfrm>
          <a:prstGeom prst="rect">
            <a:avLst/>
          </a:prstGeom>
          <a:noFill/>
        </p:spPr>
        <p:txBody>
          <a:bodyPr wrap="square" lIns="54864" rIns="54864" tIns="22860" bIns="22860">
            <a:spAutoFit/>
          </a:bodyPr>
          <a:lstStyle/>
          <a:p>
            <a:pPr>
              <a:lnSpc>
                <a:spcPts val="2730"/>
              </a:lnSpc>
              <a:spcBef>
                <a:spcPts val="0"/>
              </a:spcBef>
              <a:spcAft>
                <a:spcPts val="0"/>
              </a:spcAft>
              <a:defRPr sz="2600" b="0">
                <a:solidFill>
                  <a:srgbClr val="182B3A"/>
                </a:solidFill>
                <a:latin typeface="Arial"/>
              </a:defRPr>
            </a:pPr>
            <a:r>
              <a:t>1.  −4 − 6</a:t>
            </a:r>
          </a:p>
        </p:txBody>
      </p:sp>
      <p:sp>
        <p:nvSpPr>
          <p:cNvPr id="15" name="Rectangle 14"/>
          <p:cNvSpPr/>
          <p:nvPr/>
        </p:nvSpPr>
        <p:spPr>
          <a:xfrm>
            <a:off x="4983480" y="1581912"/>
            <a:ext cx="4640580" cy="1005840"/>
          </a:xfrm>
          <a:prstGeom prst="rect">
            <a:avLst/>
          </a:prstGeom>
          <a:solidFill>
            <a:srgbClr val="FFFFFF"/>
          </a:solidFill>
          <a:ln w="7620">
            <a:solidFill>
              <a:srgbClr val="D8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074920" y="1819656"/>
            <a:ext cx="4453128" cy="548640"/>
          </a:xfrm>
          <a:prstGeom prst="rect">
            <a:avLst/>
          </a:prstGeom>
          <a:noFill/>
        </p:spPr>
        <p:txBody>
          <a:bodyPr wrap="square" lIns="54864" rIns="54864" tIns="22860" bIns="22860">
            <a:spAutoFit/>
          </a:bodyPr>
          <a:lstStyle/>
          <a:p>
            <a:pPr>
              <a:lnSpc>
                <a:spcPts val="2730"/>
              </a:lnSpc>
              <a:spcBef>
                <a:spcPts val="0"/>
              </a:spcBef>
              <a:spcAft>
                <a:spcPts val="0"/>
              </a:spcAft>
              <a:defRPr sz="2600" b="0">
                <a:solidFill>
                  <a:srgbClr val="182B3A"/>
                </a:solidFill>
                <a:latin typeface="Arial"/>
              </a:defRPr>
            </a:pPr>
            <a:r>
              <a:t>1.  9 − (−4)</a:t>
            </a:r>
          </a:p>
        </p:txBody>
      </p:sp>
      <p:sp>
        <p:nvSpPr>
          <p:cNvPr id="17" name="Rectangle 16"/>
          <p:cNvSpPr/>
          <p:nvPr/>
        </p:nvSpPr>
        <p:spPr>
          <a:xfrm>
            <a:off x="9646920" y="1581912"/>
            <a:ext cx="4640580" cy="1005840"/>
          </a:xfrm>
          <a:prstGeom prst="rect">
            <a:avLst/>
          </a:prstGeom>
          <a:solidFill>
            <a:srgbClr val="FFFFFF"/>
          </a:solidFill>
          <a:ln w="7620">
            <a:solidFill>
              <a:srgbClr val="D8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9738360" y="1819656"/>
            <a:ext cx="4453128" cy="548640"/>
          </a:xfrm>
          <a:prstGeom prst="rect">
            <a:avLst/>
          </a:prstGeom>
          <a:noFill/>
        </p:spPr>
        <p:txBody>
          <a:bodyPr wrap="square" lIns="54864" rIns="54864" tIns="22860" bIns="22860">
            <a:spAutoFit/>
          </a:bodyPr>
          <a:lstStyle/>
          <a:p>
            <a:pPr>
              <a:lnSpc>
                <a:spcPts val="2730"/>
              </a:lnSpc>
              <a:spcBef>
                <a:spcPts val="0"/>
              </a:spcBef>
              <a:spcAft>
                <a:spcPts val="0"/>
              </a:spcAft>
              <a:defRPr sz="2600" b="0">
                <a:solidFill>
                  <a:srgbClr val="182B3A"/>
                </a:solidFill>
                <a:latin typeface="Arial"/>
              </a:defRPr>
            </a:pPr>
            <a:r>
              <a:t>1.  −6 + 9 + (−4)</a:t>
            </a:r>
          </a:p>
        </p:txBody>
      </p:sp>
      <p:sp>
        <p:nvSpPr>
          <p:cNvPr id="19" name="Rectangle 18"/>
          <p:cNvSpPr/>
          <p:nvPr/>
        </p:nvSpPr>
        <p:spPr>
          <a:xfrm>
            <a:off x="320040" y="2587752"/>
            <a:ext cx="4640580" cy="1005840"/>
          </a:xfrm>
          <a:prstGeom prst="rect">
            <a:avLst/>
          </a:prstGeom>
          <a:solidFill>
            <a:srgbClr val="EDF6F5"/>
          </a:solidFill>
          <a:ln w="7620">
            <a:solidFill>
              <a:srgbClr val="D8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411479" y="2825496"/>
            <a:ext cx="4453128" cy="548640"/>
          </a:xfrm>
          <a:prstGeom prst="rect">
            <a:avLst/>
          </a:prstGeom>
          <a:noFill/>
        </p:spPr>
        <p:txBody>
          <a:bodyPr wrap="square" lIns="54864" rIns="54864" tIns="22860" bIns="22860">
            <a:spAutoFit/>
          </a:bodyPr>
          <a:lstStyle/>
          <a:p>
            <a:pPr>
              <a:lnSpc>
                <a:spcPts val="2730"/>
              </a:lnSpc>
              <a:spcBef>
                <a:spcPts val="0"/>
              </a:spcBef>
              <a:spcAft>
                <a:spcPts val="0"/>
              </a:spcAft>
              <a:defRPr sz="2600" b="0">
                <a:solidFill>
                  <a:srgbClr val="182B3A"/>
                </a:solidFill>
                <a:latin typeface="Arial"/>
              </a:defRPr>
            </a:pPr>
            <a:r>
              <a:t>2.  −11 + 11</a:t>
            </a:r>
          </a:p>
        </p:txBody>
      </p:sp>
      <p:sp>
        <p:nvSpPr>
          <p:cNvPr id="21" name="Rectangle 20"/>
          <p:cNvSpPr/>
          <p:nvPr/>
        </p:nvSpPr>
        <p:spPr>
          <a:xfrm>
            <a:off x="4983480" y="2587752"/>
            <a:ext cx="4640580" cy="1005840"/>
          </a:xfrm>
          <a:prstGeom prst="rect">
            <a:avLst/>
          </a:prstGeom>
          <a:solidFill>
            <a:srgbClr val="EFF3FA"/>
          </a:solidFill>
          <a:ln w="7620">
            <a:solidFill>
              <a:srgbClr val="D8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5074920" y="2825496"/>
            <a:ext cx="4453128" cy="548640"/>
          </a:xfrm>
          <a:prstGeom prst="rect">
            <a:avLst/>
          </a:prstGeom>
          <a:noFill/>
        </p:spPr>
        <p:txBody>
          <a:bodyPr wrap="square" lIns="54864" rIns="54864" tIns="22860" bIns="22860">
            <a:spAutoFit/>
          </a:bodyPr>
          <a:lstStyle/>
          <a:p>
            <a:pPr>
              <a:lnSpc>
                <a:spcPts val="2730"/>
              </a:lnSpc>
              <a:spcBef>
                <a:spcPts val="0"/>
              </a:spcBef>
              <a:spcAft>
                <a:spcPts val="0"/>
              </a:spcAft>
              <a:defRPr sz="2600" b="0">
                <a:solidFill>
                  <a:srgbClr val="182B3A"/>
                </a:solidFill>
                <a:latin typeface="Arial"/>
              </a:defRPr>
            </a:pPr>
            <a:r>
              <a:t>2.  −6 + (−7)</a:t>
            </a:r>
          </a:p>
        </p:txBody>
      </p:sp>
      <p:sp>
        <p:nvSpPr>
          <p:cNvPr id="23" name="Rectangle 22"/>
          <p:cNvSpPr/>
          <p:nvPr/>
        </p:nvSpPr>
        <p:spPr>
          <a:xfrm>
            <a:off x="9646920" y="2587752"/>
            <a:ext cx="4640580" cy="1005840"/>
          </a:xfrm>
          <a:prstGeom prst="rect">
            <a:avLst/>
          </a:prstGeom>
          <a:solidFill>
            <a:srgbClr val="F5F0F7"/>
          </a:solidFill>
          <a:ln w="7620">
            <a:solidFill>
              <a:srgbClr val="D8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9738360" y="2825496"/>
            <a:ext cx="4453128" cy="548640"/>
          </a:xfrm>
          <a:prstGeom prst="rect">
            <a:avLst/>
          </a:prstGeom>
          <a:noFill/>
        </p:spPr>
        <p:txBody>
          <a:bodyPr wrap="square" lIns="54864" rIns="54864" tIns="22860" bIns="22860">
            <a:spAutoFit/>
          </a:bodyPr>
          <a:lstStyle/>
          <a:p>
            <a:pPr>
              <a:lnSpc>
                <a:spcPts val="2730"/>
              </a:lnSpc>
              <a:spcBef>
                <a:spcPts val="0"/>
              </a:spcBef>
              <a:spcAft>
                <a:spcPts val="0"/>
              </a:spcAft>
              <a:defRPr sz="2600" b="0">
                <a:solidFill>
                  <a:srgbClr val="182B3A"/>
                </a:solidFill>
                <a:latin typeface="Arial"/>
              </a:defRPr>
            </a:pPr>
            <a:r>
              <a:t>2.  4 − (−6) + (−10)</a:t>
            </a:r>
          </a:p>
        </p:txBody>
      </p:sp>
      <p:sp>
        <p:nvSpPr>
          <p:cNvPr id="25" name="Rectangle 24"/>
          <p:cNvSpPr/>
          <p:nvPr/>
        </p:nvSpPr>
        <p:spPr>
          <a:xfrm>
            <a:off x="320040" y="3593592"/>
            <a:ext cx="4640580" cy="1005840"/>
          </a:xfrm>
          <a:prstGeom prst="rect">
            <a:avLst/>
          </a:prstGeom>
          <a:solidFill>
            <a:srgbClr val="FFFFFF"/>
          </a:solidFill>
          <a:ln w="7620">
            <a:solidFill>
              <a:srgbClr val="D8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411479" y="3831336"/>
            <a:ext cx="4453128" cy="548640"/>
          </a:xfrm>
          <a:prstGeom prst="rect">
            <a:avLst/>
          </a:prstGeom>
          <a:noFill/>
        </p:spPr>
        <p:txBody>
          <a:bodyPr wrap="square" lIns="54864" rIns="54864" tIns="22860" bIns="22860">
            <a:spAutoFit/>
          </a:bodyPr>
          <a:lstStyle/>
          <a:p>
            <a:pPr>
              <a:lnSpc>
                <a:spcPts val="2730"/>
              </a:lnSpc>
              <a:spcBef>
                <a:spcPts val="0"/>
              </a:spcBef>
              <a:spcAft>
                <a:spcPts val="0"/>
              </a:spcAft>
              <a:defRPr sz="2600" b="0">
                <a:solidFill>
                  <a:srgbClr val="182B3A"/>
                </a:solidFill>
                <a:latin typeface="Arial"/>
              </a:defRPr>
            </a:pPr>
            <a:r>
              <a:t>3.  6 − 15</a:t>
            </a:r>
          </a:p>
        </p:txBody>
      </p:sp>
      <p:sp>
        <p:nvSpPr>
          <p:cNvPr id="27" name="Rectangle 26"/>
          <p:cNvSpPr/>
          <p:nvPr/>
        </p:nvSpPr>
        <p:spPr>
          <a:xfrm>
            <a:off x="4983480" y="3593592"/>
            <a:ext cx="4640580" cy="1005840"/>
          </a:xfrm>
          <a:prstGeom prst="rect">
            <a:avLst/>
          </a:prstGeom>
          <a:solidFill>
            <a:srgbClr val="FFFFFF"/>
          </a:solidFill>
          <a:ln w="7620">
            <a:solidFill>
              <a:srgbClr val="D8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5074920" y="3831336"/>
            <a:ext cx="4453128" cy="548640"/>
          </a:xfrm>
          <a:prstGeom prst="rect">
            <a:avLst/>
          </a:prstGeom>
          <a:noFill/>
        </p:spPr>
        <p:txBody>
          <a:bodyPr wrap="square" lIns="54864" rIns="54864" tIns="22860" bIns="22860">
            <a:spAutoFit/>
          </a:bodyPr>
          <a:lstStyle/>
          <a:p>
            <a:pPr>
              <a:lnSpc>
                <a:spcPts val="2730"/>
              </a:lnSpc>
              <a:spcBef>
                <a:spcPts val="0"/>
              </a:spcBef>
              <a:spcAft>
                <a:spcPts val="0"/>
              </a:spcAft>
              <a:defRPr sz="2600" b="0">
                <a:solidFill>
                  <a:srgbClr val="182B3A"/>
                </a:solidFill>
                <a:latin typeface="Arial"/>
              </a:defRPr>
            </a:pPr>
            <a:r>
              <a:t>3.  0 − (−9)</a:t>
            </a:r>
          </a:p>
        </p:txBody>
      </p:sp>
      <p:sp>
        <p:nvSpPr>
          <p:cNvPr id="29" name="Rectangle 28"/>
          <p:cNvSpPr/>
          <p:nvPr/>
        </p:nvSpPr>
        <p:spPr>
          <a:xfrm>
            <a:off x="9646920" y="3593592"/>
            <a:ext cx="4640580" cy="1005840"/>
          </a:xfrm>
          <a:prstGeom prst="rect">
            <a:avLst/>
          </a:prstGeom>
          <a:solidFill>
            <a:srgbClr val="FFFFFF"/>
          </a:solidFill>
          <a:ln w="7620">
            <a:solidFill>
              <a:srgbClr val="D8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9738360" y="3831336"/>
            <a:ext cx="4453128" cy="548640"/>
          </a:xfrm>
          <a:prstGeom prst="rect">
            <a:avLst/>
          </a:prstGeom>
          <a:noFill/>
        </p:spPr>
        <p:txBody>
          <a:bodyPr wrap="square" lIns="54864" rIns="54864" tIns="22860" bIns="22860">
            <a:spAutoFit/>
          </a:bodyPr>
          <a:lstStyle/>
          <a:p>
            <a:pPr>
              <a:lnSpc>
                <a:spcPts val="2730"/>
              </a:lnSpc>
              <a:spcBef>
                <a:spcPts val="0"/>
              </a:spcBef>
              <a:spcAft>
                <a:spcPts val="0"/>
              </a:spcAft>
              <a:defRPr sz="2600" b="0">
                <a:solidFill>
                  <a:srgbClr val="182B3A"/>
                </a:solidFill>
                <a:latin typeface="Arial"/>
              </a:defRPr>
            </a:pPr>
            <a:r>
              <a:t>3.  7 − 10 − (−5)</a:t>
            </a:r>
          </a:p>
        </p:txBody>
      </p:sp>
      <p:sp>
        <p:nvSpPr>
          <p:cNvPr id="31" name="Rectangle 30"/>
          <p:cNvSpPr/>
          <p:nvPr/>
        </p:nvSpPr>
        <p:spPr>
          <a:xfrm>
            <a:off x="320040" y="4599432"/>
            <a:ext cx="4640580" cy="1005840"/>
          </a:xfrm>
          <a:prstGeom prst="rect">
            <a:avLst/>
          </a:prstGeom>
          <a:solidFill>
            <a:srgbClr val="EDF6F5"/>
          </a:solidFill>
          <a:ln w="7620">
            <a:solidFill>
              <a:srgbClr val="D8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411479" y="4837176"/>
            <a:ext cx="4453128" cy="548640"/>
          </a:xfrm>
          <a:prstGeom prst="rect">
            <a:avLst/>
          </a:prstGeom>
          <a:noFill/>
        </p:spPr>
        <p:txBody>
          <a:bodyPr wrap="square" lIns="54864" rIns="54864" tIns="22860" bIns="22860">
            <a:spAutoFit/>
          </a:bodyPr>
          <a:lstStyle/>
          <a:p>
            <a:pPr>
              <a:lnSpc>
                <a:spcPts val="2730"/>
              </a:lnSpc>
              <a:spcBef>
                <a:spcPts val="0"/>
              </a:spcBef>
              <a:spcAft>
                <a:spcPts val="0"/>
              </a:spcAft>
              <a:defRPr sz="2600" b="0">
                <a:solidFill>
                  <a:srgbClr val="182B3A"/>
                </a:solidFill>
                <a:latin typeface="Arial"/>
              </a:defRPr>
            </a:pPr>
            <a:r>
              <a:t>4.  −7 + 10</a:t>
            </a:r>
          </a:p>
        </p:txBody>
      </p:sp>
      <p:sp>
        <p:nvSpPr>
          <p:cNvPr id="33" name="Rectangle 32"/>
          <p:cNvSpPr/>
          <p:nvPr/>
        </p:nvSpPr>
        <p:spPr>
          <a:xfrm>
            <a:off x="4983480" y="4599432"/>
            <a:ext cx="4640580" cy="1005840"/>
          </a:xfrm>
          <a:prstGeom prst="rect">
            <a:avLst/>
          </a:prstGeom>
          <a:solidFill>
            <a:srgbClr val="EFF3FA"/>
          </a:solidFill>
          <a:ln w="7620">
            <a:solidFill>
              <a:srgbClr val="D8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5074920" y="4837176"/>
            <a:ext cx="4453128" cy="548640"/>
          </a:xfrm>
          <a:prstGeom prst="rect">
            <a:avLst/>
          </a:prstGeom>
          <a:noFill/>
        </p:spPr>
        <p:txBody>
          <a:bodyPr wrap="square" lIns="54864" rIns="54864" tIns="22860" bIns="22860">
            <a:spAutoFit/>
          </a:bodyPr>
          <a:lstStyle/>
          <a:p>
            <a:pPr>
              <a:lnSpc>
                <a:spcPts val="2730"/>
              </a:lnSpc>
              <a:spcBef>
                <a:spcPts val="0"/>
              </a:spcBef>
              <a:spcAft>
                <a:spcPts val="0"/>
              </a:spcAft>
              <a:defRPr sz="2600" b="0">
                <a:solidFill>
                  <a:srgbClr val="182B3A"/>
                </a:solidFill>
                <a:latin typeface="Arial"/>
              </a:defRPr>
            </a:pPr>
            <a:r>
              <a:t>4.  3 + (−8)</a:t>
            </a:r>
          </a:p>
        </p:txBody>
      </p:sp>
      <p:sp>
        <p:nvSpPr>
          <p:cNvPr id="35" name="Rectangle 34"/>
          <p:cNvSpPr/>
          <p:nvPr/>
        </p:nvSpPr>
        <p:spPr>
          <a:xfrm>
            <a:off x="9646920" y="4599432"/>
            <a:ext cx="4640580" cy="1005840"/>
          </a:xfrm>
          <a:prstGeom prst="rect">
            <a:avLst/>
          </a:prstGeom>
          <a:solidFill>
            <a:srgbClr val="F5F0F7"/>
          </a:solidFill>
          <a:ln w="7620">
            <a:solidFill>
              <a:srgbClr val="D8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9738360" y="4837176"/>
            <a:ext cx="4453128" cy="548640"/>
          </a:xfrm>
          <a:prstGeom prst="rect">
            <a:avLst/>
          </a:prstGeom>
          <a:noFill/>
        </p:spPr>
        <p:txBody>
          <a:bodyPr wrap="square" lIns="54864" rIns="54864" tIns="22860" bIns="22860">
            <a:spAutoFit/>
          </a:bodyPr>
          <a:lstStyle/>
          <a:p>
            <a:pPr>
              <a:lnSpc>
                <a:spcPts val="2730"/>
              </a:lnSpc>
              <a:spcBef>
                <a:spcPts val="0"/>
              </a:spcBef>
              <a:spcAft>
                <a:spcPts val="0"/>
              </a:spcAft>
              <a:defRPr sz="2600" b="0">
                <a:solidFill>
                  <a:srgbClr val="182B3A"/>
                </a:solidFill>
                <a:latin typeface="Arial"/>
              </a:defRPr>
            </a:pPr>
            <a:r>
              <a:t>4.  −8 − (−2) − 1</a:t>
            </a:r>
          </a:p>
        </p:txBody>
      </p:sp>
      <p:sp>
        <p:nvSpPr>
          <p:cNvPr id="37" name="Rectangle 36"/>
          <p:cNvSpPr/>
          <p:nvPr/>
        </p:nvSpPr>
        <p:spPr>
          <a:xfrm>
            <a:off x="320040" y="5605272"/>
            <a:ext cx="4640580" cy="1005840"/>
          </a:xfrm>
          <a:prstGeom prst="rect">
            <a:avLst/>
          </a:prstGeom>
          <a:solidFill>
            <a:srgbClr val="FFFFFF"/>
          </a:solidFill>
          <a:ln w="7620">
            <a:solidFill>
              <a:srgbClr val="D8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411479" y="5843016"/>
            <a:ext cx="4453128" cy="548640"/>
          </a:xfrm>
          <a:prstGeom prst="rect">
            <a:avLst/>
          </a:prstGeom>
          <a:noFill/>
        </p:spPr>
        <p:txBody>
          <a:bodyPr wrap="square" lIns="54864" rIns="54864" tIns="22860" bIns="22860">
            <a:spAutoFit/>
          </a:bodyPr>
          <a:lstStyle/>
          <a:p>
            <a:pPr>
              <a:lnSpc>
                <a:spcPts val="2730"/>
              </a:lnSpc>
              <a:spcBef>
                <a:spcPts val="0"/>
              </a:spcBef>
              <a:spcAft>
                <a:spcPts val="0"/>
              </a:spcAft>
              <a:defRPr sz="2600" b="0">
                <a:solidFill>
                  <a:srgbClr val="182B3A"/>
                </a:solidFill>
                <a:latin typeface="Arial"/>
              </a:defRPr>
            </a:pPr>
            <a:r>
              <a:t>5.  −8 + 3</a:t>
            </a:r>
          </a:p>
        </p:txBody>
      </p:sp>
      <p:sp>
        <p:nvSpPr>
          <p:cNvPr id="39" name="Rectangle 38"/>
          <p:cNvSpPr/>
          <p:nvPr/>
        </p:nvSpPr>
        <p:spPr>
          <a:xfrm>
            <a:off x="4983480" y="5605272"/>
            <a:ext cx="4640580" cy="1005840"/>
          </a:xfrm>
          <a:prstGeom prst="rect">
            <a:avLst/>
          </a:prstGeom>
          <a:solidFill>
            <a:srgbClr val="FFFFFF"/>
          </a:solidFill>
          <a:ln w="7620">
            <a:solidFill>
              <a:srgbClr val="D8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5074920" y="5843016"/>
            <a:ext cx="4453128" cy="548640"/>
          </a:xfrm>
          <a:prstGeom prst="rect">
            <a:avLst/>
          </a:prstGeom>
          <a:noFill/>
        </p:spPr>
        <p:txBody>
          <a:bodyPr wrap="square" lIns="54864" rIns="54864" tIns="22860" bIns="22860">
            <a:spAutoFit/>
          </a:bodyPr>
          <a:lstStyle/>
          <a:p>
            <a:pPr>
              <a:lnSpc>
                <a:spcPts val="2730"/>
              </a:lnSpc>
              <a:spcBef>
                <a:spcPts val="0"/>
              </a:spcBef>
              <a:spcAft>
                <a:spcPts val="0"/>
              </a:spcAft>
              <a:defRPr sz="2600" b="0">
                <a:solidFill>
                  <a:srgbClr val="182B3A"/>
                </a:solidFill>
                <a:latin typeface="Arial"/>
              </a:defRPr>
            </a:pPr>
            <a:r>
              <a:t>5.  −3 − (−8)</a:t>
            </a:r>
          </a:p>
        </p:txBody>
      </p:sp>
      <p:sp>
        <p:nvSpPr>
          <p:cNvPr id="41" name="Rectangle 40"/>
          <p:cNvSpPr/>
          <p:nvPr/>
        </p:nvSpPr>
        <p:spPr>
          <a:xfrm>
            <a:off x="9646920" y="5605272"/>
            <a:ext cx="4640580" cy="1005840"/>
          </a:xfrm>
          <a:prstGeom prst="rect">
            <a:avLst/>
          </a:prstGeom>
          <a:solidFill>
            <a:srgbClr val="FFFFFF"/>
          </a:solidFill>
          <a:ln w="7620">
            <a:solidFill>
              <a:srgbClr val="D8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9738360" y="5843016"/>
            <a:ext cx="4453128" cy="548640"/>
          </a:xfrm>
          <a:prstGeom prst="rect">
            <a:avLst/>
          </a:prstGeom>
          <a:noFill/>
        </p:spPr>
        <p:txBody>
          <a:bodyPr wrap="square" lIns="54864" rIns="54864" tIns="22860" bIns="22860">
            <a:spAutoFit/>
          </a:bodyPr>
          <a:lstStyle/>
          <a:p>
            <a:pPr>
              <a:lnSpc>
                <a:spcPts val="2730"/>
              </a:lnSpc>
              <a:spcBef>
                <a:spcPts val="0"/>
              </a:spcBef>
              <a:spcAft>
                <a:spcPts val="0"/>
              </a:spcAft>
              <a:defRPr sz="2600" b="0">
                <a:solidFill>
                  <a:srgbClr val="182B3A"/>
                </a:solidFill>
                <a:latin typeface="Arial"/>
              </a:defRPr>
            </a:pPr>
            <a:r>
              <a:t>5.  −9 + 5 − (−7)</a:t>
            </a:r>
          </a:p>
        </p:txBody>
      </p:sp>
      <p:sp>
        <p:nvSpPr>
          <p:cNvPr id="43" name="Rectangle 42"/>
          <p:cNvSpPr/>
          <p:nvPr/>
        </p:nvSpPr>
        <p:spPr>
          <a:xfrm>
            <a:off x="320040" y="6611112"/>
            <a:ext cx="4640580" cy="1005840"/>
          </a:xfrm>
          <a:prstGeom prst="rect">
            <a:avLst/>
          </a:prstGeom>
          <a:solidFill>
            <a:srgbClr val="EDF6F5"/>
          </a:solidFill>
          <a:ln w="7620">
            <a:solidFill>
              <a:srgbClr val="D8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411479" y="6848856"/>
            <a:ext cx="4453128" cy="548640"/>
          </a:xfrm>
          <a:prstGeom prst="rect">
            <a:avLst/>
          </a:prstGeom>
          <a:noFill/>
        </p:spPr>
        <p:txBody>
          <a:bodyPr wrap="square" lIns="54864" rIns="54864" tIns="22860" bIns="22860">
            <a:spAutoFit/>
          </a:bodyPr>
          <a:lstStyle/>
          <a:p>
            <a:pPr>
              <a:lnSpc>
                <a:spcPts val="2730"/>
              </a:lnSpc>
              <a:spcBef>
                <a:spcPts val="0"/>
              </a:spcBef>
              <a:spcAft>
                <a:spcPts val="0"/>
              </a:spcAft>
              <a:defRPr sz="2600" b="0">
                <a:solidFill>
                  <a:srgbClr val="182B3A"/>
                </a:solidFill>
                <a:latin typeface="Arial"/>
              </a:defRPr>
            </a:pPr>
            <a:r>
              <a:t>6.  5 − 12</a:t>
            </a:r>
          </a:p>
        </p:txBody>
      </p:sp>
      <p:sp>
        <p:nvSpPr>
          <p:cNvPr id="45" name="Rectangle 44"/>
          <p:cNvSpPr/>
          <p:nvPr/>
        </p:nvSpPr>
        <p:spPr>
          <a:xfrm>
            <a:off x="4983480" y="6611112"/>
            <a:ext cx="4640580" cy="1005840"/>
          </a:xfrm>
          <a:prstGeom prst="rect">
            <a:avLst/>
          </a:prstGeom>
          <a:solidFill>
            <a:srgbClr val="EFF3FA"/>
          </a:solidFill>
          <a:ln w="7620">
            <a:solidFill>
              <a:srgbClr val="D8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5074920" y="6848856"/>
            <a:ext cx="4453128" cy="548640"/>
          </a:xfrm>
          <a:prstGeom prst="rect">
            <a:avLst/>
          </a:prstGeom>
          <a:noFill/>
        </p:spPr>
        <p:txBody>
          <a:bodyPr wrap="square" lIns="54864" rIns="54864" tIns="22860" bIns="22860">
            <a:spAutoFit/>
          </a:bodyPr>
          <a:lstStyle/>
          <a:p>
            <a:pPr>
              <a:lnSpc>
                <a:spcPts val="2730"/>
              </a:lnSpc>
              <a:spcBef>
                <a:spcPts val="0"/>
              </a:spcBef>
              <a:spcAft>
                <a:spcPts val="0"/>
              </a:spcAft>
              <a:defRPr sz="2600" b="0">
                <a:solidFill>
                  <a:srgbClr val="182B3A"/>
                </a:solidFill>
                <a:latin typeface="Arial"/>
              </a:defRPr>
            </a:pPr>
            <a:r>
              <a:t>6.  −10 − (−6)</a:t>
            </a:r>
          </a:p>
        </p:txBody>
      </p:sp>
      <p:sp>
        <p:nvSpPr>
          <p:cNvPr id="47" name="Rectangle 46"/>
          <p:cNvSpPr/>
          <p:nvPr/>
        </p:nvSpPr>
        <p:spPr>
          <a:xfrm>
            <a:off x="9646920" y="6611112"/>
            <a:ext cx="4640580" cy="1005840"/>
          </a:xfrm>
          <a:prstGeom prst="rect">
            <a:avLst/>
          </a:prstGeom>
          <a:solidFill>
            <a:srgbClr val="F5F0F7"/>
          </a:solidFill>
          <a:ln w="7620">
            <a:solidFill>
              <a:srgbClr val="D8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9738360" y="6848856"/>
            <a:ext cx="4453128" cy="548640"/>
          </a:xfrm>
          <a:prstGeom prst="rect">
            <a:avLst/>
          </a:prstGeom>
          <a:noFill/>
        </p:spPr>
        <p:txBody>
          <a:bodyPr wrap="square" lIns="54864" rIns="54864" tIns="22860" bIns="22860">
            <a:spAutoFit/>
          </a:bodyPr>
          <a:lstStyle/>
          <a:p>
            <a:pPr>
              <a:lnSpc>
                <a:spcPts val="2730"/>
              </a:lnSpc>
              <a:spcBef>
                <a:spcPts val="0"/>
              </a:spcBef>
              <a:spcAft>
                <a:spcPts val="0"/>
              </a:spcAft>
              <a:defRPr sz="2600" b="0">
                <a:solidFill>
                  <a:srgbClr val="182B3A"/>
                </a:solidFill>
                <a:latin typeface="Arial"/>
              </a:defRPr>
            </a:pPr>
            <a:r>
              <a:t>6.  5 + (−12) + 3</a:t>
            </a:r>
          </a:p>
        </p:txBody>
      </p:sp>
      <p:sp>
        <p:nvSpPr>
          <p:cNvPr id="49" name="Progression curved arrow: Thread 1 to Thread 2"/>
          <p:cNvSpPr/>
          <p:nvPr/>
        </p:nvSpPr>
        <p:spPr>
          <a:xfrm>
            <a:off x="4649723" y="7552294"/>
            <a:ext cx="621792" cy="314053"/>
          </a:xfrm>
          <a:custGeom>
            <a:avLst/>
            <a:gdLst/>
            <a:ahLst/>
            <a:cxnLst/>
            <a:rect l="0" t="0" r="100000" b="100000"/>
            <a:pathLst>
              <a:path w="100000" h="100000" fill="none">
                <a:moveTo>
                  <a:pt x="6970" y="48439"/>
                </a:moveTo>
                <a:cubicBezTo>
                  <a:pt x="40678" y="114499"/>
                  <a:pt x="73026" y="88145"/>
                  <a:pt x="93030" y="13799"/>
                </a:cubicBezTo>
              </a:path>
              <a:path w="100000" h="100000" fill="none">
                <a:moveTo>
                  <a:pt x="69018" y="40431"/>
                </a:moveTo>
                <a:lnTo>
                  <a:pt x="93030" y="13799"/>
                </a:lnTo>
                <a:lnTo>
                  <a:pt x="92217" y="66207"/>
                </a:lnTo>
              </a:path>
            </a:pathLst>
          </a:custGeom>
          <a:noFill/>
          <a:ln w="64449" cap="rnd">
            <a:solidFill>
              <a:schemeClr val="accent6">
                <a:lumMod val="60000"/>
                <a:lumOff val="40000"/>
              </a:schemeClr>
            </a:solidFill>
            <a:round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Progression curved arrow: Thread 2 to Thread 3"/>
          <p:cNvSpPr/>
          <p:nvPr/>
        </p:nvSpPr>
        <p:spPr>
          <a:xfrm>
            <a:off x="9265327" y="7543800"/>
            <a:ext cx="621792" cy="314053"/>
          </a:xfrm>
          <a:custGeom>
            <a:avLst/>
            <a:gdLst/>
            <a:ahLst/>
            <a:cxnLst/>
            <a:rect l="0" t="0" r="100000" b="100000"/>
            <a:pathLst>
              <a:path w="100000" h="100000" fill="none">
                <a:moveTo>
                  <a:pt x="6970" y="48439"/>
                </a:moveTo>
                <a:cubicBezTo>
                  <a:pt x="40678" y="114499"/>
                  <a:pt x="73026" y="88145"/>
                  <a:pt x="93030" y="13799"/>
                </a:cubicBezTo>
              </a:path>
              <a:path w="100000" h="100000" fill="none">
                <a:moveTo>
                  <a:pt x="69018" y="40431"/>
                </a:moveTo>
                <a:lnTo>
                  <a:pt x="93030" y="13799"/>
                </a:lnTo>
                <a:lnTo>
                  <a:pt x="92217" y="66207"/>
                </a:lnTo>
              </a:path>
            </a:pathLst>
          </a:custGeom>
          <a:noFill/>
          <a:ln w="64449" cap="rnd">
            <a:solidFill>
              <a:schemeClr val="accent6">
                <a:lumMod val="60000"/>
                <a:lumOff val="40000"/>
              </a:schemeClr>
            </a:solidFill>
            <a:round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100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8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4630400" cy="73152"/>
          </a:xfrm>
          <a:prstGeom prst="rect">
            <a:avLst/>
          </a:prstGeom>
          <a:solidFill>
            <a:srgbClr val="176B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20040" y="164592"/>
            <a:ext cx="13990320" cy="457200"/>
          </a:xfrm>
          <a:prstGeom prst="rect">
            <a:avLst/>
          </a:prstGeom>
          <a:noFill/>
        </p:spPr>
        <p:txBody>
          <a:bodyPr wrap="square" lIns="54864" rIns="54864" tIns="22860" bIns="22860">
            <a:spAutoFit/>
          </a:bodyPr>
          <a:lstStyle/>
          <a:p>
            <a:pPr>
              <a:lnSpc>
                <a:spcPts val="2940"/>
              </a:lnSpc>
              <a:spcBef>
                <a:spcPts val="0"/>
              </a:spcBef>
              <a:spcAft>
                <a:spcPts val="0"/>
              </a:spcAft>
              <a:defRPr sz="2800" b="1">
                <a:solidFill>
                  <a:srgbClr val="182B3A"/>
                </a:solidFill>
                <a:latin typeface="Arial"/>
              </a:defRPr>
            </a:pPr>
            <a:r>
              <a:t>Signed numbers: addition and subtraction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20040" y="704088"/>
            <a:ext cx="13990320" cy="347472"/>
          </a:xfrm>
          <a:prstGeom prst="rect">
            <a:avLst/>
          </a:prstGeom>
          <a:noFill/>
        </p:spPr>
        <p:txBody>
          <a:bodyPr wrap="square" lIns="54864" rIns="54864" tIns="22860" bIns="22860">
            <a:spAutoFit/>
          </a:bodyPr>
          <a:lstStyle/>
          <a:p>
            <a:pPr>
              <a:lnSpc>
                <a:spcPts val="1575"/>
              </a:lnSpc>
              <a:spcBef>
                <a:spcPts val="0"/>
              </a:spcBef>
              <a:spcAft>
                <a:spcPts val="0"/>
              </a:spcAft>
              <a:defRPr sz="1500" b="0">
                <a:solidFill>
                  <a:srgbClr val="526472"/>
                </a:solidFill>
                <a:latin typeface="Arial"/>
              </a:defRPr>
            </a:pPr>
            <a:r>
              <a:t>Independent practice 3 • Choose a column. Show your working and check your answers.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20040" y="7973568"/>
            <a:ext cx="10789920" cy="210312"/>
          </a:xfrm>
          <a:prstGeom prst="rect">
            <a:avLst/>
          </a:prstGeom>
          <a:noFill/>
        </p:spPr>
        <p:txBody>
          <a:bodyPr wrap="square" lIns="54864" rIns="54864" tIns="22860" bIns="22860">
            <a:spAutoFit/>
          </a:bodyPr>
          <a:lstStyle/>
          <a:p>
            <a:pPr>
              <a:lnSpc>
                <a:spcPts val="1155"/>
              </a:lnSpc>
              <a:spcBef>
                <a:spcPts val="0"/>
              </a:spcBef>
              <a:spcAft>
                <a:spcPts val="0"/>
              </a:spcAft>
              <a:defRPr sz="1100" b="0">
                <a:solidFill>
                  <a:srgbClr val="526472"/>
                </a:solidFill>
                <a:latin typeface="Arial"/>
              </a:defRPr>
            </a:pPr>
            <a:r>
              <a:t>GCSE Maths revision • No calculator • Show your working.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155680" y="7973568"/>
            <a:ext cx="3108960" cy="210312"/>
          </a:xfrm>
          <a:prstGeom prst="rect">
            <a:avLst/>
          </a:prstGeom>
          <a:noFill/>
        </p:spPr>
        <p:txBody>
          <a:bodyPr wrap="square" lIns="54864" rIns="54864" tIns="22860" bIns="22860">
            <a:spAutoFit/>
          </a:bodyPr>
          <a:lstStyle/>
          <a:p>
            <a:pPr>
              <a:lnSpc>
                <a:spcPts val="1155"/>
              </a:lnSpc>
              <a:spcBef>
                <a:spcPts val="0"/>
              </a:spcBef>
              <a:spcAft>
                <a:spcPts val="0"/>
              </a:spcAft>
              <a:defRPr sz="1100" b="0">
                <a:solidFill>
                  <a:srgbClr val="526472"/>
                </a:solidFill>
                <a:latin typeface="Arial"/>
              </a:defRPr>
            </a:pPr>
            <a:r>
              <a:t>M13-S06</a:t>
            </a:r>
          </a:p>
        </p:txBody>
      </p:sp>
      <p:sp>
        <p:nvSpPr>
          <p:cNvPr id="7" name="Rectangle 6"/>
          <p:cNvSpPr/>
          <p:nvPr/>
        </p:nvSpPr>
        <p:spPr>
          <a:xfrm>
            <a:off x="320040" y="1115568"/>
            <a:ext cx="4640580" cy="420624"/>
          </a:xfrm>
          <a:prstGeom prst="rect">
            <a:avLst/>
          </a:prstGeom>
          <a:solidFill>
            <a:srgbClr val="176B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47472" y="1147572"/>
            <a:ext cx="4581144" cy="329184"/>
          </a:xfrm>
          <a:prstGeom prst="rect">
            <a:avLst/>
          </a:prstGeom>
          <a:noFill/>
        </p:spPr>
        <p:txBody>
          <a:bodyPr wrap="square" lIns="54864" rIns="54864" tIns="22860" bIns="22860">
            <a:spAutoFit/>
          </a:bodyPr>
          <a:lstStyle/>
          <a:p>
            <a:pPr>
              <a:lnSpc>
                <a:spcPts val="1995"/>
              </a:lnSpc>
              <a:spcBef>
                <a:spcPts val="0"/>
              </a:spcBef>
              <a:spcAft>
                <a:spcPts val="0"/>
              </a:spcAft>
              <a:defRPr sz="1900" b="1">
                <a:solidFill>
                  <a:srgbClr val="FFFFFF"/>
                </a:solidFill>
                <a:latin typeface="Arial"/>
              </a:defRPr>
            </a:pPr>
            <a:r>
              <a:t>Thread 1: Guided</a:t>
            </a:r>
          </a:p>
        </p:txBody>
      </p:sp>
      <p:sp>
        <p:nvSpPr>
          <p:cNvPr id="9" name="Rectangle 8"/>
          <p:cNvSpPr/>
          <p:nvPr/>
        </p:nvSpPr>
        <p:spPr>
          <a:xfrm>
            <a:off x="4983480" y="1115568"/>
            <a:ext cx="4640580" cy="420624"/>
          </a:xfrm>
          <a:prstGeom prst="rect">
            <a:avLst/>
          </a:prstGeom>
          <a:solidFill>
            <a:srgbClr val="3559A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010912" y="1147572"/>
            <a:ext cx="4581144" cy="329184"/>
          </a:xfrm>
          <a:prstGeom prst="rect">
            <a:avLst/>
          </a:prstGeom>
          <a:noFill/>
        </p:spPr>
        <p:txBody>
          <a:bodyPr wrap="square" lIns="54864" rIns="54864" tIns="22860" bIns="22860">
            <a:spAutoFit/>
          </a:bodyPr>
          <a:lstStyle/>
          <a:p>
            <a:pPr>
              <a:lnSpc>
                <a:spcPts val="1995"/>
              </a:lnSpc>
              <a:spcBef>
                <a:spcPts val="0"/>
              </a:spcBef>
              <a:spcAft>
                <a:spcPts val="0"/>
              </a:spcAft>
              <a:defRPr sz="1900" b="1">
                <a:solidFill>
                  <a:srgbClr val="FFFFFF"/>
                </a:solidFill>
                <a:latin typeface="Arial"/>
              </a:defRPr>
            </a:pPr>
            <a:r>
              <a:t>Thread 2: Core</a:t>
            </a:r>
          </a:p>
        </p:txBody>
      </p:sp>
      <p:sp>
        <p:nvSpPr>
          <p:cNvPr id="11" name="Rectangle 10"/>
          <p:cNvSpPr/>
          <p:nvPr/>
        </p:nvSpPr>
        <p:spPr>
          <a:xfrm>
            <a:off x="9646920" y="1115568"/>
            <a:ext cx="4640580" cy="420624"/>
          </a:xfrm>
          <a:prstGeom prst="rect">
            <a:avLst/>
          </a:prstGeom>
          <a:solidFill>
            <a:srgbClr val="754B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674352" y="1147572"/>
            <a:ext cx="4581144" cy="329184"/>
          </a:xfrm>
          <a:prstGeom prst="rect">
            <a:avLst/>
          </a:prstGeom>
          <a:noFill/>
        </p:spPr>
        <p:txBody>
          <a:bodyPr wrap="square" lIns="54864" rIns="54864" tIns="22860" bIns="22860">
            <a:spAutoFit/>
          </a:bodyPr>
          <a:lstStyle/>
          <a:p>
            <a:pPr>
              <a:lnSpc>
                <a:spcPts val="1995"/>
              </a:lnSpc>
              <a:spcBef>
                <a:spcPts val="0"/>
              </a:spcBef>
              <a:spcAft>
                <a:spcPts val="0"/>
              </a:spcAft>
              <a:defRPr sz="1900" b="1">
                <a:solidFill>
                  <a:srgbClr val="FFFFFF"/>
                </a:solidFill>
                <a:latin typeface="Arial"/>
              </a:defRPr>
            </a:pPr>
            <a:r>
              <a:t>Thread 3: Depth</a:t>
            </a:r>
          </a:p>
        </p:txBody>
      </p:sp>
      <p:sp>
        <p:nvSpPr>
          <p:cNvPr id="13" name="Rectangle 12"/>
          <p:cNvSpPr/>
          <p:nvPr/>
        </p:nvSpPr>
        <p:spPr>
          <a:xfrm>
            <a:off x="320040" y="1581912"/>
            <a:ext cx="4640580" cy="1005840"/>
          </a:xfrm>
          <a:prstGeom prst="rect">
            <a:avLst/>
          </a:prstGeom>
          <a:solidFill>
            <a:srgbClr val="FFFFFF"/>
          </a:solidFill>
          <a:ln w="7620">
            <a:solidFill>
              <a:srgbClr val="D8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11479" y="1819656"/>
            <a:ext cx="4453128" cy="548640"/>
          </a:xfrm>
          <a:prstGeom prst="rect">
            <a:avLst/>
          </a:prstGeom>
          <a:noFill/>
        </p:spPr>
        <p:txBody>
          <a:bodyPr wrap="square" lIns="54864" rIns="54864" tIns="22860" bIns="22860">
            <a:spAutoFit/>
          </a:bodyPr>
          <a:lstStyle/>
          <a:p>
            <a:pPr>
              <a:lnSpc>
                <a:spcPts val="2730"/>
              </a:lnSpc>
              <a:spcBef>
                <a:spcPts val="0"/>
              </a:spcBef>
              <a:spcAft>
                <a:spcPts val="0"/>
              </a:spcAft>
              <a:defRPr sz="2600" b="0">
                <a:solidFill>
                  <a:srgbClr val="182B3A"/>
                </a:solidFill>
                <a:latin typeface="Arial"/>
              </a:defRPr>
            </a:pPr>
            <a:r>
              <a:t>1.  −8 + 12</a:t>
            </a:r>
          </a:p>
        </p:txBody>
      </p:sp>
      <p:sp>
        <p:nvSpPr>
          <p:cNvPr id="15" name="Rectangle 14"/>
          <p:cNvSpPr/>
          <p:nvPr/>
        </p:nvSpPr>
        <p:spPr>
          <a:xfrm>
            <a:off x="4983480" y="1581912"/>
            <a:ext cx="4640580" cy="1005840"/>
          </a:xfrm>
          <a:prstGeom prst="rect">
            <a:avLst/>
          </a:prstGeom>
          <a:solidFill>
            <a:srgbClr val="FFFFFF"/>
          </a:solidFill>
          <a:ln w="7620">
            <a:solidFill>
              <a:srgbClr val="D8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074920" y="1819656"/>
            <a:ext cx="4453128" cy="548640"/>
          </a:xfrm>
          <a:prstGeom prst="rect">
            <a:avLst/>
          </a:prstGeom>
          <a:noFill/>
        </p:spPr>
        <p:txBody>
          <a:bodyPr wrap="square" lIns="54864" rIns="54864" tIns="22860" bIns="22860">
            <a:spAutoFit/>
          </a:bodyPr>
          <a:lstStyle/>
          <a:p>
            <a:pPr>
              <a:lnSpc>
                <a:spcPts val="2730"/>
              </a:lnSpc>
              <a:spcBef>
                <a:spcPts val="0"/>
              </a:spcBef>
              <a:spcAft>
                <a:spcPts val="0"/>
              </a:spcAft>
              <a:defRPr sz="2600" b="0">
                <a:solidFill>
                  <a:srgbClr val="182B3A"/>
                </a:solidFill>
                <a:latin typeface="Arial"/>
              </a:defRPr>
            </a:pPr>
            <a:r>
              <a:t>1.  −9 + (−2)</a:t>
            </a:r>
          </a:p>
        </p:txBody>
      </p:sp>
      <p:sp>
        <p:nvSpPr>
          <p:cNvPr id="17" name="Rectangle 16"/>
          <p:cNvSpPr/>
          <p:nvPr/>
        </p:nvSpPr>
        <p:spPr>
          <a:xfrm>
            <a:off x="9646920" y="1581912"/>
            <a:ext cx="4640580" cy="1005840"/>
          </a:xfrm>
          <a:prstGeom prst="rect">
            <a:avLst/>
          </a:prstGeom>
          <a:solidFill>
            <a:srgbClr val="FFFFFF"/>
          </a:solidFill>
          <a:ln w="7620">
            <a:solidFill>
              <a:srgbClr val="D8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9738360" y="1819656"/>
            <a:ext cx="4453128" cy="548640"/>
          </a:xfrm>
          <a:prstGeom prst="rect">
            <a:avLst/>
          </a:prstGeom>
          <a:noFill/>
        </p:spPr>
        <p:txBody>
          <a:bodyPr wrap="square" lIns="54864" rIns="54864" tIns="22860" bIns="22860">
            <a:spAutoFit/>
          </a:bodyPr>
          <a:lstStyle/>
          <a:p>
            <a:pPr>
              <a:lnSpc>
                <a:spcPts val="2730"/>
              </a:lnSpc>
              <a:spcBef>
                <a:spcPts val="0"/>
              </a:spcBef>
              <a:spcAft>
                <a:spcPts val="0"/>
              </a:spcAft>
              <a:defRPr sz="2600" b="0">
                <a:solidFill>
                  <a:srgbClr val="182B3A"/>
                </a:solidFill>
                <a:latin typeface="Arial"/>
              </a:defRPr>
            </a:pPr>
            <a:r>
              <a:t>1.  10 − 14 + (−2)</a:t>
            </a:r>
          </a:p>
        </p:txBody>
      </p:sp>
      <p:sp>
        <p:nvSpPr>
          <p:cNvPr id="19" name="Rectangle 18"/>
          <p:cNvSpPr/>
          <p:nvPr/>
        </p:nvSpPr>
        <p:spPr>
          <a:xfrm>
            <a:off x="320040" y="2587752"/>
            <a:ext cx="4640580" cy="1005840"/>
          </a:xfrm>
          <a:prstGeom prst="rect">
            <a:avLst/>
          </a:prstGeom>
          <a:solidFill>
            <a:srgbClr val="EDF6F5"/>
          </a:solidFill>
          <a:ln w="7620">
            <a:solidFill>
              <a:srgbClr val="D8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411479" y="2825496"/>
            <a:ext cx="4453128" cy="548640"/>
          </a:xfrm>
          <a:prstGeom prst="rect">
            <a:avLst/>
          </a:prstGeom>
          <a:noFill/>
        </p:spPr>
        <p:txBody>
          <a:bodyPr wrap="square" lIns="54864" rIns="54864" tIns="22860" bIns="22860">
            <a:spAutoFit/>
          </a:bodyPr>
          <a:lstStyle/>
          <a:p>
            <a:pPr>
              <a:lnSpc>
                <a:spcPts val="2730"/>
              </a:lnSpc>
              <a:spcBef>
                <a:spcPts val="0"/>
              </a:spcBef>
              <a:spcAft>
                <a:spcPts val="0"/>
              </a:spcAft>
              <a:defRPr sz="2600" b="0">
                <a:solidFill>
                  <a:srgbClr val="182B3A"/>
                </a:solidFill>
                <a:latin typeface="Arial"/>
              </a:defRPr>
            </a:pPr>
            <a:r>
              <a:t>2.  −5 − 4</a:t>
            </a:r>
          </a:p>
        </p:txBody>
      </p:sp>
      <p:sp>
        <p:nvSpPr>
          <p:cNvPr id="21" name="Rectangle 20"/>
          <p:cNvSpPr/>
          <p:nvPr/>
        </p:nvSpPr>
        <p:spPr>
          <a:xfrm>
            <a:off x="4983480" y="2587752"/>
            <a:ext cx="4640580" cy="1005840"/>
          </a:xfrm>
          <a:prstGeom prst="rect">
            <a:avLst/>
          </a:prstGeom>
          <a:solidFill>
            <a:srgbClr val="EFF3FA"/>
          </a:solidFill>
          <a:ln w="7620">
            <a:solidFill>
              <a:srgbClr val="D8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5074920" y="2825496"/>
            <a:ext cx="4453128" cy="548640"/>
          </a:xfrm>
          <a:prstGeom prst="rect">
            <a:avLst/>
          </a:prstGeom>
          <a:noFill/>
        </p:spPr>
        <p:txBody>
          <a:bodyPr wrap="square" lIns="54864" rIns="54864" tIns="22860" bIns="22860">
            <a:spAutoFit/>
          </a:bodyPr>
          <a:lstStyle/>
          <a:p>
            <a:pPr>
              <a:lnSpc>
                <a:spcPts val="2730"/>
              </a:lnSpc>
              <a:spcBef>
                <a:spcPts val="0"/>
              </a:spcBef>
              <a:spcAft>
                <a:spcPts val="0"/>
              </a:spcAft>
              <a:defRPr sz="2600" b="0">
                <a:solidFill>
                  <a:srgbClr val="182B3A"/>
                </a:solidFill>
                <a:latin typeface="Arial"/>
              </a:defRPr>
            </a:pPr>
            <a:r>
              <a:t>2.  8 − (−5)</a:t>
            </a:r>
          </a:p>
        </p:txBody>
      </p:sp>
      <p:sp>
        <p:nvSpPr>
          <p:cNvPr id="23" name="Rectangle 22"/>
          <p:cNvSpPr/>
          <p:nvPr/>
        </p:nvSpPr>
        <p:spPr>
          <a:xfrm>
            <a:off x="9646920" y="2587752"/>
            <a:ext cx="4640580" cy="1005840"/>
          </a:xfrm>
          <a:prstGeom prst="rect">
            <a:avLst/>
          </a:prstGeom>
          <a:solidFill>
            <a:srgbClr val="F5F0F7"/>
          </a:solidFill>
          <a:ln w="7620">
            <a:solidFill>
              <a:srgbClr val="D8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9738360" y="2825496"/>
            <a:ext cx="4453128" cy="548640"/>
          </a:xfrm>
          <a:prstGeom prst="rect">
            <a:avLst/>
          </a:prstGeom>
          <a:noFill/>
        </p:spPr>
        <p:txBody>
          <a:bodyPr wrap="square" lIns="54864" rIns="54864" tIns="22860" bIns="22860">
            <a:spAutoFit/>
          </a:bodyPr>
          <a:lstStyle/>
          <a:p>
            <a:pPr>
              <a:lnSpc>
                <a:spcPts val="2730"/>
              </a:lnSpc>
              <a:spcBef>
                <a:spcPts val="0"/>
              </a:spcBef>
              <a:spcAft>
                <a:spcPts val="0"/>
              </a:spcAft>
              <a:defRPr sz="2600" b="0">
                <a:solidFill>
                  <a:srgbClr val="182B3A"/>
                </a:solidFill>
                <a:latin typeface="Arial"/>
              </a:defRPr>
            </a:pPr>
            <a:r>
              <a:t>2.  6 + (−9) − (−3)</a:t>
            </a:r>
          </a:p>
        </p:txBody>
      </p:sp>
      <p:sp>
        <p:nvSpPr>
          <p:cNvPr id="25" name="Rectangle 24"/>
          <p:cNvSpPr/>
          <p:nvPr/>
        </p:nvSpPr>
        <p:spPr>
          <a:xfrm>
            <a:off x="320040" y="3593592"/>
            <a:ext cx="4640580" cy="1005840"/>
          </a:xfrm>
          <a:prstGeom prst="rect">
            <a:avLst/>
          </a:prstGeom>
          <a:solidFill>
            <a:srgbClr val="FFFFFF"/>
          </a:solidFill>
          <a:ln w="7620">
            <a:solidFill>
              <a:srgbClr val="D8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411479" y="3831336"/>
            <a:ext cx="4453128" cy="548640"/>
          </a:xfrm>
          <a:prstGeom prst="rect">
            <a:avLst/>
          </a:prstGeom>
          <a:noFill/>
        </p:spPr>
        <p:txBody>
          <a:bodyPr wrap="square" lIns="54864" rIns="54864" tIns="22860" bIns="22860">
            <a:spAutoFit/>
          </a:bodyPr>
          <a:lstStyle/>
          <a:p>
            <a:pPr>
              <a:lnSpc>
                <a:spcPts val="2730"/>
              </a:lnSpc>
              <a:spcBef>
                <a:spcPts val="0"/>
              </a:spcBef>
              <a:spcAft>
                <a:spcPts val="0"/>
              </a:spcAft>
              <a:defRPr sz="2600" b="0">
                <a:solidFill>
                  <a:srgbClr val="182B3A"/>
                </a:solidFill>
                <a:latin typeface="Arial"/>
              </a:defRPr>
            </a:pPr>
            <a:r>
              <a:t>3.  −10 + 6</a:t>
            </a:r>
          </a:p>
        </p:txBody>
      </p:sp>
      <p:sp>
        <p:nvSpPr>
          <p:cNvPr id="27" name="Rectangle 26"/>
          <p:cNvSpPr/>
          <p:nvPr/>
        </p:nvSpPr>
        <p:spPr>
          <a:xfrm>
            <a:off x="4983480" y="3593592"/>
            <a:ext cx="4640580" cy="1005840"/>
          </a:xfrm>
          <a:prstGeom prst="rect">
            <a:avLst/>
          </a:prstGeom>
          <a:solidFill>
            <a:srgbClr val="FFFFFF"/>
          </a:solidFill>
          <a:ln w="7620">
            <a:solidFill>
              <a:srgbClr val="D8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5074920" y="3831336"/>
            <a:ext cx="4453128" cy="548640"/>
          </a:xfrm>
          <a:prstGeom prst="rect">
            <a:avLst/>
          </a:prstGeom>
          <a:noFill/>
        </p:spPr>
        <p:txBody>
          <a:bodyPr wrap="square" lIns="54864" rIns="54864" tIns="22860" bIns="22860">
            <a:spAutoFit/>
          </a:bodyPr>
          <a:lstStyle/>
          <a:p>
            <a:pPr>
              <a:lnSpc>
                <a:spcPts val="2730"/>
              </a:lnSpc>
              <a:spcBef>
                <a:spcPts val="0"/>
              </a:spcBef>
              <a:spcAft>
                <a:spcPts val="0"/>
              </a:spcAft>
              <a:defRPr sz="2600" b="0">
                <a:solidFill>
                  <a:srgbClr val="182B3A"/>
                </a:solidFill>
                <a:latin typeface="Arial"/>
              </a:defRPr>
            </a:pPr>
            <a:r>
              <a:t>3.  −7 − (−4)</a:t>
            </a:r>
          </a:p>
        </p:txBody>
      </p:sp>
      <p:sp>
        <p:nvSpPr>
          <p:cNvPr id="29" name="Rectangle 28"/>
          <p:cNvSpPr/>
          <p:nvPr/>
        </p:nvSpPr>
        <p:spPr>
          <a:xfrm>
            <a:off x="9646920" y="3593592"/>
            <a:ext cx="4640580" cy="1005840"/>
          </a:xfrm>
          <a:prstGeom prst="rect">
            <a:avLst/>
          </a:prstGeom>
          <a:solidFill>
            <a:srgbClr val="FFFFFF"/>
          </a:solidFill>
          <a:ln w="7620">
            <a:solidFill>
              <a:srgbClr val="D8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9738360" y="3831336"/>
            <a:ext cx="4453128" cy="548640"/>
          </a:xfrm>
          <a:prstGeom prst="rect">
            <a:avLst/>
          </a:prstGeom>
          <a:noFill/>
        </p:spPr>
        <p:txBody>
          <a:bodyPr wrap="square" lIns="54864" rIns="54864" tIns="22860" bIns="22860">
            <a:spAutoFit/>
          </a:bodyPr>
          <a:lstStyle/>
          <a:p>
            <a:pPr>
              <a:lnSpc>
                <a:spcPts val="2730"/>
              </a:lnSpc>
              <a:spcBef>
                <a:spcPts val="0"/>
              </a:spcBef>
              <a:spcAft>
                <a:spcPts val="0"/>
              </a:spcAft>
              <a:defRPr sz="2600" b="0">
                <a:solidFill>
                  <a:srgbClr val="182B3A"/>
                </a:solidFill>
                <a:latin typeface="Arial"/>
              </a:defRPr>
            </a:pPr>
            <a:r>
              <a:t>3.  −2 − (−8) + 5</a:t>
            </a:r>
          </a:p>
        </p:txBody>
      </p:sp>
      <p:sp>
        <p:nvSpPr>
          <p:cNvPr id="31" name="Rectangle 30"/>
          <p:cNvSpPr/>
          <p:nvPr/>
        </p:nvSpPr>
        <p:spPr>
          <a:xfrm>
            <a:off x="320040" y="4599432"/>
            <a:ext cx="4640580" cy="1005840"/>
          </a:xfrm>
          <a:prstGeom prst="rect">
            <a:avLst/>
          </a:prstGeom>
          <a:solidFill>
            <a:srgbClr val="EDF6F5"/>
          </a:solidFill>
          <a:ln w="7620">
            <a:solidFill>
              <a:srgbClr val="D8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411479" y="4837176"/>
            <a:ext cx="4453128" cy="548640"/>
          </a:xfrm>
          <a:prstGeom prst="rect">
            <a:avLst/>
          </a:prstGeom>
          <a:noFill/>
        </p:spPr>
        <p:txBody>
          <a:bodyPr wrap="square" lIns="54864" rIns="54864" tIns="22860" bIns="22860">
            <a:spAutoFit/>
          </a:bodyPr>
          <a:lstStyle/>
          <a:p>
            <a:pPr>
              <a:lnSpc>
                <a:spcPts val="2730"/>
              </a:lnSpc>
              <a:spcBef>
                <a:spcPts val="0"/>
              </a:spcBef>
              <a:spcAft>
                <a:spcPts val="0"/>
              </a:spcAft>
              <a:defRPr sz="2600" b="0">
                <a:solidFill>
                  <a:srgbClr val="182B3A"/>
                </a:solidFill>
                <a:latin typeface="Arial"/>
              </a:defRPr>
            </a:pPr>
            <a:r>
              <a:t>4.  9 − 14</a:t>
            </a:r>
          </a:p>
        </p:txBody>
      </p:sp>
      <p:sp>
        <p:nvSpPr>
          <p:cNvPr id="33" name="Rectangle 32"/>
          <p:cNvSpPr/>
          <p:nvPr/>
        </p:nvSpPr>
        <p:spPr>
          <a:xfrm>
            <a:off x="4983480" y="4599432"/>
            <a:ext cx="4640580" cy="1005840"/>
          </a:xfrm>
          <a:prstGeom prst="rect">
            <a:avLst/>
          </a:prstGeom>
          <a:solidFill>
            <a:srgbClr val="EFF3FA"/>
          </a:solidFill>
          <a:ln w="7620">
            <a:solidFill>
              <a:srgbClr val="D8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5074920" y="4837176"/>
            <a:ext cx="4453128" cy="548640"/>
          </a:xfrm>
          <a:prstGeom prst="rect">
            <a:avLst/>
          </a:prstGeom>
          <a:noFill/>
        </p:spPr>
        <p:txBody>
          <a:bodyPr wrap="square" lIns="54864" rIns="54864" tIns="22860" bIns="22860">
            <a:spAutoFit/>
          </a:bodyPr>
          <a:lstStyle/>
          <a:p>
            <a:pPr>
              <a:lnSpc>
                <a:spcPts val="2730"/>
              </a:lnSpc>
              <a:spcBef>
                <a:spcPts val="0"/>
              </a:spcBef>
              <a:spcAft>
                <a:spcPts val="0"/>
              </a:spcAft>
              <a:defRPr sz="2600" b="0">
                <a:solidFill>
                  <a:srgbClr val="182B3A"/>
                </a:solidFill>
                <a:latin typeface="Arial"/>
              </a:defRPr>
            </a:pPr>
            <a:r>
              <a:t>4.  6 + (−11)</a:t>
            </a:r>
          </a:p>
        </p:txBody>
      </p:sp>
      <p:sp>
        <p:nvSpPr>
          <p:cNvPr id="35" name="Rectangle 34"/>
          <p:cNvSpPr/>
          <p:nvPr/>
        </p:nvSpPr>
        <p:spPr>
          <a:xfrm>
            <a:off x="9646920" y="4599432"/>
            <a:ext cx="4640580" cy="1005840"/>
          </a:xfrm>
          <a:prstGeom prst="rect">
            <a:avLst/>
          </a:prstGeom>
          <a:solidFill>
            <a:srgbClr val="F5F0F7"/>
          </a:solidFill>
          <a:ln w="7620">
            <a:solidFill>
              <a:srgbClr val="D8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9738360" y="4837176"/>
            <a:ext cx="4453128" cy="548640"/>
          </a:xfrm>
          <a:prstGeom prst="rect">
            <a:avLst/>
          </a:prstGeom>
          <a:noFill/>
        </p:spPr>
        <p:txBody>
          <a:bodyPr wrap="square" lIns="54864" rIns="54864" tIns="22860" bIns="22860">
            <a:spAutoFit/>
          </a:bodyPr>
          <a:lstStyle/>
          <a:p>
            <a:pPr>
              <a:lnSpc>
                <a:spcPts val="2730"/>
              </a:lnSpc>
              <a:spcBef>
                <a:spcPts val="0"/>
              </a:spcBef>
              <a:spcAft>
                <a:spcPts val="0"/>
              </a:spcAft>
              <a:defRPr sz="2600" b="0">
                <a:solidFill>
                  <a:srgbClr val="182B3A"/>
                </a:solidFill>
                <a:latin typeface="Arial"/>
              </a:defRPr>
            </a:pPr>
            <a:r>
              <a:t>4.  −3 + (−6) − (−4)</a:t>
            </a:r>
          </a:p>
        </p:txBody>
      </p:sp>
      <p:sp>
        <p:nvSpPr>
          <p:cNvPr id="37" name="Rectangle 36"/>
          <p:cNvSpPr/>
          <p:nvPr/>
        </p:nvSpPr>
        <p:spPr>
          <a:xfrm>
            <a:off x="320040" y="5605272"/>
            <a:ext cx="4640580" cy="1005840"/>
          </a:xfrm>
          <a:prstGeom prst="rect">
            <a:avLst/>
          </a:prstGeom>
          <a:solidFill>
            <a:srgbClr val="FFFFFF"/>
          </a:solidFill>
          <a:ln w="7620">
            <a:solidFill>
              <a:srgbClr val="D8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411479" y="5843016"/>
            <a:ext cx="4453128" cy="548640"/>
          </a:xfrm>
          <a:prstGeom prst="rect">
            <a:avLst/>
          </a:prstGeom>
          <a:noFill/>
        </p:spPr>
        <p:txBody>
          <a:bodyPr wrap="square" lIns="54864" rIns="54864" tIns="22860" bIns="22860">
            <a:spAutoFit/>
          </a:bodyPr>
          <a:lstStyle/>
          <a:p>
            <a:pPr>
              <a:lnSpc>
                <a:spcPts val="2730"/>
              </a:lnSpc>
              <a:spcBef>
                <a:spcPts val="0"/>
              </a:spcBef>
              <a:spcAft>
                <a:spcPts val="0"/>
              </a:spcAft>
              <a:defRPr sz="2600" b="0">
                <a:solidFill>
                  <a:srgbClr val="182B3A"/>
                </a:solidFill>
                <a:latin typeface="Arial"/>
              </a:defRPr>
            </a:pPr>
            <a:r>
              <a:t>5.  7 − 16</a:t>
            </a:r>
          </a:p>
        </p:txBody>
      </p:sp>
      <p:sp>
        <p:nvSpPr>
          <p:cNvPr id="39" name="Rectangle 38"/>
          <p:cNvSpPr/>
          <p:nvPr/>
        </p:nvSpPr>
        <p:spPr>
          <a:xfrm>
            <a:off x="4983480" y="5605272"/>
            <a:ext cx="4640580" cy="1005840"/>
          </a:xfrm>
          <a:prstGeom prst="rect">
            <a:avLst/>
          </a:prstGeom>
          <a:solidFill>
            <a:srgbClr val="FFFFFF"/>
          </a:solidFill>
          <a:ln w="7620">
            <a:solidFill>
              <a:srgbClr val="D8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5074920" y="5843016"/>
            <a:ext cx="4453128" cy="548640"/>
          </a:xfrm>
          <a:prstGeom prst="rect">
            <a:avLst/>
          </a:prstGeom>
          <a:noFill/>
        </p:spPr>
        <p:txBody>
          <a:bodyPr wrap="square" lIns="54864" rIns="54864" tIns="22860" bIns="22860">
            <a:spAutoFit/>
          </a:bodyPr>
          <a:lstStyle/>
          <a:p>
            <a:pPr>
              <a:lnSpc>
                <a:spcPts val="2730"/>
              </a:lnSpc>
              <a:spcBef>
                <a:spcPts val="0"/>
              </a:spcBef>
              <a:spcAft>
                <a:spcPts val="0"/>
              </a:spcAft>
              <a:defRPr sz="2600" b="0">
                <a:solidFill>
                  <a:srgbClr val="182B3A"/>
                </a:solidFill>
                <a:latin typeface="Arial"/>
              </a:defRPr>
            </a:pPr>
            <a:r>
              <a:t>5.  −4 − (−10)</a:t>
            </a:r>
          </a:p>
        </p:txBody>
      </p:sp>
      <p:sp>
        <p:nvSpPr>
          <p:cNvPr id="41" name="Rectangle 40"/>
          <p:cNvSpPr/>
          <p:nvPr/>
        </p:nvSpPr>
        <p:spPr>
          <a:xfrm>
            <a:off x="9646920" y="5605272"/>
            <a:ext cx="4640580" cy="1005840"/>
          </a:xfrm>
          <a:prstGeom prst="rect">
            <a:avLst/>
          </a:prstGeom>
          <a:solidFill>
            <a:srgbClr val="FFFFFF"/>
          </a:solidFill>
          <a:ln w="7620">
            <a:solidFill>
              <a:srgbClr val="D8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9738360" y="5843016"/>
            <a:ext cx="4453128" cy="548640"/>
          </a:xfrm>
          <a:prstGeom prst="rect">
            <a:avLst/>
          </a:prstGeom>
          <a:noFill/>
        </p:spPr>
        <p:txBody>
          <a:bodyPr wrap="square" lIns="54864" rIns="54864" tIns="22860" bIns="22860">
            <a:spAutoFit/>
          </a:bodyPr>
          <a:lstStyle/>
          <a:p>
            <a:pPr>
              <a:lnSpc>
                <a:spcPts val="2730"/>
              </a:lnSpc>
              <a:spcBef>
                <a:spcPts val="0"/>
              </a:spcBef>
              <a:spcAft>
                <a:spcPts val="0"/>
              </a:spcAft>
              <a:defRPr sz="2600" b="0">
                <a:solidFill>
                  <a:srgbClr val="182B3A"/>
                </a:solidFill>
                <a:latin typeface="Arial"/>
              </a:defRPr>
            </a:pPr>
            <a:r>
              <a:t>5.  9 − (−3) + (−7)</a:t>
            </a:r>
          </a:p>
        </p:txBody>
      </p:sp>
      <p:sp>
        <p:nvSpPr>
          <p:cNvPr id="43" name="Rectangle 42"/>
          <p:cNvSpPr/>
          <p:nvPr/>
        </p:nvSpPr>
        <p:spPr>
          <a:xfrm>
            <a:off x="320040" y="6611112"/>
            <a:ext cx="4640580" cy="1005840"/>
          </a:xfrm>
          <a:prstGeom prst="rect">
            <a:avLst/>
          </a:prstGeom>
          <a:solidFill>
            <a:srgbClr val="EDF6F5"/>
          </a:solidFill>
          <a:ln w="7620">
            <a:solidFill>
              <a:srgbClr val="D8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411479" y="6848856"/>
            <a:ext cx="4453128" cy="548640"/>
          </a:xfrm>
          <a:prstGeom prst="rect">
            <a:avLst/>
          </a:prstGeom>
          <a:noFill/>
        </p:spPr>
        <p:txBody>
          <a:bodyPr wrap="square" lIns="54864" rIns="54864" tIns="22860" bIns="22860">
            <a:spAutoFit/>
          </a:bodyPr>
          <a:lstStyle/>
          <a:p>
            <a:pPr>
              <a:lnSpc>
                <a:spcPts val="2730"/>
              </a:lnSpc>
              <a:spcBef>
                <a:spcPts val="0"/>
              </a:spcBef>
              <a:spcAft>
                <a:spcPts val="0"/>
              </a:spcAft>
              <a:defRPr sz="2600" b="0">
                <a:solidFill>
                  <a:srgbClr val="182B3A"/>
                </a:solidFill>
                <a:latin typeface="Arial"/>
              </a:defRPr>
            </a:pPr>
            <a:r>
              <a:t>6.  −12 + 12</a:t>
            </a:r>
          </a:p>
        </p:txBody>
      </p:sp>
      <p:sp>
        <p:nvSpPr>
          <p:cNvPr id="45" name="Rectangle 44"/>
          <p:cNvSpPr/>
          <p:nvPr/>
        </p:nvSpPr>
        <p:spPr>
          <a:xfrm>
            <a:off x="4983480" y="6611112"/>
            <a:ext cx="4640580" cy="1005840"/>
          </a:xfrm>
          <a:prstGeom prst="rect">
            <a:avLst/>
          </a:prstGeom>
          <a:solidFill>
            <a:srgbClr val="EFF3FA"/>
          </a:solidFill>
          <a:ln w="7620">
            <a:solidFill>
              <a:srgbClr val="D8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5074920" y="6848856"/>
            <a:ext cx="4453128" cy="548640"/>
          </a:xfrm>
          <a:prstGeom prst="rect">
            <a:avLst/>
          </a:prstGeom>
          <a:noFill/>
        </p:spPr>
        <p:txBody>
          <a:bodyPr wrap="square" lIns="54864" rIns="54864" tIns="22860" bIns="22860">
            <a:spAutoFit/>
          </a:bodyPr>
          <a:lstStyle/>
          <a:p>
            <a:pPr>
              <a:lnSpc>
                <a:spcPts val="2730"/>
              </a:lnSpc>
              <a:spcBef>
                <a:spcPts val="0"/>
              </a:spcBef>
              <a:spcAft>
                <a:spcPts val="0"/>
              </a:spcAft>
              <a:defRPr sz="2600" b="0">
                <a:solidFill>
                  <a:srgbClr val="182B3A"/>
                </a:solidFill>
                <a:latin typeface="Arial"/>
              </a:defRPr>
            </a:pPr>
            <a:r>
              <a:t>6.  −12 − (−7)</a:t>
            </a:r>
          </a:p>
        </p:txBody>
      </p:sp>
      <p:sp>
        <p:nvSpPr>
          <p:cNvPr id="47" name="Rectangle 46"/>
          <p:cNvSpPr/>
          <p:nvPr/>
        </p:nvSpPr>
        <p:spPr>
          <a:xfrm>
            <a:off x="9646920" y="6611112"/>
            <a:ext cx="4640580" cy="1005840"/>
          </a:xfrm>
          <a:prstGeom prst="rect">
            <a:avLst/>
          </a:prstGeom>
          <a:solidFill>
            <a:srgbClr val="F5F0F7"/>
          </a:solidFill>
          <a:ln w="7620">
            <a:solidFill>
              <a:srgbClr val="D8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9738360" y="6848856"/>
            <a:ext cx="4453128" cy="548640"/>
          </a:xfrm>
          <a:prstGeom prst="rect">
            <a:avLst/>
          </a:prstGeom>
          <a:noFill/>
        </p:spPr>
        <p:txBody>
          <a:bodyPr wrap="square" lIns="54864" rIns="54864" tIns="22860" bIns="22860">
            <a:spAutoFit/>
          </a:bodyPr>
          <a:lstStyle/>
          <a:p>
            <a:pPr>
              <a:lnSpc>
                <a:spcPts val="2730"/>
              </a:lnSpc>
              <a:spcBef>
                <a:spcPts val="0"/>
              </a:spcBef>
              <a:spcAft>
                <a:spcPts val="0"/>
              </a:spcAft>
              <a:defRPr sz="2600" b="0">
                <a:solidFill>
                  <a:srgbClr val="182B3A"/>
                </a:solidFill>
                <a:latin typeface="Arial"/>
              </a:defRPr>
            </a:pPr>
            <a:r>
              <a:t>6.  −11 + 8 − 2</a:t>
            </a:r>
          </a:p>
        </p:txBody>
      </p:sp>
      <p:sp>
        <p:nvSpPr>
          <p:cNvPr id="49" name="Progression curved arrow: Thread 1 to Thread 2"/>
          <p:cNvSpPr/>
          <p:nvPr/>
        </p:nvSpPr>
        <p:spPr>
          <a:xfrm>
            <a:off x="4649723" y="7552294"/>
            <a:ext cx="621792" cy="314053"/>
          </a:xfrm>
          <a:custGeom>
            <a:avLst/>
            <a:gdLst/>
            <a:ahLst/>
            <a:cxnLst/>
            <a:rect l="0" t="0" r="100000" b="100000"/>
            <a:pathLst>
              <a:path w="100000" h="100000" fill="none">
                <a:moveTo>
                  <a:pt x="6970" y="48439"/>
                </a:moveTo>
                <a:cubicBezTo>
                  <a:pt x="40678" y="114499"/>
                  <a:pt x="73026" y="88145"/>
                  <a:pt x="93030" y="13799"/>
                </a:cubicBezTo>
              </a:path>
              <a:path w="100000" h="100000" fill="none">
                <a:moveTo>
                  <a:pt x="69018" y="40431"/>
                </a:moveTo>
                <a:lnTo>
                  <a:pt x="93030" y="13799"/>
                </a:lnTo>
                <a:lnTo>
                  <a:pt x="92217" y="66207"/>
                </a:lnTo>
              </a:path>
            </a:pathLst>
          </a:custGeom>
          <a:noFill/>
          <a:ln w="64449" cap="rnd">
            <a:solidFill>
              <a:schemeClr val="accent6">
                <a:lumMod val="60000"/>
                <a:lumOff val="40000"/>
              </a:schemeClr>
            </a:solidFill>
            <a:round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Progression curved arrow: Thread 2 to Thread 3"/>
          <p:cNvSpPr/>
          <p:nvPr/>
        </p:nvSpPr>
        <p:spPr>
          <a:xfrm>
            <a:off x="9265327" y="7543800"/>
            <a:ext cx="621792" cy="314053"/>
          </a:xfrm>
          <a:custGeom>
            <a:avLst/>
            <a:gdLst/>
            <a:ahLst/>
            <a:cxnLst/>
            <a:rect l="0" t="0" r="100000" b="100000"/>
            <a:pathLst>
              <a:path w="100000" h="100000" fill="none">
                <a:moveTo>
                  <a:pt x="6970" y="48439"/>
                </a:moveTo>
                <a:cubicBezTo>
                  <a:pt x="40678" y="114499"/>
                  <a:pt x="73026" y="88145"/>
                  <a:pt x="93030" y="13799"/>
                </a:cubicBezTo>
              </a:path>
              <a:path w="100000" h="100000" fill="none">
                <a:moveTo>
                  <a:pt x="69018" y="40431"/>
                </a:moveTo>
                <a:lnTo>
                  <a:pt x="93030" y="13799"/>
                </a:lnTo>
                <a:lnTo>
                  <a:pt x="92217" y="66207"/>
                </a:lnTo>
              </a:path>
            </a:pathLst>
          </a:custGeom>
          <a:noFill/>
          <a:ln w="64449" cap="rnd">
            <a:solidFill>
              <a:schemeClr val="accent6">
                <a:lumMod val="60000"/>
                <a:lumOff val="40000"/>
              </a:schemeClr>
            </a:solidFill>
            <a:round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100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8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4630400" cy="73152"/>
          </a:xfrm>
          <a:prstGeom prst="rect">
            <a:avLst/>
          </a:prstGeom>
          <a:solidFill>
            <a:srgbClr val="176B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20040" y="164592"/>
            <a:ext cx="13990320" cy="457200"/>
          </a:xfrm>
          <a:prstGeom prst="rect">
            <a:avLst/>
          </a:prstGeom>
          <a:noFill/>
        </p:spPr>
        <p:txBody>
          <a:bodyPr wrap="square" lIns="54864" rIns="54864" tIns="22860" bIns="22860">
            <a:spAutoFit/>
          </a:bodyPr>
          <a:lstStyle/>
          <a:p>
            <a:pPr>
              <a:lnSpc>
                <a:spcPts val="2940"/>
              </a:lnSpc>
              <a:spcBef>
                <a:spcPts val="0"/>
              </a:spcBef>
              <a:spcAft>
                <a:spcPts val="0"/>
              </a:spcAft>
              <a:defRPr sz="2800" b="1">
                <a:solidFill>
                  <a:srgbClr val="182B3A"/>
                </a:solidFill>
                <a:latin typeface="Arial"/>
              </a:defRPr>
            </a:pPr>
            <a:r>
              <a:t>Signed numbers: addition and subtraction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20040" y="704088"/>
            <a:ext cx="13990320" cy="347472"/>
          </a:xfrm>
          <a:prstGeom prst="rect">
            <a:avLst/>
          </a:prstGeom>
          <a:noFill/>
        </p:spPr>
        <p:txBody>
          <a:bodyPr wrap="square" lIns="54864" rIns="54864" tIns="22860" bIns="22860">
            <a:spAutoFit/>
          </a:bodyPr>
          <a:lstStyle/>
          <a:p>
            <a:pPr>
              <a:lnSpc>
                <a:spcPts val="1575"/>
              </a:lnSpc>
              <a:spcBef>
                <a:spcPts val="0"/>
              </a:spcBef>
              <a:spcAft>
                <a:spcPts val="0"/>
              </a:spcAft>
              <a:defRPr sz="1500" b="0">
                <a:solidFill>
                  <a:srgbClr val="526472"/>
                </a:solidFill>
                <a:latin typeface="Arial"/>
              </a:defRPr>
            </a:pPr>
            <a:r>
              <a:t>Independent practice 4 • Choose a column. Show your working and check your answers.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20040" y="7973568"/>
            <a:ext cx="10789920" cy="210312"/>
          </a:xfrm>
          <a:prstGeom prst="rect">
            <a:avLst/>
          </a:prstGeom>
          <a:noFill/>
        </p:spPr>
        <p:txBody>
          <a:bodyPr wrap="square" lIns="54864" rIns="54864" tIns="22860" bIns="22860">
            <a:spAutoFit/>
          </a:bodyPr>
          <a:lstStyle/>
          <a:p>
            <a:pPr>
              <a:lnSpc>
                <a:spcPts val="1155"/>
              </a:lnSpc>
              <a:spcBef>
                <a:spcPts val="0"/>
              </a:spcBef>
              <a:spcAft>
                <a:spcPts val="0"/>
              </a:spcAft>
              <a:defRPr sz="1100" b="0">
                <a:solidFill>
                  <a:srgbClr val="526472"/>
                </a:solidFill>
                <a:latin typeface="Arial"/>
              </a:defRPr>
            </a:pPr>
            <a:r>
              <a:t>GCSE Maths revision • No calculator • Show your working.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155680" y="7973568"/>
            <a:ext cx="3108960" cy="210312"/>
          </a:xfrm>
          <a:prstGeom prst="rect">
            <a:avLst/>
          </a:prstGeom>
          <a:noFill/>
        </p:spPr>
        <p:txBody>
          <a:bodyPr wrap="square" lIns="54864" rIns="54864" tIns="22860" bIns="22860">
            <a:spAutoFit/>
          </a:bodyPr>
          <a:lstStyle/>
          <a:p>
            <a:pPr>
              <a:lnSpc>
                <a:spcPts val="1155"/>
              </a:lnSpc>
              <a:spcBef>
                <a:spcPts val="0"/>
              </a:spcBef>
              <a:spcAft>
                <a:spcPts val="0"/>
              </a:spcAft>
              <a:defRPr sz="1100" b="0">
                <a:solidFill>
                  <a:srgbClr val="526472"/>
                </a:solidFill>
                <a:latin typeface="Arial"/>
              </a:defRPr>
            </a:pPr>
            <a:r>
              <a:t>M13-S07</a:t>
            </a:r>
          </a:p>
        </p:txBody>
      </p:sp>
      <p:sp>
        <p:nvSpPr>
          <p:cNvPr id="7" name="Rectangle 6"/>
          <p:cNvSpPr/>
          <p:nvPr/>
        </p:nvSpPr>
        <p:spPr>
          <a:xfrm>
            <a:off x="320040" y="1115568"/>
            <a:ext cx="4640580" cy="420624"/>
          </a:xfrm>
          <a:prstGeom prst="rect">
            <a:avLst/>
          </a:prstGeom>
          <a:solidFill>
            <a:srgbClr val="176B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47472" y="1147572"/>
            <a:ext cx="4581144" cy="329184"/>
          </a:xfrm>
          <a:prstGeom prst="rect">
            <a:avLst/>
          </a:prstGeom>
          <a:noFill/>
        </p:spPr>
        <p:txBody>
          <a:bodyPr wrap="square" lIns="54864" rIns="54864" tIns="22860" bIns="22860">
            <a:spAutoFit/>
          </a:bodyPr>
          <a:lstStyle/>
          <a:p>
            <a:pPr>
              <a:lnSpc>
                <a:spcPts val="1995"/>
              </a:lnSpc>
              <a:spcBef>
                <a:spcPts val="0"/>
              </a:spcBef>
              <a:spcAft>
                <a:spcPts val="0"/>
              </a:spcAft>
              <a:defRPr sz="1900" b="1">
                <a:solidFill>
                  <a:srgbClr val="FFFFFF"/>
                </a:solidFill>
                <a:latin typeface="Arial"/>
              </a:defRPr>
            </a:pPr>
            <a:r>
              <a:t>Thread 1: Guided</a:t>
            </a:r>
          </a:p>
        </p:txBody>
      </p:sp>
      <p:sp>
        <p:nvSpPr>
          <p:cNvPr id="9" name="Rectangle 8"/>
          <p:cNvSpPr/>
          <p:nvPr/>
        </p:nvSpPr>
        <p:spPr>
          <a:xfrm>
            <a:off x="4983480" y="1115568"/>
            <a:ext cx="4640580" cy="420624"/>
          </a:xfrm>
          <a:prstGeom prst="rect">
            <a:avLst/>
          </a:prstGeom>
          <a:solidFill>
            <a:srgbClr val="3559A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010912" y="1147572"/>
            <a:ext cx="4581144" cy="329184"/>
          </a:xfrm>
          <a:prstGeom prst="rect">
            <a:avLst/>
          </a:prstGeom>
          <a:noFill/>
        </p:spPr>
        <p:txBody>
          <a:bodyPr wrap="square" lIns="54864" rIns="54864" tIns="22860" bIns="22860">
            <a:spAutoFit/>
          </a:bodyPr>
          <a:lstStyle/>
          <a:p>
            <a:pPr>
              <a:lnSpc>
                <a:spcPts val="1995"/>
              </a:lnSpc>
              <a:spcBef>
                <a:spcPts val="0"/>
              </a:spcBef>
              <a:spcAft>
                <a:spcPts val="0"/>
              </a:spcAft>
              <a:defRPr sz="1900" b="1">
                <a:solidFill>
                  <a:srgbClr val="FFFFFF"/>
                </a:solidFill>
                <a:latin typeface="Arial"/>
              </a:defRPr>
            </a:pPr>
            <a:r>
              <a:t>Thread 2: Core</a:t>
            </a:r>
          </a:p>
        </p:txBody>
      </p:sp>
      <p:sp>
        <p:nvSpPr>
          <p:cNvPr id="11" name="Rectangle 10"/>
          <p:cNvSpPr/>
          <p:nvPr/>
        </p:nvSpPr>
        <p:spPr>
          <a:xfrm>
            <a:off x="9646920" y="1115568"/>
            <a:ext cx="4640580" cy="420624"/>
          </a:xfrm>
          <a:prstGeom prst="rect">
            <a:avLst/>
          </a:prstGeom>
          <a:solidFill>
            <a:srgbClr val="754B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674352" y="1147572"/>
            <a:ext cx="4581144" cy="329184"/>
          </a:xfrm>
          <a:prstGeom prst="rect">
            <a:avLst/>
          </a:prstGeom>
          <a:noFill/>
        </p:spPr>
        <p:txBody>
          <a:bodyPr wrap="square" lIns="54864" rIns="54864" tIns="22860" bIns="22860">
            <a:spAutoFit/>
          </a:bodyPr>
          <a:lstStyle/>
          <a:p>
            <a:pPr>
              <a:lnSpc>
                <a:spcPts val="1995"/>
              </a:lnSpc>
              <a:spcBef>
                <a:spcPts val="0"/>
              </a:spcBef>
              <a:spcAft>
                <a:spcPts val="0"/>
              </a:spcAft>
              <a:defRPr sz="1900" b="1">
                <a:solidFill>
                  <a:srgbClr val="FFFFFF"/>
                </a:solidFill>
                <a:latin typeface="Arial"/>
              </a:defRPr>
            </a:pPr>
            <a:r>
              <a:t>Thread 3: Depth</a:t>
            </a:r>
          </a:p>
        </p:txBody>
      </p:sp>
      <p:sp>
        <p:nvSpPr>
          <p:cNvPr id="13" name="Rectangle 12"/>
          <p:cNvSpPr/>
          <p:nvPr/>
        </p:nvSpPr>
        <p:spPr>
          <a:xfrm>
            <a:off x="320040" y="1581912"/>
            <a:ext cx="4640580" cy="1005840"/>
          </a:xfrm>
          <a:prstGeom prst="rect">
            <a:avLst/>
          </a:prstGeom>
          <a:solidFill>
            <a:srgbClr val="FFFFFF"/>
          </a:solidFill>
          <a:ln w="7620">
            <a:solidFill>
              <a:srgbClr val="D8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11479" y="1819656"/>
            <a:ext cx="4453128" cy="548640"/>
          </a:xfrm>
          <a:prstGeom prst="rect">
            <a:avLst/>
          </a:prstGeom>
          <a:noFill/>
        </p:spPr>
        <p:txBody>
          <a:bodyPr wrap="square" lIns="54864" rIns="54864" tIns="22860" bIns="22860">
            <a:spAutoFit/>
          </a:bodyPr>
          <a:lstStyle/>
          <a:p>
            <a:pPr>
              <a:lnSpc>
                <a:spcPts val="2730"/>
              </a:lnSpc>
              <a:spcBef>
                <a:spcPts val="0"/>
              </a:spcBef>
              <a:spcAft>
                <a:spcPts val="0"/>
              </a:spcAft>
              <a:defRPr sz="2600" b="0">
                <a:solidFill>
                  <a:srgbClr val="182B3A"/>
                </a:solidFill>
                <a:latin typeface="Arial"/>
              </a:defRPr>
            </a:pPr>
            <a:r>
              <a:t>1.  −12 + 7</a:t>
            </a:r>
          </a:p>
        </p:txBody>
      </p:sp>
      <p:sp>
        <p:nvSpPr>
          <p:cNvPr id="15" name="Rectangle 14"/>
          <p:cNvSpPr/>
          <p:nvPr/>
        </p:nvSpPr>
        <p:spPr>
          <a:xfrm>
            <a:off x="4983480" y="1581912"/>
            <a:ext cx="4640580" cy="1005840"/>
          </a:xfrm>
          <a:prstGeom prst="rect">
            <a:avLst/>
          </a:prstGeom>
          <a:solidFill>
            <a:srgbClr val="FFFFFF"/>
          </a:solidFill>
          <a:ln w="7620">
            <a:solidFill>
              <a:srgbClr val="D8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074920" y="1819656"/>
            <a:ext cx="4453128" cy="548640"/>
          </a:xfrm>
          <a:prstGeom prst="rect">
            <a:avLst/>
          </a:prstGeom>
          <a:noFill/>
        </p:spPr>
        <p:txBody>
          <a:bodyPr wrap="square" lIns="54864" rIns="54864" tIns="22860" bIns="22860">
            <a:spAutoFit/>
          </a:bodyPr>
          <a:lstStyle/>
          <a:p>
            <a:pPr>
              <a:lnSpc>
                <a:spcPts val="2730"/>
              </a:lnSpc>
              <a:spcBef>
                <a:spcPts val="0"/>
              </a:spcBef>
              <a:spcAft>
                <a:spcPts val="0"/>
              </a:spcAft>
              <a:defRPr sz="2600" b="0">
                <a:solidFill>
                  <a:srgbClr val="182B3A"/>
                </a:solidFill>
                <a:latin typeface="Arial"/>
              </a:defRPr>
            </a:pPr>
            <a:r>
              <a:t>1.  0 − (−6)</a:t>
            </a:r>
          </a:p>
        </p:txBody>
      </p:sp>
      <p:sp>
        <p:nvSpPr>
          <p:cNvPr id="17" name="Rectangle 16"/>
          <p:cNvSpPr/>
          <p:nvPr/>
        </p:nvSpPr>
        <p:spPr>
          <a:xfrm>
            <a:off x="9646920" y="1581912"/>
            <a:ext cx="4640580" cy="1005840"/>
          </a:xfrm>
          <a:prstGeom prst="rect">
            <a:avLst/>
          </a:prstGeom>
          <a:solidFill>
            <a:srgbClr val="FFFFFF"/>
          </a:solidFill>
          <a:ln w="7620">
            <a:solidFill>
              <a:srgbClr val="D8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9738360" y="1819656"/>
            <a:ext cx="4453128" cy="548640"/>
          </a:xfrm>
          <a:prstGeom prst="rect">
            <a:avLst/>
          </a:prstGeom>
          <a:noFill/>
        </p:spPr>
        <p:txBody>
          <a:bodyPr wrap="square" lIns="54864" rIns="54864" tIns="22860" bIns="22860">
            <a:spAutoFit/>
          </a:bodyPr>
          <a:lstStyle/>
          <a:p>
            <a:pPr>
              <a:lnSpc>
                <a:spcPts val="2730"/>
              </a:lnSpc>
              <a:spcBef>
                <a:spcPts val="0"/>
              </a:spcBef>
              <a:spcAft>
                <a:spcPts val="0"/>
              </a:spcAft>
              <a:defRPr sz="2600" b="0">
                <a:solidFill>
                  <a:srgbClr val="182B3A"/>
                </a:solidFill>
                <a:latin typeface="Arial"/>
              </a:defRPr>
            </a:pPr>
            <a:r>
              <a:t>1.  −12 + 7 + 8</a:t>
            </a:r>
          </a:p>
        </p:txBody>
      </p:sp>
      <p:sp>
        <p:nvSpPr>
          <p:cNvPr id="19" name="Rectangle 18"/>
          <p:cNvSpPr/>
          <p:nvPr/>
        </p:nvSpPr>
        <p:spPr>
          <a:xfrm>
            <a:off x="320040" y="2587752"/>
            <a:ext cx="4640580" cy="1005840"/>
          </a:xfrm>
          <a:prstGeom prst="rect">
            <a:avLst/>
          </a:prstGeom>
          <a:solidFill>
            <a:srgbClr val="EDF6F5"/>
          </a:solidFill>
          <a:ln w="7620">
            <a:solidFill>
              <a:srgbClr val="D8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411479" y="2825496"/>
            <a:ext cx="4453128" cy="548640"/>
          </a:xfrm>
          <a:prstGeom prst="rect">
            <a:avLst/>
          </a:prstGeom>
          <a:noFill/>
        </p:spPr>
        <p:txBody>
          <a:bodyPr wrap="square" lIns="54864" rIns="54864" tIns="22860" bIns="22860">
            <a:spAutoFit/>
          </a:bodyPr>
          <a:lstStyle/>
          <a:p>
            <a:pPr>
              <a:lnSpc>
                <a:spcPts val="2730"/>
              </a:lnSpc>
              <a:spcBef>
                <a:spcPts val="0"/>
              </a:spcBef>
              <a:spcAft>
                <a:spcPts val="0"/>
              </a:spcAft>
              <a:defRPr sz="2600" b="0">
                <a:solidFill>
                  <a:srgbClr val="182B3A"/>
                </a:solidFill>
                <a:latin typeface="Arial"/>
              </a:defRPr>
            </a:pPr>
            <a:r>
              <a:t>2.  11 − 18</a:t>
            </a:r>
          </a:p>
        </p:txBody>
      </p:sp>
      <p:sp>
        <p:nvSpPr>
          <p:cNvPr id="21" name="Rectangle 20"/>
          <p:cNvSpPr/>
          <p:nvPr/>
        </p:nvSpPr>
        <p:spPr>
          <a:xfrm>
            <a:off x="4983480" y="2587752"/>
            <a:ext cx="4640580" cy="1005840"/>
          </a:xfrm>
          <a:prstGeom prst="rect">
            <a:avLst/>
          </a:prstGeom>
          <a:solidFill>
            <a:srgbClr val="EFF3FA"/>
          </a:solidFill>
          <a:ln w="7620">
            <a:solidFill>
              <a:srgbClr val="D8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5074920" y="2825496"/>
            <a:ext cx="4453128" cy="548640"/>
          </a:xfrm>
          <a:prstGeom prst="rect">
            <a:avLst/>
          </a:prstGeom>
          <a:noFill/>
        </p:spPr>
        <p:txBody>
          <a:bodyPr wrap="square" lIns="54864" rIns="54864" tIns="22860" bIns="22860">
            <a:spAutoFit/>
          </a:bodyPr>
          <a:lstStyle/>
          <a:p>
            <a:pPr>
              <a:lnSpc>
                <a:spcPts val="2730"/>
              </a:lnSpc>
              <a:spcBef>
                <a:spcPts val="0"/>
              </a:spcBef>
              <a:spcAft>
                <a:spcPts val="0"/>
              </a:spcAft>
              <a:defRPr sz="2600" b="0">
                <a:solidFill>
                  <a:srgbClr val="182B3A"/>
                </a:solidFill>
                <a:latin typeface="Arial"/>
              </a:defRPr>
            </a:pPr>
            <a:r>
              <a:t>2.  −11 − (−8)</a:t>
            </a:r>
          </a:p>
        </p:txBody>
      </p:sp>
      <p:sp>
        <p:nvSpPr>
          <p:cNvPr id="23" name="Rectangle 22"/>
          <p:cNvSpPr/>
          <p:nvPr/>
        </p:nvSpPr>
        <p:spPr>
          <a:xfrm>
            <a:off x="9646920" y="2587752"/>
            <a:ext cx="4640580" cy="1005840"/>
          </a:xfrm>
          <a:prstGeom prst="rect">
            <a:avLst/>
          </a:prstGeom>
          <a:solidFill>
            <a:srgbClr val="F5F0F7"/>
          </a:solidFill>
          <a:ln w="7620">
            <a:solidFill>
              <a:srgbClr val="D8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9738360" y="2825496"/>
            <a:ext cx="4453128" cy="548640"/>
          </a:xfrm>
          <a:prstGeom prst="rect">
            <a:avLst/>
          </a:prstGeom>
          <a:noFill/>
        </p:spPr>
        <p:txBody>
          <a:bodyPr wrap="square" lIns="54864" rIns="54864" tIns="22860" bIns="22860">
            <a:spAutoFit/>
          </a:bodyPr>
          <a:lstStyle/>
          <a:p>
            <a:pPr>
              <a:lnSpc>
                <a:spcPts val="2730"/>
              </a:lnSpc>
              <a:spcBef>
                <a:spcPts val="0"/>
              </a:spcBef>
              <a:spcAft>
                <a:spcPts val="0"/>
              </a:spcAft>
              <a:defRPr sz="2600" b="0">
                <a:solidFill>
                  <a:srgbClr val="182B3A"/>
                </a:solidFill>
                <a:latin typeface="Arial"/>
              </a:defRPr>
            </a:pPr>
            <a:r>
              <a:t>2.  4 − (−5) + (−12)</a:t>
            </a:r>
          </a:p>
        </p:txBody>
      </p:sp>
      <p:sp>
        <p:nvSpPr>
          <p:cNvPr id="25" name="Rectangle 24"/>
          <p:cNvSpPr/>
          <p:nvPr/>
        </p:nvSpPr>
        <p:spPr>
          <a:xfrm>
            <a:off x="320040" y="3593592"/>
            <a:ext cx="4640580" cy="1005840"/>
          </a:xfrm>
          <a:prstGeom prst="rect">
            <a:avLst/>
          </a:prstGeom>
          <a:solidFill>
            <a:srgbClr val="FFFFFF"/>
          </a:solidFill>
          <a:ln w="7620">
            <a:solidFill>
              <a:srgbClr val="D8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411479" y="3831336"/>
            <a:ext cx="4453128" cy="548640"/>
          </a:xfrm>
          <a:prstGeom prst="rect">
            <a:avLst/>
          </a:prstGeom>
          <a:noFill/>
        </p:spPr>
        <p:txBody>
          <a:bodyPr wrap="square" lIns="54864" rIns="54864" tIns="22860" bIns="22860">
            <a:spAutoFit/>
          </a:bodyPr>
          <a:lstStyle/>
          <a:p>
            <a:pPr>
              <a:lnSpc>
                <a:spcPts val="2730"/>
              </a:lnSpc>
              <a:spcBef>
                <a:spcPts val="0"/>
              </a:spcBef>
              <a:spcAft>
                <a:spcPts val="0"/>
              </a:spcAft>
              <a:defRPr sz="2600" b="0">
                <a:solidFill>
                  <a:srgbClr val="182B3A"/>
                </a:solidFill>
                <a:latin typeface="Arial"/>
              </a:defRPr>
            </a:pPr>
            <a:r>
              <a:t>3.  −6 − 8</a:t>
            </a:r>
          </a:p>
        </p:txBody>
      </p:sp>
      <p:sp>
        <p:nvSpPr>
          <p:cNvPr id="27" name="Rectangle 26"/>
          <p:cNvSpPr/>
          <p:nvPr/>
        </p:nvSpPr>
        <p:spPr>
          <a:xfrm>
            <a:off x="4983480" y="3593592"/>
            <a:ext cx="4640580" cy="1005840"/>
          </a:xfrm>
          <a:prstGeom prst="rect">
            <a:avLst/>
          </a:prstGeom>
          <a:solidFill>
            <a:srgbClr val="FFFFFF"/>
          </a:solidFill>
          <a:ln w="7620">
            <a:solidFill>
              <a:srgbClr val="D8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5074920" y="3831336"/>
            <a:ext cx="4453128" cy="548640"/>
          </a:xfrm>
          <a:prstGeom prst="rect">
            <a:avLst/>
          </a:prstGeom>
          <a:noFill/>
        </p:spPr>
        <p:txBody>
          <a:bodyPr wrap="square" lIns="54864" rIns="54864" tIns="22860" bIns="22860">
            <a:spAutoFit/>
          </a:bodyPr>
          <a:lstStyle/>
          <a:p>
            <a:pPr>
              <a:lnSpc>
                <a:spcPts val="2730"/>
              </a:lnSpc>
              <a:spcBef>
                <a:spcPts val="0"/>
              </a:spcBef>
              <a:spcAft>
                <a:spcPts val="0"/>
              </a:spcAft>
              <a:defRPr sz="2600" b="0">
                <a:solidFill>
                  <a:srgbClr val="182B3A"/>
                </a:solidFill>
                <a:latin typeface="Arial"/>
              </a:defRPr>
            </a:pPr>
            <a:r>
              <a:t>3.  5 + (−13)</a:t>
            </a:r>
          </a:p>
        </p:txBody>
      </p:sp>
      <p:sp>
        <p:nvSpPr>
          <p:cNvPr id="29" name="Rectangle 28"/>
          <p:cNvSpPr/>
          <p:nvPr/>
        </p:nvSpPr>
        <p:spPr>
          <a:xfrm>
            <a:off x="9646920" y="3593592"/>
            <a:ext cx="4640580" cy="1005840"/>
          </a:xfrm>
          <a:prstGeom prst="rect">
            <a:avLst/>
          </a:prstGeom>
          <a:solidFill>
            <a:srgbClr val="FFFFFF"/>
          </a:solidFill>
          <a:ln w="7620">
            <a:solidFill>
              <a:srgbClr val="D8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9738360" y="3831336"/>
            <a:ext cx="4453128" cy="548640"/>
          </a:xfrm>
          <a:prstGeom prst="rect">
            <a:avLst/>
          </a:prstGeom>
          <a:noFill/>
        </p:spPr>
        <p:txBody>
          <a:bodyPr wrap="square" lIns="54864" rIns="54864" tIns="22860" bIns="22860">
            <a:spAutoFit/>
          </a:bodyPr>
          <a:lstStyle/>
          <a:p>
            <a:pPr>
              <a:lnSpc>
                <a:spcPts val="2730"/>
              </a:lnSpc>
              <a:spcBef>
                <a:spcPts val="0"/>
              </a:spcBef>
              <a:spcAft>
                <a:spcPts val="0"/>
              </a:spcAft>
              <a:defRPr sz="2600" b="0">
                <a:solidFill>
                  <a:srgbClr val="182B3A"/>
                </a:solidFill>
                <a:latin typeface="Arial"/>
              </a:defRPr>
            </a:pPr>
            <a:r>
              <a:t>3.  −6 − (−9) + (−3)</a:t>
            </a:r>
          </a:p>
        </p:txBody>
      </p:sp>
      <p:sp>
        <p:nvSpPr>
          <p:cNvPr id="31" name="Rectangle 30"/>
          <p:cNvSpPr/>
          <p:nvPr/>
        </p:nvSpPr>
        <p:spPr>
          <a:xfrm>
            <a:off x="320040" y="4599432"/>
            <a:ext cx="4640580" cy="1005840"/>
          </a:xfrm>
          <a:prstGeom prst="rect">
            <a:avLst/>
          </a:prstGeom>
          <a:solidFill>
            <a:srgbClr val="EDF6F5"/>
          </a:solidFill>
          <a:ln w="7620">
            <a:solidFill>
              <a:srgbClr val="D8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411479" y="4837176"/>
            <a:ext cx="4453128" cy="548640"/>
          </a:xfrm>
          <a:prstGeom prst="rect">
            <a:avLst/>
          </a:prstGeom>
          <a:noFill/>
        </p:spPr>
        <p:txBody>
          <a:bodyPr wrap="square" lIns="54864" rIns="54864" tIns="22860" bIns="22860">
            <a:spAutoFit/>
          </a:bodyPr>
          <a:lstStyle/>
          <a:p>
            <a:pPr>
              <a:lnSpc>
                <a:spcPts val="2730"/>
              </a:lnSpc>
              <a:spcBef>
                <a:spcPts val="0"/>
              </a:spcBef>
              <a:spcAft>
                <a:spcPts val="0"/>
              </a:spcAft>
              <a:defRPr sz="2600" b="0">
                <a:solidFill>
                  <a:srgbClr val="182B3A"/>
                </a:solidFill>
                <a:latin typeface="Arial"/>
              </a:defRPr>
            </a:pPr>
            <a:r>
              <a:t>4.  −9 + 14</a:t>
            </a:r>
          </a:p>
        </p:txBody>
      </p:sp>
      <p:sp>
        <p:nvSpPr>
          <p:cNvPr id="33" name="Rectangle 32"/>
          <p:cNvSpPr/>
          <p:nvPr/>
        </p:nvSpPr>
        <p:spPr>
          <a:xfrm>
            <a:off x="4983480" y="4599432"/>
            <a:ext cx="4640580" cy="1005840"/>
          </a:xfrm>
          <a:prstGeom prst="rect">
            <a:avLst/>
          </a:prstGeom>
          <a:solidFill>
            <a:srgbClr val="EFF3FA"/>
          </a:solidFill>
          <a:ln w="7620">
            <a:solidFill>
              <a:srgbClr val="D8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5074920" y="4837176"/>
            <a:ext cx="4453128" cy="548640"/>
          </a:xfrm>
          <a:prstGeom prst="rect">
            <a:avLst/>
          </a:prstGeom>
          <a:noFill/>
        </p:spPr>
        <p:txBody>
          <a:bodyPr wrap="square" lIns="54864" rIns="54864" tIns="22860" bIns="22860">
            <a:spAutoFit/>
          </a:bodyPr>
          <a:lstStyle/>
          <a:p>
            <a:pPr>
              <a:lnSpc>
                <a:spcPts val="2730"/>
              </a:lnSpc>
              <a:spcBef>
                <a:spcPts val="0"/>
              </a:spcBef>
              <a:spcAft>
                <a:spcPts val="0"/>
              </a:spcAft>
              <a:defRPr sz="2600" b="0">
                <a:solidFill>
                  <a:srgbClr val="182B3A"/>
                </a:solidFill>
                <a:latin typeface="Arial"/>
              </a:defRPr>
            </a:pPr>
            <a:r>
              <a:t>4.  −7 − (−12)</a:t>
            </a:r>
          </a:p>
        </p:txBody>
      </p:sp>
      <p:sp>
        <p:nvSpPr>
          <p:cNvPr id="35" name="Rectangle 34"/>
          <p:cNvSpPr/>
          <p:nvPr/>
        </p:nvSpPr>
        <p:spPr>
          <a:xfrm>
            <a:off x="9646920" y="4599432"/>
            <a:ext cx="4640580" cy="1005840"/>
          </a:xfrm>
          <a:prstGeom prst="rect">
            <a:avLst/>
          </a:prstGeom>
          <a:solidFill>
            <a:srgbClr val="F5F0F7"/>
          </a:solidFill>
          <a:ln w="7620">
            <a:solidFill>
              <a:srgbClr val="D8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9738360" y="4837176"/>
            <a:ext cx="4453128" cy="548640"/>
          </a:xfrm>
          <a:prstGeom prst="rect">
            <a:avLst/>
          </a:prstGeom>
          <a:noFill/>
        </p:spPr>
        <p:txBody>
          <a:bodyPr wrap="square" lIns="54864" rIns="54864" tIns="22860" bIns="22860">
            <a:spAutoFit/>
          </a:bodyPr>
          <a:lstStyle/>
          <a:p>
            <a:pPr>
              <a:lnSpc>
                <a:spcPts val="2730"/>
              </a:lnSpc>
              <a:spcBef>
                <a:spcPts val="0"/>
              </a:spcBef>
              <a:spcAft>
                <a:spcPts val="0"/>
              </a:spcAft>
              <a:defRPr sz="2600" b="0">
                <a:solidFill>
                  <a:srgbClr val="182B3A"/>
                </a:solidFill>
                <a:latin typeface="Arial"/>
              </a:defRPr>
            </a:pPr>
            <a:r>
              <a:t>4.  5 − 13 − (−2)</a:t>
            </a:r>
          </a:p>
        </p:txBody>
      </p:sp>
      <p:sp>
        <p:nvSpPr>
          <p:cNvPr id="37" name="Rectangle 36"/>
          <p:cNvSpPr/>
          <p:nvPr/>
        </p:nvSpPr>
        <p:spPr>
          <a:xfrm>
            <a:off x="320040" y="5605272"/>
            <a:ext cx="4640580" cy="1005840"/>
          </a:xfrm>
          <a:prstGeom prst="rect">
            <a:avLst/>
          </a:prstGeom>
          <a:solidFill>
            <a:srgbClr val="FFFFFF"/>
          </a:solidFill>
          <a:ln w="7620">
            <a:solidFill>
              <a:srgbClr val="D8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411479" y="5843016"/>
            <a:ext cx="4453128" cy="548640"/>
          </a:xfrm>
          <a:prstGeom prst="rect">
            <a:avLst/>
          </a:prstGeom>
          <a:noFill/>
        </p:spPr>
        <p:txBody>
          <a:bodyPr wrap="square" lIns="54864" rIns="54864" tIns="22860" bIns="22860">
            <a:spAutoFit/>
          </a:bodyPr>
          <a:lstStyle/>
          <a:p>
            <a:pPr>
              <a:lnSpc>
                <a:spcPts val="2730"/>
              </a:lnSpc>
              <a:spcBef>
                <a:spcPts val="0"/>
              </a:spcBef>
              <a:spcAft>
                <a:spcPts val="0"/>
              </a:spcAft>
              <a:defRPr sz="2600" b="0">
                <a:solidFill>
                  <a:srgbClr val="182B3A"/>
                </a:solidFill>
                <a:latin typeface="Arial"/>
              </a:defRPr>
            </a:pPr>
            <a:r>
              <a:t>5.  −15 + 15</a:t>
            </a:r>
          </a:p>
        </p:txBody>
      </p:sp>
      <p:sp>
        <p:nvSpPr>
          <p:cNvPr id="39" name="Rectangle 38"/>
          <p:cNvSpPr/>
          <p:nvPr/>
        </p:nvSpPr>
        <p:spPr>
          <a:xfrm>
            <a:off x="4983480" y="5605272"/>
            <a:ext cx="4640580" cy="1005840"/>
          </a:xfrm>
          <a:prstGeom prst="rect">
            <a:avLst/>
          </a:prstGeom>
          <a:solidFill>
            <a:srgbClr val="FFFFFF"/>
          </a:solidFill>
          <a:ln w="7620">
            <a:solidFill>
              <a:srgbClr val="D8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5074920" y="5843016"/>
            <a:ext cx="4453128" cy="548640"/>
          </a:xfrm>
          <a:prstGeom prst="rect">
            <a:avLst/>
          </a:prstGeom>
          <a:noFill/>
        </p:spPr>
        <p:txBody>
          <a:bodyPr wrap="square" lIns="54864" rIns="54864" tIns="22860" bIns="22860">
            <a:spAutoFit/>
          </a:bodyPr>
          <a:lstStyle/>
          <a:p>
            <a:pPr>
              <a:lnSpc>
                <a:spcPts val="2730"/>
              </a:lnSpc>
              <a:spcBef>
                <a:spcPts val="0"/>
              </a:spcBef>
              <a:spcAft>
                <a:spcPts val="0"/>
              </a:spcAft>
              <a:defRPr sz="2600" b="0">
                <a:solidFill>
                  <a:srgbClr val="182B3A"/>
                </a:solidFill>
                <a:latin typeface="Arial"/>
              </a:defRPr>
            </a:pPr>
            <a:r>
              <a:t>5.  12 − (−3)</a:t>
            </a:r>
          </a:p>
        </p:txBody>
      </p:sp>
      <p:sp>
        <p:nvSpPr>
          <p:cNvPr id="41" name="Rectangle 40"/>
          <p:cNvSpPr/>
          <p:nvPr/>
        </p:nvSpPr>
        <p:spPr>
          <a:xfrm>
            <a:off x="9646920" y="5605272"/>
            <a:ext cx="4640580" cy="1005840"/>
          </a:xfrm>
          <a:prstGeom prst="rect">
            <a:avLst/>
          </a:prstGeom>
          <a:solidFill>
            <a:srgbClr val="FFFFFF"/>
          </a:solidFill>
          <a:ln w="7620">
            <a:solidFill>
              <a:srgbClr val="D8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9738360" y="5843016"/>
            <a:ext cx="4453128" cy="548640"/>
          </a:xfrm>
          <a:prstGeom prst="rect">
            <a:avLst/>
          </a:prstGeom>
          <a:noFill/>
        </p:spPr>
        <p:txBody>
          <a:bodyPr wrap="square" lIns="54864" rIns="54864" tIns="22860" bIns="22860">
            <a:spAutoFit/>
          </a:bodyPr>
          <a:lstStyle/>
          <a:p>
            <a:pPr>
              <a:lnSpc>
                <a:spcPts val="2730"/>
              </a:lnSpc>
              <a:spcBef>
                <a:spcPts val="0"/>
              </a:spcBef>
              <a:spcAft>
                <a:spcPts val="0"/>
              </a:spcAft>
              <a:defRPr sz="2600" b="0">
                <a:solidFill>
                  <a:srgbClr val="182B3A"/>
                </a:solidFill>
                <a:latin typeface="Arial"/>
              </a:defRPr>
            </a:pPr>
            <a:r>
              <a:t>5.  8 + (−11) − 4</a:t>
            </a:r>
          </a:p>
        </p:txBody>
      </p:sp>
      <p:sp>
        <p:nvSpPr>
          <p:cNvPr id="43" name="Rectangle 42"/>
          <p:cNvSpPr/>
          <p:nvPr/>
        </p:nvSpPr>
        <p:spPr>
          <a:xfrm>
            <a:off x="320040" y="6611112"/>
            <a:ext cx="4640580" cy="1005840"/>
          </a:xfrm>
          <a:prstGeom prst="rect">
            <a:avLst/>
          </a:prstGeom>
          <a:solidFill>
            <a:srgbClr val="EDF6F5"/>
          </a:solidFill>
          <a:ln w="7620">
            <a:solidFill>
              <a:srgbClr val="D8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411479" y="6848856"/>
            <a:ext cx="4453128" cy="548640"/>
          </a:xfrm>
          <a:prstGeom prst="rect">
            <a:avLst/>
          </a:prstGeom>
          <a:noFill/>
        </p:spPr>
        <p:txBody>
          <a:bodyPr wrap="square" lIns="54864" rIns="54864" tIns="22860" bIns="22860">
            <a:spAutoFit/>
          </a:bodyPr>
          <a:lstStyle/>
          <a:p>
            <a:pPr>
              <a:lnSpc>
                <a:spcPts val="2730"/>
              </a:lnSpc>
              <a:spcBef>
                <a:spcPts val="0"/>
              </a:spcBef>
              <a:spcAft>
                <a:spcPts val="0"/>
              </a:spcAft>
              <a:defRPr sz="2600" b="0">
                <a:solidFill>
                  <a:srgbClr val="182B3A"/>
                </a:solidFill>
                <a:latin typeface="Arial"/>
              </a:defRPr>
            </a:pPr>
            <a:r>
              <a:t>6.  8 − 13</a:t>
            </a:r>
          </a:p>
        </p:txBody>
      </p:sp>
      <p:sp>
        <p:nvSpPr>
          <p:cNvPr id="45" name="Rectangle 44"/>
          <p:cNvSpPr/>
          <p:nvPr/>
        </p:nvSpPr>
        <p:spPr>
          <a:xfrm>
            <a:off x="4983480" y="6611112"/>
            <a:ext cx="4640580" cy="1005840"/>
          </a:xfrm>
          <a:prstGeom prst="rect">
            <a:avLst/>
          </a:prstGeom>
          <a:solidFill>
            <a:srgbClr val="EFF3FA"/>
          </a:solidFill>
          <a:ln w="7620">
            <a:solidFill>
              <a:srgbClr val="D8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5074920" y="6848856"/>
            <a:ext cx="4453128" cy="548640"/>
          </a:xfrm>
          <a:prstGeom prst="rect">
            <a:avLst/>
          </a:prstGeom>
          <a:noFill/>
        </p:spPr>
        <p:txBody>
          <a:bodyPr wrap="square" lIns="54864" rIns="54864" tIns="22860" bIns="22860">
            <a:spAutoFit/>
          </a:bodyPr>
          <a:lstStyle/>
          <a:p>
            <a:pPr>
              <a:lnSpc>
                <a:spcPts val="2730"/>
              </a:lnSpc>
              <a:spcBef>
                <a:spcPts val="0"/>
              </a:spcBef>
              <a:spcAft>
                <a:spcPts val="0"/>
              </a:spcAft>
              <a:defRPr sz="2600" b="0">
                <a:solidFill>
                  <a:srgbClr val="182B3A"/>
                </a:solidFill>
                <a:latin typeface="Arial"/>
              </a:defRPr>
            </a:pPr>
            <a:r>
              <a:t>6.  −4 + (−9)</a:t>
            </a:r>
          </a:p>
        </p:txBody>
      </p:sp>
      <p:sp>
        <p:nvSpPr>
          <p:cNvPr id="47" name="Rectangle 46"/>
          <p:cNvSpPr/>
          <p:nvPr/>
        </p:nvSpPr>
        <p:spPr>
          <a:xfrm>
            <a:off x="9646920" y="6611112"/>
            <a:ext cx="4640580" cy="1005840"/>
          </a:xfrm>
          <a:prstGeom prst="rect">
            <a:avLst/>
          </a:prstGeom>
          <a:solidFill>
            <a:srgbClr val="F5F0F7"/>
          </a:solidFill>
          <a:ln w="7620">
            <a:solidFill>
              <a:srgbClr val="D8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9738360" y="6848856"/>
            <a:ext cx="4453128" cy="548640"/>
          </a:xfrm>
          <a:prstGeom prst="rect">
            <a:avLst/>
          </a:prstGeom>
          <a:noFill/>
        </p:spPr>
        <p:txBody>
          <a:bodyPr wrap="square" lIns="54864" rIns="54864" tIns="22860" bIns="22860">
            <a:spAutoFit/>
          </a:bodyPr>
          <a:lstStyle/>
          <a:p>
            <a:pPr>
              <a:lnSpc>
                <a:spcPts val="2730"/>
              </a:lnSpc>
              <a:spcBef>
                <a:spcPts val="0"/>
              </a:spcBef>
              <a:spcAft>
                <a:spcPts val="0"/>
              </a:spcAft>
              <a:defRPr sz="2600" b="0">
                <a:solidFill>
                  <a:srgbClr val="182B3A"/>
                </a:solidFill>
                <a:latin typeface="Arial"/>
              </a:defRPr>
            </a:pPr>
            <a:r>
              <a:t>6.  −10 + 6 − (−7)</a:t>
            </a:r>
          </a:p>
        </p:txBody>
      </p:sp>
      <p:sp>
        <p:nvSpPr>
          <p:cNvPr id="49" name="Progression curved arrow: Thread 1 to Thread 2"/>
          <p:cNvSpPr/>
          <p:nvPr/>
        </p:nvSpPr>
        <p:spPr>
          <a:xfrm>
            <a:off x="4649723" y="7552294"/>
            <a:ext cx="621792" cy="314053"/>
          </a:xfrm>
          <a:custGeom>
            <a:avLst/>
            <a:gdLst/>
            <a:ahLst/>
            <a:cxnLst/>
            <a:rect l="0" t="0" r="100000" b="100000"/>
            <a:pathLst>
              <a:path w="100000" h="100000" fill="none">
                <a:moveTo>
                  <a:pt x="6970" y="48439"/>
                </a:moveTo>
                <a:cubicBezTo>
                  <a:pt x="40678" y="114499"/>
                  <a:pt x="73026" y="88145"/>
                  <a:pt x="93030" y="13799"/>
                </a:cubicBezTo>
              </a:path>
              <a:path w="100000" h="100000" fill="none">
                <a:moveTo>
                  <a:pt x="69018" y="40431"/>
                </a:moveTo>
                <a:lnTo>
                  <a:pt x="93030" y="13799"/>
                </a:lnTo>
                <a:lnTo>
                  <a:pt x="92217" y="66207"/>
                </a:lnTo>
              </a:path>
            </a:pathLst>
          </a:custGeom>
          <a:noFill/>
          <a:ln w="64449" cap="rnd">
            <a:solidFill>
              <a:schemeClr val="accent6">
                <a:lumMod val="60000"/>
                <a:lumOff val="40000"/>
              </a:schemeClr>
            </a:solidFill>
            <a:round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Progression curved arrow: Thread 2 to Thread 3"/>
          <p:cNvSpPr/>
          <p:nvPr/>
        </p:nvSpPr>
        <p:spPr>
          <a:xfrm>
            <a:off x="9265327" y="7543800"/>
            <a:ext cx="621792" cy="314053"/>
          </a:xfrm>
          <a:custGeom>
            <a:avLst/>
            <a:gdLst/>
            <a:ahLst/>
            <a:cxnLst/>
            <a:rect l="0" t="0" r="100000" b="100000"/>
            <a:pathLst>
              <a:path w="100000" h="100000" fill="none">
                <a:moveTo>
                  <a:pt x="6970" y="48439"/>
                </a:moveTo>
                <a:cubicBezTo>
                  <a:pt x="40678" y="114499"/>
                  <a:pt x="73026" y="88145"/>
                  <a:pt x="93030" y="13799"/>
                </a:cubicBezTo>
              </a:path>
              <a:path w="100000" h="100000" fill="none">
                <a:moveTo>
                  <a:pt x="69018" y="40431"/>
                </a:moveTo>
                <a:lnTo>
                  <a:pt x="93030" y="13799"/>
                </a:lnTo>
                <a:lnTo>
                  <a:pt x="92217" y="66207"/>
                </a:lnTo>
              </a:path>
            </a:pathLst>
          </a:custGeom>
          <a:noFill/>
          <a:ln w="64449" cap="rnd">
            <a:solidFill>
              <a:schemeClr val="accent6">
                <a:lumMod val="60000"/>
                <a:lumOff val="40000"/>
              </a:schemeClr>
            </a:solidFill>
            <a:round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