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Initial assessment; no hints or answers on question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Student instruction: **Follow each calculation. Explain what each sign means.**</a:t>
            </a:r>
          </a:p>
          <a:p/>
          <a:p>
            <a:r>
              <a:t>| Step | Thread 1: Guided | Thread 2: Core | Thread 3: Depth |</a:t>
            </a:r>
          </a:p>
          <a:p>
            <a:r>
              <a:t>| --- | --- | --- | --- |</a:t>
            </a:r>
          </a:p>
          <a:p>
            <a:r>
              <a:t>| Question | −4 + 7 | 6 − (−3) | −5 + 8 − (−2) |</a:t>
            </a:r>
          </a:p>
          <a:p>
            <a:r>
              <a:t>| Read the Signs | Start at −4; add positive 7. | Start at 6; subtract negative 3. | Add positive 8, then subtract negative 2. |</a:t>
            </a:r>
          </a:p>
          <a:p>
            <a:r>
              <a:t>| Rewrite the Calculation | −4 + 7 is already an addition. | 6 − (−3) = 6 + 3. | −5 + 8 + 2. |</a:t>
            </a:r>
          </a:p>
          <a:p>
            <a:r>
              <a:t>| Calculate | Move 4 right to 0, then 3 right: 3. | 6 + 3 = 9. | −5 + 8 = 3; 3 + 2 = 5. |</a:t>
            </a:r>
          </a:p>
          <a:p>
            <a:r>
              <a:t>| Check the Answer | 3 − 7 = −4. Answer: 3. | 9 + (−3) = 6. Answer: 9. | 5 + (−2) = 3; 3 − 8 = −5. Answer: 5. |</a:t>
            </a:r>
          </a:p>
          <a:p/>
          <a:p>
            <a:r>
              <a:t>Diagram specification: Three editable number lines, one per demo column, with integer ticks and a labelled zero. Guided: range −5 to 4, start −4, rightward jumps +4 to 0 and +3 to 3; bracket the jumps as +7. Core: range 0 to 10, start 6 and a rightward jump to 9 labelled “subtract −3 = add 3”. Depth: range −6 to 6, start −5, rightward jump +8 to 3, then +2 to 5. Mark each start and endpoint. Use equal tick spacing, visible arrowheads and labels clear of ticks. These accompany the worked calculation; students need not draw a line for every question.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Student instruction: **Work out each calculation. Show your working.**</a:t>
            </a:r>
          </a:p>
          <a:p/>
          <a:p>
            <a:r>
              <a:t>| Step | Thread 1: Guided | Thread 2: Core | Thread 3: Depth |</a:t>
            </a:r>
          </a:p>
          <a:p>
            <a:r>
              <a:t>| --- | --- | --- | --- |</a:t>
            </a:r>
          </a:p>
          <a:p>
            <a:r>
              <a:t>| Question | −6 + 9 | 4 + (−7) | −8 + 5 − (−4) |</a:t>
            </a:r>
          </a:p>
          <a:p>
            <a:r>
              <a:t>| Read the Signs | Identify the operation signs and the signs belonging to the numbers. | Identify the operation signs and the signs belonging to the numbers. | Identify the operation signs and the signs belonging to the numbers. |</a:t>
            </a:r>
          </a:p>
          <a:p>
            <a:r>
              <a:t>| Rewrite the Calculation | Replace subtraction by addition of the opposite where useful. | Replace subtraction by addition of the opposite where useful. | Replace subtraction by addition of the opposite where useful. |</a:t>
            </a:r>
          </a:p>
          <a:p>
            <a:r>
              <a:t>| Calculate | Work from left to right. Show each result. | Work from left to right. Show each result. | Work from left to right. Show each result. |</a:t>
            </a:r>
          </a:p>
          <a:p>
            <a:r>
              <a:t>| Check the Answer | Undo the last operation to check. Write the final answer. | Undo the last operation to check. Write the final answer. | Undo the last operation to check. Write the final answer. |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Student instruction: **Work out each calculation. Show your working.**</a:t>
            </a:r>
          </a:p>
          <a:p/>
          <a:p>
            <a:r>
              <a:t>| Step | Thread 1: Guided | Thread 2: Core | Thread 3: Depth |</a:t>
            </a:r>
          </a:p>
          <a:p>
            <a:r>
              <a:t>| --- | --- | --- | --- |</a:t>
            </a:r>
          </a:p>
          <a:p>
            <a:r>
              <a:t>| Question | 3 − 8 | −5 − (−9) | 7 − (−2) + (−12) |</a:t>
            </a:r>
          </a:p>
          <a:p>
            <a:r>
              <a:t>| Read the Signs | Identify the operation signs and the signs belonging to the numbers. | Identify the operation signs and the signs belonging to the numbers. | Identify the operation signs and the signs belonging to the numbers. |</a:t>
            </a:r>
          </a:p>
          <a:p>
            <a:r>
              <a:t>| Rewrite the Calculation | Replace subtraction by addition of the opposite where useful. | Replace subtraction by addition of the opposite where useful. | Replace subtraction by addition of the opposite where useful. |</a:t>
            </a:r>
          </a:p>
          <a:p>
            <a:r>
              <a:t>| Calculate | Work from left to right. Show each result. | Work from left to right. Show each result. | Work from left to right. Show each result. |</a:t>
            </a:r>
          </a:p>
          <a:p>
            <a:r>
              <a:t>| Check the Answer | Undo the last operation to check. Write the final answer. | Undo the last operation to check. Write the final answer. | Undo the last operation to check. Write the final answer. |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Signed numbers: addition and subtraction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Initial assessment • Work out all four questions. Show your working.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M13-IA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6720840" cy="251460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874520"/>
            <a:ext cx="6309360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315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82B3A"/>
                </a:solidFill>
                <a:latin typeface="Arial"/>
              </a:defRPr>
            </a:pPr>
            <a:r>
              <a:t>1.  −2 + 9</a:t>
            </a:r>
          </a:p>
        </p:txBody>
      </p:sp>
      <p:sp>
        <p:nvSpPr>
          <p:cNvPr id="9" name="Rectangle 8"/>
          <p:cNvSpPr/>
          <p:nvPr/>
        </p:nvSpPr>
        <p:spPr>
          <a:xfrm>
            <a:off x="7452360" y="1691640"/>
            <a:ext cx="6720840" cy="251460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16952" y="1874520"/>
            <a:ext cx="6309360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315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82B3A"/>
                </a:solidFill>
                <a:latin typeface="Arial"/>
              </a:defRPr>
            </a:pPr>
            <a:r>
              <a:t>2.  6 − 11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480560"/>
            <a:ext cx="6720840" cy="251460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4663440"/>
            <a:ext cx="6309360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315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82B3A"/>
                </a:solidFill>
                <a:latin typeface="Arial"/>
              </a:defRPr>
            </a:pPr>
            <a:r>
              <a:t>3.  −7 − (−10)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4480560"/>
            <a:ext cx="6720840" cy="251460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16952" y="4663440"/>
            <a:ext cx="6309360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315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82B3A"/>
                </a:solidFill>
                <a:latin typeface="Arial"/>
              </a:defRPr>
            </a:pPr>
            <a:r>
              <a:t>4.  5 + (−9) − (−6)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Signed numbers: addition and subtraction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Worked demo • Follow each calculation.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M13-S01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69848"/>
            <a:ext cx="1380744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82B3A"/>
                </a:solidFill>
                <a:latin typeface="Arial"/>
              </a:defRPr>
            </a:pPr>
            <a:r>
              <a:t>Adding a negative moves left: 4 + (−7) = 4 − 7 = −3.</a:t>
            </a:r>
          </a:p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82B3A"/>
                </a:solidFill>
                <a:latin typeface="Arial"/>
              </a:defRPr>
            </a:pPr>
            <a:r>
              <a:t>Subtracting a negative moves right: 6 − (−3) = 6 + 3 = 9.</a:t>
            </a:r>
          </a:p>
        </p:txBody>
      </p:sp>
      <p:sp>
        <p:nvSpPr>
          <p:cNvPr id="8" name="Rectangle 7"/>
          <p:cNvSpPr/>
          <p:nvPr/>
        </p:nvSpPr>
        <p:spPr>
          <a:xfrm>
            <a:off x="2121408" y="1709928"/>
            <a:ext cx="4040123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48839" y="174193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84392" y="1709928"/>
            <a:ext cx="4040123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1824" y="174193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247376" y="1709928"/>
            <a:ext cx="4040123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74808" y="174193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157984"/>
            <a:ext cx="1801367" cy="68580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4904" y="2249424"/>
            <a:ext cx="1691639" cy="53035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The Full Question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21408" y="2157984"/>
            <a:ext cx="4062984" cy="68580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94560" y="2240279"/>
            <a:ext cx="3916680" cy="53949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82B3A"/>
                </a:solidFill>
                <a:latin typeface="Arial"/>
              </a:defRPr>
            </a:pPr>
            <a:r>
              <a:t>−4 + 7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84392" y="2157984"/>
            <a:ext cx="4062984" cy="68580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57544" y="2240279"/>
            <a:ext cx="3916680" cy="53949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82B3A"/>
                </a:solidFill>
                <a:latin typeface="Arial"/>
              </a:defRPr>
            </a:pPr>
            <a:r>
              <a:t>6 − (−3)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247376" y="2157984"/>
            <a:ext cx="4062984" cy="68580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320528" y="2240279"/>
            <a:ext cx="3916680" cy="53949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82B3A"/>
                </a:solidFill>
                <a:latin typeface="Arial"/>
              </a:defRPr>
            </a:pPr>
            <a:r>
              <a:t>−5 + 8 − (−2)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843784"/>
            <a:ext cx="1801367" cy="77724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4904" y="2935224"/>
            <a:ext cx="1691639" cy="62179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Read the Signs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121408" y="2843784"/>
            <a:ext cx="4062984" cy="7772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94560" y="2926079"/>
            <a:ext cx="3916680" cy="63093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Start at −4; add positive 7.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84392" y="2843784"/>
            <a:ext cx="4062984" cy="7772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57544" y="2926079"/>
            <a:ext cx="3916680" cy="63093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Start at 6; subtract negative 3.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247376" y="2843784"/>
            <a:ext cx="4062984" cy="7772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20528" y="2926079"/>
            <a:ext cx="3916680" cy="63093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Add positive 8, then subtract negative 2.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3621024"/>
            <a:ext cx="1801367" cy="77724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4904" y="3712463"/>
            <a:ext cx="1691639" cy="62179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Rewrite the Calculation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121408" y="3621024"/>
            <a:ext cx="4062984" cy="7772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194560" y="3703320"/>
            <a:ext cx="3916680" cy="63093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−4 + 7 is already an addition.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84392" y="3621024"/>
            <a:ext cx="4062984" cy="7772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57544" y="3703320"/>
            <a:ext cx="3916680" cy="63093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6 − (−3) = 6 + 3.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247376" y="3621024"/>
            <a:ext cx="4062984" cy="7772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320528" y="3703320"/>
            <a:ext cx="3916680" cy="63093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−5 + 8 + 2.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4398264"/>
            <a:ext cx="1801367" cy="192024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74904" y="4489703"/>
            <a:ext cx="1691639" cy="176479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Calculate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21408" y="4398264"/>
            <a:ext cx="4062984" cy="19202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194560" y="4480559"/>
            <a:ext cx="391668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Move 4 right to 0, then 3 right: 3.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395728" y="5916168"/>
            <a:ext cx="3514344" cy="0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2395728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2240280" y="5980176"/>
            <a:ext cx="310896" cy="2011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−5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2786210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2630762" y="5980176"/>
            <a:ext cx="310896" cy="2011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−4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3176693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3021245" y="5980176"/>
            <a:ext cx="310896" cy="2011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−3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3567176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3411728" y="5980176"/>
            <a:ext cx="310896" cy="2011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−2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3957658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3802210" y="5980176"/>
            <a:ext cx="310896" cy="2011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−1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4348141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4192693" y="5980176"/>
            <a:ext cx="310896" cy="2011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82B3A"/>
                </a:solidFill>
                <a:latin typeface="Arial"/>
              </a:defRPr>
            </a:pPr>
            <a:r>
              <a:t>0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4738624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4583176" y="5980176"/>
            <a:ext cx="310896" cy="2011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5129106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4973658" y="5980176"/>
            <a:ext cx="310896" cy="2011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2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5519589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5364141" y="5980176"/>
            <a:ext cx="310896" cy="2011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5910072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5754624" y="5980176"/>
            <a:ext cx="310896" cy="2011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cxnSp>
        <p:nvCxnSpPr>
          <p:cNvPr id="63" name="Connector 62"/>
          <p:cNvCxnSpPr/>
          <p:nvPr/>
        </p:nvCxnSpPr>
        <p:spPr>
          <a:xfrm flipV="1">
            <a:off x="2786210" y="5605272"/>
            <a:ext cx="0" cy="256032"/>
          </a:xfrm>
          <a:prstGeom prst="line">
            <a:avLst/>
          </a:prstGeom>
          <a:ln w="12700">
            <a:solidFill>
              <a:srgbClr val="176B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2786210" y="5605272"/>
            <a:ext cx="1561931" cy="0"/>
          </a:xfrm>
          <a:prstGeom prst="line">
            <a:avLst/>
          </a:prstGeom>
          <a:ln w="25400">
            <a:solidFill>
              <a:srgbClr val="176B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4348141" y="5605272"/>
            <a:ext cx="0" cy="256032"/>
          </a:xfrm>
          <a:prstGeom prst="line">
            <a:avLst/>
          </a:prstGeom>
          <a:ln w="12700">
            <a:solidFill>
              <a:srgbClr val="176B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2231136" y="5010912"/>
            <a:ext cx="3843528" cy="2468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6B73"/>
                </a:solidFill>
                <a:latin typeface="Arial"/>
              </a:defRPr>
            </a:pPr>
            <a:r>
              <a:t>+4 then +3: total +7</a:t>
            </a:r>
          </a:p>
        </p:txBody>
      </p:sp>
      <p:cxnSp>
        <p:nvCxnSpPr>
          <p:cNvPr id="67" name="Connector 66"/>
          <p:cNvCxnSpPr/>
          <p:nvPr/>
        </p:nvCxnSpPr>
        <p:spPr>
          <a:xfrm flipV="1">
            <a:off x="4348141" y="5312664"/>
            <a:ext cx="0" cy="548640"/>
          </a:xfrm>
          <a:prstGeom prst="line">
            <a:avLst/>
          </a:prstGeom>
          <a:ln w="12700">
            <a:solidFill>
              <a:srgbClr val="176B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4348141" y="5312664"/>
            <a:ext cx="1171448" cy="0"/>
          </a:xfrm>
          <a:prstGeom prst="line">
            <a:avLst/>
          </a:prstGeom>
          <a:ln w="25400">
            <a:solidFill>
              <a:srgbClr val="176B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5519589" y="5312664"/>
            <a:ext cx="0" cy="548640"/>
          </a:xfrm>
          <a:prstGeom prst="line">
            <a:avLst/>
          </a:prstGeom>
          <a:ln w="12700">
            <a:solidFill>
              <a:srgbClr val="176B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2231136" y="5276088"/>
            <a:ext cx="3843528" cy="2468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6B73"/>
                </a:solidFill>
                <a:latin typeface="Arial"/>
              </a:defRPr>
            </a:pPr>
          </a:p>
        </p:txBody>
      </p:sp>
      <p:sp>
        <p:nvSpPr>
          <p:cNvPr id="71" name="Rectangle 70"/>
          <p:cNvSpPr/>
          <p:nvPr/>
        </p:nvSpPr>
        <p:spPr>
          <a:xfrm>
            <a:off x="6184392" y="4398264"/>
            <a:ext cx="4062984" cy="19202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257544" y="4480559"/>
            <a:ext cx="391668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6 + 3 = 9.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6458712" y="5916168"/>
            <a:ext cx="3514344" cy="0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6458712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6303264" y="5980176"/>
            <a:ext cx="310896" cy="2011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82B3A"/>
                </a:solidFill>
                <a:latin typeface="Arial"/>
              </a:defRPr>
            </a:pPr>
            <a:r>
              <a:t>0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6810146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6654698" y="5980176"/>
            <a:ext cx="310896" cy="2011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7161580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7006132" y="5980176"/>
            <a:ext cx="310896" cy="2011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2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7513015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7357567" y="5980176"/>
            <a:ext cx="310896" cy="2011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7864449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7709001" y="5980176"/>
            <a:ext cx="310896" cy="2011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8215883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8060436" y="5980176"/>
            <a:ext cx="310896" cy="2011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5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8567318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8411870" y="5980176"/>
            <a:ext cx="310896" cy="2011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6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8918752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8763304" y="5980176"/>
            <a:ext cx="310896" cy="2011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7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9270187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>
            <a:off x="9114739" y="5980176"/>
            <a:ext cx="310896" cy="2011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8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9621621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TextBox 92"/>
          <p:cNvSpPr txBox="1"/>
          <p:nvPr/>
        </p:nvSpPr>
        <p:spPr>
          <a:xfrm>
            <a:off x="9466173" y="5980176"/>
            <a:ext cx="310896" cy="2011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9</a:t>
            </a:r>
          </a:p>
        </p:txBody>
      </p:sp>
      <p:cxnSp>
        <p:nvCxnSpPr>
          <p:cNvPr id="94" name="Connector 93"/>
          <p:cNvCxnSpPr/>
          <p:nvPr/>
        </p:nvCxnSpPr>
        <p:spPr>
          <a:xfrm>
            <a:off x="9973056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TextBox 94"/>
          <p:cNvSpPr txBox="1"/>
          <p:nvPr/>
        </p:nvSpPr>
        <p:spPr>
          <a:xfrm>
            <a:off x="9817608" y="5980176"/>
            <a:ext cx="310896" cy="2011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10</a:t>
            </a:r>
          </a:p>
        </p:txBody>
      </p:sp>
      <p:cxnSp>
        <p:nvCxnSpPr>
          <p:cNvPr id="96" name="Connector 95"/>
          <p:cNvCxnSpPr/>
          <p:nvPr/>
        </p:nvCxnSpPr>
        <p:spPr>
          <a:xfrm flipV="1">
            <a:off x="8567318" y="5605272"/>
            <a:ext cx="0" cy="256032"/>
          </a:xfrm>
          <a:prstGeom prst="line">
            <a:avLst/>
          </a:prstGeom>
          <a:ln w="12700">
            <a:solidFill>
              <a:srgbClr val="3559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8567318" y="5605272"/>
            <a:ext cx="1054303" cy="0"/>
          </a:xfrm>
          <a:prstGeom prst="line">
            <a:avLst/>
          </a:prstGeom>
          <a:ln w="25400">
            <a:solidFill>
              <a:srgbClr val="3559A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621621" y="5605272"/>
            <a:ext cx="0" cy="256032"/>
          </a:xfrm>
          <a:prstGeom prst="line">
            <a:avLst/>
          </a:prstGeom>
          <a:ln w="12700">
            <a:solidFill>
              <a:srgbClr val="3559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TextBox 98"/>
          <p:cNvSpPr txBox="1"/>
          <p:nvPr/>
        </p:nvSpPr>
        <p:spPr>
          <a:xfrm>
            <a:off x="6294120" y="5010912"/>
            <a:ext cx="3843528" cy="2468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559A2"/>
                </a:solidFill>
                <a:latin typeface="Arial"/>
              </a:defRPr>
            </a:pPr>
            <a:r>
              <a:t>subtract −3 = add 3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0247376" y="4398264"/>
            <a:ext cx="4062984" cy="19202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0320528" y="4480559"/>
            <a:ext cx="391668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−5 + 8 = 3; 3 + 2 = 5.</a:t>
            </a:r>
          </a:p>
        </p:txBody>
      </p:sp>
      <p:cxnSp>
        <p:nvCxnSpPr>
          <p:cNvPr id="102" name="Connector 101"/>
          <p:cNvCxnSpPr/>
          <p:nvPr/>
        </p:nvCxnSpPr>
        <p:spPr>
          <a:xfrm>
            <a:off x="10521696" y="5916168"/>
            <a:ext cx="3514344" cy="0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10521696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TextBox 103"/>
          <p:cNvSpPr txBox="1"/>
          <p:nvPr/>
        </p:nvSpPr>
        <p:spPr>
          <a:xfrm>
            <a:off x="10366248" y="5980176"/>
            <a:ext cx="310896" cy="2011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−6</a:t>
            </a:r>
          </a:p>
        </p:txBody>
      </p:sp>
      <p:cxnSp>
        <p:nvCxnSpPr>
          <p:cNvPr id="105" name="Connector 104"/>
          <p:cNvCxnSpPr/>
          <p:nvPr/>
        </p:nvCxnSpPr>
        <p:spPr>
          <a:xfrm>
            <a:off x="10814557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TextBox 105"/>
          <p:cNvSpPr txBox="1"/>
          <p:nvPr/>
        </p:nvSpPr>
        <p:spPr>
          <a:xfrm>
            <a:off x="10659109" y="5980176"/>
            <a:ext cx="310896" cy="2011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−5</a:t>
            </a:r>
          </a:p>
        </p:txBody>
      </p:sp>
      <p:cxnSp>
        <p:nvCxnSpPr>
          <p:cNvPr id="107" name="Connector 106"/>
          <p:cNvCxnSpPr/>
          <p:nvPr/>
        </p:nvCxnSpPr>
        <p:spPr>
          <a:xfrm>
            <a:off x="11107420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TextBox 107"/>
          <p:cNvSpPr txBox="1"/>
          <p:nvPr/>
        </p:nvSpPr>
        <p:spPr>
          <a:xfrm>
            <a:off x="10951972" y="5980176"/>
            <a:ext cx="310896" cy="2011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−4</a:t>
            </a:r>
          </a:p>
        </p:txBody>
      </p:sp>
      <p:cxnSp>
        <p:nvCxnSpPr>
          <p:cNvPr id="109" name="Connector 108"/>
          <p:cNvCxnSpPr/>
          <p:nvPr/>
        </p:nvCxnSpPr>
        <p:spPr>
          <a:xfrm>
            <a:off x="11400282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TextBox 109"/>
          <p:cNvSpPr txBox="1"/>
          <p:nvPr/>
        </p:nvSpPr>
        <p:spPr>
          <a:xfrm>
            <a:off x="11244834" y="5980176"/>
            <a:ext cx="310896" cy="2011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−3</a:t>
            </a:r>
          </a:p>
        </p:txBody>
      </p:sp>
      <p:cxnSp>
        <p:nvCxnSpPr>
          <p:cNvPr id="111" name="Connector 110"/>
          <p:cNvCxnSpPr/>
          <p:nvPr/>
        </p:nvCxnSpPr>
        <p:spPr>
          <a:xfrm>
            <a:off x="11693143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TextBox 111"/>
          <p:cNvSpPr txBox="1"/>
          <p:nvPr/>
        </p:nvSpPr>
        <p:spPr>
          <a:xfrm>
            <a:off x="11537695" y="5980176"/>
            <a:ext cx="310896" cy="2011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−2</a:t>
            </a:r>
          </a:p>
        </p:txBody>
      </p:sp>
      <p:cxnSp>
        <p:nvCxnSpPr>
          <p:cNvPr id="113" name="Connector 112"/>
          <p:cNvCxnSpPr/>
          <p:nvPr/>
        </p:nvCxnSpPr>
        <p:spPr>
          <a:xfrm>
            <a:off x="11986006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TextBox 113"/>
          <p:cNvSpPr txBox="1"/>
          <p:nvPr/>
        </p:nvSpPr>
        <p:spPr>
          <a:xfrm>
            <a:off x="11830558" y="5980176"/>
            <a:ext cx="310896" cy="2011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−1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12278868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12123420" y="5980176"/>
            <a:ext cx="310896" cy="2011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82B3A"/>
                </a:solidFill>
                <a:latin typeface="Arial"/>
              </a:defRPr>
            </a:pPr>
            <a:r>
              <a:t>0</a:t>
            </a:r>
          </a:p>
        </p:txBody>
      </p:sp>
      <p:cxnSp>
        <p:nvCxnSpPr>
          <p:cNvPr id="117" name="Connector 116"/>
          <p:cNvCxnSpPr/>
          <p:nvPr/>
        </p:nvCxnSpPr>
        <p:spPr>
          <a:xfrm>
            <a:off x="12571729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TextBox 117"/>
          <p:cNvSpPr txBox="1"/>
          <p:nvPr/>
        </p:nvSpPr>
        <p:spPr>
          <a:xfrm>
            <a:off x="12416281" y="5980176"/>
            <a:ext cx="310896" cy="2011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119" name="Connector 118"/>
          <p:cNvCxnSpPr/>
          <p:nvPr/>
        </p:nvCxnSpPr>
        <p:spPr>
          <a:xfrm>
            <a:off x="12864592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TextBox 119"/>
          <p:cNvSpPr txBox="1"/>
          <p:nvPr/>
        </p:nvSpPr>
        <p:spPr>
          <a:xfrm>
            <a:off x="12709144" y="5980176"/>
            <a:ext cx="310896" cy="2011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2</a:t>
            </a:r>
          </a:p>
        </p:txBody>
      </p:sp>
      <p:cxnSp>
        <p:nvCxnSpPr>
          <p:cNvPr id="121" name="Connector 120"/>
          <p:cNvCxnSpPr/>
          <p:nvPr/>
        </p:nvCxnSpPr>
        <p:spPr>
          <a:xfrm>
            <a:off x="13157454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TextBox 121"/>
          <p:cNvSpPr txBox="1"/>
          <p:nvPr/>
        </p:nvSpPr>
        <p:spPr>
          <a:xfrm>
            <a:off x="13002006" y="5980176"/>
            <a:ext cx="310896" cy="2011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cxnSp>
        <p:nvCxnSpPr>
          <p:cNvPr id="123" name="Connector 122"/>
          <p:cNvCxnSpPr/>
          <p:nvPr/>
        </p:nvCxnSpPr>
        <p:spPr>
          <a:xfrm>
            <a:off x="13450316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TextBox 123"/>
          <p:cNvSpPr txBox="1"/>
          <p:nvPr/>
        </p:nvSpPr>
        <p:spPr>
          <a:xfrm>
            <a:off x="13294868" y="5980176"/>
            <a:ext cx="310896" cy="2011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cxnSp>
        <p:nvCxnSpPr>
          <p:cNvPr id="125" name="Connector 124"/>
          <p:cNvCxnSpPr/>
          <p:nvPr/>
        </p:nvCxnSpPr>
        <p:spPr>
          <a:xfrm>
            <a:off x="13743177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TextBox 125"/>
          <p:cNvSpPr txBox="1"/>
          <p:nvPr/>
        </p:nvSpPr>
        <p:spPr>
          <a:xfrm>
            <a:off x="13587729" y="5980176"/>
            <a:ext cx="310896" cy="2011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5</a:t>
            </a:r>
          </a:p>
        </p:txBody>
      </p:sp>
      <p:cxnSp>
        <p:nvCxnSpPr>
          <p:cNvPr id="127" name="Connector 126"/>
          <p:cNvCxnSpPr/>
          <p:nvPr/>
        </p:nvCxnSpPr>
        <p:spPr>
          <a:xfrm>
            <a:off x="14036040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TextBox 127"/>
          <p:cNvSpPr txBox="1"/>
          <p:nvPr/>
        </p:nvSpPr>
        <p:spPr>
          <a:xfrm>
            <a:off x="13880592" y="5980176"/>
            <a:ext cx="310896" cy="2011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6</a:t>
            </a:r>
          </a:p>
        </p:txBody>
      </p:sp>
      <p:cxnSp>
        <p:nvCxnSpPr>
          <p:cNvPr id="129" name="Connector 128"/>
          <p:cNvCxnSpPr/>
          <p:nvPr/>
        </p:nvCxnSpPr>
        <p:spPr>
          <a:xfrm flipV="1">
            <a:off x="10814557" y="5605272"/>
            <a:ext cx="0" cy="256032"/>
          </a:xfrm>
          <a:prstGeom prst="line">
            <a:avLst/>
          </a:prstGeom>
          <a:ln w="12700">
            <a:solidFill>
              <a:srgbClr val="754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10814557" y="5605272"/>
            <a:ext cx="2342897" cy="0"/>
          </a:xfrm>
          <a:prstGeom prst="line">
            <a:avLst/>
          </a:prstGeom>
          <a:ln w="25400">
            <a:solidFill>
              <a:srgbClr val="754B8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13157454" y="5605272"/>
            <a:ext cx="0" cy="256032"/>
          </a:xfrm>
          <a:prstGeom prst="line">
            <a:avLst/>
          </a:prstGeom>
          <a:ln w="12700">
            <a:solidFill>
              <a:srgbClr val="754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TextBox 131"/>
          <p:cNvSpPr txBox="1"/>
          <p:nvPr/>
        </p:nvSpPr>
        <p:spPr>
          <a:xfrm>
            <a:off x="10357104" y="5010912"/>
            <a:ext cx="3843528" cy="2468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754B87"/>
                </a:solidFill>
                <a:latin typeface="Arial"/>
              </a:defRPr>
            </a:pPr>
            <a:r>
              <a:t>+8, then +2</a:t>
            </a:r>
          </a:p>
        </p:txBody>
      </p:sp>
      <p:cxnSp>
        <p:nvCxnSpPr>
          <p:cNvPr id="133" name="Connector 132"/>
          <p:cNvCxnSpPr/>
          <p:nvPr/>
        </p:nvCxnSpPr>
        <p:spPr>
          <a:xfrm flipV="1">
            <a:off x="13157454" y="5312664"/>
            <a:ext cx="0" cy="548640"/>
          </a:xfrm>
          <a:prstGeom prst="line">
            <a:avLst/>
          </a:prstGeom>
          <a:ln w="12700">
            <a:solidFill>
              <a:srgbClr val="754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13157454" y="5312664"/>
            <a:ext cx="585723" cy="0"/>
          </a:xfrm>
          <a:prstGeom prst="line">
            <a:avLst/>
          </a:prstGeom>
          <a:ln w="25400">
            <a:solidFill>
              <a:srgbClr val="754B8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13743177" y="5312664"/>
            <a:ext cx="0" cy="548640"/>
          </a:xfrm>
          <a:prstGeom prst="line">
            <a:avLst/>
          </a:prstGeom>
          <a:ln w="12700">
            <a:solidFill>
              <a:srgbClr val="754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TextBox 135"/>
          <p:cNvSpPr txBox="1"/>
          <p:nvPr/>
        </p:nvSpPr>
        <p:spPr>
          <a:xfrm>
            <a:off x="10357104" y="5276088"/>
            <a:ext cx="3843528" cy="2468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754B87"/>
                </a:solidFill>
                <a:latin typeface="Arial"/>
              </a:defRPr>
            </a:pPr>
          </a:p>
        </p:txBody>
      </p:sp>
      <p:sp>
        <p:nvSpPr>
          <p:cNvPr id="137" name="Rectangle 136"/>
          <p:cNvSpPr/>
          <p:nvPr/>
        </p:nvSpPr>
        <p:spPr>
          <a:xfrm>
            <a:off x="320040" y="6318504"/>
            <a:ext cx="1801367" cy="118872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374904" y="6409944"/>
            <a:ext cx="1691639" cy="10332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Check the Answer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2121408" y="6318504"/>
            <a:ext cx="4062984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2194560" y="6400800"/>
            <a:ext cx="3916680" cy="104241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3 − 7 = −4. Answer: 3.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6184392" y="6318504"/>
            <a:ext cx="4062984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6257544" y="6400800"/>
            <a:ext cx="3916680" cy="104241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9 + (−3) = 6. Answer: 9.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10247376" y="6318504"/>
            <a:ext cx="4062984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10320528" y="6400800"/>
            <a:ext cx="3916680" cy="104241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5 + (−2) = 3; 3 − 8 = −5. Answer: 5.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Signed numbers: addition and subtraction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Step-by-step practice 1 • Show your working.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M13-S02</a:t>
            </a:r>
          </a:p>
        </p:txBody>
      </p:sp>
      <p:sp>
        <p:nvSpPr>
          <p:cNvPr id="7" name="Rectangle 6"/>
          <p:cNvSpPr/>
          <p:nvPr/>
        </p:nvSpPr>
        <p:spPr>
          <a:xfrm>
            <a:off x="2121408" y="1115568"/>
            <a:ext cx="4040123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48839" y="114757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6184392" y="1115568"/>
            <a:ext cx="4040123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1824" y="114757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47376" y="1115568"/>
            <a:ext cx="4040123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74808" y="114757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63624"/>
            <a:ext cx="1801367" cy="82296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904" y="1655064"/>
            <a:ext cx="1691639" cy="6675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The Full Question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21408" y="1563624"/>
            <a:ext cx="4062984" cy="82296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94560" y="1645920"/>
            <a:ext cx="3916680" cy="67665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82B3A"/>
                </a:solidFill>
                <a:latin typeface="Arial"/>
              </a:defRPr>
            </a:pPr>
            <a:r>
              <a:t>−6 + 9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84392" y="1563624"/>
            <a:ext cx="4062984" cy="82296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57544" y="1645920"/>
            <a:ext cx="3916680" cy="67665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82B3A"/>
                </a:solidFill>
                <a:latin typeface="Arial"/>
              </a:defRPr>
            </a:pPr>
            <a:r>
              <a:t>4 + (−7)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247376" y="1563624"/>
            <a:ext cx="4062984" cy="82296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20528" y="1645920"/>
            <a:ext cx="3916680" cy="67665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82B3A"/>
                </a:solidFill>
                <a:latin typeface="Arial"/>
              </a:defRPr>
            </a:pPr>
            <a:r>
              <a:t>−8 + 5 − (−4)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386584"/>
            <a:ext cx="1801367" cy="1261872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4904" y="2478024"/>
            <a:ext cx="1691639" cy="110642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Read the Signs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21408" y="2386584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94560" y="2468879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Identify the operation signs and the signs belonging to the numbers.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84392" y="2386584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57544" y="2468879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Identify the operation signs and the signs belonging to the numbers.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247376" y="2386584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20528" y="2468879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Identify the operation signs and the signs belonging to the numbers.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648456"/>
            <a:ext cx="1801367" cy="1261872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4904" y="3739896"/>
            <a:ext cx="1691639" cy="110642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Rewrite the Calculation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21408" y="3648456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94560" y="3730752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Replace subtraction by addition of the opposite where useful.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84392" y="3648456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57544" y="3730752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Replace subtraction by addition of the opposite where useful.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247376" y="3648456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320528" y="3730752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Replace subtraction by addition of the opposite where useful.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4910327"/>
            <a:ext cx="1801367" cy="1261872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4904" y="5001767"/>
            <a:ext cx="1691639" cy="110642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Calculate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21408" y="4910327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194560" y="4992623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Work from left to right. Show each result.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84392" y="4910327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57544" y="4992623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Work from left to right. Show each result.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247376" y="4910327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320528" y="4992623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Work from left to right. Show each result.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6172199"/>
            <a:ext cx="1801367" cy="1243584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74904" y="6263639"/>
            <a:ext cx="1691639" cy="108813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Check the Answer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121408" y="6172199"/>
            <a:ext cx="4062984" cy="12435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194560" y="6254495"/>
            <a:ext cx="3916680" cy="109728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Undo the last operation to check. Write the final answer.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84392" y="6172199"/>
            <a:ext cx="4062984" cy="12435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57544" y="6254495"/>
            <a:ext cx="3916680" cy="109728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Undo the last operation to check. Write the final answer.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247376" y="6172199"/>
            <a:ext cx="4062984" cy="12435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320528" y="6254495"/>
            <a:ext cx="3916680" cy="109728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Undo the last operation to check. Write the final answer.</a:t>
            </a:r>
          </a:p>
        </p:txBody>
      </p:sp>
      <p:sp>
        <p:nvSpPr>
          <p:cNvPr id="53" name="Progression curved arrow: Thread 1 to Thread 2"/>
          <p:cNvSpPr/>
          <p:nvPr/>
        </p:nvSpPr>
        <p:spPr>
          <a:xfrm>
            <a:off x="5850635" y="7351125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Progression curved arrow: Thread 2 to Thread 3"/>
          <p:cNvSpPr/>
          <p:nvPr/>
        </p:nvSpPr>
        <p:spPr>
          <a:xfrm>
            <a:off x="9865783" y="7342631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Signed numbers: addition and subtraction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Step-by-step practice 2 • Show your working.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M13-S03</a:t>
            </a:r>
          </a:p>
        </p:txBody>
      </p:sp>
      <p:sp>
        <p:nvSpPr>
          <p:cNvPr id="7" name="Rectangle 6"/>
          <p:cNvSpPr/>
          <p:nvPr/>
        </p:nvSpPr>
        <p:spPr>
          <a:xfrm>
            <a:off x="2121408" y="1115568"/>
            <a:ext cx="4040123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48839" y="114757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6184392" y="1115568"/>
            <a:ext cx="4040123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1824" y="114757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47376" y="1115568"/>
            <a:ext cx="4040123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74808" y="114757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63624"/>
            <a:ext cx="1801367" cy="82296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904" y="1655064"/>
            <a:ext cx="1691639" cy="6675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The Full Question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21408" y="1563624"/>
            <a:ext cx="4062984" cy="82296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94560" y="1645920"/>
            <a:ext cx="3916680" cy="67665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82B3A"/>
                </a:solidFill>
                <a:latin typeface="Arial"/>
              </a:defRPr>
            </a:pPr>
            <a:r>
              <a:t>3 − 8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84392" y="1563624"/>
            <a:ext cx="4062984" cy="82296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57544" y="1645920"/>
            <a:ext cx="3916680" cy="67665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82B3A"/>
                </a:solidFill>
                <a:latin typeface="Arial"/>
              </a:defRPr>
            </a:pPr>
            <a:r>
              <a:t>−5 − (−9)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247376" y="1563624"/>
            <a:ext cx="4062984" cy="82296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20528" y="1645920"/>
            <a:ext cx="3916680" cy="67665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82B3A"/>
                </a:solidFill>
                <a:latin typeface="Arial"/>
              </a:defRPr>
            </a:pPr>
            <a:r>
              <a:t>7 − (−2) + (−12)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386584"/>
            <a:ext cx="1801367" cy="1261872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4904" y="2478024"/>
            <a:ext cx="1691639" cy="110642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Read the Signs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21408" y="2386584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94560" y="2468879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Identify the operation signs and the signs belonging to the numbers.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84392" y="2386584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57544" y="2468879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Identify the operation signs and the signs belonging to the numbers.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247376" y="2386584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20528" y="2468879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Identify the operation signs and the signs belonging to the numbers.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648456"/>
            <a:ext cx="1801367" cy="1261872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4904" y="3739896"/>
            <a:ext cx="1691639" cy="110642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Rewrite the Calculation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21408" y="3648456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94560" y="3730752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Replace subtraction by addition of the opposite where useful.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84392" y="3648456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57544" y="3730752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Replace subtraction by addition of the opposite where useful.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247376" y="3648456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320528" y="3730752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Replace subtraction by addition of the opposite where useful.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4910327"/>
            <a:ext cx="1801367" cy="1261872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4904" y="5001767"/>
            <a:ext cx="1691639" cy="110642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Calculate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21408" y="4910327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194560" y="4992623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Work from left to right. Show each result.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84392" y="4910327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57544" y="4992623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Work from left to right. Show each result.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247376" y="4910327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320528" y="4992623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Work from left to right. Show each result.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6172199"/>
            <a:ext cx="1801367" cy="1243584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74904" y="6263639"/>
            <a:ext cx="1691639" cy="108813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Check the Answer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121408" y="6172199"/>
            <a:ext cx="4062984" cy="12435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194560" y="6254495"/>
            <a:ext cx="3916680" cy="109728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Undo the last operation to check. Write the final answer.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84392" y="6172199"/>
            <a:ext cx="4062984" cy="12435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57544" y="6254495"/>
            <a:ext cx="3916680" cy="109728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Undo the last operation to check. Write the final answer.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247376" y="6172199"/>
            <a:ext cx="4062984" cy="12435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320528" y="6254495"/>
            <a:ext cx="3916680" cy="109728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Undo the last operation to check. Write the final answer.</a:t>
            </a:r>
          </a:p>
        </p:txBody>
      </p:sp>
      <p:sp>
        <p:nvSpPr>
          <p:cNvPr id="53" name="Progression curved arrow: Thread 1 to Thread 2"/>
          <p:cNvSpPr/>
          <p:nvPr/>
        </p:nvSpPr>
        <p:spPr>
          <a:xfrm>
            <a:off x="5850635" y="7351125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Progression curved arrow: Thread 2 to Thread 3"/>
          <p:cNvSpPr/>
          <p:nvPr/>
        </p:nvSpPr>
        <p:spPr>
          <a:xfrm>
            <a:off x="9865783" y="7342631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Signed numbers: addition and subtraction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1 • Choose a column. Show your working and check your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M13-S04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18196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1.  −3 + 8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8348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74920" y="18196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1.  5 − (−2)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4692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38360" y="18196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1.  −4 + 7 − (−3)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58775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79" y="282549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2.  2 − 7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83480" y="258775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74920" y="282549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2.  7 + (−9)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46920" y="258775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38360" y="282549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2.  6 − 9 + 2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79" y="383133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3.  −6 + 4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8348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74920" y="383133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3.  −4 + (−6)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4692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38360" y="383133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3.  −5 + (−3) + 10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459943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79" y="483717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4.  −2 − 5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83480" y="459943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74920" y="483717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4.  −8 − (−3)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46920" y="459943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38360" y="483717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4.  8 − (−2) − 13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79" y="584301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5.  −9 + 9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8348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74920" y="584301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5.  −5 − (−5)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4692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38360" y="584301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5.  −7 − (−4) + 1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661111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1479" y="68488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6.  4 − 10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983480" y="661111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74920" y="68488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6.  0 + (−7)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646920" y="661111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738360" y="68488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6.  3 + (−8) − (−5)</a:t>
            </a:r>
          </a:p>
        </p:txBody>
      </p:sp>
      <p:sp>
        <p:nvSpPr>
          <p:cNvPr id="49" name="Progression curved arrow: Thread 1 to Thread 2"/>
          <p:cNvSpPr/>
          <p:nvPr/>
        </p:nvSpPr>
        <p:spPr>
          <a:xfrm>
            <a:off x="4649723" y="7552294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Progression curved arrow: Thread 2 to Thread 3"/>
          <p:cNvSpPr/>
          <p:nvPr/>
        </p:nvSpPr>
        <p:spPr>
          <a:xfrm>
            <a:off x="9265327" y="7543800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Signed numbers: addition and subtraction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2 • Choose a column. Show your working and check your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M13-S05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18196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1.  −4 − 6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8348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74920" y="18196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1.  9 − (−4)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4692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38360" y="18196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1.  −6 + 9 + (−4)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58775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79" y="282549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2.  −11 + 11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83480" y="258775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74920" y="282549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2.  −6 + (−7)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46920" y="258775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38360" y="282549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2.  4 − (−6) + (−10)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79" y="383133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3.  6 − 15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8348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74920" y="383133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3.  0 − (−9)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4692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38360" y="383133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3.  7 − 10 − (−5)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459943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79" y="483717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4.  −7 + 10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83480" y="459943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74920" y="483717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4.  3 + (−8)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46920" y="459943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38360" y="483717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4.  −8 − (−2) − 1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79" y="584301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5.  −8 + 3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8348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74920" y="584301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5.  −3 − (−8)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4692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38360" y="584301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5.  −9 + 5 − (−7)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661111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1479" y="68488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6.  5 − 12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983480" y="661111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74920" y="68488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6.  −10 − (−6)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646920" y="661111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738360" y="68488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6.  5 + (−12) + 3</a:t>
            </a:r>
          </a:p>
        </p:txBody>
      </p:sp>
      <p:sp>
        <p:nvSpPr>
          <p:cNvPr id="49" name="Progression curved arrow: Thread 1 to Thread 2"/>
          <p:cNvSpPr/>
          <p:nvPr/>
        </p:nvSpPr>
        <p:spPr>
          <a:xfrm>
            <a:off x="4649723" y="7552294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Progression curved arrow: Thread 2 to Thread 3"/>
          <p:cNvSpPr/>
          <p:nvPr/>
        </p:nvSpPr>
        <p:spPr>
          <a:xfrm>
            <a:off x="9265327" y="7543800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Signed numbers: addition and subtraction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3 • Choose a column. Show your working and check your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M13-S06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18196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1.  −8 + 12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8348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74920" y="18196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1.  −9 + (−2)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4692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38360" y="18196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1.  10 − 14 + (−2)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58775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79" y="282549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2.  −5 − 4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83480" y="258775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74920" y="282549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2.  8 − (−5)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46920" y="258775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38360" y="282549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2.  6 + (−9) − (−3)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79" y="383133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3.  −10 + 6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8348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74920" y="383133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3.  −7 − (−4)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4692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38360" y="383133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3.  −2 − (−8) + 5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459943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79" y="483717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4.  9 − 14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83480" y="459943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74920" y="483717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4.  6 + (−11)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46920" y="459943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38360" y="483717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4.  −3 + (−6) − (−4)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79" y="584301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5.  7 − 16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8348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74920" y="584301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5.  −4 − (−10)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4692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38360" y="584301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5.  9 − (−3) + (−7)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661111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1479" y="68488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6.  −12 + 12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983480" y="661111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74920" y="68488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6.  −12 − (−7)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646920" y="661111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738360" y="68488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6.  −11 + 8 − 2</a:t>
            </a:r>
          </a:p>
        </p:txBody>
      </p:sp>
      <p:sp>
        <p:nvSpPr>
          <p:cNvPr id="49" name="Progression curved arrow: Thread 1 to Thread 2"/>
          <p:cNvSpPr/>
          <p:nvPr/>
        </p:nvSpPr>
        <p:spPr>
          <a:xfrm>
            <a:off x="4649723" y="7552294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Progression curved arrow: Thread 2 to Thread 3"/>
          <p:cNvSpPr/>
          <p:nvPr/>
        </p:nvSpPr>
        <p:spPr>
          <a:xfrm>
            <a:off x="9265327" y="7543800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Signed numbers: addition and subtraction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4 • Choose a column. Show your working and check your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M13-S07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18196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1.  −12 + 7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8348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74920" y="18196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1.  0 − (−6)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4692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38360" y="18196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1.  −12 + 7 + 8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58775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79" y="282549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2.  11 − 18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83480" y="258775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74920" y="282549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2.  −11 − (−8)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46920" y="258775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38360" y="282549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2.  4 − (−5) + (−12)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79" y="383133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3.  −6 − 8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8348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74920" y="383133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3.  5 + (−13)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4692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38360" y="383133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3.  −6 − (−9) + (−3)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459943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79" y="483717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4.  −9 + 14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83480" y="459943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74920" y="483717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4.  −7 − (−12)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46920" y="459943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38360" y="483717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4.  5 − 13 − (−2)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79" y="584301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5.  −15 + 15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8348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74920" y="584301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5.  12 − (−3)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4692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38360" y="584301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5.  8 + (−11) − 4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661111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1479" y="68488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6.  8 − 13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983480" y="661111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74920" y="68488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6.  −4 + (−9)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646920" y="661111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738360" y="68488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6.  −10 + 6 − (−7)</a:t>
            </a:r>
          </a:p>
        </p:txBody>
      </p:sp>
      <p:sp>
        <p:nvSpPr>
          <p:cNvPr id="49" name="Progression curved arrow: Thread 1 to Thread 2"/>
          <p:cNvSpPr/>
          <p:nvPr/>
        </p:nvSpPr>
        <p:spPr>
          <a:xfrm>
            <a:off x="4649723" y="7552294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Progression curved arrow: Thread 2 to Thread 3"/>
          <p:cNvSpPr/>
          <p:nvPr/>
        </p:nvSpPr>
        <p:spPr>
          <a:xfrm>
            <a:off x="9265327" y="7543800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